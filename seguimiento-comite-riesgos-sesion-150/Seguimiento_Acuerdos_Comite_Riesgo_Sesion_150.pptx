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5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F7C8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B5473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Beneficiarios afiliados</c:v>
                </c:pt>
                <c:pt idx="1">
                  <c:v>Jurídicos</c:v>
                </c:pt>
                <c:pt idx="2">
                  <c:v>Beneficiarios no afiliados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69.4</c:v>
                </c:pt>
                <c:pt idx="1">
                  <c:v>24.2</c:v>
                </c:pt>
                <c:pt idx="2">
                  <c:v>6.4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COMEDICA de R.L.  ·  Comité de Riesgos  ·  Seguimiento de acuerdos Sesión 150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Seguimiento Acuerdos Comité de Riesgo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Sesión 150 del 27 de agosto de 2026  ·  Estado de notas, responsables, acuerdos y evidencias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COMEDICA DE R.L.  ·  ADMINISTRACIÓN DE RIESGOS</a:t>
            </a:r>
            <a:endParaRPr lang="en-US" sz="1300" dirty="0"/>
          </a:p>
        </p:txBody>
      </p:sp>
      <p:sp>
        <p:nvSpPr>
          <p:cNvPr id="5" name="Círculo sesión"/>
          <p:cNvSpPr/>
          <p:nvPr/>
        </p:nvSpPr>
        <p:spPr>
          <a:xfrm>
            <a:off x="8183880" y="132588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nillo sesión"/>
          <p:cNvSpPr/>
          <p:nvPr/>
        </p:nvSpPr>
        <p:spPr>
          <a:xfrm>
            <a:off x="8001000" y="1143000"/>
            <a:ext cx="3657600" cy="365760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chemeClr val="bg1"/>
                </a:solidFill>
              </a:rPr>
              <a:t>SESIÓN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150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27 · 08 · 2026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Seguimiento al 24 de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TABLERO DE SEGUIMIENTO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 acuerdos en seguimiento: 3 atendidos y 1 en proceso</a:t>
            </a:r>
            <a:endParaRPr lang="en-US" sz="3400" dirty="0"/>
          </a:p>
        </p:txBody>
      </p:sp>
      <p:sp>
        <p:nvSpPr>
          <p:cNvPr id="4" name="Indicador 1"/>
          <p:cNvSpPr/>
          <p:nvPr/>
        </p:nvSpPr>
        <p:spPr>
          <a:xfrm>
            <a:off x="548640" y="1508760"/>
            <a:ext cx="353872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002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Notas emitidas por el Comité</a:t>
            </a:r>
            <a:endParaRPr lang="en-US" sz="1500" dirty="0"/>
          </a:p>
        </p:txBody>
      </p:sp>
      <p:sp>
        <p:nvSpPr>
          <p:cNvPr id="7" name="Indicador 2"/>
          <p:cNvSpPr/>
          <p:nvPr/>
        </p:nvSpPr>
        <p:spPr>
          <a:xfrm>
            <a:off x="4325112" y="1508760"/>
            <a:ext cx="353872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1600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650992" y="16002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Acuerdos atendidos con respuesta</a:t>
            </a:r>
            <a:endParaRPr lang="en-US" sz="1500" dirty="0"/>
          </a:p>
        </p:txBody>
      </p:sp>
      <p:sp>
        <p:nvSpPr>
          <p:cNvPr id="10" name="Indicador 3"/>
          <p:cNvSpPr/>
          <p:nvPr/>
        </p:nvSpPr>
        <p:spPr>
          <a:xfrm>
            <a:off x="8101584" y="1508760"/>
            <a:ext cx="353872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75904" y="1600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1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9427464" y="16002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Análisis pendiente de presentar</a:t>
            </a:r>
            <a:endParaRPr lang="en-US" sz="1500" dirty="0"/>
          </a:p>
        </p:txBody>
      </p:sp>
      <p:sp>
        <p:nvSpPr>
          <p:cNvPr id="13" name="Nota 01"/>
          <p:cNvSpPr/>
          <p:nvPr/>
        </p:nvSpPr>
        <p:spPr>
          <a:xfrm>
            <a:off x="548640" y="301752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Icono nota 01 fondo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 nota 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399739"/>
            <a:ext cx="332842" cy="33284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5448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NOTA 01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Concentración de mayores depositantes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937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Lic. José Humberto Barillas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Gerente de Negocios</a:t>
            </a:r>
            <a:endParaRPr lang="en-US" sz="1200" dirty="0"/>
          </a:p>
        </p:txBody>
      </p:sp>
      <p:sp>
        <p:nvSpPr>
          <p:cNvPr id="19" name="Estado CUMPLIDO"/>
          <p:cNvSpPr txBox="1"/>
          <p:nvPr/>
        </p:nvSpPr>
        <p:spPr>
          <a:xfrm>
            <a:off x="777240" y="5623560"/>
            <a:ext cx="21488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CUMPLIDO</a:t>
            </a:r>
            <a:endParaRPr lang="en-US" sz="1200" dirty="0"/>
          </a:p>
        </p:txBody>
      </p:sp>
      <p:sp>
        <p:nvSpPr>
          <p:cNvPr id="20" name="Nota 02"/>
          <p:cNvSpPr/>
          <p:nvPr/>
        </p:nvSpPr>
        <p:spPr>
          <a:xfrm>
            <a:off x="3383280" y="301752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Icono nota 02 fondo"/>
          <p:cNvSpPr/>
          <p:nvPr/>
        </p:nvSpPr>
        <p:spPr>
          <a:xfrm>
            <a:off x="3611880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o nota 0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99" y="3399739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38912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NOTA 02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3611880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Liberación de reservas y recuperación de cartera castigada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611880" y="4937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Ing. José Augusto De la 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Gerente de Finanzas y Planificación</a:t>
            </a:r>
            <a:endParaRPr lang="en-US" sz="1200" dirty="0"/>
          </a:p>
        </p:txBody>
      </p:sp>
      <p:sp>
        <p:nvSpPr>
          <p:cNvPr id="26" name="Estado CUMPLIDO"/>
          <p:cNvSpPr txBox="1"/>
          <p:nvPr/>
        </p:nvSpPr>
        <p:spPr>
          <a:xfrm>
            <a:off x="3611880" y="5623560"/>
            <a:ext cx="21488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CUMPLIDO</a:t>
            </a:r>
            <a:endParaRPr lang="en-US" sz="1200" dirty="0"/>
          </a:p>
        </p:txBody>
      </p:sp>
      <p:sp>
        <p:nvSpPr>
          <p:cNvPr id="27" name="Nota 03"/>
          <p:cNvSpPr/>
          <p:nvPr/>
        </p:nvSpPr>
        <p:spPr>
          <a:xfrm>
            <a:off x="6217920" y="301752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8" name="Icono nota 03 fondo"/>
          <p:cNvSpPr/>
          <p:nvPr/>
        </p:nvSpPr>
        <p:spPr>
          <a:xfrm>
            <a:off x="6446520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o nota 0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3399739"/>
            <a:ext cx="332842" cy="33284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22376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NOTA 03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446520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Cartera en proceso de reestructuración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446520" y="4937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Lic. Carlos Roberto Aguilar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Jefe de Soluciones Financieras</a:t>
            </a:r>
            <a:endParaRPr lang="en-US" sz="1200" dirty="0"/>
          </a:p>
        </p:txBody>
      </p:sp>
      <p:sp>
        <p:nvSpPr>
          <p:cNvPr id="33" name="Estado EN PROCESO"/>
          <p:cNvSpPr txBox="1"/>
          <p:nvPr/>
        </p:nvSpPr>
        <p:spPr>
          <a:xfrm>
            <a:off x="6446520" y="5623560"/>
            <a:ext cx="214884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34" name="Nota 04"/>
          <p:cNvSpPr/>
          <p:nvPr/>
        </p:nvSpPr>
        <p:spPr>
          <a:xfrm>
            <a:off x="9052560" y="301752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5" name="Icono nota 04 fondo"/>
          <p:cNvSpPr/>
          <p:nvPr/>
        </p:nvSpPr>
        <p:spPr>
          <a:xfrm>
            <a:off x="9281160" y="3246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o nota 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779" y="339973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005840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NOTA 04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9281160" y="4069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Servicio de pago de pensiones en la Cooperativa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9281160" y="4937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Lic. Luis Marcelo Cruz Vigil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Consulta remitida el 02/10/2026</a:t>
            </a:r>
            <a:endParaRPr lang="en-US" sz="1200" dirty="0"/>
          </a:p>
        </p:txBody>
      </p:sp>
      <p:sp>
        <p:nvSpPr>
          <p:cNvPr id="40" name="Estado ATENDIDO · NO FAVORABLE"/>
          <p:cNvSpPr txBox="1"/>
          <p:nvPr/>
        </p:nvSpPr>
        <p:spPr>
          <a:xfrm>
            <a:off x="9281160" y="5623560"/>
            <a:ext cx="2148840" cy="347472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ATENDIDO · NO FAVORABLE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MATRIZ DE SEGUIMIENTO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Notas, responsables, acuerdos y evidencias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240280"/>
                <a:gridCol w="3429000"/>
                <a:gridCol w="3182112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N° nota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Responsable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Acuerdo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Evidencia / respuesta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01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Lic. José Humberto Barillas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Gerente de Negocios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Visitas personalizadas a los mayores depositantes para gestionar el riesgo de concentración y promover la afiliación de sus hijos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Informe de visitas del 16/10/2026: 10 depositantes visitados ($27.15 M); 69.40% con beneficiarios afiliados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CUMPLIDO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02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Ing. José Augusto De la 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Gerente de Finanzas y Planificación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Análisis de liberación de reservas e ingresos por recuperación de cartera castigada (CR-2026-49, lit. j)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Memorando 04_2026 (30/09/2026): liberación $1,073,528.39 (4.33% de ingresos); recuperación castigada $121,441.73 (0.49%)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CUMPLIDO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03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Lic. Carlos Roberto Aguilar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Jefe de Soluciones Financieras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Análisis integral de la cartera en reestructuración: características, causas, tendencias y riesgos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Nota recibida el 10/09/2026. Análisis pendiente de presentación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EN PROCESO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04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Lic. Luis Marcelo Cruz Vigil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Consulta del 02/10/2026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Informar gestiones para prestar el servicio de pago de pensiones en la Cooperativa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Solicitudes a AFP CONFIA, AFP CRECER, IPSFA e ISP. Respuesta 03/10/2026: COMEDICA aún no califica como entidad receptora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ATENDIDO · NO FAVORABLE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NOTA 01  ·  ACUERDO SESIÓN 150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Concentración de mayores depositantes</a:t>
            </a:r>
            <a:endParaRPr lang="en-US" sz="3400" dirty="0"/>
          </a:p>
        </p:txBody>
      </p:sp>
      <p:sp>
        <p:nvSpPr>
          <p:cNvPr id="4" name="Tarjeta responsable"/>
          <p:cNvSpPr/>
          <p:nvPr/>
        </p:nvSpPr>
        <p:spPr>
          <a:xfrm>
            <a:off x="548640" y="1463040"/>
            <a:ext cx="33832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Icono RESPONSABLE fondo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 RESPONSAB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69712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RESPONSABLE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Lic. José Humberto Barillas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505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Gerente de Negocios</a:t>
            </a:r>
            <a:endParaRPr lang="en-US" sz="1400" dirty="0"/>
          </a:p>
        </p:txBody>
      </p:sp>
      <p:sp>
        <p:nvSpPr>
          <p:cNvPr id="10" name="Tarjeta estado"/>
          <p:cNvSpPr/>
          <p:nvPr/>
        </p:nvSpPr>
        <p:spPr>
          <a:xfrm>
            <a:off x="54864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pic>
        <p:nvPicPr>
          <p:cNvPr id="11" name="Icono estad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ESTADO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CUMPLIDO</a:t>
            </a:r>
            <a:endParaRPr lang="en-US" sz="1400" dirty="0"/>
          </a:p>
        </p:txBody>
      </p:sp>
      <p:pic>
        <p:nvPicPr>
          <p:cNvPr id="13" name="Documento soporte" descr="Imagen del documento soporte de la nota 0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1378321" cy="17830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NOTA DEL COMITÉ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8280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10/09/2026 · Recibida en Depto. de Créditos el 10/09/2026</a:t>
            </a:r>
            <a:endParaRPr lang="en-US" sz="1200" dirty="0"/>
          </a:p>
        </p:txBody>
      </p:sp>
      <p:sp>
        <p:nvSpPr>
          <p:cNvPr id="16" name="Tarjeta acuerdo"/>
          <p:cNvSpPr/>
          <p:nvPr/>
        </p:nvSpPr>
        <p:spPr>
          <a:xfrm>
            <a:off x="4206240" y="1463040"/>
            <a:ext cx="74340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7" name="Icono ACUERDO fondo"/>
          <p:cNvSpPr/>
          <p:nvPr/>
        </p:nvSpPr>
        <p:spPr>
          <a:xfrm>
            <a:off x="44348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o ACUER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1697126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94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ACUERDO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2084832"/>
            <a:ext cx="6885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Realizar visitas personalizadas a los asociados de mayor concentración en depósitos, para fortalecer la relación y promover la incorporación de sus hijos como asociados, como medida para gestionar el riesgo de concentración. Compartir las gestiones con el Comité.</a:t>
            </a:r>
            <a:endParaRPr lang="en-US" sz="1400" dirty="0"/>
          </a:p>
        </p:txBody>
      </p:sp>
      <p:sp>
        <p:nvSpPr>
          <p:cNvPr id="21" name="Tarjeta evidencia"/>
          <p:cNvSpPr/>
          <p:nvPr/>
        </p:nvSpPr>
        <p:spPr>
          <a:xfrm>
            <a:off x="4206240" y="3063240"/>
            <a:ext cx="743407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2" name="Icono EVIDENCIA / RESPUESTA fondo"/>
          <p:cNvSpPr/>
          <p:nvPr/>
        </p:nvSpPr>
        <p:spPr>
          <a:xfrm>
            <a:off x="4434840" y="32095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o EVIDENCIA / RESPUES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22" y="329732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19472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EVIDENCIA / RESPUESTA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480560" y="3703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Informe de visitas del 16/10/2026: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visitó a los 10 mayores depositantes ($27,152,269.99) por medio de los jefes de agencia, en coordinación con la Subgerencia de Canales.</a:t>
            </a:r>
            <a:endParaRPr lang="en-US" sz="1400" dirty="0"/>
          </a:p>
        </p:txBody>
      </p:sp>
      <p:sp>
        <p:nvSpPr>
          <p:cNvPr id="26" name="Marcador 69.40%"/>
          <p:cNvSpPr/>
          <p:nvPr/>
        </p:nvSpPr>
        <p:spPr>
          <a:xfrm>
            <a:off x="4498848" y="461772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4846320" y="45079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69.40%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0" y="44897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 de 10 · beneficiarios afiliados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$18,862,867.16 · mantener fidelización</a:t>
            </a:r>
            <a:endParaRPr lang="en-US" sz="1400" dirty="0"/>
          </a:p>
        </p:txBody>
      </p:sp>
      <p:sp>
        <p:nvSpPr>
          <p:cNvPr id="29" name="Marcador 24.20%"/>
          <p:cNvSpPr/>
          <p:nvPr/>
        </p:nvSpPr>
        <p:spPr>
          <a:xfrm>
            <a:off x="4498848" y="516636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846320" y="50566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24.20%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5943600" y="5038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de 10 · depositantes jurídicos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$6,557,464.37 · negociación anticipada</a:t>
            </a:r>
            <a:endParaRPr lang="en-US" sz="1400" dirty="0"/>
          </a:p>
        </p:txBody>
      </p:sp>
      <p:sp>
        <p:nvSpPr>
          <p:cNvPr id="32" name="Marcador 6.40%"/>
          <p:cNvSpPr/>
          <p:nvPr/>
        </p:nvSpPr>
        <p:spPr>
          <a:xfrm>
            <a:off x="4498848" y="5715000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846320" y="56052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6.40%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5943600" y="55869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de 10 · beneficiarios no afiliados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$1,731,938.46 · plan de afiliación</a:t>
            </a:r>
            <a:endParaRPr lang="en-US" sz="1400" dirty="0"/>
          </a:p>
        </p:txBody>
      </p:sp>
      <p:graphicFrame>
        <p:nvGraphicFramePr>
          <p:cNvPr id="35" name="Gráfico concentración" descr=""/>
          <p:cNvGraphicFramePr/>
          <p:nvPr/>
        </p:nvGraphicFramePr>
        <p:xfrm>
          <a:off x="9281160" y="3474720"/>
          <a:ext cx="2194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Text 28"/>
          <p:cNvSpPr txBox="1"/>
          <p:nvPr/>
        </p:nvSpPr>
        <p:spPr>
          <a:xfrm>
            <a:off x="928116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$27.15 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 depositantes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NOTA 02  ·  ACUERDO SESIÓN 150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Liberación de reservas e ingresos por recuperación</a:t>
            </a:r>
            <a:endParaRPr lang="en-US" sz="3400" dirty="0"/>
          </a:p>
        </p:txBody>
      </p:sp>
      <p:sp>
        <p:nvSpPr>
          <p:cNvPr id="4" name="Tarjeta responsable"/>
          <p:cNvSpPr/>
          <p:nvPr/>
        </p:nvSpPr>
        <p:spPr>
          <a:xfrm>
            <a:off x="548640" y="1463040"/>
            <a:ext cx="33832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Icono RESPONSABLE fondo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 RESPONSAB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69712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RESPONSABLE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Ing. José Augusto De la 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505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Gerente de Finanzas y Planificación</a:t>
            </a:r>
            <a:endParaRPr lang="en-US" sz="1400" dirty="0"/>
          </a:p>
        </p:txBody>
      </p:sp>
      <p:sp>
        <p:nvSpPr>
          <p:cNvPr id="10" name="Tarjeta estado"/>
          <p:cNvSpPr/>
          <p:nvPr/>
        </p:nvSpPr>
        <p:spPr>
          <a:xfrm>
            <a:off x="54864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pic>
        <p:nvPicPr>
          <p:cNvPr id="11" name="Icono estad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ESTADO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CUMPLIDO</a:t>
            </a:r>
            <a:endParaRPr lang="en-US" sz="1400" dirty="0"/>
          </a:p>
        </p:txBody>
      </p:sp>
      <p:pic>
        <p:nvPicPr>
          <p:cNvPr id="13" name="Documento soporte" descr="Imagen del documento soporte de la nota 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1378321" cy="17830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MEMORANDO 04_2026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8280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30/09/2026 · Recibido por el Consejo de Administración el 01/10/2026</a:t>
            </a:r>
            <a:endParaRPr lang="en-US" sz="1200" dirty="0"/>
          </a:p>
        </p:txBody>
      </p:sp>
      <p:sp>
        <p:nvSpPr>
          <p:cNvPr id="16" name="Tarjeta acuerdo"/>
          <p:cNvSpPr/>
          <p:nvPr/>
        </p:nvSpPr>
        <p:spPr>
          <a:xfrm>
            <a:off x="4206240" y="1463040"/>
            <a:ext cx="74340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7" name="Icono ACUERDO fondo"/>
          <p:cNvSpPr/>
          <p:nvPr/>
        </p:nvSpPr>
        <p:spPr>
          <a:xfrm>
            <a:off x="44348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o ACUER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1697126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94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ACUERDO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2084832"/>
            <a:ext cx="6885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Presentar un análisis explicativo sobre la liberación de reservas reflejada como ingresos en los estados financieros, que incluya: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Origen, composición y criterios contables de reconocimiento.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Monto de recuperación de cartera castigada y su participación.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Conciliación: liberación de reservas vs. recuperaciones vs. otros conceptos.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Remitir a la Asistente del Consejo de Administración.</a:t>
            </a:r>
            <a:endParaRPr lang="en-US" sz="1400" dirty="0"/>
          </a:p>
        </p:txBody>
      </p:sp>
      <p:sp>
        <p:nvSpPr>
          <p:cNvPr id="21" name="Tarjeta evidencia"/>
          <p:cNvSpPr/>
          <p:nvPr/>
        </p:nvSpPr>
        <p:spPr>
          <a:xfrm>
            <a:off x="4206240" y="3794760"/>
            <a:ext cx="743407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2" name="Icono EVIDENCIA / RESPUESTA fondo"/>
          <p:cNvSpPr/>
          <p:nvPr/>
        </p:nvSpPr>
        <p:spPr>
          <a:xfrm>
            <a:off x="4434840" y="39410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o EVIDENCIA / RESPUES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22" y="402884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19472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EVIDENCIA / RESPUESTA</a:t>
            </a:r>
            <a:endParaRPr lang="en-US" sz="1300" dirty="0"/>
          </a:p>
        </p:txBody>
      </p:sp>
      <p:sp>
        <p:nvSpPr>
          <p:cNvPr id="25" name="Cifra Liberación de reservas"/>
          <p:cNvSpPr/>
          <p:nvPr/>
        </p:nvSpPr>
        <p:spPr>
          <a:xfrm>
            <a:off x="4480560" y="4434840"/>
            <a:ext cx="337413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663440" y="4507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$1,073,528.39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Liberación de reservas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4.33% de los ingresos totales · 100% reversión de estimaciones por incobrabilidad (cta. 1149)</a:t>
            </a:r>
            <a:endParaRPr lang="en-US" sz="1100" dirty="0"/>
          </a:p>
        </p:txBody>
      </p:sp>
      <p:sp>
        <p:nvSpPr>
          <p:cNvPr id="28" name="Cifra Recuperación de cartera castigada"/>
          <p:cNvSpPr/>
          <p:nvPr/>
        </p:nvSpPr>
        <p:spPr>
          <a:xfrm>
            <a:off x="7991856" y="4434840"/>
            <a:ext cx="337413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174736" y="4507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$121,441.73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174736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Recuperación de cartera castigada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0.49% de los ingresos totales · 81.06% corresponde a intereses refinanciados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4480560" y="5577840"/>
            <a:ext cx="688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mismo ámbito (riesgo crediticio), origen distinto: la liberación revierte provisiones por mejora crediticia; la recuperación son cobros de créditos ya castigados.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NOTA 03  ·  ACUERDO SESIÓN 150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Cartera en proceso de reestructuración</a:t>
            </a:r>
            <a:endParaRPr lang="en-US" sz="3400" dirty="0"/>
          </a:p>
        </p:txBody>
      </p:sp>
      <p:sp>
        <p:nvSpPr>
          <p:cNvPr id="4" name="Tarjeta responsable"/>
          <p:cNvSpPr/>
          <p:nvPr/>
        </p:nvSpPr>
        <p:spPr>
          <a:xfrm>
            <a:off x="548640" y="1463040"/>
            <a:ext cx="33832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Icono RESPONSABLE fondo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 RESPONSAB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69712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RESPONSABLE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Lic. Carlos Roberto Aguilar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505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Jefe de Soluciones Financieras</a:t>
            </a:r>
            <a:endParaRPr lang="en-US" sz="1400" dirty="0"/>
          </a:p>
        </p:txBody>
      </p:sp>
      <p:sp>
        <p:nvSpPr>
          <p:cNvPr id="10" name="Tarjeta estado"/>
          <p:cNvSpPr/>
          <p:nvPr/>
        </p:nvSpPr>
        <p:spPr>
          <a:xfrm>
            <a:off x="54864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pic>
        <p:nvPicPr>
          <p:cNvPr id="11" name="Icono estad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ESTADO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 PROCESO</a:t>
            </a:r>
            <a:endParaRPr lang="en-US" sz="1400" dirty="0"/>
          </a:p>
        </p:txBody>
      </p:sp>
      <p:pic>
        <p:nvPicPr>
          <p:cNvPr id="13" name="Documento soporte" descr="Imagen del documento soporte de la nota 0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1378321" cy="17830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NOTA DEL COMITÉ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8280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10/09/2026 · Recibida en Depto. de Soluciones el 10/09/2026</a:t>
            </a:r>
            <a:endParaRPr lang="en-US" sz="1200" dirty="0"/>
          </a:p>
        </p:txBody>
      </p:sp>
      <p:sp>
        <p:nvSpPr>
          <p:cNvPr id="16" name="Tarjeta acuerdo"/>
          <p:cNvSpPr/>
          <p:nvPr/>
        </p:nvSpPr>
        <p:spPr>
          <a:xfrm>
            <a:off x="4206240" y="1463040"/>
            <a:ext cx="743407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cono ACUERDO fondo"/>
          <p:cNvSpPr/>
          <p:nvPr/>
        </p:nvSpPr>
        <p:spPr>
          <a:xfrm>
            <a:off x="44348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o ACUER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1697126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94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ACUERDO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2084832"/>
            <a:ext cx="6885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Presentar ante el Comité un análisis integral de la cartera en proceso de reestructuración, que incluya: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Comportamiento y características de la cartera reestructurada.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Principales causas, factores o circunstancias que la originan.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Tendencias observadas y riesgos asociados.</a:t>
            </a:r>
            <a:endParaRPr lang="en-US" sz="1400" dirty="0"/>
          </a:p>
        </p:txBody>
      </p:sp>
      <p:sp>
        <p:nvSpPr>
          <p:cNvPr id="21" name="Tarjeta evidencia"/>
          <p:cNvSpPr/>
          <p:nvPr/>
        </p:nvSpPr>
        <p:spPr>
          <a:xfrm>
            <a:off x="4206240" y="3566160"/>
            <a:ext cx="74340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Icono EVIDENCIA / RESPUESTA fondo"/>
          <p:cNvSpPr/>
          <p:nvPr/>
        </p:nvSpPr>
        <p:spPr>
          <a:xfrm>
            <a:off x="4434840" y="3712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o EVIDENCIA / RESPUES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22" y="380024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19472" y="3758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EVIDENCIA / RESPUESTA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480560" y="4206240"/>
            <a:ext cx="6885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la fecha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se ha recibido el análisis solicitado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; se mantiene en seguimiento.</a:t>
            </a:r>
            <a:endParaRPr lang="en-US" sz="1400" dirty="0"/>
          </a:p>
        </p:txBody>
      </p:sp>
      <p:sp>
        <p:nvSpPr>
          <p:cNvPr id="26" name="Línea de tiempo"/>
          <p:cNvSpPr/>
          <p:nvPr/>
        </p:nvSpPr>
        <p:spPr>
          <a:xfrm>
            <a:off x="4809744" y="4828032"/>
            <a:ext cx="6227064" cy="0"/>
          </a:xfrm>
          <a:prstGeom prst="line">
            <a:avLst/>
          </a:prstGeom>
          <a:noFill/>
          <a:ln w="25400">
            <a:solidFill>
              <a:srgbClr val="8CC6CF"/>
            </a:solidFill>
            <a:prstDash val="solid"/>
          </a:ln>
        </p:spPr>
      </p:sp>
      <p:sp>
        <p:nvSpPr>
          <p:cNvPr id="27" name="Hito 1"/>
          <p:cNvSpPr/>
          <p:nvPr/>
        </p:nvSpPr>
        <p:spPr>
          <a:xfrm>
            <a:off x="4480560" y="4663440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EEF3F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48056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27/08/2026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480560" y="5367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Acuerdo en Sesión 150</a:t>
            </a:r>
            <a:endParaRPr lang="en-US" sz="1200" dirty="0"/>
          </a:p>
        </p:txBody>
      </p:sp>
      <p:sp>
        <p:nvSpPr>
          <p:cNvPr id="30" name="Hito 2"/>
          <p:cNvSpPr/>
          <p:nvPr/>
        </p:nvSpPr>
        <p:spPr>
          <a:xfrm>
            <a:off x="7758684" y="4663440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EEF3F7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73455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10/09/2026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734556" y="5367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Nota recibida por Depto. de Soluciones (Griselda Sigüenza)</a:t>
            </a:r>
            <a:endParaRPr lang="en-US" sz="1200" dirty="0"/>
          </a:p>
        </p:txBody>
      </p:sp>
      <p:sp>
        <p:nvSpPr>
          <p:cNvPr id="33" name="Hito 3"/>
          <p:cNvSpPr/>
          <p:nvPr/>
        </p:nvSpPr>
        <p:spPr>
          <a:xfrm>
            <a:off x="11036808" y="4663440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EEF3F7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98855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Pendiente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988552" y="5367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Presentación del análisis al Comité de Riesgos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NOTA 04  ·  ACUERDO SESIÓN 150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Pago de pensiones en la Cooperativa</a:t>
            </a:r>
            <a:endParaRPr lang="en-US" sz="3400" dirty="0"/>
          </a:p>
        </p:txBody>
      </p:sp>
      <p:sp>
        <p:nvSpPr>
          <p:cNvPr id="4" name="Tarjeta responsable"/>
          <p:cNvSpPr/>
          <p:nvPr/>
        </p:nvSpPr>
        <p:spPr>
          <a:xfrm>
            <a:off x="548640" y="1463040"/>
            <a:ext cx="33832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Icono RESPONSABLE fondo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 RESPONSAB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697126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RESPONSABLE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Lic. Luis Marcelo Cruz Vigil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505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Consulta remitida el 02/10/2026</a:t>
            </a:r>
            <a:endParaRPr lang="en-US" sz="1400" dirty="0"/>
          </a:p>
        </p:txBody>
      </p:sp>
      <p:sp>
        <p:nvSpPr>
          <p:cNvPr id="10" name="Tarjeta estado"/>
          <p:cNvSpPr/>
          <p:nvPr/>
        </p:nvSpPr>
        <p:spPr>
          <a:xfrm>
            <a:off x="54864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pic>
        <p:nvPicPr>
          <p:cNvPr id="11" name="Icono estad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564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ESTADO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ATENDIDO · NO FAVORABLE</a:t>
            </a:r>
            <a:endParaRPr lang="en-US" sz="1400" dirty="0"/>
          </a:p>
        </p:txBody>
      </p:sp>
      <p:pic>
        <p:nvPicPr>
          <p:cNvPr id="13" name="Documento soporte" descr="Imagen del documento soporte de la nota 0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1378321" cy="17830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433">
                <a:alpha val="25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21031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CONSTANCIAS A AFP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8280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Solicitudes del 05/11/2025, con sello de recibido 06/11/2025</a:t>
            </a:r>
            <a:endParaRPr lang="en-US" sz="1200" dirty="0"/>
          </a:p>
        </p:txBody>
      </p:sp>
      <p:sp>
        <p:nvSpPr>
          <p:cNvPr id="16" name="Tarjeta acuerdo"/>
          <p:cNvSpPr/>
          <p:nvPr/>
        </p:nvSpPr>
        <p:spPr>
          <a:xfrm>
            <a:off x="4206240" y="1463040"/>
            <a:ext cx="74340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Icono ACUERDO fondo"/>
          <p:cNvSpPr/>
          <p:nvPr/>
        </p:nvSpPr>
        <p:spPr>
          <a:xfrm>
            <a:off x="4434840" y="1609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o ACUER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622" y="1697126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9472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ACUERDO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2084832"/>
            <a:ext cx="6885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Informar si se han realizado gestiones, análisis o acercamientos para implementar el servicio de pago de pensiones en la Cooperativa, así como su estado y avances.</a:t>
            </a:r>
            <a:endParaRPr lang="en-US" sz="1400" dirty="0"/>
          </a:p>
        </p:txBody>
      </p:sp>
      <p:sp>
        <p:nvSpPr>
          <p:cNvPr id="21" name="Tarjeta evidencia"/>
          <p:cNvSpPr/>
          <p:nvPr/>
        </p:nvSpPr>
        <p:spPr>
          <a:xfrm>
            <a:off x="4206240" y="2834640"/>
            <a:ext cx="7434072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22" name="Icono EVIDENCIA / RESPUESTA fondo"/>
          <p:cNvSpPr/>
          <p:nvPr/>
        </p:nvSpPr>
        <p:spPr>
          <a:xfrm>
            <a:off x="4434840" y="29809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o EVIDENCIA / RESPUES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22" y="306872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19472" y="3026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EVIDENCIA / RESPUESTA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480560" y="3474720"/>
            <a:ext cx="6885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Respuesta del 03/10/2026: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enviaron solicitudes el 05/11/2025 a cuatro instituciones pagadoras de pensiones para que los asociados reciban su pensión en COMEDICA (recibidas el 06/11/2025).</a:t>
            </a:r>
            <a:endParaRPr lang="en-US" sz="1400" dirty="0"/>
          </a:p>
        </p:txBody>
      </p:sp>
      <p:sp>
        <p:nvSpPr>
          <p:cNvPr id="26" name="Institución AFP CONFIA"/>
          <p:cNvSpPr/>
          <p:nvPr/>
        </p:nvSpPr>
        <p:spPr>
          <a:xfrm>
            <a:off x="4480560" y="434340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7" name="Icono AFP CONFIA fondo"/>
          <p:cNvSpPr/>
          <p:nvPr/>
        </p:nvSpPr>
        <p:spPr>
          <a:xfrm>
            <a:off x="5029200" y="44348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cono AFP CONFI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7955" y="4533595"/>
            <a:ext cx="213970" cy="21397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4805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AFP CONFIA</a:t>
            </a:r>
            <a:endParaRPr lang="en-US" sz="1300" dirty="0"/>
          </a:p>
        </p:txBody>
      </p:sp>
      <p:sp>
        <p:nvSpPr>
          <p:cNvPr id="30" name="Institución AFP CRECER"/>
          <p:cNvSpPr/>
          <p:nvPr/>
        </p:nvSpPr>
        <p:spPr>
          <a:xfrm>
            <a:off x="6217920" y="434340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1" name="Icono AFP CRECER fondo"/>
          <p:cNvSpPr/>
          <p:nvPr/>
        </p:nvSpPr>
        <p:spPr>
          <a:xfrm>
            <a:off x="6766560" y="44348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Icono AFP CREC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315" y="4533595"/>
            <a:ext cx="213970" cy="21397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2179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AFP CRECER</a:t>
            </a:r>
            <a:endParaRPr lang="en-US" sz="1300" dirty="0"/>
          </a:p>
        </p:txBody>
      </p:sp>
      <p:sp>
        <p:nvSpPr>
          <p:cNvPr id="34" name="Institución IPSFA"/>
          <p:cNvSpPr/>
          <p:nvPr/>
        </p:nvSpPr>
        <p:spPr>
          <a:xfrm>
            <a:off x="7955280" y="434340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5" name="Icono IPSFA fondo"/>
          <p:cNvSpPr/>
          <p:nvPr/>
        </p:nvSpPr>
        <p:spPr>
          <a:xfrm>
            <a:off x="8503920" y="44348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Icono IPSF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2675" y="4533595"/>
            <a:ext cx="213970" cy="21397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955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IPSFA</a:t>
            </a:r>
            <a:endParaRPr lang="en-US" sz="1300" dirty="0"/>
          </a:p>
        </p:txBody>
      </p:sp>
      <p:sp>
        <p:nvSpPr>
          <p:cNvPr id="38" name="Institución ISP"/>
          <p:cNvSpPr/>
          <p:nvPr/>
        </p:nvSpPr>
        <p:spPr>
          <a:xfrm>
            <a:off x="9692640" y="434340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9" name="Icono ISP fondo"/>
          <p:cNvSpPr/>
          <p:nvPr/>
        </p:nvSpPr>
        <p:spPr>
          <a:xfrm>
            <a:off x="10241280" y="44348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Icono ISP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0035" y="4533595"/>
            <a:ext cx="213970" cy="21397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9692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ISP</a:t>
            </a:r>
            <a:endParaRPr lang="en-US" sz="1300" dirty="0"/>
          </a:p>
        </p:txBody>
      </p:sp>
      <p:sp>
        <p:nvSpPr>
          <p:cNvPr id="42" name="Resultado"/>
          <p:cNvSpPr/>
          <p:nvPr/>
        </p:nvSpPr>
        <p:spPr>
          <a:xfrm>
            <a:off x="4480560" y="5394960"/>
            <a:ext cx="6885432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5875">
            <a:solidFill>
              <a:srgbClr val="B5473A"/>
            </a:solidFill>
            <a:prstDash val="solid"/>
          </a:ln>
        </p:spPr>
      </p:sp>
      <p:pic>
        <p:nvPicPr>
          <p:cNvPr id="43" name="Icono resultad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5532120"/>
            <a:ext cx="320040" cy="32004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5120640" y="5440680"/>
            <a:ext cx="6108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Resultado: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instituciones indicaron por teléfono que COMEDICA actualmente no califica como entidad receptora de pensiones.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PRÓXIMOS PASOS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Acciones para cerrar los acuerdos de la Sesión 150</a:t>
            </a:r>
            <a:endParaRPr lang="en-US" sz="3600" dirty="0"/>
          </a:p>
        </p:txBody>
      </p:sp>
      <p:sp>
        <p:nvSpPr>
          <p:cNvPr id="4" name="Paso 1"/>
          <p:cNvSpPr/>
          <p:nvPr/>
        </p:nvSpPr>
        <p:spPr>
          <a:xfrm>
            <a:off x="731520" y="1965960"/>
            <a:ext cx="10725912" cy="1143000"/>
          </a:xfrm>
          <a:prstGeom prst="roundRect">
            <a:avLst>
              <a:gd name="adj" fmla="val 9600"/>
            </a:avLst>
          </a:prstGeom>
          <a:solidFill>
            <a:srgbClr val="16365A"/>
          </a:solidFill>
          <a:ln/>
        </p:spPr>
      </p:sp>
      <p:sp>
        <p:nvSpPr>
          <p:cNvPr id="5" name="Icono paso 1 fondo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o pas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6"/>
                </a:solidFill>
              </a:rPr>
              <a:t>NOTA 03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Requerir la presentación del análisis de cartera reestructurada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Jefatura de Soluciones Financieras · nota recibida el 10/09/2026</a:t>
            </a:r>
            <a:endParaRPr lang="en-US" sz="1300" dirty="0"/>
          </a:p>
        </p:txBody>
      </p:sp>
      <p:sp>
        <p:nvSpPr>
          <p:cNvPr id="10" name="Paso 2"/>
          <p:cNvSpPr/>
          <p:nvPr/>
        </p:nvSpPr>
        <p:spPr>
          <a:xfrm>
            <a:off x="731520" y="3337560"/>
            <a:ext cx="10725912" cy="1143000"/>
          </a:xfrm>
          <a:prstGeom prst="roundRect">
            <a:avLst>
              <a:gd name="adj" fmla="val 9600"/>
            </a:avLst>
          </a:prstGeom>
          <a:solidFill>
            <a:srgbClr val="16365A"/>
          </a:solidFill>
          <a:ln/>
        </p:spPr>
      </p:sp>
      <p:sp>
        <p:nvSpPr>
          <p:cNvPr id="11" name="Icono paso 2 fondo"/>
          <p:cNvSpPr/>
          <p:nvPr/>
        </p:nvSpPr>
        <p:spPr>
          <a:xfrm>
            <a:off x="1005840" y="35661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o pas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7307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659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6"/>
                </a:solidFill>
              </a:rPr>
              <a:t>NOTA 01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96596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Monitorear el plan de afiliación y los vencimientos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96596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Depositante con beneficiarios no afiliados (6.40%) y depositantes jurídicos (24.20%)</a:t>
            </a:r>
            <a:endParaRPr lang="en-US" sz="1300" dirty="0"/>
          </a:p>
        </p:txBody>
      </p:sp>
      <p:sp>
        <p:nvSpPr>
          <p:cNvPr id="16" name="Paso 3"/>
          <p:cNvSpPr/>
          <p:nvPr/>
        </p:nvSpPr>
        <p:spPr>
          <a:xfrm>
            <a:off x="731520" y="4709160"/>
            <a:ext cx="10725912" cy="1143000"/>
          </a:xfrm>
          <a:prstGeom prst="roundRect">
            <a:avLst>
              <a:gd name="adj" fmla="val 9600"/>
            </a:avLst>
          </a:prstGeom>
          <a:solidFill>
            <a:srgbClr val="16365A"/>
          </a:solidFill>
          <a:ln/>
        </p:spPr>
      </p:sp>
      <p:sp>
        <p:nvSpPr>
          <p:cNvPr id="17" name="Icono paso 3 fondo"/>
          <p:cNvSpPr/>
          <p:nvPr/>
        </p:nvSpPr>
        <p:spPr>
          <a:xfrm>
            <a:off x="1005840" y="49377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o pas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51023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65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6"/>
                </a:solidFill>
              </a:rPr>
              <a:t>NOTA 04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Solicitar respuesta formal por escrito de las instituciones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965960" y="5486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Documentar los requisitos para que COMEDICA califique como entidad receptora de pensiones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ite de Riesgos">
  <a:themeElements>
    <a:clrScheme name="Comite de Riesgos">
      <a:dk1>
        <a:srgbClr val="1B2433"/>
      </a:dk1>
      <a:lt1>
        <a:srgbClr val="FFFFFF"/>
      </a:lt1>
      <a:dk2>
        <a:srgbClr val="0E2A47"/>
      </a:dk2>
      <a:lt2>
        <a:srgbClr val="EEF3F7"/>
      </a:lt2>
      <a:accent1>
        <a:srgbClr val="0F7C8C"/>
      </a:accent1>
      <a:accent2>
        <a:srgbClr val="2E8B57"/>
      </a:accent2>
      <a:accent3>
        <a:srgbClr val="D99A1E"/>
      </a:accent3>
      <a:accent4>
        <a:srgbClr val="B5473A"/>
      </a:accent4>
      <a:accent5>
        <a:srgbClr val="5B6B7F"/>
      </a:accent5>
      <a:accent6>
        <a:srgbClr val="8CC6CF"/>
      </a:accent6>
      <a:hlink>
        <a:srgbClr val="0F7C8C"/>
      </a:hlink>
      <a:folHlink>
        <a:srgbClr val="5B6B7F"/>
      </a:folHlink>
    </a:clrScheme>
    <a:fontScheme name="Comite de Riesg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COMEDICA de 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Acuerdos Comité de Riesgo - Sesión 150</dc:title>
  <dc:subject>PptxGenJS Presentation</dc:subject>
  <dc:creator>PptxGenJS</dc:creator>
  <cp:lastModifiedBy>PptxGenJS</cp:lastModifiedBy>
  <cp:revision>1</cp:revision>
  <dcterms:created xsi:type="dcterms:W3CDTF">2026-10-24T17:41:22Z</dcterms:created>
  <dcterms:modified xsi:type="dcterms:W3CDTF">2026-10-24T17:41:22Z</dcterms:modified>
</cp:coreProperties>
</file>