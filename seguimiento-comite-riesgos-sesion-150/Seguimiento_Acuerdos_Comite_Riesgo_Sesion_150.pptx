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8B57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F7C8C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B5473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Beneficiarios afiliados</c:v>
                </c:pt>
                <c:pt idx="1">
                  <c:v>Jurídicos</c:v>
                </c:pt>
                <c:pt idx="2">
                  <c:v>Beneficiarios no afiliados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69.4</c:v>
                </c:pt>
                <c:pt idx="1">
                  <c:v>24.2</c:v>
                </c:pt>
                <c:pt idx="2">
                  <c:v>6.4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COMEDICA de R.L.  ·  Comité de Riesgos  ·  Seguimiento de acuerdos Sesión 150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Seguimiento Acuerdos Comité de Riesgo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Sesión 150 del 27 de agosto de 2026  ·  Estado de notas, responsables, acuerdos y evidencias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COMEDICA DE R.L.  ·  ADMINISTRACIÓN DE RIESGOS</a:t>
            </a:r>
            <a:endParaRPr lang="en-US" sz="1300" dirty="0"/>
          </a:p>
        </p:txBody>
      </p:sp>
      <p:sp>
        <p:nvSpPr>
          <p:cNvPr id="5" name="Círculo sesión"/>
          <p:cNvSpPr/>
          <p:nvPr/>
        </p:nvSpPr>
        <p:spPr>
          <a:xfrm>
            <a:off x="8183880" y="1325880"/>
            <a:ext cx="3291840" cy="3291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nillo sesión"/>
          <p:cNvSpPr/>
          <p:nvPr/>
        </p:nvSpPr>
        <p:spPr>
          <a:xfrm>
            <a:off x="8001000" y="1143000"/>
            <a:ext cx="3657600" cy="365760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chemeClr val="bg1"/>
                </a:solidFill>
              </a:rPr>
              <a:t>SESIÓN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150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27 · 08 · 2026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Seguimiento al 24 de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TABLERO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 acuerdos en seguimiento: 3 atendidos y 1 en proceso</a:t>
            </a:r>
            <a:endParaRPr lang="en-US" sz="3400" dirty="0"/>
          </a:p>
        </p:txBody>
      </p:sp>
      <p:sp>
        <p:nvSpPr>
          <p:cNvPr id="4" name="Indicador 1"/>
          <p:cNvSpPr/>
          <p:nvPr/>
        </p:nvSpPr>
        <p:spPr>
          <a:xfrm>
            <a:off x="548640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Notas emitidas por el Comité</a:t>
            </a:r>
            <a:endParaRPr lang="en-US" sz="1500" dirty="0"/>
          </a:p>
        </p:txBody>
      </p:sp>
      <p:sp>
        <p:nvSpPr>
          <p:cNvPr id="7" name="Indicador 2"/>
          <p:cNvSpPr/>
          <p:nvPr/>
        </p:nvSpPr>
        <p:spPr>
          <a:xfrm>
            <a:off x="4325112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650992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Acuerdos atendidos con respuesta</a:t>
            </a:r>
            <a:endParaRPr lang="en-US" sz="1500" dirty="0"/>
          </a:p>
        </p:txBody>
      </p:sp>
      <p:sp>
        <p:nvSpPr>
          <p:cNvPr id="10" name="Indicador 3"/>
          <p:cNvSpPr/>
          <p:nvPr/>
        </p:nvSpPr>
        <p:spPr>
          <a:xfrm>
            <a:off x="8101584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75904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1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9427464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Análisis pendiente de presentar</a:t>
            </a:r>
            <a:endParaRPr lang="en-US" sz="1500" dirty="0"/>
          </a:p>
        </p:txBody>
      </p:sp>
      <p:sp>
        <p:nvSpPr>
          <p:cNvPr id="13" name="Nota 01"/>
          <p:cNvSpPr/>
          <p:nvPr/>
        </p:nvSpPr>
        <p:spPr>
          <a:xfrm>
            <a:off x="54864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Icono nota 01 fondo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o nota 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3399739"/>
            <a:ext cx="332842" cy="33284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5448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Concentración de mayores depositantes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José Humberto Barillas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Negocios</a:t>
            </a:r>
            <a:endParaRPr lang="en-US" sz="1200" dirty="0"/>
          </a:p>
        </p:txBody>
      </p:sp>
      <p:sp>
        <p:nvSpPr>
          <p:cNvPr id="19" name="Estado CUMPLIDO"/>
          <p:cNvSpPr txBox="1"/>
          <p:nvPr/>
        </p:nvSpPr>
        <p:spPr>
          <a:xfrm>
            <a:off x="77724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0" name="Nota 02"/>
          <p:cNvSpPr/>
          <p:nvPr/>
        </p:nvSpPr>
        <p:spPr>
          <a:xfrm>
            <a:off x="338328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Icono nota 02 fondo"/>
          <p:cNvSpPr/>
          <p:nvPr/>
        </p:nvSpPr>
        <p:spPr>
          <a:xfrm>
            <a:off x="361188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o nota 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499" y="3399739"/>
            <a:ext cx="332842" cy="33284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02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61188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Liberación de reservas y recuperación de cartera castigada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361188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Ing. José Augusto De la 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Finanzas y Planificación</a:t>
            </a:r>
            <a:endParaRPr lang="en-US" sz="1200" dirty="0"/>
          </a:p>
        </p:txBody>
      </p:sp>
      <p:sp>
        <p:nvSpPr>
          <p:cNvPr id="26" name="Estado CUMPLIDO"/>
          <p:cNvSpPr txBox="1"/>
          <p:nvPr/>
        </p:nvSpPr>
        <p:spPr>
          <a:xfrm>
            <a:off x="361188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7" name="Nota 03"/>
          <p:cNvSpPr/>
          <p:nvPr/>
        </p:nvSpPr>
        <p:spPr>
          <a:xfrm>
            <a:off x="621792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8" name="Icono nota 03 fondo"/>
          <p:cNvSpPr/>
          <p:nvPr/>
        </p:nvSpPr>
        <p:spPr>
          <a:xfrm>
            <a:off x="644652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o nota 0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139" y="3399739"/>
            <a:ext cx="332842" cy="33284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03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44652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Cartera en proceso de reestructuración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44652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Carlos Roberto Aguilar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Jefe de Soluciones Financieras</a:t>
            </a:r>
            <a:endParaRPr lang="en-US" sz="1200" dirty="0"/>
          </a:p>
        </p:txBody>
      </p:sp>
      <p:sp>
        <p:nvSpPr>
          <p:cNvPr id="33" name="Estado EN PROCESO"/>
          <p:cNvSpPr txBox="1"/>
          <p:nvPr/>
        </p:nvSpPr>
        <p:spPr>
          <a:xfrm>
            <a:off x="644652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34" name="Nota 04"/>
          <p:cNvSpPr/>
          <p:nvPr/>
        </p:nvSpPr>
        <p:spPr>
          <a:xfrm>
            <a:off x="905256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35" name="Icono nota 04 fondo"/>
          <p:cNvSpPr/>
          <p:nvPr/>
        </p:nvSpPr>
        <p:spPr>
          <a:xfrm>
            <a:off x="928116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cono nota 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779" y="3399739"/>
            <a:ext cx="332842" cy="33284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05840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04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928116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Servicio de pago de pensiones en la Cooperativa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928116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Luis Marcelo Cruz Vigil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Consulta remitida el 02/10/2026</a:t>
            </a:r>
            <a:endParaRPr lang="en-US" sz="1200" dirty="0"/>
          </a:p>
        </p:txBody>
      </p:sp>
      <p:sp>
        <p:nvSpPr>
          <p:cNvPr id="40" name="Estado ATENDIDO · NO FAVORABLE"/>
          <p:cNvSpPr txBox="1"/>
          <p:nvPr/>
        </p:nvSpPr>
        <p:spPr>
          <a:xfrm>
            <a:off x="928116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ATENDIDO · NO 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MATRIZ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Notas, responsables, acuerdos y evidencias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103120"/>
                <a:gridCol w="2788920"/>
                <a:gridCol w="4160520"/>
                <a:gridCol w="12618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N° nota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Acuerdo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Evidencia / respuesta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José Humberto Barillas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Negocios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Visitas personalizadas a los mayores depositantes para gestionar el riesgo de concentración y promover la afiliación de sus hijos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Informe de visitas del 16/10/2026 · 10 depositantes ($27.15 M)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69.40% está mitigado con beneficiarios afiliados; el riesgo se concentra en 3 jurídicos (24.20%), sensibles a tasas, y 1 depositante sin beneficiarios afiliados (6.40%).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Ing. José Augusto De la O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Finanzas y Planificación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de liberación de reservas e ingresos por recuperación de cartera castigada (CR-2026-49, lit. j)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Memorando 04_2026 del 30/09/2026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liberación de reservas $1,073,528.39 (4.33% de ingresos) por mejora crediticia; recuperación de castigados $121,441.73 (0.49%) por cobros efectivos. Origen contable distinto.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03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Carlos Roberto Aguilar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Jefe de Soluciones Financieras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integral de la cartera en reestructuración: características, causas, tendencias y riesgos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Nota recibida el 10/09/2026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análisis aún no presentado; se mantiene en seguimiento para la próxima sesión.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EN PROCESO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Luis Marcelo Cruz Vigil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Consulta del 02/10/2026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Informar gestiones para prestar el servicio de pago de pensiones en la Cooperativa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Solicitudes a AFP CONFIA, AFP CRECER, IPSFA e ISP · respuesta 03/10/2026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las instituciones indicaron que COMEDICA aún no califica como entidad receptora de pensiones.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ATENDIDO · NO FAVORABLE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01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Concentración de mayores depositantes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José Humberto Barillas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Negocios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10/09/2026 · Recibida en Depto. de Créditos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Realizar visitas personalizadas a los asociados de mayor concentración en depósitos, para fortalecer la relación y promover la incorporación de sus hijos como asociados, como medida para gestionar el riesgo de concentración. Compartir las gestiones con el Comité.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063240"/>
            <a:ext cx="743407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2095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2973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703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 de visitas del 16/10/2026: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visitó a los 10 mayores depositantes ($27,152,269.99) por medio de los jefes de agencia, en coordinación con la Subgerencia de Canales.</a:t>
            </a:r>
            <a:endParaRPr lang="en-US" sz="1400" dirty="0"/>
          </a:p>
        </p:txBody>
      </p:sp>
      <p:sp>
        <p:nvSpPr>
          <p:cNvPr id="26" name="Marcador 69.40%"/>
          <p:cNvSpPr/>
          <p:nvPr/>
        </p:nvSpPr>
        <p:spPr>
          <a:xfrm>
            <a:off x="4498848" y="461772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4846320" y="45079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69.40%</a:t>
            </a:r>
            <a:endParaRPr lang="en-US" sz="22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44897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 de 10 · beneficiarios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$18,862,867.16 · mantener fidelización</a:t>
            </a:r>
            <a:endParaRPr lang="en-US" sz="1400" dirty="0"/>
          </a:p>
        </p:txBody>
      </p:sp>
      <p:sp>
        <p:nvSpPr>
          <p:cNvPr id="29" name="Marcador 24.20%"/>
          <p:cNvSpPr/>
          <p:nvPr/>
        </p:nvSpPr>
        <p:spPr>
          <a:xfrm>
            <a:off x="4498848" y="5166360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4846320" y="50566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24.20%</a:t>
            </a:r>
            <a:endParaRPr lang="en-US" sz="22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0" y="50383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de 10 · depositantes jurídicos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$6,557,464.37 · negociación anticipada</a:t>
            </a:r>
            <a:endParaRPr lang="en-US" sz="1400" dirty="0"/>
          </a:p>
        </p:txBody>
      </p:sp>
      <p:sp>
        <p:nvSpPr>
          <p:cNvPr id="32" name="Marcador 6.40%"/>
          <p:cNvSpPr/>
          <p:nvPr/>
        </p:nvSpPr>
        <p:spPr>
          <a:xfrm>
            <a:off x="4498848" y="5715000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4846320" y="5605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6.40%</a:t>
            </a:r>
            <a:endParaRPr lang="en-US" sz="2200" dirty="0"/>
          </a:p>
        </p:txBody>
      </p:sp>
      <p:sp>
        <p:nvSpPr>
          <p:cNvPr id="34" name="Text 27"/>
          <p:cNvSpPr txBox="1"/>
          <p:nvPr/>
        </p:nvSpPr>
        <p:spPr>
          <a:xfrm>
            <a:off x="5943600" y="55869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de 10 · beneficiarios no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$1,731,938.46 · plan de afiliación</a:t>
            </a:r>
            <a:endParaRPr lang="en-US" sz="1400" dirty="0"/>
          </a:p>
        </p:txBody>
      </p:sp>
      <p:graphicFrame>
        <p:nvGraphicFramePr>
          <p:cNvPr id="35" name="Gráfico concentración" descr=""/>
          <p:cNvGraphicFramePr/>
          <p:nvPr/>
        </p:nvGraphicFramePr>
        <p:xfrm>
          <a:off x="9281160" y="3474720"/>
          <a:ext cx="21945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6" name="Text 28"/>
          <p:cNvSpPr txBox="1"/>
          <p:nvPr/>
        </p:nvSpPr>
        <p:spPr>
          <a:xfrm>
            <a:off x="928116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$27.15 M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 depositantes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02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Liberación de reservas e ingresos por recuperación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Ing. José Augusto De la O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Finanzas y Planificación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MEMORANDO 04_2026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30/09/2026 · Recibido por el Consejo de Administración el 01/10/2026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un análisis explicativo sobre la liberación de reservas reflejada como ingresos en los estados financieros,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Origen, composición y criterios contables de reconocimiento.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Monto de recuperación de cartera castigada y su participación.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Conciliación: liberación de reservas vs. recuperaciones vs. otros conceptos.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Remitir a la Asistente del Consejo de Administración.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794760"/>
            <a:ext cx="743407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9410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40288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986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Cifra Liberación de reservas"/>
          <p:cNvSpPr/>
          <p:nvPr/>
        </p:nvSpPr>
        <p:spPr>
          <a:xfrm>
            <a:off x="4480560" y="4434840"/>
            <a:ext cx="3374136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663440" y="45079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$1,073,528.39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4663440" y="4892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Liberación de reservas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4.33% de los ingresos totales · 100% reversión de estimaciones por incobrabilidad (cta. 1149)</a:t>
            </a:r>
            <a:endParaRPr lang="en-US" sz="1100" dirty="0"/>
          </a:p>
        </p:txBody>
      </p:sp>
      <p:sp>
        <p:nvSpPr>
          <p:cNvPr id="28" name="Cifra Recuperación de cartera castigada"/>
          <p:cNvSpPr/>
          <p:nvPr/>
        </p:nvSpPr>
        <p:spPr>
          <a:xfrm>
            <a:off x="7991856" y="4434840"/>
            <a:ext cx="3374136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174736" y="45079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$121,441.73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8174736" y="4892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Recuperación de cartera castigada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0.49% de los ingresos totales · 81.06% corresponde a intereses refinanciados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4480560" y="5577840"/>
            <a:ext cx="6885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Conclusión: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mismo ámbito (riesgo crediticio), origen distinto: la liberación revierte provisiones por mejora crediticia; la recuperación son cobros de créditos ya castigados.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03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Cartera en proceso de reestructuración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Carlos Roberto Aguilar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Jefe de Soluciones Financieras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EN PROCESO</a:t>
            </a:r>
            <a:endParaRPr lang="en-US" sz="1400" dirty="0"/>
          </a:p>
        </p:txBody>
      </p:sp>
      <p:pic>
        <p:nvPicPr>
          <p:cNvPr id="13" name="Documento soporte" descr="Imagen del documento soporte de la nota 0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10/09/2026 · Recibida en Depto. de Soluciones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ante el Comité un análisis integral de la cartera en proceso de reestructuración,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Comportamiento y características de la cartera reestructurada.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Principales causas, factores o circunstancias que la originan.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Tendencias observadas y riesgos asociados.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566160"/>
            <a:ext cx="7434072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7124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8002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758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4206240"/>
            <a:ext cx="6885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la fecha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se ha recibido el análisis solicitado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 se mantiene en seguimiento.</a:t>
            </a:r>
            <a:endParaRPr lang="en-US" sz="1400" dirty="0"/>
          </a:p>
        </p:txBody>
      </p:sp>
      <p:sp>
        <p:nvSpPr>
          <p:cNvPr id="26" name="Línea de tiempo"/>
          <p:cNvSpPr/>
          <p:nvPr/>
        </p:nvSpPr>
        <p:spPr>
          <a:xfrm>
            <a:off x="4809744" y="4828032"/>
            <a:ext cx="6227064" cy="0"/>
          </a:xfrm>
          <a:prstGeom prst="line">
            <a:avLst/>
          </a:prstGeom>
          <a:noFill/>
          <a:ln w="25400">
            <a:solidFill>
              <a:srgbClr val="8CC6CF"/>
            </a:solidFill>
            <a:prstDash val="solid"/>
          </a:ln>
        </p:spPr>
      </p:sp>
      <p:sp>
        <p:nvSpPr>
          <p:cNvPr id="27" name="Hito 1"/>
          <p:cNvSpPr/>
          <p:nvPr/>
        </p:nvSpPr>
        <p:spPr>
          <a:xfrm>
            <a:off x="4480560" y="46634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48056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27/08/2026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80560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Acuerdo en Sesión 150</a:t>
            </a:r>
            <a:endParaRPr lang="en-US" sz="1200" dirty="0"/>
          </a:p>
        </p:txBody>
      </p:sp>
      <p:sp>
        <p:nvSpPr>
          <p:cNvPr id="30" name="Hito 2"/>
          <p:cNvSpPr/>
          <p:nvPr/>
        </p:nvSpPr>
        <p:spPr>
          <a:xfrm>
            <a:off x="7758684" y="46634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734556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10/09/2026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734556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recibida por Depto. de Soluciones (Griselda Sigüenza)</a:t>
            </a:r>
            <a:endParaRPr lang="en-US" sz="1200" dirty="0"/>
          </a:p>
        </p:txBody>
      </p:sp>
      <p:sp>
        <p:nvSpPr>
          <p:cNvPr id="33" name="Hito 3"/>
          <p:cNvSpPr/>
          <p:nvPr/>
        </p:nvSpPr>
        <p:spPr>
          <a:xfrm>
            <a:off x="11036808" y="4663440"/>
            <a:ext cx="329184" cy="329184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988552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Pendiente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8988552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Presentación del análisis al Comité de Riesgos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04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Pago de pensiones en la Cooperativa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Luis Marcelo Cruz Vigil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Consulta remitida el 02/10/2026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ATENDIDO · NO FAVORABLE</a:t>
            </a:r>
            <a:endParaRPr lang="en-US" sz="1400" dirty="0"/>
          </a:p>
        </p:txBody>
      </p:sp>
      <p:pic>
        <p:nvPicPr>
          <p:cNvPr id="13" name="Documento soporte" descr="Imagen del documento soporte de la nota 0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CONSTANCIAS A AFP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Solicitudes del 05/11/2025, con sello de recibido 06/11/2025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Informar si se han realizado gestiones, análisis o acercamientos para implementar el servicio de pago de pensiones en la Cooperativa, así como su estado y avances.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2834640"/>
            <a:ext cx="7434072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29809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0687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026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474720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Respuesta del 03/10/2026: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enviaron solicitudes el 05/11/2025 a cuatro instituciones pagadoras de pensiones para que los asociados reciban su pensión en COMEDICA (recibidas el 06/11/2025).</a:t>
            </a:r>
            <a:endParaRPr lang="en-US" sz="1400" dirty="0"/>
          </a:p>
        </p:txBody>
      </p:sp>
      <p:sp>
        <p:nvSpPr>
          <p:cNvPr id="26" name="Institución AFP CONFIA"/>
          <p:cNvSpPr/>
          <p:nvPr/>
        </p:nvSpPr>
        <p:spPr>
          <a:xfrm>
            <a:off x="448056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7" name="Icono AFP CONFIA fondo"/>
          <p:cNvSpPr/>
          <p:nvPr/>
        </p:nvSpPr>
        <p:spPr>
          <a:xfrm>
            <a:off x="502920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8" name="Icono AFP CONF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7955" y="4533595"/>
            <a:ext cx="213970" cy="21397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480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CONFIA</a:t>
            </a:r>
            <a:endParaRPr lang="en-US" sz="1300" dirty="0"/>
          </a:p>
        </p:txBody>
      </p:sp>
      <p:sp>
        <p:nvSpPr>
          <p:cNvPr id="30" name="Institución AFP CRECER"/>
          <p:cNvSpPr/>
          <p:nvPr/>
        </p:nvSpPr>
        <p:spPr>
          <a:xfrm>
            <a:off x="621792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1" name="Icono AFP CRECER fondo"/>
          <p:cNvSpPr/>
          <p:nvPr/>
        </p:nvSpPr>
        <p:spPr>
          <a:xfrm>
            <a:off x="676656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2" name="Icono AFP CRECE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315" y="4533595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217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CRECER</a:t>
            </a:r>
            <a:endParaRPr lang="en-US" sz="1300" dirty="0"/>
          </a:p>
        </p:txBody>
      </p:sp>
      <p:sp>
        <p:nvSpPr>
          <p:cNvPr id="34" name="Institución IPSFA"/>
          <p:cNvSpPr/>
          <p:nvPr/>
        </p:nvSpPr>
        <p:spPr>
          <a:xfrm>
            <a:off x="795528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5" name="Icono IPSFA fondo"/>
          <p:cNvSpPr/>
          <p:nvPr/>
        </p:nvSpPr>
        <p:spPr>
          <a:xfrm>
            <a:off x="850392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6" name="Icono IPSF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2675" y="4533595"/>
            <a:ext cx="213970" cy="21397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955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IPSFA</a:t>
            </a:r>
            <a:endParaRPr lang="en-US" sz="1300" dirty="0"/>
          </a:p>
        </p:txBody>
      </p:sp>
      <p:sp>
        <p:nvSpPr>
          <p:cNvPr id="38" name="Institución ISP"/>
          <p:cNvSpPr/>
          <p:nvPr/>
        </p:nvSpPr>
        <p:spPr>
          <a:xfrm>
            <a:off x="969264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9" name="Icono ISP fondo"/>
          <p:cNvSpPr/>
          <p:nvPr/>
        </p:nvSpPr>
        <p:spPr>
          <a:xfrm>
            <a:off x="1024128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0" name="Icono ISP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0035" y="4533595"/>
            <a:ext cx="213970" cy="21397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9692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ISP</a:t>
            </a:r>
            <a:endParaRPr lang="en-US" sz="1300" dirty="0"/>
          </a:p>
        </p:txBody>
      </p:sp>
      <p:sp>
        <p:nvSpPr>
          <p:cNvPr id="42" name="Resultado"/>
          <p:cNvSpPr/>
          <p:nvPr/>
        </p:nvSpPr>
        <p:spPr>
          <a:xfrm>
            <a:off x="4480560" y="5394960"/>
            <a:ext cx="6885432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rgbClr val="B5473A"/>
            </a:solidFill>
            <a:prstDash val="solid"/>
          </a:ln>
        </p:spPr>
      </p:sp>
      <p:pic>
        <p:nvPicPr>
          <p:cNvPr id="43" name="Icono resultado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5532120"/>
            <a:ext cx="320040" cy="320040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5120640" y="5440680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Resultado: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instituciones indicaron por teléfono que COMEDICA actualmente no califica como entidad receptora de pensiones.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PRÓXIMOS PASOS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Acciones para cerrar los acuerdos de la Sesión 150</a:t>
            </a:r>
            <a:endParaRPr lang="en-US" sz="3600" dirty="0"/>
          </a:p>
        </p:txBody>
      </p:sp>
      <p:sp>
        <p:nvSpPr>
          <p:cNvPr id="4" name="Paso 1"/>
          <p:cNvSpPr/>
          <p:nvPr/>
        </p:nvSpPr>
        <p:spPr>
          <a:xfrm>
            <a:off x="731520" y="19659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5" name="Icono paso 1 fondo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o p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591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377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Requerir la presentación del análisis de cartera reestructurada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Jefatura de Soluciones Financieras · nota recibida el 10/09/2026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731520" y="33375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1" name="Icono paso 2 fondo"/>
          <p:cNvSpPr/>
          <p:nvPr/>
        </p:nvSpPr>
        <p:spPr>
          <a:xfrm>
            <a:off x="1005840" y="3566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o p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73075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96596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65960" y="3749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Monitorear el plan de afiliación y los vencimientos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1965960" y="4114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Depositante con beneficiarios no afiliados (6.40%) y depositantes jurídicos (24.20%)</a:t>
            </a:r>
            <a:endParaRPr lang="en-US" sz="1300" dirty="0"/>
          </a:p>
        </p:txBody>
      </p:sp>
      <p:sp>
        <p:nvSpPr>
          <p:cNvPr id="16" name="Paso 3"/>
          <p:cNvSpPr/>
          <p:nvPr/>
        </p:nvSpPr>
        <p:spPr>
          <a:xfrm>
            <a:off x="731520" y="47091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7" name="Icono paso 3 fondo"/>
          <p:cNvSpPr/>
          <p:nvPr/>
        </p:nvSpPr>
        <p:spPr>
          <a:xfrm>
            <a:off x="1005840" y="49377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cono p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10235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96596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04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96596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Solicitar respuesta formal por escrito de las instituciones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1965960" y="5486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Documentar los requisitos para que COMEDICA califique como entidad receptora de pensiones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ite de Riesgos">
  <a:themeElements>
    <a:clrScheme name="Comite de Riesgos">
      <a:dk1>
        <a:srgbClr val="1B2433"/>
      </a:dk1>
      <a:lt1>
        <a:srgbClr val="FFFFFF"/>
      </a:lt1>
      <a:dk2>
        <a:srgbClr val="0E2A47"/>
      </a:dk2>
      <a:lt2>
        <a:srgbClr val="EEF3F7"/>
      </a:lt2>
      <a:accent1>
        <a:srgbClr val="0F7C8C"/>
      </a:accent1>
      <a:accent2>
        <a:srgbClr val="2E8B57"/>
      </a:accent2>
      <a:accent3>
        <a:srgbClr val="D99A1E"/>
      </a:accent3>
      <a:accent4>
        <a:srgbClr val="B5473A"/>
      </a:accent4>
      <a:accent5>
        <a:srgbClr val="5B6B7F"/>
      </a:accent5>
      <a:accent6>
        <a:srgbClr val="8CC6CF"/>
      </a:accent6>
      <a:hlink>
        <a:srgbClr val="0F7C8C"/>
      </a:hlink>
      <a:folHlink>
        <a:srgbClr val="5B6B7F"/>
      </a:folHlink>
    </a:clrScheme>
    <a:fontScheme name="Comite de Riesg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COMEDICA de 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Acuerdos Comité de Riesgo - Sesión 150</dc:title>
  <dc:subject>PptxGenJS Presentation</dc:subject>
  <dc:creator>PptxGenJS</dc:creator>
  <cp:lastModifiedBy>PptxGenJS</cp:lastModifiedBy>
  <cp:revision>1</cp:revision>
  <dcterms:created xsi:type="dcterms:W3CDTF">2026-10-24T17:50:24Z</dcterms:created>
  <dcterms:modified xsi:type="dcterms:W3CDTF">2026-10-24T17:50:24Z</dcterms:modified>
</cp:coreProperties>
</file>