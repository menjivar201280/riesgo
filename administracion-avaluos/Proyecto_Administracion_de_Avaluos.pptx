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5"/>
    <p:sldId id="274" r:id="rId26"/>
    <p:sldId id="275" r:id="rId27"/>
    <p:sldId id="276" r:id="rId28"/>
    <p:sldId id="260" r:id="rId6"/>
    <p:sldId id="261" r:id="rId7"/>
    <p:sldId id="262" r:id="rId8"/>
    <p:sldId id="265" r:id="rId9"/>
    <p:sldId id="263" r:id="rId10"/>
    <p:sldId id="264" r:id="rId11"/>
    <p:sldId id="266" r:id="rId12"/>
    <p:sldId id="267" r:id="rId13"/>
    <p:sldId id="268" r:id="rId14"/>
    <p:sldId id="269" r:id="rId15"/>
    <p:sldId id="270" r:id="rId16"/>
    <p:sldId id="271" r:id="rId17"/>
    <p:sldId id="273"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A4F49E0E-22B1-BE80-A0E7-19F7228A201A}">
          <p14:sldIdLst>
            <p14:sldId id="256"/>
          </p14:sldIdLst>
        </p14:section>
        <p14:section name="Agenda" id="{1E64A481-C301-D9D3-7047-14A80CF618DD}">
          <p14:sldIdLst>
            <p14:sldId id="257"/>
          </p14:sldIdLst>
        </p14:section>
        <p14:section name="Situación actual" id="{B72421C7-06EF-DB71-5161-B4DC8143E223}">
          <p14:sldIdLst>
            <p14:sldId id="259"/>
            <p14:sldId id="274"/>
            <p14:sldId id="275"/>
            <p14:sldId id="276"/>
            <p14:sldId id="260"/>
            <p14:sldId id="261"/>
            <p14:sldId id="262"/>
            <p14:sldId id="265"/>
          </p14:sldIdLst>
        </p14:section>
        <p14:section name="Datos operativos" id="{7DA4519B-6958-9B8E-80E1-DF02F1BC1D51}">
          <p14:sldIdLst>
            <p14:sldId id="263"/>
            <p14:sldId id="264"/>
          </p14:sldIdLst>
        </p14:section>
        <p14:section name="Riesgo identificado" id="{621E4335-245D-6558-DADE-DEE274FBA16C}">
          <p14:sldIdLst>
            <p14:sldId id="266"/>
          </p14:sldIdLst>
        </p14:section>
        <p14:section name="Propuesta" id="{BFD6A188-B09D-EF39-CF16-FC8B3255C61E}">
          <p14:sldIdLst>
            <p14:sldId id="267"/>
            <p14:sldId id="268"/>
            <p14:sldId id="269"/>
            <p14:sldId id="270"/>
          </p14:sldIdLst>
        </p14:section>
        <p14:section name="Solicitud" id="{DB32BDA2-FC3A-11FB-F819-586922E2490C}">
          <p14:sldIdLst>
            <p14:sldId id="271"/>
          </p14:sldIdLst>
        </p14:section>
        <p14:section name="Cierre" id="{056B976B-2EE2-B430-7DD3-A5C00CA399F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FFED3-4EE7-40A7-B85D-BB1DDCD51278}" v="14" dt="2026-10-21T19:44:23.6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0" d="100"/>
          <a:sy n="80" d="100"/>
        </p:scale>
        <p:origin x="754" y="39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ctor Jose Menjivar Somoza" userId="0c251d33-8269-45bf-9bec-169219cd79c7" providerId="ADAL" clId="{E24BF829-F682-4B96-8073-D53758CC38A2}"/>
    <pc:docChg chg="undo custSel modSld sldOrd modSection">
      <pc:chgData name="Hector Jose Menjivar Somoza" userId="0c251d33-8269-45bf-9bec-169219cd79c7" providerId="ADAL" clId="{E24BF829-F682-4B96-8073-D53758CC38A2}" dt="2026-10-21T19:59:35.654" v="112"/>
      <pc:docMkLst>
        <pc:docMk/>
      </pc:docMkLst>
      <pc:sldChg chg="addSp delSp modSp mod">
        <pc:chgData name="Hector Jose Menjivar Somoza" userId="0c251d33-8269-45bf-9bec-169219cd79c7" providerId="ADAL" clId="{E24BF829-F682-4B96-8073-D53758CC38A2}" dt="2026-10-21T19:44:24.106" v="85"/>
        <pc:sldMkLst>
          <pc:docMk/>
          <pc:sldMk cId="0" sldId="258"/>
        </pc:sldMkLst>
        <pc:spChg chg="mod">
          <ac:chgData name="Hector Jose Menjivar Somoza" userId="0c251d33-8269-45bf-9bec-169219cd79c7" providerId="ADAL" clId="{E24BF829-F682-4B96-8073-D53758CC38A2}" dt="2026-10-21T19:44:10.233" v="80" actId="1076"/>
          <ac:spMkLst>
            <pc:docMk/>
            <pc:sldMk cId="0" sldId="258"/>
            <ac:spMk id="2" creationId="{00000000-0000-0000-0000-000000000000}"/>
          </ac:spMkLst>
        </pc:spChg>
        <pc:spChg chg="mod">
          <ac:chgData name="Hector Jose Menjivar Somoza" userId="0c251d33-8269-45bf-9bec-169219cd79c7" providerId="ADAL" clId="{E24BF829-F682-4B96-8073-D53758CC38A2}" dt="2026-10-21T19:44:16.789" v="82" actId="1076"/>
          <ac:spMkLst>
            <pc:docMk/>
            <pc:sldMk cId="0" sldId="258"/>
            <ac:spMk id="3" creationId="{00000000-0000-0000-0000-000000000000}"/>
          </ac:spMkLst>
        </pc:spChg>
        <pc:spChg chg="add del mod">
          <ac:chgData name="Hector Jose Menjivar Somoza" userId="0c251d33-8269-45bf-9bec-169219cd79c7" providerId="ADAL" clId="{E24BF829-F682-4B96-8073-D53758CC38A2}" dt="2026-10-21T19:44:24.106" v="85"/>
          <ac:spMkLst>
            <pc:docMk/>
            <pc:sldMk cId="0" sldId="258"/>
            <ac:spMk id="7" creationId="{4F8F91A8-0F1E-AA71-6C25-C13D2539AE9F}"/>
          </ac:spMkLst>
        </pc:spChg>
        <pc:picChg chg="del mod">
          <ac:chgData name="Hector Jose Menjivar Somoza" userId="0c251d33-8269-45bf-9bec-169219cd79c7" providerId="ADAL" clId="{E24BF829-F682-4B96-8073-D53758CC38A2}" dt="2026-10-21T19:43:52.072" v="76" actId="478"/>
          <ac:picMkLst>
            <pc:docMk/>
            <pc:sldMk cId="0" sldId="258"/>
            <ac:picMk id="5" creationId="{00000000-0000-0000-0000-000000000000}"/>
          </ac:picMkLst>
        </pc:picChg>
      </pc:sldChg>
      <pc:sldChg chg="modSp mod">
        <pc:chgData name="Hector Jose Menjivar Somoza" userId="0c251d33-8269-45bf-9bec-169219cd79c7" providerId="ADAL" clId="{E24BF829-F682-4B96-8073-D53758CC38A2}" dt="2026-10-21T19:59:08.327" v="110" actId="20577"/>
        <pc:sldMkLst>
          <pc:docMk/>
          <pc:sldMk cId="0" sldId="260"/>
        </pc:sldMkLst>
        <pc:spChg chg="mod">
          <ac:chgData name="Hector Jose Menjivar Somoza" userId="0c251d33-8269-45bf-9bec-169219cd79c7" providerId="ADAL" clId="{E24BF829-F682-4B96-8073-D53758CC38A2}" dt="2026-10-21T19:38:22.883" v="0"/>
          <ac:spMkLst>
            <pc:docMk/>
            <pc:sldMk cId="0" sldId="260"/>
            <ac:spMk id="2" creationId="{00000000-0000-0000-0000-000000000000}"/>
          </ac:spMkLst>
        </pc:spChg>
        <pc:spChg chg="mod">
          <ac:chgData name="Hector Jose Menjivar Somoza" userId="0c251d33-8269-45bf-9bec-169219cd79c7" providerId="ADAL" clId="{E24BF829-F682-4B96-8073-D53758CC38A2}" dt="2026-10-21T19:59:08.327" v="110" actId="20577"/>
          <ac:spMkLst>
            <pc:docMk/>
            <pc:sldMk cId="0" sldId="260"/>
            <ac:spMk id="8" creationId="{00000000-0000-0000-0000-000000000000}"/>
          </ac:spMkLst>
        </pc:spChg>
      </pc:sldChg>
      <pc:sldChg chg="modSp mod">
        <pc:chgData name="Hector Jose Menjivar Somoza" userId="0c251d33-8269-45bf-9bec-169219cd79c7" providerId="ADAL" clId="{E24BF829-F682-4B96-8073-D53758CC38A2}" dt="2026-10-21T19:38:57.705" v="26" actId="14100"/>
        <pc:sldMkLst>
          <pc:docMk/>
          <pc:sldMk cId="0" sldId="261"/>
        </pc:sldMkLst>
        <pc:spChg chg="mod">
          <ac:chgData name="Hector Jose Menjivar Somoza" userId="0c251d33-8269-45bf-9bec-169219cd79c7" providerId="ADAL" clId="{E24BF829-F682-4B96-8073-D53758CC38A2}" dt="2026-10-21T19:38:57.705" v="26" actId="14100"/>
          <ac:spMkLst>
            <pc:docMk/>
            <pc:sldMk cId="0" sldId="261"/>
            <ac:spMk id="2" creationId="{00000000-0000-0000-0000-000000000000}"/>
          </ac:spMkLst>
        </pc:spChg>
      </pc:sldChg>
      <pc:sldChg chg="delSp modSp mod">
        <pc:chgData name="Hector Jose Menjivar Somoza" userId="0c251d33-8269-45bf-9bec-169219cd79c7" providerId="ADAL" clId="{E24BF829-F682-4B96-8073-D53758CC38A2}" dt="2026-10-21T19:39:17.740" v="28" actId="478"/>
        <pc:sldMkLst>
          <pc:docMk/>
          <pc:sldMk cId="0" sldId="262"/>
        </pc:sldMkLst>
        <pc:spChg chg="mod">
          <ac:chgData name="Hector Jose Menjivar Somoza" userId="0c251d33-8269-45bf-9bec-169219cd79c7" providerId="ADAL" clId="{E24BF829-F682-4B96-8073-D53758CC38A2}" dt="2026-10-21T19:39:06.791" v="27"/>
          <ac:spMkLst>
            <pc:docMk/>
            <pc:sldMk cId="0" sldId="262"/>
            <ac:spMk id="2" creationId="{00000000-0000-0000-0000-000000000000}"/>
          </ac:spMkLst>
        </pc:spChg>
        <pc:spChg chg="del">
          <ac:chgData name="Hector Jose Menjivar Somoza" userId="0c251d33-8269-45bf-9bec-169219cd79c7" providerId="ADAL" clId="{E24BF829-F682-4B96-8073-D53758CC38A2}" dt="2026-10-21T19:39:17.740" v="28" actId="478"/>
          <ac:spMkLst>
            <pc:docMk/>
            <pc:sldMk cId="0" sldId="262"/>
            <ac:spMk id="3" creationId="{00000000-0000-0000-0000-000000000000}"/>
          </ac:spMkLst>
        </pc:spChg>
      </pc:sldChg>
      <pc:sldChg chg="modSp">
        <pc:chgData name="Hector Jose Menjivar Somoza" userId="0c251d33-8269-45bf-9bec-169219cd79c7" providerId="ADAL" clId="{E24BF829-F682-4B96-8073-D53758CC38A2}" dt="2026-10-21T19:39:27.220" v="29"/>
        <pc:sldMkLst>
          <pc:docMk/>
          <pc:sldMk cId="0" sldId="263"/>
        </pc:sldMkLst>
        <pc:spChg chg="mod">
          <ac:chgData name="Hector Jose Menjivar Somoza" userId="0c251d33-8269-45bf-9bec-169219cd79c7" providerId="ADAL" clId="{E24BF829-F682-4B96-8073-D53758CC38A2}" dt="2026-10-21T19:39:27.220" v="29"/>
          <ac:spMkLst>
            <pc:docMk/>
            <pc:sldMk cId="0" sldId="263"/>
            <ac:spMk id="2" creationId="{00000000-0000-0000-0000-000000000000}"/>
          </ac:spMkLst>
        </pc:spChg>
      </pc:sldChg>
      <pc:sldChg chg="modSp mod">
        <pc:chgData name="Hector Jose Menjivar Somoza" userId="0c251d33-8269-45bf-9bec-169219cd79c7" providerId="ADAL" clId="{E24BF829-F682-4B96-8073-D53758CC38A2}" dt="2026-10-21T19:39:39.267" v="31" actId="14100"/>
        <pc:sldMkLst>
          <pc:docMk/>
          <pc:sldMk cId="0" sldId="264"/>
        </pc:sldMkLst>
        <pc:spChg chg="mod">
          <ac:chgData name="Hector Jose Menjivar Somoza" userId="0c251d33-8269-45bf-9bec-169219cd79c7" providerId="ADAL" clId="{E24BF829-F682-4B96-8073-D53758CC38A2}" dt="2026-10-21T19:39:39.267" v="31" actId="14100"/>
          <ac:spMkLst>
            <pc:docMk/>
            <pc:sldMk cId="0" sldId="264"/>
            <ac:spMk id="2" creationId="{00000000-0000-0000-0000-000000000000}"/>
          </ac:spMkLst>
        </pc:spChg>
      </pc:sldChg>
      <pc:sldChg chg="modSp mod ord">
        <pc:chgData name="Hector Jose Menjivar Somoza" userId="0c251d33-8269-45bf-9bec-169219cd79c7" providerId="ADAL" clId="{E24BF829-F682-4B96-8073-D53758CC38A2}" dt="2026-10-21T19:59:35.654" v="112"/>
        <pc:sldMkLst>
          <pc:docMk/>
          <pc:sldMk cId="0" sldId="265"/>
        </pc:sldMkLst>
        <pc:spChg chg="mod">
          <ac:chgData name="Hector Jose Menjivar Somoza" userId="0c251d33-8269-45bf-9bec-169219cd79c7" providerId="ADAL" clId="{E24BF829-F682-4B96-8073-D53758CC38A2}" dt="2026-10-21T19:39:57.509" v="35" actId="1076"/>
          <ac:spMkLst>
            <pc:docMk/>
            <pc:sldMk cId="0" sldId="265"/>
            <ac:spMk id="4" creationId="{00000000-0000-0000-0000-000000000000}"/>
          </ac:spMkLst>
        </pc:spChg>
      </pc:sldChg>
      <pc:sldChg chg="modSp mod">
        <pc:chgData name="Hector Jose Menjivar Somoza" userId="0c251d33-8269-45bf-9bec-169219cd79c7" providerId="ADAL" clId="{E24BF829-F682-4B96-8073-D53758CC38A2}" dt="2026-10-21T19:40:22.777" v="40" actId="1076"/>
        <pc:sldMkLst>
          <pc:docMk/>
          <pc:sldMk cId="0" sldId="266"/>
        </pc:sldMkLst>
        <pc:spChg chg="mod">
          <ac:chgData name="Hector Jose Menjivar Somoza" userId="0c251d33-8269-45bf-9bec-169219cd79c7" providerId="ADAL" clId="{E24BF829-F682-4B96-8073-D53758CC38A2}" dt="2026-10-21T19:40:22.777" v="40" actId="1076"/>
          <ac:spMkLst>
            <pc:docMk/>
            <pc:sldMk cId="0" sldId="266"/>
            <ac:spMk id="2" creationId="{00000000-0000-0000-0000-000000000000}"/>
          </ac:spMkLst>
        </pc:spChg>
      </pc:sldChg>
      <pc:sldChg chg="modSp mod">
        <pc:chgData name="Hector Jose Menjivar Somoza" userId="0c251d33-8269-45bf-9bec-169219cd79c7" providerId="ADAL" clId="{E24BF829-F682-4B96-8073-D53758CC38A2}" dt="2026-10-21T19:40:33.957" v="42" actId="14100"/>
        <pc:sldMkLst>
          <pc:docMk/>
          <pc:sldMk cId="0" sldId="267"/>
        </pc:sldMkLst>
        <pc:spChg chg="mod">
          <ac:chgData name="Hector Jose Menjivar Somoza" userId="0c251d33-8269-45bf-9bec-169219cd79c7" providerId="ADAL" clId="{E24BF829-F682-4B96-8073-D53758CC38A2}" dt="2026-10-21T19:40:33.957" v="42" actId="14100"/>
          <ac:spMkLst>
            <pc:docMk/>
            <pc:sldMk cId="0" sldId="267"/>
            <ac:spMk id="2" creationId="{00000000-0000-0000-0000-000000000000}"/>
          </ac:spMkLst>
        </pc:spChg>
      </pc:sldChg>
      <pc:sldChg chg="modSp mod">
        <pc:chgData name="Hector Jose Menjivar Somoza" userId="0c251d33-8269-45bf-9bec-169219cd79c7" providerId="ADAL" clId="{E24BF829-F682-4B96-8073-D53758CC38A2}" dt="2026-10-21T19:58:31.837" v="89" actId="20577"/>
        <pc:sldMkLst>
          <pc:docMk/>
          <pc:sldMk cId="0" sldId="268"/>
        </pc:sldMkLst>
        <pc:spChg chg="mod">
          <ac:chgData name="Hector Jose Menjivar Somoza" userId="0c251d33-8269-45bf-9bec-169219cd79c7" providerId="ADAL" clId="{E24BF829-F682-4B96-8073-D53758CC38A2}" dt="2026-10-21T19:58:31.837" v="89" actId="20577"/>
          <ac:spMkLst>
            <pc:docMk/>
            <pc:sldMk cId="0" sldId="268"/>
            <ac:spMk id="2" creationId="{00000000-0000-0000-0000-000000000000}"/>
          </ac:spMkLst>
        </pc:spChg>
      </pc:sldChg>
      <pc:sldChg chg="modSp mod">
        <pc:chgData name="Hector Jose Menjivar Somoza" userId="0c251d33-8269-45bf-9bec-169219cd79c7" providerId="ADAL" clId="{E24BF829-F682-4B96-8073-D53758CC38A2}" dt="2026-10-21T19:58:27.505" v="88" actId="20577"/>
        <pc:sldMkLst>
          <pc:docMk/>
          <pc:sldMk cId="0" sldId="269"/>
        </pc:sldMkLst>
        <pc:spChg chg="mod">
          <ac:chgData name="Hector Jose Menjivar Somoza" userId="0c251d33-8269-45bf-9bec-169219cd79c7" providerId="ADAL" clId="{E24BF829-F682-4B96-8073-D53758CC38A2}" dt="2026-10-21T19:58:27.505" v="88" actId="20577"/>
          <ac:spMkLst>
            <pc:docMk/>
            <pc:sldMk cId="0" sldId="269"/>
            <ac:spMk id="2" creationId="{00000000-0000-0000-0000-000000000000}"/>
          </ac:spMkLst>
        </pc:spChg>
      </pc:sldChg>
      <pc:sldChg chg="modSp mod">
        <pc:chgData name="Hector Jose Menjivar Somoza" userId="0c251d33-8269-45bf-9bec-169219cd79c7" providerId="ADAL" clId="{E24BF829-F682-4B96-8073-D53758CC38A2}" dt="2026-10-21T19:58:23.395" v="87" actId="20577"/>
        <pc:sldMkLst>
          <pc:docMk/>
          <pc:sldMk cId="0" sldId="270"/>
        </pc:sldMkLst>
        <pc:spChg chg="mod">
          <ac:chgData name="Hector Jose Menjivar Somoza" userId="0c251d33-8269-45bf-9bec-169219cd79c7" providerId="ADAL" clId="{E24BF829-F682-4B96-8073-D53758CC38A2}" dt="2026-10-21T19:58:23.395" v="87" actId="20577"/>
          <ac:spMkLst>
            <pc:docMk/>
            <pc:sldMk cId="0" sldId="270"/>
            <ac:spMk id="2" creationId="{00000000-0000-0000-0000-000000000000}"/>
          </ac:spMkLst>
        </pc:spChg>
      </pc:sldChg>
      <pc:sldChg chg="addSp delSp modSp mod">
        <pc:chgData name="Hector Jose Menjivar Somoza" userId="0c251d33-8269-45bf-9bec-169219cd79c7" providerId="ADAL" clId="{E24BF829-F682-4B96-8073-D53758CC38A2}" dt="2026-10-21T19:42:57.350" v="67" actId="1076"/>
        <pc:sldMkLst>
          <pc:docMk/>
          <pc:sldMk cId="0" sldId="271"/>
        </pc:sldMkLst>
        <pc:spChg chg="mod">
          <ac:chgData name="Hector Jose Menjivar Somoza" userId="0c251d33-8269-45bf-9bec-169219cd79c7" providerId="ADAL" clId="{E24BF829-F682-4B96-8073-D53758CC38A2}" dt="2026-10-21T19:41:14.332" v="51" actId="14100"/>
          <ac:spMkLst>
            <pc:docMk/>
            <pc:sldMk cId="0" sldId="271"/>
            <ac:spMk id="2"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3"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5"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6"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8"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9"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11" creationId="{00000000-0000-0000-0000-000000000000}"/>
          </ac:spMkLst>
        </pc:spChg>
        <pc:grpChg chg="add del mod">
          <ac:chgData name="Hector Jose Menjivar Somoza" userId="0c251d33-8269-45bf-9bec-169219cd79c7" providerId="ADAL" clId="{E24BF829-F682-4B96-8073-D53758CC38A2}" dt="2026-10-21T19:42:49.243" v="66" actId="165"/>
          <ac:grpSpMkLst>
            <pc:docMk/>
            <pc:sldMk cId="0" sldId="271"/>
            <ac:grpSpMk id="17" creationId="{518D3D06-5BDA-BC4C-7C88-B3E718465123}"/>
          </ac:grpSpMkLst>
        </pc:grpChg>
        <pc:picChg chg="mod">
          <ac:chgData name="Hector Jose Menjivar Somoza" userId="0c251d33-8269-45bf-9bec-169219cd79c7" providerId="ADAL" clId="{E24BF829-F682-4B96-8073-D53758CC38A2}" dt="2026-10-21T19:42:57.350" v="67" actId="1076"/>
          <ac:picMkLst>
            <pc:docMk/>
            <pc:sldMk cId="0" sldId="271"/>
            <ac:picMk id="4"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7"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10" creationId="{00000000-0000-0000-0000-000000000000}"/>
          </ac:picMkLst>
        </pc:picChg>
        <pc:picChg chg="mod ord topLvl">
          <ac:chgData name="Hector Jose Menjivar Somoza" userId="0c251d33-8269-45bf-9bec-169219cd79c7" providerId="ADAL" clId="{E24BF829-F682-4B96-8073-D53758CC38A2}" dt="2026-10-21T19:42:49.243" v="66" actId="165"/>
          <ac:picMkLst>
            <pc:docMk/>
            <pc:sldMk cId="0" sldId="271"/>
            <ac:picMk id="14" creationId="{3FC7F1DB-1D1C-B0EA-C01A-F527F956BE4B}"/>
          </ac:picMkLst>
        </pc:picChg>
        <pc:picChg chg="add mod topLvl">
          <ac:chgData name="Hector Jose Menjivar Somoza" userId="0c251d33-8269-45bf-9bec-169219cd79c7" providerId="ADAL" clId="{E24BF829-F682-4B96-8073-D53758CC38A2}" dt="2026-10-21T19:42:49.243" v="66" actId="165"/>
          <ac:picMkLst>
            <pc:docMk/>
            <pc:sldMk cId="0" sldId="271"/>
            <ac:picMk id="16" creationId="{8800E0E4-7EDE-96DB-34B2-6E9A789E0A83}"/>
          </ac:picMkLst>
        </pc:picChg>
      </pc:sldChg>
      <pc:sldChg chg="modSp mod">
        <pc:chgData name="Hector Jose Menjivar Somoza" userId="0c251d33-8269-45bf-9bec-169219cd79c7" providerId="ADAL" clId="{E24BF829-F682-4B96-8073-D53758CC38A2}" dt="2026-10-21T19:57:24.493" v="86" actId="20577"/>
        <pc:sldMkLst>
          <pc:docMk/>
          <pc:sldMk cId="0" sldId="273"/>
        </pc:sldMkLst>
        <pc:spChg chg="mod">
          <ac:chgData name="Hector Jose Menjivar Somoza" userId="0c251d33-8269-45bf-9bec-169219cd79c7" providerId="ADAL" clId="{E24BF829-F682-4B96-8073-D53758CC38A2}" dt="2026-10-21T19:57:24.493" v="86" actId="20577"/>
          <ac:spMkLst>
            <pc:docMk/>
            <pc:sldMk cId="0" sldId="273"/>
            <ac:spMk id="2" creationId="{00000000-0000-0000-0000-000000000000}"/>
          </ac:spMkLst>
        </pc:spChg>
        <pc:picChg chg="mod">
          <ac:chgData name="Hector Jose Menjivar Somoza" userId="0c251d33-8269-45bf-9bec-169219cd79c7" providerId="ADAL" clId="{E24BF829-F682-4B96-8073-D53758CC38A2}" dt="2026-10-21T19:43:05.406" v="68" actId="1076"/>
          <ac:picMkLst>
            <pc:docMk/>
            <pc:sldMk cId="0" sldId="273"/>
            <ac:picMk id="4" creationId="{00000000-0000-0000-0000-000000000000}"/>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r>
              <a:rPr lang="es-SV">
                <a:solidFill>
                  <a:srgbClr val="002060"/>
                </a:solidFill>
                <a:latin typeface="Arial" panose="020B0604020202020204" pitchFamily="34" charset="0"/>
                <a:cs typeface="Arial" panose="020B0604020202020204" pitchFamily="34" charset="0"/>
              </a:rPr>
              <a:t>Expedientes HIPOTECARIO por mes</a:t>
            </a:r>
          </a:p>
        </c:rich>
      </c:tx>
      <c:overlay val="0"/>
      <c:spPr>
        <a:noFill/>
        <a:ln>
          <a:noFill/>
        </a:ln>
        <a:effectLst/>
      </c:spPr>
      <c:txPr>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s-SV"/>
        </a:p>
      </c:txPr>
    </c:title>
    <c:autoTitleDeleted val="0"/>
    <c:plotArea>
      <c:layout/>
      <c:barChart>
        <c:barDir val="col"/>
        <c:grouping val="clustered"/>
        <c:varyColors val="0"/>
        <c:ser>
          <c:idx val="0"/>
          <c:order val="0"/>
          <c:tx>
            <c:strRef>
              <c:f>Sheet1!$B$1</c:f>
              <c:strCache>
                <c:ptCount val="1"/>
                <c:pt idx="0">
                  <c:v>HIPOTECARIO</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330" b="1" i="0" u="none" strike="noStrike" kern="1200" baseline="0">
                    <a:solidFill>
                      <a:srgbClr val="002060"/>
                    </a:solidFill>
                    <a:latin typeface="+mn-lt"/>
                    <a:ea typeface="+mn-ea"/>
                    <a:cs typeface="+mn-cs"/>
                  </a:defRPr>
                </a:pPr>
                <a:endParaRPr lang="es-SV"/>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extLst>
            <c:ext xmlns:c16="http://schemas.microsoft.com/office/drawing/2014/chart" uri="{C3380CC4-5D6E-409C-BE32-E72D297353CC}">
              <c16:uniqueId val="{00000000-7855-4932-872C-2603C00203F0}"/>
            </c:ext>
          </c:extLst>
        </c:ser>
        <c:dLbls>
          <c:dLblPos val="inEnd"/>
          <c:showLegendKey val="0"/>
          <c:showVal val="1"/>
          <c:showCatName val="0"/>
          <c:showSerName val="0"/>
          <c:showPercent val="0"/>
          <c:showBubbleSize val="0"/>
        </c:dLbls>
        <c:gapWidth val="41"/>
        <c:axId val="2094734554"/>
        <c:axId val="2094734552"/>
      </c:barChart>
      <c:catAx>
        <c:axId val="2094734554"/>
        <c:scaling>
          <c:orientation val="minMax"/>
        </c:scaling>
        <c:delete val="0"/>
        <c:axPos val="b"/>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1197"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55"/>
        </c:scaling>
        <c:delete val="1"/>
        <c:axPos val="l"/>
        <c:numFmt formatCode="General" sourceLinked="0"/>
        <c:majorTickMark val="none"/>
        <c:minorTickMark val="none"/>
        <c:tickLblPos val="nextTo"/>
        <c:crossAx val="2094734554"/>
        <c:crosses val="autoZero"/>
        <c:crossBetween val="between"/>
      </c:valAx>
      <c:spPr>
        <a:noFill/>
        <a:ln>
          <a:noFill/>
        </a:ln>
        <a:effectLst/>
      </c:spPr>
    </c:plotArea>
    <c:plotVisOnly val="1"/>
    <c:dispBlanksAs val="span"/>
    <c:showDLblsOverMax val="1"/>
  </c:chart>
  <c:spPr>
    <a:noFill/>
    <a:ln w="9525" cap="flat" cmpd="sng" algn="ctr">
      <a:noFill/>
      <a:round/>
    </a:ln>
    <a:effectLst/>
  </c:spPr>
  <c:txPr>
    <a:bodyPr/>
    <a:lstStyle/>
    <a:p>
      <a:pPr>
        <a:defRPr/>
      </a:pPr>
      <a:endParaRPr lang="es-SV"/>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00376E"/>
                </a:solidFill>
                <a:latin typeface="Arial" panose="020B0604020202020204" pitchFamily="34" charset="0"/>
                <a:cs typeface="Arial" panose="020B0604020202020204" pitchFamily="34" charset="0"/>
              </a:defRPr>
            </a:pPr>
            <a:r>
              <a:rPr lang="es-SV" sz="1300" b="0" i="0" u="none" strike="noStrike" noProof="0" dirty="0">
                <a:solidFill>
                  <a:srgbClr val="00376E"/>
                </a:solidFill>
                <a:latin typeface="Arial" panose="020B0604020202020204" pitchFamily="34" charset="0"/>
                <a:cs typeface="Arial" panose="020B0604020202020204" pitchFamily="34" charset="0"/>
              </a:rPr>
              <a:t>Casos que no se tramitan por mes</a:t>
            </a:r>
          </a:p>
        </c:rich>
      </c:tx>
      <c:overlay val="0"/>
    </c:title>
    <c:autoTitleDeleted val="0"/>
    <c:plotArea>
      <c:layout/>
      <c:barChart>
        <c:barDir val="col"/>
        <c:grouping val="clustered"/>
        <c:varyColors val="0"/>
        <c:ser>
          <c:idx val="0"/>
          <c:order val="0"/>
          <c:tx>
            <c:strRef>
              <c:f>Sheet1!$B$1</c:f>
              <c:strCache>
                <c:ptCount val="1"/>
                <c:pt idx="0">
                  <c:v>Casos no tramitados</c:v>
                </c:pt>
              </c:strCache>
            </c:strRef>
          </c:tx>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numFmt formatCode="#,##0" sourceLinked="0"/>
            <c:spPr>
              <a:noFill/>
              <a:ln>
                <a:noFill/>
              </a:ln>
              <a:effectLst/>
            </c:spPr>
            <c:txPr>
              <a:bodyPr/>
              <a:lstStyle/>
              <a:p>
                <a:pPr>
                  <a:defRPr sz="1200" b="1" i="0" u="none" strike="noStrike">
                    <a:solidFill>
                      <a:schemeClr val="bg1"/>
                    </a:solidFill>
                    <a:latin typeface="Arial" panose="020B0604020202020204" pitchFamily="34" charset="0"/>
                    <a:cs typeface="Arial" panose="020B0604020202020204" pitchFamily="34" charset="0"/>
                  </a:defRPr>
                </a:pPr>
                <a:endParaRPr lang="es-SV"/>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extLst>
            <c:ext xmlns:c16="http://schemas.microsoft.com/office/drawing/2014/chart" uri="{C3380CC4-5D6E-409C-BE32-E72D297353CC}">
              <c16:uniqueId val="{00000000-4EEC-4E1F-88E6-7DF4AC6763BB}"/>
            </c:ext>
          </c:extLst>
        </c:ser>
        <c:dLbls>
          <c:dLblPos val="outEnd"/>
          <c:showLegendKey val="0"/>
          <c:showVal val="1"/>
          <c:showCatName val="0"/>
          <c:showSerName val="0"/>
          <c:showPercent val="0"/>
          <c:showBubbleSize val="0"/>
        </c:dLbls>
        <c:gapWidth val="45"/>
        <c:axId val="2094734554"/>
        <c:axId val="2094734552"/>
      </c:barChart>
      <c:lineChart>
        <c:grouping val="standard"/>
        <c:varyColors val="0"/>
        <c:ser>
          <c:idx val="1"/>
          <c:order val="1"/>
          <c:tx>
            <c:strRef>
              <c:f>Sheet1!$C$1</c:f>
              <c:strCache>
                <c:ptCount val="1"/>
                <c:pt idx="0">
                  <c:v>Promedio (5)</c:v>
                </c:pt>
              </c:strCache>
            </c:strRef>
          </c:tx>
          <c:spPr>
            <a:ln w="25400" cap="flat">
              <a:solidFill>
                <a:srgbClr val="00376E"/>
              </a:solidFill>
              <a:prstDash val="dash"/>
              <a:round/>
            </a:ln>
            <a:effectLst/>
          </c:spPr>
          <c:marker>
            <c:symbol val="none"/>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extLst>
            <c:ext xmlns:c16="http://schemas.microsoft.com/office/drawing/2014/chart" uri="{C3380CC4-5D6E-409C-BE32-E72D297353CC}">
              <c16:uniqueId val="{00000001-4EEC-4E1F-88E6-7DF4AC6763B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2060"/>
                </a:solidFill>
                <a:latin typeface="Arial" panose="020B0604020202020204" pitchFamily="34" charset="0"/>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1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100">
              <a:solidFill>
                <a:srgbClr val="002060"/>
              </a:solidFill>
              <a:latin typeface="Arial" panose="020B0604020202020204" pitchFamily="34" charset="0"/>
              <a:cs typeface="Arial" panose="020B0604020202020204" pitchFamily="34" charset="0"/>
            </a:defRPr>
          </a:pPr>
          <a:endParaRPr lang="en-US"/>
        </a:p>
      </c:txPr>
    </c:legend>
    <c:plotVisOnly val="1"/>
    <c:dispBlanksAs val="span"/>
    <c:showDLblsOverMax val="1"/>
  </c:chart>
  <c:spPr>
    <a:noFill/>
    <a:ln>
      <a:noFill/>
    </a:ln>
    <a:effectLst/>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1197" b="1" kern="1200"/>
  </cs:axisTitle>
  <cs:categoryAxis>
    <cs:lnRef idx="0"/>
    <cs:fillRef idx="0"/>
    <cs:effectRef idx="0"/>
    <cs:fontRef idx="minor">
      <a:schemeClr val="dk1">
        <a:lumMod val="65000"/>
        <a:lumOff val="35000"/>
      </a:schemeClr>
    </cs:fontRef>
    <cs:defRPr sz="1197"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330" kern="1200"/>
  </cs:chartArea>
  <cs:dataLabel>
    <cs:lnRef idx="0"/>
    <cs:fillRef idx="0"/>
    <cs:effectRef idx="0"/>
    <cs:fontRef idx="minor">
      <a:schemeClr val="lt1"/>
    </cs:fontRef>
    <cs:spPr/>
    <cs:defRPr sz="133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33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1197"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537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a:p>
        </p:txBody>
      </p:sp>
      <p:sp>
        <p:nvSpPr>
          <p:cNvPr id="3" name="Text 1"/>
          <p:cNvSpPr>
            <a:spLocks noGrp="1"/>
          </p:cNvSpPr>
          <p:nvPr>
            <p:ph type="title" idx="101" hasCustomPrompt="1"/>
          </p:nvPr>
        </p:nvSpPr>
        <p:spPr>
          <a:xfrm>
            <a:off x="777240" y="347472"/>
            <a:ext cx="10881360" cy="777240"/>
          </a:xfrm>
          <a:prstGeom prst="rect">
            <a:avLst/>
          </a:prstGeom>
          <a:noFill/>
          <a:ln/>
        </p:spPr>
        <p:txBody>
          <a:bodyPr wrap="square" rtlCol="0"/>
          <a:lstStyle>
            <a:lvl1pPr marL="0" indent="0" algn="l">
              <a:buNone/>
              <a:defRPr lang="en-US" sz="2400" b="1" dirty="0">
                <a:solidFill>
                  <a:schemeClr val="tx2"/>
                </a:solidFill>
              </a:defRPr>
            </a:lvl1pPr>
          </a:lstStyle>
          <a:p>
            <a:pPr marL="0" indent="0" algn="l">
              <a:buNone/>
            </a:pPr>
            <a:endParaRPr lang="en-US" sz="2400" dirty="0"/>
          </a:p>
        </p:txBody>
      </p:sp>
      <p:pic>
        <p:nvPicPr>
          <p:cNvPr id="4" name="Image 0" descr="/tmp/claude-0/-home-user-riesgo/74e9c8ad-7a43-5903-a089-2edd8047c387/scratchpad/assets/logo_color.png"/>
          <p:cNvPicPr>
            <a:picLocks noChangeAspect="1"/>
          </p:cNvPicPr>
          <p:nvPr/>
        </p:nvPicPr>
        <p:blipFill>
          <a:blip r:embed="rId2"/>
          <a:stretch>
            <a:fillRect/>
          </a:stretch>
        </p:blipFill>
        <p:spPr>
          <a:xfrm>
            <a:off x="10927080" y="6108192"/>
            <a:ext cx="777240" cy="566928"/>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AVE">
    <p:bg>
      <p:bgPr>
        <a:solidFill>
          <a:srgbClr val="FFFFFF"/>
        </a:solidFill>
        <a:effectLst/>
      </p:bgPr>
    </p:bg>
    <p:spTree>
      <p:nvGrpSpPr>
        <p:cNvPr id="1" name=""/>
        <p:cNvGrpSpPr/>
        <p:nvPr/>
      </p:nvGrpSpPr>
      <p:grpSpPr>
        <a:xfrm>
          <a:off x="0" y="0"/>
          <a:ext cx="0" cy="0"/>
          <a:chOff x="0" y="0"/>
          <a:chExt cx="0" cy="0"/>
        </a:xfrm>
      </p:grpSpPr>
      <p:pic>
        <p:nvPicPr>
          <p:cNvPr id="2" name="Image 0" descr="/tmp/claude-0/-home-user-riesgo/74e9c8ad-7a43-5903-a089-2edd8047c387/scratchpad/assets/wave_top.png"/>
          <p:cNvPicPr>
            <a:picLocks noChangeAspect="1"/>
          </p:cNvPicPr>
          <p:nvPr/>
        </p:nvPicPr>
        <p:blipFill>
          <a:blip r:embed="rId2"/>
          <a:stretch>
            <a:fillRect/>
          </a:stretch>
        </p:blipFill>
        <p:spPr>
          <a:xfrm>
            <a:off x="-27432" y="0"/>
            <a:ext cx="12216384" cy="6858000"/>
          </a:xfrm>
          <a:prstGeom prst="rect">
            <a:avLst/>
          </a:prstGeom>
        </p:spPr>
      </p:pic>
      <p:sp>
        <p:nvSpPr>
          <p:cNvPr id="3" name="Shape 0"/>
          <p:cNvSpPr/>
          <p:nvPr/>
        </p:nvSpPr>
        <p:spPr>
          <a:xfrm>
            <a:off x="1188720" y="1783080"/>
            <a:ext cx="73152" cy="502920"/>
          </a:xfrm>
          <a:prstGeom prst="rect">
            <a:avLst/>
          </a:prstGeom>
          <a:solidFill>
            <a:srgbClr val="9CC3F0"/>
          </a:solidFill>
          <a:ln w="12700">
            <a:solidFill>
              <a:srgbClr val="9CC3F0"/>
            </a:solidFill>
            <a:prstDash val="solid"/>
          </a:ln>
        </p:spPr>
        <p:txBody>
          <a:bodyPr/>
          <a:lstStyle/>
          <a:p>
            <a:endParaRPr lang="es-SV"/>
          </a:p>
        </p:txBody>
      </p:sp>
      <p:sp>
        <p:nvSpPr>
          <p:cNvPr id="4" name="Text 1"/>
          <p:cNvSpPr>
            <a:spLocks noGrp="1"/>
          </p:cNvSpPr>
          <p:nvPr>
            <p:ph type="title" idx="102" hasCustomPrompt="1"/>
          </p:nvPr>
        </p:nvSpPr>
        <p:spPr>
          <a:xfrm>
            <a:off x="1371600" y="1554480"/>
            <a:ext cx="5486400" cy="9601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5" name="Text 1"/>
          <p:cNvSpPr>
            <a:spLocks noGrp="1"/>
          </p:cNvSpPr>
          <p:nvPr>
            <p:ph type="body" idx="103" hasCustomPrompt="1"/>
          </p:nvPr>
        </p:nvSpPr>
        <p:spPr>
          <a:xfrm>
            <a:off x="1371600" y="2606040"/>
            <a:ext cx="4480560" cy="1371600"/>
          </a:xfrm>
          <a:prstGeom prst="rect">
            <a:avLst/>
          </a:prstGeom>
          <a:noFill/>
          <a:ln/>
        </p:spPr>
        <p:txBody>
          <a:bodyPr wrap="square" rtlCol="0"/>
          <a:lstStyle>
            <a:lvl1pPr marL="0" indent="0">
              <a:buNone/>
              <a:defRPr lang="en-US" sz="1600" dirty="0">
                <a:solidFill>
                  <a:schemeClr val="bg1"/>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AVY">
    <p:bg>
      <p:bgPr>
        <a:solidFill>
          <a:srgbClr val="00376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097280"/>
            <a:ext cx="10698480" cy="10058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pic>
        <p:nvPicPr>
          <p:cNvPr id="3" name="Image 0" descr="/tmp/claude-0/-home-user-riesgo/74e9c8ad-7a43-5903-a089-2edd8047c387/scratchpad/assets/logo_white.png"/>
          <p:cNvPicPr>
            <a:picLocks noChangeAspect="1"/>
          </p:cNvPicPr>
          <p:nvPr/>
        </p:nvPicPr>
        <p:blipFill>
          <a:blip r:embed="rId2"/>
          <a:stretch>
            <a:fillRect/>
          </a:stretch>
        </p:blipFill>
        <p:spPr>
          <a:xfrm>
            <a:off x="10607040" y="5806440"/>
            <a:ext cx="1097280" cy="74066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5.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8" name="Text 3"/>
          <p:cNvSpPr txBox="1"/>
          <p:nvPr/>
        </p:nvSpPr>
        <p:spPr>
          <a:xfrm>
            <a:off x="4046051" y="3024098"/>
            <a:ext cx="7621139" cy="685800"/>
          </a:xfrm>
          <a:prstGeom prst="rect">
            <a:avLst/>
          </a:prstGeom>
          <a:noFill/>
          <a:ln/>
        </p:spPr>
        <p:txBody>
          <a:bodyPr wrap="square" lIns="0" tIns="0" rIns="0" bIns="0" rtlCol="0" anchor="ctr"/>
          <a:lstStyle/>
          <a:p>
            <a:pPr marL="0" indent="0">
              <a:buNone/>
            </a:pPr>
            <a:r>
              <a:rPr lang="es-SV" sz="2800" b="1" noProof="0" dirty="0">
                <a:solidFill>
                  <a:schemeClr val="tx2"/>
                </a:solidFill>
              </a:rPr>
              <a:t>PROYECTO ADMINISTRACIÓN DE AVALÚOS</a:t>
            </a:r>
            <a:endParaRPr lang="es-SV" sz="2800" noProof="0" dirty="0"/>
          </a:p>
        </p:txBody>
      </p:sp>
      <p:grpSp>
        <p:nvGrpSpPr>
          <p:cNvPr id="15" name="Grupo 14">
            <a:extLst>
              <a:ext uri="{FF2B5EF4-FFF2-40B4-BE49-F238E27FC236}">
                <a16:creationId xmlns:a16="http://schemas.microsoft.com/office/drawing/2014/main" id="{61E57972-6CB2-DB66-0C0F-387EBF169003}"/>
              </a:ext>
            </a:extLst>
          </p:cNvPr>
          <p:cNvGrpSpPr/>
          <p:nvPr/>
        </p:nvGrpSpPr>
        <p:grpSpPr>
          <a:xfrm>
            <a:off x="0" y="0"/>
            <a:ext cx="3533242" cy="6858000"/>
            <a:chOff x="98787" y="0"/>
            <a:chExt cx="3533242" cy="6858000"/>
          </a:xfrm>
        </p:grpSpPr>
        <p:sp>
          <p:nvSpPr>
            <p:cNvPr id="3" name="panel"/>
            <p:cNvSpPr/>
            <p:nvPr/>
          </p:nvSpPr>
          <p:spPr>
            <a:xfrm>
              <a:off x="99093" y="0"/>
              <a:ext cx="3532936" cy="6858000"/>
            </a:xfrm>
            <a:prstGeom prst="rect">
              <a:avLst/>
            </a:prstGeom>
            <a:solidFill>
              <a:srgbClr val="00376E"/>
            </a:solidFill>
            <a:ln w="12700">
              <a:solidFill>
                <a:srgbClr val="00376E"/>
              </a:solidFill>
              <a:prstDash val="solid"/>
            </a:ln>
          </p:spPr>
          <p:txBody>
            <a:bodyPr/>
            <a:lstStyle/>
            <a:p>
              <a:endParaRPr lang="es-SV" noProof="0" dirty="0"/>
            </a:p>
          </p:txBody>
        </p:sp>
        <p:sp>
          <p:nvSpPr>
            <p:cNvPr id="4" name="panel marca"/>
            <p:cNvSpPr/>
            <p:nvPr/>
          </p:nvSpPr>
          <p:spPr>
            <a:xfrm>
              <a:off x="98787" y="1217436"/>
              <a:ext cx="192024" cy="1207008"/>
            </a:xfrm>
            <a:prstGeom prst="rect">
              <a:avLst/>
            </a:prstGeom>
            <a:solidFill>
              <a:srgbClr val="005C9F"/>
            </a:solidFill>
            <a:ln w="12700">
              <a:solidFill>
                <a:srgbClr val="005C9F"/>
              </a:solidFill>
              <a:prstDash val="solid"/>
            </a:ln>
          </p:spPr>
          <p:txBody>
            <a:bodyPr/>
            <a:lstStyle/>
            <a:p>
              <a:endParaRPr lang="es-SV" noProof="0" dirty="0"/>
            </a:p>
          </p:txBody>
        </p:sp>
      </p:grpSp>
      <p:grpSp>
        <p:nvGrpSpPr>
          <p:cNvPr id="16" name="Grupo 15">
            <a:extLst>
              <a:ext uri="{FF2B5EF4-FFF2-40B4-BE49-F238E27FC236}">
                <a16:creationId xmlns:a16="http://schemas.microsoft.com/office/drawing/2014/main" id="{AA9CE1CE-7D68-4890-0736-46EDF1746AA3}"/>
              </a:ext>
            </a:extLst>
          </p:cNvPr>
          <p:cNvGrpSpPr/>
          <p:nvPr/>
        </p:nvGrpSpPr>
        <p:grpSpPr>
          <a:xfrm>
            <a:off x="52274" y="5421470"/>
            <a:ext cx="3429000" cy="960120"/>
            <a:chOff x="3738099" y="2150124"/>
            <a:chExt cx="3429000" cy="960120"/>
          </a:xfrm>
        </p:grpSpPr>
        <p:sp>
          <p:nvSpPr>
            <p:cNvPr id="10" name="ponente"/>
            <p:cNvSpPr/>
            <p:nvPr/>
          </p:nvSpPr>
          <p:spPr>
            <a:xfrm>
              <a:off x="3738099" y="2150124"/>
              <a:ext cx="3429000" cy="960120"/>
            </a:xfrm>
            <a:prstGeom prst="rect">
              <a:avLst/>
            </a:prstGeom>
            <a:solidFill>
              <a:srgbClr val="005C9F"/>
            </a:solidFill>
            <a:ln w="12700">
              <a:solidFill>
                <a:srgbClr val="005C9F"/>
              </a:solidFill>
              <a:prstDash val="solid"/>
            </a:ln>
          </p:spPr>
          <p:txBody>
            <a:bodyPr/>
            <a:lstStyle/>
            <a:p>
              <a:endParaRPr lang="es-SV" noProof="0" dirty="0"/>
            </a:p>
          </p:txBody>
        </p:sp>
        <p:sp>
          <p:nvSpPr>
            <p:cNvPr id="11" name="Text 6"/>
            <p:cNvSpPr txBox="1"/>
            <p:nvPr/>
          </p:nvSpPr>
          <p:spPr>
            <a:xfrm>
              <a:off x="3952068" y="2150124"/>
              <a:ext cx="3154680" cy="960120"/>
            </a:xfrm>
            <a:prstGeom prst="rect">
              <a:avLst/>
            </a:prstGeom>
            <a:noFill/>
            <a:ln/>
          </p:spPr>
          <p:txBody>
            <a:bodyPr wrap="square" lIns="0" tIns="0" rIns="0" bIns="0" rtlCol="0" anchor="ctr"/>
            <a:lstStyle/>
            <a:p>
              <a:pPr marL="0" indent="0" algn="ctr">
                <a:buNone/>
              </a:pPr>
              <a:r>
                <a:rPr lang="es-SV" sz="1600" b="1" noProof="0" dirty="0">
                  <a:solidFill>
                    <a:schemeClr val="bg1"/>
                  </a:solidFill>
                </a:rPr>
                <a:t>Departamento de Administración de Riesgos</a:t>
              </a:r>
              <a:endParaRPr lang="es-SV" sz="1600" noProof="0" dirty="0"/>
            </a:p>
          </p:txBody>
        </p:sp>
      </p:grpSp>
      <p:sp>
        <p:nvSpPr>
          <p:cNvPr id="12" name="Text 7"/>
          <p:cNvSpPr txBox="1"/>
          <p:nvPr/>
        </p:nvSpPr>
        <p:spPr>
          <a:xfrm>
            <a:off x="176455" y="3805010"/>
            <a:ext cx="3154680" cy="470994"/>
          </a:xfrm>
          <a:prstGeom prst="rect">
            <a:avLst/>
          </a:prstGeom>
          <a:noFill/>
          <a:ln/>
        </p:spPr>
        <p:txBody>
          <a:bodyPr wrap="square" lIns="0" tIns="0" rIns="0" bIns="0" rtlCol="0" anchor="t"/>
          <a:lstStyle/>
          <a:p>
            <a:pPr marL="0" indent="0" algn="ctr">
              <a:buNone/>
            </a:pPr>
            <a:endParaRPr lang="es-SV" sz="1400" noProof="0" dirty="0">
              <a:solidFill>
                <a:srgbClr val="002060"/>
              </a:solidFill>
            </a:endParaRPr>
          </a:p>
        </p:txBody>
      </p:sp>
      <p:sp>
        <p:nvSpPr>
          <p:cNvPr id="13" name="Text 8"/>
          <p:cNvSpPr txBox="1"/>
          <p:nvPr/>
        </p:nvSpPr>
        <p:spPr>
          <a:xfrm>
            <a:off x="1030505" y="6568120"/>
            <a:ext cx="1472537" cy="289880"/>
          </a:xfrm>
          <a:prstGeom prst="rect">
            <a:avLst/>
          </a:prstGeom>
          <a:noFill/>
          <a:ln/>
        </p:spPr>
        <p:txBody>
          <a:bodyPr wrap="square" lIns="0" tIns="0" rIns="0" bIns="0" rtlCol="0" anchor="t"/>
          <a:lstStyle/>
          <a:p>
            <a:pPr marL="0" indent="0">
              <a:buNone/>
            </a:pPr>
            <a:r>
              <a:rPr lang="es-SV" sz="1600" b="1" noProof="0" dirty="0">
                <a:solidFill>
                  <a:schemeClr val="accent2"/>
                </a:solidFill>
              </a:rPr>
              <a:t>OCTUBRE 2026</a:t>
            </a:r>
            <a:endParaRPr lang="es-SV" sz="1600" noProof="0" dirty="0"/>
          </a:p>
        </p:txBody>
      </p:sp>
      <p:pic>
        <p:nvPicPr>
          <p:cNvPr id="19" name="Imagen 18">
            <a:extLst>
              <a:ext uri="{FF2B5EF4-FFF2-40B4-BE49-F238E27FC236}">
                <a16:creationId xmlns:a16="http://schemas.microsoft.com/office/drawing/2014/main" id="{F8678437-FF0B-F2ED-7C3D-74B6363FB68E}"/>
              </a:ext>
            </a:extLst>
          </p:cNvPr>
          <p:cNvPicPr>
            <a:picLocks noChangeAspect="1"/>
          </p:cNvPicPr>
          <p:nvPr/>
        </p:nvPicPr>
        <p:blipFill rotWithShape="1">
          <a:blip r:embed="rId3"/>
          <a:srcRect b="20910"/>
          <a:stretch/>
        </p:blipFill>
        <p:spPr>
          <a:xfrm>
            <a:off x="-207738" y="1324831"/>
            <a:ext cx="3923066" cy="2210927"/>
          </a:xfrm>
          <a:prstGeom prst="rect">
            <a:avLst/>
          </a:prstGeom>
        </p:spPr>
      </p:pic>
      <p:sp>
        <p:nvSpPr>
          <p:cNvPr id="21" name="CuadroTexto 20">
            <a:extLst>
              <a:ext uri="{FF2B5EF4-FFF2-40B4-BE49-F238E27FC236}">
                <a16:creationId xmlns:a16="http://schemas.microsoft.com/office/drawing/2014/main" id="{3BED2475-AB47-402D-8199-2433706B605F}"/>
              </a:ext>
            </a:extLst>
          </p:cNvPr>
          <p:cNvSpPr txBox="1"/>
          <p:nvPr/>
        </p:nvSpPr>
        <p:spPr>
          <a:xfrm>
            <a:off x="4786562" y="3886618"/>
            <a:ext cx="6140116" cy="307777"/>
          </a:xfrm>
          <a:prstGeom prst="rect">
            <a:avLst/>
          </a:prstGeom>
          <a:noFill/>
        </p:spPr>
        <p:txBody>
          <a:bodyPr wrap="square">
            <a:spAutoFit/>
          </a:bodyPr>
          <a:lstStyle/>
          <a:p>
            <a:pPr marL="0" indent="0" algn="ctr">
              <a:buNone/>
            </a:pPr>
            <a:r>
              <a:rPr lang="es-SV" sz="1400" noProof="0" dirty="0">
                <a:solidFill>
                  <a:srgbClr val="002060"/>
                </a:solidFill>
              </a:rPr>
              <a:t>Comité de Riesgo y Consejo de Administración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anda"/>
          <p:cNvSpPr/>
          <p:nvPr/>
        </p:nvSpPr>
        <p:spPr>
          <a:xfrm>
            <a:off x="0" y="0"/>
            <a:ext cx="12191695" cy="749808"/>
          </a:xfrm>
          <a:prstGeom prst="rect">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 name="Text 1"/>
          <p:cNvSpPr txBox="1"/>
          <p:nvPr/>
        </p:nvSpPr>
        <p:spPr>
          <a:xfrm>
            <a:off x="0" y="0"/>
            <a:ext cx="12191695" cy="749808"/>
          </a:xfrm>
          <a:prstGeom prst="rect">
            <a:avLst/>
          </a:prstGeom>
          <a:noFill/>
          <a:ln/>
        </p:spPr>
        <p:txBody>
          <a:bodyPr wrap="square" lIns="0" tIns="0" rIns="0" bIns="0" rtlCol="0" anchor="ctr"/>
          <a:lstStyle/>
          <a:p>
            <a:pPr marL="0" indent="0" algn="ctr">
              <a:buNone/>
            </a:pPr>
            <a:r>
              <a:rPr lang="es-SV" sz="1800" b="1" noProof="0" dirty="0">
                <a:solidFill>
                  <a:schemeClr val="bg1"/>
                </a:solidFill>
                <a:latin typeface="Arial" panose="020B0604020202020204" pitchFamily="34" charset="0"/>
                <a:cs typeface="Arial" panose="020B0604020202020204" pitchFamily="34" charset="0"/>
              </a:rPr>
              <a:t>PROYECTO ADMINISTRACIÓN DE AVALÚOS</a:t>
            </a:r>
            <a:endParaRPr lang="es-SV" sz="1800" noProof="0" dirty="0">
              <a:latin typeface="Arial" panose="020B0604020202020204" pitchFamily="34" charset="0"/>
              <a:cs typeface="Arial" panose="020B0604020202020204" pitchFamily="34" charset="0"/>
            </a:endParaRPr>
          </a:p>
        </p:txBody>
      </p:sp>
      <p:sp>
        <p:nvSpPr>
          <p:cNvPr id="4" name="Text 2"/>
          <p:cNvSpPr txBox="1"/>
          <p:nvPr/>
        </p:nvSpPr>
        <p:spPr>
          <a:xfrm>
            <a:off x="1280160" y="1051560"/>
            <a:ext cx="2088682" cy="731520"/>
          </a:xfrm>
          <a:prstGeom prst="rect">
            <a:avLst/>
          </a:prstGeom>
          <a:noFill/>
          <a:ln/>
        </p:spPr>
        <p:txBody>
          <a:bodyPr wrap="square" lIns="0" tIns="0" rIns="0" bIns="0" rtlCol="0" anchor="ctr"/>
          <a:lstStyle/>
          <a:p>
            <a:pPr marL="0" indent="0">
              <a:buNone/>
            </a:pPr>
            <a:r>
              <a:rPr lang="es-SV" sz="3600" b="1" noProof="0" dirty="0">
                <a:solidFill>
                  <a:schemeClr val="tx2"/>
                </a:solidFill>
                <a:latin typeface="Arial" panose="020B0604020202020204" pitchFamily="34" charset="0"/>
                <a:cs typeface="Arial" panose="020B0604020202020204" pitchFamily="34" charset="0"/>
              </a:rPr>
              <a:t>AGENDA</a:t>
            </a:r>
            <a:endParaRPr lang="es-SV" sz="3600" noProof="0" dirty="0">
              <a:latin typeface="Arial" panose="020B0604020202020204" pitchFamily="34" charset="0"/>
              <a:cs typeface="Arial" panose="020B0604020202020204" pitchFamily="34" charset="0"/>
            </a:endParaRPr>
          </a:p>
        </p:txBody>
      </p:sp>
      <p:sp>
        <p:nvSpPr>
          <p:cNvPr id="5" name="agenda fila 1"/>
          <p:cNvSpPr/>
          <p:nvPr/>
        </p:nvSpPr>
        <p:spPr>
          <a:xfrm>
            <a:off x="1280160" y="201168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6" name="Text 4"/>
          <p:cNvSpPr txBox="1"/>
          <p:nvPr/>
        </p:nvSpPr>
        <p:spPr>
          <a:xfrm>
            <a:off x="1508760" y="201168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01</a:t>
            </a:r>
            <a:endParaRPr lang="es-SV" sz="2400" noProof="0" dirty="0">
              <a:latin typeface="Arial" panose="020B0604020202020204" pitchFamily="34" charset="0"/>
              <a:cs typeface="Arial" panose="020B0604020202020204" pitchFamily="34" charset="0"/>
            </a:endParaRPr>
          </a:p>
        </p:txBody>
      </p:sp>
      <p:sp>
        <p:nvSpPr>
          <p:cNvPr id="7" name="agenda 1 circle"/>
          <p:cNvSpPr/>
          <p:nvPr/>
        </p:nvSpPr>
        <p:spPr>
          <a:xfrm>
            <a:off x="2286000" y="213969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8" name="agenda 1 icon" descr="preencoded.png"/>
          <p:cNvPicPr>
            <a:picLocks noChangeAspect="1"/>
          </p:cNvPicPr>
          <p:nvPr/>
        </p:nvPicPr>
        <p:blipFill>
          <a:blip r:embed="rId3"/>
          <a:stretch>
            <a:fillRect/>
          </a:stretch>
        </p:blipFill>
        <p:spPr>
          <a:xfrm>
            <a:off x="2400666" y="2254362"/>
            <a:ext cx="291876" cy="291876"/>
          </a:xfrm>
          <a:prstGeom prst="rect">
            <a:avLst/>
          </a:prstGeom>
        </p:spPr>
      </p:pic>
      <p:sp>
        <p:nvSpPr>
          <p:cNvPr id="9" name="Text 6"/>
          <p:cNvSpPr txBox="1"/>
          <p:nvPr/>
        </p:nvSpPr>
        <p:spPr>
          <a:xfrm>
            <a:off x="3063240" y="201168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Situación actual</a:t>
            </a:r>
            <a:endParaRPr lang="es-SV" sz="1700" noProof="0" dirty="0">
              <a:latin typeface="Arial" panose="020B0604020202020204" pitchFamily="34" charset="0"/>
              <a:cs typeface="Arial" panose="020B0604020202020204" pitchFamily="34" charset="0"/>
            </a:endParaRPr>
          </a:p>
        </p:txBody>
      </p:sp>
      <p:sp>
        <p:nvSpPr>
          <p:cNvPr id="10" name="Text 7"/>
          <p:cNvSpPr txBox="1"/>
          <p:nvPr/>
        </p:nvSpPr>
        <p:spPr>
          <a:xfrm>
            <a:off x="6309360" y="201168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Cómo se distribuye hoy el proceso de avalúos entre gerencias</a:t>
            </a:r>
            <a:endParaRPr lang="es-SV" sz="1300" noProof="0" dirty="0">
              <a:latin typeface="Arial" panose="020B0604020202020204" pitchFamily="34" charset="0"/>
              <a:cs typeface="Arial" panose="020B0604020202020204" pitchFamily="34" charset="0"/>
            </a:endParaRPr>
          </a:p>
        </p:txBody>
      </p:sp>
      <p:sp>
        <p:nvSpPr>
          <p:cNvPr id="11" name="agenda fila 2"/>
          <p:cNvSpPr/>
          <p:nvPr/>
        </p:nvSpPr>
        <p:spPr>
          <a:xfrm>
            <a:off x="1280160" y="297180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Text 9"/>
          <p:cNvSpPr txBox="1"/>
          <p:nvPr/>
        </p:nvSpPr>
        <p:spPr>
          <a:xfrm>
            <a:off x="1508760" y="297180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02</a:t>
            </a:r>
            <a:endParaRPr lang="es-SV" sz="2400" noProof="0" dirty="0">
              <a:latin typeface="Arial" panose="020B0604020202020204" pitchFamily="34" charset="0"/>
              <a:cs typeface="Arial" panose="020B0604020202020204" pitchFamily="34" charset="0"/>
            </a:endParaRPr>
          </a:p>
        </p:txBody>
      </p:sp>
      <p:sp>
        <p:nvSpPr>
          <p:cNvPr id="13" name="agenda 2 circle"/>
          <p:cNvSpPr/>
          <p:nvPr/>
        </p:nvSpPr>
        <p:spPr>
          <a:xfrm>
            <a:off x="2286000" y="309981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genda 2 icon" descr="preencoded.png"/>
          <p:cNvPicPr>
            <a:picLocks noChangeAspect="1"/>
          </p:cNvPicPr>
          <p:nvPr/>
        </p:nvPicPr>
        <p:blipFill>
          <a:blip r:embed="rId4"/>
          <a:stretch>
            <a:fillRect/>
          </a:stretch>
        </p:blipFill>
        <p:spPr>
          <a:xfrm>
            <a:off x="2400666" y="3214482"/>
            <a:ext cx="291876" cy="291876"/>
          </a:xfrm>
          <a:prstGeom prst="rect">
            <a:avLst/>
          </a:prstGeom>
        </p:spPr>
      </p:pic>
      <p:sp>
        <p:nvSpPr>
          <p:cNvPr id="15" name="Text 11"/>
          <p:cNvSpPr txBox="1"/>
          <p:nvPr/>
        </p:nvSpPr>
        <p:spPr>
          <a:xfrm>
            <a:off x="3063240" y="297180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Datos operativos</a:t>
            </a:r>
            <a:endParaRPr lang="es-SV" sz="1700" noProof="0" dirty="0">
              <a:latin typeface="Arial" panose="020B0604020202020204" pitchFamily="34" charset="0"/>
              <a:cs typeface="Arial" panose="020B0604020202020204" pitchFamily="34" charset="0"/>
            </a:endParaRPr>
          </a:p>
        </p:txBody>
      </p:sp>
      <p:sp>
        <p:nvSpPr>
          <p:cNvPr id="16" name="Text 12"/>
          <p:cNvSpPr txBox="1"/>
          <p:nvPr/>
        </p:nvSpPr>
        <p:spPr>
          <a:xfrm>
            <a:off x="6309360" y="297180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Expedientes ingresados, casos no tramitados y actualización de avalúos</a:t>
            </a:r>
            <a:endParaRPr lang="es-SV" sz="1300" noProof="0" dirty="0">
              <a:latin typeface="Arial" panose="020B0604020202020204" pitchFamily="34" charset="0"/>
              <a:cs typeface="Arial" panose="020B0604020202020204" pitchFamily="34" charset="0"/>
            </a:endParaRPr>
          </a:p>
        </p:txBody>
      </p:sp>
      <p:sp>
        <p:nvSpPr>
          <p:cNvPr id="17" name="agenda fila 3"/>
          <p:cNvSpPr/>
          <p:nvPr/>
        </p:nvSpPr>
        <p:spPr>
          <a:xfrm>
            <a:off x="1280160" y="393192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1508760" y="3931920"/>
            <a:ext cx="731520" cy="777240"/>
          </a:xfrm>
          <a:prstGeom prst="rect">
            <a:avLst/>
          </a:prstGeom>
          <a:noFill/>
          <a:ln/>
        </p:spPr>
        <p:txBody>
          <a:bodyPr wrap="square" lIns="0" tIns="0" rIns="0" bIns="0" rtlCol="0" anchor="ctr"/>
          <a:lstStyle/>
          <a:p>
            <a:pPr marL="0" indent="0">
              <a:buNone/>
            </a:pPr>
            <a:r>
              <a:rPr lang="es-SV" sz="2400" b="1" noProof="0" dirty="0">
                <a:solidFill>
                  <a:schemeClr val="accent3"/>
                </a:solidFill>
                <a:latin typeface="Arial" panose="020B0604020202020204" pitchFamily="34" charset="0"/>
                <a:cs typeface="Arial" panose="020B0604020202020204" pitchFamily="34" charset="0"/>
              </a:rPr>
              <a:t>03</a:t>
            </a:r>
            <a:endParaRPr lang="es-SV" sz="2400" noProof="0" dirty="0">
              <a:latin typeface="Arial" panose="020B0604020202020204" pitchFamily="34" charset="0"/>
              <a:cs typeface="Arial" panose="020B0604020202020204" pitchFamily="34" charset="0"/>
            </a:endParaRPr>
          </a:p>
        </p:txBody>
      </p:sp>
      <p:sp>
        <p:nvSpPr>
          <p:cNvPr id="19" name="agenda 3 circle"/>
          <p:cNvSpPr/>
          <p:nvPr/>
        </p:nvSpPr>
        <p:spPr>
          <a:xfrm>
            <a:off x="2286000" y="4059936"/>
            <a:ext cx="521208" cy="521208"/>
          </a:xfrm>
          <a:prstGeom prst="ellipse">
            <a:avLst/>
          </a:prstGeom>
          <a:solidFill>
            <a:srgbClr val="C62828"/>
          </a:solidFill>
          <a:ln w="12700">
            <a:solidFill>
              <a:srgbClr val="C62828"/>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0" name="agenda 3 icon" descr="preencoded.png"/>
          <p:cNvPicPr>
            <a:picLocks noChangeAspect="1"/>
          </p:cNvPicPr>
          <p:nvPr/>
        </p:nvPicPr>
        <p:blipFill>
          <a:blip r:embed="rId5"/>
          <a:stretch>
            <a:fillRect/>
          </a:stretch>
        </p:blipFill>
        <p:spPr>
          <a:xfrm>
            <a:off x="2400666" y="4174602"/>
            <a:ext cx="291876" cy="291876"/>
          </a:xfrm>
          <a:prstGeom prst="rect">
            <a:avLst/>
          </a:prstGeom>
        </p:spPr>
      </p:pic>
      <p:sp>
        <p:nvSpPr>
          <p:cNvPr id="21" name="Text 16"/>
          <p:cNvSpPr txBox="1"/>
          <p:nvPr/>
        </p:nvSpPr>
        <p:spPr>
          <a:xfrm>
            <a:off x="3063240" y="393192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Riesgo identificado</a:t>
            </a:r>
            <a:endParaRPr lang="es-SV" sz="1700" noProof="0" dirty="0">
              <a:latin typeface="Arial" panose="020B0604020202020204" pitchFamily="34" charset="0"/>
              <a:cs typeface="Arial" panose="020B0604020202020204" pitchFamily="34" charset="0"/>
            </a:endParaRPr>
          </a:p>
        </p:txBody>
      </p:sp>
      <p:sp>
        <p:nvSpPr>
          <p:cNvPr id="22" name="Text 17"/>
          <p:cNvSpPr txBox="1"/>
          <p:nvPr/>
        </p:nvSpPr>
        <p:spPr>
          <a:xfrm>
            <a:off x="6309360" y="393192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Ausencia de un área de control centralizada</a:t>
            </a:r>
            <a:endParaRPr lang="es-SV" sz="1300" noProof="0" dirty="0">
              <a:latin typeface="Arial" panose="020B0604020202020204" pitchFamily="34" charset="0"/>
              <a:cs typeface="Arial" panose="020B0604020202020204" pitchFamily="34" charset="0"/>
            </a:endParaRPr>
          </a:p>
        </p:txBody>
      </p:sp>
      <p:sp>
        <p:nvSpPr>
          <p:cNvPr id="23" name="agenda fila 4"/>
          <p:cNvSpPr/>
          <p:nvPr/>
        </p:nvSpPr>
        <p:spPr>
          <a:xfrm>
            <a:off x="1280160" y="489204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4" name="Text 19"/>
          <p:cNvSpPr txBox="1"/>
          <p:nvPr/>
        </p:nvSpPr>
        <p:spPr>
          <a:xfrm>
            <a:off x="1508760" y="489204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04</a:t>
            </a:r>
            <a:endParaRPr lang="es-SV" sz="2400" noProof="0" dirty="0">
              <a:latin typeface="Arial" panose="020B0604020202020204" pitchFamily="34" charset="0"/>
              <a:cs typeface="Arial" panose="020B0604020202020204" pitchFamily="34" charset="0"/>
            </a:endParaRPr>
          </a:p>
        </p:txBody>
      </p:sp>
      <p:sp>
        <p:nvSpPr>
          <p:cNvPr id="25" name="agenda 4 circle"/>
          <p:cNvSpPr/>
          <p:nvPr/>
        </p:nvSpPr>
        <p:spPr>
          <a:xfrm>
            <a:off x="2286000" y="502005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genda 4 icon" descr="preencoded.png"/>
          <p:cNvPicPr>
            <a:picLocks noChangeAspect="1"/>
          </p:cNvPicPr>
          <p:nvPr/>
        </p:nvPicPr>
        <p:blipFill>
          <a:blip r:embed="rId6"/>
          <a:stretch>
            <a:fillRect/>
          </a:stretch>
        </p:blipFill>
        <p:spPr>
          <a:xfrm>
            <a:off x="2400666" y="5134722"/>
            <a:ext cx="291876" cy="291876"/>
          </a:xfrm>
          <a:prstGeom prst="rect">
            <a:avLst/>
          </a:prstGeom>
        </p:spPr>
      </p:pic>
      <p:sp>
        <p:nvSpPr>
          <p:cNvPr id="27" name="Text 21"/>
          <p:cNvSpPr txBox="1"/>
          <p:nvPr/>
        </p:nvSpPr>
        <p:spPr>
          <a:xfrm>
            <a:off x="3063240" y="489204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Propuesta</a:t>
            </a:r>
            <a:endParaRPr lang="es-SV" sz="1700" noProof="0" dirty="0">
              <a:latin typeface="Arial" panose="020B0604020202020204" pitchFamily="34" charset="0"/>
              <a:cs typeface="Arial" panose="020B0604020202020204" pitchFamily="34" charset="0"/>
            </a:endParaRPr>
          </a:p>
        </p:txBody>
      </p:sp>
      <p:sp>
        <p:nvSpPr>
          <p:cNvPr id="28" name="Text 22"/>
          <p:cNvSpPr txBox="1"/>
          <p:nvPr/>
        </p:nvSpPr>
        <p:spPr>
          <a:xfrm>
            <a:off x="6309360" y="489204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Tres solicitudes de autorización al Comité de Riesgo</a:t>
            </a:r>
            <a:endParaRPr lang="es-SV" sz="1300" noProof="0" dirty="0">
              <a:latin typeface="Arial" panose="020B0604020202020204" pitchFamily="34" charset="0"/>
              <a:cs typeface="Arial" panose="020B0604020202020204" pitchFamily="34" charset="0"/>
            </a:endParaRPr>
          </a:p>
        </p:txBody>
      </p:sp>
      <p:pic>
        <p:nvPicPr>
          <p:cNvPr id="29" name="logo" descr="/tmp/claude-0/-home-user-riesgo/74e9c8ad-7a43-5903-a089-2edd8047c387/scratchpad/assets/logo_color.png"/>
          <p:cNvPicPr>
            <a:picLocks noChangeAspect="1"/>
          </p:cNvPicPr>
          <p:nvPr/>
        </p:nvPicPr>
        <p:blipFill>
          <a:blip r:embed="rId7"/>
          <a:stretch>
            <a:fillRect/>
          </a:stretch>
        </p:blipFill>
        <p:spPr>
          <a:xfrm>
            <a:off x="10927080" y="6108192"/>
            <a:ext cx="777240" cy="56692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a:t>
            </a:r>
            <a:endParaRPr lang="es-SV" sz="2400" noProof="0" dirty="0">
              <a:latin typeface="Arial" panose="020B0604020202020204" pitchFamily="34" charset="0"/>
              <a:cs typeface="Arial" panose="020B0604020202020204" pitchFamily="34" charset="0"/>
            </a:endParaRPr>
          </a:p>
        </p:txBody>
      </p:sp>
      <p:sp>
        <p:nvSpPr>
          <p:cNvPr id="200" name="Subtitulo situacion actual"/>
          <p:cNvSpPr txBox="1"/>
          <p:nvPr/>
        </p:nvSpPr>
        <p:spPr>
          <a:xfrm>
            <a:off x="777240" y="1024128"/>
            <a:ext cx="10515600" cy="411480"/>
          </a:xfrm>
          <a:prstGeom prst="rect">
            <a:avLst/>
          </a:prstGeom>
          <a:noFill/>
          <a:ln/>
        </p:spPr>
        <p:txBody>
          <a:bodyPr wrap="square" lIns="0" tIns="0" rIns="0" bIns="0" rtlCol="0" anchor="ctr"/>
          <a:lstStyle/>
          <a:p>
            <a:pPr marL="0" indent="0" algn="l">
              <a:buNone/>
            </a:pPr>
            <a:r>
              <a:rPr lang="es-SV" sz="1600" noProof="0" dirty="0">
                <a:solidFill>
                  <a:srgbClr val="005C9F"/>
                </a:solidFill>
                <a:latin typeface="Arial" panose="020B0604020202020204" pitchFamily="34" charset="0"/>
                <a:cs typeface="Arial" panose="020B0604020202020204" pitchFamily="34" charset="0"/>
              </a:rPr>
              <a:t>El proceso de avalúos lo realizan hoy 28 personas distribuidas en 4 gerencias</a:t>
            </a:r>
          </a:p>
        </p:txBody>
      </p:sp>
      <p:sp>
        <p:nvSpPr>
          <p:cNvPr id="3" name="gerencia card 1"/>
          <p:cNvSpPr/>
          <p:nvPr/>
        </p:nvSpPr>
        <p:spPr>
          <a:xfrm>
            <a:off x="54864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gerencia 1 circle"/>
          <p:cNvSpPr/>
          <p:nvPr/>
        </p:nvSpPr>
        <p:spPr>
          <a:xfrm>
            <a:off x="82296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gerencia 1 icon" descr="preencoded.png"/>
          <p:cNvPicPr>
            <a:picLocks noChangeAspect="1"/>
          </p:cNvPicPr>
          <p:nvPr/>
        </p:nvPicPr>
        <p:blipFill>
          <a:blip r:embed="rId3"/>
          <a:stretch>
            <a:fillRect/>
          </a:stretch>
        </p:blipFill>
        <p:spPr>
          <a:xfrm>
            <a:off x="983894" y="2081174"/>
            <a:ext cx="409651" cy="409651"/>
          </a:xfrm>
          <a:prstGeom prst="rect">
            <a:avLst/>
          </a:prstGeom>
        </p:spPr>
      </p:pic>
      <p:sp>
        <p:nvSpPr>
          <p:cNvPr id="6" name="Text 3"/>
          <p:cNvSpPr txBox="1"/>
          <p:nvPr/>
        </p:nvSpPr>
        <p:spPr>
          <a:xfrm>
            <a:off x="82296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Negocio</a:t>
            </a:r>
            <a:endParaRPr lang="es-SV" sz="1500" noProof="0" dirty="0">
              <a:latin typeface="Arial" panose="020B0604020202020204" pitchFamily="34" charset="0"/>
              <a:cs typeface="Arial" panose="020B0604020202020204" pitchFamily="34" charset="0"/>
            </a:endParaRPr>
          </a:p>
        </p:txBody>
      </p:sp>
      <p:sp>
        <p:nvSpPr>
          <p:cNvPr id="7" name="Text 4"/>
          <p:cNvSpPr txBox="1"/>
          <p:nvPr/>
        </p:nvSpPr>
        <p:spPr>
          <a:xfrm>
            <a:off x="822960" y="3474720"/>
            <a:ext cx="789272"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22</a:t>
            </a:r>
            <a:endParaRPr lang="es-SV" sz="48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82296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9" name="Text 6"/>
          <p:cNvSpPr txBox="1"/>
          <p:nvPr/>
        </p:nvSpPr>
        <p:spPr>
          <a:xfrm>
            <a:off x="82296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 y administración de peritos, recepción e ingreso de informes</a:t>
            </a:r>
          </a:p>
        </p:txBody>
      </p:sp>
      <p:sp>
        <p:nvSpPr>
          <p:cNvPr id="10" name="gerencia card 2"/>
          <p:cNvSpPr/>
          <p:nvPr/>
        </p:nvSpPr>
        <p:spPr>
          <a:xfrm>
            <a:off x="338328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gerencia 2 circle"/>
          <p:cNvSpPr/>
          <p:nvPr/>
        </p:nvSpPr>
        <p:spPr>
          <a:xfrm>
            <a:off x="365760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gerencia 2 icon" descr="preencoded.png"/>
          <p:cNvPicPr>
            <a:picLocks noChangeAspect="1"/>
          </p:cNvPicPr>
          <p:nvPr/>
        </p:nvPicPr>
        <p:blipFill>
          <a:blip r:embed="rId4"/>
          <a:stretch>
            <a:fillRect/>
          </a:stretch>
        </p:blipFill>
        <p:spPr>
          <a:xfrm>
            <a:off x="3818534" y="2081174"/>
            <a:ext cx="409651" cy="409651"/>
          </a:xfrm>
          <a:prstGeom prst="rect">
            <a:avLst/>
          </a:prstGeom>
        </p:spPr>
      </p:pic>
      <p:sp>
        <p:nvSpPr>
          <p:cNvPr id="13" name="Text 9"/>
          <p:cNvSpPr txBox="1"/>
          <p:nvPr/>
        </p:nvSpPr>
        <p:spPr>
          <a:xfrm>
            <a:off x="365760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Legal</a:t>
            </a:r>
            <a:endParaRPr lang="es-SV" sz="1500" noProof="0" dirty="0">
              <a:latin typeface="Arial" panose="020B0604020202020204" pitchFamily="34" charset="0"/>
              <a:cs typeface="Arial" panose="020B0604020202020204" pitchFamily="34" charset="0"/>
            </a:endParaRPr>
          </a:p>
        </p:txBody>
      </p:sp>
      <p:sp>
        <p:nvSpPr>
          <p:cNvPr id="14" name="Text 10"/>
          <p:cNvSpPr txBox="1"/>
          <p:nvPr/>
        </p:nvSpPr>
        <p:spPr>
          <a:xfrm>
            <a:off x="3657600" y="3474720"/>
            <a:ext cx="457200"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15" name="Text 11"/>
          <p:cNvSpPr txBox="1"/>
          <p:nvPr/>
        </p:nvSpPr>
        <p:spPr>
          <a:xfrm>
            <a:off x="365760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16" name="Text 12"/>
          <p:cNvSpPr txBox="1"/>
          <p:nvPr/>
        </p:nvSpPr>
        <p:spPr>
          <a:xfrm>
            <a:off x="365760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Contratos hipotecarios y validación del informe de avalúos</a:t>
            </a:r>
          </a:p>
        </p:txBody>
      </p:sp>
      <p:sp>
        <p:nvSpPr>
          <p:cNvPr id="17" name="gerencia card 3"/>
          <p:cNvSpPr/>
          <p:nvPr/>
        </p:nvSpPr>
        <p:spPr>
          <a:xfrm>
            <a:off x="621792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8" name="gerencia 3 circle"/>
          <p:cNvSpPr/>
          <p:nvPr/>
        </p:nvSpPr>
        <p:spPr>
          <a:xfrm>
            <a:off x="649224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9" name="gerencia 3 icon" descr="preencoded.png"/>
          <p:cNvPicPr>
            <a:picLocks noChangeAspect="1"/>
          </p:cNvPicPr>
          <p:nvPr/>
        </p:nvPicPr>
        <p:blipFill>
          <a:blip r:embed="rId5"/>
          <a:stretch>
            <a:fillRect/>
          </a:stretch>
        </p:blipFill>
        <p:spPr>
          <a:xfrm>
            <a:off x="6653174" y="2081174"/>
            <a:ext cx="409651" cy="409651"/>
          </a:xfrm>
          <a:prstGeom prst="rect">
            <a:avLst/>
          </a:prstGeom>
        </p:spPr>
      </p:pic>
      <p:sp>
        <p:nvSpPr>
          <p:cNvPr id="20" name="Text 15"/>
          <p:cNvSpPr txBox="1"/>
          <p:nvPr/>
        </p:nvSpPr>
        <p:spPr>
          <a:xfrm>
            <a:off x="6309360" y="2788920"/>
            <a:ext cx="237744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Operaciones </a:t>
            </a:r>
            <a:endParaRPr lang="es-SV" sz="1500" noProof="0" dirty="0">
              <a:latin typeface="Arial" panose="020B0604020202020204" pitchFamily="34" charset="0"/>
              <a:cs typeface="Arial" panose="020B0604020202020204" pitchFamily="34" charset="0"/>
            </a:endParaRPr>
          </a:p>
        </p:txBody>
      </p:sp>
      <p:sp>
        <p:nvSpPr>
          <p:cNvPr id="21" name="Text 16"/>
          <p:cNvSpPr txBox="1"/>
          <p:nvPr/>
        </p:nvSpPr>
        <p:spPr>
          <a:xfrm>
            <a:off x="6492240" y="3474720"/>
            <a:ext cx="445971"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2" name="Text 17"/>
          <p:cNvSpPr txBox="1"/>
          <p:nvPr/>
        </p:nvSpPr>
        <p:spPr>
          <a:xfrm>
            <a:off x="649224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23" name="Text 18"/>
          <p:cNvSpPr txBox="1"/>
          <p:nvPr/>
        </p:nvSpPr>
        <p:spPr>
          <a:xfrm>
            <a:off x="649224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Administración de Cartera: modifica y actualiza el Módulo de Garantías</a:t>
            </a:r>
          </a:p>
        </p:txBody>
      </p:sp>
      <p:sp>
        <p:nvSpPr>
          <p:cNvPr id="24" name="gerencia card 4"/>
          <p:cNvSpPr/>
          <p:nvPr/>
        </p:nvSpPr>
        <p:spPr>
          <a:xfrm>
            <a:off x="905256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25" name="gerencia 4 circle"/>
          <p:cNvSpPr/>
          <p:nvPr/>
        </p:nvSpPr>
        <p:spPr>
          <a:xfrm>
            <a:off x="932688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gerencia 4 icon" descr="preencoded.png"/>
          <p:cNvPicPr>
            <a:picLocks noChangeAspect="1"/>
          </p:cNvPicPr>
          <p:nvPr/>
        </p:nvPicPr>
        <p:blipFill>
          <a:blip r:embed="rId6"/>
          <a:stretch>
            <a:fillRect/>
          </a:stretch>
        </p:blipFill>
        <p:spPr>
          <a:xfrm>
            <a:off x="9487814" y="2081174"/>
            <a:ext cx="409651" cy="409651"/>
          </a:xfrm>
          <a:prstGeom prst="rect">
            <a:avLst/>
          </a:prstGeom>
        </p:spPr>
      </p:pic>
      <p:sp>
        <p:nvSpPr>
          <p:cNvPr id="27" name="Text 21"/>
          <p:cNvSpPr txBox="1"/>
          <p:nvPr/>
        </p:nvSpPr>
        <p:spPr>
          <a:xfrm>
            <a:off x="9326880" y="2788920"/>
            <a:ext cx="210312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General</a:t>
            </a:r>
            <a:endParaRPr lang="es-SV" sz="1500" noProof="0" dirty="0">
              <a:latin typeface="Arial" panose="020B0604020202020204" pitchFamily="34" charset="0"/>
              <a:cs typeface="Arial" panose="020B0604020202020204" pitchFamily="34" charset="0"/>
            </a:endParaRPr>
          </a:p>
        </p:txBody>
      </p:sp>
      <p:sp>
        <p:nvSpPr>
          <p:cNvPr id="28" name="Text 22"/>
          <p:cNvSpPr txBox="1"/>
          <p:nvPr/>
        </p:nvSpPr>
        <p:spPr>
          <a:xfrm>
            <a:off x="9326880" y="3474720"/>
            <a:ext cx="394636"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9" name="Text 23"/>
          <p:cNvSpPr txBox="1"/>
          <p:nvPr/>
        </p:nvSpPr>
        <p:spPr>
          <a:xfrm>
            <a:off x="932688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30" name="Text 24"/>
          <p:cNvSpPr txBox="1"/>
          <p:nvPr/>
        </p:nvSpPr>
        <p:spPr>
          <a:xfrm>
            <a:off x="932688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Departamento de Administración de Riesgos: actualización y monitoreo</a:t>
            </a:r>
          </a:p>
        </p:txBody>
      </p:sp>
      <p:sp>
        <p:nvSpPr>
          <p:cNvPr id="31" name="Text 25"/>
          <p:cNvSpPr txBox="1"/>
          <p:nvPr/>
        </p:nvSpPr>
        <p:spPr>
          <a:xfrm>
            <a:off x="2103120" y="6126480"/>
            <a:ext cx="7680960" cy="274320"/>
          </a:xfrm>
          <a:prstGeom prst="rect">
            <a:avLst/>
          </a:prstGeom>
          <a:noFill/>
          <a:ln/>
        </p:spPr>
        <p:txBody>
          <a:bodyPr wrap="square" lIns="0" tIns="0" rIns="0" bIns="0" rtlCol="0" anchor="t"/>
          <a:lstStyle/>
          <a:p>
            <a:pPr marL="0" indent="0" algn="ctr">
              <a:buNone/>
            </a:pPr>
            <a:r>
              <a:rPr lang="es-SV" sz="1300" b="1" noProof="0" dirty="0">
                <a:solidFill>
                  <a:srgbClr val="002060"/>
                </a:solidFill>
                <a:latin typeface="Arial" panose="020B0604020202020204" pitchFamily="34" charset="0"/>
                <a:cs typeface="Arial" panose="020B0604020202020204" pitchFamily="34" charset="0"/>
              </a:rPr>
              <a:t>Total: </a:t>
            </a:r>
            <a:r>
              <a:rPr lang="es-SV" sz="1300" noProof="0" dirty="0">
                <a:solidFill>
                  <a:srgbClr val="002060"/>
                </a:solidFill>
                <a:latin typeface="Arial" panose="020B0604020202020204" pitchFamily="34" charset="0"/>
                <a:cs typeface="Arial" panose="020B0604020202020204" pitchFamily="34" charset="0"/>
              </a:rPr>
              <a:t>28 personas participan en el proceso, sin un área que lo controle de forma centralizada.</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GERENCIA DE NEGOCIO</a:t>
            </a:r>
            <a:endParaRPr lang="es-SV" sz="2400" noProof="0" dirty="0">
              <a:latin typeface="Arial" panose="020B0604020202020204" pitchFamily="34" charset="0"/>
              <a:cs typeface="Arial" panose="020B0604020202020204" pitchFamily="34" charset="0"/>
            </a:endParaRPr>
          </a:p>
        </p:txBody>
      </p:sp>
      <p:sp>
        <p:nvSpPr>
          <p:cNvPr id="3" name="negocio 1 circle"/>
          <p:cNvSpPr/>
          <p:nvPr/>
        </p:nvSpPr>
        <p:spPr>
          <a:xfrm>
            <a:off x="548640" y="14904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4" name="negocio 1 icon" descr="preencoded.png"/>
          <p:cNvPicPr>
            <a:picLocks noChangeAspect="1"/>
          </p:cNvPicPr>
          <p:nvPr/>
        </p:nvPicPr>
        <p:blipFill>
          <a:blip r:embed="rId3"/>
          <a:stretch>
            <a:fillRect/>
          </a:stretch>
        </p:blipFill>
        <p:spPr>
          <a:xfrm>
            <a:off x="689458" y="1631290"/>
            <a:ext cx="358445" cy="358445"/>
          </a:xfrm>
          <a:prstGeom prst="rect">
            <a:avLst/>
          </a:prstGeom>
        </p:spPr>
      </p:pic>
      <p:sp>
        <p:nvSpPr>
          <p:cNvPr id="5" name="Text 2"/>
          <p:cNvSpPr txBox="1"/>
          <p:nvPr/>
        </p:nvSpPr>
        <p:spPr>
          <a:xfrm>
            <a:off x="1417320" y="14173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Gerente de Negocio:</a:t>
            </a:r>
            <a:r>
              <a:rPr lang="es-SV" sz="1500" noProof="0" dirty="0">
                <a:solidFill>
                  <a:schemeClr val="tx1"/>
                </a:solidFill>
                <a:latin typeface="Arial" panose="020B0604020202020204" pitchFamily="34" charset="0"/>
                <a:cs typeface="Arial" panose="020B0604020202020204" pitchFamily="34" charset="0"/>
              </a:rPr>
              <a:t> Administrador de Contrato de Peritos</a:t>
            </a:r>
            <a:endParaRPr lang="es-SV" sz="1500" noProof="0" dirty="0">
              <a:latin typeface="Arial" panose="020B0604020202020204" pitchFamily="34" charset="0"/>
              <a:cs typeface="Arial" panose="020B0604020202020204" pitchFamily="34" charset="0"/>
            </a:endParaRPr>
          </a:p>
        </p:txBody>
      </p:sp>
      <p:sp>
        <p:nvSpPr>
          <p:cNvPr id="6" name="negocio 2 circle"/>
          <p:cNvSpPr/>
          <p:nvPr/>
        </p:nvSpPr>
        <p:spPr>
          <a:xfrm>
            <a:off x="548640" y="2404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negocio 2 icon" descr="preencoded.png"/>
          <p:cNvPicPr>
            <a:picLocks noChangeAspect="1"/>
          </p:cNvPicPr>
          <p:nvPr/>
        </p:nvPicPr>
        <p:blipFill>
          <a:blip r:embed="rId4"/>
          <a:stretch>
            <a:fillRect/>
          </a:stretch>
        </p:blipFill>
        <p:spPr>
          <a:xfrm>
            <a:off x="689458" y="2545690"/>
            <a:ext cx="358445" cy="358445"/>
          </a:xfrm>
          <a:prstGeom prst="rect">
            <a:avLst/>
          </a:prstGeom>
        </p:spPr>
      </p:pic>
      <p:sp>
        <p:nvSpPr>
          <p:cNvPr id="8" name="Text 4"/>
          <p:cNvSpPr txBox="1"/>
          <p:nvPr/>
        </p:nvSpPr>
        <p:spPr>
          <a:xfrm>
            <a:off x="1417320" y="2331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Jefe de Crédito:</a:t>
            </a:r>
            <a:r>
              <a:rPr lang="es-SV" sz="1500" noProof="0" dirty="0">
                <a:solidFill>
                  <a:schemeClr val="tx1"/>
                </a:solidFill>
                <a:latin typeface="Arial" panose="020B0604020202020204" pitchFamily="34" charset="0"/>
                <a:cs typeface="Arial" panose="020B0604020202020204" pitchFamily="34" charset="0"/>
              </a:rPr>
              <a:t> Administrador de Peritos (Créditos Nuevos)</a:t>
            </a:r>
            <a:endParaRPr lang="es-SV" sz="1500" noProof="0" dirty="0">
              <a:latin typeface="Arial" panose="020B0604020202020204" pitchFamily="34" charset="0"/>
              <a:cs typeface="Arial" panose="020B0604020202020204" pitchFamily="34" charset="0"/>
            </a:endParaRPr>
          </a:p>
        </p:txBody>
      </p:sp>
      <p:sp>
        <p:nvSpPr>
          <p:cNvPr id="9" name="negocio 3 circle"/>
          <p:cNvSpPr/>
          <p:nvPr/>
        </p:nvSpPr>
        <p:spPr>
          <a:xfrm>
            <a:off x="548640" y="33192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negocio 3 icon" descr="preencoded.png"/>
          <p:cNvPicPr>
            <a:picLocks noChangeAspect="1"/>
          </p:cNvPicPr>
          <p:nvPr/>
        </p:nvPicPr>
        <p:blipFill>
          <a:blip r:embed="rId5"/>
          <a:stretch>
            <a:fillRect/>
          </a:stretch>
        </p:blipFill>
        <p:spPr>
          <a:xfrm>
            <a:off x="689458" y="3460090"/>
            <a:ext cx="358445" cy="358445"/>
          </a:xfrm>
          <a:prstGeom prst="rect">
            <a:avLst/>
          </a:prstGeom>
        </p:spPr>
      </p:pic>
      <p:sp>
        <p:nvSpPr>
          <p:cNvPr id="11" name="Text 6"/>
          <p:cNvSpPr txBox="1"/>
          <p:nvPr/>
        </p:nvSpPr>
        <p:spPr>
          <a:xfrm>
            <a:off x="1417320" y="3246120"/>
            <a:ext cx="5464743" cy="1234440"/>
          </a:xfrm>
          <a:prstGeom prst="rect">
            <a:avLst/>
          </a:prstGeom>
          <a:noFill/>
          <a:ln/>
        </p:spPr>
        <p:txBody>
          <a:bodyPr wrap="square" lIns="0" tIns="0" rIns="0" bIns="0" rtlCol="0" anchor="ctr"/>
          <a:lstStyle/>
          <a:p>
            <a:pPr marL="0" indent="0" algn="just">
              <a:buNone/>
            </a:pPr>
            <a:r>
              <a:rPr lang="es-SV" sz="1500" b="1" noProof="0" dirty="0">
                <a:solidFill>
                  <a:schemeClr val="tx2"/>
                </a:solidFill>
                <a:latin typeface="Arial" panose="020B0604020202020204" pitchFamily="34" charset="0"/>
                <a:cs typeface="Arial" panose="020B0604020202020204" pitchFamily="34" charset="0"/>
              </a:rPr>
              <a:t>Ejecutivos de Negocio:</a:t>
            </a:r>
            <a:r>
              <a:rPr lang="es-SV" sz="1500" noProof="0" dirty="0">
                <a:solidFill>
                  <a:schemeClr val="tx1"/>
                </a:solidFill>
                <a:latin typeface="Arial" panose="020B0604020202020204" pitchFamily="34" charset="0"/>
                <a:cs typeface="Arial" panose="020B0604020202020204" pitchFamily="34" charset="0"/>
              </a:rPr>
              <a:t> Recepción de Informes de Avalúos, e Ingreso de la Información en el sistema Industrial de Créditos Modulo de Garantías (15 Personas)</a:t>
            </a:r>
            <a:endParaRPr lang="es-SV" sz="1500" noProof="0" dirty="0">
              <a:latin typeface="Arial" panose="020B0604020202020204" pitchFamily="34" charset="0"/>
              <a:cs typeface="Arial" panose="020B0604020202020204" pitchFamily="34" charset="0"/>
            </a:endParaRPr>
          </a:p>
        </p:txBody>
      </p:sp>
      <p:sp>
        <p:nvSpPr>
          <p:cNvPr id="12" name="negocio 4 circle"/>
          <p:cNvSpPr/>
          <p:nvPr/>
        </p:nvSpPr>
        <p:spPr>
          <a:xfrm>
            <a:off x="548640" y="4690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negocio 4 icon" descr="preencoded.png"/>
          <p:cNvPicPr>
            <a:picLocks noChangeAspect="1"/>
          </p:cNvPicPr>
          <p:nvPr/>
        </p:nvPicPr>
        <p:blipFill>
          <a:blip r:embed="rId6"/>
          <a:stretch>
            <a:fillRect/>
          </a:stretch>
        </p:blipFill>
        <p:spPr>
          <a:xfrm>
            <a:off x="689458" y="4831690"/>
            <a:ext cx="358445" cy="358445"/>
          </a:xfrm>
          <a:prstGeom prst="rect">
            <a:avLst/>
          </a:prstGeom>
        </p:spPr>
      </p:pic>
      <p:sp>
        <p:nvSpPr>
          <p:cNvPr id="14" name="Text 8"/>
          <p:cNvSpPr txBox="1"/>
          <p:nvPr/>
        </p:nvSpPr>
        <p:spPr>
          <a:xfrm>
            <a:off x="1417320" y="4617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Analista de Crédito:</a:t>
            </a:r>
            <a:r>
              <a:rPr lang="es-SV" sz="1500" noProof="0" dirty="0">
                <a:solidFill>
                  <a:schemeClr val="tx1"/>
                </a:solidFill>
                <a:latin typeface="Arial" panose="020B0604020202020204" pitchFamily="34" charset="0"/>
                <a:cs typeface="Arial" panose="020B0604020202020204" pitchFamily="34" charset="0"/>
              </a:rPr>
              <a:t> Recibe el Informe de avalúos (5 Personas)</a:t>
            </a:r>
            <a:endParaRPr lang="es-SV" sz="1500" noProof="0" dirty="0">
              <a:latin typeface="Arial" panose="020B0604020202020204" pitchFamily="34" charset="0"/>
              <a:cs typeface="Arial" panose="020B0604020202020204" pitchFamily="34" charset="0"/>
            </a:endParaRPr>
          </a:p>
        </p:txBody>
      </p:sp>
      <p:sp>
        <p:nvSpPr>
          <p:cNvPr id="15" name="negocio stat"/>
          <p:cNvSpPr/>
          <p:nvPr/>
        </p:nvSpPr>
        <p:spPr>
          <a:xfrm>
            <a:off x="8229600" y="1417320"/>
            <a:ext cx="3383280" cy="4389120"/>
          </a:xfrm>
          <a:prstGeom prst="roundRect">
            <a:avLst>
              <a:gd name="adj" fmla="val 270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6" name="Text 10"/>
          <p:cNvSpPr txBox="1"/>
          <p:nvPr/>
        </p:nvSpPr>
        <p:spPr>
          <a:xfrm>
            <a:off x="8549640" y="1737360"/>
            <a:ext cx="1155834" cy="987552"/>
          </a:xfrm>
          <a:prstGeom prst="rect">
            <a:avLst/>
          </a:prstGeom>
          <a:noFill/>
          <a:ln/>
        </p:spPr>
        <p:txBody>
          <a:bodyPr wrap="square" lIns="0" tIns="0" rIns="0" bIns="0" rtlCol="0" anchor="t"/>
          <a:lstStyle/>
          <a:p>
            <a:pPr marL="0" indent="0">
              <a:buNone/>
            </a:pPr>
            <a:r>
              <a:rPr lang="es-SV" sz="7200" b="1" noProof="0" dirty="0">
                <a:solidFill>
                  <a:srgbClr val="002060"/>
                </a:solidFill>
                <a:latin typeface="Arial" panose="020B0604020202020204" pitchFamily="34" charset="0"/>
                <a:cs typeface="Arial" panose="020B0604020202020204" pitchFamily="34" charset="0"/>
              </a:rPr>
              <a:t>22</a:t>
            </a:r>
            <a:endParaRPr lang="es-SV" sz="7200" noProof="0" dirty="0">
              <a:solidFill>
                <a:srgbClr val="002060"/>
              </a:solidFill>
              <a:latin typeface="Arial" panose="020B0604020202020204" pitchFamily="34" charset="0"/>
              <a:cs typeface="Arial" panose="020B0604020202020204" pitchFamily="34" charset="0"/>
            </a:endParaRPr>
          </a:p>
        </p:txBody>
      </p:sp>
      <p:sp>
        <p:nvSpPr>
          <p:cNvPr id="17" name="Text 11"/>
          <p:cNvSpPr txBox="1"/>
          <p:nvPr/>
        </p:nvSpPr>
        <p:spPr>
          <a:xfrm>
            <a:off x="8549640" y="3017520"/>
            <a:ext cx="2788920" cy="868680"/>
          </a:xfrm>
          <a:prstGeom prst="rect">
            <a:avLst/>
          </a:prstGeom>
          <a:noFill/>
          <a:ln/>
        </p:spPr>
        <p:txBody>
          <a:bodyPr wrap="square" lIns="0" tIns="0" rIns="0" bIns="0" rtlCol="0" anchor="t"/>
          <a:lstStyle/>
          <a:p>
            <a:pPr marL="0" indent="0">
              <a:buNone/>
            </a:pPr>
            <a:r>
              <a:rPr lang="es-SV" sz="1600" b="1" noProof="0" dirty="0">
                <a:solidFill>
                  <a:schemeClr val="bg1"/>
                </a:solidFill>
                <a:latin typeface="Arial" panose="020B0604020202020204" pitchFamily="34" charset="0"/>
                <a:cs typeface="Arial" panose="020B0604020202020204" pitchFamily="34" charset="0"/>
              </a:rPr>
              <a:t>Proceso actual realizado por 14 Personas</a:t>
            </a:r>
            <a:endParaRPr lang="es-SV" sz="1600" noProof="0" dirty="0">
              <a:latin typeface="Arial" panose="020B0604020202020204" pitchFamily="34" charset="0"/>
              <a:cs typeface="Arial" panose="020B0604020202020204" pitchFamily="34" charset="0"/>
            </a:endParaRPr>
          </a:p>
        </p:txBody>
      </p:sp>
      <p:sp>
        <p:nvSpPr>
          <p:cNvPr id="18" name="Text 12"/>
          <p:cNvSpPr txBox="1"/>
          <p:nvPr/>
        </p:nvSpPr>
        <p:spPr>
          <a:xfrm>
            <a:off x="8549640" y="4023360"/>
            <a:ext cx="2788920" cy="667512"/>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De ellas, 15 son Ejecutivos de Negocio que ingresan información en el Módulo de Garantías</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54380" y="499872"/>
            <a:ext cx="829056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2. GERENCIA LEGAL Y 3. GERENCIA DE OPERACIONES </a:t>
            </a:r>
            <a:endParaRPr lang="es-SV" sz="2400" noProof="0" dirty="0">
              <a:latin typeface="Arial" panose="020B0604020202020204" pitchFamily="34" charset="0"/>
              <a:cs typeface="Arial" panose="020B0604020202020204" pitchFamily="34" charset="0"/>
            </a:endParaRPr>
          </a:p>
        </p:txBody>
      </p:sp>
      <p:sp>
        <p:nvSpPr>
          <p:cNvPr id="3" name="columna 1"/>
          <p:cNvSpPr/>
          <p:nvPr/>
        </p:nvSpPr>
        <p:spPr>
          <a:xfrm>
            <a:off x="548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columna 1 circle"/>
          <p:cNvSpPr/>
          <p:nvPr/>
        </p:nvSpPr>
        <p:spPr>
          <a:xfrm>
            <a:off x="914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columna 1 icon" descr="preencoded.png"/>
          <p:cNvPicPr>
            <a:picLocks noChangeAspect="1"/>
          </p:cNvPicPr>
          <p:nvPr/>
        </p:nvPicPr>
        <p:blipFill>
          <a:blip r:embed="rId3"/>
          <a:stretch>
            <a:fillRect/>
          </a:stretch>
        </p:blipFill>
        <p:spPr>
          <a:xfrm>
            <a:off x="1065276" y="1751076"/>
            <a:ext cx="384048" cy="384048"/>
          </a:xfrm>
          <a:prstGeom prst="rect">
            <a:avLst/>
          </a:prstGeom>
        </p:spPr>
      </p:pic>
      <p:sp>
        <p:nvSpPr>
          <p:cNvPr id="6" name="Text 3"/>
          <p:cNvSpPr txBox="1"/>
          <p:nvPr/>
        </p:nvSpPr>
        <p:spPr>
          <a:xfrm>
            <a:off x="1783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2. Gerencia legal</a:t>
            </a:r>
            <a:endParaRPr lang="es-SV" sz="1900" noProof="0" dirty="0">
              <a:latin typeface="Arial" panose="020B0604020202020204" pitchFamily="34" charset="0"/>
              <a:cs typeface="Arial" panose="020B0604020202020204" pitchFamily="34" charset="0"/>
            </a:endParaRPr>
          </a:p>
        </p:txBody>
      </p:sp>
      <p:sp>
        <p:nvSpPr>
          <p:cNvPr id="7" name="Text 4"/>
          <p:cNvSpPr txBox="1"/>
          <p:nvPr/>
        </p:nvSpPr>
        <p:spPr>
          <a:xfrm>
            <a:off x="914400" y="2463987"/>
            <a:ext cx="4617720" cy="1626749"/>
          </a:xfrm>
          <a:prstGeom prst="rect">
            <a:avLst/>
          </a:prstGeom>
          <a:noFill/>
          <a:ln/>
        </p:spPr>
        <p:txBody>
          <a:bodyPr wrap="square" lIns="0" tIns="0" rIns="0" bIns="0" rtlCol="0" anchor="t"/>
          <a:lstStyle/>
          <a:p>
            <a:pPr marL="0" indent="0" algn="just">
              <a:lnSpc>
                <a:spcPct val="20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Realiza los contratos Hipotecarios y valida información en el Informe de avalúos, para ingresar en el sistema Industrial de Créditos Modulo de garantías la información de Inscripción y presentación de Garantías.</a:t>
            </a:r>
            <a:endParaRPr lang="es-SV" sz="1350" noProof="0" dirty="0">
              <a:latin typeface="Arial" panose="020B0604020202020204" pitchFamily="34" charset="0"/>
              <a:cs typeface="Arial" panose="020B0604020202020204" pitchFamily="34" charset="0"/>
            </a:endParaRPr>
          </a:p>
        </p:txBody>
      </p:sp>
      <p:sp>
        <p:nvSpPr>
          <p:cNvPr id="8" name="pill 1"/>
          <p:cNvSpPr/>
          <p:nvPr/>
        </p:nvSpPr>
        <p:spPr>
          <a:xfrm>
            <a:off x="914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1417320" y="4992304"/>
            <a:ext cx="3474720" cy="309613"/>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11" name="columna 2"/>
          <p:cNvSpPr/>
          <p:nvPr/>
        </p:nvSpPr>
        <p:spPr>
          <a:xfrm>
            <a:off x="6263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columna 2 circle"/>
          <p:cNvSpPr/>
          <p:nvPr/>
        </p:nvSpPr>
        <p:spPr>
          <a:xfrm>
            <a:off x="6629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columna 2 icon" descr="preencoded.png"/>
          <p:cNvPicPr>
            <a:picLocks noChangeAspect="1"/>
          </p:cNvPicPr>
          <p:nvPr/>
        </p:nvPicPr>
        <p:blipFill>
          <a:blip r:embed="rId4"/>
          <a:stretch>
            <a:fillRect/>
          </a:stretch>
        </p:blipFill>
        <p:spPr>
          <a:xfrm>
            <a:off x="6780276" y="1751076"/>
            <a:ext cx="384048" cy="384048"/>
          </a:xfrm>
          <a:prstGeom prst="rect">
            <a:avLst/>
          </a:prstGeom>
        </p:spPr>
      </p:pic>
      <p:sp>
        <p:nvSpPr>
          <p:cNvPr id="14" name="Text 10"/>
          <p:cNvSpPr txBox="1"/>
          <p:nvPr/>
        </p:nvSpPr>
        <p:spPr>
          <a:xfrm>
            <a:off x="7498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3. Gerencia de Operaciones</a:t>
            </a:r>
            <a:endParaRPr lang="es-SV" sz="1900" noProof="0" dirty="0">
              <a:latin typeface="Arial" panose="020B0604020202020204" pitchFamily="34" charset="0"/>
              <a:cs typeface="Arial" panose="020B0604020202020204" pitchFamily="34" charset="0"/>
            </a:endParaRPr>
          </a:p>
        </p:txBody>
      </p:sp>
      <p:sp>
        <p:nvSpPr>
          <p:cNvPr id="15" name="Text 11"/>
          <p:cNvSpPr txBox="1"/>
          <p:nvPr/>
        </p:nvSpPr>
        <p:spPr>
          <a:xfrm>
            <a:off x="6629400" y="2421557"/>
            <a:ext cx="4617720" cy="1920240"/>
          </a:xfrm>
          <a:prstGeom prst="rect">
            <a:avLst/>
          </a:prstGeom>
          <a:noFill/>
          <a:ln/>
        </p:spPr>
        <p:txBody>
          <a:bodyPr wrap="square" lIns="0" tIns="0" rIns="0" bIns="0" rtlCol="0" anchor="t"/>
          <a:lstStyle/>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Administración de Cartera: Es la encarga actual de Modificar, Actualizar el Sistema Industrial de Créditos del Módulo de Garantías, (de la Información enviada por Créditos y Riesgos)</a:t>
            </a:r>
            <a:endParaRPr lang="es-SV" sz="1350" noProof="0" dirty="0">
              <a:latin typeface="Arial" panose="020B0604020202020204" pitchFamily="34" charset="0"/>
              <a:cs typeface="Arial" panose="020B0604020202020204" pitchFamily="34" charset="0"/>
            </a:endParaRPr>
          </a:p>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Así mismo ha informado que realiza contrataciones de Peritos para valuaciones especiales de garantías.</a:t>
            </a:r>
            <a:endParaRPr lang="es-SV" sz="1350" noProof="0" dirty="0">
              <a:latin typeface="Arial" panose="020B0604020202020204" pitchFamily="34" charset="0"/>
              <a:cs typeface="Arial" panose="020B0604020202020204" pitchFamily="34" charset="0"/>
            </a:endParaRPr>
          </a:p>
        </p:txBody>
      </p:sp>
      <p:sp>
        <p:nvSpPr>
          <p:cNvPr id="16" name="pill 2"/>
          <p:cNvSpPr/>
          <p:nvPr/>
        </p:nvSpPr>
        <p:spPr>
          <a:xfrm>
            <a:off x="6629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315200" y="4973053"/>
            <a:ext cx="3474720" cy="328864"/>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6</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4. GERENCIA GENERAL: DEPTO. DE ADMINISTRACIÓN DE RIESGOS</a:t>
            </a:r>
            <a:endParaRPr lang="es-SV" sz="2400" noProof="0" dirty="0">
              <a:latin typeface="Arial" panose="020B0604020202020204" pitchFamily="34" charset="0"/>
              <a:cs typeface="Arial" panose="020B0604020202020204" pitchFamily="34" charset="0"/>
            </a:endParaRPr>
          </a:p>
        </p:txBody>
      </p:sp>
      <p:sp>
        <p:nvSpPr>
          <p:cNvPr id="4" name="actividad 1"/>
          <p:cNvSpPr/>
          <p:nvPr/>
        </p:nvSpPr>
        <p:spPr>
          <a:xfrm>
            <a:off x="54864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actividad 1 circle"/>
          <p:cNvSpPr/>
          <p:nvPr/>
        </p:nvSpPr>
        <p:spPr>
          <a:xfrm>
            <a:off x="73152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actividad 1 icon" descr="preencoded.png"/>
          <p:cNvPicPr>
            <a:picLocks noChangeAspect="1"/>
          </p:cNvPicPr>
          <p:nvPr/>
        </p:nvPicPr>
        <p:blipFill>
          <a:blip r:embed="rId3"/>
          <a:stretch>
            <a:fillRect/>
          </a:stretch>
        </p:blipFill>
        <p:spPr>
          <a:xfrm>
            <a:off x="852221" y="1995221"/>
            <a:ext cx="307238" cy="307238"/>
          </a:xfrm>
          <a:prstGeom prst="rect">
            <a:avLst/>
          </a:prstGeom>
        </p:spPr>
      </p:pic>
      <p:sp>
        <p:nvSpPr>
          <p:cNvPr id="7" name="Text 4"/>
          <p:cNvSpPr txBox="1"/>
          <p:nvPr/>
        </p:nvSpPr>
        <p:spPr>
          <a:xfrm>
            <a:off x="141732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Contratación de Peritos para actualización</a:t>
            </a:r>
            <a:endParaRPr lang="es-SV" sz="1150" noProof="0" dirty="0">
              <a:latin typeface="Arial" panose="020B0604020202020204" pitchFamily="34" charset="0"/>
              <a:cs typeface="Arial" panose="020B0604020202020204" pitchFamily="34" charset="0"/>
            </a:endParaRPr>
          </a:p>
        </p:txBody>
      </p:sp>
      <p:sp>
        <p:nvSpPr>
          <p:cNvPr id="8" name="actividad 2"/>
          <p:cNvSpPr/>
          <p:nvPr/>
        </p:nvSpPr>
        <p:spPr>
          <a:xfrm>
            <a:off x="452628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9" name="actividad 2 circle"/>
          <p:cNvSpPr/>
          <p:nvPr/>
        </p:nvSpPr>
        <p:spPr>
          <a:xfrm>
            <a:off x="470916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actividad 2 icon" descr="preencoded.png"/>
          <p:cNvPicPr>
            <a:picLocks noChangeAspect="1"/>
          </p:cNvPicPr>
          <p:nvPr/>
        </p:nvPicPr>
        <p:blipFill>
          <a:blip r:embed="rId4"/>
          <a:stretch>
            <a:fillRect/>
          </a:stretch>
        </p:blipFill>
        <p:spPr>
          <a:xfrm>
            <a:off x="4829861" y="1995221"/>
            <a:ext cx="307238" cy="307238"/>
          </a:xfrm>
          <a:prstGeom prst="rect">
            <a:avLst/>
          </a:prstGeom>
        </p:spPr>
      </p:pic>
      <p:sp>
        <p:nvSpPr>
          <p:cNvPr id="11" name="Text 7"/>
          <p:cNvSpPr txBox="1"/>
          <p:nvPr/>
        </p:nvSpPr>
        <p:spPr>
          <a:xfrm>
            <a:off x="539496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Monitoreo Periódico de Vencimiento de garantías</a:t>
            </a:r>
            <a:endParaRPr lang="es-SV" sz="1150" noProof="0" dirty="0">
              <a:latin typeface="Arial" panose="020B0604020202020204" pitchFamily="34" charset="0"/>
              <a:cs typeface="Arial" panose="020B0604020202020204" pitchFamily="34" charset="0"/>
            </a:endParaRPr>
          </a:p>
        </p:txBody>
      </p:sp>
      <p:sp>
        <p:nvSpPr>
          <p:cNvPr id="12" name="actividad 3"/>
          <p:cNvSpPr/>
          <p:nvPr/>
        </p:nvSpPr>
        <p:spPr>
          <a:xfrm>
            <a:off x="54864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3" name="actividad 3 circle"/>
          <p:cNvSpPr/>
          <p:nvPr/>
        </p:nvSpPr>
        <p:spPr>
          <a:xfrm>
            <a:off x="73152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ctividad 3 icon" descr="preencoded.png"/>
          <p:cNvPicPr>
            <a:picLocks noChangeAspect="1"/>
          </p:cNvPicPr>
          <p:nvPr/>
        </p:nvPicPr>
        <p:blipFill>
          <a:blip r:embed="rId5"/>
          <a:stretch>
            <a:fillRect/>
          </a:stretch>
        </p:blipFill>
        <p:spPr>
          <a:xfrm>
            <a:off x="852221" y="3046781"/>
            <a:ext cx="307238" cy="307238"/>
          </a:xfrm>
          <a:prstGeom prst="rect">
            <a:avLst/>
          </a:prstGeom>
        </p:spPr>
      </p:pic>
      <p:sp>
        <p:nvSpPr>
          <p:cNvPr id="15" name="Text 10"/>
          <p:cNvSpPr txBox="1"/>
          <p:nvPr/>
        </p:nvSpPr>
        <p:spPr>
          <a:xfrm>
            <a:off x="141732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Gestión de actualización de las garantías (3,500, Promedio de 60 Mensual)</a:t>
            </a:r>
            <a:endParaRPr lang="es-SV" sz="1150" noProof="0" dirty="0">
              <a:latin typeface="Arial" panose="020B0604020202020204" pitchFamily="34" charset="0"/>
              <a:cs typeface="Arial" panose="020B0604020202020204" pitchFamily="34" charset="0"/>
            </a:endParaRPr>
          </a:p>
        </p:txBody>
      </p:sp>
      <p:sp>
        <p:nvSpPr>
          <p:cNvPr id="16" name="actividad 4"/>
          <p:cNvSpPr/>
          <p:nvPr/>
        </p:nvSpPr>
        <p:spPr>
          <a:xfrm>
            <a:off x="452628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7" name="actividad 4 circle"/>
          <p:cNvSpPr/>
          <p:nvPr/>
        </p:nvSpPr>
        <p:spPr>
          <a:xfrm>
            <a:off x="470916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8" name="actividad 4 icon" descr="preencoded.png"/>
          <p:cNvPicPr>
            <a:picLocks noChangeAspect="1"/>
          </p:cNvPicPr>
          <p:nvPr/>
        </p:nvPicPr>
        <p:blipFill>
          <a:blip r:embed="rId6"/>
          <a:stretch>
            <a:fillRect/>
          </a:stretch>
        </p:blipFill>
        <p:spPr>
          <a:xfrm>
            <a:off x="4829861" y="3046781"/>
            <a:ext cx="307238" cy="307238"/>
          </a:xfrm>
          <a:prstGeom prst="rect">
            <a:avLst/>
          </a:prstGeom>
        </p:spPr>
      </p:pic>
      <p:sp>
        <p:nvSpPr>
          <p:cNvPr id="19" name="Text 13"/>
          <p:cNvSpPr txBox="1"/>
          <p:nvPr/>
        </p:nvSpPr>
        <p:spPr>
          <a:xfrm>
            <a:off x="539496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Asignación de garantías a peritos</a:t>
            </a:r>
            <a:endParaRPr lang="es-SV" sz="1150" noProof="0" dirty="0">
              <a:latin typeface="Arial" panose="020B0604020202020204" pitchFamily="34" charset="0"/>
              <a:cs typeface="Arial" panose="020B0604020202020204" pitchFamily="34" charset="0"/>
            </a:endParaRPr>
          </a:p>
        </p:txBody>
      </p:sp>
      <p:sp>
        <p:nvSpPr>
          <p:cNvPr id="20" name="actividad 5"/>
          <p:cNvSpPr/>
          <p:nvPr/>
        </p:nvSpPr>
        <p:spPr>
          <a:xfrm>
            <a:off x="54864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1" name="actividad 5 circle"/>
          <p:cNvSpPr/>
          <p:nvPr/>
        </p:nvSpPr>
        <p:spPr>
          <a:xfrm>
            <a:off x="73152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2" name="actividad 5 icon" descr="preencoded.png"/>
          <p:cNvPicPr>
            <a:picLocks noChangeAspect="1"/>
          </p:cNvPicPr>
          <p:nvPr/>
        </p:nvPicPr>
        <p:blipFill>
          <a:blip r:embed="rId7"/>
          <a:stretch>
            <a:fillRect/>
          </a:stretch>
        </p:blipFill>
        <p:spPr>
          <a:xfrm>
            <a:off x="852221" y="4098341"/>
            <a:ext cx="307238" cy="307238"/>
          </a:xfrm>
          <a:prstGeom prst="rect">
            <a:avLst/>
          </a:prstGeom>
        </p:spPr>
      </p:pic>
      <p:sp>
        <p:nvSpPr>
          <p:cNvPr id="23" name="Text 16"/>
          <p:cNvSpPr txBox="1"/>
          <p:nvPr/>
        </p:nvSpPr>
        <p:spPr>
          <a:xfrm>
            <a:off x="141732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Recepción y revisión de Informes de avalúos</a:t>
            </a:r>
            <a:endParaRPr lang="es-SV" sz="1150" noProof="0" dirty="0">
              <a:latin typeface="Arial" panose="020B0604020202020204" pitchFamily="34" charset="0"/>
              <a:cs typeface="Arial" panose="020B0604020202020204" pitchFamily="34" charset="0"/>
            </a:endParaRPr>
          </a:p>
        </p:txBody>
      </p:sp>
      <p:sp>
        <p:nvSpPr>
          <p:cNvPr id="24" name="actividad 6"/>
          <p:cNvSpPr/>
          <p:nvPr/>
        </p:nvSpPr>
        <p:spPr>
          <a:xfrm>
            <a:off x="452628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5" name="actividad 6 circle"/>
          <p:cNvSpPr/>
          <p:nvPr/>
        </p:nvSpPr>
        <p:spPr>
          <a:xfrm>
            <a:off x="470916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ctividad 6 icon" descr="preencoded.png"/>
          <p:cNvPicPr>
            <a:picLocks noChangeAspect="1"/>
          </p:cNvPicPr>
          <p:nvPr/>
        </p:nvPicPr>
        <p:blipFill>
          <a:blip r:embed="rId8"/>
          <a:stretch>
            <a:fillRect/>
          </a:stretch>
        </p:blipFill>
        <p:spPr>
          <a:xfrm>
            <a:off x="4829861" y="4098341"/>
            <a:ext cx="307238" cy="307238"/>
          </a:xfrm>
          <a:prstGeom prst="rect">
            <a:avLst/>
          </a:prstGeom>
        </p:spPr>
      </p:pic>
      <p:sp>
        <p:nvSpPr>
          <p:cNvPr id="27" name="Text 19"/>
          <p:cNvSpPr txBox="1"/>
          <p:nvPr/>
        </p:nvSpPr>
        <p:spPr>
          <a:xfrm>
            <a:off x="539496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Pago a Peritos</a:t>
            </a:r>
            <a:endParaRPr lang="es-SV" sz="1150" noProof="0" dirty="0">
              <a:latin typeface="Arial" panose="020B0604020202020204" pitchFamily="34" charset="0"/>
              <a:cs typeface="Arial" panose="020B0604020202020204" pitchFamily="34" charset="0"/>
            </a:endParaRPr>
          </a:p>
        </p:txBody>
      </p:sp>
      <p:sp>
        <p:nvSpPr>
          <p:cNvPr id="28" name="actividad 7"/>
          <p:cNvSpPr/>
          <p:nvPr/>
        </p:nvSpPr>
        <p:spPr>
          <a:xfrm>
            <a:off x="54864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9" name="actividad 7 circle"/>
          <p:cNvSpPr/>
          <p:nvPr/>
        </p:nvSpPr>
        <p:spPr>
          <a:xfrm>
            <a:off x="73152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0" name="actividad 7 icon" descr="preencoded.png"/>
          <p:cNvPicPr>
            <a:picLocks noChangeAspect="1"/>
          </p:cNvPicPr>
          <p:nvPr/>
        </p:nvPicPr>
        <p:blipFill>
          <a:blip r:embed="rId9"/>
          <a:stretch>
            <a:fillRect/>
          </a:stretch>
        </p:blipFill>
        <p:spPr>
          <a:xfrm>
            <a:off x="852221" y="5149901"/>
            <a:ext cx="307238" cy="307238"/>
          </a:xfrm>
          <a:prstGeom prst="rect">
            <a:avLst/>
          </a:prstGeom>
        </p:spPr>
      </p:pic>
      <p:sp>
        <p:nvSpPr>
          <p:cNvPr id="31" name="Text 22"/>
          <p:cNvSpPr txBox="1"/>
          <p:nvPr/>
        </p:nvSpPr>
        <p:spPr>
          <a:xfrm>
            <a:off x="141732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Remisión a custodia de valores de los Informes de avalúos actualizados</a:t>
            </a:r>
            <a:endParaRPr lang="es-SV" sz="1150" noProof="0" dirty="0">
              <a:latin typeface="Arial" panose="020B0604020202020204" pitchFamily="34" charset="0"/>
              <a:cs typeface="Arial" panose="020B0604020202020204" pitchFamily="34" charset="0"/>
            </a:endParaRPr>
          </a:p>
        </p:txBody>
      </p:sp>
      <p:sp>
        <p:nvSpPr>
          <p:cNvPr id="32" name="actividad 8"/>
          <p:cNvSpPr/>
          <p:nvPr/>
        </p:nvSpPr>
        <p:spPr>
          <a:xfrm>
            <a:off x="452628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3" name="actividad 8 circle"/>
          <p:cNvSpPr/>
          <p:nvPr/>
        </p:nvSpPr>
        <p:spPr>
          <a:xfrm>
            <a:off x="470916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4" name="actividad 8 icon" descr="preencoded.png"/>
          <p:cNvPicPr>
            <a:picLocks noChangeAspect="1"/>
          </p:cNvPicPr>
          <p:nvPr/>
        </p:nvPicPr>
        <p:blipFill>
          <a:blip r:embed="rId10"/>
          <a:stretch>
            <a:fillRect/>
          </a:stretch>
        </p:blipFill>
        <p:spPr>
          <a:xfrm>
            <a:off x="4829861" y="5149901"/>
            <a:ext cx="307238" cy="307238"/>
          </a:xfrm>
          <a:prstGeom prst="rect">
            <a:avLst/>
          </a:prstGeom>
        </p:spPr>
      </p:pic>
      <p:sp>
        <p:nvSpPr>
          <p:cNvPr id="35" name="Text 25"/>
          <p:cNvSpPr txBox="1"/>
          <p:nvPr/>
        </p:nvSpPr>
        <p:spPr>
          <a:xfrm>
            <a:off x="539496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Verifica que la información actualizada ingresada por el Analista de Cartera, este correcta</a:t>
            </a:r>
            <a:endParaRPr lang="es-SV" sz="1150" noProof="0" dirty="0">
              <a:latin typeface="Arial" panose="020B0604020202020204" pitchFamily="34" charset="0"/>
              <a:cs typeface="Arial" panose="020B0604020202020204" pitchFamily="34" charset="0"/>
            </a:endParaRPr>
          </a:p>
        </p:txBody>
      </p:sp>
      <p:sp>
        <p:nvSpPr>
          <p:cNvPr id="36" name="riesgos stat"/>
          <p:cNvSpPr/>
          <p:nvPr/>
        </p:nvSpPr>
        <p:spPr>
          <a:xfrm>
            <a:off x="8686800" y="1691640"/>
            <a:ext cx="2926080" cy="4069080"/>
          </a:xfrm>
          <a:prstGeom prst="roundRect">
            <a:avLst>
              <a:gd name="adj" fmla="val 3125"/>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38" name="Text 28"/>
          <p:cNvSpPr txBox="1"/>
          <p:nvPr/>
        </p:nvSpPr>
        <p:spPr>
          <a:xfrm>
            <a:off x="8916619" y="2439619"/>
            <a:ext cx="2423160" cy="914400"/>
          </a:xfrm>
          <a:prstGeom prst="rect">
            <a:avLst/>
          </a:prstGeom>
          <a:noFill/>
          <a:ln/>
        </p:spPr>
        <p:txBody>
          <a:bodyPr wrap="square" lIns="0" tIns="0" rIns="0" bIns="0" rtlCol="0" anchor="t"/>
          <a:lstStyle/>
          <a:p>
            <a:pPr marL="0" indent="0" algn="ctr">
              <a:buNone/>
            </a:pPr>
            <a:r>
              <a:rPr lang="es-SV" b="1" noProof="0" dirty="0">
                <a:solidFill>
                  <a:schemeClr val="bg1"/>
                </a:solidFill>
                <a:latin typeface="Arial" panose="020B0604020202020204" pitchFamily="34" charset="0"/>
                <a:cs typeface="Arial" panose="020B0604020202020204" pitchFamily="34" charset="0"/>
              </a:rPr>
              <a:t>Proceso actual realizado por </a:t>
            </a:r>
            <a:r>
              <a:rPr lang="es-SV" sz="2000" b="1" noProof="0" dirty="0">
                <a:solidFill>
                  <a:schemeClr val="bg1"/>
                </a:solidFill>
                <a:latin typeface="Arial" panose="020B0604020202020204" pitchFamily="34" charset="0"/>
                <a:cs typeface="Arial" panose="020B0604020202020204" pitchFamily="34" charset="0"/>
              </a:rPr>
              <a:t>2</a:t>
            </a:r>
            <a:r>
              <a:rPr lang="es-SV" b="1" noProof="0" dirty="0">
                <a:solidFill>
                  <a:schemeClr val="bg1"/>
                </a:solidFill>
                <a:latin typeface="Arial" panose="020B0604020202020204" pitchFamily="34" charset="0"/>
                <a:cs typeface="Arial" panose="020B0604020202020204" pitchFamily="34" charset="0"/>
              </a:rPr>
              <a:t> Personas</a:t>
            </a:r>
            <a:endParaRPr lang="es-SV" noProof="0" dirty="0">
              <a:latin typeface="Arial" panose="020B0604020202020204" pitchFamily="34" charset="0"/>
              <a:cs typeface="Arial" panose="020B0604020202020204" pitchFamily="34" charset="0"/>
            </a:endParaRPr>
          </a:p>
        </p:txBody>
      </p:sp>
      <p:sp>
        <p:nvSpPr>
          <p:cNvPr id="39" name="Text 29"/>
          <p:cNvSpPr txBox="1"/>
          <p:nvPr/>
        </p:nvSpPr>
        <p:spPr>
          <a:xfrm>
            <a:off x="8961120" y="4052621"/>
            <a:ext cx="2423160" cy="735947"/>
          </a:xfrm>
          <a:prstGeom prst="rect">
            <a:avLst/>
          </a:prstGeom>
          <a:noFill/>
          <a:ln/>
        </p:spPr>
        <p:txBody>
          <a:bodyPr wrap="square" lIns="0" tIns="0" rIns="0" bIns="0" rtlCol="0" anchor="t"/>
          <a:lstStyle/>
          <a:p>
            <a:pPr marL="0" indent="0" algn="ctr">
              <a:buNone/>
            </a:pPr>
            <a:r>
              <a:rPr lang="es-SV" sz="1600" noProof="0" dirty="0">
                <a:solidFill>
                  <a:schemeClr val="accent5"/>
                </a:solidFill>
                <a:latin typeface="Arial" panose="020B0604020202020204" pitchFamily="34" charset="0"/>
                <a:cs typeface="Arial" panose="020B0604020202020204" pitchFamily="34" charset="0"/>
              </a:rPr>
              <a:t>8 actividades críticas y una cartera de 3,500 garantías</a:t>
            </a:r>
            <a:endParaRPr lang="es-SV" sz="1600" noProof="0" dirty="0">
              <a:latin typeface="Arial" panose="020B0604020202020204" pitchFamily="34" charset="0"/>
              <a:cs typeface="Arial" panose="020B0604020202020204" pitchFamily="34" charset="0"/>
            </a:endParaRPr>
          </a:p>
        </p:txBody>
      </p:sp>
      <p:sp>
        <p:nvSpPr>
          <p:cNvPr id="40"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7</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nda lateral" descr="/tmp/claude-0/-home-user-riesgo/74e9c8ad-7a43-5903-a089-2edd8047c387/scratchpad/assets/wave_side.png"/>
          <p:cNvPicPr>
            <a:picLocks noChangeAspect="1"/>
          </p:cNvPicPr>
          <p:nvPr/>
        </p:nvPicPr>
        <p:blipFill>
          <a:blip r:embed="rId3"/>
          <a:stretch>
            <a:fillRect/>
          </a:stretch>
        </p:blipFill>
        <p:spPr>
          <a:xfrm>
            <a:off x="8065008" y="0"/>
            <a:ext cx="4123944" cy="6858000"/>
          </a:xfrm>
          <a:prstGeom prst="rect">
            <a:avLst/>
          </a:prstGeom>
        </p:spPr>
      </p:pic>
      <p:sp>
        <p:nvSpPr>
          <p:cNvPr id="3" name="marca titulo"/>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4" name="Text 1"/>
          <p:cNvSpPr txBox="1"/>
          <p:nvPr/>
        </p:nvSpPr>
        <p:spPr>
          <a:xfrm>
            <a:off x="777240" y="425196"/>
            <a:ext cx="5623560" cy="612648"/>
          </a:xfrm>
          <a:prstGeom prst="rect">
            <a:avLst/>
          </a:prstGeom>
          <a:noFill/>
          <a:ln/>
        </p:spPr>
        <p:txBody>
          <a:bodyPr wrap="square" lIns="0" tIns="0" rIns="0" bIns="0" rtlCol="0" anchor="ctr"/>
          <a:lstStyle/>
          <a:p>
            <a:pPr marL="0" indent="0">
              <a:buNone/>
            </a:pPr>
            <a:r>
              <a:rPr lang="es-SV" sz="2400" b="1" noProof="0" dirty="0">
                <a:solidFill>
                  <a:schemeClr val="tx2"/>
                </a:solidFill>
                <a:latin typeface="Arial" panose="020B0604020202020204" pitchFamily="34" charset="0"/>
                <a:cs typeface="Arial" panose="020B0604020202020204" pitchFamily="34" charset="0"/>
              </a:rPr>
              <a:t>60 AVALÚOS ACTUALIZADOS AL MES</a:t>
            </a:r>
            <a:endParaRPr lang="es-SV" sz="2400" noProof="0" dirty="0">
              <a:latin typeface="Arial" panose="020B0604020202020204" pitchFamily="34" charset="0"/>
              <a:cs typeface="Arial" panose="020B0604020202020204" pitchFamily="34" charset="0"/>
            </a:endParaRPr>
          </a:p>
        </p:txBody>
      </p:sp>
      <p:sp>
        <p:nvSpPr>
          <p:cNvPr id="5" name="stat 1"/>
          <p:cNvSpPr/>
          <p:nvPr/>
        </p:nvSpPr>
        <p:spPr>
          <a:xfrm>
            <a:off x="548640" y="1371600"/>
            <a:ext cx="7132320" cy="1280160"/>
          </a:xfrm>
          <a:prstGeom prst="roundRect">
            <a:avLst>
              <a:gd name="adj" fmla="val 7143"/>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6" name="stat 1 circle"/>
          <p:cNvSpPr/>
          <p:nvPr/>
        </p:nvSpPr>
        <p:spPr>
          <a:xfrm>
            <a:off x="822960" y="1645920"/>
            <a:ext cx="731520" cy="731520"/>
          </a:xfrm>
          <a:prstGeom prst="ellipse">
            <a:avLst/>
          </a:prstGeom>
          <a:solidFill>
            <a:srgbClr val="9CC3F0"/>
          </a:solidFill>
          <a:ln w="12700">
            <a:solidFill>
              <a:srgbClr val="9CC3F0"/>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stat 1 icon" descr="preencoded.png"/>
          <p:cNvPicPr>
            <a:picLocks noChangeAspect="1"/>
          </p:cNvPicPr>
          <p:nvPr/>
        </p:nvPicPr>
        <p:blipFill>
          <a:blip r:embed="rId4"/>
          <a:stretch>
            <a:fillRect/>
          </a:stretch>
        </p:blipFill>
        <p:spPr>
          <a:xfrm>
            <a:off x="983894" y="1806854"/>
            <a:ext cx="409651" cy="409651"/>
          </a:xfrm>
          <a:prstGeom prst="rect">
            <a:avLst/>
          </a:prstGeom>
        </p:spPr>
      </p:pic>
      <p:sp>
        <p:nvSpPr>
          <p:cNvPr id="8" name="Text 4"/>
          <p:cNvSpPr txBox="1"/>
          <p:nvPr/>
        </p:nvSpPr>
        <p:spPr>
          <a:xfrm>
            <a:off x="1783080" y="1371600"/>
            <a:ext cx="2286000" cy="1280160"/>
          </a:xfrm>
          <a:prstGeom prst="rect">
            <a:avLst/>
          </a:prstGeom>
          <a:noFill/>
          <a:ln/>
        </p:spPr>
        <p:txBody>
          <a:bodyPr wrap="square" lIns="0" tIns="0" rIns="0" bIns="0" rtlCol="0" anchor="ctr"/>
          <a:lstStyle/>
          <a:p>
            <a:pPr marL="0" indent="0">
              <a:buNone/>
            </a:pPr>
            <a:r>
              <a:rPr lang="es-SV" sz="4400" b="1" noProof="0" dirty="0">
                <a:solidFill>
                  <a:schemeClr val="bg1"/>
                </a:solidFill>
                <a:latin typeface="Arial" panose="020B0604020202020204" pitchFamily="34" charset="0"/>
                <a:cs typeface="Arial" panose="020B0604020202020204" pitchFamily="34" charset="0"/>
              </a:rPr>
              <a:t>60</a:t>
            </a:r>
            <a:endParaRPr lang="es-SV" sz="4400" noProof="0" dirty="0">
              <a:solidFill>
                <a:schemeClr val="bg1"/>
              </a:solidFill>
              <a:latin typeface="Arial" panose="020B0604020202020204" pitchFamily="34" charset="0"/>
              <a:cs typeface="Arial" panose="020B0604020202020204" pitchFamily="34" charset="0"/>
            </a:endParaRPr>
          </a:p>
        </p:txBody>
      </p:sp>
      <p:sp>
        <p:nvSpPr>
          <p:cNvPr id="9" name="Text 5"/>
          <p:cNvSpPr txBox="1"/>
          <p:nvPr/>
        </p:nvSpPr>
        <p:spPr>
          <a:xfrm>
            <a:off x="4114800" y="1371600"/>
            <a:ext cx="3429000" cy="1280160"/>
          </a:xfrm>
          <a:prstGeom prst="rect">
            <a:avLst/>
          </a:prstGeom>
          <a:noFill/>
          <a:ln/>
        </p:spPr>
        <p:txBody>
          <a:bodyPr wrap="square" lIns="0" tIns="0" rIns="0" bIns="0" rtlCol="0" anchor="ctr"/>
          <a:lstStyle/>
          <a:p>
            <a:pPr marL="0" indent="0">
              <a:buNone/>
            </a:pPr>
            <a:r>
              <a:rPr lang="es-SV" sz="1600" b="1" noProof="0" dirty="0">
                <a:solidFill>
                  <a:srgbClr val="FFFFFF"/>
                </a:solidFill>
                <a:latin typeface="Arial" panose="020B0604020202020204" pitchFamily="34" charset="0"/>
                <a:cs typeface="Arial" panose="020B0604020202020204" pitchFamily="34" charset="0"/>
              </a:rPr>
              <a:t>Promedio mensual de actualización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avalúos actualizados cada mes</a:t>
            </a:r>
            <a:endParaRPr lang="es-SV" sz="1600" noProof="0" dirty="0">
              <a:latin typeface="Arial" panose="020B0604020202020204" pitchFamily="34" charset="0"/>
              <a:cs typeface="Arial" panose="020B0604020202020204" pitchFamily="34" charset="0"/>
            </a:endParaRPr>
          </a:p>
        </p:txBody>
      </p:sp>
      <p:sp>
        <p:nvSpPr>
          <p:cNvPr id="10" name="stat 2"/>
          <p:cNvSpPr/>
          <p:nvPr/>
        </p:nvSpPr>
        <p:spPr>
          <a:xfrm>
            <a:off x="548640" y="283464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1" name="stat 2 circle"/>
          <p:cNvSpPr/>
          <p:nvPr/>
        </p:nvSpPr>
        <p:spPr>
          <a:xfrm>
            <a:off x="822960" y="310896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stat 2 icon" descr="preencoded.png"/>
          <p:cNvPicPr>
            <a:picLocks noChangeAspect="1"/>
          </p:cNvPicPr>
          <p:nvPr/>
        </p:nvPicPr>
        <p:blipFill>
          <a:blip r:embed="rId5"/>
          <a:stretch>
            <a:fillRect/>
          </a:stretch>
        </p:blipFill>
        <p:spPr>
          <a:xfrm>
            <a:off x="983894" y="3269894"/>
            <a:ext cx="409651" cy="409651"/>
          </a:xfrm>
          <a:prstGeom prst="rect">
            <a:avLst/>
          </a:prstGeom>
        </p:spPr>
      </p:pic>
      <p:sp>
        <p:nvSpPr>
          <p:cNvPr id="13" name="Text 8"/>
          <p:cNvSpPr txBox="1"/>
          <p:nvPr/>
        </p:nvSpPr>
        <p:spPr>
          <a:xfrm>
            <a:off x="1783080" y="283464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3,500</a:t>
            </a:r>
            <a:endParaRPr lang="es-SV" sz="4400" noProof="0" dirty="0">
              <a:latin typeface="Arial" panose="020B0604020202020204" pitchFamily="34" charset="0"/>
              <a:cs typeface="Arial" panose="020B0604020202020204" pitchFamily="34" charset="0"/>
            </a:endParaRPr>
          </a:p>
        </p:txBody>
      </p:sp>
      <p:sp>
        <p:nvSpPr>
          <p:cNvPr id="14" name="Text 9"/>
          <p:cNvSpPr txBox="1"/>
          <p:nvPr/>
        </p:nvSpPr>
        <p:spPr>
          <a:xfrm>
            <a:off x="4114800" y="283464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Garantías a gestionar</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cartera bajo actualización y monitoreo</a:t>
            </a:r>
            <a:endParaRPr lang="es-SV" sz="1600" noProof="0" dirty="0">
              <a:latin typeface="Arial" panose="020B0604020202020204" pitchFamily="34" charset="0"/>
              <a:cs typeface="Arial" panose="020B0604020202020204" pitchFamily="34" charset="0"/>
            </a:endParaRPr>
          </a:p>
        </p:txBody>
      </p:sp>
      <p:sp>
        <p:nvSpPr>
          <p:cNvPr id="15" name="stat 3"/>
          <p:cNvSpPr/>
          <p:nvPr/>
        </p:nvSpPr>
        <p:spPr>
          <a:xfrm>
            <a:off x="548640" y="429768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stat 3 circle"/>
          <p:cNvSpPr/>
          <p:nvPr/>
        </p:nvSpPr>
        <p:spPr>
          <a:xfrm>
            <a:off x="822960" y="457200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7" name="stat 3 icon" descr="preencoded.png"/>
          <p:cNvPicPr>
            <a:picLocks noChangeAspect="1"/>
          </p:cNvPicPr>
          <p:nvPr/>
        </p:nvPicPr>
        <p:blipFill>
          <a:blip r:embed="rId6"/>
          <a:stretch>
            <a:fillRect/>
          </a:stretch>
        </p:blipFill>
        <p:spPr>
          <a:xfrm>
            <a:off x="983894" y="4732934"/>
            <a:ext cx="409651" cy="409651"/>
          </a:xfrm>
          <a:prstGeom prst="rect">
            <a:avLst/>
          </a:prstGeom>
        </p:spPr>
      </p:pic>
      <p:sp>
        <p:nvSpPr>
          <p:cNvPr id="18" name="Text 12"/>
          <p:cNvSpPr txBox="1"/>
          <p:nvPr/>
        </p:nvSpPr>
        <p:spPr>
          <a:xfrm>
            <a:off x="1783080" y="429768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2</a:t>
            </a:r>
            <a:endParaRPr lang="es-SV" sz="4400" noProof="0" dirty="0">
              <a:latin typeface="Arial" panose="020B0604020202020204" pitchFamily="34" charset="0"/>
              <a:cs typeface="Arial" panose="020B0604020202020204" pitchFamily="34" charset="0"/>
            </a:endParaRPr>
          </a:p>
        </p:txBody>
      </p:sp>
      <p:sp>
        <p:nvSpPr>
          <p:cNvPr id="19" name="Text 13"/>
          <p:cNvSpPr txBox="1"/>
          <p:nvPr/>
        </p:nvSpPr>
        <p:spPr>
          <a:xfrm>
            <a:off x="4114800" y="429768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Personas responsables</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Departamento de Administración de Riesgos</a:t>
            </a:r>
            <a:endParaRPr lang="es-SV" sz="1600" noProof="0" dirty="0">
              <a:latin typeface="Arial" panose="020B0604020202020204" pitchFamily="34" charset="0"/>
              <a:cs typeface="Arial" panose="020B0604020202020204" pitchFamily="34" charset="0"/>
            </a:endParaRPr>
          </a:p>
        </p:txBody>
      </p:sp>
      <p:pic>
        <p:nvPicPr>
          <p:cNvPr id="21" name="logo" descr="/tmp/claude-0/-home-user-riesgo/74e9c8ad-7a43-5903-a089-2edd8047c387/scratchpad/assets/logo_white.png"/>
          <p:cNvPicPr>
            <a:picLocks noChangeAspect="1"/>
          </p:cNvPicPr>
          <p:nvPr/>
        </p:nvPicPr>
        <p:blipFill>
          <a:blip r:embed="rId7"/>
          <a:stretch>
            <a:fillRect/>
          </a:stretch>
        </p:blipFill>
        <p:spPr>
          <a:xfrm>
            <a:off x="10460736" y="5449824"/>
            <a:ext cx="1399032" cy="9418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318 EXPEDIENTES HIPOTECARIOS INGRESADOS (ENE–SEP.)</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4881613" cy="210312"/>
          </a:xfrm>
          <a:prstGeom prst="rect">
            <a:avLst/>
          </a:prstGeom>
          <a:noFill/>
          <a:ln/>
        </p:spPr>
        <p:txBody>
          <a:bodyPr wrap="square" lIns="0" tIns="0" rIns="0" bIns="0" rtlCol="0" anchor="t"/>
          <a:lstStyle/>
          <a:p>
            <a:pPr marL="0" indent="0">
              <a:buNone/>
            </a:pPr>
            <a:r>
              <a:rPr lang="es-SV" sz="1300" i="1" noProof="0" dirty="0">
                <a:solidFill>
                  <a:schemeClr val="tx1"/>
                </a:solidFill>
                <a:latin typeface="Arial" panose="020B0604020202020204" pitchFamily="34" charset="0"/>
                <a:cs typeface="Arial" panose="020B0604020202020204" pitchFamily="34" charset="0"/>
              </a:rPr>
              <a:t>Este es el numero de expediente ingresados al Depto de Créditos</a:t>
            </a:r>
            <a:endParaRPr lang="es-SV" sz="1300" noProof="0" dirty="0">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1651101743"/>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otal stat"/>
          <p:cNvSpPr/>
          <p:nvPr/>
        </p:nvSpPr>
        <p:spPr>
          <a:xfrm>
            <a:off x="8869680" y="1874520"/>
            <a:ext cx="2743200" cy="2880360"/>
          </a:xfrm>
          <a:prstGeom prst="roundRect">
            <a:avLst>
              <a:gd name="adj" fmla="val 333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9651732" y="2103120"/>
            <a:ext cx="1224815" cy="752375"/>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318</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075420" y="3228474"/>
            <a:ext cx="2377440" cy="36576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Total general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49179"/>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 35 expedientes por mes en promedio</a:t>
            </a:r>
          </a:p>
        </p:txBody>
      </p:sp>
      <p:graphicFrame>
        <p:nvGraphicFramePr>
          <p:cNvPr id="9" name="Table 0"/>
          <p:cNvGraphicFramePr>
            <a:graphicFrameLocks noGrp="1"/>
          </p:cNvGraphicFramePr>
          <p:nvPr>
            <p:extLst>
              <p:ext uri="{D42A27DB-BD31-4B8C-83A1-F6EECF244321}">
                <p14:modId xmlns:p14="http://schemas.microsoft.com/office/powerpoint/2010/main" val="109908899"/>
              </p:ext>
            </p:extLst>
          </p:nvPr>
        </p:nvGraphicFramePr>
        <p:xfrm>
          <a:off x="548640" y="5029200"/>
          <a:ext cx="11064240" cy="731520"/>
        </p:xfrm>
        <a:graphic>
          <a:graphicData uri="http://schemas.openxmlformats.org/drawingml/2006/table">
            <a:tbl>
              <a:tblPr/>
              <a:tblGrid>
                <a:gridCol w="17373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868680">
                  <a:extLst>
                    <a:ext uri="{9D8B030D-6E8A-4147-A177-3AD203B41FA5}">
                      <a16:colId xmlns:a16="http://schemas.microsoft.com/office/drawing/2014/main" val="20008"/>
                    </a:ext>
                  </a:extLst>
                </a:gridCol>
                <a:gridCol w="868680">
                  <a:extLst>
                    <a:ext uri="{9D8B030D-6E8A-4147-A177-3AD203B41FA5}">
                      <a16:colId xmlns:a16="http://schemas.microsoft.com/office/drawing/2014/main" val="20009"/>
                    </a:ext>
                  </a:extLst>
                </a:gridCol>
                <a:gridCol w="1508760">
                  <a:extLst>
                    <a:ext uri="{9D8B030D-6E8A-4147-A177-3AD203B41FA5}">
                      <a16:colId xmlns:a16="http://schemas.microsoft.com/office/drawing/2014/main" val="20010"/>
                    </a:ext>
                  </a:extLst>
                </a:gridCol>
              </a:tblGrid>
              <a:tr h="365760">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Producto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ene</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feb</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mar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abr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may</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jun</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ago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sep</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Total general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100" b="1" noProof="0" dirty="0">
                          <a:solidFill>
                            <a:srgbClr val="1E2A3A"/>
                          </a:solidFill>
                          <a:latin typeface="Century Gothic" pitchFamily="34" charset="0"/>
                          <a:ea typeface="Century Gothic" pitchFamily="34" charset="-122"/>
                          <a:cs typeface="Century Gothic" pitchFamily="34" charset="-120"/>
                        </a:rPr>
                        <a:t>HIPOTECARIO</a:t>
                      </a:r>
                      <a:endParaRPr lang="es-SV" sz="1100" noProof="0" dirty="0">
                        <a:latin typeface="Century Gothic" charset="0"/>
                        <a:ea typeface="Century Gothic" charset="0"/>
                        <a:cs typeface="Century Gothic"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22</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46</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30</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41</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35</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44</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33</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39</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b="1" noProof="0" dirty="0">
                          <a:solidFill>
                            <a:srgbClr val="1E2A3A"/>
                          </a:solidFill>
                          <a:latin typeface="Arial" panose="020B0604020202020204" pitchFamily="34" charset="0"/>
                          <a:ea typeface="Century Gothic" pitchFamily="34" charset="-122"/>
                          <a:cs typeface="Arial" panose="020B0604020202020204" pitchFamily="34" charset="0"/>
                        </a:rPr>
                        <a:t>318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9</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883158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5 EXPEDIENTES AL MES, EN PROMEDIO, NO SE TRAMITAN</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7600749" cy="303196"/>
          </a:xfrm>
          <a:prstGeom prst="rect">
            <a:avLst/>
          </a:prstGeom>
          <a:noFill/>
          <a:ln/>
        </p:spPr>
        <p:txBody>
          <a:bodyPr wrap="square" lIns="0" tIns="0" rIns="0" bIns="0" rtlCol="0" anchor="t"/>
          <a:lstStyle/>
          <a:p>
            <a:pPr marL="0" indent="0">
              <a:buNone/>
            </a:pPr>
            <a:r>
              <a:rPr lang="es-SV" sz="1300" i="1" noProof="0" dirty="0">
                <a:solidFill>
                  <a:srgbClr val="002060"/>
                </a:solidFill>
                <a:latin typeface="Arial" panose="020B0604020202020204" pitchFamily="34" charset="0"/>
                <a:cs typeface="Arial" panose="020B0604020202020204" pitchFamily="34" charset="0"/>
              </a:rPr>
              <a:t>El promedio de casos que no se tramitan es de 5 expedientes más o menos, entre los 3 peritos.</a:t>
            </a:r>
            <a:endParaRPr lang="es-SV" sz="1300" noProof="0" dirty="0">
              <a:solidFill>
                <a:srgbClr val="002060"/>
              </a:solidFill>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2028139449"/>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prom stat"/>
          <p:cNvSpPr/>
          <p:nvPr/>
        </p:nvSpPr>
        <p:spPr>
          <a:xfrm>
            <a:off x="8869680" y="1874520"/>
            <a:ext cx="2743200" cy="2880360"/>
          </a:xfrm>
          <a:prstGeom prst="roundRect">
            <a:avLst>
              <a:gd name="adj" fmla="val 3333"/>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10063613" y="2134081"/>
            <a:ext cx="446773" cy="760396"/>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5</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395059" y="3212432"/>
            <a:ext cx="1890562" cy="22860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Promedio mensual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33137"/>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Septiembre alcanzó 9 casos, el valor más alto del período</a:t>
            </a:r>
          </a:p>
        </p:txBody>
      </p:sp>
      <p:graphicFrame>
        <p:nvGraphicFramePr>
          <p:cNvPr id="10" name="Table 0"/>
          <p:cNvGraphicFramePr>
            <a:graphicFrameLocks noGrp="1"/>
          </p:cNvGraphicFramePr>
          <p:nvPr>
            <p:extLst>
              <p:ext uri="{D42A27DB-BD31-4B8C-83A1-F6EECF244321}">
                <p14:modId xmlns:p14="http://schemas.microsoft.com/office/powerpoint/2010/main" val="1470214290"/>
              </p:ext>
            </p:extLst>
          </p:nvPr>
        </p:nvGraphicFramePr>
        <p:xfrm>
          <a:off x="548640" y="5029200"/>
          <a:ext cx="10149840" cy="731520"/>
        </p:xfrm>
        <a:graphic>
          <a:graphicData uri="http://schemas.openxmlformats.org/drawingml/2006/table">
            <a:tbl>
              <a:tblPr/>
              <a:tblGrid>
                <a:gridCol w="7772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1005840">
                  <a:extLst>
                    <a:ext uri="{9D8B030D-6E8A-4147-A177-3AD203B41FA5}">
                      <a16:colId xmlns:a16="http://schemas.microsoft.com/office/drawing/2014/main" val="20008"/>
                    </a:ext>
                  </a:extLst>
                </a:gridCol>
                <a:gridCol w="1371600">
                  <a:extLst>
                    <a:ext uri="{9D8B030D-6E8A-4147-A177-3AD203B41FA5}">
                      <a16:colId xmlns:a16="http://schemas.microsoft.com/office/drawing/2014/main" val="20009"/>
                    </a:ext>
                  </a:extLst>
                </a:gridCol>
                <a:gridCol w="777240">
                  <a:extLst>
                    <a:ext uri="{9D8B030D-6E8A-4147-A177-3AD203B41FA5}">
                      <a16:colId xmlns:a16="http://schemas.microsoft.com/office/drawing/2014/main" val="20010"/>
                    </a:ext>
                  </a:extLst>
                </a:gridCol>
              </a:tblGrid>
              <a:tr h="365760">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MES</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ENERO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FEBRERO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MARZO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ABRIL</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MAYO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JUNIO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JULIO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AGOSTO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SEPTIEMBRE</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7</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6</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9</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10</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69392"/>
            <a:ext cx="928878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RIESGO IDENTIFICADO EN LA GESTIÓN ACTUAL DE AVALÚOS</a:t>
            </a:r>
            <a:endParaRPr lang="es-SV" sz="2400" noProof="0" dirty="0">
              <a:latin typeface="Arial" panose="020B0604020202020204" pitchFamily="34" charset="0"/>
              <a:cs typeface="Arial" panose="020B0604020202020204" pitchFamily="34" charset="0"/>
            </a:endParaRPr>
          </a:p>
        </p:txBody>
      </p:sp>
      <p:sp>
        <p:nvSpPr>
          <p:cNvPr id="3" name="riesgo alto"/>
          <p:cNvSpPr/>
          <p:nvPr/>
        </p:nvSpPr>
        <p:spPr>
          <a:xfrm>
            <a:off x="548640" y="1371600"/>
            <a:ext cx="11064240" cy="2148840"/>
          </a:xfrm>
          <a:prstGeom prst="roundRect">
            <a:avLst>
              <a:gd name="adj" fmla="val 4255"/>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pic>
        <p:nvPicPr>
          <p:cNvPr id="4" name="riesgo icon" descr="preencoded.png"/>
          <p:cNvPicPr>
            <a:picLocks noChangeAspect="1"/>
          </p:cNvPicPr>
          <p:nvPr/>
        </p:nvPicPr>
        <p:blipFill>
          <a:blip r:embed="rId3"/>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marL="0" indent="0">
              <a:buNone/>
            </a:pPr>
            <a:r>
              <a:rPr lang="es-SV" sz="2400" b="1" noProof="0" dirty="0">
                <a:solidFill>
                  <a:schemeClr val="bg1"/>
                </a:solidFill>
                <a:latin typeface="Arial" panose="020B0604020202020204" pitchFamily="34" charset="0"/>
                <a:cs typeface="Arial" panose="020B0604020202020204" pitchFamily="34" charset="0"/>
              </a:rPr>
              <a:t>Riesgo Alto</a:t>
            </a:r>
            <a:endParaRPr lang="es-SV" sz="2400" noProof="0" dirty="0">
              <a:latin typeface="Arial" panose="020B0604020202020204" pitchFamily="34" charset="0"/>
              <a:cs typeface="Arial" panose="020B0604020202020204" pitchFamily="34" charset="0"/>
            </a:endParaRPr>
          </a:p>
        </p:txBody>
      </p:sp>
      <p:sp>
        <p:nvSpPr>
          <p:cNvPr id="6" name="Text 3"/>
          <p:cNvSpPr txBox="1"/>
          <p:nvPr/>
        </p:nvSpPr>
        <p:spPr>
          <a:xfrm>
            <a:off x="2560320" y="2194560"/>
            <a:ext cx="8778240" cy="1234440"/>
          </a:xfrm>
          <a:prstGeom prst="rect">
            <a:avLst/>
          </a:prstGeom>
          <a:noFill/>
          <a:ln/>
        </p:spPr>
        <p:txBody>
          <a:bodyPr wrap="square" lIns="0" tIns="0" rIns="0" bIns="0" rtlCol="0" anchor="t"/>
          <a:lstStyle/>
          <a:p>
            <a:pPr marL="0" indent="0">
              <a:buNone/>
            </a:pPr>
            <a:r>
              <a:rPr lang="es-SV" sz="1500" noProof="0" dirty="0">
                <a:solidFill>
                  <a:schemeClr val="bg1"/>
                </a:solidFill>
                <a:latin typeface="Arial" panose="020B0604020202020204" pitchFamily="34" charset="0"/>
                <a:cs typeface="Arial" panose="020B0604020202020204" pitchFamily="34" charset="0"/>
              </a:rPr>
              <a:t>Con la administración actual, no existe un área de control centralizada, que garantice el cumplimiento normativo del Informes de Avalúos, seguimiento, Monitoreo de calidad de información de la garantía.</a:t>
            </a:r>
            <a:endParaRPr lang="es-SV" sz="1500" noProof="0" dirty="0">
              <a:latin typeface="Arial" panose="020B0604020202020204" pitchFamily="34" charset="0"/>
              <a:cs typeface="Arial" panose="020B0604020202020204" pitchFamily="34" charset="0"/>
            </a:endParaRPr>
          </a:p>
        </p:txBody>
      </p:sp>
      <p:sp>
        <p:nvSpPr>
          <p:cNvPr id="7" name="riesgo card 1"/>
          <p:cNvSpPr/>
          <p:nvPr/>
        </p:nvSpPr>
        <p:spPr>
          <a:xfrm>
            <a:off x="54864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riesgo 1 circle"/>
          <p:cNvSpPr/>
          <p:nvPr/>
        </p:nvSpPr>
        <p:spPr>
          <a:xfrm>
            <a:off x="91440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9" name="riesgo 1 icon" descr="preencoded.png"/>
          <p:cNvPicPr>
            <a:picLocks noChangeAspect="1"/>
          </p:cNvPicPr>
          <p:nvPr/>
        </p:nvPicPr>
        <p:blipFill>
          <a:blip r:embed="rId4"/>
          <a:stretch>
            <a:fillRect/>
          </a:stretch>
        </p:blipFill>
        <p:spPr>
          <a:xfrm>
            <a:off x="1115568" y="4544568"/>
            <a:ext cx="512064" cy="512064"/>
          </a:xfrm>
          <a:prstGeom prst="rect">
            <a:avLst/>
          </a:prstGeom>
        </p:spPr>
      </p:pic>
      <p:sp>
        <p:nvSpPr>
          <p:cNvPr id="10" name="Text 6"/>
          <p:cNvSpPr txBox="1"/>
          <p:nvPr/>
        </p:nvSpPr>
        <p:spPr>
          <a:xfrm>
            <a:off x="210312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Observaciones reiterativas por parte de la SSF</a:t>
            </a:r>
            <a:endParaRPr lang="es-SV" sz="1600" noProof="0" dirty="0">
              <a:latin typeface="Arial" panose="020B0604020202020204" pitchFamily="34" charset="0"/>
              <a:cs typeface="Arial" panose="020B0604020202020204" pitchFamily="34" charset="0"/>
            </a:endParaRPr>
          </a:p>
        </p:txBody>
      </p:sp>
      <p:sp>
        <p:nvSpPr>
          <p:cNvPr id="11" name="riesgo card 2"/>
          <p:cNvSpPr/>
          <p:nvPr/>
        </p:nvSpPr>
        <p:spPr>
          <a:xfrm>
            <a:off x="621792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riesgo 2 circle"/>
          <p:cNvSpPr/>
          <p:nvPr/>
        </p:nvSpPr>
        <p:spPr>
          <a:xfrm>
            <a:off x="658368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riesgo 2 icon" descr="preencoded.png"/>
          <p:cNvPicPr>
            <a:picLocks noChangeAspect="1"/>
          </p:cNvPicPr>
          <p:nvPr/>
        </p:nvPicPr>
        <p:blipFill>
          <a:blip r:embed="rId5"/>
          <a:stretch>
            <a:fillRect/>
          </a:stretch>
        </p:blipFill>
        <p:spPr>
          <a:xfrm>
            <a:off x="6784848" y="4544568"/>
            <a:ext cx="512064" cy="512064"/>
          </a:xfrm>
          <a:prstGeom prst="rect">
            <a:avLst/>
          </a:prstGeom>
        </p:spPr>
      </p:pic>
      <p:sp>
        <p:nvSpPr>
          <p:cNvPr id="14" name="Text 9"/>
          <p:cNvSpPr txBox="1"/>
          <p:nvPr/>
        </p:nvSpPr>
        <p:spPr>
          <a:xfrm>
            <a:off x="777240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Falta de Políticas y Procedimientos internos que establezcan los lineamentos de cumplimiento</a:t>
            </a:r>
            <a:endParaRPr lang="es-SV" sz="16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11</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1371600" y="1554480"/>
            <a:ext cx="3200400" cy="960120"/>
          </a:xfrm>
          <a:prstGeom prst="rect">
            <a:avLst/>
          </a:prstGeom>
          <a:noFill/>
          <a:ln/>
        </p:spPr>
        <p:txBody>
          <a:bodyPr wrap="square" lIns="0" tIns="0" rIns="0" bIns="0" rtlCol="0" anchor="ctr"/>
          <a:lstStyle/>
          <a:p>
            <a:pPr marL="0" indent="0" algn="l">
              <a:buNone/>
            </a:pPr>
            <a:r>
              <a:rPr lang="es-SV" sz="4000" b="1" noProof="0" dirty="0">
                <a:solidFill>
                  <a:schemeClr val="bg1"/>
                </a:solidFill>
                <a:latin typeface="Arial" panose="020B0604020202020204" pitchFamily="34" charset="0"/>
                <a:cs typeface="Arial" panose="020B0604020202020204" pitchFamily="34" charset="0"/>
              </a:rPr>
              <a:t>PROPUESTA</a:t>
            </a:r>
            <a:endParaRPr lang="es-SV" sz="4000" noProof="0" dirty="0">
              <a:latin typeface="Arial" panose="020B0604020202020204" pitchFamily="34" charset="0"/>
              <a:cs typeface="Arial" panose="020B0604020202020204" pitchFamily="34" charset="0"/>
            </a:endParaRPr>
          </a:p>
        </p:txBody>
      </p:sp>
      <p:sp>
        <p:nvSpPr>
          <p:cNvPr id="3" name="Text 1"/>
          <p:cNvSpPr>
            <a:spLocks noGrp="1"/>
          </p:cNvSpPr>
          <p:nvPr>
            <p:ph type="body" idx="103" hasCustomPrompt="1"/>
          </p:nvPr>
        </p:nvSpPr>
        <p:spPr>
          <a:xfrm>
            <a:off x="1371600" y="2606040"/>
            <a:ext cx="4480560" cy="822960"/>
          </a:xfrm>
          <a:prstGeom prst="rect">
            <a:avLst/>
          </a:prstGeom>
          <a:noFill/>
          <a:ln/>
        </p:spPr>
        <p:txBody>
          <a:bodyPr wrap="square" lIns="0" tIns="0" rIns="0" bIns="0" rtlCol="0" anchor="t"/>
          <a:lstStyle/>
          <a:p>
            <a:pPr marL="0" indent="0">
              <a:buNone/>
            </a:pPr>
            <a:r>
              <a:rPr lang="es-SV" sz="1600" noProof="0" dirty="0">
                <a:solidFill>
                  <a:schemeClr val="bg1"/>
                </a:solidFill>
                <a:latin typeface="Arial" panose="020B0604020202020204" pitchFamily="34" charset="0"/>
                <a:cs typeface="Arial" panose="020B0604020202020204" pitchFamily="34" charset="0"/>
              </a:rPr>
              <a:t>Con el objetivo de mitigar el riesgo identificado en las gestiones de Avalúos, se solicita al Comité de Riesgo evaluar y autorizar lo siguiente:</a:t>
            </a:r>
            <a:endParaRPr lang="es-SV" sz="1600" noProof="0" dirty="0">
              <a:latin typeface="Arial" panose="020B0604020202020204" pitchFamily="34" charset="0"/>
              <a:cs typeface="Arial" panose="020B0604020202020204" pitchFamily="34" charset="0"/>
            </a:endParaRPr>
          </a:p>
        </p:txBody>
      </p:sp>
      <p:sp>
        <p:nvSpPr>
          <p:cNvPr id="4" name="propuesta 1"/>
          <p:cNvSpPr/>
          <p:nvPr/>
        </p:nvSpPr>
        <p:spPr>
          <a:xfrm>
            <a:off x="7589520" y="3703320"/>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7772400" y="3703320"/>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1</a:t>
            </a:r>
            <a:endParaRPr lang="es-SV" sz="2200" noProof="0" dirty="0">
              <a:latin typeface="Arial" panose="020B0604020202020204" pitchFamily="34" charset="0"/>
              <a:cs typeface="Arial" panose="020B0604020202020204" pitchFamily="34" charset="0"/>
            </a:endParaRPr>
          </a:p>
        </p:txBody>
      </p:sp>
      <p:sp>
        <p:nvSpPr>
          <p:cNvPr id="6" name="Text 4"/>
          <p:cNvSpPr txBox="1"/>
          <p:nvPr/>
        </p:nvSpPr>
        <p:spPr>
          <a:xfrm>
            <a:off x="8229600" y="3703320"/>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Política Administración de Avalúos</a:t>
            </a:r>
            <a:endParaRPr lang="es-SV" sz="1300" noProof="0" dirty="0">
              <a:latin typeface="Arial" panose="020B0604020202020204" pitchFamily="34" charset="0"/>
              <a:cs typeface="Arial" panose="020B0604020202020204" pitchFamily="34" charset="0"/>
            </a:endParaRPr>
          </a:p>
        </p:txBody>
      </p:sp>
      <p:sp>
        <p:nvSpPr>
          <p:cNvPr id="7" name="propuesta 2"/>
          <p:cNvSpPr/>
          <p:nvPr/>
        </p:nvSpPr>
        <p:spPr>
          <a:xfrm>
            <a:off x="7589520" y="4416552"/>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Text 6"/>
          <p:cNvSpPr txBox="1"/>
          <p:nvPr/>
        </p:nvSpPr>
        <p:spPr>
          <a:xfrm>
            <a:off x="7772400" y="4416552"/>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2</a:t>
            </a:r>
            <a:endParaRPr lang="es-SV" sz="2200" noProof="0" dirty="0">
              <a:latin typeface="Arial" panose="020B0604020202020204" pitchFamily="34" charset="0"/>
              <a:cs typeface="Arial" panose="020B0604020202020204" pitchFamily="34" charset="0"/>
            </a:endParaRPr>
          </a:p>
        </p:txBody>
      </p:sp>
      <p:sp>
        <p:nvSpPr>
          <p:cNvPr id="9" name="Text 7"/>
          <p:cNvSpPr txBox="1"/>
          <p:nvPr/>
        </p:nvSpPr>
        <p:spPr>
          <a:xfrm>
            <a:off x="8229600" y="4416552"/>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Contratar un Revisor (NRP-27 art. 40)</a:t>
            </a:r>
            <a:endParaRPr lang="es-SV" sz="1300" noProof="0" dirty="0">
              <a:latin typeface="Arial" panose="020B0604020202020204" pitchFamily="34" charset="0"/>
              <a:cs typeface="Arial" panose="020B0604020202020204" pitchFamily="34" charset="0"/>
            </a:endParaRPr>
          </a:p>
        </p:txBody>
      </p:sp>
      <p:sp>
        <p:nvSpPr>
          <p:cNvPr id="10" name="propuesta 3"/>
          <p:cNvSpPr/>
          <p:nvPr/>
        </p:nvSpPr>
        <p:spPr>
          <a:xfrm>
            <a:off x="7589520" y="5129784"/>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Text 9"/>
          <p:cNvSpPr txBox="1"/>
          <p:nvPr/>
        </p:nvSpPr>
        <p:spPr>
          <a:xfrm>
            <a:off x="7772400" y="5129784"/>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3</a:t>
            </a:r>
            <a:endParaRPr lang="es-SV" sz="2200" noProof="0" dirty="0">
              <a:latin typeface="Arial" panose="020B0604020202020204" pitchFamily="34" charset="0"/>
              <a:cs typeface="Arial" panose="020B0604020202020204" pitchFamily="34" charset="0"/>
            </a:endParaRPr>
          </a:p>
        </p:txBody>
      </p:sp>
      <p:sp>
        <p:nvSpPr>
          <p:cNvPr id="12" name="Text 10"/>
          <p:cNvSpPr txBox="1"/>
          <p:nvPr/>
        </p:nvSpPr>
        <p:spPr>
          <a:xfrm>
            <a:off x="8229600" y="5129784"/>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Departamento de Riesgo responsable</a:t>
            </a:r>
            <a:endParaRPr lang="es-SV" sz="1300" noProof="0" dirty="0">
              <a:latin typeface="Arial" panose="020B0604020202020204" pitchFamily="34" charset="0"/>
              <a:cs typeface="Arial"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70194"/>
            <a:ext cx="8534400" cy="56692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POLÍTICA ADMINISTRACIÓN DE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325880"/>
            <a:ext cx="11064240" cy="551046"/>
          </a:xfrm>
          <a:prstGeom prst="rect">
            <a:avLst/>
          </a:prstGeom>
          <a:noFill/>
          <a:ln/>
        </p:spPr>
        <p:txBody>
          <a:bodyPr wrap="square" lIns="0" tIns="0" rIns="0" bIns="0" rtlCol="0" anchor="t"/>
          <a:lstStyle/>
          <a:p>
            <a:pPr marL="0" indent="0">
              <a:buNone/>
            </a:pPr>
            <a:r>
              <a:rPr lang="es-SV" sz="1600" noProof="0" dirty="0">
                <a:solidFill>
                  <a:srgbClr val="002060"/>
                </a:solidFill>
                <a:latin typeface="Arial" panose="020B0604020202020204" pitchFamily="34" charset="0"/>
                <a:cs typeface="Arial" panose="020B0604020202020204" pitchFamily="34" charset="0"/>
              </a:rPr>
              <a:t>Autorizar la Política Administración de Avalúos que Incluye el cumplimiento normativo vigente de la NRP-27 Contratación de Peritos valuadores y NCB 022 – Reservas. Para ser presenta al Consejo de Administración para su Aprobación</a:t>
            </a:r>
          </a:p>
        </p:txBody>
      </p:sp>
      <p:sp>
        <p:nvSpPr>
          <p:cNvPr id="4" name="norma 1"/>
          <p:cNvSpPr/>
          <p:nvPr/>
        </p:nvSpPr>
        <p:spPr>
          <a:xfrm>
            <a:off x="54864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norma 1 circle"/>
          <p:cNvSpPr/>
          <p:nvPr/>
        </p:nvSpPr>
        <p:spPr>
          <a:xfrm>
            <a:off x="86868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norma 1 icon" descr="preencoded.png"/>
          <p:cNvPicPr>
            <a:picLocks noChangeAspect="1"/>
          </p:cNvPicPr>
          <p:nvPr/>
        </p:nvPicPr>
        <p:blipFill>
          <a:blip r:embed="rId3"/>
          <a:stretch>
            <a:fillRect/>
          </a:stretch>
        </p:blipFill>
        <p:spPr>
          <a:xfrm>
            <a:off x="1039673" y="3188513"/>
            <a:ext cx="435254" cy="435254"/>
          </a:xfrm>
          <a:prstGeom prst="rect">
            <a:avLst/>
          </a:prstGeom>
        </p:spPr>
      </p:pic>
      <p:sp>
        <p:nvSpPr>
          <p:cNvPr id="7" name="Text 4"/>
          <p:cNvSpPr txBox="1"/>
          <p:nvPr/>
        </p:nvSpPr>
        <p:spPr>
          <a:xfrm>
            <a:off x="86868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NRP-27</a:t>
            </a:r>
            <a:endParaRPr lang="es-SV" sz="2600" noProof="0" dirty="0">
              <a:latin typeface="Arial" panose="020B0604020202020204" pitchFamily="34" charset="0"/>
              <a:cs typeface="Arial" panose="020B0604020202020204" pitchFamily="34" charset="0"/>
            </a:endParaRPr>
          </a:p>
        </p:txBody>
      </p:sp>
      <p:sp>
        <p:nvSpPr>
          <p:cNvPr id="8" name="Text 5"/>
          <p:cNvSpPr txBox="1"/>
          <p:nvPr/>
        </p:nvSpPr>
        <p:spPr>
          <a:xfrm>
            <a:off x="86868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Contratación de Peritos valuadores</a:t>
            </a:r>
            <a:endParaRPr lang="es-SV" sz="1300" noProof="0" dirty="0">
              <a:latin typeface="Arial" panose="020B0604020202020204" pitchFamily="34" charset="0"/>
              <a:cs typeface="Arial" panose="020B0604020202020204" pitchFamily="34" charset="0"/>
            </a:endParaRPr>
          </a:p>
        </p:txBody>
      </p:sp>
      <p:sp>
        <p:nvSpPr>
          <p:cNvPr id="9" name="norma 2"/>
          <p:cNvSpPr/>
          <p:nvPr/>
        </p:nvSpPr>
        <p:spPr>
          <a:xfrm>
            <a:off x="361188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norma 2 circle"/>
          <p:cNvSpPr/>
          <p:nvPr/>
        </p:nvSpPr>
        <p:spPr>
          <a:xfrm>
            <a:off x="393192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1" name="norma 2 icon" descr="preencoded.png"/>
          <p:cNvPicPr>
            <a:picLocks noChangeAspect="1"/>
          </p:cNvPicPr>
          <p:nvPr/>
        </p:nvPicPr>
        <p:blipFill>
          <a:blip r:embed="rId4"/>
          <a:stretch>
            <a:fillRect/>
          </a:stretch>
        </p:blipFill>
        <p:spPr>
          <a:xfrm>
            <a:off x="4102913" y="3188513"/>
            <a:ext cx="435254" cy="435254"/>
          </a:xfrm>
          <a:prstGeom prst="rect">
            <a:avLst/>
          </a:prstGeom>
        </p:spPr>
      </p:pic>
      <p:sp>
        <p:nvSpPr>
          <p:cNvPr id="12" name="Text 8"/>
          <p:cNvSpPr txBox="1"/>
          <p:nvPr/>
        </p:nvSpPr>
        <p:spPr>
          <a:xfrm>
            <a:off x="393192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NCB 022</a:t>
            </a:r>
            <a:endParaRPr lang="es-SV" sz="2600" noProof="0" dirty="0">
              <a:latin typeface="Arial" panose="020B0604020202020204" pitchFamily="34" charset="0"/>
              <a:cs typeface="Arial" panose="020B0604020202020204" pitchFamily="34" charset="0"/>
            </a:endParaRPr>
          </a:p>
        </p:txBody>
      </p:sp>
      <p:sp>
        <p:nvSpPr>
          <p:cNvPr id="13" name="Text 9"/>
          <p:cNvSpPr txBox="1"/>
          <p:nvPr/>
        </p:nvSpPr>
        <p:spPr>
          <a:xfrm>
            <a:off x="393192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Reservas</a:t>
            </a:r>
            <a:endParaRPr lang="es-SV" sz="1300" noProof="0" dirty="0">
              <a:latin typeface="Arial" panose="020B0604020202020204" pitchFamily="34" charset="0"/>
              <a:cs typeface="Arial" panose="020B0604020202020204" pitchFamily="34" charset="0"/>
            </a:endParaRPr>
          </a:p>
        </p:txBody>
      </p:sp>
      <p:sp>
        <p:nvSpPr>
          <p:cNvPr id="14" name="Text 10"/>
          <p:cNvSpPr txBox="1"/>
          <p:nvPr/>
        </p:nvSpPr>
        <p:spPr>
          <a:xfrm>
            <a:off x="6949440" y="2697480"/>
            <a:ext cx="1689234" cy="214162"/>
          </a:xfrm>
          <a:prstGeom prst="rect">
            <a:avLst/>
          </a:prstGeom>
          <a:noFill/>
          <a:ln/>
        </p:spPr>
        <p:txBody>
          <a:bodyPr wrap="square" lIns="0" tIns="0" rIns="0" bIns="0" rtlCol="0" anchor="t"/>
          <a:lstStyle/>
          <a:p>
            <a:pPr marL="0" indent="0">
              <a:buNone/>
            </a:pPr>
            <a:r>
              <a:rPr lang="es-SV" sz="1400" b="1" noProof="0" dirty="0">
                <a:solidFill>
                  <a:srgbClr val="002060"/>
                </a:solidFill>
                <a:latin typeface="Arial" panose="020B0604020202020204" pitchFamily="34" charset="0"/>
                <a:cs typeface="Arial" panose="020B0604020202020204" pitchFamily="34" charset="0"/>
              </a:rPr>
              <a:t>Ruta de aprobación</a:t>
            </a:r>
            <a:endParaRPr lang="es-SV" sz="1400" noProof="0" dirty="0">
              <a:solidFill>
                <a:srgbClr val="002060"/>
              </a:solidFill>
              <a:latin typeface="Arial" panose="020B0604020202020204" pitchFamily="34" charset="0"/>
              <a:cs typeface="Arial" panose="020B0604020202020204" pitchFamily="34" charset="0"/>
            </a:endParaRPr>
          </a:p>
        </p:txBody>
      </p:sp>
      <p:sp>
        <p:nvSpPr>
          <p:cNvPr id="15" name="ruta 1"/>
          <p:cNvSpPr/>
          <p:nvPr/>
        </p:nvSpPr>
        <p:spPr>
          <a:xfrm>
            <a:off x="6949440" y="3200400"/>
            <a:ext cx="4663440" cy="960120"/>
          </a:xfrm>
          <a:prstGeom prst="roundRect">
            <a:avLst>
              <a:gd name="adj" fmla="val 9524"/>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2"/>
          <p:cNvSpPr txBox="1"/>
          <p:nvPr/>
        </p:nvSpPr>
        <p:spPr>
          <a:xfrm>
            <a:off x="7223760" y="32004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Comité de Riesgo</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Autoriza la Política</a:t>
            </a:r>
            <a:endParaRPr lang="es-SV" sz="1600" noProof="0" dirty="0">
              <a:latin typeface="Arial" panose="020B0604020202020204" pitchFamily="34" charset="0"/>
              <a:cs typeface="Arial" panose="020B0604020202020204" pitchFamily="34" charset="0"/>
            </a:endParaRPr>
          </a:p>
        </p:txBody>
      </p:sp>
      <p:sp>
        <p:nvSpPr>
          <p:cNvPr id="17" name="ruta 2"/>
          <p:cNvSpPr/>
          <p:nvPr/>
        </p:nvSpPr>
        <p:spPr>
          <a:xfrm>
            <a:off x="6949440" y="4572000"/>
            <a:ext cx="466344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223760" y="45720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Consejo de Administración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Aprobación</a:t>
            </a:r>
            <a:endParaRPr lang="es-SV" sz="1600" noProof="0" dirty="0">
              <a:latin typeface="Arial" panose="020B0604020202020204" pitchFamily="34" charset="0"/>
              <a:cs typeface="Arial" panose="020B0604020202020204" pitchFamily="34" charset="0"/>
            </a:endParaRPr>
          </a:p>
        </p:txBody>
      </p:sp>
      <p:pic>
        <p:nvPicPr>
          <p:cNvPr id="19" name="ruta flecha" descr="preencoded.png"/>
          <p:cNvPicPr>
            <a:picLocks noChangeAspect="1"/>
          </p:cNvPicPr>
          <p:nvPr/>
        </p:nvPicPr>
        <p:blipFill>
          <a:blip r:embed="rId5"/>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13</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rgbClr val="002060"/>
                </a:solidFill>
                <a:latin typeface="Arial" panose="020B0604020202020204" pitchFamily="34" charset="0"/>
                <a:cs typeface="Arial" panose="020B0604020202020204" pitchFamily="34" charset="0"/>
              </a:rPr>
              <a:t>2: CONTRATAR UN REVISOR SEGÚN NRP-27, ARTÍCULO 40</a:t>
            </a:r>
            <a:endParaRPr lang="es-SV" sz="2400" noProof="0" dirty="0">
              <a:solidFill>
                <a:srgbClr val="002060"/>
              </a:solidFill>
              <a:latin typeface="Arial" panose="020B0604020202020204" pitchFamily="34" charset="0"/>
              <a:cs typeface="Arial" panose="020B0604020202020204" pitchFamily="34" charset="0"/>
            </a:endParaRPr>
          </a:p>
        </p:txBody>
      </p:sp>
      <p:sp>
        <p:nvSpPr>
          <p:cNvPr id="3" name="cita"/>
          <p:cNvSpPr/>
          <p:nvPr/>
        </p:nvSpPr>
        <p:spPr>
          <a:xfrm>
            <a:off x="548640" y="1325880"/>
            <a:ext cx="11064240" cy="4572000"/>
          </a:xfrm>
          <a:prstGeom prst="roundRect">
            <a:avLst>
              <a:gd name="adj" fmla="val 2000"/>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sp>
        <p:nvSpPr>
          <p:cNvPr id="4" name="Text 2"/>
          <p:cNvSpPr txBox="1"/>
          <p:nvPr/>
        </p:nvSpPr>
        <p:spPr>
          <a:xfrm>
            <a:off x="777240" y="1325880"/>
            <a:ext cx="731520" cy="914400"/>
          </a:xfrm>
          <a:prstGeom prst="rect">
            <a:avLst/>
          </a:prstGeom>
          <a:noFill/>
          <a:ln/>
        </p:spPr>
        <p:txBody>
          <a:bodyPr wrap="square" lIns="0" tIns="0" rIns="0" bIns="0" rtlCol="0" anchor="t"/>
          <a:lstStyle/>
          <a:p>
            <a:pPr marL="0" indent="0">
              <a:buNone/>
            </a:pPr>
            <a:r>
              <a:rPr lang="es-SV" sz="6600" b="1" noProof="0" dirty="0">
                <a:solidFill>
                  <a:srgbClr val="002060"/>
                </a:solidFill>
                <a:latin typeface="Arial" panose="020B0604020202020204" pitchFamily="34" charset="0"/>
                <a:cs typeface="Arial" panose="020B0604020202020204" pitchFamily="34" charset="0"/>
              </a:rPr>
              <a:t>“</a:t>
            </a:r>
            <a:endParaRPr lang="es-SV" sz="6600" noProof="0" dirty="0">
              <a:solidFill>
                <a:srgbClr val="002060"/>
              </a:solidFill>
              <a:latin typeface="Arial" panose="020B0604020202020204" pitchFamily="34" charset="0"/>
              <a:cs typeface="Arial" panose="020B0604020202020204" pitchFamily="34" charset="0"/>
            </a:endParaRPr>
          </a:p>
        </p:txBody>
      </p:sp>
      <p:sp>
        <p:nvSpPr>
          <p:cNvPr id="5" name="Text 3"/>
          <p:cNvSpPr txBox="1"/>
          <p:nvPr/>
        </p:nvSpPr>
        <p:spPr>
          <a:xfrm>
            <a:off x="1463040" y="1645920"/>
            <a:ext cx="9875520" cy="4008120"/>
          </a:xfrm>
          <a:prstGeom prst="rect">
            <a:avLst/>
          </a:prstGeom>
          <a:noFill/>
          <a:ln/>
        </p:spPr>
        <p:txBody>
          <a:bodyPr wrap="square" lIns="0" tIns="0" rIns="0" bIns="0" rtlCol="0" anchor="t"/>
          <a:lstStyle/>
          <a:p>
            <a:pPr marL="0" indent="0" algn="just">
              <a:lnSpc>
                <a:spcPct val="150000"/>
              </a:lnSpc>
              <a:spcAft>
                <a:spcPts val="1000"/>
              </a:spcAft>
              <a:buNone/>
            </a:pPr>
            <a:r>
              <a:rPr lang="es-SV" sz="1650" b="1" noProof="0" dirty="0">
                <a:solidFill>
                  <a:srgbClr val="002060"/>
                </a:solidFill>
                <a:latin typeface="Arial" panose="020B0604020202020204" pitchFamily="34" charset="0"/>
                <a:cs typeface="Arial" panose="020B0604020202020204" pitchFamily="34" charset="0"/>
              </a:rPr>
              <a:t>Contratar en cumplimiento a la NRP – 27 artículo 40 que establece lo siguiente: </a:t>
            </a:r>
            <a:endParaRPr lang="es-SV" sz="1650" noProof="0" dirty="0">
              <a:solidFill>
                <a:srgbClr val="002060"/>
              </a:solidFill>
              <a:latin typeface="Arial" panose="020B0604020202020204" pitchFamily="34" charset="0"/>
              <a:cs typeface="Arial" panose="020B0604020202020204" pitchFamily="34" charset="0"/>
            </a:endParaRP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solidFill>
                  <a:srgbClr val="002060"/>
                </a:solidFill>
                <a:latin typeface="Arial" panose="020B0604020202020204" pitchFamily="34" charset="0"/>
                <a:cs typeface="Arial" panose="020B0604020202020204" pitchFamily="34" charset="0"/>
              </a:rPr>
              <a:t>14</a:t>
            </a:fld>
            <a:endParaRPr lang="es-SV" noProof="0" dirty="0">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 DEPARTAMENTO DE RIESGO ADMINISTRA LOS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280160"/>
            <a:ext cx="11064240" cy="548640"/>
          </a:xfrm>
          <a:prstGeom prst="rect">
            <a:avLst/>
          </a:prstGeom>
          <a:noFill/>
          <a:ln/>
        </p:spPr>
        <p:txBody>
          <a:bodyPr wrap="square" lIns="0" tIns="0" rIns="0" bIns="0" rtlCol="0" anchor="t"/>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Autorizar que el Departamento de Riesgo sea el responsable de la Administración de avalúos y que el Revisor dependa de este Departamento</a:t>
            </a:r>
          </a:p>
        </p:txBody>
      </p:sp>
      <p:sp>
        <p:nvSpPr>
          <p:cNvPr id="4" name="hoy"/>
          <p:cNvSpPr/>
          <p:nvPr/>
        </p:nvSpPr>
        <p:spPr>
          <a:xfrm>
            <a:off x="548640" y="2286000"/>
            <a:ext cx="5120640" cy="3154680"/>
          </a:xfrm>
          <a:prstGeom prst="roundRect">
            <a:avLst>
              <a:gd name="adj" fmla="val 2899"/>
            </a:avLst>
          </a:prstGeom>
          <a:ln/>
        </p:spPr>
        <p:style>
          <a:lnRef idx="1">
            <a:schemeClr val="accent2"/>
          </a:lnRef>
          <a:fillRef idx="3">
            <a:schemeClr val="accent2"/>
          </a:fillRef>
          <a:effectRef idx="2">
            <a:schemeClr val="accent2"/>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868680" y="2514600"/>
            <a:ext cx="543025" cy="32004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Hoy</a:t>
            </a:r>
            <a:endParaRPr lang="es-SV" sz="1900" noProof="0" dirty="0">
              <a:solidFill>
                <a:srgbClr val="002060"/>
              </a:solidFill>
              <a:latin typeface="Arial" panose="020B0604020202020204" pitchFamily="34" charset="0"/>
              <a:cs typeface="Arial" panose="020B0604020202020204" pitchFamily="34" charset="0"/>
            </a:endParaRPr>
          </a:p>
        </p:txBody>
      </p:sp>
      <p:sp>
        <p:nvSpPr>
          <p:cNvPr id="6" name="Text 4"/>
          <p:cNvSpPr txBox="1"/>
          <p:nvPr/>
        </p:nvSpPr>
        <p:spPr>
          <a:xfrm>
            <a:off x="868680" y="3108960"/>
            <a:ext cx="4572000" cy="1430956"/>
          </a:xfrm>
          <a:prstGeom prst="rect">
            <a:avLst/>
          </a:prstGeom>
          <a:noFill/>
          <a:ln/>
        </p:spPr>
        <p:txBody>
          <a:bodyPr wrap="square" lIns="0" tIns="0" rIns="0" bIns="0" rtlCol="0" anchor="t"/>
          <a:lstStyle/>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4 gerencias y 28 personas intervienen</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No existe un área de control centralizada</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Observaciones reiterativas de la SSF</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Falta de Políticas y Procedimientos internos</a:t>
            </a:r>
          </a:p>
        </p:txBody>
      </p:sp>
      <p:pic>
        <p:nvPicPr>
          <p:cNvPr id="7" name="flecha"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4700"/>
                    </a14:imgEffect>
                  </a14:imgLayer>
                </a14:imgProps>
              </a:ext>
            </a:extLst>
          </a:blip>
          <a:stretch>
            <a:fillRect/>
          </a:stretch>
        </p:blipFill>
        <p:spPr>
          <a:xfrm>
            <a:off x="5806440" y="36118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Propuesta</a:t>
            </a:r>
            <a:endParaRPr lang="es-SV" sz="1900" noProof="0" dirty="0">
              <a:solidFill>
                <a:srgbClr val="002060"/>
              </a:solidFill>
              <a:latin typeface="Arial" panose="020B0604020202020204" pitchFamily="34" charset="0"/>
              <a:cs typeface="Arial" panose="020B0604020202020204" pitchFamily="34" charset="0"/>
            </a:endParaRPr>
          </a:p>
        </p:txBody>
      </p:sp>
      <p:sp>
        <p:nvSpPr>
          <p:cNvPr id="9" name="org 1"/>
          <p:cNvSpPr/>
          <p:nvPr/>
        </p:nvSpPr>
        <p:spPr>
          <a:xfrm>
            <a:off x="6492240" y="2834640"/>
            <a:ext cx="5120640" cy="685800"/>
          </a:xfrm>
          <a:prstGeom prst="roundRect">
            <a:avLst>
              <a:gd name="adj" fmla="val 13333"/>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8212354" y="3017520"/>
            <a:ext cx="1680410"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Gerencia General</a:t>
            </a:r>
            <a:endParaRPr lang="es-SV" sz="1400" noProof="0" dirty="0">
              <a:latin typeface="Arial" panose="020B0604020202020204" pitchFamily="34" charset="0"/>
              <a:cs typeface="Arial" panose="020B0604020202020204" pitchFamily="34" charset="0"/>
            </a:endParaRPr>
          </a:p>
        </p:txBody>
      </p:sp>
      <p:sp>
        <p:nvSpPr>
          <p:cNvPr id="11" name="org line 1"/>
          <p:cNvSpPr/>
          <p:nvPr/>
        </p:nvSpPr>
        <p:spPr>
          <a:xfrm>
            <a:off x="9052560" y="352044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org 2"/>
          <p:cNvSpPr/>
          <p:nvPr/>
        </p:nvSpPr>
        <p:spPr>
          <a:xfrm>
            <a:off x="6492240" y="3794760"/>
            <a:ext cx="5120640" cy="685800"/>
          </a:xfrm>
          <a:prstGeom prst="roundRect">
            <a:avLst>
              <a:gd name="adj" fmla="val 13333"/>
            </a:avLst>
          </a:prstGeom>
          <a:ln/>
        </p:spPr>
        <p:style>
          <a:lnRef idx="0">
            <a:schemeClr val="accent1"/>
          </a:lnRef>
          <a:fillRef idx="3">
            <a:schemeClr val="accent1"/>
          </a:fillRef>
          <a:effectRef idx="3">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3" name="Text 10"/>
          <p:cNvSpPr txBox="1"/>
          <p:nvPr/>
        </p:nvSpPr>
        <p:spPr>
          <a:xfrm>
            <a:off x="7125501" y="4023360"/>
            <a:ext cx="3854116"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Departamento de Administración de Riesgos</a:t>
            </a:r>
            <a:endParaRPr lang="es-SV" sz="1400" noProof="0" dirty="0">
              <a:latin typeface="Arial" panose="020B0604020202020204" pitchFamily="34" charset="0"/>
              <a:cs typeface="Arial" panose="020B0604020202020204" pitchFamily="34" charset="0"/>
            </a:endParaRPr>
          </a:p>
        </p:txBody>
      </p:sp>
      <p:sp>
        <p:nvSpPr>
          <p:cNvPr id="14" name="org line 2"/>
          <p:cNvSpPr/>
          <p:nvPr/>
        </p:nvSpPr>
        <p:spPr>
          <a:xfrm>
            <a:off x="9052560" y="448056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5" name="org 3"/>
          <p:cNvSpPr/>
          <p:nvPr/>
        </p:nvSpPr>
        <p:spPr>
          <a:xfrm>
            <a:off x="6492240" y="4754880"/>
            <a:ext cx="5120640" cy="685800"/>
          </a:xfrm>
          <a:prstGeom prst="roundRect">
            <a:avLst>
              <a:gd name="adj" fmla="val 13333"/>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3"/>
          <p:cNvSpPr txBox="1"/>
          <p:nvPr/>
        </p:nvSpPr>
        <p:spPr>
          <a:xfrm>
            <a:off x="7534576" y="4960620"/>
            <a:ext cx="3035967"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Revisor de Avalúos (NRP-27 art. 40)</a:t>
            </a:r>
            <a:endParaRPr lang="es-SV" sz="1400" noProof="0" dirty="0">
              <a:latin typeface="Arial" panose="020B0604020202020204" pitchFamily="34" charset="0"/>
              <a:cs typeface="Arial" panose="020B0604020202020204" pitchFamily="34" charset="0"/>
            </a:endParaRPr>
          </a:p>
        </p:txBody>
      </p:sp>
      <p:sp>
        <p:nvSpPr>
          <p:cNvPr id="17" name="Text 14"/>
          <p:cNvSpPr txBox="1"/>
          <p:nvPr/>
        </p:nvSpPr>
        <p:spPr>
          <a:xfrm>
            <a:off x="6903720" y="5564204"/>
            <a:ext cx="4297680" cy="387417"/>
          </a:xfrm>
          <a:prstGeom prst="rect">
            <a:avLst/>
          </a:prstGeom>
          <a:noFill/>
          <a:ln/>
        </p:spPr>
        <p:txBody>
          <a:bodyPr wrap="square" lIns="0" tIns="0" rIns="0" bIns="0" rtlCol="0" anchor="t"/>
          <a:lstStyle/>
          <a:p>
            <a:pPr marL="0" indent="0" algn="ctr">
              <a:buNone/>
            </a:pPr>
            <a:r>
              <a:rPr lang="es-SV" sz="1100" i="1" noProof="0" dirty="0">
                <a:solidFill>
                  <a:srgbClr val="002060"/>
                </a:solidFill>
                <a:latin typeface="Arial" panose="020B0604020202020204" pitchFamily="34" charset="0"/>
                <a:cs typeface="Arial" panose="020B0604020202020204" pitchFamily="34" charset="0"/>
              </a:rPr>
              <a:t>Área de control centralizada del cumplimiento normativo, seguimiento y calidad de información de la garantía</a:t>
            </a:r>
            <a:endParaRPr lang="es-SV" sz="1100" noProof="0" dirty="0">
              <a:solidFill>
                <a:srgbClr val="002060"/>
              </a:solidFill>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chemeClr val="bg1">
            <a:alpha val="65000"/>
          </a:schemeClr>
        </a:solidFill>
        <a:effectLst/>
      </p:bgPr>
    </p:bg>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77240" y="563880"/>
            <a:ext cx="9707880" cy="423672"/>
          </a:xfrm>
          <a:prstGeom prst="rect">
            <a:avLst/>
          </a:prstGeom>
          <a:noFill/>
          <a:ln/>
        </p:spPr>
        <p:txBody>
          <a:bodyPr wrap="square" lIns="0" tIns="0" rIns="0" bIns="0" rtlCol="0" anchor="b"/>
          <a:lstStyle/>
          <a:p>
            <a:pPr marL="0" indent="0" algn="l">
              <a:buNone/>
            </a:pPr>
            <a:r>
              <a:rPr lang="es-SV" sz="3200" b="1" noProof="0" dirty="0">
                <a:solidFill>
                  <a:srgbClr val="002060"/>
                </a:solidFill>
                <a:latin typeface="Arial" panose="020B0604020202020204" pitchFamily="34" charset="0"/>
                <a:cs typeface="Arial" panose="020B0604020202020204" pitchFamily="34" charset="0"/>
              </a:rPr>
              <a:t>SE SOLICITA AL COMITÉ DE RIESGO AUTORIZAR</a:t>
            </a:r>
            <a:endParaRPr lang="es-SV" sz="3200" noProof="0" dirty="0">
              <a:solidFill>
                <a:srgbClr val="002060"/>
              </a:solidFill>
              <a:latin typeface="Arial" panose="020B0604020202020204" pitchFamily="34" charset="0"/>
              <a:cs typeface="Arial" panose="020B0604020202020204" pitchFamily="34" charset="0"/>
            </a:endParaRPr>
          </a:p>
        </p:txBody>
      </p:sp>
      <p:sp>
        <p:nvSpPr>
          <p:cNvPr id="3" name="check 1"/>
          <p:cNvSpPr/>
          <p:nvPr/>
        </p:nvSpPr>
        <p:spPr>
          <a:xfrm>
            <a:off x="731520" y="222199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4" name="check icon 1" descr="preencoded.png"/>
          <p:cNvPicPr>
            <a:picLocks noChangeAspect="1"/>
          </p:cNvPicPr>
          <p:nvPr/>
        </p:nvPicPr>
        <p:blipFill>
          <a:blip r:embed="rId3"/>
          <a:stretch>
            <a:fillRect/>
          </a:stretch>
        </p:blipFill>
        <p:spPr>
          <a:xfrm>
            <a:off x="850392" y="2340864"/>
            <a:ext cx="365760" cy="365760"/>
          </a:xfrm>
          <a:prstGeom prst="rect">
            <a:avLst/>
          </a:prstGeom>
        </p:spPr>
      </p:pic>
      <p:sp>
        <p:nvSpPr>
          <p:cNvPr id="5" name="Text 2"/>
          <p:cNvSpPr txBox="1"/>
          <p:nvPr/>
        </p:nvSpPr>
        <p:spPr>
          <a:xfrm>
            <a:off x="1600200" y="213055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Política Administración de Avalúos (NRP-27 y NCB 022), para ser presentada al Consejo de Administración para su Aprobación</a:t>
            </a:r>
          </a:p>
        </p:txBody>
      </p:sp>
      <p:sp>
        <p:nvSpPr>
          <p:cNvPr id="6" name="check 2"/>
          <p:cNvSpPr/>
          <p:nvPr/>
        </p:nvSpPr>
        <p:spPr>
          <a:xfrm>
            <a:off x="731520" y="327355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7" name="check icon 2" descr="preencoded.png"/>
          <p:cNvPicPr>
            <a:picLocks noChangeAspect="1"/>
          </p:cNvPicPr>
          <p:nvPr/>
        </p:nvPicPr>
        <p:blipFill>
          <a:blip r:embed="rId3"/>
          <a:stretch>
            <a:fillRect/>
          </a:stretch>
        </p:blipFill>
        <p:spPr>
          <a:xfrm>
            <a:off x="850392" y="3392424"/>
            <a:ext cx="365760" cy="365760"/>
          </a:xfrm>
          <a:prstGeom prst="rect">
            <a:avLst/>
          </a:prstGeom>
        </p:spPr>
      </p:pic>
      <p:sp>
        <p:nvSpPr>
          <p:cNvPr id="8" name="Text 4"/>
          <p:cNvSpPr txBox="1"/>
          <p:nvPr/>
        </p:nvSpPr>
        <p:spPr>
          <a:xfrm>
            <a:off x="1600200" y="318211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contratación de un Revisor en cumplimiento a la NRP-27 artículo 40</a:t>
            </a:r>
          </a:p>
        </p:txBody>
      </p:sp>
      <p:sp>
        <p:nvSpPr>
          <p:cNvPr id="9" name="check 3"/>
          <p:cNvSpPr/>
          <p:nvPr/>
        </p:nvSpPr>
        <p:spPr>
          <a:xfrm>
            <a:off x="731520" y="432511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10" name="check icon 3" descr="preencoded.png"/>
          <p:cNvPicPr>
            <a:picLocks noChangeAspect="1"/>
          </p:cNvPicPr>
          <p:nvPr/>
        </p:nvPicPr>
        <p:blipFill>
          <a:blip r:embed="rId3"/>
          <a:stretch>
            <a:fillRect/>
          </a:stretch>
        </p:blipFill>
        <p:spPr>
          <a:xfrm>
            <a:off x="850392" y="4443984"/>
            <a:ext cx="365760" cy="365760"/>
          </a:xfrm>
          <a:prstGeom prst="rect">
            <a:avLst/>
          </a:prstGeom>
        </p:spPr>
      </p:pic>
      <p:sp>
        <p:nvSpPr>
          <p:cNvPr id="11" name="Text 6"/>
          <p:cNvSpPr txBox="1"/>
          <p:nvPr/>
        </p:nvSpPr>
        <p:spPr>
          <a:xfrm>
            <a:off x="1600200" y="423367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Que el Departamento de Riesgo sea el responsable de la Administración de avalúos y que el Revisor dependa de este Departamento</a:t>
            </a:r>
          </a:p>
        </p:txBody>
      </p:sp>
      <p:pic>
        <p:nvPicPr>
          <p:cNvPr id="14" name="onda lateral" descr="/tmp/claude-0/-home-user-riesgo/74e9c8ad-7a43-5903-a089-2edd8047c387/scratchpad/assets/wave_side.png">
            <a:extLst>
              <a:ext uri="{FF2B5EF4-FFF2-40B4-BE49-F238E27FC236}">
                <a16:creationId xmlns:a16="http://schemas.microsoft.com/office/drawing/2014/main" id="{3FC7F1DB-1D1C-B0EA-C01A-F527F956BE4B}"/>
              </a:ext>
            </a:extLst>
          </p:cNvPr>
          <p:cNvPicPr>
            <a:picLocks noChangeAspect="1"/>
          </p:cNvPicPr>
          <p:nvPr/>
        </p:nvPicPr>
        <p:blipFill>
          <a:blip r:embed="rId4"/>
          <a:stretch>
            <a:fillRect/>
          </a:stretch>
        </p:blipFill>
        <p:spPr>
          <a:xfrm>
            <a:off x="8068056" y="0"/>
            <a:ext cx="4123944" cy="6858000"/>
          </a:xfrm>
          <a:prstGeom prst="rect">
            <a:avLst/>
          </a:prstGeom>
        </p:spPr>
      </p:pic>
      <p:pic>
        <p:nvPicPr>
          <p:cNvPr id="16" name="logo" descr="/tmp/claude-0/-home-user-riesgo/74e9c8ad-7a43-5903-a089-2edd8047c387/scratchpad/assets/logo_white.png">
            <a:extLst>
              <a:ext uri="{FF2B5EF4-FFF2-40B4-BE49-F238E27FC236}">
                <a16:creationId xmlns:a16="http://schemas.microsoft.com/office/drawing/2014/main" id="{8800E0E4-7EDE-96DB-34B2-6E9A789E0A83}"/>
              </a:ext>
            </a:extLst>
          </p:cNvPr>
          <p:cNvPicPr>
            <a:picLocks noChangeAspect="1"/>
          </p:cNvPicPr>
          <p:nvPr/>
        </p:nvPicPr>
        <p:blipFill>
          <a:blip r:embed="rId5"/>
          <a:stretch>
            <a:fillRect/>
          </a:stretch>
        </p:blipFill>
        <p:spPr>
          <a:xfrm>
            <a:off x="9314688" y="5097780"/>
            <a:ext cx="2340864" cy="15819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00376E"/>
        </a:solidFill>
        <a:effectLst/>
      </p:bgPr>
    </p:bg>
    <p:spTree>
      <p:nvGrpSpPr>
        <p:cNvPr id="1" name=""/>
        <p:cNvGrpSpPr/>
        <p:nvPr/>
      </p:nvGrpSpPr>
      <p:grpSpPr>
        <a:xfrm>
          <a:off x="0" y="0"/>
          <a:ext cx="0" cy="0"/>
          <a:chOff x="0" y="0"/>
          <a:chExt cx="0" cy="0"/>
        </a:xfrm>
      </p:grpSpPr>
      <p:sp>
        <p:nvSpPr>
          <p:cNvPr id="2" name="Text 0"/>
          <p:cNvSpPr txBox="1"/>
          <p:nvPr/>
        </p:nvSpPr>
        <p:spPr>
          <a:xfrm>
            <a:off x="2324102" y="2880360"/>
            <a:ext cx="3619498" cy="1097280"/>
          </a:xfrm>
          <a:prstGeom prst="rect">
            <a:avLst/>
          </a:prstGeom>
          <a:noFill/>
          <a:ln/>
        </p:spPr>
        <p:txBody>
          <a:bodyPr wrap="square" lIns="0" tIns="0" rIns="0" bIns="0" rtlCol="0" anchor="ctr"/>
          <a:lstStyle/>
          <a:p>
            <a:pPr marL="0" indent="0" algn="r">
              <a:buNone/>
            </a:pPr>
            <a:r>
              <a:rPr lang="es-SV" sz="2600" noProof="0" dirty="0">
                <a:solidFill>
                  <a:schemeClr val="bg1"/>
                </a:solidFill>
              </a:rPr>
              <a:t>COMITÉ DE RIESGOS</a:t>
            </a:r>
            <a:endParaRPr lang="es-SV" sz="2600" noProof="0" dirty="0"/>
          </a:p>
        </p:txBody>
      </p:sp>
      <p:sp>
        <p:nvSpPr>
          <p:cNvPr id="3" name="divisor"/>
          <p:cNvSpPr/>
          <p:nvPr/>
        </p:nvSpPr>
        <p:spPr>
          <a:xfrm>
            <a:off x="6263640" y="2606040"/>
            <a:ext cx="0" cy="1645920"/>
          </a:xfrm>
          <a:prstGeom prst="line">
            <a:avLst/>
          </a:prstGeom>
          <a:noFill/>
          <a:ln w="15875">
            <a:solidFill>
              <a:srgbClr val="FFFFFF"/>
            </a:solidFill>
            <a:prstDash val="solid"/>
          </a:ln>
        </p:spPr>
        <p:txBody>
          <a:bodyPr/>
          <a:lstStyle/>
          <a:p>
            <a:endParaRPr lang="es-SV" noProof="0" dirty="0"/>
          </a:p>
        </p:txBody>
      </p:sp>
      <p:pic>
        <p:nvPicPr>
          <p:cNvPr id="4" name="logo" descr="/tmp/claude-0/-home-user-riesgo/74e9c8ad-7a43-5903-a089-2edd8047c387/scratchpad/assets/logo_white.png"/>
          <p:cNvPicPr>
            <a:picLocks noChangeAspect="1"/>
          </p:cNvPicPr>
          <p:nvPr/>
        </p:nvPicPr>
        <p:blipFill>
          <a:blip r:embed="rId3"/>
          <a:stretch>
            <a:fillRect/>
          </a:stretch>
        </p:blipFill>
        <p:spPr>
          <a:xfrm>
            <a:off x="6434709" y="2638044"/>
            <a:ext cx="2340864" cy="15819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 DEL PROCESO DE AVALÚOS</a:t>
            </a:r>
            <a:endParaRPr lang="es-SV" sz="2400" noProof="0" dirty="0">
              <a:latin typeface="Arial" panose="020B0604020202020204" pitchFamily="34" charset="0"/>
              <a:cs typeface="Arial" panose="020B0604020202020204" pitchFamily="34" charset="0"/>
            </a:endParaRPr>
          </a:p>
        </p:txBody>
      </p:sp>
      <p:sp>
        <p:nvSpPr>
          <p:cNvPr id="101" name="Etiqueta debilidades"/>
          <p:cNvSpPr txBox="1"/>
          <p:nvPr/>
        </p:nvSpPr>
        <p:spPr>
          <a:xfrm>
            <a:off x="548640" y="1188720"/>
            <a:ext cx="7040880" cy="320040"/>
          </a:xfrm>
          <a:prstGeom prst="rect">
            <a:avLst/>
          </a:prstGeom>
          <a:noFill/>
          <a:ln>
            <a:noFill/>
          </a:ln>
        </p:spPr>
        <p:txBody>
          <a:bodyPr wrap="square" lIns="0" tIns="0" rIns="0" bIns="0" rtlCol="0" anchor="ctr">
            <a:normAutofit/>
          </a:bodyPr>
          <a:lstStyle/>
          <a:p>
            <a:pPr marL="0" indent="0" algn="l">
              <a:buNone/>
            </a:pPr>
            <a:r>
              <a:rPr lang="es-SV" sz="1200" b="1" dirty="0">
                <a:solidFill>
                  <a:srgbClr val="C62828"/>
                </a:solidFill>
                <a:latin typeface="Arial" panose="020B0604020202020204" pitchFamily="34" charset="0"/>
                <a:cs typeface="Arial" panose="020B0604020202020204" pitchFamily="34" charset="0"/>
              </a:rPr>
              <a:t>DEBILIDADES IDENTIFICADAS</a:t>
            </a:r>
          </a:p>
        </p:txBody>
      </p:sp>
      <p:sp>
        <p:nvSpPr>
          <p:cNvPr id="102" name="Debilidad 1"/>
          <p:cNvSpPr/>
          <p:nvPr/>
        </p:nvSpPr>
        <p:spPr>
          <a:xfrm>
            <a:off x="548640" y="1554480"/>
            <a:ext cx="3429000" cy="731520"/>
          </a:xfrm>
          <a:prstGeom prst="roundRect">
            <a:avLst>
              <a:gd name="adj" fmla="val 12000"/>
            </a:avLst>
          </a:prstGeom>
          <a:solidFill>
            <a:srgbClr val="FBEAEA"/>
          </a:solidFill>
          <a:ln w="9525">
            <a:solidFill>
              <a:srgbClr val="C62828"/>
            </a:solidFill>
          </a:ln>
        </p:spPr>
      </p:sp>
      <p:sp>
        <p:nvSpPr>
          <p:cNvPr id="103" name="Debilidad 1 marca"/>
          <p:cNvSpPr/>
          <p:nvPr/>
        </p:nvSpPr>
        <p:spPr>
          <a:xfrm>
            <a:off x="731520" y="1719072"/>
            <a:ext cx="402336" cy="402336"/>
          </a:xfrm>
          <a:prstGeom prst="ellipse">
            <a:avLst/>
          </a:prstGeom>
          <a:solidFill>
            <a:srgbClr val="C62828"/>
          </a:solidFill>
          <a:ln>
            <a:noFill/>
          </a:ln>
        </p:spPr>
        <p:txBody>
          <a:bodyPr wrap="square" lIns="0" tIns="0" rIns="0" bIns="0" rtlCol="0" anchor="ctr">
            <a:normAutofit/>
          </a:bodyPr>
          <a:lstStyle/>
          <a:p>
            <a:pPr marL="0" indent="0" algn="ctr">
              <a:buNone/>
            </a:pPr>
            <a:r>
              <a:rPr lang="es-SV" sz="1600" b="1" dirty="0">
                <a:solidFill>
                  <a:srgbClr val="FFFFFF"/>
                </a:solidFill>
                <a:latin typeface="Arial" panose="020B0604020202020204" pitchFamily="34" charset="0"/>
                <a:cs typeface="Arial" panose="020B0604020202020204" pitchFamily="34" charset="0"/>
              </a:rPr>
              <a:t>!</a:t>
            </a:r>
          </a:p>
        </p:txBody>
      </p:sp>
      <p:sp>
        <p:nvSpPr>
          <p:cNvPr id="104" name="Debilidad 1 texto"/>
          <p:cNvSpPr txBox="1"/>
          <p:nvPr/>
        </p:nvSpPr>
        <p:spPr>
          <a:xfrm>
            <a:off x="1280160" y="1554480"/>
            <a:ext cx="2560320" cy="731520"/>
          </a:xfrm>
          <a:prstGeom prst="rect">
            <a:avLst/>
          </a:prstGeom>
          <a:noFill/>
          <a:ln>
            <a:noFill/>
          </a:ln>
        </p:spPr>
        <p:txBody>
          <a:bodyPr wrap="square" lIns="0" tIns="0" rIns="0" bIns="0" rtlCol="0" anchor="ctr">
            <a:normAutofit/>
          </a:bodyPr>
          <a:lstStyle/>
          <a:p>
            <a:pPr marL="0" indent="0" algn="l">
              <a:buNone/>
            </a:pPr>
            <a:r>
              <a:rPr lang="es-SV" sz="1300" b="1" dirty="0">
                <a:solidFill>
                  <a:srgbClr val="002060"/>
                </a:solidFill>
                <a:latin typeface="Arial" panose="020B0604020202020204" pitchFamily="34" charset="0"/>
                <a:cs typeface="Arial" panose="020B0604020202020204" pitchFamily="34" charset="0"/>
              </a:rPr>
              <a:t>Debilidad en el análisis de los Informes de Avalúos</a:t>
            </a:r>
          </a:p>
        </p:txBody>
      </p:sp>
      <p:sp>
        <p:nvSpPr>
          <p:cNvPr id="105" name="Debilidad 2"/>
          <p:cNvSpPr/>
          <p:nvPr/>
        </p:nvSpPr>
        <p:spPr>
          <a:xfrm>
            <a:off x="4160520" y="1554480"/>
            <a:ext cx="3429000" cy="731520"/>
          </a:xfrm>
          <a:prstGeom prst="roundRect">
            <a:avLst>
              <a:gd name="adj" fmla="val 12000"/>
            </a:avLst>
          </a:prstGeom>
          <a:solidFill>
            <a:srgbClr val="FBEAEA"/>
          </a:solidFill>
          <a:ln w="9525">
            <a:solidFill>
              <a:srgbClr val="C62828"/>
            </a:solidFill>
          </a:ln>
        </p:spPr>
      </p:sp>
      <p:sp>
        <p:nvSpPr>
          <p:cNvPr id="106" name="Debilidad 2 marca"/>
          <p:cNvSpPr/>
          <p:nvPr/>
        </p:nvSpPr>
        <p:spPr>
          <a:xfrm>
            <a:off x="4343400" y="1719072"/>
            <a:ext cx="402336" cy="402336"/>
          </a:xfrm>
          <a:prstGeom prst="ellipse">
            <a:avLst/>
          </a:prstGeom>
          <a:solidFill>
            <a:srgbClr val="C62828"/>
          </a:solidFill>
          <a:ln>
            <a:noFill/>
          </a:ln>
        </p:spPr>
        <p:txBody>
          <a:bodyPr wrap="square" lIns="0" tIns="0" rIns="0" bIns="0" rtlCol="0" anchor="ctr">
            <a:normAutofit/>
          </a:bodyPr>
          <a:lstStyle/>
          <a:p>
            <a:pPr marL="0" indent="0" algn="ctr">
              <a:buNone/>
            </a:pPr>
            <a:r>
              <a:rPr lang="es-SV" sz="1600" b="1" dirty="0">
                <a:solidFill>
                  <a:srgbClr val="FFFFFF"/>
                </a:solidFill>
                <a:latin typeface="Arial" panose="020B0604020202020204" pitchFamily="34" charset="0"/>
                <a:cs typeface="Arial" panose="020B0604020202020204" pitchFamily="34" charset="0"/>
              </a:rPr>
              <a:t>!</a:t>
            </a:r>
          </a:p>
        </p:txBody>
      </p:sp>
      <p:sp>
        <p:nvSpPr>
          <p:cNvPr id="107" name="Debilidad 2 texto"/>
          <p:cNvSpPr txBox="1"/>
          <p:nvPr/>
        </p:nvSpPr>
        <p:spPr>
          <a:xfrm>
            <a:off x="4892040" y="1554480"/>
            <a:ext cx="2560320" cy="731520"/>
          </a:xfrm>
          <a:prstGeom prst="rect">
            <a:avLst/>
          </a:prstGeom>
          <a:noFill/>
          <a:ln>
            <a:noFill/>
          </a:ln>
        </p:spPr>
        <p:txBody>
          <a:bodyPr wrap="square" lIns="0" tIns="0" rIns="0" bIns="0" rtlCol="0" anchor="ctr">
            <a:normAutofit/>
          </a:bodyPr>
          <a:lstStyle/>
          <a:p>
            <a:pPr marL="0" indent="0" algn="l">
              <a:buNone/>
            </a:pPr>
            <a:r>
              <a:rPr lang="es-SV" sz="1300" b="1" dirty="0">
                <a:solidFill>
                  <a:srgbClr val="002060"/>
                </a:solidFill>
                <a:latin typeface="Arial" panose="020B0604020202020204" pitchFamily="34" charset="0"/>
                <a:cs typeface="Arial" panose="020B0604020202020204" pitchFamily="34" charset="0"/>
              </a:rPr>
              <a:t>Observaciones de la SSF</a:t>
            </a:r>
          </a:p>
        </p:txBody>
      </p:sp>
      <p:sp>
        <p:nvSpPr>
          <p:cNvPr id="108" name="Etiqueta proceso"/>
          <p:cNvSpPr txBox="1"/>
          <p:nvPr/>
        </p:nvSpPr>
        <p:spPr>
          <a:xfrm>
            <a:off x="548640" y="2514600"/>
            <a:ext cx="7040880" cy="320040"/>
          </a:xfrm>
          <a:prstGeom prst="rect">
            <a:avLst/>
          </a:prstGeom>
          <a:noFill/>
          <a:ln>
            <a:noFill/>
          </a:ln>
        </p:spPr>
        <p:txBody>
          <a:bodyPr wrap="square" lIns="0" tIns="0" rIns="0" bIns="0" rtlCol="0" anchor="ctr">
            <a:normAutofit/>
          </a:bodyPr>
          <a:lstStyle/>
          <a:p>
            <a:pPr marL="0" indent="0" algn="l">
              <a:buNone/>
            </a:pPr>
            <a:r>
              <a:rPr lang="es-SV" sz="1200" b="1" dirty="0">
                <a:solidFill>
                  <a:srgbClr val="005C9F"/>
                </a:solidFill>
                <a:latin typeface="Arial" panose="020B0604020202020204" pitchFamily="34" charset="0"/>
                <a:cs typeface="Arial" panose="020B0604020202020204" pitchFamily="34" charset="0"/>
              </a:rPr>
              <a:t>PROCESO ACTUAL</a:t>
            </a:r>
          </a:p>
        </p:txBody>
      </p:sp>
      <p:sp>
        <p:nvSpPr>
          <p:cNvPr id="109" name="Paso 1"/>
          <p:cNvSpPr/>
          <p:nvPr/>
        </p:nvSpPr>
        <p:spPr>
          <a:xfrm>
            <a:off x="548640" y="2880360"/>
            <a:ext cx="7040880" cy="658368"/>
          </a:xfrm>
          <a:prstGeom prst="roundRect">
            <a:avLst>
              <a:gd name="adj" fmla="val 12000"/>
            </a:avLst>
          </a:prstGeom>
          <a:solidFill>
            <a:srgbClr val="EEF3F9"/>
          </a:solidFill>
          <a:ln w="9525">
            <a:solidFill>
              <a:srgbClr val="D6E2EF"/>
            </a:solidFill>
          </a:ln>
        </p:spPr>
      </p:sp>
      <p:sp>
        <p:nvSpPr>
          <p:cNvPr id="110" name="Paso 1 numero"/>
          <p:cNvSpPr/>
          <p:nvPr/>
        </p:nvSpPr>
        <p:spPr>
          <a:xfrm>
            <a:off x="731520" y="2990088"/>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1</a:t>
            </a:r>
          </a:p>
        </p:txBody>
      </p:sp>
      <p:sp>
        <p:nvSpPr>
          <p:cNvPr id="111" name="Paso 1 titulo"/>
          <p:cNvSpPr txBox="1"/>
          <p:nvPr/>
        </p:nvSpPr>
        <p:spPr>
          <a:xfrm>
            <a:off x="1325880" y="2880360"/>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Contraparte</a:t>
            </a:r>
          </a:p>
        </p:txBody>
      </p:sp>
      <p:sp>
        <p:nvSpPr>
          <p:cNvPr id="112" name="Paso 1 detalle"/>
          <p:cNvSpPr txBox="1"/>
          <p:nvPr/>
        </p:nvSpPr>
        <p:spPr>
          <a:xfrm>
            <a:off x="2971800" y="2880360"/>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Centralizado en Riesgo y Negocios</a:t>
            </a:r>
          </a:p>
        </p:txBody>
      </p:sp>
      <p:sp>
        <p:nvSpPr>
          <p:cNvPr id="113" name="Paso 2"/>
          <p:cNvSpPr/>
          <p:nvPr/>
        </p:nvSpPr>
        <p:spPr>
          <a:xfrm>
            <a:off x="548640" y="3648456"/>
            <a:ext cx="7040880" cy="658368"/>
          </a:xfrm>
          <a:prstGeom prst="roundRect">
            <a:avLst>
              <a:gd name="adj" fmla="val 12000"/>
            </a:avLst>
          </a:prstGeom>
          <a:solidFill>
            <a:srgbClr val="EEF3F9"/>
          </a:solidFill>
          <a:ln w="9525">
            <a:solidFill>
              <a:srgbClr val="D6E2EF"/>
            </a:solidFill>
          </a:ln>
        </p:spPr>
      </p:sp>
      <p:sp>
        <p:nvSpPr>
          <p:cNvPr id="114" name="Paso 2 numero"/>
          <p:cNvSpPr/>
          <p:nvPr/>
        </p:nvSpPr>
        <p:spPr>
          <a:xfrm>
            <a:off x="731520" y="3758184"/>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2</a:t>
            </a:r>
          </a:p>
        </p:txBody>
      </p:sp>
      <p:sp>
        <p:nvSpPr>
          <p:cNvPr id="115" name="Paso 2 titulo"/>
          <p:cNvSpPr txBox="1"/>
          <p:nvPr/>
        </p:nvSpPr>
        <p:spPr>
          <a:xfrm>
            <a:off x="1325880" y="3648456"/>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Recepción</a:t>
            </a:r>
          </a:p>
        </p:txBody>
      </p:sp>
      <p:sp>
        <p:nvSpPr>
          <p:cNvPr id="116" name="Paso 2 detalle"/>
          <p:cNvSpPr txBox="1"/>
          <p:nvPr/>
        </p:nvSpPr>
        <p:spPr>
          <a:xfrm>
            <a:off x="2971800" y="3648456"/>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Recibe información el Ejecutivo, pero no hace la validación y revisión correcta</a:t>
            </a:r>
          </a:p>
        </p:txBody>
      </p:sp>
      <p:sp>
        <p:nvSpPr>
          <p:cNvPr id="117" name="Paso 3"/>
          <p:cNvSpPr/>
          <p:nvPr/>
        </p:nvSpPr>
        <p:spPr>
          <a:xfrm>
            <a:off x="548640" y="4416552"/>
            <a:ext cx="7040880" cy="658368"/>
          </a:xfrm>
          <a:prstGeom prst="roundRect">
            <a:avLst>
              <a:gd name="adj" fmla="val 12000"/>
            </a:avLst>
          </a:prstGeom>
          <a:solidFill>
            <a:srgbClr val="EEF3F9"/>
          </a:solidFill>
          <a:ln w="9525">
            <a:solidFill>
              <a:srgbClr val="D6E2EF"/>
            </a:solidFill>
          </a:ln>
        </p:spPr>
      </p:sp>
      <p:sp>
        <p:nvSpPr>
          <p:cNvPr id="118" name="Paso 3 numero"/>
          <p:cNvSpPr/>
          <p:nvPr/>
        </p:nvSpPr>
        <p:spPr>
          <a:xfrm>
            <a:off x="731520" y="4526280"/>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3</a:t>
            </a:r>
          </a:p>
        </p:txBody>
      </p:sp>
      <p:sp>
        <p:nvSpPr>
          <p:cNvPr id="119" name="Paso 3 titulo"/>
          <p:cNvSpPr txBox="1"/>
          <p:nvPr/>
        </p:nvSpPr>
        <p:spPr>
          <a:xfrm>
            <a:off x="1325880" y="4416552"/>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Observaciones</a:t>
            </a:r>
          </a:p>
        </p:txBody>
      </p:sp>
      <p:sp>
        <p:nvSpPr>
          <p:cNvPr id="120" name="Paso 3 detalle"/>
          <p:cNvSpPr txBox="1"/>
          <p:nvPr/>
        </p:nvSpPr>
        <p:spPr>
          <a:xfrm>
            <a:off x="2971800" y="4416552"/>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Observaciones de la SSF</a:t>
            </a:r>
          </a:p>
        </p:txBody>
      </p:sp>
      <p:sp>
        <p:nvSpPr>
          <p:cNvPr id="121" name="Paso 4"/>
          <p:cNvSpPr/>
          <p:nvPr/>
        </p:nvSpPr>
        <p:spPr>
          <a:xfrm>
            <a:off x="548640" y="5184648"/>
            <a:ext cx="7040880" cy="658368"/>
          </a:xfrm>
          <a:prstGeom prst="roundRect">
            <a:avLst>
              <a:gd name="adj" fmla="val 12000"/>
            </a:avLst>
          </a:prstGeom>
          <a:solidFill>
            <a:srgbClr val="EEF3F9"/>
          </a:solidFill>
          <a:ln w="9525">
            <a:solidFill>
              <a:srgbClr val="D6E2EF"/>
            </a:solidFill>
          </a:ln>
        </p:spPr>
      </p:sp>
      <p:sp>
        <p:nvSpPr>
          <p:cNvPr id="122" name="Paso 4 numero"/>
          <p:cNvSpPr/>
          <p:nvPr/>
        </p:nvSpPr>
        <p:spPr>
          <a:xfrm>
            <a:off x="731520" y="5294376"/>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4</a:t>
            </a:r>
          </a:p>
        </p:txBody>
      </p:sp>
      <p:sp>
        <p:nvSpPr>
          <p:cNvPr id="123" name="Paso 4 titulo"/>
          <p:cNvSpPr txBox="1"/>
          <p:nvPr/>
        </p:nvSpPr>
        <p:spPr>
          <a:xfrm>
            <a:off x="1325880" y="5184648"/>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Seguimiento</a:t>
            </a:r>
          </a:p>
        </p:txBody>
      </p:sp>
      <p:sp>
        <p:nvSpPr>
          <p:cNvPr id="124" name="Paso 4 detalle"/>
          <p:cNvSpPr txBox="1"/>
          <p:nvPr/>
        </p:nvSpPr>
        <p:spPr>
          <a:xfrm>
            <a:off x="2971800" y="5184648"/>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Seguimiento de la contraparte – calificación</a:t>
            </a:r>
          </a:p>
        </p:txBody>
      </p:sp>
      <p:sp>
        <p:nvSpPr>
          <p:cNvPr id="125" name="Flecha"/>
          <p:cNvSpPr/>
          <p:nvPr/>
        </p:nvSpPr>
        <p:spPr>
          <a:xfrm>
            <a:off x="7699248" y="3383280"/>
            <a:ext cx="365760" cy="548640"/>
          </a:xfrm>
          <a:prstGeom prst="rightArrow">
            <a:avLst/>
          </a:prstGeom>
          <a:solidFill>
            <a:srgbClr val="005C9F"/>
          </a:solidFill>
          <a:ln>
            <a:noFill/>
          </a:ln>
        </p:spPr>
      </p:sp>
      <p:sp>
        <p:nvSpPr>
          <p:cNvPr id="126" name="Panel respuesta"/>
          <p:cNvSpPr/>
          <p:nvPr/>
        </p:nvSpPr>
        <p:spPr>
          <a:xfrm>
            <a:off x="8183880" y="1554480"/>
            <a:ext cx="3429000" cy="4398264"/>
          </a:xfrm>
          <a:prstGeom prst="roundRect">
            <a:avLst>
              <a:gd name="adj" fmla="val 6000"/>
            </a:avLst>
          </a:prstGeom>
          <a:solidFill>
            <a:srgbClr val="00376E"/>
          </a:solidFill>
          <a:ln>
            <a:noFill/>
          </a:ln>
        </p:spPr>
      </p:sp>
      <p:sp>
        <p:nvSpPr>
          <p:cNvPr id="127" name="Respuesta titulo"/>
          <p:cNvSpPr txBox="1"/>
          <p:nvPr/>
        </p:nvSpPr>
        <p:spPr>
          <a:xfrm>
            <a:off x="8458200" y="1783080"/>
            <a:ext cx="2880360" cy="365760"/>
          </a:xfrm>
          <a:prstGeom prst="rect">
            <a:avLst/>
          </a:prstGeom>
          <a:noFill/>
          <a:ln>
            <a:noFill/>
          </a:ln>
        </p:spPr>
        <p:txBody>
          <a:bodyPr wrap="square" lIns="0" tIns="0" rIns="0" bIns="0" rtlCol="0" anchor="ctr">
            <a:normAutofit/>
          </a:bodyPr>
          <a:lstStyle/>
          <a:p>
            <a:pPr marL="0" indent="0" algn="l">
              <a:buNone/>
            </a:pPr>
            <a:r>
              <a:rPr lang="es-SV" sz="1200" b="1" dirty="0">
                <a:solidFill>
                  <a:srgbClr val="9CC3F0"/>
                </a:solidFill>
                <a:latin typeface="Arial" panose="020B0604020202020204" pitchFamily="34" charset="0"/>
                <a:cs typeface="Arial" panose="020B0604020202020204" pitchFamily="34" charset="0"/>
              </a:rPr>
              <a:t>RESPUESTA</a:t>
            </a:r>
          </a:p>
        </p:txBody>
      </p:sp>
      <p:sp>
        <p:nvSpPr>
          <p:cNvPr id="128" name="Respuesta 1"/>
          <p:cNvSpPr/>
          <p:nvPr/>
        </p:nvSpPr>
        <p:spPr>
          <a:xfrm>
            <a:off x="8458200" y="2377440"/>
            <a:ext cx="2880360" cy="1005840"/>
          </a:xfrm>
          <a:prstGeom prst="roundRect">
            <a:avLst>
              <a:gd name="adj" fmla="val 12000"/>
            </a:avLst>
          </a:prstGeom>
          <a:solidFill>
            <a:srgbClr val="005C9F"/>
          </a:solidFill>
          <a:ln>
            <a:noFill/>
          </a:ln>
        </p:spPr>
      </p:sp>
      <p:sp>
        <p:nvSpPr>
          <p:cNvPr id="129" name="Respuesta 1 check"/>
          <p:cNvSpPr/>
          <p:nvPr/>
        </p:nvSpPr>
        <p:spPr>
          <a:xfrm>
            <a:off x="8641080" y="2651760"/>
            <a:ext cx="457200" cy="457200"/>
          </a:xfrm>
          <a:prstGeom prst="ellipse">
            <a:avLst/>
          </a:prstGeom>
          <a:solidFill>
            <a:srgbClr val="FFFFFF"/>
          </a:solidFill>
          <a:ln>
            <a:noFill/>
          </a:ln>
        </p:spPr>
        <p:txBody>
          <a:bodyPr wrap="square" lIns="0" tIns="0" rIns="0" bIns="0" rtlCol="0" anchor="ctr">
            <a:normAutofit/>
          </a:bodyPr>
          <a:lstStyle/>
          <a:p>
            <a:pPr marL="0" indent="0" algn="ctr">
              <a:buNone/>
            </a:pPr>
            <a:r>
              <a:rPr lang="es-SV" sz="1600" b="1" dirty="0">
                <a:solidFill>
                  <a:srgbClr val="00376E"/>
                </a:solidFill>
                <a:latin typeface="Arial" panose="020B0604020202020204" pitchFamily="34" charset="0"/>
                <a:cs typeface="Arial" panose="020B0604020202020204" pitchFamily="34" charset="0"/>
              </a:rPr>
              <a:t>✓</a:t>
            </a:r>
          </a:p>
        </p:txBody>
      </p:sp>
      <p:sp>
        <p:nvSpPr>
          <p:cNvPr id="130" name="Respuesta 1 texto"/>
          <p:cNvSpPr txBox="1"/>
          <p:nvPr/>
        </p:nvSpPr>
        <p:spPr>
          <a:xfrm>
            <a:off x="9281160" y="2377440"/>
            <a:ext cx="1965960" cy="1005840"/>
          </a:xfrm>
          <a:prstGeom prst="rect">
            <a:avLst/>
          </a:prstGeom>
          <a:noFill/>
          <a:ln>
            <a:noFill/>
          </a:ln>
        </p:spPr>
        <p:txBody>
          <a:bodyPr wrap="square" lIns="0" tIns="0" rIns="0" bIns="0" rtlCol="0" anchor="ctr">
            <a:normAutofit/>
          </a:bodyPr>
          <a:lstStyle/>
          <a:p>
            <a:pPr marL="0" indent="0" algn="l">
              <a:buNone/>
            </a:pPr>
            <a:r>
              <a:rPr lang="es-SV" sz="1800" b="1" dirty="0">
                <a:solidFill>
                  <a:srgbClr val="FFFFFF"/>
                </a:solidFill>
                <a:latin typeface="Arial" panose="020B0604020202020204" pitchFamily="34" charset="0"/>
                <a:cs typeface="Arial" panose="020B0604020202020204" pitchFamily="34" charset="0"/>
              </a:rPr>
              <a:t>Política</a:t>
            </a:r>
          </a:p>
        </p:txBody>
      </p:sp>
      <p:sp>
        <p:nvSpPr>
          <p:cNvPr id="131" name="Respuesta 2"/>
          <p:cNvSpPr/>
          <p:nvPr/>
        </p:nvSpPr>
        <p:spPr>
          <a:xfrm>
            <a:off x="8458200" y="3611880"/>
            <a:ext cx="2880360" cy="1005840"/>
          </a:xfrm>
          <a:prstGeom prst="roundRect">
            <a:avLst>
              <a:gd name="adj" fmla="val 12000"/>
            </a:avLst>
          </a:prstGeom>
          <a:solidFill>
            <a:srgbClr val="005C9F"/>
          </a:solidFill>
          <a:ln>
            <a:noFill/>
          </a:ln>
        </p:spPr>
      </p:sp>
      <p:sp>
        <p:nvSpPr>
          <p:cNvPr id="132" name="Respuesta 2 check"/>
          <p:cNvSpPr/>
          <p:nvPr/>
        </p:nvSpPr>
        <p:spPr>
          <a:xfrm>
            <a:off x="8641080" y="3886200"/>
            <a:ext cx="457200" cy="457200"/>
          </a:xfrm>
          <a:prstGeom prst="ellipse">
            <a:avLst/>
          </a:prstGeom>
          <a:solidFill>
            <a:srgbClr val="FFFFFF"/>
          </a:solidFill>
          <a:ln>
            <a:noFill/>
          </a:ln>
        </p:spPr>
        <p:txBody>
          <a:bodyPr wrap="square" lIns="0" tIns="0" rIns="0" bIns="0" rtlCol="0" anchor="ctr">
            <a:normAutofit/>
          </a:bodyPr>
          <a:lstStyle/>
          <a:p>
            <a:pPr marL="0" indent="0" algn="ctr">
              <a:buNone/>
            </a:pPr>
            <a:r>
              <a:rPr lang="es-SV" sz="1600" b="1" dirty="0">
                <a:solidFill>
                  <a:srgbClr val="00376E"/>
                </a:solidFill>
                <a:latin typeface="Arial" panose="020B0604020202020204" pitchFamily="34" charset="0"/>
                <a:cs typeface="Arial" panose="020B0604020202020204" pitchFamily="34" charset="0"/>
              </a:rPr>
              <a:t>✓</a:t>
            </a:r>
          </a:p>
        </p:txBody>
      </p:sp>
      <p:sp>
        <p:nvSpPr>
          <p:cNvPr id="133" name="Respuesta 2 texto"/>
          <p:cNvSpPr txBox="1"/>
          <p:nvPr/>
        </p:nvSpPr>
        <p:spPr>
          <a:xfrm>
            <a:off x="9281160" y="3611880"/>
            <a:ext cx="1965960" cy="1005840"/>
          </a:xfrm>
          <a:prstGeom prst="rect">
            <a:avLst/>
          </a:prstGeom>
          <a:noFill/>
          <a:ln>
            <a:noFill/>
          </a:ln>
        </p:spPr>
        <p:txBody>
          <a:bodyPr wrap="square" lIns="0" tIns="0" rIns="0" bIns="0" rtlCol="0" anchor="ctr">
            <a:normAutofit/>
          </a:bodyPr>
          <a:lstStyle/>
          <a:p>
            <a:pPr marL="0" indent="0" algn="l">
              <a:buNone/>
            </a:pPr>
            <a:r>
              <a:rPr lang="es-SV" sz="1800" b="1" dirty="0">
                <a:solidFill>
                  <a:srgbClr val="FFFFFF"/>
                </a:solidFill>
                <a:latin typeface="Arial" panose="020B0604020202020204" pitchFamily="34" charset="0"/>
                <a:cs typeface="Arial" panose="020B0604020202020204" pitchFamily="34" charset="0"/>
              </a:rPr>
              <a:t>Procedimiento</a:t>
            </a:r>
          </a:p>
        </p:txBody>
      </p:sp>
      <p:sp>
        <p:nvSpPr>
          <p:cNvPr id="134" name="Respuesta nota"/>
          <p:cNvSpPr txBox="1"/>
          <p:nvPr/>
        </p:nvSpPr>
        <p:spPr>
          <a:xfrm>
            <a:off x="8458200" y="4937760"/>
            <a:ext cx="2880360" cy="822960"/>
          </a:xfrm>
          <a:prstGeom prst="rect">
            <a:avLst/>
          </a:prstGeom>
          <a:noFill/>
          <a:ln>
            <a:noFill/>
          </a:ln>
        </p:spPr>
        <p:txBody>
          <a:bodyPr wrap="square" lIns="0" tIns="0" rIns="0" bIns="0" rtlCol="0" anchor="t">
            <a:normAutofit/>
          </a:bodyPr>
          <a:lstStyle/>
          <a:p>
            <a:pPr marL="0" indent="0" algn="l">
              <a:buNone/>
            </a:pPr>
            <a:r>
              <a:rPr lang="es-SV" sz="1150" i="1" dirty="0">
                <a:solidFill>
                  <a:srgbClr val="C9DBF2"/>
                </a:solidFill>
                <a:latin typeface="Arial" panose="020B0604020202020204" pitchFamily="34" charset="0"/>
                <a:cs typeface="Arial" panose="020B0604020202020204" pitchFamily="34" charset="0"/>
              </a:rPr>
              <a:t>Política Administración de Avalúos (ver Propuesta)</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DEBILIDADES EN EL ANÁLISIS DE LOS INFORMES DE AVALÚOS</a:t>
            </a:r>
            <a:endParaRPr lang="es-SV" sz="2400" noProof="0" dirty="0">
              <a:latin typeface="Arial" panose="020B0604020202020204" pitchFamily="34" charset="0"/>
              <a:cs typeface="Arial" panose="020B0604020202020204" pitchFamily="34" charset="0"/>
            </a:endParaRPr>
          </a:p>
        </p:txBody>
      </p:sp>
      <p:sp>
        <p:nvSpPr>
          <p:cNvPr id="101" name="Subtitulo"/>
          <p:cNvSpPr txBox="1"/>
          <p:nvPr/>
        </p:nvSpPr>
        <p:spPr>
          <a:xfrm>
            <a:off x="777240" y="1005840"/>
            <a:ext cx="10515600" cy="365760"/>
          </a:xfrm>
          <a:prstGeom prst="rect">
            <a:avLst/>
          </a:prstGeom>
          <a:noFill/>
          <a:ln>
            <a:noFill/>
          </a:ln>
        </p:spPr>
        <p:txBody>
          <a:bodyPr wrap="square" lIns="0" tIns="0" rIns="0" bIns="0" rtlCol="0" anchor="ctr">
            <a:normAutofit/>
          </a:bodyPr>
          <a:lstStyle/>
          <a:p>
            <a:pPr marL="0" indent="0" algn="l">
              <a:buNone/>
            </a:pPr>
            <a:r>
              <a:rPr lang="es-SV" sz="1400" dirty="0">
                <a:solidFill>
                  <a:srgbClr val="005C9F"/>
                </a:solidFill>
                <a:latin typeface="Arial" panose="020B0604020202020204" pitchFamily="34" charset="0"/>
                <a:cs typeface="Arial" panose="020B0604020202020204" pitchFamily="34" charset="0"/>
              </a:rPr>
              <a:t>Diagnóstico de Riesgos sobre el análisis de los informes de avalúos, con base en el proceso actual</a:t>
            </a:r>
          </a:p>
        </p:txBody>
      </p:sp>
      <p:sp>
        <p:nvSpPr>
          <p:cNvPr id="102" name="Debilidad 1"/>
          <p:cNvSpPr/>
          <p:nvPr/>
        </p:nvSpPr>
        <p:spPr>
          <a:xfrm>
            <a:off x="548640" y="1554480"/>
            <a:ext cx="5440680" cy="987552"/>
          </a:xfrm>
          <a:prstGeom prst="roundRect">
            <a:avLst>
              <a:gd name="adj" fmla="val 10000"/>
            </a:avLst>
          </a:prstGeom>
          <a:solidFill>
            <a:srgbClr val="EEF3F9"/>
          </a:solidFill>
          <a:ln w="9525">
            <a:solidFill>
              <a:srgbClr val="D6E2EF"/>
            </a:solidFill>
          </a:ln>
        </p:spPr>
      </p:sp>
      <p:sp>
        <p:nvSpPr>
          <p:cNvPr id="103" name="Debilidad 1 numero"/>
          <p:cNvSpPr/>
          <p:nvPr/>
        </p:nvSpPr>
        <p:spPr>
          <a:xfrm>
            <a:off x="713232" y="181965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1</a:t>
            </a:r>
          </a:p>
        </p:txBody>
      </p:sp>
      <p:sp>
        <p:nvSpPr>
          <p:cNvPr id="104" name="Debilidad 1 titulo"/>
          <p:cNvSpPr txBox="1"/>
          <p:nvPr/>
        </p:nvSpPr>
        <p:spPr>
          <a:xfrm>
            <a:off x="1325880" y="164592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revisión del contenido mínimo</a:t>
            </a:r>
          </a:p>
        </p:txBody>
      </p:sp>
      <p:sp>
        <p:nvSpPr>
          <p:cNvPr id="105" name="Debilidad 1 nivel"/>
          <p:cNvSpPr/>
          <p:nvPr/>
        </p:nvSpPr>
        <p:spPr>
          <a:xfrm>
            <a:off x="4983480" y="166420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06" name="Debilidad 1 detalle"/>
          <p:cNvSpPr txBox="1"/>
          <p:nvPr/>
        </p:nvSpPr>
        <p:spPr>
          <a:xfrm>
            <a:off x="1325880" y="196596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El Ejecutivo recibe el informe, pero no valida ni revisa el contenido mínimo exigido (NRP-27, art. 33).</a:t>
            </a:r>
          </a:p>
        </p:txBody>
      </p:sp>
      <p:sp>
        <p:nvSpPr>
          <p:cNvPr id="107" name="Debilidad 2"/>
          <p:cNvSpPr/>
          <p:nvPr/>
        </p:nvSpPr>
        <p:spPr>
          <a:xfrm>
            <a:off x="6172200" y="1554480"/>
            <a:ext cx="5440680" cy="987552"/>
          </a:xfrm>
          <a:prstGeom prst="roundRect">
            <a:avLst>
              <a:gd name="adj" fmla="val 10000"/>
            </a:avLst>
          </a:prstGeom>
          <a:solidFill>
            <a:srgbClr val="EEF3F9"/>
          </a:solidFill>
          <a:ln w="9525">
            <a:solidFill>
              <a:srgbClr val="D6E2EF"/>
            </a:solidFill>
          </a:ln>
        </p:spPr>
      </p:sp>
      <p:sp>
        <p:nvSpPr>
          <p:cNvPr id="108" name="Debilidad 2 numero"/>
          <p:cNvSpPr/>
          <p:nvPr/>
        </p:nvSpPr>
        <p:spPr>
          <a:xfrm>
            <a:off x="6336792" y="181965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2</a:t>
            </a:r>
          </a:p>
        </p:txBody>
      </p:sp>
      <p:sp>
        <p:nvSpPr>
          <p:cNvPr id="109" name="Debilidad 2 titulo"/>
          <p:cNvSpPr txBox="1"/>
          <p:nvPr/>
        </p:nvSpPr>
        <p:spPr>
          <a:xfrm>
            <a:off x="6949440" y="164592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Revisor independiente</a:t>
            </a:r>
          </a:p>
        </p:txBody>
      </p:sp>
      <p:sp>
        <p:nvSpPr>
          <p:cNvPr id="110" name="Debilidad 2 nivel"/>
          <p:cNvSpPr/>
          <p:nvPr/>
        </p:nvSpPr>
        <p:spPr>
          <a:xfrm>
            <a:off x="10607040" y="166420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11" name="Debilidad 2 detalle"/>
          <p:cNvSpPr txBox="1"/>
          <p:nvPr/>
        </p:nvSpPr>
        <p:spPr>
          <a:xfrm>
            <a:off x="6949440" y="196596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No existe el Revisor que exige la NRP-27, art. 40; el informe lo recibe el área comercial.</a:t>
            </a:r>
          </a:p>
        </p:txBody>
      </p:sp>
      <p:sp>
        <p:nvSpPr>
          <p:cNvPr id="112" name="Debilidad 3"/>
          <p:cNvSpPr/>
          <p:nvPr/>
        </p:nvSpPr>
        <p:spPr>
          <a:xfrm>
            <a:off x="548640" y="2651760"/>
            <a:ext cx="5440680" cy="987552"/>
          </a:xfrm>
          <a:prstGeom prst="roundRect">
            <a:avLst>
              <a:gd name="adj" fmla="val 10000"/>
            </a:avLst>
          </a:prstGeom>
          <a:solidFill>
            <a:srgbClr val="EEF3F9"/>
          </a:solidFill>
          <a:ln w="9525">
            <a:solidFill>
              <a:srgbClr val="D6E2EF"/>
            </a:solidFill>
          </a:ln>
        </p:spPr>
      </p:sp>
      <p:sp>
        <p:nvSpPr>
          <p:cNvPr id="113" name="Debilidad 3 numero"/>
          <p:cNvSpPr/>
          <p:nvPr/>
        </p:nvSpPr>
        <p:spPr>
          <a:xfrm>
            <a:off x="713232" y="291693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3</a:t>
            </a:r>
          </a:p>
        </p:txBody>
      </p:sp>
      <p:sp>
        <p:nvSpPr>
          <p:cNvPr id="114" name="Debilidad 3 titulo"/>
          <p:cNvSpPr txBox="1"/>
          <p:nvPr/>
        </p:nvSpPr>
        <p:spPr>
          <a:xfrm>
            <a:off x="1325880" y="274320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Independencia del perito</a:t>
            </a:r>
          </a:p>
        </p:txBody>
      </p:sp>
      <p:sp>
        <p:nvSpPr>
          <p:cNvPr id="115" name="Debilidad 3 nivel"/>
          <p:cNvSpPr/>
          <p:nvPr/>
        </p:nvSpPr>
        <p:spPr>
          <a:xfrm>
            <a:off x="4983480" y="276148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16" name="Debilidad 3 detalle"/>
          <p:cNvSpPr txBox="1"/>
          <p:nvPr/>
        </p:nvSpPr>
        <p:spPr>
          <a:xfrm>
            <a:off x="1325880" y="306324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Negocio contrata y administra peritos y a la vez origina el crédito: posible conflicto de interés.</a:t>
            </a:r>
          </a:p>
        </p:txBody>
      </p:sp>
      <p:sp>
        <p:nvSpPr>
          <p:cNvPr id="117" name="Debilidad 4"/>
          <p:cNvSpPr/>
          <p:nvPr/>
        </p:nvSpPr>
        <p:spPr>
          <a:xfrm>
            <a:off x="6172200" y="2651760"/>
            <a:ext cx="5440680" cy="987552"/>
          </a:xfrm>
          <a:prstGeom prst="roundRect">
            <a:avLst>
              <a:gd name="adj" fmla="val 10000"/>
            </a:avLst>
          </a:prstGeom>
          <a:solidFill>
            <a:srgbClr val="EEF3F9"/>
          </a:solidFill>
          <a:ln w="9525">
            <a:solidFill>
              <a:srgbClr val="D6E2EF"/>
            </a:solidFill>
          </a:ln>
        </p:spPr>
      </p:sp>
      <p:sp>
        <p:nvSpPr>
          <p:cNvPr id="118" name="Debilidad 4 numero"/>
          <p:cNvSpPr/>
          <p:nvPr/>
        </p:nvSpPr>
        <p:spPr>
          <a:xfrm>
            <a:off x="6336792" y="291693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4</a:t>
            </a:r>
          </a:p>
        </p:txBody>
      </p:sp>
      <p:sp>
        <p:nvSpPr>
          <p:cNvPr id="119" name="Debilidad 4 titulo"/>
          <p:cNvSpPr txBox="1"/>
          <p:nvPr/>
        </p:nvSpPr>
        <p:spPr>
          <a:xfrm>
            <a:off x="6949440" y="274320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análisis de razonabilidad del valor</a:t>
            </a:r>
          </a:p>
        </p:txBody>
      </p:sp>
      <p:sp>
        <p:nvSpPr>
          <p:cNvPr id="120" name="Debilidad 4 nivel"/>
          <p:cNvSpPr/>
          <p:nvPr/>
        </p:nvSpPr>
        <p:spPr>
          <a:xfrm>
            <a:off x="10607040" y="276148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21" name="Debilidad 4 detalle"/>
          <p:cNvSpPr txBox="1"/>
          <p:nvPr/>
        </p:nvSpPr>
        <p:spPr>
          <a:xfrm>
            <a:off x="6949440" y="306324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No se contrasta el valor de mercado y de realización con comparables, avalúos previos ni fotografías.</a:t>
            </a:r>
          </a:p>
        </p:txBody>
      </p:sp>
      <p:sp>
        <p:nvSpPr>
          <p:cNvPr id="122" name="Debilidad 5"/>
          <p:cNvSpPr/>
          <p:nvPr/>
        </p:nvSpPr>
        <p:spPr>
          <a:xfrm>
            <a:off x="548640" y="3749040"/>
            <a:ext cx="5440680" cy="987552"/>
          </a:xfrm>
          <a:prstGeom prst="roundRect">
            <a:avLst>
              <a:gd name="adj" fmla="val 10000"/>
            </a:avLst>
          </a:prstGeom>
          <a:solidFill>
            <a:srgbClr val="EEF3F9"/>
          </a:solidFill>
          <a:ln w="9525">
            <a:solidFill>
              <a:srgbClr val="D6E2EF"/>
            </a:solidFill>
          </a:ln>
        </p:spPr>
      </p:sp>
      <p:sp>
        <p:nvSpPr>
          <p:cNvPr id="123" name="Debilidad 5 numero"/>
          <p:cNvSpPr/>
          <p:nvPr/>
        </p:nvSpPr>
        <p:spPr>
          <a:xfrm>
            <a:off x="713232" y="401421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5</a:t>
            </a:r>
          </a:p>
        </p:txBody>
      </p:sp>
      <p:sp>
        <p:nvSpPr>
          <p:cNvPr id="124" name="Debilidad 5 titulo"/>
          <p:cNvSpPr txBox="1"/>
          <p:nvPr/>
        </p:nvSpPr>
        <p:spPr>
          <a:xfrm>
            <a:off x="1325880" y="384048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Datos registrales no conciliados</a:t>
            </a:r>
          </a:p>
        </p:txBody>
      </p:sp>
      <p:sp>
        <p:nvSpPr>
          <p:cNvPr id="125" name="Debilidad 5 nivel"/>
          <p:cNvSpPr/>
          <p:nvPr/>
        </p:nvSpPr>
        <p:spPr>
          <a:xfrm>
            <a:off x="4983480" y="3858768"/>
            <a:ext cx="841248" cy="256032"/>
          </a:xfrm>
          <a:prstGeom prst="roundRect">
            <a:avLst>
              <a:gd name="adj" fmla="val 50000"/>
            </a:avLst>
          </a:prstGeom>
          <a:solidFill>
            <a:srgbClr val="FDF3E3"/>
          </a:solidFill>
          <a:ln w="9525">
            <a:solidFill>
              <a:srgbClr val="B26A00"/>
            </a:solidFill>
          </a:ln>
        </p:spPr>
        <p:txBody>
          <a:bodyPr wrap="square" lIns="0" tIns="0" rIns="0" bIns="0" rtlCol="0" anchor="ctr">
            <a:normAutofit/>
          </a:bodyPr>
          <a:lstStyle/>
          <a:p>
            <a:pPr marL="0" indent="0" algn="ctr">
              <a:buNone/>
            </a:pPr>
            <a:r>
              <a:rPr lang="es-SV" sz="900" b="1" dirty="0">
                <a:solidFill>
                  <a:srgbClr val="B26A00"/>
                </a:solidFill>
                <a:latin typeface="Arial" panose="020B0604020202020204" pitchFamily="34" charset="0"/>
                <a:cs typeface="Arial" panose="020B0604020202020204" pitchFamily="34" charset="0"/>
              </a:rPr>
              <a:t>MEDIO</a:t>
            </a:r>
          </a:p>
        </p:txBody>
      </p:sp>
      <p:sp>
        <p:nvSpPr>
          <p:cNvPr id="126" name="Debilidad 5 detalle"/>
          <p:cNvSpPr txBox="1"/>
          <p:nvPr/>
        </p:nvSpPr>
        <p:spPr>
          <a:xfrm>
            <a:off x="1325880" y="416052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Áreas, matrícula, propietario y gravámenes del informe no se concilian de forma sistemática con la inscripción.</a:t>
            </a:r>
          </a:p>
        </p:txBody>
      </p:sp>
      <p:sp>
        <p:nvSpPr>
          <p:cNvPr id="127" name="Debilidad 6"/>
          <p:cNvSpPr/>
          <p:nvPr/>
        </p:nvSpPr>
        <p:spPr>
          <a:xfrm>
            <a:off x="6172200" y="3749040"/>
            <a:ext cx="5440680" cy="987552"/>
          </a:xfrm>
          <a:prstGeom prst="roundRect">
            <a:avLst>
              <a:gd name="adj" fmla="val 10000"/>
            </a:avLst>
          </a:prstGeom>
          <a:solidFill>
            <a:srgbClr val="EEF3F9"/>
          </a:solidFill>
          <a:ln w="9525">
            <a:solidFill>
              <a:srgbClr val="D6E2EF"/>
            </a:solidFill>
          </a:ln>
        </p:spPr>
      </p:sp>
      <p:sp>
        <p:nvSpPr>
          <p:cNvPr id="128" name="Debilidad 6 numero"/>
          <p:cNvSpPr/>
          <p:nvPr/>
        </p:nvSpPr>
        <p:spPr>
          <a:xfrm>
            <a:off x="6336792" y="401421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6</a:t>
            </a:r>
          </a:p>
        </p:txBody>
      </p:sp>
      <p:sp>
        <p:nvSpPr>
          <p:cNvPr id="129" name="Debilidad 6 titulo"/>
          <p:cNvSpPr txBox="1"/>
          <p:nvPr/>
        </p:nvSpPr>
        <p:spPr>
          <a:xfrm>
            <a:off x="6949440" y="384048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Calidad del dato en el sistema</a:t>
            </a:r>
          </a:p>
        </p:txBody>
      </p:sp>
      <p:sp>
        <p:nvSpPr>
          <p:cNvPr id="130" name="Debilidad 6 nivel"/>
          <p:cNvSpPr/>
          <p:nvPr/>
        </p:nvSpPr>
        <p:spPr>
          <a:xfrm>
            <a:off x="10607040" y="385876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31" name="Debilidad 6 detalle"/>
          <p:cNvSpPr txBox="1"/>
          <p:nvPr/>
        </p:nvSpPr>
        <p:spPr>
          <a:xfrm>
            <a:off x="6949440" y="416052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15 Ejecutivos ingresan, Cartera modifica y Riesgos verifica después: riesgo de error en valores y fechas.</a:t>
            </a:r>
          </a:p>
        </p:txBody>
      </p:sp>
      <p:sp>
        <p:nvSpPr>
          <p:cNvPr id="132" name="Debilidad 7"/>
          <p:cNvSpPr/>
          <p:nvPr/>
        </p:nvSpPr>
        <p:spPr>
          <a:xfrm>
            <a:off x="548640" y="4846320"/>
            <a:ext cx="5440680" cy="987552"/>
          </a:xfrm>
          <a:prstGeom prst="roundRect">
            <a:avLst>
              <a:gd name="adj" fmla="val 10000"/>
            </a:avLst>
          </a:prstGeom>
          <a:solidFill>
            <a:srgbClr val="EEF3F9"/>
          </a:solidFill>
          <a:ln w="9525">
            <a:solidFill>
              <a:srgbClr val="D6E2EF"/>
            </a:solidFill>
          </a:ln>
        </p:spPr>
      </p:sp>
      <p:sp>
        <p:nvSpPr>
          <p:cNvPr id="133" name="Debilidad 7 numero"/>
          <p:cNvSpPr/>
          <p:nvPr/>
        </p:nvSpPr>
        <p:spPr>
          <a:xfrm>
            <a:off x="713232" y="511149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7</a:t>
            </a:r>
          </a:p>
        </p:txBody>
      </p:sp>
      <p:sp>
        <p:nvSpPr>
          <p:cNvPr id="134" name="Debilidad 7 titulo"/>
          <p:cNvSpPr txBox="1"/>
          <p:nvPr/>
        </p:nvSpPr>
        <p:spPr>
          <a:xfrm>
            <a:off x="1325880" y="493776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Vigencia de los avalúos</a:t>
            </a:r>
          </a:p>
        </p:txBody>
      </p:sp>
      <p:sp>
        <p:nvSpPr>
          <p:cNvPr id="135" name="Debilidad 7 nivel"/>
          <p:cNvSpPr/>
          <p:nvPr/>
        </p:nvSpPr>
        <p:spPr>
          <a:xfrm>
            <a:off x="4983480" y="495604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36" name="Debilidad 7 detalle"/>
          <p:cNvSpPr txBox="1"/>
          <p:nvPr/>
        </p:nvSpPr>
        <p:spPr>
          <a:xfrm>
            <a:off x="1325880" y="525780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Con 60 actualizaciones al mes, renovar 3,500 garantías toma cerca de 58 meses; impacta reservas (NCB-022).</a:t>
            </a:r>
          </a:p>
        </p:txBody>
      </p:sp>
      <p:sp>
        <p:nvSpPr>
          <p:cNvPr id="137" name="Debilidad 8"/>
          <p:cNvSpPr/>
          <p:nvPr/>
        </p:nvSpPr>
        <p:spPr>
          <a:xfrm>
            <a:off x="6172200" y="4846320"/>
            <a:ext cx="5440680" cy="987552"/>
          </a:xfrm>
          <a:prstGeom prst="roundRect">
            <a:avLst>
              <a:gd name="adj" fmla="val 10000"/>
            </a:avLst>
          </a:prstGeom>
          <a:solidFill>
            <a:srgbClr val="EEF3F9"/>
          </a:solidFill>
          <a:ln w="9525">
            <a:solidFill>
              <a:srgbClr val="D6E2EF"/>
            </a:solidFill>
          </a:ln>
        </p:spPr>
      </p:sp>
      <p:sp>
        <p:nvSpPr>
          <p:cNvPr id="138" name="Debilidad 8 numero"/>
          <p:cNvSpPr/>
          <p:nvPr/>
        </p:nvSpPr>
        <p:spPr>
          <a:xfrm>
            <a:off x="6336792" y="511149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8</a:t>
            </a:r>
          </a:p>
        </p:txBody>
      </p:sp>
      <p:sp>
        <p:nvSpPr>
          <p:cNvPr id="139" name="Debilidad 8 titulo"/>
          <p:cNvSpPr txBox="1"/>
          <p:nvPr/>
        </p:nvSpPr>
        <p:spPr>
          <a:xfrm>
            <a:off x="6949440" y="493776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trazabilidad ni evaluación de peritos</a:t>
            </a:r>
          </a:p>
        </p:txBody>
      </p:sp>
      <p:sp>
        <p:nvSpPr>
          <p:cNvPr id="140" name="Debilidad 8 nivel"/>
          <p:cNvSpPr/>
          <p:nvPr/>
        </p:nvSpPr>
        <p:spPr>
          <a:xfrm>
            <a:off x="10607040" y="4956048"/>
            <a:ext cx="841248" cy="256032"/>
          </a:xfrm>
          <a:prstGeom prst="roundRect">
            <a:avLst>
              <a:gd name="adj" fmla="val 50000"/>
            </a:avLst>
          </a:prstGeom>
          <a:solidFill>
            <a:srgbClr val="FDF3E3"/>
          </a:solidFill>
          <a:ln w="9525">
            <a:solidFill>
              <a:srgbClr val="B26A00"/>
            </a:solidFill>
          </a:ln>
        </p:spPr>
        <p:txBody>
          <a:bodyPr wrap="square" lIns="0" tIns="0" rIns="0" bIns="0" rtlCol="0" anchor="ctr">
            <a:normAutofit/>
          </a:bodyPr>
          <a:lstStyle/>
          <a:p>
            <a:pPr marL="0" indent="0" algn="ctr">
              <a:buNone/>
            </a:pPr>
            <a:r>
              <a:rPr lang="es-SV" sz="900" b="1" dirty="0">
                <a:solidFill>
                  <a:srgbClr val="B26A00"/>
                </a:solidFill>
                <a:latin typeface="Arial" panose="020B0604020202020204" pitchFamily="34" charset="0"/>
                <a:cs typeface="Arial" panose="020B0604020202020204" pitchFamily="34" charset="0"/>
              </a:rPr>
              <a:t>MEDIO</a:t>
            </a:r>
          </a:p>
        </p:txBody>
      </p:sp>
      <p:sp>
        <p:nvSpPr>
          <p:cNvPr id="141" name="Debilidad 8 detalle"/>
          <p:cNvSpPr txBox="1"/>
          <p:nvPr/>
        </p:nvSpPr>
        <p:spPr>
          <a:xfrm>
            <a:off x="6949440" y="525780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Las observaciones al perito no se documentan ni se califica su desempeño; 5 expedientes al mes sin tramitar.</a:t>
            </a:r>
          </a:p>
        </p:txBody>
      </p:sp>
      <p:sp>
        <p:nvSpPr>
          <p:cNvPr id="142" name="Nota"/>
          <p:cNvSpPr txBox="1"/>
          <p:nvPr/>
        </p:nvSpPr>
        <p:spPr>
          <a:xfrm>
            <a:off x="548640" y="5961888"/>
            <a:ext cx="9875520" cy="274320"/>
          </a:xfrm>
          <a:prstGeom prst="rect">
            <a:avLst/>
          </a:prstGeom>
          <a:noFill/>
          <a:ln>
            <a:noFill/>
          </a:ln>
        </p:spPr>
        <p:txBody>
          <a:bodyPr wrap="square" lIns="0" tIns="0" rIns="0" bIns="0" rtlCol="0" anchor="ctr">
            <a:normAutofit/>
          </a:bodyPr>
          <a:lstStyle/>
          <a:p>
            <a:pPr marL="0" indent="0" algn="l">
              <a:buNone/>
            </a:pPr>
            <a:r>
              <a:rPr lang="es-SV" sz="950" i="1" dirty="0">
                <a:solidFill>
                  <a:srgbClr val="5F7590"/>
                </a:solidFill>
                <a:latin typeface="Arial" panose="020B0604020202020204" pitchFamily="34" charset="0"/>
                <a:cs typeface="Arial" panose="020B0604020202020204" pitchFamily="34" charset="0"/>
              </a:rPr>
              <a:t>Nivel de riesgo: criterio del Departamento de Administración de Riesgos. Ciclo de actualización = 3,500 garantías ÷ 60 avalúos al mes.</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OBSERVACIONES DE LA SSF: ÁREAS DE MAYOR EXPOSICIÓN</a:t>
            </a:r>
            <a:endParaRPr lang="es-SV" sz="2400" noProof="0" dirty="0">
              <a:latin typeface="Arial" panose="020B0604020202020204" pitchFamily="34" charset="0"/>
              <a:cs typeface="Arial" panose="020B0604020202020204" pitchFamily="34" charset="0"/>
            </a:endParaRPr>
          </a:p>
        </p:txBody>
      </p:sp>
      <p:sp>
        <p:nvSpPr>
          <p:cNvPr id="101" name="Subtitulo"/>
          <p:cNvSpPr txBox="1"/>
          <p:nvPr/>
        </p:nvSpPr>
        <p:spPr>
          <a:xfrm>
            <a:off x="777240" y="1005840"/>
            <a:ext cx="10515600" cy="365760"/>
          </a:xfrm>
          <a:prstGeom prst="rect">
            <a:avLst/>
          </a:prstGeom>
          <a:noFill/>
          <a:ln>
            <a:noFill/>
          </a:ln>
        </p:spPr>
        <p:txBody>
          <a:bodyPr wrap="square" lIns="0" tIns="0" rIns="0" bIns="0" rtlCol="0" anchor="ctr">
            <a:normAutofit/>
          </a:bodyPr>
          <a:lstStyle/>
          <a:p>
            <a:pPr marL="0" indent="0" algn="l">
              <a:buNone/>
            </a:pPr>
            <a:r>
              <a:rPr lang="es-SV" sz="1400" dirty="0">
                <a:solidFill>
                  <a:srgbClr val="005C9F"/>
                </a:solidFill>
                <a:latin typeface="Arial" panose="020B0604020202020204" pitchFamily="34" charset="0"/>
                <a:cs typeface="Arial" panose="020B0604020202020204" pitchFamily="34" charset="0"/>
              </a:rPr>
              <a:t>Áreas en las que la SSF observa con mayor frecuencia la gestión de garantías, y cómo estamos en cada una</a:t>
            </a:r>
          </a:p>
        </p:txBody>
      </p:sp>
      <p:sp>
        <p:nvSpPr>
          <p:cNvPr id="102" name="Encabezado ÁREA DE OBSERVACIÓN"/>
          <p:cNvSpPr txBox="1"/>
          <p:nvPr/>
        </p:nvSpPr>
        <p:spPr>
          <a:xfrm>
            <a:off x="1234440" y="1508760"/>
            <a:ext cx="3657600" cy="292608"/>
          </a:xfrm>
          <a:prstGeom prst="rect">
            <a:avLst/>
          </a:prstGeom>
          <a:noFill/>
          <a:ln>
            <a:noFill/>
          </a:ln>
        </p:spPr>
        <p:txBody>
          <a:bodyPr wrap="square" lIns="0" tIns="0" rIns="0" bIns="0" rtlCol="0" anchor="ctr">
            <a:normAutofit/>
          </a:bodyPr>
          <a:lstStyle/>
          <a:p>
            <a:pPr marL="0" indent="0" algn="l">
              <a:buNone/>
            </a:pPr>
            <a:r>
              <a:rPr lang="es-SV" sz="1050" b="1" dirty="0">
                <a:solidFill>
                  <a:srgbClr val="5F7590"/>
                </a:solidFill>
                <a:latin typeface="Arial" panose="020B0604020202020204" pitchFamily="34" charset="0"/>
                <a:cs typeface="Arial" panose="020B0604020202020204" pitchFamily="34" charset="0"/>
              </a:rPr>
              <a:t>ÁREA DE OBSERVACIÓN</a:t>
            </a:r>
          </a:p>
        </p:txBody>
      </p:sp>
      <p:sp>
        <p:nvSpPr>
          <p:cNvPr id="103" name="Encabezado SITUACIÓN EN LA ENTIDAD"/>
          <p:cNvSpPr txBox="1"/>
          <p:nvPr/>
        </p:nvSpPr>
        <p:spPr>
          <a:xfrm>
            <a:off x="4754880" y="1508760"/>
            <a:ext cx="3794760" cy="292608"/>
          </a:xfrm>
          <a:prstGeom prst="rect">
            <a:avLst/>
          </a:prstGeom>
          <a:noFill/>
          <a:ln>
            <a:noFill/>
          </a:ln>
        </p:spPr>
        <p:txBody>
          <a:bodyPr wrap="square" lIns="0" tIns="0" rIns="0" bIns="0" rtlCol="0" anchor="ctr">
            <a:normAutofit/>
          </a:bodyPr>
          <a:lstStyle/>
          <a:p>
            <a:pPr marL="0" indent="0" algn="l">
              <a:buNone/>
            </a:pPr>
            <a:r>
              <a:rPr lang="es-SV" sz="1050" b="1" dirty="0">
                <a:solidFill>
                  <a:srgbClr val="5F7590"/>
                </a:solidFill>
                <a:latin typeface="Arial" panose="020B0604020202020204" pitchFamily="34" charset="0"/>
                <a:cs typeface="Arial" panose="020B0604020202020204" pitchFamily="34" charset="0"/>
              </a:rPr>
              <a:t>SITUACIÓN EN LA ENTIDAD</a:t>
            </a:r>
          </a:p>
        </p:txBody>
      </p:sp>
      <p:sp>
        <p:nvSpPr>
          <p:cNvPr id="104" name="Encabezado SE ATIENDE CON"/>
          <p:cNvSpPr txBox="1"/>
          <p:nvPr/>
        </p:nvSpPr>
        <p:spPr>
          <a:xfrm>
            <a:off x="8961120" y="1508760"/>
            <a:ext cx="2514600" cy="292608"/>
          </a:xfrm>
          <a:prstGeom prst="rect">
            <a:avLst/>
          </a:prstGeom>
          <a:noFill/>
          <a:ln>
            <a:noFill/>
          </a:ln>
        </p:spPr>
        <p:txBody>
          <a:bodyPr wrap="square" lIns="0" tIns="0" rIns="0" bIns="0" rtlCol="0" anchor="ctr">
            <a:normAutofit/>
          </a:bodyPr>
          <a:lstStyle/>
          <a:p>
            <a:pPr marL="0" indent="0" algn="l">
              <a:buNone/>
            </a:pPr>
            <a:r>
              <a:rPr lang="es-SV" sz="1050" b="1" dirty="0">
                <a:solidFill>
                  <a:srgbClr val="5F7590"/>
                </a:solidFill>
                <a:latin typeface="Arial" panose="020B0604020202020204" pitchFamily="34" charset="0"/>
                <a:cs typeface="Arial" panose="020B0604020202020204" pitchFamily="34" charset="0"/>
              </a:rPr>
              <a:t>SE ATIENDE CON</a:t>
            </a:r>
          </a:p>
        </p:txBody>
      </p:sp>
      <p:sp>
        <p:nvSpPr>
          <p:cNvPr id="105" name="Fila 1"/>
          <p:cNvSpPr/>
          <p:nvPr/>
        </p:nvSpPr>
        <p:spPr>
          <a:xfrm>
            <a:off x="548640" y="1874520"/>
            <a:ext cx="11064240" cy="566928"/>
          </a:xfrm>
          <a:prstGeom prst="roundRect">
            <a:avLst>
              <a:gd name="adj" fmla="val 12000"/>
            </a:avLst>
          </a:prstGeom>
          <a:solidFill>
            <a:srgbClr val="EEF3F9"/>
          </a:solidFill>
          <a:ln w="9525">
            <a:solidFill>
              <a:srgbClr val="D6E2EF"/>
            </a:solidFill>
          </a:ln>
        </p:spPr>
      </p:sp>
      <p:sp>
        <p:nvSpPr>
          <p:cNvPr id="106" name="Fila 1 marca"/>
          <p:cNvSpPr/>
          <p:nvPr/>
        </p:nvSpPr>
        <p:spPr>
          <a:xfrm>
            <a:off x="713232" y="1993392"/>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07" name="Fila 1 area"/>
          <p:cNvSpPr txBox="1"/>
          <p:nvPr/>
        </p:nvSpPr>
        <p:spPr>
          <a:xfrm>
            <a:off x="1188720" y="1874520"/>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Contenido mínimo del informe (NRP-27, art. 33)</a:t>
            </a:r>
          </a:p>
        </p:txBody>
      </p:sp>
      <p:sp>
        <p:nvSpPr>
          <p:cNvPr id="108" name="Fila 1 situacion"/>
          <p:cNvSpPr txBox="1"/>
          <p:nvPr/>
        </p:nvSpPr>
        <p:spPr>
          <a:xfrm>
            <a:off x="4754880" y="1874520"/>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Sin verificación sistemática al recibir el informe</a:t>
            </a:r>
          </a:p>
        </p:txBody>
      </p:sp>
      <p:sp>
        <p:nvSpPr>
          <p:cNvPr id="109" name="Fila 1 respuesta"/>
          <p:cNvSpPr/>
          <p:nvPr/>
        </p:nvSpPr>
        <p:spPr>
          <a:xfrm>
            <a:off x="8823960" y="1965960"/>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2: Revisor</a:t>
            </a:r>
          </a:p>
        </p:txBody>
      </p:sp>
      <p:sp>
        <p:nvSpPr>
          <p:cNvPr id="110" name="Fila 2"/>
          <p:cNvSpPr/>
          <p:nvPr/>
        </p:nvSpPr>
        <p:spPr>
          <a:xfrm>
            <a:off x="548640" y="2532888"/>
            <a:ext cx="11064240" cy="566928"/>
          </a:xfrm>
          <a:prstGeom prst="roundRect">
            <a:avLst>
              <a:gd name="adj" fmla="val 12000"/>
            </a:avLst>
          </a:prstGeom>
          <a:solidFill>
            <a:srgbClr val="EEF3F9"/>
          </a:solidFill>
          <a:ln w="9525">
            <a:solidFill>
              <a:srgbClr val="D6E2EF"/>
            </a:solidFill>
          </a:ln>
        </p:spPr>
      </p:sp>
      <p:sp>
        <p:nvSpPr>
          <p:cNvPr id="111" name="Fila 2 marca"/>
          <p:cNvSpPr/>
          <p:nvPr/>
        </p:nvSpPr>
        <p:spPr>
          <a:xfrm>
            <a:off x="713232" y="2651760"/>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12" name="Fila 2 area"/>
          <p:cNvSpPr txBox="1"/>
          <p:nvPr/>
        </p:nvSpPr>
        <p:spPr>
          <a:xfrm>
            <a:off x="1188720" y="2532888"/>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Evidencia de revisión y observaciones al perito (art. 40)</a:t>
            </a:r>
          </a:p>
        </p:txBody>
      </p:sp>
      <p:sp>
        <p:nvSpPr>
          <p:cNvPr id="113" name="Fila 2 situacion"/>
          <p:cNvSpPr txBox="1"/>
          <p:nvPr/>
        </p:nvSpPr>
        <p:spPr>
          <a:xfrm>
            <a:off x="4754880" y="2532888"/>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No existe Revisor ni registro de observaciones y subsanaciones</a:t>
            </a:r>
          </a:p>
        </p:txBody>
      </p:sp>
      <p:sp>
        <p:nvSpPr>
          <p:cNvPr id="114" name="Fila 2 respuesta"/>
          <p:cNvSpPr/>
          <p:nvPr/>
        </p:nvSpPr>
        <p:spPr>
          <a:xfrm>
            <a:off x="8823960" y="2624328"/>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2: Revisor</a:t>
            </a:r>
          </a:p>
        </p:txBody>
      </p:sp>
      <p:sp>
        <p:nvSpPr>
          <p:cNvPr id="115" name="Fila 3"/>
          <p:cNvSpPr/>
          <p:nvPr/>
        </p:nvSpPr>
        <p:spPr>
          <a:xfrm>
            <a:off x="548640" y="3191256"/>
            <a:ext cx="11064240" cy="566928"/>
          </a:xfrm>
          <a:prstGeom prst="roundRect">
            <a:avLst>
              <a:gd name="adj" fmla="val 12000"/>
            </a:avLst>
          </a:prstGeom>
          <a:solidFill>
            <a:srgbClr val="EEF3F9"/>
          </a:solidFill>
          <a:ln w="9525">
            <a:solidFill>
              <a:srgbClr val="D6E2EF"/>
            </a:solidFill>
          </a:ln>
        </p:spPr>
      </p:sp>
      <p:sp>
        <p:nvSpPr>
          <p:cNvPr id="116" name="Fila 3 marca"/>
          <p:cNvSpPr/>
          <p:nvPr/>
        </p:nvSpPr>
        <p:spPr>
          <a:xfrm>
            <a:off x="713232" y="3310128"/>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17" name="Fila 3 area"/>
          <p:cNvSpPr txBox="1"/>
          <p:nvPr/>
        </p:nvSpPr>
        <p:spPr>
          <a:xfrm>
            <a:off x="1188720" y="3191256"/>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Valor de garantía usado en reservas (NCB-022)</a:t>
            </a:r>
          </a:p>
        </p:txBody>
      </p:sp>
      <p:sp>
        <p:nvSpPr>
          <p:cNvPr id="118" name="Fila 3 situacion"/>
          <p:cNvSpPr txBox="1"/>
          <p:nvPr/>
        </p:nvSpPr>
        <p:spPr>
          <a:xfrm>
            <a:off x="4754880" y="3191256"/>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Ciclo de actualización cercano a 5 años para la cartera</a:t>
            </a:r>
          </a:p>
        </p:txBody>
      </p:sp>
      <p:sp>
        <p:nvSpPr>
          <p:cNvPr id="119" name="Fila 3 respuesta"/>
          <p:cNvSpPr/>
          <p:nvPr/>
        </p:nvSpPr>
        <p:spPr>
          <a:xfrm>
            <a:off x="8823960" y="3282696"/>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1: Política</a:t>
            </a:r>
          </a:p>
        </p:txBody>
      </p:sp>
      <p:sp>
        <p:nvSpPr>
          <p:cNvPr id="120" name="Fila 4"/>
          <p:cNvSpPr/>
          <p:nvPr/>
        </p:nvSpPr>
        <p:spPr>
          <a:xfrm>
            <a:off x="548640" y="3849624"/>
            <a:ext cx="11064240" cy="566928"/>
          </a:xfrm>
          <a:prstGeom prst="roundRect">
            <a:avLst>
              <a:gd name="adj" fmla="val 12000"/>
            </a:avLst>
          </a:prstGeom>
          <a:solidFill>
            <a:srgbClr val="EEF3F9"/>
          </a:solidFill>
          <a:ln w="9525">
            <a:solidFill>
              <a:srgbClr val="D6E2EF"/>
            </a:solidFill>
          </a:ln>
        </p:spPr>
      </p:sp>
      <p:sp>
        <p:nvSpPr>
          <p:cNvPr id="121" name="Fila 4 marca"/>
          <p:cNvSpPr/>
          <p:nvPr/>
        </p:nvSpPr>
        <p:spPr>
          <a:xfrm>
            <a:off x="713232" y="3968496"/>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22" name="Fila 4 area"/>
          <p:cNvSpPr txBox="1"/>
          <p:nvPr/>
        </p:nvSpPr>
        <p:spPr>
          <a:xfrm>
            <a:off x="1188720" y="3849624"/>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Integridad del dato en el Módulo de Garantías</a:t>
            </a:r>
          </a:p>
        </p:txBody>
      </p:sp>
      <p:sp>
        <p:nvSpPr>
          <p:cNvPr id="123" name="Fila 4 situacion"/>
          <p:cNvSpPr txBox="1"/>
          <p:nvPr/>
        </p:nvSpPr>
        <p:spPr>
          <a:xfrm>
            <a:off x="4754880" y="3849624"/>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Captura y modificación por varias áreas, verificación posterior</a:t>
            </a:r>
          </a:p>
        </p:txBody>
      </p:sp>
      <p:sp>
        <p:nvSpPr>
          <p:cNvPr id="124" name="Fila 4 respuesta"/>
          <p:cNvSpPr/>
          <p:nvPr/>
        </p:nvSpPr>
        <p:spPr>
          <a:xfrm>
            <a:off x="8823960" y="3941064"/>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3: Depto. de Riesgo</a:t>
            </a:r>
          </a:p>
        </p:txBody>
      </p:sp>
      <p:sp>
        <p:nvSpPr>
          <p:cNvPr id="125" name="Fila 5"/>
          <p:cNvSpPr/>
          <p:nvPr/>
        </p:nvSpPr>
        <p:spPr>
          <a:xfrm>
            <a:off x="548640" y="4507992"/>
            <a:ext cx="11064240" cy="566928"/>
          </a:xfrm>
          <a:prstGeom prst="roundRect">
            <a:avLst>
              <a:gd name="adj" fmla="val 12000"/>
            </a:avLst>
          </a:prstGeom>
          <a:solidFill>
            <a:srgbClr val="EEF3F9"/>
          </a:solidFill>
          <a:ln w="9525">
            <a:solidFill>
              <a:srgbClr val="D6E2EF"/>
            </a:solidFill>
          </a:ln>
        </p:spPr>
      </p:sp>
      <p:sp>
        <p:nvSpPr>
          <p:cNvPr id="126" name="Fila 5 marca"/>
          <p:cNvSpPr/>
          <p:nvPr/>
        </p:nvSpPr>
        <p:spPr>
          <a:xfrm>
            <a:off x="713232" y="4626864"/>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27" name="Fila 5 area"/>
          <p:cNvSpPr txBox="1"/>
          <p:nvPr/>
        </p:nvSpPr>
        <p:spPr>
          <a:xfrm>
            <a:off x="1188720" y="4507992"/>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Independencia y gestión de peritos</a:t>
            </a:r>
          </a:p>
        </p:txBody>
      </p:sp>
      <p:sp>
        <p:nvSpPr>
          <p:cNvPr id="128" name="Fila 5 situacion"/>
          <p:cNvSpPr txBox="1"/>
          <p:nvPr/>
        </p:nvSpPr>
        <p:spPr>
          <a:xfrm>
            <a:off x="4754880" y="4507992"/>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Contratación dispersa en varias áreas, sin calificación de desempeño</a:t>
            </a:r>
          </a:p>
        </p:txBody>
      </p:sp>
      <p:sp>
        <p:nvSpPr>
          <p:cNvPr id="129" name="Fila 5 respuesta"/>
          <p:cNvSpPr/>
          <p:nvPr/>
        </p:nvSpPr>
        <p:spPr>
          <a:xfrm>
            <a:off x="8823960" y="4599432"/>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Propuestas 1 y 3</a:t>
            </a:r>
          </a:p>
        </p:txBody>
      </p:sp>
      <p:sp>
        <p:nvSpPr>
          <p:cNvPr id="130" name="Fila 6"/>
          <p:cNvSpPr/>
          <p:nvPr/>
        </p:nvSpPr>
        <p:spPr>
          <a:xfrm>
            <a:off x="548640" y="5166360"/>
            <a:ext cx="11064240" cy="566928"/>
          </a:xfrm>
          <a:prstGeom prst="roundRect">
            <a:avLst>
              <a:gd name="adj" fmla="val 12000"/>
            </a:avLst>
          </a:prstGeom>
          <a:solidFill>
            <a:srgbClr val="EEF3F9"/>
          </a:solidFill>
          <a:ln w="9525">
            <a:solidFill>
              <a:srgbClr val="D6E2EF"/>
            </a:solidFill>
          </a:ln>
        </p:spPr>
      </p:sp>
      <p:sp>
        <p:nvSpPr>
          <p:cNvPr id="131" name="Fila 6 marca"/>
          <p:cNvSpPr/>
          <p:nvPr/>
        </p:nvSpPr>
        <p:spPr>
          <a:xfrm>
            <a:off x="713232" y="5285232"/>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32" name="Fila 6 area"/>
          <p:cNvSpPr txBox="1"/>
          <p:nvPr/>
        </p:nvSpPr>
        <p:spPr>
          <a:xfrm>
            <a:off x="1188720" y="5166360"/>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Políticas y procedimientos aprobados</a:t>
            </a:r>
          </a:p>
        </p:txBody>
      </p:sp>
      <p:sp>
        <p:nvSpPr>
          <p:cNvPr id="133" name="Fila 6 situacion"/>
          <p:cNvSpPr txBox="1"/>
          <p:nvPr/>
        </p:nvSpPr>
        <p:spPr>
          <a:xfrm>
            <a:off x="4754880" y="5166360"/>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No existen lineamientos internos de cumplimiento</a:t>
            </a:r>
          </a:p>
        </p:txBody>
      </p:sp>
      <p:sp>
        <p:nvSpPr>
          <p:cNvPr id="134" name="Fila 6 respuesta"/>
          <p:cNvSpPr/>
          <p:nvPr/>
        </p:nvSpPr>
        <p:spPr>
          <a:xfrm>
            <a:off x="8823960" y="5257800"/>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1: Política</a:t>
            </a:r>
          </a:p>
        </p:txBody>
      </p:sp>
      <p:sp>
        <p:nvSpPr>
          <p:cNvPr id="135" name="Nota"/>
          <p:cNvSpPr txBox="1"/>
          <p:nvPr/>
        </p:nvSpPr>
        <p:spPr>
          <a:xfrm>
            <a:off x="548640" y="5897880"/>
            <a:ext cx="9875520" cy="365760"/>
          </a:xfrm>
          <a:prstGeom prst="rect">
            <a:avLst/>
          </a:prstGeom>
          <a:noFill/>
          <a:ln>
            <a:noFill/>
          </a:ln>
        </p:spPr>
        <p:txBody>
          <a:bodyPr wrap="square" lIns="0" tIns="0" rIns="0" bIns="0" rtlCol="0" anchor="ctr">
            <a:normAutofit/>
          </a:bodyPr>
          <a:lstStyle/>
          <a:p>
            <a:pPr marL="0" indent="0" algn="l">
              <a:buNone/>
            </a:pPr>
            <a:r>
              <a:rPr lang="es-SV" sz="950" i="1" dirty="0">
                <a:solidFill>
                  <a:srgbClr val="5F7590"/>
                </a:solidFill>
                <a:latin typeface="Arial" panose="020B0604020202020204" pitchFamily="34" charset="0"/>
                <a:cs typeface="Arial" panose="020B0604020202020204" pitchFamily="34" charset="0"/>
              </a:rPr>
              <a:t>Áreas de mayor exposición según la práctica supervisora. Validar y completar con el detalle de las observaciones formales recibidas de la SSF.</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Comedica Avaluos">
  <a:themeElements>
    <a:clrScheme name="Comedica Avaluos">
      <a:dk1>
        <a:srgbClr val="1E2A3A"/>
      </a:dk1>
      <a:lt1>
        <a:srgbClr val="FFFFFF"/>
      </a:lt1>
      <a:dk2>
        <a:srgbClr val="00376E"/>
      </a:dk2>
      <a:lt2>
        <a:srgbClr val="EEF3F9"/>
      </a:lt2>
      <a:accent1>
        <a:srgbClr val="005C9F"/>
      </a:accent1>
      <a:accent2>
        <a:srgbClr val="9CC3F0"/>
      </a:accent2>
      <a:accent3>
        <a:srgbClr val="C62828"/>
      </a:accent3>
      <a:accent4>
        <a:srgbClr val="5F7590"/>
      </a:accent4>
      <a:accent5>
        <a:srgbClr val="C9DBF2"/>
      </a:accent5>
      <a:accent6>
        <a:srgbClr val="D6E2EF"/>
      </a:accent6>
      <a:hlink>
        <a:srgbClr val="0070C0"/>
      </a:hlink>
      <a:folHlink>
        <a:srgbClr val="5F7590"/>
      </a:folHlink>
    </a:clrScheme>
    <a:fontScheme name="Comedica Avaluos">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167</TotalTime>
  <Words>1263</Words>
  <Application>Microsoft Office PowerPoint</Application>
  <PresentationFormat>Panorámica</PresentationFormat>
  <Paragraphs>209</Paragraphs>
  <Slides>17</Slides>
  <Notes>17</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17</vt:i4>
      </vt:variant>
    </vt:vector>
  </HeadingPairs>
  <TitlesOfParts>
    <vt:vector size="20" baseType="lpstr">
      <vt:lpstr>Arial</vt:lpstr>
      <vt:lpstr>Century Gothic</vt:lpstr>
      <vt:lpstr>Comedica Avaluos</vt:lpstr>
      <vt:lpstr>Presentación de PowerPoint</vt:lpstr>
      <vt:lpstr>Presentación de PowerPoint</vt:lpstr>
      <vt:lpstr>Situación actual</vt:lpstr>
      <vt:lpstr>CUATRO GERENCIAS INTERVIENEN EN EL PROCESO DE AVALÚOS</vt:lpstr>
      <vt:lpstr>1. GERENCIA DE NEGOCIO</vt:lpstr>
      <vt:lpstr>2. GERENCIA LEGAL Y 3. GERENCIA DE OPERACIONES </vt:lpstr>
      <vt:lpstr>4. GERENCIA GENERAL: DEPTO. DE ADMINISTRACIÓN DE RIESGOS</vt:lpstr>
      <vt:lpstr>Presentación de PowerPoint</vt:lpstr>
      <vt:lpstr>318 EXPEDIENTES HIPOTECARIOS INGRESADOS (ENE–SEP.)</vt:lpstr>
      <vt:lpstr>5 EXPEDIENTES AL MES, EN PROMEDIO, NO SE TRAMITAN</vt:lpstr>
      <vt:lpstr>RIESGO IDENTIFICADO EN LA GESTIÓN ACTUAL DE AVALÚOS</vt:lpstr>
      <vt:lpstr>PROPUESTA</vt:lpstr>
      <vt:lpstr>1: POLÍTICA ADMINISTRACIÓN DE AVALÚOS</vt:lpstr>
      <vt:lpstr>2: CONTRATAR UN REVISOR SEGÚN NRP-27, ARTÍCULO 40</vt:lpstr>
      <vt:lpstr>3: DEPARTAMENTO DE RIESGO ADMINISTRA LOS AVALÚOS</vt:lpstr>
      <vt:lpstr>SE SOLICITA AL COMITÉ DE RIESGO AUTORIZAR</vt:lpstr>
      <vt:lpstr>Presentación de PowerPoint</vt:lpstr>
    </vt:vector>
  </TitlesOfParts>
  <Company>Comedica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Hector Jose Menjivar Somoza</cp:lastModifiedBy>
  <cp:revision>2</cp:revision>
  <dcterms:created xsi:type="dcterms:W3CDTF">2026-10-21T16:54:16Z</dcterms:created>
  <dcterms:modified xsi:type="dcterms:W3CDTF">2026-10-21T19:59:44Z</dcterms:modified>
</cp:coreProperties>
</file>