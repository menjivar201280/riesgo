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2aac6b3a-cddc-8a6b-5b6a-b2f1befeb885}">
          <p14:sldIdLst>
            <p14:sldId id="256"/>
          </p14:sldIdLst>
        </p14:section>
        <p14:section name="Agenda" id="{feb7e73d-9cd6-6d19-e2ec-b6b03484bb8d}">
          <p14:sldIdLst>
            <p14:sldId id="257"/>
          </p14:sldIdLst>
        </p14:section>
        <p14:section name="A. Situación actual" id="{3f88c0aa-c65a-dea2-551a-2eda415fd1b3}">
          <p14:sldIdLst>
            <p14:sldId id="258"/>
            <p14:sldId id="259"/>
            <p14:sldId id="260"/>
            <p14:sldId id="261"/>
            <p14:sldId id="262"/>
          </p14:sldIdLst>
        </p14:section>
        <p14:section name="Datos operativos" id="{9acde0da-f896-90f2-0322-52a880e29a79}">
          <p14:sldIdLst>
            <p14:sldId id="263"/>
            <p14:sldId id="264"/>
            <p14:sldId id="265"/>
          </p14:sldIdLst>
        </p14:section>
        <p14:section name="Riesgo identificado" id="{6f9940ff-de3a-b251-a283-f7e43ae0cb0a}">
          <p14:sldIdLst>
            <p14:sldId id="266"/>
          </p14:sldIdLst>
        </p14:section>
        <p14:section name="B. Propuesta" id="{09fe9182-0851-8f89-ceba-348580857f5e}">
          <p14:sldIdLst>
            <p14:sldId id="267"/>
            <p14:sldId id="268"/>
            <p14:sldId id="269"/>
            <p14:sldId id="270"/>
          </p14:sldIdLst>
        </p14:section>
        <p14:section name="Solicitud" id="{0f25d45d-b092-8fd5-946c-dc1831f04e69}">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Expedientes HIPOTECARIO por mes</a:t>
            </a:r>
          </a:p>
        </c:rich>
      </c:tx>
      <c:layout/>
      <c:overlay val="0"/>
    </c:title>
    <c:autoTitleDeleted val="0"/>
    <c:plotArea>
      <c:layout/>
      <c:barChart>
        <c:barDir val="col"/>
        <c:grouping val="clustered"/>
        <c:varyColors val="0"/>
        <c:ser>
          <c:idx val="0"/>
          <c:order val="0"/>
          <c:tx>
            <c:strRef>
              <c:f>Sheet1!$B$1</c:f>
              <c:strCache>
                <c:ptCount val="1"/>
                <c:pt idx="0">
                  <c:v>HIPOTECARIO</c:v>
                </c:pt>
              </c:strCache>
            </c:strRef>
          </c:tx>
          <c:spPr>
            <a:solidFill>
              <a:srgbClr val="1F5FAE"/>
            </a:solidFill>
            <a:effectLst/>
          </c:spPr>
          <c:invertIfNegative val="0"/>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ser>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Casos que no se tramitan por mes</a:t>
            </a:r>
          </a:p>
        </c:rich>
      </c:tx>
      <c:layout/>
      <c:overlay val="0"/>
    </c:title>
    <c:autoTitleDeleted val="0"/>
    <c:plotArea>
      <c:layout/>
      <c:barChart>
        <c:barDir val="col"/>
        <c:grouping val="clustered"/>
        <c:varyColors val="0"/>
        <c:ser>
          <c:idx val="0"/>
          <c:order val="0"/>
          <c:tx>
            <c:strRef>
              <c:f>Sheet1!$B$1</c:f>
              <c:strCache>
                <c:ptCount val="1"/>
                <c:pt idx="0">
                  <c:v>Casos no tramitados</c:v>
                </c:pt>
              </c:strCache>
            </c:strRef>
          </c:tx>
          <c:spPr>
            <a:solidFill>
              <a:srgbClr val="1F5FAE"/>
            </a:solidFill>
            <a:effectLst/>
          </c:spPr>
          <c:invertIfNegative val="0"/>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ser>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Promedio (5)</c:v>
                </c:pt>
              </c:strCache>
            </c:strRef>
          </c:tx>
          <c:spPr>
            <a:solidFill>
              <a:srgbClr val="0A2A5C"/>
            </a:solidFill>
            <a:ln w="25400" cap="flat">
              <a:solidFill>
                <a:srgbClr val="0A2A5C"/>
              </a:solidFill>
              <a:prstDash val="dash"/>
              <a:round/>
            </a:ln>
            <a:effectLst/>
          </c:spPr>
          <c:invertIfNegative val="0"/>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c:symbol val="none"/>
            <c:size val="6"/>
            <c:spPr>
              <a:solidFill>
                <a:srgbClr val="0A2A5C"/>
              </a:solidFill>
              <a:ln w="9525" cap="flat">
                <a:solidFill>
                  <a:srgbClr val="0A2A5C"/>
                </a:solidFill>
                <a:prstDash val="solid"/>
                <a:round/>
              </a:ln>
              <a:effectLst/>
            </c:spPr>
          </c:marker>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ser>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F759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Proyecto Administración de Avalúos  ·  Comité de Riesgo y Consejo de Administración</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Proyecto Administración de Avalúos</a:t>
            </a: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lIns="0" tIns="0" rIns="0" bIns="0" rtlCol="0" anchor="t"/>
          <a:lstStyle/>
          <a:p>
            <a:pPr indent="0" marL="0">
              <a:buNone/>
            </a:pPr>
            <a:r>
              <a:rPr lang="en-US" sz="2000" dirty="0">
                <a:solidFill>
                  <a:schemeClr val="accent5"/>
                </a:solidFill>
              </a:rPr>
              <a:t>Resumen Ejecutivo para el Comité de Riesgo y Consejo de Administración</a:t>
            </a:r>
            <a:endParaRPr lang="en-US" sz="2000" dirty="0"/>
          </a:p>
        </p:txBody>
      </p:sp>
      <p:sp>
        <p:nvSpPr>
          <p:cNvPr id="4" name="Text 2"/>
          <p:cNvSpPr txBox="1"/>
          <p:nvPr/>
        </p:nvSpPr>
        <p:spPr>
          <a:xfrm>
            <a:off x="731520" y="5760720"/>
            <a:ext cx="7315200" cy="365760"/>
          </a:xfrm>
          <a:prstGeom prst="rect">
            <a:avLst/>
          </a:prstGeom>
          <a:noFill/>
          <a:ln/>
        </p:spPr>
        <p:txBody>
          <a:bodyPr wrap="square" lIns="0" tIns="0" rIns="0" bIns="0" rtlCol="0" anchor="t"/>
          <a:lstStyle/>
          <a:p>
            <a:pPr indent="0" marL="0">
              <a:buNone/>
            </a:pPr>
            <a:r>
              <a:rPr lang="en-US" sz="1400" dirty="0">
                <a:solidFill>
                  <a:schemeClr val="bg1"/>
                </a:solidFill>
              </a:rPr>
              <a:t>Departamento de Administración de Riesgos  ·  Octubre 2026</a:t>
            </a:r>
            <a:endParaRPr lang="en-US" sz="1400" dirty="0"/>
          </a:p>
        </p:txBody>
      </p:sp>
      <p:sp>
        <p:nvSpPr>
          <p:cNvPr id="5" name="hero circle"/>
          <p:cNvSpPr/>
          <p:nvPr/>
        </p:nvSpPr>
        <p:spPr>
          <a:xfrm>
            <a:off x="8732520" y="1691640"/>
            <a:ext cx="2926080" cy="2926080"/>
          </a:xfrm>
          <a:prstGeom prst="ellipse">
            <a:avLst/>
          </a:prstGeom>
          <a:solidFill>
            <a:srgbClr val="1F5FAE"/>
          </a:solidFill>
          <a:ln w="12700">
            <a:solidFill>
              <a:srgbClr val="1F5FAE"/>
            </a:solidFill>
            <a:prstDash val="solid"/>
          </a:ln>
        </p:spPr>
      </p:sp>
      <p:pic>
        <p:nvPicPr>
          <p:cNvPr id="6" name="hero icon" descr="preencoded.png">    </p:cNvPr>
          <p:cNvPicPr>
            <a:picLocks noChangeAspect="1"/>
          </p:cNvPicPr>
          <p:nvPr/>
        </p:nvPicPr>
        <p:blipFill>
          <a:blip r:embed="rId1"/>
          <a:stretch>
            <a:fillRect/>
          </a:stretch>
        </p:blipFill>
        <p:spPr>
          <a:xfrm>
            <a:off x="9372600" y="2331720"/>
            <a:ext cx="1645920" cy="1645920"/>
          </a:xfrm>
          <a:prstGeom prst="rect">
            <a:avLst/>
          </a:prstGeom>
        </p:spPr>
      </p:pic>
      <p:sp>
        <p:nvSpPr>
          <p:cNvPr id="7" name="hero badge"/>
          <p:cNvSpPr/>
          <p:nvPr/>
        </p:nvSpPr>
        <p:spPr>
          <a:xfrm>
            <a:off x="10972800" y="4069080"/>
            <a:ext cx="822960" cy="822960"/>
          </a:xfrm>
          <a:prstGeom prst="ellipse">
            <a:avLst/>
          </a:prstGeom>
          <a:solidFill>
            <a:srgbClr val="9CC3F0"/>
          </a:solidFill>
          <a:ln w="12700">
            <a:solidFill>
              <a:srgbClr val="9CC3F0"/>
            </a:solidFill>
            <a:prstDash val="solid"/>
          </a:ln>
        </p:spPr>
      </p:sp>
      <p:pic>
        <p:nvPicPr>
          <p:cNvPr id="8" name="hero badge icon" descr="preencoded.png">    </p:cNvPr>
          <p:cNvPicPr>
            <a:picLocks noChangeAspect="1"/>
          </p:cNvPicPr>
          <p:nvPr/>
        </p:nvPicPr>
        <p:blipFill>
          <a:blip r:embed="rId2"/>
          <a:stretch>
            <a:fillRect/>
          </a:stretch>
        </p:blipFill>
        <p:spPr>
          <a:xfrm>
            <a:off x="11137392" y="4233672"/>
            <a:ext cx="493776"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card 1"/>
          <p:cNvSpPr/>
          <p:nvPr/>
        </p:nvSpPr>
        <p:spPr>
          <a:xfrm>
            <a:off x="548640" y="1737360"/>
            <a:ext cx="2560320" cy="3657600"/>
          </a:xfrm>
          <a:prstGeom prst="roundRect">
            <a:avLst>
              <a:gd name="adj" fmla="val 4286"/>
            </a:avLst>
          </a:prstGeom>
          <a:solidFill>
            <a:srgbClr val="F4F7FB"/>
          </a:solidFill>
          <a:ln w="9525">
            <a:solidFill>
              <a:srgbClr val="DCE5F0"/>
            </a:solidFill>
            <a:prstDash val="solid"/>
          </a:ln>
        </p:spPr>
      </p:sp>
      <p:sp>
        <p:nvSpPr>
          <p:cNvPr id="4" name="agenda 1 circle"/>
          <p:cNvSpPr/>
          <p:nvPr/>
        </p:nvSpPr>
        <p:spPr>
          <a:xfrm>
            <a:off x="868680" y="2103120"/>
            <a:ext cx="868680" cy="868680"/>
          </a:xfrm>
          <a:prstGeom prst="ellipse">
            <a:avLst/>
          </a:prstGeom>
          <a:solidFill>
            <a:srgbClr val="1F5FAE"/>
          </a:solidFill>
          <a:ln w="12700">
            <a:solidFill>
              <a:srgbClr val="1F5FAE"/>
            </a:solidFill>
            <a:prstDash val="solid"/>
          </a:ln>
        </p:spPr>
      </p:sp>
      <p:pic>
        <p:nvPicPr>
          <p:cNvPr id="5" name="agenda 1 icon" descr="preencoded.png">    </p:cNvPr>
          <p:cNvPicPr>
            <a:picLocks noChangeAspect="1"/>
          </p:cNvPicPr>
          <p:nvPr/>
        </p:nvPicPr>
        <p:blipFill>
          <a:blip r:embed="rId1"/>
          <a:stretch>
            <a:fillRect/>
          </a:stretch>
        </p:blipFill>
        <p:spPr>
          <a:xfrm>
            <a:off x="1059790" y="2294230"/>
            <a:ext cx="486461" cy="486461"/>
          </a:xfrm>
          <a:prstGeom prst="rect">
            <a:avLst/>
          </a:prstGeom>
        </p:spPr>
      </p:pic>
      <p:sp>
        <p:nvSpPr>
          <p:cNvPr id="6" name="Text 3"/>
          <p:cNvSpPr txBox="1"/>
          <p:nvPr/>
        </p:nvSpPr>
        <p:spPr>
          <a:xfrm>
            <a:off x="214884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01</a:t>
            </a:r>
            <a:endParaRPr lang="en-US" sz="2800" dirty="0"/>
          </a:p>
        </p:txBody>
      </p:sp>
      <p:sp>
        <p:nvSpPr>
          <p:cNvPr id="7" name="Text 4"/>
          <p:cNvSpPr txBox="1"/>
          <p:nvPr/>
        </p:nvSpPr>
        <p:spPr>
          <a:xfrm>
            <a:off x="86868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 Situación actual</a:t>
            </a:r>
            <a:endParaRPr lang="en-US" sz="2000" dirty="0"/>
          </a:p>
        </p:txBody>
      </p:sp>
      <p:sp>
        <p:nvSpPr>
          <p:cNvPr id="8" name="Text 5"/>
          <p:cNvSpPr txBox="1"/>
          <p:nvPr/>
        </p:nvSpPr>
        <p:spPr>
          <a:xfrm>
            <a:off x="86868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Cómo se distribuye hoy el proceso de avalúos entre gerencias</a:t>
            </a:r>
            <a:endParaRPr lang="en-US" sz="1500" dirty="0"/>
          </a:p>
        </p:txBody>
      </p:sp>
      <p:sp>
        <p:nvSpPr>
          <p:cNvPr id="9" name="agenda card 2"/>
          <p:cNvSpPr/>
          <p:nvPr/>
        </p:nvSpPr>
        <p:spPr>
          <a:xfrm>
            <a:off x="3383280" y="1737360"/>
            <a:ext cx="2560320" cy="3657600"/>
          </a:xfrm>
          <a:prstGeom prst="roundRect">
            <a:avLst>
              <a:gd name="adj" fmla="val 4286"/>
            </a:avLst>
          </a:prstGeom>
          <a:solidFill>
            <a:srgbClr val="F4F7FB"/>
          </a:solidFill>
          <a:ln w="9525">
            <a:solidFill>
              <a:srgbClr val="DCE5F0"/>
            </a:solidFill>
            <a:prstDash val="solid"/>
          </a:ln>
        </p:spPr>
      </p:sp>
      <p:sp>
        <p:nvSpPr>
          <p:cNvPr id="10" name="agenda 2 circle"/>
          <p:cNvSpPr/>
          <p:nvPr/>
        </p:nvSpPr>
        <p:spPr>
          <a:xfrm>
            <a:off x="3703320" y="2103120"/>
            <a:ext cx="868680" cy="868680"/>
          </a:xfrm>
          <a:prstGeom prst="ellipse">
            <a:avLst/>
          </a:prstGeom>
          <a:solidFill>
            <a:srgbClr val="1F5FAE"/>
          </a:solidFill>
          <a:ln w="12700">
            <a:solidFill>
              <a:srgbClr val="1F5FAE"/>
            </a:solidFill>
            <a:prstDash val="solid"/>
          </a:ln>
        </p:spPr>
      </p:sp>
      <p:pic>
        <p:nvPicPr>
          <p:cNvPr id="11" name="agenda 2 icon" descr="preencoded.png">    </p:cNvPr>
          <p:cNvPicPr>
            <a:picLocks noChangeAspect="1"/>
          </p:cNvPicPr>
          <p:nvPr/>
        </p:nvPicPr>
        <p:blipFill>
          <a:blip r:embed="rId2"/>
          <a:stretch>
            <a:fillRect/>
          </a:stretch>
        </p:blipFill>
        <p:spPr>
          <a:xfrm>
            <a:off x="3894430" y="2294230"/>
            <a:ext cx="486461" cy="486461"/>
          </a:xfrm>
          <a:prstGeom prst="rect">
            <a:avLst/>
          </a:prstGeom>
        </p:spPr>
      </p:pic>
      <p:sp>
        <p:nvSpPr>
          <p:cNvPr id="12" name="Text 8"/>
          <p:cNvSpPr txBox="1"/>
          <p:nvPr/>
        </p:nvSpPr>
        <p:spPr>
          <a:xfrm>
            <a:off x="498348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02</a:t>
            </a:r>
            <a:endParaRPr lang="en-US" sz="2800" dirty="0"/>
          </a:p>
        </p:txBody>
      </p:sp>
      <p:sp>
        <p:nvSpPr>
          <p:cNvPr id="13" name="Text 9"/>
          <p:cNvSpPr txBox="1"/>
          <p:nvPr/>
        </p:nvSpPr>
        <p:spPr>
          <a:xfrm>
            <a:off x="370332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Datos operativos</a:t>
            </a:r>
            <a:endParaRPr lang="en-US" sz="2000" dirty="0"/>
          </a:p>
        </p:txBody>
      </p:sp>
      <p:sp>
        <p:nvSpPr>
          <p:cNvPr id="14" name="Text 10"/>
          <p:cNvSpPr txBox="1"/>
          <p:nvPr/>
        </p:nvSpPr>
        <p:spPr>
          <a:xfrm>
            <a:off x="370332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Expedientes ingresados, casos no tramitados y actualización de avalúos</a:t>
            </a:r>
            <a:endParaRPr lang="en-US" sz="1500" dirty="0"/>
          </a:p>
        </p:txBody>
      </p:sp>
      <p:sp>
        <p:nvSpPr>
          <p:cNvPr id="15" name="agenda card 3"/>
          <p:cNvSpPr/>
          <p:nvPr/>
        </p:nvSpPr>
        <p:spPr>
          <a:xfrm>
            <a:off x="6217920" y="1737360"/>
            <a:ext cx="2560320" cy="3657600"/>
          </a:xfrm>
          <a:prstGeom prst="roundRect">
            <a:avLst>
              <a:gd name="adj" fmla="val 4286"/>
            </a:avLst>
          </a:prstGeom>
          <a:solidFill>
            <a:srgbClr val="F4F7FB"/>
          </a:solidFill>
          <a:ln w="9525">
            <a:solidFill>
              <a:srgbClr val="DCE5F0"/>
            </a:solidFill>
            <a:prstDash val="solid"/>
          </a:ln>
        </p:spPr>
      </p:sp>
      <p:sp>
        <p:nvSpPr>
          <p:cNvPr id="16" name="agenda 3 circle"/>
          <p:cNvSpPr/>
          <p:nvPr/>
        </p:nvSpPr>
        <p:spPr>
          <a:xfrm>
            <a:off x="6537960" y="2103120"/>
            <a:ext cx="868680" cy="868680"/>
          </a:xfrm>
          <a:prstGeom prst="ellipse">
            <a:avLst/>
          </a:prstGeom>
          <a:solidFill>
            <a:srgbClr val="164A8F"/>
          </a:solidFill>
          <a:ln w="12700">
            <a:solidFill>
              <a:srgbClr val="164A8F"/>
            </a:solidFill>
            <a:prstDash val="solid"/>
          </a:ln>
        </p:spPr>
      </p:sp>
      <p:pic>
        <p:nvPicPr>
          <p:cNvPr id="17" name="agenda 3 icon" descr="preencoded.png">    </p:cNvPr>
          <p:cNvPicPr>
            <a:picLocks noChangeAspect="1"/>
          </p:cNvPicPr>
          <p:nvPr/>
        </p:nvPicPr>
        <p:blipFill>
          <a:blip r:embed="rId3"/>
          <a:stretch>
            <a:fillRect/>
          </a:stretch>
        </p:blipFill>
        <p:spPr>
          <a:xfrm>
            <a:off x="6729070" y="2294230"/>
            <a:ext cx="486461" cy="486461"/>
          </a:xfrm>
          <a:prstGeom prst="rect">
            <a:avLst/>
          </a:prstGeom>
        </p:spPr>
      </p:pic>
      <p:sp>
        <p:nvSpPr>
          <p:cNvPr id="18" name="Text 13"/>
          <p:cNvSpPr txBox="1"/>
          <p:nvPr/>
        </p:nvSpPr>
        <p:spPr>
          <a:xfrm>
            <a:off x="781812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03</a:t>
            </a:r>
            <a:endParaRPr lang="en-US" sz="2800" dirty="0"/>
          </a:p>
        </p:txBody>
      </p:sp>
      <p:sp>
        <p:nvSpPr>
          <p:cNvPr id="19" name="Text 14"/>
          <p:cNvSpPr txBox="1"/>
          <p:nvPr/>
        </p:nvSpPr>
        <p:spPr>
          <a:xfrm>
            <a:off x="653796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Riesgo identificado</a:t>
            </a:r>
            <a:endParaRPr lang="en-US" sz="2000" dirty="0"/>
          </a:p>
        </p:txBody>
      </p:sp>
      <p:sp>
        <p:nvSpPr>
          <p:cNvPr id="20" name="Text 15"/>
          <p:cNvSpPr txBox="1"/>
          <p:nvPr/>
        </p:nvSpPr>
        <p:spPr>
          <a:xfrm>
            <a:off x="653796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Ausencia de un área de control centralizada</a:t>
            </a:r>
            <a:endParaRPr lang="en-US" sz="1500" dirty="0"/>
          </a:p>
        </p:txBody>
      </p:sp>
      <p:sp>
        <p:nvSpPr>
          <p:cNvPr id="21" name="agenda card 4"/>
          <p:cNvSpPr/>
          <p:nvPr/>
        </p:nvSpPr>
        <p:spPr>
          <a:xfrm>
            <a:off x="9052560" y="1737360"/>
            <a:ext cx="2560320" cy="3657600"/>
          </a:xfrm>
          <a:prstGeom prst="roundRect">
            <a:avLst>
              <a:gd name="adj" fmla="val 4286"/>
            </a:avLst>
          </a:prstGeom>
          <a:solidFill>
            <a:srgbClr val="F4F7FB"/>
          </a:solidFill>
          <a:ln w="9525">
            <a:solidFill>
              <a:srgbClr val="DCE5F0"/>
            </a:solidFill>
            <a:prstDash val="solid"/>
          </a:ln>
        </p:spPr>
      </p:sp>
      <p:sp>
        <p:nvSpPr>
          <p:cNvPr id="22" name="agenda 4 circle"/>
          <p:cNvSpPr/>
          <p:nvPr/>
        </p:nvSpPr>
        <p:spPr>
          <a:xfrm>
            <a:off x="9372600" y="2103120"/>
            <a:ext cx="868680" cy="868680"/>
          </a:xfrm>
          <a:prstGeom prst="ellipse">
            <a:avLst/>
          </a:prstGeom>
          <a:solidFill>
            <a:srgbClr val="1F5FAE"/>
          </a:solidFill>
          <a:ln w="12700">
            <a:solidFill>
              <a:srgbClr val="1F5FAE"/>
            </a:solidFill>
            <a:prstDash val="solid"/>
          </a:ln>
        </p:spPr>
      </p:sp>
      <p:pic>
        <p:nvPicPr>
          <p:cNvPr id="23" name="agenda 4 icon" descr="preencoded.png">    </p:cNvPr>
          <p:cNvPicPr>
            <a:picLocks noChangeAspect="1"/>
          </p:cNvPicPr>
          <p:nvPr/>
        </p:nvPicPr>
        <p:blipFill>
          <a:blip r:embed="rId4"/>
          <a:stretch>
            <a:fillRect/>
          </a:stretch>
        </p:blipFill>
        <p:spPr>
          <a:xfrm>
            <a:off x="9563710" y="2294230"/>
            <a:ext cx="486461" cy="486461"/>
          </a:xfrm>
          <a:prstGeom prst="rect">
            <a:avLst/>
          </a:prstGeom>
        </p:spPr>
      </p:pic>
      <p:sp>
        <p:nvSpPr>
          <p:cNvPr id="24" name="Text 18"/>
          <p:cNvSpPr txBox="1"/>
          <p:nvPr/>
        </p:nvSpPr>
        <p:spPr>
          <a:xfrm>
            <a:off x="1065276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04</a:t>
            </a:r>
            <a:endParaRPr lang="en-US" sz="2800" dirty="0"/>
          </a:p>
        </p:txBody>
      </p:sp>
      <p:sp>
        <p:nvSpPr>
          <p:cNvPr id="25" name="Text 19"/>
          <p:cNvSpPr txBox="1"/>
          <p:nvPr/>
        </p:nvSpPr>
        <p:spPr>
          <a:xfrm>
            <a:off x="937260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 Propuesta</a:t>
            </a:r>
            <a:endParaRPr lang="en-US" sz="2000" dirty="0"/>
          </a:p>
        </p:txBody>
      </p:sp>
      <p:sp>
        <p:nvSpPr>
          <p:cNvPr id="26" name="Text 20"/>
          <p:cNvSpPr txBox="1"/>
          <p:nvPr/>
        </p:nvSpPr>
        <p:spPr>
          <a:xfrm>
            <a:off x="937260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Tres solicitudes de autorización al Comité de Riesgo</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A. Situación actual</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El proceso de avalúos lo realizan hoy 20 personas distribuidas en 4 gerencias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Cuatro gerencias intervienen en el proceso de avalúos</a:t>
            </a:r>
            <a:endParaRPr lang="en-US" sz="3000" dirty="0"/>
          </a:p>
        </p:txBody>
      </p:sp>
      <p:sp>
        <p:nvSpPr>
          <p:cNvPr id="3" name="gerencia card 1"/>
          <p:cNvSpPr/>
          <p:nvPr/>
        </p:nvSpPr>
        <p:spPr>
          <a:xfrm>
            <a:off x="548640" y="1417320"/>
            <a:ext cx="2560320" cy="4343400"/>
          </a:xfrm>
          <a:prstGeom prst="roundRect">
            <a:avLst>
              <a:gd name="adj" fmla="val 4286"/>
            </a:avLst>
          </a:prstGeom>
          <a:solidFill>
            <a:srgbClr val="F4F7FB"/>
          </a:solidFill>
          <a:ln w="9525">
            <a:solidFill>
              <a:srgbClr val="DCE5F0"/>
            </a:solidFill>
            <a:prstDash val="solid"/>
          </a:ln>
        </p:spPr>
      </p:sp>
      <p:sp>
        <p:nvSpPr>
          <p:cNvPr id="4" name="gerencia 1 circle"/>
          <p:cNvSpPr/>
          <p:nvPr/>
        </p:nvSpPr>
        <p:spPr>
          <a:xfrm>
            <a:off x="868680" y="1737360"/>
            <a:ext cx="777240" cy="777240"/>
          </a:xfrm>
          <a:prstGeom prst="ellipse">
            <a:avLst/>
          </a:prstGeom>
          <a:solidFill>
            <a:srgbClr val="1F5FAE"/>
          </a:solidFill>
          <a:ln w="12700">
            <a:solidFill>
              <a:srgbClr val="1F5FAE"/>
            </a:solidFill>
            <a:prstDash val="solid"/>
          </a:ln>
        </p:spPr>
      </p:sp>
      <p:pic>
        <p:nvPicPr>
          <p:cNvPr id="5" name="gerencia 1 icon" descr="preencoded.png">    </p:cNvPr>
          <p:cNvPicPr>
            <a:picLocks noChangeAspect="1"/>
          </p:cNvPicPr>
          <p:nvPr/>
        </p:nvPicPr>
        <p:blipFill>
          <a:blip r:embed="rId1"/>
          <a:stretch>
            <a:fillRect/>
          </a:stretch>
        </p:blipFill>
        <p:spPr>
          <a:xfrm>
            <a:off x="1039673" y="1908353"/>
            <a:ext cx="435254" cy="435254"/>
          </a:xfrm>
          <a:prstGeom prst="rect">
            <a:avLst/>
          </a:prstGeom>
        </p:spPr>
      </p:pic>
      <p:sp>
        <p:nvSpPr>
          <p:cNvPr id="6" name="Text 3"/>
          <p:cNvSpPr txBox="1"/>
          <p:nvPr/>
        </p:nvSpPr>
        <p:spPr>
          <a:xfrm>
            <a:off x="86868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de Negocio</a:t>
            </a:r>
            <a:endParaRPr lang="en-US" sz="1800" dirty="0"/>
          </a:p>
        </p:txBody>
      </p:sp>
      <p:sp>
        <p:nvSpPr>
          <p:cNvPr id="7" name="Text 4"/>
          <p:cNvSpPr txBox="1"/>
          <p:nvPr/>
        </p:nvSpPr>
        <p:spPr>
          <a:xfrm>
            <a:off x="86868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8" name="Text 5"/>
          <p:cNvSpPr txBox="1"/>
          <p:nvPr/>
        </p:nvSpPr>
        <p:spPr>
          <a:xfrm>
            <a:off x="86868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9" name="Text 6"/>
          <p:cNvSpPr txBox="1"/>
          <p:nvPr/>
        </p:nvSpPr>
        <p:spPr>
          <a:xfrm>
            <a:off x="86868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 y administración de peritos, recepción e ingreso de informes</a:t>
            </a:r>
            <a:endParaRPr lang="en-US" sz="1300" dirty="0"/>
          </a:p>
        </p:txBody>
      </p:sp>
      <p:sp>
        <p:nvSpPr>
          <p:cNvPr id="10" name="gerencia card 2"/>
          <p:cNvSpPr/>
          <p:nvPr/>
        </p:nvSpPr>
        <p:spPr>
          <a:xfrm>
            <a:off x="3383280" y="1417320"/>
            <a:ext cx="2560320" cy="4343400"/>
          </a:xfrm>
          <a:prstGeom prst="roundRect">
            <a:avLst>
              <a:gd name="adj" fmla="val 4286"/>
            </a:avLst>
          </a:prstGeom>
          <a:solidFill>
            <a:srgbClr val="F4F7FB"/>
          </a:solidFill>
          <a:ln w="9525">
            <a:solidFill>
              <a:srgbClr val="DCE5F0"/>
            </a:solidFill>
            <a:prstDash val="solid"/>
          </a:ln>
        </p:spPr>
      </p:sp>
      <p:sp>
        <p:nvSpPr>
          <p:cNvPr id="11" name="gerencia 2 circle"/>
          <p:cNvSpPr/>
          <p:nvPr/>
        </p:nvSpPr>
        <p:spPr>
          <a:xfrm>
            <a:off x="3703320" y="1737360"/>
            <a:ext cx="777240" cy="777240"/>
          </a:xfrm>
          <a:prstGeom prst="ellipse">
            <a:avLst/>
          </a:prstGeom>
          <a:solidFill>
            <a:srgbClr val="1F5FAE"/>
          </a:solidFill>
          <a:ln w="12700">
            <a:solidFill>
              <a:srgbClr val="1F5FAE"/>
            </a:solidFill>
            <a:prstDash val="solid"/>
          </a:ln>
        </p:spPr>
      </p:sp>
      <p:pic>
        <p:nvPicPr>
          <p:cNvPr id="12" name="gerencia 2 icon" descr="preencoded.png">    </p:cNvPr>
          <p:cNvPicPr>
            <a:picLocks noChangeAspect="1"/>
          </p:cNvPicPr>
          <p:nvPr/>
        </p:nvPicPr>
        <p:blipFill>
          <a:blip r:embed="rId2"/>
          <a:stretch>
            <a:fillRect/>
          </a:stretch>
        </p:blipFill>
        <p:spPr>
          <a:xfrm>
            <a:off x="3874313" y="1908353"/>
            <a:ext cx="435254" cy="435254"/>
          </a:xfrm>
          <a:prstGeom prst="rect">
            <a:avLst/>
          </a:prstGeom>
        </p:spPr>
      </p:pic>
      <p:sp>
        <p:nvSpPr>
          <p:cNvPr id="13" name="Text 9"/>
          <p:cNvSpPr txBox="1"/>
          <p:nvPr/>
        </p:nvSpPr>
        <p:spPr>
          <a:xfrm>
            <a:off x="370332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Legal</a:t>
            </a:r>
            <a:endParaRPr lang="en-US" sz="1800" dirty="0"/>
          </a:p>
        </p:txBody>
      </p:sp>
      <p:sp>
        <p:nvSpPr>
          <p:cNvPr id="14" name="Text 10"/>
          <p:cNvSpPr txBox="1"/>
          <p:nvPr/>
        </p:nvSpPr>
        <p:spPr>
          <a:xfrm>
            <a:off x="370332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1"/>
          <p:cNvSpPr txBox="1"/>
          <p:nvPr/>
        </p:nvSpPr>
        <p:spPr>
          <a:xfrm>
            <a:off x="370332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16" name="Text 12"/>
          <p:cNvSpPr txBox="1"/>
          <p:nvPr/>
        </p:nvSpPr>
        <p:spPr>
          <a:xfrm>
            <a:off x="370332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Contratos hipotecarios y validación del informe de avalúos</a:t>
            </a:r>
            <a:endParaRPr lang="en-US" sz="1300" dirty="0"/>
          </a:p>
        </p:txBody>
      </p:sp>
      <p:sp>
        <p:nvSpPr>
          <p:cNvPr id="17" name="gerencia card 3"/>
          <p:cNvSpPr/>
          <p:nvPr/>
        </p:nvSpPr>
        <p:spPr>
          <a:xfrm>
            <a:off x="6217920" y="1417320"/>
            <a:ext cx="2560320" cy="4343400"/>
          </a:xfrm>
          <a:prstGeom prst="roundRect">
            <a:avLst>
              <a:gd name="adj" fmla="val 4286"/>
            </a:avLst>
          </a:prstGeom>
          <a:solidFill>
            <a:srgbClr val="F4F7FB"/>
          </a:solidFill>
          <a:ln w="9525">
            <a:solidFill>
              <a:srgbClr val="DCE5F0"/>
            </a:solidFill>
            <a:prstDash val="solid"/>
          </a:ln>
        </p:spPr>
      </p:sp>
      <p:sp>
        <p:nvSpPr>
          <p:cNvPr id="18" name="gerencia 3 circle"/>
          <p:cNvSpPr/>
          <p:nvPr/>
        </p:nvSpPr>
        <p:spPr>
          <a:xfrm>
            <a:off x="6537960" y="1737360"/>
            <a:ext cx="777240" cy="777240"/>
          </a:xfrm>
          <a:prstGeom prst="ellipse">
            <a:avLst/>
          </a:prstGeom>
          <a:solidFill>
            <a:srgbClr val="1F5FAE"/>
          </a:solidFill>
          <a:ln w="12700">
            <a:solidFill>
              <a:srgbClr val="1F5FAE"/>
            </a:solidFill>
            <a:prstDash val="solid"/>
          </a:ln>
        </p:spPr>
      </p:sp>
      <p:pic>
        <p:nvPicPr>
          <p:cNvPr id="19" name="gerencia 3 icon" descr="preencoded.png">    </p:cNvPr>
          <p:cNvPicPr>
            <a:picLocks noChangeAspect="1"/>
          </p:cNvPicPr>
          <p:nvPr/>
        </p:nvPicPr>
        <p:blipFill>
          <a:blip r:embed="rId3"/>
          <a:stretch>
            <a:fillRect/>
          </a:stretch>
        </p:blipFill>
        <p:spPr>
          <a:xfrm>
            <a:off x="6708953" y="1908353"/>
            <a:ext cx="435254" cy="435254"/>
          </a:xfrm>
          <a:prstGeom prst="rect">
            <a:avLst/>
          </a:prstGeom>
        </p:spPr>
      </p:pic>
      <p:sp>
        <p:nvSpPr>
          <p:cNvPr id="20" name="Text 15"/>
          <p:cNvSpPr txBox="1"/>
          <p:nvPr/>
        </p:nvSpPr>
        <p:spPr>
          <a:xfrm>
            <a:off x="653796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Operacional</a:t>
            </a:r>
            <a:endParaRPr lang="en-US" sz="1800" dirty="0"/>
          </a:p>
        </p:txBody>
      </p:sp>
      <p:sp>
        <p:nvSpPr>
          <p:cNvPr id="21" name="Text 16"/>
          <p:cNvSpPr txBox="1"/>
          <p:nvPr/>
        </p:nvSpPr>
        <p:spPr>
          <a:xfrm>
            <a:off x="653796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2" name="Text 17"/>
          <p:cNvSpPr txBox="1"/>
          <p:nvPr/>
        </p:nvSpPr>
        <p:spPr>
          <a:xfrm>
            <a:off x="653796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23" name="Text 18"/>
          <p:cNvSpPr txBox="1"/>
          <p:nvPr/>
        </p:nvSpPr>
        <p:spPr>
          <a:xfrm>
            <a:off x="653796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Administración de Cartera: modifica y actualiza el Módulo de Garantías</a:t>
            </a:r>
            <a:endParaRPr lang="en-US" sz="1300" dirty="0"/>
          </a:p>
        </p:txBody>
      </p:sp>
      <p:sp>
        <p:nvSpPr>
          <p:cNvPr id="24" name="gerencia card 4"/>
          <p:cNvSpPr/>
          <p:nvPr/>
        </p:nvSpPr>
        <p:spPr>
          <a:xfrm>
            <a:off x="9052560" y="1417320"/>
            <a:ext cx="2560320" cy="4343400"/>
          </a:xfrm>
          <a:prstGeom prst="roundRect">
            <a:avLst>
              <a:gd name="adj" fmla="val 4286"/>
            </a:avLst>
          </a:prstGeom>
          <a:solidFill>
            <a:srgbClr val="F4F7FB"/>
          </a:solidFill>
          <a:ln w="9525">
            <a:solidFill>
              <a:srgbClr val="DCE5F0"/>
            </a:solidFill>
            <a:prstDash val="solid"/>
          </a:ln>
        </p:spPr>
      </p:sp>
      <p:sp>
        <p:nvSpPr>
          <p:cNvPr id="25" name="gerencia 4 circle"/>
          <p:cNvSpPr/>
          <p:nvPr/>
        </p:nvSpPr>
        <p:spPr>
          <a:xfrm>
            <a:off x="9372600" y="1737360"/>
            <a:ext cx="777240" cy="777240"/>
          </a:xfrm>
          <a:prstGeom prst="ellipse">
            <a:avLst/>
          </a:prstGeom>
          <a:solidFill>
            <a:srgbClr val="1F5FAE"/>
          </a:solidFill>
          <a:ln w="12700">
            <a:solidFill>
              <a:srgbClr val="1F5FAE"/>
            </a:solidFill>
            <a:prstDash val="solid"/>
          </a:ln>
        </p:spPr>
      </p:sp>
      <p:pic>
        <p:nvPicPr>
          <p:cNvPr id="26" name="gerencia 4 icon" descr="preencoded.png">    </p:cNvPr>
          <p:cNvPicPr>
            <a:picLocks noChangeAspect="1"/>
          </p:cNvPicPr>
          <p:nvPr/>
        </p:nvPicPr>
        <p:blipFill>
          <a:blip r:embed="rId4"/>
          <a:stretch>
            <a:fillRect/>
          </a:stretch>
        </p:blipFill>
        <p:spPr>
          <a:xfrm>
            <a:off x="9543593" y="1908353"/>
            <a:ext cx="435254" cy="435254"/>
          </a:xfrm>
          <a:prstGeom prst="rect">
            <a:avLst/>
          </a:prstGeom>
        </p:spPr>
      </p:pic>
      <p:sp>
        <p:nvSpPr>
          <p:cNvPr id="27" name="Text 21"/>
          <p:cNvSpPr txBox="1"/>
          <p:nvPr/>
        </p:nvSpPr>
        <p:spPr>
          <a:xfrm>
            <a:off x="937260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General</a:t>
            </a:r>
            <a:endParaRPr lang="en-US" sz="1800" dirty="0"/>
          </a:p>
        </p:txBody>
      </p:sp>
      <p:sp>
        <p:nvSpPr>
          <p:cNvPr id="28" name="Text 22"/>
          <p:cNvSpPr txBox="1"/>
          <p:nvPr/>
        </p:nvSpPr>
        <p:spPr>
          <a:xfrm>
            <a:off x="937260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9" name="Text 23"/>
          <p:cNvSpPr txBox="1"/>
          <p:nvPr/>
        </p:nvSpPr>
        <p:spPr>
          <a:xfrm>
            <a:off x="937260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30" name="Text 24"/>
          <p:cNvSpPr txBox="1"/>
          <p:nvPr/>
        </p:nvSpPr>
        <p:spPr>
          <a:xfrm>
            <a:off x="937260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Departamento de Administración de Riesgos: actualización y monitoreo</a:t>
            </a:r>
            <a:endParaRPr lang="en-US" sz="1300" dirty="0"/>
          </a:p>
        </p:txBody>
      </p:sp>
      <p:sp>
        <p:nvSpPr>
          <p:cNvPr id="31" name="Text 25"/>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400" b="1" dirty="0">
                <a:solidFill>
                  <a:schemeClr val="accent3"/>
                </a:solidFill>
              </a:rPr>
              <a:t>Total: </a:t>
            </a:r>
            <a:pPr indent="0" marL="0">
              <a:buNone/>
            </a:pPr>
            <a:r>
              <a:rPr lang="en-US" sz="1400" dirty="0">
                <a:solidFill>
                  <a:schemeClr val="accent3"/>
                </a:solidFill>
              </a:rPr>
              <a:t>20 personas participan en el proceso, sin un área que lo controle de forma centralizada.</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1. Gerencia de Negocio</a:t>
            </a:r>
            <a:endParaRPr lang="en-US" sz="3000" dirty="0"/>
          </a:p>
        </p:txBody>
      </p:sp>
      <p:sp>
        <p:nvSpPr>
          <p:cNvPr id="3" name="negocio 1 circle"/>
          <p:cNvSpPr/>
          <p:nvPr/>
        </p:nvSpPr>
        <p:spPr>
          <a:xfrm>
            <a:off x="548640" y="1463040"/>
            <a:ext cx="640080" cy="640080"/>
          </a:xfrm>
          <a:prstGeom prst="ellipse">
            <a:avLst/>
          </a:prstGeom>
          <a:solidFill>
            <a:srgbClr val="F4F7FB"/>
          </a:solidFill>
          <a:ln w="12700">
            <a:solidFill>
              <a:srgbClr val="F4F7FB"/>
            </a:solidFill>
            <a:prstDash val="solid"/>
          </a:ln>
        </p:spPr>
      </p:sp>
      <p:pic>
        <p:nvPicPr>
          <p:cNvPr id="4" name="negocio 1 icon" descr="preencoded.png">    </p:cNvPr>
          <p:cNvPicPr>
            <a:picLocks noChangeAspect="1"/>
          </p:cNvPicPr>
          <p:nvPr/>
        </p:nvPicPr>
        <p:blipFill>
          <a:blip r:embed="rId1"/>
          <a:stretch>
            <a:fillRect/>
          </a:stretch>
        </p:blipFill>
        <p:spPr>
          <a:xfrm>
            <a:off x="689458" y="1603858"/>
            <a:ext cx="358445" cy="358445"/>
          </a:xfrm>
          <a:prstGeom prst="rect">
            <a:avLst/>
          </a:prstGeom>
        </p:spPr>
      </p:pic>
      <p:sp>
        <p:nvSpPr>
          <p:cNvPr id="5" name="Text 2"/>
          <p:cNvSpPr txBox="1"/>
          <p:nvPr/>
        </p:nvSpPr>
        <p:spPr>
          <a:xfrm>
            <a:off x="1417320" y="141732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Gerente de Negocio:</a:t>
            </a:r>
            <a:pPr indent="0" marL="0">
              <a:buNone/>
            </a:pPr>
            <a:r>
              <a:rPr lang="en-US" sz="1600" dirty="0">
                <a:solidFill>
                  <a:schemeClr val="tx1"/>
                </a:solidFill>
              </a:rPr>
              <a:t> Administrador de Contrato de Peritos</a:t>
            </a:r>
            <a:endParaRPr lang="en-US" sz="1600" dirty="0"/>
          </a:p>
        </p:txBody>
      </p:sp>
      <p:sp>
        <p:nvSpPr>
          <p:cNvPr id="6" name="negocio 2 circle"/>
          <p:cNvSpPr/>
          <p:nvPr/>
        </p:nvSpPr>
        <p:spPr>
          <a:xfrm>
            <a:off x="548640" y="2423160"/>
            <a:ext cx="640080" cy="640080"/>
          </a:xfrm>
          <a:prstGeom prst="ellipse">
            <a:avLst/>
          </a:prstGeom>
          <a:solidFill>
            <a:srgbClr val="F4F7FB"/>
          </a:solidFill>
          <a:ln w="12700">
            <a:solidFill>
              <a:srgbClr val="F4F7FB"/>
            </a:solidFill>
            <a:prstDash val="solid"/>
          </a:ln>
        </p:spPr>
      </p:sp>
      <p:pic>
        <p:nvPicPr>
          <p:cNvPr id="7" name="negocio 2 icon" descr="preencoded.png">    </p:cNvPr>
          <p:cNvPicPr>
            <a:picLocks noChangeAspect="1"/>
          </p:cNvPicPr>
          <p:nvPr/>
        </p:nvPicPr>
        <p:blipFill>
          <a:blip r:embed="rId2"/>
          <a:stretch>
            <a:fillRect/>
          </a:stretch>
        </p:blipFill>
        <p:spPr>
          <a:xfrm>
            <a:off x="689458" y="2563978"/>
            <a:ext cx="358445" cy="358445"/>
          </a:xfrm>
          <a:prstGeom prst="rect">
            <a:avLst/>
          </a:prstGeom>
        </p:spPr>
      </p:pic>
      <p:sp>
        <p:nvSpPr>
          <p:cNvPr id="8" name="Text 4"/>
          <p:cNvSpPr txBox="1"/>
          <p:nvPr/>
        </p:nvSpPr>
        <p:spPr>
          <a:xfrm>
            <a:off x="1417320" y="237744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Jefe de Crédito:</a:t>
            </a:r>
            <a:pPr indent="0" marL="0">
              <a:buNone/>
            </a:pPr>
            <a:r>
              <a:rPr lang="en-US" sz="1600" dirty="0">
                <a:solidFill>
                  <a:schemeClr val="tx1"/>
                </a:solidFill>
              </a:rPr>
              <a:t> Administrador de Peritos</a:t>
            </a:r>
            <a:endParaRPr lang="en-US" sz="1600" dirty="0"/>
          </a:p>
        </p:txBody>
      </p:sp>
      <p:sp>
        <p:nvSpPr>
          <p:cNvPr id="9" name="negocio 3 circle"/>
          <p:cNvSpPr/>
          <p:nvPr/>
        </p:nvSpPr>
        <p:spPr>
          <a:xfrm>
            <a:off x="548640" y="3383280"/>
            <a:ext cx="640080" cy="640080"/>
          </a:xfrm>
          <a:prstGeom prst="ellipse">
            <a:avLst/>
          </a:prstGeom>
          <a:solidFill>
            <a:srgbClr val="F4F7FB"/>
          </a:solidFill>
          <a:ln w="12700">
            <a:solidFill>
              <a:srgbClr val="F4F7FB"/>
            </a:solidFill>
            <a:prstDash val="solid"/>
          </a:ln>
        </p:spPr>
      </p:sp>
      <p:pic>
        <p:nvPicPr>
          <p:cNvPr id="10" name="negocio 3 icon" descr="preencoded.png">    </p:cNvPr>
          <p:cNvPicPr>
            <a:picLocks noChangeAspect="1"/>
          </p:cNvPicPr>
          <p:nvPr/>
        </p:nvPicPr>
        <p:blipFill>
          <a:blip r:embed="rId3"/>
          <a:stretch>
            <a:fillRect/>
          </a:stretch>
        </p:blipFill>
        <p:spPr>
          <a:xfrm>
            <a:off x="689458" y="3524098"/>
            <a:ext cx="358445" cy="358445"/>
          </a:xfrm>
          <a:prstGeom prst="rect">
            <a:avLst/>
          </a:prstGeom>
        </p:spPr>
      </p:pic>
      <p:sp>
        <p:nvSpPr>
          <p:cNvPr id="11" name="Text 6"/>
          <p:cNvSpPr txBox="1"/>
          <p:nvPr/>
        </p:nvSpPr>
        <p:spPr>
          <a:xfrm>
            <a:off x="1417320" y="3337560"/>
            <a:ext cx="6309360" cy="1188720"/>
          </a:xfrm>
          <a:prstGeom prst="rect">
            <a:avLst/>
          </a:prstGeom>
          <a:noFill/>
          <a:ln/>
        </p:spPr>
        <p:txBody>
          <a:bodyPr wrap="square" lIns="0" tIns="0" rIns="0" bIns="0" rtlCol="0" anchor="ctr"/>
          <a:lstStyle/>
          <a:p>
            <a:pPr indent="0" marL="0">
              <a:buNone/>
            </a:pPr>
            <a:r>
              <a:rPr lang="en-US" sz="1600" b="1" dirty="0">
                <a:solidFill>
                  <a:schemeClr val="tx2"/>
                </a:solidFill>
              </a:rPr>
              <a:t>Ejecutivos de Negocio:</a:t>
            </a:r>
            <a:pPr indent="0" marL="0">
              <a:buNone/>
            </a:pPr>
            <a:r>
              <a:rPr lang="en-US" sz="1600" dirty="0">
                <a:solidFill>
                  <a:schemeClr val="tx1"/>
                </a:solidFill>
              </a:rPr>
              <a:t> Recepción de Informes de Avalúos, e Ingreso de la Informacion en el sistema Industrial de Créditos Modulo de Garantías (9 Personas)</a:t>
            </a:r>
            <a:endParaRPr lang="en-US" sz="1600" dirty="0"/>
          </a:p>
        </p:txBody>
      </p:sp>
      <p:sp>
        <p:nvSpPr>
          <p:cNvPr id="12" name="negocio 4 circle"/>
          <p:cNvSpPr/>
          <p:nvPr/>
        </p:nvSpPr>
        <p:spPr>
          <a:xfrm>
            <a:off x="548640" y="4754880"/>
            <a:ext cx="640080" cy="640080"/>
          </a:xfrm>
          <a:prstGeom prst="ellipse">
            <a:avLst/>
          </a:prstGeom>
          <a:solidFill>
            <a:srgbClr val="F4F7FB"/>
          </a:solidFill>
          <a:ln w="12700">
            <a:solidFill>
              <a:srgbClr val="F4F7FB"/>
            </a:solidFill>
            <a:prstDash val="solid"/>
          </a:ln>
        </p:spPr>
      </p:sp>
      <p:pic>
        <p:nvPicPr>
          <p:cNvPr id="13" name="negocio 4 icon" descr="preencoded.png">    </p:cNvPr>
          <p:cNvPicPr>
            <a:picLocks noChangeAspect="1"/>
          </p:cNvPicPr>
          <p:nvPr/>
        </p:nvPicPr>
        <p:blipFill>
          <a:blip r:embed="rId4"/>
          <a:stretch>
            <a:fillRect/>
          </a:stretch>
        </p:blipFill>
        <p:spPr>
          <a:xfrm>
            <a:off x="689458" y="4895698"/>
            <a:ext cx="358445" cy="358445"/>
          </a:xfrm>
          <a:prstGeom prst="rect">
            <a:avLst/>
          </a:prstGeom>
        </p:spPr>
      </p:pic>
      <p:sp>
        <p:nvSpPr>
          <p:cNvPr id="14" name="Text 8"/>
          <p:cNvSpPr txBox="1"/>
          <p:nvPr/>
        </p:nvSpPr>
        <p:spPr>
          <a:xfrm>
            <a:off x="1417320" y="470916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Analista de Crédito:</a:t>
            </a:r>
            <a:pPr indent="0" marL="0">
              <a:buNone/>
            </a:pPr>
            <a:r>
              <a:rPr lang="en-US" sz="1600" dirty="0">
                <a:solidFill>
                  <a:schemeClr val="tx1"/>
                </a:solidFill>
              </a:rPr>
              <a:t> Recibe el Informe de avalúos</a:t>
            </a:r>
            <a:endParaRPr lang="en-US" sz="1600" dirty="0"/>
          </a:p>
        </p:txBody>
      </p:sp>
      <p:sp>
        <p:nvSpPr>
          <p:cNvPr id="15" name="negocio stat"/>
          <p:cNvSpPr/>
          <p:nvPr/>
        </p:nvSpPr>
        <p:spPr>
          <a:xfrm>
            <a:off x="8229600" y="1417320"/>
            <a:ext cx="3383280" cy="4526280"/>
          </a:xfrm>
          <a:prstGeom prst="roundRect">
            <a:avLst>
              <a:gd name="adj" fmla="val 3243"/>
            </a:avLst>
          </a:prstGeom>
          <a:solidFill>
            <a:srgbClr val="0A2A5C"/>
          </a:solidFill>
          <a:ln w="9525">
            <a:solidFill>
              <a:srgbClr val="0A2A5C"/>
            </a:solidFill>
            <a:prstDash val="solid"/>
          </a:ln>
        </p:spPr>
      </p:sp>
      <p:sp>
        <p:nvSpPr>
          <p:cNvPr id="16" name="Text 10"/>
          <p:cNvSpPr txBox="1"/>
          <p:nvPr/>
        </p:nvSpPr>
        <p:spPr>
          <a:xfrm>
            <a:off x="8549640" y="1783080"/>
            <a:ext cx="2743200" cy="1280160"/>
          </a:xfrm>
          <a:prstGeom prst="rect">
            <a:avLst/>
          </a:prstGeom>
          <a:noFill/>
          <a:ln/>
        </p:spPr>
        <p:txBody>
          <a:bodyPr wrap="square" lIns="0" tIns="0" rIns="0" bIns="0" rtlCol="0" anchor="t"/>
          <a:lstStyle/>
          <a:p>
            <a:pPr algn="l" indent="0" marL="0">
              <a:buNone/>
            </a:pPr>
            <a:r>
              <a:rPr lang="en-US" sz="8000" b="1" dirty="0">
                <a:solidFill>
                  <a:schemeClr val="accent2"/>
                </a:solidFill>
                <a:latin typeface="Cambria" pitchFamily="34" charset="0"/>
                <a:ea typeface="Cambria" pitchFamily="34" charset="-122"/>
                <a:cs typeface="Cambria" pitchFamily="34" charset="-120"/>
              </a:rPr>
              <a:t>14</a:t>
            </a:r>
            <a:endParaRPr lang="en-US" sz="8000" dirty="0"/>
          </a:p>
        </p:txBody>
      </p:sp>
      <p:sp>
        <p:nvSpPr>
          <p:cNvPr id="17" name="Text 11"/>
          <p:cNvSpPr txBox="1"/>
          <p:nvPr/>
        </p:nvSpPr>
        <p:spPr>
          <a:xfrm>
            <a:off x="8549640" y="3108960"/>
            <a:ext cx="274320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14 Personas</a:t>
            </a:r>
            <a:endParaRPr lang="en-US" sz="1700" dirty="0"/>
          </a:p>
        </p:txBody>
      </p:sp>
      <p:sp>
        <p:nvSpPr>
          <p:cNvPr id="18" name="Text 12"/>
          <p:cNvSpPr txBox="1"/>
          <p:nvPr/>
        </p:nvSpPr>
        <p:spPr>
          <a:xfrm>
            <a:off x="8549640" y="4069080"/>
            <a:ext cx="2743200" cy="1280160"/>
          </a:xfrm>
          <a:prstGeom prst="rect">
            <a:avLst/>
          </a:prstGeom>
          <a:noFill/>
          <a:ln/>
        </p:spPr>
        <p:txBody>
          <a:bodyPr wrap="square" lIns="0" tIns="0" rIns="0" bIns="0" rtlCol="0" anchor="t"/>
          <a:lstStyle/>
          <a:p>
            <a:pPr indent="0" marL="0">
              <a:buNone/>
            </a:pPr>
            <a:r>
              <a:rPr lang="en-US" sz="1400" dirty="0">
                <a:solidFill>
                  <a:schemeClr val="accent5"/>
                </a:solidFill>
              </a:rPr>
              <a:t>De ellas, 9 son Ejecutivos de Negocio que ingresan información en el Módulo de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2. Gerencia Legal y 3. Gerencia Operacional</a:t>
            </a:r>
            <a:endParaRPr lang="en-US" sz="3000" dirty="0"/>
          </a:p>
        </p:txBody>
      </p:sp>
      <p:sp>
        <p:nvSpPr>
          <p:cNvPr id="3" name="columna 1"/>
          <p:cNvSpPr/>
          <p:nvPr/>
        </p:nvSpPr>
        <p:spPr>
          <a:xfrm>
            <a:off x="548640" y="1371600"/>
            <a:ext cx="5349240" cy="4709160"/>
          </a:xfrm>
          <a:prstGeom prst="roundRect">
            <a:avLst>
              <a:gd name="adj" fmla="val 2330"/>
            </a:avLst>
          </a:prstGeom>
          <a:solidFill>
            <a:srgbClr val="F4F7FB"/>
          </a:solidFill>
          <a:ln w="9525">
            <a:solidFill>
              <a:srgbClr val="DCE5F0"/>
            </a:solidFill>
            <a:prstDash val="solid"/>
          </a:ln>
        </p:spPr>
      </p:sp>
      <p:sp>
        <p:nvSpPr>
          <p:cNvPr id="4" name="columna 1 circle"/>
          <p:cNvSpPr/>
          <p:nvPr/>
        </p:nvSpPr>
        <p:spPr>
          <a:xfrm>
            <a:off x="914400" y="1691640"/>
            <a:ext cx="731520" cy="731520"/>
          </a:xfrm>
          <a:prstGeom prst="ellipse">
            <a:avLst/>
          </a:prstGeom>
          <a:solidFill>
            <a:srgbClr val="1F5FAE"/>
          </a:solidFill>
          <a:ln w="12700">
            <a:solidFill>
              <a:srgbClr val="1F5FAE"/>
            </a:solidFill>
            <a:prstDash val="solid"/>
          </a:ln>
        </p:spPr>
      </p:sp>
      <p:pic>
        <p:nvPicPr>
          <p:cNvPr id="5" name="columna 1 icon" descr="preencoded.png">    </p:cNvPr>
          <p:cNvPicPr>
            <a:picLocks noChangeAspect="1"/>
          </p:cNvPicPr>
          <p:nvPr/>
        </p:nvPicPr>
        <p:blipFill>
          <a:blip r:embed="rId1"/>
          <a:stretch>
            <a:fillRect/>
          </a:stretch>
        </p:blipFill>
        <p:spPr>
          <a:xfrm>
            <a:off x="1075334" y="1852574"/>
            <a:ext cx="409651" cy="409651"/>
          </a:xfrm>
          <a:prstGeom prst="rect">
            <a:avLst/>
          </a:prstGeom>
        </p:spPr>
      </p:pic>
      <p:sp>
        <p:nvSpPr>
          <p:cNvPr id="6" name="Text 3"/>
          <p:cNvSpPr txBox="1"/>
          <p:nvPr/>
        </p:nvSpPr>
        <p:spPr>
          <a:xfrm>
            <a:off x="1828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2. Gerencia legal</a:t>
            </a:r>
            <a:endParaRPr lang="en-US" sz="2200" dirty="0"/>
          </a:p>
        </p:txBody>
      </p:sp>
      <p:sp>
        <p:nvSpPr>
          <p:cNvPr id="7" name="Text 4"/>
          <p:cNvSpPr txBox="1"/>
          <p:nvPr/>
        </p:nvSpPr>
        <p:spPr>
          <a:xfrm>
            <a:off x="914400" y="2697480"/>
            <a:ext cx="4617720" cy="23774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Realiza los contratos Hipotecarios y valida información en el Informe de avalúos, para ingresar en el sistema Industrial de Créditos Modulo de garantías la información de Inscripción y presentación de Garantías.</a:t>
            </a:r>
            <a:endParaRPr lang="en-US" sz="1500" dirty="0"/>
          </a:p>
        </p:txBody>
      </p:sp>
      <p:sp>
        <p:nvSpPr>
          <p:cNvPr id="8" name="pill 1"/>
          <p:cNvSpPr/>
          <p:nvPr/>
        </p:nvSpPr>
        <p:spPr>
          <a:xfrm>
            <a:off x="914400" y="5257800"/>
            <a:ext cx="4617720" cy="548640"/>
          </a:xfrm>
          <a:prstGeom prst="roundRect">
            <a:avLst>
              <a:gd name="adj" fmla="val 16667"/>
            </a:avLst>
          </a:prstGeom>
          <a:solidFill>
            <a:srgbClr val="0A2A5C"/>
          </a:solidFill>
          <a:ln w="12700">
            <a:solidFill>
              <a:srgbClr val="0A2A5C"/>
            </a:solidFill>
            <a:prstDash val="solid"/>
          </a:ln>
        </p:spPr>
      </p:sp>
      <p:sp>
        <p:nvSpPr>
          <p:cNvPr id="9" name="Text 6"/>
          <p:cNvSpPr txBox="1"/>
          <p:nvPr/>
        </p:nvSpPr>
        <p:spPr>
          <a:xfrm>
            <a:off x="1051560" y="5257800"/>
            <a:ext cx="4389120" cy="548640"/>
          </a:xfrm>
          <a:prstGeom prst="rect">
            <a:avLst/>
          </a:prstGeom>
          <a:noFill/>
          <a:ln/>
        </p:spPr>
        <p:txBody>
          <a:bodyPr wrap="square" lIns="0" tIns="0" rIns="0" bIns="0" rtlCol="0" anchor="ctr"/>
          <a:lstStyle/>
          <a:p>
            <a:pPr indent="0" marL="0">
              <a:buNone/>
            </a:pPr>
            <a:r>
              <a:rPr lang="en-US" sz="1500" b="1" dirty="0">
                <a:solidFill>
                  <a:schemeClr val="bg1"/>
                </a:solidFill>
              </a:rPr>
              <a:t>Proceso actual realizado por 2 Personas</a:t>
            </a:r>
            <a:endParaRPr lang="en-US" sz="1500" dirty="0"/>
          </a:p>
        </p:txBody>
      </p:sp>
      <p:sp>
        <p:nvSpPr>
          <p:cNvPr id="10" name="columna 2"/>
          <p:cNvSpPr/>
          <p:nvPr/>
        </p:nvSpPr>
        <p:spPr>
          <a:xfrm>
            <a:off x="6263640" y="1371600"/>
            <a:ext cx="5349240" cy="4709160"/>
          </a:xfrm>
          <a:prstGeom prst="roundRect">
            <a:avLst>
              <a:gd name="adj" fmla="val 2330"/>
            </a:avLst>
          </a:prstGeom>
          <a:solidFill>
            <a:srgbClr val="F4F7FB"/>
          </a:solidFill>
          <a:ln w="9525">
            <a:solidFill>
              <a:srgbClr val="DCE5F0"/>
            </a:solidFill>
            <a:prstDash val="solid"/>
          </a:ln>
        </p:spPr>
      </p:sp>
      <p:sp>
        <p:nvSpPr>
          <p:cNvPr id="11" name="columna 2 circle"/>
          <p:cNvSpPr/>
          <p:nvPr/>
        </p:nvSpPr>
        <p:spPr>
          <a:xfrm>
            <a:off x="6629400" y="1691640"/>
            <a:ext cx="731520" cy="731520"/>
          </a:xfrm>
          <a:prstGeom prst="ellipse">
            <a:avLst/>
          </a:prstGeom>
          <a:solidFill>
            <a:srgbClr val="1F5FAE"/>
          </a:solidFill>
          <a:ln w="12700">
            <a:solidFill>
              <a:srgbClr val="1F5FAE"/>
            </a:solidFill>
            <a:prstDash val="solid"/>
          </a:ln>
        </p:spPr>
      </p:sp>
      <p:pic>
        <p:nvPicPr>
          <p:cNvPr id="12" name="columna 2 icon" descr="preencoded.png">    </p:cNvPr>
          <p:cNvPicPr>
            <a:picLocks noChangeAspect="1"/>
          </p:cNvPicPr>
          <p:nvPr/>
        </p:nvPicPr>
        <p:blipFill>
          <a:blip r:embed="rId2"/>
          <a:stretch>
            <a:fillRect/>
          </a:stretch>
        </p:blipFill>
        <p:spPr>
          <a:xfrm>
            <a:off x="6790334" y="1852574"/>
            <a:ext cx="409651" cy="409651"/>
          </a:xfrm>
          <a:prstGeom prst="rect">
            <a:avLst/>
          </a:prstGeom>
        </p:spPr>
      </p:pic>
      <p:sp>
        <p:nvSpPr>
          <p:cNvPr id="13" name="Text 9"/>
          <p:cNvSpPr txBox="1"/>
          <p:nvPr/>
        </p:nvSpPr>
        <p:spPr>
          <a:xfrm>
            <a:off x="7543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3. Gerencia Operacional</a:t>
            </a:r>
            <a:endParaRPr lang="en-US" sz="2200" dirty="0"/>
          </a:p>
        </p:txBody>
      </p:sp>
      <p:sp>
        <p:nvSpPr>
          <p:cNvPr id="14" name="Text 10"/>
          <p:cNvSpPr txBox="1"/>
          <p:nvPr/>
        </p:nvSpPr>
        <p:spPr>
          <a:xfrm>
            <a:off x="6629400" y="2697480"/>
            <a:ext cx="4617720" cy="23774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Administración de Cartera: Es la encarga actual de Modificar, Actualizar el Sistema Industrial de Créditos del Módulo de Garantías, (de la Informacion enviada por Créditos y Riesgos)</a:t>
            </a:r>
            <a:endParaRPr lang="en-US" sz="1500" dirty="0"/>
          </a:p>
          <a:p>
            <a:pPr indent="0" marL="0">
              <a:spcAft>
                <a:spcPts val="800"/>
              </a:spcAft>
              <a:buNone/>
            </a:pPr>
            <a:r>
              <a:rPr lang="en-US" sz="1500" dirty="0">
                <a:solidFill>
                  <a:schemeClr val="tx1"/>
                </a:solidFill>
              </a:rPr>
              <a:t>Así mismo ha informado que realiza contrataciones de Peritos para valuaciones especiales de garantías</a:t>
            </a:r>
            <a:endParaRPr lang="en-US" sz="1500" dirty="0"/>
          </a:p>
        </p:txBody>
      </p:sp>
      <p:sp>
        <p:nvSpPr>
          <p:cNvPr id="15" name="pill 2"/>
          <p:cNvSpPr/>
          <p:nvPr/>
        </p:nvSpPr>
        <p:spPr>
          <a:xfrm>
            <a:off x="6629400" y="5257800"/>
            <a:ext cx="4617720" cy="548640"/>
          </a:xfrm>
          <a:prstGeom prst="roundRect">
            <a:avLst>
              <a:gd name="adj" fmla="val 16667"/>
            </a:avLst>
          </a:prstGeom>
          <a:solidFill>
            <a:srgbClr val="0A2A5C"/>
          </a:solidFill>
          <a:ln w="12700">
            <a:solidFill>
              <a:srgbClr val="0A2A5C"/>
            </a:solidFill>
            <a:prstDash val="solid"/>
          </a:ln>
        </p:spPr>
      </p:sp>
      <p:sp>
        <p:nvSpPr>
          <p:cNvPr id="16" name="Text 12"/>
          <p:cNvSpPr txBox="1"/>
          <p:nvPr/>
        </p:nvSpPr>
        <p:spPr>
          <a:xfrm>
            <a:off x="6766560" y="5257800"/>
            <a:ext cx="4389120" cy="548640"/>
          </a:xfrm>
          <a:prstGeom prst="rect">
            <a:avLst/>
          </a:prstGeom>
          <a:noFill/>
          <a:ln/>
        </p:spPr>
        <p:txBody>
          <a:bodyPr wrap="square" lIns="0" tIns="0" rIns="0" bIns="0" rtlCol="0" anchor="ctr"/>
          <a:lstStyle/>
          <a:p>
            <a:pPr indent="0" marL="0">
              <a:buNone/>
            </a:pPr>
            <a:r>
              <a:rPr lang="en-US" sz="1500" b="1" dirty="0">
                <a:solidFill>
                  <a:schemeClr val="bg1"/>
                </a:solidFill>
              </a:rPr>
              <a:t>Proceso actual realizado por 2 Personas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4. Gerencia General: Depto. de Administración de Riesgos</a:t>
            </a:r>
            <a:endParaRPr lang="en-US" sz="3000" dirty="0"/>
          </a:p>
        </p:txBody>
      </p:sp>
      <p:sp>
        <p:nvSpPr>
          <p:cNvPr id="3" name="Text 1"/>
          <p:cNvSpPr txBox="1"/>
          <p:nvPr/>
        </p:nvSpPr>
        <p:spPr>
          <a:xfrm>
            <a:off x="548640" y="1234440"/>
            <a:ext cx="7315200" cy="320040"/>
          </a:xfrm>
          <a:prstGeom prst="rect">
            <a:avLst/>
          </a:prstGeom>
          <a:noFill/>
          <a:ln/>
        </p:spPr>
        <p:txBody>
          <a:bodyPr wrap="square" lIns="0" tIns="0" rIns="0" bIns="0" rtlCol="0" anchor="t"/>
          <a:lstStyle/>
          <a:p>
            <a:pPr indent="0" marL="0">
              <a:buNone/>
            </a:pPr>
            <a:r>
              <a:rPr lang="en-US" sz="1500" i="1" dirty="0">
                <a:solidFill>
                  <a:schemeClr val="accent4"/>
                </a:solidFill>
              </a:rPr>
              <a:t>Es la encarga actual de:</a:t>
            </a:r>
            <a:endParaRPr lang="en-US" sz="1500" dirty="0"/>
          </a:p>
        </p:txBody>
      </p:sp>
      <p:sp>
        <p:nvSpPr>
          <p:cNvPr id="4" name="actividad 1"/>
          <p:cNvSpPr/>
          <p:nvPr/>
        </p:nvSpPr>
        <p:spPr>
          <a:xfrm>
            <a:off x="548640" y="1691640"/>
            <a:ext cx="3749040" cy="914400"/>
          </a:xfrm>
          <a:prstGeom prst="roundRect">
            <a:avLst>
              <a:gd name="adj" fmla="val 12000"/>
            </a:avLst>
          </a:prstGeom>
          <a:solidFill>
            <a:srgbClr val="F4F7FB"/>
          </a:solidFill>
          <a:ln w="9525">
            <a:solidFill>
              <a:srgbClr val="DCE5F0"/>
            </a:solidFill>
            <a:prstDash val="solid"/>
          </a:ln>
        </p:spPr>
      </p:sp>
      <p:sp>
        <p:nvSpPr>
          <p:cNvPr id="5" name="actividad 1 circle"/>
          <p:cNvSpPr/>
          <p:nvPr/>
        </p:nvSpPr>
        <p:spPr>
          <a:xfrm>
            <a:off x="731520" y="1874520"/>
            <a:ext cx="548640" cy="548640"/>
          </a:xfrm>
          <a:prstGeom prst="ellipse">
            <a:avLst/>
          </a:prstGeom>
          <a:solidFill>
            <a:srgbClr val="1F5FAE"/>
          </a:solidFill>
          <a:ln w="12700">
            <a:solidFill>
              <a:srgbClr val="1F5FAE"/>
            </a:solidFill>
            <a:prstDash val="solid"/>
          </a:ln>
        </p:spPr>
      </p:sp>
      <p:pic>
        <p:nvPicPr>
          <p:cNvPr id="6" name="actividad 1 icon"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Contratación de Peritos para actualización</a:t>
            </a:r>
            <a:endParaRPr lang="en-US" sz="1400" dirty="0"/>
          </a:p>
        </p:txBody>
      </p:sp>
      <p:sp>
        <p:nvSpPr>
          <p:cNvPr id="8" name="actividad 2"/>
          <p:cNvSpPr/>
          <p:nvPr/>
        </p:nvSpPr>
        <p:spPr>
          <a:xfrm>
            <a:off x="4526280" y="1691640"/>
            <a:ext cx="3749040" cy="914400"/>
          </a:xfrm>
          <a:prstGeom prst="roundRect">
            <a:avLst>
              <a:gd name="adj" fmla="val 12000"/>
            </a:avLst>
          </a:prstGeom>
          <a:solidFill>
            <a:srgbClr val="F4F7FB"/>
          </a:solidFill>
          <a:ln w="9525">
            <a:solidFill>
              <a:srgbClr val="DCE5F0"/>
            </a:solidFill>
            <a:prstDash val="solid"/>
          </a:ln>
        </p:spPr>
      </p:sp>
      <p:sp>
        <p:nvSpPr>
          <p:cNvPr id="9" name="actividad 2 circle"/>
          <p:cNvSpPr/>
          <p:nvPr/>
        </p:nvSpPr>
        <p:spPr>
          <a:xfrm>
            <a:off x="4709160" y="1874520"/>
            <a:ext cx="548640" cy="548640"/>
          </a:xfrm>
          <a:prstGeom prst="ellipse">
            <a:avLst/>
          </a:prstGeom>
          <a:solidFill>
            <a:srgbClr val="1F5FAE"/>
          </a:solidFill>
          <a:ln w="12700">
            <a:solidFill>
              <a:srgbClr val="1F5FAE"/>
            </a:solidFill>
            <a:prstDash val="solid"/>
          </a:ln>
        </p:spPr>
      </p:sp>
      <p:pic>
        <p:nvPicPr>
          <p:cNvPr id="10" name="actividad 2 icon" descr="preencoded.png">    </p:cNvPr>
          <p:cNvPicPr>
            <a:picLocks noChangeAspect="1"/>
          </p:cNvPicPr>
          <p:nvPr/>
        </p:nvPicPr>
        <p:blipFill>
          <a:blip r:embed="rId2"/>
          <a:stretch>
            <a:fillRect/>
          </a:stretch>
        </p:blipFill>
        <p:spPr>
          <a:xfrm>
            <a:off x="4829861" y="1995221"/>
            <a:ext cx="307238" cy="307238"/>
          </a:xfrm>
          <a:prstGeom prst="rect">
            <a:avLst/>
          </a:prstGeom>
        </p:spPr>
      </p:pic>
      <p:sp>
        <p:nvSpPr>
          <p:cNvPr id="11" name="Text 7"/>
          <p:cNvSpPr txBox="1"/>
          <p:nvPr/>
        </p:nvSpPr>
        <p:spPr>
          <a:xfrm>
            <a:off x="539496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Monitoreo Periódico de Vencimiento de garantías</a:t>
            </a:r>
            <a:endParaRPr lang="en-US" sz="1400" dirty="0"/>
          </a:p>
        </p:txBody>
      </p:sp>
      <p:sp>
        <p:nvSpPr>
          <p:cNvPr id="12" name="actividad 3"/>
          <p:cNvSpPr/>
          <p:nvPr/>
        </p:nvSpPr>
        <p:spPr>
          <a:xfrm>
            <a:off x="548640" y="2788920"/>
            <a:ext cx="3749040" cy="914400"/>
          </a:xfrm>
          <a:prstGeom prst="roundRect">
            <a:avLst>
              <a:gd name="adj" fmla="val 12000"/>
            </a:avLst>
          </a:prstGeom>
          <a:solidFill>
            <a:srgbClr val="F4F7FB"/>
          </a:solidFill>
          <a:ln w="9525">
            <a:solidFill>
              <a:srgbClr val="DCE5F0"/>
            </a:solidFill>
            <a:prstDash val="solid"/>
          </a:ln>
        </p:spPr>
      </p:sp>
      <p:sp>
        <p:nvSpPr>
          <p:cNvPr id="13" name="actividad 3 circle"/>
          <p:cNvSpPr/>
          <p:nvPr/>
        </p:nvSpPr>
        <p:spPr>
          <a:xfrm>
            <a:off x="731520" y="2971800"/>
            <a:ext cx="548640" cy="548640"/>
          </a:xfrm>
          <a:prstGeom prst="ellipse">
            <a:avLst/>
          </a:prstGeom>
          <a:solidFill>
            <a:srgbClr val="1F5FAE"/>
          </a:solidFill>
          <a:ln w="12700">
            <a:solidFill>
              <a:srgbClr val="1F5FAE"/>
            </a:solidFill>
            <a:prstDash val="solid"/>
          </a:ln>
        </p:spPr>
      </p:sp>
      <p:pic>
        <p:nvPicPr>
          <p:cNvPr id="14" name="actividad 3 icon" descr="preencoded.png">    </p:cNvPr>
          <p:cNvPicPr>
            <a:picLocks noChangeAspect="1"/>
          </p:cNvPicPr>
          <p:nvPr/>
        </p:nvPicPr>
        <p:blipFill>
          <a:blip r:embed="rId3"/>
          <a:stretch>
            <a:fillRect/>
          </a:stretch>
        </p:blipFill>
        <p:spPr>
          <a:xfrm>
            <a:off x="852221" y="3092501"/>
            <a:ext cx="307238" cy="307238"/>
          </a:xfrm>
          <a:prstGeom prst="rect">
            <a:avLst/>
          </a:prstGeom>
        </p:spPr>
      </p:pic>
      <p:sp>
        <p:nvSpPr>
          <p:cNvPr id="15" name="Text 10"/>
          <p:cNvSpPr txBox="1"/>
          <p:nvPr/>
        </p:nvSpPr>
        <p:spPr>
          <a:xfrm>
            <a:off x="141732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Gestión de actualización de las garantías (3,500, Promedio de 60 Mensual)</a:t>
            </a:r>
            <a:endParaRPr lang="en-US" sz="1400" dirty="0"/>
          </a:p>
        </p:txBody>
      </p:sp>
      <p:sp>
        <p:nvSpPr>
          <p:cNvPr id="16" name="actividad 4"/>
          <p:cNvSpPr/>
          <p:nvPr/>
        </p:nvSpPr>
        <p:spPr>
          <a:xfrm>
            <a:off x="4526280" y="2788920"/>
            <a:ext cx="3749040" cy="914400"/>
          </a:xfrm>
          <a:prstGeom prst="roundRect">
            <a:avLst>
              <a:gd name="adj" fmla="val 12000"/>
            </a:avLst>
          </a:prstGeom>
          <a:solidFill>
            <a:srgbClr val="F4F7FB"/>
          </a:solidFill>
          <a:ln w="9525">
            <a:solidFill>
              <a:srgbClr val="DCE5F0"/>
            </a:solidFill>
            <a:prstDash val="solid"/>
          </a:ln>
        </p:spPr>
      </p:sp>
      <p:sp>
        <p:nvSpPr>
          <p:cNvPr id="17" name="actividad 4 circle"/>
          <p:cNvSpPr/>
          <p:nvPr/>
        </p:nvSpPr>
        <p:spPr>
          <a:xfrm>
            <a:off x="4709160" y="2971800"/>
            <a:ext cx="548640" cy="548640"/>
          </a:xfrm>
          <a:prstGeom prst="ellipse">
            <a:avLst/>
          </a:prstGeom>
          <a:solidFill>
            <a:srgbClr val="1F5FAE"/>
          </a:solidFill>
          <a:ln w="12700">
            <a:solidFill>
              <a:srgbClr val="1F5FAE"/>
            </a:solidFill>
            <a:prstDash val="solid"/>
          </a:ln>
        </p:spPr>
      </p:sp>
      <p:pic>
        <p:nvPicPr>
          <p:cNvPr id="18" name="actividad 4 icon" descr="preencoded.png">    </p:cNvPr>
          <p:cNvPicPr>
            <a:picLocks noChangeAspect="1"/>
          </p:cNvPicPr>
          <p:nvPr/>
        </p:nvPicPr>
        <p:blipFill>
          <a:blip r:embed="rId4"/>
          <a:stretch>
            <a:fillRect/>
          </a:stretch>
        </p:blipFill>
        <p:spPr>
          <a:xfrm>
            <a:off x="4829861" y="3092501"/>
            <a:ext cx="307238" cy="307238"/>
          </a:xfrm>
          <a:prstGeom prst="rect">
            <a:avLst/>
          </a:prstGeom>
        </p:spPr>
      </p:pic>
      <p:sp>
        <p:nvSpPr>
          <p:cNvPr id="19" name="Text 13"/>
          <p:cNvSpPr txBox="1"/>
          <p:nvPr/>
        </p:nvSpPr>
        <p:spPr>
          <a:xfrm>
            <a:off x="539496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Asignación de garantías a peritos</a:t>
            </a:r>
            <a:endParaRPr lang="en-US" sz="1400" dirty="0"/>
          </a:p>
        </p:txBody>
      </p:sp>
      <p:sp>
        <p:nvSpPr>
          <p:cNvPr id="20" name="actividad 5"/>
          <p:cNvSpPr/>
          <p:nvPr/>
        </p:nvSpPr>
        <p:spPr>
          <a:xfrm>
            <a:off x="548640" y="3886200"/>
            <a:ext cx="3749040" cy="914400"/>
          </a:xfrm>
          <a:prstGeom prst="roundRect">
            <a:avLst>
              <a:gd name="adj" fmla="val 12000"/>
            </a:avLst>
          </a:prstGeom>
          <a:solidFill>
            <a:srgbClr val="F4F7FB"/>
          </a:solidFill>
          <a:ln w="9525">
            <a:solidFill>
              <a:srgbClr val="DCE5F0"/>
            </a:solidFill>
            <a:prstDash val="solid"/>
          </a:ln>
        </p:spPr>
      </p:sp>
      <p:sp>
        <p:nvSpPr>
          <p:cNvPr id="21" name="actividad 5 circle"/>
          <p:cNvSpPr/>
          <p:nvPr/>
        </p:nvSpPr>
        <p:spPr>
          <a:xfrm>
            <a:off x="731520" y="4069080"/>
            <a:ext cx="548640" cy="548640"/>
          </a:xfrm>
          <a:prstGeom prst="ellipse">
            <a:avLst/>
          </a:prstGeom>
          <a:solidFill>
            <a:srgbClr val="1F5FAE"/>
          </a:solidFill>
          <a:ln w="12700">
            <a:solidFill>
              <a:srgbClr val="1F5FAE"/>
            </a:solidFill>
            <a:prstDash val="solid"/>
          </a:ln>
        </p:spPr>
      </p:sp>
      <p:pic>
        <p:nvPicPr>
          <p:cNvPr id="22" name="actividad 5 icon" descr="preencoded.png">    </p:cNvPr>
          <p:cNvPicPr>
            <a:picLocks noChangeAspect="1"/>
          </p:cNvPicPr>
          <p:nvPr/>
        </p:nvPicPr>
        <p:blipFill>
          <a:blip r:embed="rId5"/>
          <a:stretch>
            <a:fillRect/>
          </a:stretch>
        </p:blipFill>
        <p:spPr>
          <a:xfrm>
            <a:off x="852221" y="4189781"/>
            <a:ext cx="307238" cy="307238"/>
          </a:xfrm>
          <a:prstGeom prst="rect">
            <a:avLst/>
          </a:prstGeom>
        </p:spPr>
      </p:pic>
      <p:sp>
        <p:nvSpPr>
          <p:cNvPr id="23" name="Text 16"/>
          <p:cNvSpPr txBox="1"/>
          <p:nvPr/>
        </p:nvSpPr>
        <p:spPr>
          <a:xfrm>
            <a:off x="141732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Recepción y revisión de Informes de avalúos</a:t>
            </a:r>
            <a:endParaRPr lang="en-US" sz="1400" dirty="0"/>
          </a:p>
        </p:txBody>
      </p:sp>
      <p:sp>
        <p:nvSpPr>
          <p:cNvPr id="24" name="actividad 6"/>
          <p:cNvSpPr/>
          <p:nvPr/>
        </p:nvSpPr>
        <p:spPr>
          <a:xfrm>
            <a:off x="4526280" y="3886200"/>
            <a:ext cx="3749040" cy="914400"/>
          </a:xfrm>
          <a:prstGeom prst="roundRect">
            <a:avLst>
              <a:gd name="adj" fmla="val 12000"/>
            </a:avLst>
          </a:prstGeom>
          <a:solidFill>
            <a:srgbClr val="F4F7FB"/>
          </a:solidFill>
          <a:ln w="9525">
            <a:solidFill>
              <a:srgbClr val="DCE5F0"/>
            </a:solidFill>
            <a:prstDash val="solid"/>
          </a:ln>
        </p:spPr>
      </p:sp>
      <p:sp>
        <p:nvSpPr>
          <p:cNvPr id="25" name="actividad 6 circle"/>
          <p:cNvSpPr/>
          <p:nvPr/>
        </p:nvSpPr>
        <p:spPr>
          <a:xfrm>
            <a:off x="4709160" y="4069080"/>
            <a:ext cx="548640" cy="548640"/>
          </a:xfrm>
          <a:prstGeom prst="ellipse">
            <a:avLst/>
          </a:prstGeom>
          <a:solidFill>
            <a:srgbClr val="1F5FAE"/>
          </a:solidFill>
          <a:ln w="12700">
            <a:solidFill>
              <a:srgbClr val="1F5FAE"/>
            </a:solidFill>
            <a:prstDash val="solid"/>
          </a:ln>
        </p:spPr>
      </p:sp>
      <p:pic>
        <p:nvPicPr>
          <p:cNvPr id="26" name="actividad 6 icon" descr="preencoded.png">    </p:cNvPr>
          <p:cNvPicPr>
            <a:picLocks noChangeAspect="1"/>
          </p:cNvPicPr>
          <p:nvPr/>
        </p:nvPicPr>
        <p:blipFill>
          <a:blip r:embed="rId6"/>
          <a:stretch>
            <a:fillRect/>
          </a:stretch>
        </p:blipFill>
        <p:spPr>
          <a:xfrm>
            <a:off x="4829861" y="4189781"/>
            <a:ext cx="307238" cy="307238"/>
          </a:xfrm>
          <a:prstGeom prst="rect">
            <a:avLst/>
          </a:prstGeom>
        </p:spPr>
      </p:pic>
      <p:sp>
        <p:nvSpPr>
          <p:cNvPr id="27" name="Text 19"/>
          <p:cNvSpPr txBox="1"/>
          <p:nvPr/>
        </p:nvSpPr>
        <p:spPr>
          <a:xfrm>
            <a:off x="539496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Pago a Peritos</a:t>
            </a:r>
            <a:endParaRPr lang="en-US" sz="1400" dirty="0"/>
          </a:p>
        </p:txBody>
      </p:sp>
      <p:sp>
        <p:nvSpPr>
          <p:cNvPr id="28" name="actividad 7"/>
          <p:cNvSpPr/>
          <p:nvPr/>
        </p:nvSpPr>
        <p:spPr>
          <a:xfrm>
            <a:off x="548640" y="4983480"/>
            <a:ext cx="3749040" cy="914400"/>
          </a:xfrm>
          <a:prstGeom prst="roundRect">
            <a:avLst>
              <a:gd name="adj" fmla="val 12000"/>
            </a:avLst>
          </a:prstGeom>
          <a:solidFill>
            <a:srgbClr val="F4F7FB"/>
          </a:solidFill>
          <a:ln w="9525">
            <a:solidFill>
              <a:srgbClr val="DCE5F0"/>
            </a:solidFill>
            <a:prstDash val="solid"/>
          </a:ln>
        </p:spPr>
      </p:sp>
      <p:sp>
        <p:nvSpPr>
          <p:cNvPr id="29" name="actividad 7 circle"/>
          <p:cNvSpPr/>
          <p:nvPr/>
        </p:nvSpPr>
        <p:spPr>
          <a:xfrm>
            <a:off x="731520" y="5166360"/>
            <a:ext cx="548640" cy="548640"/>
          </a:xfrm>
          <a:prstGeom prst="ellipse">
            <a:avLst/>
          </a:prstGeom>
          <a:solidFill>
            <a:srgbClr val="1F5FAE"/>
          </a:solidFill>
          <a:ln w="12700">
            <a:solidFill>
              <a:srgbClr val="1F5FAE"/>
            </a:solidFill>
            <a:prstDash val="solid"/>
          </a:ln>
        </p:spPr>
      </p:sp>
      <p:pic>
        <p:nvPicPr>
          <p:cNvPr id="30" name="actividad 7 icon" descr="preencoded.png">    </p:cNvPr>
          <p:cNvPicPr>
            <a:picLocks noChangeAspect="1"/>
          </p:cNvPicPr>
          <p:nvPr/>
        </p:nvPicPr>
        <p:blipFill>
          <a:blip r:embed="rId7"/>
          <a:stretch>
            <a:fillRect/>
          </a:stretch>
        </p:blipFill>
        <p:spPr>
          <a:xfrm>
            <a:off x="852221" y="5287061"/>
            <a:ext cx="307238" cy="307238"/>
          </a:xfrm>
          <a:prstGeom prst="rect">
            <a:avLst/>
          </a:prstGeom>
        </p:spPr>
      </p:pic>
      <p:sp>
        <p:nvSpPr>
          <p:cNvPr id="31" name="Text 22"/>
          <p:cNvSpPr txBox="1"/>
          <p:nvPr/>
        </p:nvSpPr>
        <p:spPr>
          <a:xfrm>
            <a:off x="141732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Remisión a custodia de valores de los Informes de avalúos actualizados</a:t>
            </a:r>
            <a:endParaRPr lang="en-US" sz="1400" dirty="0"/>
          </a:p>
        </p:txBody>
      </p:sp>
      <p:sp>
        <p:nvSpPr>
          <p:cNvPr id="32" name="actividad 8"/>
          <p:cNvSpPr/>
          <p:nvPr/>
        </p:nvSpPr>
        <p:spPr>
          <a:xfrm>
            <a:off x="4526280" y="4983480"/>
            <a:ext cx="3749040" cy="914400"/>
          </a:xfrm>
          <a:prstGeom prst="roundRect">
            <a:avLst>
              <a:gd name="adj" fmla="val 12000"/>
            </a:avLst>
          </a:prstGeom>
          <a:solidFill>
            <a:srgbClr val="F4F7FB"/>
          </a:solidFill>
          <a:ln w="9525">
            <a:solidFill>
              <a:srgbClr val="DCE5F0"/>
            </a:solidFill>
            <a:prstDash val="solid"/>
          </a:ln>
        </p:spPr>
      </p:sp>
      <p:sp>
        <p:nvSpPr>
          <p:cNvPr id="33" name="actividad 8 circle"/>
          <p:cNvSpPr/>
          <p:nvPr/>
        </p:nvSpPr>
        <p:spPr>
          <a:xfrm>
            <a:off x="4709160" y="5166360"/>
            <a:ext cx="548640" cy="548640"/>
          </a:xfrm>
          <a:prstGeom prst="ellipse">
            <a:avLst/>
          </a:prstGeom>
          <a:solidFill>
            <a:srgbClr val="1F5FAE"/>
          </a:solidFill>
          <a:ln w="12700">
            <a:solidFill>
              <a:srgbClr val="1F5FAE"/>
            </a:solidFill>
            <a:prstDash val="solid"/>
          </a:ln>
        </p:spPr>
      </p:sp>
      <p:pic>
        <p:nvPicPr>
          <p:cNvPr id="34" name="actividad 8 icon" descr="preencoded.png">    </p:cNvPr>
          <p:cNvPicPr>
            <a:picLocks noChangeAspect="1"/>
          </p:cNvPicPr>
          <p:nvPr/>
        </p:nvPicPr>
        <p:blipFill>
          <a:blip r:embed="rId8"/>
          <a:stretch>
            <a:fillRect/>
          </a:stretch>
        </p:blipFill>
        <p:spPr>
          <a:xfrm>
            <a:off x="4829861" y="5287061"/>
            <a:ext cx="307238" cy="307238"/>
          </a:xfrm>
          <a:prstGeom prst="rect">
            <a:avLst/>
          </a:prstGeom>
        </p:spPr>
      </p:pic>
      <p:sp>
        <p:nvSpPr>
          <p:cNvPr id="35" name="Text 25"/>
          <p:cNvSpPr txBox="1"/>
          <p:nvPr/>
        </p:nvSpPr>
        <p:spPr>
          <a:xfrm>
            <a:off x="539496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Verifica que la información actualizada ingresada por el Analista de Cartera, este correcta</a:t>
            </a:r>
            <a:endParaRPr lang="en-US" sz="1400" dirty="0"/>
          </a:p>
        </p:txBody>
      </p:sp>
      <p:sp>
        <p:nvSpPr>
          <p:cNvPr id="36" name="riesgos stat"/>
          <p:cNvSpPr/>
          <p:nvPr/>
        </p:nvSpPr>
        <p:spPr>
          <a:xfrm>
            <a:off x="8686800" y="1691640"/>
            <a:ext cx="2926080" cy="4206240"/>
          </a:xfrm>
          <a:prstGeom prst="roundRect">
            <a:avLst>
              <a:gd name="adj" fmla="val 3750"/>
            </a:avLst>
          </a:prstGeom>
          <a:solidFill>
            <a:srgbClr val="0A2A5C"/>
          </a:solidFill>
          <a:ln w="9525">
            <a:solidFill>
              <a:srgbClr val="0A2A5C"/>
            </a:solidFill>
            <a:prstDash val="solid"/>
          </a:ln>
        </p:spPr>
      </p:sp>
      <p:sp>
        <p:nvSpPr>
          <p:cNvPr id="37" name="Text 27"/>
          <p:cNvSpPr txBox="1"/>
          <p:nvPr/>
        </p:nvSpPr>
        <p:spPr>
          <a:xfrm>
            <a:off x="8961120" y="1920240"/>
            <a:ext cx="2377440" cy="1097280"/>
          </a:xfrm>
          <a:prstGeom prst="rect">
            <a:avLst/>
          </a:prstGeom>
          <a:noFill/>
          <a:ln/>
        </p:spPr>
        <p:txBody>
          <a:bodyPr wrap="square" lIns="0" tIns="0" rIns="0" bIns="0" rtlCol="0" anchor="t"/>
          <a:lstStyle/>
          <a:p>
            <a:pPr indent="0" marL="0">
              <a:buNone/>
            </a:pPr>
            <a:r>
              <a:rPr lang="en-US" sz="8000" b="1" dirty="0">
                <a:solidFill>
                  <a:schemeClr val="accent2"/>
                </a:solidFill>
                <a:latin typeface="Cambria" pitchFamily="34" charset="0"/>
                <a:ea typeface="Cambria" pitchFamily="34" charset="-122"/>
                <a:cs typeface="Cambria" pitchFamily="34" charset="-120"/>
              </a:rPr>
              <a:t>2</a:t>
            </a:r>
            <a:endParaRPr lang="en-US" sz="8000" dirty="0"/>
          </a:p>
        </p:txBody>
      </p:sp>
      <p:sp>
        <p:nvSpPr>
          <p:cNvPr id="38" name="Text 28"/>
          <p:cNvSpPr txBox="1"/>
          <p:nvPr/>
        </p:nvSpPr>
        <p:spPr>
          <a:xfrm>
            <a:off x="8961120" y="3063240"/>
            <a:ext cx="237744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2 Personas</a:t>
            </a:r>
            <a:endParaRPr lang="en-US" sz="1700" dirty="0"/>
          </a:p>
        </p:txBody>
      </p:sp>
      <p:sp>
        <p:nvSpPr>
          <p:cNvPr id="39" name="Text 29"/>
          <p:cNvSpPr txBox="1"/>
          <p:nvPr/>
        </p:nvSpPr>
        <p:spPr>
          <a:xfrm>
            <a:off x="8961120" y="4069080"/>
            <a:ext cx="2377440" cy="1097280"/>
          </a:xfrm>
          <a:prstGeom prst="rect">
            <a:avLst/>
          </a:prstGeom>
          <a:noFill/>
          <a:ln/>
        </p:spPr>
        <p:txBody>
          <a:bodyPr wrap="square" lIns="0" tIns="0" rIns="0" bIns="0" rtlCol="0" anchor="t"/>
          <a:lstStyle/>
          <a:p>
            <a:pPr indent="0" marL="0">
              <a:buNone/>
            </a:pPr>
            <a:r>
              <a:rPr lang="en-US" sz="1400" dirty="0">
                <a:solidFill>
                  <a:schemeClr val="accent5"/>
                </a:solidFill>
              </a:rPr>
              <a:t>8 actividades críticas y una cartera de 3,500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318 expedientes hipotecarios ingresados (ene–sep)</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1: </a:t>
            </a:r>
            <a:pPr indent="0" marL="0">
              <a:buNone/>
            </a:pPr>
            <a:r>
              <a:rPr lang="en-US" sz="1400" i="1" dirty="0">
                <a:solidFill>
                  <a:schemeClr val="tx1"/>
                </a:solidFill>
              </a:rPr>
              <a:t>Este es el numero de expediente ingresados al Depto de Creditos y que pudieron haber quedado en las diferentes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total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318</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Total general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 35 expedientes por mes en promedio</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1737360"/>
                <a:gridCol w="868680"/>
                <a:gridCol w="868680"/>
                <a:gridCol w="868680"/>
                <a:gridCol w="868680"/>
                <a:gridCol w="868680"/>
                <a:gridCol w="868680"/>
                <a:gridCol w="868680"/>
                <a:gridCol w="868680"/>
                <a:gridCol w="868680"/>
                <a:gridCol w="1508760"/>
              </a:tblGrid>
              <a:tr h="3657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ene</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feb</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abr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may</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jun</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ago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sep</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general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300" b="1" dirty="0">
                          <a:solidFill>
                            <a:srgbClr val="1E2A3A"/>
                          </a:solidFill>
                          <a:latin typeface="Calibri" pitchFamily="34" charset="0"/>
                          <a:ea typeface="Calibri" pitchFamily="34" charset="-122"/>
                          <a:cs typeface="Calibri" pitchFamily="34" charset="-120"/>
                        </a:rPr>
                        <a:t>HIPOTECARIO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A3A"/>
                          </a:solidFill>
                          <a:latin typeface="Calibri" pitchFamily="34" charset="0"/>
                          <a:ea typeface="Calibri" pitchFamily="34" charset="-122"/>
                          <a:cs typeface="Calibri" pitchFamily="34" charset="-120"/>
                        </a:rPr>
                        <a:t>318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5 expedientes al mes, en promedio, no se tramitan</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2: </a:t>
            </a:r>
            <a:pPr indent="0" marL="0">
              <a:buNone/>
            </a:pPr>
            <a:r>
              <a:rPr lang="en-US" sz="1400" i="1" dirty="0">
                <a:solidFill>
                  <a:schemeClr val="tx1"/>
                </a:solidFill>
              </a:rPr>
              <a:t>El promedio de casos que no se tramitan es de 5 expedientes más o menos, entre los 3 peritos.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prom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5</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Promedio mensual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Septiembre alcanzó 9 casos, el valor más alto del período</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822960"/>
                <a:gridCol w="914400"/>
                <a:gridCol w="960120"/>
                <a:gridCol w="868680"/>
                <a:gridCol w="868680"/>
                <a:gridCol w="868680"/>
                <a:gridCol w="868680"/>
                <a:gridCol w="868680"/>
                <a:gridCol w="960120"/>
                <a:gridCol w="1325880"/>
                <a:gridCol w="822960"/>
              </a:tblGrid>
              <a:tr h="3657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MES</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FEBRERO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MARZO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ABRIL</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MAYO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JUNIO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JULIO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AGOSTO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SEPTIEMBRE</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200" b="1" dirty="0">
                          <a:solidFill>
                            <a:srgbClr val="1E2A3A"/>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60 avalúos actualizados al mes sobre 3,500 garantías</a:t>
            </a:r>
            <a:endParaRPr lang="en-US" sz="3000" dirty="0"/>
          </a:p>
        </p:txBody>
      </p:sp>
      <p:sp>
        <p:nvSpPr>
          <p:cNvPr id="3" name="stat 1"/>
          <p:cNvSpPr/>
          <p:nvPr/>
        </p:nvSpPr>
        <p:spPr>
          <a:xfrm>
            <a:off x="548640" y="1463040"/>
            <a:ext cx="3474720" cy="3931920"/>
          </a:xfrm>
          <a:prstGeom prst="roundRect">
            <a:avLst>
              <a:gd name="adj" fmla="val 3158"/>
            </a:avLst>
          </a:prstGeom>
          <a:solidFill>
            <a:srgbClr val="0A2A5C"/>
          </a:solidFill>
          <a:ln w="9525">
            <a:solidFill>
              <a:srgbClr val="0A2A5C"/>
            </a:solidFill>
            <a:prstDash val="solid"/>
          </a:ln>
        </p:spPr>
      </p:sp>
      <p:sp>
        <p:nvSpPr>
          <p:cNvPr id="4" name="stat 1 circle"/>
          <p:cNvSpPr/>
          <p:nvPr/>
        </p:nvSpPr>
        <p:spPr>
          <a:xfrm>
            <a:off x="914400" y="1783080"/>
            <a:ext cx="731520" cy="731520"/>
          </a:xfrm>
          <a:prstGeom prst="ellipse">
            <a:avLst/>
          </a:prstGeom>
          <a:solidFill>
            <a:srgbClr val="9CC3F0"/>
          </a:solidFill>
          <a:ln w="12700">
            <a:solidFill>
              <a:srgbClr val="9CC3F0"/>
            </a:solidFill>
            <a:prstDash val="solid"/>
          </a:ln>
        </p:spPr>
      </p:sp>
      <p:pic>
        <p:nvPicPr>
          <p:cNvPr id="5" name="stat 1 icon" descr="preencoded.png">    </p:cNvPr>
          <p:cNvPicPr>
            <a:picLocks noChangeAspect="1"/>
          </p:cNvPicPr>
          <p:nvPr/>
        </p:nvPicPr>
        <p:blipFill>
          <a:blip r:embed="rId1"/>
          <a:stretch>
            <a:fillRect/>
          </a:stretch>
        </p:blipFill>
        <p:spPr>
          <a:xfrm>
            <a:off x="1075334" y="1944014"/>
            <a:ext cx="409651" cy="409651"/>
          </a:xfrm>
          <a:prstGeom prst="rect">
            <a:avLst/>
          </a:prstGeom>
        </p:spPr>
      </p:pic>
      <p:sp>
        <p:nvSpPr>
          <p:cNvPr id="6" name="Text 3"/>
          <p:cNvSpPr txBox="1"/>
          <p:nvPr/>
        </p:nvSpPr>
        <p:spPr>
          <a:xfrm>
            <a:off x="914400" y="2697480"/>
            <a:ext cx="2834640"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60</a:t>
            </a:r>
            <a:endParaRPr lang="en-US" sz="6600" dirty="0"/>
          </a:p>
        </p:txBody>
      </p:sp>
      <p:sp>
        <p:nvSpPr>
          <p:cNvPr id="7" name="Text 4"/>
          <p:cNvSpPr txBox="1"/>
          <p:nvPr/>
        </p:nvSpPr>
        <p:spPr>
          <a:xfrm>
            <a:off x="914400" y="3977640"/>
            <a:ext cx="2834640" cy="685800"/>
          </a:xfrm>
          <a:prstGeom prst="rect">
            <a:avLst/>
          </a:prstGeom>
          <a:noFill/>
          <a:ln/>
        </p:spPr>
        <p:txBody>
          <a:bodyPr wrap="square" lIns="0" tIns="0" rIns="0" bIns="0" rtlCol="0" anchor="t"/>
          <a:lstStyle/>
          <a:p>
            <a:pPr indent="0" marL="0">
              <a:buNone/>
            </a:pPr>
            <a:r>
              <a:rPr lang="en-US" sz="1800" b="1" dirty="0">
                <a:solidFill>
                  <a:schemeClr val="bg1"/>
                </a:solidFill>
              </a:rPr>
              <a:t>Promedio mensual de actualización</a:t>
            </a:r>
            <a:endParaRPr lang="en-US" sz="1800" dirty="0"/>
          </a:p>
        </p:txBody>
      </p:sp>
      <p:sp>
        <p:nvSpPr>
          <p:cNvPr id="8" name="Text 5"/>
          <p:cNvSpPr txBox="1"/>
          <p:nvPr/>
        </p:nvSpPr>
        <p:spPr>
          <a:xfrm>
            <a:off x="914400" y="4663440"/>
            <a:ext cx="2834640" cy="548640"/>
          </a:xfrm>
          <a:prstGeom prst="rect">
            <a:avLst/>
          </a:prstGeom>
          <a:noFill/>
          <a:ln/>
        </p:spPr>
        <p:txBody>
          <a:bodyPr wrap="square" lIns="0" tIns="0" rIns="0" bIns="0" rtlCol="0" anchor="t"/>
          <a:lstStyle/>
          <a:p>
            <a:pPr indent="0" marL="0">
              <a:buNone/>
            </a:pPr>
            <a:r>
              <a:rPr lang="en-US" sz="1400" dirty="0">
                <a:solidFill>
                  <a:schemeClr val="accent5"/>
                </a:solidFill>
              </a:rPr>
              <a:t>avalúos actualizados cada mes</a:t>
            </a:r>
            <a:endParaRPr lang="en-US" sz="1400" dirty="0"/>
          </a:p>
        </p:txBody>
      </p:sp>
      <p:sp>
        <p:nvSpPr>
          <p:cNvPr id="9" name="stat 2"/>
          <p:cNvSpPr/>
          <p:nvPr/>
        </p:nvSpPr>
        <p:spPr>
          <a:xfrm>
            <a:off x="4343400" y="1463040"/>
            <a:ext cx="3474720" cy="3931920"/>
          </a:xfrm>
          <a:prstGeom prst="roundRect">
            <a:avLst>
              <a:gd name="adj" fmla="val 3158"/>
            </a:avLst>
          </a:prstGeom>
          <a:solidFill>
            <a:srgbClr val="F4F7FB"/>
          </a:solidFill>
          <a:ln w="9525">
            <a:solidFill>
              <a:srgbClr val="DCE5F0"/>
            </a:solidFill>
            <a:prstDash val="solid"/>
          </a:ln>
        </p:spPr>
      </p:sp>
      <p:sp>
        <p:nvSpPr>
          <p:cNvPr id="10" name="stat 2 circle"/>
          <p:cNvSpPr/>
          <p:nvPr/>
        </p:nvSpPr>
        <p:spPr>
          <a:xfrm>
            <a:off x="4709160" y="1783080"/>
            <a:ext cx="731520" cy="731520"/>
          </a:xfrm>
          <a:prstGeom prst="ellipse">
            <a:avLst/>
          </a:prstGeom>
          <a:solidFill>
            <a:srgbClr val="1F5FAE"/>
          </a:solidFill>
          <a:ln w="12700">
            <a:solidFill>
              <a:srgbClr val="1F5FAE"/>
            </a:solidFill>
            <a:prstDash val="solid"/>
          </a:ln>
        </p:spPr>
      </p:sp>
      <p:pic>
        <p:nvPicPr>
          <p:cNvPr id="11" name="stat 2 icon" descr="preencoded.png">    </p:cNvPr>
          <p:cNvPicPr>
            <a:picLocks noChangeAspect="1"/>
          </p:cNvPicPr>
          <p:nvPr/>
        </p:nvPicPr>
        <p:blipFill>
          <a:blip r:embed="rId2"/>
          <a:stretch>
            <a:fillRect/>
          </a:stretch>
        </p:blipFill>
        <p:spPr>
          <a:xfrm>
            <a:off x="4870094" y="1944014"/>
            <a:ext cx="409651" cy="409651"/>
          </a:xfrm>
          <a:prstGeom prst="rect">
            <a:avLst/>
          </a:prstGeom>
        </p:spPr>
      </p:pic>
      <p:sp>
        <p:nvSpPr>
          <p:cNvPr id="12" name="Text 8"/>
          <p:cNvSpPr txBox="1"/>
          <p:nvPr/>
        </p:nvSpPr>
        <p:spPr>
          <a:xfrm>
            <a:off x="470916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3,500</a:t>
            </a:r>
            <a:endParaRPr lang="en-US" sz="6600" dirty="0"/>
          </a:p>
        </p:txBody>
      </p:sp>
      <p:sp>
        <p:nvSpPr>
          <p:cNvPr id="13" name="Text 9"/>
          <p:cNvSpPr txBox="1"/>
          <p:nvPr/>
        </p:nvSpPr>
        <p:spPr>
          <a:xfrm>
            <a:off x="470916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Garantías a gestionar</a:t>
            </a:r>
            <a:endParaRPr lang="en-US" sz="1800" dirty="0"/>
          </a:p>
        </p:txBody>
      </p:sp>
      <p:sp>
        <p:nvSpPr>
          <p:cNvPr id="14" name="Text 10"/>
          <p:cNvSpPr txBox="1"/>
          <p:nvPr/>
        </p:nvSpPr>
        <p:spPr>
          <a:xfrm>
            <a:off x="470916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cartera bajo actualización y monitoreo</a:t>
            </a:r>
            <a:endParaRPr lang="en-US" sz="1400" dirty="0"/>
          </a:p>
        </p:txBody>
      </p:sp>
      <p:sp>
        <p:nvSpPr>
          <p:cNvPr id="15" name="stat 3"/>
          <p:cNvSpPr/>
          <p:nvPr/>
        </p:nvSpPr>
        <p:spPr>
          <a:xfrm>
            <a:off x="8138160" y="1463040"/>
            <a:ext cx="3474720" cy="3931920"/>
          </a:xfrm>
          <a:prstGeom prst="roundRect">
            <a:avLst>
              <a:gd name="adj" fmla="val 3158"/>
            </a:avLst>
          </a:prstGeom>
          <a:solidFill>
            <a:srgbClr val="F4F7FB"/>
          </a:solidFill>
          <a:ln w="9525">
            <a:solidFill>
              <a:srgbClr val="DCE5F0"/>
            </a:solidFill>
            <a:prstDash val="solid"/>
          </a:ln>
        </p:spPr>
      </p:sp>
      <p:sp>
        <p:nvSpPr>
          <p:cNvPr id="16" name="stat 3 circle"/>
          <p:cNvSpPr/>
          <p:nvPr/>
        </p:nvSpPr>
        <p:spPr>
          <a:xfrm>
            <a:off x="8503920" y="1783080"/>
            <a:ext cx="731520" cy="731520"/>
          </a:xfrm>
          <a:prstGeom prst="ellipse">
            <a:avLst/>
          </a:prstGeom>
          <a:solidFill>
            <a:srgbClr val="1F5FAE"/>
          </a:solidFill>
          <a:ln w="12700">
            <a:solidFill>
              <a:srgbClr val="1F5FAE"/>
            </a:solidFill>
            <a:prstDash val="solid"/>
          </a:ln>
        </p:spPr>
      </p:sp>
      <p:pic>
        <p:nvPicPr>
          <p:cNvPr id="17" name="stat 3 icon" descr="preencoded.png">    </p:cNvPr>
          <p:cNvPicPr>
            <a:picLocks noChangeAspect="1"/>
          </p:cNvPicPr>
          <p:nvPr/>
        </p:nvPicPr>
        <p:blipFill>
          <a:blip r:embed="rId3"/>
          <a:stretch>
            <a:fillRect/>
          </a:stretch>
        </p:blipFill>
        <p:spPr>
          <a:xfrm>
            <a:off x="8664854" y="1944014"/>
            <a:ext cx="409651" cy="409651"/>
          </a:xfrm>
          <a:prstGeom prst="rect">
            <a:avLst/>
          </a:prstGeom>
        </p:spPr>
      </p:pic>
      <p:sp>
        <p:nvSpPr>
          <p:cNvPr id="18" name="Text 13"/>
          <p:cNvSpPr txBox="1"/>
          <p:nvPr/>
        </p:nvSpPr>
        <p:spPr>
          <a:xfrm>
            <a:off x="850392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2</a:t>
            </a:r>
            <a:endParaRPr lang="en-US" sz="6600" dirty="0"/>
          </a:p>
        </p:txBody>
      </p:sp>
      <p:sp>
        <p:nvSpPr>
          <p:cNvPr id="19" name="Text 14"/>
          <p:cNvSpPr txBox="1"/>
          <p:nvPr/>
        </p:nvSpPr>
        <p:spPr>
          <a:xfrm>
            <a:off x="850392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Personas responsables</a:t>
            </a:r>
            <a:endParaRPr lang="en-US" sz="1800" dirty="0"/>
          </a:p>
        </p:txBody>
      </p:sp>
      <p:sp>
        <p:nvSpPr>
          <p:cNvPr id="20" name="Text 15"/>
          <p:cNvSpPr txBox="1"/>
          <p:nvPr/>
        </p:nvSpPr>
        <p:spPr>
          <a:xfrm>
            <a:off x="850392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Departamento de Administración de Riesgos</a:t>
            </a:r>
            <a:endParaRPr lang="en-US" sz="1400" dirty="0"/>
          </a:p>
        </p:txBody>
      </p:sp>
      <p:sp>
        <p:nvSpPr>
          <p:cNvPr id="21" name="Text 16"/>
          <p:cNvSpPr txBox="1"/>
          <p:nvPr/>
        </p:nvSpPr>
        <p:spPr>
          <a:xfrm>
            <a:off x="548640" y="5669280"/>
            <a:ext cx="9144000" cy="274320"/>
          </a:xfrm>
          <a:prstGeom prst="rect">
            <a:avLst/>
          </a:prstGeom>
          <a:noFill/>
          <a:ln/>
        </p:spPr>
        <p:txBody>
          <a:bodyPr wrap="square" lIns="0" tIns="0" rIns="0" bIns="0" rtlCol="0" anchor="t"/>
          <a:lstStyle/>
          <a:p>
            <a:pPr indent="0" marL="0">
              <a:buNone/>
            </a:pPr>
            <a:r>
              <a:rPr lang="en-US" sz="1000" dirty="0">
                <a:solidFill>
                  <a:schemeClr val="accent4"/>
                </a:solidFill>
              </a:rPr>
              <a:t>Fuente: datos de Sarita (actualización de avalúos) y Resumen Ejecutivo</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Riesgo identificado en la gestión actual de avalúos</a:t>
            </a:r>
            <a:endParaRPr lang="en-US" sz="3000" dirty="0"/>
          </a:p>
        </p:txBody>
      </p:sp>
      <p:sp>
        <p:nvSpPr>
          <p:cNvPr id="3" name="riesgo alto"/>
          <p:cNvSpPr/>
          <p:nvPr/>
        </p:nvSpPr>
        <p:spPr>
          <a:xfrm>
            <a:off x="548640" y="1371600"/>
            <a:ext cx="11064240" cy="2148840"/>
          </a:xfrm>
          <a:prstGeom prst="roundRect">
            <a:avLst>
              <a:gd name="adj" fmla="val 5106"/>
            </a:avLst>
          </a:prstGeom>
          <a:solidFill>
            <a:srgbClr val="164A8F"/>
          </a:solidFill>
          <a:ln w="9525">
            <a:solidFill>
              <a:srgbClr val="164A8F"/>
            </a:solidFill>
            <a:prstDash val="solid"/>
          </a:ln>
        </p:spPr>
      </p:sp>
      <p:pic>
        <p:nvPicPr>
          <p:cNvPr id="4" name="riesgo icon" descr="preencoded.png">    </p:cNvPr>
          <p:cNvPicPr>
            <a:picLocks noChangeAspect="1"/>
          </p:cNvPicPr>
          <p:nvPr/>
        </p:nvPicPr>
        <p:blipFill>
          <a:blip r:embed="rId1"/>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Riesgo Alto</a:t>
            </a:r>
            <a:endParaRPr lang="en-US" sz="2600" dirty="0"/>
          </a:p>
        </p:txBody>
      </p:sp>
      <p:sp>
        <p:nvSpPr>
          <p:cNvPr id="6" name="Text 3"/>
          <p:cNvSpPr txBox="1"/>
          <p:nvPr/>
        </p:nvSpPr>
        <p:spPr>
          <a:xfrm>
            <a:off x="2560320" y="2194560"/>
            <a:ext cx="8686800" cy="1188720"/>
          </a:xfrm>
          <a:prstGeom prst="rect">
            <a:avLst/>
          </a:prstGeom>
          <a:noFill/>
          <a:ln/>
        </p:spPr>
        <p:txBody>
          <a:bodyPr wrap="square" lIns="0" tIns="0" rIns="0" bIns="0" rtlCol="0" anchor="t"/>
          <a:lstStyle/>
          <a:p>
            <a:pPr indent="0" marL="0">
              <a:buNone/>
            </a:pPr>
            <a:r>
              <a:rPr lang="en-US" sz="1700" dirty="0">
                <a:solidFill>
                  <a:schemeClr val="bg1"/>
                </a:solidFill>
              </a:rPr>
              <a:t>Con la administración actual, no existe un área de control centralizada, que garantice el cumplimiento normativo del Informes de Avalúos, seguimiento, Monitoreo de calidad de información de la garantía.</a:t>
            </a:r>
            <a:endParaRPr lang="en-US" sz="1700" dirty="0"/>
          </a:p>
        </p:txBody>
      </p:sp>
      <p:sp>
        <p:nvSpPr>
          <p:cNvPr id="7" name="riesgo card 1"/>
          <p:cNvSpPr/>
          <p:nvPr/>
        </p:nvSpPr>
        <p:spPr>
          <a:xfrm>
            <a:off x="548640" y="3840480"/>
            <a:ext cx="5394960" cy="2103120"/>
          </a:xfrm>
          <a:prstGeom prst="roundRect">
            <a:avLst>
              <a:gd name="adj" fmla="val 5217"/>
            </a:avLst>
          </a:prstGeom>
          <a:solidFill>
            <a:srgbClr val="F4F7FB"/>
          </a:solidFill>
          <a:ln w="9525">
            <a:solidFill>
              <a:srgbClr val="DCE5F0"/>
            </a:solidFill>
            <a:prstDash val="solid"/>
          </a:ln>
        </p:spPr>
      </p:sp>
      <p:sp>
        <p:nvSpPr>
          <p:cNvPr id="8" name="riesgo 1 circle"/>
          <p:cNvSpPr/>
          <p:nvPr/>
        </p:nvSpPr>
        <p:spPr>
          <a:xfrm>
            <a:off x="914400" y="4206240"/>
            <a:ext cx="914400" cy="914400"/>
          </a:xfrm>
          <a:prstGeom prst="ellipse">
            <a:avLst/>
          </a:prstGeom>
          <a:solidFill>
            <a:srgbClr val="FFFFFF"/>
          </a:solidFill>
          <a:ln w="12700">
            <a:solidFill>
              <a:srgbClr val="FFFFFF"/>
            </a:solidFill>
            <a:prstDash val="solid"/>
          </a:ln>
        </p:spPr>
      </p:sp>
      <p:pic>
        <p:nvPicPr>
          <p:cNvPr id="9" name="riesgo 1 icon" descr="preencoded.png">    </p:cNvPr>
          <p:cNvPicPr>
            <a:picLocks noChangeAspect="1"/>
          </p:cNvPicPr>
          <p:nvPr/>
        </p:nvPicPr>
        <p:blipFill>
          <a:blip r:embed="rId2"/>
          <a:stretch>
            <a:fillRect/>
          </a:stretch>
        </p:blipFill>
        <p:spPr>
          <a:xfrm>
            <a:off x="1115568" y="4407408"/>
            <a:ext cx="512064" cy="512064"/>
          </a:xfrm>
          <a:prstGeom prst="rect">
            <a:avLst/>
          </a:prstGeom>
        </p:spPr>
      </p:pic>
      <p:sp>
        <p:nvSpPr>
          <p:cNvPr id="10" name="Text 6"/>
          <p:cNvSpPr txBox="1"/>
          <p:nvPr/>
        </p:nvSpPr>
        <p:spPr>
          <a:xfrm>
            <a:off x="210312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Observaciones reiterativas por parte de la SSF</a:t>
            </a:r>
            <a:endParaRPr lang="en-US" sz="1800" dirty="0"/>
          </a:p>
        </p:txBody>
      </p:sp>
      <p:sp>
        <p:nvSpPr>
          <p:cNvPr id="11" name="riesgo card 2"/>
          <p:cNvSpPr/>
          <p:nvPr/>
        </p:nvSpPr>
        <p:spPr>
          <a:xfrm>
            <a:off x="6217920" y="3840480"/>
            <a:ext cx="5394960" cy="2103120"/>
          </a:xfrm>
          <a:prstGeom prst="roundRect">
            <a:avLst>
              <a:gd name="adj" fmla="val 5217"/>
            </a:avLst>
          </a:prstGeom>
          <a:solidFill>
            <a:srgbClr val="F4F7FB"/>
          </a:solidFill>
          <a:ln w="9525">
            <a:solidFill>
              <a:srgbClr val="DCE5F0"/>
            </a:solidFill>
            <a:prstDash val="solid"/>
          </a:ln>
        </p:spPr>
      </p:sp>
      <p:sp>
        <p:nvSpPr>
          <p:cNvPr id="12" name="riesgo 2 circle"/>
          <p:cNvSpPr/>
          <p:nvPr/>
        </p:nvSpPr>
        <p:spPr>
          <a:xfrm>
            <a:off x="6583680" y="4206240"/>
            <a:ext cx="914400" cy="914400"/>
          </a:xfrm>
          <a:prstGeom prst="ellipse">
            <a:avLst/>
          </a:prstGeom>
          <a:solidFill>
            <a:srgbClr val="FFFFFF"/>
          </a:solidFill>
          <a:ln w="12700">
            <a:solidFill>
              <a:srgbClr val="FFFFFF"/>
            </a:solidFill>
            <a:prstDash val="solid"/>
          </a:ln>
        </p:spPr>
      </p:sp>
      <p:pic>
        <p:nvPicPr>
          <p:cNvPr id="13" name="riesgo 2 icon" descr="preencoded.png">    </p:cNvPr>
          <p:cNvPicPr>
            <a:picLocks noChangeAspect="1"/>
          </p:cNvPicPr>
          <p:nvPr/>
        </p:nvPicPr>
        <p:blipFill>
          <a:blip r:embed="rId3"/>
          <a:stretch>
            <a:fillRect/>
          </a:stretch>
        </p:blipFill>
        <p:spPr>
          <a:xfrm>
            <a:off x="6784848" y="4407408"/>
            <a:ext cx="512064" cy="512064"/>
          </a:xfrm>
          <a:prstGeom prst="rect">
            <a:avLst/>
          </a:prstGeom>
        </p:spPr>
      </p:pic>
      <p:sp>
        <p:nvSpPr>
          <p:cNvPr id="14" name="Text 9"/>
          <p:cNvSpPr txBox="1"/>
          <p:nvPr/>
        </p:nvSpPr>
        <p:spPr>
          <a:xfrm>
            <a:off x="777240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Falta de Políticas y Procedimientos internos que establezcan los lineamentos de cumplimiento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B. Propuesta</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Con el objetivo de mitigar el riesgo identificado en las gestiones de Avalúos, se solicita al Comité de Riesgo evaluar y autorizar lo siguiente:</a:t>
            </a:r>
            <a:endParaRPr lang="en-US" sz="1800" dirty="0"/>
          </a:p>
        </p:txBody>
      </p:sp>
      <p:sp>
        <p:nvSpPr>
          <p:cNvPr id="4" name="propuesta 1"/>
          <p:cNvSpPr/>
          <p:nvPr/>
        </p:nvSpPr>
        <p:spPr>
          <a:xfrm>
            <a:off x="731520" y="4480560"/>
            <a:ext cx="3383280" cy="1280160"/>
          </a:xfrm>
          <a:prstGeom prst="roundRect">
            <a:avLst>
              <a:gd name="adj" fmla="val 8571"/>
            </a:avLst>
          </a:prstGeom>
          <a:solidFill>
            <a:srgbClr val="1F5FAE"/>
          </a:solidFill>
          <a:ln w="12700">
            <a:solidFill>
              <a:srgbClr val="1F5FAE"/>
            </a:solidFill>
            <a:prstDash val="solid"/>
          </a:ln>
        </p:spPr>
      </p:sp>
      <p:sp>
        <p:nvSpPr>
          <p:cNvPr id="5" name="Text 3"/>
          <p:cNvSpPr txBox="1"/>
          <p:nvPr/>
        </p:nvSpPr>
        <p:spPr>
          <a:xfrm>
            <a:off x="10058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916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Política Administración de Avalúos</a:t>
            </a:r>
            <a:endParaRPr lang="en-US" sz="1600" dirty="0"/>
          </a:p>
        </p:txBody>
      </p:sp>
      <p:sp>
        <p:nvSpPr>
          <p:cNvPr id="7" name="propuesta 2"/>
          <p:cNvSpPr/>
          <p:nvPr/>
        </p:nvSpPr>
        <p:spPr>
          <a:xfrm>
            <a:off x="4389120" y="4480560"/>
            <a:ext cx="3383280" cy="1280160"/>
          </a:xfrm>
          <a:prstGeom prst="roundRect">
            <a:avLst>
              <a:gd name="adj" fmla="val 8571"/>
            </a:avLst>
          </a:prstGeom>
          <a:solidFill>
            <a:srgbClr val="1F5FAE"/>
          </a:solidFill>
          <a:ln w="12700">
            <a:solidFill>
              <a:srgbClr val="1F5FAE"/>
            </a:solidFill>
            <a:prstDash val="solid"/>
          </a:ln>
        </p:spPr>
      </p:sp>
      <p:sp>
        <p:nvSpPr>
          <p:cNvPr id="8" name="Text 6"/>
          <p:cNvSpPr txBox="1"/>
          <p:nvPr/>
        </p:nvSpPr>
        <p:spPr>
          <a:xfrm>
            <a:off x="46634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53492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Contratar un Revisor (NRP-27 art. 40)</a:t>
            </a:r>
            <a:endParaRPr lang="en-US" sz="1600" dirty="0"/>
          </a:p>
        </p:txBody>
      </p:sp>
      <p:sp>
        <p:nvSpPr>
          <p:cNvPr id="10" name="propuesta 3"/>
          <p:cNvSpPr/>
          <p:nvPr/>
        </p:nvSpPr>
        <p:spPr>
          <a:xfrm>
            <a:off x="8046720" y="4480560"/>
            <a:ext cx="3383280" cy="1280160"/>
          </a:xfrm>
          <a:prstGeom prst="roundRect">
            <a:avLst>
              <a:gd name="adj" fmla="val 8571"/>
            </a:avLst>
          </a:prstGeom>
          <a:solidFill>
            <a:srgbClr val="1F5FAE"/>
          </a:solidFill>
          <a:ln w="12700">
            <a:solidFill>
              <a:srgbClr val="1F5FAE"/>
            </a:solidFill>
            <a:prstDash val="solid"/>
          </a:ln>
        </p:spPr>
      </p:sp>
      <p:sp>
        <p:nvSpPr>
          <p:cNvPr id="11" name="Text 9"/>
          <p:cNvSpPr txBox="1"/>
          <p:nvPr/>
        </p:nvSpPr>
        <p:spPr>
          <a:xfrm>
            <a:off x="83210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90068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Departamento de Riesgo responsable</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1: Política Administración de Avalúos</a:t>
            </a:r>
            <a:endParaRPr lang="en-US" sz="3000" dirty="0"/>
          </a:p>
        </p:txBody>
      </p:sp>
      <p:sp>
        <p:nvSpPr>
          <p:cNvPr id="3" name="Text 1"/>
          <p:cNvSpPr txBox="1"/>
          <p:nvPr/>
        </p:nvSpPr>
        <p:spPr>
          <a:xfrm>
            <a:off x="548640" y="1325880"/>
            <a:ext cx="11064240" cy="1005840"/>
          </a:xfrm>
          <a:prstGeom prst="rect">
            <a:avLst/>
          </a:prstGeom>
          <a:noFill/>
          <a:ln/>
        </p:spPr>
        <p:txBody>
          <a:bodyPr wrap="square" lIns="0" tIns="0" rIns="0" bIns="0" rtlCol="0" anchor="t"/>
          <a:lstStyle/>
          <a:p>
            <a:pPr indent="0" marL="0">
              <a:buNone/>
            </a:pPr>
            <a:r>
              <a:rPr lang="en-US" sz="1800" dirty="0">
                <a:solidFill>
                  <a:schemeClr val="tx1"/>
                </a:solidFill>
              </a:rPr>
              <a:t>Autorizar la Política Administración de Avalúos que Incluye el cumplimiento normativo vigente de la NRP-27 Contratación de Peritos valuadores y NCB 022 – Reservas. Para ser presenta al Consejo de Administración para su Aprobación</a:t>
            </a:r>
            <a:endParaRPr lang="en-US" sz="1800" dirty="0"/>
          </a:p>
        </p:txBody>
      </p:sp>
      <p:sp>
        <p:nvSpPr>
          <p:cNvPr id="4" name="norma 1"/>
          <p:cNvSpPr/>
          <p:nvPr/>
        </p:nvSpPr>
        <p:spPr>
          <a:xfrm>
            <a:off x="548640" y="2697480"/>
            <a:ext cx="2788920" cy="3017520"/>
          </a:xfrm>
          <a:prstGeom prst="roundRect">
            <a:avLst>
              <a:gd name="adj" fmla="val 3934"/>
            </a:avLst>
          </a:prstGeom>
          <a:solidFill>
            <a:srgbClr val="F4F7FB"/>
          </a:solidFill>
          <a:ln w="9525">
            <a:solidFill>
              <a:srgbClr val="DCE5F0"/>
            </a:solidFill>
            <a:prstDash val="solid"/>
          </a:ln>
        </p:spPr>
      </p:sp>
      <p:sp>
        <p:nvSpPr>
          <p:cNvPr id="5" name="norma 1 circle"/>
          <p:cNvSpPr/>
          <p:nvPr/>
        </p:nvSpPr>
        <p:spPr>
          <a:xfrm>
            <a:off x="868680" y="3017520"/>
            <a:ext cx="777240" cy="777240"/>
          </a:xfrm>
          <a:prstGeom prst="ellipse">
            <a:avLst/>
          </a:prstGeom>
          <a:solidFill>
            <a:srgbClr val="1F5FAE"/>
          </a:solidFill>
          <a:ln w="12700">
            <a:solidFill>
              <a:srgbClr val="1F5FAE"/>
            </a:solidFill>
            <a:prstDash val="solid"/>
          </a:ln>
        </p:spPr>
      </p:sp>
      <p:pic>
        <p:nvPicPr>
          <p:cNvPr id="6" name="norma 1 icon" descr="preencoded.png">    </p:cNvPr>
          <p:cNvPicPr>
            <a:picLocks noChangeAspect="1"/>
          </p:cNvPicPr>
          <p:nvPr/>
        </p:nvPicPr>
        <p:blipFill>
          <a:blip r:embed="rId1"/>
          <a:stretch>
            <a:fillRect/>
          </a:stretch>
        </p:blipFill>
        <p:spPr>
          <a:xfrm>
            <a:off x="1039673" y="3188513"/>
            <a:ext cx="435254" cy="435254"/>
          </a:xfrm>
          <a:prstGeom prst="rect">
            <a:avLst/>
          </a:prstGeom>
        </p:spPr>
      </p:pic>
      <p:sp>
        <p:nvSpPr>
          <p:cNvPr id="7" name="Text 4"/>
          <p:cNvSpPr txBox="1"/>
          <p:nvPr/>
        </p:nvSpPr>
        <p:spPr>
          <a:xfrm>
            <a:off x="86868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NRP-27</a:t>
            </a:r>
            <a:endParaRPr lang="en-US" sz="3000" dirty="0"/>
          </a:p>
        </p:txBody>
      </p:sp>
      <p:sp>
        <p:nvSpPr>
          <p:cNvPr id="8" name="Text 5"/>
          <p:cNvSpPr txBox="1"/>
          <p:nvPr/>
        </p:nvSpPr>
        <p:spPr>
          <a:xfrm>
            <a:off x="86868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Contratación de Peritos valuadores</a:t>
            </a:r>
            <a:endParaRPr lang="en-US" sz="1500" dirty="0"/>
          </a:p>
        </p:txBody>
      </p:sp>
      <p:sp>
        <p:nvSpPr>
          <p:cNvPr id="9" name="norma 2"/>
          <p:cNvSpPr/>
          <p:nvPr/>
        </p:nvSpPr>
        <p:spPr>
          <a:xfrm>
            <a:off x="3611880" y="2697480"/>
            <a:ext cx="2788920" cy="3017520"/>
          </a:xfrm>
          <a:prstGeom prst="roundRect">
            <a:avLst>
              <a:gd name="adj" fmla="val 3934"/>
            </a:avLst>
          </a:prstGeom>
          <a:solidFill>
            <a:srgbClr val="F4F7FB"/>
          </a:solidFill>
          <a:ln w="9525">
            <a:solidFill>
              <a:srgbClr val="DCE5F0"/>
            </a:solidFill>
            <a:prstDash val="solid"/>
          </a:ln>
        </p:spPr>
      </p:sp>
      <p:sp>
        <p:nvSpPr>
          <p:cNvPr id="10" name="norma 2 circle"/>
          <p:cNvSpPr/>
          <p:nvPr/>
        </p:nvSpPr>
        <p:spPr>
          <a:xfrm>
            <a:off x="3931920" y="3017520"/>
            <a:ext cx="777240" cy="777240"/>
          </a:xfrm>
          <a:prstGeom prst="ellipse">
            <a:avLst/>
          </a:prstGeom>
          <a:solidFill>
            <a:srgbClr val="1F5FAE"/>
          </a:solidFill>
          <a:ln w="12700">
            <a:solidFill>
              <a:srgbClr val="1F5FAE"/>
            </a:solidFill>
            <a:prstDash val="solid"/>
          </a:ln>
        </p:spPr>
      </p:sp>
      <p:pic>
        <p:nvPicPr>
          <p:cNvPr id="11" name="norma 2 icon" descr="preencoded.png">    </p:cNvPr>
          <p:cNvPicPr>
            <a:picLocks noChangeAspect="1"/>
          </p:cNvPicPr>
          <p:nvPr/>
        </p:nvPicPr>
        <p:blipFill>
          <a:blip r:embed="rId2"/>
          <a:stretch>
            <a:fillRect/>
          </a:stretch>
        </p:blipFill>
        <p:spPr>
          <a:xfrm>
            <a:off x="4102913" y="3188513"/>
            <a:ext cx="435254" cy="435254"/>
          </a:xfrm>
          <a:prstGeom prst="rect">
            <a:avLst/>
          </a:prstGeom>
        </p:spPr>
      </p:pic>
      <p:sp>
        <p:nvSpPr>
          <p:cNvPr id="12" name="Text 8"/>
          <p:cNvSpPr txBox="1"/>
          <p:nvPr/>
        </p:nvSpPr>
        <p:spPr>
          <a:xfrm>
            <a:off x="393192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NCB 022</a:t>
            </a:r>
            <a:endParaRPr lang="en-US" sz="3000" dirty="0"/>
          </a:p>
        </p:txBody>
      </p:sp>
      <p:sp>
        <p:nvSpPr>
          <p:cNvPr id="13" name="Text 9"/>
          <p:cNvSpPr txBox="1"/>
          <p:nvPr/>
        </p:nvSpPr>
        <p:spPr>
          <a:xfrm>
            <a:off x="393192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Reservas</a:t>
            </a:r>
            <a:endParaRPr lang="en-US" sz="1500" dirty="0"/>
          </a:p>
        </p:txBody>
      </p:sp>
      <p:sp>
        <p:nvSpPr>
          <p:cNvPr id="14" name="Text 10"/>
          <p:cNvSpPr txBox="1"/>
          <p:nvPr/>
        </p:nvSpPr>
        <p:spPr>
          <a:xfrm>
            <a:off x="6949440" y="269748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Ruta de aprobación</a:t>
            </a:r>
            <a:endParaRPr lang="en-US" sz="1500" dirty="0"/>
          </a:p>
        </p:txBody>
      </p:sp>
      <p:sp>
        <p:nvSpPr>
          <p:cNvPr id="15" name="ruta 1"/>
          <p:cNvSpPr/>
          <p:nvPr/>
        </p:nvSpPr>
        <p:spPr>
          <a:xfrm>
            <a:off x="6949440" y="3200400"/>
            <a:ext cx="4663440" cy="960120"/>
          </a:xfrm>
          <a:prstGeom prst="roundRect">
            <a:avLst>
              <a:gd name="adj" fmla="val 11429"/>
            </a:avLst>
          </a:prstGeom>
          <a:solidFill>
            <a:srgbClr val="1F5FAE"/>
          </a:solidFill>
          <a:ln w="12700">
            <a:solidFill>
              <a:srgbClr val="1F5FAE"/>
            </a:solidFill>
            <a:prstDash val="solid"/>
          </a:ln>
        </p:spPr>
      </p:sp>
      <p:sp>
        <p:nvSpPr>
          <p:cNvPr id="16" name="Text 12"/>
          <p:cNvSpPr txBox="1"/>
          <p:nvPr/>
        </p:nvSpPr>
        <p:spPr>
          <a:xfrm>
            <a:off x="7223760" y="32004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Comité de Riesgo</a:t>
            </a:r>
            <a:endParaRPr lang="en-US" sz="1800" dirty="0"/>
          </a:p>
          <a:p>
            <a:pPr indent="0" marL="0">
              <a:buNone/>
            </a:pPr>
            <a:r>
              <a:rPr lang="en-US" sz="1400" dirty="0">
                <a:solidFill>
                  <a:srgbClr val="C9DBF2"/>
                </a:solidFill>
              </a:rPr>
              <a:t>Autoriza la Política</a:t>
            </a:r>
            <a:endParaRPr lang="en-US" sz="1800" dirty="0"/>
          </a:p>
        </p:txBody>
      </p:sp>
      <p:sp>
        <p:nvSpPr>
          <p:cNvPr id="17" name="ruta 2"/>
          <p:cNvSpPr/>
          <p:nvPr/>
        </p:nvSpPr>
        <p:spPr>
          <a:xfrm>
            <a:off x="6949440" y="4572000"/>
            <a:ext cx="4663440" cy="960120"/>
          </a:xfrm>
          <a:prstGeom prst="roundRect">
            <a:avLst>
              <a:gd name="adj" fmla="val 11429"/>
            </a:avLst>
          </a:prstGeom>
          <a:solidFill>
            <a:srgbClr val="0A2A5C"/>
          </a:solidFill>
          <a:ln w="12700">
            <a:solidFill>
              <a:srgbClr val="0A2A5C"/>
            </a:solidFill>
            <a:prstDash val="solid"/>
          </a:ln>
        </p:spPr>
      </p:sp>
      <p:sp>
        <p:nvSpPr>
          <p:cNvPr id="18" name="Text 14"/>
          <p:cNvSpPr txBox="1"/>
          <p:nvPr/>
        </p:nvSpPr>
        <p:spPr>
          <a:xfrm>
            <a:off x="7223760" y="45720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Consejo de Administración</a:t>
            </a:r>
            <a:endParaRPr lang="en-US" sz="1800" dirty="0"/>
          </a:p>
          <a:p>
            <a:pPr indent="0" marL="0">
              <a:buNone/>
            </a:pPr>
            <a:r>
              <a:rPr lang="en-US" sz="1400" dirty="0">
                <a:solidFill>
                  <a:srgbClr val="C9DBF2"/>
                </a:solidFill>
              </a:rPr>
              <a:t>Aprobación</a:t>
            </a:r>
            <a:endParaRPr lang="en-US" sz="1800" dirty="0"/>
          </a:p>
        </p:txBody>
      </p:sp>
      <p:pic>
        <p:nvPicPr>
          <p:cNvPr id="19" name="ruta flecha" descr="preencoded.png">    </p:cNvPr>
          <p:cNvPicPr>
            <a:picLocks noChangeAspect="1"/>
          </p:cNvPicPr>
          <p:nvPr/>
        </p:nvPicPr>
        <p:blipFill>
          <a:blip r:embed="rId3"/>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2: Contratar un Revisor según NRP-27, artículo 40</a:t>
            </a:r>
            <a:endParaRPr lang="en-US" sz="3000" dirty="0"/>
          </a:p>
        </p:txBody>
      </p:sp>
      <p:sp>
        <p:nvSpPr>
          <p:cNvPr id="3" name="cita"/>
          <p:cNvSpPr/>
          <p:nvPr/>
        </p:nvSpPr>
        <p:spPr>
          <a:xfrm>
            <a:off x="548640" y="1325880"/>
            <a:ext cx="11064240" cy="4663440"/>
          </a:xfrm>
          <a:prstGeom prst="roundRect">
            <a:avLst>
              <a:gd name="adj" fmla="val 2353"/>
            </a:avLst>
          </a:prstGeom>
          <a:solidFill>
            <a:srgbClr val="F4F7FB"/>
          </a:solidFill>
          <a:ln w="9525">
            <a:solidFill>
              <a:srgbClr val="DCE5F0"/>
            </a:solidFill>
            <a:prstDash val="solid"/>
          </a:ln>
        </p:spPr>
      </p:sp>
      <p:sp>
        <p:nvSpPr>
          <p:cNvPr id="4" name="Text 2"/>
          <p:cNvSpPr txBox="1"/>
          <p:nvPr/>
        </p:nvSpPr>
        <p:spPr>
          <a:xfrm>
            <a:off x="777240" y="132588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a:t>
            </a:r>
            <a:endParaRPr lang="en-US" sz="7200" dirty="0"/>
          </a:p>
        </p:txBody>
      </p:sp>
      <p:sp>
        <p:nvSpPr>
          <p:cNvPr id="5" name="Text 3"/>
          <p:cNvSpPr txBox="1"/>
          <p:nvPr/>
        </p:nvSpPr>
        <p:spPr>
          <a:xfrm>
            <a:off x="1463040" y="1645920"/>
            <a:ext cx="9784080" cy="4160520"/>
          </a:xfrm>
          <a:prstGeom prst="rect">
            <a:avLst/>
          </a:prstGeom>
          <a:noFill/>
          <a:ln/>
        </p:spPr>
        <p:txBody>
          <a:bodyPr wrap="square" lIns="0" tIns="0" rIns="0" bIns="0" rtlCol="0" anchor="t"/>
          <a:lstStyle/>
          <a:p>
            <a:pPr indent="0" marL="0">
              <a:spcAft>
                <a:spcPts val="1000"/>
              </a:spcAft>
              <a:buNone/>
            </a:pPr>
            <a:r>
              <a:rPr lang="en-US" sz="1800" b="1" dirty="0">
                <a:solidFill>
                  <a:srgbClr val="0A2A5C"/>
                </a:solidFill>
              </a:rPr>
              <a:t>Contratar en cumplimiento a la NRP – 27 artículo 40 que establece lo siguiente: </a:t>
            </a:r>
            <a:endParaRPr lang="en-US" sz="1800" dirty="0"/>
          </a:p>
          <a:p>
            <a:pPr indent="0" marL="0">
              <a:spcAft>
                <a:spcPts val="1000"/>
              </a:spcAft>
              <a:buNone/>
            </a:pPr>
            <a:r>
              <a:rPr lang="en-US" sz="1800" dirty="0">
                <a:solidFill>
                  <a:schemeClr val="tx1"/>
                </a:solidFill>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endParaRPr lang="en-US" sz="1800" dirty="0"/>
          </a:p>
          <a:p>
            <a:pPr indent="0" marL="0">
              <a:spcAft>
                <a:spcPts val="1000"/>
              </a:spcAft>
              <a:buNone/>
            </a:pPr>
            <a:r>
              <a:rPr lang="en-US" sz="1800" dirty="0">
                <a:solidFill>
                  <a:schemeClr val="tx1"/>
                </a:solidFill>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3: El Departamento de Riesgo administra los avalúos</a:t>
            </a:r>
            <a:endParaRPr lang="en-US" sz="30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800" dirty="0">
                <a:solidFill>
                  <a:schemeClr val="tx1"/>
                </a:solidFill>
              </a:rPr>
              <a:t>Autorizar que el Departamento de Riesgo sea el responsable de la Administración de avalúos y que el Revisor dependa de este Departamento</a:t>
            </a:r>
            <a:endParaRPr lang="en-US" sz="1800" dirty="0"/>
          </a:p>
        </p:txBody>
      </p:sp>
      <p:sp>
        <p:nvSpPr>
          <p:cNvPr id="4" name="hoy"/>
          <p:cNvSpPr/>
          <p:nvPr/>
        </p:nvSpPr>
        <p:spPr>
          <a:xfrm>
            <a:off x="548640" y="2286000"/>
            <a:ext cx="5120640" cy="3703320"/>
          </a:xfrm>
          <a:prstGeom prst="roundRect">
            <a:avLst>
              <a:gd name="adj" fmla="val 2963"/>
            </a:avLst>
          </a:prstGeom>
          <a:solidFill>
            <a:srgbClr val="F4F7FB"/>
          </a:solidFill>
          <a:ln w="9525">
            <a:solidFill>
              <a:srgbClr val="DCE5F0"/>
            </a:solidFill>
            <a:prstDash val="solid"/>
          </a:ln>
        </p:spPr>
      </p:sp>
      <p:sp>
        <p:nvSpPr>
          <p:cNvPr id="5" name="Text 3"/>
          <p:cNvSpPr txBox="1"/>
          <p:nvPr/>
        </p:nvSpPr>
        <p:spPr>
          <a:xfrm>
            <a:off x="868680" y="2514600"/>
            <a:ext cx="4480560" cy="45720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Hoy</a:t>
            </a:r>
            <a:endParaRPr lang="en-US" sz="2000" dirty="0"/>
          </a:p>
        </p:txBody>
      </p:sp>
      <p:sp>
        <p:nvSpPr>
          <p:cNvPr id="6" name="Text 4"/>
          <p:cNvSpPr txBox="1"/>
          <p:nvPr/>
        </p:nvSpPr>
        <p:spPr>
          <a:xfrm>
            <a:off x="868680" y="3063240"/>
            <a:ext cx="4480560"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4 gerencias y 20 personas intervienen</a:t>
            </a:r>
            <a:endParaRPr lang="en-US" sz="1600" dirty="0"/>
          </a:p>
          <a:p>
            <a:pPr marL="342900" indent="-342900">
              <a:spcAft>
                <a:spcPts val="1000"/>
              </a:spcAft>
              <a:buSzPct val="100000"/>
              <a:buChar char="•"/>
            </a:pPr>
            <a:r>
              <a:rPr lang="en-US" sz="1600" dirty="0">
                <a:solidFill>
                  <a:schemeClr val="tx1"/>
                </a:solidFill>
              </a:rPr>
              <a:t>No existe un área de control centralizada</a:t>
            </a:r>
            <a:endParaRPr lang="en-US" sz="1600" dirty="0"/>
          </a:p>
          <a:p>
            <a:pPr marL="342900" indent="-342900">
              <a:spcAft>
                <a:spcPts val="1000"/>
              </a:spcAft>
              <a:buSzPct val="100000"/>
              <a:buChar char="•"/>
            </a:pPr>
            <a:r>
              <a:rPr lang="en-US" sz="1600" dirty="0">
                <a:solidFill>
                  <a:schemeClr val="tx1"/>
                </a:solidFill>
              </a:rPr>
              <a:t>Observaciones reiterativas de la SSF</a:t>
            </a:r>
            <a:endParaRPr lang="en-US" sz="1600" dirty="0"/>
          </a:p>
          <a:p>
            <a:pPr marL="342900" indent="-342900">
              <a:spcAft>
                <a:spcPts val="1000"/>
              </a:spcAft>
              <a:buSzPct val="100000"/>
              <a:buChar char="•"/>
            </a:pPr>
            <a:r>
              <a:rPr lang="en-US" sz="1600" dirty="0">
                <a:solidFill>
                  <a:schemeClr val="tx1"/>
                </a:solidFill>
              </a:rPr>
              <a:t>Falta de Políticas y Procedimientos internos</a:t>
            </a:r>
            <a:endParaRPr lang="en-US" sz="1600" dirty="0"/>
          </a:p>
        </p:txBody>
      </p:sp>
      <p:pic>
        <p:nvPicPr>
          <p:cNvPr id="7" name="flecha" descr="preencoded.png">    </p:cNvPr>
          <p:cNvPicPr>
            <a:picLocks noChangeAspect="1"/>
          </p:cNvPicPr>
          <p:nvPr/>
        </p:nvPicPr>
        <p:blipFill>
          <a:blip r:embed="rId1"/>
          <a:stretch>
            <a:fillRect/>
          </a:stretch>
        </p:blipFill>
        <p:spPr>
          <a:xfrm>
            <a:off x="5806440" y="38404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Propuesta</a:t>
            </a:r>
            <a:endParaRPr lang="en-US" sz="2000" dirty="0"/>
          </a:p>
        </p:txBody>
      </p:sp>
      <p:sp>
        <p:nvSpPr>
          <p:cNvPr id="9" name="org 1"/>
          <p:cNvSpPr/>
          <p:nvPr/>
        </p:nvSpPr>
        <p:spPr>
          <a:xfrm>
            <a:off x="6492240" y="2834640"/>
            <a:ext cx="5120640" cy="685800"/>
          </a:xfrm>
          <a:prstGeom prst="roundRect">
            <a:avLst>
              <a:gd name="adj" fmla="val 16000"/>
            </a:avLst>
          </a:prstGeom>
          <a:solidFill>
            <a:srgbClr val="5F7590"/>
          </a:solidFill>
          <a:ln w="12700">
            <a:solidFill>
              <a:srgbClr val="5F7590"/>
            </a:solidFill>
            <a:prstDash val="solid"/>
          </a:ln>
        </p:spPr>
      </p:sp>
      <p:sp>
        <p:nvSpPr>
          <p:cNvPr id="10" name="Text 7"/>
          <p:cNvSpPr txBox="1"/>
          <p:nvPr/>
        </p:nvSpPr>
        <p:spPr>
          <a:xfrm>
            <a:off x="6675120" y="283464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Gerencia General</a:t>
            </a:r>
            <a:endParaRPr lang="en-US" sz="1600" dirty="0"/>
          </a:p>
        </p:txBody>
      </p:sp>
      <p:sp>
        <p:nvSpPr>
          <p:cNvPr id="11" name="org line 1"/>
          <p:cNvSpPr/>
          <p:nvPr/>
        </p:nvSpPr>
        <p:spPr>
          <a:xfrm>
            <a:off x="9052560" y="3520440"/>
            <a:ext cx="0" cy="274320"/>
          </a:xfrm>
          <a:prstGeom prst="line">
            <a:avLst/>
          </a:prstGeom>
          <a:noFill/>
          <a:ln w="25400">
            <a:solidFill>
              <a:srgbClr val="5F7590"/>
            </a:solidFill>
            <a:prstDash val="solid"/>
          </a:ln>
        </p:spPr>
      </p:sp>
      <p:sp>
        <p:nvSpPr>
          <p:cNvPr id="12" name="org 2"/>
          <p:cNvSpPr/>
          <p:nvPr/>
        </p:nvSpPr>
        <p:spPr>
          <a:xfrm>
            <a:off x="6492240" y="3794760"/>
            <a:ext cx="5120640" cy="685800"/>
          </a:xfrm>
          <a:prstGeom prst="roundRect">
            <a:avLst>
              <a:gd name="adj" fmla="val 16000"/>
            </a:avLst>
          </a:prstGeom>
          <a:solidFill>
            <a:srgbClr val="1F5FAE"/>
          </a:solidFill>
          <a:ln w="12700">
            <a:solidFill>
              <a:srgbClr val="1F5FAE"/>
            </a:solidFill>
            <a:prstDash val="solid"/>
          </a:ln>
        </p:spPr>
      </p:sp>
      <p:sp>
        <p:nvSpPr>
          <p:cNvPr id="13" name="Text 10"/>
          <p:cNvSpPr txBox="1"/>
          <p:nvPr/>
        </p:nvSpPr>
        <p:spPr>
          <a:xfrm>
            <a:off x="6675120" y="379476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Departamento de Administración de Riesgos</a:t>
            </a:r>
            <a:endParaRPr lang="en-US" sz="1600" dirty="0"/>
          </a:p>
        </p:txBody>
      </p:sp>
      <p:sp>
        <p:nvSpPr>
          <p:cNvPr id="14" name="org line 2"/>
          <p:cNvSpPr/>
          <p:nvPr/>
        </p:nvSpPr>
        <p:spPr>
          <a:xfrm>
            <a:off x="9052560" y="4480560"/>
            <a:ext cx="0" cy="274320"/>
          </a:xfrm>
          <a:prstGeom prst="line">
            <a:avLst/>
          </a:prstGeom>
          <a:noFill/>
          <a:ln w="25400">
            <a:solidFill>
              <a:srgbClr val="5F7590"/>
            </a:solidFill>
            <a:prstDash val="solid"/>
          </a:ln>
        </p:spPr>
      </p:sp>
      <p:sp>
        <p:nvSpPr>
          <p:cNvPr id="15" name="org 3"/>
          <p:cNvSpPr/>
          <p:nvPr/>
        </p:nvSpPr>
        <p:spPr>
          <a:xfrm>
            <a:off x="6492240" y="4754880"/>
            <a:ext cx="5120640" cy="685800"/>
          </a:xfrm>
          <a:prstGeom prst="roundRect">
            <a:avLst>
              <a:gd name="adj" fmla="val 16000"/>
            </a:avLst>
          </a:prstGeom>
          <a:solidFill>
            <a:srgbClr val="0A2A5C"/>
          </a:solidFill>
          <a:ln w="12700">
            <a:solidFill>
              <a:srgbClr val="0A2A5C"/>
            </a:solidFill>
            <a:prstDash val="solid"/>
          </a:ln>
        </p:spPr>
      </p:sp>
      <p:sp>
        <p:nvSpPr>
          <p:cNvPr id="16" name="Text 13"/>
          <p:cNvSpPr txBox="1"/>
          <p:nvPr/>
        </p:nvSpPr>
        <p:spPr>
          <a:xfrm>
            <a:off x="6675120" y="475488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Revisor de Avalúos (NRP-27 art. 40)</a:t>
            </a:r>
            <a:endParaRPr lang="en-US" sz="1600" dirty="0"/>
          </a:p>
        </p:txBody>
      </p:sp>
      <p:sp>
        <p:nvSpPr>
          <p:cNvPr id="17" name="Text 14"/>
          <p:cNvSpPr txBox="1"/>
          <p:nvPr/>
        </p:nvSpPr>
        <p:spPr>
          <a:xfrm>
            <a:off x="6492240" y="5577840"/>
            <a:ext cx="5120640" cy="548640"/>
          </a:xfrm>
          <a:prstGeom prst="rect">
            <a:avLst/>
          </a:prstGeom>
          <a:noFill/>
          <a:ln/>
        </p:spPr>
        <p:txBody>
          <a:bodyPr wrap="square" lIns="0" tIns="0" rIns="0" bIns="0" rtlCol="0" anchor="t"/>
          <a:lstStyle/>
          <a:p>
            <a:pPr indent="0" marL="0">
              <a:buNone/>
            </a:pPr>
            <a:r>
              <a:rPr lang="en-US" sz="1300" i="1" dirty="0">
                <a:solidFill>
                  <a:schemeClr val="accent4"/>
                </a:solidFill>
              </a:rPr>
              <a:t>Área de control centralizada del cumplimiento normativo, seguimiento y calidad de información de la garantía</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Se solicita al Comité de Riesgo autorizar</a:t>
            </a:r>
            <a:endParaRPr lang="en-US" sz="4000" dirty="0"/>
          </a:p>
        </p:txBody>
      </p:sp>
      <p:sp>
        <p:nvSpPr>
          <p:cNvPr id="3" name="check 1"/>
          <p:cNvSpPr/>
          <p:nvPr/>
        </p:nvSpPr>
        <p:spPr>
          <a:xfrm>
            <a:off x="731520" y="3017520"/>
            <a:ext cx="594360" cy="594360"/>
          </a:xfrm>
          <a:prstGeom prst="ellipse">
            <a:avLst/>
          </a:prstGeom>
          <a:solidFill>
            <a:srgbClr val="9CC3F0"/>
          </a:solidFill>
          <a:ln w="12700">
            <a:solidFill>
              <a:srgbClr val="9CC3F0"/>
            </a:solidFill>
            <a:prstDash val="solid"/>
          </a:ln>
        </p:spPr>
      </p:sp>
      <p:pic>
        <p:nvPicPr>
          <p:cNvPr id="4" name="check icon 1" descr="preencoded.png">    </p:cNvPr>
          <p:cNvPicPr>
            <a:picLocks noChangeAspect="1"/>
          </p:cNvPicPr>
          <p:nvPr/>
        </p:nvPicPr>
        <p:blipFill>
          <a:blip r:embed="rId1"/>
          <a:stretch>
            <a:fillRect/>
          </a:stretch>
        </p:blipFill>
        <p:spPr>
          <a:xfrm>
            <a:off x="850392" y="3136392"/>
            <a:ext cx="365760" cy="365760"/>
          </a:xfrm>
          <a:prstGeom prst="rect">
            <a:avLst/>
          </a:prstGeom>
        </p:spPr>
      </p:pic>
      <p:sp>
        <p:nvSpPr>
          <p:cNvPr id="5" name="Text 2"/>
          <p:cNvSpPr txBox="1"/>
          <p:nvPr/>
        </p:nvSpPr>
        <p:spPr>
          <a:xfrm>
            <a:off x="1600200" y="292608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Política Administración de Avalúos (NRP-27 y NCB 022), para ser presentada al Consejo de Administración para su Aprobación</a:t>
            </a:r>
            <a:endParaRPr lang="en-US" sz="1800" dirty="0"/>
          </a:p>
        </p:txBody>
      </p:sp>
      <p:sp>
        <p:nvSpPr>
          <p:cNvPr id="6" name="check 2"/>
          <p:cNvSpPr/>
          <p:nvPr/>
        </p:nvSpPr>
        <p:spPr>
          <a:xfrm>
            <a:off x="731520" y="4069080"/>
            <a:ext cx="594360" cy="594360"/>
          </a:xfrm>
          <a:prstGeom prst="ellipse">
            <a:avLst/>
          </a:prstGeom>
          <a:solidFill>
            <a:srgbClr val="9CC3F0"/>
          </a:solidFill>
          <a:ln w="12700">
            <a:solidFill>
              <a:srgbClr val="9CC3F0"/>
            </a:solidFill>
            <a:prstDash val="solid"/>
          </a:ln>
        </p:spPr>
      </p:sp>
      <p:pic>
        <p:nvPicPr>
          <p:cNvPr id="7" name="check icon 2" descr="preencoded.png">    </p:cNvPr>
          <p:cNvPicPr>
            <a:picLocks noChangeAspect="1"/>
          </p:cNvPicPr>
          <p:nvPr/>
        </p:nvPicPr>
        <p:blipFill>
          <a:blip r:embed="rId2"/>
          <a:stretch>
            <a:fillRect/>
          </a:stretch>
        </p:blipFill>
        <p:spPr>
          <a:xfrm>
            <a:off x="850392" y="4187952"/>
            <a:ext cx="365760" cy="365760"/>
          </a:xfrm>
          <a:prstGeom prst="rect">
            <a:avLst/>
          </a:prstGeom>
        </p:spPr>
      </p:pic>
      <p:sp>
        <p:nvSpPr>
          <p:cNvPr id="8" name="Text 4"/>
          <p:cNvSpPr txBox="1"/>
          <p:nvPr/>
        </p:nvSpPr>
        <p:spPr>
          <a:xfrm>
            <a:off x="1600200" y="397764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contratación de un Revisor en cumplimiento a la NRP-27 artículo 40</a:t>
            </a:r>
            <a:endParaRPr lang="en-US" sz="1800" dirty="0"/>
          </a:p>
        </p:txBody>
      </p:sp>
      <p:sp>
        <p:nvSpPr>
          <p:cNvPr id="9" name="check 3"/>
          <p:cNvSpPr/>
          <p:nvPr/>
        </p:nvSpPr>
        <p:spPr>
          <a:xfrm>
            <a:off x="731520" y="5120640"/>
            <a:ext cx="594360" cy="594360"/>
          </a:xfrm>
          <a:prstGeom prst="ellipse">
            <a:avLst/>
          </a:prstGeom>
          <a:solidFill>
            <a:srgbClr val="9CC3F0"/>
          </a:solidFill>
          <a:ln w="12700">
            <a:solidFill>
              <a:srgbClr val="9CC3F0"/>
            </a:solidFill>
            <a:prstDash val="solid"/>
          </a:ln>
        </p:spPr>
      </p:sp>
      <p:pic>
        <p:nvPicPr>
          <p:cNvPr id="10" name="check icon 3" descr="preencoded.png">    </p:cNvPr>
          <p:cNvPicPr>
            <a:picLocks noChangeAspect="1"/>
          </p:cNvPicPr>
          <p:nvPr/>
        </p:nvPicPr>
        <p:blipFill>
          <a:blip r:embed="rId3"/>
          <a:stretch>
            <a:fillRect/>
          </a:stretch>
        </p:blipFill>
        <p:spPr>
          <a:xfrm>
            <a:off x="850392" y="5239512"/>
            <a:ext cx="365760" cy="365760"/>
          </a:xfrm>
          <a:prstGeom prst="rect">
            <a:avLst/>
          </a:prstGeom>
        </p:spPr>
      </p:pic>
      <p:sp>
        <p:nvSpPr>
          <p:cNvPr id="11" name="Text 6"/>
          <p:cNvSpPr txBox="1"/>
          <p:nvPr/>
        </p:nvSpPr>
        <p:spPr>
          <a:xfrm>
            <a:off x="1600200" y="5029200"/>
            <a:ext cx="9875520" cy="777240"/>
          </a:xfrm>
          <a:prstGeom prst="rect">
            <a:avLst/>
          </a:prstGeom>
          <a:noFill/>
          <a:ln/>
        </p:spPr>
        <p:txBody>
          <a:bodyPr wrap="square" lIns="0" tIns="0" rIns="0" bIns="0" rtlCol="0" anchor="ctr"/>
          <a:lstStyle/>
          <a:p>
            <a:pPr indent="0" marL="0">
              <a:buNone/>
            </a:pPr>
            <a:r>
              <a:rPr lang="en-US" sz="1800" dirty="0">
                <a:solidFill>
                  <a:schemeClr val="bg1"/>
                </a:solidFill>
              </a:rPr>
              <a:t>Que el Departamento de Riesgo sea el responsable de la Administración de avalúos y que el Revisor dependa de este Departamento</a:t>
            </a:r>
            <a:endParaRPr lang="en-US" sz="1800" dirty="0"/>
          </a:p>
        </p:txBody>
      </p:sp>
      <p:sp>
        <p:nvSpPr>
          <p:cNvPr id="12"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valuos Institucional">
  <a:themeElements>
    <a:clrScheme name="Avaluos Institucional">
      <a:dk1>
        <a:srgbClr val="1E2A3A"/>
      </a:dk1>
      <a:lt1>
        <a:srgbClr val="FFFFFF"/>
      </a:lt1>
      <a:dk2>
        <a:srgbClr val="0A2A5C"/>
      </a:dk2>
      <a:lt2>
        <a:srgbClr val="F4F7FB"/>
      </a:lt2>
      <a:accent1>
        <a:srgbClr val="1F5FAE"/>
      </a:accent1>
      <a:accent2>
        <a:srgbClr val="9CC3F0"/>
      </a:accent2>
      <a:accent3>
        <a:srgbClr val="164A8F"/>
      </a:accent3>
      <a:accent4>
        <a:srgbClr val="5F7590"/>
      </a:accent4>
      <a:accent5>
        <a:srgbClr val="C9DBF2"/>
      </a:accent5>
      <a:accent6>
        <a:srgbClr val="DCE5F0"/>
      </a:accent6>
      <a:hlink>
        <a:srgbClr val="1F5FAE"/>
      </a:hlink>
      <a:folHlink>
        <a:srgbClr val="5F7590"/>
      </a:folHlink>
    </a:clrScheme>
    <a:fontScheme name="Avaluos Instituc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Departamento de Administración de Riesgos</cp:lastModifiedBy>
  <cp:revision>1</cp:revision>
  <dcterms:created xsi:type="dcterms:W3CDTF">2026-10-21T15:17:17Z</dcterms:created>
  <dcterms:modified xsi:type="dcterms:W3CDTF">2026-10-21T15:17:17Z</dcterms:modified>
</cp:coreProperties>
</file>