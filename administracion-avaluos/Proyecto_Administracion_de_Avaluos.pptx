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a4f49e0e-22b1-be80-a0e7-19f7228a201a}">
          <p14:sldIdLst>
            <p14:sldId id="256"/>
          </p14:sldIdLst>
        </p14:section>
        <p14:section name="Agenda" id="{1e64a481-c301-d9d3-7047-14a80cf618dd}">
          <p14:sldIdLst>
            <p14:sldId id="257"/>
          </p14:sldIdLst>
        </p14:section>
        <p14:section name="A. Situación actual" id="{b72421c7-06ef-db71-5161-b4dc8143e223}">
          <p14:sldIdLst>
            <p14:sldId id="258"/>
            <p14:sldId id="259"/>
            <p14:sldId id="260"/>
            <p14:sldId id="261"/>
            <p14:sldId id="262"/>
          </p14:sldIdLst>
        </p14:section>
        <p14:section name="Datos operativos" id="{7da4519b-6958-9b8e-80e1-df02f1bc1d51}">
          <p14:sldIdLst>
            <p14:sldId id="263"/>
            <p14:sldId id="264"/>
            <p14:sldId id="265"/>
          </p14:sldIdLst>
        </p14:section>
        <p14:section name="Riesgo identificado" id="{621e4335-245d-6558-dade-dee274fba16c}">
          <p14:sldIdLst>
            <p14:sldId id="266"/>
          </p14:sldIdLst>
        </p14:section>
        <p14:section name="B. Propuesta" id="{bfd6a188-b09d-ef39-cf16-fc8b3255c61e}">
          <p14:sldIdLst>
            <p14:sldId id="267"/>
            <p14:sldId id="268"/>
            <p14:sldId id="269"/>
            <p14:sldId id="270"/>
          </p14:sldIdLst>
        </p14:section>
        <p14:section name="Solicitud" id="{db32bda2-fc3a-11fb-f819-586922e2490c}">
          <p14:sldIdLst>
            <p14:sldId id="271"/>
          </p14:sldIdLst>
        </p14:section>
        <p14:section name="Cierre" id="{056b976b-2ee2-b430-7dd3-a5c00ca399f7}">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76E"/>
                </a:solidFill>
                <a:latin typeface="+mn-lt"/>
              </a:defRPr>
            </a:pPr>
            <a:r>
              <a:rPr sz="1300" b="0" i="0" u="none" strike="noStrike">
                <a:solidFill>
                  <a:srgbClr val="00376E"/>
                </a:solidFill>
                <a:latin typeface="+mn-lt"/>
              </a:rPr>
              <a:t>Expedientes HIPOTECARIO por mes</a:t>
            </a:r>
          </a:p>
        </c:rich>
      </c:tx>
      <c:layout/>
      <c:overlay val="0"/>
    </c:title>
    <c:autoTitleDeleted val="0"/>
    <c:plotArea>
      <c:layout/>
      <c:barChart>
        <c:barDir val="col"/>
        <c:grouping val="clustered"/>
        <c:varyColors val="0"/>
        <c:ser>
          <c:idx val="0"/>
          <c:order val="0"/>
          <c:tx>
            <c:strRef>
              <c:f>Sheet1!$B$1</c:f>
              <c:strCache>
                <c:ptCount val="1"/>
                <c:pt idx="0">
                  <c:v>HIPOTECARIO</c:v>
                </c:pt>
              </c:strCache>
            </c:strRef>
          </c:tx>
          <c:spPr>
            <a:solidFill>
              <a:srgbClr val="005C9F"/>
            </a:solidFill>
            <a:effectLst/>
          </c:spPr>
          <c:invertIfNegative val="0"/>
          <c:dLbls>
            <c:numFmt formatCode="#,##0" sourceLinked="0"/>
            <c:txPr>
              <a:bodyPr/>
              <a:lstStyle/>
              <a:p>
                <a:pPr>
                  <a:defRPr b="0" i="0" strike="noStrike" sz="1200" u="none">
                    <a:solidFill>
                      <a:srgbClr val="1E2A3A"/>
                    </a:solidFill>
                    <a:latin typeface="+mn-lt"/>
                  </a:defRPr>
                </a:pPr>
              </a:p>
            </c:txPr>
            <c:showLegendKey val="0"/>
            <c:showVal val="1"/>
            <c:showCatName val="0"/>
            <c:showSerName val="0"/>
            <c:showPercent val="0"/>
            <c:showBubbleSize val="0"/>
            <c:showLeaderLines val="0"/>
          </c:dLbls>
          <c:cat>
            <c:multiLvlStrRef>
              <c:f>Sheet1!$A$2:$A$10</c:f>
              <c:multiLvlStrCache>
                <c:ptCount val="9"/>
                <c:lvl>
                  <c:pt idx="0">
                    <c:v>ene</c:v>
                  </c:pt>
                  <c:pt idx="1">
                    <c:v>feb</c:v>
                  </c:pt>
                  <c:pt idx="2">
                    <c:v>mar</c:v>
                  </c:pt>
                  <c:pt idx="3">
                    <c:v>abr</c:v>
                  </c:pt>
                  <c:pt idx="4">
                    <c:v>may</c:v>
                  </c:pt>
                  <c:pt idx="5">
                    <c:v>jun</c:v>
                  </c:pt>
                  <c:pt idx="6">
                    <c:v>jul</c:v>
                  </c:pt>
                  <c:pt idx="7">
                    <c:v>ago</c:v>
                  </c:pt>
                  <c:pt idx="8">
                    <c:v>sep</c:v>
                  </c:pt>
                </c:lvl>
              </c:multiLvlStrCache>
            </c:multiLvlStrRef>
          </c:cat>
          <c:val>
            <c:numRef>
              <c:f>Sheet1!$B$2:$B$10</c:f>
              <c:numCache>
                <c:formatCode>General</c:formatCode>
                <c:ptCount val="9"/>
                <c:pt idx="0">
                  <c:v>28</c:v>
                </c:pt>
                <c:pt idx="1">
                  <c:v>22</c:v>
                </c:pt>
                <c:pt idx="2">
                  <c:v>46</c:v>
                </c:pt>
                <c:pt idx="3">
                  <c:v>30</c:v>
                </c:pt>
                <c:pt idx="4">
                  <c:v>41</c:v>
                </c:pt>
                <c:pt idx="5">
                  <c:v>35</c:v>
                </c:pt>
                <c:pt idx="6">
                  <c:v>44</c:v>
                </c:pt>
                <c:pt idx="7">
                  <c:v>33</c:v>
                </c:pt>
                <c:pt idx="8">
                  <c:v>39</c:v>
                </c:pt>
              </c:numCache>
            </c:numRef>
          </c:val>
        </c:ser>
        <c:dLbls>
          <c:numFmt formatCode="#,##0" sourceLinked="0"/>
          <c:txPr>
            <a:bodyPr/>
            <a:lstStyle/>
            <a:p>
              <a:pPr>
                <a:defRPr b="0" i="0" strike="noStrike" sz="1200" u="none">
                  <a:solidFill>
                    <a:srgbClr val="1E2A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590"/>
                </a:solidFill>
                <a:latin typeface="+mn-lt"/>
              </a:defRPr>
            </a:pPr>
            <a:endParaRPr lang="en-US"/>
          </a:p>
        </c:txPr>
        <c:crossAx val="2094734552"/>
        <c:crosses val="autoZero"/>
        <c:auto val="1"/>
        <c:lblAlgn val="ctr"/>
        <c:noMultiLvlLbl val="1"/>
      </c:catAx>
      <c:valAx>
        <c:axId val="2094734552"/>
        <c:scaling>
          <c:orientation val="minMax"/>
          <c:max val="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5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76E"/>
                </a:solidFill>
                <a:latin typeface="+mn-lt"/>
              </a:defRPr>
            </a:pPr>
            <a:r>
              <a:rPr sz="1300" b="0" i="0" u="none" strike="noStrike">
                <a:solidFill>
                  <a:srgbClr val="00376E"/>
                </a:solidFill>
                <a:latin typeface="+mn-lt"/>
              </a:rPr>
              <a:t>Casos que no se tramitan por mes</a:t>
            </a:r>
          </a:p>
        </c:rich>
      </c:tx>
      <c:layout/>
      <c:overlay val="0"/>
    </c:title>
    <c:autoTitleDeleted val="0"/>
    <c:plotArea>
      <c:layout/>
      <c:barChart>
        <c:barDir val="col"/>
        <c:grouping val="clustered"/>
        <c:varyColors val="0"/>
        <c:ser>
          <c:idx val="0"/>
          <c:order val="0"/>
          <c:tx>
            <c:strRef>
              <c:f>Sheet1!$B$1</c:f>
              <c:strCache>
                <c:ptCount val="1"/>
                <c:pt idx="0">
                  <c:v>Casos no tramitados</c:v>
                </c:pt>
              </c:strCache>
            </c:strRef>
          </c:tx>
          <c:spPr>
            <a:solidFill>
              <a:srgbClr val="C62828"/>
            </a:solidFill>
            <a:effectLst/>
          </c:spPr>
          <c:invertIfNegative val="0"/>
          <c:dLbls>
            <c:numFmt formatCode="#,##0" sourceLinked="0"/>
            <c:txPr>
              <a:bodyPr/>
              <a:lstStyle/>
              <a:p>
                <a:pPr>
                  <a:defRPr b="0" i="0" strike="noStrike" sz="1200" u="none">
                    <a:solidFill>
                      <a:srgbClr val="1E2A3A"/>
                    </a:solidFill>
                    <a:latin typeface="+mn-lt"/>
                  </a:defRPr>
                </a:pPr>
              </a:p>
            </c:txPr>
            <c:dLblPos val="outEnd"/>
            <c:showLegendKey val="0"/>
            <c:showVal val="1"/>
            <c:showCatName val="0"/>
            <c:showSerName val="0"/>
            <c:showPercent val="0"/>
            <c:showBubbleSize val="0"/>
            <c:showLeaderLines val="0"/>
          </c:dLbls>
          <c:cat>
            <c:multiLvlStrRef>
              <c:f>Sheet1!$A$2:$A$10</c:f>
              <c:multiLvlStrCache>
                <c:ptCount val="9"/>
                <c:lvl>
                  <c:pt idx="0">
                    <c:v>ENE</c:v>
                  </c:pt>
                  <c:pt idx="1">
                    <c:v>FEB</c:v>
                  </c:pt>
                  <c:pt idx="2">
                    <c:v>MAR</c:v>
                  </c:pt>
                  <c:pt idx="3">
                    <c:v>ABR</c:v>
                  </c:pt>
                  <c:pt idx="4">
                    <c:v>MAY</c:v>
                  </c:pt>
                  <c:pt idx="5">
                    <c:v>JUN</c:v>
                  </c:pt>
                  <c:pt idx="6">
                    <c:v>JUL</c:v>
                  </c:pt>
                  <c:pt idx="7">
                    <c:v>AGO</c:v>
                  </c:pt>
                  <c:pt idx="8">
                    <c:v>SEP</c:v>
                  </c:pt>
                </c:lvl>
              </c:multiLvlStrCache>
            </c:multiLvlStrRef>
          </c:cat>
          <c:val>
            <c:numRef>
              <c:f>Sheet1!$B$2:$B$10</c:f>
              <c:numCache>
                <c:formatCode>General</c:formatCode>
                <c:ptCount val="9"/>
                <c:pt idx="0">
                  <c:v>4</c:v>
                </c:pt>
                <c:pt idx="1">
                  <c:v>7</c:v>
                </c:pt>
                <c:pt idx="2">
                  <c:v>3</c:v>
                </c:pt>
                <c:pt idx="3">
                  <c:v>3</c:v>
                </c:pt>
                <c:pt idx="4">
                  <c:v>3</c:v>
                </c:pt>
                <c:pt idx="5">
                  <c:v>4</c:v>
                </c:pt>
                <c:pt idx="6">
                  <c:v>5</c:v>
                </c:pt>
                <c:pt idx="7">
                  <c:v>6</c:v>
                </c:pt>
                <c:pt idx="8">
                  <c:v>9</c:v>
                </c:pt>
              </c:numCache>
            </c:numRef>
          </c:val>
        </c:ser>
        <c:dLbls>
          <c:numFmt formatCode="#,##0" sourceLinked="0"/>
          <c:txPr>
            <a:bodyPr/>
            <a:lstStyle/>
            <a:p>
              <a:pPr>
                <a:defRPr b="0" i="0" strike="noStrike" sz="1200" u="none">
                  <a:solidFill>
                    <a:srgbClr val="1E2A3A"/>
                  </a:solidFill>
                  <a:latin typeface="+mn-lt"/>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Promedio (5)</c:v>
                </c:pt>
              </c:strCache>
            </c:strRef>
          </c:tx>
          <c:spPr>
            <a:solidFill>
              <a:srgbClr val="00376E"/>
            </a:solidFill>
            <a:ln w="25400" cap="flat">
              <a:solidFill>
                <a:srgbClr val="00376E"/>
              </a:solidFill>
              <a:prstDash val="dash"/>
              <a:round/>
            </a:ln>
            <a:effectLst/>
          </c:spPr>
          <c:invertIfNegative val="0"/>
          <c:dLbls>
            <c:numFmt formatCode="#,##0" sourceLinked="0"/>
            <c:txPr>
              <a:bodyPr/>
              <a:lstStyle/>
              <a:p>
                <a:pPr>
                  <a:defRPr b="0" i="0" strike="noStrike" sz="1200" u="none">
                    <a:solidFill>
                      <a:srgbClr val="1E2A3A"/>
                    </a:solidFill>
                    <a:latin typeface="+mn-lt"/>
                  </a:defRPr>
                </a:pPr>
              </a:p>
            </c:txPr>
            <c:showLegendKey val="0"/>
            <c:showVal val="0"/>
            <c:showCatName val="0"/>
            <c:showSerName val="0"/>
            <c:showPercent val="0"/>
            <c:showBubbleSize val="0"/>
            <c:showLeaderLines val="0"/>
          </c:dLbls>
          <c:marker>
            <c:symbol val="none"/>
            <c:size val="6"/>
            <c:spPr>
              <a:solidFill>
                <a:srgbClr val="00376E"/>
              </a:solidFill>
              <a:ln w="9525" cap="flat">
                <a:solidFill>
                  <a:srgbClr val="00376E"/>
                </a:solidFill>
                <a:prstDash val="solid"/>
                <a:round/>
              </a:ln>
              <a:effectLst/>
            </c:spPr>
          </c:marker>
          <c:cat>
            <c:multiLvlStrRef>
              <c:f>Sheet1!$A$2:$A$10</c:f>
              <c:multiLvlStrCache>
                <c:ptCount val="9"/>
                <c:lvl>
                  <c:pt idx="0">
                    <c:v>ENE</c:v>
                  </c:pt>
                  <c:pt idx="1">
                    <c:v>FEB</c:v>
                  </c:pt>
                  <c:pt idx="2">
                    <c:v>MAR</c:v>
                  </c:pt>
                  <c:pt idx="3">
                    <c:v>ABR</c:v>
                  </c:pt>
                  <c:pt idx="4">
                    <c:v>MAY</c:v>
                  </c:pt>
                  <c:pt idx="5">
                    <c:v>JUN</c:v>
                  </c:pt>
                  <c:pt idx="6">
                    <c:v>JUL</c:v>
                  </c:pt>
                  <c:pt idx="7">
                    <c:v>AGO</c:v>
                  </c:pt>
                  <c:pt idx="8">
                    <c:v>SEP</c:v>
                  </c:pt>
                </c:lvl>
              </c:multiLvlStrCache>
            </c:multiLvlStrRef>
          </c:cat>
          <c:val>
            <c:numRef>
              <c:f>Sheet1!$C$2:$C$10</c:f>
              <c:numCache>
                <c:formatCode>General</c:formatCode>
                <c:ptCount val="9"/>
                <c:pt idx="0">
                  <c:v>5</c:v>
                </c:pt>
                <c:pt idx="1">
                  <c:v>5</c:v>
                </c:pt>
                <c:pt idx="2">
                  <c:v>5</c:v>
                </c:pt>
                <c:pt idx="3">
                  <c:v>5</c:v>
                </c:pt>
                <c:pt idx="4">
                  <c:v>5</c:v>
                </c:pt>
                <c:pt idx="5">
                  <c:v>5</c:v>
                </c:pt>
                <c:pt idx="6">
                  <c:v>5</c:v>
                </c:pt>
                <c:pt idx="7">
                  <c:v>5</c:v>
                </c:pt>
                <c:pt idx="8">
                  <c:v>5</c:v>
                </c:pt>
              </c:numCache>
            </c:numRef>
          </c:val>
          <c:smooth val="0"/>
        </c:ser>
        <c:dLbls>
          <c:numFmt formatCode="#,##0" sourceLinked="0"/>
          <c:txPr>
            <a:bodyPr/>
            <a:lstStyle/>
            <a:p>
              <a:pPr>
                <a:defRPr b="0" i="0" strike="noStrike" sz="1200" u="none">
                  <a:solidFill>
                    <a:srgbClr val="1E2A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590"/>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59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F759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Proyecto Administración de Avalúos para evaluación y autorización del Comité de Riesgo, y posterior presentación al Consejo de Administración.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 14 (Negocio) + 2 (Legal) + 2 (Operacional) + 2 (Riesgos) = 20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tal como fueron enviados por Yaneth (Punto 1). El promedio de ≈35 mensual es 318 / 9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tal como fueron enviados por Yaneth (Punto 2). Promedio = 44 / 9 ≈ 5. La tendencia se eleva en el tercer trimestre (5, 6,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Promedio mensual de actualización 60 avalúos (dato de Sarita). A ese ritmo se actualizan unos 720 avalúos al año, frente a una cartera de 3,500 garantías.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 cy="457200"/>
          </a:xfrm>
          <a:prstGeom prst="rect">
            <a:avLst/>
          </a:prstGeom>
          <a:solidFill>
            <a:srgbClr val="0070C0"/>
          </a:solidFill>
          <a:ln w="12700">
            <a:solidFill>
              <a:srgbClr val="0070C0"/>
            </a:solidFill>
            <a:prstDash val="solid"/>
          </a:ln>
        </p:spPr>
      </p:sp>
      <p:sp>
        <p:nvSpPr>
          <p:cNvPr id="3" name="Text 1"/>
          <p:cNvSpPr/>
          <p:nvPr>
            <p:ph idx="101" type="title" hasCustomPrompt="1"/>
          </p:nvPr>
        </p:nvSpPr>
        <p:spPr>
          <a:xfrm>
            <a:off x="777240" y="347472"/>
            <a:ext cx="10881360" cy="77724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pic>
        <p:nvPicPr>
          <p:cNvPr id="4" name="Image 0" descr="/tmp/claude-0/-home-user-riesgo/74e9c8ad-7a43-5903-a089-2edd8047c387/scratchpad/assets/logo_color.png">    </p:cNvPr>
          <p:cNvPicPr>
            <a:picLocks noChangeAspect="1"/>
          </p:cNvPicPr>
          <p:nvPr/>
        </p:nvPicPr>
        <p:blipFill>
          <a:blip r:embed="rId1"/>
          <a:stretch>
            <a:fillRect/>
          </a:stretch>
        </p:blipFill>
        <p:spPr>
          <a:xfrm>
            <a:off x="10927080" y="6108192"/>
            <a:ext cx="777240" cy="566928"/>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AVE">
    <p:bg>
      <p:bgPr>
        <a:solidFill>
          <a:srgbClr val="FFFFFF"/>
        </a:solidFill>
      </p:bgPr>
    </p:bg>
    <p:spTree>
      <p:nvGrpSpPr>
        <p:cNvPr id="1" name=""/>
        <p:cNvGrpSpPr/>
        <p:nvPr/>
      </p:nvGrpSpPr>
      <p:grpSpPr>
        <a:xfrm>
          <a:off x="0" y="0"/>
          <a:ext cx="0" cy="0"/>
          <a:chOff x="0" y="0"/>
          <a:chExt cx="0" cy="0"/>
        </a:xfrm>
      </p:grpSpPr>
      <p:pic>
        <p:nvPicPr>
          <p:cNvPr id="2" name="Image 0" descr="/tmp/claude-0/-home-user-riesgo/74e9c8ad-7a43-5903-a089-2edd8047c387/scratchpad/assets/wave_top.png">    </p:cNvPr>
          <p:cNvPicPr>
            <a:picLocks noChangeAspect="1"/>
          </p:cNvPicPr>
          <p:nvPr/>
        </p:nvPicPr>
        <p:blipFill>
          <a:blip r:embed="rId1"/>
          <a:stretch>
            <a:fillRect/>
          </a:stretch>
        </p:blipFill>
        <p:spPr>
          <a:xfrm>
            <a:off x="-27432" y="0"/>
            <a:ext cx="12216384" cy="6858000"/>
          </a:xfrm>
          <a:prstGeom prst="rect">
            <a:avLst/>
          </a:prstGeom>
        </p:spPr>
      </p:pic>
      <p:sp>
        <p:nvSpPr>
          <p:cNvPr id="3" name="Shape 0"/>
          <p:cNvSpPr/>
          <p:nvPr/>
        </p:nvSpPr>
        <p:spPr>
          <a:xfrm>
            <a:off x="1188720" y="1783080"/>
            <a:ext cx="73152" cy="502920"/>
          </a:xfrm>
          <a:prstGeom prst="rect">
            <a:avLst/>
          </a:prstGeom>
          <a:solidFill>
            <a:srgbClr val="9CC3F0"/>
          </a:solidFill>
          <a:ln w="12700">
            <a:solidFill>
              <a:srgbClr val="9CC3F0"/>
            </a:solidFill>
            <a:prstDash val="solid"/>
          </a:ln>
        </p:spPr>
      </p:sp>
      <p:sp>
        <p:nvSpPr>
          <p:cNvPr id="4" name="Text 1"/>
          <p:cNvSpPr/>
          <p:nvPr>
            <p:ph idx="102" type="title" hasCustomPrompt="1"/>
          </p:nvPr>
        </p:nvSpPr>
        <p:spPr>
          <a:xfrm>
            <a:off x="1371600" y="1554480"/>
            <a:ext cx="5486400" cy="9601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ph idx="103" type="body" hasCustomPrompt="1"/>
          </p:nvPr>
        </p:nvSpPr>
        <p:spPr>
          <a:xfrm>
            <a:off x="1371600" y="2606040"/>
            <a:ext cx="4480560" cy="13716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AVY">
    <p:bg>
      <p:bgPr>
        <a:solidFill>
          <a:srgbClr val="00376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tmp/claude-0/-home-user-riesgo/74e9c8ad-7a43-5903-a089-2edd8047c387/scratchpad/assets/logo_white.png">    </p:cNvPr>
          <p:cNvPicPr>
            <a:picLocks noChangeAspect="1"/>
          </p:cNvPicPr>
          <p:nvPr/>
        </p:nvPicPr>
        <p:blipFill>
          <a:blip r:embed="rId1"/>
          <a:stretch>
            <a:fillRect/>
          </a:stretch>
        </p:blipFill>
        <p:spPr>
          <a:xfrm>
            <a:off x="10607040" y="5806440"/>
            <a:ext cx="1097280" cy="74066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5.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5.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5.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mp/claude-0/-home-user-riesgo/74e9c8ad-7a43-5903-a089-2edd8047c387/scratchpad/assets/logo_color.png">    </p:cNvPr>
          <p:cNvPicPr>
            <a:picLocks noChangeAspect="1"/>
          </p:cNvPicPr>
          <p:nvPr/>
        </p:nvPicPr>
        <p:blipFill>
          <a:blip r:embed="rId1"/>
          <a:stretch>
            <a:fillRect/>
          </a:stretch>
        </p:blipFill>
        <p:spPr>
          <a:xfrm>
            <a:off x="429768" y="374904"/>
            <a:ext cx="1719072" cy="1252728"/>
          </a:xfrm>
          <a:prstGeom prst="rect">
            <a:avLst/>
          </a:prstGeom>
        </p:spPr>
      </p:pic>
      <p:sp>
        <p:nvSpPr>
          <p:cNvPr id="3" name="panel"/>
          <p:cNvSpPr/>
          <p:nvPr/>
        </p:nvSpPr>
        <p:spPr>
          <a:xfrm>
            <a:off x="4754880" y="676656"/>
            <a:ext cx="7436815" cy="5001768"/>
          </a:xfrm>
          <a:prstGeom prst="rect">
            <a:avLst/>
          </a:prstGeom>
          <a:solidFill>
            <a:srgbClr val="00376E"/>
          </a:solidFill>
          <a:ln w="12700">
            <a:solidFill>
              <a:srgbClr val="00376E"/>
            </a:solidFill>
            <a:prstDash val="solid"/>
          </a:ln>
        </p:spPr>
      </p:sp>
      <p:sp>
        <p:nvSpPr>
          <p:cNvPr id="4" name="panel marca"/>
          <p:cNvSpPr/>
          <p:nvPr/>
        </p:nvSpPr>
        <p:spPr>
          <a:xfrm>
            <a:off x="4754880" y="1399032"/>
            <a:ext cx="192024" cy="1207008"/>
          </a:xfrm>
          <a:prstGeom prst="rect">
            <a:avLst/>
          </a:prstGeom>
          <a:solidFill>
            <a:srgbClr val="005C9F"/>
          </a:solidFill>
          <a:ln w="12700">
            <a:solidFill>
              <a:srgbClr val="005C9F"/>
            </a:solidFill>
            <a:prstDash val="solid"/>
          </a:ln>
        </p:spPr>
      </p:sp>
      <p:pic>
        <p:nvPicPr>
          <p:cNvPr id="5" name="foto edificio" descr="/tmp/claude-0/-home-user-riesgo/74e9c8ad-7a43-5903-a089-2edd8047c387/scratchpad/assets/cover_photo.jpg">    </p:cNvPr>
          <p:cNvPicPr>
            <a:picLocks noChangeAspect="1"/>
          </p:cNvPicPr>
          <p:nvPr/>
        </p:nvPicPr>
        <p:blipFill>
          <a:blip r:embed="rId2"/>
          <a:stretch>
            <a:fillRect/>
          </a:stretch>
        </p:blipFill>
        <p:spPr>
          <a:xfrm>
            <a:off x="5230368" y="1143000"/>
            <a:ext cx="3163824" cy="3877056"/>
          </a:xfrm>
          <a:prstGeom prst="rect">
            <a:avLst/>
          </a:prstGeom>
        </p:spPr>
      </p:pic>
      <p:sp>
        <p:nvSpPr>
          <p:cNvPr id="6" name="portada icono circle"/>
          <p:cNvSpPr/>
          <p:nvPr/>
        </p:nvSpPr>
        <p:spPr>
          <a:xfrm>
            <a:off x="10835640" y="320040"/>
            <a:ext cx="1188720" cy="1188720"/>
          </a:xfrm>
          <a:prstGeom prst="ellipse">
            <a:avLst/>
          </a:prstGeom>
          <a:solidFill>
            <a:srgbClr val="005C9F"/>
          </a:solidFill>
          <a:ln w="12700">
            <a:solidFill>
              <a:srgbClr val="005C9F"/>
            </a:solidFill>
            <a:prstDash val="solid"/>
          </a:ln>
        </p:spPr>
      </p:sp>
      <p:pic>
        <p:nvPicPr>
          <p:cNvPr id="7" name="portada icono icon" descr="preencoded.png">    </p:cNvPr>
          <p:cNvPicPr>
            <a:picLocks noChangeAspect="1"/>
          </p:cNvPicPr>
          <p:nvPr/>
        </p:nvPicPr>
        <p:blipFill>
          <a:blip r:embed="rId3"/>
          <a:stretch>
            <a:fillRect/>
          </a:stretch>
        </p:blipFill>
        <p:spPr>
          <a:xfrm>
            <a:off x="11097158" y="581558"/>
            <a:ext cx="665683" cy="665683"/>
          </a:xfrm>
          <a:prstGeom prst="rect">
            <a:avLst/>
          </a:prstGeom>
        </p:spPr>
      </p:pic>
      <p:sp>
        <p:nvSpPr>
          <p:cNvPr id="8" name="Text 3"/>
          <p:cNvSpPr txBox="1"/>
          <p:nvPr/>
        </p:nvSpPr>
        <p:spPr>
          <a:xfrm>
            <a:off x="640080" y="2103120"/>
            <a:ext cx="3931920" cy="1920240"/>
          </a:xfrm>
          <a:prstGeom prst="rect">
            <a:avLst/>
          </a:prstGeom>
          <a:noFill/>
          <a:ln/>
        </p:spPr>
        <p:txBody>
          <a:bodyPr wrap="square" lIns="0" tIns="0" rIns="0" bIns="0" rtlCol="0" anchor="ctr"/>
          <a:lstStyle/>
          <a:p>
            <a:pPr indent="0" marL="0">
              <a:buNone/>
            </a:pPr>
            <a:r>
              <a:rPr lang="en-US" sz="2800" b="1" dirty="0">
                <a:solidFill>
                  <a:schemeClr val="tx2"/>
                </a:solidFill>
              </a:rPr>
              <a:t>PROYECTO ADMINISTRACIÓN DE AVALÚOS</a:t>
            </a:r>
            <a:endParaRPr lang="en-US" sz="2800" dirty="0"/>
          </a:p>
        </p:txBody>
      </p:sp>
      <p:sp>
        <p:nvSpPr>
          <p:cNvPr id="9" name="Text 4"/>
          <p:cNvSpPr txBox="1"/>
          <p:nvPr/>
        </p:nvSpPr>
        <p:spPr>
          <a:xfrm>
            <a:off x="640080" y="4160520"/>
            <a:ext cx="3840480" cy="914400"/>
          </a:xfrm>
          <a:prstGeom prst="rect">
            <a:avLst/>
          </a:prstGeom>
          <a:noFill/>
          <a:ln/>
        </p:spPr>
        <p:txBody>
          <a:bodyPr wrap="square" lIns="0" tIns="0" rIns="0" bIns="0" rtlCol="0" anchor="t"/>
          <a:lstStyle/>
          <a:p>
            <a:pPr indent="0" marL="0">
              <a:buNone/>
            </a:pPr>
            <a:r>
              <a:rPr lang="en-US" sz="1500" dirty="0">
                <a:solidFill>
                  <a:schemeClr val="accent1"/>
                </a:solidFill>
              </a:rPr>
              <a:t>Resumen Ejecutivo para el Comité de Riesgo y Consejo de Administración</a:t>
            </a:r>
            <a:endParaRPr lang="en-US" sz="1500" dirty="0"/>
          </a:p>
        </p:txBody>
      </p:sp>
      <p:sp>
        <p:nvSpPr>
          <p:cNvPr id="10" name="ponente"/>
          <p:cNvSpPr/>
          <p:nvPr/>
        </p:nvSpPr>
        <p:spPr>
          <a:xfrm>
            <a:off x="8394192" y="2331720"/>
            <a:ext cx="3429000" cy="960120"/>
          </a:xfrm>
          <a:prstGeom prst="rect">
            <a:avLst/>
          </a:prstGeom>
          <a:solidFill>
            <a:srgbClr val="005C9F"/>
          </a:solidFill>
          <a:ln w="12700">
            <a:solidFill>
              <a:srgbClr val="005C9F"/>
            </a:solidFill>
            <a:prstDash val="solid"/>
          </a:ln>
        </p:spPr>
      </p:sp>
      <p:sp>
        <p:nvSpPr>
          <p:cNvPr id="11" name="Text 6"/>
          <p:cNvSpPr txBox="1"/>
          <p:nvPr/>
        </p:nvSpPr>
        <p:spPr>
          <a:xfrm>
            <a:off x="8549640" y="2331720"/>
            <a:ext cx="3154680" cy="960120"/>
          </a:xfrm>
          <a:prstGeom prst="rect">
            <a:avLst/>
          </a:prstGeom>
          <a:noFill/>
          <a:ln/>
        </p:spPr>
        <p:txBody>
          <a:bodyPr wrap="square" lIns="0" tIns="0" rIns="0" bIns="0" rtlCol="0" anchor="ctr"/>
          <a:lstStyle/>
          <a:p>
            <a:pPr indent="0" marL="0">
              <a:buNone/>
            </a:pPr>
            <a:r>
              <a:rPr lang="en-US" sz="1600" b="1" dirty="0">
                <a:solidFill>
                  <a:schemeClr val="bg1"/>
                </a:solidFill>
              </a:rPr>
              <a:t>Departamento de Administración de Riesgos</a:t>
            </a:r>
            <a:endParaRPr lang="en-US" sz="1600" dirty="0"/>
          </a:p>
        </p:txBody>
      </p:sp>
      <p:sp>
        <p:nvSpPr>
          <p:cNvPr id="12" name="Text 7"/>
          <p:cNvSpPr txBox="1"/>
          <p:nvPr/>
        </p:nvSpPr>
        <p:spPr>
          <a:xfrm>
            <a:off x="8549640" y="3520440"/>
            <a:ext cx="3154680" cy="685800"/>
          </a:xfrm>
          <a:prstGeom prst="rect">
            <a:avLst/>
          </a:prstGeom>
          <a:noFill/>
          <a:ln/>
        </p:spPr>
        <p:txBody>
          <a:bodyPr wrap="square" lIns="0" tIns="0" rIns="0" bIns="0" rtlCol="0" anchor="t"/>
          <a:lstStyle/>
          <a:p>
            <a:pPr indent="0" marL="0">
              <a:buNone/>
            </a:pPr>
            <a:r>
              <a:rPr lang="en-US" sz="1400" dirty="0">
                <a:solidFill>
                  <a:schemeClr val="bg1"/>
                </a:solidFill>
              </a:rPr>
              <a:t>Comité de Riesgo y Consejo de Administración</a:t>
            </a:r>
            <a:endParaRPr lang="en-US" sz="1400" dirty="0"/>
          </a:p>
        </p:txBody>
      </p:sp>
      <p:sp>
        <p:nvSpPr>
          <p:cNvPr id="13" name="Text 8"/>
          <p:cNvSpPr txBox="1"/>
          <p:nvPr/>
        </p:nvSpPr>
        <p:spPr>
          <a:xfrm>
            <a:off x="8549640" y="4343400"/>
            <a:ext cx="3154680" cy="411480"/>
          </a:xfrm>
          <a:prstGeom prst="rect">
            <a:avLst/>
          </a:prstGeom>
          <a:noFill/>
          <a:ln/>
        </p:spPr>
        <p:txBody>
          <a:bodyPr wrap="square" lIns="0" tIns="0" rIns="0" bIns="0" rtlCol="0" anchor="t"/>
          <a:lstStyle/>
          <a:p>
            <a:pPr indent="0" marL="0">
              <a:buNone/>
            </a:pPr>
            <a:r>
              <a:rPr lang="en-US" sz="1600" b="1" dirty="0">
                <a:solidFill>
                  <a:schemeClr val="accent2"/>
                </a:solidFill>
              </a:rPr>
              <a:t>OCTUBRE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nda"/>
          <p:cNvSpPr/>
          <p:nvPr/>
        </p:nvSpPr>
        <p:spPr>
          <a:xfrm>
            <a:off x="0" y="0"/>
            <a:ext cx="12191695" cy="749808"/>
          </a:xfrm>
          <a:prstGeom prst="rect">
            <a:avLst/>
          </a:prstGeom>
          <a:solidFill>
            <a:srgbClr val="00376E"/>
          </a:solidFill>
          <a:ln w="12700">
            <a:solidFill>
              <a:srgbClr val="00376E"/>
            </a:solidFill>
            <a:prstDash val="solid"/>
          </a:ln>
        </p:spPr>
      </p:sp>
      <p:sp>
        <p:nvSpPr>
          <p:cNvPr id="3" name="Text 1"/>
          <p:cNvSpPr txBox="1"/>
          <p:nvPr/>
        </p:nvSpPr>
        <p:spPr>
          <a:xfrm>
            <a:off x="0" y="0"/>
            <a:ext cx="12191695" cy="749808"/>
          </a:xfrm>
          <a:prstGeom prst="rect">
            <a:avLst/>
          </a:prstGeom>
          <a:noFill/>
          <a:ln/>
        </p:spPr>
        <p:txBody>
          <a:bodyPr wrap="square" lIns="0" tIns="0" rIns="0" bIns="0" rtlCol="0" anchor="ctr"/>
          <a:lstStyle/>
          <a:p>
            <a:pPr algn="ctr" indent="0" marL="0">
              <a:buNone/>
            </a:pPr>
            <a:r>
              <a:rPr lang="en-US" sz="1800" b="1" dirty="0">
                <a:solidFill>
                  <a:schemeClr val="bg1"/>
                </a:solidFill>
              </a:rPr>
              <a:t>PROYECTO ADMINISTRACIÓN DE AVALÚOS</a:t>
            </a:r>
            <a:endParaRPr lang="en-US" sz="1800" dirty="0"/>
          </a:p>
        </p:txBody>
      </p:sp>
      <p:sp>
        <p:nvSpPr>
          <p:cNvPr id="4" name="Text 2"/>
          <p:cNvSpPr txBox="1"/>
          <p:nvPr/>
        </p:nvSpPr>
        <p:spPr>
          <a:xfrm>
            <a:off x="1280160" y="1051560"/>
            <a:ext cx="5486400" cy="731520"/>
          </a:xfrm>
          <a:prstGeom prst="rect">
            <a:avLst/>
          </a:prstGeom>
          <a:noFill/>
          <a:ln/>
        </p:spPr>
        <p:txBody>
          <a:bodyPr wrap="square" lIns="0" tIns="0" rIns="0" bIns="0" rtlCol="0" anchor="ctr"/>
          <a:lstStyle/>
          <a:p>
            <a:pPr indent="0" marL="0">
              <a:buNone/>
            </a:pPr>
            <a:r>
              <a:rPr lang="en-US" sz="3600" b="1" dirty="0">
                <a:solidFill>
                  <a:schemeClr val="tx2"/>
                </a:solidFill>
              </a:rPr>
              <a:t>AGENDA</a:t>
            </a:r>
            <a:endParaRPr lang="en-US" sz="3600" dirty="0"/>
          </a:p>
        </p:txBody>
      </p:sp>
      <p:sp>
        <p:nvSpPr>
          <p:cNvPr id="5" name="agenda fila 1"/>
          <p:cNvSpPr/>
          <p:nvPr/>
        </p:nvSpPr>
        <p:spPr>
          <a:xfrm>
            <a:off x="1280160" y="2011680"/>
            <a:ext cx="9601200" cy="777240"/>
          </a:xfrm>
          <a:prstGeom prst="roundRect">
            <a:avLst>
              <a:gd name="adj" fmla="val 11765"/>
            </a:avLst>
          </a:prstGeom>
          <a:solidFill>
            <a:srgbClr val="EEF3F9"/>
          </a:solidFill>
          <a:ln w="9525">
            <a:solidFill>
              <a:srgbClr val="D6E2EF"/>
            </a:solidFill>
            <a:prstDash val="solid"/>
          </a:ln>
        </p:spPr>
      </p:sp>
      <p:sp>
        <p:nvSpPr>
          <p:cNvPr id="6" name="Text 4"/>
          <p:cNvSpPr txBox="1"/>
          <p:nvPr/>
        </p:nvSpPr>
        <p:spPr>
          <a:xfrm>
            <a:off x="1508760" y="2011680"/>
            <a:ext cx="731520" cy="777240"/>
          </a:xfrm>
          <a:prstGeom prst="rect">
            <a:avLst/>
          </a:prstGeom>
          <a:noFill/>
          <a:ln/>
        </p:spPr>
        <p:txBody>
          <a:bodyPr wrap="square" lIns="0" tIns="0" rIns="0" bIns="0" rtlCol="0" anchor="ctr"/>
          <a:lstStyle/>
          <a:p>
            <a:pPr indent="0" marL="0">
              <a:buNone/>
            </a:pPr>
            <a:r>
              <a:rPr lang="en-US" sz="2400" b="1" dirty="0">
                <a:solidFill>
                  <a:schemeClr val="accent1"/>
                </a:solidFill>
              </a:rPr>
              <a:t>01</a:t>
            </a:r>
            <a:endParaRPr lang="en-US" sz="2400" dirty="0"/>
          </a:p>
        </p:txBody>
      </p:sp>
      <p:sp>
        <p:nvSpPr>
          <p:cNvPr id="7" name="agenda 1 circle"/>
          <p:cNvSpPr/>
          <p:nvPr/>
        </p:nvSpPr>
        <p:spPr>
          <a:xfrm>
            <a:off x="2286000" y="2139696"/>
            <a:ext cx="521208" cy="521208"/>
          </a:xfrm>
          <a:prstGeom prst="ellipse">
            <a:avLst/>
          </a:prstGeom>
          <a:solidFill>
            <a:srgbClr val="005C9F"/>
          </a:solidFill>
          <a:ln w="12700">
            <a:solidFill>
              <a:srgbClr val="005C9F"/>
            </a:solidFill>
            <a:prstDash val="solid"/>
          </a:ln>
        </p:spPr>
      </p:sp>
      <p:pic>
        <p:nvPicPr>
          <p:cNvPr id="8" name="agenda 1 icon" descr="preencoded.png">    </p:cNvPr>
          <p:cNvPicPr>
            <a:picLocks noChangeAspect="1"/>
          </p:cNvPicPr>
          <p:nvPr/>
        </p:nvPicPr>
        <p:blipFill>
          <a:blip r:embed="rId1"/>
          <a:stretch>
            <a:fillRect/>
          </a:stretch>
        </p:blipFill>
        <p:spPr>
          <a:xfrm>
            <a:off x="2400666" y="2254362"/>
            <a:ext cx="291876" cy="291876"/>
          </a:xfrm>
          <a:prstGeom prst="rect">
            <a:avLst/>
          </a:prstGeom>
        </p:spPr>
      </p:pic>
      <p:sp>
        <p:nvSpPr>
          <p:cNvPr id="9" name="Text 6"/>
          <p:cNvSpPr txBox="1"/>
          <p:nvPr/>
        </p:nvSpPr>
        <p:spPr>
          <a:xfrm>
            <a:off x="3063240" y="2011680"/>
            <a:ext cx="3108960" cy="777240"/>
          </a:xfrm>
          <a:prstGeom prst="rect">
            <a:avLst/>
          </a:prstGeom>
          <a:noFill/>
          <a:ln/>
        </p:spPr>
        <p:txBody>
          <a:bodyPr wrap="square" lIns="0" tIns="0" rIns="0" bIns="0" rtlCol="0" anchor="ctr"/>
          <a:lstStyle/>
          <a:p>
            <a:pPr indent="0" marL="0">
              <a:buNone/>
            </a:pPr>
            <a:r>
              <a:rPr lang="en-US" sz="1700" b="1" dirty="0">
                <a:solidFill>
                  <a:schemeClr val="tx2"/>
                </a:solidFill>
              </a:rPr>
              <a:t>A. Situación actual</a:t>
            </a:r>
            <a:endParaRPr lang="en-US" sz="1700" dirty="0"/>
          </a:p>
        </p:txBody>
      </p:sp>
      <p:sp>
        <p:nvSpPr>
          <p:cNvPr id="10" name="Text 7"/>
          <p:cNvSpPr txBox="1"/>
          <p:nvPr/>
        </p:nvSpPr>
        <p:spPr>
          <a:xfrm>
            <a:off x="6309360" y="2011680"/>
            <a:ext cx="4389120" cy="777240"/>
          </a:xfrm>
          <a:prstGeom prst="rect">
            <a:avLst/>
          </a:prstGeom>
          <a:noFill/>
          <a:ln/>
        </p:spPr>
        <p:txBody>
          <a:bodyPr wrap="square" lIns="0" tIns="0" rIns="0" bIns="0" rtlCol="0" anchor="ctr"/>
          <a:lstStyle/>
          <a:p>
            <a:pPr indent="0" marL="0">
              <a:buNone/>
            </a:pPr>
            <a:r>
              <a:rPr lang="en-US" sz="1300" dirty="0">
                <a:solidFill>
                  <a:schemeClr val="tx1"/>
                </a:solidFill>
              </a:rPr>
              <a:t>Cómo se distribuye hoy el proceso de avalúos entre gerencias</a:t>
            </a:r>
            <a:endParaRPr lang="en-US" sz="1300" dirty="0"/>
          </a:p>
        </p:txBody>
      </p:sp>
      <p:sp>
        <p:nvSpPr>
          <p:cNvPr id="11" name="agenda fila 2"/>
          <p:cNvSpPr/>
          <p:nvPr/>
        </p:nvSpPr>
        <p:spPr>
          <a:xfrm>
            <a:off x="1280160" y="2971800"/>
            <a:ext cx="9601200" cy="777240"/>
          </a:xfrm>
          <a:prstGeom prst="roundRect">
            <a:avLst>
              <a:gd name="adj" fmla="val 11765"/>
            </a:avLst>
          </a:prstGeom>
          <a:solidFill>
            <a:srgbClr val="EEF3F9"/>
          </a:solidFill>
          <a:ln w="9525">
            <a:solidFill>
              <a:srgbClr val="D6E2EF"/>
            </a:solidFill>
            <a:prstDash val="solid"/>
          </a:ln>
        </p:spPr>
      </p:sp>
      <p:sp>
        <p:nvSpPr>
          <p:cNvPr id="12" name="Text 9"/>
          <p:cNvSpPr txBox="1"/>
          <p:nvPr/>
        </p:nvSpPr>
        <p:spPr>
          <a:xfrm>
            <a:off x="1508760" y="2971800"/>
            <a:ext cx="731520" cy="777240"/>
          </a:xfrm>
          <a:prstGeom prst="rect">
            <a:avLst/>
          </a:prstGeom>
          <a:noFill/>
          <a:ln/>
        </p:spPr>
        <p:txBody>
          <a:bodyPr wrap="square" lIns="0" tIns="0" rIns="0" bIns="0" rtlCol="0" anchor="ctr"/>
          <a:lstStyle/>
          <a:p>
            <a:pPr indent="0" marL="0">
              <a:buNone/>
            </a:pPr>
            <a:r>
              <a:rPr lang="en-US" sz="2400" b="1" dirty="0">
                <a:solidFill>
                  <a:schemeClr val="accent1"/>
                </a:solidFill>
              </a:rPr>
              <a:t>02</a:t>
            </a:r>
            <a:endParaRPr lang="en-US" sz="2400" dirty="0"/>
          </a:p>
        </p:txBody>
      </p:sp>
      <p:sp>
        <p:nvSpPr>
          <p:cNvPr id="13" name="agenda 2 circle"/>
          <p:cNvSpPr/>
          <p:nvPr/>
        </p:nvSpPr>
        <p:spPr>
          <a:xfrm>
            <a:off x="2286000" y="3099816"/>
            <a:ext cx="521208" cy="521208"/>
          </a:xfrm>
          <a:prstGeom prst="ellipse">
            <a:avLst/>
          </a:prstGeom>
          <a:solidFill>
            <a:srgbClr val="005C9F"/>
          </a:solidFill>
          <a:ln w="12700">
            <a:solidFill>
              <a:srgbClr val="005C9F"/>
            </a:solidFill>
            <a:prstDash val="solid"/>
          </a:ln>
        </p:spPr>
      </p:sp>
      <p:pic>
        <p:nvPicPr>
          <p:cNvPr id="14" name="agenda 2 icon" descr="preencoded.png">    </p:cNvPr>
          <p:cNvPicPr>
            <a:picLocks noChangeAspect="1"/>
          </p:cNvPicPr>
          <p:nvPr/>
        </p:nvPicPr>
        <p:blipFill>
          <a:blip r:embed="rId2"/>
          <a:stretch>
            <a:fillRect/>
          </a:stretch>
        </p:blipFill>
        <p:spPr>
          <a:xfrm>
            <a:off x="2400666" y="3214482"/>
            <a:ext cx="291876" cy="291876"/>
          </a:xfrm>
          <a:prstGeom prst="rect">
            <a:avLst/>
          </a:prstGeom>
        </p:spPr>
      </p:pic>
      <p:sp>
        <p:nvSpPr>
          <p:cNvPr id="15" name="Text 11"/>
          <p:cNvSpPr txBox="1"/>
          <p:nvPr/>
        </p:nvSpPr>
        <p:spPr>
          <a:xfrm>
            <a:off x="3063240" y="2971800"/>
            <a:ext cx="3108960" cy="777240"/>
          </a:xfrm>
          <a:prstGeom prst="rect">
            <a:avLst/>
          </a:prstGeom>
          <a:noFill/>
          <a:ln/>
        </p:spPr>
        <p:txBody>
          <a:bodyPr wrap="square" lIns="0" tIns="0" rIns="0" bIns="0" rtlCol="0" anchor="ctr"/>
          <a:lstStyle/>
          <a:p>
            <a:pPr indent="0" marL="0">
              <a:buNone/>
            </a:pPr>
            <a:r>
              <a:rPr lang="en-US" sz="1700" b="1" dirty="0">
                <a:solidFill>
                  <a:schemeClr val="tx2"/>
                </a:solidFill>
              </a:rPr>
              <a:t>Datos operativos</a:t>
            </a:r>
            <a:endParaRPr lang="en-US" sz="1700" dirty="0"/>
          </a:p>
        </p:txBody>
      </p:sp>
      <p:sp>
        <p:nvSpPr>
          <p:cNvPr id="16" name="Text 12"/>
          <p:cNvSpPr txBox="1"/>
          <p:nvPr/>
        </p:nvSpPr>
        <p:spPr>
          <a:xfrm>
            <a:off x="6309360" y="2971800"/>
            <a:ext cx="4389120" cy="777240"/>
          </a:xfrm>
          <a:prstGeom prst="rect">
            <a:avLst/>
          </a:prstGeom>
          <a:noFill/>
          <a:ln/>
        </p:spPr>
        <p:txBody>
          <a:bodyPr wrap="square" lIns="0" tIns="0" rIns="0" bIns="0" rtlCol="0" anchor="ctr"/>
          <a:lstStyle/>
          <a:p>
            <a:pPr indent="0" marL="0">
              <a:buNone/>
            </a:pPr>
            <a:r>
              <a:rPr lang="en-US" sz="1300" dirty="0">
                <a:solidFill>
                  <a:schemeClr val="tx1"/>
                </a:solidFill>
              </a:rPr>
              <a:t>Expedientes ingresados, casos no tramitados y actualización de avalúos</a:t>
            </a:r>
            <a:endParaRPr lang="en-US" sz="1300" dirty="0"/>
          </a:p>
        </p:txBody>
      </p:sp>
      <p:sp>
        <p:nvSpPr>
          <p:cNvPr id="17" name="agenda fila 3"/>
          <p:cNvSpPr/>
          <p:nvPr/>
        </p:nvSpPr>
        <p:spPr>
          <a:xfrm>
            <a:off x="1280160" y="3931920"/>
            <a:ext cx="9601200" cy="777240"/>
          </a:xfrm>
          <a:prstGeom prst="roundRect">
            <a:avLst>
              <a:gd name="adj" fmla="val 11765"/>
            </a:avLst>
          </a:prstGeom>
          <a:solidFill>
            <a:srgbClr val="EEF3F9"/>
          </a:solidFill>
          <a:ln w="9525">
            <a:solidFill>
              <a:srgbClr val="D6E2EF"/>
            </a:solidFill>
            <a:prstDash val="solid"/>
          </a:ln>
        </p:spPr>
      </p:sp>
      <p:sp>
        <p:nvSpPr>
          <p:cNvPr id="18" name="Text 14"/>
          <p:cNvSpPr txBox="1"/>
          <p:nvPr/>
        </p:nvSpPr>
        <p:spPr>
          <a:xfrm>
            <a:off x="1508760" y="3931920"/>
            <a:ext cx="731520" cy="777240"/>
          </a:xfrm>
          <a:prstGeom prst="rect">
            <a:avLst/>
          </a:prstGeom>
          <a:noFill/>
          <a:ln/>
        </p:spPr>
        <p:txBody>
          <a:bodyPr wrap="square" lIns="0" tIns="0" rIns="0" bIns="0" rtlCol="0" anchor="ctr"/>
          <a:lstStyle/>
          <a:p>
            <a:pPr indent="0" marL="0">
              <a:buNone/>
            </a:pPr>
            <a:r>
              <a:rPr lang="en-US" sz="2400" b="1" dirty="0">
                <a:solidFill>
                  <a:schemeClr val="accent3"/>
                </a:solidFill>
              </a:rPr>
              <a:t>03</a:t>
            </a:r>
            <a:endParaRPr lang="en-US" sz="2400" dirty="0"/>
          </a:p>
        </p:txBody>
      </p:sp>
      <p:sp>
        <p:nvSpPr>
          <p:cNvPr id="19" name="agenda 3 circle"/>
          <p:cNvSpPr/>
          <p:nvPr/>
        </p:nvSpPr>
        <p:spPr>
          <a:xfrm>
            <a:off x="2286000" y="4059936"/>
            <a:ext cx="521208" cy="521208"/>
          </a:xfrm>
          <a:prstGeom prst="ellipse">
            <a:avLst/>
          </a:prstGeom>
          <a:solidFill>
            <a:srgbClr val="C62828"/>
          </a:solidFill>
          <a:ln w="12700">
            <a:solidFill>
              <a:srgbClr val="C62828"/>
            </a:solidFill>
            <a:prstDash val="solid"/>
          </a:ln>
        </p:spPr>
      </p:sp>
      <p:pic>
        <p:nvPicPr>
          <p:cNvPr id="20" name="agenda 3 icon" descr="preencoded.png">    </p:cNvPr>
          <p:cNvPicPr>
            <a:picLocks noChangeAspect="1"/>
          </p:cNvPicPr>
          <p:nvPr/>
        </p:nvPicPr>
        <p:blipFill>
          <a:blip r:embed="rId3"/>
          <a:stretch>
            <a:fillRect/>
          </a:stretch>
        </p:blipFill>
        <p:spPr>
          <a:xfrm>
            <a:off x="2400666" y="4174602"/>
            <a:ext cx="291876" cy="291876"/>
          </a:xfrm>
          <a:prstGeom prst="rect">
            <a:avLst/>
          </a:prstGeom>
        </p:spPr>
      </p:pic>
      <p:sp>
        <p:nvSpPr>
          <p:cNvPr id="21" name="Text 16"/>
          <p:cNvSpPr txBox="1"/>
          <p:nvPr/>
        </p:nvSpPr>
        <p:spPr>
          <a:xfrm>
            <a:off x="3063240" y="3931920"/>
            <a:ext cx="3108960" cy="777240"/>
          </a:xfrm>
          <a:prstGeom prst="rect">
            <a:avLst/>
          </a:prstGeom>
          <a:noFill/>
          <a:ln/>
        </p:spPr>
        <p:txBody>
          <a:bodyPr wrap="square" lIns="0" tIns="0" rIns="0" bIns="0" rtlCol="0" anchor="ctr"/>
          <a:lstStyle/>
          <a:p>
            <a:pPr indent="0" marL="0">
              <a:buNone/>
            </a:pPr>
            <a:r>
              <a:rPr lang="en-US" sz="1700" b="1" dirty="0">
                <a:solidFill>
                  <a:schemeClr val="tx2"/>
                </a:solidFill>
              </a:rPr>
              <a:t>Riesgo identificado</a:t>
            </a:r>
            <a:endParaRPr lang="en-US" sz="1700" dirty="0"/>
          </a:p>
        </p:txBody>
      </p:sp>
      <p:sp>
        <p:nvSpPr>
          <p:cNvPr id="22" name="Text 17"/>
          <p:cNvSpPr txBox="1"/>
          <p:nvPr/>
        </p:nvSpPr>
        <p:spPr>
          <a:xfrm>
            <a:off x="6309360" y="3931920"/>
            <a:ext cx="4389120" cy="777240"/>
          </a:xfrm>
          <a:prstGeom prst="rect">
            <a:avLst/>
          </a:prstGeom>
          <a:noFill/>
          <a:ln/>
        </p:spPr>
        <p:txBody>
          <a:bodyPr wrap="square" lIns="0" tIns="0" rIns="0" bIns="0" rtlCol="0" anchor="ctr"/>
          <a:lstStyle/>
          <a:p>
            <a:pPr indent="0" marL="0">
              <a:buNone/>
            </a:pPr>
            <a:r>
              <a:rPr lang="en-US" sz="1300" dirty="0">
                <a:solidFill>
                  <a:schemeClr val="tx1"/>
                </a:solidFill>
              </a:rPr>
              <a:t>Ausencia de un área de control centralizada</a:t>
            </a:r>
            <a:endParaRPr lang="en-US" sz="1300" dirty="0"/>
          </a:p>
        </p:txBody>
      </p:sp>
      <p:sp>
        <p:nvSpPr>
          <p:cNvPr id="23" name="agenda fila 4"/>
          <p:cNvSpPr/>
          <p:nvPr/>
        </p:nvSpPr>
        <p:spPr>
          <a:xfrm>
            <a:off x="1280160" y="4892040"/>
            <a:ext cx="9601200" cy="777240"/>
          </a:xfrm>
          <a:prstGeom prst="roundRect">
            <a:avLst>
              <a:gd name="adj" fmla="val 11765"/>
            </a:avLst>
          </a:prstGeom>
          <a:solidFill>
            <a:srgbClr val="EEF3F9"/>
          </a:solidFill>
          <a:ln w="9525">
            <a:solidFill>
              <a:srgbClr val="D6E2EF"/>
            </a:solidFill>
            <a:prstDash val="solid"/>
          </a:ln>
        </p:spPr>
      </p:sp>
      <p:sp>
        <p:nvSpPr>
          <p:cNvPr id="24" name="Text 19"/>
          <p:cNvSpPr txBox="1"/>
          <p:nvPr/>
        </p:nvSpPr>
        <p:spPr>
          <a:xfrm>
            <a:off x="1508760" y="4892040"/>
            <a:ext cx="731520" cy="777240"/>
          </a:xfrm>
          <a:prstGeom prst="rect">
            <a:avLst/>
          </a:prstGeom>
          <a:noFill/>
          <a:ln/>
        </p:spPr>
        <p:txBody>
          <a:bodyPr wrap="square" lIns="0" tIns="0" rIns="0" bIns="0" rtlCol="0" anchor="ctr"/>
          <a:lstStyle/>
          <a:p>
            <a:pPr indent="0" marL="0">
              <a:buNone/>
            </a:pPr>
            <a:r>
              <a:rPr lang="en-US" sz="2400" b="1" dirty="0">
                <a:solidFill>
                  <a:schemeClr val="accent1"/>
                </a:solidFill>
              </a:rPr>
              <a:t>04</a:t>
            </a:r>
            <a:endParaRPr lang="en-US" sz="2400" dirty="0"/>
          </a:p>
        </p:txBody>
      </p:sp>
      <p:sp>
        <p:nvSpPr>
          <p:cNvPr id="25" name="agenda 4 circle"/>
          <p:cNvSpPr/>
          <p:nvPr/>
        </p:nvSpPr>
        <p:spPr>
          <a:xfrm>
            <a:off x="2286000" y="5020056"/>
            <a:ext cx="521208" cy="521208"/>
          </a:xfrm>
          <a:prstGeom prst="ellipse">
            <a:avLst/>
          </a:prstGeom>
          <a:solidFill>
            <a:srgbClr val="005C9F"/>
          </a:solidFill>
          <a:ln w="12700">
            <a:solidFill>
              <a:srgbClr val="005C9F"/>
            </a:solidFill>
            <a:prstDash val="solid"/>
          </a:ln>
        </p:spPr>
      </p:sp>
      <p:pic>
        <p:nvPicPr>
          <p:cNvPr id="26" name="agenda 4 icon" descr="preencoded.png">    </p:cNvPr>
          <p:cNvPicPr>
            <a:picLocks noChangeAspect="1"/>
          </p:cNvPicPr>
          <p:nvPr/>
        </p:nvPicPr>
        <p:blipFill>
          <a:blip r:embed="rId4"/>
          <a:stretch>
            <a:fillRect/>
          </a:stretch>
        </p:blipFill>
        <p:spPr>
          <a:xfrm>
            <a:off x="2400666" y="5134722"/>
            <a:ext cx="291876" cy="291876"/>
          </a:xfrm>
          <a:prstGeom prst="rect">
            <a:avLst/>
          </a:prstGeom>
        </p:spPr>
      </p:pic>
      <p:sp>
        <p:nvSpPr>
          <p:cNvPr id="27" name="Text 21"/>
          <p:cNvSpPr txBox="1"/>
          <p:nvPr/>
        </p:nvSpPr>
        <p:spPr>
          <a:xfrm>
            <a:off x="3063240" y="4892040"/>
            <a:ext cx="3108960" cy="777240"/>
          </a:xfrm>
          <a:prstGeom prst="rect">
            <a:avLst/>
          </a:prstGeom>
          <a:noFill/>
          <a:ln/>
        </p:spPr>
        <p:txBody>
          <a:bodyPr wrap="square" lIns="0" tIns="0" rIns="0" bIns="0" rtlCol="0" anchor="ctr"/>
          <a:lstStyle/>
          <a:p>
            <a:pPr indent="0" marL="0">
              <a:buNone/>
            </a:pPr>
            <a:r>
              <a:rPr lang="en-US" sz="1700" b="1" dirty="0">
                <a:solidFill>
                  <a:schemeClr val="tx2"/>
                </a:solidFill>
              </a:rPr>
              <a:t>B. Propuesta</a:t>
            </a:r>
            <a:endParaRPr lang="en-US" sz="1700" dirty="0"/>
          </a:p>
        </p:txBody>
      </p:sp>
      <p:sp>
        <p:nvSpPr>
          <p:cNvPr id="28" name="Text 22"/>
          <p:cNvSpPr txBox="1"/>
          <p:nvPr/>
        </p:nvSpPr>
        <p:spPr>
          <a:xfrm>
            <a:off x="6309360" y="4892040"/>
            <a:ext cx="4389120" cy="777240"/>
          </a:xfrm>
          <a:prstGeom prst="rect">
            <a:avLst/>
          </a:prstGeom>
          <a:noFill/>
          <a:ln/>
        </p:spPr>
        <p:txBody>
          <a:bodyPr wrap="square" lIns="0" tIns="0" rIns="0" bIns="0" rtlCol="0" anchor="ctr"/>
          <a:lstStyle/>
          <a:p>
            <a:pPr indent="0" marL="0">
              <a:buNone/>
            </a:pPr>
            <a:r>
              <a:rPr lang="en-US" sz="1300" dirty="0">
                <a:solidFill>
                  <a:schemeClr val="tx1"/>
                </a:solidFill>
              </a:rPr>
              <a:t>Tres solicitudes de autorización al Comité de Riesgo</a:t>
            </a:r>
            <a:endParaRPr lang="en-US" sz="1300" dirty="0"/>
          </a:p>
        </p:txBody>
      </p:sp>
      <p:pic>
        <p:nvPicPr>
          <p:cNvPr id="29" name="logo" descr="/tmp/claude-0/-home-user-riesgo/74e9c8ad-7a43-5903-a089-2edd8047c387/scratchpad/assets/logo_color.png">    </p:cNvPr>
          <p:cNvPicPr>
            <a:picLocks noChangeAspect="1"/>
          </p:cNvPicPr>
          <p:nvPr/>
        </p:nvPicPr>
        <p:blipFill>
          <a:blip r:embed="rId5"/>
          <a:stretch>
            <a:fillRect/>
          </a:stretch>
        </p:blipFill>
        <p:spPr>
          <a:xfrm>
            <a:off x="10927080" y="6108192"/>
            <a:ext cx="777240" cy="5669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1371600" y="1554480"/>
            <a:ext cx="5486400" cy="960120"/>
          </a:xfrm>
          <a:prstGeom prst="rect">
            <a:avLst/>
          </a:prstGeom>
          <a:noFill/>
          <a:ln/>
        </p:spPr>
        <p:txBody>
          <a:bodyPr wrap="square" lIns="0" tIns="0" rIns="0" bIns="0" rtlCol="0" anchor="ctr"/>
          <a:lstStyle/>
          <a:p>
            <a:pPr algn="l" indent="0" marL="0">
              <a:buNone/>
            </a:pPr>
            <a:r>
              <a:rPr lang="en-US" sz="4000" b="1" dirty="0">
                <a:solidFill>
                  <a:schemeClr val="bg1"/>
                </a:solidFill>
              </a:rPr>
              <a:t>A. Situación actual</a:t>
            </a:r>
            <a:endParaRPr lang="en-US" sz="4000" dirty="0"/>
          </a:p>
        </p:txBody>
      </p:sp>
      <p:sp>
        <p:nvSpPr>
          <p:cNvPr id="3" name="Text 1"/>
          <p:cNvSpPr/>
          <p:nvPr>
            <p:ph idx="103" type="body" hasCustomPrompt="1"/>
          </p:nvPr>
        </p:nvSpPr>
        <p:spPr>
          <a:xfrm>
            <a:off x="1371600" y="2606040"/>
            <a:ext cx="4480560" cy="1371600"/>
          </a:xfrm>
          <a:prstGeom prst="rect">
            <a:avLst/>
          </a:prstGeom>
          <a:noFill/>
          <a:ln/>
        </p:spPr>
        <p:txBody>
          <a:bodyPr wrap="square" lIns="0" tIns="0" rIns="0" bIns="0" rtlCol="0" anchor="t"/>
          <a:lstStyle/>
          <a:p>
            <a:pPr indent="0" marL="0">
              <a:buNone/>
            </a:pPr>
            <a:r>
              <a:rPr lang="en-US" sz="1600" dirty="0">
                <a:solidFill>
                  <a:schemeClr val="bg1"/>
                </a:solidFill>
              </a:rPr>
              <a:t>El proceso de avalúos lo realizan hoy 20 personas distribuidas en 4 gerencias</a:t>
            </a:r>
            <a:endParaRPr lang="en-US" sz="1600" dirty="0"/>
          </a:p>
        </p:txBody>
      </p:sp>
      <p:sp>
        <p:nvSpPr>
          <p:cNvPr id="4" name="seccion A circle"/>
          <p:cNvSpPr/>
          <p:nvPr/>
        </p:nvSpPr>
        <p:spPr>
          <a:xfrm>
            <a:off x="7498080" y="3291840"/>
            <a:ext cx="1828800" cy="1828800"/>
          </a:xfrm>
          <a:prstGeom prst="ellipse">
            <a:avLst/>
          </a:prstGeom>
          <a:solidFill>
            <a:srgbClr val="005C9F"/>
          </a:solidFill>
          <a:ln w="12700">
            <a:solidFill>
              <a:srgbClr val="005C9F"/>
            </a:solidFill>
            <a:prstDash val="solid"/>
          </a:ln>
        </p:spPr>
      </p:sp>
      <p:pic>
        <p:nvPicPr>
          <p:cNvPr id="5" name="seccion A icon" descr="preencoded.png">    </p:cNvPr>
          <p:cNvPicPr>
            <a:picLocks noChangeAspect="1"/>
          </p:cNvPicPr>
          <p:nvPr/>
        </p:nvPicPr>
        <p:blipFill>
          <a:blip r:embed="rId1"/>
          <a:stretch>
            <a:fillRect/>
          </a:stretch>
        </p:blipFill>
        <p:spPr>
          <a:xfrm>
            <a:off x="7900416" y="3694176"/>
            <a:ext cx="1024128" cy="1024128"/>
          </a:xfrm>
          <a:prstGeom prst="rect">
            <a:avLst/>
          </a:prstGeom>
        </p:spPr>
      </p:pic>
      <p:pic>
        <p:nvPicPr>
          <p:cNvPr id="6" name="logo" descr="/tmp/claude-0/-home-user-riesgo/74e9c8ad-7a43-5903-a089-2edd8047c387/scratchpad/assets/logo_color.png">    </p:cNvPr>
          <p:cNvPicPr>
            <a:picLocks noChangeAspect="1"/>
          </p:cNvPicPr>
          <p:nvPr/>
        </p:nvPicPr>
        <p:blipFill>
          <a:blip r:embed="rId2"/>
          <a:stretch>
            <a:fillRect/>
          </a:stretch>
        </p:blipFill>
        <p:spPr>
          <a:xfrm>
            <a:off x="10259568" y="5376672"/>
            <a:ext cx="1719072" cy="12527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Cuatro gerencias intervienen en el proceso de avalúos</a:t>
            </a:r>
            <a:endParaRPr lang="en-US" sz="2400" dirty="0"/>
          </a:p>
        </p:txBody>
      </p:sp>
      <p:sp>
        <p:nvSpPr>
          <p:cNvPr id="3" name="gerencia card 1"/>
          <p:cNvSpPr/>
          <p:nvPr/>
        </p:nvSpPr>
        <p:spPr>
          <a:xfrm>
            <a:off x="548640" y="1371600"/>
            <a:ext cx="2560320" cy="4206240"/>
          </a:xfrm>
          <a:prstGeom prst="roundRect">
            <a:avLst>
              <a:gd name="adj" fmla="val 3571"/>
            </a:avLst>
          </a:prstGeom>
          <a:solidFill>
            <a:srgbClr val="EEF3F9"/>
          </a:solidFill>
          <a:ln w="9525">
            <a:solidFill>
              <a:srgbClr val="D6E2EF"/>
            </a:solidFill>
            <a:prstDash val="solid"/>
          </a:ln>
        </p:spPr>
      </p:sp>
      <p:sp>
        <p:nvSpPr>
          <p:cNvPr id="4" name="gerencia 1 circle"/>
          <p:cNvSpPr/>
          <p:nvPr/>
        </p:nvSpPr>
        <p:spPr>
          <a:xfrm>
            <a:off x="822960" y="1645920"/>
            <a:ext cx="731520" cy="731520"/>
          </a:xfrm>
          <a:prstGeom prst="ellipse">
            <a:avLst/>
          </a:prstGeom>
          <a:solidFill>
            <a:srgbClr val="005C9F"/>
          </a:solidFill>
          <a:ln w="12700">
            <a:solidFill>
              <a:srgbClr val="005C9F"/>
            </a:solidFill>
            <a:prstDash val="solid"/>
          </a:ln>
        </p:spPr>
      </p:sp>
      <p:pic>
        <p:nvPicPr>
          <p:cNvPr id="5" name="gerencia 1 icon" descr="preencoded.png">    </p:cNvPr>
          <p:cNvPicPr>
            <a:picLocks noChangeAspect="1"/>
          </p:cNvPicPr>
          <p:nvPr/>
        </p:nvPicPr>
        <p:blipFill>
          <a:blip r:embed="rId1"/>
          <a:stretch>
            <a:fillRect/>
          </a:stretch>
        </p:blipFill>
        <p:spPr>
          <a:xfrm>
            <a:off x="983894" y="1806854"/>
            <a:ext cx="409651" cy="409651"/>
          </a:xfrm>
          <a:prstGeom prst="rect">
            <a:avLst/>
          </a:prstGeom>
        </p:spPr>
      </p:pic>
      <p:sp>
        <p:nvSpPr>
          <p:cNvPr id="6" name="Text 3"/>
          <p:cNvSpPr txBox="1"/>
          <p:nvPr/>
        </p:nvSpPr>
        <p:spPr>
          <a:xfrm>
            <a:off x="822960" y="2514600"/>
            <a:ext cx="2103120" cy="685800"/>
          </a:xfrm>
          <a:prstGeom prst="rect">
            <a:avLst/>
          </a:prstGeom>
          <a:noFill/>
          <a:ln/>
        </p:spPr>
        <p:txBody>
          <a:bodyPr wrap="square" lIns="0" tIns="0" rIns="0" bIns="0" rtlCol="0" anchor="t"/>
          <a:lstStyle/>
          <a:p>
            <a:pPr indent="0" marL="0">
              <a:buNone/>
            </a:pPr>
            <a:r>
              <a:rPr lang="en-US" sz="1500" b="1" dirty="0">
                <a:solidFill>
                  <a:schemeClr val="tx2"/>
                </a:solidFill>
              </a:rPr>
              <a:t>Gerencia de Negocio</a:t>
            </a:r>
            <a:endParaRPr lang="en-US" sz="1500" dirty="0"/>
          </a:p>
        </p:txBody>
      </p:sp>
      <p:sp>
        <p:nvSpPr>
          <p:cNvPr id="7" name="Text 4"/>
          <p:cNvSpPr txBox="1"/>
          <p:nvPr/>
        </p:nvSpPr>
        <p:spPr>
          <a:xfrm>
            <a:off x="822960" y="3200400"/>
            <a:ext cx="2103120" cy="822960"/>
          </a:xfrm>
          <a:prstGeom prst="rect">
            <a:avLst/>
          </a:prstGeom>
          <a:noFill/>
          <a:ln/>
        </p:spPr>
        <p:txBody>
          <a:bodyPr wrap="square" lIns="0" tIns="0" rIns="0" bIns="0" rtlCol="0" anchor="ctr"/>
          <a:lstStyle/>
          <a:p>
            <a:pPr indent="0" marL="0">
              <a:buNone/>
            </a:pPr>
            <a:r>
              <a:rPr lang="en-US" sz="4800" b="1" dirty="0">
                <a:solidFill>
                  <a:schemeClr val="accent1"/>
                </a:solidFill>
              </a:rPr>
              <a:t>14</a:t>
            </a:r>
            <a:endParaRPr lang="en-US" sz="4800" dirty="0"/>
          </a:p>
        </p:txBody>
      </p:sp>
      <p:sp>
        <p:nvSpPr>
          <p:cNvPr id="8" name="Text 5"/>
          <p:cNvSpPr txBox="1"/>
          <p:nvPr/>
        </p:nvSpPr>
        <p:spPr>
          <a:xfrm>
            <a:off x="822960" y="4023360"/>
            <a:ext cx="2103120" cy="274320"/>
          </a:xfrm>
          <a:prstGeom prst="rect">
            <a:avLst/>
          </a:prstGeom>
          <a:noFill/>
          <a:ln/>
        </p:spPr>
        <p:txBody>
          <a:bodyPr wrap="square" lIns="0" tIns="0" rIns="0" bIns="0" rtlCol="0" anchor="t"/>
          <a:lstStyle/>
          <a:p>
            <a:pPr indent="0" marL="0">
              <a:buNone/>
            </a:pPr>
            <a:r>
              <a:rPr lang="en-US" sz="1100" dirty="0">
                <a:solidFill>
                  <a:schemeClr val="accent4"/>
                </a:solidFill>
              </a:rPr>
              <a:t>personas</a:t>
            </a:r>
            <a:endParaRPr lang="en-US" sz="1100" dirty="0"/>
          </a:p>
        </p:txBody>
      </p:sp>
      <p:sp>
        <p:nvSpPr>
          <p:cNvPr id="9" name="Text 6"/>
          <p:cNvSpPr txBox="1"/>
          <p:nvPr/>
        </p:nvSpPr>
        <p:spPr>
          <a:xfrm>
            <a:off x="822960" y="4389120"/>
            <a:ext cx="2057400" cy="1097280"/>
          </a:xfrm>
          <a:prstGeom prst="rect">
            <a:avLst/>
          </a:prstGeom>
          <a:noFill/>
          <a:ln/>
        </p:spPr>
        <p:txBody>
          <a:bodyPr wrap="square" lIns="0" tIns="0" rIns="0" bIns="0" rtlCol="0" anchor="t"/>
          <a:lstStyle/>
          <a:p>
            <a:pPr indent="0" marL="0">
              <a:buNone/>
            </a:pPr>
            <a:r>
              <a:rPr lang="en-US" sz="1100" dirty="0">
                <a:solidFill>
                  <a:schemeClr val="tx1"/>
                </a:solidFill>
              </a:rPr>
              <a:t>Contrato y administración de peritos, recepción e ingreso de informes</a:t>
            </a:r>
            <a:endParaRPr lang="en-US" sz="1100" dirty="0"/>
          </a:p>
        </p:txBody>
      </p:sp>
      <p:sp>
        <p:nvSpPr>
          <p:cNvPr id="10" name="gerencia card 2"/>
          <p:cNvSpPr/>
          <p:nvPr/>
        </p:nvSpPr>
        <p:spPr>
          <a:xfrm>
            <a:off x="3383280" y="1371600"/>
            <a:ext cx="2560320" cy="4206240"/>
          </a:xfrm>
          <a:prstGeom prst="roundRect">
            <a:avLst>
              <a:gd name="adj" fmla="val 3571"/>
            </a:avLst>
          </a:prstGeom>
          <a:solidFill>
            <a:srgbClr val="EEF3F9"/>
          </a:solidFill>
          <a:ln w="9525">
            <a:solidFill>
              <a:srgbClr val="D6E2EF"/>
            </a:solidFill>
            <a:prstDash val="solid"/>
          </a:ln>
        </p:spPr>
      </p:sp>
      <p:sp>
        <p:nvSpPr>
          <p:cNvPr id="11" name="gerencia 2 circle"/>
          <p:cNvSpPr/>
          <p:nvPr/>
        </p:nvSpPr>
        <p:spPr>
          <a:xfrm>
            <a:off x="3657600" y="1645920"/>
            <a:ext cx="731520" cy="731520"/>
          </a:xfrm>
          <a:prstGeom prst="ellipse">
            <a:avLst/>
          </a:prstGeom>
          <a:solidFill>
            <a:srgbClr val="005C9F"/>
          </a:solidFill>
          <a:ln w="12700">
            <a:solidFill>
              <a:srgbClr val="005C9F"/>
            </a:solidFill>
            <a:prstDash val="solid"/>
          </a:ln>
        </p:spPr>
      </p:sp>
      <p:pic>
        <p:nvPicPr>
          <p:cNvPr id="12" name="gerencia 2 icon" descr="preencoded.png">    </p:cNvPr>
          <p:cNvPicPr>
            <a:picLocks noChangeAspect="1"/>
          </p:cNvPicPr>
          <p:nvPr/>
        </p:nvPicPr>
        <p:blipFill>
          <a:blip r:embed="rId2"/>
          <a:stretch>
            <a:fillRect/>
          </a:stretch>
        </p:blipFill>
        <p:spPr>
          <a:xfrm>
            <a:off x="3818534" y="1806854"/>
            <a:ext cx="409651" cy="409651"/>
          </a:xfrm>
          <a:prstGeom prst="rect">
            <a:avLst/>
          </a:prstGeom>
        </p:spPr>
      </p:pic>
      <p:sp>
        <p:nvSpPr>
          <p:cNvPr id="13" name="Text 9"/>
          <p:cNvSpPr txBox="1"/>
          <p:nvPr/>
        </p:nvSpPr>
        <p:spPr>
          <a:xfrm>
            <a:off x="3657600" y="2514600"/>
            <a:ext cx="2103120" cy="685800"/>
          </a:xfrm>
          <a:prstGeom prst="rect">
            <a:avLst/>
          </a:prstGeom>
          <a:noFill/>
          <a:ln/>
        </p:spPr>
        <p:txBody>
          <a:bodyPr wrap="square" lIns="0" tIns="0" rIns="0" bIns="0" rtlCol="0" anchor="t"/>
          <a:lstStyle/>
          <a:p>
            <a:pPr indent="0" marL="0">
              <a:buNone/>
            </a:pPr>
            <a:r>
              <a:rPr lang="en-US" sz="1500" b="1" dirty="0">
                <a:solidFill>
                  <a:schemeClr val="tx2"/>
                </a:solidFill>
              </a:rPr>
              <a:t>Gerencia Legal</a:t>
            </a:r>
            <a:endParaRPr lang="en-US" sz="1500" dirty="0"/>
          </a:p>
        </p:txBody>
      </p:sp>
      <p:sp>
        <p:nvSpPr>
          <p:cNvPr id="14" name="Text 10"/>
          <p:cNvSpPr txBox="1"/>
          <p:nvPr/>
        </p:nvSpPr>
        <p:spPr>
          <a:xfrm>
            <a:off x="3657600" y="3200400"/>
            <a:ext cx="2103120" cy="822960"/>
          </a:xfrm>
          <a:prstGeom prst="rect">
            <a:avLst/>
          </a:prstGeom>
          <a:noFill/>
          <a:ln/>
        </p:spPr>
        <p:txBody>
          <a:bodyPr wrap="square" lIns="0" tIns="0" rIns="0" bIns="0" rtlCol="0" anchor="ctr"/>
          <a:lstStyle/>
          <a:p>
            <a:pPr indent="0" marL="0">
              <a:buNone/>
            </a:pPr>
            <a:r>
              <a:rPr lang="en-US" sz="4800" b="1" dirty="0">
                <a:solidFill>
                  <a:schemeClr val="accent1"/>
                </a:solidFill>
              </a:rPr>
              <a:t>2</a:t>
            </a:r>
            <a:endParaRPr lang="en-US" sz="4800" dirty="0"/>
          </a:p>
        </p:txBody>
      </p:sp>
      <p:sp>
        <p:nvSpPr>
          <p:cNvPr id="15" name="Text 11"/>
          <p:cNvSpPr txBox="1"/>
          <p:nvPr/>
        </p:nvSpPr>
        <p:spPr>
          <a:xfrm>
            <a:off x="3657600" y="4023360"/>
            <a:ext cx="2103120" cy="274320"/>
          </a:xfrm>
          <a:prstGeom prst="rect">
            <a:avLst/>
          </a:prstGeom>
          <a:noFill/>
          <a:ln/>
        </p:spPr>
        <p:txBody>
          <a:bodyPr wrap="square" lIns="0" tIns="0" rIns="0" bIns="0" rtlCol="0" anchor="t"/>
          <a:lstStyle/>
          <a:p>
            <a:pPr indent="0" marL="0">
              <a:buNone/>
            </a:pPr>
            <a:r>
              <a:rPr lang="en-US" sz="1100" dirty="0">
                <a:solidFill>
                  <a:schemeClr val="accent4"/>
                </a:solidFill>
              </a:rPr>
              <a:t>personas</a:t>
            </a:r>
            <a:endParaRPr lang="en-US" sz="1100" dirty="0"/>
          </a:p>
        </p:txBody>
      </p:sp>
      <p:sp>
        <p:nvSpPr>
          <p:cNvPr id="16" name="Text 12"/>
          <p:cNvSpPr txBox="1"/>
          <p:nvPr/>
        </p:nvSpPr>
        <p:spPr>
          <a:xfrm>
            <a:off x="3657600" y="4389120"/>
            <a:ext cx="2057400" cy="1097280"/>
          </a:xfrm>
          <a:prstGeom prst="rect">
            <a:avLst/>
          </a:prstGeom>
          <a:noFill/>
          <a:ln/>
        </p:spPr>
        <p:txBody>
          <a:bodyPr wrap="square" lIns="0" tIns="0" rIns="0" bIns="0" rtlCol="0" anchor="t"/>
          <a:lstStyle/>
          <a:p>
            <a:pPr indent="0" marL="0">
              <a:buNone/>
            </a:pPr>
            <a:r>
              <a:rPr lang="en-US" sz="1100" dirty="0">
                <a:solidFill>
                  <a:schemeClr val="tx1"/>
                </a:solidFill>
              </a:rPr>
              <a:t>Contratos hipotecarios y validación del informe de avalúos</a:t>
            </a:r>
            <a:endParaRPr lang="en-US" sz="1100" dirty="0"/>
          </a:p>
        </p:txBody>
      </p:sp>
      <p:sp>
        <p:nvSpPr>
          <p:cNvPr id="17" name="gerencia card 3"/>
          <p:cNvSpPr/>
          <p:nvPr/>
        </p:nvSpPr>
        <p:spPr>
          <a:xfrm>
            <a:off x="6217920" y="1371600"/>
            <a:ext cx="2560320" cy="4206240"/>
          </a:xfrm>
          <a:prstGeom prst="roundRect">
            <a:avLst>
              <a:gd name="adj" fmla="val 3571"/>
            </a:avLst>
          </a:prstGeom>
          <a:solidFill>
            <a:srgbClr val="EEF3F9"/>
          </a:solidFill>
          <a:ln w="9525">
            <a:solidFill>
              <a:srgbClr val="D6E2EF"/>
            </a:solidFill>
            <a:prstDash val="solid"/>
          </a:ln>
        </p:spPr>
      </p:sp>
      <p:sp>
        <p:nvSpPr>
          <p:cNvPr id="18" name="gerencia 3 circle"/>
          <p:cNvSpPr/>
          <p:nvPr/>
        </p:nvSpPr>
        <p:spPr>
          <a:xfrm>
            <a:off x="6492240" y="1645920"/>
            <a:ext cx="731520" cy="731520"/>
          </a:xfrm>
          <a:prstGeom prst="ellipse">
            <a:avLst/>
          </a:prstGeom>
          <a:solidFill>
            <a:srgbClr val="005C9F"/>
          </a:solidFill>
          <a:ln w="12700">
            <a:solidFill>
              <a:srgbClr val="005C9F"/>
            </a:solidFill>
            <a:prstDash val="solid"/>
          </a:ln>
        </p:spPr>
      </p:sp>
      <p:pic>
        <p:nvPicPr>
          <p:cNvPr id="19" name="gerencia 3 icon" descr="preencoded.png">    </p:cNvPr>
          <p:cNvPicPr>
            <a:picLocks noChangeAspect="1"/>
          </p:cNvPicPr>
          <p:nvPr/>
        </p:nvPicPr>
        <p:blipFill>
          <a:blip r:embed="rId3"/>
          <a:stretch>
            <a:fillRect/>
          </a:stretch>
        </p:blipFill>
        <p:spPr>
          <a:xfrm>
            <a:off x="6653174" y="1806854"/>
            <a:ext cx="409651" cy="409651"/>
          </a:xfrm>
          <a:prstGeom prst="rect">
            <a:avLst/>
          </a:prstGeom>
        </p:spPr>
      </p:pic>
      <p:sp>
        <p:nvSpPr>
          <p:cNvPr id="20" name="Text 15"/>
          <p:cNvSpPr txBox="1"/>
          <p:nvPr/>
        </p:nvSpPr>
        <p:spPr>
          <a:xfrm>
            <a:off x="6492240" y="2514600"/>
            <a:ext cx="2103120" cy="685800"/>
          </a:xfrm>
          <a:prstGeom prst="rect">
            <a:avLst/>
          </a:prstGeom>
          <a:noFill/>
          <a:ln/>
        </p:spPr>
        <p:txBody>
          <a:bodyPr wrap="square" lIns="0" tIns="0" rIns="0" bIns="0" rtlCol="0" anchor="t"/>
          <a:lstStyle/>
          <a:p>
            <a:pPr indent="0" marL="0">
              <a:buNone/>
            </a:pPr>
            <a:r>
              <a:rPr lang="en-US" sz="1500" b="1" dirty="0">
                <a:solidFill>
                  <a:schemeClr val="tx2"/>
                </a:solidFill>
              </a:rPr>
              <a:t>Gerencia Operacional</a:t>
            </a:r>
            <a:endParaRPr lang="en-US" sz="1500" dirty="0"/>
          </a:p>
        </p:txBody>
      </p:sp>
      <p:sp>
        <p:nvSpPr>
          <p:cNvPr id="21" name="Text 16"/>
          <p:cNvSpPr txBox="1"/>
          <p:nvPr/>
        </p:nvSpPr>
        <p:spPr>
          <a:xfrm>
            <a:off x="6492240" y="3200400"/>
            <a:ext cx="2103120" cy="822960"/>
          </a:xfrm>
          <a:prstGeom prst="rect">
            <a:avLst/>
          </a:prstGeom>
          <a:noFill/>
          <a:ln/>
        </p:spPr>
        <p:txBody>
          <a:bodyPr wrap="square" lIns="0" tIns="0" rIns="0" bIns="0" rtlCol="0" anchor="ctr"/>
          <a:lstStyle/>
          <a:p>
            <a:pPr indent="0" marL="0">
              <a:buNone/>
            </a:pPr>
            <a:r>
              <a:rPr lang="en-US" sz="4800" b="1" dirty="0">
                <a:solidFill>
                  <a:schemeClr val="accent1"/>
                </a:solidFill>
              </a:rPr>
              <a:t>2</a:t>
            </a:r>
            <a:endParaRPr lang="en-US" sz="4800" dirty="0"/>
          </a:p>
        </p:txBody>
      </p:sp>
      <p:sp>
        <p:nvSpPr>
          <p:cNvPr id="22" name="Text 17"/>
          <p:cNvSpPr txBox="1"/>
          <p:nvPr/>
        </p:nvSpPr>
        <p:spPr>
          <a:xfrm>
            <a:off x="6492240" y="4023360"/>
            <a:ext cx="2103120" cy="274320"/>
          </a:xfrm>
          <a:prstGeom prst="rect">
            <a:avLst/>
          </a:prstGeom>
          <a:noFill/>
          <a:ln/>
        </p:spPr>
        <p:txBody>
          <a:bodyPr wrap="square" lIns="0" tIns="0" rIns="0" bIns="0" rtlCol="0" anchor="t"/>
          <a:lstStyle/>
          <a:p>
            <a:pPr indent="0" marL="0">
              <a:buNone/>
            </a:pPr>
            <a:r>
              <a:rPr lang="en-US" sz="1100" dirty="0">
                <a:solidFill>
                  <a:schemeClr val="accent4"/>
                </a:solidFill>
              </a:rPr>
              <a:t>personas</a:t>
            </a:r>
            <a:endParaRPr lang="en-US" sz="1100" dirty="0"/>
          </a:p>
        </p:txBody>
      </p:sp>
      <p:sp>
        <p:nvSpPr>
          <p:cNvPr id="23" name="Text 18"/>
          <p:cNvSpPr txBox="1"/>
          <p:nvPr/>
        </p:nvSpPr>
        <p:spPr>
          <a:xfrm>
            <a:off x="6492240" y="4389120"/>
            <a:ext cx="2057400" cy="1097280"/>
          </a:xfrm>
          <a:prstGeom prst="rect">
            <a:avLst/>
          </a:prstGeom>
          <a:noFill/>
          <a:ln/>
        </p:spPr>
        <p:txBody>
          <a:bodyPr wrap="square" lIns="0" tIns="0" rIns="0" bIns="0" rtlCol="0" anchor="t"/>
          <a:lstStyle/>
          <a:p>
            <a:pPr indent="0" marL="0">
              <a:buNone/>
            </a:pPr>
            <a:r>
              <a:rPr lang="en-US" sz="1100" dirty="0">
                <a:solidFill>
                  <a:schemeClr val="tx1"/>
                </a:solidFill>
              </a:rPr>
              <a:t>Administración de Cartera: modifica y actualiza el Módulo de Garantías</a:t>
            </a:r>
            <a:endParaRPr lang="en-US" sz="1100" dirty="0"/>
          </a:p>
        </p:txBody>
      </p:sp>
      <p:sp>
        <p:nvSpPr>
          <p:cNvPr id="24" name="gerencia card 4"/>
          <p:cNvSpPr/>
          <p:nvPr/>
        </p:nvSpPr>
        <p:spPr>
          <a:xfrm>
            <a:off x="9052560" y="1371600"/>
            <a:ext cx="2560320" cy="4206240"/>
          </a:xfrm>
          <a:prstGeom prst="roundRect">
            <a:avLst>
              <a:gd name="adj" fmla="val 3571"/>
            </a:avLst>
          </a:prstGeom>
          <a:solidFill>
            <a:srgbClr val="EEF3F9"/>
          </a:solidFill>
          <a:ln w="9525">
            <a:solidFill>
              <a:srgbClr val="D6E2EF"/>
            </a:solidFill>
            <a:prstDash val="solid"/>
          </a:ln>
        </p:spPr>
      </p:sp>
      <p:sp>
        <p:nvSpPr>
          <p:cNvPr id="25" name="gerencia 4 circle"/>
          <p:cNvSpPr/>
          <p:nvPr/>
        </p:nvSpPr>
        <p:spPr>
          <a:xfrm>
            <a:off x="9326880" y="1645920"/>
            <a:ext cx="731520" cy="731520"/>
          </a:xfrm>
          <a:prstGeom prst="ellipse">
            <a:avLst/>
          </a:prstGeom>
          <a:solidFill>
            <a:srgbClr val="005C9F"/>
          </a:solidFill>
          <a:ln w="12700">
            <a:solidFill>
              <a:srgbClr val="005C9F"/>
            </a:solidFill>
            <a:prstDash val="solid"/>
          </a:ln>
        </p:spPr>
      </p:sp>
      <p:pic>
        <p:nvPicPr>
          <p:cNvPr id="26" name="gerencia 4 icon" descr="preencoded.png">    </p:cNvPr>
          <p:cNvPicPr>
            <a:picLocks noChangeAspect="1"/>
          </p:cNvPicPr>
          <p:nvPr/>
        </p:nvPicPr>
        <p:blipFill>
          <a:blip r:embed="rId4"/>
          <a:stretch>
            <a:fillRect/>
          </a:stretch>
        </p:blipFill>
        <p:spPr>
          <a:xfrm>
            <a:off x="9487814" y="1806854"/>
            <a:ext cx="409651" cy="409651"/>
          </a:xfrm>
          <a:prstGeom prst="rect">
            <a:avLst/>
          </a:prstGeom>
        </p:spPr>
      </p:pic>
      <p:sp>
        <p:nvSpPr>
          <p:cNvPr id="27" name="Text 21"/>
          <p:cNvSpPr txBox="1"/>
          <p:nvPr/>
        </p:nvSpPr>
        <p:spPr>
          <a:xfrm>
            <a:off x="9326880" y="2514600"/>
            <a:ext cx="2103120" cy="685800"/>
          </a:xfrm>
          <a:prstGeom prst="rect">
            <a:avLst/>
          </a:prstGeom>
          <a:noFill/>
          <a:ln/>
        </p:spPr>
        <p:txBody>
          <a:bodyPr wrap="square" lIns="0" tIns="0" rIns="0" bIns="0" rtlCol="0" anchor="t"/>
          <a:lstStyle/>
          <a:p>
            <a:pPr indent="0" marL="0">
              <a:buNone/>
            </a:pPr>
            <a:r>
              <a:rPr lang="en-US" sz="1500" b="1" dirty="0">
                <a:solidFill>
                  <a:schemeClr val="tx2"/>
                </a:solidFill>
              </a:rPr>
              <a:t>Gerencia General</a:t>
            </a:r>
            <a:endParaRPr lang="en-US" sz="1500" dirty="0"/>
          </a:p>
        </p:txBody>
      </p:sp>
      <p:sp>
        <p:nvSpPr>
          <p:cNvPr id="28" name="Text 22"/>
          <p:cNvSpPr txBox="1"/>
          <p:nvPr/>
        </p:nvSpPr>
        <p:spPr>
          <a:xfrm>
            <a:off x="9326880" y="3200400"/>
            <a:ext cx="2103120" cy="822960"/>
          </a:xfrm>
          <a:prstGeom prst="rect">
            <a:avLst/>
          </a:prstGeom>
          <a:noFill/>
          <a:ln/>
        </p:spPr>
        <p:txBody>
          <a:bodyPr wrap="square" lIns="0" tIns="0" rIns="0" bIns="0" rtlCol="0" anchor="ctr"/>
          <a:lstStyle/>
          <a:p>
            <a:pPr indent="0" marL="0">
              <a:buNone/>
            </a:pPr>
            <a:r>
              <a:rPr lang="en-US" sz="4800" b="1" dirty="0">
                <a:solidFill>
                  <a:schemeClr val="accent1"/>
                </a:solidFill>
              </a:rPr>
              <a:t>2</a:t>
            </a:r>
            <a:endParaRPr lang="en-US" sz="4800" dirty="0"/>
          </a:p>
        </p:txBody>
      </p:sp>
      <p:sp>
        <p:nvSpPr>
          <p:cNvPr id="29" name="Text 23"/>
          <p:cNvSpPr txBox="1"/>
          <p:nvPr/>
        </p:nvSpPr>
        <p:spPr>
          <a:xfrm>
            <a:off x="9326880" y="4023360"/>
            <a:ext cx="2103120" cy="274320"/>
          </a:xfrm>
          <a:prstGeom prst="rect">
            <a:avLst/>
          </a:prstGeom>
          <a:noFill/>
          <a:ln/>
        </p:spPr>
        <p:txBody>
          <a:bodyPr wrap="square" lIns="0" tIns="0" rIns="0" bIns="0" rtlCol="0" anchor="t"/>
          <a:lstStyle/>
          <a:p>
            <a:pPr indent="0" marL="0">
              <a:buNone/>
            </a:pPr>
            <a:r>
              <a:rPr lang="en-US" sz="1100" dirty="0">
                <a:solidFill>
                  <a:schemeClr val="accent4"/>
                </a:solidFill>
              </a:rPr>
              <a:t>personas</a:t>
            </a:r>
            <a:endParaRPr lang="en-US" sz="1100" dirty="0"/>
          </a:p>
        </p:txBody>
      </p:sp>
      <p:sp>
        <p:nvSpPr>
          <p:cNvPr id="30" name="Text 24"/>
          <p:cNvSpPr txBox="1"/>
          <p:nvPr/>
        </p:nvSpPr>
        <p:spPr>
          <a:xfrm>
            <a:off x="9326880" y="4389120"/>
            <a:ext cx="2057400" cy="1097280"/>
          </a:xfrm>
          <a:prstGeom prst="rect">
            <a:avLst/>
          </a:prstGeom>
          <a:noFill/>
          <a:ln/>
        </p:spPr>
        <p:txBody>
          <a:bodyPr wrap="square" lIns="0" tIns="0" rIns="0" bIns="0" rtlCol="0" anchor="t"/>
          <a:lstStyle/>
          <a:p>
            <a:pPr indent="0" marL="0">
              <a:buNone/>
            </a:pPr>
            <a:r>
              <a:rPr lang="en-US" sz="1100" dirty="0">
                <a:solidFill>
                  <a:schemeClr val="tx1"/>
                </a:solidFill>
              </a:rPr>
              <a:t>Departamento de Administración de Riesgos: actualización y monitoreo</a:t>
            </a:r>
            <a:endParaRPr lang="en-US" sz="1100" dirty="0"/>
          </a:p>
        </p:txBody>
      </p:sp>
      <p:sp>
        <p:nvSpPr>
          <p:cNvPr id="31" name="Text 25"/>
          <p:cNvSpPr txBox="1"/>
          <p:nvPr/>
        </p:nvSpPr>
        <p:spPr>
          <a:xfrm>
            <a:off x="548640" y="5760720"/>
            <a:ext cx="10058400" cy="320040"/>
          </a:xfrm>
          <a:prstGeom prst="rect">
            <a:avLst/>
          </a:prstGeom>
          <a:noFill/>
          <a:ln/>
        </p:spPr>
        <p:txBody>
          <a:bodyPr wrap="square" lIns="0" tIns="0" rIns="0" bIns="0" rtlCol="0" anchor="t"/>
          <a:lstStyle/>
          <a:p>
            <a:pPr indent="0" marL="0">
              <a:buNone/>
            </a:pPr>
            <a:r>
              <a:rPr lang="en-US" sz="1300" b="1" dirty="0">
                <a:solidFill>
                  <a:schemeClr val="accent3"/>
                </a:solidFill>
              </a:rPr>
              <a:t>Total: </a:t>
            </a:r>
            <a:pPr indent="0" marL="0">
              <a:buNone/>
            </a:pPr>
            <a:r>
              <a:rPr lang="en-US" sz="1300" dirty="0">
                <a:solidFill>
                  <a:schemeClr val="accent3"/>
                </a:solidFill>
              </a:rPr>
              <a:t>20 personas participan en el proceso, sin un área que lo controle de forma centralizada.</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1. Gerencia de Negocio</a:t>
            </a:r>
            <a:endParaRPr lang="en-US" sz="2400" dirty="0"/>
          </a:p>
        </p:txBody>
      </p:sp>
      <p:sp>
        <p:nvSpPr>
          <p:cNvPr id="3" name="negocio 1 circle"/>
          <p:cNvSpPr/>
          <p:nvPr/>
        </p:nvSpPr>
        <p:spPr>
          <a:xfrm>
            <a:off x="548640" y="1490472"/>
            <a:ext cx="640080" cy="640080"/>
          </a:xfrm>
          <a:prstGeom prst="ellipse">
            <a:avLst/>
          </a:prstGeom>
          <a:solidFill>
            <a:srgbClr val="EEF3F9"/>
          </a:solidFill>
          <a:ln w="12700">
            <a:solidFill>
              <a:srgbClr val="EEF3F9"/>
            </a:solidFill>
            <a:prstDash val="solid"/>
          </a:ln>
        </p:spPr>
      </p:sp>
      <p:pic>
        <p:nvPicPr>
          <p:cNvPr id="4" name="negocio 1 icon" descr="preencoded.png">    </p:cNvPr>
          <p:cNvPicPr>
            <a:picLocks noChangeAspect="1"/>
          </p:cNvPicPr>
          <p:nvPr/>
        </p:nvPicPr>
        <p:blipFill>
          <a:blip r:embed="rId1"/>
          <a:stretch>
            <a:fillRect/>
          </a:stretch>
        </p:blipFill>
        <p:spPr>
          <a:xfrm>
            <a:off x="689458" y="1631290"/>
            <a:ext cx="358445" cy="358445"/>
          </a:xfrm>
          <a:prstGeom prst="rect">
            <a:avLst/>
          </a:prstGeom>
        </p:spPr>
      </p:pic>
      <p:sp>
        <p:nvSpPr>
          <p:cNvPr id="5" name="Text 2"/>
          <p:cNvSpPr txBox="1"/>
          <p:nvPr/>
        </p:nvSpPr>
        <p:spPr>
          <a:xfrm>
            <a:off x="1417320" y="1417320"/>
            <a:ext cx="6400800" cy="777240"/>
          </a:xfrm>
          <a:prstGeom prst="rect">
            <a:avLst/>
          </a:prstGeom>
          <a:noFill/>
          <a:ln/>
        </p:spPr>
        <p:txBody>
          <a:bodyPr wrap="square" lIns="0" tIns="0" rIns="0" bIns="0" rtlCol="0" anchor="ctr"/>
          <a:lstStyle/>
          <a:p>
            <a:pPr indent="0" marL="0">
              <a:buNone/>
            </a:pPr>
            <a:r>
              <a:rPr lang="en-US" sz="1500" b="1" dirty="0">
                <a:solidFill>
                  <a:schemeClr val="tx2"/>
                </a:solidFill>
              </a:rPr>
              <a:t>Gerente de Negocio:</a:t>
            </a:r>
            <a:pPr indent="0" marL="0">
              <a:buNone/>
            </a:pPr>
            <a:r>
              <a:rPr lang="en-US" sz="1500" dirty="0">
                <a:solidFill>
                  <a:schemeClr val="tx1"/>
                </a:solidFill>
              </a:rPr>
              <a:t> Administrador de Contrato de Peritos</a:t>
            </a:r>
            <a:endParaRPr lang="en-US" sz="1500" dirty="0"/>
          </a:p>
        </p:txBody>
      </p:sp>
      <p:sp>
        <p:nvSpPr>
          <p:cNvPr id="6" name="negocio 2 circle"/>
          <p:cNvSpPr/>
          <p:nvPr/>
        </p:nvSpPr>
        <p:spPr>
          <a:xfrm>
            <a:off x="548640" y="2404872"/>
            <a:ext cx="640080" cy="640080"/>
          </a:xfrm>
          <a:prstGeom prst="ellipse">
            <a:avLst/>
          </a:prstGeom>
          <a:solidFill>
            <a:srgbClr val="EEF3F9"/>
          </a:solidFill>
          <a:ln w="12700">
            <a:solidFill>
              <a:srgbClr val="EEF3F9"/>
            </a:solidFill>
            <a:prstDash val="solid"/>
          </a:ln>
        </p:spPr>
      </p:sp>
      <p:pic>
        <p:nvPicPr>
          <p:cNvPr id="7" name="negocio 2 icon" descr="preencoded.png">    </p:cNvPr>
          <p:cNvPicPr>
            <a:picLocks noChangeAspect="1"/>
          </p:cNvPicPr>
          <p:nvPr/>
        </p:nvPicPr>
        <p:blipFill>
          <a:blip r:embed="rId2"/>
          <a:stretch>
            <a:fillRect/>
          </a:stretch>
        </p:blipFill>
        <p:spPr>
          <a:xfrm>
            <a:off x="689458" y="2545690"/>
            <a:ext cx="358445" cy="358445"/>
          </a:xfrm>
          <a:prstGeom prst="rect">
            <a:avLst/>
          </a:prstGeom>
        </p:spPr>
      </p:pic>
      <p:sp>
        <p:nvSpPr>
          <p:cNvPr id="8" name="Text 4"/>
          <p:cNvSpPr txBox="1"/>
          <p:nvPr/>
        </p:nvSpPr>
        <p:spPr>
          <a:xfrm>
            <a:off x="1417320" y="2331720"/>
            <a:ext cx="6400800" cy="777240"/>
          </a:xfrm>
          <a:prstGeom prst="rect">
            <a:avLst/>
          </a:prstGeom>
          <a:noFill/>
          <a:ln/>
        </p:spPr>
        <p:txBody>
          <a:bodyPr wrap="square" lIns="0" tIns="0" rIns="0" bIns="0" rtlCol="0" anchor="ctr"/>
          <a:lstStyle/>
          <a:p>
            <a:pPr indent="0" marL="0">
              <a:buNone/>
            </a:pPr>
            <a:r>
              <a:rPr lang="en-US" sz="1500" b="1" dirty="0">
                <a:solidFill>
                  <a:schemeClr val="tx2"/>
                </a:solidFill>
              </a:rPr>
              <a:t>Jefe de Crédito:</a:t>
            </a:r>
            <a:pPr indent="0" marL="0">
              <a:buNone/>
            </a:pPr>
            <a:r>
              <a:rPr lang="en-US" sz="1500" dirty="0">
                <a:solidFill>
                  <a:schemeClr val="tx1"/>
                </a:solidFill>
              </a:rPr>
              <a:t> Administrador de Peritos</a:t>
            </a:r>
            <a:endParaRPr lang="en-US" sz="1500" dirty="0"/>
          </a:p>
        </p:txBody>
      </p:sp>
      <p:sp>
        <p:nvSpPr>
          <p:cNvPr id="9" name="negocio 3 circle"/>
          <p:cNvSpPr/>
          <p:nvPr/>
        </p:nvSpPr>
        <p:spPr>
          <a:xfrm>
            <a:off x="548640" y="3319272"/>
            <a:ext cx="640080" cy="640080"/>
          </a:xfrm>
          <a:prstGeom prst="ellipse">
            <a:avLst/>
          </a:prstGeom>
          <a:solidFill>
            <a:srgbClr val="EEF3F9"/>
          </a:solidFill>
          <a:ln w="12700">
            <a:solidFill>
              <a:srgbClr val="EEF3F9"/>
            </a:solidFill>
            <a:prstDash val="solid"/>
          </a:ln>
        </p:spPr>
      </p:sp>
      <p:pic>
        <p:nvPicPr>
          <p:cNvPr id="10" name="negocio 3 icon" descr="preencoded.png">    </p:cNvPr>
          <p:cNvPicPr>
            <a:picLocks noChangeAspect="1"/>
          </p:cNvPicPr>
          <p:nvPr/>
        </p:nvPicPr>
        <p:blipFill>
          <a:blip r:embed="rId3"/>
          <a:stretch>
            <a:fillRect/>
          </a:stretch>
        </p:blipFill>
        <p:spPr>
          <a:xfrm>
            <a:off x="689458" y="3460090"/>
            <a:ext cx="358445" cy="358445"/>
          </a:xfrm>
          <a:prstGeom prst="rect">
            <a:avLst/>
          </a:prstGeom>
        </p:spPr>
      </p:pic>
      <p:sp>
        <p:nvSpPr>
          <p:cNvPr id="11" name="Text 6"/>
          <p:cNvSpPr txBox="1"/>
          <p:nvPr/>
        </p:nvSpPr>
        <p:spPr>
          <a:xfrm>
            <a:off x="1417320" y="3246120"/>
            <a:ext cx="6400800" cy="1234440"/>
          </a:xfrm>
          <a:prstGeom prst="rect">
            <a:avLst/>
          </a:prstGeom>
          <a:noFill/>
          <a:ln/>
        </p:spPr>
        <p:txBody>
          <a:bodyPr wrap="square" lIns="0" tIns="0" rIns="0" bIns="0" rtlCol="0" anchor="ctr"/>
          <a:lstStyle/>
          <a:p>
            <a:pPr indent="0" marL="0">
              <a:buNone/>
            </a:pPr>
            <a:r>
              <a:rPr lang="en-US" sz="1500" b="1" dirty="0">
                <a:solidFill>
                  <a:schemeClr val="tx2"/>
                </a:solidFill>
              </a:rPr>
              <a:t>Ejecutivos de Negocio:</a:t>
            </a:r>
            <a:pPr indent="0" marL="0">
              <a:buNone/>
            </a:pPr>
            <a:r>
              <a:rPr lang="en-US" sz="1500" dirty="0">
                <a:solidFill>
                  <a:schemeClr val="tx1"/>
                </a:solidFill>
              </a:rPr>
              <a:t> Recepción de Informes de Avalúos, e Ingreso de la Informacion en el sistema Industrial de Créditos Modulo de Garantías (9 Personas)</a:t>
            </a:r>
            <a:endParaRPr lang="en-US" sz="1500" dirty="0"/>
          </a:p>
        </p:txBody>
      </p:sp>
      <p:sp>
        <p:nvSpPr>
          <p:cNvPr id="12" name="negocio 4 circle"/>
          <p:cNvSpPr/>
          <p:nvPr/>
        </p:nvSpPr>
        <p:spPr>
          <a:xfrm>
            <a:off x="548640" y="4690872"/>
            <a:ext cx="640080" cy="640080"/>
          </a:xfrm>
          <a:prstGeom prst="ellipse">
            <a:avLst/>
          </a:prstGeom>
          <a:solidFill>
            <a:srgbClr val="EEF3F9"/>
          </a:solidFill>
          <a:ln w="12700">
            <a:solidFill>
              <a:srgbClr val="EEF3F9"/>
            </a:solidFill>
            <a:prstDash val="solid"/>
          </a:ln>
        </p:spPr>
      </p:sp>
      <p:pic>
        <p:nvPicPr>
          <p:cNvPr id="13" name="negocio 4 icon" descr="preencoded.png">    </p:cNvPr>
          <p:cNvPicPr>
            <a:picLocks noChangeAspect="1"/>
          </p:cNvPicPr>
          <p:nvPr/>
        </p:nvPicPr>
        <p:blipFill>
          <a:blip r:embed="rId4"/>
          <a:stretch>
            <a:fillRect/>
          </a:stretch>
        </p:blipFill>
        <p:spPr>
          <a:xfrm>
            <a:off x="689458" y="4831690"/>
            <a:ext cx="358445" cy="358445"/>
          </a:xfrm>
          <a:prstGeom prst="rect">
            <a:avLst/>
          </a:prstGeom>
        </p:spPr>
      </p:pic>
      <p:sp>
        <p:nvSpPr>
          <p:cNvPr id="14" name="Text 8"/>
          <p:cNvSpPr txBox="1"/>
          <p:nvPr/>
        </p:nvSpPr>
        <p:spPr>
          <a:xfrm>
            <a:off x="1417320" y="4617720"/>
            <a:ext cx="6400800" cy="777240"/>
          </a:xfrm>
          <a:prstGeom prst="rect">
            <a:avLst/>
          </a:prstGeom>
          <a:noFill/>
          <a:ln/>
        </p:spPr>
        <p:txBody>
          <a:bodyPr wrap="square" lIns="0" tIns="0" rIns="0" bIns="0" rtlCol="0" anchor="ctr"/>
          <a:lstStyle/>
          <a:p>
            <a:pPr indent="0" marL="0">
              <a:buNone/>
            </a:pPr>
            <a:r>
              <a:rPr lang="en-US" sz="1500" b="1" dirty="0">
                <a:solidFill>
                  <a:schemeClr val="tx2"/>
                </a:solidFill>
              </a:rPr>
              <a:t>Analista de Crédito:</a:t>
            </a:r>
            <a:pPr indent="0" marL="0">
              <a:buNone/>
            </a:pPr>
            <a:r>
              <a:rPr lang="en-US" sz="1500" dirty="0">
                <a:solidFill>
                  <a:schemeClr val="tx1"/>
                </a:solidFill>
              </a:rPr>
              <a:t> Recibe el Informe de avalúos</a:t>
            </a:r>
            <a:endParaRPr lang="en-US" sz="1500" dirty="0"/>
          </a:p>
        </p:txBody>
      </p:sp>
      <p:sp>
        <p:nvSpPr>
          <p:cNvPr id="15" name="negocio stat"/>
          <p:cNvSpPr/>
          <p:nvPr/>
        </p:nvSpPr>
        <p:spPr>
          <a:xfrm>
            <a:off x="8229600" y="1417320"/>
            <a:ext cx="3383280" cy="4389120"/>
          </a:xfrm>
          <a:prstGeom prst="roundRect">
            <a:avLst>
              <a:gd name="adj" fmla="val 2703"/>
            </a:avLst>
          </a:prstGeom>
          <a:solidFill>
            <a:srgbClr val="00376E"/>
          </a:solidFill>
          <a:ln w="9525">
            <a:solidFill>
              <a:srgbClr val="00376E"/>
            </a:solidFill>
            <a:prstDash val="solid"/>
          </a:ln>
        </p:spPr>
      </p:sp>
      <p:sp>
        <p:nvSpPr>
          <p:cNvPr id="16" name="Text 10"/>
          <p:cNvSpPr txBox="1"/>
          <p:nvPr/>
        </p:nvSpPr>
        <p:spPr>
          <a:xfrm>
            <a:off x="8549640" y="1737360"/>
            <a:ext cx="2743200" cy="1188720"/>
          </a:xfrm>
          <a:prstGeom prst="rect">
            <a:avLst/>
          </a:prstGeom>
          <a:noFill/>
          <a:ln/>
        </p:spPr>
        <p:txBody>
          <a:bodyPr wrap="square" lIns="0" tIns="0" rIns="0" bIns="0" rtlCol="0" anchor="t"/>
          <a:lstStyle/>
          <a:p>
            <a:pPr indent="0" marL="0">
              <a:buNone/>
            </a:pPr>
            <a:r>
              <a:rPr lang="en-US" sz="7200" b="1" dirty="0">
                <a:solidFill>
                  <a:schemeClr val="accent2"/>
                </a:solidFill>
              </a:rPr>
              <a:t>14</a:t>
            </a:r>
            <a:endParaRPr lang="en-US" sz="7200" dirty="0"/>
          </a:p>
        </p:txBody>
      </p:sp>
      <p:sp>
        <p:nvSpPr>
          <p:cNvPr id="17" name="Text 11"/>
          <p:cNvSpPr txBox="1"/>
          <p:nvPr/>
        </p:nvSpPr>
        <p:spPr>
          <a:xfrm>
            <a:off x="8549640" y="3017520"/>
            <a:ext cx="2788920" cy="868680"/>
          </a:xfrm>
          <a:prstGeom prst="rect">
            <a:avLst/>
          </a:prstGeom>
          <a:noFill/>
          <a:ln/>
        </p:spPr>
        <p:txBody>
          <a:bodyPr wrap="square" lIns="0" tIns="0" rIns="0" bIns="0" rtlCol="0" anchor="t"/>
          <a:lstStyle/>
          <a:p>
            <a:pPr indent="0" marL="0">
              <a:buNone/>
            </a:pPr>
            <a:r>
              <a:rPr lang="en-US" sz="1600" b="1" dirty="0">
                <a:solidFill>
                  <a:schemeClr val="bg1"/>
                </a:solidFill>
              </a:rPr>
              <a:t>Proceso actual realizado por 14 Personas</a:t>
            </a:r>
            <a:endParaRPr lang="en-US" sz="1600" dirty="0"/>
          </a:p>
        </p:txBody>
      </p:sp>
      <p:sp>
        <p:nvSpPr>
          <p:cNvPr id="18" name="Text 12"/>
          <p:cNvSpPr txBox="1"/>
          <p:nvPr/>
        </p:nvSpPr>
        <p:spPr>
          <a:xfrm>
            <a:off x="8549640" y="4023360"/>
            <a:ext cx="2788920" cy="1463040"/>
          </a:xfrm>
          <a:prstGeom prst="rect">
            <a:avLst/>
          </a:prstGeom>
          <a:noFill/>
          <a:ln/>
        </p:spPr>
        <p:txBody>
          <a:bodyPr wrap="square" lIns="0" tIns="0" rIns="0" bIns="0" rtlCol="0" anchor="t"/>
          <a:lstStyle/>
          <a:p>
            <a:pPr indent="0" marL="0">
              <a:buNone/>
            </a:pPr>
            <a:r>
              <a:rPr lang="en-US" sz="1300" dirty="0">
                <a:solidFill>
                  <a:schemeClr val="accent5"/>
                </a:solidFill>
              </a:rPr>
              <a:t>De ellas, 9 son Ejecutivos de Negocio que ingresan información en el Módulo de Garantías</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2. Gerencia Legal y 3. Gerencia Operacional</a:t>
            </a:r>
            <a:endParaRPr lang="en-US" sz="2400" dirty="0"/>
          </a:p>
        </p:txBody>
      </p:sp>
      <p:sp>
        <p:nvSpPr>
          <p:cNvPr id="3" name="columna 1"/>
          <p:cNvSpPr/>
          <p:nvPr/>
        </p:nvSpPr>
        <p:spPr>
          <a:xfrm>
            <a:off x="548640" y="1325880"/>
            <a:ext cx="5349240" cy="4572000"/>
          </a:xfrm>
          <a:prstGeom prst="roundRect">
            <a:avLst>
              <a:gd name="adj" fmla="val 2000"/>
            </a:avLst>
          </a:prstGeom>
          <a:solidFill>
            <a:srgbClr val="EEF3F9"/>
          </a:solidFill>
          <a:ln w="9525">
            <a:solidFill>
              <a:srgbClr val="D6E2EF"/>
            </a:solidFill>
            <a:prstDash val="solid"/>
          </a:ln>
        </p:spPr>
      </p:sp>
      <p:sp>
        <p:nvSpPr>
          <p:cNvPr id="4" name="columna 1 circle"/>
          <p:cNvSpPr/>
          <p:nvPr/>
        </p:nvSpPr>
        <p:spPr>
          <a:xfrm>
            <a:off x="914400" y="1600200"/>
            <a:ext cx="685800" cy="685800"/>
          </a:xfrm>
          <a:prstGeom prst="ellipse">
            <a:avLst/>
          </a:prstGeom>
          <a:solidFill>
            <a:srgbClr val="005C9F"/>
          </a:solidFill>
          <a:ln w="12700">
            <a:solidFill>
              <a:srgbClr val="005C9F"/>
            </a:solidFill>
            <a:prstDash val="solid"/>
          </a:ln>
        </p:spPr>
      </p:sp>
      <p:pic>
        <p:nvPicPr>
          <p:cNvPr id="5" name="columna 1 icon" descr="preencoded.png">    </p:cNvPr>
          <p:cNvPicPr>
            <a:picLocks noChangeAspect="1"/>
          </p:cNvPicPr>
          <p:nvPr/>
        </p:nvPicPr>
        <p:blipFill>
          <a:blip r:embed="rId1"/>
          <a:stretch>
            <a:fillRect/>
          </a:stretch>
        </p:blipFill>
        <p:spPr>
          <a:xfrm>
            <a:off x="1065276" y="1751076"/>
            <a:ext cx="384048" cy="384048"/>
          </a:xfrm>
          <a:prstGeom prst="rect">
            <a:avLst/>
          </a:prstGeom>
        </p:spPr>
      </p:pic>
      <p:sp>
        <p:nvSpPr>
          <p:cNvPr id="6" name="Text 3"/>
          <p:cNvSpPr txBox="1"/>
          <p:nvPr/>
        </p:nvSpPr>
        <p:spPr>
          <a:xfrm>
            <a:off x="1783080" y="1600200"/>
            <a:ext cx="3931920" cy="685800"/>
          </a:xfrm>
          <a:prstGeom prst="rect">
            <a:avLst/>
          </a:prstGeom>
          <a:noFill/>
          <a:ln/>
        </p:spPr>
        <p:txBody>
          <a:bodyPr wrap="square" lIns="0" tIns="0" rIns="0" bIns="0" rtlCol="0" anchor="ctr"/>
          <a:lstStyle/>
          <a:p>
            <a:pPr indent="0" marL="0">
              <a:buNone/>
            </a:pPr>
            <a:r>
              <a:rPr lang="en-US" sz="1900" b="1" dirty="0">
                <a:solidFill>
                  <a:schemeClr val="tx2"/>
                </a:solidFill>
              </a:rPr>
              <a:t>2. Gerencia legal</a:t>
            </a:r>
            <a:endParaRPr lang="en-US" sz="1900" dirty="0"/>
          </a:p>
        </p:txBody>
      </p:sp>
      <p:sp>
        <p:nvSpPr>
          <p:cNvPr id="7" name="Text 4"/>
          <p:cNvSpPr txBox="1"/>
          <p:nvPr/>
        </p:nvSpPr>
        <p:spPr>
          <a:xfrm>
            <a:off x="914400" y="2468880"/>
            <a:ext cx="4617720" cy="210312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Realiza los contratos Hipotecarios y valida información en el Informe de avalúos, para ingresar en el sistema Industrial de Créditos Modulo de garantías la información de Inscripción y presentación de Garantías.</a:t>
            </a:r>
            <a:endParaRPr lang="en-US" sz="1350" dirty="0"/>
          </a:p>
        </p:txBody>
      </p:sp>
      <p:sp>
        <p:nvSpPr>
          <p:cNvPr id="8" name="pill 1"/>
          <p:cNvSpPr/>
          <p:nvPr/>
        </p:nvSpPr>
        <p:spPr>
          <a:xfrm>
            <a:off x="914400" y="4663440"/>
            <a:ext cx="4617720" cy="960120"/>
          </a:xfrm>
          <a:prstGeom prst="roundRect">
            <a:avLst>
              <a:gd name="adj" fmla="val 9524"/>
            </a:avLst>
          </a:prstGeom>
          <a:solidFill>
            <a:srgbClr val="00376E"/>
          </a:solidFill>
          <a:ln w="12700">
            <a:solidFill>
              <a:srgbClr val="00376E"/>
            </a:solidFill>
            <a:prstDash val="solid"/>
          </a:ln>
        </p:spPr>
      </p:sp>
      <p:sp>
        <p:nvSpPr>
          <p:cNvPr id="9" name="Text 6"/>
          <p:cNvSpPr txBox="1"/>
          <p:nvPr/>
        </p:nvSpPr>
        <p:spPr>
          <a:xfrm>
            <a:off x="1143000" y="4663440"/>
            <a:ext cx="822960" cy="960120"/>
          </a:xfrm>
          <a:prstGeom prst="rect">
            <a:avLst/>
          </a:prstGeom>
          <a:noFill/>
          <a:ln/>
        </p:spPr>
        <p:txBody>
          <a:bodyPr wrap="square" lIns="0" tIns="0" rIns="0" bIns="0" rtlCol="0" anchor="ctr"/>
          <a:lstStyle/>
          <a:p>
            <a:pPr indent="0" marL="0">
              <a:buNone/>
            </a:pPr>
            <a:r>
              <a:rPr lang="en-US" sz="4000" b="1" dirty="0">
                <a:solidFill>
                  <a:schemeClr val="accent2"/>
                </a:solidFill>
              </a:rPr>
              <a:t>2</a:t>
            </a:r>
            <a:endParaRPr lang="en-US" sz="4000" dirty="0"/>
          </a:p>
        </p:txBody>
      </p:sp>
      <p:sp>
        <p:nvSpPr>
          <p:cNvPr id="10" name="Text 7"/>
          <p:cNvSpPr txBox="1"/>
          <p:nvPr/>
        </p:nvSpPr>
        <p:spPr>
          <a:xfrm>
            <a:off x="1965960" y="4663440"/>
            <a:ext cx="3474720" cy="960120"/>
          </a:xfrm>
          <a:prstGeom prst="rect">
            <a:avLst/>
          </a:prstGeom>
          <a:noFill/>
          <a:ln/>
        </p:spPr>
        <p:txBody>
          <a:bodyPr wrap="square" lIns="0" tIns="0" rIns="0" bIns="0" rtlCol="0" anchor="ctr"/>
          <a:lstStyle/>
          <a:p>
            <a:pPr indent="0" marL="0">
              <a:buNone/>
            </a:pPr>
            <a:r>
              <a:rPr lang="en-US" sz="1400" b="1" dirty="0">
                <a:solidFill>
                  <a:schemeClr val="bg1"/>
                </a:solidFill>
              </a:rPr>
              <a:t>Proceso actual realizado por 2 Personas</a:t>
            </a:r>
            <a:endParaRPr lang="en-US" sz="1400" dirty="0"/>
          </a:p>
        </p:txBody>
      </p:sp>
      <p:sp>
        <p:nvSpPr>
          <p:cNvPr id="11" name="columna 2"/>
          <p:cNvSpPr/>
          <p:nvPr/>
        </p:nvSpPr>
        <p:spPr>
          <a:xfrm>
            <a:off x="6263640" y="1325880"/>
            <a:ext cx="5349240" cy="4572000"/>
          </a:xfrm>
          <a:prstGeom prst="roundRect">
            <a:avLst>
              <a:gd name="adj" fmla="val 2000"/>
            </a:avLst>
          </a:prstGeom>
          <a:solidFill>
            <a:srgbClr val="EEF3F9"/>
          </a:solidFill>
          <a:ln w="9525">
            <a:solidFill>
              <a:srgbClr val="D6E2EF"/>
            </a:solidFill>
            <a:prstDash val="solid"/>
          </a:ln>
        </p:spPr>
      </p:sp>
      <p:sp>
        <p:nvSpPr>
          <p:cNvPr id="12" name="columna 2 circle"/>
          <p:cNvSpPr/>
          <p:nvPr/>
        </p:nvSpPr>
        <p:spPr>
          <a:xfrm>
            <a:off x="6629400" y="1600200"/>
            <a:ext cx="685800" cy="685800"/>
          </a:xfrm>
          <a:prstGeom prst="ellipse">
            <a:avLst/>
          </a:prstGeom>
          <a:solidFill>
            <a:srgbClr val="005C9F"/>
          </a:solidFill>
          <a:ln w="12700">
            <a:solidFill>
              <a:srgbClr val="005C9F"/>
            </a:solidFill>
            <a:prstDash val="solid"/>
          </a:ln>
        </p:spPr>
      </p:sp>
      <p:pic>
        <p:nvPicPr>
          <p:cNvPr id="13" name="columna 2 icon" descr="preencoded.png">    </p:cNvPr>
          <p:cNvPicPr>
            <a:picLocks noChangeAspect="1"/>
          </p:cNvPicPr>
          <p:nvPr/>
        </p:nvPicPr>
        <p:blipFill>
          <a:blip r:embed="rId2"/>
          <a:stretch>
            <a:fillRect/>
          </a:stretch>
        </p:blipFill>
        <p:spPr>
          <a:xfrm>
            <a:off x="6780276" y="1751076"/>
            <a:ext cx="384048" cy="384048"/>
          </a:xfrm>
          <a:prstGeom prst="rect">
            <a:avLst/>
          </a:prstGeom>
        </p:spPr>
      </p:pic>
      <p:sp>
        <p:nvSpPr>
          <p:cNvPr id="14" name="Text 10"/>
          <p:cNvSpPr txBox="1"/>
          <p:nvPr/>
        </p:nvSpPr>
        <p:spPr>
          <a:xfrm>
            <a:off x="7498080" y="1600200"/>
            <a:ext cx="3931920" cy="685800"/>
          </a:xfrm>
          <a:prstGeom prst="rect">
            <a:avLst/>
          </a:prstGeom>
          <a:noFill/>
          <a:ln/>
        </p:spPr>
        <p:txBody>
          <a:bodyPr wrap="square" lIns="0" tIns="0" rIns="0" bIns="0" rtlCol="0" anchor="ctr"/>
          <a:lstStyle/>
          <a:p>
            <a:pPr indent="0" marL="0">
              <a:buNone/>
            </a:pPr>
            <a:r>
              <a:rPr lang="en-US" sz="1900" b="1" dirty="0">
                <a:solidFill>
                  <a:schemeClr val="tx2"/>
                </a:solidFill>
              </a:rPr>
              <a:t>3. Gerencia Operacional</a:t>
            </a:r>
            <a:endParaRPr lang="en-US" sz="1900" dirty="0"/>
          </a:p>
        </p:txBody>
      </p:sp>
      <p:sp>
        <p:nvSpPr>
          <p:cNvPr id="15" name="Text 11"/>
          <p:cNvSpPr txBox="1"/>
          <p:nvPr/>
        </p:nvSpPr>
        <p:spPr>
          <a:xfrm>
            <a:off x="6629400" y="2468880"/>
            <a:ext cx="4617720" cy="210312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Administración de Cartera: Es la encarga actual de Modificar, Actualizar el Sistema Industrial de Créditos del Módulo de Garantías, (de la Informacion enviada por Créditos y Riesgos)</a:t>
            </a:r>
            <a:endParaRPr lang="en-US" sz="1350" dirty="0"/>
          </a:p>
          <a:p>
            <a:pPr indent="0" marL="0">
              <a:spcAft>
                <a:spcPts val="800"/>
              </a:spcAft>
              <a:buNone/>
            </a:pPr>
            <a:r>
              <a:rPr lang="en-US" sz="1350" dirty="0">
                <a:solidFill>
                  <a:schemeClr val="tx1"/>
                </a:solidFill>
              </a:rPr>
              <a:t>Así mismo ha informado que realiza contrataciones de Peritos para valuaciones especiales de garantías</a:t>
            </a:r>
            <a:endParaRPr lang="en-US" sz="1350" dirty="0"/>
          </a:p>
        </p:txBody>
      </p:sp>
      <p:sp>
        <p:nvSpPr>
          <p:cNvPr id="16" name="pill 2"/>
          <p:cNvSpPr/>
          <p:nvPr/>
        </p:nvSpPr>
        <p:spPr>
          <a:xfrm>
            <a:off x="6629400" y="4663440"/>
            <a:ext cx="4617720" cy="960120"/>
          </a:xfrm>
          <a:prstGeom prst="roundRect">
            <a:avLst>
              <a:gd name="adj" fmla="val 9524"/>
            </a:avLst>
          </a:prstGeom>
          <a:solidFill>
            <a:srgbClr val="00376E"/>
          </a:solidFill>
          <a:ln w="12700">
            <a:solidFill>
              <a:srgbClr val="00376E"/>
            </a:solidFill>
            <a:prstDash val="solid"/>
          </a:ln>
        </p:spPr>
      </p:sp>
      <p:sp>
        <p:nvSpPr>
          <p:cNvPr id="17" name="Text 13"/>
          <p:cNvSpPr txBox="1"/>
          <p:nvPr/>
        </p:nvSpPr>
        <p:spPr>
          <a:xfrm>
            <a:off x="6858000" y="4663440"/>
            <a:ext cx="822960" cy="960120"/>
          </a:xfrm>
          <a:prstGeom prst="rect">
            <a:avLst/>
          </a:prstGeom>
          <a:noFill/>
          <a:ln/>
        </p:spPr>
        <p:txBody>
          <a:bodyPr wrap="square" lIns="0" tIns="0" rIns="0" bIns="0" rtlCol="0" anchor="ctr"/>
          <a:lstStyle/>
          <a:p>
            <a:pPr indent="0" marL="0">
              <a:buNone/>
            </a:pPr>
            <a:r>
              <a:rPr lang="en-US" sz="4000" b="1" dirty="0">
                <a:solidFill>
                  <a:schemeClr val="accent2"/>
                </a:solidFill>
              </a:rPr>
              <a:t>2</a:t>
            </a:r>
            <a:endParaRPr lang="en-US" sz="4000" dirty="0"/>
          </a:p>
        </p:txBody>
      </p:sp>
      <p:sp>
        <p:nvSpPr>
          <p:cNvPr id="18" name="Text 14"/>
          <p:cNvSpPr txBox="1"/>
          <p:nvPr/>
        </p:nvSpPr>
        <p:spPr>
          <a:xfrm>
            <a:off x="7680960" y="4663440"/>
            <a:ext cx="3474720" cy="960120"/>
          </a:xfrm>
          <a:prstGeom prst="rect">
            <a:avLst/>
          </a:prstGeom>
          <a:noFill/>
          <a:ln/>
        </p:spPr>
        <p:txBody>
          <a:bodyPr wrap="square" lIns="0" tIns="0" rIns="0" bIns="0" rtlCol="0" anchor="ctr"/>
          <a:lstStyle/>
          <a:p>
            <a:pPr indent="0" marL="0">
              <a:buNone/>
            </a:pPr>
            <a:r>
              <a:rPr lang="en-US" sz="1400" b="1" dirty="0">
                <a:solidFill>
                  <a:schemeClr val="bg1"/>
                </a:solidFill>
              </a:rPr>
              <a:t>Proceso actual realizado por 2 Personas</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4. Gerencia General: Depto. de Administración de Riesgos</a:t>
            </a:r>
            <a:endParaRPr lang="en-US" sz="2400" dirty="0"/>
          </a:p>
        </p:txBody>
      </p:sp>
      <p:sp>
        <p:nvSpPr>
          <p:cNvPr id="3" name="Text 1"/>
          <p:cNvSpPr txBox="1"/>
          <p:nvPr/>
        </p:nvSpPr>
        <p:spPr>
          <a:xfrm>
            <a:off x="548640" y="1234440"/>
            <a:ext cx="7315200" cy="320040"/>
          </a:xfrm>
          <a:prstGeom prst="rect">
            <a:avLst/>
          </a:prstGeom>
          <a:noFill/>
          <a:ln/>
        </p:spPr>
        <p:txBody>
          <a:bodyPr wrap="square" lIns="0" tIns="0" rIns="0" bIns="0" rtlCol="0" anchor="t"/>
          <a:lstStyle/>
          <a:p>
            <a:pPr indent="0" marL="0">
              <a:buNone/>
            </a:pPr>
            <a:r>
              <a:rPr lang="en-US" sz="1400" i="1" dirty="0">
                <a:solidFill>
                  <a:schemeClr val="accent4"/>
                </a:solidFill>
              </a:rPr>
              <a:t>Es la encarga actual de:</a:t>
            </a:r>
            <a:endParaRPr lang="en-US" sz="1400" dirty="0"/>
          </a:p>
        </p:txBody>
      </p:sp>
      <p:sp>
        <p:nvSpPr>
          <p:cNvPr id="4" name="actividad 1"/>
          <p:cNvSpPr/>
          <p:nvPr/>
        </p:nvSpPr>
        <p:spPr>
          <a:xfrm>
            <a:off x="548640" y="1691640"/>
            <a:ext cx="3749040" cy="914400"/>
          </a:xfrm>
          <a:prstGeom prst="roundRect">
            <a:avLst>
              <a:gd name="adj" fmla="val 10000"/>
            </a:avLst>
          </a:prstGeom>
          <a:solidFill>
            <a:srgbClr val="EEF3F9"/>
          </a:solidFill>
          <a:ln w="9525">
            <a:solidFill>
              <a:srgbClr val="D6E2EF"/>
            </a:solidFill>
            <a:prstDash val="solid"/>
          </a:ln>
        </p:spPr>
      </p:sp>
      <p:sp>
        <p:nvSpPr>
          <p:cNvPr id="5" name="actividad 1 circle"/>
          <p:cNvSpPr/>
          <p:nvPr/>
        </p:nvSpPr>
        <p:spPr>
          <a:xfrm>
            <a:off x="731520" y="1874520"/>
            <a:ext cx="548640" cy="548640"/>
          </a:xfrm>
          <a:prstGeom prst="ellipse">
            <a:avLst/>
          </a:prstGeom>
          <a:solidFill>
            <a:srgbClr val="005C9F"/>
          </a:solidFill>
          <a:ln w="12700">
            <a:solidFill>
              <a:srgbClr val="005C9F"/>
            </a:solidFill>
            <a:prstDash val="solid"/>
          </a:ln>
        </p:spPr>
      </p:sp>
      <p:pic>
        <p:nvPicPr>
          <p:cNvPr id="6" name="actividad 1 icon" descr="preencoded.png">    </p:cNvPr>
          <p:cNvPicPr>
            <a:picLocks noChangeAspect="1"/>
          </p:cNvPicPr>
          <p:nvPr/>
        </p:nvPicPr>
        <p:blipFill>
          <a:blip r:embed="rId1"/>
          <a:stretch>
            <a:fillRect/>
          </a:stretch>
        </p:blipFill>
        <p:spPr>
          <a:xfrm>
            <a:off x="852221" y="1995221"/>
            <a:ext cx="307238" cy="307238"/>
          </a:xfrm>
          <a:prstGeom prst="rect">
            <a:avLst/>
          </a:prstGeom>
        </p:spPr>
      </p:pic>
      <p:sp>
        <p:nvSpPr>
          <p:cNvPr id="7" name="Text 4"/>
          <p:cNvSpPr txBox="1"/>
          <p:nvPr/>
        </p:nvSpPr>
        <p:spPr>
          <a:xfrm>
            <a:off x="1417320" y="1746504"/>
            <a:ext cx="2788920" cy="804672"/>
          </a:xfrm>
          <a:prstGeom prst="rect">
            <a:avLst/>
          </a:prstGeom>
          <a:noFill/>
          <a:ln/>
        </p:spPr>
        <p:txBody>
          <a:bodyPr wrap="square" lIns="0" tIns="0" rIns="0" bIns="0" rtlCol="0" anchor="ctr"/>
          <a:lstStyle/>
          <a:p>
            <a:pPr indent="0" marL="0">
              <a:buNone/>
            </a:pPr>
            <a:r>
              <a:rPr lang="en-US" sz="1150" dirty="0">
                <a:solidFill>
                  <a:schemeClr val="tx1"/>
                </a:solidFill>
              </a:rPr>
              <a:t>Contratación de Peritos para actualización</a:t>
            </a:r>
            <a:endParaRPr lang="en-US" sz="1150" dirty="0"/>
          </a:p>
        </p:txBody>
      </p:sp>
      <p:sp>
        <p:nvSpPr>
          <p:cNvPr id="8" name="actividad 2"/>
          <p:cNvSpPr/>
          <p:nvPr/>
        </p:nvSpPr>
        <p:spPr>
          <a:xfrm>
            <a:off x="4526280" y="1691640"/>
            <a:ext cx="3749040" cy="914400"/>
          </a:xfrm>
          <a:prstGeom prst="roundRect">
            <a:avLst>
              <a:gd name="adj" fmla="val 10000"/>
            </a:avLst>
          </a:prstGeom>
          <a:solidFill>
            <a:srgbClr val="EEF3F9"/>
          </a:solidFill>
          <a:ln w="9525">
            <a:solidFill>
              <a:srgbClr val="D6E2EF"/>
            </a:solidFill>
            <a:prstDash val="solid"/>
          </a:ln>
        </p:spPr>
      </p:sp>
      <p:sp>
        <p:nvSpPr>
          <p:cNvPr id="9" name="actividad 2 circle"/>
          <p:cNvSpPr/>
          <p:nvPr/>
        </p:nvSpPr>
        <p:spPr>
          <a:xfrm>
            <a:off x="4709160" y="1874520"/>
            <a:ext cx="548640" cy="548640"/>
          </a:xfrm>
          <a:prstGeom prst="ellipse">
            <a:avLst/>
          </a:prstGeom>
          <a:solidFill>
            <a:srgbClr val="005C9F"/>
          </a:solidFill>
          <a:ln w="12700">
            <a:solidFill>
              <a:srgbClr val="005C9F"/>
            </a:solidFill>
            <a:prstDash val="solid"/>
          </a:ln>
        </p:spPr>
      </p:sp>
      <p:pic>
        <p:nvPicPr>
          <p:cNvPr id="10" name="actividad 2 icon" descr="preencoded.png">    </p:cNvPr>
          <p:cNvPicPr>
            <a:picLocks noChangeAspect="1"/>
          </p:cNvPicPr>
          <p:nvPr/>
        </p:nvPicPr>
        <p:blipFill>
          <a:blip r:embed="rId2"/>
          <a:stretch>
            <a:fillRect/>
          </a:stretch>
        </p:blipFill>
        <p:spPr>
          <a:xfrm>
            <a:off x="4829861" y="1995221"/>
            <a:ext cx="307238" cy="307238"/>
          </a:xfrm>
          <a:prstGeom prst="rect">
            <a:avLst/>
          </a:prstGeom>
        </p:spPr>
      </p:pic>
      <p:sp>
        <p:nvSpPr>
          <p:cNvPr id="11" name="Text 7"/>
          <p:cNvSpPr txBox="1"/>
          <p:nvPr/>
        </p:nvSpPr>
        <p:spPr>
          <a:xfrm>
            <a:off x="5394960" y="1746504"/>
            <a:ext cx="2788920" cy="804672"/>
          </a:xfrm>
          <a:prstGeom prst="rect">
            <a:avLst/>
          </a:prstGeom>
          <a:noFill/>
          <a:ln/>
        </p:spPr>
        <p:txBody>
          <a:bodyPr wrap="square" lIns="0" tIns="0" rIns="0" bIns="0" rtlCol="0" anchor="ctr"/>
          <a:lstStyle/>
          <a:p>
            <a:pPr indent="0" marL="0">
              <a:buNone/>
            </a:pPr>
            <a:r>
              <a:rPr lang="en-US" sz="1150" dirty="0">
                <a:solidFill>
                  <a:schemeClr val="tx1"/>
                </a:solidFill>
              </a:rPr>
              <a:t>Monitoreo Periódico de Vencimiento de garantías</a:t>
            </a:r>
            <a:endParaRPr lang="en-US" sz="1150" dirty="0"/>
          </a:p>
        </p:txBody>
      </p:sp>
      <p:sp>
        <p:nvSpPr>
          <p:cNvPr id="12" name="actividad 3"/>
          <p:cNvSpPr/>
          <p:nvPr/>
        </p:nvSpPr>
        <p:spPr>
          <a:xfrm>
            <a:off x="548640" y="2743200"/>
            <a:ext cx="3749040" cy="914400"/>
          </a:xfrm>
          <a:prstGeom prst="roundRect">
            <a:avLst>
              <a:gd name="adj" fmla="val 10000"/>
            </a:avLst>
          </a:prstGeom>
          <a:solidFill>
            <a:srgbClr val="EEF3F9"/>
          </a:solidFill>
          <a:ln w="9525">
            <a:solidFill>
              <a:srgbClr val="D6E2EF"/>
            </a:solidFill>
            <a:prstDash val="solid"/>
          </a:ln>
        </p:spPr>
      </p:sp>
      <p:sp>
        <p:nvSpPr>
          <p:cNvPr id="13" name="actividad 3 circle"/>
          <p:cNvSpPr/>
          <p:nvPr/>
        </p:nvSpPr>
        <p:spPr>
          <a:xfrm>
            <a:off x="731520" y="2926080"/>
            <a:ext cx="548640" cy="548640"/>
          </a:xfrm>
          <a:prstGeom prst="ellipse">
            <a:avLst/>
          </a:prstGeom>
          <a:solidFill>
            <a:srgbClr val="005C9F"/>
          </a:solidFill>
          <a:ln w="12700">
            <a:solidFill>
              <a:srgbClr val="005C9F"/>
            </a:solidFill>
            <a:prstDash val="solid"/>
          </a:ln>
        </p:spPr>
      </p:sp>
      <p:pic>
        <p:nvPicPr>
          <p:cNvPr id="14" name="actividad 3 icon" descr="preencoded.png">    </p:cNvPr>
          <p:cNvPicPr>
            <a:picLocks noChangeAspect="1"/>
          </p:cNvPicPr>
          <p:nvPr/>
        </p:nvPicPr>
        <p:blipFill>
          <a:blip r:embed="rId3"/>
          <a:stretch>
            <a:fillRect/>
          </a:stretch>
        </p:blipFill>
        <p:spPr>
          <a:xfrm>
            <a:off x="852221" y="3046781"/>
            <a:ext cx="307238" cy="307238"/>
          </a:xfrm>
          <a:prstGeom prst="rect">
            <a:avLst/>
          </a:prstGeom>
        </p:spPr>
      </p:pic>
      <p:sp>
        <p:nvSpPr>
          <p:cNvPr id="15" name="Text 10"/>
          <p:cNvSpPr txBox="1"/>
          <p:nvPr/>
        </p:nvSpPr>
        <p:spPr>
          <a:xfrm>
            <a:off x="1417320" y="2798064"/>
            <a:ext cx="2788920" cy="804672"/>
          </a:xfrm>
          <a:prstGeom prst="rect">
            <a:avLst/>
          </a:prstGeom>
          <a:noFill/>
          <a:ln/>
        </p:spPr>
        <p:txBody>
          <a:bodyPr wrap="square" lIns="0" tIns="0" rIns="0" bIns="0" rtlCol="0" anchor="ctr"/>
          <a:lstStyle/>
          <a:p>
            <a:pPr indent="0" marL="0">
              <a:buNone/>
            </a:pPr>
            <a:r>
              <a:rPr lang="en-US" sz="1150" dirty="0">
                <a:solidFill>
                  <a:schemeClr val="tx1"/>
                </a:solidFill>
              </a:rPr>
              <a:t>Gestión de actualización de las garantías (3,500, Promedio de 60 Mensual)</a:t>
            </a:r>
            <a:endParaRPr lang="en-US" sz="1150" dirty="0"/>
          </a:p>
        </p:txBody>
      </p:sp>
      <p:sp>
        <p:nvSpPr>
          <p:cNvPr id="16" name="actividad 4"/>
          <p:cNvSpPr/>
          <p:nvPr/>
        </p:nvSpPr>
        <p:spPr>
          <a:xfrm>
            <a:off x="4526280" y="2743200"/>
            <a:ext cx="3749040" cy="914400"/>
          </a:xfrm>
          <a:prstGeom prst="roundRect">
            <a:avLst>
              <a:gd name="adj" fmla="val 10000"/>
            </a:avLst>
          </a:prstGeom>
          <a:solidFill>
            <a:srgbClr val="EEF3F9"/>
          </a:solidFill>
          <a:ln w="9525">
            <a:solidFill>
              <a:srgbClr val="D6E2EF"/>
            </a:solidFill>
            <a:prstDash val="solid"/>
          </a:ln>
        </p:spPr>
      </p:sp>
      <p:sp>
        <p:nvSpPr>
          <p:cNvPr id="17" name="actividad 4 circle"/>
          <p:cNvSpPr/>
          <p:nvPr/>
        </p:nvSpPr>
        <p:spPr>
          <a:xfrm>
            <a:off x="4709160" y="2926080"/>
            <a:ext cx="548640" cy="548640"/>
          </a:xfrm>
          <a:prstGeom prst="ellipse">
            <a:avLst/>
          </a:prstGeom>
          <a:solidFill>
            <a:srgbClr val="005C9F"/>
          </a:solidFill>
          <a:ln w="12700">
            <a:solidFill>
              <a:srgbClr val="005C9F"/>
            </a:solidFill>
            <a:prstDash val="solid"/>
          </a:ln>
        </p:spPr>
      </p:sp>
      <p:pic>
        <p:nvPicPr>
          <p:cNvPr id="18" name="actividad 4 icon" descr="preencoded.png">    </p:cNvPr>
          <p:cNvPicPr>
            <a:picLocks noChangeAspect="1"/>
          </p:cNvPicPr>
          <p:nvPr/>
        </p:nvPicPr>
        <p:blipFill>
          <a:blip r:embed="rId4"/>
          <a:stretch>
            <a:fillRect/>
          </a:stretch>
        </p:blipFill>
        <p:spPr>
          <a:xfrm>
            <a:off x="4829861" y="3046781"/>
            <a:ext cx="307238" cy="307238"/>
          </a:xfrm>
          <a:prstGeom prst="rect">
            <a:avLst/>
          </a:prstGeom>
        </p:spPr>
      </p:pic>
      <p:sp>
        <p:nvSpPr>
          <p:cNvPr id="19" name="Text 13"/>
          <p:cNvSpPr txBox="1"/>
          <p:nvPr/>
        </p:nvSpPr>
        <p:spPr>
          <a:xfrm>
            <a:off x="5394960" y="2798064"/>
            <a:ext cx="2788920" cy="804672"/>
          </a:xfrm>
          <a:prstGeom prst="rect">
            <a:avLst/>
          </a:prstGeom>
          <a:noFill/>
          <a:ln/>
        </p:spPr>
        <p:txBody>
          <a:bodyPr wrap="square" lIns="0" tIns="0" rIns="0" bIns="0" rtlCol="0" anchor="ctr"/>
          <a:lstStyle/>
          <a:p>
            <a:pPr indent="0" marL="0">
              <a:buNone/>
            </a:pPr>
            <a:r>
              <a:rPr lang="en-US" sz="1150" dirty="0">
                <a:solidFill>
                  <a:schemeClr val="tx1"/>
                </a:solidFill>
              </a:rPr>
              <a:t>Asignación de garantías a peritos</a:t>
            </a:r>
            <a:endParaRPr lang="en-US" sz="1150" dirty="0"/>
          </a:p>
        </p:txBody>
      </p:sp>
      <p:sp>
        <p:nvSpPr>
          <p:cNvPr id="20" name="actividad 5"/>
          <p:cNvSpPr/>
          <p:nvPr/>
        </p:nvSpPr>
        <p:spPr>
          <a:xfrm>
            <a:off x="548640" y="3794760"/>
            <a:ext cx="3749040" cy="914400"/>
          </a:xfrm>
          <a:prstGeom prst="roundRect">
            <a:avLst>
              <a:gd name="adj" fmla="val 10000"/>
            </a:avLst>
          </a:prstGeom>
          <a:solidFill>
            <a:srgbClr val="EEF3F9"/>
          </a:solidFill>
          <a:ln w="9525">
            <a:solidFill>
              <a:srgbClr val="D6E2EF"/>
            </a:solidFill>
            <a:prstDash val="solid"/>
          </a:ln>
        </p:spPr>
      </p:sp>
      <p:sp>
        <p:nvSpPr>
          <p:cNvPr id="21" name="actividad 5 circle"/>
          <p:cNvSpPr/>
          <p:nvPr/>
        </p:nvSpPr>
        <p:spPr>
          <a:xfrm>
            <a:off x="731520" y="3977640"/>
            <a:ext cx="548640" cy="548640"/>
          </a:xfrm>
          <a:prstGeom prst="ellipse">
            <a:avLst/>
          </a:prstGeom>
          <a:solidFill>
            <a:srgbClr val="005C9F"/>
          </a:solidFill>
          <a:ln w="12700">
            <a:solidFill>
              <a:srgbClr val="005C9F"/>
            </a:solidFill>
            <a:prstDash val="solid"/>
          </a:ln>
        </p:spPr>
      </p:sp>
      <p:pic>
        <p:nvPicPr>
          <p:cNvPr id="22" name="actividad 5 icon" descr="preencoded.png">    </p:cNvPr>
          <p:cNvPicPr>
            <a:picLocks noChangeAspect="1"/>
          </p:cNvPicPr>
          <p:nvPr/>
        </p:nvPicPr>
        <p:blipFill>
          <a:blip r:embed="rId5"/>
          <a:stretch>
            <a:fillRect/>
          </a:stretch>
        </p:blipFill>
        <p:spPr>
          <a:xfrm>
            <a:off x="852221" y="4098341"/>
            <a:ext cx="307238" cy="307238"/>
          </a:xfrm>
          <a:prstGeom prst="rect">
            <a:avLst/>
          </a:prstGeom>
        </p:spPr>
      </p:pic>
      <p:sp>
        <p:nvSpPr>
          <p:cNvPr id="23" name="Text 16"/>
          <p:cNvSpPr txBox="1"/>
          <p:nvPr/>
        </p:nvSpPr>
        <p:spPr>
          <a:xfrm>
            <a:off x="1417320" y="3849624"/>
            <a:ext cx="2788920" cy="804672"/>
          </a:xfrm>
          <a:prstGeom prst="rect">
            <a:avLst/>
          </a:prstGeom>
          <a:noFill/>
          <a:ln/>
        </p:spPr>
        <p:txBody>
          <a:bodyPr wrap="square" lIns="0" tIns="0" rIns="0" bIns="0" rtlCol="0" anchor="ctr"/>
          <a:lstStyle/>
          <a:p>
            <a:pPr indent="0" marL="0">
              <a:buNone/>
            </a:pPr>
            <a:r>
              <a:rPr lang="en-US" sz="1150" dirty="0">
                <a:solidFill>
                  <a:schemeClr val="tx1"/>
                </a:solidFill>
              </a:rPr>
              <a:t>Recepción y revisión de Informes de avalúos</a:t>
            </a:r>
            <a:endParaRPr lang="en-US" sz="1150" dirty="0"/>
          </a:p>
        </p:txBody>
      </p:sp>
      <p:sp>
        <p:nvSpPr>
          <p:cNvPr id="24" name="actividad 6"/>
          <p:cNvSpPr/>
          <p:nvPr/>
        </p:nvSpPr>
        <p:spPr>
          <a:xfrm>
            <a:off x="4526280" y="3794760"/>
            <a:ext cx="3749040" cy="914400"/>
          </a:xfrm>
          <a:prstGeom prst="roundRect">
            <a:avLst>
              <a:gd name="adj" fmla="val 10000"/>
            </a:avLst>
          </a:prstGeom>
          <a:solidFill>
            <a:srgbClr val="EEF3F9"/>
          </a:solidFill>
          <a:ln w="9525">
            <a:solidFill>
              <a:srgbClr val="D6E2EF"/>
            </a:solidFill>
            <a:prstDash val="solid"/>
          </a:ln>
        </p:spPr>
      </p:sp>
      <p:sp>
        <p:nvSpPr>
          <p:cNvPr id="25" name="actividad 6 circle"/>
          <p:cNvSpPr/>
          <p:nvPr/>
        </p:nvSpPr>
        <p:spPr>
          <a:xfrm>
            <a:off x="4709160" y="3977640"/>
            <a:ext cx="548640" cy="548640"/>
          </a:xfrm>
          <a:prstGeom prst="ellipse">
            <a:avLst/>
          </a:prstGeom>
          <a:solidFill>
            <a:srgbClr val="005C9F"/>
          </a:solidFill>
          <a:ln w="12700">
            <a:solidFill>
              <a:srgbClr val="005C9F"/>
            </a:solidFill>
            <a:prstDash val="solid"/>
          </a:ln>
        </p:spPr>
      </p:sp>
      <p:pic>
        <p:nvPicPr>
          <p:cNvPr id="26" name="actividad 6 icon" descr="preencoded.png">    </p:cNvPr>
          <p:cNvPicPr>
            <a:picLocks noChangeAspect="1"/>
          </p:cNvPicPr>
          <p:nvPr/>
        </p:nvPicPr>
        <p:blipFill>
          <a:blip r:embed="rId6"/>
          <a:stretch>
            <a:fillRect/>
          </a:stretch>
        </p:blipFill>
        <p:spPr>
          <a:xfrm>
            <a:off x="4829861" y="4098341"/>
            <a:ext cx="307238" cy="307238"/>
          </a:xfrm>
          <a:prstGeom prst="rect">
            <a:avLst/>
          </a:prstGeom>
        </p:spPr>
      </p:pic>
      <p:sp>
        <p:nvSpPr>
          <p:cNvPr id="27" name="Text 19"/>
          <p:cNvSpPr txBox="1"/>
          <p:nvPr/>
        </p:nvSpPr>
        <p:spPr>
          <a:xfrm>
            <a:off x="5394960" y="3849624"/>
            <a:ext cx="2788920" cy="804672"/>
          </a:xfrm>
          <a:prstGeom prst="rect">
            <a:avLst/>
          </a:prstGeom>
          <a:noFill/>
          <a:ln/>
        </p:spPr>
        <p:txBody>
          <a:bodyPr wrap="square" lIns="0" tIns="0" rIns="0" bIns="0" rtlCol="0" anchor="ctr"/>
          <a:lstStyle/>
          <a:p>
            <a:pPr indent="0" marL="0">
              <a:buNone/>
            </a:pPr>
            <a:r>
              <a:rPr lang="en-US" sz="1150" dirty="0">
                <a:solidFill>
                  <a:schemeClr val="tx1"/>
                </a:solidFill>
              </a:rPr>
              <a:t>Pago a Peritos</a:t>
            </a:r>
            <a:endParaRPr lang="en-US" sz="1150" dirty="0"/>
          </a:p>
        </p:txBody>
      </p:sp>
      <p:sp>
        <p:nvSpPr>
          <p:cNvPr id="28" name="actividad 7"/>
          <p:cNvSpPr/>
          <p:nvPr/>
        </p:nvSpPr>
        <p:spPr>
          <a:xfrm>
            <a:off x="548640" y="4846320"/>
            <a:ext cx="3749040" cy="914400"/>
          </a:xfrm>
          <a:prstGeom prst="roundRect">
            <a:avLst>
              <a:gd name="adj" fmla="val 10000"/>
            </a:avLst>
          </a:prstGeom>
          <a:solidFill>
            <a:srgbClr val="EEF3F9"/>
          </a:solidFill>
          <a:ln w="9525">
            <a:solidFill>
              <a:srgbClr val="D6E2EF"/>
            </a:solidFill>
            <a:prstDash val="solid"/>
          </a:ln>
        </p:spPr>
      </p:sp>
      <p:sp>
        <p:nvSpPr>
          <p:cNvPr id="29" name="actividad 7 circle"/>
          <p:cNvSpPr/>
          <p:nvPr/>
        </p:nvSpPr>
        <p:spPr>
          <a:xfrm>
            <a:off x="731520" y="5029200"/>
            <a:ext cx="548640" cy="548640"/>
          </a:xfrm>
          <a:prstGeom prst="ellipse">
            <a:avLst/>
          </a:prstGeom>
          <a:solidFill>
            <a:srgbClr val="005C9F"/>
          </a:solidFill>
          <a:ln w="12700">
            <a:solidFill>
              <a:srgbClr val="005C9F"/>
            </a:solidFill>
            <a:prstDash val="solid"/>
          </a:ln>
        </p:spPr>
      </p:sp>
      <p:pic>
        <p:nvPicPr>
          <p:cNvPr id="30" name="actividad 7 icon" descr="preencoded.png">    </p:cNvPr>
          <p:cNvPicPr>
            <a:picLocks noChangeAspect="1"/>
          </p:cNvPicPr>
          <p:nvPr/>
        </p:nvPicPr>
        <p:blipFill>
          <a:blip r:embed="rId7"/>
          <a:stretch>
            <a:fillRect/>
          </a:stretch>
        </p:blipFill>
        <p:spPr>
          <a:xfrm>
            <a:off x="852221" y="5149901"/>
            <a:ext cx="307238" cy="307238"/>
          </a:xfrm>
          <a:prstGeom prst="rect">
            <a:avLst/>
          </a:prstGeom>
        </p:spPr>
      </p:pic>
      <p:sp>
        <p:nvSpPr>
          <p:cNvPr id="31" name="Text 22"/>
          <p:cNvSpPr txBox="1"/>
          <p:nvPr/>
        </p:nvSpPr>
        <p:spPr>
          <a:xfrm>
            <a:off x="1417320" y="4901184"/>
            <a:ext cx="2788920" cy="804672"/>
          </a:xfrm>
          <a:prstGeom prst="rect">
            <a:avLst/>
          </a:prstGeom>
          <a:noFill/>
          <a:ln/>
        </p:spPr>
        <p:txBody>
          <a:bodyPr wrap="square" lIns="0" tIns="0" rIns="0" bIns="0" rtlCol="0" anchor="ctr"/>
          <a:lstStyle/>
          <a:p>
            <a:pPr indent="0" marL="0">
              <a:buNone/>
            </a:pPr>
            <a:r>
              <a:rPr lang="en-US" sz="1150" dirty="0">
                <a:solidFill>
                  <a:schemeClr val="tx1"/>
                </a:solidFill>
              </a:rPr>
              <a:t>Remisión a custodia de valores de los Informes de avalúos actualizados</a:t>
            </a:r>
            <a:endParaRPr lang="en-US" sz="1150" dirty="0"/>
          </a:p>
        </p:txBody>
      </p:sp>
      <p:sp>
        <p:nvSpPr>
          <p:cNvPr id="32" name="actividad 8"/>
          <p:cNvSpPr/>
          <p:nvPr/>
        </p:nvSpPr>
        <p:spPr>
          <a:xfrm>
            <a:off x="4526280" y="4846320"/>
            <a:ext cx="3749040" cy="914400"/>
          </a:xfrm>
          <a:prstGeom prst="roundRect">
            <a:avLst>
              <a:gd name="adj" fmla="val 10000"/>
            </a:avLst>
          </a:prstGeom>
          <a:solidFill>
            <a:srgbClr val="EEF3F9"/>
          </a:solidFill>
          <a:ln w="9525">
            <a:solidFill>
              <a:srgbClr val="D6E2EF"/>
            </a:solidFill>
            <a:prstDash val="solid"/>
          </a:ln>
        </p:spPr>
      </p:sp>
      <p:sp>
        <p:nvSpPr>
          <p:cNvPr id="33" name="actividad 8 circle"/>
          <p:cNvSpPr/>
          <p:nvPr/>
        </p:nvSpPr>
        <p:spPr>
          <a:xfrm>
            <a:off x="4709160" y="5029200"/>
            <a:ext cx="548640" cy="548640"/>
          </a:xfrm>
          <a:prstGeom prst="ellipse">
            <a:avLst/>
          </a:prstGeom>
          <a:solidFill>
            <a:srgbClr val="005C9F"/>
          </a:solidFill>
          <a:ln w="12700">
            <a:solidFill>
              <a:srgbClr val="005C9F"/>
            </a:solidFill>
            <a:prstDash val="solid"/>
          </a:ln>
        </p:spPr>
      </p:sp>
      <p:pic>
        <p:nvPicPr>
          <p:cNvPr id="34" name="actividad 8 icon" descr="preencoded.png">    </p:cNvPr>
          <p:cNvPicPr>
            <a:picLocks noChangeAspect="1"/>
          </p:cNvPicPr>
          <p:nvPr/>
        </p:nvPicPr>
        <p:blipFill>
          <a:blip r:embed="rId8"/>
          <a:stretch>
            <a:fillRect/>
          </a:stretch>
        </p:blipFill>
        <p:spPr>
          <a:xfrm>
            <a:off x="4829861" y="5149901"/>
            <a:ext cx="307238" cy="307238"/>
          </a:xfrm>
          <a:prstGeom prst="rect">
            <a:avLst/>
          </a:prstGeom>
        </p:spPr>
      </p:pic>
      <p:sp>
        <p:nvSpPr>
          <p:cNvPr id="35" name="Text 25"/>
          <p:cNvSpPr txBox="1"/>
          <p:nvPr/>
        </p:nvSpPr>
        <p:spPr>
          <a:xfrm>
            <a:off x="5394960" y="4901184"/>
            <a:ext cx="2788920" cy="804672"/>
          </a:xfrm>
          <a:prstGeom prst="rect">
            <a:avLst/>
          </a:prstGeom>
          <a:noFill/>
          <a:ln/>
        </p:spPr>
        <p:txBody>
          <a:bodyPr wrap="square" lIns="0" tIns="0" rIns="0" bIns="0" rtlCol="0" anchor="ctr"/>
          <a:lstStyle/>
          <a:p>
            <a:pPr indent="0" marL="0">
              <a:buNone/>
            </a:pPr>
            <a:r>
              <a:rPr lang="en-US" sz="1150" dirty="0">
                <a:solidFill>
                  <a:schemeClr val="tx1"/>
                </a:solidFill>
              </a:rPr>
              <a:t>Verifica que la información actualizada ingresada por el Analista de Cartera, este correcta</a:t>
            </a:r>
            <a:endParaRPr lang="en-US" sz="1150" dirty="0"/>
          </a:p>
        </p:txBody>
      </p:sp>
      <p:sp>
        <p:nvSpPr>
          <p:cNvPr id="36" name="riesgos stat"/>
          <p:cNvSpPr/>
          <p:nvPr/>
        </p:nvSpPr>
        <p:spPr>
          <a:xfrm>
            <a:off x="8686800" y="1691640"/>
            <a:ext cx="2926080" cy="4069080"/>
          </a:xfrm>
          <a:prstGeom prst="roundRect">
            <a:avLst>
              <a:gd name="adj" fmla="val 3125"/>
            </a:avLst>
          </a:prstGeom>
          <a:solidFill>
            <a:srgbClr val="00376E"/>
          </a:solidFill>
          <a:ln w="9525">
            <a:solidFill>
              <a:srgbClr val="00376E"/>
            </a:solidFill>
            <a:prstDash val="solid"/>
          </a:ln>
        </p:spPr>
      </p:sp>
      <p:sp>
        <p:nvSpPr>
          <p:cNvPr id="37" name="Text 27"/>
          <p:cNvSpPr txBox="1"/>
          <p:nvPr/>
        </p:nvSpPr>
        <p:spPr>
          <a:xfrm>
            <a:off x="8961120" y="1920240"/>
            <a:ext cx="2377440" cy="1097280"/>
          </a:xfrm>
          <a:prstGeom prst="rect">
            <a:avLst/>
          </a:prstGeom>
          <a:noFill/>
          <a:ln/>
        </p:spPr>
        <p:txBody>
          <a:bodyPr wrap="square" lIns="0" tIns="0" rIns="0" bIns="0" rtlCol="0" anchor="t"/>
          <a:lstStyle/>
          <a:p>
            <a:pPr indent="0" marL="0">
              <a:buNone/>
            </a:pPr>
            <a:r>
              <a:rPr lang="en-US" sz="7200" b="1" dirty="0">
                <a:solidFill>
                  <a:schemeClr val="accent2"/>
                </a:solidFill>
              </a:rPr>
              <a:t>2</a:t>
            </a:r>
            <a:endParaRPr lang="en-US" sz="7200" dirty="0"/>
          </a:p>
        </p:txBody>
      </p:sp>
      <p:sp>
        <p:nvSpPr>
          <p:cNvPr id="38" name="Text 28"/>
          <p:cNvSpPr txBox="1"/>
          <p:nvPr/>
        </p:nvSpPr>
        <p:spPr>
          <a:xfrm>
            <a:off x="8961120" y="3063240"/>
            <a:ext cx="2423160" cy="868680"/>
          </a:xfrm>
          <a:prstGeom prst="rect">
            <a:avLst/>
          </a:prstGeom>
          <a:noFill/>
          <a:ln/>
        </p:spPr>
        <p:txBody>
          <a:bodyPr wrap="square" lIns="0" tIns="0" rIns="0" bIns="0" rtlCol="0" anchor="t"/>
          <a:lstStyle/>
          <a:p>
            <a:pPr indent="0" marL="0">
              <a:buNone/>
            </a:pPr>
            <a:r>
              <a:rPr lang="en-US" sz="1500" b="1" dirty="0">
                <a:solidFill>
                  <a:schemeClr val="bg1"/>
                </a:solidFill>
              </a:rPr>
              <a:t>Proceso actual realizado por 2 Personas</a:t>
            </a:r>
            <a:endParaRPr lang="en-US" sz="1500" dirty="0"/>
          </a:p>
        </p:txBody>
      </p:sp>
      <p:sp>
        <p:nvSpPr>
          <p:cNvPr id="39" name="Text 29"/>
          <p:cNvSpPr txBox="1"/>
          <p:nvPr/>
        </p:nvSpPr>
        <p:spPr>
          <a:xfrm>
            <a:off x="8961120" y="4069080"/>
            <a:ext cx="2423160" cy="1097280"/>
          </a:xfrm>
          <a:prstGeom prst="rect">
            <a:avLst/>
          </a:prstGeom>
          <a:noFill/>
          <a:ln/>
        </p:spPr>
        <p:txBody>
          <a:bodyPr wrap="square" lIns="0" tIns="0" rIns="0" bIns="0" rtlCol="0" anchor="t"/>
          <a:lstStyle/>
          <a:p>
            <a:pPr indent="0" marL="0">
              <a:buNone/>
            </a:pPr>
            <a:r>
              <a:rPr lang="en-US" sz="1300" dirty="0">
                <a:solidFill>
                  <a:schemeClr val="accent5"/>
                </a:solidFill>
              </a:rPr>
              <a:t>8 actividades críticas y una cartera de 3,500 garantías</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318 expedientes hipotecarios ingresados (ene–sep)</a:t>
            </a:r>
            <a:endParaRPr lang="en-US" sz="2400" dirty="0"/>
          </a:p>
        </p:txBody>
      </p:sp>
      <p:sp>
        <p:nvSpPr>
          <p:cNvPr id="3" name="Text 1"/>
          <p:cNvSpPr txBox="1"/>
          <p:nvPr/>
        </p:nvSpPr>
        <p:spPr>
          <a:xfrm>
            <a:off x="548640" y="1188720"/>
            <a:ext cx="11064240" cy="502920"/>
          </a:xfrm>
          <a:prstGeom prst="rect">
            <a:avLst/>
          </a:prstGeom>
          <a:noFill/>
          <a:ln/>
        </p:spPr>
        <p:txBody>
          <a:bodyPr wrap="square" lIns="0" tIns="0" rIns="0" bIns="0" rtlCol="0" anchor="t"/>
          <a:lstStyle/>
          <a:p>
            <a:pPr indent="0" marL="0">
              <a:buNone/>
            </a:pPr>
            <a:r>
              <a:rPr lang="en-US" sz="1300" b="1" i="1" dirty="0">
                <a:solidFill>
                  <a:schemeClr val="tx2"/>
                </a:solidFill>
              </a:rPr>
              <a:t>Punto 1: </a:t>
            </a:r>
            <a:pPr indent="0" marL="0">
              <a:buNone/>
            </a:pPr>
            <a:r>
              <a:rPr lang="en-US" sz="1300" i="1" dirty="0">
                <a:solidFill>
                  <a:schemeClr val="tx1"/>
                </a:solidFill>
              </a:rPr>
              <a:t>Este es el numero de expediente ingresados al Depto de Creditos y que pudieron haber quedado en las diferentes</a:t>
            </a:r>
            <a:endParaRPr lang="en-US" sz="1300" dirty="0"/>
          </a:p>
        </p:txBody>
      </p:sp>
      <p:graphicFrame>
        <p:nvGraphicFramePr>
          <p:cNvPr id="4" name="Chart 0" descr=""/>
          <p:cNvGraphicFramePr/>
          <p:nvPr/>
        </p:nvGraphicFramePr>
        <p:xfrm>
          <a:off x="548640" y="1783080"/>
          <a:ext cx="7955280" cy="3063240"/>
        </p:xfrm>
        <a:graphic xmlns:a="http://schemas.openxmlformats.org/drawingml/2006/main">
          <a:graphicData uri="http://schemas.openxmlformats.org/drawingml/2006/chart">
            <c:chart xmlns:c="http://schemas.openxmlformats.org/drawingml/2006/chart" r:id="rId1"/>
          </a:graphicData>
        </a:graphic>
      </p:graphicFrame>
      <p:sp>
        <p:nvSpPr>
          <p:cNvPr id="5" name="total stat"/>
          <p:cNvSpPr/>
          <p:nvPr/>
        </p:nvSpPr>
        <p:spPr>
          <a:xfrm>
            <a:off x="8869680" y="1874520"/>
            <a:ext cx="2743200" cy="2880360"/>
          </a:xfrm>
          <a:prstGeom prst="roundRect">
            <a:avLst>
              <a:gd name="adj" fmla="val 3333"/>
            </a:avLst>
          </a:prstGeom>
          <a:solidFill>
            <a:srgbClr val="00376E"/>
          </a:solidFill>
          <a:ln w="9525">
            <a:solidFill>
              <a:srgbClr val="00376E"/>
            </a:solidFill>
            <a:prstDash val="solid"/>
          </a:ln>
        </p:spPr>
      </p:sp>
      <p:sp>
        <p:nvSpPr>
          <p:cNvPr id="6" name="Text 3"/>
          <p:cNvSpPr txBox="1"/>
          <p:nvPr/>
        </p:nvSpPr>
        <p:spPr>
          <a:xfrm>
            <a:off x="9098280" y="2103120"/>
            <a:ext cx="2377440" cy="1097280"/>
          </a:xfrm>
          <a:prstGeom prst="rect">
            <a:avLst/>
          </a:prstGeom>
          <a:noFill/>
          <a:ln/>
        </p:spPr>
        <p:txBody>
          <a:bodyPr wrap="square" lIns="0" tIns="0" rIns="0" bIns="0" rtlCol="0" anchor="t"/>
          <a:lstStyle/>
          <a:p>
            <a:pPr indent="0" marL="0">
              <a:buNone/>
            </a:pPr>
            <a:r>
              <a:rPr lang="en-US" sz="5600" b="1" dirty="0">
                <a:solidFill>
                  <a:schemeClr val="accent2"/>
                </a:solidFill>
              </a:rPr>
              <a:t>318</a:t>
            </a:r>
            <a:endParaRPr lang="en-US" sz="5600" dirty="0"/>
          </a:p>
        </p:txBody>
      </p:sp>
      <p:sp>
        <p:nvSpPr>
          <p:cNvPr id="7" name="Text 4"/>
          <p:cNvSpPr txBox="1"/>
          <p:nvPr/>
        </p:nvSpPr>
        <p:spPr>
          <a:xfrm>
            <a:off x="9098280" y="3200400"/>
            <a:ext cx="2377440" cy="365760"/>
          </a:xfrm>
          <a:prstGeom prst="rect">
            <a:avLst/>
          </a:prstGeom>
          <a:noFill/>
          <a:ln/>
        </p:spPr>
        <p:txBody>
          <a:bodyPr wrap="square" lIns="0" tIns="0" rIns="0" bIns="0" rtlCol="0" anchor="t"/>
          <a:lstStyle/>
          <a:p>
            <a:pPr indent="0" marL="0">
              <a:buNone/>
            </a:pPr>
            <a:r>
              <a:rPr lang="en-US" sz="1600" b="1" dirty="0">
                <a:solidFill>
                  <a:schemeClr val="bg1"/>
                </a:solidFill>
              </a:rPr>
              <a:t>Total general</a:t>
            </a:r>
            <a:endParaRPr lang="en-US" sz="1600" dirty="0"/>
          </a:p>
        </p:txBody>
      </p:sp>
      <p:sp>
        <p:nvSpPr>
          <p:cNvPr id="8" name="Text 5"/>
          <p:cNvSpPr txBox="1"/>
          <p:nvPr/>
        </p:nvSpPr>
        <p:spPr>
          <a:xfrm>
            <a:off x="9098280" y="3657600"/>
            <a:ext cx="2331720" cy="822960"/>
          </a:xfrm>
          <a:prstGeom prst="rect">
            <a:avLst/>
          </a:prstGeom>
          <a:noFill/>
          <a:ln/>
        </p:spPr>
        <p:txBody>
          <a:bodyPr wrap="square" lIns="0" tIns="0" rIns="0" bIns="0" rtlCol="0" anchor="t"/>
          <a:lstStyle/>
          <a:p>
            <a:pPr indent="0" marL="0">
              <a:buNone/>
            </a:pPr>
            <a:r>
              <a:rPr lang="en-US" sz="1300" dirty="0">
                <a:solidFill>
                  <a:schemeClr val="accent5"/>
                </a:solidFill>
              </a:rPr>
              <a:t>≈ 35 expedientes por mes en promedio</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1737360"/>
                <a:gridCol w="868680"/>
                <a:gridCol w="868680"/>
                <a:gridCol w="868680"/>
                <a:gridCol w="868680"/>
                <a:gridCol w="868680"/>
                <a:gridCol w="868680"/>
                <a:gridCol w="868680"/>
                <a:gridCol w="868680"/>
                <a:gridCol w="868680"/>
                <a:gridCol w="1508760"/>
              </a:tblGrid>
              <a:tr h="365760">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Producto</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ene</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feb</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mar</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abr</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may</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jun</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jul</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ago</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sep</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Total general</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r>
              <a:tr h="365760">
                <a:tc>
                  <a:txBody>
                    <a:bodyPr/>
                    <a:lstStyle/>
                    <a:p>
                      <a:pPr algn="l" indent="0" marL="0">
                        <a:buNone/>
                      </a:pPr>
                      <a:r>
                        <a:rPr lang="en-US" sz="1100" b="1" dirty="0">
                          <a:solidFill>
                            <a:srgbClr val="1E2A3A"/>
                          </a:solidFill>
                          <a:latin typeface="Century Gothic" pitchFamily="34" charset="0"/>
                          <a:ea typeface="Century Gothic" pitchFamily="34" charset="-122"/>
                          <a:cs typeface="Century Gothic" pitchFamily="34" charset="-120"/>
                        </a:rPr>
                        <a:t>HIPOTECARIO</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28</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22</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46</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30</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41</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35</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44</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33</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A"/>
                          </a:solidFill>
                          <a:latin typeface="Century Gothic" pitchFamily="34" charset="0"/>
                          <a:ea typeface="Century Gothic" pitchFamily="34" charset="-122"/>
                          <a:cs typeface="Century Gothic" pitchFamily="34" charset="-120"/>
                        </a:rPr>
                        <a:t>39</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2A3A"/>
                          </a:solidFill>
                          <a:latin typeface="Century Gothic" pitchFamily="34" charset="0"/>
                          <a:ea typeface="Century Gothic" pitchFamily="34" charset="-122"/>
                          <a:cs typeface="Century Gothic" pitchFamily="34" charset="-120"/>
                        </a:rPr>
                        <a:t>318</a:t>
                      </a:r>
                      <a:endParaRPr lang="en-US" sz="11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777240" y="594360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Fuente: correo de Yaneth</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5 expedientes al mes, en promedio, no se tramitan</a:t>
            </a:r>
            <a:endParaRPr lang="en-US" sz="2400" dirty="0"/>
          </a:p>
        </p:txBody>
      </p:sp>
      <p:sp>
        <p:nvSpPr>
          <p:cNvPr id="3" name="Text 1"/>
          <p:cNvSpPr txBox="1"/>
          <p:nvPr/>
        </p:nvSpPr>
        <p:spPr>
          <a:xfrm>
            <a:off x="548640" y="1188720"/>
            <a:ext cx="11064240" cy="502920"/>
          </a:xfrm>
          <a:prstGeom prst="rect">
            <a:avLst/>
          </a:prstGeom>
          <a:noFill/>
          <a:ln/>
        </p:spPr>
        <p:txBody>
          <a:bodyPr wrap="square" lIns="0" tIns="0" rIns="0" bIns="0" rtlCol="0" anchor="t"/>
          <a:lstStyle/>
          <a:p>
            <a:pPr indent="0" marL="0">
              <a:buNone/>
            </a:pPr>
            <a:r>
              <a:rPr lang="en-US" sz="1300" b="1" i="1" dirty="0">
                <a:solidFill>
                  <a:schemeClr val="tx2"/>
                </a:solidFill>
              </a:rPr>
              <a:t>Punto 2: </a:t>
            </a:r>
            <a:pPr indent="0" marL="0">
              <a:buNone/>
            </a:pPr>
            <a:r>
              <a:rPr lang="en-US" sz="1300" i="1" dirty="0">
                <a:solidFill>
                  <a:schemeClr val="tx1"/>
                </a:solidFill>
              </a:rPr>
              <a:t>El promedio de casos que no se tramitan es de 5 expedientes más o menos, entre los 3 peritos.</a:t>
            </a:r>
            <a:endParaRPr lang="en-US" sz="1300" dirty="0"/>
          </a:p>
        </p:txBody>
      </p:sp>
      <p:graphicFrame>
        <p:nvGraphicFramePr>
          <p:cNvPr id="4" name="Chart 0" descr=""/>
          <p:cNvGraphicFramePr/>
          <p:nvPr/>
        </p:nvGraphicFramePr>
        <p:xfrm>
          <a:off x="548640" y="1783080"/>
          <a:ext cx="7955280" cy="3063240"/>
        </p:xfrm>
        <a:graphic xmlns:a="http://schemas.openxmlformats.org/drawingml/2006/main">
          <a:graphicData uri="http://schemas.openxmlformats.org/drawingml/2006/chart">
            <c:chart xmlns:c="http://schemas.openxmlformats.org/drawingml/2006/chart" r:id="rId1"/>
          </a:graphicData>
        </a:graphic>
      </p:graphicFrame>
      <p:sp>
        <p:nvSpPr>
          <p:cNvPr id="5" name="prom stat"/>
          <p:cNvSpPr/>
          <p:nvPr/>
        </p:nvSpPr>
        <p:spPr>
          <a:xfrm>
            <a:off x="8869680" y="1874520"/>
            <a:ext cx="2743200" cy="2880360"/>
          </a:xfrm>
          <a:prstGeom prst="roundRect">
            <a:avLst>
              <a:gd name="adj" fmla="val 3333"/>
            </a:avLst>
          </a:prstGeom>
          <a:solidFill>
            <a:srgbClr val="00376E"/>
          </a:solidFill>
          <a:ln w="9525">
            <a:solidFill>
              <a:srgbClr val="00376E"/>
            </a:solidFill>
            <a:prstDash val="solid"/>
          </a:ln>
        </p:spPr>
      </p:sp>
      <p:sp>
        <p:nvSpPr>
          <p:cNvPr id="6" name="Text 3"/>
          <p:cNvSpPr txBox="1"/>
          <p:nvPr/>
        </p:nvSpPr>
        <p:spPr>
          <a:xfrm>
            <a:off x="9098280" y="2103120"/>
            <a:ext cx="2377440" cy="1097280"/>
          </a:xfrm>
          <a:prstGeom prst="rect">
            <a:avLst/>
          </a:prstGeom>
          <a:noFill/>
          <a:ln/>
        </p:spPr>
        <p:txBody>
          <a:bodyPr wrap="square" lIns="0" tIns="0" rIns="0" bIns="0" rtlCol="0" anchor="t"/>
          <a:lstStyle/>
          <a:p>
            <a:pPr indent="0" marL="0">
              <a:buNone/>
            </a:pPr>
            <a:r>
              <a:rPr lang="en-US" sz="5600" b="1" dirty="0">
                <a:solidFill>
                  <a:schemeClr val="accent2"/>
                </a:solidFill>
              </a:rPr>
              <a:t>5</a:t>
            </a:r>
            <a:endParaRPr lang="en-US" sz="5600" dirty="0"/>
          </a:p>
        </p:txBody>
      </p:sp>
      <p:sp>
        <p:nvSpPr>
          <p:cNvPr id="7" name="Text 4"/>
          <p:cNvSpPr txBox="1"/>
          <p:nvPr/>
        </p:nvSpPr>
        <p:spPr>
          <a:xfrm>
            <a:off x="9098280" y="3200400"/>
            <a:ext cx="2377440" cy="365760"/>
          </a:xfrm>
          <a:prstGeom prst="rect">
            <a:avLst/>
          </a:prstGeom>
          <a:noFill/>
          <a:ln/>
        </p:spPr>
        <p:txBody>
          <a:bodyPr wrap="square" lIns="0" tIns="0" rIns="0" bIns="0" rtlCol="0" anchor="t"/>
          <a:lstStyle/>
          <a:p>
            <a:pPr indent="0" marL="0">
              <a:buNone/>
            </a:pPr>
            <a:r>
              <a:rPr lang="en-US" sz="1600" b="1" dirty="0">
                <a:solidFill>
                  <a:schemeClr val="bg1"/>
                </a:solidFill>
              </a:rPr>
              <a:t>Promedio mensual</a:t>
            </a:r>
            <a:endParaRPr lang="en-US" sz="1600" dirty="0"/>
          </a:p>
        </p:txBody>
      </p:sp>
      <p:sp>
        <p:nvSpPr>
          <p:cNvPr id="8" name="Text 5"/>
          <p:cNvSpPr txBox="1"/>
          <p:nvPr/>
        </p:nvSpPr>
        <p:spPr>
          <a:xfrm>
            <a:off x="9098280" y="3657600"/>
            <a:ext cx="2331720" cy="914400"/>
          </a:xfrm>
          <a:prstGeom prst="rect">
            <a:avLst/>
          </a:prstGeom>
          <a:noFill/>
          <a:ln/>
        </p:spPr>
        <p:txBody>
          <a:bodyPr wrap="square" lIns="0" tIns="0" rIns="0" bIns="0" rtlCol="0" anchor="t"/>
          <a:lstStyle/>
          <a:p>
            <a:pPr indent="0" marL="0">
              <a:buNone/>
            </a:pPr>
            <a:r>
              <a:rPr lang="en-US" sz="1300" dirty="0">
                <a:solidFill>
                  <a:schemeClr val="accent5"/>
                </a:solidFill>
              </a:rPr>
              <a:t>Septiembre alcanzó 9 casos, el valor más alto del período</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777240"/>
                <a:gridCol w="868680"/>
                <a:gridCol w="1005840"/>
                <a:gridCol w="868680"/>
                <a:gridCol w="868680"/>
                <a:gridCol w="868680"/>
                <a:gridCol w="868680"/>
                <a:gridCol w="868680"/>
                <a:gridCol w="1005840"/>
                <a:gridCol w="1371600"/>
                <a:gridCol w="777240"/>
              </a:tblGrid>
              <a:tr h="365760">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MES</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ENERO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FEBRERO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MARZO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ABRIL</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MAYO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JUNIO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JULIO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AGOSTO</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SEPTIEMBRE</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c>
                  <a:txBody>
                    <a:bodyP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PROM</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00376E"/>
                    </a:solidFill>
                  </a:tcPr>
                </a:tc>
              </a:tr>
              <a:tr h="365760">
                <a:tc>
                  <a:txBody>
                    <a:bodyPr/>
                    <a:lstStyle/>
                    <a:p>
                      <a:pPr algn="l" indent="0" marL="0">
                        <a:buNone/>
                      </a:pPr>
                      <a:r>
                        <a:rPr lang="en-US" sz="1000" b="1" dirty="0">
                          <a:solidFill>
                            <a:srgbClr val="1E2A3A"/>
                          </a:solidFill>
                          <a:latin typeface="Century Gothic" pitchFamily="34" charset="0"/>
                          <a:ea typeface="Century Gothic" pitchFamily="34" charset="-122"/>
                          <a:cs typeface="Century Gothic" pitchFamily="34" charset="-120"/>
                        </a:rPr>
                        <a:t>PROM</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4</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7</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3</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3</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3</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4</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5</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6</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A3A"/>
                          </a:solidFill>
                          <a:latin typeface="Century Gothic" pitchFamily="34" charset="0"/>
                          <a:ea typeface="Century Gothic" pitchFamily="34" charset="-122"/>
                          <a:cs typeface="Century Gothic" pitchFamily="34" charset="-120"/>
                        </a:rPr>
                        <a:t>9</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2A3A"/>
                          </a:solidFill>
                          <a:latin typeface="Century Gothic" pitchFamily="34" charset="0"/>
                          <a:ea typeface="Century Gothic" pitchFamily="34" charset="-122"/>
                          <a:cs typeface="Century Gothic" pitchFamily="34" charset="-120"/>
                        </a:rPr>
                        <a:t>5</a:t>
                      </a:r>
                      <a:endParaRPr lang="en-US" sz="1000" dirty="0">
                        <a:latin typeface="Century Gothic" charset="0"/>
                        <a:ea typeface="Century Gothic" charset="0"/>
                        <a:cs typeface="Century Gothic" charset="0"/>
                      </a:endParaRPr>
                    </a:p>
                  </a:txBody>
                  <a:tcPr marL="91440" marR="91440" marT="45720" marB="45720" anchor="ctr">
                    <a:lnL w="9525" cap="flat" cmpd="sng" algn="ctr">
                      <a:solidFill>
                        <a:srgbClr val="D6E2EF"/>
                      </a:solidFill>
                      <a:prstDash val="solid"/>
                      <a:round/>
                      <a:headEnd type="none" w="med" len="med"/>
                      <a:tailEnd type="none" w="med" len="med"/>
                    </a:lnL>
                    <a:lnR w="9525" cap="flat" cmpd="sng" algn="ctr">
                      <a:solidFill>
                        <a:srgbClr val="D6E2EF"/>
                      </a:solidFill>
                      <a:prstDash val="solid"/>
                      <a:round/>
                      <a:headEnd type="none" w="med" len="med"/>
                      <a:tailEnd type="none" w="med" len="med"/>
                    </a:lnR>
                    <a:lnT w="9525" cap="flat" cmpd="sng" algn="ctr">
                      <a:solidFill>
                        <a:srgbClr val="D6E2EF"/>
                      </a:solidFill>
                      <a:prstDash val="solid"/>
                      <a:round/>
                      <a:headEnd type="none" w="med" len="med"/>
                      <a:tailEnd type="none" w="med" len="med"/>
                    </a:lnT>
                    <a:lnB w="9525" cap="flat" cmpd="sng" algn="ctr">
                      <a:solidFill>
                        <a:srgbClr val="D6E2EF"/>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777240" y="594360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Fuente: correo de Yaneth</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nda lateral" descr="/tmp/claude-0/-home-user-riesgo/74e9c8ad-7a43-5903-a089-2edd8047c387/scratchpad/assets/wave_side.png">    </p:cNvPr>
          <p:cNvPicPr>
            <a:picLocks noChangeAspect="1"/>
          </p:cNvPicPr>
          <p:nvPr/>
        </p:nvPicPr>
        <p:blipFill>
          <a:blip r:embed="rId1"/>
          <a:stretch>
            <a:fillRect/>
          </a:stretch>
        </p:blipFill>
        <p:spPr>
          <a:xfrm>
            <a:off x="8065008" y="0"/>
            <a:ext cx="4123944" cy="6858000"/>
          </a:xfrm>
          <a:prstGeom prst="rect">
            <a:avLst/>
          </a:prstGeom>
        </p:spPr>
      </p:pic>
      <p:sp>
        <p:nvSpPr>
          <p:cNvPr id="3" name="marca titulo"/>
          <p:cNvSpPr/>
          <p:nvPr/>
        </p:nvSpPr>
        <p:spPr>
          <a:xfrm>
            <a:off x="548640" y="502920"/>
            <a:ext cx="91440" cy="457200"/>
          </a:xfrm>
          <a:prstGeom prst="rect">
            <a:avLst/>
          </a:prstGeom>
          <a:solidFill>
            <a:srgbClr val="0070C0"/>
          </a:solidFill>
          <a:ln w="12700">
            <a:solidFill>
              <a:srgbClr val="0070C0"/>
            </a:solidFill>
            <a:prstDash val="solid"/>
          </a:ln>
        </p:spPr>
      </p:sp>
      <p:sp>
        <p:nvSpPr>
          <p:cNvPr id="4" name="Text 1"/>
          <p:cNvSpPr txBox="1"/>
          <p:nvPr/>
        </p:nvSpPr>
        <p:spPr>
          <a:xfrm>
            <a:off x="777240" y="347472"/>
            <a:ext cx="7315200" cy="777240"/>
          </a:xfrm>
          <a:prstGeom prst="rect">
            <a:avLst/>
          </a:prstGeom>
          <a:noFill/>
          <a:ln/>
        </p:spPr>
        <p:txBody>
          <a:bodyPr wrap="square" lIns="0" tIns="0" rIns="0" bIns="0" rtlCol="0" anchor="ctr"/>
          <a:lstStyle/>
          <a:p>
            <a:pPr indent="0" marL="0">
              <a:buNone/>
            </a:pPr>
            <a:r>
              <a:rPr lang="en-US" sz="2400" b="1" dirty="0">
                <a:solidFill>
                  <a:schemeClr val="tx2"/>
                </a:solidFill>
              </a:rPr>
              <a:t>60 avalúos actualizados al mes</a:t>
            </a:r>
            <a:endParaRPr lang="en-US" sz="2400" dirty="0"/>
          </a:p>
        </p:txBody>
      </p:sp>
      <p:sp>
        <p:nvSpPr>
          <p:cNvPr id="5" name="stat 1"/>
          <p:cNvSpPr/>
          <p:nvPr/>
        </p:nvSpPr>
        <p:spPr>
          <a:xfrm>
            <a:off x="548640" y="1371600"/>
            <a:ext cx="7132320" cy="1280160"/>
          </a:xfrm>
          <a:prstGeom prst="roundRect">
            <a:avLst>
              <a:gd name="adj" fmla="val 7143"/>
            </a:avLst>
          </a:prstGeom>
          <a:solidFill>
            <a:srgbClr val="00376E"/>
          </a:solidFill>
          <a:ln w="9525">
            <a:solidFill>
              <a:srgbClr val="00376E"/>
            </a:solidFill>
            <a:prstDash val="solid"/>
          </a:ln>
        </p:spPr>
      </p:sp>
      <p:sp>
        <p:nvSpPr>
          <p:cNvPr id="6" name="stat 1 circle"/>
          <p:cNvSpPr/>
          <p:nvPr/>
        </p:nvSpPr>
        <p:spPr>
          <a:xfrm>
            <a:off x="822960" y="1645920"/>
            <a:ext cx="731520" cy="731520"/>
          </a:xfrm>
          <a:prstGeom prst="ellipse">
            <a:avLst/>
          </a:prstGeom>
          <a:solidFill>
            <a:srgbClr val="9CC3F0"/>
          </a:solidFill>
          <a:ln w="12700">
            <a:solidFill>
              <a:srgbClr val="9CC3F0"/>
            </a:solidFill>
            <a:prstDash val="solid"/>
          </a:ln>
        </p:spPr>
      </p:sp>
      <p:pic>
        <p:nvPicPr>
          <p:cNvPr id="7" name="stat 1 icon" descr="preencoded.png">    </p:cNvPr>
          <p:cNvPicPr>
            <a:picLocks noChangeAspect="1"/>
          </p:cNvPicPr>
          <p:nvPr/>
        </p:nvPicPr>
        <p:blipFill>
          <a:blip r:embed="rId2"/>
          <a:stretch>
            <a:fillRect/>
          </a:stretch>
        </p:blipFill>
        <p:spPr>
          <a:xfrm>
            <a:off x="983894" y="1806854"/>
            <a:ext cx="409651" cy="409651"/>
          </a:xfrm>
          <a:prstGeom prst="rect">
            <a:avLst/>
          </a:prstGeom>
        </p:spPr>
      </p:pic>
      <p:sp>
        <p:nvSpPr>
          <p:cNvPr id="8" name="Text 4"/>
          <p:cNvSpPr txBox="1"/>
          <p:nvPr/>
        </p:nvSpPr>
        <p:spPr>
          <a:xfrm>
            <a:off x="1783080" y="1371600"/>
            <a:ext cx="2286000" cy="1280160"/>
          </a:xfrm>
          <a:prstGeom prst="rect">
            <a:avLst/>
          </a:prstGeom>
          <a:noFill/>
          <a:ln/>
        </p:spPr>
        <p:txBody>
          <a:bodyPr wrap="square" lIns="0" tIns="0" rIns="0" bIns="0" rtlCol="0" anchor="ctr"/>
          <a:lstStyle/>
          <a:p>
            <a:pPr indent="0" marL="0">
              <a:buNone/>
            </a:pPr>
            <a:r>
              <a:rPr lang="en-US" sz="4400" b="1" dirty="0">
                <a:solidFill>
                  <a:schemeClr val="accent2"/>
                </a:solidFill>
              </a:rPr>
              <a:t>60</a:t>
            </a:r>
            <a:endParaRPr lang="en-US" sz="4400" dirty="0"/>
          </a:p>
        </p:txBody>
      </p:sp>
      <p:sp>
        <p:nvSpPr>
          <p:cNvPr id="9" name="Text 5"/>
          <p:cNvSpPr txBox="1"/>
          <p:nvPr/>
        </p:nvSpPr>
        <p:spPr>
          <a:xfrm>
            <a:off x="4114800" y="1371600"/>
            <a:ext cx="3429000" cy="1280160"/>
          </a:xfrm>
          <a:prstGeom prst="rect">
            <a:avLst/>
          </a:prstGeom>
          <a:noFill/>
          <a:ln/>
        </p:spPr>
        <p:txBody>
          <a:bodyPr wrap="square" lIns="0" tIns="0" rIns="0" bIns="0" rtlCol="0" anchor="ctr"/>
          <a:lstStyle/>
          <a:p>
            <a:pPr indent="0" marL="0">
              <a:buNone/>
            </a:pPr>
            <a:r>
              <a:rPr lang="en-US" sz="1600" b="1" dirty="0">
                <a:solidFill>
                  <a:srgbClr val="FFFFFF"/>
                </a:solidFill>
              </a:rPr>
              <a:t>Promedio mensual de actualización</a:t>
            </a:r>
            <a:endParaRPr lang="en-US" sz="1600" dirty="0"/>
          </a:p>
          <a:p>
            <a:pPr indent="0" marL="0">
              <a:buNone/>
            </a:pPr>
            <a:r>
              <a:rPr lang="en-US" sz="1300" dirty="0">
                <a:solidFill>
                  <a:srgbClr val="C9DBF2"/>
                </a:solidFill>
              </a:rPr>
              <a:t>avalúos actualizados cada mes</a:t>
            </a:r>
            <a:endParaRPr lang="en-US" sz="1600" dirty="0"/>
          </a:p>
        </p:txBody>
      </p:sp>
      <p:sp>
        <p:nvSpPr>
          <p:cNvPr id="10" name="stat 2"/>
          <p:cNvSpPr/>
          <p:nvPr/>
        </p:nvSpPr>
        <p:spPr>
          <a:xfrm>
            <a:off x="548640" y="2834640"/>
            <a:ext cx="7132320" cy="1280160"/>
          </a:xfrm>
          <a:prstGeom prst="roundRect">
            <a:avLst>
              <a:gd name="adj" fmla="val 7143"/>
            </a:avLst>
          </a:prstGeom>
          <a:solidFill>
            <a:srgbClr val="EEF3F9"/>
          </a:solidFill>
          <a:ln w="9525">
            <a:solidFill>
              <a:srgbClr val="D6E2EF"/>
            </a:solidFill>
            <a:prstDash val="solid"/>
          </a:ln>
        </p:spPr>
      </p:sp>
      <p:sp>
        <p:nvSpPr>
          <p:cNvPr id="11" name="stat 2 circle"/>
          <p:cNvSpPr/>
          <p:nvPr/>
        </p:nvSpPr>
        <p:spPr>
          <a:xfrm>
            <a:off x="822960" y="3108960"/>
            <a:ext cx="731520" cy="731520"/>
          </a:xfrm>
          <a:prstGeom prst="ellipse">
            <a:avLst/>
          </a:prstGeom>
          <a:solidFill>
            <a:srgbClr val="005C9F"/>
          </a:solidFill>
          <a:ln w="12700">
            <a:solidFill>
              <a:srgbClr val="005C9F"/>
            </a:solidFill>
            <a:prstDash val="solid"/>
          </a:ln>
        </p:spPr>
      </p:sp>
      <p:pic>
        <p:nvPicPr>
          <p:cNvPr id="12" name="stat 2 icon" descr="preencoded.png">    </p:cNvPr>
          <p:cNvPicPr>
            <a:picLocks noChangeAspect="1"/>
          </p:cNvPicPr>
          <p:nvPr/>
        </p:nvPicPr>
        <p:blipFill>
          <a:blip r:embed="rId3"/>
          <a:stretch>
            <a:fillRect/>
          </a:stretch>
        </p:blipFill>
        <p:spPr>
          <a:xfrm>
            <a:off x="983894" y="3269894"/>
            <a:ext cx="409651" cy="409651"/>
          </a:xfrm>
          <a:prstGeom prst="rect">
            <a:avLst/>
          </a:prstGeom>
        </p:spPr>
      </p:pic>
      <p:sp>
        <p:nvSpPr>
          <p:cNvPr id="13" name="Text 8"/>
          <p:cNvSpPr txBox="1"/>
          <p:nvPr/>
        </p:nvSpPr>
        <p:spPr>
          <a:xfrm>
            <a:off x="1783080" y="2834640"/>
            <a:ext cx="2286000" cy="1280160"/>
          </a:xfrm>
          <a:prstGeom prst="rect">
            <a:avLst/>
          </a:prstGeom>
          <a:noFill/>
          <a:ln/>
        </p:spPr>
        <p:txBody>
          <a:bodyPr wrap="square" lIns="0" tIns="0" rIns="0" bIns="0" rtlCol="0" anchor="ctr"/>
          <a:lstStyle/>
          <a:p>
            <a:pPr indent="0" marL="0">
              <a:buNone/>
            </a:pPr>
            <a:r>
              <a:rPr lang="en-US" sz="4400" b="1" dirty="0">
                <a:solidFill>
                  <a:schemeClr val="accent1"/>
                </a:solidFill>
              </a:rPr>
              <a:t>3,500</a:t>
            </a:r>
            <a:endParaRPr lang="en-US" sz="4400" dirty="0"/>
          </a:p>
        </p:txBody>
      </p:sp>
      <p:sp>
        <p:nvSpPr>
          <p:cNvPr id="14" name="Text 9"/>
          <p:cNvSpPr txBox="1"/>
          <p:nvPr/>
        </p:nvSpPr>
        <p:spPr>
          <a:xfrm>
            <a:off x="4114800" y="2834640"/>
            <a:ext cx="3429000" cy="1280160"/>
          </a:xfrm>
          <a:prstGeom prst="rect">
            <a:avLst/>
          </a:prstGeom>
          <a:noFill/>
          <a:ln/>
        </p:spPr>
        <p:txBody>
          <a:bodyPr wrap="square" lIns="0" tIns="0" rIns="0" bIns="0" rtlCol="0" anchor="ctr"/>
          <a:lstStyle/>
          <a:p>
            <a:pPr indent="0" marL="0">
              <a:buNone/>
            </a:pPr>
            <a:r>
              <a:rPr lang="en-US" sz="1600" b="1" dirty="0">
                <a:solidFill>
                  <a:srgbClr val="00376E"/>
                </a:solidFill>
              </a:rPr>
              <a:t>Garantías a gestionar</a:t>
            </a:r>
            <a:endParaRPr lang="en-US" sz="1600" dirty="0"/>
          </a:p>
          <a:p>
            <a:pPr indent="0" marL="0">
              <a:buNone/>
            </a:pPr>
            <a:r>
              <a:rPr lang="en-US" sz="1300" dirty="0">
                <a:solidFill>
                  <a:srgbClr val="1E2A3A"/>
                </a:solidFill>
              </a:rPr>
              <a:t>cartera bajo actualización y monitoreo</a:t>
            </a:r>
            <a:endParaRPr lang="en-US" sz="1600" dirty="0"/>
          </a:p>
        </p:txBody>
      </p:sp>
      <p:sp>
        <p:nvSpPr>
          <p:cNvPr id="15" name="stat 3"/>
          <p:cNvSpPr/>
          <p:nvPr/>
        </p:nvSpPr>
        <p:spPr>
          <a:xfrm>
            <a:off x="548640" y="4297680"/>
            <a:ext cx="7132320" cy="1280160"/>
          </a:xfrm>
          <a:prstGeom prst="roundRect">
            <a:avLst>
              <a:gd name="adj" fmla="val 7143"/>
            </a:avLst>
          </a:prstGeom>
          <a:solidFill>
            <a:srgbClr val="EEF3F9"/>
          </a:solidFill>
          <a:ln w="9525">
            <a:solidFill>
              <a:srgbClr val="D6E2EF"/>
            </a:solidFill>
            <a:prstDash val="solid"/>
          </a:ln>
        </p:spPr>
      </p:sp>
      <p:sp>
        <p:nvSpPr>
          <p:cNvPr id="16" name="stat 3 circle"/>
          <p:cNvSpPr/>
          <p:nvPr/>
        </p:nvSpPr>
        <p:spPr>
          <a:xfrm>
            <a:off x="822960" y="4572000"/>
            <a:ext cx="731520" cy="731520"/>
          </a:xfrm>
          <a:prstGeom prst="ellipse">
            <a:avLst/>
          </a:prstGeom>
          <a:solidFill>
            <a:srgbClr val="005C9F"/>
          </a:solidFill>
          <a:ln w="12700">
            <a:solidFill>
              <a:srgbClr val="005C9F"/>
            </a:solidFill>
            <a:prstDash val="solid"/>
          </a:ln>
        </p:spPr>
      </p:sp>
      <p:pic>
        <p:nvPicPr>
          <p:cNvPr id="17" name="stat 3 icon" descr="preencoded.png">    </p:cNvPr>
          <p:cNvPicPr>
            <a:picLocks noChangeAspect="1"/>
          </p:cNvPicPr>
          <p:nvPr/>
        </p:nvPicPr>
        <p:blipFill>
          <a:blip r:embed="rId4"/>
          <a:stretch>
            <a:fillRect/>
          </a:stretch>
        </p:blipFill>
        <p:spPr>
          <a:xfrm>
            <a:off x="983894" y="4732934"/>
            <a:ext cx="409651" cy="409651"/>
          </a:xfrm>
          <a:prstGeom prst="rect">
            <a:avLst/>
          </a:prstGeom>
        </p:spPr>
      </p:pic>
      <p:sp>
        <p:nvSpPr>
          <p:cNvPr id="18" name="Text 12"/>
          <p:cNvSpPr txBox="1"/>
          <p:nvPr/>
        </p:nvSpPr>
        <p:spPr>
          <a:xfrm>
            <a:off x="1783080" y="4297680"/>
            <a:ext cx="2286000" cy="128016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19" name="Text 13"/>
          <p:cNvSpPr txBox="1"/>
          <p:nvPr/>
        </p:nvSpPr>
        <p:spPr>
          <a:xfrm>
            <a:off x="4114800" y="4297680"/>
            <a:ext cx="3429000" cy="1280160"/>
          </a:xfrm>
          <a:prstGeom prst="rect">
            <a:avLst/>
          </a:prstGeom>
          <a:noFill/>
          <a:ln/>
        </p:spPr>
        <p:txBody>
          <a:bodyPr wrap="square" lIns="0" tIns="0" rIns="0" bIns="0" rtlCol="0" anchor="ctr"/>
          <a:lstStyle/>
          <a:p>
            <a:pPr indent="0" marL="0">
              <a:buNone/>
            </a:pPr>
            <a:r>
              <a:rPr lang="en-US" sz="1600" b="1" dirty="0">
                <a:solidFill>
                  <a:srgbClr val="00376E"/>
                </a:solidFill>
              </a:rPr>
              <a:t>Personas responsables</a:t>
            </a:r>
            <a:endParaRPr lang="en-US" sz="1600" dirty="0"/>
          </a:p>
          <a:p>
            <a:pPr indent="0" marL="0">
              <a:buNone/>
            </a:pPr>
            <a:r>
              <a:rPr lang="en-US" sz="1300" dirty="0">
                <a:solidFill>
                  <a:srgbClr val="1E2A3A"/>
                </a:solidFill>
              </a:rPr>
              <a:t>Departamento de Administración de Riesgos</a:t>
            </a:r>
            <a:endParaRPr lang="en-US" sz="1600" dirty="0"/>
          </a:p>
        </p:txBody>
      </p:sp>
      <p:sp>
        <p:nvSpPr>
          <p:cNvPr id="20" name="Text 14"/>
          <p:cNvSpPr txBox="1"/>
          <p:nvPr/>
        </p:nvSpPr>
        <p:spPr>
          <a:xfrm>
            <a:off x="777240" y="594360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Fuente: datos de Sarita (actualización de avalúos) y Resumen Ejecutivo</a:t>
            </a:r>
            <a:endParaRPr lang="en-US" sz="1000" dirty="0"/>
          </a:p>
        </p:txBody>
      </p:sp>
      <p:pic>
        <p:nvPicPr>
          <p:cNvPr id="21" name="logo" descr="/tmp/claude-0/-home-user-riesgo/74e9c8ad-7a43-5903-a089-2edd8047c387/scratchpad/assets/logo_white.png">    </p:cNvPr>
          <p:cNvPicPr>
            <a:picLocks noChangeAspect="1"/>
          </p:cNvPicPr>
          <p:nvPr/>
        </p:nvPicPr>
        <p:blipFill>
          <a:blip r:embed="rId5"/>
          <a:stretch>
            <a:fillRect/>
          </a:stretch>
        </p:blipFill>
        <p:spPr>
          <a:xfrm>
            <a:off x="10460736" y="5449824"/>
            <a:ext cx="1399032" cy="9418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Riesgo identificado en la gestión actual de avalúos</a:t>
            </a:r>
            <a:endParaRPr lang="en-US" sz="2400" dirty="0"/>
          </a:p>
        </p:txBody>
      </p:sp>
      <p:sp>
        <p:nvSpPr>
          <p:cNvPr id="3" name="riesgo alto"/>
          <p:cNvSpPr/>
          <p:nvPr/>
        </p:nvSpPr>
        <p:spPr>
          <a:xfrm>
            <a:off x="548640" y="1371600"/>
            <a:ext cx="11064240" cy="2148840"/>
          </a:xfrm>
          <a:prstGeom prst="roundRect">
            <a:avLst>
              <a:gd name="adj" fmla="val 4255"/>
            </a:avLst>
          </a:prstGeom>
          <a:solidFill>
            <a:srgbClr val="C62828"/>
          </a:solidFill>
          <a:ln w="9525">
            <a:solidFill>
              <a:srgbClr val="C62828"/>
            </a:solidFill>
            <a:prstDash val="solid"/>
          </a:ln>
        </p:spPr>
      </p:sp>
      <p:pic>
        <p:nvPicPr>
          <p:cNvPr id="4" name="riesgo icon" descr="preencoded.png">    </p:cNvPr>
          <p:cNvPicPr>
            <a:picLocks noChangeAspect="1"/>
          </p:cNvPicPr>
          <p:nvPr/>
        </p:nvPicPr>
        <p:blipFill>
          <a:blip r:embed="rId1"/>
          <a:stretch>
            <a:fillRect/>
          </a:stretch>
        </p:blipFill>
        <p:spPr>
          <a:xfrm>
            <a:off x="914400" y="1783080"/>
            <a:ext cx="1280160" cy="1280160"/>
          </a:xfrm>
          <a:prstGeom prst="rect">
            <a:avLst/>
          </a:prstGeom>
        </p:spPr>
      </p:pic>
      <p:sp>
        <p:nvSpPr>
          <p:cNvPr id="5" name="Text 2"/>
          <p:cNvSpPr txBox="1"/>
          <p:nvPr/>
        </p:nvSpPr>
        <p:spPr>
          <a:xfrm>
            <a:off x="2560320" y="1600200"/>
            <a:ext cx="8686800" cy="548640"/>
          </a:xfrm>
          <a:prstGeom prst="rect">
            <a:avLst/>
          </a:prstGeom>
          <a:noFill/>
          <a:ln/>
        </p:spPr>
        <p:txBody>
          <a:bodyPr wrap="square" lIns="0" tIns="0" rIns="0" bIns="0" rtlCol="0" anchor="t"/>
          <a:lstStyle/>
          <a:p>
            <a:pPr indent="0" marL="0">
              <a:buNone/>
            </a:pPr>
            <a:r>
              <a:rPr lang="en-US" sz="2400" b="1" dirty="0">
                <a:solidFill>
                  <a:schemeClr val="bg1"/>
                </a:solidFill>
              </a:rPr>
              <a:t>Riesgo Alto</a:t>
            </a:r>
            <a:endParaRPr lang="en-US" sz="2400" dirty="0"/>
          </a:p>
        </p:txBody>
      </p:sp>
      <p:sp>
        <p:nvSpPr>
          <p:cNvPr id="6" name="Text 3"/>
          <p:cNvSpPr txBox="1"/>
          <p:nvPr/>
        </p:nvSpPr>
        <p:spPr>
          <a:xfrm>
            <a:off x="2560320" y="2194560"/>
            <a:ext cx="8778240" cy="1234440"/>
          </a:xfrm>
          <a:prstGeom prst="rect">
            <a:avLst/>
          </a:prstGeom>
          <a:noFill/>
          <a:ln/>
        </p:spPr>
        <p:txBody>
          <a:bodyPr wrap="square" lIns="0" tIns="0" rIns="0" bIns="0" rtlCol="0" anchor="t"/>
          <a:lstStyle/>
          <a:p>
            <a:pPr indent="0" marL="0">
              <a:buNone/>
            </a:pPr>
            <a:r>
              <a:rPr lang="en-US" sz="1500" dirty="0">
                <a:solidFill>
                  <a:schemeClr val="bg1"/>
                </a:solidFill>
              </a:rPr>
              <a:t>Con la administración actual, no existe un área de control centralizada, que garantice el cumplimiento normativo del Informes de Avalúos, seguimiento, Monitoreo de calidad de información de la garantía.</a:t>
            </a:r>
            <a:endParaRPr lang="en-US" sz="1500" dirty="0"/>
          </a:p>
        </p:txBody>
      </p:sp>
      <p:sp>
        <p:nvSpPr>
          <p:cNvPr id="7" name="riesgo card 1"/>
          <p:cNvSpPr/>
          <p:nvPr/>
        </p:nvSpPr>
        <p:spPr>
          <a:xfrm>
            <a:off x="548640" y="3794760"/>
            <a:ext cx="5394960" cy="2011680"/>
          </a:xfrm>
          <a:prstGeom prst="roundRect">
            <a:avLst>
              <a:gd name="adj" fmla="val 4545"/>
            </a:avLst>
          </a:prstGeom>
          <a:solidFill>
            <a:srgbClr val="EEF3F9"/>
          </a:solidFill>
          <a:ln w="9525">
            <a:solidFill>
              <a:srgbClr val="D6E2EF"/>
            </a:solidFill>
            <a:prstDash val="solid"/>
          </a:ln>
        </p:spPr>
      </p:sp>
      <p:sp>
        <p:nvSpPr>
          <p:cNvPr id="8" name="riesgo 1 circle"/>
          <p:cNvSpPr/>
          <p:nvPr/>
        </p:nvSpPr>
        <p:spPr>
          <a:xfrm>
            <a:off x="914400" y="4343400"/>
            <a:ext cx="914400" cy="914400"/>
          </a:xfrm>
          <a:prstGeom prst="ellipse">
            <a:avLst/>
          </a:prstGeom>
          <a:solidFill>
            <a:srgbClr val="FFFFFF"/>
          </a:solidFill>
          <a:ln w="12700">
            <a:solidFill>
              <a:srgbClr val="FFFFFF"/>
            </a:solidFill>
            <a:prstDash val="solid"/>
          </a:ln>
        </p:spPr>
      </p:sp>
      <p:pic>
        <p:nvPicPr>
          <p:cNvPr id="9" name="riesgo 1 icon" descr="preencoded.png">    </p:cNvPr>
          <p:cNvPicPr>
            <a:picLocks noChangeAspect="1"/>
          </p:cNvPicPr>
          <p:nvPr/>
        </p:nvPicPr>
        <p:blipFill>
          <a:blip r:embed="rId2"/>
          <a:stretch>
            <a:fillRect/>
          </a:stretch>
        </p:blipFill>
        <p:spPr>
          <a:xfrm>
            <a:off x="1115568" y="4544568"/>
            <a:ext cx="512064" cy="512064"/>
          </a:xfrm>
          <a:prstGeom prst="rect">
            <a:avLst/>
          </a:prstGeom>
        </p:spPr>
      </p:pic>
      <p:sp>
        <p:nvSpPr>
          <p:cNvPr id="10" name="Text 6"/>
          <p:cNvSpPr txBox="1"/>
          <p:nvPr/>
        </p:nvSpPr>
        <p:spPr>
          <a:xfrm>
            <a:off x="2103120" y="3977640"/>
            <a:ext cx="3611880" cy="1645920"/>
          </a:xfrm>
          <a:prstGeom prst="rect">
            <a:avLst/>
          </a:prstGeom>
          <a:noFill/>
          <a:ln/>
        </p:spPr>
        <p:txBody>
          <a:bodyPr wrap="square" lIns="0" tIns="0" rIns="0" bIns="0" rtlCol="0" anchor="ctr"/>
          <a:lstStyle/>
          <a:p>
            <a:pPr indent="0" marL="0">
              <a:buNone/>
            </a:pPr>
            <a:r>
              <a:rPr lang="en-US" sz="1600" b="1" dirty="0">
                <a:solidFill>
                  <a:schemeClr val="tx2"/>
                </a:solidFill>
              </a:rPr>
              <a:t>Observaciones reiterativas por parte de la SSF</a:t>
            </a:r>
            <a:endParaRPr lang="en-US" sz="1600" dirty="0"/>
          </a:p>
        </p:txBody>
      </p:sp>
      <p:sp>
        <p:nvSpPr>
          <p:cNvPr id="11" name="riesgo card 2"/>
          <p:cNvSpPr/>
          <p:nvPr/>
        </p:nvSpPr>
        <p:spPr>
          <a:xfrm>
            <a:off x="6217920" y="3794760"/>
            <a:ext cx="5394960" cy="2011680"/>
          </a:xfrm>
          <a:prstGeom prst="roundRect">
            <a:avLst>
              <a:gd name="adj" fmla="val 4545"/>
            </a:avLst>
          </a:prstGeom>
          <a:solidFill>
            <a:srgbClr val="EEF3F9"/>
          </a:solidFill>
          <a:ln w="9525">
            <a:solidFill>
              <a:srgbClr val="D6E2EF"/>
            </a:solidFill>
            <a:prstDash val="solid"/>
          </a:ln>
        </p:spPr>
      </p:sp>
      <p:sp>
        <p:nvSpPr>
          <p:cNvPr id="12" name="riesgo 2 circle"/>
          <p:cNvSpPr/>
          <p:nvPr/>
        </p:nvSpPr>
        <p:spPr>
          <a:xfrm>
            <a:off x="6583680" y="4343400"/>
            <a:ext cx="914400" cy="914400"/>
          </a:xfrm>
          <a:prstGeom prst="ellipse">
            <a:avLst/>
          </a:prstGeom>
          <a:solidFill>
            <a:srgbClr val="FFFFFF"/>
          </a:solidFill>
          <a:ln w="12700">
            <a:solidFill>
              <a:srgbClr val="FFFFFF"/>
            </a:solidFill>
            <a:prstDash val="solid"/>
          </a:ln>
        </p:spPr>
      </p:sp>
      <p:pic>
        <p:nvPicPr>
          <p:cNvPr id="13" name="riesgo 2 icon" descr="preencoded.png">    </p:cNvPr>
          <p:cNvPicPr>
            <a:picLocks noChangeAspect="1"/>
          </p:cNvPicPr>
          <p:nvPr/>
        </p:nvPicPr>
        <p:blipFill>
          <a:blip r:embed="rId3"/>
          <a:stretch>
            <a:fillRect/>
          </a:stretch>
        </p:blipFill>
        <p:spPr>
          <a:xfrm>
            <a:off x="6784848" y="4544568"/>
            <a:ext cx="512064" cy="512064"/>
          </a:xfrm>
          <a:prstGeom prst="rect">
            <a:avLst/>
          </a:prstGeom>
        </p:spPr>
      </p:pic>
      <p:sp>
        <p:nvSpPr>
          <p:cNvPr id="14" name="Text 9"/>
          <p:cNvSpPr txBox="1"/>
          <p:nvPr/>
        </p:nvSpPr>
        <p:spPr>
          <a:xfrm>
            <a:off x="7772400" y="3977640"/>
            <a:ext cx="3611880" cy="1645920"/>
          </a:xfrm>
          <a:prstGeom prst="rect">
            <a:avLst/>
          </a:prstGeom>
          <a:noFill/>
          <a:ln/>
        </p:spPr>
        <p:txBody>
          <a:bodyPr wrap="square" lIns="0" tIns="0" rIns="0" bIns="0" rtlCol="0" anchor="ctr"/>
          <a:lstStyle/>
          <a:p>
            <a:pPr indent="0" marL="0">
              <a:buNone/>
            </a:pPr>
            <a:r>
              <a:rPr lang="en-US" sz="1600" b="1" dirty="0">
                <a:solidFill>
                  <a:schemeClr val="tx2"/>
                </a:solidFill>
              </a:rPr>
              <a:t>Falta de Políticas y Procedimientos internos que establezcan los lineamentos de cumplimiento</a:t>
            </a:r>
            <a:endParaRPr lang="en-US"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1371600" y="1554480"/>
            <a:ext cx="5486400" cy="960120"/>
          </a:xfrm>
          <a:prstGeom prst="rect">
            <a:avLst/>
          </a:prstGeom>
          <a:noFill/>
          <a:ln/>
        </p:spPr>
        <p:txBody>
          <a:bodyPr wrap="square" lIns="0" tIns="0" rIns="0" bIns="0" rtlCol="0" anchor="ctr"/>
          <a:lstStyle/>
          <a:p>
            <a:pPr algn="l" indent="0" marL="0">
              <a:buNone/>
            </a:pPr>
            <a:r>
              <a:rPr lang="en-US" sz="4000" b="1" dirty="0">
                <a:solidFill>
                  <a:schemeClr val="bg1"/>
                </a:solidFill>
              </a:rPr>
              <a:t>B. Propuesta</a:t>
            </a:r>
            <a:endParaRPr lang="en-US" sz="4000" dirty="0"/>
          </a:p>
        </p:txBody>
      </p:sp>
      <p:sp>
        <p:nvSpPr>
          <p:cNvPr id="3" name="Text 1"/>
          <p:cNvSpPr/>
          <p:nvPr>
            <p:ph idx="103" type="body" hasCustomPrompt="1"/>
          </p:nvPr>
        </p:nvSpPr>
        <p:spPr>
          <a:xfrm>
            <a:off x="1371600" y="2606040"/>
            <a:ext cx="4480560" cy="1371600"/>
          </a:xfrm>
          <a:prstGeom prst="rect">
            <a:avLst/>
          </a:prstGeom>
          <a:noFill/>
          <a:ln/>
        </p:spPr>
        <p:txBody>
          <a:bodyPr wrap="square" lIns="0" tIns="0" rIns="0" bIns="0" rtlCol="0" anchor="t"/>
          <a:lstStyle/>
          <a:p>
            <a:pPr indent="0" marL="0">
              <a:buNone/>
            </a:pPr>
            <a:r>
              <a:rPr lang="en-US" sz="1600" dirty="0">
                <a:solidFill>
                  <a:schemeClr val="bg1"/>
                </a:solidFill>
              </a:rPr>
              <a:t>Con el objetivo de mitigar el riesgo identificado en las gestiones de Avalúos, se solicita al Comité de Riesgo evaluar y autorizar lo siguiente:</a:t>
            </a:r>
            <a:endParaRPr lang="en-US" sz="1600" dirty="0"/>
          </a:p>
        </p:txBody>
      </p:sp>
      <p:sp>
        <p:nvSpPr>
          <p:cNvPr id="4" name="propuesta 1"/>
          <p:cNvSpPr/>
          <p:nvPr/>
        </p:nvSpPr>
        <p:spPr>
          <a:xfrm>
            <a:off x="7589520" y="3703320"/>
            <a:ext cx="4206240" cy="594360"/>
          </a:xfrm>
          <a:prstGeom prst="roundRect">
            <a:avLst>
              <a:gd name="adj" fmla="val 15385"/>
            </a:avLst>
          </a:prstGeom>
          <a:solidFill>
            <a:srgbClr val="EEF3F9"/>
          </a:solidFill>
          <a:ln w="9525">
            <a:solidFill>
              <a:srgbClr val="D6E2EF"/>
            </a:solidFill>
            <a:prstDash val="solid"/>
          </a:ln>
        </p:spPr>
      </p:sp>
      <p:sp>
        <p:nvSpPr>
          <p:cNvPr id="5" name="Text 3"/>
          <p:cNvSpPr txBox="1"/>
          <p:nvPr/>
        </p:nvSpPr>
        <p:spPr>
          <a:xfrm>
            <a:off x="7772400" y="3703320"/>
            <a:ext cx="365760" cy="594360"/>
          </a:xfrm>
          <a:prstGeom prst="rect">
            <a:avLst/>
          </a:prstGeom>
          <a:noFill/>
          <a:ln/>
        </p:spPr>
        <p:txBody>
          <a:bodyPr wrap="square" lIns="0" tIns="0" rIns="0" bIns="0" rtlCol="0" anchor="ctr"/>
          <a:lstStyle/>
          <a:p>
            <a:pPr indent="0" marL="0">
              <a:buNone/>
            </a:pPr>
            <a:r>
              <a:rPr lang="en-US" sz="2200" b="1" dirty="0">
                <a:solidFill>
                  <a:schemeClr val="accent1"/>
                </a:solidFill>
              </a:rPr>
              <a:t>1</a:t>
            </a:r>
            <a:endParaRPr lang="en-US" sz="2200" dirty="0"/>
          </a:p>
        </p:txBody>
      </p:sp>
      <p:sp>
        <p:nvSpPr>
          <p:cNvPr id="6" name="Text 4"/>
          <p:cNvSpPr txBox="1"/>
          <p:nvPr/>
        </p:nvSpPr>
        <p:spPr>
          <a:xfrm>
            <a:off x="8229600" y="3703320"/>
            <a:ext cx="3474720" cy="594360"/>
          </a:xfrm>
          <a:prstGeom prst="rect">
            <a:avLst/>
          </a:prstGeom>
          <a:noFill/>
          <a:ln/>
        </p:spPr>
        <p:txBody>
          <a:bodyPr wrap="square" lIns="0" tIns="0" rIns="0" bIns="0" rtlCol="0" anchor="ctr"/>
          <a:lstStyle/>
          <a:p>
            <a:pPr indent="0" marL="0">
              <a:buNone/>
            </a:pPr>
            <a:r>
              <a:rPr lang="en-US" sz="1300" b="1" dirty="0">
                <a:solidFill>
                  <a:schemeClr val="tx2"/>
                </a:solidFill>
              </a:rPr>
              <a:t>Política Administración de Avalúos</a:t>
            </a:r>
            <a:endParaRPr lang="en-US" sz="1300" dirty="0"/>
          </a:p>
        </p:txBody>
      </p:sp>
      <p:sp>
        <p:nvSpPr>
          <p:cNvPr id="7" name="propuesta 2"/>
          <p:cNvSpPr/>
          <p:nvPr/>
        </p:nvSpPr>
        <p:spPr>
          <a:xfrm>
            <a:off x="7589520" y="4416552"/>
            <a:ext cx="4206240" cy="594360"/>
          </a:xfrm>
          <a:prstGeom prst="roundRect">
            <a:avLst>
              <a:gd name="adj" fmla="val 15385"/>
            </a:avLst>
          </a:prstGeom>
          <a:solidFill>
            <a:srgbClr val="EEF3F9"/>
          </a:solidFill>
          <a:ln w="9525">
            <a:solidFill>
              <a:srgbClr val="D6E2EF"/>
            </a:solidFill>
            <a:prstDash val="solid"/>
          </a:ln>
        </p:spPr>
      </p:sp>
      <p:sp>
        <p:nvSpPr>
          <p:cNvPr id="8" name="Text 6"/>
          <p:cNvSpPr txBox="1"/>
          <p:nvPr/>
        </p:nvSpPr>
        <p:spPr>
          <a:xfrm>
            <a:off x="7772400" y="4416552"/>
            <a:ext cx="365760" cy="594360"/>
          </a:xfrm>
          <a:prstGeom prst="rect">
            <a:avLst/>
          </a:prstGeom>
          <a:noFill/>
          <a:ln/>
        </p:spPr>
        <p:txBody>
          <a:bodyPr wrap="square" lIns="0" tIns="0" rIns="0" bIns="0" rtlCol="0" anchor="ctr"/>
          <a:lstStyle/>
          <a:p>
            <a:pPr indent="0" marL="0">
              <a:buNone/>
            </a:pPr>
            <a:r>
              <a:rPr lang="en-US" sz="2200" b="1" dirty="0">
                <a:solidFill>
                  <a:schemeClr val="accent1"/>
                </a:solidFill>
              </a:rPr>
              <a:t>2</a:t>
            </a:r>
            <a:endParaRPr lang="en-US" sz="2200" dirty="0"/>
          </a:p>
        </p:txBody>
      </p:sp>
      <p:sp>
        <p:nvSpPr>
          <p:cNvPr id="9" name="Text 7"/>
          <p:cNvSpPr txBox="1"/>
          <p:nvPr/>
        </p:nvSpPr>
        <p:spPr>
          <a:xfrm>
            <a:off x="8229600" y="4416552"/>
            <a:ext cx="3474720" cy="594360"/>
          </a:xfrm>
          <a:prstGeom prst="rect">
            <a:avLst/>
          </a:prstGeom>
          <a:noFill/>
          <a:ln/>
        </p:spPr>
        <p:txBody>
          <a:bodyPr wrap="square" lIns="0" tIns="0" rIns="0" bIns="0" rtlCol="0" anchor="ctr"/>
          <a:lstStyle/>
          <a:p>
            <a:pPr indent="0" marL="0">
              <a:buNone/>
            </a:pPr>
            <a:r>
              <a:rPr lang="en-US" sz="1300" b="1" dirty="0">
                <a:solidFill>
                  <a:schemeClr val="tx2"/>
                </a:solidFill>
              </a:rPr>
              <a:t>Contratar un Revisor (NRP-27 art. 40)</a:t>
            </a:r>
            <a:endParaRPr lang="en-US" sz="1300" dirty="0"/>
          </a:p>
        </p:txBody>
      </p:sp>
      <p:sp>
        <p:nvSpPr>
          <p:cNvPr id="10" name="propuesta 3"/>
          <p:cNvSpPr/>
          <p:nvPr/>
        </p:nvSpPr>
        <p:spPr>
          <a:xfrm>
            <a:off x="7589520" y="5129784"/>
            <a:ext cx="4206240" cy="594360"/>
          </a:xfrm>
          <a:prstGeom prst="roundRect">
            <a:avLst>
              <a:gd name="adj" fmla="val 15385"/>
            </a:avLst>
          </a:prstGeom>
          <a:solidFill>
            <a:srgbClr val="EEF3F9"/>
          </a:solidFill>
          <a:ln w="9525">
            <a:solidFill>
              <a:srgbClr val="D6E2EF"/>
            </a:solidFill>
            <a:prstDash val="solid"/>
          </a:ln>
        </p:spPr>
      </p:sp>
      <p:sp>
        <p:nvSpPr>
          <p:cNvPr id="11" name="Text 9"/>
          <p:cNvSpPr txBox="1"/>
          <p:nvPr/>
        </p:nvSpPr>
        <p:spPr>
          <a:xfrm>
            <a:off x="7772400" y="5129784"/>
            <a:ext cx="365760" cy="594360"/>
          </a:xfrm>
          <a:prstGeom prst="rect">
            <a:avLst/>
          </a:prstGeom>
          <a:noFill/>
          <a:ln/>
        </p:spPr>
        <p:txBody>
          <a:bodyPr wrap="square" lIns="0" tIns="0" rIns="0" bIns="0" rtlCol="0" anchor="ctr"/>
          <a:lstStyle/>
          <a:p>
            <a:pPr indent="0" marL="0">
              <a:buNone/>
            </a:pPr>
            <a:r>
              <a:rPr lang="en-US" sz="2200" b="1" dirty="0">
                <a:solidFill>
                  <a:schemeClr val="accent1"/>
                </a:solidFill>
              </a:rPr>
              <a:t>3</a:t>
            </a:r>
            <a:endParaRPr lang="en-US" sz="2200" dirty="0"/>
          </a:p>
        </p:txBody>
      </p:sp>
      <p:sp>
        <p:nvSpPr>
          <p:cNvPr id="12" name="Text 10"/>
          <p:cNvSpPr txBox="1"/>
          <p:nvPr/>
        </p:nvSpPr>
        <p:spPr>
          <a:xfrm>
            <a:off x="8229600" y="5129784"/>
            <a:ext cx="3474720" cy="594360"/>
          </a:xfrm>
          <a:prstGeom prst="rect">
            <a:avLst/>
          </a:prstGeom>
          <a:noFill/>
          <a:ln/>
        </p:spPr>
        <p:txBody>
          <a:bodyPr wrap="square" lIns="0" tIns="0" rIns="0" bIns="0" rtlCol="0" anchor="ctr"/>
          <a:lstStyle/>
          <a:p>
            <a:pPr indent="0" marL="0">
              <a:buNone/>
            </a:pPr>
            <a:r>
              <a:rPr lang="en-US" sz="1300" b="1" dirty="0">
                <a:solidFill>
                  <a:schemeClr val="tx2"/>
                </a:solidFill>
              </a:rPr>
              <a:t>Departamento de Riesgo responsable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Propuesta 1: Política Administración de Avalúos</a:t>
            </a:r>
            <a:endParaRPr lang="en-US" sz="2400" dirty="0"/>
          </a:p>
        </p:txBody>
      </p:sp>
      <p:sp>
        <p:nvSpPr>
          <p:cNvPr id="3" name="Text 1"/>
          <p:cNvSpPr txBox="1"/>
          <p:nvPr/>
        </p:nvSpPr>
        <p:spPr>
          <a:xfrm>
            <a:off x="548640" y="1325880"/>
            <a:ext cx="11064240" cy="1097280"/>
          </a:xfrm>
          <a:prstGeom prst="rect">
            <a:avLst/>
          </a:prstGeom>
          <a:noFill/>
          <a:ln/>
        </p:spPr>
        <p:txBody>
          <a:bodyPr wrap="square" lIns="0" tIns="0" rIns="0" bIns="0" rtlCol="0" anchor="t"/>
          <a:lstStyle/>
          <a:p>
            <a:pPr indent="0" marL="0">
              <a:buNone/>
            </a:pPr>
            <a:r>
              <a:rPr lang="en-US" sz="1600" dirty="0">
                <a:solidFill>
                  <a:schemeClr val="tx1"/>
                </a:solidFill>
              </a:rPr>
              <a:t>Autorizar la Política Administración de Avalúos que Incluye el cumplimiento normativo vigente de la NRP-27 Contratación de Peritos valuadores y NCB 022 – Reservas. Para ser presenta al Consejo de Administración para su Aprobación</a:t>
            </a:r>
            <a:endParaRPr lang="en-US" sz="1600" dirty="0"/>
          </a:p>
        </p:txBody>
      </p:sp>
      <p:sp>
        <p:nvSpPr>
          <p:cNvPr id="4" name="norma 1"/>
          <p:cNvSpPr/>
          <p:nvPr/>
        </p:nvSpPr>
        <p:spPr>
          <a:xfrm>
            <a:off x="548640" y="2697480"/>
            <a:ext cx="2788920" cy="3017520"/>
          </a:xfrm>
          <a:prstGeom prst="roundRect">
            <a:avLst>
              <a:gd name="adj" fmla="val 3279"/>
            </a:avLst>
          </a:prstGeom>
          <a:solidFill>
            <a:srgbClr val="EEF3F9"/>
          </a:solidFill>
          <a:ln w="9525">
            <a:solidFill>
              <a:srgbClr val="D6E2EF"/>
            </a:solidFill>
            <a:prstDash val="solid"/>
          </a:ln>
        </p:spPr>
      </p:sp>
      <p:sp>
        <p:nvSpPr>
          <p:cNvPr id="5" name="norma 1 circle"/>
          <p:cNvSpPr/>
          <p:nvPr/>
        </p:nvSpPr>
        <p:spPr>
          <a:xfrm>
            <a:off x="868680" y="3017520"/>
            <a:ext cx="777240" cy="777240"/>
          </a:xfrm>
          <a:prstGeom prst="ellipse">
            <a:avLst/>
          </a:prstGeom>
          <a:solidFill>
            <a:srgbClr val="005C9F"/>
          </a:solidFill>
          <a:ln w="12700">
            <a:solidFill>
              <a:srgbClr val="005C9F"/>
            </a:solidFill>
            <a:prstDash val="solid"/>
          </a:ln>
        </p:spPr>
      </p:sp>
      <p:pic>
        <p:nvPicPr>
          <p:cNvPr id="6" name="norma 1 icon" descr="preencoded.png">    </p:cNvPr>
          <p:cNvPicPr>
            <a:picLocks noChangeAspect="1"/>
          </p:cNvPicPr>
          <p:nvPr/>
        </p:nvPicPr>
        <p:blipFill>
          <a:blip r:embed="rId1"/>
          <a:stretch>
            <a:fillRect/>
          </a:stretch>
        </p:blipFill>
        <p:spPr>
          <a:xfrm>
            <a:off x="1039673" y="3188513"/>
            <a:ext cx="435254" cy="435254"/>
          </a:xfrm>
          <a:prstGeom prst="rect">
            <a:avLst/>
          </a:prstGeom>
        </p:spPr>
      </p:pic>
      <p:sp>
        <p:nvSpPr>
          <p:cNvPr id="7" name="Text 4"/>
          <p:cNvSpPr txBox="1"/>
          <p:nvPr/>
        </p:nvSpPr>
        <p:spPr>
          <a:xfrm>
            <a:off x="868680" y="3977640"/>
            <a:ext cx="2286000" cy="640080"/>
          </a:xfrm>
          <a:prstGeom prst="rect">
            <a:avLst/>
          </a:prstGeom>
          <a:noFill/>
          <a:ln/>
        </p:spPr>
        <p:txBody>
          <a:bodyPr wrap="square" lIns="0" tIns="0" rIns="0" bIns="0" rtlCol="0" anchor="t"/>
          <a:lstStyle/>
          <a:p>
            <a:pPr indent="0" marL="0">
              <a:buNone/>
            </a:pPr>
            <a:r>
              <a:rPr lang="en-US" sz="2600" b="1" dirty="0">
                <a:solidFill>
                  <a:schemeClr val="tx2"/>
                </a:solidFill>
              </a:rPr>
              <a:t>NRP-27</a:t>
            </a:r>
            <a:endParaRPr lang="en-US" sz="2600" dirty="0"/>
          </a:p>
        </p:txBody>
      </p:sp>
      <p:sp>
        <p:nvSpPr>
          <p:cNvPr id="8" name="Text 5"/>
          <p:cNvSpPr txBox="1"/>
          <p:nvPr/>
        </p:nvSpPr>
        <p:spPr>
          <a:xfrm>
            <a:off x="868680" y="4663440"/>
            <a:ext cx="2286000" cy="822960"/>
          </a:xfrm>
          <a:prstGeom prst="rect">
            <a:avLst/>
          </a:prstGeom>
          <a:noFill/>
          <a:ln/>
        </p:spPr>
        <p:txBody>
          <a:bodyPr wrap="square" lIns="0" tIns="0" rIns="0" bIns="0" rtlCol="0" anchor="t"/>
          <a:lstStyle/>
          <a:p>
            <a:pPr indent="0" marL="0">
              <a:buNone/>
            </a:pPr>
            <a:r>
              <a:rPr lang="en-US" sz="1300" dirty="0">
                <a:solidFill>
                  <a:schemeClr val="tx1"/>
                </a:solidFill>
              </a:rPr>
              <a:t>Contratación de Peritos valuadores</a:t>
            </a:r>
            <a:endParaRPr lang="en-US" sz="1300" dirty="0"/>
          </a:p>
        </p:txBody>
      </p:sp>
      <p:sp>
        <p:nvSpPr>
          <p:cNvPr id="9" name="norma 2"/>
          <p:cNvSpPr/>
          <p:nvPr/>
        </p:nvSpPr>
        <p:spPr>
          <a:xfrm>
            <a:off x="3611880" y="2697480"/>
            <a:ext cx="2788920" cy="3017520"/>
          </a:xfrm>
          <a:prstGeom prst="roundRect">
            <a:avLst>
              <a:gd name="adj" fmla="val 3279"/>
            </a:avLst>
          </a:prstGeom>
          <a:solidFill>
            <a:srgbClr val="EEF3F9"/>
          </a:solidFill>
          <a:ln w="9525">
            <a:solidFill>
              <a:srgbClr val="D6E2EF"/>
            </a:solidFill>
            <a:prstDash val="solid"/>
          </a:ln>
        </p:spPr>
      </p:sp>
      <p:sp>
        <p:nvSpPr>
          <p:cNvPr id="10" name="norma 2 circle"/>
          <p:cNvSpPr/>
          <p:nvPr/>
        </p:nvSpPr>
        <p:spPr>
          <a:xfrm>
            <a:off x="3931920" y="3017520"/>
            <a:ext cx="777240" cy="777240"/>
          </a:xfrm>
          <a:prstGeom prst="ellipse">
            <a:avLst/>
          </a:prstGeom>
          <a:solidFill>
            <a:srgbClr val="005C9F"/>
          </a:solidFill>
          <a:ln w="12700">
            <a:solidFill>
              <a:srgbClr val="005C9F"/>
            </a:solidFill>
            <a:prstDash val="solid"/>
          </a:ln>
        </p:spPr>
      </p:sp>
      <p:pic>
        <p:nvPicPr>
          <p:cNvPr id="11" name="norma 2 icon" descr="preencoded.png">    </p:cNvPr>
          <p:cNvPicPr>
            <a:picLocks noChangeAspect="1"/>
          </p:cNvPicPr>
          <p:nvPr/>
        </p:nvPicPr>
        <p:blipFill>
          <a:blip r:embed="rId2"/>
          <a:stretch>
            <a:fillRect/>
          </a:stretch>
        </p:blipFill>
        <p:spPr>
          <a:xfrm>
            <a:off x="4102913" y="3188513"/>
            <a:ext cx="435254" cy="435254"/>
          </a:xfrm>
          <a:prstGeom prst="rect">
            <a:avLst/>
          </a:prstGeom>
        </p:spPr>
      </p:pic>
      <p:sp>
        <p:nvSpPr>
          <p:cNvPr id="12" name="Text 8"/>
          <p:cNvSpPr txBox="1"/>
          <p:nvPr/>
        </p:nvSpPr>
        <p:spPr>
          <a:xfrm>
            <a:off x="3931920" y="3977640"/>
            <a:ext cx="2286000" cy="640080"/>
          </a:xfrm>
          <a:prstGeom prst="rect">
            <a:avLst/>
          </a:prstGeom>
          <a:noFill/>
          <a:ln/>
        </p:spPr>
        <p:txBody>
          <a:bodyPr wrap="square" lIns="0" tIns="0" rIns="0" bIns="0" rtlCol="0" anchor="t"/>
          <a:lstStyle/>
          <a:p>
            <a:pPr indent="0" marL="0">
              <a:buNone/>
            </a:pPr>
            <a:r>
              <a:rPr lang="en-US" sz="2600" b="1" dirty="0">
                <a:solidFill>
                  <a:schemeClr val="tx2"/>
                </a:solidFill>
              </a:rPr>
              <a:t>NCB 022</a:t>
            </a:r>
            <a:endParaRPr lang="en-US" sz="2600" dirty="0"/>
          </a:p>
        </p:txBody>
      </p:sp>
      <p:sp>
        <p:nvSpPr>
          <p:cNvPr id="13" name="Text 9"/>
          <p:cNvSpPr txBox="1"/>
          <p:nvPr/>
        </p:nvSpPr>
        <p:spPr>
          <a:xfrm>
            <a:off x="3931920" y="4663440"/>
            <a:ext cx="2286000" cy="822960"/>
          </a:xfrm>
          <a:prstGeom prst="rect">
            <a:avLst/>
          </a:prstGeom>
          <a:noFill/>
          <a:ln/>
        </p:spPr>
        <p:txBody>
          <a:bodyPr wrap="square" lIns="0" tIns="0" rIns="0" bIns="0" rtlCol="0" anchor="t"/>
          <a:lstStyle/>
          <a:p>
            <a:pPr indent="0" marL="0">
              <a:buNone/>
            </a:pPr>
            <a:r>
              <a:rPr lang="en-US" sz="1300" dirty="0">
                <a:solidFill>
                  <a:schemeClr val="tx1"/>
                </a:solidFill>
              </a:rPr>
              <a:t>Reservas</a:t>
            </a:r>
            <a:endParaRPr lang="en-US" sz="1300" dirty="0"/>
          </a:p>
        </p:txBody>
      </p:sp>
      <p:sp>
        <p:nvSpPr>
          <p:cNvPr id="14" name="Text 10"/>
          <p:cNvSpPr txBox="1"/>
          <p:nvPr/>
        </p:nvSpPr>
        <p:spPr>
          <a:xfrm>
            <a:off x="6949440" y="2697480"/>
            <a:ext cx="4572000" cy="365760"/>
          </a:xfrm>
          <a:prstGeom prst="rect">
            <a:avLst/>
          </a:prstGeom>
          <a:noFill/>
          <a:ln/>
        </p:spPr>
        <p:txBody>
          <a:bodyPr wrap="square" lIns="0" tIns="0" rIns="0" bIns="0" rtlCol="0" anchor="t"/>
          <a:lstStyle/>
          <a:p>
            <a:pPr indent="0" marL="0">
              <a:buNone/>
            </a:pPr>
            <a:r>
              <a:rPr lang="en-US" sz="1400" b="1" dirty="0">
                <a:solidFill>
                  <a:schemeClr val="accent4"/>
                </a:solidFill>
              </a:rPr>
              <a:t>Ruta de aprobación</a:t>
            </a:r>
            <a:endParaRPr lang="en-US" sz="1400" dirty="0"/>
          </a:p>
        </p:txBody>
      </p:sp>
      <p:sp>
        <p:nvSpPr>
          <p:cNvPr id="15" name="ruta 1"/>
          <p:cNvSpPr/>
          <p:nvPr/>
        </p:nvSpPr>
        <p:spPr>
          <a:xfrm>
            <a:off x="6949440" y="3200400"/>
            <a:ext cx="4663440" cy="960120"/>
          </a:xfrm>
          <a:prstGeom prst="roundRect">
            <a:avLst>
              <a:gd name="adj" fmla="val 9524"/>
            </a:avLst>
          </a:prstGeom>
          <a:solidFill>
            <a:srgbClr val="005C9F"/>
          </a:solidFill>
          <a:ln w="12700">
            <a:solidFill>
              <a:srgbClr val="005C9F"/>
            </a:solidFill>
            <a:prstDash val="solid"/>
          </a:ln>
        </p:spPr>
      </p:sp>
      <p:sp>
        <p:nvSpPr>
          <p:cNvPr id="16" name="Text 12"/>
          <p:cNvSpPr txBox="1"/>
          <p:nvPr/>
        </p:nvSpPr>
        <p:spPr>
          <a:xfrm>
            <a:off x="7223760" y="3200400"/>
            <a:ext cx="4206240" cy="960120"/>
          </a:xfrm>
          <a:prstGeom prst="rect">
            <a:avLst/>
          </a:prstGeom>
          <a:noFill/>
          <a:ln/>
        </p:spPr>
        <p:txBody>
          <a:bodyPr wrap="square" lIns="0" tIns="0" rIns="0" bIns="0" rtlCol="0" anchor="ctr"/>
          <a:lstStyle/>
          <a:p>
            <a:pPr indent="0" marL="0">
              <a:buNone/>
            </a:pPr>
            <a:r>
              <a:rPr lang="en-US" sz="1600" b="1" dirty="0">
                <a:solidFill>
                  <a:schemeClr val="bg1"/>
                </a:solidFill>
              </a:rPr>
              <a:t>Comité de Riesgo</a:t>
            </a:r>
            <a:endParaRPr lang="en-US" sz="1600" dirty="0"/>
          </a:p>
          <a:p>
            <a:pPr indent="0" marL="0">
              <a:buNone/>
            </a:pPr>
            <a:r>
              <a:rPr lang="en-US" sz="1300" dirty="0">
                <a:solidFill>
                  <a:srgbClr val="C9DBF2"/>
                </a:solidFill>
              </a:rPr>
              <a:t>Autoriza la Política</a:t>
            </a:r>
            <a:endParaRPr lang="en-US" sz="1600" dirty="0"/>
          </a:p>
        </p:txBody>
      </p:sp>
      <p:sp>
        <p:nvSpPr>
          <p:cNvPr id="17" name="ruta 2"/>
          <p:cNvSpPr/>
          <p:nvPr/>
        </p:nvSpPr>
        <p:spPr>
          <a:xfrm>
            <a:off x="6949440" y="4572000"/>
            <a:ext cx="4663440" cy="960120"/>
          </a:xfrm>
          <a:prstGeom prst="roundRect">
            <a:avLst>
              <a:gd name="adj" fmla="val 9524"/>
            </a:avLst>
          </a:prstGeom>
          <a:solidFill>
            <a:srgbClr val="00376E"/>
          </a:solidFill>
          <a:ln w="12700">
            <a:solidFill>
              <a:srgbClr val="00376E"/>
            </a:solidFill>
            <a:prstDash val="solid"/>
          </a:ln>
        </p:spPr>
      </p:sp>
      <p:sp>
        <p:nvSpPr>
          <p:cNvPr id="18" name="Text 14"/>
          <p:cNvSpPr txBox="1"/>
          <p:nvPr/>
        </p:nvSpPr>
        <p:spPr>
          <a:xfrm>
            <a:off x="7223760" y="4572000"/>
            <a:ext cx="4206240" cy="960120"/>
          </a:xfrm>
          <a:prstGeom prst="rect">
            <a:avLst/>
          </a:prstGeom>
          <a:noFill/>
          <a:ln/>
        </p:spPr>
        <p:txBody>
          <a:bodyPr wrap="square" lIns="0" tIns="0" rIns="0" bIns="0" rtlCol="0" anchor="ctr"/>
          <a:lstStyle/>
          <a:p>
            <a:pPr indent="0" marL="0">
              <a:buNone/>
            </a:pPr>
            <a:r>
              <a:rPr lang="en-US" sz="1600" b="1" dirty="0">
                <a:solidFill>
                  <a:schemeClr val="bg1"/>
                </a:solidFill>
              </a:rPr>
              <a:t>Consejo de Administración</a:t>
            </a:r>
            <a:endParaRPr lang="en-US" sz="1600" dirty="0"/>
          </a:p>
          <a:p>
            <a:pPr indent="0" marL="0">
              <a:buNone/>
            </a:pPr>
            <a:r>
              <a:rPr lang="en-US" sz="1300" dirty="0">
                <a:solidFill>
                  <a:srgbClr val="C9DBF2"/>
                </a:solidFill>
              </a:rPr>
              <a:t>Aprobación</a:t>
            </a:r>
            <a:endParaRPr lang="en-US" sz="1600" dirty="0"/>
          </a:p>
        </p:txBody>
      </p:sp>
      <p:pic>
        <p:nvPicPr>
          <p:cNvPr id="19" name="ruta flecha" descr="preencoded.png">    </p:cNvPr>
          <p:cNvPicPr>
            <a:picLocks noChangeAspect="1"/>
          </p:cNvPicPr>
          <p:nvPr/>
        </p:nvPicPr>
        <p:blipFill>
          <a:blip r:embed="rId3"/>
          <a:stretch>
            <a:fillRect/>
          </a:stretch>
        </p:blipFill>
        <p:spPr>
          <a:xfrm>
            <a:off x="9098280" y="4178808"/>
            <a:ext cx="365760" cy="36576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Propuesta 2: Contratar un Revisor según NRP-27, artículo 40</a:t>
            </a:r>
            <a:endParaRPr lang="en-US" sz="2400" dirty="0"/>
          </a:p>
        </p:txBody>
      </p:sp>
      <p:sp>
        <p:nvSpPr>
          <p:cNvPr id="3" name="cita"/>
          <p:cNvSpPr/>
          <p:nvPr/>
        </p:nvSpPr>
        <p:spPr>
          <a:xfrm>
            <a:off x="548640" y="1325880"/>
            <a:ext cx="11064240" cy="4572000"/>
          </a:xfrm>
          <a:prstGeom prst="roundRect">
            <a:avLst>
              <a:gd name="adj" fmla="val 2000"/>
            </a:avLst>
          </a:prstGeom>
          <a:solidFill>
            <a:srgbClr val="EEF3F9"/>
          </a:solidFill>
          <a:ln w="9525">
            <a:solidFill>
              <a:srgbClr val="D6E2EF"/>
            </a:solidFill>
            <a:prstDash val="solid"/>
          </a:ln>
        </p:spPr>
      </p:sp>
      <p:sp>
        <p:nvSpPr>
          <p:cNvPr id="4" name="Text 2"/>
          <p:cNvSpPr txBox="1"/>
          <p:nvPr/>
        </p:nvSpPr>
        <p:spPr>
          <a:xfrm>
            <a:off x="777240" y="1325880"/>
            <a:ext cx="731520" cy="914400"/>
          </a:xfrm>
          <a:prstGeom prst="rect">
            <a:avLst/>
          </a:prstGeom>
          <a:noFill/>
          <a:ln/>
        </p:spPr>
        <p:txBody>
          <a:bodyPr wrap="square" lIns="0" tIns="0" rIns="0" bIns="0" rtlCol="0" anchor="t"/>
          <a:lstStyle/>
          <a:p>
            <a:pPr indent="0" marL="0">
              <a:buNone/>
            </a:pPr>
            <a:r>
              <a:rPr lang="en-US" sz="6600" b="1" dirty="0">
                <a:solidFill>
                  <a:schemeClr val="accent1"/>
                </a:solidFill>
              </a:rPr>
              <a:t>“</a:t>
            </a:r>
            <a:endParaRPr lang="en-US" sz="6600" dirty="0"/>
          </a:p>
        </p:txBody>
      </p:sp>
      <p:sp>
        <p:nvSpPr>
          <p:cNvPr id="5" name="Text 3"/>
          <p:cNvSpPr txBox="1"/>
          <p:nvPr/>
        </p:nvSpPr>
        <p:spPr>
          <a:xfrm>
            <a:off x="1463040" y="1645920"/>
            <a:ext cx="9875520" cy="4114800"/>
          </a:xfrm>
          <a:prstGeom prst="rect">
            <a:avLst/>
          </a:prstGeom>
          <a:noFill/>
          <a:ln/>
        </p:spPr>
        <p:txBody>
          <a:bodyPr wrap="square" lIns="0" tIns="0" rIns="0" bIns="0" rtlCol="0" anchor="t"/>
          <a:lstStyle/>
          <a:p>
            <a:pPr indent="0" marL="0">
              <a:spcAft>
                <a:spcPts val="1000"/>
              </a:spcAft>
              <a:buNone/>
            </a:pPr>
            <a:r>
              <a:rPr lang="en-US" sz="1650" b="1" dirty="0">
                <a:solidFill>
                  <a:srgbClr val="00376E"/>
                </a:solidFill>
              </a:rPr>
              <a:t>Contratar en cumplimiento a la NRP – 27 artículo 40 que establece lo siguiente: </a:t>
            </a:r>
            <a:endParaRPr lang="en-US" sz="1650" dirty="0"/>
          </a:p>
          <a:p>
            <a:pPr indent="0" marL="0">
              <a:spcAft>
                <a:spcPts val="1000"/>
              </a:spcAft>
              <a:buNone/>
            </a:pPr>
            <a:r>
              <a:rPr lang="en-US" sz="1650" dirty="0">
                <a:solidFill>
                  <a:schemeClr val="tx1"/>
                </a:solidFill>
              </a:rPr>
              <a:t>Las entidades deberán contar con un Revisor que verifique el cumplimiento del contenido mínimo del informe de valuación establecido en el artículo 33 de las presentes Normas, sin poder modificar en ningún momento el valor de mercado reportado y los valores obtenidos. En caso de haber observaciones, el revisor deberá dejarlas debidamente documentadas, a efectos de que el Perito encargado de su realización subsane las deficiencias o justifique lo observado, de acuerdo con lo establecido en las presentes Normas.</a:t>
            </a:r>
            <a:endParaRPr lang="en-US" sz="1650" dirty="0"/>
          </a:p>
          <a:p>
            <a:pPr indent="0" marL="0">
              <a:spcAft>
                <a:spcPts val="1000"/>
              </a:spcAft>
              <a:buNone/>
            </a:pPr>
            <a:r>
              <a:rPr lang="en-US" sz="1650" dirty="0">
                <a:solidFill>
                  <a:schemeClr val="tx1"/>
                </a:solidFill>
              </a:rPr>
              <a:t>Al existir diferencia de criterios, el Revisor podrá emitir sus observaciones y opiniones debidamente justificadas y documentadas pero será el Perito quién deberá, si aplica, cambiar algún aspecto previamente definido en el informe de valuación dejándolo debidamente justificado y documentado.</a:t>
            </a:r>
            <a:endParaRPr lang="en-US" sz="16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777240" y="347472"/>
            <a:ext cx="10881360" cy="777240"/>
          </a:xfrm>
          <a:prstGeom prst="rect">
            <a:avLst/>
          </a:prstGeom>
          <a:noFill/>
          <a:ln/>
        </p:spPr>
        <p:txBody>
          <a:bodyPr wrap="square" lIns="0" tIns="0" rIns="0" bIns="0" rtlCol="0" anchor="ctr"/>
          <a:lstStyle/>
          <a:p>
            <a:pPr algn="l" indent="0" marL="0">
              <a:buNone/>
            </a:pPr>
            <a:r>
              <a:rPr lang="en-US" sz="2400" b="1" dirty="0">
                <a:solidFill>
                  <a:schemeClr val="tx2"/>
                </a:solidFill>
              </a:rPr>
              <a:t>Propuesta 3: Departamento de Riesgo administra los avalúos</a:t>
            </a:r>
            <a:endParaRPr lang="en-US" sz="2400" dirty="0"/>
          </a:p>
        </p:txBody>
      </p:sp>
      <p:sp>
        <p:nvSpPr>
          <p:cNvPr id="3" name="Text 1"/>
          <p:cNvSpPr txBox="1"/>
          <p:nvPr/>
        </p:nvSpPr>
        <p:spPr>
          <a:xfrm>
            <a:off x="548640" y="1280160"/>
            <a:ext cx="11064240" cy="777240"/>
          </a:xfrm>
          <a:prstGeom prst="rect">
            <a:avLst/>
          </a:prstGeom>
          <a:noFill/>
          <a:ln/>
        </p:spPr>
        <p:txBody>
          <a:bodyPr wrap="square" lIns="0" tIns="0" rIns="0" bIns="0" rtlCol="0" anchor="t"/>
          <a:lstStyle/>
          <a:p>
            <a:pPr indent="0" marL="0">
              <a:buNone/>
            </a:pPr>
            <a:r>
              <a:rPr lang="en-US" sz="1600" dirty="0">
                <a:solidFill>
                  <a:schemeClr val="tx1"/>
                </a:solidFill>
              </a:rPr>
              <a:t>Autorizar que el Departamento de Riesgo sea el responsable de la Administración de avalúos y que el Revisor dependa de este Departamento</a:t>
            </a:r>
            <a:endParaRPr lang="en-US" sz="1600" dirty="0"/>
          </a:p>
        </p:txBody>
      </p:sp>
      <p:sp>
        <p:nvSpPr>
          <p:cNvPr id="4" name="hoy"/>
          <p:cNvSpPr/>
          <p:nvPr/>
        </p:nvSpPr>
        <p:spPr>
          <a:xfrm>
            <a:off x="548640" y="2286000"/>
            <a:ext cx="5120640" cy="3154680"/>
          </a:xfrm>
          <a:prstGeom prst="roundRect">
            <a:avLst>
              <a:gd name="adj" fmla="val 2899"/>
            </a:avLst>
          </a:prstGeom>
          <a:solidFill>
            <a:srgbClr val="EEF3F9"/>
          </a:solidFill>
          <a:ln w="9525">
            <a:solidFill>
              <a:srgbClr val="D6E2EF"/>
            </a:solidFill>
            <a:prstDash val="solid"/>
          </a:ln>
        </p:spPr>
      </p:sp>
      <p:sp>
        <p:nvSpPr>
          <p:cNvPr id="5" name="Text 3"/>
          <p:cNvSpPr txBox="1"/>
          <p:nvPr/>
        </p:nvSpPr>
        <p:spPr>
          <a:xfrm>
            <a:off x="868680" y="2514600"/>
            <a:ext cx="4480560" cy="457200"/>
          </a:xfrm>
          <a:prstGeom prst="rect">
            <a:avLst/>
          </a:prstGeom>
          <a:noFill/>
          <a:ln/>
        </p:spPr>
        <p:txBody>
          <a:bodyPr wrap="square" lIns="0" tIns="0" rIns="0" bIns="0" rtlCol="0" anchor="t"/>
          <a:lstStyle/>
          <a:p>
            <a:pPr indent="0" marL="0">
              <a:buNone/>
            </a:pPr>
            <a:r>
              <a:rPr lang="en-US" sz="1900" b="1" dirty="0">
                <a:solidFill>
                  <a:schemeClr val="accent3"/>
                </a:solidFill>
              </a:rPr>
              <a:t>Hoy</a:t>
            </a:r>
            <a:endParaRPr lang="en-US" sz="1900" dirty="0"/>
          </a:p>
        </p:txBody>
      </p:sp>
      <p:sp>
        <p:nvSpPr>
          <p:cNvPr id="6" name="Text 4"/>
          <p:cNvSpPr txBox="1"/>
          <p:nvPr/>
        </p:nvSpPr>
        <p:spPr>
          <a:xfrm>
            <a:off x="868680" y="3108960"/>
            <a:ext cx="4572000" cy="219456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chemeClr val="tx1"/>
                </a:solidFill>
              </a:rPr>
              <a:t>4 gerencias y 20 personas intervienen</a:t>
            </a:r>
            <a:endParaRPr lang="en-US" sz="1450" dirty="0"/>
          </a:p>
          <a:p>
            <a:pPr marL="342900" indent="-342900">
              <a:spcAft>
                <a:spcPts val="1400"/>
              </a:spcAft>
              <a:buSzPct val="100000"/>
              <a:buChar char="•"/>
            </a:pPr>
            <a:r>
              <a:rPr lang="en-US" sz="1450" dirty="0">
                <a:solidFill>
                  <a:schemeClr val="tx1"/>
                </a:solidFill>
              </a:rPr>
              <a:t>No existe un área de control centralizada</a:t>
            </a:r>
            <a:endParaRPr lang="en-US" sz="1450" dirty="0"/>
          </a:p>
          <a:p>
            <a:pPr marL="342900" indent="-342900">
              <a:spcAft>
                <a:spcPts val="1400"/>
              </a:spcAft>
              <a:buSzPct val="100000"/>
              <a:buChar char="•"/>
            </a:pPr>
            <a:r>
              <a:rPr lang="en-US" sz="1450" dirty="0">
                <a:solidFill>
                  <a:schemeClr val="tx1"/>
                </a:solidFill>
              </a:rPr>
              <a:t>Observaciones reiterativas de la SSF</a:t>
            </a:r>
            <a:endParaRPr lang="en-US" sz="1450" dirty="0"/>
          </a:p>
          <a:p>
            <a:pPr marL="342900" indent="-342900">
              <a:spcAft>
                <a:spcPts val="1400"/>
              </a:spcAft>
              <a:buSzPct val="100000"/>
              <a:buChar char="•"/>
            </a:pPr>
            <a:r>
              <a:rPr lang="en-US" sz="1450" dirty="0">
                <a:solidFill>
                  <a:schemeClr val="tx1"/>
                </a:solidFill>
              </a:rPr>
              <a:t>Falta de Políticas y Procedimientos internos</a:t>
            </a:r>
            <a:endParaRPr lang="en-US" sz="1450" dirty="0"/>
          </a:p>
        </p:txBody>
      </p:sp>
      <p:pic>
        <p:nvPicPr>
          <p:cNvPr id="7" name="flecha" descr="preencoded.png">    </p:cNvPr>
          <p:cNvPicPr>
            <a:picLocks noChangeAspect="1"/>
          </p:cNvPicPr>
          <p:nvPr/>
        </p:nvPicPr>
        <p:blipFill>
          <a:blip r:embed="rId1"/>
          <a:stretch>
            <a:fillRect/>
          </a:stretch>
        </p:blipFill>
        <p:spPr>
          <a:xfrm>
            <a:off x="5806440" y="3611880"/>
            <a:ext cx="548640" cy="548640"/>
          </a:xfrm>
          <a:prstGeom prst="rect">
            <a:avLst/>
          </a:prstGeom>
        </p:spPr>
      </p:pic>
      <p:sp>
        <p:nvSpPr>
          <p:cNvPr id="8" name="Text 5"/>
          <p:cNvSpPr txBox="1"/>
          <p:nvPr/>
        </p:nvSpPr>
        <p:spPr>
          <a:xfrm>
            <a:off x="6492240" y="2286000"/>
            <a:ext cx="5120640" cy="457200"/>
          </a:xfrm>
          <a:prstGeom prst="rect">
            <a:avLst/>
          </a:prstGeom>
          <a:noFill/>
          <a:ln/>
        </p:spPr>
        <p:txBody>
          <a:bodyPr wrap="square" lIns="0" tIns="0" rIns="0" bIns="0" rtlCol="0" anchor="t"/>
          <a:lstStyle/>
          <a:p>
            <a:pPr indent="0" marL="0">
              <a:buNone/>
            </a:pPr>
            <a:r>
              <a:rPr lang="en-US" sz="1900" b="1" dirty="0">
                <a:solidFill>
                  <a:schemeClr val="accent1"/>
                </a:solidFill>
              </a:rPr>
              <a:t>Propuesta</a:t>
            </a:r>
            <a:endParaRPr lang="en-US" sz="1900" dirty="0"/>
          </a:p>
        </p:txBody>
      </p:sp>
      <p:sp>
        <p:nvSpPr>
          <p:cNvPr id="9" name="org 1"/>
          <p:cNvSpPr/>
          <p:nvPr/>
        </p:nvSpPr>
        <p:spPr>
          <a:xfrm>
            <a:off x="6492240" y="2834640"/>
            <a:ext cx="5120640" cy="685800"/>
          </a:xfrm>
          <a:prstGeom prst="roundRect">
            <a:avLst>
              <a:gd name="adj" fmla="val 13333"/>
            </a:avLst>
          </a:prstGeom>
          <a:solidFill>
            <a:srgbClr val="5F7590"/>
          </a:solidFill>
          <a:ln w="12700">
            <a:solidFill>
              <a:srgbClr val="5F7590"/>
            </a:solidFill>
            <a:prstDash val="solid"/>
          </a:ln>
        </p:spPr>
      </p:sp>
      <p:sp>
        <p:nvSpPr>
          <p:cNvPr id="10" name="Text 7"/>
          <p:cNvSpPr txBox="1"/>
          <p:nvPr/>
        </p:nvSpPr>
        <p:spPr>
          <a:xfrm>
            <a:off x="6629400" y="2834640"/>
            <a:ext cx="4846320" cy="685800"/>
          </a:xfrm>
          <a:prstGeom prst="rect">
            <a:avLst/>
          </a:prstGeom>
          <a:noFill/>
          <a:ln/>
        </p:spPr>
        <p:txBody>
          <a:bodyPr wrap="square" lIns="0" tIns="0" rIns="0" bIns="0" rtlCol="0" anchor="ctr"/>
          <a:lstStyle/>
          <a:p>
            <a:pPr algn="ctr" indent="0" marL="0">
              <a:buNone/>
            </a:pPr>
            <a:r>
              <a:rPr lang="en-US" sz="1400" b="1" dirty="0">
                <a:solidFill>
                  <a:schemeClr val="bg1"/>
                </a:solidFill>
              </a:rPr>
              <a:t>Gerencia General</a:t>
            </a:r>
            <a:endParaRPr lang="en-US" sz="1400" dirty="0"/>
          </a:p>
        </p:txBody>
      </p:sp>
      <p:sp>
        <p:nvSpPr>
          <p:cNvPr id="11" name="org line 1"/>
          <p:cNvSpPr/>
          <p:nvPr/>
        </p:nvSpPr>
        <p:spPr>
          <a:xfrm>
            <a:off x="9052560" y="3520440"/>
            <a:ext cx="0" cy="274320"/>
          </a:xfrm>
          <a:prstGeom prst="line">
            <a:avLst/>
          </a:prstGeom>
          <a:noFill/>
          <a:ln w="25400">
            <a:solidFill>
              <a:srgbClr val="5F7590"/>
            </a:solidFill>
            <a:prstDash val="solid"/>
          </a:ln>
        </p:spPr>
      </p:sp>
      <p:sp>
        <p:nvSpPr>
          <p:cNvPr id="12" name="org 2"/>
          <p:cNvSpPr/>
          <p:nvPr/>
        </p:nvSpPr>
        <p:spPr>
          <a:xfrm>
            <a:off x="6492240" y="3794760"/>
            <a:ext cx="5120640" cy="685800"/>
          </a:xfrm>
          <a:prstGeom prst="roundRect">
            <a:avLst>
              <a:gd name="adj" fmla="val 13333"/>
            </a:avLst>
          </a:prstGeom>
          <a:solidFill>
            <a:srgbClr val="005C9F"/>
          </a:solidFill>
          <a:ln w="12700">
            <a:solidFill>
              <a:srgbClr val="005C9F"/>
            </a:solidFill>
            <a:prstDash val="solid"/>
          </a:ln>
        </p:spPr>
      </p:sp>
      <p:sp>
        <p:nvSpPr>
          <p:cNvPr id="13" name="Text 10"/>
          <p:cNvSpPr txBox="1"/>
          <p:nvPr/>
        </p:nvSpPr>
        <p:spPr>
          <a:xfrm>
            <a:off x="6629400" y="3794760"/>
            <a:ext cx="4846320" cy="685800"/>
          </a:xfrm>
          <a:prstGeom prst="rect">
            <a:avLst/>
          </a:prstGeom>
          <a:noFill/>
          <a:ln/>
        </p:spPr>
        <p:txBody>
          <a:bodyPr wrap="square" lIns="0" tIns="0" rIns="0" bIns="0" rtlCol="0" anchor="ctr"/>
          <a:lstStyle/>
          <a:p>
            <a:pPr algn="ctr" indent="0" marL="0">
              <a:buNone/>
            </a:pPr>
            <a:r>
              <a:rPr lang="en-US" sz="1400" b="1" dirty="0">
                <a:solidFill>
                  <a:schemeClr val="bg1"/>
                </a:solidFill>
              </a:rPr>
              <a:t>Departamento de Administración de Riesgos</a:t>
            </a:r>
            <a:endParaRPr lang="en-US" sz="1400" dirty="0"/>
          </a:p>
        </p:txBody>
      </p:sp>
      <p:sp>
        <p:nvSpPr>
          <p:cNvPr id="14" name="org line 2"/>
          <p:cNvSpPr/>
          <p:nvPr/>
        </p:nvSpPr>
        <p:spPr>
          <a:xfrm>
            <a:off x="9052560" y="4480560"/>
            <a:ext cx="0" cy="274320"/>
          </a:xfrm>
          <a:prstGeom prst="line">
            <a:avLst/>
          </a:prstGeom>
          <a:noFill/>
          <a:ln w="25400">
            <a:solidFill>
              <a:srgbClr val="5F7590"/>
            </a:solidFill>
            <a:prstDash val="solid"/>
          </a:ln>
        </p:spPr>
      </p:sp>
      <p:sp>
        <p:nvSpPr>
          <p:cNvPr id="15" name="org 3"/>
          <p:cNvSpPr/>
          <p:nvPr/>
        </p:nvSpPr>
        <p:spPr>
          <a:xfrm>
            <a:off x="6492240" y="4754880"/>
            <a:ext cx="5120640" cy="685800"/>
          </a:xfrm>
          <a:prstGeom prst="roundRect">
            <a:avLst>
              <a:gd name="adj" fmla="val 13333"/>
            </a:avLst>
          </a:prstGeom>
          <a:solidFill>
            <a:srgbClr val="00376E"/>
          </a:solidFill>
          <a:ln w="12700">
            <a:solidFill>
              <a:srgbClr val="00376E"/>
            </a:solidFill>
            <a:prstDash val="solid"/>
          </a:ln>
        </p:spPr>
      </p:sp>
      <p:sp>
        <p:nvSpPr>
          <p:cNvPr id="16" name="Text 13"/>
          <p:cNvSpPr txBox="1"/>
          <p:nvPr/>
        </p:nvSpPr>
        <p:spPr>
          <a:xfrm>
            <a:off x="6629400" y="4754880"/>
            <a:ext cx="4846320" cy="685800"/>
          </a:xfrm>
          <a:prstGeom prst="rect">
            <a:avLst/>
          </a:prstGeom>
          <a:noFill/>
          <a:ln/>
        </p:spPr>
        <p:txBody>
          <a:bodyPr wrap="square" lIns="0" tIns="0" rIns="0" bIns="0" rtlCol="0" anchor="ctr"/>
          <a:lstStyle/>
          <a:p>
            <a:pPr algn="ctr" indent="0" marL="0">
              <a:buNone/>
            </a:pPr>
            <a:r>
              <a:rPr lang="en-US" sz="1400" b="1" dirty="0">
                <a:solidFill>
                  <a:schemeClr val="bg1"/>
                </a:solidFill>
              </a:rPr>
              <a:t>Revisor de Avalúos (NRP-27 art. 40)</a:t>
            </a:r>
            <a:endParaRPr lang="en-US" sz="1400" dirty="0"/>
          </a:p>
        </p:txBody>
      </p:sp>
      <p:sp>
        <p:nvSpPr>
          <p:cNvPr id="17" name="Text 14"/>
          <p:cNvSpPr txBox="1"/>
          <p:nvPr/>
        </p:nvSpPr>
        <p:spPr>
          <a:xfrm>
            <a:off x="6492240" y="5532120"/>
            <a:ext cx="4297680" cy="548640"/>
          </a:xfrm>
          <a:prstGeom prst="rect">
            <a:avLst/>
          </a:prstGeom>
          <a:noFill/>
          <a:ln/>
        </p:spPr>
        <p:txBody>
          <a:bodyPr wrap="square" lIns="0" tIns="0" rIns="0" bIns="0" rtlCol="0" anchor="t"/>
          <a:lstStyle/>
          <a:p>
            <a:pPr indent="0" marL="0">
              <a:buNone/>
            </a:pPr>
            <a:r>
              <a:rPr lang="en-US" sz="1100" i="1" dirty="0">
                <a:solidFill>
                  <a:schemeClr val="accent4"/>
                </a:solidFill>
              </a:rPr>
              <a:t>Área de control centralizada del cumplimiento normativo, seguimiento y calidad de información de la garantía</a:t>
            </a:r>
            <a:endParaRPr lang="en-US" sz="11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005840"/>
          </a:xfrm>
          <a:prstGeom prst="rect">
            <a:avLst/>
          </a:prstGeom>
          <a:noFill/>
          <a:ln/>
        </p:spPr>
        <p:txBody>
          <a:bodyPr wrap="square" lIns="0" tIns="0" rIns="0" bIns="0" rtlCol="0" anchor="b"/>
          <a:lstStyle/>
          <a:p>
            <a:pPr algn="l" indent="0" marL="0">
              <a:buNone/>
            </a:pPr>
            <a:r>
              <a:rPr lang="en-US" sz="3400" b="1" dirty="0">
                <a:solidFill>
                  <a:schemeClr val="bg1"/>
                </a:solidFill>
              </a:rPr>
              <a:t>Se solicita al Comité de Riesgo autorizar</a:t>
            </a:r>
            <a:endParaRPr lang="en-US" sz="3400" dirty="0"/>
          </a:p>
        </p:txBody>
      </p:sp>
      <p:sp>
        <p:nvSpPr>
          <p:cNvPr id="3" name="check 1"/>
          <p:cNvSpPr/>
          <p:nvPr/>
        </p:nvSpPr>
        <p:spPr>
          <a:xfrm>
            <a:off x="731520" y="2697480"/>
            <a:ext cx="594360" cy="594360"/>
          </a:xfrm>
          <a:prstGeom prst="ellipse">
            <a:avLst/>
          </a:prstGeom>
          <a:solidFill>
            <a:srgbClr val="9CC3F0"/>
          </a:solidFill>
          <a:ln w="12700">
            <a:solidFill>
              <a:srgbClr val="9CC3F0"/>
            </a:solidFill>
            <a:prstDash val="solid"/>
          </a:ln>
        </p:spPr>
      </p:sp>
      <p:pic>
        <p:nvPicPr>
          <p:cNvPr id="4" name="check icon 1" descr="preencoded.png">    </p:cNvPr>
          <p:cNvPicPr>
            <a:picLocks noChangeAspect="1"/>
          </p:cNvPicPr>
          <p:nvPr/>
        </p:nvPicPr>
        <p:blipFill>
          <a:blip r:embed="rId1"/>
          <a:stretch>
            <a:fillRect/>
          </a:stretch>
        </p:blipFill>
        <p:spPr>
          <a:xfrm>
            <a:off x="850392" y="2816352"/>
            <a:ext cx="365760" cy="365760"/>
          </a:xfrm>
          <a:prstGeom prst="rect">
            <a:avLst/>
          </a:prstGeom>
        </p:spPr>
      </p:pic>
      <p:sp>
        <p:nvSpPr>
          <p:cNvPr id="5" name="Text 2"/>
          <p:cNvSpPr txBox="1"/>
          <p:nvPr/>
        </p:nvSpPr>
        <p:spPr>
          <a:xfrm>
            <a:off x="1600200" y="2606040"/>
            <a:ext cx="9875520" cy="777240"/>
          </a:xfrm>
          <a:prstGeom prst="rect">
            <a:avLst/>
          </a:prstGeom>
          <a:noFill/>
          <a:ln/>
        </p:spPr>
        <p:txBody>
          <a:bodyPr wrap="square" lIns="0" tIns="0" rIns="0" bIns="0" rtlCol="0" anchor="ctr"/>
          <a:lstStyle/>
          <a:p>
            <a:pPr indent="0" marL="0">
              <a:buNone/>
            </a:pPr>
            <a:r>
              <a:rPr lang="en-US" sz="1600" dirty="0">
                <a:solidFill>
                  <a:schemeClr val="bg1"/>
                </a:solidFill>
              </a:rPr>
              <a:t>La Política Administración de Avalúos (NRP-27 y NCB 022), para ser presentada al Consejo de Administración para su Aprobación</a:t>
            </a:r>
            <a:endParaRPr lang="en-US" sz="1600" dirty="0"/>
          </a:p>
        </p:txBody>
      </p:sp>
      <p:sp>
        <p:nvSpPr>
          <p:cNvPr id="6" name="check 2"/>
          <p:cNvSpPr/>
          <p:nvPr/>
        </p:nvSpPr>
        <p:spPr>
          <a:xfrm>
            <a:off x="731520" y="3749040"/>
            <a:ext cx="594360" cy="594360"/>
          </a:xfrm>
          <a:prstGeom prst="ellipse">
            <a:avLst/>
          </a:prstGeom>
          <a:solidFill>
            <a:srgbClr val="9CC3F0"/>
          </a:solidFill>
          <a:ln w="12700">
            <a:solidFill>
              <a:srgbClr val="9CC3F0"/>
            </a:solidFill>
            <a:prstDash val="solid"/>
          </a:ln>
        </p:spPr>
      </p:sp>
      <p:pic>
        <p:nvPicPr>
          <p:cNvPr id="7" name="check icon 2" descr="preencoded.png">    </p:cNvPr>
          <p:cNvPicPr>
            <a:picLocks noChangeAspect="1"/>
          </p:cNvPicPr>
          <p:nvPr/>
        </p:nvPicPr>
        <p:blipFill>
          <a:blip r:embed="rId2"/>
          <a:stretch>
            <a:fillRect/>
          </a:stretch>
        </p:blipFill>
        <p:spPr>
          <a:xfrm>
            <a:off x="850392" y="3867912"/>
            <a:ext cx="365760" cy="365760"/>
          </a:xfrm>
          <a:prstGeom prst="rect">
            <a:avLst/>
          </a:prstGeom>
        </p:spPr>
      </p:pic>
      <p:sp>
        <p:nvSpPr>
          <p:cNvPr id="8" name="Text 4"/>
          <p:cNvSpPr txBox="1"/>
          <p:nvPr/>
        </p:nvSpPr>
        <p:spPr>
          <a:xfrm>
            <a:off x="1600200" y="3657600"/>
            <a:ext cx="9875520" cy="777240"/>
          </a:xfrm>
          <a:prstGeom prst="rect">
            <a:avLst/>
          </a:prstGeom>
          <a:noFill/>
          <a:ln/>
        </p:spPr>
        <p:txBody>
          <a:bodyPr wrap="square" lIns="0" tIns="0" rIns="0" bIns="0" rtlCol="0" anchor="ctr"/>
          <a:lstStyle/>
          <a:p>
            <a:pPr indent="0" marL="0">
              <a:buNone/>
            </a:pPr>
            <a:r>
              <a:rPr lang="en-US" sz="1600" dirty="0">
                <a:solidFill>
                  <a:schemeClr val="bg1"/>
                </a:solidFill>
              </a:rPr>
              <a:t>La contratación de un Revisor en cumplimiento a la NRP-27 artículo 40</a:t>
            </a:r>
            <a:endParaRPr lang="en-US" sz="1600" dirty="0"/>
          </a:p>
        </p:txBody>
      </p:sp>
      <p:sp>
        <p:nvSpPr>
          <p:cNvPr id="9" name="check 3"/>
          <p:cNvSpPr/>
          <p:nvPr/>
        </p:nvSpPr>
        <p:spPr>
          <a:xfrm>
            <a:off x="731520" y="4800600"/>
            <a:ext cx="594360" cy="594360"/>
          </a:xfrm>
          <a:prstGeom prst="ellipse">
            <a:avLst/>
          </a:prstGeom>
          <a:solidFill>
            <a:srgbClr val="9CC3F0"/>
          </a:solidFill>
          <a:ln w="12700">
            <a:solidFill>
              <a:srgbClr val="9CC3F0"/>
            </a:solidFill>
            <a:prstDash val="solid"/>
          </a:ln>
        </p:spPr>
      </p:sp>
      <p:pic>
        <p:nvPicPr>
          <p:cNvPr id="10" name="check icon 3" descr="preencoded.png">    </p:cNvPr>
          <p:cNvPicPr>
            <a:picLocks noChangeAspect="1"/>
          </p:cNvPicPr>
          <p:nvPr/>
        </p:nvPicPr>
        <p:blipFill>
          <a:blip r:embed="rId3"/>
          <a:stretch>
            <a:fillRect/>
          </a:stretch>
        </p:blipFill>
        <p:spPr>
          <a:xfrm>
            <a:off x="850392" y="4919472"/>
            <a:ext cx="365760" cy="365760"/>
          </a:xfrm>
          <a:prstGeom prst="rect">
            <a:avLst/>
          </a:prstGeom>
        </p:spPr>
      </p:pic>
      <p:sp>
        <p:nvSpPr>
          <p:cNvPr id="11" name="Text 6"/>
          <p:cNvSpPr txBox="1"/>
          <p:nvPr/>
        </p:nvSpPr>
        <p:spPr>
          <a:xfrm>
            <a:off x="1600200" y="4709160"/>
            <a:ext cx="9875520" cy="777240"/>
          </a:xfrm>
          <a:prstGeom prst="rect">
            <a:avLst/>
          </a:prstGeom>
          <a:noFill/>
          <a:ln/>
        </p:spPr>
        <p:txBody>
          <a:bodyPr wrap="square" lIns="0" tIns="0" rIns="0" bIns="0" rtlCol="0" anchor="ctr"/>
          <a:lstStyle/>
          <a:p>
            <a:pPr indent="0" marL="0">
              <a:buNone/>
            </a:pPr>
            <a:r>
              <a:rPr lang="en-US" sz="1600" dirty="0">
                <a:solidFill>
                  <a:schemeClr val="bg1"/>
                </a:solidFill>
              </a:rPr>
              <a:t>Que el Departamento de Riesgo sea el responsable de la Administración de avalúos y que el Revisor dependa de este Departamento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nda" descr="/tmp/claude-0/-home-user-riesgo/74e9c8ad-7a43-5903-a089-2edd8047c387/scratchpad/assets/wave_top.png">    </p:cNvPr>
          <p:cNvPicPr>
            <a:picLocks noChangeAspect="1"/>
          </p:cNvPicPr>
          <p:nvPr/>
        </p:nvPicPr>
        <p:blipFill>
          <a:blip r:embed="rId1"/>
          <a:stretch>
            <a:fillRect/>
          </a:stretch>
        </p:blipFill>
        <p:spPr>
          <a:xfrm>
            <a:off x="-27432" y="0"/>
            <a:ext cx="12216384" cy="6858000"/>
          </a:xfrm>
          <a:prstGeom prst="rect">
            <a:avLst/>
          </a:prstGeom>
        </p:spPr>
      </p:pic>
      <p:sp>
        <p:nvSpPr>
          <p:cNvPr id="3" name="marca"/>
          <p:cNvSpPr/>
          <p:nvPr/>
        </p:nvSpPr>
        <p:spPr>
          <a:xfrm>
            <a:off x="1188720" y="2834640"/>
            <a:ext cx="73152" cy="411480"/>
          </a:xfrm>
          <a:prstGeom prst="rect">
            <a:avLst/>
          </a:prstGeom>
          <a:solidFill>
            <a:srgbClr val="9CC3F0"/>
          </a:solidFill>
          <a:ln w="12700">
            <a:solidFill>
              <a:srgbClr val="9CC3F0"/>
            </a:solidFill>
            <a:prstDash val="solid"/>
          </a:ln>
        </p:spPr>
      </p:sp>
      <p:sp>
        <p:nvSpPr>
          <p:cNvPr id="4" name="Text 1"/>
          <p:cNvSpPr txBox="1"/>
          <p:nvPr/>
        </p:nvSpPr>
        <p:spPr>
          <a:xfrm>
            <a:off x="1371600" y="2697480"/>
            <a:ext cx="4754880" cy="1920240"/>
          </a:xfrm>
          <a:prstGeom prst="rect">
            <a:avLst/>
          </a:prstGeom>
          <a:noFill/>
          <a:ln/>
        </p:spPr>
        <p:txBody>
          <a:bodyPr wrap="square" lIns="0" tIns="0" rIns="0" bIns="0" rtlCol="0" anchor="t"/>
          <a:lstStyle/>
          <a:p>
            <a:pPr indent="0" marL="0">
              <a:buNone/>
            </a:pPr>
            <a:r>
              <a:rPr lang="en-US" sz="3200" dirty="0">
                <a:solidFill>
                  <a:schemeClr val="bg1"/>
                </a:solidFill>
              </a:rPr>
              <a:t>Espacio de</a:t>
            </a:r>
            <a:endParaRPr lang="en-US" sz="3200" dirty="0"/>
          </a:p>
          <a:p>
            <a:pPr indent="0" marL="0">
              <a:buNone/>
            </a:pPr>
            <a:r>
              <a:rPr lang="en-US" sz="5600" b="1" dirty="0">
                <a:solidFill>
                  <a:schemeClr val="bg1"/>
                </a:solidFill>
              </a:rPr>
              <a:t>preguntas</a:t>
            </a:r>
            <a:endParaRPr lang="en-US" sz="3200" dirty="0"/>
          </a:p>
        </p:txBody>
      </p:sp>
      <p:pic>
        <p:nvPicPr>
          <p:cNvPr id="5" name="icono preguntas" descr="/tmp/claude-0/-home-user-riesgo/74e9c8ad-7a43-5903-a089-2edd8047c387/scratchpad/assets/icon_question.png">    </p:cNvPr>
          <p:cNvPicPr>
            <a:picLocks noChangeAspect="1"/>
          </p:cNvPicPr>
          <p:nvPr/>
        </p:nvPicPr>
        <p:blipFill>
          <a:blip r:embed="rId2"/>
          <a:stretch>
            <a:fillRect/>
          </a:stretch>
        </p:blipFill>
        <p:spPr>
          <a:xfrm>
            <a:off x="6501384" y="2505456"/>
            <a:ext cx="1837944" cy="1856232"/>
          </a:xfrm>
          <a:prstGeom prst="rect">
            <a:avLst/>
          </a:prstGeom>
        </p:spPr>
      </p:pic>
      <p:pic>
        <p:nvPicPr>
          <p:cNvPr id="6" name="logo" descr="/tmp/claude-0/-home-user-riesgo/74e9c8ad-7a43-5903-a089-2edd8047c387/scratchpad/assets/logo_color.png">    </p:cNvPr>
          <p:cNvPicPr>
            <a:picLocks noChangeAspect="1"/>
          </p:cNvPicPr>
          <p:nvPr/>
        </p:nvPicPr>
        <p:blipFill>
          <a:blip r:embed="rId3"/>
          <a:stretch>
            <a:fillRect/>
          </a:stretch>
        </p:blipFill>
        <p:spPr>
          <a:xfrm>
            <a:off x="10259568" y="5376672"/>
            <a:ext cx="1719072" cy="12527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76E"/>
        </a:solidFill>
      </p:bgPr>
    </p:bg>
    <p:spTree>
      <p:nvGrpSpPr>
        <p:cNvPr id="1" name=""/>
        <p:cNvGrpSpPr/>
        <p:nvPr/>
      </p:nvGrpSpPr>
      <p:grpSpPr>
        <a:xfrm>
          <a:off x="0" y="0"/>
          <a:ext cx="0" cy="0"/>
          <a:chOff x="0" y="0"/>
          <a:chExt cx="0" cy="0"/>
        </a:xfrm>
      </p:grpSpPr>
      <p:sp>
        <p:nvSpPr>
          <p:cNvPr id="2" name="Text 0"/>
          <p:cNvSpPr txBox="1"/>
          <p:nvPr/>
        </p:nvSpPr>
        <p:spPr>
          <a:xfrm>
            <a:off x="2926080" y="2880360"/>
            <a:ext cx="3017520" cy="1097280"/>
          </a:xfrm>
          <a:prstGeom prst="rect">
            <a:avLst/>
          </a:prstGeom>
          <a:noFill/>
          <a:ln/>
        </p:spPr>
        <p:txBody>
          <a:bodyPr wrap="square" lIns="0" tIns="0" rIns="0" bIns="0" rtlCol="0" anchor="ctr"/>
          <a:lstStyle/>
          <a:p>
            <a:pPr algn="r" indent="0" marL="0">
              <a:buNone/>
            </a:pPr>
            <a:r>
              <a:rPr lang="en-US" sz="2600" dirty="0">
                <a:solidFill>
                  <a:schemeClr val="bg1"/>
                </a:solidFill>
              </a:rPr>
              <a:t>COMITÉ DE RIESGO</a:t>
            </a:r>
            <a:endParaRPr lang="en-US" sz="2600" dirty="0"/>
          </a:p>
        </p:txBody>
      </p:sp>
      <p:sp>
        <p:nvSpPr>
          <p:cNvPr id="3" name="divisor"/>
          <p:cNvSpPr/>
          <p:nvPr/>
        </p:nvSpPr>
        <p:spPr>
          <a:xfrm>
            <a:off x="6263640" y="2606040"/>
            <a:ext cx="0" cy="1645920"/>
          </a:xfrm>
          <a:prstGeom prst="line">
            <a:avLst/>
          </a:prstGeom>
          <a:noFill/>
          <a:ln w="15875">
            <a:solidFill>
              <a:srgbClr val="FFFFFF"/>
            </a:solidFill>
            <a:prstDash val="solid"/>
          </a:ln>
        </p:spPr>
      </p:sp>
      <p:pic>
        <p:nvPicPr>
          <p:cNvPr id="4" name="logo" descr="/tmp/claude-0/-home-user-riesgo/74e9c8ad-7a43-5903-a089-2edd8047c387/scratchpad/assets/logo_white.png">    </p:cNvPr>
          <p:cNvPicPr>
            <a:picLocks noChangeAspect="1"/>
          </p:cNvPicPr>
          <p:nvPr/>
        </p:nvPicPr>
        <p:blipFill>
          <a:blip r:embed="rId1"/>
          <a:stretch>
            <a:fillRect/>
          </a:stretch>
        </p:blipFill>
        <p:spPr>
          <a:xfrm>
            <a:off x="6501384" y="2532888"/>
            <a:ext cx="2340864" cy="1581912"/>
          </a:xfrm>
          <a:prstGeom prst="rect">
            <a:avLst/>
          </a:prstGeom>
        </p:spPr>
      </p:pic>
    </p:spTree>
  </p:cSld>
  <p:clrMapOvr>
    <a:masterClrMapping/>
  </p:clrMapOvr>
</p:sld>
</file>

<file path=ppt/theme/theme1.xml><?xml version="1.0" encoding="utf-8"?>
<a:theme xmlns:a="http://schemas.openxmlformats.org/drawingml/2006/main" name="Comedica Avaluos">
  <a:themeElements>
    <a:clrScheme name="Comedica Avaluos">
      <a:dk1>
        <a:srgbClr val="1E2A3A"/>
      </a:dk1>
      <a:lt1>
        <a:srgbClr val="FFFFFF"/>
      </a:lt1>
      <a:dk2>
        <a:srgbClr val="00376E"/>
      </a:dk2>
      <a:lt2>
        <a:srgbClr val="EEF3F9"/>
      </a:lt2>
      <a:accent1>
        <a:srgbClr val="005C9F"/>
      </a:accent1>
      <a:accent2>
        <a:srgbClr val="9CC3F0"/>
      </a:accent2>
      <a:accent3>
        <a:srgbClr val="C62828"/>
      </a:accent3>
      <a:accent4>
        <a:srgbClr val="5F7590"/>
      </a:accent4>
      <a:accent5>
        <a:srgbClr val="C9DBF2"/>
      </a:accent5>
      <a:accent6>
        <a:srgbClr val="D6E2EF"/>
      </a:accent6>
      <a:hlink>
        <a:srgbClr val="0070C0"/>
      </a:hlink>
      <a:folHlink>
        <a:srgbClr val="5F7590"/>
      </a:folHlink>
    </a:clrScheme>
    <a:fontScheme name="Comedica Avaluos">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Comedica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Administración de Avalúos</dc:title>
  <dc:subject>Resumen Ejecutivo para el Comité de Riesgo y Consejo de Administración</dc:subject>
  <dc:creator>Departamento de Administración de Riesgos</dc:creator>
  <cp:lastModifiedBy>Departamento de Administración de Riesgos</cp:lastModifiedBy>
  <cp:revision>1</cp:revision>
  <dcterms:created xsi:type="dcterms:W3CDTF">2026-10-21T16:54:16Z</dcterms:created>
  <dcterms:modified xsi:type="dcterms:W3CDTF">2026-10-21T16:54:16Z</dcterms:modified>
</cp:coreProperties>
</file>