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0.xml" ContentType="application/vnd.openxmlformats-officedocument.presentationml.notesSlide+xml"/>
  <Override PartName="/ppt/charts/chart2.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slides/slide18.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9" r:id="rId5"/>
    <p:sldId id="274" r:id="rId26"/>
    <p:sldId id="260" r:id="rId6"/>
    <p:sldId id="261" r:id="rId7"/>
    <p:sldId id="262" r:id="rId8"/>
    <p:sldId id="265" r:id="rId9"/>
    <p:sldId id="263" r:id="rId10"/>
    <p:sldId id="264" r:id="rId11"/>
    <p:sldId id="266" r:id="rId12"/>
    <p:sldId id="267" r:id="rId13"/>
    <p:sldId id="268" r:id="rId14"/>
    <p:sldId id="269" r:id="rId15"/>
    <p:sldId id="270" r:id="rId16"/>
    <p:sldId id="271" r:id="rId17"/>
    <p:sldId id="273"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A4F49E0E-22B1-BE80-A0E7-19F7228A201A}">
          <p14:sldIdLst>
            <p14:sldId id="256"/>
          </p14:sldIdLst>
        </p14:section>
        <p14:section name="Agenda" id="{1E64A481-C301-D9D3-7047-14A80CF618DD}">
          <p14:sldIdLst>
            <p14:sldId id="257"/>
          </p14:sldIdLst>
        </p14:section>
        <p14:section name="Situación actual" id="{B72421C7-06EF-DB71-5161-B4DC8143E223}">
          <p14:sldIdLst>
            <p14:sldId id="259"/>
            <p14:sldId id="274"/>
            <p14:sldId id="260"/>
            <p14:sldId id="261"/>
            <p14:sldId id="262"/>
            <p14:sldId id="265"/>
          </p14:sldIdLst>
        </p14:section>
        <p14:section name="Datos operativos" id="{7DA4519B-6958-9B8E-80E1-DF02F1BC1D51}">
          <p14:sldIdLst>
            <p14:sldId id="263"/>
            <p14:sldId id="264"/>
          </p14:sldIdLst>
        </p14:section>
        <p14:section name="Riesgo identificado" id="{621E4335-245D-6558-DADE-DEE274FBA16C}">
          <p14:sldIdLst>
            <p14:sldId id="266"/>
          </p14:sldIdLst>
        </p14:section>
        <p14:section name="Propuesta" id="{BFD6A188-B09D-EF39-CF16-FC8B3255C61E}">
          <p14:sldIdLst>
            <p14:sldId id="267"/>
            <p14:sldId id="268"/>
            <p14:sldId id="269"/>
            <p14:sldId id="270"/>
          </p14:sldIdLst>
        </p14:section>
        <p14:section name="Solicitud" id="{DB32BDA2-FC3A-11FB-F819-586922E2490C}">
          <p14:sldIdLst>
            <p14:sldId id="271"/>
          </p14:sldIdLst>
        </p14:section>
        <p14:section name="Cierre" id="{056B976B-2EE2-B430-7DD3-A5C00CA399F7}">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A1FFED3-4EE7-40A7-B85D-BB1DDCD51278}" v="14" dt="2026-10-21T19:44:23.66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80" d="100"/>
          <a:sy n="80" d="100"/>
        </p:scale>
        <p:origin x="754" y="398"/>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  <Relationship Id="rId26" Type="http://schemas.openxmlformats.org/officeDocument/2006/relationships/slide" Target="slides/slide18.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ctor Jose Menjivar Somoza" userId="0c251d33-8269-45bf-9bec-169219cd79c7" providerId="ADAL" clId="{E24BF829-F682-4B96-8073-D53758CC38A2}"/>
    <pc:docChg chg="undo custSel modSld sldOrd modSection">
      <pc:chgData name="Hector Jose Menjivar Somoza" userId="0c251d33-8269-45bf-9bec-169219cd79c7" providerId="ADAL" clId="{E24BF829-F682-4B96-8073-D53758CC38A2}" dt="2026-10-21T19:59:35.654" v="112"/>
      <pc:docMkLst>
        <pc:docMk/>
      </pc:docMkLst>
      <pc:sldChg chg="addSp delSp modSp mod">
        <pc:chgData name="Hector Jose Menjivar Somoza" userId="0c251d33-8269-45bf-9bec-169219cd79c7" providerId="ADAL" clId="{E24BF829-F682-4B96-8073-D53758CC38A2}" dt="2026-10-21T19:44:24.106" v="85"/>
        <pc:sldMkLst>
          <pc:docMk/>
          <pc:sldMk cId="0" sldId="258"/>
        </pc:sldMkLst>
        <pc:spChg chg="mod">
          <ac:chgData name="Hector Jose Menjivar Somoza" userId="0c251d33-8269-45bf-9bec-169219cd79c7" providerId="ADAL" clId="{E24BF829-F682-4B96-8073-D53758CC38A2}" dt="2026-10-21T19:44:10.233" v="80" actId="1076"/>
          <ac:spMkLst>
            <pc:docMk/>
            <pc:sldMk cId="0" sldId="258"/>
            <ac:spMk id="2" creationId="{00000000-0000-0000-0000-000000000000}"/>
          </ac:spMkLst>
        </pc:spChg>
        <pc:spChg chg="mod">
          <ac:chgData name="Hector Jose Menjivar Somoza" userId="0c251d33-8269-45bf-9bec-169219cd79c7" providerId="ADAL" clId="{E24BF829-F682-4B96-8073-D53758CC38A2}" dt="2026-10-21T19:44:16.789" v="82" actId="1076"/>
          <ac:spMkLst>
            <pc:docMk/>
            <pc:sldMk cId="0" sldId="258"/>
            <ac:spMk id="3" creationId="{00000000-0000-0000-0000-000000000000}"/>
          </ac:spMkLst>
        </pc:spChg>
        <pc:spChg chg="add del mod">
          <ac:chgData name="Hector Jose Menjivar Somoza" userId="0c251d33-8269-45bf-9bec-169219cd79c7" providerId="ADAL" clId="{E24BF829-F682-4B96-8073-D53758CC38A2}" dt="2026-10-21T19:44:24.106" v="85"/>
          <ac:spMkLst>
            <pc:docMk/>
            <pc:sldMk cId="0" sldId="258"/>
            <ac:spMk id="7" creationId="{4F8F91A8-0F1E-AA71-6C25-C13D2539AE9F}"/>
          </ac:spMkLst>
        </pc:spChg>
        <pc:picChg chg="del mod">
          <ac:chgData name="Hector Jose Menjivar Somoza" userId="0c251d33-8269-45bf-9bec-169219cd79c7" providerId="ADAL" clId="{E24BF829-F682-4B96-8073-D53758CC38A2}" dt="2026-10-21T19:43:52.072" v="76" actId="478"/>
          <ac:picMkLst>
            <pc:docMk/>
            <pc:sldMk cId="0" sldId="258"/>
            <ac:picMk id="5" creationId="{00000000-0000-0000-0000-000000000000}"/>
          </ac:picMkLst>
        </pc:picChg>
      </pc:sldChg>
      <pc:sldChg chg="modSp mod">
        <pc:chgData name="Hector Jose Menjivar Somoza" userId="0c251d33-8269-45bf-9bec-169219cd79c7" providerId="ADAL" clId="{E24BF829-F682-4B96-8073-D53758CC38A2}" dt="2026-10-21T19:59:08.327" v="110" actId="20577"/>
        <pc:sldMkLst>
          <pc:docMk/>
          <pc:sldMk cId="0" sldId="260"/>
        </pc:sldMkLst>
        <pc:spChg chg="mod">
          <ac:chgData name="Hector Jose Menjivar Somoza" userId="0c251d33-8269-45bf-9bec-169219cd79c7" providerId="ADAL" clId="{E24BF829-F682-4B96-8073-D53758CC38A2}" dt="2026-10-21T19:38:22.883" v="0"/>
          <ac:spMkLst>
            <pc:docMk/>
            <pc:sldMk cId="0" sldId="260"/>
            <ac:spMk id="2" creationId="{00000000-0000-0000-0000-000000000000}"/>
          </ac:spMkLst>
        </pc:spChg>
        <pc:spChg chg="mod">
          <ac:chgData name="Hector Jose Menjivar Somoza" userId="0c251d33-8269-45bf-9bec-169219cd79c7" providerId="ADAL" clId="{E24BF829-F682-4B96-8073-D53758CC38A2}" dt="2026-10-21T19:59:08.327" v="110" actId="20577"/>
          <ac:spMkLst>
            <pc:docMk/>
            <pc:sldMk cId="0" sldId="260"/>
            <ac:spMk id="8" creationId="{00000000-0000-0000-0000-000000000000}"/>
          </ac:spMkLst>
        </pc:spChg>
      </pc:sldChg>
      <pc:sldChg chg="modSp mod">
        <pc:chgData name="Hector Jose Menjivar Somoza" userId="0c251d33-8269-45bf-9bec-169219cd79c7" providerId="ADAL" clId="{E24BF829-F682-4B96-8073-D53758CC38A2}" dt="2026-10-21T19:38:57.705" v="26" actId="14100"/>
        <pc:sldMkLst>
          <pc:docMk/>
          <pc:sldMk cId="0" sldId="261"/>
        </pc:sldMkLst>
        <pc:spChg chg="mod">
          <ac:chgData name="Hector Jose Menjivar Somoza" userId="0c251d33-8269-45bf-9bec-169219cd79c7" providerId="ADAL" clId="{E24BF829-F682-4B96-8073-D53758CC38A2}" dt="2026-10-21T19:38:57.705" v="26" actId="14100"/>
          <ac:spMkLst>
            <pc:docMk/>
            <pc:sldMk cId="0" sldId="261"/>
            <ac:spMk id="2" creationId="{00000000-0000-0000-0000-000000000000}"/>
          </ac:spMkLst>
        </pc:spChg>
      </pc:sldChg>
      <pc:sldChg chg="delSp modSp mod">
        <pc:chgData name="Hector Jose Menjivar Somoza" userId="0c251d33-8269-45bf-9bec-169219cd79c7" providerId="ADAL" clId="{E24BF829-F682-4B96-8073-D53758CC38A2}" dt="2026-10-21T19:39:17.740" v="28" actId="478"/>
        <pc:sldMkLst>
          <pc:docMk/>
          <pc:sldMk cId="0" sldId="262"/>
        </pc:sldMkLst>
        <pc:spChg chg="mod">
          <ac:chgData name="Hector Jose Menjivar Somoza" userId="0c251d33-8269-45bf-9bec-169219cd79c7" providerId="ADAL" clId="{E24BF829-F682-4B96-8073-D53758CC38A2}" dt="2026-10-21T19:39:06.791" v="27"/>
          <ac:spMkLst>
            <pc:docMk/>
            <pc:sldMk cId="0" sldId="262"/>
            <ac:spMk id="2" creationId="{00000000-0000-0000-0000-000000000000}"/>
          </ac:spMkLst>
        </pc:spChg>
        <pc:spChg chg="del">
          <ac:chgData name="Hector Jose Menjivar Somoza" userId="0c251d33-8269-45bf-9bec-169219cd79c7" providerId="ADAL" clId="{E24BF829-F682-4B96-8073-D53758CC38A2}" dt="2026-10-21T19:39:17.740" v="28" actId="478"/>
          <ac:spMkLst>
            <pc:docMk/>
            <pc:sldMk cId="0" sldId="262"/>
            <ac:spMk id="3" creationId="{00000000-0000-0000-0000-000000000000}"/>
          </ac:spMkLst>
        </pc:spChg>
      </pc:sldChg>
      <pc:sldChg chg="modSp">
        <pc:chgData name="Hector Jose Menjivar Somoza" userId="0c251d33-8269-45bf-9bec-169219cd79c7" providerId="ADAL" clId="{E24BF829-F682-4B96-8073-D53758CC38A2}" dt="2026-10-21T19:39:27.220" v="29"/>
        <pc:sldMkLst>
          <pc:docMk/>
          <pc:sldMk cId="0" sldId="263"/>
        </pc:sldMkLst>
        <pc:spChg chg="mod">
          <ac:chgData name="Hector Jose Menjivar Somoza" userId="0c251d33-8269-45bf-9bec-169219cd79c7" providerId="ADAL" clId="{E24BF829-F682-4B96-8073-D53758CC38A2}" dt="2026-10-21T19:39:27.220" v="29"/>
          <ac:spMkLst>
            <pc:docMk/>
            <pc:sldMk cId="0" sldId="263"/>
            <ac:spMk id="2" creationId="{00000000-0000-0000-0000-000000000000}"/>
          </ac:spMkLst>
        </pc:spChg>
      </pc:sldChg>
      <pc:sldChg chg="modSp mod">
        <pc:chgData name="Hector Jose Menjivar Somoza" userId="0c251d33-8269-45bf-9bec-169219cd79c7" providerId="ADAL" clId="{E24BF829-F682-4B96-8073-D53758CC38A2}" dt="2026-10-21T19:39:39.267" v="31" actId="14100"/>
        <pc:sldMkLst>
          <pc:docMk/>
          <pc:sldMk cId="0" sldId="264"/>
        </pc:sldMkLst>
        <pc:spChg chg="mod">
          <ac:chgData name="Hector Jose Menjivar Somoza" userId="0c251d33-8269-45bf-9bec-169219cd79c7" providerId="ADAL" clId="{E24BF829-F682-4B96-8073-D53758CC38A2}" dt="2026-10-21T19:39:39.267" v="31" actId="14100"/>
          <ac:spMkLst>
            <pc:docMk/>
            <pc:sldMk cId="0" sldId="264"/>
            <ac:spMk id="2" creationId="{00000000-0000-0000-0000-000000000000}"/>
          </ac:spMkLst>
        </pc:spChg>
      </pc:sldChg>
      <pc:sldChg chg="modSp mod ord">
        <pc:chgData name="Hector Jose Menjivar Somoza" userId="0c251d33-8269-45bf-9bec-169219cd79c7" providerId="ADAL" clId="{E24BF829-F682-4B96-8073-D53758CC38A2}" dt="2026-10-21T19:59:35.654" v="112"/>
        <pc:sldMkLst>
          <pc:docMk/>
          <pc:sldMk cId="0" sldId="265"/>
        </pc:sldMkLst>
        <pc:spChg chg="mod">
          <ac:chgData name="Hector Jose Menjivar Somoza" userId="0c251d33-8269-45bf-9bec-169219cd79c7" providerId="ADAL" clId="{E24BF829-F682-4B96-8073-D53758CC38A2}" dt="2026-10-21T19:39:57.509" v="35" actId="1076"/>
          <ac:spMkLst>
            <pc:docMk/>
            <pc:sldMk cId="0" sldId="265"/>
            <ac:spMk id="4" creationId="{00000000-0000-0000-0000-000000000000}"/>
          </ac:spMkLst>
        </pc:spChg>
      </pc:sldChg>
      <pc:sldChg chg="modSp mod">
        <pc:chgData name="Hector Jose Menjivar Somoza" userId="0c251d33-8269-45bf-9bec-169219cd79c7" providerId="ADAL" clId="{E24BF829-F682-4B96-8073-D53758CC38A2}" dt="2026-10-21T19:40:22.777" v="40" actId="1076"/>
        <pc:sldMkLst>
          <pc:docMk/>
          <pc:sldMk cId="0" sldId="266"/>
        </pc:sldMkLst>
        <pc:spChg chg="mod">
          <ac:chgData name="Hector Jose Menjivar Somoza" userId="0c251d33-8269-45bf-9bec-169219cd79c7" providerId="ADAL" clId="{E24BF829-F682-4B96-8073-D53758CC38A2}" dt="2026-10-21T19:40:22.777" v="40" actId="1076"/>
          <ac:spMkLst>
            <pc:docMk/>
            <pc:sldMk cId="0" sldId="266"/>
            <ac:spMk id="2" creationId="{00000000-0000-0000-0000-000000000000}"/>
          </ac:spMkLst>
        </pc:spChg>
      </pc:sldChg>
      <pc:sldChg chg="modSp mod">
        <pc:chgData name="Hector Jose Menjivar Somoza" userId="0c251d33-8269-45bf-9bec-169219cd79c7" providerId="ADAL" clId="{E24BF829-F682-4B96-8073-D53758CC38A2}" dt="2026-10-21T19:40:33.957" v="42" actId="14100"/>
        <pc:sldMkLst>
          <pc:docMk/>
          <pc:sldMk cId="0" sldId="267"/>
        </pc:sldMkLst>
        <pc:spChg chg="mod">
          <ac:chgData name="Hector Jose Menjivar Somoza" userId="0c251d33-8269-45bf-9bec-169219cd79c7" providerId="ADAL" clId="{E24BF829-F682-4B96-8073-D53758CC38A2}" dt="2026-10-21T19:40:33.957" v="42" actId="14100"/>
          <ac:spMkLst>
            <pc:docMk/>
            <pc:sldMk cId="0" sldId="267"/>
            <ac:spMk id="2" creationId="{00000000-0000-0000-0000-000000000000}"/>
          </ac:spMkLst>
        </pc:spChg>
      </pc:sldChg>
      <pc:sldChg chg="modSp mod">
        <pc:chgData name="Hector Jose Menjivar Somoza" userId="0c251d33-8269-45bf-9bec-169219cd79c7" providerId="ADAL" clId="{E24BF829-F682-4B96-8073-D53758CC38A2}" dt="2026-10-21T19:58:31.837" v="89" actId="20577"/>
        <pc:sldMkLst>
          <pc:docMk/>
          <pc:sldMk cId="0" sldId="268"/>
        </pc:sldMkLst>
        <pc:spChg chg="mod">
          <ac:chgData name="Hector Jose Menjivar Somoza" userId="0c251d33-8269-45bf-9bec-169219cd79c7" providerId="ADAL" clId="{E24BF829-F682-4B96-8073-D53758CC38A2}" dt="2026-10-21T19:58:31.837" v="89" actId="20577"/>
          <ac:spMkLst>
            <pc:docMk/>
            <pc:sldMk cId="0" sldId="268"/>
            <ac:spMk id="2" creationId="{00000000-0000-0000-0000-000000000000}"/>
          </ac:spMkLst>
        </pc:spChg>
      </pc:sldChg>
      <pc:sldChg chg="modSp mod">
        <pc:chgData name="Hector Jose Menjivar Somoza" userId="0c251d33-8269-45bf-9bec-169219cd79c7" providerId="ADAL" clId="{E24BF829-F682-4B96-8073-D53758CC38A2}" dt="2026-10-21T19:58:27.505" v="88" actId="20577"/>
        <pc:sldMkLst>
          <pc:docMk/>
          <pc:sldMk cId="0" sldId="269"/>
        </pc:sldMkLst>
        <pc:spChg chg="mod">
          <ac:chgData name="Hector Jose Menjivar Somoza" userId="0c251d33-8269-45bf-9bec-169219cd79c7" providerId="ADAL" clId="{E24BF829-F682-4B96-8073-D53758CC38A2}" dt="2026-10-21T19:58:27.505" v="88" actId="20577"/>
          <ac:spMkLst>
            <pc:docMk/>
            <pc:sldMk cId="0" sldId="269"/>
            <ac:spMk id="2" creationId="{00000000-0000-0000-0000-000000000000}"/>
          </ac:spMkLst>
        </pc:spChg>
      </pc:sldChg>
      <pc:sldChg chg="modSp mod">
        <pc:chgData name="Hector Jose Menjivar Somoza" userId="0c251d33-8269-45bf-9bec-169219cd79c7" providerId="ADAL" clId="{E24BF829-F682-4B96-8073-D53758CC38A2}" dt="2026-10-21T19:58:23.395" v="87" actId="20577"/>
        <pc:sldMkLst>
          <pc:docMk/>
          <pc:sldMk cId="0" sldId="270"/>
        </pc:sldMkLst>
        <pc:spChg chg="mod">
          <ac:chgData name="Hector Jose Menjivar Somoza" userId="0c251d33-8269-45bf-9bec-169219cd79c7" providerId="ADAL" clId="{E24BF829-F682-4B96-8073-D53758CC38A2}" dt="2026-10-21T19:58:23.395" v="87" actId="20577"/>
          <ac:spMkLst>
            <pc:docMk/>
            <pc:sldMk cId="0" sldId="270"/>
            <ac:spMk id="2" creationId="{00000000-0000-0000-0000-000000000000}"/>
          </ac:spMkLst>
        </pc:spChg>
      </pc:sldChg>
      <pc:sldChg chg="addSp delSp modSp mod">
        <pc:chgData name="Hector Jose Menjivar Somoza" userId="0c251d33-8269-45bf-9bec-169219cd79c7" providerId="ADAL" clId="{E24BF829-F682-4B96-8073-D53758CC38A2}" dt="2026-10-21T19:42:57.350" v="67" actId="1076"/>
        <pc:sldMkLst>
          <pc:docMk/>
          <pc:sldMk cId="0" sldId="271"/>
        </pc:sldMkLst>
        <pc:spChg chg="mod">
          <ac:chgData name="Hector Jose Menjivar Somoza" userId="0c251d33-8269-45bf-9bec-169219cd79c7" providerId="ADAL" clId="{E24BF829-F682-4B96-8073-D53758CC38A2}" dt="2026-10-21T19:41:14.332" v="51" actId="14100"/>
          <ac:spMkLst>
            <pc:docMk/>
            <pc:sldMk cId="0" sldId="271"/>
            <ac:spMk id="2" creationId="{00000000-0000-0000-0000-000000000000}"/>
          </ac:spMkLst>
        </pc:spChg>
        <pc:spChg chg="mod">
          <ac:chgData name="Hector Jose Menjivar Somoza" userId="0c251d33-8269-45bf-9bec-169219cd79c7" providerId="ADAL" clId="{E24BF829-F682-4B96-8073-D53758CC38A2}" dt="2026-10-21T19:42:57.350" v="67" actId="1076"/>
          <ac:spMkLst>
            <pc:docMk/>
            <pc:sldMk cId="0" sldId="271"/>
            <ac:spMk id="3" creationId="{00000000-0000-0000-0000-000000000000}"/>
          </ac:spMkLst>
        </pc:spChg>
        <pc:spChg chg="mod">
          <ac:chgData name="Hector Jose Menjivar Somoza" userId="0c251d33-8269-45bf-9bec-169219cd79c7" providerId="ADAL" clId="{E24BF829-F682-4B96-8073-D53758CC38A2}" dt="2026-10-21T19:42:57.350" v="67" actId="1076"/>
          <ac:spMkLst>
            <pc:docMk/>
            <pc:sldMk cId="0" sldId="271"/>
            <ac:spMk id="5" creationId="{00000000-0000-0000-0000-000000000000}"/>
          </ac:spMkLst>
        </pc:spChg>
        <pc:spChg chg="mod">
          <ac:chgData name="Hector Jose Menjivar Somoza" userId="0c251d33-8269-45bf-9bec-169219cd79c7" providerId="ADAL" clId="{E24BF829-F682-4B96-8073-D53758CC38A2}" dt="2026-10-21T19:42:57.350" v="67" actId="1076"/>
          <ac:spMkLst>
            <pc:docMk/>
            <pc:sldMk cId="0" sldId="271"/>
            <ac:spMk id="6" creationId="{00000000-0000-0000-0000-000000000000}"/>
          </ac:spMkLst>
        </pc:spChg>
        <pc:spChg chg="mod">
          <ac:chgData name="Hector Jose Menjivar Somoza" userId="0c251d33-8269-45bf-9bec-169219cd79c7" providerId="ADAL" clId="{E24BF829-F682-4B96-8073-D53758CC38A2}" dt="2026-10-21T19:42:57.350" v="67" actId="1076"/>
          <ac:spMkLst>
            <pc:docMk/>
            <pc:sldMk cId="0" sldId="271"/>
            <ac:spMk id="8" creationId="{00000000-0000-0000-0000-000000000000}"/>
          </ac:spMkLst>
        </pc:spChg>
        <pc:spChg chg="mod">
          <ac:chgData name="Hector Jose Menjivar Somoza" userId="0c251d33-8269-45bf-9bec-169219cd79c7" providerId="ADAL" clId="{E24BF829-F682-4B96-8073-D53758CC38A2}" dt="2026-10-21T19:42:57.350" v="67" actId="1076"/>
          <ac:spMkLst>
            <pc:docMk/>
            <pc:sldMk cId="0" sldId="271"/>
            <ac:spMk id="9" creationId="{00000000-0000-0000-0000-000000000000}"/>
          </ac:spMkLst>
        </pc:spChg>
        <pc:spChg chg="mod">
          <ac:chgData name="Hector Jose Menjivar Somoza" userId="0c251d33-8269-45bf-9bec-169219cd79c7" providerId="ADAL" clId="{E24BF829-F682-4B96-8073-D53758CC38A2}" dt="2026-10-21T19:42:57.350" v="67" actId="1076"/>
          <ac:spMkLst>
            <pc:docMk/>
            <pc:sldMk cId="0" sldId="271"/>
            <ac:spMk id="11" creationId="{00000000-0000-0000-0000-000000000000}"/>
          </ac:spMkLst>
        </pc:spChg>
        <pc:grpChg chg="add del mod">
          <ac:chgData name="Hector Jose Menjivar Somoza" userId="0c251d33-8269-45bf-9bec-169219cd79c7" providerId="ADAL" clId="{E24BF829-F682-4B96-8073-D53758CC38A2}" dt="2026-10-21T19:42:49.243" v="66" actId="165"/>
          <ac:grpSpMkLst>
            <pc:docMk/>
            <pc:sldMk cId="0" sldId="271"/>
            <ac:grpSpMk id="17" creationId="{518D3D06-5BDA-BC4C-7C88-B3E718465123}"/>
          </ac:grpSpMkLst>
        </pc:grpChg>
        <pc:picChg chg="mod">
          <ac:chgData name="Hector Jose Menjivar Somoza" userId="0c251d33-8269-45bf-9bec-169219cd79c7" providerId="ADAL" clId="{E24BF829-F682-4B96-8073-D53758CC38A2}" dt="2026-10-21T19:42:57.350" v="67" actId="1076"/>
          <ac:picMkLst>
            <pc:docMk/>
            <pc:sldMk cId="0" sldId="271"/>
            <ac:picMk id="4" creationId="{00000000-0000-0000-0000-000000000000}"/>
          </ac:picMkLst>
        </pc:picChg>
        <pc:picChg chg="mod">
          <ac:chgData name="Hector Jose Menjivar Somoza" userId="0c251d33-8269-45bf-9bec-169219cd79c7" providerId="ADAL" clId="{E24BF829-F682-4B96-8073-D53758CC38A2}" dt="2026-10-21T19:42:57.350" v="67" actId="1076"/>
          <ac:picMkLst>
            <pc:docMk/>
            <pc:sldMk cId="0" sldId="271"/>
            <ac:picMk id="7" creationId="{00000000-0000-0000-0000-000000000000}"/>
          </ac:picMkLst>
        </pc:picChg>
        <pc:picChg chg="mod">
          <ac:chgData name="Hector Jose Menjivar Somoza" userId="0c251d33-8269-45bf-9bec-169219cd79c7" providerId="ADAL" clId="{E24BF829-F682-4B96-8073-D53758CC38A2}" dt="2026-10-21T19:42:57.350" v="67" actId="1076"/>
          <ac:picMkLst>
            <pc:docMk/>
            <pc:sldMk cId="0" sldId="271"/>
            <ac:picMk id="10" creationId="{00000000-0000-0000-0000-000000000000}"/>
          </ac:picMkLst>
        </pc:picChg>
        <pc:picChg chg="mod ord topLvl">
          <ac:chgData name="Hector Jose Menjivar Somoza" userId="0c251d33-8269-45bf-9bec-169219cd79c7" providerId="ADAL" clId="{E24BF829-F682-4B96-8073-D53758CC38A2}" dt="2026-10-21T19:42:49.243" v="66" actId="165"/>
          <ac:picMkLst>
            <pc:docMk/>
            <pc:sldMk cId="0" sldId="271"/>
            <ac:picMk id="14" creationId="{3FC7F1DB-1D1C-B0EA-C01A-F527F956BE4B}"/>
          </ac:picMkLst>
        </pc:picChg>
        <pc:picChg chg="add mod topLvl">
          <ac:chgData name="Hector Jose Menjivar Somoza" userId="0c251d33-8269-45bf-9bec-169219cd79c7" providerId="ADAL" clId="{E24BF829-F682-4B96-8073-D53758CC38A2}" dt="2026-10-21T19:42:49.243" v="66" actId="165"/>
          <ac:picMkLst>
            <pc:docMk/>
            <pc:sldMk cId="0" sldId="271"/>
            <ac:picMk id="16" creationId="{8800E0E4-7EDE-96DB-34B2-6E9A789E0A83}"/>
          </ac:picMkLst>
        </pc:picChg>
      </pc:sldChg>
      <pc:sldChg chg="modSp mod">
        <pc:chgData name="Hector Jose Menjivar Somoza" userId="0c251d33-8269-45bf-9bec-169219cd79c7" providerId="ADAL" clId="{E24BF829-F682-4B96-8073-D53758CC38A2}" dt="2026-10-21T19:57:24.493" v="86" actId="20577"/>
        <pc:sldMkLst>
          <pc:docMk/>
          <pc:sldMk cId="0" sldId="273"/>
        </pc:sldMkLst>
        <pc:spChg chg="mod">
          <ac:chgData name="Hector Jose Menjivar Somoza" userId="0c251d33-8269-45bf-9bec-169219cd79c7" providerId="ADAL" clId="{E24BF829-F682-4B96-8073-D53758CC38A2}" dt="2026-10-21T19:57:24.493" v="86" actId="20577"/>
          <ac:spMkLst>
            <pc:docMk/>
            <pc:sldMk cId="0" sldId="273"/>
            <ac:spMk id="2" creationId="{00000000-0000-0000-0000-000000000000}"/>
          </ac:spMkLst>
        </pc:spChg>
        <pc:picChg chg="mod">
          <ac:chgData name="Hector Jose Menjivar Somoza" userId="0c251d33-8269-45bf-9bec-169219cd79c7" providerId="ADAL" clId="{E24BF829-F682-4B96-8073-D53758CC38A2}" dt="2026-10-21T19:43:05.406" v="68" actId="1076"/>
          <ac:picMkLst>
            <pc:docMk/>
            <pc:sldMk cId="0" sldId="273"/>
            <ac:picMk id="4" creationId="{00000000-0000-0000-0000-000000000000}"/>
          </ac:picMkLst>
        </pc:pic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b="0" i="0" u="none" strike="noStrike" kern="1200" baseline="0">
                <a:solidFill>
                  <a:srgbClr val="002060"/>
                </a:solidFill>
                <a:effectLst/>
                <a:latin typeface="Arial" panose="020B0604020202020204" pitchFamily="34" charset="0"/>
                <a:ea typeface="+mn-ea"/>
                <a:cs typeface="Arial" panose="020B0604020202020204" pitchFamily="34" charset="0"/>
              </a:defRPr>
            </a:pPr>
            <a:r>
              <a:rPr lang="es-SV">
                <a:solidFill>
                  <a:srgbClr val="002060"/>
                </a:solidFill>
                <a:latin typeface="Arial" panose="020B0604020202020204" pitchFamily="34" charset="0"/>
                <a:cs typeface="Arial" panose="020B0604020202020204" pitchFamily="34" charset="0"/>
              </a:rPr>
              <a:t>Expedientes HIPOTECARIO por mes</a:t>
            </a:r>
          </a:p>
        </c:rich>
      </c:tx>
      <c:overlay val="0"/>
      <c:spPr>
        <a:noFill/>
        <a:ln>
          <a:noFill/>
        </a:ln>
        <a:effectLst/>
      </c:spPr>
      <c:txPr>
        <a:bodyPr rot="0" spcFirstLastPara="1" vertOverflow="ellipsis" vert="horz" wrap="square" anchor="ctr" anchorCtr="1"/>
        <a:lstStyle/>
        <a:p>
          <a:pPr>
            <a:defRPr b="0" i="0" u="none" strike="noStrike" kern="1200" baseline="0">
              <a:solidFill>
                <a:srgbClr val="002060"/>
              </a:solidFill>
              <a:effectLst/>
              <a:latin typeface="Arial" panose="020B0604020202020204" pitchFamily="34" charset="0"/>
              <a:ea typeface="+mn-ea"/>
              <a:cs typeface="Arial" panose="020B0604020202020204" pitchFamily="34" charset="0"/>
            </a:defRPr>
          </a:pPr>
          <a:endParaRPr lang="es-SV"/>
        </a:p>
      </c:txPr>
    </c:title>
    <c:autoTitleDeleted val="0"/>
    <c:plotArea>
      <c:layout/>
      <c:barChart>
        <c:barDir val="col"/>
        <c:grouping val="clustered"/>
        <c:varyColors val="0"/>
        <c:ser>
          <c:idx val="0"/>
          <c:order val="0"/>
          <c:tx>
            <c:strRef>
              <c:f>Sheet1!$B$1</c:f>
              <c:strCache>
                <c:ptCount val="1"/>
                <c:pt idx="0">
                  <c:v>HIPOTECARIO</c:v>
                </c:pt>
              </c:strCache>
            </c:strRef>
          </c:tx>
          <c:spPr>
            <a:gradFill>
              <a:gsLst>
                <a:gs pos="0">
                  <a:schemeClr val="accent1"/>
                </a:gs>
                <a:gs pos="100000">
                  <a:schemeClr val="accent1">
                    <a:lumMod val="84000"/>
                  </a:schemeClr>
                </a:gs>
              </a:gsLst>
              <a:lin ang="5400000" scaled="1"/>
            </a:gradFill>
            <a:ln>
              <a:noFill/>
            </a:ln>
            <a:effectLst>
              <a:outerShdw blurRad="76200" dir="18900000" sy="23000" kx="-1200000" algn="bl" rotWithShape="0">
                <a:prstClr val="black">
                  <a:alpha val="20000"/>
                </a:prstClr>
              </a:outerShdw>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330" b="1" i="0" u="none" strike="noStrike" kern="1200" baseline="0">
                    <a:solidFill>
                      <a:srgbClr val="002060"/>
                    </a:solidFill>
                    <a:latin typeface="+mn-lt"/>
                    <a:ea typeface="+mn-ea"/>
                    <a:cs typeface="+mn-cs"/>
                  </a:defRPr>
                </a:pPr>
                <a:endParaRPr lang="es-SV"/>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ene</c:v>
                </c:pt>
                <c:pt idx="1">
                  <c:v>feb</c:v>
                </c:pt>
                <c:pt idx="2">
                  <c:v>mar</c:v>
                </c:pt>
                <c:pt idx="3">
                  <c:v>abr</c:v>
                </c:pt>
                <c:pt idx="4">
                  <c:v>may</c:v>
                </c:pt>
                <c:pt idx="5">
                  <c:v>jun</c:v>
                </c:pt>
                <c:pt idx="6">
                  <c:v>jul</c:v>
                </c:pt>
                <c:pt idx="7">
                  <c:v>ago</c:v>
                </c:pt>
                <c:pt idx="8">
                  <c:v>sep</c:v>
                </c:pt>
              </c:strCache>
            </c:strRef>
          </c:cat>
          <c:val>
            <c:numRef>
              <c:f>Sheet1!$B$2:$B$10</c:f>
              <c:numCache>
                <c:formatCode>General</c:formatCode>
                <c:ptCount val="9"/>
                <c:pt idx="0">
                  <c:v>28</c:v>
                </c:pt>
                <c:pt idx="1">
                  <c:v>22</c:v>
                </c:pt>
                <c:pt idx="2">
                  <c:v>46</c:v>
                </c:pt>
                <c:pt idx="3">
                  <c:v>30</c:v>
                </c:pt>
                <c:pt idx="4">
                  <c:v>41</c:v>
                </c:pt>
                <c:pt idx="5">
                  <c:v>35</c:v>
                </c:pt>
                <c:pt idx="6">
                  <c:v>44</c:v>
                </c:pt>
                <c:pt idx="7">
                  <c:v>33</c:v>
                </c:pt>
                <c:pt idx="8">
                  <c:v>39</c:v>
                </c:pt>
              </c:numCache>
            </c:numRef>
          </c:val>
          <c:extLst>
            <c:ext xmlns:c16="http://schemas.microsoft.com/office/drawing/2014/chart" uri="{C3380CC4-5D6E-409C-BE32-E72D297353CC}">
              <c16:uniqueId val="{00000000-7855-4932-872C-2603C00203F0}"/>
            </c:ext>
          </c:extLst>
        </c:ser>
        <c:dLbls>
          <c:dLblPos val="inEnd"/>
          <c:showLegendKey val="0"/>
          <c:showVal val="1"/>
          <c:showCatName val="0"/>
          <c:showSerName val="0"/>
          <c:showPercent val="0"/>
          <c:showBubbleSize val="0"/>
        </c:dLbls>
        <c:gapWidth val="41"/>
        <c:axId val="2094734554"/>
        <c:axId val="2094734552"/>
      </c:barChart>
      <c:catAx>
        <c:axId val="2094734554"/>
        <c:scaling>
          <c:orientation val="minMax"/>
        </c:scaling>
        <c:delete val="0"/>
        <c:axPos val="b"/>
        <c:numFmt formatCode="General" sourceLinked="1"/>
        <c:majorTickMark val="none"/>
        <c:minorTickMark val="none"/>
        <c:tickLblPos val="low"/>
        <c:spPr>
          <a:noFill/>
          <a:ln>
            <a:noFill/>
          </a:ln>
          <a:effectLst/>
        </c:spPr>
        <c:txPr>
          <a:bodyPr rot="-60000000" spcFirstLastPara="1" vertOverflow="ellipsis" vert="horz" wrap="square" anchor="ctr" anchorCtr="1"/>
          <a:lstStyle/>
          <a:p>
            <a:pPr>
              <a:defRPr sz="1197" b="0" i="0" u="none" strike="noStrike" kern="1200" baseline="0">
                <a:solidFill>
                  <a:srgbClr val="002060"/>
                </a:solidFill>
                <a:effectLst/>
                <a:latin typeface="Arial" panose="020B0604020202020204" pitchFamily="34" charset="0"/>
                <a:ea typeface="+mn-ea"/>
                <a:cs typeface="Arial" panose="020B0604020202020204" pitchFamily="34" charset="0"/>
              </a:defRPr>
            </a:pPr>
            <a:endParaRPr lang="en-US"/>
          </a:p>
        </c:txPr>
        <c:crossAx val="2094734552"/>
        <c:crosses val="autoZero"/>
        <c:auto val="1"/>
        <c:lblAlgn val="ctr"/>
        <c:lblOffset val="100"/>
        <c:noMultiLvlLbl val="1"/>
      </c:catAx>
      <c:valAx>
        <c:axId val="2094734552"/>
        <c:scaling>
          <c:orientation val="minMax"/>
          <c:max val="55"/>
        </c:scaling>
        <c:delete val="1"/>
        <c:axPos val="l"/>
        <c:numFmt formatCode="General" sourceLinked="0"/>
        <c:majorTickMark val="none"/>
        <c:minorTickMark val="none"/>
        <c:tickLblPos val="nextTo"/>
        <c:crossAx val="2094734554"/>
        <c:crosses val="autoZero"/>
        <c:crossBetween val="between"/>
      </c:valAx>
      <c:spPr>
        <a:noFill/>
        <a:ln>
          <a:noFill/>
        </a:ln>
        <a:effectLst/>
      </c:spPr>
    </c:plotArea>
    <c:plotVisOnly val="1"/>
    <c:dispBlanksAs val="span"/>
    <c:showDLblsOverMax val="1"/>
  </c:chart>
  <c:spPr>
    <a:noFill/>
    <a:ln w="9525" cap="flat" cmpd="sng" algn="ctr">
      <a:noFill/>
      <a:round/>
    </a:ln>
    <a:effectLst/>
  </c:spPr>
  <c:txPr>
    <a:bodyPr/>
    <a:lstStyle/>
    <a:p>
      <a:pPr>
        <a:defRPr/>
      </a:pPr>
      <a:endParaRPr lang="es-SV"/>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300" b="0" i="0" u="none" strike="noStrike">
                <a:solidFill>
                  <a:srgbClr val="00376E"/>
                </a:solidFill>
                <a:latin typeface="Arial" panose="020B0604020202020204" pitchFamily="34" charset="0"/>
                <a:cs typeface="Arial" panose="020B0604020202020204" pitchFamily="34" charset="0"/>
              </a:defRPr>
            </a:pPr>
            <a:r>
              <a:rPr lang="es-SV" sz="1300" b="0" i="0" u="none" strike="noStrike" noProof="0" dirty="0">
                <a:solidFill>
                  <a:srgbClr val="00376E"/>
                </a:solidFill>
                <a:latin typeface="Arial" panose="020B0604020202020204" pitchFamily="34" charset="0"/>
                <a:cs typeface="Arial" panose="020B0604020202020204" pitchFamily="34" charset="0"/>
              </a:rPr>
              <a:t>Casos que no se tramitan por mes</a:t>
            </a:r>
          </a:p>
        </c:rich>
      </c:tx>
      <c:overlay val="0"/>
    </c:title>
    <c:autoTitleDeleted val="0"/>
    <c:plotArea>
      <c:layout/>
      <c:barChart>
        <c:barDir val="col"/>
        <c:grouping val="clustered"/>
        <c:varyColors val="0"/>
        <c:ser>
          <c:idx val="0"/>
          <c:order val="0"/>
          <c:tx>
            <c:strRef>
              <c:f>Sheet1!$B$1</c:f>
              <c:strCache>
                <c:ptCount val="1"/>
                <c:pt idx="0">
                  <c:v>Casos no tramitados</c:v>
                </c:pt>
              </c:strCache>
            </c:strRef>
          </c:tx>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Lbls>
            <c:numFmt formatCode="#,##0" sourceLinked="0"/>
            <c:spPr>
              <a:noFill/>
              <a:ln>
                <a:noFill/>
              </a:ln>
              <a:effectLst/>
            </c:spPr>
            <c:txPr>
              <a:bodyPr/>
              <a:lstStyle/>
              <a:p>
                <a:pPr>
                  <a:defRPr sz="1200" b="1" i="0" u="none" strike="noStrike">
                    <a:solidFill>
                      <a:schemeClr val="bg1"/>
                    </a:solidFill>
                    <a:latin typeface="Arial" panose="020B0604020202020204" pitchFamily="34" charset="0"/>
                    <a:cs typeface="Arial" panose="020B0604020202020204" pitchFamily="34" charset="0"/>
                  </a:defRPr>
                </a:pPr>
                <a:endParaRPr lang="es-SV"/>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ENE</c:v>
                </c:pt>
                <c:pt idx="1">
                  <c:v>FEB</c:v>
                </c:pt>
                <c:pt idx="2">
                  <c:v>MAR</c:v>
                </c:pt>
                <c:pt idx="3">
                  <c:v>ABR</c:v>
                </c:pt>
                <c:pt idx="4">
                  <c:v>MAY</c:v>
                </c:pt>
                <c:pt idx="5">
                  <c:v>JUN</c:v>
                </c:pt>
                <c:pt idx="6">
                  <c:v>JUL</c:v>
                </c:pt>
                <c:pt idx="7">
                  <c:v>AGO</c:v>
                </c:pt>
                <c:pt idx="8">
                  <c:v>SEP</c:v>
                </c:pt>
              </c:strCache>
            </c:strRef>
          </c:cat>
          <c:val>
            <c:numRef>
              <c:f>Sheet1!$B$2:$B$10</c:f>
              <c:numCache>
                <c:formatCode>General</c:formatCode>
                <c:ptCount val="9"/>
                <c:pt idx="0">
                  <c:v>4</c:v>
                </c:pt>
                <c:pt idx="1">
                  <c:v>7</c:v>
                </c:pt>
                <c:pt idx="2">
                  <c:v>3</c:v>
                </c:pt>
                <c:pt idx="3">
                  <c:v>3</c:v>
                </c:pt>
                <c:pt idx="4">
                  <c:v>3</c:v>
                </c:pt>
                <c:pt idx="5">
                  <c:v>4</c:v>
                </c:pt>
                <c:pt idx="6">
                  <c:v>5</c:v>
                </c:pt>
                <c:pt idx="7">
                  <c:v>6</c:v>
                </c:pt>
                <c:pt idx="8">
                  <c:v>9</c:v>
                </c:pt>
              </c:numCache>
            </c:numRef>
          </c:val>
          <c:extLst>
            <c:ext xmlns:c16="http://schemas.microsoft.com/office/drawing/2014/chart" uri="{C3380CC4-5D6E-409C-BE32-E72D297353CC}">
              <c16:uniqueId val="{00000000-4EEC-4E1F-88E6-7DF4AC6763BB}"/>
            </c:ext>
          </c:extLst>
        </c:ser>
        <c:dLbls>
          <c:dLblPos val="outEnd"/>
          <c:showLegendKey val="0"/>
          <c:showVal val="1"/>
          <c:showCatName val="0"/>
          <c:showSerName val="0"/>
          <c:showPercent val="0"/>
          <c:showBubbleSize val="0"/>
        </c:dLbls>
        <c:gapWidth val="45"/>
        <c:axId val="2094734554"/>
        <c:axId val="2094734552"/>
      </c:barChart>
      <c:lineChart>
        <c:grouping val="standard"/>
        <c:varyColors val="0"/>
        <c:ser>
          <c:idx val="1"/>
          <c:order val="1"/>
          <c:tx>
            <c:strRef>
              <c:f>Sheet1!$C$1</c:f>
              <c:strCache>
                <c:ptCount val="1"/>
                <c:pt idx="0">
                  <c:v>Promedio (5)</c:v>
                </c:pt>
              </c:strCache>
            </c:strRef>
          </c:tx>
          <c:spPr>
            <a:ln w="25400" cap="flat">
              <a:solidFill>
                <a:srgbClr val="00376E"/>
              </a:solidFill>
              <a:prstDash val="dash"/>
              <a:round/>
            </a:ln>
            <a:effectLst/>
          </c:spPr>
          <c:marker>
            <c:symbol val="none"/>
          </c:marker>
          <c:cat>
            <c:strRef>
              <c:f>Sheet1!$A$2:$A$10</c:f>
              <c:strCache>
                <c:ptCount val="9"/>
                <c:pt idx="0">
                  <c:v>ENE</c:v>
                </c:pt>
                <c:pt idx="1">
                  <c:v>FEB</c:v>
                </c:pt>
                <c:pt idx="2">
                  <c:v>MAR</c:v>
                </c:pt>
                <c:pt idx="3">
                  <c:v>ABR</c:v>
                </c:pt>
                <c:pt idx="4">
                  <c:v>MAY</c:v>
                </c:pt>
                <c:pt idx="5">
                  <c:v>JUN</c:v>
                </c:pt>
                <c:pt idx="6">
                  <c:v>JUL</c:v>
                </c:pt>
                <c:pt idx="7">
                  <c:v>AGO</c:v>
                </c:pt>
                <c:pt idx="8">
                  <c:v>SEP</c:v>
                </c:pt>
              </c:strCache>
            </c:strRef>
          </c:cat>
          <c:val>
            <c:numRef>
              <c:f>Sheet1!$C$2:$C$10</c:f>
              <c:numCache>
                <c:formatCode>General</c:formatCode>
                <c:ptCount val="9"/>
                <c:pt idx="0">
                  <c:v>5</c:v>
                </c:pt>
                <c:pt idx="1">
                  <c:v>5</c:v>
                </c:pt>
                <c:pt idx="2">
                  <c:v>5</c:v>
                </c:pt>
                <c:pt idx="3">
                  <c:v>5</c:v>
                </c:pt>
                <c:pt idx="4">
                  <c:v>5</c:v>
                </c:pt>
                <c:pt idx="5">
                  <c:v>5</c:v>
                </c:pt>
                <c:pt idx="6">
                  <c:v>5</c:v>
                </c:pt>
                <c:pt idx="7">
                  <c:v>5</c:v>
                </c:pt>
                <c:pt idx="8">
                  <c:v>5</c:v>
                </c:pt>
              </c:numCache>
            </c:numRef>
          </c:val>
          <c:smooth val="0"/>
          <c:extLst>
            <c:ext xmlns:c16="http://schemas.microsoft.com/office/drawing/2014/chart" uri="{C3380CC4-5D6E-409C-BE32-E72D297353CC}">
              <c16:uniqueId val="{00000001-4EEC-4E1F-88E6-7DF4AC6763BB}"/>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2060"/>
                </a:solidFill>
                <a:latin typeface="Arial" panose="020B0604020202020204" pitchFamily="34" charset="0"/>
                <a:cs typeface="Arial" panose="020B0604020202020204" pitchFamily="34" charset="0"/>
              </a:defRPr>
            </a:pPr>
            <a:endParaRPr lang="en-US"/>
          </a:p>
        </c:txPr>
        <c:crossAx val="2094734552"/>
        <c:crosses val="autoZero"/>
        <c:auto val="1"/>
        <c:lblAlgn val="ctr"/>
        <c:lblOffset val="100"/>
        <c:noMultiLvlLbl val="1"/>
      </c:catAx>
      <c:valAx>
        <c:axId val="2094734552"/>
        <c:scaling>
          <c:orientation val="minMax"/>
          <c:max val="11"/>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100">
              <a:solidFill>
                <a:srgbClr val="002060"/>
              </a:solidFill>
              <a:latin typeface="Arial" panose="020B0604020202020204" pitchFamily="34" charset="0"/>
              <a:cs typeface="Arial" panose="020B0604020202020204" pitchFamily="34" charset="0"/>
            </a:defRPr>
          </a:pPr>
          <a:endParaRPr lang="en-US"/>
        </a:p>
      </c:txPr>
    </c:legend>
    <c:plotVisOnly val="1"/>
    <c:dispBlanksAs val="span"/>
    <c:showDLblsOverMax val="1"/>
  </c:chart>
  <c:spPr>
    <a:noFill/>
    <a:ln>
      <a:noFill/>
    </a:ln>
    <a:effectLst/>
  </c:sp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4">
  <cs:axisTitle>
    <cs:lnRef idx="0"/>
    <cs:fillRef idx="0"/>
    <cs:effectRef idx="0"/>
    <cs:fontRef idx="minor">
      <a:schemeClr val="dk1">
        <a:lumMod val="65000"/>
        <a:lumOff val="35000"/>
      </a:schemeClr>
    </cs:fontRef>
    <cs:defRPr sz="1197" b="1" kern="1200"/>
  </cs:axisTitle>
  <cs:categoryAxis>
    <cs:lnRef idx="0"/>
    <cs:fillRef idx="0"/>
    <cs:effectRef idx="0"/>
    <cs:fontRef idx="minor">
      <a:schemeClr val="dk1">
        <a:lumMod val="65000"/>
        <a:lumOff val="35000"/>
      </a:schemeClr>
    </cs:fontRef>
    <cs:defRPr sz="1197" kern="1200">
      <a:effectLst/>
    </cs:defRPr>
  </cs:categoryAxis>
  <cs:chartArea>
    <cs:lnRef idx="0"/>
    <cs:fillRef idx="0"/>
    <cs:effectRef idx="0"/>
    <cs:fontRef idx="minor">
      <a:schemeClr val="dk1"/>
    </cs:fontRef>
    <cs:spPr>
      <a:gradFill flip="none" rotWithShape="1">
        <a:gsLst>
          <a:gs pos="0">
            <a:schemeClr val="lt1"/>
          </a:gs>
          <a:gs pos="68000">
            <a:schemeClr val="lt1">
              <a:lumMod val="85000"/>
            </a:schemeClr>
          </a:gs>
          <a:gs pos="100000">
            <a:schemeClr val="lt1"/>
          </a:gs>
        </a:gsLst>
        <a:lin ang="5400000" scaled="1"/>
        <a:tileRect/>
      </a:gradFill>
      <a:ln w="9525" cap="flat" cmpd="sng" algn="ctr">
        <a:solidFill>
          <a:schemeClr val="dk1">
            <a:lumMod val="15000"/>
            <a:lumOff val="85000"/>
          </a:schemeClr>
        </a:solidFill>
        <a:round/>
      </a:ln>
    </cs:spPr>
    <cs:defRPr sz="1330" kern="1200"/>
  </cs:chartArea>
  <cs:dataLabel>
    <cs:lnRef idx="0"/>
    <cs:fillRef idx="0"/>
    <cs:effectRef idx="0"/>
    <cs:fontRef idx="minor">
      <a:schemeClr val="lt1"/>
    </cs:fontRef>
    <cs:spPr/>
    <cs:defRPr sz="1330" b="1" i="0" u="none" strike="noStrike" kern="1200" baseline="0"/>
  </cs:dataLabel>
  <cs:dataLabelCallout>
    <cs:lnRef idx="0"/>
    <cs:fillRef idx="0"/>
    <cs:effectRef idx="0"/>
    <cs:fontRef idx="minor">
      <a:schemeClr val="lt1"/>
    </cs:fontRef>
    <cs:spPr>
      <a:solidFill>
        <a:schemeClr val="dk1">
          <a:lumMod val="65000"/>
          <a:lumOff val="35000"/>
          <a:alpha val="75000"/>
        </a:schemeClr>
      </a:solidFill>
    </cs:spPr>
    <cs:defRPr sz="1330" b="1" kern="1200"/>
    <cs:bodyPr rot="0" spcFirstLastPara="1" vertOverflow="clip" horzOverflow="clip" vert="horz" wrap="square" lIns="36576" tIns="18288" rIns="36576" bIns="18288" anchor="ctr" anchorCtr="1">
      <a:spAutoFit/>
    </cs:bodyPr>
  </cs:dataLabelCallout>
  <cs:dataPoint>
    <cs:lnRef idx="0">
      <cs:styleClr val="auto"/>
    </cs:lnRef>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
  <cs:dataPoint3D>
    <cs:lnRef idx="0"/>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3D>
  <cs:dataPointLine>
    <cs:lnRef idx="0">
      <cs:styleClr val="auto"/>
    </cs:lnRef>
    <cs:fillRef idx="0"/>
    <cs:effectRef idx="0"/>
    <cs:fontRef idx="minor">
      <a:schemeClr val="dk1"/>
    </cs:fontRef>
    <cs:spPr>
      <a:ln w="28575" cap="rnd">
        <a:gradFill>
          <a:gsLst>
            <a:gs pos="0">
              <a:schemeClr val="phClr"/>
            </a:gs>
            <a:gs pos="100000">
              <a:schemeClr val="phClr">
                <a:lumMod val="84000"/>
              </a:schemeClr>
            </a:gs>
          </a:gsLst>
          <a:lin ang="5400000" scaled="1"/>
        </a:gradFill>
        <a:round/>
      </a:ln>
    </cs:spPr>
  </cs:dataPointLine>
  <cs:dataPointMarker>
    <cs:lnRef idx="0"/>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65000"/>
        <a:lumOff val="35000"/>
      </a:schemeClr>
    </cs:fontRef>
    <cs:spPr>
      <a:ln w="9525">
        <a:solidFill>
          <a:schemeClr val="dk1">
            <a:lumMod val="15000"/>
            <a:lumOff val="85000"/>
          </a:schemeClr>
        </a:solidFill>
      </a:ln>
    </cs:spPr>
    <cs:defRPr sz="1197" kern="1200"/>
  </cs:dataTable>
  <cs:downBar>
    <cs:lnRef idx="0"/>
    <cs:fillRef idx="0"/>
    <cs:effectRef idx="0"/>
    <cs:fontRef idx="minor">
      <a:schemeClr val="dk1"/>
    </cs:fontRef>
    <cs:spPr>
      <a:solidFill>
        <a:schemeClr val="dk1">
          <a:lumMod val="35000"/>
          <a:lumOff val="65000"/>
        </a:schemeClr>
      </a:solidFill>
      <a:ln w="9525">
        <a:solidFill>
          <a:schemeClr val="dk1">
            <a:lumMod val="50000"/>
            <a:lumOff val="50000"/>
          </a:schemeClr>
        </a:solidFill>
      </a:ln>
    </cs:spPr>
  </cs:downBar>
  <cs:dropLine>
    <cs:lnRef idx="0"/>
    <cs:fillRef idx="0"/>
    <cs:effectRef idx="0"/>
    <cs:fontRef idx="minor">
      <a:schemeClr val="dk1"/>
    </cs:fontRef>
    <cs:spPr>
      <a:ln w="9525">
        <a:solidFill>
          <a:schemeClr val="dk1">
            <a:lumMod val="50000"/>
            <a:lumOff val="50000"/>
          </a:schemeClr>
        </a:solidFill>
        <a:round/>
      </a:ln>
    </cs:spPr>
  </cs:dropLine>
  <cs:errorBar>
    <cs:lnRef idx="0"/>
    <cs:fillRef idx="0"/>
    <cs:effectRef idx="0"/>
    <cs:fontRef idx="minor">
      <a:schemeClr val="dk1"/>
    </cs:fontRef>
    <cs:spPr>
      <a:ln w="9525">
        <a:solidFill>
          <a:schemeClr val="dk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dk1">
            <a:lumMod val="15000"/>
            <a:lumOff val="85000"/>
          </a:schemeClr>
        </a:solidFill>
        <a:round/>
      </a:ln>
    </cs:spPr>
  </cs:gridlineMajor>
  <cs:gridlineMinor>
    <cs:lnRef idx="0"/>
    <cs:fillRef idx="0"/>
    <cs:effectRef idx="0"/>
    <cs:fontRef idx="minor">
      <a:schemeClr val="dk1"/>
    </cs:fontRef>
    <cs:spPr>
      <a:ln>
        <a:solidFill>
          <a:schemeClr val="dk1">
            <a:lumMod val="5000"/>
            <a:lumOff val="95000"/>
          </a:schemeClr>
        </a:solidFill>
      </a:ln>
    </cs:spPr>
  </cs:gridlineMinor>
  <cs:hiLoLine>
    <cs:lnRef idx="0"/>
    <cs:fillRef idx="0"/>
    <cs:effectRef idx="0"/>
    <cs:fontRef idx="minor">
      <a:schemeClr val="dk1"/>
    </cs:fontRef>
    <cs:spPr>
      <a:ln w="9525">
        <a:solidFill>
          <a:schemeClr val="dk1">
            <a:lumMod val="50000"/>
            <a:lumOff val="50000"/>
          </a:schemeClr>
        </a:solidFill>
        <a:round/>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65000"/>
        <a:lumOff val="3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65000"/>
        <a:lumOff val="35000"/>
      </a:schemeClr>
    </cs:fontRef>
    <cs:spPr>
      <a:ln w="9525" cap="flat" cmpd="sng" algn="ctr">
        <a:solidFill>
          <a:schemeClr val="dk1">
            <a:lumMod val="15000"/>
            <a:lumOff val="8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65000"/>
        <a:lumOff val="35000"/>
      </a:schemeClr>
    </cs:fontRef>
    <cs:defRPr kern="1200">
      <a:effectLst/>
    </cs:defRPr>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dk1">
        <a:lumMod val="65000"/>
        <a:lumOff val="35000"/>
      </a:schemeClr>
    </cs:fontRef>
    <cs:defRPr sz="1197" kern="1200"/>
  </cs:trendlineLabel>
  <cs:upBar>
    <cs:lnRef idx="0"/>
    <cs:fillRef idx="0"/>
    <cs:effectRef idx="0"/>
    <cs:fontRef idx="minor">
      <a:schemeClr val="dk1"/>
    </cs:fontRef>
    <cs:spPr>
      <a:solidFill>
        <a:schemeClr val="lt1">
          <a:lumMod val="95000"/>
        </a:schemeClr>
      </a:solidFill>
      <a:ln w="9525">
        <a:solidFill>
          <a:schemeClr val="dk1">
            <a:lumMod val="15000"/>
            <a:lumOff val="85000"/>
          </a:schemeClr>
        </a:solidFill>
      </a:ln>
    </cs:spPr>
  </cs:upBar>
  <cs:valueAxis>
    <cs:lnRef idx="0"/>
    <cs:fillRef idx="0"/>
    <cs:effectRef idx="0"/>
    <cs:fontRef idx="minor">
      <a:schemeClr val="dk1">
        <a:lumMod val="65000"/>
        <a:lumOff val="35000"/>
      </a:schemeClr>
    </cs:fontRef>
    <cs:defRPr sz="1197" kern="1200"/>
  </cs:valueAxis>
  <cs:wall>
    <cs:lnRef idx="0"/>
    <cs:fillRef idx="0"/>
    <cs:effectRef idx="0"/>
    <cs:fontRef idx="minor">
      <a:schemeClr val="dk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805376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del Proyecto Administración de Avalúos para evaluación y autorización del Comité de Riesgo, y posterior presentación al Consejo de Administración.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 14 (Negocio) + 2 (Legal) + 2 (Operacional) + 2 (Riesgos) = 20 personas.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Promedio mensual de actualización 60 avalúos (dato de Sarita). A ese ritmo se actualizan unos 720 avalúos al año, frente a una cartera de 3,500 garantías.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tal como fueron enviados por Yaneth (Punto 1). El promedio de ≈35 mensual es 318 / 9 meses.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tal como fueron enviados por Yaneth (Punto 2). Promedio = 44 / 9 ≈ 5. La tendencia se eleva en el tercer trimestre (5, 6, 9).</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502920"/>
            <a:ext cx="91440" cy="457200"/>
          </a:xfrm>
          <a:prstGeom prst="rect">
            <a:avLst/>
          </a:prstGeom>
          <a:solidFill>
            <a:srgbClr val="0070C0"/>
          </a:solidFill>
          <a:ln w="12700">
            <a:solidFill>
              <a:srgbClr val="0070C0"/>
            </a:solidFill>
            <a:prstDash val="solid"/>
          </a:ln>
        </p:spPr>
        <p:txBody>
          <a:bodyPr/>
          <a:lstStyle/>
          <a:p>
            <a:endParaRPr lang="es-SV"/>
          </a:p>
        </p:txBody>
      </p:sp>
      <p:sp>
        <p:nvSpPr>
          <p:cNvPr id="3" name="Text 1"/>
          <p:cNvSpPr>
            <a:spLocks noGrp="1"/>
          </p:cNvSpPr>
          <p:nvPr>
            <p:ph type="title" idx="101" hasCustomPrompt="1"/>
          </p:nvPr>
        </p:nvSpPr>
        <p:spPr>
          <a:xfrm>
            <a:off x="777240" y="347472"/>
            <a:ext cx="10881360" cy="777240"/>
          </a:xfrm>
          <a:prstGeom prst="rect">
            <a:avLst/>
          </a:prstGeom>
          <a:noFill/>
          <a:ln/>
        </p:spPr>
        <p:txBody>
          <a:bodyPr wrap="square" rtlCol="0"/>
          <a:lstStyle>
            <a:lvl1pPr marL="0" indent="0" algn="l">
              <a:buNone/>
              <a:defRPr lang="en-US" sz="2400" b="1" dirty="0">
                <a:solidFill>
                  <a:schemeClr val="tx2"/>
                </a:solidFill>
              </a:defRPr>
            </a:lvl1pPr>
          </a:lstStyle>
          <a:p>
            <a:pPr marL="0" indent="0" algn="l">
              <a:buNone/>
            </a:pPr>
            <a:endParaRPr lang="en-US" sz="2400" dirty="0"/>
          </a:p>
        </p:txBody>
      </p:sp>
      <p:pic>
        <p:nvPicPr>
          <p:cNvPr id="4" name="Image 0" descr="/tmp/claude-0/-home-user-riesgo/74e9c8ad-7a43-5903-a089-2edd8047c387/scratchpad/assets/logo_color.png"/>
          <p:cNvPicPr>
            <a:picLocks noChangeAspect="1"/>
          </p:cNvPicPr>
          <p:nvPr/>
        </p:nvPicPr>
        <p:blipFill>
          <a:blip r:embed="rId2"/>
          <a:stretch>
            <a:fillRect/>
          </a:stretch>
        </p:blipFill>
        <p:spPr>
          <a:xfrm>
            <a:off x="10927080" y="6108192"/>
            <a:ext cx="777240" cy="566928"/>
          </a:xfrm>
          <a:prstGeom prst="rect">
            <a:avLst/>
          </a:prstGeom>
        </p:spPr>
      </p:pic>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n-US" b="0"/>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AVE">
    <p:bg>
      <p:bgPr>
        <a:solidFill>
          <a:srgbClr val="FFFFFF"/>
        </a:solidFill>
        <a:effectLst/>
      </p:bgPr>
    </p:bg>
    <p:spTree>
      <p:nvGrpSpPr>
        <p:cNvPr id="1" name=""/>
        <p:cNvGrpSpPr/>
        <p:nvPr/>
      </p:nvGrpSpPr>
      <p:grpSpPr>
        <a:xfrm>
          <a:off x="0" y="0"/>
          <a:ext cx="0" cy="0"/>
          <a:chOff x="0" y="0"/>
          <a:chExt cx="0" cy="0"/>
        </a:xfrm>
      </p:grpSpPr>
      <p:pic>
        <p:nvPicPr>
          <p:cNvPr id="2" name="Image 0" descr="/tmp/claude-0/-home-user-riesgo/74e9c8ad-7a43-5903-a089-2edd8047c387/scratchpad/assets/wave_top.png"/>
          <p:cNvPicPr>
            <a:picLocks noChangeAspect="1"/>
          </p:cNvPicPr>
          <p:nvPr/>
        </p:nvPicPr>
        <p:blipFill>
          <a:blip r:embed="rId2"/>
          <a:stretch>
            <a:fillRect/>
          </a:stretch>
        </p:blipFill>
        <p:spPr>
          <a:xfrm>
            <a:off x="-27432" y="0"/>
            <a:ext cx="12216384" cy="6858000"/>
          </a:xfrm>
          <a:prstGeom prst="rect">
            <a:avLst/>
          </a:prstGeom>
        </p:spPr>
      </p:pic>
      <p:sp>
        <p:nvSpPr>
          <p:cNvPr id="3" name="Shape 0"/>
          <p:cNvSpPr/>
          <p:nvPr/>
        </p:nvSpPr>
        <p:spPr>
          <a:xfrm>
            <a:off x="1188720" y="1783080"/>
            <a:ext cx="73152" cy="502920"/>
          </a:xfrm>
          <a:prstGeom prst="rect">
            <a:avLst/>
          </a:prstGeom>
          <a:solidFill>
            <a:srgbClr val="9CC3F0"/>
          </a:solidFill>
          <a:ln w="12700">
            <a:solidFill>
              <a:srgbClr val="9CC3F0"/>
            </a:solidFill>
            <a:prstDash val="solid"/>
          </a:ln>
        </p:spPr>
        <p:txBody>
          <a:bodyPr/>
          <a:lstStyle/>
          <a:p>
            <a:endParaRPr lang="es-SV"/>
          </a:p>
        </p:txBody>
      </p:sp>
      <p:sp>
        <p:nvSpPr>
          <p:cNvPr id="4" name="Text 1"/>
          <p:cNvSpPr>
            <a:spLocks noGrp="1"/>
          </p:cNvSpPr>
          <p:nvPr>
            <p:ph type="title" idx="102" hasCustomPrompt="1"/>
          </p:nvPr>
        </p:nvSpPr>
        <p:spPr>
          <a:xfrm>
            <a:off x="1371600" y="1554480"/>
            <a:ext cx="5486400" cy="96012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5" name="Text 1"/>
          <p:cNvSpPr>
            <a:spLocks noGrp="1"/>
          </p:cNvSpPr>
          <p:nvPr>
            <p:ph type="body" idx="103" hasCustomPrompt="1"/>
          </p:nvPr>
        </p:nvSpPr>
        <p:spPr>
          <a:xfrm>
            <a:off x="1371600" y="2606040"/>
            <a:ext cx="4480560" cy="1371600"/>
          </a:xfrm>
          <a:prstGeom prst="rect">
            <a:avLst/>
          </a:prstGeom>
          <a:noFill/>
          <a:ln/>
        </p:spPr>
        <p:txBody>
          <a:bodyPr wrap="square" rtlCol="0"/>
          <a:lstStyle>
            <a:lvl1pPr marL="0" indent="0">
              <a:buNone/>
              <a:defRPr lang="en-US" sz="1600" dirty="0">
                <a:solidFill>
                  <a:schemeClr val="bg1"/>
                </a:solidFill>
              </a:defRPr>
            </a:lvl1pPr>
          </a:lstStyle>
          <a:p>
            <a:pPr marL="0" indent="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AVY">
    <p:bg>
      <p:bgPr>
        <a:solidFill>
          <a:srgbClr val="00376E"/>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097280"/>
            <a:ext cx="10698480" cy="1005840"/>
          </a:xfrm>
          <a:prstGeom prst="rect">
            <a:avLst/>
          </a:prstGeom>
          <a:noFill/>
          <a:ln/>
        </p:spPr>
        <p:txBody>
          <a:bodyPr wrap="square" rtlCol="0"/>
          <a:lstStyle>
            <a:lvl1pPr marL="0" indent="0" algn="l">
              <a:buNone/>
              <a:defRPr lang="en-US" sz="3400" b="1" dirty="0">
                <a:solidFill>
                  <a:schemeClr val="bg1"/>
                </a:solidFill>
              </a:defRPr>
            </a:lvl1pPr>
          </a:lstStyle>
          <a:p>
            <a:pPr marL="0" indent="0" algn="l">
              <a:buNone/>
            </a:pPr>
            <a:endParaRPr lang="en-US" sz="3400" dirty="0"/>
          </a:p>
        </p:txBody>
      </p:sp>
      <p:pic>
        <p:nvPicPr>
          <p:cNvPr id="3" name="Image 0" descr="/tmp/claude-0/-home-user-riesgo/74e9c8ad-7a43-5903-a089-2edd8047c387/scratchpad/assets/logo_white.png"/>
          <p:cNvPicPr>
            <a:picLocks noChangeAspect="1"/>
          </p:cNvPicPr>
          <p:nvPr/>
        </p:nvPicPr>
        <p:blipFill>
          <a:blip r:embed="rId2"/>
          <a:stretch>
            <a:fillRect/>
          </a:stretch>
        </p:blipFill>
        <p:spPr>
          <a:xfrm>
            <a:off x="10607040" y="5806440"/>
            <a:ext cx="1097280" cy="74066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5.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5.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microsoft.com/office/2007/relationships/hdphoto" Target="../media/hdphoto1.wdp"/></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8" name="Text 3"/>
          <p:cNvSpPr txBox="1"/>
          <p:nvPr/>
        </p:nvSpPr>
        <p:spPr>
          <a:xfrm>
            <a:off x="4046051" y="3024098"/>
            <a:ext cx="7621139" cy="685800"/>
          </a:xfrm>
          <a:prstGeom prst="rect">
            <a:avLst/>
          </a:prstGeom>
          <a:noFill/>
          <a:ln/>
        </p:spPr>
        <p:txBody>
          <a:bodyPr wrap="square" lIns="0" tIns="0" rIns="0" bIns="0" rtlCol="0" anchor="ctr"/>
          <a:lstStyle/>
          <a:p>
            <a:pPr marL="0" indent="0">
              <a:buNone/>
            </a:pPr>
            <a:r>
              <a:rPr lang="es-SV" sz="2800" b="1" noProof="0" dirty="0">
                <a:solidFill>
                  <a:schemeClr val="tx2"/>
                </a:solidFill>
              </a:rPr>
              <a:t>PROYECTO ADMINISTRACIÓN DE AVALÚOS</a:t>
            </a:r>
            <a:endParaRPr lang="es-SV" sz="2800" noProof="0" dirty="0"/>
          </a:p>
        </p:txBody>
      </p:sp>
      <p:grpSp>
        <p:nvGrpSpPr>
          <p:cNvPr id="15" name="Grupo 14">
            <a:extLst>
              <a:ext uri="{FF2B5EF4-FFF2-40B4-BE49-F238E27FC236}">
                <a16:creationId xmlns:a16="http://schemas.microsoft.com/office/drawing/2014/main" id="{61E57972-6CB2-DB66-0C0F-387EBF169003}"/>
              </a:ext>
            </a:extLst>
          </p:cNvPr>
          <p:cNvGrpSpPr/>
          <p:nvPr/>
        </p:nvGrpSpPr>
        <p:grpSpPr>
          <a:xfrm>
            <a:off x="0" y="0"/>
            <a:ext cx="3533242" cy="6858000"/>
            <a:chOff x="98787" y="0"/>
            <a:chExt cx="3533242" cy="6858000"/>
          </a:xfrm>
        </p:grpSpPr>
        <p:sp>
          <p:nvSpPr>
            <p:cNvPr id="3" name="panel"/>
            <p:cNvSpPr/>
            <p:nvPr/>
          </p:nvSpPr>
          <p:spPr>
            <a:xfrm>
              <a:off x="99093" y="0"/>
              <a:ext cx="3532936" cy="6858000"/>
            </a:xfrm>
            <a:prstGeom prst="rect">
              <a:avLst/>
            </a:prstGeom>
            <a:solidFill>
              <a:srgbClr val="00376E"/>
            </a:solidFill>
            <a:ln w="12700">
              <a:solidFill>
                <a:srgbClr val="00376E"/>
              </a:solidFill>
              <a:prstDash val="solid"/>
            </a:ln>
          </p:spPr>
          <p:txBody>
            <a:bodyPr/>
            <a:lstStyle/>
            <a:p>
              <a:endParaRPr lang="es-SV" noProof="0" dirty="0"/>
            </a:p>
          </p:txBody>
        </p:sp>
        <p:sp>
          <p:nvSpPr>
            <p:cNvPr id="4" name="panel marca"/>
            <p:cNvSpPr/>
            <p:nvPr/>
          </p:nvSpPr>
          <p:spPr>
            <a:xfrm>
              <a:off x="98787" y="1217436"/>
              <a:ext cx="192024" cy="1207008"/>
            </a:xfrm>
            <a:prstGeom prst="rect">
              <a:avLst/>
            </a:prstGeom>
            <a:solidFill>
              <a:srgbClr val="005C9F"/>
            </a:solidFill>
            <a:ln w="12700">
              <a:solidFill>
                <a:srgbClr val="005C9F"/>
              </a:solidFill>
              <a:prstDash val="solid"/>
            </a:ln>
          </p:spPr>
          <p:txBody>
            <a:bodyPr/>
            <a:lstStyle/>
            <a:p>
              <a:endParaRPr lang="es-SV" noProof="0" dirty="0"/>
            </a:p>
          </p:txBody>
        </p:sp>
      </p:grpSp>
      <p:grpSp>
        <p:nvGrpSpPr>
          <p:cNvPr id="16" name="Grupo 15">
            <a:extLst>
              <a:ext uri="{FF2B5EF4-FFF2-40B4-BE49-F238E27FC236}">
                <a16:creationId xmlns:a16="http://schemas.microsoft.com/office/drawing/2014/main" id="{AA9CE1CE-7D68-4890-0736-46EDF1746AA3}"/>
              </a:ext>
            </a:extLst>
          </p:cNvPr>
          <p:cNvGrpSpPr/>
          <p:nvPr/>
        </p:nvGrpSpPr>
        <p:grpSpPr>
          <a:xfrm>
            <a:off x="52274" y="5421470"/>
            <a:ext cx="3429000" cy="960120"/>
            <a:chOff x="3738099" y="2150124"/>
            <a:chExt cx="3429000" cy="960120"/>
          </a:xfrm>
        </p:grpSpPr>
        <p:sp>
          <p:nvSpPr>
            <p:cNvPr id="10" name="ponente"/>
            <p:cNvSpPr/>
            <p:nvPr/>
          </p:nvSpPr>
          <p:spPr>
            <a:xfrm>
              <a:off x="3738099" y="2150124"/>
              <a:ext cx="3429000" cy="960120"/>
            </a:xfrm>
            <a:prstGeom prst="rect">
              <a:avLst/>
            </a:prstGeom>
            <a:solidFill>
              <a:srgbClr val="005C9F"/>
            </a:solidFill>
            <a:ln w="12700">
              <a:solidFill>
                <a:srgbClr val="005C9F"/>
              </a:solidFill>
              <a:prstDash val="solid"/>
            </a:ln>
          </p:spPr>
          <p:txBody>
            <a:bodyPr/>
            <a:lstStyle/>
            <a:p>
              <a:endParaRPr lang="es-SV" noProof="0" dirty="0"/>
            </a:p>
          </p:txBody>
        </p:sp>
        <p:sp>
          <p:nvSpPr>
            <p:cNvPr id="11" name="Text 6"/>
            <p:cNvSpPr txBox="1"/>
            <p:nvPr/>
          </p:nvSpPr>
          <p:spPr>
            <a:xfrm>
              <a:off x="3952068" y="2150124"/>
              <a:ext cx="3154680" cy="960120"/>
            </a:xfrm>
            <a:prstGeom prst="rect">
              <a:avLst/>
            </a:prstGeom>
            <a:noFill/>
            <a:ln/>
          </p:spPr>
          <p:txBody>
            <a:bodyPr wrap="square" lIns="0" tIns="0" rIns="0" bIns="0" rtlCol="0" anchor="ctr"/>
            <a:lstStyle/>
            <a:p>
              <a:pPr marL="0" indent="0" algn="ctr">
                <a:buNone/>
              </a:pPr>
              <a:r>
                <a:rPr lang="es-SV" sz="1600" b="1" noProof="0" dirty="0">
                  <a:solidFill>
                    <a:schemeClr val="bg1"/>
                  </a:solidFill>
                </a:rPr>
                <a:t>Departamento de Administración de Riesgos</a:t>
              </a:r>
              <a:endParaRPr lang="es-SV" sz="1600" noProof="0" dirty="0"/>
            </a:p>
          </p:txBody>
        </p:sp>
      </p:grpSp>
      <p:sp>
        <p:nvSpPr>
          <p:cNvPr id="12" name="Text 7"/>
          <p:cNvSpPr txBox="1"/>
          <p:nvPr/>
        </p:nvSpPr>
        <p:spPr>
          <a:xfrm>
            <a:off x="176455" y="3805010"/>
            <a:ext cx="3154680" cy="470994"/>
          </a:xfrm>
          <a:prstGeom prst="rect">
            <a:avLst/>
          </a:prstGeom>
          <a:noFill/>
          <a:ln/>
        </p:spPr>
        <p:txBody>
          <a:bodyPr wrap="square" lIns="0" tIns="0" rIns="0" bIns="0" rtlCol="0" anchor="t"/>
          <a:lstStyle/>
          <a:p>
            <a:pPr marL="0" indent="0" algn="ctr">
              <a:buNone/>
            </a:pPr>
            <a:endParaRPr lang="es-SV" sz="1400" noProof="0" dirty="0">
              <a:solidFill>
                <a:srgbClr val="002060"/>
              </a:solidFill>
            </a:endParaRPr>
          </a:p>
        </p:txBody>
      </p:sp>
      <p:sp>
        <p:nvSpPr>
          <p:cNvPr id="13" name="Text 8"/>
          <p:cNvSpPr txBox="1"/>
          <p:nvPr/>
        </p:nvSpPr>
        <p:spPr>
          <a:xfrm>
            <a:off x="1030505" y="6568120"/>
            <a:ext cx="1472537" cy="289880"/>
          </a:xfrm>
          <a:prstGeom prst="rect">
            <a:avLst/>
          </a:prstGeom>
          <a:noFill/>
          <a:ln/>
        </p:spPr>
        <p:txBody>
          <a:bodyPr wrap="square" lIns="0" tIns="0" rIns="0" bIns="0" rtlCol="0" anchor="t"/>
          <a:lstStyle/>
          <a:p>
            <a:pPr marL="0" indent="0">
              <a:buNone/>
            </a:pPr>
            <a:r>
              <a:rPr lang="es-SV" sz="1600" b="1" noProof="0" dirty="0">
                <a:solidFill>
                  <a:schemeClr val="accent2"/>
                </a:solidFill>
              </a:rPr>
              <a:t>OCTUBRE 2026</a:t>
            </a:r>
            <a:endParaRPr lang="es-SV" sz="1600" noProof="0" dirty="0"/>
          </a:p>
        </p:txBody>
      </p:sp>
      <p:pic>
        <p:nvPicPr>
          <p:cNvPr id="19" name="Imagen 18">
            <a:extLst>
              <a:ext uri="{FF2B5EF4-FFF2-40B4-BE49-F238E27FC236}">
                <a16:creationId xmlns:a16="http://schemas.microsoft.com/office/drawing/2014/main" id="{F8678437-FF0B-F2ED-7C3D-74B6363FB68E}"/>
              </a:ext>
            </a:extLst>
          </p:cNvPr>
          <p:cNvPicPr>
            <a:picLocks noChangeAspect="1"/>
          </p:cNvPicPr>
          <p:nvPr/>
        </p:nvPicPr>
        <p:blipFill rotWithShape="1">
          <a:blip r:embed="rId3"/>
          <a:srcRect b="20910"/>
          <a:stretch/>
        </p:blipFill>
        <p:spPr>
          <a:xfrm>
            <a:off x="-207738" y="1324831"/>
            <a:ext cx="3923066" cy="2210927"/>
          </a:xfrm>
          <a:prstGeom prst="rect">
            <a:avLst/>
          </a:prstGeom>
        </p:spPr>
      </p:pic>
      <p:sp>
        <p:nvSpPr>
          <p:cNvPr id="21" name="CuadroTexto 20">
            <a:extLst>
              <a:ext uri="{FF2B5EF4-FFF2-40B4-BE49-F238E27FC236}">
                <a16:creationId xmlns:a16="http://schemas.microsoft.com/office/drawing/2014/main" id="{3BED2475-AB47-402D-8199-2433706B605F}"/>
              </a:ext>
            </a:extLst>
          </p:cNvPr>
          <p:cNvSpPr txBox="1"/>
          <p:nvPr/>
        </p:nvSpPr>
        <p:spPr>
          <a:xfrm>
            <a:off x="4786562" y="3886618"/>
            <a:ext cx="6140116" cy="307777"/>
          </a:xfrm>
          <a:prstGeom prst="rect">
            <a:avLst/>
          </a:prstGeom>
          <a:noFill/>
        </p:spPr>
        <p:txBody>
          <a:bodyPr wrap="square">
            <a:spAutoFit/>
          </a:bodyPr>
          <a:lstStyle/>
          <a:p>
            <a:pPr marL="0" indent="0" algn="ctr">
              <a:buNone/>
            </a:pPr>
            <a:r>
              <a:rPr lang="es-SV" sz="1400" noProof="0" dirty="0">
                <a:solidFill>
                  <a:srgbClr val="002060"/>
                </a:solidFill>
              </a:rPr>
              <a:t>Comité de Riesgo y Consejo de Administración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banda"/>
          <p:cNvSpPr/>
          <p:nvPr/>
        </p:nvSpPr>
        <p:spPr>
          <a:xfrm>
            <a:off x="0" y="0"/>
            <a:ext cx="12191695" cy="749808"/>
          </a:xfrm>
          <a:prstGeom prst="rect">
            <a:avLst/>
          </a:prstGeom>
          <a:solidFill>
            <a:srgbClr val="00376E"/>
          </a:solidFill>
          <a:ln w="12700">
            <a:solidFill>
              <a:srgbClr val="00376E"/>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3" name="Text 1"/>
          <p:cNvSpPr txBox="1"/>
          <p:nvPr/>
        </p:nvSpPr>
        <p:spPr>
          <a:xfrm>
            <a:off x="0" y="0"/>
            <a:ext cx="12191695" cy="749808"/>
          </a:xfrm>
          <a:prstGeom prst="rect">
            <a:avLst/>
          </a:prstGeom>
          <a:noFill/>
          <a:ln/>
        </p:spPr>
        <p:txBody>
          <a:bodyPr wrap="square" lIns="0" tIns="0" rIns="0" bIns="0" rtlCol="0" anchor="ctr"/>
          <a:lstStyle/>
          <a:p>
            <a:pPr marL="0" indent="0" algn="ctr">
              <a:buNone/>
            </a:pPr>
            <a:r>
              <a:rPr lang="es-SV" sz="1800" b="1" noProof="0" dirty="0">
                <a:solidFill>
                  <a:schemeClr val="bg1"/>
                </a:solidFill>
                <a:latin typeface="Arial" panose="020B0604020202020204" pitchFamily="34" charset="0"/>
                <a:cs typeface="Arial" panose="020B0604020202020204" pitchFamily="34" charset="0"/>
              </a:rPr>
              <a:t>PROYECTO ADMINISTRACIÓN DE AVALÚOS</a:t>
            </a:r>
            <a:endParaRPr lang="es-SV" sz="1800" noProof="0" dirty="0">
              <a:latin typeface="Arial" panose="020B0604020202020204" pitchFamily="34" charset="0"/>
              <a:cs typeface="Arial" panose="020B0604020202020204" pitchFamily="34" charset="0"/>
            </a:endParaRPr>
          </a:p>
        </p:txBody>
      </p:sp>
      <p:sp>
        <p:nvSpPr>
          <p:cNvPr id="4" name="Text 2"/>
          <p:cNvSpPr txBox="1"/>
          <p:nvPr/>
        </p:nvSpPr>
        <p:spPr>
          <a:xfrm>
            <a:off x="1280160" y="1051560"/>
            <a:ext cx="2088682" cy="731520"/>
          </a:xfrm>
          <a:prstGeom prst="rect">
            <a:avLst/>
          </a:prstGeom>
          <a:noFill/>
          <a:ln/>
        </p:spPr>
        <p:txBody>
          <a:bodyPr wrap="square" lIns="0" tIns="0" rIns="0" bIns="0" rtlCol="0" anchor="ctr"/>
          <a:lstStyle/>
          <a:p>
            <a:pPr marL="0" indent="0">
              <a:buNone/>
            </a:pPr>
            <a:r>
              <a:rPr lang="es-SV" sz="3600" b="1" noProof="0" dirty="0">
                <a:solidFill>
                  <a:schemeClr val="tx2"/>
                </a:solidFill>
                <a:latin typeface="Arial" panose="020B0604020202020204" pitchFamily="34" charset="0"/>
                <a:cs typeface="Arial" panose="020B0604020202020204" pitchFamily="34" charset="0"/>
              </a:rPr>
              <a:t>AGENDA</a:t>
            </a:r>
            <a:endParaRPr lang="es-SV" sz="3600" noProof="0" dirty="0">
              <a:latin typeface="Arial" panose="020B0604020202020204" pitchFamily="34" charset="0"/>
              <a:cs typeface="Arial" panose="020B0604020202020204" pitchFamily="34" charset="0"/>
            </a:endParaRPr>
          </a:p>
        </p:txBody>
      </p:sp>
      <p:sp>
        <p:nvSpPr>
          <p:cNvPr id="5" name="agenda fila 1"/>
          <p:cNvSpPr/>
          <p:nvPr/>
        </p:nvSpPr>
        <p:spPr>
          <a:xfrm>
            <a:off x="1280160" y="2011680"/>
            <a:ext cx="9601200" cy="777240"/>
          </a:xfrm>
          <a:prstGeom prst="roundRect">
            <a:avLst>
              <a:gd name="adj" fmla="val 11765"/>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6" name="Text 4"/>
          <p:cNvSpPr txBox="1"/>
          <p:nvPr/>
        </p:nvSpPr>
        <p:spPr>
          <a:xfrm>
            <a:off x="1508760" y="2011680"/>
            <a:ext cx="731520" cy="777240"/>
          </a:xfrm>
          <a:prstGeom prst="rect">
            <a:avLst/>
          </a:prstGeom>
          <a:noFill/>
          <a:ln/>
        </p:spPr>
        <p:txBody>
          <a:bodyPr wrap="square" lIns="0" tIns="0" rIns="0" bIns="0" rtlCol="0" anchor="ctr"/>
          <a:lstStyle/>
          <a:p>
            <a:pPr marL="0" indent="0">
              <a:buNone/>
            </a:pPr>
            <a:r>
              <a:rPr lang="es-SV" sz="2400" b="1" noProof="0" dirty="0">
                <a:solidFill>
                  <a:schemeClr val="accent1"/>
                </a:solidFill>
                <a:latin typeface="Arial" panose="020B0604020202020204" pitchFamily="34" charset="0"/>
                <a:cs typeface="Arial" panose="020B0604020202020204" pitchFamily="34" charset="0"/>
              </a:rPr>
              <a:t>01</a:t>
            </a:r>
            <a:endParaRPr lang="es-SV" sz="2400" noProof="0" dirty="0">
              <a:latin typeface="Arial" panose="020B0604020202020204" pitchFamily="34" charset="0"/>
              <a:cs typeface="Arial" panose="020B0604020202020204" pitchFamily="34" charset="0"/>
            </a:endParaRPr>
          </a:p>
        </p:txBody>
      </p:sp>
      <p:sp>
        <p:nvSpPr>
          <p:cNvPr id="7" name="agenda 1 circle"/>
          <p:cNvSpPr/>
          <p:nvPr/>
        </p:nvSpPr>
        <p:spPr>
          <a:xfrm>
            <a:off x="2286000" y="2139696"/>
            <a:ext cx="521208" cy="521208"/>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8" name="agenda 1 icon" descr="preencoded.png"/>
          <p:cNvPicPr>
            <a:picLocks noChangeAspect="1"/>
          </p:cNvPicPr>
          <p:nvPr/>
        </p:nvPicPr>
        <p:blipFill>
          <a:blip r:embed="rId3"/>
          <a:stretch>
            <a:fillRect/>
          </a:stretch>
        </p:blipFill>
        <p:spPr>
          <a:xfrm>
            <a:off x="2400666" y="2254362"/>
            <a:ext cx="291876" cy="291876"/>
          </a:xfrm>
          <a:prstGeom prst="rect">
            <a:avLst/>
          </a:prstGeom>
        </p:spPr>
      </p:pic>
      <p:sp>
        <p:nvSpPr>
          <p:cNvPr id="9" name="Text 6"/>
          <p:cNvSpPr txBox="1"/>
          <p:nvPr/>
        </p:nvSpPr>
        <p:spPr>
          <a:xfrm>
            <a:off x="3063240" y="2011680"/>
            <a:ext cx="3108960" cy="777240"/>
          </a:xfrm>
          <a:prstGeom prst="rect">
            <a:avLst/>
          </a:prstGeom>
          <a:noFill/>
          <a:ln/>
        </p:spPr>
        <p:txBody>
          <a:bodyPr wrap="square" lIns="0" tIns="0" rIns="0" bIns="0" rtlCol="0" anchor="ctr"/>
          <a:lstStyle/>
          <a:p>
            <a:pPr marL="0" indent="0">
              <a:buNone/>
            </a:pPr>
            <a:r>
              <a:rPr lang="es-SV" sz="1700" b="1" noProof="0" dirty="0">
                <a:solidFill>
                  <a:schemeClr val="tx2"/>
                </a:solidFill>
                <a:latin typeface="Arial" panose="020B0604020202020204" pitchFamily="34" charset="0"/>
                <a:cs typeface="Arial" panose="020B0604020202020204" pitchFamily="34" charset="0"/>
              </a:rPr>
              <a:t>Situación actual</a:t>
            </a:r>
            <a:endParaRPr lang="es-SV" sz="1700" noProof="0" dirty="0">
              <a:latin typeface="Arial" panose="020B0604020202020204" pitchFamily="34" charset="0"/>
              <a:cs typeface="Arial" panose="020B0604020202020204" pitchFamily="34" charset="0"/>
            </a:endParaRPr>
          </a:p>
        </p:txBody>
      </p:sp>
      <p:sp>
        <p:nvSpPr>
          <p:cNvPr id="10" name="Text 7"/>
          <p:cNvSpPr txBox="1"/>
          <p:nvPr/>
        </p:nvSpPr>
        <p:spPr>
          <a:xfrm>
            <a:off x="6309360" y="2011680"/>
            <a:ext cx="4389120" cy="777240"/>
          </a:xfrm>
          <a:prstGeom prst="rect">
            <a:avLst/>
          </a:prstGeom>
          <a:noFill/>
          <a:ln/>
        </p:spPr>
        <p:txBody>
          <a:bodyPr wrap="square" lIns="0" tIns="0" rIns="0" bIns="0" rtlCol="0" anchor="ctr"/>
          <a:lstStyle/>
          <a:p>
            <a:pPr marL="0" indent="0" algn="ctr">
              <a:buNone/>
            </a:pPr>
            <a:r>
              <a:rPr lang="es-SV" sz="1300" noProof="0" dirty="0">
                <a:solidFill>
                  <a:schemeClr val="tx1"/>
                </a:solidFill>
                <a:latin typeface="Arial" panose="020B0604020202020204" pitchFamily="34" charset="0"/>
                <a:cs typeface="Arial" panose="020B0604020202020204" pitchFamily="34" charset="0"/>
              </a:rPr>
              <a:t>Cómo se distribuye hoy el proceso de avalúos entre gerencias</a:t>
            </a:r>
            <a:endParaRPr lang="es-SV" sz="1300" noProof="0" dirty="0">
              <a:latin typeface="Arial" panose="020B0604020202020204" pitchFamily="34" charset="0"/>
              <a:cs typeface="Arial" panose="020B0604020202020204" pitchFamily="34" charset="0"/>
            </a:endParaRPr>
          </a:p>
        </p:txBody>
      </p:sp>
      <p:sp>
        <p:nvSpPr>
          <p:cNvPr id="11" name="agenda fila 2"/>
          <p:cNvSpPr/>
          <p:nvPr/>
        </p:nvSpPr>
        <p:spPr>
          <a:xfrm>
            <a:off x="1280160" y="2971800"/>
            <a:ext cx="9601200" cy="777240"/>
          </a:xfrm>
          <a:prstGeom prst="roundRect">
            <a:avLst>
              <a:gd name="adj" fmla="val 11765"/>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2" name="Text 9"/>
          <p:cNvSpPr txBox="1"/>
          <p:nvPr/>
        </p:nvSpPr>
        <p:spPr>
          <a:xfrm>
            <a:off x="1508760" y="2971800"/>
            <a:ext cx="731520" cy="777240"/>
          </a:xfrm>
          <a:prstGeom prst="rect">
            <a:avLst/>
          </a:prstGeom>
          <a:noFill/>
          <a:ln/>
        </p:spPr>
        <p:txBody>
          <a:bodyPr wrap="square" lIns="0" tIns="0" rIns="0" bIns="0" rtlCol="0" anchor="ctr"/>
          <a:lstStyle/>
          <a:p>
            <a:pPr marL="0" indent="0">
              <a:buNone/>
            </a:pPr>
            <a:r>
              <a:rPr lang="es-SV" sz="2400" b="1" noProof="0" dirty="0">
                <a:solidFill>
                  <a:schemeClr val="accent1"/>
                </a:solidFill>
                <a:latin typeface="Arial" panose="020B0604020202020204" pitchFamily="34" charset="0"/>
                <a:cs typeface="Arial" panose="020B0604020202020204" pitchFamily="34" charset="0"/>
              </a:rPr>
              <a:t>02</a:t>
            </a:r>
            <a:endParaRPr lang="es-SV" sz="2400" noProof="0" dirty="0">
              <a:latin typeface="Arial" panose="020B0604020202020204" pitchFamily="34" charset="0"/>
              <a:cs typeface="Arial" panose="020B0604020202020204" pitchFamily="34" charset="0"/>
            </a:endParaRPr>
          </a:p>
        </p:txBody>
      </p:sp>
      <p:sp>
        <p:nvSpPr>
          <p:cNvPr id="13" name="agenda 2 circle"/>
          <p:cNvSpPr/>
          <p:nvPr/>
        </p:nvSpPr>
        <p:spPr>
          <a:xfrm>
            <a:off x="2286000" y="3099816"/>
            <a:ext cx="521208" cy="521208"/>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4" name="agenda 2 icon" descr="preencoded.png"/>
          <p:cNvPicPr>
            <a:picLocks noChangeAspect="1"/>
          </p:cNvPicPr>
          <p:nvPr/>
        </p:nvPicPr>
        <p:blipFill>
          <a:blip r:embed="rId4"/>
          <a:stretch>
            <a:fillRect/>
          </a:stretch>
        </p:blipFill>
        <p:spPr>
          <a:xfrm>
            <a:off x="2400666" y="3214482"/>
            <a:ext cx="291876" cy="291876"/>
          </a:xfrm>
          <a:prstGeom prst="rect">
            <a:avLst/>
          </a:prstGeom>
        </p:spPr>
      </p:pic>
      <p:sp>
        <p:nvSpPr>
          <p:cNvPr id="15" name="Text 11"/>
          <p:cNvSpPr txBox="1"/>
          <p:nvPr/>
        </p:nvSpPr>
        <p:spPr>
          <a:xfrm>
            <a:off x="3063240" y="2971800"/>
            <a:ext cx="3108960" cy="777240"/>
          </a:xfrm>
          <a:prstGeom prst="rect">
            <a:avLst/>
          </a:prstGeom>
          <a:noFill/>
          <a:ln/>
        </p:spPr>
        <p:txBody>
          <a:bodyPr wrap="square" lIns="0" tIns="0" rIns="0" bIns="0" rtlCol="0" anchor="ctr"/>
          <a:lstStyle/>
          <a:p>
            <a:pPr marL="0" indent="0">
              <a:buNone/>
            </a:pPr>
            <a:r>
              <a:rPr lang="es-SV" sz="1700" b="1" noProof="0" dirty="0">
                <a:solidFill>
                  <a:schemeClr val="tx2"/>
                </a:solidFill>
                <a:latin typeface="Arial" panose="020B0604020202020204" pitchFamily="34" charset="0"/>
                <a:cs typeface="Arial" panose="020B0604020202020204" pitchFamily="34" charset="0"/>
              </a:rPr>
              <a:t>Datos operativos</a:t>
            </a:r>
            <a:endParaRPr lang="es-SV" sz="1700" noProof="0" dirty="0">
              <a:latin typeface="Arial" panose="020B0604020202020204" pitchFamily="34" charset="0"/>
              <a:cs typeface="Arial" panose="020B0604020202020204" pitchFamily="34" charset="0"/>
            </a:endParaRPr>
          </a:p>
        </p:txBody>
      </p:sp>
      <p:sp>
        <p:nvSpPr>
          <p:cNvPr id="16" name="Text 12"/>
          <p:cNvSpPr txBox="1"/>
          <p:nvPr/>
        </p:nvSpPr>
        <p:spPr>
          <a:xfrm>
            <a:off x="6309360" y="2971800"/>
            <a:ext cx="4389120" cy="777240"/>
          </a:xfrm>
          <a:prstGeom prst="rect">
            <a:avLst/>
          </a:prstGeom>
          <a:noFill/>
          <a:ln/>
        </p:spPr>
        <p:txBody>
          <a:bodyPr wrap="square" lIns="0" tIns="0" rIns="0" bIns="0" rtlCol="0" anchor="ctr"/>
          <a:lstStyle/>
          <a:p>
            <a:pPr marL="0" indent="0" algn="ctr">
              <a:buNone/>
            </a:pPr>
            <a:r>
              <a:rPr lang="es-SV" sz="1300" noProof="0" dirty="0">
                <a:solidFill>
                  <a:schemeClr val="tx1"/>
                </a:solidFill>
                <a:latin typeface="Arial" panose="020B0604020202020204" pitchFamily="34" charset="0"/>
                <a:cs typeface="Arial" panose="020B0604020202020204" pitchFamily="34" charset="0"/>
              </a:rPr>
              <a:t>Expedientes ingresados, casos no tramitados y actualización de avalúos</a:t>
            </a:r>
            <a:endParaRPr lang="es-SV" sz="1300" noProof="0" dirty="0">
              <a:latin typeface="Arial" panose="020B0604020202020204" pitchFamily="34" charset="0"/>
              <a:cs typeface="Arial" panose="020B0604020202020204" pitchFamily="34" charset="0"/>
            </a:endParaRPr>
          </a:p>
        </p:txBody>
      </p:sp>
      <p:sp>
        <p:nvSpPr>
          <p:cNvPr id="17" name="agenda fila 3"/>
          <p:cNvSpPr/>
          <p:nvPr/>
        </p:nvSpPr>
        <p:spPr>
          <a:xfrm>
            <a:off x="1280160" y="3931920"/>
            <a:ext cx="9601200" cy="777240"/>
          </a:xfrm>
          <a:prstGeom prst="roundRect">
            <a:avLst>
              <a:gd name="adj" fmla="val 11765"/>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8" name="Text 14"/>
          <p:cNvSpPr txBox="1"/>
          <p:nvPr/>
        </p:nvSpPr>
        <p:spPr>
          <a:xfrm>
            <a:off x="1508760" y="3931920"/>
            <a:ext cx="731520" cy="777240"/>
          </a:xfrm>
          <a:prstGeom prst="rect">
            <a:avLst/>
          </a:prstGeom>
          <a:noFill/>
          <a:ln/>
        </p:spPr>
        <p:txBody>
          <a:bodyPr wrap="square" lIns="0" tIns="0" rIns="0" bIns="0" rtlCol="0" anchor="ctr"/>
          <a:lstStyle/>
          <a:p>
            <a:pPr marL="0" indent="0">
              <a:buNone/>
            </a:pPr>
            <a:r>
              <a:rPr lang="es-SV" sz="2400" b="1" noProof="0" dirty="0">
                <a:solidFill>
                  <a:schemeClr val="accent3"/>
                </a:solidFill>
                <a:latin typeface="Arial" panose="020B0604020202020204" pitchFamily="34" charset="0"/>
                <a:cs typeface="Arial" panose="020B0604020202020204" pitchFamily="34" charset="0"/>
              </a:rPr>
              <a:t>03</a:t>
            </a:r>
            <a:endParaRPr lang="es-SV" sz="2400" noProof="0" dirty="0">
              <a:latin typeface="Arial" panose="020B0604020202020204" pitchFamily="34" charset="0"/>
              <a:cs typeface="Arial" panose="020B0604020202020204" pitchFamily="34" charset="0"/>
            </a:endParaRPr>
          </a:p>
        </p:txBody>
      </p:sp>
      <p:sp>
        <p:nvSpPr>
          <p:cNvPr id="19" name="agenda 3 circle"/>
          <p:cNvSpPr/>
          <p:nvPr/>
        </p:nvSpPr>
        <p:spPr>
          <a:xfrm>
            <a:off x="2286000" y="4059936"/>
            <a:ext cx="521208" cy="521208"/>
          </a:xfrm>
          <a:prstGeom prst="ellipse">
            <a:avLst/>
          </a:prstGeom>
          <a:solidFill>
            <a:srgbClr val="C62828"/>
          </a:solidFill>
          <a:ln w="12700">
            <a:solidFill>
              <a:srgbClr val="C62828"/>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20" name="agenda 3 icon" descr="preencoded.png"/>
          <p:cNvPicPr>
            <a:picLocks noChangeAspect="1"/>
          </p:cNvPicPr>
          <p:nvPr/>
        </p:nvPicPr>
        <p:blipFill>
          <a:blip r:embed="rId5"/>
          <a:stretch>
            <a:fillRect/>
          </a:stretch>
        </p:blipFill>
        <p:spPr>
          <a:xfrm>
            <a:off x="2400666" y="4174602"/>
            <a:ext cx="291876" cy="291876"/>
          </a:xfrm>
          <a:prstGeom prst="rect">
            <a:avLst/>
          </a:prstGeom>
        </p:spPr>
      </p:pic>
      <p:sp>
        <p:nvSpPr>
          <p:cNvPr id="21" name="Text 16"/>
          <p:cNvSpPr txBox="1"/>
          <p:nvPr/>
        </p:nvSpPr>
        <p:spPr>
          <a:xfrm>
            <a:off x="3063240" y="3931920"/>
            <a:ext cx="3108960" cy="777240"/>
          </a:xfrm>
          <a:prstGeom prst="rect">
            <a:avLst/>
          </a:prstGeom>
          <a:noFill/>
          <a:ln/>
        </p:spPr>
        <p:txBody>
          <a:bodyPr wrap="square" lIns="0" tIns="0" rIns="0" bIns="0" rtlCol="0" anchor="ctr"/>
          <a:lstStyle/>
          <a:p>
            <a:pPr marL="0" indent="0">
              <a:buNone/>
            </a:pPr>
            <a:r>
              <a:rPr lang="es-SV" sz="1700" b="1" noProof="0" dirty="0">
                <a:solidFill>
                  <a:schemeClr val="tx2"/>
                </a:solidFill>
                <a:latin typeface="Arial" panose="020B0604020202020204" pitchFamily="34" charset="0"/>
                <a:cs typeface="Arial" panose="020B0604020202020204" pitchFamily="34" charset="0"/>
              </a:rPr>
              <a:t>Riesgo identificado</a:t>
            </a:r>
            <a:endParaRPr lang="es-SV" sz="1700" noProof="0" dirty="0">
              <a:latin typeface="Arial" panose="020B0604020202020204" pitchFamily="34" charset="0"/>
              <a:cs typeface="Arial" panose="020B0604020202020204" pitchFamily="34" charset="0"/>
            </a:endParaRPr>
          </a:p>
        </p:txBody>
      </p:sp>
      <p:sp>
        <p:nvSpPr>
          <p:cNvPr id="22" name="Text 17"/>
          <p:cNvSpPr txBox="1"/>
          <p:nvPr/>
        </p:nvSpPr>
        <p:spPr>
          <a:xfrm>
            <a:off x="6309360" y="3931920"/>
            <a:ext cx="4389120" cy="777240"/>
          </a:xfrm>
          <a:prstGeom prst="rect">
            <a:avLst/>
          </a:prstGeom>
          <a:noFill/>
          <a:ln/>
        </p:spPr>
        <p:txBody>
          <a:bodyPr wrap="square" lIns="0" tIns="0" rIns="0" bIns="0" rtlCol="0" anchor="ctr"/>
          <a:lstStyle/>
          <a:p>
            <a:pPr marL="0" indent="0" algn="ctr">
              <a:buNone/>
            </a:pPr>
            <a:r>
              <a:rPr lang="es-SV" sz="1300" noProof="0" dirty="0">
                <a:solidFill>
                  <a:schemeClr val="tx1"/>
                </a:solidFill>
                <a:latin typeface="Arial" panose="020B0604020202020204" pitchFamily="34" charset="0"/>
                <a:cs typeface="Arial" panose="020B0604020202020204" pitchFamily="34" charset="0"/>
              </a:rPr>
              <a:t>Ausencia de un área de control centralizada</a:t>
            </a:r>
            <a:endParaRPr lang="es-SV" sz="1300" noProof="0" dirty="0">
              <a:latin typeface="Arial" panose="020B0604020202020204" pitchFamily="34" charset="0"/>
              <a:cs typeface="Arial" panose="020B0604020202020204" pitchFamily="34" charset="0"/>
            </a:endParaRPr>
          </a:p>
        </p:txBody>
      </p:sp>
      <p:sp>
        <p:nvSpPr>
          <p:cNvPr id="23" name="agenda fila 4"/>
          <p:cNvSpPr/>
          <p:nvPr/>
        </p:nvSpPr>
        <p:spPr>
          <a:xfrm>
            <a:off x="1280160" y="4892040"/>
            <a:ext cx="9601200" cy="777240"/>
          </a:xfrm>
          <a:prstGeom prst="roundRect">
            <a:avLst>
              <a:gd name="adj" fmla="val 11765"/>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24" name="Text 19"/>
          <p:cNvSpPr txBox="1"/>
          <p:nvPr/>
        </p:nvSpPr>
        <p:spPr>
          <a:xfrm>
            <a:off x="1508760" y="4892040"/>
            <a:ext cx="731520" cy="777240"/>
          </a:xfrm>
          <a:prstGeom prst="rect">
            <a:avLst/>
          </a:prstGeom>
          <a:noFill/>
          <a:ln/>
        </p:spPr>
        <p:txBody>
          <a:bodyPr wrap="square" lIns="0" tIns="0" rIns="0" bIns="0" rtlCol="0" anchor="ctr"/>
          <a:lstStyle/>
          <a:p>
            <a:pPr marL="0" indent="0">
              <a:buNone/>
            </a:pPr>
            <a:r>
              <a:rPr lang="es-SV" sz="2400" b="1" noProof="0" dirty="0">
                <a:solidFill>
                  <a:schemeClr val="accent1"/>
                </a:solidFill>
                <a:latin typeface="Arial" panose="020B0604020202020204" pitchFamily="34" charset="0"/>
                <a:cs typeface="Arial" panose="020B0604020202020204" pitchFamily="34" charset="0"/>
              </a:rPr>
              <a:t>04</a:t>
            </a:r>
            <a:endParaRPr lang="es-SV" sz="2400" noProof="0" dirty="0">
              <a:latin typeface="Arial" panose="020B0604020202020204" pitchFamily="34" charset="0"/>
              <a:cs typeface="Arial" panose="020B0604020202020204" pitchFamily="34" charset="0"/>
            </a:endParaRPr>
          </a:p>
        </p:txBody>
      </p:sp>
      <p:sp>
        <p:nvSpPr>
          <p:cNvPr id="25" name="agenda 4 circle"/>
          <p:cNvSpPr/>
          <p:nvPr/>
        </p:nvSpPr>
        <p:spPr>
          <a:xfrm>
            <a:off x="2286000" y="5020056"/>
            <a:ext cx="521208" cy="521208"/>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26" name="agenda 4 icon" descr="preencoded.png"/>
          <p:cNvPicPr>
            <a:picLocks noChangeAspect="1"/>
          </p:cNvPicPr>
          <p:nvPr/>
        </p:nvPicPr>
        <p:blipFill>
          <a:blip r:embed="rId6"/>
          <a:stretch>
            <a:fillRect/>
          </a:stretch>
        </p:blipFill>
        <p:spPr>
          <a:xfrm>
            <a:off x="2400666" y="5134722"/>
            <a:ext cx="291876" cy="291876"/>
          </a:xfrm>
          <a:prstGeom prst="rect">
            <a:avLst/>
          </a:prstGeom>
        </p:spPr>
      </p:pic>
      <p:sp>
        <p:nvSpPr>
          <p:cNvPr id="27" name="Text 21"/>
          <p:cNvSpPr txBox="1"/>
          <p:nvPr/>
        </p:nvSpPr>
        <p:spPr>
          <a:xfrm>
            <a:off x="3063240" y="4892040"/>
            <a:ext cx="3108960" cy="777240"/>
          </a:xfrm>
          <a:prstGeom prst="rect">
            <a:avLst/>
          </a:prstGeom>
          <a:noFill/>
          <a:ln/>
        </p:spPr>
        <p:txBody>
          <a:bodyPr wrap="square" lIns="0" tIns="0" rIns="0" bIns="0" rtlCol="0" anchor="ctr"/>
          <a:lstStyle/>
          <a:p>
            <a:pPr marL="0" indent="0">
              <a:buNone/>
            </a:pPr>
            <a:r>
              <a:rPr lang="es-SV" sz="1700" b="1" noProof="0" dirty="0">
                <a:solidFill>
                  <a:schemeClr val="tx2"/>
                </a:solidFill>
                <a:latin typeface="Arial" panose="020B0604020202020204" pitchFamily="34" charset="0"/>
                <a:cs typeface="Arial" panose="020B0604020202020204" pitchFamily="34" charset="0"/>
              </a:rPr>
              <a:t>Propuesta</a:t>
            </a:r>
            <a:endParaRPr lang="es-SV" sz="1700" noProof="0" dirty="0">
              <a:latin typeface="Arial" panose="020B0604020202020204" pitchFamily="34" charset="0"/>
              <a:cs typeface="Arial" panose="020B0604020202020204" pitchFamily="34" charset="0"/>
            </a:endParaRPr>
          </a:p>
        </p:txBody>
      </p:sp>
      <p:sp>
        <p:nvSpPr>
          <p:cNvPr id="28" name="Text 22"/>
          <p:cNvSpPr txBox="1"/>
          <p:nvPr/>
        </p:nvSpPr>
        <p:spPr>
          <a:xfrm>
            <a:off x="6309360" y="4892040"/>
            <a:ext cx="4389120" cy="777240"/>
          </a:xfrm>
          <a:prstGeom prst="rect">
            <a:avLst/>
          </a:prstGeom>
          <a:noFill/>
          <a:ln/>
        </p:spPr>
        <p:txBody>
          <a:bodyPr wrap="square" lIns="0" tIns="0" rIns="0" bIns="0" rtlCol="0" anchor="ctr"/>
          <a:lstStyle/>
          <a:p>
            <a:pPr marL="0" indent="0" algn="ctr">
              <a:buNone/>
            </a:pPr>
            <a:r>
              <a:rPr lang="es-SV" sz="1300" noProof="0" dirty="0">
                <a:solidFill>
                  <a:schemeClr val="tx1"/>
                </a:solidFill>
                <a:latin typeface="Arial" panose="020B0604020202020204" pitchFamily="34" charset="0"/>
                <a:cs typeface="Arial" panose="020B0604020202020204" pitchFamily="34" charset="0"/>
              </a:rPr>
              <a:t>Tres solicitudes de autorización al Comité de Riesgo</a:t>
            </a:r>
            <a:endParaRPr lang="es-SV" sz="1300" noProof="0" dirty="0">
              <a:latin typeface="Arial" panose="020B0604020202020204" pitchFamily="34" charset="0"/>
              <a:cs typeface="Arial" panose="020B0604020202020204" pitchFamily="34" charset="0"/>
            </a:endParaRPr>
          </a:p>
        </p:txBody>
      </p:sp>
      <p:pic>
        <p:nvPicPr>
          <p:cNvPr id="29" name="logo" descr="/tmp/claude-0/-home-user-riesgo/74e9c8ad-7a43-5903-a089-2edd8047c387/scratchpad/assets/logo_color.png"/>
          <p:cNvPicPr>
            <a:picLocks noChangeAspect="1"/>
          </p:cNvPicPr>
          <p:nvPr/>
        </p:nvPicPr>
        <p:blipFill>
          <a:blip r:embed="rId7"/>
          <a:stretch>
            <a:fillRect/>
          </a:stretch>
        </p:blipFill>
        <p:spPr>
          <a:xfrm>
            <a:off x="10927080" y="6108192"/>
            <a:ext cx="777240" cy="56692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9995034" cy="636422"/>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SITUACIÓN ACTUAL</a:t>
            </a:r>
            <a:endParaRPr lang="es-SV" sz="2400" noProof="0" dirty="0">
              <a:latin typeface="Arial" panose="020B0604020202020204" pitchFamily="34" charset="0"/>
              <a:cs typeface="Arial" panose="020B0604020202020204" pitchFamily="34" charset="0"/>
            </a:endParaRPr>
          </a:p>
        </p:txBody>
      </p:sp>
      <p:sp>
        <p:nvSpPr>
          <p:cNvPr id="200" name="Subtitulo situacion actual"/>
          <p:cNvSpPr txBox="1"/>
          <p:nvPr/>
        </p:nvSpPr>
        <p:spPr>
          <a:xfrm>
            <a:off x="777240" y="1024128"/>
            <a:ext cx="10515600" cy="411480"/>
          </a:xfrm>
          <a:prstGeom prst="rect">
            <a:avLst/>
          </a:prstGeom>
          <a:noFill/>
          <a:ln/>
        </p:spPr>
        <p:txBody>
          <a:bodyPr wrap="square" lIns="0" tIns="0" rIns="0" bIns="0" rtlCol="0" anchor="ctr"/>
          <a:lstStyle/>
          <a:p>
            <a:pPr marL="0" indent="0" algn="l">
              <a:buNone/>
            </a:pPr>
            <a:r>
              <a:rPr lang="es-SV" sz="1600" noProof="0" dirty="0">
                <a:solidFill>
                  <a:srgbClr val="005C9F"/>
                </a:solidFill>
                <a:latin typeface="Arial" panose="020B0604020202020204" pitchFamily="34" charset="0"/>
                <a:cs typeface="Arial" panose="020B0604020202020204" pitchFamily="34" charset="0"/>
              </a:rPr>
              <a:t>El proceso de avalúos lo realizan hoy 28 personas distribuidas en 4 gerencias</a:t>
            </a:r>
          </a:p>
        </p:txBody>
      </p:sp>
      <p:sp>
        <p:nvSpPr>
          <p:cNvPr id="3" name="gerencia card 1"/>
          <p:cNvSpPr/>
          <p:nvPr/>
        </p:nvSpPr>
        <p:spPr>
          <a:xfrm>
            <a:off x="548640" y="1645920"/>
            <a:ext cx="2560320" cy="4206240"/>
          </a:xfrm>
          <a:prstGeom prst="roundRect">
            <a:avLst>
              <a:gd name="adj" fmla="val 3571"/>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4" name="gerencia 1 circle"/>
          <p:cNvSpPr/>
          <p:nvPr/>
        </p:nvSpPr>
        <p:spPr>
          <a:xfrm>
            <a:off x="822960" y="1920240"/>
            <a:ext cx="731520" cy="73152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5" name="gerencia 1 icon" descr="preencoded.png"/>
          <p:cNvPicPr>
            <a:picLocks noChangeAspect="1"/>
          </p:cNvPicPr>
          <p:nvPr/>
        </p:nvPicPr>
        <p:blipFill>
          <a:blip r:embed="rId3"/>
          <a:stretch>
            <a:fillRect/>
          </a:stretch>
        </p:blipFill>
        <p:spPr>
          <a:xfrm>
            <a:off x="983894" y="2081174"/>
            <a:ext cx="409651" cy="409651"/>
          </a:xfrm>
          <a:prstGeom prst="rect">
            <a:avLst/>
          </a:prstGeom>
        </p:spPr>
      </p:pic>
      <p:sp>
        <p:nvSpPr>
          <p:cNvPr id="6" name="Text 3"/>
          <p:cNvSpPr txBox="1"/>
          <p:nvPr/>
        </p:nvSpPr>
        <p:spPr>
          <a:xfrm>
            <a:off x="822960" y="2788920"/>
            <a:ext cx="2103120" cy="685800"/>
          </a:xfrm>
          <a:prstGeom prst="rect">
            <a:avLst/>
          </a:prstGeom>
          <a:noFill/>
          <a:ln/>
        </p:spPr>
        <p:txBody>
          <a:bodyPr wrap="square" lIns="0" tIns="0" rIns="0" bIns="0" rtlCol="0" anchor="t"/>
          <a:lstStyle/>
          <a:p>
            <a:pPr marL="0" indent="0">
              <a:buNone/>
            </a:pPr>
            <a:r>
              <a:rPr lang="es-SV" sz="1500" b="1" noProof="0" dirty="0">
                <a:solidFill>
                  <a:schemeClr val="tx2"/>
                </a:solidFill>
                <a:latin typeface="Arial" panose="020B0604020202020204" pitchFamily="34" charset="0"/>
                <a:cs typeface="Arial" panose="020B0604020202020204" pitchFamily="34" charset="0"/>
              </a:rPr>
              <a:t>Gerencia de Negocio</a:t>
            </a:r>
            <a:endParaRPr lang="es-SV" sz="1500" noProof="0" dirty="0">
              <a:latin typeface="Arial" panose="020B0604020202020204" pitchFamily="34" charset="0"/>
              <a:cs typeface="Arial" panose="020B0604020202020204" pitchFamily="34" charset="0"/>
            </a:endParaRPr>
          </a:p>
        </p:txBody>
      </p:sp>
      <p:sp>
        <p:nvSpPr>
          <p:cNvPr id="7" name="Text 4"/>
          <p:cNvSpPr txBox="1"/>
          <p:nvPr/>
        </p:nvSpPr>
        <p:spPr>
          <a:xfrm>
            <a:off x="822960" y="3474720"/>
            <a:ext cx="789272" cy="822960"/>
          </a:xfrm>
          <a:prstGeom prst="rect">
            <a:avLst/>
          </a:prstGeom>
          <a:noFill/>
          <a:ln/>
        </p:spPr>
        <p:txBody>
          <a:bodyPr wrap="square" lIns="0" tIns="0" rIns="0" bIns="0" rtlCol="0" anchor="ctr"/>
          <a:lstStyle/>
          <a:p>
            <a:pPr marL="0" indent="0">
              <a:buNone/>
            </a:pPr>
            <a:r>
              <a:rPr lang="es-SV" sz="4800" b="1" noProof="0" dirty="0">
                <a:solidFill>
                  <a:srgbClr val="002060"/>
                </a:solidFill>
                <a:latin typeface="Arial" panose="020B0604020202020204" pitchFamily="34" charset="0"/>
                <a:cs typeface="Arial" panose="020B0604020202020204" pitchFamily="34" charset="0"/>
              </a:rPr>
              <a:t>22</a:t>
            </a:r>
            <a:endParaRPr lang="es-SV" sz="4800" noProof="0" dirty="0">
              <a:solidFill>
                <a:srgbClr val="002060"/>
              </a:solidFill>
              <a:latin typeface="Arial" panose="020B0604020202020204" pitchFamily="34" charset="0"/>
              <a:cs typeface="Arial" panose="020B0604020202020204" pitchFamily="34" charset="0"/>
            </a:endParaRPr>
          </a:p>
        </p:txBody>
      </p:sp>
      <p:sp>
        <p:nvSpPr>
          <p:cNvPr id="8" name="Text 5"/>
          <p:cNvSpPr txBox="1"/>
          <p:nvPr/>
        </p:nvSpPr>
        <p:spPr>
          <a:xfrm>
            <a:off x="822960" y="4297680"/>
            <a:ext cx="2103120" cy="274320"/>
          </a:xfrm>
          <a:prstGeom prst="rect">
            <a:avLst/>
          </a:prstGeom>
          <a:noFill/>
          <a:ln/>
        </p:spPr>
        <p:txBody>
          <a:bodyPr wrap="square" lIns="0" tIns="0" rIns="0" bIns="0" rtlCol="0" anchor="t"/>
          <a:lstStyle/>
          <a:p>
            <a:pPr marL="0" indent="0">
              <a:buNone/>
            </a:pPr>
            <a:r>
              <a:rPr lang="es-SV" sz="1100" noProof="0" dirty="0">
                <a:solidFill>
                  <a:srgbClr val="002060"/>
                </a:solidFill>
                <a:latin typeface="Arial" panose="020B0604020202020204" pitchFamily="34" charset="0"/>
                <a:cs typeface="Arial" panose="020B0604020202020204" pitchFamily="34" charset="0"/>
              </a:rPr>
              <a:t>personas</a:t>
            </a:r>
          </a:p>
        </p:txBody>
      </p:sp>
      <p:sp>
        <p:nvSpPr>
          <p:cNvPr id="9" name="Text 6"/>
          <p:cNvSpPr txBox="1"/>
          <p:nvPr/>
        </p:nvSpPr>
        <p:spPr>
          <a:xfrm>
            <a:off x="822960" y="4663440"/>
            <a:ext cx="2057400" cy="551848"/>
          </a:xfrm>
          <a:prstGeom prst="rect">
            <a:avLst/>
          </a:prstGeom>
          <a:noFill/>
          <a:ln/>
        </p:spPr>
        <p:txBody>
          <a:bodyPr wrap="square" lIns="0" tIns="0" rIns="0" bIns="0" rtlCol="0" anchor="t"/>
          <a:lstStyle/>
          <a:p>
            <a:pPr marL="0" indent="0" algn="ctr">
              <a:buNone/>
            </a:pPr>
            <a:r>
              <a:rPr lang="es-SV" sz="1100" noProof="0" dirty="0">
                <a:solidFill>
                  <a:srgbClr val="002060"/>
                </a:solidFill>
                <a:latin typeface="Arial" panose="020B0604020202020204" pitchFamily="34" charset="0"/>
                <a:cs typeface="Arial" panose="020B0604020202020204" pitchFamily="34" charset="0"/>
              </a:rPr>
              <a:t>Contrato y administración de peritos, recepción e ingreso de informes</a:t>
            </a:r>
          </a:p>
        </p:txBody>
      </p:sp>
      <p:sp>
        <p:nvSpPr>
          <p:cNvPr id="10" name="gerencia card 2"/>
          <p:cNvSpPr/>
          <p:nvPr/>
        </p:nvSpPr>
        <p:spPr>
          <a:xfrm>
            <a:off x="3383280" y="1645920"/>
            <a:ext cx="2560320" cy="4206240"/>
          </a:xfrm>
          <a:prstGeom prst="roundRect">
            <a:avLst>
              <a:gd name="adj" fmla="val 3571"/>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11" name="gerencia 2 circle"/>
          <p:cNvSpPr/>
          <p:nvPr/>
        </p:nvSpPr>
        <p:spPr>
          <a:xfrm>
            <a:off x="3657600" y="1920240"/>
            <a:ext cx="731520" cy="73152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2" name="gerencia 2 icon" descr="preencoded.png"/>
          <p:cNvPicPr>
            <a:picLocks noChangeAspect="1"/>
          </p:cNvPicPr>
          <p:nvPr/>
        </p:nvPicPr>
        <p:blipFill>
          <a:blip r:embed="rId4"/>
          <a:stretch>
            <a:fillRect/>
          </a:stretch>
        </p:blipFill>
        <p:spPr>
          <a:xfrm>
            <a:off x="3818534" y="2081174"/>
            <a:ext cx="409651" cy="409651"/>
          </a:xfrm>
          <a:prstGeom prst="rect">
            <a:avLst/>
          </a:prstGeom>
        </p:spPr>
      </p:pic>
      <p:sp>
        <p:nvSpPr>
          <p:cNvPr id="13" name="Text 9"/>
          <p:cNvSpPr txBox="1"/>
          <p:nvPr/>
        </p:nvSpPr>
        <p:spPr>
          <a:xfrm>
            <a:off x="3657600" y="2788920"/>
            <a:ext cx="2103120" cy="685800"/>
          </a:xfrm>
          <a:prstGeom prst="rect">
            <a:avLst/>
          </a:prstGeom>
          <a:noFill/>
          <a:ln/>
        </p:spPr>
        <p:txBody>
          <a:bodyPr wrap="square" lIns="0" tIns="0" rIns="0" bIns="0" rtlCol="0" anchor="t"/>
          <a:lstStyle/>
          <a:p>
            <a:pPr marL="0" indent="0">
              <a:buNone/>
            </a:pPr>
            <a:r>
              <a:rPr lang="es-SV" sz="1500" b="1" noProof="0" dirty="0">
                <a:solidFill>
                  <a:schemeClr val="tx2"/>
                </a:solidFill>
                <a:latin typeface="Arial" panose="020B0604020202020204" pitchFamily="34" charset="0"/>
                <a:cs typeface="Arial" panose="020B0604020202020204" pitchFamily="34" charset="0"/>
              </a:rPr>
              <a:t>Gerencia Legal</a:t>
            </a:r>
            <a:endParaRPr lang="es-SV" sz="1500" noProof="0" dirty="0">
              <a:latin typeface="Arial" panose="020B0604020202020204" pitchFamily="34" charset="0"/>
              <a:cs typeface="Arial" panose="020B0604020202020204" pitchFamily="34" charset="0"/>
            </a:endParaRPr>
          </a:p>
        </p:txBody>
      </p:sp>
      <p:sp>
        <p:nvSpPr>
          <p:cNvPr id="14" name="Text 10"/>
          <p:cNvSpPr txBox="1"/>
          <p:nvPr/>
        </p:nvSpPr>
        <p:spPr>
          <a:xfrm>
            <a:off x="3657600" y="3474720"/>
            <a:ext cx="457200" cy="822960"/>
          </a:xfrm>
          <a:prstGeom prst="rect">
            <a:avLst/>
          </a:prstGeom>
          <a:noFill/>
          <a:ln/>
        </p:spPr>
        <p:txBody>
          <a:bodyPr wrap="square" lIns="0" tIns="0" rIns="0" bIns="0" rtlCol="0" anchor="ctr"/>
          <a:lstStyle/>
          <a:p>
            <a:pPr marL="0" indent="0">
              <a:buNone/>
            </a:pPr>
            <a:r>
              <a:rPr lang="es-SV" sz="4800" b="1" noProof="0" dirty="0">
                <a:solidFill>
                  <a:srgbClr val="002060"/>
                </a:solidFill>
                <a:latin typeface="Arial" panose="020B0604020202020204" pitchFamily="34" charset="0"/>
                <a:cs typeface="Arial" panose="020B0604020202020204" pitchFamily="34" charset="0"/>
              </a:rPr>
              <a:t>2</a:t>
            </a:r>
            <a:endParaRPr lang="es-SV" sz="4800" noProof="0" dirty="0">
              <a:solidFill>
                <a:srgbClr val="002060"/>
              </a:solidFill>
              <a:latin typeface="Arial" panose="020B0604020202020204" pitchFamily="34" charset="0"/>
              <a:cs typeface="Arial" panose="020B0604020202020204" pitchFamily="34" charset="0"/>
            </a:endParaRPr>
          </a:p>
        </p:txBody>
      </p:sp>
      <p:sp>
        <p:nvSpPr>
          <p:cNvPr id="15" name="Text 11"/>
          <p:cNvSpPr txBox="1"/>
          <p:nvPr/>
        </p:nvSpPr>
        <p:spPr>
          <a:xfrm>
            <a:off x="3657600" y="4297680"/>
            <a:ext cx="2103120" cy="274320"/>
          </a:xfrm>
          <a:prstGeom prst="rect">
            <a:avLst/>
          </a:prstGeom>
          <a:noFill/>
          <a:ln/>
        </p:spPr>
        <p:txBody>
          <a:bodyPr wrap="square" lIns="0" tIns="0" rIns="0" bIns="0" rtlCol="0" anchor="t"/>
          <a:lstStyle/>
          <a:p>
            <a:pPr marL="0" indent="0">
              <a:buNone/>
            </a:pPr>
            <a:r>
              <a:rPr lang="es-SV" sz="1100" noProof="0" dirty="0">
                <a:solidFill>
                  <a:srgbClr val="002060"/>
                </a:solidFill>
                <a:latin typeface="Arial" panose="020B0604020202020204" pitchFamily="34" charset="0"/>
                <a:cs typeface="Arial" panose="020B0604020202020204" pitchFamily="34" charset="0"/>
              </a:rPr>
              <a:t>personas</a:t>
            </a:r>
          </a:p>
        </p:txBody>
      </p:sp>
      <p:sp>
        <p:nvSpPr>
          <p:cNvPr id="16" name="Text 12"/>
          <p:cNvSpPr txBox="1"/>
          <p:nvPr/>
        </p:nvSpPr>
        <p:spPr>
          <a:xfrm>
            <a:off x="3657600" y="4663440"/>
            <a:ext cx="2057400" cy="551848"/>
          </a:xfrm>
          <a:prstGeom prst="rect">
            <a:avLst/>
          </a:prstGeom>
          <a:noFill/>
          <a:ln/>
        </p:spPr>
        <p:txBody>
          <a:bodyPr wrap="square" lIns="0" tIns="0" rIns="0" bIns="0" rtlCol="0" anchor="t"/>
          <a:lstStyle/>
          <a:p>
            <a:pPr marL="0" indent="0" algn="ctr">
              <a:buNone/>
            </a:pPr>
            <a:r>
              <a:rPr lang="es-SV" sz="1100" noProof="0" dirty="0">
                <a:solidFill>
                  <a:srgbClr val="002060"/>
                </a:solidFill>
                <a:latin typeface="Arial" panose="020B0604020202020204" pitchFamily="34" charset="0"/>
                <a:cs typeface="Arial" panose="020B0604020202020204" pitchFamily="34" charset="0"/>
              </a:rPr>
              <a:t>Contratos hipotecarios y validación del informe de avalúos</a:t>
            </a:r>
          </a:p>
        </p:txBody>
      </p:sp>
      <p:sp>
        <p:nvSpPr>
          <p:cNvPr id="17" name="gerencia card 3"/>
          <p:cNvSpPr/>
          <p:nvPr/>
        </p:nvSpPr>
        <p:spPr>
          <a:xfrm>
            <a:off x="6217920" y="1645920"/>
            <a:ext cx="2560320" cy="4206240"/>
          </a:xfrm>
          <a:prstGeom prst="roundRect">
            <a:avLst>
              <a:gd name="adj" fmla="val 3571"/>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18" name="gerencia 3 circle"/>
          <p:cNvSpPr/>
          <p:nvPr/>
        </p:nvSpPr>
        <p:spPr>
          <a:xfrm>
            <a:off x="6492240" y="1920240"/>
            <a:ext cx="731520" cy="73152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9" name="gerencia 3 icon" descr="preencoded.png"/>
          <p:cNvPicPr>
            <a:picLocks noChangeAspect="1"/>
          </p:cNvPicPr>
          <p:nvPr/>
        </p:nvPicPr>
        <p:blipFill>
          <a:blip r:embed="rId5"/>
          <a:stretch>
            <a:fillRect/>
          </a:stretch>
        </p:blipFill>
        <p:spPr>
          <a:xfrm>
            <a:off x="6653174" y="2081174"/>
            <a:ext cx="409651" cy="409651"/>
          </a:xfrm>
          <a:prstGeom prst="rect">
            <a:avLst/>
          </a:prstGeom>
        </p:spPr>
      </p:pic>
      <p:sp>
        <p:nvSpPr>
          <p:cNvPr id="20" name="Text 15"/>
          <p:cNvSpPr txBox="1"/>
          <p:nvPr/>
        </p:nvSpPr>
        <p:spPr>
          <a:xfrm>
            <a:off x="6309360" y="2788920"/>
            <a:ext cx="2377440" cy="228600"/>
          </a:xfrm>
          <a:prstGeom prst="rect">
            <a:avLst/>
          </a:prstGeom>
          <a:noFill/>
          <a:ln/>
        </p:spPr>
        <p:txBody>
          <a:bodyPr wrap="square" lIns="0" tIns="0" rIns="0" bIns="0" rtlCol="0" anchor="t"/>
          <a:lstStyle/>
          <a:p>
            <a:pPr marL="0" indent="0">
              <a:buNone/>
            </a:pPr>
            <a:r>
              <a:rPr lang="es-SV" sz="1500" b="1" noProof="0" dirty="0">
                <a:solidFill>
                  <a:schemeClr val="tx2"/>
                </a:solidFill>
                <a:latin typeface="Arial" panose="020B0604020202020204" pitchFamily="34" charset="0"/>
                <a:cs typeface="Arial" panose="020B0604020202020204" pitchFamily="34" charset="0"/>
              </a:rPr>
              <a:t>Gerencia de Operaciones </a:t>
            </a:r>
            <a:endParaRPr lang="es-SV" sz="1500" noProof="0" dirty="0">
              <a:latin typeface="Arial" panose="020B0604020202020204" pitchFamily="34" charset="0"/>
              <a:cs typeface="Arial" panose="020B0604020202020204" pitchFamily="34" charset="0"/>
            </a:endParaRPr>
          </a:p>
        </p:txBody>
      </p:sp>
      <p:sp>
        <p:nvSpPr>
          <p:cNvPr id="21" name="Text 16"/>
          <p:cNvSpPr txBox="1"/>
          <p:nvPr/>
        </p:nvSpPr>
        <p:spPr>
          <a:xfrm>
            <a:off x="6492240" y="3474720"/>
            <a:ext cx="445971" cy="822960"/>
          </a:xfrm>
          <a:prstGeom prst="rect">
            <a:avLst/>
          </a:prstGeom>
          <a:noFill/>
          <a:ln/>
        </p:spPr>
        <p:txBody>
          <a:bodyPr wrap="square" lIns="0" tIns="0" rIns="0" bIns="0" rtlCol="0" anchor="ctr"/>
          <a:lstStyle/>
          <a:p>
            <a:pPr marL="0" indent="0">
              <a:buNone/>
            </a:pPr>
            <a:r>
              <a:rPr lang="es-SV" sz="4800" b="1" noProof="0" dirty="0">
                <a:solidFill>
                  <a:srgbClr val="002060"/>
                </a:solidFill>
                <a:latin typeface="Arial" panose="020B0604020202020204" pitchFamily="34" charset="0"/>
                <a:cs typeface="Arial" panose="020B0604020202020204" pitchFamily="34" charset="0"/>
              </a:rPr>
              <a:t>2</a:t>
            </a:r>
            <a:endParaRPr lang="es-SV" sz="4800" noProof="0" dirty="0">
              <a:solidFill>
                <a:srgbClr val="002060"/>
              </a:solidFill>
              <a:latin typeface="Arial" panose="020B0604020202020204" pitchFamily="34" charset="0"/>
              <a:cs typeface="Arial" panose="020B0604020202020204" pitchFamily="34" charset="0"/>
            </a:endParaRPr>
          </a:p>
        </p:txBody>
      </p:sp>
      <p:sp>
        <p:nvSpPr>
          <p:cNvPr id="22" name="Text 17"/>
          <p:cNvSpPr txBox="1"/>
          <p:nvPr/>
        </p:nvSpPr>
        <p:spPr>
          <a:xfrm>
            <a:off x="6492240" y="4297680"/>
            <a:ext cx="2103120" cy="274320"/>
          </a:xfrm>
          <a:prstGeom prst="rect">
            <a:avLst/>
          </a:prstGeom>
          <a:noFill/>
          <a:ln/>
        </p:spPr>
        <p:txBody>
          <a:bodyPr wrap="square" lIns="0" tIns="0" rIns="0" bIns="0" rtlCol="0" anchor="t"/>
          <a:lstStyle/>
          <a:p>
            <a:pPr marL="0" indent="0">
              <a:buNone/>
            </a:pPr>
            <a:r>
              <a:rPr lang="es-SV" sz="1100" noProof="0" dirty="0">
                <a:solidFill>
                  <a:srgbClr val="002060"/>
                </a:solidFill>
                <a:latin typeface="Arial" panose="020B0604020202020204" pitchFamily="34" charset="0"/>
                <a:cs typeface="Arial" panose="020B0604020202020204" pitchFamily="34" charset="0"/>
              </a:rPr>
              <a:t>personas</a:t>
            </a:r>
          </a:p>
        </p:txBody>
      </p:sp>
      <p:sp>
        <p:nvSpPr>
          <p:cNvPr id="23" name="Text 18"/>
          <p:cNvSpPr txBox="1"/>
          <p:nvPr/>
        </p:nvSpPr>
        <p:spPr>
          <a:xfrm>
            <a:off x="6492240" y="4663440"/>
            <a:ext cx="2057400" cy="551848"/>
          </a:xfrm>
          <a:prstGeom prst="rect">
            <a:avLst/>
          </a:prstGeom>
          <a:noFill/>
          <a:ln/>
        </p:spPr>
        <p:txBody>
          <a:bodyPr wrap="square" lIns="0" tIns="0" rIns="0" bIns="0" rtlCol="0" anchor="t"/>
          <a:lstStyle/>
          <a:p>
            <a:pPr marL="0" indent="0" algn="ctr">
              <a:buNone/>
            </a:pPr>
            <a:r>
              <a:rPr lang="es-SV" sz="1100" noProof="0" dirty="0">
                <a:solidFill>
                  <a:srgbClr val="002060"/>
                </a:solidFill>
                <a:latin typeface="Arial" panose="020B0604020202020204" pitchFamily="34" charset="0"/>
                <a:cs typeface="Arial" panose="020B0604020202020204" pitchFamily="34" charset="0"/>
              </a:rPr>
              <a:t>Administración de Cartera: modifica y actualiza el Módulo de Garantías</a:t>
            </a:r>
          </a:p>
        </p:txBody>
      </p:sp>
      <p:sp>
        <p:nvSpPr>
          <p:cNvPr id="24" name="gerencia card 4"/>
          <p:cNvSpPr/>
          <p:nvPr/>
        </p:nvSpPr>
        <p:spPr>
          <a:xfrm>
            <a:off x="9052560" y="1645920"/>
            <a:ext cx="2560320" cy="4206240"/>
          </a:xfrm>
          <a:prstGeom prst="roundRect">
            <a:avLst>
              <a:gd name="adj" fmla="val 3571"/>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25" name="gerencia 4 circle"/>
          <p:cNvSpPr/>
          <p:nvPr/>
        </p:nvSpPr>
        <p:spPr>
          <a:xfrm>
            <a:off x="9326880" y="1920240"/>
            <a:ext cx="731520" cy="73152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26" name="gerencia 4 icon" descr="preencoded.png"/>
          <p:cNvPicPr>
            <a:picLocks noChangeAspect="1"/>
          </p:cNvPicPr>
          <p:nvPr/>
        </p:nvPicPr>
        <p:blipFill>
          <a:blip r:embed="rId6"/>
          <a:stretch>
            <a:fillRect/>
          </a:stretch>
        </p:blipFill>
        <p:spPr>
          <a:xfrm>
            <a:off x="9487814" y="2081174"/>
            <a:ext cx="409651" cy="409651"/>
          </a:xfrm>
          <a:prstGeom prst="rect">
            <a:avLst/>
          </a:prstGeom>
        </p:spPr>
      </p:pic>
      <p:sp>
        <p:nvSpPr>
          <p:cNvPr id="27" name="Text 21"/>
          <p:cNvSpPr txBox="1"/>
          <p:nvPr/>
        </p:nvSpPr>
        <p:spPr>
          <a:xfrm>
            <a:off x="9326880" y="2788920"/>
            <a:ext cx="2103120" cy="228600"/>
          </a:xfrm>
          <a:prstGeom prst="rect">
            <a:avLst/>
          </a:prstGeom>
          <a:noFill/>
          <a:ln/>
        </p:spPr>
        <p:txBody>
          <a:bodyPr wrap="square" lIns="0" tIns="0" rIns="0" bIns="0" rtlCol="0" anchor="t"/>
          <a:lstStyle/>
          <a:p>
            <a:pPr marL="0" indent="0">
              <a:buNone/>
            </a:pPr>
            <a:r>
              <a:rPr lang="es-SV" sz="1500" b="1" noProof="0" dirty="0">
                <a:solidFill>
                  <a:schemeClr val="tx2"/>
                </a:solidFill>
                <a:latin typeface="Arial" panose="020B0604020202020204" pitchFamily="34" charset="0"/>
                <a:cs typeface="Arial" panose="020B0604020202020204" pitchFamily="34" charset="0"/>
              </a:rPr>
              <a:t>Gerencia General</a:t>
            </a:r>
            <a:endParaRPr lang="es-SV" sz="1500" noProof="0" dirty="0">
              <a:latin typeface="Arial" panose="020B0604020202020204" pitchFamily="34" charset="0"/>
              <a:cs typeface="Arial" panose="020B0604020202020204" pitchFamily="34" charset="0"/>
            </a:endParaRPr>
          </a:p>
        </p:txBody>
      </p:sp>
      <p:sp>
        <p:nvSpPr>
          <p:cNvPr id="28" name="Text 22"/>
          <p:cNvSpPr txBox="1"/>
          <p:nvPr/>
        </p:nvSpPr>
        <p:spPr>
          <a:xfrm>
            <a:off x="9326880" y="3474720"/>
            <a:ext cx="394636" cy="822960"/>
          </a:xfrm>
          <a:prstGeom prst="rect">
            <a:avLst/>
          </a:prstGeom>
          <a:noFill/>
          <a:ln/>
        </p:spPr>
        <p:txBody>
          <a:bodyPr wrap="square" lIns="0" tIns="0" rIns="0" bIns="0" rtlCol="0" anchor="ctr"/>
          <a:lstStyle/>
          <a:p>
            <a:pPr marL="0" indent="0">
              <a:buNone/>
            </a:pPr>
            <a:r>
              <a:rPr lang="es-SV" sz="4800" b="1" noProof="0" dirty="0">
                <a:solidFill>
                  <a:srgbClr val="002060"/>
                </a:solidFill>
                <a:latin typeface="Arial" panose="020B0604020202020204" pitchFamily="34" charset="0"/>
                <a:cs typeface="Arial" panose="020B0604020202020204" pitchFamily="34" charset="0"/>
              </a:rPr>
              <a:t>2</a:t>
            </a:r>
            <a:endParaRPr lang="es-SV" sz="4800" noProof="0" dirty="0">
              <a:solidFill>
                <a:srgbClr val="002060"/>
              </a:solidFill>
              <a:latin typeface="Arial" panose="020B0604020202020204" pitchFamily="34" charset="0"/>
              <a:cs typeface="Arial" panose="020B0604020202020204" pitchFamily="34" charset="0"/>
            </a:endParaRPr>
          </a:p>
        </p:txBody>
      </p:sp>
      <p:sp>
        <p:nvSpPr>
          <p:cNvPr id="29" name="Text 23"/>
          <p:cNvSpPr txBox="1"/>
          <p:nvPr/>
        </p:nvSpPr>
        <p:spPr>
          <a:xfrm>
            <a:off x="9326880" y="4297680"/>
            <a:ext cx="2103120" cy="274320"/>
          </a:xfrm>
          <a:prstGeom prst="rect">
            <a:avLst/>
          </a:prstGeom>
          <a:noFill/>
          <a:ln/>
        </p:spPr>
        <p:txBody>
          <a:bodyPr wrap="square" lIns="0" tIns="0" rIns="0" bIns="0" rtlCol="0" anchor="t"/>
          <a:lstStyle/>
          <a:p>
            <a:pPr marL="0" indent="0">
              <a:buNone/>
            </a:pPr>
            <a:r>
              <a:rPr lang="es-SV" sz="1100" noProof="0" dirty="0">
                <a:solidFill>
                  <a:srgbClr val="002060"/>
                </a:solidFill>
                <a:latin typeface="Arial" panose="020B0604020202020204" pitchFamily="34" charset="0"/>
                <a:cs typeface="Arial" panose="020B0604020202020204" pitchFamily="34" charset="0"/>
              </a:rPr>
              <a:t>personas</a:t>
            </a:r>
          </a:p>
        </p:txBody>
      </p:sp>
      <p:sp>
        <p:nvSpPr>
          <p:cNvPr id="30" name="Text 24"/>
          <p:cNvSpPr txBox="1"/>
          <p:nvPr/>
        </p:nvSpPr>
        <p:spPr>
          <a:xfrm>
            <a:off x="9326880" y="4663440"/>
            <a:ext cx="2057400" cy="551848"/>
          </a:xfrm>
          <a:prstGeom prst="rect">
            <a:avLst/>
          </a:prstGeom>
          <a:noFill/>
          <a:ln/>
        </p:spPr>
        <p:txBody>
          <a:bodyPr wrap="square" lIns="0" tIns="0" rIns="0" bIns="0" rtlCol="0" anchor="t"/>
          <a:lstStyle/>
          <a:p>
            <a:pPr marL="0" indent="0" algn="ctr">
              <a:buNone/>
            </a:pPr>
            <a:r>
              <a:rPr lang="es-SV" sz="1100" noProof="0" dirty="0">
                <a:solidFill>
                  <a:srgbClr val="002060"/>
                </a:solidFill>
                <a:latin typeface="Arial" panose="020B0604020202020204" pitchFamily="34" charset="0"/>
                <a:cs typeface="Arial" panose="020B0604020202020204" pitchFamily="34" charset="0"/>
              </a:rPr>
              <a:t>Departamento de Administración de Riesgos: actualización y monitoreo</a:t>
            </a:r>
          </a:p>
        </p:txBody>
      </p:sp>
      <p:sp>
        <p:nvSpPr>
          <p:cNvPr id="31" name="Text 25"/>
          <p:cNvSpPr txBox="1"/>
          <p:nvPr/>
        </p:nvSpPr>
        <p:spPr>
          <a:xfrm>
            <a:off x="2103120" y="6126480"/>
            <a:ext cx="7680960" cy="274320"/>
          </a:xfrm>
          <a:prstGeom prst="rect">
            <a:avLst/>
          </a:prstGeom>
          <a:noFill/>
          <a:ln/>
        </p:spPr>
        <p:txBody>
          <a:bodyPr wrap="square" lIns="0" tIns="0" rIns="0" bIns="0" rtlCol="0" anchor="t"/>
          <a:lstStyle/>
          <a:p>
            <a:pPr marL="0" indent="0" algn="ctr">
              <a:buNone/>
            </a:pPr>
            <a:r>
              <a:rPr lang="es-SV" sz="1300" b="1" noProof="0" dirty="0">
                <a:solidFill>
                  <a:srgbClr val="002060"/>
                </a:solidFill>
                <a:latin typeface="Arial" panose="020B0604020202020204" pitchFamily="34" charset="0"/>
                <a:cs typeface="Arial" panose="020B0604020202020204" pitchFamily="34" charset="0"/>
              </a:rPr>
              <a:t>Total: </a:t>
            </a:r>
            <a:r>
              <a:rPr lang="es-SV" sz="1300" noProof="0" dirty="0">
                <a:solidFill>
                  <a:srgbClr val="002060"/>
                </a:solidFill>
                <a:latin typeface="Arial" panose="020B0604020202020204" pitchFamily="34" charset="0"/>
                <a:cs typeface="Arial" panose="020B0604020202020204" pitchFamily="34" charset="0"/>
              </a:rPr>
              <a:t>28 personas participan en el proceso, sin un área que lo controle de forma centralizada.</a:t>
            </a:r>
          </a:p>
        </p:txBody>
      </p:sp>
      <p:sp>
        <p:nvSpPr>
          <p:cNvPr id="32"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4</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10881360" cy="777240"/>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1. GERENCIA DE NEGOCIO</a:t>
            </a:r>
            <a:endParaRPr lang="es-SV" sz="2400" noProof="0" dirty="0">
              <a:latin typeface="Arial" panose="020B0604020202020204" pitchFamily="34" charset="0"/>
              <a:cs typeface="Arial" panose="020B0604020202020204" pitchFamily="34" charset="0"/>
            </a:endParaRPr>
          </a:p>
        </p:txBody>
      </p:sp>
      <p:sp>
        <p:nvSpPr>
          <p:cNvPr id="3" name="negocio 1 circle"/>
          <p:cNvSpPr/>
          <p:nvPr/>
        </p:nvSpPr>
        <p:spPr>
          <a:xfrm>
            <a:off x="548640" y="1490472"/>
            <a:ext cx="640080" cy="640080"/>
          </a:xfrm>
          <a:prstGeom prst="ellipse">
            <a:avLst/>
          </a:prstGeom>
          <a:solidFill>
            <a:srgbClr val="EEF3F9"/>
          </a:solidFill>
          <a:ln w="12700">
            <a:solidFill>
              <a:srgbClr val="EEF3F9"/>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4" name="negocio 1 icon" descr="preencoded.png"/>
          <p:cNvPicPr>
            <a:picLocks noChangeAspect="1"/>
          </p:cNvPicPr>
          <p:nvPr/>
        </p:nvPicPr>
        <p:blipFill>
          <a:blip r:embed="rId3"/>
          <a:stretch>
            <a:fillRect/>
          </a:stretch>
        </p:blipFill>
        <p:spPr>
          <a:xfrm>
            <a:off x="689458" y="1631290"/>
            <a:ext cx="358445" cy="358445"/>
          </a:xfrm>
          <a:prstGeom prst="rect">
            <a:avLst/>
          </a:prstGeom>
        </p:spPr>
      </p:pic>
      <p:sp>
        <p:nvSpPr>
          <p:cNvPr id="5" name="Text 2"/>
          <p:cNvSpPr txBox="1"/>
          <p:nvPr/>
        </p:nvSpPr>
        <p:spPr>
          <a:xfrm>
            <a:off x="1417320" y="1417320"/>
            <a:ext cx="6400800" cy="777240"/>
          </a:xfrm>
          <a:prstGeom prst="rect">
            <a:avLst/>
          </a:prstGeom>
          <a:noFill/>
          <a:ln/>
        </p:spPr>
        <p:txBody>
          <a:bodyPr wrap="square" lIns="0" tIns="0" rIns="0" bIns="0" rtlCol="0" anchor="ctr"/>
          <a:lstStyle/>
          <a:p>
            <a:pPr marL="0" indent="0">
              <a:buNone/>
            </a:pPr>
            <a:r>
              <a:rPr lang="es-SV" sz="1500" b="1" noProof="0" dirty="0">
                <a:solidFill>
                  <a:schemeClr val="tx2"/>
                </a:solidFill>
                <a:latin typeface="Arial" panose="020B0604020202020204" pitchFamily="34" charset="0"/>
                <a:cs typeface="Arial" panose="020B0604020202020204" pitchFamily="34" charset="0"/>
              </a:rPr>
              <a:t>Gerente de Negocio:</a:t>
            </a:r>
            <a:r>
              <a:rPr lang="es-SV" sz="1500" noProof="0" dirty="0">
                <a:solidFill>
                  <a:schemeClr val="tx1"/>
                </a:solidFill>
                <a:latin typeface="Arial" panose="020B0604020202020204" pitchFamily="34" charset="0"/>
                <a:cs typeface="Arial" panose="020B0604020202020204" pitchFamily="34" charset="0"/>
              </a:rPr>
              <a:t> Administrador de Contrato de Peritos</a:t>
            </a:r>
            <a:endParaRPr lang="es-SV" sz="1500" noProof="0" dirty="0">
              <a:latin typeface="Arial" panose="020B0604020202020204" pitchFamily="34" charset="0"/>
              <a:cs typeface="Arial" panose="020B0604020202020204" pitchFamily="34" charset="0"/>
            </a:endParaRPr>
          </a:p>
        </p:txBody>
      </p:sp>
      <p:sp>
        <p:nvSpPr>
          <p:cNvPr id="6" name="negocio 2 circle"/>
          <p:cNvSpPr/>
          <p:nvPr/>
        </p:nvSpPr>
        <p:spPr>
          <a:xfrm>
            <a:off x="548640" y="2404872"/>
            <a:ext cx="640080" cy="640080"/>
          </a:xfrm>
          <a:prstGeom prst="ellipse">
            <a:avLst/>
          </a:prstGeom>
          <a:solidFill>
            <a:srgbClr val="EEF3F9"/>
          </a:solidFill>
          <a:ln w="12700">
            <a:solidFill>
              <a:srgbClr val="EEF3F9"/>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7" name="negocio 2 icon" descr="preencoded.png"/>
          <p:cNvPicPr>
            <a:picLocks noChangeAspect="1"/>
          </p:cNvPicPr>
          <p:nvPr/>
        </p:nvPicPr>
        <p:blipFill>
          <a:blip r:embed="rId4"/>
          <a:stretch>
            <a:fillRect/>
          </a:stretch>
        </p:blipFill>
        <p:spPr>
          <a:xfrm>
            <a:off x="689458" y="2545690"/>
            <a:ext cx="358445" cy="358445"/>
          </a:xfrm>
          <a:prstGeom prst="rect">
            <a:avLst/>
          </a:prstGeom>
        </p:spPr>
      </p:pic>
      <p:sp>
        <p:nvSpPr>
          <p:cNvPr id="8" name="Text 4"/>
          <p:cNvSpPr txBox="1"/>
          <p:nvPr/>
        </p:nvSpPr>
        <p:spPr>
          <a:xfrm>
            <a:off x="1417320" y="2331720"/>
            <a:ext cx="6400800" cy="777240"/>
          </a:xfrm>
          <a:prstGeom prst="rect">
            <a:avLst/>
          </a:prstGeom>
          <a:noFill/>
          <a:ln/>
        </p:spPr>
        <p:txBody>
          <a:bodyPr wrap="square" lIns="0" tIns="0" rIns="0" bIns="0" rtlCol="0" anchor="ctr"/>
          <a:lstStyle/>
          <a:p>
            <a:pPr marL="0" indent="0">
              <a:buNone/>
            </a:pPr>
            <a:r>
              <a:rPr lang="es-SV" sz="1500" b="1" noProof="0" dirty="0">
                <a:solidFill>
                  <a:schemeClr val="tx2"/>
                </a:solidFill>
                <a:latin typeface="Arial" panose="020B0604020202020204" pitchFamily="34" charset="0"/>
                <a:cs typeface="Arial" panose="020B0604020202020204" pitchFamily="34" charset="0"/>
              </a:rPr>
              <a:t>Jefe de Crédito:</a:t>
            </a:r>
            <a:r>
              <a:rPr lang="es-SV" sz="1500" noProof="0" dirty="0">
                <a:solidFill>
                  <a:schemeClr val="tx1"/>
                </a:solidFill>
                <a:latin typeface="Arial" panose="020B0604020202020204" pitchFamily="34" charset="0"/>
                <a:cs typeface="Arial" panose="020B0604020202020204" pitchFamily="34" charset="0"/>
              </a:rPr>
              <a:t> Administrador de Peritos (Créditos Nuevos)</a:t>
            </a:r>
            <a:endParaRPr lang="es-SV" sz="1500" noProof="0" dirty="0">
              <a:latin typeface="Arial" panose="020B0604020202020204" pitchFamily="34" charset="0"/>
              <a:cs typeface="Arial" panose="020B0604020202020204" pitchFamily="34" charset="0"/>
            </a:endParaRPr>
          </a:p>
        </p:txBody>
      </p:sp>
      <p:sp>
        <p:nvSpPr>
          <p:cNvPr id="9" name="negocio 3 circle"/>
          <p:cNvSpPr/>
          <p:nvPr/>
        </p:nvSpPr>
        <p:spPr>
          <a:xfrm>
            <a:off x="548640" y="3319272"/>
            <a:ext cx="640080" cy="640080"/>
          </a:xfrm>
          <a:prstGeom prst="ellipse">
            <a:avLst/>
          </a:prstGeom>
          <a:solidFill>
            <a:srgbClr val="EEF3F9"/>
          </a:solidFill>
          <a:ln w="12700">
            <a:solidFill>
              <a:srgbClr val="EEF3F9"/>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0" name="negocio 3 icon" descr="preencoded.png"/>
          <p:cNvPicPr>
            <a:picLocks noChangeAspect="1"/>
          </p:cNvPicPr>
          <p:nvPr/>
        </p:nvPicPr>
        <p:blipFill>
          <a:blip r:embed="rId5"/>
          <a:stretch>
            <a:fillRect/>
          </a:stretch>
        </p:blipFill>
        <p:spPr>
          <a:xfrm>
            <a:off x="689458" y="3460090"/>
            <a:ext cx="358445" cy="358445"/>
          </a:xfrm>
          <a:prstGeom prst="rect">
            <a:avLst/>
          </a:prstGeom>
        </p:spPr>
      </p:pic>
      <p:sp>
        <p:nvSpPr>
          <p:cNvPr id="11" name="Text 6"/>
          <p:cNvSpPr txBox="1"/>
          <p:nvPr/>
        </p:nvSpPr>
        <p:spPr>
          <a:xfrm>
            <a:off x="1417320" y="3246120"/>
            <a:ext cx="5464743" cy="1234440"/>
          </a:xfrm>
          <a:prstGeom prst="rect">
            <a:avLst/>
          </a:prstGeom>
          <a:noFill/>
          <a:ln/>
        </p:spPr>
        <p:txBody>
          <a:bodyPr wrap="square" lIns="0" tIns="0" rIns="0" bIns="0" rtlCol="0" anchor="ctr"/>
          <a:lstStyle/>
          <a:p>
            <a:pPr marL="0" indent="0" algn="just">
              <a:buNone/>
            </a:pPr>
            <a:r>
              <a:rPr lang="es-SV" sz="1500" b="1" noProof="0" dirty="0">
                <a:solidFill>
                  <a:schemeClr val="tx2"/>
                </a:solidFill>
                <a:latin typeface="Arial" panose="020B0604020202020204" pitchFamily="34" charset="0"/>
                <a:cs typeface="Arial" panose="020B0604020202020204" pitchFamily="34" charset="0"/>
              </a:rPr>
              <a:t>Ejecutivos de Negocio:</a:t>
            </a:r>
            <a:r>
              <a:rPr lang="es-SV" sz="1500" noProof="0" dirty="0">
                <a:solidFill>
                  <a:schemeClr val="tx1"/>
                </a:solidFill>
                <a:latin typeface="Arial" panose="020B0604020202020204" pitchFamily="34" charset="0"/>
                <a:cs typeface="Arial" panose="020B0604020202020204" pitchFamily="34" charset="0"/>
              </a:rPr>
              <a:t> Recepción de Informes de Avalúos, e Ingreso de la Información en el sistema Industrial de Créditos Modulo de Garantías (15 Personas)</a:t>
            </a:r>
            <a:endParaRPr lang="es-SV" sz="1500" noProof="0" dirty="0">
              <a:latin typeface="Arial" panose="020B0604020202020204" pitchFamily="34" charset="0"/>
              <a:cs typeface="Arial" panose="020B0604020202020204" pitchFamily="34" charset="0"/>
            </a:endParaRPr>
          </a:p>
        </p:txBody>
      </p:sp>
      <p:sp>
        <p:nvSpPr>
          <p:cNvPr id="12" name="negocio 4 circle"/>
          <p:cNvSpPr/>
          <p:nvPr/>
        </p:nvSpPr>
        <p:spPr>
          <a:xfrm>
            <a:off x="548640" y="4690872"/>
            <a:ext cx="640080" cy="640080"/>
          </a:xfrm>
          <a:prstGeom prst="ellipse">
            <a:avLst/>
          </a:prstGeom>
          <a:solidFill>
            <a:srgbClr val="EEF3F9"/>
          </a:solidFill>
          <a:ln w="12700">
            <a:solidFill>
              <a:srgbClr val="EEF3F9"/>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3" name="negocio 4 icon" descr="preencoded.png"/>
          <p:cNvPicPr>
            <a:picLocks noChangeAspect="1"/>
          </p:cNvPicPr>
          <p:nvPr/>
        </p:nvPicPr>
        <p:blipFill>
          <a:blip r:embed="rId6"/>
          <a:stretch>
            <a:fillRect/>
          </a:stretch>
        </p:blipFill>
        <p:spPr>
          <a:xfrm>
            <a:off x="689458" y="4831690"/>
            <a:ext cx="358445" cy="358445"/>
          </a:xfrm>
          <a:prstGeom prst="rect">
            <a:avLst/>
          </a:prstGeom>
        </p:spPr>
      </p:pic>
      <p:sp>
        <p:nvSpPr>
          <p:cNvPr id="14" name="Text 8"/>
          <p:cNvSpPr txBox="1"/>
          <p:nvPr/>
        </p:nvSpPr>
        <p:spPr>
          <a:xfrm>
            <a:off x="1417320" y="4617720"/>
            <a:ext cx="6400800" cy="777240"/>
          </a:xfrm>
          <a:prstGeom prst="rect">
            <a:avLst/>
          </a:prstGeom>
          <a:noFill/>
          <a:ln/>
        </p:spPr>
        <p:txBody>
          <a:bodyPr wrap="square" lIns="0" tIns="0" rIns="0" bIns="0" rtlCol="0" anchor="ctr"/>
          <a:lstStyle/>
          <a:p>
            <a:pPr marL="0" indent="0">
              <a:buNone/>
            </a:pPr>
            <a:r>
              <a:rPr lang="es-SV" sz="1500" b="1" noProof="0" dirty="0">
                <a:solidFill>
                  <a:schemeClr val="tx2"/>
                </a:solidFill>
                <a:latin typeface="Arial" panose="020B0604020202020204" pitchFamily="34" charset="0"/>
                <a:cs typeface="Arial" panose="020B0604020202020204" pitchFamily="34" charset="0"/>
              </a:rPr>
              <a:t>Analista de Crédito:</a:t>
            </a:r>
            <a:r>
              <a:rPr lang="es-SV" sz="1500" noProof="0" dirty="0">
                <a:solidFill>
                  <a:schemeClr val="tx1"/>
                </a:solidFill>
                <a:latin typeface="Arial" panose="020B0604020202020204" pitchFamily="34" charset="0"/>
                <a:cs typeface="Arial" panose="020B0604020202020204" pitchFamily="34" charset="0"/>
              </a:rPr>
              <a:t> Recibe el Informe de avalúos (5 Personas)</a:t>
            </a:r>
            <a:endParaRPr lang="es-SV" sz="1500" noProof="0" dirty="0">
              <a:latin typeface="Arial" panose="020B0604020202020204" pitchFamily="34" charset="0"/>
              <a:cs typeface="Arial" panose="020B0604020202020204" pitchFamily="34" charset="0"/>
            </a:endParaRPr>
          </a:p>
        </p:txBody>
      </p:sp>
      <p:sp>
        <p:nvSpPr>
          <p:cNvPr id="15" name="negocio stat"/>
          <p:cNvSpPr/>
          <p:nvPr/>
        </p:nvSpPr>
        <p:spPr>
          <a:xfrm>
            <a:off x="8229600" y="1417320"/>
            <a:ext cx="3383280" cy="4389120"/>
          </a:xfrm>
          <a:prstGeom prst="roundRect">
            <a:avLst>
              <a:gd name="adj" fmla="val 2703"/>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16" name="Text 10"/>
          <p:cNvSpPr txBox="1"/>
          <p:nvPr/>
        </p:nvSpPr>
        <p:spPr>
          <a:xfrm>
            <a:off x="8549640" y="1737360"/>
            <a:ext cx="1155834" cy="987552"/>
          </a:xfrm>
          <a:prstGeom prst="rect">
            <a:avLst/>
          </a:prstGeom>
          <a:noFill/>
          <a:ln/>
        </p:spPr>
        <p:txBody>
          <a:bodyPr wrap="square" lIns="0" tIns="0" rIns="0" bIns="0" rtlCol="0" anchor="t"/>
          <a:lstStyle/>
          <a:p>
            <a:pPr marL="0" indent="0">
              <a:buNone/>
            </a:pPr>
            <a:r>
              <a:rPr lang="es-SV" sz="7200" b="1" noProof="0" dirty="0">
                <a:solidFill>
                  <a:srgbClr val="002060"/>
                </a:solidFill>
                <a:latin typeface="Arial" panose="020B0604020202020204" pitchFamily="34" charset="0"/>
                <a:cs typeface="Arial" panose="020B0604020202020204" pitchFamily="34" charset="0"/>
              </a:rPr>
              <a:t>22</a:t>
            </a:r>
            <a:endParaRPr lang="es-SV" sz="7200" noProof="0" dirty="0">
              <a:solidFill>
                <a:srgbClr val="002060"/>
              </a:solidFill>
              <a:latin typeface="Arial" panose="020B0604020202020204" pitchFamily="34" charset="0"/>
              <a:cs typeface="Arial" panose="020B0604020202020204" pitchFamily="34" charset="0"/>
            </a:endParaRPr>
          </a:p>
        </p:txBody>
      </p:sp>
      <p:sp>
        <p:nvSpPr>
          <p:cNvPr id="17" name="Text 11"/>
          <p:cNvSpPr txBox="1"/>
          <p:nvPr/>
        </p:nvSpPr>
        <p:spPr>
          <a:xfrm>
            <a:off x="8549640" y="3017520"/>
            <a:ext cx="2788920" cy="868680"/>
          </a:xfrm>
          <a:prstGeom prst="rect">
            <a:avLst/>
          </a:prstGeom>
          <a:noFill/>
          <a:ln/>
        </p:spPr>
        <p:txBody>
          <a:bodyPr wrap="square" lIns="0" tIns="0" rIns="0" bIns="0" rtlCol="0" anchor="t"/>
          <a:lstStyle/>
          <a:p>
            <a:pPr marL="0" indent="0">
              <a:buNone/>
            </a:pPr>
            <a:r>
              <a:rPr lang="es-SV" sz="1600" b="1" noProof="0" dirty="0">
                <a:solidFill>
                  <a:schemeClr val="bg1"/>
                </a:solidFill>
                <a:latin typeface="Arial" panose="020B0604020202020204" pitchFamily="34" charset="0"/>
                <a:cs typeface="Arial" panose="020B0604020202020204" pitchFamily="34" charset="0"/>
              </a:rPr>
              <a:t>Proceso actual realizado por 14 Personas</a:t>
            </a:r>
            <a:endParaRPr lang="es-SV" sz="1600" noProof="0" dirty="0">
              <a:latin typeface="Arial" panose="020B0604020202020204" pitchFamily="34" charset="0"/>
              <a:cs typeface="Arial" panose="020B0604020202020204" pitchFamily="34" charset="0"/>
            </a:endParaRPr>
          </a:p>
        </p:txBody>
      </p:sp>
      <p:sp>
        <p:nvSpPr>
          <p:cNvPr id="18" name="Text 12"/>
          <p:cNvSpPr txBox="1"/>
          <p:nvPr/>
        </p:nvSpPr>
        <p:spPr>
          <a:xfrm>
            <a:off x="8549640" y="4023360"/>
            <a:ext cx="2788920" cy="667512"/>
          </a:xfrm>
          <a:prstGeom prst="rect">
            <a:avLst/>
          </a:prstGeom>
          <a:noFill/>
          <a:ln/>
        </p:spPr>
        <p:txBody>
          <a:bodyPr wrap="square" lIns="0" tIns="0" rIns="0" bIns="0" rtlCol="0" anchor="t"/>
          <a:lstStyle/>
          <a:p>
            <a:pPr marL="0" indent="0" algn="ctr">
              <a:buNone/>
            </a:pPr>
            <a:r>
              <a:rPr lang="es-SV" sz="1300" noProof="0" dirty="0">
                <a:solidFill>
                  <a:srgbClr val="002060"/>
                </a:solidFill>
                <a:latin typeface="Arial" panose="020B0604020202020204" pitchFamily="34" charset="0"/>
                <a:cs typeface="Arial" panose="020B0604020202020204" pitchFamily="34" charset="0"/>
              </a:rPr>
              <a:t>De ellas, 15 son Ejecutivos de Negocio que ingresan información en el Módulo de Garantías</a:t>
            </a: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5</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54380" y="499872"/>
            <a:ext cx="8290560" cy="475488"/>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2. GERENCIA LEGAL Y 3. GERENCIA DE OPERACIONES </a:t>
            </a:r>
            <a:endParaRPr lang="es-SV" sz="2400" noProof="0" dirty="0">
              <a:latin typeface="Arial" panose="020B0604020202020204" pitchFamily="34" charset="0"/>
              <a:cs typeface="Arial" panose="020B0604020202020204" pitchFamily="34" charset="0"/>
            </a:endParaRPr>
          </a:p>
        </p:txBody>
      </p:sp>
      <p:sp>
        <p:nvSpPr>
          <p:cNvPr id="3" name="columna 1"/>
          <p:cNvSpPr/>
          <p:nvPr/>
        </p:nvSpPr>
        <p:spPr>
          <a:xfrm>
            <a:off x="548640" y="1325880"/>
            <a:ext cx="5349240" cy="4572000"/>
          </a:xfrm>
          <a:prstGeom prst="roundRect">
            <a:avLst>
              <a:gd name="adj" fmla="val 2000"/>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4" name="columna 1 circle"/>
          <p:cNvSpPr/>
          <p:nvPr/>
        </p:nvSpPr>
        <p:spPr>
          <a:xfrm>
            <a:off x="914400" y="1600200"/>
            <a:ext cx="685800" cy="68580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5" name="columna 1 icon" descr="preencoded.png"/>
          <p:cNvPicPr>
            <a:picLocks noChangeAspect="1"/>
          </p:cNvPicPr>
          <p:nvPr/>
        </p:nvPicPr>
        <p:blipFill>
          <a:blip r:embed="rId3"/>
          <a:stretch>
            <a:fillRect/>
          </a:stretch>
        </p:blipFill>
        <p:spPr>
          <a:xfrm>
            <a:off x="1065276" y="1751076"/>
            <a:ext cx="384048" cy="384048"/>
          </a:xfrm>
          <a:prstGeom prst="rect">
            <a:avLst/>
          </a:prstGeom>
        </p:spPr>
      </p:pic>
      <p:sp>
        <p:nvSpPr>
          <p:cNvPr id="6" name="Text 3"/>
          <p:cNvSpPr txBox="1"/>
          <p:nvPr/>
        </p:nvSpPr>
        <p:spPr>
          <a:xfrm>
            <a:off x="1783080" y="1600200"/>
            <a:ext cx="3931920" cy="685800"/>
          </a:xfrm>
          <a:prstGeom prst="rect">
            <a:avLst/>
          </a:prstGeom>
          <a:noFill/>
          <a:ln/>
        </p:spPr>
        <p:txBody>
          <a:bodyPr wrap="square" lIns="0" tIns="0" rIns="0" bIns="0" rtlCol="0" anchor="ctr"/>
          <a:lstStyle/>
          <a:p>
            <a:pPr marL="0" indent="0">
              <a:buNone/>
            </a:pPr>
            <a:r>
              <a:rPr lang="es-SV" sz="1900" b="1" noProof="0" dirty="0">
                <a:solidFill>
                  <a:schemeClr val="tx2"/>
                </a:solidFill>
                <a:latin typeface="Arial" panose="020B0604020202020204" pitchFamily="34" charset="0"/>
                <a:cs typeface="Arial" panose="020B0604020202020204" pitchFamily="34" charset="0"/>
              </a:rPr>
              <a:t>2. Gerencia legal</a:t>
            </a:r>
            <a:endParaRPr lang="es-SV" sz="1900" noProof="0" dirty="0">
              <a:latin typeface="Arial" panose="020B0604020202020204" pitchFamily="34" charset="0"/>
              <a:cs typeface="Arial" panose="020B0604020202020204" pitchFamily="34" charset="0"/>
            </a:endParaRPr>
          </a:p>
        </p:txBody>
      </p:sp>
      <p:sp>
        <p:nvSpPr>
          <p:cNvPr id="7" name="Text 4"/>
          <p:cNvSpPr txBox="1"/>
          <p:nvPr/>
        </p:nvSpPr>
        <p:spPr>
          <a:xfrm>
            <a:off x="914400" y="2463987"/>
            <a:ext cx="4617720" cy="1626749"/>
          </a:xfrm>
          <a:prstGeom prst="rect">
            <a:avLst/>
          </a:prstGeom>
          <a:noFill/>
          <a:ln/>
        </p:spPr>
        <p:txBody>
          <a:bodyPr wrap="square" lIns="0" tIns="0" rIns="0" bIns="0" rtlCol="0" anchor="t"/>
          <a:lstStyle/>
          <a:p>
            <a:pPr marL="0" indent="0" algn="just">
              <a:lnSpc>
                <a:spcPct val="200000"/>
              </a:lnSpc>
              <a:spcAft>
                <a:spcPts val="800"/>
              </a:spcAft>
              <a:buNone/>
            </a:pPr>
            <a:r>
              <a:rPr lang="es-SV" sz="1350" noProof="0" dirty="0">
                <a:solidFill>
                  <a:schemeClr val="tx1"/>
                </a:solidFill>
                <a:latin typeface="Arial" panose="020B0604020202020204" pitchFamily="34" charset="0"/>
                <a:cs typeface="Arial" panose="020B0604020202020204" pitchFamily="34" charset="0"/>
              </a:rPr>
              <a:t>Realiza los contratos Hipotecarios y valida información en el Informe de avalúos, para ingresar en el sistema Industrial de Créditos Modulo de garantías la información de Inscripción y presentación de Garantías.</a:t>
            </a:r>
            <a:endParaRPr lang="es-SV" sz="1350" noProof="0" dirty="0">
              <a:latin typeface="Arial" panose="020B0604020202020204" pitchFamily="34" charset="0"/>
              <a:cs typeface="Arial" panose="020B0604020202020204" pitchFamily="34" charset="0"/>
            </a:endParaRPr>
          </a:p>
        </p:txBody>
      </p:sp>
      <p:sp>
        <p:nvSpPr>
          <p:cNvPr id="8" name="pill 1"/>
          <p:cNvSpPr/>
          <p:nvPr/>
        </p:nvSpPr>
        <p:spPr>
          <a:xfrm>
            <a:off x="914400" y="4663440"/>
            <a:ext cx="4617720" cy="960120"/>
          </a:xfrm>
          <a:prstGeom prst="roundRect">
            <a:avLst>
              <a:gd name="adj" fmla="val 9524"/>
            </a:avLst>
          </a:prstGeom>
          <a:solidFill>
            <a:srgbClr val="00376E"/>
          </a:solidFill>
          <a:ln w="12700">
            <a:solidFill>
              <a:srgbClr val="00376E"/>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0" name="Text 7"/>
          <p:cNvSpPr txBox="1"/>
          <p:nvPr/>
        </p:nvSpPr>
        <p:spPr>
          <a:xfrm>
            <a:off x="1417320" y="4992304"/>
            <a:ext cx="3474720" cy="309613"/>
          </a:xfrm>
          <a:prstGeom prst="rect">
            <a:avLst/>
          </a:prstGeom>
          <a:noFill/>
          <a:ln/>
        </p:spPr>
        <p:txBody>
          <a:bodyPr wrap="square" lIns="0" tIns="0" rIns="0" bIns="0" rtlCol="0" anchor="ctr"/>
          <a:lstStyle/>
          <a:p>
            <a:pPr marL="0" indent="0">
              <a:buNone/>
            </a:pPr>
            <a:r>
              <a:rPr lang="es-SV" sz="1400" b="1" noProof="0" dirty="0">
                <a:solidFill>
                  <a:schemeClr val="bg1"/>
                </a:solidFill>
                <a:latin typeface="Arial" panose="020B0604020202020204" pitchFamily="34" charset="0"/>
                <a:cs typeface="Arial" panose="020B0604020202020204" pitchFamily="34" charset="0"/>
              </a:rPr>
              <a:t>Proceso actual realizado por 2 Personas</a:t>
            </a:r>
            <a:endParaRPr lang="es-SV" sz="1400" noProof="0" dirty="0">
              <a:latin typeface="Arial" panose="020B0604020202020204" pitchFamily="34" charset="0"/>
              <a:cs typeface="Arial" panose="020B0604020202020204" pitchFamily="34" charset="0"/>
            </a:endParaRPr>
          </a:p>
        </p:txBody>
      </p:sp>
      <p:sp>
        <p:nvSpPr>
          <p:cNvPr id="11" name="columna 2"/>
          <p:cNvSpPr/>
          <p:nvPr/>
        </p:nvSpPr>
        <p:spPr>
          <a:xfrm>
            <a:off x="6263640" y="1325880"/>
            <a:ext cx="5349240" cy="4572000"/>
          </a:xfrm>
          <a:prstGeom prst="roundRect">
            <a:avLst>
              <a:gd name="adj" fmla="val 2000"/>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12" name="columna 2 circle"/>
          <p:cNvSpPr/>
          <p:nvPr/>
        </p:nvSpPr>
        <p:spPr>
          <a:xfrm>
            <a:off x="6629400" y="1600200"/>
            <a:ext cx="685800" cy="68580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3" name="columna 2 icon" descr="preencoded.png"/>
          <p:cNvPicPr>
            <a:picLocks noChangeAspect="1"/>
          </p:cNvPicPr>
          <p:nvPr/>
        </p:nvPicPr>
        <p:blipFill>
          <a:blip r:embed="rId4"/>
          <a:stretch>
            <a:fillRect/>
          </a:stretch>
        </p:blipFill>
        <p:spPr>
          <a:xfrm>
            <a:off x="6780276" y="1751076"/>
            <a:ext cx="384048" cy="384048"/>
          </a:xfrm>
          <a:prstGeom prst="rect">
            <a:avLst/>
          </a:prstGeom>
        </p:spPr>
      </p:pic>
      <p:sp>
        <p:nvSpPr>
          <p:cNvPr id="14" name="Text 10"/>
          <p:cNvSpPr txBox="1"/>
          <p:nvPr/>
        </p:nvSpPr>
        <p:spPr>
          <a:xfrm>
            <a:off x="7498080" y="1600200"/>
            <a:ext cx="3931920" cy="685800"/>
          </a:xfrm>
          <a:prstGeom prst="rect">
            <a:avLst/>
          </a:prstGeom>
          <a:noFill/>
          <a:ln/>
        </p:spPr>
        <p:txBody>
          <a:bodyPr wrap="square" lIns="0" tIns="0" rIns="0" bIns="0" rtlCol="0" anchor="ctr"/>
          <a:lstStyle/>
          <a:p>
            <a:pPr marL="0" indent="0">
              <a:buNone/>
            </a:pPr>
            <a:r>
              <a:rPr lang="es-SV" sz="1900" b="1" noProof="0" dirty="0">
                <a:solidFill>
                  <a:schemeClr val="tx2"/>
                </a:solidFill>
                <a:latin typeface="Arial" panose="020B0604020202020204" pitchFamily="34" charset="0"/>
                <a:cs typeface="Arial" panose="020B0604020202020204" pitchFamily="34" charset="0"/>
              </a:rPr>
              <a:t>3. Gerencia de Operaciones</a:t>
            </a:r>
            <a:endParaRPr lang="es-SV" sz="1900" noProof="0" dirty="0">
              <a:latin typeface="Arial" panose="020B0604020202020204" pitchFamily="34" charset="0"/>
              <a:cs typeface="Arial" panose="020B0604020202020204" pitchFamily="34" charset="0"/>
            </a:endParaRPr>
          </a:p>
        </p:txBody>
      </p:sp>
      <p:sp>
        <p:nvSpPr>
          <p:cNvPr id="15" name="Text 11"/>
          <p:cNvSpPr txBox="1"/>
          <p:nvPr/>
        </p:nvSpPr>
        <p:spPr>
          <a:xfrm>
            <a:off x="6629400" y="2421557"/>
            <a:ext cx="4617720" cy="1920240"/>
          </a:xfrm>
          <a:prstGeom prst="rect">
            <a:avLst/>
          </a:prstGeom>
          <a:noFill/>
          <a:ln/>
        </p:spPr>
        <p:txBody>
          <a:bodyPr wrap="square" lIns="0" tIns="0" rIns="0" bIns="0" rtlCol="0" anchor="t"/>
          <a:lstStyle/>
          <a:p>
            <a:pPr marL="0" indent="0" algn="just">
              <a:lnSpc>
                <a:spcPct val="150000"/>
              </a:lnSpc>
              <a:spcAft>
                <a:spcPts val="800"/>
              </a:spcAft>
              <a:buNone/>
            </a:pPr>
            <a:r>
              <a:rPr lang="es-SV" sz="1350" noProof="0" dirty="0">
                <a:solidFill>
                  <a:schemeClr val="tx1"/>
                </a:solidFill>
                <a:latin typeface="Arial" panose="020B0604020202020204" pitchFamily="34" charset="0"/>
                <a:cs typeface="Arial" panose="020B0604020202020204" pitchFamily="34" charset="0"/>
              </a:rPr>
              <a:t>Administración de Cartera: Es la encarga actual de Modificar, Actualizar el Sistema Industrial de Créditos del Módulo de Garantías, (de la Información enviada por Créditos y Riesgos)</a:t>
            </a:r>
            <a:endParaRPr lang="es-SV" sz="1350" noProof="0" dirty="0">
              <a:latin typeface="Arial" panose="020B0604020202020204" pitchFamily="34" charset="0"/>
              <a:cs typeface="Arial" panose="020B0604020202020204" pitchFamily="34" charset="0"/>
            </a:endParaRPr>
          </a:p>
          <a:p>
            <a:pPr marL="0" indent="0" algn="just">
              <a:lnSpc>
                <a:spcPct val="150000"/>
              </a:lnSpc>
              <a:spcAft>
                <a:spcPts val="800"/>
              </a:spcAft>
              <a:buNone/>
            </a:pPr>
            <a:r>
              <a:rPr lang="es-SV" sz="1350" noProof="0" dirty="0">
                <a:solidFill>
                  <a:schemeClr val="tx1"/>
                </a:solidFill>
                <a:latin typeface="Arial" panose="020B0604020202020204" pitchFamily="34" charset="0"/>
                <a:cs typeface="Arial" panose="020B0604020202020204" pitchFamily="34" charset="0"/>
              </a:rPr>
              <a:t>Así mismo ha informado que realiza contrataciones de Peritos para valuaciones especiales de garantías.</a:t>
            </a:r>
            <a:endParaRPr lang="es-SV" sz="1350" noProof="0" dirty="0">
              <a:latin typeface="Arial" panose="020B0604020202020204" pitchFamily="34" charset="0"/>
              <a:cs typeface="Arial" panose="020B0604020202020204" pitchFamily="34" charset="0"/>
            </a:endParaRPr>
          </a:p>
        </p:txBody>
      </p:sp>
      <p:sp>
        <p:nvSpPr>
          <p:cNvPr id="16" name="pill 2"/>
          <p:cNvSpPr/>
          <p:nvPr/>
        </p:nvSpPr>
        <p:spPr>
          <a:xfrm>
            <a:off x="6629400" y="4663440"/>
            <a:ext cx="4617720" cy="960120"/>
          </a:xfrm>
          <a:prstGeom prst="roundRect">
            <a:avLst>
              <a:gd name="adj" fmla="val 9524"/>
            </a:avLst>
          </a:prstGeom>
          <a:solidFill>
            <a:srgbClr val="00376E"/>
          </a:solidFill>
          <a:ln w="12700">
            <a:solidFill>
              <a:srgbClr val="00376E"/>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8" name="Text 14"/>
          <p:cNvSpPr txBox="1"/>
          <p:nvPr/>
        </p:nvSpPr>
        <p:spPr>
          <a:xfrm>
            <a:off x="7315200" y="4973053"/>
            <a:ext cx="3474720" cy="328864"/>
          </a:xfrm>
          <a:prstGeom prst="rect">
            <a:avLst/>
          </a:prstGeom>
          <a:noFill/>
          <a:ln/>
        </p:spPr>
        <p:txBody>
          <a:bodyPr wrap="square" lIns="0" tIns="0" rIns="0" bIns="0" rtlCol="0" anchor="ctr"/>
          <a:lstStyle/>
          <a:p>
            <a:pPr marL="0" indent="0">
              <a:buNone/>
            </a:pPr>
            <a:r>
              <a:rPr lang="es-SV" sz="1400" b="1" noProof="0" dirty="0">
                <a:solidFill>
                  <a:schemeClr val="bg1"/>
                </a:solidFill>
                <a:latin typeface="Arial" panose="020B0604020202020204" pitchFamily="34" charset="0"/>
                <a:cs typeface="Arial" panose="020B0604020202020204" pitchFamily="34" charset="0"/>
              </a:rPr>
              <a:t>Proceso actual realizado por 2 Personas</a:t>
            </a:r>
            <a:endParaRPr lang="es-SV" sz="1400" noProof="0" dirty="0">
              <a:latin typeface="Arial" panose="020B0604020202020204" pitchFamily="34" charset="0"/>
              <a:cs typeface="Arial" panose="020B0604020202020204" pitchFamily="34" charset="0"/>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6</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10881360" cy="777240"/>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4. GERENCIA GENERAL: DEPTO. DE ADMINISTRACIÓN DE RIESGOS</a:t>
            </a:r>
            <a:endParaRPr lang="es-SV" sz="2400" noProof="0" dirty="0">
              <a:latin typeface="Arial" panose="020B0604020202020204" pitchFamily="34" charset="0"/>
              <a:cs typeface="Arial" panose="020B0604020202020204" pitchFamily="34" charset="0"/>
            </a:endParaRPr>
          </a:p>
        </p:txBody>
      </p:sp>
      <p:sp>
        <p:nvSpPr>
          <p:cNvPr id="4" name="actividad 1"/>
          <p:cNvSpPr/>
          <p:nvPr/>
        </p:nvSpPr>
        <p:spPr>
          <a:xfrm>
            <a:off x="548640" y="169164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5" name="actividad 1 circle"/>
          <p:cNvSpPr/>
          <p:nvPr/>
        </p:nvSpPr>
        <p:spPr>
          <a:xfrm>
            <a:off x="731520" y="187452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6" name="actividad 1 icon" descr="preencoded.png"/>
          <p:cNvPicPr>
            <a:picLocks noChangeAspect="1"/>
          </p:cNvPicPr>
          <p:nvPr/>
        </p:nvPicPr>
        <p:blipFill>
          <a:blip r:embed="rId3"/>
          <a:stretch>
            <a:fillRect/>
          </a:stretch>
        </p:blipFill>
        <p:spPr>
          <a:xfrm>
            <a:off x="852221" y="1995221"/>
            <a:ext cx="307238" cy="307238"/>
          </a:xfrm>
          <a:prstGeom prst="rect">
            <a:avLst/>
          </a:prstGeom>
        </p:spPr>
      </p:pic>
      <p:sp>
        <p:nvSpPr>
          <p:cNvPr id="7" name="Text 4"/>
          <p:cNvSpPr txBox="1"/>
          <p:nvPr/>
        </p:nvSpPr>
        <p:spPr>
          <a:xfrm>
            <a:off x="1417320" y="174650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Contratación de Peritos para actualización</a:t>
            </a:r>
            <a:endParaRPr lang="es-SV" sz="1150" noProof="0" dirty="0">
              <a:latin typeface="Arial" panose="020B0604020202020204" pitchFamily="34" charset="0"/>
              <a:cs typeface="Arial" panose="020B0604020202020204" pitchFamily="34" charset="0"/>
            </a:endParaRPr>
          </a:p>
        </p:txBody>
      </p:sp>
      <p:sp>
        <p:nvSpPr>
          <p:cNvPr id="8" name="actividad 2"/>
          <p:cNvSpPr/>
          <p:nvPr/>
        </p:nvSpPr>
        <p:spPr>
          <a:xfrm>
            <a:off x="4526280" y="169164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9" name="actividad 2 circle"/>
          <p:cNvSpPr/>
          <p:nvPr/>
        </p:nvSpPr>
        <p:spPr>
          <a:xfrm>
            <a:off x="4709160" y="187452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0" name="actividad 2 icon" descr="preencoded.png"/>
          <p:cNvPicPr>
            <a:picLocks noChangeAspect="1"/>
          </p:cNvPicPr>
          <p:nvPr/>
        </p:nvPicPr>
        <p:blipFill>
          <a:blip r:embed="rId4"/>
          <a:stretch>
            <a:fillRect/>
          </a:stretch>
        </p:blipFill>
        <p:spPr>
          <a:xfrm>
            <a:off x="4829861" y="1995221"/>
            <a:ext cx="307238" cy="307238"/>
          </a:xfrm>
          <a:prstGeom prst="rect">
            <a:avLst/>
          </a:prstGeom>
        </p:spPr>
      </p:pic>
      <p:sp>
        <p:nvSpPr>
          <p:cNvPr id="11" name="Text 7"/>
          <p:cNvSpPr txBox="1"/>
          <p:nvPr/>
        </p:nvSpPr>
        <p:spPr>
          <a:xfrm>
            <a:off x="5394960" y="174650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Monitoreo Periódico de Vencimiento de garantías</a:t>
            </a:r>
            <a:endParaRPr lang="es-SV" sz="1150" noProof="0" dirty="0">
              <a:latin typeface="Arial" panose="020B0604020202020204" pitchFamily="34" charset="0"/>
              <a:cs typeface="Arial" panose="020B0604020202020204" pitchFamily="34" charset="0"/>
            </a:endParaRPr>
          </a:p>
        </p:txBody>
      </p:sp>
      <p:sp>
        <p:nvSpPr>
          <p:cNvPr id="12" name="actividad 3"/>
          <p:cNvSpPr/>
          <p:nvPr/>
        </p:nvSpPr>
        <p:spPr>
          <a:xfrm>
            <a:off x="548640" y="274320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3" name="actividad 3 circle"/>
          <p:cNvSpPr/>
          <p:nvPr/>
        </p:nvSpPr>
        <p:spPr>
          <a:xfrm>
            <a:off x="731520" y="292608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4" name="actividad 3 icon" descr="preencoded.png"/>
          <p:cNvPicPr>
            <a:picLocks noChangeAspect="1"/>
          </p:cNvPicPr>
          <p:nvPr/>
        </p:nvPicPr>
        <p:blipFill>
          <a:blip r:embed="rId5"/>
          <a:stretch>
            <a:fillRect/>
          </a:stretch>
        </p:blipFill>
        <p:spPr>
          <a:xfrm>
            <a:off x="852221" y="3046781"/>
            <a:ext cx="307238" cy="307238"/>
          </a:xfrm>
          <a:prstGeom prst="rect">
            <a:avLst/>
          </a:prstGeom>
        </p:spPr>
      </p:pic>
      <p:sp>
        <p:nvSpPr>
          <p:cNvPr id="15" name="Text 10"/>
          <p:cNvSpPr txBox="1"/>
          <p:nvPr/>
        </p:nvSpPr>
        <p:spPr>
          <a:xfrm>
            <a:off x="1417320" y="279806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Gestión de actualización de las garantías (3,500, Promedio de 60 Mensual)</a:t>
            </a:r>
            <a:endParaRPr lang="es-SV" sz="1150" noProof="0" dirty="0">
              <a:latin typeface="Arial" panose="020B0604020202020204" pitchFamily="34" charset="0"/>
              <a:cs typeface="Arial" panose="020B0604020202020204" pitchFamily="34" charset="0"/>
            </a:endParaRPr>
          </a:p>
        </p:txBody>
      </p:sp>
      <p:sp>
        <p:nvSpPr>
          <p:cNvPr id="16" name="actividad 4"/>
          <p:cNvSpPr/>
          <p:nvPr/>
        </p:nvSpPr>
        <p:spPr>
          <a:xfrm>
            <a:off x="4526280" y="274320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7" name="actividad 4 circle"/>
          <p:cNvSpPr/>
          <p:nvPr/>
        </p:nvSpPr>
        <p:spPr>
          <a:xfrm>
            <a:off x="4709160" y="292608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8" name="actividad 4 icon" descr="preencoded.png"/>
          <p:cNvPicPr>
            <a:picLocks noChangeAspect="1"/>
          </p:cNvPicPr>
          <p:nvPr/>
        </p:nvPicPr>
        <p:blipFill>
          <a:blip r:embed="rId6"/>
          <a:stretch>
            <a:fillRect/>
          </a:stretch>
        </p:blipFill>
        <p:spPr>
          <a:xfrm>
            <a:off x="4829861" y="3046781"/>
            <a:ext cx="307238" cy="307238"/>
          </a:xfrm>
          <a:prstGeom prst="rect">
            <a:avLst/>
          </a:prstGeom>
        </p:spPr>
      </p:pic>
      <p:sp>
        <p:nvSpPr>
          <p:cNvPr id="19" name="Text 13"/>
          <p:cNvSpPr txBox="1"/>
          <p:nvPr/>
        </p:nvSpPr>
        <p:spPr>
          <a:xfrm>
            <a:off x="5394960" y="279806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Asignación de garantías a peritos</a:t>
            </a:r>
            <a:endParaRPr lang="es-SV" sz="1150" noProof="0" dirty="0">
              <a:latin typeface="Arial" panose="020B0604020202020204" pitchFamily="34" charset="0"/>
              <a:cs typeface="Arial" panose="020B0604020202020204" pitchFamily="34" charset="0"/>
            </a:endParaRPr>
          </a:p>
        </p:txBody>
      </p:sp>
      <p:sp>
        <p:nvSpPr>
          <p:cNvPr id="20" name="actividad 5"/>
          <p:cNvSpPr/>
          <p:nvPr/>
        </p:nvSpPr>
        <p:spPr>
          <a:xfrm>
            <a:off x="548640" y="379476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21" name="actividad 5 circle"/>
          <p:cNvSpPr/>
          <p:nvPr/>
        </p:nvSpPr>
        <p:spPr>
          <a:xfrm>
            <a:off x="731520" y="397764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22" name="actividad 5 icon" descr="preencoded.png"/>
          <p:cNvPicPr>
            <a:picLocks noChangeAspect="1"/>
          </p:cNvPicPr>
          <p:nvPr/>
        </p:nvPicPr>
        <p:blipFill>
          <a:blip r:embed="rId7"/>
          <a:stretch>
            <a:fillRect/>
          </a:stretch>
        </p:blipFill>
        <p:spPr>
          <a:xfrm>
            <a:off x="852221" y="4098341"/>
            <a:ext cx="307238" cy="307238"/>
          </a:xfrm>
          <a:prstGeom prst="rect">
            <a:avLst/>
          </a:prstGeom>
        </p:spPr>
      </p:pic>
      <p:sp>
        <p:nvSpPr>
          <p:cNvPr id="23" name="Text 16"/>
          <p:cNvSpPr txBox="1"/>
          <p:nvPr/>
        </p:nvSpPr>
        <p:spPr>
          <a:xfrm>
            <a:off x="1417320" y="384962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Recepción y revisión de Informes de avalúos</a:t>
            </a:r>
            <a:endParaRPr lang="es-SV" sz="1150" noProof="0" dirty="0">
              <a:latin typeface="Arial" panose="020B0604020202020204" pitchFamily="34" charset="0"/>
              <a:cs typeface="Arial" panose="020B0604020202020204" pitchFamily="34" charset="0"/>
            </a:endParaRPr>
          </a:p>
        </p:txBody>
      </p:sp>
      <p:sp>
        <p:nvSpPr>
          <p:cNvPr id="24" name="actividad 6"/>
          <p:cNvSpPr/>
          <p:nvPr/>
        </p:nvSpPr>
        <p:spPr>
          <a:xfrm>
            <a:off x="4526280" y="379476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25" name="actividad 6 circle"/>
          <p:cNvSpPr/>
          <p:nvPr/>
        </p:nvSpPr>
        <p:spPr>
          <a:xfrm>
            <a:off x="4709160" y="397764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26" name="actividad 6 icon" descr="preencoded.png"/>
          <p:cNvPicPr>
            <a:picLocks noChangeAspect="1"/>
          </p:cNvPicPr>
          <p:nvPr/>
        </p:nvPicPr>
        <p:blipFill>
          <a:blip r:embed="rId8"/>
          <a:stretch>
            <a:fillRect/>
          </a:stretch>
        </p:blipFill>
        <p:spPr>
          <a:xfrm>
            <a:off x="4829861" y="4098341"/>
            <a:ext cx="307238" cy="307238"/>
          </a:xfrm>
          <a:prstGeom prst="rect">
            <a:avLst/>
          </a:prstGeom>
        </p:spPr>
      </p:pic>
      <p:sp>
        <p:nvSpPr>
          <p:cNvPr id="27" name="Text 19"/>
          <p:cNvSpPr txBox="1"/>
          <p:nvPr/>
        </p:nvSpPr>
        <p:spPr>
          <a:xfrm>
            <a:off x="5394960" y="384962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Pago a Peritos</a:t>
            </a:r>
            <a:endParaRPr lang="es-SV" sz="1150" noProof="0" dirty="0">
              <a:latin typeface="Arial" panose="020B0604020202020204" pitchFamily="34" charset="0"/>
              <a:cs typeface="Arial" panose="020B0604020202020204" pitchFamily="34" charset="0"/>
            </a:endParaRPr>
          </a:p>
        </p:txBody>
      </p:sp>
      <p:sp>
        <p:nvSpPr>
          <p:cNvPr id="28" name="actividad 7"/>
          <p:cNvSpPr/>
          <p:nvPr/>
        </p:nvSpPr>
        <p:spPr>
          <a:xfrm>
            <a:off x="548640" y="484632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29" name="actividad 7 circle"/>
          <p:cNvSpPr/>
          <p:nvPr/>
        </p:nvSpPr>
        <p:spPr>
          <a:xfrm>
            <a:off x="731520" y="502920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30" name="actividad 7 icon" descr="preencoded.png"/>
          <p:cNvPicPr>
            <a:picLocks noChangeAspect="1"/>
          </p:cNvPicPr>
          <p:nvPr/>
        </p:nvPicPr>
        <p:blipFill>
          <a:blip r:embed="rId9"/>
          <a:stretch>
            <a:fillRect/>
          </a:stretch>
        </p:blipFill>
        <p:spPr>
          <a:xfrm>
            <a:off x="852221" y="5149901"/>
            <a:ext cx="307238" cy="307238"/>
          </a:xfrm>
          <a:prstGeom prst="rect">
            <a:avLst/>
          </a:prstGeom>
        </p:spPr>
      </p:pic>
      <p:sp>
        <p:nvSpPr>
          <p:cNvPr id="31" name="Text 22"/>
          <p:cNvSpPr txBox="1"/>
          <p:nvPr/>
        </p:nvSpPr>
        <p:spPr>
          <a:xfrm>
            <a:off x="1417320" y="490118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Remisión a custodia de valores de los Informes de avalúos actualizados</a:t>
            </a:r>
            <a:endParaRPr lang="es-SV" sz="1150" noProof="0" dirty="0">
              <a:latin typeface="Arial" panose="020B0604020202020204" pitchFamily="34" charset="0"/>
              <a:cs typeface="Arial" panose="020B0604020202020204" pitchFamily="34" charset="0"/>
            </a:endParaRPr>
          </a:p>
        </p:txBody>
      </p:sp>
      <p:sp>
        <p:nvSpPr>
          <p:cNvPr id="32" name="actividad 8"/>
          <p:cNvSpPr/>
          <p:nvPr/>
        </p:nvSpPr>
        <p:spPr>
          <a:xfrm>
            <a:off x="4526280" y="4846320"/>
            <a:ext cx="3749040" cy="914400"/>
          </a:xfrm>
          <a:prstGeom prst="roundRect">
            <a:avLst>
              <a:gd name="adj" fmla="val 10000"/>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33" name="actividad 8 circle"/>
          <p:cNvSpPr/>
          <p:nvPr/>
        </p:nvSpPr>
        <p:spPr>
          <a:xfrm>
            <a:off x="4709160" y="5029200"/>
            <a:ext cx="548640" cy="5486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34" name="actividad 8 icon" descr="preencoded.png"/>
          <p:cNvPicPr>
            <a:picLocks noChangeAspect="1"/>
          </p:cNvPicPr>
          <p:nvPr/>
        </p:nvPicPr>
        <p:blipFill>
          <a:blip r:embed="rId10"/>
          <a:stretch>
            <a:fillRect/>
          </a:stretch>
        </p:blipFill>
        <p:spPr>
          <a:xfrm>
            <a:off x="4829861" y="5149901"/>
            <a:ext cx="307238" cy="307238"/>
          </a:xfrm>
          <a:prstGeom prst="rect">
            <a:avLst/>
          </a:prstGeom>
        </p:spPr>
      </p:pic>
      <p:sp>
        <p:nvSpPr>
          <p:cNvPr id="35" name="Text 25"/>
          <p:cNvSpPr txBox="1"/>
          <p:nvPr/>
        </p:nvSpPr>
        <p:spPr>
          <a:xfrm>
            <a:off x="5394960" y="4901184"/>
            <a:ext cx="2788920" cy="804672"/>
          </a:xfrm>
          <a:prstGeom prst="rect">
            <a:avLst/>
          </a:prstGeom>
          <a:noFill/>
          <a:ln/>
        </p:spPr>
        <p:txBody>
          <a:bodyPr wrap="square" lIns="0" tIns="0" rIns="0" bIns="0" rtlCol="0" anchor="ctr"/>
          <a:lstStyle/>
          <a:p>
            <a:pPr marL="0" indent="0">
              <a:buNone/>
            </a:pPr>
            <a:r>
              <a:rPr lang="es-SV" sz="1150" noProof="0" dirty="0">
                <a:solidFill>
                  <a:schemeClr val="tx1"/>
                </a:solidFill>
                <a:latin typeface="Arial" panose="020B0604020202020204" pitchFamily="34" charset="0"/>
                <a:cs typeface="Arial" panose="020B0604020202020204" pitchFamily="34" charset="0"/>
              </a:rPr>
              <a:t>Verifica que la información actualizada ingresada por el Analista de Cartera, este correcta</a:t>
            </a:r>
            <a:endParaRPr lang="es-SV" sz="1150" noProof="0" dirty="0">
              <a:latin typeface="Arial" panose="020B0604020202020204" pitchFamily="34" charset="0"/>
              <a:cs typeface="Arial" panose="020B0604020202020204" pitchFamily="34" charset="0"/>
            </a:endParaRPr>
          </a:p>
        </p:txBody>
      </p:sp>
      <p:sp>
        <p:nvSpPr>
          <p:cNvPr id="36" name="riesgos stat"/>
          <p:cNvSpPr/>
          <p:nvPr/>
        </p:nvSpPr>
        <p:spPr>
          <a:xfrm>
            <a:off x="8686800" y="1691640"/>
            <a:ext cx="2926080" cy="4069080"/>
          </a:xfrm>
          <a:prstGeom prst="roundRect">
            <a:avLst>
              <a:gd name="adj" fmla="val 3125"/>
            </a:avLst>
          </a:prstGeom>
          <a:ln/>
        </p:spPr>
        <p:style>
          <a:lnRef idx="1">
            <a:schemeClr val="accent1"/>
          </a:lnRef>
          <a:fillRef idx="3">
            <a:schemeClr val="accent1"/>
          </a:fillRef>
          <a:effectRef idx="2">
            <a:schemeClr val="accent1"/>
          </a:effectRef>
          <a:fontRef idx="minor">
            <a:schemeClr val="lt1"/>
          </a:fontRef>
        </p:style>
        <p:txBody>
          <a:bodyPr/>
          <a:lstStyle/>
          <a:p>
            <a:endParaRPr lang="es-SV" noProof="0" dirty="0">
              <a:latin typeface="Arial" panose="020B0604020202020204" pitchFamily="34" charset="0"/>
              <a:cs typeface="Arial" panose="020B0604020202020204" pitchFamily="34" charset="0"/>
            </a:endParaRPr>
          </a:p>
        </p:txBody>
      </p:sp>
      <p:sp>
        <p:nvSpPr>
          <p:cNvPr id="38" name="Text 28"/>
          <p:cNvSpPr txBox="1"/>
          <p:nvPr/>
        </p:nvSpPr>
        <p:spPr>
          <a:xfrm>
            <a:off x="8916619" y="2439619"/>
            <a:ext cx="2423160" cy="914400"/>
          </a:xfrm>
          <a:prstGeom prst="rect">
            <a:avLst/>
          </a:prstGeom>
          <a:noFill/>
          <a:ln/>
        </p:spPr>
        <p:txBody>
          <a:bodyPr wrap="square" lIns="0" tIns="0" rIns="0" bIns="0" rtlCol="0" anchor="t"/>
          <a:lstStyle/>
          <a:p>
            <a:pPr marL="0" indent="0" algn="ctr">
              <a:buNone/>
            </a:pPr>
            <a:r>
              <a:rPr lang="es-SV" b="1" noProof="0" dirty="0">
                <a:solidFill>
                  <a:schemeClr val="bg1"/>
                </a:solidFill>
                <a:latin typeface="Arial" panose="020B0604020202020204" pitchFamily="34" charset="0"/>
                <a:cs typeface="Arial" panose="020B0604020202020204" pitchFamily="34" charset="0"/>
              </a:rPr>
              <a:t>Proceso actual realizado por </a:t>
            </a:r>
            <a:r>
              <a:rPr lang="es-SV" sz="2000" b="1" noProof="0" dirty="0">
                <a:solidFill>
                  <a:schemeClr val="bg1"/>
                </a:solidFill>
                <a:latin typeface="Arial" panose="020B0604020202020204" pitchFamily="34" charset="0"/>
                <a:cs typeface="Arial" panose="020B0604020202020204" pitchFamily="34" charset="0"/>
              </a:rPr>
              <a:t>2</a:t>
            </a:r>
            <a:r>
              <a:rPr lang="es-SV" b="1" noProof="0" dirty="0">
                <a:solidFill>
                  <a:schemeClr val="bg1"/>
                </a:solidFill>
                <a:latin typeface="Arial" panose="020B0604020202020204" pitchFamily="34" charset="0"/>
                <a:cs typeface="Arial" panose="020B0604020202020204" pitchFamily="34" charset="0"/>
              </a:rPr>
              <a:t> Personas</a:t>
            </a:r>
            <a:endParaRPr lang="es-SV" noProof="0" dirty="0">
              <a:latin typeface="Arial" panose="020B0604020202020204" pitchFamily="34" charset="0"/>
              <a:cs typeface="Arial" panose="020B0604020202020204" pitchFamily="34" charset="0"/>
            </a:endParaRPr>
          </a:p>
        </p:txBody>
      </p:sp>
      <p:sp>
        <p:nvSpPr>
          <p:cNvPr id="39" name="Text 29"/>
          <p:cNvSpPr txBox="1"/>
          <p:nvPr/>
        </p:nvSpPr>
        <p:spPr>
          <a:xfrm>
            <a:off x="8961120" y="4052621"/>
            <a:ext cx="2423160" cy="735947"/>
          </a:xfrm>
          <a:prstGeom prst="rect">
            <a:avLst/>
          </a:prstGeom>
          <a:noFill/>
          <a:ln/>
        </p:spPr>
        <p:txBody>
          <a:bodyPr wrap="square" lIns="0" tIns="0" rIns="0" bIns="0" rtlCol="0" anchor="t"/>
          <a:lstStyle/>
          <a:p>
            <a:pPr marL="0" indent="0" algn="ctr">
              <a:buNone/>
            </a:pPr>
            <a:r>
              <a:rPr lang="es-SV" sz="1600" noProof="0" dirty="0">
                <a:solidFill>
                  <a:schemeClr val="accent5"/>
                </a:solidFill>
                <a:latin typeface="Arial" panose="020B0604020202020204" pitchFamily="34" charset="0"/>
                <a:cs typeface="Arial" panose="020B0604020202020204" pitchFamily="34" charset="0"/>
              </a:rPr>
              <a:t>8 actividades críticas y una cartera de 3,500 garantías</a:t>
            </a:r>
            <a:endParaRPr lang="es-SV" sz="1600" noProof="0" dirty="0">
              <a:latin typeface="Arial" panose="020B0604020202020204" pitchFamily="34" charset="0"/>
              <a:cs typeface="Arial" panose="020B0604020202020204" pitchFamily="34" charset="0"/>
            </a:endParaRPr>
          </a:p>
        </p:txBody>
      </p:sp>
      <p:sp>
        <p:nvSpPr>
          <p:cNvPr id="40"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7</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nda lateral" descr="/tmp/claude-0/-home-user-riesgo/74e9c8ad-7a43-5903-a089-2edd8047c387/scratchpad/assets/wave_side.png"/>
          <p:cNvPicPr>
            <a:picLocks noChangeAspect="1"/>
          </p:cNvPicPr>
          <p:nvPr/>
        </p:nvPicPr>
        <p:blipFill>
          <a:blip r:embed="rId3"/>
          <a:stretch>
            <a:fillRect/>
          </a:stretch>
        </p:blipFill>
        <p:spPr>
          <a:xfrm>
            <a:off x="8065008" y="0"/>
            <a:ext cx="4123944" cy="6858000"/>
          </a:xfrm>
          <a:prstGeom prst="rect">
            <a:avLst/>
          </a:prstGeom>
        </p:spPr>
      </p:pic>
      <p:sp>
        <p:nvSpPr>
          <p:cNvPr id="3" name="marca titulo"/>
          <p:cNvSpPr/>
          <p:nvPr/>
        </p:nvSpPr>
        <p:spPr>
          <a:xfrm>
            <a:off x="548640" y="502920"/>
            <a:ext cx="91440" cy="457200"/>
          </a:xfrm>
          <a:prstGeom prst="rect">
            <a:avLst/>
          </a:prstGeom>
          <a:solidFill>
            <a:srgbClr val="0070C0"/>
          </a:solidFill>
          <a:ln w="12700">
            <a:solidFill>
              <a:srgbClr val="0070C0"/>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4" name="Text 1"/>
          <p:cNvSpPr txBox="1"/>
          <p:nvPr/>
        </p:nvSpPr>
        <p:spPr>
          <a:xfrm>
            <a:off x="777240" y="425196"/>
            <a:ext cx="5623560" cy="612648"/>
          </a:xfrm>
          <a:prstGeom prst="rect">
            <a:avLst/>
          </a:prstGeom>
          <a:noFill/>
          <a:ln/>
        </p:spPr>
        <p:txBody>
          <a:bodyPr wrap="square" lIns="0" tIns="0" rIns="0" bIns="0" rtlCol="0" anchor="ctr"/>
          <a:lstStyle/>
          <a:p>
            <a:pPr marL="0" indent="0">
              <a:buNone/>
            </a:pPr>
            <a:r>
              <a:rPr lang="es-SV" sz="2400" b="1" noProof="0" dirty="0">
                <a:solidFill>
                  <a:schemeClr val="tx2"/>
                </a:solidFill>
                <a:latin typeface="Arial" panose="020B0604020202020204" pitchFamily="34" charset="0"/>
                <a:cs typeface="Arial" panose="020B0604020202020204" pitchFamily="34" charset="0"/>
              </a:rPr>
              <a:t>60 AVALÚOS ACTUALIZADOS AL MES</a:t>
            </a:r>
            <a:endParaRPr lang="es-SV" sz="2400" noProof="0" dirty="0">
              <a:latin typeface="Arial" panose="020B0604020202020204" pitchFamily="34" charset="0"/>
              <a:cs typeface="Arial" panose="020B0604020202020204" pitchFamily="34" charset="0"/>
            </a:endParaRPr>
          </a:p>
        </p:txBody>
      </p:sp>
      <p:sp>
        <p:nvSpPr>
          <p:cNvPr id="5" name="stat 1"/>
          <p:cNvSpPr/>
          <p:nvPr/>
        </p:nvSpPr>
        <p:spPr>
          <a:xfrm>
            <a:off x="548640" y="1371600"/>
            <a:ext cx="7132320" cy="1280160"/>
          </a:xfrm>
          <a:prstGeom prst="roundRect">
            <a:avLst>
              <a:gd name="adj" fmla="val 7143"/>
            </a:avLst>
          </a:prstGeom>
          <a:ln/>
        </p:spPr>
        <p:style>
          <a:lnRef idx="1">
            <a:schemeClr val="accent1"/>
          </a:lnRef>
          <a:fillRef idx="3">
            <a:schemeClr val="accent1"/>
          </a:fillRef>
          <a:effectRef idx="2">
            <a:schemeClr val="accent1"/>
          </a:effectRef>
          <a:fontRef idx="minor">
            <a:schemeClr val="lt1"/>
          </a:fontRef>
        </p:style>
        <p:txBody>
          <a:bodyPr/>
          <a:lstStyle/>
          <a:p>
            <a:endParaRPr lang="es-SV" noProof="0" dirty="0">
              <a:latin typeface="Arial" panose="020B0604020202020204" pitchFamily="34" charset="0"/>
              <a:cs typeface="Arial" panose="020B0604020202020204" pitchFamily="34" charset="0"/>
            </a:endParaRPr>
          </a:p>
        </p:txBody>
      </p:sp>
      <p:sp>
        <p:nvSpPr>
          <p:cNvPr id="6" name="stat 1 circle"/>
          <p:cNvSpPr/>
          <p:nvPr/>
        </p:nvSpPr>
        <p:spPr>
          <a:xfrm>
            <a:off x="822960" y="1645920"/>
            <a:ext cx="731520" cy="731520"/>
          </a:xfrm>
          <a:prstGeom prst="ellipse">
            <a:avLst/>
          </a:prstGeom>
          <a:solidFill>
            <a:srgbClr val="9CC3F0"/>
          </a:solidFill>
          <a:ln w="12700">
            <a:solidFill>
              <a:srgbClr val="9CC3F0"/>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7" name="stat 1 icon" descr="preencoded.png"/>
          <p:cNvPicPr>
            <a:picLocks noChangeAspect="1"/>
          </p:cNvPicPr>
          <p:nvPr/>
        </p:nvPicPr>
        <p:blipFill>
          <a:blip r:embed="rId4"/>
          <a:stretch>
            <a:fillRect/>
          </a:stretch>
        </p:blipFill>
        <p:spPr>
          <a:xfrm>
            <a:off x="983894" y="1806854"/>
            <a:ext cx="409651" cy="409651"/>
          </a:xfrm>
          <a:prstGeom prst="rect">
            <a:avLst/>
          </a:prstGeom>
        </p:spPr>
      </p:pic>
      <p:sp>
        <p:nvSpPr>
          <p:cNvPr id="8" name="Text 4"/>
          <p:cNvSpPr txBox="1"/>
          <p:nvPr/>
        </p:nvSpPr>
        <p:spPr>
          <a:xfrm>
            <a:off x="1783080" y="1371600"/>
            <a:ext cx="2286000" cy="1280160"/>
          </a:xfrm>
          <a:prstGeom prst="rect">
            <a:avLst/>
          </a:prstGeom>
          <a:noFill/>
          <a:ln/>
        </p:spPr>
        <p:txBody>
          <a:bodyPr wrap="square" lIns="0" tIns="0" rIns="0" bIns="0" rtlCol="0" anchor="ctr"/>
          <a:lstStyle/>
          <a:p>
            <a:pPr marL="0" indent="0">
              <a:buNone/>
            </a:pPr>
            <a:r>
              <a:rPr lang="es-SV" sz="4400" b="1" noProof="0" dirty="0">
                <a:solidFill>
                  <a:schemeClr val="bg1"/>
                </a:solidFill>
                <a:latin typeface="Arial" panose="020B0604020202020204" pitchFamily="34" charset="0"/>
                <a:cs typeface="Arial" panose="020B0604020202020204" pitchFamily="34" charset="0"/>
              </a:rPr>
              <a:t>60</a:t>
            </a:r>
            <a:endParaRPr lang="es-SV" sz="4400" noProof="0" dirty="0">
              <a:solidFill>
                <a:schemeClr val="bg1"/>
              </a:solidFill>
              <a:latin typeface="Arial" panose="020B0604020202020204" pitchFamily="34" charset="0"/>
              <a:cs typeface="Arial" panose="020B0604020202020204" pitchFamily="34" charset="0"/>
            </a:endParaRPr>
          </a:p>
        </p:txBody>
      </p:sp>
      <p:sp>
        <p:nvSpPr>
          <p:cNvPr id="9" name="Text 5"/>
          <p:cNvSpPr txBox="1"/>
          <p:nvPr/>
        </p:nvSpPr>
        <p:spPr>
          <a:xfrm>
            <a:off x="4114800" y="1371600"/>
            <a:ext cx="3429000" cy="1280160"/>
          </a:xfrm>
          <a:prstGeom prst="rect">
            <a:avLst/>
          </a:prstGeom>
          <a:noFill/>
          <a:ln/>
        </p:spPr>
        <p:txBody>
          <a:bodyPr wrap="square" lIns="0" tIns="0" rIns="0" bIns="0" rtlCol="0" anchor="ctr"/>
          <a:lstStyle/>
          <a:p>
            <a:pPr marL="0" indent="0">
              <a:buNone/>
            </a:pPr>
            <a:r>
              <a:rPr lang="es-SV" sz="1600" b="1" noProof="0" dirty="0">
                <a:solidFill>
                  <a:srgbClr val="FFFFFF"/>
                </a:solidFill>
                <a:latin typeface="Arial" panose="020B0604020202020204" pitchFamily="34" charset="0"/>
                <a:cs typeface="Arial" panose="020B0604020202020204" pitchFamily="34" charset="0"/>
              </a:rPr>
              <a:t>Promedio mensual de actualización</a:t>
            </a:r>
            <a:endParaRPr lang="es-SV" sz="1600" noProof="0" dirty="0">
              <a:latin typeface="Arial" panose="020B0604020202020204" pitchFamily="34" charset="0"/>
              <a:cs typeface="Arial" panose="020B0604020202020204" pitchFamily="34" charset="0"/>
            </a:endParaRPr>
          </a:p>
          <a:p>
            <a:pPr marL="0" indent="0">
              <a:buNone/>
            </a:pPr>
            <a:r>
              <a:rPr lang="es-SV" sz="1300" noProof="0" dirty="0">
                <a:solidFill>
                  <a:srgbClr val="C9DBF2"/>
                </a:solidFill>
                <a:latin typeface="Arial" panose="020B0604020202020204" pitchFamily="34" charset="0"/>
                <a:cs typeface="Arial" panose="020B0604020202020204" pitchFamily="34" charset="0"/>
              </a:rPr>
              <a:t>avalúos actualizados cada mes</a:t>
            </a:r>
            <a:endParaRPr lang="es-SV" sz="1600" noProof="0" dirty="0">
              <a:latin typeface="Arial" panose="020B0604020202020204" pitchFamily="34" charset="0"/>
              <a:cs typeface="Arial" panose="020B0604020202020204" pitchFamily="34" charset="0"/>
            </a:endParaRPr>
          </a:p>
        </p:txBody>
      </p:sp>
      <p:sp>
        <p:nvSpPr>
          <p:cNvPr id="10" name="stat 2"/>
          <p:cNvSpPr/>
          <p:nvPr/>
        </p:nvSpPr>
        <p:spPr>
          <a:xfrm>
            <a:off x="548640" y="2834640"/>
            <a:ext cx="7132320" cy="1280160"/>
          </a:xfrm>
          <a:prstGeom prst="roundRect">
            <a:avLst>
              <a:gd name="adj" fmla="val 7143"/>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1" name="stat 2 circle"/>
          <p:cNvSpPr/>
          <p:nvPr/>
        </p:nvSpPr>
        <p:spPr>
          <a:xfrm>
            <a:off x="822960" y="3108960"/>
            <a:ext cx="731520" cy="73152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2" name="stat 2 icon" descr="preencoded.png"/>
          <p:cNvPicPr>
            <a:picLocks noChangeAspect="1"/>
          </p:cNvPicPr>
          <p:nvPr/>
        </p:nvPicPr>
        <p:blipFill>
          <a:blip r:embed="rId5"/>
          <a:stretch>
            <a:fillRect/>
          </a:stretch>
        </p:blipFill>
        <p:spPr>
          <a:xfrm>
            <a:off x="983894" y="3269894"/>
            <a:ext cx="409651" cy="409651"/>
          </a:xfrm>
          <a:prstGeom prst="rect">
            <a:avLst/>
          </a:prstGeom>
        </p:spPr>
      </p:pic>
      <p:sp>
        <p:nvSpPr>
          <p:cNvPr id="13" name="Text 8"/>
          <p:cNvSpPr txBox="1"/>
          <p:nvPr/>
        </p:nvSpPr>
        <p:spPr>
          <a:xfrm>
            <a:off x="1783080" y="2834640"/>
            <a:ext cx="2286000" cy="1280160"/>
          </a:xfrm>
          <a:prstGeom prst="rect">
            <a:avLst/>
          </a:prstGeom>
          <a:noFill/>
          <a:ln/>
        </p:spPr>
        <p:txBody>
          <a:bodyPr wrap="square" lIns="0" tIns="0" rIns="0" bIns="0" rtlCol="0" anchor="ctr"/>
          <a:lstStyle/>
          <a:p>
            <a:pPr marL="0" indent="0">
              <a:buNone/>
            </a:pPr>
            <a:r>
              <a:rPr lang="es-SV" sz="4400" b="1" noProof="0" dirty="0">
                <a:solidFill>
                  <a:schemeClr val="accent1"/>
                </a:solidFill>
                <a:latin typeface="Arial" panose="020B0604020202020204" pitchFamily="34" charset="0"/>
                <a:cs typeface="Arial" panose="020B0604020202020204" pitchFamily="34" charset="0"/>
              </a:rPr>
              <a:t>3,500</a:t>
            </a:r>
            <a:endParaRPr lang="es-SV" sz="4400" noProof="0" dirty="0">
              <a:latin typeface="Arial" panose="020B0604020202020204" pitchFamily="34" charset="0"/>
              <a:cs typeface="Arial" panose="020B0604020202020204" pitchFamily="34" charset="0"/>
            </a:endParaRPr>
          </a:p>
        </p:txBody>
      </p:sp>
      <p:sp>
        <p:nvSpPr>
          <p:cNvPr id="14" name="Text 9"/>
          <p:cNvSpPr txBox="1"/>
          <p:nvPr/>
        </p:nvSpPr>
        <p:spPr>
          <a:xfrm>
            <a:off x="4114800" y="2834640"/>
            <a:ext cx="3429000" cy="1280160"/>
          </a:xfrm>
          <a:prstGeom prst="rect">
            <a:avLst/>
          </a:prstGeom>
          <a:noFill/>
          <a:ln/>
        </p:spPr>
        <p:txBody>
          <a:bodyPr wrap="square" lIns="0" tIns="0" rIns="0" bIns="0" rtlCol="0" anchor="ctr"/>
          <a:lstStyle/>
          <a:p>
            <a:pPr marL="0" indent="0">
              <a:buNone/>
            </a:pPr>
            <a:r>
              <a:rPr lang="es-SV" sz="1600" b="1" noProof="0" dirty="0">
                <a:solidFill>
                  <a:srgbClr val="00376E"/>
                </a:solidFill>
                <a:latin typeface="Arial" panose="020B0604020202020204" pitchFamily="34" charset="0"/>
                <a:cs typeface="Arial" panose="020B0604020202020204" pitchFamily="34" charset="0"/>
              </a:rPr>
              <a:t>Garantías a gestionar</a:t>
            </a:r>
            <a:endParaRPr lang="es-SV" sz="1600" noProof="0" dirty="0">
              <a:latin typeface="Arial" panose="020B0604020202020204" pitchFamily="34" charset="0"/>
              <a:cs typeface="Arial" panose="020B0604020202020204" pitchFamily="34" charset="0"/>
            </a:endParaRPr>
          </a:p>
          <a:p>
            <a:pPr marL="0" indent="0">
              <a:buNone/>
            </a:pPr>
            <a:r>
              <a:rPr lang="es-SV" sz="1300" noProof="0" dirty="0">
                <a:solidFill>
                  <a:srgbClr val="1E2A3A"/>
                </a:solidFill>
                <a:latin typeface="Arial" panose="020B0604020202020204" pitchFamily="34" charset="0"/>
                <a:cs typeface="Arial" panose="020B0604020202020204" pitchFamily="34" charset="0"/>
              </a:rPr>
              <a:t>cartera bajo actualización y monitoreo</a:t>
            </a:r>
            <a:endParaRPr lang="es-SV" sz="1600" noProof="0" dirty="0">
              <a:latin typeface="Arial" panose="020B0604020202020204" pitchFamily="34" charset="0"/>
              <a:cs typeface="Arial" panose="020B0604020202020204" pitchFamily="34" charset="0"/>
            </a:endParaRPr>
          </a:p>
        </p:txBody>
      </p:sp>
      <p:sp>
        <p:nvSpPr>
          <p:cNvPr id="15" name="stat 3"/>
          <p:cNvSpPr/>
          <p:nvPr/>
        </p:nvSpPr>
        <p:spPr>
          <a:xfrm>
            <a:off x="548640" y="4297680"/>
            <a:ext cx="7132320" cy="1280160"/>
          </a:xfrm>
          <a:prstGeom prst="roundRect">
            <a:avLst>
              <a:gd name="adj" fmla="val 7143"/>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6" name="stat 3 circle"/>
          <p:cNvSpPr/>
          <p:nvPr/>
        </p:nvSpPr>
        <p:spPr>
          <a:xfrm>
            <a:off x="822960" y="4572000"/>
            <a:ext cx="731520" cy="73152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7" name="stat 3 icon" descr="preencoded.png"/>
          <p:cNvPicPr>
            <a:picLocks noChangeAspect="1"/>
          </p:cNvPicPr>
          <p:nvPr/>
        </p:nvPicPr>
        <p:blipFill>
          <a:blip r:embed="rId6"/>
          <a:stretch>
            <a:fillRect/>
          </a:stretch>
        </p:blipFill>
        <p:spPr>
          <a:xfrm>
            <a:off x="983894" y="4732934"/>
            <a:ext cx="409651" cy="409651"/>
          </a:xfrm>
          <a:prstGeom prst="rect">
            <a:avLst/>
          </a:prstGeom>
        </p:spPr>
      </p:pic>
      <p:sp>
        <p:nvSpPr>
          <p:cNvPr id="18" name="Text 12"/>
          <p:cNvSpPr txBox="1"/>
          <p:nvPr/>
        </p:nvSpPr>
        <p:spPr>
          <a:xfrm>
            <a:off x="1783080" y="4297680"/>
            <a:ext cx="2286000" cy="1280160"/>
          </a:xfrm>
          <a:prstGeom prst="rect">
            <a:avLst/>
          </a:prstGeom>
          <a:noFill/>
          <a:ln/>
        </p:spPr>
        <p:txBody>
          <a:bodyPr wrap="square" lIns="0" tIns="0" rIns="0" bIns="0" rtlCol="0" anchor="ctr"/>
          <a:lstStyle/>
          <a:p>
            <a:pPr marL="0" indent="0">
              <a:buNone/>
            </a:pPr>
            <a:r>
              <a:rPr lang="es-SV" sz="4400" b="1" noProof="0" dirty="0">
                <a:solidFill>
                  <a:schemeClr val="accent1"/>
                </a:solidFill>
                <a:latin typeface="Arial" panose="020B0604020202020204" pitchFamily="34" charset="0"/>
                <a:cs typeface="Arial" panose="020B0604020202020204" pitchFamily="34" charset="0"/>
              </a:rPr>
              <a:t>2</a:t>
            </a:r>
            <a:endParaRPr lang="es-SV" sz="4400" noProof="0" dirty="0">
              <a:latin typeface="Arial" panose="020B0604020202020204" pitchFamily="34" charset="0"/>
              <a:cs typeface="Arial" panose="020B0604020202020204" pitchFamily="34" charset="0"/>
            </a:endParaRPr>
          </a:p>
        </p:txBody>
      </p:sp>
      <p:sp>
        <p:nvSpPr>
          <p:cNvPr id="19" name="Text 13"/>
          <p:cNvSpPr txBox="1"/>
          <p:nvPr/>
        </p:nvSpPr>
        <p:spPr>
          <a:xfrm>
            <a:off x="4114800" y="4297680"/>
            <a:ext cx="3429000" cy="1280160"/>
          </a:xfrm>
          <a:prstGeom prst="rect">
            <a:avLst/>
          </a:prstGeom>
          <a:noFill/>
          <a:ln/>
        </p:spPr>
        <p:txBody>
          <a:bodyPr wrap="square" lIns="0" tIns="0" rIns="0" bIns="0" rtlCol="0" anchor="ctr"/>
          <a:lstStyle/>
          <a:p>
            <a:pPr marL="0" indent="0">
              <a:buNone/>
            </a:pPr>
            <a:r>
              <a:rPr lang="es-SV" sz="1600" b="1" noProof="0" dirty="0">
                <a:solidFill>
                  <a:srgbClr val="00376E"/>
                </a:solidFill>
                <a:latin typeface="Arial" panose="020B0604020202020204" pitchFamily="34" charset="0"/>
                <a:cs typeface="Arial" panose="020B0604020202020204" pitchFamily="34" charset="0"/>
              </a:rPr>
              <a:t>Personas responsables</a:t>
            </a:r>
            <a:endParaRPr lang="es-SV" sz="1600" noProof="0" dirty="0">
              <a:latin typeface="Arial" panose="020B0604020202020204" pitchFamily="34" charset="0"/>
              <a:cs typeface="Arial" panose="020B0604020202020204" pitchFamily="34" charset="0"/>
            </a:endParaRPr>
          </a:p>
          <a:p>
            <a:pPr marL="0" indent="0">
              <a:buNone/>
            </a:pPr>
            <a:r>
              <a:rPr lang="es-SV" sz="1300" noProof="0" dirty="0">
                <a:solidFill>
                  <a:srgbClr val="1E2A3A"/>
                </a:solidFill>
                <a:latin typeface="Arial" panose="020B0604020202020204" pitchFamily="34" charset="0"/>
                <a:cs typeface="Arial" panose="020B0604020202020204" pitchFamily="34" charset="0"/>
              </a:rPr>
              <a:t>Departamento de Administración de Riesgos</a:t>
            </a:r>
            <a:endParaRPr lang="es-SV" sz="1600" noProof="0" dirty="0">
              <a:latin typeface="Arial" panose="020B0604020202020204" pitchFamily="34" charset="0"/>
              <a:cs typeface="Arial" panose="020B0604020202020204" pitchFamily="34" charset="0"/>
            </a:endParaRPr>
          </a:p>
        </p:txBody>
      </p:sp>
      <p:pic>
        <p:nvPicPr>
          <p:cNvPr id="21" name="logo" descr="/tmp/claude-0/-home-user-riesgo/74e9c8ad-7a43-5903-a089-2edd8047c387/scratchpad/assets/logo_white.png"/>
          <p:cNvPicPr>
            <a:picLocks noChangeAspect="1"/>
          </p:cNvPicPr>
          <p:nvPr/>
        </p:nvPicPr>
        <p:blipFill>
          <a:blip r:embed="rId7"/>
          <a:stretch>
            <a:fillRect/>
          </a:stretch>
        </p:blipFill>
        <p:spPr>
          <a:xfrm>
            <a:off x="10460736" y="5449824"/>
            <a:ext cx="1399032" cy="94183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10881360" cy="777240"/>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318 EXPEDIENTES HIPOTECARIOS INGRESADOS (ENE–SEP.)</a:t>
            </a:r>
            <a:endParaRPr lang="es-SV" sz="2400" noProof="0" dirty="0">
              <a:latin typeface="Arial" panose="020B0604020202020204" pitchFamily="34" charset="0"/>
              <a:cs typeface="Arial" panose="020B0604020202020204" pitchFamily="34" charset="0"/>
            </a:endParaRPr>
          </a:p>
        </p:txBody>
      </p:sp>
      <p:sp>
        <p:nvSpPr>
          <p:cNvPr id="3" name="Text 1"/>
          <p:cNvSpPr txBox="1"/>
          <p:nvPr/>
        </p:nvSpPr>
        <p:spPr>
          <a:xfrm>
            <a:off x="548640" y="1188720"/>
            <a:ext cx="4881613" cy="210312"/>
          </a:xfrm>
          <a:prstGeom prst="rect">
            <a:avLst/>
          </a:prstGeom>
          <a:noFill/>
          <a:ln/>
        </p:spPr>
        <p:txBody>
          <a:bodyPr wrap="square" lIns="0" tIns="0" rIns="0" bIns="0" rtlCol="0" anchor="t"/>
          <a:lstStyle/>
          <a:p>
            <a:pPr marL="0" indent="0">
              <a:buNone/>
            </a:pPr>
            <a:r>
              <a:rPr lang="es-SV" sz="1300" i="1" noProof="0" dirty="0">
                <a:solidFill>
                  <a:schemeClr val="tx1"/>
                </a:solidFill>
                <a:latin typeface="Arial" panose="020B0604020202020204" pitchFamily="34" charset="0"/>
                <a:cs typeface="Arial" panose="020B0604020202020204" pitchFamily="34" charset="0"/>
              </a:rPr>
              <a:t>Este es el numero de expediente ingresados al Depto de Créditos</a:t>
            </a:r>
            <a:endParaRPr lang="es-SV" sz="1300" noProof="0" dirty="0">
              <a:latin typeface="Arial" panose="020B0604020202020204" pitchFamily="34" charset="0"/>
              <a:cs typeface="Arial" panose="020B0604020202020204" pitchFamily="34" charset="0"/>
            </a:endParaRPr>
          </a:p>
        </p:txBody>
      </p:sp>
      <p:graphicFrame>
        <p:nvGraphicFramePr>
          <p:cNvPr id="4" name="Chart 0"/>
          <p:cNvGraphicFramePr/>
          <p:nvPr>
            <p:extLst>
              <p:ext uri="{D42A27DB-BD31-4B8C-83A1-F6EECF244321}">
                <p14:modId xmlns:p14="http://schemas.microsoft.com/office/powerpoint/2010/main" val="1651101743"/>
              </p:ext>
            </p:extLst>
          </p:nvPr>
        </p:nvGraphicFramePr>
        <p:xfrm>
          <a:off x="548640" y="1783080"/>
          <a:ext cx="795528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5" name="total stat"/>
          <p:cNvSpPr/>
          <p:nvPr/>
        </p:nvSpPr>
        <p:spPr>
          <a:xfrm>
            <a:off x="8869680" y="1874520"/>
            <a:ext cx="2743200" cy="2880360"/>
          </a:xfrm>
          <a:prstGeom prst="roundRect">
            <a:avLst>
              <a:gd name="adj" fmla="val 3333"/>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6" name="Text 3"/>
          <p:cNvSpPr txBox="1"/>
          <p:nvPr/>
        </p:nvSpPr>
        <p:spPr>
          <a:xfrm>
            <a:off x="9651732" y="2103120"/>
            <a:ext cx="1224815" cy="752375"/>
          </a:xfrm>
          <a:prstGeom prst="rect">
            <a:avLst/>
          </a:prstGeom>
          <a:noFill/>
          <a:ln/>
        </p:spPr>
        <p:txBody>
          <a:bodyPr wrap="square" lIns="0" tIns="0" rIns="0" bIns="0" rtlCol="0" anchor="t"/>
          <a:lstStyle/>
          <a:p>
            <a:pPr marL="0" indent="0">
              <a:buNone/>
            </a:pPr>
            <a:r>
              <a:rPr lang="es-SV" sz="5600" b="1" noProof="0" dirty="0">
                <a:solidFill>
                  <a:srgbClr val="002060"/>
                </a:solidFill>
                <a:latin typeface="Arial" panose="020B0604020202020204" pitchFamily="34" charset="0"/>
                <a:cs typeface="Arial" panose="020B0604020202020204" pitchFamily="34" charset="0"/>
              </a:rPr>
              <a:t>318</a:t>
            </a:r>
            <a:endParaRPr lang="es-SV" sz="5600" noProof="0" dirty="0">
              <a:solidFill>
                <a:srgbClr val="002060"/>
              </a:solidFill>
              <a:latin typeface="Arial" panose="020B0604020202020204" pitchFamily="34" charset="0"/>
              <a:cs typeface="Arial" panose="020B0604020202020204" pitchFamily="34" charset="0"/>
            </a:endParaRPr>
          </a:p>
        </p:txBody>
      </p:sp>
      <p:sp>
        <p:nvSpPr>
          <p:cNvPr id="7" name="Text 4"/>
          <p:cNvSpPr txBox="1"/>
          <p:nvPr/>
        </p:nvSpPr>
        <p:spPr>
          <a:xfrm>
            <a:off x="9075420" y="3228474"/>
            <a:ext cx="2377440" cy="365760"/>
          </a:xfrm>
          <a:prstGeom prst="rect">
            <a:avLst/>
          </a:prstGeom>
          <a:noFill/>
          <a:ln/>
        </p:spPr>
        <p:txBody>
          <a:bodyPr wrap="square" lIns="0" tIns="0" rIns="0" bIns="0" rtlCol="0" anchor="t"/>
          <a:lstStyle/>
          <a:p>
            <a:pPr marL="0" indent="0">
              <a:buNone/>
            </a:pPr>
            <a:r>
              <a:rPr lang="es-SV" sz="1600" b="1" noProof="0" dirty="0">
                <a:solidFill>
                  <a:srgbClr val="002060"/>
                </a:solidFill>
                <a:latin typeface="Arial" panose="020B0604020202020204" pitchFamily="34" charset="0"/>
                <a:cs typeface="Arial" panose="020B0604020202020204" pitchFamily="34" charset="0"/>
              </a:rPr>
              <a:t>Total general</a:t>
            </a:r>
            <a:endParaRPr lang="es-SV" sz="1600" noProof="0" dirty="0">
              <a:solidFill>
                <a:srgbClr val="002060"/>
              </a:solidFill>
              <a:latin typeface="Arial" panose="020B0604020202020204" pitchFamily="34" charset="0"/>
              <a:cs typeface="Arial" panose="020B0604020202020204" pitchFamily="34" charset="0"/>
            </a:endParaRPr>
          </a:p>
        </p:txBody>
      </p:sp>
      <p:sp>
        <p:nvSpPr>
          <p:cNvPr id="8" name="Text 5"/>
          <p:cNvSpPr txBox="1"/>
          <p:nvPr/>
        </p:nvSpPr>
        <p:spPr>
          <a:xfrm>
            <a:off x="9098280" y="3657600"/>
            <a:ext cx="2331720" cy="449179"/>
          </a:xfrm>
          <a:prstGeom prst="rect">
            <a:avLst/>
          </a:prstGeom>
          <a:noFill/>
          <a:ln/>
        </p:spPr>
        <p:txBody>
          <a:bodyPr wrap="square" lIns="0" tIns="0" rIns="0" bIns="0" rtlCol="0" anchor="t"/>
          <a:lstStyle/>
          <a:p>
            <a:pPr marL="0" indent="0" algn="ctr">
              <a:buNone/>
            </a:pPr>
            <a:r>
              <a:rPr lang="es-SV" sz="1300" noProof="0" dirty="0">
                <a:solidFill>
                  <a:srgbClr val="002060"/>
                </a:solidFill>
                <a:latin typeface="Arial" panose="020B0604020202020204" pitchFamily="34" charset="0"/>
                <a:cs typeface="Arial" panose="020B0604020202020204" pitchFamily="34" charset="0"/>
              </a:rPr>
              <a:t>≈ 35 expedientes por mes en promedio</a:t>
            </a:r>
          </a:p>
        </p:txBody>
      </p:sp>
      <p:graphicFrame>
        <p:nvGraphicFramePr>
          <p:cNvPr id="9" name="Table 0"/>
          <p:cNvGraphicFramePr>
            <a:graphicFrameLocks noGrp="1"/>
          </p:cNvGraphicFramePr>
          <p:nvPr>
            <p:extLst>
              <p:ext uri="{D42A27DB-BD31-4B8C-83A1-F6EECF244321}">
                <p14:modId xmlns:p14="http://schemas.microsoft.com/office/powerpoint/2010/main" val="109908899"/>
              </p:ext>
            </p:extLst>
          </p:nvPr>
        </p:nvGraphicFramePr>
        <p:xfrm>
          <a:off x="548640" y="5029200"/>
          <a:ext cx="11064240" cy="731520"/>
        </p:xfrm>
        <a:graphic>
          <a:graphicData uri="http://schemas.openxmlformats.org/drawingml/2006/table">
            <a:tbl>
              <a:tblPr/>
              <a:tblGrid>
                <a:gridCol w="173736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gridCol w="868680">
                  <a:extLst>
                    <a:ext uri="{9D8B030D-6E8A-4147-A177-3AD203B41FA5}">
                      <a16:colId xmlns:a16="http://schemas.microsoft.com/office/drawing/2014/main" val="20005"/>
                    </a:ext>
                  </a:extLst>
                </a:gridCol>
                <a:gridCol w="868680">
                  <a:extLst>
                    <a:ext uri="{9D8B030D-6E8A-4147-A177-3AD203B41FA5}">
                      <a16:colId xmlns:a16="http://schemas.microsoft.com/office/drawing/2014/main" val="20006"/>
                    </a:ext>
                  </a:extLst>
                </a:gridCol>
                <a:gridCol w="868680">
                  <a:extLst>
                    <a:ext uri="{9D8B030D-6E8A-4147-A177-3AD203B41FA5}">
                      <a16:colId xmlns:a16="http://schemas.microsoft.com/office/drawing/2014/main" val="20007"/>
                    </a:ext>
                  </a:extLst>
                </a:gridCol>
                <a:gridCol w="868680">
                  <a:extLst>
                    <a:ext uri="{9D8B030D-6E8A-4147-A177-3AD203B41FA5}">
                      <a16:colId xmlns:a16="http://schemas.microsoft.com/office/drawing/2014/main" val="20008"/>
                    </a:ext>
                  </a:extLst>
                </a:gridCol>
                <a:gridCol w="868680">
                  <a:extLst>
                    <a:ext uri="{9D8B030D-6E8A-4147-A177-3AD203B41FA5}">
                      <a16:colId xmlns:a16="http://schemas.microsoft.com/office/drawing/2014/main" val="20009"/>
                    </a:ext>
                  </a:extLst>
                </a:gridCol>
                <a:gridCol w="1508760">
                  <a:extLst>
                    <a:ext uri="{9D8B030D-6E8A-4147-A177-3AD203B41FA5}">
                      <a16:colId xmlns:a16="http://schemas.microsoft.com/office/drawing/2014/main" val="20010"/>
                    </a:ext>
                  </a:extLst>
                </a:gridCol>
              </a:tblGrid>
              <a:tr h="365760">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Producto</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ene</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feb</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mar</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abr</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err="1">
                          <a:solidFill>
                            <a:srgbClr val="FFFFFF"/>
                          </a:solidFill>
                          <a:latin typeface="Arial" panose="020B0604020202020204" pitchFamily="34" charset="0"/>
                          <a:ea typeface="Century Gothic" pitchFamily="34" charset="-122"/>
                          <a:cs typeface="Arial" panose="020B0604020202020204" pitchFamily="34" charset="0"/>
                        </a:rPr>
                        <a:t>may</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jun</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jul</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err="1">
                          <a:solidFill>
                            <a:srgbClr val="FFFFFF"/>
                          </a:solidFill>
                          <a:latin typeface="Arial" panose="020B0604020202020204" pitchFamily="34" charset="0"/>
                          <a:ea typeface="Century Gothic" pitchFamily="34" charset="-122"/>
                          <a:cs typeface="Arial" panose="020B0604020202020204" pitchFamily="34" charset="0"/>
                        </a:rPr>
                        <a:t>ago</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err="1">
                          <a:solidFill>
                            <a:srgbClr val="FFFFFF"/>
                          </a:solidFill>
                          <a:latin typeface="Arial" panose="020B0604020202020204" pitchFamily="34" charset="0"/>
                          <a:ea typeface="Century Gothic" pitchFamily="34" charset="-122"/>
                          <a:cs typeface="Arial" panose="020B0604020202020204" pitchFamily="34" charset="0"/>
                        </a:rPr>
                        <a:t>sep</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100" b="1" noProof="0" dirty="0">
                          <a:solidFill>
                            <a:srgbClr val="FFFFFF"/>
                          </a:solidFill>
                          <a:latin typeface="Arial" panose="020B0604020202020204" pitchFamily="34" charset="0"/>
                          <a:ea typeface="Century Gothic" pitchFamily="34" charset="-122"/>
                          <a:cs typeface="Arial" panose="020B0604020202020204" pitchFamily="34" charset="0"/>
                        </a:rPr>
                        <a:t>Total general</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extLst>
                  <a:ext uri="{0D108BD9-81ED-4DB2-BD59-A6C34878D82A}">
                    <a16:rowId xmlns:a16="http://schemas.microsoft.com/office/drawing/2014/main" val="10000"/>
                  </a:ext>
                </a:extLst>
              </a:tr>
              <a:tr h="365760">
                <a:tc>
                  <a:txBody>
                    <a:bodyPr/>
                    <a:lstStyle/>
                    <a:p>
                      <a:pPr marL="0" indent="0" algn="ctr">
                        <a:buNone/>
                      </a:pPr>
                      <a:r>
                        <a:rPr lang="es-SV" sz="1100" b="1" noProof="0" dirty="0">
                          <a:solidFill>
                            <a:srgbClr val="1E2A3A"/>
                          </a:solidFill>
                          <a:latin typeface="Century Gothic" pitchFamily="34" charset="0"/>
                          <a:ea typeface="Century Gothic" pitchFamily="34" charset="-122"/>
                          <a:cs typeface="Century Gothic" pitchFamily="34" charset="-120"/>
                        </a:rPr>
                        <a:t>HIPOTECARIO</a:t>
                      </a:r>
                      <a:endParaRPr lang="es-SV" sz="1100" noProof="0" dirty="0">
                        <a:latin typeface="Century Gothic" charset="0"/>
                        <a:ea typeface="Century Gothic" charset="0"/>
                        <a:cs typeface="Century Gothic"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28</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22</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46</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30</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41</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35</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44</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33</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noProof="0" dirty="0">
                          <a:solidFill>
                            <a:srgbClr val="1E2A3A"/>
                          </a:solidFill>
                          <a:latin typeface="Arial" panose="020B0604020202020204" pitchFamily="34" charset="0"/>
                          <a:ea typeface="Century Gothic" pitchFamily="34" charset="-122"/>
                          <a:cs typeface="Arial" panose="020B0604020202020204" pitchFamily="34" charset="0"/>
                        </a:rPr>
                        <a:t>39</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100" b="1" noProof="0" dirty="0">
                          <a:solidFill>
                            <a:srgbClr val="1E2A3A"/>
                          </a:solidFill>
                          <a:latin typeface="Arial" panose="020B0604020202020204" pitchFamily="34" charset="0"/>
                          <a:ea typeface="Century Gothic" pitchFamily="34" charset="-122"/>
                          <a:cs typeface="Arial" panose="020B0604020202020204" pitchFamily="34" charset="0"/>
                        </a:rPr>
                        <a:t>318</a:t>
                      </a:r>
                      <a:endParaRPr lang="es-SV" sz="11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9</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8831580" cy="777240"/>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5 EXPEDIENTES AL MES, EN PROMEDIO, NO SE TRAMITAN</a:t>
            </a:r>
            <a:endParaRPr lang="es-SV" sz="2400" noProof="0" dirty="0">
              <a:latin typeface="Arial" panose="020B0604020202020204" pitchFamily="34" charset="0"/>
              <a:cs typeface="Arial" panose="020B0604020202020204" pitchFamily="34" charset="0"/>
            </a:endParaRPr>
          </a:p>
        </p:txBody>
      </p:sp>
      <p:sp>
        <p:nvSpPr>
          <p:cNvPr id="3" name="Text 1"/>
          <p:cNvSpPr txBox="1"/>
          <p:nvPr/>
        </p:nvSpPr>
        <p:spPr>
          <a:xfrm>
            <a:off x="548640" y="1188720"/>
            <a:ext cx="7600749" cy="303196"/>
          </a:xfrm>
          <a:prstGeom prst="rect">
            <a:avLst/>
          </a:prstGeom>
          <a:noFill/>
          <a:ln/>
        </p:spPr>
        <p:txBody>
          <a:bodyPr wrap="square" lIns="0" tIns="0" rIns="0" bIns="0" rtlCol="0" anchor="t"/>
          <a:lstStyle/>
          <a:p>
            <a:pPr marL="0" indent="0">
              <a:buNone/>
            </a:pPr>
            <a:r>
              <a:rPr lang="es-SV" sz="1300" i="1" noProof="0" dirty="0">
                <a:solidFill>
                  <a:srgbClr val="002060"/>
                </a:solidFill>
                <a:latin typeface="Arial" panose="020B0604020202020204" pitchFamily="34" charset="0"/>
                <a:cs typeface="Arial" panose="020B0604020202020204" pitchFamily="34" charset="0"/>
              </a:rPr>
              <a:t>El promedio de casos que no se tramitan es de 5 expedientes más o menos, entre los 3 peritos.</a:t>
            </a:r>
            <a:endParaRPr lang="es-SV" sz="1300" noProof="0" dirty="0">
              <a:solidFill>
                <a:srgbClr val="002060"/>
              </a:solidFill>
              <a:latin typeface="Arial" panose="020B0604020202020204" pitchFamily="34" charset="0"/>
              <a:cs typeface="Arial" panose="020B0604020202020204" pitchFamily="34" charset="0"/>
            </a:endParaRPr>
          </a:p>
        </p:txBody>
      </p:sp>
      <p:graphicFrame>
        <p:nvGraphicFramePr>
          <p:cNvPr id="4" name="Chart 0"/>
          <p:cNvGraphicFramePr/>
          <p:nvPr>
            <p:extLst>
              <p:ext uri="{D42A27DB-BD31-4B8C-83A1-F6EECF244321}">
                <p14:modId xmlns:p14="http://schemas.microsoft.com/office/powerpoint/2010/main" val="2028139449"/>
              </p:ext>
            </p:extLst>
          </p:nvPr>
        </p:nvGraphicFramePr>
        <p:xfrm>
          <a:off x="548640" y="1783080"/>
          <a:ext cx="795528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5" name="prom stat"/>
          <p:cNvSpPr/>
          <p:nvPr/>
        </p:nvSpPr>
        <p:spPr>
          <a:xfrm>
            <a:off x="8869680" y="1874520"/>
            <a:ext cx="2743200" cy="2880360"/>
          </a:xfrm>
          <a:prstGeom prst="roundRect">
            <a:avLst>
              <a:gd name="adj" fmla="val 3333"/>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6" name="Text 3"/>
          <p:cNvSpPr txBox="1"/>
          <p:nvPr/>
        </p:nvSpPr>
        <p:spPr>
          <a:xfrm>
            <a:off x="10063613" y="2134081"/>
            <a:ext cx="446773" cy="760396"/>
          </a:xfrm>
          <a:prstGeom prst="rect">
            <a:avLst/>
          </a:prstGeom>
          <a:noFill/>
          <a:ln/>
        </p:spPr>
        <p:txBody>
          <a:bodyPr wrap="square" lIns="0" tIns="0" rIns="0" bIns="0" rtlCol="0" anchor="t"/>
          <a:lstStyle/>
          <a:p>
            <a:pPr marL="0" indent="0">
              <a:buNone/>
            </a:pPr>
            <a:r>
              <a:rPr lang="es-SV" sz="5600" b="1" noProof="0" dirty="0">
                <a:solidFill>
                  <a:srgbClr val="002060"/>
                </a:solidFill>
                <a:latin typeface="Arial" panose="020B0604020202020204" pitchFamily="34" charset="0"/>
                <a:cs typeface="Arial" panose="020B0604020202020204" pitchFamily="34" charset="0"/>
              </a:rPr>
              <a:t>5</a:t>
            </a:r>
            <a:endParaRPr lang="es-SV" sz="5600" noProof="0" dirty="0">
              <a:solidFill>
                <a:srgbClr val="002060"/>
              </a:solidFill>
              <a:latin typeface="Arial" panose="020B0604020202020204" pitchFamily="34" charset="0"/>
              <a:cs typeface="Arial" panose="020B0604020202020204" pitchFamily="34" charset="0"/>
            </a:endParaRPr>
          </a:p>
        </p:txBody>
      </p:sp>
      <p:sp>
        <p:nvSpPr>
          <p:cNvPr id="7" name="Text 4"/>
          <p:cNvSpPr txBox="1"/>
          <p:nvPr/>
        </p:nvSpPr>
        <p:spPr>
          <a:xfrm>
            <a:off x="9395059" y="3212432"/>
            <a:ext cx="1890562" cy="228600"/>
          </a:xfrm>
          <a:prstGeom prst="rect">
            <a:avLst/>
          </a:prstGeom>
          <a:noFill/>
          <a:ln/>
        </p:spPr>
        <p:txBody>
          <a:bodyPr wrap="square" lIns="0" tIns="0" rIns="0" bIns="0" rtlCol="0" anchor="t"/>
          <a:lstStyle/>
          <a:p>
            <a:pPr marL="0" indent="0">
              <a:buNone/>
            </a:pPr>
            <a:r>
              <a:rPr lang="es-SV" sz="1600" b="1" noProof="0" dirty="0">
                <a:solidFill>
                  <a:srgbClr val="002060"/>
                </a:solidFill>
                <a:latin typeface="Arial" panose="020B0604020202020204" pitchFamily="34" charset="0"/>
                <a:cs typeface="Arial" panose="020B0604020202020204" pitchFamily="34" charset="0"/>
              </a:rPr>
              <a:t>Promedio mensual</a:t>
            </a:r>
            <a:endParaRPr lang="es-SV" sz="1600" noProof="0" dirty="0">
              <a:solidFill>
                <a:srgbClr val="002060"/>
              </a:solidFill>
              <a:latin typeface="Arial" panose="020B0604020202020204" pitchFamily="34" charset="0"/>
              <a:cs typeface="Arial" panose="020B0604020202020204" pitchFamily="34" charset="0"/>
            </a:endParaRPr>
          </a:p>
        </p:txBody>
      </p:sp>
      <p:sp>
        <p:nvSpPr>
          <p:cNvPr id="8" name="Text 5"/>
          <p:cNvSpPr txBox="1"/>
          <p:nvPr/>
        </p:nvSpPr>
        <p:spPr>
          <a:xfrm>
            <a:off x="9098280" y="3657600"/>
            <a:ext cx="2331720" cy="433137"/>
          </a:xfrm>
          <a:prstGeom prst="rect">
            <a:avLst/>
          </a:prstGeom>
          <a:noFill/>
          <a:ln/>
        </p:spPr>
        <p:txBody>
          <a:bodyPr wrap="square" lIns="0" tIns="0" rIns="0" bIns="0" rtlCol="0" anchor="t"/>
          <a:lstStyle/>
          <a:p>
            <a:pPr marL="0" indent="0" algn="ctr">
              <a:buNone/>
            </a:pPr>
            <a:r>
              <a:rPr lang="es-SV" sz="1300" noProof="0" dirty="0">
                <a:solidFill>
                  <a:srgbClr val="002060"/>
                </a:solidFill>
                <a:latin typeface="Arial" panose="020B0604020202020204" pitchFamily="34" charset="0"/>
                <a:cs typeface="Arial" panose="020B0604020202020204" pitchFamily="34" charset="0"/>
              </a:rPr>
              <a:t>Septiembre alcanzó 9 casos, el valor más alto del período</a:t>
            </a:r>
          </a:p>
        </p:txBody>
      </p:sp>
      <p:graphicFrame>
        <p:nvGraphicFramePr>
          <p:cNvPr id="10" name="Table 0"/>
          <p:cNvGraphicFramePr>
            <a:graphicFrameLocks noGrp="1"/>
          </p:cNvGraphicFramePr>
          <p:nvPr>
            <p:extLst>
              <p:ext uri="{D42A27DB-BD31-4B8C-83A1-F6EECF244321}">
                <p14:modId xmlns:p14="http://schemas.microsoft.com/office/powerpoint/2010/main" val="1470214290"/>
              </p:ext>
            </p:extLst>
          </p:nvPr>
        </p:nvGraphicFramePr>
        <p:xfrm>
          <a:off x="548640" y="5029200"/>
          <a:ext cx="10149840" cy="731520"/>
        </p:xfrm>
        <a:graphic>
          <a:graphicData uri="http://schemas.openxmlformats.org/drawingml/2006/table">
            <a:tbl>
              <a:tblPr/>
              <a:tblGrid>
                <a:gridCol w="77724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gridCol w="868680">
                  <a:extLst>
                    <a:ext uri="{9D8B030D-6E8A-4147-A177-3AD203B41FA5}">
                      <a16:colId xmlns:a16="http://schemas.microsoft.com/office/drawing/2014/main" val="20005"/>
                    </a:ext>
                  </a:extLst>
                </a:gridCol>
                <a:gridCol w="868680">
                  <a:extLst>
                    <a:ext uri="{9D8B030D-6E8A-4147-A177-3AD203B41FA5}">
                      <a16:colId xmlns:a16="http://schemas.microsoft.com/office/drawing/2014/main" val="20006"/>
                    </a:ext>
                  </a:extLst>
                </a:gridCol>
                <a:gridCol w="868680">
                  <a:extLst>
                    <a:ext uri="{9D8B030D-6E8A-4147-A177-3AD203B41FA5}">
                      <a16:colId xmlns:a16="http://schemas.microsoft.com/office/drawing/2014/main" val="20007"/>
                    </a:ext>
                  </a:extLst>
                </a:gridCol>
                <a:gridCol w="1005840">
                  <a:extLst>
                    <a:ext uri="{9D8B030D-6E8A-4147-A177-3AD203B41FA5}">
                      <a16:colId xmlns:a16="http://schemas.microsoft.com/office/drawing/2014/main" val="20008"/>
                    </a:ext>
                  </a:extLst>
                </a:gridCol>
                <a:gridCol w="1371600">
                  <a:extLst>
                    <a:ext uri="{9D8B030D-6E8A-4147-A177-3AD203B41FA5}">
                      <a16:colId xmlns:a16="http://schemas.microsoft.com/office/drawing/2014/main" val="20009"/>
                    </a:ext>
                  </a:extLst>
                </a:gridCol>
                <a:gridCol w="777240">
                  <a:extLst>
                    <a:ext uri="{9D8B030D-6E8A-4147-A177-3AD203B41FA5}">
                      <a16:colId xmlns:a16="http://schemas.microsoft.com/office/drawing/2014/main" val="20010"/>
                    </a:ext>
                  </a:extLst>
                </a:gridCol>
              </a:tblGrid>
              <a:tr h="365760">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MES</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ENERO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FEBRERO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MARZO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ABRIL</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MAYO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JUNIO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JULIO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AGOSTO</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SEPTIEMBRE</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tc>
                  <a:txBody>
                    <a:bodyPr/>
                    <a:lstStyle/>
                    <a:p>
                      <a:pPr marL="0" indent="0" algn="ctr">
                        <a:buNone/>
                      </a:pPr>
                      <a:r>
                        <a:rPr lang="es-SV" sz="1000" b="1" noProof="0" dirty="0">
                          <a:solidFill>
                            <a:srgbClr val="FFFFFF"/>
                          </a:solidFill>
                          <a:latin typeface="Arial" panose="020B0604020202020204" pitchFamily="34" charset="0"/>
                          <a:ea typeface="Century Gothic" pitchFamily="34" charset="-122"/>
                          <a:cs typeface="Arial" panose="020B0604020202020204" pitchFamily="34" charset="0"/>
                        </a:rPr>
                        <a:t>PROM</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00376E"/>
                    </a:solidFill>
                  </a:tcPr>
                </a:tc>
                <a:extLst>
                  <a:ext uri="{0D108BD9-81ED-4DB2-BD59-A6C34878D82A}">
                    <a16:rowId xmlns:a16="http://schemas.microsoft.com/office/drawing/2014/main" val="10000"/>
                  </a:ext>
                </a:extLst>
              </a:tr>
              <a:tr h="365760">
                <a:tc>
                  <a:txBody>
                    <a:bodyPr/>
                    <a:lstStyle/>
                    <a:p>
                      <a:pPr marL="0" indent="0" algn="ctr">
                        <a:buNone/>
                      </a:pPr>
                      <a:r>
                        <a:rPr lang="es-SV" sz="1000" b="1" noProof="0" dirty="0">
                          <a:solidFill>
                            <a:srgbClr val="1E2A3A"/>
                          </a:solidFill>
                          <a:latin typeface="Arial" panose="020B0604020202020204" pitchFamily="34" charset="0"/>
                          <a:ea typeface="Century Gothic" pitchFamily="34" charset="-122"/>
                          <a:cs typeface="Arial" panose="020B0604020202020204" pitchFamily="34" charset="0"/>
                        </a:rPr>
                        <a:t>PROM</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4</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7</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3</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3</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3</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4</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5</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6</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noProof="0" dirty="0">
                          <a:solidFill>
                            <a:srgbClr val="1E2A3A"/>
                          </a:solidFill>
                          <a:latin typeface="Arial" panose="020B0604020202020204" pitchFamily="34" charset="0"/>
                          <a:ea typeface="Century Gothic" pitchFamily="34" charset="-122"/>
                          <a:cs typeface="Arial" panose="020B0604020202020204" pitchFamily="34" charset="0"/>
                        </a:rPr>
                        <a:t>9</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tc>
                  <a:txBody>
                    <a:bodyPr/>
                    <a:lstStyle/>
                    <a:p>
                      <a:pPr marL="0" indent="0" algn="ctr">
                        <a:buNone/>
                      </a:pPr>
                      <a:r>
                        <a:rPr lang="es-SV" sz="1000" b="1" noProof="0" dirty="0">
                          <a:solidFill>
                            <a:srgbClr val="1E2A3A"/>
                          </a:solidFill>
                          <a:latin typeface="Arial" panose="020B0604020202020204" pitchFamily="34" charset="0"/>
                          <a:ea typeface="Century Gothic" pitchFamily="34" charset="-122"/>
                          <a:cs typeface="Arial" panose="020B0604020202020204" pitchFamily="34" charset="0"/>
                        </a:rPr>
                        <a:t>5</a:t>
                      </a:r>
                      <a:endParaRPr lang="es-SV" sz="1000" noProof="0" dirty="0">
                        <a:latin typeface="Arial" panose="020B0604020202020204" pitchFamily="34" charset="0"/>
                        <a:ea typeface="Century Gothic" charset="0"/>
                        <a:cs typeface="Arial" panose="020B0604020202020204" pitchFamily="34" charset="0"/>
                      </a:endParaRPr>
                    </a:p>
                  </a:txBody>
                  <a:tcPr anchor="ctr">
                    <a:lnL w="9525" cap="flat" cmpd="sng" algn="ctr">
                      <a:solidFill>
                        <a:srgbClr val="D6E2EF"/>
                      </a:solidFill>
                      <a:prstDash val="solid"/>
                      <a:round/>
                      <a:headEnd type="none" w="med" len="med"/>
                      <a:tailEnd type="none" w="med" len="med"/>
                    </a:lnL>
                    <a:lnR w="9525" cap="flat" cmpd="sng" algn="ctr">
                      <a:solidFill>
                        <a:srgbClr val="D6E2EF"/>
                      </a:solidFill>
                      <a:prstDash val="solid"/>
                      <a:round/>
                      <a:headEnd type="none" w="med" len="med"/>
                      <a:tailEnd type="none" w="med" len="med"/>
                    </a:lnR>
                    <a:lnT w="9525" cap="flat" cmpd="sng" algn="ctr">
                      <a:solidFill>
                        <a:srgbClr val="D6E2EF"/>
                      </a:solidFill>
                      <a:prstDash val="solid"/>
                      <a:round/>
                      <a:headEnd type="none" w="med" len="med"/>
                      <a:tailEnd type="none" w="med" len="med"/>
                    </a:lnT>
                    <a:lnB w="9525" cap="flat" cmpd="sng" algn="ctr">
                      <a:solidFill>
                        <a:srgbClr val="D6E2E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10</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469392"/>
            <a:ext cx="9288780" cy="475488"/>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RIESGO IDENTIFICADO EN LA GESTIÓN ACTUAL DE AVALÚOS</a:t>
            </a:r>
            <a:endParaRPr lang="es-SV" sz="2400" noProof="0" dirty="0">
              <a:latin typeface="Arial" panose="020B0604020202020204" pitchFamily="34" charset="0"/>
              <a:cs typeface="Arial" panose="020B0604020202020204" pitchFamily="34" charset="0"/>
            </a:endParaRPr>
          </a:p>
        </p:txBody>
      </p:sp>
      <p:sp>
        <p:nvSpPr>
          <p:cNvPr id="3" name="riesgo alto"/>
          <p:cNvSpPr/>
          <p:nvPr/>
        </p:nvSpPr>
        <p:spPr>
          <a:xfrm>
            <a:off x="548640" y="1371600"/>
            <a:ext cx="11064240" cy="2148840"/>
          </a:xfrm>
          <a:prstGeom prst="roundRect">
            <a:avLst>
              <a:gd name="adj" fmla="val 4255"/>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a:lstStyle/>
          <a:p>
            <a:endParaRPr lang="es-SV" noProof="0" dirty="0">
              <a:latin typeface="Arial" panose="020B0604020202020204" pitchFamily="34" charset="0"/>
              <a:cs typeface="Arial" panose="020B0604020202020204" pitchFamily="34" charset="0"/>
            </a:endParaRPr>
          </a:p>
        </p:txBody>
      </p:sp>
      <p:pic>
        <p:nvPicPr>
          <p:cNvPr id="4" name="riesgo icon" descr="preencoded.png"/>
          <p:cNvPicPr>
            <a:picLocks noChangeAspect="1"/>
          </p:cNvPicPr>
          <p:nvPr/>
        </p:nvPicPr>
        <p:blipFill>
          <a:blip r:embed="rId3"/>
          <a:stretch>
            <a:fillRect/>
          </a:stretch>
        </p:blipFill>
        <p:spPr>
          <a:xfrm>
            <a:off x="914400" y="1783080"/>
            <a:ext cx="1280160" cy="1280160"/>
          </a:xfrm>
          <a:prstGeom prst="rect">
            <a:avLst/>
          </a:prstGeom>
        </p:spPr>
      </p:pic>
      <p:sp>
        <p:nvSpPr>
          <p:cNvPr id="5" name="Text 2"/>
          <p:cNvSpPr txBox="1"/>
          <p:nvPr/>
        </p:nvSpPr>
        <p:spPr>
          <a:xfrm>
            <a:off x="2560320" y="1600200"/>
            <a:ext cx="8686800" cy="548640"/>
          </a:xfrm>
          <a:prstGeom prst="rect">
            <a:avLst/>
          </a:prstGeom>
          <a:noFill/>
          <a:ln/>
        </p:spPr>
        <p:txBody>
          <a:bodyPr wrap="square" lIns="0" tIns="0" rIns="0" bIns="0" rtlCol="0" anchor="t"/>
          <a:lstStyle/>
          <a:p>
            <a:pPr marL="0" indent="0">
              <a:buNone/>
            </a:pPr>
            <a:r>
              <a:rPr lang="es-SV" sz="2400" b="1" noProof="0" dirty="0">
                <a:solidFill>
                  <a:schemeClr val="bg1"/>
                </a:solidFill>
                <a:latin typeface="Arial" panose="020B0604020202020204" pitchFamily="34" charset="0"/>
                <a:cs typeface="Arial" panose="020B0604020202020204" pitchFamily="34" charset="0"/>
              </a:rPr>
              <a:t>Riesgo Alto</a:t>
            </a:r>
            <a:endParaRPr lang="es-SV" sz="2400" noProof="0" dirty="0">
              <a:latin typeface="Arial" panose="020B0604020202020204" pitchFamily="34" charset="0"/>
              <a:cs typeface="Arial" panose="020B0604020202020204" pitchFamily="34" charset="0"/>
            </a:endParaRPr>
          </a:p>
        </p:txBody>
      </p:sp>
      <p:sp>
        <p:nvSpPr>
          <p:cNvPr id="6" name="Text 3"/>
          <p:cNvSpPr txBox="1"/>
          <p:nvPr/>
        </p:nvSpPr>
        <p:spPr>
          <a:xfrm>
            <a:off x="2560320" y="2194560"/>
            <a:ext cx="8778240" cy="1234440"/>
          </a:xfrm>
          <a:prstGeom prst="rect">
            <a:avLst/>
          </a:prstGeom>
          <a:noFill/>
          <a:ln/>
        </p:spPr>
        <p:txBody>
          <a:bodyPr wrap="square" lIns="0" tIns="0" rIns="0" bIns="0" rtlCol="0" anchor="t"/>
          <a:lstStyle/>
          <a:p>
            <a:pPr marL="0" indent="0">
              <a:buNone/>
            </a:pPr>
            <a:r>
              <a:rPr lang="es-SV" sz="1500" noProof="0" dirty="0">
                <a:solidFill>
                  <a:schemeClr val="bg1"/>
                </a:solidFill>
                <a:latin typeface="Arial" panose="020B0604020202020204" pitchFamily="34" charset="0"/>
                <a:cs typeface="Arial" panose="020B0604020202020204" pitchFamily="34" charset="0"/>
              </a:rPr>
              <a:t>Con la administración actual, no existe un área de control centralizada, que garantice el cumplimiento normativo del Informes de Avalúos, seguimiento, Monitoreo de calidad de información de la garantía.</a:t>
            </a:r>
            <a:endParaRPr lang="es-SV" sz="1500" noProof="0" dirty="0">
              <a:latin typeface="Arial" panose="020B0604020202020204" pitchFamily="34" charset="0"/>
              <a:cs typeface="Arial" panose="020B0604020202020204" pitchFamily="34" charset="0"/>
            </a:endParaRPr>
          </a:p>
        </p:txBody>
      </p:sp>
      <p:sp>
        <p:nvSpPr>
          <p:cNvPr id="7" name="riesgo card 1"/>
          <p:cNvSpPr/>
          <p:nvPr/>
        </p:nvSpPr>
        <p:spPr>
          <a:xfrm>
            <a:off x="548640" y="3794760"/>
            <a:ext cx="5394960" cy="2011680"/>
          </a:xfrm>
          <a:prstGeom prst="roundRect">
            <a:avLst>
              <a:gd name="adj" fmla="val 4545"/>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8" name="riesgo 1 circle"/>
          <p:cNvSpPr/>
          <p:nvPr/>
        </p:nvSpPr>
        <p:spPr>
          <a:xfrm>
            <a:off x="914400" y="4343400"/>
            <a:ext cx="914400" cy="914400"/>
          </a:xfrm>
          <a:prstGeom prst="ellipse">
            <a:avLst/>
          </a:prstGeom>
          <a:solidFill>
            <a:srgbClr val="FFFFFF"/>
          </a:solidFill>
          <a:ln w="12700">
            <a:solidFill>
              <a:srgbClr val="FFFFF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9" name="riesgo 1 icon" descr="preencoded.png"/>
          <p:cNvPicPr>
            <a:picLocks noChangeAspect="1"/>
          </p:cNvPicPr>
          <p:nvPr/>
        </p:nvPicPr>
        <p:blipFill>
          <a:blip r:embed="rId4"/>
          <a:stretch>
            <a:fillRect/>
          </a:stretch>
        </p:blipFill>
        <p:spPr>
          <a:xfrm>
            <a:off x="1115568" y="4544568"/>
            <a:ext cx="512064" cy="512064"/>
          </a:xfrm>
          <a:prstGeom prst="rect">
            <a:avLst/>
          </a:prstGeom>
        </p:spPr>
      </p:pic>
      <p:sp>
        <p:nvSpPr>
          <p:cNvPr id="10" name="Text 6"/>
          <p:cNvSpPr txBox="1"/>
          <p:nvPr/>
        </p:nvSpPr>
        <p:spPr>
          <a:xfrm>
            <a:off x="2103120" y="3977640"/>
            <a:ext cx="3611880" cy="1645920"/>
          </a:xfrm>
          <a:prstGeom prst="rect">
            <a:avLst/>
          </a:prstGeom>
          <a:noFill/>
          <a:ln/>
        </p:spPr>
        <p:txBody>
          <a:bodyPr wrap="square" lIns="0" tIns="0" rIns="0" bIns="0" rtlCol="0" anchor="ctr"/>
          <a:lstStyle/>
          <a:p>
            <a:pPr marL="0" indent="0">
              <a:buNone/>
            </a:pPr>
            <a:r>
              <a:rPr lang="es-SV" sz="1600" b="1" noProof="0" dirty="0">
                <a:solidFill>
                  <a:schemeClr val="tx2"/>
                </a:solidFill>
                <a:latin typeface="Arial" panose="020B0604020202020204" pitchFamily="34" charset="0"/>
                <a:cs typeface="Arial" panose="020B0604020202020204" pitchFamily="34" charset="0"/>
              </a:rPr>
              <a:t>Observaciones reiterativas por parte de la SSF</a:t>
            </a:r>
            <a:endParaRPr lang="es-SV" sz="1600" noProof="0" dirty="0">
              <a:latin typeface="Arial" panose="020B0604020202020204" pitchFamily="34" charset="0"/>
              <a:cs typeface="Arial" panose="020B0604020202020204" pitchFamily="34" charset="0"/>
            </a:endParaRPr>
          </a:p>
        </p:txBody>
      </p:sp>
      <p:sp>
        <p:nvSpPr>
          <p:cNvPr id="11" name="riesgo card 2"/>
          <p:cNvSpPr/>
          <p:nvPr/>
        </p:nvSpPr>
        <p:spPr>
          <a:xfrm>
            <a:off x="6217920" y="3794760"/>
            <a:ext cx="5394960" cy="2011680"/>
          </a:xfrm>
          <a:prstGeom prst="roundRect">
            <a:avLst>
              <a:gd name="adj" fmla="val 4545"/>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12" name="riesgo 2 circle"/>
          <p:cNvSpPr/>
          <p:nvPr/>
        </p:nvSpPr>
        <p:spPr>
          <a:xfrm>
            <a:off x="6583680" y="4343400"/>
            <a:ext cx="914400" cy="914400"/>
          </a:xfrm>
          <a:prstGeom prst="ellipse">
            <a:avLst/>
          </a:prstGeom>
          <a:solidFill>
            <a:srgbClr val="FFFFFF"/>
          </a:solidFill>
          <a:ln w="12700">
            <a:solidFill>
              <a:srgbClr val="FFFFF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3" name="riesgo 2 icon" descr="preencoded.png"/>
          <p:cNvPicPr>
            <a:picLocks noChangeAspect="1"/>
          </p:cNvPicPr>
          <p:nvPr/>
        </p:nvPicPr>
        <p:blipFill>
          <a:blip r:embed="rId5"/>
          <a:stretch>
            <a:fillRect/>
          </a:stretch>
        </p:blipFill>
        <p:spPr>
          <a:xfrm>
            <a:off x="6784848" y="4544568"/>
            <a:ext cx="512064" cy="512064"/>
          </a:xfrm>
          <a:prstGeom prst="rect">
            <a:avLst/>
          </a:prstGeom>
        </p:spPr>
      </p:pic>
      <p:sp>
        <p:nvSpPr>
          <p:cNvPr id="14" name="Text 9"/>
          <p:cNvSpPr txBox="1"/>
          <p:nvPr/>
        </p:nvSpPr>
        <p:spPr>
          <a:xfrm>
            <a:off x="7772400" y="3977640"/>
            <a:ext cx="3611880" cy="1645920"/>
          </a:xfrm>
          <a:prstGeom prst="rect">
            <a:avLst/>
          </a:prstGeom>
          <a:noFill/>
          <a:ln/>
        </p:spPr>
        <p:txBody>
          <a:bodyPr wrap="square" lIns="0" tIns="0" rIns="0" bIns="0" rtlCol="0" anchor="ctr"/>
          <a:lstStyle/>
          <a:p>
            <a:pPr marL="0" indent="0">
              <a:buNone/>
            </a:pPr>
            <a:r>
              <a:rPr lang="es-SV" sz="1600" b="1" noProof="0" dirty="0">
                <a:solidFill>
                  <a:schemeClr val="tx2"/>
                </a:solidFill>
                <a:latin typeface="Arial" panose="020B0604020202020204" pitchFamily="34" charset="0"/>
                <a:cs typeface="Arial" panose="020B0604020202020204" pitchFamily="34" charset="0"/>
              </a:rPr>
              <a:t>Falta de Políticas y Procedimientos internos que establezcan los lineamentos de cumplimiento</a:t>
            </a:r>
            <a:endParaRPr lang="es-SV" sz="1600" noProof="0" dirty="0">
              <a:latin typeface="Arial" panose="020B0604020202020204" pitchFamily="34" charset="0"/>
              <a:cs typeface="Arial" panose="020B0604020202020204" pitchFamily="34" charset="0"/>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11</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1371600" y="1554480"/>
            <a:ext cx="3200400" cy="960120"/>
          </a:xfrm>
          <a:prstGeom prst="rect">
            <a:avLst/>
          </a:prstGeom>
          <a:noFill/>
          <a:ln/>
        </p:spPr>
        <p:txBody>
          <a:bodyPr wrap="square" lIns="0" tIns="0" rIns="0" bIns="0" rtlCol="0" anchor="ctr"/>
          <a:lstStyle/>
          <a:p>
            <a:pPr marL="0" indent="0" algn="l">
              <a:buNone/>
            </a:pPr>
            <a:r>
              <a:rPr lang="es-SV" sz="4000" b="1" noProof="0" dirty="0">
                <a:solidFill>
                  <a:schemeClr val="bg1"/>
                </a:solidFill>
                <a:latin typeface="Arial" panose="020B0604020202020204" pitchFamily="34" charset="0"/>
                <a:cs typeface="Arial" panose="020B0604020202020204" pitchFamily="34" charset="0"/>
              </a:rPr>
              <a:t>PROPUESTA</a:t>
            </a:r>
            <a:endParaRPr lang="es-SV" sz="4000" noProof="0" dirty="0">
              <a:latin typeface="Arial" panose="020B0604020202020204" pitchFamily="34" charset="0"/>
              <a:cs typeface="Arial" panose="020B0604020202020204" pitchFamily="34" charset="0"/>
            </a:endParaRPr>
          </a:p>
        </p:txBody>
      </p:sp>
      <p:sp>
        <p:nvSpPr>
          <p:cNvPr id="3" name="Text 1"/>
          <p:cNvSpPr>
            <a:spLocks noGrp="1"/>
          </p:cNvSpPr>
          <p:nvPr>
            <p:ph type="body" idx="103" hasCustomPrompt="1"/>
          </p:nvPr>
        </p:nvSpPr>
        <p:spPr>
          <a:xfrm>
            <a:off x="1371600" y="2606040"/>
            <a:ext cx="4480560" cy="822960"/>
          </a:xfrm>
          <a:prstGeom prst="rect">
            <a:avLst/>
          </a:prstGeom>
          <a:noFill/>
          <a:ln/>
        </p:spPr>
        <p:txBody>
          <a:bodyPr wrap="square" lIns="0" tIns="0" rIns="0" bIns="0" rtlCol="0" anchor="t"/>
          <a:lstStyle/>
          <a:p>
            <a:pPr marL="0" indent="0">
              <a:buNone/>
            </a:pPr>
            <a:r>
              <a:rPr lang="es-SV" sz="1600" noProof="0" dirty="0">
                <a:solidFill>
                  <a:schemeClr val="bg1"/>
                </a:solidFill>
                <a:latin typeface="Arial" panose="020B0604020202020204" pitchFamily="34" charset="0"/>
                <a:cs typeface="Arial" panose="020B0604020202020204" pitchFamily="34" charset="0"/>
              </a:rPr>
              <a:t>Con el objetivo de mitigar el riesgo identificado en las gestiones de Avalúos, se solicita al Comité de Riesgo evaluar y autorizar lo siguiente:</a:t>
            </a:r>
            <a:endParaRPr lang="es-SV" sz="1600" noProof="0" dirty="0">
              <a:latin typeface="Arial" panose="020B0604020202020204" pitchFamily="34" charset="0"/>
              <a:cs typeface="Arial" panose="020B0604020202020204" pitchFamily="34" charset="0"/>
            </a:endParaRPr>
          </a:p>
        </p:txBody>
      </p:sp>
      <p:sp>
        <p:nvSpPr>
          <p:cNvPr id="4" name="propuesta 1"/>
          <p:cNvSpPr/>
          <p:nvPr/>
        </p:nvSpPr>
        <p:spPr>
          <a:xfrm>
            <a:off x="7589520" y="3703320"/>
            <a:ext cx="4206240" cy="594360"/>
          </a:xfrm>
          <a:prstGeom prst="roundRect">
            <a:avLst>
              <a:gd name="adj" fmla="val 15385"/>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5" name="Text 3"/>
          <p:cNvSpPr txBox="1"/>
          <p:nvPr/>
        </p:nvSpPr>
        <p:spPr>
          <a:xfrm>
            <a:off x="7772400" y="3703320"/>
            <a:ext cx="365760" cy="594360"/>
          </a:xfrm>
          <a:prstGeom prst="rect">
            <a:avLst/>
          </a:prstGeom>
          <a:noFill/>
          <a:ln/>
        </p:spPr>
        <p:txBody>
          <a:bodyPr wrap="square" lIns="0" tIns="0" rIns="0" bIns="0" rtlCol="0" anchor="ctr"/>
          <a:lstStyle/>
          <a:p>
            <a:pPr marL="0" indent="0">
              <a:buNone/>
            </a:pPr>
            <a:r>
              <a:rPr lang="es-SV" sz="2200" b="1" noProof="0" dirty="0">
                <a:solidFill>
                  <a:schemeClr val="accent1"/>
                </a:solidFill>
                <a:latin typeface="Arial" panose="020B0604020202020204" pitchFamily="34" charset="0"/>
                <a:cs typeface="Arial" panose="020B0604020202020204" pitchFamily="34" charset="0"/>
              </a:rPr>
              <a:t>1</a:t>
            </a:r>
            <a:endParaRPr lang="es-SV" sz="2200" noProof="0" dirty="0">
              <a:latin typeface="Arial" panose="020B0604020202020204" pitchFamily="34" charset="0"/>
              <a:cs typeface="Arial" panose="020B0604020202020204" pitchFamily="34" charset="0"/>
            </a:endParaRPr>
          </a:p>
        </p:txBody>
      </p:sp>
      <p:sp>
        <p:nvSpPr>
          <p:cNvPr id="6" name="Text 4"/>
          <p:cNvSpPr txBox="1"/>
          <p:nvPr/>
        </p:nvSpPr>
        <p:spPr>
          <a:xfrm>
            <a:off x="8229600" y="3703320"/>
            <a:ext cx="3474720" cy="594360"/>
          </a:xfrm>
          <a:prstGeom prst="rect">
            <a:avLst/>
          </a:prstGeom>
          <a:noFill/>
          <a:ln/>
        </p:spPr>
        <p:txBody>
          <a:bodyPr wrap="square" lIns="0" tIns="0" rIns="0" bIns="0" rtlCol="0" anchor="ctr"/>
          <a:lstStyle/>
          <a:p>
            <a:pPr marL="0" indent="0">
              <a:buNone/>
            </a:pPr>
            <a:r>
              <a:rPr lang="es-SV" sz="1300" b="1" noProof="0" dirty="0">
                <a:solidFill>
                  <a:schemeClr val="tx2"/>
                </a:solidFill>
                <a:latin typeface="Arial" panose="020B0604020202020204" pitchFamily="34" charset="0"/>
                <a:cs typeface="Arial" panose="020B0604020202020204" pitchFamily="34" charset="0"/>
              </a:rPr>
              <a:t>Política Administración de Avalúos</a:t>
            </a:r>
            <a:endParaRPr lang="es-SV" sz="1300" noProof="0" dirty="0">
              <a:latin typeface="Arial" panose="020B0604020202020204" pitchFamily="34" charset="0"/>
              <a:cs typeface="Arial" panose="020B0604020202020204" pitchFamily="34" charset="0"/>
            </a:endParaRPr>
          </a:p>
        </p:txBody>
      </p:sp>
      <p:sp>
        <p:nvSpPr>
          <p:cNvPr id="7" name="propuesta 2"/>
          <p:cNvSpPr/>
          <p:nvPr/>
        </p:nvSpPr>
        <p:spPr>
          <a:xfrm>
            <a:off x="7589520" y="4416552"/>
            <a:ext cx="4206240" cy="594360"/>
          </a:xfrm>
          <a:prstGeom prst="roundRect">
            <a:avLst>
              <a:gd name="adj" fmla="val 15385"/>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8" name="Text 6"/>
          <p:cNvSpPr txBox="1"/>
          <p:nvPr/>
        </p:nvSpPr>
        <p:spPr>
          <a:xfrm>
            <a:off x="7772400" y="4416552"/>
            <a:ext cx="365760" cy="594360"/>
          </a:xfrm>
          <a:prstGeom prst="rect">
            <a:avLst/>
          </a:prstGeom>
          <a:noFill/>
          <a:ln/>
        </p:spPr>
        <p:txBody>
          <a:bodyPr wrap="square" lIns="0" tIns="0" rIns="0" bIns="0" rtlCol="0" anchor="ctr"/>
          <a:lstStyle/>
          <a:p>
            <a:pPr marL="0" indent="0">
              <a:buNone/>
            </a:pPr>
            <a:r>
              <a:rPr lang="es-SV" sz="2200" b="1" noProof="0" dirty="0">
                <a:solidFill>
                  <a:schemeClr val="accent1"/>
                </a:solidFill>
                <a:latin typeface="Arial" panose="020B0604020202020204" pitchFamily="34" charset="0"/>
                <a:cs typeface="Arial" panose="020B0604020202020204" pitchFamily="34" charset="0"/>
              </a:rPr>
              <a:t>2</a:t>
            </a:r>
            <a:endParaRPr lang="es-SV" sz="2200" noProof="0" dirty="0">
              <a:latin typeface="Arial" panose="020B0604020202020204" pitchFamily="34" charset="0"/>
              <a:cs typeface="Arial" panose="020B0604020202020204" pitchFamily="34" charset="0"/>
            </a:endParaRPr>
          </a:p>
        </p:txBody>
      </p:sp>
      <p:sp>
        <p:nvSpPr>
          <p:cNvPr id="9" name="Text 7"/>
          <p:cNvSpPr txBox="1"/>
          <p:nvPr/>
        </p:nvSpPr>
        <p:spPr>
          <a:xfrm>
            <a:off x="8229600" y="4416552"/>
            <a:ext cx="3474720" cy="594360"/>
          </a:xfrm>
          <a:prstGeom prst="rect">
            <a:avLst/>
          </a:prstGeom>
          <a:noFill/>
          <a:ln/>
        </p:spPr>
        <p:txBody>
          <a:bodyPr wrap="square" lIns="0" tIns="0" rIns="0" bIns="0" rtlCol="0" anchor="ctr"/>
          <a:lstStyle/>
          <a:p>
            <a:pPr marL="0" indent="0">
              <a:buNone/>
            </a:pPr>
            <a:r>
              <a:rPr lang="es-SV" sz="1300" b="1" noProof="0" dirty="0">
                <a:solidFill>
                  <a:schemeClr val="tx2"/>
                </a:solidFill>
                <a:latin typeface="Arial" panose="020B0604020202020204" pitchFamily="34" charset="0"/>
                <a:cs typeface="Arial" panose="020B0604020202020204" pitchFamily="34" charset="0"/>
              </a:rPr>
              <a:t>Contratar un Revisor (NRP-27 art. 40)</a:t>
            </a:r>
            <a:endParaRPr lang="es-SV" sz="1300" noProof="0" dirty="0">
              <a:latin typeface="Arial" panose="020B0604020202020204" pitchFamily="34" charset="0"/>
              <a:cs typeface="Arial" panose="020B0604020202020204" pitchFamily="34" charset="0"/>
            </a:endParaRPr>
          </a:p>
        </p:txBody>
      </p:sp>
      <p:sp>
        <p:nvSpPr>
          <p:cNvPr id="10" name="propuesta 3"/>
          <p:cNvSpPr/>
          <p:nvPr/>
        </p:nvSpPr>
        <p:spPr>
          <a:xfrm>
            <a:off x="7589520" y="5129784"/>
            <a:ext cx="4206240" cy="594360"/>
          </a:xfrm>
          <a:prstGeom prst="roundRect">
            <a:avLst>
              <a:gd name="adj" fmla="val 15385"/>
            </a:avLst>
          </a:prstGeom>
          <a:ln/>
        </p:spPr>
        <p:style>
          <a:lnRef idx="2">
            <a:schemeClr val="accent1"/>
          </a:lnRef>
          <a:fillRef idx="1">
            <a:schemeClr val="lt1"/>
          </a:fillRef>
          <a:effectRef idx="0">
            <a:schemeClr val="accent1"/>
          </a:effectRef>
          <a:fontRef idx="minor">
            <a:schemeClr val="dk1"/>
          </a:fontRef>
        </p:style>
        <p:txBody>
          <a:bodyPr/>
          <a:lstStyle/>
          <a:p>
            <a:endParaRPr lang="es-SV" noProof="0" dirty="0">
              <a:latin typeface="Arial" panose="020B0604020202020204" pitchFamily="34" charset="0"/>
              <a:cs typeface="Arial" panose="020B0604020202020204" pitchFamily="34" charset="0"/>
            </a:endParaRPr>
          </a:p>
        </p:txBody>
      </p:sp>
      <p:sp>
        <p:nvSpPr>
          <p:cNvPr id="11" name="Text 9"/>
          <p:cNvSpPr txBox="1"/>
          <p:nvPr/>
        </p:nvSpPr>
        <p:spPr>
          <a:xfrm>
            <a:off x="7772400" y="5129784"/>
            <a:ext cx="365760" cy="594360"/>
          </a:xfrm>
          <a:prstGeom prst="rect">
            <a:avLst/>
          </a:prstGeom>
          <a:noFill/>
          <a:ln/>
        </p:spPr>
        <p:txBody>
          <a:bodyPr wrap="square" lIns="0" tIns="0" rIns="0" bIns="0" rtlCol="0" anchor="ctr"/>
          <a:lstStyle/>
          <a:p>
            <a:pPr marL="0" indent="0">
              <a:buNone/>
            </a:pPr>
            <a:r>
              <a:rPr lang="es-SV" sz="2200" b="1" noProof="0" dirty="0">
                <a:solidFill>
                  <a:schemeClr val="accent1"/>
                </a:solidFill>
                <a:latin typeface="Arial" panose="020B0604020202020204" pitchFamily="34" charset="0"/>
                <a:cs typeface="Arial" panose="020B0604020202020204" pitchFamily="34" charset="0"/>
              </a:rPr>
              <a:t>3</a:t>
            </a:r>
            <a:endParaRPr lang="es-SV" sz="2200" noProof="0" dirty="0">
              <a:latin typeface="Arial" panose="020B0604020202020204" pitchFamily="34" charset="0"/>
              <a:cs typeface="Arial" panose="020B0604020202020204" pitchFamily="34" charset="0"/>
            </a:endParaRPr>
          </a:p>
        </p:txBody>
      </p:sp>
      <p:sp>
        <p:nvSpPr>
          <p:cNvPr id="12" name="Text 10"/>
          <p:cNvSpPr txBox="1"/>
          <p:nvPr/>
        </p:nvSpPr>
        <p:spPr>
          <a:xfrm>
            <a:off x="8229600" y="5129784"/>
            <a:ext cx="3474720" cy="594360"/>
          </a:xfrm>
          <a:prstGeom prst="rect">
            <a:avLst/>
          </a:prstGeom>
          <a:noFill/>
          <a:ln/>
        </p:spPr>
        <p:txBody>
          <a:bodyPr wrap="square" lIns="0" tIns="0" rIns="0" bIns="0" rtlCol="0" anchor="ctr"/>
          <a:lstStyle/>
          <a:p>
            <a:pPr marL="0" indent="0">
              <a:buNone/>
            </a:pPr>
            <a:r>
              <a:rPr lang="es-SV" sz="1300" b="1" noProof="0" dirty="0">
                <a:solidFill>
                  <a:schemeClr val="tx2"/>
                </a:solidFill>
                <a:latin typeface="Arial" panose="020B0604020202020204" pitchFamily="34" charset="0"/>
                <a:cs typeface="Arial" panose="020B0604020202020204" pitchFamily="34" charset="0"/>
              </a:rPr>
              <a:t>Departamento de Riesgo responsable</a:t>
            </a:r>
            <a:endParaRPr lang="es-SV" sz="1300" noProof="0" dirty="0">
              <a:latin typeface="Arial" panose="020B0604020202020204" pitchFamily="34" charset="0"/>
              <a:cs typeface="Arial" panose="020B0604020202020204" pitchFamily="3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470194"/>
            <a:ext cx="8534400" cy="566928"/>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1: POLÍTICA ADMINISTRACIÓN DE AVALÚOS</a:t>
            </a:r>
            <a:endParaRPr lang="es-SV" sz="2400" noProof="0" dirty="0">
              <a:latin typeface="Arial" panose="020B0604020202020204" pitchFamily="34" charset="0"/>
              <a:cs typeface="Arial" panose="020B0604020202020204" pitchFamily="34" charset="0"/>
            </a:endParaRPr>
          </a:p>
        </p:txBody>
      </p:sp>
      <p:sp>
        <p:nvSpPr>
          <p:cNvPr id="3" name="Text 1"/>
          <p:cNvSpPr txBox="1"/>
          <p:nvPr/>
        </p:nvSpPr>
        <p:spPr>
          <a:xfrm>
            <a:off x="548640" y="1325880"/>
            <a:ext cx="11064240" cy="551046"/>
          </a:xfrm>
          <a:prstGeom prst="rect">
            <a:avLst/>
          </a:prstGeom>
          <a:noFill/>
          <a:ln/>
        </p:spPr>
        <p:txBody>
          <a:bodyPr wrap="square" lIns="0" tIns="0" rIns="0" bIns="0" rtlCol="0" anchor="t"/>
          <a:lstStyle/>
          <a:p>
            <a:pPr marL="0" indent="0">
              <a:buNone/>
            </a:pPr>
            <a:r>
              <a:rPr lang="es-SV" sz="1600" noProof="0" dirty="0">
                <a:solidFill>
                  <a:srgbClr val="002060"/>
                </a:solidFill>
                <a:latin typeface="Arial" panose="020B0604020202020204" pitchFamily="34" charset="0"/>
                <a:cs typeface="Arial" panose="020B0604020202020204" pitchFamily="34" charset="0"/>
              </a:rPr>
              <a:t>Autorizar la Política Administración de Avalúos que Incluye el cumplimiento normativo vigente de la NRP-27 Contratación de Peritos valuadores y NCB 022 – Reservas. Para ser presenta al Consejo de Administración para su Aprobación</a:t>
            </a:r>
          </a:p>
        </p:txBody>
      </p:sp>
      <p:sp>
        <p:nvSpPr>
          <p:cNvPr id="4" name="norma 1"/>
          <p:cNvSpPr/>
          <p:nvPr/>
        </p:nvSpPr>
        <p:spPr>
          <a:xfrm>
            <a:off x="548640" y="2697480"/>
            <a:ext cx="2788920" cy="3017520"/>
          </a:xfrm>
          <a:prstGeom prst="roundRect">
            <a:avLst>
              <a:gd name="adj" fmla="val 3279"/>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5" name="norma 1 circle"/>
          <p:cNvSpPr/>
          <p:nvPr/>
        </p:nvSpPr>
        <p:spPr>
          <a:xfrm>
            <a:off x="868680" y="3017520"/>
            <a:ext cx="777240" cy="7772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6" name="norma 1 icon" descr="preencoded.png"/>
          <p:cNvPicPr>
            <a:picLocks noChangeAspect="1"/>
          </p:cNvPicPr>
          <p:nvPr/>
        </p:nvPicPr>
        <p:blipFill>
          <a:blip r:embed="rId3"/>
          <a:stretch>
            <a:fillRect/>
          </a:stretch>
        </p:blipFill>
        <p:spPr>
          <a:xfrm>
            <a:off x="1039673" y="3188513"/>
            <a:ext cx="435254" cy="435254"/>
          </a:xfrm>
          <a:prstGeom prst="rect">
            <a:avLst/>
          </a:prstGeom>
        </p:spPr>
      </p:pic>
      <p:sp>
        <p:nvSpPr>
          <p:cNvPr id="7" name="Text 4"/>
          <p:cNvSpPr txBox="1"/>
          <p:nvPr/>
        </p:nvSpPr>
        <p:spPr>
          <a:xfrm>
            <a:off x="868680" y="3977640"/>
            <a:ext cx="2286000" cy="640080"/>
          </a:xfrm>
          <a:prstGeom prst="rect">
            <a:avLst/>
          </a:prstGeom>
          <a:noFill/>
          <a:ln/>
        </p:spPr>
        <p:txBody>
          <a:bodyPr wrap="square" lIns="0" tIns="0" rIns="0" bIns="0" rtlCol="0" anchor="t"/>
          <a:lstStyle/>
          <a:p>
            <a:pPr marL="0" indent="0">
              <a:buNone/>
            </a:pPr>
            <a:r>
              <a:rPr lang="es-SV" sz="2600" b="1" noProof="0" dirty="0">
                <a:solidFill>
                  <a:schemeClr val="tx2"/>
                </a:solidFill>
                <a:latin typeface="Arial" panose="020B0604020202020204" pitchFamily="34" charset="0"/>
                <a:cs typeface="Arial" panose="020B0604020202020204" pitchFamily="34" charset="0"/>
              </a:rPr>
              <a:t>NRP-27</a:t>
            </a:r>
            <a:endParaRPr lang="es-SV" sz="2600" noProof="0" dirty="0">
              <a:latin typeface="Arial" panose="020B0604020202020204" pitchFamily="34" charset="0"/>
              <a:cs typeface="Arial" panose="020B0604020202020204" pitchFamily="34" charset="0"/>
            </a:endParaRPr>
          </a:p>
        </p:txBody>
      </p:sp>
      <p:sp>
        <p:nvSpPr>
          <p:cNvPr id="8" name="Text 5"/>
          <p:cNvSpPr txBox="1"/>
          <p:nvPr/>
        </p:nvSpPr>
        <p:spPr>
          <a:xfrm>
            <a:off x="868680" y="4663440"/>
            <a:ext cx="2286000" cy="822960"/>
          </a:xfrm>
          <a:prstGeom prst="rect">
            <a:avLst/>
          </a:prstGeom>
          <a:noFill/>
          <a:ln/>
        </p:spPr>
        <p:txBody>
          <a:bodyPr wrap="square" lIns="0" tIns="0" rIns="0" bIns="0" rtlCol="0" anchor="t"/>
          <a:lstStyle/>
          <a:p>
            <a:pPr marL="0" indent="0">
              <a:buNone/>
            </a:pPr>
            <a:r>
              <a:rPr lang="es-SV" sz="1300" noProof="0" dirty="0">
                <a:solidFill>
                  <a:schemeClr val="tx1"/>
                </a:solidFill>
                <a:latin typeface="Arial" panose="020B0604020202020204" pitchFamily="34" charset="0"/>
                <a:cs typeface="Arial" panose="020B0604020202020204" pitchFamily="34" charset="0"/>
              </a:rPr>
              <a:t>Contratación de Peritos valuadores</a:t>
            </a:r>
            <a:endParaRPr lang="es-SV" sz="1300" noProof="0" dirty="0">
              <a:latin typeface="Arial" panose="020B0604020202020204" pitchFamily="34" charset="0"/>
              <a:cs typeface="Arial" panose="020B0604020202020204" pitchFamily="34" charset="0"/>
            </a:endParaRPr>
          </a:p>
        </p:txBody>
      </p:sp>
      <p:sp>
        <p:nvSpPr>
          <p:cNvPr id="9" name="norma 2"/>
          <p:cNvSpPr/>
          <p:nvPr/>
        </p:nvSpPr>
        <p:spPr>
          <a:xfrm>
            <a:off x="3611880" y="2697480"/>
            <a:ext cx="2788920" cy="3017520"/>
          </a:xfrm>
          <a:prstGeom prst="roundRect">
            <a:avLst>
              <a:gd name="adj" fmla="val 3279"/>
            </a:avLst>
          </a:prstGeom>
          <a:solidFill>
            <a:srgbClr val="EEF3F9"/>
          </a:solidFill>
          <a:ln w="9525">
            <a:solidFill>
              <a:srgbClr val="D6E2E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0" name="norma 2 circle"/>
          <p:cNvSpPr/>
          <p:nvPr/>
        </p:nvSpPr>
        <p:spPr>
          <a:xfrm>
            <a:off x="3931920" y="3017520"/>
            <a:ext cx="777240" cy="777240"/>
          </a:xfrm>
          <a:prstGeom prst="ellipse">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pic>
        <p:nvPicPr>
          <p:cNvPr id="11" name="norma 2 icon" descr="preencoded.png"/>
          <p:cNvPicPr>
            <a:picLocks noChangeAspect="1"/>
          </p:cNvPicPr>
          <p:nvPr/>
        </p:nvPicPr>
        <p:blipFill>
          <a:blip r:embed="rId4"/>
          <a:stretch>
            <a:fillRect/>
          </a:stretch>
        </p:blipFill>
        <p:spPr>
          <a:xfrm>
            <a:off x="4102913" y="3188513"/>
            <a:ext cx="435254" cy="435254"/>
          </a:xfrm>
          <a:prstGeom prst="rect">
            <a:avLst/>
          </a:prstGeom>
        </p:spPr>
      </p:pic>
      <p:sp>
        <p:nvSpPr>
          <p:cNvPr id="12" name="Text 8"/>
          <p:cNvSpPr txBox="1"/>
          <p:nvPr/>
        </p:nvSpPr>
        <p:spPr>
          <a:xfrm>
            <a:off x="3931920" y="3977640"/>
            <a:ext cx="2286000" cy="640080"/>
          </a:xfrm>
          <a:prstGeom prst="rect">
            <a:avLst/>
          </a:prstGeom>
          <a:noFill/>
          <a:ln/>
        </p:spPr>
        <p:txBody>
          <a:bodyPr wrap="square" lIns="0" tIns="0" rIns="0" bIns="0" rtlCol="0" anchor="t"/>
          <a:lstStyle/>
          <a:p>
            <a:pPr marL="0" indent="0">
              <a:buNone/>
            </a:pPr>
            <a:r>
              <a:rPr lang="es-SV" sz="2600" b="1" noProof="0" dirty="0">
                <a:solidFill>
                  <a:schemeClr val="tx2"/>
                </a:solidFill>
                <a:latin typeface="Arial" panose="020B0604020202020204" pitchFamily="34" charset="0"/>
                <a:cs typeface="Arial" panose="020B0604020202020204" pitchFamily="34" charset="0"/>
              </a:rPr>
              <a:t>NCB 022</a:t>
            </a:r>
            <a:endParaRPr lang="es-SV" sz="2600" noProof="0" dirty="0">
              <a:latin typeface="Arial" panose="020B0604020202020204" pitchFamily="34" charset="0"/>
              <a:cs typeface="Arial" panose="020B0604020202020204" pitchFamily="34" charset="0"/>
            </a:endParaRPr>
          </a:p>
        </p:txBody>
      </p:sp>
      <p:sp>
        <p:nvSpPr>
          <p:cNvPr id="13" name="Text 9"/>
          <p:cNvSpPr txBox="1"/>
          <p:nvPr/>
        </p:nvSpPr>
        <p:spPr>
          <a:xfrm>
            <a:off x="3931920" y="4663440"/>
            <a:ext cx="2286000" cy="822960"/>
          </a:xfrm>
          <a:prstGeom prst="rect">
            <a:avLst/>
          </a:prstGeom>
          <a:noFill/>
          <a:ln/>
        </p:spPr>
        <p:txBody>
          <a:bodyPr wrap="square" lIns="0" tIns="0" rIns="0" bIns="0" rtlCol="0" anchor="t"/>
          <a:lstStyle/>
          <a:p>
            <a:pPr marL="0" indent="0">
              <a:buNone/>
            </a:pPr>
            <a:r>
              <a:rPr lang="es-SV" sz="1300" noProof="0" dirty="0">
                <a:solidFill>
                  <a:schemeClr val="tx1"/>
                </a:solidFill>
                <a:latin typeface="Arial" panose="020B0604020202020204" pitchFamily="34" charset="0"/>
                <a:cs typeface="Arial" panose="020B0604020202020204" pitchFamily="34" charset="0"/>
              </a:rPr>
              <a:t>Reservas</a:t>
            </a:r>
            <a:endParaRPr lang="es-SV" sz="1300" noProof="0" dirty="0">
              <a:latin typeface="Arial" panose="020B0604020202020204" pitchFamily="34" charset="0"/>
              <a:cs typeface="Arial" panose="020B0604020202020204" pitchFamily="34" charset="0"/>
            </a:endParaRPr>
          </a:p>
        </p:txBody>
      </p:sp>
      <p:sp>
        <p:nvSpPr>
          <p:cNvPr id="14" name="Text 10"/>
          <p:cNvSpPr txBox="1"/>
          <p:nvPr/>
        </p:nvSpPr>
        <p:spPr>
          <a:xfrm>
            <a:off x="6949440" y="2697480"/>
            <a:ext cx="1689234" cy="214162"/>
          </a:xfrm>
          <a:prstGeom prst="rect">
            <a:avLst/>
          </a:prstGeom>
          <a:noFill/>
          <a:ln/>
        </p:spPr>
        <p:txBody>
          <a:bodyPr wrap="square" lIns="0" tIns="0" rIns="0" bIns="0" rtlCol="0" anchor="t"/>
          <a:lstStyle/>
          <a:p>
            <a:pPr marL="0" indent="0">
              <a:buNone/>
            </a:pPr>
            <a:r>
              <a:rPr lang="es-SV" sz="1400" b="1" noProof="0" dirty="0">
                <a:solidFill>
                  <a:srgbClr val="002060"/>
                </a:solidFill>
                <a:latin typeface="Arial" panose="020B0604020202020204" pitchFamily="34" charset="0"/>
                <a:cs typeface="Arial" panose="020B0604020202020204" pitchFamily="34" charset="0"/>
              </a:rPr>
              <a:t>Ruta de aprobación</a:t>
            </a:r>
            <a:endParaRPr lang="es-SV" sz="1400" noProof="0" dirty="0">
              <a:solidFill>
                <a:srgbClr val="002060"/>
              </a:solidFill>
              <a:latin typeface="Arial" panose="020B0604020202020204" pitchFamily="34" charset="0"/>
              <a:cs typeface="Arial" panose="020B0604020202020204" pitchFamily="34" charset="0"/>
            </a:endParaRPr>
          </a:p>
        </p:txBody>
      </p:sp>
      <p:sp>
        <p:nvSpPr>
          <p:cNvPr id="15" name="ruta 1"/>
          <p:cNvSpPr/>
          <p:nvPr/>
        </p:nvSpPr>
        <p:spPr>
          <a:xfrm>
            <a:off x="6949440" y="3200400"/>
            <a:ext cx="4663440" cy="960120"/>
          </a:xfrm>
          <a:prstGeom prst="roundRect">
            <a:avLst>
              <a:gd name="adj" fmla="val 9524"/>
            </a:avLst>
          </a:prstGeom>
          <a:solidFill>
            <a:srgbClr val="005C9F"/>
          </a:solidFill>
          <a:ln w="12700">
            <a:solidFill>
              <a:srgbClr val="005C9F"/>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6" name="Text 12"/>
          <p:cNvSpPr txBox="1"/>
          <p:nvPr/>
        </p:nvSpPr>
        <p:spPr>
          <a:xfrm>
            <a:off x="7223760" y="3200400"/>
            <a:ext cx="4206240" cy="960120"/>
          </a:xfrm>
          <a:prstGeom prst="rect">
            <a:avLst/>
          </a:prstGeom>
          <a:noFill/>
          <a:ln/>
        </p:spPr>
        <p:txBody>
          <a:bodyPr wrap="square" lIns="0" tIns="0" rIns="0" bIns="0" rtlCol="0" anchor="ctr"/>
          <a:lstStyle/>
          <a:p>
            <a:pPr marL="0" indent="0">
              <a:buNone/>
            </a:pPr>
            <a:r>
              <a:rPr lang="es-SV" sz="1600" b="1" noProof="0" dirty="0">
                <a:solidFill>
                  <a:schemeClr val="bg1"/>
                </a:solidFill>
                <a:latin typeface="Arial" panose="020B0604020202020204" pitchFamily="34" charset="0"/>
                <a:cs typeface="Arial" panose="020B0604020202020204" pitchFamily="34" charset="0"/>
              </a:rPr>
              <a:t>Comité de Riesgo</a:t>
            </a:r>
            <a:endParaRPr lang="es-SV" sz="1600" noProof="0" dirty="0">
              <a:latin typeface="Arial" panose="020B0604020202020204" pitchFamily="34" charset="0"/>
              <a:cs typeface="Arial" panose="020B0604020202020204" pitchFamily="34" charset="0"/>
            </a:endParaRPr>
          </a:p>
          <a:p>
            <a:pPr marL="0" indent="0">
              <a:buNone/>
            </a:pPr>
            <a:r>
              <a:rPr lang="es-SV" sz="1300" noProof="0" dirty="0">
                <a:solidFill>
                  <a:srgbClr val="C9DBF2"/>
                </a:solidFill>
                <a:latin typeface="Arial" panose="020B0604020202020204" pitchFamily="34" charset="0"/>
                <a:cs typeface="Arial" panose="020B0604020202020204" pitchFamily="34" charset="0"/>
              </a:rPr>
              <a:t>Autoriza la Política</a:t>
            </a:r>
            <a:endParaRPr lang="es-SV" sz="1600" noProof="0" dirty="0">
              <a:latin typeface="Arial" panose="020B0604020202020204" pitchFamily="34" charset="0"/>
              <a:cs typeface="Arial" panose="020B0604020202020204" pitchFamily="34" charset="0"/>
            </a:endParaRPr>
          </a:p>
        </p:txBody>
      </p:sp>
      <p:sp>
        <p:nvSpPr>
          <p:cNvPr id="17" name="ruta 2"/>
          <p:cNvSpPr/>
          <p:nvPr/>
        </p:nvSpPr>
        <p:spPr>
          <a:xfrm>
            <a:off x="6949440" y="4572000"/>
            <a:ext cx="4663440" cy="960120"/>
          </a:xfrm>
          <a:prstGeom prst="roundRect">
            <a:avLst>
              <a:gd name="adj" fmla="val 9524"/>
            </a:avLst>
          </a:prstGeom>
          <a:solidFill>
            <a:srgbClr val="00376E"/>
          </a:solidFill>
          <a:ln w="12700">
            <a:solidFill>
              <a:srgbClr val="00376E"/>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8" name="Text 14"/>
          <p:cNvSpPr txBox="1"/>
          <p:nvPr/>
        </p:nvSpPr>
        <p:spPr>
          <a:xfrm>
            <a:off x="7223760" y="4572000"/>
            <a:ext cx="4206240" cy="960120"/>
          </a:xfrm>
          <a:prstGeom prst="rect">
            <a:avLst/>
          </a:prstGeom>
          <a:noFill/>
          <a:ln/>
        </p:spPr>
        <p:txBody>
          <a:bodyPr wrap="square" lIns="0" tIns="0" rIns="0" bIns="0" rtlCol="0" anchor="ctr"/>
          <a:lstStyle/>
          <a:p>
            <a:pPr marL="0" indent="0">
              <a:buNone/>
            </a:pPr>
            <a:r>
              <a:rPr lang="es-SV" sz="1600" b="1" noProof="0" dirty="0">
                <a:solidFill>
                  <a:schemeClr val="bg1"/>
                </a:solidFill>
                <a:latin typeface="Arial" panose="020B0604020202020204" pitchFamily="34" charset="0"/>
                <a:cs typeface="Arial" panose="020B0604020202020204" pitchFamily="34" charset="0"/>
              </a:rPr>
              <a:t>Consejo de Administración</a:t>
            </a:r>
            <a:endParaRPr lang="es-SV" sz="1600" noProof="0" dirty="0">
              <a:latin typeface="Arial" panose="020B0604020202020204" pitchFamily="34" charset="0"/>
              <a:cs typeface="Arial" panose="020B0604020202020204" pitchFamily="34" charset="0"/>
            </a:endParaRPr>
          </a:p>
          <a:p>
            <a:pPr marL="0" indent="0">
              <a:buNone/>
            </a:pPr>
            <a:r>
              <a:rPr lang="es-SV" sz="1300" noProof="0" dirty="0">
                <a:solidFill>
                  <a:srgbClr val="C9DBF2"/>
                </a:solidFill>
                <a:latin typeface="Arial" panose="020B0604020202020204" pitchFamily="34" charset="0"/>
                <a:cs typeface="Arial" panose="020B0604020202020204" pitchFamily="34" charset="0"/>
              </a:rPr>
              <a:t>Aprobación</a:t>
            </a:r>
            <a:endParaRPr lang="es-SV" sz="1600" noProof="0" dirty="0">
              <a:latin typeface="Arial" panose="020B0604020202020204" pitchFamily="34" charset="0"/>
              <a:cs typeface="Arial" panose="020B0604020202020204" pitchFamily="34" charset="0"/>
            </a:endParaRPr>
          </a:p>
        </p:txBody>
      </p:sp>
      <p:pic>
        <p:nvPicPr>
          <p:cNvPr id="19" name="ruta flecha" descr="preencoded.png"/>
          <p:cNvPicPr>
            <a:picLocks noChangeAspect="1"/>
          </p:cNvPicPr>
          <p:nvPr/>
        </p:nvPicPr>
        <p:blipFill>
          <a:blip r:embed="rId5"/>
          <a:stretch>
            <a:fillRect/>
          </a:stretch>
        </p:blipFill>
        <p:spPr>
          <a:xfrm>
            <a:off x="9098280" y="4178808"/>
            <a:ext cx="365760" cy="365760"/>
          </a:xfrm>
          <a:prstGeom prst="rect">
            <a:avLst/>
          </a:prstGeom>
        </p:spPr>
      </p:pic>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13</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10881360" cy="777240"/>
          </a:xfrm>
          <a:prstGeom prst="rect">
            <a:avLst/>
          </a:prstGeom>
          <a:noFill/>
          <a:ln/>
        </p:spPr>
        <p:txBody>
          <a:bodyPr wrap="square" lIns="0" tIns="0" rIns="0" bIns="0" rtlCol="0" anchor="ctr"/>
          <a:lstStyle/>
          <a:p>
            <a:pPr marL="0" indent="0" algn="l">
              <a:buNone/>
            </a:pPr>
            <a:r>
              <a:rPr lang="es-SV" sz="2400" b="1" noProof="0" dirty="0">
                <a:solidFill>
                  <a:srgbClr val="002060"/>
                </a:solidFill>
                <a:latin typeface="Arial" panose="020B0604020202020204" pitchFamily="34" charset="0"/>
                <a:cs typeface="Arial" panose="020B0604020202020204" pitchFamily="34" charset="0"/>
              </a:rPr>
              <a:t>2: CONTRATAR UN REVISOR SEGÚN NRP-27, ARTÍCULO 40</a:t>
            </a:r>
            <a:endParaRPr lang="es-SV" sz="2400" noProof="0" dirty="0">
              <a:solidFill>
                <a:srgbClr val="002060"/>
              </a:solidFill>
              <a:latin typeface="Arial" panose="020B0604020202020204" pitchFamily="34" charset="0"/>
              <a:cs typeface="Arial" panose="020B0604020202020204" pitchFamily="34" charset="0"/>
            </a:endParaRPr>
          </a:p>
        </p:txBody>
      </p:sp>
      <p:sp>
        <p:nvSpPr>
          <p:cNvPr id="3" name="cita"/>
          <p:cNvSpPr/>
          <p:nvPr/>
        </p:nvSpPr>
        <p:spPr>
          <a:xfrm>
            <a:off x="548640" y="1325880"/>
            <a:ext cx="11064240" cy="4572000"/>
          </a:xfrm>
          <a:prstGeom prst="roundRect">
            <a:avLst>
              <a:gd name="adj" fmla="val 2000"/>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a:lstStyle/>
          <a:p>
            <a:endParaRPr lang="es-SV" noProof="0" dirty="0">
              <a:solidFill>
                <a:srgbClr val="002060"/>
              </a:solidFill>
              <a:latin typeface="Arial" panose="020B0604020202020204" pitchFamily="34" charset="0"/>
              <a:cs typeface="Arial" panose="020B0604020202020204" pitchFamily="34" charset="0"/>
            </a:endParaRPr>
          </a:p>
        </p:txBody>
      </p:sp>
      <p:sp>
        <p:nvSpPr>
          <p:cNvPr id="4" name="Text 2"/>
          <p:cNvSpPr txBox="1"/>
          <p:nvPr/>
        </p:nvSpPr>
        <p:spPr>
          <a:xfrm>
            <a:off x="777240" y="1325880"/>
            <a:ext cx="731520" cy="914400"/>
          </a:xfrm>
          <a:prstGeom prst="rect">
            <a:avLst/>
          </a:prstGeom>
          <a:noFill/>
          <a:ln/>
        </p:spPr>
        <p:txBody>
          <a:bodyPr wrap="square" lIns="0" tIns="0" rIns="0" bIns="0" rtlCol="0" anchor="t"/>
          <a:lstStyle/>
          <a:p>
            <a:pPr marL="0" indent="0">
              <a:buNone/>
            </a:pPr>
            <a:r>
              <a:rPr lang="es-SV" sz="6600" b="1" noProof="0" dirty="0">
                <a:solidFill>
                  <a:srgbClr val="002060"/>
                </a:solidFill>
                <a:latin typeface="Arial" panose="020B0604020202020204" pitchFamily="34" charset="0"/>
                <a:cs typeface="Arial" panose="020B0604020202020204" pitchFamily="34" charset="0"/>
              </a:rPr>
              <a:t>“</a:t>
            </a:r>
            <a:endParaRPr lang="es-SV" sz="6600" noProof="0" dirty="0">
              <a:solidFill>
                <a:srgbClr val="002060"/>
              </a:solidFill>
              <a:latin typeface="Arial" panose="020B0604020202020204" pitchFamily="34" charset="0"/>
              <a:cs typeface="Arial" panose="020B0604020202020204" pitchFamily="34" charset="0"/>
            </a:endParaRPr>
          </a:p>
        </p:txBody>
      </p:sp>
      <p:sp>
        <p:nvSpPr>
          <p:cNvPr id="5" name="Text 3"/>
          <p:cNvSpPr txBox="1"/>
          <p:nvPr/>
        </p:nvSpPr>
        <p:spPr>
          <a:xfrm>
            <a:off x="1463040" y="1645920"/>
            <a:ext cx="9875520" cy="4008120"/>
          </a:xfrm>
          <a:prstGeom prst="rect">
            <a:avLst/>
          </a:prstGeom>
          <a:noFill/>
          <a:ln/>
        </p:spPr>
        <p:txBody>
          <a:bodyPr wrap="square" lIns="0" tIns="0" rIns="0" bIns="0" rtlCol="0" anchor="t"/>
          <a:lstStyle/>
          <a:p>
            <a:pPr marL="0" indent="0" algn="just">
              <a:lnSpc>
                <a:spcPct val="150000"/>
              </a:lnSpc>
              <a:spcAft>
                <a:spcPts val="1000"/>
              </a:spcAft>
              <a:buNone/>
            </a:pPr>
            <a:r>
              <a:rPr lang="es-SV" sz="1650" b="1" noProof="0" dirty="0">
                <a:solidFill>
                  <a:srgbClr val="002060"/>
                </a:solidFill>
                <a:latin typeface="Arial" panose="020B0604020202020204" pitchFamily="34" charset="0"/>
                <a:cs typeface="Arial" panose="020B0604020202020204" pitchFamily="34" charset="0"/>
              </a:rPr>
              <a:t>Contratar en cumplimiento a la NRP – 27 artículo 40 que establece lo siguiente: </a:t>
            </a:r>
            <a:endParaRPr lang="es-SV" sz="1650" noProof="0" dirty="0">
              <a:solidFill>
                <a:srgbClr val="002060"/>
              </a:solidFill>
              <a:latin typeface="Arial" panose="020B0604020202020204" pitchFamily="34" charset="0"/>
              <a:cs typeface="Arial" panose="020B0604020202020204" pitchFamily="34" charset="0"/>
            </a:endParaRPr>
          </a:p>
          <a:p>
            <a:pPr marL="0" indent="0" algn="just">
              <a:lnSpc>
                <a:spcPct val="150000"/>
              </a:lnSpc>
              <a:spcAft>
                <a:spcPts val="1000"/>
              </a:spcAft>
              <a:buNone/>
            </a:pPr>
            <a:r>
              <a:rPr lang="es-SV" sz="1650" noProof="0" dirty="0">
                <a:solidFill>
                  <a:srgbClr val="002060"/>
                </a:solidFill>
                <a:latin typeface="Arial" panose="020B0604020202020204" pitchFamily="34" charset="0"/>
                <a:cs typeface="Arial" panose="020B0604020202020204" pitchFamily="34" charset="0"/>
              </a:rPr>
              <a:t>Las entidades deberán contar con un Revisor que verifique el cumplimiento del contenido mínimo del informe de valuación establecido en el artículo 33 de las presentes Normas, sin poder modificar en ningún momento el valor de mercado reportado y los valores obtenidos. En caso de haber observaciones, el revisor deberá dejarlas debidamente documentadas, a efectos de que el Perito encargado de su realización subsane las deficiencias o justifique lo observado, de acuerdo con lo establecido en las presentes Normas.</a:t>
            </a:r>
          </a:p>
          <a:p>
            <a:pPr marL="0" indent="0" algn="just">
              <a:lnSpc>
                <a:spcPct val="150000"/>
              </a:lnSpc>
              <a:spcAft>
                <a:spcPts val="1000"/>
              </a:spcAft>
              <a:buNone/>
            </a:pPr>
            <a:r>
              <a:rPr lang="es-SV" sz="1650" noProof="0" dirty="0">
                <a:solidFill>
                  <a:srgbClr val="002060"/>
                </a:solidFill>
                <a:latin typeface="Arial" panose="020B0604020202020204" pitchFamily="34" charset="0"/>
                <a:cs typeface="Arial" panose="020B0604020202020204" pitchFamily="34" charset="0"/>
              </a:rPr>
              <a:t>Al existir diferencia de criterios, el Revisor podrá emitir sus observaciones y opiniones debidamente justificadas y documentadas pero será el Perito quién deberá, si aplica, cambiar algún aspecto previamente definido en el informe de valuación dejándolo debidamente justificado y documentado.</a:t>
            </a: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solidFill>
                  <a:srgbClr val="002060"/>
                </a:solidFill>
                <a:latin typeface="Arial" panose="020B0604020202020204" pitchFamily="34" charset="0"/>
                <a:cs typeface="Arial" panose="020B0604020202020204" pitchFamily="34" charset="0"/>
              </a:rPr>
              <a:t>14</a:t>
            </a:fld>
            <a:endParaRPr lang="es-SV" noProof="0" dirty="0">
              <a:solidFill>
                <a:srgbClr val="002060"/>
              </a:solidFill>
              <a:latin typeface="Arial" panose="020B0604020202020204" pitchFamily="34" charset="0"/>
              <a:cs typeface="Arial" panose="020B0604020202020204" pitchFamily="3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10881360" cy="777240"/>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3: DEPARTAMENTO DE RIESGO ADMINISTRA LOS AVALÚOS</a:t>
            </a:r>
            <a:endParaRPr lang="es-SV" sz="2400" noProof="0" dirty="0">
              <a:latin typeface="Arial" panose="020B0604020202020204" pitchFamily="34" charset="0"/>
              <a:cs typeface="Arial" panose="020B0604020202020204" pitchFamily="34" charset="0"/>
            </a:endParaRPr>
          </a:p>
        </p:txBody>
      </p:sp>
      <p:sp>
        <p:nvSpPr>
          <p:cNvPr id="3" name="Text 1"/>
          <p:cNvSpPr txBox="1"/>
          <p:nvPr/>
        </p:nvSpPr>
        <p:spPr>
          <a:xfrm>
            <a:off x="548640" y="1280160"/>
            <a:ext cx="11064240" cy="548640"/>
          </a:xfrm>
          <a:prstGeom prst="rect">
            <a:avLst/>
          </a:prstGeom>
          <a:noFill/>
          <a:ln/>
        </p:spPr>
        <p:txBody>
          <a:bodyPr wrap="square" lIns="0" tIns="0" rIns="0" bIns="0" rtlCol="0" anchor="t"/>
          <a:lstStyle/>
          <a:p>
            <a:pPr marL="0" indent="0" algn="just">
              <a:buNone/>
            </a:pPr>
            <a:r>
              <a:rPr lang="es-SV" sz="1600" noProof="0" dirty="0">
                <a:solidFill>
                  <a:srgbClr val="002060"/>
                </a:solidFill>
                <a:latin typeface="Arial" panose="020B0604020202020204" pitchFamily="34" charset="0"/>
                <a:cs typeface="Arial" panose="020B0604020202020204" pitchFamily="34" charset="0"/>
              </a:rPr>
              <a:t>Autorizar que el Departamento de Riesgo sea el responsable de la Administración de avalúos y que el Revisor dependa de este Departamento</a:t>
            </a:r>
          </a:p>
        </p:txBody>
      </p:sp>
      <p:sp>
        <p:nvSpPr>
          <p:cNvPr id="4" name="hoy"/>
          <p:cNvSpPr/>
          <p:nvPr/>
        </p:nvSpPr>
        <p:spPr>
          <a:xfrm>
            <a:off x="548640" y="2286000"/>
            <a:ext cx="5120640" cy="3154680"/>
          </a:xfrm>
          <a:prstGeom prst="roundRect">
            <a:avLst>
              <a:gd name="adj" fmla="val 2899"/>
            </a:avLst>
          </a:prstGeom>
          <a:ln/>
        </p:spPr>
        <p:style>
          <a:lnRef idx="1">
            <a:schemeClr val="accent2"/>
          </a:lnRef>
          <a:fillRef idx="3">
            <a:schemeClr val="accent2"/>
          </a:fillRef>
          <a:effectRef idx="2">
            <a:schemeClr val="accent2"/>
          </a:effectRef>
          <a:fontRef idx="minor">
            <a:schemeClr val="lt1"/>
          </a:fontRef>
        </p:style>
        <p:txBody>
          <a:bodyPr/>
          <a:lstStyle/>
          <a:p>
            <a:endParaRPr lang="es-SV" noProof="0" dirty="0">
              <a:latin typeface="Arial" panose="020B0604020202020204" pitchFamily="34" charset="0"/>
              <a:cs typeface="Arial" panose="020B0604020202020204" pitchFamily="34" charset="0"/>
            </a:endParaRPr>
          </a:p>
        </p:txBody>
      </p:sp>
      <p:sp>
        <p:nvSpPr>
          <p:cNvPr id="5" name="Text 3"/>
          <p:cNvSpPr txBox="1"/>
          <p:nvPr/>
        </p:nvSpPr>
        <p:spPr>
          <a:xfrm>
            <a:off x="868680" y="2514600"/>
            <a:ext cx="543025" cy="320040"/>
          </a:xfrm>
          <a:prstGeom prst="rect">
            <a:avLst/>
          </a:prstGeom>
          <a:noFill/>
          <a:ln/>
        </p:spPr>
        <p:txBody>
          <a:bodyPr wrap="square" lIns="0" tIns="0" rIns="0" bIns="0" rtlCol="0" anchor="t"/>
          <a:lstStyle/>
          <a:p>
            <a:pPr marL="0" indent="0">
              <a:buNone/>
            </a:pPr>
            <a:r>
              <a:rPr lang="es-SV" sz="1900" b="1" noProof="0" dirty="0">
                <a:solidFill>
                  <a:srgbClr val="002060"/>
                </a:solidFill>
                <a:latin typeface="Arial" panose="020B0604020202020204" pitchFamily="34" charset="0"/>
                <a:cs typeface="Arial" panose="020B0604020202020204" pitchFamily="34" charset="0"/>
              </a:rPr>
              <a:t>Hoy</a:t>
            </a:r>
            <a:endParaRPr lang="es-SV" sz="1900" noProof="0" dirty="0">
              <a:solidFill>
                <a:srgbClr val="002060"/>
              </a:solidFill>
              <a:latin typeface="Arial" panose="020B0604020202020204" pitchFamily="34" charset="0"/>
              <a:cs typeface="Arial" panose="020B0604020202020204" pitchFamily="34" charset="0"/>
            </a:endParaRPr>
          </a:p>
        </p:txBody>
      </p:sp>
      <p:sp>
        <p:nvSpPr>
          <p:cNvPr id="6" name="Text 4"/>
          <p:cNvSpPr txBox="1"/>
          <p:nvPr/>
        </p:nvSpPr>
        <p:spPr>
          <a:xfrm>
            <a:off x="868680" y="3108960"/>
            <a:ext cx="4572000" cy="1430956"/>
          </a:xfrm>
          <a:prstGeom prst="rect">
            <a:avLst/>
          </a:prstGeom>
          <a:noFill/>
          <a:ln/>
        </p:spPr>
        <p:txBody>
          <a:bodyPr wrap="square" lIns="0" tIns="0" rIns="0" bIns="0" rtlCol="0" anchor="t"/>
          <a:lstStyle/>
          <a:p>
            <a:pPr marL="342900" indent="-342900">
              <a:spcAft>
                <a:spcPts val="1400"/>
              </a:spcAft>
              <a:buSzPct val="100000"/>
              <a:buChar char="•"/>
            </a:pPr>
            <a:r>
              <a:rPr lang="es-SV" sz="1450" noProof="0" dirty="0">
                <a:solidFill>
                  <a:srgbClr val="002060"/>
                </a:solidFill>
                <a:latin typeface="Arial" panose="020B0604020202020204" pitchFamily="34" charset="0"/>
                <a:cs typeface="Arial" panose="020B0604020202020204" pitchFamily="34" charset="0"/>
              </a:rPr>
              <a:t>4 gerencias y 28 personas intervienen</a:t>
            </a:r>
          </a:p>
          <a:p>
            <a:pPr marL="342900" indent="-342900">
              <a:spcAft>
                <a:spcPts val="1400"/>
              </a:spcAft>
              <a:buSzPct val="100000"/>
              <a:buChar char="•"/>
            </a:pPr>
            <a:r>
              <a:rPr lang="es-SV" sz="1450" noProof="0" dirty="0">
                <a:solidFill>
                  <a:srgbClr val="002060"/>
                </a:solidFill>
                <a:latin typeface="Arial" panose="020B0604020202020204" pitchFamily="34" charset="0"/>
                <a:cs typeface="Arial" panose="020B0604020202020204" pitchFamily="34" charset="0"/>
              </a:rPr>
              <a:t>No existe un área de control centralizada</a:t>
            </a:r>
          </a:p>
          <a:p>
            <a:pPr marL="342900" indent="-342900">
              <a:spcAft>
                <a:spcPts val="1400"/>
              </a:spcAft>
              <a:buSzPct val="100000"/>
              <a:buChar char="•"/>
            </a:pPr>
            <a:r>
              <a:rPr lang="es-SV" sz="1450" noProof="0" dirty="0">
                <a:solidFill>
                  <a:srgbClr val="002060"/>
                </a:solidFill>
                <a:latin typeface="Arial" panose="020B0604020202020204" pitchFamily="34" charset="0"/>
                <a:cs typeface="Arial" panose="020B0604020202020204" pitchFamily="34" charset="0"/>
              </a:rPr>
              <a:t>Observaciones reiterativas de la SSF</a:t>
            </a:r>
          </a:p>
          <a:p>
            <a:pPr marL="342900" indent="-342900">
              <a:spcAft>
                <a:spcPts val="1400"/>
              </a:spcAft>
              <a:buSzPct val="100000"/>
              <a:buChar char="•"/>
            </a:pPr>
            <a:r>
              <a:rPr lang="es-SV" sz="1450" noProof="0" dirty="0">
                <a:solidFill>
                  <a:srgbClr val="002060"/>
                </a:solidFill>
                <a:latin typeface="Arial" panose="020B0604020202020204" pitchFamily="34" charset="0"/>
                <a:cs typeface="Arial" panose="020B0604020202020204" pitchFamily="34" charset="0"/>
              </a:rPr>
              <a:t>Falta de Políticas y Procedimientos internos</a:t>
            </a:r>
          </a:p>
        </p:txBody>
      </p:sp>
      <p:pic>
        <p:nvPicPr>
          <p:cNvPr id="7" name="flecha" descr="preencoded.png"/>
          <p:cNvPicPr>
            <a:picLocks noChangeAspect="1"/>
          </p:cNvPicPr>
          <p:nvPr/>
        </p:nvPicPr>
        <p:blipFill>
          <a:blip r:embed="rId3">
            <a:extLst>
              <a:ext uri="{BEBA8EAE-BF5A-486C-A8C5-ECC9F3942E4B}">
                <a14:imgProps xmlns:a14="http://schemas.microsoft.com/office/drawing/2010/main">
                  <a14:imgLayer r:embed="rId4">
                    <a14:imgEffect>
                      <a14:colorTemperature colorTemp="4700"/>
                    </a14:imgEffect>
                  </a14:imgLayer>
                </a14:imgProps>
              </a:ext>
            </a:extLst>
          </a:blip>
          <a:stretch>
            <a:fillRect/>
          </a:stretch>
        </p:blipFill>
        <p:spPr>
          <a:xfrm>
            <a:off x="5806440" y="3611880"/>
            <a:ext cx="548640" cy="548640"/>
          </a:xfrm>
          <a:prstGeom prst="rect">
            <a:avLst/>
          </a:prstGeom>
        </p:spPr>
      </p:pic>
      <p:sp>
        <p:nvSpPr>
          <p:cNvPr id="8" name="Text 5"/>
          <p:cNvSpPr txBox="1"/>
          <p:nvPr/>
        </p:nvSpPr>
        <p:spPr>
          <a:xfrm>
            <a:off x="6492240" y="2286000"/>
            <a:ext cx="5120640" cy="457200"/>
          </a:xfrm>
          <a:prstGeom prst="rect">
            <a:avLst/>
          </a:prstGeom>
          <a:noFill/>
          <a:ln/>
        </p:spPr>
        <p:txBody>
          <a:bodyPr wrap="square" lIns="0" tIns="0" rIns="0" bIns="0" rtlCol="0" anchor="t"/>
          <a:lstStyle/>
          <a:p>
            <a:pPr marL="0" indent="0">
              <a:buNone/>
            </a:pPr>
            <a:r>
              <a:rPr lang="es-SV" sz="1900" b="1" noProof="0" dirty="0">
                <a:solidFill>
                  <a:srgbClr val="002060"/>
                </a:solidFill>
                <a:latin typeface="Arial" panose="020B0604020202020204" pitchFamily="34" charset="0"/>
                <a:cs typeface="Arial" panose="020B0604020202020204" pitchFamily="34" charset="0"/>
              </a:rPr>
              <a:t>Propuesta</a:t>
            </a:r>
            <a:endParaRPr lang="es-SV" sz="1900" noProof="0" dirty="0">
              <a:solidFill>
                <a:srgbClr val="002060"/>
              </a:solidFill>
              <a:latin typeface="Arial" panose="020B0604020202020204" pitchFamily="34" charset="0"/>
              <a:cs typeface="Arial" panose="020B0604020202020204" pitchFamily="34" charset="0"/>
            </a:endParaRPr>
          </a:p>
        </p:txBody>
      </p:sp>
      <p:sp>
        <p:nvSpPr>
          <p:cNvPr id="9" name="org 1"/>
          <p:cNvSpPr/>
          <p:nvPr/>
        </p:nvSpPr>
        <p:spPr>
          <a:xfrm>
            <a:off x="6492240" y="2834640"/>
            <a:ext cx="5120640" cy="685800"/>
          </a:xfrm>
          <a:prstGeom prst="roundRect">
            <a:avLst>
              <a:gd name="adj" fmla="val 13333"/>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a:lstStyle/>
          <a:p>
            <a:endParaRPr lang="es-SV" noProof="0" dirty="0">
              <a:latin typeface="Arial" panose="020B0604020202020204" pitchFamily="34" charset="0"/>
              <a:cs typeface="Arial" panose="020B0604020202020204" pitchFamily="34" charset="0"/>
            </a:endParaRPr>
          </a:p>
        </p:txBody>
      </p:sp>
      <p:sp>
        <p:nvSpPr>
          <p:cNvPr id="10" name="Text 7"/>
          <p:cNvSpPr txBox="1"/>
          <p:nvPr/>
        </p:nvSpPr>
        <p:spPr>
          <a:xfrm>
            <a:off x="8212354" y="3017520"/>
            <a:ext cx="1680410" cy="274320"/>
          </a:xfrm>
          <a:prstGeom prst="rect">
            <a:avLst/>
          </a:prstGeom>
          <a:noFill/>
          <a:ln/>
        </p:spPr>
        <p:txBody>
          <a:bodyPr wrap="square" lIns="0" tIns="0" rIns="0" bIns="0" rtlCol="0" anchor="ctr"/>
          <a:lstStyle/>
          <a:p>
            <a:pPr marL="0" indent="0" algn="ctr">
              <a:buNone/>
            </a:pPr>
            <a:r>
              <a:rPr lang="es-SV" sz="1400" b="1" noProof="0" dirty="0">
                <a:solidFill>
                  <a:schemeClr val="bg1"/>
                </a:solidFill>
                <a:latin typeface="Arial" panose="020B0604020202020204" pitchFamily="34" charset="0"/>
                <a:cs typeface="Arial" panose="020B0604020202020204" pitchFamily="34" charset="0"/>
              </a:rPr>
              <a:t>Gerencia General</a:t>
            </a:r>
            <a:endParaRPr lang="es-SV" sz="1400" noProof="0" dirty="0">
              <a:latin typeface="Arial" panose="020B0604020202020204" pitchFamily="34" charset="0"/>
              <a:cs typeface="Arial" panose="020B0604020202020204" pitchFamily="34" charset="0"/>
            </a:endParaRPr>
          </a:p>
        </p:txBody>
      </p:sp>
      <p:sp>
        <p:nvSpPr>
          <p:cNvPr id="11" name="org line 1"/>
          <p:cNvSpPr/>
          <p:nvPr/>
        </p:nvSpPr>
        <p:spPr>
          <a:xfrm>
            <a:off x="9052560" y="3520440"/>
            <a:ext cx="0" cy="274320"/>
          </a:xfrm>
          <a:prstGeom prst="line">
            <a:avLst/>
          </a:prstGeom>
          <a:noFill/>
          <a:ln w="25400">
            <a:solidFill>
              <a:srgbClr val="5F7590"/>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2" name="org 2"/>
          <p:cNvSpPr/>
          <p:nvPr/>
        </p:nvSpPr>
        <p:spPr>
          <a:xfrm>
            <a:off x="6492240" y="3794760"/>
            <a:ext cx="5120640" cy="685800"/>
          </a:xfrm>
          <a:prstGeom prst="roundRect">
            <a:avLst>
              <a:gd name="adj" fmla="val 13333"/>
            </a:avLst>
          </a:prstGeom>
          <a:ln/>
        </p:spPr>
        <p:style>
          <a:lnRef idx="0">
            <a:schemeClr val="accent1"/>
          </a:lnRef>
          <a:fillRef idx="3">
            <a:schemeClr val="accent1"/>
          </a:fillRef>
          <a:effectRef idx="3">
            <a:schemeClr val="accent1"/>
          </a:effectRef>
          <a:fontRef idx="minor">
            <a:schemeClr val="lt1"/>
          </a:fontRef>
        </p:style>
        <p:txBody>
          <a:bodyPr/>
          <a:lstStyle/>
          <a:p>
            <a:endParaRPr lang="es-SV" noProof="0" dirty="0">
              <a:latin typeface="Arial" panose="020B0604020202020204" pitchFamily="34" charset="0"/>
              <a:cs typeface="Arial" panose="020B0604020202020204" pitchFamily="34" charset="0"/>
            </a:endParaRPr>
          </a:p>
        </p:txBody>
      </p:sp>
      <p:sp>
        <p:nvSpPr>
          <p:cNvPr id="13" name="Text 10"/>
          <p:cNvSpPr txBox="1"/>
          <p:nvPr/>
        </p:nvSpPr>
        <p:spPr>
          <a:xfrm>
            <a:off x="7125501" y="4023360"/>
            <a:ext cx="3854116" cy="274320"/>
          </a:xfrm>
          <a:prstGeom prst="rect">
            <a:avLst/>
          </a:prstGeom>
          <a:noFill/>
          <a:ln/>
        </p:spPr>
        <p:txBody>
          <a:bodyPr wrap="square" lIns="0" tIns="0" rIns="0" bIns="0" rtlCol="0" anchor="ctr"/>
          <a:lstStyle/>
          <a:p>
            <a:pPr marL="0" indent="0" algn="ctr">
              <a:buNone/>
            </a:pPr>
            <a:r>
              <a:rPr lang="es-SV" sz="1400" b="1" noProof="0" dirty="0">
                <a:solidFill>
                  <a:schemeClr val="bg1"/>
                </a:solidFill>
                <a:latin typeface="Arial" panose="020B0604020202020204" pitchFamily="34" charset="0"/>
                <a:cs typeface="Arial" panose="020B0604020202020204" pitchFamily="34" charset="0"/>
              </a:rPr>
              <a:t>Departamento de Administración de Riesgos</a:t>
            </a:r>
            <a:endParaRPr lang="es-SV" sz="1400" noProof="0" dirty="0">
              <a:latin typeface="Arial" panose="020B0604020202020204" pitchFamily="34" charset="0"/>
              <a:cs typeface="Arial" panose="020B0604020202020204" pitchFamily="34" charset="0"/>
            </a:endParaRPr>
          </a:p>
        </p:txBody>
      </p:sp>
      <p:sp>
        <p:nvSpPr>
          <p:cNvPr id="14" name="org line 2"/>
          <p:cNvSpPr/>
          <p:nvPr/>
        </p:nvSpPr>
        <p:spPr>
          <a:xfrm>
            <a:off x="9052560" y="4480560"/>
            <a:ext cx="0" cy="274320"/>
          </a:xfrm>
          <a:prstGeom prst="line">
            <a:avLst/>
          </a:prstGeom>
          <a:noFill/>
          <a:ln w="25400">
            <a:solidFill>
              <a:srgbClr val="5F7590"/>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5" name="org 3"/>
          <p:cNvSpPr/>
          <p:nvPr/>
        </p:nvSpPr>
        <p:spPr>
          <a:xfrm>
            <a:off x="6492240" y="4754880"/>
            <a:ext cx="5120640" cy="685800"/>
          </a:xfrm>
          <a:prstGeom prst="roundRect">
            <a:avLst>
              <a:gd name="adj" fmla="val 13333"/>
            </a:avLst>
          </a:prstGeom>
          <a:solidFill>
            <a:srgbClr val="00376E"/>
          </a:solidFill>
          <a:ln w="12700">
            <a:solidFill>
              <a:srgbClr val="00376E"/>
            </a:solidFill>
            <a:prstDash val="solid"/>
          </a:ln>
        </p:spPr>
        <p:txBody>
          <a:bodyPr/>
          <a:lstStyle/>
          <a:p>
            <a:endParaRPr lang="es-SV" noProof="0" dirty="0">
              <a:latin typeface="Arial" panose="020B0604020202020204" pitchFamily="34" charset="0"/>
              <a:cs typeface="Arial" panose="020B0604020202020204" pitchFamily="34" charset="0"/>
            </a:endParaRPr>
          </a:p>
        </p:txBody>
      </p:sp>
      <p:sp>
        <p:nvSpPr>
          <p:cNvPr id="16" name="Text 13"/>
          <p:cNvSpPr txBox="1"/>
          <p:nvPr/>
        </p:nvSpPr>
        <p:spPr>
          <a:xfrm>
            <a:off x="7534576" y="4960620"/>
            <a:ext cx="3035967" cy="274320"/>
          </a:xfrm>
          <a:prstGeom prst="rect">
            <a:avLst/>
          </a:prstGeom>
          <a:noFill/>
          <a:ln/>
        </p:spPr>
        <p:txBody>
          <a:bodyPr wrap="square" lIns="0" tIns="0" rIns="0" bIns="0" rtlCol="0" anchor="ctr"/>
          <a:lstStyle/>
          <a:p>
            <a:pPr marL="0" indent="0" algn="ctr">
              <a:buNone/>
            </a:pPr>
            <a:r>
              <a:rPr lang="es-SV" sz="1400" b="1" noProof="0" dirty="0">
                <a:solidFill>
                  <a:schemeClr val="bg1"/>
                </a:solidFill>
                <a:latin typeface="Arial" panose="020B0604020202020204" pitchFamily="34" charset="0"/>
                <a:cs typeface="Arial" panose="020B0604020202020204" pitchFamily="34" charset="0"/>
              </a:rPr>
              <a:t>Revisor de Avalúos (NRP-27 art. 40)</a:t>
            </a:r>
            <a:endParaRPr lang="es-SV" sz="1400" noProof="0" dirty="0">
              <a:latin typeface="Arial" panose="020B0604020202020204" pitchFamily="34" charset="0"/>
              <a:cs typeface="Arial" panose="020B0604020202020204" pitchFamily="34" charset="0"/>
            </a:endParaRPr>
          </a:p>
        </p:txBody>
      </p:sp>
      <p:sp>
        <p:nvSpPr>
          <p:cNvPr id="17" name="Text 14"/>
          <p:cNvSpPr txBox="1"/>
          <p:nvPr/>
        </p:nvSpPr>
        <p:spPr>
          <a:xfrm>
            <a:off x="6903720" y="5564204"/>
            <a:ext cx="4297680" cy="387417"/>
          </a:xfrm>
          <a:prstGeom prst="rect">
            <a:avLst/>
          </a:prstGeom>
          <a:noFill/>
          <a:ln/>
        </p:spPr>
        <p:txBody>
          <a:bodyPr wrap="square" lIns="0" tIns="0" rIns="0" bIns="0" rtlCol="0" anchor="t"/>
          <a:lstStyle/>
          <a:p>
            <a:pPr marL="0" indent="0" algn="ctr">
              <a:buNone/>
            </a:pPr>
            <a:r>
              <a:rPr lang="es-SV" sz="1100" i="1" noProof="0" dirty="0">
                <a:solidFill>
                  <a:srgbClr val="002060"/>
                </a:solidFill>
                <a:latin typeface="Arial" panose="020B0604020202020204" pitchFamily="34" charset="0"/>
                <a:cs typeface="Arial" panose="020B0604020202020204" pitchFamily="34" charset="0"/>
              </a:rPr>
              <a:t>Área de control centralizada del cumplimiento normativo, seguimiento y calidad de información de la garantía</a:t>
            </a:r>
            <a:endParaRPr lang="es-SV" sz="1100" noProof="0" dirty="0">
              <a:solidFill>
                <a:srgbClr val="002060"/>
              </a:solidFill>
              <a:latin typeface="Arial" panose="020B0604020202020204" pitchFamily="34" charset="0"/>
              <a:cs typeface="Arial" panose="020B0604020202020204" pitchFamily="34" charset="0"/>
            </a:endParaRPr>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15</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chemeClr val="bg1">
            <a:alpha val="65000"/>
          </a:schemeClr>
        </a:solidFill>
        <a:effectLst/>
      </p:bgPr>
    </p:bg>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777240" y="563880"/>
            <a:ext cx="9707880" cy="423672"/>
          </a:xfrm>
          <a:prstGeom prst="rect">
            <a:avLst/>
          </a:prstGeom>
          <a:noFill/>
          <a:ln/>
        </p:spPr>
        <p:txBody>
          <a:bodyPr wrap="square" lIns="0" tIns="0" rIns="0" bIns="0" rtlCol="0" anchor="b"/>
          <a:lstStyle/>
          <a:p>
            <a:pPr marL="0" indent="0" algn="l">
              <a:buNone/>
            </a:pPr>
            <a:r>
              <a:rPr lang="es-SV" sz="3200" b="1" noProof="0" dirty="0">
                <a:solidFill>
                  <a:srgbClr val="002060"/>
                </a:solidFill>
                <a:latin typeface="Arial" panose="020B0604020202020204" pitchFamily="34" charset="0"/>
                <a:cs typeface="Arial" panose="020B0604020202020204" pitchFamily="34" charset="0"/>
              </a:rPr>
              <a:t>SE SOLICITA AL COMITÉ DE RIESGO AUTORIZAR</a:t>
            </a:r>
            <a:endParaRPr lang="es-SV" sz="3200" noProof="0" dirty="0">
              <a:solidFill>
                <a:srgbClr val="002060"/>
              </a:solidFill>
              <a:latin typeface="Arial" panose="020B0604020202020204" pitchFamily="34" charset="0"/>
              <a:cs typeface="Arial" panose="020B0604020202020204" pitchFamily="34" charset="0"/>
            </a:endParaRPr>
          </a:p>
        </p:txBody>
      </p:sp>
      <p:sp>
        <p:nvSpPr>
          <p:cNvPr id="3" name="check 1"/>
          <p:cNvSpPr/>
          <p:nvPr/>
        </p:nvSpPr>
        <p:spPr>
          <a:xfrm>
            <a:off x="731520" y="2221992"/>
            <a:ext cx="594360" cy="594360"/>
          </a:xfrm>
          <a:prstGeom prst="ellipse">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solidFill>
                <a:srgbClr val="002060"/>
              </a:solidFill>
              <a:latin typeface="Arial" panose="020B0604020202020204" pitchFamily="34" charset="0"/>
              <a:cs typeface="Arial" panose="020B0604020202020204" pitchFamily="34" charset="0"/>
            </a:endParaRPr>
          </a:p>
        </p:txBody>
      </p:sp>
      <p:pic>
        <p:nvPicPr>
          <p:cNvPr id="4" name="check icon 1" descr="preencoded.png"/>
          <p:cNvPicPr>
            <a:picLocks noChangeAspect="1"/>
          </p:cNvPicPr>
          <p:nvPr/>
        </p:nvPicPr>
        <p:blipFill>
          <a:blip r:embed="rId3"/>
          <a:stretch>
            <a:fillRect/>
          </a:stretch>
        </p:blipFill>
        <p:spPr>
          <a:xfrm>
            <a:off x="850392" y="2340864"/>
            <a:ext cx="365760" cy="365760"/>
          </a:xfrm>
          <a:prstGeom prst="rect">
            <a:avLst/>
          </a:prstGeom>
        </p:spPr>
      </p:pic>
      <p:sp>
        <p:nvSpPr>
          <p:cNvPr id="5" name="Text 2"/>
          <p:cNvSpPr txBox="1"/>
          <p:nvPr/>
        </p:nvSpPr>
        <p:spPr>
          <a:xfrm>
            <a:off x="1600200" y="2130552"/>
            <a:ext cx="6580762" cy="777240"/>
          </a:xfrm>
          <a:prstGeom prst="rect">
            <a:avLst/>
          </a:prstGeom>
          <a:noFill/>
          <a:ln/>
        </p:spPr>
        <p:txBody>
          <a:bodyPr wrap="square" lIns="0" tIns="0" rIns="0" bIns="0" rtlCol="0" anchor="ctr"/>
          <a:lstStyle/>
          <a:p>
            <a:pPr marL="0" indent="0" algn="just">
              <a:buNone/>
            </a:pPr>
            <a:r>
              <a:rPr lang="es-SV" sz="1600" noProof="0" dirty="0">
                <a:solidFill>
                  <a:srgbClr val="002060"/>
                </a:solidFill>
                <a:latin typeface="Arial" panose="020B0604020202020204" pitchFamily="34" charset="0"/>
                <a:cs typeface="Arial" panose="020B0604020202020204" pitchFamily="34" charset="0"/>
              </a:rPr>
              <a:t>La Política Administración de Avalúos (NRP-27 y NCB 022), para ser presentada al Consejo de Administración para su Aprobación</a:t>
            </a:r>
          </a:p>
        </p:txBody>
      </p:sp>
      <p:sp>
        <p:nvSpPr>
          <p:cNvPr id="6" name="check 2"/>
          <p:cNvSpPr/>
          <p:nvPr/>
        </p:nvSpPr>
        <p:spPr>
          <a:xfrm>
            <a:off x="731520" y="3273552"/>
            <a:ext cx="594360" cy="594360"/>
          </a:xfrm>
          <a:prstGeom prst="ellipse">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solidFill>
                <a:srgbClr val="002060"/>
              </a:solidFill>
              <a:latin typeface="Arial" panose="020B0604020202020204" pitchFamily="34" charset="0"/>
              <a:cs typeface="Arial" panose="020B0604020202020204" pitchFamily="34" charset="0"/>
            </a:endParaRPr>
          </a:p>
        </p:txBody>
      </p:sp>
      <p:pic>
        <p:nvPicPr>
          <p:cNvPr id="7" name="check icon 2" descr="preencoded.png"/>
          <p:cNvPicPr>
            <a:picLocks noChangeAspect="1"/>
          </p:cNvPicPr>
          <p:nvPr/>
        </p:nvPicPr>
        <p:blipFill>
          <a:blip r:embed="rId3"/>
          <a:stretch>
            <a:fillRect/>
          </a:stretch>
        </p:blipFill>
        <p:spPr>
          <a:xfrm>
            <a:off x="850392" y="3392424"/>
            <a:ext cx="365760" cy="365760"/>
          </a:xfrm>
          <a:prstGeom prst="rect">
            <a:avLst/>
          </a:prstGeom>
        </p:spPr>
      </p:pic>
      <p:sp>
        <p:nvSpPr>
          <p:cNvPr id="8" name="Text 4"/>
          <p:cNvSpPr txBox="1"/>
          <p:nvPr/>
        </p:nvSpPr>
        <p:spPr>
          <a:xfrm>
            <a:off x="1600200" y="3182112"/>
            <a:ext cx="6580762" cy="777240"/>
          </a:xfrm>
          <a:prstGeom prst="rect">
            <a:avLst/>
          </a:prstGeom>
          <a:noFill/>
          <a:ln/>
        </p:spPr>
        <p:txBody>
          <a:bodyPr wrap="square" lIns="0" tIns="0" rIns="0" bIns="0" rtlCol="0" anchor="ctr"/>
          <a:lstStyle/>
          <a:p>
            <a:pPr marL="0" indent="0" algn="just">
              <a:buNone/>
            </a:pPr>
            <a:r>
              <a:rPr lang="es-SV" sz="1600" noProof="0" dirty="0">
                <a:solidFill>
                  <a:srgbClr val="002060"/>
                </a:solidFill>
                <a:latin typeface="Arial" panose="020B0604020202020204" pitchFamily="34" charset="0"/>
                <a:cs typeface="Arial" panose="020B0604020202020204" pitchFamily="34" charset="0"/>
              </a:rPr>
              <a:t>La contratación de un Revisor en cumplimiento a la NRP-27 artículo 40</a:t>
            </a:r>
          </a:p>
        </p:txBody>
      </p:sp>
      <p:sp>
        <p:nvSpPr>
          <p:cNvPr id="9" name="check 3"/>
          <p:cNvSpPr/>
          <p:nvPr/>
        </p:nvSpPr>
        <p:spPr>
          <a:xfrm>
            <a:off x="731520" y="4325112"/>
            <a:ext cx="594360" cy="594360"/>
          </a:xfrm>
          <a:prstGeom prst="ellipse">
            <a:avLst/>
          </a:prstGeom>
          <a:ln/>
        </p:spPr>
        <p:style>
          <a:lnRef idx="2">
            <a:schemeClr val="accent2"/>
          </a:lnRef>
          <a:fillRef idx="1">
            <a:schemeClr val="lt1"/>
          </a:fillRef>
          <a:effectRef idx="0">
            <a:schemeClr val="accent2"/>
          </a:effectRef>
          <a:fontRef idx="minor">
            <a:schemeClr val="dk1"/>
          </a:fontRef>
        </p:style>
        <p:txBody>
          <a:bodyPr/>
          <a:lstStyle/>
          <a:p>
            <a:endParaRPr lang="es-SV" noProof="0" dirty="0">
              <a:solidFill>
                <a:srgbClr val="002060"/>
              </a:solidFill>
              <a:latin typeface="Arial" panose="020B0604020202020204" pitchFamily="34" charset="0"/>
              <a:cs typeface="Arial" panose="020B0604020202020204" pitchFamily="34" charset="0"/>
            </a:endParaRPr>
          </a:p>
        </p:txBody>
      </p:sp>
      <p:pic>
        <p:nvPicPr>
          <p:cNvPr id="10" name="check icon 3" descr="preencoded.png"/>
          <p:cNvPicPr>
            <a:picLocks noChangeAspect="1"/>
          </p:cNvPicPr>
          <p:nvPr/>
        </p:nvPicPr>
        <p:blipFill>
          <a:blip r:embed="rId3"/>
          <a:stretch>
            <a:fillRect/>
          </a:stretch>
        </p:blipFill>
        <p:spPr>
          <a:xfrm>
            <a:off x="850392" y="4443984"/>
            <a:ext cx="365760" cy="365760"/>
          </a:xfrm>
          <a:prstGeom prst="rect">
            <a:avLst/>
          </a:prstGeom>
        </p:spPr>
      </p:pic>
      <p:sp>
        <p:nvSpPr>
          <p:cNvPr id="11" name="Text 6"/>
          <p:cNvSpPr txBox="1"/>
          <p:nvPr/>
        </p:nvSpPr>
        <p:spPr>
          <a:xfrm>
            <a:off x="1600200" y="4233672"/>
            <a:ext cx="6580762" cy="777240"/>
          </a:xfrm>
          <a:prstGeom prst="rect">
            <a:avLst/>
          </a:prstGeom>
          <a:noFill/>
          <a:ln/>
        </p:spPr>
        <p:txBody>
          <a:bodyPr wrap="square" lIns="0" tIns="0" rIns="0" bIns="0" rtlCol="0" anchor="ctr"/>
          <a:lstStyle/>
          <a:p>
            <a:pPr marL="0" indent="0" algn="just">
              <a:buNone/>
            </a:pPr>
            <a:r>
              <a:rPr lang="es-SV" sz="1600" noProof="0" dirty="0">
                <a:solidFill>
                  <a:srgbClr val="002060"/>
                </a:solidFill>
                <a:latin typeface="Arial" panose="020B0604020202020204" pitchFamily="34" charset="0"/>
                <a:cs typeface="Arial" panose="020B0604020202020204" pitchFamily="34" charset="0"/>
              </a:rPr>
              <a:t>Que el Departamento de Riesgo sea el responsable de la Administración de avalúos y que el Revisor dependa de este Departamento</a:t>
            </a:r>
          </a:p>
        </p:txBody>
      </p:sp>
      <p:pic>
        <p:nvPicPr>
          <p:cNvPr id="14" name="onda lateral" descr="/tmp/claude-0/-home-user-riesgo/74e9c8ad-7a43-5903-a089-2edd8047c387/scratchpad/assets/wave_side.png">
            <a:extLst>
              <a:ext uri="{FF2B5EF4-FFF2-40B4-BE49-F238E27FC236}">
                <a16:creationId xmlns:a16="http://schemas.microsoft.com/office/drawing/2014/main" id="{3FC7F1DB-1D1C-B0EA-C01A-F527F956BE4B}"/>
              </a:ext>
            </a:extLst>
          </p:cNvPr>
          <p:cNvPicPr>
            <a:picLocks noChangeAspect="1"/>
          </p:cNvPicPr>
          <p:nvPr/>
        </p:nvPicPr>
        <p:blipFill>
          <a:blip r:embed="rId4"/>
          <a:stretch>
            <a:fillRect/>
          </a:stretch>
        </p:blipFill>
        <p:spPr>
          <a:xfrm>
            <a:off x="8068056" y="0"/>
            <a:ext cx="4123944" cy="6858000"/>
          </a:xfrm>
          <a:prstGeom prst="rect">
            <a:avLst/>
          </a:prstGeom>
        </p:spPr>
      </p:pic>
      <p:pic>
        <p:nvPicPr>
          <p:cNvPr id="16" name="logo" descr="/tmp/claude-0/-home-user-riesgo/74e9c8ad-7a43-5903-a089-2edd8047c387/scratchpad/assets/logo_white.png">
            <a:extLst>
              <a:ext uri="{FF2B5EF4-FFF2-40B4-BE49-F238E27FC236}">
                <a16:creationId xmlns:a16="http://schemas.microsoft.com/office/drawing/2014/main" id="{8800E0E4-7EDE-96DB-34B2-6E9A789E0A83}"/>
              </a:ext>
            </a:extLst>
          </p:cNvPr>
          <p:cNvPicPr>
            <a:picLocks noChangeAspect="1"/>
          </p:cNvPicPr>
          <p:nvPr/>
        </p:nvPicPr>
        <p:blipFill>
          <a:blip r:embed="rId5"/>
          <a:stretch>
            <a:fillRect/>
          </a:stretch>
        </p:blipFill>
        <p:spPr>
          <a:xfrm>
            <a:off x="9314688" y="5097780"/>
            <a:ext cx="2340864" cy="158191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00376E"/>
        </a:solidFill>
        <a:effectLst/>
      </p:bgPr>
    </p:bg>
    <p:spTree>
      <p:nvGrpSpPr>
        <p:cNvPr id="1" name=""/>
        <p:cNvGrpSpPr/>
        <p:nvPr/>
      </p:nvGrpSpPr>
      <p:grpSpPr>
        <a:xfrm>
          <a:off x="0" y="0"/>
          <a:ext cx="0" cy="0"/>
          <a:chOff x="0" y="0"/>
          <a:chExt cx="0" cy="0"/>
        </a:xfrm>
      </p:grpSpPr>
      <p:sp>
        <p:nvSpPr>
          <p:cNvPr id="2" name="Text 0"/>
          <p:cNvSpPr txBox="1"/>
          <p:nvPr/>
        </p:nvSpPr>
        <p:spPr>
          <a:xfrm>
            <a:off x="2324102" y="2880360"/>
            <a:ext cx="3619498" cy="1097280"/>
          </a:xfrm>
          <a:prstGeom prst="rect">
            <a:avLst/>
          </a:prstGeom>
          <a:noFill/>
          <a:ln/>
        </p:spPr>
        <p:txBody>
          <a:bodyPr wrap="square" lIns="0" tIns="0" rIns="0" bIns="0" rtlCol="0" anchor="ctr"/>
          <a:lstStyle/>
          <a:p>
            <a:pPr marL="0" indent="0" algn="r">
              <a:buNone/>
            </a:pPr>
            <a:r>
              <a:rPr lang="es-SV" sz="2600" noProof="0" dirty="0">
                <a:solidFill>
                  <a:schemeClr val="bg1"/>
                </a:solidFill>
              </a:rPr>
              <a:t>COMITÉ DE RIESGOS</a:t>
            </a:r>
            <a:endParaRPr lang="es-SV" sz="2600" noProof="0" dirty="0"/>
          </a:p>
        </p:txBody>
      </p:sp>
      <p:sp>
        <p:nvSpPr>
          <p:cNvPr id="3" name="divisor"/>
          <p:cNvSpPr/>
          <p:nvPr/>
        </p:nvSpPr>
        <p:spPr>
          <a:xfrm>
            <a:off x="6263640" y="2606040"/>
            <a:ext cx="0" cy="1645920"/>
          </a:xfrm>
          <a:prstGeom prst="line">
            <a:avLst/>
          </a:prstGeom>
          <a:noFill/>
          <a:ln w="15875">
            <a:solidFill>
              <a:srgbClr val="FFFFFF"/>
            </a:solidFill>
            <a:prstDash val="solid"/>
          </a:ln>
        </p:spPr>
        <p:txBody>
          <a:bodyPr/>
          <a:lstStyle/>
          <a:p>
            <a:endParaRPr lang="es-SV" noProof="0" dirty="0"/>
          </a:p>
        </p:txBody>
      </p:sp>
      <p:pic>
        <p:nvPicPr>
          <p:cNvPr id="4" name="logo" descr="/tmp/claude-0/-home-user-riesgo/74e9c8ad-7a43-5903-a089-2edd8047c387/scratchpad/assets/logo_white.png"/>
          <p:cNvPicPr>
            <a:picLocks noChangeAspect="1"/>
          </p:cNvPicPr>
          <p:nvPr/>
        </p:nvPicPr>
        <p:blipFill>
          <a:blip r:embed="rId3"/>
          <a:stretch>
            <a:fillRect/>
          </a:stretch>
        </p:blipFill>
        <p:spPr>
          <a:xfrm>
            <a:off x="6434709" y="2638044"/>
            <a:ext cx="2340864" cy="158191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777240" y="347472"/>
            <a:ext cx="9995034" cy="636422"/>
          </a:xfrm>
          <a:prstGeom prst="rect">
            <a:avLst/>
          </a:prstGeom>
          <a:noFill/>
          <a:ln/>
        </p:spPr>
        <p:txBody>
          <a:bodyPr wrap="square" lIns="0" tIns="0" rIns="0" bIns="0" rtlCol="0" anchor="ctr"/>
          <a:lstStyle/>
          <a:p>
            <a:pPr marL="0" indent="0" algn="l">
              <a:buNone/>
            </a:pPr>
            <a:r>
              <a:rPr lang="es-SV" sz="2400" b="1" noProof="0" dirty="0">
                <a:solidFill>
                  <a:schemeClr val="tx2"/>
                </a:solidFill>
                <a:latin typeface="Arial" panose="020B0604020202020204" pitchFamily="34" charset="0"/>
                <a:cs typeface="Arial" panose="020B0604020202020204" pitchFamily="34" charset="0"/>
              </a:rPr>
              <a:t>SITUACIÓN ACTUAL DEL PROCESO DE AVALÚOS</a:t>
            </a:r>
            <a:endParaRPr lang="es-SV" sz="2400" noProof="0" dirty="0">
              <a:latin typeface="Arial" panose="020B0604020202020204" pitchFamily="34" charset="0"/>
              <a:cs typeface="Arial" panose="020B0604020202020204" pitchFamily="34" charset="0"/>
            </a:endParaRPr>
          </a:p>
        </p:txBody>
      </p:sp>
      <p:sp>
        <p:nvSpPr>
          <p:cNvPr id="101" name="Etiqueta debilidades"/>
          <p:cNvSpPr txBox="1"/>
          <p:nvPr/>
        </p:nvSpPr>
        <p:spPr>
          <a:xfrm>
            <a:off x="548640" y="1188720"/>
            <a:ext cx="7040880" cy="320040"/>
          </a:xfrm>
          <a:prstGeom prst="rect">
            <a:avLst/>
          </a:prstGeom>
          <a:noFill/>
          <a:ln>
            <a:noFill/>
          </a:ln>
        </p:spPr>
        <p:txBody>
          <a:bodyPr wrap="square" lIns="0" tIns="0" rIns="0" bIns="0" rtlCol="0" anchor="ctr">
            <a:normAutofit/>
          </a:bodyPr>
          <a:lstStyle/>
          <a:p>
            <a:pPr marL="0" indent="0" algn="l">
              <a:buNone/>
            </a:pPr>
            <a:r>
              <a:rPr lang="es-SV" sz="1200" b="1" dirty="0">
                <a:solidFill>
                  <a:srgbClr val="C62828"/>
                </a:solidFill>
                <a:latin typeface="Arial" panose="020B0604020202020204" pitchFamily="34" charset="0"/>
                <a:cs typeface="Arial" panose="020B0604020202020204" pitchFamily="34" charset="0"/>
              </a:rPr>
              <a:t>DEBILIDADES IDENTIFICADAS</a:t>
            </a:r>
          </a:p>
        </p:txBody>
      </p:sp>
      <p:sp>
        <p:nvSpPr>
          <p:cNvPr id="102" name="Debilidad 1"/>
          <p:cNvSpPr/>
          <p:nvPr/>
        </p:nvSpPr>
        <p:spPr>
          <a:xfrm>
            <a:off x="548640" y="1554480"/>
            <a:ext cx="3429000" cy="731520"/>
          </a:xfrm>
          <a:prstGeom prst="roundRect">
            <a:avLst>
              <a:gd name="adj" fmla="val 12000"/>
            </a:avLst>
          </a:prstGeom>
          <a:solidFill>
            <a:srgbClr val="FBEAEA"/>
          </a:solidFill>
          <a:ln w="9525">
            <a:solidFill>
              <a:srgbClr val="C62828"/>
            </a:solidFill>
          </a:ln>
        </p:spPr>
      </p:sp>
      <p:sp>
        <p:nvSpPr>
          <p:cNvPr id="103" name="Debilidad 1 marca"/>
          <p:cNvSpPr/>
          <p:nvPr/>
        </p:nvSpPr>
        <p:spPr>
          <a:xfrm>
            <a:off x="731520" y="1719072"/>
            <a:ext cx="402336" cy="402336"/>
          </a:xfrm>
          <a:prstGeom prst="ellipse">
            <a:avLst/>
          </a:prstGeom>
          <a:solidFill>
            <a:srgbClr val="C62828"/>
          </a:solidFill>
          <a:ln>
            <a:noFill/>
          </a:ln>
        </p:spPr>
        <p:txBody>
          <a:bodyPr wrap="square" lIns="0" tIns="0" rIns="0" bIns="0" rtlCol="0" anchor="ctr">
            <a:normAutofit/>
          </a:bodyPr>
          <a:lstStyle/>
          <a:p>
            <a:pPr marL="0" indent="0" algn="ctr">
              <a:buNone/>
            </a:pPr>
            <a:r>
              <a:rPr lang="es-SV" sz="1600" b="1" dirty="0">
                <a:solidFill>
                  <a:srgbClr val="FFFFFF"/>
                </a:solidFill>
                <a:latin typeface="Arial" panose="020B0604020202020204" pitchFamily="34" charset="0"/>
                <a:cs typeface="Arial" panose="020B0604020202020204" pitchFamily="34" charset="0"/>
              </a:rPr>
              <a:t>!</a:t>
            </a:r>
          </a:p>
        </p:txBody>
      </p:sp>
      <p:sp>
        <p:nvSpPr>
          <p:cNvPr id="104" name="Debilidad 1 texto"/>
          <p:cNvSpPr txBox="1"/>
          <p:nvPr/>
        </p:nvSpPr>
        <p:spPr>
          <a:xfrm>
            <a:off x="1280160" y="1554480"/>
            <a:ext cx="2560320" cy="731520"/>
          </a:xfrm>
          <a:prstGeom prst="rect">
            <a:avLst/>
          </a:prstGeom>
          <a:noFill/>
          <a:ln>
            <a:noFill/>
          </a:ln>
        </p:spPr>
        <p:txBody>
          <a:bodyPr wrap="square" lIns="0" tIns="0" rIns="0" bIns="0" rtlCol="0" anchor="ctr">
            <a:normAutofit/>
          </a:bodyPr>
          <a:lstStyle/>
          <a:p>
            <a:pPr marL="0" indent="0" algn="l">
              <a:buNone/>
            </a:pPr>
            <a:r>
              <a:rPr lang="es-SV" sz="1300" b="1" dirty="0">
                <a:solidFill>
                  <a:srgbClr val="002060"/>
                </a:solidFill>
                <a:latin typeface="Arial" panose="020B0604020202020204" pitchFamily="34" charset="0"/>
                <a:cs typeface="Arial" panose="020B0604020202020204" pitchFamily="34" charset="0"/>
              </a:rPr>
              <a:t>Debilidad en el análisis de los Informes de Avalúos</a:t>
            </a:r>
          </a:p>
        </p:txBody>
      </p:sp>
      <p:sp>
        <p:nvSpPr>
          <p:cNvPr id="105" name="Debilidad 2"/>
          <p:cNvSpPr/>
          <p:nvPr/>
        </p:nvSpPr>
        <p:spPr>
          <a:xfrm>
            <a:off x="4160520" y="1554480"/>
            <a:ext cx="3429000" cy="731520"/>
          </a:xfrm>
          <a:prstGeom prst="roundRect">
            <a:avLst>
              <a:gd name="adj" fmla="val 12000"/>
            </a:avLst>
          </a:prstGeom>
          <a:solidFill>
            <a:srgbClr val="FBEAEA"/>
          </a:solidFill>
          <a:ln w="9525">
            <a:solidFill>
              <a:srgbClr val="C62828"/>
            </a:solidFill>
          </a:ln>
        </p:spPr>
      </p:sp>
      <p:sp>
        <p:nvSpPr>
          <p:cNvPr id="106" name="Debilidad 2 marca"/>
          <p:cNvSpPr/>
          <p:nvPr/>
        </p:nvSpPr>
        <p:spPr>
          <a:xfrm>
            <a:off x="4343400" y="1719072"/>
            <a:ext cx="402336" cy="402336"/>
          </a:xfrm>
          <a:prstGeom prst="ellipse">
            <a:avLst/>
          </a:prstGeom>
          <a:solidFill>
            <a:srgbClr val="C62828"/>
          </a:solidFill>
          <a:ln>
            <a:noFill/>
          </a:ln>
        </p:spPr>
        <p:txBody>
          <a:bodyPr wrap="square" lIns="0" tIns="0" rIns="0" bIns="0" rtlCol="0" anchor="ctr">
            <a:normAutofit/>
          </a:bodyPr>
          <a:lstStyle/>
          <a:p>
            <a:pPr marL="0" indent="0" algn="ctr">
              <a:buNone/>
            </a:pPr>
            <a:r>
              <a:rPr lang="es-SV" sz="1600" b="1" dirty="0">
                <a:solidFill>
                  <a:srgbClr val="FFFFFF"/>
                </a:solidFill>
                <a:latin typeface="Arial" panose="020B0604020202020204" pitchFamily="34" charset="0"/>
                <a:cs typeface="Arial" panose="020B0604020202020204" pitchFamily="34" charset="0"/>
              </a:rPr>
              <a:t>!</a:t>
            </a:r>
          </a:p>
        </p:txBody>
      </p:sp>
      <p:sp>
        <p:nvSpPr>
          <p:cNvPr id="107" name="Debilidad 2 texto"/>
          <p:cNvSpPr txBox="1"/>
          <p:nvPr/>
        </p:nvSpPr>
        <p:spPr>
          <a:xfrm>
            <a:off x="4892040" y="1554480"/>
            <a:ext cx="2560320" cy="731520"/>
          </a:xfrm>
          <a:prstGeom prst="rect">
            <a:avLst/>
          </a:prstGeom>
          <a:noFill/>
          <a:ln>
            <a:noFill/>
          </a:ln>
        </p:spPr>
        <p:txBody>
          <a:bodyPr wrap="square" lIns="0" tIns="0" rIns="0" bIns="0" rtlCol="0" anchor="ctr">
            <a:normAutofit/>
          </a:bodyPr>
          <a:lstStyle/>
          <a:p>
            <a:pPr marL="0" indent="0" algn="l">
              <a:buNone/>
            </a:pPr>
            <a:r>
              <a:rPr lang="es-SV" sz="1300" b="1" dirty="0">
                <a:solidFill>
                  <a:srgbClr val="002060"/>
                </a:solidFill>
                <a:latin typeface="Arial" panose="020B0604020202020204" pitchFamily="34" charset="0"/>
                <a:cs typeface="Arial" panose="020B0604020202020204" pitchFamily="34" charset="0"/>
              </a:rPr>
              <a:t>Observaciones de la SSF</a:t>
            </a:r>
          </a:p>
        </p:txBody>
      </p:sp>
      <p:sp>
        <p:nvSpPr>
          <p:cNvPr id="108" name="Etiqueta proceso"/>
          <p:cNvSpPr txBox="1"/>
          <p:nvPr/>
        </p:nvSpPr>
        <p:spPr>
          <a:xfrm>
            <a:off x="548640" y="2514600"/>
            <a:ext cx="7040880" cy="320040"/>
          </a:xfrm>
          <a:prstGeom prst="rect">
            <a:avLst/>
          </a:prstGeom>
          <a:noFill/>
          <a:ln>
            <a:noFill/>
          </a:ln>
        </p:spPr>
        <p:txBody>
          <a:bodyPr wrap="square" lIns="0" tIns="0" rIns="0" bIns="0" rtlCol="0" anchor="ctr">
            <a:normAutofit/>
          </a:bodyPr>
          <a:lstStyle/>
          <a:p>
            <a:pPr marL="0" indent="0" algn="l">
              <a:buNone/>
            </a:pPr>
            <a:r>
              <a:rPr lang="es-SV" sz="1200" b="1" dirty="0">
                <a:solidFill>
                  <a:srgbClr val="005C9F"/>
                </a:solidFill>
                <a:latin typeface="Arial" panose="020B0604020202020204" pitchFamily="34" charset="0"/>
                <a:cs typeface="Arial" panose="020B0604020202020204" pitchFamily="34" charset="0"/>
              </a:rPr>
              <a:t>PROCESO ACTUAL</a:t>
            </a:r>
          </a:p>
        </p:txBody>
      </p:sp>
      <p:sp>
        <p:nvSpPr>
          <p:cNvPr id="109" name="Paso 1"/>
          <p:cNvSpPr/>
          <p:nvPr/>
        </p:nvSpPr>
        <p:spPr>
          <a:xfrm>
            <a:off x="548640" y="2880360"/>
            <a:ext cx="7040880" cy="658368"/>
          </a:xfrm>
          <a:prstGeom prst="roundRect">
            <a:avLst>
              <a:gd name="adj" fmla="val 12000"/>
            </a:avLst>
          </a:prstGeom>
          <a:solidFill>
            <a:srgbClr val="EEF3F9"/>
          </a:solidFill>
          <a:ln w="9525">
            <a:solidFill>
              <a:srgbClr val="D6E2EF"/>
            </a:solidFill>
          </a:ln>
        </p:spPr>
      </p:sp>
      <p:sp>
        <p:nvSpPr>
          <p:cNvPr id="110" name="Paso 1 numero"/>
          <p:cNvSpPr/>
          <p:nvPr/>
        </p:nvSpPr>
        <p:spPr>
          <a:xfrm>
            <a:off x="731520" y="2990088"/>
            <a:ext cx="438912" cy="438912"/>
          </a:xfrm>
          <a:prstGeom prst="ellipse">
            <a:avLst/>
          </a:prstGeom>
          <a:solidFill>
            <a:srgbClr val="00376E"/>
          </a:solidFill>
          <a:ln>
            <a:noFill/>
          </a:ln>
        </p:spPr>
        <p:txBody>
          <a:bodyPr wrap="square" lIns="0" tIns="0" rIns="0" bIns="0" rtlCol="0" anchor="ctr">
            <a:normAutofit/>
          </a:bodyPr>
          <a:lstStyle/>
          <a:p>
            <a:pPr marL="0" indent="0" algn="ctr">
              <a:buNone/>
            </a:pPr>
            <a:r>
              <a:rPr lang="es-SV" sz="1500" b="1" dirty="0">
                <a:solidFill>
                  <a:srgbClr val="FFFFFF"/>
                </a:solidFill>
                <a:latin typeface="Arial" panose="020B0604020202020204" pitchFamily="34" charset="0"/>
                <a:cs typeface="Arial" panose="020B0604020202020204" pitchFamily="34" charset="0"/>
              </a:rPr>
              <a:t>1</a:t>
            </a:r>
          </a:p>
        </p:txBody>
      </p:sp>
      <p:sp>
        <p:nvSpPr>
          <p:cNvPr id="111" name="Paso 1 titulo"/>
          <p:cNvSpPr txBox="1"/>
          <p:nvPr/>
        </p:nvSpPr>
        <p:spPr>
          <a:xfrm>
            <a:off x="1325880" y="2880360"/>
            <a:ext cx="1600200" cy="658368"/>
          </a:xfrm>
          <a:prstGeom prst="rect">
            <a:avLst/>
          </a:prstGeom>
          <a:noFill/>
          <a:ln>
            <a:noFill/>
          </a:ln>
        </p:spPr>
        <p:txBody>
          <a:bodyPr wrap="square" lIns="0" tIns="0" rIns="0" bIns="0" rtlCol="0" anchor="ctr">
            <a:normAutofit/>
          </a:bodyPr>
          <a:lstStyle/>
          <a:p>
            <a:pPr marL="0" indent="0" algn="l">
              <a:buNone/>
            </a:pPr>
            <a:r>
              <a:rPr lang="es-SV" sz="1400" b="1" dirty="0">
                <a:solidFill>
                  <a:srgbClr val="00376E"/>
                </a:solidFill>
                <a:latin typeface="Arial" panose="020B0604020202020204" pitchFamily="34" charset="0"/>
                <a:cs typeface="Arial" panose="020B0604020202020204" pitchFamily="34" charset="0"/>
              </a:rPr>
              <a:t>Contraparte</a:t>
            </a:r>
          </a:p>
        </p:txBody>
      </p:sp>
      <p:sp>
        <p:nvSpPr>
          <p:cNvPr id="112" name="Paso 1 detalle"/>
          <p:cNvSpPr txBox="1"/>
          <p:nvPr/>
        </p:nvSpPr>
        <p:spPr>
          <a:xfrm>
            <a:off x="2971800" y="2880360"/>
            <a:ext cx="4480560" cy="658368"/>
          </a:xfrm>
          <a:prstGeom prst="rect">
            <a:avLst/>
          </a:prstGeom>
          <a:noFill/>
          <a:ln>
            <a:noFill/>
          </a:ln>
        </p:spPr>
        <p:txBody>
          <a:bodyPr wrap="square" lIns="0" tIns="0" rIns="0" bIns="0" rtlCol="0" anchor="ctr">
            <a:normAutofit/>
          </a:bodyPr>
          <a:lstStyle/>
          <a:p>
            <a:pPr marL="0" indent="0" algn="l">
              <a:buNone/>
            </a:pPr>
            <a:r>
              <a:rPr lang="es-SV" sz="1250" dirty="0">
                <a:solidFill>
                  <a:srgbClr val="1E2A3A"/>
                </a:solidFill>
                <a:latin typeface="Arial" panose="020B0604020202020204" pitchFamily="34" charset="0"/>
                <a:cs typeface="Arial" panose="020B0604020202020204" pitchFamily="34" charset="0"/>
              </a:rPr>
              <a:t>Centralizado en Riesgo y Negocios</a:t>
            </a:r>
          </a:p>
        </p:txBody>
      </p:sp>
      <p:sp>
        <p:nvSpPr>
          <p:cNvPr id="113" name="Paso 2"/>
          <p:cNvSpPr/>
          <p:nvPr/>
        </p:nvSpPr>
        <p:spPr>
          <a:xfrm>
            <a:off x="548640" y="3648456"/>
            <a:ext cx="7040880" cy="658368"/>
          </a:xfrm>
          <a:prstGeom prst="roundRect">
            <a:avLst>
              <a:gd name="adj" fmla="val 12000"/>
            </a:avLst>
          </a:prstGeom>
          <a:solidFill>
            <a:srgbClr val="EEF3F9"/>
          </a:solidFill>
          <a:ln w="9525">
            <a:solidFill>
              <a:srgbClr val="D6E2EF"/>
            </a:solidFill>
          </a:ln>
        </p:spPr>
      </p:sp>
      <p:sp>
        <p:nvSpPr>
          <p:cNvPr id="114" name="Paso 2 numero"/>
          <p:cNvSpPr/>
          <p:nvPr/>
        </p:nvSpPr>
        <p:spPr>
          <a:xfrm>
            <a:off x="731520" y="3758184"/>
            <a:ext cx="438912" cy="438912"/>
          </a:xfrm>
          <a:prstGeom prst="ellipse">
            <a:avLst/>
          </a:prstGeom>
          <a:solidFill>
            <a:srgbClr val="00376E"/>
          </a:solidFill>
          <a:ln>
            <a:noFill/>
          </a:ln>
        </p:spPr>
        <p:txBody>
          <a:bodyPr wrap="square" lIns="0" tIns="0" rIns="0" bIns="0" rtlCol="0" anchor="ctr">
            <a:normAutofit/>
          </a:bodyPr>
          <a:lstStyle/>
          <a:p>
            <a:pPr marL="0" indent="0" algn="ctr">
              <a:buNone/>
            </a:pPr>
            <a:r>
              <a:rPr lang="es-SV" sz="1500" b="1" dirty="0">
                <a:solidFill>
                  <a:srgbClr val="FFFFFF"/>
                </a:solidFill>
                <a:latin typeface="Arial" panose="020B0604020202020204" pitchFamily="34" charset="0"/>
                <a:cs typeface="Arial" panose="020B0604020202020204" pitchFamily="34" charset="0"/>
              </a:rPr>
              <a:t>2</a:t>
            </a:r>
          </a:p>
        </p:txBody>
      </p:sp>
      <p:sp>
        <p:nvSpPr>
          <p:cNvPr id="115" name="Paso 2 titulo"/>
          <p:cNvSpPr txBox="1"/>
          <p:nvPr/>
        </p:nvSpPr>
        <p:spPr>
          <a:xfrm>
            <a:off x="1325880" y="3648456"/>
            <a:ext cx="1600200" cy="658368"/>
          </a:xfrm>
          <a:prstGeom prst="rect">
            <a:avLst/>
          </a:prstGeom>
          <a:noFill/>
          <a:ln>
            <a:noFill/>
          </a:ln>
        </p:spPr>
        <p:txBody>
          <a:bodyPr wrap="square" lIns="0" tIns="0" rIns="0" bIns="0" rtlCol="0" anchor="ctr">
            <a:normAutofit/>
          </a:bodyPr>
          <a:lstStyle/>
          <a:p>
            <a:pPr marL="0" indent="0" algn="l">
              <a:buNone/>
            </a:pPr>
            <a:r>
              <a:rPr lang="es-SV" sz="1400" b="1" dirty="0">
                <a:solidFill>
                  <a:srgbClr val="00376E"/>
                </a:solidFill>
                <a:latin typeface="Arial" panose="020B0604020202020204" pitchFamily="34" charset="0"/>
                <a:cs typeface="Arial" panose="020B0604020202020204" pitchFamily="34" charset="0"/>
              </a:rPr>
              <a:t>Recepción</a:t>
            </a:r>
          </a:p>
        </p:txBody>
      </p:sp>
      <p:sp>
        <p:nvSpPr>
          <p:cNvPr id="116" name="Paso 2 detalle"/>
          <p:cNvSpPr txBox="1"/>
          <p:nvPr/>
        </p:nvSpPr>
        <p:spPr>
          <a:xfrm>
            <a:off x="2971800" y="3648456"/>
            <a:ext cx="4480560" cy="658368"/>
          </a:xfrm>
          <a:prstGeom prst="rect">
            <a:avLst/>
          </a:prstGeom>
          <a:noFill/>
          <a:ln>
            <a:noFill/>
          </a:ln>
        </p:spPr>
        <p:txBody>
          <a:bodyPr wrap="square" lIns="0" tIns="0" rIns="0" bIns="0" rtlCol="0" anchor="ctr">
            <a:normAutofit/>
          </a:bodyPr>
          <a:lstStyle/>
          <a:p>
            <a:pPr marL="0" indent="0" algn="l">
              <a:buNone/>
            </a:pPr>
            <a:r>
              <a:rPr lang="es-SV" sz="1250" dirty="0">
                <a:solidFill>
                  <a:srgbClr val="1E2A3A"/>
                </a:solidFill>
                <a:latin typeface="Arial" panose="020B0604020202020204" pitchFamily="34" charset="0"/>
                <a:cs typeface="Arial" panose="020B0604020202020204" pitchFamily="34" charset="0"/>
              </a:rPr>
              <a:t>Recibe información el Ejecutivo, pero no hace la validación y revisión correcta</a:t>
            </a:r>
          </a:p>
        </p:txBody>
      </p:sp>
      <p:sp>
        <p:nvSpPr>
          <p:cNvPr id="117" name="Paso 3"/>
          <p:cNvSpPr/>
          <p:nvPr/>
        </p:nvSpPr>
        <p:spPr>
          <a:xfrm>
            <a:off x="548640" y="4416552"/>
            <a:ext cx="7040880" cy="658368"/>
          </a:xfrm>
          <a:prstGeom prst="roundRect">
            <a:avLst>
              <a:gd name="adj" fmla="val 12000"/>
            </a:avLst>
          </a:prstGeom>
          <a:solidFill>
            <a:srgbClr val="EEF3F9"/>
          </a:solidFill>
          <a:ln w="9525">
            <a:solidFill>
              <a:srgbClr val="D6E2EF"/>
            </a:solidFill>
          </a:ln>
        </p:spPr>
      </p:sp>
      <p:sp>
        <p:nvSpPr>
          <p:cNvPr id="118" name="Paso 3 numero"/>
          <p:cNvSpPr/>
          <p:nvPr/>
        </p:nvSpPr>
        <p:spPr>
          <a:xfrm>
            <a:off x="731520" y="4526280"/>
            <a:ext cx="438912" cy="438912"/>
          </a:xfrm>
          <a:prstGeom prst="ellipse">
            <a:avLst/>
          </a:prstGeom>
          <a:solidFill>
            <a:srgbClr val="00376E"/>
          </a:solidFill>
          <a:ln>
            <a:noFill/>
          </a:ln>
        </p:spPr>
        <p:txBody>
          <a:bodyPr wrap="square" lIns="0" tIns="0" rIns="0" bIns="0" rtlCol="0" anchor="ctr">
            <a:normAutofit/>
          </a:bodyPr>
          <a:lstStyle/>
          <a:p>
            <a:pPr marL="0" indent="0" algn="ctr">
              <a:buNone/>
            </a:pPr>
            <a:r>
              <a:rPr lang="es-SV" sz="1500" b="1" dirty="0">
                <a:solidFill>
                  <a:srgbClr val="FFFFFF"/>
                </a:solidFill>
                <a:latin typeface="Arial" panose="020B0604020202020204" pitchFamily="34" charset="0"/>
                <a:cs typeface="Arial" panose="020B0604020202020204" pitchFamily="34" charset="0"/>
              </a:rPr>
              <a:t>3</a:t>
            </a:r>
          </a:p>
        </p:txBody>
      </p:sp>
      <p:sp>
        <p:nvSpPr>
          <p:cNvPr id="119" name="Paso 3 titulo"/>
          <p:cNvSpPr txBox="1"/>
          <p:nvPr/>
        </p:nvSpPr>
        <p:spPr>
          <a:xfrm>
            <a:off x="1325880" y="4416552"/>
            <a:ext cx="1600200" cy="658368"/>
          </a:xfrm>
          <a:prstGeom prst="rect">
            <a:avLst/>
          </a:prstGeom>
          <a:noFill/>
          <a:ln>
            <a:noFill/>
          </a:ln>
        </p:spPr>
        <p:txBody>
          <a:bodyPr wrap="square" lIns="0" tIns="0" rIns="0" bIns="0" rtlCol="0" anchor="ctr">
            <a:normAutofit/>
          </a:bodyPr>
          <a:lstStyle/>
          <a:p>
            <a:pPr marL="0" indent="0" algn="l">
              <a:buNone/>
            </a:pPr>
            <a:r>
              <a:rPr lang="es-SV" sz="1400" b="1" dirty="0">
                <a:solidFill>
                  <a:srgbClr val="00376E"/>
                </a:solidFill>
                <a:latin typeface="Arial" panose="020B0604020202020204" pitchFamily="34" charset="0"/>
                <a:cs typeface="Arial" panose="020B0604020202020204" pitchFamily="34" charset="0"/>
              </a:rPr>
              <a:t>Observaciones</a:t>
            </a:r>
          </a:p>
        </p:txBody>
      </p:sp>
      <p:sp>
        <p:nvSpPr>
          <p:cNvPr id="120" name="Paso 3 detalle"/>
          <p:cNvSpPr txBox="1"/>
          <p:nvPr/>
        </p:nvSpPr>
        <p:spPr>
          <a:xfrm>
            <a:off x="2971800" y="4416552"/>
            <a:ext cx="4480560" cy="658368"/>
          </a:xfrm>
          <a:prstGeom prst="rect">
            <a:avLst/>
          </a:prstGeom>
          <a:noFill/>
          <a:ln>
            <a:noFill/>
          </a:ln>
        </p:spPr>
        <p:txBody>
          <a:bodyPr wrap="square" lIns="0" tIns="0" rIns="0" bIns="0" rtlCol="0" anchor="ctr">
            <a:normAutofit/>
          </a:bodyPr>
          <a:lstStyle/>
          <a:p>
            <a:pPr marL="0" indent="0" algn="l">
              <a:buNone/>
            </a:pPr>
            <a:r>
              <a:rPr lang="es-SV" sz="1250" dirty="0">
                <a:solidFill>
                  <a:srgbClr val="1E2A3A"/>
                </a:solidFill>
                <a:latin typeface="Arial" panose="020B0604020202020204" pitchFamily="34" charset="0"/>
                <a:cs typeface="Arial" panose="020B0604020202020204" pitchFamily="34" charset="0"/>
              </a:rPr>
              <a:t>Observaciones de la SSF</a:t>
            </a:r>
          </a:p>
        </p:txBody>
      </p:sp>
      <p:sp>
        <p:nvSpPr>
          <p:cNvPr id="121" name="Paso 4"/>
          <p:cNvSpPr/>
          <p:nvPr/>
        </p:nvSpPr>
        <p:spPr>
          <a:xfrm>
            <a:off x="548640" y="5184648"/>
            <a:ext cx="7040880" cy="658368"/>
          </a:xfrm>
          <a:prstGeom prst="roundRect">
            <a:avLst>
              <a:gd name="adj" fmla="val 12000"/>
            </a:avLst>
          </a:prstGeom>
          <a:solidFill>
            <a:srgbClr val="EEF3F9"/>
          </a:solidFill>
          <a:ln w="9525">
            <a:solidFill>
              <a:srgbClr val="D6E2EF"/>
            </a:solidFill>
          </a:ln>
        </p:spPr>
      </p:sp>
      <p:sp>
        <p:nvSpPr>
          <p:cNvPr id="122" name="Paso 4 numero"/>
          <p:cNvSpPr/>
          <p:nvPr/>
        </p:nvSpPr>
        <p:spPr>
          <a:xfrm>
            <a:off x="731520" y="5294376"/>
            <a:ext cx="438912" cy="438912"/>
          </a:xfrm>
          <a:prstGeom prst="ellipse">
            <a:avLst/>
          </a:prstGeom>
          <a:solidFill>
            <a:srgbClr val="00376E"/>
          </a:solidFill>
          <a:ln>
            <a:noFill/>
          </a:ln>
        </p:spPr>
        <p:txBody>
          <a:bodyPr wrap="square" lIns="0" tIns="0" rIns="0" bIns="0" rtlCol="0" anchor="ctr">
            <a:normAutofit/>
          </a:bodyPr>
          <a:lstStyle/>
          <a:p>
            <a:pPr marL="0" indent="0" algn="ctr">
              <a:buNone/>
            </a:pPr>
            <a:r>
              <a:rPr lang="es-SV" sz="1500" b="1" dirty="0">
                <a:solidFill>
                  <a:srgbClr val="FFFFFF"/>
                </a:solidFill>
                <a:latin typeface="Arial" panose="020B0604020202020204" pitchFamily="34" charset="0"/>
                <a:cs typeface="Arial" panose="020B0604020202020204" pitchFamily="34" charset="0"/>
              </a:rPr>
              <a:t>4</a:t>
            </a:r>
          </a:p>
        </p:txBody>
      </p:sp>
      <p:sp>
        <p:nvSpPr>
          <p:cNvPr id="123" name="Paso 4 titulo"/>
          <p:cNvSpPr txBox="1"/>
          <p:nvPr/>
        </p:nvSpPr>
        <p:spPr>
          <a:xfrm>
            <a:off x="1325880" y="5184648"/>
            <a:ext cx="1600200" cy="658368"/>
          </a:xfrm>
          <a:prstGeom prst="rect">
            <a:avLst/>
          </a:prstGeom>
          <a:noFill/>
          <a:ln>
            <a:noFill/>
          </a:ln>
        </p:spPr>
        <p:txBody>
          <a:bodyPr wrap="square" lIns="0" tIns="0" rIns="0" bIns="0" rtlCol="0" anchor="ctr">
            <a:normAutofit/>
          </a:bodyPr>
          <a:lstStyle/>
          <a:p>
            <a:pPr marL="0" indent="0" algn="l">
              <a:buNone/>
            </a:pPr>
            <a:r>
              <a:rPr lang="es-SV" sz="1400" b="1" dirty="0">
                <a:solidFill>
                  <a:srgbClr val="00376E"/>
                </a:solidFill>
                <a:latin typeface="Arial" panose="020B0604020202020204" pitchFamily="34" charset="0"/>
                <a:cs typeface="Arial" panose="020B0604020202020204" pitchFamily="34" charset="0"/>
              </a:rPr>
              <a:t>Seguimiento</a:t>
            </a:r>
          </a:p>
        </p:txBody>
      </p:sp>
      <p:sp>
        <p:nvSpPr>
          <p:cNvPr id="124" name="Paso 4 detalle"/>
          <p:cNvSpPr txBox="1"/>
          <p:nvPr/>
        </p:nvSpPr>
        <p:spPr>
          <a:xfrm>
            <a:off x="2971800" y="5184648"/>
            <a:ext cx="4480560" cy="658368"/>
          </a:xfrm>
          <a:prstGeom prst="rect">
            <a:avLst/>
          </a:prstGeom>
          <a:noFill/>
          <a:ln>
            <a:noFill/>
          </a:ln>
        </p:spPr>
        <p:txBody>
          <a:bodyPr wrap="square" lIns="0" tIns="0" rIns="0" bIns="0" rtlCol="0" anchor="ctr">
            <a:normAutofit/>
          </a:bodyPr>
          <a:lstStyle/>
          <a:p>
            <a:pPr marL="0" indent="0" algn="l">
              <a:buNone/>
            </a:pPr>
            <a:r>
              <a:rPr lang="es-SV" sz="1250" dirty="0">
                <a:solidFill>
                  <a:srgbClr val="1E2A3A"/>
                </a:solidFill>
                <a:latin typeface="Arial" panose="020B0604020202020204" pitchFamily="34" charset="0"/>
                <a:cs typeface="Arial" panose="020B0604020202020204" pitchFamily="34" charset="0"/>
              </a:rPr>
              <a:t>Seguimiento de la contraparte – calificación</a:t>
            </a:r>
          </a:p>
        </p:txBody>
      </p:sp>
      <p:sp>
        <p:nvSpPr>
          <p:cNvPr id="125" name="Flecha"/>
          <p:cNvSpPr/>
          <p:nvPr/>
        </p:nvSpPr>
        <p:spPr>
          <a:xfrm>
            <a:off x="7699248" y="3383280"/>
            <a:ext cx="365760" cy="548640"/>
          </a:xfrm>
          <a:prstGeom prst="rightArrow">
            <a:avLst/>
          </a:prstGeom>
          <a:solidFill>
            <a:srgbClr val="005C9F"/>
          </a:solidFill>
          <a:ln>
            <a:noFill/>
          </a:ln>
        </p:spPr>
      </p:sp>
      <p:sp>
        <p:nvSpPr>
          <p:cNvPr id="126" name="Panel respuesta"/>
          <p:cNvSpPr/>
          <p:nvPr/>
        </p:nvSpPr>
        <p:spPr>
          <a:xfrm>
            <a:off x="8183880" y="1554480"/>
            <a:ext cx="3429000" cy="4398264"/>
          </a:xfrm>
          <a:prstGeom prst="roundRect">
            <a:avLst>
              <a:gd name="adj" fmla="val 6000"/>
            </a:avLst>
          </a:prstGeom>
          <a:solidFill>
            <a:srgbClr val="00376E"/>
          </a:solidFill>
          <a:ln>
            <a:noFill/>
          </a:ln>
        </p:spPr>
      </p:sp>
      <p:sp>
        <p:nvSpPr>
          <p:cNvPr id="127" name="Respuesta titulo"/>
          <p:cNvSpPr txBox="1"/>
          <p:nvPr/>
        </p:nvSpPr>
        <p:spPr>
          <a:xfrm>
            <a:off x="8458200" y="1783080"/>
            <a:ext cx="2880360" cy="365760"/>
          </a:xfrm>
          <a:prstGeom prst="rect">
            <a:avLst/>
          </a:prstGeom>
          <a:noFill/>
          <a:ln>
            <a:noFill/>
          </a:ln>
        </p:spPr>
        <p:txBody>
          <a:bodyPr wrap="square" lIns="0" tIns="0" rIns="0" bIns="0" rtlCol="0" anchor="ctr">
            <a:normAutofit/>
          </a:bodyPr>
          <a:lstStyle/>
          <a:p>
            <a:pPr marL="0" indent="0" algn="l">
              <a:buNone/>
            </a:pPr>
            <a:r>
              <a:rPr lang="es-SV" sz="1200" b="1" dirty="0">
                <a:solidFill>
                  <a:srgbClr val="9CC3F0"/>
                </a:solidFill>
                <a:latin typeface="Arial" panose="020B0604020202020204" pitchFamily="34" charset="0"/>
                <a:cs typeface="Arial" panose="020B0604020202020204" pitchFamily="34" charset="0"/>
              </a:rPr>
              <a:t>RESPUESTA</a:t>
            </a:r>
          </a:p>
        </p:txBody>
      </p:sp>
      <p:sp>
        <p:nvSpPr>
          <p:cNvPr id="128" name="Respuesta 1"/>
          <p:cNvSpPr/>
          <p:nvPr/>
        </p:nvSpPr>
        <p:spPr>
          <a:xfrm>
            <a:off x="8458200" y="2377440"/>
            <a:ext cx="2880360" cy="1005840"/>
          </a:xfrm>
          <a:prstGeom prst="roundRect">
            <a:avLst>
              <a:gd name="adj" fmla="val 12000"/>
            </a:avLst>
          </a:prstGeom>
          <a:solidFill>
            <a:srgbClr val="005C9F"/>
          </a:solidFill>
          <a:ln>
            <a:noFill/>
          </a:ln>
        </p:spPr>
      </p:sp>
      <p:sp>
        <p:nvSpPr>
          <p:cNvPr id="129" name="Respuesta 1 check"/>
          <p:cNvSpPr/>
          <p:nvPr/>
        </p:nvSpPr>
        <p:spPr>
          <a:xfrm>
            <a:off x="8641080" y="2651760"/>
            <a:ext cx="457200" cy="457200"/>
          </a:xfrm>
          <a:prstGeom prst="ellipse">
            <a:avLst/>
          </a:prstGeom>
          <a:solidFill>
            <a:srgbClr val="FFFFFF"/>
          </a:solidFill>
          <a:ln>
            <a:noFill/>
          </a:ln>
        </p:spPr>
        <p:txBody>
          <a:bodyPr wrap="square" lIns="0" tIns="0" rIns="0" bIns="0" rtlCol="0" anchor="ctr">
            <a:normAutofit/>
          </a:bodyPr>
          <a:lstStyle/>
          <a:p>
            <a:pPr marL="0" indent="0" algn="ctr">
              <a:buNone/>
            </a:pPr>
            <a:r>
              <a:rPr lang="es-SV" sz="1600" b="1" dirty="0">
                <a:solidFill>
                  <a:srgbClr val="00376E"/>
                </a:solidFill>
                <a:latin typeface="Arial" panose="020B0604020202020204" pitchFamily="34" charset="0"/>
                <a:cs typeface="Arial" panose="020B0604020202020204" pitchFamily="34" charset="0"/>
              </a:rPr>
              <a:t>✓</a:t>
            </a:r>
          </a:p>
        </p:txBody>
      </p:sp>
      <p:sp>
        <p:nvSpPr>
          <p:cNvPr id="130" name="Respuesta 1 texto"/>
          <p:cNvSpPr txBox="1"/>
          <p:nvPr/>
        </p:nvSpPr>
        <p:spPr>
          <a:xfrm>
            <a:off x="9281160" y="2377440"/>
            <a:ext cx="1965960" cy="1005840"/>
          </a:xfrm>
          <a:prstGeom prst="rect">
            <a:avLst/>
          </a:prstGeom>
          <a:noFill/>
          <a:ln>
            <a:noFill/>
          </a:ln>
        </p:spPr>
        <p:txBody>
          <a:bodyPr wrap="square" lIns="0" tIns="0" rIns="0" bIns="0" rtlCol="0" anchor="ctr">
            <a:normAutofit/>
          </a:bodyPr>
          <a:lstStyle/>
          <a:p>
            <a:pPr marL="0" indent="0" algn="l">
              <a:buNone/>
            </a:pPr>
            <a:r>
              <a:rPr lang="es-SV" sz="1800" b="1" dirty="0">
                <a:solidFill>
                  <a:srgbClr val="FFFFFF"/>
                </a:solidFill>
                <a:latin typeface="Arial" panose="020B0604020202020204" pitchFamily="34" charset="0"/>
                <a:cs typeface="Arial" panose="020B0604020202020204" pitchFamily="34" charset="0"/>
              </a:rPr>
              <a:t>Política</a:t>
            </a:r>
          </a:p>
        </p:txBody>
      </p:sp>
      <p:sp>
        <p:nvSpPr>
          <p:cNvPr id="131" name="Respuesta 2"/>
          <p:cNvSpPr/>
          <p:nvPr/>
        </p:nvSpPr>
        <p:spPr>
          <a:xfrm>
            <a:off x="8458200" y="3611880"/>
            <a:ext cx="2880360" cy="1005840"/>
          </a:xfrm>
          <a:prstGeom prst="roundRect">
            <a:avLst>
              <a:gd name="adj" fmla="val 12000"/>
            </a:avLst>
          </a:prstGeom>
          <a:solidFill>
            <a:srgbClr val="005C9F"/>
          </a:solidFill>
          <a:ln>
            <a:noFill/>
          </a:ln>
        </p:spPr>
      </p:sp>
      <p:sp>
        <p:nvSpPr>
          <p:cNvPr id="132" name="Respuesta 2 check"/>
          <p:cNvSpPr/>
          <p:nvPr/>
        </p:nvSpPr>
        <p:spPr>
          <a:xfrm>
            <a:off x="8641080" y="3886200"/>
            <a:ext cx="457200" cy="457200"/>
          </a:xfrm>
          <a:prstGeom prst="ellipse">
            <a:avLst/>
          </a:prstGeom>
          <a:solidFill>
            <a:srgbClr val="FFFFFF"/>
          </a:solidFill>
          <a:ln>
            <a:noFill/>
          </a:ln>
        </p:spPr>
        <p:txBody>
          <a:bodyPr wrap="square" lIns="0" tIns="0" rIns="0" bIns="0" rtlCol="0" anchor="ctr">
            <a:normAutofit/>
          </a:bodyPr>
          <a:lstStyle/>
          <a:p>
            <a:pPr marL="0" indent="0" algn="ctr">
              <a:buNone/>
            </a:pPr>
            <a:r>
              <a:rPr lang="es-SV" sz="1600" b="1" dirty="0">
                <a:solidFill>
                  <a:srgbClr val="00376E"/>
                </a:solidFill>
                <a:latin typeface="Arial" panose="020B0604020202020204" pitchFamily="34" charset="0"/>
                <a:cs typeface="Arial" panose="020B0604020202020204" pitchFamily="34" charset="0"/>
              </a:rPr>
              <a:t>✓</a:t>
            </a:r>
          </a:p>
        </p:txBody>
      </p:sp>
      <p:sp>
        <p:nvSpPr>
          <p:cNvPr id="133" name="Respuesta 2 texto"/>
          <p:cNvSpPr txBox="1"/>
          <p:nvPr/>
        </p:nvSpPr>
        <p:spPr>
          <a:xfrm>
            <a:off x="9281160" y="3611880"/>
            <a:ext cx="1965960" cy="1005840"/>
          </a:xfrm>
          <a:prstGeom prst="rect">
            <a:avLst/>
          </a:prstGeom>
          <a:noFill/>
          <a:ln>
            <a:noFill/>
          </a:ln>
        </p:spPr>
        <p:txBody>
          <a:bodyPr wrap="square" lIns="0" tIns="0" rIns="0" bIns="0" rtlCol="0" anchor="ctr">
            <a:normAutofit/>
          </a:bodyPr>
          <a:lstStyle/>
          <a:p>
            <a:pPr marL="0" indent="0" algn="l">
              <a:buNone/>
            </a:pPr>
            <a:r>
              <a:rPr lang="es-SV" sz="1800" b="1" dirty="0">
                <a:solidFill>
                  <a:srgbClr val="FFFFFF"/>
                </a:solidFill>
                <a:latin typeface="Arial" panose="020B0604020202020204" pitchFamily="34" charset="0"/>
                <a:cs typeface="Arial" panose="020B0604020202020204" pitchFamily="34" charset="0"/>
              </a:rPr>
              <a:t>Procedimiento</a:t>
            </a:r>
          </a:p>
        </p:txBody>
      </p:sp>
      <p:sp>
        <p:nvSpPr>
          <p:cNvPr id="134" name="Respuesta nota"/>
          <p:cNvSpPr txBox="1"/>
          <p:nvPr/>
        </p:nvSpPr>
        <p:spPr>
          <a:xfrm>
            <a:off x="8458200" y="4937760"/>
            <a:ext cx="2880360" cy="822960"/>
          </a:xfrm>
          <a:prstGeom prst="rect">
            <a:avLst/>
          </a:prstGeom>
          <a:noFill/>
          <a:ln>
            <a:noFill/>
          </a:ln>
        </p:spPr>
        <p:txBody>
          <a:bodyPr wrap="square" lIns="0" tIns="0" rIns="0" bIns="0" rtlCol="0" anchor="t">
            <a:normAutofit/>
          </a:bodyPr>
          <a:lstStyle/>
          <a:p>
            <a:pPr marL="0" indent="0" algn="l">
              <a:buNone/>
            </a:pPr>
            <a:r>
              <a:rPr lang="es-SV" sz="1150" i="1" dirty="0">
                <a:solidFill>
                  <a:srgbClr val="C9DBF2"/>
                </a:solidFill>
                <a:latin typeface="Arial" panose="020B0604020202020204" pitchFamily="34" charset="0"/>
                <a:cs typeface="Arial" panose="020B0604020202020204" pitchFamily="34" charset="0"/>
              </a:rPr>
              <a:t>Política Administración de Avalúos (ver Propuesta)</a:t>
            </a:r>
          </a:p>
        </p:txBody>
      </p:sp>
      <p:sp>
        <p:nvSpPr>
          <p:cNvPr id="32"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l"/>
            <a:fld id="{F7021451-1387-4CA6-816F-3879F97B5CBC}" type="slidenum">
              <a:rPr lang="es-SV" b="0" noProof="0" smtClean="0">
                <a:latin typeface="Arial" panose="020B0604020202020204" pitchFamily="34" charset="0"/>
                <a:cs typeface="Arial" panose="020B0604020202020204" pitchFamily="34" charset="0"/>
              </a:rPr>
              <a:t>4</a:t>
            </a:fld>
            <a:endParaRPr lang="es-SV" noProof="0" dirty="0">
              <a:latin typeface="Arial" panose="020B0604020202020204" pitchFamily="34" charset="0"/>
              <a:cs typeface="Arial" panose="020B0604020202020204" pitchFamily="34" charset="0"/>
            </a:endParaRPr>
          </a:p>
        </p:txBody>
      </p:sp>
    </p:spTree>
  </p:cSld>
  <p:clrMapOvr>
    <a:masterClrMapping/>
  </p:clrMapOvr>
</p:sld>
</file>

<file path=ppt/theme/theme1.xml><?xml version="1.0" encoding="utf-8"?>
<a:theme xmlns:a="http://schemas.openxmlformats.org/drawingml/2006/main" name="Comedica Avaluos">
  <a:themeElements>
    <a:clrScheme name="Comedica Avaluos">
      <a:dk1>
        <a:srgbClr val="1E2A3A"/>
      </a:dk1>
      <a:lt1>
        <a:srgbClr val="FFFFFF"/>
      </a:lt1>
      <a:dk2>
        <a:srgbClr val="00376E"/>
      </a:dk2>
      <a:lt2>
        <a:srgbClr val="EEF3F9"/>
      </a:lt2>
      <a:accent1>
        <a:srgbClr val="005C9F"/>
      </a:accent1>
      <a:accent2>
        <a:srgbClr val="9CC3F0"/>
      </a:accent2>
      <a:accent3>
        <a:srgbClr val="C62828"/>
      </a:accent3>
      <a:accent4>
        <a:srgbClr val="5F7590"/>
      </a:accent4>
      <a:accent5>
        <a:srgbClr val="C9DBF2"/>
      </a:accent5>
      <a:accent6>
        <a:srgbClr val="D6E2EF"/>
      </a:accent6>
      <a:hlink>
        <a:srgbClr val="0070C0"/>
      </a:hlink>
      <a:folHlink>
        <a:srgbClr val="5F7590"/>
      </a:folHlink>
    </a:clrScheme>
    <a:fontScheme name="Comedica Avaluos">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entury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98dab1c-c8f3-4f9c-8270-c22a94ade099}" enabled="0" method="" siteId="{d98dab1c-c8f3-4f9c-8270-c22a94ade099}" removed="1"/>
</clbl:labelList>
</file>

<file path=docProps/app.xml><?xml version="1.0" encoding="utf-8"?>
<Properties xmlns="http://schemas.openxmlformats.org/officeDocument/2006/extended-properties" xmlns:vt="http://schemas.openxmlformats.org/officeDocument/2006/docPropsVTypes">
  <TotalTime>167</TotalTime>
  <Words>1263</Words>
  <Application>Microsoft Office PowerPoint</Application>
  <PresentationFormat>Panorámica</PresentationFormat>
  <Paragraphs>209</Paragraphs>
  <Slides>17</Slides>
  <Notes>17</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17</vt:i4>
      </vt:variant>
    </vt:vector>
  </HeadingPairs>
  <TitlesOfParts>
    <vt:vector size="20" baseType="lpstr">
      <vt:lpstr>Arial</vt:lpstr>
      <vt:lpstr>Century Gothic</vt:lpstr>
      <vt:lpstr>Comedica Avaluos</vt:lpstr>
      <vt:lpstr>Presentación de PowerPoint</vt:lpstr>
      <vt:lpstr>Presentación de PowerPoint</vt:lpstr>
      <vt:lpstr>Situación actual</vt:lpstr>
      <vt:lpstr>CUATRO GERENCIAS INTERVIENEN EN EL PROCESO DE AVALÚOS</vt:lpstr>
      <vt:lpstr>1. GERENCIA DE NEGOCIO</vt:lpstr>
      <vt:lpstr>2. GERENCIA LEGAL Y 3. GERENCIA DE OPERACIONES </vt:lpstr>
      <vt:lpstr>4. GERENCIA GENERAL: DEPTO. DE ADMINISTRACIÓN DE RIESGOS</vt:lpstr>
      <vt:lpstr>Presentación de PowerPoint</vt:lpstr>
      <vt:lpstr>318 EXPEDIENTES HIPOTECARIOS INGRESADOS (ENE–SEP.)</vt:lpstr>
      <vt:lpstr>5 EXPEDIENTES AL MES, EN PROMEDIO, NO SE TRAMITAN</vt:lpstr>
      <vt:lpstr>RIESGO IDENTIFICADO EN LA GESTIÓN ACTUAL DE AVALÚOS</vt:lpstr>
      <vt:lpstr>PROPUESTA</vt:lpstr>
      <vt:lpstr>1: POLÍTICA ADMINISTRACIÓN DE AVALÚOS</vt:lpstr>
      <vt:lpstr>2: CONTRATAR UN REVISOR SEGÚN NRP-27, ARTÍCULO 40</vt:lpstr>
      <vt:lpstr>3: DEPARTAMENTO DE RIESGO ADMINISTRA LOS AVALÚOS</vt:lpstr>
      <vt:lpstr>SE SOLICITA AL COMITÉ DE RIESGO AUTORIZAR</vt:lpstr>
      <vt:lpstr>Presentación de PowerPoint</vt:lpstr>
    </vt:vector>
  </TitlesOfParts>
  <Company>Comedica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Proyecto Administración de Avalúos</dc:title>
  <dc:subject>Resumen Ejecutivo para el Comité de Riesgo y Consejo de Administración</dc:subject>
  <dc:creator>Departamento de Administración de Riesgos</dc:creator>
  <cp:lastModifiedBy>Hector Jose Menjivar Somoza</cp:lastModifiedBy>
  <cp:revision>2</cp:revision>
  <dcterms:created xsi:type="dcterms:W3CDTF">2026-10-21T16:54:16Z</dcterms:created>
  <dcterms:modified xsi:type="dcterms:W3CDTF">2026-10-21T19:59:44Z</dcterms:modified>
</cp:coreProperties>
</file>