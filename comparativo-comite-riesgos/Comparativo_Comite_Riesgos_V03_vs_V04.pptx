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3"/>
  </p:notesMasterIdLst>
  <p:sldIdLst>
    <p:sldId id="1327" r:id="rId2"/>
    <p:sldId id="1329" r:id="rId3"/>
    <p:sldId id="1330" r:id="rId4"/>
    <p:sldId id="1333" r:id="rId5"/>
    <p:sldId id="1335" r:id="rId6"/>
    <p:sldId id="1337" r:id="rId7"/>
    <p:sldId id="1339" r:id="rId8"/>
    <p:sldId id="1341" r:id="rId9"/>
    <p:sldId id="1343" r:id="rId10"/>
    <p:sldId id="1345" r:id="rId11"/>
    <p:sldId id="1347" r:id="rId12"/>
    <p:sldId id="1349" r:id="rId13"/>
    <p:sldId id="1350" r:id="rId14"/>
    <p:sldId id="1351" r:id="rId15"/>
    <p:sldId id="1352" r:id="rId16"/>
    <p:sldId id="1353" r:id="rId17"/>
    <p:sldId id="1357" r:id="rId21"/>
    <p:sldId id="1358" r:id="rId22"/>
    <p:sldId id="1359" r:id="rId23"/>
    <p:sldId id="1360" r:id="rId24"/>
    <p:sldId id="1361" r:id="rId25"/>
    <p:sldId id="1362" r:id="rId26"/>
    <p:sldId id="1363" r:id="rId27"/>
    <p:sldId id="1364" r:id="rId28"/>
    <p:sldId id="1365" r:id="rId29"/>
    <p:sldId id="1366" r:id="rId30"/>
    <p:sldId id="1367" r:id="rId31"/>
    <p:sldId id="1368" r:id="rId32"/>
    <p:sldId id="1369" r:id="rId33"/>
    <p:sldId id="1370" r:id="rId34"/>
    <p:sldId id="1371" r:id="rId35"/>
    <p:sldId id="1372" r:id="rId36"/>
    <p:sldId id="1373" r:id="rId37"/>
    <p:sldId id="1374" r:id="rId38"/>
    <p:sldId id="1375" r:id="rId39"/>
    <p:sldId id="1376" r:id="rId40"/>
    <p:sldId id="1377" r:id="rId41"/>
    <p:sldId id="1378" r:id="rId42"/>
    <p:sldId id="1379" r:id="rId43"/>
    <p:sldId id="1380" r:id="rId44"/>
    <p:sldId id="1381" r:id="rId45"/>
  </p:sldIdLst>
  <p:sldSz cx="12192000" cy="6858000"/>
  <p:notesSz cx="6858000" cy="9144000"/>
  <p:defaultTextStyle>
    <a:defPPr>
      <a:defRPr lang="es-S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76E"/>
    <a:srgbClr val="004184"/>
    <a:srgbClr val="0053A8"/>
    <a:srgbClr val="005C9F"/>
    <a:srgbClr val="0051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252236-3FAF-4113-A4F6-0C3A1563E69A}" v="1" dt="2026-10-24T19:13:56.1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0" d="100"/>
          <a:sy n="80" d="100"/>
        </p:scale>
        <p:origin x="682" y="21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 Id="rId7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SV"/>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9B3AB5-647A-834A-ABF4-E74A52371851}" type="datetimeFigureOut">
              <a:rPr lang="es-SV" smtClean="0"/>
              <a:t>24/10/2026</a:t>
            </a:fld>
            <a:endParaRPr lang="es-SV"/>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SV"/>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SV"/>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SV"/>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1EAE39-7648-3748-A12E-11B4DE5E48BF}" type="slidenum">
              <a:rPr lang="es-SV" smtClean="0"/>
              <a:t>‹Nº›</a:t>
            </a:fld>
            <a:endParaRPr lang="es-SV"/>
          </a:p>
        </p:txBody>
      </p:sp>
    </p:spTree>
    <p:extLst>
      <p:ext uri="{BB962C8B-B14F-4D97-AF65-F5344CB8AC3E}">
        <p14:creationId xmlns:p14="http://schemas.microsoft.com/office/powerpoint/2010/main" val="881370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6A5246-1289-2501-E76B-99FD1AAC6CB4}"/>
              </a:ext>
            </a:extLst>
          </p:cNvPr>
          <p:cNvSpPr>
            <a:spLocks noGrp="1"/>
          </p:cNvSpPr>
          <p:nvPr>
            <p:ph type="ctrTitle"/>
          </p:nvPr>
        </p:nvSpPr>
        <p:spPr>
          <a:xfrm>
            <a:off x="1524000" y="1122363"/>
            <a:ext cx="9144000" cy="2387600"/>
          </a:xfrm>
        </p:spPr>
        <p:txBody>
          <a:bodyPr anchor="b"/>
          <a:lstStyle>
            <a:lvl1pPr algn="ctr">
              <a:defRPr sz="6000" lang="es-SV"/>
            </a:lvl1pPr>
          </a:lstStyle>
          <a:p>
            <a:r>
              <a:rPr lang="es-SV"/>
              <a:t>Haz clic para modificar el estilo de título del patrón</a:t>
            </a:r>
            <a:endParaRPr lang="es-SV"/>
          </a:p>
        </p:txBody>
      </p:sp>
      <p:sp>
        <p:nvSpPr>
          <p:cNvPr id="3" name="Subtítulo 2">
            <a:extLst>
              <a:ext uri="{FF2B5EF4-FFF2-40B4-BE49-F238E27FC236}">
                <a16:creationId xmlns:a16="http://schemas.microsoft.com/office/drawing/2014/main" id="{84844576-B082-FD49-EBFF-D88CB1856DAD}"/>
              </a:ext>
            </a:extLst>
          </p:cNvPr>
          <p:cNvSpPr>
            <a:spLocks noGrp="1"/>
          </p:cNvSpPr>
          <p:nvPr>
            <p:ph type="subTitle" idx="1"/>
          </p:nvPr>
        </p:nvSpPr>
        <p:spPr>
          <a:xfrm>
            <a:off x="1524000" y="3602038"/>
            <a:ext cx="9144000" cy="1655762"/>
          </a:xfrm>
        </p:spPr>
        <p:txBody>
          <a:bodyPr/>
          <a:lstStyle>
            <a:lvl1pPr marL="0" indent="0" algn="ctr">
              <a:buNone/>
              <a:defRPr sz="2400" lang="es-SV"/>
            </a:lvl1pPr>
            <a:lvl2pPr marL="457200" indent="0" algn="ctr">
              <a:buNone/>
              <a:defRPr sz="2000" lang="es-SV"/>
            </a:lvl2pPr>
            <a:lvl3pPr marL="914400" indent="0" algn="ctr">
              <a:buNone/>
              <a:defRPr sz="1800" lang="es-SV"/>
            </a:lvl3pPr>
            <a:lvl4pPr marL="1371600" indent="0" algn="ctr">
              <a:buNone/>
              <a:defRPr sz="1600" lang="es-SV"/>
            </a:lvl4pPr>
            <a:lvl5pPr marL="1828800" indent="0" algn="ctr">
              <a:buNone/>
              <a:defRPr sz="1600" lang="es-SV"/>
            </a:lvl5pPr>
            <a:lvl6pPr marL="2286000" indent="0" algn="ctr">
              <a:buNone/>
              <a:defRPr sz="1600" lang="es-SV"/>
            </a:lvl6pPr>
            <a:lvl7pPr marL="2743200" indent="0" algn="ctr">
              <a:buNone/>
              <a:defRPr sz="1600" lang="es-SV"/>
            </a:lvl7pPr>
            <a:lvl8pPr marL="3200400" indent="0" algn="ctr">
              <a:buNone/>
              <a:defRPr sz="1600" lang="es-SV"/>
            </a:lvl8pPr>
            <a:lvl9pPr marL="3657600" indent="0" algn="ctr">
              <a:buNone/>
              <a:defRPr sz="1600" lang="es-SV"/>
            </a:lvl9pPr>
          </a:lstStyle>
          <a:p>
            <a:r>
              <a:rPr lang="es-SV"/>
              <a:t>Haz clic para editar el estilo de subtítulo del patrón</a:t>
            </a:r>
            <a:endParaRPr lang="es-SV"/>
          </a:p>
        </p:txBody>
      </p:sp>
      <p:sp>
        <p:nvSpPr>
          <p:cNvPr id="4" name="Marcador de fecha 3">
            <a:extLst>
              <a:ext uri="{FF2B5EF4-FFF2-40B4-BE49-F238E27FC236}">
                <a16:creationId xmlns:a16="http://schemas.microsoft.com/office/drawing/2014/main" id="{99F51356-BC70-4A72-C845-C6BAA0817DF8}"/>
              </a:ext>
            </a:extLst>
          </p:cNvPr>
          <p:cNvSpPr>
            <a:spLocks noGrp="1"/>
          </p:cNvSpPr>
          <p:nvPr>
            <p:ph type="dt" sz="half" idx="10"/>
          </p:nvPr>
        </p:nvSpPr>
        <p:spPr/>
        <p:txBody>
          <a:bodyPr/>
          <a:lstStyle/>
          <a:p>
            <a:fld id="{B6B18277-A37D-4F4A-BC70-5B646CB73774}" type="datetimeFigureOut">
              <a:rPr lang="es-SV" smtClean="0"/>
              <a:t>24/10/2026</a:t>
            </a:fld>
            <a:endParaRPr lang="es-SV"/>
          </a:p>
        </p:txBody>
      </p:sp>
      <p:sp>
        <p:nvSpPr>
          <p:cNvPr id="5" name="Marcador de pie de página 4">
            <a:extLst>
              <a:ext uri="{FF2B5EF4-FFF2-40B4-BE49-F238E27FC236}">
                <a16:creationId xmlns:a16="http://schemas.microsoft.com/office/drawing/2014/main" id="{50C911C6-CCCD-EFCE-3DC3-663F37E53805}"/>
              </a:ext>
            </a:extLst>
          </p:cNvPr>
          <p:cNvSpPr>
            <a:spLocks noGrp="1"/>
          </p:cNvSpPr>
          <p:nvPr>
            <p:ph type="ftr" sz="quarter" idx="11"/>
          </p:nvPr>
        </p:nvSpPr>
        <p:spPr/>
        <p:txBody>
          <a:bodyPr/>
          <a:lstStyle/>
          <a:p>
            <a:endParaRPr lang="es-SV"/>
          </a:p>
        </p:txBody>
      </p:sp>
      <p:sp>
        <p:nvSpPr>
          <p:cNvPr id="6" name="Marcador de número de diapositiva 5">
            <a:extLst>
              <a:ext uri="{FF2B5EF4-FFF2-40B4-BE49-F238E27FC236}">
                <a16:creationId xmlns:a16="http://schemas.microsoft.com/office/drawing/2014/main" id="{C0085E2B-4DFB-D2D2-C203-7C543DA2861F}"/>
              </a:ext>
            </a:extLst>
          </p:cNvPr>
          <p:cNvSpPr>
            <a:spLocks noGrp="1"/>
          </p:cNvSpPr>
          <p:nvPr>
            <p:ph type="sldNum" sz="quarter" idx="12"/>
          </p:nvPr>
        </p:nvSpPr>
        <p:spPr/>
        <p:txBody>
          <a:bodyPr/>
          <a:lstStyle/>
          <a:p>
            <a:fld id="{AEE9AB63-2DD0-DF4B-A7F0-7BF2582936DD}" type="slidenum">
              <a:rPr lang="es-SV" smtClean="0"/>
              <a:t>‹Nº›</a:t>
            </a:fld>
            <a:endParaRPr lang="es-SV"/>
          </a:p>
        </p:txBody>
      </p:sp>
    </p:spTree>
    <p:extLst>
      <p:ext uri="{BB962C8B-B14F-4D97-AF65-F5344CB8AC3E}">
        <p14:creationId xmlns:p14="http://schemas.microsoft.com/office/powerpoint/2010/main" val="3173455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9B9020-EA08-2516-1B5A-BCDD9C03C029}"/>
              </a:ext>
            </a:extLst>
          </p:cNvPr>
          <p:cNvSpPr>
            <a:spLocks noGrp="1"/>
          </p:cNvSpPr>
          <p:nvPr>
            <p:ph type="title"/>
          </p:nvPr>
        </p:nvSpPr>
        <p:spPr/>
        <p:txBody>
          <a:bodyPr/>
          <a:lstStyle/>
          <a:p>
            <a:r>
              <a:rPr lang="es-SV"/>
              <a:t>Haz clic para modificar el estilo de título del patrón</a:t>
            </a:r>
            <a:endParaRPr lang="es-SV"/>
          </a:p>
        </p:txBody>
      </p:sp>
      <p:sp>
        <p:nvSpPr>
          <p:cNvPr id="3" name="Marcador de contenido 2">
            <a:extLst>
              <a:ext uri="{FF2B5EF4-FFF2-40B4-BE49-F238E27FC236}">
                <a16:creationId xmlns:a16="http://schemas.microsoft.com/office/drawing/2014/main" id="{BA077ED8-CB52-4C8A-AD7C-FF69313F089F}"/>
              </a:ext>
            </a:extLst>
          </p:cNvPr>
          <p:cNvSpPr>
            <a:spLocks noGrp="1"/>
          </p:cNvSpPr>
          <p:nvPr>
            <p:ph idx="1"/>
          </p:nvPr>
        </p:nvSpPr>
        <p:spPr/>
        <p:txBody>
          <a:bodyPr/>
          <a:lstStyle/>
          <a:p>
            <a:pPr lvl="0"/>
            <a:r>
              <a:rPr lang="es-SV"/>
              <a:t>Haga clic para modificar los estilos de texto del patrón</a:t>
            </a:r>
          </a:p>
          <a:p>
            <a:pPr lvl="1"/>
            <a:r>
              <a:rPr lang="es-SV"/>
              <a:t>Segundo nivel</a:t>
            </a:r>
          </a:p>
          <a:p>
            <a:pPr lvl="2"/>
            <a:r>
              <a:rPr lang="es-SV"/>
              <a:t>Tercer nivel</a:t>
            </a:r>
          </a:p>
          <a:p>
            <a:pPr lvl="3"/>
            <a:r>
              <a:rPr lang="es-SV"/>
              <a:t>Cuarto nivel</a:t>
            </a:r>
          </a:p>
          <a:p>
            <a:pPr lvl="4"/>
            <a:r>
              <a:rPr lang="es-SV"/>
              <a:t>Quinto nivel</a:t>
            </a:r>
            <a:endParaRPr lang="es-SV"/>
          </a:p>
        </p:txBody>
      </p:sp>
      <p:sp>
        <p:nvSpPr>
          <p:cNvPr id="4" name="Marcador de fecha 3">
            <a:extLst>
              <a:ext uri="{FF2B5EF4-FFF2-40B4-BE49-F238E27FC236}">
                <a16:creationId xmlns:a16="http://schemas.microsoft.com/office/drawing/2014/main" id="{8DA8A1C5-EFD4-6D53-6F60-91F7FEC37F04}"/>
              </a:ext>
            </a:extLst>
          </p:cNvPr>
          <p:cNvSpPr>
            <a:spLocks noGrp="1"/>
          </p:cNvSpPr>
          <p:nvPr>
            <p:ph type="dt" sz="half" idx="10"/>
          </p:nvPr>
        </p:nvSpPr>
        <p:spPr/>
        <p:txBody>
          <a:bodyPr/>
          <a:lstStyle/>
          <a:p>
            <a:fld id="{B6B18277-A37D-4F4A-BC70-5B646CB73774}" type="datetimeFigureOut">
              <a:rPr lang="es-SV" smtClean="0"/>
              <a:t>24/10/2026</a:t>
            </a:fld>
            <a:endParaRPr lang="es-SV"/>
          </a:p>
        </p:txBody>
      </p:sp>
      <p:sp>
        <p:nvSpPr>
          <p:cNvPr id="5" name="Marcador de pie de página 4">
            <a:extLst>
              <a:ext uri="{FF2B5EF4-FFF2-40B4-BE49-F238E27FC236}">
                <a16:creationId xmlns:a16="http://schemas.microsoft.com/office/drawing/2014/main" id="{19A934E5-6EC7-1E96-3E32-3BBF89B99B05}"/>
              </a:ext>
            </a:extLst>
          </p:cNvPr>
          <p:cNvSpPr>
            <a:spLocks noGrp="1"/>
          </p:cNvSpPr>
          <p:nvPr>
            <p:ph type="ftr" sz="quarter" idx="11"/>
          </p:nvPr>
        </p:nvSpPr>
        <p:spPr/>
        <p:txBody>
          <a:bodyPr/>
          <a:lstStyle/>
          <a:p>
            <a:endParaRPr lang="es-SV"/>
          </a:p>
        </p:txBody>
      </p:sp>
      <p:sp>
        <p:nvSpPr>
          <p:cNvPr id="6" name="Marcador de número de diapositiva 5">
            <a:extLst>
              <a:ext uri="{FF2B5EF4-FFF2-40B4-BE49-F238E27FC236}">
                <a16:creationId xmlns:a16="http://schemas.microsoft.com/office/drawing/2014/main" id="{2E42E576-5068-3919-22AE-2EFC0CFE6B87}"/>
              </a:ext>
            </a:extLst>
          </p:cNvPr>
          <p:cNvSpPr>
            <a:spLocks noGrp="1"/>
          </p:cNvSpPr>
          <p:nvPr>
            <p:ph type="sldNum" sz="quarter" idx="12"/>
          </p:nvPr>
        </p:nvSpPr>
        <p:spPr/>
        <p:txBody>
          <a:bodyPr/>
          <a:lstStyle/>
          <a:p>
            <a:fld id="{AEE9AB63-2DD0-DF4B-A7F0-7BF2582936DD}" type="slidenum">
              <a:rPr lang="es-SV" smtClean="0"/>
              <a:t>‹Nº›</a:t>
            </a:fld>
            <a:endParaRPr lang="es-SV"/>
          </a:p>
        </p:txBody>
      </p:sp>
    </p:spTree>
    <p:extLst>
      <p:ext uri="{BB962C8B-B14F-4D97-AF65-F5344CB8AC3E}">
        <p14:creationId xmlns:p14="http://schemas.microsoft.com/office/powerpoint/2010/main" val="63031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741BA9-205E-F894-3C02-1C6495E0CB2E}"/>
              </a:ext>
            </a:extLst>
          </p:cNvPr>
          <p:cNvSpPr>
            <a:spLocks noGrp="1"/>
          </p:cNvSpPr>
          <p:nvPr>
            <p:ph type="title"/>
          </p:nvPr>
        </p:nvSpPr>
        <p:spPr>
          <a:xfrm>
            <a:off x="831850" y="1709738"/>
            <a:ext cx="10515600" cy="2852737"/>
          </a:xfrm>
        </p:spPr>
        <p:txBody>
          <a:bodyPr anchor="b"/>
          <a:lstStyle>
            <a:lvl1pPr>
              <a:defRPr sz="6000" lang="es-SV"/>
            </a:lvl1pPr>
          </a:lstStyle>
          <a:p>
            <a:r>
              <a:rPr lang="es-SV"/>
              <a:t>Haz clic para modificar el estilo de título del patrón</a:t>
            </a:r>
            <a:endParaRPr lang="es-SV"/>
          </a:p>
        </p:txBody>
      </p:sp>
      <p:sp>
        <p:nvSpPr>
          <p:cNvPr id="3" name="Marcador de texto 2">
            <a:extLst>
              <a:ext uri="{FF2B5EF4-FFF2-40B4-BE49-F238E27FC236}">
                <a16:creationId xmlns:a16="http://schemas.microsoft.com/office/drawing/2014/main" id="{AF45D5F7-6E2F-4508-4252-BD3799069163}"/>
              </a:ext>
            </a:extLst>
          </p:cNvPr>
          <p:cNvSpPr>
            <a:spLocks noGrp="1"/>
          </p:cNvSpPr>
          <p:nvPr>
            <p:ph type="body" idx="1"/>
          </p:nvPr>
        </p:nvSpPr>
        <p:spPr>
          <a:xfrm>
            <a:off x="831850" y="4589463"/>
            <a:ext cx="10515600" cy="1500187"/>
          </a:xfrm>
        </p:spPr>
        <p:txBody>
          <a:bodyPr/>
          <a:lstStyle>
            <a:lvl1pPr marL="0" indent="0">
              <a:buNone/>
              <a:defRPr sz="2400" lang="es-SV">
                <a:solidFill>
                  <a:schemeClr val="tx1">
                    <a:tint val="82000"/>
                  </a:schemeClr>
                </a:solidFill>
              </a:defRPr>
            </a:lvl1pPr>
            <a:lvl2pPr marL="457200" indent="0">
              <a:buNone/>
              <a:defRPr sz="2000" lang="es-SV">
                <a:solidFill>
                  <a:schemeClr val="tx1">
                    <a:tint val="82000"/>
                  </a:schemeClr>
                </a:solidFill>
              </a:defRPr>
            </a:lvl2pPr>
            <a:lvl3pPr marL="914400" indent="0">
              <a:buNone/>
              <a:defRPr sz="1800" lang="es-SV">
                <a:solidFill>
                  <a:schemeClr val="tx1">
                    <a:tint val="82000"/>
                  </a:schemeClr>
                </a:solidFill>
              </a:defRPr>
            </a:lvl3pPr>
            <a:lvl4pPr marL="1371600" indent="0">
              <a:buNone/>
              <a:defRPr sz="1600" lang="es-SV">
                <a:solidFill>
                  <a:schemeClr val="tx1">
                    <a:tint val="82000"/>
                  </a:schemeClr>
                </a:solidFill>
              </a:defRPr>
            </a:lvl4pPr>
            <a:lvl5pPr marL="1828800" indent="0">
              <a:buNone/>
              <a:defRPr sz="1600" lang="es-SV">
                <a:solidFill>
                  <a:schemeClr val="tx1">
                    <a:tint val="82000"/>
                  </a:schemeClr>
                </a:solidFill>
              </a:defRPr>
            </a:lvl5pPr>
            <a:lvl6pPr marL="2286000" indent="0">
              <a:buNone/>
              <a:defRPr sz="1600" lang="es-SV">
                <a:solidFill>
                  <a:schemeClr val="tx1">
                    <a:tint val="82000"/>
                  </a:schemeClr>
                </a:solidFill>
              </a:defRPr>
            </a:lvl6pPr>
            <a:lvl7pPr marL="2743200" indent="0">
              <a:buNone/>
              <a:defRPr sz="1600" lang="es-SV">
                <a:solidFill>
                  <a:schemeClr val="tx1">
                    <a:tint val="82000"/>
                  </a:schemeClr>
                </a:solidFill>
              </a:defRPr>
            </a:lvl7pPr>
            <a:lvl8pPr marL="3200400" indent="0">
              <a:buNone/>
              <a:defRPr sz="1600" lang="es-SV">
                <a:solidFill>
                  <a:schemeClr val="tx1">
                    <a:tint val="82000"/>
                  </a:schemeClr>
                </a:solidFill>
              </a:defRPr>
            </a:lvl8pPr>
            <a:lvl9pPr marL="3657600" indent="0">
              <a:buNone/>
              <a:defRPr sz="1600" lang="es-SV">
                <a:solidFill>
                  <a:schemeClr val="tx1">
                    <a:tint val="82000"/>
                  </a:schemeClr>
                </a:solidFill>
              </a:defRPr>
            </a:lvl9pPr>
          </a:lstStyle>
          <a:p>
            <a:pPr lvl="0"/>
            <a:r>
              <a:rPr lang="es-SV"/>
              <a:t>Haga clic para modificar los estilos de texto del patrón</a:t>
            </a:r>
          </a:p>
        </p:txBody>
      </p:sp>
      <p:sp>
        <p:nvSpPr>
          <p:cNvPr id="4" name="Marcador de fecha 3">
            <a:extLst>
              <a:ext uri="{FF2B5EF4-FFF2-40B4-BE49-F238E27FC236}">
                <a16:creationId xmlns:a16="http://schemas.microsoft.com/office/drawing/2014/main" id="{9383CB00-BF9E-6F13-D537-AD0E366936F4}"/>
              </a:ext>
            </a:extLst>
          </p:cNvPr>
          <p:cNvSpPr>
            <a:spLocks noGrp="1"/>
          </p:cNvSpPr>
          <p:nvPr>
            <p:ph type="dt" sz="half" idx="10"/>
          </p:nvPr>
        </p:nvSpPr>
        <p:spPr/>
        <p:txBody>
          <a:bodyPr/>
          <a:lstStyle/>
          <a:p>
            <a:fld id="{B6B18277-A37D-4F4A-BC70-5B646CB73774}" type="datetimeFigureOut">
              <a:rPr lang="es-SV" smtClean="0"/>
              <a:t>24/10/2026</a:t>
            </a:fld>
            <a:endParaRPr lang="es-SV"/>
          </a:p>
        </p:txBody>
      </p:sp>
      <p:sp>
        <p:nvSpPr>
          <p:cNvPr id="5" name="Marcador de pie de página 4">
            <a:extLst>
              <a:ext uri="{FF2B5EF4-FFF2-40B4-BE49-F238E27FC236}">
                <a16:creationId xmlns:a16="http://schemas.microsoft.com/office/drawing/2014/main" id="{D6C7AE8E-7CF9-D7B6-D1ED-21E5FF908602}"/>
              </a:ext>
            </a:extLst>
          </p:cNvPr>
          <p:cNvSpPr>
            <a:spLocks noGrp="1"/>
          </p:cNvSpPr>
          <p:nvPr>
            <p:ph type="ftr" sz="quarter" idx="11"/>
          </p:nvPr>
        </p:nvSpPr>
        <p:spPr/>
        <p:txBody>
          <a:bodyPr/>
          <a:lstStyle/>
          <a:p>
            <a:endParaRPr lang="es-SV"/>
          </a:p>
        </p:txBody>
      </p:sp>
      <p:sp>
        <p:nvSpPr>
          <p:cNvPr id="6" name="Marcador de número de diapositiva 5">
            <a:extLst>
              <a:ext uri="{FF2B5EF4-FFF2-40B4-BE49-F238E27FC236}">
                <a16:creationId xmlns:a16="http://schemas.microsoft.com/office/drawing/2014/main" id="{87F0008D-520F-48DC-8002-8AD9CC9E7B47}"/>
              </a:ext>
            </a:extLst>
          </p:cNvPr>
          <p:cNvSpPr>
            <a:spLocks noGrp="1"/>
          </p:cNvSpPr>
          <p:nvPr>
            <p:ph type="sldNum" sz="quarter" idx="12"/>
          </p:nvPr>
        </p:nvSpPr>
        <p:spPr/>
        <p:txBody>
          <a:bodyPr/>
          <a:lstStyle/>
          <a:p>
            <a:fld id="{AEE9AB63-2DD0-DF4B-A7F0-7BF2582936DD}" type="slidenum">
              <a:rPr lang="es-SV" smtClean="0"/>
              <a:t>‹Nº›</a:t>
            </a:fld>
            <a:endParaRPr lang="es-SV"/>
          </a:p>
        </p:txBody>
      </p:sp>
    </p:spTree>
    <p:extLst>
      <p:ext uri="{BB962C8B-B14F-4D97-AF65-F5344CB8AC3E}">
        <p14:creationId xmlns:p14="http://schemas.microsoft.com/office/powerpoint/2010/main" val="4160302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4220B8-8DAC-8D1C-6637-1BB7C5447C82}"/>
              </a:ext>
            </a:extLst>
          </p:cNvPr>
          <p:cNvSpPr>
            <a:spLocks noGrp="1"/>
          </p:cNvSpPr>
          <p:nvPr>
            <p:ph type="title"/>
          </p:nvPr>
        </p:nvSpPr>
        <p:spPr/>
        <p:txBody>
          <a:bodyPr/>
          <a:lstStyle/>
          <a:p>
            <a:r>
              <a:rPr lang="es-SV"/>
              <a:t>Haz clic para modificar el estilo de título del patrón</a:t>
            </a:r>
            <a:endParaRPr lang="es-SV"/>
          </a:p>
        </p:txBody>
      </p:sp>
      <p:sp>
        <p:nvSpPr>
          <p:cNvPr id="3" name="Marcador de contenido 2">
            <a:extLst>
              <a:ext uri="{FF2B5EF4-FFF2-40B4-BE49-F238E27FC236}">
                <a16:creationId xmlns:a16="http://schemas.microsoft.com/office/drawing/2014/main" id="{E9A9161A-5259-CE4C-5F36-0C70C7DA06B0}"/>
              </a:ext>
            </a:extLst>
          </p:cNvPr>
          <p:cNvSpPr>
            <a:spLocks noGrp="1"/>
          </p:cNvSpPr>
          <p:nvPr>
            <p:ph sz="half" idx="1"/>
          </p:nvPr>
        </p:nvSpPr>
        <p:spPr>
          <a:xfrm>
            <a:off x="838200" y="1825625"/>
            <a:ext cx="5181600" cy="4351338"/>
          </a:xfrm>
        </p:spPr>
        <p:txBody>
          <a:bodyPr/>
          <a:lstStyle/>
          <a:p>
            <a:pPr lvl="0"/>
            <a:r>
              <a:rPr lang="es-SV"/>
              <a:t>Haga clic para modificar los estilos de texto del patrón</a:t>
            </a:r>
          </a:p>
          <a:p>
            <a:pPr lvl="1"/>
            <a:r>
              <a:rPr lang="es-SV"/>
              <a:t>Segundo nivel</a:t>
            </a:r>
          </a:p>
          <a:p>
            <a:pPr lvl="2"/>
            <a:r>
              <a:rPr lang="es-SV"/>
              <a:t>Tercer nivel</a:t>
            </a:r>
          </a:p>
          <a:p>
            <a:pPr lvl="3"/>
            <a:r>
              <a:rPr lang="es-SV"/>
              <a:t>Cuarto nivel</a:t>
            </a:r>
          </a:p>
          <a:p>
            <a:pPr lvl="4"/>
            <a:r>
              <a:rPr lang="es-SV"/>
              <a:t>Quinto nivel</a:t>
            </a:r>
            <a:endParaRPr lang="es-SV"/>
          </a:p>
        </p:txBody>
      </p:sp>
      <p:sp>
        <p:nvSpPr>
          <p:cNvPr id="4" name="Marcador de contenido 3">
            <a:extLst>
              <a:ext uri="{FF2B5EF4-FFF2-40B4-BE49-F238E27FC236}">
                <a16:creationId xmlns:a16="http://schemas.microsoft.com/office/drawing/2014/main" id="{E26E0585-6862-9B66-7349-CA36E8D6FAD7}"/>
              </a:ext>
            </a:extLst>
          </p:cNvPr>
          <p:cNvSpPr>
            <a:spLocks noGrp="1"/>
          </p:cNvSpPr>
          <p:nvPr>
            <p:ph sz="half" idx="2"/>
          </p:nvPr>
        </p:nvSpPr>
        <p:spPr>
          <a:xfrm>
            <a:off x="6172200" y="1825625"/>
            <a:ext cx="5181600" cy="4351338"/>
          </a:xfrm>
        </p:spPr>
        <p:txBody>
          <a:bodyPr/>
          <a:lstStyle/>
          <a:p>
            <a:pPr lvl="0"/>
            <a:r>
              <a:rPr lang="es-SV"/>
              <a:t>Haga clic para modificar los estilos de texto del patrón</a:t>
            </a:r>
          </a:p>
          <a:p>
            <a:pPr lvl="1"/>
            <a:r>
              <a:rPr lang="es-SV"/>
              <a:t>Segundo nivel</a:t>
            </a:r>
          </a:p>
          <a:p>
            <a:pPr lvl="2"/>
            <a:r>
              <a:rPr lang="es-SV"/>
              <a:t>Tercer nivel</a:t>
            </a:r>
          </a:p>
          <a:p>
            <a:pPr lvl="3"/>
            <a:r>
              <a:rPr lang="es-SV"/>
              <a:t>Cuarto nivel</a:t>
            </a:r>
          </a:p>
          <a:p>
            <a:pPr lvl="4"/>
            <a:r>
              <a:rPr lang="es-SV"/>
              <a:t>Quinto nivel</a:t>
            </a:r>
            <a:endParaRPr lang="es-SV"/>
          </a:p>
        </p:txBody>
      </p:sp>
      <p:sp>
        <p:nvSpPr>
          <p:cNvPr id="5" name="Marcador de fecha 4">
            <a:extLst>
              <a:ext uri="{FF2B5EF4-FFF2-40B4-BE49-F238E27FC236}">
                <a16:creationId xmlns:a16="http://schemas.microsoft.com/office/drawing/2014/main" id="{3613B306-A83F-3642-4CB4-6311A5324078}"/>
              </a:ext>
            </a:extLst>
          </p:cNvPr>
          <p:cNvSpPr>
            <a:spLocks noGrp="1"/>
          </p:cNvSpPr>
          <p:nvPr>
            <p:ph type="dt" sz="half" idx="10"/>
          </p:nvPr>
        </p:nvSpPr>
        <p:spPr/>
        <p:txBody>
          <a:bodyPr/>
          <a:lstStyle/>
          <a:p>
            <a:fld id="{B6B18277-A37D-4F4A-BC70-5B646CB73774}" type="datetimeFigureOut">
              <a:rPr lang="es-SV" smtClean="0"/>
              <a:t>24/10/2026</a:t>
            </a:fld>
            <a:endParaRPr lang="es-SV"/>
          </a:p>
        </p:txBody>
      </p:sp>
      <p:sp>
        <p:nvSpPr>
          <p:cNvPr id="6" name="Marcador de pie de página 5">
            <a:extLst>
              <a:ext uri="{FF2B5EF4-FFF2-40B4-BE49-F238E27FC236}">
                <a16:creationId xmlns:a16="http://schemas.microsoft.com/office/drawing/2014/main" id="{AEA5248C-A27A-B405-76D1-3A899EAC8286}"/>
              </a:ext>
            </a:extLst>
          </p:cNvPr>
          <p:cNvSpPr>
            <a:spLocks noGrp="1"/>
          </p:cNvSpPr>
          <p:nvPr>
            <p:ph type="ftr" sz="quarter" idx="11"/>
          </p:nvPr>
        </p:nvSpPr>
        <p:spPr/>
        <p:txBody>
          <a:bodyPr/>
          <a:lstStyle/>
          <a:p>
            <a:endParaRPr lang="es-SV"/>
          </a:p>
        </p:txBody>
      </p:sp>
      <p:sp>
        <p:nvSpPr>
          <p:cNvPr id="7" name="Marcador de número de diapositiva 6">
            <a:extLst>
              <a:ext uri="{FF2B5EF4-FFF2-40B4-BE49-F238E27FC236}">
                <a16:creationId xmlns:a16="http://schemas.microsoft.com/office/drawing/2014/main" id="{6180EF02-1565-5EF5-1FB7-41B9FDF16614}"/>
              </a:ext>
            </a:extLst>
          </p:cNvPr>
          <p:cNvSpPr>
            <a:spLocks noGrp="1"/>
          </p:cNvSpPr>
          <p:nvPr>
            <p:ph type="sldNum" sz="quarter" idx="12"/>
          </p:nvPr>
        </p:nvSpPr>
        <p:spPr/>
        <p:txBody>
          <a:bodyPr/>
          <a:lstStyle/>
          <a:p>
            <a:fld id="{AEE9AB63-2DD0-DF4B-A7F0-7BF2582936DD}" type="slidenum">
              <a:rPr lang="es-SV" smtClean="0"/>
              <a:t>‹Nº›</a:t>
            </a:fld>
            <a:endParaRPr lang="es-SV"/>
          </a:p>
        </p:txBody>
      </p:sp>
    </p:spTree>
    <p:extLst>
      <p:ext uri="{BB962C8B-B14F-4D97-AF65-F5344CB8AC3E}">
        <p14:creationId xmlns:p14="http://schemas.microsoft.com/office/powerpoint/2010/main" val="2045744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19B36E-EDCE-87AD-F79D-E35AE04A1BE8}"/>
              </a:ext>
            </a:extLst>
          </p:cNvPr>
          <p:cNvSpPr>
            <a:spLocks noGrp="1"/>
          </p:cNvSpPr>
          <p:nvPr>
            <p:ph type="title"/>
          </p:nvPr>
        </p:nvSpPr>
        <p:spPr>
          <a:xfrm>
            <a:off x="839788" y="365125"/>
            <a:ext cx="10515600" cy="1325563"/>
          </a:xfrm>
        </p:spPr>
        <p:txBody>
          <a:bodyPr/>
          <a:lstStyle/>
          <a:p>
            <a:r>
              <a:rPr lang="es-SV"/>
              <a:t>Haz clic para modificar el estilo de título del patrón</a:t>
            </a:r>
            <a:endParaRPr lang="es-SV"/>
          </a:p>
        </p:txBody>
      </p:sp>
      <p:sp>
        <p:nvSpPr>
          <p:cNvPr id="3" name="Marcador de texto 2">
            <a:extLst>
              <a:ext uri="{FF2B5EF4-FFF2-40B4-BE49-F238E27FC236}">
                <a16:creationId xmlns:a16="http://schemas.microsoft.com/office/drawing/2014/main" id="{E1BCF1C7-0762-26FF-516A-1F5C54FD36B6}"/>
              </a:ext>
            </a:extLst>
          </p:cNvPr>
          <p:cNvSpPr>
            <a:spLocks noGrp="1"/>
          </p:cNvSpPr>
          <p:nvPr>
            <p:ph type="body" idx="1"/>
          </p:nvPr>
        </p:nvSpPr>
        <p:spPr>
          <a:xfrm>
            <a:off x="839788" y="1681163"/>
            <a:ext cx="5157787" cy="823912"/>
          </a:xfrm>
        </p:spPr>
        <p:txBody>
          <a:bodyPr anchor="b"/>
          <a:lstStyle>
            <a:lvl1pPr marL="0" indent="0">
              <a:buNone/>
              <a:defRPr sz="2400" b="1" lang="es-SV"/>
            </a:lvl1pPr>
            <a:lvl2pPr marL="457200" indent="0">
              <a:buNone/>
              <a:defRPr sz="2000" b="1" lang="es-SV"/>
            </a:lvl2pPr>
            <a:lvl3pPr marL="914400" indent="0">
              <a:buNone/>
              <a:defRPr sz="1800" b="1" lang="es-SV"/>
            </a:lvl3pPr>
            <a:lvl4pPr marL="1371600" indent="0">
              <a:buNone/>
              <a:defRPr sz="1600" b="1" lang="es-SV"/>
            </a:lvl4pPr>
            <a:lvl5pPr marL="1828800" indent="0">
              <a:buNone/>
              <a:defRPr sz="1600" b="1" lang="es-SV"/>
            </a:lvl5pPr>
            <a:lvl6pPr marL="2286000" indent="0">
              <a:buNone/>
              <a:defRPr sz="1600" b="1" lang="es-SV"/>
            </a:lvl6pPr>
            <a:lvl7pPr marL="2743200" indent="0">
              <a:buNone/>
              <a:defRPr sz="1600" b="1" lang="es-SV"/>
            </a:lvl7pPr>
            <a:lvl8pPr marL="3200400" indent="0">
              <a:buNone/>
              <a:defRPr sz="1600" b="1" lang="es-SV"/>
            </a:lvl8pPr>
            <a:lvl9pPr marL="3657600" indent="0">
              <a:buNone/>
              <a:defRPr sz="1600" b="1" lang="es-SV"/>
            </a:lvl9pPr>
          </a:lstStyle>
          <a:p>
            <a:pPr lvl="0"/>
            <a:r>
              <a:rPr lang="es-SV"/>
              <a:t>Haga clic para modificar los estilos de texto del patrón</a:t>
            </a:r>
          </a:p>
        </p:txBody>
      </p:sp>
      <p:sp>
        <p:nvSpPr>
          <p:cNvPr id="4" name="Marcador de contenido 3">
            <a:extLst>
              <a:ext uri="{FF2B5EF4-FFF2-40B4-BE49-F238E27FC236}">
                <a16:creationId xmlns:a16="http://schemas.microsoft.com/office/drawing/2014/main" id="{2DF51246-48E6-D02D-90D5-3F540BED36E5}"/>
              </a:ext>
            </a:extLst>
          </p:cNvPr>
          <p:cNvSpPr>
            <a:spLocks noGrp="1"/>
          </p:cNvSpPr>
          <p:nvPr>
            <p:ph sz="half" idx="2"/>
          </p:nvPr>
        </p:nvSpPr>
        <p:spPr>
          <a:xfrm>
            <a:off x="839788" y="2505075"/>
            <a:ext cx="5157787" cy="3684588"/>
          </a:xfrm>
        </p:spPr>
        <p:txBody>
          <a:bodyPr/>
          <a:lstStyle/>
          <a:p>
            <a:pPr lvl="0"/>
            <a:r>
              <a:rPr lang="es-SV"/>
              <a:t>Haga clic para modificar los estilos de texto del patrón</a:t>
            </a:r>
          </a:p>
          <a:p>
            <a:pPr lvl="1"/>
            <a:r>
              <a:rPr lang="es-SV"/>
              <a:t>Segundo nivel</a:t>
            </a:r>
          </a:p>
          <a:p>
            <a:pPr lvl="2"/>
            <a:r>
              <a:rPr lang="es-SV"/>
              <a:t>Tercer nivel</a:t>
            </a:r>
          </a:p>
          <a:p>
            <a:pPr lvl="3"/>
            <a:r>
              <a:rPr lang="es-SV"/>
              <a:t>Cuarto nivel</a:t>
            </a:r>
          </a:p>
          <a:p>
            <a:pPr lvl="4"/>
            <a:r>
              <a:rPr lang="es-SV"/>
              <a:t>Quinto nivel</a:t>
            </a:r>
            <a:endParaRPr lang="es-SV"/>
          </a:p>
        </p:txBody>
      </p:sp>
      <p:sp>
        <p:nvSpPr>
          <p:cNvPr id="5" name="Marcador de texto 4">
            <a:extLst>
              <a:ext uri="{FF2B5EF4-FFF2-40B4-BE49-F238E27FC236}">
                <a16:creationId xmlns:a16="http://schemas.microsoft.com/office/drawing/2014/main" id="{951D2A50-BDD8-0140-6856-B160A3EF9C77}"/>
              </a:ext>
            </a:extLst>
          </p:cNvPr>
          <p:cNvSpPr>
            <a:spLocks noGrp="1"/>
          </p:cNvSpPr>
          <p:nvPr>
            <p:ph type="body" sz="quarter" idx="3"/>
          </p:nvPr>
        </p:nvSpPr>
        <p:spPr>
          <a:xfrm>
            <a:off x="6172200" y="1681163"/>
            <a:ext cx="5183188" cy="823912"/>
          </a:xfrm>
        </p:spPr>
        <p:txBody>
          <a:bodyPr anchor="b"/>
          <a:lstStyle>
            <a:lvl1pPr marL="0" indent="0">
              <a:buNone/>
              <a:defRPr sz="2400" b="1" lang="es-SV"/>
            </a:lvl1pPr>
            <a:lvl2pPr marL="457200" indent="0">
              <a:buNone/>
              <a:defRPr sz="2000" b="1" lang="es-SV"/>
            </a:lvl2pPr>
            <a:lvl3pPr marL="914400" indent="0">
              <a:buNone/>
              <a:defRPr sz="1800" b="1" lang="es-SV"/>
            </a:lvl3pPr>
            <a:lvl4pPr marL="1371600" indent="0">
              <a:buNone/>
              <a:defRPr sz="1600" b="1" lang="es-SV"/>
            </a:lvl4pPr>
            <a:lvl5pPr marL="1828800" indent="0">
              <a:buNone/>
              <a:defRPr sz="1600" b="1" lang="es-SV"/>
            </a:lvl5pPr>
            <a:lvl6pPr marL="2286000" indent="0">
              <a:buNone/>
              <a:defRPr sz="1600" b="1" lang="es-SV"/>
            </a:lvl6pPr>
            <a:lvl7pPr marL="2743200" indent="0">
              <a:buNone/>
              <a:defRPr sz="1600" b="1" lang="es-SV"/>
            </a:lvl7pPr>
            <a:lvl8pPr marL="3200400" indent="0">
              <a:buNone/>
              <a:defRPr sz="1600" b="1" lang="es-SV"/>
            </a:lvl8pPr>
            <a:lvl9pPr marL="3657600" indent="0">
              <a:buNone/>
              <a:defRPr sz="1600" b="1" lang="es-SV"/>
            </a:lvl9pPr>
          </a:lstStyle>
          <a:p>
            <a:pPr lvl="0"/>
            <a:r>
              <a:rPr lang="es-SV"/>
              <a:t>Haga clic para modificar los estilos de texto del patrón</a:t>
            </a:r>
          </a:p>
        </p:txBody>
      </p:sp>
      <p:sp>
        <p:nvSpPr>
          <p:cNvPr id="6" name="Marcador de contenido 5">
            <a:extLst>
              <a:ext uri="{FF2B5EF4-FFF2-40B4-BE49-F238E27FC236}">
                <a16:creationId xmlns:a16="http://schemas.microsoft.com/office/drawing/2014/main" id="{3E96DA55-D8D7-ECD8-C1C1-E7CF8F4CC759}"/>
              </a:ext>
            </a:extLst>
          </p:cNvPr>
          <p:cNvSpPr>
            <a:spLocks noGrp="1"/>
          </p:cNvSpPr>
          <p:nvPr>
            <p:ph sz="quarter" idx="4"/>
          </p:nvPr>
        </p:nvSpPr>
        <p:spPr>
          <a:xfrm>
            <a:off x="6172200" y="2505075"/>
            <a:ext cx="5183188" cy="3684588"/>
          </a:xfrm>
        </p:spPr>
        <p:txBody>
          <a:bodyPr/>
          <a:lstStyle/>
          <a:p>
            <a:pPr lvl="0"/>
            <a:r>
              <a:rPr lang="es-SV"/>
              <a:t>Haga clic para modificar los estilos de texto del patrón</a:t>
            </a:r>
          </a:p>
          <a:p>
            <a:pPr lvl="1"/>
            <a:r>
              <a:rPr lang="es-SV"/>
              <a:t>Segundo nivel</a:t>
            </a:r>
          </a:p>
          <a:p>
            <a:pPr lvl="2"/>
            <a:r>
              <a:rPr lang="es-SV"/>
              <a:t>Tercer nivel</a:t>
            </a:r>
          </a:p>
          <a:p>
            <a:pPr lvl="3"/>
            <a:r>
              <a:rPr lang="es-SV"/>
              <a:t>Cuarto nivel</a:t>
            </a:r>
          </a:p>
          <a:p>
            <a:pPr lvl="4"/>
            <a:r>
              <a:rPr lang="es-SV"/>
              <a:t>Quinto nivel</a:t>
            </a:r>
            <a:endParaRPr lang="es-SV"/>
          </a:p>
        </p:txBody>
      </p:sp>
      <p:sp>
        <p:nvSpPr>
          <p:cNvPr id="7" name="Marcador de fecha 6">
            <a:extLst>
              <a:ext uri="{FF2B5EF4-FFF2-40B4-BE49-F238E27FC236}">
                <a16:creationId xmlns:a16="http://schemas.microsoft.com/office/drawing/2014/main" id="{6DBD5DE8-BAAD-A23F-E42A-FC78EE221194}"/>
              </a:ext>
            </a:extLst>
          </p:cNvPr>
          <p:cNvSpPr>
            <a:spLocks noGrp="1"/>
          </p:cNvSpPr>
          <p:nvPr>
            <p:ph type="dt" sz="half" idx="10"/>
          </p:nvPr>
        </p:nvSpPr>
        <p:spPr/>
        <p:txBody>
          <a:bodyPr/>
          <a:lstStyle/>
          <a:p>
            <a:fld id="{B6B18277-A37D-4F4A-BC70-5B646CB73774}" type="datetimeFigureOut">
              <a:rPr lang="es-SV" smtClean="0"/>
              <a:t>24/10/2026</a:t>
            </a:fld>
            <a:endParaRPr lang="es-SV"/>
          </a:p>
        </p:txBody>
      </p:sp>
      <p:sp>
        <p:nvSpPr>
          <p:cNvPr id="8" name="Marcador de pie de página 7">
            <a:extLst>
              <a:ext uri="{FF2B5EF4-FFF2-40B4-BE49-F238E27FC236}">
                <a16:creationId xmlns:a16="http://schemas.microsoft.com/office/drawing/2014/main" id="{90EE4B05-A3D0-6017-130F-86F230B226C2}"/>
              </a:ext>
            </a:extLst>
          </p:cNvPr>
          <p:cNvSpPr>
            <a:spLocks noGrp="1"/>
          </p:cNvSpPr>
          <p:nvPr>
            <p:ph type="ftr" sz="quarter" idx="11"/>
          </p:nvPr>
        </p:nvSpPr>
        <p:spPr/>
        <p:txBody>
          <a:bodyPr/>
          <a:lstStyle/>
          <a:p>
            <a:endParaRPr lang="es-SV"/>
          </a:p>
        </p:txBody>
      </p:sp>
      <p:sp>
        <p:nvSpPr>
          <p:cNvPr id="9" name="Marcador de número de diapositiva 8">
            <a:extLst>
              <a:ext uri="{FF2B5EF4-FFF2-40B4-BE49-F238E27FC236}">
                <a16:creationId xmlns:a16="http://schemas.microsoft.com/office/drawing/2014/main" id="{D7F5D9EF-48D1-D8F2-FB9C-D4A247EBF445}"/>
              </a:ext>
            </a:extLst>
          </p:cNvPr>
          <p:cNvSpPr>
            <a:spLocks noGrp="1"/>
          </p:cNvSpPr>
          <p:nvPr>
            <p:ph type="sldNum" sz="quarter" idx="12"/>
          </p:nvPr>
        </p:nvSpPr>
        <p:spPr/>
        <p:txBody>
          <a:bodyPr/>
          <a:lstStyle/>
          <a:p>
            <a:fld id="{AEE9AB63-2DD0-DF4B-A7F0-7BF2582936DD}" type="slidenum">
              <a:rPr lang="es-SV" smtClean="0"/>
              <a:t>‹Nº›</a:t>
            </a:fld>
            <a:endParaRPr lang="es-SV"/>
          </a:p>
        </p:txBody>
      </p:sp>
    </p:spTree>
    <p:extLst>
      <p:ext uri="{BB962C8B-B14F-4D97-AF65-F5344CB8AC3E}">
        <p14:creationId xmlns:p14="http://schemas.microsoft.com/office/powerpoint/2010/main" val="1502370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5D267A-E196-13EF-FD3A-074D479D46B8}"/>
              </a:ext>
            </a:extLst>
          </p:cNvPr>
          <p:cNvSpPr>
            <a:spLocks noGrp="1"/>
          </p:cNvSpPr>
          <p:nvPr>
            <p:ph type="title"/>
          </p:nvPr>
        </p:nvSpPr>
        <p:spPr/>
        <p:txBody>
          <a:bodyPr/>
          <a:lstStyle/>
          <a:p>
            <a:r>
              <a:rPr lang="es-SV"/>
              <a:t>Haz clic para modificar el estilo de título del patrón</a:t>
            </a:r>
            <a:endParaRPr lang="es-SV"/>
          </a:p>
        </p:txBody>
      </p:sp>
      <p:sp>
        <p:nvSpPr>
          <p:cNvPr id="3" name="Marcador de fecha 2">
            <a:extLst>
              <a:ext uri="{FF2B5EF4-FFF2-40B4-BE49-F238E27FC236}">
                <a16:creationId xmlns:a16="http://schemas.microsoft.com/office/drawing/2014/main" id="{CD7AF0F5-062D-3B95-9353-81F0DA2BC0AD}"/>
              </a:ext>
            </a:extLst>
          </p:cNvPr>
          <p:cNvSpPr>
            <a:spLocks noGrp="1"/>
          </p:cNvSpPr>
          <p:nvPr>
            <p:ph type="dt" sz="half" idx="10"/>
          </p:nvPr>
        </p:nvSpPr>
        <p:spPr/>
        <p:txBody>
          <a:bodyPr/>
          <a:lstStyle/>
          <a:p>
            <a:fld id="{B6B18277-A37D-4F4A-BC70-5B646CB73774}" type="datetimeFigureOut">
              <a:rPr lang="es-SV" smtClean="0"/>
              <a:t>24/10/2026</a:t>
            </a:fld>
            <a:endParaRPr lang="es-SV"/>
          </a:p>
        </p:txBody>
      </p:sp>
      <p:sp>
        <p:nvSpPr>
          <p:cNvPr id="4" name="Marcador de pie de página 3">
            <a:extLst>
              <a:ext uri="{FF2B5EF4-FFF2-40B4-BE49-F238E27FC236}">
                <a16:creationId xmlns:a16="http://schemas.microsoft.com/office/drawing/2014/main" id="{68B978C5-1E29-BE73-7E64-204B0F2BC6BF}"/>
              </a:ext>
            </a:extLst>
          </p:cNvPr>
          <p:cNvSpPr>
            <a:spLocks noGrp="1"/>
          </p:cNvSpPr>
          <p:nvPr>
            <p:ph type="ftr" sz="quarter" idx="11"/>
          </p:nvPr>
        </p:nvSpPr>
        <p:spPr/>
        <p:txBody>
          <a:bodyPr/>
          <a:lstStyle/>
          <a:p>
            <a:endParaRPr lang="es-SV"/>
          </a:p>
        </p:txBody>
      </p:sp>
      <p:sp>
        <p:nvSpPr>
          <p:cNvPr id="5" name="Marcador de número de diapositiva 4">
            <a:extLst>
              <a:ext uri="{FF2B5EF4-FFF2-40B4-BE49-F238E27FC236}">
                <a16:creationId xmlns:a16="http://schemas.microsoft.com/office/drawing/2014/main" id="{477B0AA7-3AEF-3A56-2110-DB17D35E47F7}"/>
              </a:ext>
            </a:extLst>
          </p:cNvPr>
          <p:cNvSpPr>
            <a:spLocks noGrp="1"/>
          </p:cNvSpPr>
          <p:nvPr>
            <p:ph type="sldNum" sz="quarter" idx="12"/>
          </p:nvPr>
        </p:nvSpPr>
        <p:spPr/>
        <p:txBody>
          <a:bodyPr/>
          <a:lstStyle/>
          <a:p>
            <a:fld id="{AEE9AB63-2DD0-DF4B-A7F0-7BF2582936DD}" type="slidenum">
              <a:rPr lang="es-SV" smtClean="0"/>
              <a:t>‹Nº›</a:t>
            </a:fld>
            <a:endParaRPr lang="es-SV"/>
          </a:p>
        </p:txBody>
      </p:sp>
    </p:spTree>
    <p:extLst>
      <p:ext uri="{BB962C8B-B14F-4D97-AF65-F5344CB8AC3E}">
        <p14:creationId xmlns:p14="http://schemas.microsoft.com/office/powerpoint/2010/main" val="3890413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FCC7489-4F6B-4B71-04D6-99301E90D467}"/>
              </a:ext>
            </a:extLst>
          </p:cNvPr>
          <p:cNvSpPr>
            <a:spLocks noGrp="1"/>
          </p:cNvSpPr>
          <p:nvPr>
            <p:ph type="dt" sz="half" idx="10"/>
          </p:nvPr>
        </p:nvSpPr>
        <p:spPr/>
        <p:txBody>
          <a:bodyPr/>
          <a:lstStyle/>
          <a:p>
            <a:fld id="{B6B18277-A37D-4F4A-BC70-5B646CB73774}" type="datetimeFigureOut">
              <a:rPr lang="es-SV" smtClean="0"/>
              <a:t>24/10/2026</a:t>
            </a:fld>
            <a:endParaRPr lang="es-SV"/>
          </a:p>
        </p:txBody>
      </p:sp>
      <p:sp>
        <p:nvSpPr>
          <p:cNvPr id="3" name="Marcador de pie de página 2">
            <a:extLst>
              <a:ext uri="{FF2B5EF4-FFF2-40B4-BE49-F238E27FC236}">
                <a16:creationId xmlns:a16="http://schemas.microsoft.com/office/drawing/2014/main" id="{7E98D37B-9ECE-609D-114F-5B39D35B360E}"/>
              </a:ext>
            </a:extLst>
          </p:cNvPr>
          <p:cNvSpPr>
            <a:spLocks noGrp="1"/>
          </p:cNvSpPr>
          <p:nvPr>
            <p:ph type="ftr" sz="quarter" idx="11"/>
          </p:nvPr>
        </p:nvSpPr>
        <p:spPr/>
        <p:txBody>
          <a:bodyPr/>
          <a:lstStyle/>
          <a:p>
            <a:endParaRPr lang="es-SV"/>
          </a:p>
        </p:txBody>
      </p:sp>
      <p:sp>
        <p:nvSpPr>
          <p:cNvPr id="4" name="Marcador de número de diapositiva 3">
            <a:extLst>
              <a:ext uri="{FF2B5EF4-FFF2-40B4-BE49-F238E27FC236}">
                <a16:creationId xmlns:a16="http://schemas.microsoft.com/office/drawing/2014/main" id="{AE39F9FC-6691-46A3-5923-57E96A230C11}"/>
              </a:ext>
            </a:extLst>
          </p:cNvPr>
          <p:cNvSpPr>
            <a:spLocks noGrp="1"/>
          </p:cNvSpPr>
          <p:nvPr>
            <p:ph type="sldNum" sz="quarter" idx="12"/>
          </p:nvPr>
        </p:nvSpPr>
        <p:spPr/>
        <p:txBody>
          <a:bodyPr/>
          <a:lstStyle/>
          <a:p>
            <a:fld id="{AEE9AB63-2DD0-DF4B-A7F0-7BF2582936DD}" type="slidenum">
              <a:rPr lang="es-SV" smtClean="0"/>
              <a:t>‹Nº›</a:t>
            </a:fld>
            <a:endParaRPr lang="es-SV"/>
          </a:p>
        </p:txBody>
      </p:sp>
    </p:spTree>
    <p:extLst>
      <p:ext uri="{BB962C8B-B14F-4D97-AF65-F5344CB8AC3E}">
        <p14:creationId xmlns:p14="http://schemas.microsoft.com/office/powerpoint/2010/main" val="3539707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787392-18A3-AFAD-0386-5808804C5B84}"/>
              </a:ext>
            </a:extLst>
          </p:cNvPr>
          <p:cNvSpPr>
            <a:spLocks noGrp="1"/>
          </p:cNvSpPr>
          <p:nvPr>
            <p:ph type="title"/>
          </p:nvPr>
        </p:nvSpPr>
        <p:spPr>
          <a:xfrm>
            <a:off x="839788" y="457200"/>
            <a:ext cx="3932237" cy="1600200"/>
          </a:xfrm>
        </p:spPr>
        <p:txBody>
          <a:bodyPr anchor="b"/>
          <a:lstStyle>
            <a:lvl1pPr>
              <a:defRPr sz="3200" lang="es-SV"/>
            </a:lvl1pPr>
          </a:lstStyle>
          <a:p>
            <a:r>
              <a:rPr lang="es-SV"/>
              <a:t>Haz clic para modificar el estilo de título del patrón</a:t>
            </a:r>
            <a:endParaRPr lang="es-SV"/>
          </a:p>
        </p:txBody>
      </p:sp>
      <p:sp>
        <p:nvSpPr>
          <p:cNvPr id="3" name="Marcador de contenido 2">
            <a:extLst>
              <a:ext uri="{FF2B5EF4-FFF2-40B4-BE49-F238E27FC236}">
                <a16:creationId xmlns:a16="http://schemas.microsoft.com/office/drawing/2014/main" id="{F26BC22E-F43A-1EC3-EED9-A963FEEEED45}"/>
              </a:ext>
            </a:extLst>
          </p:cNvPr>
          <p:cNvSpPr>
            <a:spLocks noGrp="1"/>
          </p:cNvSpPr>
          <p:nvPr>
            <p:ph idx="1"/>
          </p:nvPr>
        </p:nvSpPr>
        <p:spPr>
          <a:xfrm>
            <a:off x="5183188" y="987425"/>
            <a:ext cx="6172200" cy="4873625"/>
          </a:xfrm>
        </p:spPr>
        <p:txBody>
          <a:bodyPr/>
          <a:lstStyle>
            <a:lvl1pPr>
              <a:defRPr sz="3200" lang="es-SV"/>
            </a:lvl1pPr>
            <a:lvl2pPr>
              <a:defRPr sz="2800" lang="es-SV"/>
            </a:lvl2pPr>
            <a:lvl3pPr>
              <a:defRPr sz="2400" lang="es-SV"/>
            </a:lvl3pPr>
            <a:lvl4pPr>
              <a:defRPr sz="2000" lang="es-SV"/>
            </a:lvl4pPr>
            <a:lvl5pPr>
              <a:defRPr sz="2000" lang="es-SV"/>
            </a:lvl5pPr>
            <a:lvl6pPr>
              <a:defRPr sz="2000" lang="es-SV"/>
            </a:lvl6pPr>
            <a:lvl7pPr>
              <a:defRPr sz="2000" lang="es-SV"/>
            </a:lvl7pPr>
            <a:lvl8pPr>
              <a:defRPr sz="2000" lang="es-SV"/>
            </a:lvl8pPr>
            <a:lvl9pPr>
              <a:defRPr sz="2000" lang="es-SV"/>
            </a:lvl9pPr>
          </a:lstStyle>
          <a:p>
            <a:pPr lvl="0"/>
            <a:r>
              <a:rPr lang="es-SV"/>
              <a:t>Haga clic para modificar los estilos de texto del patrón</a:t>
            </a:r>
          </a:p>
          <a:p>
            <a:pPr lvl="1"/>
            <a:r>
              <a:rPr lang="es-SV"/>
              <a:t>Segundo nivel</a:t>
            </a:r>
          </a:p>
          <a:p>
            <a:pPr lvl="2"/>
            <a:r>
              <a:rPr lang="es-SV"/>
              <a:t>Tercer nivel</a:t>
            </a:r>
          </a:p>
          <a:p>
            <a:pPr lvl="3"/>
            <a:r>
              <a:rPr lang="es-SV"/>
              <a:t>Cuarto nivel</a:t>
            </a:r>
          </a:p>
          <a:p>
            <a:pPr lvl="4"/>
            <a:r>
              <a:rPr lang="es-SV"/>
              <a:t>Quinto nivel</a:t>
            </a:r>
            <a:endParaRPr lang="es-SV"/>
          </a:p>
        </p:txBody>
      </p:sp>
      <p:sp>
        <p:nvSpPr>
          <p:cNvPr id="4" name="Marcador de texto 3">
            <a:extLst>
              <a:ext uri="{FF2B5EF4-FFF2-40B4-BE49-F238E27FC236}">
                <a16:creationId xmlns:a16="http://schemas.microsoft.com/office/drawing/2014/main" id="{159D0088-C458-B008-17CB-AD362EFD35EB}"/>
              </a:ext>
            </a:extLst>
          </p:cNvPr>
          <p:cNvSpPr>
            <a:spLocks noGrp="1"/>
          </p:cNvSpPr>
          <p:nvPr>
            <p:ph type="body" sz="half" idx="2"/>
          </p:nvPr>
        </p:nvSpPr>
        <p:spPr>
          <a:xfrm>
            <a:off x="839788" y="2057400"/>
            <a:ext cx="3932237" cy="3811588"/>
          </a:xfrm>
        </p:spPr>
        <p:txBody>
          <a:bodyPr/>
          <a:lstStyle>
            <a:lvl1pPr marL="0" indent="0">
              <a:buNone/>
              <a:defRPr sz="1600" lang="es-SV"/>
            </a:lvl1pPr>
            <a:lvl2pPr marL="457200" indent="0">
              <a:buNone/>
              <a:defRPr sz="1400" lang="es-SV"/>
            </a:lvl2pPr>
            <a:lvl3pPr marL="914400" indent="0">
              <a:buNone/>
              <a:defRPr sz="1200" lang="es-SV"/>
            </a:lvl3pPr>
            <a:lvl4pPr marL="1371600" indent="0">
              <a:buNone/>
              <a:defRPr sz="1000" lang="es-SV"/>
            </a:lvl4pPr>
            <a:lvl5pPr marL="1828800" indent="0">
              <a:buNone/>
              <a:defRPr sz="1000" lang="es-SV"/>
            </a:lvl5pPr>
            <a:lvl6pPr marL="2286000" indent="0">
              <a:buNone/>
              <a:defRPr sz="1000" lang="es-SV"/>
            </a:lvl6pPr>
            <a:lvl7pPr marL="2743200" indent="0">
              <a:buNone/>
              <a:defRPr sz="1000" lang="es-SV"/>
            </a:lvl7pPr>
            <a:lvl8pPr marL="3200400" indent="0">
              <a:buNone/>
              <a:defRPr sz="1000" lang="es-SV"/>
            </a:lvl8pPr>
            <a:lvl9pPr marL="3657600" indent="0">
              <a:buNone/>
              <a:defRPr sz="1000" lang="es-SV"/>
            </a:lvl9pPr>
          </a:lstStyle>
          <a:p>
            <a:pPr lvl="0"/>
            <a:r>
              <a:rPr lang="es-SV"/>
              <a:t>Haga clic para modificar los estilos de texto del patrón</a:t>
            </a:r>
          </a:p>
        </p:txBody>
      </p:sp>
      <p:sp>
        <p:nvSpPr>
          <p:cNvPr id="5" name="Marcador de fecha 4">
            <a:extLst>
              <a:ext uri="{FF2B5EF4-FFF2-40B4-BE49-F238E27FC236}">
                <a16:creationId xmlns:a16="http://schemas.microsoft.com/office/drawing/2014/main" id="{28FC4388-D961-AFC4-338C-FE20825D2D1D}"/>
              </a:ext>
            </a:extLst>
          </p:cNvPr>
          <p:cNvSpPr>
            <a:spLocks noGrp="1"/>
          </p:cNvSpPr>
          <p:nvPr>
            <p:ph type="dt" sz="half" idx="10"/>
          </p:nvPr>
        </p:nvSpPr>
        <p:spPr/>
        <p:txBody>
          <a:bodyPr/>
          <a:lstStyle/>
          <a:p>
            <a:fld id="{B6B18277-A37D-4F4A-BC70-5B646CB73774}" type="datetimeFigureOut">
              <a:rPr lang="es-SV" smtClean="0"/>
              <a:t>24/10/2026</a:t>
            </a:fld>
            <a:endParaRPr lang="es-SV"/>
          </a:p>
        </p:txBody>
      </p:sp>
      <p:sp>
        <p:nvSpPr>
          <p:cNvPr id="6" name="Marcador de pie de página 5">
            <a:extLst>
              <a:ext uri="{FF2B5EF4-FFF2-40B4-BE49-F238E27FC236}">
                <a16:creationId xmlns:a16="http://schemas.microsoft.com/office/drawing/2014/main" id="{CC002D08-31EF-ADC4-EF6C-8C048140FC83}"/>
              </a:ext>
            </a:extLst>
          </p:cNvPr>
          <p:cNvSpPr>
            <a:spLocks noGrp="1"/>
          </p:cNvSpPr>
          <p:nvPr>
            <p:ph type="ftr" sz="quarter" idx="11"/>
          </p:nvPr>
        </p:nvSpPr>
        <p:spPr/>
        <p:txBody>
          <a:bodyPr/>
          <a:lstStyle/>
          <a:p>
            <a:endParaRPr lang="es-SV"/>
          </a:p>
        </p:txBody>
      </p:sp>
      <p:sp>
        <p:nvSpPr>
          <p:cNvPr id="7" name="Marcador de número de diapositiva 6">
            <a:extLst>
              <a:ext uri="{FF2B5EF4-FFF2-40B4-BE49-F238E27FC236}">
                <a16:creationId xmlns:a16="http://schemas.microsoft.com/office/drawing/2014/main" id="{3AB107B0-2B1B-DC26-D758-C2A80EA4404E}"/>
              </a:ext>
            </a:extLst>
          </p:cNvPr>
          <p:cNvSpPr>
            <a:spLocks noGrp="1"/>
          </p:cNvSpPr>
          <p:nvPr>
            <p:ph type="sldNum" sz="quarter" idx="12"/>
          </p:nvPr>
        </p:nvSpPr>
        <p:spPr/>
        <p:txBody>
          <a:bodyPr/>
          <a:lstStyle/>
          <a:p>
            <a:fld id="{AEE9AB63-2DD0-DF4B-A7F0-7BF2582936DD}" type="slidenum">
              <a:rPr lang="es-SV" smtClean="0"/>
              <a:t>‹Nº›</a:t>
            </a:fld>
            <a:endParaRPr lang="es-SV"/>
          </a:p>
        </p:txBody>
      </p:sp>
    </p:spTree>
    <p:extLst>
      <p:ext uri="{BB962C8B-B14F-4D97-AF65-F5344CB8AC3E}">
        <p14:creationId xmlns:p14="http://schemas.microsoft.com/office/powerpoint/2010/main" val="3655922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C7F8E7-BC43-E55F-DCE0-B17E30AF55E3}"/>
              </a:ext>
            </a:extLst>
          </p:cNvPr>
          <p:cNvSpPr>
            <a:spLocks noGrp="1"/>
          </p:cNvSpPr>
          <p:nvPr>
            <p:ph type="title"/>
          </p:nvPr>
        </p:nvSpPr>
        <p:spPr>
          <a:xfrm>
            <a:off x="839788" y="457200"/>
            <a:ext cx="3932237" cy="1600200"/>
          </a:xfrm>
        </p:spPr>
        <p:txBody>
          <a:bodyPr anchor="b"/>
          <a:lstStyle>
            <a:lvl1pPr>
              <a:defRPr sz="3200" lang="es-SV"/>
            </a:lvl1pPr>
          </a:lstStyle>
          <a:p>
            <a:r>
              <a:rPr lang="es-SV"/>
              <a:t>Haz clic para modificar el estilo de título del patrón</a:t>
            </a:r>
            <a:endParaRPr lang="es-SV"/>
          </a:p>
        </p:txBody>
      </p:sp>
      <p:sp>
        <p:nvSpPr>
          <p:cNvPr id="3" name="Marcador de posición de imagen 2">
            <a:extLst>
              <a:ext uri="{FF2B5EF4-FFF2-40B4-BE49-F238E27FC236}">
                <a16:creationId xmlns:a16="http://schemas.microsoft.com/office/drawing/2014/main" id="{95F264F4-1E54-E14D-A3E8-85E786E6AF7C}"/>
              </a:ext>
            </a:extLst>
          </p:cNvPr>
          <p:cNvSpPr>
            <a:spLocks noGrp="1"/>
          </p:cNvSpPr>
          <p:nvPr>
            <p:ph type="pic" idx="1"/>
          </p:nvPr>
        </p:nvSpPr>
        <p:spPr>
          <a:xfrm>
            <a:off x="5183188" y="987425"/>
            <a:ext cx="6172200" cy="4873625"/>
          </a:xfrm>
        </p:spPr>
        <p:txBody>
          <a:bodyPr/>
          <a:lstStyle>
            <a:lvl1pPr marL="0" indent="0">
              <a:buNone/>
              <a:defRPr sz="3200" lang="es-SV"/>
            </a:lvl1pPr>
            <a:lvl2pPr marL="457200" indent="0">
              <a:buNone/>
              <a:defRPr sz="2800" lang="es-SV"/>
            </a:lvl2pPr>
            <a:lvl3pPr marL="914400" indent="0">
              <a:buNone/>
              <a:defRPr sz="2400" lang="es-SV"/>
            </a:lvl3pPr>
            <a:lvl4pPr marL="1371600" indent="0">
              <a:buNone/>
              <a:defRPr sz="2000" lang="es-SV"/>
            </a:lvl4pPr>
            <a:lvl5pPr marL="1828800" indent="0">
              <a:buNone/>
              <a:defRPr sz="2000" lang="es-SV"/>
            </a:lvl5pPr>
            <a:lvl6pPr marL="2286000" indent="0">
              <a:buNone/>
              <a:defRPr sz="2000" lang="es-SV"/>
            </a:lvl6pPr>
            <a:lvl7pPr marL="2743200" indent="0">
              <a:buNone/>
              <a:defRPr sz="2000" lang="es-SV"/>
            </a:lvl7pPr>
            <a:lvl8pPr marL="3200400" indent="0">
              <a:buNone/>
              <a:defRPr sz="2000" lang="es-SV"/>
            </a:lvl8pPr>
            <a:lvl9pPr marL="3657600" indent="0">
              <a:buNone/>
              <a:defRPr sz="2000" lang="es-SV"/>
            </a:lvl9pPr>
          </a:lstStyle>
          <a:p>
            <a:endParaRPr lang="es-SV"/>
          </a:p>
        </p:txBody>
      </p:sp>
      <p:sp>
        <p:nvSpPr>
          <p:cNvPr id="4" name="Marcador de texto 3">
            <a:extLst>
              <a:ext uri="{FF2B5EF4-FFF2-40B4-BE49-F238E27FC236}">
                <a16:creationId xmlns:a16="http://schemas.microsoft.com/office/drawing/2014/main" id="{173B5BAF-EA8D-93A7-A944-4B42E7098E97}"/>
              </a:ext>
            </a:extLst>
          </p:cNvPr>
          <p:cNvSpPr>
            <a:spLocks noGrp="1"/>
          </p:cNvSpPr>
          <p:nvPr>
            <p:ph type="body" sz="half" idx="2"/>
          </p:nvPr>
        </p:nvSpPr>
        <p:spPr>
          <a:xfrm>
            <a:off x="839788" y="2057400"/>
            <a:ext cx="3932237" cy="3811588"/>
          </a:xfrm>
        </p:spPr>
        <p:txBody>
          <a:bodyPr/>
          <a:lstStyle>
            <a:lvl1pPr marL="0" indent="0">
              <a:buNone/>
              <a:defRPr sz="1600" lang="es-SV"/>
            </a:lvl1pPr>
            <a:lvl2pPr marL="457200" indent="0">
              <a:buNone/>
              <a:defRPr sz="1400" lang="es-SV"/>
            </a:lvl2pPr>
            <a:lvl3pPr marL="914400" indent="0">
              <a:buNone/>
              <a:defRPr sz="1200" lang="es-SV"/>
            </a:lvl3pPr>
            <a:lvl4pPr marL="1371600" indent="0">
              <a:buNone/>
              <a:defRPr sz="1000" lang="es-SV"/>
            </a:lvl4pPr>
            <a:lvl5pPr marL="1828800" indent="0">
              <a:buNone/>
              <a:defRPr sz="1000" lang="es-SV"/>
            </a:lvl5pPr>
            <a:lvl6pPr marL="2286000" indent="0">
              <a:buNone/>
              <a:defRPr sz="1000" lang="es-SV"/>
            </a:lvl6pPr>
            <a:lvl7pPr marL="2743200" indent="0">
              <a:buNone/>
              <a:defRPr sz="1000" lang="es-SV"/>
            </a:lvl7pPr>
            <a:lvl8pPr marL="3200400" indent="0">
              <a:buNone/>
              <a:defRPr sz="1000" lang="es-SV"/>
            </a:lvl8pPr>
            <a:lvl9pPr marL="3657600" indent="0">
              <a:buNone/>
              <a:defRPr sz="1000" lang="es-SV"/>
            </a:lvl9pPr>
          </a:lstStyle>
          <a:p>
            <a:pPr lvl="0"/>
            <a:r>
              <a:rPr lang="es-SV"/>
              <a:t>Haga clic para modificar los estilos de texto del patrón</a:t>
            </a:r>
          </a:p>
        </p:txBody>
      </p:sp>
      <p:sp>
        <p:nvSpPr>
          <p:cNvPr id="5" name="Marcador de fecha 4">
            <a:extLst>
              <a:ext uri="{FF2B5EF4-FFF2-40B4-BE49-F238E27FC236}">
                <a16:creationId xmlns:a16="http://schemas.microsoft.com/office/drawing/2014/main" id="{3C583257-C538-CBCB-7DE9-A06EA1F23F6A}"/>
              </a:ext>
            </a:extLst>
          </p:cNvPr>
          <p:cNvSpPr>
            <a:spLocks noGrp="1"/>
          </p:cNvSpPr>
          <p:nvPr>
            <p:ph type="dt" sz="half" idx="10"/>
          </p:nvPr>
        </p:nvSpPr>
        <p:spPr/>
        <p:txBody>
          <a:bodyPr/>
          <a:lstStyle/>
          <a:p>
            <a:fld id="{B6B18277-A37D-4F4A-BC70-5B646CB73774}" type="datetimeFigureOut">
              <a:rPr lang="es-SV" smtClean="0"/>
              <a:t>24/10/2026</a:t>
            </a:fld>
            <a:endParaRPr lang="es-SV"/>
          </a:p>
        </p:txBody>
      </p:sp>
      <p:sp>
        <p:nvSpPr>
          <p:cNvPr id="6" name="Marcador de pie de página 5">
            <a:extLst>
              <a:ext uri="{FF2B5EF4-FFF2-40B4-BE49-F238E27FC236}">
                <a16:creationId xmlns:a16="http://schemas.microsoft.com/office/drawing/2014/main" id="{6FB6377A-C88F-0E4E-6512-998D416563E9}"/>
              </a:ext>
            </a:extLst>
          </p:cNvPr>
          <p:cNvSpPr>
            <a:spLocks noGrp="1"/>
          </p:cNvSpPr>
          <p:nvPr>
            <p:ph type="ftr" sz="quarter" idx="11"/>
          </p:nvPr>
        </p:nvSpPr>
        <p:spPr/>
        <p:txBody>
          <a:bodyPr/>
          <a:lstStyle/>
          <a:p>
            <a:endParaRPr lang="es-SV"/>
          </a:p>
        </p:txBody>
      </p:sp>
      <p:sp>
        <p:nvSpPr>
          <p:cNvPr id="7" name="Marcador de número de diapositiva 6">
            <a:extLst>
              <a:ext uri="{FF2B5EF4-FFF2-40B4-BE49-F238E27FC236}">
                <a16:creationId xmlns:a16="http://schemas.microsoft.com/office/drawing/2014/main" id="{BDA2F9A9-D335-A24D-6616-BE21390434B2}"/>
              </a:ext>
            </a:extLst>
          </p:cNvPr>
          <p:cNvSpPr>
            <a:spLocks noGrp="1"/>
          </p:cNvSpPr>
          <p:nvPr>
            <p:ph type="sldNum" sz="quarter" idx="12"/>
          </p:nvPr>
        </p:nvSpPr>
        <p:spPr/>
        <p:txBody>
          <a:bodyPr/>
          <a:lstStyle/>
          <a:p>
            <a:fld id="{AEE9AB63-2DD0-DF4B-A7F0-7BF2582936DD}" type="slidenum">
              <a:rPr lang="es-SV" smtClean="0"/>
              <a:t>‹Nº›</a:t>
            </a:fld>
            <a:endParaRPr lang="es-SV"/>
          </a:p>
        </p:txBody>
      </p:sp>
    </p:spTree>
    <p:extLst>
      <p:ext uri="{BB962C8B-B14F-4D97-AF65-F5344CB8AC3E}">
        <p14:creationId xmlns:p14="http://schemas.microsoft.com/office/powerpoint/2010/main" val="2780379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DB573A-A965-E5F0-C8B7-AD74E3712487}"/>
              </a:ext>
            </a:extLst>
          </p:cNvPr>
          <p:cNvSpPr>
            <a:spLocks noGrp="1"/>
          </p:cNvSpPr>
          <p:nvPr>
            <p:ph type="title"/>
          </p:nvPr>
        </p:nvSpPr>
        <p:spPr/>
        <p:txBody>
          <a:bodyPr/>
          <a:lstStyle/>
          <a:p>
            <a:r>
              <a:rPr lang="es-SV"/>
              <a:t>Haz clic para modificar el estilo de título del patrón</a:t>
            </a:r>
            <a:endParaRPr lang="es-SV"/>
          </a:p>
        </p:txBody>
      </p:sp>
      <p:sp>
        <p:nvSpPr>
          <p:cNvPr id="3" name="Marcador de texto vertical 2">
            <a:extLst>
              <a:ext uri="{FF2B5EF4-FFF2-40B4-BE49-F238E27FC236}">
                <a16:creationId xmlns:a16="http://schemas.microsoft.com/office/drawing/2014/main" id="{1BA8A928-686F-08FA-FA60-82456AC751BE}"/>
              </a:ext>
            </a:extLst>
          </p:cNvPr>
          <p:cNvSpPr>
            <a:spLocks noGrp="1"/>
          </p:cNvSpPr>
          <p:nvPr>
            <p:ph type="body" orient="vert" idx="1"/>
          </p:nvPr>
        </p:nvSpPr>
        <p:spPr/>
        <p:txBody>
          <a:bodyPr vert="eaVert"/>
          <a:lstStyle/>
          <a:p>
            <a:pPr lvl="0"/>
            <a:r>
              <a:rPr lang="es-SV"/>
              <a:t>Haga clic para modificar los estilos de texto del patrón</a:t>
            </a:r>
          </a:p>
          <a:p>
            <a:pPr lvl="1"/>
            <a:r>
              <a:rPr lang="es-SV"/>
              <a:t>Segundo nivel</a:t>
            </a:r>
          </a:p>
          <a:p>
            <a:pPr lvl="2"/>
            <a:r>
              <a:rPr lang="es-SV"/>
              <a:t>Tercer nivel</a:t>
            </a:r>
          </a:p>
          <a:p>
            <a:pPr lvl="3"/>
            <a:r>
              <a:rPr lang="es-SV"/>
              <a:t>Cuarto nivel</a:t>
            </a:r>
          </a:p>
          <a:p>
            <a:pPr lvl="4"/>
            <a:r>
              <a:rPr lang="es-SV"/>
              <a:t>Quinto nivel</a:t>
            </a:r>
            <a:endParaRPr lang="es-SV"/>
          </a:p>
        </p:txBody>
      </p:sp>
      <p:sp>
        <p:nvSpPr>
          <p:cNvPr id="4" name="Marcador de fecha 3">
            <a:extLst>
              <a:ext uri="{FF2B5EF4-FFF2-40B4-BE49-F238E27FC236}">
                <a16:creationId xmlns:a16="http://schemas.microsoft.com/office/drawing/2014/main" id="{8E2EED11-37CE-DDE7-0996-F1656333BBA3}"/>
              </a:ext>
            </a:extLst>
          </p:cNvPr>
          <p:cNvSpPr>
            <a:spLocks noGrp="1"/>
          </p:cNvSpPr>
          <p:nvPr>
            <p:ph type="dt" sz="half" idx="10"/>
          </p:nvPr>
        </p:nvSpPr>
        <p:spPr/>
        <p:txBody>
          <a:bodyPr/>
          <a:lstStyle/>
          <a:p>
            <a:fld id="{B6B18277-A37D-4F4A-BC70-5B646CB73774}" type="datetimeFigureOut">
              <a:rPr lang="es-SV" smtClean="0"/>
              <a:t>24/10/2026</a:t>
            </a:fld>
            <a:endParaRPr lang="es-SV"/>
          </a:p>
        </p:txBody>
      </p:sp>
      <p:sp>
        <p:nvSpPr>
          <p:cNvPr id="5" name="Marcador de pie de página 4">
            <a:extLst>
              <a:ext uri="{FF2B5EF4-FFF2-40B4-BE49-F238E27FC236}">
                <a16:creationId xmlns:a16="http://schemas.microsoft.com/office/drawing/2014/main" id="{91973FC4-35B2-7FA1-6FA6-C69B042A5431}"/>
              </a:ext>
            </a:extLst>
          </p:cNvPr>
          <p:cNvSpPr>
            <a:spLocks noGrp="1"/>
          </p:cNvSpPr>
          <p:nvPr>
            <p:ph type="ftr" sz="quarter" idx="11"/>
          </p:nvPr>
        </p:nvSpPr>
        <p:spPr/>
        <p:txBody>
          <a:bodyPr/>
          <a:lstStyle/>
          <a:p>
            <a:endParaRPr lang="es-SV"/>
          </a:p>
        </p:txBody>
      </p:sp>
      <p:sp>
        <p:nvSpPr>
          <p:cNvPr id="6" name="Marcador de número de diapositiva 5">
            <a:extLst>
              <a:ext uri="{FF2B5EF4-FFF2-40B4-BE49-F238E27FC236}">
                <a16:creationId xmlns:a16="http://schemas.microsoft.com/office/drawing/2014/main" id="{A19FC8B8-A38F-9C7F-1BF7-3F68A49B117E}"/>
              </a:ext>
            </a:extLst>
          </p:cNvPr>
          <p:cNvSpPr>
            <a:spLocks noGrp="1"/>
          </p:cNvSpPr>
          <p:nvPr>
            <p:ph type="sldNum" sz="quarter" idx="12"/>
          </p:nvPr>
        </p:nvSpPr>
        <p:spPr/>
        <p:txBody>
          <a:bodyPr/>
          <a:lstStyle/>
          <a:p>
            <a:fld id="{AEE9AB63-2DD0-DF4B-A7F0-7BF2582936DD}" type="slidenum">
              <a:rPr lang="es-SV" smtClean="0"/>
              <a:t>‹Nº›</a:t>
            </a:fld>
            <a:endParaRPr lang="es-SV"/>
          </a:p>
        </p:txBody>
      </p:sp>
    </p:spTree>
    <p:extLst>
      <p:ext uri="{BB962C8B-B14F-4D97-AF65-F5344CB8AC3E}">
        <p14:creationId xmlns:p14="http://schemas.microsoft.com/office/powerpoint/2010/main" val="4112446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77D44C4-F6B0-17CB-171D-21D7EF55883A}"/>
              </a:ext>
            </a:extLst>
          </p:cNvPr>
          <p:cNvSpPr>
            <a:spLocks noGrp="1"/>
          </p:cNvSpPr>
          <p:nvPr>
            <p:ph type="title" orient="vert"/>
          </p:nvPr>
        </p:nvSpPr>
        <p:spPr>
          <a:xfrm>
            <a:off x="8724900" y="365125"/>
            <a:ext cx="2628900" cy="5811838"/>
          </a:xfrm>
        </p:spPr>
        <p:txBody>
          <a:bodyPr vert="eaVert"/>
          <a:lstStyle/>
          <a:p>
            <a:r>
              <a:rPr lang="es-SV"/>
              <a:t>Haz clic para modificar el estilo de título del patrón</a:t>
            </a:r>
            <a:endParaRPr lang="es-SV"/>
          </a:p>
        </p:txBody>
      </p:sp>
      <p:sp>
        <p:nvSpPr>
          <p:cNvPr id="3" name="Marcador de texto vertical 2">
            <a:extLst>
              <a:ext uri="{FF2B5EF4-FFF2-40B4-BE49-F238E27FC236}">
                <a16:creationId xmlns:a16="http://schemas.microsoft.com/office/drawing/2014/main" id="{2AF3F919-79AC-F71B-339E-F46E0D56AEC8}"/>
              </a:ext>
            </a:extLst>
          </p:cNvPr>
          <p:cNvSpPr>
            <a:spLocks noGrp="1"/>
          </p:cNvSpPr>
          <p:nvPr>
            <p:ph type="body" orient="vert" idx="1"/>
          </p:nvPr>
        </p:nvSpPr>
        <p:spPr>
          <a:xfrm>
            <a:off x="838200" y="365125"/>
            <a:ext cx="7734300" cy="5811838"/>
          </a:xfrm>
        </p:spPr>
        <p:txBody>
          <a:bodyPr vert="eaVert"/>
          <a:lstStyle/>
          <a:p>
            <a:pPr lvl="0"/>
            <a:r>
              <a:rPr lang="es-SV"/>
              <a:t>Haga clic para modificar los estilos de texto del patrón</a:t>
            </a:r>
          </a:p>
          <a:p>
            <a:pPr lvl="1"/>
            <a:r>
              <a:rPr lang="es-SV"/>
              <a:t>Segundo nivel</a:t>
            </a:r>
          </a:p>
          <a:p>
            <a:pPr lvl="2"/>
            <a:r>
              <a:rPr lang="es-SV"/>
              <a:t>Tercer nivel</a:t>
            </a:r>
          </a:p>
          <a:p>
            <a:pPr lvl="3"/>
            <a:r>
              <a:rPr lang="es-SV"/>
              <a:t>Cuarto nivel</a:t>
            </a:r>
          </a:p>
          <a:p>
            <a:pPr lvl="4"/>
            <a:r>
              <a:rPr lang="es-SV"/>
              <a:t>Quinto nivel</a:t>
            </a:r>
            <a:endParaRPr lang="es-SV"/>
          </a:p>
        </p:txBody>
      </p:sp>
      <p:sp>
        <p:nvSpPr>
          <p:cNvPr id="4" name="Marcador de fecha 3">
            <a:extLst>
              <a:ext uri="{FF2B5EF4-FFF2-40B4-BE49-F238E27FC236}">
                <a16:creationId xmlns:a16="http://schemas.microsoft.com/office/drawing/2014/main" id="{D5579CB5-D3C7-4564-4992-AA3FE62DF088}"/>
              </a:ext>
            </a:extLst>
          </p:cNvPr>
          <p:cNvSpPr>
            <a:spLocks noGrp="1"/>
          </p:cNvSpPr>
          <p:nvPr>
            <p:ph type="dt" sz="half" idx="10"/>
          </p:nvPr>
        </p:nvSpPr>
        <p:spPr/>
        <p:txBody>
          <a:bodyPr/>
          <a:lstStyle/>
          <a:p>
            <a:fld id="{B6B18277-A37D-4F4A-BC70-5B646CB73774}" type="datetimeFigureOut">
              <a:rPr lang="es-SV" smtClean="0"/>
              <a:t>24/10/2026</a:t>
            </a:fld>
            <a:endParaRPr lang="es-SV"/>
          </a:p>
        </p:txBody>
      </p:sp>
      <p:sp>
        <p:nvSpPr>
          <p:cNvPr id="5" name="Marcador de pie de página 4">
            <a:extLst>
              <a:ext uri="{FF2B5EF4-FFF2-40B4-BE49-F238E27FC236}">
                <a16:creationId xmlns:a16="http://schemas.microsoft.com/office/drawing/2014/main" id="{C0BA4BF1-DEDA-37E8-7D85-7DA091884875}"/>
              </a:ext>
            </a:extLst>
          </p:cNvPr>
          <p:cNvSpPr>
            <a:spLocks noGrp="1"/>
          </p:cNvSpPr>
          <p:nvPr>
            <p:ph type="ftr" sz="quarter" idx="11"/>
          </p:nvPr>
        </p:nvSpPr>
        <p:spPr/>
        <p:txBody>
          <a:bodyPr/>
          <a:lstStyle/>
          <a:p>
            <a:endParaRPr lang="es-SV"/>
          </a:p>
        </p:txBody>
      </p:sp>
      <p:sp>
        <p:nvSpPr>
          <p:cNvPr id="6" name="Marcador de número de diapositiva 5">
            <a:extLst>
              <a:ext uri="{FF2B5EF4-FFF2-40B4-BE49-F238E27FC236}">
                <a16:creationId xmlns:a16="http://schemas.microsoft.com/office/drawing/2014/main" id="{6A1DFEFA-35D6-51BD-C69D-0EFD2E7FC7BC}"/>
              </a:ext>
            </a:extLst>
          </p:cNvPr>
          <p:cNvSpPr>
            <a:spLocks noGrp="1"/>
          </p:cNvSpPr>
          <p:nvPr>
            <p:ph type="sldNum" sz="quarter" idx="12"/>
          </p:nvPr>
        </p:nvSpPr>
        <p:spPr/>
        <p:txBody>
          <a:bodyPr/>
          <a:lstStyle/>
          <a:p>
            <a:fld id="{AEE9AB63-2DD0-DF4B-A7F0-7BF2582936DD}" type="slidenum">
              <a:rPr lang="es-SV" smtClean="0"/>
              <a:t>‹Nº›</a:t>
            </a:fld>
            <a:endParaRPr lang="es-SV"/>
          </a:p>
        </p:txBody>
      </p:sp>
    </p:spTree>
    <p:extLst>
      <p:ext uri="{BB962C8B-B14F-4D97-AF65-F5344CB8AC3E}">
        <p14:creationId xmlns:p14="http://schemas.microsoft.com/office/powerpoint/2010/main" val="40775473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27B7F8D-DE7C-32C4-D228-68696D5B84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SV"/>
              <a:t>Haz clic para modificar el estilo de título del patrón</a:t>
            </a:r>
            <a:endParaRPr lang="es-SV"/>
          </a:p>
        </p:txBody>
      </p:sp>
      <p:sp>
        <p:nvSpPr>
          <p:cNvPr id="3" name="Marcador de texto 2">
            <a:extLst>
              <a:ext uri="{FF2B5EF4-FFF2-40B4-BE49-F238E27FC236}">
                <a16:creationId xmlns:a16="http://schemas.microsoft.com/office/drawing/2014/main" id="{8CAE6056-C60B-917E-5F56-F732610148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SV"/>
              <a:t>Haga clic para modificar los estilos de texto del patrón</a:t>
            </a:r>
          </a:p>
          <a:p>
            <a:pPr lvl="1"/>
            <a:r>
              <a:rPr lang="es-SV"/>
              <a:t>Segundo nivel</a:t>
            </a:r>
          </a:p>
          <a:p>
            <a:pPr lvl="2"/>
            <a:r>
              <a:rPr lang="es-SV"/>
              <a:t>Tercer nivel</a:t>
            </a:r>
          </a:p>
          <a:p>
            <a:pPr lvl="3"/>
            <a:r>
              <a:rPr lang="es-SV"/>
              <a:t>Cuarto nivel</a:t>
            </a:r>
          </a:p>
          <a:p>
            <a:pPr lvl="4"/>
            <a:r>
              <a:rPr lang="es-SV"/>
              <a:t>Quinto nivel</a:t>
            </a:r>
            <a:endParaRPr lang="es-SV"/>
          </a:p>
        </p:txBody>
      </p:sp>
      <p:sp>
        <p:nvSpPr>
          <p:cNvPr id="4" name="Marcador de fecha 3">
            <a:extLst>
              <a:ext uri="{FF2B5EF4-FFF2-40B4-BE49-F238E27FC236}">
                <a16:creationId xmlns:a16="http://schemas.microsoft.com/office/drawing/2014/main" id="{5F3682A0-187E-0333-D85D-D60B144E12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lang="es-SV">
                <a:solidFill>
                  <a:schemeClr val="tx1">
                    <a:tint val="82000"/>
                  </a:schemeClr>
                </a:solidFill>
              </a:defRPr>
            </a:lvl1pPr>
          </a:lstStyle>
          <a:p>
            <a:fld id="{B6B18277-A37D-4F4A-BC70-5B646CB73774}" type="datetimeFigureOut">
              <a:rPr lang="es-SV" smtClean="0"/>
              <a:t>24/10/2026</a:t>
            </a:fld>
            <a:endParaRPr lang="es-SV"/>
          </a:p>
        </p:txBody>
      </p:sp>
      <p:sp>
        <p:nvSpPr>
          <p:cNvPr id="5" name="Marcador de pie de página 4">
            <a:extLst>
              <a:ext uri="{FF2B5EF4-FFF2-40B4-BE49-F238E27FC236}">
                <a16:creationId xmlns:a16="http://schemas.microsoft.com/office/drawing/2014/main" id="{F1C7C310-C8CD-DCCD-F3E6-D8FE04D6FA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lang="es-SV">
                <a:solidFill>
                  <a:schemeClr val="tx1">
                    <a:tint val="82000"/>
                  </a:schemeClr>
                </a:solidFill>
              </a:defRPr>
            </a:lvl1pPr>
          </a:lstStyle>
          <a:p>
            <a:endParaRPr lang="es-SV"/>
          </a:p>
        </p:txBody>
      </p:sp>
      <p:sp>
        <p:nvSpPr>
          <p:cNvPr id="6" name="Marcador de número de diapositiva 5">
            <a:extLst>
              <a:ext uri="{FF2B5EF4-FFF2-40B4-BE49-F238E27FC236}">
                <a16:creationId xmlns:a16="http://schemas.microsoft.com/office/drawing/2014/main" id="{630D2611-9B5A-26DA-21AA-92971AC596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lang="es-SV">
                <a:solidFill>
                  <a:schemeClr val="tx1">
                    <a:tint val="82000"/>
                  </a:schemeClr>
                </a:solidFill>
              </a:defRPr>
            </a:lvl1pPr>
          </a:lstStyle>
          <a:p>
            <a:fld id="{AEE9AB63-2DD0-DF4B-A7F0-7BF2582936DD}" type="slidenum">
              <a:rPr lang="es-SV" smtClean="0"/>
              <a:t>‹Nº›</a:t>
            </a:fld>
            <a:endParaRPr lang="es-SV"/>
          </a:p>
        </p:txBody>
      </p:sp>
    </p:spTree>
    <p:extLst>
      <p:ext uri="{BB962C8B-B14F-4D97-AF65-F5344CB8AC3E}">
        <p14:creationId xmlns:p14="http://schemas.microsoft.com/office/powerpoint/2010/main" val="4039134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lang="es-SV">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lang="es-SV">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lang="es-SV">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lang="es-SV">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lang="es-SV">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lang="es-SV">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lang="es-SV">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lang="es-SV">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lang="es-SV">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lang="es-SV">
          <a:solidFill>
            <a:schemeClr val="tx1"/>
          </a:solidFill>
          <a:latin typeface="+mn-lt"/>
          <a:ea typeface="+mn-ea"/>
          <a:cs typeface="+mn-cs"/>
        </a:defRPr>
      </a:lvl9pPr>
    </p:bodyStyle>
    <p:otherStyle>
      <a:defPPr>
        <a:defRPr lang="es-SV"/>
      </a:defPPr>
      <a:lvl1pPr marL="0" algn="l" defTabSz="914400" rtl="0" eaLnBrk="1" latinLnBrk="0" hangingPunct="1">
        <a:defRPr sz="1800" kern="1200" lang="es-SV">
          <a:solidFill>
            <a:schemeClr val="tx1"/>
          </a:solidFill>
          <a:latin typeface="+mn-lt"/>
          <a:ea typeface="+mn-ea"/>
          <a:cs typeface="+mn-cs"/>
        </a:defRPr>
      </a:lvl1pPr>
      <a:lvl2pPr marL="457200" algn="l" defTabSz="914400" rtl="0" eaLnBrk="1" latinLnBrk="0" hangingPunct="1">
        <a:defRPr sz="1800" kern="1200" lang="es-SV">
          <a:solidFill>
            <a:schemeClr val="tx1"/>
          </a:solidFill>
          <a:latin typeface="+mn-lt"/>
          <a:ea typeface="+mn-ea"/>
          <a:cs typeface="+mn-cs"/>
        </a:defRPr>
      </a:lvl2pPr>
      <a:lvl3pPr marL="914400" algn="l" defTabSz="914400" rtl="0" eaLnBrk="1" latinLnBrk="0" hangingPunct="1">
        <a:defRPr sz="1800" kern="1200" lang="es-SV">
          <a:solidFill>
            <a:schemeClr val="tx1"/>
          </a:solidFill>
          <a:latin typeface="+mn-lt"/>
          <a:ea typeface="+mn-ea"/>
          <a:cs typeface="+mn-cs"/>
        </a:defRPr>
      </a:lvl3pPr>
      <a:lvl4pPr marL="1371600" algn="l" defTabSz="914400" rtl="0" eaLnBrk="1" latinLnBrk="0" hangingPunct="1">
        <a:defRPr sz="1800" kern="1200" lang="es-SV">
          <a:solidFill>
            <a:schemeClr val="tx1"/>
          </a:solidFill>
          <a:latin typeface="+mn-lt"/>
          <a:ea typeface="+mn-ea"/>
          <a:cs typeface="+mn-cs"/>
        </a:defRPr>
      </a:lvl4pPr>
      <a:lvl5pPr marL="1828800" algn="l" defTabSz="914400" rtl="0" eaLnBrk="1" latinLnBrk="0" hangingPunct="1">
        <a:defRPr sz="1800" kern="1200" lang="es-SV">
          <a:solidFill>
            <a:schemeClr val="tx1"/>
          </a:solidFill>
          <a:latin typeface="+mn-lt"/>
          <a:ea typeface="+mn-ea"/>
          <a:cs typeface="+mn-cs"/>
        </a:defRPr>
      </a:lvl5pPr>
      <a:lvl6pPr marL="2286000" algn="l" defTabSz="914400" rtl="0" eaLnBrk="1" latinLnBrk="0" hangingPunct="1">
        <a:defRPr sz="1800" kern="1200" lang="es-SV">
          <a:solidFill>
            <a:schemeClr val="tx1"/>
          </a:solidFill>
          <a:latin typeface="+mn-lt"/>
          <a:ea typeface="+mn-ea"/>
          <a:cs typeface="+mn-cs"/>
        </a:defRPr>
      </a:lvl6pPr>
      <a:lvl7pPr marL="2743200" algn="l" defTabSz="914400" rtl="0" eaLnBrk="1" latinLnBrk="0" hangingPunct="1">
        <a:defRPr sz="1800" kern="1200" lang="es-SV">
          <a:solidFill>
            <a:schemeClr val="tx1"/>
          </a:solidFill>
          <a:latin typeface="+mn-lt"/>
          <a:ea typeface="+mn-ea"/>
          <a:cs typeface="+mn-cs"/>
        </a:defRPr>
      </a:lvl7pPr>
      <a:lvl8pPr marL="3200400" algn="l" defTabSz="914400" rtl="0" eaLnBrk="1" latinLnBrk="0" hangingPunct="1">
        <a:defRPr sz="1800" kern="1200" lang="es-SV">
          <a:solidFill>
            <a:schemeClr val="tx1"/>
          </a:solidFill>
          <a:latin typeface="+mn-lt"/>
          <a:ea typeface="+mn-ea"/>
          <a:cs typeface="+mn-cs"/>
        </a:defRPr>
      </a:lvl8pPr>
      <a:lvl9pPr marL="3657600" algn="l" defTabSz="914400" rtl="0" eaLnBrk="1" latinLnBrk="0" hangingPunct="1">
        <a:defRPr sz="1800" kern="1200" lang="es-SV">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lumna azul"/>
          <p:cNvSpPr/>
          <p:nvPr/>
        </p:nvSpPr>
        <p:spPr>
          <a:xfrm>
            <a:off x="0" y="0"/>
            <a:ext cx="3538728" cy="6858000"/>
          </a:xfrm>
          <a:prstGeom prst="rect">
            <a:avLst/>
          </a:prstGeom>
          <a:solidFill>
            <a:srgbClr val="0037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SV" noProof="0" dirty="0">
              <a:latin typeface="Arial" panose="020B0604020202020204" pitchFamily="34" charset="0"/>
              <a:cs typeface="Arial" panose="020B0604020202020204" pitchFamily="34" charset="0"/>
            </a:endParaRPr>
          </a:p>
        </p:txBody>
      </p:sp>
      <p:sp>
        <p:nvSpPr>
          <p:cNvPr id="3" name="Acento"/>
          <p:cNvSpPr/>
          <p:nvPr/>
        </p:nvSpPr>
        <p:spPr>
          <a:xfrm>
            <a:off x="0" y="1216152"/>
            <a:ext cx="201168" cy="1216152"/>
          </a:xfrm>
          <a:prstGeom prst="rect">
            <a:avLst/>
          </a:prstGeom>
          <a:solidFill>
            <a:srgbClr val="005C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SV" noProof="0" dirty="0">
              <a:latin typeface="Arial" panose="020B0604020202020204" pitchFamily="34" charset="0"/>
              <a:cs typeface="Arial" panose="020B0604020202020204" pitchFamily="34" charset="0"/>
            </a:endParaRPr>
          </a:p>
        </p:txBody>
      </p:sp>
      <p:sp>
        <p:nvSpPr>
          <p:cNvPr id="6" name="Departamento"/>
          <p:cNvSpPr/>
          <p:nvPr/>
        </p:nvSpPr>
        <p:spPr>
          <a:xfrm>
            <a:off x="45720" y="5422392"/>
            <a:ext cx="3447288" cy="960120"/>
          </a:xfrm>
          <a:prstGeom prst="rect">
            <a:avLst/>
          </a:prstGeom>
          <a:solidFill>
            <a:srgbClr val="005C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SV" noProof="0" dirty="0">
              <a:latin typeface="Arial" panose="020B0604020202020204" pitchFamily="34" charset="0"/>
              <a:cs typeface="Arial" panose="020B0604020202020204" pitchFamily="34" charset="0"/>
            </a:endParaRPr>
          </a:p>
        </p:txBody>
      </p:sp>
      <p:sp>
        <p:nvSpPr>
          <p:cNvPr id="7" name="TextBox 6"/>
          <p:cNvSpPr txBox="1"/>
          <p:nvPr/>
        </p:nvSpPr>
        <p:spPr>
          <a:xfrm>
            <a:off x="45720" y="5656231"/>
            <a:ext cx="3447288" cy="492443"/>
          </a:xfrm>
          <a:prstGeom prst="rect">
            <a:avLst/>
          </a:prstGeom>
          <a:noFill/>
        </p:spPr>
        <p:txBody>
          <a:bodyPr wrap="square" lIns="0" tIns="0" rIns="0" bIns="0" anchor="ctr">
            <a:spAutoFit/>
          </a:bodyPr>
          <a:lstStyle/>
          <a:p>
            <a:pPr algn="ctr"/>
            <a:r>
              <a:rPr lang="es-SV" sz="1600" b="1" noProof="0" dirty="0">
                <a:solidFill>
                  <a:srgbClr val="FFFFFF"/>
                </a:solidFill>
                <a:latin typeface="Arial" panose="020B0604020202020204" pitchFamily="34" charset="0"/>
                <a:cs typeface="Arial" panose="020B0604020202020204" pitchFamily="34" charset="0"/>
              </a:rPr>
              <a:t>Departamento de</a:t>
            </a:r>
          </a:p>
          <a:p>
            <a:pPr algn="ctr"/>
            <a:r>
              <a:rPr lang="es-SV" sz="1600" b="1" noProof="0" dirty="0">
                <a:solidFill>
                  <a:srgbClr val="FFFFFF"/>
                </a:solidFill>
                <a:latin typeface="Arial" panose="020B0604020202020204" pitchFamily="34" charset="0"/>
                <a:cs typeface="Arial" panose="020B0604020202020204" pitchFamily="34" charset="0"/>
              </a:rPr>
              <a:t>Administración de Riesgos</a:t>
            </a:r>
          </a:p>
        </p:txBody>
      </p:sp>
      <p:sp>
        <p:nvSpPr>
          <p:cNvPr id="8" name="TextBox 7"/>
          <p:cNvSpPr txBox="1"/>
          <p:nvPr/>
        </p:nvSpPr>
        <p:spPr>
          <a:xfrm>
            <a:off x="45720" y="6503167"/>
            <a:ext cx="3447288" cy="261610"/>
          </a:xfrm>
          <a:prstGeom prst="rect">
            <a:avLst/>
          </a:prstGeom>
          <a:noFill/>
        </p:spPr>
        <p:txBody>
          <a:bodyPr wrap="square" lIns="0" tIns="0" rIns="0" bIns="0" anchor="ctr">
            <a:spAutoFit/>
          </a:bodyPr>
          <a:lstStyle/>
          <a:p>
            <a:pPr algn="ctr"/>
            <a:r>
              <a:rPr lang="es-SV" sz="1700" b="1" noProof="0" dirty="0">
                <a:solidFill>
                  <a:srgbClr val="9DC3E6"/>
                </a:solidFill>
                <a:latin typeface="Arial" panose="020B0604020202020204" pitchFamily="34" charset="0"/>
                <a:cs typeface="Arial" panose="020B0604020202020204" pitchFamily="34" charset="0"/>
              </a:rPr>
              <a:t>OCTUBRE 2026</a:t>
            </a:r>
          </a:p>
        </p:txBody>
      </p:sp>
      <p:sp>
        <p:nvSpPr>
          <p:cNvPr id="9" name="TextBox 8"/>
          <p:cNvSpPr txBox="1"/>
          <p:nvPr/>
        </p:nvSpPr>
        <p:spPr>
          <a:xfrm>
            <a:off x="3703320" y="1081888"/>
            <a:ext cx="8001000" cy="461665"/>
          </a:xfrm>
          <a:prstGeom prst="rect">
            <a:avLst/>
          </a:prstGeom>
          <a:noFill/>
        </p:spPr>
        <p:txBody>
          <a:bodyPr wrap="square" lIns="0" tIns="0" rIns="0" bIns="0" anchor="ctr">
            <a:spAutoFit/>
          </a:bodyPr>
          <a:lstStyle/>
          <a:p>
            <a:pPr algn="ctr"/>
            <a:r>
              <a:rPr lang="es-SV" sz="3000" b="1" noProof="0" dirty="0">
                <a:solidFill>
                  <a:srgbClr val="00376E"/>
                </a:solidFill>
                <a:latin typeface="Arial" panose="020B0604020202020204" pitchFamily="34" charset="0"/>
                <a:cs typeface="Arial" panose="020B0604020202020204" pitchFamily="34" charset="0"/>
              </a:rPr>
              <a:t>ACTUALIZACIÓN DE NORMATIVA INTERNA</a:t>
            </a:r>
          </a:p>
        </p:txBody>
      </p:sp>
      <p:sp>
        <p:nvSpPr>
          <p:cNvPr id="11" name="TextBox 10"/>
          <p:cNvSpPr txBox="1"/>
          <p:nvPr/>
        </p:nvSpPr>
        <p:spPr>
          <a:xfrm>
            <a:off x="3863340" y="2138680"/>
            <a:ext cx="7680960" cy="822960"/>
          </a:xfrm>
          <a:prstGeom prst="rect">
            <a:avLst/>
          </a:prstGeom>
          <a:noFill/>
        </p:spPr>
        <p:txBody>
          <a:bodyPr wrap="square" lIns="0" tIns="0" rIns="0" bIns="0" anchor="t">
            <a:spAutoFit/>
          </a:bodyPr>
          <a:lstStyle/>
          <a:p>
            <a:pPr algn="ctr"/>
            <a:r>
              <a:rPr lang="es-SV" sz="1400" b="0" noProof="0" dirty="0">
                <a:solidFill>
                  <a:srgbClr val="002060"/>
                </a:solidFill>
                <a:latin typeface="Arial" panose="020B0604020202020204" pitchFamily="34" charset="0"/>
                <a:cs typeface="Arial" panose="020B0604020202020204" pitchFamily="34" charset="0"/>
              </a:rPr>
              <a:t>Cuadro comparativo de cambios: versión vigente y versión propuesta</a:t>
            </a:r>
          </a:p>
          <a:p>
            <a:pPr algn="ctr"/>
            <a:r>
              <a:rPr lang="es-SV" sz="1400" b="0" noProof="0" dirty="0">
                <a:solidFill>
                  <a:srgbClr val="002060"/>
                </a:solidFill>
                <a:latin typeface="Arial" panose="020B0604020202020204" pitchFamily="34" charset="0"/>
                <a:cs typeface="Arial" panose="020B0604020202020204" pitchFamily="34" charset="0"/>
              </a:rPr>
              <a:t>Presentado al Comité de Riesgos</a:t>
            </a:r>
          </a:p>
        </p:txBody>
      </p:sp>
      <p:pic>
        <p:nvPicPr>
          <p:cNvPr id="12" name="logo" descr="/tmp/claude-0/-home-user-riesgo/74e9c8ad-7a43-5903-a089-2edd8047c387/scratchpad/assets/logo_white.png">
            <a:extLst>
              <a:ext uri="{FF2B5EF4-FFF2-40B4-BE49-F238E27FC236}">
                <a16:creationId xmlns:a16="http://schemas.microsoft.com/office/drawing/2014/main" id="{6158355E-8FBE-C9ED-F166-BCDD022F7FC1}"/>
              </a:ext>
            </a:extLst>
          </p:cNvPr>
          <p:cNvPicPr>
            <a:picLocks noChangeAspect="1"/>
          </p:cNvPicPr>
          <p:nvPr/>
        </p:nvPicPr>
        <p:blipFill>
          <a:blip r:embed="rId2"/>
          <a:stretch>
            <a:fillRect/>
          </a:stretch>
        </p:blipFill>
        <p:spPr>
          <a:xfrm>
            <a:off x="602040" y="1857309"/>
            <a:ext cx="2334648" cy="1571691"/>
          </a:xfrm>
          <a:prstGeom prst="rect">
            <a:avLst/>
          </a:prstGeom>
        </p:spPr>
      </p:pic>
      <p:sp>
        <p:nvSpPr>
          <p:cNvPr id="13" name="Tema 1"/>
          <p:cNvSpPr/>
          <p:nvPr/>
        </p:nvSpPr>
        <p:spPr>
          <a:xfrm>
            <a:off x="3794760" y="3383280"/>
            <a:ext cx="7909560" cy="713232"/>
          </a:xfrm>
          <a:prstGeom prst="roundRect">
            <a:avLst>
              <a:gd name="adj" fmla="val 12000"/>
            </a:avLst>
          </a:prstGeom>
          <a:solidFill>
            <a:srgbClr val="E8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Número 1"/>
          <p:cNvSpPr/>
          <p:nvPr/>
        </p:nvSpPr>
        <p:spPr>
          <a:xfrm>
            <a:off x="3794760" y="3383280"/>
            <a:ext cx="713232" cy="713232"/>
          </a:xfrm>
          <a:prstGeom prst="roundRect">
            <a:avLst>
              <a:gd name="adj" fmla="val 12000"/>
            </a:avLst>
          </a:prstGeom>
          <a:solidFill>
            <a:srgbClr val="0037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lang="es-SV">
                <a:solidFill>
                  <a:srgbClr val="FFFFFF"/>
                </a:solidFill>
                <a:latin typeface="Arial"/>
              </a:rPr>
              <a:t>1</a:t>
            </a:r>
          </a:p>
        </p:txBody>
      </p:sp>
      <p:sp>
        <p:nvSpPr>
          <p:cNvPr id="15" name="Texto tema 1"/>
          <p:cNvSpPr txBox="1"/>
          <p:nvPr/>
        </p:nvSpPr>
        <p:spPr>
          <a:xfrm>
            <a:off x="4709160" y="3383280"/>
            <a:ext cx="6903720" cy="713232"/>
          </a:xfrm>
          <a:prstGeom prst="rect">
            <a:avLst/>
          </a:prstGeom>
          <a:noFill/>
        </p:spPr>
        <p:txBody>
          <a:bodyPr wrap="square" lIns="0" rIns="0" tIns="0" bIns="0" anchor="ctr">
            <a:spAutoFit/>
          </a:bodyPr>
          <a:lstStyle/>
          <a:p>
            <a:r>
              <a:rPr sz="1700" b="1" lang="es-SV">
                <a:solidFill>
                  <a:srgbClr val="00376E"/>
                </a:solidFill>
                <a:latin typeface="Arial"/>
              </a:rPr>
              <a:t>Política de Contratación de Servicios Críticos Tercerizados</a:t>
            </a:r>
          </a:p>
          <a:p>
            <a:r>
              <a:rPr sz="1200" lang="es-SV">
                <a:solidFill>
                  <a:srgbClr val="5A6B85"/>
                </a:solidFill>
                <a:latin typeface="Arial"/>
              </a:rPr>
              <a:t>RP-GG-PL-003</a:t>
            </a:r>
          </a:p>
        </p:txBody>
      </p:sp>
      <p:sp>
        <p:nvSpPr>
          <p:cNvPr id="16" name="Tema 2"/>
          <p:cNvSpPr/>
          <p:nvPr/>
        </p:nvSpPr>
        <p:spPr>
          <a:xfrm>
            <a:off x="3794760" y="4242816"/>
            <a:ext cx="7909560" cy="713232"/>
          </a:xfrm>
          <a:prstGeom prst="roundRect">
            <a:avLst>
              <a:gd name="adj" fmla="val 12000"/>
            </a:avLst>
          </a:prstGeom>
          <a:solidFill>
            <a:srgbClr val="E8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Número 2"/>
          <p:cNvSpPr/>
          <p:nvPr/>
        </p:nvSpPr>
        <p:spPr>
          <a:xfrm>
            <a:off x="3794760" y="4242816"/>
            <a:ext cx="713232" cy="713232"/>
          </a:xfrm>
          <a:prstGeom prst="roundRect">
            <a:avLst>
              <a:gd name="adj" fmla="val 12000"/>
            </a:avLst>
          </a:prstGeom>
          <a:solidFill>
            <a:srgbClr val="0037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lang="es-SV">
                <a:solidFill>
                  <a:srgbClr val="FFFFFF"/>
                </a:solidFill>
                <a:latin typeface="Arial"/>
              </a:rPr>
              <a:t>2</a:t>
            </a:r>
          </a:p>
        </p:txBody>
      </p:sp>
      <p:sp>
        <p:nvSpPr>
          <p:cNvPr id="18" name="Texto tema 2"/>
          <p:cNvSpPr txBox="1"/>
          <p:nvPr/>
        </p:nvSpPr>
        <p:spPr>
          <a:xfrm>
            <a:off x="4709160" y="4242816"/>
            <a:ext cx="6903720" cy="713232"/>
          </a:xfrm>
          <a:prstGeom prst="rect">
            <a:avLst/>
          </a:prstGeom>
          <a:noFill/>
        </p:spPr>
        <p:txBody>
          <a:bodyPr wrap="square" lIns="0" rIns="0" tIns="0" bIns="0" anchor="ctr">
            <a:spAutoFit/>
          </a:bodyPr>
          <a:lstStyle/>
          <a:p>
            <a:r>
              <a:rPr sz="1700" b="1" lang="es-SV">
                <a:solidFill>
                  <a:srgbClr val="00376E"/>
                </a:solidFill>
                <a:latin typeface="Arial"/>
              </a:rPr>
              <a:t>Manual de Gestión del Riesgo Reputacional</a:t>
            </a:r>
          </a:p>
          <a:p>
            <a:r>
              <a:rPr sz="1200" lang="es-SV">
                <a:solidFill>
                  <a:srgbClr val="5A6B85"/>
                </a:solidFill>
                <a:latin typeface="Arial"/>
              </a:rPr>
              <a:t>MA-GG-M-004</a:t>
            </a:r>
          </a:p>
        </p:txBody>
      </p:sp>
      <p:sp>
        <p:nvSpPr>
          <p:cNvPr id="19" name="Tema 3"/>
          <p:cNvSpPr/>
          <p:nvPr/>
        </p:nvSpPr>
        <p:spPr>
          <a:xfrm>
            <a:off x="3794760" y="5102352"/>
            <a:ext cx="7909560" cy="713232"/>
          </a:xfrm>
          <a:prstGeom prst="roundRect">
            <a:avLst>
              <a:gd name="adj" fmla="val 12000"/>
            </a:avLst>
          </a:prstGeom>
          <a:solidFill>
            <a:srgbClr val="E8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Número 3"/>
          <p:cNvSpPr/>
          <p:nvPr/>
        </p:nvSpPr>
        <p:spPr>
          <a:xfrm>
            <a:off x="3794760" y="5102352"/>
            <a:ext cx="713232" cy="713232"/>
          </a:xfrm>
          <a:prstGeom prst="roundRect">
            <a:avLst>
              <a:gd name="adj" fmla="val 12000"/>
            </a:avLst>
          </a:prstGeom>
          <a:solidFill>
            <a:srgbClr val="00376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lang="es-SV">
                <a:solidFill>
                  <a:srgbClr val="FFFFFF"/>
                </a:solidFill>
                <a:latin typeface="Arial"/>
              </a:rPr>
              <a:t>3</a:t>
            </a:r>
          </a:p>
        </p:txBody>
      </p:sp>
      <p:sp>
        <p:nvSpPr>
          <p:cNvPr id="21" name="Texto tema 3"/>
          <p:cNvSpPr txBox="1"/>
          <p:nvPr/>
        </p:nvSpPr>
        <p:spPr>
          <a:xfrm>
            <a:off x="4709160" y="5102352"/>
            <a:ext cx="6903720" cy="713232"/>
          </a:xfrm>
          <a:prstGeom prst="rect">
            <a:avLst/>
          </a:prstGeom>
          <a:noFill/>
        </p:spPr>
        <p:txBody>
          <a:bodyPr wrap="square" lIns="0" rIns="0" tIns="0" bIns="0" anchor="ctr">
            <a:spAutoFit/>
          </a:bodyPr>
          <a:lstStyle/>
          <a:p>
            <a:r>
              <a:rPr sz="1700" b="1" lang="es-SV">
                <a:solidFill>
                  <a:srgbClr val="00376E"/>
                </a:solidFill>
                <a:latin typeface="Arial"/>
              </a:rPr>
              <a:t>Información de Comités</a:t>
            </a:r>
          </a:p>
          <a:p>
            <a:r>
              <a:rPr sz="1200" lang="es-SV">
                <a:solidFill>
                  <a:srgbClr val="5A6B85"/>
                </a:solidFill>
                <a:latin typeface="Arial"/>
              </a:rPr>
              <a:t>Gobierno Corporativo, NRP-17 art. 29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5411B601-C91F-0BE0-090B-5C8396A9A9ED}"/>
              </a:ext>
            </a:extLst>
          </p:cNvPr>
          <p:cNvSpPr>
            <a:spLocks noGrp="1" noRot="1" noMove="1" noResize="1" noEditPoints="1" noAdjustHandles="1" noChangeArrowheads="1" noChangeShapeType="1"/>
          </p:cNvSpPr>
          <p:nvPr/>
        </p:nvSpPr>
        <p:spPr>
          <a:xfrm>
            <a:off x="-92149" y="-53163"/>
            <a:ext cx="12376298" cy="6964326"/>
          </a:xfrm>
          <a:prstGeom prst="rect">
            <a:avLst/>
          </a:prstGeom>
          <a:solidFill>
            <a:srgbClr val="0037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6" name="CuadroTexto 5">
            <a:extLst>
              <a:ext uri="{FF2B5EF4-FFF2-40B4-BE49-F238E27FC236}">
                <a16:creationId xmlns:a16="http://schemas.microsoft.com/office/drawing/2014/main" id="{BA87AA9B-702C-4456-A380-F08DF42DEF2C}"/>
              </a:ext>
            </a:extLst>
          </p:cNvPr>
          <p:cNvSpPr txBox="1"/>
          <p:nvPr/>
        </p:nvSpPr>
        <p:spPr>
          <a:xfrm>
            <a:off x="95250" y="50367"/>
            <a:ext cx="11763375" cy="523220"/>
          </a:xfrm>
          <a:prstGeom prst="rect">
            <a:avLst/>
          </a:prstGeom>
          <a:noFill/>
        </p:spPr>
        <p:txBody>
          <a:bodyPr wrap="square" rtlCol="0">
            <a:spAutoFit/>
          </a:bodyPr>
          <a:lstStyle/>
          <a:p>
            <a:pPr algn="ctr"/>
            <a:r>
              <a:rPr lang="es-SV" sz="2800" dirty="0">
                <a:solidFill>
                  <a:schemeClr val="bg1"/>
                </a:solidFill>
                <a:latin typeface="Century Gothic" panose="020B0502020202020204" pitchFamily="34" charset="0"/>
              </a:rPr>
              <a:t>Política de Contratación de Servicios Críticos Tercerizados</a:t>
            </a:r>
            <a:endParaRPr lang="es-SV" sz="1000" dirty="0">
              <a:solidFill>
                <a:schemeClr val="bg1"/>
              </a:solidFill>
              <a:latin typeface="Century Gothic" panose="020B0502020202020204" pitchFamily="34" charset="0"/>
            </a:endParaRPr>
          </a:p>
        </p:txBody>
      </p:sp>
      <p:cxnSp>
        <p:nvCxnSpPr>
          <p:cNvPr id="8" name="Conector recto 7">
            <a:extLst>
              <a:ext uri="{FF2B5EF4-FFF2-40B4-BE49-F238E27FC236}">
                <a16:creationId xmlns:a16="http://schemas.microsoft.com/office/drawing/2014/main" id="{8F41098E-7291-4952-0707-562BC04ED036}"/>
              </a:ext>
            </a:extLst>
          </p:cNvPr>
          <p:cNvCxnSpPr>
            <a:cxnSpLocks/>
          </p:cNvCxnSpPr>
          <p:nvPr/>
        </p:nvCxnSpPr>
        <p:spPr>
          <a:xfrm>
            <a:off x="5986130" y="2695509"/>
            <a:ext cx="0" cy="146698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535680" y="677117"/>
            <a:ext cx="5120640" cy="731520"/>
          </a:xfrm>
          <a:prstGeom prst="rect">
            <a:avLst/>
          </a:prstGeom>
          <a:noFill/>
        </p:spPr>
        <p:txBody>
          <a:bodyPr wrap="square" lIns="0" tIns="0" rIns="0" bIns="0" anchor="t">
            <a:spAutoFit/>
          </a:bodyPr>
          <a:lstStyle/>
          <a:p>
            <a:pPr algn="r"/>
            <a:r>
              <a:rPr sz="1400" b="0" i="0" dirty="0" lang="es-SV">
                <a:solidFill>
                  <a:srgbClr val="DCE6F7"/>
                </a:solidFill>
                <a:latin typeface="Arial"/>
              </a:rPr>
              <a:t>RP-GG-PL-003 · V03 </a:t>
            </a:r>
            <a:r>
              <a:rPr sz="1400" b="0" i="0" dirty="0" lang="es-SV">
                <a:solidFill>
                  <a:srgbClr val="DCE6F7"/>
                </a:solidFill>
                <a:latin typeface="Arial"/>
              </a:rPr>
              <a:t>vigente</a:t>
            </a:r>
            <a:r>
              <a:rPr sz="1400" b="0" i="0" dirty="0" lang="es-SV">
                <a:solidFill>
                  <a:srgbClr val="DCE6F7"/>
                </a:solidFill>
                <a:latin typeface="Arial"/>
              </a:rPr>
              <a:t> → V04 </a:t>
            </a:r>
            <a:r>
              <a:rPr sz="1400" b="0" i="0" dirty="0" lang="es-SV">
                <a:solidFill>
                  <a:srgbClr val="DCE6F7"/>
                </a:solidFill>
                <a:latin typeface="Arial"/>
              </a:rPr>
              <a:t>propuesta</a:t>
            </a:r>
            <a:r>
              <a:rPr sz="1400" b="0" i="0" dirty="0" lang="es-SV">
                <a:solidFill>
                  <a:srgbClr val="DCE6F7"/>
                </a:solidFill>
                <a:latin typeface="Arial"/>
              </a:rPr>
              <a:t> · 60 </a:t>
            </a:r>
            <a:r>
              <a:rPr sz="1400" b="0" i="0" dirty="0" lang="es-SV">
                <a:solidFill>
                  <a:srgbClr val="DCE6F7"/>
                </a:solidFill>
                <a:latin typeface="Arial"/>
              </a:rPr>
              <a:t>cambios</a:t>
            </a:r>
            <a:endParaRPr sz="1400" b="0" i="0" dirty="0" lang="es-SV">
              <a:solidFill>
                <a:srgbClr val="DCE6F7"/>
              </a:solidFill>
              <a:latin typeface="Arial"/>
            </a:endParaRPr>
          </a:p>
        </p:txBody>
      </p:sp>
      <p:sp>
        <p:nvSpPr>
          <p:cNvPr id="10" name="CuadroTexto 9">
            <a:extLst>
              <a:ext uri="{FF2B5EF4-FFF2-40B4-BE49-F238E27FC236}">
                <a16:creationId xmlns:a16="http://schemas.microsoft.com/office/drawing/2014/main" id="{5130BB53-0534-134E-BA9E-A757F1B101AF}"/>
              </a:ext>
            </a:extLst>
          </p:cNvPr>
          <p:cNvSpPr txBox="1"/>
          <p:nvPr/>
        </p:nvSpPr>
        <p:spPr>
          <a:xfrm>
            <a:off x="386671" y="1326762"/>
            <a:ext cx="5120640" cy="5170646"/>
          </a:xfrm>
          <a:prstGeom prst="rect">
            <a:avLst/>
          </a:prstGeom>
          <a:noFill/>
        </p:spPr>
        <p:txBody>
          <a:bodyPr wrap="square">
            <a:spAutoFit/>
          </a:bodyPr>
          <a:lstStyle/>
          <a:p>
            <a:pPr marL="285750" indent="-285750">
              <a:spcBef>
                <a:spcPts val="600"/>
              </a:spcBef>
              <a:spcAft>
                <a:spcPts val="6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PROPÓSITO</a:t>
            </a:r>
          </a:p>
          <a:p>
            <a:pPr marL="285750" indent="-285750">
              <a:spcBef>
                <a:spcPts val="600"/>
              </a:spcBef>
              <a:spcAft>
                <a:spcPts val="6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ALCANCE</a:t>
            </a:r>
          </a:p>
          <a:p>
            <a:pPr marL="285750" indent="-285750">
              <a:spcBef>
                <a:spcPts val="600"/>
              </a:spcBef>
              <a:spcAft>
                <a:spcPts val="6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DEFINICIONES</a:t>
            </a:r>
            <a:endParaRPr lang="es-SV" sz="1000" b="1" cap="all" dirty="0">
              <a:solidFill>
                <a:schemeClr val="bg1"/>
              </a:solidFill>
              <a:latin typeface="Arial" panose="020B0604020202020204" pitchFamily="34" charset="0"/>
              <a:ea typeface="MS Mincho" panose="02020609040205080304" pitchFamily="49" charset="-128"/>
              <a:cs typeface="Arial" panose="020B0604020202020204" pitchFamily="34" charset="0"/>
            </a:endParaRPr>
          </a:p>
          <a:p>
            <a:pPr marL="285750" indent="-285750">
              <a:spcBef>
                <a:spcPts val="600"/>
              </a:spcBef>
              <a:spcAft>
                <a:spcPts val="6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RESPONSABILIDADES</a:t>
            </a:r>
          </a:p>
          <a:p>
            <a:pPr marL="285750" indent="-285750">
              <a:spcBef>
                <a:spcPts val="600"/>
              </a:spcBef>
              <a:spcAft>
                <a:spcPts val="6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CRITERIOS PARA IDENTIFICAR SERVICIOS CRITICOS TERCERIZADOS</a:t>
            </a:r>
          </a:p>
          <a:p>
            <a:pPr marL="285750" indent="-285750">
              <a:spcBef>
                <a:spcPts val="600"/>
              </a:spcBef>
              <a:spcAft>
                <a:spcPts val="6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REQUERIMIENTOS DE CUMPLIMIENTO NORMATIVO A CONSIDERAR EN LA CONTRATACIÓN DE SERVICIOS CRITICOS TERCERIZADOS DE ACTIVIDADES DE OPERACIONES DE TECNOLOGIA DE LA INFORMACIÓN RELACIONADAS A LOS PRODUCTOS Y SERVICIOS FINANCIEROS.</a:t>
            </a:r>
          </a:p>
          <a:p>
            <a:pPr marL="285750" indent="-285750">
              <a:spcBef>
                <a:spcPts val="600"/>
              </a:spcBef>
              <a:spcAft>
                <a:spcPts val="6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LINEAMIENTOS A CONSIDERAR SOBRE LA EVALUACION DE LOS PROVEEDORES DE SERVICIOS CRITICOS TERCERIZADOS</a:t>
            </a:r>
          </a:p>
          <a:p>
            <a:pPr marL="285750" indent="-285750">
              <a:spcBef>
                <a:spcPts val="600"/>
              </a:spcBef>
              <a:spcAft>
                <a:spcPts val="6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LINEAMIENTOS PARA ASEGURAR LA CONTINUIDAD DE PROVEEDORES DE SERVICIOS CRÍTICOS TERCERIZADOS.</a:t>
            </a:r>
          </a:p>
          <a:p>
            <a:pPr marL="285750" indent="-285750">
              <a:spcBef>
                <a:spcPts val="600"/>
              </a:spcBef>
              <a:spcAft>
                <a:spcPts val="6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LINEAMIENTOS PARA MANTENER LA DEBIDA CONFIDENCIALIDAD Y SEGURIDAD DE LA INFORMACIÓN</a:t>
            </a:r>
          </a:p>
          <a:p>
            <a:pPr marL="285750" indent="-285750">
              <a:spcBef>
                <a:spcPts val="600"/>
              </a:spcBef>
              <a:spcAft>
                <a:spcPts val="6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LINEAMIENTOS PARA PREVENIR Y EVITAR CONFLICTOS DE INTERESES</a:t>
            </a:r>
            <a:endParaRPr lang="es-SV" sz="1000" b="1" cap="all" dirty="0">
              <a:solidFill>
                <a:schemeClr val="bg1"/>
              </a:solidFill>
              <a:latin typeface="Arial" panose="020B0604020202020204" pitchFamily="34" charset="0"/>
              <a:ea typeface="MS Mincho" panose="02020609040205080304" pitchFamily="49" charset="-128"/>
              <a:cs typeface="Arial" panose="020B0604020202020204" pitchFamily="34" charset="0"/>
            </a:endParaRPr>
          </a:p>
          <a:p>
            <a:pPr marL="285750" indent="-285750">
              <a:spcBef>
                <a:spcPts val="600"/>
              </a:spcBef>
              <a:spcAft>
                <a:spcPts val="6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ACTUALIZACIÓN</a:t>
            </a:r>
            <a:endParaRPr lang="es-SV" sz="1000" b="1" cap="all" dirty="0">
              <a:solidFill>
                <a:schemeClr val="bg1"/>
              </a:solidFill>
              <a:latin typeface="Arial" panose="020B0604020202020204" pitchFamily="34" charset="0"/>
              <a:ea typeface="MS Mincho" panose="02020609040205080304" pitchFamily="49" charset="-128"/>
              <a:cs typeface="Arial" panose="020B0604020202020204" pitchFamily="34" charset="0"/>
            </a:endParaRPr>
          </a:p>
          <a:p>
            <a:pPr marL="285750" indent="-285750">
              <a:spcBef>
                <a:spcPts val="600"/>
              </a:spcBef>
              <a:spcAft>
                <a:spcPts val="6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APROBACIÓN</a:t>
            </a:r>
            <a:endParaRPr lang="es-SV" sz="1000" b="1" cap="all" dirty="0">
              <a:solidFill>
                <a:schemeClr val="bg1"/>
              </a:solidFill>
              <a:latin typeface="Arial" panose="020B0604020202020204" pitchFamily="34" charset="0"/>
              <a:ea typeface="MS Mincho" panose="02020609040205080304" pitchFamily="49" charset="-128"/>
              <a:cs typeface="Arial" panose="020B0604020202020204" pitchFamily="34" charset="0"/>
            </a:endParaRPr>
          </a:p>
          <a:p>
            <a:pPr marL="285750" indent="-285750">
              <a:spcBef>
                <a:spcPts val="600"/>
              </a:spcBef>
              <a:spcAft>
                <a:spcPts val="6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VIGENCIA</a:t>
            </a:r>
            <a:endParaRPr lang="es-SV" sz="1000" b="1" cap="all" dirty="0">
              <a:solidFill>
                <a:schemeClr val="bg1"/>
              </a:solidFill>
              <a:latin typeface="Arial" panose="020B0604020202020204" pitchFamily="34" charset="0"/>
              <a:ea typeface="MS Mincho" panose="02020609040205080304" pitchFamily="49" charset="-128"/>
              <a:cs typeface="Arial" panose="020B0604020202020204" pitchFamily="34" charset="0"/>
            </a:endParaRPr>
          </a:p>
          <a:p>
            <a:pPr marL="285750" indent="-285750">
              <a:spcBef>
                <a:spcPts val="600"/>
              </a:spcBef>
              <a:spcAft>
                <a:spcPts val="6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DISPOSICIÓN FINAL</a:t>
            </a:r>
            <a:endPar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endParaRPr>
          </a:p>
        </p:txBody>
      </p:sp>
      <p:sp>
        <p:nvSpPr>
          <p:cNvPr id="12" name="CuadroTexto 11">
            <a:extLst>
              <a:ext uri="{FF2B5EF4-FFF2-40B4-BE49-F238E27FC236}">
                <a16:creationId xmlns:a16="http://schemas.microsoft.com/office/drawing/2014/main" id="{2E2BAD01-8225-5C97-52AD-D32A37D5E27C}"/>
              </a:ext>
            </a:extLst>
          </p:cNvPr>
          <p:cNvSpPr txBox="1"/>
          <p:nvPr/>
        </p:nvSpPr>
        <p:spPr>
          <a:xfrm>
            <a:off x="6574819" y="1408637"/>
            <a:ext cx="5120640" cy="5170646"/>
          </a:xfrm>
          <a:prstGeom prst="rect">
            <a:avLst/>
          </a:prstGeom>
          <a:noFill/>
        </p:spPr>
        <p:txBody>
          <a:bodyPr wrap="square">
            <a:spAutoFit/>
          </a:bodyPr>
          <a:lstStyle/>
          <a:p>
            <a:pPr marL="285750" indent="-285750" algn="just">
              <a:spcBef>
                <a:spcPts val="600"/>
              </a:spcBef>
              <a:spcAft>
                <a:spcPts val="6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PROPÓSITO</a:t>
            </a:r>
          </a:p>
          <a:p>
            <a:pPr marL="285750" indent="-285750" algn="just">
              <a:spcBef>
                <a:spcPts val="600"/>
              </a:spcBef>
              <a:spcAft>
                <a:spcPts val="6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ALCANCE</a:t>
            </a:r>
          </a:p>
          <a:p>
            <a:pPr marL="285750" indent="-285750" algn="just">
              <a:spcBef>
                <a:spcPts val="600"/>
              </a:spcBef>
              <a:spcAft>
                <a:spcPts val="6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DEFINICIONES</a:t>
            </a:r>
            <a:endParaRPr lang="es-SV" sz="1000" b="1" cap="all" dirty="0">
              <a:solidFill>
                <a:srgbClr val="FFFF00"/>
              </a:solidFill>
              <a:latin typeface="Arial" panose="020B0604020202020204" pitchFamily="34" charset="0"/>
              <a:ea typeface="MS Mincho" panose="02020609040205080304" pitchFamily="49" charset="-128"/>
              <a:cs typeface="Arial" panose="020B0604020202020204" pitchFamily="34" charset="0"/>
            </a:endParaRPr>
          </a:p>
          <a:p>
            <a:pPr marL="285750" indent="-285750" algn="just">
              <a:spcBef>
                <a:spcPts val="600"/>
              </a:spcBef>
              <a:spcAft>
                <a:spcPts val="6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RESPONSABILIDADES</a:t>
            </a:r>
          </a:p>
          <a:p>
            <a:pPr marL="285750" indent="-285750" algn="just">
              <a:spcBef>
                <a:spcPts val="600"/>
              </a:spcBef>
              <a:spcAft>
                <a:spcPts val="6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CRITERIOS PARA IDENTIFICAR SERVICIOS CRITICOS TERCERIZADOS</a:t>
            </a:r>
          </a:p>
          <a:p>
            <a:pPr marL="285750" indent="-285750" algn="just">
              <a:spcBef>
                <a:spcPts val="600"/>
              </a:spcBef>
              <a:spcAft>
                <a:spcPts val="6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REQUERIMIENTOS DE CUMPLIMIENTO NORMATIVO A CONSIDERAR EN LA CONTRATACIÓN DE SERVICIOS CRITICOS TERCERIZADOS DE ACTIVIDADES DE OPERACIONES DE TECNOLOGIA DE LA INFORMACIÓN RELACIONADAS A LOS PRODUCTOS Y SERVICIOS FINANCIEROS.</a:t>
            </a:r>
          </a:p>
          <a:p>
            <a:pPr marL="285750" indent="-285750" algn="just">
              <a:spcBef>
                <a:spcPts val="600"/>
              </a:spcBef>
              <a:spcAft>
                <a:spcPts val="6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LINEAMIENTOS A CONSIDERAR SOBRE LA EVALUACION DE LOS PROVEEDORES DE SERVICIOS CRITICOS TERCERIZADOS</a:t>
            </a:r>
          </a:p>
          <a:p>
            <a:pPr marL="285750" indent="-285750">
              <a:spcBef>
                <a:spcPts val="600"/>
              </a:spcBef>
              <a:spcAft>
                <a:spcPts val="6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LINEAMIENTOS PARA ASEGURAR LA CONTINUIDAD DE PROVEEDORES DE SERVICIOS CRÍTICOS TERCERIZADOS.</a:t>
            </a:r>
          </a:p>
          <a:p>
            <a:pPr marL="285750" indent="-285750">
              <a:spcBef>
                <a:spcPts val="600"/>
              </a:spcBef>
              <a:spcAft>
                <a:spcPts val="6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LINEAMIENTOS PARA MANTENER LA DEBIDA CONFIDENCIALIDAD Y SEGURIDAD DE LA INFORMACIÓN</a:t>
            </a:r>
          </a:p>
          <a:p>
            <a:pPr marL="285750" indent="-285750">
              <a:spcBef>
                <a:spcPts val="600"/>
              </a:spcBef>
              <a:spcAft>
                <a:spcPts val="6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LINEAMIENTOS PARA PREVENIR Y EVITAR CONFLICTOS DE INTERESES</a:t>
            </a:r>
          </a:p>
          <a:p>
            <a:pPr marL="285750" indent="-285750">
              <a:spcBef>
                <a:spcPts val="600"/>
              </a:spcBef>
              <a:spcAft>
                <a:spcPts val="6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ACTUALIZACIÓN</a:t>
            </a:r>
            <a:endParaRPr lang="es-SV" sz="1000" b="1" cap="all" dirty="0">
              <a:solidFill>
                <a:srgbClr val="FFFF00"/>
              </a:solidFill>
              <a:latin typeface="Arial" panose="020B0604020202020204" pitchFamily="34" charset="0"/>
              <a:ea typeface="MS Mincho" panose="02020609040205080304" pitchFamily="49" charset="-128"/>
              <a:cs typeface="Arial" panose="020B0604020202020204" pitchFamily="34" charset="0"/>
            </a:endParaRPr>
          </a:p>
          <a:p>
            <a:pPr marL="285750" indent="-285750">
              <a:spcBef>
                <a:spcPts val="600"/>
              </a:spcBef>
              <a:spcAft>
                <a:spcPts val="6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APROBACIÓN</a:t>
            </a:r>
            <a:endParaRPr lang="es-SV" sz="1000" b="1" cap="all" dirty="0">
              <a:solidFill>
                <a:srgbClr val="FFFF00"/>
              </a:solidFill>
              <a:latin typeface="Arial" panose="020B0604020202020204" pitchFamily="34" charset="0"/>
              <a:ea typeface="MS Mincho" panose="02020609040205080304" pitchFamily="49" charset="-128"/>
              <a:cs typeface="Arial" panose="020B0604020202020204" pitchFamily="34" charset="0"/>
            </a:endParaRPr>
          </a:p>
          <a:p>
            <a:pPr marL="285750" indent="-285750">
              <a:spcBef>
                <a:spcPts val="600"/>
              </a:spcBef>
              <a:spcAft>
                <a:spcPts val="6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VIGENCIA</a:t>
            </a:r>
            <a:endParaRPr lang="es-SV" sz="1000" b="1" cap="all" dirty="0">
              <a:solidFill>
                <a:srgbClr val="FFFF00"/>
              </a:solidFill>
              <a:latin typeface="Arial" panose="020B0604020202020204" pitchFamily="34" charset="0"/>
              <a:ea typeface="MS Mincho" panose="02020609040205080304" pitchFamily="49" charset="-128"/>
              <a:cs typeface="Arial" panose="020B0604020202020204" pitchFamily="34" charset="0"/>
            </a:endParaRPr>
          </a:p>
          <a:p>
            <a:pPr marL="285750" indent="-285750">
              <a:spcBef>
                <a:spcPts val="600"/>
              </a:spcBef>
              <a:spcAft>
                <a:spcPts val="6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DISPOSICIÓN FINAL</a:t>
            </a:r>
            <a:endPar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0A848043-3E64-98A8-7A75-B15A546BA49B}"/>
              </a:ext>
            </a:extLst>
          </p:cNvPr>
          <p:cNvSpPr/>
          <p:nvPr/>
        </p:nvSpPr>
        <p:spPr>
          <a:xfrm>
            <a:off x="548640" y="14519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91797"/>
            <a:ext cx="9966960" cy="307777"/>
          </a:xfrm>
          <a:prstGeom prst="rect">
            <a:avLst/>
          </a:prstGeom>
          <a:noFill/>
        </p:spPr>
        <p:txBody>
          <a:bodyPr wrap="square" lIns="0" tIns="0" rIns="0" bIns="0" anchor="ctr">
            <a:spAutoFit/>
          </a:bodyPr>
          <a:lstStyle/>
          <a:p>
            <a:pPr algn="l"/>
            <a:r>
              <a:rPr sz="2000" b="1" i="0" dirty="0" lang="es-SV">
                <a:solidFill>
                  <a:srgbClr val="00376E"/>
                </a:solidFill>
                <a:latin typeface="Century Gothic"/>
              </a:rPr>
              <a:t>I. </a:t>
            </a:r>
            <a:r>
              <a:rPr sz="2000" b="1" i="0" dirty="0" lang="es-SV">
                <a:solidFill>
                  <a:srgbClr val="00376E"/>
                </a:solidFill>
                <a:latin typeface="Century Gothic"/>
              </a:rPr>
              <a:t>Propósito</a:t>
            </a:r>
            <a:endParaRPr sz="2000" b="1" i="0" dirty="0" lang="es-SV">
              <a:solidFill>
                <a:srgbClr val="00376E"/>
              </a:solidFill>
              <a:latin typeface="Century Gothic"/>
            </a:endParaRPr>
          </a:p>
        </p:txBody>
      </p:sp>
      <p:graphicFrame>
        <p:nvGraphicFramePr>
          <p:cNvPr id="16" name="Table 15"/>
          <p:cNvGraphicFramePr>
            <a:graphicFrameLocks noGrp="1"/>
          </p:cNvGraphicFramePr>
          <p:nvPr>
            <p:extLst>
              <p:ext uri="{D42A27DB-BD31-4B8C-83A1-F6EECF244321}">
                <p14:modId xmlns:p14="http://schemas.microsoft.com/office/powerpoint/2010/main" val="3503031044"/>
              </p:ext>
            </p:extLst>
          </p:nvPr>
        </p:nvGraphicFramePr>
        <p:xfrm>
          <a:off x="548640" y="697971"/>
          <a:ext cx="11091672" cy="2359152"/>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347472">
                <a:tc>
                  <a:txBody>
                    <a:bodyPr/>
                    <a:lstStyle/>
                    <a:p>
                      <a:pPr algn="just"/>
                      <a:r>
                        <a:rPr sz="1000" b="1" i="0" dirty="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dirty="0" lang="es-SV">
                          <a:solidFill>
                            <a:srgbClr val="FFFFFF"/>
                          </a:solidFill>
                          <a:latin typeface="Arial"/>
                        </a:rPr>
                        <a:t>Dice (V03 </a:t>
                      </a:r>
                      <a:r>
                        <a:rPr sz="1000" b="1" i="0" dirty="0" lang="es-SV">
                          <a:solidFill>
                            <a:srgbClr val="FFFFFF"/>
                          </a:solidFill>
                          <a:latin typeface="Arial"/>
                        </a:rPr>
                        <a:t>vigente</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dirty="0" lang="es-SV">
                          <a:solidFill>
                            <a:srgbClr val="FFFFFF"/>
                          </a:solidFill>
                          <a:latin typeface="Arial"/>
                        </a:rPr>
                        <a:t>Debe </a:t>
                      </a:r>
                      <a:r>
                        <a:rPr sz="1000" b="1" i="0" dirty="0" lang="es-SV">
                          <a:solidFill>
                            <a:srgbClr val="FFFFFF"/>
                          </a:solidFill>
                          <a:latin typeface="Arial"/>
                        </a:rPr>
                        <a:t>decir</a:t>
                      </a:r>
                      <a:r>
                        <a:rPr sz="1000" b="1" i="0" dirty="0" lang="es-SV">
                          <a:solidFill>
                            <a:srgbClr val="FFFFFF"/>
                          </a:solidFill>
                          <a:latin typeface="Arial"/>
                        </a:rPr>
                        <a:t> (V04 </a:t>
                      </a:r>
                      <a:r>
                        <a:rPr sz="1000" b="1" i="0" dirty="0" lang="es-SV">
                          <a:solidFill>
                            <a:srgbClr val="FFFFFF"/>
                          </a:solidFill>
                          <a:latin typeface="Arial"/>
                        </a:rPr>
                        <a:t>propuesta</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Mejora y base normativa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74320">
                <a:tc>
                  <a:txBody>
                    <a:bodyPr/>
                    <a:lstStyle/>
                    <a:p>
                      <a:pPr algn="just"/>
                      <a:r>
                        <a:rPr sz="1000" b="1" i="0" lang="es-SV">
                          <a:solidFill>
                            <a:srgbClr val="00376E"/>
                          </a:solidFill>
                          <a:latin typeface="Arial"/>
                        </a:rPr>
                        <a:t>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CONTRATACIÓN DE SERVICIOS CRÍTICOS TERCERIZADOS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dirty="0" lang="es-SV">
                          <a:solidFill>
                            <a:srgbClr val="00376E"/>
                          </a:solidFill>
                          <a:latin typeface="Arial"/>
                        </a:rPr>
                        <a:t>POLÍTICA DE </a:t>
                      </a:r>
                      <a:r>
                        <a:rPr sz="1000" b="0" i="0" dirty="0" lang="es-SV">
                          <a:solidFill>
                            <a:srgbClr val="1B2333"/>
                          </a:solidFill>
                          <a:latin typeface="Arial"/>
                        </a:rPr>
                        <a:t>CONTRATACIÓN DE SERVICIOS CRÍTICOS TERCERIZADOS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Identifica</a:t>
                      </a:r>
                      <a:r>
                        <a:rPr sz="1000" b="0" i="0" dirty="0" lang="es-SV">
                          <a:solidFill>
                            <a:srgbClr val="1B2333"/>
                          </a:solidFill>
                          <a:latin typeface="Arial"/>
                        </a:rPr>
                        <a:t> el </a:t>
                      </a:r>
                      <a:r>
                        <a:rPr sz="1000" b="0" i="0" dirty="0" lang="es-SV">
                          <a:solidFill>
                            <a:srgbClr val="1B2333"/>
                          </a:solidFill>
                          <a:latin typeface="Arial"/>
                        </a:rPr>
                        <a:t>tipo</a:t>
                      </a:r>
                      <a:r>
                        <a:rPr sz="1000" b="0" i="0" dirty="0" lang="es-SV">
                          <a:solidFill>
                            <a:srgbClr val="1B2333"/>
                          </a:solidFill>
                          <a:latin typeface="Arial"/>
                        </a:rPr>
                        <a:t> de </a:t>
                      </a:r>
                      <a:r>
                        <a:rPr sz="1000" b="0" i="0" dirty="0" lang="es-SV">
                          <a:solidFill>
                            <a:srgbClr val="1B2333"/>
                          </a:solidFill>
                          <a:latin typeface="Arial"/>
                        </a:rPr>
                        <a:t>documento</a:t>
                      </a:r>
                      <a:r>
                        <a:rPr sz="1000" b="0" i="0" dirty="0" lang="es-SV">
                          <a:solidFill>
                            <a:srgbClr val="1B2333"/>
                          </a:solidFill>
                          <a:latin typeface="Arial"/>
                        </a:rPr>
                        <a:t>, </a:t>
                      </a:r>
                      <a:r>
                        <a:rPr sz="1000" b="0" i="0" dirty="0" lang="es-SV">
                          <a:solidFill>
                            <a:srgbClr val="1B2333"/>
                          </a:solidFill>
                          <a:latin typeface="Arial"/>
                        </a:rPr>
                        <a:t>consistente</a:t>
                      </a:r>
                      <a:r>
                        <a:rPr sz="1000" b="0" i="0" dirty="0" lang="es-SV">
                          <a:solidFill>
                            <a:srgbClr val="1B2333"/>
                          </a:solidFill>
                          <a:latin typeface="Arial"/>
                        </a:rPr>
                        <a:t> con el </a:t>
                      </a:r>
                      <a:r>
                        <a:rPr sz="1000" b="0" i="0" dirty="0" lang="es-SV">
                          <a:solidFill>
                            <a:srgbClr val="1B2333"/>
                          </a:solidFill>
                          <a:latin typeface="Arial"/>
                        </a:rPr>
                        <a:t>código</a:t>
                      </a:r>
                      <a:r>
                        <a:rPr sz="1000" b="0" i="0" dirty="0" lang="es-SV">
                          <a:solidFill>
                            <a:srgbClr val="1B2333"/>
                          </a:solidFill>
                          <a:latin typeface="Arial"/>
                        </a:rPr>
                        <a:t> RP-GG-PL.</a:t>
                      </a:r>
                    </a:p>
                    <a:p>
                      <a:pPr algn="just"/>
                      <a:r>
                        <a:rPr sz="1000" b="1" i="0" dirty="0" lang="es-SV">
                          <a:solidFill>
                            <a:srgbClr val="00376E"/>
                          </a:solidFill>
                          <a:latin typeface="Arial"/>
                        </a:rPr>
                        <a:t>Formato </a:t>
                      </a:r>
                      <a:r>
                        <a:rPr sz="1000" b="1" i="0" dirty="0" lang="es-SV">
                          <a:solidFill>
                            <a:srgbClr val="00376E"/>
                          </a:solidFill>
                          <a:latin typeface="Arial"/>
                        </a:rPr>
                        <a:t>interno</a:t>
                      </a:r>
                      <a:endParaRPr sz="1000" b="1" i="0" dirty="0" lang="es-SV">
                        <a:solidFill>
                          <a:srgbClr val="00376E"/>
                        </a:solidFill>
                        <a:latin typeface="Arial"/>
                      </a:endParaRP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74320">
                <a:tc>
                  <a:txBody>
                    <a:bodyPr/>
                    <a:lstStyle/>
                    <a:p>
                      <a:pPr algn="just"/>
                      <a:r>
                        <a:rPr sz="1000" b="1" i="0" lang="es-SV">
                          <a:solidFill>
                            <a:srgbClr val="00376E"/>
                          </a:solidFill>
                          <a:latin typeface="Arial"/>
                        </a:rPr>
                        <a:t>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Definir</a:t>
                      </a:r>
                      <a:r>
                        <a:rPr sz="1000" b="0" i="0" dirty="0" lang="es-SV">
                          <a:solidFill>
                            <a:srgbClr val="1B2333"/>
                          </a:solidFill>
                          <a:latin typeface="Arial"/>
                        </a:rPr>
                        <a:t> las </a:t>
                      </a:r>
                      <a:r>
                        <a:rPr sz="1000" b="0" i="0" dirty="0" lang="es-SV">
                          <a:solidFill>
                            <a:srgbClr val="1B2333"/>
                          </a:solidFill>
                          <a:latin typeface="Arial"/>
                        </a:rPr>
                        <a:t>políticas</a:t>
                      </a:r>
                      <a:r>
                        <a:rPr sz="1000" b="0" i="0" dirty="0" lang="es-SV">
                          <a:solidFill>
                            <a:srgbClr val="1B2333"/>
                          </a:solidFill>
                          <a:latin typeface="Arial"/>
                        </a:rPr>
                        <a:t> </a:t>
                      </a:r>
                      <a:r>
                        <a:rPr sz="1000" b="0" i="0" dirty="0" lang="es-SV">
                          <a:solidFill>
                            <a:srgbClr val="1B2333"/>
                          </a:solidFill>
                          <a:latin typeface="Arial"/>
                        </a:rPr>
                        <a:t>que</a:t>
                      </a:r>
                      <a:r>
                        <a:rPr sz="1000" b="0" i="0" dirty="0" lang="es-SV">
                          <a:solidFill>
                            <a:srgbClr val="1B2333"/>
                          </a:solidFill>
                          <a:latin typeface="Arial"/>
                        </a:rPr>
                        <a:t> </a:t>
                      </a:r>
                      <a:r>
                        <a:rPr sz="1000" b="0" i="0" dirty="0" lang="es-SV">
                          <a:solidFill>
                            <a:srgbClr val="1B2333"/>
                          </a:solidFill>
                          <a:latin typeface="Arial"/>
                        </a:rPr>
                        <a:t>permitan</a:t>
                      </a:r>
                      <a:r>
                        <a:rPr sz="1000" b="0" i="0" dirty="0" lang="es-SV">
                          <a:solidFill>
                            <a:srgbClr val="1B2333"/>
                          </a:solidFill>
                          <a:latin typeface="Arial"/>
                        </a:rPr>
                        <a:t> </a:t>
                      </a:r>
                      <a:r>
                        <a:rPr sz="1000" b="0" i="0" dirty="0" lang="es-SV">
                          <a:solidFill>
                            <a:srgbClr val="1B2333"/>
                          </a:solidFill>
                          <a:latin typeface="Arial"/>
                        </a:rPr>
                        <a:t>evaluar</a:t>
                      </a:r>
                      <a:r>
                        <a:rPr sz="1000" b="0" i="0" dirty="0" lang="es-SV">
                          <a:solidFill>
                            <a:srgbClr val="1B2333"/>
                          </a:solidFill>
                          <a:latin typeface="Arial"/>
                        </a:rPr>
                        <a:t>, </a:t>
                      </a:r>
                      <a:r>
                        <a:rPr sz="1000" b="0" i="0" dirty="0" lang="es-SV">
                          <a:solidFill>
                            <a:srgbClr val="1B2333"/>
                          </a:solidFill>
                          <a:latin typeface="Arial"/>
                        </a:rPr>
                        <a:t>administrar</a:t>
                      </a:r>
                      <a:r>
                        <a:rPr sz="1000" b="0" i="0" dirty="0" lang="es-SV">
                          <a:solidFill>
                            <a:srgbClr val="1B2333"/>
                          </a:solidFill>
                          <a:latin typeface="Arial"/>
                        </a:rPr>
                        <a:t> y </a:t>
                      </a:r>
                      <a:r>
                        <a:rPr sz="1000" b="0" i="0" dirty="0" lang="es-SV">
                          <a:solidFill>
                            <a:srgbClr val="1B2333"/>
                          </a:solidFill>
                          <a:latin typeface="Arial"/>
                        </a:rPr>
                        <a:t>monitorear</a:t>
                      </a:r>
                      <a:r>
                        <a:rPr sz="1000" b="0" i="0" dirty="0" lang="es-SV">
                          <a:solidFill>
                            <a:srgbClr val="1B2333"/>
                          </a:solidFill>
                          <a:latin typeface="Arial"/>
                        </a:rPr>
                        <a:t> </a:t>
                      </a:r>
                      <a:r>
                        <a:rPr sz="1000" b="0" i="0" dirty="0" lang="es-SV">
                          <a:solidFill>
                            <a:srgbClr val="1B2333"/>
                          </a:solidFill>
                          <a:latin typeface="Arial"/>
                        </a:rPr>
                        <a:t>objetivamente</a:t>
                      </a:r>
                      <a:r>
                        <a:rPr sz="1000" b="0" i="0" dirty="0" lang="es-SV">
                          <a:solidFill>
                            <a:srgbClr val="1B2333"/>
                          </a:solidFill>
                          <a:latin typeface="Arial"/>
                        </a:rPr>
                        <a:t> </a:t>
                      </a:r>
                      <a:r>
                        <a:rPr sz="1000" b="0" i="0" dirty="0" lang="es-SV">
                          <a:solidFill>
                            <a:srgbClr val="1B2333"/>
                          </a:solidFill>
                          <a:latin typeface="Arial"/>
                        </a:rPr>
                        <a:t>si</a:t>
                      </a:r>
                      <a:r>
                        <a:rPr sz="1000" b="0" i="0" dirty="0" lang="es-SV">
                          <a:solidFill>
                            <a:srgbClr val="1B2333"/>
                          </a:solidFill>
                          <a:latin typeface="Arial"/>
                        </a:rPr>
                        <a:t> </a:t>
                      </a:r>
                      <a:r>
                        <a:rPr sz="1000" b="0" i="0" dirty="0" lang="es-SV">
                          <a:solidFill>
                            <a:srgbClr val="1B2333"/>
                          </a:solidFill>
                          <a:latin typeface="Arial"/>
                        </a:rPr>
                        <a:t>los</a:t>
                      </a:r>
                      <a:r>
                        <a:rPr sz="1000" b="0" i="0" dirty="0" lang="es-SV">
                          <a:solidFill>
                            <a:srgbClr val="1B2333"/>
                          </a:solidFill>
                          <a:latin typeface="Arial"/>
                        </a:rPr>
                        <a:t> </a:t>
                      </a:r>
                      <a:r>
                        <a:rPr sz="1000" b="0" i="0" dirty="0" lang="es-SV">
                          <a:solidFill>
                            <a:srgbClr val="1B2333"/>
                          </a:solidFill>
                          <a:latin typeface="Arial"/>
                        </a:rPr>
                        <a:t>servicios</a:t>
                      </a:r>
                      <a:r>
                        <a:rPr sz="1000" b="0" i="0" dirty="0" lang="es-SV">
                          <a:solidFill>
                            <a:srgbClr val="1B2333"/>
                          </a:solidFill>
                          <a:latin typeface="Arial"/>
                        </a:rPr>
                        <a:t> </a:t>
                      </a:r>
                      <a:r>
                        <a:rPr sz="1000" b="0" i="0" dirty="0" lang="es-SV">
                          <a:solidFill>
                            <a:srgbClr val="1B2333"/>
                          </a:solidFill>
                          <a:latin typeface="Arial"/>
                        </a:rPr>
                        <a:t>que</a:t>
                      </a:r>
                      <a:r>
                        <a:rPr sz="1000" b="0" i="0" dirty="0" lang="es-SV">
                          <a:solidFill>
                            <a:srgbClr val="1B2333"/>
                          </a:solidFill>
                          <a:latin typeface="Arial"/>
                        </a:rPr>
                        <a:t> se </a:t>
                      </a:r>
                      <a:r>
                        <a:rPr sz="1000" b="0" i="0" dirty="0" lang="es-SV">
                          <a:solidFill>
                            <a:srgbClr val="1B2333"/>
                          </a:solidFill>
                          <a:latin typeface="Arial"/>
                        </a:rPr>
                        <a:t>tercerizan</a:t>
                      </a:r>
                      <a:r>
                        <a:rPr sz="1000" b="0" i="0" dirty="0" lang="es-SV">
                          <a:solidFill>
                            <a:srgbClr val="1B2333"/>
                          </a:solidFill>
                          <a:latin typeface="Arial"/>
                        </a:rPr>
                        <a:t> </a:t>
                      </a:r>
                      <a:r>
                        <a:rPr sz="1000" b="0" i="0" dirty="0" lang="es-SV">
                          <a:solidFill>
                            <a:srgbClr val="1B2333"/>
                          </a:solidFill>
                          <a:latin typeface="Arial"/>
                        </a:rPr>
                        <a:t>pueden</a:t>
                      </a:r>
                      <a:r>
                        <a:rPr sz="1000" b="0" i="0" dirty="0" lang="es-SV">
                          <a:solidFill>
                            <a:srgbClr val="1B2333"/>
                          </a:solidFill>
                          <a:latin typeface="Arial"/>
                        </a:rPr>
                        <a:t> ser </a:t>
                      </a:r>
                      <a:r>
                        <a:rPr sz="1000" b="0" i="0" dirty="0" lang="es-SV">
                          <a:solidFill>
                            <a:srgbClr val="1B2333"/>
                          </a:solidFill>
                          <a:latin typeface="Arial"/>
                        </a:rPr>
                        <a:t>prestados</a:t>
                      </a:r>
                      <a:r>
                        <a:rPr sz="1000" b="0" i="0" dirty="0" lang="es-SV">
                          <a:solidFill>
                            <a:srgbClr val="1B2333"/>
                          </a:solidFill>
                          <a:latin typeface="Arial"/>
                        </a:rPr>
                        <a:t> de </a:t>
                      </a:r>
                      <a:r>
                        <a:rPr sz="1000" b="0" i="0" dirty="0" lang="es-SV">
                          <a:solidFill>
                            <a:srgbClr val="1B2333"/>
                          </a:solidFill>
                          <a:latin typeface="Arial"/>
                        </a:rPr>
                        <a:t>manera</a:t>
                      </a:r>
                      <a:r>
                        <a:rPr sz="1000" b="0" i="0" dirty="0" lang="es-SV">
                          <a:solidFill>
                            <a:srgbClr val="1B2333"/>
                          </a:solidFill>
                          <a:latin typeface="Arial"/>
                        </a:rPr>
                        <a:t> </a:t>
                      </a:r>
                      <a:r>
                        <a:rPr sz="1000" b="0" i="0" dirty="0" lang="es-SV">
                          <a:solidFill>
                            <a:srgbClr val="1B2333"/>
                          </a:solidFill>
                          <a:latin typeface="Arial"/>
                        </a:rPr>
                        <a:t>eficiente</a:t>
                      </a:r>
                      <a:r>
                        <a:rPr sz="1000" b="0" i="0" dirty="0" lang="es-SV">
                          <a:solidFill>
                            <a:srgbClr val="1B2333"/>
                          </a:solidFill>
                          <a:latin typeface="Arial"/>
                        </a:rPr>
                        <a:t> y no </a:t>
                      </a:r>
                      <a:r>
                        <a:rPr sz="1000" b="0" i="0" dirty="0" lang="es-SV">
                          <a:solidFill>
                            <a:srgbClr val="1B2333"/>
                          </a:solidFill>
                          <a:latin typeface="Arial"/>
                        </a:rPr>
                        <a:t>interfieren</a:t>
                      </a:r>
                      <a:r>
                        <a:rPr sz="1000" b="0" i="0" dirty="0" lang="es-SV">
                          <a:solidFill>
                            <a:srgbClr val="1B2333"/>
                          </a:solidFill>
                          <a:latin typeface="Arial"/>
                        </a:rPr>
                        <a:t> </a:t>
                      </a:r>
                      <a:r>
                        <a:rPr sz="1000" b="0" i="0" dirty="0" lang="es-SV">
                          <a:solidFill>
                            <a:srgbClr val="1B2333"/>
                          </a:solidFill>
                          <a:latin typeface="Arial"/>
                        </a:rPr>
                        <a:t>en</a:t>
                      </a:r>
                      <a:r>
                        <a:rPr sz="1000" b="0" i="0" dirty="0" lang="es-SV">
                          <a:solidFill>
                            <a:srgbClr val="1B2333"/>
                          </a:solidFill>
                          <a:latin typeface="Arial"/>
                        </a:rPr>
                        <a:t> el </a:t>
                      </a:r>
                      <a:r>
                        <a:rPr sz="1000" b="0" i="0" dirty="0" lang="es-SV">
                          <a:solidFill>
                            <a:srgbClr val="1B2333"/>
                          </a:solidFill>
                          <a:latin typeface="Arial"/>
                        </a:rPr>
                        <a:t>correcto</a:t>
                      </a:r>
                      <a:r>
                        <a:rPr sz="1000" b="0" i="0" dirty="0" lang="es-SV">
                          <a:solidFill>
                            <a:srgbClr val="1B2333"/>
                          </a:solidFill>
                          <a:latin typeface="Arial"/>
                        </a:rPr>
                        <a:t> </a:t>
                      </a:r>
                      <a:r>
                        <a:rPr sz="1000" b="0" i="0" dirty="0" lang="es-SV">
                          <a:solidFill>
                            <a:srgbClr val="1B2333"/>
                          </a:solidFill>
                          <a:latin typeface="Arial"/>
                        </a:rPr>
                        <a:t>funcionamiento</a:t>
                      </a:r>
                      <a:r>
                        <a:rPr sz="1000" b="0" i="0" dirty="0" lang="es-SV">
                          <a:solidFill>
                            <a:srgbClr val="1B2333"/>
                          </a:solidFill>
                          <a:latin typeface="Arial"/>
                        </a:rPr>
                        <a:t> de la Cooperativa, </a:t>
                      </a:r>
                      <a:r>
                        <a:rPr sz="1000" b="0" i="0" dirty="0" lang="es-SV">
                          <a:solidFill>
                            <a:srgbClr val="1B2333"/>
                          </a:solidFill>
                          <a:latin typeface="Arial"/>
                        </a:rPr>
                        <a:t>cuidando</a:t>
                      </a:r>
                      <a:r>
                        <a:rPr sz="1000" b="0" i="0" dirty="0" lang="es-SV">
                          <a:solidFill>
                            <a:srgbClr val="1B2333"/>
                          </a:solidFill>
                          <a:latin typeface="Arial"/>
                        </a:rPr>
                        <a:t> </a:t>
                      </a:r>
                      <a:r>
                        <a:rPr sz="1000" b="0" i="0" dirty="0" lang="es-SV">
                          <a:solidFill>
                            <a:srgbClr val="1B2333"/>
                          </a:solidFill>
                          <a:latin typeface="Arial"/>
                        </a:rPr>
                        <a:t>los</a:t>
                      </a:r>
                      <a:r>
                        <a:rPr sz="1000" b="0" i="0" dirty="0" lang="es-SV">
                          <a:solidFill>
                            <a:srgbClr val="1B2333"/>
                          </a:solidFill>
                          <a:latin typeface="Arial"/>
                        </a:rPr>
                        <a:t> </a:t>
                      </a:r>
                      <a:r>
                        <a:rPr sz="1000" b="0" i="0" dirty="0" lang="es-SV">
                          <a:solidFill>
                            <a:srgbClr val="1B2333"/>
                          </a:solidFill>
                          <a:latin typeface="Arial"/>
                        </a:rPr>
                        <a:t>intereses</a:t>
                      </a:r>
                      <a:r>
                        <a:rPr sz="1000" b="0" i="0" dirty="0" lang="es-SV">
                          <a:solidFill>
                            <a:srgbClr val="1B2333"/>
                          </a:solidFill>
                          <a:latin typeface="Arial"/>
                        </a:rPr>
                        <a:t> de COMEDICA </a:t>
                      </a:r>
                      <a:r>
                        <a:rPr sz="1000" b="0" i="0" dirty="0" lang="es-SV">
                          <a:solidFill>
                            <a:srgbClr val="1B2333"/>
                          </a:solidFill>
                          <a:latin typeface="Arial"/>
                        </a:rPr>
                        <a:t>en</a:t>
                      </a:r>
                      <a:r>
                        <a:rPr sz="1000" b="0" i="0" dirty="0" lang="es-SV">
                          <a:solidFill>
                            <a:srgbClr val="1B2333"/>
                          </a:solidFill>
                          <a:latin typeface="Arial"/>
                        </a:rPr>
                        <a:t> </a:t>
                      </a:r>
                      <a:r>
                        <a:rPr sz="1000" b="0" i="0" dirty="0" lang="es-SV">
                          <a:solidFill>
                            <a:srgbClr val="1B2333"/>
                          </a:solidFill>
                          <a:latin typeface="Arial"/>
                        </a:rPr>
                        <a:t>los</a:t>
                      </a:r>
                      <a:r>
                        <a:rPr sz="1000" b="0" i="0" dirty="0" lang="es-SV">
                          <a:solidFill>
                            <a:srgbClr val="1B2333"/>
                          </a:solidFill>
                          <a:latin typeface="Arial"/>
                        </a:rPr>
                        <a:t> </a:t>
                      </a:r>
                      <a:r>
                        <a:rPr sz="1000" b="0" i="0" dirty="0" lang="es-SV">
                          <a:solidFill>
                            <a:srgbClr val="1B2333"/>
                          </a:solidFill>
                          <a:latin typeface="Arial"/>
                        </a:rPr>
                        <a:t>Procesos</a:t>
                      </a:r>
                      <a:r>
                        <a:rPr sz="1000" b="0" i="0" dirty="0" lang="es-SV">
                          <a:solidFill>
                            <a:srgbClr val="1B2333"/>
                          </a:solidFill>
                          <a:latin typeface="Arial"/>
                        </a:rPr>
                        <a:t> de </a:t>
                      </a:r>
                      <a:r>
                        <a:rPr sz="1000" b="0" i="0" dirty="0" lang="es-SV">
                          <a:solidFill>
                            <a:srgbClr val="1B2333"/>
                          </a:solidFill>
                          <a:latin typeface="Arial"/>
                        </a:rPr>
                        <a:t>Contratación</a:t>
                      </a:r>
                      <a:r>
                        <a:rPr sz="1000" b="0" i="0" dirty="0" lang="es-SV">
                          <a:solidFill>
                            <a:srgbClr val="1B2333"/>
                          </a:solidFill>
                          <a:latin typeface="Arial"/>
                        </a:rPr>
                        <a:t> de </a:t>
                      </a:r>
                      <a:r>
                        <a:rPr sz="1000" b="0" i="0" dirty="0" lang="es-SV">
                          <a:solidFill>
                            <a:srgbClr val="1B2333"/>
                          </a:solidFill>
                          <a:latin typeface="Arial"/>
                        </a:rPr>
                        <a:t>Servicios</a:t>
                      </a:r>
                      <a:r>
                        <a:rPr sz="1000" b="0" i="0" dirty="0" lang="es-SV">
                          <a:solidFill>
                            <a:srgbClr val="1B2333"/>
                          </a:solidFill>
                          <a:latin typeface="Arial"/>
                        </a:rPr>
                        <a:t> </a:t>
                      </a:r>
                      <a:r>
                        <a:rPr sz="1000" b="0" i="0" dirty="0" lang="es-SV">
                          <a:solidFill>
                            <a:srgbClr val="1B2333"/>
                          </a:solidFill>
                          <a:latin typeface="Arial"/>
                        </a:rPr>
                        <a:t>Críticos</a:t>
                      </a:r>
                      <a:r>
                        <a:rPr sz="1000" b="0" i="0" dirty="0" lang="es-SV">
                          <a:solidFill>
                            <a:srgbClr val="1B2333"/>
                          </a:solidFill>
                          <a:latin typeface="Arial"/>
                        </a:rPr>
                        <a:t> </a:t>
                      </a:r>
                      <a:r>
                        <a:rPr sz="1000" b="0" i="0" dirty="0" lang="es-SV">
                          <a:solidFill>
                            <a:srgbClr val="1B2333"/>
                          </a:solidFill>
                          <a:latin typeface="Arial"/>
                        </a:rPr>
                        <a:t>Tercerizados</a:t>
                      </a:r>
                      <a:r>
                        <a:rPr sz="1000" b="0" i="0" dirty="0" lang="es-SV">
                          <a:solidFill>
                            <a:srgbClr val="1B2333"/>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Definir</a:t>
                      </a:r>
                      <a:r>
                        <a:rPr sz="1000" b="0" i="0" dirty="0" lang="es-SV">
                          <a:solidFill>
                            <a:srgbClr val="1B2333"/>
                          </a:solidFill>
                          <a:latin typeface="Arial"/>
                        </a:rPr>
                        <a:t> las </a:t>
                      </a:r>
                      <a:r>
                        <a:rPr sz="1000" b="0" i="0" dirty="0" lang="es-SV">
                          <a:solidFill>
                            <a:srgbClr val="1B2333"/>
                          </a:solidFill>
                          <a:latin typeface="Arial"/>
                        </a:rPr>
                        <a:t>políticas</a:t>
                      </a:r>
                      <a:r>
                        <a:rPr sz="1000" b="1" i="0" u="sng" dirty="0" lang="es-SV">
                          <a:solidFill>
                            <a:srgbClr val="00376E"/>
                          </a:solidFill>
                          <a:latin typeface="Arial"/>
                        </a:rPr>
                        <a:t>, </a:t>
                      </a:r>
                      <a:r>
                        <a:rPr sz="1000" b="1" i="0" u="sng" dirty="0" lang="es-SV">
                          <a:solidFill>
                            <a:srgbClr val="00376E"/>
                          </a:solidFill>
                          <a:latin typeface="Arial"/>
                        </a:rPr>
                        <a:t>lineamientos</a:t>
                      </a:r>
                      <a:r>
                        <a:rPr sz="1000" b="1" i="0" u="sng" dirty="0" lang="es-SV">
                          <a:solidFill>
                            <a:srgbClr val="00376E"/>
                          </a:solidFill>
                          <a:latin typeface="Arial"/>
                        </a:rPr>
                        <a:t> y </a:t>
                      </a:r>
                      <a:r>
                        <a:rPr sz="1000" b="1" i="0" u="sng" dirty="0" lang="es-SV">
                          <a:solidFill>
                            <a:srgbClr val="00376E"/>
                          </a:solidFill>
                          <a:latin typeface="Arial"/>
                        </a:rPr>
                        <a:t>controles</a:t>
                      </a:r>
                      <a:r>
                        <a:rPr sz="1000" b="1" i="0" u="sng" dirty="0" lang="es-SV">
                          <a:solidFill>
                            <a:srgbClr val="00376E"/>
                          </a:solidFill>
                          <a:latin typeface="Arial"/>
                        </a:rPr>
                        <a:t> </a:t>
                      </a:r>
                      <a:r>
                        <a:rPr sz="1000" b="1" i="0" u="sng" dirty="0" lang="es-SV">
                          <a:solidFill>
                            <a:srgbClr val="00376E"/>
                          </a:solidFill>
                          <a:latin typeface="Arial"/>
                        </a:rPr>
                        <a:t>mínimos</a:t>
                      </a:r>
                      <a:r>
                        <a:rPr sz="1000" b="0" i="0" dirty="0" lang="es-SV">
                          <a:solidFill>
                            <a:srgbClr val="1B2333"/>
                          </a:solidFill>
                          <a:latin typeface="Arial"/>
                        </a:rPr>
                        <a:t> </a:t>
                      </a:r>
                      <a:r>
                        <a:rPr sz="1000" b="0" i="0" dirty="0" lang="es-SV">
                          <a:solidFill>
                            <a:srgbClr val="1B2333"/>
                          </a:solidFill>
                          <a:latin typeface="Arial"/>
                        </a:rPr>
                        <a:t>que</a:t>
                      </a:r>
                      <a:r>
                        <a:rPr sz="1000" b="0" i="0" dirty="0" lang="es-SV">
                          <a:solidFill>
                            <a:srgbClr val="1B2333"/>
                          </a:solidFill>
                          <a:latin typeface="Arial"/>
                        </a:rPr>
                        <a:t> </a:t>
                      </a:r>
                      <a:r>
                        <a:rPr sz="1000" b="0" i="0" dirty="0" lang="es-SV">
                          <a:solidFill>
                            <a:srgbClr val="1B2333"/>
                          </a:solidFill>
                          <a:latin typeface="Arial"/>
                        </a:rPr>
                        <a:t>permitan</a:t>
                      </a:r>
                      <a:r>
                        <a:rPr sz="1000" b="0" i="0" dirty="0" lang="es-SV">
                          <a:solidFill>
                            <a:srgbClr val="1B2333"/>
                          </a:solidFill>
                          <a:latin typeface="Arial"/>
                        </a:rPr>
                        <a:t> </a:t>
                      </a:r>
                      <a:r>
                        <a:rPr sz="1000" b="1" i="0" u="sng" dirty="0" lang="es-SV">
                          <a:solidFill>
                            <a:srgbClr val="00376E"/>
                          </a:solidFill>
                          <a:latin typeface="Arial"/>
                        </a:rPr>
                        <a:t>identificar</a:t>
                      </a:r>
                      <a:r>
                        <a:rPr sz="1000" b="1" i="0" u="sng" dirty="0" lang="es-SV">
                          <a:solidFill>
                            <a:srgbClr val="00376E"/>
                          </a:solidFill>
                          <a:latin typeface="Arial"/>
                        </a:rPr>
                        <a:t>,</a:t>
                      </a:r>
                      <a:r>
                        <a:rPr sz="1000" b="0" i="0" dirty="0" lang="es-SV">
                          <a:solidFill>
                            <a:srgbClr val="1B2333"/>
                          </a:solidFill>
                          <a:latin typeface="Arial"/>
                        </a:rPr>
                        <a:t> </a:t>
                      </a:r>
                      <a:r>
                        <a:rPr sz="1000" b="0" i="0" dirty="0" lang="es-SV">
                          <a:solidFill>
                            <a:srgbClr val="1B2333"/>
                          </a:solidFill>
                          <a:latin typeface="Arial"/>
                        </a:rPr>
                        <a:t>evaluar</a:t>
                      </a:r>
                      <a:r>
                        <a:rPr sz="1000" b="0" i="0" dirty="0" lang="es-SV">
                          <a:solidFill>
                            <a:srgbClr val="1B2333"/>
                          </a:solidFill>
                          <a:latin typeface="Arial"/>
                        </a:rPr>
                        <a:t>, </a:t>
                      </a:r>
                      <a:r>
                        <a:rPr sz="1000" b="0" i="0" dirty="0" lang="es-SV">
                          <a:solidFill>
                            <a:srgbClr val="1B2333"/>
                          </a:solidFill>
                          <a:latin typeface="Arial"/>
                        </a:rPr>
                        <a:t>administrar</a:t>
                      </a:r>
                      <a:r>
                        <a:rPr sz="1000" b="0" i="0" dirty="0" lang="es-SV">
                          <a:solidFill>
                            <a:srgbClr val="1B2333"/>
                          </a:solidFill>
                          <a:latin typeface="Arial"/>
                        </a:rPr>
                        <a:t>, </a:t>
                      </a:r>
                      <a:r>
                        <a:rPr sz="1000" b="1" i="0" u="sng" dirty="0" lang="es-SV">
                          <a:solidFill>
                            <a:srgbClr val="00376E"/>
                          </a:solidFill>
                          <a:latin typeface="Arial"/>
                        </a:rPr>
                        <a:t>mitigar</a:t>
                      </a:r>
                      <a:r>
                        <a:rPr sz="1000" b="0" i="0" dirty="0" lang="es-SV">
                          <a:solidFill>
                            <a:srgbClr val="1B2333"/>
                          </a:solidFill>
                          <a:latin typeface="Arial"/>
                        </a:rPr>
                        <a:t> y </a:t>
                      </a:r>
                      <a:r>
                        <a:rPr sz="1000" b="0" i="0" dirty="0" lang="es-SV">
                          <a:solidFill>
                            <a:srgbClr val="1B2333"/>
                          </a:solidFill>
                          <a:latin typeface="Arial"/>
                        </a:rPr>
                        <a:t>monitorear</a:t>
                      </a:r>
                      <a:r>
                        <a:rPr sz="1000" b="0" i="0" dirty="0" lang="es-SV">
                          <a:solidFill>
                            <a:srgbClr val="1B2333"/>
                          </a:solidFill>
                          <a:latin typeface="Arial"/>
                        </a:rPr>
                        <a:t> </a:t>
                      </a:r>
                      <a:r>
                        <a:rPr sz="1000" b="0" i="0" dirty="0" lang="es-SV">
                          <a:solidFill>
                            <a:srgbClr val="1B2333"/>
                          </a:solidFill>
                          <a:latin typeface="Arial"/>
                        </a:rPr>
                        <a:t>objetivamente</a:t>
                      </a:r>
                      <a:r>
                        <a:rPr sz="1000" b="0" i="0" dirty="0" lang="es-SV">
                          <a:solidFill>
                            <a:srgbClr val="1B2333"/>
                          </a:solidFill>
                          <a:latin typeface="Arial"/>
                        </a:rPr>
                        <a:t> </a:t>
                      </a:r>
                      <a:r>
                        <a:rPr sz="1000" b="1" i="0" u="sng" dirty="0" lang="es-SV">
                          <a:solidFill>
                            <a:srgbClr val="00376E"/>
                          </a:solidFill>
                          <a:latin typeface="Arial"/>
                        </a:rPr>
                        <a:t>los</a:t>
                      </a:r>
                      <a:r>
                        <a:rPr sz="1000" b="1" i="0" u="sng" dirty="0" lang="es-SV">
                          <a:solidFill>
                            <a:srgbClr val="00376E"/>
                          </a:solidFill>
                          <a:latin typeface="Arial"/>
                        </a:rPr>
                        <a:t> </a:t>
                      </a:r>
                      <a:r>
                        <a:rPr sz="1000" b="1" i="0" u="sng" dirty="0" lang="es-SV">
                          <a:solidFill>
                            <a:srgbClr val="00376E"/>
                          </a:solidFill>
                          <a:latin typeface="Arial"/>
                        </a:rPr>
                        <a:t>riesgos</a:t>
                      </a:r>
                      <a:r>
                        <a:rPr sz="1000" b="1" i="0" u="sng" dirty="0" lang="es-SV">
                          <a:solidFill>
                            <a:srgbClr val="00376E"/>
                          </a:solidFill>
                          <a:latin typeface="Arial"/>
                        </a:rPr>
                        <a:t> </a:t>
                      </a:r>
                      <a:r>
                        <a:rPr sz="1000" b="1" i="0" u="sng" dirty="0" lang="es-SV">
                          <a:solidFill>
                            <a:srgbClr val="00376E"/>
                          </a:solidFill>
                          <a:latin typeface="Arial"/>
                        </a:rPr>
                        <a:t>asociados</a:t>
                      </a:r>
                      <a:r>
                        <a:rPr sz="1000" b="1" i="0" u="sng" dirty="0" lang="es-SV">
                          <a:solidFill>
                            <a:srgbClr val="00376E"/>
                          </a:solidFill>
                          <a:latin typeface="Arial"/>
                        </a:rPr>
                        <a:t> a la </a:t>
                      </a:r>
                      <a:r>
                        <a:rPr sz="1000" b="1" i="0" u="sng" dirty="0" lang="es-SV">
                          <a:solidFill>
                            <a:srgbClr val="00376E"/>
                          </a:solidFill>
                          <a:latin typeface="Arial"/>
                        </a:rPr>
                        <a:t>tercerización</a:t>
                      </a:r>
                      <a:r>
                        <a:rPr sz="1000" b="1" i="0" u="sng" dirty="0" lang="es-SV">
                          <a:solidFill>
                            <a:srgbClr val="00376E"/>
                          </a:solidFill>
                          <a:latin typeface="Arial"/>
                        </a:rPr>
                        <a:t> de </a:t>
                      </a:r>
                      <a:r>
                        <a:rPr sz="1000" b="1" i="0" u="sng" dirty="0" lang="es-SV">
                          <a:solidFill>
                            <a:srgbClr val="00376E"/>
                          </a:solidFill>
                          <a:latin typeface="Arial"/>
                        </a:rPr>
                        <a:t>servicios</a:t>
                      </a:r>
                      <a:r>
                        <a:rPr sz="1000" b="1" i="0" u="sng" dirty="0" lang="es-SV">
                          <a:solidFill>
                            <a:srgbClr val="00376E"/>
                          </a:solidFill>
                          <a:latin typeface="Arial"/>
                        </a:rPr>
                        <a:t> </a:t>
                      </a:r>
                      <a:r>
                        <a:rPr sz="1000" b="1" i="0" u="sng" dirty="0" lang="es-SV">
                          <a:solidFill>
                            <a:srgbClr val="00376E"/>
                          </a:solidFill>
                          <a:latin typeface="Arial"/>
                        </a:rPr>
                        <a:t>críticos</a:t>
                      </a:r>
                      <a:r>
                        <a:rPr sz="1000" b="1" i="0" u="sng" dirty="0" lang="es-SV">
                          <a:solidFill>
                            <a:srgbClr val="00376E"/>
                          </a:solidFill>
                          <a:latin typeface="Arial"/>
                        </a:rPr>
                        <a:t>, </a:t>
                      </a:r>
                      <a:r>
                        <a:rPr sz="1000" b="1" i="0" u="sng" dirty="0" lang="es-SV">
                          <a:solidFill>
                            <a:srgbClr val="00376E"/>
                          </a:solidFill>
                          <a:latin typeface="Arial"/>
                        </a:rPr>
                        <a:t>asegurando</a:t>
                      </a:r>
                      <a:r>
                        <a:rPr sz="1000" b="1" i="0" u="sng" dirty="0" lang="es-SV">
                          <a:solidFill>
                            <a:srgbClr val="00376E"/>
                          </a:solidFill>
                          <a:latin typeface="Arial"/>
                        </a:rPr>
                        <a:t> </a:t>
                      </a:r>
                      <a:r>
                        <a:rPr sz="1000" b="1" i="0" u="sng" dirty="0" lang="es-SV">
                          <a:solidFill>
                            <a:srgbClr val="00376E"/>
                          </a:solidFill>
                          <a:latin typeface="Arial"/>
                        </a:rPr>
                        <a:t>que</a:t>
                      </a:r>
                      <a:r>
                        <a:rPr sz="1000" b="1" i="0" u="sng" dirty="0" lang="es-SV">
                          <a:solidFill>
                            <a:srgbClr val="00376E"/>
                          </a:solidFill>
                          <a:latin typeface="Arial"/>
                        </a:rPr>
                        <a:t> </a:t>
                      </a:r>
                      <a:r>
                        <a:rPr sz="1000" b="1" i="0" u="sng" dirty="0" lang="es-SV">
                          <a:solidFill>
                            <a:srgbClr val="00376E"/>
                          </a:solidFill>
                          <a:latin typeface="Arial"/>
                        </a:rPr>
                        <a:t>dichos</a:t>
                      </a:r>
                      <a:r>
                        <a:rPr sz="1000" b="1" i="0" u="sng" dirty="0" lang="es-SV">
                          <a:solidFill>
                            <a:srgbClr val="00376E"/>
                          </a:solidFill>
                          <a:latin typeface="Arial"/>
                        </a:rPr>
                        <a:t> </a:t>
                      </a:r>
                      <a:r>
                        <a:rPr sz="1000" b="1" i="0" u="sng" dirty="0" lang="es-SV">
                          <a:solidFill>
                            <a:srgbClr val="00376E"/>
                          </a:solidFill>
                          <a:latin typeface="Arial"/>
                        </a:rPr>
                        <a:t>servicios</a:t>
                      </a:r>
                      <a:r>
                        <a:rPr sz="1000" b="1" i="0" u="sng" dirty="0" lang="es-SV">
                          <a:solidFill>
                            <a:srgbClr val="00376E"/>
                          </a:solidFill>
                          <a:latin typeface="Arial"/>
                        </a:rPr>
                        <a:t> </a:t>
                      </a:r>
                      <a:r>
                        <a:rPr sz="1000" b="1" i="0" u="sng" dirty="0" lang="es-SV">
                          <a:solidFill>
                            <a:srgbClr val="00376E"/>
                          </a:solidFill>
                          <a:latin typeface="Arial"/>
                        </a:rPr>
                        <a:t>sean</a:t>
                      </a:r>
                      <a:r>
                        <a:rPr sz="1000" b="0" i="0" dirty="0" lang="es-SV">
                          <a:solidFill>
                            <a:srgbClr val="1B2333"/>
                          </a:solidFill>
                          <a:latin typeface="Arial"/>
                        </a:rPr>
                        <a:t> </a:t>
                      </a:r>
                      <a:r>
                        <a:rPr sz="1000" b="0" i="0" dirty="0" lang="es-SV">
                          <a:solidFill>
                            <a:srgbClr val="1B2333"/>
                          </a:solidFill>
                          <a:latin typeface="Arial"/>
                        </a:rPr>
                        <a:t>prestados</a:t>
                      </a:r>
                      <a:r>
                        <a:rPr sz="1000" b="0" i="0" dirty="0" lang="es-SV">
                          <a:solidFill>
                            <a:srgbClr val="1B2333"/>
                          </a:solidFill>
                          <a:latin typeface="Arial"/>
                        </a:rPr>
                        <a:t> de </a:t>
                      </a:r>
                      <a:r>
                        <a:rPr sz="1000" b="0" i="0" dirty="0" lang="es-SV">
                          <a:solidFill>
                            <a:srgbClr val="1B2333"/>
                          </a:solidFill>
                          <a:latin typeface="Arial"/>
                        </a:rPr>
                        <a:t>manera</a:t>
                      </a:r>
                      <a:r>
                        <a:rPr sz="1000" b="0" i="0" dirty="0" lang="es-SV">
                          <a:solidFill>
                            <a:srgbClr val="1B2333"/>
                          </a:solidFill>
                          <a:latin typeface="Arial"/>
                        </a:rPr>
                        <a:t> </a:t>
                      </a:r>
                      <a:r>
                        <a:rPr sz="1000" b="0" i="0" dirty="0" lang="es-SV">
                          <a:solidFill>
                            <a:srgbClr val="1B2333"/>
                          </a:solidFill>
                          <a:latin typeface="Arial"/>
                        </a:rPr>
                        <a:t>eficiente</a:t>
                      </a:r>
                      <a:r>
                        <a:rPr sz="1000" b="0" i="0" dirty="0" lang="es-SV">
                          <a:solidFill>
                            <a:srgbClr val="1B2333"/>
                          </a:solidFill>
                          <a:latin typeface="Arial"/>
                        </a:rPr>
                        <a:t>, </a:t>
                      </a:r>
                      <a:r>
                        <a:rPr sz="1000" b="1" i="0" u="sng" dirty="0" lang="es-SV">
                          <a:solidFill>
                            <a:srgbClr val="00376E"/>
                          </a:solidFill>
                          <a:latin typeface="Arial"/>
                        </a:rPr>
                        <a:t>segura</a:t>
                      </a:r>
                      <a:r>
                        <a:rPr sz="1000" b="1" i="0" u="sng" dirty="0" lang="es-SV">
                          <a:solidFill>
                            <a:srgbClr val="00376E"/>
                          </a:solidFill>
                          <a:latin typeface="Arial"/>
                        </a:rPr>
                        <a:t> y continua, y </a:t>
                      </a:r>
                      <a:r>
                        <a:rPr sz="1000" b="1" i="0" u="sng" dirty="0" lang="es-SV">
                          <a:solidFill>
                            <a:srgbClr val="00376E"/>
                          </a:solidFill>
                          <a:latin typeface="Arial"/>
                        </a:rPr>
                        <a:t>que</a:t>
                      </a:r>
                      <a:r>
                        <a:rPr sz="1000" b="0" i="0" dirty="0" lang="es-SV">
                          <a:solidFill>
                            <a:srgbClr val="1B2333"/>
                          </a:solidFill>
                          <a:latin typeface="Arial"/>
                        </a:rPr>
                        <a:t> no </a:t>
                      </a:r>
                      <a:r>
                        <a:rPr sz="1000" b="0" i="0" dirty="0" lang="es-SV">
                          <a:solidFill>
                            <a:srgbClr val="1B2333"/>
                          </a:solidFill>
                          <a:latin typeface="Arial"/>
                        </a:rPr>
                        <a:t>interfieran</a:t>
                      </a:r>
                      <a:r>
                        <a:rPr sz="1000" b="0" i="0" dirty="0" lang="es-SV">
                          <a:solidFill>
                            <a:srgbClr val="1B2333"/>
                          </a:solidFill>
                          <a:latin typeface="Arial"/>
                        </a:rPr>
                        <a:t> </a:t>
                      </a:r>
                      <a:r>
                        <a:rPr sz="1000" b="0" i="0" dirty="0" lang="es-SV">
                          <a:solidFill>
                            <a:srgbClr val="1B2333"/>
                          </a:solidFill>
                          <a:latin typeface="Arial"/>
                        </a:rPr>
                        <a:t>en</a:t>
                      </a:r>
                      <a:r>
                        <a:rPr sz="1000" b="0" i="0" dirty="0" lang="es-SV">
                          <a:solidFill>
                            <a:srgbClr val="1B2333"/>
                          </a:solidFill>
                          <a:latin typeface="Arial"/>
                        </a:rPr>
                        <a:t> el </a:t>
                      </a:r>
                      <a:r>
                        <a:rPr sz="1000" b="0" i="0" dirty="0" lang="es-SV">
                          <a:solidFill>
                            <a:srgbClr val="1B2333"/>
                          </a:solidFill>
                          <a:latin typeface="Arial"/>
                        </a:rPr>
                        <a:t>correcto</a:t>
                      </a:r>
                      <a:r>
                        <a:rPr sz="1000" b="0" i="0" dirty="0" lang="es-SV">
                          <a:solidFill>
                            <a:srgbClr val="1B2333"/>
                          </a:solidFill>
                          <a:latin typeface="Arial"/>
                        </a:rPr>
                        <a:t> </a:t>
                      </a:r>
                      <a:r>
                        <a:rPr sz="1000" b="0" i="0" dirty="0" lang="es-SV">
                          <a:solidFill>
                            <a:srgbClr val="1B2333"/>
                          </a:solidFill>
                          <a:latin typeface="Arial"/>
                        </a:rPr>
                        <a:t>funcionamiento</a:t>
                      </a:r>
                      <a:r>
                        <a:rPr sz="1000" b="0" i="0" dirty="0" lang="es-SV">
                          <a:solidFill>
                            <a:srgbClr val="1B2333"/>
                          </a:solidFill>
                          <a:latin typeface="Arial"/>
                        </a:rPr>
                        <a:t> de la Cooperativa</a:t>
                      </a:r>
                      <a:r>
                        <a:rPr sz="1000" b="1" i="0" u="sng" dirty="0" lang="es-SV">
                          <a:solidFill>
                            <a:srgbClr val="00376E"/>
                          </a:solidFill>
                          <a:latin typeface="Arial"/>
                        </a:rPr>
                        <a:t>, </a:t>
                      </a:r>
                      <a:r>
                        <a:rPr sz="1000" b="1" i="0" u="sng" dirty="0" lang="es-SV">
                          <a:solidFill>
                            <a:srgbClr val="00376E"/>
                          </a:solidFill>
                          <a:latin typeface="Arial"/>
                        </a:rPr>
                        <a:t>en</a:t>
                      </a:r>
                      <a:r>
                        <a:rPr sz="1000" b="1" i="0" u="sng" dirty="0" lang="es-SV">
                          <a:solidFill>
                            <a:srgbClr val="00376E"/>
                          </a:solidFill>
                          <a:latin typeface="Arial"/>
                        </a:rPr>
                        <a:t> </a:t>
                      </a:r>
                      <a:r>
                        <a:rPr sz="1000" b="1" i="0" u="sng" dirty="0" lang="es-SV">
                          <a:solidFill>
                            <a:srgbClr val="00376E"/>
                          </a:solidFill>
                          <a:latin typeface="Arial"/>
                        </a:rPr>
                        <a:t>su</a:t>
                      </a:r>
                      <a:r>
                        <a:rPr sz="1000" b="1" i="0" u="sng" dirty="0" lang="es-SV">
                          <a:solidFill>
                            <a:srgbClr val="00376E"/>
                          </a:solidFill>
                          <a:latin typeface="Arial"/>
                        </a:rPr>
                        <a:t> </a:t>
                      </a:r>
                      <a:r>
                        <a:rPr sz="1000" b="1" i="0" u="sng" dirty="0" lang="es-SV">
                          <a:solidFill>
                            <a:srgbClr val="00376E"/>
                          </a:solidFill>
                          <a:latin typeface="Arial"/>
                        </a:rPr>
                        <a:t>perfil</a:t>
                      </a:r>
                      <a:r>
                        <a:rPr sz="1000" b="1" i="0" u="sng" dirty="0" lang="es-SV">
                          <a:solidFill>
                            <a:srgbClr val="00376E"/>
                          </a:solidFill>
                          <a:latin typeface="Arial"/>
                        </a:rPr>
                        <a:t> de </a:t>
                      </a:r>
                      <a:r>
                        <a:rPr sz="1000" b="1" i="0" u="sng" dirty="0" lang="es-SV">
                          <a:solidFill>
                            <a:srgbClr val="00376E"/>
                          </a:solidFill>
                          <a:latin typeface="Arial"/>
                        </a:rPr>
                        <a:t>riesgo</a:t>
                      </a:r>
                      <a:r>
                        <a:rPr sz="1000" b="1" i="0" u="sng" dirty="0" lang="es-SV">
                          <a:solidFill>
                            <a:srgbClr val="00376E"/>
                          </a:solidFill>
                          <a:latin typeface="Arial"/>
                        </a:rPr>
                        <a:t>, </a:t>
                      </a:r>
                      <a:r>
                        <a:rPr sz="1000" b="1" i="0" u="sng" dirty="0" lang="es-SV">
                          <a:solidFill>
                            <a:srgbClr val="00376E"/>
                          </a:solidFill>
                          <a:latin typeface="Arial"/>
                        </a:rPr>
                        <a:t>en</a:t>
                      </a:r>
                      <a:r>
                        <a:rPr sz="1000" b="1" i="0" u="sng" dirty="0" lang="es-SV">
                          <a:solidFill>
                            <a:srgbClr val="00376E"/>
                          </a:solidFill>
                          <a:latin typeface="Arial"/>
                        </a:rPr>
                        <a:t> </a:t>
                      </a:r>
                      <a:r>
                        <a:rPr sz="1000" b="1" i="0" u="sng" dirty="0" lang="es-SV">
                          <a:solidFill>
                            <a:srgbClr val="00376E"/>
                          </a:solidFill>
                          <a:latin typeface="Arial"/>
                        </a:rPr>
                        <a:t>su</a:t>
                      </a:r>
                      <a:r>
                        <a:rPr sz="1000" b="1" i="0" u="sng" dirty="0" lang="es-SV">
                          <a:solidFill>
                            <a:srgbClr val="00376E"/>
                          </a:solidFill>
                          <a:latin typeface="Arial"/>
                        </a:rPr>
                        <a:t> </a:t>
                      </a:r>
                      <a:r>
                        <a:rPr sz="1000" b="1" i="0" u="sng" dirty="0" lang="es-SV">
                          <a:solidFill>
                            <a:srgbClr val="00376E"/>
                          </a:solidFill>
                          <a:latin typeface="Arial"/>
                        </a:rPr>
                        <a:t>posición</a:t>
                      </a:r>
                      <a:r>
                        <a:rPr sz="1000" b="1" i="0" u="sng" dirty="0" lang="es-SV">
                          <a:solidFill>
                            <a:srgbClr val="00376E"/>
                          </a:solidFill>
                          <a:latin typeface="Arial"/>
                        </a:rPr>
                        <a:t> de </a:t>
                      </a:r>
                      <a:r>
                        <a:rPr sz="1000" b="1" i="0" u="sng" dirty="0" lang="es-SV">
                          <a:solidFill>
                            <a:srgbClr val="00376E"/>
                          </a:solidFill>
                          <a:latin typeface="Arial"/>
                        </a:rPr>
                        <a:t>liquidez</a:t>
                      </a:r>
                      <a:r>
                        <a:rPr sz="1000" b="1" i="0" u="sng" dirty="0" lang="es-SV">
                          <a:solidFill>
                            <a:srgbClr val="00376E"/>
                          </a:solidFill>
                          <a:latin typeface="Arial"/>
                        </a:rPr>
                        <a:t> </a:t>
                      </a:r>
                      <a:r>
                        <a:rPr sz="1000" b="1" i="0" u="sng" dirty="0" lang="es-SV">
                          <a:solidFill>
                            <a:srgbClr val="00376E"/>
                          </a:solidFill>
                          <a:latin typeface="Arial"/>
                        </a:rPr>
                        <a:t>ni</a:t>
                      </a:r>
                      <a:r>
                        <a:rPr sz="1000" b="1" i="0" u="sng" dirty="0" lang="es-SV">
                          <a:solidFill>
                            <a:srgbClr val="00376E"/>
                          </a:solidFill>
                          <a:latin typeface="Arial"/>
                        </a:rPr>
                        <a:t> </a:t>
                      </a:r>
                      <a:r>
                        <a:rPr sz="1000" b="1" i="0" u="sng" dirty="0" lang="es-SV">
                          <a:solidFill>
                            <a:srgbClr val="00376E"/>
                          </a:solidFill>
                          <a:latin typeface="Arial"/>
                        </a:rPr>
                        <a:t>en</a:t>
                      </a:r>
                      <a:r>
                        <a:rPr sz="1000" b="1" i="0" u="sng" dirty="0" lang="es-SV">
                          <a:solidFill>
                            <a:srgbClr val="00376E"/>
                          </a:solidFill>
                          <a:latin typeface="Arial"/>
                        </a:rPr>
                        <a:t> el </a:t>
                      </a:r>
                      <a:r>
                        <a:rPr sz="1000" b="1" i="0" u="sng" dirty="0" lang="es-SV">
                          <a:solidFill>
                            <a:srgbClr val="00376E"/>
                          </a:solidFill>
                          <a:latin typeface="Arial"/>
                        </a:rPr>
                        <a:t>cumplimiento</a:t>
                      </a:r>
                      <a:r>
                        <a:rPr sz="1000" b="1" i="0" u="sng" dirty="0" lang="es-SV">
                          <a:solidFill>
                            <a:srgbClr val="00376E"/>
                          </a:solidFill>
                          <a:latin typeface="Arial"/>
                        </a:rPr>
                        <a:t> del </a:t>
                      </a:r>
                      <a:r>
                        <a:rPr sz="1000" b="1" i="0" u="sng" dirty="0" lang="es-SV">
                          <a:solidFill>
                            <a:srgbClr val="00376E"/>
                          </a:solidFill>
                          <a:latin typeface="Arial"/>
                        </a:rPr>
                        <a:t>marco</a:t>
                      </a:r>
                      <a:r>
                        <a:rPr sz="1000" b="1" i="0" u="sng" dirty="0" lang="es-SV">
                          <a:solidFill>
                            <a:srgbClr val="00376E"/>
                          </a:solidFill>
                          <a:latin typeface="Arial"/>
                        </a:rPr>
                        <a:t> </a:t>
                      </a:r>
                      <a:r>
                        <a:rPr sz="1000" b="1" i="0" u="sng" dirty="0" lang="es-SV">
                          <a:solidFill>
                            <a:srgbClr val="00376E"/>
                          </a:solidFill>
                          <a:latin typeface="Arial"/>
                        </a:rPr>
                        <a:t>regulatorio</a:t>
                      </a:r>
                      <a:r>
                        <a:rPr sz="1000" b="0" i="0" dirty="0" lang="es-SV">
                          <a:solidFill>
                            <a:srgbClr val="1B2333"/>
                          </a:solidFill>
                          <a:latin typeface="Arial"/>
                        </a:rPr>
                        <a:t>, </a:t>
                      </a:r>
                      <a:r>
                        <a:rPr sz="1000" b="0" i="0" dirty="0" lang="es-SV">
                          <a:solidFill>
                            <a:srgbClr val="1B2333"/>
                          </a:solidFill>
                          <a:latin typeface="Arial"/>
                        </a:rPr>
                        <a:t>cuidando</a:t>
                      </a:r>
                      <a:r>
                        <a:rPr sz="1000" b="0" i="0" dirty="0" lang="es-SV">
                          <a:solidFill>
                            <a:srgbClr val="1B2333"/>
                          </a:solidFill>
                          <a:latin typeface="Arial"/>
                        </a:rPr>
                        <a:t> </a:t>
                      </a:r>
                      <a:r>
                        <a:rPr sz="1000" b="0" i="0" dirty="0" lang="es-SV">
                          <a:solidFill>
                            <a:srgbClr val="1B2333"/>
                          </a:solidFill>
                          <a:latin typeface="Arial"/>
                        </a:rPr>
                        <a:t>los</a:t>
                      </a:r>
                      <a:r>
                        <a:rPr sz="1000" b="0" i="0" dirty="0" lang="es-SV">
                          <a:solidFill>
                            <a:srgbClr val="1B2333"/>
                          </a:solidFill>
                          <a:latin typeface="Arial"/>
                        </a:rPr>
                        <a:t> </a:t>
                      </a:r>
                      <a:r>
                        <a:rPr sz="1000" b="0" i="0" dirty="0" lang="es-SV">
                          <a:solidFill>
                            <a:srgbClr val="1B2333"/>
                          </a:solidFill>
                          <a:latin typeface="Arial"/>
                        </a:rPr>
                        <a:t>intereses</a:t>
                      </a:r>
                      <a:r>
                        <a:rPr sz="1000" b="0" i="0" dirty="0" lang="es-SV">
                          <a:solidFill>
                            <a:srgbClr val="1B2333"/>
                          </a:solidFill>
                          <a:latin typeface="Arial"/>
                        </a:rPr>
                        <a:t> de COMEDICA </a:t>
                      </a:r>
                      <a:r>
                        <a:rPr sz="1000" b="1" i="0" u="sng" dirty="0" lang="es-SV">
                          <a:solidFill>
                            <a:srgbClr val="00376E"/>
                          </a:solidFill>
                          <a:latin typeface="Arial"/>
                        </a:rPr>
                        <a:t>de R.L. y de sus </a:t>
                      </a:r>
                      <a:r>
                        <a:rPr sz="1000" b="1" i="0" u="sng" dirty="0" lang="es-SV">
                          <a:solidFill>
                            <a:srgbClr val="00376E"/>
                          </a:solidFill>
                          <a:latin typeface="Arial"/>
                        </a:rPr>
                        <a:t>asociados</a:t>
                      </a:r>
                      <a:r>
                        <a:rPr sz="1000" b="0" i="0" dirty="0" lang="es-SV">
                          <a:solidFill>
                            <a:srgbClr val="1B2333"/>
                          </a:solidFill>
                          <a:latin typeface="Arial"/>
                        </a:rPr>
                        <a:t> </a:t>
                      </a:r>
                      <a:r>
                        <a:rPr sz="1000" b="0" i="0" dirty="0" lang="es-SV">
                          <a:solidFill>
                            <a:srgbClr val="1B2333"/>
                          </a:solidFill>
                          <a:latin typeface="Arial"/>
                        </a:rPr>
                        <a:t>en</a:t>
                      </a:r>
                      <a:r>
                        <a:rPr sz="1000" b="0" i="0" dirty="0" lang="es-SV">
                          <a:solidFill>
                            <a:srgbClr val="1B2333"/>
                          </a:solidFill>
                          <a:latin typeface="Arial"/>
                        </a:rPr>
                        <a:t> </a:t>
                      </a:r>
                      <a:r>
                        <a:rPr sz="1000" b="0" i="0" dirty="0" lang="es-SV">
                          <a:solidFill>
                            <a:srgbClr val="1B2333"/>
                          </a:solidFill>
                          <a:latin typeface="Arial"/>
                        </a:rPr>
                        <a:t>los</a:t>
                      </a:r>
                      <a:r>
                        <a:rPr sz="1000" b="0" i="0" dirty="0" lang="es-SV">
                          <a:solidFill>
                            <a:srgbClr val="1B2333"/>
                          </a:solidFill>
                          <a:latin typeface="Arial"/>
                        </a:rPr>
                        <a:t> </a:t>
                      </a:r>
                      <a:r>
                        <a:rPr sz="1000" b="0" i="0" dirty="0" lang="es-SV">
                          <a:solidFill>
                            <a:srgbClr val="1B2333"/>
                          </a:solidFill>
                          <a:latin typeface="Arial"/>
                        </a:rPr>
                        <a:t>procesos</a:t>
                      </a:r>
                      <a:r>
                        <a:rPr sz="1000" b="0" i="0" dirty="0" lang="es-SV">
                          <a:solidFill>
                            <a:srgbClr val="1B2333"/>
                          </a:solidFill>
                          <a:latin typeface="Arial"/>
                        </a:rPr>
                        <a:t> de </a:t>
                      </a:r>
                      <a:r>
                        <a:rPr sz="1000" b="1" i="0" u="sng" dirty="0" lang="es-SV">
                          <a:solidFill>
                            <a:srgbClr val="00376E"/>
                          </a:solidFill>
                          <a:latin typeface="Arial"/>
                        </a:rPr>
                        <a:t>selección</a:t>
                      </a:r>
                      <a:r>
                        <a:rPr sz="1000" b="1" i="0" u="sng" dirty="0" lang="es-SV">
                          <a:solidFill>
                            <a:srgbClr val="00376E"/>
                          </a:solidFill>
                          <a:latin typeface="Arial"/>
                        </a:rPr>
                        <a:t>,</a:t>
                      </a:r>
                      <a:r>
                        <a:rPr sz="1000" b="0" i="0" dirty="0" lang="es-SV">
                          <a:solidFill>
                            <a:srgbClr val="1B2333"/>
                          </a:solidFill>
                          <a:latin typeface="Arial"/>
                        </a:rPr>
                        <a:t> </a:t>
                      </a:r>
                      <a:r>
                        <a:rPr sz="1000" b="0" i="0" dirty="0" lang="es-SV">
                          <a:solidFill>
                            <a:srgbClr val="1B2333"/>
                          </a:solidFill>
                          <a:latin typeface="Arial"/>
                        </a:rPr>
                        <a:t>contratación</a:t>
                      </a:r>
                      <a:r>
                        <a:rPr sz="1000" b="1" i="0" u="sng" dirty="0" lang="es-SV">
                          <a:solidFill>
                            <a:srgbClr val="00376E"/>
                          </a:solidFill>
                          <a:latin typeface="Arial"/>
                        </a:rPr>
                        <a:t>, </a:t>
                      </a:r>
                      <a:r>
                        <a:rPr sz="1000" b="1" i="0" u="sng" dirty="0" lang="es-SV">
                          <a:solidFill>
                            <a:srgbClr val="00376E"/>
                          </a:solidFill>
                          <a:latin typeface="Arial"/>
                        </a:rPr>
                        <a:t>monitoreo</a:t>
                      </a:r>
                      <a:r>
                        <a:rPr sz="1000" b="1" i="0" u="sng" dirty="0" lang="es-SV">
                          <a:solidFill>
                            <a:srgbClr val="00376E"/>
                          </a:solidFill>
                          <a:latin typeface="Arial"/>
                        </a:rPr>
                        <a:t>, </a:t>
                      </a:r>
                      <a:r>
                        <a:rPr sz="1000" b="1" i="0" u="sng" dirty="0" lang="es-SV">
                          <a:solidFill>
                            <a:srgbClr val="00376E"/>
                          </a:solidFill>
                          <a:latin typeface="Arial"/>
                        </a:rPr>
                        <a:t>renovación</a:t>
                      </a:r>
                      <a:r>
                        <a:rPr sz="1000" b="1" i="0" u="sng" dirty="0" lang="es-SV">
                          <a:solidFill>
                            <a:srgbClr val="00376E"/>
                          </a:solidFill>
                          <a:latin typeface="Arial"/>
                        </a:rPr>
                        <a:t> y </a:t>
                      </a:r>
                      <a:r>
                        <a:rPr sz="1000" b="1" i="0" u="sng" dirty="0" lang="es-SV">
                          <a:solidFill>
                            <a:srgbClr val="00376E"/>
                          </a:solidFill>
                          <a:latin typeface="Arial"/>
                        </a:rPr>
                        <a:t>terminación</a:t>
                      </a:r>
                      <a:r>
                        <a:rPr sz="1000" b="0" i="0" dirty="0" lang="es-SV">
                          <a:solidFill>
                            <a:srgbClr val="1B2333"/>
                          </a:solidFill>
                          <a:latin typeface="Arial"/>
                        </a:rPr>
                        <a:t> de </a:t>
                      </a:r>
                      <a:r>
                        <a:rPr sz="1000" b="0" i="0" dirty="0" lang="es-SV">
                          <a:solidFill>
                            <a:srgbClr val="1B2333"/>
                          </a:solidFill>
                          <a:latin typeface="Arial"/>
                        </a:rPr>
                        <a:t>Servicios</a:t>
                      </a:r>
                      <a:r>
                        <a:rPr sz="1000" b="0" i="0" dirty="0" lang="es-SV">
                          <a:solidFill>
                            <a:srgbClr val="1B2333"/>
                          </a:solidFill>
                          <a:latin typeface="Arial"/>
                        </a:rPr>
                        <a:t> </a:t>
                      </a:r>
                      <a:r>
                        <a:rPr sz="1000" b="0" i="0" dirty="0" lang="es-SV">
                          <a:solidFill>
                            <a:srgbClr val="1B2333"/>
                          </a:solidFill>
                          <a:latin typeface="Arial"/>
                        </a:rPr>
                        <a:t>Críticos</a:t>
                      </a:r>
                      <a:r>
                        <a:rPr sz="1000" b="0" i="0" dirty="0" lang="es-SV">
                          <a:solidFill>
                            <a:srgbClr val="1B2333"/>
                          </a:solidFill>
                          <a:latin typeface="Arial"/>
                        </a:rPr>
                        <a:t> </a:t>
                      </a:r>
                      <a:r>
                        <a:rPr sz="1000" b="0" i="0" dirty="0" lang="es-SV">
                          <a:solidFill>
                            <a:srgbClr val="1B2333"/>
                          </a:solidFill>
                          <a:latin typeface="Arial"/>
                        </a:rPr>
                        <a:t>Tercerizados</a:t>
                      </a:r>
                      <a:r>
                        <a:rPr sz="1000" b="0" i="0" dirty="0" lang="es-SV">
                          <a:solidFill>
                            <a:srgbClr val="1B2333"/>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Incorpora</a:t>
                      </a:r>
                      <a:r>
                        <a:rPr sz="1000" b="0" i="0" dirty="0" lang="es-SV">
                          <a:solidFill>
                            <a:srgbClr val="1B2333"/>
                          </a:solidFill>
                          <a:latin typeface="Arial"/>
                        </a:rPr>
                        <a:t> las </a:t>
                      </a:r>
                      <a:r>
                        <a:rPr sz="1000" b="0" i="0" dirty="0" lang="es-SV">
                          <a:solidFill>
                            <a:srgbClr val="1B2333"/>
                          </a:solidFill>
                          <a:latin typeface="Arial"/>
                        </a:rPr>
                        <a:t>etapas</a:t>
                      </a:r>
                      <a:r>
                        <a:rPr sz="1000" b="0" i="0" dirty="0" lang="es-SV">
                          <a:solidFill>
                            <a:srgbClr val="1B2333"/>
                          </a:solidFill>
                          <a:latin typeface="Arial"/>
                        </a:rPr>
                        <a:t> de </a:t>
                      </a:r>
                      <a:r>
                        <a:rPr sz="1000" b="0" i="0" dirty="0" lang="es-SV">
                          <a:solidFill>
                            <a:srgbClr val="1B2333"/>
                          </a:solidFill>
                          <a:latin typeface="Arial"/>
                        </a:rPr>
                        <a:t>gestión</a:t>
                      </a:r>
                      <a:r>
                        <a:rPr sz="1000" b="0" i="0" dirty="0" lang="es-SV">
                          <a:solidFill>
                            <a:srgbClr val="1B2333"/>
                          </a:solidFill>
                          <a:latin typeface="Arial"/>
                        </a:rPr>
                        <a:t> de </a:t>
                      </a:r>
                      <a:r>
                        <a:rPr sz="1000" b="0" i="0" dirty="0" lang="es-SV">
                          <a:solidFill>
                            <a:srgbClr val="1B2333"/>
                          </a:solidFill>
                          <a:latin typeface="Arial"/>
                        </a:rPr>
                        <a:t>riesgos</a:t>
                      </a:r>
                      <a:r>
                        <a:rPr sz="1000" b="0" i="0" dirty="0" lang="es-SV">
                          <a:solidFill>
                            <a:srgbClr val="1B2333"/>
                          </a:solidFill>
                          <a:latin typeface="Arial"/>
                        </a:rPr>
                        <a:t> y el </a:t>
                      </a:r>
                      <a:r>
                        <a:rPr sz="1000" b="0" i="0" dirty="0" lang="es-SV">
                          <a:solidFill>
                            <a:srgbClr val="1B2333"/>
                          </a:solidFill>
                          <a:latin typeface="Arial"/>
                        </a:rPr>
                        <a:t>ciclo</a:t>
                      </a:r>
                      <a:r>
                        <a:rPr sz="1000" b="0" i="0" dirty="0" lang="es-SV">
                          <a:solidFill>
                            <a:srgbClr val="1B2333"/>
                          </a:solidFill>
                          <a:latin typeface="Arial"/>
                        </a:rPr>
                        <a:t> de </a:t>
                      </a:r>
                      <a:r>
                        <a:rPr sz="1000" b="0" i="0" dirty="0" lang="es-SV">
                          <a:solidFill>
                            <a:srgbClr val="1B2333"/>
                          </a:solidFill>
                          <a:latin typeface="Arial"/>
                        </a:rPr>
                        <a:t>vida</a:t>
                      </a:r>
                      <a:r>
                        <a:rPr sz="1000" b="0" i="0" dirty="0" lang="es-SV">
                          <a:solidFill>
                            <a:srgbClr val="1B2333"/>
                          </a:solidFill>
                          <a:latin typeface="Arial"/>
                        </a:rPr>
                        <a:t> </a:t>
                      </a:r>
                      <a:r>
                        <a:rPr sz="1000" b="0" i="0" dirty="0" lang="es-SV">
                          <a:solidFill>
                            <a:srgbClr val="1B2333"/>
                          </a:solidFill>
                          <a:latin typeface="Arial"/>
                        </a:rPr>
                        <a:t>completo</a:t>
                      </a:r>
                      <a:r>
                        <a:rPr sz="1000" b="0" i="0" dirty="0" lang="es-SV">
                          <a:solidFill>
                            <a:srgbClr val="1B2333"/>
                          </a:solidFill>
                          <a:latin typeface="Arial"/>
                        </a:rPr>
                        <a:t> del </a:t>
                      </a:r>
                      <a:r>
                        <a:rPr sz="1000" b="0" i="0" dirty="0" lang="es-SV">
                          <a:solidFill>
                            <a:srgbClr val="1B2333"/>
                          </a:solidFill>
                          <a:latin typeface="Arial"/>
                        </a:rPr>
                        <a:t>servicio</a:t>
                      </a:r>
                      <a:r>
                        <a:rPr sz="1000" b="0" i="0" dirty="0" lang="es-SV">
                          <a:solidFill>
                            <a:srgbClr val="1B2333"/>
                          </a:solidFill>
                          <a:latin typeface="Arial"/>
                        </a:rPr>
                        <a:t>.</a:t>
                      </a:r>
                    </a:p>
                    <a:p>
                      <a:pPr algn="just"/>
                      <a:r>
                        <a:rPr sz="1000" b="1" i="0" dirty="0" lang="es-SV">
                          <a:solidFill>
                            <a:srgbClr val="00376E"/>
                          </a:solidFill>
                          <a:latin typeface="Arial"/>
                        </a:rPr>
                        <a:t>NRP-20, art. 5 · NRP-42, art. 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bl>
          </a:graphicData>
        </a:graphic>
      </p:graphicFrame>
      <p:sp>
        <p:nvSpPr>
          <p:cNvPr id="17" name="TextBox 16"/>
          <p:cNvSpPr txBox="1"/>
          <p:nvPr/>
        </p:nvSpPr>
        <p:spPr>
          <a:xfrm>
            <a:off x="548640" y="6355080"/>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Texto subrayado en azul</a:t>
            </a:r>
            <a:r>
              <a:rPr sz="1000" b="0" i="0" lang="es-SV">
                <a:solidFill>
                  <a:srgbClr val="5B6578"/>
                </a:solidFill>
                <a:latin typeface="Arial"/>
              </a:rPr>
              <a:t> = nuevo o modificado respecto a la versión vigente</a:t>
            </a:r>
          </a:p>
        </p:txBody>
      </p:sp>
      <p:graphicFrame>
        <p:nvGraphicFramePr>
          <p:cNvPr id="3" name="Table 15">
            <a:extLst>
              <a:ext uri="{FF2B5EF4-FFF2-40B4-BE49-F238E27FC236}">
                <a16:creationId xmlns:a16="http://schemas.microsoft.com/office/drawing/2014/main" id="{24D607C5-77C0-2A50-5703-22F229E5324D}"/>
              </a:ext>
            </a:extLst>
          </p:cNvPr>
          <p:cNvGraphicFramePr>
            <a:graphicFrameLocks noGrp="1"/>
          </p:cNvGraphicFramePr>
          <p:nvPr>
            <p:extLst>
              <p:ext uri="{D42A27DB-BD31-4B8C-83A1-F6EECF244321}">
                <p14:modId xmlns:p14="http://schemas.microsoft.com/office/powerpoint/2010/main" val="4113109783"/>
              </p:ext>
            </p:extLst>
          </p:nvPr>
        </p:nvGraphicFramePr>
        <p:xfrm>
          <a:off x="548640" y="3056738"/>
          <a:ext cx="11091672" cy="1005840"/>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274320">
                <a:tc>
                  <a:txBody>
                    <a:bodyPr/>
                    <a:lstStyle/>
                    <a:p>
                      <a:pPr algn="just"/>
                      <a:r>
                        <a:rPr sz="1000" b="1" i="0" dirty="0" lang="es-SV">
                          <a:solidFill>
                            <a:srgbClr val="00376E"/>
                          </a:solidFill>
                          <a:latin typeface="Arial"/>
                        </a:rPr>
                        <a:t>3</a:t>
                      </a:r>
                    </a:p>
                  </a:txBody>
                  <a:tcPr marL="64008" marR="64008">
                    <a:lnL w="9525" cap="flat" cmpd="sng" algn="ctr">
                      <a:solidFill>
                        <a:srgbClr val="C9D1DE"/>
                      </a:solidFill>
                      <a:prstDash val="solid"/>
                    </a:lnL>
                    <a:lnR w="9525" cap="flat" cmpd="sng" algn="ctr">
                      <a:solidFill>
                        <a:srgbClr val="C9D1DE"/>
                      </a:solidFill>
                      <a:prstDash val="solid"/>
                      <a:round/>
                      <a:headEnd type="none" w="med" len="med"/>
                      <a:tailEnd type="none" w="med" len="me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dirty="0" lang="es-SV">
                          <a:solidFill>
                            <a:srgbClr val="5B6578"/>
                          </a:solidFill>
                          <a:latin typeface="Arial"/>
                        </a:rPr>
                        <a:t>No </a:t>
                      </a:r>
                      <a:r>
                        <a:rPr sz="1000" b="0" i="1" dirty="0" lang="es-SV">
                          <a:solidFill>
                            <a:srgbClr val="5B6578"/>
                          </a:solidFill>
                          <a:latin typeface="Arial"/>
                        </a:rPr>
                        <a:t>existía</a:t>
                      </a:r>
                      <a:r>
                        <a:rPr sz="1000" b="0" i="1" dirty="0" lang="es-SV">
                          <a:solidFill>
                            <a:srgbClr val="5B6578"/>
                          </a:solidFill>
                          <a:latin typeface="Arial"/>
                        </a:rPr>
                        <a:t>.</a:t>
                      </a:r>
                    </a:p>
                  </a:txBody>
                  <a:tcPr marL="64008" marR="64008">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dirty="0" lang="es-SV">
                          <a:solidFill>
                            <a:srgbClr val="00376E"/>
                          </a:solidFill>
                          <a:latin typeface="Arial"/>
                        </a:rPr>
                        <a:t>La </a:t>
                      </a:r>
                      <a:r>
                        <a:rPr sz="1000" b="1" i="0" u="sng" dirty="0" lang="es-SV">
                          <a:solidFill>
                            <a:srgbClr val="00376E"/>
                          </a:solidFill>
                          <a:latin typeface="Arial"/>
                        </a:rPr>
                        <a:t>presente</a:t>
                      </a:r>
                      <a:r>
                        <a:rPr sz="1000" b="1" i="0" u="sng" dirty="0" lang="es-SV">
                          <a:solidFill>
                            <a:srgbClr val="00376E"/>
                          </a:solidFill>
                          <a:latin typeface="Arial"/>
                        </a:rPr>
                        <a:t> </a:t>
                      </a:r>
                      <a:r>
                        <a:rPr sz="1000" b="1" i="0" u="sng" dirty="0" lang="es-SV">
                          <a:solidFill>
                            <a:srgbClr val="00376E"/>
                          </a:solidFill>
                          <a:latin typeface="Arial"/>
                        </a:rPr>
                        <a:t>política</a:t>
                      </a:r>
                      <a:r>
                        <a:rPr sz="1000" b="1" i="0" u="sng" dirty="0" lang="es-SV">
                          <a:solidFill>
                            <a:srgbClr val="00376E"/>
                          </a:solidFill>
                          <a:latin typeface="Arial"/>
                        </a:rPr>
                        <a:t> se </a:t>
                      </a:r>
                      <a:r>
                        <a:rPr sz="1000" b="1" i="0" u="sng" dirty="0" lang="es-SV">
                          <a:solidFill>
                            <a:srgbClr val="00376E"/>
                          </a:solidFill>
                          <a:latin typeface="Arial"/>
                        </a:rPr>
                        <a:t>alinea</a:t>
                      </a:r>
                      <a:r>
                        <a:rPr sz="1000" b="1" i="0" u="sng" dirty="0" lang="es-SV">
                          <a:solidFill>
                            <a:srgbClr val="00376E"/>
                          </a:solidFill>
                          <a:latin typeface="Arial"/>
                        </a:rPr>
                        <a:t> con lo </a:t>
                      </a:r>
                      <a:r>
                        <a:rPr sz="1000" b="1" i="0" u="sng" dirty="0" lang="es-SV">
                          <a:solidFill>
                            <a:srgbClr val="00376E"/>
                          </a:solidFill>
                          <a:latin typeface="Arial"/>
                        </a:rPr>
                        <a:t>dispuesto</a:t>
                      </a:r>
                      <a:r>
                        <a:rPr sz="1000" b="1" i="0" u="sng" dirty="0" lang="es-SV">
                          <a:solidFill>
                            <a:srgbClr val="00376E"/>
                          </a:solidFill>
                          <a:latin typeface="Arial"/>
                        </a:rPr>
                        <a:t> </a:t>
                      </a:r>
                      <a:r>
                        <a:rPr sz="1000" b="1" i="0" u="sng" dirty="0" lang="es-SV">
                          <a:solidFill>
                            <a:srgbClr val="00376E"/>
                          </a:solidFill>
                          <a:latin typeface="Arial"/>
                        </a:rPr>
                        <a:t>en</a:t>
                      </a:r>
                      <a:r>
                        <a:rPr sz="1000" b="1" i="0" u="sng" dirty="0" lang="es-SV">
                          <a:solidFill>
                            <a:srgbClr val="00376E"/>
                          </a:solidFill>
                          <a:latin typeface="Arial"/>
                        </a:rPr>
                        <a:t> las NRP-20, NRP-42, NRP-24, NRP-23, NRP-17 y NRP-05. La </a:t>
                      </a:r>
                      <a:r>
                        <a:rPr sz="1000" b="1" i="0" u="sng" dirty="0" lang="es-SV">
                          <a:solidFill>
                            <a:srgbClr val="00376E"/>
                          </a:solidFill>
                          <a:latin typeface="Arial"/>
                        </a:rPr>
                        <a:t>tercerización</a:t>
                      </a:r>
                      <a:r>
                        <a:rPr sz="1000" b="1" i="0" u="sng" dirty="0" lang="es-SV">
                          <a:solidFill>
                            <a:srgbClr val="00376E"/>
                          </a:solidFill>
                          <a:latin typeface="Arial"/>
                        </a:rPr>
                        <a:t> de un </a:t>
                      </a:r>
                      <a:r>
                        <a:rPr sz="1000" b="1" i="0" u="sng" dirty="0" lang="es-SV">
                          <a:solidFill>
                            <a:srgbClr val="00376E"/>
                          </a:solidFill>
                          <a:latin typeface="Arial"/>
                        </a:rPr>
                        <a:t>servicio</a:t>
                      </a:r>
                      <a:r>
                        <a:rPr sz="1000" b="1" i="0" u="sng" dirty="0" lang="es-SV">
                          <a:solidFill>
                            <a:srgbClr val="00376E"/>
                          </a:solidFill>
                          <a:latin typeface="Arial"/>
                        </a:rPr>
                        <a:t> no </a:t>
                      </a:r>
                      <a:r>
                        <a:rPr sz="1000" b="1" i="0" u="sng" dirty="0" lang="es-SV">
                          <a:solidFill>
                            <a:srgbClr val="00376E"/>
                          </a:solidFill>
                          <a:latin typeface="Arial"/>
                        </a:rPr>
                        <a:t>exime</a:t>
                      </a:r>
                      <a:r>
                        <a:rPr sz="1000" b="1" i="0" u="sng" dirty="0" lang="es-SV">
                          <a:solidFill>
                            <a:srgbClr val="00376E"/>
                          </a:solidFill>
                          <a:latin typeface="Arial"/>
                        </a:rPr>
                        <a:t> a la Cooperativa de </a:t>
                      </a:r>
                      <a:r>
                        <a:rPr sz="1000" b="1" i="0" u="sng" dirty="0" lang="es-SV">
                          <a:solidFill>
                            <a:srgbClr val="00376E"/>
                          </a:solidFill>
                          <a:latin typeface="Arial"/>
                        </a:rPr>
                        <a:t>su</a:t>
                      </a:r>
                      <a:r>
                        <a:rPr sz="1000" b="1" i="0" u="sng" dirty="0" lang="es-SV">
                          <a:solidFill>
                            <a:srgbClr val="00376E"/>
                          </a:solidFill>
                          <a:latin typeface="Arial"/>
                        </a:rPr>
                        <a:t> </a:t>
                      </a:r>
                      <a:r>
                        <a:rPr sz="1000" b="1" i="0" u="sng" dirty="0" lang="es-SV">
                          <a:solidFill>
                            <a:srgbClr val="00376E"/>
                          </a:solidFill>
                          <a:latin typeface="Arial"/>
                        </a:rPr>
                        <a:t>responsabilidad</a:t>
                      </a:r>
                      <a:r>
                        <a:rPr sz="1000" b="1" i="0" u="sng" dirty="0" lang="es-SV">
                          <a:solidFill>
                            <a:srgbClr val="00376E"/>
                          </a:solidFill>
                          <a:latin typeface="Arial"/>
                        </a:rPr>
                        <a:t> </a:t>
                      </a:r>
                      <a:r>
                        <a:rPr sz="1000" b="1" i="0" u="sng" dirty="0" lang="es-SV">
                          <a:solidFill>
                            <a:srgbClr val="00376E"/>
                          </a:solidFill>
                          <a:latin typeface="Arial"/>
                        </a:rPr>
                        <a:t>sobre</a:t>
                      </a:r>
                      <a:r>
                        <a:rPr sz="1000" b="1" i="0" u="sng" dirty="0" lang="es-SV">
                          <a:solidFill>
                            <a:srgbClr val="00376E"/>
                          </a:solidFill>
                          <a:latin typeface="Arial"/>
                        </a:rPr>
                        <a:t> las </a:t>
                      </a:r>
                      <a:r>
                        <a:rPr sz="1000" b="1" i="0" u="sng" dirty="0" lang="es-SV">
                          <a:solidFill>
                            <a:srgbClr val="00376E"/>
                          </a:solidFill>
                          <a:latin typeface="Arial"/>
                        </a:rPr>
                        <a:t>actividades</a:t>
                      </a:r>
                      <a:r>
                        <a:rPr sz="1000" b="1" i="0" u="sng" dirty="0" lang="es-SV">
                          <a:solidFill>
                            <a:srgbClr val="00376E"/>
                          </a:solidFill>
                          <a:latin typeface="Arial"/>
                        </a:rPr>
                        <a:t> </a:t>
                      </a:r>
                      <a:r>
                        <a:rPr sz="1000" b="1" i="0" u="sng" dirty="0" lang="es-SV">
                          <a:solidFill>
                            <a:srgbClr val="00376E"/>
                          </a:solidFill>
                          <a:latin typeface="Arial"/>
                        </a:rPr>
                        <a:t>delegadas</a:t>
                      </a:r>
                      <a:r>
                        <a:rPr sz="1000" b="1" i="0" u="sng" dirty="0" lang="es-SV">
                          <a:solidFill>
                            <a:srgbClr val="00376E"/>
                          </a:solidFill>
                          <a:latin typeface="Arial"/>
                        </a:rPr>
                        <a:t>; COMEDICA de R.L. </a:t>
                      </a:r>
                      <a:r>
                        <a:rPr sz="1000" b="1" i="0" u="sng" dirty="0" lang="es-SV">
                          <a:solidFill>
                            <a:srgbClr val="00376E"/>
                          </a:solidFill>
                          <a:latin typeface="Arial"/>
                        </a:rPr>
                        <a:t>conserva</a:t>
                      </a:r>
                      <a:r>
                        <a:rPr sz="1000" b="1" i="0" u="sng" dirty="0" lang="es-SV">
                          <a:solidFill>
                            <a:srgbClr val="00376E"/>
                          </a:solidFill>
                          <a:latin typeface="Arial"/>
                        </a:rPr>
                        <a:t> </a:t>
                      </a:r>
                      <a:r>
                        <a:rPr sz="1000" b="1" i="0" u="sng" dirty="0" lang="es-SV">
                          <a:solidFill>
                            <a:srgbClr val="00376E"/>
                          </a:solidFill>
                          <a:latin typeface="Arial"/>
                        </a:rPr>
                        <a:t>en</a:t>
                      </a:r>
                      <a:r>
                        <a:rPr sz="1000" b="1" i="0" u="sng" dirty="0" lang="es-SV">
                          <a:solidFill>
                            <a:srgbClr val="00376E"/>
                          </a:solidFill>
                          <a:latin typeface="Arial"/>
                        </a:rPr>
                        <a:t> </a:t>
                      </a:r>
                      <a:r>
                        <a:rPr sz="1000" b="1" i="0" u="sng" dirty="0" lang="es-SV">
                          <a:solidFill>
                            <a:srgbClr val="00376E"/>
                          </a:solidFill>
                          <a:latin typeface="Arial"/>
                        </a:rPr>
                        <a:t>todo</a:t>
                      </a:r>
                      <a:r>
                        <a:rPr sz="1000" b="1" i="0" u="sng" dirty="0" lang="es-SV">
                          <a:solidFill>
                            <a:srgbClr val="00376E"/>
                          </a:solidFill>
                          <a:latin typeface="Arial"/>
                        </a:rPr>
                        <a:t> </a:t>
                      </a:r>
                      <a:r>
                        <a:rPr sz="1000" b="1" i="0" u="sng" dirty="0" lang="es-SV">
                          <a:solidFill>
                            <a:srgbClr val="00376E"/>
                          </a:solidFill>
                          <a:latin typeface="Arial"/>
                        </a:rPr>
                        <a:t>momento</a:t>
                      </a:r>
                      <a:r>
                        <a:rPr sz="1000" b="1" i="0" u="sng" dirty="0" lang="es-SV">
                          <a:solidFill>
                            <a:srgbClr val="00376E"/>
                          </a:solidFill>
                          <a:latin typeface="Arial"/>
                        </a:rPr>
                        <a:t> la </a:t>
                      </a:r>
                      <a:r>
                        <a:rPr sz="1000" b="1" i="0" u="sng" dirty="0" lang="es-SV">
                          <a:solidFill>
                            <a:srgbClr val="00376E"/>
                          </a:solidFill>
                          <a:latin typeface="Arial"/>
                        </a:rPr>
                        <a:t>capacidad</a:t>
                      </a:r>
                      <a:r>
                        <a:rPr sz="1000" b="1" i="0" u="sng" dirty="0" lang="es-SV">
                          <a:solidFill>
                            <a:srgbClr val="00376E"/>
                          </a:solidFill>
                          <a:latin typeface="Arial"/>
                        </a:rPr>
                        <a:t> de </a:t>
                      </a:r>
                      <a:r>
                        <a:rPr sz="1000" b="1" i="0" u="sng" dirty="0" lang="es-SV">
                          <a:solidFill>
                            <a:srgbClr val="00376E"/>
                          </a:solidFill>
                          <a:latin typeface="Arial"/>
                        </a:rPr>
                        <a:t>supervisar</a:t>
                      </a:r>
                      <a:r>
                        <a:rPr sz="1000" b="1" i="0" u="sng" dirty="0" lang="es-SV">
                          <a:solidFill>
                            <a:srgbClr val="00376E"/>
                          </a:solidFill>
                          <a:latin typeface="Arial"/>
                        </a:rPr>
                        <a:t>, </a:t>
                      </a:r>
                      <a:r>
                        <a:rPr sz="1000" b="1" i="0" u="sng" dirty="0" lang="es-SV">
                          <a:solidFill>
                            <a:srgbClr val="00376E"/>
                          </a:solidFill>
                          <a:latin typeface="Arial"/>
                        </a:rPr>
                        <a:t>controlar</a:t>
                      </a:r>
                      <a:r>
                        <a:rPr sz="1000" b="1" i="0" u="sng" dirty="0" lang="es-SV">
                          <a:solidFill>
                            <a:srgbClr val="00376E"/>
                          </a:solidFill>
                          <a:latin typeface="Arial"/>
                        </a:rPr>
                        <a:t> y, </a:t>
                      </a:r>
                      <a:r>
                        <a:rPr sz="1000" b="1" i="0" u="sng" dirty="0" lang="es-SV">
                          <a:solidFill>
                            <a:srgbClr val="00376E"/>
                          </a:solidFill>
                          <a:latin typeface="Arial"/>
                        </a:rPr>
                        <a:t>cuando</a:t>
                      </a:r>
                      <a:r>
                        <a:rPr sz="1000" b="1" i="0" u="sng" dirty="0" lang="es-SV">
                          <a:solidFill>
                            <a:srgbClr val="00376E"/>
                          </a:solidFill>
                          <a:latin typeface="Arial"/>
                        </a:rPr>
                        <a:t> sea </a:t>
                      </a:r>
                      <a:r>
                        <a:rPr sz="1000" b="1" i="0" u="sng" dirty="0" lang="es-SV">
                          <a:solidFill>
                            <a:srgbClr val="00376E"/>
                          </a:solidFill>
                          <a:latin typeface="Arial"/>
                        </a:rPr>
                        <a:t>necesario</a:t>
                      </a:r>
                      <a:r>
                        <a:rPr sz="1000" b="1" i="0" u="sng" dirty="0" lang="es-SV">
                          <a:solidFill>
                            <a:srgbClr val="00376E"/>
                          </a:solidFill>
                          <a:latin typeface="Arial"/>
                        </a:rPr>
                        <a:t>, </a:t>
                      </a:r>
                      <a:r>
                        <a:rPr sz="1000" b="1" i="0" u="sng" dirty="0" lang="es-SV">
                          <a:solidFill>
                            <a:srgbClr val="00376E"/>
                          </a:solidFill>
                          <a:latin typeface="Arial"/>
                        </a:rPr>
                        <a:t>reasumir</a:t>
                      </a:r>
                      <a:r>
                        <a:rPr sz="1000" b="1" i="0" u="sng" dirty="0" lang="es-SV">
                          <a:solidFill>
                            <a:srgbClr val="00376E"/>
                          </a:solidFill>
                          <a:latin typeface="Arial"/>
                        </a:rPr>
                        <a:t> o </a:t>
                      </a:r>
                      <a:r>
                        <a:rPr sz="1000" b="1" i="0" u="sng" dirty="0" lang="es-SV">
                          <a:solidFill>
                            <a:srgbClr val="00376E"/>
                          </a:solidFill>
                          <a:latin typeface="Arial"/>
                        </a:rPr>
                        <a:t>transferir</a:t>
                      </a:r>
                      <a:r>
                        <a:rPr sz="1000" b="1" i="0" u="sng" dirty="0" lang="es-SV">
                          <a:solidFill>
                            <a:srgbClr val="00376E"/>
                          </a:solidFill>
                          <a:latin typeface="Arial"/>
                        </a:rPr>
                        <a:t> el </a:t>
                      </a:r>
                      <a:r>
                        <a:rPr sz="1000" b="1" i="0" u="sng" dirty="0" lang="es-SV">
                          <a:solidFill>
                            <a:srgbClr val="00376E"/>
                          </a:solidFill>
                          <a:latin typeface="Arial"/>
                        </a:rPr>
                        <a:t>servicio</a:t>
                      </a:r>
                      <a:r>
                        <a:rPr sz="1000" b="1" i="0" u="sng" dirty="0" lang="es-SV">
                          <a:solidFill>
                            <a:srgbClr val="00376E"/>
                          </a:solidFill>
                          <a:latin typeface="Arial"/>
                        </a:rPr>
                        <a:t> </a:t>
                      </a:r>
                      <a:r>
                        <a:rPr sz="1000" b="1" i="0" u="sng" dirty="0" lang="es-SV">
                          <a:solidFill>
                            <a:srgbClr val="00376E"/>
                          </a:solidFill>
                          <a:latin typeface="Arial"/>
                        </a:rPr>
                        <a:t>tercerizado</a:t>
                      </a:r>
                      <a:r>
                        <a:rPr sz="1000" b="1" i="0" u="sng" dirty="0" lang="es-SV">
                          <a:solidFill>
                            <a:srgbClr val="00376E"/>
                          </a:solidFill>
                          <a:latin typeface="Arial"/>
                        </a:rPr>
                        <a:t>.</a:t>
                      </a:r>
                    </a:p>
                  </a:txBody>
                  <a:tcPr marL="64008" marR="64008">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Deja </a:t>
                      </a:r>
                      <a:r>
                        <a:rPr sz="1000" b="0" i="0" dirty="0" lang="es-SV">
                          <a:solidFill>
                            <a:srgbClr val="1B2333"/>
                          </a:solidFill>
                          <a:latin typeface="Arial"/>
                        </a:rPr>
                        <a:t>explícito</a:t>
                      </a:r>
                      <a:r>
                        <a:rPr sz="1000" b="0" i="0" dirty="0" lang="es-SV">
                          <a:solidFill>
                            <a:srgbClr val="1B2333"/>
                          </a:solidFill>
                          <a:latin typeface="Arial"/>
                        </a:rPr>
                        <a:t> </a:t>
                      </a:r>
                      <a:r>
                        <a:rPr sz="1000" b="0" i="0" dirty="0" lang="es-SV">
                          <a:solidFill>
                            <a:srgbClr val="1B2333"/>
                          </a:solidFill>
                          <a:latin typeface="Arial"/>
                        </a:rPr>
                        <a:t>que</a:t>
                      </a:r>
                      <a:r>
                        <a:rPr sz="1000" b="0" i="0" dirty="0" lang="es-SV">
                          <a:solidFill>
                            <a:srgbClr val="1B2333"/>
                          </a:solidFill>
                          <a:latin typeface="Arial"/>
                        </a:rPr>
                        <a:t> la </a:t>
                      </a:r>
                      <a:r>
                        <a:rPr sz="1000" b="0" i="0" dirty="0" lang="es-SV">
                          <a:solidFill>
                            <a:srgbClr val="1B2333"/>
                          </a:solidFill>
                          <a:latin typeface="Arial"/>
                        </a:rPr>
                        <a:t>responsabilidad</a:t>
                      </a:r>
                      <a:r>
                        <a:rPr sz="1000" b="0" i="0" dirty="0" lang="es-SV">
                          <a:solidFill>
                            <a:srgbClr val="1B2333"/>
                          </a:solidFill>
                          <a:latin typeface="Arial"/>
                        </a:rPr>
                        <a:t> no se </a:t>
                      </a:r>
                      <a:r>
                        <a:rPr sz="1000" b="0" i="0" dirty="0" lang="es-SV">
                          <a:solidFill>
                            <a:srgbClr val="1B2333"/>
                          </a:solidFill>
                          <a:latin typeface="Arial"/>
                        </a:rPr>
                        <a:t>traslada</a:t>
                      </a:r>
                      <a:r>
                        <a:rPr sz="1000" b="0" i="0" dirty="0" lang="es-SV">
                          <a:solidFill>
                            <a:srgbClr val="1B2333"/>
                          </a:solidFill>
                          <a:latin typeface="Arial"/>
                        </a:rPr>
                        <a:t> al </a:t>
                      </a:r>
                      <a:r>
                        <a:rPr sz="1000" b="0" i="0" dirty="0" lang="es-SV">
                          <a:solidFill>
                            <a:srgbClr val="1B2333"/>
                          </a:solidFill>
                          <a:latin typeface="Arial"/>
                        </a:rPr>
                        <a:t>proveedor</a:t>
                      </a:r>
                      <a:r>
                        <a:rPr sz="1000" b="0" i="0" dirty="0" lang="es-SV">
                          <a:solidFill>
                            <a:srgbClr val="1B2333"/>
                          </a:solidFill>
                          <a:latin typeface="Arial"/>
                        </a:rPr>
                        <a:t>.</a:t>
                      </a:r>
                    </a:p>
                    <a:p>
                      <a:pPr algn="just"/>
                      <a:r>
                        <a:rPr sz="1000" b="1" i="0" dirty="0" lang="es-SV">
                          <a:solidFill>
                            <a:srgbClr val="00376E"/>
                          </a:solidFill>
                          <a:latin typeface="Arial"/>
                        </a:rPr>
                        <a:t>NRP-42, art. 4 · NRP-23, art. 26</a:t>
                      </a:r>
                    </a:p>
                  </a:txBody>
                  <a:tcPr marL="64008" marR="64008">
                    <a:lnL w="9525" cap="flat" cmpd="sng" algn="ctr">
                      <a:solidFill>
                        <a:srgbClr val="C9D1DE"/>
                      </a:solidFill>
                      <a:prstDash val="solid"/>
                      <a:round/>
                      <a:headEnd type="none" w="med" len="med"/>
                      <a:tailEnd type="none" w="med" len="me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5" name="TextBox 14">
            <a:extLst>
              <a:ext uri="{FF2B5EF4-FFF2-40B4-BE49-F238E27FC236}">
                <a16:creationId xmlns:a16="http://schemas.microsoft.com/office/drawing/2014/main" id="{FA553622-E85B-C3E9-2946-C4EB05631184}"/>
              </a:ext>
            </a:extLst>
          </p:cNvPr>
          <p:cNvSpPr txBox="1"/>
          <p:nvPr/>
        </p:nvSpPr>
        <p:spPr>
          <a:xfrm>
            <a:off x="804672" y="4342860"/>
            <a:ext cx="9966960" cy="384721"/>
          </a:xfrm>
          <a:prstGeom prst="rect">
            <a:avLst/>
          </a:prstGeom>
          <a:noFill/>
        </p:spPr>
        <p:txBody>
          <a:bodyPr wrap="square" lIns="0" tIns="0" rIns="0" bIns="0" anchor="ctr">
            <a:spAutoFit/>
          </a:bodyPr>
          <a:lstStyle/>
          <a:p>
            <a:pPr algn="l"/>
            <a:r>
              <a:rPr sz="2500" b="1" i="0" dirty="0" lang="es-SV">
                <a:solidFill>
                  <a:srgbClr val="00376E"/>
                </a:solidFill>
                <a:latin typeface="Century Gothic"/>
              </a:rPr>
              <a:t>II. </a:t>
            </a:r>
            <a:r>
              <a:rPr sz="2500" b="1" i="0" dirty="0" lang="es-SV">
                <a:solidFill>
                  <a:srgbClr val="00376E"/>
                </a:solidFill>
                <a:latin typeface="Century Gothic"/>
              </a:rPr>
              <a:t>Alcance</a:t>
            </a:r>
            <a:endParaRPr sz="2500" b="1" i="0" dirty="0" lang="es-SV">
              <a:solidFill>
                <a:srgbClr val="00376E"/>
              </a:solidFill>
              <a:latin typeface="Century Gothic"/>
            </a:endParaRPr>
          </a:p>
        </p:txBody>
      </p:sp>
      <p:graphicFrame>
        <p:nvGraphicFramePr>
          <p:cNvPr id="7" name="Table 15">
            <a:extLst>
              <a:ext uri="{FF2B5EF4-FFF2-40B4-BE49-F238E27FC236}">
                <a16:creationId xmlns:a16="http://schemas.microsoft.com/office/drawing/2014/main" id="{1F130AA4-2239-B6C3-14EC-FD201272F6FF}"/>
              </a:ext>
            </a:extLst>
          </p:cNvPr>
          <p:cNvGraphicFramePr>
            <a:graphicFrameLocks noGrp="1"/>
          </p:cNvGraphicFramePr>
          <p:nvPr>
            <p:extLst>
              <p:ext uri="{D42A27DB-BD31-4B8C-83A1-F6EECF244321}">
                <p14:modId xmlns:p14="http://schemas.microsoft.com/office/powerpoint/2010/main" val="845356037"/>
              </p:ext>
            </p:extLst>
          </p:nvPr>
        </p:nvGraphicFramePr>
        <p:xfrm>
          <a:off x="548640" y="4741164"/>
          <a:ext cx="11091672" cy="1962912"/>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347472">
                <a:tc>
                  <a:txBody>
                    <a:bodyPr/>
                    <a:lstStyle/>
                    <a:p>
                      <a:pPr algn="just"/>
                      <a:r>
                        <a:rPr sz="1000" b="1" i="0" dirty="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dirty="0" lang="es-SV">
                          <a:solidFill>
                            <a:srgbClr val="FFFFFF"/>
                          </a:solidFill>
                          <a:latin typeface="Arial"/>
                        </a:rPr>
                        <a:t>Dice (V03 </a:t>
                      </a:r>
                      <a:r>
                        <a:rPr sz="1000" b="1" i="0" dirty="0" lang="es-SV">
                          <a:solidFill>
                            <a:srgbClr val="FFFFFF"/>
                          </a:solidFill>
                          <a:latin typeface="Arial"/>
                        </a:rPr>
                        <a:t>vigente</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dirty="0" lang="es-SV">
                          <a:solidFill>
                            <a:srgbClr val="FFFFFF"/>
                          </a:solidFill>
                          <a:latin typeface="Arial"/>
                        </a:rPr>
                        <a:t>Debe </a:t>
                      </a:r>
                      <a:r>
                        <a:rPr sz="1000" b="1" i="0" dirty="0" lang="es-SV">
                          <a:solidFill>
                            <a:srgbClr val="FFFFFF"/>
                          </a:solidFill>
                          <a:latin typeface="Arial"/>
                        </a:rPr>
                        <a:t>decir</a:t>
                      </a:r>
                      <a:r>
                        <a:rPr sz="1000" b="1" i="0" dirty="0" lang="es-SV">
                          <a:solidFill>
                            <a:srgbClr val="FFFFFF"/>
                          </a:solidFill>
                          <a:latin typeface="Arial"/>
                        </a:rPr>
                        <a:t> (V04 </a:t>
                      </a:r>
                      <a:r>
                        <a:rPr sz="1000" b="1" i="0" dirty="0" lang="es-SV">
                          <a:solidFill>
                            <a:srgbClr val="FFFFFF"/>
                          </a:solidFill>
                          <a:latin typeface="Arial"/>
                        </a:rPr>
                        <a:t>propuesta</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Mejora y base normativa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74320">
                <a:tc>
                  <a:txBody>
                    <a:bodyPr/>
                    <a:lstStyle/>
                    <a:p>
                      <a:pPr algn="just"/>
                      <a:r>
                        <a:rPr sz="1000" b="1" i="0" lang="es-SV">
                          <a:solidFill>
                            <a:srgbClr val="00376E"/>
                          </a:solidFill>
                          <a:latin typeface="Arial"/>
                        </a:rPr>
                        <a:t>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La </a:t>
                      </a:r>
                      <a:r>
                        <a:rPr sz="1000" b="0" i="0" dirty="0" lang="es-SV">
                          <a:solidFill>
                            <a:srgbClr val="1B2333"/>
                          </a:solidFill>
                          <a:latin typeface="Arial"/>
                        </a:rPr>
                        <a:t>presente</a:t>
                      </a:r>
                      <a:r>
                        <a:rPr sz="1000" b="0" i="0" dirty="0" lang="es-SV">
                          <a:solidFill>
                            <a:srgbClr val="1B2333"/>
                          </a:solidFill>
                          <a:latin typeface="Arial"/>
                        </a:rPr>
                        <a:t> </a:t>
                      </a:r>
                      <a:r>
                        <a:rPr sz="1000" b="0" i="0" dirty="0" lang="es-SV">
                          <a:solidFill>
                            <a:srgbClr val="1B2333"/>
                          </a:solidFill>
                          <a:latin typeface="Arial"/>
                        </a:rPr>
                        <a:t>política</a:t>
                      </a:r>
                      <a:r>
                        <a:rPr sz="1000" b="0" i="0" dirty="0" lang="es-SV">
                          <a:solidFill>
                            <a:srgbClr val="1B2333"/>
                          </a:solidFill>
                          <a:latin typeface="Arial"/>
                        </a:rPr>
                        <a:t> </a:t>
                      </a:r>
                      <a:r>
                        <a:rPr sz="1000" b="0" i="0" dirty="0" lang="es-SV">
                          <a:solidFill>
                            <a:srgbClr val="1B2333"/>
                          </a:solidFill>
                          <a:latin typeface="Arial"/>
                        </a:rPr>
                        <a:t>aplica</a:t>
                      </a:r>
                      <a:r>
                        <a:rPr sz="1000" b="0" i="0" dirty="0" lang="es-SV">
                          <a:solidFill>
                            <a:srgbClr val="1B2333"/>
                          </a:solidFill>
                          <a:latin typeface="Arial"/>
                        </a:rPr>
                        <a:t> para la </a:t>
                      </a:r>
                      <a:r>
                        <a:rPr sz="1000" b="0" i="0" dirty="0" lang="es-SV">
                          <a:solidFill>
                            <a:srgbClr val="1B2333"/>
                          </a:solidFill>
                          <a:latin typeface="Arial"/>
                        </a:rPr>
                        <a:t>Contratación</a:t>
                      </a:r>
                      <a:r>
                        <a:rPr sz="1000" b="0" i="0" dirty="0" lang="es-SV">
                          <a:solidFill>
                            <a:srgbClr val="1B2333"/>
                          </a:solidFill>
                          <a:latin typeface="Arial"/>
                        </a:rPr>
                        <a:t> de </a:t>
                      </a:r>
                      <a:r>
                        <a:rPr sz="1000" b="0" i="0" dirty="0" lang="es-SV">
                          <a:solidFill>
                            <a:srgbClr val="1B2333"/>
                          </a:solidFill>
                          <a:latin typeface="Arial"/>
                        </a:rPr>
                        <a:t>Servicios</a:t>
                      </a:r>
                      <a:r>
                        <a:rPr sz="1000" b="0" i="0" dirty="0" lang="es-SV">
                          <a:solidFill>
                            <a:srgbClr val="1B2333"/>
                          </a:solidFill>
                          <a:latin typeface="Arial"/>
                        </a:rPr>
                        <a:t> </a:t>
                      </a:r>
                      <a:r>
                        <a:rPr sz="1000" b="0" i="0" dirty="0" lang="es-SV">
                          <a:solidFill>
                            <a:srgbClr val="1B2333"/>
                          </a:solidFill>
                          <a:latin typeface="Arial"/>
                        </a:rPr>
                        <a:t>Críticos</a:t>
                      </a:r>
                      <a:r>
                        <a:rPr sz="1000" b="0" i="0" dirty="0" lang="es-SV">
                          <a:solidFill>
                            <a:srgbClr val="1B2333"/>
                          </a:solidFill>
                          <a:latin typeface="Arial"/>
                        </a:rPr>
                        <a:t> </a:t>
                      </a:r>
                      <a:r>
                        <a:rPr sz="1000" b="0" i="0" dirty="0" lang="es-SV">
                          <a:solidFill>
                            <a:srgbClr val="1B2333"/>
                          </a:solidFill>
                          <a:latin typeface="Arial"/>
                        </a:rPr>
                        <a:t>Tercerizados</a:t>
                      </a:r>
                      <a:r>
                        <a:rPr sz="1000" b="0" i="0" dirty="0" lang="es-SV">
                          <a:solidFill>
                            <a:srgbClr val="1B2333"/>
                          </a:solidFill>
                          <a:latin typeface="Arial"/>
                        </a:rPr>
                        <a:t>, </a:t>
                      </a:r>
                      <a:r>
                        <a:rPr sz="1000" b="0" i="0" dirty="0" lang="es-SV">
                          <a:solidFill>
                            <a:srgbClr val="1B2333"/>
                          </a:solidFill>
                          <a:latin typeface="Arial"/>
                        </a:rPr>
                        <a:t>en</a:t>
                      </a:r>
                      <a:r>
                        <a:rPr sz="1000" b="0" i="0" dirty="0" lang="es-SV">
                          <a:solidFill>
                            <a:srgbClr val="1B2333"/>
                          </a:solidFill>
                          <a:latin typeface="Arial"/>
                        </a:rPr>
                        <a:t> </a:t>
                      </a:r>
                      <a:r>
                        <a:rPr sz="1000" b="0" i="0" dirty="0" lang="es-SV">
                          <a:solidFill>
                            <a:srgbClr val="1B2333"/>
                          </a:solidFill>
                          <a:latin typeface="Arial"/>
                        </a:rPr>
                        <a:t>cumplimiento</a:t>
                      </a:r>
                      <a:r>
                        <a:rPr sz="1000" b="0" i="0" dirty="0" lang="es-SV">
                          <a:solidFill>
                            <a:srgbClr val="1B2333"/>
                          </a:solidFill>
                          <a:latin typeface="Arial"/>
                        </a:rPr>
                        <a:t> a lo </a:t>
                      </a:r>
                      <a:r>
                        <a:rPr sz="1000" b="0" i="0" dirty="0" lang="es-SV">
                          <a:solidFill>
                            <a:srgbClr val="1B2333"/>
                          </a:solidFill>
                          <a:latin typeface="Arial"/>
                        </a:rPr>
                        <a:t>establecido</a:t>
                      </a:r>
                      <a:r>
                        <a:rPr sz="1000" b="0" i="0" dirty="0" lang="es-SV">
                          <a:solidFill>
                            <a:srgbClr val="1B2333"/>
                          </a:solidFill>
                          <a:latin typeface="Arial"/>
                        </a:rPr>
                        <a:t> </a:t>
                      </a:r>
                      <a:r>
                        <a:rPr sz="1000" b="0" i="0" dirty="0" lang="es-SV">
                          <a:solidFill>
                            <a:srgbClr val="1B2333"/>
                          </a:solidFill>
                          <a:latin typeface="Arial"/>
                        </a:rPr>
                        <a:t>en</a:t>
                      </a:r>
                      <a:r>
                        <a:rPr sz="1000" b="0" i="0" dirty="0" lang="es-SV">
                          <a:solidFill>
                            <a:srgbClr val="1B2333"/>
                          </a:solidFill>
                          <a:latin typeface="Arial"/>
                        </a:rPr>
                        <a:t> las Normas para la </a:t>
                      </a:r>
                      <a:r>
                        <a:rPr sz="1000" b="0" i="0" dirty="0" lang="es-SV">
                          <a:solidFill>
                            <a:srgbClr val="1B2333"/>
                          </a:solidFill>
                          <a:latin typeface="Arial"/>
                        </a:rPr>
                        <a:t>Gestión</a:t>
                      </a:r>
                      <a:r>
                        <a:rPr sz="1000" b="0" i="0" dirty="0" lang="es-SV">
                          <a:solidFill>
                            <a:srgbClr val="1B2333"/>
                          </a:solidFill>
                          <a:latin typeface="Arial"/>
                        </a:rPr>
                        <a:t> del Riesgo </a:t>
                      </a:r>
                      <a:r>
                        <a:rPr sz="1000" b="0" i="0" dirty="0" lang="es-SV">
                          <a:solidFill>
                            <a:srgbClr val="1B2333"/>
                          </a:solidFill>
                          <a:latin typeface="Arial"/>
                        </a:rPr>
                        <a:t>Operacional</a:t>
                      </a:r>
                      <a:r>
                        <a:rPr sz="1000" b="0" i="0" dirty="0" lang="es-SV">
                          <a:solidFill>
                            <a:srgbClr val="1B2333"/>
                          </a:solidFill>
                          <a:latin typeface="Arial"/>
                        </a:rPr>
                        <a:t> de las </a:t>
                      </a:r>
                      <a:r>
                        <a:rPr sz="1000" b="0" i="0" dirty="0" lang="es-SV">
                          <a:solidFill>
                            <a:srgbClr val="1B2333"/>
                          </a:solidFill>
                          <a:latin typeface="Arial"/>
                        </a:rPr>
                        <a:t>Entidades</a:t>
                      </a:r>
                      <a:r>
                        <a:rPr sz="1000" b="0" i="0" dirty="0" lang="es-SV">
                          <a:solidFill>
                            <a:srgbClr val="1B2333"/>
                          </a:solidFill>
                          <a:latin typeface="Arial"/>
                        </a:rPr>
                        <a:t> </a:t>
                      </a:r>
                      <a:r>
                        <a:rPr sz="1000" b="0" i="0" dirty="0" lang="es-SV">
                          <a:solidFill>
                            <a:srgbClr val="1B2333"/>
                          </a:solidFill>
                          <a:latin typeface="Arial"/>
                        </a:rPr>
                        <a:t>Financieras</a:t>
                      </a:r>
                      <a:r>
                        <a:rPr sz="1000" b="0" i="0" dirty="0" lang="es-SV">
                          <a:solidFill>
                            <a:srgbClr val="1B2333"/>
                          </a:solidFill>
                          <a:latin typeface="Arial"/>
                        </a:rPr>
                        <a:t> (NPB4-50), Normas </a:t>
                      </a:r>
                      <a:r>
                        <a:rPr sz="1000" b="0" i="0" dirty="0" lang="es-SV">
                          <a:solidFill>
                            <a:srgbClr val="1B2333"/>
                          </a:solidFill>
                          <a:latin typeface="Arial"/>
                        </a:rPr>
                        <a:t>Técnicas</a:t>
                      </a:r>
                      <a:r>
                        <a:rPr sz="1000" b="0" i="0" dirty="0" lang="es-SV">
                          <a:solidFill>
                            <a:srgbClr val="1B2333"/>
                          </a:solidFill>
                          <a:latin typeface="Arial"/>
                        </a:rPr>
                        <a:t> para la </a:t>
                      </a:r>
                      <a:r>
                        <a:rPr sz="1000" b="0" i="0" dirty="0" lang="es-SV">
                          <a:solidFill>
                            <a:srgbClr val="1B2333"/>
                          </a:solidFill>
                          <a:latin typeface="Arial"/>
                        </a:rPr>
                        <a:t>Gestión</a:t>
                      </a:r>
                      <a:r>
                        <a:rPr sz="1000" b="0" i="0" dirty="0" lang="es-SV">
                          <a:solidFill>
                            <a:srgbClr val="1B2333"/>
                          </a:solidFill>
                          <a:latin typeface="Arial"/>
                        </a:rPr>
                        <a:t> de la </a:t>
                      </a:r>
                      <a:r>
                        <a:rPr sz="1000" b="0" i="0" dirty="0" lang="es-SV">
                          <a:solidFill>
                            <a:srgbClr val="1B2333"/>
                          </a:solidFill>
                          <a:latin typeface="Arial"/>
                        </a:rPr>
                        <a:t>Seguridad</a:t>
                      </a:r>
                      <a:r>
                        <a:rPr sz="1000" b="0" i="0" dirty="0" lang="es-SV">
                          <a:solidFill>
                            <a:srgbClr val="1B2333"/>
                          </a:solidFill>
                          <a:latin typeface="Arial"/>
                        </a:rPr>
                        <a:t> de la </a:t>
                      </a:r>
                      <a:r>
                        <a:rPr sz="1000" b="0" i="0" dirty="0" lang="es-SV">
                          <a:solidFill>
                            <a:srgbClr val="1B2333"/>
                          </a:solidFill>
                          <a:latin typeface="Arial"/>
                        </a:rPr>
                        <a:t>Información</a:t>
                      </a:r>
                      <a:r>
                        <a:rPr sz="1000" b="0" i="0" dirty="0" lang="es-SV">
                          <a:solidFill>
                            <a:srgbClr val="1B2333"/>
                          </a:solidFill>
                          <a:latin typeface="Arial"/>
                        </a:rPr>
                        <a:t> (NRP-23) y Normas </a:t>
                      </a:r>
                      <a:r>
                        <a:rPr sz="1000" b="0" i="0" dirty="0" lang="es-SV">
                          <a:solidFill>
                            <a:srgbClr val="1B2333"/>
                          </a:solidFill>
                          <a:latin typeface="Arial"/>
                        </a:rPr>
                        <a:t>Técnicas</a:t>
                      </a:r>
                      <a:r>
                        <a:rPr sz="1000" b="0" i="0" dirty="0" lang="es-SV">
                          <a:solidFill>
                            <a:srgbClr val="1B2333"/>
                          </a:solidFill>
                          <a:latin typeface="Arial"/>
                        </a:rPr>
                        <a:t> para el Sistema de </a:t>
                      </a:r>
                      <a:r>
                        <a:rPr sz="1000" b="0" i="0" dirty="0" lang="es-SV">
                          <a:solidFill>
                            <a:srgbClr val="1B2333"/>
                          </a:solidFill>
                          <a:latin typeface="Arial"/>
                        </a:rPr>
                        <a:t>Gestión</a:t>
                      </a:r>
                      <a:r>
                        <a:rPr sz="1000" b="0" i="0" dirty="0" lang="es-SV">
                          <a:solidFill>
                            <a:srgbClr val="1B2333"/>
                          </a:solidFill>
                          <a:latin typeface="Arial"/>
                        </a:rPr>
                        <a:t> de la </a:t>
                      </a:r>
                      <a:r>
                        <a:rPr sz="1000" b="0" i="0" dirty="0" lang="es-SV">
                          <a:solidFill>
                            <a:srgbClr val="1B2333"/>
                          </a:solidFill>
                          <a:latin typeface="Arial"/>
                        </a:rPr>
                        <a:t>Continuidad</a:t>
                      </a:r>
                      <a:r>
                        <a:rPr sz="1000" b="0" i="0" dirty="0" lang="es-SV">
                          <a:solidFill>
                            <a:srgbClr val="1B2333"/>
                          </a:solidFill>
                          <a:latin typeface="Arial"/>
                        </a:rPr>
                        <a:t> del </a:t>
                      </a:r>
                      <a:r>
                        <a:rPr sz="1000" b="0" i="0" dirty="0" lang="es-SV">
                          <a:solidFill>
                            <a:srgbClr val="1B2333"/>
                          </a:solidFill>
                          <a:latin typeface="Arial"/>
                        </a:rPr>
                        <a:t>Negocio</a:t>
                      </a:r>
                      <a:r>
                        <a:rPr sz="1000" b="0" i="0" dirty="0" lang="es-SV">
                          <a:solidFill>
                            <a:srgbClr val="1B2333"/>
                          </a:solidFill>
                          <a:latin typeface="Arial"/>
                        </a:rPr>
                        <a:t> (NRP-24).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La </a:t>
                      </a:r>
                      <a:r>
                        <a:rPr sz="1000" b="0" i="0" dirty="0" lang="es-SV">
                          <a:solidFill>
                            <a:srgbClr val="1B2333"/>
                          </a:solidFill>
                          <a:latin typeface="Arial"/>
                        </a:rPr>
                        <a:t>presente</a:t>
                      </a:r>
                      <a:r>
                        <a:rPr sz="1000" b="0" i="0" dirty="0" lang="es-SV">
                          <a:solidFill>
                            <a:srgbClr val="1B2333"/>
                          </a:solidFill>
                          <a:latin typeface="Arial"/>
                        </a:rPr>
                        <a:t> </a:t>
                      </a:r>
                      <a:r>
                        <a:rPr sz="1000" b="0" i="0" dirty="0" lang="es-SV">
                          <a:solidFill>
                            <a:srgbClr val="1B2333"/>
                          </a:solidFill>
                          <a:latin typeface="Arial"/>
                        </a:rPr>
                        <a:t>política</a:t>
                      </a:r>
                      <a:r>
                        <a:rPr sz="1000" b="0" i="0" dirty="0" lang="es-SV">
                          <a:solidFill>
                            <a:srgbClr val="1B2333"/>
                          </a:solidFill>
                          <a:latin typeface="Arial"/>
                        </a:rPr>
                        <a:t> </a:t>
                      </a:r>
                      <a:r>
                        <a:rPr sz="1000" b="0" i="0" dirty="0" lang="es-SV">
                          <a:solidFill>
                            <a:srgbClr val="1B2333"/>
                          </a:solidFill>
                          <a:latin typeface="Arial"/>
                        </a:rPr>
                        <a:t>aplica</a:t>
                      </a:r>
                      <a:r>
                        <a:rPr sz="1000" b="0" i="0" dirty="0" lang="es-SV">
                          <a:solidFill>
                            <a:srgbClr val="1B2333"/>
                          </a:solidFill>
                          <a:latin typeface="Arial"/>
                        </a:rPr>
                        <a:t> para la </a:t>
                      </a:r>
                      <a:r>
                        <a:rPr sz="1000" b="0" i="0" dirty="0" lang="es-SV">
                          <a:solidFill>
                            <a:srgbClr val="1B2333"/>
                          </a:solidFill>
                          <a:latin typeface="Arial"/>
                        </a:rPr>
                        <a:t>contratación</a:t>
                      </a:r>
                      <a:r>
                        <a:rPr sz="1000" b="0" i="0" dirty="0" lang="es-SV">
                          <a:solidFill>
                            <a:srgbClr val="1B2333"/>
                          </a:solidFill>
                          <a:latin typeface="Arial"/>
                        </a:rPr>
                        <a:t> de </a:t>
                      </a:r>
                      <a:r>
                        <a:rPr sz="1000" b="0" i="0" dirty="0" lang="es-SV">
                          <a:solidFill>
                            <a:srgbClr val="1B2333"/>
                          </a:solidFill>
                          <a:latin typeface="Arial"/>
                        </a:rPr>
                        <a:t>Servicios</a:t>
                      </a:r>
                      <a:r>
                        <a:rPr sz="1000" b="0" i="0" dirty="0" lang="es-SV">
                          <a:solidFill>
                            <a:srgbClr val="1B2333"/>
                          </a:solidFill>
                          <a:latin typeface="Arial"/>
                        </a:rPr>
                        <a:t> </a:t>
                      </a:r>
                      <a:r>
                        <a:rPr sz="1000" b="0" i="0" dirty="0" lang="es-SV">
                          <a:solidFill>
                            <a:srgbClr val="1B2333"/>
                          </a:solidFill>
                          <a:latin typeface="Arial"/>
                        </a:rPr>
                        <a:t>Críticos</a:t>
                      </a:r>
                      <a:r>
                        <a:rPr sz="1000" b="0" i="0" dirty="0" lang="es-SV">
                          <a:solidFill>
                            <a:srgbClr val="1B2333"/>
                          </a:solidFill>
                          <a:latin typeface="Arial"/>
                        </a:rPr>
                        <a:t> </a:t>
                      </a:r>
                      <a:r>
                        <a:rPr sz="1000" b="0" i="0" dirty="0" lang="es-SV">
                          <a:solidFill>
                            <a:srgbClr val="1B2333"/>
                          </a:solidFill>
                          <a:latin typeface="Arial"/>
                        </a:rPr>
                        <a:t>Tercerizados</a:t>
                      </a:r>
                      <a:r>
                        <a:rPr sz="1000" b="0" i="0" dirty="0" lang="es-SV">
                          <a:solidFill>
                            <a:srgbClr val="1B2333"/>
                          </a:solidFill>
                          <a:latin typeface="Arial"/>
                        </a:rPr>
                        <a:t> </a:t>
                      </a:r>
                      <a:r>
                        <a:rPr sz="1000" b="1" i="0" u="sng" dirty="0" lang="es-SV">
                          <a:solidFill>
                            <a:srgbClr val="00376E"/>
                          </a:solidFill>
                          <a:latin typeface="Arial"/>
                        </a:rPr>
                        <a:t>y </a:t>
                      </a:r>
                      <a:r>
                        <a:rPr sz="1000" b="1" i="0" u="sng" dirty="0" lang="es-SV">
                          <a:solidFill>
                            <a:srgbClr val="00376E"/>
                          </a:solidFill>
                          <a:latin typeface="Arial"/>
                        </a:rPr>
                        <a:t>su</a:t>
                      </a:r>
                      <a:r>
                        <a:rPr sz="1000" b="1" i="0" u="sng" dirty="0" lang="es-SV">
                          <a:solidFill>
                            <a:srgbClr val="00376E"/>
                          </a:solidFill>
                          <a:latin typeface="Arial"/>
                        </a:rPr>
                        <a:t> </a:t>
                      </a:r>
                      <a:r>
                        <a:rPr sz="1000" b="1" i="0" u="sng" dirty="0" lang="es-SV">
                          <a:solidFill>
                            <a:srgbClr val="00376E"/>
                          </a:solidFill>
                          <a:latin typeface="Arial"/>
                        </a:rPr>
                        <a:t>gestión</a:t>
                      </a:r>
                      <a:r>
                        <a:rPr sz="1000" b="1" i="0" u="sng" dirty="0" lang="es-SV">
                          <a:solidFill>
                            <a:srgbClr val="00376E"/>
                          </a:solidFill>
                          <a:latin typeface="Arial"/>
                        </a:rPr>
                        <a:t> </a:t>
                      </a:r>
                      <a:r>
                        <a:rPr sz="1000" b="1" i="0" u="sng" dirty="0" lang="es-SV">
                          <a:solidFill>
                            <a:srgbClr val="00376E"/>
                          </a:solidFill>
                          <a:latin typeface="Arial"/>
                        </a:rPr>
                        <a:t>durante</a:t>
                      </a:r>
                      <a:r>
                        <a:rPr sz="1000" b="1" i="0" u="sng" dirty="0" lang="es-SV">
                          <a:solidFill>
                            <a:srgbClr val="00376E"/>
                          </a:solidFill>
                          <a:latin typeface="Arial"/>
                        </a:rPr>
                        <a:t> </a:t>
                      </a:r>
                      <a:r>
                        <a:rPr sz="1000" b="1" i="0" u="sng" dirty="0" lang="es-SV">
                          <a:solidFill>
                            <a:srgbClr val="00376E"/>
                          </a:solidFill>
                          <a:latin typeface="Arial"/>
                        </a:rPr>
                        <a:t>todo</a:t>
                      </a:r>
                      <a:r>
                        <a:rPr sz="1000" b="1" i="0" u="sng" dirty="0" lang="es-SV">
                          <a:solidFill>
                            <a:srgbClr val="00376E"/>
                          </a:solidFill>
                          <a:latin typeface="Arial"/>
                        </a:rPr>
                        <a:t> el </a:t>
                      </a:r>
                      <a:r>
                        <a:rPr sz="1000" b="1" i="0" u="sng" dirty="0" lang="es-SV">
                          <a:solidFill>
                            <a:srgbClr val="00376E"/>
                          </a:solidFill>
                          <a:latin typeface="Arial"/>
                        </a:rPr>
                        <a:t>ciclo</a:t>
                      </a:r>
                      <a:r>
                        <a:rPr sz="1000" b="1" i="0" u="sng" dirty="0" lang="es-SV">
                          <a:solidFill>
                            <a:srgbClr val="00376E"/>
                          </a:solidFill>
                          <a:latin typeface="Arial"/>
                        </a:rPr>
                        <a:t> de </a:t>
                      </a:r>
                      <a:r>
                        <a:rPr sz="1000" b="1" i="0" u="sng" dirty="0" lang="es-SV">
                          <a:solidFill>
                            <a:srgbClr val="00376E"/>
                          </a:solidFill>
                          <a:latin typeface="Arial"/>
                        </a:rPr>
                        <a:t>vida</a:t>
                      </a:r>
                      <a:r>
                        <a:rPr sz="1000" b="1" i="0" u="sng" dirty="0" lang="es-SV">
                          <a:solidFill>
                            <a:srgbClr val="00376E"/>
                          </a:solidFill>
                          <a:latin typeface="Arial"/>
                        </a:rPr>
                        <a:t> (</a:t>
                      </a:r>
                      <a:r>
                        <a:rPr sz="1000" b="1" i="0" u="sng" dirty="0" lang="es-SV">
                          <a:solidFill>
                            <a:srgbClr val="00376E"/>
                          </a:solidFill>
                          <a:latin typeface="Arial"/>
                        </a:rPr>
                        <a:t>evaluación</a:t>
                      </a:r>
                      <a:r>
                        <a:rPr sz="1000" b="1" i="0" u="sng" dirty="0" lang="es-SV">
                          <a:solidFill>
                            <a:srgbClr val="00376E"/>
                          </a:solidFill>
                          <a:latin typeface="Arial"/>
                        </a:rPr>
                        <a:t>, </a:t>
                      </a:r>
                      <a:r>
                        <a:rPr sz="1000" b="1" i="0" u="sng" dirty="0" lang="es-SV">
                          <a:solidFill>
                            <a:srgbClr val="00376E"/>
                          </a:solidFill>
                          <a:latin typeface="Arial"/>
                        </a:rPr>
                        <a:t>selección</a:t>
                      </a:r>
                      <a:r>
                        <a:rPr sz="1000" b="1" i="0" u="sng" dirty="0" lang="es-SV">
                          <a:solidFill>
                            <a:srgbClr val="00376E"/>
                          </a:solidFill>
                          <a:latin typeface="Arial"/>
                        </a:rPr>
                        <a:t>, </a:t>
                      </a:r>
                      <a:r>
                        <a:rPr sz="1000" b="1" i="0" u="sng" dirty="0" lang="es-SV">
                          <a:solidFill>
                            <a:srgbClr val="00376E"/>
                          </a:solidFill>
                          <a:latin typeface="Arial"/>
                        </a:rPr>
                        <a:t>contratación</a:t>
                      </a:r>
                      <a:r>
                        <a:rPr sz="1000" b="1" i="0" u="sng" dirty="0" lang="es-SV">
                          <a:solidFill>
                            <a:srgbClr val="00376E"/>
                          </a:solidFill>
                          <a:latin typeface="Arial"/>
                        </a:rPr>
                        <a:t>, </a:t>
                      </a:r>
                      <a:r>
                        <a:rPr sz="1000" b="1" i="0" u="sng" dirty="0" lang="es-SV">
                          <a:solidFill>
                            <a:srgbClr val="00376E"/>
                          </a:solidFill>
                          <a:latin typeface="Arial"/>
                        </a:rPr>
                        <a:t>monitoreo</a:t>
                      </a:r>
                      <a:r>
                        <a:rPr sz="1000" b="1" i="0" u="sng" dirty="0" lang="es-SV">
                          <a:solidFill>
                            <a:srgbClr val="00376E"/>
                          </a:solidFill>
                          <a:latin typeface="Arial"/>
                        </a:rPr>
                        <a:t>, </a:t>
                      </a:r>
                      <a:r>
                        <a:rPr sz="1000" b="1" i="0" u="sng" dirty="0" lang="es-SV">
                          <a:solidFill>
                            <a:srgbClr val="00376E"/>
                          </a:solidFill>
                          <a:latin typeface="Arial"/>
                        </a:rPr>
                        <a:t>renovación</a:t>
                      </a:r>
                      <a:r>
                        <a:rPr sz="1000" b="1" i="0" u="sng" dirty="0" lang="es-SV">
                          <a:solidFill>
                            <a:srgbClr val="00376E"/>
                          </a:solidFill>
                          <a:latin typeface="Arial"/>
                        </a:rPr>
                        <a:t> y </a:t>
                      </a:r>
                      <a:r>
                        <a:rPr sz="1000" b="1" i="0" u="sng" dirty="0" lang="es-SV">
                          <a:solidFill>
                            <a:srgbClr val="00376E"/>
                          </a:solidFill>
                          <a:latin typeface="Arial"/>
                        </a:rPr>
                        <a:t>terminación</a:t>
                      </a:r>
                      <a:r>
                        <a:rPr sz="1000" b="1" i="0" u="sng" dirty="0" lang="es-SV">
                          <a:solidFill>
                            <a:srgbClr val="00376E"/>
                          </a:solidFill>
                          <a:latin typeface="Arial"/>
                        </a:rPr>
                        <a:t>), </a:t>
                      </a:r>
                      <a:r>
                        <a:rPr sz="1000" b="1" i="0" u="sng" dirty="0" lang="es-SV">
                          <a:solidFill>
                            <a:srgbClr val="00376E"/>
                          </a:solidFill>
                          <a:latin typeface="Arial"/>
                        </a:rPr>
                        <a:t>sean</a:t>
                      </a:r>
                      <a:r>
                        <a:rPr sz="1000" b="1" i="0" u="sng" dirty="0" lang="es-SV">
                          <a:solidFill>
                            <a:srgbClr val="00376E"/>
                          </a:solidFill>
                          <a:latin typeface="Arial"/>
                        </a:rPr>
                        <a:t> </a:t>
                      </a:r>
                      <a:r>
                        <a:rPr sz="1000" b="1" i="0" u="sng" dirty="0" lang="es-SV">
                          <a:solidFill>
                            <a:srgbClr val="00376E"/>
                          </a:solidFill>
                          <a:latin typeface="Arial"/>
                        </a:rPr>
                        <a:t>éstos</a:t>
                      </a:r>
                      <a:r>
                        <a:rPr sz="1000" b="1" i="0" u="sng" dirty="0" lang="es-SV">
                          <a:solidFill>
                            <a:srgbClr val="00376E"/>
                          </a:solidFill>
                          <a:latin typeface="Arial"/>
                        </a:rPr>
                        <a:t> de </a:t>
                      </a:r>
                      <a:r>
                        <a:rPr sz="1000" b="1" i="0" u="sng" dirty="0" lang="es-SV">
                          <a:solidFill>
                            <a:srgbClr val="00376E"/>
                          </a:solidFill>
                          <a:latin typeface="Arial"/>
                        </a:rPr>
                        <a:t>Tecnología</a:t>
                      </a:r>
                      <a:r>
                        <a:rPr sz="1000" b="1" i="0" u="sng" dirty="0" lang="es-SV">
                          <a:solidFill>
                            <a:srgbClr val="00376E"/>
                          </a:solidFill>
                          <a:latin typeface="Arial"/>
                        </a:rPr>
                        <a:t> de la </a:t>
                      </a:r>
                      <a:r>
                        <a:rPr sz="1000" b="1" i="0" u="sng" dirty="0" lang="es-SV">
                          <a:solidFill>
                            <a:srgbClr val="00376E"/>
                          </a:solidFill>
                          <a:latin typeface="Arial"/>
                        </a:rPr>
                        <a:t>Información</a:t>
                      </a:r>
                      <a:r>
                        <a:rPr sz="1000" b="1" i="0" u="sng" dirty="0" lang="es-SV">
                          <a:solidFill>
                            <a:srgbClr val="00376E"/>
                          </a:solidFill>
                          <a:latin typeface="Arial"/>
                        </a:rPr>
                        <a:t> o de </a:t>
                      </a:r>
                      <a:r>
                        <a:rPr sz="1000" b="1" i="0" u="sng" dirty="0" lang="es-SV">
                          <a:solidFill>
                            <a:srgbClr val="00376E"/>
                          </a:solidFill>
                          <a:latin typeface="Arial"/>
                        </a:rPr>
                        <a:t>otra</a:t>
                      </a:r>
                      <a:r>
                        <a:rPr sz="1000" b="1" i="0" u="sng" dirty="0" lang="es-SV">
                          <a:solidFill>
                            <a:srgbClr val="00376E"/>
                          </a:solidFill>
                          <a:latin typeface="Arial"/>
                        </a:rPr>
                        <a:t> </a:t>
                      </a:r>
                      <a:r>
                        <a:rPr sz="1000" b="1" i="0" u="sng" dirty="0" lang="es-SV">
                          <a:solidFill>
                            <a:srgbClr val="00376E"/>
                          </a:solidFill>
                          <a:latin typeface="Arial"/>
                        </a:rPr>
                        <a:t>naturaleza</a:t>
                      </a:r>
                      <a:r>
                        <a:rPr sz="1000" b="1" i="0" u="sng" dirty="0" lang="es-SV">
                          <a:solidFill>
                            <a:srgbClr val="00376E"/>
                          </a:solidFill>
                          <a:latin typeface="Arial"/>
                        </a:rPr>
                        <a:t>. Es de </a:t>
                      </a:r>
                      <a:r>
                        <a:rPr sz="1000" b="1" i="0" u="sng" dirty="0" lang="es-SV">
                          <a:solidFill>
                            <a:srgbClr val="00376E"/>
                          </a:solidFill>
                          <a:latin typeface="Arial"/>
                        </a:rPr>
                        <a:t>cumplimiento</a:t>
                      </a:r>
                      <a:r>
                        <a:rPr sz="1000" b="1" i="0" u="sng" dirty="0" lang="es-SV">
                          <a:solidFill>
                            <a:srgbClr val="00376E"/>
                          </a:solidFill>
                          <a:latin typeface="Arial"/>
                        </a:rPr>
                        <a:t> </a:t>
                      </a:r>
                      <a:r>
                        <a:rPr sz="1000" b="1" i="0" u="sng" dirty="0" lang="es-SV">
                          <a:solidFill>
                            <a:srgbClr val="00376E"/>
                          </a:solidFill>
                          <a:latin typeface="Arial"/>
                        </a:rPr>
                        <a:t>obligatorio</a:t>
                      </a:r>
                      <a:r>
                        <a:rPr sz="1000" b="1" i="0" u="sng" dirty="0" lang="es-SV">
                          <a:solidFill>
                            <a:srgbClr val="00376E"/>
                          </a:solidFill>
                          <a:latin typeface="Arial"/>
                        </a:rPr>
                        <a:t> para el Consejo de Administración, </a:t>
                      </a:r>
                      <a:r>
                        <a:rPr sz="1000" b="1" i="0" u="sng" dirty="0" lang="es-SV">
                          <a:solidFill>
                            <a:srgbClr val="00376E"/>
                          </a:solidFill>
                          <a:latin typeface="Arial"/>
                        </a:rPr>
                        <a:t>Comité</a:t>
                      </a:r>
                      <a:r>
                        <a:rPr sz="1000" b="1" i="0" u="sng" dirty="0" lang="es-SV">
                          <a:solidFill>
                            <a:srgbClr val="00376E"/>
                          </a:solidFill>
                          <a:latin typeface="Arial"/>
                        </a:rPr>
                        <a:t> de </a:t>
                      </a:r>
                      <a:r>
                        <a:rPr sz="1000" b="1" i="0" u="sng" dirty="0" lang="es-SV">
                          <a:solidFill>
                            <a:srgbClr val="00376E"/>
                          </a:solidFill>
                          <a:latin typeface="Arial"/>
                        </a:rPr>
                        <a:t>Riesgos</a:t>
                      </a:r>
                      <a:r>
                        <a:rPr sz="1000" b="1" i="0" u="sng" dirty="0" lang="es-SV">
                          <a:solidFill>
                            <a:srgbClr val="00376E"/>
                          </a:solidFill>
                          <a:latin typeface="Arial"/>
                        </a:rPr>
                        <a:t>, Gerencia General y </a:t>
                      </a:r>
                      <a:r>
                        <a:rPr sz="1000" b="1" i="0" u="sng" dirty="0" lang="es-SV">
                          <a:solidFill>
                            <a:srgbClr val="00376E"/>
                          </a:solidFill>
                          <a:latin typeface="Arial"/>
                        </a:rPr>
                        <a:t>todas</a:t>
                      </a:r>
                      <a:r>
                        <a:rPr sz="1000" b="1" i="0" u="sng" dirty="0" lang="es-SV">
                          <a:solidFill>
                            <a:srgbClr val="00376E"/>
                          </a:solidFill>
                          <a:latin typeface="Arial"/>
                        </a:rPr>
                        <a:t> las </a:t>
                      </a:r>
                      <a:r>
                        <a:rPr sz="1000" b="1" i="0" u="sng" dirty="0" lang="es-SV">
                          <a:solidFill>
                            <a:srgbClr val="00376E"/>
                          </a:solidFill>
                          <a:latin typeface="Arial"/>
                        </a:rPr>
                        <a:t>Gerencias</a:t>
                      </a:r>
                      <a:r>
                        <a:rPr sz="1000" b="1" i="0" u="sng" dirty="0" lang="es-SV">
                          <a:solidFill>
                            <a:srgbClr val="00376E"/>
                          </a:solidFill>
                          <a:latin typeface="Arial"/>
                        </a:rPr>
                        <a:t>, </a:t>
                      </a:r>
                      <a:r>
                        <a:rPr sz="1000" b="1" i="0" u="sng" dirty="0" lang="es-SV">
                          <a:solidFill>
                            <a:srgbClr val="00376E"/>
                          </a:solidFill>
                          <a:latin typeface="Arial"/>
                        </a:rPr>
                        <a:t>Jefaturas</a:t>
                      </a:r>
                      <a:r>
                        <a:rPr sz="1000" b="1" i="0" u="sng" dirty="0" lang="es-SV">
                          <a:solidFill>
                            <a:srgbClr val="00376E"/>
                          </a:solidFill>
                          <a:latin typeface="Arial"/>
                        </a:rPr>
                        <a:t> y </a:t>
                      </a:r>
                      <a:r>
                        <a:rPr sz="1000" b="1" i="0" u="sng" dirty="0" lang="es-SV">
                          <a:solidFill>
                            <a:srgbClr val="00376E"/>
                          </a:solidFill>
                          <a:latin typeface="Arial"/>
                        </a:rPr>
                        <a:t>Administradores</a:t>
                      </a:r>
                      <a:r>
                        <a:rPr sz="1000" b="1" i="0" u="sng" dirty="0" lang="es-SV">
                          <a:solidFill>
                            <a:srgbClr val="00376E"/>
                          </a:solidFill>
                          <a:latin typeface="Arial"/>
                        </a:rPr>
                        <a:t> de </a:t>
                      </a:r>
                      <a:r>
                        <a:rPr sz="1000" b="1" i="0" u="sng" dirty="0" lang="es-SV">
                          <a:solidFill>
                            <a:srgbClr val="00376E"/>
                          </a:solidFill>
                          <a:latin typeface="Arial"/>
                        </a:rPr>
                        <a:t>Contrato</a:t>
                      </a:r>
                      <a:r>
                        <a:rPr sz="1000" b="0" i="0" dirty="0" lang="es-SV">
                          <a:solidFill>
                            <a:srgbClr val="1B2333"/>
                          </a:solidFill>
                          <a:latin typeface="Arial"/>
                        </a:rPr>
                        <a:t>, </a:t>
                      </a:r>
                      <a:r>
                        <a:rPr sz="1000" b="0" i="0" dirty="0" lang="es-SV">
                          <a:solidFill>
                            <a:srgbClr val="1B2333"/>
                          </a:solidFill>
                          <a:latin typeface="Arial"/>
                        </a:rPr>
                        <a:t>en</a:t>
                      </a:r>
                      <a:r>
                        <a:rPr sz="1000" b="0" i="0" dirty="0" lang="es-SV">
                          <a:solidFill>
                            <a:srgbClr val="1B2333"/>
                          </a:solidFill>
                          <a:latin typeface="Arial"/>
                        </a:rPr>
                        <a:t> </a:t>
                      </a:r>
                      <a:r>
                        <a:rPr sz="1000" b="0" i="0" dirty="0" lang="es-SV">
                          <a:solidFill>
                            <a:srgbClr val="1B2333"/>
                          </a:solidFill>
                          <a:latin typeface="Arial"/>
                        </a:rPr>
                        <a:t>cumplimiento</a:t>
                      </a:r>
                      <a:r>
                        <a:rPr sz="1000" b="0" i="0" dirty="0" lang="es-SV">
                          <a:solidFill>
                            <a:srgbClr val="1B2333"/>
                          </a:solidFill>
                          <a:latin typeface="Arial"/>
                        </a:rPr>
                        <a:t> a lo </a:t>
                      </a:r>
                      <a:r>
                        <a:rPr sz="1000" b="0" i="0" dirty="0" lang="es-SV">
                          <a:solidFill>
                            <a:srgbClr val="1B2333"/>
                          </a:solidFill>
                          <a:latin typeface="Arial"/>
                        </a:rPr>
                        <a:t>establecido</a:t>
                      </a:r>
                      <a:r>
                        <a:rPr sz="1000" b="0" i="0" dirty="0" lang="es-SV">
                          <a:solidFill>
                            <a:srgbClr val="1B2333"/>
                          </a:solidFill>
                          <a:latin typeface="Arial"/>
                        </a:rPr>
                        <a:t> </a:t>
                      </a:r>
                      <a:r>
                        <a:rPr sz="1000" b="0" i="0" dirty="0" lang="es-SV">
                          <a:solidFill>
                            <a:srgbClr val="1B2333"/>
                          </a:solidFill>
                          <a:latin typeface="Arial"/>
                        </a:rPr>
                        <a:t>en</a:t>
                      </a:r>
                      <a:r>
                        <a:rPr sz="1000" b="0" i="0" dirty="0" lang="es-SV">
                          <a:solidFill>
                            <a:srgbClr val="1B2333"/>
                          </a:solidFill>
                          <a:latin typeface="Arial"/>
                        </a:rPr>
                        <a:t>: </a:t>
                      </a:r>
                      <a:r>
                        <a:rPr sz="1000" b="1" i="0" u="sng" dirty="0" lang="es-SV">
                          <a:solidFill>
                            <a:srgbClr val="00376E"/>
                          </a:solidFill>
                          <a:latin typeface="Arial"/>
                        </a:rPr>
                        <a:t>NRP-20; NRP-42</a:t>
                      </a:r>
                      <a:r>
                        <a:rPr sz="1000" b="0" i="0" dirty="0" lang="es-SV">
                          <a:solidFill>
                            <a:srgbClr val="1B2333"/>
                          </a:solidFill>
                          <a:latin typeface="Arial"/>
                        </a:rPr>
                        <a:t>; NRP-24; </a:t>
                      </a:r>
                      <a:r>
                        <a:rPr sz="1000" b="1" i="0" u="sng" dirty="0" lang="es-SV">
                          <a:solidFill>
                            <a:srgbClr val="00376E"/>
                          </a:solidFill>
                          <a:latin typeface="Arial"/>
                        </a:rPr>
                        <a:t>NRP-17; NRP-05</a:t>
                      </a:r>
                      <a:r>
                        <a:rPr sz="1000" b="0" i="0" dirty="0" lang="es-SV">
                          <a:solidFill>
                            <a:srgbClr val="1B2333"/>
                          </a:solidFill>
                          <a:latin typeface="Arial"/>
                        </a:rPr>
                        <a:t>; NRP-23; </a:t>
                      </a:r>
                      <a:r>
                        <a:rPr sz="1000" b="1" i="0" u="sng" dirty="0" lang="es-SV">
                          <a:solidFill>
                            <a:srgbClr val="00376E"/>
                          </a:solidFill>
                          <a:latin typeface="Arial"/>
                        </a:rPr>
                        <a:t>Manual de </a:t>
                      </a:r>
                      <a:r>
                        <a:rPr sz="1000" b="1" i="0" u="sng" dirty="0" lang="es-SV">
                          <a:solidFill>
                            <a:srgbClr val="00376E"/>
                          </a:solidFill>
                          <a:latin typeface="Arial"/>
                        </a:rPr>
                        <a:t>Compras</a:t>
                      </a:r>
                      <a:r>
                        <a:rPr sz="1000" b="1" i="0" u="sng" dirty="0" lang="es-SV">
                          <a:solidFill>
                            <a:srgbClr val="00376E"/>
                          </a:solidFill>
                          <a:latin typeface="Arial"/>
                        </a:rPr>
                        <a:t> de Bienes y </a:t>
                      </a:r>
                      <a:r>
                        <a:rPr sz="1000" b="1" i="0" u="sng" dirty="0" lang="es-SV">
                          <a:solidFill>
                            <a:srgbClr val="00376E"/>
                          </a:solidFill>
                          <a:latin typeface="Arial"/>
                        </a:rPr>
                        <a:t>Servicios</a:t>
                      </a:r>
                      <a:r>
                        <a:rPr sz="1000" b="1" i="0" u="sng" dirty="0" lang="es-SV">
                          <a:solidFill>
                            <a:srgbClr val="00376E"/>
                          </a:solidFill>
                          <a:latin typeface="Arial"/>
                        </a:rPr>
                        <a:t> (RP-GA-M-001), Código de </a:t>
                      </a:r>
                      <a:r>
                        <a:rPr sz="1000" b="1" i="0" u="sng" dirty="0" lang="es-SV">
                          <a:solidFill>
                            <a:srgbClr val="00376E"/>
                          </a:solidFill>
                          <a:latin typeface="Arial"/>
                        </a:rPr>
                        <a:t>Gobierno</a:t>
                      </a:r>
                      <a:r>
                        <a:rPr sz="1000" b="1" i="0" u="sng" dirty="0" lang="es-SV">
                          <a:solidFill>
                            <a:srgbClr val="00376E"/>
                          </a:solidFill>
                          <a:latin typeface="Arial"/>
                        </a:rPr>
                        <a:t> Corporativo, Código de </a:t>
                      </a:r>
                      <a:r>
                        <a:rPr sz="1000" b="1" i="0" u="sng" dirty="0" lang="es-SV">
                          <a:solidFill>
                            <a:srgbClr val="00376E"/>
                          </a:solidFill>
                          <a:latin typeface="Arial"/>
                        </a:rPr>
                        <a:t>Conducta</a:t>
                      </a:r>
                      <a:r>
                        <a:rPr sz="1000" b="1" i="0" u="sng" dirty="0" lang="es-SV">
                          <a:solidFill>
                            <a:srgbClr val="00376E"/>
                          </a:solidFill>
                          <a:latin typeface="Arial"/>
                        </a:rPr>
                        <a:t> y </a:t>
                      </a:r>
                      <a:r>
                        <a:rPr sz="1000" b="1" i="0" u="sng" dirty="0" lang="es-SV">
                          <a:solidFill>
                            <a:srgbClr val="00376E"/>
                          </a:solidFill>
                          <a:latin typeface="Arial"/>
                        </a:rPr>
                        <a:t>demás</a:t>
                      </a:r>
                      <a:r>
                        <a:rPr sz="1000" b="1" i="0" u="sng" dirty="0" lang="es-SV">
                          <a:solidFill>
                            <a:srgbClr val="00376E"/>
                          </a:solidFill>
                          <a:latin typeface="Arial"/>
                        </a:rPr>
                        <a:t> </a:t>
                      </a:r>
                      <a:r>
                        <a:rPr sz="1000" b="1" i="0" u="sng" dirty="0" lang="es-SV">
                          <a:solidFill>
                            <a:srgbClr val="00376E"/>
                          </a:solidFill>
                          <a:latin typeface="Arial"/>
                        </a:rPr>
                        <a:t>normativa</a:t>
                      </a:r>
                      <a:r>
                        <a:rPr sz="1000" b="1" i="0" u="sng" dirty="0" lang="es-SV">
                          <a:solidFill>
                            <a:srgbClr val="00376E"/>
                          </a:solidFill>
                          <a:latin typeface="Arial"/>
                        </a:rPr>
                        <a:t> </a:t>
                      </a:r>
                      <a:r>
                        <a:rPr sz="1000" b="1" i="0" u="sng" dirty="0" lang="es-SV">
                          <a:solidFill>
                            <a:srgbClr val="00376E"/>
                          </a:solidFill>
                          <a:latin typeface="Arial"/>
                        </a:rPr>
                        <a:t>aplicable</a:t>
                      </a:r>
                      <a:r>
                        <a:rPr sz="1000" b="1" i="0" u="sng" dirty="0" lang="es-SV">
                          <a:solidFill>
                            <a:srgbClr val="00376E"/>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Se </a:t>
                      </a:r>
                      <a:r>
                        <a:rPr sz="1000" b="0" i="0" dirty="0" lang="es-SV">
                          <a:solidFill>
                            <a:srgbClr val="1B2333"/>
                          </a:solidFill>
                          <a:latin typeface="Arial"/>
                        </a:rPr>
                        <a:t>sustituye</a:t>
                      </a:r>
                      <a:r>
                        <a:rPr sz="1000" b="0" i="0" dirty="0" lang="es-SV">
                          <a:solidFill>
                            <a:srgbClr val="1B2333"/>
                          </a:solidFill>
                          <a:latin typeface="Arial"/>
                        </a:rPr>
                        <a:t> la NPB4-50, </a:t>
                      </a:r>
                      <a:r>
                        <a:rPr sz="1000" b="0" i="0" dirty="0" lang="es-SV">
                          <a:solidFill>
                            <a:srgbClr val="1B2333"/>
                          </a:solidFill>
                          <a:latin typeface="Arial"/>
                        </a:rPr>
                        <a:t>derogada</a:t>
                      </a:r>
                      <a:r>
                        <a:rPr sz="1000" b="0" i="0" dirty="0" lang="es-SV">
                          <a:solidFill>
                            <a:srgbClr val="1B2333"/>
                          </a:solidFill>
                          <a:latin typeface="Arial"/>
                        </a:rPr>
                        <a:t> </a:t>
                      </a:r>
                      <a:r>
                        <a:rPr sz="1000" b="0" i="0" dirty="0" lang="es-SV">
                          <a:solidFill>
                            <a:srgbClr val="1B2333"/>
                          </a:solidFill>
                          <a:latin typeface="Arial"/>
                        </a:rPr>
                        <a:t>por</a:t>
                      </a:r>
                      <a:r>
                        <a:rPr sz="1000" b="0" i="0" dirty="0" lang="es-SV">
                          <a:solidFill>
                            <a:srgbClr val="1B2333"/>
                          </a:solidFill>
                          <a:latin typeface="Arial"/>
                        </a:rPr>
                        <a:t> la NRP-42. Se </a:t>
                      </a:r>
                      <a:r>
                        <a:rPr sz="1000" b="0" i="0" dirty="0" lang="es-SV">
                          <a:solidFill>
                            <a:srgbClr val="1B2333"/>
                          </a:solidFill>
                          <a:latin typeface="Arial"/>
                        </a:rPr>
                        <a:t>amplía</a:t>
                      </a:r>
                      <a:r>
                        <a:rPr sz="1000" b="0" i="0" dirty="0" lang="es-SV">
                          <a:solidFill>
                            <a:srgbClr val="1B2333"/>
                          </a:solidFill>
                          <a:latin typeface="Arial"/>
                        </a:rPr>
                        <a:t> a </a:t>
                      </a:r>
                      <a:r>
                        <a:rPr sz="1000" b="0" i="0" dirty="0" lang="es-SV">
                          <a:solidFill>
                            <a:srgbClr val="1B2333"/>
                          </a:solidFill>
                          <a:latin typeface="Arial"/>
                        </a:rPr>
                        <a:t>servicios</a:t>
                      </a:r>
                      <a:r>
                        <a:rPr sz="1000" b="0" i="0" dirty="0" lang="es-SV">
                          <a:solidFill>
                            <a:srgbClr val="1B2333"/>
                          </a:solidFill>
                          <a:latin typeface="Arial"/>
                        </a:rPr>
                        <a:t> no </a:t>
                      </a:r>
                      <a:r>
                        <a:rPr sz="1000" b="0" i="0" dirty="0" lang="es-SV">
                          <a:solidFill>
                            <a:srgbClr val="1B2333"/>
                          </a:solidFill>
                          <a:latin typeface="Arial"/>
                        </a:rPr>
                        <a:t>tecnológicos</a:t>
                      </a:r>
                      <a:r>
                        <a:rPr sz="1000" b="0" i="0" dirty="0" lang="es-SV">
                          <a:solidFill>
                            <a:srgbClr val="1B2333"/>
                          </a:solidFill>
                          <a:latin typeface="Arial"/>
                        </a:rPr>
                        <a:t> y se </a:t>
                      </a:r>
                      <a:r>
                        <a:rPr sz="1000" b="0" i="0" dirty="0" lang="es-SV">
                          <a:solidFill>
                            <a:srgbClr val="1B2333"/>
                          </a:solidFill>
                          <a:latin typeface="Arial"/>
                        </a:rPr>
                        <a:t>definen</a:t>
                      </a:r>
                      <a:r>
                        <a:rPr sz="1000" b="0" i="0" dirty="0" lang="es-SV">
                          <a:solidFill>
                            <a:srgbClr val="1B2333"/>
                          </a:solidFill>
                          <a:latin typeface="Arial"/>
                        </a:rPr>
                        <a:t> </a:t>
                      </a:r>
                      <a:r>
                        <a:rPr sz="1000" b="0" i="0" dirty="0" lang="es-SV">
                          <a:solidFill>
                            <a:srgbClr val="1B2333"/>
                          </a:solidFill>
                          <a:latin typeface="Arial"/>
                        </a:rPr>
                        <a:t>los</a:t>
                      </a:r>
                      <a:r>
                        <a:rPr sz="1000" b="0" i="0" dirty="0" lang="es-SV">
                          <a:solidFill>
                            <a:srgbClr val="1B2333"/>
                          </a:solidFill>
                          <a:latin typeface="Arial"/>
                        </a:rPr>
                        <a:t> </a:t>
                      </a:r>
                      <a:r>
                        <a:rPr sz="1000" b="0" i="0" dirty="0" lang="es-SV">
                          <a:solidFill>
                            <a:srgbClr val="1B2333"/>
                          </a:solidFill>
                          <a:latin typeface="Arial"/>
                        </a:rPr>
                        <a:t>obligados</a:t>
                      </a:r>
                      <a:r>
                        <a:rPr sz="1000" b="0" i="0" dirty="0" lang="es-SV">
                          <a:solidFill>
                            <a:srgbClr val="1B2333"/>
                          </a:solidFill>
                          <a:latin typeface="Arial"/>
                        </a:rPr>
                        <a:t>.</a:t>
                      </a:r>
                    </a:p>
                    <a:p>
                      <a:pPr algn="just"/>
                      <a:r>
                        <a:rPr sz="1000" b="1" i="0" dirty="0" lang="es-SV">
                          <a:solidFill>
                            <a:srgbClr val="00376E"/>
                          </a:solidFill>
                          <a:latin typeface="Arial"/>
                        </a:rPr>
                        <a:t>NRP-42, art. 25 (</a:t>
                      </a:r>
                      <a:r>
                        <a:rPr sz="1000" b="1" i="0" dirty="0" lang="es-SV">
                          <a:solidFill>
                            <a:srgbClr val="00376E"/>
                          </a:solidFill>
                          <a:latin typeface="Arial"/>
                        </a:rPr>
                        <a:t>derogatoria</a:t>
                      </a:r>
                      <a:r>
                        <a:rPr sz="1000" b="1" i="0" dirty="0" lang="es-SV">
                          <a:solidFill>
                            <a:srgbClr val="00376E"/>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0A848043-3E64-98A8-7A75-B15A546BA49B}"/>
              </a:ext>
            </a:extLst>
          </p:cNvPr>
          <p:cNvSpPr/>
          <p:nvPr/>
        </p:nvSpPr>
        <p:spPr>
          <a:xfrm>
            <a:off x="548640" y="15388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228600"/>
            <a:ext cx="9966960" cy="307777"/>
          </a:xfrm>
          <a:prstGeom prst="rect">
            <a:avLst/>
          </a:prstGeom>
          <a:noFill/>
        </p:spPr>
        <p:txBody>
          <a:bodyPr wrap="square" lIns="0" tIns="0" rIns="0" bIns="0" anchor="ctr">
            <a:spAutoFit/>
          </a:bodyPr>
          <a:lstStyle/>
          <a:p>
            <a:pPr algn="l"/>
            <a:r>
              <a:rPr sz="2000" b="1" i="0" dirty="0" lang="es-SV">
                <a:solidFill>
                  <a:srgbClr val="00376E"/>
                </a:solidFill>
                <a:latin typeface="Century Gothic"/>
              </a:rPr>
              <a:t>III. </a:t>
            </a:r>
            <a:r>
              <a:rPr sz="2000" b="1" i="0" dirty="0" lang="es-SV">
                <a:solidFill>
                  <a:srgbClr val="00376E"/>
                </a:solidFill>
                <a:latin typeface="Century Gothic"/>
              </a:rPr>
              <a:t>Definiciones</a:t>
            </a:r>
            <a:endParaRPr sz="2000" b="1" i="0" dirty="0" lang="es-SV">
              <a:solidFill>
                <a:srgbClr val="00376E"/>
              </a:solidFill>
              <a:latin typeface="Century Gothic"/>
            </a:endParaRPr>
          </a:p>
        </p:txBody>
      </p:sp>
      <p:graphicFrame>
        <p:nvGraphicFramePr>
          <p:cNvPr id="16" name="Table 15"/>
          <p:cNvGraphicFramePr>
            <a:graphicFrameLocks noGrp="1"/>
          </p:cNvGraphicFramePr>
          <p:nvPr>
            <p:extLst>
              <p:ext uri="{D42A27DB-BD31-4B8C-83A1-F6EECF244321}">
                <p14:modId xmlns:p14="http://schemas.microsoft.com/office/powerpoint/2010/main" val="2514561396"/>
              </p:ext>
            </p:extLst>
          </p:nvPr>
        </p:nvGraphicFramePr>
        <p:xfrm>
          <a:off x="536067" y="601980"/>
          <a:ext cx="11091672" cy="2907792"/>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347472">
                <a:tc>
                  <a:txBody>
                    <a:bodyPr/>
                    <a:lstStyle/>
                    <a:p>
                      <a:pPr algn="just"/>
                      <a:r>
                        <a:rPr sz="1000" b="1" i="0" dirty="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dirty="0" lang="es-SV">
                          <a:solidFill>
                            <a:srgbClr val="FFFFFF"/>
                          </a:solidFill>
                          <a:latin typeface="Arial"/>
                        </a:rPr>
                        <a:t>Dice (V03 </a:t>
                      </a:r>
                      <a:r>
                        <a:rPr sz="1000" b="1" i="0" dirty="0" lang="es-SV">
                          <a:solidFill>
                            <a:srgbClr val="FFFFFF"/>
                          </a:solidFill>
                          <a:latin typeface="Arial"/>
                        </a:rPr>
                        <a:t>vigente</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dirty="0" lang="es-SV">
                          <a:solidFill>
                            <a:srgbClr val="FFFFFF"/>
                          </a:solidFill>
                          <a:latin typeface="Arial"/>
                        </a:rPr>
                        <a:t>Debe </a:t>
                      </a:r>
                      <a:r>
                        <a:rPr sz="1000" b="1" i="0" dirty="0" lang="es-SV">
                          <a:solidFill>
                            <a:srgbClr val="FFFFFF"/>
                          </a:solidFill>
                          <a:latin typeface="Arial"/>
                        </a:rPr>
                        <a:t>decir</a:t>
                      </a:r>
                      <a:r>
                        <a:rPr sz="1000" b="1" i="0" dirty="0" lang="es-SV">
                          <a:solidFill>
                            <a:srgbClr val="FFFFFF"/>
                          </a:solidFill>
                          <a:latin typeface="Arial"/>
                        </a:rPr>
                        <a:t> (V04 </a:t>
                      </a:r>
                      <a:r>
                        <a:rPr sz="1000" b="1" i="0" dirty="0" lang="es-SV">
                          <a:solidFill>
                            <a:srgbClr val="FFFFFF"/>
                          </a:solidFill>
                          <a:latin typeface="Arial"/>
                        </a:rPr>
                        <a:t>propuesta</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Mejora y base normativa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74320">
                <a:tc>
                  <a:txBody>
                    <a:bodyPr/>
                    <a:lstStyle/>
                    <a:p>
                      <a:pPr algn="just"/>
                      <a:r>
                        <a:rPr sz="1000" b="1" i="0" lang="es-SV">
                          <a:solidFill>
                            <a:srgbClr val="00376E"/>
                          </a:solidFill>
                          <a:latin typeface="Arial"/>
                        </a:rPr>
                        <a:t>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Tercerización</a:t>
                      </a:r>
                      <a:r>
                        <a:rPr sz="1000" b="0" i="0" dirty="0" lang="es-SV">
                          <a:solidFill>
                            <a:srgbClr val="1B2333"/>
                          </a:solidFill>
                          <a:latin typeface="Arial"/>
                        </a:rPr>
                        <a:t> de </a:t>
                      </a:r>
                      <a:r>
                        <a:rPr sz="1000" b="0" i="0" dirty="0" lang="es-SV">
                          <a:solidFill>
                            <a:srgbClr val="1B2333"/>
                          </a:solidFill>
                          <a:latin typeface="Arial"/>
                        </a:rPr>
                        <a:t>actividades</a:t>
                      </a:r>
                      <a:r>
                        <a:rPr sz="1000" b="0" i="0" dirty="0" lang="es-SV">
                          <a:solidFill>
                            <a:srgbClr val="1B2333"/>
                          </a:solidFill>
                          <a:latin typeface="Arial"/>
                        </a:rPr>
                        <a:t>: Es </a:t>
                      </a:r>
                      <a:r>
                        <a:rPr sz="1000" b="0" i="0" dirty="0" lang="es-SV">
                          <a:solidFill>
                            <a:srgbClr val="1B2333"/>
                          </a:solidFill>
                          <a:latin typeface="Arial"/>
                        </a:rPr>
                        <a:t>cuando</a:t>
                      </a:r>
                      <a:r>
                        <a:rPr sz="1000" b="0" i="0" dirty="0" lang="es-SV">
                          <a:solidFill>
                            <a:srgbClr val="1B2333"/>
                          </a:solidFill>
                          <a:latin typeface="Arial"/>
                        </a:rPr>
                        <a:t> la </a:t>
                      </a:r>
                      <a:r>
                        <a:rPr sz="1000" b="0" i="0" dirty="0" lang="es-SV">
                          <a:solidFill>
                            <a:srgbClr val="1B2333"/>
                          </a:solidFill>
                          <a:latin typeface="Arial"/>
                        </a:rPr>
                        <a:t>realización</a:t>
                      </a:r>
                      <a:r>
                        <a:rPr sz="1000" b="0" i="0" dirty="0" lang="es-SV">
                          <a:solidFill>
                            <a:srgbClr val="1B2333"/>
                          </a:solidFill>
                          <a:latin typeface="Arial"/>
                        </a:rPr>
                        <a:t> de </a:t>
                      </a:r>
                      <a:r>
                        <a:rPr sz="1000" b="0" i="0" dirty="0" lang="es-SV">
                          <a:solidFill>
                            <a:srgbClr val="1B2333"/>
                          </a:solidFill>
                          <a:latin typeface="Arial"/>
                        </a:rPr>
                        <a:t>una</a:t>
                      </a:r>
                      <a:r>
                        <a:rPr sz="1000" b="0" i="0" dirty="0" lang="es-SV">
                          <a:solidFill>
                            <a:srgbClr val="1B2333"/>
                          </a:solidFill>
                          <a:latin typeface="Arial"/>
                        </a:rPr>
                        <a:t> o </a:t>
                      </a:r>
                      <a:r>
                        <a:rPr sz="1000" b="0" i="0" dirty="0" lang="es-SV">
                          <a:solidFill>
                            <a:srgbClr val="1B2333"/>
                          </a:solidFill>
                          <a:latin typeface="Arial"/>
                        </a:rPr>
                        <a:t>más</a:t>
                      </a:r>
                      <a:r>
                        <a:rPr sz="1000" b="0" i="0" dirty="0" lang="es-SV">
                          <a:solidFill>
                            <a:srgbClr val="1B2333"/>
                          </a:solidFill>
                          <a:latin typeface="Arial"/>
                        </a:rPr>
                        <a:t> partes de la </a:t>
                      </a:r>
                      <a:r>
                        <a:rPr sz="1000" b="0" i="0" dirty="0" lang="es-SV">
                          <a:solidFill>
                            <a:srgbClr val="1B2333"/>
                          </a:solidFill>
                          <a:latin typeface="Arial"/>
                        </a:rPr>
                        <a:t>actividad</a:t>
                      </a:r>
                      <a:r>
                        <a:rPr sz="1000" b="0" i="0" dirty="0" lang="es-SV">
                          <a:solidFill>
                            <a:srgbClr val="1B2333"/>
                          </a:solidFill>
                          <a:latin typeface="Arial"/>
                        </a:rPr>
                        <a:t> principal del </a:t>
                      </a:r>
                      <a:r>
                        <a:rPr sz="1000" b="0" i="0" dirty="0" lang="es-SV">
                          <a:solidFill>
                            <a:srgbClr val="1B2333"/>
                          </a:solidFill>
                          <a:latin typeface="Arial"/>
                        </a:rPr>
                        <a:t>negocio</a:t>
                      </a:r>
                      <a:r>
                        <a:rPr sz="1000" b="0" i="0" dirty="0" lang="es-SV">
                          <a:solidFill>
                            <a:srgbClr val="1B2333"/>
                          </a:solidFill>
                          <a:latin typeface="Arial"/>
                        </a:rPr>
                        <a:t>, se </a:t>
                      </a:r>
                      <a:r>
                        <a:rPr sz="1000" b="0" i="0" dirty="0" lang="es-SV">
                          <a:solidFill>
                            <a:srgbClr val="1B2333"/>
                          </a:solidFill>
                          <a:latin typeface="Arial"/>
                        </a:rPr>
                        <a:t>delega</a:t>
                      </a:r>
                      <a:r>
                        <a:rPr sz="1000" b="0" i="0" dirty="0" lang="es-SV">
                          <a:solidFill>
                            <a:srgbClr val="1B2333"/>
                          </a:solidFill>
                          <a:latin typeface="Arial"/>
                        </a:rPr>
                        <a:t> a un </a:t>
                      </a:r>
                      <a:r>
                        <a:rPr sz="1000" b="0" i="0" dirty="0" lang="es-SV">
                          <a:solidFill>
                            <a:srgbClr val="1B2333"/>
                          </a:solidFill>
                          <a:latin typeface="Arial"/>
                        </a:rPr>
                        <a:t>tercero</a:t>
                      </a:r>
                      <a:r>
                        <a:rPr sz="1000" b="0" i="0" dirty="0" lang="es-SV">
                          <a:solidFill>
                            <a:srgbClr val="1B2333"/>
                          </a:solidFill>
                          <a:latin typeface="Arial"/>
                        </a:rPr>
                        <a:t>, </a:t>
                      </a:r>
                      <a:r>
                        <a:rPr sz="1000" b="0" i="0" dirty="0" lang="es-SV">
                          <a:solidFill>
                            <a:srgbClr val="1B2333"/>
                          </a:solidFill>
                          <a:latin typeface="Arial"/>
                        </a:rPr>
                        <a:t>quien</a:t>
                      </a:r>
                      <a:r>
                        <a:rPr sz="1000" b="0" i="0" dirty="0" lang="es-SV">
                          <a:solidFill>
                            <a:srgbClr val="1B2333"/>
                          </a:solidFill>
                          <a:latin typeface="Arial"/>
                        </a:rPr>
                        <a:t> </a:t>
                      </a:r>
                      <a:r>
                        <a:rPr sz="1000" b="0" i="0" dirty="0" lang="es-SV">
                          <a:solidFill>
                            <a:srgbClr val="1B2333"/>
                          </a:solidFill>
                          <a:latin typeface="Arial"/>
                        </a:rPr>
                        <a:t>asume</a:t>
                      </a:r>
                      <a:r>
                        <a:rPr sz="1000" b="0" i="0" dirty="0" lang="es-SV">
                          <a:solidFill>
                            <a:srgbClr val="1B2333"/>
                          </a:solidFill>
                          <a:latin typeface="Arial"/>
                        </a:rPr>
                        <a:t> las </a:t>
                      </a:r>
                      <a:r>
                        <a:rPr sz="1000" b="0" i="0" dirty="0" lang="es-SV">
                          <a:solidFill>
                            <a:srgbClr val="1B2333"/>
                          </a:solidFill>
                          <a:latin typeface="Arial"/>
                        </a:rPr>
                        <a:t>actividades</a:t>
                      </a:r>
                      <a:r>
                        <a:rPr sz="1000" b="0" i="0" dirty="0" lang="es-SV">
                          <a:solidFill>
                            <a:srgbClr val="1B2333"/>
                          </a:solidFill>
                          <a:latin typeface="Arial"/>
                        </a:rPr>
                        <a:t> </a:t>
                      </a:r>
                      <a:r>
                        <a:rPr sz="1000" b="0" i="0" dirty="0" lang="es-SV">
                          <a:solidFill>
                            <a:srgbClr val="1B2333"/>
                          </a:solidFill>
                          <a:latin typeface="Arial"/>
                        </a:rPr>
                        <a:t>por</a:t>
                      </a:r>
                      <a:r>
                        <a:rPr sz="1000" b="0" i="0" dirty="0" lang="es-SV">
                          <a:solidFill>
                            <a:srgbClr val="1B2333"/>
                          </a:solidFill>
                          <a:latin typeface="Arial"/>
                        </a:rPr>
                        <a:t> </a:t>
                      </a:r>
                      <a:r>
                        <a:rPr sz="1000" b="0" i="0" dirty="0" lang="es-SV">
                          <a:solidFill>
                            <a:srgbClr val="1B2333"/>
                          </a:solidFill>
                          <a:latin typeface="Arial"/>
                        </a:rPr>
                        <a:t>su</a:t>
                      </a:r>
                      <a:r>
                        <a:rPr sz="1000" b="0" i="0" dirty="0" lang="es-SV">
                          <a:solidFill>
                            <a:srgbClr val="1B2333"/>
                          </a:solidFill>
                          <a:latin typeface="Arial"/>
                        </a:rPr>
                        <a:t> </a:t>
                      </a:r>
                      <a:r>
                        <a:rPr sz="1000" b="0" i="0" dirty="0" lang="es-SV">
                          <a:solidFill>
                            <a:srgbClr val="1B2333"/>
                          </a:solidFill>
                          <a:latin typeface="Arial"/>
                        </a:rPr>
                        <a:t>cuenta</a:t>
                      </a:r>
                      <a:r>
                        <a:rPr sz="1000" b="0" i="0" dirty="0" lang="es-SV">
                          <a:solidFill>
                            <a:srgbClr val="1B2333"/>
                          </a:solidFill>
                          <a:latin typeface="Arial"/>
                        </a:rPr>
                        <a:t> y </a:t>
                      </a:r>
                      <a:r>
                        <a:rPr sz="1000" b="0" i="0" dirty="0" lang="es-SV">
                          <a:solidFill>
                            <a:srgbClr val="1B2333"/>
                          </a:solidFill>
                          <a:latin typeface="Arial"/>
                        </a:rPr>
                        <a:t>riesgo</a:t>
                      </a:r>
                      <a:r>
                        <a:rPr sz="1000" b="0" i="0" dirty="0" lang="es-SV">
                          <a:solidFill>
                            <a:srgbClr val="1B2333"/>
                          </a:solidFill>
                          <a:latin typeface="Arial"/>
                        </a:rPr>
                        <a:t>, y </a:t>
                      </a:r>
                      <a:r>
                        <a:rPr sz="1000" b="0" i="0" dirty="0" lang="es-SV">
                          <a:solidFill>
                            <a:srgbClr val="1B2333"/>
                          </a:solidFill>
                          <a:latin typeface="Arial"/>
                        </a:rPr>
                        <a:t>que</a:t>
                      </a:r>
                      <a:r>
                        <a:rPr sz="1000" b="0" i="0" dirty="0" lang="es-SV">
                          <a:solidFill>
                            <a:srgbClr val="1B2333"/>
                          </a:solidFill>
                          <a:latin typeface="Arial"/>
                        </a:rPr>
                        <a:t> </a:t>
                      </a:r>
                      <a:r>
                        <a:rPr sz="1000" b="0" i="0" dirty="0" lang="es-SV">
                          <a:solidFill>
                            <a:srgbClr val="1B2333"/>
                          </a:solidFill>
                          <a:latin typeface="Arial"/>
                        </a:rPr>
                        <a:t>además</a:t>
                      </a:r>
                      <a:r>
                        <a:rPr sz="1000" b="0" i="0" dirty="0" lang="es-SV">
                          <a:solidFill>
                            <a:srgbClr val="1B2333"/>
                          </a:solidFill>
                          <a:latin typeface="Arial"/>
                        </a:rPr>
                        <a:t> </a:t>
                      </a:r>
                      <a:r>
                        <a:rPr sz="1000" b="0" i="0" dirty="0" lang="es-SV">
                          <a:solidFill>
                            <a:srgbClr val="1B2333"/>
                          </a:solidFill>
                          <a:latin typeface="Arial"/>
                        </a:rPr>
                        <a:t>cuenta</a:t>
                      </a:r>
                      <a:r>
                        <a:rPr sz="1000" b="0" i="0" dirty="0" lang="es-SV">
                          <a:solidFill>
                            <a:srgbClr val="1B2333"/>
                          </a:solidFill>
                          <a:latin typeface="Arial"/>
                        </a:rPr>
                        <a:t> con sus </a:t>
                      </a:r>
                      <a:r>
                        <a:rPr sz="1000" b="0" i="0" dirty="0" lang="es-SV">
                          <a:solidFill>
                            <a:srgbClr val="1B2333"/>
                          </a:solidFill>
                          <a:latin typeface="Arial"/>
                        </a:rPr>
                        <a:t>propios</a:t>
                      </a:r>
                      <a:r>
                        <a:rPr sz="1000" b="0" i="0" dirty="0" lang="es-SV">
                          <a:solidFill>
                            <a:srgbClr val="1B2333"/>
                          </a:solidFill>
                          <a:latin typeface="Arial"/>
                        </a:rPr>
                        <a:t> </a:t>
                      </a:r>
                      <a:r>
                        <a:rPr sz="1000" b="0" i="0" dirty="0" lang="es-SV">
                          <a:solidFill>
                            <a:srgbClr val="1B2333"/>
                          </a:solidFill>
                          <a:latin typeface="Arial"/>
                        </a:rPr>
                        <a:t>recursos</a:t>
                      </a:r>
                      <a:r>
                        <a:rPr sz="1000" b="0" i="0" dirty="0" lang="es-SV">
                          <a:solidFill>
                            <a:srgbClr val="1B2333"/>
                          </a:solidFill>
                          <a:latin typeface="Arial"/>
                        </a:rPr>
                        <a:t> </a:t>
                      </a:r>
                      <a:r>
                        <a:rPr sz="1000" b="0" i="0" dirty="0" lang="es-SV">
                          <a:solidFill>
                            <a:srgbClr val="1B2333"/>
                          </a:solidFill>
                          <a:latin typeface="Arial"/>
                        </a:rPr>
                        <a:t>financieros</a:t>
                      </a:r>
                      <a:r>
                        <a:rPr sz="1000" b="0" i="0" dirty="0" lang="es-SV">
                          <a:solidFill>
                            <a:srgbClr val="1B2333"/>
                          </a:solidFill>
                          <a:latin typeface="Arial"/>
                        </a:rPr>
                        <a:t>, </a:t>
                      </a:r>
                      <a:r>
                        <a:rPr sz="1000" b="0" i="0" dirty="0" lang="es-SV">
                          <a:solidFill>
                            <a:srgbClr val="1B2333"/>
                          </a:solidFill>
                          <a:latin typeface="Arial"/>
                        </a:rPr>
                        <a:t>técnicos</a:t>
                      </a:r>
                      <a:r>
                        <a:rPr sz="1000" b="0" i="0" dirty="0" lang="es-SV">
                          <a:solidFill>
                            <a:srgbClr val="1B2333"/>
                          </a:solidFill>
                          <a:latin typeface="Arial"/>
                        </a:rPr>
                        <a:t> y </a:t>
                      </a:r>
                      <a:r>
                        <a:rPr sz="1000" b="0" i="0" dirty="0" lang="es-SV">
                          <a:solidFill>
                            <a:srgbClr val="1B2333"/>
                          </a:solidFill>
                          <a:latin typeface="Arial"/>
                        </a:rPr>
                        <a:t>materiales</a:t>
                      </a:r>
                      <a:r>
                        <a:rPr sz="1000" b="0" i="0" dirty="0" lang="es-SV">
                          <a:solidFill>
                            <a:srgbClr val="1B2333"/>
                          </a:solidFill>
                          <a:latin typeface="Arial"/>
                        </a:rPr>
                        <a:t>. En </a:t>
                      </a:r>
                      <a:r>
                        <a:rPr sz="1000" b="0" i="0" dirty="0" lang="es-SV">
                          <a:solidFill>
                            <a:srgbClr val="1B2333"/>
                          </a:solidFill>
                          <a:latin typeface="Arial"/>
                        </a:rPr>
                        <a:t>consecuencia</a:t>
                      </a:r>
                      <a:r>
                        <a:rPr sz="1000" b="0" i="0" dirty="0" lang="es-SV">
                          <a:solidFill>
                            <a:srgbClr val="1B2333"/>
                          </a:solidFill>
                          <a:latin typeface="Arial"/>
                        </a:rPr>
                        <a:t>, es </a:t>
                      </a:r>
                      <a:r>
                        <a:rPr sz="1000" b="0" i="0" dirty="0" lang="es-SV">
                          <a:solidFill>
                            <a:srgbClr val="1B2333"/>
                          </a:solidFill>
                          <a:latin typeface="Arial"/>
                        </a:rPr>
                        <a:t>responsable</a:t>
                      </a:r>
                      <a:r>
                        <a:rPr sz="1000" b="0" i="0" dirty="0" lang="es-SV">
                          <a:solidFill>
                            <a:srgbClr val="1B2333"/>
                          </a:solidFill>
                          <a:latin typeface="Arial"/>
                        </a:rPr>
                        <a:t> de </a:t>
                      </a:r>
                      <a:r>
                        <a:rPr sz="1000" b="0" i="0" dirty="0" lang="es-SV">
                          <a:solidFill>
                            <a:srgbClr val="1B2333"/>
                          </a:solidFill>
                          <a:latin typeface="Arial"/>
                        </a:rPr>
                        <a:t>los</a:t>
                      </a:r>
                      <a:r>
                        <a:rPr sz="1000" b="0" i="0" dirty="0" lang="es-SV">
                          <a:solidFill>
                            <a:srgbClr val="1B2333"/>
                          </a:solidFill>
                          <a:latin typeface="Arial"/>
                        </a:rPr>
                        <a:t> </a:t>
                      </a:r>
                      <a:r>
                        <a:rPr sz="1000" b="0" i="0" dirty="0" lang="es-SV">
                          <a:solidFill>
                            <a:srgbClr val="1B2333"/>
                          </a:solidFill>
                          <a:latin typeface="Arial"/>
                        </a:rPr>
                        <a:t>resultados</a:t>
                      </a:r>
                      <a:r>
                        <a:rPr sz="1000" b="0" i="0" dirty="0" lang="es-SV">
                          <a:solidFill>
                            <a:srgbClr val="1B2333"/>
                          </a:solidFill>
                          <a:latin typeface="Arial"/>
                        </a:rPr>
                        <a:t> de sus </a:t>
                      </a:r>
                      <a:r>
                        <a:rPr sz="1000" b="0" i="0" dirty="0" lang="es-SV">
                          <a:solidFill>
                            <a:srgbClr val="1B2333"/>
                          </a:solidFill>
                          <a:latin typeface="Arial"/>
                        </a:rPr>
                        <a:t>actividades</a:t>
                      </a:r>
                      <a:r>
                        <a:rPr sz="1000" b="0" i="0" dirty="0" lang="es-SV">
                          <a:solidFill>
                            <a:srgbClr val="1B2333"/>
                          </a:solidFill>
                          <a:latin typeface="Arial"/>
                        </a:rPr>
                        <a:t>, y del personal a </a:t>
                      </a:r>
                      <a:r>
                        <a:rPr sz="1000" b="0" i="0" dirty="0" lang="es-SV">
                          <a:solidFill>
                            <a:srgbClr val="1B2333"/>
                          </a:solidFill>
                          <a:latin typeface="Arial"/>
                        </a:rPr>
                        <a:t>su</a:t>
                      </a:r>
                      <a:r>
                        <a:rPr sz="1000" b="0" i="0" dirty="0" lang="es-SV">
                          <a:solidFill>
                            <a:srgbClr val="1B2333"/>
                          </a:solidFill>
                          <a:latin typeface="Arial"/>
                        </a:rPr>
                        <a:t> cargo.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dirty="0" lang="es-SV">
                          <a:solidFill>
                            <a:srgbClr val="00376E"/>
                          </a:solidFill>
                          <a:latin typeface="Arial"/>
                        </a:rPr>
                        <a:t>Tercerización</a:t>
                      </a:r>
                      <a:r>
                        <a:rPr sz="1000" b="1" i="0" u="sng" dirty="0" lang="es-SV">
                          <a:solidFill>
                            <a:srgbClr val="00376E"/>
                          </a:solidFill>
                          <a:latin typeface="Arial"/>
                        </a:rPr>
                        <a:t> de </a:t>
                      </a:r>
                      <a:r>
                        <a:rPr sz="1000" b="1" i="0" u="sng" dirty="0" lang="es-SV">
                          <a:solidFill>
                            <a:srgbClr val="00376E"/>
                          </a:solidFill>
                          <a:latin typeface="Arial"/>
                        </a:rPr>
                        <a:t>servicios</a:t>
                      </a:r>
                      <a:r>
                        <a:rPr sz="1000" b="1" i="0" u="sng" dirty="0" lang="es-SV">
                          <a:solidFill>
                            <a:srgbClr val="00376E"/>
                          </a:solidFill>
                          <a:latin typeface="Arial"/>
                        </a:rPr>
                        <a:t>: Se produce </a:t>
                      </a:r>
                      <a:r>
                        <a:rPr sz="1000" b="1" i="0" u="sng" dirty="0" lang="es-SV">
                          <a:solidFill>
                            <a:srgbClr val="00376E"/>
                          </a:solidFill>
                          <a:latin typeface="Arial"/>
                        </a:rPr>
                        <a:t>cuando</a:t>
                      </a:r>
                      <a:r>
                        <a:rPr sz="1000" b="1" i="0" u="sng" dirty="0" lang="es-SV">
                          <a:solidFill>
                            <a:srgbClr val="00376E"/>
                          </a:solidFill>
                          <a:latin typeface="Arial"/>
                        </a:rPr>
                        <a:t> la </a:t>
                      </a:r>
                      <a:r>
                        <a:rPr sz="1000" b="1" i="0" u="sng" dirty="0" lang="es-SV">
                          <a:solidFill>
                            <a:srgbClr val="00376E"/>
                          </a:solidFill>
                          <a:latin typeface="Arial"/>
                        </a:rPr>
                        <a:t>entidad</a:t>
                      </a:r>
                      <a:r>
                        <a:rPr sz="1000" b="1" i="0" u="sng" dirty="0" lang="es-SV">
                          <a:solidFill>
                            <a:srgbClr val="00376E"/>
                          </a:solidFill>
                          <a:latin typeface="Arial"/>
                        </a:rPr>
                        <a:t> </a:t>
                      </a:r>
                      <a:r>
                        <a:rPr sz="1000" b="1" i="0" u="sng" dirty="0" lang="es-SV">
                          <a:solidFill>
                            <a:srgbClr val="00376E"/>
                          </a:solidFill>
                          <a:latin typeface="Arial"/>
                        </a:rPr>
                        <a:t>encarga</a:t>
                      </a:r>
                      <a:r>
                        <a:rPr sz="1000" b="1" i="0" u="sng" dirty="0" lang="es-SV">
                          <a:solidFill>
                            <a:srgbClr val="00376E"/>
                          </a:solidFill>
                          <a:latin typeface="Arial"/>
                        </a:rPr>
                        <a:t> la </a:t>
                      </a:r>
                      <a:r>
                        <a:rPr sz="1000" b="1" i="0" u="sng" dirty="0" lang="es-SV">
                          <a:solidFill>
                            <a:srgbClr val="00376E"/>
                          </a:solidFill>
                          <a:latin typeface="Arial"/>
                        </a:rPr>
                        <a:t>realización</a:t>
                      </a:r>
                      <a:r>
                        <a:rPr sz="1000" b="1" i="0" u="sng" dirty="0" lang="es-SV">
                          <a:solidFill>
                            <a:srgbClr val="00376E"/>
                          </a:solidFill>
                          <a:latin typeface="Arial"/>
                        </a:rPr>
                        <a:t> de un </a:t>
                      </a:r>
                      <a:r>
                        <a:rPr sz="1000" b="1" i="0" u="sng" dirty="0" lang="es-SV">
                          <a:solidFill>
                            <a:srgbClr val="00376E"/>
                          </a:solidFill>
                          <a:latin typeface="Arial"/>
                        </a:rPr>
                        <a:t>proceso</a:t>
                      </a:r>
                      <a:r>
                        <a:rPr sz="1000" b="1" i="0" u="sng" dirty="0" lang="es-SV">
                          <a:solidFill>
                            <a:srgbClr val="00376E"/>
                          </a:solidFill>
                          <a:latin typeface="Arial"/>
                        </a:rPr>
                        <a:t> a un </a:t>
                      </a:r>
                      <a:r>
                        <a:rPr sz="1000" b="1" i="0" u="sng" dirty="0" lang="es-SV">
                          <a:solidFill>
                            <a:srgbClr val="00376E"/>
                          </a:solidFill>
                          <a:latin typeface="Arial"/>
                        </a:rPr>
                        <a:t>tercero</a:t>
                      </a:r>
                      <a:r>
                        <a:rPr sz="1000" b="1" i="0" u="sng" dirty="0" lang="es-SV">
                          <a:solidFill>
                            <a:srgbClr val="00376E"/>
                          </a:solidFill>
                          <a:latin typeface="Arial"/>
                        </a:rPr>
                        <a:t>, es </a:t>
                      </a:r>
                      <a:r>
                        <a:rPr sz="1000" b="1" i="0" u="sng" dirty="0" lang="es-SV">
                          <a:solidFill>
                            <a:srgbClr val="00376E"/>
                          </a:solidFill>
                          <a:latin typeface="Arial"/>
                        </a:rPr>
                        <a:t>decir</a:t>
                      </a:r>
                      <a:r>
                        <a:rPr sz="1000" b="1" i="0" u="sng" dirty="0" lang="es-SV">
                          <a:solidFill>
                            <a:srgbClr val="00376E"/>
                          </a:solidFill>
                          <a:latin typeface="Arial"/>
                        </a:rPr>
                        <a:t>, a </a:t>
                      </a:r>
                      <a:r>
                        <a:rPr sz="1000" b="1" i="0" u="sng" dirty="0" lang="es-SV">
                          <a:solidFill>
                            <a:srgbClr val="00376E"/>
                          </a:solidFill>
                          <a:latin typeface="Arial"/>
                        </a:rPr>
                        <a:t>una</a:t>
                      </a:r>
                      <a:r>
                        <a:rPr sz="1000" b="1" i="0" u="sng" dirty="0" lang="es-SV">
                          <a:solidFill>
                            <a:srgbClr val="00376E"/>
                          </a:solidFill>
                          <a:latin typeface="Arial"/>
                        </a:rPr>
                        <a:t> persona natural o </a:t>
                      </a:r>
                      <a:r>
                        <a:rPr sz="1000" b="1" i="0" u="sng" dirty="0" lang="es-SV">
                          <a:solidFill>
                            <a:srgbClr val="00376E"/>
                          </a:solidFill>
                          <a:latin typeface="Arial"/>
                        </a:rPr>
                        <a:t>jurídica</a:t>
                      </a:r>
                      <a:r>
                        <a:rPr sz="1000" b="1" i="0" u="sng" dirty="0" lang="es-SV">
                          <a:solidFill>
                            <a:srgbClr val="00376E"/>
                          </a:solidFill>
                          <a:latin typeface="Arial"/>
                        </a:rPr>
                        <a:t> </a:t>
                      </a:r>
                      <a:r>
                        <a:rPr sz="1000" b="1" i="0" u="sng" dirty="0" lang="es-SV">
                          <a:solidFill>
                            <a:srgbClr val="00376E"/>
                          </a:solidFill>
                          <a:latin typeface="Arial"/>
                        </a:rPr>
                        <a:t>distinta</a:t>
                      </a:r>
                      <a:r>
                        <a:rPr sz="1000" b="1" i="0" u="sng" dirty="0" lang="es-SV">
                          <a:solidFill>
                            <a:srgbClr val="00376E"/>
                          </a:solidFill>
                          <a:latin typeface="Arial"/>
                        </a:rPr>
                        <a:t> a la </a:t>
                      </a:r>
                      <a:r>
                        <a:rPr sz="1000" b="1" i="0" u="sng" dirty="0" lang="es-SV">
                          <a:solidFill>
                            <a:srgbClr val="00376E"/>
                          </a:solidFill>
                          <a:latin typeface="Arial"/>
                        </a:rPr>
                        <a:t>entidad</a:t>
                      </a:r>
                      <a:r>
                        <a:rPr sz="1000" b="1" i="0" u="sng" dirty="0" lang="es-SV">
                          <a:solidFill>
                            <a:srgbClr val="00376E"/>
                          </a:solidFill>
                          <a:latin typeface="Arial"/>
                        </a:rPr>
                        <a:t>.</a:t>
                      </a:r>
                    </a:p>
                    <a:p>
                      <a:pPr algn="just"/>
                      <a:r>
                        <a:rPr sz="1000" b="1" i="0" u="sng" dirty="0" lang="es-SV">
                          <a:solidFill>
                            <a:srgbClr val="00376E"/>
                          </a:solidFill>
                          <a:latin typeface="Arial"/>
                        </a:rPr>
                        <a:t>Tercerización</a:t>
                      </a:r>
                      <a:r>
                        <a:rPr sz="1000" b="1" i="0" u="sng" dirty="0" lang="es-SV">
                          <a:solidFill>
                            <a:srgbClr val="00376E"/>
                          </a:solidFill>
                          <a:latin typeface="Arial"/>
                        </a:rPr>
                        <a:t> de </a:t>
                      </a:r>
                      <a:r>
                        <a:rPr sz="1000" b="1" i="0" u="sng" dirty="0" lang="es-SV">
                          <a:solidFill>
                            <a:srgbClr val="00376E"/>
                          </a:solidFill>
                          <a:latin typeface="Arial"/>
                        </a:rPr>
                        <a:t>actividades</a:t>
                      </a:r>
                      <a:r>
                        <a:rPr sz="1000" b="1" i="0" u="sng" dirty="0" lang="es-SV">
                          <a:solidFill>
                            <a:srgbClr val="00376E"/>
                          </a:solidFill>
                          <a:latin typeface="Arial"/>
                        </a:rPr>
                        <a:t>, </a:t>
                      </a:r>
                      <a:r>
                        <a:rPr sz="1000" b="1" i="0" u="sng" dirty="0" lang="es-SV">
                          <a:solidFill>
                            <a:srgbClr val="00376E"/>
                          </a:solidFill>
                          <a:latin typeface="Arial"/>
                        </a:rPr>
                        <a:t>operaciones</a:t>
                      </a:r>
                      <a:r>
                        <a:rPr sz="1000" b="1" i="0" u="sng" dirty="0" lang="es-SV">
                          <a:solidFill>
                            <a:srgbClr val="00376E"/>
                          </a:solidFill>
                          <a:latin typeface="Arial"/>
                        </a:rPr>
                        <a:t> o </a:t>
                      </a:r>
                      <a:r>
                        <a:rPr sz="1000" b="1" i="0" u="sng" dirty="0" lang="es-SV">
                          <a:solidFill>
                            <a:srgbClr val="00376E"/>
                          </a:solidFill>
                          <a:latin typeface="Arial"/>
                        </a:rPr>
                        <a:t>procesos</a:t>
                      </a:r>
                      <a:r>
                        <a:rPr sz="1000" b="1" i="0" u="sng" dirty="0" lang="es-SV">
                          <a:solidFill>
                            <a:srgbClr val="00376E"/>
                          </a:solidFill>
                          <a:latin typeface="Arial"/>
                        </a:rPr>
                        <a:t> de </a:t>
                      </a:r>
                      <a:r>
                        <a:rPr sz="1000" b="1" i="0" u="sng" dirty="0" lang="es-SV">
                          <a:solidFill>
                            <a:srgbClr val="00376E"/>
                          </a:solidFill>
                          <a:latin typeface="Arial"/>
                        </a:rPr>
                        <a:t>tecnologías</a:t>
                      </a:r>
                      <a:r>
                        <a:rPr sz="1000" b="1" i="0" u="sng" dirty="0" lang="es-SV">
                          <a:solidFill>
                            <a:srgbClr val="00376E"/>
                          </a:solidFill>
                          <a:latin typeface="Arial"/>
                        </a:rPr>
                        <a:t> de la </a:t>
                      </a:r>
                      <a:r>
                        <a:rPr sz="1000" b="1" i="0" u="sng" dirty="0" lang="es-SV">
                          <a:solidFill>
                            <a:srgbClr val="00376E"/>
                          </a:solidFill>
                          <a:latin typeface="Arial"/>
                        </a:rPr>
                        <a:t>información</a:t>
                      </a:r>
                      <a:r>
                        <a:rPr sz="1000" b="1" i="0" u="sng" dirty="0" lang="es-SV">
                          <a:solidFill>
                            <a:srgbClr val="00376E"/>
                          </a:solidFill>
                          <a:latin typeface="Arial"/>
                        </a:rPr>
                        <a:t>: Se produce </a:t>
                      </a:r>
                      <a:r>
                        <a:rPr sz="1000" b="1" i="0" u="sng" dirty="0" lang="es-SV">
                          <a:solidFill>
                            <a:srgbClr val="00376E"/>
                          </a:solidFill>
                          <a:latin typeface="Arial"/>
                        </a:rPr>
                        <a:t>cuando</a:t>
                      </a:r>
                      <a:r>
                        <a:rPr sz="1000" b="1" i="0" u="sng" dirty="0" lang="es-SV">
                          <a:solidFill>
                            <a:srgbClr val="00376E"/>
                          </a:solidFill>
                          <a:latin typeface="Arial"/>
                        </a:rPr>
                        <a:t> la </a:t>
                      </a:r>
                      <a:r>
                        <a:rPr sz="1000" b="1" i="0" u="sng" dirty="0" lang="es-SV">
                          <a:solidFill>
                            <a:srgbClr val="00376E"/>
                          </a:solidFill>
                          <a:latin typeface="Arial"/>
                        </a:rPr>
                        <a:t>entidad</a:t>
                      </a:r>
                      <a:r>
                        <a:rPr sz="1000" b="1" i="0" u="sng" dirty="0" lang="es-SV">
                          <a:solidFill>
                            <a:srgbClr val="00376E"/>
                          </a:solidFill>
                          <a:latin typeface="Arial"/>
                        </a:rPr>
                        <a:t> </a:t>
                      </a:r>
                      <a:r>
                        <a:rPr sz="1000" b="1" i="0" u="sng" dirty="0" lang="es-SV">
                          <a:solidFill>
                            <a:srgbClr val="00376E"/>
                          </a:solidFill>
                          <a:latin typeface="Arial"/>
                        </a:rPr>
                        <a:t>encarga</a:t>
                      </a:r>
                      <a:r>
                        <a:rPr sz="1000" b="1" i="0" u="sng" dirty="0" lang="es-SV">
                          <a:solidFill>
                            <a:srgbClr val="00376E"/>
                          </a:solidFill>
                          <a:latin typeface="Arial"/>
                        </a:rPr>
                        <a:t> la </a:t>
                      </a:r>
                      <a:r>
                        <a:rPr sz="1000" b="1" i="0" u="sng" dirty="0" lang="es-SV">
                          <a:solidFill>
                            <a:srgbClr val="00376E"/>
                          </a:solidFill>
                          <a:latin typeface="Arial"/>
                        </a:rPr>
                        <a:t>realización</a:t>
                      </a:r>
                      <a:r>
                        <a:rPr sz="1000" b="1" i="0" u="sng" dirty="0" lang="es-SV">
                          <a:solidFill>
                            <a:srgbClr val="00376E"/>
                          </a:solidFill>
                          <a:latin typeface="Arial"/>
                        </a:rPr>
                        <a:t> de </a:t>
                      </a:r>
                      <a:r>
                        <a:rPr sz="1000" b="1" i="0" u="sng" dirty="0" lang="es-SV">
                          <a:solidFill>
                            <a:srgbClr val="00376E"/>
                          </a:solidFill>
                          <a:latin typeface="Arial"/>
                        </a:rPr>
                        <a:t>actividades</a:t>
                      </a:r>
                      <a:r>
                        <a:rPr sz="1000" b="1" i="0" u="sng" dirty="0" lang="es-SV">
                          <a:solidFill>
                            <a:srgbClr val="00376E"/>
                          </a:solidFill>
                          <a:latin typeface="Arial"/>
                        </a:rPr>
                        <a:t>, </a:t>
                      </a:r>
                      <a:r>
                        <a:rPr sz="1000" b="1" i="0" u="sng" dirty="0" lang="es-SV">
                          <a:solidFill>
                            <a:srgbClr val="00376E"/>
                          </a:solidFill>
                          <a:latin typeface="Arial"/>
                        </a:rPr>
                        <a:t>operaciones</a:t>
                      </a:r>
                      <a:r>
                        <a:rPr sz="1000" b="1" i="0" u="sng" dirty="0" lang="es-SV">
                          <a:solidFill>
                            <a:srgbClr val="00376E"/>
                          </a:solidFill>
                          <a:latin typeface="Arial"/>
                        </a:rPr>
                        <a:t> o </a:t>
                      </a:r>
                      <a:r>
                        <a:rPr sz="1000" b="1" i="0" u="sng" dirty="0" lang="es-SV">
                          <a:solidFill>
                            <a:srgbClr val="00376E"/>
                          </a:solidFill>
                          <a:latin typeface="Arial"/>
                        </a:rPr>
                        <a:t>procesos</a:t>
                      </a:r>
                      <a:r>
                        <a:rPr sz="1000" b="1" i="0" u="sng" dirty="0" lang="es-SV">
                          <a:solidFill>
                            <a:srgbClr val="00376E"/>
                          </a:solidFill>
                          <a:latin typeface="Arial"/>
                        </a:rPr>
                        <a:t> de </a:t>
                      </a:r>
                      <a:r>
                        <a:rPr sz="1000" b="1" i="0" u="sng" dirty="0" lang="es-SV">
                          <a:solidFill>
                            <a:srgbClr val="00376E"/>
                          </a:solidFill>
                          <a:latin typeface="Arial"/>
                        </a:rPr>
                        <a:t>tecnologías</a:t>
                      </a:r>
                      <a:r>
                        <a:rPr sz="1000" b="1" i="0" u="sng" dirty="0" lang="es-SV">
                          <a:solidFill>
                            <a:srgbClr val="00376E"/>
                          </a:solidFill>
                          <a:latin typeface="Arial"/>
                        </a:rPr>
                        <a:t> de la </a:t>
                      </a:r>
                      <a:r>
                        <a:rPr sz="1000" b="1" i="0" u="sng" dirty="0" lang="es-SV">
                          <a:solidFill>
                            <a:srgbClr val="00376E"/>
                          </a:solidFill>
                          <a:latin typeface="Arial"/>
                        </a:rPr>
                        <a:t>información</a:t>
                      </a:r>
                      <a:r>
                        <a:rPr sz="1000" b="1" i="0" u="sng" dirty="0" lang="es-SV">
                          <a:solidFill>
                            <a:srgbClr val="00376E"/>
                          </a:solidFill>
                          <a:latin typeface="Arial"/>
                        </a:rPr>
                        <a:t>, </a:t>
                      </a:r>
                      <a:r>
                        <a:rPr sz="1000" b="1" i="0" u="sng" dirty="0" lang="es-SV">
                          <a:solidFill>
                            <a:srgbClr val="00376E"/>
                          </a:solidFill>
                          <a:latin typeface="Arial"/>
                        </a:rPr>
                        <a:t>relacionados</a:t>
                      </a:r>
                      <a:r>
                        <a:rPr sz="1000" b="1" i="0" u="sng" dirty="0" lang="es-SV">
                          <a:solidFill>
                            <a:srgbClr val="00376E"/>
                          </a:solidFill>
                          <a:latin typeface="Arial"/>
                        </a:rPr>
                        <a:t> a </a:t>
                      </a:r>
                      <a:r>
                        <a:rPr sz="1000" b="1" i="0" u="sng" dirty="0" lang="es-SV">
                          <a:solidFill>
                            <a:srgbClr val="00376E"/>
                          </a:solidFill>
                          <a:latin typeface="Arial"/>
                        </a:rPr>
                        <a:t>servicios</a:t>
                      </a:r>
                      <a:r>
                        <a:rPr sz="1000" b="1" i="0" u="sng" dirty="0" lang="es-SV">
                          <a:solidFill>
                            <a:srgbClr val="00376E"/>
                          </a:solidFill>
                          <a:latin typeface="Arial"/>
                        </a:rPr>
                        <a:t> o </a:t>
                      </a:r>
                      <a:r>
                        <a:rPr sz="1000" b="1" i="0" u="sng" dirty="0" lang="es-SV">
                          <a:solidFill>
                            <a:srgbClr val="00376E"/>
                          </a:solidFill>
                          <a:latin typeface="Arial"/>
                        </a:rPr>
                        <a:t>productos</a:t>
                      </a:r>
                      <a:r>
                        <a:rPr sz="1000" b="1" i="0" u="sng" dirty="0" lang="es-SV">
                          <a:solidFill>
                            <a:srgbClr val="00376E"/>
                          </a:solidFill>
                          <a:latin typeface="Arial"/>
                        </a:rPr>
                        <a:t> </a:t>
                      </a:r>
                      <a:r>
                        <a:rPr sz="1000" b="1" i="0" u="sng" dirty="0" lang="es-SV">
                          <a:solidFill>
                            <a:srgbClr val="00376E"/>
                          </a:solidFill>
                          <a:latin typeface="Arial"/>
                        </a:rPr>
                        <a:t>financieros</a:t>
                      </a:r>
                      <a:r>
                        <a:rPr sz="1000" b="1" i="0" u="sng" dirty="0" lang="es-SV">
                          <a:solidFill>
                            <a:srgbClr val="00376E"/>
                          </a:solidFill>
                          <a:latin typeface="Arial"/>
                        </a:rPr>
                        <a:t> de la </a:t>
                      </a:r>
                      <a:r>
                        <a:rPr sz="1000" b="1" i="0" u="sng" dirty="0" lang="es-SV">
                          <a:solidFill>
                            <a:srgbClr val="00376E"/>
                          </a:solidFill>
                          <a:latin typeface="Arial"/>
                        </a:rPr>
                        <a:t>entidad</a:t>
                      </a:r>
                      <a:r>
                        <a:rPr sz="1000" b="1" i="0" u="sng" dirty="0" lang="es-SV">
                          <a:solidFill>
                            <a:srgbClr val="00376E"/>
                          </a:solidFill>
                          <a:latin typeface="Arial"/>
                        </a:rPr>
                        <a:t>, a un </a:t>
                      </a:r>
                      <a:r>
                        <a:rPr sz="1000" b="1" i="0" u="sng" dirty="0" lang="es-SV">
                          <a:solidFill>
                            <a:srgbClr val="00376E"/>
                          </a:solidFill>
                          <a:latin typeface="Arial"/>
                        </a:rPr>
                        <a:t>tercero</a:t>
                      </a:r>
                      <a:r>
                        <a:rPr sz="1000" b="1" i="0" u="sng" dirty="0" lang="es-SV">
                          <a:solidFill>
                            <a:srgbClr val="00376E"/>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Se </a:t>
                      </a:r>
                      <a:r>
                        <a:rPr sz="1000" b="0" i="0" dirty="0" lang="es-SV">
                          <a:solidFill>
                            <a:srgbClr val="1B2333"/>
                          </a:solidFill>
                          <a:latin typeface="Arial"/>
                        </a:rPr>
                        <a:t>adoptan</a:t>
                      </a:r>
                      <a:r>
                        <a:rPr sz="1000" b="0" i="0" dirty="0" lang="es-SV">
                          <a:solidFill>
                            <a:srgbClr val="1B2333"/>
                          </a:solidFill>
                          <a:latin typeface="Arial"/>
                        </a:rPr>
                        <a:t> las </a:t>
                      </a:r>
                      <a:r>
                        <a:rPr sz="1000" b="0" i="0" dirty="0" lang="es-SV">
                          <a:solidFill>
                            <a:srgbClr val="1B2333"/>
                          </a:solidFill>
                          <a:latin typeface="Arial"/>
                        </a:rPr>
                        <a:t>definiciones</a:t>
                      </a:r>
                      <a:r>
                        <a:rPr sz="1000" b="0" i="0" dirty="0" lang="es-SV">
                          <a:solidFill>
                            <a:srgbClr val="1B2333"/>
                          </a:solidFill>
                          <a:latin typeface="Arial"/>
                        </a:rPr>
                        <a:t> </a:t>
                      </a:r>
                      <a:r>
                        <a:rPr sz="1000" b="0" i="0" dirty="0" lang="es-SV">
                          <a:solidFill>
                            <a:srgbClr val="1B2333"/>
                          </a:solidFill>
                          <a:latin typeface="Arial"/>
                        </a:rPr>
                        <a:t>literales</a:t>
                      </a:r>
                      <a:r>
                        <a:rPr sz="1000" b="0" i="0" dirty="0" lang="es-SV">
                          <a:solidFill>
                            <a:srgbClr val="1B2333"/>
                          </a:solidFill>
                          <a:latin typeface="Arial"/>
                        </a:rPr>
                        <a:t> de la </a:t>
                      </a:r>
                      <a:r>
                        <a:rPr sz="1000" b="0" i="0" dirty="0" lang="es-SV">
                          <a:solidFill>
                            <a:srgbClr val="1B2333"/>
                          </a:solidFill>
                          <a:latin typeface="Arial"/>
                        </a:rPr>
                        <a:t>normativa</a:t>
                      </a:r>
                      <a:r>
                        <a:rPr sz="1000" b="0" i="0" dirty="0" lang="es-SV">
                          <a:solidFill>
                            <a:srgbClr val="1B2333"/>
                          </a:solidFill>
                          <a:latin typeface="Arial"/>
                        </a:rPr>
                        <a:t>.</a:t>
                      </a:r>
                    </a:p>
                    <a:p>
                      <a:pPr algn="just"/>
                      <a:r>
                        <a:rPr sz="1000" b="1" i="0" dirty="0" lang="es-SV">
                          <a:solidFill>
                            <a:srgbClr val="00376E"/>
                          </a:solidFill>
                          <a:latin typeface="Arial"/>
                        </a:rPr>
                        <a:t>NRP-24, art. 3, lit. y · NRP-23, art. 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74320">
                <a:tc>
                  <a:txBody>
                    <a:bodyPr/>
                    <a:lstStyle/>
                    <a:p>
                      <a:pPr algn="just"/>
                      <a:r>
                        <a:rPr sz="1000" b="1" i="0" lang="es-SV">
                          <a:solidFill>
                            <a:srgbClr val="00376E"/>
                          </a:solidFill>
                          <a:latin typeface="Arial"/>
                        </a:rPr>
                        <a:t>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Servicio Críticos: Son un conjunto de actividades o procedimientos definidos como prioritarios, cuya no disponibilidad compromete la existencia de la entidad.</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Servicios críticos</a:t>
                      </a:r>
                      <a:r>
                        <a:rPr sz="1000" b="0" i="0" lang="es-SV">
                          <a:solidFill>
                            <a:srgbClr val="1B2333"/>
                          </a:solidFill>
                          <a:latin typeface="Arial"/>
                        </a:rPr>
                        <a:t>: Son </a:t>
                      </a:r>
                      <a:r>
                        <a:rPr sz="1000" b="1" i="0" u="sng" lang="es-SV">
                          <a:solidFill>
                            <a:srgbClr val="00376E"/>
                          </a:solidFill>
                          <a:latin typeface="Arial"/>
                        </a:rPr>
                        <a:t>los servicios y actividades prioritarios</a:t>
                      </a:r>
                      <a:r>
                        <a:rPr sz="1000" b="0" i="0" lang="es-SV">
                          <a:solidFill>
                            <a:srgbClr val="1B2333"/>
                          </a:solidFill>
                          <a:latin typeface="Arial"/>
                        </a:rPr>
                        <a:t> cuya no disponibilidad compromete la existencia de la entidad.</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Definición</a:t>
                      </a:r>
                      <a:r>
                        <a:rPr sz="1000" b="0" i="0" dirty="0" lang="es-SV">
                          <a:solidFill>
                            <a:srgbClr val="1B2333"/>
                          </a:solidFill>
                          <a:latin typeface="Arial"/>
                        </a:rPr>
                        <a:t> literal de la </a:t>
                      </a:r>
                      <a:r>
                        <a:rPr sz="1000" b="0" i="0" dirty="0" lang="es-SV">
                          <a:solidFill>
                            <a:srgbClr val="1B2333"/>
                          </a:solidFill>
                          <a:latin typeface="Arial"/>
                        </a:rPr>
                        <a:t>normativa</a:t>
                      </a:r>
                      <a:r>
                        <a:rPr sz="1000" b="0" i="0" dirty="0" lang="es-SV">
                          <a:solidFill>
                            <a:srgbClr val="1B2333"/>
                          </a:solidFill>
                          <a:latin typeface="Arial"/>
                        </a:rPr>
                        <a:t>.</a:t>
                      </a:r>
                    </a:p>
                    <a:p>
                      <a:pPr algn="just"/>
                      <a:r>
                        <a:rPr sz="1000" b="1" i="0" dirty="0" lang="es-SV">
                          <a:solidFill>
                            <a:srgbClr val="00376E"/>
                          </a:solidFill>
                          <a:latin typeface="Arial"/>
                        </a:rPr>
                        <a:t>NRP-23, art. 3 · NRP-24, art. 3, lit. v</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74320">
                <a:tc>
                  <a:txBody>
                    <a:bodyPr/>
                    <a:lstStyle/>
                    <a:p>
                      <a:pPr algn="just"/>
                      <a:r>
                        <a:rPr sz="1000" b="1" i="0" lang="es-SV">
                          <a:solidFill>
                            <a:srgbClr val="00376E"/>
                          </a:solidFill>
                          <a:latin typeface="Arial"/>
                        </a:rPr>
                        <a:t>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Procesos Críticos: Son los procesos dentro de la Cooperativa que se han definidos como prioritarios para la entrega de productos y servicios y la interrupción de los mismos detiene la continuidad del negocio.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Procesos críticos: Son los procesos </a:t>
                      </a:r>
                      <a:r>
                        <a:rPr sz="1000" b="1" i="0" u="sng" lang="es-SV">
                          <a:solidFill>
                            <a:srgbClr val="00376E"/>
                          </a:solidFill>
                          <a:latin typeface="Arial"/>
                        </a:rPr>
                        <a:t>de la Cooperativa identificados y priorizados como críticos en el Análisis de Impacto del Negocio (BIA)</a:t>
                      </a:r>
                      <a:r>
                        <a:rPr sz="1000" b="0" i="0" lang="es-SV">
                          <a:solidFill>
                            <a:srgbClr val="1B2333"/>
                          </a:solidFill>
                          <a:latin typeface="Arial"/>
                        </a:rPr>
                        <a:t>, relacionados con la entrega de productos o servicios críticos.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Se vincula al BIA del Sistema de </a:t>
                      </a:r>
                      <a:r>
                        <a:rPr sz="1000" b="0" i="0" dirty="0" lang="es-SV">
                          <a:solidFill>
                            <a:srgbClr val="1B2333"/>
                          </a:solidFill>
                          <a:latin typeface="Arial"/>
                        </a:rPr>
                        <a:t>Gestión</a:t>
                      </a:r>
                      <a:r>
                        <a:rPr sz="1000" b="0" i="0" dirty="0" lang="es-SV">
                          <a:solidFill>
                            <a:srgbClr val="1B2333"/>
                          </a:solidFill>
                          <a:latin typeface="Arial"/>
                        </a:rPr>
                        <a:t> de la </a:t>
                      </a:r>
                      <a:r>
                        <a:rPr sz="1000" b="0" i="0" dirty="0" lang="es-SV">
                          <a:solidFill>
                            <a:srgbClr val="1B2333"/>
                          </a:solidFill>
                          <a:latin typeface="Arial"/>
                        </a:rPr>
                        <a:t>Continuidad</a:t>
                      </a:r>
                      <a:r>
                        <a:rPr sz="1000" b="0" i="0" dirty="0" lang="es-SV">
                          <a:solidFill>
                            <a:srgbClr val="1B2333"/>
                          </a:solidFill>
                          <a:latin typeface="Arial"/>
                        </a:rPr>
                        <a:t> del </a:t>
                      </a:r>
                      <a:r>
                        <a:rPr sz="1000" b="0" i="0" dirty="0" lang="es-SV">
                          <a:solidFill>
                            <a:srgbClr val="1B2333"/>
                          </a:solidFill>
                          <a:latin typeface="Arial"/>
                        </a:rPr>
                        <a:t>Negocio</a:t>
                      </a:r>
                      <a:r>
                        <a:rPr sz="1000" b="0" i="0" dirty="0" lang="es-SV">
                          <a:solidFill>
                            <a:srgbClr val="1B2333"/>
                          </a:solidFill>
                          <a:latin typeface="Arial"/>
                        </a:rPr>
                        <a:t>.</a:t>
                      </a:r>
                    </a:p>
                    <a:p>
                      <a:pPr algn="just"/>
                      <a:r>
                        <a:rPr sz="1000" b="1" i="0" dirty="0" lang="es-SV">
                          <a:solidFill>
                            <a:srgbClr val="00376E"/>
                          </a:solidFill>
                          <a:latin typeface="Arial"/>
                        </a:rPr>
                        <a:t>NRP-24, arts. 6, lit. c y 13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7" name="TextBox 16"/>
          <p:cNvSpPr txBox="1"/>
          <p:nvPr/>
        </p:nvSpPr>
        <p:spPr>
          <a:xfrm>
            <a:off x="548640" y="6355080"/>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Texto subrayado en azul</a:t>
            </a:r>
            <a:r>
              <a:rPr sz="1000" b="0" i="0" lang="es-SV">
                <a:solidFill>
                  <a:srgbClr val="5B6578"/>
                </a:solidFill>
                <a:latin typeface="Arial"/>
              </a:rPr>
              <a:t> = nuevo o modificado respecto a la versión vigente</a:t>
            </a:r>
          </a:p>
        </p:txBody>
      </p:sp>
      <p:graphicFrame>
        <p:nvGraphicFramePr>
          <p:cNvPr id="3" name="Table 15">
            <a:extLst>
              <a:ext uri="{FF2B5EF4-FFF2-40B4-BE49-F238E27FC236}">
                <a16:creationId xmlns:a16="http://schemas.microsoft.com/office/drawing/2014/main" id="{1F20B8AB-37B8-576B-081F-C07E25843CCF}"/>
              </a:ext>
            </a:extLst>
          </p:cNvPr>
          <p:cNvGraphicFramePr>
            <a:graphicFrameLocks noGrp="1"/>
          </p:cNvGraphicFramePr>
          <p:nvPr>
            <p:extLst>
              <p:ext uri="{D42A27DB-BD31-4B8C-83A1-F6EECF244321}">
                <p14:modId xmlns:p14="http://schemas.microsoft.com/office/powerpoint/2010/main" val="3366584696"/>
              </p:ext>
            </p:extLst>
          </p:nvPr>
        </p:nvGraphicFramePr>
        <p:xfrm>
          <a:off x="536067" y="3528822"/>
          <a:ext cx="11091672" cy="2956560"/>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274320">
                <a:tc>
                  <a:txBody>
                    <a:bodyPr/>
                    <a:lstStyle/>
                    <a:p>
                      <a:pPr algn="just"/>
                      <a:r>
                        <a:rPr sz="1000" b="1" i="0" lang="es-SV">
                          <a:solidFill>
                            <a:srgbClr val="00376E"/>
                          </a:solidFill>
                          <a:latin typeface="Arial"/>
                        </a:rPr>
                        <a:t>8</a:t>
                      </a:r>
                    </a:p>
                  </a:txBody>
                  <a:tcPr marL="64008" marR="64008">
                    <a:lnL w="9525" cap="flat" cmpd="sng" algn="ctr">
                      <a:solidFill>
                        <a:srgbClr val="C9D1DE"/>
                      </a:solidFill>
                      <a:prstDash val="solid"/>
                    </a:lnL>
                    <a:lnR w="9525" cap="flat" cmpd="sng" algn="ctr">
                      <a:solidFill>
                        <a:srgbClr val="C9D1DE"/>
                      </a:solidFill>
                      <a:prstDash val="solid"/>
                      <a:round/>
                      <a:headEnd type="none" w="med" len="med"/>
                      <a:tailEnd type="none" w="med" len="me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Servicios</a:t>
                      </a:r>
                      <a:r>
                        <a:rPr sz="1000" b="0" i="0" dirty="0" lang="es-SV">
                          <a:solidFill>
                            <a:srgbClr val="1B2333"/>
                          </a:solidFill>
                          <a:latin typeface="Arial"/>
                        </a:rPr>
                        <a:t> </a:t>
                      </a:r>
                      <a:r>
                        <a:rPr sz="1000" b="0" i="0" dirty="0" lang="es-SV">
                          <a:solidFill>
                            <a:srgbClr val="1B2333"/>
                          </a:solidFill>
                          <a:latin typeface="Arial"/>
                        </a:rPr>
                        <a:t>Críticos</a:t>
                      </a:r>
                      <a:r>
                        <a:rPr sz="1000" b="0" i="0" dirty="0" lang="es-SV">
                          <a:solidFill>
                            <a:srgbClr val="1B2333"/>
                          </a:solidFill>
                          <a:latin typeface="Arial"/>
                        </a:rPr>
                        <a:t> </a:t>
                      </a:r>
                      <a:r>
                        <a:rPr sz="1000" b="0" i="0" dirty="0" lang="es-SV">
                          <a:solidFill>
                            <a:srgbClr val="1B2333"/>
                          </a:solidFill>
                          <a:latin typeface="Arial"/>
                        </a:rPr>
                        <a:t>Tercerizados</a:t>
                      </a:r>
                      <a:r>
                        <a:rPr sz="1000" b="0" i="0" dirty="0" lang="es-SV">
                          <a:solidFill>
                            <a:srgbClr val="1B2333"/>
                          </a:solidFill>
                          <a:latin typeface="Arial"/>
                        </a:rPr>
                        <a:t>: Es </a:t>
                      </a:r>
                      <a:r>
                        <a:rPr sz="1000" b="0" i="0" dirty="0" lang="es-SV">
                          <a:solidFill>
                            <a:srgbClr val="1B2333"/>
                          </a:solidFill>
                          <a:latin typeface="Arial"/>
                        </a:rPr>
                        <a:t>una</a:t>
                      </a:r>
                      <a:r>
                        <a:rPr sz="1000" b="0" i="0" dirty="0" lang="es-SV">
                          <a:solidFill>
                            <a:srgbClr val="1B2333"/>
                          </a:solidFill>
                          <a:latin typeface="Arial"/>
                        </a:rPr>
                        <a:t> persona natural o </a:t>
                      </a:r>
                      <a:r>
                        <a:rPr sz="1000" b="0" i="0" dirty="0" lang="es-SV">
                          <a:solidFill>
                            <a:srgbClr val="1B2333"/>
                          </a:solidFill>
                          <a:latin typeface="Arial"/>
                        </a:rPr>
                        <a:t>jurídica</a:t>
                      </a:r>
                      <a:r>
                        <a:rPr sz="1000" b="0" i="0" dirty="0" lang="es-SV">
                          <a:solidFill>
                            <a:srgbClr val="1B2333"/>
                          </a:solidFill>
                          <a:latin typeface="Arial"/>
                        </a:rPr>
                        <a:t>, a </a:t>
                      </a:r>
                      <a:r>
                        <a:rPr sz="1000" b="0" i="0" dirty="0" lang="es-SV">
                          <a:solidFill>
                            <a:srgbClr val="1B2333"/>
                          </a:solidFill>
                          <a:latin typeface="Arial"/>
                        </a:rPr>
                        <a:t>quien</a:t>
                      </a:r>
                      <a:r>
                        <a:rPr sz="1000" b="0" i="0" dirty="0" lang="es-SV">
                          <a:solidFill>
                            <a:srgbClr val="1B2333"/>
                          </a:solidFill>
                          <a:latin typeface="Arial"/>
                        </a:rPr>
                        <a:t> se </a:t>
                      </a:r>
                      <a:r>
                        <a:rPr sz="1000" b="0" i="0" dirty="0" lang="es-SV">
                          <a:solidFill>
                            <a:srgbClr val="1B2333"/>
                          </a:solidFill>
                          <a:latin typeface="Arial"/>
                        </a:rPr>
                        <a:t>delega</a:t>
                      </a:r>
                      <a:r>
                        <a:rPr sz="1000" b="0" i="0" dirty="0" lang="es-SV">
                          <a:solidFill>
                            <a:srgbClr val="1B2333"/>
                          </a:solidFill>
                          <a:latin typeface="Arial"/>
                        </a:rPr>
                        <a:t> </a:t>
                      </a:r>
                      <a:r>
                        <a:rPr sz="1000" b="0" i="0" dirty="0" lang="es-SV">
                          <a:solidFill>
                            <a:srgbClr val="1B2333"/>
                          </a:solidFill>
                          <a:latin typeface="Arial"/>
                        </a:rPr>
                        <a:t>operaciones</a:t>
                      </a:r>
                      <a:r>
                        <a:rPr sz="1000" b="0" i="0" dirty="0" lang="es-SV">
                          <a:solidFill>
                            <a:srgbClr val="1B2333"/>
                          </a:solidFill>
                          <a:latin typeface="Arial"/>
                        </a:rPr>
                        <a:t> de la </a:t>
                      </a:r>
                      <a:r>
                        <a:rPr sz="1000" b="0" i="0" dirty="0" lang="es-SV">
                          <a:solidFill>
                            <a:srgbClr val="1B2333"/>
                          </a:solidFill>
                          <a:latin typeface="Arial"/>
                        </a:rPr>
                        <a:t>actividad</a:t>
                      </a:r>
                      <a:r>
                        <a:rPr sz="1000" b="0" i="0" dirty="0" lang="es-SV">
                          <a:solidFill>
                            <a:srgbClr val="1B2333"/>
                          </a:solidFill>
                          <a:latin typeface="Arial"/>
                        </a:rPr>
                        <a:t> o </a:t>
                      </a:r>
                      <a:r>
                        <a:rPr sz="1000" b="0" i="0" dirty="0" lang="es-SV">
                          <a:solidFill>
                            <a:srgbClr val="1B2333"/>
                          </a:solidFill>
                          <a:latin typeface="Arial"/>
                        </a:rPr>
                        <a:t>giro</a:t>
                      </a:r>
                      <a:r>
                        <a:rPr sz="1000" b="0" i="0" dirty="0" lang="es-SV">
                          <a:solidFill>
                            <a:srgbClr val="1B2333"/>
                          </a:solidFill>
                          <a:latin typeface="Arial"/>
                        </a:rPr>
                        <a:t> principal de la Cooperativa, y la no </a:t>
                      </a:r>
                      <a:r>
                        <a:rPr sz="1000" b="0" i="0" dirty="0" lang="es-SV">
                          <a:solidFill>
                            <a:srgbClr val="1B2333"/>
                          </a:solidFill>
                          <a:latin typeface="Arial"/>
                        </a:rPr>
                        <a:t>disponibilidad</a:t>
                      </a:r>
                      <a:r>
                        <a:rPr sz="1000" b="0" i="0" dirty="0" lang="es-SV">
                          <a:solidFill>
                            <a:srgbClr val="1B2333"/>
                          </a:solidFill>
                          <a:latin typeface="Arial"/>
                        </a:rPr>
                        <a:t> </a:t>
                      </a:r>
                      <a:r>
                        <a:rPr sz="1000" b="0" i="0" dirty="0" lang="es-SV">
                          <a:solidFill>
                            <a:srgbClr val="1B2333"/>
                          </a:solidFill>
                          <a:latin typeface="Arial"/>
                        </a:rPr>
                        <a:t>interrumpe</a:t>
                      </a:r>
                      <a:r>
                        <a:rPr sz="1000" b="0" i="0" dirty="0" lang="es-SV">
                          <a:solidFill>
                            <a:srgbClr val="1B2333"/>
                          </a:solidFill>
                          <a:latin typeface="Arial"/>
                        </a:rPr>
                        <a:t> la </a:t>
                      </a:r>
                      <a:r>
                        <a:rPr sz="1000" b="0" i="0" dirty="0" lang="es-SV">
                          <a:solidFill>
                            <a:srgbClr val="1B2333"/>
                          </a:solidFill>
                          <a:latin typeface="Arial"/>
                        </a:rPr>
                        <a:t>prestación</a:t>
                      </a:r>
                      <a:r>
                        <a:rPr sz="1000" b="0" i="0" dirty="0" lang="es-SV">
                          <a:solidFill>
                            <a:srgbClr val="1B2333"/>
                          </a:solidFill>
                          <a:latin typeface="Arial"/>
                        </a:rPr>
                        <a:t> de </a:t>
                      </a:r>
                      <a:r>
                        <a:rPr sz="1000" b="0" i="0" dirty="0" lang="es-SV">
                          <a:solidFill>
                            <a:srgbClr val="1B2333"/>
                          </a:solidFill>
                          <a:latin typeface="Arial"/>
                        </a:rPr>
                        <a:t>productos</a:t>
                      </a:r>
                      <a:r>
                        <a:rPr sz="1000" b="0" i="0" dirty="0" lang="es-SV">
                          <a:solidFill>
                            <a:srgbClr val="1B2333"/>
                          </a:solidFill>
                          <a:latin typeface="Arial"/>
                        </a:rPr>
                        <a:t> y </a:t>
                      </a:r>
                      <a:r>
                        <a:rPr sz="1000" b="0" i="0" dirty="0" lang="es-SV">
                          <a:solidFill>
                            <a:srgbClr val="1B2333"/>
                          </a:solidFill>
                          <a:latin typeface="Arial"/>
                        </a:rPr>
                        <a:t>servicios</a:t>
                      </a:r>
                      <a:r>
                        <a:rPr sz="1000" b="0" i="0" dirty="0" lang="es-SV">
                          <a:solidFill>
                            <a:srgbClr val="1B2333"/>
                          </a:solidFill>
                          <a:latin typeface="Arial"/>
                        </a:rPr>
                        <a:t>.</a:t>
                      </a:r>
                    </a:p>
                  </a:txBody>
                  <a:tcPr marL="64008" marR="64008">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Servicios</a:t>
                      </a:r>
                      <a:r>
                        <a:rPr sz="1000" b="0" i="0" dirty="0" lang="es-SV">
                          <a:solidFill>
                            <a:srgbClr val="1B2333"/>
                          </a:solidFill>
                          <a:latin typeface="Arial"/>
                        </a:rPr>
                        <a:t> </a:t>
                      </a:r>
                      <a:r>
                        <a:rPr sz="1000" b="0" i="0" dirty="0" lang="es-SV">
                          <a:solidFill>
                            <a:srgbClr val="1B2333"/>
                          </a:solidFill>
                          <a:latin typeface="Arial"/>
                        </a:rPr>
                        <a:t>Críticos</a:t>
                      </a:r>
                      <a:r>
                        <a:rPr sz="1000" b="0" i="0" dirty="0" lang="es-SV">
                          <a:solidFill>
                            <a:srgbClr val="1B2333"/>
                          </a:solidFill>
                          <a:latin typeface="Arial"/>
                        </a:rPr>
                        <a:t> </a:t>
                      </a:r>
                      <a:r>
                        <a:rPr sz="1000" b="0" i="0" dirty="0" lang="es-SV">
                          <a:solidFill>
                            <a:srgbClr val="1B2333"/>
                          </a:solidFill>
                          <a:latin typeface="Arial"/>
                        </a:rPr>
                        <a:t>Tercerizados</a:t>
                      </a:r>
                      <a:r>
                        <a:rPr sz="1000" b="0" i="0" dirty="0" lang="es-SV">
                          <a:solidFill>
                            <a:srgbClr val="1B2333"/>
                          </a:solidFill>
                          <a:latin typeface="Arial"/>
                        </a:rPr>
                        <a:t>: </a:t>
                      </a:r>
                      <a:r>
                        <a:rPr sz="1000" b="1" i="0" u="sng" dirty="0" lang="es-SV">
                          <a:solidFill>
                            <a:srgbClr val="00376E"/>
                          </a:solidFill>
                          <a:latin typeface="Arial"/>
                        </a:rPr>
                        <a:t>Son </a:t>
                      </a:r>
                      <a:r>
                        <a:rPr sz="1000" b="1" i="0" u="sng" dirty="0" lang="es-SV">
                          <a:solidFill>
                            <a:srgbClr val="00376E"/>
                          </a:solidFill>
                          <a:latin typeface="Arial"/>
                        </a:rPr>
                        <a:t>los</a:t>
                      </a:r>
                      <a:r>
                        <a:rPr sz="1000" b="1" i="0" u="sng" dirty="0" lang="es-SV">
                          <a:solidFill>
                            <a:srgbClr val="00376E"/>
                          </a:solidFill>
                          <a:latin typeface="Arial"/>
                        </a:rPr>
                        <a:t> </a:t>
                      </a:r>
                      <a:r>
                        <a:rPr sz="1000" b="1" i="0" u="sng" dirty="0" lang="es-SV">
                          <a:solidFill>
                            <a:srgbClr val="00376E"/>
                          </a:solidFill>
                          <a:latin typeface="Arial"/>
                        </a:rPr>
                        <a:t>servicios</a:t>
                      </a:r>
                      <a:r>
                        <a:rPr sz="1000" b="1" i="0" u="sng" dirty="0" lang="es-SV">
                          <a:solidFill>
                            <a:srgbClr val="00376E"/>
                          </a:solidFill>
                          <a:latin typeface="Arial"/>
                        </a:rPr>
                        <a:t> </a:t>
                      </a:r>
                      <a:r>
                        <a:rPr sz="1000" b="1" i="0" u="sng" dirty="0" lang="es-SV">
                          <a:solidFill>
                            <a:srgbClr val="00376E"/>
                          </a:solidFill>
                          <a:latin typeface="Arial"/>
                        </a:rPr>
                        <a:t>críticos</a:t>
                      </a:r>
                      <a:r>
                        <a:rPr sz="1000" b="1" i="0" u="sng" dirty="0" lang="es-SV">
                          <a:solidFill>
                            <a:srgbClr val="00376E"/>
                          </a:solidFill>
                          <a:latin typeface="Arial"/>
                        </a:rPr>
                        <a:t> </a:t>
                      </a:r>
                      <a:r>
                        <a:rPr sz="1000" b="1" i="0" u="sng" dirty="0" lang="es-SV">
                          <a:solidFill>
                            <a:srgbClr val="00376E"/>
                          </a:solidFill>
                          <a:latin typeface="Arial"/>
                        </a:rPr>
                        <a:t>brindados</a:t>
                      </a:r>
                      <a:r>
                        <a:rPr sz="1000" b="1" i="0" u="sng" dirty="0" lang="es-SV">
                          <a:solidFill>
                            <a:srgbClr val="00376E"/>
                          </a:solidFill>
                          <a:latin typeface="Arial"/>
                        </a:rPr>
                        <a:t> </a:t>
                      </a:r>
                      <a:r>
                        <a:rPr sz="1000" b="1" i="0" u="sng" dirty="0" lang="es-SV">
                          <a:solidFill>
                            <a:srgbClr val="00376E"/>
                          </a:solidFill>
                          <a:latin typeface="Arial"/>
                        </a:rPr>
                        <a:t>por</a:t>
                      </a:r>
                      <a:r>
                        <a:rPr sz="1000" b="1" i="0" u="sng" dirty="0" lang="es-SV">
                          <a:solidFill>
                            <a:srgbClr val="00376E"/>
                          </a:solidFill>
                          <a:latin typeface="Arial"/>
                        </a:rPr>
                        <a:t> </a:t>
                      </a:r>
                      <a:r>
                        <a:rPr sz="1000" b="1" i="0" u="sng" dirty="0" lang="es-SV">
                          <a:solidFill>
                            <a:srgbClr val="00376E"/>
                          </a:solidFill>
                          <a:latin typeface="Arial"/>
                        </a:rPr>
                        <a:t>terceros</a:t>
                      </a:r>
                      <a:r>
                        <a:rPr sz="1000" b="1" i="0" u="sng" dirty="0" lang="es-SV">
                          <a:solidFill>
                            <a:srgbClr val="00376E"/>
                          </a:solidFill>
                          <a:latin typeface="Arial"/>
                        </a:rPr>
                        <a:t>, es </a:t>
                      </a:r>
                      <a:r>
                        <a:rPr sz="1000" b="1" i="0" u="sng" dirty="0" lang="es-SV">
                          <a:solidFill>
                            <a:srgbClr val="00376E"/>
                          </a:solidFill>
                          <a:latin typeface="Arial"/>
                        </a:rPr>
                        <a:t>decir</a:t>
                      </a:r>
                      <a:r>
                        <a:rPr sz="1000" b="1" i="0" u="sng" dirty="0" lang="es-SV">
                          <a:solidFill>
                            <a:srgbClr val="00376E"/>
                          </a:solidFill>
                          <a:latin typeface="Arial"/>
                        </a:rPr>
                        <a:t> </a:t>
                      </a:r>
                      <a:r>
                        <a:rPr sz="1000" b="1" i="0" u="sng" dirty="0" lang="es-SV">
                          <a:solidFill>
                            <a:srgbClr val="00376E"/>
                          </a:solidFill>
                          <a:latin typeface="Arial"/>
                        </a:rPr>
                        <a:t>aquellos</a:t>
                      </a:r>
                      <a:r>
                        <a:rPr sz="1000" b="1" i="0" u="sng" dirty="0" lang="es-SV">
                          <a:solidFill>
                            <a:srgbClr val="00376E"/>
                          </a:solidFill>
                          <a:latin typeface="Arial"/>
                        </a:rPr>
                        <a:t> </a:t>
                      </a:r>
                      <a:r>
                        <a:rPr sz="1000" b="1" i="0" u="sng" dirty="0" lang="es-SV">
                          <a:solidFill>
                            <a:srgbClr val="00376E"/>
                          </a:solidFill>
                          <a:latin typeface="Arial"/>
                        </a:rPr>
                        <a:t>que</a:t>
                      </a:r>
                      <a:r>
                        <a:rPr sz="1000" b="1" i="0" u="sng" dirty="0" lang="es-SV">
                          <a:solidFill>
                            <a:srgbClr val="00376E"/>
                          </a:solidFill>
                          <a:latin typeface="Arial"/>
                        </a:rPr>
                        <a:t> </a:t>
                      </a:r>
                      <a:r>
                        <a:rPr sz="1000" b="1" i="0" u="sng" dirty="0" lang="es-SV">
                          <a:solidFill>
                            <a:srgbClr val="00376E"/>
                          </a:solidFill>
                          <a:latin typeface="Arial"/>
                        </a:rPr>
                        <a:t>puedan</a:t>
                      </a:r>
                      <a:r>
                        <a:rPr sz="1000" b="1" i="0" u="sng" dirty="0" lang="es-SV">
                          <a:solidFill>
                            <a:srgbClr val="00376E"/>
                          </a:solidFill>
                          <a:latin typeface="Arial"/>
                        </a:rPr>
                        <a:t> </a:t>
                      </a:r>
                      <a:r>
                        <a:rPr sz="1000" b="1" i="0" u="sng" dirty="0" lang="es-SV">
                          <a:solidFill>
                            <a:srgbClr val="00376E"/>
                          </a:solidFill>
                          <a:latin typeface="Arial"/>
                        </a:rPr>
                        <a:t>interrumpir</a:t>
                      </a:r>
                      <a:r>
                        <a:rPr sz="1000" b="1" i="0" u="sng" dirty="0" lang="es-SV">
                          <a:solidFill>
                            <a:srgbClr val="00376E"/>
                          </a:solidFill>
                          <a:latin typeface="Arial"/>
                        </a:rPr>
                        <a:t> el normal </a:t>
                      </a:r>
                      <a:r>
                        <a:rPr sz="1000" b="1" i="0" u="sng" dirty="0" lang="es-SV">
                          <a:solidFill>
                            <a:srgbClr val="00376E"/>
                          </a:solidFill>
                          <a:latin typeface="Arial"/>
                        </a:rPr>
                        <a:t>desarrollo</a:t>
                      </a:r>
                      <a:r>
                        <a:rPr sz="1000" b="1" i="0" u="sng" dirty="0" lang="es-SV">
                          <a:solidFill>
                            <a:srgbClr val="00376E"/>
                          </a:solidFill>
                          <a:latin typeface="Arial"/>
                        </a:rPr>
                        <a:t> de las </a:t>
                      </a:r>
                      <a:r>
                        <a:rPr sz="1000" b="1" i="0" u="sng" dirty="0" lang="es-SV">
                          <a:solidFill>
                            <a:srgbClr val="00376E"/>
                          </a:solidFill>
                          <a:latin typeface="Arial"/>
                        </a:rPr>
                        <a:t>operaciones</a:t>
                      </a:r>
                      <a:r>
                        <a:rPr sz="1000" b="1" i="0" u="sng" dirty="0" lang="es-SV">
                          <a:solidFill>
                            <a:srgbClr val="00376E"/>
                          </a:solidFill>
                          <a:latin typeface="Arial"/>
                        </a:rPr>
                        <a:t> de la Cooperativa, </a:t>
                      </a:r>
                      <a:r>
                        <a:rPr sz="1000" b="1" i="0" u="sng" dirty="0" lang="es-SV">
                          <a:solidFill>
                            <a:srgbClr val="00376E"/>
                          </a:solidFill>
                          <a:latin typeface="Arial"/>
                        </a:rPr>
                        <a:t>identificados</a:t>
                      </a:r>
                      <a:r>
                        <a:rPr sz="1000" b="1" i="0" u="sng" dirty="0" lang="es-SV">
                          <a:solidFill>
                            <a:srgbClr val="00376E"/>
                          </a:solidFill>
                          <a:latin typeface="Arial"/>
                        </a:rPr>
                        <a:t> </a:t>
                      </a:r>
                      <a:r>
                        <a:rPr sz="1000" b="1" i="0" u="sng" dirty="0" lang="es-SV">
                          <a:solidFill>
                            <a:srgbClr val="00376E"/>
                          </a:solidFill>
                          <a:latin typeface="Arial"/>
                        </a:rPr>
                        <a:t>conforme</a:t>
                      </a:r>
                      <a:r>
                        <a:rPr sz="1000" b="1" i="0" u="sng" dirty="0" lang="es-SV">
                          <a:solidFill>
                            <a:srgbClr val="00376E"/>
                          </a:solidFill>
                          <a:latin typeface="Arial"/>
                        </a:rPr>
                        <a:t> a </a:t>
                      </a:r>
                      <a:r>
                        <a:rPr sz="1000" b="1" i="0" u="sng" dirty="0" lang="es-SV">
                          <a:solidFill>
                            <a:srgbClr val="00376E"/>
                          </a:solidFill>
                          <a:latin typeface="Arial"/>
                        </a:rPr>
                        <a:t>los</a:t>
                      </a:r>
                      <a:r>
                        <a:rPr sz="1000" b="1" i="0" u="sng" dirty="0" lang="es-SV">
                          <a:solidFill>
                            <a:srgbClr val="00376E"/>
                          </a:solidFill>
                          <a:latin typeface="Arial"/>
                        </a:rPr>
                        <a:t> </a:t>
                      </a:r>
                      <a:r>
                        <a:rPr sz="1000" b="1" i="0" u="sng" dirty="0" lang="es-SV">
                          <a:solidFill>
                            <a:srgbClr val="00376E"/>
                          </a:solidFill>
                          <a:latin typeface="Arial"/>
                        </a:rPr>
                        <a:t>criterios</a:t>
                      </a:r>
                      <a:r>
                        <a:rPr sz="1000" b="1" i="0" u="sng" dirty="0" lang="es-SV">
                          <a:solidFill>
                            <a:srgbClr val="00376E"/>
                          </a:solidFill>
                          <a:latin typeface="Arial"/>
                        </a:rPr>
                        <a:t> del </a:t>
                      </a:r>
                      <a:r>
                        <a:rPr sz="1000" b="1" i="0" u="sng" dirty="0" lang="es-SV">
                          <a:solidFill>
                            <a:srgbClr val="00376E"/>
                          </a:solidFill>
                          <a:latin typeface="Arial"/>
                        </a:rPr>
                        <a:t>apartado</a:t>
                      </a:r>
                      <a:r>
                        <a:rPr sz="1000" b="1" i="0" u="sng" dirty="0" lang="es-SV">
                          <a:solidFill>
                            <a:srgbClr val="00376E"/>
                          </a:solidFill>
                          <a:latin typeface="Arial"/>
                        </a:rPr>
                        <a:t> V.</a:t>
                      </a:r>
                    </a:p>
                    <a:p>
                      <a:pPr algn="just"/>
                      <a:r>
                        <a:rPr sz="1000" b="1" i="0" u="sng" dirty="0" lang="es-SV">
                          <a:solidFill>
                            <a:srgbClr val="00376E"/>
                          </a:solidFill>
                          <a:latin typeface="Arial"/>
                        </a:rPr>
                        <a:t>Proveedor</a:t>
                      </a:r>
                      <a:r>
                        <a:rPr sz="1000" b="1" i="0" u="sng" dirty="0" lang="es-SV">
                          <a:solidFill>
                            <a:srgbClr val="00376E"/>
                          </a:solidFill>
                          <a:latin typeface="Arial"/>
                        </a:rPr>
                        <a:t> de </a:t>
                      </a:r>
                      <a:r>
                        <a:rPr sz="1000" b="1" i="0" u="sng" dirty="0" lang="es-SV">
                          <a:solidFill>
                            <a:srgbClr val="00376E"/>
                          </a:solidFill>
                          <a:latin typeface="Arial"/>
                        </a:rPr>
                        <a:t>Servicios</a:t>
                      </a:r>
                      <a:r>
                        <a:rPr sz="1000" b="1" i="0" u="sng" dirty="0" lang="es-SV">
                          <a:solidFill>
                            <a:srgbClr val="00376E"/>
                          </a:solidFill>
                          <a:latin typeface="Arial"/>
                        </a:rPr>
                        <a:t> </a:t>
                      </a:r>
                      <a:r>
                        <a:rPr sz="1000" b="1" i="0" u="sng" dirty="0" lang="es-SV">
                          <a:solidFill>
                            <a:srgbClr val="00376E"/>
                          </a:solidFill>
                          <a:latin typeface="Arial"/>
                        </a:rPr>
                        <a:t>Críticos</a:t>
                      </a:r>
                      <a:r>
                        <a:rPr sz="1000" b="1" i="0" u="sng" dirty="0" lang="es-SV">
                          <a:solidFill>
                            <a:srgbClr val="00376E"/>
                          </a:solidFill>
                          <a:latin typeface="Arial"/>
                        </a:rPr>
                        <a:t> </a:t>
                      </a:r>
                      <a:r>
                        <a:rPr sz="1000" b="1" i="0" u="sng" dirty="0" lang="es-SV">
                          <a:solidFill>
                            <a:srgbClr val="00376E"/>
                          </a:solidFill>
                          <a:latin typeface="Arial"/>
                        </a:rPr>
                        <a:t>Tercerizados</a:t>
                      </a:r>
                      <a:r>
                        <a:rPr sz="1000" b="1" i="0" u="sng" dirty="0" lang="es-SV">
                          <a:solidFill>
                            <a:srgbClr val="00376E"/>
                          </a:solidFill>
                          <a:latin typeface="Arial"/>
                        </a:rPr>
                        <a:t>: Persona natural o </a:t>
                      </a:r>
                      <a:r>
                        <a:rPr sz="1000" b="1" i="0" u="sng" dirty="0" lang="es-SV">
                          <a:solidFill>
                            <a:srgbClr val="00376E"/>
                          </a:solidFill>
                          <a:latin typeface="Arial"/>
                        </a:rPr>
                        <a:t>jurídica</a:t>
                      </a:r>
                      <a:r>
                        <a:rPr sz="1000" b="1" i="0" u="sng" dirty="0" lang="es-SV">
                          <a:solidFill>
                            <a:srgbClr val="00376E"/>
                          </a:solidFill>
                          <a:latin typeface="Arial"/>
                        </a:rPr>
                        <a:t> </a:t>
                      </a:r>
                      <a:r>
                        <a:rPr sz="1000" b="1" i="0" u="sng" dirty="0" lang="es-SV">
                          <a:solidFill>
                            <a:srgbClr val="00376E"/>
                          </a:solidFill>
                          <a:latin typeface="Arial"/>
                        </a:rPr>
                        <a:t>distinta</a:t>
                      </a:r>
                      <a:r>
                        <a:rPr sz="1000" b="1" i="0" u="sng" dirty="0" lang="es-SV">
                          <a:solidFill>
                            <a:srgbClr val="00376E"/>
                          </a:solidFill>
                          <a:latin typeface="Arial"/>
                        </a:rPr>
                        <a:t> a la Cooperativa a </a:t>
                      </a:r>
                      <a:r>
                        <a:rPr sz="1000" b="1" i="0" u="sng" dirty="0" lang="es-SV">
                          <a:solidFill>
                            <a:srgbClr val="00376E"/>
                          </a:solidFill>
                          <a:latin typeface="Arial"/>
                        </a:rPr>
                        <a:t>quien</a:t>
                      </a:r>
                      <a:r>
                        <a:rPr sz="1000" b="1" i="0" u="sng" dirty="0" lang="es-SV">
                          <a:solidFill>
                            <a:srgbClr val="00376E"/>
                          </a:solidFill>
                          <a:latin typeface="Arial"/>
                        </a:rPr>
                        <a:t> se </a:t>
                      </a:r>
                      <a:r>
                        <a:rPr sz="1000" b="1" i="0" u="sng" dirty="0" lang="es-SV">
                          <a:solidFill>
                            <a:srgbClr val="00376E"/>
                          </a:solidFill>
                          <a:latin typeface="Arial"/>
                        </a:rPr>
                        <a:t>encarga</a:t>
                      </a:r>
                      <a:r>
                        <a:rPr sz="1000" b="1" i="0" u="sng" dirty="0" lang="es-SV">
                          <a:solidFill>
                            <a:srgbClr val="00376E"/>
                          </a:solidFill>
                          <a:latin typeface="Arial"/>
                        </a:rPr>
                        <a:t> la </a:t>
                      </a:r>
                      <a:r>
                        <a:rPr sz="1000" b="1" i="0" u="sng" dirty="0" lang="es-SV">
                          <a:solidFill>
                            <a:srgbClr val="00376E"/>
                          </a:solidFill>
                          <a:latin typeface="Arial"/>
                        </a:rPr>
                        <a:t>prestación</a:t>
                      </a:r>
                      <a:r>
                        <a:rPr sz="1000" b="1" i="0" u="sng" dirty="0" lang="es-SV">
                          <a:solidFill>
                            <a:srgbClr val="00376E"/>
                          </a:solidFill>
                          <a:latin typeface="Arial"/>
                        </a:rPr>
                        <a:t> de un Servicio </a:t>
                      </a:r>
                      <a:r>
                        <a:rPr sz="1000" b="1" i="0" u="sng" dirty="0" lang="es-SV">
                          <a:solidFill>
                            <a:srgbClr val="00376E"/>
                          </a:solidFill>
                          <a:latin typeface="Arial"/>
                        </a:rPr>
                        <a:t>Crítico</a:t>
                      </a:r>
                      <a:r>
                        <a:rPr sz="1000" b="1" i="0" u="sng" dirty="0" lang="es-SV">
                          <a:solidFill>
                            <a:srgbClr val="00376E"/>
                          </a:solidFill>
                          <a:latin typeface="Arial"/>
                        </a:rPr>
                        <a:t> </a:t>
                      </a:r>
                      <a:r>
                        <a:rPr sz="1000" b="1" i="0" u="sng" dirty="0" lang="es-SV">
                          <a:solidFill>
                            <a:srgbClr val="00376E"/>
                          </a:solidFill>
                          <a:latin typeface="Arial"/>
                        </a:rPr>
                        <a:t>Tercerizado</a:t>
                      </a:r>
                      <a:r>
                        <a:rPr sz="1000" b="1" i="0" u="sng" dirty="0" lang="es-SV">
                          <a:solidFill>
                            <a:srgbClr val="00376E"/>
                          </a:solidFill>
                          <a:latin typeface="Arial"/>
                        </a:rPr>
                        <a:t>.</a:t>
                      </a:r>
                    </a:p>
                  </a:txBody>
                  <a:tcPr marL="64008" marR="64008">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Corrige</a:t>
                      </a:r>
                      <a:r>
                        <a:rPr sz="1000" b="0" i="0" dirty="0" lang="es-SV">
                          <a:solidFill>
                            <a:srgbClr val="1B2333"/>
                          </a:solidFill>
                          <a:latin typeface="Arial"/>
                        </a:rPr>
                        <a:t> la V03, </a:t>
                      </a:r>
                      <a:r>
                        <a:rPr sz="1000" b="0" i="0" dirty="0" lang="es-SV">
                          <a:solidFill>
                            <a:srgbClr val="1B2333"/>
                          </a:solidFill>
                          <a:latin typeface="Arial"/>
                        </a:rPr>
                        <a:t>que</a:t>
                      </a:r>
                      <a:r>
                        <a:rPr sz="1000" b="0" i="0" dirty="0" lang="es-SV">
                          <a:solidFill>
                            <a:srgbClr val="1B2333"/>
                          </a:solidFill>
                          <a:latin typeface="Arial"/>
                        </a:rPr>
                        <a:t> </a:t>
                      </a:r>
                      <a:r>
                        <a:rPr sz="1000" b="0" i="0" dirty="0" lang="es-SV">
                          <a:solidFill>
                            <a:srgbClr val="1B2333"/>
                          </a:solidFill>
                          <a:latin typeface="Arial"/>
                        </a:rPr>
                        <a:t>definía</a:t>
                      </a:r>
                      <a:r>
                        <a:rPr sz="1000" b="0" i="0" dirty="0" lang="es-SV">
                          <a:solidFill>
                            <a:srgbClr val="1B2333"/>
                          </a:solidFill>
                          <a:latin typeface="Arial"/>
                        </a:rPr>
                        <a:t> el </a:t>
                      </a:r>
                      <a:r>
                        <a:rPr sz="1000" b="0" i="0" dirty="0" lang="es-SV">
                          <a:solidFill>
                            <a:srgbClr val="1B2333"/>
                          </a:solidFill>
                          <a:latin typeface="Arial"/>
                        </a:rPr>
                        <a:t>servicio</a:t>
                      </a:r>
                      <a:r>
                        <a:rPr sz="1000" b="0" i="0" dirty="0" lang="es-SV">
                          <a:solidFill>
                            <a:srgbClr val="1B2333"/>
                          </a:solidFill>
                          <a:latin typeface="Arial"/>
                        </a:rPr>
                        <a:t> </a:t>
                      </a:r>
                      <a:r>
                        <a:rPr sz="1000" b="0" i="0" dirty="0" lang="es-SV">
                          <a:solidFill>
                            <a:srgbClr val="1B2333"/>
                          </a:solidFill>
                          <a:latin typeface="Arial"/>
                        </a:rPr>
                        <a:t>como</a:t>
                      </a:r>
                      <a:r>
                        <a:rPr sz="1000" b="0" i="0" dirty="0" lang="es-SV">
                          <a:solidFill>
                            <a:srgbClr val="1B2333"/>
                          </a:solidFill>
                          <a:latin typeface="Arial"/>
                        </a:rPr>
                        <a:t> </a:t>
                      </a:r>
                      <a:r>
                        <a:rPr sz="1000" b="0" i="0" dirty="0" lang="es-SV">
                          <a:solidFill>
                            <a:srgbClr val="1B2333"/>
                          </a:solidFill>
                          <a:latin typeface="Arial"/>
                        </a:rPr>
                        <a:t>una</a:t>
                      </a:r>
                      <a:r>
                        <a:rPr sz="1000" b="0" i="0" dirty="0" lang="es-SV">
                          <a:solidFill>
                            <a:srgbClr val="1B2333"/>
                          </a:solidFill>
                          <a:latin typeface="Arial"/>
                        </a:rPr>
                        <a:t> persona. Se </a:t>
                      </a:r>
                      <a:r>
                        <a:rPr sz="1000" b="0" i="0" dirty="0" lang="es-SV">
                          <a:solidFill>
                            <a:srgbClr val="1B2333"/>
                          </a:solidFill>
                          <a:latin typeface="Arial"/>
                        </a:rPr>
                        <a:t>separa</a:t>
                      </a:r>
                      <a:r>
                        <a:rPr sz="1000" b="0" i="0" dirty="0" lang="es-SV">
                          <a:solidFill>
                            <a:srgbClr val="1B2333"/>
                          </a:solidFill>
                          <a:latin typeface="Arial"/>
                        </a:rPr>
                        <a:t> el </a:t>
                      </a:r>
                      <a:r>
                        <a:rPr sz="1000" b="0" i="0" dirty="0" lang="es-SV">
                          <a:solidFill>
                            <a:srgbClr val="1B2333"/>
                          </a:solidFill>
                          <a:latin typeface="Arial"/>
                        </a:rPr>
                        <a:t>servicio</a:t>
                      </a:r>
                      <a:r>
                        <a:rPr sz="1000" b="0" i="0" dirty="0" lang="es-SV">
                          <a:solidFill>
                            <a:srgbClr val="1B2333"/>
                          </a:solidFill>
                          <a:latin typeface="Arial"/>
                        </a:rPr>
                        <a:t> del </a:t>
                      </a:r>
                      <a:r>
                        <a:rPr sz="1000" b="0" i="0" dirty="0" lang="es-SV">
                          <a:solidFill>
                            <a:srgbClr val="1B2333"/>
                          </a:solidFill>
                          <a:latin typeface="Arial"/>
                        </a:rPr>
                        <a:t>proveedor</a:t>
                      </a:r>
                      <a:r>
                        <a:rPr sz="1000" b="0" i="0" dirty="0" lang="es-SV">
                          <a:solidFill>
                            <a:srgbClr val="1B2333"/>
                          </a:solidFill>
                          <a:latin typeface="Arial"/>
                        </a:rPr>
                        <a:t>.</a:t>
                      </a:r>
                    </a:p>
                    <a:p>
                      <a:pPr algn="just"/>
                      <a:r>
                        <a:rPr sz="1000" b="1" i="0" dirty="0" lang="es-SV">
                          <a:solidFill>
                            <a:srgbClr val="00376E"/>
                          </a:solidFill>
                          <a:latin typeface="Arial"/>
                        </a:rPr>
                        <a:t>NRP-42, art. 4 · NRP-24, art. 3, lit. y</a:t>
                      </a:r>
                    </a:p>
                  </a:txBody>
                  <a:tcPr marL="64008" marR="64008">
                    <a:lnL w="9525" cap="flat" cmpd="sng" algn="ctr">
                      <a:solidFill>
                        <a:srgbClr val="C9D1DE"/>
                      </a:solidFill>
                      <a:prstDash val="solid"/>
                      <a:round/>
                      <a:headEnd type="none" w="med" len="med"/>
                      <a:tailEnd type="none" w="med" len="me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74320">
                <a:tc>
                  <a:txBody>
                    <a:bodyPr/>
                    <a:lstStyle/>
                    <a:p>
                      <a:pPr algn="just"/>
                      <a:r>
                        <a:rPr sz="1000" b="1" i="0" lang="es-SV">
                          <a:solidFill>
                            <a:srgbClr val="00376E"/>
                          </a:solidFill>
                          <a:latin typeface="Arial"/>
                        </a:rPr>
                        <a:t>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Servicio No Crítico Tercerizado: Es una persona natural o jurídica que brinda productos o servicios, pero que la no disponibilidad de los mismos, no detiene la continuidad del negocio de la Cooperativa.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Servicio No Crítico Tercerizado: Es </a:t>
                      </a:r>
                      <a:r>
                        <a:rPr sz="1000" b="1" i="0" u="sng" lang="es-SV">
                          <a:solidFill>
                            <a:srgbClr val="00376E"/>
                          </a:solidFill>
                          <a:latin typeface="Arial"/>
                        </a:rPr>
                        <a:t>el servicio prestado por un tercero</a:t>
                      </a:r>
                      <a:r>
                        <a:rPr sz="1000" b="0" i="0" lang="es-SV">
                          <a:solidFill>
                            <a:srgbClr val="1B2333"/>
                          </a:solidFill>
                          <a:latin typeface="Arial"/>
                        </a:rPr>
                        <a:t> cuya no disponibilidad no detiene la continuidad del negocio de la Cooperativa.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Misma</a:t>
                      </a:r>
                      <a:r>
                        <a:rPr sz="1000" b="0" i="0" dirty="0" lang="es-SV">
                          <a:solidFill>
                            <a:srgbClr val="1B2333"/>
                          </a:solidFill>
                          <a:latin typeface="Arial"/>
                        </a:rPr>
                        <a:t> </a:t>
                      </a:r>
                      <a:r>
                        <a:rPr sz="1000" b="0" i="0" dirty="0" lang="es-SV">
                          <a:solidFill>
                            <a:srgbClr val="1B2333"/>
                          </a:solidFill>
                          <a:latin typeface="Arial"/>
                        </a:rPr>
                        <a:t>corrección</a:t>
                      </a:r>
                      <a:r>
                        <a:rPr sz="1000" b="0" i="0" dirty="0" lang="es-SV">
                          <a:solidFill>
                            <a:srgbClr val="1B2333"/>
                          </a:solidFill>
                          <a:latin typeface="Arial"/>
                        </a:rPr>
                        <a:t>: se define el </a:t>
                      </a:r>
                      <a:r>
                        <a:rPr sz="1000" b="0" i="0" dirty="0" lang="es-SV">
                          <a:solidFill>
                            <a:srgbClr val="1B2333"/>
                          </a:solidFill>
                          <a:latin typeface="Arial"/>
                        </a:rPr>
                        <a:t>servicio</a:t>
                      </a:r>
                      <a:r>
                        <a:rPr sz="1000" b="0" i="0" dirty="0" lang="es-SV">
                          <a:solidFill>
                            <a:srgbClr val="1B2333"/>
                          </a:solidFill>
                          <a:latin typeface="Arial"/>
                        </a:rPr>
                        <a:t>, no la persona.</a:t>
                      </a:r>
                    </a:p>
                    <a:p>
                      <a:pPr algn="just"/>
                      <a:r>
                        <a:rPr sz="1000" b="1" i="0" dirty="0" lang="es-SV">
                          <a:solidFill>
                            <a:srgbClr val="00376E"/>
                          </a:solidFill>
                          <a:latin typeface="Arial"/>
                        </a:rPr>
                        <a:t>Coherencia</a:t>
                      </a:r>
                      <a:r>
                        <a:rPr sz="1000" b="1" i="0" dirty="0" lang="es-SV">
                          <a:solidFill>
                            <a:srgbClr val="00376E"/>
                          </a:solidFill>
                          <a:latin typeface="Arial"/>
                        </a:rPr>
                        <a:t> con NRP-42, art. 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74320">
                <a:tc>
                  <a:txBody>
                    <a:bodyPr/>
                    <a:lstStyle/>
                    <a:p>
                      <a:pPr algn="just"/>
                      <a:r>
                        <a:rPr sz="1000" b="1" i="0" lang="es-SV">
                          <a:solidFill>
                            <a:srgbClr val="00376E"/>
                          </a:solidFill>
                          <a:latin typeface="Arial"/>
                        </a:rPr>
                        <a:t>10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Riesgo operacional: Posibilidad de incurrir en pérdidas debido a fallas en los procesos, en las personas, en los sistemas de información y a causa de acontecimientos externos; incluye el riesgo legal.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Definición</a:t>
                      </a:r>
                      <a:r>
                        <a:rPr sz="1000" b="0" i="0" dirty="0" lang="es-SV">
                          <a:solidFill>
                            <a:srgbClr val="1B2333"/>
                          </a:solidFill>
                          <a:latin typeface="Arial"/>
                        </a:rPr>
                        <a:t> literal de la </a:t>
                      </a:r>
                      <a:r>
                        <a:rPr sz="1000" b="0" i="0" dirty="0" lang="es-SV">
                          <a:solidFill>
                            <a:srgbClr val="1B2333"/>
                          </a:solidFill>
                          <a:latin typeface="Arial"/>
                        </a:rPr>
                        <a:t>normativa</a:t>
                      </a:r>
                      <a:r>
                        <a:rPr sz="1000" b="0" i="0" dirty="0" lang="es-SV">
                          <a:solidFill>
                            <a:srgbClr val="1B2333"/>
                          </a:solidFill>
                          <a:latin typeface="Arial"/>
                        </a:rPr>
                        <a:t>.</a:t>
                      </a:r>
                    </a:p>
                    <a:p>
                      <a:pPr algn="just"/>
                      <a:r>
                        <a:rPr sz="1000" b="1" i="0" dirty="0" lang="es-SV">
                          <a:solidFill>
                            <a:srgbClr val="00376E"/>
                          </a:solidFill>
                          <a:latin typeface="Arial"/>
                        </a:rPr>
                        <a:t>NRP-20, art. 6, lit. d · NRP-42, art. 3, lit. p</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74320">
                <a:tc>
                  <a:txBody>
                    <a:bodyPr/>
                    <a:lstStyle/>
                    <a:p>
                      <a:pPr algn="just"/>
                      <a:r>
                        <a:rPr sz="1000" b="1" i="0" lang="es-SV">
                          <a:solidFill>
                            <a:srgbClr val="00376E"/>
                          </a:solidFill>
                          <a:latin typeface="Arial"/>
                        </a:rPr>
                        <a:t>11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Factor de riesgo operacional: Es la causa primaria o el origen de un evento operacional: procesos, personas, tecnología de información y acontecimientos externos.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Definición</a:t>
                      </a:r>
                      <a:r>
                        <a:rPr sz="1000" b="0" i="0" dirty="0" lang="es-SV">
                          <a:solidFill>
                            <a:srgbClr val="1B2333"/>
                          </a:solidFill>
                          <a:latin typeface="Arial"/>
                        </a:rPr>
                        <a:t> literal de la </a:t>
                      </a:r>
                      <a:r>
                        <a:rPr sz="1000" b="0" i="0" dirty="0" lang="es-SV">
                          <a:solidFill>
                            <a:srgbClr val="1B2333"/>
                          </a:solidFill>
                          <a:latin typeface="Arial"/>
                        </a:rPr>
                        <a:t>normativa</a:t>
                      </a:r>
                      <a:r>
                        <a:rPr sz="1000" b="0" i="0" dirty="0" lang="es-SV">
                          <a:solidFill>
                            <a:srgbClr val="1B2333"/>
                          </a:solidFill>
                          <a:latin typeface="Arial"/>
                        </a:rPr>
                        <a:t>.</a:t>
                      </a:r>
                    </a:p>
                    <a:p>
                      <a:pPr algn="just"/>
                      <a:r>
                        <a:rPr sz="1000" b="1" i="0" dirty="0" lang="es-SV">
                          <a:solidFill>
                            <a:srgbClr val="00376E"/>
                          </a:solidFill>
                          <a:latin typeface="Arial"/>
                        </a:rPr>
                        <a:t>NRP-42, art. 3, lit. h</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0A848043-3E64-98A8-7A75-B15A546BA49B}"/>
              </a:ext>
            </a:extLst>
          </p:cNvPr>
          <p:cNvSpPr/>
          <p:nvPr/>
        </p:nvSpPr>
        <p:spPr>
          <a:xfrm>
            <a:off x="548640" y="138303"/>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19150" y="138303"/>
            <a:ext cx="9966960" cy="400110"/>
          </a:xfrm>
          <a:prstGeom prst="rect">
            <a:avLst/>
          </a:prstGeom>
          <a:noFill/>
        </p:spPr>
        <p:txBody>
          <a:bodyPr wrap="square" lIns="0" tIns="0" rIns="0" bIns="0" anchor="ctr">
            <a:spAutoFit/>
          </a:bodyPr>
          <a:lstStyle/>
          <a:p>
            <a:pPr algn="l"/>
            <a:r>
              <a:rPr sz="2600" b="1" i="0" dirty="0" lang="es-SV">
                <a:solidFill>
                  <a:srgbClr val="00376E"/>
                </a:solidFill>
                <a:latin typeface="Century Gothic"/>
              </a:rPr>
              <a:t>III. </a:t>
            </a:r>
            <a:r>
              <a:rPr sz="2600" b="1" i="0" dirty="0" lang="es-SV">
                <a:solidFill>
                  <a:srgbClr val="00376E"/>
                </a:solidFill>
                <a:latin typeface="Century Gothic"/>
              </a:rPr>
              <a:t>Definiciones</a:t>
            </a:r>
            <a:endParaRPr sz="2600" b="1" i="0" dirty="0" lang="es-SV">
              <a:solidFill>
                <a:srgbClr val="00376E"/>
              </a:solidFill>
              <a:latin typeface="Century Gothic"/>
            </a:endParaRPr>
          </a:p>
        </p:txBody>
      </p:sp>
      <p:graphicFrame>
        <p:nvGraphicFramePr>
          <p:cNvPr id="16" name="Table 15"/>
          <p:cNvGraphicFramePr>
            <a:graphicFrameLocks noGrp="1"/>
          </p:cNvGraphicFramePr>
          <p:nvPr>
            <p:extLst>
              <p:ext uri="{D42A27DB-BD31-4B8C-83A1-F6EECF244321}">
                <p14:modId xmlns:p14="http://schemas.microsoft.com/office/powerpoint/2010/main" val="885758536"/>
              </p:ext>
            </p:extLst>
          </p:nvPr>
        </p:nvGraphicFramePr>
        <p:xfrm>
          <a:off x="548640" y="677609"/>
          <a:ext cx="11091672" cy="3304032"/>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347472">
                <a:tc>
                  <a:txBody>
                    <a:bodyPr/>
                    <a:lstStyle/>
                    <a:p>
                      <a:pPr algn="just"/>
                      <a:r>
                        <a:rPr sz="1000" b="1" i="0" dirty="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dirty="0" lang="es-SV">
                          <a:solidFill>
                            <a:srgbClr val="FFFFFF"/>
                          </a:solidFill>
                          <a:latin typeface="Arial"/>
                        </a:rPr>
                        <a:t>Dice (V03 </a:t>
                      </a:r>
                      <a:r>
                        <a:rPr sz="1000" b="1" i="0" dirty="0" lang="es-SV">
                          <a:solidFill>
                            <a:srgbClr val="FFFFFF"/>
                          </a:solidFill>
                          <a:latin typeface="Arial"/>
                        </a:rPr>
                        <a:t>vigente</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dirty="0" lang="es-SV">
                          <a:solidFill>
                            <a:srgbClr val="FFFFFF"/>
                          </a:solidFill>
                          <a:latin typeface="Arial"/>
                        </a:rPr>
                        <a:t>Debe </a:t>
                      </a:r>
                      <a:r>
                        <a:rPr sz="1000" b="1" i="0" dirty="0" lang="es-SV">
                          <a:solidFill>
                            <a:srgbClr val="FFFFFF"/>
                          </a:solidFill>
                          <a:latin typeface="Arial"/>
                        </a:rPr>
                        <a:t>decir</a:t>
                      </a:r>
                      <a:r>
                        <a:rPr sz="1000" b="1" i="0" dirty="0" lang="es-SV">
                          <a:solidFill>
                            <a:srgbClr val="FFFFFF"/>
                          </a:solidFill>
                          <a:latin typeface="Arial"/>
                        </a:rPr>
                        <a:t> (V04 </a:t>
                      </a:r>
                      <a:r>
                        <a:rPr sz="1000" b="1" i="0" dirty="0" lang="es-SV">
                          <a:solidFill>
                            <a:srgbClr val="FFFFFF"/>
                          </a:solidFill>
                          <a:latin typeface="Arial"/>
                        </a:rPr>
                        <a:t>propuesta</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Mejora y base normativa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74320">
                <a:tc>
                  <a:txBody>
                    <a:bodyPr/>
                    <a:lstStyle/>
                    <a:p>
                      <a:pPr algn="just"/>
                      <a:r>
                        <a:rPr sz="1000" b="1" i="0" lang="es-SV">
                          <a:solidFill>
                            <a:srgbClr val="00376E"/>
                          </a:solidFill>
                          <a:latin typeface="Arial"/>
                        </a:rPr>
                        <a:t>12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dirty="0" lang="es-SV">
                          <a:solidFill>
                            <a:srgbClr val="5B6578"/>
                          </a:solidFill>
                          <a:latin typeface="Arial"/>
                        </a:rPr>
                        <a:t>No </a:t>
                      </a:r>
                      <a:r>
                        <a:rPr sz="1000" b="0" i="1" dirty="0" lang="es-SV">
                          <a:solidFill>
                            <a:srgbClr val="5B6578"/>
                          </a:solidFill>
                          <a:latin typeface="Arial"/>
                        </a:rPr>
                        <a:t>existía</a:t>
                      </a:r>
                      <a:r>
                        <a:rPr sz="1000" b="0" i="1" dirty="0" lang="es-SV">
                          <a:solidFill>
                            <a:srgbClr val="5B6578"/>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dirty="0" lang="es-SV">
                          <a:solidFill>
                            <a:srgbClr val="00376E"/>
                          </a:solidFill>
                          <a:latin typeface="Arial"/>
                        </a:rPr>
                        <a:t>Tecnología</a:t>
                      </a:r>
                      <a:r>
                        <a:rPr sz="1000" b="1" i="0" u="sng" dirty="0" lang="es-SV">
                          <a:solidFill>
                            <a:srgbClr val="00376E"/>
                          </a:solidFill>
                          <a:latin typeface="Arial"/>
                        </a:rPr>
                        <a:t> de </a:t>
                      </a:r>
                      <a:r>
                        <a:rPr sz="1000" b="1" i="0" u="sng" dirty="0" lang="es-SV">
                          <a:solidFill>
                            <a:srgbClr val="00376E"/>
                          </a:solidFill>
                          <a:latin typeface="Arial"/>
                        </a:rPr>
                        <a:t>información</a:t>
                      </a:r>
                      <a:r>
                        <a:rPr sz="1000" b="1" i="0" u="sng" dirty="0" lang="es-SV">
                          <a:solidFill>
                            <a:srgbClr val="00376E"/>
                          </a:solidFill>
                          <a:latin typeface="Arial"/>
                        </a:rPr>
                        <a:t> (factor de </a:t>
                      </a:r>
                      <a:r>
                        <a:rPr sz="1000" b="1" i="0" u="sng" dirty="0" lang="es-SV">
                          <a:solidFill>
                            <a:srgbClr val="00376E"/>
                          </a:solidFill>
                          <a:latin typeface="Arial"/>
                        </a:rPr>
                        <a:t>riesgo</a:t>
                      </a:r>
                      <a:r>
                        <a:rPr sz="1000" b="1" i="0" u="sng" dirty="0" lang="es-SV">
                          <a:solidFill>
                            <a:srgbClr val="00376E"/>
                          </a:solidFill>
                          <a:latin typeface="Arial"/>
                        </a:rPr>
                        <a:t> </a:t>
                      </a:r>
                      <a:r>
                        <a:rPr sz="1000" b="1" i="0" u="sng" dirty="0" lang="es-SV">
                          <a:solidFill>
                            <a:srgbClr val="00376E"/>
                          </a:solidFill>
                          <a:latin typeface="Arial"/>
                        </a:rPr>
                        <a:t>operacional</a:t>
                      </a:r>
                      <a:r>
                        <a:rPr sz="1000" b="1" i="0" u="sng" dirty="0" lang="es-SV">
                          <a:solidFill>
                            <a:srgbClr val="00376E"/>
                          </a:solidFill>
                          <a:latin typeface="Arial"/>
                        </a:rPr>
                        <a:t>): </a:t>
                      </a:r>
                      <a:r>
                        <a:rPr sz="1000" b="1" i="0" u="sng" dirty="0" lang="es-SV">
                          <a:solidFill>
                            <a:srgbClr val="00376E"/>
                          </a:solidFill>
                          <a:latin typeface="Arial"/>
                        </a:rPr>
                        <a:t>Comprende</a:t>
                      </a:r>
                      <a:r>
                        <a:rPr sz="1000" b="1" i="0" u="sng" dirty="0" lang="es-SV">
                          <a:solidFill>
                            <a:srgbClr val="00376E"/>
                          </a:solidFill>
                          <a:latin typeface="Arial"/>
                        </a:rPr>
                        <a:t> </a:t>
                      </a:r>
                      <a:r>
                        <a:rPr sz="1000" b="1" i="0" u="sng" dirty="0" lang="es-SV">
                          <a:solidFill>
                            <a:srgbClr val="00376E"/>
                          </a:solidFill>
                          <a:latin typeface="Arial"/>
                        </a:rPr>
                        <a:t>los</a:t>
                      </a:r>
                      <a:r>
                        <a:rPr sz="1000" b="1" i="0" u="sng" dirty="0" lang="es-SV">
                          <a:solidFill>
                            <a:srgbClr val="00376E"/>
                          </a:solidFill>
                          <a:latin typeface="Arial"/>
                        </a:rPr>
                        <a:t> </a:t>
                      </a:r>
                      <a:r>
                        <a:rPr sz="1000" b="1" i="0" u="sng" dirty="0" lang="es-SV">
                          <a:solidFill>
                            <a:srgbClr val="00376E"/>
                          </a:solidFill>
                          <a:latin typeface="Arial"/>
                        </a:rPr>
                        <a:t>riesgos</a:t>
                      </a:r>
                      <a:r>
                        <a:rPr sz="1000" b="1" i="0" u="sng" dirty="0" lang="es-SV">
                          <a:solidFill>
                            <a:srgbClr val="00376E"/>
                          </a:solidFill>
                          <a:latin typeface="Arial"/>
                        </a:rPr>
                        <a:t> </a:t>
                      </a:r>
                      <a:r>
                        <a:rPr sz="1000" b="1" i="0" u="sng" dirty="0" lang="es-SV">
                          <a:solidFill>
                            <a:srgbClr val="00376E"/>
                          </a:solidFill>
                          <a:latin typeface="Arial"/>
                        </a:rPr>
                        <a:t>asociados</a:t>
                      </a:r>
                      <a:r>
                        <a:rPr sz="1000" b="1" i="0" u="sng" dirty="0" lang="es-SV">
                          <a:solidFill>
                            <a:srgbClr val="00376E"/>
                          </a:solidFill>
                          <a:latin typeface="Arial"/>
                        </a:rPr>
                        <a:t> a la </a:t>
                      </a:r>
                      <a:r>
                        <a:rPr sz="1000" b="1" i="0" u="sng" dirty="0" lang="es-SV">
                          <a:solidFill>
                            <a:srgbClr val="00376E"/>
                          </a:solidFill>
                          <a:latin typeface="Arial"/>
                        </a:rPr>
                        <a:t>tecnología</a:t>
                      </a:r>
                      <a:r>
                        <a:rPr sz="1000" b="1" i="0" u="sng" dirty="0" lang="es-SV">
                          <a:solidFill>
                            <a:srgbClr val="00376E"/>
                          </a:solidFill>
                          <a:latin typeface="Arial"/>
                        </a:rPr>
                        <a:t> de </a:t>
                      </a:r>
                      <a:r>
                        <a:rPr sz="1000" b="1" i="0" u="sng" dirty="0" lang="es-SV">
                          <a:solidFill>
                            <a:srgbClr val="00376E"/>
                          </a:solidFill>
                          <a:latin typeface="Arial"/>
                        </a:rPr>
                        <a:t>información</a:t>
                      </a:r>
                      <a:r>
                        <a:rPr sz="1000" b="1" i="0" u="sng" dirty="0" lang="es-SV">
                          <a:solidFill>
                            <a:srgbClr val="00376E"/>
                          </a:solidFill>
                          <a:latin typeface="Arial"/>
                        </a:rPr>
                        <a:t>, entre </a:t>
                      </a:r>
                      <a:r>
                        <a:rPr sz="1000" b="1" i="0" u="sng" dirty="0" lang="es-SV">
                          <a:solidFill>
                            <a:srgbClr val="00376E"/>
                          </a:solidFill>
                          <a:latin typeface="Arial"/>
                        </a:rPr>
                        <a:t>otros</a:t>
                      </a:r>
                      <a:r>
                        <a:rPr sz="1000" b="1" i="0" u="sng" dirty="0" lang="es-SV">
                          <a:solidFill>
                            <a:srgbClr val="00376E"/>
                          </a:solidFill>
                          <a:latin typeface="Arial"/>
                        </a:rPr>
                        <a:t>, </a:t>
                      </a:r>
                      <a:r>
                        <a:rPr sz="1000" b="1" i="0" u="sng" dirty="0" lang="es-SV">
                          <a:solidFill>
                            <a:srgbClr val="00376E"/>
                          </a:solidFill>
                          <a:latin typeface="Arial"/>
                        </a:rPr>
                        <a:t>los</a:t>
                      </a:r>
                      <a:r>
                        <a:rPr sz="1000" b="1" i="0" u="sng" dirty="0" lang="es-SV">
                          <a:solidFill>
                            <a:srgbClr val="00376E"/>
                          </a:solidFill>
                          <a:latin typeface="Arial"/>
                        </a:rPr>
                        <a:t> </a:t>
                      </a:r>
                      <a:r>
                        <a:rPr sz="1000" b="1" i="0" u="sng" dirty="0" lang="es-SV">
                          <a:solidFill>
                            <a:srgbClr val="00376E"/>
                          </a:solidFill>
                          <a:latin typeface="Arial"/>
                        </a:rPr>
                        <a:t>relacionados</a:t>
                      </a:r>
                      <a:r>
                        <a:rPr sz="1000" b="1" i="0" u="sng" dirty="0" lang="es-SV">
                          <a:solidFill>
                            <a:srgbClr val="00376E"/>
                          </a:solidFill>
                          <a:latin typeface="Arial"/>
                        </a:rPr>
                        <a:t> a </a:t>
                      </a:r>
                      <a:r>
                        <a:rPr sz="1000" b="1" i="0" u="sng" dirty="0" lang="es-SV">
                          <a:solidFill>
                            <a:srgbClr val="00376E"/>
                          </a:solidFill>
                          <a:latin typeface="Arial"/>
                        </a:rPr>
                        <a:t>fallas</a:t>
                      </a:r>
                      <a:r>
                        <a:rPr sz="1000" b="1" i="0" u="sng" dirty="0" lang="es-SV">
                          <a:solidFill>
                            <a:srgbClr val="00376E"/>
                          </a:solidFill>
                          <a:latin typeface="Arial"/>
                        </a:rPr>
                        <a:t> </a:t>
                      </a:r>
                      <a:r>
                        <a:rPr sz="1000" b="1" i="0" u="sng" dirty="0" lang="es-SV">
                          <a:solidFill>
                            <a:srgbClr val="00376E"/>
                          </a:solidFill>
                          <a:latin typeface="Arial"/>
                        </a:rPr>
                        <a:t>en</a:t>
                      </a:r>
                      <a:r>
                        <a:rPr sz="1000" b="1" i="0" u="sng" dirty="0" lang="es-SV">
                          <a:solidFill>
                            <a:srgbClr val="00376E"/>
                          </a:solidFill>
                          <a:latin typeface="Arial"/>
                        </a:rPr>
                        <a:t> la </a:t>
                      </a:r>
                      <a:r>
                        <a:rPr sz="1000" b="1" i="0" u="sng" dirty="0" lang="es-SV">
                          <a:solidFill>
                            <a:srgbClr val="00376E"/>
                          </a:solidFill>
                          <a:latin typeface="Arial"/>
                        </a:rPr>
                        <a:t>seguridad</a:t>
                      </a:r>
                      <a:r>
                        <a:rPr sz="1000" b="1" i="0" u="sng" dirty="0" lang="es-SV">
                          <a:solidFill>
                            <a:srgbClr val="00376E"/>
                          </a:solidFill>
                          <a:latin typeface="Arial"/>
                        </a:rPr>
                        <a:t> y </a:t>
                      </a:r>
                      <a:r>
                        <a:rPr sz="1000" b="1" i="0" u="sng" dirty="0" lang="es-SV">
                          <a:solidFill>
                            <a:srgbClr val="00376E"/>
                          </a:solidFill>
                          <a:latin typeface="Arial"/>
                        </a:rPr>
                        <a:t>continuidad</a:t>
                      </a:r>
                      <a:r>
                        <a:rPr sz="1000" b="1" i="0" u="sng" dirty="0" lang="es-SV">
                          <a:solidFill>
                            <a:srgbClr val="00376E"/>
                          </a:solidFill>
                          <a:latin typeface="Arial"/>
                        </a:rPr>
                        <a:t> </a:t>
                      </a:r>
                      <a:r>
                        <a:rPr sz="1000" b="1" i="0" u="sng" dirty="0" lang="es-SV">
                          <a:solidFill>
                            <a:srgbClr val="00376E"/>
                          </a:solidFill>
                          <a:latin typeface="Arial"/>
                        </a:rPr>
                        <a:t>operativa</a:t>
                      </a:r>
                      <a:r>
                        <a:rPr sz="1000" b="1" i="0" u="sng" dirty="0" lang="es-SV">
                          <a:solidFill>
                            <a:srgbClr val="00376E"/>
                          </a:solidFill>
                          <a:latin typeface="Arial"/>
                        </a:rPr>
                        <a:t> de </a:t>
                      </a:r>
                      <a:r>
                        <a:rPr sz="1000" b="1" i="0" u="sng" dirty="0" lang="es-SV">
                          <a:solidFill>
                            <a:srgbClr val="00376E"/>
                          </a:solidFill>
                          <a:latin typeface="Arial"/>
                        </a:rPr>
                        <a:t>los</a:t>
                      </a:r>
                      <a:r>
                        <a:rPr sz="1000" b="1" i="0" u="sng" dirty="0" lang="es-SV">
                          <a:solidFill>
                            <a:srgbClr val="00376E"/>
                          </a:solidFill>
                          <a:latin typeface="Arial"/>
                        </a:rPr>
                        <a:t> </a:t>
                      </a:r>
                      <a:r>
                        <a:rPr sz="1000" b="1" i="0" u="sng" dirty="0" lang="es-SV">
                          <a:solidFill>
                            <a:srgbClr val="00376E"/>
                          </a:solidFill>
                          <a:latin typeface="Arial"/>
                        </a:rPr>
                        <a:t>sistemas</a:t>
                      </a:r>
                      <a:r>
                        <a:rPr sz="1000" b="1" i="0" u="sng" dirty="0" lang="es-SV">
                          <a:solidFill>
                            <a:srgbClr val="00376E"/>
                          </a:solidFill>
                          <a:latin typeface="Arial"/>
                        </a:rPr>
                        <a:t> </a:t>
                      </a:r>
                      <a:r>
                        <a:rPr sz="1000" b="1" i="0" u="sng" dirty="0" lang="es-SV">
                          <a:solidFill>
                            <a:srgbClr val="00376E"/>
                          </a:solidFill>
                          <a:latin typeface="Arial"/>
                        </a:rPr>
                        <a:t>informáticos</a:t>
                      </a:r>
                      <a:r>
                        <a:rPr sz="1000" b="1" i="0" u="sng" dirty="0" lang="es-SV">
                          <a:solidFill>
                            <a:srgbClr val="00376E"/>
                          </a:solidFill>
                          <a:latin typeface="Arial"/>
                        </a:rPr>
                        <a:t>, </a:t>
                      </a:r>
                      <a:r>
                        <a:rPr sz="1000" b="1" i="0" u="sng" dirty="0" lang="es-SV">
                          <a:solidFill>
                            <a:srgbClr val="00376E"/>
                          </a:solidFill>
                          <a:latin typeface="Arial"/>
                        </a:rPr>
                        <a:t>los</a:t>
                      </a:r>
                      <a:r>
                        <a:rPr sz="1000" b="1" i="0" u="sng" dirty="0" lang="es-SV">
                          <a:solidFill>
                            <a:srgbClr val="00376E"/>
                          </a:solidFill>
                          <a:latin typeface="Arial"/>
                        </a:rPr>
                        <a:t> </a:t>
                      </a:r>
                      <a:r>
                        <a:rPr sz="1000" b="1" i="0" u="sng" dirty="0" lang="es-SV">
                          <a:solidFill>
                            <a:srgbClr val="00376E"/>
                          </a:solidFill>
                          <a:latin typeface="Arial"/>
                        </a:rPr>
                        <a:t>errores</a:t>
                      </a:r>
                      <a:r>
                        <a:rPr sz="1000" b="1" i="0" u="sng" dirty="0" lang="es-SV">
                          <a:solidFill>
                            <a:srgbClr val="00376E"/>
                          </a:solidFill>
                          <a:latin typeface="Arial"/>
                        </a:rPr>
                        <a:t> </a:t>
                      </a:r>
                      <a:r>
                        <a:rPr sz="1000" b="1" i="0" u="sng" dirty="0" lang="es-SV">
                          <a:solidFill>
                            <a:srgbClr val="00376E"/>
                          </a:solidFill>
                          <a:latin typeface="Arial"/>
                        </a:rPr>
                        <a:t>en</a:t>
                      </a:r>
                      <a:r>
                        <a:rPr sz="1000" b="1" i="0" u="sng" dirty="0" lang="es-SV">
                          <a:solidFill>
                            <a:srgbClr val="00376E"/>
                          </a:solidFill>
                          <a:latin typeface="Arial"/>
                        </a:rPr>
                        <a:t> </a:t>
                      </a:r>
                      <a:r>
                        <a:rPr sz="1000" b="1" i="0" u="sng" dirty="0" lang="es-SV">
                          <a:solidFill>
                            <a:srgbClr val="00376E"/>
                          </a:solidFill>
                          <a:latin typeface="Arial"/>
                        </a:rPr>
                        <a:t>su</a:t>
                      </a:r>
                      <a:r>
                        <a:rPr sz="1000" b="1" i="0" u="sng" dirty="0" lang="es-SV">
                          <a:solidFill>
                            <a:srgbClr val="00376E"/>
                          </a:solidFill>
                          <a:latin typeface="Arial"/>
                        </a:rPr>
                        <a:t> </a:t>
                      </a:r>
                      <a:r>
                        <a:rPr sz="1000" b="1" i="0" u="sng" dirty="0" lang="es-SV">
                          <a:solidFill>
                            <a:srgbClr val="00376E"/>
                          </a:solidFill>
                          <a:latin typeface="Arial"/>
                        </a:rPr>
                        <a:t>desarrollo</a:t>
                      </a:r>
                      <a:r>
                        <a:rPr sz="1000" b="1" i="0" u="sng" dirty="0" lang="es-SV">
                          <a:solidFill>
                            <a:srgbClr val="00376E"/>
                          </a:solidFill>
                          <a:latin typeface="Arial"/>
                        </a:rPr>
                        <a:t> e </a:t>
                      </a:r>
                      <a:r>
                        <a:rPr sz="1000" b="1" i="0" u="sng" dirty="0" lang="es-SV">
                          <a:solidFill>
                            <a:srgbClr val="00376E"/>
                          </a:solidFill>
                          <a:latin typeface="Arial"/>
                        </a:rPr>
                        <a:t>implementación</a:t>
                      </a:r>
                      <a:r>
                        <a:rPr sz="1000" b="1" i="0" u="sng" dirty="0" lang="es-SV">
                          <a:solidFill>
                            <a:srgbClr val="00376E"/>
                          </a:solidFill>
                          <a:latin typeface="Arial"/>
                        </a:rPr>
                        <a:t>, </a:t>
                      </a:r>
                      <a:r>
                        <a:rPr sz="1000" b="1" i="0" u="sng" dirty="0" lang="es-SV">
                          <a:solidFill>
                            <a:srgbClr val="00376E"/>
                          </a:solidFill>
                          <a:latin typeface="Arial"/>
                        </a:rPr>
                        <a:t>su</a:t>
                      </a:r>
                      <a:r>
                        <a:rPr sz="1000" b="1" i="0" u="sng" dirty="0" lang="es-SV">
                          <a:solidFill>
                            <a:srgbClr val="00376E"/>
                          </a:solidFill>
                          <a:latin typeface="Arial"/>
                        </a:rPr>
                        <a:t> </a:t>
                      </a:r>
                      <a:r>
                        <a:rPr sz="1000" b="1" i="0" u="sng" dirty="0" lang="es-SV">
                          <a:solidFill>
                            <a:srgbClr val="00376E"/>
                          </a:solidFill>
                          <a:latin typeface="Arial"/>
                        </a:rPr>
                        <a:t>compatibilidad</a:t>
                      </a:r>
                      <a:r>
                        <a:rPr sz="1000" b="1" i="0" u="sng" dirty="0" lang="es-SV">
                          <a:solidFill>
                            <a:srgbClr val="00376E"/>
                          </a:solidFill>
                          <a:latin typeface="Arial"/>
                        </a:rPr>
                        <a:t> e </a:t>
                      </a:r>
                      <a:r>
                        <a:rPr sz="1000" b="1" i="0" u="sng" dirty="0" lang="es-SV">
                          <a:solidFill>
                            <a:srgbClr val="00376E"/>
                          </a:solidFill>
                          <a:latin typeface="Arial"/>
                        </a:rPr>
                        <a:t>integración</a:t>
                      </a:r>
                      <a:r>
                        <a:rPr sz="1000" b="1" i="0" u="sng" dirty="0" lang="es-SV">
                          <a:solidFill>
                            <a:srgbClr val="00376E"/>
                          </a:solidFill>
                          <a:latin typeface="Arial"/>
                        </a:rPr>
                        <a:t>, la </a:t>
                      </a:r>
                      <a:r>
                        <a:rPr sz="1000" b="1" i="0" u="sng" dirty="0" lang="es-SV">
                          <a:solidFill>
                            <a:srgbClr val="00376E"/>
                          </a:solidFill>
                          <a:latin typeface="Arial"/>
                        </a:rPr>
                        <a:t>calidad</a:t>
                      </a:r>
                      <a:r>
                        <a:rPr sz="1000" b="1" i="0" u="sng" dirty="0" lang="es-SV">
                          <a:solidFill>
                            <a:srgbClr val="00376E"/>
                          </a:solidFill>
                          <a:latin typeface="Arial"/>
                        </a:rPr>
                        <a:t> de la </a:t>
                      </a:r>
                      <a:r>
                        <a:rPr sz="1000" b="1" i="0" u="sng" dirty="0" lang="es-SV">
                          <a:solidFill>
                            <a:srgbClr val="00376E"/>
                          </a:solidFill>
                          <a:latin typeface="Arial"/>
                        </a:rPr>
                        <a:t>información</a:t>
                      </a:r>
                      <a:r>
                        <a:rPr sz="1000" b="1" i="0" u="sng" dirty="0" lang="es-SV">
                          <a:solidFill>
                            <a:srgbClr val="00376E"/>
                          </a:solidFill>
                          <a:latin typeface="Arial"/>
                        </a:rPr>
                        <a:t> y </a:t>
                      </a:r>
                      <a:r>
                        <a:rPr sz="1000" b="1" i="0" u="sng" dirty="0" lang="es-SV">
                          <a:solidFill>
                            <a:srgbClr val="00376E"/>
                          </a:solidFill>
                          <a:latin typeface="Arial"/>
                        </a:rPr>
                        <a:t>una</a:t>
                      </a:r>
                      <a:r>
                        <a:rPr sz="1000" b="1" i="0" u="sng" dirty="0" lang="es-SV">
                          <a:solidFill>
                            <a:srgbClr val="00376E"/>
                          </a:solidFill>
                          <a:latin typeface="Arial"/>
                        </a:rPr>
                        <a:t> </a:t>
                      </a:r>
                      <a:r>
                        <a:rPr sz="1000" b="1" i="0" u="sng" dirty="0" lang="es-SV">
                          <a:solidFill>
                            <a:srgbClr val="00376E"/>
                          </a:solidFill>
                          <a:latin typeface="Arial"/>
                        </a:rPr>
                        <a:t>adecuada</a:t>
                      </a:r>
                      <a:r>
                        <a:rPr sz="1000" b="1" i="0" u="sng" dirty="0" lang="es-SV">
                          <a:solidFill>
                            <a:srgbClr val="00376E"/>
                          </a:solidFill>
                          <a:latin typeface="Arial"/>
                        </a:rPr>
                        <a:t> </a:t>
                      </a:r>
                      <a:r>
                        <a:rPr sz="1000" b="1" i="0" u="sng" dirty="0" lang="es-SV">
                          <a:solidFill>
                            <a:srgbClr val="00376E"/>
                          </a:solidFill>
                          <a:latin typeface="Arial"/>
                        </a:rPr>
                        <a:t>inversión</a:t>
                      </a:r>
                      <a:r>
                        <a:rPr sz="1000" b="1" i="0" u="sng" dirty="0" lang="es-SV">
                          <a:solidFill>
                            <a:srgbClr val="00376E"/>
                          </a:solidFill>
                          <a:latin typeface="Arial"/>
                        </a:rPr>
                        <a:t> </a:t>
                      </a:r>
                      <a:r>
                        <a:rPr sz="1000" b="1" i="0" u="sng" dirty="0" lang="es-SV">
                          <a:solidFill>
                            <a:srgbClr val="00376E"/>
                          </a:solidFill>
                          <a:latin typeface="Arial"/>
                        </a:rPr>
                        <a:t>en</a:t>
                      </a:r>
                      <a:r>
                        <a:rPr sz="1000" b="1" i="0" u="sng" dirty="0" lang="es-SV">
                          <a:solidFill>
                            <a:srgbClr val="00376E"/>
                          </a:solidFill>
                          <a:latin typeface="Arial"/>
                        </a:rPr>
                        <a:t> </a:t>
                      </a:r>
                      <a:r>
                        <a:rPr sz="1000" b="1" i="0" u="sng" dirty="0" lang="es-SV">
                          <a:solidFill>
                            <a:srgbClr val="00376E"/>
                          </a:solidFill>
                          <a:latin typeface="Arial"/>
                        </a:rPr>
                        <a:t>tecnología</a:t>
                      </a:r>
                      <a:r>
                        <a:rPr sz="1000" b="1" i="0" u="sng" dirty="0" lang="es-SV">
                          <a:solidFill>
                            <a:srgbClr val="00376E"/>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Nombre y </a:t>
                      </a:r>
                      <a:r>
                        <a:rPr sz="1000" b="0" i="0" dirty="0" lang="es-SV">
                          <a:solidFill>
                            <a:srgbClr val="1B2333"/>
                          </a:solidFill>
                          <a:latin typeface="Arial"/>
                        </a:rPr>
                        <a:t>definición</a:t>
                      </a:r>
                      <a:r>
                        <a:rPr sz="1000" b="0" i="0" dirty="0" lang="es-SV">
                          <a:solidFill>
                            <a:srgbClr val="1B2333"/>
                          </a:solidFill>
                          <a:latin typeface="Arial"/>
                        </a:rPr>
                        <a:t> de la </a:t>
                      </a:r>
                      <a:r>
                        <a:rPr sz="1000" b="0" i="0" dirty="0" lang="es-SV">
                          <a:solidFill>
                            <a:srgbClr val="1B2333"/>
                          </a:solidFill>
                          <a:latin typeface="Arial"/>
                        </a:rPr>
                        <a:t>normativa</a:t>
                      </a:r>
                      <a:r>
                        <a:rPr sz="1000" b="0" i="0" dirty="0" lang="es-SV">
                          <a:solidFill>
                            <a:srgbClr val="1B2333"/>
                          </a:solidFill>
                          <a:latin typeface="Arial"/>
                        </a:rPr>
                        <a:t>.</a:t>
                      </a:r>
                    </a:p>
                    <a:p>
                      <a:pPr algn="just"/>
                      <a:r>
                        <a:rPr sz="1000" b="1" i="0" dirty="0" lang="es-SV">
                          <a:solidFill>
                            <a:srgbClr val="00376E"/>
                          </a:solidFill>
                          <a:latin typeface="Arial"/>
                        </a:rPr>
                        <a:t>NRP-42, art. 8, lit. c</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74320">
                <a:tc>
                  <a:txBody>
                    <a:bodyPr/>
                    <a:lstStyle/>
                    <a:p>
                      <a:pPr algn="just"/>
                      <a:r>
                        <a:rPr sz="1000" b="1" i="0" lang="es-SV">
                          <a:solidFill>
                            <a:srgbClr val="00376E"/>
                          </a:solidFill>
                          <a:latin typeface="Arial"/>
                        </a:rPr>
                        <a:t>13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Evento de riesgo operacional: Es un suceso o serie de sucesos, de origen interno o externo, que incluyen los incidentes ocurridos y eventos potenciales que pudieren generar pérdidas económicas.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Definición</a:t>
                      </a:r>
                      <a:r>
                        <a:rPr sz="1000" b="0" i="0" dirty="0" lang="es-SV">
                          <a:solidFill>
                            <a:srgbClr val="1B2333"/>
                          </a:solidFill>
                          <a:latin typeface="Arial"/>
                        </a:rPr>
                        <a:t> literal de la </a:t>
                      </a:r>
                      <a:r>
                        <a:rPr sz="1000" b="0" i="0" dirty="0" lang="es-SV">
                          <a:solidFill>
                            <a:srgbClr val="1B2333"/>
                          </a:solidFill>
                          <a:latin typeface="Arial"/>
                        </a:rPr>
                        <a:t>normativa</a:t>
                      </a:r>
                      <a:r>
                        <a:rPr sz="1000" b="0" i="0" dirty="0" lang="es-SV">
                          <a:solidFill>
                            <a:srgbClr val="1B2333"/>
                          </a:solidFill>
                          <a:latin typeface="Arial"/>
                        </a:rPr>
                        <a:t>.</a:t>
                      </a:r>
                    </a:p>
                    <a:p>
                      <a:pPr algn="just"/>
                      <a:r>
                        <a:rPr sz="1000" b="1" i="0" dirty="0" lang="es-SV">
                          <a:solidFill>
                            <a:srgbClr val="00376E"/>
                          </a:solidFill>
                          <a:latin typeface="Arial"/>
                        </a:rPr>
                        <a:t>NRP-42, art. 3, lit. g</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74320">
                <a:tc>
                  <a:txBody>
                    <a:bodyPr/>
                    <a:lstStyle/>
                    <a:p>
                      <a:pPr algn="just"/>
                      <a:r>
                        <a:rPr sz="1000" b="1" i="0" lang="es-SV">
                          <a:solidFill>
                            <a:srgbClr val="00376E"/>
                          </a:solidFill>
                          <a:latin typeface="Arial"/>
                        </a:rPr>
                        <a:t>14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Riesgo de liquidez: Es la posibilidad de incurrir en pérdidas por no disponer de los recursos suficientes para cumplir con las obligaciones asumidas, incurrir en costos excesivos y no poder desarrollar el negocio en las condiciones previstas.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Definición</a:t>
                      </a:r>
                      <a:r>
                        <a:rPr sz="1000" b="0" i="0" dirty="0" lang="es-SV">
                          <a:solidFill>
                            <a:srgbClr val="1B2333"/>
                          </a:solidFill>
                          <a:latin typeface="Arial"/>
                        </a:rPr>
                        <a:t> literal de la </a:t>
                      </a:r>
                      <a:r>
                        <a:rPr sz="1000" b="0" i="0" dirty="0" lang="es-SV">
                          <a:solidFill>
                            <a:srgbClr val="1B2333"/>
                          </a:solidFill>
                          <a:latin typeface="Arial"/>
                        </a:rPr>
                        <a:t>normativa</a:t>
                      </a:r>
                      <a:r>
                        <a:rPr sz="1000" b="0" i="0" dirty="0" lang="es-SV">
                          <a:solidFill>
                            <a:srgbClr val="1B2333"/>
                          </a:solidFill>
                          <a:latin typeface="Arial"/>
                        </a:rPr>
                        <a:t>.</a:t>
                      </a:r>
                    </a:p>
                    <a:p>
                      <a:pPr algn="just"/>
                      <a:r>
                        <a:rPr sz="1000" b="1" i="0" dirty="0" lang="es-SV">
                          <a:solidFill>
                            <a:srgbClr val="00376E"/>
                          </a:solidFill>
                          <a:latin typeface="Arial"/>
                        </a:rPr>
                        <a:t>NRP-20, art. 6, lit. c</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74320">
                <a:tc>
                  <a:txBody>
                    <a:bodyPr/>
                    <a:lstStyle/>
                    <a:p>
                      <a:pPr algn="just"/>
                      <a:r>
                        <a:rPr sz="1000" b="1" i="0" lang="es-SV">
                          <a:solidFill>
                            <a:srgbClr val="00376E"/>
                          </a:solidFill>
                          <a:latin typeface="Arial"/>
                        </a:rPr>
                        <a:t>15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Riesgo reputacional: Es la posibilidad de incurrir en pérdidas, producto del deterioro de imagen de la entidad, debido al incumplimiento de leyes, normas internas, códigos de gobierno corporativo, códigos de conducta, entre otros.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Definición</a:t>
                      </a:r>
                      <a:r>
                        <a:rPr sz="1000" b="0" i="0" dirty="0" lang="es-SV">
                          <a:solidFill>
                            <a:srgbClr val="1B2333"/>
                          </a:solidFill>
                          <a:latin typeface="Arial"/>
                        </a:rPr>
                        <a:t> literal de la </a:t>
                      </a:r>
                      <a:r>
                        <a:rPr sz="1000" b="0" i="0" dirty="0" lang="es-SV">
                          <a:solidFill>
                            <a:srgbClr val="1B2333"/>
                          </a:solidFill>
                          <a:latin typeface="Arial"/>
                        </a:rPr>
                        <a:t>normativa</a:t>
                      </a:r>
                      <a:r>
                        <a:rPr sz="1000" b="0" i="0" dirty="0" lang="es-SV">
                          <a:solidFill>
                            <a:srgbClr val="1B2333"/>
                          </a:solidFill>
                          <a:latin typeface="Arial"/>
                        </a:rPr>
                        <a:t>.</a:t>
                      </a:r>
                    </a:p>
                    <a:p>
                      <a:pPr algn="just"/>
                      <a:r>
                        <a:rPr sz="1000" b="1" i="0" dirty="0" lang="es-SV">
                          <a:solidFill>
                            <a:srgbClr val="00376E"/>
                          </a:solidFill>
                          <a:latin typeface="Arial"/>
                        </a:rPr>
                        <a:t>NRP-20, art. 6, lit. 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bl>
          </a:graphicData>
        </a:graphic>
      </p:graphicFrame>
      <p:sp>
        <p:nvSpPr>
          <p:cNvPr id="17" name="TextBox 16"/>
          <p:cNvSpPr txBox="1"/>
          <p:nvPr/>
        </p:nvSpPr>
        <p:spPr>
          <a:xfrm>
            <a:off x="548640" y="6355080"/>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Texto subrayado en azul</a:t>
            </a:r>
            <a:r>
              <a:rPr sz="1000" b="0" i="0" lang="es-SV">
                <a:solidFill>
                  <a:srgbClr val="5B6578"/>
                </a:solidFill>
                <a:latin typeface="Arial"/>
              </a:rPr>
              <a:t> = nuevo o modificado respecto a la versión vigente</a:t>
            </a:r>
          </a:p>
        </p:txBody>
      </p:sp>
      <p:graphicFrame>
        <p:nvGraphicFramePr>
          <p:cNvPr id="3" name="Table 15">
            <a:extLst>
              <a:ext uri="{FF2B5EF4-FFF2-40B4-BE49-F238E27FC236}">
                <a16:creationId xmlns:a16="http://schemas.microsoft.com/office/drawing/2014/main" id="{36F1EA08-266E-077A-4CB3-40B5F62FA96A}"/>
              </a:ext>
            </a:extLst>
          </p:cNvPr>
          <p:cNvGraphicFramePr>
            <a:graphicFrameLocks noGrp="1"/>
          </p:cNvGraphicFramePr>
          <p:nvPr>
            <p:extLst>
              <p:ext uri="{D42A27DB-BD31-4B8C-83A1-F6EECF244321}">
                <p14:modId xmlns:p14="http://schemas.microsoft.com/office/powerpoint/2010/main" val="3111678250"/>
              </p:ext>
            </p:extLst>
          </p:nvPr>
        </p:nvGraphicFramePr>
        <p:xfrm>
          <a:off x="548640" y="3981641"/>
          <a:ext cx="11091672" cy="2499360"/>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274320">
                <a:tc>
                  <a:txBody>
                    <a:bodyPr/>
                    <a:lstStyle/>
                    <a:p>
                      <a:pPr algn="just"/>
                      <a:r>
                        <a:rPr sz="1000" b="1" i="0" lang="es-SV">
                          <a:solidFill>
                            <a:srgbClr val="00376E"/>
                          </a:solidFill>
                          <a:latin typeface="Arial"/>
                        </a:rPr>
                        <a:t>16</a:t>
                      </a:r>
                    </a:p>
                  </a:txBody>
                  <a:tcPr marL="64008" marR="64008">
                    <a:lnL w="9525" cap="flat" cmpd="sng" algn="ctr">
                      <a:solidFill>
                        <a:srgbClr val="C9D1DE"/>
                      </a:solidFill>
                      <a:prstDash val="solid"/>
                    </a:lnL>
                    <a:lnR w="9525" cap="flat" cmpd="sng" algn="ctr">
                      <a:solidFill>
                        <a:srgbClr val="C9D1DE"/>
                      </a:solidFill>
                      <a:prstDash val="solid"/>
                      <a:round/>
                      <a:headEnd type="none" w="med" len="med"/>
                      <a:tailEnd type="none" w="med" len="me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dirty="0" lang="es-SV">
                          <a:solidFill>
                            <a:srgbClr val="5B6578"/>
                          </a:solidFill>
                          <a:latin typeface="Arial"/>
                        </a:rPr>
                        <a:t>No </a:t>
                      </a:r>
                      <a:r>
                        <a:rPr sz="1000" b="0" i="1" dirty="0" lang="es-SV">
                          <a:solidFill>
                            <a:srgbClr val="5B6578"/>
                          </a:solidFill>
                          <a:latin typeface="Arial"/>
                        </a:rPr>
                        <a:t>existía</a:t>
                      </a:r>
                      <a:r>
                        <a:rPr sz="1000" b="0" i="1" dirty="0" lang="es-SV">
                          <a:solidFill>
                            <a:srgbClr val="5B6578"/>
                          </a:solidFill>
                          <a:latin typeface="Arial"/>
                        </a:rPr>
                        <a:t>.</a:t>
                      </a:r>
                    </a:p>
                  </a:txBody>
                  <a:tcPr marL="64008" marR="64008">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dirty="0" lang="es-SV">
                          <a:solidFill>
                            <a:srgbClr val="00376E"/>
                          </a:solidFill>
                          <a:latin typeface="Arial"/>
                        </a:rPr>
                        <a:t>Acuerdo</a:t>
                      </a:r>
                      <a:r>
                        <a:rPr sz="1000" b="1" i="0" u="sng" dirty="0" lang="es-SV">
                          <a:solidFill>
                            <a:srgbClr val="00376E"/>
                          </a:solidFill>
                          <a:latin typeface="Arial"/>
                        </a:rPr>
                        <a:t> de </a:t>
                      </a:r>
                      <a:r>
                        <a:rPr sz="1000" b="1" i="0" u="sng" dirty="0" lang="es-SV">
                          <a:solidFill>
                            <a:srgbClr val="00376E"/>
                          </a:solidFill>
                          <a:latin typeface="Arial"/>
                        </a:rPr>
                        <a:t>Niveles</a:t>
                      </a:r>
                      <a:r>
                        <a:rPr sz="1000" b="1" i="0" u="sng" dirty="0" lang="es-SV">
                          <a:solidFill>
                            <a:srgbClr val="00376E"/>
                          </a:solidFill>
                          <a:latin typeface="Arial"/>
                        </a:rPr>
                        <a:t> de Servicio (SLA): </a:t>
                      </a:r>
                      <a:r>
                        <a:rPr sz="1000" b="1" i="0" u="sng" dirty="0" lang="es-SV">
                          <a:solidFill>
                            <a:srgbClr val="00376E"/>
                          </a:solidFill>
                          <a:latin typeface="Arial"/>
                        </a:rPr>
                        <a:t>Compromisos</a:t>
                      </a:r>
                      <a:r>
                        <a:rPr sz="1000" b="1" i="0" u="sng" dirty="0" lang="es-SV">
                          <a:solidFill>
                            <a:srgbClr val="00376E"/>
                          </a:solidFill>
                          <a:latin typeface="Arial"/>
                        </a:rPr>
                        <a:t> </a:t>
                      </a:r>
                      <a:r>
                        <a:rPr sz="1000" b="1" i="0" u="sng" dirty="0" lang="es-SV">
                          <a:solidFill>
                            <a:srgbClr val="00376E"/>
                          </a:solidFill>
                          <a:latin typeface="Arial"/>
                        </a:rPr>
                        <a:t>medibles</a:t>
                      </a:r>
                      <a:r>
                        <a:rPr sz="1000" b="1" i="0" u="sng" dirty="0" lang="es-SV">
                          <a:solidFill>
                            <a:srgbClr val="00376E"/>
                          </a:solidFill>
                          <a:latin typeface="Arial"/>
                        </a:rPr>
                        <a:t> de </a:t>
                      </a:r>
                      <a:r>
                        <a:rPr sz="1000" b="1" i="0" u="sng" dirty="0" lang="es-SV">
                          <a:solidFill>
                            <a:srgbClr val="00376E"/>
                          </a:solidFill>
                          <a:latin typeface="Arial"/>
                        </a:rPr>
                        <a:t>calidad</a:t>
                      </a:r>
                      <a:r>
                        <a:rPr sz="1000" b="1" i="0" u="sng" dirty="0" lang="es-SV">
                          <a:solidFill>
                            <a:srgbClr val="00376E"/>
                          </a:solidFill>
                          <a:latin typeface="Arial"/>
                        </a:rPr>
                        <a:t>, </a:t>
                      </a:r>
                      <a:r>
                        <a:rPr sz="1000" b="1" i="0" u="sng" dirty="0" lang="es-SV">
                          <a:solidFill>
                            <a:srgbClr val="00376E"/>
                          </a:solidFill>
                          <a:latin typeface="Arial"/>
                        </a:rPr>
                        <a:t>disponibilidad</a:t>
                      </a:r>
                      <a:r>
                        <a:rPr sz="1000" b="1" i="0" u="sng" dirty="0" lang="es-SV">
                          <a:solidFill>
                            <a:srgbClr val="00376E"/>
                          </a:solidFill>
                          <a:latin typeface="Arial"/>
                        </a:rPr>
                        <a:t>, </a:t>
                      </a:r>
                      <a:r>
                        <a:rPr sz="1000" b="1" i="0" u="sng" dirty="0" lang="es-SV">
                          <a:solidFill>
                            <a:srgbClr val="00376E"/>
                          </a:solidFill>
                          <a:latin typeface="Arial"/>
                        </a:rPr>
                        <a:t>capacidad</a:t>
                      </a:r>
                      <a:r>
                        <a:rPr sz="1000" b="1" i="0" u="sng" dirty="0" lang="es-SV">
                          <a:solidFill>
                            <a:srgbClr val="00376E"/>
                          </a:solidFill>
                          <a:latin typeface="Arial"/>
                        </a:rPr>
                        <a:t>, </a:t>
                      </a:r>
                      <a:r>
                        <a:rPr sz="1000" b="1" i="0" u="sng" dirty="0" lang="es-SV">
                          <a:solidFill>
                            <a:srgbClr val="00376E"/>
                          </a:solidFill>
                          <a:latin typeface="Arial"/>
                        </a:rPr>
                        <a:t>tiempos</a:t>
                      </a:r>
                      <a:r>
                        <a:rPr sz="1000" b="1" i="0" u="sng" dirty="0" lang="es-SV">
                          <a:solidFill>
                            <a:srgbClr val="00376E"/>
                          </a:solidFill>
                          <a:latin typeface="Arial"/>
                        </a:rPr>
                        <a:t> de </a:t>
                      </a:r>
                      <a:r>
                        <a:rPr sz="1000" b="1" i="0" u="sng" dirty="0" lang="es-SV">
                          <a:solidFill>
                            <a:srgbClr val="00376E"/>
                          </a:solidFill>
                          <a:latin typeface="Arial"/>
                        </a:rPr>
                        <a:t>respuesta</a:t>
                      </a:r>
                      <a:r>
                        <a:rPr sz="1000" b="1" i="0" u="sng" dirty="0" lang="es-SV">
                          <a:solidFill>
                            <a:srgbClr val="00376E"/>
                          </a:solidFill>
                          <a:latin typeface="Arial"/>
                        </a:rPr>
                        <a:t> y de </a:t>
                      </a:r>
                      <a:r>
                        <a:rPr sz="1000" b="1" i="0" u="sng" dirty="0" lang="es-SV">
                          <a:solidFill>
                            <a:srgbClr val="00376E"/>
                          </a:solidFill>
                          <a:latin typeface="Arial"/>
                        </a:rPr>
                        <a:t>recuperación</a:t>
                      </a:r>
                      <a:r>
                        <a:rPr sz="1000" b="1" i="0" u="sng" dirty="0" lang="es-SV">
                          <a:solidFill>
                            <a:srgbClr val="00376E"/>
                          </a:solidFill>
                          <a:latin typeface="Arial"/>
                        </a:rPr>
                        <a:t> </a:t>
                      </a:r>
                      <a:r>
                        <a:rPr sz="1000" b="1" i="0" u="sng" dirty="0" lang="es-SV">
                          <a:solidFill>
                            <a:srgbClr val="00376E"/>
                          </a:solidFill>
                          <a:latin typeface="Arial"/>
                        </a:rPr>
                        <a:t>pactados</a:t>
                      </a:r>
                      <a:r>
                        <a:rPr sz="1000" b="1" i="0" u="sng" dirty="0" lang="es-SV">
                          <a:solidFill>
                            <a:srgbClr val="00376E"/>
                          </a:solidFill>
                          <a:latin typeface="Arial"/>
                        </a:rPr>
                        <a:t> con el </a:t>
                      </a:r>
                      <a:r>
                        <a:rPr sz="1000" b="1" i="0" u="sng" dirty="0" lang="es-SV">
                          <a:solidFill>
                            <a:srgbClr val="00376E"/>
                          </a:solidFill>
                          <a:latin typeface="Arial"/>
                        </a:rPr>
                        <a:t>proveedor</a:t>
                      </a:r>
                      <a:r>
                        <a:rPr sz="1000" b="1" i="0" u="sng" dirty="0" lang="es-SV">
                          <a:solidFill>
                            <a:srgbClr val="00376E"/>
                          </a:solidFill>
                          <a:latin typeface="Arial"/>
                        </a:rPr>
                        <a:t>, </a:t>
                      </a:r>
                      <a:r>
                        <a:rPr sz="1000" b="1" i="0" u="sng" dirty="0" lang="es-SV">
                          <a:solidFill>
                            <a:srgbClr val="00376E"/>
                          </a:solidFill>
                          <a:latin typeface="Arial"/>
                        </a:rPr>
                        <a:t>en</a:t>
                      </a:r>
                      <a:r>
                        <a:rPr sz="1000" b="1" i="0" u="sng" dirty="0" lang="es-SV">
                          <a:solidFill>
                            <a:srgbClr val="00376E"/>
                          </a:solidFill>
                          <a:latin typeface="Arial"/>
                        </a:rPr>
                        <a:t> </a:t>
                      </a:r>
                      <a:r>
                        <a:rPr sz="1000" b="1" i="0" u="sng" dirty="0" lang="es-SV">
                          <a:solidFill>
                            <a:srgbClr val="00376E"/>
                          </a:solidFill>
                          <a:latin typeface="Arial"/>
                        </a:rPr>
                        <a:t>condiciones</a:t>
                      </a:r>
                      <a:r>
                        <a:rPr sz="1000" b="1" i="0" u="sng" dirty="0" lang="es-SV">
                          <a:solidFill>
                            <a:srgbClr val="00376E"/>
                          </a:solidFill>
                          <a:latin typeface="Arial"/>
                        </a:rPr>
                        <a:t> </a:t>
                      </a:r>
                      <a:r>
                        <a:rPr sz="1000" b="1" i="0" u="sng" dirty="0" lang="es-SV">
                          <a:solidFill>
                            <a:srgbClr val="00376E"/>
                          </a:solidFill>
                          <a:latin typeface="Arial"/>
                        </a:rPr>
                        <a:t>normales</a:t>
                      </a:r>
                      <a:r>
                        <a:rPr sz="1000" b="1" i="0" u="sng" dirty="0" lang="es-SV">
                          <a:solidFill>
                            <a:srgbClr val="00376E"/>
                          </a:solidFill>
                          <a:latin typeface="Arial"/>
                        </a:rPr>
                        <a:t> y de </a:t>
                      </a:r>
                      <a:r>
                        <a:rPr sz="1000" b="1" i="0" u="sng" dirty="0" lang="es-SV">
                          <a:solidFill>
                            <a:srgbClr val="00376E"/>
                          </a:solidFill>
                          <a:latin typeface="Arial"/>
                        </a:rPr>
                        <a:t>contingencia</a:t>
                      </a:r>
                      <a:r>
                        <a:rPr sz="1000" b="1" i="0" u="sng" dirty="0" lang="es-SV">
                          <a:solidFill>
                            <a:srgbClr val="00376E"/>
                          </a:solidFill>
                          <a:latin typeface="Arial"/>
                        </a:rPr>
                        <a:t> </a:t>
                      </a:r>
                      <a:r>
                        <a:rPr sz="1000" b="1" i="0" u="sng" dirty="0" lang="es-SV">
                          <a:solidFill>
                            <a:srgbClr val="00376E"/>
                          </a:solidFill>
                          <a:latin typeface="Arial"/>
                        </a:rPr>
                        <a:t>tras</a:t>
                      </a:r>
                      <a:r>
                        <a:rPr sz="1000" b="1" i="0" u="sng" dirty="0" lang="es-SV">
                          <a:solidFill>
                            <a:srgbClr val="00376E"/>
                          </a:solidFill>
                          <a:latin typeface="Arial"/>
                        </a:rPr>
                        <a:t> </a:t>
                      </a:r>
                      <a:r>
                        <a:rPr sz="1000" b="1" i="0" u="sng" dirty="0" lang="es-SV">
                          <a:solidFill>
                            <a:srgbClr val="00376E"/>
                          </a:solidFill>
                          <a:latin typeface="Arial"/>
                        </a:rPr>
                        <a:t>una</a:t>
                      </a:r>
                      <a:r>
                        <a:rPr sz="1000" b="1" i="0" u="sng" dirty="0" lang="es-SV">
                          <a:solidFill>
                            <a:srgbClr val="00376E"/>
                          </a:solidFill>
                          <a:latin typeface="Arial"/>
                        </a:rPr>
                        <a:t> </a:t>
                      </a:r>
                      <a:r>
                        <a:rPr sz="1000" b="1" i="0" u="sng" dirty="0" lang="es-SV">
                          <a:solidFill>
                            <a:srgbClr val="00376E"/>
                          </a:solidFill>
                          <a:latin typeface="Arial"/>
                        </a:rPr>
                        <a:t>interrupción</a:t>
                      </a:r>
                      <a:r>
                        <a:rPr sz="1000" b="1" i="0" u="sng" dirty="0" lang="es-SV">
                          <a:solidFill>
                            <a:srgbClr val="00376E"/>
                          </a:solidFill>
                          <a:latin typeface="Arial"/>
                        </a:rPr>
                        <a:t>.</a:t>
                      </a:r>
                    </a:p>
                  </a:txBody>
                  <a:tcPr marL="64008" marR="64008">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Permite</a:t>
                      </a:r>
                      <a:r>
                        <a:rPr sz="1000" b="0" i="0" dirty="0" lang="es-SV">
                          <a:solidFill>
                            <a:srgbClr val="1B2333"/>
                          </a:solidFill>
                          <a:latin typeface="Arial"/>
                        </a:rPr>
                        <a:t> </a:t>
                      </a:r>
                      <a:r>
                        <a:rPr sz="1000" b="0" i="0" dirty="0" lang="es-SV">
                          <a:solidFill>
                            <a:srgbClr val="1B2333"/>
                          </a:solidFill>
                          <a:latin typeface="Arial"/>
                        </a:rPr>
                        <a:t>medir</a:t>
                      </a:r>
                      <a:r>
                        <a:rPr sz="1000" b="0" i="0" dirty="0" lang="es-SV">
                          <a:solidFill>
                            <a:srgbClr val="1B2333"/>
                          </a:solidFill>
                          <a:latin typeface="Arial"/>
                        </a:rPr>
                        <a:t> el </a:t>
                      </a:r>
                      <a:r>
                        <a:rPr sz="1000" b="0" i="0" dirty="0" lang="es-SV">
                          <a:solidFill>
                            <a:srgbClr val="1B2333"/>
                          </a:solidFill>
                          <a:latin typeface="Arial"/>
                        </a:rPr>
                        <a:t>cumplimiento</a:t>
                      </a:r>
                      <a:r>
                        <a:rPr sz="1000" b="0" i="0" dirty="0" lang="es-SV">
                          <a:solidFill>
                            <a:srgbClr val="1B2333"/>
                          </a:solidFill>
                          <a:latin typeface="Arial"/>
                        </a:rPr>
                        <a:t> del </a:t>
                      </a:r>
                      <a:r>
                        <a:rPr sz="1000" b="0" i="0" dirty="0" lang="es-SV">
                          <a:solidFill>
                            <a:srgbClr val="1B2333"/>
                          </a:solidFill>
                          <a:latin typeface="Arial"/>
                        </a:rPr>
                        <a:t>proveedor</a:t>
                      </a:r>
                      <a:r>
                        <a:rPr sz="1000" b="0" i="0" dirty="0" lang="es-SV">
                          <a:solidFill>
                            <a:srgbClr val="1B2333"/>
                          </a:solidFill>
                          <a:latin typeface="Arial"/>
                        </a:rPr>
                        <a:t>.</a:t>
                      </a:r>
                    </a:p>
                    <a:p>
                      <a:pPr algn="just"/>
                      <a:r>
                        <a:rPr sz="1000" b="1" i="0" dirty="0" lang="es-SV">
                          <a:solidFill>
                            <a:srgbClr val="00376E"/>
                          </a:solidFill>
                          <a:latin typeface="Arial"/>
                        </a:rPr>
                        <a:t>NRP-23, Anexo 1, </a:t>
                      </a:r>
                      <a:r>
                        <a:rPr sz="1000" b="1" i="0" dirty="0" lang="es-SV">
                          <a:solidFill>
                            <a:srgbClr val="00376E"/>
                          </a:solidFill>
                          <a:latin typeface="Arial"/>
                        </a:rPr>
                        <a:t>Secc</a:t>
                      </a:r>
                      <a:r>
                        <a:rPr sz="1000" b="1" i="0" dirty="0" lang="es-SV">
                          <a:solidFill>
                            <a:srgbClr val="00376E"/>
                          </a:solidFill>
                          <a:latin typeface="Arial"/>
                        </a:rPr>
                        <a:t>. B, num. 5</a:t>
                      </a:r>
                    </a:p>
                  </a:txBody>
                  <a:tcPr marL="64008" marR="64008">
                    <a:lnL w="9525" cap="flat" cmpd="sng" algn="ctr">
                      <a:solidFill>
                        <a:srgbClr val="C9D1DE"/>
                      </a:solidFill>
                      <a:prstDash val="solid"/>
                      <a:round/>
                      <a:headEnd type="none" w="med" len="med"/>
                      <a:tailEnd type="none" w="med" len="me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74320">
                <a:tc>
                  <a:txBody>
                    <a:bodyPr/>
                    <a:lstStyle/>
                    <a:p>
                      <a:pPr algn="just"/>
                      <a:r>
                        <a:rPr sz="1000" b="1" i="0" lang="es-SV">
                          <a:solidFill>
                            <a:srgbClr val="00376E"/>
                          </a:solidFill>
                          <a:latin typeface="Arial"/>
                        </a:rPr>
                        <a:t>17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BIA, RTO, RPO y MTPD: Análisis de Impacto del Negocio; Tiempo Objetivo de Recuperación; Punto Objetivo de Recuperación; y Máximo Período Tolerable de Disrupción.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Parámetros</a:t>
                      </a:r>
                      <a:r>
                        <a:rPr sz="1000" b="0" i="0" dirty="0" lang="es-SV">
                          <a:solidFill>
                            <a:srgbClr val="1B2333"/>
                          </a:solidFill>
                          <a:latin typeface="Arial"/>
                        </a:rPr>
                        <a:t> de </a:t>
                      </a:r>
                      <a:r>
                        <a:rPr sz="1000" b="0" i="0" dirty="0" lang="es-SV">
                          <a:solidFill>
                            <a:srgbClr val="1B2333"/>
                          </a:solidFill>
                          <a:latin typeface="Arial"/>
                        </a:rPr>
                        <a:t>continuidad</a:t>
                      </a:r>
                      <a:r>
                        <a:rPr sz="1000" b="0" i="0" dirty="0" lang="es-SV">
                          <a:solidFill>
                            <a:srgbClr val="1B2333"/>
                          </a:solidFill>
                          <a:latin typeface="Arial"/>
                        </a:rPr>
                        <a:t> con </a:t>
                      </a:r>
                      <a:r>
                        <a:rPr sz="1000" b="0" i="0" dirty="0" lang="es-SV">
                          <a:solidFill>
                            <a:srgbClr val="1B2333"/>
                          </a:solidFill>
                          <a:latin typeface="Arial"/>
                        </a:rPr>
                        <a:t>su</a:t>
                      </a:r>
                      <a:r>
                        <a:rPr sz="1000" b="0" i="0" dirty="0" lang="es-SV">
                          <a:solidFill>
                            <a:srgbClr val="1B2333"/>
                          </a:solidFill>
                          <a:latin typeface="Arial"/>
                        </a:rPr>
                        <a:t> </a:t>
                      </a:r>
                      <a:r>
                        <a:rPr sz="1000" b="0" i="0" dirty="0" lang="es-SV">
                          <a:solidFill>
                            <a:srgbClr val="1B2333"/>
                          </a:solidFill>
                          <a:latin typeface="Arial"/>
                        </a:rPr>
                        <a:t>definición</a:t>
                      </a:r>
                      <a:r>
                        <a:rPr sz="1000" b="0" i="0" dirty="0" lang="es-SV">
                          <a:solidFill>
                            <a:srgbClr val="1B2333"/>
                          </a:solidFill>
                          <a:latin typeface="Arial"/>
                        </a:rPr>
                        <a:t> literal.</a:t>
                      </a:r>
                    </a:p>
                    <a:p>
                      <a:pPr algn="just"/>
                      <a:r>
                        <a:rPr sz="1000" b="1" i="0" dirty="0" lang="es-SV">
                          <a:solidFill>
                            <a:srgbClr val="00376E"/>
                          </a:solidFill>
                          <a:latin typeface="Arial"/>
                        </a:rPr>
                        <a:t>NRP-24, art. 3, </a:t>
                      </a:r>
                      <a:r>
                        <a:rPr sz="1000" b="1" i="0" dirty="0" lang="es-SV">
                          <a:solidFill>
                            <a:srgbClr val="00376E"/>
                          </a:solidFill>
                          <a:latin typeface="Arial"/>
                        </a:rPr>
                        <a:t>lits</a:t>
                      </a:r>
                      <a:r>
                        <a:rPr sz="1000" b="1" i="0" dirty="0" lang="es-SV">
                          <a:solidFill>
                            <a:srgbClr val="00376E"/>
                          </a:solidFill>
                          <a:latin typeface="Arial"/>
                        </a:rPr>
                        <a:t>. c, z, u y 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74320">
                <a:tc>
                  <a:txBody>
                    <a:bodyPr/>
                    <a:lstStyle/>
                    <a:p>
                      <a:pPr algn="just"/>
                      <a:r>
                        <a:rPr sz="1000" b="1" i="0" lang="es-SV">
                          <a:solidFill>
                            <a:srgbClr val="00376E"/>
                          </a:solidFill>
                          <a:latin typeface="Arial"/>
                        </a:rPr>
                        <a:t>18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Apetito de riesgo y tolerancia al riesgo: nivel y tipos de riesgos que la entidad está dispuesta a asumir; y niveles de toma de riesgos aceptables para un objetivo específico o categoría de riesgo.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Definiciones</a:t>
                      </a:r>
                      <a:r>
                        <a:rPr sz="1000" b="0" i="0" dirty="0" lang="es-SV">
                          <a:solidFill>
                            <a:srgbClr val="1B2333"/>
                          </a:solidFill>
                          <a:latin typeface="Arial"/>
                        </a:rPr>
                        <a:t> </a:t>
                      </a:r>
                      <a:r>
                        <a:rPr sz="1000" b="0" i="0" dirty="0" lang="es-SV">
                          <a:solidFill>
                            <a:srgbClr val="1B2333"/>
                          </a:solidFill>
                          <a:latin typeface="Arial"/>
                        </a:rPr>
                        <a:t>literales</a:t>
                      </a:r>
                      <a:r>
                        <a:rPr sz="1000" b="0" i="0" dirty="0" lang="es-SV">
                          <a:solidFill>
                            <a:srgbClr val="1B2333"/>
                          </a:solidFill>
                          <a:latin typeface="Arial"/>
                        </a:rPr>
                        <a:t> de la </a:t>
                      </a:r>
                      <a:r>
                        <a:rPr sz="1000" b="0" i="0" dirty="0" lang="es-SV">
                          <a:solidFill>
                            <a:srgbClr val="1B2333"/>
                          </a:solidFill>
                          <a:latin typeface="Arial"/>
                        </a:rPr>
                        <a:t>normativa</a:t>
                      </a:r>
                      <a:r>
                        <a:rPr sz="1000" b="0" i="0" dirty="0" lang="es-SV">
                          <a:solidFill>
                            <a:srgbClr val="1B2333"/>
                          </a:solidFill>
                          <a:latin typeface="Arial"/>
                        </a:rPr>
                        <a:t>.</a:t>
                      </a:r>
                    </a:p>
                    <a:p>
                      <a:pPr algn="just"/>
                      <a:r>
                        <a:rPr sz="1000" b="1" i="0" dirty="0" lang="es-SV">
                          <a:solidFill>
                            <a:srgbClr val="00376E"/>
                          </a:solidFill>
                          <a:latin typeface="Arial"/>
                        </a:rPr>
                        <a:t>NRP-20, art. 3, </a:t>
                      </a:r>
                      <a:r>
                        <a:rPr sz="1000" b="1" i="0" dirty="0" lang="es-SV">
                          <a:solidFill>
                            <a:srgbClr val="00376E"/>
                          </a:solidFill>
                          <a:latin typeface="Arial"/>
                        </a:rPr>
                        <a:t>lits</a:t>
                      </a:r>
                      <a:r>
                        <a:rPr sz="1000" b="1" i="0" dirty="0" lang="es-SV">
                          <a:solidFill>
                            <a:srgbClr val="00376E"/>
                          </a:solidFill>
                          <a:latin typeface="Arial"/>
                        </a:rPr>
                        <a:t>. b y m</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74320">
                <a:tc>
                  <a:txBody>
                    <a:bodyPr/>
                    <a:lstStyle/>
                    <a:p>
                      <a:pPr algn="just"/>
                      <a:r>
                        <a:rPr sz="1000" b="1" i="0" lang="es-SV">
                          <a:solidFill>
                            <a:srgbClr val="00376E"/>
                          </a:solidFill>
                          <a:latin typeface="Arial"/>
                        </a:rPr>
                        <a:t>19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Matriz Centralizada de Servicios Críticos Tercerizados: control centralizado con nombre del proveedor, tipo de servicio, monto del contrato, contraparte dentro de la Cooperativa y vigencia, a disposición de la Superintendencia.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Campos </a:t>
                      </a:r>
                      <a:r>
                        <a:rPr sz="1000" b="0" i="0" dirty="0" lang="es-SV">
                          <a:solidFill>
                            <a:srgbClr val="1B2333"/>
                          </a:solidFill>
                          <a:latin typeface="Arial"/>
                        </a:rPr>
                        <a:t>mínimos</a:t>
                      </a:r>
                      <a:r>
                        <a:rPr sz="1000" b="0" i="0" dirty="0" lang="es-SV">
                          <a:solidFill>
                            <a:srgbClr val="1B2333"/>
                          </a:solidFill>
                          <a:latin typeface="Arial"/>
                        </a:rPr>
                        <a:t> </a:t>
                      </a:r>
                      <a:r>
                        <a:rPr sz="1000" b="0" i="0" dirty="0" lang="es-SV">
                          <a:solidFill>
                            <a:srgbClr val="1B2333"/>
                          </a:solidFill>
                          <a:latin typeface="Arial"/>
                        </a:rPr>
                        <a:t>vigentes</a:t>
                      </a:r>
                      <a:r>
                        <a:rPr sz="1000" b="0" i="0" dirty="0" lang="es-SV">
                          <a:solidFill>
                            <a:srgbClr val="1B2333"/>
                          </a:solidFill>
                          <a:latin typeface="Arial"/>
                        </a:rPr>
                        <a:t>.</a:t>
                      </a:r>
                    </a:p>
                    <a:p>
                      <a:pPr algn="just"/>
                      <a:r>
                        <a:rPr sz="1000" b="1" i="0" dirty="0" lang="es-SV">
                          <a:solidFill>
                            <a:srgbClr val="00376E"/>
                          </a:solidFill>
                          <a:latin typeface="Arial"/>
                        </a:rPr>
                        <a:t>NRP-42, art. 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0A848043-3E64-98A8-7A75-B15A546BA49B}"/>
              </a:ext>
            </a:extLst>
          </p:cNvPr>
          <p:cNvSpPr/>
          <p:nvPr/>
        </p:nvSpPr>
        <p:spPr>
          <a:xfrm>
            <a:off x="535305" y="118872"/>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795147" y="193583"/>
            <a:ext cx="9966960" cy="307777"/>
          </a:xfrm>
          <a:prstGeom prst="rect">
            <a:avLst/>
          </a:prstGeom>
          <a:noFill/>
        </p:spPr>
        <p:txBody>
          <a:bodyPr wrap="square" lIns="0" tIns="0" rIns="0" bIns="0" anchor="ctr">
            <a:spAutoFit/>
          </a:bodyPr>
          <a:lstStyle/>
          <a:p>
            <a:pPr algn="l"/>
            <a:r>
              <a:rPr sz="2000" b="1" i="0" dirty="0" lang="es-SV">
                <a:solidFill>
                  <a:srgbClr val="00376E"/>
                </a:solidFill>
                <a:latin typeface="Century Gothic"/>
              </a:rPr>
              <a:t>IV. </a:t>
            </a:r>
            <a:r>
              <a:rPr sz="2000" b="1" i="0" dirty="0" lang="es-SV">
                <a:solidFill>
                  <a:srgbClr val="00376E"/>
                </a:solidFill>
                <a:latin typeface="Century Gothic"/>
              </a:rPr>
              <a:t>Responsabilidades</a:t>
            </a:r>
            <a:r>
              <a:rPr sz="2000" b="1" i="0" dirty="0" lang="es-SV">
                <a:solidFill>
                  <a:srgbClr val="00376E"/>
                </a:solidFill>
                <a:latin typeface="Century Gothic"/>
              </a:rPr>
              <a:t> — Consejo de Administración y </a:t>
            </a:r>
            <a:r>
              <a:rPr sz="2000" b="1" i="0" dirty="0" lang="es-SV">
                <a:solidFill>
                  <a:srgbClr val="00376E"/>
                </a:solidFill>
                <a:latin typeface="Century Gothic"/>
              </a:rPr>
              <a:t>Comité</a:t>
            </a:r>
            <a:r>
              <a:rPr sz="2000" b="1" i="0" dirty="0" lang="es-SV">
                <a:solidFill>
                  <a:srgbClr val="00376E"/>
                </a:solidFill>
                <a:latin typeface="Century Gothic"/>
              </a:rPr>
              <a:t> de </a:t>
            </a:r>
            <a:r>
              <a:rPr sz="2000" b="1" i="0" dirty="0" lang="es-SV">
                <a:solidFill>
                  <a:srgbClr val="00376E"/>
                </a:solidFill>
                <a:latin typeface="Century Gothic"/>
              </a:rPr>
              <a:t>Riesgos</a:t>
            </a:r>
            <a:endParaRPr sz="2000" b="1" i="0" dirty="0" lang="es-SV">
              <a:solidFill>
                <a:srgbClr val="00376E"/>
              </a:solidFill>
              <a:latin typeface="Century Gothic"/>
            </a:endParaRPr>
          </a:p>
        </p:txBody>
      </p:sp>
      <p:graphicFrame>
        <p:nvGraphicFramePr>
          <p:cNvPr id="16" name="Table 15"/>
          <p:cNvGraphicFramePr>
            <a:graphicFrameLocks noGrp="1"/>
          </p:cNvGraphicFramePr>
          <p:nvPr>
            <p:extLst>
              <p:ext uri="{D42A27DB-BD31-4B8C-83A1-F6EECF244321}">
                <p14:modId xmlns:p14="http://schemas.microsoft.com/office/powerpoint/2010/main" val="1757169823"/>
              </p:ext>
            </p:extLst>
          </p:nvPr>
        </p:nvGraphicFramePr>
        <p:xfrm>
          <a:off x="535305" y="697230"/>
          <a:ext cx="11091672" cy="2907792"/>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347472">
                <a:tc>
                  <a:txBody>
                    <a:bodyPr/>
                    <a:lstStyle/>
                    <a:p>
                      <a:pPr algn="just"/>
                      <a:r>
                        <a:rPr sz="1000" b="1" i="0" dirty="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dirty="0" lang="es-SV">
                          <a:solidFill>
                            <a:srgbClr val="FFFFFF"/>
                          </a:solidFill>
                          <a:latin typeface="Arial"/>
                        </a:rPr>
                        <a:t>Dice (V03 </a:t>
                      </a:r>
                      <a:r>
                        <a:rPr sz="1000" b="1" i="0" dirty="0" lang="es-SV">
                          <a:solidFill>
                            <a:srgbClr val="FFFFFF"/>
                          </a:solidFill>
                          <a:latin typeface="Arial"/>
                        </a:rPr>
                        <a:t>vigente</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(V04 propuesta)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Mejora y base normativa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74320">
                <a:tc>
                  <a:txBody>
                    <a:bodyPr/>
                    <a:lstStyle/>
                    <a:p>
                      <a:pPr algn="just"/>
                      <a:r>
                        <a:rPr sz="1000" b="1" i="0" lang="es-SV">
                          <a:solidFill>
                            <a:srgbClr val="00376E"/>
                          </a:solidFill>
                          <a:latin typeface="Arial"/>
                        </a:rPr>
                        <a:t>20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dirty="0" lang="es-SV">
                          <a:solidFill>
                            <a:srgbClr val="5B6578"/>
                          </a:solidFill>
                          <a:latin typeface="Arial"/>
                        </a:rPr>
                        <a:t>No </a:t>
                      </a:r>
                      <a:r>
                        <a:rPr sz="1000" b="0" i="1" dirty="0" lang="es-SV">
                          <a:solidFill>
                            <a:srgbClr val="5B6578"/>
                          </a:solidFill>
                          <a:latin typeface="Arial"/>
                        </a:rPr>
                        <a:t>existía</a:t>
                      </a:r>
                      <a:r>
                        <a:rPr sz="1000" b="0" i="1" dirty="0" lang="es-SV">
                          <a:solidFill>
                            <a:srgbClr val="5B6578"/>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dirty="0" lang="es-SV">
                          <a:solidFill>
                            <a:srgbClr val="00376E"/>
                          </a:solidFill>
                          <a:latin typeface="Arial"/>
                        </a:rPr>
                        <a:t>Consejo b) </a:t>
                      </a:r>
                      <a:r>
                        <a:rPr sz="1000" b="1" i="0" u="sng" dirty="0" lang="es-SV">
                          <a:solidFill>
                            <a:srgbClr val="00376E"/>
                          </a:solidFill>
                          <a:latin typeface="Arial"/>
                        </a:rPr>
                        <a:t>Aprobar</a:t>
                      </a:r>
                      <a:r>
                        <a:rPr sz="1000" b="1" i="0" u="sng" dirty="0" lang="es-SV">
                          <a:solidFill>
                            <a:srgbClr val="00376E"/>
                          </a:solidFill>
                          <a:latin typeface="Arial"/>
                        </a:rPr>
                        <a:t> el </a:t>
                      </a:r>
                      <a:r>
                        <a:rPr sz="1000" b="1" i="0" u="sng" dirty="0" lang="es-SV">
                          <a:solidFill>
                            <a:srgbClr val="00376E"/>
                          </a:solidFill>
                          <a:latin typeface="Arial"/>
                        </a:rPr>
                        <a:t>apetito</a:t>
                      </a:r>
                      <a:r>
                        <a:rPr sz="1000" b="1" i="0" u="sng" dirty="0" lang="es-SV">
                          <a:solidFill>
                            <a:srgbClr val="00376E"/>
                          </a:solidFill>
                          <a:latin typeface="Arial"/>
                        </a:rPr>
                        <a:t> y la </a:t>
                      </a:r>
                      <a:r>
                        <a:rPr sz="1000" b="1" i="0" u="sng" dirty="0" lang="es-SV">
                          <a:solidFill>
                            <a:srgbClr val="00376E"/>
                          </a:solidFill>
                          <a:latin typeface="Arial"/>
                        </a:rPr>
                        <a:t>tolerancia</a:t>
                      </a:r>
                      <a:r>
                        <a:rPr sz="1000" b="1" i="0" u="sng" dirty="0" lang="es-SV">
                          <a:solidFill>
                            <a:srgbClr val="00376E"/>
                          </a:solidFill>
                          <a:latin typeface="Arial"/>
                        </a:rPr>
                        <a:t> al </a:t>
                      </a:r>
                      <a:r>
                        <a:rPr sz="1000" b="1" i="0" u="sng" dirty="0" lang="es-SV">
                          <a:solidFill>
                            <a:srgbClr val="00376E"/>
                          </a:solidFill>
                          <a:latin typeface="Arial"/>
                        </a:rPr>
                        <a:t>riesgo</a:t>
                      </a:r>
                      <a:r>
                        <a:rPr sz="1000" b="1" i="0" u="sng" dirty="0" lang="es-SV">
                          <a:solidFill>
                            <a:srgbClr val="00376E"/>
                          </a:solidFill>
                          <a:latin typeface="Arial"/>
                        </a:rPr>
                        <a:t> </a:t>
                      </a:r>
                      <a:r>
                        <a:rPr sz="1000" b="1" i="0" u="sng" dirty="0" lang="es-SV">
                          <a:solidFill>
                            <a:srgbClr val="00376E"/>
                          </a:solidFill>
                          <a:latin typeface="Arial"/>
                        </a:rPr>
                        <a:t>aplicables</a:t>
                      </a:r>
                      <a:r>
                        <a:rPr sz="1000" b="1" i="0" u="sng" dirty="0" lang="es-SV">
                          <a:solidFill>
                            <a:srgbClr val="00376E"/>
                          </a:solidFill>
                          <a:latin typeface="Arial"/>
                        </a:rPr>
                        <a:t> a la </a:t>
                      </a:r>
                      <a:r>
                        <a:rPr sz="1000" b="1" i="0" u="sng" dirty="0" lang="es-SV">
                          <a:solidFill>
                            <a:srgbClr val="00376E"/>
                          </a:solidFill>
                          <a:latin typeface="Arial"/>
                        </a:rPr>
                        <a:t>tercerización</a:t>
                      </a:r>
                      <a:r>
                        <a:rPr sz="1000" b="1" i="0" u="sng" dirty="0" lang="es-SV">
                          <a:solidFill>
                            <a:srgbClr val="00376E"/>
                          </a:solidFill>
                          <a:latin typeface="Arial"/>
                        </a:rPr>
                        <a:t> de </a:t>
                      </a:r>
                      <a:r>
                        <a:rPr sz="1000" b="1" i="0" u="sng" dirty="0" lang="es-SV">
                          <a:solidFill>
                            <a:srgbClr val="00376E"/>
                          </a:solidFill>
                          <a:latin typeface="Arial"/>
                        </a:rPr>
                        <a:t>servicios</a:t>
                      </a:r>
                      <a:r>
                        <a:rPr sz="1000" b="1" i="0" u="sng" dirty="0" lang="es-SV">
                          <a:solidFill>
                            <a:srgbClr val="00376E"/>
                          </a:solidFill>
                          <a:latin typeface="Arial"/>
                        </a:rPr>
                        <a:t> </a:t>
                      </a:r>
                      <a:r>
                        <a:rPr sz="1000" b="1" i="0" u="sng" dirty="0" lang="es-SV">
                          <a:solidFill>
                            <a:srgbClr val="00376E"/>
                          </a:solidFill>
                          <a:latin typeface="Arial"/>
                        </a:rPr>
                        <a:t>críticos</a:t>
                      </a:r>
                      <a:r>
                        <a:rPr sz="1000" b="1" i="0" u="sng" dirty="0" lang="es-SV">
                          <a:solidFill>
                            <a:srgbClr val="00376E"/>
                          </a:solidFill>
                          <a:latin typeface="Arial"/>
                        </a:rPr>
                        <a:t>, </a:t>
                      </a:r>
                      <a:r>
                        <a:rPr sz="1000" b="1" i="0" u="sng" dirty="0" lang="es-SV">
                          <a:solidFill>
                            <a:srgbClr val="00376E"/>
                          </a:solidFill>
                          <a:latin typeface="Arial"/>
                        </a:rPr>
                        <a:t>así</a:t>
                      </a:r>
                      <a:r>
                        <a:rPr sz="1000" b="1" i="0" u="sng" dirty="0" lang="es-SV">
                          <a:solidFill>
                            <a:srgbClr val="00376E"/>
                          </a:solidFill>
                          <a:latin typeface="Arial"/>
                        </a:rPr>
                        <a:t> </a:t>
                      </a:r>
                      <a:r>
                        <a:rPr sz="1000" b="1" i="0" u="sng" dirty="0" lang="es-SV">
                          <a:solidFill>
                            <a:srgbClr val="00376E"/>
                          </a:solidFill>
                          <a:latin typeface="Arial"/>
                        </a:rPr>
                        <a:t>como</a:t>
                      </a:r>
                      <a:r>
                        <a:rPr sz="1000" b="1" i="0" u="sng" dirty="0" lang="es-SV">
                          <a:solidFill>
                            <a:srgbClr val="00376E"/>
                          </a:solidFill>
                          <a:latin typeface="Arial"/>
                        </a:rPr>
                        <a:t> </a:t>
                      </a:r>
                      <a:r>
                        <a:rPr sz="1000" b="1" i="0" u="sng" dirty="0" lang="es-SV">
                          <a:solidFill>
                            <a:srgbClr val="00376E"/>
                          </a:solidFill>
                          <a:latin typeface="Arial"/>
                        </a:rPr>
                        <a:t>los</a:t>
                      </a:r>
                      <a:r>
                        <a:rPr sz="1000" b="1" i="0" u="sng" dirty="0" lang="es-SV">
                          <a:solidFill>
                            <a:srgbClr val="00376E"/>
                          </a:solidFill>
                          <a:latin typeface="Arial"/>
                        </a:rPr>
                        <a:t> </a:t>
                      </a:r>
                      <a:r>
                        <a:rPr sz="1000" b="1" i="0" u="sng" dirty="0" lang="es-SV">
                          <a:solidFill>
                            <a:srgbClr val="00376E"/>
                          </a:solidFill>
                          <a:latin typeface="Arial"/>
                        </a:rPr>
                        <a:t>límites</a:t>
                      </a:r>
                      <a:r>
                        <a:rPr sz="1000" b="1" i="0" u="sng" dirty="0" lang="es-SV">
                          <a:solidFill>
                            <a:srgbClr val="00376E"/>
                          </a:solidFill>
                          <a:latin typeface="Arial"/>
                        </a:rPr>
                        <a:t> de </a:t>
                      </a:r>
                      <a:r>
                        <a:rPr sz="1000" b="1" i="0" u="sng" dirty="0" lang="es-SV">
                          <a:solidFill>
                            <a:srgbClr val="00376E"/>
                          </a:solidFill>
                          <a:latin typeface="Arial"/>
                        </a:rPr>
                        <a:t>exposición</a:t>
                      </a:r>
                      <a:r>
                        <a:rPr sz="1000" b="1" i="0" u="sng" dirty="0" lang="es-SV">
                          <a:solidFill>
                            <a:srgbClr val="00376E"/>
                          </a:solidFill>
                          <a:latin typeface="Arial"/>
                        </a:rPr>
                        <a:t>, </a:t>
                      </a:r>
                      <a:r>
                        <a:rPr sz="1000" b="1" i="0" u="sng" dirty="0" lang="es-SV">
                          <a:solidFill>
                            <a:srgbClr val="00376E"/>
                          </a:solidFill>
                          <a:latin typeface="Arial"/>
                        </a:rPr>
                        <a:t>incluyendo</a:t>
                      </a:r>
                      <a:r>
                        <a:rPr sz="1000" b="1" i="0" u="sng" dirty="0" lang="es-SV">
                          <a:solidFill>
                            <a:srgbClr val="00376E"/>
                          </a:solidFill>
                          <a:latin typeface="Arial"/>
                        </a:rPr>
                        <a:t> la </a:t>
                      </a:r>
                      <a:r>
                        <a:rPr sz="1000" b="1" i="0" u="sng" dirty="0" lang="es-SV">
                          <a:solidFill>
                            <a:srgbClr val="00376E"/>
                          </a:solidFill>
                          <a:latin typeface="Arial"/>
                        </a:rPr>
                        <a:t>exposición</a:t>
                      </a:r>
                      <a:r>
                        <a:rPr sz="1000" b="1" i="0" u="sng" dirty="0" lang="es-SV">
                          <a:solidFill>
                            <a:srgbClr val="00376E"/>
                          </a:solidFill>
                          <a:latin typeface="Arial"/>
                        </a:rPr>
                        <a:t> </a:t>
                      </a:r>
                      <a:r>
                        <a:rPr sz="1000" b="1" i="0" u="sng" dirty="0" lang="es-SV">
                          <a:solidFill>
                            <a:srgbClr val="00376E"/>
                          </a:solidFill>
                          <a:latin typeface="Arial"/>
                        </a:rPr>
                        <a:t>por</a:t>
                      </a:r>
                      <a:r>
                        <a:rPr sz="1000" b="1" i="0" u="sng" dirty="0" lang="es-SV">
                          <a:solidFill>
                            <a:srgbClr val="00376E"/>
                          </a:solidFill>
                          <a:latin typeface="Arial"/>
                        </a:rPr>
                        <a:t> </a:t>
                      </a:r>
                      <a:r>
                        <a:rPr sz="1000" b="1" i="0" u="sng" dirty="0" lang="es-SV">
                          <a:solidFill>
                            <a:srgbClr val="00376E"/>
                          </a:solidFill>
                          <a:latin typeface="Arial"/>
                        </a:rPr>
                        <a:t>proveedor</a:t>
                      </a:r>
                      <a:r>
                        <a:rPr sz="1000" b="1" i="0" u="sng" dirty="0" lang="es-SV">
                          <a:solidFill>
                            <a:srgbClr val="00376E"/>
                          </a:solidFill>
                          <a:latin typeface="Arial"/>
                        </a:rPr>
                        <a:t> o </a:t>
                      </a:r>
                      <a:r>
                        <a:rPr sz="1000" b="1" i="0" u="sng" dirty="0" lang="es-SV">
                          <a:solidFill>
                            <a:srgbClr val="00376E"/>
                          </a:solidFill>
                          <a:latin typeface="Arial"/>
                        </a:rPr>
                        <a:t>grupo</a:t>
                      </a:r>
                      <a:r>
                        <a:rPr sz="1000" b="1" i="0" u="sng" dirty="0" lang="es-SV">
                          <a:solidFill>
                            <a:srgbClr val="00376E"/>
                          </a:solidFill>
                          <a:latin typeface="Arial"/>
                        </a:rPr>
                        <a:t> </a:t>
                      </a:r>
                      <a:r>
                        <a:rPr sz="1000" b="1" i="0" u="sng" dirty="0" lang="es-SV">
                          <a:solidFill>
                            <a:srgbClr val="00376E"/>
                          </a:solidFill>
                          <a:latin typeface="Arial"/>
                        </a:rPr>
                        <a:t>económico</a:t>
                      </a:r>
                      <a:r>
                        <a:rPr sz="1000" b="1" i="0" u="sng" dirty="0" lang="es-SV">
                          <a:solidFill>
                            <a:srgbClr val="00376E"/>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El Consejo fija los límites de exposición.</a:t>
                      </a:r>
                    </a:p>
                    <a:p>
                      <a:pPr algn="just"/>
                      <a:r>
                        <a:rPr sz="1000" b="1" i="0" lang="es-SV">
                          <a:solidFill>
                            <a:srgbClr val="00376E"/>
                          </a:solidFill>
                          <a:latin typeface="Arial"/>
                        </a:rPr>
                        <a:t>NRP-20, art. 8, lit. 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74320">
                <a:tc>
                  <a:txBody>
                    <a:bodyPr/>
                    <a:lstStyle/>
                    <a:p>
                      <a:pPr algn="just"/>
                      <a:r>
                        <a:rPr sz="1000" b="1" i="0" lang="es-SV">
                          <a:solidFill>
                            <a:srgbClr val="00376E"/>
                          </a:solidFill>
                          <a:latin typeface="Arial"/>
                        </a:rPr>
                        <a:t>21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dirty="0" lang="es-SV">
                          <a:solidFill>
                            <a:srgbClr val="5B6578"/>
                          </a:solidFill>
                          <a:latin typeface="Arial"/>
                        </a:rPr>
                        <a:t>No </a:t>
                      </a:r>
                      <a:r>
                        <a:rPr sz="1000" b="0" i="1" dirty="0" lang="es-SV">
                          <a:solidFill>
                            <a:srgbClr val="5B6578"/>
                          </a:solidFill>
                          <a:latin typeface="Arial"/>
                        </a:rPr>
                        <a:t>existía</a:t>
                      </a:r>
                      <a:r>
                        <a:rPr sz="1000" b="0" i="1" dirty="0" lang="es-SV">
                          <a:solidFill>
                            <a:srgbClr val="5B6578"/>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dirty="0" lang="es-SV">
                          <a:solidFill>
                            <a:srgbClr val="00376E"/>
                          </a:solidFill>
                          <a:latin typeface="Arial"/>
                        </a:rPr>
                        <a:t>Consejo c) </a:t>
                      </a:r>
                      <a:r>
                        <a:rPr sz="1000" b="1" i="0" u="sng" dirty="0" lang="es-SV">
                          <a:solidFill>
                            <a:srgbClr val="00376E"/>
                          </a:solidFill>
                          <a:latin typeface="Arial"/>
                        </a:rPr>
                        <a:t>Conocer</a:t>
                      </a:r>
                      <a:r>
                        <a:rPr sz="1000" b="1" i="0" u="sng" dirty="0" lang="es-SV">
                          <a:solidFill>
                            <a:srgbClr val="00376E"/>
                          </a:solidFill>
                          <a:latin typeface="Arial"/>
                        </a:rPr>
                        <a:t>, al </a:t>
                      </a:r>
                      <a:r>
                        <a:rPr sz="1000" b="1" i="0" u="sng" dirty="0" lang="es-SV">
                          <a:solidFill>
                            <a:srgbClr val="00376E"/>
                          </a:solidFill>
                          <a:latin typeface="Arial"/>
                        </a:rPr>
                        <a:t>menos</a:t>
                      </a:r>
                      <a:r>
                        <a:rPr sz="1000" b="1" i="0" u="sng" dirty="0" lang="es-SV">
                          <a:solidFill>
                            <a:srgbClr val="00376E"/>
                          </a:solidFill>
                          <a:latin typeface="Arial"/>
                        </a:rPr>
                        <a:t> </a:t>
                      </a:r>
                      <a:r>
                        <a:rPr sz="1000" b="1" i="0" u="sng" dirty="0" lang="es-SV">
                          <a:solidFill>
                            <a:srgbClr val="00376E"/>
                          </a:solidFill>
                          <a:latin typeface="Arial"/>
                        </a:rPr>
                        <a:t>anualmente</a:t>
                      </a:r>
                      <a:r>
                        <a:rPr sz="1000" b="1" i="0" u="sng" dirty="0" lang="es-SV">
                          <a:solidFill>
                            <a:srgbClr val="00376E"/>
                          </a:solidFill>
                          <a:latin typeface="Arial"/>
                        </a:rPr>
                        <a:t>, el </a:t>
                      </a:r>
                      <a:r>
                        <a:rPr sz="1000" b="1" i="0" u="sng" dirty="0" lang="es-SV">
                          <a:solidFill>
                            <a:srgbClr val="00376E"/>
                          </a:solidFill>
                          <a:latin typeface="Arial"/>
                        </a:rPr>
                        <a:t>informe</a:t>
                      </a:r>
                      <a:r>
                        <a:rPr sz="1000" b="1" i="0" u="sng" dirty="0" lang="es-SV">
                          <a:solidFill>
                            <a:srgbClr val="00376E"/>
                          </a:solidFill>
                          <a:latin typeface="Arial"/>
                        </a:rPr>
                        <a:t> </a:t>
                      </a:r>
                      <a:r>
                        <a:rPr sz="1000" b="1" i="0" u="sng" dirty="0" lang="es-SV">
                          <a:solidFill>
                            <a:srgbClr val="00376E"/>
                          </a:solidFill>
                          <a:latin typeface="Arial"/>
                        </a:rPr>
                        <a:t>consolidado</a:t>
                      </a:r>
                      <a:r>
                        <a:rPr sz="1000" b="1" i="0" u="sng" dirty="0" lang="es-SV">
                          <a:solidFill>
                            <a:srgbClr val="00376E"/>
                          </a:solidFill>
                          <a:latin typeface="Arial"/>
                        </a:rPr>
                        <a:t> </a:t>
                      </a:r>
                      <a:r>
                        <a:rPr sz="1000" b="1" i="0" u="sng" dirty="0" lang="es-SV">
                          <a:solidFill>
                            <a:srgbClr val="00376E"/>
                          </a:solidFill>
                          <a:latin typeface="Arial"/>
                        </a:rPr>
                        <a:t>sobre</a:t>
                      </a:r>
                      <a:r>
                        <a:rPr sz="1000" b="1" i="0" u="sng" dirty="0" lang="es-SV">
                          <a:solidFill>
                            <a:srgbClr val="00376E"/>
                          </a:solidFill>
                          <a:latin typeface="Arial"/>
                        </a:rPr>
                        <a:t> </a:t>
                      </a:r>
                      <a:r>
                        <a:rPr sz="1000" b="1" i="0" u="sng" dirty="0" lang="es-SV">
                          <a:solidFill>
                            <a:srgbClr val="00376E"/>
                          </a:solidFill>
                          <a:latin typeface="Arial"/>
                        </a:rPr>
                        <a:t>los</a:t>
                      </a:r>
                      <a:r>
                        <a:rPr sz="1000" b="1" i="0" u="sng" dirty="0" lang="es-SV">
                          <a:solidFill>
                            <a:srgbClr val="00376E"/>
                          </a:solidFill>
                          <a:latin typeface="Arial"/>
                        </a:rPr>
                        <a:t> </a:t>
                      </a:r>
                      <a:r>
                        <a:rPr sz="1000" b="1" i="0" u="sng" dirty="0" lang="es-SV">
                          <a:solidFill>
                            <a:srgbClr val="00376E"/>
                          </a:solidFill>
                          <a:latin typeface="Arial"/>
                        </a:rPr>
                        <a:t>proveedores</a:t>
                      </a:r>
                      <a:r>
                        <a:rPr sz="1000" b="1" i="0" u="sng" dirty="0" lang="es-SV">
                          <a:solidFill>
                            <a:srgbClr val="00376E"/>
                          </a:solidFill>
                          <a:latin typeface="Arial"/>
                        </a:rPr>
                        <a:t> de </a:t>
                      </a:r>
                      <a:r>
                        <a:rPr sz="1000" b="1" i="0" u="sng" dirty="0" lang="es-SV">
                          <a:solidFill>
                            <a:srgbClr val="00376E"/>
                          </a:solidFill>
                          <a:latin typeface="Arial"/>
                        </a:rPr>
                        <a:t>servicios</a:t>
                      </a:r>
                      <a:r>
                        <a:rPr sz="1000" b="1" i="0" u="sng" dirty="0" lang="es-SV">
                          <a:solidFill>
                            <a:srgbClr val="00376E"/>
                          </a:solidFill>
                          <a:latin typeface="Arial"/>
                        </a:rPr>
                        <a:t> </a:t>
                      </a:r>
                      <a:r>
                        <a:rPr sz="1000" b="1" i="0" u="sng" dirty="0" lang="es-SV">
                          <a:solidFill>
                            <a:srgbClr val="00376E"/>
                          </a:solidFill>
                          <a:latin typeface="Arial"/>
                        </a:rPr>
                        <a:t>críticos</a:t>
                      </a:r>
                      <a:r>
                        <a:rPr sz="1000" b="1" i="0" u="sng" dirty="0" lang="es-SV">
                          <a:solidFill>
                            <a:srgbClr val="00376E"/>
                          </a:solidFill>
                          <a:latin typeface="Arial"/>
                        </a:rPr>
                        <a:t> </a:t>
                      </a:r>
                      <a:r>
                        <a:rPr sz="1000" b="1" i="0" u="sng" dirty="0" lang="es-SV">
                          <a:solidFill>
                            <a:srgbClr val="00376E"/>
                          </a:solidFill>
                          <a:latin typeface="Arial"/>
                        </a:rPr>
                        <a:t>tercerizados</a:t>
                      </a:r>
                      <a:r>
                        <a:rPr sz="1000" b="1" i="0" u="sng" dirty="0" lang="es-SV">
                          <a:solidFill>
                            <a:srgbClr val="00376E"/>
                          </a:solidFill>
                          <a:latin typeface="Arial"/>
                        </a:rPr>
                        <a:t>, </a:t>
                      </a:r>
                      <a:r>
                        <a:rPr sz="1000" b="1" i="0" u="sng" dirty="0" lang="es-SV">
                          <a:solidFill>
                            <a:srgbClr val="00376E"/>
                          </a:solidFill>
                          <a:latin typeface="Arial"/>
                        </a:rPr>
                        <a:t>su</a:t>
                      </a:r>
                      <a:r>
                        <a:rPr sz="1000" b="1" i="0" u="sng" dirty="0" lang="es-SV">
                          <a:solidFill>
                            <a:srgbClr val="00376E"/>
                          </a:solidFill>
                          <a:latin typeface="Arial"/>
                        </a:rPr>
                        <a:t> </a:t>
                      </a:r>
                      <a:r>
                        <a:rPr sz="1000" b="1" i="0" u="sng" dirty="0" lang="es-SV">
                          <a:solidFill>
                            <a:srgbClr val="00376E"/>
                          </a:solidFill>
                          <a:latin typeface="Arial"/>
                        </a:rPr>
                        <a:t>nivel</a:t>
                      </a:r>
                      <a:r>
                        <a:rPr sz="1000" b="1" i="0" u="sng" dirty="0" lang="es-SV">
                          <a:solidFill>
                            <a:srgbClr val="00376E"/>
                          </a:solidFill>
                          <a:latin typeface="Arial"/>
                        </a:rPr>
                        <a:t> de </a:t>
                      </a:r>
                      <a:r>
                        <a:rPr sz="1000" b="1" i="0" u="sng" dirty="0" lang="es-SV">
                          <a:solidFill>
                            <a:srgbClr val="00376E"/>
                          </a:solidFill>
                          <a:latin typeface="Arial"/>
                        </a:rPr>
                        <a:t>riesgo</a:t>
                      </a:r>
                      <a:r>
                        <a:rPr sz="1000" b="1" i="0" u="sng" dirty="0" lang="es-SV">
                          <a:solidFill>
                            <a:srgbClr val="00376E"/>
                          </a:solidFill>
                          <a:latin typeface="Arial"/>
                        </a:rPr>
                        <a:t>, </a:t>
                      </a:r>
                      <a:r>
                        <a:rPr sz="1000" b="1" i="0" u="sng" dirty="0" lang="es-SV">
                          <a:solidFill>
                            <a:srgbClr val="00376E"/>
                          </a:solidFill>
                          <a:latin typeface="Arial"/>
                        </a:rPr>
                        <a:t>concentración</a:t>
                      </a:r>
                      <a:r>
                        <a:rPr sz="1000" b="1" i="0" u="sng" dirty="0" lang="es-SV">
                          <a:solidFill>
                            <a:srgbClr val="00376E"/>
                          </a:solidFill>
                          <a:latin typeface="Arial"/>
                        </a:rPr>
                        <a:t>, </a:t>
                      </a:r>
                      <a:r>
                        <a:rPr sz="1000" b="1" i="0" u="sng" dirty="0" lang="es-SV">
                          <a:solidFill>
                            <a:srgbClr val="00376E"/>
                          </a:solidFill>
                          <a:latin typeface="Arial"/>
                        </a:rPr>
                        <a:t>cumplimiento</a:t>
                      </a:r>
                      <a:r>
                        <a:rPr sz="1000" b="1" i="0" u="sng" dirty="0" lang="es-SV">
                          <a:solidFill>
                            <a:srgbClr val="00376E"/>
                          </a:solidFill>
                          <a:latin typeface="Arial"/>
                        </a:rPr>
                        <a:t> de </a:t>
                      </a:r>
                      <a:r>
                        <a:rPr sz="1000" b="1" i="0" u="sng" dirty="0" lang="es-SV">
                          <a:solidFill>
                            <a:srgbClr val="00376E"/>
                          </a:solidFill>
                          <a:latin typeface="Arial"/>
                        </a:rPr>
                        <a:t>niveles</a:t>
                      </a:r>
                      <a:r>
                        <a:rPr sz="1000" b="1" i="0" u="sng" dirty="0" lang="es-SV">
                          <a:solidFill>
                            <a:srgbClr val="00376E"/>
                          </a:solidFill>
                          <a:latin typeface="Arial"/>
                        </a:rPr>
                        <a:t> de </a:t>
                      </a:r>
                      <a:r>
                        <a:rPr sz="1000" b="1" i="0" u="sng" dirty="0" lang="es-SV">
                          <a:solidFill>
                            <a:srgbClr val="00376E"/>
                          </a:solidFill>
                          <a:latin typeface="Arial"/>
                        </a:rPr>
                        <a:t>servicio</a:t>
                      </a:r>
                      <a:r>
                        <a:rPr sz="1000" b="1" i="0" u="sng" dirty="0" lang="es-SV">
                          <a:solidFill>
                            <a:srgbClr val="00376E"/>
                          </a:solidFill>
                          <a:latin typeface="Arial"/>
                        </a:rPr>
                        <a:t> y </a:t>
                      </a:r>
                      <a:r>
                        <a:rPr sz="1000" b="1" i="0" u="sng" dirty="0" lang="es-SV">
                          <a:solidFill>
                            <a:srgbClr val="00376E"/>
                          </a:solidFill>
                          <a:latin typeface="Arial"/>
                        </a:rPr>
                        <a:t>resultados</a:t>
                      </a:r>
                      <a:r>
                        <a:rPr sz="1000" b="1" i="0" u="sng" dirty="0" lang="es-SV">
                          <a:solidFill>
                            <a:srgbClr val="00376E"/>
                          </a:solidFill>
                          <a:latin typeface="Arial"/>
                        </a:rPr>
                        <a:t> de </a:t>
                      </a:r>
                      <a:r>
                        <a:rPr sz="1000" b="1" i="0" u="sng" dirty="0" lang="es-SV">
                          <a:solidFill>
                            <a:srgbClr val="00376E"/>
                          </a:solidFill>
                          <a:latin typeface="Arial"/>
                        </a:rPr>
                        <a:t>pruebas</a:t>
                      </a:r>
                      <a:r>
                        <a:rPr sz="1000" b="1" i="0" u="sng" dirty="0" lang="es-SV">
                          <a:solidFill>
                            <a:srgbClr val="00376E"/>
                          </a:solidFill>
                          <a:latin typeface="Arial"/>
                        </a:rPr>
                        <a:t> de </a:t>
                      </a:r>
                      <a:r>
                        <a:rPr sz="1000" b="1" i="0" u="sng" dirty="0" lang="es-SV">
                          <a:solidFill>
                            <a:srgbClr val="00376E"/>
                          </a:solidFill>
                          <a:latin typeface="Arial"/>
                        </a:rPr>
                        <a:t>continuidad</a:t>
                      </a:r>
                      <a:r>
                        <a:rPr sz="1000" b="1" i="0" u="sng" dirty="0" lang="es-SV">
                          <a:solidFill>
                            <a:srgbClr val="00376E"/>
                          </a:solidFill>
                          <a:latin typeface="Arial"/>
                        </a:rPr>
                        <a:t>.</a:t>
                      </a:r>
                    </a:p>
                    <a:p>
                      <a:pPr algn="just"/>
                      <a:r>
                        <a:rPr sz="1000" b="1" i="0" u="sng" dirty="0" lang="es-SV">
                          <a:solidFill>
                            <a:srgbClr val="00376E"/>
                          </a:solidFill>
                          <a:latin typeface="Arial"/>
                        </a:rPr>
                        <a:t>Consejo d) </a:t>
                      </a:r>
                      <a:r>
                        <a:rPr sz="1000" b="1" i="0" u="sng" dirty="0" lang="es-SV">
                          <a:solidFill>
                            <a:srgbClr val="00376E"/>
                          </a:solidFill>
                          <a:latin typeface="Arial"/>
                        </a:rPr>
                        <a:t>Aprobar</a:t>
                      </a:r>
                      <a:r>
                        <a:rPr sz="1000" b="1" i="0" u="sng" dirty="0" lang="es-SV">
                          <a:solidFill>
                            <a:srgbClr val="00376E"/>
                          </a:solidFill>
                          <a:latin typeface="Arial"/>
                        </a:rPr>
                        <a:t> las </a:t>
                      </a:r>
                      <a:r>
                        <a:rPr sz="1000" b="1" i="0" u="sng" dirty="0" lang="es-SV">
                          <a:solidFill>
                            <a:srgbClr val="00376E"/>
                          </a:solidFill>
                          <a:latin typeface="Arial"/>
                        </a:rPr>
                        <a:t>excepciones</a:t>
                      </a:r>
                      <a:r>
                        <a:rPr sz="1000" b="1" i="0" u="sng" dirty="0" lang="es-SV">
                          <a:solidFill>
                            <a:srgbClr val="00376E"/>
                          </a:solidFill>
                          <a:latin typeface="Arial"/>
                        </a:rPr>
                        <a:t> a la </a:t>
                      </a:r>
                      <a:r>
                        <a:rPr sz="1000" b="1" i="0" u="sng" dirty="0" lang="es-SV">
                          <a:solidFill>
                            <a:srgbClr val="00376E"/>
                          </a:solidFill>
                          <a:latin typeface="Arial"/>
                        </a:rPr>
                        <a:t>presente</a:t>
                      </a:r>
                      <a:r>
                        <a:rPr sz="1000" b="1" i="0" u="sng" dirty="0" lang="es-SV">
                          <a:solidFill>
                            <a:srgbClr val="00376E"/>
                          </a:solidFill>
                          <a:latin typeface="Arial"/>
                        </a:rPr>
                        <a:t> </a:t>
                      </a:r>
                      <a:r>
                        <a:rPr sz="1000" b="1" i="0" u="sng" dirty="0" lang="es-SV">
                          <a:solidFill>
                            <a:srgbClr val="00376E"/>
                          </a:solidFill>
                          <a:latin typeface="Arial"/>
                        </a:rPr>
                        <a:t>política</a:t>
                      </a:r>
                      <a:r>
                        <a:rPr sz="1000" b="1" i="0" u="sng" dirty="0" lang="es-SV">
                          <a:solidFill>
                            <a:srgbClr val="00376E"/>
                          </a:solidFill>
                          <a:latin typeface="Arial"/>
                        </a:rPr>
                        <a:t>, previa </a:t>
                      </a:r>
                      <a:r>
                        <a:rPr sz="1000" b="1" i="0" u="sng" dirty="0" lang="es-SV">
                          <a:solidFill>
                            <a:srgbClr val="00376E"/>
                          </a:solidFill>
                          <a:latin typeface="Arial"/>
                        </a:rPr>
                        <a:t>opinión</a:t>
                      </a:r>
                      <a:r>
                        <a:rPr sz="1000" b="1" i="0" u="sng" dirty="0" lang="es-SV">
                          <a:solidFill>
                            <a:srgbClr val="00376E"/>
                          </a:solidFill>
                          <a:latin typeface="Arial"/>
                        </a:rPr>
                        <a:t> del </a:t>
                      </a:r>
                      <a:r>
                        <a:rPr sz="1000" b="1" i="0" u="sng" dirty="0" lang="es-SV">
                          <a:solidFill>
                            <a:srgbClr val="00376E"/>
                          </a:solidFill>
                          <a:latin typeface="Arial"/>
                        </a:rPr>
                        <a:t>Comité</a:t>
                      </a:r>
                      <a:r>
                        <a:rPr sz="1000" b="1" i="0" u="sng" dirty="0" lang="es-SV">
                          <a:solidFill>
                            <a:srgbClr val="00376E"/>
                          </a:solidFill>
                          <a:latin typeface="Arial"/>
                        </a:rPr>
                        <a:t> de </a:t>
                      </a:r>
                      <a:r>
                        <a:rPr sz="1000" b="1" i="0" u="sng" dirty="0" lang="es-SV">
                          <a:solidFill>
                            <a:srgbClr val="00376E"/>
                          </a:solidFill>
                          <a:latin typeface="Arial"/>
                        </a:rPr>
                        <a:t>Riesgos</a:t>
                      </a:r>
                      <a:r>
                        <a:rPr sz="1000" b="1" i="0" u="sng" dirty="0" lang="es-SV">
                          <a:solidFill>
                            <a:srgbClr val="00376E"/>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Supervisión</a:t>
                      </a:r>
                      <a:r>
                        <a:rPr sz="1000" b="0" i="0" dirty="0" lang="es-SV">
                          <a:solidFill>
                            <a:srgbClr val="1B2333"/>
                          </a:solidFill>
                          <a:latin typeface="Arial"/>
                        </a:rPr>
                        <a:t> </a:t>
                      </a:r>
                      <a:r>
                        <a:rPr sz="1000" b="0" i="0" dirty="0" lang="es-SV">
                          <a:solidFill>
                            <a:srgbClr val="1B2333"/>
                          </a:solidFill>
                          <a:latin typeface="Arial"/>
                        </a:rPr>
                        <a:t>anual</a:t>
                      </a:r>
                      <a:r>
                        <a:rPr sz="1000" b="0" i="0" dirty="0" lang="es-SV">
                          <a:solidFill>
                            <a:srgbClr val="1B2333"/>
                          </a:solidFill>
                          <a:latin typeface="Arial"/>
                        </a:rPr>
                        <a:t> y control de </a:t>
                      </a:r>
                      <a:r>
                        <a:rPr sz="1000" b="0" i="0" dirty="0" lang="es-SV">
                          <a:solidFill>
                            <a:srgbClr val="1B2333"/>
                          </a:solidFill>
                          <a:latin typeface="Arial"/>
                        </a:rPr>
                        <a:t>excepciones</a:t>
                      </a:r>
                      <a:r>
                        <a:rPr sz="1000" b="0" i="0" dirty="0" lang="es-SV">
                          <a:solidFill>
                            <a:srgbClr val="1B2333"/>
                          </a:solidFill>
                          <a:latin typeface="Arial"/>
                        </a:rPr>
                        <a:t>.</a:t>
                      </a:r>
                    </a:p>
                    <a:p>
                      <a:pPr algn="just"/>
                      <a:r>
                        <a:rPr sz="1000" b="1" i="0" dirty="0" lang="es-SV">
                          <a:solidFill>
                            <a:srgbClr val="00376E"/>
                          </a:solidFill>
                          <a:latin typeface="Arial"/>
                        </a:rPr>
                        <a:t>NRP-20, art. 8, </a:t>
                      </a:r>
                      <a:r>
                        <a:rPr sz="1000" b="1" i="0" dirty="0" lang="es-SV">
                          <a:solidFill>
                            <a:srgbClr val="00376E"/>
                          </a:solidFill>
                          <a:latin typeface="Arial"/>
                        </a:rPr>
                        <a:t>lits</a:t>
                      </a:r>
                      <a:r>
                        <a:rPr sz="1000" b="1" i="0" dirty="0" lang="es-SV">
                          <a:solidFill>
                            <a:srgbClr val="00376E"/>
                          </a:solidFill>
                          <a:latin typeface="Arial"/>
                        </a:rPr>
                        <a:t>. a y f</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74320">
                <a:tc>
                  <a:txBody>
                    <a:bodyPr/>
                    <a:lstStyle/>
                    <a:p>
                      <a:pPr algn="just"/>
                      <a:r>
                        <a:rPr sz="1000" b="1" i="0" lang="es-SV">
                          <a:solidFill>
                            <a:srgbClr val="00376E"/>
                          </a:solidFill>
                          <a:latin typeface="Arial"/>
                        </a:rPr>
                        <a:t>22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Comité de Administración de Riesgos: Evaluar, revisar y proponer al Consejo de Administración, la presente política y su actualización.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Comité de Riesgos</a:t>
                      </a:r>
                      <a:r>
                        <a:rPr sz="1000" b="0" i="0" lang="es-SV">
                          <a:solidFill>
                            <a:srgbClr val="1B2333"/>
                          </a:solidFill>
                          <a:latin typeface="Arial"/>
                        </a:rPr>
                        <a:t>: a) Evaluar, revisar y proponer al Consejo de Administración la presente política y su actualización.</a:t>
                      </a:r>
                    </a:p>
                    <a:p>
                      <a:pPr algn="just"/>
                      <a:r>
                        <a:rPr sz="1000" b="1" i="0" u="sng" lang="es-SV">
                          <a:solidFill>
                            <a:srgbClr val="00376E"/>
                          </a:solidFill>
                          <a:latin typeface="Arial"/>
                        </a:rPr>
                        <a:t>b) Evaluar, avalar y proponer los límites de tolerancia a la exposición, incluyendo la exposición por proveedor o grupo económico.</a:t>
                      </a:r>
                    </a:p>
                    <a:p>
                      <a:pPr algn="just"/>
                      <a:r>
                        <a:rPr sz="1000" b="1" i="0" u="sng" lang="es-SV">
                          <a:solidFill>
                            <a:srgbClr val="00376E"/>
                          </a:solidFill>
                          <a:latin typeface="Arial"/>
                        </a:rPr>
                        <a:t>c) Informar al Consejo sobre las exposiciones relevantes y desviaciones a los límites aprobados.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Nombre </a:t>
                      </a:r>
                      <a:r>
                        <a:rPr sz="1000" b="0" i="0" dirty="0" lang="es-SV">
                          <a:solidFill>
                            <a:srgbClr val="1B2333"/>
                          </a:solidFill>
                          <a:latin typeface="Arial"/>
                        </a:rPr>
                        <a:t>vigente</a:t>
                      </a:r>
                      <a:r>
                        <a:rPr sz="1000" b="0" i="0" dirty="0" lang="es-SV">
                          <a:solidFill>
                            <a:srgbClr val="1B2333"/>
                          </a:solidFill>
                          <a:latin typeface="Arial"/>
                        </a:rPr>
                        <a:t> del </a:t>
                      </a:r>
                      <a:r>
                        <a:rPr sz="1000" b="0" i="0" dirty="0" lang="es-SV">
                          <a:solidFill>
                            <a:srgbClr val="1B2333"/>
                          </a:solidFill>
                          <a:latin typeface="Arial"/>
                        </a:rPr>
                        <a:t>comité</a:t>
                      </a:r>
                      <a:r>
                        <a:rPr sz="1000" b="0" i="0" dirty="0" lang="es-SV">
                          <a:solidFill>
                            <a:srgbClr val="1B2333"/>
                          </a:solidFill>
                          <a:latin typeface="Arial"/>
                        </a:rPr>
                        <a:t> y </a:t>
                      </a:r>
                      <a:r>
                        <a:rPr sz="1000" b="0" i="0" dirty="0" lang="es-SV">
                          <a:solidFill>
                            <a:srgbClr val="1B2333"/>
                          </a:solidFill>
                          <a:latin typeface="Arial"/>
                        </a:rPr>
                        <a:t>funciones</a:t>
                      </a:r>
                      <a:r>
                        <a:rPr sz="1000" b="0" i="0" dirty="0" lang="es-SV">
                          <a:solidFill>
                            <a:srgbClr val="1B2333"/>
                          </a:solidFill>
                          <a:latin typeface="Arial"/>
                        </a:rPr>
                        <a:t> </a:t>
                      </a:r>
                      <a:r>
                        <a:rPr sz="1000" b="0" i="0" dirty="0" lang="es-SV">
                          <a:solidFill>
                            <a:srgbClr val="1B2333"/>
                          </a:solidFill>
                          <a:latin typeface="Arial"/>
                        </a:rPr>
                        <a:t>sobre</a:t>
                      </a:r>
                      <a:r>
                        <a:rPr sz="1000" b="0" i="0" dirty="0" lang="es-SV">
                          <a:solidFill>
                            <a:srgbClr val="1B2333"/>
                          </a:solidFill>
                          <a:latin typeface="Arial"/>
                        </a:rPr>
                        <a:t> </a:t>
                      </a:r>
                      <a:r>
                        <a:rPr sz="1000" b="0" i="0" dirty="0" lang="es-SV">
                          <a:solidFill>
                            <a:srgbClr val="1B2333"/>
                          </a:solidFill>
                          <a:latin typeface="Arial"/>
                        </a:rPr>
                        <a:t>límites</a:t>
                      </a:r>
                      <a:r>
                        <a:rPr sz="1000" b="0" i="0" dirty="0" lang="es-SV">
                          <a:solidFill>
                            <a:srgbClr val="1B2333"/>
                          </a:solidFill>
                          <a:latin typeface="Arial"/>
                        </a:rPr>
                        <a:t>.</a:t>
                      </a:r>
                    </a:p>
                    <a:p>
                      <a:pPr algn="just"/>
                      <a:r>
                        <a:rPr sz="1000" b="1" i="0" dirty="0" lang="es-SV">
                          <a:solidFill>
                            <a:srgbClr val="00376E"/>
                          </a:solidFill>
                          <a:latin typeface="Arial"/>
                        </a:rPr>
                        <a:t>NRP-20, art. 10, </a:t>
                      </a:r>
                      <a:r>
                        <a:rPr sz="1000" b="1" i="0" dirty="0" lang="es-SV">
                          <a:solidFill>
                            <a:srgbClr val="00376E"/>
                          </a:solidFill>
                          <a:latin typeface="Arial"/>
                        </a:rPr>
                        <a:t>lits</a:t>
                      </a:r>
                      <a:r>
                        <a:rPr sz="1000" b="1" i="0" dirty="0" lang="es-SV">
                          <a:solidFill>
                            <a:srgbClr val="00376E"/>
                          </a:solidFill>
                          <a:latin typeface="Arial"/>
                        </a:rPr>
                        <a:t>. c y 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7" name="TextBox 16"/>
          <p:cNvSpPr txBox="1"/>
          <p:nvPr/>
        </p:nvSpPr>
        <p:spPr>
          <a:xfrm>
            <a:off x="548640" y="6355080"/>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Texto subrayado en azul</a:t>
            </a:r>
            <a:r>
              <a:rPr sz="1000" b="0" i="0" lang="es-SV">
                <a:solidFill>
                  <a:srgbClr val="5B6578"/>
                </a:solidFill>
                <a:latin typeface="Arial"/>
              </a:rPr>
              <a:t> = nuevo o modificado respecto a la versión vigente</a:t>
            </a:r>
          </a:p>
        </p:txBody>
      </p:sp>
      <p:graphicFrame>
        <p:nvGraphicFramePr>
          <p:cNvPr id="3" name="Table 15">
            <a:extLst>
              <a:ext uri="{FF2B5EF4-FFF2-40B4-BE49-F238E27FC236}">
                <a16:creationId xmlns:a16="http://schemas.microsoft.com/office/drawing/2014/main" id="{10D9B8C4-0AD0-5BD2-F5B9-96BEFB82C2E2}"/>
              </a:ext>
            </a:extLst>
          </p:cNvPr>
          <p:cNvGraphicFramePr>
            <a:graphicFrameLocks noGrp="1"/>
          </p:cNvGraphicFramePr>
          <p:nvPr>
            <p:extLst>
              <p:ext uri="{D42A27DB-BD31-4B8C-83A1-F6EECF244321}">
                <p14:modId xmlns:p14="http://schemas.microsoft.com/office/powerpoint/2010/main" val="1658206763"/>
              </p:ext>
            </p:extLst>
          </p:nvPr>
        </p:nvGraphicFramePr>
        <p:xfrm>
          <a:off x="535305" y="3595497"/>
          <a:ext cx="11091672" cy="3108960"/>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274320">
                <a:tc>
                  <a:txBody>
                    <a:bodyPr/>
                    <a:lstStyle/>
                    <a:p>
                      <a:pPr algn="just"/>
                      <a:r>
                        <a:rPr sz="1000" b="1" i="0" lang="es-SV">
                          <a:solidFill>
                            <a:srgbClr val="00376E"/>
                          </a:solidFill>
                          <a:latin typeface="Arial"/>
                        </a:rPr>
                        <a:t>23</a:t>
                      </a:r>
                    </a:p>
                  </a:txBody>
                  <a:tcPr marL="64008" marR="64008">
                    <a:lnL w="9525" cap="flat" cmpd="sng" algn="ctr">
                      <a:solidFill>
                        <a:srgbClr val="C9D1DE"/>
                      </a:solidFill>
                      <a:prstDash val="soli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a) </a:t>
                      </a:r>
                      <a:r>
                        <a:rPr sz="1000" b="0" i="0" dirty="0" lang="es-SV">
                          <a:solidFill>
                            <a:srgbClr val="1B2333"/>
                          </a:solidFill>
                          <a:latin typeface="Arial"/>
                        </a:rPr>
                        <a:t>Diseñar</a:t>
                      </a:r>
                      <a:r>
                        <a:rPr sz="1000" b="0" i="0" dirty="0" lang="es-SV">
                          <a:solidFill>
                            <a:srgbClr val="1B2333"/>
                          </a:solidFill>
                          <a:latin typeface="Arial"/>
                        </a:rPr>
                        <a:t> y </a:t>
                      </a:r>
                      <a:r>
                        <a:rPr sz="1000" b="0" i="0" dirty="0" lang="es-SV">
                          <a:solidFill>
                            <a:srgbClr val="1B2333"/>
                          </a:solidFill>
                          <a:latin typeface="Arial"/>
                        </a:rPr>
                        <a:t>someter</a:t>
                      </a:r>
                      <a:r>
                        <a:rPr sz="1000" b="0" i="0" dirty="0" lang="es-SV">
                          <a:solidFill>
                            <a:srgbClr val="1B2333"/>
                          </a:solidFill>
                          <a:latin typeface="Arial"/>
                        </a:rPr>
                        <a:t> a la </a:t>
                      </a:r>
                      <a:r>
                        <a:rPr sz="1000" b="0" i="0" dirty="0" lang="es-SV">
                          <a:solidFill>
                            <a:srgbClr val="1B2333"/>
                          </a:solidFill>
                          <a:latin typeface="Arial"/>
                        </a:rPr>
                        <a:t>aprobación</a:t>
                      </a:r>
                      <a:r>
                        <a:rPr sz="1000" b="0" i="0" dirty="0" lang="es-SV">
                          <a:solidFill>
                            <a:srgbClr val="1B2333"/>
                          </a:solidFill>
                          <a:latin typeface="Arial"/>
                        </a:rPr>
                        <a:t> del Consejo de Administración a </a:t>
                      </a:r>
                      <a:r>
                        <a:rPr sz="1000" b="0" i="0" dirty="0" lang="es-SV">
                          <a:solidFill>
                            <a:srgbClr val="1B2333"/>
                          </a:solidFill>
                          <a:latin typeface="Arial"/>
                        </a:rPr>
                        <a:t>través</a:t>
                      </a:r>
                      <a:r>
                        <a:rPr sz="1000" b="0" i="0" dirty="0" lang="es-SV">
                          <a:solidFill>
                            <a:srgbClr val="1B2333"/>
                          </a:solidFill>
                          <a:latin typeface="Arial"/>
                        </a:rPr>
                        <a:t> del </a:t>
                      </a:r>
                      <a:r>
                        <a:rPr sz="1000" b="0" i="0" dirty="0" lang="es-SV">
                          <a:solidFill>
                            <a:srgbClr val="1B2333"/>
                          </a:solidFill>
                          <a:latin typeface="Arial"/>
                        </a:rPr>
                        <a:t>Comité</a:t>
                      </a:r>
                      <a:r>
                        <a:rPr sz="1000" b="0" i="0" dirty="0" lang="es-SV">
                          <a:solidFill>
                            <a:srgbClr val="1B2333"/>
                          </a:solidFill>
                          <a:latin typeface="Arial"/>
                        </a:rPr>
                        <a:t> de Administración de </a:t>
                      </a:r>
                      <a:r>
                        <a:rPr sz="1000" b="0" i="0" dirty="0" lang="es-SV">
                          <a:solidFill>
                            <a:srgbClr val="1B2333"/>
                          </a:solidFill>
                          <a:latin typeface="Arial"/>
                        </a:rPr>
                        <a:t>Riesgos</a:t>
                      </a:r>
                      <a:r>
                        <a:rPr sz="1000" b="0" i="0" dirty="0" lang="es-SV">
                          <a:solidFill>
                            <a:srgbClr val="1B2333"/>
                          </a:solidFill>
                          <a:latin typeface="Arial"/>
                        </a:rPr>
                        <a:t>, la </a:t>
                      </a:r>
                      <a:r>
                        <a:rPr sz="1000" b="0" i="0" dirty="0" lang="es-SV">
                          <a:solidFill>
                            <a:srgbClr val="1B2333"/>
                          </a:solidFill>
                          <a:latin typeface="Arial"/>
                        </a:rPr>
                        <a:t>presente</a:t>
                      </a:r>
                      <a:r>
                        <a:rPr sz="1000" b="0" i="0" dirty="0" lang="es-SV">
                          <a:solidFill>
                            <a:srgbClr val="1B2333"/>
                          </a:solidFill>
                          <a:latin typeface="Arial"/>
                        </a:rPr>
                        <a:t> Política y sus </a:t>
                      </a:r>
                      <a:r>
                        <a:rPr sz="1000" b="0" i="0" dirty="0" lang="es-SV">
                          <a:solidFill>
                            <a:srgbClr val="1B2333"/>
                          </a:solidFill>
                          <a:latin typeface="Arial"/>
                        </a:rPr>
                        <a:t>futuras</a:t>
                      </a:r>
                      <a:r>
                        <a:rPr sz="1000" b="0" i="0" dirty="0" lang="es-SV">
                          <a:solidFill>
                            <a:srgbClr val="1B2333"/>
                          </a:solidFill>
                          <a:latin typeface="Arial"/>
                        </a:rPr>
                        <a:t> </a:t>
                      </a:r>
                      <a:r>
                        <a:rPr sz="1000" b="0" i="0" dirty="0" lang="es-SV">
                          <a:solidFill>
                            <a:srgbClr val="1B2333"/>
                          </a:solidFill>
                          <a:latin typeface="Arial"/>
                        </a:rPr>
                        <a:t>actualizaciones</a:t>
                      </a:r>
                      <a:r>
                        <a:rPr sz="1000" b="0" i="0" dirty="0" lang="es-SV">
                          <a:solidFill>
                            <a:srgbClr val="1B2333"/>
                          </a:solidFill>
                          <a:latin typeface="Arial"/>
                        </a:rPr>
                        <a:t>.</a:t>
                      </a:r>
                    </a:p>
                  </a:txBody>
                  <a:tcPr marL="64008" marR="64008">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a) </a:t>
                      </a:r>
                      <a:r>
                        <a:rPr sz="1000" b="0" i="0" dirty="0" lang="es-SV">
                          <a:solidFill>
                            <a:srgbClr val="1B2333"/>
                          </a:solidFill>
                          <a:latin typeface="Arial"/>
                        </a:rPr>
                        <a:t>Diseñar</a:t>
                      </a:r>
                      <a:r>
                        <a:rPr sz="1000" b="0" i="0" dirty="0" lang="es-SV">
                          <a:solidFill>
                            <a:srgbClr val="1B2333"/>
                          </a:solidFill>
                          <a:latin typeface="Arial"/>
                        </a:rPr>
                        <a:t> y </a:t>
                      </a:r>
                      <a:r>
                        <a:rPr sz="1000" b="0" i="0" dirty="0" lang="es-SV">
                          <a:solidFill>
                            <a:srgbClr val="1B2333"/>
                          </a:solidFill>
                          <a:latin typeface="Arial"/>
                        </a:rPr>
                        <a:t>someter</a:t>
                      </a:r>
                      <a:r>
                        <a:rPr sz="1000" b="0" i="0" dirty="0" lang="es-SV">
                          <a:solidFill>
                            <a:srgbClr val="1B2333"/>
                          </a:solidFill>
                          <a:latin typeface="Arial"/>
                        </a:rPr>
                        <a:t> a la </a:t>
                      </a:r>
                      <a:r>
                        <a:rPr sz="1000" b="0" i="0" dirty="0" lang="es-SV">
                          <a:solidFill>
                            <a:srgbClr val="1B2333"/>
                          </a:solidFill>
                          <a:latin typeface="Arial"/>
                        </a:rPr>
                        <a:t>aprobación</a:t>
                      </a:r>
                      <a:r>
                        <a:rPr sz="1000" b="0" i="0" dirty="0" lang="es-SV">
                          <a:solidFill>
                            <a:srgbClr val="1B2333"/>
                          </a:solidFill>
                          <a:latin typeface="Arial"/>
                        </a:rPr>
                        <a:t> del Consejo de Administración, a </a:t>
                      </a:r>
                      <a:r>
                        <a:rPr sz="1000" b="0" i="0" dirty="0" lang="es-SV">
                          <a:solidFill>
                            <a:srgbClr val="1B2333"/>
                          </a:solidFill>
                          <a:latin typeface="Arial"/>
                        </a:rPr>
                        <a:t>través</a:t>
                      </a:r>
                      <a:r>
                        <a:rPr sz="1000" b="0" i="0" dirty="0" lang="es-SV">
                          <a:solidFill>
                            <a:srgbClr val="1B2333"/>
                          </a:solidFill>
                          <a:latin typeface="Arial"/>
                        </a:rPr>
                        <a:t> del </a:t>
                      </a:r>
                      <a:r>
                        <a:rPr sz="1000" b="1" i="0" u="sng" dirty="0" lang="es-SV">
                          <a:solidFill>
                            <a:srgbClr val="00376E"/>
                          </a:solidFill>
                          <a:latin typeface="Arial"/>
                        </a:rPr>
                        <a:t>Comité</a:t>
                      </a:r>
                      <a:r>
                        <a:rPr sz="1000" b="1" i="0" u="sng" dirty="0" lang="es-SV">
                          <a:solidFill>
                            <a:srgbClr val="00376E"/>
                          </a:solidFill>
                          <a:latin typeface="Arial"/>
                        </a:rPr>
                        <a:t> de </a:t>
                      </a:r>
                      <a:r>
                        <a:rPr sz="1000" b="1" i="0" u="sng" dirty="0" lang="es-SV">
                          <a:solidFill>
                            <a:srgbClr val="00376E"/>
                          </a:solidFill>
                          <a:latin typeface="Arial"/>
                        </a:rPr>
                        <a:t>Riesgos</a:t>
                      </a:r>
                      <a:r>
                        <a:rPr sz="1000" b="0" i="0" dirty="0" lang="es-SV">
                          <a:solidFill>
                            <a:srgbClr val="1B2333"/>
                          </a:solidFill>
                          <a:latin typeface="Arial"/>
                        </a:rPr>
                        <a:t>, la </a:t>
                      </a:r>
                      <a:r>
                        <a:rPr sz="1000" b="0" i="0" dirty="0" lang="es-SV">
                          <a:solidFill>
                            <a:srgbClr val="1B2333"/>
                          </a:solidFill>
                          <a:latin typeface="Arial"/>
                        </a:rPr>
                        <a:t>presente</a:t>
                      </a:r>
                      <a:r>
                        <a:rPr sz="1000" b="0" i="0" dirty="0" lang="es-SV">
                          <a:solidFill>
                            <a:srgbClr val="1B2333"/>
                          </a:solidFill>
                          <a:latin typeface="Arial"/>
                        </a:rPr>
                        <a:t> Política y sus </a:t>
                      </a:r>
                      <a:r>
                        <a:rPr sz="1000" b="0" i="0" dirty="0" lang="es-SV">
                          <a:solidFill>
                            <a:srgbClr val="1B2333"/>
                          </a:solidFill>
                          <a:latin typeface="Arial"/>
                        </a:rPr>
                        <a:t>futuras</a:t>
                      </a:r>
                      <a:r>
                        <a:rPr sz="1000" b="0" i="0" dirty="0" lang="es-SV">
                          <a:solidFill>
                            <a:srgbClr val="1B2333"/>
                          </a:solidFill>
                          <a:latin typeface="Arial"/>
                        </a:rPr>
                        <a:t> </a:t>
                      </a:r>
                      <a:r>
                        <a:rPr sz="1000" b="0" i="0" dirty="0" lang="es-SV">
                          <a:solidFill>
                            <a:srgbClr val="1B2333"/>
                          </a:solidFill>
                          <a:latin typeface="Arial"/>
                        </a:rPr>
                        <a:t>actualizaciones</a:t>
                      </a:r>
                      <a:r>
                        <a:rPr sz="1000" b="0" i="0" dirty="0" lang="es-SV">
                          <a:solidFill>
                            <a:srgbClr val="1B2333"/>
                          </a:solidFill>
                          <a:latin typeface="Arial"/>
                        </a:rPr>
                        <a:t>.</a:t>
                      </a:r>
                    </a:p>
                  </a:txBody>
                  <a:tcPr marL="64008" marR="64008">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round/>
                      <a:headEnd type="none" w="med" len="med"/>
                      <a:tailEnd type="none" w="med" len="me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Nombre </a:t>
                      </a:r>
                      <a:r>
                        <a:rPr sz="1000" b="0" i="0" dirty="0" lang="es-SV">
                          <a:solidFill>
                            <a:srgbClr val="1B2333"/>
                          </a:solidFill>
                          <a:latin typeface="Arial"/>
                        </a:rPr>
                        <a:t>vigente</a:t>
                      </a:r>
                      <a:r>
                        <a:rPr sz="1000" b="0" i="0" dirty="0" lang="es-SV">
                          <a:solidFill>
                            <a:srgbClr val="1B2333"/>
                          </a:solidFill>
                          <a:latin typeface="Arial"/>
                        </a:rPr>
                        <a:t> del </a:t>
                      </a:r>
                      <a:r>
                        <a:rPr sz="1000" b="0" i="0" dirty="0" lang="es-SV">
                          <a:solidFill>
                            <a:srgbClr val="1B2333"/>
                          </a:solidFill>
                          <a:latin typeface="Arial"/>
                        </a:rPr>
                        <a:t>comité</a:t>
                      </a:r>
                      <a:r>
                        <a:rPr sz="1000" b="0" i="0" dirty="0" lang="es-SV">
                          <a:solidFill>
                            <a:srgbClr val="1B2333"/>
                          </a:solidFill>
                          <a:latin typeface="Arial"/>
                        </a:rPr>
                        <a:t>.</a:t>
                      </a:r>
                    </a:p>
                    <a:p>
                      <a:pPr algn="just"/>
                      <a:r>
                        <a:rPr sz="1000" b="1" i="0" dirty="0" lang="es-SV">
                          <a:solidFill>
                            <a:srgbClr val="00376E"/>
                          </a:solidFill>
                          <a:latin typeface="Arial"/>
                        </a:rPr>
                        <a:t>NRP-20, art. 13, lit. c</a:t>
                      </a:r>
                    </a:p>
                  </a:txBody>
                  <a:tcPr marL="64008" marR="64008">
                    <a:lnL w="9525" cap="flat" cmpd="sng" algn="ctr">
                      <a:solidFill>
                        <a:srgbClr val="C9D1DE"/>
                      </a:solidFill>
                      <a:prstDash val="solid"/>
                      <a:round/>
                      <a:headEnd type="none" w="med" len="med"/>
                      <a:tailEnd type="none" w="med" len="med"/>
                    </a:lnL>
                    <a:lnR w="9525" cap="flat" cmpd="sng" algn="ctr">
                      <a:solidFill>
                        <a:srgbClr val="C9D1DE"/>
                      </a:solidFill>
                      <a:prstDash val="solid"/>
                    </a:lnR>
                    <a:lnT w="9525" cap="flat" cmpd="sng" algn="ctr">
                      <a:solidFill>
                        <a:srgbClr val="C9D1DE"/>
                      </a:solidFill>
                      <a:prstDash val="solid"/>
                      <a:round/>
                      <a:headEnd type="none" w="med" len="med"/>
                      <a:tailEnd type="none" w="med" len="me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74320">
                <a:tc>
                  <a:txBody>
                    <a:bodyPr/>
                    <a:lstStyle/>
                    <a:p>
                      <a:pPr algn="just"/>
                      <a:r>
                        <a:rPr sz="1000" b="1" i="0" lang="es-SV">
                          <a:solidFill>
                            <a:srgbClr val="00376E"/>
                          </a:solidFill>
                          <a:latin typeface="Arial"/>
                        </a:rPr>
                        <a:t>24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b) Coordinar con las áreas involucradas, la evaluación de criticidad de los nuevos proveedores de servicios críticos a contratar.</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b) </a:t>
                      </a:r>
                      <a:r>
                        <a:rPr sz="1000" b="0" i="0" dirty="0" lang="es-SV">
                          <a:solidFill>
                            <a:srgbClr val="1B2333"/>
                          </a:solidFill>
                          <a:latin typeface="Arial"/>
                        </a:rPr>
                        <a:t>Coordinar</a:t>
                      </a:r>
                      <a:r>
                        <a:rPr sz="1000" b="0" i="0" dirty="0" lang="es-SV">
                          <a:solidFill>
                            <a:srgbClr val="1B2333"/>
                          </a:solidFill>
                          <a:latin typeface="Arial"/>
                        </a:rPr>
                        <a:t> con las </a:t>
                      </a:r>
                      <a:r>
                        <a:rPr sz="1000" b="0" i="0" dirty="0" lang="es-SV">
                          <a:solidFill>
                            <a:srgbClr val="1B2333"/>
                          </a:solidFill>
                          <a:latin typeface="Arial"/>
                        </a:rPr>
                        <a:t>áreas</a:t>
                      </a:r>
                      <a:r>
                        <a:rPr sz="1000" b="0" i="0" dirty="0" lang="es-SV">
                          <a:solidFill>
                            <a:srgbClr val="1B2333"/>
                          </a:solidFill>
                          <a:latin typeface="Arial"/>
                        </a:rPr>
                        <a:t> </a:t>
                      </a:r>
                      <a:r>
                        <a:rPr sz="1000" b="0" i="0" dirty="0" lang="es-SV">
                          <a:solidFill>
                            <a:srgbClr val="1B2333"/>
                          </a:solidFill>
                          <a:latin typeface="Arial"/>
                        </a:rPr>
                        <a:t>involucradas</a:t>
                      </a:r>
                      <a:r>
                        <a:rPr sz="1000" b="0" i="0" dirty="0" lang="es-SV">
                          <a:solidFill>
                            <a:srgbClr val="1B2333"/>
                          </a:solidFill>
                          <a:latin typeface="Arial"/>
                        </a:rPr>
                        <a:t> la </a:t>
                      </a:r>
                      <a:r>
                        <a:rPr sz="1000" b="0" i="0" dirty="0" lang="es-SV">
                          <a:solidFill>
                            <a:srgbClr val="1B2333"/>
                          </a:solidFill>
                          <a:latin typeface="Arial"/>
                        </a:rPr>
                        <a:t>evaluación</a:t>
                      </a:r>
                      <a:r>
                        <a:rPr sz="1000" b="0" i="0" dirty="0" lang="es-SV">
                          <a:solidFill>
                            <a:srgbClr val="1B2333"/>
                          </a:solidFill>
                          <a:latin typeface="Arial"/>
                        </a:rPr>
                        <a:t> de </a:t>
                      </a:r>
                      <a:r>
                        <a:rPr sz="1000" b="0" i="0" dirty="0" lang="es-SV">
                          <a:solidFill>
                            <a:srgbClr val="1B2333"/>
                          </a:solidFill>
                          <a:latin typeface="Arial"/>
                        </a:rPr>
                        <a:t>criticidad</a:t>
                      </a:r>
                      <a:r>
                        <a:rPr sz="1000" b="0" i="0" dirty="0" lang="es-SV">
                          <a:solidFill>
                            <a:srgbClr val="1B2333"/>
                          </a:solidFill>
                          <a:latin typeface="Arial"/>
                        </a:rPr>
                        <a:t> de </a:t>
                      </a:r>
                      <a:r>
                        <a:rPr sz="1000" b="0" i="0" dirty="0" lang="es-SV">
                          <a:solidFill>
                            <a:srgbClr val="1B2333"/>
                          </a:solidFill>
                          <a:latin typeface="Arial"/>
                        </a:rPr>
                        <a:t>los</a:t>
                      </a:r>
                      <a:r>
                        <a:rPr sz="1000" b="0" i="0" dirty="0" lang="es-SV">
                          <a:solidFill>
                            <a:srgbClr val="1B2333"/>
                          </a:solidFill>
                          <a:latin typeface="Arial"/>
                        </a:rPr>
                        <a:t> </a:t>
                      </a:r>
                      <a:r>
                        <a:rPr sz="1000" b="0" i="0" dirty="0" lang="es-SV">
                          <a:solidFill>
                            <a:srgbClr val="1B2333"/>
                          </a:solidFill>
                          <a:latin typeface="Arial"/>
                        </a:rPr>
                        <a:t>nuevos</a:t>
                      </a:r>
                      <a:r>
                        <a:rPr sz="1000" b="0" i="0" dirty="0" lang="es-SV">
                          <a:solidFill>
                            <a:srgbClr val="1B2333"/>
                          </a:solidFill>
                          <a:latin typeface="Arial"/>
                        </a:rPr>
                        <a:t> </a:t>
                      </a:r>
                      <a:r>
                        <a:rPr sz="1000" b="0" i="0" dirty="0" lang="es-SV">
                          <a:solidFill>
                            <a:srgbClr val="1B2333"/>
                          </a:solidFill>
                          <a:latin typeface="Arial"/>
                        </a:rPr>
                        <a:t>proveedores</a:t>
                      </a:r>
                      <a:r>
                        <a:rPr sz="1000" b="0" i="0" dirty="0" lang="es-SV">
                          <a:solidFill>
                            <a:srgbClr val="1B2333"/>
                          </a:solidFill>
                          <a:latin typeface="Arial"/>
                        </a:rPr>
                        <a:t> de </a:t>
                      </a:r>
                      <a:r>
                        <a:rPr sz="1000" b="0" i="0" dirty="0" lang="es-SV">
                          <a:solidFill>
                            <a:srgbClr val="1B2333"/>
                          </a:solidFill>
                          <a:latin typeface="Arial"/>
                        </a:rPr>
                        <a:t>servicios</a:t>
                      </a:r>
                      <a:r>
                        <a:rPr sz="1000" b="0" i="0" dirty="0" lang="es-SV">
                          <a:solidFill>
                            <a:srgbClr val="1B2333"/>
                          </a:solidFill>
                          <a:latin typeface="Arial"/>
                        </a:rPr>
                        <a:t> </a:t>
                      </a:r>
                      <a:r>
                        <a:rPr sz="1000" b="0" i="0" dirty="0" lang="es-SV">
                          <a:solidFill>
                            <a:srgbClr val="1B2333"/>
                          </a:solidFill>
                          <a:latin typeface="Arial"/>
                        </a:rPr>
                        <a:t>críticos</a:t>
                      </a:r>
                      <a:r>
                        <a:rPr sz="1000" b="0" i="0" dirty="0" lang="es-SV">
                          <a:solidFill>
                            <a:srgbClr val="1B2333"/>
                          </a:solidFill>
                          <a:latin typeface="Arial"/>
                        </a:rPr>
                        <a:t> a </a:t>
                      </a:r>
                      <a:r>
                        <a:rPr sz="1000" b="0" i="0" dirty="0" lang="es-SV">
                          <a:solidFill>
                            <a:srgbClr val="1B2333"/>
                          </a:solidFill>
                          <a:latin typeface="Arial"/>
                        </a:rPr>
                        <a:t>contratar</a:t>
                      </a:r>
                      <a:r>
                        <a:rPr sz="1000" b="1" i="0" u="sng" dirty="0" lang="es-SV">
                          <a:solidFill>
                            <a:srgbClr val="00376E"/>
                          </a:solidFill>
                          <a:latin typeface="Arial"/>
                        </a:rPr>
                        <a:t>, </a:t>
                      </a:r>
                      <a:r>
                        <a:rPr sz="1000" b="1" i="0" u="sng" dirty="0" lang="es-SV">
                          <a:solidFill>
                            <a:srgbClr val="00376E"/>
                          </a:solidFill>
                          <a:latin typeface="Arial"/>
                        </a:rPr>
                        <a:t>así</a:t>
                      </a:r>
                      <a:r>
                        <a:rPr sz="1000" b="1" i="0" u="sng" dirty="0" lang="es-SV">
                          <a:solidFill>
                            <a:srgbClr val="00376E"/>
                          </a:solidFill>
                          <a:latin typeface="Arial"/>
                        </a:rPr>
                        <a:t> </a:t>
                      </a:r>
                      <a:r>
                        <a:rPr sz="1000" b="1" i="0" u="sng" dirty="0" lang="es-SV">
                          <a:solidFill>
                            <a:srgbClr val="00376E"/>
                          </a:solidFill>
                          <a:latin typeface="Arial"/>
                        </a:rPr>
                        <a:t>como</a:t>
                      </a:r>
                      <a:r>
                        <a:rPr sz="1000" b="1" i="0" u="sng" dirty="0" lang="es-SV">
                          <a:solidFill>
                            <a:srgbClr val="00376E"/>
                          </a:solidFill>
                          <a:latin typeface="Arial"/>
                        </a:rPr>
                        <a:t> </a:t>
                      </a:r>
                      <a:r>
                        <a:rPr sz="1000" b="1" i="0" u="sng" dirty="0" lang="es-SV">
                          <a:solidFill>
                            <a:srgbClr val="00376E"/>
                          </a:solidFill>
                          <a:latin typeface="Arial"/>
                        </a:rPr>
                        <a:t>su</a:t>
                      </a:r>
                      <a:r>
                        <a:rPr sz="1000" b="1" i="0" u="sng" dirty="0" lang="es-SV">
                          <a:solidFill>
                            <a:srgbClr val="00376E"/>
                          </a:solidFill>
                          <a:latin typeface="Arial"/>
                        </a:rPr>
                        <a:t> </a:t>
                      </a:r>
                      <a:r>
                        <a:rPr sz="1000" b="1" i="0" u="sng" dirty="0" lang="es-SV">
                          <a:solidFill>
                            <a:srgbClr val="00376E"/>
                          </a:solidFill>
                          <a:latin typeface="Arial"/>
                        </a:rPr>
                        <a:t>reevaluación</a:t>
                      </a:r>
                      <a:r>
                        <a:rPr sz="1000" b="1" i="0" u="sng" dirty="0" lang="es-SV">
                          <a:solidFill>
                            <a:srgbClr val="00376E"/>
                          </a:solidFill>
                          <a:latin typeface="Arial"/>
                        </a:rPr>
                        <a:t> </a:t>
                      </a:r>
                      <a:r>
                        <a:rPr sz="1000" b="1" i="0" u="sng" dirty="0" lang="es-SV">
                          <a:solidFill>
                            <a:srgbClr val="00376E"/>
                          </a:solidFill>
                          <a:latin typeface="Arial"/>
                        </a:rPr>
                        <a:t>anual</a:t>
                      </a:r>
                      <a:r>
                        <a:rPr sz="1000" b="1" i="0" u="sng" dirty="0" lang="es-SV">
                          <a:solidFill>
                            <a:srgbClr val="00376E"/>
                          </a:solidFill>
                          <a:latin typeface="Arial"/>
                        </a:rPr>
                        <a:t> o ante </a:t>
                      </a:r>
                      <a:r>
                        <a:rPr sz="1000" b="1" i="0" u="sng" dirty="0" lang="es-SV">
                          <a:solidFill>
                            <a:srgbClr val="00376E"/>
                          </a:solidFill>
                          <a:latin typeface="Arial"/>
                        </a:rPr>
                        <a:t>cambios</a:t>
                      </a:r>
                      <a:r>
                        <a:rPr sz="1000" b="1" i="0" u="sng" dirty="0" lang="es-SV">
                          <a:solidFill>
                            <a:srgbClr val="00376E"/>
                          </a:solidFill>
                          <a:latin typeface="Arial"/>
                        </a:rPr>
                        <a:t> </a:t>
                      </a:r>
                      <a:r>
                        <a:rPr sz="1000" b="1" i="0" u="sng" dirty="0" lang="es-SV">
                          <a:solidFill>
                            <a:srgbClr val="00376E"/>
                          </a:solidFill>
                          <a:latin typeface="Arial"/>
                        </a:rPr>
                        <a:t>significativos</a:t>
                      </a:r>
                      <a:r>
                        <a:rPr sz="1000" b="1" i="0" u="sng" dirty="0" lang="es-SV">
                          <a:solidFill>
                            <a:srgbClr val="00376E"/>
                          </a:solidFill>
                          <a:latin typeface="Arial"/>
                        </a:rPr>
                        <a:t> </a:t>
                      </a:r>
                      <a:r>
                        <a:rPr sz="1000" b="1" i="0" u="sng" dirty="0" lang="es-SV">
                          <a:solidFill>
                            <a:srgbClr val="00376E"/>
                          </a:solidFill>
                          <a:latin typeface="Arial"/>
                        </a:rPr>
                        <a:t>en</a:t>
                      </a:r>
                      <a:r>
                        <a:rPr sz="1000" b="1" i="0" u="sng" dirty="0" lang="es-SV">
                          <a:solidFill>
                            <a:srgbClr val="00376E"/>
                          </a:solidFill>
                          <a:latin typeface="Arial"/>
                        </a:rPr>
                        <a:t> el </a:t>
                      </a:r>
                      <a:r>
                        <a:rPr sz="1000" b="1" i="0" u="sng" dirty="0" lang="es-SV">
                          <a:solidFill>
                            <a:srgbClr val="00376E"/>
                          </a:solidFill>
                          <a:latin typeface="Arial"/>
                        </a:rPr>
                        <a:t>servicio</a:t>
                      </a:r>
                      <a:r>
                        <a:rPr sz="1000" b="1" i="0" u="sng" dirty="0" lang="es-SV">
                          <a:solidFill>
                            <a:srgbClr val="00376E"/>
                          </a:solidFill>
                          <a:latin typeface="Arial"/>
                        </a:rPr>
                        <a:t> o </a:t>
                      </a:r>
                      <a:r>
                        <a:rPr sz="1000" b="1" i="0" u="sng" dirty="0" lang="es-SV">
                          <a:solidFill>
                            <a:srgbClr val="00376E"/>
                          </a:solidFill>
                          <a:latin typeface="Arial"/>
                        </a:rPr>
                        <a:t>en</a:t>
                      </a:r>
                      <a:r>
                        <a:rPr sz="1000" b="1" i="0" u="sng" dirty="0" lang="es-SV">
                          <a:solidFill>
                            <a:srgbClr val="00376E"/>
                          </a:solidFill>
                          <a:latin typeface="Arial"/>
                        </a:rPr>
                        <a:t> el </a:t>
                      </a:r>
                      <a:r>
                        <a:rPr sz="1000" b="1" i="0" u="sng" dirty="0" lang="es-SV">
                          <a:solidFill>
                            <a:srgbClr val="00376E"/>
                          </a:solidFill>
                          <a:latin typeface="Arial"/>
                        </a:rPr>
                        <a:t>proveedor</a:t>
                      </a:r>
                      <a:r>
                        <a:rPr sz="1000" b="1" i="0" u="sng" dirty="0" lang="es-SV">
                          <a:solidFill>
                            <a:srgbClr val="00376E"/>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La </a:t>
                      </a:r>
                      <a:r>
                        <a:rPr sz="1000" b="0" i="0" dirty="0" lang="es-SV">
                          <a:solidFill>
                            <a:srgbClr val="1B2333"/>
                          </a:solidFill>
                          <a:latin typeface="Arial"/>
                        </a:rPr>
                        <a:t>evaluación</a:t>
                      </a:r>
                      <a:r>
                        <a:rPr sz="1000" b="0" i="0" dirty="0" lang="es-SV">
                          <a:solidFill>
                            <a:srgbClr val="1B2333"/>
                          </a:solidFill>
                          <a:latin typeface="Arial"/>
                        </a:rPr>
                        <a:t> no termina con la </a:t>
                      </a:r>
                      <a:r>
                        <a:rPr sz="1000" b="0" i="0" dirty="0" lang="es-SV">
                          <a:solidFill>
                            <a:srgbClr val="1B2333"/>
                          </a:solidFill>
                          <a:latin typeface="Arial"/>
                        </a:rPr>
                        <a:t>contratación</a:t>
                      </a:r>
                      <a:r>
                        <a:rPr sz="1000" b="0" i="0" dirty="0" lang="es-SV">
                          <a:solidFill>
                            <a:srgbClr val="1B2333"/>
                          </a:solidFill>
                          <a:latin typeface="Arial"/>
                        </a:rPr>
                        <a:t>.</a:t>
                      </a:r>
                    </a:p>
                    <a:p>
                      <a:pPr algn="just"/>
                      <a:r>
                        <a:rPr sz="1000" b="1" i="0" dirty="0" lang="es-SV">
                          <a:solidFill>
                            <a:srgbClr val="00376E"/>
                          </a:solidFill>
                          <a:latin typeface="Arial"/>
                        </a:rPr>
                        <a:t>NRP-23, Anexo 1, </a:t>
                      </a:r>
                      <a:r>
                        <a:rPr sz="1000" b="1" i="0" dirty="0" lang="es-SV">
                          <a:solidFill>
                            <a:srgbClr val="00376E"/>
                          </a:solidFill>
                          <a:latin typeface="Arial"/>
                        </a:rPr>
                        <a:t>Secc</a:t>
                      </a:r>
                      <a:r>
                        <a:rPr sz="1000" b="1" i="0" dirty="0" lang="es-SV">
                          <a:solidFill>
                            <a:srgbClr val="00376E"/>
                          </a:solidFill>
                          <a:latin typeface="Arial"/>
                        </a:rPr>
                        <a:t>. A, num. 3, lit. c</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74320">
                <a:tc>
                  <a:txBody>
                    <a:bodyPr/>
                    <a:lstStyle/>
                    <a:p>
                      <a:pPr algn="just"/>
                      <a:r>
                        <a:rPr sz="1000" b="1" i="0" lang="es-SV">
                          <a:solidFill>
                            <a:srgbClr val="00376E"/>
                          </a:solidFill>
                          <a:latin typeface="Arial"/>
                        </a:rPr>
                        <a:t>25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d) Elaborar la evaluación de riesgos previa a la contratación: riesgos operacionales (incluyendo tecnológicos y legales), reputacionales y financieros; concentración de entidades financieras en el proveedor; riesgo de liquidez y continuidad del negocio, proponiendo los mecanismos de mitigación.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Contenido</a:t>
                      </a:r>
                      <a:r>
                        <a:rPr sz="1000" b="0" i="0" dirty="0" lang="es-SV">
                          <a:solidFill>
                            <a:srgbClr val="1B2333"/>
                          </a:solidFill>
                          <a:latin typeface="Arial"/>
                        </a:rPr>
                        <a:t> </a:t>
                      </a:r>
                      <a:r>
                        <a:rPr sz="1000" b="0" i="0" dirty="0" lang="es-SV">
                          <a:solidFill>
                            <a:srgbClr val="1B2333"/>
                          </a:solidFill>
                          <a:latin typeface="Arial"/>
                        </a:rPr>
                        <a:t>mínimo</a:t>
                      </a:r>
                      <a:r>
                        <a:rPr sz="1000" b="0" i="0" dirty="0" lang="es-SV">
                          <a:solidFill>
                            <a:srgbClr val="1B2333"/>
                          </a:solidFill>
                          <a:latin typeface="Arial"/>
                        </a:rPr>
                        <a:t> de la </a:t>
                      </a:r>
                      <a:r>
                        <a:rPr sz="1000" b="0" i="0" dirty="0" lang="es-SV">
                          <a:solidFill>
                            <a:srgbClr val="1B2333"/>
                          </a:solidFill>
                          <a:latin typeface="Arial"/>
                        </a:rPr>
                        <a:t>evaluación</a:t>
                      </a:r>
                      <a:r>
                        <a:rPr sz="1000" b="0" i="0" dirty="0" lang="es-SV">
                          <a:solidFill>
                            <a:srgbClr val="1B2333"/>
                          </a:solidFill>
                          <a:latin typeface="Arial"/>
                        </a:rPr>
                        <a:t>.</a:t>
                      </a:r>
                    </a:p>
                    <a:p>
                      <a:pPr algn="just"/>
                      <a:r>
                        <a:rPr sz="1000" b="1" i="0" dirty="0" lang="es-SV">
                          <a:solidFill>
                            <a:srgbClr val="00376E"/>
                          </a:solidFill>
                          <a:latin typeface="Arial"/>
                        </a:rPr>
                        <a:t>NRP-23, Anexo 1, </a:t>
                      </a:r>
                      <a:r>
                        <a:rPr sz="1000" b="1" i="0" dirty="0" lang="es-SV">
                          <a:solidFill>
                            <a:srgbClr val="00376E"/>
                          </a:solidFill>
                          <a:latin typeface="Arial"/>
                        </a:rPr>
                        <a:t>Secc</a:t>
                      </a:r>
                      <a:r>
                        <a:rPr sz="1000" b="1" i="0" dirty="0" lang="es-SV">
                          <a:solidFill>
                            <a:srgbClr val="00376E"/>
                          </a:solidFill>
                          <a:latin typeface="Arial"/>
                        </a:rPr>
                        <a:t>. A, num. 1 y 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74320">
                <a:tc>
                  <a:txBody>
                    <a:bodyPr/>
                    <a:lstStyle/>
                    <a:p>
                      <a:pPr algn="just"/>
                      <a:r>
                        <a:rPr sz="1000" b="1" i="0" lang="es-SV">
                          <a:solidFill>
                            <a:srgbClr val="00376E"/>
                          </a:solidFill>
                          <a:latin typeface="Arial"/>
                        </a:rPr>
                        <a:t>26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e) Mantener actualizado el análisis de concentración de proveedores y reportar al Comité de Riesgos las exposiciones que superen los límites aprobados.</a:t>
                      </a:r>
                    </a:p>
                    <a:p>
                      <a:pPr algn="just"/>
                      <a:r>
                        <a:rPr sz="1000" b="1" i="0" u="sng" lang="es-SV">
                          <a:solidFill>
                            <a:srgbClr val="00376E"/>
                          </a:solidFill>
                          <a:latin typeface="Arial"/>
                        </a:rPr>
                        <a:t>f) Registrar en la base de datos de eventos de riesgo operacional las pérdidas e incidentes originados en proveedores.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Seguimiento</a:t>
                      </a:r>
                      <a:r>
                        <a:rPr sz="1000" b="0" i="0" dirty="0" lang="es-SV">
                          <a:solidFill>
                            <a:srgbClr val="1B2333"/>
                          </a:solidFill>
                          <a:latin typeface="Arial"/>
                        </a:rPr>
                        <a:t> de </a:t>
                      </a:r>
                      <a:r>
                        <a:rPr sz="1000" b="0" i="0" dirty="0" lang="es-SV">
                          <a:solidFill>
                            <a:srgbClr val="1B2333"/>
                          </a:solidFill>
                          <a:latin typeface="Arial"/>
                        </a:rPr>
                        <a:t>límites</a:t>
                      </a:r>
                      <a:r>
                        <a:rPr sz="1000" b="0" i="0" dirty="0" lang="es-SV">
                          <a:solidFill>
                            <a:srgbClr val="1B2333"/>
                          </a:solidFill>
                          <a:latin typeface="Arial"/>
                        </a:rPr>
                        <a:t> y </a:t>
                      </a:r>
                      <a:r>
                        <a:rPr sz="1000" b="0" i="0" dirty="0" lang="es-SV">
                          <a:solidFill>
                            <a:srgbClr val="1B2333"/>
                          </a:solidFill>
                          <a:latin typeface="Arial"/>
                        </a:rPr>
                        <a:t>registro</a:t>
                      </a:r>
                      <a:r>
                        <a:rPr sz="1000" b="0" i="0" dirty="0" lang="es-SV">
                          <a:solidFill>
                            <a:srgbClr val="1B2333"/>
                          </a:solidFill>
                          <a:latin typeface="Arial"/>
                        </a:rPr>
                        <a:t> de </a:t>
                      </a:r>
                      <a:r>
                        <a:rPr sz="1000" b="0" i="0" dirty="0" lang="es-SV">
                          <a:solidFill>
                            <a:srgbClr val="1B2333"/>
                          </a:solidFill>
                          <a:latin typeface="Arial"/>
                        </a:rPr>
                        <a:t>eventos</a:t>
                      </a:r>
                      <a:r>
                        <a:rPr sz="1000" b="0" i="0" dirty="0" lang="es-SV">
                          <a:solidFill>
                            <a:srgbClr val="1B2333"/>
                          </a:solidFill>
                          <a:latin typeface="Arial"/>
                        </a:rPr>
                        <a:t>.</a:t>
                      </a:r>
                    </a:p>
                    <a:p>
                      <a:pPr algn="just"/>
                      <a:r>
                        <a:rPr sz="1000" b="1" i="0" dirty="0" lang="es-SV">
                          <a:solidFill>
                            <a:srgbClr val="00376E"/>
                          </a:solidFill>
                          <a:latin typeface="Arial"/>
                        </a:rPr>
                        <a:t>NRP-20, art. 13, lit. h · NRP-42, art. 19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0A848043-3E64-98A8-7A75-B15A546BA49B}"/>
              </a:ext>
            </a:extLst>
          </p:cNvPr>
          <p:cNvSpPr/>
          <p:nvPr/>
        </p:nvSpPr>
        <p:spPr>
          <a:xfrm>
            <a:off x="548640" y="158496"/>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757047" y="177546"/>
            <a:ext cx="9966960" cy="307777"/>
          </a:xfrm>
          <a:prstGeom prst="rect">
            <a:avLst/>
          </a:prstGeom>
          <a:noFill/>
        </p:spPr>
        <p:txBody>
          <a:bodyPr wrap="square" lIns="0" tIns="0" rIns="0" bIns="0" anchor="ctr">
            <a:spAutoFit/>
          </a:bodyPr>
          <a:lstStyle/>
          <a:p>
            <a:pPr algn="l"/>
            <a:r>
              <a:rPr sz="2000" b="1" i="0" dirty="0" lang="es-SV">
                <a:solidFill>
                  <a:srgbClr val="00376E"/>
                </a:solidFill>
                <a:latin typeface="Century Gothic"/>
              </a:rPr>
              <a:t>IV. </a:t>
            </a:r>
            <a:r>
              <a:rPr sz="2000" b="1" i="0" dirty="0" lang="es-SV">
                <a:solidFill>
                  <a:srgbClr val="00376E"/>
                </a:solidFill>
                <a:latin typeface="Century Gothic"/>
              </a:rPr>
              <a:t>Responsabilidades</a:t>
            </a:r>
            <a:r>
              <a:rPr sz="2000" b="1" i="0" dirty="0" lang="es-SV">
                <a:solidFill>
                  <a:srgbClr val="00376E"/>
                </a:solidFill>
                <a:latin typeface="Century Gothic"/>
              </a:rPr>
              <a:t> — </a:t>
            </a:r>
            <a:r>
              <a:rPr sz="2000" b="1" i="0" dirty="0" lang="es-SV">
                <a:solidFill>
                  <a:srgbClr val="00376E"/>
                </a:solidFill>
                <a:latin typeface="Century Gothic"/>
              </a:rPr>
              <a:t>Administrador</a:t>
            </a:r>
            <a:r>
              <a:rPr sz="2000" b="1" i="0" dirty="0" lang="es-SV">
                <a:solidFill>
                  <a:srgbClr val="00376E"/>
                </a:solidFill>
                <a:latin typeface="Century Gothic"/>
              </a:rPr>
              <a:t> de </a:t>
            </a:r>
            <a:r>
              <a:rPr sz="2000" b="1" i="0" dirty="0" lang="es-SV">
                <a:solidFill>
                  <a:srgbClr val="00376E"/>
                </a:solidFill>
                <a:latin typeface="Century Gothic"/>
              </a:rPr>
              <a:t>Contrato</a:t>
            </a:r>
            <a:r>
              <a:rPr sz="2000" b="1" i="0" dirty="0" lang="es-SV">
                <a:solidFill>
                  <a:srgbClr val="00376E"/>
                </a:solidFill>
                <a:latin typeface="Century Gothic"/>
              </a:rPr>
              <a:t>, Legal y OSI</a:t>
            </a:r>
          </a:p>
        </p:txBody>
      </p:sp>
      <p:graphicFrame>
        <p:nvGraphicFramePr>
          <p:cNvPr id="16" name="Table 15"/>
          <p:cNvGraphicFramePr>
            <a:graphicFrameLocks noGrp="1"/>
          </p:cNvGraphicFramePr>
          <p:nvPr>
            <p:extLst>
              <p:ext uri="{D42A27DB-BD31-4B8C-83A1-F6EECF244321}">
                <p14:modId xmlns:p14="http://schemas.microsoft.com/office/powerpoint/2010/main" val="2680383123"/>
              </p:ext>
            </p:extLst>
          </p:nvPr>
        </p:nvGraphicFramePr>
        <p:xfrm>
          <a:off x="548640" y="744855"/>
          <a:ext cx="11091672" cy="3151632"/>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347472">
                <a:tc>
                  <a:txBody>
                    <a:bodyPr/>
                    <a:lstStyle/>
                    <a:p>
                      <a:r>
                        <a:rPr sz="1000" b="1" i="0" dirty="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r>
                        <a:rPr sz="1000" b="1" i="0" dirty="0" lang="es-SV">
                          <a:solidFill>
                            <a:srgbClr val="FFFFFF"/>
                          </a:solidFill>
                          <a:latin typeface="Arial"/>
                        </a:rPr>
                        <a:t>Dice (V03 </a:t>
                      </a:r>
                      <a:r>
                        <a:rPr sz="1000" b="1" i="0" dirty="0" lang="es-SV">
                          <a:solidFill>
                            <a:srgbClr val="FFFFFF"/>
                          </a:solidFill>
                          <a:latin typeface="Arial"/>
                        </a:rPr>
                        <a:t>vigente</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r>
                        <a:rPr sz="1000" b="1" i="0" lang="es-SV">
                          <a:solidFill>
                            <a:srgbClr val="FFFFFF"/>
                          </a:solidFill>
                          <a:latin typeface="Arial"/>
                        </a:rPr>
                        <a:t>Debe decir (V04 propuesta)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r>
                        <a:rPr sz="1000" b="1" i="0" lang="es-SV">
                          <a:solidFill>
                            <a:srgbClr val="FFFFFF"/>
                          </a:solidFill>
                          <a:latin typeface="Arial"/>
                        </a:rPr>
                        <a:t>Mejora y base normativa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74320">
                <a:tc>
                  <a:txBody>
                    <a:bodyPr/>
                    <a:lstStyle/>
                    <a:p>
                      <a:r>
                        <a:rPr sz="1000" b="1" i="0" lang="es-SV">
                          <a:solidFill>
                            <a:srgbClr val="00376E"/>
                          </a:solidFill>
                          <a:latin typeface="Arial"/>
                        </a:rPr>
                        <a:t>27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r>
                        <a:rPr sz="1000" b="0" i="0" dirty="0" lang="es-SV">
                          <a:solidFill>
                            <a:srgbClr val="1B2333"/>
                          </a:solidFill>
                          <a:latin typeface="Arial"/>
                        </a:rPr>
                        <a:t>d) </a:t>
                      </a:r>
                      <a:r>
                        <a:rPr sz="1000" b="0" i="0" dirty="0" lang="es-SV">
                          <a:solidFill>
                            <a:srgbClr val="1B2333"/>
                          </a:solidFill>
                          <a:latin typeface="Arial"/>
                        </a:rPr>
                        <a:t>Solicitar</a:t>
                      </a:r>
                      <a:r>
                        <a:rPr sz="1000" b="0" i="0" dirty="0" lang="es-SV">
                          <a:solidFill>
                            <a:srgbClr val="1B2333"/>
                          </a:solidFill>
                          <a:latin typeface="Arial"/>
                        </a:rPr>
                        <a:t> al Departamento de Administración de </a:t>
                      </a:r>
                      <a:r>
                        <a:rPr sz="1000" b="0" i="0" dirty="0" lang="es-SV">
                          <a:solidFill>
                            <a:srgbClr val="1B2333"/>
                          </a:solidFill>
                          <a:latin typeface="Arial"/>
                        </a:rPr>
                        <a:t>Riesgos</a:t>
                      </a:r>
                      <a:r>
                        <a:rPr sz="1000" b="0" i="0" dirty="0" lang="es-SV">
                          <a:solidFill>
                            <a:srgbClr val="1B2333"/>
                          </a:solidFill>
                          <a:latin typeface="Arial"/>
                        </a:rPr>
                        <a:t> y a la </a:t>
                      </a:r>
                      <a:r>
                        <a:rPr sz="1000" b="0" i="0" dirty="0" lang="es-SV">
                          <a:solidFill>
                            <a:srgbClr val="1B2333"/>
                          </a:solidFill>
                          <a:latin typeface="Arial"/>
                        </a:rPr>
                        <a:t>Oficialía</a:t>
                      </a:r>
                      <a:r>
                        <a:rPr sz="1000" b="0" i="0" dirty="0" lang="es-SV">
                          <a:solidFill>
                            <a:srgbClr val="1B2333"/>
                          </a:solidFill>
                          <a:latin typeface="Arial"/>
                        </a:rPr>
                        <a:t> de </a:t>
                      </a:r>
                      <a:r>
                        <a:rPr sz="1000" b="0" i="0" dirty="0" lang="es-SV">
                          <a:solidFill>
                            <a:srgbClr val="1B2333"/>
                          </a:solidFill>
                          <a:latin typeface="Arial"/>
                        </a:rPr>
                        <a:t>Seguridad</a:t>
                      </a:r>
                      <a:r>
                        <a:rPr sz="1000" b="0" i="0" dirty="0" lang="es-SV">
                          <a:solidFill>
                            <a:srgbClr val="1B2333"/>
                          </a:solidFill>
                          <a:latin typeface="Arial"/>
                        </a:rPr>
                        <a:t> de la </a:t>
                      </a:r>
                      <a:r>
                        <a:rPr sz="1000" b="0" i="0" dirty="0" lang="es-SV">
                          <a:solidFill>
                            <a:srgbClr val="1B2333"/>
                          </a:solidFill>
                          <a:latin typeface="Arial"/>
                        </a:rPr>
                        <a:t>Información</a:t>
                      </a:r>
                      <a:r>
                        <a:rPr sz="1000" b="0" i="0" dirty="0" lang="es-SV">
                          <a:solidFill>
                            <a:srgbClr val="1B2333"/>
                          </a:solidFill>
                          <a:latin typeface="Arial"/>
                        </a:rPr>
                        <a:t>, </a:t>
                      </a:r>
                      <a:r>
                        <a:rPr sz="1000" b="0" i="0" dirty="0" lang="es-SV">
                          <a:solidFill>
                            <a:srgbClr val="1B2333"/>
                          </a:solidFill>
                          <a:latin typeface="Arial"/>
                        </a:rPr>
                        <a:t>previo</a:t>
                      </a:r>
                      <a:r>
                        <a:rPr sz="1000" b="0" i="0" dirty="0" lang="es-SV">
                          <a:solidFill>
                            <a:srgbClr val="1B2333"/>
                          </a:solidFill>
                          <a:latin typeface="Arial"/>
                        </a:rPr>
                        <a:t> a la </a:t>
                      </a:r>
                      <a:r>
                        <a:rPr sz="1000" b="0" i="0" dirty="0" lang="es-SV">
                          <a:solidFill>
                            <a:srgbClr val="1B2333"/>
                          </a:solidFill>
                          <a:latin typeface="Arial"/>
                        </a:rPr>
                        <a:t>contratación</a:t>
                      </a:r>
                      <a:r>
                        <a:rPr sz="1000" b="0" i="0" dirty="0" lang="es-SV">
                          <a:solidFill>
                            <a:srgbClr val="1B2333"/>
                          </a:solidFill>
                          <a:latin typeface="Arial"/>
                        </a:rPr>
                        <a:t>…, </a:t>
                      </a:r>
                      <a:r>
                        <a:rPr sz="1000" b="0" i="0" dirty="0" lang="es-SV">
                          <a:solidFill>
                            <a:srgbClr val="1B2333"/>
                          </a:solidFill>
                          <a:latin typeface="Arial"/>
                        </a:rPr>
                        <a:t>una</a:t>
                      </a:r>
                      <a:r>
                        <a:rPr sz="1000" b="0" i="0" dirty="0" lang="es-SV">
                          <a:solidFill>
                            <a:srgbClr val="1B2333"/>
                          </a:solidFill>
                          <a:latin typeface="Arial"/>
                        </a:rPr>
                        <a:t> </a:t>
                      </a:r>
                      <a:r>
                        <a:rPr sz="1000" b="0" i="0" dirty="0" lang="es-SV">
                          <a:solidFill>
                            <a:srgbClr val="1B2333"/>
                          </a:solidFill>
                          <a:latin typeface="Arial"/>
                        </a:rPr>
                        <a:t>evaluación</a:t>
                      </a:r>
                      <a:r>
                        <a:rPr sz="1000" b="0" i="0" dirty="0" lang="es-SV">
                          <a:solidFill>
                            <a:srgbClr val="1B2333"/>
                          </a:solidFill>
                          <a:latin typeface="Arial"/>
                        </a:rPr>
                        <a:t> de </a:t>
                      </a:r>
                      <a:r>
                        <a:rPr sz="1000" b="0" i="0" dirty="0" lang="es-SV">
                          <a:solidFill>
                            <a:srgbClr val="1B2333"/>
                          </a:solidFill>
                          <a:latin typeface="Arial"/>
                        </a:rPr>
                        <a:t>los</a:t>
                      </a:r>
                      <a:r>
                        <a:rPr sz="1000" b="0" i="0" dirty="0" lang="es-SV">
                          <a:solidFill>
                            <a:srgbClr val="1B2333"/>
                          </a:solidFill>
                          <a:latin typeface="Arial"/>
                        </a:rPr>
                        <a:t> </a:t>
                      </a:r>
                      <a:r>
                        <a:rPr sz="1000" b="0" i="0" dirty="0" lang="es-SV">
                          <a:solidFill>
                            <a:srgbClr val="1B2333"/>
                          </a:solidFill>
                          <a:latin typeface="Arial"/>
                        </a:rPr>
                        <a:t>potenciales</a:t>
                      </a:r>
                      <a:r>
                        <a:rPr sz="1000" b="0" i="0" dirty="0" lang="es-SV">
                          <a:solidFill>
                            <a:srgbClr val="1B2333"/>
                          </a:solidFill>
                          <a:latin typeface="Arial"/>
                        </a:rPr>
                        <a:t> </a:t>
                      </a:r>
                      <a:r>
                        <a:rPr sz="1000" b="0" i="0" dirty="0" lang="es-SV">
                          <a:solidFill>
                            <a:srgbClr val="1B2333"/>
                          </a:solidFill>
                          <a:latin typeface="Arial"/>
                        </a:rPr>
                        <a:t>riesgos</a:t>
                      </a:r>
                      <a:r>
                        <a:rPr sz="1000" b="0" i="0" dirty="0" lang="es-SV">
                          <a:solidFill>
                            <a:srgbClr val="1B2333"/>
                          </a:solidFill>
                          <a:latin typeface="Arial"/>
                        </a:rPr>
                        <a:t>…, de </a:t>
                      </a:r>
                      <a:r>
                        <a:rPr sz="1000" b="0" i="0" dirty="0" lang="es-SV">
                          <a:solidFill>
                            <a:srgbClr val="1B2333"/>
                          </a:solidFill>
                          <a:latin typeface="Arial"/>
                        </a:rPr>
                        <a:t>acuerdo</a:t>
                      </a:r>
                      <a:r>
                        <a:rPr sz="1000" b="0" i="0" dirty="0" lang="es-SV">
                          <a:solidFill>
                            <a:srgbClr val="1B2333"/>
                          </a:solidFill>
                          <a:latin typeface="Arial"/>
                        </a:rPr>
                        <a:t> a lo </a:t>
                      </a:r>
                      <a:r>
                        <a:rPr sz="1000" b="0" i="0" dirty="0" lang="es-SV">
                          <a:solidFill>
                            <a:srgbClr val="1B2333"/>
                          </a:solidFill>
                          <a:latin typeface="Arial"/>
                        </a:rPr>
                        <a:t>establecido</a:t>
                      </a:r>
                      <a:r>
                        <a:rPr sz="1000" b="0" i="0" dirty="0" lang="es-SV">
                          <a:solidFill>
                            <a:srgbClr val="1B2333"/>
                          </a:solidFill>
                          <a:latin typeface="Arial"/>
                        </a:rPr>
                        <a:t> </a:t>
                      </a:r>
                      <a:r>
                        <a:rPr sz="1000" b="0" i="0" dirty="0" lang="es-SV">
                          <a:solidFill>
                            <a:srgbClr val="1B2333"/>
                          </a:solidFill>
                          <a:latin typeface="Arial"/>
                        </a:rPr>
                        <a:t>en</a:t>
                      </a:r>
                      <a:r>
                        <a:rPr sz="1000" b="0" i="0" dirty="0" lang="es-SV">
                          <a:solidFill>
                            <a:srgbClr val="1B2333"/>
                          </a:solidFill>
                          <a:latin typeface="Arial"/>
                        </a:rPr>
                        <a:t> las Normas </a:t>
                      </a:r>
                      <a:r>
                        <a:rPr sz="1000" b="0" i="0" dirty="0" lang="es-SV">
                          <a:solidFill>
                            <a:srgbClr val="1B2333"/>
                          </a:solidFill>
                          <a:latin typeface="Arial"/>
                        </a:rPr>
                        <a:t>Técnicas</a:t>
                      </a:r>
                      <a:r>
                        <a:rPr sz="1000" b="0" i="0" dirty="0" lang="es-SV">
                          <a:solidFill>
                            <a:srgbClr val="1B2333"/>
                          </a:solidFill>
                          <a:latin typeface="Arial"/>
                        </a:rPr>
                        <a:t> </a:t>
                      </a:r>
                      <a:r>
                        <a:rPr sz="1000" b="0" i="0" dirty="0" lang="es-SV">
                          <a:solidFill>
                            <a:srgbClr val="1B2333"/>
                          </a:solidFill>
                          <a:latin typeface="Arial"/>
                        </a:rPr>
                        <a:t>correspondientes</a:t>
                      </a:r>
                      <a:r>
                        <a:rPr sz="1000" b="0" i="0" dirty="0" lang="es-SV">
                          <a:solidFill>
                            <a:srgbClr val="1B2333"/>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r>
                        <a:rPr sz="1000" b="0" i="0" dirty="0" lang="es-SV">
                          <a:solidFill>
                            <a:srgbClr val="1B2333"/>
                          </a:solidFill>
                          <a:latin typeface="Arial"/>
                        </a:rPr>
                        <a:t>d) </a:t>
                      </a:r>
                      <a:r>
                        <a:rPr sz="1000" b="0" i="0" dirty="0" lang="es-SV">
                          <a:solidFill>
                            <a:srgbClr val="1B2333"/>
                          </a:solidFill>
                          <a:latin typeface="Arial"/>
                        </a:rPr>
                        <a:t>Solicitar</a:t>
                      </a:r>
                      <a:r>
                        <a:rPr sz="1000" b="0" i="0" dirty="0" lang="es-SV">
                          <a:solidFill>
                            <a:srgbClr val="1B2333"/>
                          </a:solidFill>
                          <a:latin typeface="Arial"/>
                        </a:rPr>
                        <a:t> al Departamento de Administración de </a:t>
                      </a:r>
                      <a:r>
                        <a:rPr sz="1000" b="0" i="0" dirty="0" lang="es-SV">
                          <a:solidFill>
                            <a:srgbClr val="1B2333"/>
                          </a:solidFill>
                          <a:latin typeface="Arial"/>
                        </a:rPr>
                        <a:t>Riesgos</a:t>
                      </a:r>
                      <a:r>
                        <a:rPr sz="1000" b="0" i="0" dirty="0" lang="es-SV">
                          <a:solidFill>
                            <a:srgbClr val="1B2333"/>
                          </a:solidFill>
                          <a:latin typeface="Arial"/>
                        </a:rPr>
                        <a:t> y a la </a:t>
                      </a:r>
                      <a:r>
                        <a:rPr sz="1000" b="0" i="0" dirty="0" lang="es-SV">
                          <a:solidFill>
                            <a:srgbClr val="1B2333"/>
                          </a:solidFill>
                          <a:latin typeface="Arial"/>
                        </a:rPr>
                        <a:t>Oficialía</a:t>
                      </a:r>
                      <a:r>
                        <a:rPr sz="1000" b="0" i="0" dirty="0" lang="es-SV">
                          <a:solidFill>
                            <a:srgbClr val="1B2333"/>
                          </a:solidFill>
                          <a:latin typeface="Arial"/>
                        </a:rPr>
                        <a:t> de </a:t>
                      </a:r>
                      <a:r>
                        <a:rPr sz="1000" b="0" i="0" dirty="0" lang="es-SV">
                          <a:solidFill>
                            <a:srgbClr val="1B2333"/>
                          </a:solidFill>
                          <a:latin typeface="Arial"/>
                        </a:rPr>
                        <a:t>Seguridad</a:t>
                      </a:r>
                      <a:r>
                        <a:rPr sz="1000" b="0" i="0" dirty="0" lang="es-SV">
                          <a:solidFill>
                            <a:srgbClr val="1B2333"/>
                          </a:solidFill>
                          <a:latin typeface="Arial"/>
                        </a:rPr>
                        <a:t> de la </a:t>
                      </a:r>
                      <a:r>
                        <a:rPr sz="1000" b="0" i="0" dirty="0" lang="es-SV">
                          <a:solidFill>
                            <a:srgbClr val="1B2333"/>
                          </a:solidFill>
                          <a:latin typeface="Arial"/>
                        </a:rPr>
                        <a:t>Información</a:t>
                      </a:r>
                      <a:r>
                        <a:rPr sz="1000" b="0" i="0" dirty="0" lang="es-SV">
                          <a:solidFill>
                            <a:srgbClr val="1B2333"/>
                          </a:solidFill>
                          <a:latin typeface="Arial"/>
                        </a:rPr>
                        <a:t>… </a:t>
                      </a:r>
                      <a:r>
                        <a:rPr sz="1000" b="0" i="0" dirty="0" lang="es-SV">
                          <a:solidFill>
                            <a:srgbClr val="1B2333"/>
                          </a:solidFill>
                          <a:latin typeface="Arial"/>
                        </a:rPr>
                        <a:t>una</a:t>
                      </a:r>
                      <a:r>
                        <a:rPr sz="1000" b="0" i="0" dirty="0" lang="es-SV">
                          <a:solidFill>
                            <a:srgbClr val="1B2333"/>
                          </a:solidFill>
                          <a:latin typeface="Arial"/>
                        </a:rPr>
                        <a:t> </a:t>
                      </a:r>
                      <a:r>
                        <a:rPr sz="1000" b="0" i="0" dirty="0" lang="es-SV">
                          <a:solidFill>
                            <a:srgbClr val="1B2333"/>
                          </a:solidFill>
                          <a:latin typeface="Arial"/>
                        </a:rPr>
                        <a:t>evaluación</a:t>
                      </a:r>
                      <a:r>
                        <a:rPr sz="1000" b="0" i="0" dirty="0" lang="es-SV">
                          <a:solidFill>
                            <a:srgbClr val="1B2333"/>
                          </a:solidFill>
                          <a:latin typeface="Arial"/>
                        </a:rPr>
                        <a:t> de </a:t>
                      </a:r>
                      <a:r>
                        <a:rPr sz="1000" b="0" i="0" dirty="0" lang="es-SV">
                          <a:solidFill>
                            <a:srgbClr val="1B2333"/>
                          </a:solidFill>
                          <a:latin typeface="Arial"/>
                        </a:rPr>
                        <a:t>los</a:t>
                      </a:r>
                      <a:r>
                        <a:rPr sz="1000" b="0" i="0" dirty="0" lang="es-SV">
                          <a:solidFill>
                            <a:srgbClr val="1B2333"/>
                          </a:solidFill>
                          <a:latin typeface="Arial"/>
                        </a:rPr>
                        <a:t> </a:t>
                      </a:r>
                      <a:r>
                        <a:rPr sz="1000" b="0" i="0" dirty="0" lang="es-SV">
                          <a:solidFill>
                            <a:srgbClr val="1B2333"/>
                          </a:solidFill>
                          <a:latin typeface="Arial"/>
                        </a:rPr>
                        <a:t>potenciales</a:t>
                      </a:r>
                      <a:r>
                        <a:rPr sz="1000" b="0" i="0" dirty="0" lang="es-SV">
                          <a:solidFill>
                            <a:srgbClr val="1B2333"/>
                          </a:solidFill>
                          <a:latin typeface="Arial"/>
                        </a:rPr>
                        <a:t> </a:t>
                      </a:r>
                      <a:r>
                        <a:rPr sz="1000" b="0" i="0" dirty="0" lang="es-SV">
                          <a:solidFill>
                            <a:srgbClr val="1B2333"/>
                          </a:solidFill>
                          <a:latin typeface="Arial"/>
                        </a:rPr>
                        <a:t>riesgos</a:t>
                      </a:r>
                      <a:r>
                        <a:rPr sz="1000" b="0" i="0" dirty="0" lang="es-SV">
                          <a:solidFill>
                            <a:srgbClr val="1B2333"/>
                          </a:solidFill>
                          <a:latin typeface="Arial"/>
                        </a:rPr>
                        <a:t>…, de </a:t>
                      </a:r>
                      <a:r>
                        <a:rPr sz="1000" b="0" i="0" dirty="0" lang="es-SV">
                          <a:solidFill>
                            <a:srgbClr val="1B2333"/>
                          </a:solidFill>
                          <a:latin typeface="Arial"/>
                        </a:rPr>
                        <a:t>acuerdo</a:t>
                      </a:r>
                      <a:r>
                        <a:rPr sz="1000" b="0" i="0" dirty="0" lang="es-SV">
                          <a:solidFill>
                            <a:srgbClr val="1B2333"/>
                          </a:solidFill>
                          <a:latin typeface="Arial"/>
                        </a:rPr>
                        <a:t> a lo </a:t>
                      </a:r>
                      <a:r>
                        <a:rPr sz="1000" b="0" i="0" dirty="0" lang="es-SV">
                          <a:solidFill>
                            <a:srgbClr val="1B2333"/>
                          </a:solidFill>
                          <a:latin typeface="Arial"/>
                        </a:rPr>
                        <a:t>establecido</a:t>
                      </a:r>
                      <a:r>
                        <a:rPr sz="1000" b="0" i="0" dirty="0" lang="es-SV">
                          <a:solidFill>
                            <a:srgbClr val="1B2333"/>
                          </a:solidFill>
                          <a:latin typeface="Arial"/>
                        </a:rPr>
                        <a:t> </a:t>
                      </a:r>
                      <a:r>
                        <a:rPr sz="1000" b="0" i="0" dirty="0" lang="es-SV">
                          <a:solidFill>
                            <a:srgbClr val="1B2333"/>
                          </a:solidFill>
                          <a:latin typeface="Arial"/>
                        </a:rPr>
                        <a:t>en</a:t>
                      </a:r>
                      <a:r>
                        <a:rPr sz="1000" b="0" i="0" dirty="0" lang="es-SV">
                          <a:solidFill>
                            <a:srgbClr val="1B2333"/>
                          </a:solidFill>
                          <a:latin typeface="Arial"/>
                        </a:rPr>
                        <a:t> las Normas </a:t>
                      </a:r>
                      <a:r>
                        <a:rPr sz="1000" b="0" i="0" dirty="0" lang="es-SV">
                          <a:solidFill>
                            <a:srgbClr val="1B2333"/>
                          </a:solidFill>
                          <a:latin typeface="Arial"/>
                        </a:rPr>
                        <a:t>Técnicas</a:t>
                      </a:r>
                      <a:r>
                        <a:rPr sz="1000" b="0" i="0" dirty="0" lang="es-SV">
                          <a:solidFill>
                            <a:srgbClr val="1B2333"/>
                          </a:solidFill>
                          <a:latin typeface="Arial"/>
                        </a:rPr>
                        <a:t> </a:t>
                      </a:r>
                      <a:r>
                        <a:rPr sz="1000" b="0" i="0" dirty="0" lang="es-SV">
                          <a:solidFill>
                            <a:srgbClr val="1B2333"/>
                          </a:solidFill>
                          <a:latin typeface="Arial"/>
                        </a:rPr>
                        <a:t>correspondientes</a:t>
                      </a:r>
                      <a:r>
                        <a:rPr sz="1000" b="0" i="0" dirty="0" lang="es-SV">
                          <a:solidFill>
                            <a:srgbClr val="1B2333"/>
                          </a:solidFill>
                          <a:latin typeface="Arial"/>
                        </a:rPr>
                        <a:t> </a:t>
                      </a:r>
                      <a:r>
                        <a:rPr sz="1000" b="1" i="0" u="sng" dirty="0" lang="es-SV">
                          <a:solidFill>
                            <a:srgbClr val="00376E"/>
                          </a:solidFill>
                          <a:latin typeface="Arial"/>
                        </a:rPr>
                        <a:t>(NRP-20, NRP-42, NRP-24, NRP-23 y NRP-05).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r>
                        <a:rPr sz="1000" b="0" i="0" lang="es-SV">
                          <a:solidFill>
                            <a:srgbClr val="1B2333"/>
                          </a:solidFill>
                          <a:latin typeface="Arial"/>
                        </a:rPr>
                        <a:t>Se identifican las normas aplicables.</a:t>
                      </a:r>
                    </a:p>
                    <a:p>
                      <a:r>
                        <a:rPr sz="1000" b="1" i="0" lang="es-SV">
                          <a:solidFill>
                            <a:srgbClr val="00376E"/>
                          </a:solidFill>
                          <a:latin typeface="Arial"/>
                        </a:rPr>
                        <a:t>NRP-20 · 42 · 24 · 23 · 05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74320">
                <a:tc>
                  <a:txBody>
                    <a:bodyPr/>
                    <a:lstStyle/>
                    <a:p>
                      <a:r>
                        <a:rPr sz="1000" b="1" i="0" lang="es-SV">
                          <a:solidFill>
                            <a:srgbClr val="00376E"/>
                          </a:solidFill>
                          <a:latin typeface="Arial"/>
                        </a:rPr>
                        <a:t>28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r>
                        <a:rPr sz="1000" b="1" i="0" u="sng" lang="es-SV">
                          <a:solidFill>
                            <a:srgbClr val="00376E"/>
                          </a:solidFill>
                          <a:latin typeface="Arial"/>
                        </a:rPr>
                        <a:t>Administrador de Contrato f) Reportar al Departamento de Administración de Riesgos todo evento de riesgo operacional, incidente, interrupción, incumplimiento o pérdida originada en el proveedor, dentro de los plazos de la normativa interna.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r>
                        <a:rPr sz="1000" b="0" i="0" dirty="0" lang="es-SV">
                          <a:solidFill>
                            <a:srgbClr val="1B2333"/>
                          </a:solidFill>
                          <a:latin typeface="Arial"/>
                        </a:rPr>
                        <a:t>Alimenta</a:t>
                      </a:r>
                      <a:r>
                        <a:rPr sz="1000" b="0" i="0" dirty="0" lang="es-SV">
                          <a:solidFill>
                            <a:srgbClr val="1B2333"/>
                          </a:solidFill>
                          <a:latin typeface="Arial"/>
                        </a:rPr>
                        <a:t> la base de </a:t>
                      </a:r>
                      <a:r>
                        <a:rPr sz="1000" b="0" i="0" dirty="0" lang="es-SV">
                          <a:solidFill>
                            <a:srgbClr val="1B2333"/>
                          </a:solidFill>
                          <a:latin typeface="Arial"/>
                        </a:rPr>
                        <a:t>datos</a:t>
                      </a:r>
                      <a:r>
                        <a:rPr sz="1000" b="0" i="0" dirty="0" lang="es-SV">
                          <a:solidFill>
                            <a:srgbClr val="1B2333"/>
                          </a:solidFill>
                          <a:latin typeface="Arial"/>
                        </a:rPr>
                        <a:t> de </a:t>
                      </a:r>
                      <a:r>
                        <a:rPr sz="1000" b="0" i="0" dirty="0" lang="es-SV">
                          <a:solidFill>
                            <a:srgbClr val="1B2333"/>
                          </a:solidFill>
                          <a:latin typeface="Arial"/>
                        </a:rPr>
                        <a:t>eventos</a:t>
                      </a:r>
                      <a:r>
                        <a:rPr sz="1000" b="0" i="0" dirty="0" lang="es-SV">
                          <a:solidFill>
                            <a:srgbClr val="1B2333"/>
                          </a:solidFill>
                          <a:latin typeface="Arial"/>
                        </a:rPr>
                        <a:t>.</a:t>
                      </a:r>
                    </a:p>
                    <a:p>
                      <a:r>
                        <a:rPr sz="1000" b="1" i="0" dirty="0" lang="es-SV">
                          <a:solidFill>
                            <a:srgbClr val="00376E"/>
                          </a:solidFill>
                          <a:latin typeface="Arial"/>
                        </a:rPr>
                        <a:t>NRP-42, arts. 8, lit. d y 19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74320">
                <a:tc>
                  <a:txBody>
                    <a:bodyPr/>
                    <a:lstStyle/>
                    <a:p>
                      <a:r>
                        <a:rPr sz="1000" b="1" i="0" lang="es-SV">
                          <a:solidFill>
                            <a:srgbClr val="00376E"/>
                          </a:solidFill>
                          <a:latin typeface="Arial"/>
                        </a:rPr>
                        <a:t>29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r>
                        <a:rPr sz="1000" b="0" i="0" lang="es-SV">
                          <a:solidFill>
                            <a:srgbClr val="1B2333"/>
                          </a:solidFill>
                          <a:latin typeface="Arial"/>
                        </a:rPr>
                        <a:t>Jefe del Departamento Jurídico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r>
                        <a:rPr sz="1000" b="0" i="0" lang="es-SV">
                          <a:solidFill>
                            <a:srgbClr val="1B2333"/>
                          </a:solidFill>
                          <a:latin typeface="Arial"/>
                        </a:rPr>
                        <a:t>Jefe del Departamento </a:t>
                      </a:r>
                      <a:r>
                        <a:rPr sz="1000" b="1" i="0" u="sng" lang="es-SV">
                          <a:solidFill>
                            <a:srgbClr val="00376E"/>
                          </a:solidFill>
                          <a:latin typeface="Arial"/>
                        </a:rPr>
                        <a:t>Legal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r>
                        <a:rPr sz="1000" b="0" i="0" dirty="0" lang="es-SV">
                          <a:solidFill>
                            <a:srgbClr val="1B2333"/>
                          </a:solidFill>
                          <a:latin typeface="Arial"/>
                        </a:rPr>
                        <a:t>Nombre </a:t>
                      </a:r>
                      <a:r>
                        <a:rPr sz="1000" b="0" i="0" dirty="0" lang="es-SV">
                          <a:solidFill>
                            <a:srgbClr val="1B2333"/>
                          </a:solidFill>
                          <a:latin typeface="Arial"/>
                        </a:rPr>
                        <a:t>vigente</a:t>
                      </a:r>
                      <a:r>
                        <a:rPr sz="1000" b="0" i="0" dirty="0" lang="es-SV">
                          <a:solidFill>
                            <a:srgbClr val="1B2333"/>
                          </a:solidFill>
                          <a:latin typeface="Arial"/>
                        </a:rPr>
                        <a:t> del </a:t>
                      </a:r>
                      <a:r>
                        <a:rPr sz="1000" b="0" i="0" dirty="0" lang="es-SV">
                          <a:solidFill>
                            <a:srgbClr val="1B2333"/>
                          </a:solidFill>
                          <a:latin typeface="Arial"/>
                        </a:rPr>
                        <a:t>departamento</a:t>
                      </a:r>
                      <a:r>
                        <a:rPr sz="1000" b="0" i="0" dirty="0" lang="es-SV">
                          <a:solidFill>
                            <a:srgbClr val="1B2333"/>
                          </a:solidFill>
                          <a:latin typeface="Arial"/>
                        </a:rPr>
                        <a:t>.</a:t>
                      </a:r>
                    </a:p>
                    <a:p>
                      <a:r>
                        <a:rPr sz="1000" b="1" i="0" dirty="0" lang="es-SV">
                          <a:solidFill>
                            <a:srgbClr val="00376E"/>
                          </a:solidFill>
                          <a:latin typeface="Arial"/>
                        </a:rPr>
                        <a:t>Estructura</a:t>
                      </a:r>
                      <a:r>
                        <a:rPr sz="1000" b="1" i="0" dirty="0" lang="es-SV">
                          <a:solidFill>
                            <a:srgbClr val="00376E"/>
                          </a:solidFill>
                          <a:latin typeface="Arial"/>
                        </a:rPr>
                        <a:t> </a:t>
                      </a:r>
                      <a:r>
                        <a:rPr sz="1000" b="1" i="0" dirty="0" lang="es-SV">
                          <a:solidFill>
                            <a:srgbClr val="00376E"/>
                          </a:solidFill>
                          <a:latin typeface="Arial"/>
                        </a:rPr>
                        <a:t>organizativa</a:t>
                      </a:r>
                      <a:endParaRPr sz="1000" b="1" i="0" dirty="0" lang="es-SV">
                        <a:solidFill>
                          <a:srgbClr val="00376E"/>
                        </a:solidFill>
                        <a:latin typeface="Arial"/>
                      </a:endParaRP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74320">
                <a:tc>
                  <a:txBody>
                    <a:bodyPr/>
                    <a:lstStyle/>
                    <a:p>
                      <a:r>
                        <a:rPr sz="1000" b="1" i="0" lang="es-SV">
                          <a:solidFill>
                            <a:srgbClr val="00376E"/>
                          </a:solidFill>
                          <a:latin typeface="Arial"/>
                        </a:rPr>
                        <a:t>30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r>
                        <a:rPr sz="1000" b="0" i="0" dirty="0" lang="es-SV">
                          <a:solidFill>
                            <a:srgbClr val="1B2333"/>
                          </a:solidFill>
                          <a:latin typeface="Arial"/>
                        </a:rPr>
                        <a:t>b) </a:t>
                      </a:r>
                      <a:r>
                        <a:rPr sz="1000" b="0" i="0" dirty="0" lang="es-SV">
                          <a:solidFill>
                            <a:srgbClr val="1B2333"/>
                          </a:solidFill>
                          <a:latin typeface="Arial"/>
                        </a:rPr>
                        <a:t>Solicitar</a:t>
                      </a:r>
                      <a:r>
                        <a:rPr sz="1000" b="0" i="0" dirty="0" lang="es-SV">
                          <a:solidFill>
                            <a:srgbClr val="1B2333"/>
                          </a:solidFill>
                          <a:latin typeface="Arial"/>
                        </a:rPr>
                        <a:t> al </a:t>
                      </a:r>
                      <a:r>
                        <a:rPr sz="1000" b="0" i="0" dirty="0" lang="es-SV">
                          <a:solidFill>
                            <a:srgbClr val="1B2333"/>
                          </a:solidFill>
                          <a:latin typeface="Arial"/>
                        </a:rPr>
                        <a:t>Oficial</a:t>
                      </a:r>
                      <a:r>
                        <a:rPr sz="1000" b="0" i="0" dirty="0" lang="es-SV">
                          <a:solidFill>
                            <a:srgbClr val="1B2333"/>
                          </a:solidFill>
                          <a:latin typeface="Arial"/>
                        </a:rPr>
                        <a:t> de </a:t>
                      </a:r>
                      <a:r>
                        <a:rPr sz="1000" b="0" i="0" dirty="0" lang="es-SV">
                          <a:solidFill>
                            <a:srgbClr val="1B2333"/>
                          </a:solidFill>
                          <a:latin typeface="Arial"/>
                        </a:rPr>
                        <a:t>Seguridad</a:t>
                      </a:r>
                      <a:r>
                        <a:rPr sz="1000" b="0" i="0" dirty="0" lang="es-SV">
                          <a:solidFill>
                            <a:srgbClr val="1B2333"/>
                          </a:solidFill>
                          <a:latin typeface="Arial"/>
                        </a:rPr>
                        <a:t> de la </a:t>
                      </a:r>
                      <a:r>
                        <a:rPr sz="1000" b="0" i="0" dirty="0" lang="es-SV">
                          <a:solidFill>
                            <a:srgbClr val="1B2333"/>
                          </a:solidFill>
                          <a:latin typeface="Arial"/>
                        </a:rPr>
                        <a:t>Información</a:t>
                      </a:r>
                      <a:r>
                        <a:rPr sz="1000" b="0" i="0" dirty="0" lang="es-SV">
                          <a:solidFill>
                            <a:srgbClr val="1B2333"/>
                          </a:solidFill>
                          <a:latin typeface="Arial"/>
                        </a:rPr>
                        <a:t> las </a:t>
                      </a:r>
                      <a:r>
                        <a:rPr sz="1000" b="0" i="0" dirty="0" lang="es-SV">
                          <a:solidFill>
                            <a:srgbClr val="1B2333"/>
                          </a:solidFill>
                          <a:latin typeface="Arial"/>
                        </a:rPr>
                        <a:t>cláusulas</a:t>
                      </a:r>
                      <a:r>
                        <a:rPr sz="1000" b="0" i="0" dirty="0" lang="es-SV">
                          <a:solidFill>
                            <a:srgbClr val="1B2333"/>
                          </a:solidFill>
                          <a:latin typeface="Arial"/>
                        </a:rPr>
                        <a:t> del </a:t>
                      </a:r>
                      <a:r>
                        <a:rPr sz="1000" b="0" i="0" dirty="0" lang="es-SV">
                          <a:solidFill>
                            <a:srgbClr val="1B2333"/>
                          </a:solidFill>
                          <a:latin typeface="Arial"/>
                        </a:rPr>
                        <a:t>contrato</a:t>
                      </a:r>
                      <a:r>
                        <a:rPr sz="1000" b="0" i="0" dirty="0" lang="es-SV">
                          <a:solidFill>
                            <a:srgbClr val="1B2333"/>
                          </a:solidFill>
                          <a:latin typeface="Arial"/>
                        </a:rPr>
                        <a:t> </a:t>
                      </a:r>
                      <a:r>
                        <a:rPr sz="1000" b="0" i="0" dirty="0" lang="es-SV">
                          <a:solidFill>
                            <a:srgbClr val="1B2333"/>
                          </a:solidFill>
                          <a:latin typeface="Arial"/>
                        </a:rPr>
                        <a:t>que</a:t>
                      </a:r>
                      <a:r>
                        <a:rPr sz="1000" b="0" i="0" dirty="0" lang="es-SV">
                          <a:solidFill>
                            <a:srgbClr val="1B2333"/>
                          </a:solidFill>
                          <a:latin typeface="Arial"/>
                        </a:rPr>
                        <a:t> </a:t>
                      </a:r>
                      <a:r>
                        <a:rPr sz="1000" b="0" i="0" dirty="0" lang="es-SV">
                          <a:solidFill>
                            <a:srgbClr val="1B2333"/>
                          </a:solidFill>
                          <a:latin typeface="Arial"/>
                        </a:rPr>
                        <a:t>debe</a:t>
                      </a:r>
                      <a:r>
                        <a:rPr sz="1000" b="0" i="0" dirty="0" lang="es-SV">
                          <a:solidFill>
                            <a:srgbClr val="1B2333"/>
                          </a:solidFill>
                          <a:latin typeface="Arial"/>
                        </a:rPr>
                        <a:t> </a:t>
                      </a:r>
                      <a:r>
                        <a:rPr sz="1000" b="0" i="0" dirty="0" lang="es-SV">
                          <a:solidFill>
                            <a:srgbClr val="1B2333"/>
                          </a:solidFill>
                          <a:latin typeface="Arial"/>
                        </a:rPr>
                        <a:t>cumplir</a:t>
                      </a:r>
                      <a:r>
                        <a:rPr sz="1000" b="0" i="0" dirty="0" lang="es-SV">
                          <a:solidFill>
                            <a:srgbClr val="1B2333"/>
                          </a:solidFill>
                          <a:latin typeface="Arial"/>
                        </a:rPr>
                        <a:t> el </a:t>
                      </a:r>
                      <a:r>
                        <a:rPr sz="1000" b="0" i="0" dirty="0" lang="es-SV">
                          <a:solidFill>
                            <a:srgbClr val="1B2333"/>
                          </a:solidFill>
                          <a:latin typeface="Arial"/>
                        </a:rPr>
                        <a:t>servicio</a:t>
                      </a:r>
                      <a:r>
                        <a:rPr sz="1000" b="0" i="0" dirty="0" lang="es-SV">
                          <a:solidFill>
                            <a:srgbClr val="1B2333"/>
                          </a:solidFill>
                          <a:latin typeface="Arial"/>
                        </a:rPr>
                        <a:t> de </a:t>
                      </a:r>
                      <a:r>
                        <a:rPr sz="1000" b="0" i="0" dirty="0" lang="es-SV">
                          <a:solidFill>
                            <a:srgbClr val="1B2333"/>
                          </a:solidFill>
                          <a:latin typeface="Arial"/>
                        </a:rPr>
                        <a:t>acuerdo</a:t>
                      </a:r>
                      <a:r>
                        <a:rPr sz="1000" b="0" i="0" dirty="0" lang="es-SV">
                          <a:solidFill>
                            <a:srgbClr val="1B2333"/>
                          </a:solidFill>
                          <a:latin typeface="Arial"/>
                        </a:rPr>
                        <a:t> al </a:t>
                      </a:r>
                      <a:r>
                        <a:rPr sz="1000" b="0" i="0" dirty="0" lang="es-SV">
                          <a:solidFill>
                            <a:srgbClr val="1B2333"/>
                          </a:solidFill>
                          <a:latin typeface="Arial"/>
                        </a:rPr>
                        <a:t>anexo</a:t>
                      </a:r>
                      <a:r>
                        <a:rPr sz="1000" b="0" i="0" dirty="0" lang="es-SV">
                          <a:solidFill>
                            <a:srgbClr val="1B2333"/>
                          </a:solidFill>
                          <a:latin typeface="Arial"/>
                        </a:rPr>
                        <a:t> No. 1 </a:t>
                      </a:r>
                      <a:r>
                        <a:rPr sz="1000" b="0" i="0" dirty="0" lang="es-SV">
                          <a:solidFill>
                            <a:srgbClr val="1B2333"/>
                          </a:solidFill>
                          <a:latin typeface="Arial"/>
                        </a:rPr>
                        <a:t>Condiciones</a:t>
                      </a:r>
                      <a:r>
                        <a:rPr sz="1000" b="0" i="0" dirty="0" lang="es-SV">
                          <a:solidFill>
                            <a:srgbClr val="1B2333"/>
                          </a:solidFill>
                          <a:latin typeface="Arial"/>
                        </a:rPr>
                        <a:t> para </a:t>
                      </a:r>
                      <a:r>
                        <a:rPr sz="1000" b="0" i="0" dirty="0" lang="es-SV">
                          <a:solidFill>
                            <a:srgbClr val="1B2333"/>
                          </a:solidFill>
                          <a:latin typeface="Arial"/>
                        </a:rPr>
                        <a:t>tercerizar</a:t>
                      </a:r>
                      <a:r>
                        <a:rPr sz="1000" b="0" i="0" dirty="0" lang="es-SV">
                          <a:solidFill>
                            <a:srgbClr val="1B2333"/>
                          </a:solidFill>
                          <a:latin typeface="Arial"/>
                        </a:rPr>
                        <a:t> </a:t>
                      </a:r>
                      <a:r>
                        <a:rPr sz="1000" b="0" i="0" dirty="0" lang="es-SV">
                          <a:solidFill>
                            <a:srgbClr val="1B2333"/>
                          </a:solidFill>
                          <a:latin typeface="Arial"/>
                        </a:rPr>
                        <a:t>Actividades</a:t>
                      </a:r>
                      <a:r>
                        <a:rPr sz="1000" b="0" i="0" dirty="0" lang="es-SV">
                          <a:solidFill>
                            <a:srgbClr val="1B2333"/>
                          </a:solidFill>
                          <a:latin typeface="Arial"/>
                        </a:rPr>
                        <a:t> u </a:t>
                      </a:r>
                      <a:r>
                        <a:rPr sz="1000" b="0" i="0" dirty="0" lang="es-SV">
                          <a:solidFill>
                            <a:srgbClr val="1B2333"/>
                          </a:solidFill>
                          <a:latin typeface="Arial"/>
                        </a:rPr>
                        <a:t>Operaciones</a:t>
                      </a:r>
                      <a:r>
                        <a:rPr sz="1000" b="0" i="0" dirty="0" lang="es-SV">
                          <a:solidFill>
                            <a:srgbClr val="1B2333"/>
                          </a:solidFill>
                          <a:latin typeface="Arial"/>
                        </a:rPr>
                        <a:t> de </a:t>
                      </a:r>
                      <a:r>
                        <a:rPr sz="1000" b="0" i="0" dirty="0" lang="es-SV">
                          <a:solidFill>
                            <a:srgbClr val="1B2333"/>
                          </a:solidFill>
                          <a:latin typeface="Arial"/>
                        </a:rPr>
                        <a:t>Tecnología</a:t>
                      </a:r>
                      <a:r>
                        <a:rPr sz="1000" b="0" i="0" dirty="0" lang="es-SV">
                          <a:solidFill>
                            <a:srgbClr val="1B2333"/>
                          </a:solidFill>
                          <a:latin typeface="Arial"/>
                        </a:rPr>
                        <a:t> de </a:t>
                      </a:r>
                      <a:r>
                        <a:rPr sz="1000" b="0" i="0" dirty="0" lang="es-SV">
                          <a:solidFill>
                            <a:srgbClr val="1B2333"/>
                          </a:solidFill>
                          <a:latin typeface="Arial"/>
                        </a:rPr>
                        <a:t>Servicios</a:t>
                      </a:r>
                      <a:r>
                        <a:rPr sz="1000" b="0" i="0" dirty="0" lang="es-SV">
                          <a:solidFill>
                            <a:srgbClr val="1B2333"/>
                          </a:solidFill>
                          <a:latin typeface="Arial"/>
                        </a:rPr>
                        <a:t> </a:t>
                      </a:r>
                      <a:r>
                        <a:rPr sz="1000" b="0" i="0" dirty="0" lang="es-SV">
                          <a:solidFill>
                            <a:srgbClr val="1B2333"/>
                          </a:solidFill>
                          <a:latin typeface="Arial"/>
                        </a:rPr>
                        <a:t>Críticos</a:t>
                      </a:r>
                      <a:r>
                        <a:rPr sz="1000" b="0" i="0" dirty="0" lang="es-SV">
                          <a:solidFill>
                            <a:srgbClr val="1B2333"/>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r>
                        <a:rPr sz="1000" b="0" i="0" lang="es-SV">
                          <a:solidFill>
                            <a:srgbClr val="1B2333"/>
                          </a:solidFill>
                          <a:latin typeface="Arial"/>
                        </a:rPr>
                        <a:t>b) Solicitar al Oficial de Seguridad de la Información las cláusulas del contrato que debe cumplir el servicio de acuerdo al Anexo No. 1, </a:t>
                      </a:r>
                      <a:r>
                        <a:rPr sz="1000" b="1" i="0" u="sng" lang="es-SV">
                          <a:solidFill>
                            <a:srgbClr val="00376E"/>
                          </a:solidFill>
                          <a:latin typeface="Arial"/>
                        </a:rPr>
                        <a:t>Sección B.</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r>
                        <a:rPr sz="1000" b="0" i="0" dirty="0" lang="es-SV">
                          <a:solidFill>
                            <a:srgbClr val="1B2333"/>
                          </a:solidFill>
                          <a:latin typeface="Arial"/>
                        </a:rPr>
                        <a:t>Precisa</a:t>
                      </a:r>
                      <a:r>
                        <a:rPr sz="1000" b="0" i="0" dirty="0" lang="es-SV">
                          <a:solidFill>
                            <a:srgbClr val="1B2333"/>
                          </a:solidFill>
                          <a:latin typeface="Arial"/>
                        </a:rPr>
                        <a:t> la </a:t>
                      </a:r>
                      <a:r>
                        <a:rPr sz="1000" b="0" i="0" dirty="0" lang="es-SV">
                          <a:solidFill>
                            <a:srgbClr val="1B2333"/>
                          </a:solidFill>
                          <a:latin typeface="Arial"/>
                        </a:rPr>
                        <a:t>sección</a:t>
                      </a:r>
                      <a:r>
                        <a:rPr sz="1000" b="0" i="0" dirty="0" lang="es-SV">
                          <a:solidFill>
                            <a:srgbClr val="1B2333"/>
                          </a:solidFill>
                          <a:latin typeface="Arial"/>
                        </a:rPr>
                        <a:t> de </a:t>
                      </a:r>
                      <a:r>
                        <a:rPr sz="1000" b="0" i="0" dirty="0" lang="es-SV">
                          <a:solidFill>
                            <a:srgbClr val="1B2333"/>
                          </a:solidFill>
                          <a:latin typeface="Arial"/>
                        </a:rPr>
                        <a:t>cláusulas</a:t>
                      </a:r>
                      <a:r>
                        <a:rPr sz="1000" b="0" i="0" dirty="0" lang="es-SV">
                          <a:solidFill>
                            <a:srgbClr val="1B2333"/>
                          </a:solidFill>
                          <a:latin typeface="Arial"/>
                        </a:rPr>
                        <a:t> </a:t>
                      </a:r>
                      <a:r>
                        <a:rPr sz="1000" b="0" i="0" dirty="0" lang="es-SV">
                          <a:solidFill>
                            <a:srgbClr val="1B2333"/>
                          </a:solidFill>
                          <a:latin typeface="Arial"/>
                        </a:rPr>
                        <a:t>contractuales</a:t>
                      </a:r>
                      <a:r>
                        <a:rPr sz="1000" b="0" i="0" dirty="0" lang="es-SV">
                          <a:solidFill>
                            <a:srgbClr val="1B2333"/>
                          </a:solidFill>
                          <a:latin typeface="Arial"/>
                        </a:rPr>
                        <a:t>.</a:t>
                      </a:r>
                    </a:p>
                    <a:p>
                      <a:r>
                        <a:rPr sz="1000" b="1" i="0" dirty="0" lang="es-SV">
                          <a:solidFill>
                            <a:srgbClr val="00376E"/>
                          </a:solidFill>
                          <a:latin typeface="Arial"/>
                        </a:rPr>
                        <a:t>NRP-23, art. 26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bl>
          </a:graphicData>
        </a:graphic>
      </p:graphicFrame>
      <p:sp>
        <p:nvSpPr>
          <p:cNvPr id="17" name="TextBox 16"/>
          <p:cNvSpPr txBox="1"/>
          <p:nvPr/>
        </p:nvSpPr>
        <p:spPr>
          <a:xfrm>
            <a:off x="548640" y="6355080"/>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Texto subrayado en azul</a:t>
            </a:r>
            <a:r>
              <a:rPr sz="1000" b="0" i="0" lang="es-SV">
                <a:solidFill>
                  <a:srgbClr val="5B6578"/>
                </a:solidFill>
                <a:latin typeface="Arial"/>
              </a:rPr>
              <a:t> = nuevo o modificado respecto a la versión vigente</a:t>
            </a:r>
          </a:p>
        </p:txBody>
      </p:sp>
      <p:graphicFrame>
        <p:nvGraphicFramePr>
          <p:cNvPr id="3" name="Table 15">
            <a:extLst>
              <a:ext uri="{FF2B5EF4-FFF2-40B4-BE49-F238E27FC236}">
                <a16:creationId xmlns:a16="http://schemas.microsoft.com/office/drawing/2014/main" id="{93C4AEF5-D2DD-7CB3-2477-EF55598B10F1}"/>
              </a:ext>
            </a:extLst>
          </p:cNvPr>
          <p:cNvGraphicFramePr>
            <a:graphicFrameLocks noGrp="1"/>
          </p:cNvGraphicFramePr>
          <p:nvPr>
            <p:extLst>
              <p:ext uri="{D42A27DB-BD31-4B8C-83A1-F6EECF244321}">
                <p14:modId xmlns:p14="http://schemas.microsoft.com/office/powerpoint/2010/main" val="76972730"/>
              </p:ext>
            </p:extLst>
          </p:nvPr>
        </p:nvGraphicFramePr>
        <p:xfrm>
          <a:off x="548640" y="3907155"/>
          <a:ext cx="11091672" cy="2164080"/>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274320">
                <a:tc>
                  <a:txBody>
                    <a:bodyPr/>
                    <a:lstStyle/>
                    <a:p>
                      <a:pPr algn="just"/>
                      <a:r>
                        <a:rPr sz="1000" b="1" i="0" lang="es-SV">
                          <a:solidFill>
                            <a:srgbClr val="00376E"/>
                          </a:solidFill>
                          <a:latin typeface="Arial"/>
                        </a:rPr>
                        <a:t>31</a:t>
                      </a:r>
                    </a:p>
                  </a:txBody>
                  <a:tcPr marL="64008" marR="64008">
                    <a:lnL w="9525" cap="flat" cmpd="sng" algn="ctr">
                      <a:solidFill>
                        <a:srgbClr val="C9D1DE"/>
                      </a:solidFill>
                      <a:prstDash val="solid"/>
                    </a:lnL>
                    <a:lnR w="9525" cap="flat" cmpd="sng" algn="ctr">
                      <a:solidFill>
                        <a:srgbClr val="C9D1DE"/>
                      </a:solidFill>
                      <a:prstDash val="solid"/>
                      <a:round/>
                      <a:headEnd type="none" w="med" len="med"/>
                      <a:tailEnd type="none" w="med" len="me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Custodia: </a:t>
                      </a:r>
                      <a:r>
                        <a:rPr sz="1000" b="0" i="0" dirty="0" lang="es-SV">
                          <a:solidFill>
                            <a:srgbClr val="1B2333"/>
                          </a:solidFill>
                          <a:latin typeface="Arial"/>
                        </a:rPr>
                        <a:t>Responsable</a:t>
                      </a:r>
                      <a:r>
                        <a:rPr sz="1000" b="0" i="0" dirty="0" lang="es-SV">
                          <a:solidFill>
                            <a:srgbClr val="1B2333"/>
                          </a:solidFill>
                          <a:latin typeface="Arial"/>
                        </a:rPr>
                        <a:t> de </a:t>
                      </a:r>
                      <a:r>
                        <a:rPr sz="1000" b="0" i="0" dirty="0" lang="es-SV">
                          <a:solidFill>
                            <a:srgbClr val="1B2333"/>
                          </a:solidFill>
                          <a:latin typeface="Arial"/>
                        </a:rPr>
                        <a:t>resguardar</a:t>
                      </a:r>
                      <a:r>
                        <a:rPr sz="1000" b="0" i="0" dirty="0" lang="es-SV">
                          <a:solidFill>
                            <a:srgbClr val="1B2333"/>
                          </a:solidFill>
                          <a:latin typeface="Arial"/>
                        </a:rPr>
                        <a:t> </a:t>
                      </a:r>
                      <a:r>
                        <a:rPr sz="1000" b="0" i="0" dirty="0" lang="es-SV">
                          <a:solidFill>
                            <a:srgbClr val="1B2333"/>
                          </a:solidFill>
                          <a:latin typeface="Arial"/>
                        </a:rPr>
                        <a:t>los</a:t>
                      </a:r>
                      <a:r>
                        <a:rPr sz="1000" b="0" i="0" dirty="0" lang="es-SV">
                          <a:solidFill>
                            <a:srgbClr val="1B2333"/>
                          </a:solidFill>
                          <a:latin typeface="Arial"/>
                        </a:rPr>
                        <a:t> </a:t>
                      </a:r>
                      <a:r>
                        <a:rPr sz="1000" b="0" i="0" dirty="0" lang="es-SV">
                          <a:solidFill>
                            <a:srgbClr val="1B2333"/>
                          </a:solidFill>
                          <a:latin typeface="Arial"/>
                        </a:rPr>
                        <a:t>contratos</a:t>
                      </a:r>
                      <a:r>
                        <a:rPr sz="1000" b="0" i="0" dirty="0" lang="es-SV">
                          <a:solidFill>
                            <a:srgbClr val="1B2333"/>
                          </a:solidFill>
                          <a:latin typeface="Arial"/>
                        </a:rPr>
                        <a:t>, </a:t>
                      </a:r>
                      <a:r>
                        <a:rPr sz="1000" b="0" i="0" dirty="0" lang="es-SV">
                          <a:solidFill>
                            <a:srgbClr val="1B2333"/>
                          </a:solidFill>
                          <a:latin typeface="Arial"/>
                        </a:rPr>
                        <a:t>garantías</a:t>
                      </a:r>
                      <a:r>
                        <a:rPr sz="1000" b="0" i="0" dirty="0" lang="es-SV">
                          <a:solidFill>
                            <a:srgbClr val="1B2333"/>
                          </a:solidFill>
                          <a:latin typeface="Arial"/>
                        </a:rPr>
                        <a:t> y </a:t>
                      </a:r>
                      <a:r>
                        <a:rPr sz="1000" b="0" i="0" dirty="0" lang="es-SV">
                          <a:solidFill>
                            <a:srgbClr val="1B2333"/>
                          </a:solidFill>
                          <a:latin typeface="Arial"/>
                        </a:rPr>
                        <a:t>adendas</a:t>
                      </a:r>
                      <a:r>
                        <a:rPr sz="1000" b="0" i="0" dirty="0" lang="es-SV">
                          <a:solidFill>
                            <a:srgbClr val="1B2333"/>
                          </a:solidFill>
                          <a:latin typeface="Arial"/>
                        </a:rPr>
                        <a:t> de </a:t>
                      </a:r>
                      <a:r>
                        <a:rPr sz="1000" b="0" i="0" dirty="0" lang="es-SV">
                          <a:solidFill>
                            <a:srgbClr val="1B2333"/>
                          </a:solidFill>
                          <a:latin typeface="Arial"/>
                        </a:rPr>
                        <a:t>Servicios</a:t>
                      </a:r>
                      <a:r>
                        <a:rPr sz="1000" b="0" i="0" dirty="0" lang="es-SV">
                          <a:solidFill>
                            <a:srgbClr val="1B2333"/>
                          </a:solidFill>
                          <a:latin typeface="Arial"/>
                        </a:rPr>
                        <a:t> </a:t>
                      </a:r>
                      <a:r>
                        <a:rPr sz="1000" b="0" i="0" dirty="0" lang="es-SV">
                          <a:solidFill>
                            <a:srgbClr val="1B2333"/>
                          </a:solidFill>
                          <a:latin typeface="Arial"/>
                        </a:rPr>
                        <a:t>Críticos</a:t>
                      </a:r>
                      <a:r>
                        <a:rPr sz="1000" b="0" i="0" dirty="0" lang="es-SV">
                          <a:solidFill>
                            <a:srgbClr val="1B2333"/>
                          </a:solidFill>
                          <a:latin typeface="Arial"/>
                        </a:rPr>
                        <a:t> </a:t>
                      </a:r>
                      <a:r>
                        <a:rPr sz="1000" b="0" i="0" dirty="0" lang="es-SV">
                          <a:solidFill>
                            <a:srgbClr val="1B2333"/>
                          </a:solidFill>
                          <a:latin typeface="Arial"/>
                        </a:rPr>
                        <a:t>Tercerizados</a:t>
                      </a:r>
                      <a:r>
                        <a:rPr sz="1000" b="0" i="0" dirty="0" lang="es-SV">
                          <a:solidFill>
                            <a:srgbClr val="1B2333"/>
                          </a:solidFill>
                          <a:latin typeface="Arial"/>
                        </a:rPr>
                        <a:t>, </a:t>
                      </a:r>
                      <a:r>
                        <a:rPr sz="1000" b="0" i="0" dirty="0" lang="es-SV">
                          <a:solidFill>
                            <a:srgbClr val="1B2333"/>
                          </a:solidFill>
                          <a:latin typeface="Arial"/>
                        </a:rPr>
                        <a:t>así</a:t>
                      </a:r>
                      <a:r>
                        <a:rPr sz="1000" b="0" i="0" dirty="0" lang="es-SV">
                          <a:solidFill>
                            <a:srgbClr val="1B2333"/>
                          </a:solidFill>
                          <a:latin typeface="Arial"/>
                        </a:rPr>
                        <a:t> </a:t>
                      </a:r>
                      <a:r>
                        <a:rPr sz="1000" b="0" i="0" dirty="0" lang="es-SV">
                          <a:solidFill>
                            <a:srgbClr val="1B2333"/>
                          </a:solidFill>
                          <a:latin typeface="Arial"/>
                        </a:rPr>
                        <a:t>como</a:t>
                      </a:r>
                      <a:r>
                        <a:rPr sz="1000" b="0" i="0" dirty="0" lang="es-SV">
                          <a:solidFill>
                            <a:srgbClr val="1B2333"/>
                          </a:solidFill>
                          <a:latin typeface="Arial"/>
                        </a:rPr>
                        <a:t>, </a:t>
                      </a:r>
                      <a:r>
                        <a:rPr sz="1000" b="0" i="0" dirty="0" lang="es-SV">
                          <a:solidFill>
                            <a:srgbClr val="1B2333"/>
                          </a:solidFill>
                          <a:latin typeface="Arial"/>
                        </a:rPr>
                        <a:t>llevar</a:t>
                      </a:r>
                      <a:r>
                        <a:rPr sz="1000" b="0" i="0" dirty="0" lang="es-SV">
                          <a:solidFill>
                            <a:srgbClr val="1B2333"/>
                          </a:solidFill>
                          <a:latin typeface="Arial"/>
                        </a:rPr>
                        <a:t> el control de </a:t>
                      </a:r>
                      <a:r>
                        <a:rPr sz="1000" b="0" i="0" dirty="0" lang="es-SV">
                          <a:solidFill>
                            <a:srgbClr val="1B2333"/>
                          </a:solidFill>
                          <a:latin typeface="Arial"/>
                        </a:rPr>
                        <a:t>los</a:t>
                      </a:r>
                      <a:r>
                        <a:rPr sz="1000" b="0" i="0" dirty="0" lang="es-SV">
                          <a:solidFill>
                            <a:srgbClr val="1B2333"/>
                          </a:solidFill>
                          <a:latin typeface="Arial"/>
                        </a:rPr>
                        <a:t> </a:t>
                      </a:r>
                      <a:r>
                        <a:rPr sz="1000" b="0" i="0" dirty="0" lang="es-SV">
                          <a:solidFill>
                            <a:srgbClr val="1B2333"/>
                          </a:solidFill>
                          <a:latin typeface="Arial"/>
                        </a:rPr>
                        <a:t>resguardos</a:t>
                      </a:r>
                      <a:r>
                        <a:rPr sz="1000" b="0" i="0" dirty="0" lang="es-SV">
                          <a:solidFill>
                            <a:srgbClr val="1B2333"/>
                          </a:solidFill>
                          <a:latin typeface="Arial"/>
                        </a:rPr>
                        <a:t> </a:t>
                      </a:r>
                      <a:r>
                        <a:rPr sz="1000" b="0" i="0" dirty="0" lang="es-SV">
                          <a:solidFill>
                            <a:srgbClr val="1B2333"/>
                          </a:solidFill>
                          <a:latin typeface="Arial"/>
                        </a:rPr>
                        <a:t>respectivos</a:t>
                      </a:r>
                      <a:r>
                        <a:rPr sz="1000" b="0" i="0" dirty="0" lang="es-SV">
                          <a:solidFill>
                            <a:srgbClr val="1B2333"/>
                          </a:solidFill>
                          <a:latin typeface="Arial"/>
                        </a:rPr>
                        <a:t>.</a:t>
                      </a:r>
                    </a:p>
                  </a:txBody>
                  <a:tcPr marL="64008" marR="64008">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Responsable</a:t>
                      </a:r>
                      <a:r>
                        <a:rPr sz="1000" b="0" i="0" dirty="0" lang="es-SV">
                          <a:solidFill>
                            <a:srgbClr val="1B2333"/>
                          </a:solidFill>
                          <a:latin typeface="Arial"/>
                        </a:rPr>
                        <a:t> de </a:t>
                      </a:r>
                      <a:r>
                        <a:rPr sz="1000" b="0" i="0" dirty="0" lang="es-SV">
                          <a:solidFill>
                            <a:srgbClr val="1B2333"/>
                          </a:solidFill>
                          <a:latin typeface="Arial"/>
                        </a:rPr>
                        <a:t>resguardar</a:t>
                      </a:r>
                      <a:r>
                        <a:rPr sz="1000" b="0" i="0" dirty="0" lang="es-SV">
                          <a:solidFill>
                            <a:srgbClr val="1B2333"/>
                          </a:solidFill>
                          <a:latin typeface="Arial"/>
                        </a:rPr>
                        <a:t> </a:t>
                      </a:r>
                      <a:r>
                        <a:rPr sz="1000" b="0" i="0" dirty="0" lang="es-SV">
                          <a:solidFill>
                            <a:srgbClr val="1B2333"/>
                          </a:solidFill>
                          <a:latin typeface="Arial"/>
                        </a:rPr>
                        <a:t>los</a:t>
                      </a:r>
                      <a:r>
                        <a:rPr sz="1000" b="0" i="0" dirty="0" lang="es-SV">
                          <a:solidFill>
                            <a:srgbClr val="1B2333"/>
                          </a:solidFill>
                          <a:latin typeface="Arial"/>
                        </a:rPr>
                        <a:t> </a:t>
                      </a:r>
                      <a:r>
                        <a:rPr sz="1000" b="0" i="0" dirty="0" lang="es-SV">
                          <a:solidFill>
                            <a:srgbClr val="1B2333"/>
                          </a:solidFill>
                          <a:latin typeface="Arial"/>
                        </a:rPr>
                        <a:t>contratos</a:t>
                      </a:r>
                      <a:r>
                        <a:rPr sz="1000" b="0" i="0" dirty="0" lang="es-SV">
                          <a:solidFill>
                            <a:srgbClr val="1B2333"/>
                          </a:solidFill>
                          <a:latin typeface="Arial"/>
                        </a:rPr>
                        <a:t> </a:t>
                      </a:r>
                      <a:r>
                        <a:rPr sz="1000" b="1" i="0" u="sng" dirty="0" lang="es-SV">
                          <a:solidFill>
                            <a:srgbClr val="00376E"/>
                          </a:solidFill>
                          <a:latin typeface="Arial"/>
                        </a:rPr>
                        <a:t>originales</a:t>
                      </a:r>
                      <a:r>
                        <a:rPr sz="1000" b="0" i="0" dirty="0" lang="es-SV">
                          <a:solidFill>
                            <a:srgbClr val="1B2333"/>
                          </a:solidFill>
                          <a:latin typeface="Arial"/>
                        </a:rPr>
                        <a:t>, </a:t>
                      </a:r>
                      <a:r>
                        <a:rPr sz="1000" b="0" i="0" dirty="0" lang="es-SV">
                          <a:solidFill>
                            <a:srgbClr val="1B2333"/>
                          </a:solidFill>
                          <a:latin typeface="Arial"/>
                        </a:rPr>
                        <a:t>garantías</a:t>
                      </a:r>
                      <a:r>
                        <a:rPr sz="1000" b="0" i="0" dirty="0" lang="es-SV">
                          <a:solidFill>
                            <a:srgbClr val="1B2333"/>
                          </a:solidFill>
                          <a:latin typeface="Arial"/>
                        </a:rPr>
                        <a:t> y </a:t>
                      </a:r>
                      <a:r>
                        <a:rPr sz="1000" b="0" i="0" dirty="0" lang="es-SV">
                          <a:solidFill>
                            <a:srgbClr val="1B2333"/>
                          </a:solidFill>
                          <a:latin typeface="Arial"/>
                        </a:rPr>
                        <a:t>adendas</a:t>
                      </a:r>
                      <a:r>
                        <a:rPr sz="1000" b="0" i="0" dirty="0" lang="es-SV">
                          <a:solidFill>
                            <a:srgbClr val="1B2333"/>
                          </a:solidFill>
                          <a:latin typeface="Arial"/>
                        </a:rPr>
                        <a:t>…, </a:t>
                      </a:r>
                      <a:r>
                        <a:rPr sz="1000" b="1" i="0" u="sng" dirty="0" lang="es-SV">
                          <a:solidFill>
                            <a:srgbClr val="00376E"/>
                          </a:solidFill>
                          <a:latin typeface="Arial"/>
                        </a:rPr>
                        <a:t>asegurando</a:t>
                      </a:r>
                      <a:r>
                        <a:rPr sz="1000" b="1" i="0" u="sng" dirty="0" lang="es-SV">
                          <a:solidFill>
                            <a:srgbClr val="00376E"/>
                          </a:solidFill>
                          <a:latin typeface="Arial"/>
                        </a:rPr>
                        <a:t> </a:t>
                      </a:r>
                      <a:r>
                        <a:rPr sz="1000" b="1" i="0" u="sng" dirty="0" lang="es-SV">
                          <a:solidFill>
                            <a:srgbClr val="00376E"/>
                          </a:solidFill>
                          <a:latin typeface="Arial"/>
                        </a:rPr>
                        <a:t>su</a:t>
                      </a:r>
                      <a:r>
                        <a:rPr sz="1000" b="1" i="0" u="sng" dirty="0" lang="es-SV">
                          <a:solidFill>
                            <a:srgbClr val="00376E"/>
                          </a:solidFill>
                          <a:latin typeface="Arial"/>
                        </a:rPr>
                        <a:t> </a:t>
                      </a:r>
                      <a:r>
                        <a:rPr sz="1000" b="1" i="0" u="sng" dirty="0" lang="es-SV">
                          <a:solidFill>
                            <a:srgbClr val="00376E"/>
                          </a:solidFill>
                          <a:latin typeface="Arial"/>
                        </a:rPr>
                        <a:t>conservación</a:t>
                      </a:r>
                      <a:r>
                        <a:rPr sz="1000" b="1" i="0" u="sng" dirty="0" lang="es-SV">
                          <a:solidFill>
                            <a:srgbClr val="00376E"/>
                          </a:solidFill>
                          <a:latin typeface="Arial"/>
                        </a:rPr>
                        <a:t> </a:t>
                      </a:r>
                      <a:r>
                        <a:rPr sz="1000" b="1" i="0" u="sng" dirty="0" lang="es-SV">
                          <a:solidFill>
                            <a:srgbClr val="00376E"/>
                          </a:solidFill>
                          <a:latin typeface="Arial"/>
                        </a:rPr>
                        <a:t>ordenada</a:t>
                      </a:r>
                      <a:r>
                        <a:rPr sz="1000" b="1" i="0" u="sng" dirty="0" lang="es-SV">
                          <a:solidFill>
                            <a:srgbClr val="00376E"/>
                          </a:solidFill>
                          <a:latin typeface="Arial"/>
                        </a:rPr>
                        <a:t>, completa, </a:t>
                      </a:r>
                      <a:r>
                        <a:rPr sz="1000" b="1" i="0" u="sng" dirty="0" lang="es-SV">
                          <a:solidFill>
                            <a:srgbClr val="00376E"/>
                          </a:solidFill>
                          <a:latin typeface="Arial"/>
                        </a:rPr>
                        <a:t>íntegra</a:t>
                      </a:r>
                      <a:r>
                        <a:rPr sz="1000" b="1" i="0" u="sng" dirty="0" lang="es-SV">
                          <a:solidFill>
                            <a:srgbClr val="00376E"/>
                          </a:solidFill>
                          <a:latin typeface="Arial"/>
                        </a:rPr>
                        <a:t> y </a:t>
                      </a:r>
                      <a:r>
                        <a:rPr sz="1000" b="1" i="0" u="sng" dirty="0" lang="es-SV">
                          <a:solidFill>
                            <a:srgbClr val="00376E"/>
                          </a:solidFill>
                          <a:latin typeface="Arial"/>
                        </a:rPr>
                        <a:t>oportuna</a:t>
                      </a:r>
                      <a:r>
                        <a:rPr sz="1000" b="1" i="0" u="sng" dirty="0" lang="es-SV">
                          <a:solidFill>
                            <a:srgbClr val="00376E"/>
                          </a:solidFill>
                          <a:latin typeface="Arial"/>
                        </a:rPr>
                        <a:t>. Para </a:t>
                      </a:r>
                      <a:r>
                        <a:rPr sz="1000" b="1" i="0" u="sng" dirty="0" lang="es-SV">
                          <a:solidFill>
                            <a:srgbClr val="00376E"/>
                          </a:solidFill>
                          <a:latin typeface="Arial"/>
                        </a:rPr>
                        <a:t>ello</a:t>
                      </a:r>
                      <a:r>
                        <a:rPr sz="1000" b="1" i="0" u="sng" dirty="0" lang="es-SV">
                          <a:solidFill>
                            <a:srgbClr val="00376E"/>
                          </a:solidFill>
                          <a:latin typeface="Arial"/>
                        </a:rPr>
                        <a:t> </a:t>
                      </a:r>
                      <a:r>
                        <a:rPr sz="1000" b="1" i="0" u="sng" dirty="0" lang="es-SV">
                          <a:solidFill>
                            <a:srgbClr val="00376E"/>
                          </a:solidFill>
                          <a:latin typeface="Arial"/>
                        </a:rPr>
                        <a:t>deberá</a:t>
                      </a:r>
                      <a:r>
                        <a:rPr sz="1000" b="1" i="0" u="sng" dirty="0" lang="es-SV">
                          <a:solidFill>
                            <a:srgbClr val="00376E"/>
                          </a:solidFill>
                          <a:latin typeface="Arial"/>
                        </a:rPr>
                        <a:t>: a) registrar </a:t>
                      </a:r>
                      <a:r>
                        <a:rPr sz="1000" b="1" i="0" u="sng" dirty="0" lang="es-SV">
                          <a:solidFill>
                            <a:srgbClr val="00376E"/>
                          </a:solidFill>
                          <a:latin typeface="Arial"/>
                        </a:rPr>
                        <a:t>cada</a:t>
                      </a:r>
                      <a:r>
                        <a:rPr sz="1000" b="1" i="0" u="sng" dirty="0" lang="es-SV">
                          <a:solidFill>
                            <a:srgbClr val="00376E"/>
                          </a:solidFill>
                          <a:latin typeface="Arial"/>
                        </a:rPr>
                        <a:t> </a:t>
                      </a:r>
                      <a:r>
                        <a:rPr sz="1000" b="1" i="0" u="sng" dirty="0" lang="es-SV">
                          <a:solidFill>
                            <a:srgbClr val="00376E"/>
                          </a:solidFill>
                          <a:latin typeface="Arial"/>
                        </a:rPr>
                        <a:t>documento</a:t>
                      </a:r>
                      <a:r>
                        <a:rPr sz="1000" b="1" i="0" u="sng" dirty="0" lang="es-SV">
                          <a:solidFill>
                            <a:srgbClr val="00376E"/>
                          </a:solidFill>
                          <a:latin typeface="Arial"/>
                        </a:rPr>
                        <a:t> </a:t>
                      </a:r>
                      <a:r>
                        <a:rPr sz="1000" b="1" i="0" u="sng" dirty="0" lang="es-SV">
                          <a:solidFill>
                            <a:srgbClr val="00376E"/>
                          </a:solidFill>
                          <a:latin typeface="Arial"/>
                        </a:rPr>
                        <a:t>recibido</a:t>
                      </a:r>
                      <a:r>
                        <a:rPr sz="1000" b="1" i="0" u="sng" dirty="0" lang="es-SV">
                          <a:solidFill>
                            <a:srgbClr val="00376E"/>
                          </a:solidFill>
                          <a:latin typeface="Arial"/>
                        </a:rPr>
                        <a:t> (</a:t>
                      </a:r>
                      <a:r>
                        <a:rPr sz="1000" b="1" i="0" u="sng" dirty="0" lang="es-SV">
                          <a:solidFill>
                            <a:srgbClr val="00376E"/>
                          </a:solidFill>
                          <a:latin typeface="Arial"/>
                        </a:rPr>
                        <a:t>fecha</a:t>
                      </a:r>
                      <a:r>
                        <a:rPr sz="1000" b="1" i="0" u="sng" dirty="0" lang="es-SV">
                          <a:solidFill>
                            <a:srgbClr val="00376E"/>
                          </a:solidFill>
                          <a:latin typeface="Arial"/>
                        </a:rPr>
                        <a:t>, </a:t>
                      </a:r>
                      <a:r>
                        <a:rPr sz="1000" b="1" i="0" u="sng" dirty="0" lang="es-SV">
                          <a:solidFill>
                            <a:srgbClr val="00376E"/>
                          </a:solidFill>
                          <a:latin typeface="Arial"/>
                        </a:rPr>
                        <a:t>proveedor</a:t>
                      </a:r>
                      <a:r>
                        <a:rPr sz="1000" b="1" i="0" u="sng" dirty="0" lang="es-SV">
                          <a:solidFill>
                            <a:srgbClr val="00376E"/>
                          </a:solidFill>
                          <a:latin typeface="Arial"/>
                        </a:rPr>
                        <a:t>, </a:t>
                      </a:r>
                      <a:r>
                        <a:rPr sz="1000" b="1" i="0" u="sng" dirty="0" lang="es-SV">
                          <a:solidFill>
                            <a:srgbClr val="00376E"/>
                          </a:solidFill>
                          <a:latin typeface="Arial"/>
                        </a:rPr>
                        <a:t>número</a:t>
                      </a:r>
                      <a:r>
                        <a:rPr sz="1000" b="1" i="0" u="sng" dirty="0" lang="es-SV">
                          <a:solidFill>
                            <a:srgbClr val="00376E"/>
                          </a:solidFill>
                          <a:latin typeface="Arial"/>
                        </a:rPr>
                        <a:t> y </a:t>
                      </a:r>
                      <a:r>
                        <a:rPr sz="1000" b="1" i="0" u="sng" dirty="0" lang="es-SV">
                          <a:solidFill>
                            <a:srgbClr val="00376E"/>
                          </a:solidFill>
                          <a:latin typeface="Arial"/>
                        </a:rPr>
                        <a:t>vigencia</a:t>
                      </a:r>
                      <a:r>
                        <a:rPr sz="1000" b="1" i="0" u="sng" dirty="0" lang="es-SV">
                          <a:solidFill>
                            <a:srgbClr val="00376E"/>
                          </a:solidFill>
                          <a:latin typeface="Arial"/>
                        </a:rPr>
                        <a:t> del </a:t>
                      </a:r>
                      <a:r>
                        <a:rPr sz="1000" b="1" i="0" u="sng" dirty="0" lang="es-SV">
                          <a:solidFill>
                            <a:srgbClr val="00376E"/>
                          </a:solidFill>
                          <a:latin typeface="Arial"/>
                        </a:rPr>
                        <a:t>contrato</a:t>
                      </a:r>
                      <a:r>
                        <a:rPr sz="1000" b="1" i="0" u="sng" dirty="0" lang="es-SV">
                          <a:solidFill>
                            <a:srgbClr val="00376E"/>
                          </a:solidFill>
                          <a:latin typeface="Arial"/>
                        </a:rPr>
                        <a:t> y </a:t>
                      </a:r>
                      <a:r>
                        <a:rPr sz="1000" b="1" i="0" u="sng" dirty="0" lang="es-SV">
                          <a:solidFill>
                            <a:srgbClr val="00376E"/>
                          </a:solidFill>
                          <a:latin typeface="Arial"/>
                        </a:rPr>
                        <a:t>garantía</a:t>
                      </a:r>
                      <a:r>
                        <a:rPr sz="1000" b="1" i="0" u="sng" dirty="0" lang="es-SV">
                          <a:solidFill>
                            <a:srgbClr val="00376E"/>
                          </a:solidFill>
                          <a:latin typeface="Arial"/>
                        </a:rPr>
                        <a:t>); b) </a:t>
                      </a:r>
                      <a:r>
                        <a:rPr sz="1000" b="1" i="0" u="sng" dirty="0" lang="es-SV">
                          <a:solidFill>
                            <a:srgbClr val="00376E"/>
                          </a:solidFill>
                          <a:latin typeface="Arial"/>
                        </a:rPr>
                        <a:t>informar</a:t>
                      </a:r>
                      <a:r>
                        <a:rPr sz="1000" b="1" i="0" u="sng" dirty="0" lang="es-SV">
                          <a:solidFill>
                            <a:srgbClr val="00376E"/>
                          </a:solidFill>
                          <a:latin typeface="Arial"/>
                        </a:rPr>
                        <a:t> </a:t>
                      </a:r>
                      <a:r>
                        <a:rPr sz="1000" b="1" i="0" u="sng" dirty="0" lang="es-SV">
                          <a:solidFill>
                            <a:srgbClr val="00376E"/>
                          </a:solidFill>
                          <a:latin typeface="Arial"/>
                        </a:rPr>
                        <a:t>por</a:t>
                      </a:r>
                      <a:r>
                        <a:rPr sz="1000" b="1" i="0" u="sng" dirty="0" lang="es-SV">
                          <a:solidFill>
                            <a:srgbClr val="00376E"/>
                          </a:solidFill>
                          <a:latin typeface="Arial"/>
                        </a:rPr>
                        <a:t> </a:t>
                      </a:r>
                      <a:r>
                        <a:rPr sz="1000" b="1" i="0" u="sng" dirty="0" lang="es-SV">
                          <a:solidFill>
                            <a:srgbClr val="00376E"/>
                          </a:solidFill>
                          <a:latin typeface="Arial"/>
                        </a:rPr>
                        <a:t>escrito</a:t>
                      </a:r>
                      <a:r>
                        <a:rPr sz="1000" b="1" i="0" u="sng" dirty="0" lang="es-SV">
                          <a:solidFill>
                            <a:srgbClr val="00376E"/>
                          </a:solidFill>
                          <a:latin typeface="Arial"/>
                        </a:rPr>
                        <a:t>, con 30 días de </a:t>
                      </a:r>
                      <a:r>
                        <a:rPr sz="1000" b="1" i="0" u="sng" dirty="0" lang="es-SV">
                          <a:solidFill>
                            <a:srgbClr val="00376E"/>
                          </a:solidFill>
                          <a:latin typeface="Arial"/>
                        </a:rPr>
                        <a:t>anticipación</a:t>
                      </a:r>
                      <a:r>
                        <a:rPr sz="1000" b="1" i="0" u="sng" dirty="0" lang="es-SV">
                          <a:solidFill>
                            <a:srgbClr val="00376E"/>
                          </a:solidFill>
                          <a:latin typeface="Arial"/>
                        </a:rPr>
                        <a:t>, el </a:t>
                      </a:r>
                      <a:r>
                        <a:rPr sz="1000" b="1" i="0" u="sng" dirty="0" lang="es-SV">
                          <a:solidFill>
                            <a:srgbClr val="00376E"/>
                          </a:solidFill>
                          <a:latin typeface="Arial"/>
                        </a:rPr>
                        <a:t>vencimiento</a:t>
                      </a:r>
                      <a:r>
                        <a:rPr sz="1000" b="1" i="0" u="sng" dirty="0" lang="es-SV">
                          <a:solidFill>
                            <a:srgbClr val="00376E"/>
                          </a:solidFill>
                          <a:latin typeface="Arial"/>
                        </a:rPr>
                        <a:t> de </a:t>
                      </a:r>
                      <a:r>
                        <a:rPr sz="1000" b="1" i="0" u="sng" dirty="0" lang="es-SV">
                          <a:solidFill>
                            <a:srgbClr val="00376E"/>
                          </a:solidFill>
                          <a:latin typeface="Arial"/>
                        </a:rPr>
                        <a:t>contratos</a:t>
                      </a:r>
                      <a:r>
                        <a:rPr sz="1000" b="1" i="0" u="sng" dirty="0" lang="es-SV">
                          <a:solidFill>
                            <a:srgbClr val="00376E"/>
                          </a:solidFill>
                          <a:latin typeface="Arial"/>
                        </a:rPr>
                        <a:t> y </a:t>
                      </a:r>
                      <a:r>
                        <a:rPr sz="1000" b="1" i="0" u="sng" dirty="0" lang="es-SV">
                          <a:solidFill>
                            <a:srgbClr val="00376E"/>
                          </a:solidFill>
                          <a:latin typeface="Arial"/>
                        </a:rPr>
                        <a:t>garantías</a:t>
                      </a:r>
                      <a:r>
                        <a:rPr sz="1000" b="1" i="0" u="sng" dirty="0" lang="es-SV">
                          <a:solidFill>
                            <a:srgbClr val="00376E"/>
                          </a:solidFill>
                          <a:latin typeface="Arial"/>
                        </a:rPr>
                        <a:t>; c) </a:t>
                      </a:r>
                      <a:r>
                        <a:rPr sz="1000" b="1" i="0" u="sng" dirty="0" lang="es-SV">
                          <a:solidFill>
                            <a:srgbClr val="00376E"/>
                          </a:solidFill>
                          <a:latin typeface="Arial"/>
                        </a:rPr>
                        <a:t>mantener</a:t>
                      </a:r>
                      <a:r>
                        <a:rPr sz="1000" b="1" i="0" u="sng" dirty="0" lang="es-SV">
                          <a:solidFill>
                            <a:srgbClr val="00376E"/>
                          </a:solidFill>
                          <a:latin typeface="Arial"/>
                        </a:rPr>
                        <a:t> </a:t>
                      </a:r>
                      <a:r>
                        <a:rPr sz="1000" b="1" i="0" u="sng" dirty="0" lang="es-SV">
                          <a:solidFill>
                            <a:srgbClr val="00376E"/>
                          </a:solidFill>
                          <a:latin typeface="Arial"/>
                        </a:rPr>
                        <a:t>los</a:t>
                      </a:r>
                      <a:r>
                        <a:rPr sz="1000" b="1" i="0" u="sng" dirty="0" lang="es-SV">
                          <a:solidFill>
                            <a:srgbClr val="00376E"/>
                          </a:solidFill>
                          <a:latin typeface="Arial"/>
                        </a:rPr>
                        <a:t> </a:t>
                      </a:r>
                      <a:r>
                        <a:rPr sz="1000" b="1" i="0" u="sng" dirty="0" lang="es-SV">
                          <a:solidFill>
                            <a:srgbClr val="00376E"/>
                          </a:solidFill>
                          <a:latin typeface="Arial"/>
                        </a:rPr>
                        <a:t>documentos</a:t>
                      </a:r>
                      <a:r>
                        <a:rPr sz="1000" b="1" i="0" u="sng" dirty="0" lang="es-SV">
                          <a:solidFill>
                            <a:srgbClr val="00376E"/>
                          </a:solidFill>
                          <a:latin typeface="Arial"/>
                        </a:rPr>
                        <a:t> a </a:t>
                      </a:r>
                      <a:r>
                        <a:rPr sz="1000" b="1" i="0" u="sng" dirty="0" lang="es-SV">
                          <a:solidFill>
                            <a:srgbClr val="00376E"/>
                          </a:solidFill>
                          <a:latin typeface="Arial"/>
                        </a:rPr>
                        <a:t>disposición</a:t>
                      </a:r>
                      <a:r>
                        <a:rPr sz="1000" b="1" i="0" u="sng" dirty="0" lang="es-SV">
                          <a:solidFill>
                            <a:srgbClr val="00376E"/>
                          </a:solidFill>
                          <a:latin typeface="Arial"/>
                        </a:rPr>
                        <a:t> de la </a:t>
                      </a:r>
                      <a:r>
                        <a:rPr sz="1000" b="1" i="0" u="sng" dirty="0" lang="es-SV">
                          <a:solidFill>
                            <a:srgbClr val="00376E"/>
                          </a:solidFill>
                          <a:latin typeface="Arial"/>
                        </a:rPr>
                        <a:t>Superintendencia</a:t>
                      </a:r>
                      <a:r>
                        <a:rPr sz="1000" b="1" i="0" u="sng" dirty="0" lang="es-SV">
                          <a:solidFill>
                            <a:srgbClr val="00376E"/>
                          </a:solidFill>
                          <a:latin typeface="Arial"/>
                        </a:rPr>
                        <a:t>, </a:t>
                      </a:r>
                      <a:r>
                        <a:rPr sz="1000" b="1" i="0" u="sng" dirty="0" lang="es-SV">
                          <a:solidFill>
                            <a:srgbClr val="00376E"/>
                          </a:solidFill>
                          <a:latin typeface="Arial"/>
                        </a:rPr>
                        <a:t>Auditoría</a:t>
                      </a:r>
                      <a:r>
                        <a:rPr sz="1000" b="1" i="0" u="sng" dirty="0" lang="es-SV">
                          <a:solidFill>
                            <a:srgbClr val="00376E"/>
                          </a:solidFill>
                          <a:latin typeface="Arial"/>
                        </a:rPr>
                        <a:t> Interna y </a:t>
                      </a:r>
                      <a:r>
                        <a:rPr sz="1000" b="1" i="0" u="sng" dirty="0" lang="es-SV">
                          <a:solidFill>
                            <a:srgbClr val="00376E"/>
                          </a:solidFill>
                          <a:latin typeface="Arial"/>
                        </a:rPr>
                        <a:t>auditores</a:t>
                      </a:r>
                      <a:r>
                        <a:rPr sz="1000" b="1" i="0" u="sng" dirty="0" lang="es-SV">
                          <a:solidFill>
                            <a:srgbClr val="00376E"/>
                          </a:solidFill>
                          <a:latin typeface="Arial"/>
                        </a:rPr>
                        <a:t> </a:t>
                      </a:r>
                      <a:r>
                        <a:rPr sz="1000" b="1" i="0" u="sng" dirty="0" lang="es-SV">
                          <a:solidFill>
                            <a:srgbClr val="00376E"/>
                          </a:solidFill>
                          <a:latin typeface="Arial"/>
                        </a:rPr>
                        <a:t>externos</a:t>
                      </a:r>
                      <a:r>
                        <a:rPr sz="1000" b="1" i="0" u="sng" dirty="0" lang="es-SV">
                          <a:solidFill>
                            <a:srgbClr val="00376E"/>
                          </a:solidFill>
                          <a:latin typeface="Arial"/>
                        </a:rPr>
                        <a:t>; d) </a:t>
                      </a:r>
                      <a:r>
                        <a:rPr sz="1000" b="1" i="0" u="sng" dirty="0" lang="es-SV">
                          <a:solidFill>
                            <a:srgbClr val="00376E"/>
                          </a:solidFill>
                          <a:latin typeface="Arial"/>
                        </a:rPr>
                        <a:t>entregar</a:t>
                      </a:r>
                      <a:r>
                        <a:rPr sz="1000" b="1" i="0" u="sng" dirty="0" lang="es-SV">
                          <a:solidFill>
                            <a:srgbClr val="00376E"/>
                          </a:solidFill>
                          <a:latin typeface="Arial"/>
                        </a:rPr>
                        <a:t> </a:t>
                      </a:r>
                      <a:r>
                        <a:rPr sz="1000" b="1" i="0" u="sng" dirty="0" lang="es-SV">
                          <a:solidFill>
                            <a:srgbClr val="00376E"/>
                          </a:solidFill>
                          <a:latin typeface="Arial"/>
                        </a:rPr>
                        <a:t>originales</a:t>
                      </a:r>
                      <a:r>
                        <a:rPr sz="1000" b="1" i="0" u="sng" dirty="0" lang="es-SV">
                          <a:solidFill>
                            <a:srgbClr val="00376E"/>
                          </a:solidFill>
                          <a:latin typeface="Arial"/>
                        </a:rPr>
                        <a:t> solo con </a:t>
                      </a:r>
                      <a:r>
                        <a:rPr sz="1000" b="1" i="0" u="sng" dirty="0" lang="es-SV">
                          <a:solidFill>
                            <a:srgbClr val="00376E"/>
                          </a:solidFill>
                          <a:latin typeface="Arial"/>
                        </a:rPr>
                        <a:t>autorización</a:t>
                      </a:r>
                      <a:r>
                        <a:rPr sz="1000" b="1" i="0" u="sng" dirty="0" lang="es-SV">
                          <a:solidFill>
                            <a:srgbClr val="00376E"/>
                          </a:solidFill>
                          <a:latin typeface="Arial"/>
                        </a:rPr>
                        <a:t> </a:t>
                      </a:r>
                      <a:r>
                        <a:rPr sz="1000" b="1" i="0" u="sng" dirty="0" lang="es-SV">
                          <a:solidFill>
                            <a:srgbClr val="00376E"/>
                          </a:solidFill>
                          <a:latin typeface="Arial"/>
                        </a:rPr>
                        <a:t>escrita</a:t>
                      </a:r>
                      <a:r>
                        <a:rPr sz="1000" b="1" i="0" u="sng" dirty="0" lang="es-SV">
                          <a:solidFill>
                            <a:srgbClr val="00376E"/>
                          </a:solidFill>
                          <a:latin typeface="Arial"/>
                        </a:rPr>
                        <a:t> y </a:t>
                      </a:r>
                      <a:r>
                        <a:rPr sz="1000" b="1" i="0" u="sng" dirty="0" lang="es-SV">
                          <a:solidFill>
                            <a:srgbClr val="00376E"/>
                          </a:solidFill>
                          <a:latin typeface="Arial"/>
                        </a:rPr>
                        <a:t>registro</a:t>
                      </a:r>
                      <a:r>
                        <a:rPr sz="1000" b="1" i="0" u="sng" dirty="0" lang="es-SV">
                          <a:solidFill>
                            <a:srgbClr val="00376E"/>
                          </a:solidFill>
                          <a:latin typeface="Arial"/>
                        </a:rPr>
                        <a:t> de salida y </a:t>
                      </a:r>
                      <a:r>
                        <a:rPr sz="1000" b="1" i="0" u="sng" dirty="0" lang="es-SV">
                          <a:solidFill>
                            <a:srgbClr val="00376E"/>
                          </a:solidFill>
                          <a:latin typeface="Arial"/>
                        </a:rPr>
                        <a:t>devolución</a:t>
                      </a:r>
                      <a:r>
                        <a:rPr sz="1000" b="1" i="0" u="sng" dirty="0" lang="es-SV">
                          <a:solidFill>
                            <a:srgbClr val="00376E"/>
                          </a:solidFill>
                          <a:latin typeface="Arial"/>
                        </a:rPr>
                        <a:t>.</a:t>
                      </a:r>
                    </a:p>
                  </a:txBody>
                  <a:tcPr marL="64008" marR="64008">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Obligaciones</a:t>
                      </a:r>
                      <a:r>
                        <a:rPr sz="1000" b="0" i="0" dirty="0" lang="es-SV">
                          <a:solidFill>
                            <a:srgbClr val="1B2333"/>
                          </a:solidFill>
                          <a:latin typeface="Arial"/>
                        </a:rPr>
                        <a:t> </a:t>
                      </a:r>
                      <a:r>
                        <a:rPr sz="1000" b="0" i="0" dirty="0" lang="es-SV">
                          <a:solidFill>
                            <a:srgbClr val="1B2333"/>
                          </a:solidFill>
                          <a:latin typeface="Arial"/>
                        </a:rPr>
                        <a:t>concretas</a:t>
                      </a:r>
                      <a:r>
                        <a:rPr sz="1000" b="0" i="0" dirty="0" lang="es-SV">
                          <a:solidFill>
                            <a:srgbClr val="1B2333"/>
                          </a:solidFill>
                          <a:latin typeface="Arial"/>
                        </a:rPr>
                        <a:t> y </a:t>
                      </a:r>
                      <a:r>
                        <a:rPr sz="1000" b="0" i="0" dirty="0" lang="es-SV">
                          <a:solidFill>
                            <a:srgbClr val="1B2333"/>
                          </a:solidFill>
                          <a:latin typeface="Arial"/>
                        </a:rPr>
                        <a:t>verificables</a:t>
                      </a:r>
                      <a:r>
                        <a:rPr sz="1000" b="0" i="0" dirty="0" lang="es-SV">
                          <a:solidFill>
                            <a:srgbClr val="1B2333"/>
                          </a:solidFill>
                          <a:latin typeface="Arial"/>
                        </a:rPr>
                        <a:t>.</a:t>
                      </a:r>
                    </a:p>
                    <a:p>
                      <a:pPr algn="just"/>
                      <a:r>
                        <a:rPr sz="1000" b="1" i="0" dirty="0" lang="es-SV">
                          <a:solidFill>
                            <a:srgbClr val="00376E"/>
                          </a:solidFill>
                          <a:latin typeface="Arial"/>
                        </a:rPr>
                        <a:t>NRP-42, arts. 4 y 5 · NRP-23, Anexo 1, A-5</a:t>
                      </a:r>
                    </a:p>
                  </a:txBody>
                  <a:tcPr marL="64008" marR="64008">
                    <a:lnL w="9525" cap="flat" cmpd="sng" algn="ctr">
                      <a:solidFill>
                        <a:srgbClr val="C9D1DE"/>
                      </a:solidFill>
                      <a:prstDash val="solid"/>
                      <a:round/>
                      <a:headEnd type="none" w="med" len="med"/>
                      <a:tailEnd type="none" w="med" len="me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74320">
                <a:tc>
                  <a:txBody>
                    <a:bodyPr/>
                    <a:lstStyle/>
                    <a:p>
                      <a:pPr algn="just"/>
                      <a:r>
                        <a:rPr sz="1000" b="1" i="0" lang="es-SV">
                          <a:solidFill>
                            <a:srgbClr val="00376E"/>
                          </a:solidFill>
                          <a:latin typeface="Arial"/>
                        </a:rPr>
                        <a:t>32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Servicios Generales a) Responsable de completar y actualizar la “Matriz Centralizada de Servicios Críticos Tercerizados” con los campos definidos en las Normas para la Gestión del Riesgo Operacional (NPB4-50).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a) Responsable de completar y actualizar la “Matriz Centralizada de Servicios Críticos Tercerizados” con los campos definidos en las </a:t>
                      </a:r>
                      <a:r>
                        <a:rPr sz="1000" b="1" i="0" u="sng" lang="es-SV">
                          <a:solidFill>
                            <a:srgbClr val="00376E"/>
                          </a:solidFill>
                          <a:latin typeface="Arial"/>
                        </a:rPr>
                        <a:t>Normas Técnicas para la Gestión del Riesgo Operacional de las Entidades Financieras (NRP-42): nombre del proveedor, tipo de servicio, monto del contrato, contraparte dentro de la Cooperativa y vigencia.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NPB4-50 </a:t>
                      </a:r>
                      <a:r>
                        <a:rPr sz="1000" b="0" i="0" dirty="0" lang="es-SV">
                          <a:solidFill>
                            <a:srgbClr val="1B2333"/>
                          </a:solidFill>
                          <a:latin typeface="Arial"/>
                        </a:rPr>
                        <a:t>derogada</a:t>
                      </a:r>
                      <a:r>
                        <a:rPr sz="1000" b="0" i="0" dirty="0" lang="es-SV">
                          <a:solidFill>
                            <a:srgbClr val="1B2333"/>
                          </a:solidFill>
                          <a:latin typeface="Arial"/>
                        </a:rPr>
                        <a:t>; se </a:t>
                      </a:r>
                      <a:r>
                        <a:rPr sz="1000" b="0" i="0" dirty="0" lang="es-SV">
                          <a:solidFill>
                            <a:srgbClr val="1B2333"/>
                          </a:solidFill>
                          <a:latin typeface="Arial"/>
                        </a:rPr>
                        <a:t>detallan</a:t>
                      </a:r>
                      <a:r>
                        <a:rPr sz="1000" b="0" i="0" dirty="0" lang="es-SV">
                          <a:solidFill>
                            <a:srgbClr val="1B2333"/>
                          </a:solidFill>
                          <a:latin typeface="Arial"/>
                        </a:rPr>
                        <a:t> </a:t>
                      </a:r>
                      <a:r>
                        <a:rPr sz="1000" b="0" i="0" dirty="0" lang="es-SV">
                          <a:solidFill>
                            <a:srgbClr val="1B2333"/>
                          </a:solidFill>
                          <a:latin typeface="Arial"/>
                        </a:rPr>
                        <a:t>los</a:t>
                      </a:r>
                      <a:r>
                        <a:rPr sz="1000" b="0" i="0" dirty="0" lang="es-SV">
                          <a:solidFill>
                            <a:srgbClr val="1B2333"/>
                          </a:solidFill>
                          <a:latin typeface="Arial"/>
                        </a:rPr>
                        <a:t> campos </a:t>
                      </a:r>
                      <a:r>
                        <a:rPr sz="1000" b="0" i="0" dirty="0" lang="es-SV">
                          <a:solidFill>
                            <a:srgbClr val="1B2333"/>
                          </a:solidFill>
                          <a:latin typeface="Arial"/>
                        </a:rPr>
                        <a:t>mínimos</a:t>
                      </a:r>
                      <a:r>
                        <a:rPr sz="1000" b="0" i="0" dirty="0" lang="es-SV">
                          <a:solidFill>
                            <a:srgbClr val="1B2333"/>
                          </a:solidFill>
                          <a:latin typeface="Arial"/>
                        </a:rPr>
                        <a:t> </a:t>
                      </a:r>
                      <a:r>
                        <a:rPr sz="1000" b="0" i="0" dirty="0" lang="es-SV">
                          <a:solidFill>
                            <a:srgbClr val="1B2333"/>
                          </a:solidFill>
                          <a:latin typeface="Arial"/>
                        </a:rPr>
                        <a:t>vigentes</a:t>
                      </a:r>
                      <a:r>
                        <a:rPr sz="1000" b="0" i="0" dirty="0" lang="es-SV">
                          <a:solidFill>
                            <a:srgbClr val="1B2333"/>
                          </a:solidFill>
                          <a:latin typeface="Arial"/>
                        </a:rPr>
                        <a:t>.</a:t>
                      </a:r>
                    </a:p>
                    <a:p>
                      <a:pPr algn="just"/>
                      <a:r>
                        <a:rPr sz="1000" b="1" i="0" dirty="0" lang="es-SV">
                          <a:solidFill>
                            <a:srgbClr val="00376E"/>
                          </a:solidFill>
                          <a:latin typeface="Arial"/>
                        </a:rPr>
                        <a:t>NRP-42, arts. 4 y 25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457200"/>
            <a:ext cx="9966960" cy="685800"/>
          </a:xfrm>
          <a:prstGeom prst="rect">
            <a:avLst/>
          </a:prstGeom>
          <a:noFill/>
        </p:spPr>
        <p:txBody>
          <a:bodyPr wrap="square" lIns="0" tIns="0" rIns="0" bIns="0" anchor="ctr">
            <a:spAutoFit/>
          </a:bodyPr>
          <a:lstStyle/>
          <a:p>
            <a:pPr algn="l"/>
            <a:r>
              <a:rPr sz="2100" b="1" i="0" dirty="0" lang="es-SV">
                <a:solidFill>
                  <a:srgbClr val="00376E"/>
                </a:solidFill>
                <a:latin typeface="Century Gothic"/>
              </a:rPr>
              <a:t>V. </a:t>
            </a:r>
            <a:r>
              <a:rPr sz="2100" b="1" i="0" dirty="0" lang="es-SV">
                <a:solidFill>
                  <a:srgbClr val="00376E"/>
                </a:solidFill>
                <a:latin typeface="Century Gothic"/>
              </a:rPr>
              <a:t>Criterios</a:t>
            </a:r>
            <a:r>
              <a:rPr sz="2100" b="1" i="0" dirty="0" lang="es-SV">
                <a:solidFill>
                  <a:srgbClr val="00376E"/>
                </a:solidFill>
                <a:latin typeface="Century Gothic"/>
              </a:rPr>
              <a:t> para </a:t>
            </a:r>
            <a:r>
              <a:rPr sz="2100" b="1" i="0" dirty="0" lang="es-SV">
                <a:solidFill>
                  <a:srgbClr val="00376E"/>
                </a:solidFill>
                <a:latin typeface="Century Gothic"/>
              </a:rPr>
              <a:t>identificar</a:t>
            </a:r>
            <a:r>
              <a:rPr sz="2100" b="1" i="0" dirty="0" lang="es-SV">
                <a:solidFill>
                  <a:srgbClr val="00376E"/>
                </a:solidFill>
                <a:latin typeface="Century Gothic"/>
              </a:rPr>
              <a:t> </a:t>
            </a:r>
            <a:r>
              <a:rPr sz="2100" b="1" i="0" dirty="0" lang="es-SV">
                <a:solidFill>
                  <a:srgbClr val="00376E"/>
                </a:solidFill>
                <a:latin typeface="Century Gothic"/>
              </a:rPr>
              <a:t>Servicios</a:t>
            </a:r>
            <a:r>
              <a:rPr sz="2100" b="1" i="0" dirty="0" lang="es-SV">
                <a:solidFill>
                  <a:srgbClr val="00376E"/>
                </a:solidFill>
                <a:latin typeface="Century Gothic"/>
              </a:rPr>
              <a:t> </a:t>
            </a:r>
            <a:r>
              <a:rPr sz="2100" b="1" i="0" dirty="0" lang="es-SV">
                <a:solidFill>
                  <a:srgbClr val="00376E"/>
                </a:solidFill>
                <a:latin typeface="Century Gothic"/>
              </a:rPr>
              <a:t>Críticos</a:t>
            </a:r>
            <a:r>
              <a:rPr sz="2100" b="1" i="0" dirty="0" lang="es-SV">
                <a:solidFill>
                  <a:srgbClr val="00376E"/>
                </a:solidFill>
                <a:latin typeface="Century Gothic"/>
              </a:rPr>
              <a:t> </a:t>
            </a:r>
            <a:r>
              <a:rPr sz="2100" b="1" i="0" dirty="0" lang="es-SV">
                <a:solidFill>
                  <a:srgbClr val="00376E"/>
                </a:solidFill>
                <a:latin typeface="Century Gothic"/>
              </a:rPr>
              <a:t>Tercerizados</a:t>
            </a:r>
            <a:r>
              <a:rPr sz="2100" b="1" i="0" dirty="0" lang="es-SV">
                <a:solidFill>
                  <a:srgbClr val="00376E"/>
                </a:solidFill>
                <a:latin typeface="Century Gothic"/>
              </a:rPr>
              <a:t> (1 de 2)</a:t>
            </a:r>
          </a:p>
        </p:txBody>
      </p:sp>
      <p:graphicFrame>
        <p:nvGraphicFramePr>
          <p:cNvPr id="16" name="Table 15"/>
          <p:cNvGraphicFramePr>
            <a:graphicFrameLocks noGrp="1"/>
          </p:cNvGraphicFramePr>
          <p:nvPr>
            <p:extLst>
              <p:ext uri="{D42A27DB-BD31-4B8C-83A1-F6EECF244321}">
                <p14:modId xmlns:p14="http://schemas.microsoft.com/office/powerpoint/2010/main" val="3042627927"/>
              </p:ext>
            </p:extLst>
          </p:nvPr>
        </p:nvGraphicFramePr>
        <p:xfrm>
          <a:off x="548640" y="1325880"/>
          <a:ext cx="11091672" cy="2389632"/>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347472">
                <a:tc>
                  <a:txBody>
                    <a:bodyPr/>
                    <a:lstStyle/>
                    <a:p>
                      <a:r>
                        <a:rPr sz="1000" b="1" i="0" dirty="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r>
                        <a:rPr sz="1000" b="1" i="0" dirty="0" lang="es-SV">
                          <a:solidFill>
                            <a:srgbClr val="FFFFFF"/>
                          </a:solidFill>
                          <a:latin typeface="Arial"/>
                        </a:rPr>
                        <a:t>Dice (V03 </a:t>
                      </a:r>
                      <a:r>
                        <a:rPr sz="1000" b="1" i="0" dirty="0" lang="es-SV">
                          <a:solidFill>
                            <a:srgbClr val="FFFFFF"/>
                          </a:solidFill>
                          <a:latin typeface="Arial"/>
                        </a:rPr>
                        <a:t>vigente</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r>
                        <a:rPr sz="1000" b="1" i="0" dirty="0" lang="es-SV">
                          <a:solidFill>
                            <a:srgbClr val="FFFFFF"/>
                          </a:solidFill>
                          <a:latin typeface="Arial"/>
                        </a:rPr>
                        <a:t>Debe </a:t>
                      </a:r>
                      <a:r>
                        <a:rPr sz="1000" b="1" i="0" dirty="0" lang="es-SV">
                          <a:solidFill>
                            <a:srgbClr val="FFFFFF"/>
                          </a:solidFill>
                          <a:latin typeface="Arial"/>
                        </a:rPr>
                        <a:t>decir</a:t>
                      </a:r>
                      <a:r>
                        <a:rPr sz="1000" b="1" i="0" dirty="0" lang="es-SV">
                          <a:solidFill>
                            <a:srgbClr val="FFFFFF"/>
                          </a:solidFill>
                          <a:latin typeface="Arial"/>
                        </a:rPr>
                        <a:t> (V04 </a:t>
                      </a:r>
                      <a:r>
                        <a:rPr sz="1000" b="1" i="0" dirty="0" lang="es-SV">
                          <a:solidFill>
                            <a:srgbClr val="FFFFFF"/>
                          </a:solidFill>
                          <a:latin typeface="Arial"/>
                        </a:rPr>
                        <a:t>propuesta</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r>
                        <a:rPr sz="1000" b="1" i="0" lang="es-SV">
                          <a:solidFill>
                            <a:srgbClr val="FFFFFF"/>
                          </a:solidFill>
                          <a:latin typeface="Arial"/>
                        </a:rPr>
                        <a:t>Mejora y base normativa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74320">
                <a:tc>
                  <a:txBody>
                    <a:bodyPr/>
                    <a:lstStyle/>
                    <a:p>
                      <a:pPr algn="just"/>
                      <a:r>
                        <a:rPr sz="1000" b="1" i="0" dirty="0" lang="es-SV">
                          <a:solidFill>
                            <a:srgbClr val="00376E"/>
                          </a:solidFill>
                          <a:latin typeface="Arial"/>
                        </a:rPr>
                        <a:t>33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Un Servicio </a:t>
                      </a:r>
                      <a:r>
                        <a:rPr sz="1000" b="0" i="0" dirty="0" lang="es-SV">
                          <a:solidFill>
                            <a:srgbClr val="1B2333"/>
                          </a:solidFill>
                          <a:latin typeface="Arial"/>
                        </a:rPr>
                        <a:t>Tercerizado</a:t>
                      </a:r>
                      <a:r>
                        <a:rPr sz="1000" b="0" i="0" dirty="0" lang="es-SV">
                          <a:solidFill>
                            <a:srgbClr val="1B2333"/>
                          </a:solidFill>
                          <a:latin typeface="Arial"/>
                        </a:rPr>
                        <a:t>… </a:t>
                      </a:r>
                      <a:r>
                        <a:rPr sz="1000" b="0" i="0" dirty="0" lang="es-SV">
                          <a:solidFill>
                            <a:srgbClr val="1B2333"/>
                          </a:solidFill>
                          <a:latin typeface="Arial"/>
                        </a:rPr>
                        <a:t>puede</a:t>
                      </a:r>
                      <a:r>
                        <a:rPr sz="1000" b="0" i="0" dirty="0" lang="es-SV">
                          <a:solidFill>
                            <a:srgbClr val="1B2333"/>
                          </a:solidFill>
                          <a:latin typeface="Arial"/>
                        </a:rPr>
                        <a:t> </a:t>
                      </a:r>
                      <a:r>
                        <a:rPr sz="1000" b="0" i="0" dirty="0" lang="es-SV">
                          <a:solidFill>
                            <a:srgbClr val="1B2333"/>
                          </a:solidFill>
                          <a:latin typeface="Arial"/>
                        </a:rPr>
                        <a:t>identificarse</a:t>
                      </a:r>
                      <a:r>
                        <a:rPr sz="1000" b="0" i="0" dirty="0" lang="es-SV">
                          <a:solidFill>
                            <a:srgbClr val="1B2333"/>
                          </a:solidFill>
                          <a:latin typeface="Arial"/>
                        </a:rPr>
                        <a:t>… </a:t>
                      </a:r>
                      <a:r>
                        <a:rPr sz="1000" b="0" i="0" dirty="0" lang="es-SV">
                          <a:solidFill>
                            <a:srgbClr val="1B2333"/>
                          </a:solidFill>
                          <a:latin typeface="Arial"/>
                        </a:rPr>
                        <a:t>como</a:t>
                      </a:r>
                      <a:r>
                        <a:rPr sz="1000" b="0" i="0" dirty="0" lang="es-SV">
                          <a:solidFill>
                            <a:srgbClr val="1B2333"/>
                          </a:solidFill>
                          <a:latin typeface="Arial"/>
                        </a:rPr>
                        <a:t> </a:t>
                      </a:r>
                      <a:r>
                        <a:rPr sz="1000" b="0" i="0" dirty="0" lang="es-SV">
                          <a:solidFill>
                            <a:srgbClr val="1B2333"/>
                          </a:solidFill>
                          <a:latin typeface="Arial"/>
                        </a:rPr>
                        <a:t>los</a:t>
                      </a:r>
                      <a:r>
                        <a:rPr sz="1000" b="0" i="0" dirty="0" lang="es-SV">
                          <a:solidFill>
                            <a:srgbClr val="1B2333"/>
                          </a:solidFill>
                          <a:latin typeface="Arial"/>
                        </a:rPr>
                        <a:t> </a:t>
                      </a:r>
                      <a:r>
                        <a:rPr sz="1000" b="0" i="0" dirty="0" lang="es-SV">
                          <a:solidFill>
                            <a:srgbClr val="1B2333"/>
                          </a:solidFill>
                          <a:latin typeface="Arial"/>
                        </a:rPr>
                        <a:t>servicios</a:t>
                      </a:r>
                      <a:r>
                        <a:rPr sz="1000" b="0" i="0" dirty="0" lang="es-SV">
                          <a:solidFill>
                            <a:srgbClr val="1B2333"/>
                          </a:solidFill>
                          <a:latin typeface="Arial"/>
                        </a:rPr>
                        <a:t> </a:t>
                      </a:r>
                      <a:r>
                        <a:rPr sz="1000" b="0" i="0" dirty="0" lang="es-SV">
                          <a:solidFill>
                            <a:srgbClr val="1B2333"/>
                          </a:solidFill>
                          <a:latin typeface="Arial"/>
                        </a:rPr>
                        <a:t>que</a:t>
                      </a:r>
                      <a:r>
                        <a:rPr sz="1000" b="0" i="0" dirty="0" lang="es-SV">
                          <a:solidFill>
                            <a:srgbClr val="1B2333"/>
                          </a:solidFill>
                          <a:latin typeface="Arial"/>
                        </a:rPr>
                        <a:t> </a:t>
                      </a:r>
                      <a:r>
                        <a:rPr sz="1000" b="0" i="0" dirty="0" lang="es-SV">
                          <a:solidFill>
                            <a:srgbClr val="1B2333"/>
                          </a:solidFill>
                          <a:latin typeface="Arial"/>
                        </a:rPr>
                        <a:t>detengan</a:t>
                      </a:r>
                      <a:r>
                        <a:rPr sz="1000" b="0" i="0" dirty="0" lang="es-SV">
                          <a:solidFill>
                            <a:srgbClr val="1B2333"/>
                          </a:solidFill>
                          <a:latin typeface="Arial"/>
                        </a:rPr>
                        <a:t> la </a:t>
                      </a:r>
                      <a:r>
                        <a:rPr sz="1000" b="0" i="0" dirty="0" lang="es-SV">
                          <a:solidFill>
                            <a:srgbClr val="1B2333"/>
                          </a:solidFill>
                          <a:latin typeface="Arial"/>
                        </a:rPr>
                        <a:t>continuidad</a:t>
                      </a:r>
                      <a:r>
                        <a:rPr sz="1000" b="0" i="0" dirty="0" lang="es-SV">
                          <a:solidFill>
                            <a:srgbClr val="1B2333"/>
                          </a:solidFill>
                          <a:latin typeface="Arial"/>
                        </a:rPr>
                        <a:t> del </a:t>
                      </a:r>
                      <a:r>
                        <a:rPr sz="1000" b="0" i="0" dirty="0" lang="es-SV">
                          <a:solidFill>
                            <a:srgbClr val="1B2333"/>
                          </a:solidFill>
                          <a:latin typeface="Arial"/>
                        </a:rPr>
                        <a:t>negocio</a:t>
                      </a:r>
                      <a:r>
                        <a:rPr sz="1000" b="0" i="0" dirty="0" lang="es-SV">
                          <a:solidFill>
                            <a:srgbClr val="1B2333"/>
                          </a:solidFill>
                          <a:latin typeface="Arial"/>
                        </a:rPr>
                        <a:t> y </a:t>
                      </a:r>
                      <a:r>
                        <a:rPr sz="1000" b="0" i="0" dirty="0" lang="es-SV">
                          <a:solidFill>
                            <a:srgbClr val="1B2333"/>
                          </a:solidFill>
                          <a:latin typeface="Arial"/>
                        </a:rPr>
                        <a:t>cumplan</a:t>
                      </a:r>
                      <a:r>
                        <a:rPr sz="1000" b="0" i="0" dirty="0" lang="es-SV">
                          <a:solidFill>
                            <a:srgbClr val="1B2333"/>
                          </a:solidFill>
                          <a:latin typeface="Arial"/>
                        </a:rPr>
                        <a:t> </a:t>
                      </a:r>
                      <a:r>
                        <a:rPr sz="1000" b="0" i="0" dirty="0" lang="es-SV">
                          <a:solidFill>
                            <a:srgbClr val="1B2333"/>
                          </a:solidFill>
                          <a:latin typeface="Arial"/>
                        </a:rPr>
                        <a:t>alguno</a:t>
                      </a:r>
                      <a:r>
                        <a:rPr sz="1000" b="0" i="0" dirty="0" lang="es-SV">
                          <a:solidFill>
                            <a:srgbClr val="1B2333"/>
                          </a:solidFill>
                          <a:latin typeface="Arial"/>
                        </a:rPr>
                        <a:t> de </a:t>
                      </a:r>
                      <a:r>
                        <a:rPr sz="1000" b="0" i="0" dirty="0" lang="es-SV">
                          <a:solidFill>
                            <a:srgbClr val="1B2333"/>
                          </a:solidFill>
                          <a:latin typeface="Arial"/>
                        </a:rPr>
                        <a:t>los</a:t>
                      </a:r>
                      <a:r>
                        <a:rPr sz="1000" b="0" i="0" dirty="0" lang="es-SV">
                          <a:solidFill>
                            <a:srgbClr val="1B2333"/>
                          </a:solidFill>
                          <a:latin typeface="Arial"/>
                        </a:rPr>
                        <a:t> </a:t>
                      </a:r>
                      <a:r>
                        <a:rPr sz="1000" b="0" i="0" dirty="0" lang="es-SV">
                          <a:solidFill>
                            <a:srgbClr val="1B2333"/>
                          </a:solidFill>
                          <a:latin typeface="Arial"/>
                        </a:rPr>
                        <a:t>siguientes</a:t>
                      </a:r>
                      <a:r>
                        <a:rPr sz="1000" b="0" i="0" dirty="0" lang="es-SV">
                          <a:solidFill>
                            <a:srgbClr val="1B2333"/>
                          </a:solidFill>
                          <a:latin typeface="Arial"/>
                        </a:rPr>
                        <a:t> </a:t>
                      </a:r>
                      <a:r>
                        <a:rPr sz="1000" b="0" i="0" dirty="0" lang="es-SV">
                          <a:solidFill>
                            <a:srgbClr val="1B2333"/>
                          </a:solidFill>
                          <a:latin typeface="Arial"/>
                        </a:rPr>
                        <a:t>criterios</a:t>
                      </a:r>
                      <a:r>
                        <a:rPr sz="1000" b="0" i="0" dirty="0" lang="es-SV">
                          <a:solidFill>
                            <a:srgbClr val="1B2333"/>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Un Servicio </a:t>
                      </a:r>
                      <a:r>
                        <a:rPr sz="1000" b="1" i="0" u="sng" dirty="0" lang="es-SV">
                          <a:solidFill>
                            <a:srgbClr val="00376E"/>
                          </a:solidFill>
                          <a:latin typeface="Arial"/>
                        </a:rPr>
                        <a:t>Crítico</a:t>
                      </a:r>
                      <a:r>
                        <a:rPr sz="1000" b="0" i="0" dirty="0" lang="es-SV">
                          <a:solidFill>
                            <a:srgbClr val="1B2333"/>
                          </a:solidFill>
                          <a:latin typeface="Arial"/>
                        </a:rPr>
                        <a:t> </a:t>
                      </a:r>
                      <a:r>
                        <a:rPr sz="1000" b="0" i="0" dirty="0" lang="es-SV">
                          <a:solidFill>
                            <a:srgbClr val="1B2333"/>
                          </a:solidFill>
                          <a:latin typeface="Arial"/>
                        </a:rPr>
                        <a:t>Tercerizado</a:t>
                      </a:r>
                      <a:r>
                        <a:rPr sz="1000" b="0" i="0" dirty="0" lang="es-SV">
                          <a:solidFill>
                            <a:srgbClr val="1B2333"/>
                          </a:solidFill>
                          <a:latin typeface="Arial"/>
                        </a:rPr>
                        <a:t>… </a:t>
                      </a:r>
                      <a:r>
                        <a:rPr sz="1000" b="0" i="0" dirty="0" lang="es-SV">
                          <a:solidFill>
                            <a:srgbClr val="1B2333"/>
                          </a:solidFill>
                          <a:latin typeface="Arial"/>
                        </a:rPr>
                        <a:t>puede</a:t>
                      </a:r>
                      <a:r>
                        <a:rPr sz="1000" b="0" i="0" dirty="0" lang="es-SV">
                          <a:solidFill>
                            <a:srgbClr val="1B2333"/>
                          </a:solidFill>
                          <a:latin typeface="Arial"/>
                        </a:rPr>
                        <a:t> </a:t>
                      </a:r>
                      <a:r>
                        <a:rPr sz="1000" b="0" i="0" dirty="0" lang="es-SV">
                          <a:solidFill>
                            <a:srgbClr val="1B2333"/>
                          </a:solidFill>
                          <a:latin typeface="Arial"/>
                        </a:rPr>
                        <a:t>identificarse</a:t>
                      </a:r>
                      <a:r>
                        <a:rPr sz="1000" b="0" i="0" dirty="0" lang="es-SV">
                          <a:solidFill>
                            <a:srgbClr val="1B2333"/>
                          </a:solidFill>
                          <a:latin typeface="Arial"/>
                        </a:rPr>
                        <a:t>… </a:t>
                      </a:r>
                      <a:r>
                        <a:rPr sz="1000" b="0" i="0" dirty="0" lang="es-SV">
                          <a:solidFill>
                            <a:srgbClr val="1B2333"/>
                          </a:solidFill>
                          <a:latin typeface="Arial"/>
                        </a:rPr>
                        <a:t>como</a:t>
                      </a:r>
                      <a:r>
                        <a:rPr sz="1000" b="0" i="0" dirty="0" lang="es-SV">
                          <a:solidFill>
                            <a:srgbClr val="1B2333"/>
                          </a:solidFill>
                          <a:latin typeface="Arial"/>
                        </a:rPr>
                        <a:t> </a:t>
                      </a:r>
                      <a:r>
                        <a:rPr sz="1000" b="0" i="0" dirty="0" lang="es-SV">
                          <a:solidFill>
                            <a:srgbClr val="1B2333"/>
                          </a:solidFill>
                          <a:latin typeface="Arial"/>
                        </a:rPr>
                        <a:t>los</a:t>
                      </a:r>
                      <a:r>
                        <a:rPr sz="1000" b="0" i="0" dirty="0" lang="es-SV">
                          <a:solidFill>
                            <a:srgbClr val="1B2333"/>
                          </a:solidFill>
                          <a:latin typeface="Arial"/>
                        </a:rPr>
                        <a:t> </a:t>
                      </a:r>
                      <a:r>
                        <a:rPr sz="1000" b="0" i="0" dirty="0" lang="es-SV">
                          <a:solidFill>
                            <a:srgbClr val="1B2333"/>
                          </a:solidFill>
                          <a:latin typeface="Arial"/>
                        </a:rPr>
                        <a:t>servicios</a:t>
                      </a:r>
                      <a:r>
                        <a:rPr sz="1000" b="0" i="0" dirty="0" lang="es-SV">
                          <a:solidFill>
                            <a:srgbClr val="1B2333"/>
                          </a:solidFill>
                          <a:latin typeface="Arial"/>
                        </a:rPr>
                        <a:t> </a:t>
                      </a:r>
                      <a:r>
                        <a:rPr sz="1000" b="0" i="0" dirty="0" lang="es-SV">
                          <a:solidFill>
                            <a:srgbClr val="1B2333"/>
                          </a:solidFill>
                          <a:latin typeface="Arial"/>
                        </a:rPr>
                        <a:t>que</a:t>
                      </a:r>
                      <a:r>
                        <a:rPr sz="1000" b="0" i="0" dirty="0" lang="es-SV">
                          <a:solidFill>
                            <a:srgbClr val="1B2333"/>
                          </a:solidFill>
                          <a:latin typeface="Arial"/>
                        </a:rPr>
                        <a:t> </a:t>
                      </a:r>
                      <a:r>
                        <a:rPr sz="1000" b="0" i="0" dirty="0" lang="es-SV">
                          <a:solidFill>
                            <a:srgbClr val="1B2333"/>
                          </a:solidFill>
                          <a:latin typeface="Arial"/>
                        </a:rPr>
                        <a:t>detengan</a:t>
                      </a:r>
                      <a:r>
                        <a:rPr sz="1000" b="0" i="0" dirty="0" lang="es-SV">
                          <a:solidFill>
                            <a:srgbClr val="1B2333"/>
                          </a:solidFill>
                          <a:latin typeface="Arial"/>
                        </a:rPr>
                        <a:t> la </a:t>
                      </a:r>
                      <a:r>
                        <a:rPr sz="1000" b="0" i="0" dirty="0" lang="es-SV">
                          <a:solidFill>
                            <a:srgbClr val="1B2333"/>
                          </a:solidFill>
                          <a:latin typeface="Arial"/>
                        </a:rPr>
                        <a:t>continuidad</a:t>
                      </a:r>
                      <a:r>
                        <a:rPr sz="1000" b="0" i="0" dirty="0" lang="es-SV">
                          <a:solidFill>
                            <a:srgbClr val="1B2333"/>
                          </a:solidFill>
                          <a:latin typeface="Arial"/>
                        </a:rPr>
                        <a:t> del </a:t>
                      </a:r>
                      <a:r>
                        <a:rPr sz="1000" b="0" i="0" dirty="0" lang="es-SV">
                          <a:solidFill>
                            <a:srgbClr val="1B2333"/>
                          </a:solidFill>
                          <a:latin typeface="Arial"/>
                        </a:rPr>
                        <a:t>negocio</a:t>
                      </a:r>
                      <a:r>
                        <a:rPr sz="1000" b="1" i="0" u="sng" dirty="0" lang="es-SV">
                          <a:solidFill>
                            <a:srgbClr val="00376E"/>
                          </a:solidFill>
                          <a:latin typeface="Arial"/>
                        </a:rPr>
                        <a:t>, </a:t>
                      </a:r>
                      <a:r>
                        <a:rPr sz="1000" b="1" i="0" u="sng" dirty="0" lang="es-SV">
                          <a:solidFill>
                            <a:srgbClr val="00376E"/>
                          </a:solidFill>
                          <a:latin typeface="Arial"/>
                        </a:rPr>
                        <a:t>afecten</a:t>
                      </a:r>
                      <a:r>
                        <a:rPr sz="1000" b="1" i="0" u="sng" dirty="0" lang="es-SV">
                          <a:solidFill>
                            <a:srgbClr val="00376E"/>
                          </a:solidFill>
                          <a:latin typeface="Arial"/>
                        </a:rPr>
                        <a:t> la </a:t>
                      </a:r>
                      <a:r>
                        <a:rPr sz="1000" b="1" i="0" u="sng" dirty="0" lang="es-SV">
                          <a:solidFill>
                            <a:srgbClr val="00376E"/>
                          </a:solidFill>
                          <a:latin typeface="Arial"/>
                        </a:rPr>
                        <a:t>posición</a:t>
                      </a:r>
                      <a:r>
                        <a:rPr sz="1000" b="1" i="0" u="sng" dirty="0" lang="es-SV">
                          <a:solidFill>
                            <a:srgbClr val="00376E"/>
                          </a:solidFill>
                          <a:latin typeface="Arial"/>
                        </a:rPr>
                        <a:t> de </a:t>
                      </a:r>
                      <a:r>
                        <a:rPr sz="1000" b="1" i="0" u="sng" dirty="0" lang="es-SV">
                          <a:solidFill>
                            <a:srgbClr val="00376E"/>
                          </a:solidFill>
                          <a:latin typeface="Arial"/>
                        </a:rPr>
                        <a:t>liquidez</a:t>
                      </a:r>
                      <a:r>
                        <a:rPr sz="1000" b="1" i="0" u="sng" dirty="0" lang="es-SV">
                          <a:solidFill>
                            <a:srgbClr val="00376E"/>
                          </a:solidFill>
                          <a:latin typeface="Arial"/>
                        </a:rPr>
                        <a:t> o </a:t>
                      </a:r>
                      <a:r>
                        <a:rPr sz="1000" b="1" i="0" u="sng" dirty="0" lang="es-SV">
                          <a:solidFill>
                            <a:srgbClr val="00376E"/>
                          </a:solidFill>
                          <a:latin typeface="Arial"/>
                        </a:rPr>
                        <a:t>comprometan</a:t>
                      </a:r>
                      <a:r>
                        <a:rPr sz="1000" b="1" i="0" u="sng" dirty="0" lang="es-SV">
                          <a:solidFill>
                            <a:srgbClr val="00376E"/>
                          </a:solidFill>
                          <a:latin typeface="Arial"/>
                        </a:rPr>
                        <a:t> el </a:t>
                      </a:r>
                      <a:r>
                        <a:rPr sz="1000" b="1" i="0" u="sng" dirty="0" lang="es-SV">
                          <a:solidFill>
                            <a:srgbClr val="00376E"/>
                          </a:solidFill>
                          <a:latin typeface="Arial"/>
                        </a:rPr>
                        <a:t>cumplimiento</a:t>
                      </a:r>
                      <a:r>
                        <a:rPr sz="1000" b="1" i="0" u="sng" dirty="0" lang="es-SV">
                          <a:solidFill>
                            <a:srgbClr val="00376E"/>
                          </a:solidFill>
                          <a:latin typeface="Arial"/>
                        </a:rPr>
                        <a:t> </a:t>
                      </a:r>
                      <a:r>
                        <a:rPr sz="1000" b="1" i="0" u="sng" dirty="0" lang="es-SV">
                          <a:solidFill>
                            <a:srgbClr val="00376E"/>
                          </a:solidFill>
                          <a:latin typeface="Arial"/>
                        </a:rPr>
                        <a:t>regulatorio</a:t>
                      </a:r>
                      <a:r>
                        <a:rPr sz="1000" b="1" i="0" u="sng" dirty="0" lang="es-SV">
                          <a:solidFill>
                            <a:srgbClr val="00376E"/>
                          </a:solidFill>
                          <a:latin typeface="Arial"/>
                        </a:rPr>
                        <a:t>,</a:t>
                      </a:r>
                      <a:r>
                        <a:rPr sz="1000" b="0" i="0" dirty="0" lang="es-SV">
                          <a:solidFill>
                            <a:srgbClr val="1B2333"/>
                          </a:solidFill>
                          <a:latin typeface="Arial"/>
                        </a:rPr>
                        <a:t> y </a:t>
                      </a:r>
                      <a:r>
                        <a:rPr sz="1000" b="0" i="0" dirty="0" lang="es-SV">
                          <a:solidFill>
                            <a:srgbClr val="1B2333"/>
                          </a:solidFill>
                          <a:latin typeface="Arial"/>
                        </a:rPr>
                        <a:t>cumplan</a:t>
                      </a:r>
                      <a:r>
                        <a:rPr sz="1000" b="0" i="0" dirty="0" lang="es-SV">
                          <a:solidFill>
                            <a:srgbClr val="1B2333"/>
                          </a:solidFill>
                          <a:latin typeface="Arial"/>
                        </a:rPr>
                        <a:t> </a:t>
                      </a:r>
                      <a:r>
                        <a:rPr sz="1000" b="0" i="0" dirty="0" lang="es-SV">
                          <a:solidFill>
                            <a:srgbClr val="1B2333"/>
                          </a:solidFill>
                          <a:latin typeface="Arial"/>
                        </a:rPr>
                        <a:t>alguno</a:t>
                      </a:r>
                      <a:r>
                        <a:rPr sz="1000" b="0" i="0" dirty="0" lang="es-SV">
                          <a:solidFill>
                            <a:srgbClr val="1B2333"/>
                          </a:solidFill>
                          <a:latin typeface="Arial"/>
                        </a:rPr>
                        <a:t> de </a:t>
                      </a:r>
                      <a:r>
                        <a:rPr sz="1000" b="0" i="0" dirty="0" lang="es-SV">
                          <a:solidFill>
                            <a:srgbClr val="1B2333"/>
                          </a:solidFill>
                          <a:latin typeface="Arial"/>
                        </a:rPr>
                        <a:t>los</a:t>
                      </a:r>
                      <a:r>
                        <a:rPr sz="1000" b="0" i="0" dirty="0" lang="es-SV">
                          <a:solidFill>
                            <a:srgbClr val="1B2333"/>
                          </a:solidFill>
                          <a:latin typeface="Arial"/>
                        </a:rPr>
                        <a:t> </a:t>
                      </a:r>
                      <a:r>
                        <a:rPr sz="1000" b="0" i="0" dirty="0" lang="es-SV">
                          <a:solidFill>
                            <a:srgbClr val="1B2333"/>
                          </a:solidFill>
                          <a:latin typeface="Arial"/>
                        </a:rPr>
                        <a:t>siguientes</a:t>
                      </a:r>
                      <a:r>
                        <a:rPr sz="1000" b="0" i="0" dirty="0" lang="es-SV">
                          <a:solidFill>
                            <a:srgbClr val="1B2333"/>
                          </a:solidFill>
                          <a:latin typeface="Arial"/>
                        </a:rPr>
                        <a:t> </a:t>
                      </a:r>
                      <a:r>
                        <a:rPr sz="1000" b="0" i="0" dirty="0" lang="es-SV">
                          <a:solidFill>
                            <a:srgbClr val="1B2333"/>
                          </a:solidFill>
                          <a:latin typeface="Arial"/>
                        </a:rPr>
                        <a:t>criterios</a:t>
                      </a:r>
                      <a:r>
                        <a:rPr sz="1000" b="0" i="0" dirty="0" lang="es-SV">
                          <a:solidFill>
                            <a:srgbClr val="1B2333"/>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Amplía</a:t>
                      </a:r>
                      <a:r>
                        <a:rPr sz="1000" b="0" i="0" dirty="0" lang="es-SV">
                          <a:solidFill>
                            <a:srgbClr val="1B2333"/>
                          </a:solidFill>
                          <a:latin typeface="Arial"/>
                        </a:rPr>
                        <a:t> el </a:t>
                      </a:r>
                      <a:r>
                        <a:rPr sz="1000" b="0" i="0" dirty="0" lang="es-SV">
                          <a:solidFill>
                            <a:srgbClr val="1B2333"/>
                          </a:solidFill>
                          <a:latin typeface="Arial"/>
                        </a:rPr>
                        <a:t>concepto</a:t>
                      </a:r>
                      <a:r>
                        <a:rPr sz="1000" b="0" i="0" dirty="0" lang="es-SV">
                          <a:solidFill>
                            <a:srgbClr val="1B2333"/>
                          </a:solidFill>
                          <a:latin typeface="Arial"/>
                        </a:rPr>
                        <a:t> de </a:t>
                      </a:r>
                      <a:r>
                        <a:rPr sz="1000" b="0" i="0" dirty="0" lang="es-SV">
                          <a:solidFill>
                            <a:srgbClr val="1B2333"/>
                          </a:solidFill>
                          <a:latin typeface="Arial"/>
                        </a:rPr>
                        <a:t>criticidad</a:t>
                      </a:r>
                      <a:r>
                        <a:rPr sz="1000" b="0" i="0" dirty="0" lang="es-SV">
                          <a:solidFill>
                            <a:srgbClr val="1B2333"/>
                          </a:solidFill>
                          <a:latin typeface="Arial"/>
                        </a:rPr>
                        <a:t>.</a:t>
                      </a:r>
                    </a:p>
                    <a:p>
                      <a:pPr algn="just"/>
                      <a:r>
                        <a:rPr sz="1000" b="1" i="0" dirty="0" lang="es-SV">
                          <a:solidFill>
                            <a:srgbClr val="00376E"/>
                          </a:solidFill>
                          <a:latin typeface="Arial"/>
                        </a:rPr>
                        <a:t>NRP-42, art. 4 · NRP-05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74320">
                <a:tc>
                  <a:txBody>
                    <a:bodyPr/>
                    <a:lstStyle/>
                    <a:p>
                      <a:pPr algn="just"/>
                      <a:r>
                        <a:rPr sz="1000" b="1" i="0" lang="es-SV">
                          <a:solidFill>
                            <a:srgbClr val="00376E"/>
                          </a:solidFill>
                          <a:latin typeface="Arial"/>
                        </a:rPr>
                        <a:t>34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Las demoras o incidentes del proveedor del servicio interrumpen totalmente la operatividad de los procesos críticos.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Las demoras o incidentes del proveedor interrumpen </a:t>
                      </a:r>
                      <a:r>
                        <a:rPr sz="1000" b="1" i="0" u="sng" lang="es-SV">
                          <a:solidFill>
                            <a:srgbClr val="00376E"/>
                          </a:solidFill>
                          <a:latin typeface="Arial"/>
                        </a:rPr>
                        <a:t>total o parcialmente</a:t>
                      </a:r>
                      <a:r>
                        <a:rPr sz="1000" b="0" i="0" lang="es-SV">
                          <a:solidFill>
                            <a:srgbClr val="1B2333"/>
                          </a:solidFill>
                          <a:latin typeface="Arial"/>
                        </a:rPr>
                        <a:t> la operatividad de los procesos críticos</a:t>
                      </a:r>
                      <a:r>
                        <a:rPr sz="1000" b="1" i="0" u="sng" lang="es-SV">
                          <a:solidFill>
                            <a:srgbClr val="00376E"/>
                          </a:solidFill>
                          <a:latin typeface="Arial"/>
                        </a:rPr>
                        <a:t>, por encima del Máximo Período Tolerable de Disrupción (MTPD) definido en el BIA.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Criterio</a:t>
                      </a:r>
                      <a:r>
                        <a:rPr sz="1000" b="0" i="0" dirty="0" lang="es-SV">
                          <a:solidFill>
                            <a:srgbClr val="1B2333"/>
                          </a:solidFill>
                          <a:latin typeface="Arial"/>
                        </a:rPr>
                        <a:t> </a:t>
                      </a:r>
                      <a:r>
                        <a:rPr sz="1000" b="0" i="0" dirty="0" lang="es-SV">
                          <a:solidFill>
                            <a:srgbClr val="1B2333"/>
                          </a:solidFill>
                          <a:latin typeface="Arial"/>
                        </a:rPr>
                        <a:t>medible</a:t>
                      </a:r>
                      <a:r>
                        <a:rPr sz="1000" b="0" i="0" dirty="0" lang="es-SV">
                          <a:solidFill>
                            <a:srgbClr val="1B2333"/>
                          </a:solidFill>
                          <a:latin typeface="Arial"/>
                        </a:rPr>
                        <a:t> con el BIA.</a:t>
                      </a:r>
                    </a:p>
                    <a:p>
                      <a:pPr algn="just"/>
                      <a:r>
                        <a:rPr sz="1000" b="1" i="0" dirty="0" lang="es-SV">
                          <a:solidFill>
                            <a:srgbClr val="00376E"/>
                          </a:solidFill>
                          <a:latin typeface="Arial"/>
                        </a:rPr>
                        <a:t>NRP-24, arts. 3, lit. n y 13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74320">
                <a:tc>
                  <a:txBody>
                    <a:bodyPr/>
                    <a:lstStyle/>
                    <a:p>
                      <a:pPr algn="just"/>
                      <a:r>
                        <a:rPr sz="1000" b="1" i="0" lang="es-SV">
                          <a:solidFill>
                            <a:srgbClr val="00376E"/>
                          </a:solidFill>
                          <a:latin typeface="Arial"/>
                        </a:rPr>
                        <a:t>35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Puede generar pérdidas significativas.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Puede generar pérdidas significativas</a:t>
                      </a:r>
                      <a:r>
                        <a:rPr sz="1000" b="1" i="0" u="sng" lang="es-SV">
                          <a:solidFill>
                            <a:srgbClr val="00376E"/>
                          </a:solidFill>
                          <a:latin typeface="Arial"/>
                        </a:rPr>
                        <a:t>, conforme a los umbrales de severidad de la metodología de riesgo operacional.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Se vincula a la </a:t>
                      </a:r>
                      <a:r>
                        <a:rPr sz="1000" b="0" i="0" dirty="0" lang="es-SV">
                          <a:solidFill>
                            <a:srgbClr val="1B2333"/>
                          </a:solidFill>
                          <a:latin typeface="Arial"/>
                        </a:rPr>
                        <a:t>metodología</a:t>
                      </a:r>
                      <a:r>
                        <a:rPr sz="1000" b="0" i="0" dirty="0" lang="es-SV">
                          <a:solidFill>
                            <a:srgbClr val="1B2333"/>
                          </a:solidFill>
                          <a:latin typeface="Arial"/>
                        </a:rPr>
                        <a:t>.</a:t>
                      </a:r>
                    </a:p>
                    <a:p>
                      <a:pPr algn="just"/>
                      <a:r>
                        <a:rPr sz="1000" b="1" i="0" dirty="0" lang="es-SV">
                          <a:solidFill>
                            <a:srgbClr val="00376E"/>
                          </a:solidFill>
                          <a:latin typeface="Arial"/>
                        </a:rPr>
                        <a:t>NRP-42, art. 16, lit. b</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74320">
                <a:tc>
                  <a:txBody>
                    <a:bodyPr/>
                    <a:lstStyle/>
                    <a:p>
                      <a:pPr algn="just"/>
                      <a:r>
                        <a:rPr sz="1000" b="1" i="0" lang="es-SV">
                          <a:solidFill>
                            <a:srgbClr val="00376E"/>
                          </a:solidFill>
                          <a:latin typeface="Arial"/>
                        </a:rPr>
                        <a:t>36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El cambio de proveedor del servicio implica grandes costos para la Cooperativa o no existe otro proveedor.</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El cambio de proveedor implica grandes costos para la Cooperativa o no existe otro proveedor</a:t>
                      </a:r>
                      <a:r>
                        <a:rPr sz="1000" b="1" i="0" u="sng" lang="es-SV">
                          <a:solidFill>
                            <a:srgbClr val="00376E"/>
                          </a:solidFill>
                          <a:latin typeface="Arial"/>
                        </a:rPr>
                        <a:t>, o el tiempo de sustitución es superior al RTO del proceso.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Criterio</a:t>
                      </a:r>
                      <a:r>
                        <a:rPr sz="1000" b="0" i="0" dirty="0" lang="es-SV">
                          <a:solidFill>
                            <a:srgbClr val="1B2333"/>
                          </a:solidFill>
                          <a:latin typeface="Arial"/>
                        </a:rPr>
                        <a:t> </a:t>
                      </a:r>
                      <a:r>
                        <a:rPr sz="1000" b="0" i="0" dirty="0" lang="es-SV">
                          <a:solidFill>
                            <a:srgbClr val="1B2333"/>
                          </a:solidFill>
                          <a:latin typeface="Arial"/>
                        </a:rPr>
                        <a:t>medible</a:t>
                      </a:r>
                      <a:r>
                        <a:rPr sz="1000" b="0" i="0" dirty="0" lang="es-SV">
                          <a:solidFill>
                            <a:srgbClr val="1B2333"/>
                          </a:solidFill>
                          <a:latin typeface="Arial"/>
                        </a:rPr>
                        <a:t> con el RTO.</a:t>
                      </a:r>
                    </a:p>
                    <a:p>
                      <a:pPr algn="just"/>
                      <a:r>
                        <a:rPr sz="1000" b="1" i="0" dirty="0" lang="es-SV">
                          <a:solidFill>
                            <a:srgbClr val="00376E"/>
                          </a:solidFill>
                          <a:latin typeface="Arial"/>
                        </a:rPr>
                        <a:t>NRP-24, art. 3, lit. z</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bl>
          </a:graphicData>
        </a:graphic>
      </p:graphicFrame>
      <p:sp>
        <p:nvSpPr>
          <p:cNvPr id="17" name="TextBox 16"/>
          <p:cNvSpPr txBox="1"/>
          <p:nvPr/>
        </p:nvSpPr>
        <p:spPr>
          <a:xfrm>
            <a:off x="548640" y="6355080"/>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Texto subrayado en azul</a:t>
            </a:r>
            <a:r>
              <a:rPr sz="1000" b="0" i="0" lang="es-SV">
                <a:solidFill>
                  <a:srgbClr val="5B6578"/>
                </a:solidFill>
                <a:latin typeface="Arial"/>
              </a:rPr>
              <a:t> = nuevo o modificado respecto a la versión vigente</a:t>
            </a:r>
          </a:p>
        </p:txBody>
      </p:sp>
      <p:graphicFrame>
        <p:nvGraphicFramePr>
          <p:cNvPr id="3" name="Table 15">
            <a:extLst>
              <a:ext uri="{FF2B5EF4-FFF2-40B4-BE49-F238E27FC236}">
                <a16:creationId xmlns:a16="http://schemas.microsoft.com/office/drawing/2014/main" id="{0C231DC0-2F88-7456-E6DE-DBDBA989BCB0}"/>
              </a:ext>
            </a:extLst>
          </p:cNvPr>
          <p:cNvGraphicFramePr>
            <a:graphicFrameLocks noGrp="1"/>
          </p:cNvGraphicFramePr>
          <p:nvPr>
            <p:extLst>
              <p:ext uri="{D42A27DB-BD31-4B8C-83A1-F6EECF244321}">
                <p14:modId xmlns:p14="http://schemas.microsoft.com/office/powerpoint/2010/main" val="1186330434"/>
              </p:ext>
            </p:extLst>
          </p:nvPr>
        </p:nvGraphicFramePr>
        <p:xfrm>
          <a:off x="548640" y="3733038"/>
          <a:ext cx="11091672" cy="2712720"/>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274320">
                <a:tc>
                  <a:txBody>
                    <a:bodyPr/>
                    <a:lstStyle/>
                    <a:p>
                      <a:pPr algn="just"/>
                      <a:r>
                        <a:rPr sz="1000" b="1" i="0" dirty="0" lang="es-SV">
                          <a:solidFill>
                            <a:srgbClr val="00376E"/>
                          </a:solidFill>
                          <a:latin typeface="Arial"/>
                        </a:rPr>
                        <a:t>37</a:t>
                      </a:r>
                    </a:p>
                  </a:txBody>
                  <a:tcPr marL="64008" marR="64008">
                    <a:lnL w="9525" cap="flat" cmpd="sng" algn="ctr">
                      <a:solidFill>
                        <a:srgbClr val="C9D1DE"/>
                      </a:solidFill>
                      <a:prstDash val="solid"/>
                    </a:lnL>
                    <a:lnR w="9525" cap="flat" cmpd="sng" algn="ctr">
                      <a:solidFill>
                        <a:srgbClr val="C9D1DE"/>
                      </a:solidFill>
                      <a:prstDash val="solid"/>
                      <a:round/>
                      <a:headEnd type="none" w="med" len="med"/>
                      <a:tailEnd type="none" w="med" len="me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dirty="0" lang="es-SV">
                          <a:solidFill>
                            <a:srgbClr val="5B6578"/>
                          </a:solidFill>
                          <a:latin typeface="Arial"/>
                        </a:rPr>
                        <a:t>No </a:t>
                      </a:r>
                      <a:r>
                        <a:rPr sz="1000" b="0" i="1" dirty="0" lang="es-SV">
                          <a:solidFill>
                            <a:srgbClr val="5B6578"/>
                          </a:solidFill>
                          <a:latin typeface="Arial"/>
                        </a:rPr>
                        <a:t>existía</a:t>
                      </a:r>
                      <a:r>
                        <a:rPr sz="1000" b="0" i="1" dirty="0" lang="es-SV">
                          <a:solidFill>
                            <a:srgbClr val="5B6578"/>
                          </a:solidFill>
                          <a:latin typeface="Arial"/>
                        </a:rPr>
                        <a:t>.</a:t>
                      </a:r>
                    </a:p>
                  </a:txBody>
                  <a:tcPr marL="64008" marR="64008">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dirty="0" lang="es-SV">
                          <a:solidFill>
                            <a:srgbClr val="00376E"/>
                          </a:solidFill>
                          <a:latin typeface="Arial"/>
                        </a:rPr>
                        <a:t>Tecnología</a:t>
                      </a:r>
                      <a:r>
                        <a:rPr sz="1000" b="1" i="0" u="sng" dirty="0" lang="es-SV">
                          <a:solidFill>
                            <a:srgbClr val="00376E"/>
                          </a:solidFill>
                          <a:latin typeface="Arial"/>
                        </a:rPr>
                        <a:t> de </a:t>
                      </a:r>
                      <a:r>
                        <a:rPr sz="1000" b="1" i="0" u="sng" dirty="0" lang="es-SV">
                          <a:solidFill>
                            <a:srgbClr val="00376E"/>
                          </a:solidFill>
                          <a:latin typeface="Arial"/>
                        </a:rPr>
                        <a:t>información</a:t>
                      </a:r>
                      <a:r>
                        <a:rPr sz="1000" b="1" i="0" u="sng" dirty="0" lang="es-SV">
                          <a:solidFill>
                            <a:srgbClr val="00376E"/>
                          </a:solidFill>
                          <a:latin typeface="Arial"/>
                        </a:rPr>
                        <a:t>: el </a:t>
                      </a:r>
                      <a:r>
                        <a:rPr sz="1000" b="1" i="0" u="sng" dirty="0" lang="es-SV">
                          <a:solidFill>
                            <a:srgbClr val="00376E"/>
                          </a:solidFill>
                          <a:latin typeface="Arial"/>
                        </a:rPr>
                        <a:t>proveedor</a:t>
                      </a:r>
                      <a:r>
                        <a:rPr sz="1000" b="1" i="0" u="sng" dirty="0" lang="es-SV">
                          <a:solidFill>
                            <a:srgbClr val="00376E"/>
                          </a:solidFill>
                          <a:latin typeface="Arial"/>
                        </a:rPr>
                        <a:t> </a:t>
                      </a:r>
                      <a:r>
                        <a:rPr sz="1000" b="1" i="0" u="sng" dirty="0" lang="es-SV">
                          <a:solidFill>
                            <a:srgbClr val="00376E"/>
                          </a:solidFill>
                          <a:latin typeface="Arial"/>
                        </a:rPr>
                        <a:t>procesa</a:t>
                      </a:r>
                      <a:r>
                        <a:rPr sz="1000" b="1" i="0" u="sng" dirty="0" lang="es-SV">
                          <a:solidFill>
                            <a:srgbClr val="00376E"/>
                          </a:solidFill>
                          <a:latin typeface="Arial"/>
                        </a:rPr>
                        <a:t>, </a:t>
                      </a:r>
                      <a:r>
                        <a:rPr sz="1000" b="1" i="0" u="sng" dirty="0" lang="es-SV">
                          <a:solidFill>
                            <a:srgbClr val="00376E"/>
                          </a:solidFill>
                          <a:latin typeface="Arial"/>
                        </a:rPr>
                        <a:t>almacena</a:t>
                      </a:r>
                      <a:r>
                        <a:rPr sz="1000" b="1" i="0" u="sng" dirty="0" lang="es-SV">
                          <a:solidFill>
                            <a:srgbClr val="00376E"/>
                          </a:solidFill>
                          <a:latin typeface="Arial"/>
                        </a:rPr>
                        <a:t> o </a:t>
                      </a:r>
                      <a:r>
                        <a:rPr sz="1000" b="1" i="0" u="sng" dirty="0" lang="es-SV">
                          <a:solidFill>
                            <a:srgbClr val="00376E"/>
                          </a:solidFill>
                          <a:latin typeface="Arial"/>
                        </a:rPr>
                        <a:t>transmite</a:t>
                      </a:r>
                      <a:r>
                        <a:rPr sz="1000" b="1" i="0" u="sng" dirty="0" lang="es-SV">
                          <a:solidFill>
                            <a:srgbClr val="00376E"/>
                          </a:solidFill>
                          <a:latin typeface="Arial"/>
                        </a:rPr>
                        <a:t> </a:t>
                      </a:r>
                      <a:r>
                        <a:rPr sz="1000" b="1" i="0" u="sng" dirty="0" lang="es-SV">
                          <a:solidFill>
                            <a:srgbClr val="00376E"/>
                          </a:solidFill>
                          <a:latin typeface="Arial"/>
                        </a:rPr>
                        <a:t>información</a:t>
                      </a:r>
                      <a:r>
                        <a:rPr sz="1000" b="1" i="0" u="sng" dirty="0" lang="es-SV">
                          <a:solidFill>
                            <a:srgbClr val="00376E"/>
                          </a:solidFill>
                          <a:latin typeface="Arial"/>
                        </a:rPr>
                        <a:t> </a:t>
                      </a:r>
                      <a:r>
                        <a:rPr sz="1000" b="1" i="0" u="sng" dirty="0" lang="es-SV">
                          <a:solidFill>
                            <a:srgbClr val="00376E"/>
                          </a:solidFill>
                          <a:latin typeface="Arial"/>
                        </a:rPr>
                        <a:t>confidencial</a:t>
                      </a:r>
                      <a:r>
                        <a:rPr sz="1000" b="1" i="0" u="sng" dirty="0" lang="es-SV">
                          <a:solidFill>
                            <a:srgbClr val="00376E"/>
                          </a:solidFill>
                          <a:latin typeface="Arial"/>
                        </a:rPr>
                        <a:t> de </a:t>
                      </a:r>
                      <a:r>
                        <a:rPr sz="1000" b="1" i="0" u="sng" dirty="0" lang="es-SV">
                          <a:solidFill>
                            <a:srgbClr val="00376E"/>
                          </a:solidFill>
                          <a:latin typeface="Arial"/>
                        </a:rPr>
                        <a:t>asociados</a:t>
                      </a:r>
                      <a:r>
                        <a:rPr sz="1000" b="1" i="0" u="sng" dirty="0" lang="es-SV">
                          <a:solidFill>
                            <a:srgbClr val="00376E"/>
                          </a:solidFill>
                          <a:latin typeface="Arial"/>
                        </a:rPr>
                        <a:t>, o </a:t>
                      </a:r>
                      <a:r>
                        <a:rPr sz="1000" b="1" i="0" u="sng" dirty="0" lang="es-SV">
                          <a:solidFill>
                            <a:srgbClr val="00376E"/>
                          </a:solidFill>
                          <a:latin typeface="Arial"/>
                        </a:rPr>
                        <a:t>tiene</a:t>
                      </a:r>
                      <a:r>
                        <a:rPr sz="1000" b="1" i="0" u="sng" dirty="0" lang="es-SV">
                          <a:solidFill>
                            <a:srgbClr val="00376E"/>
                          </a:solidFill>
                          <a:latin typeface="Arial"/>
                        </a:rPr>
                        <a:t> </a:t>
                      </a:r>
                      <a:r>
                        <a:rPr sz="1000" b="1" i="0" u="sng" dirty="0" lang="es-SV">
                          <a:solidFill>
                            <a:srgbClr val="00376E"/>
                          </a:solidFill>
                          <a:latin typeface="Arial"/>
                        </a:rPr>
                        <a:t>acceso</a:t>
                      </a:r>
                      <a:r>
                        <a:rPr sz="1000" b="1" i="0" u="sng" dirty="0" lang="es-SV">
                          <a:solidFill>
                            <a:srgbClr val="00376E"/>
                          </a:solidFill>
                          <a:latin typeface="Arial"/>
                        </a:rPr>
                        <a:t> a </a:t>
                      </a:r>
                      <a:r>
                        <a:rPr sz="1000" b="1" i="0" u="sng" dirty="0" lang="es-SV">
                          <a:solidFill>
                            <a:srgbClr val="00376E"/>
                          </a:solidFill>
                          <a:latin typeface="Arial"/>
                        </a:rPr>
                        <a:t>los</a:t>
                      </a:r>
                      <a:r>
                        <a:rPr sz="1000" b="1" i="0" u="sng" dirty="0" lang="es-SV">
                          <a:solidFill>
                            <a:srgbClr val="00376E"/>
                          </a:solidFill>
                          <a:latin typeface="Arial"/>
                        </a:rPr>
                        <a:t> </a:t>
                      </a:r>
                      <a:r>
                        <a:rPr sz="1000" b="1" i="0" u="sng" dirty="0" lang="es-SV">
                          <a:solidFill>
                            <a:srgbClr val="00376E"/>
                          </a:solidFill>
                          <a:latin typeface="Arial"/>
                        </a:rPr>
                        <a:t>sistemas</a:t>
                      </a:r>
                      <a:r>
                        <a:rPr sz="1000" b="1" i="0" u="sng" dirty="0" lang="es-SV">
                          <a:solidFill>
                            <a:srgbClr val="00376E"/>
                          </a:solidFill>
                          <a:latin typeface="Arial"/>
                        </a:rPr>
                        <a:t> </a:t>
                      </a:r>
                      <a:r>
                        <a:rPr sz="1000" b="1" i="0" u="sng" dirty="0" lang="es-SV">
                          <a:solidFill>
                            <a:srgbClr val="00376E"/>
                          </a:solidFill>
                          <a:latin typeface="Arial"/>
                        </a:rPr>
                        <a:t>principales</a:t>
                      </a:r>
                      <a:r>
                        <a:rPr sz="1000" b="1" i="0" u="sng" dirty="0" lang="es-SV">
                          <a:solidFill>
                            <a:srgbClr val="00376E"/>
                          </a:solidFill>
                          <a:latin typeface="Arial"/>
                        </a:rPr>
                        <a:t>, bases de </a:t>
                      </a:r>
                      <a:r>
                        <a:rPr sz="1000" b="1" i="0" u="sng" dirty="0" lang="es-SV">
                          <a:solidFill>
                            <a:srgbClr val="00376E"/>
                          </a:solidFill>
                          <a:latin typeface="Arial"/>
                        </a:rPr>
                        <a:t>datos</a:t>
                      </a:r>
                      <a:r>
                        <a:rPr sz="1000" b="1" i="0" u="sng" dirty="0" lang="es-SV">
                          <a:solidFill>
                            <a:srgbClr val="00376E"/>
                          </a:solidFill>
                          <a:latin typeface="Arial"/>
                        </a:rPr>
                        <a:t> o </a:t>
                      </a:r>
                      <a:r>
                        <a:rPr sz="1000" b="1" i="0" u="sng" dirty="0" lang="es-SV">
                          <a:solidFill>
                            <a:srgbClr val="00376E"/>
                          </a:solidFill>
                          <a:latin typeface="Arial"/>
                        </a:rPr>
                        <a:t>infraestructura</a:t>
                      </a:r>
                      <a:r>
                        <a:rPr sz="1000" b="1" i="0" u="sng" dirty="0" lang="es-SV">
                          <a:solidFill>
                            <a:srgbClr val="00376E"/>
                          </a:solidFill>
                          <a:latin typeface="Arial"/>
                        </a:rPr>
                        <a:t> </a:t>
                      </a:r>
                      <a:r>
                        <a:rPr sz="1000" b="1" i="0" u="sng" dirty="0" lang="es-SV">
                          <a:solidFill>
                            <a:srgbClr val="00376E"/>
                          </a:solidFill>
                          <a:latin typeface="Arial"/>
                        </a:rPr>
                        <a:t>tecnológica</a:t>
                      </a:r>
                      <a:r>
                        <a:rPr sz="1000" b="1" i="0" u="sng" dirty="0" lang="es-SV">
                          <a:solidFill>
                            <a:srgbClr val="00376E"/>
                          </a:solidFill>
                          <a:latin typeface="Arial"/>
                        </a:rPr>
                        <a:t>.</a:t>
                      </a:r>
                    </a:p>
                    <a:p>
                      <a:pPr algn="just"/>
                      <a:r>
                        <a:rPr sz="1000" b="1" i="0" u="sng" dirty="0" lang="es-SV">
                          <a:solidFill>
                            <a:srgbClr val="00376E"/>
                          </a:solidFill>
                          <a:latin typeface="Arial"/>
                        </a:rPr>
                        <a:t>Concentración</a:t>
                      </a:r>
                      <a:r>
                        <a:rPr sz="1000" b="1" i="0" u="sng" dirty="0" lang="es-SV">
                          <a:solidFill>
                            <a:srgbClr val="00376E"/>
                          </a:solidFill>
                          <a:latin typeface="Arial"/>
                        </a:rPr>
                        <a:t> </a:t>
                      </a:r>
                      <a:r>
                        <a:rPr sz="1000" b="1" i="0" u="sng" dirty="0" lang="es-SV">
                          <a:solidFill>
                            <a:srgbClr val="00376E"/>
                          </a:solidFill>
                          <a:latin typeface="Arial"/>
                        </a:rPr>
                        <a:t>en</a:t>
                      </a:r>
                      <a:r>
                        <a:rPr sz="1000" b="1" i="0" u="sng" dirty="0" lang="es-SV">
                          <a:solidFill>
                            <a:srgbClr val="00376E"/>
                          </a:solidFill>
                          <a:latin typeface="Arial"/>
                        </a:rPr>
                        <a:t> el </a:t>
                      </a:r>
                      <a:r>
                        <a:rPr sz="1000" b="1" i="0" u="sng" dirty="0" lang="es-SV">
                          <a:solidFill>
                            <a:srgbClr val="00376E"/>
                          </a:solidFill>
                          <a:latin typeface="Arial"/>
                        </a:rPr>
                        <a:t>proveedor</a:t>
                      </a:r>
                      <a:r>
                        <a:rPr sz="1000" b="1" i="0" u="sng" dirty="0" lang="es-SV">
                          <a:solidFill>
                            <a:srgbClr val="00376E"/>
                          </a:solidFill>
                          <a:latin typeface="Arial"/>
                        </a:rPr>
                        <a:t>: </a:t>
                      </a:r>
                      <a:r>
                        <a:rPr sz="1000" b="1" i="0" u="sng" dirty="0" lang="es-SV">
                          <a:solidFill>
                            <a:srgbClr val="00376E"/>
                          </a:solidFill>
                          <a:latin typeface="Arial"/>
                        </a:rPr>
                        <a:t>presta</a:t>
                      </a:r>
                      <a:r>
                        <a:rPr sz="1000" b="1" i="0" u="sng" dirty="0" lang="es-SV">
                          <a:solidFill>
                            <a:srgbClr val="00376E"/>
                          </a:solidFill>
                          <a:latin typeface="Arial"/>
                        </a:rPr>
                        <a:t> </a:t>
                      </a:r>
                      <a:r>
                        <a:rPr sz="1000" b="1" i="0" u="sng" dirty="0" lang="es-SV">
                          <a:solidFill>
                            <a:srgbClr val="00376E"/>
                          </a:solidFill>
                          <a:latin typeface="Arial"/>
                        </a:rPr>
                        <a:t>más</a:t>
                      </a:r>
                      <a:r>
                        <a:rPr sz="1000" b="1" i="0" u="sng" dirty="0" lang="es-SV">
                          <a:solidFill>
                            <a:srgbClr val="00376E"/>
                          </a:solidFill>
                          <a:latin typeface="Arial"/>
                        </a:rPr>
                        <a:t> de un </a:t>
                      </a:r>
                      <a:r>
                        <a:rPr sz="1000" b="1" i="0" u="sng" dirty="0" lang="es-SV">
                          <a:solidFill>
                            <a:srgbClr val="00376E"/>
                          </a:solidFill>
                          <a:latin typeface="Arial"/>
                        </a:rPr>
                        <a:t>servicio</a:t>
                      </a:r>
                      <a:r>
                        <a:rPr sz="1000" b="1" i="0" u="sng" dirty="0" lang="es-SV">
                          <a:solidFill>
                            <a:srgbClr val="00376E"/>
                          </a:solidFill>
                          <a:latin typeface="Arial"/>
                        </a:rPr>
                        <a:t> </a:t>
                      </a:r>
                      <a:r>
                        <a:rPr sz="1000" b="1" i="0" u="sng" dirty="0" lang="es-SV">
                          <a:solidFill>
                            <a:srgbClr val="00376E"/>
                          </a:solidFill>
                          <a:latin typeface="Arial"/>
                        </a:rPr>
                        <a:t>crítico</a:t>
                      </a:r>
                      <a:r>
                        <a:rPr sz="1000" b="1" i="0" u="sng" dirty="0" lang="es-SV">
                          <a:solidFill>
                            <a:srgbClr val="00376E"/>
                          </a:solidFill>
                          <a:latin typeface="Arial"/>
                        </a:rPr>
                        <a:t> o </a:t>
                      </a:r>
                      <a:r>
                        <a:rPr sz="1000" b="1" i="0" u="sng" dirty="0" lang="es-SV">
                          <a:solidFill>
                            <a:srgbClr val="00376E"/>
                          </a:solidFill>
                          <a:latin typeface="Arial"/>
                        </a:rPr>
                        <a:t>concentra</a:t>
                      </a:r>
                      <a:r>
                        <a:rPr sz="1000" b="1" i="0" u="sng" dirty="0" lang="es-SV">
                          <a:solidFill>
                            <a:srgbClr val="00376E"/>
                          </a:solidFill>
                          <a:latin typeface="Arial"/>
                        </a:rPr>
                        <a:t> </a:t>
                      </a:r>
                      <a:r>
                        <a:rPr sz="1000" b="1" i="0" u="sng" dirty="0" lang="es-SV">
                          <a:solidFill>
                            <a:srgbClr val="00376E"/>
                          </a:solidFill>
                          <a:latin typeface="Arial"/>
                        </a:rPr>
                        <a:t>servicios</a:t>
                      </a:r>
                      <a:r>
                        <a:rPr sz="1000" b="1" i="0" u="sng" dirty="0" lang="es-SV">
                          <a:solidFill>
                            <a:srgbClr val="00376E"/>
                          </a:solidFill>
                          <a:latin typeface="Arial"/>
                        </a:rPr>
                        <a:t> a </a:t>
                      </a:r>
                      <a:r>
                        <a:rPr sz="1000" b="1" i="0" u="sng" dirty="0" lang="es-SV">
                          <a:solidFill>
                            <a:srgbClr val="00376E"/>
                          </a:solidFill>
                          <a:latin typeface="Arial"/>
                        </a:rPr>
                        <a:t>varias</a:t>
                      </a:r>
                      <a:r>
                        <a:rPr sz="1000" b="1" i="0" u="sng" dirty="0" lang="es-SV">
                          <a:solidFill>
                            <a:srgbClr val="00376E"/>
                          </a:solidFill>
                          <a:latin typeface="Arial"/>
                        </a:rPr>
                        <a:t> </a:t>
                      </a:r>
                      <a:r>
                        <a:rPr sz="1000" b="1" i="0" u="sng" dirty="0" lang="es-SV">
                          <a:solidFill>
                            <a:srgbClr val="00376E"/>
                          </a:solidFill>
                          <a:latin typeface="Arial"/>
                        </a:rPr>
                        <a:t>entidades</a:t>
                      </a:r>
                      <a:r>
                        <a:rPr sz="1000" b="1" i="0" u="sng" dirty="0" lang="es-SV">
                          <a:solidFill>
                            <a:srgbClr val="00376E"/>
                          </a:solidFill>
                          <a:latin typeface="Arial"/>
                        </a:rPr>
                        <a:t> </a:t>
                      </a:r>
                      <a:r>
                        <a:rPr sz="1000" b="1" i="0" u="sng" dirty="0" lang="es-SV">
                          <a:solidFill>
                            <a:srgbClr val="00376E"/>
                          </a:solidFill>
                          <a:latin typeface="Arial"/>
                        </a:rPr>
                        <a:t>financieras</a:t>
                      </a:r>
                      <a:r>
                        <a:rPr sz="1000" b="1" i="0" u="sng" dirty="0" lang="es-SV">
                          <a:solidFill>
                            <a:srgbClr val="00376E"/>
                          </a:solidFill>
                          <a:latin typeface="Arial"/>
                        </a:rPr>
                        <a:t>, o </a:t>
                      </a:r>
                      <a:r>
                        <a:rPr sz="1000" b="1" i="0" u="sng" dirty="0" lang="es-SV">
                          <a:solidFill>
                            <a:srgbClr val="00376E"/>
                          </a:solidFill>
                          <a:latin typeface="Arial"/>
                        </a:rPr>
                        <a:t>recibe</a:t>
                      </a:r>
                      <a:r>
                        <a:rPr sz="1000" b="1" i="0" u="sng" dirty="0" lang="es-SV">
                          <a:solidFill>
                            <a:srgbClr val="00376E"/>
                          </a:solidFill>
                          <a:latin typeface="Arial"/>
                        </a:rPr>
                        <a:t> </a:t>
                      </a:r>
                      <a:r>
                        <a:rPr sz="1000" b="1" i="0" u="sng" dirty="0" lang="es-SV">
                          <a:solidFill>
                            <a:srgbClr val="00376E"/>
                          </a:solidFill>
                          <a:latin typeface="Arial"/>
                        </a:rPr>
                        <a:t>anticipos</a:t>
                      </a:r>
                      <a:r>
                        <a:rPr sz="1000" b="1" i="0" u="sng" dirty="0" lang="es-SV">
                          <a:solidFill>
                            <a:srgbClr val="00376E"/>
                          </a:solidFill>
                          <a:latin typeface="Arial"/>
                        </a:rPr>
                        <a:t> </a:t>
                      </a:r>
                      <a:r>
                        <a:rPr sz="1000" b="1" i="0" u="sng" dirty="0" lang="es-SV">
                          <a:solidFill>
                            <a:srgbClr val="00376E"/>
                          </a:solidFill>
                          <a:latin typeface="Arial"/>
                        </a:rPr>
                        <a:t>expuestos</a:t>
                      </a:r>
                      <a:r>
                        <a:rPr sz="1000" b="1" i="0" u="sng" dirty="0" lang="es-SV">
                          <a:solidFill>
                            <a:srgbClr val="00376E"/>
                          </a:solidFill>
                          <a:latin typeface="Arial"/>
                        </a:rPr>
                        <a:t> a </a:t>
                      </a:r>
                      <a:r>
                        <a:rPr sz="1000" b="1" i="0" u="sng" dirty="0" lang="es-SV">
                          <a:solidFill>
                            <a:srgbClr val="00376E"/>
                          </a:solidFill>
                          <a:latin typeface="Arial"/>
                        </a:rPr>
                        <a:t>su</a:t>
                      </a:r>
                      <a:r>
                        <a:rPr sz="1000" b="1" i="0" u="sng" dirty="0" lang="es-SV">
                          <a:solidFill>
                            <a:srgbClr val="00376E"/>
                          </a:solidFill>
                          <a:latin typeface="Arial"/>
                        </a:rPr>
                        <a:t> </a:t>
                      </a:r>
                      <a:r>
                        <a:rPr sz="1000" b="1" i="0" u="sng" dirty="0" lang="es-SV">
                          <a:solidFill>
                            <a:srgbClr val="00376E"/>
                          </a:solidFill>
                          <a:latin typeface="Arial"/>
                        </a:rPr>
                        <a:t>solidez</a:t>
                      </a:r>
                      <a:r>
                        <a:rPr sz="1000" b="1" i="0" u="sng" dirty="0" lang="es-SV">
                          <a:solidFill>
                            <a:srgbClr val="00376E"/>
                          </a:solidFill>
                          <a:latin typeface="Arial"/>
                        </a:rPr>
                        <a:t> </a:t>
                      </a:r>
                      <a:r>
                        <a:rPr sz="1000" b="1" i="0" u="sng" dirty="0" lang="es-SV">
                          <a:solidFill>
                            <a:srgbClr val="00376E"/>
                          </a:solidFill>
                          <a:latin typeface="Arial"/>
                        </a:rPr>
                        <a:t>financiera</a:t>
                      </a:r>
                      <a:r>
                        <a:rPr sz="1000" b="1" i="0" u="sng" dirty="0" lang="es-SV">
                          <a:solidFill>
                            <a:srgbClr val="00376E"/>
                          </a:solidFill>
                          <a:latin typeface="Arial"/>
                        </a:rPr>
                        <a:t>.</a:t>
                      </a:r>
                    </a:p>
                    <a:p>
                      <a:pPr algn="just"/>
                      <a:r>
                        <a:rPr sz="1000" b="1" i="0" u="sng" dirty="0" lang="es-SV">
                          <a:solidFill>
                            <a:srgbClr val="00376E"/>
                          </a:solidFill>
                          <a:latin typeface="Arial"/>
                        </a:rPr>
                        <a:t>Riesgo de </a:t>
                      </a:r>
                      <a:r>
                        <a:rPr sz="1000" b="1" i="0" u="sng" dirty="0" lang="es-SV">
                          <a:solidFill>
                            <a:srgbClr val="00376E"/>
                          </a:solidFill>
                          <a:latin typeface="Arial"/>
                        </a:rPr>
                        <a:t>liquidez</a:t>
                      </a:r>
                      <a:r>
                        <a:rPr sz="1000" b="1" i="0" u="sng" dirty="0" lang="es-SV">
                          <a:solidFill>
                            <a:srgbClr val="00376E"/>
                          </a:solidFill>
                          <a:latin typeface="Arial"/>
                        </a:rPr>
                        <a:t>: el </a:t>
                      </a:r>
                      <a:r>
                        <a:rPr sz="1000" b="1" i="0" u="sng" dirty="0" lang="es-SV">
                          <a:solidFill>
                            <a:srgbClr val="00376E"/>
                          </a:solidFill>
                          <a:latin typeface="Arial"/>
                        </a:rPr>
                        <a:t>servicio</a:t>
                      </a:r>
                      <a:r>
                        <a:rPr sz="1000" b="1" i="0" u="sng" dirty="0" lang="es-SV">
                          <a:solidFill>
                            <a:srgbClr val="00376E"/>
                          </a:solidFill>
                          <a:latin typeface="Arial"/>
                        </a:rPr>
                        <a:t> </a:t>
                      </a:r>
                      <a:r>
                        <a:rPr sz="1000" b="1" i="0" u="sng" dirty="0" lang="es-SV">
                          <a:solidFill>
                            <a:srgbClr val="00376E"/>
                          </a:solidFill>
                          <a:latin typeface="Arial"/>
                        </a:rPr>
                        <a:t>soporta</a:t>
                      </a:r>
                      <a:r>
                        <a:rPr sz="1000" b="1" i="0" u="sng" dirty="0" lang="es-SV">
                          <a:solidFill>
                            <a:srgbClr val="00376E"/>
                          </a:solidFill>
                          <a:latin typeface="Arial"/>
                        </a:rPr>
                        <a:t> canales de </a:t>
                      </a:r>
                      <a:r>
                        <a:rPr sz="1000" b="1" i="0" u="sng" dirty="0" lang="es-SV">
                          <a:solidFill>
                            <a:srgbClr val="00376E"/>
                          </a:solidFill>
                          <a:latin typeface="Arial"/>
                        </a:rPr>
                        <a:t>pago</a:t>
                      </a:r>
                      <a:r>
                        <a:rPr sz="1000" b="1" i="0" u="sng" dirty="0" lang="es-SV">
                          <a:solidFill>
                            <a:srgbClr val="00376E"/>
                          </a:solidFill>
                          <a:latin typeface="Arial"/>
                        </a:rPr>
                        <a:t>, </a:t>
                      </a:r>
                      <a:r>
                        <a:rPr sz="1000" b="1" i="0" u="sng" dirty="0" lang="es-SV">
                          <a:solidFill>
                            <a:srgbClr val="00376E"/>
                          </a:solidFill>
                          <a:latin typeface="Arial"/>
                        </a:rPr>
                        <a:t>transferencias</a:t>
                      </a:r>
                      <a:r>
                        <a:rPr sz="1000" b="1" i="0" u="sng" dirty="0" lang="es-SV">
                          <a:solidFill>
                            <a:srgbClr val="00376E"/>
                          </a:solidFill>
                          <a:latin typeface="Arial"/>
                        </a:rPr>
                        <a:t>, </a:t>
                      </a:r>
                      <a:r>
                        <a:rPr sz="1000" b="1" i="0" u="sng" dirty="0" lang="es-SV">
                          <a:solidFill>
                            <a:srgbClr val="00376E"/>
                          </a:solidFill>
                          <a:latin typeface="Arial"/>
                        </a:rPr>
                        <a:t>compensación</a:t>
                      </a:r>
                      <a:r>
                        <a:rPr sz="1000" b="1" i="0" u="sng" dirty="0" lang="es-SV">
                          <a:solidFill>
                            <a:srgbClr val="00376E"/>
                          </a:solidFill>
                          <a:latin typeface="Arial"/>
                        </a:rPr>
                        <a:t>, </a:t>
                      </a:r>
                      <a:r>
                        <a:rPr sz="1000" b="1" i="0" u="sng" dirty="0" lang="es-SV">
                          <a:solidFill>
                            <a:srgbClr val="00376E"/>
                          </a:solidFill>
                          <a:latin typeface="Arial"/>
                        </a:rPr>
                        <a:t>tarjetas</a:t>
                      </a:r>
                      <a:r>
                        <a:rPr sz="1000" b="1" i="0" u="sng" dirty="0" lang="es-SV">
                          <a:solidFill>
                            <a:srgbClr val="00376E"/>
                          </a:solidFill>
                          <a:latin typeface="Arial"/>
                        </a:rPr>
                        <a:t>, </a:t>
                      </a:r>
                      <a:r>
                        <a:rPr sz="1000" b="1" i="0" u="sng" dirty="0" lang="es-SV">
                          <a:solidFill>
                            <a:srgbClr val="00376E"/>
                          </a:solidFill>
                          <a:latin typeface="Arial"/>
                        </a:rPr>
                        <a:t>tesorería</a:t>
                      </a:r>
                      <a:r>
                        <a:rPr sz="1000" b="1" i="0" u="sng" dirty="0" lang="es-SV">
                          <a:solidFill>
                            <a:srgbClr val="00376E"/>
                          </a:solidFill>
                          <a:latin typeface="Arial"/>
                        </a:rPr>
                        <a:t> o </a:t>
                      </a:r>
                      <a:r>
                        <a:rPr sz="1000" b="1" i="0" u="sng" dirty="0" lang="es-SV">
                          <a:solidFill>
                            <a:srgbClr val="00376E"/>
                          </a:solidFill>
                          <a:latin typeface="Arial"/>
                        </a:rPr>
                        <a:t>captación</a:t>
                      </a:r>
                      <a:r>
                        <a:rPr sz="1000" b="1" i="0" u="sng" dirty="0" lang="es-SV">
                          <a:solidFill>
                            <a:srgbClr val="00376E"/>
                          </a:solidFill>
                          <a:latin typeface="Arial"/>
                        </a:rPr>
                        <a:t> de </a:t>
                      </a:r>
                      <a:r>
                        <a:rPr sz="1000" b="1" i="0" u="sng" dirty="0" lang="es-SV">
                          <a:solidFill>
                            <a:srgbClr val="00376E"/>
                          </a:solidFill>
                          <a:latin typeface="Arial"/>
                        </a:rPr>
                        <a:t>fondos</a:t>
                      </a:r>
                      <a:r>
                        <a:rPr sz="1000" b="1" i="0" u="sng" dirty="0" lang="es-SV">
                          <a:solidFill>
                            <a:srgbClr val="00376E"/>
                          </a:solidFill>
                          <a:latin typeface="Arial"/>
                        </a:rPr>
                        <a:t>.</a:t>
                      </a:r>
                    </a:p>
                  </a:txBody>
                  <a:tcPr marL="64008" marR="64008">
                    <a:lnL w="9525" cap="flat" cmpd="sng" algn="ctr">
                      <a:solidFill>
                        <a:srgbClr val="C9D1DE"/>
                      </a:solidFill>
                      <a:prstDash val="solid"/>
                      <a:round/>
                      <a:headEnd type="none" w="med" len="med"/>
                      <a:tailEnd type="none" w="med" len="med"/>
                    </a:lnL>
                    <a:lnR w="9525" cap="flat" cmpd="sng" algn="ctr">
                      <a:solidFill>
                        <a:srgbClr val="C9D1DE"/>
                      </a:solidFill>
                      <a:prstDash val="solid"/>
                      <a:round/>
                      <a:headEnd type="none" w="med" len="med"/>
                      <a:tailEnd type="none" w="med" len="me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Tres </a:t>
                      </a:r>
                      <a:r>
                        <a:rPr sz="1000" b="0" i="0" dirty="0" lang="es-SV">
                          <a:solidFill>
                            <a:srgbClr val="1B2333"/>
                          </a:solidFill>
                          <a:latin typeface="Arial"/>
                        </a:rPr>
                        <a:t>criterios</a:t>
                      </a:r>
                      <a:r>
                        <a:rPr sz="1000" b="0" i="0" dirty="0" lang="es-SV">
                          <a:solidFill>
                            <a:srgbClr val="1B2333"/>
                          </a:solidFill>
                          <a:latin typeface="Arial"/>
                        </a:rPr>
                        <a:t> </a:t>
                      </a:r>
                      <a:r>
                        <a:rPr sz="1000" b="0" i="0" dirty="0" lang="es-SV">
                          <a:solidFill>
                            <a:srgbClr val="1B2333"/>
                          </a:solidFill>
                          <a:latin typeface="Arial"/>
                        </a:rPr>
                        <a:t>nuevos</a:t>
                      </a:r>
                      <a:r>
                        <a:rPr sz="1000" b="0" i="0" dirty="0" lang="es-SV">
                          <a:solidFill>
                            <a:srgbClr val="1B2333"/>
                          </a:solidFill>
                          <a:latin typeface="Arial"/>
                        </a:rPr>
                        <a:t> de </a:t>
                      </a:r>
                      <a:r>
                        <a:rPr sz="1000" b="0" i="0" dirty="0" lang="es-SV">
                          <a:solidFill>
                            <a:srgbClr val="1B2333"/>
                          </a:solidFill>
                          <a:latin typeface="Arial"/>
                        </a:rPr>
                        <a:t>criticidad</a:t>
                      </a:r>
                      <a:r>
                        <a:rPr sz="1000" b="0" i="0" dirty="0" lang="es-SV">
                          <a:solidFill>
                            <a:srgbClr val="1B2333"/>
                          </a:solidFill>
                          <a:latin typeface="Arial"/>
                        </a:rPr>
                        <a:t>.</a:t>
                      </a:r>
                    </a:p>
                    <a:p>
                      <a:pPr algn="just"/>
                      <a:r>
                        <a:rPr sz="1000" b="1" i="0" dirty="0" lang="es-SV">
                          <a:solidFill>
                            <a:srgbClr val="00376E"/>
                          </a:solidFill>
                          <a:latin typeface="Arial"/>
                        </a:rPr>
                        <a:t>NRP-42, art. 8, lit. c · NRP-23, Anexo 1, A-1 · NRP-05</a:t>
                      </a:r>
                    </a:p>
                  </a:txBody>
                  <a:tcPr marL="64008" marR="64008">
                    <a:lnL w="9525" cap="flat" cmpd="sng" algn="ctr">
                      <a:solidFill>
                        <a:srgbClr val="C9D1DE"/>
                      </a:solidFill>
                      <a:prstDash val="solid"/>
                      <a:round/>
                      <a:headEnd type="none" w="med" len="med"/>
                      <a:tailEnd type="none" w="med" len="me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74320">
                <a:tc>
                  <a:txBody>
                    <a:bodyPr/>
                    <a:lstStyle/>
                    <a:p>
                      <a:pPr algn="just"/>
                      <a:r>
                        <a:rPr sz="1000" b="1" i="0" lang="es-SV">
                          <a:solidFill>
                            <a:srgbClr val="00376E"/>
                          </a:solidFill>
                          <a:latin typeface="Arial"/>
                        </a:rPr>
                        <a:t>38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…a través del formulario “Entrevista para elaborar el Análisis de Servicios Críticos Tercerizados” RP-GG-F-213.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…a través del formulario … RP-GG-F-213</a:t>
                      </a:r>
                      <a:r>
                        <a:rPr sz="1000" b="1" i="0" u="sng" lang="es-SV">
                          <a:solidFill>
                            <a:srgbClr val="00376E"/>
                          </a:solidFill>
                          <a:latin typeface="Arial"/>
                        </a:rPr>
                        <a:t>, considerando los criterios establecidos en el cuadro anterior.</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El </a:t>
                      </a:r>
                      <a:r>
                        <a:rPr sz="1000" b="0" i="0" dirty="0" lang="es-SV">
                          <a:solidFill>
                            <a:srgbClr val="1B2333"/>
                          </a:solidFill>
                          <a:latin typeface="Arial"/>
                        </a:rPr>
                        <a:t>formulario</a:t>
                      </a:r>
                      <a:r>
                        <a:rPr sz="1000" b="0" i="0" dirty="0" lang="es-SV">
                          <a:solidFill>
                            <a:srgbClr val="1B2333"/>
                          </a:solidFill>
                          <a:latin typeface="Arial"/>
                        </a:rPr>
                        <a:t> </a:t>
                      </a:r>
                      <a:r>
                        <a:rPr sz="1000" b="0" i="0" dirty="0" lang="es-SV">
                          <a:solidFill>
                            <a:srgbClr val="1B2333"/>
                          </a:solidFill>
                          <a:latin typeface="Arial"/>
                        </a:rPr>
                        <a:t>aplica</a:t>
                      </a:r>
                      <a:r>
                        <a:rPr sz="1000" b="0" i="0" dirty="0" lang="es-SV">
                          <a:solidFill>
                            <a:srgbClr val="1B2333"/>
                          </a:solidFill>
                          <a:latin typeface="Arial"/>
                        </a:rPr>
                        <a:t> </a:t>
                      </a:r>
                      <a:r>
                        <a:rPr sz="1000" b="0" i="0" dirty="0" lang="es-SV">
                          <a:solidFill>
                            <a:srgbClr val="1B2333"/>
                          </a:solidFill>
                          <a:latin typeface="Arial"/>
                        </a:rPr>
                        <a:t>los</a:t>
                      </a:r>
                      <a:r>
                        <a:rPr sz="1000" b="0" i="0" dirty="0" lang="es-SV">
                          <a:solidFill>
                            <a:srgbClr val="1B2333"/>
                          </a:solidFill>
                          <a:latin typeface="Arial"/>
                        </a:rPr>
                        <a:t> </a:t>
                      </a:r>
                      <a:r>
                        <a:rPr sz="1000" b="0" i="0" dirty="0" lang="es-SV">
                          <a:solidFill>
                            <a:srgbClr val="1B2333"/>
                          </a:solidFill>
                          <a:latin typeface="Arial"/>
                        </a:rPr>
                        <a:t>criterios</a:t>
                      </a:r>
                      <a:r>
                        <a:rPr sz="1000" b="0" i="0" dirty="0" lang="es-SV">
                          <a:solidFill>
                            <a:srgbClr val="1B2333"/>
                          </a:solidFill>
                          <a:latin typeface="Arial"/>
                        </a:rPr>
                        <a:t> </a:t>
                      </a:r>
                      <a:r>
                        <a:rPr sz="1000" b="0" i="0" dirty="0" lang="es-SV">
                          <a:solidFill>
                            <a:srgbClr val="1B2333"/>
                          </a:solidFill>
                          <a:latin typeface="Arial"/>
                        </a:rPr>
                        <a:t>nuevos</a:t>
                      </a:r>
                      <a:r>
                        <a:rPr sz="1000" b="0" i="0" dirty="0" lang="es-SV">
                          <a:solidFill>
                            <a:srgbClr val="1B2333"/>
                          </a:solidFill>
                          <a:latin typeface="Arial"/>
                        </a:rPr>
                        <a:t>.</a:t>
                      </a:r>
                    </a:p>
                    <a:p>
                      <a:pPr algn="just"/>
                      <a:r>
                        <a:rPr sz="1000" b="1" i="0" dirty="0" lang="es-SV">
                          <a:solidFill>
                            <a:srgbClr val="00376E"/>
                          </a:solidFill>
                          <a:latin typeface="Arial"/>
                        </a:rPr>
                        <a:t>Formulario</a:t>
                      </a:r>
                      <a:r>
                        <a:rPr sz="1000" b="1" i="0" dirty="0" lang="es-SV">
                          <a:solidFill>
                            <a:srgbClr val="00376E"/>
                          </a:solidFill>
                          <a:latin typeface="Arial"/>
                        </a:rPr>
                        <a:t> </a:t>
                      </a:r>
                      <a:r>
                        <a:rPr sz="1000" b="1" i="0" dirty="0" lang="es-SV">
                          <a:solidFill>
                            <a:srgbClr val="00376E"/>
                          </a:solidFill>
                          <a:latin typeface="Arial"/>
                        </a:rPr>
                        <a:t>interno</a:t>
                      </a:r>
                      <a:endParaRPr sz="1000" b="1" i="0" dirty="0" lang="es-SV">
                        <a:solidFill>
                          <a:srgbClr val="00376E"/>
                        </a:solidFill>
                        <a:latin typeface="Arial"/>
                      </a:endParaRP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74320">
                <a:tc>
                  <a:txBody>
                    <a:bodyPr/>
                    <a:lstStyle/>
                    <a:p>
                      <a:pPr algn="just"/>
                      <a:r>
                        <a:rPr sz="1000" b="1" i="0" lang="es-SV">
                          <a:solidFill>
                            <a:srgbClr val="00376E"/>
                          </a:solidFill>
                          <a:latin typeface="Arial"/>
                        </a:rPr>
                        <a:t>39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El resultado de la evaluación clasificará el servicio en nivel de criticidad Alto, Medio o Bajo, para determinar la profundidad de la debida diligencia y la frecuencia de monitoreo. La criticidad deberá reevaluarse anualmente y ante cambios significativos en el servicio, el proveedor o los procesos críticos.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Monitoreo</a:t>
                      </a:r>
                      <a:r>
                        <a:rPr sz="1000" b="0" i="0" dirty="0" lang="es-SV">
                          <a:solidFill>
                            <a:srgbClr val="1B2333"/>
                          </a:solidFill>
                          <a:latin typeface="Arial"/>
                        </a:rPr>
                        <a:t> </a:t>
                      </a:r>
                      <a:r>
                        <a:rPr sz="1000" b="0" i="0" dirty="0" lang="es-SV">
                          <a:solidFill>
                            <a:srgbClr val="1B2333"/>
                          </a:solidFill>
                          <a:latin typeface="Arial"/>
                        </a:rPr>
                        <a:t>proporcional</a:t>
                      </a:r>
                      <a:r>
                        <a:rPr sz="1000" b="0" i="0" dirty="0" lang="es-SV">
                          <a:solidFill>
                            <a:srgbClr val="1B2333"/>
                          </a:solidFill>
                          <a:latin typeface="Arial"/>
                        </a:rPr>
                        <a:t> al </a:t>
                      </a:r>
                      <a:r>
                        <a:rPr sz="1000" b="0" i="0" dirty="0" lang="es-SV">
                          <a:solidFill>
                            <a:srgbClr val="1B2333"/>
                          </a:solidFill>
                          <a:latin typeface="Arial"/>
                        </a:rPr>
                        <a:t>riesgo</a:t>
                      </a:r>
                      <a:r>
                        <a:rPr sz="1000" b="0" i="0" dirty="0" lang="es-SV">
                          <a:solidFill>
                            <a:srgbClr val="1B2333"/>
                          </a:solidFill>
                          <a:latin typeface="Arial"/>
                        </a:rPr>
                        <a:t>.</a:t>
                      </a:r>
                    </a:p>
                    <a:p>
                      <a:pPr algn="just"/>
                      <a:r>
                        <a:rPr sz="1000" b="1" i="0" dirty="0" lang="es-SV">
                          <a:solidFill>
                            <a:srgbClr val="00376E"/>
                          </a:solidFill>
                          <a:latin typeface="Arial"/>
                        </a:rPr>
                        <a:t>NRP-23, Anexo 1, A-3, lit. c · NRP-24, art. 21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0A848043-3E64-98A8-7A75-B15A546BA49B}"/>
              </a:ext>
            </a:extLst>
          </p:cNvPr>
          <p:cNvSpPr/>
          <p:nvPr/>
        </p:nvSpPr>
        <p:spPr>
          <a:xfrm>
            <a:off x="548640" y="81153"/>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89011"/>
            <a:ext cx="9966960" cy="307777"/>
          </a:xfrm>
          <a:prstGeom prst="rect">
            <a:avLst/>
          </a:prstGeom>
          <a:noFill/>
        </p:spPr>
        <p:txBody>
          <a:bodyPr wrap="square" lIns="0" tIns="0" rIns="0" bIns="0" anchor="ctr">
            <a:spAutoFit/>
          </a:bodyPr>
          <a:lstStyle/>
          <a:p>
            <a:pPr algn="l"/>
            <a:r>
              <a:rPr sz="2000" b="1" i="0" dirty="0" lang="es-SV">
                <a:solidFill>
                  <a:srgbClr val="00376E"/>
                </a:solidFill>
                <a:latin typeface="Century Gothic"/>
              </a:rPr>
              <a:t>VI. </a:t>
            </a:r>
            <a:r>
              <a:rPr sz="2000" b="1" i="0" dirty="0" lang="es-SV">
                <a:solidFill>
                  <a:srgbClr val="00376E"/>
                </a:solidFill>
                <a:latin typeface="Century Gothic"/>
              </a:rPr>
              <a:t>Requerimientos</a:t>
            </a:r>
            <a:r>
              <a:rPr sz="2000" b="1" i="0" dirty="0" lang="es-SV">
                <a:solidFill>
                  <a:srgbClr val="00376E"/>
                </a:solidFill>
                <a:latin typeface="Century Gothic"/>
              </a:rPr>
              <a:t> </a:t>
            </a:r>
            <a:r>
              <a:rPr sz="2000" b="1" i="0" dirty="0" lang="es-SV">
                <a:solidFill>
                  <a:srgbClr val="00376E"/>
                </a:solidFill>
                <a:latin typeface="Century Gothic"/>
              </a:rPr>
              <a:t>normativos</a:t>
            </a:r>
            <a:r>
              <a:rPr sz="2000" b="1" i="0" dirty="0" lang="es-SV">
                <a:solidFill>
                  <a:srgbClr val="00376E"/>
                </a:solidFill>
                <a:latin typeface="Century Gothic"/>
              </a:rPr>
              <a:t> para </a:t>
            </a:r>
            <a:r>
              <a:rPr sz="2000" b="1" i="0" dirty="0" lang="es-SV">
                <a:solidFill>
                  <a:srgbClr val="00376E"/>
                </a:solidFill>
                <a:latin typeface="Century Gothic"/>
              </a:rPr>
              <a:t>tecnología</a:t>
            </a:r>
            <a:r>
              <a:rPr sz="2000" b="1" i="0" dirty="0" lang="es-SV">
                <a:solidFill>
                  <a:srgbClr val="00376E"/>
                </a:solidFill>
                <a:latin typeface="Century Gothic"/>
              </a:rPr>
              <a:t> de la </a:t>
            </a:r>
            <a:r>
              <a:rPr sz="2000" b="1" i="0" dirty="0" lang="es-SV">
                <a:solidFill>
                  <a:srgbClr val="00376E"/>
                </a:solidFill>
                <a:latin typeface="Century Gothic"/>
              </a:rPr>
              <a:t>información</a:t>
            </a:r>
            <a:endParaRPr sz="2000" b="1" i="0" dirty="0" lang="es-SV">
              <a:solidFill>
                <a:srgbClr val="00376E"/>
              </a:solidFill>
              <a:latin typeface="Century Gothic"/>
            </a:endParaRPr>
          </a:p>
        </p:txBody>
      </p:sp>
      <p:graphicFrame>
        <p:nvGraphicFramePr>
          <p:cNvPr id="16" name="Table 15"/>
          <p:cNvGraphicFramePr>
            <a:graphicFrameLocks noGrp="1"/>
          </p:cNvGraphicFramePr>
          <p:nvPr>
            <p:extLst>
              <p:ext uri="{D42A27DB-BD31-4B8C-83A1-F6EECF244321}">
                <p14:modId xmlns:p14="http://schemas.microsoft.com/office/powerpoint/2010/main" val="2178849528"/>
              </p:ext>
            </p:extLst>
          </p:nvPr>
        </p:nvGraphicFramePr>
        <p:xfrm>
          <a:off x="548640" y="678180"/>
          <a:ext cx="11091672" cy="2206752"/>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347472">
                <a:tc>
                  <a:txBody>
                    <a:bodyPr/>
                    <a:lstStyle/>
                    <a:p>
                      <a:pPr algn="just"/>
                      <a:r>
                        <a:rPr sz="1000" b="1" i="0" dirty="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dirty="0" lang="es-SV">
                          <a:solidFill>
                            <a:srgbClr val="FFFFFF"/>
                          </a:solidFill>
                          <a:latin typeface="Arial"/>
                        </a:rPr>
                        <a:t>Dice (V03 </a:t>
                      </a:r>
                      <a:r>
                        <a:rPr sz="1000" b="1" i="0" dirty="0" lang="es-SV">
                          <a:solidFill>
                            <a:srgbClr val="FFFFFF"/>
                          </a:solidFill>
                          <a:latin typeface="Arial"/>
                        </a:rPr>
                        <a:t>vigente</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dirty="0" lang="es-SV">
                          <a:solidFill>
                            <a:srgbClr val="FFFFFF"/>
                          </a:solidFill>
                          <a:latin typeface="Arial"/>
                        </a:rPr>
                        <a:t>Debe </a:t>
                      </a:r>
                      <a:r>
                        <a:rPr sz="1000" b="1" i="0" dirty="0" lang="es-SV">
                          <a:solidFill>
                            <a:srgbClr val="FFFFFF"/>
                          </a:solidFill>
                          <a:latin typeface="Arial"/>
                        </a:rPr>
                        <a:t>decir</a:t>
                      </a:r>
                      <a:r>
                        <a:rPr sz="1000" b="1" i="0" dirty="0" lang="es-SV">
                          <a:solidFill>
                            <a:srgbClr val="FFFFFF"/>
                          </a:solidFill>
                          <a:latin typeface="Arial"/>
                        </a:rPr>
                        <a:t> (V04 </a:t>
                      </a:r>
                      <a:r>
                        <a:rPr sz="1000" b="1" i="0" dirty="0" lang="es-SV">
                          <a:solidFill>
                            <a:srgbClr val="FFFFFF"/>
                          </a:solidFill>
                          <a:latin typeface="Arial"/>
                        </a:rPr>
                        <a:t>propuesta</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Mejora y base normativa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74320">
                <a:tc>
                  <a:txBody>
                    <a:bodyPr/>
                    <a:lstStyle/>
                    <a:p>
                      <a:pPr algn="just"/>
                      <a:r>
                        <a:rPr sz="1000" b="1" i="0" lang="es-SV">
                          <a:solidFill>
                            <a:srgbClr val="00376E"/>
                          </a:solidFill>
                          <a:latin typeface="Arial"/>
                        </a:rPr>
                        <a:t>40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Cuando </a:t>
                      </a:r>
                      <a:r>
                        <a:rPr sz="1000" b="0" i="0" dirty="0" lang="es-SV">
                          <a:solidFill>
                            <a:srgbClr val="1B2333"/>
                          </a:solidFill>
                          <a:latin typeface="Arial"/>
                        </a:rPr>
                        <a:t>cada</a:t>
                      </a:r>
                      <a:r>
                        <a:rPr sz="1000" b="0" i="0" dirty="0" lang="es-SV">
                          <a:solidFill>
                            <a:srgbClr val="1B2333"/>
                          </a:solidFill>
                          <a:latin typeface="Arial"/>
                        </a:rPr>
                        <a:t> </a:t>
                      </a:r>
                      <a:r>
                        <a:rPr sz="1000" b="0" i="0" dirty="0" lang="es-SV">
                          <a:solidFill>
                            <a:srgbClr val="1B2333"/>
                          </a:solidFill>
                          <a:latin typeface="Arial"/>
                        </a:rPr>
                        <a:t>Gerente</a:t>
                      </a:r>
                      <a:r>
                        <a:rPr sz="1000" b="0" i="0" dirty="0" lang="es-SV">
                          <a:solidFill>
                            <a:srgbClr val="1B2333"/>
                          </a:solidFill>
                          <a:latin typeface="Arial"/>
                        </a:rPr>
                        <a:t> y/o </a:t>
                      </a:r>
                      <a:r>
                        <a:rPr sz="1000" b="0" i="0" dirty="0" lang="es-SV">
                          <a:solidFill>
                            <a:srgbClr val="1B2333"/>
                          </a:solidFill>
                          <a:latin typeface="Arial"/>
                        </a:rPr>
                        <a:t>Jefatura</a:t>
                      </a:r>
                      <a:r>
                        <a:rPr sz="1000" b="0" i="0" dirty="0" lang="es-SV">
                          <a:solidFill>
                            <a:srgbClr val="1B2333"/>
                          </a:solidFill>
                          <a:latin typeface="Arial"/>
                        </a:rPr>
                        <a:t>… </a:t>
                      </a:r>
                      <a:r>
                        <a:rPr sz="1000" b="0" i="0" dirty="0" lang="es-SV">
                          <a:solidFill>
                            <a:srgbClr val="1B2333"/>
                          </a:solidFill>
                          <a:latin typeface="Arial"/>
                        </a:rPr>
                        <a:t>determinen</a:t>
                      </a:r>
                      <a:r>
                        <a:rPr sz="1000" b="0" i="0" dirty="0" lang="es-SV">
                          <a:solidFill>
                            <a:srgbClr val="1B2333"/>
                          </a:solidFill>
                          <a:latin typeface="Arial"/>
                        </a:rPr>
                        <a:t> la </a:t>
                      </a:r>
                      <a:r>
                        <a:rPr sz="1000" b="0" i="0" dirty="0" lang="es-SV">
                          <a:solidFill>
                            <a:srgbClr val="1B2333"/>
                          </a:solidFill>
                          <a:latin typeface="Arial"/>
                        </a:rPr>
                        <a:t>necesidad</a:t>
                      </a:r>
                      <a:r>
                        <a:rPr sz="1000" b="0" i="0" dirty="0" lang="es-SV">
                          <a:solidFill>
                            <a:srgbClr val="1B2333"/>
                          </a:solidFill>
                          <a:latin typeface="Arial"/>
                        </a:rPr>
                        <a:t> de </a:t>
                      </a:r>
                      <a:r>
                        <a:rPr sz="1000" b="0" i="0" dirty="0" lang="es-SV">
                          <a:solidFill>
                            <a:srgbClr val="1B2333"/>
                          </a:solidFill>
                          <a:latin typeface="Arial"/>
                        </a:rPr>
                        <a:t>efectuar</a:t>
                      </a:r>
                      <a:r>
                        <a:rPr sz="1000" b="0" i="0" dirty="0" lang="es-SV">
                          <a:solidFill>
                            <a:srgbClr val="1B2333"/>
                          </a:solidFill>
                          <a:latin typeface="Arial"/>
                        </a:rPr>
                        <a:t> </a:t>
                      </a:r>
                      <a:r>
                        <a:rPr sz="1000" b="0" i="0" dirty="0" lang="es-SV">
                          <a:solidFill>
                            <a:srgbClr val="1B2333"/>
                          </a:solidFill>
                          <a:latin typeface="Arial"/>
                        </a:rPr>
                        <a:t>sustituciones</a:t>
                      </a:r>
                      <a:r>
                        <a:rPr sz="1000" b="0" i="0" dirty="0" lang="es-SV">
                          <a:solidFill>
                            <a:srgbClr val="1B2333"/>
                          </a:solidFill>
                          <a:latin typeface="Arial"/>
                        </a:rPr>
                        <a:t> o </a:t>
                      </a:r>
                      <a:r>
                        <a:rPr sz="1000" b="0" i="0" dirty="0" lang="es-SV">
                          <a:solidFill>
                            <a:srgbClr val="1B2333"/>
                          </a:solidFill>
                          <a:latin typeface="Arial"/>
                        </a:rPr>
                        <a:t>reemplazos</a:t>
                      </a:r>
                      <a:r>
                        <a:rPr sz="1000" b="0" i="0" dirty="0" lang="es-SV">
                          <a:solidFill>
                            <a:srgbClr val="1B2333"/>
                          </a:solidFill>
                          <a:latin typeface="Arial"/>
                        </a:rPr>
                        <a:t> de </a:t>
                      </a:r>
                      <a:r>
                        <a:rPr sz="1000" b="0" i="0" dirty="0" lang="es-SV">
                          <a:solidFill>
                            <a:srgbClr val="1B2333"/>
                          </a:solidFill>
                          <a:latin typeface="Arial"/>
                        </a:rPr>
                        <a:t>sistemas</a:t>
                      </a:r>
                      <a:r>
                        <a:rPr sz="1000" b="0" i="0" dirty="0" lang="es-SV">
                          <a:solidFill>
                            <a:srgbClr val="1B2333"/>
                          </a:solidFill>
                          <a:latin typeface="Arial"/>
                        </a:rPr>
                        <a:t> </a:t>
                      </a:r>
                      <a:r>
                        <a:rPr sz="1000" b="0" i="0" dirty="0" lang="es-SV">
                          <a:solidFill>
                            <a:srgbClr val="1B2333"/>
                          </a:solidFill>
                          <a:latin typeface="Arial"/>
                        </a:rPr>
                        <a:t>informáticos</a:t>
                      </a:r>
                      <a:r>
                        <a:rPr sz="1000" b="0" i="0" dirty="0" lang="es-SV">
                          <a:solidFill>
                            <a:srgbClr val="1B2333"/>
                          </a:solidFill>
                          <a:latin typeface="Arial"/>
                        </a:rPr>
                        <a:t> </a:t>
                      </a:r>
                      <a:r>
                        <a:rPr sz="1000" b="0" i="0" dirty="0" lang="es-SV">
                          <a:solidFill>
                            <a:srgbClr val="1B2333"/>
                          </a:solidFill>
                          <a:latin typeface="Arial"/>
                        </a:rPr>
                        <a:t>principales</a:t>
                      </a:r>
                      <a:r>
                        <a:rPr sz="1000" b="0" i="0" dirty="0" lang="es-SV">
                          <a:solidFill>
                            <a:srgbClr val="1B2333"/>
                          </a:solidFill>
                          <a:latin typeface="Arial"/>
                        </a:rPr>
                        <a:t>… o la </a:t>
                      </a:r>
                      <a:r>
                        <a:rPr sz="1000" b="0" i="0" dirty="0" lang="es-SV">
                          <a:solidFill>
                            <a:srgbClr val="1B2333"/>
                          </a:solidFill>
                          <a:latin typeface="Arial"/>
                        </a:rPr>
                        <a:t>adquisición</a:t>
                      </a:r>
                      <a:r>
                        <a:rPr sz="1000" b="0" i="0" dirty="0" lang="es-SV">
                          <a:solidFill>
                            <a:srgbClr val="1B2333"/>
                          </a:solidFill>
                          <a:latin typeface="Arial"/>
                        </a:rPr>
                        <a:t> de </a:t>
                      </a:r>
                      <a:r>
                        <a:rPr sz="1000" b="0" i="0" dirty="0" lang="es-SV">
                          <a:solidFill>
                            <a:srgbClr val="1B2333"/>
                          </a:solidFill>
                          <a:latin typeface="Arial"/>
                        </a:rPr>
                        <a:t>sistemas</a:t>
                      </a:r>
                      <a:r>
                        <a:rPr sz="1000" b="0" i="0" dirty="0" lang="es-SV">
                          <a:solidFill>
                            <a:srgbClr val="1B2333"/>
                          </a:solidFill>
                          <a:latin typeface="Arial"/>
                        </a:rPr>
                        <a:t> </a:t>
                      </a:r>
                      <a:r>
                        <a:rPr sz="1000" b="0" i="0" dirty="0" lang="es-SV">
                          <a:solidFill>
                            <a:srgbClr val="1B2333"/>
                          </a:solidFill>
                          <a:latin typeface="Arial"/>
                        </a:rPr>
                        <a:t>informáticos</a:t>
                      </a:r>
                      <a:r>
                        <a:rPr sz="1000" b="0" i="0" dirty="0" lang="es-SV">
                          <a:solidFill>
                            <a:srgbClr val="1B2333"/>
                          </a:solidFill>
                          <a:latin typeface="Arial"/>
                        </a:rPr>
                        <a:t> para </a:t>
                      </a:r>
                      <a:r>
                        <a:rPr sz="1000" b="0" i="0" dirty="0" lang="es-SV">
                          <a:solidFill>
                            <a:srgbClr val="1B2333"/>
                          </a:solidFill>
                          <a:latin typeface="Arial"/>
                        </a:rPr>
                        <a:t>nuevas</a:t>
                      </a:r>
                      <a:r>
                        <a:rPr sz="1000" b="0" i="0" dirty="0" lang="es-SV">
                          <a:solidFill>
                            <a:srgbClr val="1B2333"/>
                          </a:solidFill>
                          <a:latin typeface="Arial"/>
                        </a:rPr>
                        <a:t> </a:t>
                      </a:r>
                      <a:r>
                        <a:rPr sz="1000" b="0" i="0" dirty="0" lang="es-SV">
                          <a:solidFill>
                            <a:srgbClr val="1B2333"/>
                          </a:solidFill>
                          <a:latin typeface="Arial"/>
                        </a:rPr>
                        <a:t>operaciones</a:t>
                      </a:r>
                      <a:r>
                        <a:rPr sz="1000" b="0" i="0" dirty="0" lang="es-SV">
                          <a:solidFill>
                            <a:srgbClr val="1B2333"/>
                          </a:solidFill>
                          <a:latin typeface="Arial"/>
                        </a:rPr>
                        <a:t>… </a:t>
                      </a:r>
                      <a:r>
                        <a:rPr sz="1000" b="0" i="0" dirty="0" lang="es-SV">
                          <a:solidFill>
                            <a:srgbClr val="1B2333"/>
                          </a:solidFill>
                          <a:latin typeface="Arial"/>
                        </a:rPr>
                        <a:t>deberán</a:t>
                      </a:r>
                      <a:r>
                        <a:rPr sz="1000" b="0" i="0" dirty="0" lang="es-SV">
                          <a:solidFill>
                            <a:srgbClr val="1B2333"/>
                          </a:solidFill>
                          <a:latin typeface="Arial"/>
                        </a:rPr>
                        <a:t> </a:t>
                      </a:r>
                      <a:r>
                        <a:rPr sz="1000" b="0" i="0" dirty="0" lang="es-SV">
                          <a:solidFill>
                            <a:srgbClr val="1B2333"/>
                          </a:solidFill>
                          <a:latin typeface="Arial"/>
                        </a:rPr>
                        <a:t>presentar</a:t>
                      </a:r>
                      <a:r>
                        <a:rPr sz="1000" b="0" i="0" dirty="0" lang="es-SV">
                          <a:solidFill>
                            <a:srgbClr val="1B2333"/>
                          </a:solidFill>
                          <a:latin typeface="Arial"/>
                        </a:rPr>
                        <a:t> al Consejo de Administración, la </a:t>
                      </a:r>
                      <a:r>
                        <a:rPr sz="1000" b="0" i="0" dirty="0" lang="es-SV">
                          <a:solidFill>
                            <a:srgbClr val="1B2333"/>
                          </a:solidFill>
                          <a:latin typeface="Arial"/>
                        </a:rPr>
                        <a:t>siguiente</a:t>
                      </a:r>
                      <a:r>
                        <a:rPr sz="1000" b="0" i="0" dirty="0" lang="es-SV">
                          <a:solidFill>
                            <a:srgbClr val="1B2333"/>
                          </a:solidFill>
                          <a:latin typeface="Arial"/>
                        </a:rPr>
                        <a:t> </a:t>
                      </a:r>
                      <a:r>
                        <a:rPr sz="1000" b="0" i="0" dirty="0" lang="es-SV">
                          <a:solidFill>
                            <a:srgbClr val="1B2333"/>
                          </a:solidFill>
                          <a:latin typeface="Arial"/>
                        </a:rPr>
                        <a:t>información</a:t>
                      </a:r>
                      <a:r>
                        <a:rPr sz="1000" b="0" i="0" dirty="0" lang="es-SV">
                          <a:solidFill>
                            <a:srgbClr val="1B2333"/>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Cuando </a:t>
                      </a:r>
                      <a:r>
                        <a:rPr sz="1000" b="0" i="0" dirty="0" lang="es-SV">
                          <a:solidFill>
                            <a:srgbClr val="1B2333"/>
                          </a:solidFill>
                          <a:latin typeface="Arial"/>
                        </a:rPr>
                        <a:t>cada</a:t>
                      </a:r>
                      <a:r>
                        <a:rPr sz="1000" b="0" i="0" dirty="0" lang="es-SV">
                          <a:solidFill>
                            <a:srgbClr val="1B2333"/>
                          </a:solidFill>
                          <a:latin typeface="Arial"/>
                        </a:rPr>
                        <a:t> </a:t>
                      </a:r>
                      <a:r>
                        <a:rPr sz="1000" b="0" i="0" dirty="0" lang="es-SV">
                          <a:solidFill>
                            <a:srgbClr val="1B2333"/>
                          </a:solidFill>
                          <a:latin typeface="Arial"/>
                        </a:rPr>
                        <a:t>Gerente</a:t>
                      </a:r>
                      <a:r>
                        <a:rPr sz="1000" b="0" i="0" dirty="0" lang="es-SV">
                          <a:solidFill>
                            <a:srgbClr val="1B2333"/>
                          </a:solidFill>
                          <a:latin typeface="Arial"/>
                        </a:rPr>
                        <a:t> y/o </a:t>
                      </a:r>
                      <a:r>
                        <a:rPr sz="1000" b="0" i="0" dirty="0" lang="es-SV">
                          <a:solidFill>
                            <a:srgbClr val="1B2333"/>
                          </a:solidFill>
                          <a:latin typeface="Arial"/>
                        </a:rPr>
                        <a:t>Jefatura</a:t>
                      </a:r>
                      <a:r>
                        <a:rPr sz="1000" b="0" i="0" dirty="0" lang="es-SV">
                          <a:solidFill>
                            <a:srgbClr val="1B2333"/>
                          </a:solidFill>
                          <a:latin typeface="Arial"/>
                        </a:rPr>
                        <a:t>… determine la </a:t>
                      </a:r>
                      <a:r>
                        <a:rPr sz="1000" b="0" i="0" dirty="0" lang="es-SV">
                          <a:solidFill>
                            <a:srgbClr val="1B2333"/>
                          </a:solidFill>
                          <a:latin typeface="Arial"/>
                        </a:rPr>
                        <a:t>necesidad</a:t>
                      </a:r>
                      <a:r>
                        <a:rPr sz="1000" b="0" i="0" dirty="0" lang="es-SV">
                          <a:solidFill>
                            <a:srgbClr val="1B2333"/>
                          </a:solidFill>
                          <a:latin typeface="Arial"/>
                        </a:rPr>
                        <a:t> de </a:t>
                      </a:r>
                      <a:r>
                        <a:rPr sz="1000" b="0" i="0" dirty="0" lang="es-SV">
                          <a:solidFill>
                            <a:srgbClr val="1B2333"/>
                          </a:solidFill>
                          <a:latin typeface="Arial"/>
                        </a:rPr>
                        <a:t>efectuar</a:t>
                      </a:r>
                      <a:r>
                        <a:rPr sz="1000" b="0" i="0" dirty="0" lang="es-SV">
                          <a:solidFill>
                            <a:srgbClr val="1B2333"/>
                          </a:solidFill>
                          <a:latin typeface="Arial"/>
                        </a:rPr>
                        <a:t> </a:t>
                      </a:r>
                      <a:r>
                        <a:rPr sz="1000" b="0" i="0" dirty="0" lang="es-SV">
                          <a:solidFill>
                            <a:srgbClr val="1B2333"/>
                          </a:solidFill>
                          <a:latin typeface="Arial"/>
                        </a:rPr>
                        <a:t>sustituciones</a:t>
                      </a:r>
                      <a:r>
                        <a:rPr sz="1000" b="0" i="0" dirty="0" lang="es-SV">
                          <a:solidFill>
                            <a:srgbClr val="1B2333"/>
                          </a:solidFill>
                          <a:latin typeface="Arial"/>
                        </a:rPr>
                        <a:t>, </a:t>
                      </a:r>
                      <a:r>
                        <a:rPr sz="1000" b="0" i="0" dirty="0" lang="es-SV">
                          <a:solidFill>
                            <a:srgbClr val="1B2333"/>
                          </a:solidFill>
                          <a:latin typeface="Arial"/>
                        </a:rPr>
                        <a:t>reemplazos</a:t>
                      </a:r>
                      <a:r>
                        <a:rPr sz="1000" b="0" i="0" dirty="0" lang="es-SV">
                          <a:solidFill>
                            <a:srgbClr val="1B2333"/>
                          </a:solidFill>
                          <a:latin typeface="Arial"/>
                        </a:rPr>
                        <a:t> </a:t>
                      </a:r>
                      <a:r>
                        <a:rPr sz="1000" b="1" i="0" u="sng" dirty="0" lang="es-SV">
                          <a:solidFill>
                            <a:srgbClr val="00376E"/>
                          </a:solidFill>
                          <a:latin typeface="Arial"/>
                        </a:rPr>
                        <a:t>o </a:t>
                      </a:r>
                      <a:r>
                        <a:rPr sz="1000" b="1" i="0" u="sng" dirty="0" lang="es-SV">
                          <a:solidFill>
                            <a:srgbClr val="00376E"/>
                          </a:solidFill>
                          <a:latin typeface="Arial"/>
                        </a:rPr>
                        <a:t>cambios</a:t>
                      </a:r>
                      <a:r>
                        <a:rPr sz="1000" b="1" i="0" u="sng" dirty="0" lang="es-SV">
                          <a:solidFill>
                            <a:srgbClr val="00376E"/>
                          </a:solidFill>
                          <a:latin typeface="Arial"/>
                        </a:rPr>
                        <a:t> </a:t>
                      </a:r>
                      <a:r>
                        <a:rPr sz="1000" b="1" i="0" u="sng" dirty="0" lang="es-SV">
                          <a:solidFill>
                            <a:srgbClr val="00376E"/>
                          </a:solidFill>
                          <a:latin typeface="Arial"/>
                        </a:rPr>
                        <a:t>importantes</a:t>
                      </a:r>
                      <a:r>
                        <a:rPr sz="1000" b="0" i="0" dirty="0" lang="es-SV">
                          <a:solidFill>
                            <a:srgbClr val="1B2333"/>
                          </a:solidFill>
                          <a:latin typeface="Arial"/>
                        </a:rPr>
                        <a:t> de </a:t>
                      </a:r>
                      <a:r>
                        <a:rPr sz="1000" b="0" i="0" dirty="0" lang="es-SV">
                          <a:solidFill>
                            <a:srgbClr val="1B2333"/>
                          </a:solidFill>
                          <a:latin typeface="Arial"/>
                        </a:rPr>
                        <a:t>sistemas</a:t>
                      </a:r>
                      <a:r>
                        <a:rPr sz="1000" b="0" i="0" dirty="0" lang="es-SV">
                          <a:solidFill>
                            <a:srgbClr val="1B2333"/>
                          </a:solidFill>
                          <a:latin typeface="Arial"/>
                        </a:rPr>
                        <a:t> </a:t>
                      </a:r>
                      <a:r>
                        <a:rPr sz="1000" b="0" i="0" dirty="0" lang="es-SV">
                          <a:solidFill>
                            <a:srgbClr val="1B2333"/>
                          </a:solidFill>
                          <a:latin typeface="Arial"/>
                        </a:rPr>
                        <a:t>informáticos</a:t>
                      </a:r>
                      <a:r>
                        <a:rPr sz="1000" b="0" i="0" dirty="0" lang="es-SV">
                          <a:solidFill>
                            <a:srgbClr val="1B2333"/>
                          </a:solidFill>
                          <a:latin typeface="Arial"/>
                        </a:rPr>
                        <a:t> </a:t>
                      </a:r>
                      <a:r>
                        <a:rPr sz="1000" b="0" i="0" dirty="0" lang="es-SV">
                          <a:solidFill>
                            <a:srgbClr val="1B2333"/>
                          </a:solidFill>
                          <a:latin typeface="Arial"/>
                        </a:rPr>
                        <a:t>principales</a:t>
                      </a:r>
                      <a:r>
                        <a:rPr sz="1000" b="0" i="0" dirty="0" lang="es-SV">
                          <a:solidFill>
                            <a:srgbClr val="1B2333"/>
                          </a:solidFill>
                          <a:latin typeface="Arial"/>
                        </a:rPr>
                        <a:t>… o la </a:t>
                      </a:r>
                      <a:r>
                        <a:rPr sz="1000" b="0" i="0" dirty="0" lang="es-SV">
                          <a:solidFill>
                            <a:srgbClr val="1B2333"/>
                          </a:solidFill>
                          <a:latin typeface="Arial"/>
                        </a:rPr>
                        <a:t>adquisición</a:t>
                      </a:r>
                      <a:r>
                        <a:rPr sz="1000" b="0" i="0" dirty="0" lang="es-SV">
                          <a:solidFill>
                            <a:srgbClr val="1B2333"/>
                          </a:solidFill>
                          <a:latin typeface="Arial"/>
                        </a:rPr>
                        <a:t> de </a:t>
                      </a:r>
                      <a:r>
                        <a:rPr sz="1000" b="1" i="0" u="sng" dirty="0" lang="es-SV">
                          <a:solidFill>
                            <a:srgbClr val="00376E"/>
                          </a:solidFill>
                          <a:latin typeface="Arial"/>
                        </a:rPr>
                        <a:t>infraestructura</a:t>
                      </a:r>
                      <a:r>
                        <a:rPr sz="1000" b="1" i="0" u="sng" dirty="0" lang="es-SV">
                          <a:solidFill>
                            <a:srgbClr val="00376E"/>
                          </a:solidFill>
                          <a:latin typeface="Arial"/>
                        </a:rPr>
                        <a:t> y/o</a:t>
                      </a:r>
                      <a:r>
                        <a:rPr sz="1000" b="0" i="0" dirty="0" lang="es-SV">
                          <a:solidFill>
                            <a:srgbClr val="1B2333"/>
                          </a:solidFill>
                          <a:latin typeface="Arial"/>
                        </a:rPr>
                        <a:t> </a:t>
                      </a:r>
                      <a:r>
                        <a:rPr sz="1000" b="0" i="0" dirty="0" lang="es-SV">
                          <a:solidFill>
                            <a:srgbClr val="1B2333"/>
                          </a:solidFill>
                          <a:latin typeface="Arial"/>
                        </a:rPr>
                        <a:t>sistemas</a:t>
                      </a:r>
                      <a:r>
                        <a:rPr sz="1000" b="0" i="0" dirty="0" lang="es-SV">
                          <a:solidFill>
                            <a:srgbClr val="1B2333"/>
                          </a:solidFill>
                          <a:latin typeface="Arial"/>
                        </a:rPr>
                        <a:t> </a:t>
                      </a:r>
                      <a:r>
                        <a:rPr sz="1000" b="0" i="0" dirty="0" lang="es-SV">
                          <a:solidFill>
                            <a:srgbClr val="1B2333"/>
                          </a:solidFill>
                          <a:latin typeface="Arial"/>
                        </a:rPr>
                        <a:t>informáticos</a:t>
                      </a:r>
                      <a:r>
                        <a:rPr sz="1000" b="0" i="0" dirty="0" lang="es-SV">
                          <a:solidFill>
                            <a:srgbClr val="1B2333"/>
                          </a:solidFill>
                          <a:latin typeface="Arial"/>
                        </a:rPr>
                        <a:t>… </a:t>
                      </a:r>
                      <a:r>
                        <a:rPr sz="1000" b="0" i="0" dirty="0" lang="es-SV">
                          <a:solidFill>
                            <a:srgbClr val="1B2333"/>
                          </a:solidFill>
                          <a:latin typeface="Arial"/>
                        </a:rPr>
                        <a:t>deberán</a:t>
                      </a:r>
                      <a:r>
                        <a:rPr sz="1000" b="0" i="0" dirty="0" lang="es-SV">
                          <a:solidFill>
                            <a:srgbClr val="1B2333"/>
                          </a:solidFill>
                          <a:latin typeface="Arial"/>
                        </a:rPr>
                        <a:t> </a:t>
                      </a:r>
                      <a:r>
                        <a:rPr sz="1000" b="0" i="0" dirty="0" lang="es-SV">
                          <a:solidFill>
                            <a:srgbClr val="1B2333"/>
                          </a:solidFill>
                          <a:latin typeface="Arial"/>
                        </a:rPr>
                        <a:t>presentar</a:t>
                      </a:r>
                      <a:r>
                        <a:rPr sz="1000" b="0" i="0" dirty="0" lang="es-SV">
                          <a:solidFill>
                            <a:srgbClr val="1B2333"/>
                          </a:solidFill>
                          <a:latin typeface="Arial"/>
                        </a:rPr>
                        <a:t> al Consejo de Administración la </a:t>
                      </a:r>
                      <a:r>
                        <a:rPr sz="1000" b="0" i="0" dirty="0" lang="es-SV">
                          <a:solidFill>
                            <a:srgbClr val="1B2333"/>
                          </a:solidFill>
                          <a:latin typeface="Arial"/>
                        </a:rPr>
                        <a:t>siguiente</a:t>
                      </a:r>
                      <a:r>
                        <a:rPr sz="1000" b="0" i="0" dirty="0" lang="es-SV">
                          <a:solidFill>
                            <a:srgbClr val="1B2333"/>
                          </a:solidFill>
                          <a:latin typeface="Arial"/>
                        </a:rPr>
                        <a:t> </a:t>
                      </a:r>
                      <a:r>
                        <a:rPr sz="1000" b="0" i="0" dirty="0" lang="es-SV">
                          <a:solidFill>
                            <a:srgbClr val="1B2333"/>
                          </a:solidFill>
                          <a:latin typeface="Arial"/>
                        </a:rPr>
                        <a:t>información</a:t>
                      </a:r>
                      <a:r>
                        <a:rPr sz="1000" b="0" i="0" dirty="0" lang="es-SV">
                          <a:solidFill>
                            <a:srgbClr val="1B2333"/>
                          </a:solidFill>
                          <a:latin typeface="Arial"/>
                        </a:rPr>
                        <a:t>, </a:t>
                      </a:r>
                      <a:r>
                        <a:rPr sz="1000" b="1" i="0" u="sng" dirty="0" lang="es-SV">
                          <a:solidFill>
                            <a:srgbClr val="00376E"/>
                          </a:solidFill>
                          <a:latin typeface="Arial"/>
                        </a:rPr>
                        <a:t>quien</a:t>
                      </a:r>
                      <a:r>
                        <a:rPr sz="1000" b="1" i="0" u="sng" dirty="0" lang="es-SV">
                          <a:solidFill>
                            <a:srgbClr val="00376E"/>
                          </a:solidFill>
                          <a:latin typeface="Arial"/>
                        </a:rPr>
                        <a:t> </a:t>
                      </a:r>
                      <a:r>
                        <a:rPr sz="1000" b="1" i="0" u="sng" dirty="0" lang="es-SV">
                          <a:solidFill>
                            <a:srgbClr val="00376E"/>
                          </a:solidFill>
                          <a:latin typeface="Arial"/>
                        </a:rPr>
                        <a:t>resolverá</a:t>
                      </a:r>
                      <a:r>
                        <a:rPr sz="1000" b="1" i="0" u="sng" dirty="0" lang="es-SV">
                          <a:solidFill>
                            <a:srgbClr val="00376E"/>
                          </a:solidFill>
                          <a:latin typeface="Arial"/>
                        </a:rPr>
                        <a:t> </a:t>
                      </a:r>
                      <a:r>
                        <a:rPr sz="1000" b="1" i="0" u="sng" dirty="0" lang="es-SV">
                          <a:solidFill>
                            <a:srgbClr val="00376E"/>
                          </a:solidFill>
                          <a:latin typeface="Arial"/>
                        </a:rPr>
                        <a:t>dejando</a:t>
                      </a:r>
                      <a:r>
                        <a:rPr sz="1000" b="1" i="0" u="sng" dirty="0" lang="es-SV">
                          <a:solidFill>
                            <a:srgbClr val="00376E"/>
                          </a:solidFill>
                          <a:latin typeface="Arial"/>
                        </a:rPr>
                        <a:t> </a:t>
                      </a:r>
                      <a:r>
                        <a:rPr sz="1000" b="1" i="0" u="sng" dirty="0" lang="es-SV">
                          <a:solidFill>
                            <a:srgbClr val="00376E"/>
                          </a:solidFill>
                          <a:latin typeface="Arial"/>
                        </a:rPr>
                        <a:t>constancia</a:t>
                      </a:r>
                      <a:r>
                        <a:rPr sz="1000" b="1" i="0" u="sng" dirty="0" lang="es-SV">
                          <a:solidFill>
                            <a:srgbClr val="00376E"/>
                          </a:solidFill>
                          <a:latin typeface="Arial"/>
                        </a:rPr>
                        <a:t> de </a:t>
                      </a:r>
                      <a:r>
                        <a:rPr sz="1000" b="1" i="0" u="sng" dirty="0" lang="es-SV">
                          <a:solidFill>
                            <a:srgbClr val="00376E"/>
                          </a:solidFill>
                          <a:latin typeface="Arial"/>
                        </a:rPr>
                        <a:t>su</a:t>
                      </a:r>
                      <a:r>
                        <a:rPr sz="1000" b="1" i="0" u="sng" dirty="0" lang="es-SV">
                          <a:solidFill>
                            <a:srgbClr val="00376E"/>
                          </a:solidFill>
                          <a:latin typeface="Arial"/>
                        </a:rPr>
                        <a:t> </a:t>
                      </a:r>
                      <a:r>
                        <a:rPr sz="1000" b="1" i="0" u="sng" dirty="0" lang="es-SV">
                          <a:solidFill>
                            <a:srgbClr val="00376E"/>
                          </a:solidFill>
                          <a:latin typeface="Arial"/>
                        </a:rPr>
                        <a:t>decisión</a:t>
                      </a:r>
                      <a:r>
                        <a:rPr sz="1000" b="1" i="0" u="sng" dirty="0" lang="es-SV">
                          <a:solidFill>
                            <a:srgbClr val="00376E"/>
                          </a:solidFill>
                          <a:latin typeface="Arial"/>
                        </a:rPr>
                        <a:t> </a:t>
                      </a:r>
                      <a:r>
                        <a:rPr sz="1000" b="1" i="0" u="sng" dirty="0" lang="es-SV">
                          <a:solidFill>
                            <a:srgbClr val="00376E"/>
                          </a:solidFill>
                          <a:latin typeface="Arial"/>
                        </a:rPr>
                        <a:t>en</a:t>
                      </a:r>
                      <a:r>
                        <a:rPr sz="1000" b="1" i="0" u="sng" dirty="0" lang="es-SV">
                          <a:solidFill>
                            <a:srgbClr val="00376E"/>
                          </a:solidFill>
                          <a:latin typeface="Arial"/>
                        </a:rPr>
                        <a:t> el Acta de </a:t>
                      </a:r>
                      <a:r>
                        <a:rPr sz="1000" b="1" i="0" u="sng" dirty="0" lang="es-SV">
                          <a:solidFill>
                            <a:srgbClr val="00376E"/>
                          </a:solidFill>
                          <a:latin typeface="Arial"/>
                        </a:rPr>
                        <a:t>Sesión</a:t>
                      </a:r>
                      <a:r>
                        <a:rPr sz="1000" b="1" i="0" u="sng" dirty="0" lang="es-SV">
                          <a:solidFill>
                            <a:srgbClr val="00376E"/>
                          </a:solidFill>
                          <a:latin typeface="Arial"/>
                        </a:rPr>
                        <a:t> </a:t>
                      </a:r>
                      <a:r>
                        <a:rPr sz="1000" b="1" i="0" u="sng" dirty="0" lang="es-SV">
                          <a:solidFill>
                            <a:srgbClr val="00376E"/>
                          </a:solidFill>
                          <a:latin typeface="Arial"/>
                        </a:rPr>
                        <a:t>correspondiente</a:t>
                      </a:r>
                      <a:r>
                        <a:rPr sz="1000" b="1" i="0" u="sng" dirty="0" lang="es-SV">
                          <a:solidFill>
                            <a:srgbClr val="00376E"/>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Alineado</a:t>
                      </a:r>
                      <a:r>
                        <a:rPr sz="1000" b="0" i="0" dirty="0" lang="es-SV">
                          <a:solidFill>
                            <a:srgbClr val="1B2333"/>
                          </a:solidFill>
                          <a:latin typeface="Arial"/>
                        </a:rPr>
                        <a:t> a la </a:t>
                      </a:r>
                      <a:r>
                        <a:rPr sz="1000" b="0" i="0" dirty="0" lang="es-SV">
                          <a:solidFill>
                            <a:srgbClr val="1B2333"/>
                          </a:solidFill>
                          <a:latin typeface="Arial"/>
                        </a:rPr>
                        <a:t>reforma</a:t>
                      </a:r>
                      <a:r>
                        <a:rPr sz="1000" b="0" i="0" dirty="0" lang="es-SV">
                          <a:solidFill>
                            <a:srgbClr val="1B2333"/>
                          </a:solidFill>
                          <a:latin typeface="Arial"/>
                        </a:rPr>
                        <a:t> 2025 de la NRP-23.</a:t>
                      </a:r>
                    </a:p>
                    <a:p>
                      <a:pPr algn="just"/>
                      <a:r>
                        <a:rPr sz="1000" b="1" i="0" dirty="0" lang="es-SV">
                          <a:solidFill>
                            <a:srgbClr val="00376E"/>
                          </a:solidFill>
                          <a:latin typeface="Arial"/>
                        </a:rPr>
                        <a:t>NRP-23, art. 22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74320">
                <a:tc>
                  <a:txBody>
                    <a:bodyPr/>
                    <a:lstStyle/>
                    <a:p>
                      <a:pPr algn="just"/>
                      <a:r>
                        <a:rPr sz="1000" b="1" i="0" lang="es-SV">
                          <a:solidFill>
                            <a:srgbClr val="00376E"/>
                          </a:solidFill>
                          <a:latin typeface="Arial"/>
                        </a:rPr>
                        <a:t>41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La información deberá remitirse a la Superintendencia con quince días hábiles de anticipación a la puesta en producción; las condiciones del Anexo No. 1 se documentarán en un informe con cronograma de actividades (plazos, responsables e hitos), remitido también con quince días hábiles de anticipación.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Obligación</a:t>
                      </a:r>
                      <a:r>
                        <a:rPr sz="1000" b="0" i="0" dirty="0" lang="es-SV">
                          <a:solidFill>
                            <a:srgbClr val="1B2333"/>
                          </a:solidFill>
                          <a:latin typeface="Arial"/>
                        </a:rPr>
                        <a:t> de </a:t>
                      </a:r>
                      <a:r>
                        <a:rPr sz="1000" b="0" i="0" dirty="0" lang="es-SV">
                          <a:solidFill>
                            <a:srgbClr val="1B2333"/>
                          </a:solidFill>
                          <a:latin typeface="Arial"/>
                        </a:rPr>
                        <a:t>reporte</a:t>
                      </a:r>
                      <a:r>
                        <a:rPr sz="1000" b="0" i="0" dirty="0" lang="es-SV">
                          <a:solidFill>
                            <a:srgbClr val="1B2333"/>
                          </a:solidFill>
                          <a:latin typeface="Arial"/>
                        </a:rPr>
                        <a:t> a la </a:t>
                      </a:r>
                      <a:r>
                        <a:rPr sz="1000" b="0" i="0" dirty="0" lang="es-SV">
                          <a:solidFill>
                            <a:srgbClr val="1B2333"/>
                          </a:solidFill>
                          <a:latin typeface="Arial"/>
                        </a:rPr>
                        <a:t>Superintendencia</a:t>
                      </a:r>
                      <a:r>
                        <a:rPr sz="1000" b="0" i="0" dirty="0" lang="es-SV">
                          <a:solidFill>
                            <a:srgbClr val="1B2333"/>
                          </a:solidFill>
                          <a:latin typeface="Arial"/>
                        </a:rPr>
                        <a:t>.</a:t>
                      </a:r>
                    </a:p>
                    <a:p>
                      <a:pPr algn="just"/>
                      <a:r>
                        <a:rPr sz="1000" b="1" i="0" dirty="0" lang="es-SV">
                          <a:solidFill>
                            <a:srgbClr val="00376E"/>
                          </a:solidFill>
                          <a:latin typeface="Arial"/>
                        </a:rPr>
                        <a:t>NRP-23, arts. 22 y 26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bl>
          </a:graphicData>
        </a:graphic>
      </p:graphicFrame>
      <p:sp>
        <p:nvSpPr>
          <p:cNvPr id="17" name="TextBox 16"/>
          <p:cNvSpPr txBox="1"/>
          <p:nvPr/>
        </p:nvSpPr>
        <p:spPr>
          <a:xfrm>
            <a:off x="548640" y="6355080"/>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Texto subrayado en azul</a:t>
            </a:r>
            <a:r>
              <a:rPr sz="1000" b="0" i="0" lang="es-SV">
                <a:solidFill>
                  <a:srgbClr val="5B6578"/>
                </a:solidFill>
                <a:latin typeface="Arial"/>
              </a:rPr>
              <a:t> = nuevo o modificado respecto a la versión vigente</a:t>
            </a:r>
          </a:p>
        </p:txBody>
      </p:sp>
      <p:sp>
        <p:nvSpPr>
          <p:cNvPr id="3" name="Rectángulo 2">
            <a:extLst>
              <a:ext uri="{FF2B5EF4-FFF2-40B4-BE49-F238E27FC236}">
                <a16:creationId xmlns:a16="http://schemas.microsoft.com/office/drawing/2014/main" id="{B90D0C2E-0033-31C8-BCD1-E354B5CCEF84}"/>
              </a:ext>
            </a:extLst>
          </p:cNvPr>
          <p:cNvSpPr/>
          <p:nvPr/>
        </p:nvSpPr>
        <p:spPr>
          <a:xfrm>
            <a:off x="550164" y="2994660"/>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5" name="TextBox 14">
            <a:extLst>
              <a:ext uri="{FF2B5EF4-FFF2-40B4-BE49-F238E27FC236}">
                <a16:creationId xmlns:a16="http://schemas.microsoft.com/office/drawing/2014/main" id="{5C15EEA6-70E9-376E-6E44-9B41980F8889}"/>
              </a:ext>
            </a:extLst>
          </p:cNvPr>
          <p:cNvSpPr txBox="1"/>
          <p:nvPr/>
        </p:nvSpPr>
        <p:spPr>
          <a:xfrm>
            <a:off x="806196" y="2884932"/>
            <a:ext cx="9966960" cy="685800"/>
          </a:xfrm>
          <a:prstGeom prst="rect">
            <a:avLst/>
          </a:prstGeom>
          <a:noFill/>
        </p:spPr>
        <p:txBody>
          <a:bodyPr wrap="square" lIns="0" tIns="0" rIns="0" bIns="0" anchor="ctr">
            <a:spAutoFit/>
          </a:bodyPr>
          <a:lstStyle/>
          <a:p>
            <a:pPr algn="l"/>
            <a:r>
              <a:rPr sz="2100" b="1" i="0" dirty="0" lang="es-SV">
                <a:solidFill>
                  <a:srgbClr val="00376E"/>
                </a:solidFill>
                <a:latin typeface="Century Gothic"/>
              </a:rPr>
              <a:t>VII. </a:t>
            </a:r>
            <a:r>
              <a:rPr sz="2100" b="1" i="0" dirty="0" lang="es-SV">
                <a:solidFill>
                  <a:srgbClr val="00376E"/>
                </a:solidFill>
                <a:latin typeface="Century Gothic"/>
              </a:rPr>
              <a:t>Evaluación</a:t>
            </a:r>
            <a:r>
              <a:rPr sz="2100" b="1" i="0" dirty="0" lang="es-SV">
                <a:solidFill>
                  <a:srgbClr val="00376E"/>
                </a:solidFill>
                <a:latin typeface="Century Gothic"/>
              </a:rPr>
              <a:t> de </a:t>
            </a:r>
            <a:r>
              <a:rPr sz="2100" b="1" i="0" dirty="0" lang="es-SV">
                <a:solidFill>
                  <a:srgbClr val="00376E"/>
                </a:solidFill>
                <a:latin typeface="Century Gothic"/>
              </a:rPr>
              <a:t>los</a:t>
            </a:r>
            <a:r>
              <a:rPr sz="2100" b="1" i="0" dirty="0" lang="es-SV">
                <a:solidFill>
                  <a:srgbClr val="00376E"/>
                </a:solidFill>
                <a:latin typeface="Century Gothic"/>
              </a:rPr>
              <a:t> </a:t>
            </a:r>
            <a:r>
              <a:rPr sz="2100" b="1" i="0" dirty="0" lang="es-SV">
                <a:solidFill>
                  <a:srgbClr val="00376E"/>
                </a:solidFill>
                <a:latin typeface="Century Gothic"/>
              </a:rPr>
              <a:t>proveedores</a:t>
            </a:r>
            <a:r>
              <a:rPr sz="2100" b="1" i="0" dirty="0" lang="es-SV">
                <a:solidFill>
                  <a:srgbClr val="00376E"/>
                </a:solidFill>
                <a:latin typeface="Century Gothic"/>
              </a:rPr>
              <a:t> de </a:t>
            </a:r>
            <a:r>
              <a:rPr sz="2100" b="1" i="0" dirty="0" lang="es-SV">
                <a:solidFill>
                  <a:srgbClr val="00376E"/>
                </a:solidFill>
                <a:latin typeface="Century Gothic"/>
              </a:rPr>
              <a:t>Servicios</a:t>
            </a:r>
            <a:r>
              <a:rPr sz="2100" b="1" i="0" dirty="0" lang="es-SV">
                <a:solidFill>
                  <a:srgbClr val="00376E"/>
                </a:solidFill>
                <a:latin typeface="Century Gothic"/>
              </a:rPr>
              <a:t> </a:t>
            </a:r>
            <a:r>
              <a:rPr sz="2100" b="1" i="0" dirty="0" lang="es-SV">
                <a:solidFill>
                  <a:srgbClr val="00376E"/>
                </a:solidFill>
                <a:latin typeface="Century Gothic"/>
              </a:rPr>
              <a:t>Críticos</a:t>
            </a:r>
            <a:r>
              <a:rPr sz="2100" b="1" i="0" dirty="0" lang="es-SV">
                <a:solidFill>
                  <a:srgbClr val="00376E"/>
                </a:solidFill>
                <a:latin typeface="Century Gothic"/>
              </a:rPr>
              <a:t> </a:t>
            </a:r>
            <a:r>
              <a:rPr sz="2100" b="1" i="0" dirty="0" lang="es-SV">
                <a:solidFill>
                  <a:srgbClr val="00376E"/>
                </a:solidFill>
                <a:latin typeface="Century Gothic"/>
              </a:rPr>
              <a:t>Tercerizados</a:t>
            </a:r>
            <a:endParaRPr sz="2100" b="1" i="0" dirty="0" lang="es-SV">
              <a:solidFill>
                <a:srgbClr val="00376E"/>
              </a:solidFill>
              <a:latin typeface="Century Gothic"/>
            </a:endParaRPr>
          </a:p>
        </p:txBody>
      </p:sp>
      <p:graphicFrame>
        <p:nvGraphicFramePr>
          <p:cNvPr id="7" name="Table 15">
            <a:extLst>
              <a:ext uri="{FF2B5EF4-FFF2-40B4-BE49-F238E27FC236}">
                <a16:creationId xmlns:a16="http://schemas.microsoft.com/office/drawing/2014/main" id="{EF5ED633-7FC1-4159-EA73-8D6D96EAF6EB}"/>
              </a:ext>
            </a:extLst>
          </p:cNvPr>
          <p:cNvGraphicFramePr>
            <a:graphicFrameLocks noGrp="1"/>
          </p:cNvGraphicFramePr>
          <p:nvPr>
            <p:extLst>
              <p:ext uri="{D42A27DB-BD31-4B8C-83A1-F6EECF244321}">
                <p14:modId xmlns:p14="http://schemas.microsoft.com/office/powerpoint/2010/main" val="3535298266"/>
              </p:ext>
            </p:extLst>
          </p:nvPr>
        </p:nvGraphicFramePr>
        <p:xfrm>
          <a:off x="550164" y="3753612"/>
          <a:ext cx="11091672" cy="2359152"/>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347472">
                <a:tc>
                  <a:txBody>
                    <a:bodyPr/>
                    <a:lstStyle/>
                    <a:p>
                      <a:pPr algn="just"/>
                      <a:r>
                        <a:rPr sz="1000" b="1" i="0" dirty="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dirty="0" lang="es-SV">
                          <a:solidFill>
                            <a:srgbClr val="FFFFFF"/>
                          </a:solidFill>
                          <a:latin typeface="Arial"/>
                        </a:rPr>
                        <a:t>Dice (V03 </a:t>
                      </a:r>
                      <a:r>
                        <a:rPr sz="1000" b="1" i="0" dirty="0" lang="es-SV">
                          <a:solidFill>
                            <a:srgbClr val="FFFFFF"/>
                          </a:solidFill>
                          <a:latin typeface="Arial"/>
                        </a:rPr>
                        <a:t>vigente</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dirty="0" lang="es-SV">
                          <a:solidFill>
                            <a:srgbClr val="FFFFFF"/>
                          </a:solidFill>
                          <a:latin typeface="Arial"/>
                        </a:rPr>
                        <a:t>Debe </a:t>
                      </a:r>
                      <a:r>
                        <a:rPr sz="1000" b="1" i="0" dirty="0" lang="es-SV">
                          <a:solidFill>
                            <a:srgbClr val="FFFFFF"/>
                          </a:solidFill>
                          <a:latin typeface="Arial"/>
                        </a:rPr>
                        <a:t>decir</a:t>
                      </a:r>
                      <a:r>
                        <a:rPr sz="1000" b="1" i="0" dirty="0" lang="es-SV">
                          <a:solidFill>
                            <a:srgbClr val="FFFFFF"/>
                          </a:solidFill>
                          <a:latin typeface="Arial"/>
                        </a:rPr>
                        <a:t> (V04 </a:t>
                      </a:r>
                      <a:r>
                        <a:rPr sz="1000" b="1" i="0" dirty="0" lang="es-SV">
                          <a:solidFill>
                            <a:srgbClr val="FFFFFF"/>
                          </a:solidFill>
                          <a:latin typeface="Arial"/>
                        </a:rPr>
                        <a:t>propuesta</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Mejora y base normativa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74320">
                <a:tc>
                  <a:txBody>
                    <a:bodyPr/>
                    <a:lstStyle/>
                    <a:p>
                      <a:pPr algn="just"/>
                      <a:r>
                        <a:rPr sz="1000" b="1" i="0" lang="es-SV">
                          <a:solidFill>
                            <a:srgbClr val="00376E"/>
                          </a:solidFill>
                          <a:latin typeface="Arial"/>
                        </a:rPr>
                        <a:t>42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Cuando se </a:t>
                      </a:r>
                      <a:r>
                        <a:rPr sz="1000" b="0" i="0" dirty="0" lang="es-SV">
                          <a:solidFill>
                            <a:srgbClr val="1B2333"/>
                          </a:solidFill>
                          <a:latin typeface="Arial"/>
                        </a:rPr>
                        <a:t>requiera</a:t>
                      </a:r>
                      <a:r>
                        <a:rPr sz="1000" b="0" i="0" dirty="0" lang="es-SV">
                          <a:solidFill>
                            <a:srgbClr val="1B2333"/>
                          </a:solidFill>
                          <a:latin typeface="Arial"/>
                        </a:rPr>
                        <a:t> </a:t>
                      </a:r>
                      <a:r>
                        <a:rPr sz="1000" b="0" i="0" dirty="0" lang="es-SV">
                          <a:solidFill>
                            <a:srgbClr val="1B2333"/>
                          </a:solidFill>
                          <a:latin typeface="Arial"/>
                        </a:rPr>
                        <a:t>adquisición</a:t>
                      </a:r>
                      <a:r>
                        <a:rPr sz="1000" b="0" i="0" dirty="0" lang="es-SV">
                          <a:solidFill>
                            <a:srgbClr val="1B2333"/>
                          </a:solidFill>
                          <a:latin typeface="Arial"/>
                        </a:rPr>
                        <a:t> de </a:t>
                      </a:r>
                      <a:r>
                        <a:rPr sz="1000" b="0" i="0" dirty="0" lang="es-SV">
                          <a:solidFill>
                            <a:srgbClr val="1B2333"/>
                          </a:solidFill>
                          <a:latin typeface="Arial"/>
                        </a:rPr>
                        <a:t>productos</a:t>
                      </a:r>
                      <a:r>
                        <a:rPr sz="1000" b="0" i="0" dirty="0" lang="es-SV">
                          <a:solidFill>
                            <a:srgbClr val="1B2333"/>
                          </a:solidFill>
                          <a:latin typeface="Arial"/>
                        </a:rPr>
                        <a:t> o </a:t>
                      </a:r>
                      <a:r>
                        <a:rPr sz="1000" b="0" i="0" dirty="0" lang="es-SV">
                          <a:solidFill>
                            <a:srgbClr val="1B2333"/>
                          </a:solidFill>
                          <a:latin typeface="Arial"/>
                        </a:rPr>
                        <a:t>servicios</a:t>
                      </a:r>
                      <a:r>
                        <a:rPr sz="1000" b="0" i="0" dirty="0" lang="es-SV">
                          <a:solidFill>
                            <a:srgbClr val="1B2333"/>
                          </a:solidFill>
                          <a:latin typeface="Arial"/>
                        </a:rPr>
                        <a:t> </a:t>
                      </a:r>
                      <a:r>
                        <a:rPr sz="1000" b="0" i="0" dirty="0" lang="es-SV">
                          <a:solidFill>
                            <a:srgbClr val="1B2333"/>
                          </a:solidFill>
                          <a:latin typeface="Arial"/>
                        </a:rPr>
                        <a:t>críticos</a:t>
                      </a:r>
                      <a:r>
                        <a:rPr sz="1000" b="0" i="0" dirty="0" lang="es-SV">
                          <a:solidFill>
                            <a:srgbClr val="1B2333"/>
                          </a:solidFill>
                          <a:latin typeface="Arial"/>
                        </a:rPr>
                        <a:t> </a:t>
                      </a:r>
                      <a:r>
                        <a:rPr sz="1000" b="0" i="0" dirty="0" lang="es-SV">
                          <a:solidFill>
                            <a:srgbClr val="1B2333"/>
                          </a:solidFill>
                          <a:latin typeface="Arial"/>
                        </a:rPr>
                        <a:t>tercerizados</a:t>
                      </a:r>
                      <a:r>
                        <a:rPr sz="1000" b="0" i="0" dirty="0" lang="es-SV">
                          <a:solidFill>
                            <a:srgbClr val="1B2333"/>
                          </a:solidFill>
                          <a:latin typeface="Arial"/>
                        </a:rPr>
                        <a:t>, el </a:t>
                      </a:r>
                      <a:r>
                        <a:rPr sz="1000" b="0" i="0" dirty="0" lang="es-SV">
                          <a:solidFill>
                            <a:srgbClr val="1B2333"/>
                          </a:solidFill>
                          <a:latin typeface="Arial"/>
                        </a:rPr>
                        <a:t>área</a:t>
                      </a:r>
                      <a:r>
                        <a:rPr sz="1000" b="0" i="0" dirty="0" lang="es-SV">
                          <a:solidFill>
                            <a:srgbClr val="1B2333"/>
                          </a:solidFill>
                          <a:latin typeface="Arial"/>
                        </a:rPr>
                        <a:t> </a:t>
                      </a:r>
                      <a:r>
                        <a:rPr sz="1000" b="0" i="0" dirty="0" lang="es-SV">
                          <a:solidFill>
                            <a:srgbClr val="1B2333"/>
                          </a:solidFill>
                          <a:latin typeface="Arial"/>
                        </a:rPr>
                        <a:t>solicitante</a:t>
                      </a:r>
                      <a:r>
                        <a:rPr sz="1000" b="0" i="0" dirty="0" lang="es-SV">
                          <a:solidFill>
                            <a:srgbClr val="1B2333"/>
                          </a:solidFill>
                          <a:latin typeface="Arial"/>
                        </a:rPr>
                        <a:t> </a:t>
                      </a:r>
                      <a:r>
                        <a:rPr sz="1000" b="0" i="0" dirty="0" lang="es-SV">
                          <a:solidFill>
                            <a:srgbClr val="1B2333"/>
                          </a:solidFill>
                          <a:latin typeface="Arial"/>
                        </a:rPr>
                        <a:t>deberá</a:t>
                      </a:r>
                      <a:r>
                        <a:rPr sz="1000" b="0" i="0" dirty="0" lang="es-SV">
                          <a:solidFill>
                            <a:srgbClr val="1B2333"/>
                          </a:solidFill>
                          <a:latin typeface="Arial"/>
                        </a:rPr>
                        <a:t> </a:t>
                      </a:r>
                      <a:r>
                        <a:rPr sz="1000" b="0" i="0" dirty="0" lang="es-SV">
                          <a:solidFill>
                            <a:srgbClr val="1B2333"/>
                          </a:solidFill>
                          <a:latin typeface="Arial"/>
                        </a:rPr>
                        <a:t>requerir</a:t>
                      </a:r>
                      <a:r>
                        <a:rPr sz="1000" b="0" i="0" dirty="0" lang="es-SV">
                          <a:solidFill>
                            <a:srgbClr val="1B2333"/>
                          </a:solidFill>
                          <a:latin typeface="Arial"/>
                        </a:rPr>
                        <a:t> al Departamento de Administración de </a:t>
                      </a:r>
                      <a:r>
                        <a:rPr sz="1000" b="0" i="0" dirty="0" lang="es-SV">
                          <a:solidFill>
                            <a:srgbClr val="1B2333"/>
                          </a:solidFill>
                          <a:latin typeface="Arial"/>
                        </a:rPr>
                        <a:t>Riesgos</a:t>
                      </a:r>
                      <a:r>
                        <a:rPr sz="1000" b="0" i="0" dirty="0" lang="es-SV">
                          <a:solidFill>
                            <a:srgbClr val="1B2333"/>
                          </a:solidFill>
                          <a:latin typeface="Arial"/>
                        </a:rPr>
                        <a:t>, </a:t>
                      </a:r>
                      <a:r>
                        <a:rPr sz="1000" b="0" i="0" dirty="0" lang="es-SV">
                          <a:solidFill>
                            <a:srgbClr val="1B2333"/>
                          </a:solidFill>
                          <a:latin typeface="Arial"/>
                        </a:rPr>
                        <a:t>una</a:t>
                      </a:r>
                      <a:r>
                        <a:rPr sz="1000" b="0" i="0" dirty="0" lang="es-SV">
                          <a:solidFill>
                            <a:srgbClr val="1B2333"/>
                          </a:solidFill>
                          <a:latin typeface="Arial"/>
                        </a:rPr>
                        <a:t> </a:t>
                      </a:r>
                      <a:r>
                        <a:rPr sz="1000" b="0" i="0" dirty="0" lang="es-SV">
                          <a:solidFill>
                            <a:srgbClr val="1B2333"/>
                          </a:solidFill>
                          <a:latin typeface="Arial"/>
                        </a:rPr>
                        <a:t>evaluación</a:t>
                      </a:r>
                      <a:r>
                        <a:rPr sz="1000" b="0" i="0" dirty="0" lang="es-SV">
                          <a:solidFill>
                            <a:srgbClr val="1B2333"/>
                          </a:solidFill>
                          <a:latin typeface="Arial"/>
                        </a:rPr>
                        <a:t> de </a:t>
                      </a:r>
                      <a:r>
                        <a:rPr sz="1000" b="0" i="0" dirty="0" lang="es-SV">
                          <a:solidFill>
                            <a:srgbClr val="1B2333"/>
                          </a:solidFill>
                          <a:latin typeface="Arial"/>
                        </a:rPr>
                        <a:t>los</a:t>
                      </a:r>
                      <a:r>
                        <a:rPr sz="1000" b="0" i="0" dirty="0" lang="es-SV">
                          <a:solidFill>
                            <a:srgbClr val="1B2333"/>
                          </a:solidFill>
                          <a:latin typeface="Arial"/>
                        </a:rPr>
                        <a:t> </a:t>
                      </a:r>
                      <a:r>
                        <a:rPr sz="1000" b="0" i="0" dirty="0" lang="es-SV">
                          <a:solidFill>
                            <a:srgbClr val="1B2333"/>
                          </a:solidFill>
                          <a:latin typeface="Arial"/>
                        </a:rPr>
                        <a:t>potenciales</a:t>
                      </a:r>
                      <a:r>
                        <a:rPr sz="1000" b="0" i="0" dirty="0" lang="es-SV">
                          <a:solidFill>
                            <a:srgbClr val="1B2333"/>
                          </a:solidFill>
                          <a:latin typeface="Arial"/>
                        </a:rPr>
                        <a:t> </a:t>
                      </a:r>
                      <a:r>
                        <a:rPr sz="1000" b="0" i="0" dirty="0" lang="es-SV">
                          <a:solidFill>
                            <a:srgbClr val="1B2333"/>
                          </a:solidFill>
                          <a:latin typeface="Arial"/>
                        </a:rPr>
                        <a:t>riesgos</a:t>
                      </a:r>
                      <a:r>
                        <a:rPr sz="1000" b="0" i="0" dirty="0" lang="es-SV">
                          <a:solidFill>
                            <a:srgbClr val="1B2333"/>
                          </a:solidFill>
                          <a:latin typeface="Arial"/>
                        </a:rPr>
                        <a:t> de </a:t>
                      </a:r>
                      <a:r>
                        <a:rPr sz="1000" b="0" i="0" dirty="0" lang="es-SV">
                          <a:solidFill>
                            <a:srgbClr val="1B2333"/>
                          </a:solidFill>
                          <a:latin typeface="Arial"/>
                        </a:rPr>
                        <a:t>los</a:t>
                      </a:r>
                      <a:r>
                        <a:rPr sz="1000" b="0" i="0" dirty="0" lang="es-SV">
                          <a:solidFill>
                            <a:srgbClr val="1B2333"/>
                          </a:solidFill>
                          <a:latin typeface="Arial"/>
                        </a:rPr>
                        <a:t> </a:t>
                      </a:r>
                      <a:r>
                        <a:rPr sz="1000" b="0" i="0" dirty="0" lang="es-SV">
                          <a:solidFill>
                            <a:srgbClr val="1B2333"/>
                          </a:solidFill>
                          <a:latin typeface="Arial"/>
                        </a:rPr>
                        <a:t>servicios</a:t>
                      </a:r>
                      <a:r>
                        <a:rPr sz="1000" b="0" i="0" dirty="0" lang="es-SV">
                          <a:solidFill>
                            <a:srgbClr val="1B2333"/>
                          </a:solidFill>
                          <a:latin typeface="Arial"/>
                        </a:rPr>
                        <a:t> a </a:t>
                      </a:r>
                      <a:r>
                        <a:rPr sz="1000" b="0" i="0" dirty="0" lang="es-SV">
                          <a:solidFill>
                            <a:srgbClr val="1B2333"/>
                          </a:solidFill>
                          <a:latin typeface="Arial"/>
                        </a:rPr>
                        <a:t>contratar</a:t>
                      </a:r>
                      <a:r>
                        <a:rPr sz="1000" b="0" i="0" dirty="0" lang="es-SV">
                          <a:solidFill>
                            <a:srgbClr val="1B2333"/>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a:t>
                      </a:r>
                      <a:r>
                        <a:rPr sz="1000" b="0" i="0" dirty="0" lang="es-SV">
                          <a:solidFill>
                            <a:srgbClr val="1B2333"/>
                          </a:solidFill>
                          <a:latin typeface="Arial"/>
                        </a:rPr>
                        <a:t>deberá</a:t>
                      </a:r>
                      <a:r>
                        <a:rPr sz="1000" b="0" i="0" dirty="0" lang="es-SV">
                          <a:solidFill>
                            <a:srgbClr val="1B2333"/>
                          </a:solidFill>
                          <a:latin typeface="Arial"/>
                        </a:rPr>
                        <a:t> </a:t>
                      </a:r>
                      <a:r>
                        <a:rPr sz="1000" b="0" i="0" dirty="0" lang="es-SV">
                          <a:solidFill>
                            <a:srgbClr val="1B2333"/>
                          </a:solidFill>
                          <a:latin typeface="Arial"/>
                        </a:rPr>
                        <a:t>requerir</a:t>
                      </a:r>
                      <a:r>
                        <a:rPr sz="1000" b="0" i="0" dirty="0" lang="es-SV">
                          <a:solidFill>
                            <a:srgbClr val="1B2333"/>
                          </a:solidFill>
                          <a:latin typeface="Arial"/>
                        </a:rPr>
                        <a:t> al Departamento de Administración de </a:t>
                      </a:r>
                      <a:r>
                        <a:rPr sz="1000" b="0" i="0" dirty="0" lang="es-SV">
                          <a:solidFill>
                            <a:srgbClr val="1B2333"/>
                          </a:solidFill>
                          <a:latin typeface="Arial"/>
                        </a:rPr>
                        <a:t>Riesgos</a:t>
                      </a:r>
                      <a:r>
                        <a:rPr sz="1000" b="0" i="0" dirty="0" lang="es-SV">
                          <a:solidFill>
                            <a:srgbClr val="1B2333"/>
                          </a:solidFill>
                          <a:latin typeface="Arial"/>
                        </a:rPr>
                        <a:t> </a:t>
                      </a:r>
                      <a:r>
                        <a:rPr sz="1000" b="0" i="0" dirty="0" lang="es-SV">
                          <a:solidFill>
                            <a:srgbClr val="1B2333"/>
                          </a:solidFill>
                          <a:latin typeface="Arial"/>
                        </a:rPr>
                        <a:t>una</a:t>
                      </a:r>
                      <a:r>
                        <a:rPr sz="1000" b="0" i="0" dirty="0" lang="es-SV">
                          <a:solidFill>
                            <a:srgbClr val="1B2333"/>
                          </a:solidFill>
                          <a:latin typeface="Arial"/>
                        </a:rPr>
                        <a:t> </a:t>
                      </a:r>
                      <a:r>
                        <a:rPr sz="1000" b="0" i="0" dirty="0" lang="es-SV">
                          <a:solidFill>
                            <a:srgbClr val="1B2333"/>
                          </a:solidFill>
                          <a:latin typeface="Arial"/>
                        </a:rPr>
                        <a:t>evaluación</a:t>
                      </a:r>
                      <a:r>
                        <a:rPr sz="1000" b="0" i="0" dirty="0" lang="es-SV">
                          <a:solidFill>
                            <a:srgbClr val="1B2333"/>
                          </a:solidFill>
                          <a:latin typeface="Arial"/>
                        </a:rPr>
                        <a:t> de </a:t>
                      </a:r>
                      <a:r>
                        <a:rPr sz="1000" b="0" i="0" dirty="0" lang="es-SV">
                          <a:solidFill>
                            <a:srgbClr val="1B2333"/>
                          </a:solidFill>
                          <a:latin typeface="Arial"/>
                        </a:rPr>
                        <a:t>los</a:t>
                      </a:r>
                      <a:r>
                        <a:rPr sz="1000" b="0" i="0" dirty="0" lang="es-SV">
                          <a:solidFill>
                            <a:srgbClr val="1B2333"/>
                          </a:solidFill>
                          <a:latin typeface="Arial"/>
                        </a:rPr>
                        <a:t> </a:t>
                      </a:r>
                      <a:r>
                        <a:rPr sz="1000" b="0" i="0" dirty="0" lang="es-SV">
                          <a:solidFill>
                            <a:srgbClr val="1B2333"/>
                          </a:solidFill>
                          <a:latin typeface="Arial"/>
                        </a:rPr>
                        <a:t>potenciales</a:t>
                      </a:r>
                      <a:r>
                        <a:rPr sz="1000" b="0" i="0" dirty="0" lang="es-SV">
                          <a:solidFill>
                            <a:srgbClr val="1B2333"/>
                          </a:solidFill>
                          <a:latin typeface="Arial"/>
                        </a:rPr>
                        <a:t> </a:t>
                      </a:r>
                      <a:r>
                        <a:rPr sz="1000" b="0" i="0" dirty="0" lang="es-SV">
                          <a:solidFill>
                            <a:srgbClr val="1B2333"/>
                          </a:solidFill>
                          <a:latin typeface="Arial"/>
                        </a:rPr>
                        <a:t>riesgos</a:t>
                      </a:r>
                      <a:r>
                        <a:rPr sz="1000" b="0" i="0" dirty="0" lang="es-SV">
                          <a:solidFill>
                            <a:srgbClr val="1B2333"/>
                          </a:solidFill>
                          <a:latin typeface="Arial"/>
                        </a:rPr>
                        <a:t> de </a:t>
                      </a:r>
                      <a:r>
                        <a:rPr sz="1000" b="0" i="0" dirty="0" lang="es-SV">
                          <a:solidFill>
                            <a:srgbClr val="1B2333"/>
                          </a:solidFill>
                          <a:latin typeface="Arial"/>
                        </a:rPr>
                        <a:t>los</a:t>
                      </a:r>
                      <a:r>
                        <a:rPr sz="1000" b="0" i="0" dirty="0" lang="es-SV">
                          <a:solidFill>
                            <a:srgbClr val="1B2333"/>
                          </a:solidFill>
                          <a:latin typeface="Arial"/>
                        </a:rPr>
                        <a:t> </a:t>
                      </a:r>
                      <a:r>
                        <a:rPr sz="1000" b="0" i="0" dirty="0" lang="es-SV">
                          <a:solidFill>
                            <a:srgbClr val="1B2333"/>
                          </a:solidFill>
                          <a:latin typeface="Arial"/>
                        </a:rPr>
                        <a:t>servicios</a:t>
                      </a:r>
                      <a:r>
                        <a:rPr sz="1000" b="0" i="0" dirty="0" lang="es-SV">
                          <a:solidFill>
                            <a:srgbClr val="1B2333"/>
                          </a:solidFill>
                          <a:latin typeface="Arial"/>
                        </a:rPr>
                        <a:t> a </a:t>
                      </a:r>
                      <a:r>
                        <a:rPr sz="1000" b="0" i="0" dirty="0" lang="es-SV">
                          <a:solidFill>
                            <a:srgbClr val="1B2333"/>
                          </a:solidFill>
                          <a:latin typeface="Arial"/>
                        </a:rPr>
                        <a:t>contratar</a:t>
                      </a:r>
                      <a:r>
                        <a:rPr sz="1000" b="1" i="0" u="sng" dirty="0" lang="es-SV">
                          <a:solidFill>
                            <a:srgbClr val="00376E"/>
                          </a:solidFill>
                          <a:latin typeface="Arial"/>
                        </a:rPr>
                        <a:t>, la </a:t>
                      </a:r>
                      <a:r>
                        <a:rPr sz="1000" b="1" i="0" u="sng" dirty="0" lang="es-SV">
                          <a:solidFill>
                            <a:srgbClr val="00376E"/>
                          </a:solidFill>
                          <a:latin typeface="Arial"/>
                        </a:rPr>
                        <a:t>cual</a:t>
                      </a:r>
                      <a:r>
                        <a:rPr sz="1000" b="1" i="0" u="sng" dirty="0" lang="es-SV">
                          <a:solidFill>
                            <a:srgbClr val="00376E"/>
                          </a:solidFill>
                          <a:latin typeface="Arial"/>
                        </a:rPr>
                        <a:t> </a:t>
                      </a:r>
                      <a:r>
                        <a:rPr sz="1000" b="1" i="0" u="sng" dirty="0" lang="es-SV">
                          <a:solidFill>
                            <a:srgbClr val="00376E"/>
                          </a:solidFill>
                          <a:latin typeface="Arial"/>
                        </a:rPr>
                        <a:t>comprenderá</a:t>
                      </a:r>
                      <a:r>
                        <a:rPr sz="1000" b="1" i="0" u="sng" dirty="0" lang="es-SV">
                          <a:solidFill>
                            <a:srgbClr val="00376E"/>
                          </a:solidFill>
                          <a:latin typeface="Arial"/>
                        </a:rPr>
                        <a:t> </a:t>
                      </a:r>
                      <a:r>
                        <a:rPr sz="1000" b="1" i="0" u="sng" dirty="0" lang="es-SV">
                          <a:solidFill>
                            <a:srgbClr val="00376E"/>
                          </a:solidFill>
                          <a:latin typeface="Arial"/>
                        </a:rPr>
                        <a:t>como</a:t>
                      </a:r>
                      <a:r>
                        <a:rPr sz="1000" b="1" i="0" u="sng" dirty="0" lang="es-SV">
                          <a:solidFill>
                            <a:srgbClr val="00376E"/>
                          </a:solidFill>
                          <a:latin typeface="Arial"/>
                        </a:rPr>
                        <a:t> </a:t>
                      </a:r>
                      <a:r>
                        <a:rPr sz="1000" b="1" i="0" u="sng" dirty="0" lang="es-SV">
                          <a:solidFill>
                            <a:srgbClr val="00376E"/>
                          </a:solidFill>
                          <a:latin typeface="Arial"/>
                        </a:rPr>
                        <a:t>mínimo</a:t>
                      </a:r>
                      <a:r>
                        <a:rPr sz="1000" b="1" i="0" u="sng" dirty="0" lang="es-SV">
                          <a:solidFill>
                            <a:srgbClr val="00376E"/>
                          </a:solidFill>
                          <a:latin typeface="Arial"/>
                        </a:rPr>
                        <a:t>: </a:t>
                      </a:r>
                      <a:r>
                        <a:rPr sz="1000" b="1" i="0" u="sng" dirty="0" lang="es-SV">
                          <a:solidFill>
                            <a:srgbClr val="00376E"/>
                          </a:solidFill>
                          <a:latin typeface="Arial"/>
                        </a:rPr>
                        <a:t>riesgo</a:t>
                      </a:r>
                      <a:r>
                        <a:rPr sz="1000" b="1" i="0" u="sng" dirty="0" lang="es-SV">
                          <a:solidFill>
                            <a:srgbClr val="00376E"/>
                          </a:solidFill>
                          <a:latin typeface="Arial"/>
                        </a:rPr>
                        <a:t> </a:t>
                      </a:r>
                      <a:r>
                        <a:rPr sz="1000" b="1" i="0" u="sng" dirty="0" lang="es-SV">
                          <a:solidFill>
                            <a:srgbClr val="00376E"/>
                          </a:solidFill>
                          <a:latin typeface="Arial"/>
                        </a:rPr>
                        <a:t>operacional</a:t>
                      </a:r>
                      <a:r>
                        <a:rPr sz="1000" b="1" i="0" u="sng" dirty="0" lang="es-SV">
                          <a:solidFill>
                            <a:srgbClr val="00376E"/>
                          </a:solidFill>
                          <a:latin typeface="Arial"/>
                        </a:rPr>
                        <a:t>; </a:t>
                      </a:r>
                      <a:r>
                        <a:rPr sz="1000" b="1" i="0" u="sng" dirty="0" lang="es-SV">
                          <a:solidFill>
                            <a:srgbClr val="00376E"/>
                          </a:solidFill>
                          <a:latin typeface="Arial"/>
                        </a:rPr>
                        <a:t>tecnología</a:t>
                      </a:r>
                      <a:r>
                        <a:rPr sz="1000" b="1" i="0" u="sng" dirty="0" lang="es-SV">
                          <a:solidFill>
                            <a:srgbClr val="00376E"/>
                          </a:solidFill>
                          <a:latin typeface="Arial"/>
                        </a:rPr>
                        <a:t> de </a:t>
                      </a:r>
                      <a:r>
                        <a:rPr sz="1000" b="1" i="0" u="sng" dirty="0" lang="es-SV">
                          <a:solidFill>
                            <a:srgbClr val="00376E"/>
                          </a:solidFill>
                          <a:latin typeface="Arial"/>
                        </a:rPr>
                        <a:t>información</a:t>
                      </a:r>
                      <a:r>
                        <a:rPr sz="1000" b="1" i="0" u="sng" dirty="0" lang="es-SV">
                          <a:solidFill>
                            <a:srgbClr val="00376E"/>
                          </a:solidFill>
                          <a:latin typeface="Arial"/>
                        </a:rPr>
                        <a:t>; </a:t>
                      </a:r>
                      <a:r>
                        <a:rPr sz="1000" b="1" i="0" u="sng" dirty="0" lang="es-SV">
                          <a:solidFill>
                            <a:srgbClr val="00376E"/>
                          </a:solidFill>
                          <a:latin typeface="Arial"/>
                        </a:rPr>
                        <a:t>concentración</a:t>
                      </a:r>
                      <a:r>
                        <a:rPr sz="1000" b="1" i="0" u="sng" dirty="0" lang="es-SV">
                          <a:solidFill>
                            <a:srgbClr val="00376E"/>
                          </a:solidFill>
                          <a:latin typeface="Arial"/>
                        </a:rPr>
                        <a:t> </a:t>
                      </a:r>
                      <a:r>
                        <a:rPr sz="1000" b="1" i="0" u="sng" dirty="0" lang="es-SV">
                          <a:solidFill>
                            <a:srgbClr val="00376E"/>
                          </a:solidFill>
                          <a:latin typeface="Arial"/>
                        </a:rPr>
                        <a:t>en</a:t>
                      </a:r>
                      <a:r>
                        <a:rPr sz="1000" b="1" i="0" u="sng" dirty="0" lang="es-SV">
                          <a:solidFill>
                            <a:srgbClr val="00376E"/>
                          </a:solidFill>
                          <a:latin typeface="Arial"/>
                        </a:rPr>
                        <a:t> el </a:t>
                      </a:r>
                      <a:r>
                        <a:rPr sz="1000" b="1" i="0" u="sng" dirty="0" lang="es-SV">
                          <a:solidFill>
                            <a:srgbClr val="00376E"/>
                          </a:solidFill>
                          <a:latin typeface="Arial"/>
                        </a:rPr>
                        <a:t>proveedor</a:t>
                      </a:r>
                      <a:r>
                        <a:rPr sz="1000" b="1" i="0" u="sng" dirty="0" lang="es-SV">
                          <a:solidFill>
                            <a:srgbClr val="00376E"/>
                          </a:solidFill>
                          <a:latin typeface="Arial"/>
                        </a:rPr>
                        <a:t>; </a:t>
                      </a:r>
                      <a:r>
                        <a:rPr sz="1000" b="1" i="0" u="sng" dirty="0" lang="es-SV">
                          <a:solidFill>
                            <a:srgbClr val="00376E"/>
                          </a:solidFill>
                          <a:latin typeface="Arial"/>
                        </a:rPr>
                        <a:t>solidez</a:t>
                      </a:r>
                      <a:r>
                        <a:rPr sz="1000" b="1" i="0" u="sng" dirty="0" lang="es-SV">
                          <a:solidFill>
                            <a:srgbClr val="00376E"/>
                          </a:solidFill>
                          <a:latin typeface="Arial"/>
                        </a:rPr>
                        <a:t> </a:t>
                      </a:r>
                      <a:r>
                        <a:rPr sz="1000" b="1" i="0" u="sng" dirty="0" lang="es-SV">
                          <a:solidFill>
                            <a:srgbClr val="00376E"/>
                          </a:solidFill>
                          <a:latin typeface="Arial"/>
                        </a:rPr>
                        <a:t>financiera</a:t>
                      </a:r>
                      <a:r>
                        <a:rPr sz="1000" b="1" i="0" u="sng" dirty="0" lang="es-SV">
                          <a:solidFill>
                            <a:srgbClr val="00376E"/>
                          </a:solidFill>
                          <a:latin typeface="Arial"/>
                        </a:rPr>
                        <a:t> del </a:t>
                      </a:r>
                      <a:r>
                        <a:rPr sz="1000" b="1" i="0" u="sng" dirty="0" lang="es-SV">
                          <a:solidFill>
                            <a:srgbClr val="00376E"/>
                          </a:solidFill>
                          <a:latin typeface="Arial"/>
                        </a:rPr>
                        <a:t>proveedor</a:t>
                      </a:r>
                      <a:r>
                        <a:rPr sz="1000" b="1" i="0" u="sng" dirty="0" lang="es-SV">
                          <a:solidFill>
                            <a:srgbClr val="00376E"/>
                          </a:solidFill>
                          <a:latin typeface="Arial"/>
                        </a:rPr>
                        <a:t>; </a:t>
                      </a:r>
                      <a:r>
                        <a:rPr sz="1000" b="1" i="0" u="sng" dirty="0" lang="es-SV">
                          <a:solidFill>
                            <a:srgbClr val="00376E"/>
                          </a:solidFill>
                          <a:latin typeface="Arial"/>
                        </a:rPr>
                        <a:t>riesgo</a:t>
                      </a:r>
                      <a:r>
                        <a:rPr sz="1000" b="1" i="0" u="sng" dirty="0" lang="es-SV">
                          <a:solidFill>
                            <a:srgbClr val="00376E"/>
                          </a:solidFill>
                          <a:latin typeface="Arial"/>
                        </a:rPr>
                        <a:t> de </a:t>
                      </a:r>
                      <a:r>
                        <a:rPr sz="1000" b="1" i="0" u="sng" dirty="0" lang="es-SV">
                          <a:solidFill>
                            <a:srgbClr val="00376E"/>
                          </a:solidFill>
                          <a:latin typeface="Arial"/>
                        </a:rPr>
                        <a:t>liquidez</a:t>
                      </a:r>
                      <a:r>
                        <a:rPr sz="1000" b="1" i="0" u="sng" dirty="0" lang="es-SV">
                          <a:solidFill>
                            <a:srgbClr val="00376E"/>
                          </a:solidFill>
                          <a:latin typeface="Arial"/>
                        </a:rPr>
                        <a:t>; </a:t>
                      </a:r>
                      <a:r>
                        <a:rPr sz="1000" b="1" i="0" u="sng" dirty="0" lang="es-SV">
                          <a:solidFill>
                            <a:srgbClr val="00376E"/>
                          </a:solidFill>
                          <a:latin typeface="Arial"/>
                        </a:rPr>
                        <a:t>continuidad</a:t>
                      </a:r>
                      <a:r>
                        <a:rPr sz="1000" b="1" i="0" u="sng" dirty="0" lang="es-SV">
                          <a:solidFill>
                            <a:srgbClr val="00376E"/>
                          </a:solidFill>
                          <a:latin typeface="Arial"/>
                        </a:rPr>
                        <a:t> del </a:t>
                      </a:r>
                      <a:r>
                        <a:rPr sz="1000" b="1" i="0" u="sng" dirty="0" lang="es-SV">
                          <a:solidFill>
                            <a:srgbClr val="00376E"/>
                          </a:solidFill>
                          <a:latin typeface="Arial"/>
                        </a:rPr>
                        <a:t>negocio</a:t>
                      </a:r>
                      <a:r>
                        <a:rPr sz="1000" b="1" i="0" u="sng" dirty="0" lang="es-SV">
                          <a:solidFill>
                            <a:srgbClr val="00376E"/>
                          </a:solidFill>
                          <a:latin typeface="Arial"/>
                        </a:rPr>
                        <a:t>; y </a:t>
                      </a:r>
                      <a:r>
                        <a:rPr sz="1000" b="1" i="0" u="sng" dirty="0" lang="es-SV">
                          <a:solidFill>
                            <a:srgbClr val="00376E"/>
                          </a:solidFill>
                          <a:latin typeface="Arial"/>
                        </a:rPr>
                        <a:t>riesgo</a:t>
                      </a:r>
                      <a:r>
                        <a:rPr sz="1000" b="1" i="0" u="sng" dirty="0" lang="es-SV">
                          <a:solidFill>
                            <a:srgbClr val="00376E"/>
                          </a:solidFill>
                          <a:latin typeface="Arial"/>
                        </a:rPr>
                        <a:t> legal y </a:t>
                      </a:r>
                      <a:r>
                        <a:rPr sz="1000" b="1" i="0" u="sng" dirty="0" lang="es-SV">
                          <a:solidFill>
                            <a:srgbClr val="00376E"/>
                          </a:solidFill>
                          <a:latin typeface="Arial"/>
                        </a:rPr>
                        <a:t>reputacional</a:t>
                      </a:r>
                      <a:r>
                        <a:rPr sz="1000" b="1" i="0" u="sng" dirty="0" lang="es-SV">
                          <a:solidFill>
                            <a:srgbClr val="00376E"/>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Contenido</a:t>
                      </a:r>
                      <a:r>
                        <a:rPr sz="1000" b="0" i="0" dirty="0" lang="es-SV">
                          <a:solidFill>
                            <a:srgbClr val="1B2333"/>
                          </a:solidFill>
                          <a:latin typeface="Arial"/>
                        </a:rPr>
                        <a:t> </a:t>
                      </a:r>
                      <a:r>
                        <a:rPr sz="1000" b="0" i="0" dirty="0" lang="es-SV">
                          <a:solidFill>
                            <a:srgbClr val="1B2333"/>
                          </a:solidFill>
                          <a:latin typeface="Arial"/>
                        </a:rPr>
                        <a:t>mínimo</a:t>
                      </a:r>
                      <a:r>
                        <a:rPr sz="1000" b="0" i="0" dirty="0" lang="es-SV">
                          <a:solidFill>
                            <a:srgbClr val="1B2333"/>
                          </a:solidFill>
                          <a:latin typeface="Arial"/>
                        </a:rPr>
                        <a:t> de la </a:t>
                      </a:r>
                      <a:r>
                        <a:rPr sz="1000" b="0" i="0" dirty="0" lang="es-SV">
                          <a:solidFill>
                            <a:srgbClr val="1B2333"/>
                          </a:solidFill>
                          <a:latin typeface="Arial"/>
                        </a:rPr>
                        <a:t>evaluación</a:t>
                      </a:r>
                      <a:r>
                        <a:rPr sz="1000" b="0" i="0" dirty="0" lang="es-SV">
                          <a:solidFill>
                            <a:srgbClr val="1B2333"/>
                          </a:solidFill>
                          <a:latin typeface="Arial"/>
                        </a:rPr>
                        <a:t> de </a:t>
                      </a:r>
                      <a:r>
                        <a:rPr sz="1000" b="0" i="0" dirty="0" lang="es-SV">
                          <a:solidFill>
                            <a:srgbClr val="1B2333"/>
                          </a:solidFill>
                          <a:latin typeface="Arial"/>
                        </a:rPr>
                        <a:t>riesgos</a:t>
                      </a:r>
                      <a:r>
                        <a:rPr sz="1000" b="0" i="0" dirty="0" lang="es-SV">
                          <a:solidFill>
                            <a:srgbClr val="1B2333"/>
                          </a:solidFill>
                          <a:latin typeface="Arial"/>
                        </a:rPr>
                        <a:t>.</a:t>
                      </a:r>
                    </a:p>
                    <a:p>
                      <a:pPr algn="just"/>
                      <a:r>
                        <a:rPr sz="1000" b="1" i="0" dirty="0" lang="es-SV">
                          <a:solidFill>
                            <a:srgbClr val="00376E"/>
                          </a:solidFill>
                          <a:latin typeface="Arial"/>
                        </a:rPr>
                        <a:t>NRP-23, Anexo 1, A-1 a A-3 · NRP-42 · NRP-05 · NRP-24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74320">
                <a:tc>
                  <a:txBody>
                    <a:bodyPr/>
                    <a:lstStyle/>
                    <a:p>
                      <a:pPr algn="just"/>
                      <a:r>
                        <a:rPr sz="1000" b="1" i="0" lang="es-SV">
                          <a:solidFill>
                            <a:srgbClr val="00376E"/>
                          </a:solidFill>
                          <a:latin typeface="Arial"/>
                        </a:rPr>
                        <a:t>43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Monitoreo: El Departamento de Administración de Riesgos reevaluará semestralmente a los proveedores de criticidad Alta y anualmente a los de criticidad Media y Baja, considerando la debida diligencia (documentada y revisada anualmente), el cumplimiento de los SLA, los eventos registrados y las pruebas de continuidad y de seguridad. Los resultados se informarán al Comité de Riesgos.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Seguimiento</a:t>
                      </a:r>
                      <a:r>
                        <a:rPr sz="1000" b="0" i="0" dirty="0" lang="es-SV">
                          <a:solidFill>
                            <a:srgbClr val="1B2333"/>
                          </a:solidFill>
                          <a:latin typeface="Arial"/>
                        </a:rPr>
                        <a:t> posterior a la </a:t>
                      </a:r>
                      <a:r>
                        <a:rPr sz="1000" b="0" i="0" dirty="0" lang="es-SV">
                          <a:solidFill>
                            <a:srgbClr val="1B2333"/>
                          </a:solidFill>
                          <a:latin typeface="Arial"/>
                        </a:rPr>
                        <a:t>contratación</a:t>
                      </a:r>
                      <a:r>
                        <a:rPr sz="1000" b="0" i="0" dirty="0" lang="es-SV">
                          <a:solidFill>
                            <a:srgbClr val="1B2333"/>
                          </a:solidFill>
                          <a:latin typeface="Arial"/>
                        </a:rPr>
                        <a:t>.</a:t>
                      </a:r>
                    </a:p>
                    <a:p>
                      <a:pPr algn="just"/>
                      <a:r>
                        <a:rPr sz="1000" b="1" i="0" dirty="0" lang="es-SV">
                          <a:solidFill>
                            <a:srgbClr val="00376E"/>
                          </a:solidFill>
                          <a:latin typeface="Arial"/>
                        </a:rPr>
                        <a:t>NRP-23, Anexo 1, </a:t>
                      </a:r>
                      <a:r>
                        <a:rPr sz="1000" b="1" i="0" dirty="0" lang="es-SV">
                          <a:solidFill>
                            <a:srgbClr val="00376E"/>
                          </a:solidFill>
                          <a:latin typeface="Arial"/>
                        </a:rPr>
                        <a:t>Secc</a:t>
                      </a:r>
                      <a:r>
                        <a:rPr sz="1000" b="1" i="0" dirty="0" lang="es-SV">
                          <a:solidFill>
                            <a:srgbClr val="00376E"/>
                          </a:solidFill>
                          <a:latin typeface="Arial"/>
                        </a:rPr>
                        <a:t>. A, num. 3, lit. c</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0A848043-3E64-98A8-7A75-B15A546BA49B}"/>
              </a:ext>
            </a:extLst>
          </p:cNvPr>
          <p:cNvSpPr/>
          <p:nvPr/>
        </p:nvSpPr>
        <p:spPr>
          <a:xfrm>
            <a:off x="587883" y="1097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785622" y="109728"/>
            <a:ext cx="9966960" cy="307777"/>
          </a:xfrm>
          <a:prstGeom prst="rect">
            <a:avLst/>
          </a:prstGeom>
          <a:noFill/>
        </p:spPr>
        <p:txBody>
          <a:bodyPr wrap="square" lIns="0" tIns="0" rIns="0" bIns="0" anchor="ctr">
            <a:spAutoFit/>
          </a:bodyPr>
          <a:lstStyle/>
          <a:p>
            <a:pPr algn="l"/>
            <a:r>
              <a:rPr sz="2000" b="1" i="0" dirty="0" lang="es-SV">
                <a:solidFill>
                  <a:srgbClr val="00376E"/>
                </a:solidFill>
                <a:latin typeface="Century Gothic"/>
              </a:rPr>
              <a:t>VIII. </a:t>
            </a:r>
            <a:r>
              <a:rPr sz="2000" b="1" i="0" dirty="0" lang="es-SV">
                <a:solidFill>
                  <a:srgbClr val="00376E"/>
                </a:solidFill>
                <a:latin typeface="Century Gothic"/>
              </a:rPr>
              <a:t>Continuidad</a:t>
            </a:r>
            <a:r>
              <a:rPr sz="2000" b="1" i="0" dirty="0" lang="es-SV">
                <a:solidFill>
                  <a:srgbClr val="00376E"/>
                </a:solidFill>
                <a:latin typeface="Century Gothic"/>
              </a:rPr>
              <a:t> · XI. Eventos de </a:t>
            </a:r>
            <a:r>
              <a:rPr sz="2000" b="1" i="0" dirty="0" lang="es-SV">
                <a:solidFill>
                  <a:srgbClr val="00376E"/>
                </a:solidFill>
                <a:latin typeface="Century Gothic"/>
              </a:rPr>
              <a:t>riesgo</a:t>
            </a:r>
            <a:r>
              <a:rPr sz="2000" b="1" i="0" dirty="0" lang="es-SV">
                <a:solidFill>
                  <a:srgbClr val="00376E"/>
                </a:solidFill>
                <a:latin typeface="Century Gothic"/>
              </a:rPr>
              <a:t> </a:t>
            </a:r>
            <a:r>
              <a:rPr sz="2000" b="1" i="0" dirty="0" lang="es-SV">
                <a:solidFill>
                  <a:srgbClr val="00376E"/>
                </a:solidFill>
                <a:latin typeface="Century Gothic"/>
              </a:rPr>
              <a:t>operacional</a:t>
            </a:r>
            <a:endParaRPr sz="2000" b="1" i="0" dirty="0" lang="es-SV">
              <a:solidFill>
                <a:srgbClr val="00376E"/>
              </a:solidFill>
              <a:latin typeface="Century Gothic"/>
            </a:endParaRPr>
          </a:p>
        </p:txBody>
      </p:sp>
      <p:graphicFrame>
        <p:nvGraphicFramePr>
          <p:cNvPr id="16" name="Table 15"/>
          <p:cNvGraphicFramePr>
            <a:graphicFrameLocks noGrp="1"/>
          </p:cNvGraphicFramePr>
          <p:nvPr>
            <p:extLst>
              <p:ext uri="{D42A27DB-BD31-4B8C-83A1-F6EECF244321}">
                <p14:modId xmlns:p14="http://schemas.microsoft.com/office/powerpoint/2010/main" val="3787664175"/>
              </p:ext>
            </p:extLst>
          </p:nvPr>
        </p:nvGraphicFramePr>
        <p:xfrm>
          <a:off x="548640" y="754380"/>
          <a:ext cx="11091672" cy="2450592"/>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347472">
                <a:tc>
                  <a:txBody>
                    <a:bodyPr/>
                    <a:lstStyle/>
                    <a:p>
                      <a:pPr algn="just"/>
                      <a:r>
                        <a:rPr sz="1000" b="1" i="0" dirty="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dirty="0" lang="es-SV">
                          <a:solidFill>
                            <a:srgbClr val="FFFFFF"/>
                          </a:solidFill>
                          <a:latin typeface="Arial"/>
                        </a:rPr>
                        <a:t>Dice (V03 </a:t>
                      </a:r>
                      <a:r>
                        <a:rPr sz="1000" b="1" i="0" dirty="0" lang="es-SV">
                          <a:solidFill>
                            <a:srgbClr val="FFFFFF"/>
                          </a:solidFill>
                          <a:latin typeface="Arial"/>
                        </a:rPr>
                        <a:t>vigente</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(V04 propuesta)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Mejora y base normativa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74320">
                <a:tc>
                  <a:txBody>
                    <a:bodyPr/>
                    <a:lstStyle/>
                    <a:p>
                      <a:pPr algn="just"/>
                      <a:r>
                        <a:rPr sz="1000" b="1" i="0" lang="es-SV">
                          <a:solidFill>
                            <a:srgbClr val="00376E"/>
                          </a:solidFill>
                          <a:latin typeface="Arial"/>
                        </a:rPr>
                        <a:t>44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a:t>
                      </a:r>
                      <a:r>
                        <a:rPr sz="1000" b="0" i="0" dirty="0" lang="es-SV">
                          <a:solidFill>
                            <a:srgbClr val="1B2333"/>
                          </a:solidFill>
                          <a:latin typeface="Arial"/>
                        </a:rPr>
                        <a:t>en</a:t>
                      </a:r>
                      <a:r>
                        <a:rPr sz="1000" b="0" i="0" dirty="0" lang="es-SV">
                          <a:solidFill>
                            <a:srgbClr val="1B2333"/>
                          </a:solidFill>
                          <a:latin typeface="Arial"/>
                        </a:rPr>
                        <a:t> la </a:t>
                      </a:r>
                      <a:r>
                        <a:rPr sz="1000" b="0" i="0" dirty="0" lang="es-SV">
                          <a:solidFill>
                            <a:srgbClr val="1B2333"/>
                          </a:solidFill>
                          <a:latin typeface="Arial"/>
                        </a:rPr>
                        <a:t>formalización</a:t>
                      </a:r>
                      <a:r>
                        <a:rPr sz="1000" b="0" i="0" dirty="0" lang="es-SV">
                          <a:solidFill>
                            <a:srgbClr val="1B2333"/>
                          </a:solidFill>
                          <a:latin typeface="Arial"/>
                        </a:rPr>
                        <a:t> del </a:t>
                      </a:r>
                      <a:r>
                        <a:rPr sz="1000" b="0" i="0" dirty="0" lang="es-SV">
                          <a:solidFill>
                            <a:srgbClr val="1B2333"/>
                          </a:solidFill>
                          <a:latin typeface="Arial"/>
                        </a:rPr>
                        <a:t>contrato</a:t>
                      </a:r>
                      <a:r>
                        <a:rPr sz="1000" b="0" i="0" dirty="0" lang="es-SV">
                          <a:solidFill>
                            <a:srgbClr val="1B2333"/>
                          </a:solidFill>
                          <a:latin typeface="Arial"/>
                        </a:rPr>
                        <a:t>, </a:t>
                      </a:r>
                      <a:r>
                        <a:rPr sz="1000" b="0" i="0" dirty="0" lang="es-SV">
                          <a:solidFill>
                            <a:srgbClr val="1B2333"/>
                          </a:solidFill>
                          <a:latin typeface="Arial"/>
                        </a:rPr>
                        <a:t>deberán</a:t>
                      </a:r>
                      <a:r>
                        <a:rPr sz="1000" b="0" i="0" dirty="0" lang="es-SV">
                          <a:solidFill>
                            <a:srgbClr val="1B2333"/>
                          </a:solidFill>
                          <a:latin typeface="Arial"/>
                        </a:rPr>
                        <a:t> </a:t>
                      </a:r>
                      <a:r>
                        <a:rPr sz="1000" b="0" i="0" dirty="0" lang="es-SV">
                          <a:solidFill>
                            <a:srgbClr val="1B2333"/>
                          </a:solidFill>
                          <a:latin typeface="Arial"/>
                        </a:rPr>
                        <a:t>presentar</a:t>
                      </a:r>
                      <a:r>
                        <a:rPr sz="1000" b="0" i="0" dirty="0" lang="es-SV">
                          <a:solidFill>
                            <a:srgbClr val="1B2333"/>
                          </a:solidFill>
                          <a:latin typeface="Arial"/>
                        </a:rPr>
                        <a:t> </a:t>
                      </a:r>
                      <a:r>
                        <a:rPr sz="1000" b="0" i="0" dirty="0" lang="es-SV">
                          <a:solidFill>
                            <a:srgbClr val="1B2333"/>
                          </a:solidFill>
                          <a:latin typeface="Arial"/>
                        </a:rPr>
                        <a:t>una</a:t>
                      </a:r>
                      <a:r>
                        <a:rPr sz="1000" b="0" i="0" dirty="0" lang="es-SV">
                          <a:solidFill>
                            <a:srgbClr val="1B2333"/>
                          </a:solidFill>
                          <a:latin typeface="Arial"/>
                        </a:rPr>
                        <a:t> </a:t>
                      </a:r>
                      <a:r>
                        <a:rPr sz="1000" b="0" i="0" dirty="0" lang="es-SV">
                          <a:solidFill>
                            <a:srgbClr val="1B2333"/>
                          </a:solidFill>
                          <a:latin typeface="Arial"/>
                        </a:rPr>
                        <a:t>declaración</a:t>
                      </a:r>
                      <a:r>
                        <a:rPr sz="1000" b="0" i="0" dirty="0" lang="es-SV">
                          <a:solidFill>
                            <a:srgbClr val="1B2333"/>
                          </a:solidFill>
                          <a:latin typeface="Arial"/>
                        </a:rPr>
                        <a:t> </a:t>
                      </a:r>
                      <a:r>
                        <a:rPr sz="1000" b="0" i="0" dirty="0" lang="es-SV">
                          <a:solidFill>
                            <a:srgbClr val="1B2333"/>
                          </a:solidFill>
                          <a:latin typeface="Arial"/>
                        </a:rPr>
                        <a:t>jurada</a:t>
                      </a:r>
                      <a:r>
                        <a:rPr sz="1000" b="0" i="0" dirty="0" lang="es-SV">
                          <a:solidFill>
                            <a:srgbClr val="1B2333"/>
                          </a:solidFill>
                          <a:latin typeface="Arial"/>
                        </a:rPr>
                        <a:t>, </a:t>
                      </a:r>
                      <a:r>
                        <a:rPr sz="1000" b="0" i="0" dirty="0" lang="es-SV">
                          <a:solidFill>
                            <a:srgbClr val="1B2333"/>
                          </a:solidFill>
                          <a:latin typeface="Arial"/>
                        </a:rPr>
                        <a:t>que</a:t>
                      </a:r>
                      <a:r>
                        <a:rPr sz="1000" b="0" i="0" dirty="0" lang="es-SV">
                          <a:solidFill>
                            <a:srgbClr val="1B2333"/>
                          </a:solidFill>
                          <a:latin typeface="Arial"/>
                        </a:rPr>
                        <a:t> </a:t>
                      </a:r>
                      <a:r>
                        <a:rPr sz="1000" b="0" i="0" dirty="0" lang="es-SV">
                          <a:solidFill>
                            <a:srgbClr val="1B2333"/>
                          </a:solidFill>
                          <a:latin typeface="Arial"/>
                        </a:rPr>
                        <a:t>indique</a:t>
                      </a:r>
                      <a:r>
                        <a:rPr sz="1000" b="0" i="0" dirty="0" lang="es-SV">
                          <a:solidFill>
                            <a:srgbClr val="1B2333"/>
                          </a:solidFill>
                          <a:latin typeface="Arial"/>
                        </a:rPr>
                        <a:t> </a:t>
                      </a:r>
                      <a:r>
                        <a:rPr sz="1000" b="0" i="0" dirty="0" lang="es-SV">
                          <a:solidFill>
                            <a:srgbClr val="1B2333"/>
                          </a:solidFill>
                          <a:latin typeface="Arial"/>
                        </a:rPr>
                        <a:t>que</a:t>
                      </a:r>
                      <a:r>
                        <a:rPr sz="1000" b="0" i="0" dirty="0" lang="es-SV">
                          <a:solidFill>
                            <a:srgbClr val="1B2333"/>
                          </a:solidFill>
                          <a:latin typeface="Arial"/>
                        </a:rPr>
                        <a:t> </a:t>
                      </a:r>
                      <a:r>
                        <a:rPr sz="1000" b="0" i="0" dirty="0" lang="es-SV">
                          <a:solidFill>
                            <a:srgbClr val="1B2333"/>
                          </a:solidFill>
                          <a:latin typeface="Arial"/>
                        </a:rPr>
                        <a:t>cuentan</a:t>
                      </a:r>
                      <a:r>
                        <a:rPr sz="1000" b="0" i="0" dirty="0" lang="es-SV">
                          <a:solidFill>
                            <a:srgbClr val="1B2333"/>
                          </a:solidFill>
                          <a:latin typeface="Arial"/>
                        </a:rPr>
                        <a:t> con un </a:t>
                      </a:r>
                      <a:r>
                        <a:rPr sz="1000" b="0" i="0" dirty="0" lang="es-SV">
                          <a:solidFill>
                            <a:srgbClr val="1B2333"/>
                          </a:solidFill>
                          <a:latin typeface="Arial"/>
                        </a:rPr>
                        <a:t>programa</a:t>
                      </a:r>
                      <a:r>
                        <a:rPr sz="1000" b="0" i="0" dirty="0" lang="es-SV">
                          <a:solidFill>
                            <a:srgbClr val="1B2333"/>
                          </a:solidFill>
                          <a:latin typeface="Arial"/>
                        </a:rPr>
                        <a:t> o </a:t>
                      </a:r>
                      <a:r>
                        <a:rPr sz="1000" b="0" i="0" dirty="0" lang="es-SV">
                          <a:solidFill>
                            <a:srgbClr val="1B2333"/>
                          </a:solidFill>
                          <a:latin typeface="Arial"/>
                        </a:rPr>
                        <a:t>gestión</a:t>
                      </a:r>
                      <a:r>
                        <a:rPr sz="1000" b="0" i="0" dirty="0" lang="es-SV">
                          <a:solidFill>
                            <a:srgbClr val="1B2333"/>
                          </a:solidFill>
                          <a:latin typeface="Arial"/>
                        </a:rPr>
                        <a:t> de la </a:t>
                      </a:r>
                      <a:r>
                        <a:rPr sz="1000" b="0" i="0" dirty="0" lang="es-SV">
                          <a:solidFill>
                            <a:srgbClr val="1B2333"/>
                          </a:solidFill>
                          <a:latin typeface="Arial"/>
                        </a:rPr>
                        <a:t>seguridad</a:t>
                      </a:r>
                      <a:r>
                        <a:rPr sz="1000" b="0" i="0" dirty="0" lang="es-SV">
                          <a:solidFill>
                            <a:srgbClr val="1B2333"/>
                          </a:solidFill>
                          <a:latin typeface="Arial"/>
                        </a:rPr>
                        <a:t> de la </a:t>
                      </a:r>
                      <a:r>
                        <a:rPr sz="1000" b="0" i="0" dirty="0" lang="es-SV">
                          <a:solidFill>
                            <a:srgbClr val="1B2333"/>
                          </a:solidFill>
                          <a:latin typeface="Arial"/>
                        </a:rPr>
                        <a:t>información</a:t>
                      </a:r>
                      <a:r>
                        <a:rPr sz="1000" b="0" i="0" dirty="0" lang="es-SV">
                          <a:solidFill>
                            <a:srgbClr val="1B2333"/>
                          </a:solidFill>
                          <a:latin typeface="Arial"/>
                        </a:rPr>
                        <a:t>, planes de </a:t>
                      </a:r>
                      <a:r>
                        <a:rPr sz="1000" b="0" i="0" dirty="0" lang="es-SV">
                          <a:solidFill>
                            <a:srgbClr val="1B2333"/>
                          </a:solidFill>
                          <a:latin typeface="Arial"/>
                        </a:rPr>
                        <a:t>continuidad</a:t>
                      </a:r>
                      <a:r>
                        <a:rPr sz="1000" b="0" i="0" dirty="0" lang="es-SV">
                          <a:solidFill>
                            <a:srgbClr val="1B2333"/>
                          </a:solidFill>
                          <a:latin typeface="Arial"/>
                        </a:rPr>
                        <a:t> del </a:t>
                      </a:r>
                      <a:r>
                        <a:rPr sz="1000" b="0" i="0" dirty="0" lang="es-SV">
                          <a:solidFill>
                            <a:srgbClr val="1B2333"/>
                          </a:solidFill>
                          <a:latin typeface="Arial"/>
                        </a:rPr>
                        <a:t>negocio</a:t>
                      </a:r>
                      <a:r>
                        <a:rPr sz="1000" b="0" i="0" dirty="0" lang="es-SV">
                          <a:solidFill>
                            <a:srgbClr val="1B2333"/>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a:t>
                      </a:r>
                      <a:r>
                        <a:rPr sz="1000" b="0" i="0" dirty="0" lang="es-SV">
                          <a:solidFill>
                            <a:srgbClr val="1B2333"/>
                          </a:solidFill>
                          <a:latin typeface="Arial"/>
                        </a:rPr>
                        <a:t>en</a:t>
                      </a:r>
                      <a:r>
                        <a:rPr sz="1000" b="0" i="0" dirty="0" lang="es-SV">
                          <a:solidFill>
                            <a:srgbClr val="1B2333"/>
                          </a:solidFill>
                          <a:latin typeface="Arial"/>
                        </a:rPr>
                        <a:t> la </a:t>
                      </a:r>
                      <a:r>
                        <a:rPr sz="1000" b="0" i="0" dirty="0" lang="es-SV">
                          <a:solidFill>
                            <a:srgbClr val="1B2333"/>
                          </a:solidFill>
                          <a:latin typeface="Arial"/>
                        </a:rPr>
                        <a:t>formalización</a:t>
                      </a:r>
                      <a:r>
                        <a:rPr sz="1000" b="0" i="0" dirty="0" lang="es-SV">
                          <a:solidFill>
                            <a:srgbClr val="1B2333"/>
                          </a:solidFill>
                          <a:latin typeface="Arial"/>
                        </a:rPr>
                        <a:t> del </a:t>
                      </a:r>
                      <a:r>
                        <a:rPr sz="1000" b="0" i="0" dirty="0" lang="es-SV">
                          <a:solidFill>
                            <a:srgbClr val="1B2333"/>
                          </a:solidFill>
                          <a:latin typeface="Arial"/>
                        </a:rPr>
                        <a:t>contrato</a:t>
                      </a:r>
                      <a:r>
                        <a:rPr sz="1000" b="0" i="0" dirty="0" lang="es-SV">
                          <a:solidFill>
                            <a:srgbClr val="1B2333"/>
                          </a:solidFill>
                          <a:latin typeface="Arial"/>
                        </a:rPr>
                        <a:t>, </a:t>
                      </a:r>
                      <a:r>
                        <a:rPr sz="1000" b="1" i="0" u="sng" dirty="0" lang="es-SV">
                          <a:solidFill>
                            <a:srgbClr val="00376E"/>
                          </a:solidFill>
                          <a:latin typeface="Arial"/>
                        </a:rPr>
                        <a:t>los</a:t>
                      </a:r>
                      <a:r>
                        <a:rPr sz="1000" b="1" i="0" u="sng" dirty="0" lang="es-SV">
                          <a:solidFill>
                            <a:srgbClr val="00376E"/>
                          </a:solidFill>
                          <a:latin typeface="Arial"/>
                        </a:rPr>
                        <a:t> </a:t>
                      </a:r>
                      <a:r>
                        <a:rPr sz="1000" b="1" i="0" u="sng" dirty="0" lang="es-SV">
                          <a:solidFill>
                            <a:srgbClr val="00376E"/>
                          </a:solidFill>
                          <a:latin typeface="Arial"/>
                        </a:rPr>
                        <a:t>proveedores</a:t>
                      </a:r>
                      <a:r>
                        <a:rPr sz="1000" b="0" i="0" dirty="0" lang="es-SV">
                          <a:solidFill>
                            <a:srgbClr val="1B2333"/>
                          </a:solidFill>
                          <a:latin typeface="Arial"/>
                        </a:rPr>
                        <a:t> </a:t>
                      </a:r>
                      <a:r>
                        <a:rPr sz="1000" b="0" i="0" dirty="0" lang="es-SV">
                          <a:solidFill>
                            <a:srgbClr val="1B2333"/>
                          </a:solidFill>
                          <a:latin typeface="Arial"/>
                        </a:rPr>
                        <a:t>deberán</a:t>
                      </a:r>
                      <a:r>
                        <a:rPr sz="1000" b="0" i="0" dirty="0" lang="es-SV">
                          <a:solidFill>
                            <a:srgbClr val="1B2333"/>
                          </a:solidFill>
                          <a:latin typeface="Arial"/>
                        </a:rPr>
                        <a:t> </a:t>
                      </a:r>
                      <a:r>
                        <a:rPr sz="1000" b="0" i="0" dirty="0" lang="es-SV">
                          <a:solidFill>
                            <a:srgbClr val="1B2333"/>
                          </a:solidFill>
                          <a:latin typeface="Arial"/>
                        </a:rPr>
                        <a:t>presentar</a:t>
                      </a:r>
                      <a:r>
                        <a:rPr sz="1000" b="0" i="0" dirty="0" lang="es-SV">
                          <a:solidFill>
                            <a:srgbClr val="1B2333"/>
                          </a:solidFill>
                          <a:latin typeface="Arial"/>
                        </a:rPr>
                        <a:t> </a:t>
                      </a:r>
                      <a:r>
                        <a:rPr sz="1000" b="0" i="0" dirty="0" lang="es-SV">
                          <a:solidFill>
                            <a:srgbClr val="1B2333"/>
                          </a:solidFill>
                          <a:latin typeface="Arial"/>
                        </a:rPr>
                        <a:t>una</a:t>
                      </a:r>
                      <a:r>
                        <a:rPr sz="1000" b="0" i="0" dirty="0" lang="es-SV">
                          <a:solidFill>
                            <a:srgbClr val="1B2333"/>
                          </a:solidFill>
                          <a:latin typeface="Arial"/>
                        </a:rPr>
                        <a:t> </a:t>
                      </a:r>
                      <a:r>
                        <a:rPr sz="1000" b="0" i="0" dirty="0" lang="es-SV">
                          <a:solidFill>
                            <a:srgbClr val="1B2333"/>
                          </a:solidFill>
                          <a:latin typeface="Arial"/>
                        </a:rPr>
                        <a:t>declaración</a:t>
                      </a:r>
                      <a:r>
                        <a:rPr sz="1000" b="0" i="0" dirty="0" lang="es-SV">
                          <a:solidFill>
                            <a:srgbClr val="1B2333"/>
                          </a:solidFill>
                          <a:latin typeface="Arial"/>
                        </a:rPr>
                        <a:t> </a:t>
                      </a:r>
                      <a:r>
                        <a:rPr sz="1000" b="0" i="0" dirty="0" lang="es-SV">
                          <a:solidFill>
                            <a:srgbClr val="1B2333"/>
                          </a:solidFill>
                          <a:latin typeface="Arial"/>
                        </a:rPr>
                        <a:t>jurada</a:t>
                      </a:r>
                      <a:r>
                        <a:rPr sz="1000" b="0" i="0" dirty="0" lang="es-SV">
                          <a:solidFill>
                            <a:srgbClr val="1B2333"/>
                          </a:solidFill>
                          <a:latin typeface="Arial"/>
                        </a:rPr>
                        <a:t> </a:t>
                      </a:r>
                      <a:r>
                        <a:rPr sz="1000" b="1" i="0" u="sng" dirty="0" lang="es-SV">
                          <a:solidFill>
                            <a:srgbClr val="00376E"/>
                          </a:solidFill>
                          <a:latin typeface="Arial"/>
                        </a:rPr>
                        <a:t>o </a:t>
                      </a:r>
                      <a:r>
                        <a:rPr sz="1000" b="1" i="0" u="sng" dirty="0" lang="es-SV">
                          <a:solidFill>
                            <a:srgbClr val="00376E"/>
                          </a:solidFill>
                          <a:latin typeface="Arial"/>
                        </a:rPr>
                        <a:t>certificación</a:t>
                      </a:r>
                      <a:r>
                        <a:rPr sz="1000" b="1" i="0" u="sng" dirty="0" lang="es-SV">
                          <a:solidFill>
                            <a:srgbClr val="00376E"/>
                          </a:solidFill>
                          <a:latin typeface="Arial"/>
                        </a:rPr>
                        <a:t> </a:t>
                      </a:r>
                      <a:r>
                        <a:rPr sz="1000" b="1" i="0" u="sng" dirty="0" lang="es-SV">
                          <a:solidFill>
                            <a:srgbClr val="00376E"/>
                          </a:solidFill>
                          <a:latin typeface="Arial"/>
                        </a:rPr>
                        <a:t>vigente</a:t>
                      </a:r>
                      <a:r>
                        <a:rPr sz="1000" b="0" i="0" dirty="0" lang="es-SV">
                          <a:solidFill>
                            <a:srgbClr val="1B2333"/>
                          </a:solidFill>
                          <a:latin typeface="Arial"/>
                        </a:rPr>
                        <a:t> </a:t>
                      </a:r>
                      <a:r>
                        <a:rPr sz="1000" b="0" i="0" dirty="0" lang="es-SV">
                          <a:solidFill>
                            <a:srgbClr val="1B2333"/>
                          </a:solidFill>
                          <a:latin typeface="Arial"/>
                        </a:rPr>
                        <a:t>que</a:t>
                      </a:r>
                      <a:r>
                        <a:rPr sz="1000" b="0" i="0" dirty="0" lang="es-SV">
                          <a:solidFill>
                            <a:srgbClr val="1B2333"/>
                          </a:solidFill>
                          <a:latin typeface="Arial"/>
                        </a:rPr>
                        <a:t> </a:t>
                      </a:r>
                      <a:r>
                        <a:rPr sz="1000" b="0" i="0" dirty="0" lang="es-SV">
                          <a:solidFill>
                            <a:srgbClr val="1B2333"/>
                          </a:solidFill>
                          <a:latin typeface="Arial"/>
                        </a:rPr>
                        <a:t>indique</a:t>
                      </a:r>
                      <a:r>
                        <a:rPr sz="1000" b="0" i="0" dirty="0" lang="es-SV">
                          <a:solidFill>
                            <a:srgbClr val="1B2333"/>
                          </a:solidFill>
                          <a:latin typeface="Arial"/>
                        </a:rPr>
                        <a:t> </a:t>
                      </a:r>
                      <a:r>
                        <a:rPr sz="1000" b="0" i="0" dirty="0" lang="es-SV">
                          <a:solidFill>
                            <a:srgbClr val="1B2333"/>
                          </a:solidFill>
                          <a:latin typeface="Arial"/>
                        </a:rPr>
                        <a:t>que</a:t>
                      </a:r>
                      <a:r>
                        <a:rPr sz="1000" b="0" i="0" dirty="0" lang="es-SV">
                          <a:solidFill>
                            <a:srgbClr val="1B2333"/>
                          </a:solidFill>
                          <a:latin typeface="Arial"/>
                        </a:rPr>
                        <a:t> </a:t>
                      </a:r>
                      <a:r>
                        <a:rPr sz="1000" b="0" i="0" dirty="0" lang="es-SV">
                          <a:solidFill>
                            <a:srgbClr val="1B2333"/>
                          </a:solidFill>
                          <a:latin typeface="Arial"/>
                        </a:rPr>
                        <a:t>cuentan</a:t>
                      </a:r>
                      <a:r>
                        <a:rPr sz="1000" b="0" i="0" dirty="0" lang="es-SV">
                          <a:solidFill>
                            <a:srgbClr val="1B2333"/>
                          </a:solidFill>
                          <a:latin typeface="Arial"/>
                        </a:rPr>
                        <a:t> con un </a:t>
                      </a:r>
                      <a:r>
                        <a:rPr sz="1000" b="0" i="0" dirty="0" lang="es-SV">
                          <a:solidFill>
                            <a:srgbClr val="1B2333"/>
                          </a:solidFill>
                          <a:latin typeface="Arial"/>
                        </a:rPr>
                        <a:t>programa</a:t>
                      </a:r>
                      <a:r>
                        <a:rPr sz="1000" b="0" i="0" dirty="0" lang="es-SV">
                          <a:solidFill>
                            <a:srgbClr val="1B2333"/>
                          </a:solidFill>
                          <a:latin typeface="Arial"/>
                        </a:rPr>
                        <a:t> o </a:t>
                      </a:r>
                      <a:r>
                        <a:rPr sz="1000" b="0" i="0" dirty="0" lang="es-SV">
                          <a:solidFill>
                            <a:srgbClr val="1B2333"/>
                          </a:solidFill>
                          <a:latin typeface="Arial"/>
                        </a:rPr>
                        <a:t>gestión</a:t>
                      </a:r>
                      <a:r>
                        <a:rPr sz="1000" b="0" i="0" dirty="0" lang="es-SV">
                          <a:solidFill>
                            <a:srgbClr val="1B2333"/>
                          </a:solidFill>
                          <a:latin typeface="Arial"/>
                        </a:rPr>
                        <a:t> de la </a:t>
                      </a:r>
                      <a:r>
                        <a:rPr sz="1000" b="0" i="0" dirty="0" lang="es-SV">
                          <a:solidFill>
                            <a:srgbClr val="1B2333"/>
                          </a:solidFill>
                          <a:latin typeface="Arial"/>
                        </a:rPr>
                        <a:t>seguridad</a:t>
                      </a:r>
                      <a:r>
                        <a:rPr sz="1000" b="0" i="0" dirty="0" lang="es-SV">
                          <a:solidFill>
                            <a:srgbClr val="1B2333"/>
                          </a:solidFill>
                          <a:latin typeface="Arial"/>
                        </a:rPr>
                        <a:t> de la </a:t>
                      </a:r>
                      <a:r>
                        <a:rPr sz="1000" b="0" i="0" dirty="0" lang="es-SV">
                          <a:solidFill>
                            <a:srgbClr val="1B2333"/>
                          </a:solidFill>
                          <a:latin typeface="Arial"/>
                        </a:rPr>
                        <a:t>información</a:t>
                      </a:r>
                      <a:r>
                        <a:rPr sz="1000" b="0" i="0" dirty="0" lang="es-SV">
                          <a:solidFill>
                            <a:srgbClr val="1B2333"/>
                          </a:solidFill>
                          <a:latin typeface="Arial"/>
                        </a:rPr>
                        <a:t>, planes de </a:t>
                      </a:r>
                      <a:r>
                        <a:rPr sz="1000" b="0" i="0" dirty="0" lang="es-SV">
                          <a:solidFill>
                            <a:srgbClr val="1B2333"/>
                          </a:solidFill>
                          <a:latin typeface="Arial"/>
                        </a:rPr>
                        <a:t>continuidad</a:t>
                      </a:r>
                      <a:r>
                        <a:rPr sz="1000" b="0" i="0" dirty="0" lang="es-SV">
                          <a:solidFill>
                            <a:srgbClr val="1B2333"/>
                          </a:solidFill>
                          <a:latin typeface="Arial"/>
                        </a:rPr>
                        <a:t> del </a:t>
                      </a:r>
                      <a:r>
                        <a:rPr sz="1000" b="0" i="0" dirty="0" lang="es-SV">
                          <a:solidFill>
                            <a:srgbClr val="1B2333"/>
                          </a:solidFill>
                          <a:latin typeface="Arial"/>
                        </a:rPr>
                        <a:t>negocio</a:t>
                      </a:r>
                      <a:r>
                        <a:rPr sz="1000" b="0" i="0" dirty="0" lang="es-SV">
                          <a:solidFill>
                            <a:srgbClr val="1B2333"/>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Acepta</a:t>
                      </a:r>
                      <a:r>
                        <a:rPr sz="1000" b="0" i="0" dirty="0" lang="es-SV">
                          <a:solidFill>
                            <a:srgbClr val="1B2333"/>
                          </a:solidFill>
                          <a:latin typeface="Arial"/>
                        </a:rPr>
                        <a:t> </a:t>
                      </a:r>
                      <a:r>
                        <a:rPr sz="1000" b="0" i="0" dirty="0" lang="es-SV">
                          <a:solidFill>
                            <a:srgbClr val="1B2333"/>
                          </a:solidFill>
                          <a:latin typeface="Arial"/>
                        </a:rPr>
                        <a:t>certificación</a:t>
                      </a:r>
                      <a:r>
                        <a:rPr sz="1000" b="0" i="0" dirty="0" lang="es-SV">
                          <a:solidFill>
                            <a:srgbClr val="1B2333"/>
                          </a:solidFill>
                          <a:latin typeface="Arial"/>
                        </a:rPr>
                        <a:t> </a:t>
                      </a:r>
                      <a:r>
                        <a:rPr sz="1000" b="0" i="0" dirty="0" lang="es-SV">
                          <a:solidFill>
                            <a:srgbClr val="1B2333"/>
                          </a:solidFill>
                          <a:latin typeface="Arial"/>
                        </a:rPr>
                        <a:t>vigente</a:t>
                      </a:r>
                      <a:r>
                        <a:rPr sz="1000" b="0" i="0" dirty="0" lang="es-SV">
                          <a:solidFill>
                            <a:srgbClr val="1B2333"/>
                          </a:solidFill>
                          <a:latin typeface="Arial"/>
                        </a:rPr>
                        <a:t> </a:t>
                      </a:r>
                      <a:r>
                        <a:rPr sz="1000" b="0" i="0" dirty="0" lang="es-SV">
                          <a:solidFill>
                            <a:srgbClr val="1B2333"/>
                          </a:solidFill>
                          <a:latin typeface="Arial"/>
                        </a:rPr>
                        <a:t>como</a:t>
                      </a:r>
                      <a:r>
                        <a:rPr sz="1000" b="0" i="0" dirty="0" lang="es-SV">
                          <a:solidFill>
                            <a:srgbClr val="1B2333"/>
                          </a:solidFill>
                          <a:latin typeface="Arial"/>
                        </a:rPr>
                        <a:t> </a:t>
                      </a:r>
                      <a:r>
                        <a:rPr sz="1000" b="0" i="0" dirty="0" lang="es-SV">
                          <a:solidFill>
                            <a:srgbClr val="1B2333"/>
                          </a:solidFill>
                          <a:latin typeface="Arial"/>
                        </a:rPr>
                        <a:t>evidencia</a:t>
                      </a:r>
                      <a:r>
                        <a:rPr sz="1000" b="0" i="0" dirty="0" lang="es-SV">
                          <a:solidFill>
                            <a:srgbClr val="1B2333"/>
                          </a:solidFill>
                          <a:latin typeface="Arial"/>
                        </a:rPr>
                        <a:t>.</a:t>
                      </a:r>
                    </a:p>
                    <a:p>
                      <a:pPr algn="just"/>
                      <a:r>
                        <a:rPr sz="1000" b="1" i="0" dirty="0" lang="es-SV">
                          <a:solidFill>
                            <a:srgbClr val="00376E"/>
                          </a:solidFill>
                          <a:latin typeface="Arial"/>
                        </a:rPr>
                        <a:t>NRP-23, Anexo 1, A-6 · NRP-24, art. 20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74320">
                <a:tc>
                  <a:txBody>
                    <a:bodyPr/>
                    <a:lstStyle/>
                    <a:p>
                      <a:pPr algn="just"/>
                      <a:r>
                        <a:rPr sz="1000" b="1" i="0" lang="es-SV">
                          <a:solidFill>
                            <a:srgbClr val="00376E"/>
                          </a:solidFill>
                          <a:latin typeface="Arial"/>
                        </a:rPr>
                        <a:t>45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XI. Gestión de eventos: Todo evento de riesgo operacional originado en un proveedor de servicios críticos tercerizados deberá ser reportado por el Administrador de Contrato al Departamento de Administración de Riesgos, para su registro, análisis de causa raíz y seguimiento de planes de acción.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Apartado</a:t>
                      </a:r>
                      <a:r>
                        <a:rPr sz="1000" b="0" i="0" dirty="0" lang="es-SV">
                          <a:solidFill>
                            <a:srgbClr val="1B2333"/>
                          </a:solidFill>
                          <a:latin typeface="Arial"/>
                        </a:rPr>
                        <a:t> nuevo.</a:t>
                      </a:r>
                    </a:p>
                    <a:p>
                      <a:pPr algn="just"/>
                      <a:r>
                        <a:rPr sz="1000" b="1" i="0" dirty="0" lang="es-SV">
                          <a:solidFill>
                            <a:srgbClr val="00376E"/>
                          </a:solidFill>
                          <a:latin typeface="Arial"/>
                        </a:rPr>
                        <a:t>NRP-42, arts. 8, lit. d y 19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74320">
                <a:tc>
                  <a:txBody>
                    <a:bodyPr/>
                    <a:lstStyle/>
                    <a:p>
                      <a:pPr algn="just"/>
                      <a:r>
                        <a:rPr sz="1000" b="1" i="0" lang="es-SV">
                          <a:solidFill>
                            <a:srgbClr val="00376E"/>
                          </a:solidFill>
                          <a:latin typeface="Arial"/>
                        </a:rPr>
                        <a:t>46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Cuando el evento afecte de forma masiva cualquier producto financiero, deberá reportarse a la Superintendencia en el momento de su ocurrencia, por medio del responsable designado por el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Reporte</a:t>
                      </a:r>
                      <a:r>
                        <a:rPr sz="1000" b="0" i="0" dirty="0" lang="es-SV">
                          <a:solidFill>
                            <a:srgbClr val="1B2333"/>
                          </a:solidFill>
                          <a:latin typeface="Arial"/>
                        </a:rPr>
                        <a:t> </a:t>
                      </a:r>
                      <a:r>
                        <a:rPr sz="1000" b="0" i="0" dirty="0" lang="es-SV">
                          <a:solidFill>
                            <a:srgbClr val="1B2333"/>
                          </a:solidFill>
                          <a:latin typeface="Arial"/>
                        </a:rPr>
                        <a:t>inmediato</a:t>
                      </a:r>
                      <a:r>
                        <a:rPr sz="1000" b="0" i="0" dirty="0" lang="es-SV">
                          <a:solidFill>
                            <a:srgbClr val="1B2333"/>
                          </a:solidFill>
                          <a:latin typeface="Arial"/>
                        </a:rPr>
                        <a:t> al supervisor.</a:t>
                      </a:r>
                    </a:p>
                    <a:p>
                      <a:pPr algn="just"/>
                      <a:r>
                        <a:rPr sz="1000" b="1" i="0" dirty="0" lang="es-SV">
                          <a:solidFill>
                            <a:srgbClr val="00376E"/>
                          </a:solidFill>
                          <a:latin typeface="Arial"/>
                        </a:rPr>
                        <a:t>NRP-42, arts. 11, lit. d y 21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7" name="TextBox 16"/>
          <p:cNvSpPr txBox="1"/>
          <p:nvPr/>
        </p:nvSpPr>
        <p:spPr>
          <a:xfrm>
            <a:off x="548640" y="6355080"/>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Texto subrayado en azul</a:t>
            </a:r>
            <a:r>
              <a:rPr sz="1000" b="0" i="0" lang="es-SV">
                <a:solidFill>
                  <a:srgbClr val="5B6578"/>
                </a:solidFill>
                <a:latin typeface="Arial"/>
              </a:rPr>
              <a:t> = nuevo o modificado respecto a la versión vigente</a:t>
            </a:r>
          </a:p>
        </p:txBody>
      </p:sp>
      <p:sp>
        <p:nvSpPr>
          <p:cNvPr id="3" name="Rectángulo 2">
            <a:extLst>
              <a:ext uri="{FF2B5EF4-FFF2-40B4-BE49-F238E27FC236}">
                <a16:creationId xmlns:a16="http://schemas.microsoft.com/office/drawing/2014/main" id="{D1ED8948-D149-1AC4-7011-55C5885332B8}"/>
              </a:ext>
            </a:extLst>
          </p:cNvPr>
          <p:cNvSpPr/>
          <p:nvPr/>
        </p:nvSpPr>
        <p:spPr>
          <a:xfrm>
            <a:off x="548640" y="3314700"/>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5" name="TextBox 14">
            <a:extLst>
              <a:ext uri="{FF2B5EF4-FFF2-40B4-BE49-F238E27FC236}">
                <a16:creationId xmlns:a16="http://schemas.microsoft.com/office/drawing/2014/main" id="{D4745199-C99B-204B-A8FB-AE0D651873BD}"/>
              </a:ext>
            </a:extLst>
          </p:cNvPr>
          <p:cNvSpPr txBox="1"/>
          <p:nvPr/>
        </p:nvSpPr>
        <p:spPr>
          <a:xfrm>
            <a:off x="804672" y="3204972"/>
            <a:ext cx="9966960" cy="685800"/>
          </a:xfrm>
          <a:prstGeom prst="rect">
            <a:avLst/>
          </a:prstGeom>
          <a:noFill/>
        </p:spPr>
        <p:txBody>
          <a:bodyPr wrap="square" lIns="0" tIns="0" rIns="0" bIns="0" anchor="ctr">
            <a:spAutoFit/>
          </a:bodyPr>
          <a:lstStyle/>
          <a:p>
            <a:pPr algn="l"/>
            <a:r>
              <a:rPr sz="2100" b="1" i="0" dirty="0" lang="es-SV">
                <a:solidFill>
                  <a:srgbClr val="00376E"/>
                </a:solidFill>
                <a:latin typeface="Century Gothic"/>
              </a:rPr>
              <a:t>XII. </a:t>
            </a:r>
            <a:r>
              <a:rPr sz="2100" b="1" i="0" dirty="0" lang="es-SV">
                <a:solidFill>
                  <a:srgbClr val="00376E"/>
                </a:solidFill>
                <a:latin typeface="Century Gothic"/>
              </a:rPr>
              <a:t>Actualización</a:t>
            </a:r>
            <a:r>
              <a:rPr sz="2100" b="1" i="0" dirty="0" lang="es-SV">
                <a:solidFill>
                  <a:srgbClr val="00376E"/>
                </a:solidFill>
                <a:latin typeface="Century Gothic"/>
              </a:rPr>
              <a:t> · XIII. </a:t>
            </a:r>
            <a:r>
              <a:rPr sz="2100" b="1" i="0" dirty="0" lang="es-SV">
                <a:solidFill>
                  <a:srgbClr val="00376E"/>
                </a:solidFill>
                <a:latin typeface="Century Gothic"/>
              </a:rPr>
              <a:t>Aprobación</a:t>
            </a:r>
            <a:r>
              <a:rPr sz="2100" b="1" i="0" dirty="0" lang="es-SV">
                <a:solidFill>
                  <a:srgbClr val="00376E"/>
                </a:solidFill>
                <a:latin typeface="Century Gothic"/>
              </a:rPr>
              <a:t> · XV. </a:t>
            </a:r>
            <a:r>
              <a:rPr sz="2100" b="1" i="0" dirty="0" lang="es-SV">
                <a:solidFill>
                  <a:srgbClr val="00376E"/>
                </a:solidFill>
                <a:latin typeface="Century Gothic"/>
              </a:rPr>
              <a:t>Disposición</a:t>
            </a:r>
            <a:r>
              <a:rPr sz="2100" b="1" i="0" dirty="0" lang="es-SV">
                <a:solidFill>
                  <a:srgbClr val="00376E"/>
                </a:solidFill>
                <a:latin typeface="Century Gothic"/>
              </a:rPr>
              <a:t> final</a:t>
            </a:r>
          </a:p>
        </p:txBody>
      </p:sp>
      <p:graphicFrame>
        <p:nvGraphicFramePr>
          <p:cNvPr id="7" name="Table 15">
            <a:extLst>
              <a:ext uri="{FF2B5EF4-FFF2-40B4-BE49-F238E27FC236}">
                <a16:creationId xmlns:a16="http://schemas.microsoft.com/office/drawing/2014/main" id="{66A38AF0-9D53-E316-45C2-B455FBEC51A8}"/>
              </a:ext>
            </a:extLst>
          </p:cNvPr>
          <p:cNvGraphicFramePr>
            <a:graphicFrameLocks noGrp="1"/>
          </p:cNvGraphicFramePr>
          <p:nvPr>
            <p:extLst>
              <p:ext uri="{D42A27DB-BD31-4B8C-83A1-F6EECF244321}">
                <p14:modId xmlns:p14="http://schemas.microsoft.com/office/powerpoint/2010/main" val="2382590521"/>
              </p:ext>
            </p:extLst>
          </p:nvPr>
        </p:nvGraphicFramePr>
        <p:xfrm>
          <a:off x="548640" y="3978402"/>
          <a:ext cx="11091672" cy="2298192"/>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347472">
                <a:tc>
                  <a:txBody>
                    <a:bodyPr/>
                    <a:lstStyle/>
                    <a:p>
                      <a:pPr algn="just"/>
                      <a:r>
                        <a:rPr sz="1000" b="1" i="0" dirty="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dirty="0" lang="es-SV">
                          <a:solidFill>
                            <a:srgbClr val="FFFFFF"/>
                          </a:solidFill>
                          <a:latin typeface="Arial"/>
                        </a:rPr>
                        <a:t>Dice (V03 </a:t>
                      </a:r>
                      <a:r>
                        <a:rPr sz="1000" b="1" i="0" dirty="0" lang="es-SV">
                          <a:solidFill>
                            <a:srgbClr val="FFFFFF"/>
                          </a:solidFill>
                          <a:latin typeface="Arial"/>
                        </a:rPr>
                        <a:t>vigente</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dirty="0" lang="es-SV">
                          <a:solidFill>
                            <a:srgbClr val="FFFFFF"/>
                          </a:solidFill>
                          <a:latin typeface="Arial"/>
                        </a:rPr>
                        <a:t>Debe </a:t>
                      </a:r>
                      <a:r>
                        <a:rPr sz="1000" b="1" i="0" dirty="0" lang="es-SV">
                          <a:solidFill>
                            <a:srgbClr val="FFFFFF"/>
                          </a:solidFill>
                          <a:latin typeface="Arial"/>
                        </a:rPr>
                        <a:t>decir</a:t>
                      </a:r>
                      <a:r>
                        <a:rPr sz="1000" b="1" i="0" dirty="0" lang="es-SV">
                          <a:solidFill>
                            <a:srgbClr val="FFFFFF"/>
                          </a:solidFill>
                          <a:latin typeface="Arial"/>
                        </a:rPr>
                        <a:t> (V04 </a:t>
                      </a:r>
                      <a:r>
                        <a:rPr sz="1000" b="1" i="0" dirty="0" lang="es-SV">
                          <a:solidFill>
                            <a:srgbClr val="FFFFFF"/>
                          </a:solidFill>
                          <a:latin typeface="Arial"/>
                        </a:rPr>
                        <a:t>propuesta</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Mejora y base normativa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74320">
                <a:tc>
                  <a:txBody>
                    <a:bodyPr/>
                    <a:lstStyle/>
                    <a:p>
                      <a:pPr algn="just"/>
                      <a:r>
                        <a:rPr sz="1000" b="1" i="0" lang="es-SV">
                          <a:solidFill>
                            <a:srgbClr val="00376E"/>
                          </a:solidFill>
                          <a:latin typeface="Arial"/>
                        </a:rPr>
                        <a:t>47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Con el objetivo de mantener actualizada la presente política se revisará y actualizará cuando existan modificaciones en la normativa interna y externa aplicables a la Cooperativa.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…se </a:t>
                      </a:r>
                      <a:r>
                        <a:rPr sz="1000" b="0" i="0" dirty="0" lang="es-SV">
                          <a:solidFill>
                            <a:srgbClr val="1B2333"/>
                          </a:solidFill>
                          <a:latin typeface="Arial"/>
                        </a:rPr>
                        <a:t>revisará</a:t>
                      </a:r>
                      <a:r>
                        <a:rPr sz="1000" b="0" i="0" dirty="0" lang="es-SV">
                          <a:solidFill>
                            <a:srgbClr val="1B2333"/>
                          </a:solidFill>
                          <a:latin typeface="Arial"/>
                        </a:rPr>
                        <a:t> </a:t>
                      </a:r>
                      <a:r>
                        <a:rPr sz="1000" b="1" i="0" u="sng" dirty="0" lang="es-SV">
                          <a:solidFill>
                            <a:srgbClr val="00376E"/>
                          </a:solidFill>
                          <a:latin typeface="Arial"/>
                        </a:rPr>
                        <a:t>al </a:t>
                      </a:r>
                      <a:r>
                        <a:rPr sz="1000" b="1" i="0" u="sng" dirty="0" lang="es-SV">
                          <a:solidFill>
                            <a:srgbClr val="00376E"/>
                          </a:solidFill>
                          <a:latin typeface="Arial"/>
                        </a:rPr>
                        <a:t>menos</a:t>
                      </a:r>
                      <a:r>
                        <a:rPr sz="1000" b="1" i="0" u="sng" dirty="0" lang="es-SV">
                          <a:solidFill>
                            <a:srgbClr val="00376E"/>
                          </a:solidFill>
                          <a:latin typeface="Arial"/>
                        </a:rPr>
                        <a:t> </a:t>
                      </a:r>
                      <a:r>
                        <a:rPr sz="1000" b="1" i="0" u="sng" dirty="0" lang="es-SV">
                          <a:solidFill>
                            <a:srgbClr val="00376E"/>
                          </a:solidFill>
                          <a:latin typeface="Arial"/>
                        </a:rPr>
                        <a:t>una</a:t>
                      </a:r>
                      <a:r>
                        <a:rPr sz="1000" b="1" i="0" u="sng" dirty="0" lang="es-SV">
                          <a:solidFill>
                            <a:srgbClr val="00376E"/>
                          </a:solidFill>
                          <a:latin typeface="Arial"/>
                        </a:rPr>
                        <a:t> </a:t>
                      </a:r>
                      <a:r>
                        <a:rPr sz="1000" b="1" i="0" u="sng" dirty="0" lang="es-SV">
                          <a:solidFill>
                            <a:srgbClr val="00376E"/>
                          </a:solidFill>
                          <a:latin typeface="Arial"/>
                        </a:rPr>
                        <a:t>vez</a:t>
                      </a:r>
                      <a:r>
                        <a:rPr sz="1000" b="1" i="0" u="sng" dirty="0" lang="es-SV">
                          <a:solidFill>
                            <a:srgbClr val="00376E"/>
                          </a:solidFill>
                          <a:latin typeface="Arial"/>
                        </a:rPr>
                        <a:t> al </a:t>
                      </a:r>
                      <a:r>
                        <a:rPr sz="1000" b="1" i="0" u="sng" dirty="0" lang="es-SV">
                          <a:solidFill>
                            <a:srgbClr val="00376E"/>
                          </a:solidFill>
                          <a:latin typeface="Arial"/>
                        </a:rPr>
                        <a:t>año</a:t>
                      </a:r>
                      <a:r>
                        <a:rPr sz="1000" b="0" i="0" dirty="0" lang="es-SV">
                          <a:solidFill>
                            <a:srgbClr val="1B2333"/>
                          </a:solidFill>
                          <a:latin typeface="Arial"/>
                        </a:rPr>
                        <a:t> y se </a:t>
                      </a:r>
                      <a:r>
                        <a:rPr sz="1000" b="0" i="0" dirty="0" lang="es-SV">
                          <a:solidFill>
                            <a:srgbClr val="1B2333"/>
                          </a:solidFill>
                          <a:latin typeface="Arial"/>
                        </a:rPr>
                        <a:t>actualizará</a:t>
                      </a:r>
                      <a:r>
                        <a:rPr sz="1000" b="0" i="0" dirty="0" lang="es-SV">
                          <a:solidFill>
                            <a:srgbClr val="1B2333"/>
                          </a:solidFill>
                          <a:latin typeface="Arial"/>
                        </a:rPr>
                        <a:t> </a:t>
                      </a:r>
                      <a:r>
                        <a:rPr sz="1000" b="0" i="0" dirty="0" lang="es-SV">
                          <a:solidFill>
                            <a:srgbClr val="1B2333"/>
                          </a:solidFill>
                          <a:latin typeface="Arial"/>
                        </a:rPr>
                        <a:t>cuando</a:t>
                      </a:r>
                      <a:r>
                        <a:rPr sz="1000" b="0" i="0" dirty="0" lang="es-SV">
                          <a:solidFill>
                            <a:srgbClr val="1B2333"/>
                          </a:solidFill>
                          <a:latin typeface="Arial"/>
                        </a:rPr>
                        <a:t> </a:t>
                      </a:r>
                      <a:r>
                        <a:rPr sz="1000" b="0" i="0" dirty="0" lang="es-SV">
                          <a:solidFill>
                            <a:srgbClr val="1B2333"/>
                          </a:solidFill>
                          <a:latin typeface="Arial"/>
                        </a:rPr>
                        <a:t>existan</a:t>
                      </a:r>
                      <a:r>
                        <a:rPr sz="1000" b="0" i="0" dirty="0" lang="es-SV">
                          <a:solidFill>
                            <a:srgbClr val="1B2333"/>
                          </a:solidFill>
                          <a:latin typeface="Arial"/>
                        </a:rPr>
                        <a:t> </a:t>
                      </a:r>
                      <a:r>
                        <a:rPr sz="1000" b="0" i="0" dirty="0" lang="es-SV">
                          <a:solidFill>
                            <a:srgbClr val="1B2333"/>
                          </a:solidFill>
                          <a:latin typeface="Arial"/>
                        </a:rPr>
                        <a:t>modificaciones</a:t>
                      </a:r>
                      <a:r>
                        <a:rPr sz="1000" b="0" i="0" dirty="0" lang="es-SV">
                          <a:solidFill>
                            <a:srgbClr val="1B2333"/>
                          </a:solidFill>
                          <a:latin typeface="Arial"/>
                        </a:rPr>
                        <a:t> </a:t>
                      </a:r>
                      <a:r>
                        <a:rPr sz="1000" b="0" i="0" dirty="0" lang="es-SV">
                          <a:solidFill>
                            <a:srgbClr val="1B2333"/>
                          </a:solidFill>
                          <a:latin typeface="Arial"/>
                        </a:rPr>
                        <a:t>en</a:t>
                      </a:r>
                      <a:r>
                        <a:rPr sz="1000" b="0" i="0" dirty="0" lang="es-SV">
                          <a:solidFill>
                            <a:srgbClr val="1B2333"/>
                          </a:solidFill>
                          <a:latin typeface="Arial"/>
                        </a:rPr>
                        <a:t> la </a:t>
                      </a:r>
                      <a:r>
                        <a:rPr sz="1000" b="0" i="0" dirty="0" lang="es-SV">
                          <a:solidFill>
                            <a:srgbClr val="1B2333"/>
                          </a:solidFill>
                          <a:latin typeface="Arial"/>
                        </a:rPr>
                        <a:t>normativa</a:t>
                      </a:r>
                      <a:r>
                        <a:rPr sz="1000" b="0" i="0" dirty="0" lang="es-SV">
                          <a:solidFill>
                            <a:srgbClr val="1B2333"/>
                          </a:solidFill>
                          <a:latin typeface="Arial"/>
                        </a:rPr>
                        <a:t> interna y externa </a:t>
                      </a:r>
                      <a:r>
                        <a:rPr sz="1000" b="0" i="0" dirty="0" lang="es-SV">
                          <a:solidFill>
                            <a:srgbClr val="1B2333"/>
                          </a:solidFill>
                          <a:latin typeface="Arial"/>
                        </a:rPr>
                        <a:t>aplicable</a:t>
                      </a:r>
                      <a:r>
                        <a:rPr sz="1000" b="0" i="0" dirty="0" lang="es-SV">
                          <a:solidFill>
                            <a:srgbClr val="1B2333"/>
                          </a:solidFill>
                          <a:latin typeface="Arial"/>
                        </a:rPr>
                        <a:t> a la Cooperativa</a:t>
                      </a:r>
                      <a:r>
                        <a:rPr sz="1000" b="1" i="0" u="sng" dirty="0" lang="es-SV">
                          <a:solidFill>
                            <a:srgbClr val="00376E"/>
                          </a:solidFill>
                          <a:latin typeface="Arial"/>
                        </a:rPr>
                        <a:t>, </a:t>
                      </a:r>
                      <a:r>
                        <a:rPr sz="1000" b="1" i="0" u="sng" dirty="0" lang="es-SV">
                          <a:solidFill>
                            <a:srgbClr val="00376E"/>
                          </a:solidFill>
                          <a:latin typeface="Arial"/>
                        </a:rPr>
                        <a:t>cambios</a:t>
                      </a:r>
                      <a:r>
                        <a:rPr sz="1000" b="1" i="0" u="sng" dirty="0" lang="es-SV">
                          <a:solidFill>
                            <a:srgbClr val="00376E"/>
                          </a:solidFill>
                          <a:latin typeface="Arial"/>
                        </a:rPr>
                        <a:t> </a:t>
                      </a:r>
                      <a:r>
                        <a:rPr sz="1000" b="1" i="0" u="sng" dirty="0" lang="es-SV">
                          <a:solidFill>
                            <a:srgbClr val="00376E"/>
                          </a:solidFill>
                          <a:latin typeface="Arial"/>
                        </a:rPr>
                        <a:t>significativos</a:t>
                      </a:r>
                      <a:r>
                        <a:rPr sz="1000" b="1" i="0" u="sng" dirty="0" lang="es-SV">
                          <a:solidFill>
                            <a:srgbClr val="00376E"/>
                          </a:solidFill>
                          <a:latin typeface="Arial"/>
                        </a:rPr>
                        <a:t> </a:t>
                      </a:r>
                      <a:r>
                        <a:rPr sz="1000" b="1" i="0" u="sng" dirty="0" lang="es-SV">
                          <a:solidFill>
                            <a:srgbClr val="00376E"/>
                          </a:solidFill>
                          <a:latin typeface="Arial"/>
                        </a:rPr>
                        <a:t>en</a:t>
                      </a:r>
                      <a:r>
                        <a:rPr sz="1000" b="1" i="0" u="sng" dirty="0" lang="es-SV">
                          <a:solidFill>
                            <a:srgbClr val="00376E"/>
                          </a:solidFill>
                          <a:latin typeface="Arial"/>
                        </a:rPr>
                        <a:t> el </a:t>
                      </a:r>
                      <a:r>
                        <a:rPr sz="1000" b="1" i="0" u="sng" dirty="0" lang="es-SV">
                          <a:solidFill>
                            <a:srgbClr val="00376E"/>
                          </a:solidFill>
                          <a:latin typeface="Arial"/>
                        </a:rPr>
                        <a:t>perfil</a:t>
                      </a:r>
                      <a:r>
                        <a:rPr sz="1000" b="1" i="0" u="sng" dirty="0" lang="es-SV">
                          <a:solidFill>
                            <a:srgbClr val="00376E"/>
                          </a:solidFill>
                          <a:latin typeface="Arial"/>
                        </a:rPr>
                        <a:t> de </a:t>
                      </a:r>
                      <a:r>
                        <a:rPr sz="1000" b="1" i="0" u="sng" dirty="0" lang="es-SV">
                          <a:solidFill>
                            <a:srgbClr val="00376E"/>
                          </a:solidFill>
                          <a:latin typeface="Arial"/>
                        </a:rPr>
                        <a:t>riesgo</a:t>
                      </a:r>
                      <a:r>
                        <a:rPr sz="1000" b="1" i="0" u="sng" dirty="0" lang="es-SV">
                          <a:solidFill>
                            <a:srgbClr val="00376E"/>
                          </a:solidFill>
                          <a:latin typeface="Arial"/>
                        </a:rPr>
                        <a:t> de </a:t>
                      </a:r>
                      <a:r>
                        <a:rPr sz="1000" b="1" i="0" u="sng" dirty="0" lang="es-SV">
                          <a:solidFill>
                            <a:srgbClr val="00376E"/>
                          </a:solidFill>
                          <a:latin typeface="Arial"/>
                        </a:rPr>
                        <a:t>tercerización</a:t>
                      </a:r>
                      <a:r>
                        <a:rPr sz="1000" b="1" i="0" u="sng" dirty="0" lang="es-SV">
                          <a:solidFill>
                            <a:srgbClr val="00376E"/>
                          </a:solidFill>
                          <a:latin typeface="Arial"/>
                        </a:rPr>
                        <a:t>, o a </a:t>
                      </a:r>
                      <a:r>
                        <a:rPr sz="1000" b="1" i="0" u="sng" dirty="0" lang="es-SV">
                          <a:solidFill>
                            <a:srgbClr val="00376E"/>
                          </a:solidFill>
                          <a:latin typeface="Arial"/>
                        </a:rPr>
                        <a:t>requerimiento</a:t>
                      </a:r>
                      <a:r>
                        <a:rPr sz="1000" b="1" i="0" u="sng" dirty="0" lang="es-SV">
                          <a:solidFill>
                            <a:srgbClr val="00376E"/>
                          </a:solidFill>
                          <a:latin typeface="Arial"/>
                        </a:rPr>
                        <a:t> de la </a:t>
                      </a:r>
                      <a:r>
                        <a:rPr sz="1000" b="1" i="0" u="sng" dirty="0" lang="es-SV">
                          <a:solidFill>
                            <a:srgbClr val="00376E"/>
                          </a:solidFill>
                          <a:latin typeface="Arial"/>
                        </a:rPr>
                        <a:t>Superintendencia</a:t>
                      </a:r>
                      <a:r>
                        <a:rPr sz="1000" b="1" i="0" u="sng" dirty="0" lang="es-SV">
                          <a:solidFill>
                            <a:srgbClr val="00376E"/>
                          </a:solidFill>
                          <a:latin typeface="Arial"/>
                        </a:rPr>
                        <a:t>, del </a:t>
                      </a:r>
                      <a:r>
                        <a:rPr sz="1000" b="1" i="0" u="sng" dirty="0" lang="es-SV">
                          <a:solidFill>
                            <a:srgbClr val="00376E"/>
                          </a:solidFill>
                          <a:latin typeface="Arial"/>
                        </a:rPr>
                        <a:t>Comité</a:t>
                      </a:r>
                      <a:r>
                        <a:rPr sz="1000" b="1" i="0" u="sng" dirty="0" lang="es-SV">
                          <a:solidFill>
                            <a:srgbClr val="00376E"/>
                          </a:solidFill>
                          <a:latin typeface="Arial"/>
                        </a:rPr>
                        <a:t> de </a:t>
                      </a:r>
                      <a:r>
                        <a:rPr sz="1000" b="1" i="0" u="sng" dirty="0" lang="es-SV">
                          <a:solidFill>
                            <a:srgbClr val="00376E"/>
                          </a:solidFill>
                          <a:latin typeface="Arial"/>
                        </a:rPr>
                        <a:t>Riesgos</a:t>
                      </a:r>
                      <a:r>
                        <a:rPr sz="1000" b="1" i="0" u="sng" dirty="0" lang="es-SV">
                          <a:solidFill>
                            <a:srgbClr val="00376E"/>
                          </a:solidFill>
                          <a:latin typeface="Arial"/>
                        </a:rPr>
                        <a:t> o de </a:t>
                      </a:r>
                      <a:r>
                        <a:rPr sz="1000" b="1" i="0" u="sng" dirty="0" lang="es-SV">
                          <a:solidFill>
                            <a:srgbClr val="00376E"/>
                          </a:solidFill>
                          <a:latin typeface="Arial"/>
                        </a:rPr>
                        <a:t>Auditoría</a:t>
                      </a:r>
                      <a:r>
                        <a:rPr sz="1000" b="1" i="0" u="sng" dirty="0" lang="es-SV">
                          <a:solidFill>
                            <a:srgbClr val="00376E"/>
                          </a:solidFill>
                          <a:latin typeface="Arial"/>
                        </a:rPr>
                        <a:t> Interna.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Revisión</a:t>
                      </a:r>
                      <a:r>
                        <a:rPr sz="1000" b="0" i="0" dirty="0" lang="es-SV">
                          <a:solidFill>
                            <a:srgbClr val="1B2333"/>
                          </a:solidFill>
                          <a:latin typeface="Arial"/>
                        </a:rPr>
                        <a:t> </a:t>
                      </a:r>
                      <a:r>
                        <a:rPr sz="1000" b="0" i="0" dirty="0" lang="es-SV">
                          <a:solidFill>
                            <a:srgbClr val="1B2333"/>
                          </a:solidFill>
                          <a:latin typeface="Arial"/>
                        </a:rPr>
                        <a:t>periódica</a:t>
                      </a:r>
                      <a:r>
                        <a:rPr sz="1000" b="0" i="0" dirty="0" lang="es-SV">
                          <a:solidFill>
                            <a:srgbClr val="1B2333"/>
                          </a:solidFill>
                          <a:latin typeface="Arial"/>
                        </a:rPr>
                        <a:t> </a:t>
                      </a:r>
                      <a:r>
                        <a:rPr sz="1000" b="0" i="0" dirty="0" lang="es-SV">
                          <a:solidFill>
                            <a:srgbClr val="1B2333"/>
                          </a:solidFill>
                          <a:latin typeface="Arial"/>
                        </a:rPr>
                        <a:t>obligatoria</a:t>
                      </a:r>
                      <a:r>
                        <a:rPr sz="1000" b="0" i="0" dirty="0" lang="es-SV">
                          <a:solidFill>
                            <a:srgbClr val="1B2333"/>
                          </a:solidFill>
                          <a:latin typeface="Arial"/>
                        </a:rPr>
                        <a:t>.</a:t>
                      </a:r>
                    </a:p>
                    <a:p>
                      <a:pPr algn="just"/>
                      <a:r>
                        <a:rPr sz="1000" b="1" i="0" dirty="0" lang="es-SV">
                          <a:solidFill>
                            <a:srgbClr val="00376E"/>
                          </a:solidFill>
                          <a:latin typeface="Arial"/>
                        </a:rPr>
                        <a:t>NRP-20, art. 8 (</a:t>
                      </a:r>
                      <a:r>
                        <a:rPr sz="1000" b="1" i="0" dirty="0" lang="es-SV">
                          <a:solidFill>
                            <a:srgbClr val="00376E"/>
                          </a:solidFill>
                          <a:latin typeface="Arial"/>
                        </a:rPr>
                        <a:t>máximo</a:t>
                      </a:r>
                      <a:r>
                        <a:rPr sz="1000" b="1" i="0" dirty="0" lang="es-SV">
                          <a:solidFill>
                            <a:srgbClr val="00376E"/>
                          </a:solidFill>
                          <a:latin typeface="Arial"/>
                        </a:rPr>
                        <a:t> 2 </a:t>
                      </a:r>
                      <a:r>
                        <a:rPr sz="1000" b="1" i="0" dirty="0" lang="es-SV">
                          <a:solidFill>
                            <a:srgbClr val="00376E"/>
                          </a:solidFill>
                          <a:latin typeface="Arial"/>
                        </a:rPr>
                        <a:t>años</a:t>
                      </a:r>
                      <a:r>
                        <a:rPr sz="1000" b="1" i="0" dirty="0" lang="es-SV">
                          <a:solidFill>
                            <a:srgbClr val="00376E"/>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74320">
                <a:tc>
                  <a:txBody>
                    <a:bodyPr/>
                    <a:lstStyle/>
                    <a:p>
                      <a:pPr algn="just"/>
                      <a:r>
                        <a:rPr sz="1000" b="1" i="0" lang="es-SV">
                          <a:solidFill>
                            <a:srgbClr val="00376E"/>
                          </a:solidFill>
                          <a:latin typeface="Arial"/>
                        </a:rPr>
                        <a:t>48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…para someterlo a validación del Comité de Administración de Riesgos y posterior aprobación del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…para someterla a validación del </a:t>
                      </a:r>
                      <a:r>
                        <a:rPr sz="1000" b="1" i="0" u="sng" lang="es-SV">
                          <a:solidFill>
                            <a:srgbClr val="00376E"/>
                          </a:solidFill>
                          <a:latin typeface="Arial"/>
                        </a:rPr>
                        <a:t>Comité de Riesgos</a:t>
                      </a:r>
                      <a:r>
                        <a:rPr sz="1000" b="0" i="0" lang="es-SV">
                          <a:solidFill>
                            <a:srgbClr val="1B2333"/>
                          </a:solidFill>
                          <a:latin typeface="Arial"/>
                        </a:rPr>
                        <a:t> y posterior aprobación del Consejo de Administración. </a:t>
                      </a:r>
                      <a:r>
                        <a:rPr sz="1000" b="1" i="0" u="sng" lang="es-SV">
                          <a:solidFill>
                            <a:srgbClr val="00376E"/>
                          </a:solidFill>
                          <a:latin typeface="Arial"/>
                        </a:rPr>
                        <a:t>Una vez aprobada, deberá remitirse a la Superintendencia dentro de los diez días hábiles siguientes a su aprobación.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Remisión</a:t>
                      </a:r>
                      <a:r>
                        <a:rPr sz="1000" b="0" i="0" dirty="0" lang="es-SV">
                          <a:solidFill>
                            <a:srgbClr val="1B2333"/>
                          </a:solidFill>
                          <a:latin typeface="Arial"/>
                        </a:rPr>
                        <a:t> </a:t>
                      </a:r>
                      <a:r>
                        <a:rPr sz="1000" b="0" i="0" dirty="0" lang="es-SV">
                          <a:solidFill>
                            <a:srgbClr val="1B2333"/>
                          </a:solidFill>
                          <a:latin typeface="Arial"/>
                        </a:rPr>
                        <a:t>obligatoria</a:t>
                      </a:r>
                      <a:r>
                        <a:rPr sz="1000" b="0" i="0" dirty="0" lang="es-SV">
                          <a:solidFill>
                            <a:srgbClr val="1B2333"/>
                          </a:solidFill>
                          <a:latin typeface="Arial"/>
                        </a:rPr>
                        <a:t> al supervisor.</a:t>
                      </a:r>
                    </a:p>
                    <a:p>
                      <a:pPr algn="just"/>
                      <a:r>
                        <a:rPr sz="1000" b="1" i="0" dirty="0" lang="es-SV">
                          <a:solidFill>
                            <a:srgbClr val="00376E"/>
                          </a:solidFill>
                          <a:latin typeface="Arial"/>
                        </a:rPr>
                        <a:t>NRP-20, art. 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74320">
                <a:tc>
                  <a:txBody>
                    <a:bodyPr/>
                    <a:lstStyle/>
                    <a:p>
                      <a:pPr algn="just"/>
                      <a:r>
                        <a:rPr sz="1000" b="1" i="0" lang="es-SV">
                          <a:solidFill>
                            <a:srgbClr val="00376E"/>
                          </a:solidFill>
                          <a:latin typeface="Arial"/>
                        </a:rPr>
                        <a:t>49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Lo no contemplado en la presente política, deberá ser resuelto por el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Lo no contemplado en la presente política deberá ser resuelto por el Consejo de Administración</a:t>
                      </a:r>
                      <a:r>
                        <a:rPr sz="1000" b="1" i="0" u="sng" lang="es-SV">
                          <a:solidFill>
                            <a:srgbClr val="00376E"/>
                          </a:solidFill>
                          <a:latin typeface="Arial"/>
                        </a:rPr>
                        <a:t>, previa opinión del Comité de Riesgos.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Opinión</a:t>
                      </a:r>
                      <a:r>
                        <a:rPr sz="1000" b="0" i="0" dirty="0" lang="es-SV">
                          <a:solidFill>
                            <a:srgbClr val="1B2333"/>
                          </a:solidFill>
                          <a:latin typeface="Arial"/>
                        </a:rPr>
                        <a:t> </a:t>
                      </a:r>
                      <a:r>
                        <a:rPr sz="1000" b="0" i="0" dirty="0" lang="es-SV">
                          <a:solidFill>
                            <a:srgbClr val="1B2333"/>
                          </a:solidFill>
                          <a:latin typeface="Arial"/>
                        </a:rPr>
                        <a:t>técnica</a:t>
                      </a:r>
                      <a:r>
                        <a:rPr sz="1000" b="0" i="0" dirty="0" lang="es-SV">
                          <a:solidFill>
                            <a:srgbClr val="1B2333"/>
                          </a:solidFill>
                          <a:latin typeface="Arial"/>
                        </a:rPr>
                        <a:t> previa del </a:t>
                      </a:r>
                      <a:r>
                        <a:rPr sz="1000" b="0" i="0" dirty="0" lang="es-SV">
                          <a:solidFill>
                            <a:srgbClr val="1B2333"/>
                          </a:solidFill>
                          <a:latin typeface="Arial"/>
                        </a:rPr>
                        <a:t>comité</a:t>
                      </a:r>
                      <a:r>
                        <a:rPr sz="1000" b="0" i="0" dirty="0" lang="es-SV">
                          <a:solidFill>
                            <a:srgbClr val="1B2333"/>
                          </a:solidFill>
                          <a:latin typeface="Arial"/>
                        </a:rPr>
                        <a:t>.</a:t>
                      </a:r>
                    </a:p>
                    <a:p>
                      <a:pPr algn="just"/>
                      <a:r>
                        <a:rPr sz="1000" b="1" i="0" dirty="0" lang="es-SV">
                          <a:solidFill>
                            <a:srgbClr val="00376E"/>
                          </a:solidFill>
                          <a:latin typeface="Arial"/>
                        </a:rPr>
                        <a:t>NRP-20, art. 10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0A848043-3E64-98A8-7A75-B15A546BA49B}"/>
              </a:ext>
            </a:extLst>
          </p:cNvPr>
          <p:cNvSpPr/>
          <p:nvPr/>
        </p:nvSpPr>
        <p:spPr>
          <a:xfrm>
            <a:off x="548640" y="149317"/>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228600"/>
            <a:ext cx="9966960" cy="307777"/>
          </a:xfrm>
          <a:prstGeom prst="rect">
            <a:avLst/>
          </a:prstGeom>
          <a:noFill/>
        </p:spPr>
        <p:txBody>
          <a:bodyPr wrap="square" lIns="0" tIns="0" rIns="0" bIns="0" anchor="ctr">
            <a:spAutoFit/>
          </a:bodyPr>
          <a:lstStyle/>
          <a:p>
            <a:pPr algn="l"/>
            <a:r>
              <a:rPr sz="2000" b="1" i="0" dirty="0" lang="es-SV">
                <a:solidFill>
                  <a:srgbClr val="00376E"/>
                </a:solidFill>
                <a:latin typeface="Century Gothic"/>
              </a:rPr>
              <a:t>Anexo 1 — </a:t>
            </a:r>
            <a:r>
              <a:rPr sz="2000" b="1" i="0" dirty="0" lang="es-SV">
                <a:solidFill>
                  <a:srgbClr val="00376E"/>
                </a:solidFill>
                <a:latin typeface="Century Gothic"/>
              </a:rPr>
              <a:t>Sección</a:t>
            </a:r>
            <a:r>
              <a:rPr sz="2000" b="1" i="0" dirty="0" lang="es-SV">
                <a:solidFill>
                  <a:srgbClr val="00376E"/>
                </a:solidFill>
                <a:latin typeface="Century Gothic"/>
              </a:rPr>
              <a:t> A: </a:t>
            </a:r>
            <a:r>
              <a:rPr sz="2000" b="1" i="0" dirty="0" lang="es-SV">
                <a:solidFill>
                  <a:srgbClr val="00376E"/>
                </a:solidFill>
                <a:latin typeface="Century Gothic"/>
              </a:rPr>
              <a:t>Información</a:t>
            </a:r>
            <a:r>
              <a:rPr sz="2000" b="1" i="0" dirty="0" lang="es-SV">
                <a:solidFill>
                  <a:srgbClr val="00376E"/>
                </a:solidFill>
                <a:latin typeface="Century Gothic"/>
              </a:rPr>
              <a:t> y </a:t>
            </a:r>
            <a:r>
              <a:rPr sz="2000" b="1" i="0" dirty="0" lang="es-SV">
                <a:solidFill>
                  <a:srgbClr val="00376E"/>
                </a:solidFill>
                <a:latin typeface="Century Gothic"/>
              </a:rPr>
              <a:t>documentos</a:t>
            </a:r>
            <a:r>
              <a:rPr sz="2000" b="1" i="0" dirty="0" lang="es-SV">
                <a:solidFill>
                  <a:srgbClr val="00376E"/>
                </a:solidFill>
                <a:latin typeface="Century Gothic"/>
              </a:rPr>
              <a:t> para </a:t>
            </a:r>
            <a:r>
              <a:rPr sz="2000" b="1" i="0" dirty="0" lang="es-SV">
                <a:solidFill>
                  <a:srgbClr val="00376E"/>
                </a:solidFill>
                <a:latin typeface="Century Gothic"/>
              </a:rPr>
              <a:t>contratar</a:t>
            </a:r>
            <a:endParaRPr sz="2000" b="1" i="0" dirty="0" lang="es-SV">
              <a:solidFill>
                <a:srgbClr val="00376E"/>
              </a:solidFill>
              <a:latin typeface="Century Gothic"/>
            </a:endParaRPr>
          </a:p>
        </p:txBody>
      </p:sp>
      <p:graphicFrame>
        <p:nvGraphicFramePr>
          <p:cNvPr id="16" name="Table 15"/>
          <p:cNvGraphicFramePr>
            <a:graphicFrameLocks noGrp="1"/>
          </p:cNvGraphicFramePr>
          <p:nvPr>
            <p:extLst>
              <p:ext uri="{D42A27DB-BD31-4B8C-83A1-F6EECF244321}">
                <p14:modId xmlns:p14="http://schemas.microsoft.com/office/powerpoint/2010/main" val="1161058230"/>
              </p:ext>
            </p:extLst>
          </p:nvPr>
        </p:nvGraphicFramePr>
        <p:xfrm>
          <a:off x="548640" y="751296"/>
          <a:ext cx="11091672" cy="2694432"/>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347472">
                <a:tc>
                  <a:txBody>
                    <a:bodyPr/>
                    <a:lstStyle/>
                    <a:p>
                      <a:pPr algn="just"/>
                      <a:r>
                        <a:rPr sz="1000" b="1" i="0" dirty="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dirty="0" lang="es-SV">
                          <a:solidFill>
                            <a:srgbClr val="FFFFFF"/>
                          </a:solidFill>
                          <a:latin typeface="Arial"/>
                        </a:rPr>
                        <a:t>Dice (V03 </a:t>
                      </a:r>
                      <a:r>
                        <a:rPr sz="1000" b="1" i="0" dirty="0" lang="es-SV">
                          <a:solidFill>
                            <a:srgbClr val="FFFFFF"/>
                          </a:solidFill>
                          <a:latin typeface="Arial"/>
                        </a:rPr>
                        <a:t>vigente</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dirty="0" lang="es-SV">
                          <a:solidFill>
                            <a:srgbClr val="FFFFFF"/>
                          </a:solidFill>
                          <a:latin typeface="Arial"/>
                        </a:rPr>
                        <a:t>Debe </a:t>
                      </a:r>
                      <a:r>
                        <a:rPr sz="1000" b="1" i="0" dirty="0" lang="es-SV">
                          <a:solidFill>
                            <a:srgbClr val="FFFFFF"/>
                          </a:solidFill>
                          <a:latin typeface="Arial"/>
                        </a:rPr>
                        <a:t>decir</a:t>
                      </a:r>
                      <a:r>
                        <a:rPr sz="1000" b="1" i="0" dirty="0" lang="es-SV">
                          <a:solidFill>
                            <a:srgbClr val="FFFFFF"/>
                          </a:solidFill>
                          <a:latin typeface="Arial"/>
                        </a:rPr>
                        <a:t> (V04 </a:t>
                      </a:r>
                      <a:r>
                        <a:rPr sz="1000" b="1" i="0" dirty="0" lang="es-SV">
                          <a:solidFill>
                            <a:srgbClr val="FFFFFF"/>
                          </a:solidFill>
                          <a:latin typeface="Arial"/>
                        </a:rPr>
                        <a:t>propuesta</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Mejora y base normativa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74320">
                <a:tc>
                  <a:txBody>
                    <a:bodyPr/>
                    <a:lstStyle/>
                    <a:p>
                      <a:pPr algn="just"/>
                      <a:r>
                        <a:rPr sz="1000" b="1" i="0" lang="es-SV">
                          <a:solidFill>
                            <a:srgbClr val="00376E"/>
                          </a:solidFill>
                          <a:latin typeface="Arial"/>
                        </a:rPr>
                        <a:t>50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Título</a:t>
                      </a:r>
                      <a:r>
                        <a:rPr sz="1000" b="0" i="0" dirty="0" lang="es-SV">
                          <a:solidFill>
                            <a:srgbClr val="1B2333"/>
                          </a:solidFill>
                          <a:latin typeface="Arial"/>
                        </a:rPr>
                        <a:t>: </a:t>
                      </a:r>
                      <a:r>
                        <a:rPr sz="1000" b="0" i="0" dirty="0" lang="es-SV">
                          <a:solidFill>
                            <a:srgbClr val="1B2333"/>
                          </a:solidFill>
                          <a:latin typeface="Arial"/>
                        </a:rPr>
                        <a:t>Condiciones</a:t>
                      </a:r>
                      <a:r>
                        <a:rPr sz="1000" b="0" i="0" dirty="0" lang="es-SV">
                          <a:solidFill>
                            <a:srgbClr val="1B2333"/>
                          </a:solidFill>
                          <a:latin typeface="Arial"/>
                        </a:rPr>
                        <a:t> para </a:t>
                      </a:r>
                      <a:r>
                        <a:rPr sz="1000" b="0" i="0" dirty="0" lang="es-SV">
                          <a:solidFill>
                            <a:srgbClr val="1B2333"/>
                          </a:solidFill>
                          <a:latin typeface="Arial"/>
                        </a:rPr>
                        <a:t>tercerizar</a:t>
                      </a:r>
                      <a:r>
                        <a:rPr sz="1000" b="0" i="0" dirty="0" lang="es-SV">
                          <a:solidFill>
                            <a:srgbClr val="1B2333"/>
                          </a:solidFill>
                          <a:latin typeface="Arial"/>
                        </a:rPr>
                        <a:t> </a:t>
                      </a:r>
                      <a:r>
                        <a:rPr sz="1000" b="0" i="0" dirty="0" lang="es-SV">
                          <a:solidFill>
                            <a:srgbClr val="1B2333"/>
                          </a:solidFill>
                          <a:latin typeface="Arial"/>
                        </a:rPr>
                        <a:t>Actividades</a:t>
                      </a:r>
                      <a:r>
                        <a:rPr sz="1000" b="0" i="0" dirty="0" lang="es-SV">
                          <a:solidFill>
                            <a:srgbClr val="1B2333"/>
                          </a:solidFill>
                          <a:latin typeface="Arial"/>
                        </a:rPr>
                        <a:t> u </a:t>
                      </a:r>
                      <a:r>
                        <a:rPr sz="1000" b="0" i="0" dirty="0" lang="es-SV">
                          <a:solidFill>
                            <a:srgbClr val="1B2333"/>
                          </a:solidFill>
                          <a:latin typeface="Arial"/>
                        </a:rPr>
                        <a:t>Operaciones</a:t>
                      </a:r>
                      <a:r>
                        <a:rPr sz="1000" b="0" i="0" dirty="0" lang="es-SV">
                          <a:solidFill>
                            <a:srgbClr val="1B2333"/>
                          </a:solidFill>
                          <a:latin typeface="Arial"/>
                        </a:rPr>
                        <a:t> de </a:t>
                      </a:r>
                      <a:r>
                        <a:rPr sz="1000" b="0" i="0" dirty="0" lang="es-SV">
                          <a:solidFill>
                            <a:srgbClr val="1B2333"/>
                          </a:solidFill>
                          <a:latin typeface="Arial"/>
                        </a:rPr>
                        <a:t>Tecnología</a:t>
                      </a:r>
                      <a:r>
                        <a:rPr sz="1000" b="0" i="0" dirty="0" lang="es-SV">
                          <a:solidFill>
                            <a:srgbClr val="1B2333"/>
                          </a:solidFill>
                          <a:latin typeface="Arial"/>
                        </a:rPr>
                        <a:t> de </a:t>
                      </a:r>
                      <a:r>
                        <a:rPr sz="1000" b="0" i="0" dirty="0" lang="es-SV">
                          <a:solidFill>
                            <a:srgbClr val="1B2333"/>
                          </a:solidFill>
                          <a:latin typeface="Arial"/>
                        </a:rPr>
                        <a:t>Servicios</a:t>
                      </a:r>
                      <a:r>
                        <a:rPr sz="1000" b="0" i="0" dirty="0" lang="es-SV">
                          <a:solidFill>
                            <a:srgbClr val="1B2333"/>
                          </a:solidFill>
                          <a:latin typeface="Arial"/>
                        </a:rPr>
                        <a:t> </a:t>
                      </a:r>
                      <a:r>
                        <a:rPr sz="1000" b="0" i="0" dirty="0" lang="es-SV">
                          <a:solidFill>
                            <a:srgbClr val="1B2333"/>
                          </a:solidFill>
                          <a:latin typeface="Arial"/>
                        </a:rPr>
                        <a:t>Críticos</a:t>
                      </a:r>
                      <a:r>
                        <a:rPr sz="1000" b="0" i="0" dirty="0" lang="es-SV">
                          <a:solidFill>
                            <a:srgbClr val="1B2333"/>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Condiciones</a:t>
                      </a:r>
                      <a:r>
                        <a:rPr sz="1000" b="0" i="0" dirty="0" lang="es-SV">
                          <a:solidFill>
                            <a:srgbClr val="1B2333"/>
                          </a:solidFill>
                          <a:latin typeface="Arial"/>
                        </a:rPr>
                        <a:t> para </a:t>
                      </a:r>
                      <a:r>
                        <a:rPr sz="1000" b="0" i="0" dirty="0" lang="es-SV">
                          <a:solidFill>
                            <a:srgbClr val="1B2333"/>
                          </a:solidFill>
                          <a:latin typeface="Arial"/>
                        </a:rPr>
                        <a:t>tercerizar</a:t>
                      </a:r>
                      <a:r>
                        <a:rPr sz="1000" b="0" i="0" dirty="0" lang="es-SV">
                          <a:solidFill>
                            <a:srgbClr val="1B2333"/>
                          </a:solidFill>
                          <a:latin typeface="Arial"/>
                        </a:rPr>
                        <a:t> </a:t>
                      </a:r>
                      <a:r>
                        <a:rPr sz="1000" b="0" i="0" dirty="0" lang="es-SV">
                          <a:solidFill>
                            <a:srgbClr val="1B2333"/>
                          </a:solidFill>
                          <a:latin typeface="Arial"/>
                        </a:rPr>
                        <a:t>Actividades</a:t>
                      </a:r>
                      <a:r>
                        <a:rPr sz="1000" b="0" i="0" dirty="0" lang="es-SV">
                          <a:solidFill>
                            <a:srgbClr val="1B2333"/>
                          </a:solidFill>
                          <a:latin typeface="Arial"/>
                        </a:rPr>
                        <a:t> u </a:t>
                      </a:r>
                      <a:r>
                        <a:rPr sz="1000" b="0" i="0" dirty="0" lang="es-SV">
                          <a:solidFill>
                            <a:srgbClr val="1B2333"/>
                          </a:solidFill>
                          <a:latin typeface="Arial"/>
                        </a:rPr>
                        <a:t>Operaciones</a:t>
                      </a:r>
                      <a:r>
                        <a:rPr sz="1000" b="0" i="0" dirty="0" lang="es-SV">
                          <a:solidFill>
                            <a:srgbClr val="1B2333"/>
                          </a:solidFill>
                          <a:latin typeface="Arial"/>
                        </a:rPr>
                        <a:t> de </a:t>
                      </a:r>
                      <a:r>
                        <a:rPr sz="1000" b="0" i="0" dirty="0" lang="es-SV">
                          <a:solidFill>
                            <a:srgbClr val="1B2333"/>
                          </a:solidFill>
                          <a:latin typeface="Arial"/>
                        </a:rPr>
                        <a:t>Tecnología</a:t>
                      </a:r>
                      <a:r>
                        <a:rPr sz="1000" b="0" i="0" dirty="0" lang="es-SV">
                          <a:solidFill>
                            <a:srgbClr val="1B2333"/>
                          </a:solidFill>
                          <a:latin typeface="Arial"/>
                        </a:rPr>
                        <a:t> de </a:t>
                      </a:r>
                      <a:r>
                        <a:rPr sz="1000" b="1" i="0" u="sng" dirty="0" lang="es-SV">
                          <a:solidFill>
                            <a:srgbClr val="00376E"/>
                          </a:solidFill>
                          <a:latin typeface="Arial"/>
                        </a:rPr>
                        <a:t>la </a:t>
                      </a:r>
                      <a:r>
                        <a:rPr sz="1000" b="1" i="0" u="sng" dirty="0" lang="es-SV">
                          <a:solidFill>
                            <a:srgbClr val="00376E"/>
                          </a:solidFill>
                          <a:latin typeface="Arial"/>
                        </a:rPr>
                        <a:t>Información</a:t>
                      </a:r>
                      <a:r>
                        <a:rPr sz="1000" b="1" i="0" u="sng" dirty="0" lang="es-SV">
                          <a:solidFill>
                            <a:srgbClr val="00376E"/>
                          </a:solidFill>
                          <a:latin typeface="Arial"/>
                        </a:rPr>
                        <a:t> </a:t>
                      </a:r>
                      <a:r>
                        <a:rPr sz="1000" b="1" i="0" u="sng" dirty="0" lang="es-SV">
                          <a:solidFill>
                            <a:srgbClr val="00376E"/>
                          </a:solidFill>
                          <a:latin typeface="Arial"/>
                        </a:rPr>
                        <a:t>relacionadas</a:t>
                      </a:r>
                      <a:r>
                        <a:rPr sz="1000" b="1" i="0" u="sng" dirty="0" lang="es-SV">
                          <a:solidFill>
                            <a:srgbClr val="00376E"/>
                          </a:solidFill>
                          <a:latin typeface="Arial"/>
                        </a:rPr>
                        <a:t> a </a:t>
                      </a:r>
                      <a:r>
                        <a:rPr sz="1000" b="1" i="0" u="sng" dirty="0" lang="es-SV">
                          <a:solidFill>
                            <a:srgbClr val="00376E"/>
                          </a:solidFill>
                          <a:latin typeface="Arial"/>
                        </a:rPr>
                        <a:t>productos</a:t>
                      </a:r>
                      <a:r>
                        <a:rPr sz="1000" b="1" i="0" u="sng" dirty="0" lang="es-SV">
                          <a:solidFill>
                            <a:srgbClr val="00376E"/>
                          </a:solidFill>
                          <a:latin typeface="Arial"/>
                        </a:rPr>
                        <a:t> y </a:t>
                      </a:r>
                      <a:r>
                        <a:rPr sz="1000" b="1" i="0" u="sng" dirty="0" lang="es-SV">
                          <a:solidFill>
                            <a:srgbClr val="00376E"/>
                          </a:solidFill>
                          <a:latin typeface="Arial"/>
                        </a:rPr>
                        <a:t>servicios</a:t>
                      </a:r>
                      <a:r>
                        <a:rPr sz="1000" b="1" i="0" u="sng" dirty="0" lang="es-SV">
                          <a:solidFill>
                            <a:srgbClr val="00376E"/>
                          </a:solidFill>
                          <a:latin typeface="Arial"/>
                        </a:rPr>
                        <a:t> </a:t>
                      </a:r>
                      <a:r>
                        <a:rPr sz="1000" b="1" i="0" u="sng" dirty="0" lang="es-SV">
                          <a:solidFill>
                            <a:srgbClr val="00376E"/>
                          </a:solidFill>
                          <a:latin typeface="Arial"/>
                        </a:rPr>
                        <a:t>financieros</a:t>
                      </a:r>
                      <a:r>
                        <a:rPr sz="1000" b="1" i="0" u="sng" dirty="0" lang="es-SV">
                          <a:solidFill>
                            <a:srgbClr val="00376E"/>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Nombre de la normativa.</a:t>
                      </a:r>
                    </a:p>
                    <a:p>
                      <a:pPr algn="just"/>
                      <a:r>
                        <a:rPr sz="1000" b="1" i="0" lang="es-SV">
                          <a:solidFill>
                            <a:srgbClr val="00376E"/>
                          </a:solidFill>
                          <a:latin typeface="Arial"/>
                        </a:rPr>
                        <a:t>NRP-23, Anexo No. 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74320">
                <a:tc>
                  <a:txBody>
                    <a:bodyPr/>
                    <a:lstStyle/>
                    <a:p>
                      <a:pPr algn="just"/>
                      <a:r>
                        <a:rPr sz="1000" b="1" i="0" lang="es-SV">
                          <a:solidFill>
                            <a:srgbClr val="00376E"/>
                          </a:solidFill>
                          <a:latin typeface="Arial"/>
                        </a:rPr>
                        <a:t>51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1. </a:t>
                      </a:r>
                      <a:r>
                        <a:rPr sz="1000" b="0" i="0" dirty="0" lang="es-SV">
                          <a:solidFill>
                            <a:srgbClr val="1B2333"/>
                          </a:solidFill>
                          <a:latin typeface="Arial"/>
                        </a:rPr>
                        <a:t>Realizar</a:t>
                      </a:r>
                      <a:r>
                        <a:rPr sz="1000" b="0" i="0" dirty="0" lang="es-SV">
                          <a:solidFill>
                            <a:srgbClr val="1B2333"/>
                          </a:solidFill>
                          <a:latin typeface="Arial"/>
                        </a:rPr>
                        <a:t> </a:t>
                      </a:r>
                      <a:r>
                        <a:rPr sz="1000" b="0" i="0" dirty="0" lang="es-SV">
                          <a:solidFill>
                            <a:srgbClr val="1B2333"/>
                          </a:solidFill>
                          <a:latin typeface="Arial"/>
                        </a:rPr>
                        <a:t>una</a:t>
                      </a:r>
                      <a:r>
                        <a:rPr sz="1000" b="0" i="0" dirty="0" lang="es-SV">
                          <a:solidFill>
                            <a:srgbClr val="1B2333"/>
                          </a:solidFill>
                          <a:latin typeface="Arial"/>
                        </a:rPr>
                        <a:t> </a:t>
                      </a:r>
                      <a:r>
                        <a:rPr sz="1000" b="0" i="0" dirty="0" lang="es-SV">
                          <a:solidFill>
                            <a:srgbClr val="1B2333"/>
                          </a:solidFill>
                          <a:latin typeface="Arial"/>
                        </a:rPr>
                        <a:t>evaluación</a:t>
                      </a:r>
                      <a:r>
                        <a:rPr sz="1000" b="0" i="0" dirty="0" lang="es-SV">
                          <a:solidFill>
                            <a:srgbClr val="1B2333"/>
                          </a:solidFill>
                          <a:latin typeface="Arial"/>
                        </a:rPr>
                        <a:t> de </a:t>
                      </a:r>
                      <a:r>
                        <a:rPr sz="1000" b="0" i="0" dirty="0" lang="es-SV">
                          <a:solidFill>
                            <a:srgbClr val="1B2333"/>
                          </a:solidFill>
                          <a:latin typeface="Arial"/>
                        </a:rPr>
                        <a:t>riesgos</a:t>
                      </a:r>
                      <a:r>
                        <a:rPr sz="1000" b="0" i="0" dirty="0" lang="es-SV">
                          <a:solidFill>
                            <a:srgbClr val="1B2333"/>
                          </a:solidFill>
                          <a:latin typeface="Arial"/>
                        </a:rPr>
                        <a:t>… </a:t>
                      </a:r>
                      <a:r>
                        <a:rPr sz="1000" b="0" i="0" dirty="0" lang="es-SV">
                          <a:solidFill>
                            <a:srgbClr val="1B2333"/>
                          </a:solidFill>
                          <a:latin typeface="Arial"/>
                        </a:rPr>
                        <a:t>Evaluar</a:t>
                      </a:r>
                      <a:r>
                        <a:rPr sz="1000" b="0" i="0" dirty="0" lang="es-SV">
                          <a:solidFill>
                            <a:srgbClr val="1B2333"/>
                          </a:solidFill>
                          <a:latin typeface="Arial"/>
                        </a:rPr>
                        <a:t> </a:t>
                      </a:r>
                      <a:r>
                        <a:rPr sz="1000" b="0" i="0" dirty="0" lang="es-SV">
                          <a:solidFill>
                            <a:srgbClr val="1B2333"/>
                          </a:solidFill>
                          <a:latin typeface="Arial"/>
                        </a:rPr>
                        <a:t>riesgos</a:t>
                      </a:r>
                      <a:r>
                        <a:rPr sz="1000" b="0" i="0" dirty="0" lang="es-SV">
                          <a:solidFill>
                            <a:srgbClr val="1B2333"/>
                          </a:solidFill>
                          <a:latin typeface="Arial"/>
                        </a:rPr>
                        <a:t> </a:t>
                      </a:r>
                      <a:r>
                        <a:rPr sz="1000" b="0" i="0" dirty="0" lang="es-SV">
                          <a:solidFill>
                            <a:srgbClr val="1B2333"/>
                          </a:solidFill>
                          <a:latin typeface="Arial"/>
                        </a:rPr>
                        <a:t>derivados</a:t>
                      </a:r>
                      <a:r>
                        <a:rPr sz="1000" b="0" i="0" dirty="0" lang="es-SV">
                          <a:solidFill>
                            <a:srgbClr val="1B2333"/>
                          </a:solidFill>
                          <a:latin typeface="Arial"/>
                        </a:rPr>
                        <a:t> de la </a:t>
                      </a:r>
                      <a:r>
                        <a:rPr sz="1000" b="0" i="0" dirty="0" lang="es-SV">
                          <a:solidFill>
                            <a:srgbClr val="1B2333"/>
                          </a:solidFill>
                          <a:latin typeface="Arial"/>
                        </a:rPr>
                        <a:t>capacidad</a:t>
                      </a:r>
                      <a:r>
                        <a:rPr sz="1000" b="0" i="0" dirty="0" lang="es-SV">
                          <a:solidFill>
                            <a:srgbClr val="1B2333"/>
                          </a:solidFill>
                          <a:latin typeface="Arial"/>
                        </a:rPr>
                        <a:t> del </a:t>
                      </a:r>
                      <a:r>
                        <a:rPr sz="1000" b="0" i="0" dirty="0" lang="es-SV">
                          <a:solidFill>
                            <a:srgbClr val="1B2333"/>
                          </a:solidFill>
                          <a:latin typeface="Arial"/>
                        </a:rPr>
                        <a:t>proveedor</a:t>
                      </a:r>
                      <a:r>
                        <a:rPr sz="1000" b="0" i="0" dirty="0" lang="es-SV">
                          <a:solidFill>
                            <a:srgbClr val="1B2333"/>
                          </a:solidFill>
                          <a:latin typeface="Arial"/>
                        </a:rPr>
                        <a:t> </a:t>
                      </a:r>
                      <a:r>
                        <a:rPr sz="1000" b="0" i="0" dirty="0" lang="es-SV">
                          <a:solidFill>
                            <a:srgbClr val="1B2333"/>
                          </a:solidFill>
                          <a:latin typeface="Arial"/>
                        </a:rPr>
                        <a:t>respecto</a:t>
                      </a:r>
                      <a:r>
                        <a:rPr sz="1000" b="0" i="0" dirty="0" lang="es-SV">
                          <a:solidFill>
                            <a:srgbClr val="1B2333"/>
                          </a:solidFill>
                          <a:latin typeface="Arial"/>
                        </a:rPr>
                        <a:t> a la </a:t>
                      </a:r>
                      <a:r>
                        <a:rPr sz="1000" b="0" i="0" dirty="0" lang="es-SV">
                          <a:solidFill>
                            <a:srgbClr val="1B2333"/>
                          </a:solidFill>
                          <a:latin typeface="Arial"/>
                        </a:rPr>
                        <a:t>concentración</a:t>
                      </a:r>
                      <a:r>
                        <a:rPr sz="1000" b="0" i="0" dirty="0" lang="es-SV">
                          <a:solidFill>
                            <a:srgbClr val="1B2333"/>
                          </a:solidFill>
                          <a:latin typeface="Arial"/>
                        </a:rPr>
                        <a:t> de </a:t>
                      </a:r>
                      <a:r>
                        <a:rPr sz="1000" b="0" i="0" dirty="0" lang="es-SV">
                          <a:solidFill>
                            <a:srgbClr val="1B2333"/>
                          </a:solidFill>
                          <a:latin typeface="Arial"/>
                        </a:rPr>
                        <a:t>instituciones</a:t>
                      </a:r>
                      <a:r>
                        <a:rPr sz="1000" b="0" i="0" dirty="0" lang="es-SV">
                          <a:solidFill>
                            <a:srgbClr val="1B2333"/>
                          </a:solidFill>
                          <a:latin typeface="Arial"/>
                        </a:rPr>
                        <a:t> con el </a:t>
                      </a:r>
                      <a:r>
                        <a:rPr sz="1000" b="0" i="0" dirty="0" lang="es-SV">
                          <a:solidFill>
                            <a:srgbClr val="1B2333"/>
                          </a:solidFill>
                          <a:latin typeface="Arial"/>
                        </a:rPr>
                        <a:t>proveedor</a:t>
                      </a:r>
                      <a:r>
                        <a:rPr sz="1000" b="0" i="0" dirty="0" lang="es-SV">
                          <a:solidFill>
                            <a:srgbClr val="1B2333"/>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1. </a:t>
                      </a:r>
                      <a:r>
                        <a:rPr sz="1000" b="0" i="0" dirty="0" lang="es-SV">
                          <a:solidFill>
                            <a:srgbClr val="1B2333"/>
                          </a:solidFill>
                          <a:latin typeface="Arial"/>
                        </a:rPr>
                        <a:t>Realizar</a:t>
                      </a:r>
                      <a:r>
                        <a:rPr sz="1000" b="0" i="0" dirty="0" lang="es-SV">
                          <a:solidFill>
                            <a:srgbClr val="1B2333"/>
                          </a:solidFill>
                          <a:latin typeface="Arial"/>
                        </a:rPr>
                        <a:t> </a:t>
                      </a:r>
                      <a:r>
                        <a:rPr sz="1000" b="0" i="0" dirty="0" lang="es-SV">
                          <a:solidFill>
                            <a:srgbClr val="1B2333"/>
                          </a:solidFill>
                          <a:latin typeface="Arial"/>
                        </a:rPr>
                        <a:t>una</a:t>
                      </a:r>
                      <a:r>
                        <a:rPr sz="1000" b="0" i="0" dirty="0" lang="es-SV">
                          <a:solidFill>
                            <a:srgbClr val="1B2333"/>
                          </a:solidFill>
                          <a:latin typeface="Arial"/>
                        </a:rPr>
                        <a:t> </a:t>
                      </a:r>
                      <a:r>
                        <a:rPr sz="1000" b="0" i="0" dirty="0" lang="es-SV">
                          <a:solidFill>
                            <a:srgbClr val="1B2333"/>
                          </a:solidFill>
                          <a:latin typeface="Arial"/>
                        </a:rPr>
                        <a:t>evaluación</a:t>
                      </a:r>
                      <a:r>
                        <a:rPr sz="1000" b="0" i="0" dirty="0" lang="es-SV">
                          <a:solidFill>
                            <a:srgbClr val="1B2333"/>
                          </a:solidFill>
                          <a:latin typeface="Arial"/>
                        </a:rPr>
                        <a:t> </a:t>
                      </a:r>
                      <a:r>
                        <a:rPr sz="1000" b="1" i="0" u="sng" dirty="0" lang="es-SV">
                          <a:solidFill>
                            <a:srgbClr val="00376E"/>
                          </a:solidFill>
                          <a:latin typeface="Arial"/>
                        </a:rPr>
                        <a:t>integral</a:t>
                      </a:r>
                      <a:r>
                        <a:rPr sz="1000" b="0" i="0" dirty="0" lang="es-SV">
                          <a:solidFill>
                            <a:srgbClr val="1B2333"/>
                          </a:solidFill>
                          <a:latin typeface="Arial"/>
                        </a:rPr>
                        <a:t> de </a:t>
                      </a:r>
                      <a:r>
                        <a:rPr sz="1000" b="0" i="0" dirty="0" lang="es-SV">
                          <a:solidFill>
                            <a:srgbClr val="1B2333"/>
                          </a:solidFill>
                          <a:latin typeface="Arial"/>
                        </a:rPr>
                        <a:t>riesgos</a:t>
                      </a:r>
                      <a:r>
                        <a:rPr sz="1000" b="0" i="0" dirty="0" lang="es-SV">
                          <a:solidFill>
                            <a:srgbClr val="1B2333"/>
                          </a:solidFill>
                          <a:latin typeface="Arial"/>
                        </a:rPr>
                        <a:t>… </a:t>
                      </a:r>
                      <a:r>
                        <a:rPr sz="1000" b="1" i="0" u="sng" dirty="0" lang="es-SV">
                          <a:solidFill>
                            <a:srgbClr val="00376E"/>
                          </a:solidFill>
                          <a:latin typeface="Arial"/>
                        </a:rPr>
                        <a:t>considerando</a:t>
                      </a:r>
                      <a:r>
                        <a:rPr sz="1000" b="1" i="0" u="sng" dirty="0" lang="es-SV">
                          <a:solidFill>
                            <a:srgbClr val="00376E"/>
                          </a:solidFill>
                          <a:latin typeface="Arial"/>
                        </a:rPr>
                        <a:t> </a:t>
                      </a:r>
                      <a:r>
                        <a:rPr sz="1000" b="1" i="0" u="sng" dirty="0" lang="es-SV">
                          <a:solidFill>
                            <a:srgbClr val="00376E"/>
                          </a:solidFill>
                          <a:latin typeface="Arial"/>
                        </a:rPr>
                        <a:t>los</a:t>
                      </a:r>
                      <a:r>
                        <a:rPr sz="1000" b="1" i="0" u="sng" dirty="0" lang="es-SV">
                          <a:solidFill>
                            <a:srgbClr val="00376E"/>
                          </a:solidFill>
                          <a:latin typeface="Arial"/>
                        </a:rPr>
                        <a:t> </a:t>
                      </a:r>
                      <a:r>
                        <a:rPr sz="1000" b="1" i="0" u="sng" dirty="0" lang="es-SV">
                          <a:solidFill>
                            <a:srgbClr val="00376E"/>
                          </a:solidFill>
                          <a:latin typeface="Arial"/>
                        </a:rPr>
                        <a:t>riesgos</a:t>
                      </a:r>
                      <a:r>
                        <a:rPr sz="1000" b="1" i="0" u="sng" dirty="0" lang="es-SV">
                          <a:solidFill>
                            <a:srgbClr val="00376E"/>
                          </a:solidFill>
                          <a:latin typeface="Arial"/>
                        </a:rPr>
                        <a:t> </a:t>
                      </a:r>
                      <a:r>
                        <a:rPr sz="1000" b="1" i="0" u="sng" dirty="0" lang="es-SV">
                          <a:solidFill>
                            <a:srgbClr val="00376E"/>
                          </a:solidFill>
                          <a:latin typeface="Arial"/>
                        </a:rPr>
                        <a:t>operacionales</a:t>
                      </a:r>
                      <a:r>
                        <a:rPr sz="1000" b="1" i="0" u="sng" dirty="0" lang="es-SV">
                          <a:solidFill>
                            <a:srgbClr val="00376E"/>
                          </a:solidFill>
                          <a:latin typeface="Arial"/>
                        </a:rPr>
                        <a:t> (</a:t>
                      </a:r>
                      <a:r>
                        <a:rPr sz="1000" b="1" i="0" u="sng" dirty="0" lang="es-SV">
                          <a:solidFill>
                            <a:srgbClr val="00376E"/>
                          </a:solidFill>
                          <a:latin typeface="Arial"/>
                        </a:rPr>
                        <a:t>incluyendo</a:t>
                      </a:r>
                      <a:r>
                        <a:rPr sz="1000" b="1" i="0" u="sng" dirty="0" lang="es-SV">
                          <a:solidFill>
                            <a:srgbClr val="00376E"/>
                          </a:solidFill>
                          <a:latin typeface="Arial"/>
                        </a:rPr>
                        <a:t> </a:t>
                      </a:r>
                      <a:r>
                        <a:rPr sz="1000" b="1" i="0" u="sng" dirty="0" lang="es-SV">
                          <a:solidFill>
                            <a:srgbClr val="00376E"/>
                          </a:solidFill>
                          <a:latin typeface="Arial"/>
                        </a:rPr>
                        <a:t>tecnológicos</a:t>
                      </a:r>
                      <a:r>
                        <a:rPr sz="1000" b="1" i="0" u="sng" dirty="0" lang="es-SV">
                          <a:solidFill>
                            <a:srgbClr val="00376E"/>
                          </a:solidFill>
                          <a:latin typeface="Arial"/>
                        </a:rPr>
                        <a:t> y </a:t>
                      </a:r>
                      <a:r>
                        <a:rPr sz="1000" b="1" i="0" u="sng" dirty="0" lang="es-SV">
                          <a:solidFill>
                            <a:srgbClr val="00376E"/>
                          </a:solidFill>
                          <a:latin typeface="Arial"/>
                        </a:rPr>
                        <a:t>legales</a:t>
                      </a:r>
                      <a:r>
                        <a:rPr sz="1000" b="1" i="0" u="sng" dirty="0" lang="es-SV">
                          <a:solidFill>
                            <a:srgbClr val="00376E"/>
                          </a:solidFill>
                          <a:latin typeface="Arial"/>
                        </a:rPr>
                        <a:t>), </a:t>
                      </a:r>
                      <a:r>
                        <a:rPr sz="1000" b="1" i="0" u="sng" dirty="0" lang="es-SV">
                          <a:solidFill>
                            <a:srgbClr val="00376E"/>
                          </a:solidFill>
                          <a:latin typeface="Arial"/>
                        </a:rPr>
                        <a:t>reputacionales</a:t>
                      </a:r>
                      <a:r>
                        <a:rPr sz="1000" b="1" i="0" u="sng" dirty="0" lang="es-SV">
                          <a:solidFill>
                            <a:srgbClr val="00376E"/>
                          </a:solidFill>
                          <a:latin typeface="Arial"/>
                        </a:rPr>
                        <a:t> y </a:t>
                      </a:r>
                      <a:r>
                        <a:rPr sz="1000" b="1" i="0" u="sng" dirty="0" lang="es-SV">
                          <a:solidFill>
                            <a:srgbClr val="00376E"/>
                          </a:solidFill>
                          <a:latin typeface="Arial"/>
                        </a:rPr>
                        <a:t>financieros</a:t>
                      </a:r>
                      <a:r>
                        <a:rPr sz="1000" b="1" i="0" u="sng" dirty="0" lang="es-SV">
                          <a:solidFill>
                            <a:srgbClr val="00376E"/>
                          </a:solidFill>
                          <a:latin typeface="Arial"/>
                        </a:rPr>
                        <a:t>, la </a:t>
                      </a:r>
                      <a:r>
                        <a:rPr sz="1000" b="1" i="0" u="sng" dirty="0" lang="es-SV">
                          <a:solidFill>
                            <a:srgbClr val="00376E"/>
                          </a:solidFill>
                          <a:latin typeface="Arial"/>
                        </a:rPr>
                        <a:t>continuidad</a:t>
                      </a:r>
                      <a:r>
                        <a:rPr sz="1000" b="1" i="0" u="sng" dirty="0" lang="es-SV">
                          <a:solidFill>
                            <a:srgbClr val="00376E"/>
                          </a:solidFill>
                          <a:latin typeface="Arial"/>
                        </a:rPr>
                        <a:t> del </a:t>
                      </a:r>
                      <a:r>
                        <a:rPr sz="1000" b="1" i="0" u="sng" dirty="0" lang="es-SV">
                          <a:solidFill>
                            <a:srgbClr val="00376E"/>
                          </a:solidFill>
                          <a:latin typeface="Arial"/>
                        </a:rPr>
                        <a:t>negocio</a:t>
                      </a:r>
                      <a:r>
                        <a:rPr sz="1000" b="1" i="0" u="sng" dirty="0" lang="es-SV">
                          <a:solidFill>
                            <a:srgbClr val="00376E"/>
                          </a:solidFill>
                          <a:latin typeface="Arial"/>
                        </a:rPr>
                        <a:t> y el </a:t>
                      </a:r>
                      <a:r>
                        <a:rPr sz="1000" b="1" i="0" u="sng" dirty="0" lang="es-SV">
                          <a:solidFill>
                            <a:srgbClr val="00376E"/>
                          </a:solidFill>
                          <a:latin typeface="Arial"/>
                        </a:rPr>
                        <a:t>riesgo</a:t>
                      </a:r>
                      <a:r>
                        <a:rPr sz="1000" b="1" i="0" u="sng" dirty="0" lang="es-SV">
                          <a:solidFill>
                            <a:srgbClr val="00376E"/>
                          </a:solidFill>
                          <a:latin typeface="Arial"/>
                        </a:rPr>
                        <a:t> de </a:t>
                      </a:r>
                      <a:r>
                        <a:rPr sz="1000" b="1" i="0" u="sng" dirty="0" lang="es-SV">
                          <a:solidFill>
                            <a:srgbClr val="00376E"/>
                          </a:solidFill>
                          <a:latin typeface="Arial"/>
                        </a:rPr>
                        <a:t>liquidez</a:t>
                      </a:r>
                      <a:r>
                        <a:rPr sz="1000" b="1" i="0" u="sng" dirty="0" lang="es-SV">
                          <a:solidFill>
                            <a:srgbClr val="00376E"/>
                          </a:solidFill>
                          <a:latin typeface="Arial"/>
                        </a:rPr>
                        <a:t>; la </a:t>
                      </a:r>
                      <a:r>
                        <a:rPr sz="1000" b="1" i="0" u="sng" dirty="0" lang="es-SV">
                          <a:solidFill>
                            <a:srgbClr val="00376E"/>
                          </a:solidFill>
                          <a:latin typeface="Arial"/>
                        </a:rPr>
                        <a:t>concentración</a:t>
                      </a:r>
                      <a:r>
                        <a:rPr sz="1000" b="1" i="0" u="sng" dirty="0" lang="es-SV">
                          <a:solidFill>
                            <a:srgbClr val="00376E"/>
                          </a:solidFill>
                          <a:latin typeface="Arial"/>
                        </a:rPr>
                        <a:t> de </a:t>
                      </a:r>
                      <a:r>
                        <a:rPr sz="1000" b="1" i="0" u="sng" dirty="0" lang="es-SV">
                          <a:solidFill>
                            <a:srgbClr val="00376E"/>
                          </a:solidFill>
                          <a:latin typeface="Arial"/>
                        </a:rPr>
                        <a:t>entidades</a:t>
                      </a:r>
                      <a:r>
                        <a:rPr sz="1000" b="1" i="0" u="sng" dirty="0" lang="es-SV">
                          <a:solidFill>
                            <a:srgbClr val="00376E"/>
                          </a:solidFill>
                          <a:latin typeface="Arial"/>
                        </a:rPr>
                        <a:t> </a:t>
                      </a:r>
                      <a:r>
                        <a:rPr sz="1000" b="1" i="0" u="sng" dirty="0" lang="es-SV">
                          <a:solidFill>
                            <a:srgbClr val="00376E"/>
                          </a:solidFill>
                          <a:latin typeface="Arial"/>
                        </a:rPr>
                        <a:t>financieras</a:t>
                      </a:r>
                      <a:r>
                        <a:rPr sz="1000" b="1" i="0" u="sng" dirty="0" lang="es-SV">
                          <a:solidFill>
                            <a:srgbClr val="00376E"/>
                          </a:solidFill>
                          <a:latin typeface="Arial"/>
                        </a:rPr>
                        <a:t> </a:t>
                      </a:r>
                      <a:r>
                        <a:rPr sz="1000" b="1" i="0" u="sng" dirty="0" lang="es-SV">
                          <a:solidFill>
                            <a:srgbClr val="00376E"/>
                          </a:solidFill>
                          <a:latin typeface="Arial"/>
                        </a:rPr>
                        <a:t>en</a:t>
                      </a:r>
                      <a:r>
                        <a:rPr sz="1000" b="1" i="0" u="sng" dirty="0" lang="es-SV">
                          <a:solidFill>
                            <a:srgbClr val="00376E"/>
                          </a:solidFill>
                          <a:latin typeface="Arial"/>
                        </a:rPr>
                        <a:t> el </a:t>
                      </a:r>
                      <a:r>
                        <a:rPr sz="1000" b="1" i="0" u="sng" dirty="0" lang="es-SV">
                          <a:solidFill>
                            <a:srgbClr val="00376E"/>
                          </a:solidFill>
                          <a:latin typeface="Arial"/>
                        </a:rPr>
                        <a:t>proveedor</a:t>
                      </a:r>
                      <a:r>
                        <a:rPr sz="1000" b="1" i="0" u="sng" dirty="0" lang="es-SV">
                          <a:solidFill>
                            <a:srgbClr val="00376E"/>
                          </a:solidFill>
                          <a:latin typeface="Arial"/>
                        </a:rPr>
                        <a:t> y de la </a:t>
                      </a:r>
                      <a:r>
                        <a:rPr sz="1000" b="1" i="0" u="sng" dirty="0" lang="es-SV">
                          <a:solidFill>
                            <a:srgbClr val="00376E"/>
                          </a:solidFill>
                          <a:latin typeface="Arial"/>
                        </a:rPr>
                        <a:t>propia</a:t>
                      </a:r>
                      <a:r>
                        <a:rPr sz="1000" b="1" i="0" u="sng" dirty="0" lang="es-SV">
                          <a:solidFill>
                            <a:srgbClr val="00376E"/>
                          </a:solidFill>
                          <a:latin typeface="Arial"/>
                        </a:rPr>
                        <a:t> Cooperativa, con </a:t>
                      </a:r>
                      <a:r>
                        <a:rPr sz="1000" b="1" i="0" u="sng" dirty="0" lang="es-SV">
                          <a:solidFill>
                            <a:srgbClr val="00376E"/>
                          </a:solidFill>
                          <a:latin typeface="Arial"/>
                        </a:rPr>
                        <a:t>acciones</a:t>
                      </a:r>
                      <a:r>
                        <a:rPr sz="1000" b="1" i="0" u="sng" dirty="0" lang="es-SV">
                          <a:solidFill>
                            <a:srgbClr val="00376E"/>
                          </a:solidFill>
                          <a:latin typeface="Arial"/>
                        </a:rPr>
                        <a:t> a </a:t>
                      </a:r>
                      <a:r>
                        <a:rPr sz="1000" b="1" i="0" u="sng" dirty="0" lang="es-SV">
                          <a:solidFill>
                            <a:srgbClr val="00376E"/>
                          </a:solidFill>
                          <a:latin typeface="Arial"/>
                        </a:rPr>
                        <a:t>realizar</a:t>
                      </a:r>
                      <a:r>
                        <a:rPr sz="1000" b="1" i="0" u="sng" dirty="0" lang="es-SV">
                          <a:solidFill>
                            <a:srgbClr val="00376E"/>
                          </a:solidFill>
                          <a:latin typeface="Arial"/>
                        </a:rPr>
                        <a:t> </a:t>
                      </a:r>
                      <a:r>
                        <a:rPr sz="1000" b="1" i="0" u="sng" dirty="0" lang="es-SV">
                          <a:solidFill>
                            <a:srgbClr val="00376E"/>
                          </a:solidFill>
                          <a:latin typeface="Arial"/>
                        </a:rPr>
                        <a:t>si</a:t>
                      </a:r>
                      <a:r>
                        <a:rPr sz="1000" b="1" i="0" u="sng" dirty="0" lang="es-SV">
                          <a:solidFill>
                            <a:srgbClr val="00376E"/>
                          </a:solidFill>
                          <a:latin typeface="Arial"/>
                        </a:rPr>
                        <a:t> el </a:t>
                      </a:r>
                      <a:r>
                        <a:rPr sz="1000" b="1" i="0" u="sng" dirty="0" lang="es-SV">
                          <a:solidFill>
                            <a:srgbClr val="00376E"/>
                          </a:solidFill>
                          <a:latin typeface="Arial"/>
                        </a:rPr>
                        <a:t>proveedor</a:t>
                      </a:r>
                      <a:r>
                        <a:rPr sz="1000" b="1" i="0" u="sng" dirty="0" lang="es-SV">
                          <a:solidFill>
                            <a:srgbClr val="00376E"/>
                          </a:solidFill>
                          <a:latin typeface="Arial"/>
                        </a:rPr>
                        <a:t> </a:t>
                      </a:r>
                      <a:r>
                        <a:rPr sz="1000" b="1" i="0" u="sng" dirty="0" lang="es-SV">
                          <a:solidFill>
                            <a:srgbClr val="00376E"/>
                          </a:solidFill>
                          <a:latin typeface="Arial"/>
                        </a:rPr>
                        <a:t>falla</a:t>
                      </a:r>
                      <a:r>
                        <a:rPr sz="1000" b="1" i="0" u="sng" dirty="0" lang="es-SV">
                          <a:solidFill>
                            <a:srgbClr val="00376E"/>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Texto</a:t>
                      </a:r>
                      <a:r>
                        <a:rPr sz="1000" b="0" i="0" dirty="0" lang="es-SV">
                          <a:solidFill>
                            <a:srgbClr val="1B2333"/>
                          </a:solidFill>
                          <a:latin typeface="Arial"/>
                        </a:rPr>
                        <a:t> </a:t>
                      </a:r>
                      <a:r>
                        <a:rPr sz="1000" b="0" i="0" dirty="0" lang="es-SV">
                          <a:solidFill>
                            <a:srgbClr val="1B2333"/>
                          </a:solidFill>
                          <a:latin typeface="Arial"/>
                        </a:rPr>
                        <a:t>completo</a:t>
                      </a:r>
                      <a:r>
                        <a:rPr sz="1000" b="0" i="0" dirty="0" lang="es-SV">
                          <a:solidFill>
                            <a:srgbClr val="1B2333"/>
                          </a:solidFill>
                          <a:latin typeface="Arial"/>
                        </a:rPr>
                        <a:t> de la norma.</a:t>
                      </a:r>
                    </a:p>
                    <a:p>
                      <a:pPr algn="just"/>
                      <a:r>
                        <a:rPr sz="1000" b="1" i="0" dirty="0" lang="es-SV">
                          <a:solidFill>
                            <a:srgbClr val="00376E"/>
                          </a:solidFill>
                          <a:latin typeface="Arial"/>
                        </a:rPr>
                        <a:t>NRP-23, Anexo 1, </a:t>
                      </a:r>
                      <a:r>
                        <a:rPr sz="1000" b="1" i="0" dirty="0" lang="es-SV">
                          <a:solidFill>
                            <a:srgbClr val="00376E"/>
                          </a:solidFill>
                          <a:latin typeface="Arial"/>
                        </a:rPr>
                        <a:t>Secc</a:t>
                      </a:r>
                      <a:r>
                        <a:rPr sz="1000" b="1" i="0" dirty="0" lang="es-SV">
                          <a:solidFill>
                            <a:srgbClr val="00376E"/>
                          </a:solidFill>
                          <a:latin typeface="Arial"/>
                        </a:rPr>
                        <a:t>. A, num. 1 y 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74320">
                <a:tc>
                  <a:txBody>
                    <a:bodyPr/>
                    <a:lstStyle/>
                    <a:p>
                      <a:pPr algn="just"/>
                      <a:r>
                        <a:rPr sz="1000" b="1" i="0" lang="es-SV">
                          <a:solidFill>
                            <a:srgbClr val="00376E"/>
                          </a:solidFill>
                          <a:latin typeface="Arial"/>
                        </a:rPr>
                        <a:t>52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3. Denominación o Razón social y giro del negocio, experiencia, servicios, clientes (personas jurídicas), periodos de servicio, entre otros.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3. Denominación o Razón social… entre otros. </a:t>
                      </a:r>
                      <a:r>
                        <a:rPr sz="1000" b="1" i="0" u="sng" lang="es-SV">
                          <a:solidFill>
                            <a:srgbClr val="00376E"/>
                          </a:solidFill>
                          <a:latin typeface="Arial"/>
                        </a:rPr>
                        <a:t>Para el caso de un proveedor local, nómina de accionistas y principales funcionarios.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Requisito</a:t>
                      </a:r>
                      <a:r>
                        <a:rPr sz="1000" b="0" i="0" dirty="0" lang="es-SV">
                          <a:solidFill>
                            <a:srgbClr val="1B2333"/>
                          </a:solidFill>
                          <a:latin typeface="Arial"/>
                        </a:rPr>
                        <a:t> </a:t>
                      </a:r>
                      <a:r>
                        <a:rPr sz="1000" b="0" i="0" dirty="0" lang="es-SV">
                          <a:solidFill>
                            <a:srgbClr val="1B2333"/>
                          </a:solidFill>
                          <a:latin typeface="Arial"/>
                        </a:rPr>
                        <a:t>omitido</a:t>
                      </a:r>
                      <a:r>
                        <a:rPr sz="1000" b="0" i="0" dirty="0" lang="es-SV">
                          <a:solidFill>
                            <a:srgbClr val="1B2333"/>
                          </a:solidFill>
                          <a:latin typeface="Arial"/>
                        </a:rPr>
                        <a:t> </a:t>
                      </a:r>
                      <a:r>
                        <a:rPr sz="1000" b="0" i="0" dirty="0" lang="es-SV">
                          <a:solidFill>
                            <a:srgbClr val="1B2333"/>
                          </a:solidFill>
                          <a:latin typeface="Arial"/>
                        </a:rPr>
                        <a:t>en</a:t>
                      </a:r>
                      <a:r>
                        <a:rPr sz="1000" b="0" i="0" dirty="0" lang="es-SV">
                          <a:solidFill>
                            <a:srgbClr val="1B2333"/>
                          </a:solidFill>
                          <a:latin typeface="Arial"/>
                        </a:rPr>
                        <a:t> la V03.</a:t>
                      </a:r>
                    </a:p>
                    <a:p>
                      <a:pPr algn="just"/>
                      <a:r>
                        <a:rPr sz="1000" b="1" i="0" dirty="0" lang="es-SV">
                          <a:solidFill>
                            <a:srgbClr val="00376E"/>
                          </a:solidFill>
                          <a:latin typeface="Arial"/>
                        </a:rPr>
                        <a:t>NRP-23, Anexo 1, A-3, lit. b</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74320">
                <a:tc>
                  <a:txBody>
                    <a:bodyPr/>
                    <a:lstStyle/>
                    <a:p>
                      <a:pPr algn="just"/>
                      <a:r>
                        <a:rPr sz="1000" b="1" i="0" lang="es-SV">
                          <a:solidFill>
                            <a:srgbClr val="00376E"/>
                          </a:solidFill>
                          <a:latin typeface="Arial"/>
                        </a:rPr>
                        <a:t>53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5. La entidad deberá realizar la debida diligencia de dicho proveedor sobre: 1. Solidez financiera…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5. La entidad deberá realizar la debida diligencia de dicho proveedor</a:t>
                      </a:r>
                      <a:r>
                        <a:rPr sz="1000" b="1" i="0" u="sng" lang="es-SV">
                          <a:solidFill>
                            <a:srgbClr val="00376E"/>
                          </a:solidFill>
                          <a:latin typeface="Arial"/>
                        </a:rPr>
                        <a:t>, la cual deberá documentarse y revisarse anualmente utilizando la información más reciente,</a:t>
                      </a:r>
                      <a:r>
                        <a:rPr sz="1000" b="0" i="0" lang="es-SV">
                          <a:solidFill>
                            <a:srgbClr val="1B2333"/>
                          </a:solidFill>
                          <a:latin typeface="Arial"/>
                        </a:rPr>
                        <a:t> sobre: 1. Solidez financiera…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Revisión</a:t>
                      </a:r>
                      <a:r>
                        <a:rPr sz="1000" b="0" i="0" dirty="0" lang="es-SV">
                          <a:solidFill>
                            <a:srgbClr val="1B2333"/>
                          </a:solidFill>
                          <a:latin typeface="Arial"/>
                        </a:rPr>
                        <a:t> </a:t>
                      </a:r>
                      <a:r>
                        <a:rPr sz="1000" b="0" i="0" dirty="0" lang="es-SV">
                          <a:solidFill>
                            <a:srgbClr val="1B2333"/>
                          </a:solidFill>
                          <a:latin typeface="Arial"/>
                        </a:rPr>
                        <a:t>anual</a:t>
                      </a:r>
                      <a:r>
                        <a:rPr sz="1000" b="0" i="0" dirty="0" lang="es-SV">
                          <a:solidFill>
                            <a:srgbClr val="1B2333"/>
                          </a:solidFill>
                          <a:latin typeface="Arial"/>
                        </a:rPr>
                        <a:t> </a:t>
                      </a:r>
                      <a:r>
                        <a:rPr sz="1000" b="0" i="0" dirty="0" lang="es-SV">
                          <a:solidFill>
                            <a:srgbClr val="1B2333"/>
                          </a:solidFill>
                          <a:latin typeface="Arial"/>
                        </a:rPr>
                        <a:t>obligatoria</a:t>
                      </a:r>
                      <a:r>
                        <a:rPr sz="1000" b="0" i="0" dirty="0" lang="es-SV">
                          <a:solidFill>
                            <a:srgbClr val="1B2333"/>
                          </a:solidFill>
                          <a:latin typeface="Arial"/>
                        </a:rPr>
                        <a:t>.</a:t>
                      </a:r>
                    </a:p>
                    <a:p>
                      <a:pPr algn="just"/>
                      <a:r>
                        <a:rPr sz="1000" b="1" i="0" dirty="0" lang="es-SV">
                          <a:solidFill>
                            <a:srgbClr val="00376E"/>
                          </a:solidFill>
                          <a:latin typeface="Arial"/>
                        </a:rPr>
                        <a:t>NRP-23, Anexo 1, A-3, lit. c</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bl>
          </a:graphicData>
        </a:graphic>
      </p:graphicFrame>
      <p:sp>
        <p:nvSpPr>
          <p:cNvPr id="17" name="TextBox 16"/>
          <p:cNvSpPr txBox="1"/>
          <p:nvPr/>
        </p:nvSpPr>
        <p:spPr>
          <a:xfrm>
            <a:off x="548640" y="6355080"/>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Texto subrayado en azul</a:t>
            </a:r>
            <a:r>
              <a:rPr sz="1000" b="0" i="0" lang="es-SV">
                <a:solidFill>
                  <a:srgbClr val="5B6578"/>
                </a:solidFill>
                <a:latin typeface="Arial"/>
              </a:rPr>
              <a:t> = nuevo o modificado respecto a la versión vigente</a:t>
            </a:r>
          </a:p>
        </p:txBody>
      </p:sp>
      <p:sp>
        <p:nvSpPr>
          <p:cNvPr id="3" name="Rectángulo 2">
            <a:extLst>
              <a:ext uri="{FF2B5EF4-FFF2-40B4-BE49-F238E27FC236}">
                <a16:creationId xmlns:a16="http://schemas.microsoft.com/office/drawing/2014/main" id="{EB589EB1-ACDC-AD8E-4232-3B5DAC5ABCCC}"/>
              </a:ext>
            </a:extLst>
          </p:cNvPr>
          <p:cNvSpPr/>
          <p:nvPr/>
        </p:nvSpPr>
        <p:spPr>
          <a:xfrm>
            <a:off x="548640" y="348157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5" name="TextBox 14">
            <a:extLst>
              <a:ext uri="{FF2B5EF4-FFF2-40B4-BE49-F238E27FC236}">
                <a16:creationId xmlns:a16="http://schemas.microsoft.com/office/drawing/2014/main" id="{79001126-435D-501D-F6CF-75F1FEDE2C75}"/>
              </a:ext>
            </a:extLst>
          </p:cNvPr>
          <p:cNvSpPr txBox="1"/>
          <p:nvPr/>
        </p:nvSpPr>
        <p:spPr>
          <a:xfrm>
            <a:off x="804672" y="3560861"/>
            <a:ext cx="9966960" cy="307777"/>
          </a:xfrm>
          <a:prstGeom prst="rect">
            <a:avLst/>
          </a:prstGeom>
          <a:noFill/>
        </p:spPr>
        <p:txBody>
          <a:bodyPr wrap="square" lIns="0" tIns="0" rIns="0" bIns="0" anchor="ctr">
            <a:spAutoFit/>
          </a:bodyPr>
          <a:lstStyle/>
          <a:p>
            <a:pPr algn="l"/>
            <a:r>
              <a:rPr sz="2000" b="1" i="0" dirty="0" lang="es-SV">
                <a:solidFill>
                  <a:srgbClr val="00376E"/>
                </a:solidFill>
                <a:latin typeface="Century Gothic"/>
              </a:rPr>
              <a:t>Anexo 1 — </a:t>
            </a:r>
            <a:r>
              <a:rPr sz="2000" b="1" i="0" dirty="0" lang="es-SV">
                <a:solidFill>
                  <a:srgbClr val="00376E"/>
                </a:solidFill>
                <a:latin typeface="Century Gothic"/>
              </a:rPr>
              <a:t>Sección</a:t>
            </a:r>
            <a:r>
              <a:rPr sz="2000" b="1" i="0" dirty="0" lang="es-SV">
                <a:solidFill>
                  <a:srgbClr val="00376E"/>
                </a:solidFill>
                <a:latin typeface="Century Gothic"/>
              </a:rPr>
              <a:t> A (</a:t>
            </a:r>
            <a:r>
              <a:rPr sz="2000" b="1" i="0" dirty="0" lang="es-SV">
                <a:solidFill>
                  <a:srgbClr val="00376E"/>
                </a:solidFill>
                <a:latin typeface="Century Gothic"/>
              </a:rPr>
              <a:t>numerales</a:t>
            </a:r>
            <a:r>
              <a:rPr sz="2000" b="1" i="0" dirty="0" lang="es-SV">
                <a:solidFill>
                  <a:srgbClr val="00376E"/>
                </a:solidFill>
                <a:latin typeface="Century Gothic"/>
              </a:rPr>
              <a:t> </a:t>
            </a:r>
            <a:r>
              <a:rPr sz="2000" b="1" i="0" dirty="0" lang="es-SV">
                <a:solidFill>
                  <a:srgbClr val="00376E"/>
                </a:solidFill>
                <a:latin typeface="Century Gothic"/>
              </a:rPr>
              <a:t>nuevos</a:t>
            </a:r>
            <a:r>
              <a:rPr sz="2000" b="1" i="0" dirty="0" lang="es-SV">
                <a:solidFill>
                  <a:srgbClr val="00376E"/>
                </a:solidFill>
                <a:latin typeface="Century Gothic"/>
              </a:rPr>
              <a:t>) y </a:t>
            </a:r>
            <a:r>
              <a:rPr sz="2000" b="1" i="0" dirty="0" lang="es-SV">
                <a:solidFill>
                  <a:srgbClr val="00376E"/>
                </a:solidFill>
                <a:latin typeface="Century Gothic"/>
              </a:rPr>
              <a:t>Sección</a:t>
            </a:r>
            <a:r>
              <a:rPr sz="2000" b="1" i="0" dirty="0" lang="es-SV">
                <a:solidFill>
                  <a:srgbClr val="00376E"/>
                </a:solidFill>
                <a:latin typeface="Century Gothic"/>
              </a:rPr>
              <a:t> B (1 de 2)</a:t>
            </a:r>
          </a:p>
        </p:txBody>
      </p:sp>
      <p:graphicFrame>
        <p:nvGraphicFramePr>
          <p:cNvPr id="7" name="Table 15">
            <a:extLst>
              <a:ext uri="{FF2B5EF4-FFF2-40B4-BE49-F238E27FC236}">
                <a16:creationId xmlns:a16="http://schemas.microsoft.com/office/drawing/2014/main" id="{61BDC98F-F99A-1545-590A-E65469EC2EC9}"/>
              </a:ext>
            </a:extLst>
          </p:cNvPr>
          <p:cNvGraphicFramePr>
            <a:graphicFrameLocks noGrp="1"/>
          </p:cNvGraphicFramePr>
          <p:nvPr>
            <p:extLst>
              <p:ext uri="{D42A27DB-BD31-4B8C-83A1-F6EECF244321}">
                <p14:modId xmlns:p14="http://schemas.microsoft.com/office/powerpoint/2010/main" val="3871914257"/>
              </p:ext>
            </p:extLst>
          </p:nvPr>
        </p:nvGraphicFramePr>
        <p:xfrm>
          <a:off x="548640" y="4240530"/>
          <a:ext cx="11091672" cy="2298192"/>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347472">
                <a:tc>
                  <a:txBody>
                    <a:bodyPr/>
                    <a:lstStyle/>
                    <a:p>
                      <a:pPr algn="just"/>
                      <a:r>
                        <a:rPr sz="1000" b="1" i="0" dirty="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dirty="0" lang="es-SV">
                          <a:solidFill>
                            <a:srgbClr val="FFFFFF"/>
                          </a:solidFill>
                          <a:latin typeface="Arial"/>
                        </a:rPr>
                        <a:t>Dice (V03 </a:t>
                      </a:r>
                      <a:r>
                        <a:rPr sz="1000" b="1" i="0" dirty="0" lang="es-SV">
                          <a:solidFill>
                            <a:srgbClr val="FFFFFF"/>
                          </a:solidFill>
                          <a:latin typeface="Arial"/>
                        </a:rPr>
                        <a:t>vigente</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dirty="0" lang="es-SV">
                          <a:solidFill>
                            <a:srgbClr val="FFFFFF"/>
                          </a:solidFill>
                          <a:latin typeface="Arial"/>
                        </a:rPr>
                        <a:t>Debe </a:t>
                      </a:r>
                      <a:r>
                        <a:rPr sz="1000" b="1" i="0" dirty="0" lang="es-SV">
                          <a:solidFill>
                            <a:srgbClr val="FFFFFF"/>
                          </a:solidFill>
                          <a:latin typeface="Arial"/>
                        </a:rPr>
                        <a:t>decir</a:t>
                      </a:r>
                      <a:r>
                        <a:rPr sz="1000" b="1" i="0" dirty="0" lang="es-SV">
                          <a:solidFill>
                            <a:srgbClr val="FFFFFF"/>
                          </a:solidFill>
                          <a:latin typeface="Arial"/>
                        </a:rPr>
                        <a:t> (V04 </a:t>
                      </a:r>
                      <a:r>
                        <a:rPr sz="1000" b="1" i="0" dirty="0" lang="es-SV">
                          <a:solidFill>
                            <a:srgbClr val="FFFFFF"/>
                          </a:solidFill>
                          <a:latin typeface="Arial"/>
                        </a:rPr>
                        <a:t>propuesta</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Mejora y base normativa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74320">
                <a:tc>
                  <a:txBody>
                    <a:bodyPr/>
                    <a:lstStyle/>
                    <a:p>
                      <a:pPr algn="just"/>
                      <a:r>
                        <a:rPr sz="1000" b="1" i="0" lang="es-SV">
                          <a:solidFill>
                            <a:srgbClr val="00376E"/>
                          </a:solidFill>
                          <a:latin typeface="Arial"/>
                        </a:rPr>
                        <a:t>54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dirty="0" lang="es-SV">
                          <a:solidFill>
                            <a:srgbClr val="5B6578"/>
                          </a:solidFill>
                          <a:latin typeface="Arial"/>
                        </a:rPr>
                        <a:t>No </a:t>
                      </a:r>
                      <a:r>
                        <a:rPr sz="1000" b="0" i="1" dirty="0" lang="es-SV">
                          <a:solidFill>
                            <a:srgbClr val="5B6578"/>
                          </a:solidFill>
                          <a:latin typeface="Arial"/>
                        </a:rPr>
                        <a:t>existía</a:t>
                      </a:r>
                      <a:r>
                        <a:rPr sz="1000" b="0" i="1" dirty="0" lang="es-SV">
                          <a:solidFill>
                            <a:srgbClr val="5B6578"/>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dirty="0" lang="es-SV">
                          <a:solidFill>
                            <a:srgbClr val="00376E"/>
                          </a:solidFill>
                          <a:latin typeface="Arial"/>
                        </a:rPr>
                        <a:t>6. </a:t>
                      </a:r>
                      <a:r>
                        <a:rPr sz="1000" b="1" i="0" u="sng" dirty="0" lang="es-SV">
                          <a:solidFill>
                            <a:srgbClr val="00376E"/>
                          </a:solidFill>
                          <a:latin typeface="Arial"/>
                        </a:rPr>
                        <a:t>Análisis</a:t>
                      </a:r>
                      <a:r>
                        <a:rPr sz="1000" b="1" i="0" u="sng" dirty="0" lang="es-SV">
                          <a:solidFill>
                            <a:srgbClr val="00376E"/>
                          </a:solidFill>
                          <a:latin typeface="Arial"/>
                        </a:rPr>
                        <a:t> de </a:t>
                      </a:r>
                      <a:r>
                        <a:rPr sz="1000" b="1" i="0" u="sng" dirty="0" lang="es-SV">
                          <a:solidFill>
                            <a:srgbClr val="00376E"/>
                          </a:solidFill>
                          <a:latin typeface="Arial"/>
                        </a:rPr>
                        <a:t>concentración</a:t>
                      </a:r>
                      <a:r>
                        <a:rPr sz="1000" b="1" i="0" u="sng" dirty="0" lang="es-SV">
                          <a:solidFill>
                            <a:srgbClr val="00376E"/>
                          </a:solidFill>
                          <a:latin typeface="Arial"/>
                        </a:rPr>
                        <a:t> de </a:t>
                      </a:r>
                      <a:r>
                        <a:rPr sz="1000" b="1" i="0" u="sng" dirty="0" lang="es-SV">
                          <a:solidFill>
                            <a:srgbClr val="00376E"/>
                          </a:solidFill>
                          <a:latin typeface="Arial"/>
                        </a:rPr>
                        <a:t>proveedores</a:t>
                      </a:r>
                      <a:r>
                        <a:rPr sz="1000" b="1" i="0" u="sng" dirty="0" lang="es-SV">
                          <a:solidFill>
                            <a:srgbClr val="00376E"/>
                          </a:solidFill>
                          <a:latin typeface="Arial"/>
                        </a:rPr>
                        <a:t> (</a:t>
                      </a:r>
                      <a:r>
                        <a:rPr sz="1000" b="1" i="0" u="sng" dirty="0" lang="es-SV">
                          <a:solidFill>
                            <a:srgbClr val="00376E"/>
                          </a:solidFill>
                          <a:latin typeface="Arial"/>
                        </a:rPr>
                        <a:t>proveedor</a:t>
                      </a:r>
                      <a:r>
                        <a:rPr sz="1000" b="1" i="0" u="sng" dirty="0" lang="es-SV">
                          <a:solidFill>
                            <a:srgbClr val="00376E"/>
                          </a:solidFill>
                          <a:latin typeface="Arial"/>
                        </a:rPr>
                        <a:t>, </a:t>
                      </a:r>
                      <a:r>
                        <a:rPr sz="1000" b="1" i="0" u="sng" dirty="0" lang="es-SV">
                          <a:solidFill>
                            <a:srgbClr val="00376E"/>
                          </a:solidFill>
                          <a:latin typeface="Arial"/>
                        </a:rPr>
                        <a:t>grupo</a:t>
                      </a:r>
                      <a:r>
                        <a:rPr sz="1000" b="1" i="0" u="sng" dirty="0" lang="es-SV">
                          <a:solidFill>
                            <a:srgbClr val="00376E"/>
                          </a:solidFill>
                          <a:latin typeface="Arial"/>
                        </a:rPr>
                        <a:t> </a:t>
                      </a:r>
                      <a:r>
                        <a:rPr sz="1000" b="1" i="0" u="sng" dirty="0" lang="es-SV">
                          <a:solidFill>
                            <a:srgbClr val="00376E"/>
                          </a:solidFill>
                          <a:latin typeface="Arial"/>
                        </a:rPr>
                        <a:t>económico</a:t>
                      </a:r>
                      <a:r>
                        <a:rPr sz="1000" b="1" i="0" u="sng" dirty="0" lang="es-SV">
                          <a:solidFill>
                            <a:srgbClr val="00376E"/>
                          </a:solidFill>
                          <a:latin typeface="Arial"/>
                        </a:rPr>
                        <a:t>, </a:t>
                      </a:r>
                      <a:r>
                        <a:rPr sz="1000" b="1" i="0" u="sng" dirty="0" lang="es-SV">
                          <a:solidFill>
                            <a:srgbClr val="00376E"/>
                          </a:solidFill>
                          <a:latin typeface="Arial"/>
                        </a:rPr>
                        <a:t>tecnología</a:t>
                      </a:r>
                      <a:r>
                        <a:rPr sz="1000" b="1" i="0" u="sng" dirty="0" lang="es-SV">
                          <a:solidFill>
                            <a:srgbClr val="00376E"/>
                          </a:solidFill>
                          <a:latin typeface="Arial"/>
                        </a:rPr>
                        <a:t> y </a:t>
                      </a:r>
                      <a:r>
                        <a:rPr sz="1000" b="1" i="0" u="sng" dirty="0" lang="es-SV">
                          <a:solidFill>
                            <a:srgbClr val="00376E"/>
                          </a:solidFill>
                          <a:latin typeface="Arial"/>
                        </a:rPr>
                        <a:t>ubicación</a:t>
                      </a:r>
                      <a:r>
                        <a:rPr sz="1000" b="1" i="0" u="sng" dirty="0" lang="es-SV">
                          <a:solidFill>
                            <a:srgbClr val="00376E"/>
                          </a:solidFill>
                          <a:latin typeface="Arial"/>
                        </a:rPr>
                        <a:t> </a:t>
                      </a:r>
                      <a:r>
                        <a:rPr sz="1000" b="1" i="0" u="sng" dirty="0" lang="es-SV">
                          <a:solidFill>
                            <a:srgbClr val="00376E"/>
                          </a:solidFill>
                          <a:latin typeface="Arial"/>
                        </a:rPr>
                        <a:t>geográfica</a:t>
                      </a:r>
                      <a:r>
                        <a:rPr sz="1000" b="1" i="0" u="sng" dirty="0" lang="es-SV">
                          <a:solidFill>
                            <a:srgbClr val="00376E"/>
                          </a:solidFill>
                          <a:latin typeface="Arial"/>
                        </a:rPr>
                        <a:t>) y </a:t>
                      </a:r>
                      <a:r>
                        <a:rPr sz="1000" b="1" i="0" u="sng" dirty="0" lang="es-SV">
                          <a:solidFill>
                            <a:srgbClr val="00376E"/>
                          </a:solidFill>
                          <a:latin typeface="Arial"/>
                        </a:rPr>
                        <a:t>verificación</a:t>
                      </a:r>
                      <a:r>
                        <a:rPr sz="1000" b="1" i="0" u="sng" dirty="0" lang="es-SV">
                          <a:solidFill>
                            <a:srgbClr val="00376E"/>
                          </a:solidFill>
                          <a:latin typeface="Arial"/>
                        </a:rPr>
                        <a:t> de </a:t>
                      </a:r>
                      <a:r>
                        <a:rPr sz="1000" b="1" i="0" u="sng" dirty="0" lang="es-SV">
                          <a:solidFill>
                            <a:srgbClr val="00376E"/>
                          </a:solidFill>
                          <a:latin typeface="Arial"/>
                        </a:rPr>
                        <a:t>los</a:t>
                      </a:r>
                      <a:r>
                        <a:rPr sz="1000" b="1" i="0" u="sng" dirty="0" lang="es-SV">
                          <a:solidFill>
                            <a:srgbClr val="00376E"/>
                          </a:solidFill>
                          <a:latin typeface="Arial"/>
                        </a:rPr>
                        <a:t> </a:t>
                      </a:r>
                      <a:r>
                        <a:rPr sz="1000" b="1" i="0" u="sng" dirty="0" lang="es-SV">
                          <a:solidFill>
                            <a:srgbClr val="00376E"/>
                          </a:solidFill>
                          <a:latin typeface="Arial"/>
                        </a:rPr>
                        <a:t>límites</a:t>
                      </a:r>
                      <a:r>
                        <a:rPr sz="1000" b="1" i="0" u="sng" dirty="0" lang="es-SV">
                          <a:solidFill>
                            <a:srgbClr val="00376E"/>
                          </a:solidFill>
                          <a:latin typeface="Arial"/>
                        </a:rPr>
                        <a:t> </a:t>
                      </a:r>
                      <a:r>
                        <a:rPr sz="1000" b="1" i="0" u="sng" dirty="0" lang="es-SV">
                          <a:solidFill>
                            <a:srgbClr val="00376E"/>
                          </a:solidFill>
                          <a:latin typeface="Arial"/>
                        </a:rPr>
                        <a:t>aprobados</a:t>
                      </a:r>
                      <a:r>
                        <a:rPr sz="1000" b="1" i="0" u="sng" dirty="0" lang="es-SV">
                          <a:solidFill>
                            <a:srgbClr val="00376E"/>
                          </a:solidFill>
                          <a:latin typeface="Arial"/>
                        </a:rPr>
                        <a:t> </a:t>
                      </a:r>
                      <a:r>
                        <a:rPr sz="1000" b="1" i="0" u="sng" dirty="0" lang="es-SV">
                          <a:solidFill>
                            <a:srgbClr val="00376E"/>
                          </a:solidFill>
                          <a:latin typeface="Arial"/>
                        </a:rPr>
                        <a:t>por</a:t>
                      </a:r>
                      <a:r>
                        <a:rPr sz="1000" b="1" i="0" u="sng" dirty="0" lang="es-SV">
                          <a:solidFill>
                            <a:srgbClr val="00376E"/>
                          </a:solidFill>
                          <a:latin typeface="Arial"/>
                        </a:rPr>
                        <a:t> el Consejo de Administración. </a:t>
                      </a:r>
                      <a:r>
                        <a:rPr sz="1000" b="1" i="0" u="sng" dirty="0" lang="es-SV">
                          <a:solidFill>
                            <a:srgbClr val="00376E"/>
                          </a:solidFill>
                          <a:latin typeface="Arial"/>
                        </a:rPr>
                        <a:t>Responsable</a:t>
                      </a:r>
                      <a:r>
                        <a:rPr sz="1000" b="1" i="0" u="sng" dirty="0" lang="es-SV">
                          <a:solidFill>
                            <a:srgbClr val="00376E"/>
                          </a:solidFill>
                          <a:latin typeface="Arial"/>
                        </a:rPr>
                        <a:t>: Depto. de Administración de </a:t>
                      </a:r>
                      <a:r>
                        <a:rPr sz="1000" b="1" i="0" u="sng" dirty="0" lang="es-SV">
                          <a:solidFill>
                            <a:srgbClr val="00376E"/>
                          </a:solidFill>
                          <a:latin typeface="Arial"/>
                        </a:rPr>
                        <a:t>Riesgos</a:t>
                      </a:r>
                      <a:r>
                        <a:rPr sz="1000" b="1" i="0" u="sng" dirty="0" lang="es-SV">
                          <a:solidFill>
                            <a:srgbClr val="00376E"/>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Control de </a:t>
                      </a:r>
                      <a:r>
                        <a:rPr sz="1000" b="0" i="0" dirty="0" lang="es-SV">
                          <a:solidFill>
                            <a:srgbClr val="1B2333"/>
                          </a:solidFill>
                          <a:latin typeface="Arial"/>
                        </a:rPr>
                        <a:t>límites</a:t>
                      </a:r>
                      <a:r>
                        <a:rPr sz="1000" b="0" i="0" dirty="0" lang="es-SV">
                          <a:solidFill>
                            <a:srgbClr val="1B2333"/>
                          </a:solidFill>
                          <a:latin typeface="Arial"/>
                        </a:rPr>
                        <a:t> de </a:t>
                      </a:r>
                      <a:r>
                        <a:rPr sz="1000" b="0" i="0" dirty="0" lang="es-SV">
                          <a:solidFill>
                            <a:srgbClr val="1B2333"/>
                          </a:solidFill>
                          <a:latin typeface="Arial"/>
                        </a:rPr>
                        <a:t>exposición</a:t>
                      </a:r>
                      <a:r>
                        <a:rPr sz="1000" b="0" i="0" dirty="0" lang="es-SV">
                          <a:solidFill>
                            <a:srgbClr val="1B2333"/>
                          </a:solidFill>
                          <a:latin typeface="Arial"/>
                        </a:rPr>
                        <a:t>.</a:t>
                      </a:r>
                    </a:p>
                    <a:p>
                      <a:pPr algn="just"/>
                      <a:r>
                        <a:rPr sz="1000" b="1" i="0" dirty="0" lang="es-SV">
                          <a:solidFill>
                            <a:srgbClr val="00376E"/>
                          </a:solidFill>
                          <a:latin typeface="Arial"/>
                        </a:rPr>
                        <a:t>NRP-20, art. 8, lit. a · NRP-23, A-1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74320">
                <a:tc>
                  <a:txBody>
                    <a:bodyPr/>
                    <a:lstStyle/>
                    <a:p>
                      <a:pPr algn="just"/>
                      <a:r>
                        <a:rPr sz="1000" b="1" i="0" lang="es-SV">
                          <a:solidFill>
                            <a:srgbClr val="00376E"/>
                          </a:solidFill>
                          <a:latin typeface="Arial"/>
                        </a:rPr>
                        <a:t>55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7. Verificar que se puede requerir al proveedor informes de auditoría vigentes y asociados a los servicios prestados, provistos a requerimiento de la Superintendencia. Responsable: Administrador de Contrato.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Requisito</a:t>
                      </a:r>
                      <a:r>
                        <a:rPr sz="1000" b="0" i="0" dirty="0" lang="es-SV">
                          <a:solidFill>
                            <a:srgbClr val="1B2333"/>
                          </a:solidFill>
                          <a:latin typeface="Arial"/>
                        </a:rPr>
                        <a:t> </a:t>
                      </a:r>
                      <a:r>
                        <a:rPr sz="1000" b="0" i="0" dirty="0" lang="es-SV">
                          <a:solidFill>
                            <a:srgbClr val="1B2333"/>
                          </a:solidFill>
                          <a:latin typeface="Arial"/>
                        </a:rPr>
                        <a:t>omitido</a:t>
                      </a:r>
                      <a:r>
                        <a:rPr sz="1000" b="0" i="0" dirty="0" lang="es-SV">
                          <a:solidFill>
                            <a:srgbClr val="1B2333"/>
                          </a:solidFill>
                          <a:latin typeface="Arial"/>
                        </a:rPr>
                        <a:t> </a:t>
                      </a:r>
                      <a:r>
                        <a:rPr sz="1000" b="0" i="0" dirty="0" lang="es-SV">
                          <a:solidFill>
                            <a:srgbClr val="1B2333"/>
                          </a:solidFill>
                          <a:latin typeface="Arial"/>
                        </a:rPr>
                        <a:t>en</a:t>
                      </a:r>
                      <a:r>
                        <a:rPr sz="1000" b="0" i="0" dirty="0" lang="es-SV">
                          <a:solidFill>
                            <a:srgbClr val="1B2333"/>
                          </a:solidFill>
                          <a:latin typeface="Arial"/>
                        </a:rPr>
                        <a:t> la V03.</a:t>
                      </a:r>
                    </a:p>
                    <a:p>
                      <a:pPr algn="just"/>
                      <a:r>
                        <a:rPr sz="1000" b="1" i="0" dirty="0" lang="es-SV">
                          <a:solidFill>
                            <a:srgbClr val="00376E"/>
                          </a:solidFill>
                          <a:latin typeface="Arial"/>
                        </a:rPr>
                        <a:t>NRP-23, Anexo 1, </a:t>
                      </a:r>
                      <a:r>
                        <a:rPr sz="1000" b="1" i="0" dirty="0" lang="es-SV">
                          <a:solidFill>
                            <a:srgbClr val="00376E"/>
                          </a:solidFill>
                          <a:latin typeface="Arial"/>
                        </a:rPr>
                        <a:t>Secc</a:t>
                      </a:r>
                      <a:r>
                        <a:rPr sz="1000" b="1" i="0" dirty="0" lang="es-SV">
                          <a:solidFill>
                            <a:srgbClr val="00376E"/>
                          </a:solidFill>
                          <a:latin typeface="Arial"/>
                        </a:rPr>
                        <a:t>. A, num. 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74320">
                <a:tc>
                  <a:txBody>
                    <a:bodyPr/>
                    <a:lstStyle/>
                    <a:p>
                      <a:pPr algn="just"/>
                      <a:r>
                        <a:rPr sz="1000" b="1" i="0" lang="es-SV">
                          <a:solidFill>
                            <a:srgbClr val="00376E"/>
                          </a:solidFill>
                          <a:latin typeface="Arial"/>
                        </a:rPr>
                        <a:t>56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B-12. …por el personal subcontratado por el proveedor… B-17. …realice subcontrataciones… B-18. …proveedor subcontratado. B-19. …al subcontratista… el proveedor subcontratado…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B-12. …por el personal </a:t>
                      </a:r>
                      <a:r>
                        <a:rPr sz="1000" b="1" i="0" u="sng" lang="es-SV">
                          <a:solidFill>
                            <a:srgbClr val="00376E"/>
                          </a:solidFill>
                          <a:latin typeface="Arial"/>
                        </a:rPr>
                        <a:t>contratado</a:t>
                      </a:r>
                      <a:r>
                        <a:rPr sz="1000" b="0" i="0" lang="es-SV">
                          <a:solidFill>
                            <a:srgbClr val="1B2333"/>
                          </a:solidFill>
                          <a:latin typeface="Arial"/>
                        </a:rPr>
                        <a:t> por el proveedor… B-17. …realice </a:t>
                      </a:r>
                      <a:r>
                        <a:rPr sz="1000" b="1" i="0" u="sng" lang="es-SV">
                          <a:solidFill>
                            <a:srgbClr val="00376E"/>
                          </a:solidFill>
                          <a:latin typeface="Arial"/>
                        </a:rPr>
                        <a:t>contrataciones</a:t>
                      </a:r>
                      <a:r>
                        <a:rPr sz="1000" b="0" i="0" lang="es-SV">
                          <a:solidFill>
                            <a:srgbClr val="1B2333"/>
                          </a:solidFill>
                          <a:latin typeface="Arial"/>
                        </a:rPr>
                        <a:t>… B-18. …proveedor </a:t>
                      </a:r>
                      <a:r>
                        <a:rPr sz="1000" b="1" i="0" u="sng" lang="es-SV">
                          <a:solidFill>
                            <a:srgbClr val="00376E"/>
                          </a:solidFill>
                          <a:latin typeface="Arial"/>
                        </a:rPr>
                        <a:t>contratado</a:t>
                      </a:r>
                      <a:r>
                        <a:rPr sz="1000" b="0" i="0" lang="es-SV">
                          <a:solidFill>
                            <a:srgbClr val="1B2333"/>
                          </a:solidFill>
                          <a:latin typeface="Arial"/>
                        </a:rPr>
                        <a:t>. B-19. …al </a:t>
                      </a:r>
                      <a:r>
                        <a:rPr sz="1000" b="1" i="0" u="sng" lang="es-SV">
                          <a:solidFill>
                            <a:srgbClr val="00376E"/>
                          </a:solidFill>
                          <a:latin typeface="Arial"/>
                        </a:rPr>
                        <a:t>contratista</a:t>
                      </a:r>
                      <a:r>
                        <a:rPr sz="1000" b="0" i="0" lang="es-SV">
                          <a:solidFill>
                            <a:srgbClr val="1B2333"/>
                          </a:solidFill>
                          <a:latin typeface="Arial"/>
                        </a:rPr>
                        <a:t>… el proveedor </a:t>
                      </a:r>
                      <a:r>
                        <a:rPr sz="1000" b="1" i="0" u="sng" lang="es-SV">
                          <a:solidFill>
                            <a:srgbClr val="00376E"/>
                          </a:solidFill>
                          <a:latin typeface="Arial"/>
                        </a:rPr>
                        <a:t>contratado</a:t>
                      </a:r>
                      <a:r>
                        <a:rPr sz="1000" b="0" i="0" lang="es-SV">
                          <a:solidFill>
                            <a:srgbClr val="1B2333"/>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Cambio de </a:t>
                      </a:r>
                      <a:r>
                        <a:rPr sz="1000" b="0" i="0" dirty="0" lang="es-SV">
                          <a:solidFill>
                            <a:srgbClr val="1B2333"/>
                          </a:solidFill>
                          <a:latin typeface="Arial"/>
                        </a:rPr>
                        <a:t>término</a:t>
                      </a:r>
                      <a:r>
                        <a:rPr sz="1000" b="0" i="0" dirty="0" lang="es-SV">
                          <a:solidFill>
                            <a:srgbClr val="1B2333"/>
                          </a:solidFill>
                          <a:latin typeface="Arial"/>
                        </a:rPr>
                        <a:t> </a:t>
                      </a:r>
                      <a:r>
                        <a:rPr sz="1000" b="0" i="0" dirty="0" lang="es-SV">
                          <a:solidFill>
                            <a:srgbClr val="1B2333"/>
                          </a:solidFill>
                          <a:latin typeface="Arial"/>
                        </a:rPr>
                        <a:t>solicitado</a:t>
                      </a:r>
                      <a:r>
                        <a:rPr sz="1000" b="0" i="0" dirty="0" lang="es-SV">
                          <a:solidFill>
                            <a:srgbClr val="1B2333"/>
                          </a:solidFill>
                          <a:latin typeface="Arial"/>
                        </a:rPr>
                        <a:t> </a:t>
                      </a:r>
                      <a:r>
                        <a:rPr sz="1000" b="0" i="0" dirty="0" lang="es-SV">
                          <a:solidFill>
                            <a:srgbClr val="1B2333"/>
                          </a:solidFill>
                          <a:latin typeface="Arial"/>
                        </a:rPr>
                        <a:t>por</a:t>
                      </a:r>
                      <a:r>
                        <a:rPr sz="1000" b="0" i="0" dirty="0" lang="es-SV">
                          <a:solidFill>
                            <a:srgbClr val="1B2333"/>
                          </a:solidFill>
                          <a:latin typeface="Arial"/>
                        </a:rPr>
                        <a:t> el Departamento.</a:t>
                      </a:r>
                    </a:p>
                    <a:p>
                      <a:pPr algn="just"/>
                      <a:r>
                        <a:rPr sz="1000" b="1" i="0" dirty="0" lang="es-SV">
                          <a:solidFill>
                            <a:srgbClr val="00376E"/>
                          </a:solidFill>
                          <a:latin typeface="Arial"/>
                        </a:rPr>
                        <a:t>Redacción</a:t>
                      </a:r>
                      <a:r>
                        <a:rPr sz="1000" b="1" i="0" dirty="0" lang="es-SV">
                          <a:solidFill>
                            <a:srgbClr val="00376E"/>
                          </a:solidFill>
                          <a:latin typeface="Arial"/>
                        </a:rPr>
                        <a:t> interna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ángulo 12">
            <a:extLst>
              <a:ext uri="{FF2B5EF4-FFF2-40B4-BE49-F238E27FC236}">
                <a16:creationId xmlns:a16="http://schemas.microsoft.com/office/drawing/2014/main" id="{0A848043-3E64-98A8-7A75-B15A546BA49B}"/>
              </a:ext>
            </a:extLst>
          </p:cNvPr>
          <p:cNvSpPr/>
          <p:nvPr/>
        </p:nvSpPr>
        <p:spPr>
          <a:xfrm>
            <a:off x="548640" y="566928"/>
            <a:ext cx="109728" cy="4572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4" name="TextBox 13"/>
          <p:cNvSpPr txBox="1"/>
          <p:nvPr/>
        </p:nvSpPr>
        <p:spPr>
          <a:xfrm>
            <a:off x="548640" y="164592"/>
            <a:ext cx="9875520" cy="274320"/>
          </a:xfrm>
          <a:prstGeom prst="rect">
            <a:avLst/>
          </a:prstGeom>
          <a:noFill/>
        </p:spPr>
        <p:txBody>
          <a:bodyPr wrap="square" lIns="0" tIns="0" rIns="0" bIns="0" anchor="t">
            <a:spAutoFit/>
          </a:bodyPr>
          <a:lstStyle/>
          <a:p>
            <a:pPr algn="l"/>
            <a:r>
              <a:rPr sz="1100" b="1" i="0" lang="es-SV">
                <a:solidFill>
                  <a:srgbClr val="5B6578"/>
                </a:solidFill>
                <a:latin typeface="Arial"/>
              </a:rPr>
              <a:t>Política RP-GG-PL-003 · Cláusulas contractuales</a:t>
            </a:r>
          </a:p>
        </p:txBody>
      </p:sp>
      <p:sp>
        <p:nvSpPr>
          <p:cNvPr id="15" name="TextBox 14"/>
          <p:cNvSpPr txBox="1"/>
          <p:nvPr/>
        </p:nvSpPr>
        <p:spPr>
          <a:xfrm>
            <a:off x="804672" y="457200"/>
            <a:ext cx="9966960" cy="685800"/>
          </a:xfrm>
          <a:prstGeom prst="rect">
            <a:avLst/>
          </a:prstGeom>
          <a:noFill/>
        </p:spPr>
        <p:txBody>
          <a:bodyPr wrap="square" lIns="0" tIns="0" rIns="0" bIns="0" anchor="ctr">
            <a:spAutoFit/>
          </a:bodyPr>
          <a:lstStyle/>
          <a:p>
            <a:pPr algn="l"/>
            <a:r>
              <a:rPr sz="2100" b="1" i="0" lang="es-SV">
                <a:solidFill>
                  <a:srgbClr val="00376E"/>
                </a:solidFill>
                <a:latin typeface="Century Gothic"/>
              </a:rPr>
              <a:t>Anexo 1 — Sección B: Cláusulas a considerar para el contrato (2 de 2)</a:t>
            </a:r>
          </a:p>
        </p:txBody>
      </p:sp>
      <p:graphicFrame>
        <p:nvGraphicFramePr>
          <p:cNvPr id="16" name="Table 15"/>
          <p:cNvGraphicFramePr>
            <a:graphicFrameLocks noGrp="1"/>
          </p:cNvGraphicFramePr>
          <p:nvPr>
            <p:extLst>
              <p:ext uri="{D42A27DB-BD31-4B8C-83A1-F6EECF244321}">
                <p14:modId xmlns:p14="http://schemas.microsoft.com/office/powerpoint/2010/main" val="2356013035"/>
              </p:ext>
            </p:extLst>
          </p:nvPr>
        </p:nvGraphicFramePr>
        <p:xfrm>
          <a:off x="548640" y="1325880"/>
          <a:ext cx="11091672" cy="2694432"/>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347472">
                <a:tc>
                  <a:txBody>
                    <a:bodyPr/>
                    <a:lstStyle/>
                    <a:p>
                      <a:pPr algn="just"/>
                      <a:r>
                        <a:rPr sz="1000" b="1" i="0" dirty="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dirty="0" lang="es-SV">
                          <a:solidFill>
                            <a:srgbClr val="FFFFFF"/>
                          </a:solidFill>
                          <a:latin typeface="Arial"/>
                        </a:rPr>
                        <a:t>Dice (V03 </a:t>
                      </a:r>
                      <a:r>
                        <a:rPr sz="1000" b="1" i="0" dirty="0" lang="es-SV">
                          <a:solidFill>
                            <a:srgbClr val="FFFFFF"/>
                          </a:solidFill>
                          <a:latin typeface="Arial"/>
                        </a:rPr>
                        <a:t>vigente</a:t>
                      </a:r>
                      <a:r>
                        <a:rPr sz="1000" b="1" i="0" dirty="0" lang="es-SV">
                          <a:solidFill>
                            <a:srgbClr val="FFFFFF"/>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(V04 propuesta)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Mejora y base normativa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74320">
                <a:tc>
                  <a:txBody>
                    <a:bodyPr/>
                    <a:lstStyle/>
                    <a:p>
                      <a:pPr algn="just"/>
                      <a:r>
                        <a:rPr sz="1000" b="1" i="0" lang="es-SV">
                          <a:solidFill>
                            <a:srgbClr val="00376E"/>
                          </a:solidFill>
                          <a:latin typeface="Arial"/>
                        </a:rPr>
                        <a:t>57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20. …</a:t>
                      </a:r>
                      <a:r>
                        <a:rPr sz="1000" b="0" i="0" dirty="0" lang="es-SV">
                          <a:solidFill>
                            <a:srgbClr val="1B2333"/>
                          </a:solidFill>
                          <a:latin typeface="Arial"/>
                        </a:rPr>
                        <a:t>garantizar</a:t>
                      </a:r>
                      <a:r>
                        <a:rPr sz="1000" b="0" i="0" dirty="0" lang="es-SV">
                          <a:solidFill>
                            <a:srgbClr val="1B2333"/>
                          </a:solidFill>
                          <a:latin typeface="Arial"/>
                        </a:rPr>
                        <a:t> las </a:t>
                      </a:r>
                      <a:r>
                        <a:rPr sz="1000" b="0" i="0" dirty="0" lang="es-SV">
                          <a:solidFill>
                            <a:srgbClr val="1B2333"/>
                          </a:solidFill>
                          <a:latin typeface="Arial"/>
                        </a:rPr>
                        <a:t>condiciones</a:t>
                      </a:r>
                      <a:r>
                        <a:rPr sz="1000" b="0" i="0" dirty="0" lang="es-SV">
                          <a:solidFill>
                            <a:srgbClr val="1B2333"/>
                          </a:solidFill>
                          <a:latin typeface="Arial"/>
                        </a:rPr>
                        <a:t> del </a:t>
                      </a:r>
                      <a:r>
                        <a:rPr sz="1000" b="0" i="0" dirty="0" lang="es-SV">
                          <a:solidFill>
                            <a:srgbClr val="1B2333"/>
                          </a:solidFill>
                          <a:latin typeface="Arial"/>
                        </a:rPr>
                        <a:t>acceso</a:t>
                      </a:r>
                      <a:r>
                        <a:rPr sz="1000" b="0" i="0" dirty="0" lang="es-SV">
                          <a:solidFill>
                            <a:srgbClr val="1B2333"/>
                          </a:solidFill>
                          <a:latin typeface="Arial"/>
                        </a:rPr>
                        <a:t> para la </a:t>
                      </a:r>
                      <a:r>
                        <a:rPr sz="1000" b="0" i="0" dirty="0" lang="es-SV">
                          <a:solidFill>
                            <a:srgbClr val="1B2333"/>
                          </a:solidFill>
                          <a:latin typeface="Arial"/>
                        </a:rPr>
                        <a:t>auditoría</a:t>
                      </a:r>
                      <a:r>
                        <a:rPr sz="1000" b="0" i="0" dirty="0" lang="es-SV">
                          <a:solidFill>
                            <a:srgbClr val="1B2333"/>
                          </a:solidFill>
                          <a:latin typeface="Arial"/>
                        </a:rPr>
                        <a:t> interna y las </a:t>
                      </a:r>
                      <a:r>
                        <a:rPr sz="1000" b="0" i="0" dirty="0" lang="es-SV">
                          <a:solidFill>
                            <a:srgbClr val="1B2333"/>
                          </a:solidFill>
                          <a:latin typeface="Arial"/>
                        </a:rPr>
                        <a:t>firmas</a:t>
                      </a:r>
                      <a:r>
                        <a:rPr sz="1000" b="0" i="0" dirty="0" lang="es-SV">
                          <a:solidFill>
                            <a:srgbClr val="1B2333"/>
                          </a:solidFill>
                          <a:latin typeface="Arial"/>
                        </a:rPr>
                        <a:t> de </a:t>
                      </a:r>
                      <a:r>
                        <a:rPr sz="1000" b="0" i="0" dirty="0" lang="es-SV">
                          <a:solidFill>
                            <a:srgbClr val="1B2333"/>
                          </a:solidFill>
                          <a:latin typeface="Arial"/>
                        </a:rPr>
                        <a:t>auditoría</a:t>
                      </a:r>
                      <a:r>
                        <a:rPr sz="1000" b="0" i="0" dirty="0" lang="es-SV">
                          <a:solidFill>
                            <a:srgbClr val="1B2333"/>
                          </a:solidFill>
                          <a:latin typeface="Arial"/>
                        </a:rPr>
                        <a:t> externa…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20. …</a:t>
                      </a:r>
                      <a:r>
                        <a:rPr sz="1000" b="0" i="0" dirty="0" lang="es-SV">
                          <a:solidFill>
                            <a:srgbClr val="1B2333"/>
                          </a:solidFill>
                          <a:latin typeface="Arial"/>
                        </a:rPr>
                        <a:t>garantizar</a:t>
                      </a:r>
                      <a:r>
                        <a:rPr sz="1000" b="0" i="0" dirty="0" lang="es-SV">
                          <a:solidFill>
                            <a:srgbClr val="1B2333"/>
                          </a:solidFill>
                          <a:latin typeface="Arial"/>
                        </a:rPr>
                        <a:t> las </a:t>
                      </a:r>
                      <a:r>
                        <a:rPr sz="1000" b="0" i="0" dirty="0" lang="es-SV">
                          <a:solidFill>
                            <a:srgbClr val="1B2333"/>
                          </a:solidFill>
                          <a:latin typeface="Arial"/>
                        </a:rPr>
                        <a:t>condiciones</a:t>
                      </a:r>
                      <a:r>
                        <a:rPr sz="1000" b="0" i="0" dirty="0" lang="es-SV">
                          <a:solidFill>
                            <a:srgbClr val="1B2333"/>
                          </a:solidFill>
                          <a:latin typeface="Arial"/>
                        </a:rPr>
                        <a:t> del </a:t>
                      </a:r>
                      <a:r>
                        <a:rPr sz="1000" b="0" i="0" dirty="0" lang="es-SV">
                          <a:solidFill>
                            <a:srgbClr val="1B2333"/>
                          </a:solidFill>
                          <a:latin typeface="Arial"/>
                        </a:rPr>
                        <a:t>acceso</a:t>
                      </a:r>
                      <a:r>
                        <a:rPr sz="1000" b="0" i="0" dirty="0" lang="es-SV">
                          <a:solidFill>
                            <a:srgbClr val="1B2333"/>
                          </a:solidFill>
                          <a:latin typeface="Arial"/>
                        </a:rPr>
                        <a:t> para la </a:t>
                      </a:r>
                      <a:r>
                        <a:rPr sz="1000" b="0" i="0" dirty="0" lang="es-SV">
                          <a:solidFill>
                            <a:srgbClr val="1B2333"/>
                          </a:solidFill>
                          <a:latin typeface="Arial"/>
                        </a:rPr>
                        <a:t>auditoría</a:t>
                      </a:r>
                      <a:r>
                        <a:rPr sz="1000" b="0" i="0" dirty="0" lang="es-SV">
                          <a:solidFill>
                            <a:srgbClr val="1B2333"/>
                          </a:solidFill>
                          <a:latin typeface="Arial"/>
                        </a:rPr>
                        <a:t> interna, </a:t>
                      </a:r>
                      <a:r>
                        <a:rPr sz="1000" b="1" i="0" u="sng" dirty="0" lang="es-SV">
                          <a:solidFill>
                            <a:srgbClr val="00376E"/>
                          </a:solidFill>
                          <a:latin typeface="Arial"/>
                        </a:rPr>
                        <a:t>el Departamento de Administración de </a:t>
                      </a:r>
                      <a:r>
                        <a:rPr sz="1000" b="1" i="0" u="sng" dirty="0" lang="es-SV">
                          <a:solidFill>
                            <a:srgbClr val="00376E"/>
                          </a:solidFill>
                          <a:latin typeface="Arial"/>
                        </a:rPr>
                        <a:t>Riesgos</a:t>
                      </a:r>
                      <a:r>
                        <a:rPr sz="1000" b="0" i="0" dirty="0" lang="es-SV">
                          <a:solidFill>
                            <a:srgbClr val="1B2333"/>
                          </a:solidFill>
                          <a:latin typeface="Arial"/>
                        </a:rPr>
                        <a:t> y las </a:t>
                      </a:r>
                      <a:r>
                        <a:rPr sz="1000" b="0" i="0" dirty="0" lang="es-SV">
                          <a:solidFill>
                            <a:srgbClr val="1B2333"/>
                          </a:solidFill>
                          <a:latin typeface="Arial"/>
                        </a:rPr>
                        <a:t>firmas</a:t>
                      </a:r>
                      <a:r>
                        <a:rPr sz="1000" b="0" i="0" dirty="0" lang="es-SV">
                          <a:solidFill>
                            <a:srgbClr val="1B2333"/>
                          </a:solidFill>
                          <a:latin typeface="Arial"/>
                        </a:rPr>
                        <a:t> de </a:t>
                      </a:r>
                      <a:r>
                        <a:rPr sz="1000" b="0" i="0" dirty="0" lang="es-SV">
                          <a:solidFill>
                            <a:srgbClr val="1B2333"/>
                          </a:solidFill>
                          <a:latin typeface="Arial"/>
                        </a:rPr>
                        <a:t>auditoría</a:t>
                      </a:r>
                      <a:r>
                        <a:rPr sz="1000" b="0" i="0" dirty="0" lang="es-SV">
                          <a:solidFill>
                            <a:srgbClr val="1B2333"/>
                          </a:solidFill>
                          <a:latin typeface="Arial"/>
                        </a:rPr>
                        <a:t> externa…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Acceso de Riesgos para su monitoreo.</a:t>
                      </a:r>
                    </a:p>
                    <a:p>
                      <a:pPr algn="just"/>
                      <a:r>
                        <a:rPr sz="1000" b="1" i="0" lang="es-SV">
                          <a:solidFill>
                            <a:srgbClr val="00376E"/>
                          </a:solidFill>
                          <a:latin typeface="Arial"/>
                        </a:rPr>
                        <a:t>NRP-20, art. 12 · NRP-23, A-5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74320">
                <a:tc>
                  <a:txBody>
                    <a:bodyPr/>
                    <a:lstStyle/>
                    <a:p>
                      <a:pPr algn="just"/>
                      <a:r>
                        <a:rPr sz="1000" b="1" i="0" lang="es-SV">
                          <a:solidFill>
                            <a:srgbClr val="00376E"/>
                          </a:solidFill>
                          <a:latin typeface="Arial"/>
                        </a:rPr>
                        <a:t>58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21. En caso de resolución, intervención o liquidación para garantizar que la Superintendencia tenga acceso a los datos o información en caso de materializarse dichos casos.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21. En </a:t>
                      </a:r>
                      <a:r>
                        <a:rPr sz="1000" b="0" i="0" dirty="0" lang="es-SV">
                          <a:solidFill>
                            <a:srgbClr val="1B2333"/>
                          </a:solidFill>
                          <a:latin typeface="Arial"/>
                        </a:rPr>
                        <a:t>caso</a:t>
                      </a:r>
                      <a:r>
                        <a:rPr sz="1000" b="0" i="0" dirty="0" lang="es-SV">
                          <a:solidFill>
                            <a:srgbClr val="1B2333"/>
                          </a:solidFill>
                          <a:latin typeface="Arial"/>
                        </a:rPr>
                        <a:t> de </a:t>
                      </a:r>
                      <a:r>
                        <a:rPr sz="1000" b="0" i="0" dirty="0" lang="es-SV">
                          <a:solidFill>
                            <a:srgbClr val="1B2333"/>
                          </a:solidFill>
                          <a:latin typeface="Arial"/>
                        </a:rPr>
                        <a:t>resolución</a:t>
                      </a:r>
                      <a:r>
                        <a:rPr sz="1000" b="0" i="0" dirty="0" lang="es-SV">
                          <a:solidFill>
                            <a:srgbClr val="1B2333"/>
                          </a:solidFill>
                          <a:latin typeface="Arial"/>
                        </a:rPr>
                        <a:t>, </a:t>
                      </a:r>
                      <a:r>
                        <a:rPr sz="1000" b="0" i="0" dirty="0" lang="es-SV">
                          <a:solidFill>
                            <a:srgbClr val="1B2333"/>
                          </a:solidFill>
                          <a:latin typeface="Arial"/>
                        </a:rPr>
                        <a:t>intervención</a:t>
                      </a:r>
                      <a:r>
                        <a:rPr sz="1000" b="0" i="0" dirty="0" lang="es-SV">
                          <a:solidFill>
                            <a:srgbClr val="1B2333"/>
                          </a:solidFill>
                          <a:latin typeface="Arial"/>
                        </a:rPr>
                        <a:t> o </a:t>
                      </a:r>
                      <a:r>
                        <a:rPr sz="1000" b="0" i="0" dirty="0" lang="es-SV">
                          <a:solidFill>
                            <a:srgbClr val="1B2333"/>
                          </a:solidFill>
                          <a:latin typeface="Arial"/>
                        </a:rPr>
                        <a:t>liquidación</a:t>
                      </a:r>
                      <a:r>
                        <a:rPr sz="1000" b="0" i="0" dirty="0" lang="es-SV">
                          <a:solidFill>
                            <a:srgbClr val="1B2333"/>
                          </a:solidFill>
                          <a:latin typeface="Arial"/>
                        </a:rPr>
                        <a:t> </a:t>
                      </a:r>
                      <a:r>
                        <a:rPr sz="1000" b="1" i="0" u="sng" dirty="0" lang="es-SV">
                          <a:solidFill>
                            <a:srgbClr val="00376E"/>
                          </a:solidFill>
                          <a:latin typeface="Arial"/>
                        </a:rPr>
                        <a:t>de COMEDICA de R.L., </a:t>
                      </a:r>
                      <a:r>
                        <a:rPr sz="1000" b="1" i="0" u="sng" dirty="0" lang="es-SV">
                          <a:solidFill>
                            <a:srgbClr val="00376E"/>
                          </a:solidFill>
                          <a:latin typeface="Arial"/>
                        </a:rPr>
                        <a:t>establecer</a:t>
                      </a:r>
                      <a:r>
                        <a:rPr sz="1000" b="1" i="0" u="sng" dirty="0" lang="es-SV">
                          <a:solidFill>
                            <a:srgbClr val="00376E"/>
                          </a:solidFill>
                          <a:latin typeface="Arial"/>
                        </a:rPr>
                        <a:t> </a:t>
                      </a:r>
                      <a:r>
                        <a:rPr sz="1000" b="1" i="0" u="sng" dirty="0" lang="es-SV">
                          <a:solidFill>
                            <a:srgbClr val="00376E"/>
                          </a:solidFill>
                          <a:latin typeface="Arial"/>
                        </a:rPr>
                        <a:t>los</a:t>
                      </a:r>
                      <a:r>
                        <a:rPr sz="1000" b="1" i="0" u="sng" dirty="0" lang="es-SV">
                          <a:solidFill>
                            <a:srgbClr val="00376E"/>
                          </a:solidFill>
                          <a:latin typeface="Arial"/>
                        </a:rPr>
                        <a:t> </a:t>
                      </a:r>
                      <a:r>
                        <a:rPr sz="1000" b="1" i="0" u="sng" dirty="0" lang="es-SV">
                          <a:solidFill>
                            <a:srgbClr val="00376E"/>
                          </a:solidFill>
                          <a:latin typeface="Arial"/>
                        </a:rPr>
                        <a:t>procesos</a:t>
                      </a:r>
                      <a:r>
                        <a:rPr sz="1000" b="0" i="0" dirty="0" lang="es-SV">
                          <a:solidFill>
                            <a:srgbClr val="1B2333"/>
                          </a:solidFill>
                          <a:latin typeface="Arial"/>
                        </a:rPr>
                        <a:t> para </a:t>
                      </a:r>
                      <a:r>
                        <a:rPr sz="1000" b="0" i="0" dirty="0" lang="es-SV">
                          <a:solidFill>
                            <a:srgbClr val="1B2333"/>
                          </a:solidFill>
                          <a:latin typeface="Arial"/>
                        </a:rPr>
                        <a:t>garantizar</a:t>
                      </a:r>
                      <a:r>
                        <a:rPr sz="1000" b="0" i="0" dirty="0" lang="es-SV">
                          <a:solidFill>
                            <a:srgbClr val="1B2333"/>
                          </a:solidFill>
                          <a:latin typeface="Arial"/>
                        </a:rPr>
                        <a:t> </a:t>
                      </a:r>
                      <a:r>
                        <a:rPr sz="1000" b="0" i="0" dirty="0" lang="es-SV">
                          <a:solidFill>
                            <a:srgbClr val="1B2333"/>
                          </a:solidFill>
                          <a:latin typeface="Arial"/>
                        </a:rPr>
                        <a:t>que</a:t>
                      </a:r>
                      <a:r>
                        <a:rPr sz="1000" b="0" i="0" dirty="0" lang="es-SV">
                          <a:solidFill>
                            <a:srgbClr val="1B2333"/>
                          </a:solidFill>
                          <a:latin typeface="Arial"/>
                        </a:rPr>
                        <a:t> la </a:t>
                      </a:r>
                      <a:r>
                        <a:rPr sz="1000" b="0" i="0" dirty="0" lang="es-SV">
                          <a:solidFill>
                            <a:srgbClr val="1B2333"/>
                          </a:solidFill>
                          <a:latin typeface="Arial"/>
                        </a:rPr>
                        <a:t>Superintendencia</a:t>
                      </a:r>
                      <a:r>
                        <a:rPr sz="1000" b="0" i="0" dirty="0" lang="es-SV">
                          <a:solidFill>
                            <a:srgbClr val="1B2333"/>
                          </a:solidFill>
                          <a:latin typeface="Arial"/>
                        </a:rPr>
                        <a:t> </a:t>
                      </a:r>
                      <a:r>
                        <a:rPr sz="1000" b="0" i="0" dirty="0" lang="es-SV">
                          <a:solidFill>
                            <a:srgbClr val="1B2333"/>
                          </a:solidFill>
                          <a:latin typeface="Arial"/>
                        </a:rPr>
                        <a:t>tenga</a:t>
                      </a:r>
                      <a:r>
                        <a:rPr sz="1000" b="0" i="0" dirty="0" lang="es-SV">
                          <a:solidFill>
                            <a:srgbClr val="1B2333"/>
                          </a:solidFill>
                          <a:latin typeface="Arial"/>
                        </a:rPr>
                        <a:t> </a:t>
                      </a:r>
                      <a:r>
                        <a:rPr sz="1000" b="0" i="0" dirty="0" lang="es-SV">
                          <a:solidFill>
                            <a:srgbClr val="1B2333"/>
                          </a:solidFill>
                          <a:latin typeface="Arial"/>
                        </a:rPr>
                        <a:t>acceso</a:t>
                      </a:r>
                      <a:r>
                        <a:rPr sz="1000" b="0" i="0" dirty="0" lang="es-SV">
                          <a:solidFill>
                            <a:srgbClr val="1B2333"/>
                          </a:solidFill>
                          <a:latin typeface="Arial"/>
                        </a:rPr>
                        <a:t> a </a:t>
                      </a:r>
                      <a:r>
                        <a:rPr sz="1000" b="0" i="0" dirty="0" lang="es-SV">
                          <a:solidFill>
                            <a:srgbClr val="1B2333"/>
                          </a:solidFill>
                          <a:latin typeface="Arial"/>
                        </a:rPr>
                        <a:t>los</a:t>
                      </a:r>
                      <a:r>
                        <a:rPr sz="1000" b="0" i="0" dirty="0" lang="es-SV">
                          <a:solidFill>
                            <a:srgbClr val="1B2333"/>
                          </a:solidFill>
                          <a:latin typeface="Arial"/>
                        </a:rPr>
                        <a:t> </a:t>
                      </a:r>
                      <a:r>
                        <a:rPr sz="1000" b="0" i="0" dirty="0" lang="es-SV">
                          <a:solidFill>
                            <a:srgbClr val="1B2333"/>
                          </a:solidFill>
                          <a:latin typeface="Arial"/>
                        </a:rPr>
                        <a:t>datos</a:t>
                      </a:r>
                      <a:r>
                        <a:rPr sz="1000" b="0" i="0" dirty="0" lang="es-SV">
                          <a:solidFill>
                            <a:srgbClr val="1B2333"/>
                          </a:solidFill>
                          <a:latin typeface="Arial"/>
                        </a:rPr>
                        <a:t> o </a:t>
                      </a:r>
                      <a:r>
                        <a:rPr sz="1000" b="0" i="0" dirty="0" lang="es-SV">
                          <a:solidFill>
                            <a:srgbClr val="1B2333"/>
                          </a:solidFill>
                          <a:latin typeface="Arial"/>
                        </a:rPr>
                        <a:t>información</a:t>
                      </a:r>
                      <a:r>
                        <a:rPr sz="1000" b="0" i="0" dirty="0" lang="es-SV">
                          <a:solidFill>
                            <a:srgbClr val="1B2333"/>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Redacción</a:t>
                      </a:r>
                      <a:r>
                        <a:rPr sz="1000" b="0" i="0" dirty="0" lang="es-SV">
                          <a:solidFill>
                            <a:srgbClr val="1B2333"/>
                          </a:solidFill>
                          <a:latin typeface="Arial"/>
                        </a:rPr>
                        <a:t> completa y </a:t>
                      </a:r>
                      <a:r>
                        <a:rPr sz="1000" b="0" i="0" dirty="0" lang="es-SV">
                          <a:solidFill>
                            <a:srgbClr val="1B2333"/>
                          </a:solidFill>
                          <a:latin typeface="Arial"/>
                        </a:rPr>
                        <a:t>clara</a:t>
                      </a:r>
                      <a:r>
                        <a:rPr sz="1000" b="0" i="0" dirty="0" lang="es-SV">
                          <a:solidFill>
                            <a:srgbClr val="1B2333"/>
                          </a:solidFill>
                          <a:latin typeface="Arial"/>
                        </a:rPr>
                        <a:t>.</a:t>
                      </a:r>
                    </a:p>
                    <a:p>
                      <a:pPr algn="just"/>
                      <a:r>
                        <a:rPr sz="1000" b="1" i="0" dirty="0" lang="es-SV">
                          <a:solidFill>
                            <a:srgbClr val="00376E"/>
                          </a:solidFill>
                          <a:latin typeface="Arial"/>
                        </a:rPr>
                        <a:t>NRP-23, Anexo 1, </a:t>
                      </a:r>
                      <a:r>
                        <a:rPr sz="1000" b="1" i="0" dirty="0" lang="es-SV">
                          <a:solidFill>
                            <a:srgbClr val="00376E"/>
                          </a:solidFill>
                          <a:latin typeface="Arial"/>
                        </a:rPr>
                        <a:t>Secc</a:t>
                      </a:r>
                      <a:r>
                        <a:rPr sz="1000" b="1" i="0" dirty="0" lang="es-SV">
                          <a:solidFill>
                            <a:srgbClr val="00376E"/>
                          </a:solidFill>
                          <a:latin typeface="Arial"/>
                        </a:rPr>
                        <a:t>. C, num. 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74320">
                <a:tc>
                  <a:txBody>
                    <a:bodyPr/>
                    <a:lstStyle/>
                    <a:p>
                      <a:pPr algn="just"/>
                      <a:r>
                        <a:rPr sz="1000" b="1" i="0" lang="es-SV">
                          <a:solidFill>
                            <a:srgbClr val="00376E"/>
                          </a:solidFill>
                          <a:latin typeface="Arial"/>
                        </a:rPr>
                        <a:t>59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22. Garantizar la devolución y destrucción o borrado seguro de la información involucrada en la prestación del servicio, cuando lo solicite COMEDICA de R.L. o ante la terminación del contrato.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dirty="0" lang="es-SV">
                          <a:solidFill>
                            <a:srgbClr val="1B2333"/>
                          </a:solidFill>
                          <a:latin typeface="Arial"/>
                        </a:rPr>
                        <a:t>Cláusula</a:t>
                      </a:r>
                      <a:r>
                        <a:rPr sz="1000" b="0" i="0" dirty="0" lang="es-SV">
                          <a:solidFill>
                            <a:srgbClr val="1B2333"/>
                          </a:solidFill>
                          <a:latin typeface="Arial"/>
                        </a:rPr>
                        <a:t> </a:t>
                      </a:r>
                      <a:r>
                        <a:rPr sz="1000" b="0" i="0" dirty="0" lang="es-SV">
                          <a:solidFill>
                            <a:srgbClr val="1B2333"/>
                          </a:solidFill>
                          <a:latin typeface="Arial"/>
                        </a:rPr>
                        <a:t>omitida</a:t>
                      </a:r>
                      <a:r>
                        <a:rPr sz="1000" b="0" i="0" dirty="0" lang="es-SV">
                          <a:solidFill>
                            <a:srgbClr val="1B2333"/>
                          </a:solidFill>
                          <a:latin typeface="Arial"/>
                        </a:rPr>
                        <a:t> </a:t>
                      </a:r>
                      <a:r>
                        <a:rPr sz="1000" b="0" i="0" dirty="0" lang="es-SV">
                          <a:solidFill>
                            <a:srgbClr val="1B2333"/>
                          </a:solidFill>
                          <a:latin typeface="Arial"/>
                        </a:rPr>
                        <a:t>en</a:t>
                      </a:r>
                      <a:r>
                        <a:rPr sz="1000" b="0" i="0" dirty="0" lang="es-SV">
                          <a:solidFill>
                            <a:srgbClr val="1B2333"/>
                          </a:solidFill>
                          <a:latin typeface="Arial"/>
                        </a:rPr>
                        <a:t> la V03.</a:t>
                      </a:r>
                    </a:p>
                    <a:p>
                      <a:pPr algn="just"/>
                      <a:r>
                        <a:rPr sz="1000" b="1" i="0" dirty="0" lang="es-SV">
                          <a:solidFill>
                            <a:srgbClr val="00376E"/>
                          </a:solidFill>
                          <a:latin typeface="Arial"/>
                        </a:rPr>
                        <a:t>NRP-23, Anexo 1, </a:t>
                      </a:r>
                      <a:r>
                        <a:rPr sz="1000" b="1" i="0" dirty="0" lang="es-SV">
                          <a:solidFill>
                            <a:srgbClr val="00376E"/>
                          </a:solidFill>
                          <a:latin typeface="Arial"/>
                        </a:rPr>
                        <a:t>Secc</a:t>
                      </a:r>
                      <a:r>
                        <a:rPr sz="1000" b="1" i="0" dirty="0" lang="es-SV">
                          <a:solidFill>
                            <a:srgbClr val="00376E"/>
                          </a:solidFill>
                          <a:latin typeface="Arial"/>
                        </a:rPr>
                        <a:t>. B, num. 19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74320">
                <a:tc>
                  <a:txBody>
                    <a:bodyPr/>
                    <a:lstStyle/>
                    <a:p>
                      <a:pPr algn="just"/>
                      <a:r>
                        <a:rPr sz="1000" b="1" i="0" lang="es-SV">
                          <a:solidFill>
                            <a:srgbClr val="00376E"/>
                          </a:solidFill>
                          <a:latin typeface="Arial"/>
                        </a:rPr>
                        <a:t>60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23. Reporte de eventos de riesgo operacional: obligación del proveedor de reportar los incidentes, interrupciones y fallas que afecten el servicio, con su causa raíz, impacto y acciones correctivas.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dirty="0" lang="es-SV">
                          <a:solidFill>
                            <a:srgbClr val="1B2333"/>
                          </a:solidFill>
                          <a:latin typeface="Arial"/>
                        </a:rPr>
                        <a:t>Insumo</a:t>
                      </a:r>
                      <a:r>
                        <a:rPr sz="1000" b="0" i="0" dirty="0" lang="es-SV">
                          <a:solidFill>
                            <a:srgbClr val="1B2333"/>
                          </a:solidFill>
                          <a:latin typeface="Arial"/>
                        </a:rPr>
                        <a:t> para la base de </a:t>
                      </a:r>
                      <a:r>
                        <a:rPr sz="1000" b="0" i="0" dirty="0" lang="es-SV">
                          <a:solidFill>
                            <a:srgbClr val="1B2333"/>
                          </a:solidFill>
                          <a:latin typeface="Arial"/>
                        </a:rPr>
                        <a:t>datos</a:t>
                      </a:r>
                      <a:r>
                        <a:rPr sz="1000" b="0" i="0" dirty="0" lang="es-SV">
                          <a:solidFill>
                            <a:srgbClr val="1B2333"/>
                          </a:solidFill>
                          <a:latin typeface="Arial"/>
                        </a:rPr>
                        <a:t> de </a:t>
                      </a:r>
                      <a:r>
                        <a:rPr sz="1000" b="0" i="0" dirty="0" lang="es-SV">
                          <a:solidFill>
                            <a:srgbClr val="1B2333"/>
                          </a:solidFill>
                          <a:latin typeface="Arial"/>
                        </a:rPr>
                        <a:t>eventos</a:t>
                      </a:r>
                      <a:r>
                        <a:rPr sz="1000" b="0" i="0" dirty="0" lang="es-SV">
                          <a:solidFill>
                            <a:srgbClr val="1B2333"/>
                          </a:solidFill>
                          <a:latin typeface="Arial"/>
                        </a:rPr>
                        <a:t>.</a:t>
                      </a:r>
                    </a:p>
                    <a:p>
                      <a:pPr algn="just"/>
                      <a:r>
                        <a:rPr sz="1000" b="1" i="0" dirty="0" lang="es-SV">
                          <a:solidFill>
                            <a:srgbClr val="00376E"/>
                          </a:solidFill>
                          <a:latin typeface="Arial"/>
                        </a:rPr>
                        <a:t>NRP-42, arts. 19 y 21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bl>
          </a:graphicData>
        </a:graphic>
      </p:graphicFrame>
      <p:sp>
        <p:nvSpPr>
          <p:cNvPr id="17" name="TextBox 16"/>
          <p:cNvSpPr txBox="1"/>
          <p:nvPr/>
        </p:nvSpPr>
        <p:spPr>
          <a:xfrm>
            <a:off x="548640" y="6355080"/>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Texto subrayado en azul</a:t>
            </a:r>
            <a:r>
              <a:rPr sz="1000" b="0" i="0" lang="es-SV">
                <a:solidFill>
                  <a:srgbClr val="5B6578"/>
                </a:solidFill>
                <a:latin typeface="Arial"/>
              </a:rPr>
              <a:t> = nuevo o modificado respecto a la versión vigente</a:t>
            </a:r>
          </a:p>
        </p:txBody>
      </p:sp>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5411B601-C91F-0BE0-090B-5C8396A9A9ED}"/>
              </a:ext>
            </a:extLst>
          </p:cNvPr>
          <p:cNvSpPr>
            <a:spLocks noGrp="1" noRot="1" noMove="1" noResize="1" noEditPoints="1" noAdjustHandles="1" noChangeArrowheads="1" noChangeShapeType="1"/>
          </p:cNvSpPr>
          <p:nvPr/>
        </p:nvSpPr>
        <p:spPr>
          <a:xfrm>
            <a:off x="-92149" y="-53163"/>
            <a:ext cx="12376298" cy="6964326"/>
          </a:xfrm>
          <a:prstGeom prst="rect">
            <a:avLst/>
          </a:prstGeom>
          <a:solidFill>
            <a:srgbClr val="0037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6" name="CuadroTexto 5">
            <a:extLst>
              <a:ext uri="{FF2B5EF4-FFF2-40B4-BE49-F238E27FC236}">
                <a16:creationId xmlns:a16="http://schemas.microsoft.com/office/drawing/2014/main" id="{BA87AA9B-702C-4456-A380-F08DF42DEF2C}"/>
              </a:ext>
            </a:extLst>
          </p:cNvPr>
          <p:cNvSpPr txBox="1"/>
          <p:nvPr/>
        </p:nvSpPr>
        <p:spPr>
          <a:xfrm>
            <a:off x="95250" y="50367"/>
            <a:ext cx="11763375" cy="523220"/>
          </a:xfrm>
          <a:prstGeom prst="rect">
            <a:avLst/>
          </a:prstGeom>
          <a:noFill/>
        </p:spPr>
        <p:txBody>
          <a:bodyPr wrap="square" rtlCol="0">
            <a:spAutoFit/>
          </a:bodyPr>
          <a:lstStyle/>
          <a:p>
            <a:pPr algn="ctr"/>
            <a:r>
              <a:rPr lang="es-SV" sz="2800" dirty="0">
                <a:solidFill>
                  <a:schemeClr val="bg1"/>
                </a:solidFill>
                <a:latin typeface="Century Gothic" panose="020B0502020202020204" pitchFamily="34" charset="0"/>
              </a:rPr>
              <a:t>Manual de Gestión del Riesgo Reputacional</a:t>
            </a:r>
            <a:endParaRPr lang="es-SV" sz="1000" dirty="0">
              <a:solidFill>
                <a:schemeClr val="bg1"/>
              </a:solidFill>
              <a:latin typeface="Century Gothic" panose="020B0502020202020204" pitchFamily="34" charset="0"/>
            </a:endParaRPr>
          </a:p>
        </p:txBody>
      </p:sp>
      <p:cxnSp>
        <p:nvCxnSpPr>
          <p:cNvPr id="8" name="Conector recto 7">
            <a:extLst>
              <a:ext uri="{FF2B5EF4-FFF2-40B4-BE49-F238E27FC236}">
                <a16:creationId xmlns:a16="http://schemas.microsoft.com/office/drawing/2014/main" id="{8F41098E-7291-4952-0707-562BC04ED036}"/>
              </a:ext>
            </a:extLst>
          </p:cNvPr>
          <p:cNvCxnSpPr>
            <a:cxnSpLocks/>
          </p:cNvCxnSpPr>
          <p:nvPr/>
        </p:nvCxnSpPr>
        <p:spPr>
          <a:xfrm>
            <a:off x="5986130" y="2695509"/>
            <a:ext cx="0" cy="146698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535680" y="677117"/>
            <a:ext cx="5120640" cy="731520"/>
          </a:xfrm>
          <a:prstGeom prst="rect">
            <a:avLst/>
          </a:prstGeom>
          <a:noFill/>
        </p:spPr>
        <p:txBody>
          <a:bodyPr wrap="square" lIns="0" tIns="0" rIns="0" bIns="0" anchor="t">
            <a:spAutoFit/>
          </a:bodyPr>
          <a:lstStyle/>
          <a:p>
            <a:pPr algn="r"/>
            <a:r>
              <a:rPr sz="1400" b="0" i="0" dirty="0" lang="es-SV">
                <a:solidFill>
                  <a:srgbClr val="DCE6F7"/>
                </a:solidFill>
                <a:latin typeface="Arial"/>
              </a:rPr>
              <a:t>MA-GG-M-004 · V03 vigente → V04 propuesta · 22 cambios</a:t>
            </a:r>
            <a:endParaRPr sz="1400" b="0" i="0" dirty="0" lang="es-SV">
              <a:solidFill>
                <a:srgbClr val="DCE6F7"/>
              </a:solidFill>
              <a:latin typeface="Arial"/>
            </a:endParaRPr>
          </a:p>
        </p:txBody>
      </p:sp>
      <p:sp>
        <p:nvSpPr>
          <p:cNvPr id="10" name="CuadroTexto 9">
            <a:extLst>
              <a:ext uri="{FF2B5EF4-FFF2-40B4-BE49-F238E27FC236}">
                <a16:creationId xmlns:a16="http://schemas.microsoft.com/office/drawing/2014/main" id="{5130BB53-0534-134E-BA9E-A757F1B101AF}"/>
              </a:ext>
            </a:extLst>
          </p:cNvPr>
          <p:cNvSpPr txBox="1"/>
          <p:nvPr/>
        </p:nvSpPr>
        <p:spPr>
          <a:xfrm>
            <a:off x="386671" y="1326762"/>
            <a:ext cx="5120640" cy="5170646"/>
          </a:xfrm>
          <a:prstGeom prst="rect">
            <a:avLst/>
          </a:prstGeom>
          <a:noFill/>
        </p:spPr>
        <p:txBody>
          <a:bodyPr wrap="square">
            <a:spAutoFit/>
          </a:bodyPr>
          <a:lstStyle/>
          <a:p>
            <a:pPr marL="285750" indent="-285750">
              <a:spcBef>
                <a:spcPts val="1500"/>
              </a:spcBef>
              <a:spcAft>
                <a:spcPts val="15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ALCANCE</a:t>
            </a:r>
          </a:p>
          <a:p>
            <a:pPr marL="285750" indent="-285750">
              <a:spcBef>
                <a:spcPts val="1500"/>
              </a:spcBef>
              <a:spcAft>
                <a:spcPts val="15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OBJETIVOS</a:t>
            </a:r>
          </a:p>
          <a:p>
            <a:pPr marL="285750" indent="-285750">
              <a:spcBef>
                <a:spcPts val="1500"/>
              </a:spcBef>
              <a:spcAft>
                <a:spcPts val="15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DOCUMENTOS DE REFERENCIA</a:t>
            </a:r>
          </a:p>
          <a:p>
            <a:pPr marL="285750" indent="-285750">
              <a:spcBef>
                <a:spcPts val="1500"/>
              </a:spcBef>
              <a:spcAft>
                <a:spcPts val="15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ROLES Y RESPONSABILIDADES</a:t>
            </a:r>
          </a:p>
          <a:p>
            <a:pPr marL="285750" indent="-285750">
              <a:spcBef>
                <a:spcPts val="1500"/>
              </a:spcBef>
              <a:spcAft>
                <a:spcPts val="15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POLÍTICA GENERAL DE LA GESTIÓN DEL RIESGO REPUTACIONAL</a:t>
            </a:r>
          </a:p>
          <a:p>
            <a:pPr marL="285750" indent="-285750">
              <a:spcBef>
                <a:spcPts val="1500"/>
              </a:spcBef>
              <a:spcAft>
                <a:spcPts val="15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IDENTIFICACIÓN Y CONTROL DEL RIESGO REPUTACIONAL</a:t>
            </a:r>
          </a:p>
          <a:p>
            <a:pPr marL="285750" indent="-285750">
              <a:spcBef>
                <a:spcPts val="1500"/>
              </a:spcBef>
              <a:spcAft>
                <a:spcPts val="15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INFORME DE CASOS DE RIESGO REPUTACIONAL</a:t>
            </a:r>
          </a:p>
        </p:txBody>
      </p:sp>
      <p:sp>
        <p:nvSpPr>
          <p:cNvPr id="12" name="CuadroTexto 11">
            <a:extLst>
              <a:ext uri="{FF2B5EF4-FFF2-40B4-BE49-F238E27FC236}">
                <a16:creationId xmlns:a16="http://schemas.microsoft.com/office/drawing/2014/main" id="{2E2BAD01-8225-5C97-52AD-D32A37D5E27C}"/>
              </a:ext>
            </a:extLst>
          </p:cNvPr>
          <p:cNvSpPr txBox="1"/>
          <p:nvPr/>
        </p:nvSpPr>
        <p:spPr>
          <a:xfrm>
            <a:off x="6574819" y="1408637"/>
            <a:ext cx="5120640" cy="5170646"/>
          </a:xfrm>
          <a:prstGeom prst="rect">
            <a:avLst/>
          </a:prstGeom>
          <a:noFill/>
        </p:spPr>
        <p:txBody>
          <a:bodyPr wrap="square">
            <a:spAutoFit/>
          </a:bodyPr>
          <a:lstStyle/>
          <a:p>
            <a:pPr marL="285750" indent="-285750" algn="just">
              <a:spcBef>
                <a:spcPts val="1500"/>
              </a:spcBef>
              <a:spcAft>
                <a:spcPts val="15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ALCANCE</a:t>
            </a:r>
          </a:p>
          <a:p>
            <a:pPr marL="285750" indent="-285750" algn="just">
              <a:spcBef>
                <a:spcPts val="1500"/>
              </a:spcBef>
              <a:spcAft>
                <a:spcPts val="15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OBJETIVOS</a:t>
            </a:r>
          </a:p>
          <a:p>
            <a:pPr marL="285750" indent="-285750" algn="just">
              <a:spcBef>
                <a:spcPts val="1500"/>
              </a:spcBef>
              <a:spcAft>
                <a:spcPts val="15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MARCO REGULATORIO</a:t>
            </a:r>
          </a:p>
          <a:p>
            <a:pPr marL="285750" indent="-285750" algn="just">
              <a:spcBef>
                <a:spcPts val="1500"/>
              </a:spcBef>
              <a:spcAft>
                <a:spcPts val="15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RESPONSABILIDADES</a:t>
            </a:r>
          </a:p>
          <a:p>
            <a:pPr marL="285750" indent="-285750" algn="just">
              <a:spcBef>
                <a:spcPts val="1500"/>
              </a:spcBef>
              <a:spcAft>
                <a:spcPts val="15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POLÍTICA DE LA GESTIÓN DEL RIESGO REPUTACIONAL</a:t>
            </a:r>
          </a:p>
          <a:p>
            <a:pPr marL="285750" indent="-285750" algn="just">
              <a:spcBef>
                <a:spcPts val="1500"/>
              </a:spcBef>
              <a:spcAft>
                <a:spcPts val="15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IDENTIFICACIÓN Y CONTROL DEL RIESGO REPUTACIONAL</a:t>
            </a:r>
          </a:p>
          <a:p>
            <a:pPr marL="285750" indent="-285750" algn="just">
              <a:spcBef>
                <a:spcPts val="1500"/>
              </a:spcBef>
              <a:spcAft>
                <a:spcPts val="15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INFORME DE CASOS DE RIESGO REPUTACIONAL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Texto subrayado en azul</a:t>
            </a:r>
            <a:r>
              <a:rPr sz="1000" b="0" i="0" lang="es-SV">
                <a:solidFill>
                  <a:srgbClr val="5B6578"/>
                </a:solidFill>
                <a:latin typeface="Arial"/>
              </a:rPr>
              <a:t> = nuevo o modificado respecto a la versión vigente</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Alcance, Objetivos y Marco Regulatorio</a:t>
            </a:r>
          </a:p>
        </p:txBody>
      </p:sp>
      <p:graphicFrame>
        <p:nvGraphicFramePr>
          <p:cNvPr id="16" name="Table 15"/>
          <p:cNvGraphicFramePr>
            <a:graphicFrameLocks noGrp="1"/>
          </p:cNvGraphicFramePr>
          <p:nvPr/>
        </p:nvGraphicFramePr>
        <p:xfrm>
          <a:off x="548640" y="566928"/>
          <a:ext cx="11091672" cy="241960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(V03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(V04 propuesta)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Mejora y base normativa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El presente Manual… es de obligatorio cumplimiento para los Miembros del Consejo de Administración, Miembros de Junta de Vigilancia, Comités, Gerentes y Empleados de COMEDICA.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El presente Manual… es de obligatorio cumplimiento para los </a:t>
                      </a:r>
                      <a:r>
                        <a:rPr sz="1000" b="1" i="0" u="sng" lang="es-SV">
                          <a:solidFill>
                            <a:srgbClr val="00376E"/>
                          </a:solidFill>
                          <a:latin typeface="Arial"/>
                        </a:rPr>
                        <a:t>Directores</a:t>
                      </a:r>
                      <a:r>
                        <a:rPr sz="1000" b="0" i="0" lang="es-SV">
                          <a:solidFill>
                            <a:srgbClr val="1B2333"/>
                          </a:solidFill>
                          <a:latin typeface="Arial"/>
                        </a:rPr>
                        <a:t> del Consejo de Administración, Miembros de Junta de Vigilancia, Comités, Gerentes y Empleados de COMEDICA </a:t>
                      </a:r>
                      <a:r>
                        <a:rPr sz="1000" b="1" i="0" u="sng" lang="es-SV">
                          <a:solidFill>
                            <a:srgbClr val="00376E"/>
                          </a:solidFill>
                          <a:latin typeface="Arial"/>
                        </a:rPr>
                        <a:t>de R.L.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Denominación de los miembros del Consejo y razón social completa.</a:t>
                      </a:r>
                    </a:p>
                    <a:p>
                      <a:pPr algn="just"/>
                      <a:r>
                        <a:rPr sz="1000" b="1" i="0" lang="es-SV">
                          <a:solidFill>
                            <a:srgbClr val="00376E"/>
                          </a:solidFill>
                          <a:latin typeface="Arial"/>
                        </a:rPr>
                        <a:t>Redacción interna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Mantener la confianza de nuestros asociados y clientes, sobre los diferentes productos y servicios ofrecidos.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Mantener la confianza </a:t>
                      </a:r>
                      <a:r>
                        <a:rPr sz="1000" b="1" i="0" u="sng" lang="es-SV">
                          <a:solidFill>
                            <a:srgbClr val="00376E"/>
                          </a:solidFill>
                          <a:latin typeface="Arial"/>
                        </a:rPr>
                        <a:t>y fidelidad</a:t>
                      </a:r>
                      <a:r>
                        <a:rPr sz="1000" b="0" i="0" lang="es-SV">
                          <a:solidFill>
                            <a:srgbClr val="1B2333"/>
                          </a:solidFill>
                          <a:latin typeface="Arial"/>
                        </a:rPr>
                        <a:t> de nuestros asociados y clientes, sobre los diferentes productos y servicios ofrecidos.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Amplía el objetivo específico.</a:t>
                      </a:r>
                    </a:p>
                    <a:p>
                      <a:pPr algn="just"/>
                      <a:r>
                        <a:rPr sz="1000" b="1" i="0" lang="es-SV">
                          <a:solidFill>
                            <a:srgbClr val="00376E"/>
                          </a:solidFill>
                          <a:latin typeface="Arial"/>
                        </a:rPr>
                        <a:t>Redacción interna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II. DOCUMENTOS DE REFERENCIA: Normas Técnicas para la Gestión Integral de Riesgos de las Entidades Financieras (NRP-20); Normas Técnicas de Gobierno Corporativo (NRP-17); … Código de Conducta.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2. MARCO REGULATORIO</a:t>
                      </a:r>
                      <a:r>
                        <a:rPr sz="1000" b="0" i="0" lang="es-SV">
                          <a:solidFill>
                            <a:srgbClr val="1B2333"/>
                          </a:solidFill>
                          <a:latin typeface="Arial"/>
                        </a:rPr>
                        <a:t>: Normas Técnicas para la Gestión Integral de Riesgos de las Entidades Financieras; Normas Técnicas de Gobierno Corporativo; … Código de Conducta </a:t>
                      </a:r>
                      <a:r>
                        <a:rPr sz="1000" b="1" i="0" u="sng" lang="es-SV">
                          <a:solidFill>
                            <a:srgbClr val="00376E"/>
                          </a:solidFill>
                          <a:latin typeface="Arial"/>
                        </a:rPr>
                        <a:t>de COMEDICA de R.L.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Cambia el título del apartado; se eliminan los códigos NRP-20 y NRP-17.</a:t>
                      </a:r>
                    </a:p>
                    <a:p>
                      <a:pPr algn="just"/>
                      <a:r>
                        <a:rPr sz="1000" b="1" i="0" lang="es-SV">
                          <a:solidFill>
                            <a:srgbClr val="00376E"/>
                          </a:solidFill>
                          <a:latin typeface="Arial"/>
                        </a:rPr>
                        <a:t>NRP-20 · NRP-17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COMEDICA · numeración de apartados en romanos (I a XVII).</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COMEDICA de R.L.</a:t>
                      </a:r>
                      <a:r>
                        <a:rPr sz="1000" b="0" i="0" lang="es-SV">
                          <a:solidFill>
                            <a:srgbClr val="1B2333"/>
                          </a:solidFill>
                          <a:latin typeface="Arial"/>
                        </a:rPr>
                        <a:t> en todo el documento · </a:t>
                      </a:r>
                      <a:r>
                        <a:rPr sz="1000" b="1" i="0" u="sng" lang="es-SV">
                          <a:solidFill>
                            <a:srgbClr val="00376E"/>
                          </a:solidFill>
                          <a:latin typeface="Arial"/>
                        </a:rPr>
                        <a:t>numeración arábiga de apartados.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Uniformidad de forma.</a:t>
                      </a:r>
                    </a:p>
                    <a:p>
                      <a:pPr algn="just"/>
                      <a:r>
                        <a:rPr sz="1000" b="1" i="0" lang="es-SV">
                          <a:solidFill>
                            <a:srgbClr val="00376E"/>
                          </a:solidFill>
                          <a:latin typeface="Arial"/>
                        </a:rPr>
                        <a:t>Redacción interna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bl>
          </a:graphicData>
        </a:graphic>
      </p:graphicFrame>
      <p:sp>
        <p:nvSpPr>
          <p:cNvPr id="13" name="Rectángulo 12">
            <a:extLst>
              <a:ext uri="{FF2B5EF4-FFF2-40B4-BE49-F238E27FC236}">
                <a16:creationId xmlns:a16="http://schemas.microsoft.com/office/drawing/2014/main" id="{0A848043-3E64-98A8-7A75-B15A546BA49B}"/>
              </a:ext>
            </a:extLst>
          </p:cNvPr>
          <p:cNvSpPr/>
          <p:nvPr/>
        </p:nvSpPr>
        <p:spPr>
          <a:xfrm>
            <a:off x="548640" y="3132836"/>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3114548"/>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Responsabilidades (1 de 2)</a:t>
            </a:r>
          </a:p>
        </p:txBody>
      </p:sp>
      <p:graphicFrame>
        <p:nvGraphicFramePr>
          <p:cNvPr id="16" name="Table 15"/>
          <p:cNvGraphicFramePr>
            <a:graphicFrameLocks noGrp="1"/>
          </p:cNvGraphicFramePr>
          <p:nvPr/>
        </p:nvGraphicFramePr>
        <p:xfrm>
          <a:off x="548640" y="3535172"/>
          <a:ext cx="11091672" cy="265074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(V03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(V04 propuesta)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Mejora y base normativa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ROLES Y 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Se simplifica el título del apartado.</a:t>
                      </a:r>
                    </a:p>
                    <a:p>
                      <a:pPr algn="just"/>
                      <a:r>
                        <a:rPr sz="1000" b="1" i="0" lang="es-SV">
                          <a:solidFill>
                            <a:srgbClr val="00376E"/>
                          </a:solidFill>
                          <a:latin typeface="Arial"/>
                        </a:rPr>
                        <a:t>Redacción interna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Consejo de Administración: Aprobar el presente Manual y asegurarse que la Gerencia General lo implemente efectivamente.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Aprobar el presente Manual y asegurarse que la Gerencia General lo implemente efectivamente </a:t>
                      </a:r>
                      <a:r>
                        <a:rPr sz="1000" b="1" i="0" u="sng" lang="es-SV">
                          <a:solidFill>
                            <a:srgbClr val="00376E"/>
                          </a:solidFill>
                          <a:latin typeface="Arial"/>
                        </a:rPr>
                        <a:t>en todas las áreas de la Cooperativa.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Precisa el alcance de la implementación.</a:t>
                      </a:r>
                    </a:p>
                    <a:p>
                      <a:pPr algn="just"/>
                      <a:r>
                        <a:rPr sz="1000" b="1" i="0" lang="es-SV">
                          <a:solidFill>
                            <a:srgbClr val="00376E"/>
                          </a:solidFill>
                          <a:latin typeface="Arial"/>
                        </a:rPr>
                        <a:t>NRP-20, art. 8, lit. c</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Comité de Administración de Riesgos (en todo el documento).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Comité de Riesgos</a:t>
                      </a:r>
                      <a:r>
                        <a:rPr sz="1000" b="0" i="0" lang="es-SV">
                          <a:solidFill>
                            <a:srgbClr val="1B2333"/>
                          </a:solidFill>
                          <a:latin typeface="Arial"/>
                        </a:rPr>
                        <a:t> (en todo el documento).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Nombre vigente del comité.</a:t>
                      </a:r>
                    </a:p>
                    <a:p>
                      <a:pPr algn="just"/>
                      <a:r>
                        <a:rPr sz="1000" b="1" i="0" lang="es-SV">
                          <a:solidFill>
                            <a:srgbClr val="00376E"/>
                          </a:solidFill>
                          <a:latin typeface="Arial"/>
                        </a:rPr>
                        <a:t>NRP-20, art. 9 · NRP-17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Consejo de Calidad: Analizar las gestiones realizadas sobre sugerencias y quejas, las acciones tomadas en su resolución y acuerdos según corresponda.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Elaborar</a:t>
                      </a:r>
                      <a:r>
                        <a:rPr sz="1000" b="0" i="0" lang="es-SV">
                          <a:solidFill>
                            <a:srgbClr val="1B2333"/>
                          </a:solidFill>
                          <a:latin typeface="Arial"/>
                        </a:rPr>
                        <a:t> las gestiones realizadas sobre sugerencias y quejas, las acciones tomadas en su resolución y acuerdos según corresponda.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Cambio de la función del Consejo de Calidad.</a:t>
                      </a:r>
                    </a:p>
                    <a:p>
                      <a:pPr algn="just"/>
                      <a:r>
                        <a:rPr sz="1000" b="1" i="0" lang="es-SV">
                          <a:solidFill>
                            <a:srgbClr val="00376E"/>
                          </a:solidFill>
                          <a:latin typeface="Arial"/>
                        </a:rPr>
                        <a:t>Redacción interna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Jefe de Administración de Riesgos: Diseñar y someter a la aprobación del Consejo de Administración, a través del Comité de Administración de Riesgos, el presente Manual.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Elaborar</a:t>
                      </a:r>
                      <a:r>
                        <a:rPr sz="1000" b="0" i="0" lang="es-SV">
                          <a:solidFill>
                            <a:srgbClr val="1B2333"/>
                          </a:solidFill>
                          <a:latin typeface="Arial"/>
                        </a:rPr>
                        <a:t> diseñar y someter a la aprobación del Consejo de Administración, a través del </a:t>
                      </a:r>
                      <a:r>
                        <a:rPr sz="1000" b="1" i="0" u="sng" lang="es-SV">
                          <a:solidFill>
                            <a:srgbClr val="00376E"/>
                          </a:solidFill>
                          <a:latin typeface="Arial"/>
                        </a:rPr>
                        <a:t>Comité de Riesgos</a:t>
                      </a:r>
                      <a:r>
                        <a:rPr sz="1000" b="0" i="0" lang="es-SV">
                          <a:solidFill>
                            <a:srgbClr val="1B2333"/>
                          </a:solidFill>
                          <a:latin typeface="Arial"/>
                        </a:rPr>
                        <a:t>, el presente Manual.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Función de la Unidad de Riesgos.</a:t>
                      </a:r>
                    </a:p>
                    <a:p>
                      <a:pPr algn="just"/>
                      <a:r>
                        <a:rPr sz="1000" b="1" i="0" lang="es-SV">
                          <a:solidFill>
                            <a:srgbClr val="00376E"/>
                          </a:solidFill>
                          <a:latin typeface="Arial"/>
                        </a:rPr>
                        <a:t>NRP-20, art. 13, lit. c</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Texto subrayado en azul</a:t>
            </a:r>
            <a:r>
              <a:rPr sz="1000" b="0" i="0" lang="es-SV">
                <a:solidFill>
                  <a:srgbClr val="5B6578"/>
                </a:solidFill>
                <a:latin typeface="Arial"/>
              </a:rPr>
              <a:t> = nuevo o modificado respecto a la versión vigente</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Responsabilidades (2 de 2)</a:t>
            </a:r>
          </a:p>
        </p:txBody>
      </p:sp>
      <p:graphicFrame>
        <p:nvGraphicFramePr>
          <p:cNvPr id="16" name="Table 15"/>
          <p:cNvGraphicFramePr>
            <a:graphicFrameLocks noGrp="1"/>
          </p:cNvGraphicFramePr>
          <p:nvPr/>
        </p:nvGraphicFramePr>
        <p:xfrm>
          <a:off x="548640" y="566928"/>
          <a:ext cx="11091672" cy="200050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(V03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(V04 propuesta)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Mejora y base normativa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10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Oficial de Cumplimiento: Velar por el cumplimiento… financiación del terrorismo y financiación de la proliferación de armas de destrucción masiva.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Gerente de Oficialía de Cumplimiento</a:t>
                      </a:r>
                      <a:r>
                        <a:rPr sz="1000" b="0" i="0" lang="es-SV">
                          <a:solidFill>
                            <a:srgbClr val="1B2333"/>
                          </a:solidFill>
                          <a:latin typeface="Arial"/>
                        </a:rPr>
                        <a:t>: Velar por el cumplimiento… financiación del terrorismo y </a:t>
                      </a:r>
                      <a:r>
                        <a:rPr sz="1000" b="1" i="0" u="sng" lang="es-SV">
                          <a:solidFill>
                            <a:srgbClr val="00376E"/>
                          </a:solidFill>
                          <a:latin typeface="Arial"/>
                        </a:rPr>
                        <a:t>la</a:t>
                      </a:r>
                      <a:r>
                        <a:rPr sz="1000" b="0" i="0" lang="es-SV">
                          <a:solidFill>
                            <a:srgbClr val="1B2333"/>
                          </a:solidFill>
                          <a:latin typeface="Arial"/>
                        </a:rPr>
                        <a:t> financiación de la proliferación de armas de destrucción masiva.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Nombre vigente del cargo (también en apartados de control e informe).</a:t>
                      </a:r>
                    </a:p>
                    <a:p>
                      <a:pPr algn="just"/>
                      <a:r>
                        <a:rPr sz="1000" b="1" i="0" lang="es-SV">
                          <a:solidFill>
                            <a:srgbClr val="00376E"/>
                          </a:solidFill>
                          <a:latin typeface="Arial"/>
                        </a:rPr>
                        <a:t>Estructura organizativa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Jefe de Mercadeo: Informar al Departamento de Administración de Riesgos sobre la percepción de imagen de COMEDICA de R.L. en las redes sociales.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Nueva fuente de información reputacional.</a:t>
                      </a:r>
                    </a:p>
                    <a:p>
                      <a:pPr algn="just"/>
                      <a:r>
                        <a:rPr sz="1000" b="1" i="0" lang="es-SV">
                          <a:solidFill>
                            <a:srgbClr val="00376E"/>
                          </a:solidFill>
                          <a:latin typeface="Arial"/>
                        </a:rPr>
                        <a:t>NRP-20, art. 6, lit. 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12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Jefe Talento Humano: Garantizar el cumplimiento de los procesos de selección y contratación del personal.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Jefe de</a:t>
                      </a:r>
                      <a:r>
                        <a:rPr sz="1000" b="0" i="0" lang="es-SV">
                          <a:solidFill>
                            <a:srgbClr val="1B2333"/>
                          </a:solidFill>
                          <a:latin typeface="Arial"/>
                        </a:rPr>
                        <a:t> Talento Humano: Garantizar el cumplimiento de los procesos de </a:t>
                      </a:r>
                      <a:r>
                        <a:rPr sz="1000" b="1" i="0" u="sng" lang="es-SV">
                          <a:solidFill>
                            <a:srgbClr val="00376E"/>
                          </a:solidFill>
                          <a:latin typeface="Arial"/>
                        </a:rPr>
                        <a:t>reclutamiento,</a:t>
                      </a:r>
                      <a:r>
                        <a:rPr sz="1000" b="0" i="0" lang="es-SV">
                          <a:solidFill>
                            <a:srgbClr val="1B2333"/>
                          </a:solidFill>
                          <a:latin typeface="Arial"/>
                        </a:rPr>
                        <a:t> selección y contratación </a:t>
                      </a:r>
                      <a:r>
                        <a:rPr sz="1000" b="1" i="0" u="sng" lang="es-SV">
                          <a:solidFill>
                            <a:srgbClr val="00376E"/>
                          </a:solidFill>
                          <a:latin typeface="Arial"/>
                        </a:rPr>
                        <a:t>de</a:t>
                      </a:r>
                      <a:r>
                        <a:rPr sz="1000" b="0" i="0" lang="es-SV">
                          <a:solidFill>
                            <a:srgbClr val="1B2333"/>
                          </a:solidFill>
                          <a:latin typeface="Arial"/>
                        </a:rPr>
                        <a:t> personal.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Incluye la etapa de reclutamiento.</a:t>
                      </a:r>
                    </a:p>
                    <a:p>
                      <a:pPr algn="just"/>
                      <a:r>
                        <a:rPr sz="1000" b="1" i="0" lang="es-SV">
                          <a:solidFill>
                            <a:srgbClr val="00376E"/>
                          </a:solidFill>
                          <a:latin typeface="Arial"/>
                        </a:rPr>
                        <a:t>Redacción interna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13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Jefe de Auditoría Interna: Evaluar el cumplimiento al presente Manual.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Evaluar el cumplimiento </a:t>
                      </a:r>
                      <a:r>
                        <a:rPr sz="1000" b="1" i="0" u="sng" lang="es-SV">
                          <a:solidFill>
                            <a:srgbClr val="00376E"/>
                          </a:solidFill>
                          <a:latin typeface="Arial"/>
                        </a:rPr>
                        <a:t>a lo estipulado en</a:t>
                      </a:r>
                      <a:r>
                        <a:rPr sz="1000" b="0" i="0" lang="es-SV">
                          <a:solidFill>
                            <a:srgbClr val="1B2333"/>
                          </a:solidFill>
                          <a:latin typeface="Arial"/>
                        </a:rPr>
                        <a:t> el presente Manual.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Precisión de redacción.</a:t>
                      </a:r>
                    </a:p>
                    <a:p>
                      <a:pPr algn="just"/>
                      <a:r>
                        <a:rPr sz="1000" b="1" i="0" lang="es-SV">
                          <a:solidFill>
                            <a:srgbClr val="00376E"/>
                          </a:solidFill>
                          <a:latin typeface="Arial"/>
                        </a:rPr>
                        <a:t>NRP-20, art. 19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3" name="Rectángulo 12">
            <a:extLst>
              <a:ext uri="{FF2B5EF4-FFF2-40B4-BE49-F238E27FC236}">
                <a16:creationId xmlns:a16="http://schemas.microsoft.com/office/drawing/2014/main" id="{0A848043-3E64-98A8-7A75-B15A546BA49B}"/>
              </a:ext>
            </a:extLst>
          </p:cNvPr>
          <p:cNvSpPr/>
          <p:nvPr/>
        </p:nvSpPr>
        <p:spPr>
          <a:xfrm>
            <a:off x="548640" y="2713736"/>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2695448"/>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Política de la Gestión del Riesgo Reputacional</a:t>
            </a:r>
          </a:p>
        </p:txBody>
      </p:sp>
      <p:graphicFrame>
        <p:nvGraphicFramePr>
          <p:cNvPr id="16" name="Table 15"/>
          <p:cNvGraphicFramePr>
            <a:graphicFrameLocks noGrp="1"/>
          </p:cNvGraphicFramePr>
          <p:nvPr/>
        </p:nvGraphicFramePr>
        <p:xfrm>
          <a:off x="548640" y="3116072"/>
          <a:ext cx="11091672" cy="176936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(V03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(V04 propuesta)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Mejora y base normativa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14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POLITICA GENERAL DE LA GESTIÓN DEL RIESGO REPUTACIONAL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POLITICA </a:t>
                      </a:r>
                      <a:r>
                        <a:rPr sz="1000" b="1" i="0" u="sng" lang="es-SV">
                          <a:solidFill>
                            <a:srgbClr val="00376E"/>
                          </a:solidFill>
                          <a:latin typeface="Arial"/>
                        </a:rPr>
                        <a:t>DE</a:t>
                      </a:r>
                      <a:r>
                        <a:rPr sz="1000" b="0" i="0" lang="es-SV">
                          <a:solidFill>
                            <a:srgbClr val="1B2333"/>
                          </a:solidFill>
                          <a:latin typeface="Arial"/>
                        </a:rPr>
                        <a:t> LA GESTIÓN DEL RIESGO REPUTACIONAL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Se simplifica el título.</a:t>
                      </a:r>
                    </a:p>
                    <a:p>
                      <a:pPr algn="just"/>
                      <a:r>
                        <a:rPr sz="1000" b="1" i="0" lang="es-SV">
                          <a:solidFill>
                            <a:srgbClr val="00376E"/>
                          </a:solidFill>
                          <a:latin typeface="Arial"/>
                        </a:rPr>
                        <a:t>Redacción interna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Los miembros del Consejo de Administración… deberán salvaguardar la reputación de COMEDICA…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Los </a:t>
                      </a:r>
                      <a:r>
                        <a:rPr sz="1000" b="1" i="0" u="sng" lang="es-SV">
                          <a:solidFill>
                            <a:srgbClr val="00376E"/>
                          </a:solidFill>
                          <a:latin typeface="Arial"/>
                        </a:rPr>
                        <a:t>Directores</a:t>
                      </a:r>
                      <a:r>
                        <a:rPr sz="1000" b="0" i="0" lang="es-SV">
                          <a:solidFill>
                            <a:srgbClr val="1B2333"/>
                          </a:solidFill>
                          <a:latin typeface="Arial"/>
                        </a:rPr>
                        <a:t> del Consejo de Administración… deberán salvaguardar la reputación de COMEDICA </a:t>
                      </a:r>
                      <a:r>
                        <a:rPr sz="1000" b="1" i="0" u="sng" lang="es-SV">
                          <a:solidFill>
                            <a:srgbClr val="00376E"/>
                          </a:solidFill>
                          <a:latin typeface="Arial"/>
                        </a:rPr>
                        <a:t>de R.L.</a:t>
                      </a:r>
                      <a:r>
                        <a:rPr sz="1000" b="0" i="0" lang="es-SV">
                          <a:solidFill>
                            <a:srgbClr val="1B2333"/>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Denominación de los miembros del Consejo.</a:t>
                      </a:r>
                    </a:p>
                    <a:p>
                      <a:pPr algn="just"/>
                      <a:r>
                        <a:rPr sz="1000" b="1" i="0" lang="es-SV">
                          <a:solidFill>
                            <a:srgbClr val="00376E"/>
                          </a:solidFill>
                          <a:latin typeface="Arial"/>
                        </a:rPr>
                        <a:t>Redacción interna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El comportamiento de los empleados está normado por el Código de Conducta, Reglamento Interno de Trabajo y Política de Calidad, que complementan la cultura organizacional orientada a la satisfacción de nuestros asociados…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El comportamiento de los empleados está normado por el Código de Conducta </a:t>
                      </a:r>
                      <a:r>
                        <a:rPr sz="1000" b="1" i="0" u="sng" lang="es-SV">
                          <a:solidFill>
                            <a:srgbClr val="00376E"/>
                          </a:solidFill>
                          <a:latin typeface="Arial"/>
                        </a:rPr>
                        <a:t>y el</a:t>
                      </a:r>
                      <a:r>
                        <a:rPr sz="1000" b="0" i="0" lang="es-SV">
                          <a:solidFill>
                            <a:srgbClr val="1B2333"/>
                          </a:solidFill>
                          <a:latin typeface="Arial"/>
                        </a:rPr>
                        <a:t> Reglamento Interno de Trabajo, que complementan la cultura organizacional orientada a </a:t>
                      </a:r>
                      <a:r>
                        <a:rPr sz="1000" b="1" i="0" u="sng" lang="es-SV">
                          <a:solidFill>
                            <a:srgbClr val="00376E"/>
                          </a:solidFill>
                          <a:latin typeface="Arial"/>
                        </a:rPr>
                        <a:t>incrementar</a:t>
                      </a:r>
                      <a:r>
                        <a:rPr sz="1000" b="0" i="0" lang="es-SV">
                          <a:solidFill>
                            <a:srgbClr val="1B2333"/>
                          </a:solidFill>
                          <a:latin typeface="Arial"/>
                        </a:rPr>
                        <a:t> la satisfacción de nuestros asociados…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Se elimina la referencia a la Política de Calidad.</a:t>
                      </a:r>
                    </a:p>
                    <a:p>
                      <a:pPr algn="just"/>
                      <a:r>
                        <a:rPr sz="1000" b="1" i="0" lang="es-SV">
                          <a:solidFill>
                            <a:srgbClr val="00376E"/>
                          </a:solidFill>
                          <a:latin typeface="Arial"/>
                        </a:rPr>
                        <a:t>Redacción interna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Texto subrayado en azul</a:t>
            </a:r>
            <a:r>
              <a:rPr sz="1000" b="0" i="0" lang="es-SV">
                <a:solidFill>
                  <a:srgbClr val="5B6578"/>
                </a:solidFill>
                <a:latin typeface="Arial"/>
              </a:rPr>
              <a:t> = nuevo o modificado respecto a la versión vigente</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Identificación y Control del Riesgo Reputacional</a:t>
            </a:r>
          </a:p>
        </p:txBody>
      </p:sp>
      <p:graphicFrame>
        <p:nvGraphicFramePr>
          <p:cNvPr id="16" name="Table 15"/>
          <p:cNvGraphicFramePr>
            <a:graphicFrameLocks noGrp="1"/>
          </p:cNvGraphicFramePr>
          <p:nvPr/>
        </p:nvGraphicFramePr>
        <p:xfrm>
          <a:off x="548640" y="566928"/>
          <a:ext cx="11091672" cy="260756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(V03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(V04 propuesta)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Mejora y base normativa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17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Redes sociales: La información difundida en las redes sociales representa un riesgo difícil de controlar, ya que las críticas y los comentarios negativos pueden afectar rápidamente la percepción pública de COMEDICA de R.L. El informe elaborado por el Departamento de Mercadeo permite conocer únicamente una parte de la opinión que los usuarios expresan sobre la Cooperativa en estos medios.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Nueva fuente de riesgo reputacional identificada.</a:t>
                      </a:r>
                    </a:p>
                    <a:p>
                      <a:pPr algn="just"/>
                      <a:r>
                        <a:rPr sz="1000" b="1" i="0" lang="es-SV">
                          <a:solidFill>
                            <a:srgbClr val="00376E"/>
                          </a:solidFill>
                          <a:latin typeface="Arial"/>
                        </a:rPr>
                        <a:t>NRP-20, art. 6, lit. 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4. Denuncias por fraudes de tarjeta de crédito y débito: la Gerencia Legal y de Cumplimiento Normativo recibe correos de la Defensoría del Consumidor sobre denuncias por fraudes de tarjeta de crédito, y oficios de la Fiscalía General de la República por fraudes de tarjeta de crédito y de débito.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Nuevo control.</a:t>
                      </a:r>
                    </a:p>
                    <a:p>
                      <a:pPr algn="just"/>
                      <a:r>
                        <a:rPr sz="1000" b="1" i="0" lang="es-SV">
                          <a:solidFill>
                            <a:srgbClr val="00376E"/>
                          </a:solidFill>
                          <a:latin typeface="Arial"/>
                        </a:rPr>
                        <a:t>NRP-20, art. 6, lit. 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5. Denuncias por asesorías por sobreendeudamiento en créditos y tarjetas de crédito: la Jefatura del Departamento de Soluciones Financieras recibe denuncias interpuestas ante la Defensoría del Consumidor.</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Nuevo control.</a:t>
                      </a:r>
                    </a:p>
                    <a:p>
                      <a:pPr algn="just"/>
                      <a:r>
                        <a:rPr sz="1000" b="1" i="0" lang="es-SV">
                          <a:solidFill>
                            <a:srgbClr val="00376E"/>
                          </a:solidFill>
                          <a:latin typeface="Arial"/>
                        </a:rPr>
                        <a:t>NRP-20, art. 6, lit. 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3" name="Rectángulo 12">
            <a:extLst>
              <a:ext uri="{FF2B5EF4-FFF2-40B4-BE49-F238E27FC236}">
                <a16:creationId xmlns:a16="http://schemas.microsoft.com/office/drawing/2014/main" id="{0A848043-3E64-98A8-7A75-B15A546BA49B}"/>
              </a:ext>
            </a:extLst>
          </p:cNvPr>
          <p:cNvSpPr/>
          <p:nvPr/>
        </p:nvSpPr>
        <p:spPr>
          <a:xfrm>
            <a:off x="548640" y="3320796"/>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3302508"/>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Informe de casos de Riesgo Reputacional</a:t>
            </a:r>
          </a:p>
        </p:txBody>
      </p:sp>
      <p:graphicFrame>
        <p:nvGraphicFramePr>
          <p:cNvPr id="16" name="Table 15"/>
          <p:cNvGraphicFramePr>
            <a:graphicFrameLocks noGrp="1"/>
          </p:cNvGraphicFramePr>
          <p:nvPr/>
        </p:nvGraphicFramePr>
        <p:xfrm>
          <a:off x="548640" y="3723132"/>
          <a:ext cx="11091672" cy="246786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(V03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(V04 propuesta)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Mejora y base normativa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20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Gerente Legal y de Cumplimiento Normativo reportará en los primeros 10 días hábiles del mes siguiente las denuncias interpuestas por los tarjetahabientes ante la Defensoría del Consumidor por fraudes de tarjeta de crédito. De no existir, en el mismo plazo informará la no existencia.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Nuevo reporte mensual.</a:t>
                      </a:r>
                    </a:p>
                    <a:p>
                      <a:pPr algn="just"/>
                      <a:r>
                        <a:rPr sz="1000" b="1" i="0" lang="es-SV">
                          <a:solidFill>
                            <a:srgbClr val="00376E"/>
                          </a:solidFill>
                          <a:latin typeface="Arial"/>
                        </a:rPr>
                        <a:t>NRP-20, art. 17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21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Jefe del Departamento de Soluciones Financieras reportará en los primeros 10 días hábiles del mes siguiente las denuncias ante la Defensoría del Consumidor por asesorías por sobreendeudamiento en créditos y tarjetas de crédito. De no existir, en el mismo plazo informará la no existencia.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Nuevo reporte mensual.</a:t>
                      </a:r>
                    </a:p>
                    <a:p>
                      <a:pPr algn="just"/>
                      <a:r>
                        <a:rPr sz="1000" b="1" i="0" lang="es-SV">
                          <a:solidFill>
                            <a:srgbClr val="00376E"/>
                          </a:solidFill>
                          <a:latin typeface="Arial"/>
                        </a:rPr>
                        <a:t>NRP-20, art. 17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22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Los Miembros del Consejo de Administración… podrán informar… al correo riesgoreputacional@comedica.com.sv… Los informes recibidos se presentarán al Comité de Administración de Riesgos…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Los </a:t>
                      </a:r>
                      <a:r>
                        <a:rPr sz="1000" b="1" i="0" u="sng" lang="es-SV">
                          <a:solidFill>
                            <a:srgbClr val="00376E"/>
                          </a:solidFill>
                          <a:latin typeface="Arial"/>
                        </a:rPr>
                        <a:t>Directores</a:t>
                      </a:r>
                      <a:r>
                        <a:rPr sz="1000" b="0" i="0" lang="es-SV">
                          <a:solidFill>
                            <a:srgbClr val="1B2333"/>
                          </a:solidFill>
                          <a:latin typeface="Arial"/>
                        </a:rPr>
                        <a:t> del Consejo de Administración… podrán informar… al correo riesgoreputacional@comedica.com.sv… Los informes recibidos se presentarán al </a:t>
                      </a:r>
                      <a:r>
                        <a:rPr sz="1000" b="1" i="0" u="sng" lang="es-SV">
                          <a:solidFill>
                            <a:srgbClr val="00376E"/>
                          </a:solidFill>
                          <a:latin typeface="Arial"/>
                        </a:rPr>
                        <a:t>Comité de Riesgos</a:t>
                      </a:r>
                      <a:r>
                        <a:rPr sz="1000" b="0" i="0" lang="es-SV">
                          <a:solidFill>
                            <a:srgbClr val="1B2333"/>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Denominaciones vigentes.</a:t>
                      </a:r>
                    </a:p>
                    <a:p>
                      <a:pPr algn="just"/>
                      <a:r>
                        <a:rPr sz="1000" b="1" i="0" lang="es-SV">
                          <a:solidFill>
                            <a:srgbClr val="00376E"/>
                          </a:solidFill>
                          <a:latin typeface="Arial"/>
                        </a:rPr>
                        <a:t>NRP-20, art. 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5411B601-C91F-0BE0-090B-5C8396A9A9ED}"/>
              </a:ext>
            </a:extLst>
          </p:cNvPr>
          <p:cNvSpPr>
            <a:spLocks noGrp="1" noRot="1" noMove="1" noResize="1" noEditPoints="1" noAdjustHandles="1" noChangeArrowheads="1" noChangeShapeType="1"/>
          </p:cNvSpPr>
          <p:nvPr/>
        </p:nvSpPr>
        <p:spPr>
          <a:xfrm>
            <a:off x="-92149" y="-53163"/>
            <a:ext cx="12376298" cy="6964326"/>
          </a:xfrm>
          <a:prstGeom prst="rect">
            <a:avLst/>
          </a:prstGeom>
          <a:solidFill>
            <a:srgbClr val="00376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6" name="CuadroTexto 5">
            <a:extLst>
              <a:ext uri="{FF2B5EF4-FFF2-40B4-BE49-F238E27FC236}">
                <a16:creationId xmlns:a16="http://schemas.microsoft.com/office/drawing/2014/main" id="{BA87AA9B-702C-4456-A380-F08DF42DEF2C}"/>
              </a:ext>
            </a:extLst>
          </p:cNvPr>
          <p:cNvSpPr txBox="1"/>
          <p:nvPr/>
        </p:nvSpPr>
        <p:spPr>
          <a:xfrm>
            <a:off x="95250" y="50367"/>
            <a:ext cx="11763375" cy="523220"/>
          </a:xfrm>
          <a:prstGeom prst="rect">
            <a:avLst/>
          </a:prstGeom>
          <a:noFill/>
        </p:spPr>
        <p:txBody>
          <a:bodyPr wrap="square" rtlCol="0">
            <a:spAutoFit/>
          </a:bodyPr>
          <a:lstStyle/>
          <a:p>
            <a:pPr algn="ctr"/>
            <a:r>
              <a:rPr lang="es-SV" sz="2800" dirty="0">
                <a:solidFill>
                  <a:schemeClr val="bg1"/>
                </a:solidFill>
                <a:latin typeface="Century Gothic" panose="020B0502020202020204" pitchFamily="34" charset="0"/>
              </a:rPr>
              <a:t>Informes Relativo de Comités</a:t>
            </a:r>
            <a:endParaRPr lang="es-SV" sz="1000" dirty="0">
              <a:solidFill>
                <a:schemeClr val="bg1"/>
              </a:solidFill>
              <a:latin typeface="Century Gothic" panose="020B0502020202020204" pitchFamily="34" charset="0"/>
            </a:endParaRPr>
          </a:p>
        </p:txBody>
      </p:sp>
      <p:cxnSp>
        <p:nvCxnSpPr>
          <p:cNvPr id="8" name="Conector recto 7">
            <a:extLst>
              <a:ext uri="{FF2B5EF4-FFF2-40B4-BE49-F238E27FC236}">
                <a16:creationId xmlns:a16="http://schemas.microsoft.com/office/drawing/2014/main" id="{8F41098E-7291-4952-0707-562BC04ED036}"/>
              </a:ext>
            </a:extLst>
          </p:cNvPr>
          <p:cNvCxnSpPr>
            <a:cxnSpLocks/>
          </p:cNvCxnSpPr>
          <p:nvPr/>
        </p:nvCxnSpPr>
        <p:spPr>
          <a:xfrm>
            <a:off x="5986130" y="2695509"/>
            <a:ext cx="0" cy="146698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535680" y="677117"/>
            <a:ext cx="5120640" cy="731520"/>
          </a:xfrm>
          <a:prstGeom prst="rect">
            <a:avLst/>
          </a:prstGeom>
          <a:noFill/>
        </p:spPr>
        <p:txBody>
          <a:bodyPr wrap="square" lIns="0" tIns="0" rIns="0" bIns="0" anchor="t">
            <a:spAutoFit/>
          </a:bodyPr>
          <a:lstStyle/>
          <a:p>
            <a:pPr algn="r"/>
            <a:r>
              <a:rPr sz="1400" b="0" i="0" dirty="0" lang="es-SV">
                <a:solidFill>
                  <a:srgbClr val="DCE6F7"/>
                </a:solidFill>
                <a:latin typeface="Arial"/>
              </a:rPr>
              <a:t>Informe 2024 vigente → Informe 2026 propuesto · 187 cambios</a:t>
            </a:r>
            <a:endParaRPr sz="1400" b="0" i="0" dirty="0" lang="es-SV">
              <a:solidFill>
                <a:srgbClr val="DCE6F7"/>
              </a:solidFill>
              <a:latin typeface="Arial"/>
            </a:endParaRPr>
          </a:p>
        </p:txBody>
      </p:sp>
      <p:sp>
        <p:nvSpPr>
          <p:cNvPr id="10" name="CuadroTexto 9">
            <a:extLst>
              <a:ext uri="{FF2B5EF4-FFF2-40B4-BE49-F238E27FC236}">
                <a16:creationId xmlns:a16="http://schemas.microsoft.com/office/drawing/2014/main" id="{5130BB53-0534-134E-BA9E-A757F1B101AF}"/>
              </a:ext>
            </a:extLst>
          </p:cNvPr>
          <p:cNvSpPr txBox="1"/>
          <p:nvPr/>
        </p:nvSpPr>
        <p:spPr>
          <a:xfrm>
            <a:off x="386671" y="1326762"/>
            <a:ext cx="5120640" cy="5170646"/>
          </a:xfrm>
          <a:prstGeom prst="rect">
            <a:avLst/>
          </a:prstGeom>
          <a:noFill/>
        </p:spPr>
        <p:txBody>
          <a:bodyPr wrap="square">
            <a:spAutoFit/>
          </a:bodyPr>
          <a:lstStyle/>
          <a:p>
            <a:pPr marL="285750" indent="-285750">
              <a:spcBef>
                <a:spcPts val="1200"/>
              </a:spcBef>
              <a:spcAft>
                <a:spcPts val="12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COMITÉ DE CRÉDITOS</a:t>
            </a:r>
          </a:p>
          <a:p>
            <a:pPr marL="285750" indent="-285750">
              <a:spcBef>
                <a:spcPts val="1200"/>
              </a:spcBef>
              <a:spcAft>
                <a:spcPts val="12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COMITÉ DE EDUCACIÓN</a:t>
            </a:r>
          </a:p>
          <a:p>
            <a:pPr marL="285750" indent="-285750">
              <a:spcBef>
                <a:spcPts val="1200"/>
              </a:spcBef>
              <a:spcAft>
                <a:spcPts val="12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COMITÉ DE COBROS Y RECUPERACIÓN DE PRÉSTAMOS EN MORA</a:t>
            </a:r>
          </a:p>
          <a:p>
            <a:pPr marL="285750" indent="-285750">
              <a:spcBef>
                <a:spcPts val="1200"/>
              </a:spcBef>
              <a:spcAft>
                <a:spcPts val="12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COMITÉ DE FINANZAS</a:t>
            </a:r>
          </a:p>
          <a:p>
            <a:pPr marL="285750" indent="-285750">
              <a:spcBef>
                <a:spcPts val="1200"/>
              </a:spcBef>
              <a:spcAft>
                <a:spcPts val="12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COMITÉ DE AUDITORÍA</a:t>
            </a:r>
          </a:p>
          <a:p>
            <a:pPr marL="285750" indent="-285750">
              <a:spcBef>
                <a:spcPts val="1200"/>
              </a:spcBef>
              <a:spcAft>
                <a:spcPts val="12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COMITÉ DE RIESGOS</a:t>
            </a:r>
          </a:p>
          <a:p>
            <a:pPr marL="285750" indent="-285750">
              <a:spcBef>
                <a:spcPts val="1200"/>
              </a:spcBef>
              <a:spcAft>
                <a:spcPts val="12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COMITÉ DE JUNTA DE PREVENCIÓN LDA/FT/FPADM</a:t>
            </a:r>
          </a:p>
          <a:p>
            <a:pPr marL="285750" indent="-285750">
              <a:spcBef>
                <a:spcPts val="1200"/>
              </a:spcBef>
              <a:spcAft>
                <a:spcPts val="1200"/>
              </a:spcAft>
              <a:buAutoNum type="romanUcPeriod"/>
              <a:tabLst>
                <a:tab pos="270510" algn="l"/>
                <a:tab pos="5607050" algn="r"/>
              </a:tabLst>
            </a:pPr>
            <a:r>
              <a:rPr lang="es-SV" sz="1000" b="1" cap="all" dirty="0">
                <a:solidFill>
                  <a:schemeClr val="bg1"/>
                </a:solidFill>
                <a:effectLst/>
                <a:latin typeface="Arial" panose="020B0604020202020204" pitchFamily="34" charset="0"/>
                <a:ea typeface="MS Mincho" panose="02020609040205080304" pitchFamily="49" charset="-128"/>
                <a:cs typeface="Arial" panose="020B0604020202020204" pitchFamily="34" charset="0"/>
              </a:rPr>
              <a:t>COMITÉ DEL FONDO DE SOLIDARIDAD</a:t>
            </a:r>
          </a:p>
        </p:txBody>
      </p:sp>
      <p:sp>
        <p:nvSpPr>
          <p:cNvPr id="12" name="CuadroTexto 11">
            <a:extLst>
              <a:ext uri="{FF2B5EF4-FFF2-40B4-BE49-F238E27FC236}">
                <a16:creationId xmlns:a16="http://schemas.microsoft.com/office/drawing/2014/main" id="{2E2BAD01-8225-5C97-52AD-D32A37D5E27C}"/>
              </a:ext>
            </a:extLst>
          </p:cNvPr>
          <p:cNvSpPr txBox="1"/>
          <p:nvPr/>
        </p:nvSpPr>
        <p:spPr>
          <a:xfrm>
            <a:off x="6574819" y="1408637"/>
            <a:ext cx="5120640" cy="5170646"/>
          </a:xfrm>
          <a:prstGeom prst="rect">
            <a:avLst/>
          </a:prstGeom>
          <a:noFill/>
        </p:spPr>
        <p:txBody>
          <a:bodyPr wrap="square">
            <a:spAutoFit/>
          </a:bodyPr>
          <a:lstStyle/>
          <a:p>
            <a:pPr marL="285750" indent="-285750" algn="just">
              <a:spcBef>
                <a:spcPts val="1200"/>
              </a:spcBef>
              <a:spcAft>
                <a:spcPts val="12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COMITÉ DE CRÉDITOS</a:t>
            </a:r>
          </a:p>
          <a:p>
            <a:pPr marL="285750" indent="-285750" algn="just">
              <a:spcBef>
                <a:spcPts val="1200"/>
              </a:spcBef>
              <a:spcAft>
                <a:spcPts val="12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COMITÉ DE EDUCACIÓN</a:t>
            </a:r>
          </a:p>
          <a:p>
            <a:pPr marL="285750" indent="-285750" algn="just">
              <a:spcBef>
                <a:spcPts val="1200"/>
              </a:spcBef>
              <a:spcAft>
                <a:spcPts val="12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COMITÉ DE COBROS Y RECUPERACIÓN DE PRÉSTAMOS EN MORA</a:t>
            </a:r>
          </a:p>
          <a:p>
            <a:pPr marL="285750" indent="-285750" algn="just">
              <a:spcBef>
                <a:spcPts val="1200"/>
              </a:spcBef>
              <a:spcAft>
                <a:spcPts val="12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COMITÉ DE FINANZAS</a:t>
            </a:r>
          </a:p>
          <a:p>
            <a:pPr marL="285750" indent="-285750" algn="just">
              <a:spcBef>
                <a:spcPts val="1200"/>
              </a:spcBef>
              <a:spcAft>
                <a:spcPts val="12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COMITÉ DE AUDITORÍA</a:t>
            </a:r>
          </a:p>
          <a:p>
            <a:pPr marL="285750" indent="-285750" algn="just">
              <a:spcBef>
                <a:spcPts val="1200"/>
              </a:spcBef>
              <a:spcAft>
                <a:spcPts val="12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COMITÉ DE RIESGOS</a:t>
            </a:r>
          </a:p>
          <a:p>
            <a:pPr marL="285750" indent="-285750" algn="just">
              <a:spcBef>
                <a:spcPts val="1200"/>
              </a:spcBef>
              <a:spcAft>
                <a:spcPts val="12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COMITÉ DE JUNTA DE PREVENCIÓN LDA/FT/FPADM</a:t>
            </a:r>
          </a:p>
          <a:p>
            <a:pPr marL="285750" indent="-285750" algn="just">
              <a:spcBef>
                <a:spcPts val="1200"/>
              </a:spcBef>
              <a:spcAft>
                <a:spcPts val="12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COMITÉ DEL FONDO DE SOLIDARIDAD</a:t>
            </a:r>
          </a:p>
          <a:p>
            <a:pPr marL="285750" indent="-285750" algn="just">
              <a:spcBef>
                <a:spcPts val="1200"/>
              </a:spcBef>
              <a:spcAft>
                <a:spcPts val="1200"/>
              </a:spcAft>
              <a:buAutoNum type="romanUcPeriod"/>
              <a:tabLst>
                <a:tab pos="270510" algn="l"/>
                <a:tab pos="5607050" algn="r"/>
              </a:tabLst>
            </a:pPr>
            <a:r>
              <a:rPr lang="es-SV" sz="1000" b="1" cap="all" dirty="0">
                <a:solidFill>
                  <a:srgbClr val="FFFF00"/>
                </a:solidFill>
                <a:effectLst/>
                <a:latin typeface="Arial" panose="020B0604020202020204" pitchFamily="34" charset="0"/>
                <a:ea typeface="MS Mincho" panose="02020609040205080304" pitchFamily="49" charset="-128"/>
                <a:cs typeface="Arial" panose="020B0604020202020204" pitchFamily="34" charset="0"/>
              </a:rPr>
              <a:t>NORMAS GENERALES DE APLICACIÓN PARA TODOS LOS COMITÉS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Créditos (1 de 3)</a:t>
            </a:r>
          </a:p>
        </p:txBody>
      </p:sp>
      <p:graphicFrame>
        <p:nvGraphicFramePr>
          <p:cNvPr id="16" name="Table 15"/>
          <p:cNvGraphicFramePr>
            <a:graphicFrameLocks noGrp="1"/>
          </p:cNvGraphicFramePr>
          <p:nvPr/>
        </p:nvGraphicFramePr>
        <p:xfrm>
          <a:off x="548640" y="566928"/>
          <a:ext cx="11091672" cy="539140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Objetivos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c) </a:t>
                      </a:r>
                      <a:r>
                        <a:rPr sz="1000" b="0" i="0" strike="sngStrike" lang="es-SV">
                          <a:solidFill>
                            <a:srgbClr val="B3261E"/>
                          </a:solidFill>
                          <a:latin typeface="Arial"/>
                        </a:rPr>
                        <a:t>Regular y Agilizar</a:t>
                      </a:r>
                      <a:r>
                        <a:rPr sz="1000" b="0" i="0" lang="es-SV">
                          <a:solidFill>
                            <a:srgbClr val="1B2333"/>
                          </a:solidFill>
                          <a:latin typeface="Arial"/>
                        </a:rPr>
                        <a:t> en forma imparcial la tramitación de los créditos.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c) </a:t>
                      </a:r>
                      <a:r>
                        <a:rPr sz="1000" b="1" i="0" u="sng" lang="es-SV">
                          <a:solidFill>
                            <a:srgbClr val="00376E"/>
                          </a:solidFill>
                          <a:latin typeface="Arial"/>
                        </a:rPr>
                        <a:t>Agilizar y dar resolución</a:t>
                      </a:r>
                      <a:r>
                        <a:rPr sz="1000" b="0" i="0" lang="es-SV">
                          <a:solidFill>
                            <a:srgbClr val="1B2333"/>
                          </a:solidFill>
                          <a:latin typeface="Arial"/>
                        </a:rPr>
                        <a:t> en forma imparcial la tramitación de los créditos.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Objetivos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e) Actuar con prudencia, equidad, solidaridad e incentivar la amortización puntual de los créditos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e) Actuar con prudencia, equidad, solidaridad e incentivar la amortización puntual de los créditos, </a:t>
                      </a:r>
                      <a:r>
                        <a:rPr sz="1000" b="1" i="0" u="sng" lang="es-SV">
                          <a:solidFill>
                            <a:srgbClr val="00376E"/>
                          </a:solidFill>
                          <a:latin typeface="Arial"/>
                        </a:rPr>
                        <a:t>con el objetivo de mantener el buen crecimiento de la Cartera de Créditos y de Tarjeta.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b) Aprobar para cada solicitud, el monto, cuota, </a:t>
                      </a:r>
                      <a:r>
                        <a:rPr sz="1000" b="0" i="0" strike="sngStrike" lang="es-SV">
                          <a:solidFill>
                            <a:srgbClr val="B3261E"/>
                          </a:solidFill>
                          <a:latin typeface="Arial"/>
                        </a:rPr>
                        <a:t>,</a:t>
                      </a:r>
                      <a:r>
                        <a:rPr sz="1000" b="0" i="0" lang="es-SV">
                          <a:solidFill>
                            <a:srgbClr val="1B2333"/>
                          </a:solidFill>
                          <a:latin typeface="Arial"/>
                        </a:rPr>
                        <a:t> plazo de amortización, </a:t>
                      </a:r>
                      <a:r>
                        <a:rPr sz="1000" b="0" i="0" strike="sngStrike" lang="es-SV">
                          <a:solidFill>
                            <a:srgbClr val="B3261E"/>
                          </a:solidFill>
                          <a:latin typeface="Arial"/>
                        </a:rPr>
                        <a:t>garantía</a:t>
                      </a:r>
                      <a:r>
                        <a:rPr sz="1000" b="0" i="0" lang="es-SV">
                          <a:solidFill>
                            <a:srgbClr val="1B2333"/>
                          </a:solidFill>
                          <a:latin typeface="Arial"/>
                        </a:rPr>
                        <a:t> y naturaleza de </a:t>
                      </a:r>
                      <a:r>
                        <a:rPr sz="1000" b="0" i="0" strike="sngStrike" lang="es-SV">
                          <a:solidFill>
                            <a:srgbClr val="B3261E"/>
                          </a:solidFill>
                          <a:latin typeface="Arial"/>
                        </a:rPr>
                        <a:t>esta.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b) Aprobar para cada solicitud, el monto, cuota, </a:t>
                      </a:r>
                      <a:r>
                        <a:rPr sz="1000" b="1" i="0" u="sng" lang="es-SV">
                          <a:solidFill>
                            <a:srgbClr val="00376E"/>
                          </a:solidFill>
                          <a:latin typeface="Arial"/>
                        </a:rPr>
                        <a:t>y forma de pago,</a:t>
                      </a:r>
                      <a:r>
                        <a:rPr sz="1000" b="0" i="0" lang="es-SV">
                          <a:solidFill>
                            <a:srgbClr val="1B2333"/>
                          </a:solidFill>
                          <a:latin typeface="Arial"/>
                        </a:rPr>
                        <a:t> plazo de amortización, </a:t>
                      </a:r>
                      <a:r>
                        <a:rPr sz="1000" b="1" i="0" u="sng" lang="es-SV">
                          <a:solidFill>
                            <a:srgbClr val="00376E"/>
                          </a:solidFill>
                          <a:latin typeface="Arial"/>
                        </a:rPr>
                        <a:t>garantías</a:t>
                      </a:r>
                      <a:r>
                        <a:rPr sz="1000" b="0" i="0" lang="es-SV">
                          <a:solidFill>
                            <a:srgbClr val="1B2333"/>
                          </a:solidFill>
                          <a:latin typeface="Arial"/>
                        </a:rPr>
                        <a:t> y naturaleza de </a:t>
                      </a:r>
                      <a:r>
                        <a:rPr sz="1000" b="1" i="0" u="sng" lang="es-SV">
                          <a:solidFill>
                            <a:srgbClr val="00376E"/>
                          </a:solidFill>
                          <a:latin typeface="Arial"/>
                        </a:rPr>
                        <a:t>estas.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d) </a:t>
                      </a:r>
                      <a:r>
                        <a:rPr sz="1000" b="0" i="0" strike="sngStrike" lang="es-SV">
                          <a:solidFill>
                            <a:srgbClr val="B3261E"/>
                          </a:solidFill>
                          <a:latin typeface="Arial"/>
                        </a:rPr>
                        <a:t>Llevar y mantener actualizado el Libro de Actas</a:t>
                      </a:r>
                      <a:r>
                        <a:rPr sz="1000" b="0" i="0" lang="es-SV">
                          <a:solidFill>
                            <a:srgbClr val="1B2333"/>
                          </a:solidFill>
                          <a:latin typeface="Arial"/>
                        </a:rPr>
                        <a:t> de las sesiones </a:t>
                      </a:r>
                      <a:r>
                        <a:rPr sz="1000" b="0" i="0" strike="sngStrike" lang="es-SV">
                          <a:solidFill>
                            <a:srgbClr val="B3261E"/>
                          </a:solidFill>
                          <a:latin typeface="Arial"/>
                        </a:rPr>
                        <a:t>efectuadas.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d) De las sesiones </a:t>
                      </a:r>
                      <a:r>
                        <a:rPr sz="1000" b="1" i="0" u="sng" lang="es-SV">
                          <a:solidFill>
                            <a:srgbClr val="00376E"/>
                          </a:solidFill>
                          <a:latin typeface="Arial"/>
                        </a:rPr>
                        <a:t>que celebren en el Comité de Créditos se levantará acta. Las actas deberán ser levantadas de forma clara y detallada para comprender los fundamentos de los acuerdos tomados y de los temas conocidos. Se asentarán en el libro legal respectivo, bajo numeración secuencial.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f) Elaborar el Plan de trabajo anual y su respectivo presupuesto, y presentarlo al Consejo de Administración para su aprobación en el mes de Enero de cada año.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f) Elaborar el Plan de trabajo anual y su respectivo presupuesto, y presentarlo al Consejo de Administración para su aprobación, </a:t>
                      </a:r>
                      <a:r>
                        <a:rPr sz="1000" b="1" i="0" u="sng" lang="es-SV">
                          <a:solidFill>
                            <a:srgbClr val="00376E"/>
                          </a:solidFill>
                          <a:latin typeface="Arial"/>
                        </a:rPr>
                        <a:t>a más tardar</a:t>
                      </a:r>
                      <a:r>
                        <a:rPr sz="1000" b="0" i="0" lang="es-SV">
                          <a:solidFill>
                            <a:srgbClr val="1B2333"/>
                          </a:solidFill>
                          <a:latin typeface="Arial"/>
                        </a:rPr>
                        <a:t> en el mes de enero de cada año.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5"/>
                  </a:ext>
                </a:extLst>
              </a:tr>
              <a:tr h="228600">
                <a:tc>
                  <a:txBody>
                    <a:bodyPr/>
                    <a:lstStyle/>
                    <a:p>
                      <a:pPr algn="just"/>
                      <a:r>
                        <a:rPr sz="1000" b="1" i="0" lang="es-SV">
                          <a:solidFill>
                            <a:srgbClr val="00376E"/>
                          </a:solidFill>
                          <a:latin typeface="Arial"/>
                        </a:rPr>
                        <a:t>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g) Sugerir al Consejo de Administración, cambios en las Políticas de créditos, de acuerdo al entorno económico financiero </a:t>
                      </a:r>
                      <a:r>
                        <a:rPr sz="1000" b="0" i="0" strike="sngStrike" lang="es-SV">
                          <a:solidFill>
                            <a:srgbClr val="B3261E"/>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g) Sugerir al Consejo de Administración, cambios en las Políticas de créditos, de acuerdo al entorno económico financiero </a:t>
                      </a:r>
                      <a:r>
                        <a:rPr sz="1000" b="1" i="0" u="sng" lang="es-SV">
                          <a:solidFill>
                            <a:srgbClr val="00376E"/>
                          </a:solidFill>
                          <a:latin typeface="Arial"/>
                        </a:rPr>
                        <a:t>nacional.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i) Asistir a actividades de formación, capacitaciones y a todas aquellas que fuesen convocadas por el Consejo de Administración </a:t>
                      </a:r>
                      <a:r>
                        <a:rPr sz="1000" b="0" i="0" strike="sngStrike" lang="es-SV">
                          <a:solidFill>
                            <a:srgbClr val="B3261E"/>
                          </a:solidFill>
                          <a:latin typeface="Arial"/>
                        </a:rPr>
                        <a:t>.</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i) Asistir a actividades de formación, capacitaciones y a todas aquellas que fuesen convocadas por el Consejo de Administración </a:t>
                      </a:r>
                      <a:r>
                        <a:rPr sz="1000" b="1" i="0" u="sng" lang="es-SV">
                          <a:solidFill>
                            <a:srgbClr val="00376E"/>
                          </a:solidFill>
                          <a:latin typeface="Arial"/>
                        </a:rPr>
                        <a:t>y otras Unidades de la Cooperativa para mantenerse actualizados en temas financieros y marco regulatorio y en prevención de Lavado de Dinero y de Activos, Financiamiento al Terrorismo y la Financiación de la Proliferación de Armas de Destrucción Masiva.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k) Programar y participar en reuniones </a:t>
                      </a:r>
                      <a:r>
                        <a:rPr sz="1000" b="0" i="0" strike="sngStrike" lang="es-SV">
                          <a:solidFill>
                            <a:srgbClr val="B3261E"/>
                          </a:solidFill>
                          <a:latin typeface="Arial"/>
                        </a:rPr>
                        <a:t>trimestrales</a:t>
                      </a:r>
                      <a:r>
                        <a:rPr sz="1000" b="0" i="0" lang="es-SV">
                          <a:solidFill>
                            <a:srgbClr val="1B2333"/>
                          </a:solidFill>
                          <a:latin typeface="Arial"/>
                        </a:rPr>
                        <a:t> con el Comité de Cobros y Recuperación </a:t>
                      </a:r>
                      <a:r>
                        <a:rPr sz="1000" b="0" i="0" strike="sngStrike" lang="es-SV">
                          <a:solidFill>
                            <a:srgbClr val="B3261E"/>
                          </a:solidFill>
                          <a:latin typeface="Arial"/>
                        </a:rPr>
                        <a:t>de Mora, y con , el Departamento jurídico</a:t>
                      </a:r>
                      <a:r>
                        <a:rPr sz="1000" b="0" i="0" lang="es-SV">
                          <a:solidFill>
                            <a:srgbClr val="1B2333"/>
                          </a:solidFill>
                          <a:latin typeface="Arial"/>
                        </a:rPr>
                        <a:t> cuando sea indispensable.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k) Programar y participar en reuniones con el Comité de Cobros y Recuperación, </a:t>
                      </a:r>
                      <a:r>
                        <a:rPr sz="1000" b="1" i="0" u="sng" lang="es-SV">
                          <a:solidFill>
                            <a:srgbClr val="00376E"/>
                          </a:solidFill>
                          <a:latin typeface="Arial"/>
                        </a:rPr>
                        <a:t>y con las unidades de la Cooperativa,</a:t>
                      </a:r>
                      <a:r>
                        <a:rPr sz="1000" b="0" i="0" lang="es-SV">
                          <a:solidFill>
                            <a:srgbClr val="1B2333"/>
                          </a:solidFill>
                          <a:latin typeface="Arial"/>
                        </a:rPr>
                        <a:t> cuando sea indispensable.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Conformación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El Comité de Créditos </a:t>
                      </a:r>
                      <a:r>
                        <a:rPr sz="1000" b="0" i="0" strike="sngStrike" lang="es-SV">
                          <a:solidFill>
                            <a:srgbClr val="B3261E"/>
                          </a:solidFill>
                          <a:latin typeface="Arial"/>
                        </a:rPr>
                        <a:t>está</a:t>
                      </a:r>
                      <a:r>
                        <a:rPr sz="1000" b="0" i="0" lang="es-SV">
                          <a:solidFill>
                            <a:srgbClr val="1B2333"/>
                          </a:solidFill>
                          <a:latin typeface="Arial"/>
                        </a:rPr>
                        <a:t> integrado por un Presidente, un Secretario, un Vocal, Primero, </a:t>
                      </a:r>
                      <a:r>
                        <a:rPr sz="1000" b="0" i="0" strike="sngStrike" lang="es-SV">
                          <a:solidFill>
                            <a:srgbClr val="B3261E"/>
                          </a:solidFill>
                          <a:latin typeface="Arial"/>
                        </a:rPr>
                        <a:t>Segundo y Tercer</a:t>
                      </a:r>
                      <a:r>
                        <a:rPr sz="1000" b="0" i="0" lang="es-SV">
                          <a:solidFill>
                            <a:srgbClr val="1B2333"/>
                          </a:solidFill>
                          <a:latin typeface="Arial"/>
                        </a:rPr>
                        <a:t> Suplente nombrados por el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El Comité de Créditos </a:t>
                      </a:r>
                      <a:r>
                        <a:rPr sz="1000" b="1" i="0" u="sng" lang="es-SV">
                          <a:solidFill>
                            <a:srgbClr val="00376E"/>
                          </a:solidFill>
                          <a:latin typeface="Arial"/>
                        </a:rPr>
                        <a:t>estará</a:t>
                      </a:r>
                      <a:r>
                        <a:rPr sz="1000" b="0" i="0" lang="es-SV">
                          <a:solidFill>
                            <a:srgbClr val="1B2333"/>
                          </a:solidFill>
                          <a:latin typeface="Arial"/>
                        </a:rPr>
                        <a:t> integrado por un presidente, un secretario, un Vocal, Primero </a:t>
                      </a:r>
                      <a:r>
                        <a:rPr sz="1000" b="1" i="0" u="sng" lang="es-SV">
                          <a:solidFill>
                            <a:srgbClr val="00376E"/>
                          </a:solidFill>
                          <a:latin typeface="Arial"/>
                        </a:rPr>
                        <a:t>y Segundo</a:t>
                      </a:r>
                      <a:r>
                        <a:rPr sz="1000" b="0" i="0" lang="es-SV">
                          <a:solidFill>
                            <a:srgbClr val="1B2333"/>
                          </a:solidFill>
                          <a:latin typeface="Arial"/>
                        </a:rPr>
                        <a:t> Suplente nombrados por el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Créditos (2 de 3)</a:t>
            </a:r>
          </a:p>
        </p:txBody>
      </p:sp>
      <p:graphicFrame>
        <p:nvGraphicFramePr>
          <p:cNvPr id="16" name="Table 15"/>
          <p:cNvGraphicFramePr>
            <a:graphicFrameLocks noGrp="1"/>
          </p:cNvGraphicFramePr>
          <p:nvPr/>
        </p:nvGraphicFramePr>
        <p:xfrm>
          <a:off x="548640" y="566928"/>
          <a:ext cx="11091672" cy="576732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10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Conformación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El Consejo de Administración está facultado para nombrar los Suplentes que considere necesarios para lograr la eficiencia en la aprobación de los créditos. Por lo menos un miembro del Consejo de Administración deberá formar parte de dicho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Conformación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Los requisitos para ser miembro del Comité de Créditos se detallan en Anexo 3 del Código de Gobierno Corporativo.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a) El Comité se reunirá ordinariamente una vez por semana, a fin de resolver las solicitudes de créditos y </a:t>
                      </a:r>
                      <a:r>
                        <a:rPr sz="1000" b="0" i="0" strike="sngStrike" lang="es-SV">
                          <a:solidFill>
                            <a:srgbClr val="B3261E"/>
                          </a:solidFill>
                          <a:latin typeface="Arial"/>
                        </a:rPr>
                        <a:t>tarjeta de créditos</a:t>
                      </a:r>
                      <a:r>
                        <a:rPr sz="1000" b="0" i="0" lang="es-SV">
                          <a:solidFill>
                            <a:srgbClr val="1B2333"/>
                          </a:solidFill>
                          <a:latin typeface="Arial"/>
                        </a:rPr>
                        <a:t> y para desarrollar otras actividades o atribuciones establecidas por el Consejo de Administración; pudiendo sesionar de forma extraordinaria cuando las circunstancias lo ameriten.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a) El Comité se reunirá ordinariamente </a:t>
                      </a:r>
                      <a:r>
                        <a:rPr sz="1000" b="1" i="0" u="sng" lang="es-SV">
                          <a:solidFill>
                            <a:srgbClr val="00376E"/>
                          </a:solidFill>
                          <a:latin typeface="Arial"/>
                        </a:rPr>
                        <a:t>al menos</a:t>
                      </a:r>
                      <a:r>
                        <a:rPr sz="1000" b="0" i="0" lang="es-SV">
                          <a:solidFill>
                            <a:srgbClr val="1B2333"/>
                          </a:solidFill>
                          <a:latin typeface="Arial"/>
                        </a:rPr>
                        <a:t> una vez por semana a fin de resolver las solicitudes de créditos y </a:t>
                      </a:r>
                      <a:r>
                        <a:rPr sz="1000" b="1" i="0" u="sng" lang="es-SV">
                          <a:solidFill>
                            <a:srgbClr val="00376E"/>
                          </a:solidFill>
                          <a:latin typeface="Arial"/>
                        </a:rPr>
                        <a:t>tarjetas de crédito</a:t>
                      </a:r>
                      <a:r>
                        <a:rPr sz="1000" b="0" i="0" lang="es-SV">
                          <a:solidFill>
                            <a:srgbClr val="1B2333"/>
                          </a:solidFill>
                          <a:latin typeface="Arial"/>
                        </a:rPr>
                        <a:t> y para desarrollar otras actividades o atribuciones establecidas por el Consejo de Administración; pudiendo sesionar de forma extraordinaria cuando las circunstancias lo ameriten. </a:t>
                      </a:r>
                      <a:r>
                        <a:rPr sz="1000" b="1" i="0" u="sng" lang="es-SV">
                          <a:solidFill>
                            <a:srgbClr val="00376E"/>
                          </a:solidFill>
                          <a:latin typeface="Arial"/>
                        </a:rPr>
                        <a:t>Los suplentes concurrirán a las sesiones del Comité únicamente con voz, excepto cuando suplan a los propietarios en cuyo caso tendrán voto. La presencia de dos de sus miembros constituirá quórum, ya sea propietario o suplente. El secretario del Comité llevará el Libro de Actas respectivo y si en alguna sesión faltare y no están presentes los suplentes, hará sus veces el Vocal.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b) </a:t>
                      </a:r>
                      <a:r>
                        <a:rPr sz="1000" b="1" i="0" u="sng" lang="es-SV">
                          <a:solidFill>
                            <a:srgbClr val="00376E"/>
                          </a:solidFill>
                          <a:latin typeface="Arial"/>
                        </a:rPr>
                        <a:t>Las resoluciones de solicitudes de créditos que el Comité determine deberán ser firmadas por todos los miembros presentes en la sesión. En caso de que un miembro no esté de acuerdo en alguna resolución tomada por la mayoría deberá dejarlo consignado dando sus razonamientos.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c) </a:t>
                      </a:r>
                      <a:r>
                        <a:rPr sz="1000" b="1" i="0" u="sng" lang="es-SV">
                          <a:solidFill>
                            <a:srgbClr val="00376E"/>
                          </a:solidFill>
                          <a:latin typeface="Arial"/>
                        </a:rPr>
                        <a:t>Los análisis y resoluciones del Comité de Créditos, tomará como base la documentación presentada por el asociado y las instancias correspondientes, así como las opiniones de los analistas, jefe de Créditos y de las Gerencias; pudiendo solicitar información y opiniones adicionales.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d) </a:t>
                      </a:r>
                      <a:r>
                        <a:rPr sz="1000" b="1" i="0" u="sng" lang="es-SV">
                          <a:solidFill>
                            <a:srgbClr val="00376E"/>
                          </a:solidFill>
                          <a:latin typeface="Arial"/>
                        </a:rPr>
                        <a:t>El Comité recibirá la información necesaria para conocer las condiciones financieras, económicas y crediticias nacionales, que necesite para su mejor desempeño por lo que recibirá copia de: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 </a:t>
                      </a:r>
                      <a:r>
                        <a:rPr sz="1000" b="1" i="0" u="sng" lang="es-SV">
                          <a:solidFill>
                            <a:srgbClr val="00376E"/>
                          </a:solidFill>
                          <a:latin typeface="Arial"/>
                        </a:rPr>
                        <a:t>Todos los acuerdos y otras decisiones del Consejo de Administración que correspondan a Políticas, procedimientos y lineamientos sobre el proceso financiero y crediticio de COMEDICA de R.L.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Créditos (3 de 3)</a:t>
            </a:r>
          </a:p>
        </p:txBody>
      </p:sp>
      <p:graphicFrame>
        <p:nvGraphicFramePr>
          <p:cNvPr id="16" name="Table 15"/>
          <p:cNvGraphicFramePr>
            <a:graphicFrameLocks noGrp="1"/>
          </p:cNvGraphicFramePr>
          <p:nvPr/>
        </p:nvGraphicFramePr>
        <p:xfrm>
          <a:off x="548640" y="566928"/>
          <a:ext cx="11091672" cy="153822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17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 </a:t>
                      </a:r>
                      <a:r>
                        <a:rPr sz="1000" b="1" i="0" u="sng" lang="es-SV">
                          <a:solidFill>
                            <a:srgbClr val="00376E"/>
                          </a:solidFill>
                          <a:latin typeface="Arial"/>
                        </a:rPr>
                        <a:t>De las opiniones y observaciones que sobre la organización y funcionamiento del Comité de Créditos le haga la Junta de Vigilancia directamente o a través del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18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 </a:t>
                      </a:r>
                      <a:r>
                        <a:rPr sz="1000" b="1" i="0" u="sng" lang="es-SV">
                          <a:solidFill>
                            <a:srgbClr val="00376E"/>
                          </a:solidFill>
                          <a:latin typeface="Arial"/>
                        </a:rPr>
                        <a:t>Información sobre las condiciones de mora, así como de las variables de los usuarios en mora, que presenta las gerencias de la Cooperativa; y de los procesos en recuperación judicial de préstamos que el Comité de Cobros y Recuperación presente.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13" name="Rectángulo 12">
            <a:extLst>
              <a:ext uri="{FF2B5EF4-FFF2-40B4-BE49-F238E27FC236}">
                <a16:creationId xmlns:a16="http://schemas.microsoft.com/office/drawing/2014/main" id="{0A848043-3E64-98A8-7A75-B15A546BA49B}"/>
              </a:ext>
            </a:extLst>
          </p:cNvPr>
          <p:cNvSpPr/>
          <p:nvPr/>
        </p:nvSpPr>
        <p:spPr>
          <a:xfrm>
            <a:off x="548640" y="2251456"/>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2233168"/>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Educación (1 de 4)</a:t>
            </a:r>
          </a:p>
        </p:txBody>
      </p:sp>
      <p:graphicFrame>
        <p:nvGraphicFramePr>
          <p:cNvPr id="16" name="Table 15"/>
          <p:cNvGraphicFramePr>
            <a:graphicFrameLocks noGrp="1"/>
          </p:cNvGraphicFramePr>
          <p:nvPr/>
        </p:nvGraphicFramePr>
        <p:xfrm>
          <a:off x="548640" y="2653792"/>
          <a:ext cx="11091672" cy="325780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19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Objetivos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Promover y difundir de los servicios y beneficios de COMEDICA entre los asociados o los aspirantes a asociarse, así como de procurar la superación científica y cultural de los miembros de la Cooperativa.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Promover y difundir de los servicios y beneficios de COMEDICA </a:t>
                      </a:r>
                      <a:r>
                        <a:rPr sz="1000" b="1" i="0" u="sng" lang="es-SV">
                          <a:solidFill>
                            <a:srgbClr val="00376E"/>
                          </a:solidFill>
                          <a:latin typeface="Arial"/>
                        </a:rPr>
                        <a:t>de R.L.</a:t>
                      </a:r>
                      <a:r>
                        <a:rPr sz="1000" b="0" i="0" lang="es-SV">
                          <a:solidFill>
                            <a:srgbClr val="1B2333"/>
                          </a:solidFill>
                          <a:latin typeface="Arial"/>
                        </a:rPr>
                        <a:t> entre los asociados o los aspirantes a asociarse, así como de procurar la superación científica y cultural de los miembros de la Cooperativa.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20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a) Elaborar y someter al Consejo de Administración el Plan Anual de Trabajo y el Presupuesto correspondiente, para su aprobación durante los primeros quince días del mes de diciembre.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a) Elaborar y someter al Consejo de Administración el Plan Anual de Trabajo y el Presupuesto correspondiente, para su aprobación durante los primeros quince días del mes de diciembre </a:t>
                      </a:r>
                      <a:r>
                        <a:rPr sz="1000" b="1" i="0" u="sng" lang="es-SV">
                          <a:solidFill>
                            <a:srgbClr val="00376E"/>
                          </a:solidFill>
                          <a:latin typeface="Arial"/>
                        </a:rPr>
                        <a:t>de cada año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21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c) Organizar e impartir el Curso Básico de Cooperativismo, por lo menos una vez al mes, en San Salvador, y según demanda, en el interior del país. Los cursos se </a:t>
                      </a:r>
                      <a:r>
                        <a:rPr sz="1000" b="0" i="0" strike="sngStrike" lang="es-SV">
                          <a:solidFill>
                            <a:srgbClr val="B3261E"/>
                          </a:solidFill>
                          <a:latin typeface="Arial"/>
                        </a:rPr>
                        <a:t>realizaran</a:t>
                      </a:r>
                      <a:r>
                        <a:rPr sz="1000" b="0" i="0" lang="es-SV">
                          <a:solidFill>
                            <a:srgbClr val="1B2333"/>
                          </a:solidFill>
                          <a:latin typeface="Arial"/>
                        </a:rPr>
                        <a:t> de acuerdo a pedido expreso por parte de los aspirantes a asociarse; cuando su número así lo requiera, como apoyo al curso virtual en la página Web.</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c) Organizar e impartir el Curso Básico de Cooperativismo, por lo menos una vez al mes, en San Salvador, y según demanda, en el interior del país. Los cursos se </a:t>
                      </a:r>
                      <a:r>
                        <a:rPr sz="1000" b="1" i="0" u="sng" lang="es-SV">
                          <a:solidFill>
                            <a:srgbClr val="00376E"/>
                          </a:solidFill>
                          <a:latin typeface="Arial"/>
                        </a:rPr>
                        <a:t>realizarán</a:t>
                      </a:r>
                      <a:r>
                        <a:rPr sz="1000" b="0" i="0" lang="es-SV">
                          <a:solidFill>
                            <a:srgbClr val="1B2333"/>
                          </a:solidFill>
                          <a:latin typeface="Arial"/>
                        </a:rPr>
                        <a:t> de acuerdo a pedido expreso por parte de los aspirantes a asociarse; cuando su número así lo requiera, como apoyo al curso virtual en la página Web.</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22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i) Elaborar el Plan Anual de Capacitaciones de acuerdo a las necesidades y presupuesto asignado para ello, de los Cuerpos Directivos y Comités de COMEDICA </a:t>
                      </a:r>
                      <a:r>
                        <a:rPr sz="1000" b="0" i="0" strike="sngStrike" lang="es-SV">
                          <a:solidFill>
                            <a:srgbClr val="B3261E"/>
                          </a:solidFill>
                          <a:latin typeface="Arial"/>
                        </a:rPr>
                        <a:t>,</a:t>
                      </a:r>
                      <a:r>
                        <a:rPr sz="1000" b="0" i="0" lang="es-SV">
                          <a:solidFill>
                            <a:srgbClr val="1B2333"/>
                          </a:solidFill>
                          <a:latin typeface="Arial"/>
                        </a:rPr>
                        <a:t> coordinando estas actividades con el Plan de Capacitación de los funcionarios y empleados de COMEDICA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i) Elaborar el Plan Anual de Capacitaciones de acuerdo a las necesidades y presupuesto asignado para ello, de los Cuerpos Directivos y Comités de COMEDICA </a:t>
                      </a:r>
                      <a:r>
                        <a:rPr sz="1000" b="1" i="0" u="sng" lang="es-SV">
                          <a:solidFill>
                            <a:srgbClr val="00376E"/>
                          </a:solidFill>
                          <a:latin typeface="Arial"/>
                        </a:rPr>
                        <a:t>de R.L.,</a:t>
                      </a:r>
                      <a:r>
                        <a:rPr sz="1000" b="0" i="0" lang="es-SV">
                          <a:solidFill>
                            <a:srgbClr val="1B2333"/>
                          </a:solidFill>
                          <a:latin typeface="Arial"/>
                        </a:rPr>
                        <a:t> coordinando estas actividades con el Plan de Capacitación de los funcionarios y empleados de COMEDICA </a:t>
                      </a:r>
                      <a:r>
                        <a:rPr sz="1000" b="1" i="0" u="sng" lang="es-SV">
                          <a:solidFill>
                            <a:srgbClr val="00376E"/>
                          </a:solidFill>
                          <a:latin typeface="Arial"/>
                        </a:rPr>
                        <a:t>de R.L.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Educación (2 de 4)</a:t>
            </a:r>
          </a:p>
        </p:txBody>
      </p:sp>
      <p:graphicFrame>
        <p:nvGraphicFramePr>
          <p:cNvPr id="16" name="Table 15"/>
          <p:cNvGraphicFramePr>
            <a:graphicFrameLocks noGrp="1"/>
          </p:cNvGraphicFramePr>
          <p:nvPr/>
        </p:nvGraphicFramePr>
        <p:xfrm>
          <a:off x="548640" y="566928"/>
          <a:ext cx="11091672" cy="543966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23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Conformación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El Comité estará integrado por </a:t>
                      </a:r>
                      <a:r>
                        <a:rPr sz="1000" b="0" i="0" strike="sngStrike" lang="es-SV">
                          <a:solidFill>
                            <a:srgbClr val="B3261E"/>
                          </a:solidFill>
                          <a:latin typeface="Arial"/>
                        </a:rPr>
                        <a:t>un Presidente, un Secretario, un Vocal y un Suplente</a:t>
                      </a:r>
                      <a:r>
                        <a:rPr sz="1000" b="0" i="0" lang="es-SV">
                          <a:solidFill>
                            <a:srgbClr val="1B2333"/>
                          </a:solidFill>
                          <a:latin typeface="Arial"/>
                        </a:rPr>
                        <a:t> nombrados por el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El Comité estará integrado por: </a:t>
                      </a:r>
                      <a:r>
                        <a:rPr sz="1000" b="1" i="0" u="sng" lang="es-SV">
                          <a:solidFill>
                            <a:srgbClr val="00376E"/>
                          </a:solidFill>
                          <a:latin typeface="Arial"/>
                        </a:rPr>
                        <a:t>a) Un presidente quien dirigirá las sesiones y será el representante nato del Comité; b) un secretario, encargado de elaborar las actas de las sesiones y la correspondencia; y de llevar el control de gastos del fondo de educación. c) un Vocal, quien reemplazará al presidente o al secretario en caso de ausencia, y será el responsable del plan de capacitación, de su control y evaluación, d) Suplente, quien sustituirá al Vocal cuando éste se encuentre ausente o sustituyendo al presidente o al secretario y será el responsable de las publicaciones del Comité. Todos serán</a:t>
                      </a:r>
                      <a:r>
                        <a:rPr sz="1000" b="0" i="0" lang="es-SV">
                          <a:solidFill>
                            <a:srgbClr val="1B2333"/>
                          </a:solidFill>
                          <a:latin typeface="Arial"/>
                        </a:rPr>
                        <a:t> nombrados por el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24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Conformación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Los requisitos para ser miembro del Comité de Educación se detallan en Anexo 6 del Código de Gobierno Corporativo.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25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a) </a:t>
                      </a:r>
                      <a:r>
                        <a:rPr sz="1000" b="0" i="0" strike="sngStrike" lang="es-SV">
                          <a:solidFill>
                            <a:srgbClr val="B3261E"/>
                          </a:solidFill>
                          <a:latin typeface="Arial"/>
                        </a:rPr>
                        <a:t>Las sesiones del Comité de Educación son de dos clases: Ordinarias y Extraordinarias. Las ordinarias se celebran una vez por semana, el día, hora y lugar que se establezca de común acuerdo por los integrantes. Su duración dependerá de la agenda propuesta por el Secretario.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B3261E"/>
                          </a:solidFill>
                          <a:latin typeface="Arial"/>
                        </a:rPr>
                        <a:t>Se elimina.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B3261E"/>
                          </a:solidFill>
                          <a:latin typeface="Arial"/>
                        </a:rPr>
                        <a:t>Eliminado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26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b) </a:t>
                      </a:r>
                      <a:r>
                        <a:rPr sz="1000" b="1" i="0" u="sng" lang="es-SV">
                          <a:solidFill>
                            <a:srgbClr val="00376E"/>
                          </a:solidFill>
                          <a:latin typeface="Arial"/>
                        </a:rPr>
                        <a:t>Para ser válida la sesión se necesita que exista quórum con la presencia mínima de dos miembros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27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c) </a:t>
                      </a:r>
                      <a:r>
                        <a:rPr sz="1000" b="1" i="0" u="sng" lang="es-SV">
                          <a:solidFill>
                            <a:srgbClr val="00376E"/>
                          </a:solidFill>
                          <a:latin typeface="Arial"/>
                        </a:rPr>
                        <a:t>El desarrollo de la sesión del Comité estará regulado así: a) El presidente verificara el quórum y abre la sesión, b) El secretario propone la Agenda, la cual, una vez aprobada por consenso o mayoría simple, se procede a discusión.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28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d) </a:t>
                      </a:r>
                      <a:r>
                        <a:rPr sz="1000" b="1" i="0" u="sng" lang="es-SV">
                          <a:solidFill>
                            <a:srgbClr val="00376E"/>
                          </a:solidFill>
                          <a:latin typeface="Arial"/>
                        </a:rPr>
                        <a:t>En las sesiones cada uno de los Miembros del Comité de Educación dará un informe sobre sus funciones y asignaciones.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5"/>
                  </a:ext>
                </a:extLst>
              </a:tr>
              <a:tr h="228600">
                <a:tc>
                  <a:txBody>
                    <a:bodyPr/>
                    <a:lstStyle/>
                    <a:p>
                      <a:pPr algn="just"/>
                      <a:r>
                        <a:rPr sz="1000" b="1" i="0" lang="es-SV">
                          <a:solidFill>
                            <a:srgbClr val="00376E"/>
                          </a:solidFill>
                          <a:latin typeface="Arial"/>
                        </a:rPr>
                        <a:t>29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e) </a:t>
                      </a:r>
                      <a:r>
                        <a:rPr sz="1000" b="1" i="0" u="sng" lang="es-SV">
                          <a:solidFill>
                            <a:srgbClr val="00376E"/>
                          </a:solidFill>
                          <a:latin typeface="Arial"/>
                        </a:rPr>
                        <a:t>Sus resoluciones o acuerdos se tomarán por mayoría de votos y en caso de empate el presidente, o quien haga sus veces, tendrá doble voto.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30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f) </a:t>
                      </a:r>
                      <a:r>
                        <a:rPr sz="1000" b="1" i="0" u="sng" lang="es-SV">
                          <a:solidFill>
                            <a:srgbClr val="00376E"/>
                          </a:solidFill>
                          <a:latin typeface="Arial"/>
                        </a:rPr>
                        <a:t>En cada Agenda se incorporará el Ítem Puntos Varios, los cuales, si los hubiere, serán acordados antes del inicio de la sesión correspondiente.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Educación (3 de 4)</a:t>
            </a:r>
          </a:p>
        </p:txBody>
      </p:sp>
      <p:graphicFrame>
        <p:nvGraphicFramePr>
          <p:cNvPr id="16" name="Table 15"/>
          <p:cNvGraphicFramePr>
            <a:graphicFrameLocks noGrp="1"/>
          </p:cNvGraphicFramePr>
          <p:nvPr/>
        </p:nvGraphicFramePr>
        <p:xfrm>
          <a:off x="548640" y="566928"/>
          <a:ext cx="11091672" cy="530504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31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g) </a:t>
                      </a:r>
                      <a:r>
                        <a:rPr sz="1000" b="1" i="0" u="sng" lang="es-SV">
                          <a:solidFill>
                            <a:srgbClr val="00376E"/>
                          </a:solidFill>
                          <a:latin typeface="Arial"/>
                        </a:rPr>
                        <a:t>Cuando un miembro ya sea propietario o que haga las veces de éste, se integre a la sesión en el curso de un punto en discusión, podrá emitir su opinión, pero no tendrá voto hasta finalizar dicho punto. Integrándose de pleno inmediatamente después. Los integrantes propietarios del Comité tienen pleno derecho de voz y voto en las decisiones, y el miembro suplente tendrá derecho a voz, y solo en caso de sustituir a un propietario tendrá derecho a voto. El miembro representante de la Junta de Vigilancia, sí lo hubiere, tendrá derecho a voz, pero no a voto. El retiro de un miembro antes de finalizar la sesión deberá ser justificado y contar con la anuencia del presidente.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32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h) </a:t>
                      </a:r>
                      <a:r>
                        <a:rPr sz="1000" b="1" i="0" u="sng" lang="es-SV">
                          <a:solidFill>
                            <a:srgbClr val="00376E"/>
                          </a:solidFill>
                          <a:latin typeface="Arial"/>
                        </a:rPr>
                        <a:t>El presidente dirigirá la sesión y mantendrá el orden en la exposición de los puntos tratados. Dará la palabra en el orden solicitado regulando en todo momento la reunión.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33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i) </a:t>
                      </a:r>
                      <a:r>
                        <a:rPr sz="1000" b="1" i="0" u="sng" lang="es-SV">
                          <a:solidFill>
                            <a:srgbClr val="00376E"/>
                          </a:solidFill>
                          <a:latin typeface="Arial"/>
                        </a:rPr>
                        <a:t>En cada sesión, el presidente informará en lo pertinente al Comité, lo tratado en el Consejo de Administración. El secretario dará lectura al acta de la sesión anterior la cual será sometida a discusión para su aprobación y posterior impresión en Libro de Actas.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34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j) </a:t>
                      </a:r>
                      <a:r>
                        <a:rPr sz="1000" b="1" i="0" u="sng" lang="es-SV">
                          <a:solidFill>
                            <a:srgbClr val="00376E"/>
                          </a:solidFill>
                          <a:latin typeface="Arial"/>
                        </a:rPr>
                        <a:t>El Comité deliberará cada punto de la Agenda y resolverá lo conveniente de acuerdo a las estipulaciones legales. Todos los miembros asistentes serán responsables de los acuerdos y otras decisiones que tomen, excepto que dejen constancia en el acta de su voto negativo, razonándolo. Los acuerdos deberán codificarse para su mejor control y evaluación.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35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k) </a:t>
                      </a:r>
                      <a:r>
                        <a:rPr sz="1000" b="1" i="0" u="sng" lang="es-SV">
                          <a:solidFill>
                            <a:srgbClr val="00376E"/>
                          </a:solidFill>
                          <a:latin typeface="Arial"/>
                        </a:rPr>
                        <a:t>Las actas serán breves, concisas, y orientadas a recoger lo esencial de lo tratado en cada sesión, agregándose la documentación necesaria cuando fuese pertinente. Una vez impresas en el libro legal serán firmadas por el presidente, secretario y Vocal en el libro respectivo. El miembro suplente firmara las actas cuando actúe como propietario durante toda la sesión. Semanalmente se enviará copia del acta a la Junta de Vigilancia.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Educación (4 de 4)</a:t>
            </a:r>
          </a:p>
        </p:txBody>
      </p:sp>
      <p:graphicFrame>
        <p:nvGraphicFramePr>
          <p:cNvPr id="16" name="Table 15"/>
          <p:cNvGraphicFramePr>
            <a:graphicFrameLocks noGrp="1"/>
          </p:cNvGraphicFramePr>
          <p:nvPr/>
        </p:nvGraphicFramePr>
        <p:xfrm>
          <a:off x="548640" y="566928"/>
          <a:ext cx="11091672" cy="167792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36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l) </a:t>
                      </a:r>
                      <a:r>
                        <a:rPr sz="1000" b="1" i="0" u="sng" lang="es-SV">
                          <a:solidFill>
                            <a:srgbClr val="00376E"/>
                          </a:solidFill>
                          <a:latin typeface="Arial"/>
                        </a:rPr>
                        <a:t>Cuando sea conveniente se realizarán sesiones de trabajo conjuntas con otros Cuerpos Directivos o Personal Administrativo, según sean los puntos a tratar. La regulación de estas sesiones serán las mismas establecidas en este Reglamento.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37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m) </a:t>
                      </a:r>
                      <a:r>
                        <a:rPr sz="1000" b="1" i="0" u="sng" lang="es-SV">
                          <a:solidFill>
                            <a:srgbClr val="00376E"/>
                          </a:solidFill>
                          <a:latin typeface="Arial"/>
                        </a:rPr>
                        <a:t>El jefe del Departamento de Educación y Responsabilidad Social preparará la documentación necesaria, en coordinación con el secretario, y su participación en las sesiones estará sujeta a la naturaleza de los asuntos a tratar.</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3" name="Rectángulo 12">
            <a:extLst>
              <a:ext uri="{FF2B5EF4-FFF2-40B4-BE49-F238E27FC236}">
                <a16:creationId xmlns:a16="http://schemas.microsoft.com/office/drawing/2014/main" id="{0A848043-3E64-98A8-7A75-B15A546BA49B}"/>
              </a:ext>
            </a:extLst>
          </p:cNvPr>
          <p:cNvSpPr/>
          <p:nvPr/>
        </p:nvSpPr>
        <p:spPr>
          <a:xfrm>
            <a:off x="548640" y="2391156"/>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2372868"/>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Cobros y Recuperación de Préstamos en Mora (1 de 4)</a:t>
            </a:r>
          </a:p>
        </p:txBody>
      </p:sp>
      <p:graphicFrame>
        <p:nvGraphicFramePr>
          <p:cNvPr id="16" name="Table 15"/>
          <p:cNvGraphicFramePr>
            <a:graphicFrameLocks noGrp="1"/>
          </p:cNvGraphicFramePr>
          <p:nvPr/>
        </p:nvGraphicFramePr>
        <p:xfrm>
          <a:off x="548640" y="2793492"/>
          <a:ext cx="11091672" cy="330098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38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Objetivos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Proponer alternativas para mantener el índice de mora legal en rangos aceptables de acuerdo a los indicadores establecidos por la Superintendencia del Sistema Financiero y proponer soluciones a los Asociados con problemas de mora.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Proponer alternativas para mantener el índice de mora legal en rangos aceptables de acuerdo a los indicadores establecidos por la Superintendencia del Sistema Financiero y proponer soluciones a los Asociados </a:t>
                      </a:r>
                      <a:r>
                        <a:rPr sz="1000" b="1" i="0" u="sng" lang="es-SV">
                          <a:solidFill>
                            <a:srgbClr val="00376E"/>
                          </a:solidFill>
                          <a:latin typeface="Arial"/>
                        </a:rPr>
                        <a:t>y clientes</a:t>
                      </a:r>
                      <a:r>
                        <a:rPr sz="1000" b="0" i="0" lang="es-SV">
                          <a:solidFill>
                            <a:srgbClr val="1B2333"/>
                          </a:solidFill>
                          <a:latin typeface="Arial"/>
                        </a:rPr>
                        <a:t> con problemas de mora.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39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strike="sngStrike" lang="es-SV">
                          <a:solidFill>
                            <a:srgbClr val="B3261E"/>
                          </a:solidFill>
                          <a:latin typeface="Arial"/>
                        </a:rPr>
                        <a:t>Corresponde al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El comité de Cobros y Recuperación tendrá las responsabilidades siguientes: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40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b) Analizar, Discutir y Aprobar las propuestas de solución presentadas por el Departamento de </a:t>
                      </a:r>
                      <a:r>
                        <a:rPr sz="1000" b="0" i="0" strike="sngStrike" lang="es-SV">
                          <a:solidFill>
                            <a:srgbClr val="B3261E"/>
                          </a:solidFill>
                          <a:latin typeface="Arial"/>
                        </a:rPr>
                        <a:t>Cobros y Recuperación</a:t>
                      </a:r>
                      <a:r>
                        <a:rPr sz="1000" b="0" i="0" lang="es-SV">
                          <a:solidFill>
                            <a:srgbClr val="1B2333"/>
                          </a:solidFill>
                          <a:latin typeface="Arial"/>
                        </a:rPr>
                        <a:t> en relación a </a:t>
                      </a:r>
                      <a:r>
                        <a:rPr sz="1000" b="0" i="0" strike="sngStrike" lang="es-SV">
                          <a:solidFill>
                            <a:srgbClr val="B3261E"/>
                          </a:solidFill>
                          <a:latin typeface="Arial"/>
                        </a:rPr>
                        <a:t>los problemas de morosidad o dificultades de</a:t>
                      </a:r>
                      <a:r>
                        <a:rPr sz="1000" b="0" i="0" lang="es-SV">
                          <a:solidFill>
                            <a:srgbClr val="1B2333"/>
                          </a:solidFill>
                          <a:latin typeface="Arial"/>
                        </a:rPr>
                        <a:t> los asociados y clientes para cumplir con las obligaciones crediticias adquiridas con la cooperativa, </a:t>
                      </a:r>
                      <a:r>
                        <a:rPr sz="1000" b="0" i="0" strike="sngStrike" lang="es-SV">
                          <a:solidFill>
                            <a:srgbClr val="B3261E"/>
                          </a:solidFill>
                          <a:latin typeface="Arial"/>
                        </a:rPr>
                        <a:t>de acuerdo a su capacidad económica, sin afectar los intereses de la Cooperativa.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b) Analizar, Discutir y Aprobar las propuestas de solución presentadas por el Departamento de </a:t>
                      </a:r>
                      <a:r>
                        <a:rPr sz="1000" b="1" i="0" u="sng" lang="es-SV">
                          <a:solidFill>
                            <a:srgbClr val="00376E"/>
                          </a:solidFill>
                          <a:latin typeface="Arial"/>
                        </a:rPr>
                        <a:t>Soluciones Financieras</a:t>
                      </a:r>
                      <a:r>
                        <a:rPr sz="1000" b="0" i="0" lang="es-SV">
                          <a:solidFill>
                            <a:srgbClr val="1B2333"/>
                          </a:solidFill>
                          <a:latin typeface="Arial"/>
                        </a:rPr>
                        <a:t> en relación a </a:t>
                      </a:r>
                      <a:r>
                        <a:rPr sz="1000" b="1" i="0" u="sng" lang="es-SV">
                          <a:solidFill>
                            <a:srgbClr val="00376E"/>
                          </a:solidFill>
                          <a:latin typeface="Arial"/>
                        </a:rPr>
                        <a:t>las dificultades que presentan</a:t>
                      </a:r>
                      <a:r>
                        <a:rPr sz="1000" b="0" i="0" lang="es-SV">
                          <a:solidFill>
                            <a:srgbClr val="1B2333"/>
                          </a:solidFill>
                          <a:latin typeface="Arial"/>
                        </a:rPr>
                        <a:t> los asociados y clientes para cumplir con las obligaciones crediticias adquiridas con la cooperativa,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41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c) </a:t>
                      </a:r>
                      <a:r>
                        <a:rPr sz="1000" b="0" i="0" strike="sngStrike" lang="es-SV">
                          <a:solidFill>
                            <a:srgbClr val="B3261E"/>
                          </a:solidFill>
                          <a:latin typeface="Arial"/>
                        </a:rPr>
                        <a:t>Aprobar los casos que se trasladarán al cobro extrajudicial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c) </a:t>
                      </a:r>
                      <a:r>
                        <a:rPr sz="1000" b="1" i="0" u="sng" lang="es-SV">
                          <a:solidFill>
                            <a:srgbClr val="00376E"/>
                          </a:solidFill>
                          <a:latin typeface="Arial"/>
                        </a:rPr>
                        <a:t>Proponer alternativas de solución de los préstamos y tarjetas de crédito en mora.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42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d) Dar seguimiento a los casos que </a:t>
                      </a:r>
                      <a:r>
                        <a:rPr sz="1000" b="0" i="0" strike="sngStrike" lang="es-SV">
                          <a:solidFill>
                            <a:srgbClr val="B3261E"/>
                          </a:solidFill>
                          <a:latin typeface="Arial"/>
                        </a:rPr>
                        <a:t>han sido aprobados para ser trasladados a recuperación extrajudicial.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d) </a:t>
                      </a:r>
                      <a:r>
                        <a:rPr sz="1000" b="1" i="0" u="sng" lang="es-SV">
                          <a:solidFill>
                            <a:srgbClr val="00376E"/>
                          </a:solidFill>
                          <a:latin typeface="Arial"/>
                        </a:rPr>
                        <a:t>Aprobar y</a:t>
                      </a:r>
                      <a:r>
                        <a:rPr sz="1000" b="0" i="0" lang="es-SV">
                          <a:solidFill>
                            <a:srgbClr val="1B2333"/>
                          </a:solidFill>
                          <a:latin typeface="Arial"/>
                        </a:rPr>
                        <a:t> dar seguimiento a los casos que </a:t>
                      </a:r>
                      <a:r>
                        <a:rPr sz="1000" b="1" i="0" u="sng" lang="es-SV">
                          <a:solidFill>
                            <a:srgbClr val="00376E"/>
                          </a:solidFill>
                          <a:latin typeface="Arial"/>
                        </a:rPr>
                        <a:t>se trasladarán al cobro prejudicial.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5"/>
                  </a:ext>
                </a:extLst>
              </a:tr>
              <a:tr h="228600">
                <a:tc>
                  <a:txBody>
                    <a:bodyPr/>
                    <a:lstStyle/>
                    <a:p>
                      <a:pPr algn="just"/>
                      <a:r>
                        <a:rPr sz="1000" b="1" i="0" lang="es-SV">
                          <a:solidFill>
                            <a:srgbClr val="00376E"/>
                          </a:solidFill>
                          <a:latin typeface="Arial"/>
                        </a:rPr>
                        <a:t>43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e) </a:t>
                      </a:r>
                      <a:r>
                        <a:rPr sz="1000" b="0" i="0" strike="sngStrike" lang="es-SV">
                          <a:solidFill>
                            <a:srgbClr val="B3261E"/>
                          </a:solidFill>
                          <a:latin typeface="Arial"/>
                        </a:rPr>
                        <a:t>Aprobar</a:t>
                      </a:r>
                      <a:r>
                        <a:rPr sz="1000" b="0" i="0" lang="es-SV">
                          <a:solidFill>
                            <a:srgbClr val="1B2333"/>
                          </a:solidFill>
                          <a:latin typeface="Arial"/>
                        </a:rPr>
                        <a:t> los casos que </a:t>
                      </a:r>
                      <a:r>
                        <a:rPr sz="1000" b="0" i="0" strike="sngStrike" lang="es-SV">
                          <a:solidFill>
                            <a:srgbClr val="B3261E"/>
                          </a:solidFill>
                          <a:latin typeface="Arial"/>
                        </a:rPr>
                        <a:t>se trasladarán al cobro por la vía judicial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e) </a:t>
                      </a:r>
                      <a:r>
                        <a:rPr sz="1000" b="1" i="0" u="sng" lang="es-SV">
                          <a:solidFill>
                            <a:srgbClr val="00376E"/>
                          </a:solidFill>
                          <a:latin typeface="Arial"/>
                        </a:rPr>
                        <a:t>Dar seguimiento a</a:t>
                      </a:r>
                      <a:r>
                        <a:rPr sz="1000" b="0" i="0" lang="es-SV">
                          <a:solidFill>
                            <a:srgbClr val="1B2333"/>
                          </a:solidFill>
                          <a:latin typeface="Arial"/>
                        </a:rPr>
                        <a:t> los casos que </a:t>
                      </a:r>
                      <a:r>
                        <a:rPr sz="1000" b="1" i="0" u="sng" lang="es-SV">
                          <a:solidFill>
                            <a:srgbClr val="00376E"/>
                          </a:solidFill>
                          <a:latin typeface="Arial"/>
                        </a:rPr>
                        <a:t>han sido aprobados para ser trasladados a recuperación extrajudicial.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Cobros y Recuperación de Préstamos en Mora (2 de 4)</a:t>
            </a:r>
          </a:p>
        </p:txBody>
      </p:sp>
      <p:graphicFrame>
        <p:nvGraphicFramePr>
          <p:cNvPr id="16" name="Table 15"/>
          <p:cNvGraphicFramePr>
            <a:graphicFrameLocks noGrp="1"/>
          </p:cNvGraphicFramePr>
          <p:nvPr/>
        </p:nvGraphicFramePr>
        <p:xfrm>
          <a:off x="548640" y="566928"/>
          <a:ext cx="11091672" cy="534822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44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f) </a:t>
                      </a:r>
                      <a:r>
                        <a:rPr sz="1000" b="0" i="0" strike="sngStrike" lang="es-SV">
                          <a:solidFill>
                            <a:srgbClr val="B3261E"/>
                          </a:solidFill>
                          <a:latin typeface="Arial"/>
                        </a:rPr>
                        <a:t>Dar seguimiento mensual a los casos que han sido aprobados para ser trasladados a recuperación por la vía judicial en los últimos 30 días.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f) </a:t>
                      </a:r>
                      <a:r>
                        <a:rPr sz="1000" b="1" i="0" u="sng" lang="es-SV">
                          <a:solidFill>
                            <a:srgbClr val="00376E"/>
                          </a:solidFill>
                          <a:latin typeface="Arial"/>
                        </a:rPr>
                        <a:t>Llevar un Libro de Actas de las sesiones ordinarias y extraordinarias. Levantar un acta por cada sesión, la cual se leerá y ratificará en la próxima reunión para hacer los asientos respectivos. El Libro se deberá mantener debidamente actualizado.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45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g) </a:t>
                      </a:r>
                      <a:r>
                        <a:rPr sz="1000" b="0" i="0" strike="sngStrike" lang="es-SV">
                          <a:solidFill>
                            <a:srgbClr val="B3261E"/>
                          </a:solidFill>
                          <a:latin typeface="Arial"/>
                        </a:rPr>
                        <a:t>Revisar trimestralmente los avances de los casos de la cartera judicial.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g) </a:t>
                      </a:r>
                      <a:r>
                        <a:rPr sz="1000" b="1" i="0" u="sng" lang="es-SV">
                          <a:solidFill>
                            <a:srgbClr val="00376E"/>
                          </a:solidFill>
                          <a:latin typeface="Arial"/>
                        </a:rPr>
                        <a:t>Presentar al Consejo de Administración un informe mensual de sus actividades y, asimismo presentar un informe anual de labores al Consejo de Administración para que a su vez sea presentado a la Asamblea General de Asociados. De este Informe enviará copia a la Junta de Vigilancia.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46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h) </a:t>
                      </a:r>
                      <a:r>
                        <a:rPr sz="1000" b="0" i="0" strike="sngStrike" lang="es-SV">
                          <a:solidFill>
                            <a:srgbClr val="B3261E"/>
                          </a:solidFill>
                          <a:latin typeface="Arial"/>
                        </a:rPr>
                        <a:t>Llevar un Libro de Actas de las sesiones ordinarias y extraordinarias. Levantar un acta por cada sesión, la cual se leerá y ratificará en la próxima reunión para hacer los asientos respectivos. El Libro se deberá mantener debidamente actualizado.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h) </a:t>
                      </a:r>
                      <a:r>
                        <a:rPr sz="1000" b="1" i="0" u="sng" lang="es-SV">
                          <a:solidFill>
                            <a:srgbClr val="00376E"/>
                          </a:solidFill>
                          <a:latin typeface="Arial"/>
                        </a:rPr>
                        <a:t>Revisar el Reglamento y las Políticas para la recuperación, con el fin de proponer al Consejo de Administración los cambios necesarios.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47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i) </a:t>
                      </a:r>
                      <a:r>
                        <a:rPr sz="1000" b="0" i="0" strike="sngStrike" lang="es-SV">
                          <a:solidFill>
                            <a:srgbClr val="B3261E"/>
                          </a:solidFill>
                          <a:latin typeface="Arial"/>
                        </a:rPr>
                        <a:t>Presentar al</a:t>
                      </a:r>
                      <a:r>
                        <a:rPr sz="1000" b="0" i="0" lang="es-SV">
                          <a:solidFill>
                            <a:srgbClr val="1B2333"/>
                          </a:solidFill>
                          <a:latin typeface="Arial"/>
                        </a:rPr>
                        <a:t> Consejo de Administración </a:t>
                      </a:r>
                      <a:r>
                        <a:rPr sz="1000" b="0" i="0" strike="sngStrike" lang="es-SV">
                          <a:solidFill>
                            <a:srgbClr val="B3261E"/>
                          </a:solidFill>
                          <a:latin typeface="Arial"/>
                        </a:rPr>
                        <a:t>un informe mensual de sus actividades y, anualmente presentar un informe de labores para ser trasladado por el Consejo de Administración a la Asamblea General de Asociados donde podrá incluir las observaciones y recomendaciones que estime conveniente para el mejoramiento de sus funciones. De este Informe enviará copia a la Junta de Vigilancia.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i) </a:t>
                      </a:r>
                      <a:r>
                        <a:rPr sz="1000" b="1" i="0" u="sng" lang="es-SV">
                          <a:solidFill>
                            <a:srgbClr val="00376E"/>
                          </a:solidFill>
                          <a:latin typeface="Arial"/>
                        </a:rPr>
                        <a:t>Elaborar el Plan de trabajo anual y su respectivo presupuesto, a solicitud del</a:t>
                      </a:r>
                      <a:r>
                        <a:rPr sz="1000" b="0" i="0" lang="es-SV">
                          <a:solidFill>
                            <a:srgbClr val="1B2333"/>
                          </a:solidFill>
                          <a:latin typeface="Arial"/>
                        </a:rPr>
                        <a:t> Consejo de Administración </a:t>
                      </a:r>
                      <a:r>
                        <a:rPr sz="1000" b="1" i="0" u="sng" lang="es-SV">
                          <a:solidFill>
                            <a:srgbClr val="00376E"/>
                          </a:solidFill>
                          <a:latin typeface="Arial"/>
                        </a:rPr>
                        <a:t>para su aprobación.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48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j) </a:t>
                      </a:r>
                      <a:r>
                        <a:rPr sz="1000" b="0" i="0" strike="sngStrike" lang="es-SV">
                          <a:solidFill>
                            <a:srgbClr val="B3261E"/>
                          </a:solidFill>
                          <a:latin typeface="Arial"/>
                        </a:rPr>
                        <a:t>Revisar el Reglamento y las Políticas para la recuperación, con el fin de proponer al Consejo de Administración los cambios necesarios.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j) </a:t>
                      </a:r>
                      <a:r>
                        <a:rPr sz="1000" b="1" i="0" u="sng" lang="es-SV">
                          <a:solidFill>
                            <a:srgbClr val="00376E"/>
                          </a:solidFill>
                          <a:latin typeface="Arial"/>
                        </a:rPr>
                        <a:t>Cuando lo considere necesario, podrá programar y participar en reuniones conjuntas con el Comité de Créditos.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49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k) </a:t>
                      </a:r>
                      <a:r>
                        <a:rPr sz="1000" b="0" i="0" strike="sngStrike" lang="es-SV">
                          <a:solidFill>
                            <a:srgbClr val="B3261E"/>
                          </a:solidFill>
                          <a:latin typeface="Arial"/>
                        </a:rPr>
                        <a:t>Elaborar el Plan de trabajo anual y su respectivo presupuesto, y presentarlo al Consejo de Administración para su aprobación.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k) </a:t>
                      </a:r>
                      <a:r>
                        <a:rPr sz="1000" b="1" i="0" u="sng" lang="es-SV">
                          <a:solidFill>
                            <a:srgbClr val="00376E"/>
                          </a:solidFill>
                          <a:latin typeface="Arial"/>
                        </a:rPr>
                        <a:t>Solicitar al Departamento de Soluciones Financieras, reportes con relación al estado de la cartera, saldos en mora o cualquier otra información que considere necesaria.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50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l) </a:t>
                      </a:r>
                      <a:r>
                        <a:rPr sz="1000" b="0" i="0" strike="sngStrike" lang="es-SV">
                          <a:solidFill>
                            <a:srgbClr val="B3261E"/>
                          </a:solidFill>
                          <a:latin typeface="Arial"/>
                        </a:rPr>
                        <a:t>Programar y participar en reuniones conjuntas, semestralmente con el Comité de Créditos y cuando lo considere necesario podrá invitar a miembros de otros departamentos.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l) </a:t>
                      </a:r>
                      <a:r>
                        <a:rPr sz="1000" b="1" i="0" u="sng" lang="es-SV">
                          <a:solidFill>
                            <a:srgbClr val="00376E"/>
                          </a:solidFill>
                          <a:latin typeface="Arial"/>
                        </a:rPr>
                        <a:t>Dar seguimiento a los casos presentados por el Departamento de Soluciones Financieras al Comité, cuando así se ha programado en sesiones previas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Cobros y Recuperación de Préstamos en Mora (3 de 4)</a:t>
            </a:r>
          </a:p>
        </p:txBody>
      </p:sp>
      <p:graphicFrame>
        <p:nvGraphicFramePr>
          <p:cNvPr id="16" name="Table 15"/>
          <p:cNvGraphicFramePr>
            <a:graphicFrameLocks noGrp="1"/>
          </p:cNvGraphicFramePr>
          <p:nvPr/>
        </p:nvGraphicFramePr>
        <p:xfrm>
          <a:off x="548640" y="566928"/>
          <a:ext cx="11091672" cy="534822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51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m) </a:t>
                      </a:r>
                      <a:r>
                        <a:rPr sz="1000" b="0" i="0" strike="sngStrike" lang="es-SV">
                          <a:solidFill>
                            <a:srgbClr val="B3261E"/>
                          </a:solidFill>
                          <a:latin typeface="Arial"/>
                        </a:rPr>
                        <a:t>Conocer mensualmente o cuando lo considere necesario, los Reportes de mora, en la cual se detallará la antigüedad de la mora (ver políticas.)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B3261E"/>
                          </a:solidFill>
                          <a:latin typeface="Arial"/>
                        </a:rPr>
                        <a:t>Se elimina.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B3261E"/>
                          </a:solidFill>
                          <a:latin typeface="Arial"/>
                        </a:rPr>
                        <a:t>Eliminado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52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n) </a:t>
                      </a:r>
                      <a:r>
                        <a:rPr sz="1000" b="0" i="0" strike="sngStrike" lang="es-SV">
                          <a:solidFill>
                            <a:srgbClr val="B3261E"/>
                          </a:solidFill>
                          <a:latin typeface="Arial"/>
                        </a:rPr>
                        <a:t>Dar seguimiento calendarizado a los casos presentados por el Departamento de Cobros al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B3261E"/>
                          </a:solidFill>
                          <a:latin typeface="Arial"/>
                        </a:rPr>
                        <a:t>Se elimina.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B3261E"/>
                          </a:solidFill>
                          <a:latin typeface="Arial"/>
                        </a:rPr>
                        <a:t>Eliminado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53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Conformación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El Comité de Cobros y Recuperación </a:t>
                      </a:r>
                      <a:r>
                        <a:rPr sz="1000" b="0" i="0" strike="sngStrike" lang="es-SV">
                          <a:solidFill>
                            <a:srgbClr val="B3261E"/>
                          </a:solidFill>
                          <a:latin typeface="Arial"/>
                        </a:rPr>
                        <a:t>de Préstamos en Mora</a:t>
                      </a:r>
                      <a:r>
                        <a:rPr sz="1000" b="0" i="0" lang="es-SV">
                          <a:solidFill>
                            <a:srgbClr val="1B2333"/>
                          </a:solidFill>
                          <a:latin typeface="Arial"/>
                        </a:rPr>
                        <a:t> está integrado por cuatro miembros y un delegado de la Junta de Vigilancia en calidad de observador. El cargo de Presidente, será ocupado por un </a:t>
                      </a:r>
                      <a:r>
                        <a:rPr sz="1000" b="0" i="0" strike="sngStrike" lang="es-SV">
                          <a:solidFill>
                            <a:srgbClr val="B3261E"/>
                          </a:solidFill>
                          <a:latin typeface="Arial"/>
                        </a:rPr>
                        <a:t>miembro</a:t>
                      </a:r>
                      <a:r>
                        <a:rPr sz="1000" b="0" i="0" lang="es-SV">
                          <a:solidFill>
                            <a:srgbClr val="1B2333"/>
                          </a:solidFill>
                          <a:latin typeface="Arial"/>
                        </a:rPr>
                        <a:t> del Consejo de Administración, el Secretario, Vocal y Suplente, serán nombrados por el Consejo de Administración a propuesta del Presidente del Comité. El Representante de la Junta de Vigilancia será nombrado por ese cuerpo Directivo.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El Comité de Cobros y Recuperación está integrado por cuatro miembros y un delegado de la Junta de Vigilancia en calidad de observador. El cargo de presidente será ocupado por un </a:t>
                      </a:r>
                      <a:r>
                        <a:rPr sz="1000" b="1" i="0" u="sng" lang="es-SV">
                          <a:solidFill>
                            <a:srgbClr val="00376E"/>
                          </a:solidFill>
                          <a:latin typeface="Arial"/>
                        </a:rPr>
                        <a:t>director</a:t>
                      </a:r>
                      <a:r>
                        <a:rPr sz="1000" b="0" i="0" lang="es-SV">
                          <a:solidFill>
                            <a:srgbClr val="1B2333"/>
                          </a:solidFill>
                          <a:latin typeface="Arial"/>
                        </a:rPr>
                        <a:t> del Consejo de Administración, el secretario, Vocal y Suplente, serán nombrados por el Consejo de Administración a propuesta del presidente del Comité. El Representante de la Junta de Vigilancia será nombrado por ese cuerpo Directivo.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54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Conformación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Los requisitos para ser miembro del Comité de Cobros y Recuperación se detallan en Anexo 6 del Código de Gobierno Corporativo.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55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a) El Comité se reunirá ordinariamente una vez por semana a fin de analizar los casos presentados por el Departamento de </a:t>
                      </a:r>
                      <a:r>
                        <a:rPr sz="1000" b="0" i="0" strike="sngStrike" lang="es-SV">
                          <a:solidFill>
                            <a:srgbClr val="B3261E"/>
                          </a:solidFill>
                          <a:latin typeface="Arial"/>
                        </a:rPr>
                        <a:t>Cobros</a:t>
                      </a:r>
                      <a:r>
                        <a:rPr sz="1000" b="0" i="0" lang="es-SV">
                          <a:solidFill>
                            <a:srgbClr val="1B2333"/>
                          </a:solidFill>
                          <a:latin typeface="Arial"/>
                        </a:rPr>
                        <a:t> de la cartera de préstamos y tarjeta de crédito en donde se han agotado los esfuerzos de la gestión administrativa sin resultados concretos y que presentan </a:t>
                      </a:r>
                      <a:r>
                        <a:rPr sz="1000" b="0" i="0" strike="sngStrike" lang="es-SV">
                          <a:solidFill>
                            <a:srgbClr val="B3261E"/>
                          </a:solidFill>
                          <a:latin typeface="Arial"/>
                        </a:rPr>
                        <a:t>categoría de riesgo Deficientes,</a:t>
                      </a:r>
                      <a:r>
                        <a:rPr sz="1000" b="0" i="0" lang="es-SV">
                          <a:solidFill>
                            <a:srgbClr val="1B2333"/>
                          </a:solidFill>
                          <a:latin typeface="Arial"/>
                        </a:rPr>
                        <a:t> de Difícil Recuperación </a:t>
                      </a:r>
                      <a:r>
                        <a:rPr sz="1000" b="0" i="0" strike="sngStrike" lang="es-SV">
                          <a:solidFill>
                            <a:srgbClr val="B3261E"/>
                          </a:solidFill>
                          <a:latin typeface="Arial"/>
                        </a:rPr>
                        <a:t>e Irrecuperables; pudiendo</a:t>
                      </a:r>
                      <a:r>
                        <a:rPr sz="1000" b="0" i="0" lang="es-SV">
                          <a:solidFill>
                            <a:srgbClr val="1B2333"/>
                          </a:solidFill>
                          <a:latin typeface="Arial"/>
                        </a:rPr>
                        <a:t> sesionar de forma extraordinaria cuando las circunstancias lo ameriten.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a) El Comité se reunirá ordinariamente una vez por semana a fin de analizar los casos presentados por el Departamento de </a:t>
                      </a:r>
                      <a:r>
                        <a:rPr sz="1000" b="1" i="0" u="sng" lang="es-SV">
                          <a:solidFill>
                            <a:srgbClr val="00376E"/>
                          </a:solidFill>
                          <a:latin typeface="Arial"/>
                        </a:rPr>
                        <a:t>Soluciones Financieras</a:t>
                      </a:r>
                      <a:r>
                        <a:rPr sz="1000" b="0" i="0" lang="es-SV">
                          <a:solidFill>
                            <a:srgbClr val="1B2333"/>
                          </a:solidFill>
                          <a:latin typeface="Arial"/>
                        </a:rPr>
                        <a:t> de la cartera de préstamos y tarjeta de crédito en donde se han agotado los esfuerzos de la gestión administrativa, sin resultados concretos y que presentan </a:t>
                      </a:r>
                      <a:r>
                        <a:rPr sz="1000" b="1" i="0" u="sng" lang="es-SV">
                          <a:solidFill>
                            <a:srgbClr val="00376E"/>
                          </a:solidFill>
                          <a:latin typeface="Arial"/>
                        </a:rPr>
                        <a:t>un estado</a:t>
                      </a:r>
                      <a:r>
                        <a:rPr sz="1000" b="0" i="0" lang="es-SV">
                          <a:solidFill>
                            <a:srgbClr val="1B2333"/>
                          </a:solidFill>
                          <a:latin typeface="Arial"/>
                        </a:rPr>
                        <a:t> de difícil recuperación </a:t>
                      </a:r>
                      <a:r>
                        <a:rPr sz="1000" b="1" i="0" u="sng" lang="es-SV">
                          <a:solidFill>
                            <a:srgbClr val="00376E"/>
                          </a:solidFill>
                          <a:latin typeface="Arial"/>
                        </a:rPr>
                        <a:t>o irrecuperables; podrán</a:t>
                      </a:r>
                      <a:r>
                        <a:rPr sz="1000" b="0" i="0" lang="es-SV">
                          <a:solidFill>
                            <a:srgbClr val="1B2333"/>
                          </a:solidFill>
                          <a:latin typeface="Arial"/>
                        </a:rPr>
                        <a:t> sesionar de forma extraordinaria cuando las circunstancias lo ameriten.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56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b) </a:t>
                      </a:r>
                      <a:r>
                        <a:rPr sz="1000" b="1" i="0" u="sng" lang="es-SV">
                          <a:solidFill>
                            <a:srgbClr val="00376E"/>
                          </a:solidFill>
                          <a:latin typeface="Arial"/>
                        </a:rPr>
                        <a:t>La presencia de tres de sus miembros, propietarios o suplentes harán quórum, salvo causa justificada, todos deberán asistir a las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57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c) </a:t>
                      </a:r>
                      <a:r>
                        <a:rPr sz="1000" b="1" i="0" u="sng" lang="es-SV">
                          <a:solidFill>
                            <a:srgbClr val="00376E"/>
                          </a:solidFill>
                          <a:latin typeface="Arial"/>
                        </a:rPr>
                        <a:t>El jefe del Departamento de Soluciones Financieras es el responsable de presentar ante el Comité, los informes preparados por los ejecutivos con sus observaciones y recomendaciones. El Comité deberá tomar un acuerdo al respecto.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Cobros y Recuperación de Préstamos en Mora (4 de 4)</a:t>
            </a:r>
          </a:p>
        </p:txBody>
      </p:sp>
      <p:graphicFrame>
        <p:nvGraphicFramePr>
          <p:cNvPr id="16" name="Table 15"/>
          <p:cNvGraphicFramePr>
            <a:graphicFrameLocks noGrp="1"/>
          </p:cNvGraphicFramePr>
          <p:nvPr/>
        </p:nvGraphicFramePr>
        <p:xfrm>
          <a:off x="548640" y="566928"/>
          <a:ext cx="11091672" cy="283870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58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d) </a:t>
                      </a:r>
                      <a:r>
                        <a:rPr sz="1000" b="1" i="0" u="sng" lang="es-SV">
                          <a:solidFill>
                            <a:srgbClr val="00376E"/>
                          </a:solidFill>
                          <a:latin typeface="Arial"/>
                        </a:rPr>
                        <a:t>Las resoluciones tomadas por el Comité deberán ser firmadas por todos los miembros titulares (presidente, secretario y vocal) presentes en la sesión, o por el suplente cuando faltare alguno de ellos. En caso de que un miembro no esté de acuerdo en alguna resolución tomada por la mayoría, deberá dejarlo consignado en el acta respectiva, dando sus razonamientos.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59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e) </a:t>
                      </a:r>
                      <a:r>
                        <a:rPr sz="1000" b="1" i="0" u="sng" lang="es-SV">
                          <a:solidFill>
                            <a:srgbClr val="00376E"/>
                          </a:solidFill>
                          <a:latin typeface="Arial"/>
                        </a:rPr>
                        <a:t>El Comité tendrá la facultad de convocar a los deudores y codeudores, para que asistan a exponer su situación y proponer alternativas de solución.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60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f) </a:t>
                      </a:r>
                      <a:r>
                        <a:rPr sz="1000" b="1" i="0" u="sng" lang="es-SV">
                          <a:solidFill>
                            <a:srgbClr val="00376E"/>
                          </a:solidFill>
                          <a:latin typeface="Arial"/>
                        </a:rPr>
                        <a:t>La comunicación de los acuerdos del Comité se hará por escrito y serán firmados por el secretario, colocando el sello del Comité, se comunicarán al deudor y a sus codeudores, si hubiere. En los casos que sea necesario se comunicará a otros cuerpos directivos y entes relacionados.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61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g) </a:t>
                      </a:r>
                      <a:r>
                        <a:rPr sz="1000" b="1" i="0" u="sng" lang="es-SV">
                          <a:solidFill>
                            <a:srgbClr val="00376E"/>
                          </a:solidFill>
                          <a:latin typeface="Arial"/>
                        </a:rPr>
                        <a:t>Las certificaciones de acuerdos que se soliciten serán expedidas por el secretario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bl>
          </a:graphicData>
        </a:graphic>
      </p:graphicFrame>
      <p:sp>
        <p:nvSpPr>
          <p:cNvPr id="13" name="Rectángulo 12">
            <a:extLst>
              <a:ext uri="{FF2B5EF4-FFF2-40B4-BE49-F238E27FC236}">
                <a16:creationId xmlns:a16="http://schemas.microsoft.com/office/drawing/2014/main" id="{0A848043-3E64-98A8-7A75-B15A546BA49B}"/>
              </a:ext>
            </a:extLst>
          </p:cNvPr>
          <p:cNvSpPr/>
          <p:nvPr/>
        </p:nvSpPr>
        <p:spPr>
          <a:xfrm>
            <a:off x="548640" y="3551936"/>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3533648"/>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Finanzas (1 de 4)</a:t>
            </a:r>
          </a:p>
        </p:txBody>
      </p:sp>
      <p:graphicFrame>
        <p:nvGraphicFramePr>
          <p:cNvPr id="16" name="Table 15"/>
          <p:cNvGraphicFramePr>
            <a:graphicFrameLocks noGrp="1"/>
          </p:cNvGraphicFramePr>
          <p:nvPr/>
        </p:nvGraphicFramePr>
        <p:xfrm>
          <a:off x="548640" y="3954272"/>
          <a:ext cx="11091672" cy="214020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62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Objetivos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strike="sngStrike" lang="es-SV">
                          <a:solidFill>
                            <a:srgbClr val="B3261E"/>
                          </a:solidFill>
                          <a:latin typeface="Arial"/>
                        </a:rPr>
                        <a:t>El Comité de Finanzas tiene como finalidad</a:t>
                      </a:r>
                      <a:r>
                        <a:rPr sz="1000" b="0" i="0" lang="es-SV">
                          <a:solidFill>
                            <a:srgbClr val="1B2333"/>
                          </a:solidFill>
                          <a:latin typeface="Arial"/>
                        </a:rPr>
                        <a:t> lograr la efectiva y eficiente administración de los recursos financieros </a:t>
                      </a:r>
                      <a:r>
                        <a:rPr sz="1000" b="0" i="0" strike="sngStrike" lang="es-SV">
                          <a:solidFill>
                            <a:srgbClr val="B3261E"/>
                          </a:solidFill>
                          <a:latin typeface="Arial"/>
                        </a:rPr>
                        <a:t>de COMEDICA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Es responsable de</a:t>
                      </a:r>
                      <a:r>
                        <a:rPr sz="1000" b="0" i="0" lang="es-SV">
                          <a:solidFill>
                            <a:srgbClr val="1B2333"/>
                          </a:solidFill>
                          <a:latin typeface="Arial"/>
                        </a:rPr>
                        <a:t> lograr la efectiva y eficiente administración de los recursos financieros, </a:t>
                      </a:r>
                      <a:r>
                        <a:rPr sz="1000" b="1" i="0" u="sng" lang="es-SV">
                          <a:solidFill>
                            <a:srgbClr val="00376E"/>
                          </a:solidFill>
                          <a:latin typeface="Arial"/>
                        </a:rPr>
                        <a:t>y de evaluar el impacto financiero de las medidas de recuperación y la información utilizada para la toma de decisiones.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63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El Comité de Finanzas, tiene las siguientes atribuciones y 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El Comité de Finanzas </a:t>
                      </a:r>
                      <a:r>
                        <a:rPr sz="1000" b="1" i="0" u="sng" lang="es-SV">
                          <a:solidFill>
                            <a:srgbClr val="00376E"/>
                          </a:solidFill>
                          <a:latin typeface="Arial"/>
                        </a:rPr>
                        <a:t>y de Recuperación Financiera,</a:t>
                      </a:r>
                      <a:r>
                        <a:rPr sz="1000" b="0" i="0" lang="es-SV">
                          <a:solidFill>
                            <a:srgbClr val="1B2333"/>
                          </a:solidFill>
                          <a:latin typeface="Arial"/>
                        </a:rPr>
                        <a:t> tiene las siguientes atribuciones y 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64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j) </a:t>
                      </a:r>
                      <a:r>
                        <a:rPr sz="1000" b="0" i="0" strike="sngStrike" lang="es-SV">
                          <a:solidFill>
                            <a:srgbClr val="B3261E"/>
                          </a:solidFill>
                          <a:latin typeface="Arial"/>
                        </a:rPr>
                        <a:t>Evaluar políticas relacionadas con los seguros de la Cooperativa y pólizas de asociados.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j) </a:t>
                      </a:r>
                      <a:r>
                        <a:rPr sz="1000" b="1" i="0" u="sng" lang="es-SV">
                          <a:solidFill>
                            <a:srgbClr val="00376E"/>
                          </a:solidFill>
                          <a:latin typeface="Arial"/>
                        </a:rPr>
                        <a:t>Recomendar Líneas específicas de Crédito, para Saneamiento y Salvatajes.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65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k) </a:t>
                      </a:r>
                      <a:r>
                        <a:rPr sz="1000" b="0" i="0" strike="sngStrike" lang="es-SV">
                          <a:solidFill>
                            <a:srgbClr val="B3261E"/>
                          </a:solidFill>
                          <a:latin typeface="Arial"/>
                        </a:rPr>
                        <a:t>Analizar ofertas, negociar precios, términos y condiciones de Pólizas de Seguros Institucionales y de Asociados, y hacer recomendaciones al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k) </a:t>
                      </a:r>
                      <a:r>
                        <a:rPr sz="1000" b="1" i="0" u="sng" lang="es-SV">
                          <a:solidFill>
                            <a:srgbClr val="00376E"/>
                          </a:solidFill>
                          <a:latin typeface="Arial"/>
                        </a:rPr>
                        <a:t>Definir políticas para el cumplimiento de las reservas de Liquidez.</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Finanzas (2 de 4)</a:t>
            </a:r>
          </a:p>
        </p:txBody>
      </p:sp>
      <p:graphicFrame>
        <p:nvGraphicFramePr>
          <p:cNvPr id="16" name="Table 15"/>
          <p:cNvGraphicFramePr>
            <a:graphicFrameLocks noGrp="1"/>
          </p:cNvGraphicFramePr>
          <p:nvPr/>
        </p:nvGraphicFramePr>
        <p:xfrm>
          <a:off x="548640" y="566928"/>
          <a:ext cx="11091672" cy="5805423"/>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66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l) </a:t>
                      </a:r>
                      <a:r>
                        <a:rPr sz="1000" b="0" i="0" strike="sngStrike" lang="es-SV">
                          <a:solidFill>
                            <a:srgbClr val="B3261E"/>
                          </a:solidFill>
                          <a:latin typeface="Arial"/>
                        </a:rPr>
                        <a:t>Recomendar Líneas específicas de Crédito, para Saneamiento y Salvatajes.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l) </a:t>
                      </a:r>
                      <a:r>
                        <a:rPr sz="1000" b="1" i="0" u="sng" lang="es-SV">
                          <a:solidFill>
                            <a:srgbClr val="00376E"/>
                          </a:solidFill>
                          <a:latin typeface="Arial"/>
                        </a:rPr>
                        <a:t>Evaluar Estudios de Factibilidad para crear Agencias, ampliar servicios financieros o de inversiones.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5"/>
                  </a:ext>
                </a:extLst>
              </a:tr>
              <a:tr h="228600">
                <a:tc>
                  <a:txBody>
                    <a:bodyPr/>
                    <a:lstStyle/>
                    <a:p>
                      <a:pPr algn="just"/>
                      <a:r>
                        <a:rPr sz="1000" b="1" i="0" lang="es-SV">
                          <a:solidFill>
                            <a:srgbClr val="00376E"/>
                          </a:solidFill>
                          <a:latin typeface="Arial"/>
                        </a:rPr>
                        <a:t>67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m) </a:t>
                      </a:r>
                      <a:r>
                        <a:rPr sz="1000" b="0" i="0" strike="sngStrike" lang="es-SV">
                          <a:solidFill>
                            <a:srgbClr val="B3261E"/>
                          </a:solidFill>
                          <a:latin typeface="Arial"/>
                        </a:rPr>
                        <a:t>Definir políticas para el cumplimiento de las reservas de Liquidez.</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m) </a:t>
                      </a:r>
                      <a:r>
                        <a:rPr sz="1000" b="1" i="0" u="sng" lang="es-SV">
                          <a:solidFill>
                            <a:srgbClr val="00376E"/>
                          </a:solidFill>
                          <a:latin typeface="Arial"/>
                        </a:rPr>
                        <a:t>Proponer planes contingentes por liquidez o rentabilidad.</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6"/>
                  </a:ext>
                </a:extLst>
              </a:tr>
              <a:tr h="228600">
                <a:tc>
                  <a:txBody>
                    <a:bodyPr/>
                    <a:lstStyle/>
                    <a:p>
                      <a:pPr algn="just"/>
                      <a:r>
                        <a:rPr sz="1000" b="1" i="0" lang="es-SV">
                          <a:solidFill>
                            <a:srgbClr val="00376E"/>
                          </a:solidFill>
                          <a:latin typeface="Arial"/>
                        </a:rPr>
                        <a:t>68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n) Evaluar </a:t>
                      </a:r>
                      <a:r>
                        <a:rPr sz="1000" b="0" i="0" strike="sngStrike" lang="es-SV">
                          <a:solidFill>
                            <a:srgbClr val="B3261E"/>
                          </a:solidFill>
                          <a:latin typeface="Arial"/>
                        </a:rPr>
                        <a:t>Estudios de Factibilidad para crear Agencias, ampliar servicios financieros o de inversiones.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n) Evaluar </a:t>
                      </a:r>
                      <a:r>
                        <a:rPr sz="1000" b="1" i="0" u="sng" lang="es-SV">
                          <a:solidFill>
                            <a:srgbClr val="00376E"/>
                          </a:solidFill>
                          <a:latin typeface="Arial"/>
                        </a:rPr>
                        <a:t>Planes Contingentes para prevenir Fraudes en la Cooperativa.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69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o) </a:t>
                      </a:r>
                      <a:r>
                        <a:rPr sz="1000" b="0" i="0" strike="sngStrike" lang="es-SV">
                          <a:solidFill>
                            <a:srgbClr val="B3261E"/>
                          </a:solidFill>
                          <a:latin typeface="Arial"/>
                        </a:rPr>
                        <a:t>Proponer planes contingentes por liquidez o rentabilidad.</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o) </a:t>
                      </a:r>
                      <a:r>
                        <a:rPr sz="1000" b="1" i="0" u="sng" lang="es-SV">
                          <a:solidFill>
                            <a:srgbClr val="00376E"/>
                          </a:solidFill>
                          <a:latin typeface="Arial"/>
                        </a:rPr>
                        <a:t>Verificar cumplimiento de límites de los niveles de concentración por tipos de fondeo y/o proveedores individuales.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70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p) Evaluar </a:t>
                      </a:r>
                      <a:r>
                        <a:rPr sz="1000" b="0" i="0" strike="sngStrike" lang="es-SV">
                          <a:solidFill>
                            <a:srgbClr val="B3261E"/>
                          </a:solidFill>
                          <a:latin typeface="Arial"/>
                        </a:rPr>
                        <a:t>Planes Contingentes para prevenir Fraudes en</a:t>
                      </a:r>
                      <a:r>
                        <a:rPr sz="1000" b="0" i="0" lang="es-SV">
                          <a:solidFill>
                            <a:srgbClr val="1B2333"/>
                          </a:solidFill>
                          <a:latin typeface="Arial"/>
                        </a:rPr>
                        <a:t> la Cooperativa.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p) Evaluar </a:t>
                      </a:r>
                      <a:r>
                        <a:rPr sz="1000" b="1" i="0" u="sng" lang="es-SV">
                          <a:solidFill>
                            <a:srgbClr val="00376E"/>
                          </a:solidFill>
                          <a:latin typeface="Arial"/>
                        </a:rPr>
                        <a:t>políticas para minimizar los riesgos de</a:t>
                      </a:r>
                      <a:r>
                        <a:rPr sz="1000" b="0" i="0" lang="es-SV">
                          <a:solidFill>
                            <a:srgbClr val="1B2333"/>
                          </a:solidFill>
                          <a:latin typeface="Arial"/>
                        </a:rPr>
                        <a:t> la Cooperativa.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71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q) </a:t>
                      </a:r>
                      <a:r>
                        <a:rPr sz="1000" b="0" i="0" strike="sngStrike" lang="es-SV">
                          <a:solidFill>
                            <a:srgbClr val="B3261E"/>
                          </a:solidFill>
                          <a:latin typeface="Arial"/>
                        </a:rPr>
                        <a:t>Verificar cumplimiento de límites de los niveles de concentración por tipos de fondeo y/o proveedores individuales.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q) </a:t>
                      </a:r>
                      <a:r>
                        <a:rPr sz="1000" b="1" i="0" u="sng" lang="es-SV">
                          <a:solidFill>
                            <a:srgbClr val="00376E"/>
                          </a:solidFill>
                          <a:latin typeface="Arial"/>
                        </a:rPr>
                        <a:t>Evaluar, revisar y proponer al Consejo de Administración, el Plan de Recuperación y sus mejoras futuras;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72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r) </a:t>
                      </a:r>
                      <a:r>
                        <a:rPr sz="1000" b="0" i="0" strike="sngStrike" lang="es-SV">
                          <a:solidFill>
                            <a:srgbClr val="B3261E"/>
                          </a:solidFill>
                          <a:latin typeface="Arial"/>
                        </a:rPr>
                        <a:t>Evaluar políticas para minimizar los</a:t>
                      </a:r>
                      <a:r>
                        <a:rPr sz="1000" b="0" i="0" lang="es-SV">
                          <a:solidFill>
                            <a:srgbClr val="1B2333"/>
                          </a:solidFill>
                          <a:latin typeface="Arial"/>
                        </a:rPr>
                        <a:t> riesgos de la Cooperativa.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r) </a:t>
                      </a:r>
                      <a:r>
                        <a:rPr sz="1000" b="1" i="0" u="sng" lang="es-SV">
                          <a:solidFill>
                            <a:srgbClr val="00376E"/>
                          </a:solidFill>
                          <a:latin typeface="Arial"/>
                        </a:rPr>
                        <a:t>Proponer con fundamento razonado los ajustes necesarios al Plan de Recuperación o a los planes estratégicos y de negocio, según corresponda, a efecto de adecuarlos a la real situación económica y financiera y al perfil de</a:t>
                      </a:r>
                      <a:r>
                        <a:rPr sz="1000" b="0" i="0" lang="es-SV">
                          <a:solidFill>
                            <a:srgbClr val="1B2333"/>
                          </a:solidFill>
                          <a:latin typeface="Arial"/>
                        </a:rPr>
                        <a:t> riesgos de la Cooperativa;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5"/>
                  </a:ext>
                </a:extLst>
              </a:tr>
              <a:tr h="228600">
                <a:tc>
                  <a:txBody>
                    <a:bodyPr/>
                    <a:lstStyle/>
                    <a:p>
                      <a:pPr algn="just"/>
                      <a:r>
                        <a:rPr sz="1000" b="1" i="0" lang="es-SV">
                          <a:solidFill>
                            <a:srgbClr val="00376E"/>
                          </a:solidFill>
                          <a:latin typeface="Arial"/>
                        </a:rPr>
                        <a:t>73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s) </a:t>
                      </a:r>
                      <a:r>
                        <a:rPr sz="1000" b="0" i="0" strike="sngStrike" lang="es-SV">
                          <a:solidFill>
                            <a:srgbClr val="B3261E"/>
                          </a:solidFill>
                          <a:latin typeface="Arial"/>
                        </a:rPr>
                        <a:t>Informar al Consejo de Administración de los puntos tratados y Acuerdos en cada reunión.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s) </a:t>
                      </a:r>
                      <a:r>
                        <a:rPr sz="1000" b="1" i="0" u="sng" lang="es-SV">
                          <a:solidFill>
                            <a:srgbClr val="00376E"/>
                          </a:solidFill>
                          <a:latin typeface="Arial"/>
                        </a:rPr>
                        <a:t>Definir los indicadores cuantitativos y cualitativos objeto de seguimiento del Plan de Recuperación;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6"/>
                  </a:ext>
                </a:extLst>
              </a:tr>
              <a:tr h="228600">
                <a:tc>
                  <a:txBody>
                    <a:bodyPr/>
                    <a:lstStyle/>
                    <a:p>
                      <a:pPr algn="just"/>
                      <a:r>
                        <a:rPr sz="1000" b="1" i="0" lang="es-SV">
                          <a:solidFill>
                            <a:srgbClr val="00376E"/>
                          </a:solidFill>
                          <a:latin typeface="Arial"/>
                        </a:rPr>
                        <a:t>74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t) </a:t>
                      </a:r>
                      <a:r>
                        <a:rPr sz="1000" b="0" i="0" strike="sngStrike" lang="es-SV">
                          <a:solidFill>
                            <a:srgbClr val="B3261E"/>
                          </a:solidFill>
                          <a:latin typeface="Arial"/>
                        </a:rPr>
                        <a:t>Otras funciones y responsabilidad que le sean delegadas por el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t) </a:t>
                      </a:r>
                      <a:r>
                        <a:rPr sz="1000" b="1" i="0" u="sng" lang="es-SV">
                          <a:solidFill>
                            <a:srgbClr val="00376E"/>
                          </a:solidFill>
                          <a:latin typeface="Arial"/>
                        </a:rPr>
                        <a:t>Asegurar que se implementen las acciones correctivas requeridas en caso de que exista incumplimiento a los límites establecidos, con respecto al nivel de tolerancia al riesgo de liquidez asumido.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75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u) </a:t>
                      </a:r>
                      <a:r>
                        <a:rPr sz="1000" b="1" i="0" u="sng" lang="es-SV">
                          <a:solidFill>
                            <a:srgbClr val="00376E"/>
                          </a:solidFill>
                          <a:latin typeface="Arial"/>
                        </a:rPr>
                        <a:t>Velar por el cumplimiento de los requerimientos regulatorios en materia de planes de recuperación y atender los requerimientos de información por parte de la Superintendencia;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76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v) </a:t>
                      </a:r>
                      <a:r>
                        <a:rPr sz="1000" b="1" i="0" u="sng" lang="es-SV">
                          <a:solidFill>
                            <a:srgbClr val="00376E"/>
                          </a:solidFill>
                          <a:latin typeface="Arial"/>
                        </a:rPr>
                        <a:t>Evaluar la crisis de liquidez que se está implementando, decidir las acciones a seguir y monitorear los cambios en los escenarios para tomar acciones correctivas cuando sea necesario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77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w) </a:t>
                      </a:r>
                      <a:r>
                        <a:rPr sz="1000" b="1" i="0" u="sng" lang="es-SV">
                          <a:solidFill>
                            <a:srgbClr val="00376E"/>
                          </a:solidFill>
                          <a:latin typeface="Arial"/>
                        </a:rPr>
                        <a:t>Dar seguimiento al cumplimiento de algunas de las medidas del Plan de Recuperación de acuerdo al requerimiento de la Superintendencia;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Finanzas (3 de 4)</a:t>
            </a:r>
          </a:p>
        </p:txBody>
      </p:sp>
      <p:graphicFrame>
        <p:nvGraphicFramePr>
          <p:cNvPr id="16" name="Table 15"/>
          <p:cNvGraphicFramePr>
            <a:graphicFrameLocks noGrp="1"/>
          </p:cNvGraphicFramePr>
          <p:nvPr/>
        </p:nvGraphicFramePr>
        <p:xfrm>
          <a:off x="548640" y="566928"/>
          <a:ext cx="11091672" cy="492912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78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x) </a:t>
                      </a:r>
                      <a:r>
                        <a:rPr sz="1000" b="1" i="0" u="sng" lang="es-SV">
                          <a:solidFill>
                            <a:srgbClr val="00376E"/>
                          </a:solidFill>
                          <a:latin typeface="Arial"/>
                        </a:rPr>
                        <a:t>Recomendar al Consejo de Administración, la activación o modificación de los mecanismos de atención de la contingencia de liquidez;</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5"/>
                  </a:ext>
                </a:extLst>
              </a:tr>
              <a:tr h="228600">
                <a:tc>
                  <a:txBody>
                    <a:bodyPr/>
                    <a:lstStyle/>
                    <a:p>
                      <a:pPr algn="just"/>
                      <a:r>
                        <a:rPr sz="1000" b="1" i="0" lang="es-SV">
                          <a:solidFill>
                            <a:srgbClr val="00376E"/>
                          </a:solidFill>
                          <a:latin typeface="Arial"/>
                        </a:rPr>
                        <a:t>79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y) </a:t>
                      </a:r>
                      <a:r>
                        <a:rPr sz="1000" b="1" i="0" u="sng" lang="es-SV">
                          <a:solidFill>
                            <a:srgbClr val="00376E"/>
                          </a:solidFill>
                          <a:latin typeface="Arial"/>
                        </a:rPr>
                        <a:t>Informar al Consejo de Administración de los puntos tratados y Acuerdos en cada reunión.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80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z) </a:t>
                      </a:r>
                      <a:r>
                        <a:rPr sz="1000" b="1" i="0" u="sng" lang="es-SV">
                          <a:solidFill>
                            <a:srgbClr val="00376E"/>
                          </a:solidFill>
                          <a:latin typeface="Arial"/>
                        </a:rPr>
                        <a:t>Otras funciones y responsabilidad que le sean delegadas por el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81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Conformación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El comité estará integrado por los siguientes cargos: del Consejo de Administración, Presidente, Tesorero, Vocal y director que se desempeñe como presidente del Comité de Créditos; de la Junta de Vigilancia, Presidente y Secretario; Gerente General o su delegado, el Gerente de Finanzas y Planificación y el Gerente de Operaciones.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El Comité estará integrado por los siguientes cargos: del Consejo de Administración, Presidente, Tesorero, Vocal y Director que se desempeñe como Presidente del Comité de Créditos; de la Junta de Vigilancia, Presidente y Secretario; Gerente General o su delegado, el Gerente de Finanzas y Planificación, </a:t>
                      </a:r>
                      <a:r>
                        <a:rPr sz="1000" b="1" i="0" u="sng" lang="es-SV">
                          <a:solidFill>
                            <a:srgbClr val="00376E"/>
                          </a:solidFill>
                          <a:latin typeface="Arial"/>
                        </a:rPr>
                        <a:t>Gerente de Negocios</a:t>
                      </a:r>
                      <a:r>
                        <a:rPr sz="1000" b="0" i="0" lang="es-SV">
                          <a:solidFill>
                            <a:srgbClr val="1B2333"/>
                          </a:solidFill>
                          <a:latin typeface="Arial"/>
                        </a:rPr>
                        <a:t> y el Gerente de Operaciones.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82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Conformación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El Comité será presidido por el Presidente del Consejo de Administración y en su ausencia por el Tesorero, las actas serán levantadas por el Gerente de Finanzas y Planificación. El plazo del ejercicio para miembros directivos será de tres años, o por el período que se encuentren desempeñando dichos cargos en los respectivos Cuerpos Directivos y para miembros del personal administrativo el periodo que se encuentren fungiendo como responsables de los puestos señalados.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83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Conformación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Los requisitos para ser miembro del Comité de Finanzas y de Recuperación Financiera se detallan en Anexo 6 del Código de Gobierno Corporativo.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84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a) El Comité de Finanzas, </a:t>
                      </a:r>
                      <a:r>
                        <a:rPr sz="1000" b="0" i="0" strike="sngStrike" lang="es-SV">
                          <a:solidFill>
                            <a:srgbClr val="B3261E"/>
                          </a:solidFill>
                          <a:latin typeface="Arial"/>
                        </a:rPr>
                        <a:t>se reunirá al menos</a:t>
                      </a:r>
                      <a:r>
                        <a:rPr sz="1000" b="0" i="0" lang="es-SV">
                          <a:solidFill>
                            <a:srgbClr val="1B2333"/>
                          </a:solidFill>
                          <a:latin typeface="Arial"/>
                        </a:rPr>
                        <a:t> una vez al mes para dar seguimiento a las actividades relacionadas con la gestión financiera.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a) El Comité de Finanzas </a:t>
                      </a:r>
                      <a:r>
                        <a:rPr sz="1000" b="1" i="0" u="sng" lang="es-SV">
                          <a:solidFill>
                            <a:srgbClr val="00376E"/>
                          </a:solidFill>
                          <a:latin typeface="Arial"/>
                        </a:rPr>
                        <a:t>y de Recuperación Financiera, se reunirá</a:t>
                      </a:r>
                      <a:r>
                        <a:rPr sz="1000" b="0" i="0" lang="es-SV">
                          <a:solidFill>
                            <a:srgbClr val="1B2333"/>
                          </a:solidFill>
                          <a:latin typeface="Arial"/>
                        </a:rPr>
                        <a:t> una vez al mes </a:t>
                      </a:r>
                      <a:r>
                        <a:rPr sz="1000" b="1" i="0" u="sng" lang="es-SV">
                          <a:solidFill>
                            <a:srgbClr val="00376E"/>
                          </a:solidFill>
                          <a:latin typeface="Arial"/>
                        </a:rPr>
                        <a:t>o por lo menos una vez cada trimestre</a:t>
                      </a:r>
                      <a:r>
                        <a:rPr sz="1000" b="0" i="0" lang="es-SV">
                          <a:solidFill>
                            <a:srgbClr val="1B2333"/>
                          </a:solidFill>
                          <a:latin typeface="Arial"/>
                        </a:rPr>
                        <a:t> para dar seguimiento a las actividades relacionadas con la gestión financiera. </a:t>
                      </a:r>
                      <a:r>
                        <a:rPr sz="1000" b="1" i="0" u="sng" lang="es-SV">
                          <a:solidFill>
                            <a:srgbClr val="00376E"/>
                          </a:solidFill>
                          <a:latin typeface="Arial"/>
                        </a:rPr>
                        <a:t>Reportará directamente al Consejo de Administración, con copia a la Junta de Vigilancia y Gerente General.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Finanzas (4 de 4)</a:t>
            </a:r>
          </a:p>
        </p:txBody>
      </p:sp>
      <p:graphicFrame>
        <p:nvGraphicFramePr>
          <p:cNvPr id="16" name="Table 15"/>
          <p:cNvGraphicFramePr>
            <a:graphicFrameLocks noGrp="1"/>
          </p:cNvGraphicFramePr>
          <p:nvPr/>
        </p:nvGraphicFramePr>
        <p:xfrm>
          <a:off x="548640" y="566928"/>
          <a:ext cx="11091672" cy="455828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85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b) </a:t>
                      </a:r>
                      <a:r>
                        <a:rPr sz="1000" b="1" i="0" u="sng" lang="es-SV">
                          <a:solidFill>
                            <a:srgbClr val="00376E"/>
                          </a:solidFill>
                          <a:latin typeface="Arial"/>
                        </a:rPr>
                        <a:t>Para las reuniones ordinarias, el Gerente de Finanzas y Planificación a requerimiento del Presidente del Consejo de Administración o en su defecto por el Tesorero, convocará por medio escrito, electrónico o llamada telefónica a cada uno de los miembros del Comité con al menos dos días hábiles de anticipación, salvo excepciones que ameriten reunión de carácter urgente.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86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c) </a:t>
                      </a:r>
                      <a:r>
                        <a:rPr sz="1000" b="1" i="0" u="sng" lang="es-SV">
                          <a:solidFill>
                            <a:srgbClr val="00376E"/>
                          </a:solidFill>
                          <a:latin typeface="Arial"/>
                        </a:rPr>
                        <a:t>Los Acuerdos que se tomen serán presentados por el Tesorero al Consejo de Administración, para su aprobación; y el Gerente General comunicará a Gerentes de Área los acuerdos aprobados para su conocimiento y/o cumplimiento.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87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d) </a:t>
                      </a:r>
                      <a:r>
                        <a:rPr sz="1000" b="1" i="0" u="sng" lang="es-SV">
                          <a:solidFill>
                            <a:srgbClr val="00376E"/>
                          </a:solidFill>
                          <a:latin typeface="Arial"/>
                        </a:rPr>
                        <a:t>El día, hora y lugar de la reunión se establecerá por el Presidente del Consejo de Administración y en su ausencia por el Tesorero del mismo cuerpo directivo.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88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e) </a:t>
                      </a:r>
                      <a:r>
                        <a:rPr sz="1000" b="1" i="0" u="sng" lang="es-SV">
                          <a:solidFill>
                            <a:srgbClr val="00376E"/>
                          </a:solidFill>
                          <a:latin typeface="Arial"/>
                        </a:rPr>
                        <a:t>La agenda será propuesta por el Gerente de Finanzas y Planificación, Gerente General o a quien éste delegue; la cual será aprobada por el Comité de Finanzas y de Recuperación Financiera.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89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f) </a:t>
                      </a:r>
                      <a:r>
                        <a:rPr sz="1000" b="1" i="0" u="sng" lang="es-SV">
                          <a:solidFill>
                            <a:srgbClr val="00376E"/>
                          </a:solidFill>
                          <a:latin typeface="Arial"/>
                        </a:rPr>
                        <a:t>Los informes de las reuniones realizadas deberán ser firmados por los miembros que participaron en la reunión, dejando constancia de las razones de sus desacuerdos en caso que los haya.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90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g) </a:t>
                      </a:r>
                      <a:r>
                        <a:rPr sz="1000" b="1" i="0" u="sng" lang="es-SV">
                          <a:solidFill>
                            <a:srgbClr val="00376E"/>
                          </a:solidFill>
                          <a:latin typeface="Arial"/>
                        </a:rPr>
                        <a:t>Para las reuniones del Comité, se establecerá quórum con la presencia del Presidente o Tesorero del Consejo de Administración, tres miembros directivos más Gerente de Finanzas y Planificación y el Gerente General o su delegado. Los acuerdos se tomarán por consenso o mayoría.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Auditoría (1 de 2)</a:t>
            </a:r>
          </a:p>
        </p:txBody>
      </p:sp>
      <p:graphicFrame>
        <p:nvGraphicFramePr>
          <p:cNvPr id="16" name="Table 15"/>
          <p:cNvGraphicFramePr>
            <a:graphicFrameLocks noGrp="1"/>
          </p:cNvGraphicFramePr>
          <p:nvPr/>
        </p:nvGraphicFramePr>
        <p:xfrm>
          <a:off x="548640" y="566928"/>
          <a:ext cx="11091672" cy="502056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91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e) Supervisar la eficiencia de la función de cumplimiento regulatorio de </a:t>
                      </a:r>
                      <a:r>
                        <a:rPr sz="1000" b="0" i="0" strike="sngStrike" lang="es-SV">
                          <a:solidFill>
                            <a:srgbClr val="B3261E"/>
                          </a:solidFill>
                          <a:latin typeface="Arial"/>
                        </a:rPr>
                        <a:t>lavado de activos, y</a:t>
                      </a:r>
                      <a:r>
                        <a:rPr sz="1000" b="0" i="0" lang="es-SV">
                          <a:solidFill>
                            <a:srgbClr val="1B2333"/>
                          </a:solidFill>
                          <a:latin typeface="Arial"/>
                        </a:rPr>
                        <a:t> financiación del terrorismo </a:t>
                      </a:r>
                      <a:r>
                        <a:rPr sz="1000" b="0" i="0" strike="sngStrike" lang="es-SV">
                          <a:solidFill>
                            <a:srgbClr val="B3261E"/>
                          </a:solidFill>
                          <a:latin typeface="Arial"/>
                        </a:rPr>
                        <a:t>( LAFT),</a:t>
                      </a:r>
                      <a:r>
                        <a:rPr sz="1000" b="0" i="0" lang="es-SV">
                          <a:solidFill>
                            <a:srgbClr val="1B2333"/>
                          </a:solidFill>
                          <a:latin typeface="Arial"/>
                        </a:rPr>
                        <a:t> para asegurarse que existan los controles internos necesarios para evitar que la institución sea utilizada como instrumento para la realización de actividades ilícitas.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e) Supervisar la eficiencia de la función de cumplimiento regulatorio de </a:t>
                      </a:r>
                      <a:r>
                        <a:rPr sz="1000" b="1" i="0" u="sng" lang="es-SV">
                          <a:solidFill>
                            <a:srgbClr val="00376E"/>
                          </a:solidFill>
                          <a:latin typeface="Arial"/>
                        </a:rPr>
                        <a:t>prevención del lavado de dinero y activos,</a:t>
                      </a:r>
                      <a:r>
                        <a:rPr sz="1000" b="0" i="0" lang="es-SV">
                          <a:solidFill>
                            <a:srgbClr val="1B2333"/>
                          </a:solidFill>
                          <a:latin typeface="Arial"/>
                        </a:rPr>
                        <a:t> financiación del terrorismo </a:t>
                      </a:r>
                      <a:r>
                        <a:rPr sz="1000" b="1" i="0" u="sng" lang="es-SV">
                          <a:solidFill>
                            <a:srgbClr val="00376E"/>
                          </a:solidFill>
                          <a:latin typeface="Arial"/>
                        </a:rPr>
                        <a:t>y la Financiación de la Proliferación de Armas de Destrucción Masiva, (PLDA/FT/FPADM ),</a:t>
                      </a:r>
                      <a:r>
                        <a:rPr sz="1000" b="0" i="0" lang="es-SV">
                          <a:solidFill>
                            <a:srgbClr val="1B2333"/>
                          </a:solidFill>
                          <a:latin typeface="Arial"/>
                        </a:rPr>
                        <a:t> para asegurarse que existan los controles internos necesarios para evitar que la institución sea utilizada como instrumento para la realización de actividades ilícitas.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92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n) </a:t>
                      </a:r>
                      <a:r>
                        <a:rPr sz="1000" b="1" i="0" u="sng" lang="es-SV">
                          <a:solidFill>
                            <a:srgbClr val="00376E"/>
                          </a:solidFill>
                          <a:latin typeface="Arial"/>
                        </a:rPr>
                        <a:t>Evaluar de forma independiente la efectividad de los controles implementados con el Plan de Recuperación.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93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o) </a:t>
                      </a:r>
                      <a:r>
                        <a:rPr sz="1000" b="1" i="0" u="sng" lang="es-SV">
                          <a:solidFill>
                            <a:srgbClr val="00376E"/>
                          </a:solidFill>
                          <a:latin typeface="Arial"/>
                        </a:rPr>
                        <a:t>Emitir recomendaciones al Consejo de Administración para fortalecer el proceso de recuperación.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94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p) </a:t>
                      </a:r>
                      <a:r>
                        <a:rPr sz="1000" b="1" i="0" u="sng" lang="es-SV">
                          <a:solidFill>
                            <a:srgbClr val="00376E"/>
                          </a:solidFill>
                          <a:latin typeface="Arial"/>
                        </a:rPr>
                        <a:t>Informar al Consejo de Administración y al Comité de Auditoría y Finanzas sobre hallazgos relevantes.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95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Conformación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strike="sngStrike" lang="es-SV">
                          <a:solidFill>
                            <a:srgbClr val="B3261E"/>
                          </a:solidFill>
                          <a:latin typeface="Arial"/>
                        </a:rPr>
                        <a:t>El Comité está integrado por los siguientes miembros: por tres miembros independientes: El presidente del Consejo de Administración, quien preside el comité, un segundo Directivo del Consejo de Administración y un miembro de la Junta de Vigilancia; Gerente General, Gerente de Finanzas y Planificación y Auditor Interno. Este último tendrá el cargo de Secretario.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Los Miembros del Comité, podrán delegar sustituto en caso de que ocurra ausencia justificada.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96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Conformación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Los requisitos para ser miembro del Comité de Auditoría se detallan en Anexo 4 del Código de Gobierno Corporativo.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97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a) </a:t>
                      </a:r>
                      <a:r>
                        <a:rPr sz="1000" b="0" i="0" strike="sngStrike" lang="es-SV">
                          <a:solidFill>
                            <a:srgbClr val="B3261E"/>
                          </a:solidFill>
                          <a:latin typeface="Arial"/>
                        </a:rPr>
                        <a:t>El Comité se reúne como mínimo una vez al mes y los acuerdos, recomendaciones e informes que se produzcan deberán quedar consignados en sus actas.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B3261E"/>
                          </a:solidFill>
                          <a:latin typeface="Arial"/>
                        </a:rPr>
                        <a:t>Se elimina.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B3261E"/>
                          </a:solidFill>
                          <a:latin typeface="Arial"/>
                        </a:rPr>
                        <a:t>Eliminado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98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b) </a:t>
                      </a:r>
                      <a:r>
                        <a:rPr sz="1000" b="1" i="0" u="sng" lang="es-SV">
                          <a:solidFill>
                            <a:srgbClr val="00376E"/>
                          </a:solidFill>
                          <a:latin typeface="Arial"/>
                        </a:rPr>
                        <a:t>El Auditor Interno será el secretario del Comité, y levantará el acta de cada una de las sesiones mantenidas, que será aprobada en la sesión inmediatamente posterior. Las actas del Comité deberán estar a disposición de todos los directores del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Auditoría (2 de 2)</a:t>
            </a:r>
          </a:p>
        </p:txBody>
      </p:sp>
      <p:graphicFrame>
        <p:nvGraphicFramePr>
          <p:cNvPr id="16" name="Table 15"/>
          <p:cNvGraphicFramePr>
            <a:graphicFrameLocks noGrp="1"/>
          </p:cNvGraphicFramePr>
          <p:nvPr/>
        </p:nvGraphicFramePr>
        <p:xfrm>
          <a:off x="548640" y="566928"/>
          <a:ext cx="11091672" cy="260756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99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c) </a:t>
                      </a:r>
                      <a:r>
                        <a:rPr sz="1000" b="1" i="0" u="sng" lang="es-SV">
                          <a:solidFill>
                            <a:srgbClr val="00376E"/>
                          </a:solidFill>
                          <a:latin typeface="Arial"/>
                        </a:rPr>
                        <a:t>A las reuniones del Comité pueden ser citados con la frecuencia necesaria y con el fin de requerir explicaciones pertinentes acerca de asuntos de control interno, Gerentes de Área, jefes de Departamentos, Auditor Externo, Auditor Fiscal, así como cualquier otro funcionario que el Comité considere conveniente.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100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d) </a:t>
                      </a:r>
                      <a:r>
                        <a:rPr sz="1000" b="1" i="0" u="sng" lang="es-SV">
                          <a:solidFill>
                            <a:srgbClr val="00376E"/>
                          </a:solidFill>
                          <a:latin typeface="Arial"/>
                        </a:rPr>
                        <a:t>Cuando algún miembro del Comité tuviese interés personal en cualquier asunto que debe discutirse en el Comité, deberá ausentarse de la reunión hasta que la decisión se adopte.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101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e) </a:t>
                      </a:r>
                      <a:r>
                        <a:rPr sz="1000" b="1" i="0" u="sng" lang="es-SV">
                          <a:solidFill>
                            <a:srgbClr val="00376E"/>
                          </a:solidFill>
                          <a:latin typeface="Arial"/>
                        </a:rPr>
                        <a:t>Los miembros del Comité que tengan conocimiento de algún potencial conflicto de interés (directo o indirecto), de cualquiera que los otros miembros, deberán manifestarlo a fin de que se delibere si procede o no el retiro del miembro de la sesión. Dicha deliberación quedará asentada en el acta de la mencionada Sesión.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3" name="Rectángulo 12">
            <a:extLst>
              <a:ext uri="{FF2B5EF4-FFF2-40B4-BE49-F238E27FC236}">
                <a16:creationId xmlns:a16="http://schemas.microsoft.com/office/drawing/2014/main" id="{0A848043-3E64-98A8-7A75-B15A546BA49B}"/>
              </a:ext>
            </a:extLst>
          </p:cNvPr>
          <p:cNvSpPr/>
          <p:nvPr/>
        </p:nvSpPr>
        <p:spPr>
          <a:xfrm>
            <a:off x="548640" y="3320796"/>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3302508"/>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Riesgos (1 de 6)</a:t>
            </a:r>
          </a:p>
        </p:txBody>
      </p:sp>
      <p:graphicFrame>
        <p:nvGraphicFramePr>
          <p:cNvPr id="16" name="Table 15"/>
          <p:cNvGraphicFramePr>
            <a:graphicFrameLocks noGrp="1"/>
          </p:cNvGraphicFramePr>
          <p:nvPr/>
        </p:nvGraphicFramePr>
        <p:xfrm>
          <a:off x="548640" y="3723132"/>
          <a:ext cx="11091672" cy="218846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102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Objetivos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strike="sngStrike" lang="es-SV">
                          <a:solidFill>
                            <a:srgbClr val="B3261E"/>
                          </a:solidFill>
                          <a:latin typeface="Arial"/>
                        </a:rPr>
                        <a:t>Asesorar y apoyar</a:t>
                      </a:r>
                      <a:r>
                        <a:rPr sz="1000" b="0" i="0" lang="es-SV">
                          <a:solidFill>
                            <a:srgbClr val="1B2333"/>
                          </a:solidFill>
                          <a:latin typeface="Arial"/>
                        </a:rPr>
                        <a:t> al Consejo de Administración, </a:t>
                      </a:r>
                      <a:r>
                        <a:rPr sz="1000" b="0" i="0" strike="sngStrike" lang="es-SV">
                          <a:solidFill>
                            <a:srgbClr val="B3261E"/>
                          </a:solidFill>
                          <a:latin typeface="Arial"/>
                        </a:rPr>
                        <a:t>actuando</a:t>
                      </a:r>
                      <a:r>
                        <a:rPr sz="1000" b="0" i="0" lang="es-SV">
                          <a:solidFill>
                            <a:srgbClr val="1B2333"/>
                          </a:solidFill>
                          <a:latin typeface="Arial"/>
                        </a:rPr>
                        <a:t> con criterio de independencia, confidencialidad y objetividad en el cumplimiento de sus responsabilidades de seguimiento de la gestión de riesgos.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El Comité de Riesgos es una instancia asesora y de apoyo</a:t>
                      </a:r>
                      <a:r>
                        <a:rPr sz="1000" b="0" i="0" lang="es-SV">
                          <a:solidFill>
                            <a:srgbClr val="1B2333"/>
                          </a:solidFill>
                          <a:latin typeface="Arial"/>
                        </a:rPr>
                        <a:t> al Consejo de Administración, </a:t>
                      </a:r>
                      <a:r>
                        <a:rPr sz="1000" b="1" i="0" u="sng" lang="es-SV">
                          <a:solidFill>
                            <a:srgbClr val="00376E"/>
                          </a:solidFill>
                          <a:latin typeface="Arial"/>
                        </a:rPr>
                        <a:t>actuará</a:t>
                      </a:r>
                      <a:r>
                        <a:rPr sz="1000" b="0" i="0" lang="es-SV">
                          <a:solidFill>
                            <a:srgbClr val="1B2333"/>
                          </a:solidFill>
                          <a:latin typeface="Arial"/>
                        </a:rPr>
                        <a:t> con criterio de independencia, confidencialidad y objetividad en el cumplimiento de sus responsabilidades de seguimiento de la gestión de riesgos, </a:t>
                      </a:r>
                      <a:r>
                        <a:rPr sz="1000" b="1" i="0" u="sng" lang="es-SV">
                          <a:solidFill>
                            <a:srgbClr val="00376E"/>
                          </a:solidFill>
                          <a:latin typeface="Arial"/>
                        </a:rPr>
                        <a:t>asimismo es el enlance con el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103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a) </a:t>
                      </a:r>
                      <a:r>
                        <a:rPr sz="1000" b="0" i="0" strike="sngStrike" lang="es-SV">
                          <a:solidFill>
                            <a:srgbClr val="B3261E"/>
                          </a:solidFill>
                          <a:latin typeface="Arial"/>
                        </a:rPr>
                        <a:t>Validar y presentar al</a:t>
                      </a:r>
                      <a:r>
                        <a:rPr sz="1000" b="0" i="0" lang="es-SV">
                          <a:solidFill>
                            <a:srgbClr val="1B2333"/>
                          </a:solidFill>
                          <a:latin typeface="Arial"/>
                        </a:rPr>
                        <a:t> Consejo de Administración las metodologías </a:t>
                      </a:r>
                      <a:r>
                        <a:rPr sz="1000" b="0" i="0" strike="sngStrike" lang="es-SV">
                          <a:solidFill>
                            <a:srgbClr val="B3261E"/>
                          </a:solidFill>
                          <a:latin typeface="Arial"/>
                        </a:rPr>
                        <a:t>de gestión de cada uno de los riesgos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a) </a:t>
                      </a:r>
                      <a:r>
                        <a:rPr sz="1000" b="1" i="0" u="sng" lang="es-SV">
                          <a:solidFill>
                            <a:srgbClr val="00376E"/>
                          </a:solidFill>
                          <a:latin typeface="Arial"/>
                        </a:rPr>
                        <a:t>Evaluar, revisar y proponer para aprobación del</a:t>
                      </a:r>
                      <a:r>
                        <a:rPr sz="1000" b="0" i="0" lang="es-SV">
                          <a:solidFill>
                            <a:srgbClr val="1B2333"/>
                          </a:solidFill>
                          <a:latin typeface="Arial"/>
                        </a:rPr>
                        <a:t> Consejo de Administración las metodologías, </a:t>
                      </a:r>
                      <a:r>
                        <a:rPr sz="1000" b="1" i="0" u="sng" lang="es-SV">
                          <a:solidFill>
                            <a:srgbClr val="00376E"/>
                          </a:solidFill>
                          <a:latin typeface="Arial"/>
                        </a:rPr>
                        <a:t>estrategias, políticas y manuales para la gestión integral de riesgos y continuidad del negocio.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104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b) Informar al Consejo de Administración, sobre los riesgos asumidos por la Cooperativa, su evolución, sus efectos y las necesidades adicionales de mitigación.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b) Informar al Consejo de Administración, sobre los riesgos asumidos por la Cooperativa, su evolución, sus efectos </a:t>
                      </a:r>
                      <a:r>
                        <a:rPr sz="1000" b="1" i="0" u="sng" lang="es-SV">
                          <a:solidFill>
                            <a:srgbClr val="00376E"/>
                          </a:solidFill>
                          <a:latin typeface="Arial"/>
                        </a:rPr>
                        <a:t>en especial en los niveles patrimoniales</a:t>
                      </a:r>
                      <a:r>
                        <a:rPr sz="1000" b="0" i="0" lang="es-SV">
                          <a:solidFill>
                            <a:srgbClr val="1B2333"/>
                          </a:solidFill>
                          <a:latin typeface="Arial"/>
                        </a:rPr>
                        <a:t> y las necesidades adicionales de mitigación, </a:t>
                      </a:r>
                      <a:r>
                        <a:rPr sz="1000" b="1" i="0" u="sng" lang="es-SV">
                          <a:solidFill>
                            <a:srgbClr val="00376E"/>
                          </a:solidFill>
                          <a:latin typeface="Arial"/>
                        </a:rPr>
                        <a:t>así como sus acciones correctivas.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Riesgos (2 de 6)</a:t>
            </a:r>
          </a:p>
        </p:txBody>
      </p:sp>
      <p:graphicFrame>
        <p:nvGraphicFramePr>
          <p:cNvPr id="16" name="Table 15"/>
          <p:cNvGraphicFramePr>
            <a:graphicFrameLocks noGrp="1"/>
          </p:cNvGraphicFramePr>
          <p:nvPr/>
        </p:nvGraphicFramePr>
        <p:xfrm>
          <a:off x="548640" y="566928"/>
          <a:ext cx="11091672" cy="567080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105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c) </a:t>
                      </a:r>
                      <a:r>
                        <a:rPr sz="1000" b="0" i="0" strike="sngStrike" lang="es-SV">
                          <a:solidFill>
                            <a:srgbClr val="B3261E"/>
                          </a:solidFill>
                          <a:latin typeface="Arial"/>
                        </a:rPr>
                        <a:t>Velar por que la Cooperativa cuente con la adecuada estructura organizacional, estrategias, políticas y recursos para la gestión integral de riesgos.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c) </a:t>
                      </a:r>
                      <a:r>
                        <a:rPr sz="1000" b="1" i="0" u="sng" lang="es-SV">
                          <a:solidFill>
                            <a:srgbClr val="00376E"/>
                          </a:solidFill>
                          <a:latin typeface="Arial"/>
                        </a:rPr>
                        <a:t>Informar al Consejo de Administración sobre las exposiciones, desviaciones y excepciones de los riesgos que son gestionados en la Cooperativa.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106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d) </a:t>
                      </a:r>
                      <a:r>
                        <a:rPr sz="1000" b="0" i="0" strike="sngStrike" lang="es-SV">
                          <a:solidFill>
                            <a:srgbClr val="B3261E"/>
                          </a:solidFill>
                          <a:latin typeface="Arial"/>
                        </a:rPr>
                        <a:t>Asegurar e informar al Consejo de Administración la correcta ejecución de las estrategias y políticas aprobadas.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d) </a:t>
                      </a:r>
                      <a:r>
                        <a:rPr sz="1000" b="1" i="0" u="sng" lang="es-SV">
                          <a:solidFill>
                            <a:srgbClr val="00376E"/>
                          </a:solidFill>
                          <a:latin typeface="Arial"/>
                        </a:rPr>
                        <a:t>Velar por que la Cooperativa cuente con la adecuada estructura organizacional, estrategias, políticas y recursos para la gestión integral de riesgos.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107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e) </a:t>
                      </a:r>
                      <a:r>
                        <a:rPr sz="1000" b="0" i="0" strike="sngStrike" lang="es-SV">
                          <a:solidFill>
                            <a:srgbClr val="B3261E"/>
                          </a:solidFill>
                          <a:latin typeface="Arial"/>
                        </a:rPr>
                        <a:t>Proponer</a:t>
                      </a:r>
                      <a:r>
                        <a:rPr sz="1000" b="0" i="0" lang="es-SV">
                          <a:solidFill>
                            <a:srgbClr val="1B2333"/>
                          </a:solidFill>
                          <a:latin typeface="Arial"/>
                        </a:rPr>
                        <a:t> al Consejo de Administración </a:t>
                      </a:r>
                      <a:r>
                        <a:rPr sz="1000" b="0" i="0" strike="sngStrike" lang="es-SV">
                          <a:solidFill>
                            <a:srgbClr val="B3261E"/>
                          </a:solidFill>
                          <a:latin typeface="Arial"/>
                        </a:rPr>
                        <a:t>los límites de tolerancia a la exposición para cada tipo de riesgo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e) </a:t>
                      </a:r>
                      <a:r>
                        <a:rPr sz="1000" b="1" i="0" u="sng" lang="es-SV">
                          <a:solidFill>
                            <a:srgbClr val="00376E"/>
                          </a:solidFill>
                          <a:latin typeface="Arial"/>
                        </a:rPr>
                        <a:t>Asegurar e informar</a:t>
                      </a:r>
                      <a:r>
                        <a:rPr sz="1000" b="0" i="0" lang="es-SV">
                          <a:solidFill>
                            <a:srgbClr val="1B2333"/>
                          </a:solidFill>
                          <a:latin typeface="Arial"/>
                        </a:rPr>
                        <a:t> al Consejo de Administración </a:t>
                      </a:r>
                      <a:r>
                        <a:rPr sz="1000" b="1" i="0" u="sng" lang="es-SV">
                          <a:solidFill>
                            <a:srgbClr val="00376E"/>
                          </a:solidFill>
                          <a:latin typeface="Arial"/>
                        </a:rPr>
                        <a:t>la ejecución de las estrategias y políticas aprobadas.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108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f) </a:t>
                      </a:r>
                      <a:r>
                        <a:rPr sz="1000" b="0" i="0" strike="sngStrike" lang="es-SV">
                          <a:solidFill>
                            <a:srgbClr val="B3261E"/>
                          </a:solidFill>
                          <a:latin typeface="Arial"/>
                        </a:rPr>
                        <a:t>Requerir y dar seguimiento a los planes correctivos para normalizar incumplimientos a</a:t>
                      </a:r>
                      <a:r>
                        <a:rPr sz="1000" b="0" i="0" lang="es-SV">
                          <a:solidFill>
                            <a:srgbClr val="1B2333"/>
                          </a:solidFill>
                          <a:latin typeface="Arial"/>
                        </a:rPr>
                        <a:t> los límites de exposición </a:t>
                      </a:r>
                      <a:r>
                        <a:rPr sz="1000" b="0" i="0" strike="sngStrike" lang="es-SV">
                          <a:solidFill>
                            <a:srgbClr val="B3261E"/>
                          </a:solidFill>
                          <a:latin typeface="Arial"/>
                        </a:rPr>
                        <a:t>o deficiencias reportadas.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f) </a:t>
                      </a:r>
                      <a:r>
                        <a:rPr sz="1000" b="1" i="0" u="sng" lang="es-SV">
                          <a:solidFill>
                            <a:srgbClr val="00376E"/>
                          </a:solidFill>
                          <a:latin typeface="Arial"/>
                        </a:rPr>
                        <a:t>Proponer al Consejo de Administración los límites de tolerancia a la exposición para cada tipo de riesgo, los casos o circunstancias especiales en los cuales se puedan exceder</a:t>
                      </a:r>
                      <a:r>
                        <a:rPr sz="1000" b="0" i="0" lang="es-SV">
                          <a:solidFill>
                            <a:srgbClr val="1B2333"/>
                          </a:solidFill>
                          <a:latin typeface="Arial"/>
                        </a:rPr>
                        <a:t> los límites de exposición, </a:t>
                      </a:r>
                      <a:r>
                        <a:rPr sz="1000" b="1" i="0" u="sng" lang="es-SV">
                          <a:solidFill>
                            <a:srgbClr val="00376E"/>
                          </a:solidFill>
                          <a:latin typeface="Arial"/>
                        </a:rPr>
                        <a:t>así como los controles especiales sobre dichas circunstancias.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109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g) </a:t>
                      </a:r>
                      <a:r>
                        <a:rPr sz="1000" b="0" i="0" strike="sngStrike" lang="es-SV">
                          <a:solidFill>
                            <a:srgbClr val="B3261E"/>
                          </a:solidFill>
                          <a:latin typeface="Arial"/>
                        </a:rPr>
                        <a:t>Dar seguimiento a los informes emitidos por la Superintendencia del Sistema Financiero, Auditoría Interna y Externa, para atender las observaciones y recomendaciones que formulen sobre la gestión de riesgos.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g) </a:t>
                      </a:r>
                      <a:r>
                        <a:rPr sz="1000" b="1" i="0" u="sng" lang="es-SV">
                          <a:solidFill>
                            <a:srgbClr val="00376E"/>
                          </a:solidFill>
                          <a:latin typeface="Arial"/>
                        </a:rPr>
                        <a:t>Aprobar las acciones correctivas propuestas por el Departamento de Administración de Riesgos y las áreas involucradas, así como los mecanismos para la implementación de las mismas, en el caso que exista desviación con respecto a los niveles o límites de exposición asumidos.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110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h) </a:t>
                      </a:r>
                      <a:r>
                        <a:rPr sz="1000" b="0" i="0" strike="sngStrike" lang="es-SV">
                          <a:solidFill>
                            <a:srgbClr val="B3261E"/>
                          </a:solidFill>
                          <a:latin typeface="Arial"/>
                        </a:rPr>
                        <a:t>Trabajar coordinadamente con los otros comités de la Cooperativa para fortalecer el funcionamiento de un sistema de control interno adecuado a la complejidad y riesgos inherentes a las actividades de la Cooperativa.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h) </a:t>
                      </a:r>
                      <a:r>
                        <a:rPr sz="1000" b="1" i="0" u="sng" lang="es-SV">
                          <a:solidFill>
                            <a:srgbClr val="00376E"/>
                          </a:solidFill>
                          <a:latin typeface="Arial"/>
                        </a:rPr>
                        <a:t>Requerir y dar seguimiento a los planes correctivos para normalizar incumplimientos a los límites de exposición o deficiencias reportadas.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111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i) </a:t>
                      </a:r>
                      <a:r>
                        <a:rPr sz="1000" b="0" i="0" strike="sngStrike" lang="es-SV">
                          <a:solidFill>
                            <a:srgbClr val="B3261E"/>
                          </a:solidFill>
                          <a:latin typeface="Arial"/>
                        </a:rPr>
                        <a:t>Validar el Plan anual de capacitaciones de Riesgo, para aprobación del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i) </a:t>
                      </a:r>
                      <a:r>
                        <a:rPr sz="1000" b="1" i="0" u="sng" lang="es-SV">
                          <a:solidFill>
                            <a:srgbClr val="00376E"/>
                          </a:solidFill>
                          <a:latin typeface="Arial"/>
                        </a:rPr>
                        <a:t>Dar seguimiento a los informes emitidos por la Superintendencia del Sistema Financiero, Auditoría Interna y Externa, para atender las observaciones y recomendaciones que formulen sobre la gestión de riesgos.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112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j) </a:t>
                      </a:r>
                      <a:r>
                        <a:rPr sz="1000" b="0" i="0" strike="sngStrike" lang="es-SV">
                          <a:solidFill>
                            <a:srgbClr val="B3261E"/>
                          </a:solidFill>
                          <a:latin typeface="Arial"/>
                        </a:rPr>
                        <a:t>Desempeñar otras funciones que la Normativa Legal le atribuyan a este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j) </a:t>
                      </a:r>
                      <a:r>
                        <a:rPr sz="1000" b="1" i="0" u="sng" lang="es-SV">
                          <a:solidFill>
                            <a:srgbClr val="00376E"/>
                          </a:solidFill>
                          <a:latin typeface="Arial"/>
                        </a:rPr>
                        <a:t>Trabajar coordinadamente con los otros comités de la Cooperativa para fortalecer el funcionamiento de un sistema de control interno adecuado a la complejidad y riesgos inherentes a las actividades de la Cooperativa.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113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k) </a:t>
                      </a:r>
                      <a:r>
                        <a:rPr sz="1000" b="1" i="0" u="sng" lang="es-SV">
                          <a:solidFill>
                            <a:srgbClr val="00376E"/>
                          </a:solidFill>
                          <a:latin typeface="Arial"/>
                        </a:rPr>
                        <a:t>Informar al Consejo de Administración sobre el resultado de los informes elaborados por el Departamento de Administración de Riesgos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Riesgos (3 de 6)</a:t>
            </a:r>
          </a:p>
        </p:txBody>
      </p:sp>
      <p:graphicFrame>
        <p:nvGraphicFramePr>
          <p:cNvPr id="16" name="Table 15"/>
          <p:cNvGraphicFramePr>
            <a:graphicFrameLocks noGrp="1"/>
          </p:cNvGraphicFramePr>
          <p:nvPr/>
        </p:nvGraphicFramePr>
        <p:xfrm>
          <a:off x="548640" y="566928"/>
          <a:ext cx="11091672" cy="571398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114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l) </a:t>
                      </a:r>
                      <a:r>
                        <a:rPr sz="1000" b="1" i="0" u="sng" lang="es-SV">
                          <a:solidFill>
                            <a:srgbClr val="00376E"/>
                          </a:solidFill>
                          <a:latin typeface="Arial"/>
                        </a:rPr>
                        <a:t>Validar el Plan anual de capacitaciones relacionadas a la Gestión Integral de Riesgos, Continuidad del Negocio y Seguridad de la Información para aprobación del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115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m) </a:t>
                      </a:r>
                      <a:r>
                        <a:rPr sz="1000" b="1" i="0" u="sng" lang="es-SV">
                          <a:solidFill>
                            <a:srgbClr val="00376E"/>
                          </a:solidFill>
                          <a:latin typeface="Arial"/>
                        </a:rPr>
                        <a:t>Validar el Plan de Continuidad del Negocio, planes de contingencia, programa de pruebas de Continuidad del Negocio, para aprobación del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116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n) </a:t>
                      </a:r>
                      <a:r>
                        <a:rPr sz="1000" b="1" i="0" u="sng" lang="es-SV">
                          <a:solidFill>
                            <a:srgbClr val="00376E"/>
                          </a:solidFill>
                          <a:latin typeface="Arial"/>
                        </a:rPr>
                        <a:t>Dar seguimiento a la ejecución de los programas de prueba de continuidad del negocio y a los planes de acción o mejora que resulten, recomendando acciones o mecanismos adicionales para la planificación y ejecución de las mismas.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117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o) </a:t>
                      </a:r>
                      <a:r>
                        <a:rPr sz="1000" b="1" i="0" u="sng" lang="es-SV">
                          <a:solidFill>
                            <a:srgbClr val="00376E"/>
                          </a:solidFill>
                          <a:latin typeface="Arial"/>
                        </a:rPr>
                        <a:t>Supervisar que la gestión de continuidad del negocio sea efectiva y que se realice el análisis de impacto al negocio, identificando y priorizando los procesos críticos de la entidad.</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118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p) </a:t>
                      </a:r>
                      <a:r>
                        <a:rPr sz="1000" b="1" i="0" u="sng" lang="es-SV">
                          <a:solidFill>
                            <a:srgbClr val="00376E"/>
                          </a:solidFill>
                          <a:latin typeface="Arial"/>
                        </a:rPr>
                        <a:t>Apoyar en la implementación de la Gestión de Continuidad del Negocio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5"/>
                  </a:ext>
                </a:extLst>
              </a:tr>
              <a:tr h="228600">
                <a:tc>
                  <a:txBody>
                    <a:bodyPr/>
                    <a:lstStyle/>
                    <a:p>
                      <a:pPr algn="just"/>
                      <a:r>
                        <a:rPr sz="1000" b="1" i="0" lang="es-SV">
                          <a:solidFill>
                            <a:srgbClr val="00376E"/>
                          </a:solidFill>
                          <a:latin typeface="Arial"/>
                        </a:rPr>
                        <a:t>119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q) </a:t>
                      </a:r>
                      <a:r>
                        <a:rPr sz="1000" b="1" i="0" u="sng" lang="es-SV">
                          <a:solidFill>
                            <a:srgbClr val="00376E"/>
                          </a:solidFill>
                          <a:latin typeface="Arial"/>
                        </a:rPr>
                        <a:t>Proponer al Consejo de Administración la estructura del Sistema de Gestión de la Seguridad de la Información.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120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r) </a:t>
                      </a:r>
                      <a:r>
                        <a:rPr sz="1000" b="1" i="0" u="sng" lang="es-SV">
                          <a:solidFill>
                            <a:srgbClr val="00376E"/>
                          </a:solidFill>
                          <a:latin typeface="Arial"/>
                        </a:rPr>
                        <a:t>Revisar, evaluar y proponer para aprobación del Consejo de Administración el programa y recursos de seguridad de la información.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121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s) </a:t>
                      </a:r>
                      <a:r>
                        <a:rPr sz="1000" b="1" i="0" u="sng" lang="es-SV">
                          <a:solidFill>
                            <a:srgbClr val="00376E"/>
                          </a:solidFill>
                          <a:latin typeface="Arial"/>
                        </a:rPr>
                        <a:t>Validar las políticas, metodologías, manual de controles y métricas que permitan revisar y monitorear la seguridad de la información y posteriormente someterlo a aprobación del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122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t) </a:t>
                      </a:r>
                      <a:r>
                        <a:rPr sz="1000" b="1" i="0" u="sng" lang="es-SV">
                          <a:solidFill>
                            <a:srgbClr val="00376E"/>
                          </a:solidFill>
                          <a:latin typeface="Arial"/>
                        </a:rPr>
                        <a:t>Dar seguimiento de la Gestión de la Seguridad de la Información y Continuidad del Negocio.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123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u) </a:t>
                      </a:r>
                      <a:r>
                        <a:rPr sz="1000" b="1" i="0" u="sng" lang="es-SV">
                          <a:solidFill>
                            <a:srgbClr val="00376E"/>
                          </a:solidFill>
                          <a:latin typeface="Arial"/>
                        </a:rPr>
                        <a:t>Evaluar los riesgos que puedan afectar la capacidad financiera y operativa de la Cooperativa y contribuir a la definición de Planes de Acción para mitigarlos o prevenirlos.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5"/>
                  </a:ext>
                </a:extLst>
              </a:tr>
              <a:tr h="228600">
                <a:tc>
                  <a:txBody>
                    <a:bodyPr/>
                    <a:lstStyle/>
                    <a:p>
                      <a:pPr algn="just"/>
                      <a:r>
                        <a:rPr sz="1000" b="1" i="0" lang="es-SV">
                          <a:solidFill>
                            <a:srgbClr val="00376E"/>
                          </a:solidFill>
                          <a:latin typeface="Arial"/>
                        </a:rPr>
                        <a:t>124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v) </a:t>
                      </a:r>
                      <a:r>
                        <a:rPr sz="1000" b="1" i="0" u="sng" lang="es-SV">
                          <a:solidFill>
                            <a:srgbClr val="00376E"/>
                          </a:solidFill>
                          <a:latin typeface="Arial"/>
                        </a:rPr>
                        <a:t>Analizar los riesgos que puedan derivar en la activación del Plan de Recuperación de la Cooperativa.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6"/>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Riesgos (4 de 6)</a:t>
            </a:r>
          </a:p>
        </p:txBody>
      </p:sp>
      <p:graphicFrame>
        <p:nvGraphicFramePr>
          <p:cNvPr id="16" name="Table 15"/>
          <p:cNvGraphicFramePr>
            <a:graphicFrameLocks noGrp="1"/>
          </p:cNvGraphicFramePr>
          <p:nvPr/>
        </p:nvGraphicFramePr>
        <p:xfrm>
          <a:off x="548640" y="566928"/>
          <a:ext cx="11091672" cy="539140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125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w) </a:t>
                      </a:r>
                      <a:r>
                        <a:rPr sz="1000" b="1" i="0" u="sng" lang="es-SV">
                          <a:solidFill>
                            <a:srgbClr val="00376E"/>
                          </a:solidFill>
                          <a:latin typeface="Arial"/>
                        </a:rPr>
                        <a:t>Evaluar los indicadores definidos para el seguimiento del Plan de Recuperación de la Cooperativa.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126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x) </a:t>
                      </a:r>
                      <a:r>
                        <a:rPr sz="1000" b="1" i="0" u="sng" lang="es-SV">
                          <a:solidFill>
                            <a:srgbClr val="00376E"/>
                          </a:solidFill>
                          <a:latin typeface="Arial"/>
                        </a:rPr>
                        <a:t>Apoyar la actualización de escenarios de estrés y medidas de recuperación.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127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y) </a:t>
                      </a:r>
                      <a:r>
                        <a:rPr sz="1000" b="1" i="0" u="sng" lang="es-SV">
                          <a:solidFill>
                            <a:srgbClr val="00376E"/>
                          </a:solidFill>
                          <a:latin typeface="Arial"/>
                        </a:rPr>
                        <a:t>Emitir recomendaciones al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128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Conformación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El Comité </a:t>
                      </a:r>
                      <a:r>
                        <a:rPr sz="1000" b="0" i="0" strike="sngStrike" lang="es-SV">
                          <a:solidFill>
                            <a:srgbClr val="B3261E"/>
                          </a:solidFill>
                          <a:latin typeface="Arial"/>
                        </a:rPr>
                        <a:t>de Administración</a:t>
                      </a:r>
                      <a:r>
                        <a:rPr sz="1000" b="0" i="0" lang="es-SV">
                          <a:solidFill>
                            <a:srgbClr val="1B2333"/>
                          </a:solidFill>
                          <a:latin typeface="Arial"/>
                        </a:rPr>
                        <a:t> de Riesgos está integrado por un número impar de Miembros con los siguientes cargos: Directivos del Consejo de Administración: Presidente o su delegado, quien presidirá como Presidente del Comité, Tesorero y Vocal; Presidente de la Junta de Vigilancia o su delegado, Gerente General o su delegado, Auditor Interno, </a:t>
                      </a:r>
                      <a:r>
                        <a:rPr sz="1000" b="0" i="0" strike="sngStrike" lang="es-SV">
                          <a:solidFill>
                            <a:srgbClr val="B3261E"/>
                          </a:solidFill>
                          <a:latin typeface="Arial"/>
                        </a:rPr>
                        <a:t>y Jefe de</a:t>
                      </a:r>
                      <a:r>
                        <a:rPr sz="1000" b="0" i="0" lang="es-SV">
                          <a:solidFill>
                            <a:srgbClr val="1B2333"/>
                          </a:solidFill>
                          <a:latin typeface="Arial"/>
                        </a:rPr>
                        <a:t> Administración de Riesgos quien ocupará el cargo de Secretario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El Comité de Riesgos está integrado por un número impar de Miembros con los siguientes cargos: Directivos del Consejo de Administración: Presidente o su delegado, quien presidirá como Presidente del Comité, Tesorero y Vocal; Presidente de la Junta de Vigilancia o su delegado, Gerente General o su delegado, Auditor Interno, </a:t>
                      </a:r>
                      <a:r>
                        <a:rPr sz="1000" b="1" i="0" u="sng" lang="es-SV">
                          <a:solidFill>
                            <a:srgbClr val="00376E"/>
                          </a:solidFill>
                          <a:latin typeface="Arial"/>
                        </a:rPr>
                        <a:t>Gerente Legal y de Cumplimiento Normativo, Jefe Departamento de Seguridad de la Información y Ciberseguridad y Jefe</a:t>
                      </a:r>
                      <a:r>
                        <a:rPr sz="1000" b="0" i="0" lang="es-SV">
                          <a:solidFill>
                            <a:srgbClr val="1B2333"/>
                          </a:solidFill>
                          <a:latin typeface="Arial"/>
                        </a:rPr>
                        <a:t> Administración de Riesgos quien ocupará el cargo de Secretario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129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Conformación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El Comité de Riesgos será presidido por un director del Consejo de Administración con conocimiento en finanzas y en gestión de riesgos.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5"/>
                  </a:ext>
                </a:extLst>
              </a:tr>
              <a:tr h="228600">
                <a:tc>
                  <a:txBody>
                    <a:bodyPr/>
                    <a:lstStyle/>
                    <a:p>
                      <a:pPr algn="just"/>
                      <a:r>
                        <a:rPr sz="1000" b="1" i="0" lang="es-SV">
                          <a:solidFill>
                            <a:srgbClr val="00376E"/>
                          </a:solidFill>
                          <a:latin typeface="Arial"/>
                        </a:rPr>
                        <a:t>130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Conformación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Adicionalmente el Comité podrá extender la invitación con derecho a voz, pero sin derecho a voto, a otros directores del Consejo de Administración, Equipo Gerencial y Empleados de la Cooperativa que considere conveniente, que por su conocimiento y experiencia en los diferentes puntos que conocerá el Comité en sus sesiones, aportarán información relevante o apoyarán la gestión.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131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Conformación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Los requisitos para ser miembro del Comité de Riesgos se detallan en Anexo 5 del Código de Gobierno Corporativo.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132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El Comité de Riesgos podrá reunirse, de acuerdo a como lo convengan de la siguiente forma: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133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a) </a:t>
                      </a:r>
                      <a:r>
                        <a:rPr sz="1000" b="1" i="0" u="sng" lang="es-SV">
                          <a:solidFill>
                            <a:srgbClr val="00376E"/>
                          </a:solidFill>
                          <a:latin typeface="Arial"/>
                        </a:rPr>
                        <a:t>En reuniones presenciales en las instalaciones del Centro Financiero de la Cooperativa, en la hora y día designado por el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Riesgos (5 de 6)</a:t>
            </a:r>
          </a:p>
        </p:txBody>
      </p:sp>
      <p:graphicFrame>
        <p:nvGraphicFramePr>
          <p:cNvPr id="16" name="Table 15"/>
          <p:cNvGraphicFramePr>
            <a:graphicFrameLocks noGrp="1"/>
          </p:cNvGraphicFramePr>
          <p:nvPr/>
        </p:nvGraphicFramePr>
        <p:xfrm>
          <a:off x="548640" y="566928"/>
          <a:ext cx="11091672" cy="571906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134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b) </a:t>
                      </a:r>
                      <a:r>
                        <a:rPr sz="1000" b="1" i="0" u="sng" lang="es-SV">
                          <a:solidFill>
                            <a:srgbClr val="00376E"/>
                          </a:solidFill>
                          <a:latin typeface="Arial"/>
                        </a:rPr>
                        <a:t>Reuniones a través de videoconferencias por diferentes medios tecnológicos que permitan la identificación y participación del miembro en la sesión, no obstante, los acuerdos y resoluciones que sean tomados deberán documentarse, de conformidad a lo establecido en el Art. 13 del Reglamento.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135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c) </a:t>
                      </a:r>
                      <a:r>
                        <a:rPr sz="1000" b="1" i="0" u="sng" lang="es-SV">
                          <a:solidFill>
                            <a:srgbClr val="00376E"/>
                          </a:solidFill>
                          <a:latin typeface="Arial"/>
                        </a:rPr>
                        <a:t>No obstante, en las reuniones presenciales cuando alguno de los miembros del Comité se encontrare en lugares distintos o en situaciones que le imposibiliten reunirse en las instalaciones del Centro Financiero de la Cooperativa, podrá sesionar a través de videoconferencia con los medios tecnológicos disponibles.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136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d) </a:t>
                      </a:r>
                      <a:r>
                        <a:rPr sz="1000" b="1" i="0" u="sng" lang="es-SV">
                          <a:solidFill>
                            <a:srgbClr val="00376E"/>
                          </a:solidFill>
                          <a:latin typeface="Arial"/>
                        </a:rPr>
                        <a:t>El Gerente General gestionará ante el Consejo de Administración la convocatoria a reunión ordinaria y extraordinaria del Comité de Riesgos.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137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e) </a:t>
                      </a:r>
                      <a:r>
                        <a:rPr sz="1000" b="1" i="0" u="sng" lang="es-SV">
                          <a:solidFill>
                            <a:srgbClr val="00376E"/>
                          </a:solidFill>
                          <a:latin typeface="Arial"/>
                        </a:rPr>
                        <a:t>Para las reuniones del Comité se establecerá quórum con la asistencia mínima de tres de sus miembros, pero siempre deberá contar con la presencia de un Miembro del Consejo de Administración, Junta de Vigilancia, Gerente General o sus delegados.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138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f) </a:t>
                      </a:r>
                      <a:r>
                        <a:rPr sz="1000" b="1" i="0" u="sng" lang="es-SV">
                          <a:solidFill>
                            <a:srgbClr val="00376E"/>
                          </a:solidFill>
                          <a:latin typeface="Arial"/>
                        </a:rPr>
                        <a:t>El presidente del Consejo de Administración, presidente de Junta de Vigilancia o el Gerente General en caso de imposibilidad de asistencia, pueden informar por escrito o mediante correo electrónico a sus delegados, comunicando la designación al Gerente General o secretario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139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g) </a:t>
                      </a:r>
                      <a:r>
                        <a:rPr sz="1000" b="1" i="0" u="sng" lang="es-SV">
                          <a:solidFill>
                            <a:srgbClr val="00376E"/>
                          </a:solidFill>
                          <a:latin typeface="Arial"/>
                        </a:rPr>
                        <a:t>Los temas a tratar en el Comité de Riesgos deberán quedar asentados en una agenda propuesta por el jefe de Administración de Riesgos, la cual será aprobada por 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140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h) </a:t>
                      </a:r>
                      <a:r>
                        <a:rPr sz="1000" b="1" i="0" u="sng" lang="es-SV">
                          <a:solidFill>
                            <a:srgbClr val="00376E"/>
                          </a:solidFill>
                          <a:latin typeface="Arial"/>
                        </a:rPr>
                        <a:t>De las sesiones que celebre el Comité, se levantará acta y estará a disposición de los directores del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141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i) </a:t>
                      </a:r>
                      <a:r>
                        <a:rPr sz="1000" b="1" i="0" u="sng" lang="es-SV">
                          <a:solidFill>
                            <a:srgbClr val="00376E"/>
                          </a:solidFill>
                          <a:latin typeface="Arial"/>
                        </a:rPr>
                        <a:t>Las actas serán suscritas por los miembros asistentes, las cuales deberán ser numeradas de forma secuencial y redactadas en forma clara y detallada para comprender los fundamentos de los acuerdos tomados y de los temas conocidos.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Riesgos (6 de 6)</a:t>
            </a:r>
          </a:p>
        </p:txBody>
      </p:sp>
      <p:graphicFrame>
        <p:nvGraphicFramePr>
          <p:cNvPr id="16" name="Table 15"/>
          <p:cNvGraphicFramePr>
            <a:graphicFrameLocks noGrp="1"/>
          </p:cNvGraphicFramePr>
          <p:nvPr/>
        </p:nvGraphicFramePr>
        <p:xfrm>
          <a:off x="548640" y="566928"/>
          <a:ext cx="11091672" cy="339242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142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j) </a:t>
                      </a:r>
                      <a:r>
                        <a:rPr sz="1000" b="1" i="0" u="sng" lang="es-SV">
                          <a:solidFill>
                            <a:srgbClr val="00376E"/>
                          </a:solidFill>
                          <a:latin typeface="Arial"/>
                        </a:rPr>
                        <a:t>La elaboración, difusión y resguardo de las actas será llevada a cabo por el jefe de Administración de Riesgos.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143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k) </a:t>
                      </a:r>
                      <a:r>
                        <a:rPr sz="1000" b="1" i="0" u="sng" lang="es-SV">
                          <a:solidFill>
                            <a:srgbClr val="00376E"/>
                          </a:solidFill>
                          <a:latin typeface="Arial"/>
                        </a:rPr>
                        <a:t>El contenido del Acta debe ser aprobado en la sesión del Comité de Riesgos inmediata posterior.</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144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l) </a:t>
                      </a:r>
                      <a:r>
                        <a:rPr sz="1000" b="1" i="0" u="sng" lang="es-SV">
                          <a:solidFill>
                            <a:srgbClr val="00376E"/>
                          </a:solidFill>
                          <a:latin typeface="Arial"/>
                        </a:rPr>
                        <a:t>Los acuerdos se tomarán por consenso o mayoría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145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m) </a:t>
                      </a:r>
                      <a:r>
                        <a:rPr sz="1000" b="1" i="0" u="sng" lang="es-SV">
                          <a:solidFill>
                            <a:srgbClr val="00376E"/>
                          </a:solidFill>
                          <a:latin typeface="Arial"/>
                        </a:rPr>
                        <a:t>El presidente del Consejo de Administración tendrá doble voto en caso de empate.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5"/>
                  </a:ext>
                </a:extLst>
              </a:tr>
              <a:tr h="228600">
                <a:tc>
                  <a:txBody>
                    <a:bodyPr/>
                    <a:lstStyle/>
                    <a:p>
                      <a:pPr algn="just"/>
                      <a:r>
                        <a:rPr sz="1000" b="1" i="0" lang="es-SV">
                          <a:solidFill>
                            <a:srgbClr val="00376E"/>
                          </a:solidFill>
                          <a:latin typeface="Arial"/>
                        </a:rPr>
                        <a:t>146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n) </a:t>
                      </a:r>
                      <a:r>
                        <a:rPr sz="1000" b="1" i="0" u="sng" lang="es-SV">
                          <a:solidFill>
                            <a:srgbClr val="00376E"/>
                          </a:solidFill>
                          <a:latin typeface="Arial"/>
                        </a:rPr>
                        <a:t>El jefe de Administración de Riesgos llevará un control de los acuerdos adoptados por el Comité de Riesgos con las siguientes especificaciones: fecha y numero de sesión, acuerdo adoptado, responsables de su cumplimiento, gestión, fecha de gestión y estado.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6"/>
                  </a:ext>
                </a:extLst>
              </a:tr>
              <a:tr h="228600">
                <a:tc>
                  <a:txBody>
                    <a:bodyPr/>
                    <a:lstStyle/>
                    <a:p>
                      <a:pPr algn="just"/>
                      <a:r>
                        <a:rPr sz="1000" b="1" i="0" lang="es-SV">
                          <a:solidFill>
                            <a:srgbClr val="00376E"/>
                          </a:solidFill>
                          <a:latin typeface="Arial"/>
                        </a:rPr>
                        <a:t>147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o) </a:t>
                      </a:r>
                      <a:r>
                        <a:rPr sz="1000" b="1" i="0" u="sng" lang="es-SV">
                          <a:solidFill>
                            <a:srgbClr val="00376E"/>
                          </a:solidFill>
                          <a:latin typeface="Arial"/>
                        </a:rPr>
                        <a:t>En cada sesión se dará a conocer los avances que presenten los acuerdos pendientes.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148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p) </a:t>
                      </a:r>
                      <a:r>
                        <a:rPr sz="1000" b="1" i="0" u="sng" lang="es-SV">
                          <a:solidFill>
                            <a:srgbClr val="00376E"/>
                          </a:solidFill>
                          <a:latin typeface="Arial"/>
                        </a:rPr>
                        <a:t>Se informará semestralmente al Consejo de Administración un resumen de los aspectos más importantes sobre los cuales ha conocido y tomado decisión el Comité y deberá quedar asentado en el acta de la sesión que celebre el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bl>
          </a:graphicData>
        </a:graphic>
      </p:graphicFrame>
      <p:sp>
        <p:nvSpPr>
          <p:cNvPr id="13" name="Rectángulo 12">
            <a:extLst>
              <a:ext uri="{FF2B5EF4-FFF2-40B4-BE49-F238E27FC236}">
                <a16:creationId xmlns:a16="http://schemas.microsoft.com/office/drawing/2014/main" id="{0A848043-3E64-98A8-7A75-B15A546BA49B}"/>
              </a:ext>
            </a:extLst>
          </p:cNvPr>
          <p:cNvSpPr/>
          <p:nvPr/>
        </p:nvSpPr>
        <p:spPr>
          <a:xfrm>
            <a:off x="548640" y="4105656"/>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4087368"/>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Junta de Prevención LDA/FT/FPADM (1 de 3)</a:t>
            </a:r>
          </a:p>
        </p:txBody>
      </p:sp>
      <p:graphicFrame>
        <p:nvGraphicFramePr>
          <p:cNvPr id="16" name="Table 15"/>
          <p:cNvGraphicFramePr>
            <a:graphicFrameLocks noGrp="1"/>
          </p:cNvGraphicFramePr>
          <p:nvPr/>
        </p:nvGraphicFramePr>
        <p:xfrm>
          <a:off x="548640" y="4507992"/>
          <a:ext cx="11091672" cy="167792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149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Objetivos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El objetivo de este Comité es servir de </a:t>
                      </a:r>
                      <a:r>
                        <a:rPr sz="1000" b="0" i="0" strike="sngStrike" lang="es-SV">
                          <a:solidFill>
                            <a:srgbClr val="B3261E"/>
                          </a:solidFill>
                          <a:latin typeface="Arial"/>
                        </a:rPr>
                        <a:t>enlace entre</a:t>
                      </a:r>
                      <a:r>
                        <a:rPr sz="1000" b="0" i="0" lang="es-SV">
                          <a:solidFill>
                            <a:srgbClr val="1B2333"/>
                          </a:solidFill>
                          <a:latin typeface="Arial"/>
                        </a:rPr>
                        <a:t> Oficialía de Cumplimiento </a:t>
                      </a:r>
                      <a:r>
                        <a:rPr sz="1000" b="0" i="0" strike="sngStrike" lang="es-SV">
                          <a:solidFill>
                            <a:srgbClr val="B3261E"/>
                          </a:solidFill>
                          <a:latin typeface="Arial"/>
                        </a:rPr>
                        <a:t>y el Consejo de Administración.</a:t>
                      </a:r>
                      <a:r>
                        <a:rPr sz="1000" b="0" i="0" lang="es-SV">
                          <a:solidFill>
                            <a:srgbClr val="1B2333"/>
                          </a:solidFill>
                          <a:latin typeface="Arial"/>
                        </a:rPr>
                        <a:t> en materia de prevención del lavado de dinero y </a:t>
                      </a:r>
                      <a:r>
                        <a:rPr sz="1000" b="0" i="0" strike="sngStrike" lang="es-SV">
                          <a:solidFill>
                            <a:srgbClr val="B3261E"/>
                          </a:solidFill>
                          <a:latin typeface="Arial"/>
                        </a:rPr>
                        <a:t>financiamiento al terrorismo.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El objetivo de este Comité es servir de </a:t>
                      </a:r>
                      <a:r>
                        <a:rPr sz="1000" b="1" i="0" u="sng" lang="es-SV">
                          <a:solidFill>
                            <a:srgbClr val="00376E"/>
                          </a:solidFill>
                          <a:latin typeface="Arial"/>
                        </a:rPr>
                        <a:t>apoyo a la Gerencia de</a:t>
                      </a:r>
                      <a:r>
                        <a:rPr sz="1000" b="0" i="0" lang="es-SV">
                          <a:solidFill>
                            <a:srgbClr val="1B2333"/>
                          </a:solidFill>
                          <a:latin typeface="Arial"/>
                        </a:rPr>
                        <a:t> Oficialía de Cumplimiento, en materia de prevención del Lavado de Dinero y </a:t>
                      </a:r>
                      <a:r>
                        <a:rPr sz="1000" b="1" i="0" u="sng" lang="es-SV">
                          <a:solidFill>
                            <a:srgbClr val="00376E"/>
                          </a:solidFill>
                          <a:latin typeface="Arial"/>
                        </a:rPr>
                        <a:t>Activos, Financiamiento del Terrorismo y la Financiación de la Proliferación de Armas de Destrucción Masiva, y servir de enlace entre la Gerencia de Oficialía de Cumplimiento y el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150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a) </a:t>
                      </a:r>
                      <a:r>
                        <a:rPr sz="1000" b="0" i="0" strike="sngStrike" lang="es-SV">
                          <a:solidFill>
                            <a:srgbClr val="B3261E"/>
                          </a:solidFill>
                          <a:latin typeface="Arial"/>
                        </a:rPr>
                        <a:t>Revisar y proponer</a:t>
                      </a:r>
                      <a:r>
                        <a:rPr sz="1000" b="0" i="0" lang="es-SV">
                          <a:solidFill>
                            <a:srgbClr val="1B2333"/>
                          </a:solidFill>
                          <a:latin typeface="Arial"/>
                        </a:rPr>
                        <a:t> mejoras a la política </a:t>
                      </a:r>
                      <a:r>
                        <a:rPr sz="1000" b="0" i="0" strike="sngStrike" lang="es-SV">
                          <a:solidFill>
                            <a:srgbClr val="B3261E"/>
                          </a:solidFill>
                          <a:latin typeface="Arial"/>
                        </a:rPr>
                        <a:t>institucional</a:t>
                      </a:r>
                      <a:r>
                        <a:rPr sz="1000" b="0" i="0" lang="es-SV">
                          <a:solidFill>
                            <a:srgbClr val="1B2333"/>
                          </a:solidFill>
                          <a:latin typeface="Arial"/>
                        </a:rPr>
                        <a:t> de prevención del </a:t>
                      </a:r>
                      <a:r>
                        <a:rPr sz="1000" b="0" i="0" strike="sngStrike" lang="es-SV">
                          <a:solidFill>
                            <a:srgbClr val="B3261E"/>
                          </a:solidFill>
                          <a:latin typeface="Arial"/>
                        </a:rPr>
                        <a:t>lavado de dinero y financiamiento al terrorismo,</a:t>
                      </a:r>
                      <a:r>
                        <a:rPr sz="1000" b="0" i="0" lang="es-SV">
                          <a:solidFill>
                            <a:srgbClr val="1B2333"/>
                          </a:solidFill>
                          <a:latin typeface="Arial"/>
                        </a:rPr>
                        <a:t> con apego al marco legal nacional e internacional.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a) </a:t>
                      </a:r>
                      <a:r>
                        <a:rPr sz="1000" b="1" i="0" u="sng" lang="es-SV">
                          <a:solidFill>
                            <a:srgbClr val="00376E"/>
                          </a:solidFill>
                          <a:latin typeface="Arial"/>
                        </a:rPr>
                        <a:t>Instruir</a:t>
                      </a:r>
                      <a:r>
                        <a:rPr sz="1000" b="0" i="0" lang="es-SV">
                          <a:solidFill>
                            <a:srgbClr val="1B2333"/>
                          </a:solidFill>
                          <a:latin typeface="Arial"/>
                        </a:rPr>
                        <a:t> mejoras a la política </a:t>
                      </a:r>
                      <a:r>
                        <a:rPr sz="1000" b="1" i="0" u="sng" lang="es-SV">
                          <a:solidFill>
                            <a:srgbClr val="00376E"/>
                          </a:solidFill>
                          <a:latin typeface="Arial"/>
                        </a:rPr>
                        <a:t>de la Cooperativa en materia</a:t>
                      </a:r>
                      <a:r>
                        <a:rPr sz="1000" b="0" i="0" lang="es-SV">
                          <a:solidFill>
                            <a:srgbClr val="1B2333"/>
                          </a:solidFill>
                          <a:latin typeface="Arial"/>
                        </a:rPr>
                        <a:t> de prevención del </a:t>
                      </a:r>
                      <a:r>
                        <a:rPr sz="1000" b="1" i="0" u="sng" lang="es-SV">
                          <a:solidFill>
                            <a:srgbClr val="00376E"/>
                          </a:solidFill>
                          <a:latin typeface="Arial"/>
                        </a:rPr>
                        <a:t>LDA/FT/FPADM, mediante acuerdos o modificaciones</a:t>
                      </a:r>
                      <a:r>
                        <a:rPr sz="1000" b="0" i="0" lang="es-SV">
                          <a:solidFill>
                            <a:srgbClr val="1B2333"/>
                          </a:solidFill>
                          <a:latin typeface="Arial"/>
                        </a:rPr>
                        <a:t> con apego al marco legal nacional e internacional.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Junta de Prevención LDA/FT/FPADM (2 de 3)</a:t>
            </a:r>
          </a:p>
        </p:txBody>
      </p:sp>
      <p:graphicFrame>
        <p:nvGraphicFramePr>
          <p:cNvPr id="16" name="Table 15"/>
          <p:cNvGraphicFramePr>
            <a:graphicFrameLocks noGrp="1"/>
          </p:cNvGraphicFramePr>
          <p:nvPr/>
        </p:nvGraphicFramePr>
        <p:xfrm>
          <a:off x="548640" y="566928"/>
          <a:ext cx="11091672" cy="539140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151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b) </a:t>
                      </a:r>
                      <a:r>
                        <a:rPr sz="1000" b="0" i="0" strike="sngStrike" lang="es-SV">
                          <a:solidFill>
                            <a:srgbClr val="B3261E"/>
                          </a:solidFill>
                          <a:latin typeface="Arial"/>
                        </a:rPr>
                        <a:t>Revisar y recomendar la aprobación del plan de trabajo anual</a:t>
                      </a:r>
                      <a:r>
                        <a:rPr sz="1000" b="0" i="0" lang="es-SV">
                          <a:solidFill>
                            <a:srgbClr val="1B2333"/>
                          </a:solidFill>
                          <a:latin typeface="Arial"/>
                        </a:rPr>
                        <a:t> de Oficialía de Cumplimiento </a:t>
                      </a:r>
                      <a:r>
                        <a:rPr sz="1000" b="0" i="0" strike="sngStrike" lang="es-SV">
                          <a:solidFill>
                            <a:srgbClr val="B3261E"/>
                          </a:solidFill>
                          <a:latin typeface="Arial"/>
                        </a:rPr>
                        <a:t>ante Junta Directiva u Órgano equivalente.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b) </a:t>
                      </a:r>
                      <a:r>
                        <a:rPr sz="1000" b="1" i="0" u="sng" lang="es-SV">
                          <a:solidFill>
                            <a:srgbClr val="00376E"/>
                          </a:solidFill>
                          <a:latin typeface="Arial"/>
                        </a:rPr>
                        <a:t>Dar seguimiento a la gestión que realiza la Gerencia</a:t>
                      </a:r>
                      <a:r>
                        <a:rPr sz="1000" b="0" i="0" lang="es-SV">
                          <a:solidFill>
                            <a:srgbClr val="1B2333"/>
                          </a:solidFill>
                          <a:latin typeface="Arial"/>
                        </a:rPr>
                        <a:t> de Oficialía de Cumplimiento.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152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c) </a:t>
                      </a:r>
                      <a:r>
                        <a:rPr sz="1000" b="0" i="0" strike="sngStrike" lang="es-SV">
                          <a:solidFill>
                            <a:srgbClr val="B3261E"/>
                          </a:solidFill>
                          <a:latin typeface="Arial"/>
                        </a:rPr>
                        <a:t>Analizar y recomendar la aprobación del presupuesto de funcionamiento de la</a:t>
                      </a:r>
                      <a:r>
                        <a:rPr sz="1000" b="0" i="0" lang="es-SV">
                          <a:solidFill>
                            <a:srgbClr val="1B2333"/>
                          </a:solidFill>
                          <a:latin typeface="Arial"/>
                        </a:rPr>
                        <a:t> Oficialía de Cumplimiento.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c) </a:t>
                      </a:r>
                      <a:r>
                        <a:rPr sz="1000" b="1" i="0" u="sng" lang="es-SV">
                          <a:solidFill>
                            <a:srgbClr val="00376E"/>
                          </a:solidFill>
                          <a:latin typeface="Arial"/>
                        </a:rPr>
                        <a:t>Conocer las deficiencias al programa de prevención, detectadas por la Gerencia de</a:t>
                      </a:r>
                      <a:r>
                        <a:rPr sz="1000" b="0" i="0" lang="es-SV">
                          <a:solidFill>
                            <a:srgbClr val="1B2333"/>
                          </a:solidFill>
                          <a:latin typeface="Arial"/>
                        </a:rPr>
                        <a:t> Oficialía de Cumplimiento; </a:t>
                      </a:r>
                      <a:r>
                        <a:rPr sz="1000" b="1" i="0" u="sng" lang="es-SV">
                          <a:solidFill>
                            <a:srgbClr val="00376E"/>
                          </a:solidFill>
                          <a:latin typeface="Arial"/>
                        </a:rPr>
                        <a:t>así como las acciones o medidas correctivas que se hayan implementado para tales efectos.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153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d) </a:t>
                      </a:r>
                      <a:r>
                        <a:rPr sz="1000" b="0" i="0" strike="sngStrike" lang="es-SV">
                          <a:solidFill>
                            <a:srgbClr val="B3261E"/>
                          </a:solidFill>
                          <a:latin typeface="Arial"/>
                        </a:rPr>
                        <a:t>Seguimiento de la gestión</a:t>
                      </a:r>
                      <a:r>
                        <a:rPr sz="1000" b="0" i="0" lang="es-SV">
                          <a:solidFill>
                            <a:srgbClr val="1B2333"/>
                          </a:solidFill>
                          <a:latin typeface="Arial"/>
                        </a:rPr>
                        <a:t> de la Oficialía de cumplimiento </a:t>
                      </a:r>
                      <a:r>
                        <a:rPr sz="1000" b="0" i="0" strike="sngStrike" lang="es-SV">
                          <a:solidFill>
                            <a:srgbClr val="B3261E"/>
                          </a:solidFill>
                          <a:latin typeface="Arial"/>
                        </a:rPr>
                        <a:t>conforme al Plan Anual de Trabajo.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d) </a:t>
                      </a:r>
                      <a:r>
                        <a:rPr sz="1000" b="1" i="0" u="sng" lang="es-SV">
                          <a:solidFill>
                            <a:srgbClr val="00376E"/>
                          </a:solidFill>
                          <a:latin typeface="Arial"/>
                        </a:rPr>
                        <a:t>Revisar la ejecución del Plan Anual de Capacitación, que involucre a todo el personal de la Cooperativa y que, además, incluya la capacitación especializada para el personal</a:t>
                      </a:r>
                      <a:r>
                        <a:rPr sz="1000" b="0" i="0" lang="es-SV">
                          <a:solidFill>
                            <a:srgbClr val="1B2333"/>
                          </a:solidFill>
                          <a:latin typeface="Arial"/>
                        </a:rPr>
                        <a:t> de la Oficialía de Cumplimiento </a:t>
                      </a:r>
                      <a:r>
                        <a:rPr sz="1000" b="1" i="0" u="sng" lang="es-SV">
                          <a:solidFill>
                            <a:srgbClr val="00376E"/>
                          </a:solidFill>
                          <a:latin typeface="Arial"/>
                        </a:rPr>
                        <a:t>en temas de LDA/FT/FPADM.</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154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e) </a:t>
                      </a:r>
                      <a:r>
                        <a:rPr sz="1000" b="0" i="0" strike="sngStrike" lang="es-SV">
                          <a:solidFill>
                            <a:srgbClr val="B3261E"/>
                          </a:solidFill>
                          <a:latin typeface="Arial"/>
                        </a:rPr>
                        <a:t>Asegurarse que la Oficialía tenga acceso irrestricto a toda la información y documentación que maneja la Institución relacionada con el lavado de dinero y de activos.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e) </a:t>
                      </a:r>
                      <a:r>
                        <a:rPr sz="1000" b="1" i="0" u="sng" lang="es-SV">
                          <a:solidFill>
                            <a:srgbClr val="00376E"/>
                          </a:solidFill>
                          <a:latin typeface="Arial"/>
                        </a:rPr>
                        <a:t>Revisar que el enfoque de la Gerencia de Oficialía de Cumplimiento, además de fortalecer la estructura de control interno, esté orientado a la prevención y gestión de riesgos de LDA/FT/FPADM.</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155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Las funciones del presidente podrán ser ampliadas a solicitud del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156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El Gerente de Oficialía de Cumplimiento será el secretario del Comité de PLDA/FT/FPADM, y tendrá al menos las siguientes funciones: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157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f) </a:t>
                      </a:r>
                      <a:r>
                        <a:rPr sz="1000" b="0" i="0" strike="sngStrike" lang="es-SV">
                          <a:solidFill>
                            <a:srgbClr val="B3261E"/>
                          </a:solidFill>
                          <a:latin typeface="Arial"/>
                        </a:rPr>
                        <a:t>Promover y garantizar la independencia de la Oficialía de forma institucional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f) </a:t>
                      </a:r>
                      <a:r>
                        <a:rPr sz="1000" b="1" i="0" u="sng" lang="es-SV">
                          <a:solidFill>
                            <a:srgbClr val="00376E"/>
                          </a:solidFill>
                          <a:latin typeface="Arial"/>
                        </a:rPr>
                        <a:t>Revisar por lo menos cada tres años, la estructura organizativa de la Gerencia de Oficialía de Cumplimiento, en cuanto a recurso humano, en relación proporcional al tamaño de la Cooperativa, cantidad de clientes, productos y servicios, así como la operatividad que tenga la misma, para determinar la necesidad de mayores recursos a fin de mitigar los riesgos derivados de LDA/FT/FPADM.</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158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Cada miembro del Comité de PLDA/FT/FPADM, tendrá los siguientes deberes y obligaciones: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159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g) </a:t>
                      </a:r>
                      <a:r>
                        <a:rPr sz="1000" b="1" i="0" u="sng" lang="es-SV">
                          <a:solidFill>
                            <a:srgbClr val="00376E"/>
                          </a:solidFill>
                          <a:latin typeface="Arial"/>
                        </a:rPr>
                        <a:t>Promover y garantizar la independencia y autonomía de la Gerencia de Oficialía de Cumplimiento dentro de la Cooperativa.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 Junta de Prevención LDA/FT/FPADM (3 de 3)</a:t>
            </a:r>
          </a:p>
        </p:txBody>
      </p:sp>
      <p:graphicFrame>
        <p:nvGraphicFramePr>
          <p:cNvPr id="16" name="Table 15"/>
          <p:cNvGraphicFramePr>
            <a:graphicFrameLocks noGrp="1"/>
          </p:cNvGraphicFramePr>
          <p:nvPr/>
        </p:nvGraphicFramePr>
        <p:xfrm>
          <a:off x="548640" y="566928"/>
          <a:ext cx="11091672" cy="451002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160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h) </a:t>
                      </a:r>
                      <a:r>
                        <a:rPr sz="1000" b="1" i="0" u="sng" lang="es-SV">
                          <a:solidFill>
                            <a:srgbClr val="00376E"/>
                          </a:solidFill>
                          <a:latin typeface="Arial"/>
                        </a:rPr>
                        <a:t>Asegurarse que la Gerencia de Oficialía de Cumplimiento tenga acceso irrestricto a toda la información y documentación que maneja la Cooperativa relacionada con el LDA/FT/FPADM.</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161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i) </a:t>
                      </a:r>
                      <a:r>
                        <a:rPr sz="1000" b="1" i="0" u="sng" lang="es-SV">
                          <a:solidFill>
                            <a:srgbClr val="00376E"/>
                          </a:solidFill>
                          <a:latin typeface="Arial"/>
                        </a:rPr>
                        <a:t>Conocer las revisiones de auditoría interna, externa y entes reguladores realizadas a la Gerencia de Oficialía de Cumplimiento, así como de los hallazgos señalados para su debida atención y seguimiento hasta su finalización.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162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El presidente del Comité de PLDA/FT/FPADM tendrá las siguientes funciones: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163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Conformación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strike="sngStrike" lang="es-SV">
                          <a:solidFill>
                            <a:srgbClr val="B3261E"/>
                          </a:solidFill>
                          <a:latin typeface="Arial"/>
                        </a:rPr>
                        <a:t>Está integrado</a:t>
                      </a:r>
                      <a:r>
                        <a:rPr sz="1000" b="0" i="0" lang="es-SV">
                          <a:solidFill>
                            <a:srgbClr val="1B2333"/>
                          </a:solidFill>
                          <a:latin typeface="Arial"/>
                        </a:rPr>
                        <a:t> por los siguientes miembros: </a:t>
                      </a:r>
                      <a:r>
                        <a:rPr sz="1000" b="0" i="0" strike="sngStrike" lang="es-SV">
                          <a:solidFill>
                            <a:srgbClr val="B3261E"/>
                          </a:solidFill>
                          <a:latin typeface="Arial"/>
                        </a:rPr>
                        <a:t>un Representante</a:t>
                      </a:r>
                      <a:r>
                        <a:rPr sz="1000" b="0" i="0" lang="es-SV">
                          <a:solidFill>
                            <a:srgbClr val="1B2333"/>
                          </a:solidFill>
                          <a:latin typeface="Arial"/>
                        </a:rPr>
                        <a:t> del Consejo de Administración, un Representante de la Junta de Vigilancia, Gerente General, Gerente </a:t>
                      </a:r>
                      <a:r>
                        <a:rPr sz="1000" b="0" i="0" strike="sngStrike" lang="es-SV">
                          <a:solidFill>
                            <a:srgbClr val="B3261E"/>
                          </a:solidFill>
                          <a:latin typeface="Arial"/>
                        </a:rPr>
                        <a:t>de Operaciones,</a:t>
                      </a:r>
                      <a:r>
                        <a:rPr sz="1000" b="0" i="0" lang="es-SV">
                          <a:solidFill>
                            <a:srgbClr val="1B2333"/>
                          </a:solidFill>
                          <a:latin typeface="Arial"/>
                        </a:rPr>
                        <a:t> Jefe de Administración de Riesgos, </a:t>
                      </a:r>
                      <a:r>
                        <a:rPr sz="1000" b="0" i="0" strike="sngStrike" lang="es-SV">
                          <a:solidFill>
                            <a:srgbClr val="B3261E"/>
                          </a:solidFill>
                          <a:latin typeface="Arial"/>
                        </a:rPr>
                        <a:t>Oficial</a:t>
                      </a:r>
                      <a:r>
                        <a:rPr sz="1000" b="0" i="0" lang="es-SV">
                          <a:solidFill>
                            <a:srgbClr val="1B2333"/>
                          </a:solidFill>
                          <a:latin typeface="Arial"/>
                        </a:rPr>
                        <a:t> de Cumplimiento y Auditor Interno.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El Comité estará conformado</a:t>
                      </a:r>
                      <a:r>
                        <a:rPr sz="1000" b="0" i="0" lang="es-SV">
                          <a:solidFill>
                            <a:srgbClr val="1B2333"/>
                          </a:solidFill>
                          <a:latin typeface="Arial"/>
                        </a:rPr>
                        <a:t> por los siguientes miembros </a:t>
                      </a:r>
                      <a:r>
                        <a:rPr sz="1000" b="1" i="0" u="sng" lang="es-SV">
                          <a:solidFill>
                            <a:srgbClr val="00376E"/>
                          </a:solidFill>
                          <a:latin typeface="Arial"/>
                        </a:rPr>
                        <a:t>propietarios: el director presidente del Consejo de Administración, el Tesorero</a:t>
                      </a:r>
                      <a:r>
                        <a:rPr sz="1000" b="0" i="0" lang="es-SV">
                          <a:solidFill>
                            <a:srgbClr val="1B2333"/>
                          </a:solidFill>
                          <a:latin typeface="Arial"/>
                        </a:rPr>
                        <a:t> del Consejo de Administración, un Representante de la Junta de Vigilancia, Gerente General, Gerente </a:t>
                      </a:r>
                      <a:r>
                        <a:rPr sz="1000" b="1" i="0" u="sng" lang="es-SV">
                          <a:solidFill>
                            <a:srgbClr val="00376E"/>
                          </a:solidFill>
                          <a:latin typeface="Arial"/>
                        </a:rPr>
                        <a:t>Legal y Cumplimiento Normativo, Gerente de Operaciones, Gerente de Negocios,</a:t>
                      </a:r>
                      <a:r>
                        <a:rPr sz="1000" b="0" i="0" lang="es-SV">
                          <a:solidFill>
                            <a:srgbClr val="1B2333"/>
                          </a:solidFill>
                          <a:latin typeface="Arial"/>
                        </a:rPr>
                        <a:t> jefe de Administración de Riesgos, </a:t>
                      </a:r>
                      <a:r>
                        <a:rPr sz="1000" b="1" i="0" u="sng" lang="es-SV">
                          <a:solidFill>
                            <a:srgbClr val="00376E"/>
                          </a:solidFill>
                          <a:latin typeface="Arial"/>
                        </a:rPr>
                        <a:t>Gerente de Oficialía</a:t>
                      </a:r>
                      <a:r>
                        <a:rPr sz="1000" b="0" i="0" lang="es-SV">
                          <a:solidFill>
                            <a:srgbClr val="1B2333"/>
                          </a:solidFill>
                          <a:latin typeface="Arial"/>
                        </a:rPr>
                        <a:t> de Cumplimiento y Auditor Interno.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164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Conformación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Se designa como presidente del Comité, al director presidente del Consejo de Administración y con el rol de secretario al Oficial de Cumplimiento.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165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Conformación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Los requisitos para ser miembro del Comité de Junta de Prevención del LDA/FT/FPADM se detallan en Anexo 6 del Código de Gobierno Corporativo.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166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strike="sngStrike" lang="es-SV">
                          <a:solidFill>
                            <a:srgbClr val="B3261E"/>
                          </a:solidFill>
                          <a:latin typeface="Arial"/>
                        </a:rPr>
                        <a:t>Los miembros del Comité de Prevención de Lavado de Dinero y Financiamiento al Terrorismodeben reunirse al menos una vez al mes, o cuando el Oficial de cumplimiento determine necesario convocar a sus miembros.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El Comité de PLDA/FT/FPADM, se reunirá ordinariamente al menos de manera trimestral y extraordinariamente cuando sea requerido por cualquier miembro del referido Comité, en ambos casos, puede sesionar de forma presencial o virtual.</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bl>
          </a:graphicData>
        </a:graphic>
      </p:graphicFrame>
      <p:sp>
        <p:nvSpPr>
          <p:cNvPr id="13" name="Rectángulo 12">
            <a:extLst>
              <a:ext uri="{FF2B5EF4-FFF2-40B4-BE49-F238E27FC236}">
                <a16:creationId xmlns:a16="http://schemas.microsoft.com/office/drawing/2014/main" id="{0A848043-3E64-98A8-7A75-B15A546BA49B}"/>
              </a:ext>
            </a:extLst>
          </p:cNvPr>
          <p:cNvSpPr/>
          <p:nvPr/>
        </p:nvSpPr>
        <p:spPr>
          <a:xfrm>
            <a:off x="548640" y="5223256"/>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5204968"/>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del Fondo de Solidaridad (1 de 2)</a:t>
            </a:r>
          </a:p>
        </p:txBody>
      </p:sp>
      <p:graphicFrame>
        <p:nvGraphicFramePr>
          <p:cNvPr id="16" name="Table 15"/>
          <p:cNvGraphicFramePr>
            <a:graphicFrameLocks noGrp="1"/>
          </p:cNvGraphicFramePr>
          <p:nvPr/>
        </p:nvGraphicFramePr>
        <p:xfrm>
          <a:off x="548640" y="5625592"/>
          <a:ext cx="11091672" cy="60858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167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Son atribuciones del Comité </a:t>
                      </a:r>
                      <a:r>
                        <a:rPr sz="1000" b="0" i="0" strike="sngStrike" lang="es-SV">
                          <a:solidFill>
                            <a:srgbClr val="B3261E"/>
                          </a:solidFill>
                          <a:latin typeface="Arial"/>
                        </a:rPr>
                        <a:t>de Gestión del Fondo,</a:t>
                      </a:r>
                      <a:r>
                        <a:rPr sz="1000" b="0" i="0" lang="es-SV">
                          <a:solidFill>
                            <a:srgbClr val="1B2333"/>
                          </a:solidFill>
                          <a:latin typeface="Arial"/>
                        </a:rPr>
                        <a:t> las siguientes: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Son atribuciones del Comité </a:t>
                      </a:r>
                      <a:r>
                        <a:rPr sz="1000" b="1" i="0" u="sng" lang="es-SV">
                          <a:solidFill>
                            <a:srgbClr val="00376E"/>
                          </a:solidFill>
                          <a:latin typeface="Arial"/>
                        </a:rPr>
                        <a:t>del Fondo de Solidaridad,</a:t>
                      </a:r>
                      <a:r>
                        <a:rPr sz="1000" b="0" i="0" lang="es-SV">
                          <a:solidFill>
                            <a:srgbClr val="1B2333"/>
                          </a:solidFill>
                          <a:latin typeface="Arial"/>
                        </a:rPr>
                        <a:t> las siguientes: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Comité del Fondo de Solidaridad (2 de 2)</a:t>
            </a:r>
          </a:p>
        </p:txBody>
      </p:sp>
      <p:graphicFrame>
        <p:nvGraphicFramePr>
          <p:cNvPr id="16" name="Table 15"/>
          <p:cNvGraphicFramePr>
            <a:graphicFrameLocks noGrp="1"/>
          </p:cNvGraphicFramePr>
          <p:nvPr/>
        </p:nvGraphicFramePr>
        <p:xfrm>
          <a:off x="548640" y="566928"/>
          <a:ext cx="11091672" cy="534314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168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k) Autorizar el retiro anticipado de los miembros, de acuerdo a lo estipulado en el </a:t>
                      </a:r>
                      <a:r>
                        <a:rPr sz="1000" b="0" i="0" strike="sngStrike" lang="es-SV">
                          <a:solidFill>
                            <a:srgbClr val="B3261E"/>
                          </a:solidFill>
                          <a:latin typeface="Arial"/>
                        </a:rPr>
                        <a:t>presente reglamento.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k) Autorizar el retiro anticipado de los miembros, de acuerdo a lo estipulado en el </a:t>
                      </a:r>
                      <a:r>
                        <a:rPr sz="1000" b="1" i="0" u="sng" lang="es-SV">
                          <a:solidFill>
                            <a:srgbClr val="00376E"/>
                          </a:solidFill>
                          <a:latin typeface="Arial"/>
                        </a:rPr>
                        <a:t>reglamento del Fondo de Solidaridad.</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169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Responsabilidades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n) Ratificar el ingreso de los miembros que han sido aprobados por los ejecutivos autorizados por COMEDICA Analizar, y emitir opinión a las solicitudes de los Asociados que en principio no reúnen los requisitos y que el Asociado solicita revisión.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n) Ratificar el ingreso de los miembros </a:t>
                      </a:r>
                      <a:r>
                        <a:rPr sz="1000" b="1" i="0" u="sng" lang="es-SV">
                          <a:solidFill>
                            <a:srgbClr val="00376E"/>
                          </a:solidFill>
                          <a:latin typeface="Arial"/>
                        </a:rPr>
                        <a:t>que reúnen los requisitos establecidos en el Art. 6 del reglamento, y</a:t>
                      </a:r>
                      <a:r>
                        <a:rPr sz="1000" b="0" i="0" lang="es-SV">
                          <a:solidFill>
                            <a:srgbClr val="1B2333"/>
                          </a:solidFill>
                          <a:latin typeface="Arial"/>
                        </a:rPr>
                        <a:t> que han sido aprobados por los ejecutivos autorizados por COMEDICA </a:t>
                      </a:r>
                      <a:r>
                        <a:rPr sz="1000" b="1" i="0" u="sng" lang="es-SV">
                          <a:solidFill>
                            <a:srgbClr val="00376E"/>
                          </a:solidFill>
                          <a:latin typeface="Arial"/>
                        </a:rPr>
                        <a:t>de R.L.;</a:t>
                      </a:r>
                      <a:r>
                        <a:rPr sz="1000" b="0" i="0" lang="es-SV">
                          <a:solidFill>
                            <a:srgbClr val="1B2333"/>
                          </a:solidFill>
                          <a:latin typeface="Arial"/>
                        </a:rPr>
                        <a:t> Analizar, y emitir opinión a las solicitudes de los Asociados que en principio no reúnen los requisitos </a:t>
                      </a:r>
                      <a:r>
                        <a:rPr sz="1000" b="1" i="0" u="sng" lang="es-SV">
                          <a:solidFill>
                            <a:srgbClr val="00376E"/>
                          </a:solidFill>
                          <a:latin typeface="Arial"/>
                        </a:rPr>
                        <a:t>en el Art. 6</a:t>
                      </a:r>
                      <a:r>
                        <a:rPr sz="1000" b="0" i="0" lang="es-SV">
                          <a:solidFill>
                            <a:srgbClr val="1B2333"/>
                          </a:solidFill>
                          <a:latin typeface="Arial"/>
                        </a:rPr>
                        <a:t> y que el Asociado solicita revisión.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170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Conformación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strike="sngStrike" lang="es-SV">
                          <a:solidFill>
                            <a:srgbClr val="B3261E"/>
                          </a:solidFill>
                          <a:latin typeface="Arial"/>
                        </a:rPr>
                        <a:t>Está integrado</a:t>
                      </a:r>
                      <a:r>
                        <a:rPr sz="1000" b="0" i="0" lang="es-SV">
                          <a:solidFill>
                            <a:srgbClr val="1B2333"/>
                          </a:solidFill>
                          <a:latin typeface="Arial"/>
                        </a:rPr>
                        <a:t> por el Presidente y Secretario del Consejo de Administración </a:t>
                      </a:r>
                      <a:r>
                        <a:rPr sz="1000" b="0" i="0" strike="sngStrike" lang="es-SV">
                          <a:solidFill>
                            <a:srgbClr val="B3261E"/>
                          </a:solidFill>
                          <a:latin typeface="Arial"/>
                        </a:rPr>
                        <a:t>con los cargos de Presidente y Secretario respectivamente,</a:t>
                      </a:r>
                      <a:r>
                        <a:rPr sz="1000" b="0" i="0" lang="es-SV">
                          <a:solidFill>
                            <a:srgbClr val="1B2333"/>
                          </a:solidFill>
                          <a:latin typeface="Arial"/>
                        </a:rPr>
                        <a:t> Presidente de la Junta de Vigilancia </a:t>
                      </a:r>
                      <a:r>
                        <a:rPr sz="1000" b="0" i="0" strike="sngStrike" lang="es-SV">
                          <a:solidFill>
                            <a:srgbClr val="B3261E"/>
                          </a:solidFill>
                          <a:latin typeface="Arial"/>
                        </a:rPr>
                        <a:t>con el cargo de Vocal, un Primer Suplente nombrado por</a:t>
                      </a:r>
                      <a:r>
                        <a:rPr sz="1000" b="0" i="0" lang="es-SV">
                          <a:solidFill>
                            <a:srgbClr val="1B2333"/>
                          </a:solidFill>
                          <a:latin typeface="Arial"/>
                        </a:rPr>
                        <a:t> el Consejo de Administración; </a:t>
                      </a:r>
                      <a:r>
                        <a:rPr sz="1000" b="0" i="0" strike="sngStrike" lang="es-SV">
                          <a:solidFill>
                            <a:srgbClr val="B3261E"/>
                          </a:solidFill>
                          <a:latin typeface="Arial"/>
                        </a:rPr>
                        <a:t>y el Jefe del Fondo de Solidaridad</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Los cargos de presidente y secretario de dicho Comité serán desempeñados</a:t>
                      </a:r>
                      <a:r>
                        <a:rPr sz="1000" b="0" i="0" lang="es-SV">
                          <a:solidFill>
                            <a:srgbClr val="1B2333"/>
                          </a:solidFill>
                          <a:latin typeface="Arial"/>
                        </a:rPr>
                        <a:t> por el presidente y secretario del Consejo de Administración, </a:t>
                      </a:r>
                      <a:r>
                        <a:rPr sz="1000" b="1" i="0" u="sng" lang="es-SV">
                          <a:solidFill>
                            <a:srgbClr val="00376E"/>
                          </a:solidFill>
                          <a:latin typeface="Arial"/>
                        </a:rPr>
                        <a:t>en vigencia respectivamente; el cargo de vocal será desempeñado por el</a:t>
                      </a:r>
                      <a:r>
                        <a:rPr sz="1000" b="0" i="0" lang="es-SV">
                          <a:solidFill>
                            <a:srgbClr val="1B2333"/>
                          </a:solidFill>
                          <a:latin typeface="Arial"/>
                        </a:rPr>
                        <a:t> presidente de la Junta de Vigilancia </a:t>
                      </a:r>
                      <a:r>
                        <a:rPr sz="1000" b="1" i="0" u="sng" lang="es-SV">
                          <a:solidFill>
                            <a:srgbClr val="00376E"/>
                          </a:solidFill>
                          <a:latin typeface="Arial"/>
                        </a:rPr>
                        <a:t>en vigencia. Asimismo,</a:t>
                      </a:r>
                      <a:r>
                        <a:rPr sz="1000" b="0" i="0" lang="es-SV">
                          <a:solidFill>
                            <a:srgbClr val="1B2333"/>
                          </a:solidFill>
                          <a:latin typeface="Arial"/>
                        </a:rPr>
                        <a:t> el Consejo de Administración </a:t>
                      </a:r>
                      <a:r>
                        <a:rPr sz="1000" b="1" i="0" u="sng" lang="es-SV">
                          <a:solidFill>
                            <a:srgbClr val="00376E"/>
                          </a:solidFill>
                          <a:latin typeface="Arial"/>
                        </a:rPr>
                        <a:t>nombrará a un Primer Suplente, para un período de tres años, para llenar las vacantes que ocurran; y como asesor administrativo, el jefe de Atención al Asociado y Clientes.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00376E"/>
                          </a:solidFill>
                          <a:latin typeface="Arial"/>
                        </a:rPr>
                        <a:t>Modificado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171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Conformación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u="sng" lang="es-SV">
                          <a:solidFill>
                            <a:srgbClr val="00376E"/>
                          </a:solidFill>
                          <a:latin typeface="Arial"/>
                        </a:rPr>
                        <a:t>Los suplentes concurrirán a las sesiones del Comité únicamente con voz, excepto cuando suplan a los propietarios en cuyo caso tendrán voto.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172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Conformación del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u="sng" lang="es-SV">
                          <a:solidFill>
                            <a:srgbClr val="00376E"/>
                          </a:solidFill>
                          <a:latin typeface="Arial"/>
                        </a:rPr>
                        <a:t>Los requisitos para ser miembro del Comité de Fondo de Solidaridad se detallan en Anexo 6 del Código de Gobierno Corporativo.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173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a) </a:t>
                      </a:r>
                      <a:r>
                        <a:rPr sz="1000" b="0" i="0" strike="sngStrike" lang="es-SV">
                          <a:solidFill>
                            <a:srgbClr val="B3261E"/>
                          </a:solidFill>
                          <a:latin typeface="Arial"/>
                        </a:rPr>
                        <a:t>El Comité de Gestión sesionará al menos una vez al mes y extraordinariamente cuando las circunstancias lo exijan.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B3261E"/>
                          </a:solidFill>
                          <a:latin typeface="Arial"/>
                        </a:rPr>
                        <a:t>Se elimina.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B3261E"/>
                          </a:solidFill>
                          <a:latin typeface="Arial"/>
                        </a:rPr>
                        <a:t>Eliminado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174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b) </a:t>
                      </a:r>
                      <a:r>
                        <a:rPr sz="1000" b="1" i="0" u="sng" lang="es-SV">
                          <a:solidFill>
                            <a:srgbClr val="00376E"/>
                          </a:solidFill>
                          <a:latin typeface="Arial"/>
                        </a:rPr>
                        <a:t>Sus resoluciones se tomarán por mayoría de votos.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5"/>
                  </a:ext>
                </a:extLst>
              </a:tr>
              <a:tr h="228600">
                <a:tc>
                  <a:txBody>
                    <a:bodyPr/>
                    <a:lstStyle/>
                    <a:p>
                      <a:pPr algn="just"/>
                      <a:r>
                        <a:rPr sz="1000" b="1" i="0" lang="es-SV">
                          <a:solidFill>
                            <a:srgbClr val="00376E"/>
                          </a:solidFill>
                          <a:latin typeface="Arial"/>
                        </a:rPr>
                        <a:t>175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c) </a:t>
                      </a:r>
                      <a:r>
                        <a:rPr sz="1000" b="1" i="0" u="sng" lang="es-SV">
                          <a:solidFill>
                            <a:srgbClr val="00376E"/>
                          </a:solidFill>
                          <a:latin typeface="Arial"/>
                        </a:rPr>
                        <a:t>En caso de empate el presidente o quien haga sus veces tendrá voto de calidad.</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176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d) </a:t>
                      </a:r>
                      <a:r>
                        <a:rPr sz="1000" b="1" i="0" u="sng" lang="es-SV">
                          <a:solidFill>
                            <a:srgbClr val="00376E"/>
                          </a:solidFill>
                          <a:latin typeface="Arial"/>
                        </a:rPr>
                        <a:t>La presencia de dos de sus miembros constituirá quórum, ya sean propietarios o suplentes.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177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Frecuencia de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e) </a:t>
                      </a:r>
                      <a:r>
                        <a:rPr sz="1000" b="1" i="0" u="sng" lang="es-SV">
                          <a:solidFill>
                            <a:srgbClr val="00376E"/>
                          </a:solidFill>
                          <a:latin typeface="Arial"/>
                        </a:rPr>
                        <a:t>El secretario del Comité o quien haga sus veces, llevará el libro de Actas respectivo.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Normas generales de aplicación para todos los Comités (1 de 2)</a:t>
            </a:r>
          </a:p>
        </p:txBody>
      </p:sp>
      <p:graphicFrame>
        <p:nvGraphicFramePr>
          <p:cNvPr id="16" name="Table 15"/>
          <p:cNvGraphicFramePr>
            <a:graphicFrameLocks noGrp="1"/>
          </p:cNvGraphicFramePr>
          <p:nvPr/>
        </p:nvGraphicFramePr>
        <p:xfrm>
          <a:off x="548640" y="566928"/>
          <a:ext cx="11091672" cy="483260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178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Normas generales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a) </a:t>
                      </a:r>
                      <a:r>
                        <a:rPr sz="1000" b="1" i="0" u="sng" lang="es-SV">
                          <a:solidFill>
                            <a:srgbClr val="00376E"/>
                          </a:solidFill>
                          <a:latin typeface="Arial"/>
                        </a:rPr>
                        <a:t>La convocatoria a participar en los Comités se comunicará al menos con un día de anticipación, ya sea vía escrita, correo electrónico o cualquier otro medio que la tecnología lo permita.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179</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Normas generales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b) </a:t>
                      </a:r>
                      <a:r>
                        <a:rPr sz="1000" b="1" i="0" u="sng" lang="es-SV">
                          <a:solidFill>
                            <a:srgbClr val="00376E"/>
                          </a:solidFill>
                          <a:latin typeface="Arial"/>
                        </a:rPr>
                        <a:t>Confirmar vía telefónica, por escrito, correo electrónico o cualquier otro medio que la tecnología permita, la confirmación de asistencia o ausencia a la sesión de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180</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Normas generales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c) </a:t>
                      </a:r>
                      <a:r>
                        <a:rPr sz="1000" b="1" i="0" u="sng" lang="es-SV">
                          <a:solidFill>
                            <a:srgbClr val="00376E"/>
                          </a:solidFill>
                          <a:latin typeface="Arial"/>
                        </a:rPr>
                        <a:t>Al inicio de la reunión, la agenda será leída obligatoriamente y sometida a aprobación del Comité con el quórum obligatorio para llevar a cabo la sesión.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181</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Normas generales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d) </a:t>
                      </a:r>
                      <a:r>
                        <a:rPr sz="1000" b="1" i="0" u="sng" lang="es-SV">
                          <a:solidFill>
                            <a:srgbClr val="00376E"/>
                          </a:solidFill>
                          <a:latin typeface="Arial"/>
                        </a:rPr>
                        <a:t>El Secretario del Comité dará lectura al acta anterior para su ratificación y aprobación.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r h="228600">
                <a:tc>
                  <a:txBody>
                    <a:bodyPr/>
                    <a:lstStyle/>
                    <a:p>
                      <a:pPr algn="just"/>
                      <a:r>
                        <a:rPr sz="1000" b="1" i="0" lang="es-SV">
                          <a:solidFill>
                            <a:srgbClr val="00376E"/>
                          </a:solidFill>
                          <a:latin typeface="Arial"/>
                        </a:rPr>
                        <a:t>182</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Normas generales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e) </a:t>
                      </a:r>
                      <a:r>
                        <a:rPr sz="1000" b="1" i="0" u="sng" lang="es-SV">
                          <a:solidFill>
                            <a:srgbClr val="00376E"/>
                          </a:solidFill>
                          <a:latin typeface="Arial"/>
                        </a:rPr>
                        <a:t>Las actas deberán ser redactadas en forma clara y detallada para comprender los fundamentos de los acuerdos tomados y de los temas conocidos, debiendo implementar un sistema de numeración secuencial de las actas de las reuniones.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5"/>
                  </a:ext>
                </a:extLst>
              </a:tr>
              <a:tr h="228600">
                <a:tc>
                  <a:txBody>
                    <a:bodyPr/>
                    <a:lstStyle/>
                    <a:p>
                      <a:pPr algn="just"/>
                      <a:r>
                        <a:rPr sz="1000" b="1" i="0" lang="es-SV">
                          <a:solidFill>
                            <a:srgbClr val="00376E"/>
                          </a:solidFill>
                          <a:latin typeface="Arial"/>
                        </a:rPr>
                        <a:t>183</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Normas generales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f) </a:t>
                      </a:r>
                      <a:r>
                        <a:rPr sz="1000" b="1" i="0" u="sng" lang="es-SV">
                          <a:solidFill>
                            <a:srgbClr val="00376E"/>
                          </a:solidFill>
                          <a:latin typeface="Arial"/>
                        </a:rPr>
                        <a:t>Las actas de los comités estarán a disposición de los Directores del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28600">
                <a:tc>
                  <a:txBody>
                    <a:bodyPr/>
                    <a:lstStyle/>
                    <a:p>
                      <a:pPr algn="just"/>
                      <a:r>
                        <a:rPr sz="1000" b="1" i="0" lang="es-SV">
                          <a:solidFill>
                            <a:srgbClr val="00376E"/>
                          </a:solidFill>
                          <a:latin typeface="Arial"/>
                        </a:rPr>
                        <a:t>184</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Normas generales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g) </a:t>
                      </a:r>
                      <a:r>
                        <a:rPr sz="1000" b="1" i="0" u="sng" lang="es-SV">
                          <a:solidFill>
                            <a:srgbClr val="00376E"/>
                          </a:solidFill>
                          <a:latin typeface="Arial"/>
                        </a:rPr>
                        <a:t>Un resumen de los aspectos más importantes sobre los cuales ha conocido y tomado decisión cada Comité deberá quedar asentado en el acta de la sesión que celebre el Consejo de Administración en el semestre posterior.</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28600">
                <a:tc>
                  <a:txBody>
                    <a:bodyPr/>
                    <a:lstStyle/>
                    <a:p>
                      <a:pPr algn="just"/>
                      <a:r>
                        <a:rPr sz="1000" b="1" i="0" lang="es-SV">
                          <a:solidFill>
                            <a:srgbClr val="00376E"/>
                          </a:solidFill>
                          <a:latin typeface="Arial"/>
                        </a:rPr>
                        <a:t>185</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Normas generales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h) </a:t>
                      </a:r>
                      <a:r>
                        <a:rPr sz="1000" b="1" i="0" u="sng" lang="es-SV">
                          <a:solidFill>
                            <a:srgbClr val="00376E"/>
                          </a:solidFill>
                          <a:latin typeface="Arial"/>
                        </a:rPr>
                        <a:t>De existir hechos relevantes que el Consejo de Administración debe conocer, éste deberá ser presentado por los referidos Comités en la sesión más próxima que celebre el Consejo de Administración.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28600">
                <a:tc>
                  <a:txBody>
                    <a:bodyPr/>
                    <a:lstStyle/>
                    <a:p>
                      <a:pPr algn="just"/>
                      <a:r>
                        <a:rPr sz="1000" b="1" i="0" lang="es-SV">
                          <a:solidFill>
                            <a:srgbClr val="00376E"/>
                          </a:solidFill>
                          <a:latin typeface="Arial"/>
                        </a:rPr>
                        <a:t>186</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5B6578"/>
                          </a:solidFill>
                          <a:latin typeface="Arial"/>
                        </a:rPr>
                        <a:t>Normas generales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0" i="0" lang="es-SV">
                          <a:solidFill>
                            <a:srgbClr val="1B2333"/>
                          </a:solidFill>
                          <a:latin typeface="Arial"/>
                        </a:rPr>
                        <a:t>i) </a:t>
                      </a:r>
                      <a:r>
                        <a:rPr sz="1000" b="1" i="0" u="sng" lang="es-SV">
                          <a:solidFill>
                            <a:srgbClr val="00376E"/>
                          </a:solidFill>
                          <a:latin typeface="Arial"/>
                        </a:rPr>
                        <a:t>El Secretario del Comité deberá verificar y dar seguimiento al cumplimiento de los acuerdos adoptados por el Comité.</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548640" y="6510528"/>
            <a:ext cx="9875520" cy="274320"/>
          </a:xfrm>
          <a:prstGeom prst="rect">
            <a:avLst/>
          </a:prstGeom>
          <a:noFill/>
        </p:spPr>
        <p:txBody>
          <a:bodyPr wrap="square" lIns="0" tIns="0" rIns="0" bIns="0" anchor="t">
            <a:spAutoFit/>
          </a:bodyPr>
          <a:lstStyle/>
          <a:p>
            <a:pPr algn="l"/>
            <a:r>
              <a:rPr sz="1000" b="1" i="0" u="sng" lang="es-SV">
                <a:solidFill>
                  <a:srgbClr val="00376E"/>
                </a:solidFill>
                <a:latin typeface="Arial"/>
              </a:rPr>
              <a:t>Subrayado en azul</a:t>
            </a:r>
            <a:r>
              <a:rPr sz="1000" b="0" i="0" lang="es-SV">
                <a:solidFill>
                  <a:srgbClr val="5B6578"/>
                </a:solidFill>
                <a:latin typeface="Arial"/>
              </a:rPr>
              <a:t> = texto nuevo en 2026 · </a:t>
            </a:r>
            <a:r>
              <a:rPr sz="1000" b="1" i="0" strike="sngStrike" lang="es-SV">
                <a:solidFill>
                  <a:srgbClr val="B3261E"/>
                </a:solidFill>
                <a:latin typeface="Arial"/>
              </a:rPr>
              <a:t>Tachado en rojo</a:t>
            </a:r>
            <a:r>
              <a:rPr sz="1000" b="0" i="0" lang="es-SV">
                <a:solidFill>
                  <a:srgbClr val="5B6578"/>
                </a:solidFill>
                <a:latin typeface="Arial"/>
              </a:rPr>
              <a:t> = texto que se elimina de 2024</a:t>
            </a:r>
          </a:p>
        </p:txBody>
      </p:sp>
      <p:sp>
        <p:nvSpPr>
          <p:cNvPr id="13" name="Rectángulo 12">
            <a:extLst>
              <a:ext uri="{FF2B5EF4-FFF2-40B4-BE49-F238E27FC236}">
                <a16:creationId xmlns:a16="http://schemas.microsoft.com/office/drawing/2014/main" id="{0A848043-3E64-98A8-7A75-B15A546BA49B}"/>
              </a:ext>
            </a:extLst>
          </p:cNvPr>
          <p:cNvSpPr/>
          <p:nvPr/>
        </p:nvSpPr>
        <p:spPr>
          <a:xfrm>
            <a:off x="548640" y="16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14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Normas generales de aplicación para todos los Comités (2 de 2)</a:t>
            </a:r>
          </a:p>
        </p:txBody>
      </p:sp>
      <p:graphicFrame>
        <p:nvGraphicFramePr>
          <p:cNvPr id="16" name="Table 15"/>
          <p:cNvGraphicFramePr>
            <a:graphicFrameLocks noGrp="1"/>
          </p:cNvGraphicFramePr>
          <p:nvPr/>
        </p:nvGraphicFramePr>
        <p:xfrm>
          <a:off x="548640" y="566928"/>
          <a:ext cx="11091672" cy="1726184"/>
        </p:xfrm>
        <a:graphic>
          <a:graphicData uri="http://schemas.openxmlformats.org/drawingml/2006/table">
            <a:tbl>
              <a:tblPr>
                <a:tableStyleId>{2D5ABB26-0587-4C30-8999-92F81FD0307C}</a:tableStyleId>
              </a:tblPr>
              <a:tblGrid>
                <a:gridCol w="457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4069080">
                  <a:extLst>
                    <a:ext uri="{9D8B030D-6E8A-4147-A177-3AD203B41FA5}">
                      <a16:colId xmlns:a16="http://schemas.microsoft.com/office/drawing/2014/main" val="20003"/>
                    </a:ext>
                  </a:extLst>
                </a:gridCol>
                <a:gridCol w="1170432">
                  <a:extLst>
                    <a:ext uri="{9D8B030D-6E8A-4147-A177-3AD203B41FA5}">
                      <a16:colId xmlns:a16="http://schemas.microsoft.com/office/drawing/2014/main" val="20004"/>
                    </a:ext>
                  </a:extLst>
                </a:gridCol>
              </a:tblGrid>
              <a:tr h="237744">
                <a:tc>
                  <a:txBody>
                    <a:bodyPr/>
                    <a:lstStyle/>
                    <a:p>
                      <a:pPr algn="just"/>
                      <a:r>
                        <a:rPr sz="1000" b="1" i="0" lang="es-SV">
                          <a:solidFill>
                            <a:srgbClr val="FFFFFF"/>
                          </a:solidFill>
                          <a:latin typeface="Arial"/>
                        </a:rPr>
                        <a:t>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Apartado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Dice (2024 vigente)</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Debe decir (2026 propuesto)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pPr algn="just"/>
                      <a:r>
                        <a:rPr sz="1000" b="1" i="0" lang="es-SV">
                          <a:solidFill>
                            <a:srgbClr val="FFFFFF"/>
                          </a:solidFill>
                          <a:latin typeface="Arial"/>
                        </a:rPr>
                        <a:t>Tipo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28600">
                <a:tc>
                  <a:txBody>
                    <a:bodyPr/>
                    <a:lstStyle/>
                    <a:p>
                      <a:pPr algn="just"/>
                      <a:r>
                        <a:rPr sz="1000" b="1" i="0" lang="es-SV">
                          <a:solidFill>
                            <a:srgbClr val="00376E"/>
                          </a:solidFill>
                          <a:latin typeface="Arial"/>
                        </a:rPr>
                        <a:t>187</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5B6578"/>
                          </a:solidFill>
                          <a:latin typeface="Arial"/>
                        </a:rPr>
                        <a:t>Normas generales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1" lang="es-SV">
                          <a:solidFill>
                            <a:srgbClr val="5B6578"/>
                          </a:solidFill>
                          <a:latin typeface="Arial"/>
                        </a:rPr>
                        <a:t>No existía.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0" i="0" lang="es-SV">
                          <a:solidFill>
                            <a:srgbClr val="1B2333"/>
                          </a:solidFill>
                          <a:latin typeface="Arial"/>
                        </a:rPr>
                        <a:t>j) </a:t>
                      </a:r>
                      <a:r>
                        <a:rPr sz="1000" b="1" i="0" u="sng" lang="es-SV">
                          <a:solidFill>
                            <a:srgbClr val="00376E"/>
                          </a:solidFill>
                          <a:latin typeface="Arial"/>
                        </a:rPr>
                        <a:t>Los integrantes del Comité no podrán solicitar, invitar o permitir a otros Asociados no autorizados por el Consejo de Administración a que participen en las sesiones, para analizar y discutir puntos específicos. Lo anterior no es aplicable a otros Directores del Consejo de Administración, Equipo Gerencial y Empleados de la Cooperativa que por su conocimiento y experiencia en los diferentes puntos que conocerá el Comité en sus sesiones, aportarán información relevante o apoyarán la gestión, por lo que el Comité podrá extender la invitación con derecho a voz, pero sin derecho a voto.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pPr algn="just"/>
                      <a:r>
                        <a:rPr sz="1000" b="1" i="0" lang="es-SV">
                          <a:solidFill>
                            <a:srgbClr val="1E8E5A"/>
                          </a:solidFill>
                          <a:latin typeface="Arial"/>
                        </a:rPr>
                        <a:t>Nuevo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13" name="Rectángulo 12">
            <a:extLst>
              <a:ext uri="{FF2B5EF4-FFF2-40B4-BE49-F238E27FC236}">
                <a16:creationId xmlns:a16="http://schemas.microsoft.com/office/drawing/2014/main" id="{0A848043-3E64-98A8-7A75-B15A546BA49B}"/>
              </a:ext>
            </a:extLst>
          </p:cNvPr>
          <p:cNvSpPr/>
          <p:nvPr/>
        </p:nvSpPr>
        <p:spPr>
          <a:xfrm>
            <a:off x="548640" y="2704592"/>
            <a:ext cx="109728" cy="36576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SV"/>
          </a:p>
        </p:txBody>
      </p:sp>
      <p:sp>
        <p:nvSpPr>
          <p:cNvPr id="15" name="TextBox 14"/>
          <p:cNvSpPr txBox="1"/>
          <p:nvPr/>
        </p:nvSpPr>
        <p:spPr>
          <a:xfrm>
            <a:off x="804672" y="2686304"/>
            <a:ext cx="9966960" cy="402336"/>
          </a:xfrm>
          <a:prstGeom prst="rect">
            <a:avLst/>
          </a:prstGeom>
          <a:noFill/>
        </p:spPr>
        <p:txBody>
          <a:bodyPr wrap="square" lIns="0" tIns="0" rIns="0" bIns="0" anchor="ctr">
            <a:spAutoFit/>
          </a:bodyPr>
          <a:lstStyle/>
          <a:p>
            <a:pPr algn="l"/>
            <a:r>
              <a:rPr sz="2000" b="1" i="0" lang="es-SV">
                <a:solidFill>
                  <a:srgbClr val="00376E"/>
                </a:solidFill>
                <a:latin typeface="Century Gothic"/>
              </a:rPr>
              <a:t>Solicitud al Comité de Riesgos</a:t>
            </a:r>
          </a:p>
        </p:txBody>
      </p:sp>
      <p:graphicFrame>
        <p:nvGraphicFramePr>
          <p:cNvPr id="16" name="Table 15"/>
          <p:cNvGraphicFramePr>
            <a:graphicFrameLocks noGrp="1"/>
          </p:cNvGraphicFramePr>
          <p:nvPr/>
        </p:nvGraphicFramePr>
        <p:xfrm>
          <a:off x="548640" y="3143504"/>
          <a:ext cx="11091672" cy="2420112"/>
        </p:xfrm>
        <a:graphic>
          <a:graphicData uri="http://schemas.openxmlformats.org/drawingml/2006/table">
            <a:tbl>
              <a:tblPr>
                <a:tableStyleId>{2D5ABB26-0587-4C30-8999-92F81FD0307C}</a:tableStyleId>
              </a:tblPr>
              <a:tblGrid>
                <a:gridCol w="7680960">
                  <a:extLst>
                    <a:ext uri="{9D8B030D-6E8A-4147-A177-3AD203B41FA5}">
                      <a16:colId xmlns:a16="http://schemas.microsoft.com/office/drawing/2014/main" val="20000"/>
                    </a:ext>
                  </a:extLst>
                </a:gridCol>
                <a:gridCol w="3410712">
                  <a:extLst>
                    <a:ext uri="{9D8B030D-6E8A-4147-A177-3AD203B41FA5}">
                      <a16:colId xmlns:a16="http://schemas.microsoft.com/office/drawing/2014/main" val="20001"/>
                    </a:ext>
                  </a:extLst>
                </a:gridCol>
              </a:tblGrid>
              <a:tr h="347472">
                <a:tc>
                  <a:txBody>
                    <a:bodyPr/>
                    <a:lstStyle/>
                    <a:p>
                      <a:r>
                        <a:rPr sz="1200" b="1" i="0" lang="es-SV">
                          <a:solidFill>
                            <a:srgbClr val="FFFFFF"/>
                          </a:solidFill>
                          <a:latin typeface="Arial"/>
                        </a:rPr>
                        <a:t>Se solicita al Comité de Riesgos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tc>
                  <a:txBody>
                    <a:bodyPr/>
                    <a:lstStyle/>
                    <a:p>
                      <a:r>
                        <a:rPr sz="1200" b="1" i="0" lang="es-SV">
                          <a:solidFill>
                            <a:srgbClr val="FFFFFF"/>
                          </a:solidFill>
                          <a:latin typeface="Arial"/>
                        </a:rPr>
                        <a:t>Fundamento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00376E"/>
                    </a:solidFill>
                  </a:tcPr>
                </a:tc>
                <a:extLst>
                  <a:ext uri="{0D108BD9-81ED-4DB2-BD59-A6C34878D82A}">
                    <a16:rowId xmlns:a16="http://schemas.microsoft.com/office/drawing/2014/main" val="10000"/>
                  </a:ext>
                </a:extLst>
              </a:tr>
              <a:tr h="274320">
                <a:tc>
                  <a:txBody>
                    <a:bodyPr/>
                    <a:lstStyle/>
                    <a:p>
                      <a:r>
                        <a:rPr sz="1400" b="0" i="0" lang="es-SV">
                          <a:solidFill>
                            <a:srgbClr val="1B2333"/>
                          </a:solidFill>
                          <a:latin typeface="Arial"/>
                        </a:rPr>
                        <a:t>Validar la versión 04 de la Política de Contratación de Servicios Críticos Tercerizados (RP-GG-PL-003) y proponerla al Consejo de Administración para su aprobación.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r>
                        <a:rPr sz="1400" b="1" i="0" lang="es-SV">
                          <a:solidFill>
                            <a:srgbClr val="00376E"/>
                          </a:solidFill>
                          <a:latin typeface="Arial"/>
                        </a:rPr>
                        <a:t>NRP-20, art. 10, lit. c · NRP-42, art. 12, lit. a</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1"/>
                  </a:ext>
                </a:extLst>
              </a:tr>
              <a:tr h="274320">
                <a:tc>
                  <a:txBody>
                    <a:bodyPr/>
                    <a:lstStyle/>
                    <a:p>
                      <a:r>
                        <a:rPr sz="1400" b="0" i="0" lang="es-SV">
                          <a:solidFill>
                            <a:srgbClr val="1B2333"/>
                          </a:solidFill>
                          <a:latin typeface="Arial"/>
                        </a:rPr>
                        <a:t>Validar la versión 04 del Manual de Gestión del Riesgo Reputacional (MA-GG-M-004) y proponerlo al Consejo de Administración para su aprobación.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r>
                        <a:rPr sz="1400" b="1" i="0" lang="es-SV">
                          <a:solidFill>
                            <a:srgbClr val="00376E"/>
                          </a:solidFill>
                          <a:latin typeface="Arial"/>
                        </a:rPr>
                        <a:t>NRP-20, art. 10, lit. c</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2"/>
                  </a:ext>
                </a:extLst>
              </a:tr>
              <a:tr h="274320">
                <a:tc>
                  <a:txBody>
                    <a:bodyPr/>
                    <a:lstStyle/>
                    <a:p>
                      <a:r>
                        <a:rPr sz="1400" b="0" i="0" lang="es-SV">
                          <a:solidFill>
                            <a:srgbClr val="1B2333"/>
                          </a:solidFill>
                          <a:latin typeface="Arial"/>
                        </a:rPr>
                        <a:t>Conocer la Información de Comités 2026 y proponerla al Consejo de Administración para su incorporación al Código de Gobierno Corporativo.</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tc>
                  <a:txBody>
                    <a:bodyPr/>
                    <a:lstStyle/>
                    <a:p>
                      <a:r>
                        <a:rPr sz="1400" b="1" i="0" lang="es-SV">
                          <a:solidFill>
                            <a:srgbClr val="00376E"/>
                          </a:solidFill>
                          <a:latin typeface="Arial"/>
                        </a:rPr>
                        <a:t>NRP-17, arts. 20 y 29, lit. n</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FFFFF"/>
                    </a:solidFill>
                  </a:tcPr>
                </a:tc>
                <a:extLst>
                  <a:ext uri="{0D108BD9-81ED-4DB2-BD59-A6C34878D82A}">
                    <a16:rowId xmlns:a16="http://schemas.microsoft.com/office/drawing/2014/main" val="10003"/>
                  </a:ext>
                </a:extLst>
              </a:tr>
              <a:tr h="274320">
                <a:tc>
                  <a:txBody>
                    <a:bodyPr/>
                    <a:lstStyle/>
                    <a:p>
                      <a:r>
                        <a:rPr sz="1400" b="0" i="0" lang="es-SV">
                          <a:solidFill>
                            <a:srgbClr val="1B2333"/>
                          </a:solidFill>
                          <a:latin typeface="Arial"/>
                        </a:rPr>
                        <a:t>Una vez aprobados, remitir la Política y el Manual a la Superintendencia del Sistema Financiero dentro de los diez días hábiles siguientes.</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tc>
                  <a:txBody>
                    <a:bodyPr/>
                    <a:lstStyle/>
                    <a:p>
                      <a:r>
                        <a:rPr sz="1400" b="1" i="0" lang="es-SV">
                          <a:solidFill>
                            <a:srgbClr val="00376E"/>
                          </a:solidFill>
                          <a:latin typeface="Arial"/>
                        </a:rPr>
                        <a:t>NRP-20, art. 8</a:t>
                      </a:r>
                    </a:p>
                  </a:txBody>
                  <a:tcPr marL="64008" marR="64008">
                    <a:lnL w="9525" cap="flat" cmpd="sng" algn="ctr">
                      <a:solidFill>
                        <a:srgbClr val="C9D1DE"/>
                      </a:solidFill>
                      <a:prstDash val="solid"/>
                    </a:lnL>
                    <a:lnR w="9525" cap="flat" cmpd="sng" algn="ctr">
                      <a:solidFill>
                        <a:srgbClr val="C9D1DE"/>
                      </a:solidFill>
                      <a:prstDash val="solid"/>
                    </a:lnR>
                    <a:lnT w="9525" cap="flat" cmpd="sng" algn="ctr">
                      <a:solidFill>
                        <a:srgbClr val="C9D1DE"/>
                      </a:solidFill>
                      <a:prstDash val="solid"/>
                    </a:lnT>
                    <a:lnB w="9525" cap="flat" cmpd="sng" algn="ctr">
                      <a:solidFill>
                        <a:srgbClr val="C9D1DE"/>
                      </a:solidFill>
                      <a:prstDash val="solid"/>
                    </a:lnB>
                    <a:solidFill>
                      <a:srgbClr val="F3F6FA"/>
                    </a:solidFill>
                  </a:tcPr>
                </a:tc>
                <a:extLst>
                  <a:ext uri="{0D108BD9-81ED-4DB2-BD59-A6C34878D82A}">
                    <a16:rowId xmlns:a16="http://schemas.microsoft.com/office/drawing/2014/main" val="10004"/>
                  </a:ext>
                </a:extLst>
              </a:tr>
            </a:tbl>
          </a:graphicData>
        </a:graphic>
      </p:graphicFrame>
      <p:pic>
        <p:nvPicPr>
          <p:cNvPr id="18" name="Logo Comédica" descr="logo_comedica.png"/>
          <p:cNvPicPr>
            <a:picLocks noChangeAspect="1"/>
          </p:cNvPicPr>
          <p:nvPr/>
        </p:nvPicPr>
        <p:blipFill>
          <a:blip r:embed="rId3"/>
          <a:stretch>
            <a:fillRect/>
          </a:stretch>
        </p:blipFill>
        <p:spPr>
          <a:xfrm>
            <a:off x="10933642" y="64008"/>
            <a:ext cx="706670" cy="475488"/>
          </a:xfrm>
          <a:prstGeom prst="rect">
            <a:avLst/>
          </a:prstGeom>
        </p:spPr>
      </p:pic>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98dab1c-c8f3-4f9c-8270-c22a94ade099}" enabled="0" method="" siteId="{d98dab1c-c8f3-4f9c-8270-c22a94ade099}" removed="1"/>
</clbl:labelList>
</file>

<file path=docProps/app.xml><?xml version="1.0" encoding="utf-8"?>
<Properties xmlns="http://schemas.openxmlformats.org/officeDocument/2006/extended-properties" xmlns:vt="http://schemas.openxmlformats.org/officeDocument/2006/docPropsVTypes">
  <TotalTime>63</TotalTime>
  <Words>19463</Words>
  <Application>Microsoft Office PowerPoint</Application>
  <PresentationFormat>Panorámica</PresentationFormat>
  <Paragraphs>1931</Paragraphs>
  <Slides>71</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71</vt:i4>
      </vt:variant>
    </vt:vector>
  </HeadingPairs>
  <TitlesOfParts>
    <vt:vector size="76" baseType="lpstr">
      <vt:lpstr>Aptos</vt:lpstr>
      <vt:lpstr>Aptos Display</vt:lpstr>
      <vt:lpstr>Arial</vt:lpstr>
      <vt:lpstr>Century Gothic</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 Alejandra Batres Alvarado</dc:creator>
  <cp:lastModifiedBy>Henrry Daniel Escamilla Zaldaña</cp:lastModifiedBy>
  <cp:revision>26</cp:revision>
  <dcterms:created xsi:type="dcterms:W3CDTF">2025-07-17T21:19:45Z</dcterms:created>
  <dcterms:modified xsi:type="dcterms:W3CDTF">2026-10-24T20:22:59Z</dcterms:modified>
</cp:coreProperties>
</file>