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3"/>
  </p:notesMasterIdLst>
  <p:sldIdLst>
    <p:sldId id="1327" r:id="rId2"/>
    <p:sldId id="1329" r:id="rId3"/>
    <p:sldId id="1330" r:id="rId4"/>
    <p:sldId id="1333" r:id="rId5"/>
    <p:sldId id="1335" r:id="rId6"/>
    <p:sldId id="1337" r:id="rId7"/>
    <p:sldId id="1339" r:id="rId8"/>
    <p:sldId id="1341" r:id="rId9"/>
    <p:sldId id="1343" r:id="rId10"/>
    <p:sldId id="1345" r:id="rId11"/>
    <p:sldId id="1347" r:id="rId12"/>
    <p:sldId id="1349" r:id="rId13"/>
    <p:sldId id="1350" r:id="rId14"/>
    <p:sldId id="1351" r:id="rId15"/>
    <p:sldId id="1352" r:id="rId16"/>
    <p:sldId id="1353" r:id="rId17"/>
    <p:sldId id="1357" r:id="rId21"/>
    <p:sldId id="1358" r:id="rId22"/>
    <p:sldId id="1359" r:id="rId23"/>
    <p:sldId id="1360" r:id="rId24"/>
    <p:sldId id="1361" r:id="rId25"/>
    <p:sldId id="1362" r:id="rId26"/>
    <p:sldId id="1363" r:id="rId27"/>
    <p:sldId id="1364" r:id="rId28"/>
    <p:sldId id="1365" r:id="rId29"/>
    <p:sldId id="1366" r:id="rId30"/>
    <p:sldId id="1367" r:id="rId31"/>
    <p:sldId id="1368" r:id="rId32"/>
    <p:sldId id="1369" r:id="rId33"/>
    <p:sldId id="1370" r:id="rId34"/>
    <p:sldId id="1371" r:id="rId35"/>
    <p:sldId id="1372" r:id="rId36"/>
    <p:sldId id="1373" r:id="rId37"/>
    <p:sldId id="1381" r:id="rId45"/>
  </p:sldIdLst>
  <p:sldSz cx="12192000" cy="6858000"/>
  <p:notesSz cx="6858000" cy="9144000"/>
  <p:defaultTextStyle>
    <a:defPPr>
      <a:defRPr lang="es-SV"/>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76E"/>
    <a:srgbClr val="004184"/>
    <a:srgbClr val="0053A8"/>
    <a:srgbClr val="005C9F"/>
    <a:srgbClr val="0051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252236-3FAF-4113-A4F6-0C3A1563E69A}" v="1" dt="2026-10-24T19:13:56.1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80" d="100"/>
          <a:sy n="80" d="100"/>
        </p:scale>
        <p:origin x="682" y="21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45" Type="http://schemas.openxmlformats.org/officeDocument/2006/relationships/slide" Target="slides/slide4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 Id="rId78"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SV"/>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9B3AB5-647A-834A-ABF4-E74A52371851}" type="datetimeFigureOut">
              <a:rPr lang="es-SV" smtClean="0"/>
              <a:t>24/10/2026</a:t>
            </a:fld>
            <a:endParaRPr lang="es-SV"/>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SV"/>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SV"/>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1EAE39-7648-3748-A12E-11B4DE5E48BF}" type="slidenum">
              <a:rPr lang="es-SV" smtClean="0"/>
              <a:t>‹Nº›</a:t>
            </a:fld>
            <a:endParaRPr lang="es-SV"/>
          </a:p>
        </p:txBody>
      </p:sp>
    </p:spTree>
    <p:extLst>
      <p:ext uri="{BB962C8B-B14F-4D97-AF65-F5344CB8AC3E}">
        <p14:creationId xmlns:p14="http://schemas.microsoft.com/office/powerpoint/2010/main" val="881370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26A5246-1289-2501-E76B-99FD1AAC6CB4}"/>
              </a:ext>
            </a:extLst>
          </p:cNvPr>
          <p:cNvSpPr>
            <a:spLocks noGrp="1"/>
          </p:cNvSpPr>
          <p:nvPr>
            <p:ph type="ctrTitle"/>
          </p:nvPr>
        </p:nvSpPr>
        <p:spPr>
          <a:xfrm>
            <a:off x="1524000" y="1122363"/>
            <a:ext cx="9144000" cy="2387600"/>
          </a:xfrm>
        </p:spPr>
        <p:txBody>
          <a:bodyPr anchor="b"/>
          <a:lstStyle>
            <a:lvl1pPr algn="ctr">
              <a:defRPr sz="6000" lang="es-SV"/>
            </a:lvl1pPr>
          </a:lstStyle>
          <a:p>
            <a:r>
              <a:rPr lang="es-SV"/>
              <a:t>Haz clic para modificar el estilo de título del patrón</a:t>
            </a:r>
            <a:endParaRPr lang="es-SV"/>
          </a:p>
        </p:txBody>
      </p:sp>
      <p:sp>
        <p:nvSpPr>
          <p:cNvPr id="3" name="Subtítulo 2">
            <a:extLst>
              <a:ext uri="{FF2B5EF4-FFF2-40B4-BE49-F238E27FC236}">
                <a16:creationId xmlns:a16="http://schemas.microsoft.com/office/drawing/2014/main" id="{84844576-B082-FD49-EBFF-D88CB1856DAD}"/>
              </a:ext>
            </a:extLst>
          </p:cNvPr>
          <p:cNvSpPr>
            <a:spLocks noGrp="1"/>
          </p:cNvSpPr>
          <p:nvPr>
            <p:ph type="subTitle" idx="1"/>
          </p:nvPr>
        </p:nvSpPr>
        <p:spPr>
          <a:xfrm>
            <a:off x="1524000" y="3602038"/>
            <a:ext cx="9144000" cy="1655762"/>
          </a:xfrm>
        </p:spPr>
        <p:txBody>
          <a:bodyPr/>
          <a:lstStyle>
            <a:lvl1pPr marL="0" indent="0" algn="ctr">
              <a:buNone/>
              <a:defRPr sz="2400" lang="es-SV"/>
            </a:lvl1pPr>
            <a:lvl2pPr marL="457200" indent="0" algn="ctr">
              <a:buNone/>
              <a:defRPr sz="2000" lang="es-SV"/>
            </a:lvl2pPr>
            <a:lvl3pPr marL="914400" indent="0" algn="ctr">
              <a:buNone/>
              <a:defRPr sz="1800" lang="es-SV"/>
            </a:lvl3pPr>
            <a:lvl4pPr marL="1371600" indent="0" algn="ctr">
              <a:buNone/>
              <a:defRPr sz="1600" lang="es-SV"/>
            </a:lvl4pPr>
            <a:lvl5pPr marL="1828800" indent="0" algn="ctr">
              <a:buNone/>
              <a:defRPr sz="1600" lang="es-SV"/>
            </a:lvl5pPr>
            <a:lvl6pPr marL="2286000" indent="0" algn="ctr">
              <a:buNone/>
              <a:defRPr sz="1600" lang="es-SV"/>
            </a:lvl6pPr>
            <a:lvl7pPr marL="2743200" indent="0" algn="ctr">
              <a:buNone/>
              <a:defRPr sz="1600" lang="es-SV"/>
            </a:lvl7pPr>
            <a:lvl8pPr marL="3200400" indent="0" algn="ctr">
              <a:buNone/>
              <a:defRPr sz="1600" lang="es-SV"/>
            </a:lvl8pPr>
            <a:lvl9pPr marL="3657600" indent="0" algn="ctr">
              <a:buNone/>
              <a:defRPr sz="1600" lang="es-SV"/>
            </a:lvl9pPr>
          </a:lstStyle>
          <a:p>
            <a:r>
              <a:rPr lang="es-SV"/>
              <a:t>Haz clic para editar el estilo de subtítulo del patrón</a:t>
            </a:r>
            <a:endParaRPr lang="es-SV"/>
          </a:p>
        </p:txBody>
      </p:sp>
      <p:sp>
        <p:nvSpPr>
          <p:cNvPr id="4" name="Marcador de fecha 3">
            <a:extLst>
              <a:ext uri="{FF2B5EF4-FFF2-40B4-BE49-F238E27FC236}">
                <a16:creationId xmlns:a16="http://schemas.microsoft.com/office/drawing/2014/main" id="{99F51356-BC70-4A72-C845-C6BAA0817DF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50C911C6-CCCD-EFCE-3DC3-663F37E5380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C0085E2B-4DFB-D2D2-C203-7C543DA2861F}"/>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173455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9B9020-EA08-2516-1B5A-BCDD9C03C029}"/>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contenido 2">
            <a:extLst>
              <a:ext uri="{FF2B5EF4-FFF2-40B4-BE49-F238E27FC236}">
                <a16:creationId xmlns:a16="http://schemas.microsoft.com/office/drawing/2014/main" id="{BA077ED8-CB52-4C8A-AD7C-FF69313F089F}"/>
              </a:ext>
            </a:extLst>
          </p:cNvPr>
          <p:cNvSpPr>
            <a:spLocks noGrp="1"/>
          </p:cNvSpPr>
          <p:nvPr>
            <p:ph idx="1"/>
          </p:nvPr>
        </p:nvSpPr>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8DA8A1C5-EFD4-6D53-6F60-91F7FEC37F0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19A934E5-6EC7-1E96-3E32-3BBF89B99B0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2E42E576-5068-3919-22AE-2EFC0CFE6B8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63031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741BA9-205E-F894-3C02-1C6495E0CB2E}"/>
              </a:ext>
            </a:extLst>
          </p:cNvPr>
          <p:cNvSpPr>
            <a:spLocks noGrp="1"/>
          </p:cNvSpPr>
          <p:nvPr>
            <p:ph type="title"/>
          </p:nvPr>
        </p:nvSpPr>
        <p:spPr>
          <a:xfrm>
            <a:off x="831850" y="1709738"/>
            <a:ext cx="10515600" cy="2852737"/>
          </a:xfrm>
        </p:spPr>
        <p:txBody>
          <a:bodyPr anchor="b"/>
          <a:lstStyle>
            <a:lvl1pPr>
              <a:defRPr sz="6000" lang="es-SV"/>
            </a:lvl1pPr>
          </a:lstStyle>
          <a:p>
            <a:r>
              <a:rPr lang="es-SV"/>
              <a:t>Haz clic para modificar el estilo de título del patrón</a:t>
            </a:r>
            <a:endParaRPr lang="es-SV"/>
          </a:p>
        </p:txBody>
      </p:sp>
      <p:sp>
        <p:nvSpPr>
          <p:cNvPr id="3" name="Marcador de texto 2">
            <a:extLst>
              <a:ext uri="{FF2B5EF4-FFF2-40B4-BE49-F238E27FC236}">
                <a16:creationId xmlns:a16="http://schemas.microsoft.com/office/drawing/2014/main" id="{AF45D5F7-6E2F-4508-4252-BD3799069163}"/>
              </a:ext>
            </a:extLst>
          </p:cNvPr>
          <p:cNvSpPr>
            <a:spLocks noGrp="1"/>
          </p:cNvSpPr>
          <p:nvPr>
            <p:ph type="body" idx="1"/>
          </p:nvPr>
        </p:nvSpPr>
        <p:spPr>
          <a:xfrm>
            <a:off x="831850" y="4589463"/>
            <a:ext cx="10515600" cy="1500187"/>
          </a:xfrm>
        </p:spPr>
        <p:txBody>
          <a:bodyPr/>
          <a:lstStyle>
            <a:lvl1pPr marL="0" indent="0">
              <a:buNone/>
              <a:defRPr sz="2400" lang="es-SV">
                <a:solidFill>
                  <a:schemeClr val="tx1">
                    <a:tint val="82000"/>
                  </a:schemeClr>
                </a:solidFill>
              </a:defRPr>
            </a:lvl1pPr>
            <a:lvl2pPr marL="457200" indent="0">
              <a:buNone/>
              <a:defRPr sz="2000" lang="es-SV">
                <a:solidFill>
                  <a:schemeClr val="tx1">
                    <a:tint val="82000"/>
                  </a:schemeClr>
                </a:solidFill>
              </a:defRPr>
            </a:lvl2pPr>
            <a:lvl3pPr marL="914400" indent="0">
              <a:buNone/>
              <a:defRPr sz="1800" lang="es-SV">
                <a:solidFill>
                  <a:schemeClr val="tx1">
                    <a:tint val="82000"/>
                  </a:schemeClr>
                </a:solidFill>
              </a:defRPr>
            </a:lvl3pPr>
            <a:lvl4pPr marL="1371600" indent="0">
              <a:buNone/>
              <a:defRPr sz="1600" lang="es-SV">
                <a:solidFill>
                  <a:schemeClr val="tx1">
                    <a:tint val="82000"/>
                  </a:schemeClr>
                </a:solidFill>
              </a:defRPr>
            </a:lvl4pPr>
            <a:lvl5pPr marL="1828800" indent="0">
              <a:buNone/>
              <a:defRPr sz="1600" lang="es-SV">
                <a:solidFill>
                  <a:schemeClr val="tx1">
                    <a:tint val="82000"/>
                  </a:schemeClr>
                </a:solidFill>
              </a:defRPr>
            </a:lvl5pPr>
            <a:lvl6pPr marL="2286000" indent="0">
              <a:buNone/>
              <a:defRPr sz="1600" lang="es-SV">
                <a:solidFill>
                  <a:schemeClr val="tx1">
                    <a:tint val="82000"/>
                  </a:schemeClr>
                </a:solidFill>
              </a:defRPr>
            </a:lvl6pPr>
            <a:lvl7pPr marL="2743200" indent="0">
              <a:buNone/>
              <a:defRPr sz="1600" lang="es-SV">
                <a:solidFill>
                  <a:schemeClr val="tx1">
                    <a:tint val="82000"/>
                  </a:schemeClr>
                </a:solidFill>
              </a:defRPr>
            </a:lvl7pPr>
            <a:lvl8pPr marL="3200400" indent="0">
              <a:buNone/>
              <a:defRPr sz="1600" lang="es-SV">
                <a:solidFill>
                  <a:schemeClr val="tx1">
                    <a:tint val="82000"/>
                  </a:schemeClr>
                </a:solidFill>
              </a:defRPr>
            </a:lvl8pPr>
            <a:lvl9pPr marL="3657600" indent="0">
              <a:buNone/>
              <a:defRPr sz="1600" lang="es-SV">
                <a:solidFill>
                  <a:schemeClr val="tx1">
                    <a:tint val="82000"/>
                  </a:schemeClr>
                </a:solidFill>
              </a:defRPr>
            </a:lvl9pPr>
          </a:lstStyle>
          <a:p>
            <a:pPr lvl="0"/>
            <a:r>
              <a:rPr lang="es-SV"/>
              <a:t>Haga clic para modificar los estilos de texto del patrón</a:t>
            </a:r>
          </a:p>
        </p:txBody>
      </p:sp>
      <p:sp>
        <p:nvSpPr>
          <p:cNvPr id="4" name="Marcador de fecha 3">
            <a:extLst>
              <a:ext uri="{FF2B5EF4-FFF2-40B4-BE49-F238E27FC236}">
                <a16:creationId xmlns:a16="http://schemas.microsoft.com/office/drawing/2014/main" id="{9383CB00-BF9E-6F13-D537-AD0E366936F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D6C7AE8E-7CF9-D7B6-D1ED-21E5FF908602}"/>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87F0008D-520F-48DC-8002-8AD9CC9E7B4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1603021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4220B8-8DAC-8D1C-6637-1BB7C5447C82}"/>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contenido 2">
            <a:extLst>
              <a:ext uri="{FF2B5EF4-FFF2-40B4-BE49-F238E27FC236}">
                <a16:creationId xmlns:a16="http://schemas.microsoft.com/office/drawing/2014/main" id="{E9A9161A-5259-CE4C-5F36-0C70C7DA06B0}"/>
              </a:ext>
            </a:extLst>
          </p:cNvPr>
          <p:cNvSpPr>
            <a:spLocks noGrp="1"/>
          </p:cNvSpPr>
          <p:nvPr>
            <p:ph sz="half" idx="1"/>
          </p:nvPr>
        </p:nvSpPr>
        <p:spPr>
          <a:xfrm>
            <a:off x="838200" y="1825625"/>
            <a:ext cx="5181600" cy="435133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contenido 3">
            <a:extLst>
              <a:ext uri="{FF2B5EF4-FFF2-40B4-BE49-F238E27FC236}">
                <a16:creationId xmlns:a16="http://schemas.microsoft.com/office/drawing/2014/main" id="{E26E0585-6862-9B66-7349-CA36E8D6FAD7}"/>
              </a:ext>
            </a:extLst>
          </p:cNvPr>
          <p:cNvSpPr>
            <a:spLocks noGrp="1"/>
          </p:cNvSpPr>
          <p:nvPr>
            <p:ph sz="half" idx="2"/>
          </p:nvPr>
        </p:nvSpPr>
        <p:spPr>
          <a:xfrm>
            <a:off x="6172200" y="1825625"/>
            <a:ext cx="5181600" cy="435133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5" name="Marcador de fecha 4">
            <a:extLst>
              <a:ext uri="{FF2B5EF4-FFF2-40B4-BE49-F238E27FC236}">
                <a16:creationId xmlns:a16="http://schemas.microsoft.com/office/drawing/2014/main" id="{3613B306-A83F-3642-4CB4-6311A532407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AEA5248C-A27A-B405-76D1-3A899EAC8286}"/>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6180EF02-1565-5EF5-1FB7-41B9FDF16614}"/>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2045744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19B36E-EDCE-87AD-F79D-E35AE04A1BE8}"/>
              </a:ext>
            </a:extLst>
          </p:cNvPr>
          <p:cNvSpPr>
            <a:spLocks noGrp="1"/>
          </p:cNvSpPr>
          <p:nvPr>
            <p:ph type="title"/>
          </p:nvPr>
        </p:nvSpPr>
        <p:spPr>
          <a:xfrm>
            <a:off x="839788" y="365125"/>
            <a:ext cx="10515600" cy="1325563"/>
          </a:xfrm>
        </p:spPr>
        <p:txBody>
          <a:bodyPr/>
          <a:lstStyle/>
          <a:p>
            <a:r>
              <a:rPr lang="es-SV"/>
              <a:t>Haz clic para modificar el estilo de título del patrón</a:t>
            </a:r>
            <a:endParaRPr lang="es-SV"/>
          </a:p>
        </p:txBody>
      </p:sp>
      <p:sp>
        <p:nvSpPr>
          <p:cNvPr id="3" name="Marcador de texto 2">
            <a:extLst>
              <a:ext uri="{FF2B5EF4-FFF2-40B4-BE49-F238E27FC236}">
                <a16:creationId xmlns:a16="http://schemas.microsoft.com/office/drawing/2014/main" id="{E1BCF1C7-0762-26FF-516A-1F5C54FD36B6}"/>
              </a:ext>
            </a:extLst>
          </p:cNvPr>
          <p:cNvSpPr>
            <a:spLocks noGrp="1"/>
          </p:cNvSpPr>
          <p:nvPr>
            <p:ph type="body" idx="1"/>
          </p:nvPr>
        </p:nvSpPr>
        <p:spPr>
          <a:xfrm>
            <a:off x="839788" y="1681163"/>
            <a:ext cx="5157787" cy="823912"/>
          </a:xfrm>
        </p:spPr>
        <p:txBody>
          <a:bodyPr anchor="b"/>
          <a:lstStyle>
            <a:lvl1pPr marL="0" indent="0">
              <a:buNone/>
              <a:defRPr sz="2400" b="1" lang="es-SV"/>
            </a:lvl1pPr>
            <a:lvl2pPr marL="457200" indent="0">
              <a:buNone/>
              <a:defRPr sz="2000" b="1" lang="es-SV"/>
            </a:lvl2pPr>
            <a:lvl3pPr marL="914400" indent="0">
              <a:buNone/>
              <a:defRPr sz="1800" b="1" lang="es-SV"/>
            </a:lvl3pPr>
            <a:lvl4pPr marL="1371600" indent="0">
              <a:buNone/>
              <a:defRPr sz="1600" b="1" lang="es-SV"/>
            </a:lvl4pPr>
            <a:lvl5pPr marL="1828800" indent="0">
              <a:buNone/>
              <a:defRPr sz="1600" b="1" lang="es-SV"/>
            </a:lvl5pPr>
            <a:lvl6pPr marL="2286000" indent="0">
              <a:buNone/>
              <a:defRPr sz="1600" b="1" lang="es-SV"/>
            </a:lvl6pPr>
            <a:lvl7pPr marL="2743200" indent="0">
              <a:buNone/>
              <a:defRPr sz="1600" b="1" lang="es-SV"/>
            </a:lvl7pPr>
            <a:lvl8pPr marL="3200400" indent="0">
              <a:buNone/>
              <a:defRPr sz="1600" b="1" lang="es-SV"/>
            </a:lvl8pPr>
            <a:lvl9pPr marL="3657600" indent="0">
              <a:buNone/>
              <a:defRPr sz="1600" b="1" lang="es-SV"/>
            </a:lvl9pPr>
          </a:lstStyle>
          <a:p>
            <a:pPr lvl="0"/>
            <a:r>
              <a:rPr lang="es-SV"/>
              <a:t>Haga clic para modificar los estilos de texto del patrón</a:t>
            </a:r>
          </a:p>
        </p:txBody>
      </p:sp>
      <p:sp>
        <p:nvSpPr>
          <p:cNvPr id="4" name="Marcador de contenido 3">
            <a:extLst>
              <a:ext uri="{FF2B5EF4-FFF2-40B4-BE49-F238E27FC236}">
                <a16:creationId xmlns:a16="http://schemas.microsoft.com/office/drawing/2014/main" id="{2DF51246-48E6-D02D-90D5-3F540BED36E5}"/>
              </a:ext>
            </a:extLst>
          </p:cNvPr>
          <p:cNvSpPr>
            <a:spLocks noGrp="1"/>
          </p:cNvSpPr>
          <p:nvPr>
            <p:ph sz="half" idx="2"/>
          </p:nvPr>
        </p:nvSpPr>
        <p:spPr>
          <a:xfrm>
            <a:off x="839788" y="2505075"/>
            <a:ext cx="5157787" cy="368458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5" name="Marcador de texto 4">
            <a:extLst>
              <a:ext uri="{FF2B5EF4-FFF2-40B4-BE49-F238E27FC236}">
                <a16:creationId xmlns:a16="http://schemas.microsoft.com/office/drawing/2014/main" id="{951D2A50-BDD8-0140-6856-B160A3EF9C77}"/>
              </a:ext>
            </a:extLst>
          </p:cNvPr>
          <p:cNvSpPr>
            <a:spLocks noGrp="1"/>
          </p:cNvSpPr>
          <p:nvPr>
            <p:ph type="body" sz="quarter" idx="3"/>
          </p:nvPr>
        </p:nvSpPr>
        <p:spPr>
          <a:xfrm>
            <a:off x="6172200" y="1681163"/>
            <a:ext cx="5183188" cy="823912"/>
          </a:xfrm>
        </p:spPr>
        <p:txBody>
          <a:bodyPr anchor="b"/>
          <a:lstStyle>
            <a:lvl1pPr marL="0" indent="0">
              <a:buNone/>
              <a:defRPr sz="2400" b="1" lang="es-SV"/>
            </a:lvl1pPr>
            <a:lvl2pPr marL="457200" indent="0">
              <a:buNone/>
              <a:defRPr sz="2000" b="1" lang="es-SV"/>
            </a:lvl2pPr>
            <a:lvl3pPr marL="914400" indent="0">
              <a:buNone/>
              <a:defRPr sz="1800" b="1" lang="es-SV"/>
            </a:lvl3pPr>
            <a:lvl4pPr marL="1371600" indent="0">
              <a:buNone/>
              <a:defRPr sz="1600" b="1" lang="es-SV"/>
            </a:lvl4pPr>
            <a:lvl5pPr marL="1828800" indent="0">
              <a:buNone/>
              <a:defRPr sz="1600" b="1" lang="es-SV"/>
            </a:lvl5pPr>
            <a:lvl6pPr marL="2286000" indent="0">
              <a:buNone/>
              <a:defRPr sz="1600" b="1" lang="es-SV"/>
            </a:lvl6pPr>
            <a:lvl7pPr marL="2743200" indent="0">
              <a:buNone/>
              <a:defRPr sz="1600" b="1" lang="es-SV"/>
            </a:lvl7pPr>
            <a:lvl8pPr marL="3200400" indent="0">
              <a:buNone/>
              <a:defRPr sz="1600" b="1" lang="es-SV"/>
            </a:lvl8pPr>
            <a:lvl9pPr marL="3657600" indent="0">
              <a:buNone/>
              <a:defRPr sz="1600" b="1" lang="es-SV"/>
            </a:lvl9pPr>
          </a:lstStyle>
          <a:p>
            <a:pPr lvl="0"/>
            <a:r>
              <a:rPr lang="es-SV"/>
              <a:t>Haga clic para modificar los estilos de texto del patrón</a:t>
            </a:r>
          </a:p>
        </p:txBody>
      </p:sp>
      <p:sp>
        <p:nvSpPr>
          <p:cNvPr id="6" name="Marcador de contenido 5">
            <a:extLst>
              <a:ext uri="{FF2B5EF4-FFF2-40B4-BE49-F238E27FC236}">
                <a16:creationId xmlns:a16="http://schemas.microsoft.com/office/drawing/2014/main" id="{3E96DA55-D8D7-ECD8-C1C1-E7CF8F4CC759}"/>
              </a:ext>
            </a:extLst>
          </p:cNvPr>
          <p:cNvSpPr>
            <a:spLocks noGrp="1"/>
          </p:cNvSpPr>
          <p:nvPr>
            <p:ph sz="quarter" idx="4"/>
          </p:nvPr>
        </p:nvSpPr>
        <p:spPr>
          <a:xfrm>
            <a:off x="6172200" y="2505075"/>
            <a:ext cx="5183188" cy="368458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7" name="Marcador de fecha 6">
            <a:extLst>
              <a:ext uri="{FF2B5EF4-FFF2-40B4-BE49-F238E27FC236}">
                <a16:creationId xmlns:a16="http://schemas.microsoft.com/office/drawing/2014/main" id="{6DBD5DE8-BAAD-A23F-E42A-FC78EE22119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8" name="Marcador de pie de página 7">
            <a:extLst>
              <a:ext uri="{FF2B5EF4-FFF2-40B4-BE49-F238E27FC236}">
                <a16:creationId xmlns:a16="http://schemas.microsoft.com/office/drawing/2014/main" id="{90EE4B05-A3D0-6017-130F-86F230B226C2}"/>
              </a:ext>
            </a:extLst>
          </p:cNvPr>
          <p:cNvSpPr>
            <a:spLocks noGrp="1"/>
          </p:cNvSpPr>
          <p:nvPr>
            <p:ph type="ftr" sz="quarter" idx="11"/>
          </p:nvPr>
        </p:nvSpPr>
        <p:spPr/>
        <p:txBody>
          <a:bodyPr/>
          <a:lstStyle/>
          <a:p>
            <a:endParaRPr lang="es-SV"/>
          </a:p>
        </p:txBody>
      </p:sp>
      <p:sp>
        <p:nvSpPr>
          <p:cNvPr id="9" name="Marcador de número de diapositiva 8">
            <a:extLst>
              <a:ext uri="{FF2B5EF4-FFF2-40B4-BE49-F238E27FC236}">
                <a16:creationId xmlns:a16="http://schemas.microsoft.com/office/drawing/2014/main" id="{D7F5D9EF-48D1-D8F2-FB9C-D4A247EBF445}"/>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15023707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5D267A-E196-13EF-FD3A-074D479D46B8}"/>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fecha 2">
            <a:extLst>
              <a:ext uri="{FF2B5EF4-FFF2-40B4-BE49-F238E27FC236}">
                <a16:creationId xmlns:a16="http://schemas.microsoft.com/office/drawing/2014/main" id="{CD7AF0F5-062D-3B95-9353-81F0DA2BC0AD}"/>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4" name="Marcador de pie de página 3">
            <a:extLst>
              <a:ext uri="{FF2B5EF4-FFF2-40B4-BE49-F238E27FC236}">
                <a16:creationId xmlns:a16="http://schemas.microsoft.com/office/drawing/2014/main" id="{68B978C5-1E29-BE73-7E64-204B0F2BC6BF}"/>
              </a:ext>
            </a:extLst>
          </p:cNvPr>
          <p:cNvSpPr>
            <a:spLocks noGrp="1"/>
          </p:cNvSpPr>
          <p:nvPr>
            <p:ph type="ftr" sz="quarter" idx="11"/>
          </p:nvPr>
        </p:nvSpPr>
        <p:spPr/>
        <p:txBody>
          <a:bodyPr/>
          <a:lstStyle/>
          <a:p>
            <a:endParaRPr lang="es-SV"/>
          </a:p>
        </p:txBody>
      </p:sp>
      <p:sp>
        <p:nvSpPr>
          <p:cNvPr id="5" name="Marcador de número de diapositiva 4">
            <a:extLst>
              <a:ext uri="{FF2B5EF4-FFF2-40B4-BE49-F238E27FC236}">
                <a16:creationId xmlns:a16="http://schemas.microsoft.com/office/drawing/2014/main" id="{477B0AA7-3AEF-3A56-2110-DB17D35E47F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8904133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9FCC7489-4F6B-4B71-04D6-99301E90D467}"/>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3" name="Marcador de pie de página 2">
            <a:extLst>
              <a:ext uri="{FF2B5EF4-FFF2-40B4-BE49-F238E27FC236}">
                <a16:creationId xmlns:a16="http://schemas.microsoft.com/office/drawing/2014/main" id="{7E98D37B-9ECE-609D-114F-5B39D35B360E}"/>
              </a:ext>
            </a:extLst>
          </p:cNvPr>
          <p:cNvSpPr>
            <a:spLocks noGrp="1"/>
          </p:cNvSpPr>
          <p:nvPr>
            <p:ph type="ftr" sz="quarter" idx="11"/>
          </p:nvPr>
        </p:nvSpPr>
        <p:spPr/>
        <p:txBody>
          <a:bodyPr/>
          <a:lstStyle/>
          <a:p>
            <a:endParaRPr lang="es-SV"/>
          </a:p>
        </p:txBody>
      </p:sp>
      <p:sp>
        <p:nvSpPr>
          <p:cNvPr id="4" name="Marcador de número de diapositiva 3">
            <a:extLst>
              <a:ext uri="{FF2B5EF4-FFF2-40B4-BE49-F238E27FC236}">
                <a16:creationId xmlns:a16="http://schemas.microsoft.com/office/drawing/2014/main" id="{AE39F9FC-6691-46A3-5923-57E96A230C11}"/>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5397075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6787392-18A3-AFAD-0386-5808804C5B84}"/>
              </a:ext>
            </a:extLst>
          </p:cNvPr>
          <p:cNvSpPr>
            <a:spLocks noGrp="1"/>
          </p:cNvSpPr>
          <p:nvPr>
            <p:ph type="title"/>
          </p:nvPr>
        </p:nvSpPr>
        <p:spPr>
          <a:xfrm>
            <a:off x="839788" y="457200"/>
            <a:ext cx="3932237" cy="1600200"/>
          </a:xfrm>
        </p:spPr>
        <p:txBody>
          <a:bodyPr anchor="b"/>
          <a:lstStyle>
            <a:lvl1pPr>
              <a:defRPr sz="3200" lang="es-SV"/>
            </a:lvl1pPr>
          </a:lstStyle>
          <a:p>
            <a:r>
              <a:rPr lang="es-SV"/>
              <a:t>Haz clic para modificar el estilo de título del patrón</a:t>
            </a:r>
            <a:endParaRPr lang="es-SV"/>
          </a:p>
        </p:txBody>
      </p:sp>
      <p:sp>
        <p:nvSpPr>
          <p:cNvPr id="3" name="Marcador de contenido 2">
            <a:extLst>
              <a:ext uri="{FF2B5EF4-FFF2-40B4-BE49-F238E27FC236}">
                <a16:creationId xmlns:a16="http://schemas.microsoft.com/office/drawing/2014/main" id="{F26BC22E-F43A-1EC3-EED9-A963FEEEED45}"/>
              </a:ext>
            </a:extLst>
          </p:cNvPr>
          <p:cNvSpPr>
            <a:spLocks noGrp="1"/>
          </p:cNvSpPr>
          <p:nvPr>
            <p:ph idx="1"/>
          </p:nvPr>
        </p:nvSpPr>
        <p:spPr>
          <a:xfrm>
            <a:off x="5183188" y="987425"/>
            <a:ext cx="6172200" cy="4873625"/>
          </a:xfrm>
        </p:spPr>
        <p:txBody>
          <a:bodyPr/>
          <a:lstStyle>
            <a:lvl1pPr>
              <a:defRPr sz="3200" lang="es-SV"/>
            </a:lvl1pPr>
            <a:lvl2pPr>
              <a:defRPr sz="2800" lang="es-SV"/>
            </a:lvl2pPr>
            <a:lvl3pPr>
              <a:defRPr sz="2400" lang="es-SV"/>
            </a:lvl3pPr>
            <a:lvl4pPr>
              <a:defRPr sz="2000" lang="es-SV"/>
            </a:lvl4pPr>
            <a:lvl5pPr>
              <a:defRPr sz="2000" lang="es-SV"/>
            </a:lvl5pPr>
            <a:lvl6pPr>
              <a:defRPr sz="2000" lang="es-SV"/>
            </a:lvl6pPr>
            <a:lvl7pPr>
              <a:defRPr sz="2000" lang="es-SV"/>
            </a:lvl7pPr>
            <a:lvl8pPr>
              <a:defRPr sz="2000" lang="es-SV"/>
            </a:lvl8pPr>
            <a:lvl9pPr>
              <a:defRPr sz="2000" lang="es-SV"/>
            </a:lvl9p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texto 3">
            <a:extLst>
              <a:ext uri="{FF2B5EF4-FFF2-40B4-BE49-F238E27FC236}">
                <a16:creationId xmlns:a16="http://schemas.microsoft.com/office/drawing/2014/main" id="{159D0088-C458-B008-17CB-AD362EFD35EB}"/>
              </a:ext>
            </a:extLst>
          </p:cNvPr>
          <p:cNvSpPr>
            <a:spLocks noGrp="1"/>
          </p:cNvSpPr>
          <p:nvPr>
            <p:ph type="body" sz="half" idx="2"/>
          </p:nvPr>
        </p:nvSpPr>
        <p:spPr>
          <a:xfrm>
            <a:off x="839788" y="2057400"/>
            <a:ext cx="3932237" cy="3811588"/>
          </a:xfrm>
        </p:spPr>
        <p:txBody>
          <a:bodyPr/>
          <a:lstStyle>
            <a:lvl1pPr marL="0" indent="0">
              <a:buNone/>
              <a:defRPr sz="1600" lang="es-SV"/>
            </a:lvl1pPr>
            <a:lvl2pPr marL="457200" indent="0">
              <a:buNone/>
              <a:defRPr sz="1400" lang="es-SV"/>
            </a:lvl2pPr>
            <a:lvl3pPr marL="914400" indent="0">
              <a:buNone/>
              <a:defRPr sz="1200" lang="es-SV"/>
            </a:lvl3pPr>
            <a:lvl4pPr marL="1371600" indent="0">
              <a:buNone/>
              <a:defRPr sz="1000" lang="es-SV"/>
            </a:lvl4pPr>
            <a:lvl5pPr marL="1828800" indent="0">
              <a:buNone/>
              <a:defRPr sz="1000" lang="es-SV"/>
            </a:lvl5pPr>
            <a:lvl6pPr marL="2286000" indent="0">
              <a:buNone/>
              <a:defRPr sz="1000" lang="es-SV"/>
            </a:lvl6pPr>
            <a:lvl7pPr marL="2743200" indent="0">
              <a:buNone/>
              <a:defRPr sz="1000" lang="es-SV"/>
            </a:lvl7pPr>
            <a:lvl8pPr marL="3200400" indent="0">
              <a:buNone/>
              <a:defRPr sz="1000" lang="es-SV"/>
            </a:lvl8pPr>
            <a:lvl9pPr marL="3657600" indent="0">
              <a:buNone/>
              <a:defRPr sz="1000" lang="es-SV"/>
            </a:lvl9pPr>
          </a:lstStyle>
          <a:p>
            <a:pPr lvl="0"/>
            <a:r>
              <a:rPr lang="es-SV"/>
              <a:t>Haga clic para modificar los estilos de texto del patrón</a:t>
            </a:r>
          </a:p>
        </p:txBody>
      </p:sp>
      <p:sp>
        <p:nvSpPr>
          <p:cNvPr id="5" name="Marcador de fecha 4">
            <a:extLst>
              <a:ext uri="{FF2B5EF4-FFF2-40B4-BE49-F238E27FC236}">
                <a16:creationId xmlns:a16="http://schemas.microsoft.com/office/drawing/2014/main" id="{28FC4388-D961-AFC4-338C-FE20825D2D1D}"/>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CC002D08-31EF-ADC4-EF6C-8C048140FC83}"/>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3AB107B0-2B1B-DC26-D758-C2A80EA4404E}"/>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655922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C7F8E7-BC43-E55F-DCE0-B17E30AF55E3}"/>
              </a:ext>
            </a:extLst>
          </p:cNvPr>
          <p:cNvSpPr>
            <a:spLocks noGrp="1"/>
          </p:cNvSpPr>
          <p:nvPr>
            <p:ph type="title"/>
          </p:nvPr>
        </p:nvSpPr>
        <p:spPr>
          <a:xfrm>
            <a:off x="839788" y="457200"/>
            <a:ext cx="3932237" cy="1600200"/>
          </a:xfrm>
        </p:spPr>
        <p:txBody>
          <a:bodyPr anchor="b"/>
          <a:lstStyle>
            <a:lvl1pPr>
              <a:defRPr sz="3200" lang="es-SV"/>
            </a:lvl1pPr>
          </a:lstStyle>
          <a:p>
            <a:r>
              <a:rPr lang="es-SV"/>
              <a:t>Haz clic para modificar el estilo de título del patrón</a:t>
            </a:r>
            <a:endParaRPr lang="es-SV"/>
          </a:p>
        </p:txBody>
      </p:sp>
      <p:sp>
        <p:nvSpPr>
          <p:cNvPr id="3" name="Marcador de posición de imagen 2">
            <a:extLst>
              <a:ext uri="{FF2B5EF4-FFF2-40B4-BE49-F238E27FC236}">
                <a16:creationId xmlns:a16="http://schemas.microsoft.com/office/drawing/2014/main" id="{95F264F4-1E54-E14D-A3E8-85E786E6AF7C}"/>
              </a:ext>
            </a:extLst>
          </p:cNvPr>
          <p:cNvSpPr>
            <a:spLocks noGrp="1"/>
          </p:cNvSpPr>
          <p:nvPr>
            <p:ph type="pic" idx="1"/>
          </p:nvPr>
        </p:nvSpPr>
        <p:spPr>
          <a:xfrm>
            <a:off x="5183188" y="987425"/>
            <a:ext cx="6172200" cy="4873625"/>
          </a:xfrm>
        </p:spPr>
        <p:txBody>
          <a:bodyPr/>
          <a:lstStyle>
            <a:lvl1pPr marL="0" indent="0">
              <a:buNone/>
              <a:defRPr sz="3200" lang="es-SV"/>
            </a:lvl1pPr>
            <a:lvl2pPr marL="457200" indent="0">
              <a:buNone/>
              <a:defRPr sz="2800" lang="es-SV"/>
            </a:lvl2pPr>
            <a:lvl3pPr marL="914400" indent="0">
              <a:buNone/>
              <a:defRPr sz="2400" lang="es-SV"/>
            </a:lvl3pPr>
            <a:lvl4pPr marL="1371600" indent="0">
              <a:buNone/>
              <a:defRPr sz="2000" lang="es-SV"/>
            </a:lvl4pPr>
            <a:lvl5pPr marL="1828800" indent="0">
              <a:buNone/>
              <a:defRPr sz="2000" lang="es-SV"/>
            </a:lvl5pPr>
            <a:lvl6pPr marL="2286000" indent="0">
              <a:buNone/>
              <a:defRPr sz="2000" lang="es-SV"/>
            </a:lvl6pPr>
            <a:lvl7pPr marL="2743200" indent="0">
              <a:buNone/>
              <a:defRPr sz="2000" lang="es-SV"/>
            </a:lvl7pPr>
            <a:lvl8pPr marL="3200400" indent="0">
              <a:buNone/>
              <a:defRPr sz="2000" lang="es-SV"/>
            </a:lvl8pPr>
            <a:lvl9pPr marL="3657600" indent="0">
              <a:buNone/>
              <a:defRPr sz="2000" lang="es-SV"/>
            </a:lvl9pPr>
          </a:lstStyle>
          <a:p>
            <a:endParaRPr lang="es-SV"/>
          </a:p>
        </p:txBody>
      </p:sp>
      <p:sp>
        <p:nvSpPr>
          <p:cNvPr id="4" name="Marcador de texto 3">
            <a:extLst>
              <a:ext uri="{FF2B5EF4-FFF2-40B4-BE49-F238E27FC236}">
                <a16:creationId xmlns:a16="http://schemas.microsoft.com/office/drawing/2014/main" id="{173B5BAF-EA8D-93A7-A944-4B42E7098E97}"/>
              </a:ext>
            </a:extLst>
          </p:cNvPr>
          <p:cNvSpPr>
            <a:spLocks noGrp="1"/>
          </p:cNvSpPr>
          <p:nvPr>
            <p:ph type="body" sz="half" idx="2"/>
          </p:nvPr>
        </p:nvSpPr>
        <p:spPr>
          <a:xfrm>
            <a:off x="839788" y="2057400"/>
            <a:ext cx="3932237" cy="3811588"/>
          </a:xfrm>
        </p:spPr>
        <p:txBody>
          <a:bodyPr/>
          <a:lstStyle>
            <a:lvl1pPr marL="0" indent="0">
              <a:buNone/>
              <a:defRPr sz="1600" lang="es-SV"/>
            </a:lvl1pPr>
            <a:lvl2pPr marL="457200" indent="0">
              <a:buNone/>
              <a:defRPr sz="1400" lang="es-SV"/>
            </a:lvl2pPr>
            <a:lvl3pPr marL="914400" indent="0">
              <a:buNone/>
              <a:defRPr sz="1200" lang="es-SV"/>
            </a:lvl3pPr>
            <a:lvl4pPr marL="1371600" indent="0">
              <a:buNone/>
              <a:defRPr sz="1000" lang="es-SV"/>
            </a:lvl4pPr>
            <a:lvl5pPr marL="1828800" indent="0">
              <a:buNone/>
              <a:defRPr sz="1000" lang="es-SV"/>
            </a:lvl5pPr>
            <a:lvl6pPr marL="2286000" indent="0">
              <a:buNone/>
              <a:defRPr sz="1000" lang="es-SV"/>
            </a:lvl6pPr>
            <a:lvl7pPr marL="2743200" indent="0">
              <a:buNone/>
              <a:defRPr sz="1000" lang="es-SV"/>
            </a:lvl7pPr>
            <a:lvl8pPr marL="3200400" indent="0">
              <a:buNone/>
              <a:defRPr sz="1000" lang="es-SV"/>
            </a:lvl8pPr>
            <a:lvl9pPr marL="3657600" indent="0">
              <a:buNone/>
              <a:defRPr sz="1000" lang="es-SV"/>
            </a:lvl9pPr>
          </a:lstStyle>
          <a:p>
            <a:pPr lvl="0"/>
            <a:r>
              <a:rPr lang="es-SV"/>
              <a:t>Haga clic para modificar los estilos de texto del patrón</a:t>
            </a:r>
          </a:p>
        </p:txBody>
      </p:sp>
      <p:sp>
        <p:nvSpPr>
          <p:cNvPr id="5" name="Marcador de fecha 4">
            <a:extLst>
              <a:ext uri="{FF2B5EF4-FFF2-40B4-BE49-F238E27FC236}">
                <a16:creationId xmlns:a16="http://schemas.microsoft.com/office/drawing/2014/main" id="{3C583257-C538-CBCB-7DE9-A06EA1F23F6A}"/>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6FB6377A-C88F-0E4E-6512-998D416563E9}"/>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BDA2F9A9-D335-A24D-6616-BE21390434B2}"/>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2780379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DB573A-A965-E5F0-C8B7-AD74E3712487}"/>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texto vertical 2">
            <a:extLst>
              <a:ext uri="{FF2B5EF4-FFF2-40B4-BE49-F238E27FC236}">
                <a16:creationId xmlns:a16="http://schemas.microsoft.com/office/drawing/2014/main" id="{1BA8A928-686F-08FA-FA60-82456AC751BE}"/>
              </a:ext>
            </a:extLst>
          </p:cNvPr>
          <p:cNvSpPr>
            <a:spLocks noGrp="1"/>
          </p:cNvSpPr>
          <p:nvPr>
            <p:ph type="body" orient="vert" idx="1"/>
          </p:nvPr>
        </p:nvSpPr>
        <p:spPr/>
        <p:txBody>
          <a:bodyPr vert="eaVert"/>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8E2EED11-37CE-DDE7-0996-F1656333BBA3}"/>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91973FC4-35B2-7FA1-6FA6-C69B042A5431}"/>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A19FC8B8-A38F-9C7F-1BF7-3F68A49B117E}"/>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112446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177D44C4-F6B0-17CB-171D-21D7EF55883A}"/>
              </a:ext>
            </a:extLst>
          </p:cNvPr>
          <p:cNvSpPr>
            <a:spLocks noGrp="1"/>
          </p:cNvSpPr>
          <p:nvPr>
            <p:ph type="title" orient="vert"/>
          </p:nvPr>
        </p:nvSpPr>
        <p:spPr>
          <a:xfrm>
            <a:off x="8724900" y="365125"/>
            <a:ext cx="2628900" cy="5811838"/>
          </a:xfrm>
        </p:spPr>
        <p:txBody>
          <a:bodyPr vert="eaVert"/>
          <a:lstStyle/>
          <a:p>
            <a:r>
              <a:rPr lang="es-SV"/>
              <a:t>Haz clic para modificar el estilo de título del patrón</a:t>
            </a:r>
            <a:endParaRPr lang="es-SV"/>
          </a:p>
        </p:txBody>
      </p:sp>
      <p:sp>
        <p:nvSpPr>
          <p:cNvPr id="3" name="Marcador de texto vertical 2">
            <a:extLst>
              <a:ext uri="{FF2B5EF4-FFF2-40B4-BE49-F238E27FC236}">
                <a16:creationId xmlns:a16="http://schemas.microsoft.com/office/drawing/2014/main" id="{2AF3F919-79AC-F71B-339E-F46E0D56AEC8}"/>
              </a:ext>
            </a:extLst>
          </p:cNvPr>
          <p:cNvSpPr>
            <a:spLocks noGrp="1"/>
          </p:cNvSpPr>
          <p:nvPr>
            <p:ph type="body" orient="vert" idx="1"/>
          </p:nvPr>
        </p:nvSpPr>
        <p:spPr>
          <a:xfrm>
            <a:off x="838200" y="365125"/>
            <a:ext cx="7734300" cy="5811838"/>
          </a:xfrm>
        </p:spPr>
        <p:txBody>
          <a:bodyPr vert="eaVert"/>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D5579CB5-D3C7-4564-4992-AA3FE62DF08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C0BA4BF1-DEDA-37E8-7D85-7DA09188487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6A1DFEFA-35D6-51BD-C69D-0EFD2E7FC7BC}"/>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0775473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27B7F8D-DE7C-32C4-D228-68696D5B84D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SV"/>
              <a:t>Haz clic para modificar el estilo de título del patrón</a:t>
            </a:r>
            <a:endParaRPr lang="es-SV"/>
          </a:p>
        </p:txBody>
      </p:sp>
      <p:sp>
        <p:nvSpPr>
          <p:cNvPr id="3" name="Marcador de texto 2">
            <a:extLst>
              <a:ext uri="{FF2B5EF4-FFF2-40B4-BE49-F238E27FC236}">
                <a16:creationId xmlns:a16="http://schemas.microsoft.com/office/drawing/2014/main" id="{8CAE6056-C60B-917E-5F56-F732610148E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5F3682A0-187E-0333-D85D-D60B144E12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lang="es-SV">
                <a:solidFill>
                  <a:schemeClr val="tx1">
                    <a:tint val="82000"/>
                  </a:schemeClr>
                </a:solidFill>
              </a:defRPr>
            </a:lvl1p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F1C7C310-C8CD-DCCD-F3E6-D8FE04D6F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lang="es-SV">
                <a:solidFill>
                  <a:schemeClr val="tx1">
                    <a:tint val="82000"/>
                  </a:schemeClr>
                </a:solidFill>
              </a:defRPr>
            </a:lvl1pPr>
          </a:lstStyle>
          <a:p>
            <a:endParaRPr lang="es-SV"/>
          </a:p>
        </p:txBody>
      </p:sp>
      <p:sp>
        <p:nvSpPr>
          <p:cNvPr id="6" name="Marcador de número de diapositiva 5">
            <a:extLst>
              <a:ext uri="{FF2B5EF4-FFF2-40B4-BE49-F238E27FC236}">
                <a16:creationId xmlns:a16="http://schemas.microsoft.com/office/drawing/2014/main" id="{630D2611-9B5A-26DA-21AA-92971AC5961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lang="es-SV">
                <a:solidFill>
                  <a:schemeClr val="tx1">
                    <a:tint val="82000"/>
                  </a:schemeClr>
                </a:solidFill>
              </a:defRPr>
            </a:lvl1pPr>
          </a:lstStyle>
          <a:p>
            <a:fld id="{AEE9AB63-2DD0-DF4B-A7F0-7BF2582936DD}" type="slidenum">
              <a:rPr lang="es-SV" smtClean="0"/>
              <a:t>‹Nº›</a:t>
            </a:fld>
            <a:endParaRPr lang="es-SV"/>
          </a:p>
        </p:txBody>
      </p:sp>
    </p:spTree>
    <p:extLst>
      <p:ext uri="{BB962C8B-B14F-4D97-AF65-F5344CB8AC3E}">
        <p14:creationId xmlns:p14="http://schemas.microsoft.com/office/powerpoint/2010/main" val="4039134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lang="es-SV">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lang="es-SV">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lang="es-SV">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lang="es-SV">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9pPr>
    </p:bodyStyle>
    <p:otherStyle>
      <a:defPPr>
        <a:defRPr lang="es-SV"/>
      </a:defPPr>
      <a:lvl1pPr marL="0" algn="l" defTabSz="914400" rtl="0" eaLnBrk="1" latinLnBrk="0" hangingPunct="1">
        <a:defRPr sz="1800" kern="1200" lang="es-SV">
          <a:solidFill>
            <a:schemeClr val="tx1"/>
          </a:solidFill>
          <a:latin typeface="+mn-lt"/>
          <a:ea typeface="+mn-ea"/>
          <a:cs typeface="+mn-cs"/>
        </a:defRPr>
      </a:lvl1pPr>
      <a:lvl2pPr marL="457200" algn="l" defTabSz="914400" rtl="0" eaLnBrk="1" latinLnBrk="0" hangingPunct="1">
        <a:defRPr sz="1800" kern="1200" lang="es-SV">
          <a:solidFill>
            <a:schemeClr val="tx1"/>
          </a:solidFill>
          <a:latin typeface="+mn-lt"/>
          <a:ea typeface="+mn-ea"/>
          <a:cs typeface="+mn-cs"/>
        </a:defRPr>
      </a:lvl2pPr>
      <a:lvl3pPr marL="914400" algn="l" defTabSz="914400" rtl="0" eaLnBrk="1" latinLnBrk="0" hangingPunct="1">
        <a:defRPr sz="1800" kern="1200" lang="es-SV">
          <a:solidFill>
            <a:schemeClr val="tx1"/>
          </a:solidFill>
          <a:latin typeface="+mn-lt"/>
          <a:ea typeface="+mn-ea"/>
          <a:cs typeface="+mn-cs"/>
        </a:defRPr>
      </a:lvl3pPr>
      <a:lvl4pPr marL="1371600" algn="l" defTabSz="914400" rtl="0" eaLnBrk="1" latinLnBrk="0" hangingPunct="1">
        <a:defRPr sz="1800" kern="1200" lang="es-SV">
          <a:solidFill>
            <a:schemeClr val="tx1"/>
          </a:solidFill>
          <a:latin typeface="+mn-lt"/>
          <a:ea typeface="+mn-ea"/>
          <a:cs typeface="+mn-cs"/>
        </a:defRPr>
      </a:lvl4pPr>
      <a:lvl5pPr marL="1828800" algn="l" defTabSz="914400" rtl="0" eaLnBrk="1" latinLnBrk="0" hangingPunct="1">
        <a:defRPr sz="1800" kern="1200" lang="es-SV">
          <a:solidFill>
            <a:schemeClr val="tx1"/>
          </a:solidFill>
          <a:latin typeface="+mn-lt"/>
          <a:ea typeface="+mn-ea"/>
          <a:cs typeface="+mn-cs"/>
        </a:defRPr>
      </a:lvl5pPr>
      <a:lvl6pPr marL="2286000" algn="l" defTabSz="914400" rtl="0" eaLnBrk="1" latinLnBrk="0" hangingPunct="1">
        <a:defRPr sz="1800" kern="1200" lang="es-SV">
          <a:solidFill>
            <a:schemeClr val="tx1"/>
          </a:solidFill>
          <a:latin typeface="+mn-lt"/>
          <a:ea typeface="+mn-ea"/>
          <a:cs typeface="+mn-cs"/>
        </a:defRPr>
      </a:lvl6pPr>
      <a:lvl7pPr marL="2743200" algn="l" defTabSz="914400" rtl="0" eaLnBrk="1" latinLnBrk="0" hangingPunct="1">
        <a:defRPr sz="1800" kern="1200" lang="es-SV">
          <a:solidFill>
            <a:schemeClr val="tx1"/>
          </a:solidFill>
          <a:latin typeface="+mn-lt"/>
          <a:ea typeface="+mn-ea"/>
          <a:cs typeface="+mn-cs"/>
        </a:defRPr>
      </a:lvl7pPr>
      <a:lvl8pPr marL="3200400" algn="l" defTabSz="914400" rtl="0" eaLnBrk="1" latinLnBrk="0" hangingPunct="1">
        <a:defRPr sz="1800" kern="1200" lang="es-SV">
          <a:solidFill>
            <a:schemeClr val="tx1"/>
          </a:solidFill>
          <a:latin typeface="+mn-lt"/>
          <a:ea typeface="+mn-ea"/>
          <a:cs typeface="+mn-cs"/>
        </a:defRPr>
      </a:lvl8pPr>
      <a:lvl9pPr marL="3657600" algn="l" defTabSz="914400" rtl="0" eaLnBrk="1" latinLnBrk="0" hangingPunct="1">
        <a:defRPr sz="1800" kern="1200" lang="es-SV">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e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lumna azul"/>
          <p:cNvSpPr/>
          <p:nvPr/>
        </p:nvSpPr>
        <p:spPr>
          <a:xfrm>
            <a:off x="0" y="0"/>
            <a:ext cx="3538728" cy="6858000"/>
          </a:xfrm>
          <a:prstGeom prst="rect">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3" name="Acento"/>
          <p:cNvSpPr/>
          <p:nvPr/>
        </p:nvSpPr>
        <p:spPr>
          <a:xfrm>
            <a:off x="0" y="1216152"/>
            <a:ext cx="201168" cy="1216152"/>
          </a:xfrm>
          <a:prstGeom prst="rect">
            <a:avLst/>
          </a:prstGeom>
          <a:solidFill>
            <a:srgbClr val="005C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6" name="Departamento"/>
          <p:cNvSpPr/>
          <p:nvPr/>
        </p:nvSpPr>
        <p:spPr>
          <a:xfrm>
            <a:off x="45720" y="5422392"/>
            <a:ext cx="3447288" cy="960120"/>
          </a:xfrm>
          <a:prstGeom prst="rect">
            <a:avLst/>
          </a:prstGeom>
          <a:solidFill>
            <a:srgbClr val="005C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7" name="TextBox 6"/>
          <p:cNvSpPr txBox="1"/>
          <p:nvPr/>
        </p:nvSpPr>
        <p:spPr>
          <a:xfrm>
            <a:off x="45720" y="5656231"/>
            <a:ext cx="3447288" cy="492443"/>
          </a:xfrm>
          <a:prstGeom prst="rect">
            <a:avLst/>
          </a:prstGeom>
          <a:noFill/>
        </p:spPr>
        <p:txBody>
          <a:bodyPr wrap="square" lIns="0" tIns="0" rIns="0" bIns="0" anchor="ctr">
            <a:spAutoFit/>
          </a:bodyPr>
          <a:lstStyle/>
          <a:p>
            <a:pPr algn="ctr"/>
            <a:r>
              <a:rPr lang="es-SV" sz="1600" b="1" noProof="0" dirty="0">
                <a:solidFill>
                  <a:srgbClr val="FFFFFF"/>
                </a:solidFill>
                <a:latin typeface="Arial" panose="020B0604020202020204" pitchFamily="34" charset="0"/>
                <a:cs typeface="Arial" panose="020B0604020202020204" pitchFamily="34" charset="0"/>
              </a:rPr>
              <a:t>Departamento de</a:t>
            </a:r>
          </a:p>
          <a:p>
            <a:pPr algn="ctr"/>
            <a:r>
              <a:rPr lang="es-SV" sz="1600" b="1" noProof="0" dirty="0">
                <a:solidFill>
                  <a:srgbClr val="FFFFFF"/>
                </a:solidFill>
                <a:latin typeface="Arial" panose="020B0604020202020204" pitchFamily="34" charset="0"/>
                <a:cs typeface="Arial" panose="020B0604020202020204" pitchFamily="34" charset="0"/>
              </a:rPr>
              <a:t>Administración de Riesgos</a:t>
            </a:r>
          </a:p>
        </p:txBody>
      </p:sp>
      <p:sp>
        <p:nvSpPr>
          <p:cNvPr id="8" name="TextBox 7"/>
          <p:cNvSpPr txBox="1"/>
          <p:nvPr/>
        </p:nvSpPr>
        <p:spPr>
          <a:xfrm>
            <a:off x="45720" y="6503167"/>
            <a:ext cx="3447288" cy="261610"/>
          </a:xfrm>
          <a:prstGeom prst="rect">
            <a:avLst/>
          </a:prstGeom>
          <a:noFill/>
        </p:spPr>
        <p:txBody>
          <a:bodyPr wrap="square" lIns="0" tIns="0" rIns="0" bIns="0" anchor="ctr">
            <a:spAutoFit/>
          </a:bodyPr>
          <a:lstStyle/>
          <a:p>
            <a:pPr algn="ctr"/>
            <a:r>
              <a:rPr lang="es-SV" sz="1700" b="1" noProof="0" dirty="0">
                <a:solidFill>
                  <a:srgbClr val="9DC3E6"/>
                </a:solidFill>
                <a:latin typeface="Arial" panose="020B0604020202020204" pitchFamily="34" charset="0"/>
                <a:cs typeface="Arial" panose="020B0604020202020204" pitchFamily="34" charset="0"/>
              </a:rPr>
              <a:t>OCTUBRE 2026</a:t>
            </a:r>
          </a:p>
        </p:txBody>
      </p:sp>
      <p:sp>
        <p:nvSpPr>
          <p:cNvPr id="9" name="TextBox 8"/>
          <p:cNvSpPr txBox="1"/>
          <p:nvPr/>
        </p:nvSpPr>
        <p:spPr>
          <a:xfrm>
            <a:off x="3703320" y="1081888"/>
            <a:ext cx="8001000" cy="461665"/>
          </a:xfrm>
          <a:prstGeom prst="rect">
            <a:avLst/>
          </a:prstGeom>
          <a:noFill/>
        </p:spPr>
        <p:txBody>
          <a:bodyPr wrap="square" lIns="0" tIns="0" rIns="0" bIns="0" anchor="ctr">
            <a:spAutoFit/>
          </a:bodyPr>
          <a:lstStyle/>
          <a:p>
            <a:pPr algn="ctr"/>
            <a:r>
              <a:rPr lang="es-SV" sz="3000" b="1" noProof="0" dirty="0">
                <a:solidFill>
                  <a:srgbClr val="00376E"/>
                </a:solidFill>
                <a:latin typeface="Arial" panose="020B0604020202020204" pitchFamily="34" charset="0"/>
                <a:cs typeface="Arial" panose="020B0604020202020204" pitchFamily="34" charset="0"/>
              </a:rPr>
              <a:t>ACTUALIZACIÓN DE NORMATIVA INTERNA</a:t>
            </a:r>
          </a:p>
        </p:txBody>
      </p:sp>
      <p:sp>
        <p:nvSpPr>
          <p:cNvPr id="11" name="TextBox 10"/>
          <p:cNvSpPr txBox="1"/>
          <p:nvPr/>
        </p:nvSpPr>
        <p:spPr>
          <a:xfrm>
            <a:off x="3863340" y="2138680"/>
            <a:ext cx="7680960" cy="822960"/>
          </a:xfrm>
          <a:prstGeom prst="rect">
            <a:avLst/>
          </a:prstGeom>
          <a:noFill/>
        </p:spPr>
        <p:txBody>
          <a:bodyPr wrap="square" lIns="0" tIns="0" rIns="0" bIns="0" anchor="t">
            <a:spAutoFit/>
          </a:bodyPr>
          <a:lstStyle/>
          <a:p>
            <a:pPr algn="ctr"/>
            <a:r>
              <a:rPr lang="es-SV" sz="1400" b="0" noProof="0" dirty="0">
                <a:solidFill>
                  <a:srgbClr val="002060"/>
                </a:solidFill>
                <a:latin typeface="Arial" panose="020B0604020202020204" pitchFamily="34" charset="0"/>
                <a:cs typeface="Arial" panose="020B0604020202020204" pitchFamily="34" charset="0"/>
              </a:rPr>
              <a:t>Cuadro comparativo de cambios: versión vigente y versión propuesta</a:t>
            </a:r>
          </a:p>
          <a:p>
            <a:pPr algn="ctr"/>
            <a:r>
              <a:rPr lang="es-SV" sz="1400" b="0" noProof="0" dirty="0">
                <a:solidFill>
                  <a:srgbClr val="002060"/>
                </a:solidFill>
                <a:latin typeface="Arial" panose="020B0604020202020204" pitchFamily="34" charset="0"/>
                <a:cs typeface="Arial" panose="020B0604020202020204" pitchFamily="34" charset="0"/>
              </a:rPr>
              <a:t>Presentado al Comité de Riesgos</a:t>
            </a:r>
          </a:p>
        </p:txBody>
      </p:sp>
      <p:pic>
        <p:nvPicPr>
          <p:cNvPr id="12" name="logo" descr="/tmp/claude-0/-home-user-riesgo/74e9c8ad-7a43-5903-a089-2edd8047c387/scratchpad/assets/logo_white.png">
            <a:extLst>
              <a:ext uri="{FF2B5EF4-FFF2-40B4-BE49-F238E27FC236}">
                <a16:creationId xmlns:a16="http://schemas.microsoft.com/office/drawing/2014/main" id="{6158355E-8FBE-C9ED-F166-BCDD022F7FC1}"/>
              </a:ext>
            </a:extLst>
          </p:cNvPr>
          <p:cNvPicPr>
            <a:picLocks noChangeAspect="1"/>
          </p:cNvPicPr>
          <p:nvPr/>
        </p:nvPicPr>
        <p:blipFill>
          <a:blip r:embed="rId2"/>
          <a:stretch>
            <a:fillRect/>
          </a:stretch>
        </p:blipFill>
        <p:spPr>
          <a:xfrm>
            <a:off x="602040" y="1857309"/>
            <a:ext cx="2334648" cy="1571691"/>
          </a:xfrm>
          <a:prstGeom prst="rect">
            <a:avLst/>
          </a:prstGeom>
        </p:spPr>
      </p:pic>
      <p:sp>
        <p:nvSpPr>
          <p:cNvPr id="13" name="Tema 1"/>
          <p:cNvSpPr/>
          <p:nvPr/>
        </p:nvSpPr>
        <p:spPr>
          <a:xfrm>
            <a:off x="3794760" y="3383280"/>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úmero 1"/>
          <p:cNvSpPr/>
          <p:nvPr/>
        </p:nvSpPr>
        <p:spPr>
          <a:xfrm>
            <a:off x="3794760" y="3383280"/>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lang="es-SV">
                <a:solidFill>
                  <a:srgbClr val="FFFFFF"/>
                </a:solidFill>
                <a:latin typeface="Arial"/>
              </a:rPr>
              <a:t>1</a:t>
            </a:r>
          </a:p>
        </p:txBody>
      </p:sp>
      <p:sp>
        <p:nvSpPr>
          <p:cNvPr id="15" name="Texto tema 1"/>
          <p:cNvSpPr txBox="1"/>
          <p:nvPr/>
        </p:nvSpPr>
        <p:spPr>
          <a:xfrm>
            <a:off x="4709160" y="3383280"/>
            <a:ext cx="6903720" cy="713232"/>
          </a:xfrm>
          <a:prstGeom prst="rect">
            <a:avLst/>
          </a:prstGeom>
          <a:noFill/>
        </p:spPr>
        <p:txBody>
          <a:bodyPr wrap="square" lIns="0" rIns="0" tIns="0" bIns="0" anchor="ctr">
            <a:spAutoFit/>
          </a:bodyPr>
          <a:lstStyle/>
          <a:p>
            <a:r>
              <a:rPr sz="1700" b="1" lang="es-SV">
                <a:solidFill>
                  <a:srgbClr val="00376E"/>
                </a:solidFill>
                <a:latin typeface="Arial"/>
              </a:rPr>
              <a:t>Política de Contratación de Servicios Críticos Tercerizados</a:t>
            </a:r>
          </a:p>
          <a:p>
            <a:r>
              <a:rPr sz="1200" lang="es-SV">
                <a:solidFill>
                  <a:srgbClr val="5A6B85"/>
                </a:solidFill>
                <a:latin typeface="Arial"/>
              </a:rPr>
              <a:t>RP-GG-PL-003</a:t>
            </a:r>
          </a:p>
        </p:txBody>
      </p:sp>
      <p:sp>
        <p:nvSpPr>
          <p:cNvPr id="16" name="Tema 2"/>
          <p:cNvSpPr/>
          <p:nvPr/>
        </p:nvSpPr>
        <p:spPr>
          <a:xfrm>
            <a:off x="3794760" y="4242816"/>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Número 2"/>
          <p:cNvSpPr/>
          <p:nvPr/>
        </p:nvSpPr>
        <p:spPr>
          <a:xfrm>
            <a:off x="3794760" y="4242816"/>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lang="es-SV">
                <a:solidFill>
                  <a:srgbClr val="FFFFFF"/>
                </a:solidFill>
                <a:latin typeface="Arial"/>
              </a:rPr>
              <a:t>2</a:t>
            </a:r>
          </a:p>
        </p:txBody>
      </p:sp>
      <p:sp>
        <p:nvSpPr>
          <p:cNvPr id="18" name="Texto tema 2"/>
          <p:cNvSpPr txBox="1"/>
          <p:nvPr/>
        </p:nvSpPr>
        <p:spPr>
          <a:xfrm>
            <a:off x="4709160" y="4242816"/>
            <a:ext cx="6903720" cy="713232"/>
          </a:xfrm>
          <a:prstGeom prst="rect">
            <a:avLst/>
          </a:prstGeom>
          <a:noFill/>
        </p:spPr>
        <p:txBody>
          <a:bodyPr wrap="square" lIns="0" rIns="0" tIns="0" bIns="0" anchor="ctr">
            <a:spAutoFit/>
          </a:bodyPr>
          <a:lstStyle/>
          <a:p>
            <a:r>
              <a:rPr sz="1700" b="1" lang="es-SV">
                <a:solidFill>
                  <a:srgbClr val="00376E"/>
                </a:solidFill>
                <a:latin typeface="Arial"/>
              </a:rPr>
              <a:t>Manual de Gestión del Riesgo Reputacional</a:t>
            </a:r>
          </a:p>
          <a:p>
            <a:r>
              <a:rPr sz="1200" lang="es-SV">
                <a:solidFill>
                  <a:srgbClr val="5A6B85"/>
                </a:solidFill>
                <a:latin typeface="Arial"/>
              </a:rPr>
              <a:t>MA-GG-M-004</a:t>
            </a:r>
          </a:p>
        </p:txBody>
      </p:sp>
      <p:sp>
        <p:nvSpPr>
          <p:cNvPr id="19" name="Tema 3"/>
          <p:cNvSpPr/>
          <p:nvPr/>
        </p:nvSpPr>
        <p:spPr>
          <a:xfrm>
            <a:off x="3794760" y="5102352"/>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Número 3"/>
          <p:cNvSpPr/>
          <p:nvPr/>
        </p:nvSpPr>
        <p:spPr>
          <a:xfrm>
            <a:off x="3794760" y="5102352"/>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lang="es-SV">
                <a:solidFill>
                  <a:srgbClr val="FFFFFF"/>
                </a:solidFill>
                <a:latin typeface="Arial"/>
              </a:rPr>
              <a:t>3</a:t>
            </a:r>
          </a:p>
        </p:txBody>
      </p:sp>
      <p:sp>
        <p:nvSpPr>
          <p:cNvPr id="21" name="Texto tema 3"/>
          <p:cNvSpPr txBox="1"/>
          <p:nvPr/>
        </p:nvSpPr>
        <p:spPr>
          <a:xfrm>
            <a:off x="4709160" y="5102352"/>
            <a:ext cx="6903720" cy="713232"/>
          </a:xfrm>
          <a:prstGeom prst="rect">
            <a:avLst/>
          </a:prstGeom>
          <a:noFill/>
        </p:spPr>
        <p:txBody>
          <a:bodyPr wrap="square" lIns="0" rIns="0" tIns="0" bIns="0" anchor="ctr">
            <a:spAutoFit/>
          </a:bodyPr>
          <a:lstStyle/>
          <a:p>
            <a:r>
              <a:rPr sz="1700" b="1" lang="es-SV">
                <a:solidFill>
                  <a:srgbClr val="00376E"/>
                </a:solidFill>
                <a:latin typeface="Arial"/>
              </a:rPr>
              <a:t>Información de Comités</a:t>
            </a:r>
          </a:p>
          <a:p>
            <a:r>
              <a:rPr sz="1200" lang="es-SV">
                <a:solidFill>
                  <a:srgbClr val="5A6B85"/>
                </a:solidFill>
                <a:latin typeface="Arial"/>
              </a:rPr>
              <a:t>Gobierno Corporativo, NRP-17 art. 29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Política de Contratación de Servicios Críticos Tercerizados</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lang="es-SV">
                <a:solidFill>
                  <a:srgbClr val="DCE6F7"/>
                </a:solidFill>
                <a:latin typeface="Arial"/>
              </a:rPr>
              <a:t>RP-GG-PL-003 · V03 </a:t>
            </a:r>
            <a:r>
              <a:rPr sz="1400" b="0" i="0" dirty="0" lang="es-SV">
                <a:solidFill>
                  <a:srgbClr val="DCE6F7"/>
                </a:solidFill>
                <a:latin typeface="Arial"/>
              </a:rPr>
              <a:t>vigente</a:t>
            </a:r>
            <a:r>
              <a:rPr sz="1400" b="0" i="0" dirty="0" lang="es-SV">
                <a:solidFill>
                  <a:srgbClr val="DCE6F7"/>
                </a:solidFill>
                <a:latin typeface="Arial"/>
              </a:rPr>
              <a:t> → V04 </a:t>
            </a:r>
            <a:r>
              <a:rPr sz="1400" b="0" i="0" dirty="0" lang="es-SV">
                <a:solidFill>
                  <a:srgbClr val="DCE6F7"/>
                </a:solidFill>
                <a:latin typeface="Arial"/>
              </a:rPr>
              <a:t>propuesta</a:t>
            </a:r>
            <a:r>
              <a:rPr sz="1400" b="0" i="0" dirty="0" lang="es-SV">
                <a:solidFill>
                  <a:srgbClr val="DCE6F7"/>
                </a:solidFill>
                <a:latin typeface="Arial"/>
              </a:rPr>
              <a:t> · 60 </a:t>
            </a:r>
            <a:r>
              <a:rPr sz="1400" b="0" i="0" dirty="0" lang="es-SV">
                <a:solidFill>
                  <a:srgbClr val="DCE6F7"/>
                </a:solidFill>
                <a:latin typeface="Arial"/>
              </a:rPr>
              <a:t>cambios</a:t>
            </a:r>
            <a:endParaRPr sz="1400" b="0" i="0" dirty="0" lang="es-SV">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PROPÓSITO</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DEFINICIONES</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CRITERIOS PARA IDENTIFICAR SERVICIOS CRITICOS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REQUERIMIENTOS DE CUMPLIMIENTO NORMATIVO A CONSIDERAR EN LA CONTRATACIÓN DE SERVICIOS CRITICOS TERCERIZADOS DE ACTIVIDADES DE OPERACIONES DE TECNOLOGIA DE LA INFORMACIÓN RELACIONADAS A LOS PRODUCTOS Y SERVICIOS FINANCIEROS.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A CONSIDERAR SOBRE LA EVALUACION DE LOS PROVEEDORES DE SERVICIOS CRITICOS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ASEGURAR LA CONTINUIDAD DE PROVEEDORES DE SERVICIOS CRÍTICOS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MANTENER LA DEBIDA CONFIDENCIALIDAD Y SEGURIDAD DE LA INFORMACIÓN</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PREVENIR Y EVITAR CONFLICTOS DE INTERESES</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ACTUALIZACIÓN</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APROBACIÓN</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VIGENCIA</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DISPOSICIÓN FINAL</a:t>
            </a:r>
            <a:endPar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endParaRP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PROPÓSITO</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DEFINICIONES</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CRITERIOS PARA IDENTIFICAR SERVICIOS CRITICOS TERCERIZADOS</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REQUERIMIENTOS DE CUMPLIMIENTO NORMATIVO A CONSIDERAR EN LA CONTRATACIÓN DE SERVICIOS CRITICOS TERCERIZADOS DE ACTIVIDADES DE OPERACIONES DE TECNOLOGIA DE LA INFORMACIÓN RELACIONADAS A LOS PRODUCTOS Y SERVICIOS FINANCIEROS.</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LINEAMIENTOS A CONSIDERAR SOBRE LA EVALUACION DE LOS PROVEEDORES DE SERVICIOS CRITICOS TERCERIZADOS</a:t>
            </a: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LINEAMIENTOS PARA ASEGURAR LA CONTINUIDAD DE PROVEEDORES DE SERVICIOS CRÍTICOS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MANTENER LA DEBIDA CONFIDENCIALIDAD Y SEGURIDAD DE LA INFORMACIÓN</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PREVENIR Y EVITAR CONFLICTOS DE INTERESES</a:t>
            </a: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ACTUALIZACIÓN</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APROBACIÓN</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VIGENCIA</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DISPOSICIÓN FINAL</a:t>
            </a:r>
            <a:endPar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4519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91797"/>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 </a:t>
            </a:r>
            <a:r>
              <a:rPr sz="2000" b="1" i="0" dirty="0" lang="es-SV">
                <a:solidFill>
                  <a:srgbClr val="00376E"/>
                </a:solidFill>
                <a:latin typeface="Century Gothic"/>
              </a:rPr>
              <a:t>Propósito</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3503031044"/>
              </p:ext>
            </p:extLst>
          </p:nvPr>
        </p:nvGraphicFramePr>
        <p:xfrm>
          <a:off x="548640" y="697971"/>
          <a:ext cx="11091672" cy="23591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CONTRATACIÓN DE SERVICIOS CRÍTICOS TERCERIZADOS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POLÍTICA DE </a:t>
                      </a:r>
                      <a:r>
                        <a:rPr sz="1000" b="0" i="0" dirty="0" lang="es-SV">
                          <a:solidFill>
                            <a:srgbClr val="1B2333"/>
                          </a:solidFill>
                          <a:latin typeface="Arial"/>
                        </a:rPr>
                        <a:t>CONTRATACIÓN DE SERVICIOS CRÍTICOS TERCERIZADOS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Identifica</a:t>
                      </a:r>
                      <a:r>
                        <a:rPr sz="1000" b="0" i="0" dirty="0" lang="es-SV">
                          <a:solidFill>
                            <a:srgbClr val="1B2333"/>
                          </a:solidFill>
                          <a:latin typeface="Arial"/>
                        </a:rPr>
                        <a:t> el </a:t>
                      </a:r>
                      <a:r>
                        <a:rPr sz="1000" b="0" i="0" dirty="0" lang="es-SV">
                          <a:solidFill>
                            <a:srgbClr val="1B2333"/>
                          </a:solidFill>
                          <a:latin typeface="Arial"/>
                        </a:rPr>
                        <a:t>tipo</a:t>
                      </a:r>
                      <a:r>
                        <a:rPr sz="1000" b="0" i="0" dirty="0" lang="es-SV">
                          <a:solidFill>
                            <a:srgbClr val="1B2333"/>
                          </a:solidFill>
                          <a:latin typeface="Arial"/>
                        </a:rPr>
                        <a:t> de </a:t>
                      </a:r>
                      <a:r>
                        <a:rPr sz="1000" b="0" i="0" dirty="0" lang="es-SV">
                          <a:solidFill>
                            <a:srgbClr val="1B2333"/>
                          </a:solidFill>
                          <a:latin typeface="Arial"/>
                        </a:rPr>
                        <a:t>documento</a:t>
                      </a:r>
                      <a:r>
                        <a:rPr sz="1000" b="0" i="0" dirty="0" lang="es-SV">
                          <a:solidFill>
                            <a:srgbClr val="1B2333"/>
                          </a:solidFill>
                          <a:latin typeface="Arial"/>
                        </a:rPr>
                        <a:t>, </a:t>
                      </a:r>
                      <a:r>
                        <a:rPr sz="1000" b="0" i="0" dirty="0" lang="es-SV">
                          <a:solidFill>
                            <a:srgbClr val="1B2333"/>
                          </a:solidFill>
                          <a:latin typeface="Arial"/>
                        </a:rPr>
                        <a:t>consistente</a:t>
                      </a:r>
                      <a:r>
                        <a:rPr sz="1000" b="0" i="0" dirty="0" lang="es-SV">
                          <a:solidFill>
                            <a:srgbClr val="1B2333"/>
                          </a:solidFill>
                          <a:latin typeface="Arial"/>
                        </a:rPr>
                        <a:t> con el </a:t>
                      </a:r>
                      <a:r>
                        <a:rPr sz="1000" b="0" i="0" dirty="0" lang="es-SV">
                          <a:solidFill>
                            <a:srgbClr val="1B2333"/>
                          </a:solidFill>
                          <a:latin typeface="Arial"/>
                        </a:rPr>
                        <a:t>código</a:t>
                      </a:r>
                      <a:r>
                        <a:rPr sz="1000" b="0" i="0" dirty="0" lang="es-SV">
                          <a:solidFill>
                            <a:srgbClr val="1B2333"/>
                          </a:solidFill>
                          <a:latin typeface="Arial"/>
                        </a:rPr>
                        <a:t> RP-GG-PL.</a:t>
                      </a:r>
                    </a:p>
                    <a:p>
                      <a:pPr algn="just"/>
                      <a:r>
                        <a:rPr sz="1000" b="1" i="0" dirty="0" lang="es-SV">
                          <a:solidFill>
                            <a:srgbClr val="00376E"/>
                          </a:solidFill>
                          <a:latin typeface="Arial"/>
                        </a:rPr>
                        <a:t>Formato </a:t>
                      </a:r>
                      <a:r>
                        <a:rPr sz="1000" b="1" i="0" dirty="0" lang="es-SV">
                          <a:solidFill>
                            <a:srgbClr val="00376E"/>
                          </a:solidFill>
                          <a:latin typeface="Arial"/>
                        </a:rPr>
                        <a:t>interno</a:t>
                      </a:r>
                      <a:endParaRPr sz="1000" b="1" i="0" dirty="0" lang="es-SV">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Definir</a:t>
                      </a:r>
                      <a:r>
                        <a:rPr sz="1000" b="0" i="0" dirty="0" lang="es-SV">
                          <a:solidFill>
                            <a:srgbClr val="1B2333"/>
                          </a:solidFill>
                          <a:latin typeface="Arial"/>
                        </a:rPr>
                        <a:t> las </a:t>
                      </a:r>
                      <a:r>
                        <a:rPr sz="1000" b="0" i="0" dirty="0" lang="es-SV">
                          <a:solidFill>
                            <a:srgbClr val="1B2333"/>
                          </a:solidFill>
                          <a:latin typeface="Arial"/>
                        </a:rPr>
                        <a:t>políticas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permitan</a:t>
                      </a:r>
                      <a:r>
                        <a:rPr sz="1000" b="0" i="0" dirty="0" lang="es-SV">
                          <a:solidFill>
                            <a:srgbClr val="1B2333"/>
                          </a:solidFill>
                          <a:latin typeface="Arial"/>
                        </a:rPr>
                        <a:t> </a:t>
                      </a:r>
                      <a:r>
                        <a:rPr sz="1000" b="0" i="0" dirty="0" lang="es-SV">
                          <a:solidFill>
                            <a:srgbClr val="1B2333"/>
                          </a:solidFill>
                          <a:latin typeface="Arial"/>
                        </a:rPr>
                        <a:t>evaluar</a:t>
                      </a:r>
                      <a:r>
                        <a:rPr sz="1000" b="0" i="0" dirty="0" lang="es-SV">
                          <a:solidFill>
                            <a:srgbClr val="1B2333"/>
                          </a:solidFill>
                          <a:latin typeface="Arial"/>
                        </a:rPr>
                        <a:t>, </a:t>
                      </a:r>
                      <a:r>
                        <a:rPr sz="1000" b="0" i="0" dirty="0" lang="es-SV">
                          <a:solidFill>
                            <a:srgbClr val="1B2333"/>
                          </a:solidFill>
                          <a:latin typeface="Arial"/>
                        </a:rPr>
                        <a:t>administrar</a:t>
                      </a:r>
                      <a:r>
                        <a:rPr sz="1000" b="0" i="0" dirty="0" lang="es-SV">
                          <a:solidFill>
                            <a:srgbClr val="1B2333"/>
                          </a:solidFill>
                          <a:latin typeface="Arial"/>
                        </a:rPr>
                        <a:t> y </a:t>
                      </a:r>
                      <a:r>
                        <a:rPr sz="1000" b="0" i="0" dirty="0" lang="es-SV">
                          <a:solidFill>
                            <a:srgbClr val="1B2333"/>
                          </a:solidFill>
                          <a:latin typeface="Arial"/>
                        </a:rPr>
                        <a:t>monitorear</a:t>
                      </a:r>
                      <a:r>
                        <a:rPr sz="1000" b="0" i="0" dirty="0" lang="es-SV">
                          <a:solidFill>
                            <a:srgbClr val="1B2333"/>
                          </a:solidFill>
                          <a:latin typeface="Arial"/>
                        </a:rPr>
                        <a:t> </a:t>
                      </a:r>
                      <a:r>
                        <a:rPr sz="1000" b="0" i="0" dirty="0" lang="es-SV">
                          <a:solidFill>
                            <a:srgbClr val="1B2333"/>
                          </a:solidFill>
                          <a:latin typeface="Arial"/>
                        </a:rPr>
                        <a:t>objetivamente</a:t>
                      </a:r>
                      <a:r>
                        <a:rPr sz="1000" b="0" i="0" dirty="0" lang="es-SV">
                          <a:solidFill>
                            <a:srgbClr val="1B2333"/>
                          </a:solidFill>
                          <a:latin typeface="Arial"/>
                        </a:rPr>
                        <a:t> </a:t>
                      </a:r>
                      <a:r>
                        <a:rPr sz="1000" b="0" i="0" dirty="0" lang="es-SV">
                          <a:solidFill>
                            <a:srgbClr val="1B2333"/>
                          </a:solidFill>
                          <a:latin typeface="Arial"/>
                        </a:rPr>
                        <a:t>si</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se </a:t>
                      </a:r>
                      <a:r>
                        <a:rPr sz="1000" b="0" i="0" dirty="0" lang="es-SV">
                          <a:solidFill>
                            <a:srgbClr val="1B2333"/>
                          </a:solidFill>
                          <a:latin typeface="Arial"/>
                        </a:rPr>
                        <a:t>tercerizan</a:t>
                      </a:r>
                      <a:r>
                        <a:rPr sz="1000" b="0" i="0" dirty="0" lang="es-SV">
                          <a:solidFill>
                            <a:srgbClr val="1B2333"/>
                          </a:solidFill>
                          <a:latin typeface="Arial"/>
                        </a:rPr>
                        <a:t> </a:t>
                      </a:r>
                      <a:r>
                        <a:rPr sz="1000" b="0" i="0" dirty="0" lang="es-SV">
                          <a:solidFill>
                            <a:srgbClr val="1B2333"/>
                          </a:solidFill>
                          <a:latin typeface="Arial"/>
                        </a:rPr>
                        <a:t>pueden</a:t>
                      </a:r>
                      <a:r>
                        <a:rPr sz="1000" b="0" i="0" dirty="0" lang="es-SV">
                          <a:solidFill>
                            <a:srgbClr val="1B2333"/>
                          </a:solidFill>
                          <a:latin typeface="Arial"/>
                        </a:rPr>
                        <a:t> ser </a:t>
                      </a:r>
                      <a:r>
                        <a:rPr sz="1000" b="0" i="0" dirty="0" lang="es-SV">
                          <a:solidFill>
                            <a:srgbClr val="1B2333"/>
                          </a:solidFill>
                          <a:latin typeface="Arial"/>
                        </a:rPr>
                        <a:t>prestados</a:t>
                      </a:r>
                      <a:r>
                        <a:rPr sz="1000" b="0" i="0" dirty="0" lang="es-SV">
                          <a:solidFill>
                            <a:srgbClr val="1B2333"/>
                          </a:solidFill>
                          <a:latin typeface="Arial"/>
                        </a:rPr>
                        <a:t> de </a:t>
                      </a:r>
                      <a:r>
                        <a:rPr sz="1000" b="0" i="0" dirty="0" lang="es-SV">
                          <a:solidFill>
                            <a:srgbClr val="1B2333"/>
                          </a:solidFill>
                          <a:latin typeface="Arial"/>
                        </a:rPr>
                        <a:t>manera</a:t>
                      </a:r>
                      <a:r>
                        <a:rPr sz="1000" b="0" i="0" dirty="0" lang="es-SV">
                          <a:solidFill>
                            <a:srgbClr val="1B2333"/>
                          </a:solidFill>
                          <a:latin typeface="Arial"/>
                        </a:rPr>
                        <a:t> </a:t>
                      </a:r>
                      <a:r>
                        <a:rPr sz="1000" b="0" i="0" dirty="0" lang="es-SV">
                          <a:solidFill>
                            <a:srgbClr val="1B2333"/>
                          </a:solidFill>
                          <a:latin typeface="Arial"/>
                        </a:rPr>
                        <a:t>eficiente</a:t>
                      </a:r>
                      <a:r>
                        <a:rPr sz="1000" b="0" i="0" dirty="0" lang="es-SV">
                          <a:solidFill>
                            <a:srgbClr val="1B2333"/>
                          </a:solidFill>
                          <a:latin typeface="Arial"/>
                        </a:rPr>
                        <a:t> y no </a:t>
                      </a:r>
                      <a:r>
                        <a:rPr sz="1000" b="0" i="0" dirty="0" lang="es-SV">
                          <a:solidFill>
                            <a:srgbClr val="1B2333"/>
                          </a:solidFill>
                          <a:latin typeface="Arial"/>
                        </a:rPr>
                        <a:t>interfieren</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el </a:t>
                      </a:r>
                      <a:r>
                        <a:rPr sz="1000" b="0" i="0" dirty="0" lang="es-SV">
                          <a:solidFill>
                            <a:srgbClr val="1B2333"/>
                          </a:solidFill>
                          <a:latin typeface="Arial"/>
                        </a:rPr>
                        <a:t>correcto</a:t>
                      </a:r>
                      <a:r>
                        <a:rPr sz="1000" b="0" i="0" dirty="0" lang="es-SV">
                          <a:solidFill>
                            <a:srgbClr val="1B2333"/>
                          </a:solidFill>
                          <a:latin typeface="Arial"/>
                        </a:rPr>
                        <a:t> </a:t>
                      </a:r>
                      <a:r>
                        <a:rPr sz="1000" b="0" i="0" dirty="0" lang="es-SV">
                          <a:solidFill>
                            <a:srgbClr val="1B2333"/>
                          </a:solidFill>
                          <a:latin typeface="Arial"/>
                        </a:rPr>
                        <a:t>funcionamiento</a:t>
                      </a:r>
                      <a:r>
                        <a:rPr sz="1000" b="0" i="0" dirty="0" lang="es-SV">
                          <a:solidFill>
                            <a:srgbClr val="1B2333"/>
                          </a:solidFill>
                          <a:latin typeface="Arial"/>
                        </a:rPr>
                        <a:t> de la Cooperativa, </a:t>
                      </a:r>
                      <a:r>
                        <a:rPr sz="1000" b="0" i="0" dirty="0" lang="es-SV">
                          <a:solidFill>
                            <a:srgbClr val="1B2333"/>
                          </a:solidFill>
                          <a:latin typeface="Arial"/>
                        </a:rPr>
                        <a:t>cuidando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intereses</a:t>
                      </a:r>
                      <a:r>
                        <a:rPr sz="1000" b="0" i="0" dirty="0" lang="es-SV">
                          <a:solidFill>
                            <a:srgbClr val="1B2333"/>
                          </a:solidFill>
                          <a:latin typeface="Arial"/>
                        </a:rPr>
                        <a:t> de COMEDICA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Procesos</a:t>
                      </a:r>
                      <a:r>
                        <a:rPr sz="1000" b="0" i="0" dirty="0" lang="es-SV">
                          <a:solidFill>
                            <a:srgbClr val="1B2333"/>
                          </a:solidFill>
                          <a:latin typeface="Arial"/>
                        </a:rPr>
                        <a:t> de </a:t>
                      </a:r>
                      <a:r>
                        <a:rPr sz="1000" b="0" i="0" dirty="0" lang="es-SV">
                          <a:solidFill>
                            <a:srgbClr val="1B2333"/>
                          </a:solidFill>
                          <a:latin typeface="Arial"/>
                        </a:rPr>
                        <a:t>Contratación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Definir</a:t>
                      </a:r>
                      <a:r>
                        <a:rPr sz="1000" b="0" i="0" dirty="0" lang="es-SV">
                          <a:solidFill>
                            <a:srgbClr val="1B2333"/>
                          </a:solidFill>
                          <a:latin typeface="Arial"/>
                        </a:rPr>
                        <a:t> las </a:t>
                      </a:r>
                      <a:r>
                        <a:rPr sz="1000" b="0" i="0" dirty="0" lang="es-SV">
                          <a:solidFill>
                            <a:srgbClr val="1B2333"/>
                          </a:solidFill>
                          <a:latin typeface="Arial"/>
                        </a:rPr>
                        <a:t>políticas</a:t>
                      </a:r>
                      <a:r>
                        <a:rPr sz="1000" b="1" i="0" u="sng" dirty="0" lang="es-SV">
                          <a:solidFill>
                            <a:srgbClr val="00376E"/>
                          </a:solidFill>
                          <a:latin typeface="Arial"/>
                        </a:rPr>
                        <a:t>, </a:t>
                      </a:r>
                      <a:r>
                        <a:rPr sz="1000" b="1" i="0" u="sng" dirty="0" lang="es-SV">
                          <a:solidFill>
                            <a:srgbClr val="00376E"/>
                          </a:solidFill>
                          <a:latin typeface="Arial"/>
                        </a:rPr>
                        <a:t>lineamientos</a:t>
                      </a:r>
                      <a:r>
                        <a:rPr sz="1000" b="1" i="0" u="sng" dirty="0" lang="es-SV">
                          <a:solidFill>
                            <a:srgbClr val="00376E"/>
                          </a:solidFill>
                          <a:latin typeface="Arial"/>
                        </a:rPr>
                        <a:t> y </a:t>
                      </a:r>
                      <a:r>
                        <a:rPr sz="1000" b="1" i="0" u="sng" dirty="0" lang="es-SV">
                          <a:solidFill>
                            <a:srgbClr val="00376E"/>
                          </a:solidFill>
                          <a:latin typeface="Arial"/>
                        </a:rPr>
                        <a:t>controles</a:t>
                      </a:r>
                      <a:r>
                        <a:rPr sz="1000" b="1" i="0" u="sng" dirty="0" lang="es-SV">
                          <a:solidFill>
                            <a:srgbClr val="00376E"/>
                          </a:solidFill>
                          <a:latin typeface="Arial"/>
                        </a:rPr>
                        <a:t> </a:t>
                      </a:r>
                      <a:r>
                        <a:rPr sz="1000" b="1" i="0" u="sng" dirty="0" lang="es-SV">
                          <a:solidFill>
                            <a:srgbClr val="00376E"/>
                          </a:solidFill>
                          <a:latin typeface="Arial"/>
                        </a:rPr>
                        <a:t>mínimos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permitan</a:t>
                      </a:r>
                      <a:r>
                        <a:rPr sz="1000" b="0" i="0" dirty="0" lang="es-SV">
                          <a:solidFill>
                            <a:srgbClr val="1B2333"/>
                          </a:solidFill>
                          <a:latin typeface="Arial"/>
                        </a:rPr>
                        <a:t> </a:t>
                      </a:r>
                      <a:r>
                        <a:rPr sz="1000" b="1" i="0" u="sng" dirty="0" lang="es-SV">
                          <a:solidFill>
                            <a:srgbClr val="00376E"/>
                          </a:solidFill>
                          <a:latin typeface="Arial"/>
                        </a:rPr>
                        <a:t>identificar</a:t>
                      </a:r>
                      <a:r>
                        <a:rPr sz="1000" b="1" i="0" u="sng" dirty="0" lang="es-SV">
                          <a:solidFill>
                            <a:srgbClr val="00376E"/>
                          </a:solidFill>
                          <a:latin typeface="Arial"/>
                        </a:rPr>
                        <a:t>,</a:t>
                      </a:r>
                      <a:r>
                        <a:rPr sz="1000" b="0" i="0" dirty="0" lang="es-SV">
                          <a:solidFill>
                            <a:srgbClr val="1B2333"/>
                          </a:solidFill>
                          <a:latin typeface="Arial"/>
                        </a:rPr>
                        <a:t> </a:t>
                      </a:r>
                      <a:r>
                        <a:rPr sz="1000" b="0" i="0" dirty="0" lang="es-SV">
                          <a:solidFill>
                            <a:srgbClr val="1B2333"/>
                          </a:solidFill>
                          <a:latin typeface="Arial"/>
                        </a:rPr>
                        <a:t>evaluar</a:t>
                      </a:r>
                      <a:r>
                        <a:rPr sz="1000" b="0" i="0" dirty="0" lang="es-SV">
                          <a:solidFill>
                            <a:srgbClr val="1B2333"/>
                          </a:solidFill>
                          <a:latin typeface="Arial"/>
                        </a:rPr>
                        <a:t>, </a:t>
                      </a:r>
                      <a:r>
                        <a:rPr sz="1000" b="0" i="0" dirty="0" lang="es-SV">
                          <a:solidFill>
                            <a:srgbClr val="1B2333"/>
                          </a:solidFill>
                          <a:latin typeface="Arial"/>
                        </a:rPr>
                        <a:t>administrar</a:t>
                      </a:r>
                      <a:r>
                        <a:rPr sz="1000" b="0" i="0" dirty="0" lang="es-SV">
                          <a:solidFill>
                            <a:srgbClr val="1B2333"/>
                          </a:solidFill>
                          <a:latin typeface="Arial"/>
                        </a:rPr>
                        <a:t>, </a:t>
                      </a:r>
                      <a:r>
                        <a:rPr sz="1000" b="1" i="0" u="sng" dirty="0" lang="es-SV">
                          <a:solidFill>
                            <a:srgbClr val="00376E"/>
                          </a:solidFill>
                          <a:latin typeface="Arial"/>
                        </a:rPr>
                        <a:t>mitigar</a:t>
                      </a:r>
                      <a:r>
                        <a:rPr sz="1000" b="0" i="0" dirty="0" lang="es-SV">
                          <a:solidFill>
                            <a:srgbClr val="1B2333"/>
                          </a:solidFill>
                          <a:latin typeface="Arial"/>
                        </a:rPr>
                        <a:t> y </a:t>
                      </a:r>
                      <a:r>
                        <a:rPr sz="1000" b="0" i="0" dirty="0" lang="es-SV">
                          <a:solidFill>
                            <a:srgbClr val="1B2333"/>
                          </a:solidFill>
                          <a:latin typeface="Arial"/>
                        </a:rPr>
                        <a:t>monitorear</a:t>
                      </a:r>
                      <a:r>
                        <a:rPr sz="1000" b="0" i="0" dirty="0" lang="es-SV">
                          <a:solidFill>
                            <a:srgbClr val="1B2333"/>
                          </a:solidFill>
                          <a:latin typeface="Arial"/>
                        </a:rPr>
                        <a:t> </a:t>
                      </a:r>
                      <a:r>
                        <a:rPr sz="1000" b="0" i="0" dirty="0" lang="es-SV">
                          <a:solidFill>
                            <a:srgbClr val="1B2333"/>
                          </a:solidFill>
                          <a:latin typeface="Arial"/>
                        </a:rPr>
                        <a:t>objetivamente</a:t>
                      </a:r>
                      <a:r>
                        <a:rPr sz="1000" b="0" i="0" dirty="0" lang="es-SV">
                          <a:solidFill>
                            <a:srgbClr val="1B2333"/>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riesgos</a:t>
                      </a:r>
                      <a:r>
                        <a:rPr sz="1000" b="1" i="0" u="sng" dirty="0" lang="es-SV">
                          <a:solidFill>
                            <a:srgbClr val="00376E"/>
                          </a:solidFill>
                          <a:latin typeface="Arial"/>
                        </a:rPr>
                        <a:t> </a:t>
                      </a:r>
                      <a:r>
                        <a:rPr sz="1000" b="1" i="0" u="sng" dirty="0" lang="es-SV">
                          <a:solidFill>
                            <a:srgbClr val="00376E"/>
                          </a:solidFill>
                          <a:latin typeface="Arial"/>
                        </a:rPr>
                        <a:t>asociados</a:t>
                      </a:r>
                      <a:r>
                        <a:rPr sz="1000" b="1" i="0" u="sng" dirty="0" lang="es-SV">
                          <a:solidFill>
                            <a:srgbClr val="00376E"/>
                          </a:solidFill>
                          <a:latin typeface="Arial"/>
                        </a:rPr>
                        <a:t> a la </a:t>
                      </a:r>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asegurando</a:t>
                      </a:r>
                      <a:r>
                        <a:rPr sz="1000" b="1" i="0" u="sng" dirty="0" lang="es-SV">
                          <a:solidFill>
                            <a:srgbClr val="00376E"/>
                          </a:solidFill>
                          <a:latin typeface="Arial"/>
                        </a:rPr>
                        <a:t> </a:t>
                      </a:r>
                      <a:r>
                        <a:rPr sz="1000" b="1" i="0" u="sng" dirty="0" lang="es-SV">
                          <a:solidFill>
                            <a:srgbClr val="00376E"/>
                          </a:solidFill>
                          <a:latin typeface="Arial"/>
                        </a:rPr>
                        <a:t>que</a:t>
                      </a:r>
                      <a:r>
                        <a:rPr sz="1000" b="1" i="0" u="sng" dirty="0" lang="es-SV">
                          <a:solidFill>
                            <a:srgbClr val="00376E"/>
                          </a:solidFill>
                          <a:latin typeface="Arial"/>
                        </a:rPr>
                        <a:t> </a:t>
                      </a:r>
                      <a:r>
                        <a:rPr sz="1000" b="1" i="0" u="sng" dirty="0" lang="es-SV">
                          <a:solidFill>
                            <a:srgbClr val="00376E"/>
                          </a:solidFill>
                          <a:latin typeface="Arial"/>
                        </a:rPr>
                        <a:t>dichos</a:t>
                      </a:r>
                      <a:r>
                        <a:rPr sz="1000" b="1" i="0" u="sng" dirty="0" lang="es-SV">
                          <a:solidFill>
                            <a:srgbClr val="00376E"/>
                          </a:solidFill>
                          <a:latin typeface="Arial"/>
                        </a:rPr>
                        <a:t>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sean</a:t>
                      </a:r>
                      <a:r>
                        <a:rPr sz="1000" b="0" i="0" dirty="0" lang="es-SV">
                          <a:solidFill>
                            <a:srgbClr val="1B2333"/>
                          </a:solidFill>
                          <a:latin typeface="Arial"/>
                        </a:rPr>
                        <a:t> </a:t>
                      </a:r>
                      <a:r>
                        <a:rPr sz="1000" b="0" i="0" dirty="0" lang="es-SV">
                          <a:solidFill>
                            <a:srgbClr val="1B2333"/>
                          </a:solidFill>
                          <a:latin typeface="Arial"/>
                        </a:rPr>
                        <a:t>prestados</a:t>
                      </a:r>
                      <a:r>
                        <a:rPr sz="1000" b="0" i="0" dirty="0" lang="es-SV">
                          <a:solidFill>
                            <a:srgbClr val="1B2333"/>
                          </a:solidFill>
                          <a:latin typeface="Arial"/>
                        </a:rPr>
                        <a:t> de </a:t>
                      </a:r>
                      <a:r>
                        <a:rPr sz="1000" b="0" i="0" dirty="0" lang="es-SV">
                          <a:solidFill>
                            <a:srgbClr val="1B2333"/>
                          </a:solidFill>
                          <a:latin typeface="Arial"/>
                        </a:rPr>
                        <a:t>manera</a:t>
                      </a:r>
                      <a:r>
                        <a:rPr sz="1000" b="0" i="0" dirty="0" lang="es-SV">
                          <a:solidFill>
                            <a:srgbClr val="1B2333"/>
                          </a:solidFill>
                          <a:latin typeface="Arial"/>
                        </a:rPr>
                        <a:t> </a:t>
                      </a:r>
                      <a:r>
                        <a:rPr sz="1000" b="0" i="0" dirty="0" lang="es-SV">
                          <a:solidFill>
                            <a:srgbClr val="1B2333"/>
                          </a:solidFill>
                          <a:latin typeface="Arial"/>
                        </a:rPr>
                        <a:t>eficiente</a:t>
                      </a:r>
                      <a:r>
                        <a:rPr sz="1000" b="0" i="0" dirty="0" lang="es-SV">
                          <a:solidFill>
                            <a:srgbClr val="1B2333"/>
                          </a:solidFill>
                          <a:latin typeface="Arial"/>
                        </a:rPr>
                        <a:t>, </a:t>
                      </a:r>
                      <a:r>
                        <a:rPr sz="1000" b="1" i="0" u="sng" dirty="0" lang="es-SV">
                          <a:solidFill>
                            <a:srgbClr val="00376E"/>
                          </a:solidFill>
                          <a:latin typeface="Arial"/>
                        </a:rPr>
                        <a:t>segura</a:t>
                      </a:r>
                      <a:r>
                        <a:rPr sz="1000" b="1" i="0" u="sng" dirty="0" lang="es-SV">
                          <a:solidFill>
                            <a:srgbClr val="00376E"/>
                          </a:solidFill>
                          <a:latin typeface="Arial"/>
                        </a:rPr>
                        <a:t> y continua, y </a:t>
                      </a:r>
                      <a:r>
                        <a:rPr sz="1000" b="1" i="0" u="sng" dirty="0" lang="es-SV">
                          <a:solidFill>
                            <a:srgbClr val="00376E"/>
                          </a:solidFill>
                          <a:latin typeface="Arial"/>
                        </a:rPr>
                        <a:t>que</a:t>
                      </a:r>
                      <a:r>
                        <a:rPr sz="1000" b="0" i="0" dirty="0" lang="es-SV">
                          <a:solidFill>
                            <a:srgbClr val="1B2333"/>
                          </a:solidFill>
                          <a:latin typeface="Arial"/>
                        </a:rPr>
                        <a:t> no </a:t>
                      </a:r>
                      <a:r>
                        <a:rPr sz="1000" b="0" i="0" dirty="0" lang="es-SV">
                          <a:solidFill>
                            <a:srgbClr val="1B2333"/>
                          </a:solidFill>
                          <a:latin typeface="Arial"/>
                        </a:rPr>
                        <a:t>interfieran</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el </a:t>
                      </a:r>
                      <a:r>
                        <a:rPr sz="1000" b="0" i="0" dirty="0" lang="es-SV">
                          <a:solidFill>
                            <a:srgbClr val="1B2333"/>
                          </a:solidFill>
                          <a:latin typeface="Arial"/>
                        </a:rPr>
                        <a:t>correcto</a:t>
                      </a:r>
                      <a:r>
                        <a:rPr sz="1000" b="0" i="0" dirty="0" lang="es-SV">
                          <a:solidFill>
                            <a:srgbClr val="1B2333"/>
                          </a:solidFill>
                          <a:latin typeface="Arial"/>
                        </a:rPr>
                        <a:t> </a:t>
                      </a:r>
                      <a:r>
                        <a:rPr sz="1000" b="0" i="0" dirty="0" lang="es-SV">
                          <a:solidFill>
                            <a:srgbClr val="1B2333"/>
                          </a:solidFill>
                          <a:latin typeface="Arial"/>
                        </a:rPr>
                        <a:t>funcionamiento</a:t>
                      </a:r>
                      <a:r>
                        <a:rPr sz="1000" b="0" i="0" dirty="0" lang="es-SV">
                          <a:solidFill>
                            <a:srgbClr val="1B2333"/>
                          </a:solidFill>
                          <a:latin typeface="Arial"/>
                        </a:rPr>
                        <a:t> de la Cooperativa</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perfil</a:t>
                      </a:r>
                      <a:r>
                        <a:rPr sz="1000" b="1" i="0" u="sng" dirty="0" lang="es-SV">
                          <a:solidFill>
                            <a:srgbClr val="00376E"/>
                          </a:solidFill>
                          <a:latin typeface="Arial"/>
                        </a:rPr>
                        <a:t> de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posición</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a:t>
                      </a:r>
                      <a:r>
                        <a:rPr sz="1000" b="1" i="0" u="sng" dirty="0" lang="es-SV">
                          <a:solidFill>
                            <a:srgbClr val="00376E"/>
                          </a:solidFill>
                          <a:latin typeface="Arial"/>
                        </a:rPr>
                        <a:t>ni</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cumplimiento</a:t>
                      </a:r>
                      <a:r>
                        <a:rPr sz="1000" b="1" i="0" u="sng" dirty="0" lang="es-SV">
                          <a:solidFill>
                            <a:srgbClr val="00376E"/>
                          </a:solidFill>
                          <a:latin typeface="Arial"/>
                        </a:rPr>
                        <a:t> del </a:t>
                      </a:r>
                      <a:r>
                        <a:rPr sz="1000" b="1" i="0" u="sng" dirty="0" lang="es-SV">
                          <a:solidFill>
                            <a:srgbClr val="00376E"/>
                          </a:solidFill>
                          <a:latin typeface="Arial"/>
                        </a:rPr>
                        <a:t>marco</a:t>
                      </a:r>
                      <a:r>
                        <a:rPr sz="1000" b="1" i="0" u="sng" dirty="0" lang="es-SV">
                          <a:solidFill>
                            <a:srgbClr val="00376E"/>
                          </a:solidFill>
                          <a:latin typeface="Arial"/>
                        </a:rPr>
                        <a:t> </a:t>
                      </a:r>
                      <a:r>
                        <a:rPr sz="1000" b="1" i="0" u="sng" dirty="0" lang="es-SV">
                          <a:solidFill>
                            <a:srgbClr val="00376E"/>
                          </a:solidFill>
                          <a:latin typeface="Arial"/>
                        </a:rPr>
                        <a:t>regulatorio</a:t>
                      </a:r>
                      <a:r>
                        <a:rPr sz="1000" b="0" i="0" dirty="0" lang="es-SV">
                          <a:solidFill>
                            <a:srgbClr val="1B2333"/>
                          </a:solidFill>
                          <a:latin typeface="Arial"/>
                        </a:rPr>
                        <a:t>, </a:t>
                      </a:r>
                      <a:r>
                        <a:rPr sz="1000" b="0" i="0" dirty="0" lang="es-SV">
                          <a:solidFill>
                            <a:srgbClr val="1B2333"/>
                          </a:solidFill>
                          <a:latin typeface="Arial"/>
                        </a:rPr>
                        <a:t>cuidando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intereses</a:t>
                      </a:r>
                      <a:r>
                        <a:rPr sz="1000" b="0" i="0" dirty="0" lang="es-SV">
                          <a:solidFill>
                            <a:srgbClr val="1B2333"/>
                          </a:solidFill>
                          <a:latin typeface="Arial"/>
                        </a:rPr>
                        <a:t> de COMEDICA </a:t>
                      </a:r>
                      <a:r>
                        <a:rPr sz="1000" b="1" i="0" u="sng" dirty="0" lang="es-SV">
                          <a:solidFill>
                            <a:srgbClr val="00376E"/>
                          </a:solidFill>
                          <a:latin typeface="Arial"/>
                        </a:rPr>
                        <a:t>de R.L. y de sus </a:t>
                      </a:r>
                      <a:r>
                        <a:rPr sz="1000" b="1" i="0" u="sng" dirty="0" lang="es-SV">
                          <a:solidFill>
                            <a:srgbClr val="00376E"/>
                          </a:solidFill>
                          <a:latin typeface="Arial"/>
                        </a:rPr>
                        <a:t>asociados</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procesos</a:t>
                      </a:r>
                      <a:r>
                        <a:rPr sz="1000" b="0" i="0" dirty="0" lang="es-SV">
                          <a:solidFill>
                            <a:srgbClr val="1B2333"/>
                          </a:solidFill>
                          <a:latin typeface="Arial"/>
                        </a:rPr>
                        <a:t> de </a:t>
                      </a:r>
                      <a:r>
                        <a:rPr sz="1000" b="1" i="0" u="sng" dirty="0" lang="es-SV">
                          <a:solidFill>
                            <a:srgbClr val="00376E"/>
                          </a:solidFill>
                          <a:latin typeface="Arial"/>
                        </a:rPr>
                        <a:t>selección</a:t>
                      </a:r>
                      <a:r>
                        <a:rPr sz="1000" b="1" i="0" u="sng" dirty="0" lang="es-SV">
                          <a:solidFill>
                            <a:srgbClr val="00376E"/>
                          </a:solidFill>
                          <a:latin typeface="Arial"/>
                        </a:rPr>
                        <a:t>,</a:t>
                      </a:r>
                      <a:r>
                        <a:rPr sz="1000" b="0" i="0" dirty="0" lang="es-SV">
                          <a:solidFill>
                            <a:srgbClr val="1B2333"/>
                          </a:solidFill>
                          <a:latin typeface="Arial"/>
                        </a:rPr>
                        <a:t> </a:t>
                      </a:r>
                      <a:r>
                        <a:rPr sz="1000" b="0" i="0" dirty="0" lang="es-SV">
                          <a:solidFill>
                            <a:srgbClr val="1B2333"/>
                          </a:solidFill>
                          <a:latin typeface="Arial"/>
                        </a:rPr>
                        <a:t>contratación</a:t>
                      </a:r>
                      <a:r>
                        <a:rPr sz="1000" b="1" i="0" u="sng" dirty="0" lang="es-SV">
                          <a:solidFill>
                            <a:srgbClr val="00376E"/>
                          </a:solidFill>
                          <a:latin typeface="Arial"/>
                        </a:rPr>
                        <a:t>, </a:t>
                      </a:r>
                      <a:r>
                        <a:rPr sz="1000" b="1" i="0" u="sng" dirty="0" lang="es-SV">
                          <a:solidFill>
                            <a:srgbClr val="00376E"/>
                          </a:solidFill>
                          <a:latin typeface="Arial"/>
                        </a:rPr>
                        <a:t>monitoreo</a:t>
                      </a:r>
                      <a:r>
                        <a:rPr sz="1000" b="1" i="0" u="sng" dirty="0" lang="es-SV">
                          <a:solidFill>
                            <a:srgbClr val="00376E"/>
                          </a:solidFill>
                          <a:latin typeface="Arial"/>
                        </a:rPr>
                        <a:t>, </a:t>
                      </a:r>
                      <a:r>
                        <a:rPr sz="1000" b="1" i="0" u="sng" dirty="0" lang="es-SV">
                          <a:solidFill>
                            <a:srgbClr val="00376E"/>
                          </a:solidFill>
                          <a:latin typeface="Arial"/>
                        </a:rPr>
                        <a:t>renovación</a:t>
                      </a:r>
                      <a:r>
                        <a:rPr sz="1000" b="1" i="0" u="sng" dirty="0" lang="es-SV">
                          <a:solidFill>
                            <a:srgbClr val="00376E"/>
                          </a:solidFill>
                          <a:latin typeface="Arial"/>
                        </a:rPr>
                        <a:t> y </a:t>
                      </a:r>
                      <a:r>
                        <a:rPr sz="1000" b="1" i="0" u="sng" dirty="0" lang="es-SV">
                          <a:solidFill>
                            <a:srgbClr val="00376E"/>
                          </a:solidFill>
                          <a:latin typeface="Arial"/>
                        </a:rPr>
                        <a:t>terminación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Incorpora</a:t>
                      </a:r>
                      <a:r>
                        <a:rPr sz="1000" b="0" i="0" dirty="0" lang="es-SV">
                          <a:solidFill>
                            <a:srgbClr val="1B2333"/>
                          </a:solidFill>
                          <a:latin typeface="Arial"/>
                        </a:rPr>
                        <a:t> las </a:t>
                      </a:r>
                      <a:r>
                        <a:rPr sz="1000" b="0" i="0" dirty="0" lang="es-SV">
                          <a:solidFill>
                            <a:srgbClr val="1B2333"/>
                          </a:solidFill>
                          <a:latin typeface="Arial"/>
                        </a:rPr>
                        <a:t>etapas</a:t>
                      </a:r>
                      <a:r>
                        <a:rPr sz="1000" b="0" i="0" dirty="0" lang="es-SV">
                          <a:solidFill>
                            <a:srgbClr val="1B2333"/>
                          </a:solidFill>
                          <a:latin typeface="Arial"/>
                        </a:rPr>
                        <a:t> de </a:t>
                      </a:r>
                      <a:r>
                        <a:rPr sz="1000" b="0" i="0" dirty="0" lang="es-SV">
                          <a:solidFill>
                            <a:srgbClr val="1B2333"/>
                          </a:solidFill>
                          <a:latin typeface="Arial"/>
                        </a:rPr>
                        <a:t>gestión</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 y el </a:t>
                      </a:r>
                      <a:r>
                        <a:rPr sz="1000" b="0" i="0" dirty="0" lang="es-SV">
                          <a:solidFill>
                            <a:srgbClr val="1B2333"/>
                          </a:solidFill>
                          <a:latin typeface="Arial"/>
                        </a:rPr>
                        <a:t>ciclo</a:t>
                      </a:r>
                      <a:r>
                        <a:rPr sz="1000" b="0" i="0" dirty="0" lang="es-SV">
                          <a:solidFill>
                            <a:srgbClr val="1B2333"/>
                          </a:solidFill>
                          <a:latin typeface="Arial"/>
                        </a:rPr>
                        <a:t> de </a:t>
                      </a:r>
                      <a:r>
                        <a:rPr sz="1000" b="0" i="0" dirty="0" lang="es-SV">
                          <a:solidFill>
                            <a:srgbClr val="1B2333"/>
                          </a:solidFill>
                          <a:latin typeface="Arial"/>
                        </a:rPr>
                        <a:t>vida</a:t>
                      </a:r>
                      <a:r>
                        <a:rPr sz="1000" b="0" i="0" dirty="0" lang="es-SV">
                          <a:solidFill>
                            <a:srgbClr val="1B2333"/>
                          </a:solidFill>
                          <a:latin typeface="Arial"/>
                        </a:rPr>
                        <a:t> </a:t>
                      </a:r>
                      <a:r>
                        <a:rPr sz="1000" b="0" i="0" dirty="0" lang="es-SV">
                          <a:solidFill>
                            <a:srgbClr val="1B2333"/>
                          </a:solidFill>
                          <a:latin typeface="Arial"/>
                        </a:rPr>
                        <a:t>completo</a:t>
                      </a:r>
                      <a:r>
                        <a:rPr sz="1000" b="0" i="0" dirty="0" lang="es-SV">
                          <a:solidFill>
                            <a:srgbClr val="1B2333"/>
                          </a:solidFill>
                          <a:latin typeface="Arial"/>
                        </a:rPr>
                        <a:t> del </a:t>
                      </a:r>
                      <a:r>
                        <a:rPr sz="1000" b="0" i="0" dirty="0" lang="es-SV">
                          <a:solidFill>
                            <a:srgbClr val="1B2333"/>
                          </a:solidFill>
                          <a:latin typeface="Arial"/>
                        </a:rPr>
                        <a:t>servicio</a:t>
                      </a:r>
                      <a:r>
                        <a:rPr sz="1000" b="0" i="0" dirty="0" lang="es-SV">
                          <a:solidFill>
                            <a:srgbClr val="1B2333"/>
                          </a:solidFill>
                          <a:latin typeface="Arial"/>
                        </a:rPr>
                        <a:t>.</a:t>
                      </a:r>
                    </a:p>
                    <a:p>
                      <a:pPr algn="just"/>
                      <a:r>
                        <a:rPr sz="1000" b="1" i="0" dirty="0" lang="es-SV">
                          <a:solidFill>
                            <a:srgbClr val="00376E"/>
                          </a:solidFill>
                          <a:latin typeface="Arial"/>
                        </a:rPr>
                        <a:t>NRP-20, art. 5 · 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24D607C5-77C0-2A50-5703-22F229E5324D}"/>
              </a:ext>
            </a:extLst>
          </p:cNvPr>
          <p:cNvGraphicFramePr>
            <a:graphicFrameLocks noGrp="1"/>
          </p:cNvGraphicFramePr>
          <p:nvPr>
            <p:extLst>
              <p:ext uri="{D42A27DB-BD31-4B8C-83A1-F6EECF244321}">
                <p14:modId xmlns:p14="http://schemas.microsoft.com/office/powerpoint/2010/main" val="4113109783"/>
              </p:ext>
            </p:extLst>
          </p:nvPr>
        </p:nvGraphicFramePr>
        <p:xfrm>
          <a:off x="548640" y="3056738"/>
          <a:ext cx="11091672" cy="100584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dirty="0" lang="es-SV">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La </a:t>
                      </a:r>
                      <a:r>
                        <a:rPr sz="1000" b="1" i="0" u="sng" dirty="0" lang="es-SV">
                          <a:solidFill>
                            <a:srgbClr val="00376E"/>
                          </a:solidFill>
                          <a:latin typeface="Arial"/>
                        </a:rPr>
                        <a:t>presente</a:t>
                      </a:r>
                      <a:r>
                        <a:rPr sz="1000" b="1" i="0" u="sng" dirty="0" lang="es-SV">
                          <a:solidFill>
                            <a:srgbClr val="00376E"/>
                          </a:solidFill>
                          <a:latin typeface="Arial"/>
                        </a:rPr>
                        <a:t> </a:t>
                      </a:r>
                      <a:r>
                        <a:rPr sz="1000" b="1" i="0" u="sng" dirty="0" lang="es-SV">
                          <a:solidFill>
                            <a:srgbClr val="00376E"/>
                          </a:solidFill>
                          <a:latin typeface="Arial"/>
                        </a:rPr>
                        <a:t>política</a:t>
                      </a:r>
                      <a:r>
                        <a:rPr sz="1000" b="1" i="0" u="sng" dirty="0" lang="es-SV">
                          <a:solidFill>
                            <a:srgbClr val="00376E"/>
                          </a:solidFill>
                          <a:latin typeface="Arial"/>
                        </a:rPr>
                        <a:t> se </a:t>
                      </a:r>
                      <a:r>
                        <a:rPr sz="1000" b="1" i="0" u="sng" dirty="0" lang="es-SV">
                          <a:solidFill>
                            <a:srgbClr val="00376E"/>
                          </a:solidFill>
                          <a:latin typeface="Arial"/>
                        </a:rPr>
                        <a:t>alinea</a:t>
                      </a:r>
                      <a:r>
                        <a:rPr sz="1000" b="1" i="0" u="sng" dirty="0" lang="es-SV">
                          <a:solidFill>
                            <a:srgbClr val="00376E"/>
                          </a:solidFill>
                          <a:latin typeface="Arial"/>
                        </a:rPr>
                        <a:t> con lo </a:t>
                      </a:r>
                      <a:r>
                        <a:rPr sz="1000" b="1" i="0" u="sng" dirty="0" lang="es-SV">
                          <a:solidFill>
                            <a:srgbClr val="00376E"/>
                          </a:solidFill>
                          <a:latin typeface="Arial"/>
                        </a:rPr>
                        <a:t>dispuesto</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las NRP-20, NRP-42, NRP-24, NRP-23, NRP-17 y NRP-05. La </a:t>
                      </a:r>
                      <a:r>
                        <a:rPr sz="1000" b="1" i="0" u="sng" dirty="0" lang="es-SV">
                          <a:solidFill>
                            <a:srgbClr val="00376E"/>
                          </a:solidFill>
                          <a:latin typeface="Arial"/>
                        </a:rPr>
                        <a:t>tercerización</a:t>
                      </a:r>
                      <a:r>
                        <a:rPr sz="1000" b="1" i="0" u="sng" dirty="0" lang="es-SV">
                          <a:solidFill>
                            <a:srgbClr val="00376E"/>
                          </a:solidFill>
                          <a:latin typeface="Arial"/>
                        </a:rPr>
                        <a:t> de un </a:t>
                      </a:r>
                      <a:r>
                        <a:rPr sz="1000" b="1" i="0" u="sng" dirty="0" lang="es-SV">
                          <a:solidFill>
                            <a:srgbClr val="00376E"/>
                          </a:solidFill>
                          <a:latin typeface="Arial"/>
                        </a:rPr>
                        <a:t>servicio</a:t>
                      </a:r>
                      <a:r>
                        <a:rPr sz="1000" b="1" i="0" u="sng" dirty="0" lang="es-SV">
                          <a:solidFill>
                            <a:srgbClr val="00376E"/>
                          </a:solidFill>
                          <a:latin typeface="Arial"/>
                        </a:rPr>
                        <a:t> no </a:t>
                      </a:r>
                      <a:r>
                        <a:rPr sz="1000" b="1" i="0" u="sng" dirty="0" lang="es-SV">
                          <a:solidFill>
                            <a:srgbClr val="00376E"/>
                          </a:solidFill>
                          <a:latin typeface="Arial"/>
                        </a:rPr>
                        <a:t>exime</a:t>
                      </a:r>
                      <a:r>
                        <a:rPr sz="1000" b="1" i="0" u="sng" dirty="0" lang="es-SV">
                          <a:solidFill>
                            <a:srgbClr val="00376E"/>
                          </a:solidFill>
                          <a:latin typeface="Arial"/>
                        </a:rPr>
                        <a:t> a la Cooperativa de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responsabilidad</a:t>
                      </a:r>
                      <a:r>
                        <a:rPr sz="1000" b="1" i="0" u="sng" dirty="0" lang="es-SV">
                          <a:solidFill>
                            <a:srgbClr val="00376E"/>
                          </a:solidFill>
                          <a:latin typeface="Arial"/>
                        </a:rPr>
                        <a:t> </a:t>
                      </a:r>
                      <a:r>
                        <a:rPr sz="1000" b="1" i="0" u="sng" dirty="0" lang="es-SV">
                          <a:solidFill>
                            <a:srgbClr val="00376E"/>
                          </a:solidFill>
                          <a:latin typeface="Arial"/>
                        </a:rPr>
                        <a:t>sobre</a:t>
                      </a:r>
                      <a:r>
                        <a:rPr sz="1000" b="1" i="0" u="sng" dirty="0" lang="es-SV">
                          <a:solidFill>
                            <a:srgbClr val="00376E"/>
                          </a:solidFill>
                          <a:latin typeface="Arial"/>
                        </a:rPr>
                        <a:t> las </a:t>
                      </a:r>
                      <a:r>
                        <a:rPr sz="1000" b="1" i="0" u="sng" dirty="0" lang="es-SV">
                          <a:solidFill>
                            <a:srgbClr val="00376E"/>
                          </a:solidFill>
                          <a:latin typeface="Arial"/>
                        </a:rPr>
                        <a:t>actividades</a:t>
                      </a:r>
                      <a:r>
                        <a:rPr sz="1000" b="1" i="0" u="sng" dirty="0" lang="es-SV">
                          <a:solidFill>
                            <a:srgbClr val="00376E"/>
                          </a:solidFill>
                          <a:latin typeface="Arial"/>
                        </a:rPr>
                        <a:t> </a:t>
                      </a:r>
                      <a:r>
                        <a:rPr sz="1000" b="1" i="0" u="sng" dirty="0" lang="es-SV">
                          <a:solidFill>
                            <a:srgbClr val="00376E"/>
                          </a:solidFill>
                          <a:latin typeface="Arial"/>
                        </a:rPr>
                        <a:t>delegadas</a:t>
                      </a:r>
                      <a:r>
                        <a:rPr sz="1000" b="1" i="0" u="sng" dirty="0" lang="es-SV">
                          <a:solidFill>
                            <a:srgbClr val="00376E"/>
                          </a:solidFill>
                          <a:latin typeface="Arial"/>
                        </a:rPr>
                        <a:t>; COMEDICA de R.L. </a:t>
                      </a:r>
                      <a:r>
                        <a:rPr sz="1000" b="1" i="0" u="sng" dirty="0" lang="es-SV">
                          <a:solidFill>
                            <a:srgbClr val="00376E"/>
                          </a:solidFill>
                          <a:latin typeface="Arial"/>
                        </a:rPr>
                        <a:t>conserva</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todo</a:t>
                      </a:r>
                      <a:r>
                        <a:rPr sz="1000" b="1" i="0" u="sng" dirty="0" lang="es-SV">
                          <a:solidFill>
                            <a:srgbClr val="00376E"/>
                          </a:solidFill>
                          <a:latin typeface="Arial"/>
                        </a:rPr>
                        <a:t> </a:t>
                      </a:r>
                      <a:r>
                        <a:rPr sz="1000" b="1" i="0" u="sng" dirty="0" lang="es-SV">
                          <a:solidFill>
                            <a:srgbClr val="00376E"/>
                          </a:solidFill>
                          <a:latin typeface="Arial"/>
                        </a:rPr>
                        <a:t>momento</a:t>
                      </a:r>
                      <a:r>
                        <a:rPr sz="1000" b="1" i="0" u="sng" dirty="0" lang="es-SV">
                          <a:solidFill>
                            <a:srgbClr val="00376E"/>
                          </a:solidFill>
                          <a:latin typeface="Arial"/>
                        </a:rPr>
                        <a:t> la </a:t>
                      </a:r>
                      <a:r>
                        <a:rPr sz="1000" b="1" i="0" u="sng" dirty="0" lang="es-SV">
                          <a:solidFill>
                            <a:srgbClr val="00376E"/>
                          </a:solidFill>
                          <a:latin typeface="Arial"/>
                        </a:rPr>
                        <a:t>capacidad</a:t>
                      </a:r>
                      <a:r>
                        <a:rPr sz="1000" b="1" i="0" u="sng" dirty="0" lang="es-SV">
                          <a:solidFill>
                            <a:srgbClr val="00376E"/>
                          </a:solidFill>
                          <a:latin typeface="Arial"/>
                        </a:rPr>
                        <a:t> de </a:t>
                      </a:r>
                      <a:r>
                        <a:rPr sz="1000" b="1" i="0" u="sng" dirty="0" lang="es-SV">
                          <a:solidFill>
                            <a:srgbClr val="00376E"/>
                          </a:solidFill>
                          <a:latin typeface="Arial"/>
                        </a:rPr>
                        <a:t>supervisar</a:t>
                      </a:r>
                      <a:r>
                        <a:rPr sz="1000" b="1" i="0" u="sng" dirty="0" lang="es-SV">
                          <a:solidFill>
                            <a:srgbClr val="00376E"/>
                          </a:solidFill>
                          <a:latin typeface="Arial"/>
                        </a:rPr>
                        <a:t>, </a:t>
                      </a:r>
                      <a:r>
                        <a:rPr sz="1000" b="1" i="0" u="sng" dirty="0" lang="es-SV">
                          <a:solidFill>
                            <a:srgbClr val="00376E"/>
                          </a:solidFill>
                          <a:latin typeface="Arial"/>
                        </a:rPr>
                        <a:t>controlar</a:t>
                      </a:r>
                      <a:r>
                        <a:rPr sz="1000" b="1" i="0" u="sng" dirty="0" lang="es-SV">
                          <a:solidFill>
                            <a:srgbClr val="00376E"/>
                          </a:solidFill>
                          <a:latin typeface="Arial"/>
                        </a:rPr>
                        <a:t> y, </a:t>
                      </a:r>
                      <a:r>
                        <a:rPr sz="1000" b="1" i="0" u="sng" dirty="0" lang="es-SV">
                          <a:solidFill>
                            <a:srgbClr val="00376E"/>
                          </a:solidFill>
                          <a:latin typeface="Arial"/>
                        </a:rPr>
                        <a:t>cuando</a:t>
                      </a:r>
                      <a:r>
                        <a:rPr sz="1000" b="1" i="0" u="sng" dirty="0" lang="es-SV">
                          <a:solidFill>
                            <a:srgbClr val="00376E"/>
                          </a:solidFill>
                          <a:latin typeface="Arial"/>
                        </a:rPr>
                        <a:t> sea </a:t>
                      </a:r>
                      <a:r>
                        <a:rPr sz="1000" b="1" i="0" u="sng" dirty="0" lang="es-SV">
                          <a:solidFill>
                            <a:srgbClr val="00376E"/>
                          </a:solidFill>
                          <a:latin typeface="Arial"/>
                        </a:rPr>
                        <a:t>necesario</a:t>
                      </a:r>
                      <a:r>
                        <a:rPr sz="1000" b="1" i="0" u="sng" dirty="0" lang="es-SV">
                          <a:solidFill>
                            <a:srgbClr val="00376E"/>
                          </a:solidFill>
                          <a:latin typeface="Arial"/>
                        </a:rPr>
                        <a:t>, </a:t>
                      </a:r>
                      <a:r>
                        <a:rPr sz="1000" b="1" i="0" u="sng" dirty="0" lang="es-SV">
                          <a:solidFill>
                            <a:srgbClr val="00376E"/>
                          </a:solidFill>
                          <a:latin typeface="Arial"/>
                        </a:rPr>
                        <a:t>reasumir</a:t>
                      </a:r>
                      <a:r>
                        <a:rPr sz="1000" b="1" i="0" u="sng" dirty="0" lang="es-SV">
                          <a:solidFill>
                            <a:srgbClr val="00376E"/>
                          </a:solidFill>
                          <a:latin typeface="Arial"/>
                        </a:rPr>
                        <a:t> o </a:t>
                      </a:r>
                      <a:r>
                        <a:rPr sz="1000" b="1" i="0" u="sng" dirty="0" lang="es-SV">
                          <a:solidFill>
                            <a:srgbClr val="00376E"/>
                          </a:solidFill>
                          <a:latin typeface="Arial"/>
                        </a:rPr>
                        <a:t>transferir</a:t>
                      </a:r>
                      <a:r>
                        <a:rPr sz="1000" b="1" i="0" u="sng" dirty="0" lang="es-SV">
                          <a:solidFill>
                            <a:srgbClr val="00376E"/>
                          </a:solidFill>
                          <a:latin typeface="Arial"/>
                        </a:rPr>
                        <a:t> el </a:t>
                      </a:r>
                      <a:r>
                        <a:rPr sz="1000" b="1" i="0" u="sng" dirty="0" lang="es-SV">
                          <a:solidFill>
                            <a:srgbClr val="00376E"/>
                          </a:solidFill>
                          <a:latin typeface="Arial"/>
                        </a:rPr>
                        <a:t>servicio</a:t>
                      </a:r>
                      <a:r>
                        <a:rPr sz="1000" b="1" i="0" u="sng" dirty="0" lang="es-SV">
                          <a:solidFill>
                            <a:srgbClr val="00376E"/>
                          </a:solidFill>
                          <a:latin typeface="Arial"/>
                        </a:rPr>
                        <a:t> </a:t>
                      </a:r>
                      <a:r>
                        <a:rPr sz="1000" b="1" i="0" u="sng" dirty="0" lang="es-SV">
                          <a:solidFill>
                            <a:srgbClr val="00376E"/>
                          </a:solidFill>
                          <a:latin typeface="Arial"/>
                        </a:rPr>
                        <a:t>tercerizado</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Deja </a:t>
                      </a:r>
                      <a:r>
                        <a:rPr sz="1000" b="0" i="0" dirty="0" lang="es-SV">
                          <a:solidFill>
                            <a:srgbClr val="1B2333"/>
                          </a:solidFill>
                          <a:latin typeface="Arial"/>
                        </a:rPr>
                        <a:t>explícito</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la </a:t>
                      </a:r>
                      <a:r>
                        <a:rPr sz="1000" b="0" i="0" dirty="0" lang="es-SV">
                          <a:solidFill>
                            <a:srgbClr val="1B2333"/>
                          </a:solidFill>
                          <a:latin typeface="Arial"/>
                        </a:rPr>
                        <a:t>responsabilidad</a:t>
                      </a:r>
                      <a:r>
                        <a:rPr sz="1000" b="0" i="0" dirty="0" lang="es-SV">
                          <a:solidFill>
                            <a:srgbClr val="1B2333"/>
                          </a:solidFill>
                          <a:latin typeface="Arial"/>
                        </a:rPr>
                        <a:t> no se </a:t>
                      </a:r>
                      <a:r>
                        <a:rPr sz="1000" b="0" i="0" dirty="0" lang="es-SV">
                          <a:solidFill>
                            <a:srgbClr val="1B2333"/>
                          </a:solidFill>
                          <a:latin typeface="Arial"/>
                        </a:rPr>
                        <a:t>traslada</a:t>
                      </a:r>
                      <a:r>
                        <a:rPr sz="1000" b="0" i="0" dirty="0" lang="es-SV">
                          <a:solidFill>
                            <a:srgbClr val="1B2333"/>
                          </a:solidFill>
                          <a:latin typeface="Arial"/>
                        </a:rPr>
                        <a:t> al </a:t>
                      </a:r>
                      <a:r>
                        <a:rPr sz="1000" b="0" i="0" dirty="0" lang="es-SV">
                          <a:solidFill>
                            <a:srgbClr val="1B2333"/>
                          </a:solidFill>
                          <a:latin typeface="Arial"/>
                        </a:rPr>
                        <a:t>proveedor</a:t>
                      </a:r>
                      <a:r>
                        <a:rPr sz="1000" b="0" i="0" dirty="0" lang="es-SV">
                          <a:solidFill>
                            <a:srgbClr val="1B2333"/>
                          </a:solidFill>
                          <a:latin typeface="Arial"/>
                        </a:rPr>
                        <a:t>.</a:t>
                      </a:r>
                    </a:p>
                    <a:p>
                      <a:pPr algn="just"/>
                      <a:r>
                        <a:rPr sz="1000" b="1" i="0" dirty="0" lang="es-SV">
                          <a:solidFill>
                            <a:srgbClr val="00376E"/>
                          </a:solidFill>
                          <a:latin typeface="Arial"/>
                        </a:rPr>
                        <a:t>NRP-42, art. 4 · NRP-23, art. 26</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5" name="TextBox 14">
            <a:extLst>
              <a:ext uri="{FF2B5EF4-FFF2-40B4-BE49-F238E27FC236}">
                <a16:creationId xmlns:a16="http://schemas.microsoft.com/office/drawing/2014/main" id="{FA553622-E85B-C3E9-2946-C4EB05631184}"/>
              </a:ext>
            </a:extLst>
          </p:cNvPr>
          <p:cNvSpPr txBox="1"/>
          <p:nvPr/>
        </p:nvSpPr>
        <p:spPr>
          <a:xfrm>
            <a:off x="804672" y="4114260"/>
            <a:ext cx="9966960" cy="384721"/>
          </a:xfrm>
          <a:prstGeom prst="rect">
            <a:avLst/>
          </a:prstGeom>
          <a:noFill/>
        </p:spPr>
        <p:txBody>
          <a:bodyPr wrap="square" lIns="0" tIns="0" rIns="0" bIns="0" anchor="ctr">
            <a:spAutoFit/>
          </a:bodyPr>
          <a:lstStyle/>
          <a:p>
            <a:pPr algn="l"/>
            <a:r>
              <a:rPr sz="2000" b="1" i="0" dirty="0" lang="es-SV">
                <a:solidFill>
                  <a:srgbClr val="00376E"/>
                </a:solidFill>
                <a:latin typeface="Century Gothic"/>
              </a:rPr>
              <a:t>II. </a:t>
            </a:r>
            <a:r>
              <a:rPr sz="2000" b="1" i="0" dirty="0" lang="es-SV">
                <a:solidFill>
                  <a:srgbClr val="00376E"/>
                </a:solidFill>
                <a:latin typeface="Century Gothic"/>
              </a:rPr>
              <a:t>Alcance</a:t>
            </a:r>
            <a:endParaRPr sz="2000" b="1" i="0" dirty="0" lang="es-SV">
              <a:solidFill>
                <a:srgbClr val="00376E"/>
              </a:solidFill>
              <a:latin typeface="Century Gothic"/>
            </a:endParaRPr>
          </a:p>
        </p:txBody>
      </p:sp>
      <p:graphicFrame>
        <p:nvGraphicFramePr>
          <p:cNvPr id="7" name="Table 15">
            <a:extLst>
              <a:ext uri="{FF2B5EF4-FFF2-40B4-BE49-F238E27FC236}">
                <a16:creationId xmlns:a16="http://schemas.microsoft.com/office/drawing/2014/main" id="{1F130AA4-2239-B6C3-14EC-FD201272F6FF}"/>
              </a:ext>
            </a:extLst>
          </p:cNvPr>
          <p:cNvGraphicFramePr>
            <a:graphicFrameLocks noGrp="1"/>
          </p:cNvGraphicFramePr>
          <p:nvPr>
            <p:extLst>
              <p:ext uri="{D42A27DB-BD31-4B8C-83A1-F6EECF244321}">
                <p14:modId xmlns:p14="http://schemas.microsoft.com/office/powerpoint/2010/main" val="845356037"/>
              </p:ext>
            </p:extLst>
          </p:nvPr>
        </p:nvGraphicFramePr>
        <p:xfrm>
          <a:off x="548640" y="4512564"/>
          <a:ext cx="11091672" cy="196291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La </a:t>
                      </a:r>
                      <a:r>
                        <a:rPr sz="1000" b="0" i="0" dirty="0" lang="es-SV">
                          <a:solidFill>
                            <a:srgbClr val="1B2333"/>
                          </a:solidFill>
                          <a:latin typeface="Arial"/>
                        </a:rPr>
                        <a:t>presente</a:t>
                      </a:r>
                      <a:r>
                        <a:rPr sz="1000" b="0" i="0" dirty="0" lang="es-SV">
                          <a:solidFill>
                            <a:srgbClr val="1B2333"/>
                          </a:solidFill>
                          <a:latin typeface="Arial"/>
                        </a:rPr>
                        <a:t> </a:t>
                      </a:r>
                      <a:r>
                        <a:rPr sz="1000" b="0" i="0" dirty="0" lang="es-SV">
                          <a:solidFill>
                            <a:srgbClr val="1B2333"/>
                          </a:solidFill>
                          <a:latin typeface="Arial"/>
                        </a:rPr>
                        <a:t>política</a:t>
                      </a:r>
                      <a:r>
                        <a:rPr sz="1000" b="0" i="0" dirty="0" lang="es-SV">
                          <a:solidFill>
                            <a:srgbClr val="1B2333"/>
                          </a:solidFill>
                          <a:latin typeface="Arial"/>
                        </a:rPr>
                        <a:t> </a:t>
                      </a:r>
                      <a:r>
                        <a:rPr sz="1000" b="0" i="0" dirty="0" lang="es-SV">
                          <a:solidFill>
                            <a:srgbClr val="1B2333"/>
                          </a:solidFill>
                          <a:latin typeface="Arial"/>
                        </a:rPr>
                        <a:t>aplica</a:t>
                      </a:r>
                      <a:r>
                        <a:rPr sz="1000" b="0" i="0" dirty="0" lang="es-SV">
                          <a:solidFill>
                            <a:srgbClr val="1B2333"/>
                          </a:solidFill>
                          <a:latin typeface="Arial"/>
                        </a:rPr>
                        <a:t> para la </a:t>
                      </a:r>
                      <a:r>
                        <a:rPr sz="1000" b="0" i="0" dirty="0" lang="es-SV">
                          <a:solidFill>
                            <a:srgbClr val="1B2333"/>
                          </a:solidFill>
                          <a:latin typeface="Arial"/>
                        </a:rPr>
                        <a:t>Contratación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cumplimiento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las Normas para la </a:t>
                      </a:r>
                      <a:r>
                        <a:rPr sz="1000" b="0" i="0" dirty="0" lang="es-SV">
                          <a:solidFill>
                            <a:srgbClr val="1B2333"/>
                          </a:solidFill>
                          <a:latin typeface="Arial"/>
                        </a:rPr>
                        <a:t>Gestión</a:t>
                      </a:r>
                      <a:r>
                        <a:rPr sz="1000" b="0" i="0" dirty="0" lang="es-SV">
                          <a:solidFill>
                            <a:srgbClr val="1B2333"/>
                          </a:solidFill>
                          <a:latin typeface="Arial"/>
                        </a:rPr>
                        <a:t> del Riesgo </a:t>
                      </a:r>
                      <a:r>
                        <a:rPr sz="1000" b="0" i="0" dirty="0" lang="es-SV">
                          <a:solidFill>
                            <a:srgbClr val="1B2333"/>
                          </a:solidFill>
                          <a:latin typeface="Arial"/>
                        </a:rPr>
                        <a:t>Operacional</a:t>
                      </a:r>
                      <a:r>
                        <a:rPr sz="1000" b="0" i="0" dirty="0" lang="es-SV">
                          <a:solidFill>
                            <a:srgbClr val="1B2333"/>
                          </a:solidFill>
                          <a:latin typeface="Arial"/>
                        </a:rPr>
                        <a:t> de las </a:t>
                      </a:r>
                      <a:r>
                        <a:rPr sz="1000" b="0" i="0" dirty="0" lang="es-SV">
                          <a:solidFill>
                            <a:srgbClr val="1B2333"/>
                          </a:solidFill>
                          <a:latin typeface="Arial"/>
                        </a:rPr>
                        <a:t>Entidades</a:t>
                      </a:r>
                      <a:r>
                        <a:rPr sz="1000" b="0" i="0" dirty="0" lang="es-SV">
                          <a:solidFill>
                            <a:srgbClr val="1B2333"/>
                          </a:solidFill>
                          <a:latin typeface="Arial"/>
                        </a:rPr>
                        <a:t> </a:t>
                      </a:r>
                      <a:r>
                        <a:rPr sz="1000" b="0" i="0" dirty="0" lang="es-SV">
                          <a:solidFill>
                            <a:srgbClr val="1B2333"/>
                          </a:solidFill>
                          <a:latin typeface="Arial"/>
                        </a:rPr>
                        <a:t>Financieras</a:t>
                      </a:r>
                      <a:r>
                        <a:rPr sz="1000" b="0" i="0" dirty="0" lang="es-SV">
                          <a:solidFill>
                            <a:srgbClr val="1B2333"/>
                          </a:solidFill>
                          <a:latin typeface="Arial"/>
                        </a:rPr>
                        <a:t> (NPB4-50), Normas </a:t>
                      </a:r>
                      <a:r>
                        <a:rPr sz="1000" b="0" i="0" dirty="0" lang="es-SV">
                          <a:solidFill>
                            <a:srgbClr val="1B2333"/>
                          </a:solidFill>
                          <a:latin typeface="Arial"/>
                        </a:rPr>
                        <a:t>Técnicas</a:t>
                      </a:r>
                      <a:r>
                        <a:rPr sz="1000" b="0" i="0" dirty="0" lang="es-SV">
                          <a:solidFill>
                            <a:srgbClr val="1B2333"/>
                          </a:solidFill>
                          <a:latin typeface="Arial"/>
                        </a:rPr>
                        <a:t> para la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(NRP-23) y Normas </a:t>
                      </a:r>
                      <a:r>
                        <a:rPr sz="1000" b="0" i="0" dirty="0" lang="es-SV">
                          <a:solidFill>
                            <a:srgbClr val="1B2333"/>
                          </a:solidFill>
                          <a:latin typeface="Arial"/>
                        </a:rPr>
                        <a:t>Técnicas</a:t>
                      </a:r>
                      <a:r>
                        <a:rPr sz="1000" b="0" i="0" dirty="0" lang="es-SV">
                          <a:solidFill>
                            <a:srgbClr val="1B2333"/>
                          </a:solidFill>
                          <a:latin typeface="Arial"/>
                        </a:rPr>
                        <a:t> para el Sistema de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 (NRP-24).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La </a:t>
                      </a:r>
                      <a:r>
                        <a:rPr sz="1000" b="0" i="0" dirty="0" lang="es-SV">
                          <a:solidFill>
                            <a:srgbClr val="1B2333"/>
                          </a:solidFill>
                          <a:latin typeface="Arial"/>
                        </a:rPr>
                        <a:t>presente</a:t>
                      </a:r>
                      <a:r>
                        <a:rPr sz="1000" b="0" i="0" dirty="0" lang="es-SV">
                          <a:solidFill>
                            <a:srgbClr val="1B2333"/>
                          </a:solidFill>
                          <a:latin typeface="Arial"/>
                        </a:rPr>
                        <a:t> </a:t>
                      </a:r>
                      <a:r>
                        <a:rPr sz="1000" b="0" i="0" dirty="0" lang="es-SV">
                          <a:solidFill>
                            <a:srgbClr val="1B2333"/>
                          </a:solidFill>
                          <a:latin typeface="Arial"/>
                        </a:rPr>
                        <a:t>política</a:t>
                      </a:r>
                      <a:r>
                        <a:rPr sz="1000" b="0" i="0" dirty="0" lang="es-SV">
                          <a:solidFill>
                            <a:srgbClr val="1B2333"/>
                          </a:solidFill>
                          <a:latin typeface="Arial"/>
                        </a:rPr>
                        <a:t> </a:t>
                      </a:r>
                      <a:r>
                        <a:rPr sz="1000" b="0" i="0" dirty="0" lang="es-SV">
                          <a:solidFill>
                            <a:srgbClr val="1B2333"/>
                          </a:solidFill>
                          <a:latin typeface="Arial"/>
                        </a:rPr>
                        <a:t>aplica</a:t>
                      </a:r>
                      <a:r>
                        <a:rPr sz="1000" b="0" i="0" dirty="0" lang="es-SV">
                          <a:solidFill>
                            <a:srgbClr val="1B2333"/>
                          </a:solidFill>
                          <a:latin typeface="Arial"/>
                        </a:rPr>
                        <a:t> para la </a:t>
                      </a:r>
                      <a:r>
                        <a:rPr sz="1000" b="0" i="0" dirty="0" lang="es-SV">
                          <a:solidFill>
                            <a:srgbClr val="1B2333"/>
                          </a:solidFill>
                          <a:latin typeface="Arial"/>
                        </a:rPr>
                        <a:t>contratación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1" i="0" u="sng" dirty="0" lang="es-SV">
                          <a:solidFill>
                            <a:srgbClr val="00376E"/>
                          </a:solidFill>
                          <a:latin typeface="Arial"/>
                        </a:rPr>
                        <a:t>y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gestión</a:t>
                      </a:r>
                      <a:r>
                        <a:rPr sz="1000" b="1" i="0" u="sng" dirty="0" lang="es-SV">
                          <a:solidFill>
                            <a:srgbClr val="00376E"/>
                          </a:solidFill>
                          <a:latin typeface="Arial"/>
                        </a:rPr>
                        <a:t> </a:t>
                      </a:r>
                      <a:r>
                        <a:rPr sz="1000" b="1" i="0" u="sng" dirty="0" lang="es-SV">
                          <a:solidFill>
                            <a:srgbClr val="00376E"/>
                          </a:solidFill>
                          <a:latin typeface="Arial"/>
                        </a:rPr>
                        <a:t>durante</a:t>
                      </a:r>
                      <a:r>
                        <a:rPr sz="1000" b="1" i="0" u="sng" dirty="0" lang="es-SV">
                          <a:solidFill>
                            <a:srgbClr val="00376E"/>
                          </a:solidFill>
                          <a:latin typeface="Arial"/>
                        </a:rPr>
                        <a:t> </a:t>
                      </a:r>
                      <a:r>
                        <a:rPr sz="1000" b="1" i="0" u="sng" dirty="0" lang="es-SV">
                          <a:solidFill>
                            <a:srgbClr val="00376E"/>
                          </a:solidFill>
                          <a:latin typeface="Arial"/>
                        </a:rPr>
                        <a:t>todo</a:t>
                      </a:r>
                      <a:r>
                        <a:rPr sz="1000" b="1" i="0" u="sng" dirty="0" lang="es-SV">
                          <a:solidFill>
                            <a:srgbClr val="00376E"/>
                          </a:solidFill>
                          <a:latin typeface="Arial"/>
                        </a:rPr>
                        <a:t> el </a:t>
                      </a:r>
                      <a:r>
                        <a:rPr sz="1000" b="1" i="0" u="sng" dirty="0" lang="es-SV">
                          <a:solidFill>
                            <a:srgbClr val="00376E"/>
                          </a:solidFill>
                          <a:latin typeface="Arial"/>
                        </a:rPr>
                        <a:t>ciclo</a:t>
                      </a:r>
                      <a:r>
                        <a:rPr sz="1000" b="1" i="0" u="sng" dirty="0" lang="es-SV">
                          <a:solidFill>
                            <a:srgbClr val="00376E"/>
                          </a:solidFill>
                          <a:latin typeface="Arial"/>
                        </a:rPr>
                        <a:t> de </a:t>
                      </a:r>
                      <a:r>
                        <a:rPr sz="1000" b="1" i="0" u="sng" dirty="0" lang="es-SV">
                          <a:solidFill>
                            <a:srgbClr val="00376E"/>
                          </a:solidFill>
                          <a:latin typeface="Arial"/>
                        </a:rPr>
                        <a:t>vida</a:t>
                      </a:r>
                      <a:r>
                        <a:rPr sz="1000" b="1" i="0" u="sng" dirty="0" lang="es-SV">
                          <a:solidFill>
                            <a:srgbClr val="00376E"/>
                          </a:solidFill>
                          <a:latin typeface="Arial"/>
                        </a:rPr>
                        <a:t> (</a:t>
                      </a:r>
                      <a:r>
                        <a:rPr sz="1000" b="1" i="0" u="sng" dirty="0" lang="es-SV">
                          <a:solidFill>
                            <a:srgbClr val="00376E"/>
                          </a:solidFill>
                          <a:latin typeface="Arial"/>
                        </a:rPr>
                        <a:t>evaluación</a:t>
                      </a:r>
                      <a:r>
                        <a:rPr sz="1000" b="1" i="0" u="sng" dirty="0" lang="es-SV">
                          <a:solidFill>
                            <a:srgbClr val="00376E"/>
                          </a:solidFill>
                          <a:latin typeface="Arial"/>
                        </a:rPr>
                        <a:t>, </a:t>
                      </a:r>
                      <a:r>
                        <a:rPr sz="1000" b="1" i="0" u="sng" dirty="0" lang="es-SV">
                          <a:solidFill>
                            <a:srgbClr val="00376E"/>
                          </a:solidFill>
                          <a:latin typeface="Arial"/>
                        </a:rPr>
                        <a:t>selección</a:t>
                      </a:r>
                      <a:r>
                        <a:rPr sz="1000" b="1" i="0" u="sng" dirty="0" lang="es-SV">
                          <a:solidFill>
                            <a:srgbClr val="00376E"/>
                          </a:solidFill>
                          <a:latin typeface="Arial"/>
                        </a:rPr>
                        <a:t>, </a:t>
                      </a:r>
                      <a:r>
                        <a:rPr sz="1000" b="1" i="0" u="sng" dirty="0" lang="es-SV">
                          <a:solidFill>
                            <a:srgbClr val="00376E"/>
                          </a:solidFill>
                          <a:latin typeface="Arial"/>
                        </a:rPr>
                        <a:t>contratación</a:t>
                      </a:r>
                      <a:r>
                        <a:rPr sz="1000" b="1" i="0" u="sng" dirty="0" lang="es-SV">
                          <a:solidFill>
                            <a:srgbClr val="00376E"/>
                          </a:solidFill>
                          <a:latin typeface="Arial"/>
                        </a:rPr>
                        <a:t>, </a:t>
                      </a:r>
                      <a:r>
                        <a:rPr sz="1000" b="1" i="0" u="sng" dirty="0" lang="es-SV">
                          <a:solidFill>
                            <a:srgbClr val="00376E"/>
                          </a:solidFill>
                          <a:latin typeface="Arial"/>
                        </a:rPr>
                        <a:t>monitoreo</a:t>
                      </a:r>
                      <a:r>
                        <a:rPr sz="1000" b="1" i="0" u="sng" dirty="0" lang="es-SV">
                          <a:solidFill>
                            <a:srgbClr val="00376E"/>
                          </a:solidFill>
                          <a:latin typeface="Arial"/>
                        </a:rPr>
                        <a:t>, </a:t>
                      </a:r>
                      <a:r>
                        <a:rPr sz="1000" b="1" i="0" u="sng" dirty="0" lang="es-SV">
                          <a:solidFill>
                            <a:srgbClr val="00376E"/>
                          </a:solidFill>
                          <a:latin typeface="Arial"/>
                        </a:rPr>
                        <a:t>renovación</a:t>
                      </a:r>
                      <a:r>
                        <a:rPr sz="1000" b="1" i="0" u="sng" dirty="0" lang="es-SV">
                          <a:solidFill>
                            <a:srgbClr val="00376E"/>
                          </a:solidFill>
                          <a:latin typeface="Arial"/>
                        </a:rPr>
                        <a:t> y </a:t>
                      </a:r>
                      <a:r>
                        <a:rPr sz="1000" b="1" i="0" u="sng" dirty="0" lang="es-SV">
                          <a:solidFill>
                            <a:srgbClr val="00376E"/>
                          </a:solidFill>
                          <a:latin typeface="Arial"/>
                        </a:rPr>
                        <a:t>terminación</a:t>
                      </a:r>
                      <a:r>
                        <a:rPr sz="1000" b="1" i="0" u="sng" dirty="0" lang="es-SV">
                          <a:solidFill>
                            <a:srgbClr val="00376E"/>
                          </a:solidFill>
                          <a:latin typeface="Arial"/>
                        </a:rPr>
                        <a:t>), </a:t>
                      </a:r>
                      <a:r>
                        <a:rPr sz="1000" b="1" i="0" u="sng" dirty="0" lang="es-SV">
                          <a:solidFill>
                            <a:srgbClr val="00376E"/>
                          </a:solidFill>
                          <a:latin typeface="Arial"/>
                        </a:rPr>
                        <a:t>sean</a:t>
                      </a:r>
                      <a:r>
                        <a:rPr sz="1000" b="1" i="0" u="sng" dirty="0" lang="es-SV">
                          <a:solidFill>
                            <a:srgbClr val="00376E"/>
                          </a:solidFill>
                          <a:latin typeface="Arial"/>
                        </a:rPr>
                        <a:t> </a:t>
                      </a:r>
                      <a:r>
                        <a:rPr sz="1000" b="1" i="0" u="sng" dirty="0" lang="es-SV">
                          <a:solidFill>
                            <a:srgbClr val="00376E"/>
                          </a:solidFill>
                          <a:latin typeface="Arial"/>
                        </a:rPr>
                        <a:t>éstos</a:t>
                      </a:r>
                      <a:r>
                        <a:rPr sz="1000" b="1" i="0" u="sng" dirty="0" lang="es-SV">
                          <a:solidFill>
                            <a:srgbClr val="00376E"/>
                          </a:solidFill>
                          <a:latin typeface="Arial"/>
                        </a:rPr>
                        <a:t> de </a:t>
                      </a:r>
                      <a:r>
                        <a:rPr sz="1000" b="1" i="0" u="sng" dirty="0" lang="es-SV">
                          <a:solidFill>
                            <a:srgbClr val="00376E"/>
                          </a:solidFill>
                          <a:latin typeface="Arial"/>
                        </a:rPr>
                        <a:t>Tecnología</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o de </a:t>
                      </a:r>
                      <a:r>
                        <a:rPr sz="1000" b="1" i="0" u="sng" dirty="0" lang="es-SV">
                          <a:solidFill>
                            <a:srgbClr val="00376E"/>
                          </a:solidFill>
                          <a:latin typeface="Arial"/>
                        </a:rPr>
                        <a:t>otra</a:t>
                      </a:r>
                      <a:r>
                        <a:rPr sz="1000" b="1" i="0" u="sng" dirty="0" lang="es-SV">
                          <a:solidFill>
                            <a:srgbClr val="00376E"/>
                          </a:solidFill>
                          <a:latin typeface="Arial"/>
                        </a:rPr>
                        <a:t> </a:t>
                      </a:r>
                      <a:r>
                        <a:rPr sz="1000" b="1" i="0" u="sng" dirty="0" lang="es-SV">
                          <a:solidFill>
                            <a:srgbClr val="00376E"/>
                          </a:solidFill>
                          <a:latin typeface="Arial"/>
                        </a:rPr>
                        <a:t>naturaleza</a:t>
                      </a:r>
                      <a:r>
                        <a:rPr sz="1000" b="1" i="0" u="sng" dirty="0" lang="es-SV">
                          <a:solidFill>
                            <a:srgbClr val="00376E"/>
                          </a:solidFill>
                          <a:latin typeface="Arial"/>
                        </a:rPr>
                        <a:t>. Es de </a:t>
                      </a:r>
                      <a:r>
                        <a:rPr sz="1000" b="1" i="0" u="sng" dirty="0" lang="es-SV">
                          <a:solidFill>
                            <a:srgbClr val="00376E"/>
                          </a:solidFill>
                          <a:latin typeface="Arial"/>
                        </a:rPr>
                        <a:t>cumplimiento</a:t>
                      </a:r>
                      <a:r>
                        <a:rPr sz="1000" b="1" i="0" u="sng" dirty="0" lang="es-SV">
                          <a:solidFill>
                            <a:srgbClr val="00376E"/>
                          </a:solidFill>
                          <a:latin typeface="Arial"/>
                        </a:rPr>
                        <a:t> </a:t>
                      </a:r>
                      <a:r>
                        <a:rPr sz="1000" b="1" i="0" u="sng" dirty="0" lang="es-SV">
                          <a:solidFill>
                            <a:srgbClr val="00376E"/>
                          </a:solidFill>
                          <a:latin typeface="Arial"/>
                        </a:rPr>
                        <a:t>obligatorio</a:t>
                      </a:r>
                      <a:r>
                        <a:rPr sz="1000" b="1" i="0" u="sng" dirty="0" lang="es-SV">
                          <a:solidFill>
                            <a:srgbClr val="00376E"/>
                          </a:solidFill>
                          <a:latin typeface="Arial"/>
                        </a:rPr>
                        <a:t> para el Consejo de Administración,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1" i="0" u="sng" dirty="0" lang="es-SV">
                          <a:solidFill>
                            <a:srgbClr val="00376E"/>
                          </a:solidFill>
                          <a:latin typeface="Arial"/>
                        </a:rPr>
                        <a:t>, Gerencia General y </a:t>
                      </a:r>
                      <a:r>
                        <a:rPr sz="1000" b="1" i="0" u="sng" dirty="0" lang="es-SV">
                          <a:solidFill>
                            <a:srgbClr val="00376E"/>
                          </a:solidFill>
                          <a:latin typeface="Arial"/>
                        </a:rPr>
                        <a:t>todas</a:t>
                      </a:r>
                      <a:r>
                        <a:rPr sz="1000" b="1" i="0" u="sng" dirty="0" lang="es-SV">
                          <a:solidFill>
                            <a:srgbClr val="00376E"/>
                          </a:solidFill>
                          <a:latin typeface="Arial"/>
                        </a:rPr>
                        <a:t> las </a:t>
                      </a:r>
                      <a:r>
                        <a:rPr sz="1000" b="1" i="0" u="sng" dirty="0" lang="es-SV">
                          <a:solidFill>
                            <a:srgbClr val="00376E"/>
                          </a:solidFill>
                          <a:latin typeface="Arial"/>
                        </a:rPr>
                        <a:t>Gerencias</a:t>
                      </a:r>
                      <a:r>
                        <a:rPr sz="1000" b="1" i="0" u="sng" dirty="0" lang="es-SV">
                          <a:solidFill>
                            <a:srgbClr val="00376E"/>
                          </a:solidFill>
                          <a:latin typeface="Arial"/>
                        </a:rPr>
                        <a:t>, </a:t>
                      </a:r>
                      <a:r>
                        <a:rPr sz="1000" b="1" i="0" u="sng" dirty="0" lang="es-SV">
                          <a:solidFill>
                            <a:srgbClr val="00376E"/>
                          </a:solidFill>
                          <a:latin typeface="Arial"/>
                        </a:rPr>
                        <a:t>Jefaturas</a:t>
                      </a:r>
                      <a:r>
                        <a:rPr sz="1000" b="1" i="0" u="sng" dirty="0" lang="es-SV">
                          <a:solidFill>
                            <a:srgbClr val="00376E"/>
                          </a:solidFill>
                          <a:latin typeface="Arial"/>
                        </a:rPr>
                        <a:t> y </a:t>
                      </a:r>
                      <a:r>
                        <a:rPr sz="1000" b="1" i="0" u="sng" dirty="0" lang="es-SV">
                          <a:solidFill>
                            <a:srgbClr val="00376E"/>
                          </a:solidFill>
                          <a:latin typeface="Arial"/>
                        </a:rPr>
                        <a:t>Administradores</a:t>
                      </a:r>
                      <a:r>
                        <a:rPr sz="1000" b="1" i="0" u="sng" dirty="0" lang="es-SV">
                          <a:solidFill>
                            <a:srgbClr val="00376E"/>
                          </a:solidFill>
                          <a:latin typeface="Arial"/>
                        </a:rPr>
                        <a:t> de </a:t>
                      </a:r>
                      <a:r>
                        <a:rPr sz="1000" b="1" i="0" u="sng" dirty="0" lang="es-SV">
                          <a:solidFill>
                            <a:srgbClr val="00376E"/>
                          </a:solidFill>
                          <a:latin typeface="Arial"/>
                        </a:rPr>
                        <a:t>Contrato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cumplimiento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1" i="0" u="sng" dirty="0" lang="es-SV">
                          <a:solidFill>
                            <a:srgbClr val="00376E"/>
                          </a:solidFill>
                          <a:latin typeface="Arial"/>
                        </a:rPr>
                        <a:t>NRP-20; NRP-42</a:t>
                      </a:r>
                      <a:r>
                        <a:rPr sz="1000" b="0" i="0" dirty="0" lang="es-SV">
                          <a:solidFill>
                            <a:srgbClr val="1B2333"/>
                          </a:solidFill>
                          <a:latin typeface="Arial"/>
                        </a:rPr>
                        <a:t>; NRP-24; </a:t>
                      </a:r>
                      <a:r>
                        <a:rPr sz="1000" b="1" i="0" u="sng" dirty="0" lang="es-SV">
                          <a:solidFill>
                            <a:srgbClr val="00376E"/>
                          </a:solidFill>
                          <a:latin typeface="Arial"/>
                        </a:rPr>
                        <a:t>NRP-17; NRP-05</a:t>
                      </a:r>
                      <a:r>
                        <a:rPr sz="1000" b="0" i="0" dirty="0" lang="es-SV">
                          <a:solidFill>
                            <a:srgbClr val="1B2333"/>
                          </a:solidFill>
                          <a:latin typeface="Arial"/>
                        </a:rPr>
                        <a:t>; NRP-23; </a:t>
                      </a:r>
                      <a:r>
                        <a:rPr sz="1000" b="1" i="0" u="sng" dirty="0" lang="es-SV">
                          <a:solidFill>
                            <a:srgbClr val="00376E"/>
                          </a:solidFill>
                          <a:latin typeface="Arial"/>
                        </a:rPr>
                        <a:t>Manual de </a:t>
                      </a:r>
                      <a:r>
                        <a:rPr sz="1000" b="1" i="0" u="sng" dirty="0" lang="es-SV">
                          <a:solidFill>
                            <a:srgbClr val="00376E"/>
                          </a:solidFill>
                          <a:latin typeface="Arial"/>
                        </a:rPr>
                        <a:t>Compras</a:t>
                      </a:r>
                      <a:r>
                        <a:rPr sz="1000" b="1" i="0" u="sng" dirty="0" lang="es-SV">
                          <a:solidFill>
                            <a:srgbClr val="00376E"/>
                          </a:solidFill>
                          <a:latin typeface="Arial"/>
                        </a:rPr>
                        <a:t> de Bienes y </a:t>
                      </a:r>
                      <a:r>
                        <a:rPr sz="1000" b="1" i="0" u="sng" dirty="0" lang="es-SV">
                          <a:solidFill>
                            <a:srgbClr val="00376E"/>
                          </a:solidFill>
                          <a:latin typeface="Arial"/>
                        </a:rPr>
                        <a:t>Servicios</a:t>
                      </a:r>
                      <a:r>
                        <a:rPr sz="1000" b="1" i="0" u="sng" dirty="0" lang="es-SV">
                          <a:solidFill>
                            <a:srgbClr val="00376E"/>
                          </a:solidFill>
                          <a:latin typeface="Arial"/>
                        </a:rPr>
                        <a:t> (RP-GA-M-001), Código de </a:t>
                      </a:r>
                      <a:r>
                        <a:rPr sz="1000" b="1" i="0" u="sng" dirty="0" lang="es-SV">
                          <a:solidFill>
                            <a:srgbClr val="00376E"/>
                          </a:solidFill>
                          <a:latin typeface="Arial"/>
                        </a:rPr>
                        <a:t>Gobierno</a:t>
                      </a:r>
                      <a:r>
                        <a:rPr sz="1000" b="1" i="0" u="sng" dirty="0" lang="es-SV">
                          <a:solidFill>
                            <a:srgbClr val="00376E"/>
                          </a:solidFill>
                          <a:latin typeface="Arial"/>
                        </a:rPr>
                        <a:t> Corporativo, Código de </a:t>
                      </a:r>
                      <a:r>
                        <a:rPr sz="1000" b="1" i="0" u="sng" dirty="0" lang="es-SV">
                          <a:solidFill>
                            <a:srgbClr val="00376E"/>
                          </a:solidFill>
                          <a:latin typeface="Arial"/>
                        </a:rPr>
                        <a:t>Conducta</a:t>
                      </a:r>
                      <a:r>
                        <a:rPr sz="1000" b="1" i="0" u="sng" dirty="0" lang="es-SV">
                          <a:solidFill>
                            <a:srgbClr val="00376E"/>
                          </a:solidFill>
                          <a:latin typeface="Arial"/>
                        </a:rPr>
                        <a:t> y </a:t>
                      </a:r>
                      <a:r>
                        <a:rPr sz="1000" b="1" i="0" u="sng" dirty="0" lang="es-SV">
                          <a:solidFill>
                            <a:srgbClr val="00376E"/>
                          </a:solidFill>
                          <a:latin typeface="Arial"/>
                        </a:rPr>
                        <a:t>demás</a:t>
                      </a:r>
                      <a:r>
                        <a:rPr sz="1000" b="1" i="0" u="sng" dirty="0" lang="es-SV">
                          <a:solidFill>
                            <a:srgbClr val="00376E"/>
                          </a:solidFill>
                          <a:latin typeface="Arial"/>
                        </a:rPr>
                        <a:t> </a:t>
                      </a:r>
                      <a:r>
                        <a:rPr sz="1000" b="1" i="0" u="sng" dirty="0" lang="es-SV">
                          <a:solidFill>
                            <a:srgbClr val="00376E"/>
                          </a:solidFill>
                          <a:latin typeface="Arial"/>
                        </a:rPr>
                        <a:t>normativa</a:t>
                      </a:r>
                      <a:r>
                        <a:rPr sz="1000" b="1" i="0" u="sng" dirty="0" lang="es-SV">
                          <a:solidFill>
                            <a:srgbClr val="00376E"/>
                          </a:solidFill>
                          <a:latin typeface="Arial"/>
                        </a:rPr>
                        <a:t> </a:t>
                      </a:r>
                      <a:r>
                        <a:rPr sz="1000" b="1" i="0" u="sng" dirty="0" lang="es-SV">
                          <a:solidFill>
                            <a:srgbClr val="00376E"/>
                          </a:solidFill>
                          <a:latin typeface="Arial"/>
                        </a:rPr>
                        <a:t>aplicable</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a:t>
                      </a:r>
                      <a:r>
                        <a:rPr sz="1000" b="0" i="0" dirty="0" lang="es-SV">
                          <a:solidFill>
                            <a:srgbClr val="1B2333"/>
                          </a:solidFill>
                          <a:latin typeface="Arial"/>
                        </a:rPr>
                        <a:t>sustituye</a:t>
                      </a:r>
                      <a:r>
                        <a:rPr sz="1000" b="0" i="0" dirty="0" lang="es-SV">
                          <a:solidFill>
                            <a:srgbClr val="1B2333"/>
                          </a:solidFill>
                          <a:latin typeface="Arial"/>
                        </a:rPr>
                        <a:t> la NPB4-50, </a:t>
                      </a:r>
                      <a:r>
                        <a:rPr sz="1000" b="0" i="0" dirty="0" lang="es-SV">
                          <a:solidFill>
                            <a:srgbClr val="1B2333"/>
                          </a:solidFill>
                          <a:latin typeface="Arial"/>
                        </a:rPr>
                        <a:t>derogada</a:t>
                      </a:r>
                      <a:r>
                        <a:rPr sz="1000" b="0" i="0" dirty="0" lang="es-SV">
                          <a:solidFill>
                            <a:srgbClr val="1B2333"/>
                          </a:solidFill>
                          <a:latin typeface="Arial"/>
                        </a:rPr>
                        <a:t> </a:t>
                      </a:r>
                      <a:r>
                        <a:rPr sz="1000" b="0" i="0" dirty="0" lang="es-SV">
                          <a:solidFill>
                            <a:srgbClr val="1B2333"/>
                          </a:solidFill>
                          <a:latin typeface="Arial"/>
                        </a:rPr>
                        <a:t>por</a:t>
                      </a:r>
                      <a:r>
                        <a:rPr sz="1000" b="0" i="0" dirty="0" lang="es-SV">
                          <a:solidFill>
                            <a:srgbClr val="1B2333"/>
                          </a:solidFill>
                          <a:latin typeface="Arial"/>
                        </a:rPr>
                        <a:t> la NRP-42. Se </a:t>
                      </a:r>
                      <a:r>
                        <a:rPr sz="1000" b="0" i="0" dirty="0" lang="es-SV">
                          <a:solidFill>
                            <a:srgbClr val="1B2333"/>
                          </a:solidFill>
                          <a:latin typeface="Arial"/>
                        </a:rPr>
                        <a:t>amplía</a:t>
                      </a:r>
                      <a:r>
                        <a:rPr sz="1000" b="0" i="0" dirty="0" lang="es-SV">
                          <a:solidFill>
                            <a:srgbClr val="1B2333"/>
                          </a:solidFill>
                          <a:latin typeface="Arial"/>
                        </a:rPr>
                        <a:t> a </a:t>
                      </a:r>
                      <a:r>
                        <a:rPr sz="1000" b="0" i="0" dirty="0" lang="es-SV">
                          <a:solidFill>
                            <a:srgbClr val="1B2333"/>
                          </a:solidFill>
                          <a:latin typeface="Arial"/>
                        </a:rPr>
                        <a:t>servicios</a:t>
                      </a:r>
                      <a:r>
                        <a:rPr sz="1000" b="0" i="0" dirty="0" lang="es-SV">
                          <a:solidFill>
                            <a:srgbClr val="1B2333"/>
                          </a:solidFill>
                          <a:latin typeface="Arial"/>
                        </a:rPr>
                        <a:t> no </a:t>
                      </a:r>
                      <a:r>
                        <a:rPr sz="1000" b="0" i="0" dirty="0" lang="es-SV">
                          <a:solidFill>
                            <a:srgbClr val="1B2333"/>
                          </a:solidFill>
                          <a:latin typeface="Arial"/>
                        </a:rPr>
                        <a:t>tecnológicos</a:t>
                      </a:r>
                      <a:r>
                        <a:rPr sz="1000" b="0" i="0" dirty="0" lang="es-SV">
                          <a:solidFill>
                            <a:srgbClr val="1B2333"/>
                          </a:solidFill>
                          <a:latin typeface="Arial"/>
                        </a:rPr>
                        <a:t> y se </a:t>
                      </a:r>
                      <a:r>
                        <a:rPr sz="1000" b="0" i="0" dirty="0" lang="es-SV">
                          <a:solidFill>
                            <a:srgbClr val="1B2333"/>
                          </a:solidFill>
                          <a:latin typeface="Arial"/>
                        </a:rPr>
                        <a:t>definen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obligados</a:t>
                      </a:r>
                      <a:r>
                        <a:rPr sz="1000" b="0" i="0" dirty="0" lang="es-SV">
                          <a:solidFill>
                            <a:srgbClr val="1B2333"/>
                          </a:solidFill>
                          <a:latin typeface="Arial"/>
                        </a:rPr>
                        <a:t>.</a:t>
                      </a:r>
                    </a:p>
                    <a:p>
                      <a:pPr algn="just"/>
                      <a:r>
                        <a:rPr sz="1000" b="1" i="0" dirty="0" lang="es-SV">
                          <a:solidFill>
                            <a:srgbClr val="00376E"/>
                          </a:solidFill>
                          <a:latin typeface="Arial"/>
                        </a:rPr>
                        <a:t>NRP-42, art. 25 (</a:t>
                      </a:r>
                      <a:r>
                        <a:rPr sz="1000" b="1" i="0" dirty="0" lang="es-SV">
                          <a:solidFill>
                            <a:srgbClr val="00376E"/>
                          </a:solidFill>
                          <a:latin typeface="Arial"/>
                        </a:rPr>
                        <a:t>derogatoria</a:t>
                      </a:r>
                      <a:r>
                        <a:rPr sz="1000" b="1" i="0"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5388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8600"/>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III. </a:t>
            </a:r>
            <a:r>
              <a:rPr sz="2000" b="1" i="0" dirty="0" lang="es-SV">
                <a:solidFill>
                  <a:srgbClr val="00376E"/>
                </a:solidFill>
                <a:latin typeface="Century Gothic"/>
              </a:rPr>
              <a:t>Definiciones</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2514561396"/>
              </p:ext>
            </p:extLst>
          </p:nvPr>
        </p:nvGraphicFramePr>
        <p:xfrm>
          <a:off x="536067" y="601980"/>
          <a:ext cx="11091672" cy="29077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Tercerización</a:t>
                      </a:r>
                      <a:r>
                        <a:rPr sz="1000" b="0" i="0" dirty="0" lang="es-SV">
                          <a:solidFill>
                            <a:srgbClr val="1B2333"/>
                          </a:solidFill>
                          <a:latin typeface="Arial"/>
                        </a:rPr>
                        <a:t> de </a:t>
                      </a:r>
                      <a:r>
                        <a:rPr sz="1000" b="0" i="0" dirty="0" lang="es-SV">
                          <a:solidFill>
                            <a:srgbClr val="1B2333"/>
                          </a:solidFill>
                          <a:latin typeface="Arial"/>
                        </a:rPr>
                        <a:t>actividades</a:t>
                      </a:r>
                      <a:r>
                        <a:rPr sz="1000" b="0" i="0" dirty="0" lang="es-SV">
                          <a:solidFill>
                            <a:srgbClr val="1B2333"/>
                          </a:solidFill>
                          <a:latin typeface="Arial"/>
                        </a:rPr>
                        <a:t>: Es </a:t>
                      </a:r>
                      <a:r>
                        <a:rPr sz="1000" b="0" i="0" dirty="0" lang="es-SV">
                          <a:solidFill>
                            <a:srgbClr val="1B2333"/>
                          </a:solidFill>
                          <a:latin typeface="Arial"/>
                        </a:rPr>
                        <a:t>cuando</a:t>
                      </a:r>
                      <a:r>
                        <a:rPr sz="1000" b="0" i="0" dirty="0" lang="es-SV">
                          <a:solidFill>
                            <a:srgbClr val="1B2333"/>
                          </a:solidFill>
                          <a:latin typeface="Arial"/>
                        </a:rPr>
                        <a:t> la </a:t>
                      </a:r>
                      <a:r>
                        <a:rPr sz="1000" b="0" i="0" dirty="0" lang="es-SV">
                          <a:solidFill>
                            <a:srgbClr val="1B2333"/>
                          </a:solidFill>
                          <a:latin typeface="Arial"/>
                        </a:rPr>
                        <a:t>realización</a:t>
                      </a:r>
                      <a:r>
                        <a:rPr sz="1000" b="0" i="0" dirty="0" lang="es-SV">
                          <a:solidFill>
                            <a:srgbClr val="1B2333"/>
                          </a:solidFill>
                          <a:latin typeface="Arial"/>
                        </a:rPr>
                        <a:t> de </a:t>
                      </a:r>
                      <a:r>
                        <a:rPr sz="1000" b="0" i="0" dirty="0" lang="es-SV">
                          <a:solidFill>
                            <a:srgbClr val="1B2333"/>
                          </a:solidFill>
                          <a:latin typeface="Arial"/>
                        </a:rPr>
                        <a:t>una</a:t>
                      </a:r>
                      <a:r>
                        <a:rPr sz="1000" b="0" i="0" dirty="0" lang="es-SV">
                          <a:solidFill>
                            <a:srgbClr val="1B2333"/>
                          </a:solidFill>
                          <a:latin typeface="Arial"/>
                        </a:rPr>
                        <a:t> o </a:t>
                      </a:r>
                      <a:r>
                        <a:rPr sz="1000" b="0" i="0" dirty="0" lang="es-SV">
                          <a:solidFill>
                            <a:srgbClr val="1B2333"/>
                          </a:solidFill>
                          <a:latin typeface="Arial"/>
                        </a:rPr>
                        <a:t>más</a:t>
                      </a:r>
                      <a:r>
                        <a:rPr sz="1000" b="0" i="0" dirty="0" lang="es-SV">
                          <a:solidFill>
                            <a:srgbClr val="1B2333"/>
                          </a:solidFill>
                          <a:latin typeface="Arial"/>
                        </a:rPr>
                        <a:t> partes de la </a:t>
                      </a:r>
                      <a:r>
                        <a:rPr sz="1000" b="0" i="0" dirty="0" lang="es-SV">
                          <a:solidFill>
                            <a:srgbClr val="1B2333"/>
                          </a:solidFill>
                          <a:latin typeface="Arial"/>
                        </a:rPr>
                        <a:t>actividad</a:t>
                      </a:r>
                      <a:r>
                        <a:rPr sz="1000" b="0" i="0" dirty="0" lang="es-SV">
                          <a:solidFill>
                            <a:srgbClr val="1B2333"/>
                          </a:solidFill>
                          <a:latin typeface="Arial"/>
                        </a:rPr>
                        <a:t> principal del </a:t>
                      </a:r>
                      <a:r>
                        <a:rPr sz="1000" b="0" i="0" dirty="0" lang="es-SV">
                          <a:solidFill>
                            <a:srgbClr val="1B2333"/>
                          </a:solidFill>
                          <a:latin typeface="Arial"/>
                        </a:rPr>
                        <a:t>negocio</a:t>
                      </a:r>
                      <a:r>
                        <a:rPr sz="1000" b="0" i="0" dirty="0" lang="es-SV">
                          <a:solidFill>
                            <a:srgbClr val="1B2333"/>
                          </a:solidFill>
                          <a:latin typeface="Arial"/>
                        </a:rPr>
                        <a:t>, se </a:t>
                      </a:r>
                      <a:r>
                        <a:rPr sz="1000" b="0" i="0" dirty="0" lang="es-SV">
                          <a:solidFill>
                            <a:srgbClr val="1B2333"/>
                          </a:solidFill>
                          <a:latin typeface="Arial"/>
                        </a:rPr>
                        <a:t>delega</a:t>
                      </a:r>
                      <a:r>
                        <a:rPr sz="1000" b="0" i="0" dirty="0" lang="es-SV">
                          <a:solidFill>
                            <a:srgbClr val="1B2333"/>
                          </a:solidFill>
                          <a:latin typeface="Arial"/>
                        </a:rPr>
                        <a:t> a un </a:t>
                      </a:r>
                      <a:r>
                        <a:rPr sz="1000" b="0" i="0" dirty="0" lang="es-SV">
                          <a:solidFill>
                            <a:srgbClr val="1B2333"/>
                          </a:solidFill>
                          <a:latin typeface="Arial"/>
                        </a:rPr>
                        <a:t>tercero</a:t>
                      </a:r>
                      <a:r>
                        <a:rPr sz="1000" b="0" i="0" dirty="0" lang="es-SV">
                          <a:solidFill>
                            <a:srgbClr val="1B2333"/>
                          </a:solidFill>
                          <a:latin typeface="Arial"/>
                        </a:rPr>
                        <a:t>, </a:t>
                      </a:r>
                      <a:r>
                        <a:rPr sz="1000" b="0" i="0" dirty="0" lang="es-SV">
                          <a:solidFill>
                            <a:srgbClr val="1B2333"/>
                          </a:solidFill>
                          <a:latin typeface="Arial"/>
                        </a:rPr>
                        <a:t>quien</a:t>
                      </a:r>
                      <a:r>
                        <a:rPr sz="1000" b="0" i="0" dirty="0" lang="es-SV">
                          <a:solidFill>
                            <a:srgbClr val="1B2333"/>
                          </a:solidFill>
                          <a:latin typeface="Arial"/>
                        </a:rPr>
                        <a:t> </a:t>
                      </a:r>
                      <a:r>
                        <a:rPr sz="1000" b="0" i="0" dirty="0" lang="es-SV">
                          <a:solidFill>
                            <a:srgbClr val="1B2333"/>
                          </a:solidFill>
                          <a:latin typeface="Arial"/>
                        </a:rPr>
                        <a:t>asume</a:t>
                      </a:r>
                      <a:r>
                        <a:rPr sz="1000" b="0" i="0" dirty="0" lang="es-SV">
                          <a:solidFill>
                            <a:srgbClr val="1B2333"/>
                          </a:solidFill>
                          <a:latin typeface="Arial"/>
                        </a:rPr>
                        <a:t> las </a:t>
                      </a:r>
                      <a:r>
                        <a:rPr sz="1000" b="0" i="0" dirty="0" lang="es-SV">
                          <a:solidFill>
                            <a:srgbClr val="1B2333"/>
                          </a:solidFill>
                          <a:latin typeface="Arial"/>
                        </a:rPr>
                        <a:t>actividades</a:t>
                      </a:r>
                      <a:r>
                        <a:rPr sz="1000" b="0" i="0" dirty="0" lang="es-SV">
                          <a:solidFill>
                            <a:srgbClr val="1B2333"/>
                          </a:solidFill>
                          <a:latin typeface="Arial"/>
                        </a:rPr>
                        <a:t> </a:t>
                      </a:r>
                      <a:r>
                        <a:rPr sz="1000" b="0" i="0" dirty="0" lang="es-SV">
                          <a:solidFill>
                            <a:srgbClr val="1B2333"/>
                          </a:solidFill>
                          <a:latin typeface="Arial"/>
                        </a:rPr>
                        <a:t>por</a:t>
                      </a:r>
                      <a:r>
                        <a:rPr sz="1000" b="0" i="0" dirty="0" lang="es-SV">
                          <a:solidFill>
                            <a:srgbClr val="1B2333"/>
                          </a:solidFill>
                          <a:latin typeface="Arial"/>
                        </a:rPr>
                        <a:t> </a:t>
                      </a:r>
                      <a:r>
                        <a:rPr sz="1000" b="0" i="0" dirty="0" lang="es-SV">
                          <a:solidFill>
                            <a:srgbClr val="1B2333"/>
                          </a:solidFill>
                          <a:latin typeface="Arial"/>
                        </a:rPr>
                        <a:t>su</a:t>
                      </a:r>
                      <a:r>
                        <a:rPr sz="1000" b="0" i="0" dirty="0" lang="es-SV">
                          <a:solidFill>
                            <a:srgbClr val="1B2333"/>
                          </a:solidFill>
                          <a:latin typeface="Arial"/>
                        </a:rPr>
                        <a:t> </a:t>
                      </a:r>
                      <a:r>
                        <a:rPr sz="1000" b="0" i="0" dirty="0" lang="es-SV">
                          <a:solidFill>
                            <a:srgbClr val="1B2333"/>
                          </a:solidFill>
                          <a:latin typeface="Arial"/>
                        </a:rPr>
                        <a:t>cuenta</a:t>
                      </a:r>
                      <a:r>
                        <a:rPr sz="1000" b="0" i="0" dirty="0" lang="es-SV">
                          <a:solidFill>
                            <a:srgbClr val="1B2333"/>
                          </a:solidFill>
                          <a:latin typeface="Arial"/>
                        </a:rPr>
                        <a:t> y </a:t>
                      </a:r>
                      <a:r>
                        <a:rPr sz="1000" b="0" i="0" dirty="0" lang="es-SV">
                          <a:solidFill>
                            <a:srgbClr val="1B2333"/>
                          </a:solidFill>
                          <a:latin typeface="Arial"/>
                        </a:rPr>
                        <a:t>riesgo</a:t>
                      </a:r>
                      <a:r>
                        <a:rPr sz="1000" b="0" i="0" dirty="0" lang="es-SV">
                          <a:solidFill>
                            <a:srgbClr val="1B2333"/>
                          </a:solidFill>
                          <a:latin typeface="Arial"/>
                        </a:rPr>
                        <a:t>, y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además</a:t>
                      </a:r>
                      <a:r>
                        <a:rPr sz="1000" b="0" i="0" dirty="0" lang="es-SV">
                          <a:solidFill>
                            <a:srgbClr val="1B2333"/>
                          </a:solidFill>
                          <a:latin typeface="Arial"/>
                        </a:rPr>
                        <a:t> </a:t>
                      </a:r>
                      <a:r>
                        <a:rPr sz="1000" b="0" i="0" dirty="0" lang="es-SV">
                          <a:solidFill>
                            <a:srgbClr val="1B2333"/>
                          </a:solidFill>
                          <a:latin typeface="Arial"/>
                        </a:rPr>
                        <a:t>cuenta</a:t>
                      </a:r>
                      <a:r>
                        <a:rPr sz="1000" b="0" i="0" dirty="0" lang="es-SV">
                          <a:solidFill>
                            <a:srgbClr val="1B2333"/>
                          </a:solidFill>
                          <a:latin typeface="Arial"/>
                        </a:rPr>
                        <a:t> con sus </a:t>
                      </a:r>
                      <a:r>
                        <a:rPr sz="1000" b="0" i="0" dirty="0" lang="es-SV">
                          <a:solidFill>
                            <a:srgbClr val="1B2333"/>
                          </a:solidFill>
                          <a:latin typeface="Arial"/>
                        </a:rPr>
                        <a:t>propios</a:t>
                      </a:r>
                      <a:r>
                        <a:rPr sz="1000" b="0" i="0" dirty="0" lang="es-SV">
                          <a:solidFill>
                            <a:srgbClr val="1B2333"/>
                          </a:solidFill>
                          <a:latin typeface="Arial"/>
                        </a:rPr>
                        <a:t> </a:t>
                      </a:r>
                      <a:r>
                        <a:rPr sz="1000" b="0" i="0" dirty="0" lang="es-SV">
                          <a:solidFill>
                            <a:srgbClr val="1B2333"/>
                          </a:solidFill>
                          <a:latin typeface="Arial"/>
                        </a:rPr>
                        <a:t>recursos</a:t>
                      </a:r>
                      <a:r>
                        <a:rPr sz="1000" b="0" i="0" dirty="0" lang="es-SV">
                          <a:solidFill>
                            <a:srgbClr val="1B2333"/>
                          </a:solidFill>
                          <a:latin typeface="Arial"/>
                        </a:rPr>
                        <a:t> </a:t>
                      </a:r>
                      <a:r>
                        <a:rPr sz="1000" b="0" i="0" dirty="0" lang="es-SV">
                          <a:solidFill>
                            <a:srgbClr val="1B2333"/>
                          </a:solidFill>
                          <a:latin typeface="Arial"/>
                        </a:rPr>
                        <a:t>financieros</a:t>
                      </a:r>
                      <a:r>
                        <a:rPr sz="1000" b="0" i="0" dirty="0" lang="es-SV">
                          <a:solidFill>
                            <a:srgbClr val="1B2333"/>
                          </a:solidFill>
                          <a:latin typeface="Arial"/>
                        </a:rPr>
                        <a:t>, </a:t>
                      </a:r>
                      <a:r>
                        <a:rPr sz="1000" b="0" i="0" dirty="0" lang="es-SV">
                          <a:solidFill>
                            <a:srgbClr val="1B2333"/>
                          </a:solidFill>
                          <a:latin typeface="Arial"/>
                        </a:rPr>
                        <a:t>técnicos</a:t>
                      </a:r>
                      <a:r>
                        <a:rPr sz="1000" b="0" i="0" dirty="0" lang="es-SV">
                          <a:solidFill>
                            <a:srgbClr val="1B2333"/>
                          </a:solidFill>
                          <a:latin typeface="Arial"/>
                        </a:rPr>
                        <a:t> y </a:t>
                      </a:r>
                      <a:r>
                        <a:rPr sz="1000" b="0" i="0" dirty="0" lang="es-SV">
                          <a:solidFill>
                            <a:srgbClr val="1B2333"/>
                          </a:solidFill>
                          <a:latin typeface="Arial"/>
                        </a:rPr>
                        <a:t>materiales</a:t>
                      </a:r>
                      <a:r>
                        <a:rPr sz="1000" b="0" i="0" dirty="0" lang="es-SV">
                          <a:solidFill>
                            <a:srgbClr val="1B2333"/>
                          </a:solidFill>
                          <a:latin typeface="Arial"/>
                        </a:rPr>
                        <a:t>. En </a:t>
                      </a:r>
                      <a:r>
                        <a:rPr sz="1000" b="0" i="0" dirty="0" lang="es-SV">
                          <a:solidFill>
                            <a:srgbClr val="1B2333"/>
                          </a:solidFill>
                          <a:latin typeface="Arial"/>
                        </a:rPr>
                        <a:t>consecuencia</a:t>
                      </a:r>
                      <a:r>
                        <a:rPr sz="1000" b="0" i="0" dirty="0" lang="es-SV">
                          <a:solidFill>
                            <a:srgbClr val="1B2333"/>
                          </a:solidFill>
                          <a:latin typeface="Arial"/>
                        </a:rPr>
                        <a:t>, es </a:t>
                      </a:r>
                      <a:r>
                        <a:rPr sz="1000" b="0" i="0" dirty="0" lang="es-SV">
                          <a:solidFill>
                            <a:srgbClr val="1B2333"/>
                          </a:solidFill>
                          <a:latin typeface="Arial"/>
                        </a:rPr>
                        <a:t>responsable</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resultados</a:t>
                      </a:r>
                      <a:r>
                        <a:rPr sz="1000" b="0" i="0" dirty="0" lang="es-SV">
                          <a:solidFill>
                            <a:srgbClr val="1B2333"/>
                          </a:solidFill>
                          <a:latin typeface="Arial"/>
                        </a:rPr>
                        <a:t> de sus </a:t>
                      </a:r>
                      <a:r>
                        <a:rPr sz="1000" b="0" i="0" dirty="0" lang="es-SV">
                          <a:solidFill>
                            <a:srgbClr val="1B2333"/>
                          </a:solidFill>
                          <a:latin typeface="Arial"/>
                        </a:rPr>
                        <a:t>actividades</a:t>
                      </a:r>
                      <a:r>
                        <a:rPr sz="1000" b="0" i="0" dirty="0" lang="es-SV">
                          <a:solidFill>
                            <a:srgbClr val="1B2333"/>
                          </a:solidFill>
                          <a:latin typeface="Arial"/>
                        </a:rPr>
                        <a:t>, y del personal a </a:t>
                      </a:r>
                      <a:r>
                        <a:rPr sz="1000" b="0" i="0" dirty="0" lang="es-SV">
                          <a:solidFill>
                            <a:srgbClr val="1B2333"/>
                          </a:solidFill>
                          <a:latin typeface="Arial"/>
                        </a:rPr>
                        <a:t>su</a:t>
                      </a:r>
                      <a:r>
                        <a:rPr sz="1000" b="0" i="0" dirty="0" lang="es-SV">
                          <a:solidFill>
                            <a:srgbClr val="1B2333"/>
                          </a:solidFill>
                          <a:latin typeface="Arial"/>
                        </a:rPr>
                        <a:t> cargo.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Se produce </a:t>
                      </a:r>
                      <a:r>
                        <a:rPr sz="1000" b="1" i="0" u="sng" dirty="0" lang="es-SV">
                          <a:solidFill>
                            <a:srgbClr val="00376E"/>
                          </a:solidFill>
                          <a:latin typeface="Arial"/>
                        </a:rPr>
                        <a:t>cuando</a:t>
                      </a:r>
                      <a:r>
                        <a:rPr sz="1000" b="1" i="0" u="sng" dirty="0" lang="es-SV">
                          <a:solidFill>
                            <a:srgbClr val="00376E"/>
                          </a:solidFill>
                          <a:latin typeface="Arial"/>
                        </a:rPr>
                        <a:t> la </a:t>
                      </a:r>
                      <a:r>
                        <a:rPr sz="1000" b="1" i="0" u="sng" dirty="0" lang="es-SV">
                          <a:solidFill>
                            <a:srgbClr val="00376E"/>
                          </a:solidFill>
                          <a:latin typeface="Arial"/>
                        </a:rPr>
                        <a:t>entidad</a:t>
                      </a:r>
                      <a:r>
                        <a:rPr sz="1000" b="1" i="0" u="sng" dirty="0" lang="es-SV">
                          <a:solidFill>
                            <a:srgbClr val="00376E"/>
                          </a:solidFill>
                          <a:latin typeface="Arial"/>
                        </a:rPr>
                        <a:t> </a:t>
                      </a:r>
                      <a:r>
                        <a:rPr sz="1000" b="1" i="0" u="sng" dirty="0" lang="es-SV">
                          <a:solidFill>
                            <a:srgbClr val="00376E"/>
                          </a:solidFill>
                          <a:latin typeface="Arial"/>
                        </a:rPr>
                        <a:t>encarga</a:t>
                      </a:r>
                      <a:r>
                        <a:rPr sz="1000" b="1" i="0" u="sng" dirty="0" lang="es-SV">
                          <a:solidFill>
                            <a:srgbClr val="00376E"/>
                          </a:solidFill>
                          <a:latin typeface="Arial"/>
                        </a:rPr>
                        <a:t> la </a:t>
                      </a:r>
                      <a:r>
                        <a:rPr sz="1000" b="1" i="0" u="sng" dirty="0" lang="es-SV">
                          <a:solidFill>
                            <a:srgbClr val="00376E"/>
                          </a:solidFill>
                          <a:latin typeface="Arial"/>
                        </a:rPr>
                        <a:t>realización</a:t>
                      </a:r>
                      <a:r>
                        <a:rPr sz="1000" b="1" i="0" u="sng" dirty="0" lang="es-SV">
                          <a:solidFill>
                            <a:srgbClr val="00376E"/>
                          </a:solidFill>
                          <a:latin typeface="Arial"/>
                        </a:rPr>
                        <a:t> de un </a:t>
                      </a:r>
                      <a:r>
                        <a:rPr sz="1000" b="1" i="0" u="sng" dirty="0" lang="es-SV">
                          <a:solidFill>
                            <a:srgbClr val="00376E"/>
                          </a:solidFill>
                          <a:latin typeface="Arial"/>
                        </a:rPr>
                        <a:t>proceso</a:t>
                      </a:r>
                      <a:r>
                        <a:rPr sz="1000" b="1" i="0" u="sng" dirty="0" lang="es-SV">
                          <a:solidFill>
                            <a:srgbClr val="00376E"/>
                          </a:solidFill>
                          <a:latin typeface="Arial"/>
                        </a:rPr>
                        <a:t> a un </a:t>
                      </a:r>
                      <a:r>
                        <a:rPr sz="1000" b="1" i="0" u="sng" dirty="0" lang="es-SV">
                          <a:solidFill>
                            <a:srgbClr val="00376E"/>
                          </a:solidFill>
                          <a:latin typeface="Arial"/>
                        </a:rPr>
                        <a:t>tercero</a:t>
                      </a:r>
                      <a:r>
                        <a:rPr sz="1000" b="1" i="0" u="sng" dirty="0" lang="es-SV">
                          <a:solidFill>
                            <a:srgbClr val="00376E"/>
                          </a:solidFill>
                          <a:latin typeface="Arial"/>
                        </a:rPr>
                        <a:t>, es </a:t>
                      </a:r>
                      <a:r>
                        <a:rPr sz="1000" b="1" i="0" u="sng" dirty="0" lang="es-SV">
                          <a:solidFill>
                            <a:srgbClr val="00376E"/>
                          </a:solidFill>
                          <a:latin typeface="Arial"/>
                        </a:rPr>
                        <a:t>decir</a:t>
                      </a:r>
                      <a:r>
                        <a:rPr sz="1000" b="1" i="0" u="sng" dirty="0" lang="es-SV">
                          <a:solidFill>
                            <a:srgbClr val="00376E"/>
                          </a:solidFill>
                          <a:latin typeface="Arial"/>
                        </a:rPr>
                        <a:t>, a </a:t>
                      </a:r>
                      <a:r>
                        <a:rPr sz="1000" b="1" i="0" u="sng" dirty="0" lang="es-SV">
                          <a:solidFill>
                            <a:srgbClr val="00376E"/>
                          </a:solidFill>
                          <a:latin typeface="Arial"/>
                        </a:rPr>
                        <a:t>una</a:t>
                      </a:r>
                      <a:r>
                        <a:rPr sz="1000" b="1" i="0" u="sng" dirty="0" lang="es-SV">
                          <a:solidFill>
                            <a:srgbClr val="00376E"/>
                          </a:solidFill>
                          <a:latin typeface="Arial"/>
                        </a:rPr>
                        <a:t> persona natural o </a:t>
                      </a:r>
                      <a:r>
                        <a:rPr sz="1000" b="1" i="0" u="sng" dirty="0" lang="es-SV">
                          <a:solidFill>
                            <a:srgbClr val="00376E"/>
                          </a:solidFill>
                          <a:latin typeface="Arial"/>
                        </a:rPr>
                        <a:t>jurídica</a:t>
                      </a:r>
                      <a:r>
                        <a:rPr sz="1000" b="1" i="0" u="sng" dirty="0" lang="es-SV">
                          <a:solidFill>
                            <a:srgbClr val="00376E"/>
                          </a:solidFill>
                          <a:latin typeface="Arial"/>
                        </a:rPr>
                        <a:t> </a:t>
                      </a:r>
                      <a:r>
                        <a:rPr sz="1000" b="1" i="0" u="sng" dirty="0" lang="es-SV">
                          <a:solidFill>
                            <a:srgbClr val="00376E"/>
                          </a:solidFill>
                          <a:latin typeface="Arial"/>
                        </a:rPr>
                        <a:t>distinta</a:t>
                      </a:r>
                      <a:r>
                        <a:rPr sz="1000" b="1" i="0" u="sng" dirty="0" lang="es-SV">
                          <a:solidFill>
                            <a:srgbClr val="00376E"/>
                          </a:solidFill>
                          <a:latin typeface="Arial"/>
                        </a:rPr>
                        <a:t> a la </a:t>
                      </a:r>
                      <a:r>
                        <a:rPr sz="1000" b="1" i="0" u="sng" dirty="0" lang="es-SV">
                          <a:solidFill>
                            <a:srgbClr val="00376E"/>
                          </a:solidFill>
                          <a:latin typeface="Arial"/>
                        </a:rPr>
                        <a:t>entidad</a:t>
                      </a:r>
                      <a:r>
                        <a:rPr sz="1000" b="1" i="0" u="sng" dirty="0" lang="es-SV">
                          <a:solidFill>
                            <a:srgbClr val="00376E"/>
                          </a:solidFill>
                          <a:latin typeface="Arial"/>
                        </a:rPr>
                        <a:t>.</a:t>
                      </a:r>
                    </a:p>
                    <a:p>
                      <a:pPr algn="just"/>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actividades</a:t>
                      </a:r>
                      <a:r>
                        <a:rPr sz="1000" b="1" i="0" u="sng" dirty="0" lang="es-SV">
                          <a:solidFill>
                            <a:srgbClr val="00376E"/>
                          </a:solidFill>
                          <a:latin typeface="Arial"/>
                        </a:rPr>
                        <a:t>, </a:t>
                      </a:r>
                      <a:r>
                        <a:rPr sz="1000" b="1" i="0" u="sng" dirty="0" lang="es-SV">
                          <a:solidFill>
                            <a:srgbClr val="00376E"/>
                          </a:solidFill>
                          <a:latin typeface="Arial"/>
                        </a:rPr>
                        <a:t>operaciones</a:t>
                      </a:r>
                      <a:r>
                        <a:rPr sz="1000" b="1" i="0" u="sng" dirty="0" lang="es-SV">
                          <a:solidFill>
                            <a:srgbClr val="00376E"/>
                          </a:solidFill>
                          <a:latin typeface="Arial"/>
                        </a:rPr>
                        <a:t> o </a:t>
                      </a:r>
                      <a:r>
                        <a:rPr sz="1000" b="1" i="0" u="sng" dirty="0" lang="es-SV">
                          <a:solidFill>
                            <a:srgbClr val="00376E"/>
                          </a:solidFill>
                          <a:latin typeface="Arial"/>
                        </a:rPr>
                        <a:t>procesos</a:t>
                      </a:r>
                      <a:r>
                        <a:rPr sz="1000" b="1" i="0" u="sng" dirty="0" lang="es-SV">
                          <a:solidFill>
                            <a:srgbClr val="00376E"/>
                          </a:solidFill>
                          <a:latin typeface="Arial"/>
                        </a:rPr>
                        <a:t> de </a:t>
                      </a:r>
                      <a:r>
                        <a:rPr sz="1000" b="1" i="0" u="sng" dirty="0" lang="es-SV">
                          <a:solidFill>
                            <a:srgbClr val="00376E"/>
                          </a:solidFill>
                          <a:latin typeface="Arial"/>
                        </a:rPr>
                        <a:t>tecnologías</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Se produce </a:t>
                      </a:r>
                      <a:r>
                        <a:rPr sz="1000" b="1" i="0" u="sng" dirty="0" lang="es-SV">
                          <a:solidFill>
                            <a:srgbClr val="00376E"/>
                          </a:solidFill>
                          <a:latin typeface="Arial"/>
                        </a:rPr>
                        <a:t>cuando</a:t>
                      </a:r>
                      <a:r>
                        <a:rPr sz="1000" b="1" i="0" u="sng" dirty="0" lang="es-SV">
                          <a:solidFill>
                            <a:srgbClr val="00376E"/>
                          </a:solidFill>
                          <a:latin typeface="Arial"/>
                        </a:rPr>
                        <a:t> la </a:t>
                      </a:r>
                      <a:r>
                        <a:rPr sz="1000" b="1" i="0" u="sng" dirty="0" lang="es-SV">
                          <a:solidFill>
                            <a:srgbClr val="00376E"/>
                          </a:solidFill>
                          <a:latin typeface="Arial"/>
                        </a:rPr>
                        <a:t>entidad</a:t>
                      </a:r>
                      <a:r>
                        <a:rPr sz="1000" b="1" i="0" u="sng" dirty="0" lang="es-SV">
                          <a:solidFill>
                            <a:srgbClr val="00376E"/>
                          </a:solidFill>
                          <a:latin typeface="Arial"/>
                        </a:rPr>
                        <a:t> </a:t>
                      </a:r>
                      <a:r>
                        <a:rPr sz="1000" b="1" i="0" u="sng" dirty="0" lang="es-SV">
                          <a:solidFill>
                            <a:srgbClr val="00376E"/>
                          </a:solidFill>
                          <a:latin typeface="Arial"/>
                        </a:rPr>
                        <a:t>encarga</a:t>
                      </a:r>
                      <a:r>
                        <a:rPr sz="1000" b="1" i="0" u="sng" dirty="0" lang="es-SV">
                          <a:solidFill>
                            <a:srgbClr val="00376E"/>
                          </a:solidFill>
                          <a:latin typeface="Arial"/>
                        </a:rPr>
                        <a:t> la </a:t>
                      </a:r>
                      <a:r>
                        <a:rPr sz="1000" b="1" i="0" u="sng" dirty="0" lang="es-SV">
                          <a:solidFill>
                            <a:srgbClr val="00376E"/>
                          </a:solidFill>
                          <a:latin typeface="Arial"/>
                        </a:rPr>
                        <a:t>realización</a:t>
                      </a:r>
                      <a:r>
                        <a:rPr sz="1000" b="1" i="0" u="sng" dirty="0" lang="es-SV">
                          <a:solidFill>
                            <a:srgbClr val="00376E"/>
                          </a:solidFill>
                          <a:latin typeface="Arial"/>
                        </a:rPr>
                        <a:t> de </a:t>
                      </a:r>
                      <a:r>
                        <a:rPr sz="1000" b="1" i="0" u="sng" dirty="0" lang="es-SV">
                          <a:solidFill>
                            <a:srgbClr val="00376E"/>
                          </a:solidFill>
                          <a:latin typeface="Arial"/>
                        </a:rPr>
                        <a:t>actividades</a:t>
                      </a:r>
                      <a:r>
                        <a:rPr sz="1000" b="1" i="0" u="sng" dirty="0" lang="es-SV">
                          <a:solidFill>
                            <a:srgbClr val="00376E"/>
                          </a:solidFill>
                          <a:latin typeface="Arial"/>
                        </a:rPr>
                        <a:t>, </a:t>
                      </a:r>
                      <a:r>
                        <a:rPr sz="1000" b="1" i="0" u="sng" dirty="0" lang="es-SV">
                          <a:solidFill>
                            <a:srgbClr val="00376E"/>
                          </a:solidFill>
                          <a:latin typeface="Arial"/>
                        </a:rPr>
                        <a:t>operaciones</a:t>
                      </a:r>
                      <a:r>
                        <a:rPr sz="1000" b="1" i="0" u="sng" dirty="0" lang="es-SV">
                          <a:solidFill>
                            <a:srgbClr val="00376E"/>
                          </a:solidFill>
                          <a:latin typeface="Arial"/>
                        </a:rPr>
                        <a:t> o </a:t>
                      </a:r>
                      <a:r>
                        <a:rPr sz="1000" b="1" i="0" u="sng" dirty="0" lang="es-SV">
                          <a:solidFill>
                            <a:srgbClr val="00376E"/>
                          </a:solidFill>
                          <a:latin typeface="Arial"/>
                        </a:rPr>
                        <a:t>procesos</a:t>
                      </a:r>
                      <a:r>
                        <a:rPr sz="1000" b="1" i="0" u="sng" dirty="0" lang="es-SV">
                          <a:solidFill>
                            <a:srgbClr val="00376E"/>
                          </a:solidFill>
                          <a:latin typeface="Arial"/>
                        </a:rPr>
                        <a:t> de </a:t>
                      </a:r>
                      <a:r>
                        <a:rPr sz="1000" b="1" i="0" u="sng" dirty="0" lang="es-SV">
                          <a:solidFill>
                            <a:srgbClr val="00376E"/>
                          </a:solidFill>
                          <a:latin typeface="Arial"/>
                        </a:rPr>
                        <a:t>tecnologías</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relacionados</a:t>
                      </a:r>
                      <a:r>
                        <a:rPr sz="1000" b="1" i="0" u="sng" dirty="0" lang="es-SV">
                          <a:solidFill>
                            <a:srgbClr val="00376E"/>
                          </a:solidFill>
                          <a:latin typeface="Arial"/>
                        </a:rPr>
                        <a:t> a </a:t>
                      </a:r>
                      <a:r>
                        <a:rPr sz="1000" b="1" i="0" u="sng" dirty="0" lang="es-SV">
                          <a:solidFill>
                            <a:srgbClr val="00376E"/>
                          </a:solidFill>
                          <a:latin typeface="Arial"/>
                        </a:rPr>
                        <a:t>servicios</a:t>
                      </a:r>
                      <a:r>
                        <a:rPr sz="1000" b="1" i="0" u="sng" dirty="0" lang="es-SV">
                          <a:solidFill>
                            <a:srgbClr val="00376E"/>
                          </a:solidFill>
                          <a:latin typeface="Arial"/>
                        </a:rPr>
                        <a:t> o </a:t>
                      </a:r>
                      <a:r>
                        <a:rPr sz="1000" b="1" i="0" u="sng" dirty="0" lang="es-SV">
                          <a:solidFill>
                            <a:srgbClr val="00376E"/>
                          </a:solidFill>
                          <a:latin typeface="Arial"/>
                        </a:rPr>
                        <a:t>productos</a:t>
                      </a:r>
                      <a:r>
                        <a:rPr sz="1000" b="1" i="0" u="sng" dirty="0" lang="es-SV">
                          <a:solidFill>
                            <a:srgbClr val="00376E"/>
                          </a:solidFill>
                          <a:latin typeface="Arial"/>
                        </a:rPr>
                        <a:t> </a:t>
                      </a:r>
                      <a:r>
                        <a:rPr sz="1000" b="1" i="0" u="sng" dirty="0" lang="es-SV">
                          <a:solidFill>
                            <a:srgbClr val="00376E"/>
                          </a:solidFill>
                          <a:latin typeface="Arial"/>
                        </a:rPr>
                        <a:t>financieros</a:t>
                      </a:r>
                      <a:r>
                        <a:rPr sz="1000" b="1" i="0" u="sng" dirty="0" lang="es-SV">
                          <a:solidFill>
                            <a:srgbClr val="00376E"/>
                          </a:solidFill>
                          <a:latin typeface="Arial"/>
                        </a:rPr>
                        <a:t> de la </a:t>
                      </a:r>
                      <a:r>
                        <a:rPr sz="1000" b="1" i="0" u="sng" dirty="0" lang="es-SV">
                          <a:solidFill>
                            <a:srgbClr val="00376E"/>
                          </a:solidFill>
                          <a:latin typeface="Arial"/>
                        </a:rPr>
                        <a:t>entidad</a:t>
                      </a:r>
                      <a:r>
                        <a:rPr sz="1000" b="1" i="0" u="sng" dirty="0" lang="es-SV">
                          <a:solidFill>
                            <a:srgbClr val="00376E"/>
                          </a:solidFill>
                          <a:latin typeface="Arial"/>
                        </a:rPr>
                        <a:t>, a un </a:t>
                      </a:r>
                      <a:r>
                        <a:rPr sz="1000" b="1" i="0" u="sng" dirty="0" lang="es-SV">
                          <a:solidFill>
                            <a:srgbClr val="00376E"/>
                          </a:solidFill>
                          <a:latin typeface="Arial"/>
                        </a:rPr>
                        <a:t>tercero</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a:t>
                      </a:r>
                      <a:r>
                        <a:rPr sz="1000" b="0" i="0" dirty="0" lang="es-SV">
                          <a:solidFill>
                            <a:srgbClr val="1B2333"/>
                          </a:solidFill>
                          <a:latin typeface="Arial"/>
                        </a:rPr>
                        <a:t>adoptan</a:t>
                      </a:r>
                      <a:r>
                        <a:rPr sz="1000" b="0" i="0" dirty="0" lang="es-SV">
                          <a:solidFill>
                            <a:srgbClr val="1B2333"/>
                          </a:solidFill>
                          <a:latin typeface="Arial"/>
                        </a:rPr>
                        <a:t> las </a:t>
                      </a:r>
                      <a:r>
                        <a:rPr sz="1000" b="0" i="0" dirty="0" lang="es-SV">
                          <a:solidFill>
                            <a:srgbClr val="1B2333"/>
                          </a:solidFill>
                          <a:latin typeface="Arial"/>
                        </a:rPr>
                        <a:t>definiciones</a:t>
                      </a:r>
                      <a:r>
                        <a:rPr sz="1000" b="0" i="0" dirty="0" lang="es-SV">
                          <a:solidFill>
                            <a:srgbClr val="1B2333"/>
                          </a:solidFill>
                          <a:latin typeface="Arial"/>
                        </a:rPr>
                        <a:t> </a:t>
                      </a:r>
                      <a:r>
                        <a:rPr sz="1000" b="0" i="0" dirty="0" lang="es-SV">
                          <a:solidFill>
                            <a:srgbClr val="1B2333"/>
                          </a:solidFill>
                          <a:latin typeface="Arial"/>
                        </a:rPr>
                        <a:t>literales</a:t>
                      </a:r>
                      <a:r>
                        <a:rPr sz="1000" b="0" i="0" dirty="0" lang="es-SV">
                          <a:solidFill>
                            <a:srgbClr val="1B2333"/>
                          </a:solidFill>
                          <a:latin typeface="Arial"/>
                        </a:rPr>
                        <a:t>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NRP-24, art. 3, lit. y · NRP-23, art. 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 Críticos: Son un conjunto de actividades o procedimientos definidos como prioritarios, cuya no disponibilidad compromete la existencia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Servicios críticos</a:t>
                      </a:r>
                      <a:r>
                        <a:rPr sz="1000" b="0" i="0" lang="es-SV">
                          <a:solidFill>
                            <a:srgbClr val="1B2333"/>
                          </a:solidFill>
                          <a:latin typeface="Arial"/>
                        </a:rPr>
                        <a:t>: Son </a:t>
                      </a:r>
                      <a:r>
                        <a:rPr sz="1000" b="1" i="0" u="sng" lang="es-SV">
                          <a:solidFill>
                            <a:srgbClr val="00376E"/>
                          </a:solidFill>
                          <a:latin typeface="Arial"/>
                        </a:rPr>
                        <a:t>los servicios y actividades prioritarios</a:t>
                      </a:r>
                      <a:r>
                        <a:rPr sz="1000" b="0" i="0" lang="es-SV">
                          <a:solidFill>
                            <a:srgbClr val="1B2333"/>
                          </a:solidFill>
                          <a:latin typeface="Arial"/>
                        </a:rPr>
                        <a:t> cuya no disponibilidad compromete la existencia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NRP-23, art. 3 · NRP-24, art. 3, lit. v</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Procesos Críticos: Son los procesos dentro de la Cooperativa que se han definidos como prioritarios para la entrega de productos y servicios y la interrupción de los mismos detiene la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Procesos críticos: Son los procesos </a:t>
                      </a:r>
                      <a:r>
                        <a:rPr sz="1000" b="1" i="0" u="sng" lang="es-SV">
                          <a:solidFill>
                            <a:srgbClr val="00376E"/>
                          </a:solidFill>
                          <a:latin typeface="Arial"/>
                        </a:rPr>
                        <a:t>de la Cooperativa identificados y priorizados como críticos en el Análisis de Impacto del Negocio (BIA)</a:t>
                      </a:r>
                      <a:r>
                        <a:rPr sz="1000" b="0" i="0" lang="es-SV">
                          <a:solidFill>
                            <a:srgbClr val="1B2333"/>
                          </a:solidFill>
                          <a:latin typeface="Arial"/>
                        </a:rPr>
                        <a:t>, relacionados con la entrega de productos o servicios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vincula al BIA del Sistema de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a:t>
                      </a:r>
                    </a:p>
                    <a:p>
                      <a:pPr algn="just"/>
                      <a:r>
                        <a:rPr sz="1000" b="1" i="0" dirty="0" lang="es-SV">
                          <a:solidFill>
                            <a:srgbClr val="00376E"/>
                          </a:solidFill>
                          <a:latin typeface="Arial"/>
                        </a:rPr>
                        <a:t>NRP-24, arts. 6, lit. c y 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1F20B8AB-37B8-576B-081F-C07E25843CCF}"/>
              </a:ext>
            </a:extLst>
          </p:cNvPr>
          <p:cNvGraphicFramePr>
            <a:graphicFrameLocks noGrp="1"/>
          </p:cNvGraphicFramePr>
          <p:nvPr>
            <p:extLst>
              <p:ext uri="{D42A27DB-BD31-4B8C-83A1-F6EECF244321}">
                <p14:modId xmlns:p14="http://schemas.microsoft.com/office/powerpoint/2010/main" val="3366584696"/>
              </p:ext>
            </p:extLst>
          </p:nvPr>
        </p:nvGraphicFramePr>
        <p:xfrm>
          <a:off x="536067" y="3528822"/>
          <a:ext cx="11091672" cy="29565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Es </a:t>
                      </a:r>
                      <a:r>
                        <a:rPr sz="1000" b="0" i="0" dirty="0" lang="es-SV">
                          <a:solidFill>
                            <a:srgbClr val="1B2333"/>
                          </a:solidFill>
                          <a:latin typeface="Arial"/>
                        </a:rPr>
                        <a:t>una</a:t>
                      </a:r>
                      <a:r>
                        <a:rPr sz="1000" b="0" i="0" dirty="0" lang="es-SV">
                          <a:solidFill>
                            <a:srgbClr val="1B2333"/>
                          </a:solidFill>
                          <a:latin typeface="Arial"/>
                        </a:rPr>
                        <a:t> persona natural o </a:t>
                      </a:r>
                      <a:r>
                        <a:rPr sz="1000" b="0" i="0" dirty="0" lang="es-SV">
                          <a:solidFill>
                            <a:srgbClr val="1B2333"/>
                          </a:solidFill>
                          <a:latin typeface="Arial"/>
                        </a:rPr>
                        <a:t>jurídica</a:t>
                      </a:r>
                      <a:r>
                        <a:rPr sz="1000" b="0" i="0" dirty="0" lang="es-SV">
                          <a:solidFill>
                            <a:srgbClr val="1B2333"/>
                          </a:solidFill>
                          <a:latin typeface="Arial"/>
                        </a:rPr>
                        <a:t>, a </a:t>
                      </a:r>
                      <a:r>
                        <a:rPr sz="1000" b="0" i="0" dirty="0" lang="es-SV">
                          <a:solidFill>
                            <a:srgbClr val="1B2333"/>
                          </a:solidFill>
                          <a:latin typeface="Arial"/>
                        </a:rPr>
                        <a:t>quien</a:t>
                      </a:r>
                      <a:r>
                        <a:rPr sz="1000" b="0" i="0" dirty="0" lang="es-SV">
                          <a:solidFill>
                            <a:srgbClr val="1B2333"/>
                          </a:solidFill>
                          <a:latin typeface="Arial"/>
                        </a:rPr>
                        <a:t> se </a:t>
                      </a:r>
                      <a:r>
                        <a:rPr sz="1000" b="0" i="0" dirty="0" lang="es-SV">
                          <a:solidFill>
                            <a:srgbClr val="1B2333"/>
                          </a:solidFill>
                          <a:latin typeface="Arial"/>
                        </a:rPr>
                        <a:t>delega</a:t>
                      </a:r>
                      <a:r>
                        <a:rPr sz="1000" b="0" i="0" dirty="0" lang="es-SV">
                          <a:solidFill>
                            <a:srgbClr val="1B2333"/>
                          </a:solidFill>
                          <a:latin typeface="Arial"/>
                        </a:rPr>
                        <a:t> </a:t>
                      </a:r>
                      <a:r>
                        <a:rPr sz="1000" b="0" i="0" dirty="0" lang="es-SV">
                          <a:solidFill>
                            <a:srgbClr val="1B2333"/>
                          </a:solidFill>
                          <a:latin typeface="Arial"/>
                        </a:rPr>
                        <a:t>operaciones</a:t>
                      </a:r>
                      <a:r>
                        <a:rPr sz="1000" b="0" i="0" dirty="0" lang="es-SV">
                          <a:solidFill>
                            <a:srgbClr val="1B2333"/>
                          </a:solidFill>
                          <a:latin typeface="Arial"/>
                        </a:rPr>
                        <a:t> de la </a:t>
                      </a:r>
                      <a:r>
                        <a:rPr sz="1000" b="0" i="0" dirty="0" lang="es-SV">
                          <a:solidFill>
                            <a:srgbClr val="1B2333"/>
                          </a:solidFill>
                          <a:latin typeface="Arial"/>
                        </a:rPr>
                        <a:t>actividad</a:t>
                      </a:r>
                      <a:r>
                        <a:rPr sz="1000" b="0" i="0" dirty="0" lang="es-SV">
                          <a:solidFill>
                            <a:srgbClr val="1B2333"/>
                          </a:solidFill>
                          <a:latin typeface="Arial"/>
                        </a:rPr>
                        <a:t> o </a:t>
                      </a:r>
                      <a:r>
                        <a:rPr sz="1000" b="0" i="0" dirty="0" lang="es-SV">
                          <a:solidFill>
                            <a:srgbClr val="1B2333"/>
                          </a:solidFill>
                          <a:latin typeface="Arial"/>
                        </a:rPr>
                        <a:t>giro</a:t>
                      </a:r>
                      <a:r>
                        <a:rPr sz="1000" b="0" i="0" dirty="0" lang="es-SV">
                          <a:solidFill>
                            <a:srgbClr val="1B2333"/>
                          </a:solidFill>
                          <a:latin typeface="Arial"/>
                        </a:rPr>
                        <a:t> principal de la Cooperativa, y la no </a:t>
                      </a:r>
                      <a:r>
                        <a:rPr sz="1000" b="0" i="0" dirty="0" lang="es-SV">
                          <a:solidFill>
                            <a:srgbClr val="1B2333"/>
                          </a:solidFill>
                          <a:latin typeface="Arial"/>
                        </a:rPr>
                        <a:t>disponibilidad</a:t>
                      </a:r>
                      <a:r>
                        <a:rPr sz="1000" b="0" i="0" dirty="0" lang="es-SV">
                          <a:solidFill>
                            <a:srgbClr val="1B2333"/>
                          </a:solidFill>
                          <a:latin typeface="Arial"/>
                        </a:rPr>
                        <a:t> </a:t>
                      </a:r>
                      <a:r>
                        <a:rPr sz="1000" b="0" i="0" dirty="0" lang="es-SV">
                          <a:solidFill>
                            <a:srgbClr val="1B2333"/>
                          </a:solidFill>
                          <a:latin typeface="Arial"/>
                        </a:rPr>
                        <a:t>interrumpe</a:t>
                      </a:r>
                      <a:r>
                        <a:rPr sz="1000" b="0" i="0" dirty="0" lang="es-SV">
                          <a:solidFill>
                            <a:srgbClr val="1B2333"/>
                          </a:solidFill>
                          <a:latin typeface="Arial"/>
                        </a:rPr>
                        <a:t> la </a:t>
                      </a:r>
                      <a:r>
                        <a:rPr sz="1000" b="0" i="0" dirty="0" lang="es-SV">
                          <a:solidFill>
                            <a:srgbClr val="1B2333"/>
                          </a:solidFill>
                          <a:latin typeface="Arial"/>
                        </a:rPr>
                        <a:t>prestación</a:t>
                      </a:r>
                      <a:r>
                        <a:rPr sz="1000" b="0" i="0" dirty="0" lang="es-SV">
                          <a:solidFill>
                            <a:srgbClr val="1B2333"/>
                          </a:solidFill>
                          <a:latin typeface="Arial"/>
                        </a:rPr>
                        <a:t> de </a:t>
                      </a:r>
                      <a:r>
                        <a:rPr sz="1000" b="0" i="0" dirty="0" lang="es-SV">
                          <a:solidFill>
                            <a:srgbClr val="1B2333"/>
                          </a:solidFill>
                          <a:latin typeface="Arial"/>
                        </a:rPr>
                        <a:t>productos</a:t>
                      </a:r>
                      <a:r>
                        <a:rPr sz="1000" b="0" i="0" dirty="0" lang="es-SV">
                          <a:solidFill>
                            <a:srgbClr val="1B2333"/>
                          </a:solidFill>
                          <a:latin typeface="Arial"/>
                        </a:rPr>
                        <a:t> y </a:t>
                      </a:r>
                      <a:r>
                        <a:rPr sz="1000" b="0" i="0" dirty="0" lang="es-SV">
                          <a:solidFill>
                            <a:srgbClr val="1B2333"/>
                          </a:solidFill>
                          <a:latin typeface="Arial"/>
                        </a:rPr>
                        <a:t>servicios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1" i="0" u="sng" dirty="0" lang="es-SV">
                          <a:solidFill>
                            <a:srgbClr val="00376E"/>
                          </a:solidFill>
                          <a:latin typeface="Arial"/>
                        </a:rPr>
                        <a:t>Son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brindados</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a:t>
                      </a:r>
                      <a:r>
                        <a:rPr sz="1000" b="1" i="0" u="sng" dirty="0" lang="es-SV">
                          <a:solidFill>
                            <a:srgbClr val="00376E"/>
                          </a:solidFill>
                          <a:latin typeface="Arial"/>
                        </a:rPr>
                        <a:t>terceros</a:t>
                      </a:r>
                      <a:r>
                        <a:rPr sz="1000" b="1" i="0" u="sng" dirty="0" lang="es-SV">
                          <a:solidFill>
                            <a:srgbClr val="00376E"/>
                          </a:solidFill>
                          <a:latin typeface="Arial"/>
                        </a:rPr>
                        <a:t>, es </a:t>
                      </a:r>
                      <a:r>
                        <a:rPr sz="1000" b="1" i="0" u="sng" dirty="0" lang="es-SV">
                          <a:solidFill>
                            <a:srgbClr val="00376E"/>
                          </a:solidFill>
                          <a:latin typeface="Arial"/>
                        </a:rPr>
                        <a:t>decir</a:t>
                      </a:r>
                      <a:r>
                        <a:rPr sz="1000" b="1" i="0" u="sng" dirty="0" lang="es-SV">
                          <a:solidFill>
                            <a:srgbClr val="00376E"/>
                          </a:solidFill>
                          <a:latin typeface="Arial"/>
                        </a:rPr>
                        <a:t> </a:t>
                      </a:r>
                      <a:r>
                        <a:rPr sz="1000" b="1" i="0" u="sng" dirty="0" lang="es-SV">
                          <a:solidFill>
                            <a:srgbClr val="00376E"/>
                          </a:solidFill>
                          <a:latin typeface="Arial"/>
                        </a:rPr>
                        <a:t>aquellos</a:t>
                      </a:r>
                      <a:r>
                        <a:rPr sz="1000" b="1" i="0" u="sng" dirty="0" lang="es-SV">
                          <a:solidFill>
                            <a:srgbClr val="00376E"/>
                          </a:solidFill>
                          <a:latin typeface="Arial"/>
                        </a:rPr>
                        <a:t> </a:t>
                      </a:r>
                      <a:r>
                        <a:rPr sz="1000" b="1" i="0" u="sng" dirty="0" lang="es-SV">
                          <a:solidFill>
                            <a:srgbClr val="00376E"/>
                          </a:solidFill>
                          <a:latin typeface="Arial"/>
                        </a:rPr>
                        <a:t>que</a:t>
                      </a:r>
                      <a:r>
                        <a:rPr sz="1000" b="1" i="0" u="sng" dirty="0" lang="es-SV">
                          <a:solidFill>
                            <a:srgbClr val="00376E"/>
                          </a:solidFill>
                          <a:latin typeface="Arial"/>
                        </a:rPr>
                        <a:t> </a:t>
                      </a:r>
                      <a:r>
                        <a:rPr sz="1000" b="1" i="0" u="sng" dirty="0" lang="es-SV">
                          <a:solidFill>
                            <a:srgbClr val="00376E"/>
                          </a:solidFill>
                          <a:latin typeface="Arial"/>
                        </a:rPr>
                        <a:t>puedan</a:t>
                      </a:r>
                      <a:r>
                        <a:rPr sz="1000" b="1" i="0" u="sng" dirty="0" lang="es-SV">
                          <a:solidFill>
                            <a:srgbClr val="00376E"/>
                          </a:solidFill>
                          <a:latin typeface="Arial"/>
                        </a:rPr>
                        <a:t> </a:t>
                      </a:r>
                      <a:r>
                        <a:rPr sz="1000" b="1" i="0" u="sng" dirty="0" lang="es-SV">
                          <a:solidFill>
                            <a:srgbClr val="00376E"/>
                          </a:solidFill>
                          <a:latin typeface="Arial"/>
                        </a:rPr>
                        <a:t>interrumpir</a:t>
                      </a:r>
                      <a:r>
                        <a:rPr sz="1000" b="1" i="0" u="sng" dirty="0" lang="es-SV">
                          <a:solidFill>
                            <a:srgbClr val="00376E"/>
                          </a:solidFill>
                          <a:latin typeface="Arial"/>
                        </a:rPr>
                        <a:t> el normal </a:t>
                      </a:r>
                      <a:r>
                        <a:rPr sz="1000" b="1" i="0" u="sng" dirty="0" lang="es-SV">
                          <a:solidFill>
                            <a:srgbClr val="00376E"/>
                          </a:solidFill>
                          <a:latin typeface="Arial"/>
                        </a:rPr>
                        <a:t>desarrollo</a:t>
                      </a:r>
                      <a:r>
                        <a:rPr sz="1000" b="1" i="0" u="sng" dirty="0" lang="es-SV">
                          <a:solidFill>
                            <a:srgbClr val="00376E"/>
                          </a:solidFill>
                          <a:latin typeface="Arial"/>
                        </a:rPr>
                        <a:t> de las </a:t>
                      </a:r>
                      <a:r>
                        <a:rPr sz="1000" b="1" i="0" u="sng" dirty="0" lang="es-SV">
                          <a:solidFill>
                            <a:srgbClr val="00376E"/>
                          </a:solidFill>
                          <a:latin typeface="Arial"/>
                        </a:rPr>
                        <a:t>operaciones</a:t>
                      </a:r>
                      <a:r>
                        <a:rPr sz="1000" b="1" i="0" u="sng" dirty="0" lang="es-SV">
                          <a:solidFill>
                            <a:srgbClr val="00376E"/>
                          </a:solidFill>
                          <a:latin typeface="Arial"/>
                        </a:rPr>
                        <a:t> de la Cooperativa, </a:t>
                      </a:r>
                      <a:r>
                        <a:rPr sz="1000" b="1" i="0" u="sng" dirty="0" lang="es-SV">
                          <a:solidFill>
                            <a:srgbClr val="00376E"/>
                          </a:solidFill>
                          <a:latin typeface="Arial"/>
                        </a:rPr>
                        <a:t>identificados</a:t>
                      </a:r>
                      <a:r>
                        <a:rPr sz="1000" b="1" i="0" u="sng" dirty="0" lang="es-SV">
                          <a:solidFill>
                            <a:srgbClr val="00376E"/>
                          </a:solidFill>
                          <a:latin typeface="Arial"/>
                        </a:rPr>
                        <a:t> </a:t>
                      </a:r>
                      <a:r>
                        <a:rPr sz="1000" b="1" i="0" u="sng" dirty="0" lang="es-SV">
                          <a:solidFill>
                            <a:srgbClr val="00376E"/>
                          </a:solidFill>
                          <a:latin typeface="Arial"/>
                        </a:rPr>
                        <a:t>conforme</a:t>
                      </a:r>
                      <a:r>
                        <a:rPr sz="1000" b="1" i="0" u="sng" dirty="0" lang="es-SV">
                          <a:solidFill>
                            <a:srgbClr val="00376E"/>
                          </a:solidFill>
                          <a:latin typeface="Arial"/>
                        </a:rPr>
                        <a:t> a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criterios</a:t>
                      </a:r>
                      <a:r>
                        <a:rPr sz="1000" b="1" i="0" u="sng" dirty="0" lang="es-SV">
                          <a:solidFill>
                            <a:srgbClr val="00376E"/>
                          </a:solidFill>
                          <a:latin typeface="Arial"/>
                        </a:rPr>
                        <a:t> del </a:t>
                      </a:r>
                      <a:r>
                        <a:rPr sz="1000" b="1" i="0" u="sng" dirty="0" lang="es-SV">
                          <a:solidFill>
                            <a:srgbClr val="00376E"/>
                          </a:solidFill>
                          <a:latin typeface="Arial"/>
                        </a:rPr>
                        <a:t>apartado</a:t>
                      </a:r>
                      <a:r>
                        <a:rPr sz="1000" b="1" i="0" u="sng" dirty="0" lang="es-SV">
                          <a:solidFill>
                            <a:srgbClr val="00376E"/>
                          </a:solidFill>
                          <a:latin typeface="Arial"/>
                        </a:rPr>
                        <a:t> V.</a:t>
                      </a:r>
                    </a:p>
                    <a:p>
                      <a:pPr algn="just"/>
                      <a:r>
                        <a:rPr sz="1000" b="1" i="0" u="sng" dirty="0" lang="es-SV">
                          <a:solidFill>
                            <a:srgbClr val="00376E"/>
                          </a:solidFill>
                          <a:latin typeface="Arial"/>
                        </a:rPr>
                        <a:t>Proveedor</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Tercerizados</a:t>
                      </a:r>
                      <a:r>
                        <a:rPr sz="1000" b="1" i="0" u="sng" dirty="0" lang="es-SV">
                          <a:solidFill>
                            <a:srgbClr val="00376E"/>
                          </a:solidFill>
                          <a:latin typeface="Arial"/>
                        </a:rPr>
                        <a:t>: Persona natural o </a:t>
                      </a:r>
                      <a:r>
                        <a:rPr sz="1000" b="1" i="0" u="sng" dirty="0" lang="es-SV">
                          <a:solidFill>
                            <a:srgbClr val="00376E"/>
                          </a:solidFill>
                          <a:latin typeface="Arial"/>
                        </a:rPr>
                        <a:t>jurídica</a:t>
                      </a:r>
                      <a:r>
                        <a:rPr sz="1000" b="1" i="0" u="sng" dirty="0" lang="es-SV">
                          <a:solidFill>
                            <a:srgbClr val="00376E"/>
                          </a:solidFill>
                          <a:latin typeface="Arial"/>
                        </a:rPr>
                        <a:t> </a:t>
                      </a:r>
                      <a:r>
                        <a:rPr sz="1000" b="1" i="0" u="sng" dirty="0" lang="es-SV">
                          <a:solidFill>
                            <a:srgbClr val="00376E"/>
                          </a:solidFill>
                          <a:latin typeface="Arial"/>
                        </a:rPr>
                        <a:t>distinta</a:t>
                      </a:r>
                      <a:r>
                        <a:rPr sz="1000" b="1" i="0" u="sng" dirty="0" lang="es-SV">
                          <a:solidFill>
                            <a:srgbClr val="00376E"/>
                          </a:solidFill>
                          <a:latin typeface="Arial"/>
                        </a:rPr>
                        <a:t> a la Cooperativa a </a:t>
                      </a:r>
                      <a:r>
                        <a:rPr sz="1000" b="1" i="0" u="sng" dirty="0" lang="es-SV">
                          <a:solidFill>
                            <a:srgbClr val="00376E"/>
                          </a:solidFill>
                          <a:latin typeface="Arial"/>
                        </a:rPr>
                        <a:t>quien</a:t>
                      </a:r>
                      <a:r>
                        <a:rPr sz="1000" b="1" i="0" u="sng" dirty="0" lang="es-SV">
                          <a:solidFill>
                            <a:srgbClr val="00376E"/>
                          </a:solidFill>
                          <a:latin typeface="Arial"/>
                        </a:rPr>
                        <a:t> se </a:t>
                      </a:r>
                      <a:r>
                        <a:rPr sz="1000" b="1" i="0" u="sng" dirty="0" lang="es-SV">
                          <a:solidFill>
                            <a:srgbClr val="00376E"/>
                          </a:solidFill>
                          <a:latin typeface="Arial"/>
                        </a:rPr>
                        <a:t>encarga</a:t>
                      </a:r>
                      <a:r>
                        <a:rPr sz="1000" b="1" i="0" u="sng" dirty="0" lang="es-SV">
                          <a:solidFill>
                            <a:srgbClr val="00376E"/>
                          </a:solidFill>
                          <a:latin typeface="Arial"/>
                        </a:rPr>
                        <a:t> la </a:t>
                      </a:r>
                      <a:r>
                        <a:rPr sz="1000" b="1" i="0" u="sng" dirty="0" lang="es-SV">
                          <a:solidFill>
                            <a:srgbClr val="00376E"/>
                          </a:solidFill>
                          <a:latin typeface="Arial"/>
                        </a:rPr>
                        <a:t>prestación</a:t>
                      </a:r>
                      <a:r>
                        <a:rPr sz="1000" b="1" i="0" u="sng" dirty="0" lang="es-SV">
                          <a:solidFill>
                            <a:srgbClr val="00376E"/>
                          </a:solidFill>
                          <a:latin typeface="Arial"/>
                        </a:rPr>
                        <a:t> de un Servicio </a:t>
                      </a:r>
                      <a:r>
                        <a:rPr sz="1000" b="1" i="0" u="sng" dirty="0" lang="es-SV">
                          <a:solidFill>
                            <a:srgbClr val="00376E"/>
                          </a:solidFill>
                          <a:latin typeface="Arial"/>
                        </a:rPr>
                        <a:t>Crítico</a:t>
                      </a:r>
                      <a:r>
                        <a:rPr sz="1000" b="1" i="0" u="sng" dirty="0" lang="es-SV">
                          <a:solidFill>
                            <a:srgbClr val="00376E"/>
                          </a:solidFill>
                          <a:latin typeface="Arial"/>
                        </a:rPr>
                        <a:t> </a:t>
                      </a:r>
                      <a:r>
                        <a:rPr sz="1000" b="1" i="0" u="sng" dirty="0" lang="es-SV">
                          <a:solidFill>
                            <a:srgbClr val="00376E"/>
                          </a:solidFill>
                          <a:latin typeface="Arial"/>
                        </a:rPr>
                        <a:t>Tercerizado</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Corrige</a:t>
                      </a:r>
                      <a:r>
                        <a:rPr sz="1000" b="0" i="0" dirty="0" lang="es-SV">
                          <a:solidFill>
                            <a:srgbClr val="1B2333"/>
                          </a:solidFill>
                          <a:latin typeface="Arial"/>
                        </a:rPr>
                        <a:t> la V03,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definía</a:t>
                      </a:r>
                      <a:r>
                        <a:rPr sz="1000" b="0" i="0" dirty="0" lang="es-SV">
                          <a:solidFill>
                            <a:srgbClr val="1B2333"/>
                          </a:solidFill>
                          <a:latin typeface="Arial"/>
                        </a:rPr>
                        <a:t> el </a:t>
                      </a:r>
                      <a:r>
                        <a:rPr sz="1000" b="0" i="0" dirty="0" lang="es-SV">
                          <a:solidFill>
                            <a:srgbClr val="1B2333"/>
                          </a:solidFill>
                          <a:latin typeface="Arial"/>
                        </a:rPr>
                        <a:t>servicio</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persona. Se </a:t>
                      </a:r>
                      <a:r>
                        <a:rPr sz="1000" b="0" i="0" dirty="0" lang="es-SV">
                          <a:solidFill>
                            <a:srgbClr val="1B2333"/>
                          </a:solidFill>
                          <a:latin typeface="Arial"/>
                        </a:rPr>
                        <a:t>separa</a:t>
                      </a:r>
                      <a:r>
                        <a:rPr sz="1000" b="0" i="0" dirty="0" lang="es-SV">
                          <a:solidFill>
                            <a:srgbClr val="1B2333"/>
                          </a:solidFill>
                          <a:latin typeface="Arial"/>
                        </a:rPr>
                        <a:t> el </a:t>
                      </a:r>
                      <a:r>
                        <a:rPr sz="1000" b="0" i="0" dirty="0" lang="es-SV">
                          <a:solidFill>
                            <a:srgbClr val="1B2333"/>
                          </a:solidFill>
                          <a:latin typeface="Arial"/>
                        </a:rPr>
                        <a:t>servicio</a:t>
                      </a:r>
                      <a:r>
                        <a:rPr sz="1000" b="0" i="0" dirty="0" lang="es-SV">
                          <a:solidFill>
                            <a:srgbClr val="1B2333"/>
                          </a:solidFill>
                          <a:latin typeface="Arial"/>
                        </a:rPr>
                        <a:t> del </a:t>
                      </a:r>
                      <a:r>
                        <a:rPr sz="1000" b="0" i="0" dirty="0" lang="es-SV">
                          <a:solidFill>
                            <a:srgbClr val="1B2333"/>
                          </a:solidFill>
                          <a:latin typeface="Arial"/>
                        </a:rPr>
                        <a:t>proveedor</a:t>
                      </a:r>
                      <a:r>
                        <a:rPr sz="1000" b="0" i="0" dirty="0" lang="es-SV">
                          <a:solidFill>
                            <a:srgbClr val="1B2333"/>
                          </a:solidFill>
                          <a:latin typeface="Arial"/>
                        </a:rPr>
                        <a:t>.</a:t>
                      </a:r>
                    </a:p>
                    <a:p>
                      <a:pPr algn="just"/>
                      <a:r>
                        <a:rPr sz="1000" b="1" i="0" dirty="0" lang="es-SV">
                          <a:solidFill>
                            <a:srgbClr val="00376E"/>
                          </a:solidFill>
                          <a:latin typeface="Arial"/>
                        </a:rPr>
                        <a:t>NRP-42, art. 4 · NRP-24, art. 3, lit. y</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 No Crítico Tercerizado: Es una persona natural o jurídica que brinda productos o servicios, pero que la no disponibilidad de los mismos, no detiene la continuidad del negocio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 No Crítico Tercerizado: Es </a:t>
                      </a:r>
                      <a:r>
                        <a:rPr sz="1000" b="1" i="0" u="sng" lang="es-SV">
                          <a:solidFill>
                            <a:srgbClr val="00376E"/>
                          </a:solidFill>
                          <a:latin typeface="Arial"/>
                        </a:rPr>
                        <a:t>el servicio prestado por un tercero</a:t>
                      </a:r>
                      <a:r>
                        <a:rPr sz="1000" b="0" i="0" lang="es-SV">
                          <a:solidFill>
                            <a:srgbClr val="1B2333"/>
                          </a:solidFill>
                          <a:latin typeface="Arial"/>
                        </a:rPr>
                        <a:t> cuya no disponibilidad no detiene la continuidad del negocio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Misma</a:t>
                      </a:r>
                      <a:r>
                        <a:rPr sz="1000" b="0" i="0" dirty="0" lang="es-SV">
                          <a:solidFill>
                            <a:srgbClr val="1B2333"/>
                          </a:solidFill>
                          <a:latin typeface="Arial"/>
                        </a:rPr>
                        <a:t> </a:t>
                      </a:r>
                      <a:r>
                        <a:rPr sz="1000" b="0" i="0" dirty="0" lang="es-SV">
                          <a:solidFill>
                            <a:srgbClr val="1B2333"/>
                          </a:solidFill>
                          <a:latin typeface="Arial"/>
                        </a:rPr>
                        <a:t>corrección</a:t>
                      </a:r>
                      <a:r>
                        <a:rPr sz="1000" b="0" i="0" dirty="0" lang="es-SV">
                          <a:solidFill>
                            <a:srgbClr val="1B2333"/>
                          </a:solidFill>
                          <a:latin typeface="Arial"/>
                        </a:rPr>
                        <a:t>: se define el </a:t>
                      </a:r>
                      <a:r>
                        <a:rPr sz="1000" b="0" i="0" dirty="0" lang="es-SV">
                          <a:solidFill>
                            <a:srgbClr val="1B2333"/>
                          </a:solidFill>
                          <a:latin typeface="Arial"/>
                        </a:rPr>
                        <a:t>servicio</a:t>
                      </a:r>
                      <a:r>
                        <a:rPr sz="1000" b="0" i="0" dirty="0" lang="es-SV">
                          <a:solidFill>
                            <a:srgbClr val="1B2333"/>
                          </a:solidFill>
                          <a:latin typeface="Arial"/>
                        </a:rPr>
                        <a:t>, no la persona.</a:t>
                      </a:r>
                    </a:p>
                    <a:p>
                      <a:pPr algn="just"/>
                      <a:r>
                        <a:rPr sz="1000" b="1" i="0" dirty="0" lang="es-SV">
                          <a:solidFill>
                            <a:srgbClr val="00376E"/>
                          </a:solidFill>
                          <a:latin typeface="Arial"/>
                        </a:rPr>
                        <a:t>Coherencia</a:t>
                      </a:r>
                      <a:r>
                        <a:rPr sz="1000" b="1" i="0" dirty="0" lang="es-SV">
                          <a:solidFill>
                            <a:srgbClr val="00376E"/>
                          </a:solidFill>
                          <a:latin typeface="Arial"/>
                        </a:rPr>
                        <a:t> con 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Riesgo operacional: Posibilidad de incurrir en pérdidas debido a fallas en los procesos, en las personas, en los sistemas de información y a causa de acontecimientos externos; incluye el riesgo legal.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6, lit. d · NRP-42, art. 3, lit. p</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Factor de riesgo operacional: Es la causa primaria o el origen de un evento operacional: procesos, personas, tecnología de información y acontecimientos externos.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NRP-42, art. 3, lit. h</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38303"/>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19150" y="138303"/>
            <a:ext cx="9966960" cy="400110"/>
          </a:xfrm>
          <a:prstGeom prst="rect">
            <a:avLst/>
          </a:prstGeom>
          <a:noFill/>
        </p:spPr>
        <p:txBody>
          <a:bodyPr wrap="square" lIns="0" tIns="0" rIns="0" bIns="0" anchor="ctr">
            <a:spAutoFit/>
          </a:bodyPr>
          <a:lstStyle/>
          <a:p>
            <a:pPr algn="l"/>
            <a:r>
              <a:rPr sz="2000" b="1" i="0" dirty="0" lang="es-SV">
                <a:solidFill>
                  <a:srgbClr val="00376E"/>
                </a:solidFill>
                <a:latin typeface="Century Gothic"/>
              </a:rPr>
              <a:t>III. </a:t>
            </a:r>
            <a:r>
              <a:rPr sz="2000" b="1" i="0" dirty="0" lang="es-SV">
                <a:solidFill>
                  <a:srgbClr val="00376E"/>
                </a:solidFill>
                <a:latin typeface="Century Gothic"/>
              </a:rPr>
              <a:t>Definiciones</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885758536"/>
              </p:ext>
            </p:extLst>
          </p:nvPr>
        </p:nvGraphicFramePr>
        <p:xfrm>
          <a:off x="548640" y="677609"/>
          <a:ext cx="11091672" cy="33040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(factor de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operacional</a:t>
                      </a:r>
                      <a:r>
                        <a:rPr sz="1000" b="1" i="0" u="sng" dirty="0" lang="es-SV">
                          <a:solidFill>
                            <a:srgbClr val="00376E"/>
                          </a:solidFill>
                          <a:latin typeface="Arial"/>
                        </a:rPr>
                        <a:t>): </a:t>
                      </a:r>
                      <a:r>
                        <a:rPr sz="1000" b="1" i="0" u="sng" dirty="0" lang="es-SV">
                          <a:solidFill>
                            <a:srgbClr val="00376E"/>
                          </a:solidFill>
                          <a:latin typeface="Arial"/>
                        </a:rPr>
                        <a:t>Comprende</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riesgos</a:t>
                      </a:r>
                      <a:r>
                        <a:rPr sz="1000" b="1" i="0" u="sng" dirty="0" lang="es-SV">
                          <a:solidFill>
                            <a:srgbClr val="00376E"/>
                          </a:solidFill>
                          <a:latin typeface="Arial"/>
                        </a:rPr>
                        <a:t> </a:t>
                      </a:r>
                      <a:r>
                        <a:rPr sz="1000" b="1" i="0" u="sng" dirty="0" lang="es-SV">
                          <a:solidFill>
                            <a:srgbClr val="00376E"/>
                          </a:solidFill>
                          <a:latin typeface="Arial"/>
                        </a:rPr>
                        <a:t>asociados</a:t>
                      </a:r>
                      <a:r>
                        <a:rPr sz="1000" b="1" i="0" u="sng" dirty="0" lang="es-SV">
                          <a:solidFill>
                            <a:srgbClr val="00376E"/>
                          </a:solidFill>
                          <a:latin typeface="Arial"/>
                        </a:rPr>
                        <a:t> a la </a:t>
                      </a:r>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entre </a:t>
                      </a:r>
                      <a:r>
                        <a:rPr sz="1000" b="1" i="0" u="sng" dirty="0" lang="es-SV">
                          <a:solidFill>
                            <a:srgbClr val="00376E"/>
                          </a:solidFill>
                          <a:latin typeface="Arial"/>
                        </a:rPr>
                        <a:t>otros</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relacionados</a:t>
                      </a:r>
                      <a:r>
                        <a:rPr sz="1000" b="1" i="0" u="sng" dirty="0" lang="es-SV">
                          <a:solidFill>
                            <a:srgbClr val="00376E"/>
                          </a:solidFill>
                          <a:latin typeface="Arial"/>
                        </a:rPr>
                        <a:t> a </a:t>
                      </a:r>
                      <a:r>
                        <a:rPr sz="1000" b="1" i="0" u="sng" dirty="0" lang="es-SV">
                          <a:solidFill>
                            <a:srgbClr val="00376E"/>
                          </a:solidFill>
                          <a:latin typeface="Arial"/>
                        </a:rPr>
                        <a:t>fallas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la </a:t>
                      </a:r>
                      <a:r>
                        <a:rPr sz="1000" b="1" i="0" u="sng" dirty="0" lang="es-SV">
                          <a:solidFill>
                            <a:srgbClr val="00376E"/>
                          </a:solidFill>
                          <a:latin typeface="Arial"/>
                        </a:rPr>
                        <a:t>seguridad</a:t>
                      </a:r>
                      <a:r>
                        <a:rPr sz="1000" b="1" i="0" u="sng" dirty="0" lang="es-SV">
                          <a:solidFill>
                            <a:srgbClr val="00376E"/>
                          </a:solidFill>
                          <a:latin typeface="Arial"/>
                        </a:rPr>
                        <a:t> y </a:t>
                      </a:r>
                      <a:r>
                        <a:rPr sz="1000" b="1" i="0" u="sng" dirty="0" lang="es-SV">
                          <a:solidFill>
                            <a:srgbClr val="00376E"/>
                          </a:solidFill>
                          <a:latin typeface="Arial"/>
                        </a:rPr>
                        <a:t>continuidad</a:t>
                      </a:r>
                      <a:r>
                        <a:rPr sz="1000" b="1" i="0" u="sng" dirty="0" lang="es-SV">
                          <a:solidFill>
                            <a:srgbClr val="00376E"/>
                          </a:solidFill>
                          <a:latin typeface="Arial"/>
                        </a:rPr>
                        <a:t> </a:t>
                      </a:r>
                      <a:r>
                        <a:rPr sz="1000" b="1" i="0" u="sng" dirty="0" lang="es-SV">
                          <a:solidFill>
                            <a:srgbClr val="00376E"/>
                          </a:solidFill>
                          <a:latin typeface="Arial"/>
                        </a:rPr>
                        <a:t>operativa</a:t>
                      </a:r>
                      <a:r>
                        <a:rPr sz="1000" b="1" i="0" u="sng" dirty="0" lang="es-SV">
                          <a:solidFill>
                            <a:srgbClr val="00376E"/>
                          </a:solidFill>
                          <a:latin typeface="Arial"/>
                        </a:rPr>
                        <a:t> de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sistemas</a:t>
                      </a:r>
                      <a:r>
                        <a:rPr sz="1000" b="1" i="0" u="sng" dirty="0" lang="es-SV">
                          <a:solidFill>
                            <a:srgbClr val="00376E"/>
                          </a:solidFill>
                          <a:latin typeface="Arial"/>
                        </a:rPr>
                        <a:t> </a:t>
                      </a:r>
                      <a:r>
                        <a:rPr sz="1000" b="1" i="0" u="sng" dirty="0" lang="es-SV">
                          <a:solidFill>
                            <a:srgbClr val="00376E"/>
                          </a:solidFill>
                          <a:latin typeface="Arial"/>
                        </a:rPr>
                        <a:t>informáticos</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errores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desarrollo</a:t>
                      </a:r>
                      <a:r>
                        <a:rPr sz="1000" b="1" i="0" u="sng" dirty="0" lang="es-SV">
                          <a:solidFill>
                            <a:srgbClr val="00376E"/>
                          </a:solidFill>
                          <a:latin typeface="Arial"/>
                        </a:rPr>
                        <a:t> e </a:t>
                      </a:r>
                      <a:r>
                        <a:rPr sz="1000" b="1" i="0" u="sng" dirty="0" lang="es-SV">
                          <a:solidFill>
                            <a:srgbClr val="00376E"/>
                          </a:solidFill>
                          <a:latin typeface="Arial"/>
                        </a:rPr>
                        <a:t>implementación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compatibilidad</a:t>
                      </a:r>
                      <a:r>
                        <a:rPr sz="1000" b="1" i="0" u="sng" dirty="0" lang="es-SV">
                          <a:solidFill>
                            <a:srgbClr val="00376E"/>
                          </a:solidFill>
                          <a:latin typeface="Arial"/>
                        </a:rPr>
                        <a:t> e </a:t>
                      </a:r>
                      <a:r>
                        <a:rPr sz="1000" b="1" i="0" u="sng" dirty="0" lang="es-SV">
                          <a:solidFill>
                            <a:srgbClr val="00376E"/>
                          </a:solidFill>
                          <a:latin typeface="Arial"/>
                        </a:rPr>
                        <a:t>integración</a:t>
                      </a:r>
                      <a:r>
                        <a:rPr sz="1000" b="1" i="0" u="sng" dirty="0" lang="es-SV">
                          <a:solidFill>
                            <a:srgbClr val="00376E"/>
                          </a:solidFill>
                          <a:latin typeface="Arial"/>
                        </a:rPr>
                        <a:t>, la </a:t>
                      </a:r>
                      <a:r>
                        <a:rPr sz="1000" b="1" i="0" u="sng" dirty="0" lang="es-SV">
                          <a:solidFill>
                            <a:srgbClr val="00376E"/>
                          </a:solidFill>
                          <a:latin typeface="Arial"/>
                        </a:rPr>
                        <a:t>calidad</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y </a:t>
                      </a:r>
                      <a:r>
                        <a:rPr sz="1000" b="1" i="0" u="sng" dirty="0" lang="es-SV">
                          <a:solidFill>
                            <a:srgbClr val="00376E"/>
                          </a:solidFill>
                          <a:latin typeface="Arial"/>
                        </a:rPr>
                        <a:t>una</a:t>
                      </a:r>
                      <a:r>
                        <a:rPr sz="1000" b="1" i="0" u="sng" dirty="0" lang="es-SV">
                          <a:solidFill>
                            <a:srgbClr val="00376E"/>
                          </a:solidFill>
                          <a:latin typeface="Arial"/>
                        </a:rPr>
                        <a:t> </a:t>
                      </a:r>
                      <a:r>
                        <a:rPr sz="1000" b="1" i="0" u="sng" dirty="0" lang="es-SV">
                          <a:solidFill>
                            <a:srgbClr val="00376E"/>
                          </a:solidFill>
                          <a:latin typeface="Arial"/>
                        </a:rPr>
                        <a:t>adecuada</a:t>
                      </a:r>
                      <a:r>
                        <a:rPr sz="1000" b="1" i="0" u="sng" dirty="0" lang="es-SV">
                          <a:solidFill>
                            <a:srgbClr val="00376E"/>
                          </a:solidFill>
                          <a:latin typeface="Arial"/>
                        </a:rPr>
                        <a:t> </a:t>
                      </a:r>
                      <a:r>
                        <a:rPr sz="1000" b="1" i="0" u="sng" dirty="0" lang="es-SV">
                          <a:solidFill>
                            <a:srgbClr val="00376E"/>
                          </a:solidFill>
                          <a:latin typeface="Arial"/>
                        </a:rPr>
                        <a:t>inversión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tecnología</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Nombre y </a:t>
                      </a:r>
                      <a:r>
                        <a:rPr sz="1000" b="0" i="0" dirty="0" lang="es-SV">
                          <a:solidFill>
                            <a:srgbClr val="1B2333"/>
                          </a:solidFill>
                          <a:latin typeface="Arial"/>
                        </a:rPr>
                        <a:t>definición</a:t>
                      </a:r>
                      <a:r>
                        <a:rPr sz="1000" b="0" i="0" dirty="0" lang="es-SV">
                          <a:solidFill>
                            <a:srgbClr val="1B2333"/>
                          </a:solidFill>
                          <a:latin typeface="Arial"/>
                        </a:rPr>
                        <a:t>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NRP-42, art. 8,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Evento de riesgo operacional: Es un suceso o serie de sucesos, de origen interno o externo, que incluyen los incidentes ocurridos y eventos potenciales que pudieren generar pérdidas económicas.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NRP-42, art. 3, lit. g</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Riesgo de liquidez: Es la posibilidad de incurrir en pérdidas por no disponer de los recursos suficientes para cumplir con las obligaciones asumidas, incurrir en costos excesivos y no poder desarrollar el negocio en las condiciones previstas.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6,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Riesgo reputacional: Es la posibilidad de incurrir en pérdidas, producto del deterioro de imagen de la entidad, debido al incumplimiento de leyes, normas internas, códigos de gobierno corporativo, códigos de conducta, entre otros.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36F1EA08-266E-077A-4CB3-40B5F62FA96A}"/>
              </a:ext>
            </a:extLst>
          </p:cNvPr>
          <p:cNvGraphicFramePr>
            <a:graphicFrameLocks noGrp="1"/>
          </p:cNvGraphicFramePr>
          <p:nvPr>
            <p:extLst>
              <p:ext uri="{D42A27DB-BD31-4B8C-83A1-F6EECF244321}">
                <p14:modId xmlns:p14="http://schemas.microsoft.com/office/powerpoint/2010/main" val="3111678250"/>
              </p:ext>
            </p:extLst>
          </p:nvPr>
        </p:nvGraphicFramePr>
        <p:xfrm>
          <a:off x="548640" y="3981641"/>
          <a:ext cx="11091672" cy="24993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Acuerdo</a:t>
                      </a:r>
                      <a:r>
                        <a:rPr sz="1000" b="1" i="0" u="sng" dirty="0" lang="es-SV">
                          <a:solidFill>
                            <a:srgbClr val="00376E"/>
                          </a:solidFill>
                          <a:latin typeface="Arial"/>
                        </a:rPr>
                        <a:t> de </a:t>
                      </a:r>
                      <a:r>
                        <a:rPr sz="1000" b="1" i="0" u="sng" dirty="0" lang="es-SV">
                          <a:solidFill>
                            <a:srgbClr val="00376E"/>
                          </a:solidFill>
                          <a:latin typeface="Arial"/>
                        </a:rPr>
                        <a:t>Niveles</a:t>
                      </a:r>
                      <a:r>
                        <a:rPr sz="1000" b="1" i="0" u="sng" dirty="0" lang="es-SV">
                          <a:solidFill>
                            <a:srgbClr val="00376E"/>
                          </a:solidFill>
                          <a:latin typeface="Arial"/>
                        </a:rPr>
                        <a:t> de Servicio (SLA): </a:t>
                      </a:r>
                      <a:r>
                        <a:rPr sz="1000" b="1" i="0" u="sng" dirty="0" lang="es-SV">
                          <a:solidFill>
                            <a:srgbClr val="00376E"/>
                          </a:solidFill>
                          <a:latin typeface="Arial"/>
                        </a:rPr>
                        <a:t>Compromisos</a:t>
                      </a:r>
                      <a:r>
                        <a:rPr sz="1000" b="1" i="0" u="sng" dirty="0" lang="es-SV">
                          <a:solidFill>
                            <a:srgbClr val="00376E"/>
                          </a:solidFill>
                          <a:latin typeface="Arial"/>
                        </a:rPr>
                        <a:t> </a:t>
                      </a:r>
                      <a:r>
                        <a:rPr sz="1000" b="1" i="0" u="sng" dirty="0" lang="es-SV">
                          <a:solidFill>
                            <a:srgbClr val="00376E"/>
                          </a:solidFill>
                          <a:latin typeface="Arial"/>
                        </a:rPr>
                        <a:t>medibles</a:t>
                      </a:r>
                      <a:r>
                        <a:rPr sz="1000" b="1" i="0" u="sng" dirty="0" lang="es-SV">
                          <a:solidFill>
                            <a:srgbClr val="00376E"/>
                          </a:solidFill>
                          <a:latin typeface="Arial"/>
                        </a:rPr>
                        <a:t> de </a:t>
                      </a:r>
                      <a:r>
                        <a:rPr sz="1000" b="1" i="0" u="sng" dirty="0" lang="es-SV">
                          <a:solidFill>
                            <a:srgbClr val="00376E"/>
                          </a:solidFill>
                          <a:latin typeface="Arial"/>
                        </a:rPr>
                        <a:t>calidad</a:t>
                      </a:r>
                      <a:r>
                        <a:rPr sz="1000" b="1" i="0" u="sng" dirty="0" lang="es-SV">
                          <a:solidFill>
                            <a:srgbClr val="00376E"/>
                          </a:solidFill>
                          <a:latin typeface="Arial"/>
                        </a:rPr>
                        <a:t>, </a:t>
                      </a:r>
                      <a:r>
                        <a:rPr sz="1000" b="1" i="0" u="sng" dirty="0" lang="es-SV">
                          <a:solidFill>
                            <a:srgbClr val="00376E"/>
                          </a:solidFill>
                          <a:latin typeface="Arial"/>
                        </a:rPr>
                        <a:t>disponibilidad</a:t>
                      </a:r>
                      <a:r>
                        <a:rPr sz="1000" b="1" i="0" u="sng" dirty="0" lang="es-SV">
                          <a:solidFill>
                            <a:srgbClr val="00376E"/>
                          </a:solidFill>
                          <a:latin typeface="Arial"/>
                        </a:rPr>
                        <a:t>, </a:t>
                      </a:r>
                      <a:r>
                        <a:rPr sz="1000" b="1" i="0" u="sng" dirty="0" lang="es-SV">
                          <a:solidFill>
                            <a:srgbClr val="00376E"/>
                          </a:solidFill>
                          <a:latin typeface="Arial"/>
                        </a:rPr>
                        <a:t>capacidad</a:t>
                      </a:r>
                      <a:r>
                        <a:rPr sz="1000" b="1" i="0" u="sng" dirty="0" lang="es-SV">
                          <a:solidFill>
                            <a:srgbClr val="00376E"/>
                          </a:solidFill>
                          <a:latin typeface="Arial"/>
                        </a:rPr>
                        <a:t>, </a:t>
                      </a:r>
                      <a:r>
                        <a:rPr sz="1000" b="1" i="0" u="sng" dirty="0" lang="es-SV">
                          <a:solidFill>
                            <a:srgbClr val="00376E"/>
                          </a:solidFill>
                          <a:latin typeface="Arial"/>
                        </a:rPr>
                        <a:t>tiempos</a:t>
                      </a:r>
                      <a:r>
                        <a:rPr sz="1000" b="1" i="0" u="sng" dirty="0" lang="es-SV">
                          <a:solidFill>
                            <a:srgbClr val="00376E"/>
                          </a:solidFill>
                          <a:latin typeface="Arial"/>
                        </a:rPr>
                        <a:t> de </a:t>
                      </a:r>
                      <a:r>
                        <a:rPr sz="1000" b="1" i="0" u="sng" dirty="0" lang="es-SV">
                          <a:solidFill>
                            <a:srgbClr val="00376E"/>
                          </a:solidFill>
                          <a:latin typeface="Arial"/>
                        </a:rPr>
                        <a:t>respuesta</a:t>
                      </a:r>
                      <a:r>
                        <a:rPr sz="1000" b="1" i="0" u="sng" dirty="0" lang="es-SV">
                          <a:solidFill>
                            <a:srgbClr val="00376E"/>
                          </a:solidFill>
                          <a:latin typeface="Arial"/>
                        </a:rPr>
                        <a:t> y de </a:t>
                      </a:r>
                      <a:r>
                        <a:rPr sz="1000" b="1" i="0" u="sng" dirty="0" lang="es-SV">
                          <a:solidFill>
                            <a:srgbClr val="00376E"/>
                          </a:solidFill>
                          <a:latin typeface="Arial"/>
                        </a:rPr>
                        <a:t>recuperación</a:t>
                      </a:r>
                      <a:r>
                        <a:rPr sz="1000" b="1" i="0" u="sng" dirty="0" lang="es-SV">
                          <a:solidFill>
                            <a:srgbClr val="00376E"/>
                          </a:solidFill>
                          <a:latin typeface="Arial"/>
                        </a:rPr>
                        <a:t> </a:t>
                      </a:r>
                      <a:r>
                        <a:rPr sz="1000" b="1" i="0" u="sng" dirty="0" lang="es-SV">
                          <a:solidFill>
                            <a:srgbClr val="00376E"/>
                          </a:solidFill>
                          <a:latin typeface="Arial"/>
                        </a:rPr>
                        <a:t>pactados</a:t>
                      </a:r>
                      <a:r>
                        <a:rPr sz="1000" b="1" i="0" u="sng" dirty="0" lang="es-SV">
                          <a:solidFill>
                            <a:srgbClr val="00376E"/>
                          </a:solidFill>
                          <a:latin typeface="Arial"/>
                        </a:rPr>
                        <a:t> con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condiciones</a:t>
                      </a:r>
                      <a:r>
                        <a:rPr sz="1000" b="1" i="0" u="sng" dirty="0" lang="es-SV">
                          <a:solidFill>
                            <a:srgbClr val="00376E"/>
                          </a:solidFill>
                          <a:latin typeface="Arial"/>
                        </a:rPr>
                        <a:t> </a:t>
                      </a:r>
                      <a:r>
                        <a:rPr sz="1000" b="1" i="0" u="sng" dirty="0" lang="es-SV">
                          <a:solidFill>
                            <a:srgbClr val="00376E"/>
                          </a:solidFill>
                          <a:latin typeface="Arial"/>
                        </a:rPr>
                        <a:t>normales</a:t>
                      </a:r>
                      <a:r>
                        <a:rPr sz="1000" b="1" i="0" u="sng" dirty="0" lang="es-SV">
                          <a:solidFill>
                            <a:srgbClr val="00376E"/>
                          </a:solidFill>
                          <a:latin typeface="Arial"/>
                        </a:rPr>
                        <a:t> y de </a:t>
                      </a:r>
                      <a:r>
                        <a:rPr sz="1000" b="1" i="0" u="sng" dirty="0" lang="es-SV">
                          <a:solidFill>
                            <a:srgbClr val="00376E"/>
                          </a:solidFill>
                          <a:latin typeface="Arial"/>
                        </a:rPr>
                        <a:t>contingencia</a:t>
                      </a:r>
                      <a:r>
                        <a:rPr sz="1000" b="1" i="0" u="sng" dirty="0" lang="es-SV">
                          <a:solidFill>
                            <a:srgbClr val="00376E"/>
                          </a:solidFill>
                          <a:latin typeface="Arial"/>
                        </a:rPr>
                        <a:t> </a:t>
                      </a:r>
                      <a:r>
                        <a:rPr sz="1000" b="1" i="0" u="sng" dirty="0" lang="es-SV">
                          <a:solidFill>
                            <a:srgbClr val="00376E"/>
                          </a:solidFill>
                          <a:latin typeface="Arial"/>
                        </a:rPr>
                        <a:t>tras</a:t>
                      </a:r>
                      <a:r>
                        <a:rPr sz="1000" b="1" i="0" u="sng" dirty="0" lang="es-SV">
                          <a:solidFill>
                            <a:srgbClr val="00376E"/>
                          </a:solidFill>
                          <a:latin typeface="Arial"/>
                        </a:rPr>
                        <a:t> </a:t>
                      </a:r>
                      <a:r>
                        <a:rPr sz="1000" b="1" i="0" u="sng" dirty="0" lang="es-SV">
                          <a:solidFill>
                            <a:srgbClr val="00376E"/>
                          </a:solidFill>
                          <a:latin typeface="Arial"/>
                        </a:rPr>
                        <a:t>una</a:t>
                      </a:r>
                      <a:r>
                        <a:rPr sz="1000" b="1" i="0" u="sng" dirty="0" lang="es-SV">
                          <a:solidFill>
                            <a:srgbClr val="00376E"/>
                          </a:solidFill>
                          <a:latin typeface="Arial"/>
                        </a:rPr>
                        <a:t> </a:t>
                      </a:r>
                      <a:r>
                        <a:rPr sz="1000" b="1" i="0" u="sng" dirty="0" lang="es-SV">
                          <a:solidFill>
                            <a:srgbClr val="00376E"/>
                          </a:solidFill>
                          <a:latin typeface="Arial"/>
                        </a:rPr>
                        <a:t>interrupción</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Permite</a:t>
                      </a:r>
                      <a:r>
                        <a:rPr sz="1000" b="0" i="0" dirty="0" lang="es-SV">
                          <a:solidFill>
                            <a:srgbClr val="1B2333"/>
                          </a:solidFill>
                          <a:latin typeface="Arial"/>
                        </a:rPr>
                        <a:t> </a:t>
                      </a:r>
                      <a:r>
                        <a:rPr sz="1000" b="0" i="0" dirty="0" lang="es-SV">
                          <a:solidFill>
                            <a:srgbClr val="1B2333"/>
                          </a:solidFill>
                          <a:latin typeface="Arial"/>
                        </a:rPr>
                        <a:t>medir</a:t>
                      </a:r>
                      <a:r>
                        <a:rPr sz="1000" b="0" i="0" dirty="0" lang="es-SV">
                          <a:solidFill>
                            <a:srgbClr val="1B2333"/>
                          </a:solidFill>
                          <a:latin typeface="Arial"/>
                        </a:rPr>
                        <a:t> el </a:t>
                      </a:r>
                      <a:r>
                        <a:rPr sz="1000" b="0" i="0" dirty="0" lang="es-SV">
                          <a:solidFill>
                            <a:srgbClr val="1B2333"/>
                          </a:solidFill>
                          <a:latin typeface="Arial"/>
                        </a:rPr>
                        <a:t>cumplimiento</a:t>
                      </a:r>
                      <a:r>
                        <a:rPr sz="1000" b="0" i="0" dirty="0" lang="es-SV">
                          <a:solidFill>
                            <a:srgbClr val="1B2333"/>
                          </a:solidFill>
                          <a:latin typeface="Arial"/>
                        </a:rPr>
                        <a:t> del </a:t>
                      </a:r>
                      <a:r>
                        <a:rPr sz="1000" b="0" i="0" dirty="0" lang="es-SV">
                          <a:solidFill>
                            <a:srgbClr val="1B2333"/>
                          </a:solidFill>
                          <a:latin typeface="Arial"/>
                        </a:rPr>
                        <a:t>proveedor</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B, num. 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BIA, RTO, RPO y MTPD: Análisis de Impacto del Negocio; Tiempo Objetivo de Recuperación; Punto Objetivo de Recuperación; y Máximo Período Tolerable de Disrupción.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Parámetros</a:t>
                      </a:r>
                      <a:r>
                        <a:rPr sz="1000" b="0" i="0" dirty="0" lang="es-SV">
                          <a:solidFill>
                            <a:srgbClr val="1B2333"/>
                          </a:solidFill>
                          <a:latin typeface="Arial"/>
                        </a:rPr>
                        <a:t> de </a:t>
                      </a:r>
                      <a:r>
                        <a:rPr sz="1000" b="0" i="0" dirty="0" lang="es-SV">
                          <a:solidFill>
                            <a:srgbClr val="1B2333"/>
                          </a:solidFill>
                          <a:latin typeface="Arial"/>
                        </a:rPr>
                        <a:t>continuidad</a:t>
                      </a:r>
                      <a:r>
                        <a:rPr sz="1000" b="0" i="0" dirty="0" lang="es-SV">
                          <a:solidFill>
                            <a:srgbClr val="1B2333"/>
                          </a:solidFill>
                          <a:latin typeface="Arial"/>
                        </a:rPr>
                        <a:t> con </a:t>
                      </a:r>
                      <a:r>
                        <a:rPr sz="1000" b="0" i="0" dirty="0" lang="es-SV">
                          <a:solidFill>
                            <a:srgbClr val="1B2333"/>
                          </a:solidFill>
                          <a:latin typeface="Arial"/>
                        </a:rPr>
                        <a:t>su</a:t>
                      </a:r>
                      <a:r>
                        <a:rPr sz="1000" b="0" i="0" dirty="0" lang="es-SV">
                          <a:solidFill>
                            <a:srgbClr val="1B2333"/>
                          </a:solidFill>
                          <a:latin typeface="Arial"/>
                        </a:rPr>
                        <a:t> </a:t>
                      </a:r>
                      <a:r>
                        <a:rPr sz="1000" b="0" i="0" dirty="0" lang="es-SV">
                          <a:solidFill>
                            <a:srgbClr val="1B2333"/>
                          </a:solidFill>
                          <a:latin typeface="Arial"/>
                        </a:rPr>
                        <a:t>definición</a:t>
                      </a:r>
                      <a:r>
                        <a:rPr sz="1000" b="0" i="0" dirty="0" lang="es-SV">
                          <a:solidFill>
                            <a:srgbClr val="1B2333"/>
                          </a:solidFill>
                          <a:latin typeface="Arial"/>
                        </a:rPr>
                        <a:t> literal.</a:t>
                      </a:r>
                    </a:p>
                    <a:p>
                      <a:pPr algn="just"/>
                      <a:r>
                        <a:rPr sz="1000" b="1" i="0" dirty="0" lang="es-SV">
                          <a:solidFill>
                            <a:srgbClr val="00376E"/>
                          </a:solidFill>
                          <a:latin typeface="Arial"/>
                        </a:rPr>
                        <a:t>NRP-24, art. 3, </a:t>
                      </a:r>
                      <a:r>
                        <a:rPr sz="1000" b="1" i="0" dirty="0" lang="es-SV">
                          <a:solidFill>
                            <a:srgbClr val="00376E"/>
                          </a:solidFill>
                          <a:latin typeface="Arial"/>
                        </a:rPr>
                        <a:t>lits</a:t>
                      </a:r>
                      <a:r>
                        <a:rPr sz="1000" b="1" i="0" dirty="0" lang="es-SV">
                          <a:solidFill>
                            <a:srgbClr val="00376E"/>
                          </a:solidFill>
                          <a:latin typeface="Arial"/>
                        </a:rPr>
                        <a:t>. c, z, u y 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Apetito de riesgo y tolerancia al riesgo: nivel y tipos de riesgos que la entidad está dispuesta a asumir; y niveles de toma de riesgos aceptables para un objetivo específico o categoría de riesgo.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Definiciones</a:t>
                      </a:r>
                      <a:r>
                        <a:rPr sz="1000" b="0" i="0" dirty="0" lang="es-SV">
                          <a:solidFill>
                            <a:srgbClr val="1B2333"/>
                          </a:solidFill>
                          <a:latin typeface="Arial"/>
                        </a:rPr>
                        <a:t> </a:t>
                      </a:r>
                      <a:r>
                        <a:rPr sz="1000" b="0" i="0" dirty="0" lang="es-SV">
                          <a:solidFill>
                            <a:srgbClr val="1B2333"/>
                          </a:solidFill>
                          <a:latin typeface="Arial"/>
                        </a:rPr>
                        <a:t>literales</a:t>
                      </a:r>
                      <a:r>
                        <a:rPr sz="1000" b="0" i="0" dirty="0" lang="es-SV">
                          <a:solidFill>
                            <a:srgbClr val="1B2333"/>
                          </a:solidFill>
                          <a:latin typeface="Arial"/>
                        </a:rPr>
                        <a:t>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3, </a:t>
                      </a:r>
                      <a:r>
                        <a:rPr sz="1000" b="1" i="0" dirty="0" lang="es-SV">
                          <a:solidFill>
                            <a:srgbClr val="00376E"/>
                          </a:solidFill>
                          <a:latin typeface="Arial"/>
                        </a:rPr>
                        <a:t>lits</a:t>
                      </a:r>
                      <a:r>
                        <a:rPr sz="1000" b="1" i="0" dirty="0" lang="es-SV">
                          <a:solidFill>
                            <a:srgbClr val="00376E"/>
                          </a:solidFill>
                          <a:latin typeface="Arial"/>
                        </a:rPr>
                        <a:t>. b y 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Matriz Centralizada de Servicios Críticos Tercerizados: control centralizado con nombre del proveedor, tipo de servicio, monto del contrato, contraparte dentro de la Cooperativa y vigencia, a disposición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Campos </a:t>
                      </a:r>
                      <a:r>
                        <a:rPr sz="1000" b="0" i="0" dirty="0" lang="es-SV">
                          <a:solidFill>
                            <a:srgbClr val="1B2333"/>
                          </a:solidFill>
                          <a:latin typeface="Arial"/>
                        </a:rPr>
                        <a:t>mínimos</a:t>
                      </a:r>
                      <a:r>
                        <a:rPr sz="1000" b="0" i="0" dirty="0" lang="es-SV">
                          <a:solidFill>
                            <a:srgbClr val="1B2333"/>
                          </a:solidFill>
                          <a:latin typeface="Arial"/>
                        </a:rPr>
                        <a:t> </a:t>
                      </a:r>
                      <a:r>
                        <a:rPr sz="1000" b="0" i="0" dirty="0" lang="es-SV">
                          <a:solidFill>
                            <a:srgbClr val="1B2333"/>
                          </a:solidFill>
                          <a:latin typeface="Arial"/>
                        </a:rPr>
                        <a:t>vigentes</a:t>
                      </a:r>
                      <a:r>
                        <a:rPr sz="1000" b="0" i="0" dirty="0" lang="es-SV">
                          <a:solidFill>
                            <a:srgbClr val="1B2333"/>
                          </a:solidFill>
                          <a:latin typeface="Arial"/>
                        </a:rPr>
                        <a:t>.</a:t>
                      </a:r>
                    </a:p>
                    <a:p>
                      <a:pPr algn="just"/>
                      <a:r>
                        <a:rPr sz="1000" b="1" i="0" dirty="0" lang="es-SV">
                          <a:solidFill>
                            <a:srgbClr val="00376E"/>
                          </a:solidFill>
                          <a:latin typeface="Arial"/>
                        </a:rPr>
                        <a:t>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35305" y="118872"/>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95147" y="193583"/>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IV. </a:t>
            </a:r>
            <a:r>
              <a:rPr sz="2000" b="1" i="0" dirty="0" lang="es-SV">
                <a:solidFill>
                  <a:srgbClr val="00376E"/>
                </a:solidFill>
                <a:latin typeface="Century Gothic"/>
              </a:rPr>
              <a:t>Responsabilidades</a:t>
            </a:r>
            <a:r>
              <a:rPr sz="2000" b="1" i="0" dirty="0" lang="es-SV">
                <a:solidFill>
                  <a:srgbClr val="00376E"/>
                </a:solidFill>
                <a:latin typeface="Century Gothic"/>
              </a:rPr>
              <a:t> — Consejo de Administración y </a:t>
            </a:r>
            <a:r>
              <a:rPr sz="2000" b="1" i="0" dirty="0" lang="es-SV">
                <a:solidFill>
                  <a:srgbClr val="00376E"/>
                </a:solidFill>
                <a:latin typeface="Century Gothic"/>
              </a:rPr>
              <a:t>Comité</a:t>
            </a:r>
            <a:r>
              <a:rPr sz="2000" b="1" i="0" dirty="0" lang="es-SV">
                <a:solidFill>
                  <a:srgbClr val="00376E"/>
                </a:solidFill>
                <a:latin typeface="Century Gothic"/>
              </a:rPr>
              <a:t> de </a:t>
            </a:r>
            <a:r>
              <a:rPr sz="2000" b="1" i="0" dirty="0" lang="es-SV">
                <a:solidFill>
                  <a:srgbClr val="00376E"/>
                </a:solidFill>
                <a:latin typeface="Century Gothic"/>
              </a:rPr>
              <a:t>Riesgos</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1757169823"/>
              </p:ext>
            </p:extLst>
          </p:nvPr>
        </p:nvGraphicFramePr>
        <p:xfrm>
          <a:off x="535305" y="697230"/>
          <a:ext cx="11091672" cy="29077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Consejo b) </a:t>
                      </a:r>
                      <a:r>
                        <a:rPr sz="1000" b="1" i="0" u="sng" dirty="0" lang="es-SV">
                          <a:solidFill>
                            <a:srgbClr val="00376E"/>
                          </a:solidFill>
                          <a:latin typeface="Arial"/>
                        </a:rPr>
                        <a:t>Aprobar</a:t>
                      </a:r>
                      <a:r>
                        <a:rPr sz="1000" b="1" i="0" u="sng" dirty="0" lang="es-SV">
                          <a:solidFill>
                            <a:srgbClr val="00376E"/>
                          </a:solidFill>
                          <a:latin typeface="Arial"/>
                        </a:rPr>
                        <a:t> el </a:t>
                      </a:r>
                      <a:r>
                        <a:rPr sz="1000" b="1" i="0" u="sng" dirty="0" lang="es-SV">
                          <a:solidFill>
                            <a:srgbClr val="00376E"/>
                          </a:solidFill>
                          <a:latin typeface="Arial"/>
                        </a:rPr>
                        <a:t>apetito</a:t>
                      </a:r>
                      <a:r>
                        <a:rPr sz="1000" b="1" i="0" u="sng" dirty="0" lang="es-SV">
                          <a:solidFill>
                            <a:srgbClr val="00376E"/>
                          </a:solidFill>
                          <a:latin typeface="Arial"/>
                        </a:rPr>
                        <a:t> y la </a:t>
                      </a:r>
                      <a:r>
                        <a:rPr sz="1000" b="1" i="0" u="sng" dirty="0" lang="es-SV">
                          <a:solidFill>
                            <a:srgbClr val="00376E"/>
                          </a:solidFill>
                          <a:latin typeface="Arial"/>
                        </a:rPr>
                        <a:t>tolerancia</a:t>
                      </a:r>
                      <a:r>
                        <a:rPr sz="1000" b="1" i="0" u="sng" dirty="0" lang="es-SV">
                          <a:solidFill>
                            <a:srgbClr val="00376E"/>
                          </a:solidFill>
                          <a:latin typeface="Arial"/>
                        </a:rPr>
                        <a:t> al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aplicables</a:t>
                      </a:r>
                      <a:r>
                        <a:rPr sz="1000" b="1" i="0" u="sng" dirty="0" lang="es-SV">
                          <a:solidFill>
                            <a:srgbClr val="00376E"/>
                          </a:solidFill>
                          <a:latin typeface="Arial"/>
                        </a:rPr>
                        <a:t> a la </a:t>
                      </a:r>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así</a:t>
                      </a:r>
                      <a:r>
                        <a:rPr sz="1000" b="1" i="0" u="sng" dirty="0" lang="es-SV">
                          <a:solidFill>
                            <a:srgbClr val="00376E"/>
                          </a:solidFill>
                          <a:latin typeface="Arial"/>
                        </a:rPr>
                        <a:t> </a:t>
                      </a:r>
                      <a:r>
                        <a:rPr sz="1000" b="1" i="0" u="sng" dirty="0" lang="es-SV">
                          <a:solidFill>
                            <a:srgbClr val="00376E"/>
                          </a:solidFill>
                          <a:latin typeface="Arial"/>
                        </a:rPr>
                        <a:t>como</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límites</a:t>
                      </a:r>
                      <a:r>
                        <a:rPr sz="1000" b="1" i="0" u="sng" dirty="0" lang="es-SV">
                          <a:solidFill>
                            <a:srgbClr val="00376E"/>
                          </a:solidFill>
                          <a:latin typeface="Arial"/>
                        </a:rPr>
                        <a:t> de </a:t>
                      </a:r>
                      <a:r>
                        <a:rPr sz="1000" b="1" i="0" u="sng" dirty="0" lang="es-SV">
                          <a:solidFill>
                            <a:srgbClr val="00376E"/>
                          </a:solidFill>
                          <a:latin typeface="Arial"/>
                        </a:rPr>
                        <a:t>exposición</a:t>
                      </a:r>
                      <a:r>
                        <a:rPr sz="1000" b="1" i="0" u="sng" dirty="0" lang="es-SV">
                          <a:solidFill>
                            <a:srgbClr val="00376E"/>
                          </a:solidFill>
                          <a:latin typeface="Arial"/>
                        </a:rPr>
                        <a:t>, </a:t>
                      </a:r>
                      <a:r>
                        <a:rPr sz="1000" b="1" i="0" u="sng" dirty="0" lang="es-SV">
                          <a:solidFill>
                            <a:srgbClr val="00376E"/>
                          </a:solidFill>
                          <a:latin typeface="Arial"/>
                        </a:rPr>
                        <a:t>incluyendo</a:t>
                      </a:r>
                      <a:r>
                        <a:rPr sz="1000" b="1" i="0" u="sng" dirty="0" lang="es-SV">
                          <a:solidFill>
                            <a:srgbClr val="00376E"/>
                          </a:solidFill>
                          <a:latin typeface="Arial"/>
                        </a:rPr>
                        <a:t> la </a:t>
                      </a:r>
                      <a:r>
                        <a:rPr sz="1000" b="1" i="0" u="sng" dirty="0" lang="es-SV">
                          <a:solidFill>
                            <a:srgbClr val="00376E"/>
                          </a:solidFill>
                          <a:latin typeface="Arial"/>
                        </a:rPr>
                        <a:t>exposición</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a:t>
                      </a:r>
                      <a:r>
                        <a:rPr sz="1000" b="1" i="0" u="sng" dirty="0" lang="es-SV">
                          <a:solidFill>
                            <a:srgbClr val="00376E"/>
                          </a:solidFill>
                          <a:latin typeface="Arial"/>
                        </a:rPr>
                        <a:t>proveedor</a:t>
                      </a:r>
                      <a:r>
                        <a:rPr sz="1000" b="1" i="0" u="sng" dirty="0" lang="es-SV">
                          <a:solidFill>
                            <a:srgbClr val="00376E"/>
                          </a:solidFill>
                          <a:latin typeface="Arial"/>
                        </a:rPr>
                        <a:t> o </a:t>
                      </a:r>
                      <a:r>
                        <a:rPr sz="1000" b="1" i="0" u="sng" dirty="0" lang="es-SV">
                          <a:solidFill>
                            <a:srgbClr val="00376E"/>
                          </a:solidFill>
                          <a:latin typeface="Arial"/>
                        </a:rPr>
                        <a:t>grupo</a:t>
                      </a:r>
                      <a:r>
                        <a:rPr sz="1000" b="1" i="0" u="sng" dirty="0" lang="es-SV">
                          <a:solidFill>
                            <a:srgbClr val="00376E"/>
                          </a:solidFill>
                          <a:latin typeface="Arial"/>
                        </a:rPr>
                        <a:t> </a:t>
                      </a:r>
                      <a:r>
                        <a:rPr sz="1000" b="1" i="0" u="sng" dirty="0" lang="es-SV">
                          <a:solidFill>
                            <a:srgbClr val="00376E"/>
                          </a:solidFill>
                          <a:latin typeface="Arial"/>
                        </a:rPr>
                        <a:t>económico</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Consejo fija los límites de exposición.</a:t>
                      </a:r>
                    </a:p>
                    <a:p>
                      <a:pPr algn="just"/>
                      <a:r>
                        <a:rPr sz="1000" b="1" i="0" lang="es-SV">
                          <a:solidFill>
                            <a:srgbClr val="00376E"/>
                          </a:solidFill>
                          <a:latin typeface="Arial"/>
                        </a:rPr>
                        <a:t>NRP-20, art. 8, lit. 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dirty="0" lang="es-SV">
                          <a:solidFill>
                            <a:srgbClr val="00376E"/>
                          </a:solidFill>
                          <a:latin typeface="Arial"/>
                        </a:rPr>
                        <a:t>Consejo c) </a:t>
                      </a:r>
                      <a:r>
                        <a:rPr sz="1000" b="1" i="0" u="sng" dirty="0" lang="es-SV">
                          <a:solidFill>
                            <a:srgbClr val="00376E"/>
                          </a:solidFill>
                          <a:latin typeface="Arial"/>
                        </a:rPr>
                        <a:t>Conocer</a:t>
                      </a:r>
                      <a:r>
                        <a:rPr sz="1000" b="1" i="0" u="sng" dirty="0" lang="es-SV">
                          <a:solidFill>
                            <a:srgbClr val="00376E"/>
                          </a:solidFill>
                          <a:latin typeface="Arial"/>
                        </a:rPr>
                        <a:t>, al </a:t>
                      </a:r>
                      <a:r>
                        <a:rPr sz="1000" b="1" i="0" u="sng" dirty="0" lang="es-SV">
                          <a:solidFill>
                            <a:srgbClr val="00376E"/>
                          </a:solidFill>
                          <a:latin typeface="Arial"/>
                        </a:rPr>
                        <a:t>menos</a:t>
                      </a:r>
                      <a:r>
                        <a:rPr sz="1000" b="1" i="0" u="sng" dirty="0" lang="es-SV">
                          <a:solidFill>
                            <a:srgbClr val="00376E"/>
                          </a:solidFill>
                          <a:latin typeface="Arial"/>
                        </a:rPr>
                        <a:t> </a:t>
                      </a:r>
                      <a:r>
                        <a:rPr sz="1000" b="1" i="0" u="sng" dirty="0" lang="es-SV">
                          <a:solidFill>
                            <a:srgbClr val="00376E"/>
                          </a:solidFill>
                          <a:latin typeface="Arial"/>
                        </a:rPr>
                        <a:t>anualmente</a:t>
                      </a:r>
                      <a:r>
                        <a:rPr sz="1000" b="1" i="0" u="sng" dirty="0" lang="es-SV">
                          <a:solidFill>
                            <a:srgbClr val="00376E"/>
                          </a:solidFill>
                          <a:latin typeface="Arial"/>
                        </a:rPr>
                        <a:t>, el </a:t>
                      </a:r>
                      <a:r>
                        <a:rPr sz="1000" b="1" i="0" u="sng" dirty="0" lang="es-SV">
                          <a:solidFill>
                            <a:srgbClr val="00376E"/>
                          </a:solidFill>
                          <a:latin typeface="Arial"/>
                        </a:rPr>
                        <a:t>informe</a:t>
                      </a:r>
                      <a:r>
                        <a:rPr sz="1000" b="1" i="0" u="sng" dirty="0" lang="es-SV">
                          <a:solidFill>
                            <a:srgbClr val="00376E"/>
                          </a:solidFill>
                          <a:latin typeface="Arial"/>
                        </a:rPr>
                        <a:t> </a:t>
                      </a:r>
                      <a:r>
                        <a:rPr sz="1000" b="1" i="0" u="sng" dirty="0" lang="es-SV">
                          <a:solidFill>
                            <a:srgbClr val="00376E"/>
                          </a:solidFill>
                          <a:latin typeface="Arial"/>
                        </a:rPr>
                        <a:t>consolidado</a:t>
                      </a:r>
                      <a:r>
                        <a:rPr sz="1000" b="1" i="0" u="sng" dirty="0" lang="es-SV">
                          <a:solidFill>
                            <a:srgbClr val="00376E"/>
                          </a:solidFill>
                          <a:latin typeface="Arial"/>
                        </a:rPr>
                        <a:t> </a:t>
                      </a:r>
                      <a:r>
                        <a:rPr sz="1000" b="1" i="0" u="sng" dirty="0" lang="es-SV">
                          <a:solidFill>
                            <a:srgbClr val="00376E"/>
                          </a:solidFill>
                          <a:latin typeface="Arial"/>
                        </a:rPr>
                        <a:t>sobre</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proveedores</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tercerizados</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nivel</a:t>
                      </a:r>
                      <a:r>
                        <a:rPr sz="1000" b="1" i="0" u="sng" dirty="0" lang="es-SV">
                          <a:solidFill>
                            <a:srgbClr val="00376E"/>
                          </a:solidFill>
                          <a:latin typeface="Arial"/>
                        </a:rPr>
                        <a:t> de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concentración</a:t>
                      </a:r>
                      <a:r>
                        <a:rPr sz="1000" b="1" i="0" u="sng" dirty="0" lang="es-SV">
                          <a:solidFill>
                            <a:srgbClr val="00376E"/>
                          </a:solidFill>
                          <a:latin typeface="Arial"/>
                        </a:rPr>
                        <a:t>, </a:t>
                      </a:r>
                      <a:r>
                        <a:rPr sz="1000" b="1" i="0" u="sng" dirty="0" lang="es-SV">
                          <a:solidFill>
                            <a:srgbClr val="00376E"/>
                          </a:solidFill>
                          <a:latin typeface="Arial"/>
                        </a:rPr>
                        <a:t>cumplimiento</a:t>
                      </a:r>
                      <a:r>
                        <a:rPr sz="1000" b="1" i="0" u="sng" dirty="0" lang="es-SV">
                          <a:solidFill>
                            <a:srgbClr val="00376E"/>
                          </a:solidFill>
                          <a:latin typeface="Arial"/>
                        </a:rPr>
                        <a:t> de </a:t>
                      </a:r>
                      <a:r>
                        <a:rPr sz="1000" b="1" i="0" u="sng" dirty="0" lang="es-SV">
                          <a:solidFill>
                            <a:srgbClr val="00376E"/>
                          </a:solidFill>
                          <a:latin typeface="Arial"/>
                        </a:rPr>
                        <a:t>niveles</a:t>
                      </a:r>
                      <a:r>
                        <a:rPr sz="1000" b="1" i="0" u="sng" dirty="0" lang="es-SV">
                          <a:solidFill>
                            <a:srgbClr val="00376E"/>
                          </a:solidFill>
                          <a:latin typeface="Arial"/>
                        </a:rPr>
                        <a:t> de </a:t>
                      </a:r>
                      <a:r>
                        <a:rPr sz="1000" b="1" i="0" u="sng" dirty="0" lang="es-SV">
                          <a:solidFill>
                            <a:srgbClr val="00376E"/>
                          </a:solidFill>
                          <a:latin typeface="Arial"/>
                        </a:rPr>
                        <a:t>servicio</a:t>
                      </a:r>
                      <a:r>
                        <a:rPr sz="1000" b="1" i="0" u="sng" dirty="0" lang="es-SV">
                          <a:solidFill>
                            <a:srgbClr val="00376E"/>
                          </a:solidFill>
                          <a:latin typeface="Arial"/>
                        </a:rPr>
                        <a:t> y </a:t>
                      </a:r>
                      <a:r>
                        <a:rPr sz="1000" b="1" i="0" u="sng" dirty="0" lang="es-SV">
                          <a:solidFill>
                            <a:srgbClr val="00376E"/>
                          </a:solidFill>
                          <a:latin typeface="Arial"/>
                        </a:rPr>
                        <a:t>resultados</a:t>
                      </a:r>
                      <a:r>
                        <a:rPr sz="1000" b="1" i="0" u="sng" dirty="0" lang="es-SV">
                          <a:solidFill>
                            <a:srgbClr val="00376E"/>
                          </a:solidFill>
                          <a:latin typeface="Arial"/>
                        </a:rPr>
                        <a:t> de </a:t>
                      </a:r>
                      <a:r>
                        <a:rPr sz="1000" b="1" i="0" u="sng" dirty="0" lang="es-SV">
                          <a:solidFill>
                            <a:srgbClr val="00376E"/>
                          </a:solidFill>
                          <a:latin typeface="Arial"/>
                        </a:rPr>
                        <a:t>pruebas</a:t>
                      </a:r>
                      <a:r>
                        <a:rPr sz="1000" b="1" i="0" u="sng" dirty="0" lang="es-SV">
                          <a:solidFill>
                            <a:srgbClr val="00376E"/>
                          </a:solidFill>
                          <a:latin typeface="Arial"/>
                        </a:rPr>
                        <a:t> de </a:t>
                      </a:r>
                      <a:r>
                        <a:rPr sz="1000" b="1" i="0" u="sng" dirty="0" lang="es-SV">
                          <a:solidFill>
                            <a:srgbClr val="00376E"/>
                          </a:solidFill>
                          <a:latin typeface="Arial"/>
                        </a:rPr>
                        <a:t>continuidad</a:t>
                      </a:r>
                      <a:r>
                        <a:rPr sz="1000" b="1" i="0" u="sng" dirty="0" lang="es-SV">
                          <a:solidFill>
                            <a:srgbClr val="00376E"/>
                          </a:solidFill>
                          <a:latin typeface="Arial"/>
                        </a:rPr>
                        <a:t>.</a:t>
                      </a:r>
                    </a:p>
                    <a:p>
                      <a:pPr algn="just"/>
                      <a:r>
                        <a:rPr sz="1000" b="1" i="0" u="sng" dirty="0" lang="es-SV">
                          <a:solidFill>
                            <a:srgbClr val="00376E"/>
                          </a:solidFill>
                          <a:latin typeface="Arial"/>
                        </a:rPr>
                        <a:t>Consejo d) </a:t>
                      </a:r>
                      <a:r>
                        <a:rPr sz="1000" b="1" i="0" u="sng" dirty="0" lang="es-SV">
                          <a:solidFill>
                            <a:srgbClr val="00376E"/>
                          </a:solidFill>
                          <a:latin typeface="Arial"/>
                        </a:rPr>
                        <a:t>Aprobar</a:t>
                      </a:r>
                      <a:r>
                        <a:rPr sz="1000" b="1" i="0" u="sng" dirty="0" lang="es-SV">
                          <a:solidFill>
                            <a:srgbClr val="00376E"/>
                          </a:solidFill>
                          <a:latin typeface="Arial"/>
                        </a:rPr>
                        <a:t> las </a:t>
                      </a:r>
                      <a:r>
                        <a:rPr sz="1000" b="1" i="0" u="sng" dirty="0" lang="es-SV">
                          <a:solidFill>
                            <a:srgbClr val="00376E"/>
                          </a:solidFill>
                          <a:latin typeface="Arial"/>
                        </a:rPr>
                        <a:t>excepciones</a:t>
                      </a:r>
                      <a:r>
                        <a:rPr sz="1000" b="1" i="0" u="sng" dirty="0" lang="es-SV">
                          <a:solidFill>
                            <a:srgbClr val="00376E"/>
                          </a:solidFill>
                          <a:latin typeface="Arial"/>
                        </a:rPr>
                        <a:t> a la </a:t>
                      </a:r>
                      <a:r>
                        <a:rPr sz="1000" b="1" i="0" u="sng" dirty="0" lang="es-SV">
                          <a:solidFill>
                            <a:srgbClr val="00376E"/>
                          </a:solidFill>
                          <a:latin typeface="Arial"/>
                        </a:rPr>
                        <a:t>presente</a:t>
                      </a:r>
                      <a:r>
                        <a:rPr sz="1000" b="1" i="0" u="sng" dirty="0" lang="es-SV">
                          <a:solidFill>
                            <a:srgbClr val="00376E"/>
                          </a:solidFill>
                          <a:latin typeface="Arial"/>
                        </a:rPr>
                        <a:t> </a:t>
                      </a:r>
                      <a:r>
                        <a:rPr sz="1000" b="1" i="0" u="sng" dirty="0" lang="es-SV">
                          <a:solidFill>
                            <a:srgbClr val="00376E"/>
                          </a:solidFill>
                          <a:latin typeface="Arial"/>
                        </a:rPr>
                        <a:t>política</a:t>
                      </a:r>
                      <a:r>
                        <a:rPr sz="1000" b="1" i="0" u="sng" dirty="0" lang="es-SV">
                          <a:solidFill>
                            <a:srgbClr val="00376E"/>
                          </a:solidFill>
                          <a:latin typeface="Arial"/>
                        </a:rPr>
                        <a:t>, previa </a:t>
                      </a:r>
                      <a:r>
                        <a:rPr sz="1000" b="1" i="0" u="sng" dirty="0" lang="es-SV">
                          <a:solidFill>
                            <a:srgbClr val="00376E"/>
                          </a:solidFill>
                          <a:latin typeface="Arial"/>
                        </a:rPr>
                        <a:t>opinión</a:t>
                      </a:r>
                      <a:r>
                        <a:rPr sz="1000" b="1" i="0" u="sng" dirty="0" lang="es-SV">
                          <a:solidFill>
                            <a:srgbClr val="00376E"/>
                          </a:solidFill>
                          <a:latin typeface="Arial"/>
                        </a:rPr>
                        <a:t> del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Supervisión</a:t>
                      </a:r>
                      <a:r>
                        <a:rPr sz="1000" b="0" i="0" dirty="0" lang="es-SV">
                          <a:solidFill>
                            <a:srgbClr val="1B2333"/>
                          </a:solidFill>
                          <a:latin typeface="Arial"/>
                        </a:rPr>
                        <a:t> </a:t>
                      </a:r>
                      <a:r>
                        <a:rPr sz="1000" b="0" i="0" dirty="0" lang="es-SV">
                          <a:solidFill>
                            <a:srgbClr val="1B2333"/>
                          </a:solidFill>
                          <a:latin typeface="Arial"/>
                        </a:rPr>
                        <a:t>anual</a:t>
                      </a:r>
                      <a:r>
                        <a:rPr sz="1000" b="0" i="0" dirty="0" lang="es-SV">
                          <a:solidFill>
                            <a:srgbClr val="1B2333"/>
                          </a:solidFill>
                          <a:latin typeface="Arial"/>
                        </a:rPr>
                        <a:t> y control de </a:t>
                      </a:r>
                      <a:r>
                        <a:rPr sz="1000" b="0" i="0" dirty="0" lang="es-SV">
                          <a:solidFill>
                            <a:srgbClr val="1B2333"/>
                          </a:solidFill>
                          <a:latin typeface="Arial"/>
                        </a:rPr>
                        <a:t>excepciones</a:t>
                      </a:r>
                      <a:r>
                        <a:rPr sz="1000" b="0" i="0" dirty="0" lang="es-SV">
                          <a:solidFill>
                            <a:srgbClr val="1B2333"/>
                          </a:solidFill>
                          <a:latin typeface="Arial"/>
                        </a:rPr>
                        <a:t>.</a:t>
                      </a:r>
                    </a:p>
                    <a:p>
                      <a:pPr algn="just"/>
                      <a:r>
                        <a:rPr sz="1000" b="1" i="0" dirty="0" lang="es-SV">
                          <a:solidFill>
                            <a:srgbClr val="00376E"/>
                          </a:solidFill>
                          <a:latin typeface="Arial"/>
                        </a:rPr>
                        <a:t>NRP-20, art. 8, </a:t>
                      </a:r>
                      <a:r>
                        <a:rPr sz="1000" b="1" i="0" dirty="0" lang="es-SV">
                          <a:solidFill>
                            <a:srgbClr val="00376E"/>
                          </a:solidFill>
                          <a:latin typeface="Arial"/>
                        </a:rPr>
                        <a:t>lits</a:t>
                      </a:r>
                      <a:r>
                        <a:rPr sz="1000" b="1" i="0" dirty="0" lang="es-SV">
                          <a:solidFill>
                            <a:srgbClr val="00376E"/>
                          </a:solidFill>
                          <a:latin typeface="Arial"/>
                        </a:rPr>
                        <a:t>. a y f</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Comité de Administración de Riesgos: Evaluar, revisar y proponer al Consejo de Administración, la presente política y su actualización.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Comité de Riesgos</a:t>
                      </a:r>
                      <a:r>
                        <a:rPr sz="1000" b="0" i="0" lang="es-SV">
                          <a:solidFill>
                            <a:srgbClr val="1B2333"/>
                          </a:solidFill>
                          <a:latin typeface="Arial"/>
                        </a:rPr>
                        <a:t>: a) Evaluar, revisar y proponer al Consejo de Administración la presente política y su actualización.</a:t>
                      </a:r>
                    </a:p>
                    <a:p>
                      <a:pPr algn="just"/>
                      <a:r>
                        <a:rPr sz="1000" b="1" i="0" u="sng" lang="es-SV">
                          <a:solidFill>
                            <a:srgbClr val="00376E"/>
                          </a:solidFill>
                          <a:latin typeface="Arial"/>
                        </a:rPr>
                        <a:t>b) Evaluar, avalar y proponer los límites de tolerancia a la exposición, incluyendo la exposición por proveedor o grupo económico.</a:t>
                      </a:r>
                    </a:p>
                    <a:p>
                      <a:pPr algn="just"/>
                      <a:r>
                        <a:rPr sz="1000" b="1" i="0" u="sng" lang="es-SV">
                          <a:solidFill>
                            <a:srgbClr val="00376E"/>
                          </a:solidFill>
                          <a:latin typeface="Arial"/>
                        </a:rPr>
                        <a:t>c) Informar al Consejo sobre las exposiciones relevantes y desviaciones a los límites aprobados.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Nombre </a:t>
                      </a:r>
                      <a:r>
                        <a:rPr sz="1000" b="0" i="0" dirty="0" lang="es-SV">
                          <a:solidFill>
                            <a:srgbClr val="1B2333"/>
                          </a:solidFill>
                          <a:latin typeface="Arial"/>
                        </a:rPr>
                        <a:t>vigente</a:t>
                      </a:r>
                      <a:r>
                        <a:rPr sz="1000" b="0" i="0" dirty="0" lang="es-SV">
                          <a:solidFill>
                            <a:srgbClr val="1B2333"/>
                          </a:solidFill>
                          <a:latin typeface="Arial"/>
                        </a:rPr>
                        <a:t> del </a:t>
                      </a:r>
                      <a:r>
                        <a:rPr sz="1000" b="0" i="0" dirty="0" lang="es-SV">
                          <a:solidFill>
                            <a:srgbClr val="1B2333"/>
                          </a:solidFill>
                          <a:latin typeface="Arial"/>
                        </a:rPr>
                        <a:t>comité</a:t>
                      </a:r>
                      <a:r>
                        <a:rPr sz="1000" b="0" i="0" dirty="0" lang="es-SV">
                          <a:solidFill>
                            <a:srgbClr val="1B2333"/>
                          </a:solidFill>
                          <a:latin typeface="Arial"/>
                        </a:rPr>
                        <a:t> y </a:t>
                      </a:r>
                      <a:r>
                        <a:rPr sz="1000" b="0" i="0" dirty="0" lang="es-SV">
                          <a:solidFill>
                            <a:srgbClr val="1B2333"/>
                          </a:solidFill>
                          <a:latin typeface="Arial"/>
                        </a:rPr>
                        <a:t>funciones</a:t>
                      </a:r>
                      <a:r>
                        <a:rPr sz="1000" b="0" i="0" dirty="0" lang="es-SV">
                          <a:solidFill>
                            <a:srgbClr val="1B2333"/>
                          </a:solidFill>
                          <a:latin typeface="Arial"/>
                        </a:rPr>
                        <a:t> </a:t>
                      </a:r>
                      <a:r>
                        <a:rPr sz="1000" b="0" i="0" dirty="0" lang="es-SV">
                          <a:solidFill>
                            <a:srgbClr val="1B2333"/>
                          </a:solidFill>
                          <a:latin typeface="Arial"/>
                        </a:rPr>
                        <a:t>sobre</a:t>
                      </a:r>
                      <a:r>
                        <a:rPr sz="1000" b="0" i="0" dirty="0" lang="es-SV">
                          <a:solidFill>
                            <a:srgbClr val="1B2333"/>
                          </a:solidFill>
                          <a:latin typeface="Arial"/>
                        </a:rPr>
                        <a:t> </a:t>
                      </a:r>
                      <a:r>
                        <a:rPr sz="1000" b="0" i="0" dirty="0" lang="es-SV">
                          <a:solidFill>
                            <a:srgbClr val="1B2333"/>
                          </a:solidFill>
                          <a:latin typeface="Arial"/>
                        </a:rPr>
                        <a:t>límites</a:t>
                      </a:r>
                      <a:r>
                        <a:rPr sz="1000" b="0" i="0" dirty="0" lang="es-SV">
                          <a:solidFill>
                            <a:srgbClr val="1B2333"/>
                          </a:solidFill>
                          <a:latin typeface="Arial"/>
                        </a:rPr>
                        <a:t>.</a:t>
                      </a:r>
                    </a:p>
                    <a:p>
                      <a:pPr algn="just"/>
                      <a:r>
                        <a:rPr sz="1000" b="1" i="0" dirty="0" lang="es-SV">
                          <a:solidFill>
                            <a:srgbClr val="00376E"/>
                          </a:solidFill>
                          <a:latin typeface="Arial"/>
                        </a:rPr>
                        <a:t>NRP-20, art. 10, </a:t>
                      </a:r>
                      <a:r>
                        <a:rPr sz="1000" b="1" i="0" dirty="0" lang="es-SV">
                          <a:solidFill>
                            <a:srgbClr val="00376E"/>
                          </a:solidFill>
                          <a:latin typeface="Arial"/>
                        </a:rPr>
                        <a:t>lits</a:t>
                      </a:r>
                      <a:r>
                        <a:rPr sz="1000" b="1" i="0" dirty="0" lang="es-SV">
                          <a:solidFill>
                            <a:srgbClr val="00376E"/>
                          </a:solidFill>
                          <a:latin typeface="Arial"/>
                        </a:rPr>
                        <a:t>. c y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10D9B8C4-0AD0-5BD2-F5B9-96BEFB82C2E2}"/>
              </a:ext>
            </a:extLst>
          </p:cNvPr>
          <p:cNvGraphicFramePr>
            <a:graphicFrameLocks noGrp="1"/>
          </p:cNvGraphicFramePr>
          <p:nvPr>
            <p:extLst>
              <p:ext uri="{D42A27DB-BD31-4B8C-83A1-F6EECF244321}">
                <p14:modId xmlns:p14="http://schemas.microsoft.com/office/powerpoint/2010/main" val="1658206763"/>
              </p:ext>
            </p:extLst>
          </p:nvPr>
        </p:nvGraphicFramePr>
        <p:xfrm>
          <a:off x="535305" y="3595497"/>
          <a:ext cx="11091672" cy="31089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23</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 </a:t>
                      </a:r>
                      <a:r>
                        <a:rPr sz="1000" b="0" i="0" dirty="0" lang="es-SV">
                          <a:solidFill>
                            <a:srgbClr val="1B2333"/>
                          </a:solidFill>
                          <a:latin typeface="Arial"/>
                        </a:rPr>
                        <a:t>Diseñar</a:t>
                      </a:r>
                      <a:r>
                        <a:rPr sz="1000" b="0" i="0" dirty="0" lang="es-SV">
                          <a:solidFill>
                            <a:srgbClr val="1B2333"/>
                          </a:solidFill>
                          <a:latin typeface="Arial"/>
                        </a:rPr>
                        <a:t> y </a:t>
                      </a:r>
                      <a:r>
                        <a:rPr sz="1000" b="0" i="0" dirty="0" lang="es-SV">
                          <a:solidFill>
                            <a:srgbClr val="1B2333"/>
                          </a:solidFill>
                          <a:latin typeface="Arial"/>
                        </a:rPr>
                        <a:t>someter</a:t>
                      </a:r>
                      <a:r>
                        <a:rPr sz="1000" b="0" i="0" dirty="0" lang="es-SV">
                          <a:solidFill>
                            <a:srgbClr val="1B2333"/>
                          </a:solidFill>
                          <a:latin typeface="Arial"/>
                        </a:rPr>
                        <a:t> a la </a:t>
                      </a:r>
                      <a:r>
                        <a:rPr sz="1000" b="0" i="0" dirty="0" lang="es-SV">
                          <a:solidFill>
                            <a:srgbClr val="1B2333"/>
                          </a:solidFill>
                          <a:latin typeface="Arial"/>
                        </a:rPr>
                        <a:t>aprobación</a:t>
                      </a:r>
                      <a:r>
                        <a:rPr sz="1000" b="0" i="0" dirty="0" lang="es-SV">
                          <a:solidFill>
                            <a:srgbClr val="1B2333"/>
                          </a:solidFill>
                          <a:latin typeface="Arial"/>
                        </a:rPr>
                        <a:t> del Consejo de Administración a </a:t>
                      </a:r>
                      <a:r>
                        <a:rPr sz="1000" b="0" i="0" dirty="0" lang="es-SV">
                          <a:solidFill>
                            <a:srgbClr val="1B2333"/>
                          </a:solidFill>
                          <a:latin typeface="Arial"/>
                        </a:rPr>
                        <a:t>través</a:t>
                      </a:r>
                      <a:r>
                        <a:rPr sz="1000" b="0" i="0" dirty="0" lang="es-SV">
                          <a:solidFill>
                            <a:srgbClr val="1B2333"/>
                          </a:solidFill>
                          <a:latin typeface="Arial"/>
                        </a:rPr>
                        <a:t> del </a:t>
                      </a:r>
                      <a:r>
                        <a:rPr sz="1000" b="0" i="0" dirty="0" lang="es-SV">
                          <a:solidFill>
                            <a:srgbClr val="1B2333"/>
                          </a:solidFill>
                          <a:latin typeface="Arial"/>
                        </a:rPr>
                        <a:t>Comité</a:t>
                      </a:r>
                      <a:r>
                        <a:rPr sz="1000" b="0" i="0" dirty="0" lang="es-SV">
                          <a:solidFill>
                            <a:srgbClr val="1B2333"/>
                          </a:solidFill>
                          <a:latin typeface="Arial"/>
                        </a:rPr>
                        <a:t> de Administración de </a:t>
                      </a:r>
                      <a:r>
                        <a:rPr sz="1000" b="0" i="0" dirty="0" lang="es-SV">
                          <a:solidFill>
                            <a:srgbClr val="1B2333"/>
                          </a:solidFill>
                          <a:latin typeface="Arial"/>
                        </a:rPr>
                        <a:t>Riesgos</a:t>
                      </a:r>
                      <a:r>
                        <a:rPr sz="1000" b="0" i="0" dirty="0" lang="es-SV">
                          <a:solidFill>
                            <a:srgbClr val="1B2333"/>
                          </a:solidFill>
                          <a:latin typeface="Arial"/>
                        </a:rPr>
                        <a:t>, la </a:t>
                      </a:r>
                      <a:r>
                        <a:rPr sz="1000" b="0" i="0" dirty="0" lang="es-SV">
                          <a:solidFill>
                            <a:srgbClr val="1B2333"/>
                          </a:solidFill>
                          <a:latin typeface="Arial"/>
                        </a:rPr>
                        <a:t>presente</a:t>
                      </a:r>
                      <a:r>
                        <a:rPr sz="1000" b="0" i="0" dirty="0" lang="es-SV">
                          <a:solidFill>
                            <a:srgbClr val="1B2333"/>
                          </a:solidFill>
                          <a:latin typeface="Arial"/>
                        </a:rPr>
                        <a:t> Política y sus </a:t>
                      </a:r>
                      <a:r>
                        <a:rPr sz="1000" b="0" i="0" dirty="0" lang="es-SV">
                          <a:solidFill>
                            <a:srgbClr val="1B2333"/>
                          </a:solidFill>
                          <a:latin typeface="Arial"/>
                        </a:rPr>
                        <a:t>futuras</a:t>
                      </a:r>
                      <a:r>
                        <a:rPr sz="1000" b="0" i="0" dirty="0" lang="es-SV">
                          <a:solidFill>
                            <a:srgbClr val="1B2333"/>
                          </a:solidFill>
                          <a:latin typeface="Arial"/>
                        </a:rPr>
                        <a:t> </a:t>
                      </a:r>
                      <a:r>
                        <a:rPr sz="1000" b="0" i="0" dirty="0" lang="es-SV">
                          <a:solidFill>
                            <a:srgbClr val="1B2333"/>
                          </a:solidFill>
                          <a:latin typeface="Arial"/>
                        </a:rPr>
                        <a:t>actualizaciones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 </a:t>
                      </a:r>
                      <a:r>
                        <a:rPr sz="1000" b="0" i="0" dirty="0" lang="es-SV">
                          <a:solidFill>
                            <a:srgbClr val="1B2333"/>
                          </a:solidFill>
                          <a:latin typeface="Arial"/>
                        </a:rPr>
                        <a:t>Diseñar</a:t>
                      </a:r>
                      <a:r>
                        <a:rPr sz="1000" b="0" i="0" dirty="0" lang="es-SV">
                          <a:solidFill>
                            <a:srgbClr val="1B2333"/>
                          </a:solidFill>
                          <a:latin typeface="Arial"/>
                        </a:rPr>
                        <a:t> y </a:t>
                      </a:r>
                      <a:r>
                        <a:rPr sz="1000" b="0" i="0" dirty="0" lang="es-SV">
                          <a:solidFill>
                            <a:srgbClr val="1B2333"/>
                          </a:solidFill>
                          <a:latin typeface="Arial"/>
                        </a:rPr>
                        <a:t>someter</a:t>
                      </a:r>
                      <a:r>
                        <a:rPr sz="1000" b="0" i="0" dirty="0" lang="es-SV">
                          <a:solidFill>
                            <a:srgbClr val="1B2333"/>
                          </a:solidFill>
                          <a:latin typeface="Arial"/>
                        </a:rPr>
                        <a:t> a la </a:t>
                      </a:r>
                      <a:r>
                        <a:rPr sz="1000" b="0" i="0" dirty="0" lang="es-SV">
                          <a:solidFill>
                            <a:srgbClr val="1B2333"/>
                          </a:solidFill>
                          <a:latin typeface="Arial"/>
                        </a:rPr>
                        <a:t>aprobación</a:t>
                      </a:r>
                      <a:r>
                        <a:rPr sz="1000" b="0" i="0" dirty="0" lang="es-SV">
                          <a:solidFill>
                            <a:srgbClr val="1B2333"/>
                          </a:solidFill>
                          <a:latin typeface="Arial"/>
                        </a:rPr>
                        <a:t> del Consejo de Administración, a </a:t>
                      </a:r>
                      <a:r>
                        <a:rPr sz="1000" b="0" i="0" dirty="0" lang="es-SV">
                          <a:solidFill>
                            <a:srgbClr val="1B2333"/>
                          </a:solidFill>
                          <a:latin typeface="Arial"/>
                        </a:rPr>
                        <a:t>través</a:t>
                      </a:r>
                      <a:r>
                        <a:rPr sz="1000" b="0" i="0" dirty="0" lang="es-SV">
                          <a:solidFill>
                            <a:srgbClr val="1B2333"/>
                          </a:solidFill>
                          <a:latin typeface="Arial"/>
                        </a:rPr>
                        <a:t> del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0" i="0" dirty="0" lang="es-SV">
                          <a:solidFill>
                            <a:srgbClr val="1B2333"/>
                          </a:solidFill>
                          <a:latin typeface="Arial"/>
                        </a:rPr>
                        <a:t>, la </a:t>
                      </a:r>
                      <a:r>
                        <a:rPr sz="1000" b="0" i="0" dirty="0" lang="es-SV">
                          <a:solidFill>
                            <a:srgbClr val="1B2333"/>
                          </a:solidFill>
                          <a:latin typeface="Arial"/>
                        </a:rPr>
                        <a:t>presente</a:t>
                      </a:r>
                      <a:r>
                        <a:rPr sz="1000" b="0" i="0" dirty="0" lang="es-SV">
                          <a:solidFill>
                            <a:srgbClr val="1B2333"/>
                          </a:solidFill>
                          <a:latin typeface="Arial"/>
                        </a:rPr>
                        <a:t> Política y sus </a:t>
                      </a:r>
                      <a:r>
                        <a:rPr sz="1000" b="0" i="0" dirty="0" lang="es-SV">
                          <a:solidFill>
                            <a:srgbClr val="1B2333"/>
                          </a:solidFill>
                          <a:latin typeface="Arial"/>
                        </a:rPr>
                        <a:t>futuras</a:t>
                      </a:r>
                      <a:r>
                        <a:rPr sz="1000" b="0" i="0" dirty="0" lang="es-SV">
                          <a:solidFill>
                            <a:srgbClr val="1B2333"/>
                          </a:solidFill>
                          <a:latin typeface="Arial"/>
                        </a:rPr>
                        <a:t> </a:t>
                      </a:r>
                      <a:r>
                        <a:rPr sz="1000" b="0" i="0" dirty="0" lang="es-SV">
                          <a:solidFill>
                            <a:srgbClr val="1B2333"/>
                          </a:solidFill>
                          <a:latin typeface="Arial"/>
                        </a:rPr>
                        <a:t>actualizaciones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Nombre </a:t>
                      </a:r>
                      <a:r>
                        <a:rPr sz="1000" b="0" i="0" dirty="0" lang="es-SV">
                          <a:solidFill>
                            <a:srgbClr val="1B2333"/>
                          </a:solidFill>
                          <a:latin typeface="Arial"/>
                        </a:rPr>
                        <a:t>vigente</a:t>
                      </a:r>
                      <a:r>
                        <a:rPr sz="1000" b="0" i="0" dirty="0" lang="es-SV">
                          <a:solidFill>
                            <a:srgbClr val="1B2333"/>
                          </a:solidFill>
                          <a:latin typeface="Arial"/>
                        </a:rPr>
                        <a:t> del </a:t>
                      </a:r>
                      <a:r>
                        <a:rPr sz="1000" b="0" i="0" dirty="0" lang="es-SV">
                          <a:solidFill>
                            <a:srgbClr val="1B2333"/>
                          </a:solidFill>
                          <a:latin typeface="Arial"/>
                        </a:rPr>
                        <a:t>comité</a:t>
                      </a:r>
                      <a:r>
                        <a:rPr sz="1000" b="0" i="0" dirty="0" lang="es-SV">
                          <a:solidFill>
                            <a:srgbClr val="1B2333"/>
                          </a:solidFill>
                          <a:latin typeface="Arial"/>
                        </a:rPr>
                        <a:t>.</a:t>
                      </a:r>
                    </a:p>
                    <a:p>
                      <a:pPr algn="just"/>
                      <a:r>
                        <a:rPr sz="1000" b="1" i="0" dirty="0" lang="es-SV">
                          <a:solidFill>
                            <a:srgbClr val="00376E"/>
                          </a:solidFill>
                          <a:latin typeface="Arial"/>
                        </a:rPr>
                        <a:t>NRP-20, art. 13, lit. c</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b) Coordinar con las áreas involucradas, la evaluación de criticidad de los nuevos proveedores de servicios críticos a contratar.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b) </a:t>
                      </a:r>
                      <a:r>
                        <a:rPr sz="1000" b="0" i="0" dirty="0" lang="es-SV">
                          <a:solidFill>
                            <a:srgbClr val="1B2333"/>
                          </a:solidFill>
                          <a:latin typeface="Arial"/>
                        </a:rPr>
                        <a:t>Coordinar</a:t>
                      </a:r>
                      <a:r>
                        <a:rPr sz="1000" b="0" i="0" dirty="0" lang="es-SV">
                          <a:solidFill>
                            <a:srgbClr val="1B2333"/>
                          </a:solidFill>
                          <a:latin typeface="Arial"/>
                        </a:rPr>
                        <a:t> con las </a:t>
                      </a:r>
                      <a:r>
                        <a:rPr sz="1000" b="0" i="0" dirty="0" lang="es-SV">
                          <a:solidFill>
                            <a:srgbClr val="1B2333"/>
                          </a:solidFill>
                          <a:latin typeface="Arial"/>
                        </a:rPr>
                        <a:t>áreas</a:t>
                      </a:r>
                      <a:r>
                        <a:rPr sz="1000" b="0" i="0" dirty="0" lang="es-SV">
                          <a:solidFill>
                            <a:srgbClr val="1B2333"/>
                          </a:solidFill>
                          <a:latin typeface="Arial"/>
                        </a:rPr>
                        <a:t> </a:t>
                      </a:r>
                      <a:r>
                        <a:rPr sz="1000" b="0" i="0" dirty="0" lang="es-SV">
                          <a:solidFill>
                            <a:srgbClr val="1B2333"/>
                          </a:solidFill>
                          <a:latin typeface="Arial"/>
                        </a:rPr>
                        <a:t>involucradas</a:t>
                      </a:r>
                      <a:r>
                        <a:rPr sz="1000" b="0" i="0" dirty="0" lang="es-SV">
                          <a:solidFill>
                            <a:srgbClr val="1B2333"/>
                          </a:solidFill>
                          <a:latin typeface="Arial"/>
                        </a:rPr>
                        <a:t> la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criticidad</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nuevos</a:t>
                      </a:r>
                      <a:r>
                        <a:rPr sz="1000" b="0" i="0" dirty="0" lang="es-SV">
                          <a:solidFill>
                            <a:srgbClr val="1B2333"/>
                          </a:solidFill>
                          <a:latin typeface="Arial"/>
                        </a:rPr>
                        <a:t> </a:t>
                      </a:r>
                      <a:r>
                        <a:rPr sz="1000" b="0" i="0" dirty="0" lang="es-SV">
                          <a:solidFill>
                            <a:srgbClr val="1B2333"/>
                          </a:solidFill>
                          <a:latin typeface="Arial"/>
                        </a:rPr>
                        <a:t>proveedores</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 </a:t>
                      </a:r>
                      <a:r>
                        <a:rPr sz="1000" b="0" i="0" dirty="0" lang="es-SV">
                          <a:solidFill>
                            <a:srgbClr val="1B2333"/>
                          </a:solidFill>
                          <a:latin typeface="Arial"/>
                        </a:rPr>
                        <a:t>contratar</a:t>
                      </a:r>
                      <a:r>
                        <a:rPr sz="1000" b="1" i="0" u="sng" dirty="0" lang="es-SV">
                          <a:solidFill>
                            <a:srgbClr val="00376E"/>
                          </a:solidFill>
                          <a:latin typeface="Arial"/>
                        </a:rPr>
                        <a:t>, </a:t>
                      </a:r>
                      <a:r>
                        <a:rPr sz="1000" b="1" i="0" u="sng" dirty="0" lang="es-SV">
                          <a:solidFill>
                            <a:srgbClr val="00376E"/>
                          </a:solidFill>
                          <a:latin typeface="Arial"/>
                        </a:rPr>
                        <a:t>así</a:t>
                      </a:r>
                      <a:r>
                        <a:rPr sz="1000" b="1" i="0" u="sng" dirty="0" lang="es-SV">
                          <a:solidFill>
                            <a:srgbClr val="00376E"/>
                          </a:solidFill>
                          <a:latin typeface="Arial"/>
                        </a:rPr>
                        <a:t> </a:t>
                      </a:r>
                      <a:r>
                        <a:rPr sz="1000" b="1" i="0" u="sng" dirty="0" lang="es-SV">
                          <a:solidFill>
                            <a:srgbClr val="00376E"/>
                          </a:solidFill>
                          <a:latin typeface="Arial"/>
                        </a:rPr>
                        <a:t>como</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reevaluación</a:t>
                      </a:r>
                      <a:r>
                        <a:rPr sz="1000" b="1" i="0" u="sng" dirty="0" lang="es-SV">
                          <a:solidFill>
                            <a:srgbClr val="00376E"/>
                          </a:solidFill>
                          <a:latin typeface="Arial"/>
                        </a:rPr>
                        <a:t> </a:t>
                      </a:r>
                      <a:r>
                        <a:rPr sz="1000" b="1" i="0" u="sng" dirty="0" lang="es-SV">
                          <a:solidFill>
                            <a:srgbClr val="00376E"/>
                          </a:solidFill>
                          <a:latin typeface="Arial"/>
                        </a:rPr>
                        <a:t>anual</a:t>
                      </a:r>
                      <a:r>
                        <a:rPr sz="1000" b="1" i="0" u="sng" dirty="0" lang="es-SV">
                          <a:solidFill>
                            <a:srgbClr val="00376E"/>
                          </a:solidFill>
                          <a:latin typeface="Arial"/>
                        </a:rPr>
                        <a:t> o ante </a:t>
                      </a:r>
                      <a:r>
                        <a:rPr sz="1000" b="1" i="0" u="sng" dirty="0" lang="es-SV">
                          <a:solidFill>
                            <a:srgbClr val="00376E"/>
                          </a:solidFill>
                          <a:latin typeface="Arial"/>
                        </a:rPr>
                        <a:t>cambios</a:t>
                      </a:r>
                      <a:r>
                        <a:rPr sz="1000" b="1" i="0" u="sng" dirty="0" lang="es-SV">
                          <a:solidFill>
                            <a:srgbClr val="00376E"/>
                          </a:solidFill>
                          <a:latin typeface="Arial"/>
                        </a:rPr>
                        <a:t> </a:t>
                      </a:r>
                      <a:r>
                        <a:rPr sz="1000" b="1" i="0" u="sng" dirty="0" lang="es-SV">
                          <a:solidFill>
                            <a:srgbClr val="00376E"/>
                          </a:solidFill>
                          <a:latin typeface="Arial"/>
                        </a:rPr>
                        <a:t>significativos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servicio</a:t>
                      </a:r>
                      <a:r>
                        <a:rPr sz="1000" b="1" i="0" u="sng" dirty="0" lang="es-SV">
                          <a:solidFill>
                            <a:srgbClr val="00376E"/>
                          </a:solidFill>
                          <a:latin typeface="Arial"/>
                        </a:rPr>
                        <a:t> o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La </a:t>
                      </a:r>
                      <a:r>
                        <a:rPr sz="1000" b="0" i="0" dirty="0" lang="es-SV">
                          <a:solidFill>
                            <a:srgbClr val="1B2333"/>
                          </a:solidFill>
                          <a:latin typeface="Arial"/>
                        </a:rPr>
                        <a:t>evaluación</a:t>
                      </a:r>
                      <a:r>
                        <a:rPr sz="1000" b="0" i="0" dirty="0" lang="es-SV">
                          <a:solidFill>
                            <a:srgbClr val="1B2333"/>
                          </a:solidFill>
                          <a:latin typeface="Arial"/>
                        </a:rPr>
                        <a:t> no termina con la </a:t>
                      </a:r>
                      <a:r>
                        <a:rPr sz="1000" b="0" i="0" dirty="0" lang="es-SV">
                          <a:solidFill>
                            <a:srgbClr val="1B2333"/>
                          </a:solidFill>
                          <a:latin typeface="Arial"/>
                        </a:rPr>
                        <a:t>contratación</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d) Elaborar la evaluación de riesgos previa a la contratación: riesgos operacionales (incluyendo tecnológicos y legales), reputacionales y financieros; concentración de entidades financieras en el proveedor; riesgo de liquidez y continuidad del negocio, proponiendo los mecanismos de mitigación.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Contenido</a:t>
                      </a:r>
                      <a:r>
                        <a:rPr sz="1000" b="0" i="0" dirty="0" lang="es-SV">
                          <a:solidFill>
                            <a:srgbClr val="1B2333"/>
                          </a:solidFill>
                          <a:latin typeface="Arial"/>
                        </a:rPr>
                        <a:t> </a:t>
                      </a:r>
                      <a:r>
                        <a:rPr sz="1000" b="0" i="0" dirty="0" lang="es-SV">
                          <a:solidFill>
                            <a:srgbClr val="1B2333"/>
                          </a:solidFill>
                          <a:latin typeface="Arial"/>
                        </a:rPr>
                        <a:t>mínimo</a:t>
                      </a:r>
                      <a:r>
                        <a:rPr sz="1000" b="0" i="0" dirty="0" lang="es-SV">
                          <a:solidFill>
                            <a:srgbClr val="1B2333"/>
                          </a:solidFill>
                          <a:latin typeface="Arial"/>
                        </a:rPr>
                        <a:t> de la </a:t>
                      </a:r>
                      <a:r>
                        <a:rPr sz="1000" b="0" i="0" dirty="0" lang="es-SV">
                          <a:solidFill>
                            <a:srgbClr val="1B2333"/>
                          </a:solidFill>
                          <a:latin typeface="Arial"/>
                        </a:rPr>
                        <a:t>evaluación</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1 y 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 Mantener actualizado el análisis de concentración de proveedores y reportar al Comité de Riesgos las exposiciones que superen los límites aprobados.</a:t>
                      </a:r>
                    </a:p>
                    <a:p>
                      <a:pPr algn="just"/>
                      <a:r>
                        <a:rPr sz="1000" b="1" i="0" u="sng" lang="es-SV">
                          <a:solidFill>
                            <a:srgbClr val="00376E"/>
                          </a:solidFill>
                          <a:latin typeface="Arial"/>
                        </a:rPr>
                        <a:t>f) Registrar en la base de datos de eventos de riesgo operacional las pérdidas e incidentes originados en proveedores.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Seguimiento</a:t>
                      </a:r>
                      <a:r>
                        <a:rPr sz="1000" b="0" i="0" dirty="0" lang="es-SV">
                          <a:solidFill>
                            <a:srgbClr val="1B2333"/>
                          </a:solidFill>
                          <a:latin typeface="Arial"/>
                        </a:rPr>
                        <a:t> de </a:t>
                      </a:r>
                      <a:r>
                        <a:rPr sz="1000" b="0" i="0" dirty="0" lang="es-SV">
                          <a:solidFill>
                            <a:srgbClr val="1B2333"/>
                          </a:solidFill>
                          <a:latin typeface="Arial"/>
                        </a:rPr>
                        <a:t>límites</a:t>
                      </a:r>
                      <a:r>
                        <a:rPr sz="1000" b="0" i="0" dirty="0" lang="es-SV">
                          <a:solidFill>
                            <a:srgbClr val="1B2333"/>
                          </a:solidFill>
                          <a:latin typeface="Arial"/>
                        </a:rPr>
                        <a:t> y </a:t>
                      </a:r>
                      <a:r>
                        <a:rPr sz="1000" b="0" i="0" dirty="0" lang="es-SV">
                          <a:solidFill>
                            <a:srgbClr val="1B2333"/>
                          </a:solidFill>
                          <a:latin typeface="Arial"/>
                        </a:rPr>
                        <a:t>registro</a:t>
                      </a:r>
                      <a:r>
                        <a:rPr sz="1000" b="0" i="0" dirty="0" lang="es-SV">
                          <a:solidFill>
                            <a:srgbClr val="1B2333"/>
                          </a:solidFill>
                          <a:latin typeface="Arial"/>
                        </a:rPr>
                        <a:t> de </a:t>
                      </a:r>
                      <a:r>
                        <a:rPr sz="1000" b="0" i="0" dirty="0" lang="es-SV">
                          <a:solidFill>
                            <a:srgbClr val="1B2333"/>
                          </a:solidFill>
                          <a:latin typeface="Arial"/>
                        </a:rPr>
                        <a:t>eventos</a:t>
                      </a:r>
                      <a:r>
                        <a:rPr sz="1000" b="0" i="0" dirty="0" lang="es-SV">
                          <a:solidFill>
                            <a:srgbClr val="1B2333"/>
                          </a:solidFill>
                          <a:latin typeface="Arial"/>
                        </a:rPr>
                        <a:t>.</a:t>
                      </a:r>
                    </a:p>
                    <a:p>
                      <a:pPr algn="just"/>
                      <a:r>
                        <a:rPr sz="1000" b="1" i="0" dirty="0" lang="es-SV">
                          <a:solidFill>
                            <a:srgbClr val="00376E"/>
                          </a:solidFill>
                          <a:latin typeface="Arial"/>
                        </a:rPr>
                        <a:t>NRP-20, art. 13, lit. h · NRP-42, art.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58496"/>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57047" y="177546"/>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IV. </a:t>
            </a:r>
            <a:r>
              <a:rPr sz="2000" b="1" i="0" dirty="0" lang="es-SV">
                <a:solidFill>
                  <a:srgbClr val="00376E"/>
                </a:solidFill>
                <a:latin typeface="Century Gothic"/>
              </a:rPr>
              <a:t>Responsabilidades</a:t>
            </a:r>
            <a:r>
              <a:rPr sz="2000" b="1" i="0" dirty="0" lang="es-SV">
                <a:solidFill>
                  <a:srgbClr val="00376E"/>
                </a:solidFill>
                <a:latin typeface="Century Gothic"/>
              </a:rPr>
              <a:t> — </a:t>
            </a:r>
            <a:r>
              <a:rPr sz="2000" b="1" i="0" dirty="0" lang="es-SV">
                <a:solidFill>
                  <a:srgbClr val="00376E"/>
                </a:solidFill>
                <a:latin typeface="Century Gothic"/>
              </a:rPr>
              <a:t>Administrador</a:t>
            </a:r>
            <a:r>
              <a:rPr sz="2000" b="1" i="0" dirty="0" lang="es-SV">
                <a:solidFill>
                  <a:srgbClr val="00376E"/>
                </a:solidFill>
                <a:latin typeface="Century Gothic"/>
              </a:rPr>
              <a:t> de </a:t>
            </a:r>
            <a:r>
              <a:rPr sz="2000" b="1" i="0" dirty="0" lang="es-SV">
                <a:solidFill>
                  <a:srgbClr val="00376E"/>
                </a:solidFill>
                <a:latin typeface="Century Gothic"/>
              </a:rPr>
              <a:t>Contrato</a:t>
            </a:r>
            <a:r>
              <a:rPr sz="2000" b="1" i="0" dirty="0" lang="es-SV">
                <a:solidFill>
                  <a:srgbClr val="00376E"/>
                </a:solidFill>
                <a:latin typeface="Century Gothic"/>
              </a:rPr>
              <a:t>, Legal y OSI</a:t>
            </a:r>
          </a:p>
        </p:txBody>
      </p:sp>
      <p:graphicFrame>
        <p:nvGraphicFramePr>
          <p:cNvPr id="16" name="Table 15"/>
          <p:cNvGraphicFramePr>
            <a:graphicFrameLocks noGrp="1"/>
          </p:cNvGraphicFramePr>
          <p:nvPr>
            <p:extLst>
              <p:ext uri="{D42A27DB-BD31-4B8C-83A1-F6EECF244321}">
                <p14:modId xmlns:p14="http://schemas.microsoft.com/office/powerpoint/2010/main" val="2680383123"/>
              </p:ext>
            </p:extLst>
          </p:nvPr>
        </p:nvGraphicFramePr>
        <p:xfrm>
          <a:off x="548640" y="744855"/>
          <a:ext cx="11091672" cy="31516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r>
                        <a:rPr sz="1000" b="1" i="0" lang="es-SV">
                          <a:solidFill>
                            <a:srgbClr val="00376E"/>
                          </a:solidFill>
                          <a:latin typeface="Arial"/>
                        </a:rPr>
                        <a:t>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lang="es-SV">
                          <a:solidFill>
                            <a:srgbClr val="1B2333"/>
                          </a:solidFill>
                          <a:latin typeface="Arial"/>
                        </a:rPr>
                        <a:t>d) </a:t>
                      </a:r>
                      <a:r>
                        <a:rPr sz="1000" b="0" i="0" dirty="0" lang="es-SV">
                          <a:solidFill>
                            <a:srgbClr val="1B2333"/>
                          </a:solidFill>
                          <a:latin typeface="Arial"/>
                        </a:rPr>
                        <a:t>Solicitar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y a la </a:t>
                      </a:r>
                      <a:r>
                        <a:rPr sz="1000" b="0" i="0" dirty="0" lang="es-SV">
                          <a:solidFill>
                            <a:srgbClr val="1B2333"/>
                          </a:solidFill>
                          <a:latin typeface="Arial"/>
                        </a:rPr>
                        <a:t>Oficialía</a:t>
                      </a:r>
                      <a:r>
                        <a:rPr sz="1000" b="0" i="0" dirty="0" lang="es-SV">
                          <a:solidFill>
                            <a:srgbClr val="1B2333"/>
                          </a:solidFill>
                          <a:latin typeface="Arial"/>
                        </a:rPr>
                        <a:t> de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a:t>
                      </a:r>
                      <a:r>
                        <a:rPr sz="1000" b="0" i="0" dirty="0" lang="es-SV">
                          <a:solidFill>
                            <a:srgbClr val="1B2333"/>
                          </a:solidFill>
                          <a:latin typeface="Arial"/>
                        </a:rPr>
                        <a:t>previo</a:t>
                      </a:r>
                      <a:r>
                        <a:rPr sz="1000" b="0" i="0" dirty="0" lang="es-SV">
                          <a:solidFill>
                            <a:srgbClr val="1B2333"/>
                          </a:solidFill>
                          <a:latin typeface="Arial"/>
                        </a:rPr>
                        <a:t> a la </a:t>
                      </a:r>
                      <a:r>
                        <a:rPr sz="1000" b="0" i="0" dirty="0" lang="es-SV">
                          <a:solidFill>
                            <a:srgbClr val="1B2333"/>
                          </a:solidFill>
                          <a:latin typeface="Arial"/>
                        </a:rPr>
                        <a:t>contratación</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acuerdo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las Normas </a:t>
                      </a:r>
                      <a:r>
                        <a:rPr sz="1000" b="0" i="0" dirty="0" lang="es-SV">
                          <a:solidFill>
                            <a:srgbClr val="1B2333"/>
                          </a:solidFill>
                          <a:latin typeface="Arial"/>
                        </a:rPr>
                        <a:t>Técnicas</a:t>
                      </a:r>
                      <a:r>
                        <a:rPr sz="1000" b="0" i="0" dirty="0" lang="es-SV">
                          <a:solidFill>
                            <a:srgbClr val="1B2333"/>
                          </a:solidFill>
                          <a:latin typeface="Arial"/>
                        </a:rPr>
                        <a:t> </a:t>
                      </a:r>
                      <a:r>
                        <a:rPr sz="1000" b="0" i="0" dirty="0" lang="es-SV">
                          <a:solidFill>
                            <a:srgbClr val="1B2333"/>
                          </a:solidFill>
                          <a:latin typeface="Arial"/>
                        </a:rPr>
                        <a:t>correspondientes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lang="es-SV">
                          <a:solidFill>
                            <a:srgbClr val="1B2333"/>
                          </a:solidFill>
                          <a:latin typeface="Arial"/>
                        </a:rPr>
                        <a:t>d) </a:t>
                      </a:r>
                      <a:r>
                        <a:rPr sz="1000" b="0" i="0" dirty="0" lang="es-SV">
                          <a:solidFill>
                            <a:srgbClr val="1B2333"/>
                          </a:solidFill>
                          <a:latin typeface="Arial"/>
                        </a:rPr>
                        <a:t>Solicitar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y a la </a:t>
                      </a:r>
                      <a:r>
                        <a:rPr sz="1000" b="0" i="0" dirty="0" lang="es-SV">
                          <a:solidFill>
                            <a:srgbClr val="1B2333"/>
                          </a:solidFill>
                          <a:latin typeface="Arial"/>
                        </a:rPr>
                        <a:t>Oficialía</a:t>
                      </a:r>
                      <a:r>
                        <a:rPr sz="1000" b="0" i="0" dirty="0" lang="es-SV">
                          <a:solidFill>
                            <a:srgbClr val="1B2333"/>
                          </a:solidFill>
                          <a:latin typeface="Arial"/>
                        </a:rPr>
                        <a:t> de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acuerdo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las Normas </a:t>
                      </a:r>
                      <a:r>
                        <a:rPr sz="1000" b="0" i="0" dirty="0" lang="es-SV">
                          <a:solidFill>
                            <a:srgbClr val="1B2333"/>
                          </a:solidFill>
                          <a:latin typeface="Arial"/>
                        </a:rPr>
                        <a:t>Técnicas</a:t>
                      </a:r>
                      <a:r>
                        <a:rPr sz="1000" b="0" i="0" dirty="0" lang="es-SV">
                          <a:solidFill>
                            <a:srgbClr val="1B2333"/>
                          </a:solidFill>
                          <a:latin typeface="Arial"/>
                        </a:rPr>
                        <a:t> </a:t>
                      </a:r>
                      <a:r>
                        <a:rPr sz="1000" b="0" i="0" dirty="0" lang="es-SV">
                          <a:solidFill>
                            <a:srgbClr val="1B2333"/>
                          </a:solidFill>
                          <a:latin typeface="Arial"/>
                        </a:rPr>
                        <a:t>correspondientes</a:t>
                      </a:r>
                      <a:r>
                        <a:rPr sz="1000" b="0" i="0" dirty="0" lang="es-SV">
                          <a:solidFill>
                            <a:srgbClr val="1B2333"/>
                          </a:solidFill>
                          <a:latin typeface="Arial"/>
                        </a:rPr>
                        <a:t> </a:t>
                      </a:r>
                      <a:r>
                        <a:rPr sz="1000" b="1" i="0" u="sng" dirty="0" lang="es-SV">
                          <a:solidFill>
                            <a:srgbClr val="00376E"/>
                          </a:solidFill>
                          <a:latin typeface="Arial"/>
                        </a:rPr>
                        <a:t>(NRP-20, NRP-42, NRP-24, NRP-23 y NRP-05).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lang="es-SV">
                          <a:solidFill>
                            <a:srgbClr val="1B2333"/>
                          </a:solidFill>
                          <a:latin typeface="Arial"/>
                        </a:rPr>
                        <a:t>Se identifican las normas aplicables.</a:t>
                      </a:r>
                    </a:p>
                    <a:p>
                      <a:r>
                        <a:rPr sz="1000" b="1" i="0" lang="es-SV">
                          <a:solidFill>
                            <a:srgbClr val="00376E"/>
                          </a:solidFill>
                          <a:latin typeface="Arial"/>
                        </a:rPr>
                        <a:t>NRP-20 · 42 · 24 · 23 · 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r>
                        <a:rPr sz="1000" b="1" i="0" lang="es-SV">
                          <a:solidFill>
                            <a:srgbClr val="00376E"/>
                          </a:solidFill>
                          <a:latin typeface="Arial"/>
                        </a:rPr>
                        <a:t>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1" i="0" u="sng" lang="es-SV">
                          <a:solidFill>
                            <a:srgbClr val="00376E"/>
                          </a:solidFill>
                          <a:latin typeface="Arial"/>
                        </a:rPr>
                        <a:t>Administrador de Contrato f) Reportar al Departamento de Administración de Riesgos todo evento de riesgo operacional, incidente, interrupción, incumplimiento o pérdida originada en el proveedor, dentro de los plazos de la normativa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lang="es-SV">
                          <a:solidFill>
                            <a:srgbClr val="1B2333"/>
                          </a:solidFill>
                          <a:latin typeface="Arial"/>
                        </a:rPr>
                        <a:t>Alimenta</a:t>
                      </a:r>
                      <a:r>
                        <a:rPr sz="1000" b="0" i="0" dirty="0" lang="es-SV">
                          <a:solidFill>
                            <a:srgbClr val="1B2333"/>
                          </a:solidFill>
                          <a:latin typeface="Arial"/>
                        </a:rPr>
                        <a:t> la base de </a:t>
                      </a:r>
                      <a:r>
                        <a:rPr sz="1000" b="0" i="0" dirty="0" lang="es-SV">
                          <a:solidFill>
                            <a:srgbClr val="1B2333"/>
                          </a:solidFill>
                          <a:latin typeface="Arial"/>
                        </a:rPr>
                        <a:t>datos</a:t>
                      </a:r>
                      <a:r>
                        <a:rPr sz="1000" b="0" i="0" dirty="0" lang="es-SV">
                          <a:solidFill>
                            <a:srgbClr val="1B2333"/>
                          </a:solidFill>
                          <a:latin typeface="Arial"/>
                        </a:rPr>
                        <a:t> de </a:t>
                      </a:r>
                      <a:r>
                        <a:rPr sz="1000" b="0" i="0" dirty="0" lang="es-SV">
                          <a:solidFill>
                            <a:srgbClr val="1B2333"/>
                          </a:solidFill>
                          <a:latin typeface="Arial"/>
                        </a:rPr>
                        <a:t>eventos</a:t>
                      </a:r>
                      <a:r>
                        <a:rPr sz="1000" b="0" i="0" dirty="0" lang="es-SV">
                          <a:solidFill>
                            <a:srgbClr val="1B2333"/>
                          </a:solidFill>
                          <a:latin typeface="Arial"/>
                        </a:rPr>
                        <a:t>.</a:t>
                      </a:r>
                    </a:p>
                    <a:p>
                      <a:r>
                        <a:rPr sz="1000" b="1" i="0" dirty="0" lang="es-SV">
                          <a:solidFill>
                            <a:srgbClr val="00376E"/>
                          </a:solidFill>
                          <a:latin typeface="Arial"/>
                        </a:rPr>
                        <a:t>NRP-42, arts. 8, lit. d y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r>
                        <a:rPr sz="1000" b="1" i="0" lang="es-SV">
                          <a:solidFill>
                            <a:srgbClr val="00376E"/>
                          </a:solidFill>
                          <a:latin typeface="Arial"/>
                        </a:rPr>
                        <a:t>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lang="es-SV">
                          <a:solidFill>
                            <a:srgbClr val="1B2333"/>
                          </a:solidFill>
                          <a:latin typeface="Arial"/>
                        </a:rPr>
                        <a:t>Jefe del Departamento Jurídico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lang="es-SV">
                          <a:solidFill>
                            <a:srgbClr val="1B2333"/>
                          </a:solidFill>
                          <a:latin typeface="Arial"/>
                        </a:rPr>
                        <a:t>Jefe del Departamento </a:t>
                      </a:r>
                      <a:r>
                        <a:rPr sz="1000" b="1" i="0" u="sng" lang="es-SV">
                          <a:solidFill>
                            <a:srgbClr val="00376E"/>
                          </a:solidFill>
                          <a:latin typeface="Arial"/>
                        </a:rPr>
                        <a:t>Legal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lang="es-SV">
                          <a:solidFill>
                            <a:srgbClr val="1B2333"/>
                          </a:solidFill>
                          <a:latin typeface="Arial"/>
                        </a:rPr>
                        <a:t>Nombre </a:t>
                      </a:r>
                      <a:r>
                        <a:rPr sz="1000" b="0" i="0" dirty="0" lang="es-SV">
                          <a:solidFill>
                            <a:srgbClr val="1B2333"/>
                          </a:solidFill>
                          <a:latin typeface="Arial"/>
                        </a:rPr>
                        <a:t>vigente</a:t>
                      </a:r>
                      <a:r>
                        <a:rPr sz="1000" b="0" i="0" dirty="0" lang="es-SV">
                          <a:solidFill>
                            <a:srgbClr val="1B2333"/>
                          </a:solidFill>
                          <a:latin typeface="Arial"/>
                        </a:rPr>
                        <a:t> del </a:t>
                      </a:r>
                      <a:r>
                        <a:rPr sz="1000" b="0" i="0" dirty="0" lang="es-SV">
                          <a:solidFill>
                            <a:srgbClr val="1B2333"/>
                          </a:solidFill>
                          <a:latin typeface="Arial"/>
                        </a:rPr>
                        <a:t>departamento</a:t>
                      </a:r>
                      <a:r>
                        <a:rPr sz="1000" b="0" i="0" dirty="0" lang="es-SV">
                          <a:solidFill>
                            <a:srgbClr val="1B2333"/>
                          </a:solidFill>
                          <a:latin typeface="Arial"/>
                        </a:rPr>
                        <a:t>.</a:t>
                      </a:r>
                    </a:p>
                    <a:p>
                      <a:r>
                        <a:rPr sz="1000" b="1" i="0" dirty="0" lang="es-SV">
                          <a:solidFill>
                            <a:srgbClr val="00376E"/>
                          </a:solidFill>
                          <a:latin typeface="Arial"/>
                        </a:rPr>
                        <a:t>Estructura</a:t>
                      </a:r>
                      <a:r>
                        <a:rPr sz="1000" b="1" i="0" dirty="0" lang="es-SV">
                          <a:solidFill>
                            <a:srgbClr val="00376E"/>
                          </a:solidFill>
                          <a:latin typeface="Arial"/>
                        </a:rPr>
                        <a:t> </a:t>
                      </a:r>
                      <a:r>
                        <a:rPr sz="1000" b="1" i="0" dirty="0" lang="es-SV">
                          <a:solidFill>
                            <a:srgbClr val="00376E"/>
                          </a:solidFill>
                          <a:latin typeface="Arial"/>
                        </a:rPr>
                        <a:t>organizativa</a:t>
                      </a:r>
                      <a:endParaRPr sz="1000" b="1" i="0" dirty="0" lang="es-SV">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r>
                        <a:rPr sz="1000" b="1" i="0" lang="es-SV">
                          <a:solidFill>
                            <a:srgbClr val="00376E"/>
                          </a:solidFill>
                          <a:latin typeface="Arial"/>
                        </a:rPr>
                        <a:t>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lang="es-SV">
                          <a:solidFill>
                            <a:srgbClr val="1B2333"/>
                          </a:solidFill>
                          <a:latin typeface="Arial"/>
                        </a:rPr>
                        <a:t>b) </a:t>
                      </a:r>
                      <a:r>
                        <a:rPr sz="1000" b="0" i="0" dirty="0" lang="es-SV">
                          <a:solidFill>
                            <a:srgbClr val="1B2333"/>
                          </a:solidFill>
                          <a:latin typeface="Arial"/>
                        </a:rPr>
                        <a:t>Solicitar</a:t>
                      </a:r>
                      <a:r>
                        <a:rPr sz="1000" b="0" i="0" dirty="0" lang="es-SV">
                          <a:solidFill>
                            <a:srgbClr val="1B2333"/>
                          </a:solidFill>
                          <a:latin typeface="Arial"/>
                        </a:rPr>
                        <a:t> al </a:t>
                      </a:r>
                      <a:r>
                        <a:rPr sz="1000" b="0" i="0" dirty="0" lang="es-SV">
                          <a:solidFill>
                            <a:srgbClr val="1B2333"/>
                          </a:solidFill>
                          <a:latin typeface="Arial"/>
                        </a:rPr>
                        <a:t>Oficial</a:t>
                      </a:r>
                      <a:r>
                        <a:rPr sz="1000" b="0" i="0" dirty="0" lang="es-SV">
                          <a:solidFill>
                            <a:srgbClr val="1B2333"/>
                          </a:solidFill>
                          <a:latin typeface="Arial"/>
                        </a:rPr>
                        <a:t> de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las </a:t>
                      </a:r>
                      <a:r>
                        <a:rPr sz="1000" b="0" i="0" dirty="0" lang="es-SV">
                          <a:solidFill>
                            <a:srgbClr val="1B2333"/>
                          </a:solidFill>
                          <a:latin typeface="Arial"/>
                        </a:rPr>
                        <a:t>cláusulas</a:t>
                      </a:r>
                      <a:r>
                        <a:rPr sz="1000" b="0" i="0" dirty="0" lang="es-SV">
                          <a:solidFill>
                            <a:srgbClr val="1B2333"/>
                          </a:solidFill>
                          <a:latin typeface="Arial"/>
                        </a:rPr>
                        <a:t> del </a:t>
                      </a:r>
                      <a:r>
                        <a:rPr sz="1000" b="0" i="0" dirty="0" lang="es-SV">
                          <a:solidFill>
                            <a:srgbClr val="1B2333"/>
                          </a:solidFill>
                          <a:latin typeface="Arial"/>
                        </a:rPr>
                        <a:t>contrato</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debe</a:t>
                      </a:r>
                      <a:r>
                        <a:rPr sz="1000" b="0" i="0" dirty="0" lang="es-SV">
                          <a:solidFill>
                            <a:srgbClr val="1B2333"/>
                          </a:solidFill>
                          <a:latin typeface="Arial"/>
                        </a:rPr>
                        <a:t> </a:t>
                      </a:r>
                      <a:r>
                        <a:rPr sz="1000" b="0" i="0" dirty="0" lang="es-SV">
                          <a:solidFill>
                            <a:srgbClr val="1B2333"/>
                          </a:solidFill>
                          <a:latin typeface="Arial"/>
                        </a:rPr>
                        <a:t>cumplir</a:t>
                      </a:r>
                      <a:r>
                        <a:rPr sz="1000" b="0" i="0" dirty="0" lang="es-SV">
                          <a:solidFill>
                            <a:srgbClr val="1B2333"/>
                          </a:solidFill>
                          <a:latin typeface="Arial"/>
                        </a:rPr>
                        <a:t> el </a:t>
                      </a:r>
                      <a:r>
                        <a:rPr sz="1000" b="0" i="0" dirty="0" lang="es-SV">
                          <a:solidFill>
                            <a:srgbClr val="1B2333"/>
                          </a:solidFill>
                          <a:latin typeface="Arial"/>
                        </a:rPr>
                        <a:t>servicio</a:t>
                      </a:r>
                      <a:r>
                        <a:rPr sz="1000" b="0" i="0" dirty="0" lang="es-SV">
                          <a:solidFill>
                            <a:srgbClr val="1B2333"/>
                          </a:solidFill>
                          <a:latin typeface="Arial"/>
                        </a:rPr>
                        <a:t> de </a:t>
                      </a:r>
                      <a:r>
                        <a:rPr sz="1000" b="0" i="0" dirty="0" lang="es-SV">
                          <a:solidFill>
                            <a:srgbClr val="1B2333"/>
                          </a:solidFill>
                          <a:latin typeface="Arial"/>
                        </a:rPr>
                        <a:t>acuerdo</a:t>
                      </a:r>
                      <a:r>
                        <a:rPr sz="1000" b="0" i="0" dirty="0" lang="es-SV">
                          <a:solidFill>
                            <a:srgbClr val="1B2333"/>
                          </a:solidFill>
                          <a:latin typeface="Arial"/>
                        </a:rPr>
                        <a:t> al </a:t>
                      </a:r>
                      <a:r>
                        <a:rPr sz="1000" b="0" i="0" dirty="0" lang="es-SV">
                          <a:solidFill>
                            <a:srgbClr val="1B2333"/>
                          </a:solidFill>
                          <a:latin typeface="Arial"/>
                        </a:rPr>
                        <a:t>anexo</a:t>
                      </a:r>
                      <a:r>
                        <a:rPr sz="1000" b="0" i="0" dirty="0" lang="es-SV">
                          <a:solidFill>
                            <a:srgbClr val="1B2333"/>
                          </a:solidFill>
                          <a:latin typeface="Arial"/>
                        </a:rPr>
                        <a:t> No. 1 </a:t>
                      </a:r>
                      <a:r>
                        <a:rPr sz="1000" b="0" i="0" dirty="0" lang="es-SV">
                          <a:solidFill>
                            <a:srgbClr val="1B2333"/>
                          </a:solidFill>
                          <a:latin typeface="Arial"/>
                        </a:rPr>
                        <a:t>Condiciones</a:t>
                      </a:r>
                      <a:r>
                        <a:rPr sz="1000" b="0" i="0" dirty="0" lang="es-SV">
                          <a:solidFill>
                            <a:srgbClr val="1B2333"/>
                          </a:solidFill>
                          <a:latin typeface="Arial"/>
                        </a:rPr>
                        <a:t> para </a:t>
                      </a:r>
                      <a:r>
                        <a:rPr sz="1000" b="0" i="0" dirty="0" lang="es-SV">
                          <a:solidFill>
                            <a:srgbClr val="1B2333"/>
                          </a:solidFill>
                          <a:latin typeface="Arial"/>
                        </a:rPr>
                        <a:t>tercerizar</a:t>
                      </a:r>
                      <a:r>
                        <a:rPr sz="1000" b="0" i="0" dirty="0" lang="es-SV">
                          <a:solidFill>
                            <a:srgbClr val="1B2333"/>
                          </a:solidFill>
                          <a:latin typeface="Arial"/>
                        </a:rPr>
                        <a:t> </a:t>
                      </a:r>
                      <a:r>
                        <a:rPr sz="1000" b="0" i="0" dirty="0" lang="es-SV">
                          <a:solidFill>
                            <a:srgbClr val="1B2333"/>
                          </a:solidFill>
                          <a:latin typeface="Arial"/>
                        </a:rPr>
                        <a:t>Actividades</a:t>
                      </a:r>
                      <a:r>
                        <a:rPr sz="1000" b="0" i="0" dirty="0" lang="es-SV">
                          <a:solidFill>
                            <a:srgbClr val="1B2333"/>
                          </a:solidFill>
                          <a:latin typeface="Arial"/>
                        </a:rPr>
                        <a:t> u </a:t>
                      </a:r>
                      <a:r>
                        <a:rPr sz="1000" b="0" i="0" dirty="0" lang="es-SV">
                          <a:solidFill>
                            <a:srgbClr val="1B2333"/>
                          </a:solidFill>
                          <a:latin typeface="Arial"/>
                        </a:rPr>
                        <a:t>Operaciones</a:t>
                      </a:r>
                      <a:r>
                        <a:rPr sz="1000" b="0" i="0" dirty="0" lang="es-SV">
                          <a:solidFill>
                            <a:srgbClr val="1B2333"/>
                          </a:solidFill>
                          <a:latin typeface="Arial"/>
                        </a:rPr>
                        <a:t> de </a:t>
                      </a:r>
                      <a:r>
                        <a:rPr sz="1000" b="0" i="0" dirty="0" lang="es-SV">
                          <a:solidFill>
                            <a:srgbClr val="1B2333"/>
                          </a:solidFill>
                          <a:latin typeface="Arial"/>
                        </a:rPr>
                        <a:t>Tecnología</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lang="es-SV">
                          <a:solidFill>
                            <a:srgbClr val="1B2333"/>
                          </a:solidFill>
                          <a:latin typeface="Arial"/>
                        </a:rPr>
                        <a:t>b) Solicitar al Oficial de Seguridad de la Información las cláusulas del contrato que debe cumplir el servicio de acuerdo al Anexo No. 1, </a:t>
                      </a:r>
                      <a:r>
                        <a:rPr sz="1000" b="1" i="0" u="sng" lang="es-SV">
                          <a:solidFill>
                            <a:srgbClr val="00376E"/>
                          </a:solidFill>
                          <a:latin typeface="Arial"/>
                        </a:rPr>
                        <a:t>Sección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lang="es-SV">
                          <a:solidFill>
                            <a:srgbClr val="1B2333"/>
                          </a:solidFill>
                          <a:latin typeface="Arial"/>
                        </a:rPr>
                        <a:t>Precisa</a:t>
                      </a:r>
                      <a:r>
                        <a:rPr sz="1000" b="0" i="0" dirty="0" lang="es-SV">
                          <a:solidFill>
                            <a:srgbClr val="1B2333"/>
                          </a:solidFill>
                          <a:latin typeface="Arial"/>
                        </a:rPr>
                        <a:t> la </a:t>
                      </a:r>
                      <a:r>
                        <a:rPr sz="1000" b="0" i="0" dirty="0" lang="es-SV">
                          <a:solidFill>
                            <a:srgbClr val="1B2333"/>
                          </a:solidFill>
                          <a:latin typeface="Arial"/>
                        </a:rPr>
                        <a:t>sección</a:t>
                      </a:r>
                      <a:r>
                        <a:rPr sz="1000" b="0" i="0" dirty="0" lang="es-SV">
                          <a:solidFill>
                            <a:srgbClr val="1B2333"/>
                          </a:solidFill>
                          <a:latin typeface="Arial"/>
                        </a:rPr>
                        <a:t> de </a:t>
                      </a:r>
                      <a:r>
                        <a:rPr sz="1000" b="0" i="0" dirty="0" lang="es-SV">
                          <a:solidFill>
                            <a:srgbClr val="1B2333"/>
                          </a:solidFill>
                          <a:latin typeface="Arial"/>
                        </a:rPr>
                        <a:t>cláusulas</a:t>
                      </a:r>
                      <a:r>
                        <a:rPr sz="1000" b="0" i="0" dirty="0" lang="es-SV">
                          <a:solidFill>
                            <a:srgbClr val="1B2333"/>
                          </a:solidFill>
                          <a:latin typeface="Arial"/>
                        </a:rPr>
                        <a:t> </a:t>
                      </a:r>
                      <a:r>
                        <a:rPr sz="1000" b="0" i="0" dirty="0" lang="es-SV">
                          <a:solidFill>
                            <a:srgbClr val="1B2333"/>
                          </a:solidFill>
                          <a:latin typeface="Arial"/>
                        </a:rPr>
                        <a:t>contractuales</a:t>
                      </a:r>
                      <a:r>
                        <a:rPr sz="1000" b="0" i="0" dirty="0" lang="es-SV">
                          <a:solidFill>
                            <a:srgbClr val="1B2333"/>
                          </a:solidFill>
                          <a:latin typeface="Arial"/>
                        </a:rPr>
                        <a:t>.</a:t>
                      </a:r>
                    </a:p>
                    <a:p>
                      <a:r>
                        <a:rPr sz="1000" b="1" i="0" dirty="0" lang="es-SV">
                          <a:solidFill>
                            <a:srgbClr val="00376E"/>
                          </a:solidFill>
                          <a:latin typeface="Arial"/>
                        </a:rPr>
                        <a:t>NRP-23, art. 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93C4AEF5-D2DD-7CB3-2477-EF55598B10F1}"/>
              </a:ext>
            </a:extLst>
          </p:cNvPr>
          <p:cNvGraphicFramePr>
            <a:graphicFrameLocks noGrp="1"/>
          </p:cNvGraphicFramePr>
          <p:nvPr>
            <p:extLst>
              <p:ext uri="{D42A27DB-BD31-4B8C-83A1-F6EECF244321}">
                <p14:modId xmlns:p14="http://schemas.microsoft.com/office/powerpoint/2010/main" val="76972730"/>
              </p:ext>
            </p:extLst>
          </p:nvPr>
        </p:nvGraphicFramePr>
        <p:xfrm>
          <a:off x="548640" y="3907155"/>
          <a:ext cx="11091672" cy="216408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31</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Custodia: </a:t>
                      </a:r>
                      <a:r>
                        <a:rPr sz="1000" b="0" i="0" dirty="0" lang="es-SV">
                          <a:solidFill>
                            <a:srgbClr val="1B2333"/>
                          </a:solidFill>
                          <a:latin typeface="Arial"/>
                        </a:rPr>
                        <a:t>Responsable</a:t>
                      </a:r>
                      <a:r>
                        <a:rPr sz="1000" b="0" i="0" dirty="0" lang="es-SV">
                          <a:solidFill>
                            <a:srgbClr val="1B2333"/>
                          </a:solidFill>
                          <a:latin typeface="Arial"/>
                        </a:rPr>
                        <a:t> de </a:t>
                      </a:r>
                      <a:r>
                        <a:rPr sz="1000" b="0" i="0" dirty="0" lang="es-SV">
                          <a:solidFill>
                            <a:srgbClr val="1B2333"/>
                          </a:solidFill>
                          <a:latin typeface="Arial"/>
                        </a:rPr>
                        <a:t>resguardar</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contratos</a:t>
                      </a:r>
                      <a:r>
                        <a:rPr sz="1000" b="0" i="0" dirty="0" lang="es-SV">
                          <a:solidFill>
                            <a:srgbClr val="1B2333"/>
                          </a:solidFill>
                          <a:latin typeface="Arial"/>
                        </a:rPr>
                        <a:t>, </a:t>
                      </a:r>
                      <a:r>
                        <a:rPr sz="1000" b="0" i="0" dirty="0" lang="es-SV">
                          <a:solidFill>
                            <a:srgbClr val="1B2333"/>
                          </a:solidFill>
                          <a:latin typeface="Arial"/>
                        </a:rPr>
                        <a:t>garantías</a:t>
                      </a:r>
                      <a:r>
                        <a:rPr sz="1000" b="0" i="0" dirty="0" lang="es-SV">
                          <a:solidFill>
                            <a:srgbClr val="1B2333"/>
                          </a:solidFill>
                          <a:latin typeface="Arial"/>
                        </a:rPr>
                        <a:t> y </a:t>
                      </a:r>
                      <a:r>
                        <a:rPr sz="1000" b="0" i="0" dirty="0" lang="es-SV">
                          <a:solidFill>
                            <a:srgbClr val="1B2333"/>
                          </a:solidFill>
                          <a:latin typeface="Arial"/>
                        </a:rPr>
                        <a:t>adendas</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0" i="0" dirty="0" lang="es-SV">
                          <a:solidFill>
                            <a:srgbClr val="1B2333"/>
                          </a:solidFill>
                          <a:latin typeface="Arial"/>
                        </a:rPr>
                        <a:t>así</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llevar</a:t>
                      </a:r>
                      <a:r>
                        <a:rPr sz="1000" b="0" i="0" dirty="0" lang="es-SV">
                          <a:solidFill>
                            <a:srgbClr val="1B2333"/>
                          </a:solidFill>
                          <a:latin typeface="Arial"/>
                        </a:rPr>
                        <a:t> el control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resguardos</a:t>
                      </a:r>
                      <a:r>
                        <a:rPr sz="1000" b="0" i="0" dirty="0" lang="es-SV">
                          <a:solidFill>
                            <a:srgbClr val="1B2333"/>
                          </a:solidFill>
                          <a:latin typeface="Arial"/>
                        </a:rPr>
                        <a:t> </a:t>
                      </a:r>
                      <a:r>
                        <a:rPr sz="1000" b="0" i="0" dirty="0" lang="es-SV">
                          <a:solidFill>
                            <a:srgbClr val="1B2333"/>
                          </a:solidFill>
                          <a:latin typeface="Arial"/>
                        </a:rPr>
                        <a:t>respectivos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Responsable</a:t>
                      </a:r>
                      <a:r>
                        <a:rPr sz="1000" b="0" i="0" dirty="0" lang="es-SV">
                          <a:solidFill>
                            <a:srgbClr val="1B2333"/>
                          </a:solidFill>
                          <a:latin typeface="Arial"/>
                        </a:rPr>
                        <a:t> de </a:t>
                      </a:r>
                      <a:r>
                        <a:rPr sz="1000" b="0" i="0" dirty="0" lang="es-SV">
                          <a:solidFill>
                            <a:srgbClr val="1B2333"/>
                          </a:solidFill>
                          <a:latin typeface="Arial"/>
                        </a:rPr>
                        <a:t>resguardar</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contratos</a:t>
                      </a:r>
                      <a:r>
                        <a:rPr sz="1000" b="0" i="0" dirty="0" lang="es-SV">
                          <a:solidFill>
                            <a:srgbClr val="1B2333"/>
                          </a:solidFill>
                          <a:latin typeface="Arial"/>
                        </a:rPr>
                        <a:t> </a:t>
                      </a:r>
                      <a:r>
                        <a:rPr sz="1000" b="1" i="0" u="sng" dirty="0" lang="es-SV">
                          <a:solidFill>
                            <a:srgbClr val="00376E"/>
                          </a:solidFill>
                          <a:latin typeface="Arial"/>
                        </a:rPr>
                        <a:t>originales</a:t>
                      </a:r>
                      <a:r>
                        <a:rPr sz="1000" b="0" i="0" dirty="0" lang="es-SV">
                          <a:solidFill>
                            <a:srgbClr val="1B2333"/>
                          </a:solidFill>
                          <a:latin typeface="Arial"/>
                        </a:rPr>
                        <a:t>, </a:t>
                      </a:r>
                      <a:r>
                        <a:rPr sz="1000" b="0" i="0" dirty="0" lang="es-SV">
                          <a:solidFill>
                            <a:srgbClr val="1B2333"/>
                          </a:solidFill>
                          <a:latin typeface="Arial"/>
                        </a:rPr>
                        <a:t>garantías</a:t>
                      </a:r>
                      <a:r>
                        <a:rPr sz="1000" b="0" i="0" dirty="0" lang="es-SV">
                          <a:solidFill>
                            <a:srgbClr val="1B2333"/>
                          </a:solidFill>
                          <a:latin typeface="Arial"/>
                        </a:rPr>
                        <a:t> y </a:t>
                      </a:r>
                      <a:r>
                        <a:rPr sz="1000" b="0" i="0" dirty="0" lang="es-SV">
                          <a:solidFill>
                            <a:srgbClr val="1B2333"/>
                          </a:solidFill>
                          <a:latin typeface="Arial"/>
                        </a:rPr>
                        <a:t>adendas</a:t>
                      </a:r>
                      <a:r>
                        <a:rPr sz="1000" b="0" i="0" dirty="0" lang="es-SV">
                          <a:solidFill>
                            <a:srgbClr val="1B2333"/>
                          </a:solidFill>
                          <a:latin typeface="Arial"/>
                        </a:rPr>
                        <a:t>…, </a:t>
                      </a:r>
                      <a:r>
                        <a:rPr sz="1000" b="1" i="0" u="sng" dirty="0" lang="es-SV">
                          <a:solidFill>
                            <a:srgbClr val="00376E"/>
                          </a:solidFill>
                          <a:latin typeface="Arial"/>
                        </a:rPr>
                        <a:t>asegurando</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conservación</a:t>
                      </a:r>
                      <a:r>
                        <a:rPr sz="1000" b="1" i="0" u="sng" dirty="0" lang="es-SV">
                          <a:solidFill>
                            <a:srgbClr val="00376E"/>
                          </a:solidFill>
                          <a:latin typeface="Arial"/>
                        </a:rPr>
                        <a:t> </a:t>
                      </a:r>
                      <a:r>
                        <a:rPr sz="1000" b="1" i="0" u="sng" dirty="0" lang="es-SV">
                          <a:solidFill>
                            <a:srgbClr val="00376E"/>
                          </a:solidFill>
                          <a:latin typeface="Arial"/>
                        </a:rPr>
                        <a:t>ordenada</a:t>
                      </a:r>
                      <a:r>
                        <a:rPr sz="1000" b="1" i="0" u="sng" dirty="0" lang="es-SV">
                          <a:solidFill>
                            <a:srgbClr val="00376E"/>
                          </a:solidFill>
                          <a:latin typeface="Arial"/>
                        </a:rPr>
                        <a:t>, completa, </a:t>
                      </a:r>
                      <a:r>
                        <a:rPr sz="1000" b="1" i="0" u="sng" dirty="0" lang="es-SV">
                          <a:solidFill>
                            <a:srgbClr val="00376E"/>
                          </a:solidFill>
                          <a:latin typeface="Arial"/>
                        </a:rPr>
                        <a:t>íntegra</a:t>
                      </a:r>
                      <a:r>
                        <a:rPr sz="1000" b="1" i="0" u="sng" dirty="0" lang="es-SV">
                          <a:solidFill>
                            <a:srgbClr val="00376E"/>
                          </a:solidFill>
                          <a:latin typeface="Arial"/>
                        </a:rPr>
                        <a:t> y </a:t>
                      </a:r>
                      <a:r>
                        <a:rPr sz="1000" b="1" i="0" u="sng" dirty="0" lang="es-SV">
                          <a:solidFill>
                            <a:srgbClr val="00376E"/>
                          </a:solidFill>
                          <a:latin typeface="Arial"/>
                        </a:rPr>
                        <a:t>oportuna</a:t>
                      </a:r>
                      <a:r>
                        <a:rPr sz="1000" b="1" i="0" u="sng" dirty="0" lang="es-SV">
                          <a:solidFill>
                            <a:srgbClr val="00376E"/>
                          </a:solidFill>
                          <a:latin typeface="Arial"/>
                        </a:rPr>
                        <a:t>. Para </a:t>
                      </a:r>
                      <a:r>
                        <a:rPr sz="1000" b="1" i="0" u="sng" dirty="0" lang="es-SV">
                          <a:solidFill>
                            <a:srgbClr val="00376E"/>
                          </a:solidFill>
                          <a:latin typeface="Arial"/>
                        </a:rPr>
                        <a:t>ello</a:t>
                      </a:r>
                      <a:r>
                        <a:rPr sz="1000" b="1" i="0" u="sng" dirty="0" lang="es-SV">
                          <a:solidFill>
                            <a:srgbClr val="00376E"/>
                          </a:solidFill>
                          <a:latin typeface="Arial"/>
                        </a:rPr>
                        <a:t> </a:t>
                      </a:r>
                      <a:r>
                        <a:rPr sz="1000" b="1" i="0" u="sng" dirty="0" lang="es-SV">
                          <a:solidFill>
                            <a:srgbClr val="00376E"/>
                          </a:solidFill>
                          <a:latin typeface="Arial"/>
                        </a:rPr>
                        <a:t>deberá</a:t>
                      </a:r>
                      <a:r>
                        <a:rPr sz="1000" b="1" i="0" u="sng" dirty="0" lang="es-SV">
                          <a:solidFill>
                            <a:srgbClr val="00376E"/>
                          </a:solidFill>
                          <a:latin typeface="Arial"/>
                        </a:rPr>
                        <a:t>: a) registrar </a:t>
                      </a:r>
                      <a:r>
                        <a:rPr sz="1000" b="1" i="0" u="sng" dirty="0" lang="es-SV">
                          <a:solidFill>
                            <a:srgbClr val="00376E"/>
                          </a:solidFill>
                          <a:latin typeface="Arial"/>
                        </a:rPr>
                        <a:t>cada</a:t>
                      </a:r>
                      <a:r>
                        <a:rPr sz="1000" b="1" i="0" u="sng" dirty="0" lang="es-SV">
                          <a:solidFill>
                            <a:srgbClr val="00376E"/>
                          </a:solidFill>
                          <a:latin typeface="Arial"/>
                        </a:rPr>
                        <a:t> </a:t>
                      </a:r>
                      <a:r>
                        <a:rPr sz="1000" b="1" i="0" u="sng" dirty="0" lang="es-SV">
                          <a:solidFill>
                            <a:srgbClr val="00376E"/>
                          </a:solidFill>
                          <a:latin typeface="Arial"/>
                        </a:rPr>
                        <a:t>documento</a:t>
                      </a:r>
                      <a:r>
                        <a:rPr sz="1000" b="1" i="0" u="sng" dirty="0" lang="es-SV">
                          <a:solidFill>
                            <a:srgbClr val="00376E"/>
                          </a:solidFill>
                          <a:latin typeface="Arial"/>
                        </a:rPr>
                        <a:t> </a:t>
                      </a:r>
                      <a:r>
                        <a:rPr sz="1000" b="1" i="0" u="sng" dirty="0" lang="es-SV">
                          <a:solidFill>
                            <a:srgbClr val="00376E"/>
                          </a:solidFill>
                          <a:latin typeface="Arial"/>
                        </a:rPr>
                        <a:t>recibido</a:t>
                      </a:r>
                      <a:r>
                        <a:rPr sz="1000" b="1" i="0" u="sng" dirty="0" lang="es-SV">
                          <a:solidFill>
                            <a:srgbClr val="00376E"/>
                          </a:solidFill>
                          <a:latin typeface="Arial"/>
                        </a:rPr>
                        <a:t> (</a:t>
                      </a:r>
                      <a:r>
                        <a:rPr sz="1000" b="1" i="0" u="sng" dirty="0" lang="es-SV">
                          <a:solidFill>
                            <a:srgbClr val="00376E"/>
                          </a:solidFill>
                          <a:latin typeface="Arial"/>
                        </a:rPr>
                        <a:t>fecha</a:t>
                      </a:r>
                      <a:r>
                        <a:rPr sz="1000" b="1" i="0" u="sng" dirty="0" lang="es-SV">
                          <a:solidFill>
                            <a:srgbClr val="00376E"/>
                          </a:solidFill>
                          <a:latin typeface="Arial"/>
                        </a:rPr>
                        <a:t>,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número</a:t>
                      </a:r>
                      <a:r>
                        <a:rPr sz="1000" b="1" i="0" u="sng" dirty="0" lang="es-SV">
                          <a:solidFill>
                            <a:srgbClr val="00376E"/>
                          </a:solidFill>
                          <a:latin typeface="Arial"/>
                        </a:rPr>
                        <a:t> y </a:t>
                      </a:r>
                      <a:r>
                        <a:rPr sz="1000" b="1" i="0" u="sng" dirty="0" lang="es-SV">
                          <a:solidFill>
                            <a:srgbClr val="00376E"/>
                          </a:solidFill>
                          <a:latin typeface="Arial"/>
                        </a:rPr>
                        <a:t>vigencia</a:t>
                      </a:r>
                      <a:r>
                        <a:rPr sz="1000" b="1" i="0" u="sng" dirty="0" lang="es-SV">
                          <a:solidFill>
                            <a:srgbClr val="00376E"/>
                          </a:solidFill>
                          <a:latin typeface="Arial"/>
                        </a:rPr>
                        <a:t> del </a:t>
                      </a:r>
                      <a:r>
                        <a:rPr sz="1000" b="1" i="0" u="sng" dirty="0" lang="es-SV">
                          <a:solidFill>
                            <a:srgbClr val="00376E"/>
                          </a:solidFill>
                          <a:latin typeface="Arial"/>
                        </a:rPr>
                        <a:t>contrato</a:t>
                      </a:r>
                      <a:r>
                        <a:rPr sz="1000" b="1" i="0" u="sng" dirty="0" lang="es-SV">
                          <a:solidFill>
                            <a:srgbClr val="00376E"/>
                          </a:solidFill>
                          <a:latin typeface="Arial"/>
                        </a:rPr>
                        <a:t> y </a:t>
                      </a:r>
                      <a:r>
                        <a:rPr sz="1000" b="1" i="0" u="sng" dirty="0" lang="es-SV">
                          <a:solidFill>
                            <a:srgbClr val="00376E"/>
                          </a:solidFill>
                          <a:latin typeface="Arial"/>
                        </a:rPr>
                        <a:t>garantía</a:t>
                      </a:r>
                      <a:r>
                        <a:rPr sz="1000" b="1" i="0" u="sng" dirty="0" lang="es-SV">
                          <a:solidFill>
                            <a:srgbClr val="00376E"/>
                          </a:solidFill>
                          <a:latin typeface="Arial"/>
                        </a:rPr>
                        <a:t>); b) </a:t>
                      </a:r>
                      <a:r>
                        <a:rPr sz="1000" b="1" i="0" u="sng" dirty="0" lang="es-SV">
                          <a:solidFill>
                            <a:srgbClr val="00376E"/>
                          </a:solidFill>
                          <a:latin typeface="Arial"/>
                        </a:rPr>
                        <a:t>informar</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a:t>
                      </a:r>
                      <a:r>
                        <a:rPr sz="1000" b="1" i="0" u="sng" dirty="0" lang="es-SV">
                          <a:solidFill>
                            <a:srgbClr val="00376E"/>
                          </a:solidFill>
                          <a:latin typeface="Arial"/>
                        </a:rPr>
                        <a:t>escrito</a:t>
                      </a:r>
                      <a:r>
                        <a:rPr sz="1000" b="1" i="0" u="sng" dirty="0" lang="es-SV">
                          <a:solidFill>
                            <a:srgbClr val="00376E"/>
                          </a:solidFill>
                          <a:latin typeface="Arial"/>
                        </a:rPr>
                        <a:t>, con 30 días de </a:t>
                      </a:r>
                      <a:r>
                        <a:rPr sz="1000" b="1" i="0" u="sng" dirty="0" lang="es-SV">
                          <a:solidFill>
                            <a:srgbClr val="00376E"/>
                          </a:solidFill>
                          <a:latin typeface="Arial"/>
                        </a:rPr>
                        <a:t>anticipación</a:t>
                      </a:r>
                      <a:r>
                        <a:rPr sz="1000" b="1" i="0" u="sng" dirty="0" lang="es-SV">
                          <a:solidFill>
                            <a:srgbClr val="00376E"/>
                          </a:solidFill>
                          <a:latin typeface="Arial"/>
                        </a:rPr>
                        <a:t>, el </a:t>
                      </a:r>
                      <a:r>
                        <a:rPr sz="1000" b="1" i="0" u="sng" dirty="0" lang="es-SV">
                          <a:solidFill>
                            <a:srgbClr val="00376E"/>
                          </a:solidFill>
                          <a:latin typeface="Arial"/>
                        </a:rPr>
                        <a:t>vencimiento</a:t>
                      </a:r>
                      <a:r>
                        <a:rPr sz="1000" b="1" i="0" u="sng" dirty="0" lang="es-SV">
                          <a:solidFill>
                            <a:srgbClr val="00376E"/>
                          </a:solidFill>
                          <a:latin typeface="Arial"/>
                        </a:rPr>
                        <a:t> de </a:t>
                      </a:r>
                      <a:r>
                        <a:rPr sz="1000" b="1" i="0" u="sng" dirty="0" lang="es-SV">
                          <a:solidFill>
                            <a:srgbClr val="00376E"/>
                          </a:solidFill>
                          <a:latin typeface="Arial"/>
                        </a:rPr>
                        <a:t>contratos</a:t>
                      </a:r>
                      <a:r>
                        <a:rPr sz="1000" b="1" i="0" u="sng" dirty="0" lang="es-SV">
                          <a:solidFill>
                            <a:srgbClr val="00376E"/>
                          </a:solidFill>
                          <a:latin typeface="Arial"/>
                        </a:rPr>
                        <a:t> y </a:t>
                      </a:r>
                      <a:r>
                        <a:rPr sz="1000" b="1" i="0" u="sng" dirty="0" lang="es-SV">
                          <a:solidFill>
                            <a:srgbClr val="00376E"/>
                          </a:solidFill>
                          <a:latin typeface="Arial"/>
                        </a:rPr>
                        <a:t>garantías</a:t>
                      </a:r>
                      <a:r>
                        <a:rPr sz="1000" b="1" i="0" u="sng" dirty="0" lang="es-SV">
                          <a:solidFill>
                            <a:srgbClr val="00376E"/>
                          </a:solidFill>
                          <a:latin typeface="Arial"/>
                        </a:rPr>
                        <a:t>; c) </a:t>
                      </a:r>
                      <a:r>
                        <a:rPr sz="1000" b="1" i="0" u="sng" dirty="0" lang="es-SV">
                          <a:solidFill>
                            <a:srgbClr val="00376E"/>
                          </a:solidFill>
                          <a:latin typeface="Arial"/>
                        </a:rPr>
                        <a:t>mantener</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documentos</a:t>
                      </a:r>
                      <a:r>
                        <a:rPr sz="1000" b="1" i="0" u="sng" dirty="0" lang="es-SV">
                          <a:solidFill>
                            <a:srgbClr val="00376E"/>
                          </a:solidFill>
                          <a:latin typeface="Arial"/>
                        </a:rPr>
                        <a:t> a </a:t>
                      </a:r>
                      <a:r>
                        <a:rPr sz="1000" b="1" i="0" u="sng" dirty="0" lang="es-SV">
                          <a:solidFill>
                            <a:srgbClr val="00376E"/>
                          </a:solidFill>
                          <a:latin typeface="Arial"/>
                        </a:rPr>
                        <a:t>disposición</a:t>
                      </a:r>
                      <a:r>
                        <a:rPr sz="1000" b="1" i="0" u="sng" dirty="0" lang="es-SV">
                          <a:solidFill>
                            <a:srgbClr val="00376E"/>
                          </a:solidFill>
                          <a:latin typeface="Arial"/>
                        </a:rPr>
                        <a:t> de la </a:t>
                      </a:r>
                      <a:r>
                        <a:rPr sz="1000" b="1" i="0" u="sng" dirty="0" lang="es-SV">
                          <a:solidFill>
                            <a:srgbClr val="00376E"/>
                          </a:solidFill>
                          <a:latin typeface="Arial"/>
                        </a:rPr>
                        <a:t>Superintendencia</a:t>
                      </a:r>
                      <a:r>
                        <a:rPr sz="1000" b="1" i="0" u="sng" dirty="0" lang="es-SV">
                          <a:solidFill>
                            <a:srgbClr val="00376E"/>
                          </a:solidFill>
                          <a:latin typeface="Arial"/>
                        </a:rPr>
                        <a:t>, </a:t>
                      </a:r>
                      <a:r>
                        <a:rPr sz="1000" b="1" i="0" u="sng" dirty="0" lang="es-SV">
                          <a:solidFill>
                            <a:srgbClr val="00376E"/>
                          </a:solidFill>
                          <a:latin typeface="Arial"/>
                        </a:rPr>
                        <a:t>Auditoría</a:t>
                      </a:r>
                      <a:r>
                        <a:rPr sz="1000" b="1" i="0" u="sng" dirty="0" lang="es-SV">
                          <a:solidFill>
                            <a:srgbClr val="00376E"/>
                          </a:solidFill>
                          <a:latin typeface="Arial"/>
                        </a:rPr>
                        <a:t> Interna y </a:t>
                      </a:r>
                      <a:r>
                        <a:rPr sz="1000" b="1" i="0" u="sng" dirty="0" lang="es-SV">
                          <a:solidFill>
                            <a:srgbClr val="00376E"/>
                          </a:solidFill>
                          <a:latin typeface="Arial"/>
                        </a:rPr>
                        <a:t>auditores</a:t>
                      </a:r>
                      <a:r>
                        <a:rPr sz="1000" b="1" i="0" u="sng" dirty="0" lang="es-SV">
                          <a:solidFill>
                            <a:srgbClr val="00376E"/>
                          </a:solidFill>
                          <a:latin typeface="Arial"/>
                        </a:rPr>
                        <a:t> </a:t>
                      </a:r>
                      <a:r>
                        <a:rPr sz="1000" b="1" i="0" u="sng" dirty="0" lang="es-SV">
                          <a:solidFill>
                            <a:srgbClr val="00376E"/>
                          </a:solidFill>
                          <a:latin typeface="Arial"/>
                        </a:rPr>
                        <a:t>externos</a:t>
                      </a:r>
                      <a:r>
                        <a:rPr sz="1000" b="1" i="0" u="sng" dirty="0" lang="es-SV">
                          <a:solidFill>
                            <a:srgbClr val="00376E"/>
                          </a:solidFill>
                          <a:latin typeface="Arial"/>
                        </a:rPr>
                        <a:t>; d) </a:t>
                      </a:r>
                      <a:r>
                        <a:rPr sz="1000" b="1" i="0" u="sng" dirty="0" lang="es-SV">
                          <a:solidFill>
                            <a:srgbClr val="00376E"/>
                          </a:solidFill>
                          <a:latin typeface="Arial"/>
                        </a:rPr>
                        <a:t>entregar</a:t>
                      </a:r>
                      <a:r>
                        <a:rPr sz="1000" b="1" i="0" u="sng" dirty="0" lang="es-SV">
                          <a:solidFill>
                            <a:srgbClr val="00376E"/>
                          </a:solidFill>
                          <a:latin typeface="Arial"/>
                        </a:rPr>
                        <a:t> </a:t>
                      </a:r>
                      <a:r>
                        <a:rPr sz="1000" b="1" i="0" u="sng" dirty="0" lang="es-SV">
                          <a:solidFill>
                            <a:srgbClr val="00376E"/>
                          </a:solidFill>
                          <a:latin typeface="Arial"/>
                        </a:rPr>
                        <a:t>originales</a:t>
                      </a:r>
                      <a:r>
                        <a:rPr sz="1000" b="1" i="0" u="sng" dirty="0" lang="es-SV">
                          <a:solidFill>
                            <a:srgbClr val="00376E"/>
                          </a:solidFill>
                          <a:latin typeface="Arial"/>
                        </a:rPr>
                        <a:t> solo con </a:t>
                      </a:r>
                      <a:r>
                        <a:rPr sz="1000" b="1" i="0" u="sng" dirty="0" lang="es-SV">
                          <a:solidFill>
                            <a:srgbClr val="00376E"/>
                          </a:solidFill>
                          <a:latin typeface="Arial"/>
                        </a:rPr>
                        <a:t>autorización</a:t>
                      </a:r>
                      <a:r>
                        <a:rPr sz="1000" b="1" i="0" u="sng" dirty="0" lang="es-SV">
                          <a:solidFill>
                            <a:srgbClr val="00376E"/>
                          </a:solidFill>
                          <a:latin typeface="Arial"/>
                        </a:rPr>
                        <a:t> </a:t>
                      </a:r>
                      <a:r>
                        <a:rPr sz="1000" b="1" i="0" u="sng" dirty="0" lang="es-SV">
                          <a:solidFill>
                            <a:srgbClr val="00376E"/>
                          </a:solidFill>
                          <a:latin typeface="Arial"/>
                        </a:rPr>
                        <a:t>escrita</a:t>
                      </a:r>
                      <a:r>
                        <a:rPr sz="1000" b="1" i="0" u="sng" dirty="0" lang="es-SV">
                          <a:solidFill>
                            <a:srgbClr val="00376E"/>
                          </a:solidFill>
                          <a:latin typeface="Arial"/>
                        </a:rPr>
                        <a:t> y </a:t>
                      </a:r>
                      <a:r>
                        <a:rPr sz="1000" b="1" i="0" u="sng" dirty="0" lang="es-SV">
                          <a:solidFill>
                            <a:srgbClr val="00376E"/>
                          </a:solidFill>
                          <a:latin typeface="Arial"/>
                        </a:rPr>
                        <a:t>registro</a:t>
                      </a:r>
                      <a:r>
                        <a:rPr sz="1000" b="1" i="0" u="sng" dirty="0" lang="es-SV">
                          <a:solidFill>
                            <a:srgbClr val="00376E"/>
                          </a:solidFill>
                          <a:latin typeface="Arial"/>
                        </a:rPr>
                        <a:t> de salida y </a:t>
                      </a:r>
                      <a:r>
                        <a:rPr sz="1000" b="1" i="0" u="sng" dirty="0" lang="es-SV">
                          <a:solidFill>
                            <a:srgbClr val="00376E"/>
                          </a:solidFill>
                          <a:latin typeface="Arial"/>
                        </a:rPr>
                        <a:t>devolución</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Obligaciones</a:t>
                      </a:r>
                      <a:r>
                        <a:rPr sz="1000" b="0" i="0" dirty="0" lang="es-SV">
                          <a:solidFill>
                            <a:srgbClr val="1B2333"/>
                          </a:solidFill>
                          <a:latin typeface="Arial"/>
                        </a:rPr>
                        <a:t> </a:t>
                      </a:r>
                      <a:r>
                        <a:rPr sz="1000" b="0" i="0" dirty="0" lang="es-SV">
                          <a:solidFill>
                            <a:srgbClr val="1B2333"/>
                          </a:solidFill>
                          <a:latin typeface="Arial"/>
                        </a:rPr>
                        <a:t>concretas</a:t>
                      </a:r>
                      <a:r>
                        <a:rPr sz="1000" b="0" i="0" dirty="0" lang="es-SV">
                          <a:solidFill>
                            <a:srgbClr val="1B2333"/>
                          </a:solidFill>
                          <a:latin typeface="Arial"/>
                        </a:rPr>
                        <a:t> y </a:t>
                      </a:r>
                      <a:r>
                        <a:rPr sz="1000" b="0" i="0" dirty="0" lang="es-SV">
                          <a:solidFill>
                            <a:srgbClr val="1B2333"/>
                          </a:solidFill>
                          <a:latin typeface="Arial"/>
                        </a:rPr>
                        <a:t>verificables</a:t>
                      </a:r>
                      <a:r>
                        <a:rPr sz="1000" b="0" i="0" dirty="0" lang="es-SV">
                          <a:solidFill>
                            <a:srgbClr val="1B2333"/>
                          </a:solidFill>
                          <a:latin typeface="Arial"/>
                        </a:rPr>
                        <a:t>.</a:t>
                      </a:r>
                    </a:p>
                    <a:p>
                      <a:pPr algn="just"/>
                      <a:r>
                        <a:rPr sz="1000" b="1" i="0" dirty="0" lang="es-SV">
                          <a:solidFill>
                            <a:srgbClr val="00376E"/>
                          </a:solidFill>
                          <a:latin typeface="Arial"/>
                        </a:rPr>
                        <a:t>NRP-42, arts. 4 y 5 · NRP-23, Anexo 1, A-5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Servicios Generales a) Responsable de completar y actualizar la “Matriz Centralizada de Servicios Críticos Tercerizados” con los campos definidos en las Normas para la Gestión del Riesgo Operacional (NPB4-50).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Responsable de completar y actualizar la “Matriz Centralizada de Servicios Críticos Tercerizados” con los campos definidos en las </a:t>
                      </a:r>
                      <a:r>
                        <a:rPr sz="1000" b="1" i="0" u="sng" lang="es-SV">
                          <a:solidFill>
                            <a:srgbClr val="00376E"/>
                          </a:solidFill>
                          <a:latin typeface="Arial"/>
                        </a:rPr>
                        <a:t>Normas Técnicas para la Gestión del Riesgo Operacional de las Entidades Financieras (NRP-42): nombre del proveedor, tipo de servicio, monto del contrato, contraparte dentro de la Cooperativa y vigencia.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NPB4-50 </a:t>
                      </a:r>
                      <a:r>
                        <a:rPr sz="1000" b="0" i="0" dirty="0" lang="es-SV">
                          <a:solidFill>
                            <a:srgbClr val="1B2333"/>
                          </a:solidFill>
                          <a:latin typeface="Arial"/>
                        </a:rPr>
                        <a:t>derogada</a:t>
                      </a:r>
                      <a:r>
                        <a:rPr sz="1000" b="0" i="0" dirty="0" lang="es-SV">
                          <a:solidFill>
                            <a:srgbClr val="1B2333"/>
                          </a:solidFill>
                          <a:latin typeface="Arial"/>
                        </a:rPr>
                        <a:t>; se </a:t>
                      </a:r>
                      <a:r>
                        <a:rPr sz="1000" b="0" i="0" dirty="0" lang="es-SV">
                          <a:solidFill>
                            <a:srgbClr val="1B2333"/>
                          </a:solidFill>
                          <a:latin typeface="Arial"/>
                        </a:rPr>
                        <a:t>detallan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campos </a:t>
                      </a:r>
                      <a:r>
                        <a:rPr sz="1000" b="0" i="0" dirty="0" lang="es-SV">
                          <a:solidFill>
                            <a:srgbClr val="1B2333"/>
                          </a:solidFill>
                          <a:latin typeface="Arial"/>
                        </a:rPr>
                        <a:t>mínimos</a:t>
                      </a:r>
                      <a:r>
                        <a:rPr sz="1000" b="0" i="0" dirty="0" lang="es-SV">
                          <a:solidFill>
                            <a:srgbClr val="1B2333"/>
                          </a:solidFill>
                          <a:latin typeface="Arial"/>
                        </a:rPr>
                        <a:t> </a:t>
                      </a:r>
                      <a:r>
                        <a:rPr sz="1000" b="0" i="0" dirty="0" lang="es-SV">
                          <a:solidFill>
                            <a:srgbClr val="1B2333"/>
                          </a:solidFill>
                          <a:latin typeface="Arial"/>
                        </a:rPr>
                        <a:t>vigentes</a:t>
                      </a:r>
                      <a:r>
                        <a:rPr sz="1000" b="0" i="0" dirty="0" lang="es-SV">
                          <a:solidFill>
                            <a:srgbClr val="1B2333"/>
                          </a:solidFill>
                          <a:latin typeface="Arial"/>
                        </a:rPr>
                        <a:t>.</a:t>
                      </a:r>
                    </a:p>
                    <a:p>
                      <a:pPr algn="just"/>
                      <a:r>
                        <a:rPr sz="1000" b="1" i="0" dirty="0" lang="es-SV">
                          <a:solidFill>
                            <a:srgbClr val="00376E"/>
                          </a:solidFill>
                          <a:latin typeface="Arial"/>
                        </a:rPr>
                        <a:t>NRP-42, arts. 4 y 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dirty="0" lang="es-SV">
                <a:solidFill>
                  <a:srgbClr val="00376E"/>
                </a:solidFill>
                <a:latin typeface="Century Gothic"/>
              </a:rPr>
              <a:t>V. </a:t>
            </a:r>
            <a:r>
              <a:rPr sz="2000" b="1" i="0" dirty="0" lang="es-SV">
                <a:solidFill>
                  <a:srgbClr val="00376E"/>
                </a:solidFill>
                <a:latin typeface="Century Gothic"/>
              </a:rPr>
              <a:t>Criterios</a:t>
            </a:r>
            <a:r>
              <a:rPr sz="2000" b="1" i="0" dirty="0" lang="es-SV">
                <a:solidFill>
                  <a:srgbClr val="00376E"/>
                </a:solidFill>
                <a:latin typeface="Century Gothic"/>
              </a:rPr>
              <a:t> para </a:t>
            </a:r>
            <a:r>
              <a:rPr sz="2000" b="1" i="0" dirty="0" lang="es-SV">
                <a:solidFill>
                  <a:srgbClr val="00376E"/>
                </a:solidFill>
                <a:latin typeface="Century Gothic"/>
              </a:rPr>
              <a:t>identificar</a:t>
            </a:r>
            <a:r>
              <a:rPr sz="2000" b="1" i="0" dirty="0" lang="es-SV">
                <a:solidFill>
                  <a:srgbClr val="00376E"/>
                </a:solidFill>
                <a:latin typeface="Century Gothic"/>
              </a:rPr>
              <a:t> </a:t>
            </a:r>
            <a:r>
              <a:rPr sz="2000" b="1" i="0" dirty="0" lang="es-SV">
                <a:solidFill>
                  <a:srgbClr val="00376E"/>
                </a:solidFill>
                <a:latin typeface="Century Gothic"/>
              </a:rPr>
              <a:t>Servicios</a:t>
            </a:r>
            <a:r>
              <a:rPr sz="2000" b="1" i="0" dirty="0" lang="es-SV">
                <a:solidFill>
                  <a:srgbClr val="00376E"/>
                </a:solidFill>
                <a:latin typeface="Century Gothic"/>
              </a:rPr>
              <a:t> </a:t>
            </a:r>
            <a:r>
              <a:rPr sz="2000" b="1" i="0" dirty="0" lang="es-SV">
                <a:solidFill>
                  <a:srgbClr val="00376E"/>
                </a:solidFill>
                <a:latin typeface="Century Gothic"/>
              </a:rPr>
              <a:t>Críticos</a:t>
            </a:r>
            <a:r>
              <a:rPr sz="2000" b="1" i="0" dirty="0" lang="es-SV">
                <a:solidFill>
                  <a:srgbClr val="00376E"/>
                </a:solidFill>
                <a:latin typeface="Century Gothic"/>
              </a:rPr>
              <a:t> </a:t>
            </a:r>
            <a:r>
              <a:rPr sz="2000" b="1" i="0" dirty="0" lang="es-SV">
                <a:solidFill>
                  <a:srgbClr val="00376E"/>
                </a:solidFill>
                <a:latin typeface="Century Gothic"/>
              </a:rPr>
              <a:t>Tercerizados</a:t>
            </a:r>
            <a:r>
              <a:rPr sz="2000" b="1" i="0" dirty="0" lang="es-SV">
                <a:solidFill>
                  <a:srgbClr val="00376E"/>
                </a:solidFill>
                <a:latin typeface="Century Gothic"/>
              </a:rPr>
              <a:t> (1 de 2)</a:t>
            </a:r>
          </a:p>
        </p:txBody>
      </p:sp>
      <p:graphicFrame>
        <p:nvGraphicFramePr>
          <p:cNvPr id="16" name="Table 15"/>
          <p:cNvGraphicFramePr>
            <a:graphicFrameLocks noGrp="1"/>
          </p:cNvGraphicFramePr>
          <p:nvPr>
            <p:extLst>
              <p:ext uri="{D42A27DB-BD31-4B8C-83A1-F6EECF244321}">
                <p14:modId xmlns:p14="http://schemas.microsoft.com/office/powerpoint/2010/main" val="3042627927"/>
              </p:ext>
            </p:extLst>
          </p:nvPr>
        </p:nvGraphicFramePr>
        <p:xfrm>
          <a:off x="548640" y="566928"/>
          <a:ext cx="11091672" cy="23896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dirty="0" lang="es-SV">
                          <a:solidFill>
                            <a:srgbClr val="00376E"/>
                          </a:solidFill>
                          <a:latin typeface="Arial"/>
                        </a:rPr>
                        <a:t>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Un Servicio </a:t>
                      </a:r>
                      <a:r>
                        <a:rPr sz="1000" b="0" i="0" dirty="0" lang="es-SV">
                          <a:solidFill>
                            <a:srgbClr val="1B2333"/>
                          </a:solidFill>
                          <a:latin typeface="Arial"/>
                        </a:rPr>
                        <a:t>Tercerizado</a:t>
                      </a:r>
                      <a:r>
                        <a:rPr sz="1000" b="0" i="0" dirty="0" lang="es-SV">
                          <a:solidFill>
                            <a:srgbClr val="1B2333"/>
                          </a:solidFill>
                          <a:latin typeface="Arial"/>
                        </a:rPr>
                        <a:t>… </a:t>
                      </a:r>
                      <a:r>
                        <a:rPr sz="1000" b="0" i="0" dirty="0" lang="es-SV">
                          <a:solidFill>
                            <a:srgbClr val="1B2333"/>
                          </a:solidFill>
                          <a:latin typeface="Arial"/>
                        </a:rPr>
                        <a:t>puede</a:t>
                      </a:r>
                      <a:r>
                        <a:rPr sz="1000" b="0" i="0" dirty="0" lang="es-SV">
                          <a:solidFill>
                            <a:srgbClr val="1B2333"/>
                          </a:solidFill>
                          <a:latin typeface="Arial"/>
                        </a:rPr>
                        <a:t> </a:t>
                      </a:r>
                      <a:r>
                        <a:rPr sz="1000" b="0" i="0" dirty="0" lang="es-SV">
                          <a:solidFill>
                            <a:srgbClr val="1B2333"/>
                          </a:solidFill>
                          <a:latin typeface="Arial"/>
                        </a:rPr>
                        <a:t>identificarse</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detengan</a:t>
                      </a:r>
                      <a:r>
                        <a:rPr sz="1000" b="0" i="0" dirty="0" lang="es-SV">
                          <a:solidFill>
                            <a:srgbClr val="1B2333"/>
                          </a:solidFill>
                          <a:latin typeface="Arial"/>
                        </a:rPr>
                        <a:t>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 y </a:t>
                      </a:r>
                      <a:r>
                        <a:rPr sz="1000" b="0" i="0" dirty="0" lang="es-SV">
                          <a:solidFill>
                            <a:srgbClr val="1B2333"/>
                          </a:solidFill>
                          <a:latin typeface="Arial"/>
                        </a:rPr>
                        <a:t>cumplan</a:t>
                      </a:r>
                      <a:r>
                        <a:rPr sz="1000" b="0" i="0" dirty="0" lang="es-SV">
                          <a:solidFill>
                            <a:srgbClr val="1B2333"/>
                          </a:solidFill>
                          <a:latin typeface="Arial"/>
                        </a:rPr>
                        <a:t> </a:t>
                      </a:r>
                      <a:r>
                        <a:rPr sz="1000" b="0" i="0" dirty="0" lang="es-SV">
                          <a:solidFill>
                            <a:srgbClr val="1B2333"/>
                          </a:solidFill>
                          <a:latin typeface="Arial"/>
                        </a:rPr>
                        <a:t>alguno</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siguientes</a:t>
                      </a:r>
                      <a:r>
                        <a:rPr sz="1000" b="0" i="0" dirty="0" lang="es-SV">
                          <a:solidFill>
                            <a:srgbClr val="1B2333"/>
                          </a:solidFill>
                          <a:latin typeface="Arial"/>
                        </a:rPr>
                        <a:t> </a:t>
                      </a:r>
                      <a:r>
                        <a:rPr sz="1000" b="0" i="0" dirty="0" lang="es-SV">
                          <a:solidFill>
                            <a:srgbClr val="1B2333"/>
                          </a:solidFill>
                          <a:latin typeface="Arial"/>
                        </a:rPr>
                        <a:t>criterios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Un Servicio </a:t>
                      </a:r>
                      <a:r>
                        <a:rPr sz="1000" b="1" i="0" u="sng" dirty="0" lang="es-SV">
                          <a:solidFill>
                            <a:srgbClr val="00376E"/>
                          </a:solidFill>
                          <a:latin typeface="Arial"/>
                        </a:rPr>
                        <a:t>Crítico</a:t>
                      </a:r>
                      <a:r>
                        <a:rPr sz="1000" b="0" i="0" dirty="0" lang="es-SV">
                          <a:solidFill>
                            <a:srgbClr val="1B2333"/>
                          </a:solidFill>
                          <a:latin typeface="Arial"/>
                        </a:rPr>
                        <a:t> </a:t>
                      </a:r>
                      <a:r>
                        <a:rPr sz="1000" b="0" i="0" dirty="0" lang="es-SV">
                          <a:solidFill>
                            <a:srgbClr val="1B2333"/>
                          </a:solidFill>
                          <a:latin typeface="Arial"/>
                        </a:rPr>
                        <a:t>Tercerizado</a:t>
                      </a:r>
                      <a:r>
                        <a:rPr sz="1000" b="0" i="0" dirty="0" lang="es-SV">
                          <a:solidFill>
                            <a:srgbClr val="1B2333"/>
                          </a:solidFill>
                          <a:latin typeface="Arial"/>
                        </a:rPr>
                        <a:t>… </a:t>
                      </a:r>
                      <a:r>
                        <a:rPr sz="1000" b="0" i="0" dirty="0" lang="es-SV">
                          <a:solidFill>
                            <a:srgbClr val="1B2333"/>
                          </a:solidFill>
                          <a:latin typeface="Arial"/>
                        </a:rPr>
                        <a:t>puede</a:t>
                      </a:r>
                      <a:r>
                        <a:rPr sz="1000" b="0" i="0" dirty="0" lang="es-SV">
                          <a:solidFill>
                            <a:srgbClr val="1B2333"/>
                          </a:solidFill>
                          <a:latin typeface="Arial"/>
                        </a:rPr>
                        <a:t> </a:t>
                      </a:r>
                      <a:r>
                        <a:rPr sz="1000" b="0" i="0" dirty="0" lang="es-SV">
                          <a:solidFill>
                            <a:srgbClr val="1B2333"/>
                          </a:solidFill>
                          <a:latin typeface="Arial"/>
                        </a:rPr>
                        <a:t>identificarse</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detengan</a:t>
                      </a:r>
                      <a:r>
                        <a:rPr sz="1000" b="0" i="0" dirty="0" lang="es-SV">
                          <a:solidFill>
                            <a:srgbClr val="1B2333"/>
                          </a:solidFill>
                          <a:latin typeface="Arial"/>
                        </a:rPr>
                        <a:t>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1" i="0" u="sng" dirty="0" lang="es-SV">
                          <a:solidFill>
                            <a:srgbClr val="00376E"/>
                          </a:solidFill>
                          <a:latin typeface="Arial"/>
                        </a:rPr>
                        <a:t>, </a:t>
                      </a:r>
                      <a:r>
                        <a:rPr sz="1000" b="1" i="0" u="sng" dirty="0" lang="es-SV">
                          <a:solidFill>
                            <a:srgbClr val="00376E"/>
                          </a:solidFill>
                          <a:latin typeface="Arial"/>
                        </a:rPr>
                        <a:t>afecten</a:t>
                      </a:r>
                      <a:r>
                        <a:rPr sz="1000" b="1" i="0" u="sng" dirty="0" lang="es-SV">
                          <a:solidFill>
                            <a:srgbClr val="00376E"/>
                          </a:solidFill>
                          <a:latin typeface="Arial"/>
                        </a:rPr>
                        <a:t> la </a:t>
                      </a:r>
                      <a:r>
                        <a:rPr sz="1000" b="1" i="0" u="sng" dirty="0" lang="es-SV">
                          <a:solidFill>
                            <a:srgbClr val="00376E"/>
                          </a:solidFill>
                          <a:latin typeface="Arial"/>
                        </a:rPr>
                        <a:t>posición</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o </a:t>
                      </a:r>
                      <a:r>
                        <a:rPr sz="1000" b="1" i="0" u="sng" dirty="0" lang="es-SV">
                          <a:solidFill>
                            <a:srgbClr val="00376E"/>
                          </a:solidFill>
                          <a:latin typeface="Arial"/>
                        </a:rPr>
                        <a:t>comprometan</a:t>
                      </a:r>
                      <a:r>
                        <a:rPr sz="1000" b="1" i="0" u="sng" dirty="0" lang="es-SV">
                          <a:solidFill>
                            <a:srgbClr val="00376E"/>
                          </a:solidFill>
                          <a:latin typeface="Arial"/>
                        </a:rPr>
                        <a:t> el </a:t>
                      </a:r>
                      <a:r>
                        <a:rPr sz="1000" b="1" i="0" u="sng" dirty="0" lang="es-SV">
                          <a:solidFill>
                            <a:srgbClr val="00376E"/>
                          </a:solidFill>
                          <a:latin typeface="Arial"/>
                        </a:rPr>
                        <a:t>cumplimiento</a:t>
                      </a:r>
                      <a:r>
                        <a:rPr sz="1000" b="1" i="0" u="sng" dirty="0" lang="es-SV">
                          <a:solidFill>
                            <a:srgbClr val="00376E"/>
                          </a:solidFill>
                          <a:latin typeface="Arial"/>
                        </a:rPr>
                        <a:t> </a:t>
                      </a:r>
                      <a:r>
                        <a:rPr sz="1000" b="1" i="0" u="sng" dirty="0" lang="es-SV">
                          <a:solidFill>
                            <a:srgbClr val="00376E"/>
                          </a:solidFill>
                          <a:latin typeface="Arial"/>
                        </a:rPr>
                        <a:t>regulatorio</a:t>
                      </a:r>
                      <a:r>
                        <a:rPr sz="1000" b="1" i="0" u="sng" dirty="0" lang="es-SV">
                          <a:solidFill>
                            <a:srgbClr val="00376E"/>
                          </a:solidFill>
                          <a:latin typeface="Arial"/>
                        </a:rPr>
                        <a:t>,</a:t>
                      </a:r>
                      <a:r>
                        <a:rPr sz="1000" b="0" i="0" dirty="0" lang="es-SV">
                          <a:solidFill>
                            <a:srgbClr val="1B2333"/>
                          </a:solidFill>
                          <a:latin typeface="Arial"/>
                        </a:rPr>
                        <a:t> y </a:t>
                      </a:r>
                      <a:r>
                        <a:rPr sz="1000" b="0" i="0" dirty="0" lang="es-SV">
                          <a:solidFill>
                            <a:srgbClr val="1B2333"/>
                          </a:solidFill>
                          <a:latin typeface="Arial"/>
                        </a:rPr>
                        <a:t>cumplan</a:t>
                      </a:r>
                      <a:r>
                        <a:rPr sz="1000" b="0" i="0" dirty="0" lang="es-SV">
                          <a:solidFill>
                            <a:srgbClr val="1B2333"/>
                          </a:solidFill>
                          <a:latin typeface="Arial"/>
                        </a:rPr>
                        <a:t> </a:t>
                      </a:r>
                      <a:r>
                        <a:rPr sz="1000" b="0" i="0" dirty="0" lang="es-SV">
                          <a:solidFill>
                            <a:srgbClr val="1B2333"/>
                          </a:solidFill>
                          <a:latin typeface="Arial"/>
                        </a:rPr>
                        <a:t>alguno</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siguientes</a:t>
                      </a:r>
                      <a:r>
                        <a:rPr sz="1000" b="0" i="0" dirty="0" lang="es-SV">
                          <a:solidFill>
                            <a:srgbClr val="1B2333"/>
                          </a:solidFill>
                          <a:latin typeface="Arial"/>
                        </a:rPr>
                        <a:t> </a:t>
                      </a:r>
                      <a:r>
                        <a:rPr sz="1000" b="0" i="0" dirty="0" lang="es-SV">
                          <a:solidFill>
                            <a:srgbClr val="1B2333"/>
                          </a:solidFill>
                          <a:latin typeface="Arial"/>
                        </a:rPr>
                        <a:t>criterios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Amplía</a:t>
                      </a:r>
                      <a:r>
                        <a:rPr sz="1000" b="0" i="0" dirty="0" lang="es-SV">
                          <a:solidFill>
                            <a:srgbClr val="1B2333"/>
                          </a:solidFill>
                          <a:latin typeface="Arial"/>
                        </a:rPr>
                        <a:t> el </a:t>
                      </a:r>
                      <a:r>
                        <a:rPr sz="1000" b="0" i="0" dirty="0" lang="es-SV">
                          <a:solidFill>
                            <a:srgbClr val="1B2333"/>
                          </a:solidFill>
                          <a:latin typeface="Arial"/>
                        </a:rPr>
                        <a:t>concepto</a:t>
                      </a:r>
                      <a:r>
                        <a:rPr sz="1000" b="0" i="0" dirty="0" lang="es-SV">
                          <a:solidFill>
                            <a:srgbClr val="1B2333"/>
                          </a:solidFill>
                          <a:latin typeface="Arial"/>
                        </a:rPr>
                        <a:t> de </a:t>
                      </a:r>
                      <a:r>
                        <a:rPr sz="1000" b="0" i="0" dirty="0" lang="es-SV">
                          <a:solidFill>
                            <a:srgbClr val="1B2333"/>
                          </a:solidFill>
                          <a:latin typeface="Arial"/>
                        </a:rPr>
                        <a:t>criticidad</a:t>
                      </a:r>
                      <a:r>
                        <a:rPr sz="1000" b="0" i="0" dirty="0" lang="es-SV">
                          <a:solidFill>
                            <a:srgbClr val="1B2333"/>
                          </a:solidFill>
                          <a:latin typeface="Arial"/>
                        </a:rPr>
                        <a:t>.</a:t>
                      </a:r>
                    </a:p>
                    <a:p>
                      <a:pPr algn="just"/>
                      <a:r>
                        <a:rPr sz="1000" b="1" i="0" dirty="0" lang="es-SV">
                          <a:solidFill>
                            <a:srgbClr val="00376E"/>
                          </a:solidFill>
                          <a:latin typeface="Arial"/>
                        </a:rPr>
                        <a:t>NRP-42, art. 4 · NRP-05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Las demoras o incidentes del proveedor del servicio interrumpen totalmente la operatividad de los procesos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Las demoras o incidentes del proveedor interrumpen </a:t>
                      </a:r>
                      <a:r>
                        <a:rPr sz="1000" b="1" i="0" u="sng" lang="es-SV">
                          <a:solidFill>
                            <a:srgbClr val="00376E"/>
                          </a:solidFill>
                          <a:latin typeface="Arial"/>
                        </a:rPr>
                        <a:t>total o parcialmente</a:t>
                      </a:r>
                      <a:r>
                        <a:rPr sz="1000" b="0" i="0" lang="es-SV">
                          <a:solidFill>
                            <a:srgbClr val="1B2333"/>
                          </a:solidFill>
                          <a:latin typeface="Arial"/>
                        </a:rPr>
                        <a:t> la operatividad de los procesos críticos</a:t>
                      </a:r>
                      <a:r>
                        <a:rPr sz="1000" b="1" i="0" u="sng" lang="es-SV">
                          <a:solidFill>
                            <a:srgbClr val="00376E"/>
                          </a:solidFill>
                          <a:latin typeface="Arial"/>
                        </a:rPr>
                        <a:t>, por encima del Máximo Período Tolerable de Disrupción (MTPD) definido en el BIA.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Criterio</a:t>
                      </a:r>
                      <a:r>
                        <a:rPr sz="1000" b="0" i="0" dirty="0" lang="es-SV">
                          <a:solidFill>
                            <a:srgbClr val="1B2333"/>
                          </a:solidFill>
                          <a:latin typeface="Arial"/>
                        </a:rPr>
                        <a:t> </a:t>
                      </a:r>
                      <a:r>
                        <a:rPr sz="1000" b="0" i="0" dirty="0" lang="es-SV">
                          <a:solidFill>
                            <a:srgbClr val="1B2333"/>
                          </a:solidFill>
                          <a:latin typeface="Arial"/>
                        </a:rPr>
                        <a:t>medible</a:t>
                      </a:r>
                      <a:r>
                        <a:rPr sz="1000" b="0" i="0" dirty="0" lang="es-SV">
                          <a:solidFill>
                            <a:srgbClr val="1B2333"/>
                          </a:solidFill>
                          <a:latin typeface="Arial"/>
                        </a:rPr>
                        <a:t> con el BIA.</a:t>
                      </a:r>
                    </a:p>
                    <a:p>
                      <a:pPr algn="just"/>
                      <a:r>
                        <a:rPr sz="1000" b="1" i="0" dirty="0" lang="es-SV">
                          <a:solidFill>
                            <a:srgbClr val="00376E"/>
                          </a:solidFill>
                          <a:latin typeface="Arial"/>
                        </a:rPr>
                        <a:t>NRP-24, arts. 3, lit. n y 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Puede generar pérdidas significativas.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Puede generar pérdidas significativas</a:t>
                      </a:r>
                      <a:r>
                        <a:rPr sz="1000" b="1" i="0" u="sng" lang="es-SV">
                          <a:solidFill>
                            <a:srgbClr val="00376E"/>
                          </a:solidFill>
                          <a:latin typeface="Arial"/>
                        </a:rPr>
                        <a:t>, conforme a los umbrales de severidad de la metodología de riesgo operacional.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vincula a la </a:t>
                      </a:r>
                      <a:r>
                        <a:rPr sz="1000" b="0" i="0" dirty="0" lang="es-SV">
                          <a:solidFill>
                            <a:srgbClr val="1B2333"/>
                          </a:solidFill>
                          <a:latin typeface="Arial"/>
                        </a:rPr>
                        <a:t>metodología</a:t>
                      </a:r>
                      <a:r>
                        <a:rPr sz="1000" b="0" i="0" dirty="0" lang="es-SV">
                          <a:solidFill>
                            <a:srgbClr val="1B2333"/>
                          </a:solidFill>
                          <a:latin typeface="Arial"/>
                        </a:rPr>
                        <a:t>.</a:t>
                      </a:r>
                    </a:p>
                    <a:p>
                      <a:pPr algn="just"/>
                      <a:r>
                        <a:rPr sz="1000" b="1" i="0" dirty="0" lang="es-SV">
                          <a:solidFill>
                            <a:srgbClr val="00376E"/>
                          </a:solidFill>
                          <a:latin typeface="Arial"/>
                        </a:rPr>
                        <a:t>NRP-42, art. 16, lit.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cambio de proveedor del servicio implica grandes costos para la Cooperativa o no existe otro proveedor.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cambio de proveedor implica grandes costos para la Cooperativa o no existe otro proveedor</a:t>
                      </a:r>
                      <a:r>
                        <a:rPr sz="1000" b="1" i="0" u="sng" lang="es-SV">
                          <a:solidFill>
                            <a:srgbClr val="00376E"/>
                          </a:solidFill>
                          <a:latin typeface="Arial"/>
                        </a:rPr>
                        <a:t>, o el tiempo de sustitución es superior al RTO del proceso.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Criterio</a:t>
                      </a:r>
                      <a:r>
                        <a:rPr sz="1000" b="0" i="0" dirty="0" lang="es-SV">
                          <a:solidFill>
                            <a:srgbClr val="1B2333"/>
                          </a:solidFill>
                          <a:latin typeface="Arial"/>
                        </a:rPr>
                        <a:t> </a:t>
                      </a:r>
                      <a:r>
                        <a:rPr sz="1000" b="0" i="0" dirty="0" lang="es-SV">
                          <a:solidFill>
                            <a:srgbClr val="1B2333"/>
                          </a:solidFill>
                          <a:latin typeface="Arial"/>
                        </a:rPr>
                        <a:t>medible</a:t>
                      </a:r>
                      <a:r>
                        <a:rPr sz="1000" b="0" i="0" dirty="0" lang="es-SV">
                          <a:solidFill>
                            <a:srgbClr val="1B2333"/>
                          </a:solidFill>
                          <a:latin typeface="Arial"/>
                        </a:rPr>
                        <a:t> con el RTO.</a:t>
                      </a:r>
                    </a:p>
                    <a:p>
                      <a:pPr algn="just"/>
                      <a:r>
                        <a:rPr sz="1000" b="1" i="0" dirty="0" lang="es-SV">
                          <a:solidFill>
                            <a:srgbClr val="00376E"/>
                          </a:solidFill>
                          <a:latin typeface="Arial"/>
                        </a:rPr>
                        <a:t>NRP-24, art. 3, lit. 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0C231DC0-2F88-7456-E6DE-DBDBA989BCB0}"/>
              </a:ext>
            </a:extLst>
          </p:cNvPr>
          <p:cNvGraphicFramePr>
            <a:graphicFrameLocks noGrp="1"/>
          </p:cNvGraphicFramePr>
          <p:nvPr>
            <p:extLst>
              <p:ext uri="{D42A27DB-BD31-4B8C-83A1-F6EECF244321}">
                <p14:modId xmlns:p14="http://schemas.microsoft.com/office/powerpoint/2010/main" val="1186330434"/>
              </p:ext>
            </p:extLst>
          </p:nvPr>
        </p:nvGraphicFramePr>
        <p:xfrm>
          <a:off x="548640" y="2974086"/>
          <a:ext cx="11091672" cy="271272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dirty="0" lang="es-SV">
                          <a:solidFill>
                            <a:srgbClr val="00376E"/>
                          </a:solidFill>
                          <a:latin typeface="Arial"/>
                        </a:rPr>
                        <a:t>37</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procesa</a:t>
                      </a:r>
                      <a:r>
                        <a:rPr sz="1000" b="1" i="0" u="sng" dirty="0" lang="es-SV">
                          <a:solidFill>
                            <a:srgbClr val="00376E"/>
                          </a:solidFill>
                          <a:latin typeface="Arial"/>
                        </a:rPr>
                        <a:t>, </a:t>
                      </a:r>
                      <a:r>
                        <a:rPr sz="1000" b="1" i="0" u="sng" dirty="0" lang="es-SV">
                          <a:solidFill>
                            <a:srgbClr val="00376E"/>
                          </a:solidFill>
                          <a:latin typeface="Arial"/>
                        </a:rPr>
                        <a:t>almacena</a:t>
                      </a:r>
                      <a:r>
                        <a:rPr sz="1000" b="1" i="0" u="sng" dirty="0" lang="es-SV">
                          <a:solidFill>
                            <a:srgbClr val="00376E"/>
                          </a:solidFill>
                          <a:latin typeface="Arial"/>
                        </a:rPr>
                        <a:t> o </a:t>
                      </a:r>
                      <a:r>
                        <a:rPr sz="1000" b="1" i="0" u="sng" dirty="0" lang="es-SV">
                          <a:solidFill>
                            <a:srgbClr val="00376E"/>
                          </a:solidFill>
                          <a:latin typeface="Arial"/>
                        </a:rPr>
                        <a:t>transmite</a:t>
                      </a:r>
                      <a:r>
                        <a:rPr sz="1000" b="1" i="0" u="sng" dirty="0" lang="es-SV">
                          <a:solidFill>
                            <a:srgbClr val="00376E"/>
                          </a:solidFill>
                          <a:latin typeface="Arial"/>
                        </a:rPr>
                        <a:t>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confidencial</a:t>
                      </a:r>
                      <a:r>
                        <a:rPr sz="1000" b="1" i="0" u="sng" dirty="0" lang="es-SV">
                          <a:solidFill>
                            <a:srgbClr val="00376E"/>
                          </a:solidFill>
                          <a:latin typeface="Arial"/>
                        </a:rPr>
                        <a:t> de </a:t>
                      </a:r>
                      <a:r>
                        <a:rPr sz="1000" b="1" i="0" u="sng" dirty="0" lang="es-SV">
                          <a:solidFill>
                            <a:srgbClr val="00376E"/>
                          </a:solidFill>
                          <a:latin typeface="Arial"/>
                        </a:rPr>
                        <a:t>asociados</a:t>
                      </a:r>
                      <a:r>
                        <a:rPr sz="1000" b="1" i="0" u="sng" dirty="0" lang="es-SV">
                          <a:solidFill>
                            <a:srgbClr val="00376E"/>
                          </a:solidFill>
                          <a:latin typeface="Arial"/>
                        </a:rPr>
                        <a:t>, o </a:t>
                      </a:r>
                      <a:r>
                        <a:rPr sz="1000" b="1" i="0" u="sng" dirty="0" lang="es-SV">
                          <a:solidFill>
                            <a:srgbClr val="00376E"/>
                          </a:solidFill>
                          <a:latin typeface="Arial"/>
                        </a:rPr>
                        <a:t>tiene</a:t>
                      </a:r>
                      <a:r>
                        <a:rPr sz="1000" b="1" i="0" u="sng" dirty="0" lang="es-SV">
                          <a:solidFill>
                            <a:srgbClr val="00376E"/>
                          </a:solidFill>
                          <a:latin typeface="Arial"/>
                        </a:rPr>
                        <a:t> </a:t>
                      </a:r>
                      <a:r>
                        <a:rPr sz="1000" b="1" i="0" u="sng" dirty="0" lang="es-SV">
                          <a:solidFill>
                            <a:srgbClr val="00376E"/>
                          </a:solidFill>
                          <a:latin typeface="Arial"/>
                        </a:rPr>
                        <a:t>acceso</a:t>
                      </a:r>
                      <a:r>
                        <a:rPr sz="1000" b="1" i="0" u="sng" dirty="0" lang="es-SV">
                          <a:solidFill>
                            <a:srgbClr val="00376E"/>
                          </a:solidFill>
                          <a:latin typeface="Arial"/>
                        </a:rPr>
                        <a:t> a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sistemas</a:t>
                      </a:r>
                      <a:r>
                        <a:rPr sz="1000" b="1" i="0" u="sng" dirty="0" lang="es-SV">
                          <a:solidFill>
                            <a:srgbClr val="00376E"/>
                          </a:solidFill>
                          <a:latin typeface="Arial"/>
                        </a:rPr>
                        <a:t> </a:t>
                      </a:r>
                      <a:r>
                        <a:rPr sz="1000" b="1" i="0" u="sng" dirty="0" lang="es-SV">
                          <a:solidFill>
                            <a:srgbClr val="00376E"/>
                          </a:solidFill>
                          <a:latin typeface="Arial"/>
                        </a:rPr>
                        <a:t>principales</a:t>
                      </a:r>
                      <a:r>
                        <a:rPr sz="1000" b="1" i="0" u="sng" dirty="0" lang="es-SV">
                          <a:solidFill>
                            <a:srgbClr val="00376E"/>
                          </a:solidFill>
                          <a:latin typeface="Arial"/>
                        </a:rPr>
                        <a:t>, bases de </a:t>
                      </a:r>
                      <a:r>
                        <a:rPr sz="1000" b="1" i="0" u="sng" dirty="0" lang="es-SV">
                          <a:solidFill>
                            <a:srgbClr val="00376E"/>
                          </a:solidFill>
                          <a:latin typeface="Arial"/>
                        </a:rPr>
                        <a:t>datos</a:t>
                      </a:r>
                      <a:r>
                        <a:rPr sz="1000" b="1" i="0" u="sng" dirty="0" lang="es-SV">
                          <a:solidFill>
                            <a:srgbClr val="00376E"/>
                          </a:solidFill>
                          <a:latin typeface="Arial"/>
                        </a:rPr>
                        <a:t> o </a:t>
                      </a:r>
                      <a:r>
                        <a:rPr sz="1000" b="1" i="0" u="sng" dirty="0" lang="es-SV">
                          <a:solidFill>
                            <a:srgbClr val="00376E"/>
                          </a:solidFill>
                          <a:latin typeface="Arial"/>
                        </a:rPr>
                        <a:t>infraestructura</a:t>
                      </a:r>
                      <a:r>
                        <a:rPr sz="1000" b="1" i="0" u="sng" dirty="0" lang="es-SV">
                          <a:solidFill>
                            <a:srgbClr val="00376E"/>
                          </a:solidFill>
                          <a:latin typeface="Arial"/>
                        </a:rPr>
                        <a:t> </a:t>
                      </a:r>
                      <a:r>
                        <a:rPr sz="1000" b="1" i="0" u="sng" dirty="0" lang="es-SV">
                          <a:solidFill>
                            <a:srgbClr val="00376E"/>
                          </a:solidFill>
                          <a:latin typeface="Arial"/>
                        </a:rPr>
                        <a:t>tecnológica</a:t>
                      </a:r>
                      <a:r>
                        <a:rPr sz="1000" b="1" i="0" u="sng" dirty="0" lang="es-SV">
                          <a:solidFill>
                            <a:srgbClr val="00376E"/>
                          </a:solidFill>
                          <a:latin typeface="Arial"/>
                        </a:rPr>
                        <a:t>.</a:t>
                      </a:r>
                    </a:p>
                    <a:p>
                      <a:pPr algn="just"/>
                      <a:r>
                        <a:rPr sz="1000" b="1" i="0" u="sng" dirty="0" lang="es-SV">
                          <a:solidFill>
                            <a:srgbClr val="00376E"/>
                          </a:solidFill>
                          <a:latin typeface="Arial"/>
                        </a:rPr>
                        <a:t>Concentración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presta</a:t>
                      </a:r>
                      <a:r>
                        <a:rPr sz="1000" b="1" i="0" u="sng" dirty="0" lang="es-SV">
                          <a:solidFill>
                            <a:srgbClr val="00376E"/>
                          </a:solidFill>
                          <a:latin typeface="Arial"/>
                        </a:rPr>
                        <a:t> </a:t>
                      </a:r>
                      <a:r>
                        <a:rPr sz="1000" b="1" i="0" u="sng" dirty="0" lang="es-SV">
                          <a:solidFill>
                            <a:srgbClr val="00376E"/>
                          </a:solidFill>
                          <a:latin typeface="Arial"/>
                        </a:rPr>
                        <a:t>más</a:t>
                      </a:r>
                      <a:r>
                        <a:rPr sz="1000" b="1" i="0" u="sng" dirty="0" lang="es-SV">
                          <a:solidFill>
                            <a:srgbClr val="00376E"/>
                          </a:solidFill>
                          <a:latin typeface="Arial"/>
                        </a:rPr>
                        <a:t> de un </a:t>
                      </a:r>
                      <a:r>
                        <a:rPr sz="1000" b="1" i="0" u="sng" dirty="0" lang="es-SV">
                          <a:solidFill>
                            <a:srgbClr val="00376E"/>
                          </a:solidFill>
                          <a:latin typeface="Arial"/>
                        </a:rPr>
                        <a:t>servicio</a:t>
                      </a:r>
                      <a:r>
                        <a:rPr sz="1000" b="1" i="0" u="sng" dirty="0" lang="es-SV">
                          <a:solidFill>
                            <a:srgbClr val="00376E"/>
                          </a:solidFill>
                          <a:latin typeface="Arial"/>
                        </a:rPr>
                        <a:t> </a:t>
                      </a:r>
                      <a:r>
                        <a:rPr sz="1000" b="1" i="0" u="sng" dirty="0" lang="es-SV">
                          <a:solidFill>
                            <a:srgbClr val="00376E"/>
                          </a:solidFill>
                          <a:latin typeface="Arial"/>
                        </a:rPr>
                        <a:t>crítico</a:t>
                      </a:r>
                      <a:r>
                        <a:rPr sz="1000" b="1" i="0" u="sng" dirty="0" lang="es-SV">
                          <a:solidFill>
                            <a:srgbClr val="00376E"/>
                          </a:solidFill>
                          <a:latin typeface="Arial"/>
                        </a:rPr>
                        <a:t> o </a:t>
                      </a:r>
                      <a:r>
                        <a:rPr sz="1000" b="1" i="0" u="sng" dirty="0" lang="es-SV">
                          <a:solidFill>
                            <a:srgbClr val="00376E"/>
                          </a:solidFill>
                          <a:latin typeface="Arial"/>
                        </a:rPr>
                        <a:t>concentra</a:t>
                      </a:r>
                      <a:r>
                        <a:rPr sz="1000" b="1" i="0" u="sng" dirty="0" lang="es-SV">
                          <a:solidFill>
                            <a:srgbClr val="00376E"/>
                          </a:solidFill>
                          <a:latin typeface="Arial"/>
                        </a:rPr>
                        <a:t> </a:t>
                      </a:r>
                      <a:r>
                        <a:rPr sz="1000" b="1" i="0" u="sng" dirty="0" lang="es-SV">
                          <a:solidFill>
                            <a:srgbClr val="00376E"/>
                          </a:solidFill>
                          <a:latin typeface="Arial"/>
                        </a:rPr>
                        <a:t>servicios</a:t>
                      </a:r>
                      <a:r>
                        <a:rPr sz="1000" b="1" i="0" u="sng" dirty="0" lang="es-SV">
                          <a:solidFill>
                            <a:srgbClr val="00376E"/>
                          </a:solidFill>
                          <a:latin typeface="Arial"/>
                        </a:rPr>
                        <a:t> a </a:t>
                      </a:r>
                      <a:r>
                        <a:rPr sz="1000" b="1" i="0" u="sng" dirty="0" lang="es-SV">
                          <a:solidFill>
                            <a:srgbClr val="00376E"/>
                          </a:solidFill>
                          <a:latin typeface="Arial"/>
                        </a:rPr>
                        <a:t>varias</a:t>
                      </a:r>
                      <a:r>
                        <a:rPr sz="1000" b="1" i="0" u="sng" dirty="0" lang="es-SV">
                          <a:solidFill>
                            <a:srgbClr val="00376E"/>
                          </a:solidFill>
                          <a:latin typeface="Arial"/>
                        </a:rPr>
                        <a:t> </a:t>
                      </a:r>
                      <a:r>
                        <a:rPr sz="1000" b="1" i="0" u="sng" dirty="0" lang="es-SV">
                          <a:solidFill>
                            <a:srgbClr val="00376E"/>
                          </a:solidFill>
                          <a:latin typeface="Arial"/>
                        </a:rPr>
                        <a:t>entidades</a:t>
                      </a:r>
                      <a:r>
                        <a:rPr sz="1000" b="1" i="0" u="sng" dirty="0" lang="es-SV">
                          <a:solidFill>
                            <a:srgbClr val="00376E"/>
                          </a:solidFill>
                          <a:latin typeface="Arial"/>
                        </a:rPr>
                        <a:t> </a:t>
                      </a:r>
                      <a:r>
                        <a:rPr sz="1000" b="1" i="0" u="sng" dirty="0" lang="es-SV">
                          <a:solidFill>
                            <a:srgbClr val="00376E"/>
                          </a:solidFill>
                          <a:latin typeface="Arial"/>
                        </a:rPr>
                        <a:t>financieras</a:t>
                      </a:r>
                      <a:r>
                        <a:rPr sz="1000" b="1" i="0" u="sng" dirty="0" lang="es-SV">
                          <a:solidFill>
                            <a:srgbClr val="00376E"/>
                          </a:solidFill>
                          <a:latin typeface="Arial"/>
                        </a:rPr>
                        <a:t>, o </a:t>
                      </a:r>
                      <a:r>
                        <a:rPr sz="1000" b="1" i="0" u="sng" dirty="0" lang="es-SV">
                          <a:solidFill>
                            <a:srgbClr val="00376E"/>
                          </a:solidFill>
                          <a:latin typeface="Arial"/>
                        </a:rPr>
                        <a:t>recibe</a:t>
                      </a:r>
                      <a:r>
                        <a:rPr sz="1000" b="1" i="0" u="sng" dirty="0" lang="es-SV">
                          <a:solidFill>
                            <a:srgbClr val="00376E"/>
                          </a:solidFill>
                          <a:latin typeface="Arial"/>
                        </a:rPr>
                        <a:t> </a:t>
                      </a:r>
                      <a:r>
                        <a:rPr sz="1000" b="1" i="0" u="sng" dirty="0" lang="es-SV">
                          <a:solidFill>
                            <a:srgbClr val="00376E"/>
                          </a:solidFill>
                          <a:latin typeface="Arial"/>
                        </a:rPr>
                        <a:t>anticipos</a:t>
                      </a:r>
                      <a:r>
                        <a:rPr sz="1000" b="1" i="0" u="sng" dirty="0" lang="es-SV">
                          <a:solidFill>
                            <a:srgbClr val="00376E"/>
                          </a:solidFill>
                          <a:latin typeface="Arial"/>
                        </a:rPr>
                        <a:t> </a:t>
                      </a:r>
                      <a:r>
                        <a:rPr sz="1000" b="1" i="0" u="sng" dirty="0" lang="es-SV">
                          <a:solidFill>
                            <a:srgbClr val="00376E"/>
                          </a:solidFill>
                          <a:latin typeface="Arial"/>
                        </a:rPr>
                        <a:t>expuestos</a:t>
                      </a:r>
                      <a:r>
                        <a:rPr sz="1000" b="1" i="0" u="sng" dirty="0" lang="es-SV">
                          <a:solidFill>
                            <a:srgbClr val="00376E"/>
                          </a:solidFill>
                          <a:latin typeface="Arial"/>
                        </a:rPr>
                        <a:t> a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solidez</a:t>
                      </a:r>
                      <a:r>
                        <a:rPr sz="1000" b="1" i="0" u="sng" dirty="0" lang="es-SV">
                          <a:solidFill>
                            <a:srgbClr val="00376E"/>
                          </a:solidFill>
                          <a:latin typeface="Arial"/>
                        </a:rPr>
                        <a:t> </a:t>
                      </a:r>
                      <a:r>
                        <a:rPr sz="1000" b="1" i="0" u="sng" dirty="0" lang="es-SV">
                          <a:solidFill>
                            <a:srgbClr val="00376E"/>
                          </a:solidFill>
                          <a:latin typeface="Arial"/>
                        </a:rPr>
                        <a:t>financiera</a:t>
                      </a:r>
                      <a:r>
                        <a:rPr sz="1000" b="1" i="0" u="sng" dirty="0" lang="es-SV">
                          <a:solidFill>
                            <a:srgbClr val="00376E"/>
                          </a:solidFill>
                          <a:latin typeface="Arial"/>
                        </a:rPr>
                        <a:t>.</a:t>
                      </a:r>
                    </a:p>
                    <a:p>
                      <a:pPr algn="just"/>
                      <a:r>
                        <a:rPr sz="1000" b="1" i="0" u="sng" dirty="0" lang="es-SV">
                          <a:solidFill>
                            <a:srgbClr val="00376E"/>
                          </a:solidFill>
                          <a:latin typeface="Arial"/>
                        </a:rPr>
                        <a:t>Riesgo de </a:t>
                      </a:r>
                      <a:r>
                        <a:rPr sz="1000" b="1" i="0" u="sng" dirty="0" lang="es-SV">
                          <a:solidFill>
                            <a:srgbClr val="00376E"/>
                          </a:solidFill>
                          <a:latin typeface="Arial"/>
                        </a:rPr>
                        <a:t>liquidez</a:t>
                      </a:r>
                      <a:r>
                        <a:rPr sz="1000" b="1" i="0" u="sng" dirty="0" lang="es-SV">
                          <a:solidFill>
                            <a:srgbClr val="00376E"/>
                          </a:solidFill>
                          <a:latin typeface="Arial"/>
                        </a:rPr>
                        <a:t>: el </a:t>
                      </a:r>
                      <a:r>
                        <a:rPr sz="1000" b="1" i="0" u="sng" dirty="0" lang="es-SV">
                          <a:solidFill>
                            <a:srgbClr val="00376E"/>
                          </a:solidFill>
                          <a:latin typeface="Arial"/>
                        </a:rPr>
                        <a:t>servicio</a:t>
                      </a:r>
                      <a:r>
                        <a:rPr sz="1000" b="1" i="0" u="sng" dirty="0" lang="es-SV">
                          <a:solidFill>
                            <a:srgbClr val="00376E"/>
                          </a:solidFill>
                          <a:latin typeface="Arial"/>
                        </a:rPr>
                        <a:t> </a:t>
                      </a:r>
                      <a:r>
                        <a:rPr sz="1000" b="1" i="0" u="sng" dirty="0" lang="es-SV">
                          <a:solidFill>
                            <a:srgbClr val="00376E"/>
                          </a:solidFill>
                          <a:latin typeface="Arial"/>
                        </a:rPr>
                        <a:t>soporta</a:t>
                      </a:r>
                      <a:r>
                        <a:rPr sz="1000" b="1" i="0" u="sng" dirty="0" lang="es-SV">
                          <a:solidFill>
                            <a:srgbClr val="00376E"/>
                          </a:solidFill>
                          <a:latin typeface="Arial"/>
                        </a:rPr>
                        <a:t> canales de </a:t>
                      </a:r>
                      <a:r>
                        <a:rPr sz="1000" b="1" i="0" u="sng" dirty="0" lang="es-SV">
                          <a:solidFill>
                            <a:srgbClr val="00376E"/>
                          </a:solidFill>
                          <a:latin typeface="Arial"/>
                        </a:rPr>
                        <a:t>pago</a:t>
                      </a:r>
                      <a:r>
                        <a:rPr sz="1000" b="1" i="0" u="sng" dirty="0" lang="es-SV">
                          <a:solidFill>
                            <a:srgbClr val="00376E"/>
                          </a:solidFill>
                          <a:latin typeface="Arial"/>
                        </a:rPr>
                        <a:t>, </a:t>
                      </a:r>
                      <a:r>
                        <a:rPr sz="1000" b="1" i="0" u="sng" dirty="0" lang="es-SV">
                          <a:solidFill>
                            <a:srgbClr val="00376E"/>
                          </a:solidFill>
                          <a:latin typeface="Arial"/>
                        </a:rPr>
                        <a:t>transferencias</a:t>
                      </a:r>
                      <a:r>
                        <a:rPr sz="1000" b="1" i="0" u="sng" dirty="0" lang="es-SV">
                          <a:solidFill>
                            <a:srgbClr val="00376E"/>
                          </a:solidFill>
                          <a:latin typeface="Arial"/>
                        </a:rPr>
                        <a:t>, </a:t>
                      </a:r>
                      <a:r>
                        <a:rPr sz="1000" b="1" i="0" u="sng" dirty="0" lang="es-SV">
                          <a:solidFill>
                            <a:srgbClr val="00376E"/>
                          </a:solidFill>
                          <a:latin typeface="Arial"/>
                        </a:rPr>
                        <a:t>compensación</a:t>
                      </a:r>
                      <a:r>
                        <a:rPr sz="1000" b="1" i="0" u="sng" dirty="0" lang="es-SV">
                          <a:solidFill>
                            <a:srgbClr val="00376E"/>
                          </a:solidFill>
                          <a:latin typeface="Arial"/>
                        </a:rPr>
                        <a:t>, </a:t>
                      </a:r>
                      <a:r>
                        <a:rPr sz="1000" b="1" i="0" u="sng" dirty="0" lang="es-SV">
                          <a:solidFill>
                            <a:srgbClr val="00376E"/>
                          </a:solidFill>
                          <a:latin typeface="Arial"/>
                        </a:rPr>
                        <a:t>tarjetas</a:t>
                      </a:r>
                      <a:r>
                        <a:rPr sz="1000" b="1" i="0" u="sng" dirty="0" lang="es-SV">
                          <a:solidFill>
                            <a:srgbClr val="00376E"/>
                          </a:solidFill>
                          <a:latin typeface="Arial"/>
                        </a:rPr>
                        <a:t>, </a:t>
                      </a:r>
                      <a:r>
                        <a:rPr sz="1000" b="1" i="0" u="sng" dirty="0" lang="es-SV">
                          <a:solidFill>
                            <a:srgbClr val="00376E"/>
                          </a:solidFill>
                          <a:latin typeface="Arial"/>
                        </a:rPr>
                        <a:t>tesorería</a:t>
                      </a:r>
                      <a:r>
                        <a:rPr sz="1000" b="1" i="0" u="sng" dirty="0" lang="es-SV">
                          <a:solidFill>
                            <a:srgbClr val="00376E"/>
                          </a:solidFill>
                          <a:latin typeface="Arial"/>
                        </a:rPr>
                        <a:t> o </a:t>
                      </a:r>
                      <a:r>
                        <a:rPr sz="1000" b="1" i="0" u="sng" dirty="0" lang="es-SV">
                          <a:solidFill>
                            <a:srgbClr val="00376E"/>
                          </a:solidFill>
                          <a:latin typeface="Arial"/>
                        </a:rPr>
                        <a:t>captación</a:t>
                      </a:r>
                      <a:r>
                        <a:rPr sz="1000" b="1" i="0" u="sng" dirty="0" lang="es-SV">
                          <a:solidFill>
                            <a:srgbClr val="00376E"/>
                          </a:solidFill>
                          <a:latin typeface="Arial"/>
                        </a:rPr>
                        <a:t> de </a:t>
                      </a:r>
                      <a:r>
                        <a:rPr sz="1000" b="1" i="0" u="sng" dirty="0" lang="es-SV">
                          <a:solidFill>
                            <a:srgbClr val="00376E"/>
                          </a:solidFill>
                          <a:latin typeface="Arial"/>
                        </a:rPr>
                        <a:t>fondos</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Tres </a:t>
                      </a:r>
                      <a:r>
                        <a:rPr sz="1000" b="0" i="0" dirty="0" lang="es-SV">
                          <a:solidFill>
                            <a:srgbClr val="1B2333"/>
                          </a:solidFill>
                          <a:latin typeface="Arial"/>
                        </a:rPr>
                        <a:t>criterios</a:t>
                      </a:r>
                      <a:r>
                        <a:rPr sz="1000" b="0" i="0" dirty="0" lang="es-SV">
                          <a:solidFill>
                            <a:srgbClr val="1B2333"/>
                          </a:solidFill>
                          <a:latin typeface="Arial"/>
                        </a:rPr>
                        <a:t> </a:t>
                      </a:r>
                      <a:r>
                        <a:rPr sz="1000" b="0" i="0" dirty="0" lang="es-SV">
                          <a:solidFill>
                            <a:srgbClr val="1B2333"/>
                          </a:solidFill>
                          <a:latin typeface="Arial"/>
                        </a:rPr>
                        <a:t>nuevos</a:t>
                      </a:r>
                      <a:r>
                        <a:rPr sz="1000" b="0" i="0" dirty="0" lang="es-SV">
                          <a:solidFill>
                            <a:srgbClr val="1B2333"/>
                          </a:solidFill>
                          <a:latin typeface="Arial"/>
                        </a:rPr>
                        <a:t> de </a:t>
                      </a:r>
                      <a:r>
                        <a:rPr sz="1000" b="0" i="0" dirty="0" lang="es-SV">
                          <a:solidFill>
                            <a:srgbClr val="1B2333"/>
                          </a:solidFill>
                          <a:latin typeface="Arial"/>
                        </a:rPr>
                        <a:t>criticidad</a:t>
                      </a:r>
                      <a:r>
                        <a:rPr sz="1000" b="0" i="0" dirty="0" lang="es-SV">
                          <a:solidFill>
                            <a:srgbClr val="1B2333"/>
                          </a:solidFill>
                          <a:latin typeface="Arial"/>
                        </a:rPr>
                        <a:t>.</a:t>
                      </a:r>
                    </a:p>
                    <a:p>
                      <a:pPr algn="just"/>
                      <a:r>
                        <a:rPr sz="1000" b="1" i="0" dirty="0" lang="es-SV">
                          <a:solidFill>
                            <a:srgbClr val="00376E"/>
                          </a:solidFill>
                          <a:latin typeface="Arial"/>
                        </a:rPr>
                        <a:t>NRP-42, art. 8, lit. c · NRP-23, Anexo 1, A-1 · NRP-05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través del formulario “Entrevista para elaborar el Análisis de Servicios Críticos Tercerizados” RP-GG-F-213.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través del formulario … RP-GG-F-213</a:t>
                      </a:r>
                      <a:r>
                        <a:rPr sz="1000" b="1" i="0" u="sng" lang="es-SV">
                          <a:solidFill>
                            <a:srgbClr val="00376E"/>
                          </a:solidFill>
                          <a:latin typeface="Arial"/>
                        </a:rPr>
                        <a:t>, considerando los criterios establecidos en el cuadro anterior.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El </a:t>
                      </a:r>
                      <a:r>
                        <a:rPr sz="1000" b="0" i="0" dirty="0" lang="es-SV">
                          <a:solidFill>
                            <a:srgbClr val="1B2333"/>
                          </a:solidFill>
                          <a:latin typeface="Arial"/>
                        </a:rPr>
                        <a:t>formulario</a:t>
                      </a:r>
                      <a:r>
                        <a:rPr sz="1000" b="0" i="0" dirty="0" lang="es-SV">
                          <a:solidFill>
                            <a:srgbClr val="1B2333"/>
                          </a:solidFill>
                          <a:latin typeface="Arial"/>
                        </a:rPr>
                        <a:t> </a:t>
                      </a:r>
                      <a:r>
                        <a:rPr sz="1000" b="0" i="0" dirty="0" lang="es-SV">
                          <a:solidFill>
                            <a:srgbClr val="1B2333"/>
                          </a:solidFill>
                          <a:latin typeface="Arial"/>
                        </a:rPr>
                        <a:t>aplica</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criterios</a:t>
                      </a:r>
                      <a:r>
                        <a:rPr sz="1000" b="0" i="0" dirty="0" lang="es-SV">
                          <a:solidFill>
                            <a:srgbClr val="1B2333"/>
                          </a:solidFill>
                          <a:latin typeface="Arial"/>
                        </a:rPr>
                        <a:t> </a:t>
                      </a:r>
                      <a:r>
                        <a:rPr sz="1000" b="0" i="0" dirty="0" lang="es-SV">
                          <a:solidFill>
                            <a:srgbClr val="1B2333"/>
                          </a:solidFill>
                          <a:latin typeface="Arial"/>
                        </a:rPr>
                        <a:t>nuevos</a:t>
                      </a:r>
                      <a:r>
                        <a:rPr sz="1000" b="0" i="0" dirty="0" lang="es-SV">
                          <a:solidFill>
                            <a:srgbClr val="1B2333"/>
                          </a:solidFill>
                          <a:latin typeface="Arial"/>
                        </a:rPr>
                        <a:t>.</a:t>
                      </a:r>
                    </a:p>
                    <a:p>
                      <a:pPr algn="just"/>
                      <a:r>
                        <a:rPr sz="1000" b="1" i="0" dirty="0" lang="es-SV">
                          <a:solidFill>
                            <a:srgbClr val="00376E"/>
                          </a:solidFill>
                          <a:latin typeface="Arial"/>
                        </a:rPr>
                        <a:t>Formulario</a:t>
                      </a:r>
                      <a:r>
                        <a:rPr sz="1000" b="1" i="0" dirty="0" lang="es-SV">
                          <a:solidFill>
                            <a:srgbClr val="00376E"/>
                          </a:solidFill>
                          <a:latin typeface="Arial"/>
                        </a:rPr>
                        <a:t> </a:t>
                      </a:r>
                      <a:r>
                        <a:rPr sz="1000" b="1" i="0" dirty="0" lang="es-SV">
                          <a:solidFill>
                            <a:srgbClr val="00376E"/>
                          </a:solidFill>
                          <a:latin typeface="Arial"/>
                        </a:rPr>
                        <a:t>interno</a:t>
                      </a:r>
                      <a:endParaRPr sz="1000" b="1" i="0" dirty="0" lang="es-SV">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resultado de la evaluación clasificará el servicio en nivel de criticidad Alto, Medio o Bajo, para determinar la profundidad de la debida diligencia y la frecuencia de monitoreo. La criticidad deberá reevaluarse anualmente y ante cambios significativos en el servicio, el proveedor o los procesos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Monitoreo</a:t>
                      </a:r>
                      <a:r>
                        <a:rPr sz="1000" b="0" i="0" dirty="0" lang="es-SV">
                          <a:solidFill>
                            <a:srgbClr val="1B2333"/>
                          </a:solidFill>
                          <a:latin typeface="Arial"/>
                        </a:rPr>
                        <a:t> </a:t>
                      </a:r>
                      <a:r>
                        <a:rPr sz="1000" b="0" i="0" dirty="0" lang="es-SV">
                          <a:solidFill>
                            <a:srgbClr val="1B2333"/>
                          </a:solidFill>
                          <a:latin typeface="Arial"/>
                        </a:rPr>
                        <a:t>proporcional</a:t>
                      </a:r>
                      <a:r>
                        <a:rPr sz="1000" b="0" i="0" dirty="0" lang="es-SV">
                          <a:solidFill>
                            <a:srgbClr val="1B2333"/>
                          </a:solidFill>
                          <a:latin typeface="Arial"/>
                        </a:rPr>
                        <a:t> al </a:t>
                      </a:r>
                      <a:r>
                        <a:rPr sz="1000" b="0" i="0" dirty="0" lang="es-SV">
                          <a:solidFill>
                            <a:srgbClr val="1B2333"/>
                          </a:solidFill>
                          <a:latin typeface="Arial"/>
                        </a:rPr>
                        <a:t>riesgo</a:t>
                      </a:r>
                      <a:r>
                        <a:rPr sz="1000" b="0" i="0" dirty="0" lang="es-SV">
                          <a:solidFill>
                            <a:srgbClr val="1B2333"/>
                          </a:solidFill>
                          <a:latin typeface="Arial"/>
                        </a:rPr>
                        <a:t>.</a:t>
                      </a:r>
                    </a:p>
                    <a:p>
                      <a:pPr algn="just"/>
                      <a:r>
                        <a:rPr sz="1000" b="1" i="0" dirty="0" lang="es-SV">
                          <a:solidFill>
                            <a:srgbClr val="00376E"/>
                          </a:solidFill>
                          <a:latin typeface="Arial"/>
                        </a:rPr>
                        <a:t>NRP-23, Anexo 1, A-3, lit. c · NRP-24, art.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81153"/>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89011"/>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VI. </a:t>
            </a:r>
            <a:r>
              <a:rPr sz="2000" b="1" i="0" dirty="0" lang="es-SV">
                <a:solidFill>
                  <a:srgbClr val="00376E"/>
                </a:solidFill>
                <a:latin typeface="Century Gothic"/>
              </a:rPr>
              <a:t>Requerimientos</a:t>
            </a:r>
            <a:r>
              <a:rPr sz="2000" b="1" i="0" dirty="0" lang="es-SV">
                <a:solidFill>
                  <a:srgbClr val="00376E"/>
                </a:solidFill>
                <a:latin typeface="Century Gothic"/>
              </a:rPr>
              <a:t> </a:t>
            </a:r>
            <a:r>
              <a:rPr sz="2000" b="1" i="0" dirty="0" lang="es-SV">
                <a:solidFill>
                  <a:srgbClr val="00376E"/>
                </a:solidFill>
                <a:latin typeface="Century Gothic"/>
              </a:rPr>
              <a:t>normativos</a:t>
            </a:r>
            <a:r>
              <a:rPr sz="2000" b="1" i="0" dirty="0" lang="es-SV">
                <a:solidFill>
                  <a:srgbClr val="00376E"/>
                </a:solidFill>
                <a:latin typeface="Century Gothic"/>
              </a:rPr>
              <a:t> para </a:t>
            </a:r>
            <a:r>
              <a:rPr sz="2000" b="1" i="0" dirty="0" lang="es-SV">
                <a:solidFill>
                  <a:srgbClr val="00376E"/>
                </a:solidFill>
                <a:latin typeface="Century Gothic"/>
              </a:rPr>
              <a:t>tecnología</a:t>
            </a:r>
            <a:r>
              <a:rPr sz="2000" b="1" i="0" dirty="0" lang="es-SV">
                <a:solidFill>
                  <a:srgbClr val="00376E"/>
                </a:solidFill>
                <a:latin typeface="Century Gothic"/>
              </a:rPr>
              <a:t> de la </a:t>
            </a:r>
            <a:r>
              <a:rPr sz="2000" b="1" i="0" dirty="0" lang="es-SV">
                <a:solidFill>
                  <a:srgbClr val="00376E"/>
                </a:solidFill>
                <a:latin typeface="Century Gothic"/>
              </a:rPr>
              <a:t>información</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2178849528"/>
              </p:ext>
            </p:extLst>
          </p:nvPr>
        </p:nvGraphicFramePr>
        <p:xfrm>
          <a:off x="548640" y="678180"/>
          <a:ext cx="11091672" cy="22067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Cuando </a:t>
                      </a:r>
                      <a:r>
                        <a:rPr sz="1000" b="0" i="0" dirty="0" lang="es-SV">
                          <a:solidFill>
                            <a:srgbClr val="1B2333"/>
                          </a:solidFill>
                          <a:latin typeface="Arial"/>
                        </a:rPr>
                        <a:t>cada</a:t>
                      </a:r>
                      <a:r>
                        <a:rPr sz="1000" b="0" i="0" dirty="0" lang="es-SV">
                          <a:solidFill>
                            <a:srgbClr val="1B2333"/>
                          </a:solidFill>
                          <a:latin typeface="Arial"/>
                        </a:rPr>
                        <a:t> </a:t>
                      </a:r>
                      <a:r>
                        <a:rPr sz="1000" b="0" i="0" dirty="0" lang="es-SV">
                          <a:solidFill>
                            <a:srgbClr val="1B2333"/>
                          </a:solidFill>
                          <a:latin typeface="Arial"/>
                        </a:rPr>
                        <a:t>Gerente</a:t>
                      </a:r>
                      <a:r>
                        <a:rPr sz="1000" b="0" i="0" dirty="0" lang="es-SV">
                          <a:solidFill>
                            <a:srgbClr val="1B2333"/>
                          </a:solidFill>
                          <a:latin typeface="Arial"/>
                        </a:rPr>
                        <a:t> y/o </a:t>
                      </a:r>
                      <a:r>
                        <a:rPr sz="1000" b="0" i="0" dirty="0" lang="es-SV">
                          <a:solidFill>
                            <a:srgbClr val="1B2333"/>
                          </a:solidFill>
                          <a:latin typeface="Arial"/>
                        </a:rPr>
                        <a:t>Jefatura</a:t>
                      </a:r>
                      <a:r>
                        <a:rPr sz="1000" b="0" i="0" dirty="0" lang="es-SV">
                          <a:solidFill>
                            <a:srgbClr val="1B2333"/>
                          </a:solidFill>
                          <a:latin typeface="Arial"/>
                        </a:rPr>
                        <a:t>… </a:t>
                      </a:r>
                      <a:r>
                        <a:rPr sz="1000" b="0" i="0" dirty="0" lang="es-SV">
                          <a:solidFill>
                            <a:srgbClr val="1B2333"/>
                          </a:solidFill>
                          <a:latin typeface="Arial"/>
                        </a:rPr>
                        <a:t>determinen</a:t>
                      </a:r>
                      <a:r>
                        <a:rPr sz="1000" b="0" i="0" dirty="0" lang="es-SV">
                          <a:solidFill>
                            <a:srgbClr val="1B2333"/>
                          </a:solidFill>
                          <a:latin typeface="Arial"/>
                        </a:rPr>
                        <a:t> la </a:t>
                      </a:r>
                      <a:r>
                        <a:rPr sz="1000" b="0" i="0" dirty="0" lang="es-SV">
                          <a:solidFill>
                            <a:srgbClr val="1B2333"/>
                          </a:solidFill>
                          <a:latin typeface="Arial"/>
                        </a:rPr>
                        <a:t>necesidad</a:t>
                      </a:r>
                      <a:r>
                        <a:rPr sz="1000" b="0" i="0" dirty="0" lang="es-SV">
                          <a:solidFill>
                            <a:srgbClr val="1B2333"/>
                          </a:solidFill>
                          <a:latin typeface="Arial"/>
                        </a:rPr>
                        <a:t> de </a:t>
                      </a:r>
                      <a:r>
                        <a:rPr sz="1000" b="0" i="0" dirty="0" lang="es-SV">
                          <a:solidFill>
                            <a:srgbClr val="1B2333"/>
                          </a:solidFill>
                          <a:latin typeface="Arial"/>
                        </a:rPr>
                        <a:t>efectuar</a:t>
                      </a:r>
                      <a:r>
                        <a:rPr sz="1000" b="0" i="0" dirty="0" lang="es-SV">
                          <a:solidFill>
                            <a:srgbClr val="1B2333"/>
                          </a:solidFill>
                          <a:latin typeface="Arial"/>
                        </a:rPr>
                        <a:t> </a:t>
                      </a:r>
                      <a:r>
                        <a:rPr sz="1000" b="0" i="0" dirty="0" lang="es-SV">
                          <a:solidFill>
                            <a:srgbClr val="1B2333"/>
                          </a:solidFill>
                          <a:latin typeface="Arial"/>
                        </a:rPr>
                        <a:t>sustituciones</a:t>
                      </a:r>
                      <a:r>
                        <a:rPr sz="1000" b="0" i="0" dirty="0" lang="es-SV">
                          <a:solidFill>
                            <a:srgbClr val="1B2333"/>
                          </a:solidFill>
                          <a:latin typeface="Arial"/>
                        </a:rPr>
                        <a:t> o </a:t>
                      </a:r>
                      <a:r>
                        <a:rPr sz="1000" b="0" i="0" dirty="0" lang="es-SV">
                          <a:solidFill>
                            <a:srgbClr val="1B2333"/>
                          </a:solidFill>
                          <a:latin typeface="Arial"/>
                        </a:rPr>
                        <a:t>reemplazos</a:t>
                      </a:r>
                      <a:r>
                        <a:rPr sz="1000" b="0" i="0" dirty="0" lang="es-SV">
                          <a:solidFill>
                            <a:srgbClr val="1B2333"/>
                          </a:solidFill>
                          <a:latin typeface="Arial"/>
                        </a:rPr>
                        <a:t> de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a:t>
                      </a:r>
                      <a:r>
                        <a:rPr sz="1000" b="0" i="0" dirty="0" lang="es-SV">
                          <a:solidFill>
                            <a:srgbClr val="1B2333"/>
                          </a:solidFill>
                          <a:latin typeface="Arial"/>
                        </a:rPr>
                        <a:t>principales</a:t>
                      </a:r>
                      <a:r>
                        <a:rPr sz="1000" b="0" i="0" dirty="0" lang="es-SV">
                          <a:solidFill>
                            <a:srgbClr val="1B2333"/>
                          </a:solidFill>
                          <a:latin typeface="Arial"/>
                        </a:rPr>
                        <a:t>… o la </a:t>
                      </a:r>
                      <a:r>
                        <a:rPr sz="1000" b="0" i="0" dirty="0" lang="es-SV">
                          <a:solidFill>
                            <a:srgbClr val="1B2333"/>
                          </a:solidFill>
                          <a:latin typeface="Arial"/>
                        </a:rPr>
                        <a:t>adquisición</a:t>
                      </a:r>
                      <a:r>
                        <a:rPr sz="1000" b="0" i="0" dirty="0" lang="es-SV">
                          <a:solidFill>
                            <a:srgbClr val="1B2333"/>
                          </a:solidFill>
                          <a:latin typeface="Arial"/>
                        </a:rPr>
                        <a:t> de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para </a:t>
                      </a:r>
                      <a:r>
                        <a:rPr sz="1000" b="0" i="0" dirty="0" lang="es-SV">
                          <a:solidFill>
                            <a:srgbClr val="1B2333"/>
                          </a:solidFill>
                          <a:latin typeface="Arial"/>
                        </a:rPr>
                        <a:t>nuevas</a:t>
                      </a:r>
                      <a:r>
                        <a:rPr sz="1000" b="0" i="0" dirty="0" lang="es-SV">
                          <a:solidFill>
                            <a:srgbClr val="1B2333"/>
                          </a:solidFill>
                          <a:latin typeface="Arial"/>
                        </a:rPr>
                        <a:t> </a:t>
                      </a:r>
                      <a:r>
                        <a:rPr sz="1000" b="0" i="0" dirty="0" lang="es-SV">
                          <a:solidFill>
                            <a:srgbClr val="1B2333"/>
                          </a:solidFill>
                          <a:latin typeface="Arial"/>
                        </a:rPr>
                        <a:t>operaciones</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al Consejo de Administración, la </a:t>
                      </a:r>
                      <a:r>
                        <a:rPr sz="1000" b="0" i="0" dirty="0" lang="es-SV">
                          <a:solidFill>
                            <a:srgbClr val="1B2333"/>
                          </a:solidFill>
                          <a:latin typeface="Arial"/>
                        </a:rPr>
                        <a:t>siguiente</a:t>
                      </a:r>
                      <a:r>
                        <a:rPr sz="1000" b="0" i="0" dirty="0" lang="es-SV">
                          <a:solidFill>
                            <a:srgbClr val="1B2333"/>
                          </a:solidFill>
                          <a:latin typeface="Arial"/>
                        </a:rPr>
                        <a:t> </a:t>
                      </a:r>
                      <a:r>
                        <a:rPr sz="1000" b="0" i="0" dirty="0" lang="es-SV">
                          <a:solidFill>
                            <a:srgbClr val="1B2333"/>
                          </a:solidFill>
                          <a:latin typeface="Arial"/>
                        </a:rPr>
                        <a:t>información</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Cuando </a:t>
                      </a:r>
                      <a:r>
                        <a:rPr sz="1000" b="0" i="0" dirty="0" lang="es-SV">
                          <a:solidFill>
                            <a:srgbClr val="1B2333"/>
                          </a:solidFill>
                          <a:latin typeface="Arial"/>
                        </a:rPr>
                        <a:t>cada</a:t>
                      </a:r>
                      <a:r>
                        <a:rPr sz="1000" b="0" i="0" dirty="0" lang="es-SV">
                          <a:solidFill>
                            <a:srgbClr val="1B2333"/>
                          </a:solidFill>
                          <a:latin typeface="Arial"/>
                        </a:rPr>
                        <a:t> </a:t>
                      </a:r>
                      <a:r>
                        <a:rPr sz="1000" b="0" i="0" dirty="0" lang="es-SV">
                          <a:solidFill>
                            <a:srgbClr val="1B2333"/>
                          </a:solidFill>
                          <a:latin typeface="Arial"/>
                        </a:rPr>
                        <a:t>Gerente</a:t>
                      </a:r>
                      <a:r>
                        <a:rPr sz="1000" b="0" i="0" dirty="0" lang="es-SV">
                          <a:solidFill>
                            <a:srgbClr val="1B2333"/>
                          </a:solidFill>
                          <a:latin typeface="Arial"/>
                        </a:rPr>
                        <a:t> y/o </a:t>
                      </a:r>
                      <a:r>
                        <a:rPr sz="1000" b="0" i="0" dirty="0" lang="es-SV">
                          <a:solidFill>
                            <a:srgbClr val="1B2333"/>
                          </a:solidFill>
                          <a:latin typeface="Arial"/>
                        </a:rPr>
                        <a:t>Jefatura</a:t>
                      </a:r>
                      <a:r>
                        <a:rPr sz="1000" b="0" i="0" dirty="0" lang="es-SV">
                          <a:solidFill>
                            <a:srgbClr val="1B2333"/>
                          </a:solidFill>
                          <a:latin typeface="Arial"/>
                        </a:rPr>
                        <a:t>… determine la </a:t>
                      </a:r>
                      <a:r>
                        <a:rPr sz="1000" b="0" i="0" dirty="0" lang="es-SV">
                          <a:solidFill>
                            <a:srgbClr val="1B2333"/>
                          </a:solidFill>
                          <a:latin typeface="Arial"/>
                        </a:rPr>
                        <a:t>necesidad</a:t>
                      </a:r>
                      <a:r>
                        <a:rPr sz="1000" b="0" i="0" dirty="0" lang="es-SV">
                          <a:solidFill>
                            <a:srgbClr val="1B2333"/>
                          </a:solidFill>
                          <a:latin typeface="Arial"/>
                        </a:rPr>
                        <a:t> de </a:t>
                      </a:r>
                      <a:r>
                        <a:rPr sz="1000" b="0" i="0" dirty="0" lang="es-SV">
                          <a:solidFill>
                            <a:srgbClr val="1B2333"/>
                          </a:solidFill>
                          <a:latin typeface="Arial"/>
                        </a:rPr>
                        <a:t>efectuar</a:t>
                      </a:r>
                      <a:r>
                        <a:rPr sz="1000" b="0" i="0" dirty="0" lang="es-SV">
                          <a:solidFill>
                            <a:srgbClr val="1B2333"/>
                          </a:solidFill>
                          <a:latin typeface="Arial"/>
                        </a:rPr>
                        <a:t> </a:t>
                      </a:r>
                      <a:r>
                        <a:rPr sz="1000" b="0" i="0" dirty="0" lang="es-SV">
                          <a:solidFill>
                            <a:srgbClr val="1B2333"/>
                          </a:solidFill>
                          <a:latin typeface="Arial"/>
                        </a:rPr>
                        <a:t>sustituciones</a:t>
                      </a:r>
                      <a:r>
                        <a:rPr sz="1000" b="0" i="0" dirty="0" lang="es-SV">
                          <a:solidFill>
                            <a:srgbClr val="1B2333"/>
                          </a:solidFill>
                          <a:latin typeface="Arial"/>
                        </a:rPr>
                        <a:t>, </a:t>
                      </a:r>
                      <a:r>
                        <a:rPr sz="1000" b="0" i="0" dirty="0" lang="es-SV">
                          <a:solidFill>
                            <a:srgbClr val="1B2333"/>
                          </a:solidFill>
                          <a:latin typeface="Arial"/>
                        </a:rPr>
                        <a:t>reemplazos</a:t>
                      </a:r>
                      <a:r>
                        <a:rPr sz="1000" b="0" i="0" dirty="0" lang="es-SV">
                          <a:solidFill>
                            <a:srgbClr val="1B2333"/>
                          </a:solidFill>
                          <a:latin typeface="Arial"/>
                        </a:rPr>
                        <a:t> </a:t>
                      </a:r>
                      <a:r>
                        <a:rPr sz="1000" b="1" i="0" u="sng" dirty="0" lang="es-SV">
                          <a:solidFill>
                            <a:srgbClr val="00376E"/>
                          </a:solidFill>
                          <a:latin typeface="Arial"/>
                        </a:rPr>
                        <a:t>o </a:t>
                      </a:r>
                      <a:r>
                        <a:rPr sz="1000" b="1" i="0" u="sng" dirty="0" lang="es-SV">
                          <a:solidFill>
                            <a:srgbClr val="00376E"/>
                          </a:solidFill>
                          <a:latin typeface="Arial"/>
                        </a:rPr>
                        <a:t>cambios</a:t>
                      </a:r>
                      <a:r>
                        <a:rPr sz="1000" b="1" i="0" u="sng" dirty="0" lang="es-SV">
                          <a:solidFill>
                            <a:srgbClr val="00376E"/>
                          </a:solidFill>
                          <a:latin typeface="Arial"/>
                        </a:rPr>
                        <a:t> </a:t>
                      </a:r>
                      <a:r>
                        <a:rPr sz="1000" b="1" i="0" u="sng" dirty="0" lang="es-SV">
                          <a:solidFill>
                            <a:srgbClr val="00376E"/>
                          </a:solidFill>
                          <a:latin typeface="Arial"/>
                        </a:rPr>
                        <a:t>importantes</a:t>
                      </a:r>
                      <a:r>
                        <a:rPr sz="1000" b="0" i="0" dirty="0" lang="es-SV">
                          <a:solidFill>
                            <a:srgbClr val="1B2333"/>
                          </a:solidFill>
                          <a:latin typeface="Arial"/>
                        </a:rPr>
                        <a:t> de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a:t>
                      </a:r>
                      <a:r>
                        <a:rPr sz="1000" b="0" i="0" dirty="0" lang="es-SV">
                          <a:solidFill>
                            <a:srgbClr val="1B2333"/>
                          </a:solidFill>
                          <a:latin typeface="Arial"/>
                        </a:rPr>
                        <a:t>principales</a:t>
                      </a:r>
                      <a:r>
                        <a:rPr sz="1000" b="0" i="0" dirty="0" lang="es-SV">
                          <a:solidFill>
                            <a:srgbClr val="1B2333"/>
                          </a:solidFill>
                          <a:latin typeface="Arial"/>
                        </a:rPr>
                        <a:t>… o la </a:t>
                      </a:r>
                      <a:r>
                        <a:rPr sz="1000" b="0" i="0" dirty="0" lang="es-SV">
                          <a:solidFill>
                            <a:srgbClr val="1B2333"/>
                          </a:solidFill>
                          <a:latin typeface="Arial"/>
                        </a:rPr>
                        <a:t>adquisición</a:t>
                      </a:r>
                      <a:r>
                        <a:rPr sz="1000" b="0" i="0" dirty="0" lang="es-SV">
                          <a:solidFill>
                            <a:srgbClr val="1B2333"/>
                          </a:solidFill>
                          <a:latin typeface="Arial"/>
                        </a:rPr>
                        <a:t> de </a:t>
                      </a:r>
                      <a:r>
                        <a:rPr sz="1000" b="1" i="0" u="sng" dirty="0" lang="es-SV">
                          <a:solidFill>
                            <a:srgbClr val="00376E"/>
                          </a:solidFill>
                          <a:latin typeface="Arial"/>
                        </a:rPr>
                        <a:t>infraestructura</a:t>
                      </a:r>
                      <a:r>
                        <a:rPr sz="1000" b="1" i="0" u="sng" dirty="0" lang="es-SV">
                          <a:solidFill>
                            <a:srgbClr val="00376E"/>
                          </a:solidFill>
                          <a:latin typeface="Arial"/>
                        </a:rPr>
                        <a:t> y/o</a:t>
                      </a:r>
                      <a:r>
                        <a:rPr sz="1000" b="0" i="0" dirty="0" lang="es-SV">
                          <a:solidFill>
                            <a:srgbClr val="1B2333"/>
                          </a:solidFill>
                          <a:latin typeface="Arial"/>
                        </a:rPr>
                        <a:t>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al Consejo de Administración la </a:t>
                      </a:r>
                      <a:r>
                        <a:rPr sz="1000" b="0" i="0" dirty="0" lang="es-SV">
                          <a:solidFill>
                            <a:srgbClr val="1B2333"/>
                          </a:solidFill>
                          <a:latin typeface="Arial"/>
                        </a:rPr>
                        <a:t>siguiente</a:t>
                      </a:r>
                      <a:r>
                        <a:rPr sz="1000" b="0" i="0" dirty="0" lang="es-SV">
                          <a:solidFill>
                            <a:srgbClr val="1B2333"/>
                          </a:solidFill>
                          <a:latin typeface="Arial"/>
                        </a:rPr>
                        <a:t> </a:t>
                      </a:r>
                      <a:r>
                        <a:rPr sz="1000" b="0" i="0" dirty="0" lang="es-SV">
                          <a:solidFill>
                            <a:srgbClr val="1B2333"/>
                          </a:solidFill>
                          <a:latin typeface="Arial"/>
                        </a:rPr>
                        <a:t>información</a:t>
                      </a:r>
                      <a:r>
                        <a:rPr sz="1000" b="0" i="0" dirty="0" lang="es-SV">
                          <a:solidFill>
                            <a:srgbClr val="1B2333"/>
                          </a:solidFill>
                          <a:latin typeface="Arial"/>
                        </a:rPr>
                        <a:t>, </a:t>
                      </a:r>
                      <a:r>
                        <a:rPr sz="1000" b="1" i="0" u="sng" dirty="0" lang="es-SV">
                          <a:solidFill>
                            <a:srgbClr val="00376E"/>
                          </a:solidFill>
                          <a:latin typeface="Arial"/>
                        </a:rPr>
                        <a:t>quien</a:t>
                      </a:r>
                      <a:r>
                        <a:rPr sz="1000" b="1" i="0" u="sng" dirty="0" lang="es-SV">
                          <a:solidFill>
                            <a:srgbClr val="00376E"/>
                          </a:solidFill>
                          <a:latin typeface="Arial"/>
                        </a:rPr>
                        <a:t> </a:t>
                      </a:r>
                      <a:r>
                        <a:rPr sz="1000" b="1" i="0" u="sng" dirty="0" lang="es-SV">
                          <a:solidFill>
                            <a:srgbClr val="00376E"/>
                          </a:solidFill>
                          <a:latin typeface="Arial"/>
                        </a:rPr>
                        <a:t>resolverá</a:t>
                      </a:r>
                      <a:r>
                        <a:rPr sz="1000" b="1" i="0" u="sng" dirty="0" lang="es-SV">
                          <a:solidFill>
                            <a:srgbClr val="00376E"/>
                          </a:solidFill>
                          <a:latin typeface="Arial"/>
                        </a:rPr>
                        <a:t> </a:t>
                      </a:r>
                      <a:r>
                        <a:rPr sz="1000" b="1" i="0" u="sng" dirty="0" lang="es-SV">
                          <a:solidFill>
                            <a:srgbClr val="00376E"/>
                          </a:solidFill>
                          <a:latin typeface="Arial"/>
                        </a:rPr>
                        <a:t>dejando</a:t>
                      </a:r>
                      <a:r>
                        <a:rPr sz="1000" b="1" i="0" u="sng" dirty="0" lang="es-SV">
                          <a:solidFill>
                            <a:srgbClr val="00376E"/>
                          </a:solidFill>
                          <a:latin typeface="Arial"/>
                        </a:rPr>
                        <a:t> </a:t>
                      </a:r>
                      <a:r>
                        <a:rPr sz="1000" b="1" i="0" u="sng" dirty="0" lang="es-SV">
                          <a:solidFill>
                            <a:srgbClr val="00376E"/>
                          </a:solidFill>
                          <a:latin typeface="Arial"/>
                        </a:rPr>
                        <a:t>constancia</a:t>
                      </a:r>
                      <a:r>
                        <a:rPr sz="1000" b="1" i="0" u="sng" dirty="0" lang="es-SV">
                          <a:solidFill>
                            <a:srgbClr val="00376E"/>
                          </a:solidFill>
                          <a:latin typeface="Arial"/>
                        </a:rPr>
                        <a:t> de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decisión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Acta de </a:t>
                      </a:r>
                      <a:r>
                        <a:rPr sz="1000" b="1" i="0" u="sng" dirty="0" lang="es-SV">
                          <a:solidFill>
                            <a:srgbClr val="00376E"/>
                          </a:solidFill>
                          <a:latin typeface="Arial"/>
                        </a:rPr>
                        <a:t>Sesión</a:t>
                      </a:r>
                      <a:r>
                        <a:rPr sz="1000" b="1" i="0" u="sng" dirty="0" lang="es-SV">
                          <a:solidFill>
                            <a:srgbClr val="00376E"/>
                          </a:solidFill>
                          <a:latin typeface="Arial"/>
                        </a:rPr>
                        <a:t> </a:t>
                      </a:r>
                      <a:r>
                        <a:rPr sz="1000" b="1" i="0" u="sng" dirty="0" lang="es-SV">
                          <a:solidFill>
                            <a:srgbClr val="00376E"/>
                          </a:solidFill>
                          <a:latin typeface="Arial"/>
                        </a:rPr>
                        <a:t>correspondiente</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Alineado</a:t>
                      </a:r>
                      <a:r>
                        <a:rPr sz="1000" b="0" i="0" dirty="0" lang="es-SV">
                          <a:solidFill>
                            <a:srgbClr val="1B2333"/>
                          </a:solidFill>
                          <a:latin typeface="Arial"/>
                        </a:rPr>
                        <a:t> a la </a:t>
                      </a:r>
                      <a:r>
                        <a:rPr sz="1000" b="0" i="0" dirty="0" lang="es-SV">
                          <a:solidFill>
                            <a:srgbClr val="1B2333"/>
                          </a:solidFill>
                          <a:latin typeface="Arial"/>
                        </a:rPr>
                        <a:t>reforma</a:t>
                      </a:r>
                      <a:r>
                        <a:rPr sz="1000" b="0" i="0" dirty="0" lang="es-SV">
                          <a:solidFill>
                            <a:srgbClr val="1B2333"/>
                          </a:solidFill>
                          <a:latin typeface="Arial"/>
                        </a:rPr>
                        <a:t> 2025 de la NRP-23.</a:t>
                      </a:r>
                    </a:p>
                    <a:p>
                      <a:pPr algn="just"/>
                      <a:r>
                        <a:rPr sz="1000" b="1" i="0" dirty="0" lang="es-SV">
                          <a:solidFill>
                            <a:srgbClr val="00376E"/>
                          </a:solidFill>
                          <a:latin typeface="Arial"/>
                        </a:rPr>
                        <a:t>NRP-23, art. 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La información deberá remitirse a la Superintendencia con quince días hábiles de anticipación a la puesta en producción; las condiciones del Anexo No. 1 se documentarán en un informe con cronograma de actividades (plazos, responsables e hitos), remitido también con quince días hábiles de anticipación.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Obligación</a:t>
                      </a:r>
                      <a:r>
                        <a:rPr sz="1000" b="0" i="0" dirty="0" lang="es-SV">
                          <a:solidFill>
                            <a:srgbClr val="1B2333"/>
                          </a:solidFill>
                          <a:latin typeface="Arial"/>
                        </a:rPr>
                        <a:t> de </a:t>
                      </a:r>
                      <a:r>
                        <a:rPr sz="1000" b="0" i="0" dirty="0" lang="es-SV">
                          <a:solidFill>
                            <a:srgbClr val="1B2333"/>
                          </a:solidFill>
                          <a:latin typeface="Arial"/>
                        </a:rPr>
                        <a:t>reporte</a:t>
                      </a:r>
                      <a:r>
                        <a:rPr sz="1000" b="0" i="0" dirty="0" lang="es-SV">
                          <a:solidFill>
                            <a:srgbClr val="1B2333"/>
                          </a:solidFill>
                          <a:latin typeface="Arial"/>
                        </a:rPr>
                        <a:t> a la </a:t>
                      </a:r>
                      <a:r>
                        <a:rPr sz="1000" b="0" i="0" dirty="0" lang="es-SV">
                          <a:solidFill>
                            <a:srgbClr val="1B2333"/>
                          </a:solidFill>
                          <a:latin typeface="Arial"/>
                        </a:rPr>
                        <a:t>Superintendencia</a:t>
                      </a:r>
                      <a:r>
                        <a:rPr sz="1000" b="0" i="0" dirty="0" lang="es-SV">
                          <a:solidFill>
                            <a:srgbClr val="1B2333"/>
                          </a:solidFill>
                          <a:latin typeface="Arial"/>
                        </a:rPr>
                        <a:t>.</a:t>
                      </a:r>
                    </a:p>
                    <a:p>
                      <a:pPr algn="just"/>
                      <a:r>
                        <a:rPr sz="1000" b="1" i="0" dirty="0" lang="es-SV">
                          <a:solidFill>
                            <a:srgbClr val="00376E"/>
                          </a:solidFill>
                          <a:latin typeface="Arial"/>
                        </a:rPr>
                        <a:t>NRP-23, arts. 22 y 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B90D0C2E-0033-31C8-BCD1-E354B5CCEF84}"/>
              </a:ext>
            </a:extLst>
          </p:cNvPr>
          <p:cNvSpPr/>
          <p:nvPr/>
        </p:nvSpPr>
        <p:spPr>
          <a:xfrm>
            <a:off x="550164" y="2994660"/>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5C15EEA6-70E9-376E-6E44-9B41980F8889}"/>
              </a:ext>
            </a:extLst>
          </p:cNvPr>
          <p:cNvSpPr txBox="1"/>
          <p:nvPr/>
        </p:nvSpPr>
        <p:spPr>
          <a:xfrm>
            <a:off x="806196" y="2884932"/>
            <a:ext cx="9966960" cy="685800"/>
          </a:xfrm>
          <a:prstGeom prst="rect">
            <a:avLst/>
          </a:prstGeom>
          <a:noFill/>
        </p:spPr>
        <p:txBody>
          <a:bodyPr wrap="square" lIns="0" tIns="0" rIns="0" bIns="0" anchor="ctr">
            <a:spAutoFit/>
          </a:bodyPr>
          <a:lstStyle/>
          <a:p>
            <a:pPr algn="l"/>
            <a:r>
              <a:rPr sz="2000" b="1" i="0" dirty="0" lang="es-SV">
                <a:solidFill>
                  <a:srgbClr val="00376E"/>
                </a:solidFill>
                <a:latin typeface="Century Gothic"/>
              </a:rPr>
              <a:t>VII. </a:t>
            </a:r>
            <a:r>
              <a:rPr sz="2000" b="1" i="0" dirty="0" lang="es-SV">
                <a:solidFill>
                  <a:srgbClr val="00376E"/>
                </a:solidFill>
                <a:latin typeface="Century Gothic"/>
              </a:rPr>
              <a:t>Evaluación</a:t>
            </a:r>
            <a:r>
              <a:rPr sz="2000" b="1" i="0" dirty="0" lang="es-SV">
                <a:solidFill>
                  <a:srgbClr val="00376E"/>
                </a:solidFill>
                <a:latin typeface="Century Gothic"/>
              </a:rPr>
              <a:t> de </a:t>
            </a:r>
            <a:r>
              <a:rPr sz="2000" b="1" i="0" dirty="0" lang="es-SV">
                <a:solidFill>
                  <a:srgbClr val="00376E"/>
                </a:solidFill>
                <a:latin typeface="Century Gothic"/>
              </a:rPr>
              <a:t>los</a:t>
            </a:r>
            <a:r>
              <a:rPr sz="2000" b="1" i="0" dirty="0" lang="es-SV">
                <a:solidFill>
                  <a:srgbClr val="00376E"/>
                </a:solidFill>
                <a:latin typeface="Century Gothic"/>
              </a:rPr>
              <a:t> </a:t>
            </a:r>
            <a:r>
              <a:rPr sz="2000" b="1" i="0" dirty="0" lang="es-SV">
                <a:solidFill>
                  <a:srgbClr val="00376E"/>
                </a:solidFill>
                <a:latin typeface="Century Gothic"/>
              </a:rPr>
              <a:t>proveedores</a:t>
            </a:r>
            <a:r>
              <a:rPr sz="2000" b="1" i="0" dirty="0" lang="es-SV">
                <a:solidFill>
                  <a:srgbClr val="00376E"/>
                </a:solidFill>
                <a:latin typeface="Century Gothic"/>
              </a:rPr>
              <a:t> de </a:t>
            </a:r>
            <a:r>
              <a:rPr sz="2000" b="1" i="0" dirty="0" lang="es-SV">
                <a:solidFill>
                  <a:srgbClr val="00376E"/>
                </a:solidFill>
                <a:latin typeface="Century Gothic"/>
              </a:rPr>
              <a:t>Servicios</a:t>
            </a:r>
            <a:r>
              <a:rPr sz="2000" b="1" i="0" dirty="0" lang="es-SV">
                <a:solidFill>
                  <a:srgbClr val="00376E"/>
                </a:solidFill>
                <a:latin typeface="Century Gothic"/>
              </a:rPr>
              <a:t> </a:t>
            </a:r>
            <a:r>
              <a:rPr sz="2000" b="1" i="0" dirty="0" lang="es-SV">
                <a:solidFill>
                  <a:srgbClr val="00376E"/>
                </a:solidFill>
                <a:latin typeface="Century Gothic"/>
              </a:rPr>
              <a:t>Críticos</a:t>
            </a:r>
            <a:r>
              <a:rPr sz="2000" b="1" i="0" dirty="0" lang="es-SV">
                <a:solidFill>
                  <a:srgbClr val="00376E"/>
                </a:solidFill>
                <a:latin typeface="Century Gothic"/>
              </a:rPr>
              <a:t> </a:t>
            </a:r>
            <a:r>
              <a:rPr sz="2000" b="1" i="0" dirty="0" lang="es-SV">
                <a:solidFill>
                  <a:srgbClr val="00376E"/>
                </a:solidFill>
                <a:latin typeface="Century Gothic"/>
              </a:rPr>
              <a:t>Tercerizados</a:t>
            </a:r>
            <a:endParaRPr sz="2000" b="1" i="0" dirty="0" lang="es-SV">
              <a:solidFill>
                <a:srgbClr val="00376E"/>
              </a:solidFill>
              <a:latin typeface="Century Gothic"/>
            </a:endParaRPr>
          </a:p>
        </p:txBody>
      </p:sp>
      <p:graphicFrame>
        <p:nvGraphicFramePr>
          <p:cNvPr id="7" name="Table 15">
            <a:extLst>
              <a:ext uri="{FF2B5EF4-FFF2-40B4-BE49-F238E27FC236}">
                <a16:creationId xmlns:a16="http://schemas.microsoft.com/office/drawing/2014/main" id="{EF5ED633-7FC1-4159-EA73-8D6D96EAF6EB}"/>
              </a:ext>
            </a:extLst>
          </p:cNvPr>
          <p:cNvGraphicFramePr>
            <a:graphicFrameLocks noGrp="1"/>
          </p:cNvGraphicFramePr>
          <p:nvPr>
            <p:extLst>
              <p:ext uri="{D42A27DB-BD31-4B8C-83A1-F6EECF244321}">
                <p14:modId xmlns:p14="http://schemas.microsoft.com/office/powerpoint/2010/main" val="3535298266"/>
              </p:ext>
            </p:extLst>
          </p:nvPr>
        </p:nvGraphicFramePr>
        <p:xfrm>
          <a:off x="550164" y="3753612"/>
          <a:ext cx="11091672" cy="23591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Cuando se </a:t>
                      </a:r>
                      <a:r>
                        <a:rPr sz="1000" b="0" i="0" dirty="0" lang="es-SV">
                          <a:solidFill>
                            <a:srgbClr val="1B2333"/>
                          </a:solidFill>
                          <a:latin typeface="Arial"/>
                        </a:rPr>
                        <a:t>requiera</a:t>
                      </a:r>
                      <a:r>
                        <a:rPr sz="1000" b="0" i="0" dirty="0" lang="es-SV">
                          <a:solidFill>
                            <a:srgbClr val="1B2333"/>
                          </a:solidFill>
                          <a:latin typeface="Arial"/>
                        </a:rPr>
                        <a:t> </a:t>
                      </a:r>
                      <a:r>
                        <a:rPr sz="1000" b="0" i="0" dirty="0" lang="es-SV">
                          <a:solidFill>
                            <a:srgbClr val="1B2333"/>
                          </a:solidFill>
                          <a:latin typeface="Arial"/>
                        </a:rPr>
                        <a:t>adquisición</a:t>
                      </a:r>
                      <a:r>
                        <a:rPr sz="1000" b="0" i="0" dirty="0" lang="es-SV">
                          <a:solidFill>
                            <a:srgbClr val="1B2333"/>
                          </a:solidFill>
                          <a:latin typeface="Arial"/>
                        </a:rPr>
                        <a:t> de </a:t>
                      </a:r>
                      <a:r>
                        <a:rPr sz="1000" b="0" i="0" dirty="0" lang="es-SV">
                          <a:solidFill>
                            <a:srgbClr val="1B2333"/>
                          </a:solidFill>
                          <a:latin typeface="Arial"/>
                        </a:rPr>
                        <a:t>productos</a:t>
                      </a:r>
                      <a:r>
                        <a:rPr sz="1000" b="0" i="0" dirty="0" lang="es-SV">
                          <a:solidFill>
                            <a:srgbClr val="1B2333"/>
                          </a:solidFill>
                          <a:latin typeface="Arial"/>
                        </a:rPr>
                        <a:t> o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el </a:t>
                      </a:r>
                      <a:r>
                        <a:rPr sz="1000" b="0" i="0" dirty="0" lang="es-SV">
                          <a:solidFill>
                            <a:srgbClr val="1B2333"/>
                          </a:solidFill>
                          <a:latin typeface="Arial"/>
                        </a:rPr>
                        <a:t>área</a:t>
                      </a:r>
                      <a:r>
                        <a:rPr sz="1000" b="0" i="0" dirty="0" lang="es-SV">
                          <a:solidFill>
                            <a:srgbClr val="1B2333"/>
                          </a:solidFill>
                          <a:latin typeface="Arial"/>
                        </a:rPr>
                        <a:t> </a:t>
                      </a:r>
                      <a:r>
                        <a:rPr sz="1000" b="0" i="0" dirty="0" lang="es-SV">
                          <a:solidFill>
                            <a:srgbClr val="1B2333"/>
                          </a:solidFill>
                          <a:latin typeface="Arial"/>
                        </a:rPr>
                        <a:t>solicitante</a:t>
                      </a:r>
                      <a:r>
                        <a:rPr sz="1000" b="0" i="0" dirty="0" lang="es-SV">
                          <a:solidFill>
                            <a:srgbClr val="1B2333"/>
                          </a:solidFill>
                          <a:latin typeface="Arial"/>
                        </a:rPr>
                        <a:t> </a:t>
                      </a:r>
                      <a:r>
                        <a:rPr sz="1000" b="0" i="0" dirty="0" lang="es-SV">
                          <a:solidFill>
                            <a:srgbClr val="1B2333"/>
                          </a:solidFill>
                          <a:latin typeface="Arial"/>
                        </a:rPr>
                        <a:t>deberá</a:t>
                      </a:r>
                      <a:r>
                        <a:rPr sz="1000" b="0" i="0" dirty="0" lang="es-SV">
                          <a:solidFill>
                            <a:srgbClr val="1B2333"/>
                          </a:solidFill>
                          <a:latin typeface="Arial"/>
                        </a:rPr>
                        <a:t> </a:t>
                      </a:r>
                      <a:r>
                        <a:rPr sz="1000" b="0" i="0" dirty="0" lang="es-SV">
                          <a:solidFill>
                            <a:srgbClr val="1B2333"/>
                          </a:solidFill>
                          <a:latin typeface="Arial"/>
                        </a:rPr>
                        <a:t>requerir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 </a:t>
                      </a:r>
                      <a:r>
                        <a:rPr sz="1000" b="0" i="0" dirty="0" lang="es-SV">
                          <a:solidFill>
                            <a:srgbClr val="1B2333"/>
                          </a:solidFill>
                          <a:latin typeface="Arial"/>
                        </a:rPr>
                        <a:t>contratar</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t>
                      </a:r>
                      <a:r>
                        <a:rPr sz="1000" b="0" i="0" dirty="0" lang="es-SV">
                          <a:solidFill>
                            <a:srgbClr val="1B2333"/>
                          </a:solidFill>
                          <a:latin typeface="Arial"/>
                        </a:rPr>
                        <a:t>deberá</a:t>
                      </a:r>
                      <a:r>
                        <a:rPr sz="1000" b="0" i="0" dirty="0" lang="es-SV">
                          <a:solidFill>
                            <a:srgbClr val="1B2333"/>
                          </a:solidFill>
                          <a:latin typeface="Arial"/>
                        </a:rPr>
                        <a:t> </a:t>
                      </a:r>
                      <a:r>
                        <a:rPr sz="1000" b="0" i="0" dirty="0" lang="es-SV">
                          <a:solidFill>
                            <a:srgbClr val="1B2333"/>
                          </a:solidFill>
                          <a:latin typeface="Arial"/>
                        </a:rPr>
                        <a:t>requerir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 </a:t>
                      </a:r>
                      <a:r>
                        <a:rPr sz="1000" b="0" i="0" dirty="0" lang="es-SV">
                          <a:solidFill>
                            <a:srgbClr val="1B2333"/>
                          </a:solidFill>
                          <a:latin typeface="Arial"/>
                        </a:rPr>
                        <a:t>contratar</a:t>
                      </a:r>
                      <a:r>
                        <a:rPr sz="1000" b="1" i="0" u="sng" dirty="0" lang="es-SV">
                          <a:solidFill>
                            <a:srgbClr val="00376E"/>
                          </a:solidFill>
                          <a:latin typeface="Arial"/>
                        </a:rPr>
                        <a:t>, la </a:t>
                      </a:r>
                      <a:r>
                        <a:rPr sz="1000" b="1" i="0" u="sng" dirty="0" lang="es-SV">
                          <a:solidFill>
                            <a:srgbClr val="00376E"/>
                          </a:solidFill>
                          <a:latin typeface="Arial"/>
                        </a:rPr>
                        <a:t>cual</a:t>
                      </a:r>
                      <a:r>
                        <a:rPr sz="1000" b="1" i="0" u="sng" dirty="0" lang="es-SV">
                          <a:solidFill>
                            <a:srgbClr val="00376E"/>
                          </a:solidFill>
                          <a:latin typeface="Arial"/>
                        </a:rPr>
                        <a:t> </a:t>
                      </a:r>
                      <a:r>
                        <a:rPr sz="1000" b="1" i="0" u="sng" dirty="0" lang="es-SV">
                          <a:solidFill>
                            <a:srgbClr val="00376E"/>
                          </a:solidFill>
                          <a:latin typeface="Arial"/>
                        </a:rPr>
                        <a:t>comprenderá</a:t>
                      </a:r>
                      <a:r>
                        <a:rPr sz="1000" b="1" i="0" u="sng" dirty="0" lang="es-SV">
                          <a:solidFill>
                            <a:srgbClr val="00376E"/>
                          </a:solidFill>
                          <a:latin typeface="Arial"/>
                        </a:rPr>
                        <a:t> </a:t>
                      </a:r>
                      <a:r>
                        <a:rPr sz="1000" b="1" i="0" u="sng" dirty="0" lang="es-SV">
                          <a:solidFill>
                            <a:srgbClr val="00376E"/>
                          </a:solidFill>
                          <a:latin typeface="Arial"/>
                        </a:rPr>
                        <a:t>como</a:t>
                      </a:r>
                      <a:r>
                        <a:rPr sz="1000" b="1" i="0" u="sng" dirty="0" lang="es-SV">
                          <a:solidFill>
                            <a:srgbClr val="00376E"/>
                          </a:solidFill>
                          <a:latin typeface="Arial"/>
                        </a:rPr>
                        <a:t> </a:t>
                      </a:r>
                      <a:r>
                        <a:rPr sz="1000" b="1" i="0" u="sng" dirty="0" lang="es-SV">
                          <a:solidFill>
                            <a:srgbClr val="00376E"/>
                          </a:solidFill>
                          <a:latin typeface="Arial"/>
                        </a:rPr>
                        <a:t>mínimo</a:t>
                      </a:r>
                      <a:r>
                        <a:rPr sz="1000" b="1" i="0" u="sng" dirty="0" lang="es-SV">
                          <a:solidFill>
                            <a:srgbClr val="00376E"/>
                          </a:solidFill>
                          <a:latin typeface="Arial"/>
                        </a:rPr>
                        <a:t>: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operacional</a:t>
                      </a:r>
                      <a:r>
                        <a:rPr sz="1000" b="1" i="0" u="sng" dirty="0" lang="es-SV">
                          <a:solidFill>
                            <a:srgbClr val="00376E"/>
                          </a:solidFill>
                          <a:latin typeface="Arial"/>
                        </a:rPr>
                        <a:t>; </a:t>
                      </a:r>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concentración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solidez</a:t>
                      </a:r>
                      <a:r>
                        <a:rPr sz="1000" b="1" i="0" u="sng" dirty="0" lang="es-SV">
                          <a:solidFill>
                            <a:srgbClr val="00376E"/>
                          </a:solidFill>
                          <a:latin typeface="Arial"/>
                        </a:rPr>
                        <a:t> </a:t>
                      </a:r>
                      <a:r>
                        <a:rPr sz="1000" b="1" i="0" u="sng" dirty="0" lang="es-SV">
                          <a:solidFill>
                            <a:srgbClr val="00376E"/>
                          </a:solidFill>
                          <a:latin typeface="Arial"/>
                        </a:rPr>
                        <a:t>financiera</a:t>
                      </a:r>
                      <a:r>
                        <a:rPr sz="1000" b="1" i="0" u="sng" dirty="0" lang="es-SV">
                          <a:solidFill>
                            <a:srgbClr val="00376E"/>
                          </a:solidFill>
                          <a:latin typeface="Arial"/>
                        </a:rPr>
                        <a:t> del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riesgo</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a:t>
                      </a:r>
                      <a:r>
                        <a:rPr sz="1000" b="1" i="0" u="sng" dirty="0" lang="es-SV">
                          <a:solidFill>
                            <a:srgbClr val="00376E"/>
                          </a:solidFill>
                          <a:latin typeface="Arial"/>
                        </a:rPr>
                        <a:t>continuidad</a:t>
                      </a:r>
                      <a:r>
                        <a:rPr sz="1000" b="1" i="0" u="sng" dirty="0" lang="es-SV">
                          <a:solidFill>
                            <a:srgbClr val="00376E"/>
                          </a:solidFill>
                          <a:latin typeface="Arial"/>
                        </a:rPr>
                        <a:t> del </a:t>
                      </a:r>
                      <a:r>
                        <a:rPr sz="1000" b="1" i="0" u="sng" dirty="0" lang="es-SV">
                          <a:solidFill>
                            <a:srgbClr val="00376E"/>
                          </a:solidFill>
                          <a:latin typeface="Arial"/>
                        </a:rPr>
                        <a:t>negocio</a:t>
                      </a:r>
                      <a:r>
                        <a:rPr sz="1000" b="1" i="0" u="sng" dirty="0" lang="es-SV">
                          <a:solidFill>
                            <a:srgbClr val="00376E"/>
                          </a:solidFill>
                          <a:latin typeface="Arial"/>
                        </a:rPr>
                        <a:t>; y </a:t>
                      </a:r>
                      <a:r>
                        <a:rPr sz="1000" b="1" i="0" u="sng" dirty="0" lang="es-SV">
                          <a:solidFill>
                            <a:srgbClr val="00376E"/>
                          </a:solidFill>
                          <a:latin typeface="Arial"/>
                        </a:rPr>
                        <a:t>riesgo</a:t>
                      </a:r>
                      <a:r>
                        <a:rPr sz="1000" b="1" i="0" u="sng" dirty="0" lang="es-SV">
                          <a:solidFill>
                            <a:srgbClr val="00376E"/>
                          </a:solidFill>
                          <a:latin typeface="Arial"/>
                        </a:rPr>
                        <a:t> legal y </a:t>
                      </a:r>
                      <a:r>
                        <a:rPr sz="1000" b="1" i="0" u="sng" dirty="0" lang="es-SV">
                          <a:solidFill>
                            <a:srgbClr val="00376E"/>
                          </a:solidFill>
                          <a:latin typeface="Arial"/>
                        </a:rPr>
                        <a:t>reputacional</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Contenido</a:t>
                      </a:r>
                      <a:r>
                        <a:rPr sz="1000" b="0" i="0" dirty="0" lang="es-SV">
                          <a:solidFill>
                            <a:srgbClr val="1B2333"/>
                          </a:solidFill>
                          <a:latin typeface="Arial"/>
                        </a:rPr>
                        <a:t> </a:t>
                      </a:r>
                      <a:r>
                        <a:rPr sz="1000" b="0" i="0" dirty="0" lang="es-SV">
                          <a:solidFill>
                            <a:srgbClr val="1B2333"/>
                          </a:solidFill>
                          <a:latin typeface="Arial"/>
                        </a:rPr>
                        <a:t>mínimo</a:t>
                      </a:r>
                      <a:r>
                        <a:rPr sz="1000" b="0" i="0" dirty="0" lang="es-SV">
                          <a:solidFill>
                            <a:srgbClr val="1B2333"/>
                          </a:solidFill>
                          <a:latin typeface="Arial"/>
                        </a:rPr>
                        <a:t> de la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a:t>
                      </a:r>
                    </a:p>
                    <a:p>
                      <a:pPr algn="just"/>
                      <a:r>
                        <a:rPr sz="1000" b="1" i="0" dirty="0" lang="es-SV">
                          <a:solidFill>
                            <a:srgbClr val="00376E"/>
                          </a:solidFill>
                          <a:latin typeface="Arial"/>
                        </a:rPr>
                        <a:t>NRP-23, Anexo 1, A-1 a A-3 · NRP-42 · NRP-05 · NRP-24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Monitoreo: El Departamento de Administración de Riesgos reevaluará semestralmente a los proveedores de criticidad Alta y anualmente a los de criticidad Media y Baja, considerando la debida diligencia (documentada y revisada anualmente), el cumplimiento de los SLA, los eventos registrados y las pruebas de continuidad y de seguridad. Los resultados se informarán al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Seguimiento</a:t>
                      </a:r>
                      <a:r>
                        <a:rPr sz="1000" b="0" i="0" dirty="0" lang="es-SV">
                          <a:solidFill>
                            <a:srgbClr val="1B2333"/>
                          </a:solidFill>
                          <a:latin typeface="Arial"/>
                        </a:rPr>
                        <a:t> posterior a la </a:t>
                      </a:r>
                      <a:r>
                        <a:rPr sz="1000" b="0" i="0" dirty="0" lang="es-SV">
                          <a:solidFill>
                            <a:srgbClr val="1B2333"/>
                          </a:solidFill>
                          <a:latin typeface="Arial"/>
                        </a:rPr>
                        <a:t>contratación</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87883" y="1097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85622" y="109728"/>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VIII. </a:t>
            </a:r>
            <a:r>
              <a:rPr sz="2000" b="1" i="0" dirty="0" lang="es-SV">
                <a:solidFill>
                  <a:srgbClr val="00376E"/>
                </a:solidFill>
                <a:latin typeface="Century Gothic"/>
              </a:rPr>
              <a:t>Continuidad</a:t>
            </a:r>
            <a:r>
              <a:rPr sz="2000" b="1" i="0" dirty="0" lang="es-SV">
                <a:solidFill>
                  <a:srgbClr val="00376E"/>
                </a:solidFill>
                <a:latin typeface="Century Gothic"/>
              </a:rPr>
              <a:t> · XI. Eventos de </a:t>
            </a:r>
            <a:r>
              <a:rPr sz="2000" b="1" i="0" dirty="0" lang="es-SV">
                <a:solidFill>
                  <a:srgbClr val="00376E"/>
                </a:solidFill>
                <a:latin typeface="Century Gothic"/>
              </a:rPr>
              <a:t>riesgo</a:t>
            </a:r>
            <a:r>
              <a:rPr sz="2000" b="1" i="0" dirty="0" lang="es-SV">
                <a:solidFill>
                  <a:srgbClr val="00376E"/>
                </a:solidFill>
                <a:latin typeface="Century Gothic"/>
              </a:rPr>
              <a:t> </a:t>
            </a:r>
            <a:r>
              <a:rPr sz="2000" b="1" i="0" dirty="0" lang="es-SV">
                <a:solidFill>
                  <a:srgbClr val="00376E"/>
                </a:solidFill>
                <a:latin typeface="Century Gothic"/>
              </a:rPr>
              <a:t>operacional</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3787664175"/>
              </p:ext>
            </p:extLst>
          </p:nvPr>
        </p:nvGraphicFramePr>
        <p:xfrm>
          <a:off x="548640" y="754380"/>
          <a:ext cx="11091672" cy="24505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t>
                      </a:r>
                      <a:r>
                        <a:rPr sz="1000" b="0" i="0" dirty="0" lang="es-SV">
                          <a:solidFill>
                            <a:srgbClr val="1B2333"/>
                          </a:solidFill>
                          <a:latin typeface="Arial"/>
                        </a:rPr>
                        <a:t>en</a:t>
                      </a:r>
                      <a:r>
                        <a:rPr sz="1000" b="0" i="0" dirty="0" lang="es-SV">
                          <a:solidFill>
                            <a:srgbClr val="1B2333"/>
                          </a:solidFill>
                          <a:latin typeface="Arial"/>
                        </a:rPr>
                        <a:t> la </a:t>
                      </a:r>
                      <a:r>
                        <a:rPr sz="1000" b="0" i="0" dirty="0" lang="es-SV">
                          <a:solidFill>
                            <a:srgbClr val="1B2333"/>
                          </a:solidFill>
                          <a:latin typeface="Arial"/>
                        </a:rPr>
                        <a:t>formalización</a:t>
                      </a:r>
                      <a:r>
                        <a:rPr sz="1000" b="0" i="0" dirty="0" lang="es-SV">
                          <a:solidFill>
                            <a:srgbClr val="1B2333"/>
                          </a:solidFill>
                          <a:latin typeface="Arial"/>
                        </a:rPr>
                        <a:t> del </a:t>
                      </a:r>
                      <a:r>
                        <a:rPr sz="1000" b="0" i="0" dirty="0" lang="es-SV">
                          <a:solidFill>
                            <a:srgbClr val="1B2333"/>
                          </a:solidFill>
                          <a:latin typeface="Arial"/>
                        </a:rPr>
                        <a:t>contrato</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declaración</a:t>
                      </a:r>
                      <a:r>
                        <a:rPr sz="1000" b="0" i="0" dirty="0" lang="es-SV">
                          <a:solidFill>
                            <a:srgbClr val="1B2333"/>
                          </a:solidFill>
                          <a:latin typeface="Arial"/>
                        </a:rPr>
                        <a:t> </a:t>
                      </a:r>
                      <a:r>
                        <a:rPr sz="1000" b="0" i="0" dirty="0" lang="es-SV">
                          <a:solidFill>
                            <a:srgbClr val="1B2333"/>
                          </a:solidFill>
                          <a:latin typeface="Arial"/>
                        </a:rPr>
                        <a:t>jurada</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indique</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cuentan</a:t>
                      </a:r>
                      <a:r>
                        <a:rPr sz="1000" b="0" i="0" dirty="0" lang="es-SV">
                          <a:solidFill>
                            <a:srgbClr val="1B2333"/>
                          </a:solidFill>
                          <a:latin typeface="Arial"/>
                        </a:rPr>
                        <a:t> con un </a:t>
                      </a:r>
                      <a:r>
                        <a:rPr sz="1000" b="0" i="0" dirty="0" lang="es-SV">
                          <a:solidFill>
                            <a:srgbClr val="1B2333"/>
                          </a:solidFill>
                          <a:latin typeface="Arial"/>
                        </a:rPr>
                        <a:t>programa</a:t>
                      </a:r>
                      <a:r>
                        <a:rPr sz="1000" b="0" i="0" dirty="0" lang="es-SV">
                          <a:solidFill>
                            <a:srgbClr val="1B2333"/>
                          </a:solidFill>
                          <a:latin typeface="Arial"/>
                        </a:rPr>
                        <a:t> o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planes de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t>
                      </a:r>
                      <a:r>
                        <a:rPr sz="1000" b="0" i="0" dirty="0" lang="es-SV">
                          <a:solidFill>
                            <a:srgbClr val="1B2333"/>
                          </a:solidFill>
                          <a:latin typeface="Arial"/>
                        </a:rPr>
                        <a:t>en</a:t>
                      </a:r>
                      <a:r>
                        <a:rPr sz="1000" b="0" i="0" dirty="0" lang="es-SV">
                          <a:solidFill>
                            <a:srgbClr val="1B2333"/>
                          </a:solidFill>
                          <a:latin typeface="Arial"/>
                        </a:rPr>
                        <a:t> la </a:t>
                      </a:r>
                      <a:r>
                        <a:rPr sz="1000" b="0" i="0" dirty="0" lang="es-SV">
                          <a:solidFill>
                            <a:srgbClr val="1B2333"/>
                          </a:solidFill>
                          <a:latin typeface="Arial"/>
                        </a:rPr>
                        <a:t>formalización</a:t>
                      </a:r>
                      <a:r>
                        <a:rPr sz="1000" b="0" i="0" dirty="0" lang="es-SV">
                          <a:solidFill>
                            <a:srgbClr val="1B2333"/>
                          </a:solidFill>
                          <a:latin typeface="Arial"/>
                        </a:rPr>
                        <a:t> del </a:t>
                      </a:r>
                      <a:r>
                        <a:rPr sz="1000" b="0" i="0" dirty="0" lang="es-SV">
                          <a:solidFill>
                            <a:srgbClr val="1B2333"/>
                          </a:solidFill>
                          <a:latin typeface="Arial"/>
                        </a:rPr>
                        <a:t>contrato</a:t>
                      </a:r>
                      <a:r>
                        <a:rPr sz="1000" b="0" i="0" dirty="0" lang="es-SV">
                          <a:solidFill>
                            <a:srgbClr val="1B2333"/>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proveedores</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declaración</a:t>
                      </a:r>
                      <a:r>
                        <a:rPr sz="1000" b="0" i="0" dirty="0" lang="es-SV">
                          <a:solidFill>
                            <a:srgbClr val="1B2333"/>
                          </a:solidFill>
                          <a:latin typeface="Arial"/>
                        </a:rPr>
                        <a:t> </a:t>
                      </a:r>
                      <a:r>
                        <a:rPr sz="1000" b="0" i="0" dirty="0" lang="es-SV">
                          <a:solidFill>
                            <a:srgbClr val="1B2333"/>
                          </a:solidFill>
                          <a:latin typeface="Arial"/>
                        </a:rPr>
                        <a:t>jurada</a:t>
                      </a:r>
                      <a:r>
                        <a:rPr sz="1000" b="0" i="0" dirty="0" lang="es-SV">
                          <a:solidFill>
                            <a:srgbClr val="1B2333"/>
                          </a:solidFill>
                          <a:latin typeface="Arial"/>
                        </a:rPr>
                        <a:t> </a:t>
                      </a:r>
                      <a:r>
                        <a:rPr sz="1000" b="1" i="0" u="sng" dirty="0" lang="es-SV">
                          <a:solidFill>
                            <a:srgbClr val="00376E"/>
                          </a:solidFill>
                          <a:latin typeface="Arial"/>
                        </a:rPr>
                        <a:t>o </a:t>
                      </a:r>
                      <a:r>
                        <a:rPr sz="1000" b="1" i="0" u="sng" dirty="0" lang="es-SV">
                          <a:solidFill>
                            <a:srgbClr val="00376E"/>
                          </a:solidFill>
                          <a:latin typeface="Arial"/>
                        </a:rPr>
                        <a:t>certificación</a:t>
                      </a:r>
                      <a:r>
                        <a:rPr sz="1000" b="1" i="0" u="sng" dirty="0" lang="es-SV">
                          <a:solidFill>
                            <a:srgbClr val="00376E"/>
                          </a:solidFill>
                          <a:latin typeface="Arial"/>
                        </a:rPr>
                        <a:t> </a:t>
                      </a:r>
                      <a:r>
                        <a:rPr sz="1000" b="1" i="0" u="sng" dirty="0" lang="es-SV">
                          <a:solidFill>
                            <a:srgbClr val="00376E"/>
                          </a:solidFill>
                          <a:latin typeface="Arial"/>
                        </a:rPr>
                        <a:t>vigente</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indique</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cuentan</a:t>
                      </a:r>
                      <a:r>
                        <a:rPr sz="1000" b="0" i="0" dirty="0" lang="es-SV">
                          <a:solidFill>
                            <a:srgbClr val="1B2333"/>
                          </a:solidFill>
                          <a:latin typeface="Arial"/>
                        </a:rPr>
                        <a:t> con un </a:t>
                      </a:r>
                      <a:r>
                        <a:rPr sz="1000" b="0" i="0" dirty="0" lang="es-SV">
                          <a:solidFill>
                            <a:srgbClr val="1B2333"/>
                          </a:solidFill>
                          <a:latin typeface="Arial"/>
                        </a:rPr>
                        <a:t>programa</a:t>
                      </a:r>
                      <a:r>
                        <a:rPr sz="1000" b="0" i="0" dirty="0" lang="es-SV">
                          <a:solidFill>
                            <a:srgbClr val="1B2333"/>
                          </a:solidFill>
                          <a:latin typeface="Arial"/>
                        </a:rPr>
                        <a:t> o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planes de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Acepta</a:t>
                      </a:r>
                      <a:r>
                        <a:rPr sz="1000" b="0" i="0" dirty="0" lang="es-SV">
                          <a:solidFill>
                            <a:srgbClr val="1B2333"/>
                          </a:solidFill>
                          <a:latin typeface="Arial"/>
                        </a:rPr>
                        <a:t> </a:t>
                      </a:r>
                      <a:r>
                        <a:rPr sz="1000" b="0" i="0" dirty="0" lang="es-SV">
                          <a:solidFill>
                            <a:srgbClr val="1B2333"/>
                          </a:solidFill>
                          <a:latin typeface="Arial"/>
                        </a:rPr>
                        <a:t>certificación</a:t>
                      </a:r>
                      <a:r>
                        <a:rPr sz="1000" b="0" i="0" dirty="0" lang="es-SV">
                          <a:solidFill>
                            <a:srgbClr val="1B2333"/>
                          </a:solidFill>
                          <a:latin typeface="Arial"/>
                        </a:rPr>
                        <a:t> </a:t>
                      </a:r>
                      <a:r>
                        <a:rPr sz="1000" b="0" i="0" dirty="0" lang="es-SV">
                          <a:solidFill>
                            <a:srgbClr val="1B2333"/>
                          </a:solidFill>
                          <a:latin typeface="Arial"/>
                        </a:rPr>
                        <a:t>vigente</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evidencia</a:t>
                      </a:r>
                      <a:r>
                        <a:rPr sz="1000" b="0" i="0" dirty="0" lang="es-SV">
                          <a:solidFill>
                            <a:srgbClr val="1B2333"/>
                          </a:solidFill>
                          <a:latin typeface="Arial"/>
                        </a:rPr>
                        <a:t>.</a:t>
                      </a:r>
                    </a:p>
                    <a:p>
                      <a:pPr algn="just"/>
                      <a:r>
                        <a:rPr sz="1000" b="1" i="0" dirty="0" lang="es-SV">
                          <a:solidFill>
                            <a:srgbClr val="00376E"/>
                          </a:solidFill>
                          <a:latin typeface="Arial"/>
                        </a:rPr>
                        <a:t>NRP-23, Anexo 1, A-6 · NRP-24, art. 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XI. Gestión de eventos: Todo evento de riesgo operacional originado en un proveedor de servicios críticos tercerizados deberá ser reportado por el Administrador de Contrato al Departamento de Administración de Riesgos, para su registro, análisis de causa raíz y seguimiento de planes de acción.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Apartado</a:t>
                      </a:r>
                      <a:r>
                        <a:rPr sz="1000" b="0" i="0" dirty="0" lang="es-SV">
                          <a:solidFill>
                            <a:srgbClr val="1B2333"/>
                          </a:solidFill>
                          <a:latin typeface="Arial"/>
                        </a:rPr>
                        <a:t> nuevo.</a:t>
                      </a:r>
                    </a:p>
                    <a:p>
                      <a:pPr algn="just"/>
                      <a:r>
                        <a:rPr sz="1000" b="1" i="0" dirty="0" lang="es-SV">
                          <a:solidFill>
                            <a:srgbClr val="00376E"/>
                          </a:solidFill>
                          <a:latin typeface="Arial"/>
                        </a:rPr>
                        <a:t>NRP-42, arts. 8, lit. d y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Cuando el evento afecte de forma masiva cualquier producto financiero, deberá reportarse a la Superintendencia en el momento de su ocurrencia, por medio del responsable designado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Reporte</a:t>
                      </a:r>
                      <a:r>
                        <a:rPr sz="1000" b="0" i="0" dirty="0" lang="es-SV">
                          <a:solidFill>
                            <a:srgbClr val="1B2333"/>
                          </a:solidFill>
                          <a:latin typeface="Arial"/>
                        </a:rPr>
                        <a:t> </a:t>
                      </a:r>
                      <a:r>
                        <a:rPr sz="1000" b="0" i="0" dirty="0" lang="es-SV">
                          <a:solidFill>
                            <a:srgbClr val="1B2333"/>
                          </a:solidFill>
                          <a:latin typeface="Arial"/>
                        </a:rPr>
                        <a:t>inmediato</a:t>
                      </a:r>
                      <a:r>
                        <a:rPr sz="1000" b="0" i="0" dirty="0" lang="es-SV">
                          <a:solidFill>
                            <a:srgbClr val="1B2333"/>
                          </a:solidFill>
                          <a:latin typeface="Arial"/>
                        </a:rPr>
                        <a:t> al supervisor.</a:t>
                      </a:r>
                    </a:p>
                    <a:p>
                      <a:pPr algn="just"/>
                      <a:r>
                        <a:rPr sz="1000" b="1" i="0" dirty="0" lang="es-SV">
                          <a:solidFill>
                            <a:srgbClr val="00376E"/>
                          </a:solidFill>
                          <a:latin typeface="Arial"/>
                        </a:rPr>
                        <a:t>NRP-42, arts. 11, lit. d y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D1ED8948-D149-1AC4-7011-55C5885332B8}"/>
              </a:ext>
            </a:extLst>
          </p:cNvPr>
          <p:cNvSpPr/>
          <p:nvPr/>
        </p:nvSpPr>
        <p:spPr>
          <a:xfrm>
            <a:off x="548640" y="3314700"/>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D4745199-C99B-204B-A8FB-AE0D651873BD}"/>
              </a:ext>
            </a:extLst>
          </p:cNvPr>
          <p:cNvSpPr txBox="1"/>
          <p:nvPr/>
        </p:nvSpPr>
        <p:spPr>
          <a:xfrm>
            <a:off x="804672" y="3204972"/>
            <a:ext cx="9966960" cy="685800"/>
          </a:xfrm>
          <a:prstGeom prst="rect">
            <a:avLst/>
          </a:prstGeom>
          <a:noFill/>
        </p:spPr>
        <p:txBody>
          <a:bodyPr wrap="square" lIns="0" tIns="0" rIns="0" bIns="0" anchor="ctr">
            <a:spAutoFit/>
          </a:bodyPr>
          <a:lstStyle/>
          <a:p>
            <a:pPr algn="l"/>
            <a:r>
              <a:rPr sz="2000" b="1" i="0" dirty="0" lang="es-SV">
                <a:solidFill>
                  <a:srgbClr val="00376E"/>
                </a:solidFill>
                <a:latin typeface="Century Gothic"/>
              </a:rPr>
              <a:t>XII. </a:t>
            </a:r>
            <a:r>
              <a:rPr sz="2000" b="1" i="0" dirty="0" lang="es-SV">
                <a:solidFill>
                  <a:srgbClr val="00376E"/>
                </a:solidFill>
                <a:latin typeface="Century Gothic"/>
              </a:rPr>
              <a:t>Actualización</a:t>
            </a:r>
            <a:r>
              <a:rPr sz="2000" b="1" i="0" dirty="0" lang="es-SV">
                <a:solidFill>
                  <a:srgbClr val="00376E"/>
                </a:solidFill>
                <a:latin typeface="Century Gothic"/>
              </a:rPr>
              <a:t> · XIII. </a:t>
            </a:r>
            <a:r>
              <a:rPr sz="2000" b="1" i="0" dirty="0" lang="es-SV">
                <a:solidFill>
                  <a:srgbClr val="00376E"/>
                </a:solidFill>
                <a:latin typeface="Century Gothic"/>
              </a:rPr>
              <a:t>Aprobación</a:t>
            </a:r>
            <a:r>
              <a:rPr sz="2000" b="1" i="0" dirty="0" lang="es-SV">
                <a:solidFill>
                  <a:srgbClr val="00376E"/>
                </a:solidFill>
                <a:latin typeface="Century Gothic"/>
              </a:rPr>
              <a:t> · XV. </a:t>
            </a:r>
            <a:r>
              <a:rPr sz="2000" b="1" i="0" dirty="0" lang="es-SV">
                <a:solidFill>
                  <a:srgbClr val="00376E"/>
                </a:solidFill>
                <a:latin typeface="Century Gothic"/>
              </a:rPr>
              <a:t>Disposición</a:t>
            </a:r>
            <a:r>
              <a:rPr sz="2000" b="1" i="0" dirty="0" lang="es-SV">
                <a:solidFill>
                  <a:srgbClr val="00376E"/>
                </a:solidFill>
                <a:latin typeface="Century Gothic"/>
              </a:rPr>
              <a:t> final</a:t>
            </a:r>
          </a:p>
        </p:txBody>
      </p:sp>
      <p:graphicFrame>
        <p:nvGraphicFramePr>
          <p:cNvPr id="7" name="Table 15">
            <a:extLst>
              <a:ext uri="{FF2B5EF4-FFF2-40B4-BE49-F238E27FC236}">
                <a16:creationId xmlns:a16="http://schemas.microsoft.com/office/drawing/2014/main" id="{66A38AF0-9D53-E316-45C2-B455FBEC51A8}"/>
              </a:ext>
            </a:extLst>
          </p:cNvPr>
          <p:cNvGraphicFramePr>
            <a:graphicFrameLocks noGrp="1"/>
          </p:cNvGraphicFramePr>
          <p:nvPr>
            <p:extLst>
              <p:ext uri="{D42A27DB-BD31-4B8C-83A1-F6EECF244321}">
                <p14:modId xmlns:p14="http://schemas.microsoft.com/office/powerpoint/2010/main" val="2382590521"/>
              </p:ext>
            </p:extLst>
          </p:nvPr>
        </p:nvGraphicFramePr>
        <p:xfrm>
          <a:off x="548640" y="3978402"/>
          <a:ext cx="11091672" cy="22981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Con el objetivo de mantener actualizada la presente política se revisará y actualizará cuando existan modificaciones en la normativa interna y externa aplicables a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a:t>
                      </a:r>
                      <a:r>
                        <a:rPr sz="1000" b="0" i="0" dirty="0" lang="es-SV">
                          <a:solidFill>
                            <a:srgbClr val="1B2333"/>
                          </a:solidFill>
                          <a:latin typeface="Arial"/>
                        </a:rPr>
                        <a:t>revisará</a:t>
                      </a:r>
                      <a:r>
                        <a:rPr sz="1000" b="0" i="0" dirty="0" lang="es-SV">
                          <a:solidFill>
                            <a:srgbClr val="1B2333"/>
                          </a:solidFill>
                          <a:latin typeface="Arial"/>
                        </a:rPr>
                        <a:t> </a:t>
                      </a:r>
                      <a:r>
                        <a:rPr sz="1000" b="1" i="0" u="sng" dirty="0" lang="es-SV">
                          <a:solidFill>
                            <a:srgbClr val="00376E"/>
                          </a:solidFill>
                          <a:latin typeface="Arial"/>
                        </a:rPr>
                        <a:t>al </a:t>
                      </a:r>
                      <a:r>
                        <a:rPr sz="1000" b="1" i="0" u="sng" dirty="0" lang="es-SV">
                          <a:solidFill>
                            <a:srgbClr val="00376E"/>
                          </a:solidFill>
                          <a:latin typeface="Arial"/>
                        </a:rPr>
                        <a:t>menos</a:t>
                      </a:r>
                      <a:r>
                        <a:rPr sz="1000" b="1" i="0" u="sng" dirty="0" lang="es-SV">
                          <a:solidFill>
                            <a:srgbClr val="00376E"/>
                          </a:solidFill>
                          <a:latin typeface="Arial"/>
                        </a:rPr>
                        <a:t> </a:t>
                      </a:r>
                      <a:r>
                        <a:rPr sz="1000" b="1" i="0" u="sng" dirty="0" lang="es-SV">
                          <a:solidFill>
                            <a:srgbClr val="00376E"/>
                          </a:solidFill>
                          <a:latin typeface="Arial"/>
                        </a:rPr>
                        <a:t>una</a:t>
                      </a:r>
                      <a:r>
                        <a:rPr sz="1000" b="1" i="0" u="sng" dirty="0" lang="es-SV">
                          <a:solidFill>
                            <a:srgbClr val="00376E"/>
                          </a:solidFill>
                          <a:latin typeface="Arial"/>
                        </a:rPr>
                        <a:t> </a:t>
                      </a:r>
                      <a:r>
                        <a:rPr sz="1000" b="1" i="0" u="sng" dirty="0" lang="es-SV">
                          <a:solidFill>
                            <a:srgbClr val="00376E"/>
                          </a:solidFill>
                          <a:latin typeface="Arial"/>
                        </a:rPr>
                        <a:t>vez</a:t>
                      </a:r>
                      <a:r>
                        <a:rPr sz="1000" b="1" i="0" u="sng" dirty="0" lang="es-SV">
                          <a:solidFill>
                            <a:srgbClr val="00376E"/>
                          </a:solidFill>
                          <a:latin typeface="Arial"/>
                        </a:rPr>
                        <a:t> al </a:t>
                      </a:r>
                      <a:r>
                        <a:rPr sz="1000" b="1" i="0" u="sng" dirty="0" lang="es-SV">
                          <a:solidFill>
                            <a:srgbClr val="00376E"/>
                          </a:solidFill>
                          <a:latin typeface="Arial"/>
                        </a:rPr>
                        <a:t>año</a:t>
                      </a:r>
                      <a:r>
                        <a:rPr sz="1000" b="0" i="0" dirty="0" lang="es-SV">
                          <a:solidFill>
                            <a:srgbClr val="1B2333"/>
                          </a:solidFill>
                          <a:latin typeface="Arial"/>
                        </a:rPr>
                        <a:t> y se </a:t>
                      </a:r>
                      <a:r>
                        <a:rPr sz="1000" b="0" i="0" dirty="0" lang="es-SV">
                          <a:solidFill>
                            <a:srgbClr val="1B2333"/>
                          </a:solidFill>
                          <a:latin typeface="Arial"/>
                        </a:rPr>
                        <a:t>actualizará</a:t>
                      </a:r>
                      <a:r>
                        <a:rPr sz="1000" b="0" i="0" dirty="0" lang="es-SV">
                          <a:solidFill>
                            <a:srgbClr val="1B2333"/>
                          </a:solidFill>
                          <a:latin typeface="Arial"/>
                        </a:rPr>
                        <a:t> </a:t>
                      </a:r>
                      <a:r>
                        <a:rPr sz="1000" b="0" i="0" dirty="0" lang="es-SV">
                          <a:solidFill>
                            <a:srgbClr val="1B2333"/>
                          </a:solidFill>
                          <a:latin typeface="Arial"/>
                        </a:rPr>
                        <a:t>cuando</a:t>
                      </a:r>
                      <a:r>
                        <a:rPr sz="1000" b="0" i="0" dirty="0" lang="es-SV">
                          <a:solidFill>
                            <a:srgbClr val="1B2333"/>
                          </a:solidFill>
                          <a:latin typeface="Arial"/>
                        </a:rPr>
                        <a:t> </a:t>
                      </a:r>
                      <a:r>
                        <a:rPr sz="1000" b="0" i="0" dirty="0" lang="es-SV">
                          <a:solidFill>
                            <a:srgbClr val="1B2333"/>
                          </a:solidFill>
                          <a:latin typeface="Arial"/>
                        </a:rPr>
                        <a:t>existan</a:t>
                      </a:r>
                      <a:r>
                        <a:rPr sz="1000" b="0" i="0" dirty="0" lang="es-SV">
                          <a:solidFill>
                            <a:srgbClr val="1B2333"/>
                          </a:solidFill>
                          <a:latin typeface="Arial"/>
                        </a:rPr>
                        <a:t> </a:t>
                      </a:r>
                      <a:r>
                        <a:rPr sz="1000" b="0" i="0" dirty="0" lang="es-SV">
                          <a:solidFill>
                            <a:srgbClr val="1B2333"/>
                          </a:solidFill>
                          <a:latin typeface="Arial"/>
                        </a:rPr>
                        <a:t>modificaciones</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a:t>
                      </a:r>
                      <a:r>
                        <a:rPr sz="1000" b="0" i="0" dirty="0" lang="es-SV">
                          <a:solidFill>
                            <a:srgbClr val="1B2333"/>
                          </a:solidFill>
                          <a:latin typeface="Arial"/>
                        </a:rPr>
                        <a:t>normativa</a:t>
                      </a:r>
                      <a:r>
                        <a:rPr sz="1000" b="0" i="0" dirty="0" lang="es-SV">
                          <a:solidFill>
                            <a:srgbClr val="1B2333"/>
                          </a:solidFill>
                          <a:latin typeface="Arial"/>
                        </a:rPr>
                        <a:t> interna y externa </a:t>
                      </a:r>
                      <a:r>
                        <a:rPr sz="1000" b="0" i="0" dirty="0" lang="es-SV">
                          <a:solidFill>
                            <a:srgbClr val="1B2333"/>
                          </a:solidFill>
                          <a:latin typeface="Arial"/>
                        </a:rPr>
                        <a:t>aplicable</a:t>
                      </a:r>
                      <a:r>
                        <a:rPr sz="1000" b="0" i="0" dirty="0" lang="es-SV">
                          <a:solidFill>
                            <a:srgbClr val="1B2333"/>
                          </a:solidFill>
                          <a:latin typeface="Arial"/>
                        </a:rPr>
                        <a:t> a la Cooperativa</a:t>
                      </a:r>
                      <a:r>
                        <a:rPr sz="1000" b="1" i="0" u="sng" dirty="0" lang="es-SV">
                          <a:solidFill>
                            <a:srgbClr val="00376E"/>
                          </a:solidFill>
                          <a:latin typeface="Arial"/>
                        </a:rPr>
                        <a:t>, </a:t>
                      </a:r>
                      <a:r>
                        <a:rPr sz="1000" b="1" i="0" u="sng" dirty="0" lang="es-SV">
                          <a:solidFill>
                            <a:srgbClr val="00376E"/>
                          </a:solidFill>
                          <a:latin typeface="Arial"/>
                        </a:rPr>
                        <a:t>cambios</a:t>
                      </a:r>
                      <a:r>
                        <a:rPr sz="1000" b="1" i="0" u="sng" dirty="0" lang="es-SV">
                          <a:solidFill>
                            <a:srgbClr val="00376E"/>
                          </a:solidFill>
                          <a:latin typeface="Arial"/>
                        </a:rPr>
                        <a:t> </a:t>
                      </a:r>
                      <a:r>
                        <a:rPr sz="1000" b="1" i="0" u="sng" dirty="0" lang="es-SV">
                          <a:solidFill>
                            <a:srgbClr val="00376E"/>
                          </a:solidFill>
                          <a:latin typeface="Arial"/>
                        </a:rPr>
                        <a:t>significativos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perfil</a:t>
                      </a:r>
                      <a:r>
                        <a:rPr sz="1000" b="1" i="0" u="sng" dirty="0" lang="es-SV">
                          <a:solidFill>
                            <a:srgbClr val="00376E"/>
                          </a:solidFill>
                          <a:latin typeface="Arial"/>
                        </a:rPr>
                        <a:t> de </a:t>
                      </a:r>
                      <a:r>
                        <a:rPr sz="1000" b="1" i="0" u="sng" dirty="0" lang="es-SV">
                          <a:solidFill>
                            <a:srgbClr val="00376E"/>
                          </a:solidFill>
                          <a:latin typeface="Arial"/>
                        </a:rPr>
                        <a:t>riesgo</a:t>
                      </a:r>
                      <a:r>
                        <a:rPr sz="1000" b="1" i="0" u="sng" dirty="0" lang="es-SV">
                          <a:solidFill>
                            <a:srgbClr val="00376E"/>
                          </a:solidFill>
                          <a:latin typeface="Arial"/>
                        </a:rPr>
                        <a:t> de </a:t>
                      </a:r>
                      <a:r>
                        <a:rPr sz="1000" b="1" i="0" u="sng" dirty="0" lang="es-SV">
                          <a:solidFill>
                            <a:srgbClr val="00376E"/>
                          </a:solidFill>
                          <a:latin typeface="Arial"/>
                        </a:rPr>
                        <a:t>tercerización</a:t>
                      </a:r>
                      <a:r>
                        <a:rPr sz="1000" b="1" i="0" u="sng" dirty="0" lang="es-SV">
                          <a:solidFill>
                            <a:srgbClr val="00376E"/>
                          </a:solidFill>
                          <a:latin typeface="Arial"/>
                        </a:rPr>
                        <a:t>, o a </a:t>
                      </a:r>
                      <a:r>
                        <a:rPr sz="1000" b="1" i="0" u="sng" dirty="0" lang="es-SV">
                          <a:solidFill>
                            <a:srgbClr val="00376E"/>
                          </a:solidFill>
                          <a:latin typeface="Arial"/>
                        </a:rPr>
                        <a:t>requerimiento</a:t>
                      </a:r>
                      <a:r>
                        <a:rPr sz="1000" b="1" i="0" u="sng" dirty="0" lang="es-SV">
                          <a:solidFill>
                            <a:srgbClr val="00376E"/>
                          </a:solidFill>
                          <a:latin typeface="Arial"/>
                        </a:rPr>
                        <a:t> de la </a:t>
                      </a:r>
                      <a:r>
                        <a:rPr sz="1000" b="1" i="0" u="sng" dirty="0" lang="es-SV">
                          <a:solidFill>
                            <a:srgbClr val="00376E"/>
                          </a:solidFill>
                          <a:latin typeface="Arial"/>
                        </a:rPr>
                        <a:t>Superintendencia</a:t>
                      </a:r>
                      <a:r>
                        <a:rPr sz="1000" b="1" i="0" u="sng" dirty="0" lang="es-SV">
                          <a:solidFill>
                            <a:srgbClr val="00376E"/>
                          </a:solidFill>
                          <a:latin typeface="Arial"/>
                        </a:rPr>
                        <a:t>, del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1" i="0" u="sng" dirty="0" lang="es-SV">
                          <a:solidFill>
                            <a:srgbClr val="00376E"/>
                          </a:solidFill>
                          <a:latin typeface="Arial"/>
                        </a:rPr>
                        <a:t> o de </a:t>
                      </a:r>
                      <a:r>
                        <a:rPr sz="1000" b="1" i="0" u="sng" dirty="0" lang="es-SV">
                          <a:solidFill>
                            <a:srgbClr val="00376E"/>
                          </a:solidFill>
                          <a:latin typeface="Arial"/>
                        </a:rPr>
                        <a:t>Auditoría</a:t>
                      </a:r>
                      <a:r>
                        <a:rPr sz="1000" b="1" i="0" u="sng" dirty="0" lang="es-SV">
                          <a:solidFill>
                            <a:srgbClr val="00376E"/>
                          </a:solidFill>
                          <a:latin typeface="Arial"/>
                        </a:rPr>
                        <a:t>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Revisión</a:t>
                      </a:r>
                      <a:r>
                        <a:rPr sz="1000" b="0" i="0" dirty="0" lang="es-SV">
                          <a:solidFill>
                            <a:srgbClr val="1B2333"/>
                          </a:solidFill>
                          <a:latin typeface="Arial"/>
                        </a:rPr>
                        <a:t> </a:t>
                      </a:r>
                      <a:r>
                        <a:rPr sz="1000" b="0" i="0" dirty="0" lang="es-SV">
                          <a:solidFill>
                            <a:srgbClr val="1B2333"/>
                          </a:solidFill>
                          <a:latin typeface="Arial"/>
                        </a:rPr>
                        <a:t>periódica</a:t>
                      </a:r>
                      <a:r>
                        <a:rPr sz="1000" b="0" i="0" dirty="0" lang="es-SV">
                          <a:solidFill>
                            <a:srgbClr val="1B2333"/>
                          </a:solidFill>
                          <a:latin typeface="Arial"/>
                        </a:rPr>
                        <a:t> </a:t>
                      </a:r>
                      <a:r>
                        <a:rPr sz="1000" b="0" i="0" dirty="0" lang="es-SV">
                          <a:solidFill>
                            <a:srgbClr val="1B2333"/>
                          </a:solidFill>
                          <a:latin typeface="Arial"/>
                        </a:rPr>
                        <a:t>obligatoria</a:t>
                      </a:r>
                      <a:r>
                        <a:rPr sz="1000" b="0" i="0" dirty="0" lang="es-SV">
                          <a:solidFill>
                            <a:srgbClr val="1B2333"/>
                          </a:solidFill>
                          <a:latin typeface="Arial"/>
                        </a:rPr>
                        <a:t>.</a:t>
                      </a:r>
                    </a:p>
                    <a:p>
                      <a:pPr algn="just"/>
                      <a:r>
                        <a:rPr sz="1000" b="1" i="0" dirty="0" lang="es-SV">
                          <a:solidFill>
                            <a:srgbClr val="00376E"/>
                          </a:solidFill>
                          <a:latin typeface="Arial"/>
                        </a:rPr>
                        <a:t>NRP-20, art. 8 (</a:t>
                      </a:r>
                      <a:r>
                        <a:rPr sz="1000" b="1" i="0" dirty="0" lang="es-SV">
                          <a:solidFill>
                            <a:srgbClr val="00376E"/>
                          </a:solidFill>
                          <a:latin typeface="Arial"/>
                        </a:rPr>
                        <a:t>máximo</a:t>
                      </a:r>
                      <a:r>
                        <a:rPr sz="1000" b="1" i="0" dirty="0" lang="es-SV">
                          <a:solidFill>
                            <a:srgbClr val="00376E"/>
                          </a:solidFill>
                          <a:latin typeface="Arial"/>
                        </a:rPr>
                        <a:t> 2 </a:t>
                      </a:r>
                      <a:r>
                        <a:rPr sz="1000" b="1" i="0" dirty="0" lang="es-SV">
                          <a:solidFill>
                            <a:srgbClr val="00376E"/>
                          </a:solidFill>
                          <a:latin typeface="Arial"/>
                        </a:rPr>
                        <a:t>años</a:t>
                      </a:r>
                      <a:r>
                        <a:rPr sz="1000" b="1" i="0"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…para someterlo a validación del Comité de Administración de Riesgos y posterior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…para someterla a validación del </a:t>
                      </a:r>
                      <a:r>
                        <a:rPr sz="1000" b="1" i="0" u="sng" lang="es-SV">
                          <a:solidFill>
                            <a:srgbClr val="00376E"/>
                          </a:solidFill>
                          <a:latin typeface="Arial"/>
                        </a:rPr>
                        <a:t>Comité de Riesgos</a:t>
                      </a:r>
                      <a:r>
                        <a:rPr sz="1000" b="0" i="0" lang="es-SV">
                          <a:solidFill>
                            <a:srgbClr val="1B2333"/>
                          </a:solidFill>
                          <a:latin typeface="Arial"/>
                        </a:rPr>
                        <a:t> y posterior aprobación del Consejo de Administración. </a:t>
                      </a:r>
                      <a:r>
                        <a:rPr sz="1000" b="1" i="0" u="sng" lang="es-SV">
                          <a:solidFill>
                            <a:srgbClr val="00376E"/>
                          </a:solidFill>
                          <a:latin typeface="Arial"/>
                        </a:rPr>
                        <a:t>Una vez aprobada, deberá remitirse a la Superintendencia dentro de los diez días hábiles siguientes 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Remisión</a:t>
                      </a:r>
                      <a:r>
                        <a:rPr sz="1000" b="0" i="0" dirty="0" lang="es-SV">
                          <a:solidFill>
                            <a:srgbClr val="1B2333"/>
                          </a:solidFill>
                          <a:latin typeface="Arial"/>
                        </a:rPr>
                        <a:t> </a:t>
                      </a:r>
                      <a:r>
                        <a:rPr sz="1000" b="0" i="0" dirty="0" lang="es-SV">
                          <a:solidFill>
                            <a:srgbClr val="1B2333"/>
                          </a:solidFill>
                          <a:latin typeface="Arial"/>
                        </a:rPr>
                        <a:t>obligatoria</a:t>
                      </a:r>
                      <a:r>
                        <a:rPr sz="1000" b="0" i="0" dirty="0" lang="es-SV">
                          <a:solidFill>
                            <a:srgbClr val="1B2333"/>
                          </a:solidFill>
                          <a:latin typeface="Arial"/>
                        </a:rPr>
                        <a:t> al supervisor.</a:t>
                      </a:r>
                    </a:p>
                    <a:p>
                      <a:pPr algn="just"/>
                      <a:r>
                        <a:rPr sz="1000" b="1" i="0" dirty="0" lang="es-SV">
                          <a:solidFill>
                            <a:srgbClr val="00376E"/>
                          </a:solidFill>
                          <a:latin typeface="Arial"/>
                        </a:rPr>
                        <a:t>NRP-20, art. 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 no contemplado en la presente política, deberá ser resuelto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 no contemplado en la presente política deberá ser resuelto por el Consejo de Administración</a:t>
                      </a:r>
                      <a:r>
                        <a:rPr sz="1000" b="1" i="0" u="sng" lang="es-SV">
                          <a:solidFill>
                            <a:srgbClr val="00376E"/>
                          </a:solidFill>
                          <a:latin typeface="Arial"/>
                        </a:rPr>
                        <a:t>, previa opinión del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Opinión</a:t>
                      </a:r>
                      <a:r>
                        <a:rPr sz="1000" b="0" i="0" dirty="0" lang="es-SV">
                          <a:solidFill>
                            <a:srgbClr val="1B2333"/>
                          </a:solidFill>
                          <a:latin typeface="Arial"/>
                        </a:rPr>
                        <a:t> </a:t>
                      </a:r>
                      <a:r>
                        <a:rPr sz="1000" b="0" i="0" dirty="0" lang="es-SV">
                          <a:solidFill>
                            <a:srgbClr val="1B2333"/>
                          </a:solidFill>
                          <a:latin typeface="Arial"/>
                        </a:rPr>
                        <a:t>técnica</a:t>
                      </a:r>
                      <a:r>
                        <a:rPr sz="1000" b="0" i="0" dirty="0" lang="es-SV">
                          <a:solidFill>
                            <a:srgbClr val="1B2333"/>
                          </a:solidFill>
                          <a:latin typeface="Arial"/>
                        </a:rPr>
                        <a:t> previa del </a:t>
                      </a:r>
                      <a:r>
                        <a:rPr sz="1000" b="0" i="0" dirty="0" lang="es-SV">
                          <a:solidFill>
                            <a:srgbClr val="1B2333"/>
                          </a:solidFill>
                          <a:latin typeface="Arial"/>
                        </a:rPr>
                        <a:t>comité</a:t>
                      </a:r>
                      <a:r>
                        <a:rPr sz="1000" b="0" i="0" dirty="0" lang="es-SV">
                          <a:solidFill>
                            <a:srgbClr val="1B2333"/>
                          </a:solidFill>
                          <a:latin typeface="Arial"/>
                        </a:rPr>
                        <a:t>.</a:t>
                      </a:r>
                    </a:p>
                    <a:p>
                      <a:pPr algn="just"/>
                      <a:r>
                        <a:rPr sz="1000" b="1" i="0" dirty="0" lang="es-SV">
                          <a:solidFill>
                            <a:srgbClr val="00376E"/>
                          </a:solidFill>
                          <a:latin typeface="Arial"/>
                        </a:rPr>
                        <a:t>NRP-20, art. 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49317"/>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8600"/>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Anexo 1 — </a:t>
            </a:r>
            <a:r>
              <a:rPr sz="2000" b="1" i="0" dirty="0" lang="es-SV">
                <a:solidFill>
                  <a:srgbClr val="00376E"/>
                </a:solidFill>
                <a:latin typeface="Century Gothic"/>
              </a:rPr>
              <a:t>Sección</a:t>
            </a:r>
            <a:r>
              <a:rPr sz="2000" b="1" i="0" dirty="0" lang="es-SV">
                <a:solidFill>
                  <a:srgbClr val="00376E"/>
                </a:solidFill>
                <a:latin typeface="Century Gothic"/>
              </a:rPr>
              <a:t> A: </a:t>
            </a:r>
            <a:r>
              <a:rPr sz="2000" b="1" i="0" dirty="0" lang="es-SV">
                <a:solidFill>
                  <a:srgbClr val="00376E"/>
                </a:solidFill>
                <a:latin typeface="Century Gothic"/>
              </a:rPr>
              <a:t>Información</a:t>
            </a:r>
            <a:r>
              <a:rPr sz="2000" b="1" i="0" dirty="0" lang="es-SV">
                <a:solidFill>
                  <a:srgbClr val="00376E"/>
                </a:solidFill>
                <a:latin typeface="Century Gothic"/>
              </a:rPr>
              <a:t> y </a:t>
            </a:r>
            <a:r>
              <a:rPr sz="2000" b="1" i="0" dirty="0" lang="es-SV">
                <a:solidFill>
                  <a:srgbClr val="00376E"/>
                </a:solidFill>
                <a:latin typeface="Century Gothic"/>
              </a:rPr>
              <a:t>documentos</a:t>
            </a:r>
            <a:r>
              <a:rPr sz="2000" b="1" i="0" dirty="0" lang="es-SV">
                <a:solidFill>
                  <a:srgbClr val="00376E"/>
                </a:solidFill>
                <a:latin typeface="Century Gothic"/>
              </a:rPr>
              <a:t> para </a:t>
            </a:r>
            <a:r>
              <a:rPr sz="2000" b="1" i="0" dirty="0" lang="es-SV">
                <a:solidFill>
                  <a:srgbClr val="00376E"/>
                </a:solidFill>
                <a:latin typeface="Century Gothic"/>
              </a:rPr>
              <a:t>contratar</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1161058230"/>
              </p:ext>
            </p:extLst>
          </p:nvPr>
        </p:nvGraphicFramePr>
        <p:xfrm>
          <a:off x="548640" y="751296"/>
          <a:ext cx="11091672" cy="26944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Título</a:t>
                      </a:r>
                      <a:r>
                        <a:rPr sz="1000" b="0" i="0" dirty="0" lang="es-SV">
                          <a:solidFill>
                            <a:srgbClr val="1B2333"/>
                          </a:solidFill>
                          <a:latin typeface="Arial"/>
                        </a:rPr>
                        <a:t>: </a:t>
                      </a:r>
                      <a:r>
                        <a:rPr sz="1000" b="0" i="0" dirty="0" lang="es-SV">
                          <a:solidFill>
                            <a:srgbClr val="1B2333"/>
                          </a:solidFill>
                          <a:latin typeface="Arial"/>
                        </a:rPr>
                        <a:t>Condiciones</a:t>
                      </a:r>
                      <a:r>
                        <a:rPr sz="1000" b="0" i="0" dirty="0" lang="es-SV">
                          <a:solidFill>
                            <a:srgbClr val="1B2333"/>
                          </a:solidFill>
                          <a:latin typeface="Arial"/>
                        </a:rPr>
                        <a:t> para </a:t>
                      </a:r>
                      <a:r>
                        <a:rPr sz="1000" b="0" i="0" dirty="0" lang="es-SV">
                          <a:solidFill>
                            <a:srgbClr val="1B2333"/>
                          </a:solidFill>
                          <a:latin typeface="Arial"/>
                        </a:rPr>
                        <a:t>tercerizar</a:t>
                      </a:r>
                      <a:r>
                        <a:rPr sz="1000" b="0" i="0" dirty="0" lang="es-SV">
                          <a:solidFill>
                            <a:srgbClr val="1B2333"/>
                          </a:solidFill>
                          <a:latin typeface="Arial"/>
                        </a:rPr>
                        <a:t> </a:t>
                      </a:r>
                      <a:r>
                        <a:rPr sz="1000" b="0" i="0" dirty="0" lang="es-SV">
                          <a:solidFill>
                            <a:srgbClr val="1B2333"/>
                          </a:solidFill>
                          <a:latin typeface="Arial"/>
                        </a:rPr>
                        <a:t>Actividades</a:t>
                      </a:r>
                      <a:r>
                        <a:rPr sz="1000" b="0" i="0" dirty="0" lang="es-SV">
                          <a:solidFill>
                            <a:srgbClr val="1B2333"/>
                          </a:solidFill>
                          <a:latin typeface="Arial"/>
                        </a:rPr>
                        <a:t> u </a:t>
                      </a:r>
                      <a:r>
                        <a:rPr sz="1000" b="0" i="0" dirty="0" lang="es-SV">
                          <a:solidFill>
                            <a:srgbClr val="1B2333"/>
                          </a:solidFill>
                          <a:latin typeface="Arial"/>
                        </a:rPr>
                        <a:t>Operaciones</a:t>
                      </a:r>
                      <a:r>
                        <a:rPr sz="1000" b="0" i="0" dirty="0" lang="es-SV">
                          <a:solidFill>
                            <a:srgbClr val="1B2333"/>
                          </a:solidFill>
                          <a:latin typeface="Arial"/>
                        </a:rPr>
                        <a:t> de </a:t>
                      </a:r>
                      <a:r>
                        <a:rPr sz="1000" b="0" i="0" dirty="0" lang="es-SV">
                          <a:solidFill>
                            <a:srgbClr val="1B2333"/>
                          </a:solidFill>
                          <a:latin typeface="Arial"/>
                        </a:rPr>
                        <a:t>Tecnología</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Condiciones</a:t>
                      </a:r>
                      <a:r>
                        <a:rPr sz="1000" b="0" i="0" dirty="0" lang="es-SV">
                          <a:solidFill>
                            <a:srgbClr val="1B2333"/>
                          </a:solidFill>
                          <a:latin typeface="Arial"/>
                        </a:rPr>
                        <a:t> para </a:t>
                      </a:r>
                      <a:r>
                        <a:rPr sz="1000" b="0" i="0" dirty="0" lang="es-SV">
                          <a:solidFill>
                            <a:srgbClr val="1B2333"/>
                          </a:solidFill>
                          <a:latin typeface="Arial"/>
                        </a:rPr>
                        <a:t>tercerizar</a:t>
                      </a:r>
                      <a:r>
                        <a:rPr sz="1000" b="0" i="0" dirty="0" lang="es-SV">
                          <a:solidFill>
                            <a:srgbClr val="1B2333"/>
                          </a:solidFill>
                          <a:latin typeface="Arial"/>
                        </a:rPr>
                        <a:t> </a:t>
                      </a:r>
                      <a:r>
                        <a:rPr sz="1000" b="0" i="0" dirty="0" lang="es-SV">
                          <a:solidFill>
                            <a:srgbClr val="1B2333"/>
                          </a:solidFill>
                          <a:latin typeface="Arial"/>
                        </a:rPr>
                        <a:t>Actividades</a:t>
                      </a:r>
                      <a:r>
                        <a:rPr sz="1000" b="0" i="0" dirty="0" lang="es-SV">
                          <a:solidFill>
                            <a:srgbClr val="1B2333"/>
                          </a:solidFill>
                          <a:latin typeface="Arial"/>
                        </a:rPr>
                        <a:t> u </a:t>
                      </a:r>
                      <a:r>
                        <a:rPr sz="1000" b="0" i="0" dirty="0" lang="es-SV">
                          <a:solidFill>
                            <a:srgbClr val="1B2333"/>
                          </a:solidFill>
                          <a:latin typeface="Arial"/>
                        </a:rPr>
                        <a:t>Operaciones</a:t>
                      </a:r>
                      <a:r>
                        <a:rPr sz="1000" b="0" i="0" dirty="0" lang="es-SV">
                          <a:solidFill>
                            <a:srgbClr val="1B2333"/>
                          </a:solidFill>
                          <a:latin typeface="Arial"/>
                        </a:rPr>
                        <a:t> de </a:t>
                      </a:r>
                      <a:r>
                        <a:rPr sz="1000" b="0" i="0" dirty="0" lang="es-SV">
                          <a:solidFill>
                            <a:srgbClr val="1B2333"/>
                          </a:solidFill>
                          <a:latin typeface="Arial"/>
                        </a:rPr>
                        <a:t>Tecnología</a:t>
                      </a:r>
                      <a:r>
                        <a:rPr sz="1000" b="0" i="0" dirty="0" lang="es-SV">
                          <a:solidFill>
                            <a:srgbClr val="1B2333"/>
                          </a:solidFill>
                          <a:latin typeface="Arial"/>
                        </a:rPr>
                        <a:t> de </a:t>
                      </a:r>
                      <a:r>
                        <a:rPr sz="1000" b="1" i="0" u="sng" dirty="0" lang="es-SV">
                          <a:solidFill>
                            <a:srgbClr val="00376E"/>
                          </a:solidFill>
                          <a:latin typeface="Arial"/>
                        </a:rPr>
                        <a:t>la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relacionadas</a:t>
                      </a:r>
                      <a:r>
                        <a:rPr sz="1000" b="1" i="0" u="sng" dirty="0" lang="es-SV">
                          <a:solidFill>
                            <a:srgbClr val="00376E"/>
                          </a:solidFill>
                          <a:latin typeface="Arial"/>
                        </a:rPr>
                        <a:t> a </a:t>
                      </a:r>
                      <a:r>
                        <a:rPr sz="1000" b="1" i="0" u="sng" dirty="0" lang="es-SV">
                          <a:solidFill>
                            <a:srgbClr val="00376E"/>
                          </a:solidFill>
                          <a:latin typeface="Arial"/>
                        </a:rPr>
                        <a:t>productos</a:t>
                      </a:r>
                      <a:r>
                        <a:rPr sz="1000" b="1" i="0" u="sng" dirty="0" lang="es-SV">
                          <a:solidFill>
                            <a:srgbClr val="00376E"/>
                          </a:solidFill>
                          <a:latin typeface="Arial"/>
                        </a:rPr>
                        <a:t> y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financieros</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Nombre de la normativa.</a:t>
                      </a:r>
                    </a:p>
                    <a:p>
                      <a:pPr algn="just"/>
                      <a:r>
                        <a:rPr sz="1000" b="1" i="0" lang="es-SV">
                          <a:solidFill>
                            <a:srgbClr val="00376E"/>
                          </a:solidFill>
                          <a:latin typeface="Arial"/>
                        </a:rPr>
                        <a:t>NRP-23, Anexo No. 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1. </a:t>
                      </a:r>
                      <a:r>
                        <a:rPr sz="1000" b="0" i="0" dirty="0" lang="es-SV">
                          <a:solidFill>
                            <a:srgbClr val="1B2333"/>
                          </a:solidFill>
                          <a:latin typeface="Arial"/>
                        </a:rPr>
                        <a:t>Realizar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Evaluar</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derivados</a:t>
                      </a:r>
                      <a:r>
                        <a:rPr sz="1000" b="0" i="0" dirty="0" lang="es-SV">
                          <a:solidFill>
                            <a:srgbClr val="1B2333"/>
                          </a:solidFill>
                          <a:latin typeface="Arial"/>
                        </a:rPr>
                        <a:t> de la </a:t>
                      </a:r>
                      <a:r>
                        <a:rPr sz="1000" b="0" i="0" dirty="0" lang="es-SV">
                          <a:solidFill>
                            <a:srgbClr val="1B2333"/>
                          </a:solidFill>
                          <a:latin typeface="Arial"/>
                        </a:rPr>
                        <a:t>capacidad</a:t>
                      </a:r>
                      <a:r>
                        <a:rPr sz="1000" b="0" i="0" dirty="0" lang="es-SV">
                          <a:solidFill>
                            <a:srgbClr val="1B2333"/>
                          </a:solidFill>
                          <a:latin typeface="Arial"/>
                        </a:rPr>
                        <a:t> del </a:t>
                      </a:r>
                      <a:r>
                        <a:rPr sz="1000" b="0" i="0" dirty="0" lang="es-SV">
                          <a:solidFill>
                            <a:srgbClr val="1B2333"/>
                          </a:solidFill>
                          <a:latin typeface="Arial"/>
                        </a:rPr>
                        <a:t>proveedor</a:t>
                      </a:r>
                      <a:r>
                        <a:rPr sz="1000" b="0" i="0" dirty="0" lang="es-SV">
                          <a:solidFill>
                            <a:srgbClr val="1B2333"/>
                          </a:solidFill>
                          <a:latin typeface="Arial"/>
                        </a:rPr>
                        <a:t> </a:t>
                      </a:r>
                      <a:r>
                        <a:rPr sz="1000" b="0" i="0" dirty="0" lang="es-SV">
                          <a:solidFill>
                            <a:srgbClr val="1B2333"/>
                          </a:solidFill>
                          <a:latin typeface="Arial"/>
                        </a:rPr>
                        <a:t>respecto</a:t>
                      </a:r>
                      <a:r>
                        <a:rPr sz="1000" b="0" i="0" dirty="0" lang="es-SV">
                          <a:solidFill>
                            <a:srgbClr val="1B2333"/>
                          </a:solidFill>
                          <a:latin typeface="Arial"/>
                        </a:rPr>
                        <a:t> a la </a:t>
                      </a:r>
                      <a:r>
                        <a:rPr sz="1000" b="0" i="0" dirty="0" lang="es-SV">
                          <a:solidFill>
                            <a:srgbClr val="1B2333"/>
                          </a:solidFill>
                          <a:latin typeface="Arial"/>
                        </a:rPr>
                        <a:t>concentración</a:t>
                      </a:r>
                      <a:r>
                        <a:rPr sz="1000" b="0" i="0" dirty="0" lang="es-SV">
                          <a:solidFill>
                            <a:srgbClr val="1B2333"/>
                          </a:solidFill>
                          <a:latin typeface="Arial"/>
                        </a:rPr>
                        <a:t> de </a:t>
                      </a:r>
                      <a:r>
                        <a:rPr sz="1000" b="0" i="0" dirty="0" lang="es-SV">
                          <a:solidFill>
                            <a:srgbClr val="1B2333"/>
                          </a:solidFill>
                          <a:latin typeface="Arial"/>
                        </a:rPr>
                        <a:t>instituciones</a:t>
                      </a:r>
                      <a:r>
                        <a:rPr sz="1000" b="0" i="0" dirty="0" lang="es-SV">
                          <a:solidFill>
                            <a:srgbClr val="1B2333"/>
                          </a:solidFill>
                          <a:latin typeface="Arial"/>
                        </a:rPr>
                        <a:t> con el </a:t>
                      </a:r>
                      <a:r>
                        <a:rPr sz="1000" b="0" i="0" dirty="0" lang="es-SV">
                          <a:solidFill>
                            <a:srgbClr val="1B2333"/>
                          </a:solidFill>
                          <a:latin typeface="Arial"/>
                        </a:rPr>
                        <a:t>proveedor</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1. </a:t>
                      </a:r>
                      <a:r>
                        <a:rPr sz="1000" b="0" i="0" dirty="0" lang="es-SV">
                          <a:solidFill>
                            <a:srgbClr val="1B2333"/>
                          </a:solidFill>
                          <a:latin typeface="Arial"/>
                        </a:rPr>
                        <a:t>Realizar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a:t>
                      </a:r>
                      <a:r>
                        <a:rPr sz="1000" b="1" i="0" u="sng" dirty="0" lang="es-SV">
                          <a:solidFill>
                            <a:srgbClr val="00376E"/>
                          </a:solidFill>
                          <a:latin typeface="Arial"/>
                        </a:rPr>
                        <a:t>integral</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 </a:t>
                      </a:r>
                      <a:r>
                        <a:rPr sz="1000" b="1" i="0" u="sng" dirty="0" lang="es-SV">
                          <a:solidFill>
                            <a:srgbClr val="00376E"/>
                          </a:solidFill>
                          <a:latin typeface="Arial"/>
                        </a:rPr>
                        <a:t>considerando</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riesgos</a:t>
                      </a:r>
                      <a:r>
                        <a:rPr sz="1000" b="1" i="0" u="sng" dirty="0" lang="es-SV">
                          <a:solidFill>
                            <a:srgbClr val="00376E"/>
                          </a:solidFill>
                          <a:latin typeface="Arial"/>
                        </a:rPr>
                        <a:t> </a:t>
                      </a:r>
                      <a:r>
                        <a:rPr sz="1000" b="1" i="0" u="sng" dirty="0" lang="es-SV">
                          <a:solidFill>
                            <a:srgbClr val="00376E"/>
                          </a:solidFill>
                          <a:latin typeface="Arial"/>
                        </a:rPr>
                        <a:t>operacionales</a:t>
                      </a:r>
                      <a:r>
                        <a:rPr sz="1000" b="1" i="0" u="sng" dirty="0" lang="es-SV">
                          <a:solidFill>
                            <a:srgbClr val="00376E"/>
                          </a:solidFill>
                          <a:latin typeface="Arial"/>
                        </a:rPr>
                        <a:t> (</a:t>
                      </a:r>
                      <a:r>
                        <a:rPr sz="1000" b="1" i="0" u="sng" dirty="0" lang="es-SV">
                          <a:solidFill>
                            <a:srgbClr val="00376E"/>
                          </a:solidFill>
                          <a:latin typeface="Arial"/>
                        </a:rPr>
                        <a:t>incluyendo</a:t>
                      </a:r>
                      <a:r>
                        <a:rPr sz="1000" b="1" i="0" u="sng" dirty="0" lang="es-SV">
                          <a:solidFill>
                            <a:srgbClr val="00376E"/>
                          </a:solidFill>
                          <a:latin typeface="Arial"/>
                        </a:rPr>
                        <a:t> </a:t>
                      </a:r>
                      <a:r>
                        <a:rPr sz="1000" b="1" i="0" u="sng" dirty="0" lang="es-SV">
                          <a:solidFill>
                            <a:srgbClr val="00376E"/>
                          </a:solidFill>
                          <a:latin typeface="Arial"/>
                        </a:rPr>
                        <a:t>tecnológicos</a:t>
                      </a:r>
                      <a:r>
                        <a:rPr sz="1000" b="1" i="0" u="sng" dirty="0" lang="es-SV">
                          <a:solidFill>
                            <a:srgbClr val="00376E"/>
                          </a:solidFill>
                          <a:latin typeface="Arial"/>
                        </a:rPr>
                        <a:t> y </a:t>
                      </a:r>
                      <a:r>
                        <a:rPr sz="1000" b="1" i="0" u="sng" dirty="0" lang="es-SV">
                          <a:solidFill>
                            <a:srgbClr val="00376E"/>
                          </a:solidFill>
                          <a:latin typeface="Arial"/>
                        </a:rPr>
                        <a:t>legales</a:t>
                      </a:r>
                      <a:r>
                        <a:rPr sz="1000" b="1" i="0" u="sng" dirty="0" lang="es-SV">
                          <a:solidFill>
                            <a:srgbClr val="00376E"/>
                          </a:solidFill>
                          <a:latin typeface="Arial"/>
                        </a:rPr>
                        <a:t>), </a:t>
                      </a:r>
                      <a:r>
                        <a:rPr sz="1000" b="1" i="0" u="sng" dirty="0" lang="es-SV">
                          <a:solidFill>
                            <a:srgbClr val="00376E"/>
                          </a:solidFill>
                          <a:latin typeface="Arial"/>
                        </a:rPr>
                        <a:t>reputacionales</a:t>
                      </a:r>
                      <a:r>
                        <a:rPr sz="1000" b="1" i="0" u="sng" dirty="0" lang="es-SV">
                          <a:solidFill>
                            <a:srgbClr val="00376E"/>
                          </a:solidFill>
                          <a:latin typeface="Arial"/>
                        </a:rPr>
                        <a:t> y </a:t>
                      </a:r>
                      <a:r>
                        <a:rPr sz="1000" b="1" i="0" u="sng" dirty="0" lang="es-SV">
                          <a:solidFill>
                            <a:srgbClr val="00376E"/>
                          </a:solidFill>
                          <a:latin typeface="Arial"/>
                        </a:rPr>
                        <a:t>financieros</a:t>
                      </a:r>
                      <a:r>
                        <a:rPr sz="1000" b="1" i="0" u="sng" dirty="0" lang="es-SV">
                          <a:solidFill>
                            <a:srgbClr val="00376E"/>
                          </a:solidFill>
                          <a:latin typeface="Arial"/>
                        </a:rPr>
                        <a:t>, la </a:t>
                      </a:r>
                      <a:r>
                        <a:rPr sz="1000" b="1" i="0" u="sng" dirty="0" lang="es-SV">
                          <a:solidFill>
                            <a:srgbClr val="00376E"/>
                          </a:solidFill>
                          <a:latin typeface="Arial"/>
                        </a:rPr>
                        <a:t>continuidad</a:t>
                      </a:r>
                      <a:r>
                        <a:rPr sz="1000" b="1" i="0" u="sng" dirty="0" lang="es-SV">
                          <a:solidFill>
                            <a:srgbClr val="00376E"/>
                          </a:solidFill>
                          <a:latin typeface="Arial"/>
                        </a:rPr>
                        <a:t> del </a:t>
                      </a:r>
                      <a:r>
                        <a:rPr sz="1000" b="1" i="0" u="sng" dirty="0" lang="es-SV">
                          <a:solidFill>
                            <a:srgbClr val="00376E"/>
                          </a:solidFill>
                          <a:latin typeface="Arial"/>
                        </a:rPr>
                        <a:t>negocio</a:t>
                      </a:r>
                      <a:r>
                        <a:rPr sz="1000" b="1" i="0" u="sng" dirty="0" lang="es-SV">
                          <a:solidFill>
                            <a:srgbClr val="00376E"/>
                          </a:solidFill>
                          <a:latin typeface="Arial"/>
                        </a:rPr>
                        <a:t> y el </a:t>
                      </a:r>
                      <a:r>
                        <a:rPr sz="1000" b="1" i="0" u="sng" dirty="0" lang="es-SV">
                          <a:solidFill>
                            <a:srgbClr val="00376E"/>
                          </a:solidFill>
                          <a:latin typeface="Arial"/>
                        </a:rPr>
                        <a:t>riesgo</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la </a:t>
                      </a:r>
                      <a:r>
                        <a:rPr sz="1000" b="1" i="0" u="sng" dirty="0" lang="es-SV">
                          <a:solidFill>
                            <a:srgbClr val="00376E"/>
                          </a:solidFill>
                          <a:latin typeface="Arial"/>
                        </a:rPr>
                        <a:t>concentración</a:t>
                      </a:r>
                      <a:r>
                        <a:rPr sz="1000" b="1" i="0" u="sng" dirty="0" lang="es-SV">
                          <a:solidFill>
                            <a:srgbClr val="00376E"/>
                          </a:solidFill>
                          <a:latin typeface="Arial"/>
                        </a:rPr>
                        <a:t> de </a:t>
                      </a:r>
                      <a:r>
                        <a:rPr sz="1000" b="1" i="0" u="sng" dirty="0" lang="es-SV">
                          <a:solidFill>
                            <a:srgbClr val="00376E"/>
                          </a:solidFill>
                          <a:latin typeface="Arial"/>
                        </a:rPr>
                        <a:t>entidades</a:t>
                      </a:r>
                      <a:r>
                        <a:rPr sz="1000" b="1" i="0" u="sng" dirty="0" lang="es-SV">
                          <a:solidFill>
                            <a:srgbClr val="00376E"/>
                          </a:solidFill>
                          <a:latin typeface="Arial"/>
                        </a:rPr>
                        <a:t> </a:t>
                      </a:r>
                      <a:r>
                        <a:rPr sz="1000" b="1" i="0" u="sng" dirty="0" lang="es-SV">
                          <a:solidFill>
                            <a:srgbClr val="00376E"/>
                          </a:solidFill>
                          <a:latin typeface="Arial"/>
                        </a:rPr>
                        <a:t>financieras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y de la </a:t>
                      </a:r>
                      <a:r>
                        <a:rPr sz="1000" b="1" i="0" u="sng" dirty="0" lang="es-SV">
                          <a:solidFill>
                            <a:srgbClr val="00376E"/>
                          </a:solidFill>
                          <a:latin typeface="Arial"/>
                        </a:rPr>
                        <a:t>propia</a:t>
                      </a:r>
                      <a:r>
                        <a:rPr sz="1000" b="1" i="0" u="sng" dirty="0" lang="es-SV">
                          <a:solidFill>
                            <a:srgbClr val="00376E"/>
                          </a:solidFill>
                          <a:latin typeface="Arial"/>
                        </a:rPr>
                        <a:t> Cooperativa, con </a:t>
                      </a:r>
                      <a:r>
                        <a:rPr sz="1000" b="1" i="0" u="sng" dirty="0" lang="es-SV">
                          <a:solidFill>
                            <a:srgbClr val="00376E"/>
                          </a:solidFill>
                          <a:latin typeface="Arial"/>
                        </a:rPr>
                        <a:t>acciones</a:t>
                      </a:r>
                      <a:r>
                        <a:rPr sz="1000" b="1" i="0" u="sng" dirty="0" lang="es-SV">
                          <a:solidFill>
                            <a:srgbClr val="00376E"/>
                          </a:solidFill>
                          <a:latin typeface="Arial"/>
                        </a:rPr>
                        <a:t> a </a:t>
                      </a:r>
                      <a:r>
                        <a:rPr sz="1000" b="1" i="0" u="sng" dirty="0" lang="es-SV">
                          <a:solidFill>
                            <a:srgbClr val="00376E"/>
                          </a:solidFill>
                          <a:latin typeface="Arial"/>
                        </a:rPr>
                        <a:t>realizar</a:t>
                      </a:r>
                      <a:r>
                        <a:rPr sz="1000" b="1" i="0" u="sng" dirty="0" lang="es-SV">
                          <a:solidFill>
                            <a:srgbClr val="00376E"/>
                          </a:solidFill>
                          <a:latin typeface="Arial"/>
                        </a:rPr>
                        <a:t> </a:t>
                      </a:r>
                      <a:r>
                        <a:rPr sz="1000" b="1" i="0" u="sng" dirty="0" lang="es-SV">
                          <a:solidFill>
                            <a:srgbClr val="00376E"/>
                          </a:solidFill>
                          <a:latin typeface="Arial"/>
                        </a:rPr>
                        <a:t>si</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falla</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Texto</a:t>
                      </a:r>
                      <a:r>
                        <a:rPr sz="1000" b="0" i="0" dirty="0" lang="es-SV">
                          <a:solidFill>
                            <a:srgbClr val="1B2333"/>
                          </a:solidFill>
                          <a:latin typeface="Arial"/>
                        </a:rPr>
                        <a:t> </a:t>
                      </a:r>
                      <a:r>
                        <a:rPr sz="1000" b="0" i="0" dirty="0" lang="es-SV">
                          <a:solidFill>
                            <a:srgbClr val="1B2333"/>
                          </a:solidFill>
                          <a:latin typeface="Arial"/>
                        </a:rPr>
                        <a:t>completo</a:t>
                      </a:r>
                      <a:r>
                        <a:rPr sz="1000" b="0" i="0" dirty="0" lang="es-SV">
                          <a:solidFill>
                            <a:srgbClr val="1B2333"/>
                          </a:solidFill>
                          <a:latin typeface="Arial"/>
                        </a:rPr>
                        <a:t> de la norma.</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1 y 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3. Denominación o Razón social y giro del negocio, experiencia, servicios, clientes (personas jurídicas), periodos de servicio, entre otros.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3. Denominación o Razón social… entre otros. </a:t>
                      </a:r>
                      <a:r>
                        <a:rPr sz="1000" b="1" i="0" u="sng" lang="es-SV">
                          <a:solidFill>
                            <a:srgbClr val="00376E"/>
                          </a:solidFill>
                          <a:latin typeface="Arial"/>
                        </a:rPr>
                        <a:t>Para el caso de un proveedor local, nómina de accionistas y principales funcionarios.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Requisito</a:t>
                      </a:r>
                      <a:r>
                        <a:rPr sz="1000" b="0" i="0" dirty="0" lang="es-SV">
                          <a:solidFill>
                            <a:srgbClr val="1B2333"/>
                          </a:solidFill>
                          <a:latin typeface="Arial"/>
                        </a:rPr>
                        <a:t> </a:t>
                      </a:r>
                      <a:r>
                        <a:rPr sz="1000" b="0" i="0" dirty="0" lang="es-SV">
                          <a:solidFill>
                            <a:srgbClr val="1B2333"/>
                          </a:solidFill>
                          <a:latin typeface="Arial"/>
                        </a:rPr>
                        <a:t>omitido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V03.</a:t>
                      </a:r>
                    </a:p>
                    <a:p>
                      <a:pPr algn="just"/>
                      <a:r>
                        <a:rPr sz="1000" b="1" i="0" dirty="0" lang="es-SV">
                          <a:solidFill>
                            <a:srgbClr val="00376E"/>
                          </a:solidFill>
                          <a:latin typeface="Arial"/>
                        </a:rPr>
                        <a:t>NRP-23, Anexo 1, A-3, lit.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5. La entidad deberá realizar la debida diligencia de dicho proveedor sobre: 1. Solidez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5. La entidad deberá realizar la debida diligencia de dicho proveedor</a:t>
                      </a:r>
                      <a:r>
                        <a:rPr sz="1000" b="1" i="0" u="sng" lang="es-SV">
                          <a:solidFill>
                            <a:srgbClr val="00376E"/>
                          </a:solidFill>
                          <a:latin typeface="Arial"/>
                        </a:rPr>
                        <a:t>, la cual deberá documentarse y revisarse anualmente utilizando la información más reciente,</a:t>
                      </a:r>
                      <a:r>
                        <a:rPr sz="1000" b="0" i="0" lang="es-SV">
                          <a:solidFill>
                            <a:srgbClr val="1B2333"/>
                          </a:solidFill>
                          <a:latin typeface="Arial"/>
                        </a:rPr>
                        <a:t> sobre: 1. Solidez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Revisión</a:t>
                      </a:r>
                      <a:r>
                        <a:rPr sz="1000" b="0" i="0" dirty="0" lang="es-SV">
                          <a:solidFill>
                            <a:srgbClr val="1B2333"/>
                          </a:solidFill>
                          <a:latin typeface="Arial"/>
                        </a:rPr>
                        <a:t> </a:t>
                      </a:r>
                      <a:r>
                        <a:rPr sz="1000" b="0" i="0" dirty="0" lang="es-SV">
                          <a:solidFill>
                            <a:srgbClr val="1B2333"/>
                          </a:solidFill>
                          <a:latin typeface="Arial"/>
                        </a:rPr>
                        <a:t>anual</a:t>
                      </a:r>
                      <a:r>
                        <a:rPr sz="1000" b="0" i="0" dirty="0" lang="es-SV">
                          <a:solidFill>
                            <a:srgbClr val="1B2333"/>
                          </a:solidFill>
                          <a:latin typeface="Arial"/>
                        </a:rPr>
                        <a:t> </a:t>
                      </a:r>
                      <a:r>
                        <a:rPr sz="1000" b="0" i="0" dirty="0" lang="es-SV">
                          <a:solidFill>
                            <a:srgbClr val="1B2333"/>
                          </a:solidFill>
                          <a:latin typeface="Arial"/>
                        </a:rPr>
                        <a:t>obligatoria</a:t>
                      </a:r>
                      <a:r>
                        <a:rPr sz="1000" b="0" i="0" dirty="0" lang="es-SV">
                          <a:solidFill>
                            <a:srgbClr val="1B2333"/>
                          </a:solidFill>
                          <a:latin typeface="Arial"/>
                        </a:rPr>
                        <a:t>.</a:t>
                      </a:r>
                    </a:p>
                    <a:p>
                      <a:pPr algn="just"/>
                      <a:r>
                        <a:rPr sz="1000" b="1" i="0" dirty="0" lang="es-SV">
                          <a:solidFill>
                            <a:srgbClr val="00376E"/>
                          </a:solidFill>
                          <a:latin typeface="Arial"/>
                        </a:rPr>
                        <a:t>NRP-23, Anexo 1, A-3,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EB589EB1-ACDC-AD8E-4232-3B5DAC5ABCCC}"/>
              </a:ext>
            </a:extLst>
          </p:cNvPr>
          <p:cNvSpPr/>
          <p:nvPr/>
        </p:nvSpPr>
        <p:spPr>
          <a:xfrm>
            <a:off x="548640" y="348157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79001126-435D-501D-F6CF-75F1FEDE2C75}"/>
              </a:ext>
            </a:extLst>
          </p:cNvPr>
          <p:cNvSpPr txBox="1"/>
          <p:nvPr/>
        </p:nvSpPr>
        <p:spPr>
          <a:xfrm>
            <a:off x="804672" y="3560861"/>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Anexo 1 — </a:t>
            </a:r>
            <a:r>
              <a:rPr sz="2000" b="1" i="0" dirty="0" lang="es-SV">
                <a:solidFill>
                  <a:srgbClr val="00376E"/>
                </a:solidFill>
                <a:latin typeface="Century Gothic"/>
              </a:rPr>
              <a:t>Sección</a:t>
            </a:r>
            <a:r>
              <a:rPr sz="2000" b="1" i="0" dirty="0" lang="es-SV">
                <a:solidFill>
                  <a:srgbClr val="00376E"/>
                </a:solidFill>
                <a:latin typeface="Century Gothic"/>
              </a:rPr>
              <a:t> A (</a:t>
            </a:r>
            <a:r>
              <a:rPr sz="2000" b="1" i="0" dirty="0" lang="es-SV">
                <a:solidFill>
                  <a:srgbClr val="00376E"/>
                </a:solidFill>
                <a:latin typeface="Century Gothic"/>
              </a:rPr>
              <a:t>numerales</a:t>
            </a:r>
            <a:r>
              <a:rPr sz="2000" b="1" i="0" dirty="0" lang="es-SV">
                <a:solidFill>
                  <a:srgbClr val="00376E"/>
                </a:solidFill>
                <a:latin typeface="Century Gothic"/>
              </a:rPr>
              <a:t> </a:t>
            </a:r>
            <a:r>
              <a:rPr sz="2000" b="1" i="0" dirty="0" lang="es-SV">
                <a:solidFill>
                  <a:srgbClr val="00376E"/>
                </a:solidFill>
                <a:latin typeface="Century Gothic"/>
              </a:rPr>
              <a:t>nuevos</a:t>
            </a:r>
            <a:r>
              <a:rPr sz="2000" b="1" i="0" dirty="0" lang="es-SV">
                <a:solidFill>
                  <a:srgbClr val="00376E"/>
                </a:solidFill>
                <a:latin typeface="Century Gothic"/>
              </a:rPr>
              <a:t>) y </a:t>
            </a:r>
            <a:r>
              <a:rPr sz="2000" b="1" i="0" dirty="0" lang="es-SV">
                <a:solidFill>
                  <a:srgbClr val="00376E"/>
                </a:solidFill>
                <a:latin typeface="Century Gothic"/>
              </a:rPr>
              <a:t>Sección</a:t>
            </a:r>
            <a:r>
              <a:rPr sz="2000" b="1" i="0" dirty="0" lang="es-SV">
                <a:solidFill>
                  <a:srgbClr val="00376E"/>
                </a:solidFill>
                <a:latin typeface="Century Gothic"/>
              </a:rPr>
              <a:t> B (1 de 2)</a:t>
            </a:r>
          </a:p>
        </p:txBody>
      </p:sp>
      <p:graphicFrame>
        <p:nvGraphicFramePr>
          <p:cNvPr id="7" name="Table 15">
            <a:extLst>
              <a:ext uri="{FF2B5EF4-FFF2-40B4-BE49-F238E27FC236}">
                <a16:creationId xmlns:a16="http://schemas.microsoft.com/office/drawing/2014/main" id="{61BDC98F-F99A-1545-590A-E65469EC2EC9}"/>
              </a:ext>
            </a:extLst>
          </p:cNvPr>
          <p:cNvGraphicFramePr>
            <a:graphicFrameLocks noGrp="1"/>
          </p:cNvGraphicFramePr>
          <p:nvPr>
            <p:extLst>
              <p:ext uri="{D42A27DB-BD31-4B8C-83A1-F6EECF244321}">
                <p14:modId xmlns:p14="http://schemas.microsoft.com/office/powerpoint/2010/main" val="3871914257"/>
              </p:ext>
            </p:extLst>
          </p:nvPr>
        </p:nvGraphicFramePr>
        <p:xfrm>
          <a:off x="548640" y="4057650"/>
          <a:ext cx="11091672" cy="22981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6. </a:t>
                      </a:r>
                      <a:r>
                        <a:rPr sz="1000" b="1" i="0" u="sng" dirty="0" lang="es-SV">
                          <a:solidFill>
                            <a:srgbClr val="00376E"/>
                          </a:solidFill>
                          <a:latin typeface="Arial"/>
                        </a:rPr>
                        <a:t>Análisis</a:t>
                      </a:r>
                      <a:r>
                        <a:rPr sz="1000" b="1" i="0" u="sng" dirty="0" lang="es-SV">
                          <a:solidFill>
                            <a:srgbClr val="00376E"/>
                          </a:solidFill>
                          <a:latin typeface="Arial"/>
                        </a:rPr>
                        <a:t> de </a:t>
                      </a:r>
                      <a:r>
                        <a:rPr sz="1000" b="1" i="0" u="sng" dirty="0" lang="es-SV">
                          <a:solidFill>
                            <a:srgbClr val="00376E"/>
                          </a:solidFill>
                          <a:latin typeface="Arial"/>
                        </a:rPr>
                        <a:t>concentración</a:t>
                      </a:r>
                      <a:r>
                        <a:rPr sz="1000" b="1" i="0" u="sng" dirty="0" lang="es-SV">
                          <a:solidFill>
                            <a:srgbClr val="00376E"/>
                          </a:solidFill>
                          <a:latin typeface="Arial"/>
                        </a:rPr>
                        <a:t> de </a:t>
                      </a:r>
                      <a:r>
                        <a:rPr sz="1000" b="1" i="0" u="sng" dirty="0" lang="es-SV">
                          <a:solidFill>
                            <a:srgbClr val="00376E"/>
                          </a:solidFill>
                          <a:latin typeface="Arial"/>
                        </a:rPr>
                        <a:t>proveedores</a:t>
                      </a:r>
                      <a:r>
                        <a:rPr sz="1000" b="1" i="0" u="sng" dirty="0" lang="es-SV">
                          <a:solidFill>
                            <a:srgbClr val="00376E"/>
                          </a:solidFill>
                          <a:latin typeface="Arial"/>
                        </a:rPr>
                        <a:t>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grupo</a:t>
                      </a:r>
                      <a:r>
                        <a:rPr sz="1000" b="1" i="0" u="sng" dirty="0" lang="es-SV">
                          <a:solidFill>
                            <a:srgbClr val="00376E"/>
                          </a:solidFill>
                          <a:latin typeface="Arial"/>
                        </a:rPr>
                        <a:t> </a:t>
                      </a:r>
                      <a:r>
                        <a:rPr sz="1000" b="1" i="0" u="sng" dirty="0" lang="es-SV">
                          <a:solidFill>
                            <a:srgbClr val="00376E"/>
                          </a:solidFill>
                          <a:latin typeface="Arial"/>
                        </a:rPr>
                        <a:t>económico</a:t>
                      </a:r>
                      <a:r>
                        <a:rPr sz="1000" b="1" i="0" u="sng" dirty="0" lang="es-SV">
                          <a:solidFill>
                            <a:srgbClr val="00376E"/>
                          </a:solidFill>
                          <a:latin typeface="Arial"/>
                        </a:rPr>
                        <a:t>, </a:t>
                      </a:r>
                      <a:r>
                        <a:rPr sz="1000" b="1" i="0" u="sng" dirty="0" lang="es-SV">
                          <a:solidFill>
                            <a:srgbClr val="00376E"/>
                          </a:solidFill>
                          <a:latin typeface="Arial"/>
                        </a:rPr>
                        <a:t>tecnología</a:t>
                      </a:r>
                      <a:r>
                        <a:rPr sz="1000" b="1" i="0" u="sng" dirty="0" lang="es-SV">
                          <a:solidFill>
                            <a:srgbClr val="00376E"/>
                          </a:solidFill>
                          <a:latin typeface="Arial"/>
                        </a:rPr>
                        <a:t> y </a:t>
                      </a:r>
                      <a:r>
                        <a:rPr sz="1000" b="1" i="0" u="sng" dirty="0" lang="es-SV">
                          <a:solidFill>
                            <a:srgbClr val="00376E"/>
                          </a:solidFill>
                          <a:latin typeface="Arial"/>
                        </a:rPr>
                        <a:t>ubicación</a:t>
                      </a:r>
                      <a:r>
                        <a:rPr sz="1000" b="1" i="0" u="sng" dirty="0" lang="es-SV">
                          <a:solidFill>
                            <a:srgbClr val="00376E"/>
                          </a:solidFill>
                          <a:latin typeface="Arial"/>
                        </a:rPr>
                        <a:t> </a:t>
                      </a:r>
                      <a:r>
                        <a:rPr sz="1000" b="1" i="0" u="sng" dirty="0" lang="es-SV">
                          <a:solidFill>
                            <a:srgbClr val="00376E"/>
                          </a:solidFill>
                          <a:latin typeface="Arial"/>
                        </a:rPr>
                        <a:t>geográfica</a:t>
                      </a:r>
                      <a:r>
                        <a:rPr sz="1000" b="1" i="0" u="sng" dirty="0" lang="es-SV">
                          <a:solidFill>
                            <a:srgbClr val="00376E"/>
                          </a:solidFill>
                          <a:latin typeface="Arial"/>
                        </a:rPr>
                        <a:t>) y </a:t>
                      </a:r>
                      <a:r>
                        <a:rPr sz="1000" b="1" i="0" u="sng" dirty="0" lang="es-SV">
                          <a:solidFill>
                            <a:srgbClr val="00376E"/>
                          </a:solidFill>
                          <a:latin typeface="Arial"/>
                        </a:rPr>
                        <a:t>verificación</a:t>
                      </a:r>
                      <a:r>
                        <a:rPr sz="1000" b="1" i="0" u="sng" dirty="0" lang="es-SV">
                          <a:solidFill>
                            <a:srgbClr val="00376E"/>
                          </a:solidFill>
                          <a:latin typeface="Arial"/>
                        </a:rPr>
                        <a:t> de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límites</a:t>
                      </a:r>
                      <a:r>
                        <a:rPr sz="1000" b="1" i="0" u="sng" dirty="0" lang="es-SV">
                          <a:solidFill>
                            <a:srgbClr val="00376E"/>
                          </a:solidFill>
                          <a:latin typeface="Arial"/>
                        </a:rPr>
                        <a:t> </a:t>
                      </a:r>
                      <a:r>
                        <a:rPr sz="1000" b="1" i="0" u="sng" dirty="0" lang="es-SV">
                          <a:solidFill>
                            <a:srgbClr val="00376E"/>
                          </a:solidFill>
                          <a:latin typeface="Arial"/>
                        </a:rPr>
                        <a:t>aprobados</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el Consejo de Administración. </a:t>
                      </a:r>
                      <a:r>
                        <a:rPr sz="1000" b="1" i="0" u="sng" dirty="0" lang="es-SV">
                          <a:solidFill>
                            <a:srgbClr val="00376E"/>
                          </a:solidFill>
                          <a:latin typeface="Arial"/>
                        </a:rPr>
                        <a:t>Responsable</a:t>
                      </a:r>
                      <a:r>
                        <a:rPr sz="1000" b="1" i="0" u="sng" dirty="0" lang="es-SV">
                          <a:solidFill>
                            <a:srgbClr val="00376E"/>
                          </a:solidFill>
                          <a:latin typeface="Arial"/>
                        </a:rPr>
                        <a:t>: Depto. de Administración de </a:t>
                      </a:r>
                      <a:r>
                        <a:rPr sz="1000" b="1" i="0" u="sng" dirty="0" lang="es-SV">
                          <a:solidFill>
                            <a:srgbClr val="00376E"/>
                          </a:solidFill>
                          <a:latin typeface="Arial"/>
                        </a:rPr>
                        <a:t>Riesgos</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Control de </a:t>
                      </a:r>
                      <a:r>
                        <a:rPr sz="1000" b="0" i="0" dirty="0" lang="es-SV">
                          <a:solidFill>
                            <a:srgbClr val="1B2333"/>
                          </a:solidFill>
                          <a:latin typeface="Arial"/>
                        </a:rPr>
                        <a:t>límites</a:t>
                      </a:r>
                      <a:r>
                        <a:rPr sz="1000" b="0" i="0" dirty="0" lang="es-SV">
                          <a:solidFill>
                            <a:srgbClr val="1B2333"/>
                          </a:solidFill>
                          <a:latin typeface="Arial"/>
                        </a:rPr>
                        <a:t> de </a:t>
                      </a:r>
                      <a:r>
                        <a:rPr sz="1000" b="0" i="0" dirty="0" lang="es-SV">
                          <a:solidFill>
                            <a:srgbClr val="1B2333"/>
                          </a:solidFill>
                          <a:latin typeface="Arial"/>
                        </a:rPr>
                        <a:t>exposición</a:t>
                      </a:r>
                      <a:r>
                        <a:rPr sz="1000" b="0" i="0" dirty="0" lang="es-SV">
                          <a:solidFill>
                            <a:srgbClr val="1B2333"/>
                          </a:solidFill>
                          <a:latin typeface="Arial"/>
                        </a:rPr>
                        <a:t>.</a:t>
                      </a:r>
                    </a:p>
                    <a:p>
                      <a:pPr algn="just"/>
                      <a:r>
                        <a:rPr sz="1000" b="1" i="0" dirty="0" lang="es-SV">
                          <a:solidFill>
                            <a:srgbClr val="00376E"/>
                          </a:solidFill>
                          <a:latin typeface="Arial"/>
                        </a:rPr>
                        <a:t>NRP-20, art. 8, lit. a · NRP-23, A-1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7. Verificar que se puede requerir al proveedor informes de auditoría vigentes y asociados a los servicios prestados, provistos a requerimiento de la Superintendencia. Responsable: Administrador de Contrato.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Requisito</a:t>
                      </a:r>
                      <a:r>
                        <a:rPr sz="1000" b="0" i="0" dirty="0" lang="es-SV">
                          <a:solidFill>
                            <a:srgbClr val="1B2333"/>
                          </a:solidFill>
                          <a:latin typeface="Arial"/>
                        </a:rPr>
                        <a:t> </a:t>
                      </a:r>
                      <a:r>
                        <a:rPr sz="1000" b="0" i="0" dirty="0" lang="es-SV">
                          <a:solidFill>
                            <a:srgbClr val="1B2333"/>
                          </a:solidFill>
                          <a:latin typeface="Arial"/>
                        </a:rPr>
                        <a:t>omitido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V03.</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B-12. …por el personal subcontratado por el proveedor… B-17. …realice subcontrataciones… B-18. …proveedor subcontratado. B-19. …al subcontratista… el proveedor subcontratado…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B-12. …por el personal </a:t>
                      </a:r>
                      <a:r>
                        <a:rPr sz="1000" b="1" i="0" u="sng" lang="es-SV">
                          <a:solidFill>
                            <a:srgbClr val="00376E"/>
                          </a:solidFill>
                          <a:latin typeface="Arial"/>
                        </a:rPr>
                        <a:t>contratado</a:t>
                      </a:r>
                      <a:r>
                        <a:rPr sz="1000" b="0" i="0" lang="es-SV">
                          <a:solidFill>
                            <a:srgbClr val="1B2333"/>
                          </a:solidFill>
                          <a:latin typeface="Arial"/>
                        </a:rPr>
                        <a:t> por el proveedor… B-17. …realice </a:t>
                      </a:r>
                      <a:r>
                        <a:rPr sz="1000" b="1" i="0" u="sng" lang="es-SV">
                          <a:solidFill>
                            <a:srgbClr val="00376E"/>
                          </a:solidFill>
                          <a:latin typeface="Arial"/>
                        </a:rPr>
                        <a:t>contrataciones</a:t>
                      </a:r>
                      <a:r>
                        <a:rPr sz="1000" b="0" i="0" lang="es-SV">
                          <a:solidFill>
                            <a:srgbClr val="1B2333"/>
                          </a:solidFill>
                          <a:latin typeface="Arial"/>
                        </a:rPr>
                        <a:t>… B-18. …proveedor </a:t>
                      </a:r>
                      <a:r>
                        <a:rPr sz="1000" b="1" i="0" u="sng" lang="es-SV">
                          <a:solidFill>
                            <a:srgbClr val="00376E"/>
                          </a:solidFill>
                          <a:latin typeface="Arial"/>
                        </a:rPr>
                        <a:t>contratado</a:t>
                      </a:r>
                      <a:r>
                        <a:rPr sz="1000" b="0" i="0" lang="es-SV">
                          <a:solidFill>
                            <a:srgbClr val="1B2333"/>
                          </a:solidFill>
                          <a:latin typeface="Arial"/>
                        </a:rPr>
                        <a:t>. B-19. …al </a:t>
                      </a:r>
                      <a:r>
                        <a:rPr sz="1000" b="1" i="0" u="sng" lang="es-SV">
                          <a:solidFill>
                            <a:srgbClr val="00376E"/>
                          </a:solidFill>
                          <a:latin typeface="Arial"/>
                        </a:rPr>
                        <a:t>contratista</a:t>
                      </a:r>
                      <a:r>
                        <a:rPr sz="1000" b="0" i="0" lang="es-SV">
                          <a:solidFill>
                            <a:srgbClr val="1B2333"/>
                          </a:solidFill>
                          <a:latin typeface="Arial"/>
                        </a:rPr>
                        <a:t>… el proveedor </a:t>
                      </a:r>
                      <a:r>
                        <a:rPr sz="1000" b="1" i="0" u="sng" lang="es-SV">
                          <a:solidFill>
                            <a:srgbClr val="00376E"/>
                          </a:solidFill>
                          <a:latin typeface="Arial"/>
                        </a:rPr>
                        <a:t>contratado</a:t>
                      </a:r>
                      <a:r>
                        <a:rPr sz="1000" b="0" i="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Cambio de </a:t>
                      </a:r>
                      <a:r>
                        <a:rPr sz="1000" b="0" i="0" dirty="0" lang="es-SV">
                          <a:solidFill>
                            <a:srgbClr val="1B2333"/>
                          </a:solidFill>
                          <a:latin typeface="Arial"/>
                        </a:rPr>
                        <a:t>término</a:t>
                      </a:r>
                      <a:r>
                        <a:rPr sz="1000" b="0" i="0" dirty="0" lang="es-SV">
                          <a:solidFill>
                            <a:srgbClr val="1B2333"/>
                          </a:solidFill>
                          <a:latin typeface="Arial"/>
                        </a:rPr>
                        <a:t> </a:t>
                      </a:r>
                      <a:r>
                        <a:rPr sz="1000" b="0" i="0" dirty="0" lang="es-SV">
                          <a:solidFill>
                            <a:srgbClr val="1B2333"/>
                          </a:solidFill>
                          <a:latin typeface="Arial"/>
                        </a:rPr>
                        <a:t>solicitado</a:t>
                      </a:r>
                      <a:r>
                        <a:rPr sz="1000" b="0" i="0" dirty="0" lang="es-SV">
                          <a:solidFill>
                            <a:srgbClr val="1B2333"/>
                          </a:solidFill>
                          <a:latin typeface="Arial"/>
                        </a:rPr>
                        <a:t> </a:t>
                      </a:r>
                      <a:r>
                        <a:rPr sz="1000" b="0" i="0" dirty="0" lang="es-SV">
                          <a:solidFill>
                            <a:srgbClr val="1B2333"/>
                          </a:solidFill>
                          <a:latin typeface="Arial"/>
                        </a:rPr>
                        <a:t>por</a:t>
                      </a:r>
                      <a:r>
                        <a:rPr sz="1000" b="0" i="0" dirty="0" lang="es-SV">
                          <a:solidFill>
                            <a:srgbClr val="1B2333"/>
                          </a:solidFill>
                          <a:latin typeface="Arial"/>
                        </a:rPr>
                        <a:t> el Departamento.</a:t>
                      </a:r>
                    </a:p>
                    <a:p>
                      <a:pPr algn="just"/>
                      <a:r>
                        <a:rPr sz="1000" b="1" i="0" dirty="0" lang="es-SV">
                          <a:solidFill>
                            <a:srgbClr val="00376E"/>
                          </a:solidFill>
                          <a:latin typeface="Arial"/>
                        </a:rPr>
                        <a:t>Redacción</a:t>
                      </a:r>
                      <a:r>
                        <a:rPr sz="1000" b="1" i="0" dirty="0" lang="es-SV">
                          <a:solidFill>
                            <a:srgbClr val="00376E"/>
                          </a:solidFill>
                          <a:latin typeface="Arial"/>
                        </a:rPr>
                        <a:t>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Anexo 1 — Sección B: Cláusulas a considerar para el contrato (2 de 2)</a:t>
            </a:r>
          </a:p>
        </p:txBody>
      </p:sp>
      <p:graphicFrame>
        <p:nvGraphicFramePr>
          <p:cNvPr id="16" name="Table 15"/>
          <p:cNvGraphicFramePr>
            <a:graphicFrameLocks noGrp="1"/>
          </p:cNvGraphicFramePr>
          <p:nvPr>
            <p:extLst>
              <p:ext uri="{D42A27DB-BD31-4B8C-83A1-F6EECF244321}">
                <p14:modId xmlns:p14="http://schemas.microsoft.com/office/powerpoint/2010/main" val="2356013035"/>
              </p:ext>
            </p:extLst>
          </p:nvPr>
        </p:nvGraphicFramePr>
        <p:xfrm>
          <a:off x="548640" y="566928"/>
          <a:ext cx="11091672" cy="26944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20. …</a:t>
                      </a:r>
                      <a:r>
                        <a:rPr sz="1000" b="0" i="0" dirty="0" lang="es-SV">
                          <a:solidFill>
                            <a:srgbClr val="1B2333"/>
                          </a:solidFill>
                          <a:latin typeface="Arial"/>
                        </a:rPr>
                        <a:t>garantizar</a:t>
                      </a:r>
                      <a:r>
                        <a:rPr sz="1000" b="0" i="0" dirty="0" lang="es-SV">
                          <a:solidFill>
                            <a:srgbClr val="1B2333"/>
                          </a:solidFill>
                          <a:latin typeface="Arial"/>
                        </a:rPr>
                        <a:t> las </a:t>
                      </a:r>
                      <a:r>
                        <a:rPr sz="1000" b="0" i="0" dirty="0" lang="es-SV">
                          <a:solidFill>
                            <a:srgbClr val="1B2333"/>
                          </a:solidFill>
                          <a:latin typeface="Arial"/>
                        </a:rPr>
                        <a:t>condiciones</a:t>
                      </a:r>
                      <a:r>
                        <a:rPr sz="1000" b="0" i="0" dirty="0" lang="es-SV">
                          <a:solidFill>
                            <a:srgbClr val="1B2333"/>
                          </a:solidFill>
                          <a:latin typeface="Arial"/>
                        </a:rPr>
                        <a:t> del </a:t>
                      </a:r>
                      <a:r>
                        <a:rPr sz="1000" b="0" i="0" dirty="0" lang="es-SV">
                          <a:solidFill>
                            <a:srgbClr val="1B2333"/>
                          </a:solidFill>
                          <a:latin typeface="Arial"/>
                        </a:rPr>
                        <a:t>acceso</a:t>
                      </a:r>
                      <a:r>
                        <a:rPr sz="1000" b="0" i="0" dirty="0" lang="es-SV">
                          <a:solidFill>
                            <a:srgbClr val="1B2333"/>
                          </a:solidFill>
                          <a:latin typeface="Arial"/>
                        </a:rPr>
                        <a:t> para la </a:t>
                      </a:r>
                      <a:r>
                        <a:rPr sz="1000" b="0" i="0" dirty="0" lang="es-SV">
                          <a:solidFill>
                            <a:srgbClr val="1B2333"/>
                          </a:solidFill>
                          <a:latin typeface="Arial"/>
                        </a:rPr>
                        <a:t>auditoría</a:t>
                      </a:r>
                      <a:r>
                        <a:rPr sz="1000" b="0" i="0" dirty="0" lang="es-SV">
                          <a:solidFill>
                            <a:srgbClr val="1B2333"/>
                          </a:solidFill>
                          <a:latin typeface="Arial"/>
                        </a:rPr>
                        <a:t> interna y las </a:t>
                      </a:r>
                      <a:r>
                        <a:rPr sz="1000" b="0" i="0" dirty="0" lang="es-SV">
                          <a:solidFill>
                            <a:srgbClr val="1B2333"/>
                          </a:solidFill>
                          <a:latin typeface="Arial"/>
                        </a:rPr>
                        <a:t>firmas</a:t>
                      </a:r>
                      <a:r>
                        <a:rPr sz="1000" b="0" i="0" dirty="0" lang="es-SV">
                          <a:solidFill>
                            <a:srgbClr val="1B2333"/>
                          </a:solidFill>
                          <a:latin typeface="Arial"/>
                        </a:rPr>
                        <a:t> de </a:t>
                      </a:r>
                      <a:r>
                        <a:rPr sz="1000" b="0" i="0" dirty="0" lang="es-SV">
                          <a:solidFill>
                            <a:srgbClr val="1B2333"/>
                          </a:solidFill>
                          <a:latin typeface="Arial"/>
                        </a:rPr>
                        <a:t>auditoría</a:t>
                      </a:r>
                      <a:r>
                        <a:rPr sz="1000" b="0" i="0" dirty="0" lang="es-SV">
                          <a:solidFill>
                            <a:srgbClr val="1B2333"/>
                          </a:solidFill>
                          <a:latin typeface="Arial"/>
                        </a:rPr>
                        <a:t> externa…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20. …</a:t>
                      </a:r>
                      <a:r>
                        <a:rPr sz="1000" b="0" i="0" dirty="0" lang="es-SV">
                          <a:solidFill>
                            <a:srgbClr val="1B2333"/>
                          </a:solidFill>
                          <a:latin typeface="Arial"/>
                        </a:rPr>
                        <a:t>garantizar</a:t>
                      </a:r>
                      <a:r>
                        <a:rPr sz="1000" b="0" i="0" dirty="0" lang="es-SV">
                          <a:solidFill>
                            <a:srgbClr val="1B2333"/>
                          </a:solidFill>
                          <a:latin typeface="Arial"/>
                        </a:rPr>
                        <a:t> las </a:t>
                      </a:r>
                      <a:r>
                        <a:rPr sz="1000" b="0" i="0" dirty="0" lang="es-SV">
                          <a:solidFill>
                            <a:srgbClr val="1B2333"/>
                          </a:solidFill>
                          <a:latin typeface="Arial"/>
                        </a:rPr>
                        <a:t>condiciones</a:t>
                      </a:r>
                      <a:r>
                        <a:rPr sz="1000" b="0" i="0" dirty="0" lang="es-SV">
                          <a:solidFill>
                            <a:srgbClr val="1B2333"/>
                          </a:solidFill>
                          <a:latin typeface="Arial"/>
                        </a:rPr>
                        <a:t> del </a:t>
                      </a:r>
                      <a:r>
                        <a:rPr sz="1000" b="0" i="0" dirty="0" lang="es-SV">
                          <a:solidFill>
                            <a:srgbClr val="1B2333"/>
                          </a:solidFill>
                          <a:latin typeface="Arial"/>
                        </a:rPr>
                        <a:t>acceso</a:t>
                      </a:r>
                      <a:r>
                        <a:rPr sz="1000" b="0" i="0" dirty="0" lang="es-SV">
                          <a:solidFill>
                            <a:srgbClr val="1B2333"/>
                          </a:solidFill>
                          <a:latin typeface="Arial"/>
                        </a:rPr>
                        <a:t> para la </a:t>
                      </a:r>
                      <a:r>
                        <a:rPr sz="1000" b="0" i="0" dirty="0" lang="es-SV">
                          <a:solidFill>
                            <a:srgbClr val="1B2333"/>
                          </a:solidFill>
                          <a:latin typeface="Arial"/>
                        </a:rPr>
                        <a:t>auditoría</a:t>
                      </a:r>
                      <a:r>
                        <a:rPr sz="1000" b="0" i="0" dirty="0" lang="es-SV">
                          <a:solidFill>
                            <a:srgbClr val="1B2333"/>
                          </a:solidFill>
                          <a:latin typeface="Arial"/>
                        </a:rPr>
                        <a:t> interna, </a:t>
                      </a:r>
                      <a:r>
                        <a:rPr sz="1000" b="1" i="0" u="sng" dirty="0" lang="es-SV">
                          <a:solidFill>
                            <a:srgbClr val="00376E"/>
                          </a:solidFill>
                          <a:latin typeface="Arial"/>
                        </a:rPr>
                        <a:t>el Departamento de Administración de </a:t>
                      </a:r>
                      <a:r>
                        <a:rPr sz="1000" b="1" i="0" u="sng" dirty="0" lang="es-SV">
                          <a:solidFill>
                            <a:srgbClr val="00376E"/>
                          </a:solidFill>
                          <a:latin typeface="Arial"/>
                        </a:rPr>
                        <a:t>Riesgos</a:t>
                      </a:r>
                      <a:r>
                        <a:rPr sz="1000" b="0" i="0" dirty="0" lang="es-SV">
                          <a:solidFill>
                            <a:srgbClr val="1B2333"/>
                          </a:solidFill>
                          <a:latin typeface="Arial"/>
                        </a:rPr>
                        <a:t> y las </a:t>
                      </a:r>
                      <a:r>
                        <a:rPr sz="1000" b="0" i="0" dirty="0" lang="es-SV">
                          <a:solidFill>
                            <a:srgbClr val="1B2333"/>
                          </a:solidFill>
                          <a:latin typeface="Arial"/>
                        </a:rPr>
                        <a:t>firmas</a:t>
                      </a:r>
                      <a:r>
                        <a:rPr sz="1000" b="0" i="0" dirty="0" lang="es-SV">
                          <a:solidFill>
                            <a:srgbClr val="1B2333"/>
                          </a:solidFill>
                          <a:latin typeface="Arial"/>
                        </a:rPr>
                        <a:t> de </a:t>
                      </a:r>
                      <a:r>
                        <a:rPr sz="1000" b="0" i="0" dirty="0" lang="es-SV">
                          <a:solidFill>
                            <a:srgbClr val="1B2333"/>
                          </a:solidFill>
                          <a:latin typeface="Arial"/>
                        </a:rPr>
                        <a:t>auditoría</a:t>
                      </a:r>
                      <a:r>
                        <a:rPr sz="1000" b="0" i="0" dirty="0" lang="es-SV">
                          <a:solidFill>
                            <a:srgbClr val="1B2333"/>
                          </a:solidFill>
                          <a:latin typeface="Arial"/>
                        </a:rPr>
                        <a:t> externa…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Acceso de Riesgos para su monitoreo.</a:t>
                      </a:r>
                    </a:p>
                    <a:p>
                      <a:pPr algn="just"/>
                      <a:r>
                        <a:rPr sz="1000" b="1" i="0" lang="es-SV">
                          <a:solidFill>
                            <a:srgbClr val="00376E"/>
                          </a:solidFill>
                          <a:latin typeface="Arial"/>
                        </a:rPr>
                        <a:t>NRP-20, art. 12 · NRP-23, A-5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21. En caso de resolución, intervención o liquidación para garantizar que la Superintendencia tenga acceso a los datos o información en caso de materializarse dichos casos.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21. En </a:t>
                      </a:r>
                      <a:r>
                        <a:rPr sz="1000" b="0" i="0" dirty="0" lang="es-SV">
                          <a:solidFill>
                            <a:srgbClr val="1B2333"/>
                          </a:solidFill>
                          <a:latin typeface="Arial"/>
                        </a:rPr>
                        <a:t>caso</a:t>
                      </a:r>
                      <a:r>
                        <a:rPr sz="1000" b="0" i="0" dirty="0" lang="es-SV">
                          <a:solidFill>
                            <a:srgbClr val="1B2333"/>
                          </a:solidFill>
                          <a:latin typeface="Arial"/>
                        </a:rPr>
                        <a:t> de </a:t>
                      </a:r>
                      <a:r>
                        <a:rPr sz="1000" b="0" i="0" dirty="0" lang="es-SV">
                          <a:solidFill>
                            <a:srgbClr val="1B2333"/>
                          </a:solidFill>
                          <a:latin typeface="Arial"/>
                        </a:rPr>
                        <a:t>resolución</a:t>
                      </a:r>
                      <a:r>
                        <a:rPr sz="1000" b="0" i="0" dirty="0" lang="es-SV">
                          <a:solidFill>
                            <a:srgbClr val="1B2333"/>
                          </a:solidFill>
                          <a:latin typeface="Arial"/>
                        </a:rPr>
                        <a:t>, </a:t>
                      </a:r>
                      <a:r>
                        <a:rPr sz="1000" b="0" i="0" dirty="0" lang="es-SV">
                          <a:solidFill>
                            <a:srgbClr val="1B2333"/>
                          </a:solidFill>
                          <a:latin typeface="Arial"/>
                        </a:rPr>
                        <a:t>intervención</a:t>
                      </a:r>
                      <a:r>
                        <a:rPr sz="1000" b="0" i="0" dirty="0" lang="es-SV">
                          <a:solidFill>
                            <a:srgbClr val="1B2333"/>
                          </a:solidFill>
                          <a:latin typeface="Arial"/>
                        </a:rPr>
                        <a:t> o </a:t>
                      </a:r>
                      <a:r>
                        <a:rPr sz="1000" b="0" i="0" dirty="0" lang="es-SV">
                          <a:solidFill>
                            <a:srgbClr val="1B2333"/>
                          </a:solidFill>
                          <a:latin typeface="Arial"/>
                        </a:rPr>
                        <a:t>liquidación</a:t>
                      </a:r>
                      <a:r>
                        <a:rPr sz="1000" b="0" i="0" dirty="0" lang="es-SV">
                          <a:solidFill>
                            <a:srgbClr val="1B2333"/>
                          </a:solidFill>
                          <a:latin typeface="Arial"/>
                        </a:rPr>
                        <a:t> </a:t>
                      </a:r>
                      <a:r>
                        <a:rPr sz="1000" b="1" i="0" u="sng" dirty="0" lang="es-SV">
                          <a:solidFill>
                            <a:srgbClr val="00376E"/>
                          </a:solidFill>
                          <a:latin typeface="Arial"/>
                        </a:rPr>
                        <a:t>de COMEDICA de R.L., </a:t>
                      </a:r>
                      <a:r>
                        <a:rPr sz="1000" b="1" i="0" u="sng" dirty="0" lang="es-SV">
                          <a:solidFill>
                            <a:srgbClr val="00376E"/>
                          </a:solidFill>
                          <a:latin typeface="Arial"/>
                        </a:rPr>
                        <a:t>establecer</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procesos</a:t>
                      </a:r>
                      <a:r>
                        <a:rPr sz="1000" b="0" i="0" dirty="0" lang="es-SV">
                          <a:solidFill>
                            <a:srgbClr val="1B2333"/>
                          </a:solidFill>
                          <a:latin typeface="Arial"/>
                        </a:rPr>
                        <a:t> para </a:t>
                      </a:r>
                      <a:r>
                        <a:rPr sz="1000" b="0" i="0" dirty="0" lang="es-SV">
                          <a:solidFill>
                            <a:srgbClr val="1B2333"/>
                          </a:solidFill>
                          <a:latin typeface="Arial"/>
                        </a:rPr>
                        <a:t>garantizar</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la </a:t>
                      </a:r>
                      <a:r>
                        <a:rPr sz="1000" b="0" i="0" dirty="0" lang="es-SV">
                          <a:solidFill>
                            <a:srgbClr val="1B2333"/>
                          </a:solidFill>
                          <a:latin typeface="Arial"/>
                        </a:rPr>
                        <a:t>Superintendencia</a:t>
                      </a:r>
                      <a:r>
                        <a:rPr sz="1000" b="0" i="0" dirty="0" lang="es-SV">
                          <a:solidFill>
                            <a:srgbClr val="1B2333"/>
                          </a:solidFill>
                          <a:latin typeface="Arial"/>
                        </a:rPr>
                        <a:t> </a:t>
                      </a:r>
                      <a:r>
                        <a:rPr sz="1000" b="0" i="0" dirty="0" lang="es-SV">
                          <a:solidFill>
                            <a:srgbClr val="1B2333"/>
                          </a:solidFill>
                          <a:latin typeface="Arial"/>
                        </a:rPr>
                        <a:t>tenga</a:t>
                      </a:r>
                      <a:r>
                        <a:rPr sz="1000" b="0" i="0" dirty="0" lang="es-SV">
                          <a:solidFill>
                            <a:srgbClr val="1B2333"/>
                          </a:solidFill>
                          <a:latin typeface="Arial"/>
                        </a:rPr>
                        <a:t> </a:t>
                      </a:r>
                      <a:r>
                        <a:rPr sz="1000" b="0" i="0" dirty="0" lang="es-SV">
                          <a:solidFill>
                            <a:srgbClr val="1B2333"/>
                          </a:solidFill>
                          <a:latin typeface="Arial"/>
                        </a:rPr>
                        <a:t>acceso</a:t>
                      </a:r>
                      <a:r>
                        <a:rPr sz="1000" b="0" i="0" dirty="0" lang="es-SV">
                          <a:solidFill>
                            <a:srgbClr val="1B2333"/>
                          </a:solidFill>
                          <a:latin typeface="Arial"/>
                        </a:rPr>
                        <a:t> a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datos</a:t>
                      </a:r>
                      <a:r>
                        <a:rPr sz="1000" b="0" i="0" dirty="0" lang="es-SV">
                          <a:solidFill>
                            <a:srgbClr val="1B2333"/>
                          </a:solidFill>
                          <a:latin typeface="Arial"/>
                        </a:rPr>
                        <a:t> o </a:t>
                      </a:r>
                      <a:r>
                        <a:rPr sz="1000" b="0" i="0" dirty="0" lang="es-SV">
                          <a:solidFill>
                            <a:srgbClr val="1B2333"/>
                          </a:solidFill>
                          <a:latin typeface="Arial"/>
                        </a:rPr>
                        <a:t>información</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Redacción</a:t>
                      </a:r>
                      <a:r>
                        <a:rPr sz="1000" b="0" i="0" dirty="0" lang="es-SV">
                          <a:solidFill>
                            <a:srgbClr val="1B2333"/>
                          </a:solidFill>
                          <a:latin typeface="Arial"/>
                        </a:rPr>
                        <a:t> completa y </a:t>
                      </a:r>
                      <a:r>
                        <a:rPr sz="1000" b="0" i="0" dirty="0" lang="es-SV">
                          <a:solidFill>
                            <a:srgbClr val="1B2333"/>
                          </a:solidFill>
                          <a:latin typeface="Arial"/>
                        </a:rPr>
                        <a:t>clara</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C, num.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22. Garantizar la devolución y destrucción o borrado seguro de la información involucrada en la prestación del servicio, cuando lo solicite COMEDICA de R.L. o ante la terminación del contrato.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Cláusula</a:t>
                      </a:r>
                      <a:r>
                        <a:rPr sz="1000" b="0" i="0" dirty="0" lang="es-SV">
                          <a:solidFill>
                            <a:srgbClr val="1B2333"/>
                          </a:solidFill>
                          <a:latin typeface="Arial"/>
                        </a:rPr>
                        <a:t> </a:t>
                      </a:r>
                      <a:r>
                        <a:rPr sz="1000" b="0" i="0" dirty="0" lang="es-SV">
                          <a:solidFill>
                            <a:srgbClr val="1B2333"/>
                          </a:solidFill>
                          <a:latin typeface="Arial"/>
                        </a:rPr>
                        <a:t>omitida</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V03.</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B, num.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23. Reporte de eventos de riesgo operacional: obligación del proveedor de reportar los incidentes, interrupciones y fallas que afecten el servicio, con su causa raíz, impacto y acciones correctivas.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Insumo</a:t>
                      </a:r>
                      <a:r>
                        <a:rPr sz="1000" b="0" i="0" dirty="0" lang="es-SV">
                          <a:solidFill>
                            <a:srgbClr val="1B2333"/>
                          </a:solidFill>
                          <a:latin typeface="Arial"/>
                        </a:rPr>
                        <a:t> para la base de </a:t>
                      </a:r>
                      <a:r>
                        <a:rPr sz="1000" b="0" i="0" dirty="0" lang="es-SV">
                          <a:solidFill>
                            <a:srgbClr val="1B2333"/>
                          </a:solidFill>
                          <a:latin typeface="Arial"/>
                        </a:rPr>
                        <a:t>datos</a:t>
                      </a:r>
                      <a:r>
                        <a:rPr sz="1000" b="0" i="0" dirty="0" lang="es-SV">
                          <a:solidFill>
                            <a:srgbClr val="1B2333"/>
                          </a:solidFill>
                          <a:latin typeface="Arial"/>
                        </a:rPr>
                        <a:t> de </a:t>
                      </a:r>
                      <a:r>
                        <a:rPr sz="1000" b="0" i="0" dirty="0" lang="es-SV">
                          <a:solidFill>
                            <a:srgbClr val="1B2333"/>
                          </a:solidFill>
                          <a:latin typeface="Arial"/>
                        </a:rPr>
                        <a:t>eventos</a:t>
                      </a:r>
                      <a:r>
                        <a:rPr sz="1000" b="0" i="0" dirty="0" lang="es-SV">
                          <a:solidFill>
                            <a:srgbClr val="1B2333"/>
                          </a:solidFill>
                          <a:latin typeface="Arial"/>
                        </a:rPr>
                        <a:t>.</a:t>
                      </a:r>
                    </a:p>
                    <a:p>
                      <a:pPr algn="just"/>
                      <a:r>
                        <a:rPr sz="1000" b="1" i="0" dirty="0" lang="es-SV">
                          <a:solidFill>
                            <a:srgbClr val="00376E"/>
                          </a:solidFill>
                          <a:latin typeface="Arial"/>
                        </a:rPr>
                        <a:t>NRP-42, arts. 19 y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Manual de Gestión del Riesgo Reputacional</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lang="es-SV">
                <a:solidFill>
                  <a:srgbClr val="DCE6F7"/>
                </a:solidFill>
                <a:latin typeface="Arial"/>
              </a:rPr>
              <a:t>MA-GG-M-004 · V03 vigente → V04 propuesta · 22 cambios</a:t>
            </a:r>
            <a:endParaRPr sz="1400" b="0" i="0" dirty="0" lang="es-SV">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OBJETIVOS</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DOCUMENTOS DE REFERENCIA</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ROLES Y RESPONSABILIDADES</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POLÍTICA GENERAL DE LA GESTIÓN DEL RIESGO REPUTACIONAL</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IDENTIFICACIÓN Y CONTROL DEL RIESGO REPUTACIONAL</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INFORME DE CASOS DE RIESGO REPUTACIONAL</a:t>
            </a: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OBJETIVOS</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MARCO REGULATORIO</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POLÍTICA DE LA GESTIÓN DEL RIESGO REPUTACIONAL</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IDENTIFICACIÓN Y CONTROL DEL RIESGO REPUTACIONAL</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INFORME DE CASOS DE RIESGO REPUTACIONAL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Alcance, Objetivos y Marco Regulatorio</a:t>
            </a:r>
          </a:p>
        </p:txBody>
      </p:sp>
      <p:graphicFrame>
        <p:nvGraphicFramePr>
          <p:cNvPr id="16" name="Table 15"/>
          <p:cNvGraphicFramePr>
            <a:graphicFrameLocks noGrp="1"/>
          </p:cNvGraphicFramePr>
          <p:nvPr/>
        </p:nvGraphicFramePr>
        <p:xfrm>
          <a:off x="548640" y="566928"/>
          <a:ext cx="11091672" cy="24196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presente Manual… es de obligatorio cumplimiento para los Miembros del Consejo de Administración, Miembros de Junta de Vigilancia, Comités, Gerentes y Empleados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presente Manual… es de obligatorio cumplimiento para los </a:t>
                      </a:r>
                      <a:r>
                        <a:rPr sz="1000" b="1" i="0" u="sng" lang="es-SV">
                          <a:solidFill>
                            <a:srgbClr val="00376E"/>
                          </a:solidFill>
                          <a:latin typeface="Arial"/>
                        </a:rPr>
                        <a:t>Directores</a:t>
                      </a:r>
                      <a:r>
                        <a:rPr sz="1000" b="0" i="0" lang="es-SV">
                          <a:solidFill>
                            <a:srgbClr val="1B2333"/>
                          </a:solidFill>
                          <a:latin typeface="Arial"/>
                        </a:rPr>
                        <a:t> del Consejo de Administración, Miembros de Junta de Vigilancia, Comités, Gerentes y Empleados de COMEDICA </a:t>
                      </a:r>
                      <a:r>
                        <a:rPr sz="1000" b="1" i="0" u="sng" lang="es-SV">
                          <a:solidFill>
                            <a:srgbClr val="00376E"/>
                          </a:solidFill>
                          <a:latin typeface="Arial"/>
                        </a:rPr>
                        <a:t>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Denominación de los miembros del Consejo y razón social completa.</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Mantener la confianza de nuestros asociados y clientes, sobre los diferentes productos y servicios ofrecidos.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Mantener la confianza </a:t>
                      </a:r>
                      <a:r>
                        <a:rPr sz="1000" b="1" i="0" u="sng" lang="es-SV">
                          <a:solidFill>
                            <a:srgbClr val="00376E"/>
                          </a:solidFill>
                          <a:latin typeface="Arial"/>
                        </a:rPr>
                        <a:t>y fidelidad</a:t>
                      </a:r>
                      <a:r>
                        <a:rPr sz="1000" b="0" i="0" lang="es-SV">
                          <a:solidFill>
                            <a:srgbClr val="1B2333"/>
                          </a:solidFill>
                          <a:latin typeface="Arial"/>
                        </a:rPr>
                        <a:t> de nuestros asociados y clientes, sobre los diferentes productos y servicios ofrecidos.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Amplía el objetivo específico.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II. DOCUMENTOS DE REFERENCIA: Normas Técnicas para la Gestión Integral de Riesgos de las Entidades Financieras (NRP-20); Normas Técnicas de Gobierno Corporativo (NRP-17); … Código de Conducta.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2. MARCO REGULATORIO</a:t>
                      </a:r>
                      <a:r>
                        <a:rPr sz="1000" b="0" i="0" lang="es-SV">
                          <a:solidFill>
                            <a:srgbClr val="1B2333"/>
                          </a:solidFill>
                          <a:latin typeface="Arial"/>
                        </a:rPr>
                        <a:t>: Normas Técnicas para la Gestión Integral de Riesgos de las Entidades Financieras; Normas Técnicas de Gobierno Corporativo; … Código de Conducta </a:t>
                      </a:r>
                      <a:r>
                        <a:rPr sz="1000" b="1" i="0" u="sng" lang="es-SV">
                          <a:solidFill>
                            <a:srgbClr val="00376E"/>
                          </a:solidFill>
                          <a:latin typeface="Arial"/>
                        </a:rPr>
                        <a:t>de COMEDICA 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Cambia el título del apartado; se eliminan los códigos NRP-20 y NRP-17.</a:t>
                      </a:r>
                    </a:p>
                    <a:p>
                      <a:pPr algn="just"/>
                      <a:r>
                        <a:rPr sz="1000" b="1" i="0" lang="es-SV">
                          <a:solidFill>
                            <a:srgbClr val="00376E"/>
                          </a:solidFill>
                          <a:latin typeface="Arial"/>
                        </a:rPr>
                        <a:t>NRP-20 · NRP-17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COMEDICA · numeración de apartados en romanos (I a XVII).</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COMEDICA de R.L.</a:t>
                      </a:r>
                      <a:r>
                        <a:rPr sz="1000" b="0" i="0" lang="es-SV">
                          <a:solidFill>
                            <a:srgbClr val="1B2333"/>
                          </a:solidFill>
                          <a:latin typeface="Arial"/>
                        </a:rPr>
                        <a:t> en todo el documento · </a:t>
                      </a:r>
                      <a:r>
                        <a:rPr sz="1000" b="1" i="0" u="sng" lang="es-SV">
                          <a:solidFill>
                            <a:srgbClr val="00376E"/>
                          </a:solidFill>
                          <a:latin typeface="Arial"/>
                        </a:rPr>
                        <a:t>numeración arábiga de apartados.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Uniformidad de forma.</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1328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11454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Responsabilidades (1 de 2)</a:t>
            </a:r>
          </a:p>
        </p:txBody>
      </p:sp>
      <p:graphicFrame>
        <p:nvGraphicFramePr>
          <p:cNvPr id="16" name="Table 15"/>
          <p:cNvGraphicFramePr>
            <a:graphicFrameLocks noGrp="1"/>
          </p:cNvGraphicFramePr>
          <p:nvPr/>
        </p:nvGraphicFramePr>
        <p:xfrm>
          <a:off x="548640" y="3535172"/>
          <a:ext cx="11091672" cy="26507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ROLES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Se simplifica el título del apartado.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Consejo de Administración: Aprobar el presente Manual y asegurarse que la Gerencia General lo implemente efectivamente.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Aprobar el presente Manual y asegurarse que la Gerencia General lo implemente efectivamente </a:t>
                      </a:r>
                      <a:r>
                        <a:rPr sz="1000" b="1" i="0" u="sng" lang="es-SV">
                          <a:solidFill>
                            <a:srgbClr val="00376E"/>
                          </a:solidFill>
                          <a:latin typeface="Arial"/>
                        </a:rPr>
                        <a:t>en todas las áreas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Precisa el alcance de la implementación.</a:t>
                      </a:r>
                    </a:p>
                    <a:p>
                      <a:pPr algn="just"/>
                      <a:r>
                        <a:rPr sz="1000" b="1" i="0" lang="es-SV">
                          <a:solidFill>
                            <a:srgbClr val="00376E"/>
                          </a:solidFill>
                          <a:latin typeface="Arial"/>
                        </a:rPr>
                        <a:t>NRP-20, art. 8,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Comité de Administración de Riesgos (en todo el documento).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Comité de Riesgos</a:t>
                      </a:r>
                      <a:r>
                        <a:rPr sz="1000" b="0" i="0" lang="es-SV">
                          <a:solidFill>
                            <a:srgbClr val="1B2333"/>
                          </a:solidFill>
                          <a:latin typeface="Arial"/>
                        </a:rPr>
                        <a:t> (en todo el documento).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Nombre vigente del comité.</a:t>
                      </a:r>
                    </a:p>
                    <a:p>
                      <a:pPr algn="just"/>
                      <a:r>
                        <a:rPr sz="1000" b="1" i="0" lang="es-SV">
                          <a:solidFill>
                            <a:srgbClr val="00376E"/>
                          </a:solidFill>
                          <a:latin typeface="Arial"/>
                        </a:rPr>
                        <a:t>NRP-20, art. 9 · NRP-17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Consejo de Calidad: Analizar las gestiones realizadas sobre sugerencias y quejas, las acciones tomadas en su resolución y acuerdos según corresponda.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Elaborar</a:t>
                      </a:r>
                      <a:r>
                        <a:rPr sz="1000" b="0" i="0" lang="es-SV">
                          <a:solidFill>
                            <a:srgbClr val="1B2333"/>
                          </a:solidFill>
                          <a:latin typeface="Arial"/>
                        </a:rPr>
                        <a:t> las gestiones realizadas sobre sugerencias y quejas, las acciones tomadas en su resolución y acuerdos según corresponda.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Cambio de la función del Consejo de Calidad.</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Jefe de Administración de Riesgos: Diseñar y someter a la aprobación del Consejo de Administración, a través del Comité de Administración de Riesgos,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Elaborar</a:t>
                      </a:r>
                      <a:r>
                        <a:rPr sz="1000" b="0" i="0" lang="es-SV">
                          <a:solidFill>
                            <a:srgbClr val="1B2333"/>
                          </a:solidFill>
                          <a:latin typeface="Arial"/>
                        </a:rPr>
                        <a:t> diseñar y someter a la aprobación del Consejo de Administración, a través del </a:t>
                      </a:r>
                      <a:r>
                        <a:rPr sz="1000" b="1" i="0" u="sng" lang="es-SV">
                          <a:solidFill>
                            <a:srgbClr val="00376E"/>
                          </a:solidFill>
                          <a:latin typeface="Arial"/>
                        </a:rPr>
                        <a:t>Comité de Riesgos</a:t>
                      </a:r>
                      <a:r>
                        <a:rPr sz="1000" b="0" i="0" lang="es-SV">
                          <a:solidFill>
                            <a:srgbClr val="1B2333"/>
                          </a:solidFill>
                          <a:latin typeface="Arial"/>
                        </a:rPr>
                        <a:t>,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Función de la Unidad de Riesgos.</a:t>
                      </a:r>
                    </a:p>
                    <a:p>
                      <a:pPr algn="just"/>
                      <a:r>
                        <a:rPr sz="1000" b="1" i="0" lang="es-SV">
                          <a:solidFill>
                            <a:srgbClr val="00376E"/>
                          </a:solidFill>
                          <a:latin typeface="Arial"/>
                        </a:rPr>
                        <a:t>NRP-20, art. 13,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Responsabilidades (2 de 2)</a:t>
            </a:r>
          </a:p>
        </p:txBody>
      </p:sp>
      <p:graphicFrame>
        <p:nvGraphicFramePr>
          <p:cNvPr id="16" name="Table 15"/>
          <p:cNvGraphicFramePr>
            <a:graphicFrameLocks noGrp="1"/>
          </p:cNvGraphicFramePr>
          <p:nvPr/>
        </p:nvGraphicFramePr>
        <p:xfrm>
          <a:off x="548640" y="566928"/>
          <a:ext cx="11091672" cy="20005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Oficial de Cumplimiento: Velar por el cumplimiento… financiación del terrorismo y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Gerente de Oficialía de Cumplimiento</a:t>
                      </a:r>
                      <a:r>
                        <a:rPr sz="1000" b="0" i="0" lang="es-SV">
                          <a:solidFill>
                            <a:srgbClr val="1B2333"/>
                          </a:solidFill>
                          <a:latin typeface="Arial"/>
                        </a:rPr>
                        <a:t>: Velar por el cumplimiento… financiación del terrorismo y </a:t>
                      </a:r>
                      <a:r>
                        <a:rPr sz="1000" b="1" i="0" u="sng" lang="es-SV">
                          <a:solidFill>
                            <a:srgbClr val="00376E"/>
                          </a:solidFill>
                          <a:latin typeface="Arial"/>
                        </a:rPr>
                        <a:t>la</a:t>
                      </a:r>
                      <a:r>
                        <a:rPr sz="1000" b="0" i="0" lang="es-SV">
                          <a:solidFill>
                            <a:srgbClr val="1B2333"/>
                          </a:solidFill>
                          <a:latin typeface="Arial"/>
                        </a:rPr>
                        <a:t>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Nombre vigente del cargo (también en apartados de control e informe).</a:t>
                      </a:r>
                    </a:p>
                    <a:p>
                      <a:pPr algn="just"/>
                      <a:r>
                        <a:rPr sz="1000" b="1" i="0" lang="es-SV">
                          <a:solidFill>
                            <a:srgbClr val="00376E"/>
                          </a:solidFill>
                          <a:latin typeface="Arial"/>
                        </a:rPr>
                        <a:t>Estructura organizativa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Jefe de Mercadeo: Informar al Departamento de Administración de Riesgos sobre la percepción de imagen de COMEDICA de R.L. en las redes sociales.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Nueva fuente de información reputacional.</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Jefe Talento Humano: Garantizar el cumplimiento de los procesos de selección y contratación del personal.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Jefe de</a:t>
                      </a:r>
                      <a:r>
                        <a:rPr sz="1000" b="0" i="0" lang="es-SV">
                          <a:solidFill>
                            <a:srgbClr val="1B2333"/>
                          </a:solidFill>
                          <a:latin typeface="Arial"/>
                        </a:rPr>
                        <a:t> Talento Humano: Garantizar el cumplimiento de los procesos de </a:t>
                      </a:r>
                      <a:r>
                        <a:rPr sz="1000" b="1" i="0" u="sng" lang="es-SV">
                          <a:solidFill>
                            <a:srgbClr val="00376E"/>
                          </a:solidFill>
                          <a:latin typeface="Arial"/>
                        </a:rPr>
                        <a:t>reclutamiento,</a:t>
                      </a:r>
                      <a:r>
                        <a:rPr sz="1000" b="0" i="0" lang="es-SV">
                          <a:solidFill>
                            <a:srgbClr val="1B2333"/>
                          </a:solidFill>
                          <a:latin typeface="Arial"/>
                        </a:rPr>
                        <a:t> selección y contratación </a:t>
                      </a:r>
                      <a:r>
                        <a:rPr sz="1000" b="1" i="0" u="sng" lang="es-SV">
                          <a:solidFill>
                            <a:srgbClr val="00376E"/>
                          </a:solidFill>
                          <a:latin typeface="Arial"/>
                        </a:rPr>
                        <a:t>de</a:t>
                      </a:r>
                      <a:r>
                        <a:rPr sz="1000" b="0" i="0" lang="es-SV">
                          <a:solidFill>
                            <a:srgbClr val="1B2333"/>
                          </a:solidFill>
                          <a:latin typeface="Arial"/>
                        </a:rPr>
                        <a:t> personal.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Incluye la etapa de reclutamiento.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Jefe de Auditoría Interna: Evaluar el cumplimiento al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Evaluar el cumplimiento </a:t>
                      </a:r>
                      <a:r>
                        <a:rPr sz="1000" b="1" i="0" u="sng" lang="es-SV">
                          <a:solidFill>
                            <a:srgbClr val="00376E"/>
                          </a:solidFill>
                          <a:latin typeface="Arial"/>
                        </a:rPr>
                        <a:t>a lo estipulado en</a:t>
                      </a:r>
                      <a:r>
                        <a:rPr sz="1000" b="0" i="0" lang="es-SV">
                          <a:solidFill>
                            <a:srgbClr val="1B2333"/>
                          </a:solidFill>
                          <a:latin typeface="Arial"/>
                        </a:rPr>
                        <a:t>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Precisión de redacción.</a:t>
                      </a:r>
                    </a:p>
                    <a:p>
                      <a:pPr algn="just"/>
                      <a:r>
                        <a:rPr sz="1000" b="1" i="0" lang="es-SV">
                          <a:solidFill>
                            <a:srgbClr val="00376E"/>
                          </a:solidFill>
                          <a:latin typeface="Arial"/>
                        </a:rPr>
                        <a:t>NRP-20, art.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7137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69544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Política de la Gestión del Riesgo Reputacional</a:t>
            </a:r>
          </a:p>
        </p:txBody>
      </p:sp>
      <p:graphicFrame>
        <p:nvGraphicFramePr>
          <p:cNvPr id="16" name="Table 15"/>
          <p:cNvGraphicFramePr>
            <a:graphicFrameLocks noGrp="1"/>
          </p:cNvGraphicFramePr>
          <p:nvPr/>
        </p:nvGraphicFramePr>
        <p:xfrm>
          <a:off x="548640" y="3116072"/>
          <a:ext cx="11091672" cy="17693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POLITICA GENERAL DE LA GESTIÓN DEL RIESGO REPUTACIONAL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POLITICA </a:t>
                      </a:r>
                      <a:r>
                        <a:rPr sz="1000" b="1" i="0" u="sng" lang="es-SV">
                          <a:solidFill>
                            <a:srgbClr val="00376E"/>
                          </a:solidFill>
                          <a:latin typeface="Arial"/>
                        </a:rPr>
                        <a:t>DE</a:t>
                      </a:r>
                      <a:r>
                        <a:rPr sz="1000" b="0" i="0" lang="es-SV">
                          <a:solidFill>
                            <a:srgbClr val="1B2333"/>
                          </a:solidFill>
                          <a:latin typeface="Arial"/>
                        </a:rPr>
                        <a:t> LA GESTIÓN DEL RIESGO REPUTACIONAL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Se simplifica el título.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Los miembros del Consejo de Administración… deberán salvaguardar la reputación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Los </a:t>
                      </a:r>
                      <a:r>
                        <a:rPr sz="1000" b="1" i="0" u="sng" lang="es-SV">
                          <a:solidFill>
                            <a:srgbClr val="00376E"/>
                          </a:solidFill>
                          <a:latin typeface="Arial"/>
                        </a:rPr>
                        <a:t>Directores</a:t>
                      </a:r>
                      <a:r>
                        <a:rPr sz="1000" b="0" i="0" lang="es-SV">
                          <a:solidFill>
                            <a:srgbClr val="1B2333"/>
                          </a:solidFill>
                          <a:latin typeface="Arial"/>
                        </a:rPr>
                        <a:t> del Consejo de Administración… deberán salvaguardar la reputación de COMEDICA </a:t>
                      </a:r>
                      <a:r>
                        <a:rPr sz="1000" b="1" i="0" u="sng" lang="es-SV">
                          <a:solidFill>
                            <a:srgbClr val="00376E"/>
                          </a:solidFill>
                          <a:latin typeface="Arial"/>
                        </a:rPr>
                        <a:t>de R.L.</a:t>
                      </a:r>
                      <a:r>
                        <a:rPr sz="1000" b="0" i="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Denominación de los miembros del Consejo.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comportamiento de los empleados está normado por el Código de Conducta, Reglamento Interno de Trabajo y Política de Calidad, que complementan la cultura organizacional orientada a la satisfacción de nuestros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comportamiento de los empleados está normado por el Código de Conducta </a:t>
                      </a:r>
                      <a:r>
                        <a:rPr sz="1000" b="1" i="0" u="sng" lang="es-SV">
                          <a:solidFill>
                            <a:srgbClr val="00376E"/>
                          </a:solidFill>
                          <a:latin typeface="Arial"/>
                        </a:rPr>
                        <a:t>y el</a:t>
                      </a:r>
                      <a:r>
                        <a:rPr sz="1000" b="0" i="0" lang="es-SV">
                          <a:solidFill>
                            <a:srgbClr val="1B2333"/>
                          </a:solidFill>
                          <a:latin typeface="Arial"/>
                        </a:rPr>
                        <a:t> Reglamento Interno de Trabajo, que complementan la cultura organizacional orientada a </a:t>
                      </a:r>
                      <a:r>
                        <a:rPr sz="1000" b="1" i="0" u="sng" lang="es-SV">
                          <a:solidFill>
                            <a:srgbClr val="00376E"/>
                          </a:solidFill>
                          <a:latin typeface="Arial"/>
                        </a:rPr>
                        <a:t>incrementar</a:t>
                      </a:r>
                      <a:r>
                        <a:rPr sz="1000" b="0" i="0" lang="es-SV">
                          <a:solidFill>
                            <a:srgbClr val="1B2333"/>
                          </a:solidFill>
                          <a:latin typeface="Arial"/>
                        </a:rPr>
                        <a:t> la satisfacción de nuestros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Se elimina la referencia a la Política de Calidad.</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Identificación y Control del Riesgo Reputacional</a:t>
            </a:r>
          </a:p>
        </p:txBody>
      </p:sp>
      <p:graphicFrame>
        <p:nvGraphicFramePr>
          <p:cNvPr id="16" name="Table 15"/>
          <p:cNvGraphicFramePr>
            <a:graphicFrameLocks noGrp="1"/>
          </p:cNvGraphicFramePr>
          <p:nvPr/>
        </p:nvGraphicFramePr>
        <p:xfrm>
          <a:off x="548640" y="566928"/>
          <a:ext cx="11091672" cy="2607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Redes sociales: La información difundida en las redes sociales representa un riesgo difícil de controlar, ya que las críticas y los comentarios negativos pueden afectar rápidamente la percepción pública de COMEDICA de R.L. El informe elaborado por el Departamento de Mercadeo permite conocer únicamente una parte de la opinión que los usuarios expresan sobre la Cooperativa en estos medios.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Nueva fuente de riesgo reputacional identificada.</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4. Denuncias por fraudes de tarjeta de crédito y débito: la Gerencia Legal y de Cumplimiento Normativo recibe correos de la Defensoría del Consumidor sobre denuncias por fraudes de tarjeta de crédito, y oficios de la Fiscalía General de la República por fraudes de tarjeta de crédito y de débito.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Nuevo control.</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5. Denuncias por asesorías por sobreendeudamiento en créditos y tarjetas de crédito: la Jefatura del Departamento de Soluciones Financieras recibe denuncias interpuestas ante la Defensoría del Consumidor.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Nuevo control.</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32079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30250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Informe de casos de Riesgo Reputacional</a:t>
            </a:r>
          </a:p>
        </p:txBody>
      </p:sp>
      <p:graphicFrame>
        <p:nvGraphicFramePr>
          <p:cNvPr id="16" name="Table 15"/>
          <p:cNvGraphicFramePr>
            <a:graphicFrameLocks noGrp="1"/>
          </p:cNvGraphicFramePr>
          <p:nvPr/>
        </p:nvGraphicFramePr>
        <p:xfrm>
          <a:off x="548640" y="3723132"/>
          <a:ext cx="11091672" cy="24678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Gerente Legal y de Cumplimiento Normativo reportará en los primeros 10 días hábiles del mes siguiente las denuncias interpuestas por los tarjetahabientes ante la Defensoría del Consumidor por fraudes de tarjeta de crédito. De no existir, en el mismo plazo informará la no existencia.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Nuevo reporte mensual.</a:t>
                      </a:r>
                    </a:p>
                    <a:p>
                      <a:pPr algn="just"/>
                      <a:r>
                        <a:rPr sz="1000" b="1" i="0" lang="es-SV">
                          <a:solidFill>
                            <a:srgbClr val="00376E"/>
                          </a:solidFill>
                          <a:latin typeface="Arial"/>
                        </a:rPr>
                        <a:t>NRP-20, art. 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Jefe del Departamento de Soluciones Financieras reportará en los primeros 10 días hábiles del mes siguiente las denuncias ante la Defensoría del Consumidor por asesorías por sobreendeudamiento en créditos y tarjetas de crédito. De no existir, en el mismo plazo informará la no existencia.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Nuevo reporte mensual.</a:t>
                      </a:r>
                    </a:p>
                    <a:p>
                      <a:pPr algn="just"/>
                      <a:r>
                        <a:rPr sz="1000" b="1" i="0" lang="es-SV">
                          <a:solidFill>
                            <a:srgbClr val="00376E"/>
                          </a:solidFill>
                          <a:latin typeface="Arial"/>
                        </a:rPr>
                        <a:t>NRP-20, art. 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Los Miembros del Consejo de Administración… podrán informar… al correo riesgoreputacional@comedica.com.sv… Los informes recibidos se presentarán al Comité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Los </a:t>
                      </a:r>
                      <a:r>
                        <a:rPr sz="1000" b="1" i="0" u="sng" lang="es-SV">
                          <a:solidFill>
                            <a:srgbClr val="00376E"/>
                          </a:solidFill>
                          <a:latin typeface="Arial"/>
                        </a:rPr>
                        <a:t>Directores</a:t>
                      </a:r>
                      <a:r>
                        <a:rPr sz="1000" b="0" i="0" lang="es-SV">
                          <a:solidFill>
                            <a:srgbClr val="1B2333"/>
                          </a:solidFill>
                          <a:latin typeface="Arial"/>
                        </a:rPr>
                        <a:t> del Consejo de Administración… podrán informar… al correo riesgoreputacional@comedica.com.sv… Los informes recibidos se presentarán al </a:t>
                      </a:r>
                      <a:r>
                        <a:rPr sz="1000" b="1" i="0" u="sng" lang="es-SV">
                          <a:solidFill>
                            <a:srgbClr val="00376E"/>
                          </a:solidFill>
                          <a:latin typeface="Arial"/>
                        </a:rPr>
                        <a:t>Comité de Riesgos</a:t>
                      </a:r>
                      <a:r>
                        <a:rPr sz="1000" b="0" i="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Denominaciones vigentes.</a:t>
                      </a:r>
                    </a:p>
                    <a:p>
                      <a:pPr algn="just"/>
                      <a:r>
                        <a:rPr sz="1000" b="1" i="0" lang="es-SV">
                          <a:solidFill>
                            <a:srgbClr val="00376E"/>
                          </a:solidFill>
                          <a:latin typeface="Arial"/>
                        </a:rPr>
                        <a:t>NRP-20, art. 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Informes Relativo de Comités</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lang="es-SV">
                <a:solidFill>
                  <a:srgbClr val="DCE6F7"/>
                </a:solidFill>
                <a:latin typeface="Arial"/>
              </a:rPr>
              <a:t>Informe 2024 vigente → Informe 2026 propuesto · 111 cambios</a:t>
            </a:r>
            <a:endParaRPr sz="1400" b="0" i="0" dirty="0" lang="es-SV">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CRÉDITOS</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EDUCACIÓN</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COBROS Y RECUPERACIÓN DE PRÉSTAMOS EN MORA</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FINANZAS</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AUDITORÍA</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ADMINISTRACIÓN DE RIESGOS</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JUNTA DE PREVENCIÓN LDA/FT/FPADM DEL RIESGO DE LAVADO DE DINERO Y FINANCIAMIENTO AL TERRORISMO</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DEL FONDO DE SOLIDARIDAD</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NORMAS GENERALES DE APLICACIÓN PARA TODOS LOS COMITÉS</a:t>
            </a: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CRÉDITOS</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EDUCACIÓN</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COBROS Y RECUPERACIÓN</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FINANZAS Y DE RECUPERACIÓN FINANCIERA</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AUDITORÍA</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RIESGOS</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JUNTA DE PREVENCIÓN LDA/FT/FPADM</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DEL FONDO DE SOLIDARIDAD</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NORMAS GENERALES DE APLICACIÓN PARA TODOS LOS COMITÉS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Créditos (1 de 2)</a:t>
            </a:r>
          </a:p>
        </p:txBody>
      </p:sp>
      <p:graphicFrame>
        <p:nvGraphicFramePr>
          <p:cNvPr id="16" name="Table 15"/>
          <p:cNvGraphicFramePr>
            <a:graphicFrameLocks noGrp="1"/>
          </p:cNvGraphicFramePr>
          <p:nvPr/>
        </p:nvGraphicFramePr>
        <p:xfrm>
          <a:off x="548640" y="566928"/>
          <a:ext cx="11091672" cy="5606186"/>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b) Canalizar </a:t>
                      </a:r>
                      <a:r>
                        <a:rPr lang="es-SV" sz="1000" b="0" i="0" strike="sngStrike">
                          <a:solidFill>
                            <a:srgbClr val="B3261E"/>
                          </a:solidFill>
                          <a:latin typeface="Arial"/>
                        </a:rPr>
                        <a:t>entre los asociados</a:t>
                      </a:r>
                      <a:r>
                        <a:rPr lang="es-SV" sz="1000" b="0" i="0">
                          <a:solidFill>
                            <a:srgbClr val="1B2333"/>
                          </a:solidFill>
                          <a:latin typeface="Arial"/>
                        </a:rPr>
                        <a:t xml:space="preserve"> en forma ágil, técnica, equilibrada y oportuna, los recursos financieros disponibles de la Cooperativa en operaciones de crédito.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b) Canalizar en forma ágil, técnica, equilibrada y oportuna, los recursos financieros disponibles de la Cooperativa en operaciones de crédito.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c) </a:t>
                      </a:r>
                      <a:r>
                        <a:rPr lang="es-SV" sz="1000" b="0" i="0" strike="sngStrike">
                          <a:solidFill>
                            <a:srgbClr val="B3261E"/>
                          </a:solidFill>
                          <a:latin typeface="Arial"/>
                        </a:rPr>
                        <a:t>Regular y</a:t>
                      </a:r>
                      <a:r>
                        <a:rPr lang="es-SV" sz="1000" b="0" i="0">
                          <a:solidFill>
                            <a:srgbClr val="1B2333"/>
                          </a:solidFill>
                          <a:latin typeface="Arial"/>
                        </a:rPr>
                        <a:t xml:space="preserve"> Agilizar y dar resolución en forma imparcial la tramitación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c) Agilizar y dar resolución en forma imparcial la tramitación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d) Proteger el capital</a:t>
                      </a:r>
                      <a:r>
                        <a:rPr lang="es-SV" sz="1000" b="0" i="0" strike="sngStrike">
                          <a:solidFill>
                            <a:srgbClr val="B3261E"/>
                          </a:solidFill>
                          <a:latin typeface="Arial"/>
                        </a:rPr>
                        <a:t>,</a:t>
                      </a:r>
                      <a:r>
                        <a:rPr lang="es-SV" sz="1000" b="0" i="0">
                          <a:solidFill>
                            <a:srgbClr val="1B2333"/>
                          </a:solidFill>
                          <a:latin typeface="Arial"/>
                        </a:rPr>
                        <a:t xml:space="preserve"> de la Cooperativa y de sus asociados promoviendo la liquidez y rentabilidad adecuadas.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d) Proteger el capital de la Cooperativa y de sus asociados promoviendo la liquidez y rentabilidad adecuadas.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a) Analizar y resolver las solicitudes de crédito de todas las modalidades autorizadas por el Consejo de Administración, y de tarjetas de créditos, </a:t>
                      </a:r>
                      <a:r>
                        <a:rPr lang="es-SV" sz="1000" b="0" i="0" strike="sngStrike">
                          <a:solidFill>
                            <a:srgbClr val="B3261E"/>
                          </a:solidFill>
                          <a:latin typeface="Arial"/>
                        </a:rPr>
                        <a:t>que sean presentadas por los asociados,</a:t>
                      </a:r>
                      <a:r>
                        <a:rPr lang="es-SV" sz="1000" b="0" i="0">
                          <a:solidFill>
                            <a:srgbClr val="1B2333"/>
                          </a:solidFill>
                          <a:latin typeface="Arial"/>
                        </a:rPr>
                        <a:t xml:space="preserve"> respetando las Leyes y normas legales, así como políticas, procedimientos, instructivos, requisitos y lineamientos establecidos por el Consejo de Administración; considerando la capacidad de pago individual y/o empresarial del solicitante, su solvencia moral, su situación económica y financiera presente y futura, así como las garantías que en su caso fuesen necesarias.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a) Analizar y resolver las solicitudes de crédito de todas las modalidades autorizadas por el Consejo de Administración, y de tarjetas de créditos, respetando las Leyes y normas legales, así como políticas, procedimientos, instructivos, requisitos y lineamientos establecidos por el Consejo de Administración; considerando la capacidad de pago individual y/o empresarial del solicitante, su solvencia moral, su situación económica y financiera presente y futura, así como las garantías que en su caso fuesen necesarias.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c) Rendir Informe escrito mensual de sus actividades, al Consejo de Administración, y anualmente a la Asamblea General de Asociados, incluyendo las observaciones y recomendaciones que estime conveniente para el mejoramiento de sus funciones. </a:t>
                      </a:r>
                      <a:r>
                        <a:rPr lang="es-SV" sz="1000" b="0" i="0" strike="sngStrike">
                          <a:solidFill>
                            <a:srgbClr val="B3261E"/>
                          </a:solidFill>
                          <a:latin typeface="Arial"/>
                        </a:rPr>
                        <a:t>De este Informe enviará copia a la Junta de Vigilancia</a:t>
                      </a:r>
                      <a:r>
                        <a:rPr lang="es-SV" sz="1000" b="0" i="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c) Rendir Informe escrito mensual de sus actividades, al Consejo de Administración, y anualmente a la Asamblea General de Asociados, incluyendo las observaciones y recomendaciones que estime conveniente para el mejoramiento de sus funciones.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d) </a:t>
                      </a:r>
                      <a:r>
                        <a:rPr lang="es-SV" sz="1000" b="0" i="0" strike="sngStrike">
                          <a:solidFill>
                            <a:srgbClr val="B3261E"/>
                          </a:solidFill>
                          <a:latin typeface="Arial"/>
                        </a:rPr>
                        <a:t>Llevar y mantener actualizado el Libro de Actas de las sesiones efectuadas.</a:t>
                      </a:r>
                      <a:r>
                        <a:rPr lang="es-SV" sz="1000" b="0" i="0">
                          <a:solidFill>
                            <a:srgbClr val="1B2333"/>
                          </a:solidFill>
                          <a:latin typeface="Arial"/>
                        </a:rPr>
                        <a:t xml:space="preserve"> De las sesiones que celebren en el Comité de Créditos se levantará acta. Las actas deberán ser redactadas de forma clara y detallada para comprender los fundamentos de los acuerdos tomados y de los temas conocidos. Se asentarán en el libro legar respectivo, bajo numeración secuencial.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d) De las sesiones que celebren en el Comité de Créditos se levantará acta. Las actas deberán ser </a:t>
                      </a:r>
                      <a:r>
                        <a:rPr lang="es-SV" sz="1000" b="1" i="0" u="sng">
                          <a:solidFill>
                            <a:srgbClr val="00376E"/>
                          </a:solidFill>
                          <a:latin typeface="Arial"/>
                        </a:rPr>
                        <a:t>levantadas</a:t>
                      </a:r>
                      <a:r>
                        <a:rPr lang="es-SV" sz="1000" b="0" i="0">
                          <a:solidFill>
                            <a:srgbClr val="1B2333"/>
                          </a:solidFill>
                          <a:latin typeface="Arial"/>
                        </a:rPr>
                        <a:t xml:space="preserve"> de forma clara y detallada para comprender los fundamentos de los acuerdos tomados y de los temas conocidos. Se asentarán en el libro </a:t>
                      </a:r>
                      <a:r>
                        <a:rPr lang="es-SV" sz="1000" b="1" i="0" u="sng">
                          <a:solidFill>
                            <a:srgbClr val="00376E"/>
                          </a:solidFill>
                          <a:latin typeface="Arial"/>
                        </a:rPr>
                        <a:t>legal</a:t>
                      </a:r>
                      <a:r>
                        <a:rPr lang="es-SV" sz="1000" b="0" i="0">
                          <a:solidFill>
                            <a:srgbClr val="1B2333"/>
                          </a:solidFill>
                          <a:latin typeface="Arial"/>
                        </a:rPr>
                        <a:t xml:space="preserve"> respectivo, bajo numeración secuencial.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Elaborar el Plan de trabajo anual y su respectivo presupuesto, y presentarlo al Consejo de Administración para su aprobación en el mes de Enero 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Créditos (2 de 2)</a:t>
            </a:r>
          </a:p>
        </p:txBody>
      </p:sp>
      <p:graphicFrame>
        <p:nvGraphicFramePr>
          <p:cNvPr id="16" name="Table 15"/>
          <p:cNvGraphicFramePr>
            <a:graphicFrameLocks noGrp="1"/>
          </p:cNvGraphicFramePr>
          <p:nvPr/>
        </p:nvGraphicFramePr>
        <p:xfrm>
          <a:off x="548640" y="566928"/>
          <a:ext cx="11091672" cy="5507431"/>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i) Asistir a actividades de formación, capacitaciones y a todas aquellas que fuesen convocadas por el Consejo de Administración y otras Unidades de la Cooperativa para mantenerse actualizados en temas financieros y marco regulatorio financiero y en prevención de lavado de dinero y activos y financiamiento del terrorismo y la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i) Asistir a actividades de formación, capacitaciones y a todas aquellas que fuesen convocadas por el Consejo de Administración y otras Unidades de la Cooperativa para mantenerse actualizados en temas financieros y marco regulatorio y en prevención de Lavado de Dinero y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Activos,</a:t>
                      </a:r>
                      <a:r>
                        <a:rPr lang="es-SV" sz="1000" b="0" i="0">
                          <a:solidFill>
                            <a:srgbClr val="1B2333"/>
                          </a:solidFill>
                          <a:latin typeface="Arial"/>
                        </a:rPr>
                        <a:t xml:space="preserve"> </a:t>
                      </a:r>
                      <a:r>
                        <a:rPr lang="es-SV" sz="1000" b="1" i="0" u="sng">
                          <a:solidFill>
                            <a:srgbClr val="00376E"/>
                          </a:solidFill>
                          <a:latin typeface="Arial"/>
                        </a:rPr>
                        <a:t>Financiamiento</a:t>
                      </a:r>
                      <a:r>
                        <a:rPr lang="es-SV" sz="1000" b="0" i="0">
                          <a:solidFill>
                            <a:srgbClr val="1B2333"/>
                          </a:solidFill>
                          <a:latin typeface="Arial"/>
                        </a:rPr>
                        <a:t xml:space="preserve"> </a:t>
                      </a:r>
                      <a:r>
                        <a:rPr lang="es-SV" sz="1000" b="1" i="0" u="sng">
                          <a:solidFill>
                            <a:srgbClr val="00376E"/>
                          </a:solidFill>
                          <a:latin typeface="Arial"/>
                        </a:rPr>
                        <a:t>al</a:t>
                      </a:r>
                      <a:r>
                        <a:rPr lang="es-SV" sz="1000" b="0" i="0">
                          <a:solidFill>
                            <a:srgbClr val="1B2333"/>
                          </a:solidFill>
                          <a:latin typeface="Arial"/>
                        </a:rPr>
                        <a:t xml:space="preserve"> Terrorismo y la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k) Programar y participar en reuniones </a:t>
                      </a:r>
                      <a:r>
                        <a:rPr lang="es-SV" sz="1000" b="0" i="0" strike="sngStrike">
                          <a:solidFill>
                            <a:srgbClr val="B3261E"/>
                          </a:solidFill>
                          <a:latin typeface="Arial"/>
                        </a:rPr>
                        <a:t>trimestrales</a:t>
                      </a:r>
                      <a:r>
                        <a:rPr lang="es-SV" sz="1000" b="0" i="0">
                          <a:solidFill>
                            <a:srgbClr val="1B2333"/>
                          </a:solidFill>
                          <a:latin typeface="Arial"/>
                        </a:rPr>
                        <a:t xml:space="preserve"> con el Comité de Cobros y Recuperación de Mora, y con las unidades de la Cooperativa, </a:t>
                      </a:r>
                      <a:r>
                        <a:rPr lang="es-SV" sz="1000" b="0" i="0" strike="sngStrike">
                          <a:solidFill>
                            <a:srgbClr val="B3261E"/>
                          </a:solidFill>
                          <a:latin typeface="Arial"/>
                        </a:rPr>
                        <a:t>el Departamento jurídico</a:t>
                      </a:r>
                      <a:r>
                        <a:rPr lang="es-SV" sz="1000" b="0" i="0">
                          <a:solidFill>
                            <a:srgbClr val="1B2333"/>
                          </a:solidFill>
                          <a:latin typeface="Arial"/>
                        </a:rPr>
                        <a:t xml:space="preserve"> cuando sea indispensable.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k) Programar y participar en reuniones con el Comité de Cobros y Recuperación, y con las unidades de la Cooperativa, cuando sea indispensable.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El Comité de Créditos </a:t>
                      </a:r>
                      <a:r>
                        <a:rPr lang="es-SV" sz="1000" b="0" i="0" strike="sngStrike">
                          <a:solidFill>
                            <a:srgbClr val="B3261E"/>
                          </a:solidFill>
                          <a:latin typeface="Arial"/>
                        </a:rPr>
                        <a:t>está</a:t>
                      </a:r>
                      <a:r>
                        <a:rPr lang="es-SV" sz="1000" b="0" i="0">
                          <a:solidFill>
                            <a:srgbClr val="1B2333"/>
                          </a:solidFill>
                          <a:latin typeface="Arial"/>
                        </a:rPr>
                        <a:t xml:space="preserve"> estará integrado por un Presidente, un Secretario, un Vocal, Primero, Segundo y Tercer Suplente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El Comité de Créditos estará integrado por un presidente, un secretario, un Vocal, Primero </a:t>
                      </a:r>
                      <a:r>
                        <a:rPr lang="es-SV" sz="1000" b="1" i="0" u="sng">
                          <a:solidFill>
                            <a:srgbClr val="00376E"/>
                          </a:solidFill>
                          <a:latin typeface="Arial"/>
                        </a:rPr>
                        <a:t>y</a:t>
                      </a:r>
                      <a:r>
                        <a:rPr lang="es-SV" sz="1000" b="0" i="0">
                          <a:solidFill>
                            <a:srgbClr val="1B2333"/>
                          </a:solidFill>
                          <a:latin typeface="Arial"/>
                        </a:rPr>
                        <a:t xml:space="preserve"> </a:t>
                      </a:r>
                      <a:r>
                        <a:rPr lang="es-SV" sz="1000" b="1" i="0" u="sng">
                          <a:solidFill>
                            <a:srgbClr val="00376E"/>
                          </a:solidFill>
                          <a:latin typeface="Arial"/>
                        </a:rPr>
                        <a:t>Segundo</a:t>
                      </a:r>
                      <a:r>
                        <a:rPr lang="es-SV" sz="1000" b="0" i="0">
                          <a:solidFill>
                            <a:srgbClr val="1B2333"/>
                          </a:solidFill>
                          <a:latin typeface="Arial"/>
                        </a:rPr>
                        <a:t xml:space="preserve"> Suplente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Los requisitos para ser miembro del Comité de Créditos se detallan en Anexo 3 y que forma parte integrante de este Código.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Los requisitos para ser miembro del Comité de Créditos se detallan en Anexo 3 </a:t>
                      </a:r>
                      <a:r>
                        <a:rPr lang="es-SV" sz="1000" b="1" i="0" u="sng">
                          <a:solidFill>
                            <a:srgbClr val="00376E"/>
                          </a:solidFill>
                          <a:latin typeface="Arial"/>
                        </a:rPr>
                        <a:t>del Código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Los Directores del Consejo de Administración, miembros del Comité de Créditos, Gerentes y Personal que autorizan créditos, a más tardar treinta días después de haber tomado posesión de su cargo y en el mes de enero de cada año, deberán declarar bajo juramento a la Superintendencia que no son inhábiles para desempeñar el cargo y a informar a más tardar el siguiente día hábil a dicha institución su inhabilidad, si ésta se produce con posterioridad.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El Comité se reunirá ordinariamente al menos una vez por semana, a fin de resolver las solicitudes de créditos y tarjeta de créditos y para desarrollar otras actividades o atribuciones establecidas por el Consejo de Administración; pudiendo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Educación (1 de 3)</a:t>
            </a:r>
          </a:p>
        </p:txBody>
      </p:sp>
      <p:graphicFrame>
        <p:nvGraphicFramePr>
          <p:cNvPr id="16" name="Table 15"/>
          <p:cNvGraphicFramePr>
            <a:graphicFrameLocks noGrp="1"/>
          </p:cNvGraphicFramePr>
          <p:nvPr/>
        </p:nvGraphicFramePr>
        <p:xfrm>
          <a:off x="548640" y="566928"/>
          <a:ext cx="11091672" cy="575706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a) Elaborar y someter al Consejo de Administración el Plan Anual de Trabajo y el Presupuesto correspondiente, para su aprobación durante los primeros quince días del mes de diciembre.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a) Elaborar y someter al Consejo de Administración el Plan Anual de Trabajo y el Presupuesto correspondiente, para su aprobación durante los primeros quince días del mes de diciembre </a:t>
                      </a:r>
                      <a:r>
                        <a:rPr lang="es-SV" sz="1000" b="1" i="0" u="sng">
                          <a:solidFill>
                            <a:srgbClr val="00376E"/>
                          </a:solidFill>
                          <a:latin typeface="Arial"/>
                        </a:rPr>
                        <a:t>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c) Organizar e impartir el Curso Básico de Cooperativismo, por lo menos una vez al mes, en San Salvador, y según demanda, en el interior del país. Los cursos se realizaran de acuerdo a pedido expreso por parte de los aspirantes a asociarse; cuando su número así lo requiera, como apoyo al curso virtual en la página Web.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c) Organizar e impartir el Curso Básico de Cooperativismo, por lo menos una vez al mes, en San Salvador, y según demanda, en el interior del país. Los cursos se </a:t>
                      </a:r>
                      <a:r>
                        <a:rPr lang="es-SV" sz="1000" b="1" i="0" u="sng">
                          <a:solidFill>
                            <a:srgbClr val="00376E"/>
                          </a:solidFill>
                          <a:latin typeface="Arial"/>
                        </a:rPr>
                        <a:t>realizarán</a:t>
                      </a:r>
                      <a:r>
                        <a:rPr lang="es-SV" sz="1000" b="0" i="0">
                          <a:solidFill>
                            <a:srgbClr val="1B2333"/>
                          </a:solidFill>
                          <a:latin typeface="Arial"/>
                        </a:rPr>
                        <a:t xml:space="preserve"> de acuerdo a pedido expreso por parte de los aspirantes a asociarse; cuando su número así lo requiera, como apoyo al curso virtual en la página Web.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El Comité estará integrado por un Presidente, un Secretario, un Vocal y un Suplente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Los requisitos para ser miembro del Comité de Educación se detallan en Anexo 6 y que forma parte integrante de éste Código.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Los requisitos para ser miembro del Comité de Educación se detallan en Anexo 6 </a:t>
                      </a:r>
                      <a:r>
                        <a:rPr lang="es-SV" sz="1000" b="1" i="0" u="sng">
                          <a:solidFill>
                            <a:srgbClr val="00376E"/>
                          </a:solidFill>
                          <a:latin typeface="Arial"/>
                        </a:rPr>
                        <a:t>del Código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c) Sus resoluciones o acuerdos se tomarán por mayoría de votos y en caso de empate el Presidente, o quien haga sus veces, tendrá doble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c) </a:t>
                      </a:r>
                      <a:r>
                        <a:rPr lang="es-SV" sz="1000" b="1" i="0" u="sng">
                          <a:solidFill>
                            <a:srgbClr val="00376E"/>
                          </a:solidFill>
                          <a:latin typeface="Arial"/>
                        </a:rPr>
                        <a:t>El desarrollo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la sesión del Comité estará regulado así: a)</a:t>
                      </a:r>
                      <a:r>
                        <a:rPr lang="es-SV" sz="1000" b="0" i="0">
                          <a:solidFill>
                            <a:srgbClr val="1B2333"/>
                          </a:solidFill>
                          <a:latin typeface="Arial"/>
                        </a:rPr>
                        <a:t xml:space="preserve"> </a:t>
                      </a:r>
                      <a:r>
                        <a:rPr lang="es-SV" sz="1000" b="1" i="0" u="sng">
                          <a:solidFill>
                            <a:srgbClr val="00376E"/>
                          </a:solidFill>
                          <a:latin typeface="Arial"/>
                        </a:rPr>
                        <a:t>El presidente</a:t>
                      </a:r>
                      <a:r>
                        <a:rPr lang="es-SV" sz="1000" b="0" i="0">
                          <a:solidFill>
                            <a:srgbClr val="1B2333"/>
                          </a:solidFill>
                          <a:latin typeface="Arial"/>
                        </a:rPr>
                        <a:t xml:space="preserve"> </a:t>
                      </a:r>
                      <a:r>
                        <a:rPr lang="es-SV" sz="1000" b="1" i="0" u="sng">
                          <a:solidFill>
                            <a:srgbClr val="00376E"/>
                          </a:solidFill>
                          <a:latin typeface="Arial"/>
                        </a:rPr>
                        <a:t>verificara el quórum y abre la sesión, b) El secretario propone la Agenda, la cual, una vez aprobada por consenso</a:t>
                      </a:r>
                      <a:r>
                        <a:rPr lang="es-SV" sz="1000" b="0" i="0">
                          <a:solidFill>
                            <a:srgbClr val="1B2333"/>
                          </a:solidFill>
                          <a:latin typeface="Arial"/>
                        </a:rPr>
                        <a:t xml:space="preserve"> </a:t>
                      </a:r>
                      <a:r>
                        <a:rPr lang="es-SV" sz="1000" b="1" i="0" u="sng">
                          <a:solidFill>
                            <a:srgbClr val="00376E"/>
                          </a:solidFill>
                          <a:latin typeface="Arial"/>
                        </a:rPr>
                        <a:t>o</a:t>
                      </a:r>
                      <a:r>
                        <a:rPr lang="es-SV" sz="1000" b="0" i="0">
                          <a:solidFill>
                            <a:srgbClr val="1B2333"/>
                          </a:solidFill>
                          <a:latin typeface="Arial"/>
                        </a:rPr>
                        <a:t xml:space="preserve"> </a:t>
                      </a:r>
                      <a:r>
                        <a:rPr lang="es-SV" sz="1000" b="1" i="0" u="sng">
                          <a:solidFill>
                            <a:srgbClr val="00376E"/>
                          </a:solidFill>
                          <a:latin typeface="Arial"/>
                        </a:rPr>
                        <a:t>mayoría simple, se procede a discusión.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d) Las actas serán breves, concisas, y orientadas a recoger lo esencial de lo tratado en cada sesión, agregándose la documentación necesaria cuando fuese pertinente. Una vez impresas en el libro legal serán firmadas por el Presidente, Secretario y Vocal en el libro respectivo. El miembro suplente firmara las actas cuando actúe como propietario durante toda la sesión. Semanalmente se enviará copia del acta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d) </a:t>
                      </a:r>
                      <a:r>
                        <a:rPr lang="es-SV" sz="1000" b="1" i="0" u="sng">
                          <a:solidFill>
                            <a:srgbClr val="00376E"/>
                          </a:solidFill>
                          <a:latin typeface="Arial"/>
                        </a:rPr>
                        <a:t>En</a:t>
                      </a:r>
                      <a:r>
                        <a:rPr lang="es-SV" sz="1000" b="0" i="0">
                          <a:solidFill>
                            <a:srgbClr val="1B2333"/>
                          </a:solidFill>
                          <a:latin typeface="Arial"/>
                        </a:rPr>
                        <a:t xml:space="preserve"> </a:t>
                      </a:r>
                      <a:r>
                        <a:rPr lang="es-SV" sz="1000" b="1" i="0" u="sng">
                          <a:solidFill>
                            <a:srgbClr val="00376E"/>
                          </a:solidFill>
                          <a:latin typeface="Arial"/>
                        </a:rPr>
                        <a:t>las</a:t>
                      </a:r>
                      <a:r>
                        <a:rPr lang="es-SV" sz="1000" b="0" i="0">
                          <a:solidFill>
                            <a:srgbClr val="1B2333"/>
                          </a:solidFill>
                          <a:latin typeface="Arial"/>
                        </a:rPr>
                        <a:t xml:space="preserve"> </a:t>
                      </a:r>
                      <a:r>
                        <a:rPr lang="es-SV" sz="1000" b="1" i="0" u="sng">
                          <a:solidFill>
                            <a:srgbClr val="00376E"/>
                          </a:solidFill>
                          <a:latin typeface="Arial"/>
                        </a:rPr>
                        <a:t>sesiones cada uno de los Miembros del Comité de Educación dará un informe sobre sus funciones</a:t>
                      </a:r>
                      <a:r>
                        <a:rPr lang="es-SV" sz="1000" b="0" i="0">
                          <a:solidFill>
                            <a:srgbClr val="1B2333"/>
                          </a:solidFill>
                          <a:latin typeface="Arial"/>
                        </a:rPr>
                        <a:t xml:space="preserve"> </a:t>
                      </a:r>
                      <a:r>
                        <a:rPr lang="es-SV" sz="1000" b="1" i="0" u="sng">
                          <a:solidFill>
                            <a:srgbClr val="00376E"/>
                          </a:solidFill>
                          <a:latin typeface="Arial"/>
                        </a:rPr>
                        <a:t>y</a:t>
                      </a:r>
                      <a:r>
                        <a:rPr lang="es-SV" sz="1000" b="0" i="0">
                          <a:solidFill>
                            <a:srgbClr val="1B2333"/>
                          </a:solidFill>
                          <a:latin typeface="Arial"/>
                        </a:rPr>
                        <a:t xml:space="preserve"> </a:t>
                      </a:r>
                      <a:r>
                        <a:rPr lang="es-SV" sz="1000" b="1" i="0" u="sng">
                          <a:solidFill>
                            <a:srgbClr val="00376E"/>
                          </a:solidFill>
                          <a:latin typeface="Arial"/>
                        </a:rPr>
                        <a:t>asignaciones.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e) El Jefe del Departamento de Educación y Responsabilidad Social preparará la documentación necesaria, en coordinación con el Secretario, y su participación en las sesiones estará sujeta a la naturaleza de los asuntos a tratar.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e) </a:t>
                      </a:r>
                      <a:r>
                        <a:rPr lang="es-SV" sz="1000" b="1" i="0" u="sng">
                          <a:solidFill>
                            <a:srgbClr val="00376E"/>
                          </a:solidFill>
                          <a:latin typeface="Arial"/>
                        </a:rPr>
                        <a:t>Sus resoluciones o acuerdos se tomarán por mayoría de votos y en caso de empate</a:t>
                      </a:r>
                      <a:r>
                        <a:rPr lang="es-SV" sz="1000" b="0" i="0">
                          <a:solidFill>
                            <a:srgbClr val="1B2333"/>
                          </a:solidFill>
                          <a:latin typeface="Arial"/>
                        </a:rPr>
                        <a:t xml:space="preserve"> </a:t>
                      </a:r>
                      <a:r>
                        <a:rPr lang="es-SV" sz="1000" b="1" i="0" u="sng">
                          <a:solidFill>
                            <a:srgbClr val="00376E"/>
                          </a:solidFill>
                          <a:latin typeface="Arial"/>
                        </a:rPr>
                        <a:t>el</a:t>
                      </a:r>
                      <a:r>
                        <a:rPr lang="es-SV" sz="1000" b="0" i="0">
                          <a:solidFill>
                            <a:srgbClr val="1B2333"/>
                          </a:solidFill>
                          <a:latin typeface="Arial"/>
                        </a:rPr>
                        <a:t xml:space="preserve"> </a:t>
                      </a:r>
                      <a:r>
                        <a:rPr lang="es-SV" sz="1000" b="1" i="0" u="sng">
                          <a:solidFill>
                            <a:srgbClr val="00376E"/>
                          </a:solidFill>
                          <a:latin typeface="Arial"/>
                        </a:rPr>
                        <a:t>presidente, o quien haga sus veces, tendrá doble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Educación (2 de 3)</a:t>
            </a:r>
          </a:p>
        </p:txBody>
      </p:sp>
      <p:graphicFrame>
        <p:nvGraphicFramePr>
          <p:cNvPr id="16" name="Table 15"/>
          <p:cNvGraphicFramePr>
            <a:graphicFrameLocks noGrp="1"/>
          </p:cNvGraphicFramePr>
          <p:nvPr/>
        </p:nvGraphicFramePr>
        <p:xfrm>
          <a:off x="548640" y="566928"/>
          <a:ext cx="11091672" cy="4956048"/>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u="sng">
                          <a:solidFill>
                            <a:srgbClr val="00376E"/>
                          </a:solidFill>
                          <a:latin typeface="Arial"/>
                        </a:rPr>
                        <a:t xml:space="preserve">f) </a:t>
                      </a:r>
                      <a:r>
                        <a:rPr lang="es-SV" sz="1000" b="1" i="0" u="sng">
                          <a:solidFill>
                            <a:srgbClr val="00376E"/>
                          </a:solidFill>
                          <a:latin typeface="Arial"/>
                        </a:rPr>
                        <a:t>En cada Agenda se incorporará el Ítem Puntos Varios, los cuales, si los hubiere, serán acordados antes del inicio de la sesión correspondiente.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u="sng">
                          <a:solidFill>
                            <a:srgbClr val="00376E"/>
                          </a:solidFill>
                          <a:latin typeface="Arial"/>
                        </a:rPr>
                        <a:t xml:space="preserve">g) </a:t>
                      </a:r>
                      <a:r>
                        <a:rPr lang="es-SV" sz="1000" b="1" i="0" u="sng">
                          <a:solidFill>
                            <a:srgbClr val="00376E"/>
                          </a:solidFill>
                          <a:latin typeface="Arial"/>
                        </a:rPr>
                        <a:t>Cuando un miembro ya sea propietario o que haga las veces de éste, se integre a la sesión en el curso de un punto en discusión, podrá emitir su opinión, pero no tendrá voto hasta finalizar dicho punto. Integrándose de pleno inmediatamente después. Los integrantes propietarios del Comité tienen pleno derecho de voz y voto en las decisiones, y el miembro suplente tendrá derecho a voz, y solo en caso de sustituir a un propietario tendrá derecho a voto. El miembro representante de la Junta de Vigilancia, sí lo hubiere, tendrá derecho a voz, pero no a voto. El retiro de un miembro antes de finalizar la sesión deberá ser justificado y contar con la anuencia del presidente.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23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u="sng">
                          <a:solidFill>
                            <a:srgbClr val="00376E"/>
                          </a:solidFill>
                          <a:latin typeface="Arial"/>
                        </a:rPr>
                        <a:t xml:space="preserve">h) </a:t>
                      </a:r>
                      <a:r>
                        <a:rPr lang="es-SV" sz="1000" b="1" i="0" u="sng">
                          <a:solidFill>
                            <a:srgbClr val="00376E"/>
                          </a:solidFill>
                          <a:latin typeface="Arial"/>
                        </a:rPr>
                        <a:t>El presidente dirigirá la sesión y mantendrá el orden en la exposición de los puntos tratados. Dará la palabra en el orden solicitado regulando en todo momento la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u="sng">
                          <a:solidFill>
                            <a:srgbClr val="00376E"/>
                          </a:solidFill>
                          <a:latin typeface="Arial"/>
                        </a:rPr>
                        <a:t xml:space="preserve">i) </a:t>
                      </a:r>
                      <a:r>
                        <a:rPr lang="es-SV" sz="1000" b="1" i="0" u="sng">
                          <a:solidFill>
                            <a:srgbClr val="00376E"/>
                          </a:solidFill>
                          <a:latin typeface="Arial"/>
                        </a:rPr>
                        <a:t>En cada sesión, el presidente informará en lo pertinente al Comité, lo tratado en el Consejo de Administración. El secretario dará lectura al acta de la sesión anterior la cual será sometida a discusión para su aprobación y posterior impresión en Libro de Actas.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u="sng">
                          <a:solidFill>
                            <a:srgbClr val="00376E"/>
                          </a:solidFill>
                          <a:latin typeface="Arial"/>
                        </a:rPr>
                        <a:t xml:space="preserve">j) </a:t>
                      </a:r>
                      <a:r>
                        <a:rPr lang="es-SV" sz="1000" b="1" i="0" u="sng">
                          <a:solidFill>
                            <a:srgbClr val="00376E"/>
                          </a:solidFill>
                          <a:latin typeface="Arial"/>
                        </a:rPr>
                        <a:t>El Comité deliberará cada punto de la Agenda y resolverá lo conveniente de acuerdo a las estipulaciones legales. Todos los miembros asistentes serán responsables de los acuerdos y otras decisiones que tomen, excepto que dejen constancia en el acta de su voto negativo, razonándolo. Los acuerdos deberán codificarse para su mejor control y evaluación.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Educación (3 de 3)</a:t>
            </a:r>
          </a:p>
        </p:txBody>
      </p:sp>
      <p:graphicFrame>
        <p:nvGraphicFramePr>
          <p:cNvPr id="16" name="Table 15"/>
          <p:cNvGraphicFramePr>
            <a:graphicFrameLocks noGrp="1"/>
          </p:cNvGraphicFramePr>
          <p:nvPr/>
        </p:nvGraphicFramePr>
        <p:xfrm>
          <a:off x="548640" y="566928"/>
          <a:ext cx="11091672" cy="3098901"/>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u="sng">
                          <a:solidFill>
                            <a:srgbClr val="00376E"/>
                          </a:solidFill>
                          <a:latin typeface="Arial"/>
                        </a:rPr>
                        <a:t xml:space="preserve">k) </a:t>
                      </a:r>
                      <a:r>
                        <a:rPr lang="es-SV" sz="1000" b="1" i="0" u="sng">
                          <a:solidFill>
                            <a:srgbClr val="00376E"/>
                          </a:solidFill>
                          <a:latin typeface="Arial"/>
                        </a:rPr>
                        <a:t>Las actas serán breves, concisas, y orientadas a recoger lo esencial de lo tratado en cada sesión, agregándose la documentación necesaria cuando fuese pertinente. Una vez impresas en el libro legal serán firmadas por el presidente, secretario y Vocal en el libro respectivo. El miembro suplente firmara las actas cuando actúe como propietario durante toda la sesión. Semanalmente se enviará copia del acta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u="sng">
                          <a:solidFill>
                            <a:srgbClr val="00376E"/>
                          </a:solidFill>
                          <a:latin typeface="Arial"/>
                        </a:rPr>
                        <a:t xml:space="preserve">l) </a:t>
                      </a:r>
                      <a:r>
                        <a:rPr lang="es-SV" sz="1000" b="1" i="0" u="sng">
                          <a:solidFill>
                            <a:srgbClr val="00376E"/>
                          </a:solidFill>
                          <a:latin typeface="Arial"/>
                        </a:rPr>
                        <a:t>Cuando sea conveniente se realizarán sesiones de trabajo conjuntas con otros Cuerpos Directivos o Personal Administrativo, según sean los puntos a tratar. La regulación de estas sesiones serán las mismas establecidas en este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u="sng">
                          <a:solidFill>
                            <a:srgbClr val="00376E"/>
                          </a:solidFill>
                          <a:latin typeface="Arial"/>
                        </a:rPr>
                        <a:t xml:space="preserve">m) </a:t>
                      </a:r>
                      <a:r>
                        <a:rPr lang="es-SV" sz="1000" b="1" i="0" u="sng">
                          <a:solidFill>
                            <a:srgbClr val="00376E"/>
                          </a:solidFill>
                          <a:latin typeface="Arial"/>
                        </a:rPr>
                        <a:t>El jefe del Departamento de Educación y Responsabilidad Social preparará la documentación necesaria, en coordinación con el secretario, y su participación en las sesiones estará sujeta a la naturaleza de los asuntos a tratar.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812133"/>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793845"/>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(1 de 4)</a:t>
            </a:r>
          </a:p>
        </p:txBody>
      </p:sp>
      <p:graphicFrame>
        <p:nvGraphicFramePr>
          <p:cNvPr id="16" name="Table 15"/>
          <p:cNvGraphicFramePr>
            <a:graphicFrameLocks noGrp="1"/>
          </p:cNvGraphicFramePr>
          <p:nvPr/>
        </p:nvGraphicFramePr>
        <p:xfrm>
          <a:off x="548640" y="4214469"/>
          <a:ext cx="11091672" cy="2042769"/>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Denominación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COMITÉ DE COBROS Y RECUPERACIÓN </a:t>
                      </a:r>
                      <a:r>
                        <a:rPr lang="es-SV" sz="1000" b="0" i="0" strike="sngStrike">
                          <a:solidFill>
                            <a:srgbClr val="B3261E"/>
                          </a:solidFill>
                          <a:latin typeface="Arial"/>
                        </a:rPr>
                        <a:t>DE PRÉSTAMOS EN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COMITÉ DE COBROS Y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Corresponde al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u="sng">
                          <a:solidFill>
                            <a:srgbClr val="00376E"/>
                          </a:solidFill>
                          <a:latin typeface="Arial"/>
                        </a:rPr>
                        <a:t>El</a:t>
                      </a:r>
                      <a:r>
                        <a:rPr lang="es-SV" sz="1000" b="0" i="0">
                          <a:solidFill>
                            <a:srgbClr val="1B2333"/>
                          </a:solidFill>
                          <a:latin typeface="Arial"/>
                        </a:rPr>
                        <a:t xml:space="preserve"> </a:t>
                      </a:r>
                      <a:r>
                        <a:rPr lang="es-SV" sz="1000" b="1" i="0" u="sng">
                          <a:solidFill>
                            <a:srgbClr val="00376E"/>
                          </a:solidFill>
                          <a:latin typeface="Arial"/>
                        </a:rPr>
                        <a:t>comité</a:t>
                      </a:r>
                      <a:r>
                        <a:rPr lang="es-SV" sz="1000" b="0" i="0">
                          <a:solidFill>
                            <a:srgbClr val="1B2333"/>
                          </a:solidFill>
                          <a:latin typeface="Arial"/>
                        </a:rPr>
                        <a:t xml:space="preserve"> </a:t>
                      </a:r>
                      <a:r>
                        <a:rPr lang="es-SV" sz="1000" b="1" i="0" u="sng">
                          <a:solidFill>
                            <a:srgbClr val="00376E"/>
                          </a:solidFill>
                          <a:latin typeface="Arial"/>
                        </a:rPr>
                        <a:t>de Cobros y Recuperación tendrá las responsabilidades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31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 xml:space="preserve">Analizar, Discutir y Aprobar las propuestas de solución presentadas por el Departamento de Cobros y Recuperación en relación a los problemas de morosidad o dificultades de los asociados y clientes para cumplir con las obligaciones crediticias adquiridas con la cooperativa, de acuerdo a su capacidad económica, sin afectar los intereses de la Cooperativa.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(2 de 4)</a:t>
            </a:r>
          </a:p>
        </p:txBody>
      </p:sp>
      <p:graphicFrame>
        <p:nvGraphicFramePr>
          <p:cNvPr id="16" name="Table 15"/>
          <p:cNvGraphicFramePr>
            <a:graphicFrameLocks noGrp="1"/>
          </p:cNvGraphicFramePr>
          <p:nvPr/>
        </p:nvGraphicFramePr>
        <p:xfrm>
          <a:off x="548640" y="566928"/>
          <a:ext cx="11091672" cy="5606186"/>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 xml:space="preserve">Aprobar los casos que se trasladarán al cobro extrajudicial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e) Dar seguimiento a los casos que han sido aprobados para ser trasladados a recuperación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e) </a:t>
                      </a:r>
                      <a:r>
                        <a:rPr lang="es-SV" sz="1000" b="1" i="0" u="sng">
                          <a:solidFill>
                            <a:srgbClr val="00376E"/>
                          </a:solidFill>
                          <a:latin typeface="Arial"/>
                        </a:rPr>
                        <a:t>Aprobar y</a:t>
                      </a:r>
                      <a:r>
                        <a:rPr lang="es-SV" sz="1000" b="0" i="0">
                          <a:solidFill>
                            <a:srgbClr val="1B2333"/>
                          </a:solidFill>
                          <a:latin typeface="Arial"/>
                        </a:rPr>
                        <a:t xml:space="preserve"> dar seguimiento a los casos que </a:t>
                      </a:r>
                      <a:r>
                        <a:rPr lang="es-SV" sz="1000" b="1" i="0" u="sng">
                          <a:solidFill>
                            <a:srgbClr val="00376E"/>
                          </a:solidFill>
                          <a:latin typeface="Arial"/>
                        </a:rPr>
                        <a:t>se trasladarán al cobro prejudicial, notificando por escrito al Consejo de Administración para su ratificación Una vez ratificado el traslado a la vía judicial, dará seguimiento a los casos</a:t>
                      </a:r>
                      <a:r>
                        <a:rPr lang="es-SV" sz="1000" b="0" i="0">
                          <a:solidFill>
                            <a:srgbClr val="1B2333"/>
                          </a:solidFill>
                          <a:latin typeface="Arial"/>
                        </a:rPr>
                        <a:t xml:space="preserve"> </a:t>
                      </a:r>
                      <a:r>
                        <a:rPr lang="es-SV" sz="1000" b="1" i="0" u="sng">
                          <a:solidFill>
                            <a:srgbClr val="00376E"/>
                          </a:solidFill>
                          <a:latin typeface="Arial"/>
                        </a:rPr>
                        <a:t>aprobados.</a:t>
                      </a:r>
                      <a:r>
                        <a:rPr lang="es-SV" sz="1000" b="0" i="0">
                          <a:solidFill>
                            <a:srgbClr val="1B2333"/>
                          </a:solidFill>
                          <a:latin typeface="Arial"/>
                        </a:rPr>
                        <a:t xml:space="preserve"> </a:t>
                      </a:r>
                      <a:r>
                        <a:rPr lang="es-SV" sz="1000" b="1" i="0" u="sng">
                          <a:solidFill>
                            <a:srgbClr val="00376E"/>
                          </a:solidFill>
                          <a:latin typeface="Arial"/>
                        </a:rPr>
                        <a:t>Si se logra un arreglo de pago antes de que fuere asignado</a:t>
                      </a:r>
                      <a:r>
                        <a:rPr lang="es-SV" sz="1000" b="0" i="0">
                          <a:solidFill>
                            <a:srgbClr val="1B2333"/>
                          </a:solidFill>
                          <a:latin typeface="Arial"/>
                        </a:rPr>
                        <a:t xml:space="preserve"> </a:t>
                      </a:r>
                      <a:r>
                        <a:rPr lang="es-SV" sz="1000" b="1" i="0" u="sng">
                          <a:solidFill>
                            <a:srgbClr val="00376E"/>
                          </a:solidFill>
                          <a:latin typeface="Arial"/>
                        </a:rPr>
                        <a:t>a</a:t>
                      </a:r>
                      <a:r>
                        <a:rPr lang="es-SV" sz="1000" b="0" i="0">
                          <a:solidFill>
                            <a:srgbClr val="1B2333"/>
                          </a:solidFill>
                          <a:latin typeface="Arial"/>
                        </a:rPr>
                        <a:t xml:space="preserve"> </a:t>
                      </a:r>
                      <a:r>
                        <a:rPr lang="es-SV" sz="1000" b="1" i="0" u="sng">
                          <a:solidFill>
                            <a:srgbClr val="00376E"/>
                          </a:solidFill>
                          <a:latin typeface="Arial"/>
                        </a:rPr>
                        <a:t>un apoderado judicial, el Comité deberá notificar por escrito al Consejo de Administración, solicitando revocar el acuerdo de traslado.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 xml:space="preserve">Aprobar los casos que se trasladarán al cobro por la vía judicial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f) Aprobar y dar seguimiento a los casos que se trasladarán al cobro prejudicial, notificando por escrito al Consejo de Administración para su ratificación Una vez ratificado el traslado a la vía judicial, dará seguimiento a los casos aprobados. Si se logra un arreglo de pago antes de que fuere asignado a un apoderado judicial, el Comité deberá notificar por escrito al Consejo de Administración, solicitando revocar el acuerdo de traslado.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f) </a:t>
                      </a:r>
                      <a:r>
                        <a:rPr lang="es-SV" sz="1000" b="1" i="0" u="sng">
                          <a:solidFill>
                            <a:srgbClr val="00376E"/>
                          </a:solidFill>
                          <a:latin typeface="Arial"/>
                        </a:rPr>
                        <a:t>Llevar un Libro de Actas de las sesiones ordinarias</a:t>
                      </a:r>
                      <a:r>
                        <a:rPr lang="es-SV" sz="1000" b="0" i="0">
                          <a:solidFill>
                            <a:srgbClr val="1B2333"/>
                          </a:solidFill>
                          <a:latin typeface="Arial"/>
                        </a:rPr>
                        <a:t xml:space="preserve"> </a:t>
                      </a:r>
                      <a:r>
                        <a:rPr lang="es-SV" sz="1000" b="1" i="0" u="sng">
                          <a:solidFill>
                            <a:srgbClr val="00376E"/>
                          </a:solidFill>
                          <a:latin typeface="Arial"/>
                        </a:rPr>
                        <a:t>y</a:t>
                      </a:r>
                      <a:r>
                        <a:rPr lang="es-SV" sz="1000" b="0" i="0">
                          <a:solidFill>
                            <a:srgbClr val="1B2333"/>
                          </a:solidFill>
                          <a:latin typeface="Arial"/>
                        </a:rPr>
                        <a:t xml:space="preserve"> </a:t>
                      </a:r>
                      <a:r>
                        <a:rPr lang="es-SV" sz="1000" b="1" i="0" u="sng">
                          <a:solidFill>
                            <a:srgbClr val="00376E"/>
                          </a:solidFill>
                          <a:latin typeface="Arial"/>
                        </a:rPr>
                        <a:t>extraordinarias. Levantar un acta por cada sesión, la cual se leerá y ratificará en la próxima reunión para hacer</a:t>
                      </a:r>
                      <a:r>
                        <a:rPr lang="es-SV" sz="1000" b="0" i="0">
                          <a:solidFill>
                            <a:srgbClr val="1B2333"/>
                          </a:solidFill>
                          <a:latin typeface="Arial"/>
                        </a:rPr>
                        <a:t xml:space="preserve"> </a:t>
                      </a:r>
                      <a:r>
                        <a:rPr lang="es-SV" sz="1000" b="1" i="0" u="sng">
                          <a:solidFill>
                            <a:srgbClr val="00376E"/>
                          </a:solidFill>
                          <a:latin typeface="Arial"/>
                        </a:rPr>
                        <a:t>los</a:t>
                      </a:r>
                      <a:r>
                        <a:rPr lang="es-SV" sz="1000" b="0" i="0">
                          <a:solidFill>
                            <a:srgbClr val="1B2333"/>
                          </a:solidFill>
                          <a:latin typeface="Arial"/>
                        </a:rPr>
                        <a:t xml:space="preserve"> </a:t>
                      </a:r>
                      <a:r>
                        <a:rPr lang="es-SV" sz="1000" b="1" i="0" u="sng">
                          <a:solidFill>
                            <a:srgbClr val="00376E"/>
                          </a:solidFill>
                          <a:latin typeface="Arial"/>
                        </a:rPr>
                        <a:t>asientos respectivos. El Libro</a:t>
                      </a:r>
                      <a:r>
                        <a:rPr lang="es-SV" sz="1000" b="0" i="0">
                          <a:solidFill>
                            <a:srgbClr val="1B2333"/>
                          </a:solidFill>
                          <a:latin typeface="Arial"/>
                        </a:rPr>
                        <a:t xml:space="preserve"> </a:t>
                      </a:r>
                      <a:r>
                        <a:rPr lang="es-SV" sz="1000" b="1" i="0" u="sng">
                          <a:solidFill>
                            <a:srgbClr val="00376E"/>
                          </a:solidFill>
                          <a:latin typeface="Arial"/>
                        </a:rPr>
                        <a:t>se</a:t>
                      </a:r>
                      <a:r>
                        <a:rPr lang="es-SV" sz="1000" b="0" i="0">
                          <a:solidFill>
                            <a:srgbClr val="1B2333"/>
                          </a:solidFill>
                          <a:latin typeface="Arial"/>
                        </a:rPr>
                        <a:t xml:space="preserve"> </a:t>
                      </a:r>
                      <a:r>
                        <a:rPr lang="es-SV" sz="1000" b="1" i="0" u="sng">
                          <a:solidFill>
                            <a:srgbClr val="00376E"/>
                          </a:solidFill>
                          <a:latin typeface="Arial"/>
                        </a:rPr>
                        <a:t>deberá</a:t>
                      </a:r>
                      <a:r>
                        <a:rPr lang="es-SV" sz="1000" b="0" i="0">
                          <a:solidFill>
                            <a:srgbClr val="1B2333"/>
                          </a:solidFill>
                          <a:latin typeface="Arial"/>
                        </a:rPr>
                        <a:t xml:space="preserve"> </a:t>
                      </a:r>
                      <a:r>
                        <a:rPr lang="es-SV" sz="1000" b="1" i="0" u="sng">
                          <a:solidFill>
                            <a:srgbClr val="00376E"/>
                          </a:solidFill>
                          <a:latin typeface="Arial"/>
                        </a:rPr>
                        <a:t>mantener debidamente actualizado.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g) Dar seguimiento mensual a los casos que han sido aprobados para ser trasladados a recuperación por la vía judicial en los últimos 30 días.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g) </a:t>
                      </a:r>
                      <a:r>
                        <a:rPr lang="es-SV" sz="1000" b="1" i="0" u="sng">
                          <a:solidFill>
                            <a:srgbClr val="00376E"/>
                          </a:solidFill>
                          <a:latin typeface="Arial"/>
                        </a:rPr>
                        <a:t>Presentar al Consejo de Administración un informe</a:t>
                      </a:r>
                      <a:r>
                        <a:rPr lang="es-SV" sz="1000" b="0" i="0">
                          <a:solidFill>
                            <a:srgbClr val="1B2333"/>
                          </a:solidFill>
                          <a:latin typeface="Arial"/>
                        </a:rPr>
                        <a:t xml:space="preserve"> </a:t>
                      </a:r>
                      <a:r>
                        <a:rPr lang="es-SV" sz="1000" b="1" i="0" u="sng">
                          <a:solidFill>
                            <a:srgbClr val="00376E"/>
                          </a:solidFill>
                          <a:latin typeface="Arial"/>
                        </a:rPr>
                        <a:t>mensual</a:t>
                      </a:r>
                      <a:r>
                        <a:rPr lang="es-SV" sz="1000" b="0" i="0">
                          <a:solidFill>
                            <a:srgbClr val="1B2333"/>
                          </a:solidFill>
                          <a:latin typeface="Arial"/>
                        </a:rPr>
                        <a:t xml:space="preserve"> </a:t>
                      </a:r>
                      <a:r>
                        <a:rPr lang="es-SV" sz="1000" b="1" i="0" u="sng">
                          <a:solidFill>
                            <a:srgbClr val="00376E"/>
                          </a:solidFill>
                          <a:latin typeface="Arial"/>
                        </a:rPr>
                        <a:t>de sus actividades y, asimismo presentar un informe anual de labores al Consejo de Administración para que</a:t>
                      </a:r>
                      <a:r>
                        <a:rPr lang="es-SV" sz="1000" b="0" i="0">
                          <a:solidFill>
                            <a:srgbClr val="1B2333"/>
                          </a:solidFill>
                          <a:latin typeface="Arial"/>
                        </a:rPr>
                        <a:t xml:space="preserve"> </a:t>
                      </a:r>
                      <a:r>
                        <a:rPr lang="es-SV" sz="1000" b="1" i="0" u="sng">
                          <a:solidFill>
                            <a:srgbClr val="00376E"/>
                          </a:solidFill>
                          <a:latin typeface="Arial"/>
                        </a:rPr>
                        <a:t>a</a:t>
                      </a:r>
                      <a:r>
                        <a:rPr lang="es-SV" sz="1000" b="0" i="0">
                          <a:solidFill>
                            <a:srgbClr val="1B2333"/>
                          </a:solidFill>
                          <a:latin typeface="Arial"/>
                        </a:rPr>
                        <a:t xml:space="preserve"> </a:t>
                      </a:r>
                      <a:r>
                        <a:rPr lang="es-SV" sz="1000" b="1" i="0" u="sng">
                          <a:solidFill>
                            <a:srgbClr val="00376E"/>
                          </a:solidFill>
                          <a:latin typeface="Arial"/>
                        </a:rPr>
                        <a:t>su vez sea presentado</a:t>
                      </a:r>
                      <a:r>
                        <a:rPr lang="es-SV" sz="1000" b="0" i="0">
                          <a:solidFill>
                            <a:srgbClr val="1B2333"/>
                          </a:solidFill>
                          <a:latin typeface="Arial"/>
                        </a:rPr>
                        <a:t xml:space="preserve"> </a:t>
                      </a:r>
                      <a:r>
                        <a:rPr lang="es-SV" sz="1000" b="1" i="0" u="sng">
                          <a:solidFill>
                            <a:srgbClr val="00376E"/>
                          </a:solidFill>
                          <a:latin typeface="Arial"/>
                        </a:rPr>
                        <a:t>a</a:t>
                      </a:r>
                      <a:r>
                        <a:rPr lang="es-SV" sz="1000" b="0" i="0">
                          <a:solidFill>
                            <a:srgbClr val="1B2333"/>
                          </a:solidFill>
                          <a:latin typeface="Arial"/>
                        </a:rPr>
                        <a:t xml:space="preserve"> </a:t>
                      </a:r>
                      <a:r>
                        <a:rPr lang="es-SV" sz="1000" b="1" i="0" u="sng">
                          <a:solidFill>
                            <a:srgbClr val="00376E"/>
                          </a:solidFill>
                          <a:latin typeface="Arial"/>
                        </a:rPr>
                        <a:t>la</a:t>
                      </a:r>
                      <a:r>
                        <a:rPr lang="es-SV" sz="1000" b="0" i="0">
                          <a:solidFill>
                            <a:srgbClr val="1B2333"/>
                          </a:solidFill>
                          <a:latin typeface="Arial"/>
                        </a:rPr>
                        <a:t xml:space="preserve"> </a:t>
                      </a:r>
                      <a:r>
                        <a:rPr lang="es-SV" sz="1000" b="1" i="0" u="sng">
                          <a:solidFill>
                            <a:srgbClr val="00376E"/>
                          </a:solidFill>
                          <a:latin typeface="Arial"/>
                        </a:rPr>
                        <a:t>Asamblea General de Asociados. De este Informe enviará copia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37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h) Revisar trimestralmente los avances de los casos de la cartera 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h) Revisar </a:t>
                      </a:r>
                      <a:r>
                        <a:rPr lang="es-SV" sz="1000" b="1" i="0" u="sng">
                          <a:solidFill>
                            <a:srgbClr val="00376E"/>
                          </a:solidFill>
                          <a:latin typeface="Arial"/>
                        </a:rPr>
                        <a:t>el Reglamento y las Políticas para la recuperación, con el fin de proponer al Consejo de Administración</a:t>
                      </a:r>
                      <a:r>
                        <a:rPr lang="es-SV" sz="1000" b="0" i="0">
                          <a:solidFill>
                            <a:srgbClr val="1B2333"/>
                          </a:solidFill>
                          <a:latin typeface="Arial"/>
                        </a:rPr>
                        <a:t xml:space="preserve"> </a:t>
                      </a:r>
                      <a:r>
                        <a:rPr lang="es-SV" sz="1000" b="1" i="0" u="sng">
                          <a:solidFill>
                            <a:srgbClr val="00376E"/>
                          </a:solidFill>
                          <a:latin typeface="Arial"/>
                        </a:rPr>
                        <a:t>los</a:t>
                      </a:r>
                      <a:r>
                        <a:rPr lang="es-SV" sz="1000" b="0" i="0">
                          <a:solidFill>
                            <a:srgbClr val="1B2333"/>
                          </a:solidFill>
                          <a:latin typeface="Arial"/>
                        </a:rPr>
                        <a:t xml:space="preserve"> </a:t>
                      </a:r>
                      <a:r>
                        <a:rPr lang="es-SV" sz="1000" b="1" i="0" u="sng">
                          <a:solidFill>
                            <a:srgbClr val="00376E"/>
                          </a:solidFill>
                          <a:latin typeface="Arial"/>
                        </a:rPr>
                        <a:t>cambios necesarios.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i) Llevar un Libro de Actas de las sesiones ordinarias y extraordinarias. Levantar un acta por cada sesión, la cual se leerá y ratificará en la próxima reunión para hacer los asientos respectivos. El Libro se deberá mantener debidamente actualizado.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i) </a:t>
                      </a:r>
                      <a:r>
                        <a:rPr lang="es-SV" sz="1000" b="1" i="0" u="sng">
                          <a:solidFill>
                            <a:srgbClr val="00376E"/>
                          </a:solidFill>
                          <a:latin typeface="Arial"/>
                        </a:rPr>
                        <a:t>Elaborar el Plan</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trabajo anual y su respectivo presupuesto, a solicitud del Consejo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Administración</a:t>
                      </a:r>
                      <a:r>
                        <a:rPr lang="es-SV" sz="1000" b="0" i="0">
                          <a:solidFill>
                            <a:srgbClr val="1B2333"/>
                          </a:solidFill>
                          <a:latin typeface="Arial"/>
                        </a:rPr>
                        <a:t xml:space="preserve"> </a:t>
                      </a:r>
                      <a:r>
                        <a:rPr lang="es-SV" sz="1000" b="1" i="0" u="sng">
                          <a:solidFill>
                            <a:srgbClr val="00376E"/>
                          </a:solidFill>
                          <a:latin typeface="Arial"/>
                        </a:rPr>
                        <a:t>para</a:t>
                      </a:r>
                      <a:r>
                        <a:rPr lang="es-SV" sz="1000" b="0" i="0">
                          <a:solidFill>
                            <a:srgbClr val="1B2333"/>
                          </a:solidFill>
                          <a:latin typeface="Arial"/>
                        </a:rPr>
                        <a:t xml:space="preserve"> </a:t>
                      </a:r>
                      <a:r>
                        <a:rPr lang="es-SV" sz="1000" b="1" i="0" u="sng">
                          <a:solidFill>
                            <a:srgbClr val="00376E"/>
                          </a:solidFill>
                          <a:latin typeface="Arial"/>
                        </a:rPr>
                        <a:t>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(3 de 4)</a:t>
            </a:r>
          </a:p>
        </p:txBody>
      </p:sp>
      <p:graphicFrame>
        <p:nvGraphicFramePr>
          <p:cNvPr id="16" name="Table 15"/>
          <p:cNvGraphicFramePr>
            <a:graphicFrameLocks noGrp="1"/>
          </p:cNvGraphicFramePr>
          <p:nvPr/>
        </p:nvGraphicFramePr>
        <p:xfrm>
          <a:off x="548640" y="566928"/>
          <a:ext cx="11091672" cy="5351068"/>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j) Presentar al Consejo de Administración un informe mensual de sus actividades y, anualmente presentar un informe de labores para ser trasladado por el Consejo de Administración a la Asamblea General de Asociados donde podrá incluir las observaciones y recomendaciones que estime conveniente para el mejoramiento de sus funciones. De este Informe enviará copia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j) </a:t>
                      </a:r>
                      <a:r>
                        <a:rPr lang="es-SV" sz="1000" b="1" i="0" u="sng">
                          <a:solidFill>
                            <a:srgbClr val="00376E"/>
                          </a:solidFill>
                          <a:latin typeface="Arial"/>
                        </a:rPr>
                        <a:t>Cuando lo considere necesario, podrá programar y participar en reuniones conjuntas con el Comité</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k) Revisar el Reglamento y las Políticas para la recuperación, con el fin de proponer al Consejo de Administración los cambios necesarios.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k) </a:t>
                      </a:r>
                      <a:r>
                        <a:rPr lang="es-SV" sz="1000" b="1" i="0" u="sng">
                          <a:solidFill>
                            <a:srgbClr val="00376E"/>
                          </a:solidFill>
                          <a:latin typeface="Arial"/>
                        </a:rPr>
                        <a:t>Solicitar al Departamento de Soluciones Financieras, reportes con relación al estado de</a:t>
                      </a:r>
                      <a:r>
                        <a:rPr lang="es-SV" sz="1000" b="0" i="0">
                          <a:solidFill>
                            <a:srgbClr val="1B2333"/>
                          </a:solidFill>
                          <a:latin typeface="Arial"/>
                        </a:rPr>
                        <a:t xml:space="preserve"> </a:t>
                      </a:r>
                      <a:r>
                        <a:rPr lang="es-SV" sz="1000" b="1" i="0" u="sng">
                          <a:solidFill>
                            <a:srgbClr val="00376E"/>
                          </a:solidFill>
                          <a:latin typeface="Arial"/>
                        </a:rPr>
                        <a:t>la</a:t>
                      </a:r>
                      <a:r>
                        <a:rPr lang="es-SV" sz="1000" b="0" i="0">
                          <a:solidFill>
                            <a:srgbClr val="1B2333"/>
                          </a:solidFill>
                          <a:latin typeface="Arial"/>
                        </a:rPr>
                        <a:t xml:space="preserve"> </a:t>
                      </a:r>
                      <a:r>
                        <a:rPr lang="es-SV" sz="1000" b="1" i="0" u="sng">
                          <a:solidFill>
                            <a:srgbClr val="00376E"/>
                          </a:solidFill>
                          <a:latin typeface="Arial"/>
                        </a:rPr>
                        <a:t>cartera, saldos en mora o cualquier otra información que considere necesaria.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 xml:space="preserve">Elaborar el Plan de trabajo anual y su respectivo presupuesto, y presentarlo al Consejo de Administración para su aprobación.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l) Elaborar el Plan de trabajo anual y su respectivo presupuesto, a solicitud del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l) </a:t>
                      </a:r>
                      <a:r>
                        <a:rPr lang="es-SV" sz="1000" b="1" i="0" u="sng">
                          <a:solidFill>
                            <a:srgbClr val="00376E"/>
                          </a:solidFill>
                          <a:latin typeface="Arial"/>
                        </a:rPr>
                        <a:t>Dar seguimiento a los casos presentados por</a:t>
                      </a:r>
                      <a:r>
                        <a:rPr lang="es-SV" sz="1000" b="0" i="0">
                          <a:solidFill>
                            <a:srgbClr val="1B2333"/>
                          </a:solidFill>
                          <a:latin typeface="Arial"/>
                        </a:rPr>
                        <a:t xml:space="preserve"> </a:t>
                      </a:r>
                      <a:r>
                        <a:rPr lang="es-SV" sz="1000" b="1" i="0" u="sng">
                          <a:solidFill>
                            <a:srgbClr val="00376E"/>
                          </a:solidFill>
                          <a:latin typeface="Arial"/>
                        </a:rPr>
                        <a:t>el</a:t>
                      </a:r>
                      <a:r>
                        <a:rPr lang="es-SV" sz="1000" b="0" i="0">
                          <a:solidFill>
                            <a:srgbClr val="1B2333"/>
                          </a:solidFill>
                          <a:latin typeface="Arial"/>
                        </a:rPr>
                        <a:t xml:space="preserve"> </a:t>
                      </a:r>
                      <a:r>
                        <a:rPr lang="es-SV" sz="1000" b="1" i="0" u="sng">
                          <a:solidFill>
                            <a:srgbClr val="00376E"/>
                          </a:solidFill>
                          <a:latin typeface="Arial"/>
                        </a:rPr>
                        <a:t>Departamento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Soluciones Financieras al Comité, cuando así se ha programado en sesiones previas</a:t>
                      </a:r>
                      <a:r>
                        <a:rPr lang="es-SV" sz="1000" b="0" i="0">
                          <a:solidFill>
                            <a:srgbClr val="1B2333"/>
                          </a:solidFill>
                          <a:latin typeface="Arial"/>
                        </a:rPr>
                        <a:t xml:space="preserve"> </a:t>
                      </a:r>
                      <a:r>
                        <a:rPr lang="es-SV" sz="1000" b="1" i="0" u="sng">
                          <a:solidFill>
                            <a:srgbClr val="00376E"/>
                          </a:solidFill>
                          <a:latin typeface="Arial"/>
                        </a:rPr>
                        <a:t>del</a:t>
                      </a:r>
                      <a:r>
                        <a:rPr lang="es-SV" sz="1000" b="0" i="0">
                          <a:solidFill>
                            <a:srgbClr val="1B2333"/>
                          </a:solidFill>
                          <a:latin typeface="Arial"/>
                        </a:rPr>
                        <a:t xml:space="preserve"> </a:t>
                      </a:r>
                      <a:r>
                        <a:rPr lang="es-SV" sz="1000" b="1" i="0" u="sng">
                          <a:solidFill>
                            <a:srgbClr val="00376E"/>
                          </a:solidFill>
                          <a:latin typeface="Arial"/>
                        </a:rPr>
                        <a:t>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 xml:space="preserve">Programar y participar en reuniones conjuntas, semestralmente con el Comité de Créditos y cuando lo considere necesario podrá invitar a miembros de otros departamentos.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m) Cuando lo considere necesario, podrá programar y participar en reuniones conjuntas con el Comité de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 xml:space="preserve">Conocer mensualmente o cuando lo considere necesario, los Reportes de mora, en la cual se detallará la antigüedad de la mora (ver políticas.)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n) Solicitar al Departamento de Soluciones Financieras, reportes con relación al estado de la cartera, saldos en mora o cualquier otra información que considere necesaria.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 xml:space="preserve">Dar seguimiento calendarizado a los casos presentados por el Departamento de Cobros al Comité.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(4 de 4)</a:t>
            </a:r>
          </a:p>
        </p:txBody>
      </p:sp>
      <p:graphicFrame>
        <p:nvGraphicFramePr>
          <p:cNvPr id="16" name="Table 15"/>
          <p:cNvGraphicFramePr>
            <a:graphicFrameLocks noGrp="1"/>
          </p:cNvGraphicFramePr>
          <p:nvPr/>
        </p:nvGraphicFramePr>
        <p:xfrm>
          <a:off x="548640" y="566928"/>
          <a:ext cx="11091672" cy="3952036"/>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o) Dar seguimiento a los casos presentados por el Departamento de Soluciones Financieras al Comité, cuando así se ha programado en sesiones previas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El Comité de Cobros y Recuperación de Préstamos en Mora está integrado por cuatro miembros y un delegado de la Junta de Vigilancia en calidad de observador. El cargo de Presidente, será ocupado por un </a:t>
                      </a:r>
                      <a:r>
                        <a:rPr lang="es-SV" sz="1000" b="0" i="0" strike="sngStrike">
                          <a:solidFill>
                            <a:srgbClr val="B3261E"/>
                          </a:solidFill>
                          <a:latin typeface="Arial"/>
                        </a:rPr>
                        <a:t>miembro</a:t>
                      </a:r>
                      <a:r>
                        <a:rPr lang="es-SV" sz="1000" b="0" i="0">
                          <a:solidFill>
                            <a:srgbClr val="1B2333"/>
                          </a:solidFill>
                          <a:latin typeface="Arial"/>
                        </a:rPr>
                        <a:t xml:space="preserve"> Director del Consejo de Administración, el Secretario, Vocal y Suplente, serán nombrados por el Consejo de Administración a propuesta del Presidente del Comité. El Representante de la Junta de Vigilancia será nombrado por ese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El Comité de Cobros y Recuperación está integrado por cuatro miembros y un delegado de la Junta de Vigilancia en calidad de observador. El cargo de presidente será ocupado por un director del Consejo de Administración, el secretario, Vocal y Suplente, serán nombrados por el Consejo de Administración a propuesta del presidente del Comité. El Representante de la Junta de Vigilancia será nombrado por ese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Los requisitos para ser miembro del Comité de Cobros y Recuperación se detallan en Anexo 6 y que forma parte integrante de este Código.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Los requisitos para ser miembro del Comité de Cobros y Recuperación se detallan en Anexo 6 </a:t>
                      </a:r>
                      <a:r>
                        <a:rPr lang="es-SV" sz="1000" b="1" i="0" u="sng">
                          <a:solidFill>
                            <a:srgbClr val="00376E"/>
                          </a:solidFill>
                          <a:latin typeface="Arial"/>
                        </a:rPr>
                        <a:t>del Código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 xml:space="preserve">El Comité se reunirá ordinariamente una vez por semana a fin de analizar los casos presentados por el Departamento de Cobros de la cartera de préstamos y tarjeta de crédito en donde se han agotado los esfuerzos de la gestión administrativa sin resultados concretos y que presentan categoría de riesgo Deficientes, de Difícil Recuperación e Irrecuperables; pudiendo sesionar de forma extraordinaria cuando las circunstancias lo ameriten.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4665268"/>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4646980"/>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y de Recuperación Financiera (1 de 4)</a:t>
            </a:r>
          </a:p>
        </p:txBody>
      </p:sp>
      <p:graphicFrame>
        <p:nvGraphicFramePr>
          <p:cNvPr id="16" name="Table 15"/>
          <p:cNvGraphicFramePr>
            <a:graphicFrameLocks noGrp="1"/>
          </p:cNvGraphicFramePr>
          <p:nvPr/>
        </p:nvGraphicFramePr>
        <p:xfrm>
          <a:off x="548640" y="5067604"/>
          <a:ext cx="11091672" cy="1038758"/>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Denominación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COMITÉ DE FINANZAS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COMITÉ DE FINANZAS </a:t>
                      </a:r>
                      <a:r>
                        <a:rPr lang="es-SV" sz="1000" b="1" i="0" u="sng">
                          <a:solidFill>
                            <a:srgbClr val="00376E"/>
                          </a:solidFill>
                          <a:latin typeface="Arial"/>
                        </a:rPr>
                        <a:t>Y DE RECUPERACIÓN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El Comité de Finanzas tiene como finalidad lograr la efectiva y eficiente administración de los recursos financieros de COMEDICA 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y de Recuperación Financiera (2 de 4)</a:t>
            </a:r>
          </a:p>
        </p:txBody>
      </p:sp>
      <p:graphicFrame>
        <p:nvGraphicFramePr>
          <p:cNvPr id="16" name="Table 15"/>
          <p:cNvGraphicFramePr>
            <a:graphicFrameLocks noGrp="1"/>
          </p:cNvGraphicFramePr>
          <p:nvPr/>
        </p:nvGraphicFramePr>
        <p:xfrm>
          <a:off x="548640" y="566928"/>
          <a:ext cx="11091672" cy="579821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El Comité de Finanzas, tiene las siguientes atribuciones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El Comité de Finanzas </a:t>
                      </a:r>
                      <a:r>
                        <a:rPr lang="es-SV" sz="1000" b="1" i="0" u="sng">
                          <a:solidFill>
                            <a:srgbClr val="00376E"/>
                          </a:solidFill>
                          <a:latin typeface="Arial"/>
                        </a:rPr>
                        <a:t>y de Recuperación Financiera,</a:t>
                      </a:r>
                      <a:r>
                        <a:rPr lang="es-SV" sz="1000" b="0" i="0">
                          <a:solidFill>
                            <a:srgbClr val="1B2333"/>
                          </a:solidFill>
                          <a:latin typeface="Arial"/>
                        </a:rPr>
                        <a:t xml:space="preserve"> tiene las siguientes atribuciones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j) Evaluar políticas relacionadas con los seguros de la Cooperativa y pólizas de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j) </a:t>
                      </a:r>
                      <a:r>
                        <a:rPr lang="es-SV" sz="1000" b="1" i="0" u="sng">
                          <a:solidFill>
                            <a:srgbClr val="00376E"/>
                          </a:solidFill>
                          <a:latin typeface="Arial"/>
                        </a:rPr>
                        <a:t>Recomendar Líneas específicas</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Crédito, para Saneamiento</a:t>
                      </a:r>
                      <a:r>
                        <a:rPr lang="es-SV" sz="1000" b="0" i="0">
                          <a:solidFill>
                            <a:srgbClr val="1B2333"/>
                          </a:solidFill>
                          <a:latin typeface="Arial"/>
                        </a:rPr>
                        <a:t xml:space="preserve"> </a:t>
                      </a:r>
                      <a:r>
                        <a:rPr lang="es-SV" sz="1000" b="1" i="0" u="sng">
                          <a:solidFill>
                            <a:srgbClr val="00376E"/>
                          </a:solidFill>
                          <a:latin typeface="Arial"/>
                        </a:rPr>
                        <a:t>y</a:t>
                      </a:r>
                      <a:r>
                        <a:rPr lang="es-SV" sz="1000" b="0" i="0">
                          <a:solidFill>
                            <a:srgbClr val="1B2333"/>
                          </a:solidFill>
                          <a:latin typeface="Arial"/>
                        </a:rPr>
                        <a:t xml:space="preserve"> </a:t>
                      </a:r>
                      <a:r>
                        <a:rPr lang="es-SV" sz="1000" b="1" i="0" u="sng">
                          <a:solidFill>
                            <a:srgbClr val="00376E"/>
                          </a:solidFill>
                          <a:latin typeface="Arial"/>
                        </a:rPr>
                        <a:t>Salvatajes.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k) Analizar ofertas, negociar precios, términos y condiciones de Pólizas de Seguros Institucionales y de Asociados, y hacer recomendaciones al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k) </a:t>
                      </a:r>
                      <a:r>
                        <a:rPr lang="es-SV" sz="1000" b="1" i="0" u="sng">
                          <a:solidFill>
                            <a:srgbClr val="00376E"/>
                          </a:solidFill>
                          <a:latin typeface="Arial"/>
                        </a:rPr>
                        <a:t>Definir políticas para el cumplimiento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las reservas</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l) Recomendar Líneas específicas de Crédito, para Saneamiento y Salvatajes.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l) </a:t>
                      </a:r>
                      <a:r>
                        <a:rPr lang="es-SV" sz="1000" b="1" i="0" u="sng">
                          <a:solidFill>
                            <a:srgbClr val="00376E"/>
                          </a:solidFill>
                          <a:latin typeface="Arial"/>
                        </a:rPr>
                        <a:t>Evaluar Estudios</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Factibilidad</a:t>
                      </a:r>
                      <a:r>
                        <a:rPr lang="es-SV" sz="1000" b="0" i="0">
                          <a:solidFill>
                            <a:srgbClr val="1B2333"/>
                          </a:solidFill>
                          <a:latin typeface="Arial"/>
                        </a:rPr>
                        <a:t xml:space="preserve"> </a:t>
                      </a:r>
                      <a:r>
                        <a:rPr lang="es-SV" sz="1000" b="1" i="0" u="sng">
                          <a:solidFill>
                            <a:srgbClr val="00376E"/>
                          </a:solidFill>
                          <a:latin typeface="Arial"/>
                        </a:rPr>
                        <a:t>para</a:t>
                      </a:r>
                      <a:r>
                        <a:rPr lang="es-SV" sz="1000" b="0" i="0">
                          <a:solidFill>
                            <a:srgbClr val="1B2333"/>
                          </a:solidFill>
                          <a:latin typeface="Arial"/>
                        </a:rPr>
                        <a:t xml:space="preserve"> </a:t>
                      </a:r>
                      <a:r>
                        <a:rPr lang="es-SV" sz="1000" b="1" i="0" u="sng">
                          <a:solidFill>
                            <a:srgbClr val="00376E"/>
                          </a:solidFill>
                          <a:latin typeface="Arial"/>
                        </a:rPr>
                        <a:t>crear Agencias, ampliar servicios financieros o de inversiones.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m) Definir políticas para el cumplimiento de las reservas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m) </a:t>
                      </a:r>
                      <a:r>
                        <a:rPr lang="es-SV" sz="1000" b="1" i="0" u="sng">
                          <a:solidFill>
                            <a:srgbClr val="00376E"/>
                          </a:solidFill>
                          <a:latin typeface="Arial"/>
                        </a:rPr>
                        <a:t>Proponer planes contingentes por</a:t>
                      </a:r>
                      <a:r>
                        <a:rPr lang="es-SV" sz="1000" b="0" i="0">
                          <a:solidFill>
                            <a:srgbClr val="1B2333"/>
                          </a:solidFill>
                          <a:latin typeface="Arial"/>
                        </a:rPr>
                        <a:t xml:space="preserve"> </a:t>
                      </a:r>
                      <a:r>
                        <a:rPr lang="es-SV" sz="1000" b="1" i="0" u="sng">
                          <a:solidFill>
                            <a:srgbClr val="00376E"/>
                          </a:solidFill>
                          <a:latin typeface="Arial"/>
                        </a:rPr>
                        <a:t>liquidez</a:t>
                      </a:r>
                      <a:r>
                        <a:rPr lang="es-SV" sz="1000" b="0" i="0">
                          <a:solidFill>
                            <a:srgbClr val="1B2333"/>
                          </a:solidFill>
                          <a:latin typeface="Arial"/>
                        </a:rPr>
                        <a:t xml:space="preserve"> </a:t>
                      </a:r>
                      <a:r>
                        <a:rPr lang="es-SV" sz="1000" b="1" i="0" u="sng">
                          <a:solidFill>
                            <a:srgbClr val="00376E"/>
                          </a:solidFill>
                          <a:latin typeface="Arial"/>
                        </a:rPr>
                        <a:t>o rentabilidad.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n) Evaluar Estudios de Factibilidad para crear Agencias, ampliar servicios financieros o de inversiones.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n) Evaluar </a:t>
                      </a:r>
                      <a:r>
                        <a:rPr lang="es-SV" sz="1000" b="1" i="0" u="sng">
                          <a:solidFill>
                            <a:srgbClr val="00376E"/>
                          </a:solidFill>
                          <a:latin typeface="Arial"/>
                        </a:rPr>
                        <a:t>Planes Contingentes</a:t>
                      </a:r>
                      <a:r>
                        <a:rPr lang="es-SV" sz="1000" b="0" i="0">
                          <a:solidFill>
                            <a:srgbClr val="1B2333"/>
                          </a:solidFill>
                          <a:latin typeface="Arial"/>
                        </a:rPr>
                        <a:t xml:space="preserve"> </a:t>
                      </a:r>
                      <a:r>
                        <a:rPr lang="es-SV" sz="1000" b="1" i="0" u="sng">
                          <a:solidFill>
                            <a:srgbClr val="00376E"/>
                          </a:solidFill>
                          <a:latin typeface="Arial"/>
                        </a:rPr>
                        <a:t>para</a:t>
                      </a:r>
                      <a:r>
                        <a:rPr lang="es-SV" sz="1000" b="0" i="0">
                          <a:solidFill>
                            <a:srgbClr val="1B2333"/>
                          </a:solidFill>
                          <a:latin typeface="Arial"/>
                        </a:rPr>
                        <a:t xml:space="preserve"> </a:t>
                      </a:r>
                      <a:r>
                        <a:rPr lang="es-SV" sz="1000" b="1" i="0" u="sng">
                          <a:solidFill>
                            <a:srgbClr val="00376E"/>
                          </a:solidFill>
                          <a:latin typeface="Arial"/>
                        </a:rPr>
                        <a:t>prevenir Fraudes en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o) Proponer planes contingentes por liquidez o rentabilidad.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o) </a:t>
                      </a:r>
                      <a:r>
                        <a:rPr lang="es-SV" sz="1000" b="1" i="0" u="sng">
                          <a:solidFill>
                            <a:srgbClr val="00376E"/>
                          </a:solidFill>
                          <a:latin typeface="Arial"/>
                        </a:rPr>
                        <a:t>Verificar cumplimiento de límites de los niveles de concentración</a:t>
                      </a:r>
                      <a:r>
                        <a:rPr lang="es-SV" sz="1000" b="0" i="0">
                          <a:solidFill>
                            <a:srgbClr val="1B2333"/>
                          </a:solidFill>
                          <a:latin typeface="Arial"/>
                        </a:rPr>
                        <a:t xml:space="preserve"> </a:t>
                      </a:r>
                      <a:r>
                        <a:rPr lang="es-SV" sz="1000" b="1" i="0" u="sng">
                          <a:solidFill>
                            <a:srgbClr val="00376E"/>
                          </a:solidFill>
                          <a:latin typeface="Arial"/>
                        </a:rPr>
                        <a:t>por</a:t>
                      </a:r>
                      <a:r>
                        <a:rPr lang="es-SV" sz="1000" b="0" i="0">
                          <a:solidFill>
                            <a:srgbClr val="1B2333"/>
                          </a:solidFill>
                          <a:latin typeface="Arial"/>
                        </a:rPr>
                        <a:t xml:space="preserve"> </a:t>
                      </a:r>
                      <a:r>
                        <a:rPr lang="es-SV" sz="1000" b="1" i="0" u="sng">
                          <a:solidFill>
                            <a:srgbClr val="00376E"/>
                          </a:solidFill>
                          <a:latin typeface="Arial"/>
                        </a:rPr>
                        <a:t>tipos de fondeo y/o proveedores individuales.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61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p) Evaluar Planes Contingentes para prevenir Fraudes en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p) Evaluar </a:t>
                      </a:r>
                      <a:r>
                        <a:rPr lang="es-SV" sz="1000" b="1" i="0" u="sng">
                          <a:solidFill>
                            <a:srgbClr val="00376E"/>
                          </a:solidFill>
                          <a:latin typeface="Arial"/>
                        </a:rPr>
                        <a:t>políticas</a:t>
                      </a:r>
                      <a:r>
                        <a:rPr lang="es-SV" sz="1000" b="0" i="0">
                          <a:solidFill>
                            <a:srgbClr val="1B2333"/>
                          </a:solidFill>
                          <a:latin typeface="Arial"/>
                        </a:rPr>
                        <a:t xml:space="preserve"> </a:t>
                      </a:r>
                      <a:r>
                        <a:rPr lang="es-SV" sz="1000" b="1" i="0" u="sng">
                          <a:solidFill>
                            <a:srgbClr val="00376E"/>
                          </a:solidFill>
                          <a:latin typeface="Arial"/>
                        </a:rPr>
                        <a:t>para</a:t>
                      </a:r>
                      <a:r>
                        <a:rPr lang="es-SV" sz="1000" b="0" i="0">
                          <a:solidFill>
                            <a:srgbClr val="1B2333"/>
                          </a:solidFill>
                          <a:latin typeface="Arial"/>
                        </a:rPr>
                        <a:t xml:space="preserve"> </a:t>
                      </a:r>
                      <a:r>
                        <a:rPr lang="es-SV" sz="1000" b="1" i="0" u="sng">
                          <a:solidFill>
                            <a:srgbClr val="00376E"/>
                          </a:solidFill>
                          <a:latin typeface="Arial"/>
                        </a:rPr>
                        <a:t>minimizar los riesgos de</a:t>
                      </a:r>
                      <a:r>
                        <a:rPr lang="es-SV" sz="1000" b="0" i="0">
                          <a:solidFill>
                            <a:srgbClr val="1B2333"/>
                          </a:solidFill>
                          <a:latin typeface="Arial"/>
                        </a:rPr>
                        <a:t xml:space="preserv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62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q) Verificar cumplimiento de límites de los niveles de concentración por tipos de fondeo y/o proveedores individuales.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q) </a:t>
                      </a:r>
                      <a:r>
                        <a:rPr lang="es-SV" sz="1000" b="1" i="0" u="sng">
                          <a:solidFill>
                            <a:srgbClr val="00376E"/>
                          </a:solidFill>
                          <a:latin typeface="Arial"/>
                        </a:rPr>
                        <a:t>Evaluar, revisar y proponer al Consejo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Administración, el Plan</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Recuperación y sus mejoras futuras;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63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r) Evaluar políticas para minimizar los riesgos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r) </a:t>
                      </a:r>
                      <a:r>
                        <a:rPr lang="es-SV" sz="1000" b="1" i="0" u="sng">
                          <a:solidFill>
                            <a:srgbClr val="00376E"/>
                          </a:solidFill>
                          <a:latin typeface="Arial"/>
                        </a:rPr>
                        <a:t>Proponer con fundamento razonado</a:t>
                      </a:r>
                      <a:r>
                        <a:rPr lang="es-SV" sz="1000" b="0" i="0">
                          <a:solidFill>
                            <a:srgbClr val="1B2333"/>
                          </a:solidFill>
                          <a:latin typeface="Arial"/>
                        </a:rPr>
                        <a:t xml:space="preserve"> </a:t>
                      </a:r>
                      <a:r>
                        <a:rPr lang="es-SV" sz="1000" b="1" i="0" u="sng">
                          <a:solidFill>
                            <a:srgbClr val="00376E"/>
                          </a:solidFill>
                          <a:latin typeface="Arial"/>
                        </a:rPr>
                        <a:t>los</a:t>
                      </a:r>
                      <a:r>
                        <a:rPr lang="es-SV" sz="1000" b="0" i="0">
                          <a:solidFill>
                            <a:srgbClr val="1B2333"/>
                          </a:solidFill>
                          <a:latin typeface="Arial"/>
                        </a:rPr>
                        <a:t xml:space="preserve"> </a:t>
                      </a:r>
                      <a:r>
                        <a:rPr lang="es-SV" sz="1000" b="1" i="0" u="sng">
                          <a:solidFill>
                            <a:srgbClr val="00376E"/>
                          </a:solidFill>
                          <a:latin typeface="Arial"/>
                        </a:rPr>
                        <a:t>ajustes necesarios al Plan de Recuperación o a los planes estratégicos y de negocio, según corresponda, a efecto de adecuarlos a la real situación económica y financiera y al perfil de</a:t>
                      </a:r>
                      <a:r>
                        <a:rPr lang="es-SV" sz="1000" b="0" i="0">
                          <a:solidFill>
                            <a:srgbClr val="1B2333"/>
                          </a:solidFill>
                          <a:latin typeface="Arial"/>
                        </a:rPr>
                        <a:t xml:space="preserve"> riesgos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64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s) Informar al Consejo de Administración de los puntos tratados y Acuerdos en cada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s) </a:t>
                      </a:r>
                      <a:r>
                        <a:rPr lang="es-SV" sz="1000" b="1" i="0" u="sng">
                          <a:solidFill>
                            <a:srgbClr val="00376E"/>
                          </a:solidFill>
                          <a:latin typeface="Arial"/>
                        </a:rPr>
                        <a:t>Definir los indicadores cuantitativos y cualitativos objeto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seguimiento del Plan</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65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t) Evaluar, revisar y proponer al Consejo de Administración, el Plan de Recuperación y sus mejoras futuras;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t) </a:t>
                      </a:r>
                      <a:r>
                        <a:rPr lang="es-SV" sz="1000" b="1" i="0" u="sng">
                          <a:solidFill>
                            <a:srgbClr val="00376E"/>
                          </a:solidFill>
                          <a:latin typeface="Arial"/>
                        </a:rPr>
                        <a:t>Asegurar que se implementen las acciones correctivas requeridas en caso de que exista incumplimiento a los límites establecidos, con respecto</a:t>
                      </a:r>
                      <a:r>
                        <a:rPr lang="es-SV" sz="1000" b="0" i="0">
                          <a:solidFill>
                            <a:srgbClr val="1B2333"/>
                          </a:solidFill>
                          <a:latin typeface="Arial"/>
                        </a:rPr>
                        <a:t xml:space="preserve"> </a:t>
                      </a:r>
                      <a:r>
                        <a:rPr lang="es-SV" sz="1000" b="1" i="0" u="sng">
                          <a:solidFill>
                            <a:srgbClr val="00376E"/>
                          </a:solidFill>
                          <a:latin typeface="Arial"/>
                        </a:rPr>
                        <a:t>al</a:t>
                      </a:r>
                      <a:r>
                        <a:rPr lang="es-SV" sz="1000" b="0" i="0">
                          <a:solidFill>
                            <a:srgbClr val="1B2333"/>
                          </a:solidFill>
                          <a:latin typeface="Arial"/>
                        </a:rPr>
                        <a:t xml:space="preserve"> </a:t>
                      </a:r>
                      <a:r>
                        <a:rPr lang="es-SV" sz="1000" b="1" i="0" u="sng">
                          <a:solidFill>
                            <a:srgbClr val="00376E"/>
                          </a:solidFill>
                          <a:latin typeface="Arial"/>
                        </a:rPr>
                        <a:t>nivel</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tolerancia al riesgo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liquidez asumido.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y de Recuperación Financiera (3 de 4)</a:t>
            </a:r>
          </a:p>
        </p:txBody>
      </p:sp>
      <p:graphicFrame>
        <p:nvGraphicFramePr>
          <p:cNvPr id="16" name="Table 15"/>
          <p:cNvGraphicFramePr>
            <a:graphicFrameLocks noGrp="1"/>
          </p:cNvGraphicFramePr>
          <p:nvPr/>
        </p:nvGraphicFramePr>
        <p:xfrm>
          <a:off x="548640" y="566928"/>
          <a:ext cx="11091672" cy="5101437"/>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66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u) Proponer con fundamento razonado los ajustes necesarios al Plan de Recuperación o a los planes estratégicos y de negocio, según corresponda, a efecto de adecuarlos a la real situación económica y financiera y al perfil de riesgos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u) </a:t>
                      </a:r>
                      <a:r>
                        <a:rPr lang="es-SV" sz="1000" b="1" i="0" u="sng">
                          <a:solidFill>
                            <a:srgbClr val="00376E"/>
                          </a:solidFill>
                          <a:latin typeface="Arial"/>
                        </a:rPr>
                        <a:t>Velar por el cumplimiento de</a:t>
                      </a:r>
                      <a:r>
                        <a:rPr lang="es-SV" sz="1000" b="0" i="0">
                          <a:solidFill>
                            <a:srgbClr val="1B2333"/>
                          </a:solidFill>
                          <a:latin typeface="Arial"/>
                        </a:rPr>
                        <a:t xml:space="preserve"> </a:t>
                      </a:r>
                      <a:r>
                        <a:rPr lang="es-SV" sz="1000" b="1" i="0" u="sng">
                          <a:solidFill>
                            <a:srgbClr val="00376E"/>
                          </a:solidFill>
                          <a:latin typeface="Arial"/>
                        </a:rPr>
                        <a:t>los</a:t>
                      </a:r>
                      <a:r>
                        <a:rPr lang="es-SV" sz="1000" b="0" i="0">
                          <a:solidFill>
                            <a:srgbClr val="1B2333"/>
                          </a:solidFill>
                          <a:latin typeface="Arial"/>
                        </a:rPr>
                        <a:t xml:space="preserve"> </a:t>
                      </a:r>
                      <a:r>
                        <a:rPr lang="es-SV" sz="1000" b="1" i="0" u="sng">
                          <a:solidFill>
                            <a:srgbClr val="00376E"/>
                          </a:solidFill>
                          <a:latin typeface="Arial"/>
                        </a:rPr>
                        <a:t>requerimientos regulatorios en materia de planes</a:t>
                      </a:r>
                      <a:r>
                        <a:rPr lang="es-SV" sz="1000" b="0" i="0">
                          <a:solidFill>
                            <a:srgbClr val="1B2333"/>
                          </a:solidFill>
                          <a:latin typeface="Arial"/>
                        </a:rPr>
                        <a:t xml:space="preserve"> </a:t>
                      </a:r>
                      <a:r>
                        <a:rPr lang="es-SV" sz="1000" b="1" i="0" u="sng">
                          <a:solidFill>
                            <a:srgbClr val="00376E"/>
                          </a:solidFill>
                          <a:latin typeface="Arial"/>
                        </a:rPr>
                        <a:t>de recuperación</a:t>
                      </a:r>
                      <a:r>
                        <a:rPr lang="es-SV" sz="1000" b="0" i="0">
                          <a:solidFill>
                            <a:srgbClr val="1B2333"/>
                          </a:solidFill>
                          <a:latin typeface="Arial"/>
                        </a:rPr>
                        <a:t xml:space="preserve"> </a:t>
                      </a:r>
                      <a:r>
                        <a:rPr lang="es-SV" sz="1000" b="1" i="0" u="sng">
                          <a:solidFill>
                            <a:srgbClr val="00376E"/>
                          </a:solidFill>
                          <a:latin typeface="Arial"/>
                        </a:rPr>
                        <a:t>y atender</a:t>
                      </a:r>
                      <a:r>
                        <a:rPr lang="es-SV" sz="1000" b="0" i="0">
                          <a:solidFill>
                            <a:srgbClr val="1B2333"/>
                          </a:solidFill>
                          <a:latin typeface="Arial"/>
                        </a:rPr>
                        <a:t xml:space="preserve"> </a:t>
                      </a:r>
                      <a:r>
                        <a:rPr lang="es-SV" sz="1000" b="1" i="0" u="sng">
                          <a:solidFill>
                            <a:srgbClr val="00376E"/>
                          </a:solidFill>
                          <a:latin typeface="Arial"/>
                        </a:rPr>
                        <a:t>los</a:t>
                      </a:r>
                      <a:r>
                        <a:rPr lang="es-SV" sz="1000" b="0" i="0">
                          <a:solidFill>
                            <a:srgbClr val="1B2333"/>
                          </a:solidFill>
                          <a:latin typeface="Arial"/>
                        </a:rPr>
                        <a:t xml:space="preserve"> </a:t>
                      </a:r>
                      <a:r>
                        <a:rPr lang="es-SV" sz="1000" b="1" i="0" u="sng">
                          <a:solidFill>
                            <a:srgbClr val="00376E"/>
                          </a:solidFill>
                          <a:latin typeface="Arial"/>
                        </a:rPr>
                        <a:t>requerimientos</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información por parte</a:t>
                      </a:r>
                      <a:r>
                        <a:rPr lang="es-SV" sz="1000" b="0" i="0">
                          <a:solidFill>
                            <a:srgbClr val="1B2333"/>
                          </a:solidFill>
                          <a:latin typeface="Arial"/>
                        </a:rPr>
                        <a:t xml:space="preserve"> </a:t>
                      </a:r>
                      <a:r>
                        <a:rPr lang="es-SV" sz="1000" b="1" i="0" u="sng">
                          <a:solidFill>
                            <a:srgbClr val="00376E"/>
                          </a:solidFill>
                          <a:latin typeface="Arial"/>
                        </a:rPr>
                        <a:t>de la</a:t>
                      </a:r>
                      <a:r>
                        <a:rPr lang="es-SV" sz="1000" b="0" i="0">
                          <a:solidFill>
                            <a:srgbClr val="1B2333"/>
                          </a:solidFill>
                          <a:latin typeface="Arial"/>
                        </a:rPr>
                        <a:t xml:space="preserve"> </a:t>
                      </a:r>
                      <a:r>
                        <a:rPr lang="es-SV" sz="1000" b="1" i="0" u="sng">
                          <a:solidFill>
                            <a:srgbClr val="00376E"/>
                          </a:solidFill>
                          <a:latin typeface="Arial"/>
                        </a:rPr>
                        <a:t>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67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v) Definir los indicadores cuantitativos y cualitativos objeto de seguimiento del Plan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v) </a:t>
                      </a:r>
                      <a:r>
                        <a:rPr lang="es-SV" sz="1000" b="1" i="0" u="sng">
                          <a:solidFill>
                            <a:srgbClr val="00376E"/>
                          </a:solidFill>
                          <a:latin typeface="Arial"/>
                        </a:rPr>
                        <a:t>Evaluar la crisis de liquidez que se está implementando, decidir las acciones a seguir y monitorear</a:t>
                      </a:r>
                      <a:r>
                        <a:rPr lang="es-SV" sz="1000" b="0" i="0">
                          <a:solidFill>
                            <a:srgbClr val="1B2333"/>
                          </a:solidFill>
                          <a:latin typeface="Arial"/>
                        </a:rPr>
                        <a:t xml:space="preserve"> </a:t>
                      </a:r>
                      <a:r>
                        <a:rPr lang="es-SV" sz="1000" b="1" i="0" u="sng">
                          <a:solidFill>
                            <a:srgbClr val="00376E"/>
                          </a:solidFill>
                          <a:latin typeface="Arial"/>
                        </a:rPr>
                        <a:t>los</a:t>
                      </a:r>
                      <a:r>
                        <a:rPr lang="es-SV" sz="1000" b="0" i="0">
                          <a:solidFill>
                            <a:srgbClr val="1B2333"/>
                          </a:solidFill>
                          <a:latin typeface="Arial"/>
                        </a:rPr>
                        <a:t xml:space="preserve"> </a:t>
                      </a:r>
                      <a:r>
                        <a:rPr lang="es-SV" sz="1000" b="1" i="0" u="sng">
                          <a:solidFill>
                            <a:srgbClr val="00376E"/>
                          </a:solidFill>
                          <a:latin typeface="Arial"/>
                        </a:rPr>
                        <a:t>cambios en los escenarios para tomar acciones correctivas cuando sea necesario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68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w) Asegurar que se implementen las acciones correctivas requeridas en caso de que exista incumplimiento a los límites establecidos, con respecto al nivel de tolerancia al riesgo de liquidez asumido.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w) </a:t>
                      </a:r>
                      <a:r>
                        <a:rPr lang="es-SV" sz="1000" b="1" i="0" u="sng">
                          <a:solidFill>
                            <a:srgbClr val="00376E"/>
                          </a:solidFill>
                          <a:latin typeface="Arial"/>
                        </a:rPr>
                        <a:t>Dar seguimiento al cumplimiento de algunas de</a:t>
                      </a:r>
                      <a:r>
                        <a:rPr lang="es-SV" sz="1000" b="0" i="0">
                          <a:solidFill>
                            <a:srgbClr val="1B2333"/>
                          </a:solidFill>
                          <a:latin typeface="Arial"/>
                        </a:rPr>
                        <a:t xml:space="preserve"> </a:t>
                      </a:r>
                      <a:r>
                        <a:rPr lang="es-SV" sz="1000" b="1" i="0" u="sng">
                          <a:solidFill>
                            <a:srgbClr val="00376E"/>
                          </a:solidFill>
                          <a:latin typeface="Arial"/>
                        </a:rPr>
                        <a:t>las</a:t>
                      </a:r>
                      <a:r>
                        <a:rPr lang="es-SV" sz="1000" b="0" i="0">
                          <a:solidFill>
                            <a:srgbClr val="1B2333"/>
                          </a:solidFill>
                          <a:latin typeface="Arial"/>
                        </a:rPr>
                        <a:t xml:space="preserve"> </a:t>
                      </a:r>
                      <a:r>
                        <a:rPr lang="es-SV" sz="1000" b="1" i="0" u="sng">
                          <a:solidFill>
                            <a:srgbClr val="00376E"/>
                          </a:solidFill>
                          <a:latin typeface="Arial"/>
                        </a:rPr>
                        <a:t>medidas del Plan</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Recuperación de acuerdo</a:t>
                      </a:r>
                      <a:r>
                        <a:rPr lang="es-SV" sz="1000" b="0" i="0">
                          <a:solidFill>
                            <a:srgbClr val="1B2333"/>
                          </a:solidFill>
                          <a:latin typeface="Arial"/>
                        </a:rPr>
                        <a:t xml:space="preserve"> </a:t>
                      </a:r>
                      <a:r>
                        <a:rPr lang="es-SV" sz="1000" b="1" i="0" u="sng">
                          <a:solidFill>
                            <a:srgbClr val="00376E"/>
                          </a:solidFill>
                          <a:latin typeface="Arial"/>
                        </a:rPr>
                        <a:t>al</a:t>
                      </a:r>
                      <a:r>
                        <a:rPr lang="es-SV" sz="1000" b="0" i="0">
                          <a:solidFill>
                            <a:srgbClr val="1B2333"/>
                          </a:solidFill>
                          <a:latin typeface="Arial"/>
                        </a:rPr>
                        <a:t xml:space="preserve"> </a:t>
                      </a:r>
                      <a:r>
                        <a:rPr lang="es-SV" sz="1000" b="1" i="0" u="sng">
                          <a:solidFill>
                            <a:srgbClr val="00376E"/>
                          </a:solidFill>
                          <a:latin typeface="Arial"/>
                        </a:rPr>
                        <a:t>requerimiento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69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x) Velar por el cumplimiento de los requerimientos regulatorios en materia de planes de recuperación y atender los requerimientos de información por parte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x) </a:t>
                      </a:r>
                      <a:r>
                        <a:rPr lang="es-SV" sz="1000" b="1" i="0" u="sng">
                          <a:solidFill>
                            <a:srgbClr val="00376E"/>
                          </a:solidFill>
                          <a:latin typeface="Arial"/>
                        </a:rPr>
                        <a:t>Recomendar al Consejo de Administración, la activación o modificación</a:t>
                      </a:r>
                      <a:r>
                        <a:rPr lang="es-SV" sz="1000" b="0" i="0">
                          <a:solidFill>
                            <a:srgbClr val="1B2333"/>
                          </a:solidFill>
                          <a:latin typeface="Arial"/>
                        </a:rPr>
                        <a:t xml:space="preserve"> </a:t>
                      </a:r>
                      <a:r>
                        <a:rPr lang="es-SV" sz="1000" b="1" i="0" u="sng">
                          <a:solidFill>
                            <a:srgbClr val="00376E"/>
                          </a:solidFill>
                          <a:latin typeface="Arial"/>
                        </a:rPr>
                        <a:t>de los</a:t>
                      </a:r>
                      <a:r>
                        <a:rPr lang="es-SV" sz="1000" b="0" i="0">
                          <a:solidFill>
                            <a:srgbClr val="1B2333"/>
                          </a:solidFill>
                          <a:latin typeface="Arial"/>
                        </a:rPr>
                        <a:t xml:space="preserve"> </a:t>
                      </a:r>
                      <a:r>
                        <a:rPr lang="es-SV" sz="1000" b="1" i="0" u="sng">
                          <a:solidFill>
                            <a:srgbClr val="00376E"/>
                          </a:solidFill>
                          <a:latin typeface="Arial"/>
                        </a:rPr>
                        <a:t>mecanismos</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atención</a:t>
                      </a:r>
                      <a:r>
                        <a:rPr lang="es-SV" sz="1000" b="0" i="0">
                          <a:solidFill>
                            <a:srgbClr val="1B2333"/>
                          </a:solidFill>
                          <a:latin typeface="Arial"/>
                        </a:rPr>
                        <a:t xml:space="preserve"> </a:t>
                      </a:r>
                      <a:r>
                        <a:rPr lang="es-SV" sz="1000" b="1" i="0" u="sng">
                          <a:solidFill>
                            <a:srgbClr val="00376E"/>
                          </a:solidFill>
                          <a:latin typeface="Arial"/>
                        </a:rPr>
                        <a:t>de la</a:t>
                      </a:r>
                      <a:r>
                        <a:rPr lang="es-SV" sz="1000" b="0" i="0">
                          <a:solidFill>
                            <a:srgbClr val="1B2333"/>
                          </a:solidFill>
                          <a:latin typeface="Arial"/>
                        </a:rPr>
                        <a:t xml:space="preserve"> </a:t>
                      </a:r>
                      <a:r>
                        <a:rPr lang="es-SV" sz="1000" b="1" i="0" u="sng">
                          <a:solidFill>
                            <a:srgbClr val="00376E"/>
                          </a:solidFill>
                          <a:latin typeface="Arial"/>
                        </a:rPr>
                        <a:t>contingencia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70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y) Evaluar la crisis de liquidez que se está implementando, decidir las acciones a seguir y monitorear los cambios en los escenarios para tomar acciones correctivas cuando sea necesario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y) </a:t>
                      </a:r>
                      <a:r>
                        <a:rPr lang="es-SV" sz="1000" b="1" i="0" u="sng">
                          <a:solidFill>
                            <a:srgbClr val="00376E"/>
                          </a:solidFill>
                          <a:latin typeface="Arial"/>
                        </a:rPr>
                        <a:t>Informar al Consejo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Administración de los puntos tratados</a:t>
                      </a:r>
                      <a:r>
                        <a:rPr lang="es-SV" sz="1000" b="0" i="0">
                          <a:solidFill>
                            <a:srgbClr val="1B2333"/>
                          </a:solidFill>
                          <a:latin typeface="Arial"/>
                        </a:rPr>
                        <a:t xml:space="preserve"> </a:t>
                      </a:r>
                      <a:r>
                        <a:rPr lang="es-SV" sz="1000" b="1" i="0" u="sng">
                          <a:solidFill>
                            <a:srgbClr val="00376E"/>
                          </a:solidFill>
                          <a:latin typeface="Arial"/>
                        </a:rPr>
                        <a:t>y</a:t>
                      </a:r>
                      <a:r>
                        <a:rPr lang="es-SV" sz="1000" b="0" i="0">
                          <a:solidFill>
                            <a:srgbClr val="1B2333"/>
                          </a:solidFill>
                          <a:latin typeface="Arial"/>
                        </a:rPr>
                        <a:t xml:space="preserve"> </a:t>
                      </a:r>
                      <a:r>
                        <a:rPr lang="es-SV" sz="1000" b="1" i="0" u="sng">
                          <a:solidFill>
                            <a:srgbClr val="00376E"/>
                          </a:solidFill>
                          <a:latin typeface="Arial"/>
                        </a:rPr>
                        <a:t>Acuerdos</a:t>
                      </a:r>
                      <a:r>
                        <a:rPr lang="es-SV" sz="1000" b="0" i="0">
                          <a:solidFill>
                            <a:srgbClr val="1B2333"/>
                          </a:solidFill>
                          <a:latin typeface="Arial"/>
                        </a:rPr>
                        <a:t xml:space="preserve"> </a:t>
                      </a:r>
                      <a:r>
                        <a:rPr lang="es-SV" sz="1000" b="1" i="0" u="sng">
                          <a:solidFill>
                            <a:srgbClr val="00376E"/>
                          </a:solidFill>
                          <a:latin typeface="Arial"/>
                        </a:rPr>
                        <a:t>en</a:t>
                      </a:r>
                      <a:r>
                        <a:rPr lang="es-SV" sz="1000" b="0" i="0">
                          <a:solidFill>
                            <a:srgbClr val="1B2333"/>
                          </a:solidFill>
                          <a:latin typeface="Arial"/>
                        </a:rPr>
                        <a:t xml:space="preserve"> </a:t>
                      </a:r>
                      <a:r>
                        <a:rPr lang="es-SV" sz="1000" b="1" i="0" u="sng">
                          <a:solidFill>
                            <a:srgbClr val="00376E"/>
                          </a:solidFill>
                          <a:latin typeface="Arial"/>
                        </a:rPr>
                        <a:t>cada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71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z) Dar seguimiento al cumplimiento de algunas de las medidas del Plan de Recuperación de acuerdo al requerimiento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z) </a:t>
                      </a:r>
                      <a:r>
                        <a:rPr lang="es-SV" sz="1000" b="1" i="0" u="sng">
                          <a:solidFill>
                            <a:srgbClr val="00376E"/>
                          </a:solidFill>
                          <a:latin typeface="Arial"/>
                        </a:rPr>
                        <a:t>Otras funciones y responsabilidad que le sean delegadas por el Consejo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72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aa) Recomendar al Consejo de Administración, la activación o modificación de los mecanismos de atención de la contingencia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73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bb) Otras funciones y responsabilidad que le sean delegadas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y de Recuperación Financiera (4 de 4)</a:t>
            </a:r>
          </a:p>
        </p:txBody>
      </p:sp>
      <p:graphicFrame>
        <p:nvGraphicFramePr>
          <p:cNvPr id="16" name="Table 15"/>
          <p:cNvGraphicFramePr>
            <a:graphicFrameLocks noGrp="1"/>
          </p:cNvGraphicFramePr>
          <p:nvPr/>
        </p:nvGraphicFramePr>
        <p:xfrm>
          <a:off x="548640" y="566928"/>
          <a:ext cx="11091672" cy="2344521"/>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74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 xml:space="preserve">El comité estará integrado por los siguientes cargos: del Consejo de Administración, Presidente, Tesorero, Vocal y director que se desempeñe como presidente del Comité de Créditos; de la Junta de Vigilancia, Presidente y Secretario; Gerente General o su delegado, el Gerente de Finanzas y Planificación y el Gerente de Operaciones.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75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Los requisitos para ser miembro del Comité de Finanzas y de Recuperación Financiera se detallan en Anexo 6 y que forma parte integrante de este Código.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Los requisitos para ser miembro del Comité de Finanzas y de Recuperación Financiera se detallan en Anexo 6 </a:t>
                      </a:r>
                      <a:r>
                        <a:rPr lang="es-SV" sz="1000" b="1" i="0" u="sng">
                          <a:solidFill>
                            <a:srgbClr val="00376E"/>
                          </a:solidFill>
                          <a:latin typeface="Arial"/>
                        </a:rPr>
                        <a:t>del Código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76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El Comité de Finanzas, se reunirá al menos una vez al mes para dar seguimiento a las actividades relacionadas con la gestión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057753"/>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039465"/>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Auditoría</a:t>
            </a:r>
          </a:p>
        </p:txBody>
      </p:sp>
      <p:graphicFrame>
        <p:nvGraphicFramePr>
          <p:cNvPr id="16" name="Table 15"/>
          <p:cNvGraphicFramePr>
            <a:graphicFrameLocks noGrp="1"/>
          </p:cNvGraphicFramePr>
          <p:nvPr/>
        </p:nvGraphicFramePr>
        <p:xfrm>
          <a:off x="548640" y="3460089"/>
          <a:ext cx="11091672" cy="2948025"/>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77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e) Supervisar la eficiencia de la función de cumplimiento regulatorio de prevención del lavado de dinero y activos, </a:t>
                      </a:r>
                      <a:r>
                        <a:rPr lang="es-SV" sz="1000" b="0" i="0" strike="sngStrike">
                          <a:solidFill>
                            <a:srgbClr val="B3261E"/>
                          </a:solidFill>
                          <a:latin typeface="Arial"/>
                        </a:rPr>
                        <a:t>y</a:t>
                      </a:r>
                      <a:r>
                        <a:rPr lang="es-SV" sz="1000" b="0" i="0">
                          <a:solidFill>
                            <a:srgbClr val="1B2333"/>
                          </a:solidFill>
                          <a:latin typeface="Arial"/>
                        </a:rPr>
                        <a:t xml:space="preserve"> financiación del terrorismo y la Financiación de la Proliferación de Armas de Destrucción Masiva, (PLDA/FT/FPADM </a:t>
                      </a:r>
                      <a:r>
                        <a:rPr lang="es-SV" sz="1000" b="0" i="0" strike="sngStrike">
                          <a:solidFill>
                            <a:srgbClr val="B3261E"/>
                          </a:solidFill>
                          <a:latin typeface="Arial"/>
                        </a:rPr>
                        <a:t>LAFT</a:t>
                      </a:r>
                      <a:r>
                        <a:rPr lang="es-SV" sz="1000" b="0" i="0">
                          <a:solidFill>
                            <a:srgbClr val="1B2333"/>
                          </a:solidFill>
                          <a:latin typeface="Arial"/>
                        </a:rPr>
                        <a:t>), para asegurarse que existan los controles internos necesarios para evitar que la institución sea utilizada como instrumento para la realización de actividades ilícitas.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e) Supervisar la eficiencia de la función de cumplimiento regulatorio de prevención del lavado de dinero y activos, financiación del terrorismo y la Financiación de la Proliferación de Armas de Destrucción Masiva, (PLDA/FT/FPADM), para asegurarse que existan los controles internos necesarios para evitar que la institución sea utilizada como instrumento para la realización de actividades ilícitas.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78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j) Conocer y analizar el plan anual de auditoria interna basado en riesgos, así como aquellos planes adicionales de carácter ocasional o específico que debieran ponerse en práctica por razones de cambios regulatorios o por necesidades de la organización, y proponer la aprobación al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j) Conocer y analizar el plan anual de </a:t>
                      </a:r>
                      <a:r>
                        <a:rPr lang="es-SV" sz="1000" b="1" i="0" u="sng">
                          <a:solidFill>
                            <a:srgbClr val="00376E"/>
                          </a:solidFill>
                          <a:latin typeface="Arial"/>
                        </a:rPr>
                        <a:t>auditoría</a:t>
                      </a:r>
                      <a:r>
                        <a:rPr lang="es-SV" sz="1000" b="0" i="0">
                          <a:solidFill>
                            <a:srgbClr val="1B2333"/>
                          </a:solidFill>
                          <a:latin typeface="Arial"/>
                        </a:rPr>
                        <a:t xml:space="preserve"> interna basado en riesgos, así como aquellos planes adicionales de carácter ocasional o específico que debieran ponerse en práctica por razones de cambios regulatorios o por necesidades de la organización, y proponer la aprobación al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79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Los requisitos para ser miembro del Comité de Auditoría se detallan en Anexo 4 y que forma parte integrante de éste Código.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Los requisitos para ser miembro del Comité de Auditoría se detallan en Anexo 4 </a:t>
                      </a:r>
                      <a:r>
                        <a:rPr lang="es-SV" sz="1000" b="1" i="0" u="sng">
                          <a:solidFill>
                            <a:srgbClr val="00376E"/>
                          </a:solidFill>
                          <a:latin typeface="Arial"/>
                        </a:rPr>
                        <a:t>del Código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(1 de 2)</a:t>
            </a:r>
          </a:p>
        </p:txBody>
      </p:sp>
      <p:graphicFrame>
        <p:nvGraphicFramePr>
          <p:cNvPr id="16" name="Table 15"/>
          <p:cNvGraphicFramePr>
            <a:graphicFrameLocks noGrp="1"/>
          </p:cNvGraphicFramePr>
          <p:nvPr/>
        </p:nvGraphicFramePr>
        <p:xfrm>
          <a:off x="548640" y="566928"/>
          <a:ext cx="11091672" cy="5252313"/>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80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Denominación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COMITÉ DE </a:t>
                      </a:r>
                      <a:r>
                        <a:rPr lang="es-SV" sz="1000" b="0" i="0" strike="sngStrike">
                          <a:solidFill>
                            <a:srgbClr val="B3261E"/>
                          </a:solidFill>
                          <a:latin typeface="Arial"/>
                        </a:rPr>
                        <a:t>ADMINISTRACIÓN DE</a:t>
                      </a:r>
                      <a:r>
                        <a:rPr lang="es-SV" sz="1000" b="0" i="0">
                          <a:solidFill>
                            <a:srgbClr val="1B2333"/>
                          </a:solidFill>
                          <a:latin typeface="Arial"/>
                        </a:rPr>
                        <a:t xml:space="preserv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81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 xml:space="preserve">Asesorar y apoyar al Consejo de Administración, actuando con criterio de independencia, confidencialidad y objetividad en el cumplimiento de sus responsabilidades de seguimiento de la gestión de riesgos.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82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El Comité de </a:t>
                      </a:r>
                      <a:r>
                        <a:rPr lang="es-SV" sz="1000" b="0" i="0" strike="sngStrike">
                          <a:solidFill>
                            <a:srgbClr val="B3261E"/>
                          </a:solidFill>
                          <a:latin typeface="Arial"/>
                        </a:rPr>
                        <a:t>Administración de</a:t>
                      </a:r>
                      <a:r>
                        <a:rPr lang="es-SV" sz="1000" b="0" i="0">
                          <a:solidFill>
                            <a:srgbClr val="1B2333"/>
                          </a:solidFill>
                          <a:latin typeface="Arial"/>
                        </a:rPr>
                        <a:t xml:space="preserve"> Riesgos tiene las siguientes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El Comité de Riesgos tiene las siguientes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83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a) Evaluar, revisar y proponer para aprobación del </a:t>
                      </a:r>
                      <a:r>
                        <a:rPr lang="es-SV" sz="1000" b="0" i="0" strike="sngStrike">
                          <a:solidFill>
                            <a:srgbClr val="B3261E"/>
                          </a:solidFill>
                          <a:latin typeface="Arial"/>
                        </a:rPr>
                        <a:t>Validar y presentar al</a:t>
                      </a:r>
                      <a:r>
                        <a:rPr lang="es-SV" sz="1000" b="0" i="0">
                          <a:solidFill>
                            <a:srgbClr val="1B2333"/>
                          </a:solidFill>
                          <a:latin typeface="Arial"/>
                        </a:rPr>
                        <a:t xml:space="preserve"> Consejo de Administración las metodologías, estrategias, políticas y manuales para la </a:t>
                      </a:r>
                      <a:r>
                        <a:rPr lang="es-SV" sz="1000" b="0" i="0" strike="sngStrike">
                          <a:solidFill>
                            <a:srgbClr val="B3261E"/>
                          </a:solidFill>
                          <a:latin typeface="Arial"/>
                        </a:rPr>
                        <a:t>de</a:t>
                      </a:r>
                      <a:r>
                        <a:rPr lang="es-SV" sz="1000" b="0" i="0">
                          <a:solidFill>
                            <a:srgbClr val="1B2333"/>
                          </a:solidFill>
                          <a:latin typeface="Arial"/>
                        </a:rPr>
                        <a:t xml:space="preserve"> gestión integral de </a:t>
                      </a:r>
                      <a:r>
                        <a:rPr lang="es-SV" sz="1000" b="0" i="0" strike="sngStrike">
                          <a:solidFill>
                            <a:srgbClr val="B3261E"/>
                          </a:solidFill>
                          <a:latin typeface="Arial"/>
                        </a:rPr>
                        <a:t>cada uno de los</a:t>
                      </a:r>
                      <a:r>
                        <a:rPr lang="es-SV" sz="1000" b="0" i="0">
                          <a:solidFill>
                            <a:srgbClr val="1B2333"/>
                          </a:solidFill>
                          <a:latin typeface="Arial"/>
                        </a:rPr>
                        <a:t xml:space="preserve"> riesgos y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a) Evaluar, revisar y proponer para aprobación del Consejo de Administración las metodologías, estrategias, políticas y manuales para la gestión integral de riesgos y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84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e) Asegurar e informar al Consejo de Administración la </a:t>
                      </a:r>
                      <a:r>
                        <a:rPr lang="es-SV" sz="1000" b="0" i="0" strike="sngStrike">
                          <a:solidFill>
                            <a:srgbClr val="B3261E"/>
                          </a:solidFill>
                          <a:latin typeface="Arial"/>
                        </a:rPr>
                        <a:t>correcta</a:t>
                      </a:r>
                      <a:r>
                        <a:rPr lang="es-SV" sz="1000" b="0" i="0">
                          <a:solidFill>
                            <a:srgbClr val="1B2333"/>
                          </a:solidFill>
                          <a:latin typeface="Arial"/>
                        </a:rPr>
                        <a:t xml:space="preserve"> ejecución de las estrategias y políticas aprobadas.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e) Asegurar e informar al Consejo de Administración la ejecución de las estrategias y políticas aprobadas.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85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El Comité de Administración de Riesgos está integrado por un número impar de Miembros con los siguientes cargos: Directivos del Consejo de Administración: Presidente o su delegado, quien presidirá como Presidente del Comité, Tesorero y Vocal; Presidente de la Junta de Vigilancia o su delegado, Gerente General o su delegado, Auditor Interno, Oficial de Seguridad de la Información y un representante del área de Departamento Jurídico y Jefe de Administración de Riesgos quien ocupará el cargo de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86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Los requisitos para ser miembro del Comité de Riesgos se detallan en Anexo 5 y que forma parte integrante de este Código.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Los requisitos para ser miembro del Comité de Riesgos se detallan en Anexo 5 </a:t>
                      </a:r>
                      <a:r>
                        <a:rPr lang="es-SV" sz="1000" b="1" i="0" u="sng">
                          <a:solidFill>
                            <a:srgbClr val="00376E"/>
                          </a:solidFill>
                          <a:latin typeface="Arial"/>
                        </a:rPr>
                        <a:t>del Código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87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El Comité de </a:t>
                      </a:r>
                      <a:r>
                        <a:rPr lang="es-SV" sz="1000" b="0" i="0" strike="sngStrike">
                          <a:solidFill>
                            <a:srgbClr val="B3261E"/>
                          </a:solidFill>
                          <a:latin typeface="Arial"/>
                        </a:rPr>
                        <a:t xml:space="preserve">Administración </a:t>
                      </a:r>
                      <a:r>
                        <a:rPr lang="es-SV" sz="1000" b="0" i="0">
                          <a:solidFill>
                            <a:srgbClr val="1B2333"/>
                          </a:solidFill>
                          <a:latin typeface="Arial"/>
                        </a:rPr>
                        <a:t xml:space="preserve">Riesgos, se reunirá con la frecuencia necesaria para desempeñar de forma eficaz sus funciones, al menos una vez cada mes.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El Comité de </a:t>
                      </a:r>
                      <a:r>
                        <a:rPr lang="es-SV" sz="1000" b="0" i="0">
                          <a:solidFill>
                            <a:srgbClr val="1B2333"/>
                          </a:solidFill>
                          <a:latin typeface="Arial"/>
                        </a:rPr>
                        <a:t xml:space="preserve">Riesgos, se reunirá con la frecuencia necesaria para desempeñar de forma eficaz sus funciones, al menos una vez cada mes.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(2 de 2)</a:t>
            </a:r>
          </a:p>
        </p:txBody>
      </p:sp>
      <p:graphicFrame>
        <p:nvGraphicFramePr>
          <p:cNvPr id="16" name="Table 15"/>
          <p:cNvGraphicFramePr>
            <a:graphicFrameLocks noGrp="1"/>
          </p:cNvGraphicFramePr>
          <p:nvPr/>
        </p:nvGraphicFramePr>
        <p:xfrm>
          <a:off x="548640" y="566928"/>
          <a:ext cx="11091672" cy="194401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88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c) No obstante, en las reuniones presenciales cuando alguno de los miembros del Comité se encontraren en lugares distintos o en situaciones que le imposibiliten reunirse en las instalaciones del Centro Financiero de la Cooperativa, podrá sesionar a través de videoconferencia con los medios tecnológicos disponibles.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c) No obstante, en las reuniones presenciales cuando alguno de los miembros del Comité se </a:t>
                      </a:r>
                      <a:r>
                        <a:rPr lang="es-SV" sz="1000" b="1" i="0" u="sng">
                          <a:solidFill>
                            <a:srgbClr val="00376E"/>
                          </a:solidFill>
                          <a:latin typeface="Arial"/>
                        </a:rPr>
                        <a:t>encontrare</a:t>
                      </a:r>
                      <a:r>
                        <a:rPr lang="es-SV" sz="1000" b="0" i="0">
                          <a:solidFill>
                            <a:srgbClr val="1B2333"/>
                          </a:solidFill>
                          <a:latin typeface="Arial"/>
                        </a:rPr>
                        <a:t xml:space="preserve"> en lugares distintos o en situaciones que le imposibiliten reunirse en las instalaciones del Centro Financiero de la Cooperativa, podrá sesionar a través de videoconferencia con los medios tecnológicos disponibles.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89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e) Para las reuniones del Comité se establecerá quórum con la asistenciá minima de tres de sus miembros, pero siempre deberá contar con la presencia de un Miembro del Consejo de Administración, Junta de Vigilancia, Gerente General o sus delegados.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e) Para las reuniones del Comité se establecerá quórum con la </a:t>
                      </a:r>
                      <a:r>
                        <a:rPr lang="es-SV" sz="1000" b="1" i="0" u="sng">
                          <a:solidFill>
                            <a:srgbClr val="00376E"/>
                          </a:solidFill>
                          <a:latin typeface="Arial"/>
                        </a:rPr>
                        <a:t>asistencia mínima</a:t>
                      </a:r>
                      <a:r>
                        <a:rPr lang="es-SV" sz="1000" b="0" i="0">
                          <a:solidFill>
                            <a:srgbClr val="1B2333"/>
                          </a:solidFill>
                          <a:latin typeface="Arial"/>
                        </a:rPr>
                        <a:t xml:space="preserve"> de tres de sus miembros, pero siempre deberá contar con la presencia de un Miembro del Consejo de Administración, Junta de Vigilancia, Gerente General o sus delegados.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65724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63895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Junta de Prevención LDA/FT/FPADM (1 de 4)</a:t>
            </a:r>
          </a:p>
        </p:txBody>
      </p:sp>
      <p:graphicFrame>
        <p:nvGraphicFramePr>
          <p:cNvPr id="16" name="Table 15"/>
          <p:cNvGraphicFramePr>
            <a:graphicFrameLocks noGrp="1"/>
          </p:cNvGraphicFramePr>
          <p:nvPr/>
        </p:nvGraphicFramePr>
        <p:xfrm>
          <a:off x="548640" y="3059582"/>
          <a:ext cx="11091672" cy="2948025"/>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90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Denominación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COMITÉ DE JUNTA DE PREVENCIÓN LDA/FT/FPADM </a:t>
                      </a:r>
                      <a:r>
                        <a:rPr lang="es-SV" sz="1000" b="0" i="0" strike="sngStrike">
                          <a:solidFill>
                            <a:srgbClr val="B3261E"/>
                          </a:solidFill>
                          <a:latin typeface="Arial"/>
                        </a:rPr>
                        <a:t>DEL RIESGO DE LAVADO DE DINERO Y FINANCIAMIENTO AL TERRORISMO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COMITÉ DE JUNTA DE PREVENCIÓN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91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El objetivo de este Comité es servir de apoyo a la Gerencia de Oficialía de Cumplimiento, en materia de prevención del Lavado de Dinero y Activos, Financiamiento del Terrorismo y la Financiación de la Proliferación de Armas de Destrucción Masiva, y servir de enlace entre la Gerencia de Oficialía de Cumplimiento y el Consejo de Administración. </a:t>
                      </a:r>
                      <a:r>
                        <a:rPr lang="es-SV" sz="1000" b="0" i="0" strike="sngStrike">
                          <a:solidFill>
                            <a:srgbClr val="B3261E"/>
                          </a:solidFill>
                          <a:latin typeface="Arial"/>
                        </a:rPr>
                        <a:t>en materia de prevención del lavado de dinero y financiamiento al terrorismo.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El objetivo de este Comité es servir de apoyo a la Gerencia de Oficialía de Cumplimiento, en materia de prevención del Lavado de Dinero y Activos, Financiamiento del Terrorismo y la Financiación de la Proliferación de Armas de Destrucción Masiva, y servir de enlace entre la Gerencia de Oficialía de Cumplimiento y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92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Función Principal: Apoyar y vigilar la labor de la Gerencia de Oficialía de Cumplimiento, para el control y seguimiento de las políticas y procedimientos establecidos para el cumplimiento del marco regulatorio de lavado de dinero y activos, financiamiento del terrorismo y la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Junta de Prevención LDA/FT/FPADM (2 de 4)</a:t>
            </a:r>
          </a:p>
        </p:txBody>
      </p:sp>
      <p:graphicFrame>
        <p:nvGraphicFramePr>
          <p:cNvPr id="16" name="Table 15"/>
          <p:cNvGraphicFramePr>
            <a:graphicFrameLocks noGrp="1"/>
          </p:cNvGraphicFramePr>
          <p:nvPr/>
        </p:nvGraphicFramePr>
        <p:xfrm>
          <a:off x="548640" y="566928"/>
          <a:ext cx="11091672" cy="4654296"/>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93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a) </a:t>
                      </a:r>
                      <a:r>
                        <a:rPr lang="es-SV" sz="1000" b="0" i="0" strike="sngStrike">
                          <a:solidFill>
                            <a:srgbClr val="B3261E"/>
                          </a:solidFill>
                          <a:latin typeface="Arial"/>
                        </a:rPr>
                        <a:t>Revisar y proponer</a:t>
                      </a:r>
                      <a:r>
                        <a:rPr lang="es-SV" sz="1000" b="0" i="0">
                          <a:solidFill>
                            <a:srgbClr val="1B2333"/>
                          </a:solidFill>
                          <a:latin typeface="Arial"/>
                        </a:rPr>
                        <a:t xml:space="preserve"> Instruir mejoras a la política de la Cooperativa </a:t>
                      </a:r>
                      <a:r>
                        <a:rPr lang="es-SV" sz="1000" b="0" i="0" strike="sngStrike">
                          <a:solidFill>
                            <a:srgbClr val="B3261E"/>
                          </a:solidFill>
                          <a:latin typeface="Arial"/>
                        </a:rPr>
                        <a:t>institucional</a:t>
                      </a:r>
                      <a:r>
                        <a:rPr lang="es-SV" sz="1000" b="0" i="0">
                          <a:solidFill>
                            <a:srgbClr val="1B2333"/>
                          </a:solidFill>
                          <a:latin typeface="Arial"/>
                        </a:rPr>
                        <a:t xml:space="preserve"> en materia de prevención del LDA/FT/FPADM, mediante acuerdos o modificaciones </a:t>
                      </a:r>
                      <a:r>
                        <a:rPr lang="es-SV" sz="1000" b="0" i="0" strike="sngStrike">
                          <a:solidFill>
                            <a:srgbClr val="B3261E"/>
                          </a:solidFill>
                          <a:latin typeface="Arial"/>
                        </a:rPr>
                        <a:t>lavado de dinero y financiamiento al terrorismo,</a:t>
                      </a:r>
                      <a:r>
                        <a:rPr lang="es-SV" sz="1000" b="0" i="0">
                          <a:solidFill>
                            <a:srgbClr val="1B2333"/>
                          </a:solidFill>
                          <a:latin typeface="Arial"/>
                        </a:rPr>
                        <a:t xml:space="preserve"> con apego al marco legal nacional e internacional.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a) Instruir mejoras a la política de la Cooperativa en materia de prevención del LDA/FT/FPADM, mediante acuerdos o modificaciones con apego al marco legal nacional e internacional.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94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b) </a:t>
                      </a:r>
                      <a:r>
                        <a:rPr lang="es-SV" sz="1000" b="0" i="0" strike="sngStrike">
                          <a:solidFill>
                            <a:srgbClr val="B3261E"/>
                          </a:solidFill>
                          <a:latin typeface="Arial"/>
                        </a:rPr>
                        <a:t>Revisar y recomendar la aprobación del plan de trabajo anual</a:t>
                      </a:r>
                      <a:r>
                        <a:rPr lang="es-SV" sz="1000" b="0" i="0">
                          <a:solidFill>
                            <a:srgbClr val="1B2333"/>
                          </a:solidFill>
                          <a:latin typeface="Arial"/>
                        </a:rPr>
                        <a:t xml:space="preserve"> Dar seguimiento a la gestión que realiza la Gerencia de Oficialía de Cumplimiento </a:t>
                      </a:r>
                      <a:r>
                        <a:rPr lang="es-SV" sz="1000" b="0" i="0" strike="sngStrike">
                          <a:solidFill>
                            <a:srgbClr val="B3261E"/>
                          </a:solidFill>
                          <a:latin typeface="Arial"/>
                        </a:rPr>
                        <a:t>ante Junta Directiva u Órgano equivalente</a:t>
                      </a:r>
                      <a:r>
                        <a:rPr lang="es-SV" sz="1000" b="0" i="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b) Dar seguimiento a la gestión que realiza la Gerencia de Oficialía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95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c) </a:t>
                      </a:r>
                      <a:r>
                        <a:rPr lang="es-SV" sz="1000" b="0" i="0" strike="sngStrike">
                          <a:solidFill>
                            <a:srgbClr val="B3261E"/>
                          </a:solidFill>
                          <a:latin typeface="Arial"/>
                        </a:rPr>
                        <a:t>Analizar y recomendar la aprobación del presupuesto de funcionamiento de la Oficialía de Cumplimiento</a:t>
                      </a:r>
                      <a:r>
                        <a:rPr lang="es-SV" sz="1000" b="0" i="0">
                          <a:solidFill>
                            <a:srgbClr val="1B2333"/>
                          </a:solidFill>
                          <a:latin typeface="Arial"/>
                        </a:rPr>
                        <a:t>. Conocer las deficiencias al programa de prevención, detectadas por la Gerencia de Oficialía de Cumplimiento; así como las acciones o medidas correctivas que se hayan implementado para tales efectos.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c) Conocer las deficiencias al programa de prevención, detectadas por la Gerencia de Oficialía de Cumplimiento; así como las acciones o medidas correctivas que se hayan implementado para tales efectos.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96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d) </a:t>
                      </a:r>
                      <a:r>
                        <a:rPr lang="es-SV" sz="1000" b="0" i="0" strike="sngStrike">
                          <a:solidFill>
                            <a:srgbClr val="B3261E"/>
                          </a:solidFill>
                          <a:latin typeface="Arial"/>
                        </a:rPr>
                        <a:t>Seguimiento de la gestión de la Oficialía de cumplimiento conforme al Plan Anual de Trabajo.</a:t>
                      </a:r>
                      <a:r>
                        <a:rPr lang="es-SV" sz="1000" b="0" i="0">
                          <a:solidFill>
                            <a:srgbClr val="1B2333"/>
                          </a:solidFill>
                          <a:latin typeface="Arial"/>
                        </a:rPr>
                        <a:t xml:space="preserve"> Revisar la ejecución del Plan Anual de Capacitación, que involucre a todo el personal de la Cooperativa y que, además, incluya la capacitación especializada para el personal de la Oficialía de Cumplimiento en temas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d) Revisar la ejecución del Plan Anual de Capacitación, que involucre a todo el personal de la Cooperativa y que, además, incluya la capacitación especializada para el personal de la Oficialía de Cumplimiento en temas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97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e) </a:t>
                      </a:r>
                      <a:r>
                        <a:rPr lang="es-SV" sz="1000" b="0" i="0" strike="sngStrike">
                          <a:solidFill>
                            <a:srgbClr val="B3261E"/>
                          </a:solidFill>
                          <a:latin typeface="Arial"/>
                        </a:rPr>
                        <a:t>Asegurarse que la Oficialía tenga acceso irrestricto a toda la información y documentación que maneja la Institución relacionada con el lavado de dinero y de activos.</a:t>
                      </a:r>
                      <a:r>
                        <a:rPr lang="es-SV" sz="1000" b="0" i="0">
                          <a:solidFill>
                            <a:srgbClr val="1B2333"/>
                          </a:solidFill>
                          <a:latin typeface="Arial"/>
                        </a:rPr>
                        <a:t xml:space="preserve"> Revisar que el enfoque de la Gerencia de Oficialía de Cumplimiento, además de fortalecer la estructura de control interno, esté orientado a la prevención y gestión de riesgos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e) Revisar que el enfoque de la Gerencia de Oficialía de Cumplimiento, además de fortalecer la estructura de control interno, esté orientado a la prevención y gestión de riesgos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Junta de Prevención LDA/FT/FPADM (3 de 4)</a:t>
            </a:r>
          </a:p>
        </p:txBody>
      </p:sp>
      <p:graphicFrame>
        <p:nvGraphicFramePr>
          <p:cNvPr id="16" name="Table 15"/>
          <p:cNvGraphicFramePr>
            <a:graphicFrameLocks noGrp="1"/>
          </p:cNvGraphicFramePr>
          <p:nvPr/>
        </p:nvGraphicFramePr>
        <p:xfrm>
          <a:off x="548640" y="566928"/>
          <a:ext cx="11091672" cy="575706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98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f) </a:t>
                      </a:r>
                      <a:r>
                        <a:rPr lang="es-SV" sz="1000" b="0" i="0" strike="sngStrike">
                          <a:solidFill>
                            <a:srgbClr val="B3261E"/>
                          </a:solidFill>
                          <a:latin typeface="Arial"/>
                        </a:rPr>
                        <a:t>Promover y garantizar la independencia de la Oficialía de forma institucional</a:t>
                      </a:r>
                      <a:r>
                        <a:rPr lang="es-SV" sz="1000" b="0" i="0">
                          <a:solidFill>
                            <a:srgbClr val="1B2333"/>
                          </a:solidFill>
                          <a:latin typeface="Arial"/>
                        </a:rPr>
                        <a:t>. Revisar por lo menos cada tres años, la estructura organizativa de la Gerencia de Oficialía de Cumplimiento, en cuanto a recurso humano, en relación proporcional al tamaño de la Cooperativa, cantidad de clientes, productos y servicios, así como la operatividad que tenga la misma, para determinar la necesidad de mayores recursos a fin de mitigar los riesgos derivados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f) Revisar por lo menos cada tres años, la estructura organizativa de la Gerencia de Oficialía de Cumplimiento, en cuanto a recurso humano, en relación proporcional al tamaño de la Cooperativa, cantidad de clientes, productos y servicios, así como la operatividad que tenga la misma, para determinar la necesidad de mayores recursos a fin de mitigar los riesgos derivados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99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i) Sesionar, de acuerdo con la periodicidad establecida en el presente Reglamento, con el objetivo de supervisar el desarrollo de las actividades realizadas por la Gerencia de Oficialía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i) </a:t>
                      </a:r>
                      <a:r>
                        <a:rPr lang="es-SV" sz="1000" b="1" i="0" u="sng">
                          <a:solidFill>
                            <a:srgbClr val="00376E"/>
                          </a:solidFill>
                          <a:latin typeface="Arial"/>
                        </a:rPr>
                        <a:t>Conocer las revisiones</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auditoría interna, externa y entes reguladores</a:t>
                      </a:r>
                      <a:r>
                        <a:rPr lang="es-SV" sz="1000" b="0" i="0">
                          <a:solidFill>
                            <a:srgbClr val="1B2333"/>
                          </a:solidFill>
                          <a:latin typeface="Arial"/>
                        </a:rPr>
                        <a:t xml:space="preserve"> </a:t>
                      </a:r>
                      <a:r>
                        <a:rPr lang="es-SV" sz="1000" b="1" i="0" u="sng">
                          <a:solidFill>
                            <a:srgbClr val="00376E"/>
                          </a:solidFill>
                          <a:latin typeface="Arial"/>
                        </a:rPr>
                        <a:t>realizadas</a:t>
                      </a:r>
                      <a:r>
                        <a:rPr lang="es-SV" sz="1000" b="0" i="0">
                          <a:solidFill>
                            <a:srgbClr val="1B2333"/>
                          </a:solidFill>
                          <a:latin typeface="Arial"/>
                        </a:rPr>
                        <a:t xml:space="preserve"> </a:t>
                      </a:r>
                      <a:r>
                        <a:rPr lang="es-SV" sz="1000" b="1" i="0" u="sng">
                          <a:solidFill>
                            <a:srgbClr val="00376E"/>
                          </a:solidFill>
                          <a:latin typeface="Arial"/>
                        </a:rPr>
                        <a:t>a</a:t>
                      </a:r>
                      <a:r>
                        <a:rPr lang="es-SV" sz="1000" b="0" i="0">
                          <a:solidFill>
                            <a:srgbClr val="1B2333"/>
                          </a:solidFill>
                          <a:latin typeface="Arial"/>
                        </a:rPr>
                        <a:t xml:space="preserve"> la Gerencia de Oficialía de Cumplimiento, </a:t>
                      </a:r>
                      <a:r>
                        <a:rPr lang="es-SV" sz="1000" b="1" i="0" u="sng">
                          <a:solidFill>
                            <a:srgbClr val="00376E"/>
                          </a:solidFill>
                          <a:latin typeface="Arial"/>
                        </a:rPr>
                        <a:t>así como de los hallazgos señalados para su debida atención y seguimiento hasta su finalización.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100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j) Conocer las revisiones de auditoría interna, externa y entes reguladores realizadas a la Gerencia de Oficialía de Cumplimiento, así como de los hallazgos señalados para su debida atención y seguimiento hasta su finalización.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j) </a:t>
                      </a:r>
                      <a:r>
                        <a:rPr lang="es-SV" sz="1000" b="1" i="0" u="sng">
                          <a:solidFill>
                            <a:srgbClr val="00376E"/>
                          </a:solidFill>
                          <a:latin typeface="Arial"/>
                        </a:rPr>
                        <a:t>Las</a:t>
                      </a:r>
                      <a:r>
                        <a:rPr lang="es-SV" sz="1000" b="0" i="0">
                          <a:solidFill>
                            <a:srgbClr val="1B2333"/>
                          </a:solidFill>
                          <a:latin typeface="Arial"/>
                        </a:rPr>
                        <a:t xml:space="preserve"> </a:t>
                      </a:r>
                      <a:r>
                        <a:rPr lang="es-SV" sz="1000" b="1" i="0" u="sng">
                          <a:solidFill>
                            <a:srgbClr val="00376E"/>
                          </a:solidFill>
                          <a:latin typeface="Arial"/>
                        </a:rPr>
                        <a:t>funciones específicas que le sean delegadas por el Consejo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Administración en el Código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101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k) Las funciones específicas que le sean delegadas por el Consejo de Administración en 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102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Está integrado por los siguientes miembros: un Representante del Consejo de Administración, un Representante de la Junta de Vigilancia, Gerente General, Gerente Legal y de Cumplimiento Normativo, Gerente de Operaciones, Jefe de Administración de Riesgos, Gerente de Oficialía de Cumplimiento y Auditor Interno.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103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Los requisitos para ser miembro del Comité de Junta de Prevención del LDA/FT/FPADM se detallan en Anexo 6 y que forma parte integrante de este Código.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Los requisitos para ser miembro del Comité de Junta de Prevención del LDA/FT/FPADM se detallan en Anexo 6 </a:t>
                      </a:r>
                      <a:r>
                        <a:rPr lang="es-SV" sz="1000" b="1" i="0" u="sng">
                          <a:solidFill>
                            <a:srgbClr val="00376E"/>
                          </a:solidFill>
                          <a:latin typeface="Arial"/>
                        </a:rPr>
                        <a:t>del Código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104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strike="sngStrike">
                          <a:solidFill>
                            <a:srgbClr val="B3261E"/>
                          </a:solidFill>
                          <a:latin typeface="Arial"/>
                        </a:rPr>
                        <a:t>Los miembros del Comité LDA/FT/FPADM</a:t>
                      </a:r>
                      <a:r>
                        <a:rPr lang="es-SV" sz="1000" b="0" i="0" strike="sngStrike">
                          <a:solidFill>
                            <a:srgbClr val="B3261E"/>
                          </a:solidFill>
                          <a:latin typeface="Arial"/>
                        </a:rPr>
                        <a:t xml:space="preserve"> </a:t>
                      </a:r>
                      <a:r>
                        <a:rPr lang="es-SV" sz="1000" b="0" i="0" strike="sngStrike">
                          <a:solidFill>
                            <a:srgbClr val="B3261E"/>
                          </a:solidFill>
                          <a:latin typeface="Arial"/>
                        </a:rPr>
                        <a:t>de Prevención de Lavado de Dinero y Financiamiento al Terrorismo</a:t>
                      </a:r>
                      <a:r>
                        <a:rPr lang="es-SV" sz="1000" b="0" i="0" strike="sngStrike">
                          <a:solidFill>
                            <a:srgbClr val="B3261E"/>
                          </a:solidFill>
                          <a:latin typeface="Arial"/>
                        </a:rPr>
                        <a:t xml:space="preserve"> </a:t>
                      </a:r>
                      <a:r>
                        <a:rPr lang="es-SV" sz="1000" b="0" i="0" strike="sngStrike">
                          <a:solidFill>
                            <a:srgbClr val="B3261E"/>
                          </a:solidFill>
                          <a:latin typeface="Arial"/>
                        </a:rPr>
                        <a:t>deben reunirse</a:t>
                      </a:r>
                      <a:r>
                        <a:rPr lang="es-SV" sz="1000" b="0" i="0" strike="sngStrike">
                          <a:solidFill>
                            <a:srgbClr val="B3261E"/>
                          </a:solidFill>
                          <a:latin typeface="Arial"/>
                        </a:rPr>
                        <a:t xml:space="preserve"> </a:t>
                      </a:r>
                      <a:r>
                        <a:rPr lang="es-SV" sz="1000" b="0" i="0" strike="sngStrike">
                          <a:solidFill>
                            <a:srgbClr val="B3261E"/>
                          </a:solidFill>
                          <a:latin typeface="Arial"/>
                        </a:rPr>
                        <a:t>se reunirá ordinariamente al menos una vez al mes, o cuando el Gerente de Oficialía de cumplimiento determine necesario convocar a sus miembros.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Junta de Prevención LDA/FT/FPADM (4 de 4)</a:t>
            </a:r>
          </a:p>
        </p:txBody>
      </p:sp>
      <p:graphicFrame>
        <p:nvGraphicFramePr>
          <p:cNvPr id="16" name="Table 15"/>
          <p:cNvGraphicFramePr>
            <a:graphicFrameLocks noGrp="1"/>
          </p:cNvGraphicFramePr>
          <p:nvPr/>
        </p:nvGraphicFramePr>
        <p:xfrm>
          <a:off x="548640" y="566928"/>
          <a:ext cx="11091672" cy="940003"/>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105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 xml:space="preserve">a) </a:t>
                      </a:r>
                      <a:r>
                        <a:rPr lang="es-SV" sz="1000" b="0" i="0">
                          <a:solidFill>
                            <a:srgbClr val="1B2333"/>
                          </a:solidFill>
                          <a:latin typeface="Arial"/>
                        </a:rPr>
                        <a:t xml:space="preserve">El Comité de PLDA/FT/FPADM, se reunirá ordinariamente al menos de manera trimestral y extraordinariamente cuando sea requerido por cualquier miembro del referido Comité, en ambos casos, puede sesionar de forma presencial o virtual.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El Comité de PLDA/FT/FPADM, se reunirá ordinariamente al menos de manera trimestral y extraordinariamente cuando sea requerido por cualquier miembro del referido Comité, en ambos casos, puede sesionar de forma presencial o virtual. </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1653235"/>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634947"/>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del Fondo de Solidaridad</a:t>
            </a:r>
          </a:p>
        </p:txBody>
      </p:sp>
      <p:graphicFrame>
        <p:nvGraphicFramePr>
          <p:cNvPr id="16" name="Table 15"/>
          <p:cNvGraphicFramePr>
            <a:graphicFrameLocks noGrp="1"/>
          </p:cNvGraphicFramePr>
          <p:nvPr/>
        </p:nvGraphicFramePr>
        <p:xfrm>
          <a:off x="548640" y="2055571"/>
          <a:ext cx="11091672" cy="3998671"/>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lang="es-SV" sz="1000" b="1" i="0">
                          <a:solidFill>
                            <a:srgbClr val="00376E"/>
                          </a:solidFill>
                          <a:latin typeface="Arial"/>
                        </a:rPr>
                        <a:t>106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Son atribuciones del Comité de Gestión del Fondo, las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Son atribuciones del Comité </a:t>
                      </a:r>
                      <a:r>
                        <a:rPr lang="es-SV" sz="1000" b="1" i="0" u="sng">
                          <a:solidFill>
                            <a:srgbClr val="00376E"/>
                          </a:solidFill>
                          <a:latin typeface="Arial"/>
                        </a:rPr>
                        <a:t>del Fondo</a:t>
                      </a:r>
                      <a:r>
                        <a:rPr lang="es-SV" sz="1000" b="0" i="0">
                          <a:solidFill>
                            <a:srgbClr val="1B2333"/>
                          </a:solidFill>
                          <a:latin typeface="Arial"/>
                        </a:rPr>
                        <a:t xml:space="preserve"> </a:t>
                      </a:r>
                      <a:r>
                        <a:rPr lang="es-SV" sz="1000" b="1" i="0" u="sng">
                          <a:solidFill>
                            <a:srgbClr val="00376E"/>
                          </a:solidFill>
                          <a:latin typeface="Arial"/>
                        </a:rPr>
                        <a:t>de Solidaridad,</a:t>
                      </a:r>
                      <a:r>
                        <a:rPr lang="es-SV" sz="1000" b="0" i="0">
                          <a:solidFill>
                            <a:srgbClr val="1B2333"/>
                          </a:solidFill>
                          <a:latin typeface="Arial"/>
                        </a:rPr>
                        <a:t xml:space="preserve"> las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107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k) Autorizar el retiro anticipado de los miembros, de acuerdo a lo estipulado en el presente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k) Autorizar el retiro anticipado de los miembros, de acuerdo a lo estipulado en el </a:t>
                      </a:r>
                      <a:r>
                        <a:rPr lang="es-SV" sz="1000" b="1" i="0" u="sng">
                          <a:solidFill>
                            <a:srgbClr val="00376E"/>
                          </a:solidFill>
                          <a:latin typeface="Arial"/>
                        </a:rPr>
                        <a:t>reglamento</a:t>
                      </a:r>
                      <a:r>
                        <a:rPr lang="es-SV" sz="1000" b="0" i="0">
                          <a:solidFill>
                            <a:srgbClr val="1B2333"/>
                          </a:solidFill>
                          <a:latin typeface="Arial"/>
                        </a:rPr>
                        <a:t xml:space="preserve"> </a:t>
                      </a:r>
                      <a:r>
                        <a:rPr lang="es-SV" sz="1000" b="1" i="0" u="sng">
                          <a:solidFill>
                            <a:srgbClr val="00376E"/>
                          </a:solidFill>
                          <a:latin typeface="Arial"/>
                        </a:rPr>
                        <a:t>del Fondo de Solidaridad.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108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n) Ratificar el ingreso de los miembros que reúnen los requisitos establecidos en el Art. 6 de este reglamento, y que han sido aprobados por los ejecutivos autorizados por COMEDICA de R.L.; Analizar, y emitir opinión a las solicitudes de los Asociados que en principio no reúnen los requisitos en el Art. 6 y que el Asociado solicita revisión.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n) Ratificar el ingreso de los miembros que reúnen los requisitos establecidos en el Art. 6 </a:t>
                      </a:r>
                      <a:r>
                        <a:rPr lang="es-SV" sz="1000" b="1" i="0" u="sng">
                          <a:solidFill>
                            <a:srgbClr val="00376E"/>
                          </a:solidFill>
                          <a:latin typeface="Arial"/>
                        </a:rPr>
                        <a:t>del</a:t>
                      </a:r>
                      <a:r>
                        <a:rPr lang="es-SV" sz="1000" b="0" i="0">
                          <a:solidFill>
                            <a:srgbClr val="1B2333"/>
                          </a:solidFill>
                          <a:latin typeface="Arial"/>
                        </a:rPr>
                        <a:t xml:space="preserve"> reglamento, y que han sido aprobados por los ejecutivos autorizados por COMEDICA de R.L.; Analizar, y emitir opinión a las solicitudes de los Asociados que en principio no reúnen los requisitos en el Art. 6 y que el Asociado solicita revisión.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109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strike="sngStrike">
                          <a:solidFill>
                            <a:srgbClr val="B3261E"/>
                          </a:solidFill>
                          <a:latin typeface="Arial"/>
                        </a:rPr>
                        <a:t>Está integrado por el Presidente y Secretario del Consejo de Administración con los cargos de Presidente y Secretario, en vigencia respectivamente, Presidente de la Junta de Vigilancia con el cargo de Vocal, un Primer Suplente nombrado por el Consejo de Administración; y el Jefe del Fondo de Solidaridad</a:t>
                      </a:r>
                      <a:r>
                        <a:rPr lang="es-SV" sz="1000" b="0" i="0" strike="sngStrike">
                          <a:solidFill>
                            <a:srgbClr val="B3261E"/>
                          </a:solidFill>
                          <a:latin typeface="Arial"/>
                        </a:rPr>
                        <a:t xml:space="preserve"> </a:t>
                      </a:r>
                      <a:r>
                        <a:rPr lang="es-SV" sz="1000" b="0" i="0" strike="sngStrike">
                          <a:solidFill>
                            <a:srgbClr val="B3261E"/>
                          </a:solidFill>
                          <a:latin typeface="Arial"/>
                        </a:rPr>
                        <a:t>de Atención a Asociados y Clientes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Los requisitos para ser miembro del Comité de Fondo de Solidaridad se detallan en Anexo 6 y que forma parte integrante de éste Código.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0" i="0">
                          <a:solidFill>
                            <a:srgbClr val="1B2333"/>
                          </a:solidFill>
                          <a:latin typeface="Arial"/>
                        </a:rPr>
                        <a:t xml:space="preserve">Los requisitos para ser miembro del Comité de Fondo de Solidaridad se detallan en Anexo 6 </a:t>
                      </a:r>
                      <a:r>
                        <a:rPr lang="es-SV" sz="1000" b="1" i="0" u="sng">
                          <a:solidFill>
                            <a:srgbClr val="00376E"/>
                          </a:solidFill>
                          <a:latin typeface="Arial"/>
                        </a:rPr>
                        <a:t>del Código</a:t>
                      </a:r>
                      <a:r>
                        <a:rPr lang="es-SV" sz="1000" b="0" i="0">
                          <a:solidFill>
                            <a:srgbClr val="1B2333"/>
                          </a:solidFill>
                          <a:latin typeface="Arial"/>
                        </a:rPr>
                        <a:t xml:space="preserve"> </a:t>
                      </a:r>
                      <a:r>
                        <a:rPr lang="es-SV" sz="1000" b="1" i="0" u="sng">
                          <a:solidFill>
                            <a:srgbClr val="00376E"/>
                          </a:solidFill>
                          <a:latin typeface="Arial"/>
                        </a:rPr>
                        <a:t>de</a:t>
                      </a:r>
                      <a:r>
                        <a:rPr lang="es-SV" sz="1000" b="0" i="0">
                          <a:solidFill>
                            <a:srgbClr val="1B2333"/>
                          </a:solidFill>
                          <a:latin typeface="Arial"/>
                        </a:rPr>
                        <a:t xml:space="preserve"> </a:t>
                      </a:r>
                      <a:r>
                        <a:rPr lang="es-SV" sz="1000" b="1" i="0" u="sng">
                          <a:solidFill>
                            <a:srgbClr val="00376E"/>
                          </a:solidFill>
                          <a:latin typeface="Arial"/>
                        </a:rPr>
                        <a:t>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1"/>
                  </a:ext>
                </a:extLst>
              </a:tr>
              <a:tr h="228600">
                <a:tc>
                  <a:txBody>
                    <a:bodyPr/>
                    <a:lstStyle/>
                    <a:p>
                      <a:pPr algn="just"/>
                      <a:r>
                        <a:rPr lang="es-SV" sz="1000" b="1" i="0">
                          <a:solidFill>
                            <a:srgbClr val="00376E"/>
                          </a:solidFill>
                          <a:latin typeface="Arial"/>
                        </a:rPr>
                        <a:t>111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 xml:space="preserve">a) El Comité </a:t>
                      </a:r>
                      <a:r>
                        <a:rPr lang="es-SV" sz="1000" b="0" i="0" strike="sngStrike">
                          <a:solidFill>
                            <a:srgbClr val="B3261E"/>
                          </a:solidFill>
                          <a:latin typeface="Arial"/>
                        </a:rPr>
                        <a:t>de Gestión</a:t>
                      </a:r>
                      <a:r>
                        <a:rPr lang="es-SV" sz="1000" b="0" i="0">
                          <a:solidFill>
                            <a:srgbClr val="1B2333"/>
                          </a:solidFill>
                          <a:latin typeface="Arial"/>
                        </a:rPr>
                        <a:t xml:space="preserve"> sesionará al menos una vez al mes y extraordinariamente cuando las circunstancias lo exijan.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0" i="0">
                          <a:solidFill>
                            <a:srgbClr val="1B2333"/>
                          </a:solidFill>
                          <a:latin typeface="Arial"/>
                        </a:rPr>
                        <a:t>a) El Comité sesionará al menos una vez al mes y extraordinariamente cuando las circunstancias lo exijan.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lang="es-SV"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82880"/>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64592"/>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Solicitud al Comité de Riesgos</a:t>
            </a:r>
          </a:p>
        </p:txBody>
      </p:sp>
      <p:graphicFrame>
        <p:nvGraphicFramePr>
          <p:cNvPr id="16" name="Table 15"/>
          <p:cNvGraphicFramePr>
            <a:graphicFrameLocks noGrp="1"/>
          </p:cNvGraphicFramePr>
          <p:nvPr/>
        </p:nvGraphicFramePr>
        <p:xfrm>
          <a:off x="548640" y="621792"/>
          <a:ext cx="11091672" cy="2420112"/>
        </p:xfrm>
        <a:graphic>
          <a:graphicData uri="http://schemas.openxmlformats.org/drawingml/2006/table">
            <a:tbl>
              <a:tblPr>
                <a:tableStyleId>{2D5ABB26-0587-4C30-8999-92F81FD0307C}</a:tableStyleId>
              </a:tblPr>
              <a:tblGrid>
                <a:gridCol w="7680960">
                  <a:extLst>
                    <a:ext uri="{9D8B030D-6E8A-4147-A177-3AD203B41FA5}">
                      <a16:colId xmlns:a16="http://schemas.microsoft.com/office/drawing/2014/main" val="20000"/>
                    </a:ext>
                  </a:extLst>
                </a:gridCol>
                <a:gridCol w="3410712">
                  <a:extLst>
                    <a:ext uri="{9D8B030D-6E8A-4147-A177-3AD203B41FA5}">
                      <a16:colId xmlns:a16="http://schemas.microsoft.com/office/drawing/2014/main" val="20001"/>
                    </a:ext>
                  </a:extLst>
                </a:gridCol>
              </a:tblGrid>
              <a:tr h="347472">
                <a:tc>
                  <a:txBody>
                    <a:bodyPr/>
                    <a:lstStyle/>
                    <a:p>
                      <a:r>
                        <a:rPr sz="1200" b="1" i="0" lang="es-SV">
                          <a:solidFill>
                            <a:srgbClr val="FFFFFF"/>
                          </a:solidFill>
                          <a:latin typeface="Arial"/>
                        </a:rPr>
                        <a:t>Se solicita al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200" b="1" i="0" lang="es-SV">
                          <a:solidFill>
                            <a:srgbClr val="FFFFFF"/>
                          </a:solidFill>
                          <a:latin typeface="Arial"/>
                        </a:rPr>
                        <a:t>Fundamento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r>
                        <a:rPr sz="1400" b="0" i="0" lang="es-SV">
                          <a:solidFill>
                            <a:srgbClr val="1B2333"/>
                          </a:solidFill>
                          <a:latin typeface="Arial"/>
                        </a:rPr>
                        <a:t>Validar la versión 04 de la Política de Contratación de Servicios Críticos Tercerizados (RP-GG-PL-003) y proponerla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400" b="1" i="0" lang="es-SV">
                          <a:solidFill>
                            <a:srgbClr val="00376E"/>
                          </a:solidFill>
                          <a:latin typeface="Arial"/>
                        </a:rPr>
                        <a:t>NRP-20, art. 10, lit. c · NRP-42, art. 12, lit. 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r>
                        <a:rPr sz="1400" b="0" i="0" lang="es-SV">
                          <a:solidFill>
                            <a:srgbClr val="1B2333"/>
                          </a:solidFill>
                          <a:latin typeface="Arial"/>
                        </a:rPr>
                        <a:t>Validar la versión 04 del Manual de Gestión del Riesgo Reputacional (MA-GG-M-004) y proponerlo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400" b="1" i="0" lang="es-SV">
                          <a:solidFill>
                            <a:srgbClr val="00376E"/>
                          </a:solidFill>
                          <a:latin typeface="Arial"/>
                        </a:rPr>
                        <a:t>NRP-20, art. 10,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r>
                        <a:rPr sz="1400" b="0" i="0" lang="es-SV">
                          <a:solidFill>
                            <a:srgbClr val="1B2333"/>
                          </a:solidFill>
                          <a:latin typeface="Arial"/>
                        </a:rPr>
                        <a:t>Conocer la Información de Comités 2026 y proponerla al Consejo de Administración para su incorporación al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400" b="1" i="0" lang="es-SV">
                          <a:solidFill>
                            <a:srgbClr val="00376E"/>
                          </a:solidFill>
                          <a:latin typeface="Arial"/>
                        </a:rPr>
                        <a:t>NRP-17, arts. 20 y 29, lit. 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r>
                        <a:rPr sz="1400" b="0" i="0" lang="es-SV">
                          <a:solidFill>
                            <a:srgbClr val="1B2333"/>
                          </a:solidFill>
                          <a:latin typeface="Arial"/>
                        </a:rPr>
                        <a:t>Una vez aprobados, remitir la Política y el Manual a la Superintendencia del Sistema Financiero dentro de los diez días hábiles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400" b="1" i="0" lang="es-SV">
                          <a:solidFill>
                            <a:srgbClr val="00376E"/>
                          </a:solidFill>
                          <a:latin typeface="Arial"/>
                        </a:rPr>
                        <a:t>NRP-20, art. 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8dab1c-c8f3-4f9c-8270-c22a94ade099}" enabled="0" method="" siteId="{d98dab1c-c8f3-4f9c-8270-c22a94ade099}" removed="1"/>
</clbl:labelList>
</file>

<file path=docProps/app.xml><?xml version="1.0" encoding="utf-8"?>
<Properties xmlns="http://schemas.openxmlformats.org/officeDocument/2006/extended-properties" xmlns:vt="http://schemas.openxmlformats.org/officeDocument/2006/docPropsVTypes">
  <TotalTime>63</TotalTime>
  <Words>19463</Words>
  <Application>Microsoft Office PowerPoint</Application>
  <PresentationFormat>Panorámica</PresentationFormat>
  <Paragraphs>1931</Paragraphs>
  <Slides>71</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71</vt:i4>
      </vt:variant>
    </vt:vector>
  </HeadingPairs>
  <TitlesOfParts>
    <vt:vector size="76" baseType="lpstr">
      <vt:lpstr>Aptos</vt:lpstr>
      <vt:lpstr>Aptos Display</vt:lpstr>
      <vt:lpstr>Arial</vt:lpstr>
      <vt:lpstr>Century Gothic</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Alejandra Batres Alvarado</dc:creator>
  <cp:lastModifiedBy>Henrry Daniel Escamilla Zaldaña</cp:lastModifiedBy>
  <cp:revision>26</cp:revision>
  <dcterms:created xsi:type="dcterms:W3CDTF">2025-07-17T21:19:45Z</dcterms:created>
  <dcterms:modified xsi:type="dcterms:W3CDTF">2026-10-24T20:22:59Z</dcterms:modified>
</cp:coreProperties>
</file>