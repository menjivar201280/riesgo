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37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Nombramiento de visita ampliada: Circular SABAO-BCS-BC-15527; inicio 15/07/2026, acta de cierre 10/09/2026, corte 31/05/2026. Resultados preliminares: Circular DS-SABAO-BCS-BC-23486 del 02/10/2026. 17 observaciones nuevas (A: 2, B: 15) y 9 observaciones de visitas anteriores en seguimiento (Circulares 16572, 18445 y 29295): 5 no superadas y 4 parcialmente superadas.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A. Gestión de Riesgo de LDA/FT/FPADM (A.1–A.2) y B. Proceso de implementación de la Herramienta de Monitoreo (B.1–B.6). Texto de la matriz.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B. Proceso de implementación de la Herramienta de Monitoreo (B.7–B.11). Texto de la matriz.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seguimiento a observaciones de visitas anteriores con referencia al 31 de mayo de 2026
Evaluación de la gestión de los Riesgos de Crédito, Operacional y Tecnológico, con referencia al 31 de enero de 2025; </a:t>
            </a:r>
            <a:r>
              <a:rPr lang="en-US" dirty="0" err="1"/>
              <a:t>resultados</a:t>
            </a:r>
            <a:r>
              <a:rPr lang="en-US" dirty="0"/>
              <a:t> preliminares comunicados mediante nota No. DS-SABAO-BCS-BC-16572 del 10 de septiembre de 2025.
C.1.1. Gestión del Riesgo de Crédito.
C.1.2. Gestión de Riesgo Operacional y Tecnológico
Verificación de las Normas Técnicas para la Gestión de los Riesgos de Lavado de Dinero y de Activos, Financiación del Terrorismo y la Financiación de la Proliferación de Armas de Destrucción Masiva (NRP-36), con referencia al 31 de mayo de 2025, comunicadas mediante nota No. DS-SABAO-BCS-BC-18445 del 30 de octubre de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C.3. Evaluación de Guías de Calidad de la Gestión de Riesgos Específicos, con el propósito evaluar la gestión de los riesgos de liquidez, mercado, operacional y tecnológico, de lavado de dinero y de activos, financiación del terrorismo y la financiación de la proliferación de armas de destrucción masiva (LDA/FT/FPADM), con referencia al 30 de septiembre de 2025, comunicadas mediante nota DS-SABAO-BCS-29295 de fecha 03 de diciembre de 2025.
C.3.1. Gestión de riesgo de Liquidez
C.3.2. Gestión de riesgo Operacional y Tecnológico.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1460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" name="Text 1"/>
          <p:cNvSpPr/>
          <p:nvPr/>
        </p:nvSpPr>
        <p:spPr>
          <a:xfrm>
            <a:off x="292608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/>
                </a:solidFill>
              </a:rPr>
              <a:t>SSF · Gestión de Riesgo Específico · COMEDICA de R.L.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/>
                </a:solidFill>
              </a:rPr>
              <a:t>SSF · Gestión de Riesgo Específico · COMEDICA de R.L.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105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 subtítulo"/>
          <p:cNvSpPr txBox="1"/>
          <p:nvPr/>
        </p:nvSpPr>
        <p:spPr>
          <a:xfrm>
            <a:off x="56147" y="1304384"/>
            <a:ext cx="2419468" cy="246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SV" sz="2500" b="1" noProof="0" dirty="0">
                <a:solidFill>
                  <a:schemeClr val="bg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Resultados preliminares</a:t>
            </a:r>
          </a:p>
          <a:p>
            <a:pPr marL="0" indent="0" algn="ctr">
              <a:buNone/>
            </a:pPr>
            <a:r>
              <a:rPr lang="es-SV" sz="2500" b="1" noProof="0" dirty="0">
                <a:solidFill>
                  <a:schemeClr val="bg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De</a:t>
            </a:r>
          </a:p>
          <a:p>
            <a:pPr marL="0" indent="0" algn="ctr">
              <a:buNone/>
            </a:pPr>
            <a:r>
              <a:rPr lang="es-SV" sz="2500" b="1" noProof="0" dirty="0">
                <a:solidFill>
                  <a:schemeClr val="bg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Gestión de Riesgo Específico</a:t>
            </a:r>
          </a:p>
        </p:txBody>
      </p:sp>
      <p:sp>
        <p:nvSpPr>
          <p:cNvPr id="7" name="Bloque 0"/>
          <p:cNvSpPr txBox="1"/>
          <p:nvPr/>
        </p:nvSpPr>
        <p:spPr>
          <a:xfrm>
            <a:off x="292608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2400" b="1" noProof="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Observaciones nuevas</a:t>
            </a:r>
            <a:endParaRPr lang="es-SV" sz="2400" noProof="0" dirty="0"/>
          </a:p>
        </p:txBody>
      </p:sp>
      <p:sp>
        <p:nvSpPr>
          <p:cNvPr id="8" name="Bloque sub 0"/>
          <p:cNvSpPr txBox="1"/>
          <p:nvPr/>
        </p:nvSpPr>
        <p:spPr>
          <a:xfrm>
            <a:off x="7680960" y="365760"/>
            <a:ext cx="4053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SV" sz="1200" noProof="0" dirty="0">
                <a:solidFill>
                  <a:srgbClr val="002060"/>
                </a:solidFill>
              </a:rPr>
              <a:t>Visita de supervisión · Gestión de Riesgo Específico</a:t>
            </a:r>
          </a:p>
        </p:txBody>
      </p:sp>
      <p:sp>
        <p:nvSpPr>
          <p:cNvPr id="9" name="Tarjeta 0"/>
          <p:cNvSpPr/>
          <p:nvPr/>
        </p:nvSpPr>
        <p:spPr>
          <a:xfrm>
            <a:off x="6217920" y="914400"/>
            <a:ext cx="5513832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10" name="Cifra fondo 0"/>
          <p:cNvSpPr/>
          <p:nvPr/>
        </p:nvSpPr>
        <p:spPr>
          <a:xfrm>
            <a:off x="6373368" y="1124712"/>
            <a:ext cx="1463040" cy="201168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11" name="Cifra 0"/>
          <p:cNvSpPr txBox="1"/>
          <p:nvPr/>
        </p:nvSpPr>
        <p:spPr>
          <a:xfrm>
            <a:off x="6373368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48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s-SV" sz="4800" noProof="0" dirty="0"/>
          </a:p>
        </p:txBody>
      </p:sp>
      <p:sp>
        <p:nvSpPr>
          <p:cNvPr id="12" name="Cifra lab 0"/>
          <p:cNvSpPr txBox="1"/>
          <p:nvPr/>
        </p:nvSpPr>
        <p:spPr>
          <a:xfrm>
            <a:off x="6419088" y="22128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SV" sz="900" b="1" kern="0" spc="100" noProof="0" dirty="0">
                <a:solidFill>
                  <a:schemeClr val="bg1"/>
                </a:solidFill>
              </a:rPr>
              <a:t>OBSERVACIONES NUEVAS</a:t>
            </a:r>
            <a:endParaRPr lang="es-SV" sz="900" noProof="0" dirty="0"/>
          </a:p>
        </p:txBody>
      </p:sp>
      <p:sp>
        <p:nvSpPr>
          <p:cNvPr id="13" name="Etiqueta 00 fondo"/>
          <p:cNvSpPr/>
          <p:nvPr/>
        </p:nvSpPr>
        <p:spPr>
          <a:xfrm>
            <a:off x="8046720" y="1879091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14" name="Etiqueta 00"/>
          <p:cNvSpPr txBox="1"/>
          <p:nvPr/>
        </p:nvSpPr>
        <p:spPr>
          <a:xfrm>
            <a:off x="8046720" y="1879091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300" b="1" kern="0" spc="50" noProof="0" dirty="0">
                <a:solidFill>
                  <a:schemeClr val="bg1"/>
                </a:solidFill>
              </a:rPr>
              <a:t>A</a:t>
            </a:r>
            <a:endParaRPr lang="es-SV" sz="1300" noProof="0" dirty="0"/>
          </a:p>
        </p:txBody>
      </p:sp>
      <p:sp>
        <p:nvSpPr>
          <p:cNvPr id="15" name="Item 00"/>
          <p:cNvSpPr txBox="1"/>
          <p:nvPr/>
        </p:nvSpPr>
        <p:spPr>
          <a:xfrm>
            <a:off x="8641080" y="1645920"/>
            <a:ext cx="17647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SV" sz="1150" b="1" noProof="0" dirty="0">
                <a:solidFill>
                  <a:schemeClr val="tx1"/>
                </a:solidFill>
              </a:rPr>
              <a:t>Gestión de Riesgo de LDA/FT/FPADM</a:t>
            </a:r>
            <a:endParaRPr lang="es-SV" sz="1400" noProof="0" dirty="0"/>
          </a:p>
        </p:txBody>
      </p:sp>
      <p:sp>
        <p:nvSpPr>
          <p:cNvPr id="16" name="Item cifra 00"/>
          <p:cNvSpPr txBox="1"/>
          <p:nvPr/>
        </p:nvSpPr>
        <p:spPr>
          <a:xfrm>
            <a:off x="10451592" y="1645920"/>
            <a:ext cx="1143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SV" sz="1100" noProof="0" dirty="0">
                <a:solidFill>
                  <a:schemeClr val="accent5"/>
                </a:solidFill>
              </a:rPr>
              <a:t>2 observaciones</a:t>
            </a:r>
            <a:endParaRPr lang="es-SV" sz="1300" noProof="0" dirty="0"/>
          </a:p>
        </p:txBody>
      </p:sp>
      <p:sp>
        <p:nvSpPr>
          <p:cNvPr id="17" name="Shape 14"/>
          <p:cNvSpPr/>
          <p:nvPr/>
        </p:nvSpPr>
        <p:spPr>
          <a:xfrm>
            <a:off x="8046720" y="2404872"/>
            <a:ext cx="3502152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18" name="Etiqueta 01 fondo"/>
          <p:cNvSpPr/>
          <p:nvPr/>
        </p:nvSpPr>
        <p:spPr>
          <a:xfrm>
            <a:off x="8046720" y="2638044"/>
            <a:ext cx="45720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19" name="Etiqueta 01"/>
          <p:cNvSpPr txBox="1"/>
          <p:nvPr/>
        </p:nvSpPr>
        <p:spPr>
          <a:xfrm>
            <a:off x="8046720" y="26380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300" b="1" kern="0" spc="50" noProof="0" dirty="0">
                <a:solidFill>
                  <a:schemeClr val="bg1"/>
                </a:solidFill>
              </a:rPr>
              <a:t>B</a:t>
            </a:r>
            <a:endParaRPr lang="es-SV" sz="1300" noProof="0" dirty="0"/>
          </a:p>
        </p:txBody>
      </p:sp>
      <p:sp>
        <p:nvSpPr>
          <p:cNvPr id="20" name="Item 01"/>
          <p:cNvSpPr txBox="1"/>
          <p:nvPr/>
        </p:nvSpPr>
        <p:spPr>
          <a:xfrm>
            <a:off x="8641080" y="2404872"/>
            <a:ext cx="187451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SV" sz="1150" b="1" noProof="0" dirty="0">
                <a:solidFill>
                  <a:schemeClr val="tx1"/>
                </a:solidFill>
              </a:rPr>
              <a:t>Proceso de implementación de la Herramienta de Monitoreo</a:t>
            </a:r>
            <a:endParaRPr lang="es-SV" sz="1400" noProof="0" dirty="0"/>
          </a:p>
        </p:txBody>
      </p:sp>
      <p:sp>
        <p:nvSpPr>
          <p:cNvPr id="21" name="Item cifra 01"/>
          <p:cNvSpPr txBox="1"/>
          <p:nvPr/>
        </p:nvSpPr>
        <p:spPr>
          <a:xfrm>
            <a:off x="10451592" y="2404872"/>
            <a:ext cx="1143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SV" sz="1100" noProof="0" dirty="0">
                <a:solidFill>
                  <a:schemeClr val="accent5"/>
                </a:solidFill>
              </a:rPr>
              <a:t>15 observaciones</a:t>
            </a:r>
            <a:endParaRPr lang="es-SV" sz="1300" noProof="0" dirty="0"/>
          </a:p>
        </p:txBody>
      </p:sp>
      <p:sp>
        <p:nvSpPr>
          <p:cNvPr id="22" name="Bloque 1"/>
          <p:cNvSpPr txBox="1"/>
          <p:nvPr/>
        </p:nvSpPr>
        <p:spPr>
          <a:xfrm>
            <a:off x="2926080" y="34015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2400" b="1" noProof="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a visitas anteriores</a:t>
            </a:r>
            <a:endParaRPr lang="es-SV" sz="2400" noProof="0" dirty="0"/>
          </a:p>
        </p:txBody>
      </p:sp>
      <p:sp>
        <p:nvSpPr>
          <p:cNvPr id="23" name="Bloque sub 1"/>
          <p:cNvSpPr txBox="1"/>
          <p:nvPr/>
        </p:nvSpPr>
        <p:spPr>
          <a:xfrm>
            <a:off x="7680960" y="3401568"/>
            <a:ext cx="4053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s-SV" sz="1200" noProof="0" dirty="0"/>
          </a:p>
        </p:txBody>
      </p:sp>
      <p:sp>
        <p:nvSpPr>
          <p:cNvPr id="24" name="Tarjeta 1"/>
          <p:cNvSpPr/>
          <p:nvPr/>
        </p:nvSpPr>
        <p:spPr>
          <a:xfrm>
            <a:off x="2926080" y="3950208"/>
            <a:ext cx="8808415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25" name="Cifra fondo 1"/>
          <p:cNvSpPr/>
          <p:nvPr/>
        </p:nvSpPr>
        <p:spPr>
          <a:xfrm>
            <a:off x="3063240" y="4087368"/>
            <a:ext cx="1463040" cy="2011680"/>
          </a:xfrm>
          <a:prstGeom prst="roundRect">
            <a:avLst>
              <a:gd name="adj" fmla="val 6250"/>
            </a:avLst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26" name="Cifra 1"/>
          <p:cNvSpPr txBox="1"/>
          <p:nvPr/>
        </p:nvSpPr>
        <p:spPr>
          <a:xfrm>
            <a:off x="3063240" y="445312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48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s-SV" sz="4800" noProof="0" dirty="0"/>
          </a:p>
        </p:txBody>
      </p:sp>
      <p:sp>
        <p:nvSpPr>
          <p:cNvPr id="27" name="Cifra lab 1"/>
          <p:cNvSpPr txBox="1"/>
          <p:nvPr/>
        </p:nvSpPr>
        <p:spPr>
          <a:xfrm>
            <a:off x="3108960" y="5230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SV" sz="900" b="1" kern="0" spc="100" noProof="0" dirty="0">
                <a:solidFill>
                  <a:schemeClr val="bg1"/>
                </a:solidFill>
              </a:rPr>
              <a:t>OBSERVACIONES </a:t>
            </a:r>
          </a:p>
          <a:p>
            <a:pPr marL="0" indent="0" algn="ctr">
              <a:buNone/>
            </a:pPr>
            <a:r>
              <a:rPr lang="es-SV" sz="900" b="1" kern="0" spc="100" noProof="0" dirty="0">
                <a:solidFill>
                  <a:schemeClr val="bg1"/>
                </a:solidFill>
              </a:rPr>
              <a:t>EN SEGUIMIENTO</a:t>
            </a:r>
            <a:endParaRPr lang="es-SV" sz="900" noProof="0" dirty="0"/>
          </a:p>
        </p:txBody>
      </p:sp>
      <p:sp>
        <p:nvSpPr>
          <p:cNvPr id="28" name="Etiqueta 10 fondo"/>
          <p:cNvSpPr/>
          <p:nvPr/>
        </p:nvSpPr>
        <p:spPr>
          <a:xfrm>
            <a:off x="4800600" y="4276344"/>
            <a:ext cx="16002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29" name="Etiqueta 10"/>
          <p:cNvSpPr txBox="1"/>
          <p:nvPr/>
        </p:nvSpPr>
        <p:spPr>
          <a:xfrm>
            <a:off x="4800600" y="427634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000" b="1" kern="0" spc="50" noProof="0" dirty="0">
                <a:solidFill>
                  <a:schemeClr val="bg1"/>
                </a:solidFill>
              </a:rPr>
              <a:t>Circular 16572</a:t>
            </a:r>
            <a:endParaRPr lang="es-SV" sz="1000" noProof="0" dirty="0"/>
          </a:p>
        </p:txBody>
      </p:sp>
      <p:sp>
        <p:nvSpPr>
          <p:cNvPr id="30" name="Item 10"/>
          <p:cNvSpPr txBox="1"/>
          <p:nvPr/>
        </p:nvSpPr>
        <p:spPr>
          <a:xfrm>
            <a:off x="6583680" y="4087368"/>
            <a:ext cx="323057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s-SV" sz="1400" b="1" noProof="0" dirty="0">
                <a:solidFill>
                  <a:schemeClr val="tx1"/>
                </a:solidFill>
              </a:rPr>
              <a:t>Riesgos de Crédito, Operacional y Tecnológico · 10/09/2025</a:t>
            </a:r>
            <a:endParaRPr lang="es-SV" sz="1400" noProof="0" dirty="0"/>
          </a:p>
        </p:txBody>
      </p:sp>
      <p:sp>
        <p:nvSpPr>
          <p:cNvPr id="31" name="Item cifra 10"/>
          <p:cNvSpPr txBox="1"/>
          <p:nvPr/>
        </p:nvSpPr>
        <p:spPr>
          <a:xfrm>
            <a:off x="9905695" y="4087368"/>
            <a:ext cx="1645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SV" sz="1300" noProof="0" dirty="0">
                <a:solidFill>
                  <a:schemeClr val="accent5"/>
                </a:solidFill>
              </a:rPr>
              <a:t>3 observaciones</a:t>
            </a:r>
            <a:endParaRPr lang="es-SV" sz="1300" noProof="0" dirty="0"/>
          </a:p>
        </p:txBody>
      </p:sp>
      <p:sp>
        <p:nvSpPr>
          <p:cNvPr id="32" name="Shape 29"/>
          <p:cNvSpPr/>
          <p:nvPr/>
        </p:nvSpPr>
        <p:spPr>
          <a:xfrm>
            <a:off x="4800600" y="4757928"/>
            <a:ext cx="6751015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33" name="Etiqueta 11 fondo"/>
          <p:cNvSpPr/>
          <p:nvPr/>
        </p:nvSpPr>
        <p:spPr>
          <a:xfrm>
            <a:off x="4800600" y="4946904"/>
            <a:ext cx="16002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34" name="Etiqueta 11"/>
          <p:cNvSpPr txBox="1"/>
          <p:nvPr/>
        </p:nvSpPr>
        <p:spPr>
          <a:xfrm>
            <a:off x="4800600" y="49469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000" b="1" kern="0" spc="50" noProof="0" dirty="0">
                <a:solidFill>
                  <a:schemeClr val="bg1"/>
                </a:solidFill>
              </a:rPr>
              <a:t>Circular 18445</a:t>
            </a:r>
            <a:endParaRPr lang="es-SV" sz="1000" noProof="0" dirty="0"/>
          </a:p>
        </p:txBody>
      </p:sp>
      <p:sp>
        <p:nvSpPr>
          <p:cNvPr id="35" name="Item 11"/>
          <p:cNvSpPr txBox="1"/>
          <p:nvPr/>
        </p:nvSpPr>
        <p:spPr>
          <a:xfrm>
            <a:off x="6583680" y="4757928"/>
            <a:ext cx="323057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400" b="1" noProof="0" dirty="0">
                <a:solidFill>
                  <a:schemeClr val="tx1"/>
                </a:solidFill>
              </a:rPr>
              <a:t>NRP-36 · LDA/FT/FPADM · 30/10/2025</a:t>
            </a:r>
            <a:endParaRPr lang="es-SV" sz="1400" noProof="0" dirty="0"/>
          </a:p>
        </p:txBody>
      </p:sp>
      <p:sp>
        <p:nvSpPr>
          <p:cNvPr id="36" name="Item cifra 11"/>
          <p:cNvSpPr txBox="1"/>
          <p:nvPr/>
        </p:nvSpPr>
        <p:spPr>
          <a:xfrm>
            <a:off x="9905695" y="4757928"/>
            <a:ext cx="1645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SV" sz="1300" noProof="0" dirty="0">
                <a:solidFill>
                  <a:schemeClr val="accent5"/>
                </a:solidFill>
              </a:rPr>
              <a:t>2 observaciones</a:t>
            </a:r>
            <a:endParaRPr lang="es-SV" sz="1300" noProof="0" dirty="0"/>
          </a:p>
        </p:txBody>
      </p:sp>
      <p:sp>
        <p:nvSpPr>
          <p:cNvPr id="37" name="Shape 34"/>
          <p:cNvSpPr/>
          <p:nvPr/>
        </p:nvSpPr>
        <p:spPr>
          <a:xfrm>
            <a:off x="4800600" y="5428488"/>
            <a:ext cx="6751015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38" name="Etiqueta 12 fondo"/>
          <p:cNvSpPr/>
          <p:nvPr/>
        </p:nvSpPr>
        <p:spPr>
          <a:xfrm>
            <a:off x="4800600" y="5617464"/>
            <a:ext cx="16002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39" name="Etiqueta 12"/>
          <p:cNvSpPr txBox="1"/>
          <p:nvPr/>
        </p:nvSpPr>
        <p:spPr>
          <a:xfrm>
            <a:off x="4800600" y="56174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000" b="1" kern="0" spc="50" noProof="0" dirty="0">
                <a:solidFill>
                  <a:schemeClr val="bg1"/>
                </a:solidFill>
              </a:rPr>
              <a:t>Circular 29295</a:t>
            </a:r>
            <a:endParaRPr lang="es-SV" sz="1000" noProof="0" dirty="0"/>
          </a:p>
        </p:txBody>
      </p:sp>
      <p:sp>
        <p:nvSpPr>
          <p:cNvPr id="40" name="Item 12"/>
          <p:cNvSpPr txBox="1"/>
          <p:nvPr/>
        </p:nvSpPr>
        <p:spPr>
          <a:xfrm>
            <a:off x="6583680" y="5428488"/>
            <a:ext cx="323057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s-SV" sz="1400" b="1" noProof="0" dirty="0">
                <a:solidFill>
                  <a:schemeClr val="tx1"/>
                </a:solidFill>
              </a:rPr>
              <a:t>Guías de Calidad de la Gestión de Riesgos Específicos · 03/12/2025</a:t>
            </a:r>
            <a:endParaRPr lang="es-SV" sz="1400" noProof="0" dirty="0"/>
          </a:p>
        </p:txBody>
      </p:sp>
      <p:sp>
        <p:nvSpPr>
          <p:cNvPr id="41" name="Item cifra 12"/>
          <p:cNvSpPr txBox="1"/>
          <p:nvPr/>
        </p:nvSpPr>
        <p:spPr>
          <a:xfrm>
            <a:off x="9905695" y="5428488"/>
            <a:ext cx="1645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SV" sz="1300" noProof="0" dirty="0">
                <a:solidFill>
                  <a:schemeClr val="accent5"/>
                </a:solidFill>
              </a:rPr>
              <a:t>4 observaciones</a:t>
            </a:r>
            <a:endParaRPr lang="es-SV" sz="1300" noProof="0" dirty="0"/>
          </a:p>
        </p:txBody>
      </p:sp>
      <p:sp>
        <p:nvSpPr>
          <p:cNvPr id="42" name="No superadas fondo"/>
          <p:cNvSpPr/>
          <p:nvPr/>
        </p:nvSpPr>
        <p:spPr>
          <a:xfrm>
            <a:off x="7756855" y="3474720"/>
            <a:ext cx="155448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43" name="No superadas"/>
          <p:cNvSpPr txBox="1"/>
          <p:nvPr/>
        </p:nvSpPr>
        <p:spPr>
          <a:xfrm>
            <a:off x="7756855" y="3474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50" b="1" kern="0" spc="50" noProof="0" dirty="0">
                <a:solidFill>
                  <a:schemeClr val="bg1"/>
                </a:solidFill>
              </a:rPr>
              <a:t>5 NO SUPERADAS</a:t>
            </a:r>
            <a:endParaRPr lang="es-SV" sz="950" noProof="0" dirty="0"/>
          </a:p>
        </p:txBody>
      </p:sp>
      <p:sp>
        <p:nvSpPr>
          <p:cNvPr id="44" name="Parciales fondo"/>
          <p:cNvSpPr/>
          <p:nvPr/>
        </p:nvSpPr>
        <p:spPr>
          <a:xfrm>
            <a:off x="9402775" y="3474720"/>
            <a:ext cx="233172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45" name="Parciales"/>
          <p:cNvSpPr txBox="1"/>
          <p:nvPr/>
        </p:nvSpPr>
        <p:spPr>
          <a:xfrm>
            <a:off x="9402775" y="34747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50" b="1" kern="0" spc="50" noProof="0" dirty="0">
                <a:solidFill>
                  <a:schemeClr val="bg1"/>
                </a:solidFill>
              </a:rPr>
              <a:t>4 PARCIALMENTE SUPERADAS</a:t>
            </a:r>
            <a:endParaRPr lang="es-SV" sz="950" noProof="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s-SV" b="0" noProof="0" smtClean="0"/>
              <a:t>1</a:t>
            </a:fld>
            <a:endParaRPr lang="es-SV" noProof="0" dirty="0"/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88F342F0-9FAF-F32A-DE01-EE17ECF4C0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340" r="18123" b="30405"/>
          <a:stretch>
            <a:fillRect/>
          </a:stretch>
        </p:blipFill>
        <p:spPr>
          <a:xfrm>
            <a:off x="333621" y="4919192"/>
            <a:ext cx="1789266" cy="1396543"/>
          </a:xfrm>
          <a:prstGeom prst="rect">
            <a:avLst/>
          </a:prstGeom>
        </p:spPr>
      </p:pic>
      <p:sp>
        <p:nvSpPr>
          <p:cNvPr id="49" name="Tarjeta visita"/>
          <p:cNvSpPr/>
          <p:nvPr/>
        </p:nvSpPr>
        <p:spPr>
          <a:xfrm>
            <a:off x="2926080" y="914400"/>
            <a:ext cx="28803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Fechas visita"/>
          <p:cNvSpPr/>
          <p:nvPr/>
        </p:nvSpPr>
        <p:spPr>
          <a:xfrm>
            <a:off x="3054096" y="1042416"/>
            <a:ext cx="1024128" cy="2029967"/>
          </a:xfrm>
          <a:prstGeom prst="roundRect">
            <a:avLst>
              <a:gd name="adj" fmla="val 10000"/>
            </a:avLst>
          </a:prstGeom>
          <a:solidFill>
            <a:srgbClr val="17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Fecha etiqueta visita 0"/>
          <p:cNvSpPr txBox="1"/>
          <p:nvPr/>
        </p:nvSpPr>
        <p:spPr>
          <a:xfrm>
            <a:off x="3054096" y="1188720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50">
                <a:solidFill>
                  <a:srgbClr val="FFFFFF"/>
                </a:solidFill>
                <a:latin typeface="Calibri"/>
              </a:rPr>
              <a:t>INICIO DE VISITA</a:t>
            </a:r>
          </a:p>
        </p:txBody>
      </p:sp>
      <p:sp>
        <p:nvSpPr>
          <p:cNvPr id="52" name="Fecha día visita 0"/>
          <p:cNvSpPr txBox="1"/>
          <p:nvPr/>
        </p:nvSpPr>
        <p:spPr>
          <a:xfrm>
            <a:off x="3054096" y="1371600"/>
            <a:ext cx="102412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53" name="Fecha mes visita 0"/>
          <p:cNvSpPr txBox="1"/>
          <p:nvPr/>
        </p:nvSpPr>
        <p:spPr>
          <a:xfrm>
            <a:off x="3054096" y="1810512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50">
                <a:solidFill>
                  <a:srgbClr val="FFFFFF"/>
                </a:solidFill>
                <a:latin typeface="Calibri"/>
              </a:rPr>
              <a:t>JUL 2026</a:t>
            </a:r>
          </a:p>
        </p:txBody>
      </p:sp>
      <p:sp>
        <p:nvSpPr>
          <p:cNvPr id="54" name="Fecha etiqueta visita 1"/>
          <p:cNvSpPr txBox="1"/>
          <p:nvPr/>
        </p:nvSpPr>
        <p:spPr>
          <a:xfrm>
            <a:off x="3054096" y="2212848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50">
                <a:solidFill>
                  <a:srgbClr val="FFFFFF"/>
                </a:solidFill>
                <a:latin typeface="Calibri"/>
              </a:rPr>
              <a:t>ACTA DE CIERRE</a:t>
            </a:r>
          </a:p>
        </p:txBody>
      </p:sp>
      <p:sp>
        <p:nvSpPr>
          <p:cNvPr id="55" name="Fecha día visita 1"/>
          <p:cNvSpPr txBox="1"/>
          <p:nvPr/>
        </p:nvSpPr>
        <p:spPr>
          <a:xfrm>
            <a:off x="3054096" y="2395728"/>
            <a:ext cx="102412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56" name="Fecha mes visita 1"/>
          <p:cNvSpPr txBox="1"/>
          <p:nvPr/>
        </p:nvSpPr>
        <p:spPr>
          <a:xfrm>
            <a:off x="3054096" y="2834640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50">
                <a:solidFill>
                  <a:srgbClr val="FFFFFF"/>
                </a:solidFill>
                <a:latin typeface="Calibri"/>
              </a:rPr>
              <a:t>SEP 2026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236976" y="2057400"/>
            <a:ext cx="658368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ircular visita"/>
          <p:cNvSpPr txBox="1"/>
          <p:nvPr/>
        </p:nvSpPr>
        <p:spPr>
          <a:xfrm>
            <a:off x="4242817" y="1572768"/>
            <a:ext cx="14538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586579"/>
                </a:solidFill>
                <a:latin typeface="Calibri"/>
              </a:rPr>
              <a:t>Circular No.</a:t>
            </a:r>
          </a:p>
          <a:p>
            <a:pPr algn="l"/>
            <a:r>
              <a:rPr sz="1000" b="1" dirty="0">
                <a:solidFill>
                  <a:srgbClr val="173A6E"/>
                </a:solidFill>
                <a:latin typeface="Calibri"/>
              </a:rPr>
              <a:t>SABAO-BCS-BC-15527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215384" y="2037668"/>
            <a:ext cx="1453896" cy="0"/>
          </a:xfrm>
          <a:prstGeom prst="line">
            <a:avLst/>
          </a:prstGeom>
          <a:ln w="9525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orte visita"/>
          <p:cNvSpPr txBox="1"/>
          <p:nvPr/>
        </p:nvSpPr>
        <p:spPr>
          <a:xfrm>
            <a:off x="4262870" y="2194560"/>
            <a:ext cx="145389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dirty="0">
                <a:solidFill>
                  <a:srgbClr val="586579"/>
                </a:solidFill>
                <a:latin typeface="Calibri"/>
              </a:rPr>
              <a:t>Corte  </a:t>
            </a:r>
            <a:r>
              <a:rPr sz="1100" b="1" dirty="0">
                <a:solidFill>
                  <a:srgbClr val="142033"/>
                </a:solidFill>
                <a:latin typeface="Calibri"/>
              </a:rPr>
              <a:t>31/05/2026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242817" y="2649193"/>
            <a:ext cx="1453896" cy="0"/>
          </a:xfrm>
          <a:prstGeom prst="line">
            <a:avLst/>
          </a:prstGeom>
          <a:ln w="9525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lecha visita"/>
          <p:cNvSpPr/>
          <p:nvPr/>
        </p:nvSpPr>
        <p:spPr>
          <a:xfrm>
            <a:off x="5897879" y="1920240"/>
            <a:ext cx="274320" cy="274320"/>
          </a:xfrm>
          <a:prstGeom prst="rightArrow">
            <a:avLst/>
          </a:prstGeom>
          <a:solidFill>
            <a:srgbClr val="1D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ipo visita"/>
          <p:cNvSpPr txBox="1"/>
          <p:nvPr/>
        </p:nvSpPr>
        <p:spPr>
          <a:xfrm>
            <a:off x="4242816" y="1024128"/>
            <a:ext cx="1508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142033"/>
                </a:solidFill>
                <a:latin typeface="Calibri"/>
              </a:rPr>
              <a:t>Nombramiento de visita ampliada</a:t>
            </a:r>
          </a:p>
        </p:txBody>
      </p:sp>
      <p:sp>
        <p:nvSpPr>
          <p:cNvPr id="65" name="Tipo resultados"/>
          <p:cNvSpPr txBox="1"/>
          <p:nvPr/>
        </p:nvSpPr>
        <p:spPr>
          <a:xfrm>
            <a:off x="8046720" y="1005840"/>
            <a:ext cx="35295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142033"/>
                </a:solidFill>
                <a:latin typeface="Calibri"/>
              </a:rPr>
              <a:t>Resultados preliminares</a:t>
            </a:r>
          </a:p>
        </p:txBody>
      </p:sp>
      <p:sp>
        <p:nvSpPr>
          <p:cNvPr id="66" name="Circular resultados"/>
          <p:cNvSpPr txBox="1"/>
          <p:nvPr/>
        </p:nvSpPr>
        <p:spPr>
          <a:xfrm>
            <a:off x="8046720" y="1298448"/>
            <a:ext cx="352958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586579"/>
                </a:solidFill>
                <a:latin typeface="Calibri"/>
              </a:rPr>
              <a:t>Circular No.  </a:t>
            </a:r>
            <a:r>
              <a:rPr sz="1000" b="1">
                <a:solidFill>
                  <a:srgbClr val="173A6E"/>
                </a:solidFill>
                <a:latin typeface="Calibri"/>
              </a:rPr>
              <a:t>DS-SABAO-BCS-BC-23486</a:t>
            </a:r>
            <a:r>
              <a:rPr sz="1100" b="0">
                <a:solidFill>
                  <a:srgbClr val="142033"/>
                </a:solidFill>
                <a:latin typeface="Calibri"/>
              </a:rPr>
              <a:t>   </a:t>
            </a:r>
            <a:r>
              <a:rPr sz="1000" b="1">
                <a:solidFill>
                  <a:srgbClr val="173A6E"/>
                </a:solidFill>
                <a:latin typeface="Calibri"/>
              </a:rPr>
              <a:t>02/10/2026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046720" y="1591056"/>
            <a:ext cx="3529584" cy="0"/>
          </a:xfrm>
          <a:prstGeom prst="line">
            <a:avLst/>
          </a:prstGeom>
          <a:ln w="9525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SV" sz="1050" b="1" kern="0" spc="200" noProof="0" dirty="0">
                <a:solidFill>
                  <a:schemeClr val="accent5"/>
                </a:solidFill>
              </a:rPr>
              <a:t>CIRCULAR DS-SABAO-BCS-BC-23486 · OBSERVACIONES NUEVAS</a:t>
            </a:r>
            <a:endParaRPr lang="es-SV" sz="1050" noProof="0" dirty="0"/>
          </a:p>
        </p:txBody>
      </p:sp>
      <p:sp>
        <p:nvSpPr>
          <p:cNvPr id="3" name="Título"/>
          <p:cNvSpPr txBox="1"/>
          <p:nvPr/>
        </p:nvSpPr>
        <p:spPr>
          <a:xfrm>
            <a:off x="457200" y="548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2800" b="1" noProof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Observaciones nuevas</a:t>
            </a:r>
            <a:endParaRPr lang="es-SV" sz="2800" noProof="0" dirty="0"/>
          </a:p>
        </p:txBody>
      </p:sp>
      <p:pic>
        <p:nvPicPr>
          <p:cNvPr id="4" name="Logo COMEDICA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256032"/>
            <a:ext cx="1828800" cy="561399"/>
          </a:xfrm>
          <a:prstGeom prst="rect">
            <a:avLst/>
          </a:prstGeom>
        </p:spPr>
      </p:pic>
      <p:sp>
        <p:nvSpPr>
          <p:cNvPr id="5" name="Banda A"/>
          <p:cNvSpPr/>
          <p:nvPr/>
        </p:nvSpPr>
        <p:spPr>
          <a:xfrm>
            <a:off x="457200" y="1207008"/>
            <a:ext cx="11277295" cy="329184"/>
          </a:xfrm>
          <a:prstGeom prst="roundRect">
            <a:avLst>
              <a:gd name="adj" fmla="val 16667"/>
            </a:avLst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6" name="Banda texto A0"/>
          <p:cNvSpPr txBox="1"/>
          <p:nvPr/>
        </p:nvSpPr>
        <p:spPr>
          <a:xfrm>
            <a:off x="621792" y="1207008"/>
            <a:ext cx="109481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300" b="1" noProof="0" dirty="0">
                <a:solidFill>
                  <a:schemeClr val="bg1"/>
                </a:solidFill>
              </a:rPr>
              <a:t>A. Gestión de Riesgo de LDA/FT/FPADM</a:t>
            </a:r>
            <a:endParaRPr lang="es-SV" sz="1300" noProof="0" dirty="0"/>
          </a:p>
        </p:txBody>
      </p:sp>
      <p:sp>
        <p:nvSpPr>
          <p:cNvPr id="7" name="Obs A.1"/>
          <p:cNvSpPr/>
          <p:nvPr/>
        </p:nvSpPr>
        <p:spPr>
          <a:xfrm>
            <a:off x="457200" y="1609344"/>
            <a:ext cx="5574640" cy="1230423"/>
          </a:xfrm>
          <a:prstGeom prst="roundRect">
            <a:avLst>
              <a:gd name="adj" fmla="val 7432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8" name="Número A.1 círculo"/>
          <p:cNvSpPr/>
          <p:nvPr/>
        </p:nvSpPr>
        <p:spPr>
          <a:xfrm>
            <a:off x="566928" y="171907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9" name="Número A.1"/>
          <p:cNvSpPr txBox="1"/>
          <p:nvPr/>
        </p:nvSpPr>
        <p:spPr>
          <a:xfrm>
            <a:off x="566928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1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A.1</a:t>
            </a:r>
            <a:endParaRPr lang="es-SV" sz="1100" noProof="0" dirty="0"/>
          </a:p>
        </p:txBody>
      </p:sp>
      <p:sp>
        <p:nvSpPr>
          <p:cNvPr id="10" name="Responsable A.1"/>
          <p:cNvSpPr txBox="1"/>
          <p:nvPr/>
        </p:nvSpPr>
        <p:spPr>
          <a:xfrm>
            <a:off x="1115568" y="1682496"/>
            <a:ext cx="4806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850" b="1" noProof="0" dirty="0">
                <a:solidFill>
                  <a:schemeClr val="accent5"/>
                </a:solidFill>
              </a:rPr>
              <a:t>RESPONSABLE</a:t>
            </a:r>
            <a:endParaRPr lang="es-SV" sz="1200" noProof="0" dirty="0"/>
          </a:p>
          <a:p>
            <a:pPr marL="0" indent="0">
              <a:buNone/>
            </a:pPr>
            <a:r>
              <a:rPr lang="es-SV" sz="1000" noProof="0" dirty="0">
                <a:solidFill>
                  <a:schemeClr val="tx1"/>
                </a:solidFill>
              </a:rPr>
              <a:t>Gerencia de Cumplimiento</a:t>
            </a:r>
            <a:endParaRPr lang="es-SV" sz="1200" noProof="0" dirty="0"/>
          </a:p>
        </p:txBody>
      </p:sp>
      <p:sp>
        <p:nvSpPr>
          <p:cNvPr id="11" name="Título A.1"/>
          <p:cNvSpPr txBox="1"/>
          <p:nvPr/>
        </p:nvSpPr>
        <p:spPr>
          <a:xfrm>
            <a:off x="603504" y="2286000"/>
            <a:ext cx="5282032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50" b="1" noProof="0" dirty="0">
                <a:solidFill>
                  <a:schemeClr val="accent1"/>
                </a:solidFill>
              </a:rPr>
              <a:t>Deficiencias en la conformación y actualización de expedientes de clientes.</a:t>
            </a:r>
            <a:endParaRPr lang="es-SV" sz="950" noProof="0" dirty="0"/>
          </a:p>
        </p:txBody>
      </p:sp>
      <p:sp>
        <p:nvSpPr>
          <p:cNvPr id="12" name="Comentario A.1"/>
          <p:cNvSpPr txBox="1"/>
          <p:nvPr/>
        </p:nvSpPr>
        <p:spPr>
          <a:xfrm>
            <a:off x="603504" y="2547747"/>
            <a:ext cx="5282032" cy="20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SV" sz="850" b="1" noProof="0" dirty="0">
                <a:solidFill>
                  <a:schemeClr val="accent5"/>
                </a:solidFill>
              </a:rPr>
              <a:t>Comentarios  </a:t>
            </a:r>
            <a:r>
              <a:rPr lang="es-SV" sz="800" b="1" dirty="0">
                <a:solidFill>
                  <a:schemeClr val="accent4">
                    <a:lumMod val="75000"/>
                  </a:schemeClr>
                </a:solidFill>
              </a:rPr>
              <a:t>Se incorporará prueba de descargo</a:t>
            </a:r>
            <a:r>
              <a:rPr lang="es-SV" sz="850" b="1" dirty="0">
                <a:solidFill>
                  <a:schemeClr val="accent6"/>
                </a:solidFill>
              </a:rPr>
              <a:t> </a:t>
            </a:r>
            <a:endParaRPr lang="es-SV" sz="850" noProof="0" dirty="0"/>
          </a:p>
        </p:txBody>
      </p:sp>
      <p:sp>
        <p:nvSpPr>
          <p:cNvPr id="13" name="Obs A.2"/>
          <p:cNvSpPr/>
          <p:nvPr/>
        </p:nvSpPr>
        <p:spPr>
          <a:xfrm>
            <a:off x="6159856" y="1609344"/>
            <a:ext cx="5574640" cy="1230423"/>
          </a:xfrm>
          <a:prstGeom prst="roundRect">
            <a:avLst>
              <a:gd name="adj" fmla="val 7432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14" name="Número A.2 círculo"/>
          <p:cNvSpPr/>
          <p:nvPr/>
        </p:nvSpPr>
        <p:spPr>
          <a:xfrm>
            <a:off x="6269584" y="171907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15" name="Número A.2"/>
          <p:cNvSpPr txBox="1"/>
          <p:nvPr/>
        </p:nvSpPr>
        <p:spPr>
          <a:xfrm>
            <a:off x="6269584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1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A.2</a:t>
            </a:r>
            <a:endParaRPr lang="es-SV" sz="1100" noProof="0" dirty="0"/>
          </a:p>
        </p:txBody>
      </p:sp>
      <p:sp>
        <p:nvSpPr>
          <p:cNvPr id="16" name="Responsable A.2"/>
          <p:cNvSpPr txBox="1"/>
          <p:nvPr/>
        </p:nvSpPr>
        <p:spPr>
          <a:xfrm>
            <a:off x="6818224" y="1682496"/>
            <a:ext cx="4806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850" b="1" noProof="0" dirty="0">
                <a:solidFill>
                  <a:schemeClr val="accent5"/>
                </a:solidFill>
              </a:rPr>
              <a:t>RESPONSABLE</a:t>
            </a:r>
            <a:endParaRPr lang="es-SV" sz="1200" noProof="0" dirty="0"/>
          </a:p>
          <a:p>
            <a:pPr marL="0" indent="0">
              <a:buNone/>
            </a:pPr>
            <a:r>
              <a:rPr lang="es-SV" sz="1000" noProof="0" dirty="0">
                <a:solidFill>
                  <a:schemeClr val="tx1"/>
                </a:solidFill>
              </a:rPr>
              <a:t>Gerencia de Cumplimiento</a:t>
            </a:r>
            <a:endParaRPr lang="es-SV" sz="1200" noProof="0" dirty="0"/>
          </a:p>
        </p:txBody>
      </p:sp>
      <p:sp>
        <p:nvSpPr>
          <p:cNvPr id="17" name="Título A.2"/>
          <p:cNvSpPr txBox="1"/>
          <p:nvPr/>
        </p:nvSpPr>
        <p:spPr>
          <a:xfrm>
            <a:off x="6306160" y="2286000"/>
            <a:ext cx="5282032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50" b="1" noProof="0" dirty="0">
                <a:solidFill>
                  <a:schemeClr val="accent1"/>
                </a:solidFill>
              </a:rPr>
              <a:t>Deficiencias en la identificación de la actividad económica realizada por clientes.</a:t>
            </a:r>
            <a:endParaRPr lang="es-SV" sz="950" noProof="0" dirty="0"/>
          </a:p>
        </p:txBody>
      </p:sp>
      <p:sp>
        <p:nvSpPr>
          <p:cNvPr id="18" name="Comentario A.2"/>
          <p:cNvSpPr txBox="1"/>
          <p:nvPr/>
        </p:nvSpPr>
        <p:spPr>
          <a:xfrm>
            <a:off x="6340814" y="2542735"/>
            <a:ext cx="5282032" cy="20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SV" sz="850" b="1" noProof="0" dirty="0">
                <a:solidFill>
                  <a:schemeClr val="accent5"/>
                </a:solidFill>
              </a:rPr>
              <a:t>Comentarios </a:t>
            </a:r>
            <a:r>
              <a:rPr lang="es-SV" sz="800" b="1" dirty="0">
                <a:solidFill>
                  <a:schemeClr val="accent4">
                    <a:lumMod val="75000"/>
                  </a:schemeClr>
                </a:solidFill>
              </a:rPr>
              <a:t>Se incorporará prueba de descargo </a:t>
            </a:r>
          </a:p>
        </p:txBody>
      </p:sp>
      <p:sp>
        <p:nvSpPr>
          <p:cNvPr id="19" name="Banda B"/>
          <p:cNvSpPr/>
          <p:nvPr/>
        </p:nvSpPr>
        <p:spPr>
          <a:xfrm>
            <a:off x="457200" y="2986071"/>
            <a:ext cx="11277295" cy="329184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20" name="Banda texto B1"/>
          <p:cNvSpPr txBox="1"/>
          <p:nvPr/>
        </p:nvSpPr>
        <p:spPr>
          <a:xfrm>
            <a:off x="621792" y="2986071"/>
            <a:ext cx="109481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300" b="1" noProof="0" dirty="0">
                <a:solidFill>
                  <a:schemeClr val="bg1"/>
                </a:solidFill>
              </a:rPr>
              <a:t>B. Proceso de implementación de la Herramienta de Monitoreo</a:t>
            </a:r>
            <a:endParaRPr lang="es-SV" sz="1300" noProof="0" dirty="0"/>
          </a:p>
        </p:txBody>
      </p:sp>
      <p:sp>
        <p:nvSpPr>
          <p:cNvPr id="21" name="Obs B.1"/>
          <p:cNvSpPr/>
          <p:nvPr/>
        </p:nvSpPr>
        <p:spPr>
          <a:xfrm>
            <a:off x="457200" y="3388407"/>
            <a:ext cx="3673754" cy="1383943"/>
          </a:xfrm>
          <a:prstGeom prst="roundRect">
            <a:avLst>
              <a:gd name="adj" fmla="val 6607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22" name="Número B.1 círculo"/>
          <p:cNvSpPr/>
          <p:nvPr/>
        </p:nvSpPr>
        <p:spPr>
          <a:xfrm>
            <a:off x="566928" y="3498135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23" name="Número B.1"/>
          <p:cNvSpPr txBox="1"/>
          <p:nvPr/>
        </p:nvSpPr>
        <p:spPr>
          <a:xfrm>
            <a:off x="566928" y="34981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1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B.1</a:t>
            </a:r>
            <a:endParaRPr lang="es-SV" sz="1100" noProof="0" dirty="0"/>
          </a:p>
        </p:txBody>
      </p:sp>
      <p:sp>
        <p:nvSpPr>
          <p:cNvPr id="24" name="Responsable B.1"/>
          <p:cNvSpPr txBox="1"/>
          <p:nvPr/>
        </p:nvSpPr>
        <p:spPr>
          <a:xfrm>
            <a:off x="1115568" y="3461559"/>
            <a:ext cx="29056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850" b="1" noProof="0" dirty="0">
                <a:solidFill>
                  <a:schemeClr val="accent5"/>
                </a:solidFill>
              </a:rPr>
              <a:t>RESPONSABLE</a:t>
            </a:r>
            <a:endParaRPr lang="es-SV" sz="1200" noProof="0" dirty="0"/>
          </a:p>
          <a:p>
            <a:pPr marL="0" indent="0">
              <a:buNone/>
            </a:pPr>
            <a:r>
              <a:rPr lang="es-SV" sz="1000" noProof="0" dirty="0">
                <a:solidFill>
                  <a:schemeClr val="tx1"/>
                </a:solidFill>
              </a:rPr>
              <a:t>Gerencia de Cumplimiento</a:t>
            </a:r>
            <a:endParaRPr lang="es-SV" sz="1200" noProof="0" dirty="0"/>
          </a:p>
        </p:txBody>
      </p:sp>
      <p:sp>
        <p:nvSpPr>
          <p:cNvPr id="25" name="Título B.1"/>
          <p:cNvSpPr txBox="1"/>
          <p:nvPr/>
        </p:nvSpPr>
        <p:spPr>
          <a:xfrm>
            <a:off x="603504" y="4065063"/>
            <a:ext cx="3381146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50" b="1" noProof="0" dirty="0">
                <a:solidFill>
                  <a:schemeClr val="accent1"/>
                </a:solidFill>
              </a:rPr>
              <a:t>Falta de actualización de Metodología y matriz de riesgo LA/FT/FPADM de la Entidad</a:t>
            </a:r>
            <a:endParaRPr lang="es-SV" sz="950" noProof="0" dirty="0"/>
          </a:p>
        </p:txBody>
      </p:sp>
      <p:sp>
        <p:nvSpPr>
          <p:cNvPr id="27" name="Obs B.2"/>
          <p:cNvSpPr/>
          <p:nvPr/>
        </p:nvSpPr>
        <p:spPr>
          <a:xfrm>
            <a:off x="4258970" y="3388407"/>
            <a:ext cx="3673754" cy="1383943"/>
          </a:xfrm>
          <a:prstGeom prst="roundRect">
            <a:avLst>
              <a:gd name="adj" fmla="val 6607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28" name="Número B.2 círculo"/>
          <p:cNvSpPr/>
          <p:nvPr/>
        </p:nvSpPr>
        <p:spPr>
          <a:xfrm>
            <a:off x="4368698" y="3498135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29" name="Número B.2"/>
          <p:cNvSpPr txBox="1"/>
          <p:nvPr/>
        </p:nvSpPr>
        <p:spPr>
          <a:xfrm>
            <a:off x="4368698" y="34981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1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B.2</a:t>
            </a:r>
            <a:endParaRPr lang="es-SV" sz="1100" noProof="0" dirty="0"/>
          </a:p>
        </p:txBody>
      </p:sp>
      <p:sp>
        <p:nvSpPr>
          <p:cNvPr id="30" name="Responsable B.2"/>
          <p:cNvSpPr txBox="1"/>
          <p:nvPr/>
        </p:nvSpPr>
        <p:spPr>
          <a:xfrm>
            <a:off x="4917338" y="3461559"/>
            <a:ext cx="29056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850" b="1" noProof="0" dirty="0">
                <a:solidFill>
                  <a:schemeClr val="accent5"/>
                </a:solidFill>
              </a:rPr>
              <a:t>RESPONSABLE</a:t>
            </a:r>
            <a:endParaRPr lang="es-SV" sz="1200" noProof="0" dirty="0"/>
          </a:p>
          <a:p>
            <a:pPr marL="0" indent="0">
              <a:buNone/>
            </a:pPr>
            <a:r>
              <a:rPr lang="es-SV" sz="1000" noProof="0" dirty="0">
                <a:solidFill>
                  <a:schemeClr val="tx1"/>
                </a:solidFill>
              </a:rPr>
              <a:t>Gerencia de Cumplimiento</a:t>
            </a:r>
            <a:endParaRPr lang="es-SV" sz="1200" noProof="0" dirty="0"/>
          </a:p>
        </p:txBody>
      </p:sp>
      <p:sp>
        <p:nvSpPr>
          <p:cNvPr id="31" name="Título B.2"/>
          <p:cNvSpPr txBox="1"/>
          <p:nvPr/>
        </p:nvSpPr>
        <p:spPr>
          <a:xfrm>
            <a:off x="4405274" y="4065063"/>
            <a:ext cx="3381146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50" b="1" noProof="0" dirty="0">
                <a:solidFill>
                  <a:schemeClr val="accent1"/>
                </a:solidFill>
              </a:rPr>
              <a:t>Falta de actualización de Metodología y matriz de riesgo LA/FT/FPADM Clientes o asociados</a:t>
            </a:r>
            <a:endParaRPr lang="es-SV" sz="950" noProof="0" dirty="0"/>
          </a:p>
        </p:txBody>
      </p:sp>
      <p:sp>
        <p:nvSpPr>
          <p:cNvPr id="33" name="Obs B.3"/>
          <p:cNvSpPr/>
          <p:nvPr/>
        </p:nvSpPr>
        <p:spPr>
          <a:xfrm>
            <a:off x="8060741" y="3388407"/>
            <a:ext cx="3673754" cy="1383943"/>
          </a:xfrm>
          <a:prstGeom prst="roundRect">
            <a:avLst>
              <a:gd name="adj" fmla="val 6607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34" name="Número B.3 círculo"/>
          <p:cNvSpPr/>
          <p:nvPr/>
        </p:nvSpPr>
        <p:spPr>
          <a:xfrm>
            <a:off x="8170469" y="3498135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35" name="Número B.3"/>
          <p:cNvSpPr txBox="1"/>
          <p:nvPr/>
        </p:nvSpPr>
        <p:spPr>
          <a:xfrm>
            <a:off x="8170469" y="34981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1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B.3</a:t>
            </a:r>
            <a:endParaRPr lang="es-SV" sz="1100" noProof="0" dirty="0"/>
          </a:p>
        </p:txBody>
      </p:sp>
      <p:sp>
        <p:nvSpPr>
          <p:cNvPr id="36" name="Responsable B.3"/>
          <p:cNvSpPr txBox="1"/>
          <p:nvPr/>
        </p:nvSpPr>
        <p:spPr>
          <a:xfrm>
            <a:off x="8719109" y="3461559"/>
            <a:ext cx="29056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850" b="1" noProof="0" dirty="0">
                <a:solidFill>
                  <a:schemeClr val="accent5"/>
                </a:solidFill>
              </a:rPr>
              <a:t>RESPONSABLE</a:t>
            </a:r>
            <a:endParaRPr lang="es-SV" sz="1200" noProof="0" dirty="0"/>
          </a:p>
          <a:p>
            <a:pPr marL="0" indent="0">
              <a:buNone/>
            </a:pPr>
            <a:r>
              <a:rPr lang="es-SV" sz="1000" noProof="0" dirty="0">
                <a:solidFill>
                  <a:schemeClr val="tx1"/>
                </a:solidFill>
              </a:rPr>
              <a:t>Gerencia de Cumplimiento</a:t>
            </a:r>
            <a:endParaRPr lang="es-SV" sz="1200" noProof="0" dirty="0"/>
          </a:p>
        </p:txBody>
      </p:sp>
      <p:sp>
        <p:nvSpPr>
          <p:cNvPr id="37" name="Título B.3"/>
          <p:cNvSpPr txBox="1"/>
          <p:nvPr/>
        </p:nvSpPr>
        <p:spPr>
          <a:xfrm>
            <a:off x="8207045" y="4065063"/>
            <a:ext cx="3381146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50" b="1" noProof="0" dirty="0">
                <a:solidFill>
                  <a:schemeClr val="accent1"/>
                </a:solidFill>
              </a:rPr>
              <a:t>Falta de automatización en el proceso de remisión de reportería regulada a la Web Service de UIF.</a:t>
            </a:r>
            <a:endParaRPr lang="es-SV" sz="950" noProof="0" dirty="0"/>
          </a:p>
        </p:txBody>
      </p:sp>
      <p:sp>
        <p:nvSpPr>
          <p:cNvPr id="39" name="Obs B.4"/>
          <p:cNvSpPr/>
          <p:nvPr/>
        </p:nvSpPr>
        <p:spPr>
          <a:xfrm>
            <a:off x="457200" y="4900366"/>
            <a:ext cx="3673754" cy="1610162"/>
          </a:xfrm>
          <a:prstGeom prst="roundRect">
            <a:avLst>
              <a:gd name="adj" fmla="val 6094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40" name="Número B.4 círculo"/>
          <p:cNvSpPr/>
          <p:nvPr/>
        </p:nvSpPr>
        <p:spPr>
          <a:xfrm>
            <a:off x="566928" y="501009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41" name="Número B.4"/>
          <p:cNvSpPr txBox="1"/>
          <p:nvPr/>
        </p:nvSpPr>
        <p:spPr>
          <a:xfrm>
            <a:off x="566928" y="50100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1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B.4</a:t>
            </a:r>
            <a:endParaRPr lang="es-SV" sz="1100" noProof="0" dirty="0"/>
          </a:p>
        </p:txBody>
      </p:sp>
      <p:sp>
        <p:nvSpPr>
          <p:cNvPr id="42" name="Responsable B.4"/>
          <p:cNvSpPr txBox="1"/>
          <p:nvPr/>
        </p:nvSpPr>
        <p:spPr>
          <a:xfrm>
            <a:off x="1115568" y="4973518"/>
            <a:ext cx="29056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850" b="1" noProof="0" dirty="0">
                <a:solidFill>
                  <a:schemeClr val="accent5"/>
                </a:solidFill>
              </a:rPr>
              <a:t>RESPONSABLE</a:t>
            </a:r>
            <a:endParaRPr lang="es-SV" sz="1200" noProof="0" dirty="0"/>
          </a:p>
          <a:p>
            <a:pPr marL="0" indent="0">
              <a:buNone/>
            </a:pPr>
            <a:r>
              <a:rPr lang="es-SV" sz="1000" noProof="0" dirty="0">
                <a:solidFill>
                  <a:schemeClr val="tx1"/>
                </a:solidFill>
              </a:rPr>
              <a:t>Gerencia de Cumplimiento</a:t>
            </a:r>
            <a:endParaRPr lang="es-SV" sz="1200" noProof="0" dirty="0"/>
          </a:p>
        </p:txBody>
      </p:sp>
      <p:sp>
        <p:nvSpPr>
          <p:cNvPr id="43" name="Título B.4"/>
          <p:cNvSpPr txBox="1"/>
          <p:nvPr/>
        </p:nvSpPr>
        <p:spPr>
          <a:xfrm>
            <a:off x="621792" y="5501012"/>
            <a:ext cx="3381146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50" b="1" noProof="0" dirty="0">
                <a:solidFill>
                  <a:schemeClr val="accent1"/>
                </a:solidFill>
              </a:rPr>
              <a:t>Falta de Automatización de la herramienta de validación de Listas de Cautela</a:t>
            </a:r>
            <a:endParaRPr lang="es-SV" sz="950" noProof="0" dirty="0"/>
          </a:p>
        </p:txBody>
      </p:sp>
      <p:sp>
        <p:nvSpPr>
          <p:cNvPr id="44" name="Comentario B.4"/>
          <p:cNvSpPr txBox="1"/>
          <p:nvPr/>
        </p:nvSpPr>
        <p:spPr>
          <a:xfrm>
            <a:off x="566928" y="5877689"/>
            <a:ext cx="3417722" cy="548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buNone/>
            </a:pPr>
            <a:r>
              <a:rPr lang="es-SV" sz="750" b="1" noProof="0" dirty="0">
                <a:solidFill>
                  <a:schemeClr val="accent5"/>
                </a:solidFill>
              </a:rPr>
              <a:t>Comentarios </a:t>
            </a:r>
            <a:r>
              <a:rPr lang="es-SV" sz="750" b="1" dirty="0">
                <a:solidFill>
                  <a:schemeClr val="accent4">
                    <a:lumMod val="75000"/>
                  </a:schemeClr>
                </a:solidFill>
              </a:rPr>
              <a:t>El artículo 61 no exige la automatización de las validaciones en listas de cautela, sino tecnología proporcional a la naturaleza, tamaño, operaciones y nivel de riesgo de cada entidad.</a:t>
            </a:r>
          </a:p>
          <a:p>
            <a:pPr algn="just">
              <a:buNone/>
            </a:pPr>
            <a:r>
              <a:rPr lang="es-SV" sz="750" b="1" dirty="0">
                <a:solidFill>
                  <a:schemeClr val="accent4">
                    <a:lumMod val="75000"/>
                  </a:schemeClr>
                </a:solidFill>
              </a:rPr>
              <a:t>Como COMEDICA realiza y documenta dichas validaciones, se solicita reclasificar el hallazgo como recomendación de mejora y no como incumplimiento normativo.</a:t>
            </a:r>
          </a:p>
        </p:txBody>
      </p:sp>
      <p:sp>
        <p:nvSpPr>
          <p:cNvPr id="45" name="Obs B.5"/>
          <p:cNvSpPr/>
          <p:nvPr/>
        </p:nvSpPr>
        <p:spPr>
          <a:xfrm>
            <a:off x="4258970" y="4900366"/>
            <a:ext cx="3673754" cy="1581080"/>
          </a:xfrm>
          <a:prstGeom prst="roundRect">
            <a:avLst>
              <a:gd name="adj" fmla="val 6094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46" name="Número B.5 círculo"/>
          <p:cNvSpPr/>
          <p:nvPr/>
        </p:nvSpPr>
        <p:spPr>
          <a:xfrm>
            <a:off x="4368698" y="501009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47" name="Número B.5"/>
          <p:cNvSpPr txBox="1"/>
          <p:nvPr/>
        </p:nvSpPr>
        <p:spPr>
          <a:xfrm>
            <a:off x="4368698" y="50100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1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B.5</a:t>
            </a:r>
            <a:endParaRPr lang="es-SV" sz="1100" noProof="0" dirty="0"/>
          </a:p>
        </p:txBody>
      </p:sp>
      <p:sp>
        <p:nvSpPr>
          <p:cNvPr id="48" name="Responsable B.5"/>
          <p:cNvSpPr txBox="1"/>
          <p:nvPr/>
        </p:nvSpPr>
        <p:spPr>
          <a:xfrm>
            <a:off x="4917338" y="4973518"/>
            <a:ext cx="29056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850" b="1" noProof="0" dirty="0">
                <a:solidFill>
                  <a:schemeClr val="accent5"/>
                </a:solidFill>
              </a:rPr>
              <a:t>RESPONSABLE</a:t>
            </a:r>
            <a:endParaRPr lang="es-SV" sz="1200" noProof="0" dirty="0"/>
          </a:p>
          <a:p>
            <a:pPr marL="0" indent="0">
              <a:buNone/>
            </a:pPr>
            <a:r>
              <a:rPr lang="es-SV" sz="1000" noProof="0" dirty="0">
                <a:solidFill>
                  <a:schemeClr val="tx1"/>
                </a:solidFill>
              </a:rPr>
              <a:t>Gerencia de Cumplimiento</a:t>
            </a:r>
            <a:endParaRPr lang="es-SV" sz="1200" noProof="0" dirty="0"/>
          </a:p>
        </p:txBody>
      </p:sp>
      <p:sp>
        <p:nvSpPr>
          <p:cNvPr id="49" name="Título B.5"/>
          <p:cNvSpPr txBox="1"/>
          <p:nvPr/>
        </p:nvSpPr>
        <p:spPr>
          <a:xfrm>
            <a:off x="4405274" y="5577022"/>
            <a:ext cx="3381146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50" b="1" noProof="0" dirty="0">
                <a:solidFill>
                  <a:schemeClr val="accent1"/>
                </a:solidFill>
              </a:rPr>
              <a:t>Falta de evidencia en los porcentajes de avance comunicados en el cronograma</a:t>
            </a:r>
            <a:endParaRPr lang="es-SV" sz="950" noProof="0" dirty="0"/>
          </a:p>
        </p:txBody>
      </p:sp>
      <p:sp>
        <p:nvSpPr>
          <p:cNvPr id="51" name="Obs B.6"/>
          <p:cNvSpPr/>
          <p:nvPr/>
        </p:nvSpPr>
        <p:spPr>
          <a:xfrm>
            <a:off x="8060741" y="4900366"/>
            <a:ext cx="3673754" cy="1581080"/>
          </a:xfrm>
          <a:prstGeom prst="roundRect">
            <a:avLst>
              <a:gd name="adj" fmla="val 6094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52" name="Número B.6 círculo"/>
          <p:cNvSpPr/>
          <p:nvPr/>
        </p:nvSpPr>
        <p:spPr>
          <a:xfrm>
            <a:off x="8170469" y="501009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53" name="Número B.6"/>
          <p:cNvSpPr txBox="1"/>
          <p:nvPr/>
        </p:nvSpPr>
        <p:spPr>
          <a:xfrm>
            <a:off x="8170469" y="50100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1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B.6</a:t>
            </a:r>
            <a:endParaRPr lang="es-SV" sz="1100" noProof="0" dirty="0"/>
          </a:p>
        </p:txBody>
      </p:sp>
      <p:sp>
        <p:nvSpPr>
          <p:cNvPr id="54" name="Responsable B.6"/>
          <p:cNvSpPr txBox="1"/>
          <p:nvPr/>
        </p:nvSpPr>
        <p:spPr>
          <a:xfrm>
            <a:off x="8719109" y="4973518"/>
            <a:ext cx="29056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850" b="1" noProof="0" dirty="0">
                <a:solidFill>
                  <a:schemeClr val="accent5"/>
                </a:solidFill>
              </a:rPr>
              <a:t>RESPONSABLE</a:t>
            </a:r>
            <a:endParaRPr lang="es-SV" sz="1200" noProof="0" dirty="0"/>
          </a:p>
          <a:p>
            <a:pPr marL="0" indent="0">
              <a:buNone/>
            </a:pPr>
            <a:r>
              <a:rPr lang="es-SV" sz="1000" noProof="0" dirty="0">
                <a:solidFill>
                  <a:schemeClr val="tx1"/>
                </a:solidFill>
              </a:rPr>
              <a:t>Jefe de Riesgos</a:t>
            </a:r>
            <a:endParaRPr lang="es-SV" sz="1200" noProof="0" dirty="0"/>
          </a:p>
        </p:txBody>
      </p:sp>
      <p:sp>
        <p:nvSpPr>
          <p:cNvPr id="55" name="Título B.6"/>
          <p:cNvSpPr txBox="1"/>
          <p:nvPr/>
        </p:nvSpPr>
        <p:spPr>
          <a:xfrm>
            <a:off x="8207045" y="5577022"/>
            <a:ext cx="3381146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50" b="1" noProof="0" dirty="0">
                <a:solidFill>
                  <a:schemeClr val="accent1"/>
                </a:solidFill>
              </a:rPr>
              <a:t>Revisión documentación conforme artículo22 de la NRP-23</a:t>
            </a:r>
            <a:endParaRPr lang="es-SV" sz="950" noProof="0" dirty="0"/>
          </a:p>
        </p:txBody>
      </p:sp>
      <p:sp>
        <p:nvSpPr>
          <p:cNvPr id="56" name="Comentario B.6"/>
          <p:cNvSpPr txBox="1"/>
          <p:nvPr/>
        </p:nvSpPr>
        <p:spPr>
          <a:xfrm>
            <a:off x="8207045" y="5838769"/>
            <a:ext cx="3381146" cy="470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850" b="1" noProof="0" dirty="0">
                <a:solidFill>
                  <a:schemeClr val="accent5"/>
                </a:solidFill>
              </a:rPr>
              <a:t>Comentarios </a:t>
            </a:r>
            <a:r>
              <a:rPr lang="es-SV" sz="850" noProof="0" dirty="0">
                <a:solidFill>
                  <a:schemeClr val="tx1"/>
                </a:solidFill>
              </a:rPr>
              <a:t>Se anexa informe elaborado por </a:t>
            </a:r>
            <a:r>
              <a:rPr lang="es-SV" sz="850" dirty="0"/>
              <a:t>jefatura de riesgo </a:t>
            </a:r>
            <a:r>
              <a:rPr lang="es-SV" sz="850" noProof="0" dirty="0">
                <a:solidFill>
                  <a:schemeClr val="tx1"/>
                </a:solidFill>
              </a:rPr>
              <a:t>en fecha 13 de diciembre de 2024, sobre proyecto de implementación de un nuevo sistema de monitoreo de LDA/FT/FPADM y del sistema de fraude de canales digitales</a:t>
            </a:r>
            <a:endParaRPr lang="es-SV" sz="850" noProof="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105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s-SV" b="0" noProof="0" smtClean="0"/>
              <a:t>2</a:t>
            </a:fld>
            <a:endParaRPr lang="es-SV" noProof="0" dirty="0"/>
          </a:p>
        </p:txBody>
      </p:sp>
      <p:sp>
        <p:nvSpPr>
          <p:cNvPr id="59" name="Comentario A.2">
            <a:extLst>
              <a:ext uri="{FF2B5EF4-FFF2-40B4-BE49-F238E27FC236}">
                <a16:creationId xmlns:a16="http://schemas.microsoft.com/office/drawing/2014/main" id="{4BD6DC5D-1D24-4503-2731-091715DA73BC}"/>
              </a:ext>
            </a:extLst>
          </p:cNvPr>
          <p:cNvSpPr txBox="1"/>
          <p:nvPr/>
        </p:nvSpPr>
        <p:spPr>
          <a:xfrm>
            <a:off x="603504" y="4526344"/>
            <a:ext cx="2684819" cy="20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SV" sz="850" b="1" noProof="0" dirty="0">
                <a:solidFill>
                  <a:schemeClr val="accent5"/>
                </a:solidFill>
              </a:rPr>
              <a:t>Comentarios </a:t>
            </a:r>
            <a:r>
              <a:rPr lang="es-SV" sz="800" b="1" dirty="0">
                <a:solidFill>
                  <a:schemeClr val="accent4">
                    <a:lumMod val="75000"/>
                  </a:schemeClr>
                </a:solidFill>
              </a:rPr>
              <a:t>Se incorporará prueba de descargo </a:t>
            </a:r>
          </a:p>
        </p:txBody>
      </p:sp>
      <p:sp>
        <p:nvSpPr>
          <p:cNvPr id="60" name="Comentario A.2">
            <a:extLst>
              <a:ext uri="{FF2B5EF4-FFF2-40B4-BE49-F238E27FC236}">
                <a16:creationId xmlns:a16="http://schemas.microsoft.com/office/drawing/2014/main" id="{F78424E6-D1DC-99D3-19D0-71DB6E0F2B8A}"/>
              </a:ext>
            </a:extLst>
          </p:cNvPr>
          <p:cNvSpPr txBox="1"/>
          <p:nvPr/>
        </p:nvSpPr>
        <p:spPr>
          <a:xfrm>
            <a:off x="4405274" y="4526344"/>
            <a:ext cx="2684819" cy="20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SV" sz="850" b="1" noProof="0" dirty="0">
                <a:solidFill>
                  <a:schemeClr val="accent5"/>
                </a:solidFill>
              </a:rPr>
              <a:t>Comentarios </a:t>
            </a:r>
            <a:r>
              <a:rPr lang="es-SV" sz="800" b="1" dirty="0">
                <a:solidFill>
                  <a:schemeClr val="accent4">
                    <a:lumMod val="75000"/>
                  </a:schemeClr>
                </a:solidFill>
              </a:rPr>
              <a:t>Se incorporará prueba de descargo </a:t>
            </a:r>
          </a:p>
        </p:txBody>
      </p:sp>
      <p:sp>
        <p:nvSpPr>
          <p:cNvPr id="61" name="Comentario A.2">
            <a:extLst>
              <a:ext uri="{FF2B5EF4-FFF2-40B4-BE49-F238E27FC236}">
                <a16:creationId xmlns:a16="http://schemas.microsoft.com/office/drawing/2014/main" id="{06B0EA24-F3E1-CE40-D5D8-493662943F32}"/>
              </a:ext>
            </a:extLst>
          </p:cNvPr>
          <p:cNvSpPr txBox="1"/>
          <p:nvPr/>
        </p:nvSpPr>
        <p:spPr>
          <a:xfrm>
            <a:off x="8207045" y="4501753"/>
            <a:ext cx="2684819" cy="20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SV" sz="850" b="1" noProof="0" dirty="0">
                <a:solidFill>
                  <a:schemeClr val="accent5"/>
                </a:solidFill>
              </a:rPr>
              <a:t>Comentarios </a:t>
            </a:r>
            <a:r>
              <a:rPr lang="es-SV" sz="800" b="1" dirty="0">
                <a:solidFill>
                  <a:schemeClr val="accent4">
                    <a:lumMod val="75000"/>
                  </a:schemeClr>
                </a:solidFill>
              </a:rPr>
              <a:t>Se incorporará prueba de descargo </a:t>
            </a:r>
          </a:p>
        </p:txBody>
      </p:sp>
      <p:sp>
        <p:nvSpPr>
          <p:cNvPr id="62" name="Comentario A.2">
            <a:extLst>
              <a:ext uri="{FF2B5EF4-FFF2-40B4-BE49-F238E27FC236}">
                <a16:creationId xmlns:a16="http://schemas.microsoft.com/office/drawing/2014/main" id="{18430647-13A6-DA94-6FE7-2499F677A283}"/>
              </a:ext>
            </a:extLst>
          </p:cNvPr>
          <p:cNvSpPr txBox="1"/>
          <p:nvPr/>
        </p:nvSpPr>
        <p:spPr>
          <a:xfrm>
            <a:off x="4405274" y="6027364"/>
            <a:ext cx="2684819" cy="20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SV" sz="850" b="1" noProof="0" dirty="0">
                <a:solidFill>
                  <a:schemeClr val="accent5"/>
                </a:solidFill>
              </a:rPr>
              <a:t>Comentarios </a:t>
            </a:r>
            <a:r>
              <a:rPr lang="es-SV" sz="800" b="1" dirty="0">
                <a:solidFill>
                  <a:schemeClr val="accent4">
                    <a:lumMod val="75000"/>
                  </a:schemeClr>
                </a:solidFill>
              </a:rPr>
              <a:t>Se incorporará prueba de descargo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82498" y="64855"/>
            <a:ext cx="93473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2800" b="1" noProof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Observaciones nuevas</a:t>
            </a:r>
            <a:endParaRPr lang="es-SV" sz="2800" noProof="0" dirty="0"/>
          </a:p>
        </p:txBody>
      </p:sp>
      <p:pic>
        <p:nvPicPr>
          <p:cNvPr id="4" name="Logo COMEDICA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256032"/>
            <a:ext cx="1828800" cy="561399"/>
          </a:xfrm>
          <a:prstGeom prst="rect">
            <a:avLst/>
          </a:prstGeom>
        </p:spPr>
      </p:pic>
      <p:sp>
        <p:nvSpPr>
          <p:cNvPr id="5" name="Banda B"/>
          <p:cNvSpPr/>
          <p:nvPr/>
        </p:nvSpPr>
        <p:spPr>
          <a:xfrm>
            <a:off x="457200" y="877824"/>
            <a:ext cx="11277295" cy="329184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6" name="Banda texto B0"/>
          <p:cNvSpPr txBox="1"/>
          <p:nvPr/>
        </p:nvSpPr>
        <p:spPr>
          <a:xfrm>
            <a:off x="621792" y="877824"/>
            <a:ext cx="109481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300" b="1" noProof="0" dirty="0">
                <a:solidFill>
                  <a:schemeClr val="bg1"/>
                </a:solidFill>
              </a:rPr>
              <a:t>B. Proceso de implementación de la Herramienta de Monitoreo (continuación)</a:t>
            </a:r>
            <a:endParaRPr lang="es-SV" sz="1300" noProof="0" dirty="0"/>
          </a:p>
        </p:txBody>
      </p:sp>
      <p:sp>
        <p:nvSpPr>
          <p:cNvPr id="7" name="Obs B.7"/>
          <p:cNvSpPr/>
          <p:nvPr/>
        </p:nvSpPr>
        <p:spPr>
          <a:xfrm>
            <a:off x="457200" y="1280160"/>
            <a:ext cx="3673754" cy="1784773"/>
          </a:xfrm>
          <a:prstGeom prst="roundRect">
            <a:avLst>
              <a:gd name="adj" fmla="val 3145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8" name="Número B.7 círculo"/>
          <p:cNvSpPr/>
          <p:nvPr/>
        </p:nvSpPr>
        <p:spPr>
          <a:xfrm>
            <a:off x="566928" y="138988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9" name="Número B.7"/>
          <p:cNvSpPr txBox="1"/>
          <p:nvPr/>
        </p:nvSpPr>
        <p:spPr>
          <a:xfrm>
            <a:off x="566928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B.7</a:t>
            </a:r>
            <a:endParaRPr lang="es-SV" sz="900" noProof="0" dirty="0"/>
          </a:p>
        </p:txBody>
      </p:sp>
      <p:sp>
        <p:nvSpPr>
          <p:cNvPr id="10" name="Responsable B.7"/>
          <p:cNvSpPr txBox="1"/>
          <p:nvPr/>
        </p:nvSpPr>
        <p:spPr>
          <a:xfrm>
            <a:off x="1115568" y="1353312"/>
            <a:ext cx="29056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RESPONSABLE</a:t>
            </a:r>
            <a:endParaRPr lang="es-SV" sz="900" noProof="0" dirty="0"/>
          </a:p>
          <a:p>
            <a:pPr marL="0" indent="0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Gerencia de Cumplimiento / Gerencia Legal</a:t>
            </a:r>
            <a:endParaRPr lang="es-SV" sz="900" noProof="0" dirty="0"/>
          </a:p>
        </p:txBody>
      </p:sp>
      <p:sp>
        <p:nvSpPr>
          <p:cNvPr id="11" name="Título B.7"/>
          <p:cNvSpPr txBox="1"/>
          <p:nvPr/>
        </p:nvSpPr>
        <p:spPr>
          <a:xfrm>
            <a:off x="603504" y="1956816"/>
            <a:ext cx="338114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1"/>
                </a:solidFill>
              </a:rPr>
              <a:t>Debilidades en el contrato del servicio de software</a:t>
            </a:r>
            <a:endParaRPr lang="es-SV" sz="900" noProof="0" dirty="0"/>
          </a:p>
        </p:txBody>
      </p:sp>
      <p:sp>
        <p:nvSpPr>
          <p:cNvPr id="12" name="Comentario B.7"/>
          <p:cNvSpPr txBox="1"/>
          <p:nvPr/>
        </p:nvSpPr>
        <p:spPr>
          <a:xfrm>
            <a:off x="603504" y="2152383"/>
            <a:ext cx="3381146" cy="64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SV" sz="900" b="1" noProof="0" dirty="0">
                <a:solidFill>
                  <a:schemeClr val="accent5"/>
                </a:solidFill>
              </a:rPr>
              <a:t>Comentarios  </a:t>
            </a:r>
            <a:r>
              <a:rPr lang="es-SV" sz="900" noProof="0" dirty="0">
                <a:solidFill>
                  <a:schemeClr val="tx1"/>
                </a:solidFill>
              </a:rPr>
              <a:t>Se adjuntará la propuesta de la Gerencia Legal por medio de correo de fecha 09 de octubre 2026, envió propuesta a la Gerencia de Cumplimiento y Seguridad de la Información para la modificación del contrato. Pendiente</a:t>
            </a:r>
            <a:r>
              <a:rPr lang="es-SV" sz="900" dirty="0"/>
              <a:t>; asimismo  Se incorporará prueba de descargo </a:t>
            </a:r>
          </a:p>
          <a:p>
            <a:pPr marL="0" indent="0" algn="just">
              <a:buNone/>
            </a:pPr>
            <a:endParaRPr lang="es-SV" sz="900" noProof="0" dirty="0"/>
          </a:p>
        </p:txBody>
      </p:sp>
      <p:sp>
        <p:nvSpPr>
          <p:cNvPr id="13" name="Obs B.8"/>
          <p:cNvSpPr/>
          <p:nvPr/>
        </p:nvSpPr>
        <p:spPr>
          <a:xfrm>
            <a:off x="4258970" y="1280160"/>
            <a:ext cx="3673754" cy="1784773"/>
          </a:xfrm>
          <a:prstGeom prst="roundRect">
            <a:avLst>
              <a:gd name="adj" fmla="val 3145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14" name="Número B.8 círculo"/>
          <p:cNvSpPr/>
          <p:nvPr/>
        </p:nvSpPr>
        <p:spPr>
          <a:xfrm>
            <a:off x="4368698" y="138988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15" name="Número B.8"/>
          <p:cNvSpPr txBox="1"/>
          <p:nvPr/>
        </p:nvSpPr>
        <p:spPr>
          <a:xfrm>
            <a:off x="4368698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B.8</a:t>
            </a:r>
            <a:endParaRPr lang="es-SV" sz="900" noProof="0" dirty="0"/>
          </a:p>
        </p:txBody>
      </p:sp>
      <p:sp>
        <p:nvSpPr>
          <p:cNvPr id="16" name="Responsable B.8"/>
          <p:cNvSpPr txBox="1"/>
          <p:nvPr/>
        </p:nvSpPr>
        <p:spPr>
          <a:xfrm>
            <a:off x="4917338" y="1353312"/>
            <a:ext cx="29056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RESPONSABLE</a:t>
            </a:r>
            <a:endParaRPr lang="es-SV" sz="900" noProof="0" dirty="0"/>
          </a:p>
          <a:p>
            <a:pPr marL="0" indent="0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Administración de Riesgos/Gerencia de sistemas/Seguridad de la información</a:t>
            </a:r>
            <a:endParaRPr lang="es-SV" sz="900" noProof="0" dirty="0"/>
          </a:p>
        </p:txBody>
      </p:sp>
      <p:sp>
        <p:nvSpPr>
          <p:cNvPr id="17" name="Título B.8"/>
          <p:cNvSpPr txBox="1"/>
          <p:nvPr/>
        </p:nvSpPr>
        <p:spPr>
          <a:xfrm>
            <a:off x="4405274" y="1956816"/>
            <a:ext cx="338114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1"/>
                </a:solidFill>
              </a:rPr>
              <a:t>Debilidad en el Alcance de las Pruebas Continuidad del Negocio</a:t>
            </a:r>
            <a:endParaRPr lang="es-SV" sz="900" noProof="0" dirty="0"/>
          </a:p>
        </p:txBody>
      </p:sp>
      <p:sp>
        <p:nvSpPr>
          <p:cNvPr id="18" name="Comentario B.8"/>
          <p:cNvSpPr txBox="1"/>
          <p:nvPr/>
        </p:nvSpPr>
        <p:spPr>
          <a:xfrm>
            <a:off x="4405274" y="2152383"/>
            <a:ext cx="3381146" cy="81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Comentarios </a:t>
            </a:r>
            <a:r>
              <a:rPr lang="es-SV" sz="900" noProof="0" dirty="0">
                <a:solidFill>
                  <a:schemeClr val="tx1"/>
                </a:solidFill>
              </a:rPr>
              <a:t>Plan de acción: proveedor critico Pendiente Se identificarán los servicios tecnológicos tercerizados críticos y se incorporarán en el alcance de las pruebas de continuidad del negocio. Asimismo, se solicitarán a los proveedores los resultados y evidencias de las pruebas realizadas, con el fin de validar la efectividad de los controles implementados.</a:t>
            </a:r>
            <a:endParaRPr lang="es-SV" sz="900" noProof="0" dirty="0"/>
          </a:p>
        </p:txBody>
      </p:sp>
      <p:sp>
        <p:nvSpPr>
          <p:cNvPr id="19" name="Obs B.9"/>
          <p:cNvSpPr/>
          <p:nvPr/>
        </p:nvSpPr>
        <p:spPr>
          <a:xfrm>
            <a:off x="8060741" y="1280160"/>
            <a:ext cx="3968650" cy="1784773"/>
          </a:xfrm>
          <a:prstGeom prst="roundRect">
            <a:avLst>
              <a:gd name="adj" fmla="val 3145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20" name="Número B.9 círculo"/>
          <p:cNvSpPr/>
          <p:nvPr/>
        </p:nvSpPr>
        <p:spPr>
          <a:xfrm>
            <a:off x="8170469" y="138988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21" name="Número B.9"/>
          <p:cNvSpPr txBox="1"/>
          <p:nvPr/>
        </p:nvSpPr>
        <p:spPr>
          <a:xfrm>
            <a:off x="8170469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B.9</a:t>
            </a:r>
            <a:endParaRPr lang="es-SV" sz="900" noProof="0" dirty="0"/>
          </a:p>
        </p:txBody>
      </p:sp>
      <p:sp>
        <p:nvSpPr>
          <p:cNvPr id="22" name="Responsable B.9"/>
          <p:cNvSpPr txBox="1"/>
          <p:nvPr/>
        </p:nvSpPr>
        <p:spPr>
          <a:xfrm>
            <a:off x="8719109" y="1353312"/>
            <a:ext cx="29056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RESPONSABLE</a:t>
            </a:r>
            <a:endParaRPr lang="es-SV" sz="900" noProof="0" dirty="0"/>
          </a:p>
          <a:p>
            <a:pPr marL="0" indent="0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Gerencia de Cumplimiento / Gerencia de Sistemas</a:t>
            </a:r>
            <a:endParaRPr lang="es-SV" sz="900" noProof="0" dirty="0"/>
          </a:p>
        </p:txBody>
      </p:sp>
      <p:sp>
        <p:nvSpPr>
          <p:cNvPr id="23" name="Título B.9"/>
          <p:cNvSpPr txBox="1"/>
          <p:nvPr/>
        </p:nvSpPr>
        <p:spPr>
          <a:xfrm>
            <a:off x="8207045" y="1956816"/>
            <a:ext cx="338114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1"/>
                </a:solidFill>
              </a:rPr>
              <a:t>Deficiencia en los procedimientos de Respaldos.</a:t>
            </a:r>
            <a:endParaRPr lang="es-SV" sz="900" noProof="0" dirty="0"/>
          </a:p>
        </p:txBody>
      </p:sp>
      <p:sp>
        <p:nvSpPr>
          <p:cNvPr id="24" name="Comentario B.9"/>
          <p:cNvSpPr txBox="1"/>
          <p:nvPr/>
        </p:nvSpPr>
        <p:spPr>
          <a:xfrm>
            <a:off x="8207045" y="2152383"/>
            <a:ext cx="3381146" cy="353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Comentarios  </a:t>
            </a:r>
            <a:r>
              <a:rPr lang="es-SV" sz="900" noProof="0" dirty="0">
                <a:solidFill>
                  <a:schemeClr val="tx1"/>
                </a:solidFill>
              </a:rPr>
              <a:t>Plan de acción Pendiente</a:t>
            </a:r>
            <a:endParaRPr lang="es-SV" sz="900" noProof="0" dirty="0"/>
          </a:p>
        </p:txBody>
      </p:sp>
      <p:sp>
        <p:nvSpPr>
          <p:cNvPr id="25" name="Obs B.10"/>
          <p:cNvSpPr/>
          <p:nvPr/>
        </p:nvSpPr>
        <p:spPr>
          <a:xfrm>
            <a:off x="457200" y="3147400"/>
            <a:ext cx="3673754" cy="1382267"/>
          </a:xfrm>
          <a:prstGeom prst="roundRect">
            <a:avLst>
              <a:gd name="adj" fmla="val 5208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26" name="Número B.10 círculo"/>
          <p:cNvSpPr/>
          <p:nvPr/>
        </p:nvSpPr>
        <p:spPr>
          <a:xfrm>
            <a:off x="566928" y="32571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27" name="Número B.10"/>
          <p:cNvSpPr txBox="1"/>
          <p:nvPr/>
        </p:nvSpPr>
        <p:spPr>
          <a:xfrm>
            <a:off x="566928" y="325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B.10</a:t>
            </a:r>
            <a:endParaRPr lang="es-SV" sz="900" noProof="0" dirty="0"/>
          </a:p>
        </p:txBody>
      </p:sp>
      <p:sp>
        <p:nvSpPr>
          <p:cNvPr id="28" name="Responsable B.10"/>
          <p:cNvSpPr txBox="1"/>
          <p:nvPr/>
        </p:nvSpPr>
        <p:spPr>
          <a:xfrm>
            <a:off x="1115568" y="3220552"/>
            <a:ext cx="29056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RESPONSABLE</a:t>
            </a:r>
            <a:endParaRPr lang="es-SV" sz="900" noProof="0" dirty="0"/>
          </a:p>
          <a:p>
            <a:pPr marL="0" indent="0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Gerencia de Cumplimiento</a:t>
            </a:r>
            <a:endParaRPr lang="es-SV" sz="900" noProof="0" dirty="0"/>
          </a:p>
        </p:txBody>
      </p:sp>
      <p:sp>
        <p:nvSpPr>
          <p:cNvPr id="29" name="Título B.10"/>
          <p:cNvSpPr txBox="1"/>
          <p:nvPr/>
        </p:nvSpPr>
        <p:spPr>
          <a:xfrm>
            <a:off x="603504" y="3824056"/>
            <a:ext cx="338114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1"/>
                </a:solidFill>
              </a:rPr>
              <a:t>Deficiencia en la hora del sistema y la herramienta de Monitoreo</a:t>
            </a:r>
            <a:endParaRPr lang="es-SV" sz="900" noProof="0" dirty="0"/>
          </a:p>
        </p:txBody>
      </p:sp>
      <p:sp>
        <p:nvSpPr>
          <p:cNvPr id="30" name="Comentario B.10"/>
          <p:cNvSpPr txBox="1"/>
          <p:nvPr/>
        </p:nvSpPr>
        <p:spPr>
          <a:xfrm>
            <a:off x="603504" y="4178304"/>
            <a:ext cx="3381146" cy="31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Comentarios: </a:t>
            </a:r>
            <a:r>
              <a:rPr lang="es-SV" sz="900" noProof="0" dirty="0">
                <a:solidFill>
                  <a:schemeClr val="tx1"/>
                </a:solidFill>
              </a:rPr>
              <a:t>Descargo correos de gestión Pendiente</a:t>
            </a:r>
            <a:endParaRPr lang="es-SV" sz="900" noProof="0" dirty="0"/>
          </a:p>
        </p:txBody>
      </p:sp>
      <p:sp>
        <p:nvSpPr>
          <p:cNvPr id="31" name="Obs B.11"/>
          <p:cNvSpPr/>
          <p:nvPr/>
        </p:nvSpPr>
        <p:spPr>
          <a:xfrm>
            <a:off x="4258970" y="3147400"/>
            <a:ext cx="3673754" cy="1382267"/>
          </a:xfrm>
          <a:prstGeom prst="roundRect">
            <a:avLst>
              <a:gd name="adj" fmla="val 5208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32" name="Número B.11 círculo"/>
          <p:cNvSpPr/>
          <p:nvPr/>
        </p:nvSpPr>
        <p:spPr>
          <a:xfrm>
            <a:off x="4368698" y="32571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33" name="Número B.11"/>
          <p:cNvSpPr txBox="1"/>
          <p:nvPr/>
        </p:nvSpPr>
        <p:spPr>
          <a:xfrm>
            <a:off x="4368698" y="325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B.11</a:t>
            </a:r>
            <a:endParaRPr lang="es-SV" sz="900" noProof="0" dirty="0"/>
          </a:p>
        </p:txBody>
      </p:sp>
      <p:sp>
        <p:nvSpPr>
          <p:cNvPr id="34" name="Responsable B.11"/>
          <p:cNvSpPr txBox="1"/>
          <p:nvPr/>
        </p:nvSpPr>
        <p:spPr>
          <a:xfrm>
            <a:off x="4917338" y="3220552"/>
            <a:ext cx="29056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RESPONSABLE</a:t>
            </a:r>
            <a:endParaRPr lang="es-SV" sz="900" noProof="0" dirty="0"/>
          </a:p>
          <a:p>
            <a:pPr marL="0" indent="0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Gerencia de Cumplimiento</a:t>
            </a:r>
            <a:endParaRPr lang="es-SV" sz="900" noProof="0" dirty="0"/>
          </a:p>
        </p:txBody>
      </p:sp>
      <p:sp>
        <p:nvSpPr>
          <p:cNvPr id="35" name="Título B.11"/>
          <p:cNvSpPr txBox="1"/>
          <p:nvPr/>
        </p:nvSpPr>
        <p:spPr>
          <a:xfrm>
            <a:off x="4405274" y="3824056"/>
            <a:ext cx="3381146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1"/>
                </a:solidFill>
              </a:rPr>
              <a:t>Verificación de las condiciones en ACRM</a:t>
            </a:r>
            <a:endParaRPr lang="es-SV" sz="900" noProof="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1813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s-SV" b="0" noProof="0" smtClean="0"/>
              <a:t>3</a:t>
            </a:fld>
            <a:endParaRPr lang="es-SV" noProof="0" dirty="0"/>
          </a:p>
        </p:txBody>
      </p:sp>
      <p:sp>
        <p:nvSpPr>
          <p:cNvPr id="39" name="Obs B.12">
            <a:extLst>
              <a:ext uri="{FF2B5EF4-FFF2-40B4-BE49-F238E27FC236}">
                <a16:creationId xmlns:a16="http://schemas.microsoft.com/office/drawing/2014/main" id="{502E8885-5422-C921-30D5-BCC3CD647923}"/>
              </a:ext>
            </a:extLst>
          </p:cNvPr>
          <p:cNvSpPr/>
          <p:nvPr/>
        </p:nvSpPr>
        <p:spPr>
          <a:xfrm>
            <a:off x="8079028" y="3182452"/>
            <a:ext cx="3968650" cy="1309115"/>
          </a:xfrm>
          <a:prstGeom prst="roundRect">
            <a:avLst>
              <a:gd name="adj" fmla="val 5582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41" name="Número B.12 círculo">
            <a:extLst>
              <a:ext uri="{FF2B5EF4-FFF2-40B4-BE49-F238E27FC236}">
                <a16:creationId xmlns:a16="http://schemas.microsoft.com/office/drawing/2014/main" id="{AEB2F371-6E38-D3B4-2CA3-51F06C279BF6}"/>
              </a:ext>
            </a:extLst>
          </p:cNvPr>
          <p:cNvSpPr/>
          <p:nvPr/>
        </p:nvSpPr>
        <p:spPr>
          <a:xfrm>
            <a:off x="8188756" y="333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43" name="Número B.12">
            <a:extLst>
              <a:ext uri="{FF2B5EF4-FFF2-40B4-BE49-F238E27FC236}">
                <a16:creationId xmlns:a16="http://schemas.microsoft.com/office/drawing/2014/main" id="{C0C3767A-8FD7-CE2D-7D22-76FE06A4C4FB}"/>
              </a:ext>
            </a:extLst>
          </p:cNvPr>
          <p:cNvSpPr txBox="1"/>
          <p:nvPr/>
        </p:nvSpPr>
        <p:spPr>
          <a:xfrm>
            <a:off x="8188756" y="333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B.12</a:t>
            </a:r>
            <a:endParaRPr lang="es-SV" sz="900" noProof="0" dirty="0"/>
          </a:p>
        </p:txBody>
      </p:sp>
      <p:sp>
        <p:nvSpPr>
          <p:cNvPr id="45" name="Responsable B.12">
            <a:extLst>
              <a:ext uri="{FF2B5EF4-FFF2-40B4-BE49-F238E27FC236}">
                <a16:creationId xmlns:a16="http://schemas.microsoft.com/office/drawing/2014/main" id="{D9414368-6809-57F9-2EFF-232811F516F3}"/>
              </a:ext>
            </a:extLst>
          </p:cNvPr>
          <p:cNvSpPr txBox="1"/>
          <p:nvPr/>
        </p:nvSpPr>
        <p:spPr>
          <a:xfrm>
            <a:off x="8737396" y="3293704"/>
            <a:ext cx="28873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RESPONSABLE</a:t>
            </a:r>
            <a:endParaRPr lang="es-SV" sz="900" noProof="0" dirty="0"/>
          </a:p>
          <a:p>
            <a:pPr marL="0" indent="0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Gerencia de Cumplimiento / Seguridad de la información</a:t>
            </a:r>
            <a:endParaRPr lang="es-SV" sz="900" noProof="0" dirty="0"/>
          </a:p>
        </p:txBody>
      </p:sp>
      <p:sp>
        <p:nvSpPr>
          <p:cNvPr id="47" name="Título B.12">
            <a:extLst>
              <a:ext uri="{FF2B5EF4-FFF2-40B4-BE49-F238E27FC236}">
                <a16:creationId xmlns:a16="http://schemas.microsoft.com/office/drawing/2014/main" id="{25F42149-CCE0-0C17-B48F-1338732607CA}"/>
              </a:ext>
            </a:extLst>
          </p:cNvPr>
          <p:cNvSpPr txBox="1"/>
          <p:nvPr/>
        </p:nvSpPr>
        <p:spPr>
          <a:xfrm>
            <a:off x="8225332" y="3897208"/>
            <a:ext cx="3344571" cy="32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1"/>
                </a:solidFill>
              </a:rPr>
              <a:t>Limitante de Accesos a los Datos de COMEDICA, alojada en la Herramienta de Monitoreo.</a:t>
            </a:r>
            <a:endParaRPr lang="es-SV" sz="900" noProof="0" dirty="0"/>
          </a:p>
        </p:txBody>
      </p:sp>
      <p:sp>
        <p:nvSpPr>
          <p:cNvPr id="51" name="Obs B.13">
            <a:extLst>
              <a:ext uri="{FF2B5EF4-FFF2-40B4-BE49-F238E27FC236}">
                <a16:creationId xmlns:a16="http://schemas.microsoft.com/office/drawing/2014/main" id="{A8C871DF-B9AB-E05C-0328-8A39BE6455F9}"/>
              </a:ext>
            </a:extLst>
          </p:cNvPr>
          <p:cNvSpPr/>
          <p:nvPr/>
        </p:nvSpPr>
        <p:spPr>
          <a:xfrm>
            <a:off x="457200" y="4792341"/>
            <a:ext cx="3673754" cy="1389003"/>
          </a:xfrm>
          <a:prstGeom prst="roundRect">
            <a:avLst>
              <a:gd name="adj" fmla="val 5582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53" name="Número B.13 círculo">
            <a:extLst>
              <a:ext uri="{FF2B5EF4-FFF2-40B4-BE49-F238E27FC236}">
                <a16:creationId xmlns:a16="http://schemas.microsoft.com/office/drawing/2014/main" id="{75F73309-CDAD-3C94-7653-C0C58877767D}"/>
              </a:ext>
            </a:extLst>
          </p:cNvPr>
          <p:cNvSpPr/>
          <p:nvPr/>
        </p:nvSpPr>
        <p:spPr>
          <a:xfrm>
            <a:off x="566928" y="4902069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55" name="Número B.13">
            <a:extLst>
              <a:ext uri="{FF2B5EF4-FFF2-40B4-BE49-F238E27FC236}">
                <a16:creationId xmlns:a16="http://schemas.microsoft.com/office/drawing/2014/main" id="{D84D4376-4EC6-835E-91E1-FA883E75AE3D}"/>
              </a:ext>
            </a:extLst>
          </p:cNvPr>
          <p:cNvSpPr txBox="1"/>
          <p:nvPr/>
        </p:nvSpPr>
        <p:spPr>
          <a:xfrm>
            <a:off x="566928" y="490206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B.13</a:t>
            </a:r>
            <a:endParaRPr lang="es-SV" sz="900" noProof="0" dirty="0"/>
          </a:p>
        </p:txBody>
      </p:sp>
      <p:sp>
        <p:nvSpPr>
          <p:cNvPr id="57" name="Responsable B.13">
            <a:extLst>
              <a:ext uri="{FF2B5EF4-FFF2-40B4-BE49-F238E27FC236}">
                <a16:creationId xmlns:a16="http://schemas.microsoft.com/office/drawing/2014/main" id="{6FEE920A-C82A-FB0E-A8B8-6A76C90ED054}"/>
              </a:ext>
            </a:extLst>
          </p:cNvPr>
          <p:cNvSpPr txBox="1"/>
          <p:nvPr/>
        </p:nvSpPr>
        <p:spPr>
          <a:xfrm>
            <a:off x="1115568" y="4865493"/>
            <a:ext cx="28690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RESPONSABLE</a:t>
            </a:r>
            <a:endParaRPr lang="es-SV" sz="900" noProof="0" dirty="0"/>
          </a:p>
          <a:p>
            <a:pPr marL="0" indent="0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Gerencia de Cumplimiento</a:t>
            </a:r>
            <a:endParaRPr lang="es-SV" sz="900" noProof="0" dirty="0"/>
          </a:p>
          <a:p>
            <a:pPr marL="0" indent="0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/ Seguridad de la información</a:t>
            </a:r>
            <a:endParaRPr lang="es-SV" sz="900" noProof="0" dirty="0"/>
          </a:p>
        </p:txBody>
      </p:sp>
      <p:sp>
        <p:nvSpPr>
          <p:cNvPr id="59" name="Título B.13">
            <a:extLst>
              <a:ext uri="{FF2B5EF4-FFF2-40B4-BE49-F238E27FC236}">
                <a16:creationId xmlns:a16="http://schemas.microsoft.com/office/drawing/2014/main" id="{997418D3-B96B-AA38-218E-642FA6F09787}"/>
              </a:ext>
            </a:extLst>
          </p:cNvPr>
          <p:cNvSpPr txBox="1"/>
          <p:nvPr/>
        </p:nvSpPr>
        <p:spPr>
          <a:xfrm>
            <a:off x="603504" y="5468997"/>
            <a:ext cx="528203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1"/>
                </a:solidFill>
              </a:rPr>
              <a:t>Limitante para identificar la base de datos de CRM</a:t>
            </a:r>
            <a:endParaRPr lang="es-SV" sz="900" noProof="0" dirty="0"/>
          </a:p>
        </p:txBody>
      </p:sp>
      <p:sp>
        <p:nvSpPr>
          <p:cNvPr id="63" name="Obs B.14">
            <a:extLst>
              <a:ext uri="{FF2B5EF4-FFF2-40B4-BE49-F238E27FC236}">
                <a16:creationId xmlns:a16="http://schemas.microsoft.com/office/drawing/2014/main" id="{C5C54525-B4C0-5670-D55A-3AC310B37ABC}"/>
              </a:ext>
            </a:extLst>
          </p:cNvPr>
          <p:cNvSpPr/>
          <p:nvPr/>
        </p:nvSpPr>
        <p:spPr>
          <a:xfrm>
            <a:off x="4258971" y="4811773"/>
            <a:ext cx="3673754" cy="1369571"/>
          </a:xfrm>
          <a:prstGeom prst="roundRect">
            <a:avLst>
              <a:gd name="adj" fmla="val 3023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65" name="Número B.14 círculo">
            <a:extLst>
              <a:ext uri="{FF2B5EF4-FFF2-40B4-BE49-F238E27FC236}">
                <a16:creationId xmlns:a16="http://schemas.microsoft.com/office/drawing/2014/main" id="{04B2932F-6B03-D939-416A-99B16B6F5613}"/>
              </a:ext>
            </a:extLst>
          </p:cNvPr>
          <p:cNvSpPr/>
          <p:nvPr/>
        </p:nvSpPr>
        <p:spPr>
          <a:xfrm>
            <a:off x="4368698" y="4921500"/>
            <a:ext cx="457200" cy="35211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67" name="Número B.14">
            <a:extLst>
              <a:ext uri="{FF2B5EF4-FFF2-40B4-BE49-F238E27FC236}">
                <a16:creationId xmlns:a16="http://schemas.microsoft.com/office/drawing/2014/main" id="{69F0A5A1-A0C0-FC09-2A7B-5BE13CD7F418}"/>
              </a:ext>
            </a:extLst>
          </p:cNvPr>
          <p:cNvSpPr txBox="1"/>
          <p:nvPr/>
        </p:nvSpPr>
        <p:spPr>
          <a:xfrm>
            <a:off x="4368698" y="4921500"/>
            <a:ext cx="457200" cy="35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B.14</a:t>
            </a:r>
            <a:endParaRPr lang="es-SV" sz="900" noProof="0" dirty="0"/>
          </a:p>
        </p:txBody>
      </p:sp>
      <p:sp>
        <p:nvSpPr>
          <p:cNvPr id="69" name="Responsable B.14">
            <a:extLst>
              <a:ext uri="{FF2B5EF4-FFF2-40B4-BE49-F238E27FC236}">
                <a16:creationId xmlns:a16="http://schemas.microsoft.com/office/drawing/2014/main" id="{3303001A-D12A-F30C-4D99-0CC4D49BCBC4}"/>
              </a:ext>
            </a:extLst>
          </p:cNvPr>
          <p:cNvSpPr txBox="1"/>
          <p:nvPr/>
        </p:nvSpPr>
        <p:spPr>
          <a:xfrm>
            <a:off x="4917338" y="4884924"/>
            <a:ext cx="2869082" cy="39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RESPONSABLE</a:t>
            </a:r>
            <a:endParaRPr lang="es-SV" sz="900" noProof="0" dirty="0"/>
          </a:p>
          <a:p>
            <a:pPr marL="0" indent="0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Gerencia de Cumplimiento /Seguridad de la Información</a:t>
            </a:r>
            <a:endParaRPr lang="es-SV" sz="900" noProof="0" dirty="0"/>
          </a:p>
        </p:txBody>
      </p:sp>
      <p:sp>
        <p:nvSpPr>
          <p:cNvPr id="71" name="Título B.14">
            <a:extLst>
              <a:ext uri="{FF2B5EF4-FFF2-40B4-BE49-F238E27FC236}">
                <a16:creationId xmlns:a16="http://schemas.microsoft.com/office/drawing/2014/main" id="{DA91EBE8-E12C-497C-BC21-1510CCE0CBE0}"/>
              </a:ext>
            </a:extLst>
          </p:cNvPr>
          <p:cNvSpPr txBox="1"/>
          <p:nvPr/>
        </p:nvSpPr>
        <p:spPr>
          <a:xfrm>
            <a:off x="4405275" y="5488428"/>
            <a:ext cx="3381146" cy="442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1"/>
                </a:solidFill>
              </a:rPr>
              <a:t>Falta de documentación que dé cumplimiento a lo requerido por el artículo 22 de la NRP-23 correspondiente a la adquisición del sistema CRM.</a:t>
            </a:r>
            <a:endParaRPr lang="es-SV" sz="900" noProof="0" dirty="0"/>
          </a:p>
        </p:txBody>
      </p:sp>
      <p:sp>
        <p:nvSpPr>
          <p:cNvPr id="75" name="Obs B.15">
            <a:extLst>
              <a:ext uri="{FF2B5EF4-FFF2-40B4-BE49-F238E27FC236}">
                <a16:creationId xmlns:a16="http://schemas.microsoft.com/office/drawing/2014/main" id="{6957DDFE-CB52-D93F-2077-704C1BA0ECED}"/>
              </a:ext>
            </a:extLst>
          </p:cNvPr>
          <p:cNvSpPr/>
          <p:nvPr/>
        </p:nvSpPr>
        <p:spPr>
          <a:xfrm>
            <a:off x="8099603" y="4781416"/>
            <a:ext cx="3968650" cy="1989490"/>
          </a:xfrm>
          <a:prstGeom prst="roundRect">
            <a:avLst>
              <a:gd name="adj" fmla="val 3023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77" name="Número B.15 círculo">
            <a:extLst>
              <a:ext uri="{FF2B5EF4-FFF2-40B4-BE49-F238E27FC236}">
                <a16:creationId xmlns:a16="http://schemas.microsoft.com/office/drawing/2014/main" id="{D495D5EA-E0B7-C196-F349-AA4F0B546F3B}"/>
              </a:ext>
            </a:extLst>
          </p:cNvPr>
          <p:cNvSpPr/>
          <p:nvPr/>
        </p:nvSpPr>
        <p:spPr>
          <a:xfrm>
            <a:off x="8209331" y="4891143"/>
            <a:ext cx="457200" cy="35211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900" noProof="0" dirty="0"/>
          </a:p>
        </p:txBody>
      </p:sp>
      <p:sp>
        <p:nvSpPr>
          <p:cNvPr id="79" name="Número B.15">
            <a:extLst>
              <a:ext uri="{FF2B5EF4-FFF2-40B4-BE49-F238E27FC236}">
                <a16:creationId xmlns:a16="http://schemas.microsoft.com/office/drawing/2014/main" id="{B572E2C7-88E8-4EDA-C8A3-3B2889AB3434}"/>
              </a:ext>
            </a:extLst>
          </p:cNvPr>
          <p:cNvSpPr txBox="1"/>
          <p:nvPr/>
        </p:nvSpPr>
        <p:spPr>
          <a:xfrm>
            <a:off x="8209331" y="4891143"/>
            <a:ext cx="457200" cy="35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00" b="1" noProof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B.15</a:t>
            </a:r>
            <a:endParaRPr lang="es-SV" sz="900" noProof="0" dirty="0"/>
          </a:p>
        </p:txBody>
      </p:sp>
      <p:sp>
        <p:nvSpPr>
          <p:cNvPr id="81" name="Responsable B.15">
            <a:extLst>
              <a:ext uri="{FF2B5EF4-FFF2-40B4-BE49-F238E27FC236}">
                <a16:creationId xmlns:a16="http://schemas.microsoft.com/office/drawing/2014/main" id="{85C71733-DD61-EA13-88A8-66212C6256D1}"/>
              </a:ext>
            </a:extLst>
          </p:cNvPr>
          <p:cNvSpPr txBox="1"/>
          <p:nvPr/>
        </p:nvSpPr>
        <p:spPr>
          <a:xfrm>
            <a:off x="8757971" y="4854567"/>
            <a:ext cx="2259101" cy="39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RESPONSABLE</a:t>
            </a:r>
            <a:endParaRPr lang="es-SV" sz="900" noProof="0" dirty="0"/>
          </a:p>
          <a:p>
            <a:pPr marL="0" indent="0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Seguridad de la Información</a:t>
            </a:r>
            <a:endParaRPr lang="es-SV" sz="900" noProof="0" dirty="0"/>
          </a:p>
        </p:txBody>
      </p:sp>
      <p:sp>
        <p:nvSpPr>
          <p:cNvPr id="83" name="Título B.15">
            <a:extLst>
              <a:ext uri="{FF2B5EF4-FFF2-40B4-BE49-F238E27FC236}">
                <a16:creationId xmlns:a16="http://schemas.microsoft.com/office/drawing/2014/main" id="{B1AC6401-97BE-CAC1-BF55-6D1E3492A696}"/>
              </a:ext>
            </a:extLst>
          </p:cNvPr>
          <p:cNvSpPr txBox="1"/>
          <p:nvPr/>
        </p:nvSpPr>
        <p:spPr>
          <a:xfrm>
            <a:off x="8245907" y="5335648"/>
            <a:ext cx="3342284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1"/>
                </a:solidFill>
              </a:rPr>
              <a:t>Servicios tercerizados</a:t>
            </a:r>
            <a:endParaRPr lang="es-SV" sz="900" noProof="0" dirty="0"/>
          </a:p>
        </p:txBody>
      </p:sp>
      <p:sp>
        <p:nvSpPr>
          <p:cNvPr id="85" name="Comentario B.15">
            <a:extLst>
              <a:ext uri="{FF2B5EF4-FFF2-40B4-BE49-F238E27FC236}">
                <a16:creationId xmlns:a16="http://schemas.microsoft.com/office/drawing/2014/main" id="{C42FA42B-48FF-CA43-9CF3-333C82706222}"/>
              </a:ext>
            </a:extLst>
          </p:cNvPr>
          <p:cNvSpPr txBox="1"/>
          <p:nvPr/>
        </p:nvSpPr>
        <p:spPr>
          <a:xfrm>
            <a:off x="8216379" y="5568469"/>
            <a:ext cx="3851874" cy="1289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Comentarios  </a:t>
            </a:r>
            <a:r>
              <a:rPr lang="es-SV" sz="900" noProof="0" dirty="0">
                <a:solidFill>
                  <a:schemeClr val="tx1"/>
                </a:solidFill>
              </a:rPr>
              <a:t>Como parte del fortalecimiento de los controles de seguridad asociados al servicio tercerizado del módulo ACRM, la Unidad de Seguridad de la Información y Ciberseguridad realizará una reevaluación de los riesgos de seguridad de la información y ciberseguridad, mediante la actualización de la matriz de riesgos y la revisión de los controles existentes, con el propósito de identificar oportunidades de mejora y definir las medidas adicionales de tratamiento que correspondan, en coordinación con el área responsable de la solución el proveedor. Fecha de cumplimiento: 30 de noviembre de 2026.</a:t>
            </a:r>
            <a:endParaRPr lang="es-SV" sz="900" noProof="0" dirty="0"/>
          </a:p>
        </p:txBody>
      </p:sp>
      <p:sp>
        <p:nvSpPr>
          <p:cNvPr id="38" name="Comentario A.1">
            <a:extLst>
              <a:ext uri="{FF2B5EF4-FFF2-40B4-BE49-F238E27FC236}">
                <a16:creationId xmlns:a16="http://schemas.microsoft.com/office/drawing/2014/main" id="{13EC3108-D2E2-ABA5-84F7-0A4290006269}"/>
              </a:ext>
            </a:extLst>
          </p:cNvPr>
          <p:cNvSpPr txBox="1"/>
          <p:nvPr/>
        </p:nvSpPr>
        <p:spPr>
          <a:xfrm>
            <a:off x="1563090" y="2559209"/>
            <a:ext cx="5282032" cy="20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endParaRPr lang="es-SV" sz="900" dirty="0"/>
          </a:p>
        </p:txBody>
      </p:sp>
      <p:sp>
        <p:nvSpPr>
          <p:cNvPr id="46" name="Comentario A.1">
            <a:extLst>
              <a:ext uri="{FF2B5EF4-FFF2-40B4-BE49-F238E27FC236}">
                <a16:creationId xmlns:a16="http://schemas.microsoft.com/office/drawing/2014/main" id="{4B90A5B3-C172-66B6-E9A2-B1CD3B7B4A89}"/>
              </a:ext>
            </a:extLst>
          </p:cNvPr>
          <p:cNvSpPr txBox="1"/>
          <p:nvPr/>
        </p:nvSpPr>
        <p:spPr>
          <a:xfrm>
            <a:off x="4368698" y="4230414"/>
            <a:ext cx="2155194" cy="17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SV" sz="850" b="1" noProof="0" dirty="0">
                <a:solidFill>
                  <a:schemeClr val="accent5"/>
                </a:solidFill>
              </a:rPr>
              <a:t>Comentarios  </a:t>
            </a:r>
            <a:r>
              <a:rPr lang="es-SV" sz="800" b="1" dirty="0">
                <a:solidFill>
                  <a:schemeClr val="accent4">
                    <a:lumMod val="75000"/>
                  </a:schemeClr>
                </a:solidFill>
              </a:rPr>
              <a:t>Se incorporará prueba de descargo</a:t>
            </a:r>
            <a:r>
              <a:rPr lang="es-SV" sz="850" b="1" dirty="0">
                <a:solidFill>
                  <a:schemeClr val="accent6"/>
                </a:solidFill>
              </a:rPr>
              <a:t> </a:t>
            </a:r>
            <a:endParaRPr lang="es-SV" sz="850" noProof="0" dirty="0"/>
          </a:p>
        </p:txBody>
      </p:sp>
      <p:sp>
        <p:nvSpPr>
          <p:cNvPr id="48" name="Comentario A.1">
            <a:extLst>
              <a:ext uri="{FF2B5EF4-FFF2-40B4-BE49-F238E27FC236}">
                <a16:creationId xmlns:a16="http://schemas.microsoft.com/office/drawing/2014/main" id="{DA95FAFD-24DF-C7BD-C69F-D99325BA2A2F}"/>
              </a:ext>
            </a:extLst>
          </p:cNvPr>
          <p:cNvSpPr txBox="1"/>
          <p:nvPr/>
        </p:nvSpPr>
        <p:spPr>
          <a:xfrm>
            <a:off x="8225332" y="4242900"/>
            <a:ext cx="2155194" cy="17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SV" sz="850" b="1" noProof="0" dirty="0">
                <a:solidFill>
                  <a:schemeClr val="accent5"/>
                </a:solidFill>
              </a:rPr>
              <a:t>Comentarios  </a:t>
            </a:r>
            <a:r>
              <a:rPr lang="es-SV" sz="800" b="1" dirty="0">
                <a:solidFill>
                  <a:schemeClr val="accent4">
                    <a:lumMod val="75000"/>
                  </a:schemeClr>
                </a:solidFill>
              </a:rPr>
              <a:t>Se incorporará prueba de descargo</a:t>
            </a:r>
            <a:r>
              <a:rPr lang="es-SV" sz="850" b="1" dirty="0">
                <a:solidFill>
                  <a:schemeClr val="accent6"/>
                </a:solidFill>
              </a:rPr>
              <a:t> </a:t>
            </a:r>
            <a:endParaRPr lang="es-SV" sz="850" noProof="0" dirty="0"/>
          </a:p>
        </p:txBody>
      </p:sp>
      <p:sp>
        <p:nvSpPr>
          <p:cNvPr id="50" name="Comentario A.1">
            <a:extLst>
              <a:ext uri="{FF2B5EF4-FFF2-40B4-BE49-F238E27FC236}">
                <a16:creationId xmlns:a16="http://schemas.microsoft.com/office/drawing/2014/main" id="{BACCCB29-F3B4-DA51-1EE1-C7677F068445}"/>
              </a:ext>
            </a:extLst>
          </p:cNvPr>
          <p:cNvSpPr txBox="1"/>
          <p:nvPr/>
        </p:nvSpPr>
        <p:spPr>
          <a:xfrm>
            <a:off x="603504" y="5910370"/>
            <a:ext cx="2155194" cy="17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SV" sz="850" b="1" noProof="0" dirty="0">
                <a:solidFill>
                  <a:schemeClr val="accent5"/>
                </a:solidFill>
              </a:rPr>
              <a:t>Comentarios  </a:t>
            </a:r>
            <a:r>
              <a:rPr lang="es-SV" sz="800" b="1" dirty="0">
                <a:solidFill>
                  <a:schemeClr val="accent4">
                    <a:lumMod val="75000"/>
                  </a:schemeClr>
                </a:solidFill>
              </a:rPr>
              <a:t>Se incorporará prueba de descargo</a:t>
            </a:r>
            <a:r>
              <a:rPr lang="es-SV" sz="850" b="1" dirty="0">
                <a:solidFill>
                  <a:schemeClr val="accent6"/>
                </a:solidFill>
              </a:rPr>
              <a:t> </a:t>
            </a:r>
            <a:endParaRPr lang="es-SV" sz="850" noProof="0" dirty="0"/>
          </a:p>
        </p:txBody>
      </p:sp>
      <p:sp>
        <p:nvSpPr>
          <p:cNvPr id="52" name="Comentario A.1">
            <a:extLst>
              <a:ext uri="{FF2B5EF4-FFF2-40B4-BE49-F238E27FC236}">
                <a16:creationId xmlns:a16="http://schemas.microsoft.com/office/drawing/2014/main" id="{53F16EA7-1A14-47CF-3C4A-375F06C00A99}"/>
              </a:ext>
            </a:extLst>
          </p:cNvPr>
          <p:cNvSpPr txBox="1"/>
          <p:nvPr/>
        </p:nvSpPr>
        <p:spPr>
          <a:xfrm>
            <a:off x="4405275" y="5950273"/>
            <a:ext cx="2155194" cy="17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SV" sz="850" b="1" noProof="0" dirty="0">
                <a:solidFill>
                  <a:schemeClr val="accent5"/>
                </a:solidFill>
              </a:rPr>
              <a:t>Comentarios  </a:t>
            </a:r>
            <a:r>
              <a:rPr lang="es-SV" sz="800" b="1" dirty="0">
                <a:solidFill>
                  <a:schemeClr val="accent4">
                    <a:lumMod val="75000"/>
                  </a:schemeClr>
                </a:solidFill>
              </a:rPr>
              <a:t>Se incorporará prueba de descargo</a:t>
            </a:r>
            <a:r>
              <a:rPr lang="es-SV" sz="850" b="1" dirty="0">
                <a:solidFill>
                  <a:schemeClr val="accent6"/>
                </a:solidFill>
              </a:rPr>
              <a:t> </a:t>
            </a:r>
            <a:endParaRPr lang="es-SV" sz="8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199" y="471468"/>
            <a:ext cx="11277296" cy="73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2800" b="1" noProof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</a:t>
            </a:r>
          </a:p>
          <a:p>
            <a:pPr marL="0" indent="0">
              <a:buNone/>
            </a:pPr>
            <a:r>
              <a:rPr lang="es-SV" sz="2500" b="1" noProof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16572 </a:t>
            </a:r>
            <a:r>
              <a:rPr lang="es-SV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                                                 Circular </a:t>
            </a:r>
            <a:r>
              <a:rPr lang="es-SV" sz="2500" b="1" noProof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18445 – NRP -36</a:t>
            </a:r>
            <a:endParaRPr lang="es-SV" sz="2500" noProof="0" dirty="0"/>
          </a:p>
        </p:txBody>
      </p:sp>
      <p:pic>
        <p:nvPicPr>
          <p:cNvPr id="4" name="Logo COMEDICA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256032"/>
            <a:ext cx="1828800" cy="561399"/>
          </a:xfrm>
          <a:prstGeom prst="rect">
            <a:avLst/>
          </a:prstGeom>
        </p:spPr>
      </p:pic>
      <p:sp>
        <p:nvSpPr>
          <p:cNvPr id="5" name="Seg 0"/>
          <p:cNvSpPr/>
          <p:nvPr/>
        </p:nvSpPr>
        <p:spPr>
          <a:xfrm>
            <a:off x="457199" y="1234441"/>
            <a:ext cx="6509462" cy="2378192"/>
          </a:xfrm>
          <a:prstGeom prst="roundRect">
            <a:avLst>
              <a:gd name="adj" fmla="val 285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2000" dirty="0"/>
          </a:p>
        </p:txBody>
      </p:sp>
      <p:sp>
        <p:nvSpPr>
          <p:cNvPr id="6" name="Circular 0 fondo"/>
          <p:cNvSpPr/>
          <p:nvPr/>
        </p:nvSpPr>
        <p:spPr>
          <a:xfrm>
            <a:off x="566928" y="1325880"/>
            <a:ext cx="160020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2000" noProof="0" dirty="0"/>
          </a:p>
        </p:txBody>
      </p:sp>
      <p:sp>
        <p:nvSpPr>
          <p:cNvPr id="7" name="Circular 0"/>
          <p:cNvSpPr txBox="1"/>
          <p:nvPr/>
        </p:nvSpPr>
        <p:spPr>
          <a:xfrm>
            <a:off x="566928" y="13258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900" b="1" kern="0" spc="50" noProof="0" dirty="0">
                <a:solidFill>
                  <a:schemeClr val="bg1"/>
                </a:solidFill>
              </a:rPr>
              <a:t>C.1.1</a:t>
            </a:r>
            <a:endParaRPr lang="es-SV" sz="900" noProof="0" dirty="0"/>
          </a:p>
        </p:txBody>
      </p:sp>
      <p:sp>
        <p:nvSpPr>
          <p:cNvPr id="8" name="Estado 0 fondo"/>
          <p:cNvSpPr/>
          <p:nvPr/>
        </p:nvSpPr>
        <p:spPr>
          <a:xfrm>
            <a:off x="2240280" y="1325880"/>
            <a:ext cx="169164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2000" noProof="0" dirty="0"/>
          </a:p>
        </p:txBody>
      </p:sp>
      <p:sp>
        <p:nvSpPr>
          <p:cNvPr id="9" name="Estado 0"/>
          <p:cNvSpPr txBox="1"/>
          <p:nvPr/>
        </p:nvSpPr>
        <p:spPr>
          <a:xfrm>
            <a:off x="2240280" y="13258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00" b="1" kern="0" spc="50" noProof="0" dirty="0">
                <a:solidFill>
                  <a:schemeClr val="bg1"/>
                </a:solidFill>
              </a:rPr>
              <a:t>PARCIALMENTE SUPERADA</a:t>
            </a:r>
            <a:endParaRPr lang="es-SV" sz="900" noProof="0" dirty="0"/>
          </a:p>
        </p:txBody>
      </p:sp>
      <p:sp>
        <p:nvSpPr>
          <p:cNvPr id="10" name="Obs 0"/>
          <p:cNvSpPr txBox="1"/>
          <p:nvPr/>
        </p:nvSpPr>
        <p:spPr>
          <a:xfrm>
            <a:off x="594360" y="1655064"/>
            <a:ext cx="6182267" cy="68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1000" b="1" noProof="0" dirty="0">
                <a:solidFill>
                  <a:schemeClr val="accent1"/>
                </a:solidFill>
              </a:rPr>
              <a:t>Observación 2: Falta de eficacia en la subsanación de observaciones determinadas por el Departamento de Auditoría Interna.</a:t>
            </a:r>
            <a:endParaRPr lang="es-SV" sz="1400" noProof="0" dirty="0"/>
          </a:p>
          <a:p>
            <a:pPr marL="0" indent="0" algn="just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Seguimiento realizado en la presente visita de supervisión:</a:t>
            </a:r>
            <a:endParaRPr lang="es-SV" sz="1400" noProof="0" dirty="0"/>
          </a:p>
          <a:p>
            <a:pPr marL="0" indent="0" algn="just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Comentarios COMEDICA: en el Plan de Auditoría interna 2026 se incluyó seguimientos trimestrales como actividad 44 para solventar la observación.</a:t>
            </a:r>
            <a:endParaRPr lang="es-SV" sz="1400" noProof="0" dirty="0"/>
          </a:p>
        </p:txBody>
      </p:sp>
      <p:sp>
        <p:nvSpPr>
          <p:cNvPr id="11" name="Com 0"/>
          <p:cNvSpPr txBox="1"/>
          <p:nvPr/>
        </p:nvSpPr>
        <p:spPr>
          <a:xfrm>
            <a:off x="594360" y="2424598"/>
            <a:ext cx="6182267" cy="81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Comentarios  </a:t>
            </a:r>
            <a:r>
              <a:rPr lang="es-SV" sz="900" noProof="0" dirty="0">
                <a:solidFill>
                  <a:schemeClr val="tx1"/>
                </a:solidFill>
              </a:rPr>
              <a:t>AI 28 2024 y AI 45 2024 Otorgamiento de Préstamos. Se realizó el seguimiento correspondiente a los informes AI 44-2025, AI 64-2025 y AI 20-2026. Como resultado, las observaciones quedaron solventadas. (Se anexan los informes). AI 21 2024 y AI 26 2024 Otorgamiento de Tarjeta de Crédito. Se realizó el seguimiento correspondiente en los informes AI 14 2025 y AI 69 2025. Como resultado, las observaciones quedaron solventadas. (Se anexan los informes). Informes AI 32 2024; AI 37 2024 y AI 52 2024. Se continuará con el seguimiento, solicitando nuevamente planes de acción con fechas plazo, a cada unidad responsable. Plazo: 30/11/2026</a:t>
            </a:r>
            <a:endParaRPr lang="es-SV" sz="900" noProof="0" dirty="0"/>
          </a:p>
        </p:txBody>
      </p:sp>
      <p:sp>
        <p:nvSpPr>
          <p:cNvPr id="12" name="Resp 0"/>
          <p:cNvSpPr txBox="1"/>
          <p:nvPr/>
        </p:nvSpPr>
        <p:spPr>
          <a:xfrm>
            <a:off x="571729" y="3393177"/>
            <a:ext cx="3399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b="1" noProof="0" dirty="0">
                <a:solidFill>
                  <a:schemeClr val="accent5"/>
                </a:solidFill>
              </a:rPr>
              <a:t>Responsable  </a:t>
            </a:r>
            <a:r>
              <a:rPr lang="es-SV" sz="1000" b="1" noProof="0" dirty="0">
                <a:solidFill>
                  <a:schemeClr val="accent1"/>
                </a:solidFill>
              </a:rPr>
              <a:t>Auditoría interna</a:t>
            </a:r>
            <a:endParaRPr lang="es-SV" sz="1000" noProof="0" dirty="0"/>
          </a:p>
        </p:txBody>
      </p:sp>
      <p:sp>
        <p:nvSpPr>
          <p:cNvPr id="13" name="Seg 1"/>
          <p:cNvSpPr/>
          <p:nvPr/>
        </p:nvSpPr>
        <p:spPr>
          <a:xfrm>
            <a:off x="419786" y="3704073"/>
            <a:ext cx="6488090" cy="1255844"/>
          </a:xfrm>
          <a:prstGeom prst="roundRect">
            <a:avLst>
              <a:gd name="adj" fmla="val 285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2000" dirty="0"/>
          </a:p>
        </p:txBody>
      </p:sp>
      <p:sp>
        <p:nvSpPr>
          <p:cNvPr id="16" name="Estado 1 fondo"/>
          <p:cNvSpPr/>
          <p:nvPr/>
        </p:nvSpPr>
        <p:spPr>
          <a:xfrm>
            <a:off x="5725067" y="3754608"/>
            <a:ext cx="105156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2000" noProof="0" dirty="0"/>
          </a:p>
        </p:txBody>
      </p:sp>
      <p:sp>
        <p:nvSpPr>
          <p:cNvPr id="17" name="Estado 1"/>
          <p:cNvSpPr txBox="1"/>
          <p:nvPr/>
        </p:nvSpPr>
        <p:spPr>
          <a:xfrm>
            <a:off x="5725067" y="374979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00" b="1" kern="0" spc="50" noProof="0" dirty="0">
                <a:solidFill>
                  <a:schemeClr val="bg1"/>
                </a:solidFill>
              </a:rPr>
              <a:t>NO SUPERADA</a:t>
            </a:r>
            <a:endParaRPr lang="es-SV" sz="900" noProof="0" dirty="0"/>
          </a:p>
        </p:txBody>
      </p:sp>
      <p:sp>
        <p:nvSpPr>
          <p:cNvPr id="18" name="Obs 1"/>
          <p:cNvSpPr txBox="1"/>
          <p:nvPr/>
        </p:nvSpPr>
        <p:spPr>
          <a:xfrm>
            <a:off x="556945" y="3794721"/>
            <a:ext cx="6219681" cy="887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1000" b="1" noProof="0" dirty="0">
                <a:solidFill>
                  <a:schemeClr val="accent1"/>
                </a:solidFill>
              </a:rPr>
              <a:t>Observación 3: Seguimiento inoportuno de las observaciones por parte de Auditoría Interna.</a:t>
            </a:r>
            <a:endParaRPr lang="es-SV" sz="1400" noProof="0" dirty="0"/>
          </a:p>
          <a:p>
            <a:pPr marL="0" indent="0" algn="just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Seguimiento realizado en la presente visita de supervisión:</a:t>
            </a:r>
            <a:endParaRPr lang="es-SV" sz="1400" noProof="0" dirty="0"/>
          </a:p>
          <a:p>
            <a:pPr marL="0" indent="0" algn="just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Comentarios COMEDICA de R.L.: En el Plan de Auditoría Interna 2026 se incluyó seguimientos trimestrales como actividad 44 para solventar la observación.</a:t>
            </a:r>
            <a:endParaRPr lang="es-SV" sz="1400" noProof="0" dirty="0"/>
          </a:p>
        </p:txBody>
      </p:sp>
      <p:sp>
        <p:nvSpPr>
          <p:cNvPr id="19" name="Com 1"/>
          <p:cNvSpPr txBox="1"/>
          <p:nvPr/>
        </p:nvSpPr>
        <p:spPr>
          <a:xfrm>
            <a:off x="566928" y="4508515"/>
            <a:ext cx="6209698" cy="71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Comentarios  </a:t>
            </a:r>
            <a:r>
              <a:rPr lang="es-SV" sz="900" noProof="0" dirty="0">
                <a:solidFill>
                  <a:schemeClr val="tx1"/>
                </a:solidFill>
              </a:rPr>
              <a:t>Para dar seguimiento a los informes se ha elaborado una matriz con las observaciones de todos los informes, la matriz es actualizada trimestralmente. Se anexa la matriz de seguimiento de informes.</a:t>
            </a:r>
            <a:endParaRPr lang="es-SV" sz="900" noProof="0" dirty="0"/>
          </a:p>
        </p:txBody>
      </p:sp>
      <p:sp>
        <p:nvSpPr>
          <p:cNvPr id="20" name="Resp 1"/>
          <p:cNvSpPr txBox="1"/>
          <p:nvPr/>
        </p:nvSpPr>
        <p:spPr>
          <a:xfrm>
            <a:off x="625526" y="7428504"/>
            <a:ext cx="3399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b="1" noProof="0" dirty="0">
                <a:solidFill>
                  <a:schemeClr val="accent5"/>
                </a:solidFill>
              </a:rPr>
              <a:t>Responsable  </a:t>
            </a:r>
            <a:r>
              <a:rPr lang="es-SV" sz="1000" b="1" noProof="0" dirty="0">
                <a:solidFill>
                  <a:schemeClr val="accent1"/>
                </a:solidFill>
              </a:rPr>
              <a:t>Auditoría interna</a:t>
            </a:r>
            <a:endParaRPr lang="es-SV" sz="1000" noProof="0" dirty="0"/>
          </a:p>
        </p:txBody>
      </p:sp>
      <p:sp>
        <p:nvSpPr>
          <p:cNvPr id="21" name="Seg 2"/>
          <p:cNvSpPr/>
          <p:nvPr/>
        </p:nvSpPr>
        <p:spPr>
          <a:xfrm>
            <a:off x="463330" y="5075192"/>
            <a:ext cx="6444546" cy="1331014"/>
          </a:xfrm>
          <a:prstGeom prst="roundRect">
            <a:avLst>
              <a:gd name="adj" fmla="val 285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2000" noProof="0" dirty="0"/>
          </a:p>
        </p:txBody>
      </p:sp>
      <p:sp>
        <p:nvSpPr>
          <p:cNvPr id="22" name="Circular 2 fondo"/>
          <p:cNvSpPr/>
          <p:nvPr/>
        </p:nvSpPr>
        <p:spPr>
          <a:xfrm>
            <a:off x="573058" y="5166631"/>
            <a:ext cx="160020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2000" noProof="0" dirty="0"/>
          </a:p>
        </p:txBody>
      </p:sp>
      <p:sp>
        <p:nvSpPr>
          <p:cNvPr id="23" name="Circular 2"/>
          <p:cNvSpPr txBox="1"/>
          <p:nvPr/>
        </p:nvSpPr>
        <p:spPr>
          <a:xfrm>
            <a:off x="573058" y="5166631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900" b="1" kern="0" spc="50" noProof="0" dirty="0">
                <a:solidFill>
                  <a:schemeClr val="bg1"/>
                </a:solidFill>
              </a:rPr>
              <a:t> C.1.2</a:t>
            </a:r>
            <a:endParaRPr lang="es-SV" sz="900" noProof="0" dirty="0"/>
          </a:p>
        </p:txBody>
      </p:sp>
      <p:sp>
        <p:nvSpPr>
          <p:cNvPr id="24" name="Estado 2 fondo"/>
          <p:cNvSpPr/>
          <p:nvPr/>
        </p:nvSpPr>
        <p:spPr>
          <a:xfrm>
            <a:off x="2246410" y="5166631"/>
            <a:ext cx="169164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2000" noProof="0" dirty="0"/>
          </a:p>
        </p:txBody>
      </p:sp>
      <p:sp>
        <p:nvSpPr>
          <p:cNvPr id="25" name="Estado 2"/>
          <p:cNvSpPr txBox="1"/>
          <p:nvPr/>
        </p:nvSpPr>
        <p:spPr>
          <a:xfrm>
            <a:off x="2246410" y="5166631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00" b="1" kern="0" spc="50" noProof="0" dirty="0">
                <a:solidFill>
                  <a:schemeClr val="bg1"/>
                </a:solidFill>
              </a:rPr>
              <a:t>PARCIAMENTE SUPERADA</a:t>
            </a:r>
            <a:endParaRPr lang="es-SV" sz="900" noProof="0" dirty="0"/>
          </a:p>
        </p:txBody>
      </p:sp>
      <p:sp>
        <p:nvSpPr>
          <p:cNvPr id="26" name="Obs 2"/>
          <p:cNvSpPr txBox="1"/>
          <p:nvPr/>
        </p:nvSpPr>
        <p:spPr>
          <a:xfrm>
            <a:off x="600490" y="5495815"/>
            <a:ext cx="6176136" cy="51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1000" b="1" noProof="0" dirty="0">
                <a:solidFill>
                  <a:schemeClr val="accent1"/>
                </a:solidFill>
              </a:rPr>
              <a:t>Observación 2: Seguimiento a informes de observaciones del Comité de Auditoría y de Auditoría Interna durante el período 2023.</a:t>
            </a:r>
            <a:endParaRPr lang="es-SV" sz="1400" noProof="0" dirty="0"/>
          </a:p>
        </p:txBody>
      </p:sp>
      <p:sp>
        <p:nvSpPr>
          <p:cNvPr id="27" name="Com 2"/>
          <p:cNvSpPr txBox="1"/>
          <p:nvPr/>
        </p:nvSpPr>
        <p:spPr>
          <a:xfrm>
            <a:off x="556945" y="5867144"/>
            <a:ext cx="6176135" cy="40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Comentarios  </a:t>
            </a:r>
            <a:r>
              <a:rPr lang="es-SV" sz="900" noProof="0" dirty="0">
                <a:solidFill>
                  <a:schemeClr val="tx1"/>
                </a:solidFill>
              </a:rPr>
              <a:t>Se realizará nuevamente el seguimiento de las observaciones pendientes de solventar en las Actas: 173 y 175; Plazo: 30/11/2026</a:t>
            </a:r>
            <a:endParaRPr lang="es-SV" sz="900" noProof="0" dirty="0"/>
          </a:p>
        </p:txBody>
      </p:sp>
      <p:sp>
        <p:nvSpPr>
          <p:cNvPr id="28" name="Resp 2"/>
          <p:cNvSpPr txBox="1"/>
          <p:nvPr/>
        </p:nvSpPr>
        <p:spPr>
          <a:xfrm>
            <a:off x="594360" y="6158609"/>
            <a:ext cx="3399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b="1" noProof="0" dirty="0">
                <a:solidFill>
                  <a:schemeClr val="accent5"/>
                </a:solidFill>
              </a:rPr>
              <a:t>Responsable  </a:t>
            </a:r>
            <a:r>
              <a:rPr lang="es-SV" sz="1000" b="1" noProof="0" dirty="0">
                <a:solidFill>
                  <a:schemeClr val="accent1"/>
                </a:solidFill>
              </a:rPr>
              <a:t>Auditoría interna</a:t>
            </a:r>
            <a:endParaRPr lang="es-SV" sz="1000" noProof="0" dirty="0"/>
          </a:p>
        </p:txBody>
      </p:sp>
      <p:sp>
        <p:nvSpPr>
          <p:cNvPr id="29" name="Seg 3"/>
          <p:cNvSpPr/>
          <p:nvPr/>
        </p:nvSpPr>
        <p:spPr>
          <a:xfrm>
            <a:off x="7441081" y="1251036"/>
            <a:ext cx="4293413" cy="1602232"/>
          </a:xfrm>
          <a:prstGeom prst="roundRect">
            <a:avLst>
              <a:gd name="adj" fmla="val 4996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2000" noProof="0" dirty="0"/>
          </a:p>
        </p:txBody>
      </p:sp>
      <p:sp>
        <p:nvSpPr>
          <p:cNvPr id="32" name="Estado 3 fondo"/>
          <p:cNvSpPr/>
          <p:nvPr/>
        </p:nvSpPr>
        <p:spPr>
          <a:xfrm>
            <a:off x="10618847" y="1300131"/>
            <a:ext cx="105156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2000" noProof="0" dirty="0"/>
          </a:p>
        </p:txBody>
      </p:sp>
      <p:sp>
        <p:nvSpPr>
          <p:cNvPr id="33" name="Estado 3"/>
          <p:cNvSpPr txBox="1"/>
          <p:nvPr/>
        </p:nvSpPr>
        <p:spPr>
          <a:xfrm>
            <a:off x="10682934" y="1307587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00" b="1" kern="0" spc="50" noProof="0" dirty="0">
                <a:solidFill>
                  <a:schemeClr val="bg1"/>
                </a:solidFill>
              </a:rPr>
              <a:t>NO SUPERADA</a:t>
            </a:r>
            <a:endParaRPr lang="es-SV" sz="900" noProof="0" dirty="0"/>
          </a:p>
        </p:txBody>
      </p:sp>
      <p:sp>
        <p:nvSpPr>
          <p:cNvPr id="34" name="Obs 3"/>
          <p:cNvSpPr txBox="1"/>
          <p:nvPr/>
        </p:nvSpPr>
        <p:spPr>
          <a:xfrm>
            <a:off x="7578242" y="1612726"/>
            <a:ext cx="4019398" cy="49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1000" b="1" noProof="0" dirty="0">
                <a:solidFill>
                  <a:schemeClr val="accent1"/>
                </a:solidFill>
              </a:rPr>
              <a:t>Observación 1. Falta de aplicación del factor de riesgo empleados.</a:t>
            </a:r>
            <a:endParaRPr lang="es-SV" sz="1400" noProof="0" dirty="0"/>
          </a:p>
          <a:p>
            <a:pPr marL="0" indent="0" algn="just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Seguimiento realizado en la presente visita de supervisión:</a:t>
            </a:r>
            <a:endParaRPr lang="es-SV" sz="1400" noProof="0" dirty="0"/>
          </a:p>
        </p:txBody>
      </p:sp>
      <p:sp>
        <p:nvSpPr>
          <p:cNvPr id="35" name="Com 3"/>
          <p:cNvSpPr txBox="1"/>
          <p:nvPr/>
        </p:nvSpPr>
        <p:spPr>
          <a:xfrm>
            <a:off x="7578242" y="2217556"/>
            <a:ext cx="3399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Comentarios  </a:t>
            </a:r>
            <a:r>
              <a:rPr lang="es-SV" sz="900" noProof="0" dirty="0">
                <a:solidFill>
                  <a:schemeClr val="tx1"/>
                </a:solidFill>
              </a:rPr>
              <a:t>Sin comentarios ni documentación</a:t>
            </a:r>
            <a:endParaRPr lang="es-SV" sz="900" noProof="0" dirty="0"/>
          </a:p>
        </p:txBody>
      </p:sp>
      <p:sp>
        <p:nvSpPr>
          <p:cNvPr id="36" name="Resp 3"/>
          <p:cNvSpPr txBox="1"/>
          <p:nvPr/>
        </p:nvSpPr>
        <p:spPr>
          <a:xfrm>
            <a:off x="7588267" y="2519147"/>
            <a:ext cx="3399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b="1" noProof="0" dirty="0">
                <a:solidFill>
                  <a:schemeClr val="accent5"/>
                </a:solidFill>
              </a:rPr>
              <a:t>Responsable  </a:t>
            </a:r>
            <a:r>
              <a:rPr lang="es-SV" sz="1000" b="1" noProof="0" dirty="0">
                <a:solidFill>
                  <a:schemeClr val="accent1"/>
                </a:solidFill>
              </a:rPr>
              <a:t>Gerencia de Oficialía de Cumplimiento</a:t>
            </a:r>
            <a:endParaRPr lang="es-SV" sz="1000" noProof="0" dirty="0"/>
          </a:p>
        </p:txBody>
      </p:sp>
      <p:sp>
        <p:nvSpPr>
          <p:cNvPr id="37" name="Seg 4"/>
          <p:cNvSpPr/>
          <p:nvPr/>
        </p:nvSpPr>
        <p:spPr>
          <a:xfrm>
            <a:off x="7478539" y="3334028"/>
            <a:ext cx="4255956" cy="1830337"/>
          </a:xfrm>
          <a:prstGeom prst="roundRect">
            <a:avLst>
              <a:gd name="adj" fmla="val 4996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2000" dirty="0"/>
          </a:p>
        </p:txBody>
      </p:sp>
      <p:sp>
        <p:nvSpPr>
          <p:cNvPr id="40" name="Estado 4 fondo"/>
          <p:cNvSpPr/>
          <p:nvPr/>
        </p:nvSpPr>
        <p:spPr>
          <a:xfrm>
            <a:off x="9978767" y="3366056"/>
            <a:ext cx="169164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sz="2000" noProof="0" dirty="0"/>
          </a:p>
        </p:txBody>
      </p:sp>
      <p:sp>
        <p:nvSpPr>
          <p:cNvPr id="41" name="Estado 4"/>
          <p:cNvSpPr txBox="1"/>
          <p:nvPr/>
        </p:nvSpPr>
        <p:spPr>
          <a:xfrm>
            <a:off x="10010811" y="336605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900" b="1" kern="0" spc="50" noProof="0" dirty="0">
                <a:solidFill>
                  <a:schemeClr val="bg1"/>
                </a:solidFill>
              </a:rPr>
              <a:t>PARCIALMENTE SUPERADA</a:t>
            </a:r>
            <a:endParaRPr lang="es-SV" sz="900" noProof="0" dirty="0"/>
          </a:p>
        </p:txBody>
      </p:sp>
      <p:sp>
        <p:nvSpPr>
          <p:cNvPr id="42" name="Obs 4"/>
          <p:cNvSpPr txBox="1"/>
          <p:nvPr/>
        </p:nvSpPr>
        <p:spPr>
          <a:xfrm>
            <a:off x="7615698" y="3754652"/>
            <a:ext cx="3981941" cy="49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1000" b="1" noProof="0" dirty="0">
                <a:solidFill>
                  <a:schemeClr val="accent1"/>
                </a:solidFill>
              </a:rPr>
              <a:t>Observación 4. Seguimiento de observaciones de Auditoría Interna de años anteriores no subsanadas.</a:t>
            </a:r>
            <a:endParaRPr lang="es-SV" sz="1400" noProof="0" dirty="0"/>
          </a:p>
          <a:p>
            <a:pPr marL="0" indent="0" algn="just">
              <a:buNone/>
            </a:pPr>
            <a:r>
              <a:rPr lang="es-SV" sz="900" noProof="0" dirty="0">
                <a:solidFill>
                  <a:schemeClr val="tx1"/>
                </a:solidFill>
              </a:rPr>
              <a:t>Seguimiento realizado en la presente visita de supervisión:</a:t>
            </a:r>
            <a:endParaRPr lang="es-SV" sz="1400" noProof="0" dirty="0"/>
          </a:p>
        </p:txBody>
      </p:sp>
      <p:sp>
        <p:nvSpPr>
          <p:cNvPr id="43" name="Com 4"/>
          <p:cNvSpPr txBox="1"/>
          <p:nvPr/>
        </p:nvSpPr>
        <p:spPr>
          <a:xfrm>
            <a:off x="7615699" y="4300549"/>
            <a:ext cx="3981940" cy="53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900" b="1" noProof="0" dirty="0">
                <a:solidFill>
                  <a:schemeClr val="accent5"/>
                </a:solidFill>
              </a:rPr>
              <a:t>Comentarios  </a:t>
            </a:r>
            <a:r>
              <a:rPr lang="es-SV" sz="900" noProof="0" dirty="0">
                <a:solidFill>
                  <a:schemeClr val="tx1"/>
                </a:solidFill>
              </a:rPr>
              <a:t>Se gestionará con la Gerencia de Oficialía de Cumplimiento un nuevo Plan de Acción. Auditoría Interna dará seguimiento. Plazo: 30/11/2026</a:t>
            </a:r>
            <a:endParaRPr lang="es-SV" sz="900" noProof="0" dirty="0"/>
          </a:p>
        </p:txBody>
      </p:sp>
      <p:sp>
        <p:nvSpPr>
          <p:cNvPr id="44" name="Resp 4"/>
          <p:cNvSpPr txBox="1"/>
          <p:nvPr/>
        </p:nvSpPr>
        <p:spPr>
          <a:xfrm>
            <a:off x="7615699" y="4871757"/>
            <a:ext cx="3399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b="1" noProof="0" dirty="0">
                <a:solidFill>
                  <a:schemeClr val="accent5"/>
                </a:solidFill>
              </a:rPr>
              <a:t>Responsable  </a:t>
            </a:r>
            <a:r>
              <a:rPr lang="es-SV" sz="1000" b="1" noProof="0" dirty="0">
                <a:solidFill>
                  <a:schemeClr val="accent1"/>
                </a:solidFill>
              </a:rPr>
              <a:t>Auditoría interna</a:t>
            </a:r>
            <a:endParaRPr lang="es-SV" sz="10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548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2800" b="1" noProof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· Circular 29295</a:t>
            </a:r>
            <a:endParaRPr lang="es-SV" sz="2800" noProof="0" dirty="0"/>
          </a:p>
        </p:txBody>
      </p:sp>
      <p:pic>
        <p:nvPicPr>
          <p:cNvPr id="4" name="Logo COMEDICA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256032"/>
            <a:ext cx="1828800" cy="561399"/>
          </a:xfrm>
          <a:prstGeom prst="rect">
            <a:avLst/>
          </a:prstGeom>
        </p:spPr>
      </p:pic>
      <p:sp>
        <p:nvSpPr>
          <p:cNvPr id="5" name="Seg 5"/>
          <p:cNvSpPr/>
          <p:nvPr/>
        </p:nvSpPr>
        <p:spPr>
          <a:xfrm>
            <a:off x="457200" y="1234440"/>
            <a:ext cx="5574640" cy="2410911"/>
          </a:xfrm>
          <a:prstGeom prst="roundRect">
            <a:avLst>
              <a:gd name="adj" fmla="val 3793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dirty="0"/>
          </a:p>
        </p:txBody>
      </p:sp>
      <p:sp>
        <p:nvSpPr>
          <p:cNvPr id="6" name="Circular 5 fondo"/>
          <p:cNvSpPr/>
          <p:nvPr/>
        </p:nvSpPr>
        <p:spPr>
          <a:xfrm>
            <a:off x="566928" y="1325880"/>
            <a:ext cx="160020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7" name="Circular 5"/>
          <p:cNvSpPr txBox="1"/>
          <p:nvPr/>
        </p:nvSpPr>
        <p:spPr>
          <a:xfrm>
            <a:off x="566928" y="13258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850" b="1" kern="0" spc="50" noProof="0" dirty="0">
                <a:solidFill>
                  <a:schemeClr val="bg1"/>
                </a:solidFill>
              </a:rPr>
              <a:t> C.3.1</a:t>
            </a:r>
            <a:endParaRPr lang="es-SV" sz="850" noProof="0" dirty="0"/>
          </a:p>
        </p:txBody>
      </p:sp>
      <p:sp>
        <p:nvSpPr>
          <p:cNvPr id="8" name="Estado 5 fondo"/>
          <p:cNvSpPr/>
          <p:nvPr/>
        </p:nvSpPr>
        <p:spPr>
          <a:xfrm>
            <a:off x="2240280" y="1325880"/>
            <a:ext cx="105156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9" name="Estado 5"/>
          <p:cNvSpPr txBox="1"/>
          <p:nvPr/>
        </p:nvSpPr>
        <p:spPr>
          <a:xfrm>
            <a:off x="2240280" y="13258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850" b="1" kern="0" spc="50" noProof="0" dirty="0">
                <a:solidFill>
                  <a:schemeClr val="bg1"/>
                </a:solidFill>
              </a:rPr>
              <a:t>NO SUPERADA</a:t>
            </a:r>
            <a:endParaRPr lang="es-SV" sz="850" noProof="0" dirty="0"/>
          </a:p>
        </p:txBody>
      </p:sp>
      <p:sp>
        <p:nvSpPr>
          <p:cNvPr id="10" name="Obs 5"/>
          <p:cNvSpPr txBox="1"/>
          <p:nvPr/>
        </p:nvSpPr>
        <p:spPr>
          <a:xfrm>
            <a:off x="594360" y="1655064"/>
            <a:ext cx="5300320" cy="449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1300" b="1" noProof="0" dirty="0">
                <a:solidFill>
                  <a:schemeClr val="accent1"/>
                </a:solidFill>
              </a:rPr>
              <a:t>Observación 1: Falta de elementos en el plan de contingencia.</a:t>
            </a:r>
            <a:endParaRPr lang="es-SV" sz="1200" noProof="0" dirty="0"/>
          </a:p>
          <a:p>
            <a:pPr marL="0" indent="0" algn="just">
              <a:buNone/>
            </a:pPr>
            <a:r>
              <a:rPr lang="es-SV" sz="1200" noProof="0" dirty="0">
                <a:solidFill>
                  <a:schemeClr val="tx1"/>
                </a:solidFill>
              </a:rPr>
              <a:t>Seguimiento realizado en la presente visita de supervisión:</a:t>
            </a:r>
            <a:endParaRPr lang="es-SV" sz="1200" noProof="0" dirty="0"/>
          </a:p>
        </p:txBody>
      </p:sp>
      <p:sp>
        <p:nvSpPr>
          <p:cNvPr id="11" name="Com 5"/>
          <p:cNvSpPr txBox="1"/>
          <p:nvPr/>
        </p:nvSpPr>
        <p:spPr>
          <a:xfrm>
            <a:off x="594360" y="2159356"/>
            <a:ext cx="5300320" cy="115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1200" b="1" noProof="0" dirty="0">
                <a:solidFill>
                  <a:schemeClr val="accent5"/>
                </a:solidFill>
              </a:rPr>
              <a:t>Comentarios  </a:t>
            </a:r>
            <a:r>
              <a:rPr lang="es-SV" sz="1200" noProof="0" dirty="0">
                <a:solidFill>
                  <a:schemeClr val="tx1"/>
                </a:solidFill>
              </a:rPr>
              <a:t>Se trabajará en modificar el Plan de Contingencia de Liquidez para subsanar las observaciones indicadas por la SSF. Fecha de finalización: 16 de noviembre de 2026</a:t>
            </a:r>
            <a:endParaRPr lang="es-SV" sz="1200" noProof="0" dirty="0"/>
          </a:p>
        </p:txBody>
      </p:sp>
      <p:sp>
        <p:nvSpPr>
          <p:cNvPr id="12" name="Resp 5"/>
          <p:cNvSpPr txBox="1"/>
          <p:nvPr/>
        </p:nvSpPr>
        <p:spPr>
          <a:xfrm>
            <a:off x="594360" y="3352743"/>
            <a:ext cx="530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250" b="1" noProof="0" dirty="0">
                <a:solidFill>
                  <a:schemeClr val="accent5"/>
                </a:solidFill>
              </a:rPr>
              <a:t>Responsable  </a:t>
            </a:r>
            <a:r>
              <a:rPr lang="es-SV" sz="1250" b="1" noProof="0" dirty="0">
                <a:solidFill>
                  <a:schemeClr val="accent1"/>
                </a:solidFill>
              </a:rPr>
              <a:t>Gerencia Financiera</a:t>
            </a:r>
            <a:endParaRPr lang="es-SV" sz="1250" noProof="0" dirty="0"/>
          </a:p>
        </p:txBody>
      </p:sp>
      <p:sp>
        <p:nvSpPr>
          <p:cNvPr id="13" name="Seg 6"/>
          <p:cNvSpPr/>
          <p:nvPr/>
        </p:nvSpPr>
        <p:spPr>
          <a:xfrm>
            <a:off x="6159856" y="1234440"/>
            <a:ext cx="5574640" cy="2410911"/>
          </a:xfrm>
          <a:prstGeom prst="roundRect">
            <a:avLst>
              <a:gd name="adj" fmla="val 3793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dirty="0"/>
          </a:p>
        </p:txBody>
      </p:sp>
      <p:sp>
        <p:nvSpPr>
          <p:cNvPr id="14" name="Circular 6 fondo"/>
          <p:cNvSpPr/>
          <p:nvPr/>
        </p:nvSpPr>
        <p:spPr>
          <a:xfrm>
            <a:off x="6269584" y="1325880"/>
            <a:ext cx="160020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15" name="Circular 6"/>
          <p:cNvSpPr txBox="1"/>
          <p:nvPr/>
        </p:nvSpPr>
        <p:spPr>
          <a:xfrm>
            <a:off x="6269584" y="13258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850" b="1" kern="0" spc="50" noProof="0" dirty="0">
                <a:solidFill>
                  <a:schemeClr val="bg1"/>
                </a:solidFill>
              </a:rPr>
              <a:t>C.3.1</a:t>
            </a:r>
            <a:endParaRPr lang="es-SV" sz="850" noProof="0" dirty="0"/>
          </a:p>
        </p:txBody>
      </p:sp>
      <p:sp>
        <p:nvSpPr>
          <p:cNvPr id="16" name="Estado 6 fondo"/>
          <p:cNvSpPr/>
          <p:nvPr/>
        </p:nvSpPr>
        <p:spPr>
          <a:xfrm>
            <a:off x="7942936" y="1325880"/>
            <a:ext cx="105156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17" name="Estado 6"/>
          <p:cNvSpPr txBox="1"/>
          <p:nvPr/>
        </p:nvSpPr>
        <p:spPr>
          <a:xfrm>
            <a:off x="7942936" y="13258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850" b="1" kern="0" spc="50" noProof="0" dirty="0">
                <a:solidFill>
                  <a:schemeClr val="bg1"/>
                </a:solidFill>
              </a:rPr>
              <a:t>NO SUPERADA</a:t>
            </a:r>
            <a:endParaRPr lang="es-SV" sz="850" noProof="0" dirty="0"/>
          </a:p>
        </p:txBody>
      </p:sp>
      <p:sp>
        <p:nvSpPr>
          <p:cNvPr id="18" name="Obs 6"/>
          <p:cNvSpPr txBox="1"/>
          <p:nvPr/>
        </p:nvSpPr>
        <p:spPr>
          <a:xfrm>
            <a:off x="6297016" y="1655064"/>
            <a:ext cx="53003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1300" b="1" noProof="0" dirty="0">
                <a:solidFill>
                  <a:schemeClr val="accent1"/>
                </a:solidFill>
              </a:rPr>
              <a:t>Observación 2: Inconsistencia en los roles y responsabilidades asignados en la elaboración del Plan de Contingencia de Liquidez</a:t>
            </a:r>
            <a:endParaRPr lang="es-SV" sz="1200" noProof="0" dirty="0"/>
          </a:p>
        </p:txBody>
      </p:sp>
      <p:sp>
        <p:nvSpPr>
          <p:cNvPr id="19" name="Com 6"/>
          <p:cNvSpPr txBox="1"/>
          <p:nvPr/>
        </p:nvSpPr>
        <p:spPr>
          <a:xfrm>
            <a:off x="6297016" y="2180844"/>
            <a:ext cx="5300320" cy="1135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1200" b="1" noProof="0" dirty="0">
                <a:solidFill>
                  <a:schemeClr val="accent5"/>
                </a:solidFill>
              </a:rPr>
              <a:t>Comentarios  </a:t>
            </a:r>
            <a:r>
              <a:rPr lang="es-SV" sz="1200" noProof="0" dirty="0">
                <a:solidFill>
                  <a:schemeClr val="tx1"/>
                </a:solidFill>
              </a:rPr>
              <a:t>Se trabajará en modificar el Plan de Contingencia de Liquidez para subsanar las observaciones indicadas por la SSF. Fecha de finalización: 16 de noviembre de 2026.</a:t>
            </a:r>
            <a:endParaRPr lang="es-SV" sz="1200" noProof="0" dirty="0"/>
          </a:p>
        </p:txBody>
      </p:sp>
      <p:sp>
        <p:nvSpPr>
          <p:cNvPr id="20" name="Resp 6"/>
          <p:cNvSpPr txBox="1"/>
          <p:nvPr/>
        </p:nvSpPr>
        <p:spPr>
          <a:xfrm>
            <a:off x="6297016" y="3352743"/>
            <a:ext cx="530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250" b="1" noProof="0" dirty="0">
                <a:solidFill>
                  <a:schemeClr val="accent5"/>
                </a:solidFill>
              </a:rPr>
              <a:t>Responsable  </a:t>
            </a:r>
            <a:r>
              <a:rPr lang="es-SV" sz="1250" b="1" noProof="0" dirty="0">
                <a:solidFill>
                  <a:schemeClr val="accent1"/>
                </a:solidFill>
              </a:rPr>
              <a:t>Gerencia Financiera</a:t>
            </a:r>
            <a:endParaRPr lang="es-SV" sz="1250" noProof="0" dirty="0"/>
          </a:p>
        </p:txBody>
      </p:sp>
      <p:sp>
        <p:nvSpPr>
          <p:cNvPr id="21" name="Seg 7"/>
          <p:cNvSpPr/>
          <p:nvPr/>
        </p:nvSpPr>
        <p:spPr>
          <a:xfrm>
            <a:off x="457200" y="3773367"/>
            <a:ext cx="5574640" cy="2627433"/>
          </a:xfrm>
          <a:prstGeom prst="roundRect">
            <a:avLst>
              <a:gd name="adj" fmla="val 348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22" name="Circular 7 fondo"/>
          <p:cNvSpPr/>
          <p:nvPr/>
        </p:nvSpPr>
        <p:spPr>
          <a:xfrm>
            <a:off x="566928" y="3864807"/>
            <a:ext cx="160020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23" name="Circular 7"/>
          <p:cNvSpPr txBox="1"/>
          <p:nvPr/>
        </p:nvSpPr>
        <p:spPr>
          <a:xfrm>
            <a:off x="566928" y="3864807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850" b="1" kern="0" spc="50" noProof="0" dirty="0">
                <a:solidFill>
                  <a:schemeClr val="bg1"/>
                </a:solidFill>
              </a:rPr>
              <a:t>C.3.2</a:t>
            </a:r>
            <a:endParaRPr lang="es-SV" sz="850" noProof="0" dirty="0"/>
          </a:p>
        </p:txBody>
      </p:sp>
      <p:sp>
        <p:nvSpPr>
          <p:cNvPr id="24" name="Estado 7 fondo"/>
          <p:cNvSpPr/>
          <p:nvPr/>
        </p:nvSpPr>
        <p:spPr>
          <a:xfrm>
            <a:off x="2240280" y="3864807"/>
            <a:ext cx="169164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25" name="Estado 7"/>
          <p:cNvSpPr txBox="1"/>
          <p:nvPr/>
        </p:nvSpPr>
        <p:spPr>
          <a:xfrm>
            <a:off x="2240280" y="3864807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850" b="1" kern="0" spc="50" noProof="0" dirty="0">
                <a:solidFill>
                  <a:schemeClr val="bg1"/>
                </a:solidFill>
              </a:rPr>
              <a:t>PARCIALMENTE SUPERADA</a:t>
            </a:r>
            <a:endParaRPr lang="es-SV" sz="850" noProof="0" dirty="0"/>
          </a:p>
        </p:txBody>
      </p:sp>
      <p:sp>
        <p:nvSpPr>
          <p:cNvPr id="26" name="Obs 7"/>
          <p:cNvSpPr txBox="1"/>
          <p:nvPr/>
        </p:nvSpPr>
        <p:spPr>
          <a:xfrm>
            <a:off x="594360" y="4193991"/>
            <a:ext cx="530032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1300" b="1" noProof="0" dirty="0">
                <a:solidFill>
                  <a:schemeClr val="accent1"/>
                </a:solidFill>
              </a:rPr>
              <a:t>Observación 1: Falta de actualización de normativa interna relacionada la gestión de Riesgo Operacional y Tecnológico</a:t>
            </a:r>
            <a:endParaRPr lang="es-SV" sz="1200" noProof="0" dirty="0"/>
          </a:p>
          <a:p>
            <a:pPr marL="0" indent="0" algn="just">
              <a:buNone/>
            </a:pPr>
            <a:r>
              <a:rPr lang="es-SV" sz="1200" noProof="0" dirty="0">
                <a:solidFill>
                  <a:schemeClr val="tx1"/>
                </a:solidFill>
              </a:rPr>
              <a:t>Seguimiento realizado en la presente visita de supervisión:</a:t>
            </a:r>
            <a:endParaRPr lang="es-SV" sz="1200" noProof="0" dirty="0"/>
          </a:p>
        </p:txBody>
      </p:sp>
      <p:sp>
        <p:nvSpPr>
          <p:cNvPr id="27" name="Com 7"/>
          <p:cNvSpPr txBox="1"/>
          <p:nvPr/>
        </p:nvSpPr>
        <p:spPr>
          <a:xfrm>
            <a:off x="594360" y="4906308"/>
            <a:ext cx="5300320" cy="116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1200" b="1" noProof="0" dirty="0">
                <a:solidFill>
                  <a:schemeClr val="accent5"/>
                </a:solidFill>
              </a:rPr>
              <a:t>Comentarios  </a:t>
            </a:r>
            <a:r>
              <a:rPr lang="es-SV" sz="1200" noProof="0" dirty="0">
                <a:solidFill>
                  <a:schemeClr val="tx1"/>
                </a:solidFill>
              </a:rPr>
              <a:t>Se agrega documentos actualizados, según detalle: Política de Gestión de Riesgo Operacional Manual de Administración de Riesgo Tecnológico. Pendiente de presentar al Comité de Riesgos: Política de contratación de servicios críticos tercerizados.</a:t>
            </a:r>
            <a:endParaRPr lang="es-SV" sz="1200" noProof="0" dirty="0"/>
          </a:p>
        </p:txBody>
      </p:sp>
      <p:sp>
        <p:nvSpPr>
          <p:cNvPr id="28" name="Resp 7"/>
          <p:cNvSpPr txBox="1"/>
          <p:nvPr/>
        </p:nvSpPr>
        <p:spPr>
          <a:xfrm>
            <a:off x="594360" y="6108192"/>
            <a:ext cx="530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250" b="1" noProof="0" dirty="0">
                <a:solidFill>
                  <a:schemeClr val="accent5"/>
                </a:solidFill>
              </a:rPr>
              <a:t>Responsable  </a:t>
            </a:r>
            <a:r>
              <a:rPr lang="es-SV" sz="1250" b="1" noProof="0" dirty="0">
                <a:solidFill>
                  <a:schemeClr val="accent1"/>
                </a:solidFill>
              </a:rPr>
              <a:t>Administración de Riesgos</a:t>
            </a:r>
            <a:endParaRPr lang="es-SV" sz="1250" noProof="0" dirty="0"/>
          </a:p>
        </p:txBody>
      </p:sp>
      <p:sp>
        <p:nvSpPr>
          <p:cNvPr id="29" name="Seg 8"/>
          <p:cNvSpPr/>
          <p:nvPr/>
        </p:nvSpPr>
        <p:spPr>
          <a:xfrm>
            <a:off x="6159856" y="3773367"/>
            <a:ext cx="5574640" cy="2627433"/>
          </a:xfrm>
          <a:prstGeom prst="roundRect">
            <a:avLst>
              <a:gd name="adj" fmla="val 348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dirty="0"/>
          </a:p>
        </p:txBody>
      </p:sp>
      <p:sp>
        <p:nvSpPr>
          <p:cNvPr id="30" name="Circular 8 fondo"/>
          <p:cNvSpPr/>
          <p:nvPr/>
        </p:nvSpPr>
        <p:spPr>
          <a:xfrm>
            <a:off x="6269584" y="3864807"/>
            <a:ext cx="160020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31" name="Circular 8"/>
          <p:cNvSpPr txBox="1"/>
          <p:nvPr/>
        </p:nvSpPr>
        <p:spPr>
          <a:xfrm>
            <a:off x="6269584" y="3864807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850" b="1" kern="0" spc="50" noProof="0" dirty="0">
                <a:solidFill>
                  <a:schemeClr val="bg1"/>
                </a:solidFill>
              </a:rPr>
              <a:t>C.3.2</a:t>
            </a:r>
            <a:endParaRPr lang="es-SV" sz="850" noProof="0" dirty="0"/>
          </a:p>
        </p:txBody>
      </p:sp>
      <p:sp>
        <p:nvSpPr>
          <p:cNvPr id="32" name="Estado 8 fondo"/>
          <p:cNvSpPr/>
          <p:nvPr/>
        </p:nvSpPr>
        <p:spPr>
          <a:xfrm>
            <a:off x="7942936" y="3864807"/>
            <a:ext cx="105156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33" name="Estado 8"/>
          <p:cNvSpPr txBox="1"/>
          <p:nvPr/>
        </p:nvSpPr>
        <p:spPr>
          <a:xfrm>
            <a:off x="7942936" y="3864807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850" b="1" kern="0" spc="50" noProof="0" dirty="0">
                <a:solidFill>
                  <a:schemeClr val="bg1"/>
                </a:solidFill>
              </a:rPr>
              <a:t>NO SUPERADA</a:t>
            </a:r>
            <a:endParaRPr lang="es-SV" sz="850" noProof="0" dirty="0"/>
          </a:p>
        </p:txBody>
      </p:sp>
      <p:sp>
        <p:nvSpPr>
          <p:cNvPr id="34" name="Obs 8"/>
          <p:cNvSpPr txBox="1"/>
          <p:nvPr/>
        </p:nvSpPr>
        <p:spPr>
          <a:xfrm>
            <a:off x="6297016" y="4193991"/>
            <a:ext cx="53003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1300" b="1" noProof="0" dirty="0">
                <a:solidFill>
                  <a:schemeClr val="accent1"/>
                </a:solidFill>
              </a:rPr>
              <a:t>Observación 2: Omisión de la presentación del objetivo mínimo de continuidad de negocio (MBCO) en BIA con referencia al 31 de agosto del 2024.</a:t>
            </a:r>
            <a:endParaRPr lang="es-SV" sz="1200" noProof="0" dirty="0"/>
          </a:p>
        </p:txBody>
      </p:sp>
      <p:sp>
        <p:nvSpPr>
          <p:cNvPr id="35" name="Com 8"/>
          <p:cNvSpPr txBox="1"/>
          <p:nvPr/>
        </p:nvSpPr>
        <p:spPr>
          <a:xfrm>
            <a:off x="6297016" y="4927797"/>
            <a:ext cx="5300320" cy="1143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SV" sz="1200" b="1" noProof="0" dirty="0">
                <a:solidFill>
                  <a:schemeClr val="accent5"/>
                </a:solidFill>
              </a:rPr>
              <a:t>Comentarios  </a:t>
            </a:r>
            <a:r>
              <a:rPr lang="es-SV" sz="1200" noProof="0" dirty="0">
                <a:solidFill>
                  <a:schemeClr val="tx1"/>
                </a:solidFill>
              </a:rPr>
              <a:t>Programado actualizar el BIA en noviembre 2026, siendo esa fecha en la que se incorporará lo solicitado.</a:t>
            </a:r>
            <a:endParaRPr lang="es-SV" sz="1200" noProof="0" dirty="0"/>
          </a:p>
        </p:txBody>
      </p:sp>
      <p:sp>
        <p:nvSpPr>
          <p:cNvPr id="36" name="Resp 8"/>
          <p:cNvSpPr txBox="1"/>
          <p:nvPr/>
        </p:nvSpPr>
        <p:spPr>
          <a:xfrm>
            <a:off x="6297016" y="6108192"/>
            <a:ext cx="530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250" b="1" noProof="0" dirty="0">
                <a:solidFill>
                  <a:schemeClr val="accent5"/>
                </a:solidFill>
              </a:rPr>
              <a:t>Responsable  </a:t>
            </a:r>
            <a:r>
              <a:rPr lang="es-SV" sz="1250" b="1" noProof="0" dirty="0">
                <a:solidFill>
                  <a:schemeClr val="accent1"/>
                </a:solidFill>
              </a:rPr>
              <a:t>Administración de Riesgos</a:t>
            </a:r>
            <a:endParaRPr lang="es-SV" sz="1250" noProof="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5105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s-SV" b="0" noProof="0" smtClean="0"/>
              <a:t>5</a:t>
            </a:fld>
            <a:endParaRPr lang="es-SV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SF Gobierno Corporativo">
  <a:themeElements>
    <a:clrScheme name="SSF Gobierno Corporativo">
      <a:dk1>
        <a:srgbClr val="142033"/>
      </a:dk1>
      <a:lt1>
        <a:srgbClr val="FFFFFF"/>
      </a:lt1>
      <a:dk2>
        <a:srgbClr val="173A6E"/>
      </a:dk2>
      <a:lt2>
        <a:srgbClr val="EEF2F8"/>
      </a:lt2>
      <a:accent1>
        <a:srgbClr val="173A6E"/>
      </a:accent1>
      <a:accent2>
        <a:srgbClr val="1D7A4B"/>
      </a:accent2>
      <a:accent3>
        <a:srgbClr val="B42318"/>
      </a:accent3>
      <a:accent4>
        <a:srgbClr val="D99A1E"/>
      </a:accent4>
      <a:accent5>
        <a:srgbClr val="586579"/>
      </a:accent5>
      <a:accent6>
        <a:srgbClr val="A86410"/>
      </a:accent6>
      <a:hlink>
        <a:srgbClr val="173A6E"/>
      </a:hlink>
      <a:folHlink>
        <a:srgbClr val="586579"/>
      </a:folHlink>
    </a:clrScheme>
    <a:fontScheme name="SSF Gobierno Corporativ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1935</Words>
  <Application>Microsoft Office PowerPoint</Application>
  <PresentationFormat>Panorámica</PresentationFormat>
  <Paragraphs>198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SSF Gobierno Corporativo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Matriz de requerimientos DS-SABAO-BCS-BC-23486</dc:title>
  <dc:subject>PptxGenJS Presentation</dc:subject>
  <dc:creator>PptxGenJS</dc:creator>
  <cp:lastModifiedBy>Hector Jose Menjivar Somoza</cp:lastModifiedBy>
  <cp:revision>15</cp:revision>
  <dcterms:created xsi:type="dcterms:W3CDTF">2026-10-14T19:44:01Z</dcterms:created>
  <dcterms:modified xsi:type="dcterms:W3CDTF">2026-10-14T23:19:58Z</dcterms:modified>
</cp:coreProperties>
</file>