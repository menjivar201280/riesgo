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DS-SABAO-BCS-BC-23486. 17 observaciones nuevas (A: 2, B: 15) y 9 observaciones de visitas anteriores en seguimiento (Circulares 16572, 18445 y 29295): 5 no superadas y 4 parcialmente superadas.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 Gestión de Riesgo de LDA/FT/FPADM (A.1–A.2) y B. Proceso de implementación de la Herramienta de Monitoreo (B.1–B.7).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B. Proceso de implementación de la Herramienta de Monitoreo (B.8–B.15).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seguimiento a observaciones de visitas anteriores con referencia al 31 de mayo de 2026
Evaluación de la gestión de los Riesgos de Crédito, Operacional y Tecnológico, con referencia al 31 de enero de 2025; resultados preliminares comunicados mediante nota No. DS-SABAO-BCS-BC-16572 del 10 de septiembre de 2025.
C.1.1. Gestión del Riesgo de Crédito.
C.1.2. Gestión de Riesgo Operacional y Tecnológico
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
C.3.1. Gestión de riesgo de Liquidez
C.3.2. Gestión de riesgo Operacional y Tecnológico.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título"/>
          <p:cNvSpPr txBox="1"/>
          <p:nvPr/>
        </p:nvSpPr>
        <p:spPr>
          <a:xfrm>
            <a:off x="182880" y="502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REQUERIMIENTOS</a:t>
            </a:r>
            <a:endParaRPr lang="en-US" sz="1500" dirty="0"/>
          </a:p>
        </p:txBody>
      </p:sp>
      <p:sp>
        <p:nvSpPr>
          <p:cNvPr id="3" name="Panel subtítulo"/>
          <p:cNvSpPr txBox="1"/>
          <p:nvPr/>
        </p:nvSpPr>
        <p:spPr>
          <a:xfrm>
            <a:off x="274320" y="13716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Riesgo Específico</a:t>
            </a:r>
            <a:endParaRPr lang="en-US" sz="2000" dirty="0"/>
          </a:p>
        </p:txBody>
      </p:sp>
      <p:sp>
        <p:nvSpPr>
          <p:cNvPr id="4" name="Panel código"/>
          <p:cNvSpPr txBox="1"/>
          <p:nvPr/>
        </p:nvSpPr>
        <p:spPr>
          <a:xfrm>
            <a:off x="2286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DS-SABAO-BCS-BC-23486</a:t>
            </a:r>
            <a:endParaRPr lang="en-US" sz="1100" dirty="0"/>
          </a:p>
        </p:txBody>
      </p:sp>
      <p:sp>
        <p:nvSpPr>
          <p:cNvPr id="5" name="Logo fondo"/>
          <p:cNvSpPr/>
          <p:nvPr/>
        </p:nvSpPr>
        <p:spPr>
          <a:xfrm>
            <a:off x="274320" y="41148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</p:sp>
      <p:pic>
        <p:nvPicPr>
          <p:cNvPr id="6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4187952"/>
            <a:ext cx="1819656" cy="558592"/>
          </a:xfrm>
          <a:prstGeom prst="rect">
            <a:avLst/>
          </a:prstGeom>
        </p:spPr>
      </p:pic>
      <p:sp>
        <p:nvSpPr>
          <p:cNvPr id="7" name="Bloque 0"/>
          <p:cNvSpPr txBox="1"/>
          <p:nvPr/>
        </p:nvSpPr>
        <p:spPr>
          <a:xfrm>
            <a:off x="2926080" y="365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400" dirty="0"/>
          </a:p>
        </p:txBody>
      </p:sp>
      <p:sp>
        <p:nvSpPr>
          <p:cNvPr id="8" name="Bloque sub 0"/>
          <p:cNvSpPr txBox="1"/>
          <p:nvPr/>
        </p:nvSpPr>
        <p:spPr>
          <a:xfrm>
            <a:off x="7680960" y="365760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Visita de supervisión · Gestión de Riesgo Específico</a:t>
            </a:r>
            <a:endParaRPr lang="en-US" sz="1200" dirty="0"/>
          </a:p>
        </p:txBody>
      </p:sp>
      <p:sp>
        <p:nvSpPr>
          <p:cNvPr id="9" name="Tarjeta 0"/>
          <p:cNvSpPr/>
          <p:nvPr/>
        </p:nvSpPr>
        <p:spPr>
          <a:xfrm>
            <a:off x="2926080" y="914400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Cifra fondo 0"/>
          <p:cNvSpPr/>
          <p:nvPr/>
        </p:nvSpPr>
        <p:spPr>
          <a:xfrm>
            <a:off x="3063240" y="1051560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Cifra 0"/>
          <p:cNvSpPr txBox="1"/>
          <p:nvPr/>
        </p:nvSpPr>
        <p:spPr>
          <a:xfrm>
            <a:off x="3063240" y="1417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800" dirty="0"/>
          </a:p>
        </p:txBody>
      </p:sp>
      <p:sp>
        <p:nvSpPr>
          <p:cNvPr id="12" name="Cifra lab 0"/>
          <p:cNvSpPr txBox="1"/>
          <p:nvPr/>
        </p:nvSpPr>
        <p:spPr>
          <a:xfrm>
            <a:off x="3108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OBSERVACIONES NUEVAS</a:t>
            </a:r>
            <a:endParaRPr lang="en-US" sz="900" dirty="0"/>
          </a:p>
        </p:txBody>
      </p:sp>
      <p:sp>
        <p:nvSpPr>
          <p:cNvPr id="13" name="Etiqueta 00 fondo"/>
          <p:cNvSpPr/>
          <p:nvPr/>
        </p:nvSpPr>
        <p:spPr>
          <a:xfrm>
            <a:off x="4800600" y="140817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4" name="Etiqueta 00"/>
          <p:cNvSpPr txBox="1"/>
          <p:nvPr/>
        </p:nvSpPr>
        <p:spPr>
          <a:xfrm>
            <a:off x="4800600" y="14081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15" name="Item 00"/>
          <p:cNvSpPr txBox="1"/>
          <p:nvPr/>
        </p:nvSpPr>
        <p:spPr>
          <a:xfrm>
            <a:off x="5440680" y="105156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Gestión de Riesgo de LDA/FT/FPADM</a:t>
            </a:r>
            <a:endParaRPr lang="en-US" sz="1400" dirty="0"/>
          </a:p>
        </p:txBody>
      </p:sp>
      <p:sp>
        <p:nvSpPr>
          <p:cNvPr id="16" name="Item cifra 00"/>
          <p:cNvSpPr txBox="1"/>
          <p:nvPr/>
        </p:nvSpPr>
        <p:spPr>
          <a:xfrm>
            <a:off x="9905695" y="1051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800600" y="2057400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Etiqueta 01 fondo"/>
          <p:cNvSpPr/>
          <p:nvPr/>
        </p:nvSpPr>
        <p:spPr>
          <a:xfrm>
            <a:off x="4800600" y="2414016"/>
            <a:ext cx="4572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Etiqueta 01"/>
          <p:cNvSpPr txBox="1"/>
          <p:nvPr/>
        </p:nvSpPr>
        <p:spPr>
          <a:xfrm>
            <a:off x="4800600" y="24140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0" name="Item 01"/>
          <p:cNvSpPr txBox="1"/>
          <p:nvPr/>
        </p:nvSpPr>
        <p:spPr>
          <a:xfrm>
            <a:off x="5440680" y="205740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Proceso de implementación de la Herramienta de Monitoreo</a:t>
            </a:r>
            <a:endParaRPr lang="en-US" sz="1400" dirty="0"/>
          </a:p>
        </p:txBody>
      </p:sp>
      <p:sp>
        <p:nvSpPr>
          <p:cNvPr id="21" name="Item cifra 01"/>
          <p:cNvSpPr txBox="1"/>
          <p:nvPr/>
        </p:nvSpPr>
        <p:spPr>
          <a:xfrm>
            <a:off x="9905695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 observaciones</a:t>
            </a:r>
            <a:endParaRPr lang="en-US" sz="1300" dirty="0"/>
          </a:p>
        </p:txBody>
      </p:sp>
      <p:sp>
        <p:nvSpPr>
          <p:cNvPr id="22" name="Bloque 1"/>
          <p:cNvSpPr txBox="1"/>
          <p:nvPr/>
        </p:nvSpPr>
        <p:spPr>
          <a:xfrm>
            <a:off x="2926080" y="340156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a visitas anteriores</a:t>
            </a:r>
            <a:endParaRPr lang="en-US" sz="2400" dirty="0"/>
          </a:p>
        </p:txBody>
      </p:sp>
      <p:sp>
        <p:nvSpPr>
          <p:cNvPr id="23" name="Bloque sub 1"/>
          <p:cNvSpPr txBox="1"/>
          <p:nvPr/>
        </p:nvSpPr>
        <p:spPr>
          <a:xfrm>
            <a:off x="7680960" y="3401568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200" dirty="0"/>
          </a:p>
        </p:txBody>
      </p:sp>
      <p:sp>
        <p:nvSpPr>
          <p:cNvPr id="24" name="Tarjeta 1"/>
          <p:cNvSpPr/>
          <p:nvPr/>
        </p:nvSpPr>
        <p:spPr>
          <a:xfrm>
            <a:off x="2926080" y="3950208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Cifra fondo 1"/>
          <p:cNvSpPr/>
          <p:nvPr/>
        </p:nvSpPr>
        <p:spPr>
          <a:xfrm>
            <a:off x="3063240" y="4087368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6" name="Cifra 1"/>
          <p:cNvSpPr txBox="1"/>
          <p:nvPr/>
        </p:nvSpPr>
        <p:spPr>
          <a:xfrm>
            <a:off x="3063240" y="44531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7" name="Cifra lab 1"/>
          <p:cNvSpPr txBox="1"/>
          <p:nvPr/>
        </p:nvSpPr>
        <p:spPr>
          <a:xfrm>
            <a:off x="3108960" y="52303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EN SEGUIMIENTO</a:t>
            </a:r>
            <a:endParaRPr lang="en-US" sz="900" dirty="0"/>
          </a:p>
        </p:txBody>
      </p:sp>
      <p:sp>
        <p:nvSpPr>
          <p:cNvPr id="28" name="Etiqueta 10 fondo"/>
          <p:cNvSpPr/>
          <p:nvPr/>
        </p:nvSpPr>
        <p:spPr>
          <a:xfrm>
            <a:off x="4800600" y="427634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Etiqueta 10"/>
          <p:cNvSpPr txBox="1"/>
          <p:nvPr/>
        </p:nvSpPr>
        <p:spPr>
          <a:xfrm>
            <a:off x="4800600" y="427634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16572</a:t>
            </a:r>
            <a:endParaRPr lang="en-US" sz="1000" dirty="0"/>
          </a:p>
        </p:txBody>
      </p:sp>
      <p:sp>
        <p:nvSpPr>
          <p:cNvPr id="30" name="Item 10"/>
          <p:cNvSpPr txBox="1"/>
          <p:nvPr/>
        </p:nvSpPr>
        <p:spPr>
          <a:xfrm>
            <a:off x="6583680" y="408736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Riesgos de Crédito, Operacional y Tecnológico · 10/09/2025</a:t>
            </a:r>
            <a:endParaRPr lang="en-US" sz="1400" dirty="0"/>
          </a:p>
        </p:txBody>
      </p:sp>
      <p:sp>
        <p:nvSpPr>
          <p:cNvPr id="31" name="Item cifra 10"/>
          <p:cNvSpPr txBox="1"/>
          <p:nvPr/>
        </p:nvSpPr>
        <p:spPr>
          <a:xfrm>
            <a:off x="9905695" y="408736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3 observaciones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800600" y="475792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Etiqueta 11 fondo"/>
          <p:cNvSpPr/>
          <p:nvPr/>
        </p:nvSpPr>
        <p:spPr>
          <a:xfrm>
            <a:off x="4800600" y="494690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4" name="Etiqueta 11"/>
          <p:cNvSpPr txBox="1"/>
          <p:nvPr/>
        </p:nvSpPr>
        <p:spPr>
          <a:xfrm>
            <a:off x="4800600" y="4946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18445</a:t>
            </a:r>
            <a:endParaRPr lang="en-US" sz="1000" dirty="0"/>
          </a:p>
        </p:txBody>
      </p:sp>
      <p:sp>
        <p:nvSpPr>
          <p:cNvPr id="35" name="Item 11"/>
          <p:cNvSpPr txBox="1"/>
          <p:nvPr/>
        </p:nvSpPr>
        <p:spPr>
          <a:xfrm>
            <a:off x="6583680" y="475792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NRP-36 · LDA/FT/FPADM · 30/10/2025</a:t>
            </a:r>
            <a:endParaRPr lang="en-US" sz="1400" dirty="0"/>
          </a:p>
        </p:txBody>
      </p:sp>
      <p:sp>
        <p:nvSpPr>
          <p:cNvPr id="36" name="Item cifra 11"/>
          <p:cNvSpPr txBox="1"/>
          <p:nvPr/>
        </p:nvSpPr>
        <p:spPr>
          <a:xfrm>
            <a:off x="9905695" y="475792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4800600" y="542848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Etiqueta 12 fondo"/>
          <p:cNvSpPr/>
          <p:nvPr/>
        </p:nvSpPr>
        <p:spPr>
          <a:xfrm>
            <a:off x="4800600" y="561746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Etiqueta 12"/>
          <p:cNvSpPr txBox="1"/>
          <p:nvPr/>
        </p:nvSpPr>
        <p:spPr>
          <a:xfrm>
            <a:off x="4800600" y="56174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29295</a:t>
            </a:r>
            <a:endParaRPr lang="en-US" sz="1000" dirty="0"/>
          </a:p>
        </p:txBody>
      </p:sp>
      <p:sp>
        <p:nvSpPr>
          <p:cNvPr id="40" name="Item 12"/>
          <p:cNvSpPr txBox="1"/>
          <p:nvPr/>
        </p:nvSpPr>
        <p:spPr>
          <a:xfrm>
            <a:off x="6583680" y="542848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Guías de Calidad · 03/12/2025</a:t>
            </a:r>
            <a:endParaRPr lang="en-US" sz="1400" dirty="0"/>
          </a:p>
        </p:txBody>
      </p:sp>
      <p:sp>
        <p:nvSpPr>
          <p:cNvPr id="41" name="Item cifra 12"/>
          <p:cNvSpPr txBox="1"/>
          <p:nvPr/>
        </p:nvSpPr>
        <p:spPr>
          <a:xfrm>
            <a:off x="9905695" y="542848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4 observaciones</a:t>
            </a:r>
            <a:endParaRPr lang="en-US" sz="1300" dirty="0"/>
          </a:p>
        </p:txBody>
      </p:sp>
      <p:sp>
        <p:nvSpPr>
          <p:cNvPr id="42" name="No superadas fondo"/>
          <p:cNvSpPr/>
          <p:nvPr/>
        </p:nvSpPr>
        <p:spPr>
          <a:xfrm>
            <a:off x="7756855" y="3474720"/>
            <a:ext cx="15544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3" name="No superadas"/>
          <p:cNvSpPr txBox="1"/>
          <p:nvPr/>
        </p:nvSpPr>
        <p:spPr>
          <a:xfrm>
            <a:off x="7756855" y="34747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5 NO SUPERADAS</a:t>
            </a:r>
            <a:endParaRPr lang="en-US" sz="950" dirty="0"/>
          </a:p>
        </p:txBody>
      </p:sp>
      <p:sp>
        <p:nvSpPr>
          <p:cNvPr id="44" name="Parciales fondo"/>
          <p:cNvSpPr/>
          <p:nvPr/>
        </p:nvSpPr>
        <p:spPr>
          <a:xfrm>
            <a:off x="9402775" y="3474720"/>
            <a:ext cx="233172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5" name="Parciales"/>
          <p:cNvSpPr txBox="1"/>
          <p:nvPr/>
        </p:nvSpPr>
        <p:spPr>
          <a:xfrm>
            <a:off x="9402775" y="34747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4 PARCIALMENTE SUPERADAS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LDA/FT/FPADM y B. Herramienta de Monitoreo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Obs A.1"/>
          <p:cNvSpPr/>
          <p:nvPr/>
        </p:nvSpPr>
        <p:spPr>
          <a:xfrm>
            <a:off x="457200" y="1234440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6" name="Número A.1 círculo"/>
          <p:cNvSpPr/>
          <p:nvPr/>
        </p:nvSpPr>
        <p:spPr>
          <a:xfrm>
            <a:off x="566928" y="1344168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7" name="Número A.1"/>
          <p:cNvSpPr txBox="1"/>
          <p:nvPr/>
        </p:nvSpPr>
        <p:spPr>
          <a:xfrm>
            <a:off x="56692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A.1</a:t>
            </a:r>
            <a:endParaRPr lang="en-US" sz="1100" dirty="0"/>
          </a:p>
        </p:txBody>
      </p:sp>
      <p:sp>
        <p:nvSpPr>
          <p:cNvPr id="8" name="Responsable A.1"/>
          <p:cNvSpPr txBox="1"/>
          <p:nvPr/>
        </p:nvSpPr>
        <p:spPr>
          <a:xfrm>
            <a:off x="1115568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9" name="Título A.1"/>
          <p:cNvSpPr txBox="1"/>
          <p:nvPr/>
        </p:nvSpPr>
        <p:spPr>
          <a:xfrm>
            <a:off x="603504" y="1911096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Deficiencias en la conformación y actualización de expedientes de clientes.</a:t>
            </a:r>
            <a:endParaRPr lang="en-US" sz="1125" dirty="0"/>
          </a:p>
        </p:txBody>
      </p:sp>
      <p:sp>
        <p:nvSpPr>
          <p:cNvPr id="10" name="Comentario A.1"/>
          <p:cNvSpPr txBox="1"/>
          <p:nvPr/>
        </p:nvSpPr>
        <p:spPr>
          <a:xfrm>
            <a:off x="603504" y="2380869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11" name="Obs A.2"/>
          <p:cNvSpPr/>
          <p:nvPr/>
        </p:nvSpPr>
        <p:spPr>
          <a:xfrm>
            <a:off x="4258970" y="1234440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2" name="Número A.2 círculo"/>
          <p:cNvSpPr/>
          <p:nvPr/>
        </p:nvSpPr>
        <p:spPr>
          <a:xfrm>
            <a:off x="4368698" y="1344168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3" name="Número A.2"/>
          <p:cNvSpPr txBox="1"/>
          <p:nvPr/>
        </p:nvSpPr>
        <p:spPr>
          <a:xfrm>
            <a:off x="436869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A.2</a:t>
            </a:r>
            <a:endParaRPr lang="en-US" sz="1100" dirty="0"/>
          </a:p>
        </p:txBody>
      </p:sp>
      <p:sp>
        <p:nvSpPr>
          <p:cNvPr id="14" name="Responsable A.2"/>
          <p:cNvSpPr txBox="1"/>
          <p:nvPr/>
        </p:nvSpPr>
        <p:spPr>
          <a:xfrm>
            <a:off x="4917338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15" name="Título A.2"/>
          <p:cNvSpPr txBox="1"/>
          <p:nvPr/>
        </p:nvSpPr>
        <p:spPr>
          <a:xfrm>
            <a:off x="4405274" y="1911096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Deficiencias en la identificación de la actividad económica realizada por clientes.</a:t>
            </a:r>
            <a:endParaRPr lang="en-US" sz="1125" dirty="0"/>
          </a:p>
        </p:txBody>
      </p:sp>
      <p:sp>
        <p:nvSpPr>
          <p:cNvPr id="16" name="Comentario A.2"/>
          <p:cNvSpPr txBox="1"/>
          <p:nvPr/>
        </p:nvSpPr>
        <p:spPr>
          <a:xfrm>
            <a:off x="4405274" y="2380869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17" name="Obs B.1"/>
          <p:cNvSpPr/>
          <p:nvPr/>
        </p:nvSpPr>
        <p:spPr>
          <a:xfrm>
            <a:off x="8060741" y="1234440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8" name="Número B.1 círculo"/>
          <p:cNvSpPr/>
          <p:nvPr/>
        </p:nvSpPr>
        <p:spPr>
          <a:xfrm>
            <a:off x="8170469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Número B.1"/>
          <p:cNvSpPr txBox="1"/>
          <p:nvPr/>
        </p:nvSpPr>
        <p:spPr>
          <a:xfrm>
            <a:off x="8170469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</a:t>
            </a:r>
            <a:endParaRPr lang="en-US" sz="1100" dirty="0"/>
          </a:p>
        </p:txBody>
      </p:sp>
      <p:sp>
        <p:nvSpPr>
          <p:cNvPr id="20" name="Responsable B.1"/>
          <p:cNvSpPr txBox="1"/>
          <p:nvPr/>
        </p:nvSpPr>
        <p:spPr>
          <a:xfrm>
            <a:off x="8719109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1" name="Título B.1"/>
          <p:cNvSpPr txBox="1"/>
          <p:nvPr/>
        </p:nvSpPr>
        <p:spPr>
          <a:xfrm>
            <a:off x="8207045" y="1911096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Falta de actualización de Metodología y matriz de riesgo LA/FT/FPADM de la Entidad</a:t>
            </a:r>
            <a:endParaRPr lang="en-US" sz="1125" dirty="0"/>
          </a:p>
        </p:txBody>
      </p:sp>
      <p:sp>
        <p:nvSpPr>
          <p:cNvPr id="22" name="Comentario B.1"/>
          <p:cNvSpPr txBox="1"/>
          <p:nvPr/>
        </p:nvSpPr>
        <p:spPr>
          <a:xfrm>
            <a:off x="8207045" y="2380869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23" name="Obs B.2"/>
          <p:cNvSpPr/>
          <p:nvPr/>
        </p:nvSpPr>
        <p:spPr>
          <a:xfrm>
            <a:off x="457200" y="2835865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B.2 círculo"/>
          <p:cNvSpPr/>
          <p:nvPr/>
        </p:nvSpPr>
        <p:spPr>
          <a:xfrm>
            <a:off x="566928" y="294559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Número B.2"/>
          <p:cNvSpPr txBox="1"/>
          <p:nvPr/>
        </p:nvSpPr>
        <p:spPr>
          <a:xfrm>
            <a:off x="566928" y="29455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B.2</a:t>
            </a:r>
            <a:endParaRPr lang="en-US" sz="1100" dirty="0"/>
          </a:p>
        </p:txBody>
      </p:sp>
      <p:sp>
        <p:nvSpPr>
          <p:cNvPr id="26" name="Responsable B.2"/>
          <p:cNvSpPr txBox="1"/>
          <p:nvPr/>
        </p:nvSpPr>
        <p:spPr>
          <a:xfrm>
            <a:off x="1115568" y="2909017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7" name="Título B.2"/>
          <p:cNvSpPr txBox="1"/>
          <p:nvPr/>
        </p:nvSpPr>
        <p:spPr>
          <a:xfrm>
            <a:off x="603504" y="3512521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Falta de actualización de Metodología y matriz de riesgo LA/FT/FPADM Clientes o asociados</a:t>
            </a:r>
            <a:endParaRPr lang="en-US" sz="1125" dirty="0"/>
          </a:p>
        </p:txBody>
      </p:sp>
      <p:sp>
        <p:nvSpPr>
          <p:cNvPr id="28" name="Comentario B.2"/>
          <p:cNvSpPr txBox="1"/>
          <p:nvPr/>
        </p:nvSpPr>
        <p:spPr>
          <a:xfrm>
            <a:off x="603504" y="3982294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29" name="Obs B.3"/>
          <p:cNvSpPr/>
          <p:nvPr/>
        </p:nvSpPr>
        <p:spPr>
          <a:xfrm>
            <a:off x="4258970" y="2835865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0" name="Número B.3 círculo"/>
          <p:cNvSpPr/>
          <p:nvPr/>
        </p:nvSpPr>
        <p:spPr>
          <a:xfrm>
            <a:off x="4368698" y="294559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1" name="Número B.3"/>
          <p:cNvSpPr txBox="1"/>
          <p:nvPr/>
        </p:nvSpPr>
        <p:spPr>
          <a:xfrm>
            <a:off x="4368698" y="29455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B.3</a:t>
            </a:r>
            <a:endParaRPr lang="en-US" sz="1100" dirty="0"/>
          </a:p>
        </p:txBody>
      </p:sp>
      <p:sp>
        <p:nvSpPr>
          <p:cNvPr id="32" name="Responsable B.3"/>
          <p:cNvSpPr txBox="1"/>
          <p:nvPr/>
        </p:nvSpPr>
        <p:spPr>
          <a:xfrm>
            <a:off x="4917338" y="2909017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3" name="Título B.3"/>
          <p:cNvSpPr txBox="1"/>
          <p:nvPr/>
        </p:nvSpPr>
        <p:spPr>
          <a:xfrm>
            <a:off x="4405274" y="3512521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Falta de automatización en el proceso de remisión de reportería regulada a la Web Service de UIF.</a:t>
            </a:r>
            <a:endParaRPr lang="en-US" sz="1125" dirty="0"/>
          </a:p>
        </p:txBody>
      </p:sp>
      <p:sp>
        <p:nvSpPr>
          <p:cNvPr id="34" name="Comentario B.3"/>
          <p:cNvSpPr txBox="1"/>
          <p:nvPr/>
        </p:nvSpPr>
        <p:spPr>
          <a:xfrm>
            <a:off x="4405274" y="3982294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35" name="Obs B.4"/>
          <p:cNvSpPr/>
          <p:nvPr/>
        </p:nvSpPr>
        <p:spPr>
          <a:xfrm>
            <a:off x="8060741" y="2835865"/>
            <a:ext cx="3673754" cy="1473409"/>
          </a:xfrm>
          <a:prstGeom prst="roundRect">
            <a:avLst>
              <a:gd name="adj" fmla="val 620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6" name="Número B.4 círculo"/>
          <p:cNvSpPr/>
          <p:nvPr/>
        </p:nvSpPr>
        <p:spPr>
          <a:xfrm>
            <a:off x="8170469" y="294559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Número B.4"/>
          <p:cNvSpPr txBox="1"/>
          <p:nvPr/>
        </p:nvSpPr>
        <p:spPr>
          <a:xfrm>
            <a:off x="8170469" y="29455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B.4</a:t>
            </a:r>
            <a:endParaRPr lang="en-US" sz="1100" dirty="0"/>
          </a:p>
        </p:txBody>
      </p:sp>
      <p:sp>
        <p:nvSpPr>
          <p:cNvPr id="38" name="Responsable B.4"/>
          <p:cNvSpPr txBox="1"/>
          <p:nvPr/>
        </p:nvSpPr>
        <p:spPr>
          <a:xfrm>
            <a:off x="8719109" y="2909017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9" name="Título B.4"/>
          <p:cNvSpPr txBox="1"/>
          <p:nvPr/>
        </p:nvSpPr>
        <p:spPr>
          <a:xfrm>
            <a:off x="8207045" y="3512521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Falta de Automatización de la herramienta de validación de Listas de Cautela</a:t>
            </a:r>
            <a:endParaRPr lang="en-US" sz="1125" dirty="0"/>
          </a:p>
        </p:txBody>
      </p:sp>
      <p:sp>
        <p:nvSpPr>
          <p:cNvPr id="40" name="Comentario B.4"/>
          <p:cNvSpPr txBox="1"/>
          <p:nvPr/>
        </p:nvSpPr>
        <p:spPr>
          <a:xfrm>
            <a:off x="8207045" y="3982294"/>
            <a:ext cx="3381146" cy="23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41" name="Obs B.5"/>
          <p:cNvSpPr/>
          <p:nvPr/>
        </p:nvSpPr>
        <p:spPr>
          <a:xfrm>
            <a:off x="457200" y="4437290"/>
            <a:ext cx="3673754" cy="1963510"/>
          </a:xfrm>
          <a:prstGeom prst="roundRect">
            <a:avLst>
              <a:gd name="adj" fmla="val 465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2" name="Número B.5 círculo"/>
          <p:cNvSpPr/>
          <p:nvPr/>
        </p:nvSpPr>
        <p:spPr>
          <a:xfrm>
            <a:off x="566928" y="454701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Número B.5"/>
          <p:cNvSpPr txBox="1"/>
          <p:nvPr/>
        </p:nvSpPr>
        <p:spPr>
          <a:xfrm>
            <a:off x="566928" y="454701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B.5</a:t>
            </a:r>
            <a:endParaRPr lang="en-US" sz="1100" dirty="0"/>
          </a:p>
        </p:txBody>
      </p:sp>
      <p:sp>
        <p:nvSpPr>
          <p:cNvPr id="44" name="Responsable B.5"/>
          <p:cNvSpPr txBox="1"/>
          <p:nvPr/>
        </p:nvSpPr>
        <p:spPr>
          <a:xfrm>
            <a:off x="1115568" y="451044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45" name="Título B.5"/>
          <p:cNvSpPr txBox="1"/>
          <p:nvPr/>
        </p:nvSpPr>
        <p:spPr>
          <a:xfrm>
            <a:off x="603504" y="5113946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Falta de evidencia en los porcentajes de avance comunicados en el cronograma</a:t>
            </a:r>
            <a:endParaRPr lang="en-US" sz="1125" dirty="0"/>
          </a:p>
        </p:txBody>
      </p:sp>
      <p:sp>
        <p:nvSpPr>
          <p:cNvPr id="46" name="Comentario B.5"/>
          <p:cNvSpPr txBox="1"/>
          <p:nvPr/>
        </p:nvSpPr>
        <p:spPr>
          <a:xfrm>
            <a:off x="603504" y="5583719"/>
            <a:ext cx="3381146" cy="725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b="1" dirty="0">
                <a:solidFill>
                  <a:schemeClr val="accent6"/>
                </a:solidFill>
              </a:rPr>
              <a:t>Pendiente</a:t>
            </a:r>
            <a:endParaRPr lang="en-US" sz="1025" dirty="0"/>
          </a:p>
        </p:txBody>
      </p:sp>
      <p:sp>
        <p:nvSpPr>
          <p:cNvPr id="47" name="Obs B.6"/>
          <p:cNvSpPr/>
          <p:nvPr/>
        </p:nvSpPr>
        <p:spPr>
          <a:xfrm>
            <a:off x="4258970" y="4437290"/>
            <a:ext cx="3673754" cy="1963510"/>
          </a:xfrm>
          <a:prstGeom prst="roundRect">
            <a:avLst>
              <a:gd name="adj" fmla="val 465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8" name="Número B.6 círculo"/>
          <p:cNvSpPr/>
          <p:nvPr/>
        </p:nvSpPr>
        <p:spPr>
          <a:xfrm>
            <a:off x="4368698" y="454701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9" name="Número B.6"/>
          <p:cNvSpPr txBox="1"/>
          <p:nvPr/>
        </p:nvSpPr>
        <p:spPr>
          <a:xfrm>
            <a:off x="4368698" y="454701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B.6</a:t>
            </a:r>
            <a:endParaRPr lang="en-US" sz="1100" dirty="0"/>
          </a:p>
        </p:txBody>
      </p:sp>
      <p:sp>
        <p:nvSpPr>
          <p:cNvPr id="50" name="Responsable B.6"/>
          <p:cNvSpPr txBox="1"/>
          <p:nvPr/>
        </p:nvSpPr>
        <p:spPr>
          <a:xfrm>
            <a:off x="4917338" y="451044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Jefe de Riesgos</a:t>
            </a:r>
            <a:endParaRPr lang="en-US" sz="1200" dirty="0"/>
          </a:p>
        </p:txBody>
      </p:sp>
      <p:sp>
        <p:nvSpPr>
          <p:cNvPr id="51" name="Título B.6"/>
          <p:cNvSpPr txBox="1"/>
          <p:nvPr/>
        </p:nvSpPr>
        <p:spPr>
          <a:xfrm>
            <a:off x="4405274" y="5113946"/>
            <a:ext cx="3381146" cy="39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Revisión documentación conforme artículo22 de la NRP-23</a:t>
            </a:r>
            <a:endParaRPr lang="en-US" sz="1125" dirty="0"/>
          </a:p>
        </p:txBody>
      </p:sp>
      <p:sp>
        <p:nvSpPr>
          <p:cNvPr id="52" name="Comentario B.6"/>
          <p:cNvSpPr txBox="1"/>
          <p:nvPr/>
        </p:nvSpPr>
        <p:spPr>
          <a:xfrm>
            <a:off x="4405274" y="5583719"/>
            <a:ext cx="3381146" cy="725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dirty="0">
                <a:solidFill>
                  <a:schemeClr val="tx1"/>
                </a:solidFill>
              </a:rPr>
              <a:t>Se anexa informe elaborado en fecha 13 de diciembre de 2024, sobre proyecto de implementación de un nuevo sistema de monitoreo de LDA/FT/FPADM y del sistema de fraude de canales digitales.</a:t>
            </a:r>
            <a:endParaRPr lang="en-US" sz="1025" dirty="0"/>
          </a:p>
        </p:txBody>
      </p:sp>
      <p:sp>
        <p:nvSpPr>
          <p:cNvPr id="53" name="Obs B.7"/>
          <p:cNvSpPr/>
          <p:nvPr/>
        </p:nvSpPr>
        <p:spPr>
          <a:xfrm>
            <a:off x="8060741" y="4437290"/>
            <a:ext cx="3673754" cy="1963510"/>
          </a:xfrm>
          <a:prstGeom prst="roundRect">
            <a:avLst>
              <a:gd name="adj" fmla="val 465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4" name="Número B.7 círculo"/>
          <p:cNvSpPr/>
          <p:nvPr/>
        </p:nvSpPr>
        <p:spPr>
          <a:xfrm>
            <a:off x="8170469" y="454701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5" name="Número B.7"/>
          <p:cNvSpPr txBox="1"/>
          <p:nvPr/>
        </p:nvSpPr>
        <p:spPr>
          <a:xfrm>
            <a:off x="8170469" y="454701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B.7</a:t>
            </a:r>
            <a:endParaRPr lang="en-US" sz="1100" dirty="0"/>
          </a:p>
        </p:txBody>
      </p:sp>
      <p:sp>
        <p:nvSpPr>
          <p:cNvPr id="56" name="Responsable B.7"/>
          <p:cNvSpPr txBox="1"/>
          <p:nvPr/>
        </p:nvSpPr>
        <p:spPr>
          <a:xfrm>
            <a:off x="8719109" y="451044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Legal</a:t>
            </a:r>
            <a:endParaRPr lang="en-US" sz="1200" dirty="0"/>
          </a:p>
        </p:txBody>
      </p:sp>
      <p:sp>
        <p:nvSpPr>
          <p:cNvPr id="57" name="Título B.7"/>
          <p:cNvSpPr txBox="1"/>
          <p:nvPr/>
        </p:nvSpPr>
        <p:spPr>
          <a:xfrm>
            <a:off x="8207045" y="5113946"/>
            <a:ext cx="3381146" cy="216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125" b="1" dirty="0">
                <a:solidFill>
                  <a:schemeClr val="accent1"/>
                </a:solidFill>
              </a:rPr>
              <a:t>Debilidades en el contrato del servicio de software</a:t>
            </a:r>
            <a:endParaRPr lang="en-US" sz="1125" dirty="0"/>
          </a:p>
        </p:txBody>
      </p:sp>
      <p:sp>
        <p:nvSpPr>
          <p:cNvPr id="58" name="Comentario B.7"/>
          <p:cNvSpPr txBox="1"/>
          <p:nvPr/>
        </p:nvSpPr>
        <p:spPr>
          <a:xfrm>
            <a:off x="8207045" y="5403696"/>
            <a:ext cx="3381146" cy="90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2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025" dirty="0">
                <a:solidFill>
                  <a:schemeClr val="tx1"/>
                </a:solidFill>
              </a:rPr>
              <a:t>Se adjuntará la propuesta de la Gerencia Legal por medio de correo de fecha 09 de octubre 2026, envió propuesta a la Gerencia de Cumplimiento y Seguridad de la Información para la modificación del contrato. Pendiente</a:t>
            </a:r>
            <a:endParaRPr lang="en-US" sz="10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Herramienta de Monitoreo (continuación)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Obs B.8"/>
          <p:cNvSpPr/>
          <p:nvPr/>
        </p:nvSpPr>
        <p:spPr>
          <a:xfrm>
            <a:off x="457200" y="1234440"/>
            <a:ext cx="2723312" cy="2406159"/>
          </a:xfrm>
          <a:prstGeom prst="roundRect">
            <a:avLst>
              <a:gd name="adj" fmla="val 380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6" name="Número B.8 círculo"/>
          <p:cNvSpPr/>
          <p:nvPr/>
        </p:nvSpPr>
        <p:spPr>
          <a:xfrm>
            <a:off x="566928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" name="Número B.8"/>
          <p:cNvSpPr txBox="1"/>
          <p:nvPr/>
        </p:nvSpPr>
        <p:spPr>
          <a:xfrm>
            <a:off x="56692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B.8</a:t>
            </a:r>
            <a:endParaRPr lang="en-US" sz="1100" dirty="0"/>
          </a:p>
        </p:txBody>
      </p:sp>
      <p:sp>
        <p:nvSpPr>
          <p:cNvPr id="8" name="Responsable B.8"/>
          <p:cNvSpPr txBox="1"/>
          <p:nvPr/>
        </p:nvSpPr>
        <p:spPr>
          <a:xfrm>
            <a:off x="1115568" y="1307592"/>
            <a:ext cx="19552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Riesgos/Gerencia de sistemas/Seguridad de la información</a:t>
            </a:r>
            <a:endParaRPr lang="en-US" sz="1200" dirty="0"/>
          </a:p>
        </p:txBody>
      </p:sp>
      <p:sp>
        <p:nvSpPr>
          <p:cNvPr id="9" name="Título B.8"/>
          <p:cNvSpPr txBox="1"/>
          <p:nvPr/>
        </p:nvSpPr>
        <p:spPr>
          <a:xfrm>
            <a:off x="603504" y="2048256"/>
            <a:ext cx="243070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Debilidad en el Alcance de las Pruebas Continuidad del Negocio</a:t>
            </a:r>
            <a:endParaRPr lang="en-US" sz="900" dirty="0"/>
          </a:p>
        </p:txBody>
      </p:sp>
      <p:sp>
        <p:nvSpPr>
          <p:cNvPr id="10" name="Comentario B.8"/>
          <p:cNvSpPr txBox="1"/>
          <p:nvPr/>
        </p:nvSpPr>
        <p:spPr>
          <a:xfrm>
            <a:off x="603504" y="2446020"/>
            <a:ext cx="2430704" cy="11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Plan de acción: proveedor critico Pendiente 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</a:r>
            <a:endParaRPr lang="en-US" sz="800" dirty="0"/>
          </a:p>
        </p:txBody>
      </p:sp>
      <p:sp>
        <p:nvSpPr>
          <p:cNvPr id="11" name="Obs B.9"/>
          <p:cNvSpPr/>
          <p:nvPr/>
        </p:nvSpPr>
        <p:spPr>
          <a:xfrm>
            <a:off x="3308528" y="1234440"/>
            <a:ext cx="2723312" cy="2406159"/>
          </a:xfrm>
          <a:prstGeom prst="roundRect">
            <a:avLst>
              <a:gd name="adj" fmla="val 380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2" name="Número B.9 círculo"/>
          <p:cNvSpPr/>
          <p:nvPr/>
        </p:nvSpPr>
        <p:spPr>
          <a:xfrm>
            <a:off x="3418256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3" name="Número B.9"/>
          <p:cNvSpPr txBox="1"/>
          <p:nvPr/>
        </p:nvSpPr>
        <p:spPr>
          <a:xfrm>
            <a:off x="3418256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B.9</a:t>
            </a:r>
            <a:endParaRPr lang="en-US" sz="1100" dirty="0"/>
          </a:p>
        </p:txBody>
      </p:sp>
      <p:sp>
        <p:nvSpPr>
          <p:cNvPr id="14" name="Responsable B.9"/>
          <p:cNvSpPr txBox="1"/>
          <p:nvPr/>
        </p:nvSpPr>
        <p:spPr>
          <a:xfrm>
            <a:off x="3966896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de Sistemas</a:t>
            </a:r>
            <a:endParaRPr lang="en-US" sz="1200" dirty="0"/>
          </a:p>
        </p:txBody>
      </p:sp>
      <p:sp>
        <p:nvSpPr>
          <p:cNvPr id="15" name="Título B.9"/>
          <p:cNvSpPr txBox="1"/>
          <p:nvPr/>
        </p:nvSpPr>
        <p:spPr>
          <a:xfrm>
            <a:off x="3454832" y="1911096"/>
            <a:ext cx="243070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Deficiencia en los procedimientos de Respaldos.</a:t>
            </a:r>
            <a:endParaRPr lang="en-US" sz="900" dirty="0"/>
          </a:p>
        </p:txBody>
      </p:sp>
      <p:sp>
        <p:nvSpPr>
          <p:cNvPr id="16" name="Comentario B.9"/>
          <p:cNvSpPr txBox="1"/>
          <p:nvPr/>
        </p:nvSpPr>
        <p:spPr>
          <a:xfrm>
            <a:off x="3454832" y="2308860"/>
            <a:ext cx="2430704" cy="1240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Plan de acción Pendiente</a:t>
            </a:r>
            <a:endParaRPr lang="en-US" sz="800" dirty="0"/>
          </a:p>
        </p:txBody>
      </p:sp>
      <p:sp>
        <p:nvSpPr>
          <p:cNvPr id="17" name="Obs B.10"/>
          <p:cNvSpPr/>
          <p:nvPr/>
        </p:nvSpPr>
        <p:spPr>
          <a:xfrm>
            <a:off x="6159856" y="1234440"/>
            <a:ext cx="2723312" cy="2406159"/>
          </a:xfrm>
          <a:prstGeom prst="roundRect">
            <a:avLst>
              <a:gd name="adj" fmla="val 380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8" name="Número B.10 círculo"/>
          <p:cNvSpPr/>
          <p:nvPr/>
        </p:nvSpPr>
        <p:spPr>
          <a:xfrm>
            <a:off x="6269584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Número B.10"/>
          <p:cNvSpPr txBox="1"/>
          <p:nvPr/>
        </p:nvSpPr>
        <p:spPr>
          <a:xfrm>
            <a:off x="6269584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B.10</a:t>
            </a:r>
            <a:endParaRPr lang="en-US" sz="1100" dirty="0"/>
          </a:p>
        </p:txBody>
      </p:sp>
      <p:sp>
        <p:nvSpPr>
          <p:cNvPr id="20" name="Responsable B.10"/>
          <p:cNvSpPr txBox="1"/>
          <p:nvPr/>
        </p:nvSpPr>
        <p:spPr>
          <a:xfrm>
            <a:off x="6818224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1" name="Título B.10"/>
          <p:cNvSpPr txBox="1"/>
          <p:nvPr/>
        </p:nvSpPr>
        <p:spPr>
          <a:xfrm>
            <a:off x="6306160" y="1911096"/>
            <a:ext cx="243070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Deficiencia en la hora del sistema y la herramienta de Monitoreo</a:t>
            </a:r>
            <a:endParaRPr lang="en-US" sz="900" dirty="0"/>
          </a:p>
        </p:txBody>
      </p:sp>
      <p:sp>
        <p:nvSpPr>
          <p:cNvPr id="22" name="Comentario B.10"/>
          <p:cNvSpPr txBox="1"/>
          <p:nvPr/>
        </p:nvSpPr>
        <p:spPr>
          <a:xfrm>
            <a:off x="6306160" y="2308860"/>
            <a:ext cx="2430704" cy="1240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Descargo correos de gestión Pendiente</a:t>
            </a:r>
            <a:endParaRPr lang="en-US" sz="800" dirty="0"/>
          </a:p>
        </p:txBody>
      </p:sp>
      <p:sp>
        <p:nvSpPr>
          <p:cNvPr id="23" name="Obs B.11"/>
          <p:cNvSpPr/>
          <p:nvPr/>
        </p:nvSpPr>
        <p:spPr>
          <a:xfrm>
            <a:off x="9011183" y="1234440"/>
            <a:ext cx="2723312" cy="2406159"/>
          </a:xfrm>
          <a:prstGeom prst="roundRect">
            <a:avLst>
              <a:gd name="adj" fmla="val 3800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B.11 círculo"/>
          <p:cNvSpPr/>
          <p:nvPr/>
        </p:nvSpPr>
        <p:spPr>
          <a:xfrm>
            <a:off x="9120911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Número B.11"/>
          <p:cNvSpPr txBox="1"/>
          <p:nvPr/>
        </p:nvSpPr>
        <p:spPr>
          <a:xfrm>
            <a:off x="9120911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B.11</a:t>
            </a:r>
            <a:endParaRPr lang="en-US" sz="1100" dirty="0"/>
          </a:p>
        </p:txBody>
      </p:sp>
      <p:sp>
        <p:nvSpPr>
          <p:cNvPr id="26" name="Responsable B.11"/>
          <p:cNvSpPr txBox="1"/>
          <p:nvPr/>
        </p:nvSpPr>
        <p:spPr>
          <a:xfrm>
            <a:off x="9669551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7" name="Título B.11"/>
          <p:cNvSpPr txBox="1"/>
          <p:nvPr/>
        </p:nvSpPr>
        <p:spPr>
          <a:xfrm>
            <a:off x="9157487" y="1911096"/>
            <a:ext cx="2430704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Verificación de las condiciones en ACRM</a:t>
            </a:r>
            <a:endParaRPr lang="en-US" sz="900" dirty="0"/>
          </a:p>
        </p:txBody>
      </p:sp>
      <p:sp>
        <p:nvSpPr>
          <p:cNvPr id="28" name="Comentario B.11"/>
          <p:cNvSpPr txBox="1"/>
          <p:nvPr/>
        </p:nvSpPr>
        <p:spPr>
          <a:xfrm>
            <a:off x="9157487" y="2164842"/>
            <a:ext cx="2430704" cy="1384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b="1" dirty="0">
                <a:solidFill>
                  <a:schemeClr val="accent6"/>
                </a:solidFill>
              </a:rPr>
              <a:t>Pendiente</a:t>
            </a:r>
            <a:endParaRPr lang="en-US" sz="800" dirty="0"/>
          </a:p>
        </p:txBody>
      </p:sp>
      <p:sp>
        <p:nvSpPr>
          <p:cNvPr id="29" name="Obs B.12"/>
          <p:cNvSpPr/>
          <p:nvPr/>
        </p:nvSpPr>
        <p:spPr>
          <a:xfrm>
            <a:off x="457200" y="3768615"/>
            <a:ext cx="2723312" cy="2632185"/>
          </a:xfrm>
          <a:prstGeom prst="roundRect">
            <a:avLst>
              <a:gd name="adj" fmla="val 347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0" name="Número B.12 círculo"/>
          <p:cNvSpPr/>
          <p:nvPr/>
        </p:nvSpPr>
        <p:spPr>
          <a:xfrm>
            <a:off x="566928" y="387834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1" name="Número B.12"/>
          <p:cNvSpPr txBox="1"/>
          <p:nvPr/>
        </p:nvSpPr>
        <p:spPr>
          <a:xfrm>
            <a:off x="566928" y="38783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B.12</a:t>
            </a:r>
            <a:endParaRPr lang="en-US" sz="1100" dirty="0"/>
          </a:p>
        </p:txBody>
      </p:sp>
      <p:sp>
        <p:nvSpPr>
          <p:cNvPr id="32" name="Responsable B.12"/>
          <p:cNvSpPr txBox="1"/>
          <p:nvPr/>
        </p:nvSpPr>
        <p:spPr>
          <a:xfrm>
            <a:off x="1115568" y="3841767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33" name="Título B.12"/>
          <p:cNvSpPr txBox="1"/>
          <p:nvPr/>
        </p:nvSpPr>
        <p:spPr>
          <a:xfrm>
            <a:off x="603504" y="4445271"/>
            <a:ext cx="243070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Limitante de Accesos a los Datos de COMEDICA, alojada en la Herramienta de Monitoreo.</a:t>
            </a:r>
            <a:endParaRPr lang="en-US" sz="900" dirty="0"/>
          </a:p>
        </p:txBody>
      </p:sp>
      <p:sp>
        <p:nvSpPr>
          <p:cNvPr id="34" name="Comentario B.12"/>
          <p:cNvSpPr txBox="1"/>
          <p:nvPr/>
        </p:nvSpPr>
        <p:spPr>
          <a:xfrm>
            <a:off x="603504" y="4843035"/>
            <a:ext cx="2430704" cy="146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b="1" dirty="0">
                <a:solidFill>
                  <a:schemeClr val="accent6"/>
                </a:solidFill>
              </a:rPr>
              <a:t>Pendiente</a:t>
            </a:r>
            <a:endParaRPr lang="en-US" sz="800" dirty="0"/>
          </a:p>
        </p:txBody>
      </p:sp>
      <p:sp>
        <p:nvSpPr>
          <p:cNvPr id="35" name="Obs B.13"/>
          <p:cNvSpPr/>
          <p:nvPr/>
        </p:nvSpPr>
        <p:spPr>
          <a:xfrm>
            <a:off x="3308528" y="3768615"/>
            <a:ext cx="2723312" cy="2632185"/>
          </a:xfrm>
          <a:prstGeom prst="roundRect">
            <a:avLst>
              <a:gd name="adj" fmla="val 347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6" name="Número B.13 círculo"/>
          <p:cNvSpPr/>
          <p:nvPr/>
        </p:nvSpPr>
        <p:spPr>
          <a:xfrm>
            <a:off x="3418256" y="387834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Número B.13"/>
          <p:cNvSpPr txBox="1"/>
          <p:nvPr/>
        </p:nvSpPr>
        <p:spPr>
          <a:xfrm>
            <a:off x="3418256" y="38783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B.13</a:t>
            </a:r>
            <a:endParaRPr lang="en-US" sz="1100" dirty="0"/>
          </a:p>
        </p:txBody>
      </p:sp>
      <p:sp>
        <p:nvSpPr>
          <p:cNvPr id="38" name="Responsable B.13"/>
          <p:cNvSpPr txBox="1"/>
          <p:nvPr/>
        </p:nvSpPr>
        <p:spPr>
          <a:xfrm>
            <a:off x="3966896" y="3841767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39" name="Título B.13"/>
          <p:cNvSpPr txBox="1"/>
          <p:nvPr/>
        </p:nvSpPr>
        <p:spPr>
          <a:xfrm>
            <a:off x="3454832" y="4445271"/>
            <a:ext cx="243070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Limitante para identificar la base de datos de CRM</a:t>
            </a:r>
            <a:endParaRPr lang="en-US" sz="900" dirty="0"/>
          </a:p>
        </p:txBody>
      </p:sp>
      <p:sp>
        <p:nvSpPr>
          <p:cNvPr id="40" name="Comentario B.13"/>
          <p:cNvSpPr txBox="1"/>
          <p:nvPr/>
        </p:nvSpPr>
        <p:spPr>
          <a:xfrm>
            <a:off x="3454832" y="4843035"/>
            <a:ext cx="2430704" cy="146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b="1" dirty="0">
                <a:solidFill>
                  <a:schemeClr val="accent6"/>
                </a:solidFill>
              </a:rPr>
              <a:t>Pendiente</a:t>
            </a:r>
            <a:endParaRPr lang="en-US" sz="800" dirty="0"/>
          </a:p>
        </p:txBody>
      </p:sp>
      <p:sp>
        <p:nvSpPr>
          <p:cNvPr id="41" name="Obs B.14"/>
          <p:cNvSpPr/>
          <p:nvPr/>
        </p:nvSpPr>
        <p:spPr>
          <a:xfrm>
            <a:off x="6159856" y="3768615"/>
            <a:ext cx="2723312" cy="2632185"/>
          </a:xfrm>
          <a:prstGeom prst="roundRect">
            <a:avLst>
              <a:gd name="adj" fmla="val 347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2" name="Número B.14 círculo"/>
          <p:cNvSpPr/>
          <p:nvPr/>
        </p:nvSpPr>
        <p:spPr>
          <a:xfrm>
            <a:off x="6269584" y="387834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Número B.14"/>
          <p:cNvSpPr txBox="1"/>
          <p:nvPr/>
        </p:nvSpPr>
        <p:spPr>
          <a:xfrm>
            <a:off x="6269584" y="38783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B.14</a:t>
            </a:r>
            <a:endParaRPr lang="en-US" sz="1100" dirty="0"/>
          </a:p>
        </p:txBody>
      </p:sp>
      <p:sp>
        <p:nvSpPr>
          <p:cNvPr id="44" name="Responsable B.14"/>
          <p:cNvSpPr txBox="1"/>
          <p:nvPr/>
        </p:nvSpPr>
        <p:spPr>
          <a:xfrm>
            <a:off x="6818224" y="3841767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/Seguridad de la Información</a:t>
            </a:r>
            <a:endParaRPr lang="en-US" sz="1200" dirty="0"/>
          </a:p>
        </p:txBody>
      </p:sp>
      <p:sp>
        <p:nvSpPr>
          <p:cNvPr id="45" name="Título B.14"/>
          <p:cNvSpPr txBox="1"/>
          <p:nvPr/>
        </p:nvSpPr>
        <p:spPr>
          <a:xfrm>
            <a:off x="6306160" y="4445271"/>
            <a:ext cx="243070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Falta de documentación que dé cumplimiento a lo requerido por el artículo 22 de la NRP-23 correspondiente a la adquisición del sistema CRM.</a:t>
            </a:r>
            <a:endParaRPr lang="en-US" sz="900" dirty="0"/>
          </a:p>
        </p:txBody>
      </p:sp>
      <p:sp>
        <p:nvSpPr>
          <p:cNvPr id="46" name="Comentario B.14"/>
          <p:cNvSpPr txBox="1"/>
          <p:nvPr/>
        </p:nvSpPr>
        <p:spPr>
          <a:xfrm>
            <a:off x="6306160" y="5131071"/>
            <a:ext cx="2430704" cy="1178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b="1" dirty="0">
                <a:solidFill>
                  <a:schemeClr val="accent6"/>
                </a:solidFill>
              </a:rPr>
              <a:t>Pendiente</a:t>
            </a:r>
            <a:endParaRPr lang="en-US" sz="800" dirty="0"/>
          </a:p>
        </p:txBody>
      </p:sp>
      <p:sp>
        <p:nvSpPr>
          <p:cNvPr id="47" name="Obs B.15"/>
          <p:cNvSpPr/>
          <p:nvPr/>
        </p:nvSpPr>
        <p:spPr>
          <a:xfrm>
            <a:off x="9011183" y="3768615"/>
            <a:ext cx="2723312" cy="2632185"/>
          </a:xfrm>
          <a:prstGeom prst="roundRect">
            <a:avLst>
              <a:gd name="adj" fmla="val 347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8" name="Número B.15 círculo"/>
          <p:cNvSpPr/>
          <p:nvPr/>
        </p:nvSpPr>
        <p:spPr>
          <a:xfrm>
            <a:off x="9120911" y="3878343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9" name="Número B.15"/>
          <p:cNvSpPr txBox="1"/>
          <p:nvPr/>
        </p:nvSpPr>
        <p:spPr>
          <a:xfrm>
            <a:off x="9120911" y="38783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B.15</a:t>
            </a:r>
            <a:endParaRPr lang="en-US" sz="1100" dirty="0"/>
          </a:p>
        </p:txBody>
      </p:sp>
      <p:sp>
        <p:nvSpPr>
          <p:cNvPr id="50" name="Responsable B.15"/>
          <p:cNvSpPr txBox="1"/>
          <p:nvPr/>
        </p:nvSpPr>
        <p:spPr>
          <a:xfrm>
            <a:off x="9669551" y="3841767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Seguridad de la Información</a:t>
            </a:r>
            <a:endParaRPr lang="en-US" sz="1200" dirty="0"/>
          </a:p>
        </p:txBody>
      </p:sp>
      <p:sp>
        <p:nvSpPr>
          <p:cNvPr id="51" name="Título B.15"/>
          <p:cNvSpPr txBox="1"/>
          <p:nvPr/>
        </p:nvSpPr>
        <p:spPr>
          <a:xfrm>
            <a:off x="9157487" y="4445271"/>
            <a:ext cx="2430704" cy="180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Servicios tercerizados</a:t>
            </a:r>
            <a:endParaRPr lang="en-US" sz="900" dirty="0"/>
          </a:p>
        </p:txBody>
      </p:sp>
      <p:sp>
        <p:nvSpPr>
          <p:cNvPr id="52" name="Comentario B.15"/>
          <p:cNvSpPr txBox="1"/>
          <p:nvPr/>
        </p:nvSpPr>
        <p:spPr>
          <a:xfrm>
            <a:off x="9157487" y="4699017"/>
            <a:ext cx="2430704" cy="1610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 Fecha de cumplimiento: 30 de noviembre de 2026.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Circulares 16572 y 18445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0"/>
          <p:cNvSpPr/>
          <p:nvPr/>
        </p:nvSpPr>
        <p:spPr>
          <a:xfrm>
            <a:off x="457200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" name="Circular 0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0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8" name="Estado 0 fondo"/>
          <p:cNvSpPr/>
          <p:nvPr/>
        </p:nvSpPr>
        <p:spPr>
          <a:xfrm>
            <a:off x="2240280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Estado 0"/>
          <p:cNvSpPr txBox="1"/>
          <p:nvPr/>
        </p:nvSpPr>
        <p:spPr>
          <a:xfrm>
            <a:off x="2240280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10" name="Obs 0"/>
          <p:cNvSpPr txBox="1"/>
          <p:nvPr/>
        </p:nvSpPr>
        <p:spPr>
          <a:xfrm>
            <a:off x="594360" y="1655064"/>
            <a:ext cx="3399434" cy="887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2: Falta de eficacia en la subsanación de observaciones determinadas por el Departamento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Comentarios COMEDICA: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1" name="Com 0"/>
          <p:cNvSpPr txBox="1"/>
          <p:nvPr/>
        </p:nvSpPr>
        <p:spPr>
          <a:xfrm>
            <a:off x="594360" y="2597353"/>
            <a:ext cx="3399434" cy="151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AI 28 2024 y AI 45 2024 Otorgamiento de Préstamos. Se realizó el seguimiento correspondiente a los informes AI 44-2025, AI 64-2025 y AI 20-2026. Como resultado, las observaciones quedaron solventadas. (Se anexan los informes). AI 21 2024 y AI 26 2024 Otorgamiento de Tarjeta de Crédito. Se realizó el seguimiento correspondiente en los informes AI 14 2025 y AI 69 2025. Como resultado, las observaciones quedaron solventadas. (Se anexan los informes). Informes AI 32 2024; AI 37 2024 y AI 52 2024. Se continuará con el seguimiento, solicitando nuevamente planes de acción con fechas plazo, a cada unidad responsable. Plazo: 30/11/2026</a:t>
            </a:r>
            <a:endParaRPr lang="en-US" sz="850" dirty="0"/>
          </a:p>
        </p:txBody>
      </p:sp>
      <p:sp>
        <p:nvSpPr>
          <p:cNvPr id="12" name="Resp 0"/>
          <p:cNvSpPr txBox="1"/>
          <p:nvPr/>
        </p:nvSpPr>
        <p:spPr>
          <a:xfrm>
            <a:off x="594360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13" name="Seg 1"/>
          <p:cNvSpPr/>
          <p:nvPr/>
        </p:nvSpPr>
        <p:spPr>
          <a:xfrm>
            <a:off x="4258970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1 fondo"/>
          <p:cNvSpPr/>
          <p:nvPr/>
        </p:nvSpPr>
        <p:spPr>
          <a:xfrm>
            <a:off x="436869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1"/>
          <p:cNvSpPr txBox="1"/>
          <p:nvPr/>
        </p:nvSpPr>
        <p:spPr>
          <a:xfrm>
            <a:off x="436869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16" name="Estado 1 fondo"/>
          <p:cNvSpPr/>
          <p:nvPr/>
        </p:nvSpPr>
        <p:spPr>
          <a:xfrm>
            <a:off x="604205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1"/>
          <p:cNvSpPr txBox="1"/>
          <p:nvPr/>
        </p:nvSpPr>
        <p:spPr>
          <a:xfrm>
            <a:off x="604205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1"/>
          <p:cNvSpPr txBox="1"/>
          <p:nvPr/>
        </p:nvSpPr>
        <p:spPr>
          <a:xfrm>
            <a:off x="4396130" y="1655064"/>
            <a:ext cx="3399434" cy="887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3: Seguimiento inoportuno de las observaciones por parte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Comentarios COMEDICA de R.L.: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9" name="Com 1"/>
          <p:cNvSpPr txBox="1"/>
          <p:nvPr/>
        </p:nvSpPr>
        <p:spPr>
          <a:xfrm>
            <a:off x="4396130" y="2597353"/>
            <a:ext cx="3399434" cy="151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Para dar seguimiento a los informes se ha elaborado una matriz con las observaciones de todos los informes, la matriz es actualizada trimestralmente. Se anexa la matriz de seguimiento de informes.</a:t>
            </a:r>
            <a:endParaRPr lang="en-US" sz="850" dirty="0"/>
          </a:p>
        </p:txBody>
      </p:sp>
      <p:sp>
        <p:nvSpPr>
          <p:cNvPr id="20" name="Resp 1"/>
          <p:cNvSpPr txBox="1"/>
          <p:nvPr/>
        </p:nvSpPr>
        <p:spPr>
          <a:xfrm>
            <a:off x="4396130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1" name="Seg 2"/>
          <p:cNvSpPr/>
          <p:nvPr/>
        </p:nvSpPr>
        <p:spPr>
          <a:xfrm>
            <a:off x="8060741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2 fondo"/>
          <p:cNvSpPr/>
          <p:nvPr/>
        </p:nvSpPr>
        <p:spPr>
          <a:xfrm>
            <a:off x="8170469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2"/>
          <p:cNvSpPr txBox="1"/>
          <p:nvPr/>
        </p:nvSpPr>
        <p:spPr>
          <a:xfrm>
            <a:off x="8170469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C.1.2</a:t>
            </a:r>
            <a:endParaRPr lang="en-US" sz="850" dirty="0"/>
          </a:p>
        </p:txBody>
      </p:sp>
      <p:sp>
        <p:nvSpPr>
          <p:cNvPr id="24" name="Estado 2 fondo"/>
          <p:cNvSpPr/>
          <p:nvPr/>
        </p:nvSpPr>
        <p:spPr>
          <a:xfrm>
            <a:off x="9843821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2"/>
          <p:cNvSpPr txBox="1"/>
          <p:nvPr/>
        </p:nvSpPr>
        <p:spPr>
          <a:xfrm>
            <a:off x="9843821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PARCIAMENTE SUPERADA</a:t>
            </a:r>
            <a:endParaRPr lang="en-US" sz="850" dirty="0"/>
          </a:p>
        </p:txBody>
      </p:sp>
      <p:sp>
        <p:nvSpPr>
          <p:cNvPr id="26" name="Obs 2"/>
          <p:cNvSpPr txBox="1"/>
          <p:nvPr/>
        </p:nvSpPr>
        <p:spPr>
          <a:xfrm>
            <a:off x="8197901" y="1655064"/>
            <a:ext cx="3399434" cy="51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2: Seguimiento a informes de observaciones del Comité de Auditoría y de Auditoría Interna durante el período 2023.</a:t>
            </a:r>
            <a:endParaRPr lang="en-US" sz="1200" dirty="0"/>
          </a:p>
        </p:txBody>
      </p:sp>
      <p:sp>
        <p:nvSpPr>
          <p:cNvPr id="27" name="Com 2"/>
          <p:cNvSpPr txBox="1"/>
          <p:nvPr/>
        </p:nvSpPr>
        <p:spPr>
          <a:xfrm>
            <a:off x="8197901" y="2220849"/>
            <a:ext cx="3399434" cy="1892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 realizará nuevamente el seguimiento de las observaciones pendientes de solventar en las Actas: 173 y 175; Plazo: 30/11/2026</a:t>
            </a:r>
            <a:endParaRPr lang="en-US" sz="850" dirty="0"/>
          </a:p>
        </p:txBody>
      </p:sp>
      <p:sp>
        <p:nvSpPr>
          <p:cNvPr id="28" name="Resp 2"/>
          <p:cNvSpPr txBox="1"/>
          <p:nvPr/>
        </p:nvSpPr>
        <p:spPr>
          <a:xfrm>
            <a:off x="8197901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9" name="Seg 3"/>
          <p:cNvSpPr/>
          <p:nvPr/>
        </p:nvSpPr>
        <p:spPr>
          <a:xfrm>
            <a:off x="457200" y="4570463"/>
            <a:ext cx="3673754" cy="1830337"/>
          </a:xfrm>
          <a:prstGeom prst="roundRect">
            <a:avLst>
              <a:gd name="adj" fmla="val 4996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3 fondo"/>
          <p:cNvSpPr/>
          <p:nvPr/>
        </p:nvSpPr>
        <p:spPr>
          <a:xfrm>
            <a:off x="566928" y="4661903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3"/>
          <p:cNvSpPr txBox="1"/>
          <p:nvPr/>
        </p:nvSpPr>
        <p:spPr>
          <a:xfrm>
            <a:off x="566928" y="4661903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32" name="Estado 3 fondo"/>
          <p:cNvSpPr/>
          <p:nvPr/>
        </p:nvSpPr>
        <p:spPr>
          <a:xfrm>
            <a:off x="2240280" y="4661903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3"/>
          <p:cNvSpPr txBox="1"/>
          <p:nvPr/>
        </p:nvSpPr>
        <p:spPr>
          <a:xfrm>
            <a:off x="2240280" y="4661903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3"/>
          <p:cNvSpPr txBox="1"/>
          <p:nvPr/>
        </p:nvSpPr>
        <p:spPr>
          <a:xfrm>
            <a:off x="594360" y="4991087"/>
            <a:ext cx="3399434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1. Falta de aplicación del factor de riesgo empleados.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35" name="Com 3"/>
          <p:cNvSpPr txBox="1"/>
          <p:nvPr/>
        </p:nvSpPr>
        <p:spPr>
          <a:xfrm>
            <a:off x="594360" y="5536984"/>
            <a:ext cx="3399434" cy="53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Sin comentarios ni documentación</a:t>
            </a:r>
            <a:endParaRPr lang="en-US" sz="850" dirty="0"/>
          </a:p>
        </p:txBody>
      </p:sp>
      <p:sp>
        <p:nvSpPr>
          <p:cNvPr id="36" name="Resp 3"/>
          <p:cNvSpPr txBox="1"/>
          <p:nvPr/>
        </p:nvSpPr>
        <p:spPr>
          <a:xfrm>
            <a:off x="59436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Gerencia de Oficialía de Cumplimiento</a:t>
            </a:r>
            <a:endParaRPr lang="en-US" sz="900" dirty="0"/>
          </a:p>
        </p:txBody>
      </p:sp>
      <p:sp>
        <p:nvSpPr>
          <p:cNvPr id="37" name="Seg 4"/>
          <p:cNvSpPr/>
          <p:nvPr/>
        </p:nvSpPr>
        <p:spPr>
          <a:xfrm>
            <a:off x="4258970" y="4570463"/>
            <a:ext cx="3673754" cy="1830337"/>
          </a:xfrm>
          <a:prstGeom prst="roundRect">
            <a:avLst>
              <a:gd name="adj" fmla="val 4996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38" name="Circular 4 fondo"/>
          <p:cNvSpPr/>
          <p:nvPr/>
        </p:nvSpPr>
        <p:spPr>
          <a:xfrm>
            <a:off x="4368698" y="4661903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Circular 4"/>
          <p:cNvSpPr txBox="1"/>
          <p:nvPr/>
        </p:nvSpPr>
        <p:spPr>
          <a:xfrm>
            <a:off x="4368698" y="4661903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40" name="Estado 4 fondo"/>
          <p:cNvSpPr/>
          <p:nvPr/>
        </p:nvSpPr>
        <p:spPr>
          <a:xfrm>
            <a:off x="6042050" y="4661903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1" name="Estado 4"/>
          <p:cNvSpPr txBox="1"/>
          <p:nvPr/>
        </p:nvSpPr>
        <p:spPr>
          <a:xfrm>
            <a:off x="6042050" y="4661903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42" name="Obs 4"/>
          <p:cNvSpPr txBox="1"/>
          <p:nvPr/>
        </p:nvSpPr>
        <p:spPr>
          <a:xfrm>
            <a:off x="4396130" y="4991087"/>
            <a:ext cx="3399434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4. Seguimiento de observaciones de Auditoría Interna de años anteriores no subsanadas.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43" name="Com 4"/>
          <p:cNvSpPr txBox="1"/>
          <p:nvPr/>
        </p:nvSpPr>
        <p:spPr>
          <a:xfrm>
            <a:off x="4396130" y="5536984"/>
            <a:ext cx="3399434" cy="53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 gestionará con la Gerencia de Oficialía de Cumplimiento un nuevo Plan de Acción. Auditoría Interna dará seguimiento. Plazo: 30/11/2026</a:t>
            </a:r>
            <a:endParaRPr lang="en-US" sz="850" dirty="0"/>
          </a:p>
        </p:txBody>
      </p:sp>
      <p:sp>
        <p:nvSpPr>
          <p:cNvPr id="44" name="Resp 4"/>
          <p:cNvSpPr txBox="1"/>
          <p:nvPr/>
        </p:nvSpPr>
        <p:spPr>
          <a:xfrm>
            <a:off x="439613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 29295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5"/>
          <p:cNvSpPr/>
          <p:nvPr/>
        </p:nvSpPr>
        <p:spPr>
          <a:xfrm>
            <a:off x="457200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" name="Circular 5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5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8" name="Estado 5 fondo"/>
          <p:cNvSpPr/>
          <p:nvPr/>
        </p:nvSpPr>
        <p:spPr>
          <a:xfrm>
            <a:off x="224028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9" name="Estado 5"/>
          <p:cNvSpPr txBox="1"/>
          <p:nvPr/>
        </p:nvSpPr>
        <p:spPr>
          <a:xfrm>
            <a:off x="224028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0" name="Obs 5"/>
          <p:cNvSpPr txBox="1"/>
          <p:nvPr/>
        </p:nvSpPr>
        <p:spPr>
          <a:xfrm>
            <a:off x="594360" y="1655064"/>
            <a:ext cx="5300320" cy="449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elementos en el plan de contingencia.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11" name="Com 5"/>
          <p:cNvSpPr txBox="1"/>
          <p:nvPr/>
        </p:nvSpPr>
        <p:spPr>
          <a:xfrm>
            <a:off x="594360" y="2159356"/>
            <a:ext cx="5300320" cy="1156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</a:t>
            </a:r>
            <a:endParaRPr lang="en-US" sz="1200" dirty="0"/>
          </a:p>
        </p:txBody>
      </p:sp>
      <p:sp>
        <p:nvSpPr>
          <p:cNvPr id="12" name="Resp 5"/>
          <p:cNvSpPr txBox="1"/>
          <p:nvPr/>
        </p:nvSpPr>
        <p:spPr>
          <a:xfrm>
            <a:off x="594360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13" name="Seg 6"/>
          <p:cNvSpPr/>
          <p:nvPr/>
        </p:nvSpPr>
        <p:spPr>
          <a:xfrm>
            <a:off x="6159856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6 fondo"/>
          <p:cNvSpPr/>
          <p:nvPr/>
        </p:nvSpPr>
        <p:spPr>
          <a:xfrm>
            <a:off x="6269584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6"/>
          <p:cNvSpPr txBox="1"/>
          <p:nvPr/>
        </p:nvSpPr>
        <p:spPr>
          <a:xfrm>
            <a:off x="6269584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16" name="Estado 6 fondo"/>
          <p:cNvSpPr/>
          <p:nvPr/>
        </p:nvSpPr>
        <p:spPr>
          <a:xfrm>
            <a:off x="7942936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6"/>
          <p:cNvSpPr txBox="1"/>
          <p:nvPr/>
        </p:nvSpPr>
        <p:spPr>
          <a:xfrm>
            <a:off x="7942936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6"/>
          <p:cNvSpPr txBox="1"/>
          <p:nvPr/>
        </p:nvSpPr>
        <p:spPr>
          <a:xfrm>
            <a:off x="6297016" y="1655064"/>
            <a:ext cx="53003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Inconsistencia en los roles y responsabilidades asignados en la elaboración del Plan de Contingencia de Liquidez</a:t>
            </a:r>
            <a:endParaRPr lang="en-US" sz="1200" dirty="0"/>
          </a:p>
        </p:txBody>
      </p:sp>
      <p:sp>
        <p:nvSpPr>
          <p:cNvPr id="19" name="Com 6"/>
          <p:cNvSpPr txBox="1"/>
          <p:nvPr/>
        </p:nvSpPr>
        <p:spPr>
          <a:xfrm>
            <a:off x="6297016" y="2180844"/>
            <a:ext cx="5300320" cy="1135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2026.</a:t>
            </a:r>
            <a:endParaRPr lang="en-US" sz="1200" dirty="0"/>
          </a:p>
        </p:txBody>
      </p:sp>
      <p:sp>
        <p:nvSpPr>
          <p:cNvPr id="20" name="Resp 6"/>
          <p:cNvSpPr txBox="1"/>
          <p:nvPr/>
        </p:nvSpPr>
        <p:spPr>
          <a:xfrm>
            <a:off x="6297016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21" name="Seg 7"/>
          <p:cNvSpPr/>
          <p:nvPr/>
        </p:nvSpPr>
        <p:spPr>
          <a:xfrm>
            <a:off x="457200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7 fondo"/>
          <p:cNvSpPr/>
          <p:nvPr/>
        </p:nvSpPr>
        <p:spPr>
          <a:xfrm>
            <a:off x="566928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7"/>
          <p:cNvSpPr txBox="1"/>
          <p:nvPr/>
        </p:nvSpPr>
        <p:spPr>
          <a:xfrm>
            <a:off x="566928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24" name="Estado 7 fondo"/>
          <p:cNvSpPr/>
          <p:nvPr/>
        </p:nvSpPr>
        <p:spPr>
          <a:xfrm>
            <a:off x="2240280" y="3864807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7"/>
          <p:cNvSpPr txBox="1"/>
          <p:nvPr/>
        </p:nvSpPr>
        <p:spPr>
          <a:xfrm>
            <a:off x="2240280" y="3864807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26" name="Obs 7"/>
          <p:cNvSpPr txBox="1"/>
          <p:nvPr/>
        </p:nvSpPr>
        <p:spPr>
          <a:xfrm>
            <a:off x="594360" y="4193991"/>
            <a:ext cx="530032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actualización de normativa interna relacionada la gestión de Riesgo Operacional y Tecnológico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27" name="Com 7"/>
          <p:cNvSpPr txBox="1"/>
          <p:nvPr/>
        </p:nvSpPr>
        <p:spPr>
          <a:xfrm>
            <a:off x="594360" y="4906308"/>
            <a:ext cx="5300320" cy="116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agrega documentos actualizados, según detalle: Política de Gestión de Riesgo Operacional Manual de Administración de Riesgo Tecnológico. Pendiente de presentar al Comité de Riesgos: Política de contratación de servicios críticos tercerizados.</a:t>
            </a:r>
            <a:endParaRPr lang="en-US" sz="1200" dirty="0"/>
          </a:p>
        </p:txBody>
      </p:sp>
      <p:sp>
        <p:nvSpPr>
          <p:cNvPr id="28" name="Resp 7"/>
          <p:cNvSpPr txBox="1"/>
          <p:nvPr/>
        </p:nvSpPr>
        <p:spPr>
          <a:xfrm>
            <a:off x="594360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9" name="Seg 8"/>
          <p:cNvSpPr/>
          <p:nvPr/>
        </p:nvSpPr>
        <p:spPr>
          <a:xfrm>
            <a:off x="6159856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8 fondo"/>
          <p:cNvSpPr/>
          <p:nvPr/>
        </p:nvSpPr>
        <p:spPr>
          <a:xfrm>
            <a:off x="6269584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8"/>
          <p:cNvSpPr txBox="1"/>
          <p:nvPr/>
        </p:nvSpPr>
        <p:spPr>
          <a:xfrm>
            <a:off x="6269584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32" name="Estado 8 fondo"/>
          <p:cNvSpPr/>
          <p:nvPr/>
        </p:nvSpPr>
        <p:spPr>
          <a:xfrm>
            <a:off x="7942936" y="3864807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8"/>
          <p:cNvSpPr txBox="1"/>
          <p:nvPr/>
        </p:nvSpPr>
        <p:spPr>
          <a:xfrm>
            <a:off x="7942936" y="3864807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8"/>
          <p:cNvSpPr txBox="1"/>
          <p:nvPr/>
        </p:nvSpPr>
        <p:spPr>
          <a:xfrm>
            <a:off x="6297016" y="4193991"/>
            <a:ext cx="53003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Omisión de la presentación del objetivo mínimo de continuidad de negocio (MBCO) en BIA con referencia al 31 de agosto del 2024.</a:t>
            </a:r>
            <a:endParaRPr lang="en-US" sz="1200" dirty="0"/>
          </a:p>
        </p:txBody>
      </p:sp>
      <p:sp>
        <p:nvSpPr>
          <p:cNvPr id="35" name="Com 8"/>
          <p:cNvSpPr txBox="1"/>
          <p:nvPr/>
        </p:nvSpPr>
        <p:spPr>
          <a:xfrm>
            <a:off x="6297016" y="4927797"/>
            <a:ext cx="5300320" cy="1143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Programado actualizar el BIA en noviembre 2026, siendo esa fecha en la que se incorporará lo solicitado.</a:t>
            </a:r>
            <a:endParaRPr lang="en-US" sz="1200" dirty="0"/>
          </a:p>
        </p:txBody>
      </p:sp>
      <p:sp>
        <p:nvSpPr>
          <p:cNvPr id="36" name="Resp 8"/>
          <p:cNvSpPr txBox="1"/>
          <p:nvPr/>
        </p:nvSpPr>
        <p:spPr>
          <a:xfrm>
            <a:off x="6297016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2026-10-14T19:22:49Z</dcterms:created>
  <dcterms:modified xsi:type="dcterms:W3CDTF">2026-10-14T19:22:49Z</dcterms:modified>
</cp:coreProperties>
</file>