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de requerimientos DS-SABAO-BCS-BC-23486. 17 observaciones nuevas (A: 2, B: 15) y 9 observaciones de visitas anteriores en seguimiento (Circulares 16572, 18445 y 29295): 5 no superadas y 4 parcialmente superadas.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A. Gestión de Riesgo de LDA/FT/FPADM (A.1–A.2) y B. Proceso de implementación de la Herramienta de Monitoreo (B.1–B.7). Texto de la matriz.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B. Proceso de implementación de la Herramienta de Monitoreo (B.8–B.15). Texto de la matriz.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 seguimiento a observaciones de visitas anteriores con referencia al 31 de mayo de 2026
Evaluación de la gestión de los Riesgos de Crédito, Operacional y Tecnológico, con referencia al 31 de enero de 2025; resultados preliminares comunicados mediante nota No. DS-SABAO-BCS-BC-16572 del 10 de septiembre de 2025.
C.1.1. Gestión del Riesgo de Crédito.
C.1.2. Gestión de Riesgo Operacional y Tecnológico
Verificación de las Normas Técnicas para la Gestión de los Riesgos de Lavado de Dinero y de Activos, Financiación del Terrorismo y la Financiación de la Proliferación de Armas de Destrucción Masiva (NRP-36), con referencia al 31 de mayo de 2025, comunicadas mediante nota No. DS-SABAO-BCS-BC-18445 del 30 de octubre de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C.3. Evaluación de Guías de Calidad de la Gestión de Riesgos Específicos, con el propósito evaluar la gestión de los riesgos de liquidez, mercado, operacional y tecnológico, de lavado de dinero y de activos, financiación del terrorismo y la financiación de la proliferación de armas de destrucción masiva (LDA/FT/FPADM), con referencia al 30 de septiembre de 2025, comunicadas mediante nota DS-SABAO-BCS-29295 de fecha 03 de diciembre de 2025.
C.3.1. Gestión de riesgo de Liquidez
C.3.2. Gestión de riesgo Operacional y Tecnológico.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146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SSF · Gestión de Riesgo Específico · COMEDICA de R.L.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SSF · Gestión de Riesgo Específico · COMEDICA de R.L.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51052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título"/>
          <p:cNvSpPr txBox="1"/>
          <p:nvPr/>
        </p:nvSpPr>
        <p:spPr>
          <a:xfrm>
            <a:off x="182880" y="50292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REQUERIMIENTOS</a:t>
            </a:r>
            <a:endParaRPr lang="en-US" sz="1500" dirty="0"/>
          </a:p>
        </p:txBody>
      </p:sp>
      <p:sp>
        <p:nvSpPr>
          <p:cNvPr id="3" name="Panel subtítulo"/>
          <p:cNvSpPr txBox="1"/>
          <p:nvPr/>
        </p:nvSpPr>
        <p:spPr>
          <a:xfrm>
            <a:off x="274320" y="137160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Gestión de Riesgo Específico</a:t>
            </a:r>
            <a:endParaRPr lang="en-US" sz="2000" dirty="0"/>
          </a:p>
        </p:txBody>
      </p:sp>
      <p:sp>
        <p:nvSpPr>
          <p:cNvPr id="4" name="Panel código"/>
          <p:cNvSpPr txBox="1"/>
          <p:nvPr/>
        </p:nvSpPr>
        <p:spPr>
          <a:xfrm>
            <a:off x="228600" y="2240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2"/>
                </a:solidFill>
              </a:rPr>
              <a:t>DS-SABAO-BCS-BC-23486</a:t>
            </a:r>
            <a:endParaRPr lang="en-US" sz="1100" dirty="0"/>
          </a:p>
        </p:txBody>
      </p:sp>
      <p:sp>
        <p:nvSpPr>
          <p:cNvPr id="5" name="Logo fondo"/>
          <p:cNvSpPr/>
          <p:nvPr/>
        </p:nvSpPr>
        <p:spPr>
          <a:xfrm>
            <a:off x="274320" y="4114800"/>
            <a:ext cx="1965960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2700">
            <a:solidFill>
              <a:schemeClr val="bg1">
                <a:alpha val="0"/>
              </a:schemeClr>
            </a:solidFill>
            <a:prstDash val="solid"/>
          </a:ln>
        </p:spPr>
      </p:sp>
      <p:pic>
        <p:nvPicPr>
          <p:cNvPr id="6" name="Logo COMEDICA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" y="4187952"/>
            <a:ext cx="1819656" cy="558592"/>
          </a:xfrm>
          <a:prstGeom prst="rect">
            <a:avLst/>
          </a:prstGeom>
        </p:spPr>
      </p:pic>
      <p:sp>
        <p:nvSpPr>
          <p:cNvPr id="7" name="Bloque 0"/>
          <p:cNvSpPr txBox="1"/>
          <p:nvPr/>
        </p:nvSpPr>
        <p:spPr>
          <a:xfrm>
            <a:off x="2926080" y="3657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nuevas</a:t>
            </a:r>
            <a:endParaRPr lang="en-US" sz="2400" dirty="0"/>
          </a:p>
        </p:txBody>
      </p:sp>
      <p:sp>
        <p:nvSpPr>
          <p:cNvPr id="8" name="Bloque sub 0"/>
          <p:cNvSpPr txBox="1"/>
          <p:nvPr/>
        </p:nvSpPr>
        <p:spPr>
          <a:xfrm>
            <a:off x="7680960" y="365760"/>
            <a:ext cx="4053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Visita de supervisión · Gestión de Riesgo Específico</a:t>
            </a:r>
            <a:endParaRPr lang="en-US" sz="1200" dirty="0"/>
          </a:p>
        </p:txBody>
      </p:sp>
      <p:sp>
        <p:nvSpPr>
          <p:cNvPr id="9" name="Tarjeta 0"/>
          <p:cNvSpPr/>
          <p:nvPr/>
        </p:nvSpPr>
        <p:spPr>
          <a:xfrm>
            <a:off x="2926080" y="914400"/>
            <a:ext cx="8808415" cy="22860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0" name="Cifra fondo 0"/>
          <p:cNvSpPr/>
          <p:nvPr/>
        </p:nvSpPr>
        <p:spPr>
          <a:xfrm>
            <a:off x="3063240" y="1051560"/>
            <a:ext cx="1463040" cy="2011680"/>
          </a:xfrm>
          <a:prstGeom prst="roundRect">
            <a:avLst>
              <a:gd name="adj" fmla="val 625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1" name="Cifra 0"/>
          <p:cNvSpPr txBox="1"/>
          <p:nvPr/>
        </p:nvSpPr>
        <p:spPr>
          <a:xfrm>
            <a:off x="3063240" y="14173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4800" dirty="0"/>
          </a:p>
        </p:txBody>
      </p:sp>
      <p:sp>
        <p:nvSpPr>
          <p:cNvPr id="12" name="Cifra lab 0"/>
          <p:cNvSpPr txBox="1"/>
          <p:nvPr/>
        </p:nvSpPr>
        <p:spPr>
          <a:xfrm>
            <a:off x="3108960" y="2194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OBSERVACIONES NUEVAS</a:t>
            </a:r>
            <a:endParaRPr lang="en-US" sz="900" dirty="0"/>
          </a:p>
        </p:txBody>
      </p:sp>
      <p:sp>
        <p:nvSpPr>
          <p:cNvPr id="13" name="Etiqueta 00 fondo"/>
          <p:cNvSpPr/>
          <p:nvPr/>
        </p:nvSpPr>
        <p:spPr>
          <a:xfrm>
            <a:off x="4800600" y="1408176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 w="12700">
            <a:solidFill>
              <a:srgbClr val="0E7490">
                <a:alpha val="0"/>
              </a:srgbClr>
            </a:solidFill>
            <a:prstDash val="solid"/>
          </a:ln>
        </p:spPr>
      </p:sp>
      <p:sp>
        <p:nvSpPr>
          <p:cNvPr id="14" name="Etiqueta 00"/>
          <p:cNvSpPr txBox="1"/>
          <p:nvPr/>
        </p:nvSpPr>
        <p:spPr>
          <a:xfrm>
            <a:off x="4800600" y="14081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50" kern="0" dirty="0">
                <a:solidFill>
                  <a:schemeClr val="bg1"/>
                </a:solidFill>
              </a:rPr>
              <a:t>A</a:t>
            </a:r>
            <a:endParaRPr lang="en-US" sz="1300" dirty="0"/>
          </a:p>
        </p:txBody>
      </p:sp>
      <p:sp>
        <p:nvSpPr>
          <p:cNvPr id="15" name="Item 00"/>
          <p:cNvSpPr txBox="1"/>
          <p:nvPr/>
        </p:nvSpPr>
        <p:spPr>
          <a:xfrm>
            <a:off x="5440680" y="1051560"/>
            <a:ext cx="43735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Gestión de Riesgo de LDA/FT/FPADM</a:t>
            </a:r>
            <a:endParaRPr lang="en-US" sz="1400" dirty="0"/>
          </a:p>
        </p:txBody>
      </p:sp>
      <p:sp>
        <p:nvSpPr>
          <p:cNvPr id="16" name="Item cifra 00"/>
          <p:cNvSpPr txBox="1"/>
          <p:nvPr/>
        </p:nvSpPr>
        <p:spPr>
          <a:xfrm>
            <a:off x="9905695" y="105156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2 observaciones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800600" y="2057400"/>
            <a:ext cx="675101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18" name="Etiqueta 01 fondo"/>
          <p:cNvSpPr/>
          <p:nvPr/>
        </p:nvSpPr>
        <p:spPr>
          <a:xfrm>
            <a:off x="4800600" y="2414016"/>
            <a:ext cx="457200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9" name="Etiqueta 01"/>
          <p:cNvSpPr txBox="1"/>
          <p:nvPr/>
        </p:nvSpPr>
        <p:spPr>
          <a:xfrm>
            <a:off x="4800600" y="241401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50" kern="0" dirty="0">
                <a:solidFill>
                  <a:schemeClr val="bg1"/>
                </a:solidFill>
              </a:rPr>
              <a:t>B</a:t>
            </a:r>
            <a:endParaRPr lang="en-US" sz="1300" dirty="0"/>
          </a:p>
        </p:txBody>
      </p:sp>
      <p:sp>
        <p:nvSpPr>
          <p:cNvPr id="20" name="Item 01"/>
          <p:cNvSpPr txBox="1"/>
          <p:nvPr/>
        </p:nvSpPr>
        <p:spPr>
          <a:xfrm>
            <a:off x="5440680" y="2057400"/>
            <a:ext cx="43735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Proceso de implementación de la Herramienta de Monitoreo</a:t>
            </a:r>
            <a:endParaRPr lang="en-US" sz="1400" dirty="0"/>
          </a:p>
        </p:txBody>
      </p:sp>
      <p:sp>
        <p:nvSpPr>
          <p:cNvPr id="21" name="Item cifra 01"/>
          <p:cNvSpPr txBox="1"/>
          <p:nvPr/>
        </p:nvSpPr>
        <p:spPr>
          <a:xfrm>
            <a:off x="9905695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15 observaciones</a:t>
            </a:r>
            <a:endParaRPr lang="en-US" sz="1300" dirty="0"/>
          </a:p>
        </p:txBody>
      </p:sp>
      <p:sp>
        <p:nvSpPr>
          <p:cNvPr id="22" name="Bloque 1"/>
          <p:cNvSpPr txBox="1"/>
          <p:nvPr/>
        </p:nvSpPr>
        <p:spPr>
          <a:xfrm>
            <a:off x="2926080" y="3401568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Seguimiento a visitas anteriores</a:t>
            </a:r>
            <a:endParaRPr lang="en-US" sz="2400" dirty="0"/>
          </a:p>
        </p:txBody>
      </p:sp>
      <p:sp>
        <p:nvSpPr>
          <p:cNvPr id="23" name="Bloque sub 1"/>
          <p:cNvSpPr txBox="1"/>
          <p:nvPr/>
        </p:nvSpPr>
        <p:spPr>
          <a:xfrm>
            <a:off x="7680960" y="3401568"/>
            <a:ext cx="4053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200" dirty="0"/>
          </a:p>
        </p:txBody>
      </p:sp>
      <p:sp>
        <p:nvSpPr>
          <p:cNvPr id="24" name="Tarjeta 1"/>
          <p:cNvSpPr/>
          <p:nvPr/>
        </p:nvSpPr>
        <p:spPr>
          <a:xfrm>
            <a:off x="2926080" y="3950208"/>
            <a:ext cx="8808415" cy="22860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5" name="Cifra fondo 1"/>
          <p:cNvSpPr/>
          <p:nvPr/>
        </p:nvSpPr>
        <p:spPr>
          <a:xfrm>
            <a:off x="3063240" y="4087368"/>
            <a:ext cx="1463040" cy="2011680"/>
          </a:xfrm>
          <a:prstGeom prst="roundRect">
            <a:avLst>
              <a:gd name="adj" fmla="val 625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26" name="Cifra 1"/>
          <p:cNvSpPr txBox="1"/>
          <p:nvPr/>
        </p:nvSpPr>
        <p:spPr>
          <a:xfrm>
            <a:off x="3063240" y="4453128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800" dirty="0"/>
          </a:p>
        </p:txBody>
      </p:sp>
      <p:sp>
        <p:nvSpPr>
          <p:cNvPr id="27" name="Cifra lab 1"/>
          <p:cNvSpPr txBox="1"/>
          <p:nvPr/>
        </p:nvSpPr>
        <p:spPr>
          <a:xfrm>
            <a:off x="3108960" y="523036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EN SEGUIMIENTO</a:t>
            </a:r>
            <a:endParaRPr lang="en-US" sz="900" dirty="0"/>
          </a:p>
        </p:txBody>
      </p:sp>
      <p:sp>
        <p:nvSpPr>
          <p:cNvPr id="28" name="Etiqueta 10 fondo"/>
          <p:cNvSpPr/>
          <p:nvPr/>
        </p:nvSpPr>
        <p:spPr>
          <a:xfrm>
            <a:off x="4800600" y="4276344"/>
            <a:ext cx="160020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9" name="Etiqueta 10"/>
          <p:cNvSpPr txBox="1"/>
          <p:nvPr/>
        </p:nvSpPr>
        <p:spPr>
          <a:xfrm>
            <a:off x="4800600" y="427634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chemeClr val="bg1"/>
                </a:solidFill>
              </a:rPr>
              <a:t>Circular 16572</a:t>
            </a:r>
            <a:endParaRPr lang="en-US" sz="1000" dirty="0"/>
          </a:p>
        </p:txBody>
      </p:sp>
      <p:sp>
        <p:nvSpPr>
          <p:cNvPr id="30" name="Item 10"/>
          <p:cNvSpPr txBox="1"/>
          <p:nvPr/>
        </p:nvSpPr>
        <p:spPr>
          <a:xfrm>
            <a:off x="6583680" y="4087368"/>
            <a:ext cx="3230575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Riesgos de Crédito, Operacional y Tecnológico · 10/09/2025</a:t>
            </a:r>
            <a:endParaRPr lang="en-US" sz="1400" dirty="0"/>
          </a:p>
        </p:txBody>
      </p:sp>
      <p:sp>
        <p:nvSpPr>
          <p:cNvPr id="31" name="Item cifra 10"/>
          <p:cNvSpPr txBox="1"/>
          <p:nvPr/>
        </p:nvSpPr>
        <p:spPr>
          <a:xfrm>
            <a:off x="9905695" y="4087368"/>
            <a:ext cx="16459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3 observaciones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800600" y="4757928"/>
            <a:ext cx="675101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33" name="Etiqueta 11 fondo"/>
          <p:cNvSpPr/>
          <p:nvPr/>
        </p:nvSpPr>
        <p:spPr>
          <a:xfrm>
            <a:off x="4800600" y="4946904"/>
            <a:ext cx="160020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4" name="Etiqueta 11"/>
          <p:cNvSpPr txBox="1"/>
          <p:nvPr/>
        </p:nvSpPr>
        <p:spPr>
          <a:xfrm>
            <a:off x="4800600" y="494690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chemeClr val="bg1"/>
                </a:solidFill>
              </a:rPr>
              <a:t>Circular 18445</a:t>
            </a:r>
            <a:endParaRPr lang="en-US" sz="1000" dirty="0"/>
          </a:p>
        </p:txBody>
      </p:sp>
      <p:sp>
        <p:nvSpPr>
          <p:cNvPr id="35" name="Item 11"/>
          <p:cNvSpPr txBox="1"/>
          <p:nvPr/>
        </p:nvSpPr>
        <p:spPr>
          <a:xfrm>
            <a:off x="6583680" y="4757928"/>
            <a:ext cx="3230575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NRP-36 · LDA/FT/FPADM · 30/10/2025</a:t>
            </a:r>
            <a:endParaRPr lang="en-US" sz="1400" dirty="0"/>
          </a:p>
        </p:txBody>
      </p:sp>
      <p:sp>
        <p:nvSpPr>
          <p:cNvPr id="36" name="Item cifra 11"/>
          <p:cNvSpPr txBox="1"/>
          <p:nvPr/>
        </p:nvSpPr>
        <p:spPr>
          <a:xfrm>
            <a:off x="9905695" y="4757928"/>
            <a:ext cx="16459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2 observaciones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4800600" y="5428488"/>
            <a:ext cx="675101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38" name="Etiqueta 12 fondo"/>
          <p:cNvSpPr/>
          <p:nvPr/>
        </p:nvSpPr>
        <p:spPr>
          <a:xfrm>
            <a:off x="4800600" y="5617464"/>
            <a:ext cx="160020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9" name="Etiqueta 12"/>
          <p:cNvSpPr txBox="1"/>
          <p:nvPr/>
        </p:nvSpPr>
        <p:spPr>
          <a:xfrm>
            <a:off x="4800600" y="561746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chemeClr val="bg1"/>
                </a:solidFill>
              </a:rPr>
              <a:t>Circular 29295</a:t>
            </a:r>
            <a:endParaRPr lang="en-US" sz="1000" dirty="0"/>
          </a:p>
        </p:txBody>
      </p:sp>
      <p:sp>
        <p:nvSpPr>
          <p:cNvPr id="40" name="Item 12"/>
          <p:cNvSpPr txBox="1"/>
          <p:nvPr/>
        </p:nvSpPr>
        <p:spPr>
          <a:xfrm>
            <a:off x="6583680" y="5428488"/>
            <a:ext cx="3230575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Guías de Calidad · 03/12/2025</a:t>
            </a:r>
            <a:endParaRPr lang="en-US" sz="1400" dirty="0"/>
          </a:p>
        </p:txBody>
      </p:sp>
      <p:sp>
        <p:nvSpPr>
          <p:cNvPr id="41" name="Item cifra 12"/>
          <p:cNvSpPr txBox="1"/>
          <p:nvPr/>
        </p:nvSpPr>
        <p:spPr>
          <a:xfrm>
            <a:off x="9905695" y="5428488"/>
            <a:ext cx="16459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4 observaciones</a:t>
            </a:r>
            <a:endParaRPr lang="en-US" sz="1300" dirty="0"/>
          </a:p>
        </p:txBody>
      </p:sp>
      <p:sp>
        <p:nvSpPr>
          <p:cNvPr id="42" name="No superadas fondo"/>
          <p:cNvSpPr/>
          <p:nvPr/>
        </p:nvSpPr>
        <p:spPr>
          <a:xfrm>
            <a:off x="7756855" y="3474720"/>
            <a:ext cx="1554480" cy="29260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43" name="No superadas"/>
          <p:cNvSpPr txBox="1"/>
          <p:nvPr/>
        </p:nvSpPr>
        <p:spPr>
          <a:xfrm>
            <a:off x="7756855" y="34747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chemeClr val="bg1"/>
                </a:solidFill>
              </a:rPr>
              <a:t>5 NO SUPERADAS</a:t>
            </a:r>
            <a:endParaRPr lang="en-US" sz="950" dirty="0"/>
          </a:p>
        </p:txBody>
      </p:sp>
      <p:sp>
        <p:nvSpPr>
          <p:cNvPr id="44" name="Parciales fondo"/>
          <p:cNvSpPr/>
          <p:nvPr/>
        </p:nvSpPr>
        <p:spPr>
          <a:xfrm>
            <a:off x="9402775" y="3474720"/>
            <a:ext cx="2331720" cy="29260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45" name="Parciales"/>
          <p:cNvSpPr txBox="1"/>
          <p:nvPr/>
        </p:nvSpPr>
        <p:spPr>
          <a:xfrm>
            <a:off x="9402775" y="347472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chemeClr val="bg1"/>
                </a:solidFill>
              </a:rPr>
              <a:t>4 PARCIALMENTE SUPERADAS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457200" y="29260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chemeClr val="accent5"/>
                </a:solidFill>
              </a:rPr>
              <a:t>CIRCULAR DS-SABAO-BCS-BC-23486 · OBSERVACIONES NUEVAS</a:t>
            </a:r>
            <a:endParaRPr lang="en-US" sz="1050" dirty="0"/>
          </a:p>
        </p:txBody>
      </p:sp>
      <p:sp>
        <p:nvSpPr>
          <p:cNvPr id="3" name="Título"/>
          <p:cNvSpPr txBox="1"/>
          <p:nvPr/>
        </p:nvSpPr>
        <p:spPr>
          <a:xfrm>
            <a:off x="457200" y="5486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A. LDA/FT/FPADM y B. Herramienta de Monitoreo</a:t>
            </a:r>
            <a:endParaRPr lang="en-US" sz="2800" dirty="0"/>
          </a:p>
        </p:txBody>
      </p:sp>
      <p:pic>
        <p:nvPicPr>
          <p:cNvPr id="4" name="Logo COMEDICA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256032"/>
            <a:ext cx="1828800" cy="561399"/>
          </a:xfrm>
          <a:prstGeom prst="rect">
            <a:avLst/>
          </a:prstGeom>
        </p:spPr>
      </p:pic>
      <p:sp>
        <p:nvSpPr>
          <p:cNvPr id="5" name="Obs A.1"/>
          <p:cNvSpPr/>
          <p:nvPr/>
        </p:nvSpPr>
        <p:spPr>
          <a:xfrm>
            <a:off x="457200" y="1234440"/>
            <a:ext cx="3673754" cy="1435167"/>
          </a:xfrm>
          <a:prstGeom prst="roundRect">
            <a:avLst>
              <a:gd name="adj" fmla="val 6371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6" name="Número A.1 círculo"/>
          <p:cNvSpPr/>
          <p:nvPr/>
        </p:nvSpPr>
        <p:spPr>
          <a:xfrm>
            <a:off x="566928" y="1344168"/>
            <a:ext cx="457200" cy="45720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>
                <a:alpha val="0"/>
              </a:srgbClr>
            </a:solidFill>
            <a:prstDash val="solid"/>
          </a:ln>
        </p:spPr>
      </p:sp>
      <p:sp>
        <p:nvSpPr>
          <p:cNvPr id="7" name="Número A.1"/>
          <p:cNvSpPr txBox="1"/>
          <p:nvPr/>
        </p:nvSpPr>
        <p:spPr>
          <a:xfrm>
            <a:off x="566928" y="1344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A.1</a:t>
            </a:r>
            <a:endParaRPr lang="en-US" sz="1100" dirty="0"/>
          </a:p>
        </p:txBody>
      </p:sp>
      <p:sp>
        <p:nvSpPr>
          <p:cNvPr id="8" name="Responsable A.1"/>
          <p:cNvSpPr txBox="1"/>
          <p:nvPr/>
        </p:nvSpPr>
        <p:spPr>
          <a:xfrm>
            <a:off x="1115568" y="1307592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</p:txBody>
      </p:sp>
      <p:sp>
        <p:nvSpPr>
          <p:cNvPr id="9" name="Título A.1"/>
          <p:cNvSpPr txBox="1"/>
          <p:nvPr/>
        </p:nvSpPr>
        <p:spPr>
          <a:xfrm>
            <a:off x="603504" y="1892808"/>
            <a:ext cx="3381146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Deficiencias en la conformación y actualización de expedientes de clientes.</a:t>
            </a:r>
            <a:endParaRPr lang="en-US" sz="1050" dirty="0"/>
          </a:p>
        </p:txBody>
      </p:sp>
      <p:sp>
        <p:nvSpPr>
          <p:cNvPr id="10" name="Comentario A.1"/>
          <p:cNvSpPr txBox="1"/>
          <p:nvPr/>
        </p:nvSpPr>
        <p:spPr>
          <a:xfrm>
            <a:off x="603504" y="2338578"/>
            <a:ext cx="3381146" cy="276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950" b="1" dirty="0">
                <a:solidFill>
                  <a:schemeClr val="accent6"/>
                </a:solidFill>
              </a:rPr>
              <a:t>Pendiente</a:t>
            </a:r>
            <a:endParaRPr lang="en-US" sz="950" dirty="0"/>
          </a:p>
        </p:txBody>
      </p:sp>
      <p:sp>
        <p:nvSpPr>
          <p:cNvPr id="11" name="Obs A.2"/>
          <p:cNvSpPr/>
          <p:nvPr/>
        </p:nvSpPr>
        <p:spPr>
          <a:xfrm>
            <a:off x="4258970" y="1234440"/>
            <a:ext cx="3673754" cy="1435167"/>
          </a:xfrm>
          <a:prstGeom prst="roundRect">
            <a:avLst>
              <a:gd name="adj" fmla="val 6371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2" name="Número A.2 círculo"/>
          <p:cNvSpPr/>
          <p:nvPr/>
        </p:nvSpPr>
        <p:spPr>
          <a:xfrm>
            <a:off x="4368698" y="1344168"/>
            <a:ext cx="457200" cy="45720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>
                <a:alpha val="0"/>
              </a:srgbClr>
            </a:solidFill>
            <a:prstDash val="solid"/>
          </a:ln>
        </p:spPr>
      </p:sp>
      <p:sp>
        <p:nvSpPr>
          <p:cNvPr id="13" name="Número A.2"/>
          <p:cNvSpPr txBox="1"/>
          <p:nvPr/>
        </p:nvSpPr>
        <p:spPr>
          <a:xfrm>
            <a:off x="4368698" y="1344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A.2</a:t>
            </a:r>
            <a:endParaRPr lang="en-US" sz="1100" dirty="0"/>
          </a:p>
        </p:txBody>
      </p:sp>
      <p:sp>
        <p:nvSpPr>
          <p:cNvPr id="14" name="Responsable A.2"/>
          <p:cNvSpPr txBox="1"/>
          <p:nvPr/>
        </p:nvSpPr>
        <p:spPr>
          <a:xfrm>
            <a:off x="4917338" y="1307592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</p:txBody>
      </p:sp>
      <p:sp>
        <p:nvSpPr>
          <p:cNvPr id="15" name="Título A.2"/>
          <p:cNvSpPr txBox="1"/>
          <p:nvPr/>
        </p:nvSpPr>
        <p:spPr>
          <a:xfrm>
            <a:off x="4405274" y="1892808"/>
            <a:ext cx="3381146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Deficiencias en la identificación de la actividad económica realizada por clientes.</a:t>
            </a:r>
            <a:endParaRPr lang="en-US" sz="1050" dirty="0"/>
          </a:p>
        </p:txBody>
      </p:sp>
      <p:sp>
        <p:nvSpPr>
          <p:cNvPr id="16" name="Comentario A.2"/>
          <p:cNvSpPr txBox="1"/>
          <p:nvPr/>
        </p:nvSpPr>
        <p:spPr>
          <a:xfrm>
            <a:off x="4405274" y="2338578"/>
            <a:ext cx="3381146" cy="276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950" b="1" dirty="0">
                <a:solidFill>
                  <a:schemeClr val="accent6"/>
                </a:solidFill>
              </a:rPr>
              <a:t>Pendiente</a:t>
            </a:r>
            <a:endParaRPr lang="en-US" sz="950" dirty="0"/>
          </a:p>
        </p:txBody>
      </p:sp>
      <p:sp>
        <p:nvSpPr>
          <p:cNvPr id="17" name="Obs B.1"/>
          <p:cNvSpPr/>
          <p:nvPr/>
        </p:nvSpPr>
        <p:spPr>
          <a:xfrm>
            <a:off x="8060741" y="1234440"/>
            <a:ext cx="3673754" cy="1435167"/>
          </a:xfrm>
          <a:prstGeom prst="roundRect">
            <a:avLst>
              <a:gd name="adj" fmla="val 6371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8" name="Número B.1 círculo"/>
          <p:cNvSpPr/>
          <p:nvPr/>
        </p:nvSpPr>
        <p:spPr>
          <a:xfrm>
            <a:off x="8170469" y="134416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9" name="Número B.1"/>
          <p:cNvSpPr txBox="1"/>
          <p:nvPr/>
        </p:nvSpPr>
        <p:spPr>
          <a:xfrm>
            <a:off x="8170469" y="1344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B.1</a:t>
            </a:r>
            <a:endParaRPr lang="en-US" sz="1100" dirty="0"/>
          </a:p>
        </p:txBody>
      </p:sp>
      <p:sp>
        <p:nvSpPr>
          <p:cNvPr id="20" name="Responsable B.1"/>
          <p:cNvSpPr txBox="1"/>
          <p:nvPr/>
        </p:nvSpPr>
        <p:spPr>
          <a:xfrm>
            <a:off x="8719109" y="1307592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</p:txBody>
      </p:sp>
      <p:sp>
        <p:nvSpPr>
          <p:cNvPr id="21" name="Título B.1"/>
          <p:cNvSpPr txBox="1"/>
          <p:nvPr/>
        </p:nvSpPr>
        <p:spPr>
          <a:xfrm>
            <a:off x="8207045" y="1892808"/>
            <a:ext cx="3381146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Falta de actualización de Metodología y matriz de riesgo LA/FT/FPADM de la Entidad</a:t>
            </a:r>
            <a:endParaRPr lang="en-US" sz="1050" dirty="0"/>
          </a:p>
        </p:txBody>
      </p:sp>
      <p:sp>
        <p:nvSpPr>
          <p:cNvPr id="22" name="Comentario B.1"/>
          <p:cNvSpPr txBox="1"/>
          <p:nvPr/>
        </p:nvSpPr>
        <p:spPr>
          <a:xfrm>
            <a:off x="8207045" y="2338578"/>
            <a:ext cx="3381146" cy="276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950" b="1" dirty="0">
                <a:solidFill>
                  <a:schemeClr val="accent6"/>
                </a:solidFill>
              </a:rPr>
              <a:t>Pendiente</a:t>
            </a:r>
            <a:endParaRPr lang="en-US" sz="950" dirty="0"/>
          </a:p>
        </p:txBody>
      </p:sp>
      <p:sp>
        <p:nvSpPr>
          <p:cNvPr id="23" name="Obs B.2"/>
          <p:cNvSpPr/>
          <p:nvPr/>
        </p:nvSpPr>
        <p:spPr>
          <a:xfrm>
            <a:off x="457200" y="2797623"/>
            <a:ext cx="3673754" cy="1435167"/>
          </a:xfrm>
          <a:prstGeom prst="roundRect">
            <a:avLst>
              <a:gd name="adj" fmla="val 6371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4" name="Número B.2 círculo"/>
          <p:cNvSpPr/>
          <p:nvPr/>
        </p:nvSpPr>
        <p:spPr>
          <a:xfrm>
            <a:off x="566928" y="2907351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5" name="Número B.2"/>
          <p:cNvSpPr txBox="1"/>
          <p:nvPr/>
        </p:nvSpPr>
        <p:spPr>
          <a:xfrm>
            <a:off x="566928" y="290735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B.2</a:t>
            </a:r>
            <a:endParaRPr lang="en-US" sz="1100" dirty="0"/>
          </a:p>
        </p:txBody>
      </p:sp>
      <p:sp>
        <p:nvSpPr>
          <p:cNvPr id="26" name="Responsable B.2"/>
          <p:cNvSpPr txBox="1"/>
          <p:nvPr/>
        </p:nvSpPr>
        <p:spPr>
          <a:xfrm>
            <a:off x="1115568" y="2870775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</p:txBody>
      </p:sp>
      <p:sp>
        <p:nvSpPr>
          <p:cNvPr id="27" name="Título B.2"/>
          <p:cNvSpPr txBox="1"/>
          <p:nvPr/>
        </p:nvSpPr>
        <p:spPr>
          <a:xfrm>
            <a:off x="603504" y="3455991"/>
            <a:ext cx="3381146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Falta de actualización de Metodología y matriz de riesgo LA/FT/FPADM Clientes o asociados</a:t>
            </a:r>
            <a:endParaRPr lang="en-US" sz="1050" dirty="0"/>
          </a:p>
        </p:txBody>
      </p:sp>
      <p:sp>
        <p:nvSpPr>
          <p:cNvPr id="28" name="Comentario B.2"/>
          <p:cNvSpPr txBox="1"/>
          <p:nvPr/>
        </p:nvSpPr>
        <p:spPr>
          <a:xfrm>
            <a:off x="603504" y="3901761"/>
            <a:ext cx="3381146" cy="276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950" b="1" dirty="0">
                <a:solidFill>
                  <a:schemeClr val="accent6"/>
                </a:solidFill>
              </a:rPr>
              <a:t>Pendiente</a:t>
            </a:r>
            <a:endParaRPr lang="en-US" sz="950" dirty="0"/>
          </a:p>
        </p:txBody>
      </p:sp>
      <p:sp>
        <p:nvSpPr>
          <p:cNvPr id="29" name="Obs B.3"/>
          <p:cNvSpPr/>
          <p:nvPr/>
        </p:nvSpPr>
        <p:spPr>
          <a:xfrm>
            <a:off x="4258970" y="2797623"/>
            <a:ext cx="3673754" cy="1435167"/>
          </a:xfrm>
          <a:prstGeom prst="roundRect">
            <a:avLst>
              <a:gd name="adj" fmla="val 6371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0" name="Número B.3 círculo"/>
          <p:cNvSpPr/>
          <p:nvPr/>
        </p:nvSpPr>
        <p:spPr>
          <a:xfrm>
            <a:off x="4368698" y="2907351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1" name="Número B.3"/>
          <p:cNvSpPr txBox="1"/>
          <p:nvPr/>
        </p:nvSpPr>
        <p:spPr>
          <a:xfrm>
            <a:off x="4368698" y="290735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B.3</a:t>
            </a:r>
            <a:endParaRPr lang="en-US" sz="1100" dirty="0"/>
          </a:p>
        </p:txBody>
      </p:sp>
      <p:sp>
        <p:nvSpPr>
          <p:cNvPr id="32" name="Responsable B.3"/>
          <p:cNvSpPr txBox="1"/>
          <p:nvPr/>
        </p:nvSpPr>
        <p:spPr>
          <a:xfrm>
            <a:off x="4917338" y="2870775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</p:txBody>
      </p:sp>
      <p:sp>
        <p:nvSpPr>
          <p:cNvPr id="33" name="Título B.3"/>
          <p:cNvSpPr txBox="1"/>
          <p:nvPr/>
        </p:nvSpPr>
        <p:spPr>
          <a:xfrm>
            <a:off x="4405274" y="3455991"/>
            <a:ext cx="3381146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Falta de automatización en el proceso de remisión de reportería regulada a la Web Service de UIF.</a:t>
            </a:r>
            <a:endParaRPr lang="en-US" sz="1050" dirty="0"/>
          </a:p>
        </p:txBody>
      </p:sp>
      <p:sp>
        <p:nvSpPr>
          <p:cNvPr id="34" name="Comentario B.3"/>
          <p:cNvSpPr txBox="1"/>
          <p:nvPr/>
        </p:nvSpPr>
        <p:spPr>
          <a:xfrm>
            <a:off x="4405274" y="3901761"/>
            <a:ext cx="3381146" cy="276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950" b="1" dirty="0">
                <a:solidFill>
                  <a:schemeClr val="accent6"/>
                </a:solidFill>
              </a:rPr>
              <a:t>Pendiente</a:t>
            </a:r>
            <a:endParaRPr lang="en-US" sz="950" dirty="0"/>
          </a:p>
        </p:txBody>
      </p:sp>
      <p:sp>
        <p:nvSpPr>
          <p:cNvPr id="35" name="Obs B.4"/>
          <p:cNvSpPr/>
          <p:nvPr/>
        </p:nvSpPr>
        <p:spPr>
          <a:xfrm>
            <a:off x="8060741" y="2797623"/>
            <a:ext cx="3673754" cy="1435167"/>
          </a:xfrm>
          <a:prstGeom prst="roundRect">
            <a:avLst>
              <a:gd name="adj" fmla="val 6371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6" name="Número B.4 círculo"/>
          <p:cNvSpPr/>
          <p:nvPr/>
        </p:nvSpPr>
        <p:spPr>
          <a:xfrm>
            <a:off x="8170469" y="2907351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7" name="Número B.4"/>
          <p:cNvSpPr txBox="1"/>
          <p:nvPr/>
        </p:nvSpPr>
        <p:spPr>
          <a:xfrm>
            <a:off x="8170469" y="290735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B.4</a:t>
            </a:r>
            <a:endParaRPr lang="en-US" sz="1100" dirty="0"/>
          </a:p>
        </p:txBody>
      </p:sp>
      <p:sp>
        <p:nvSpPr>
          <p:cNvPr id="38" name="Responsable B.4"/>
          <p:cNvSpPr txBox="1"/>
          <p:nvPr/>
        </p:nvSpPr>
        <p:spPr>
          <a:xfrm>
            <a:off x="8719109" y="2870775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</p:txBody>
      </p:sp>
      <p:sp>
        <p:nvSpPr>
          <p:cNvPr id="39" name="Título B.4"/>
          <p:cNvSpPr txBox="1"/>
          <p:nvPr/>
        </p:nvSpPr>
        <p:spPr>
          <a:xfrm>
            <a:off x="8207045" y="3455991"/>
            <a:ext cx="3381146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Falta de Automatización de la herramienta de validación de Listas de Cautela</a:t>
            </a:r>
            <a:endParaRPr lang="en-US" sz="1050" dirty="0"/>
          </a:p>
        </p:txBody>
      </p:sp>
      <p:sp>
        <p:nvSpPr>
          <p:cNvPr id="40" name="Comentario B.4"/>
          <p:cNvSpPr txBox="1"/>
          <p:nvPr/>
        </p:nvSpPr>
        <p:spPr>
          <a:xfrm>
            <a:off x="8207045" y="3901761"/>
            <a:ext cx="3381146" cy="276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950" b="1" dirty="0">
                <a:solidFill>
                  <a:schemeClr val="accent6"/>
                </a:solidFill>
              </a:rPr>
              <a:t>Pendiente</a:t>
            </a:r>
            <a:endParaRPr lang="en-US" sz="950" dirty="0"/>
          </a:p>
        </p:txBody>
      </p:sp>
      <p:sp>
        <p:nvSpPr>
          <p:cNvPr id="41" name="Obs B.5"/>
          <p:cNvSpPr/>
          <p:nvPr/>
        </p:nvSpPr>
        <p:spPr>
          <a:xfrm>
            <a:off x="457200" y="4360806"/>
            <a:ext cx="3673754" cy="2039994"/>
          </a:xfrm>
          <a:prstGeom prst="roundRect">
            <a:avLst>
              <a:gd name="adj" fmla="val 4482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2" name="Número B.5 círculo"/>
          <p:cNvSpPr/>
          <p:nvPr/>
        </p:nvSpPr>
        <p:spPr>
          <a:xfrm>
            <a:off x="566928" y="4470534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3" name="Número B.5"/>
          <p:cNvSpPr txBox="1"/>
          <p:nvPr/>
        </p:nvSpPr>
        <p:spPr>
          <a:xfrm>
            <a:off x="566928" y="447053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B.5</a:t>
            </a:r>
            <a:endParaRPr lang="en-US" sz="1100" dirty="0"/>
          </a:p>
        </p:txBody>
      </p:sp>
      <p:sp>
        <p:nvSpPr>
          <p:cNvPr id="44" name="Responsable B.5"/>
          <p:cNvSpPr txBox="1"/>
          <p:nvPr/>
        </p:nvSpPr>
        <p:spPr>
          <a:xfrm>
            <a:off x="1115568" y="4433958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</p:txBody>
      </p:sp>
      <p:sp>
        <p:nvSpPr>
          <p:cNvPr id="45" name="Título B.5"/>
          <p:cNvSpPr txBox="1"/>
          <p:nvPr/>
        </p:nvSpPr>
        <p:spPr>
          <a:xfrm>
            <a:off x="603504" y="5019174"/>
            <a:ext cx="3381146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Falta de evidencia en los porcentajes de avance comunicados en el cronograma</a:t>
            </a:r>
            <a:endParaRPr lang="en-US" sz="1050" dirty="0"/>
          </a:p>
        </p:txBody>
      </p:sp>
      <p:sp>
        <p:nvSpPr>
          <p:cNvPr id="46" name="Comentario B.5"/>
          <p:cNvSpPr txBox="1"/>
          <p:nvPr/>
        </p:nvSpPr>
        <p:spPr>
          <a:xfrm>
            <a:off x="603504" y="5464944"/>
            <a:ext cx="3381146" cy="880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950" b="1" dirty="0">
                <a:solidFill>
                  <a:schemeClr val="accent6"/>
                </a:solidFill>
              </a:rPr>
              <a:t>Pendiente</a:t>
            </a:r>
            <a:endParaRPr lang="en-US" sz="950" dirty="0"/>
          </a:p>
        </p:txBody>
      </p:sp>
      <p:sp>
        <p:nvSpPr>
          <p:cNvPr id="47" name="Obs B.6"/>
          <p:cNvSpPr/>
          <p:nvPr/>
        </p:nvSpPr>
        <p:spPr>
          <a:xfrm>
            <a:off x="4258970" y="4360806"/>
            <a:ext cx="3673754" cy="2039994"/>
          </a:xfrm>
          <a:prstGeom prst="roundRect">
            <a:avLst>
              <a:gd name="adj" fmla="val 4482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8" name="Número B.6 círculo"/>
          <p:cNvSpPr/>
          <p:nvPr/>
        </p:nvSpPr>
        <p:spPr>
          <a:xfrm>
            <a:off x="4368698" y="4470534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9" name="Número B.6"/>
          <p:cNvSpPr txBox="1"/>
          <p:nvPr/>
        </p:nvSpPr>
        <p:spPr>
          <a:xfrm>
            <a:off x="4368698" y="447053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B.6</a:t>
            </a:r>
            <a:endParaRPr lang="en-US" sz="1100" dirty="0"/>
          </a:p>
        </p:txBody>
      </p:sp>
      <p:sp>
        <p:nvSpPr>
          <p:cNvPr id="50" name="Responsable B.6"/>
          <p:cNvSpPr txBox="1"/>
          <p:nvPr/>
        </p:nvSpPr>
        <p:spPr>
          <a:xfrm>
            <a:off x="4917338" y="4433958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Jefe de Riesgos</a:t>
            </a:r>
            <a:endParaRPr lang="en-US" sz="1200" dirty="0"/>
          </a:p>
        </p:txBody>
      </p:sp>
      <p:sp>
        <p:nvSpPr>
          <p:cNvPr id="51" name="Título B.6"/>
          <p:cNvSpPr txBox="1"/>
          <p:nvPr/>
        </p:nvSpPr>
        <p:spPr>
          <a:xfrm>
            <a:off x="4405274" y="5019174"/>
            <a:ext cx="3381146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Revisión documentación conforme artículo22 de la NRP-23</a:t>
            </a:r>
            <a:endParaRPr lang="en-US" sz="1050" dirty="0"/>
          </a:p>
        </p:txBody>
      </p:sp>
      <p:sp>
        <p:nvSpPr>
          <p:cNvPr id="52" name="Comentario B.6"/>
          <p:cNvSpPr txBox="1"/>
          <p:nvPr/>
        </p:nvSpPr>
        <p:spPr>
          <a:xfrm>
            <a:off x="4405274" y="5464944"/>
            <a:ext cx="3381146" cy="880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Se anexa informe elaborado en fecha 13 de diciembre de 2024, sobre proyecto de implementación de un nuevo sistema de monitoreo de LDA/FT/FPADM y del sistema de fraude de canales digitales.</a:t>
            </a:r>
            <a:endParaRPr lang="en-US" sz="950" dirty="0"/>
          </a:p>
        </p:txBody>
      </p:sp>
      <p:sp>
        <p:nvSpPr>
          <p:cNvPr id="53" name="Obs B.7"/>
          <p:cNvSpPr/>
          <p:nvPr/>
        </p:nvSpPr>
        <p:spPr>
          <a:xfrm>
            <a:off x="8060741" y="4360806"/>
            <a:ext cx="3673754" cy="2039994"/>
          </a:xfrm>
          <a:prstGeom prst="roundRect">
            <a:avLst>
              <a:gd name="adj" fmla="val 4482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54" name="Número B.7 círculo"/>
          <p:cNvSpPr/>
          <p:nvPr/>
        </p:nvSpPr>
        <p:spPr>
          <a:xfrm>
            <a:off x="8170469" y="4470534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5" name="Número B.7"/>
          <p:cNvSpPr txBox="1"/>
          <p:nvPr/>
        </p:nvSpPr>
        <p:spPr>
          <a:xfrm>
            <a:off x="8170469" y="447053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B.7</a:t>
            </a:r>
            <a:endParaRPr lang="en-US" sz="1100" dirty="0"/>
          </a:p>
        </p:txBody>
      </p:sp>
      <p:sp>
        <p:nvSpPr>
          <p:cNvPr id="56" name="Responsable B.7"/>
          <p:cNvSpPr txBox="1"/>
          <p:nvPr/>
        </p:nvSpPr>
        <p:spPr>
          <a:xfrm>
            <a:off x="8719109" y="4433958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/ Gerencia Legal</a:t>
            </a:r>
            <a:endParaRPr lang="en-US" sz="1200" dirty="0"/>
          </a:p>
        </p:txBody>
      </p:sp>
      <p:sp>
        <p:nvSpPr>
          <p:cNvPr id="57" name="Título B.7"/>
          <p:cNvSpPr txBox="1"/>
          <p:nvPr/>
        </p:nvSpPr>
        <p:spPr>
          <a:xfrm>
            <a:off x="8207045" y="5019174"/>
            <a:ext cx="3381146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Debilidades en el contrato del servicio de software</a:t>
            </a:r>
            <a:endParaRPr lang="en-US" sz="1050" dirty="0"/>
          </a:p>
        </p:txBody>
      </p:sp>
      <p:sp>
        <p:nvSpPr>
          <p:cNvPr id="58" name="Comentario B.7"/>
          <p:cNvSpPr txBox="1"/>
          <p:nvPr/>
        </p:nvSpPr>
        <p:spPr>
          <a:xfrm>
            <a:off x="8207045" y="5464944"/>
            <a:ext cx="3381146" cy="880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Se adjuntará la propuesta de la Gerencia Legal por medio de correo de fecha 09 de octubre 2026, envió propuesta a la Gerencia de Cumplimiento y Seguridad de la Información para la modificación del contrato. Pendiente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51052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457200" y="29260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chemeClr val="accent5"/>
                </a:solidFill>
              </a:rPr>
              <a:t>CIRCULAR DS-SABAO-BCS-BC-23486 · OBSERVACIONES NUEVAS</a:t>
            </a:r>
            <a:endParaRPr lang="en-US" sz="1050" dirty="0"/>
          </a:p>
        </p:txBody>
      </p:sp>
      <p:sp>
        <p:nvSpPr>
          <p:cNvPr id="3" name="Título"/>
          <p:cNvSpPr txBox="1"/>
          <p:nvPr/>
        </p:nvSpPr>
        <p:spPr>
          <a:xfrm>
            <a:off x="457200" y="5486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 Herramienta de Monitoreo (continuación)</a:t>
            </a:r>
            <a:endParaRPr lang="en-US" sz="2800" dirty="0"/>
          </a:p>
        </p:txBody>
      </p:sp>
      <p:pic>
        <p:nvPicPr>
          <p:cNvPr id="4" name="Logo COMEDICA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256032"/>
            <a:ext cx="1828800" cy="561399"/>
          </a:xfrm>
          <a:prstGeom prst="rect">
            <a:avLst/>
          </a:prstGeom>
        </p:spPr>
      </p:pic>
      <p:sp>
        <p:nvSpPr>
          <p:cNvPr id="5" name="Obs B.8"/>
          <p:cNvSpPr/>
          <p:nvPr/>
        </p:nvSpPr>
        <p:spPr>
          <a:xfrm>
            <a:off x="457200" y="1234440"/>
            <a:ext cx="2723312" cy="2275096"/>
          </a:xfrm>
          <a:prstGeom prst="roundRect">
            <a:avLst>
              <a:gd name="adj" fmla="val 401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6" name="Número B.8 círculo"/>
          <p:cNvSpPr/>
          <p:nvPr/>
        </p:nvSpPr>
        <p:spPr>
          <a:xfrm>
            <a:off x="566928" y="134416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7" name="Número B.8"/>
          <p:cNvSpPr txBox="1"/>
          <p:nvPr/>
        </p:nvSpPr>
        <p:spPr>
          <a:xfrm>
            <a:off x="566928" y="1344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B.8</a:t>
            </a:r>
            <a:endParaRPr lang="en-US" sz="1100" dirty="0"/>
          </a:p>
        </p:txBody>
      </p:sp>
      <p:sp>
        <p:nvSpPr>
          <p:cNvPr id="8" name="Responsable B.8"/>
          <p:cNvSpPr txBox="1"/>
          <p:nvPr/>
        </p:nvSpPr>
        <p:spPr>
          <a:xfrm>
            <a:off x="1115568" y="1307592"/>
            <a:ext cx="1955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Administración de Riesgos/Gerencia de sistemas/Seguridad de la información</a:t>
            </a:r>
            <a:endParaRPr lang="en-US" sz="1200" dirty="0"/>
          </a:p>
        </p:txBody>
      </p:sp>
      <p:sp>
        <p:nvSpPr>
          <p:cNvPr id="9" name="Título B.8"/>
          <p:cNvSpPr txBox="1"/>
          <p:nvPr/>
        </p:nvSpPr>
        <p:spPr>
          <a:xfrm>
            <a:off x="603504" y="1892808"/>
            <a:ext cx="2430704" cy="31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75" b="1" dirty="0">
                <a:solidFill>
                  <a:schemeClr val="accent1"/>
                </a:solidFill>
              </a:rPr>
              <a:t>Debilidad en el Alcance de las Pruebas Continuidad del Negocio</a:t>
            </a:r>
            <a:endParaRPr lang="en-US" sz="875" dirty="0"/>
          </a:p>
        </p:txBody>
      </p:sp>
      <p:sp>
        <p:nvSpPr>
          <p:cNvPr id="10" name="Comentario B.8"/>
          <p:cNvSpPr txBox="1"/>
          <p:nvPr/>
        </p:nvSpPr>
        <p:spPr>
          <a:xfrm>
            <a:off x="603504" y="2282571"/>
            <a:ext cx="2430704" cy="1172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775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775" dirty="0">
                <a:solidFill>
                  <a:schemeClr val="tx1"/>
                </a:solidFill>
              </a:rPr>
              <a:t>Plan de acción: proveedor critico Pendiente Se identificarán los servicios tecnológicos tercerizados críticos y se incorporarán en el alcance de las pruebas de continuidad del negocio. Asimismo, se solicitarán a los proveedores los resultados y evidencias de las pruebas realizadas, con el fin de validar la efectividad de los controles implementados.</a:t>
            </a:r>
            <a:endParaRPr lang="en-US" sz="775" dirty="0"/>
          </a:p>
        </p:txBody>
      </p:sp>
      <p:sp>
        <p:nvSpPr>
          <p:cNvPr id="11" name="Obs B.9"/>
          <p:cNvSpPr/>
          <p:nvPr/>
        </p:nvSpPr>
        <p:spPr>
          <a:xfrm>
            <a:off x="3308528" y="1234440"/>
            <a:ext cx="2723312" cy="2275096"/>
          </a:xfrm>
          <a:prstGeom prst="roundRect">
            <a:avLst>
              <a:gd name="adj" fmla="val 401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2" name="Número B.9 círculo"/>
          <p:cNvSpPr/>
          <p:nvPr/>
        </p:nvSpPr>
        <p:spPr>
          <a:xfrm>
            <a:off x="3418256" y="134416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3" name="Número B.9"/>
          <p:cNvSpPr txBox="1"/>
          <p:nvPr/>
        </p:nvSpPr>
        <p:spPr>
          <a:xfrm>
            <a:off x="3418256" y="1344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B.9</a:t>
            </a:r>
            <a:endParaRPr lang="en-US" sz="1100" dirty="0"/>
          </a:p>
        </p:txBody>
      </p:sp>
      <p:sp>
        <p:nvSpPr>
          <p:cNvPr id="14" name="Responsable B.9"/>
          <p:cNvSpPr txBox="1"/>
          <p:nvPr/>
        </p:nvSpPr>
        <p:spPr>
          <a:xfrm>
            <a:off x="3966896" y="1307592"/>
            <a:ext cx="1955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/ Gerencia de Sistemas</a:t>
            </a:r>
            <a:endParaRPr lang="en-US" sz="1200" dirty="0"/>
          </a:p>
        </p:txBody>
      </p:sp>
      <p:sp>
        <p:nvSpPr>
          <p:cNvPr id="15" name="Título B.9"/>
          <p:cNvSpPr txBox="1"/>
          <p:nvPr/>
        </p:nvSpPr>
        <p:spPr>
          <a:xfrm>
            <a:off x="3454832" y="1892808"/>
            <a:ext cx="2430704" cy="31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75" b="1" dirty="0">
                <a:solidFill>
                  <a:schemeClr val="accent1"/>
                </a:solidFill>
              </a:rPr>
              <a:t>Deficiencia en los procedimientos de Respaldos.</a:t>
            </a:r>
            <a:endParaRPr lang="en-US" sz="875" dirty="0"/>
          </a:p>
        </p:txBody>
      </p:sp>
      <p:sp>
        <p:nvSpPr>
          <p:cNvPr id="16" name="Comentario B.9"/>
          <p:cNvSpPr txBox="1"/>
          <p:nvPr/>
        </p:nvSpPr>
        <p:spPr>
          <a:xfrm>
            <a:off x="3454832" y="2282571"/>
            <a:ext cx="2430704" cy="1172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775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775" dirty="0">
                <a:solidFill>
                  <a:schemeClr val="tx1"/>
                </a:solidFill>
              </a:rPr>
              <a:t>Plan de acción Pendiente</a:t>
            </a:r>
            <a:endParaRPr lang="en-US" sz="775" dirty="0"/>
          </a:p>
        </p:txBody>
      </p:sp>
      <p:sp>
        <p:nvSpPr>
          <p:cNvPr id="17" name="Obs B.10"/>
          <p:cNvSpPr/>
          <p:nvPr/>
        </p:nvSpPr>
        <p:spPr>
          <a:xfrm>
            <a:off x="6159856" y="1234440"/>
            <a:ext cx="2723312" cy="2275096"/>
          </a:xfrm>
          <a:prstGeom prst="roundRect">
            <a:avLst>
              <a:gd name="adj" fmla="val 401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8" name="Número B.10 círculo"/>
          <p:cNvSpPr/>
          <p:nvPr/>
        </p:nvSpPr>
        <p:spPr>
          <a:xfrm>
            <a:off x="6269584" y="134416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9" name="Número B.10"/>
          <p:cNvSpPr txBox="1"/>
          <p:nvPr/>
        </p:nvSpPr>
        <p:spPr>
          <a:xfrm>
            <a:off x="6269584" y="1344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B.10</a:t>
            </a:r>
            <a:endParaRPr lang="en-US" sz="1100" dirty="0"/>
          </a:p>
        </p:txBody>
      </p:sp>
      <p:sp>
        <p:nvSpPr>
          <p:cNvPr id="20" name="Responsable B.10"/>
          <p:cNvSpPr txBox="1"/>
          <p:nvPr/>
        </p:nvSpPr>
        <p:spPr>
          <a:xfrm>
            <a:off x="6818224" y="1307592"/>
            <a:ext cx="1955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</p:txBody>
      </p:sp>
      <p:sp>
        <p:nvSpPr>
          <p:cNvPr id="21" name="Título B.10"/>
          <p:cNvSpPr txBox="1"/>
          <p:nvPr/>
        </p:nvSpPr>
        <p:spPr>
          <a:xfrm>
            <a:off x="6306160" y="1892808"/>
            <a:ext cx="2430704" cy="31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75" b="1" dirty="0">
                <a:solidFill>
                  <a:schemeClr val="accent1"/>
                </a:solidFill>
              </a:rPr>
              <a:t>Deficiencia en la hora del sistema y la herramienta de Monitoreo</a:t>
            </a:r>
            <a:endParaRPr lang="en-US" sz="875" dirty="0"/>
          </a:p>
        </p:txBody>
      </p:sp>
      <p:sp>
        <p:nvSpPr>
          <p:cNvPr id="22" name="Comentario B.10"/>
          <p:cNvSpPr txBox="1"/>
          <p:nvPr/>
        </p:nvSpPr>
        <p:spPr>
          <a:xfrm>
            <a:off x="6306160" y="2282571"/>
            <a:ext cx="2430704" cy="1172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775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775" dirty="0">
                <a:solidFill>
                  <a:schemeClr val="tx1"/>
                </a:solidFill>
              </a:rPr>
              <a:t>Descargo correos de gestión Pendiente</a:t>
            </a:r>
            <a:endParaRPr lang="en-US" sz="775" dirty="0"/>
          </a:p>
        </p:txBody>
      </p:sp>
      <p:sp>
        <p:nvSpPr>
          <p:cNvPr id="23" name="Obs B.11"/>
          <p:cNvSpPr/>
          <p:nvPr/>
        </p:nvSpPr>
        <p:spPr>
          <a:xfrm>
            <a:off x="9011183" y="1234440"/>
            <a:ext cx="2723312" cy="2275096"/>
          </a:xfrm>
          <a:prstGeom prst="roundRect">
            <a:avLst>
              <a:gd name="adj" fmla="val 401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4" name="Número B.11 círculo"/>
          <p:cNvSpPr/>
          <p:nvPr/>
        </p:nvSpPr>
        <p:spPr>
          <a:xfrm>
            <a:off x="9120911" y="134416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5" name="Número B.11"/>
          <p:cNvSpPr txBox="1"/>
          <p:nvPr/>
        </p:nvSpPr>
        <p:spPr>
          <a:xfrm>
            <a:off x="9120911" y="1344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B.11</a:t>
            </a:r>
            <a:endParaRPr lang="en-US" sz="1100" dirty="0"/>
          </a:p>
        </p:txBody>
      </p:sp>
      <p:sp>
        <p:nvSpPr>
          <p:cNvPr id="26" name="Responsable B.11"/>
          <p:cNvSpPr txBox="1"/>
          <p:nvPr/>
        </p:nvSpPr>
        <p:spPr>
          <a:xfrm>
            <a:off x="9669551" y="1307592"/>
            <a:ext cx="1955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</p:txBody>
      </p:sp>
      <p:sp>
        <p:nvSpPr>
          <p:cNvPr id="27" name="Título B.11"/>
          <p:cNvSpPr txBox="1"/>
          <p:nvPr/>
        </p:nvSpPr>
        <p:spPr>
          <a:xfrm>
            <a:off x="9157487" y="1892808"/>
            <a:ext cx="2430704" cy="176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75" b="1" dirty="0">
                <a:solidFill>
                  <a:schemeClr val="accent1"/>
                </a:solidFill>
              </a:rPr>
              <a:t>Verificación de las condiciones en ACRM</a:t>
            </a:r>
            <a:endParaRPr lang="en-US" sz="875" dirty="0"/>
          </a:p>
        </p:txBody>
      </p:sp>
      <p:sp>
        <p:nvSpPr>
          <p:cNvPr id="28" name="Comentario B.11"/>
          <p:cNvSpPr txBox="1"/>
          <p:nvPr/>
        </p:nvSpPr>
        <p:spPr>
          <a:xfrm>
            <a:off x="9157487" y="2142554"/>
            <a:ext cx="2430704" cy="1312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775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775" b="1" dirty="0">
                <a:solidFill>
                  <a:schemeClr val="accent6"/>
                </a:solidFill>
              </a:rPr>
              <a:t>Pendiente</a:t>
            </a:r>
            <a:endParaRPr lang="en-US" sz="775" dirty="0"/>
          </a:p>
        </p:txBody>
      </p:sp>
      <p:sp>
        <p:nvSpPr>
          <p:cNvPr id="29" name="Obs B.12"/>
          <p:cNvSpPr/>
          <p:nvPr/>
        </p:nvSpPr>
        <p:spPr>
          <a:xfrm>
            <a:off x="457200" y="3637552"/>
            <a:ext cx="2723312" cy="2763248"/>
          </a:xfrm>
          <a:prstGeom prst="roundRect">
            <a:avLst>
              <a:gd name="adj" fmla="val 3358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0" name="Número B.12 círculo"/>
          <p:cNvSpPr/>
          <p:nvPr/>
        </p:nvSpPr>
        <p:spPr>
          <a:xfrm>
            <a:off x="566928" y="37472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1" name="Número B.12"/>
          <p:cNvSpPr txBox="1"/>
          <p:nvPr/>
        </p:nvSpPr>
        <p:spPr>
          <a:xfrm>
            <a:off x="566928" y="374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B.12</a:t>
            </a:r>
            <a:endParaRPr lang="en-US" sz="1100" dirty="0"/>
          </a:p>
        </p:txBody>
      </p:sp>
      <p:sp>
        <p:nvSpPr>
          <p:cNvPr id="32" name="Responsable B.12"/>
          <p:cNvSpPr txBox="1"/>
          <p:nvPr/>
        </p:nvSpPr>
        <p:spPr>
          <a:xfrm>
            <a:off x="1115568" y="3710704"/>
            <a:ext cx="1955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/ Seguridad de la información</a:t>
            </a:r>
            <a:endParaRPr lang="en-US" sz="1200" dirty="0"/>
          </a:p>
        </p:txBody>
      </p:sp>
      <p:sp>
        <p:nvSpPr>
          <p:cNvPr id="33" name="Título B.12"/>
          <p:cNvSpPr txBox="1"/>
          <p:nvPr/>
        </p:nvSpPr>
        <p:spPr>
          <a:xfrm>
            <a:off x="603504" y="4295920"/>
            <a:ext cx="2430704" cy="456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75" b="1" dirty="0">
                <a:solidFill>
                  <a:schemeClr val="accent1"/>
                </a:solidFill>
              </a:rPr>
              <a:t>Limitante de Accesos a los Datos de COMEDICA, alojada en la Herramienta de Monitoreo.</a:t>
            </a:r>
            <a:endParaRPr lang="en-US" sz="875" dirty="0"/>
          </a:p>
        </p:txBody>
      </p:sp>
      <p:sp>
        <p:nvSpPr>
          <p:cNvPr id="34" name="Comentario B.12"/>
          <p:cNvSpPr txBox="1"/>
          <p:nvPr/>
        </p:nvSpPr>
        <p:spPr>
          <a:xfrm>
            <a:off x="603504" y="4825700"/>
            <a:ext cx="2430704" cy="1520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775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775" b="1" dirty="0">
                <a:solidFill>
                  <a:schemeClr val="accent6"/>
                </a:solidFill>
              </a:rPr>
              <a:t>Pendiente</a:t>
            </a:r>
            <a:endParaRPr lang="en-US" sz="775" dirty="0"/>
          </a:p>
        </p:txBody>
      </p:sp>
      <p:sp>
        <p:nvSpPr>
          <p:cNvPr id="35" name="Obs B.13"/>
          <p:cNvSpPr/>
          <p:nvPr/>
        </p:nvSpPr>
        <p:spPr>
          <a:xfrm>
            <a:off x="3308528" y="3637552"/>
            <a:ext cx="2723312" cy="2763248"/>
          </a:xfrm>
          <a:prstGeom prst="roundRect">
            <a:avLst>
              <a:gd name="adj" fmla="val 3358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6" name="Número B.13 círculo"/>
          <p:cNvSpPr/>
          <p:nvPr/>
        </p:nvSpPr>
        <p:spPr>
          <a:xfrm>
            <a:off x="3418256" y="37472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7" name="Número B.13"/>
          <p:cNvSpPr txBox="1"/>
          <p:nvPr/>
        </p:nvSpPr>
        <p:spPr>
          <a:xfrm>
            <a:off x="3418256" y="374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B.13</a:t>
            </a:r>
            <a:endParaRPr lang="en-US" sz="1100" dirty="0"/>
          </a:p>
        </p:txBody>
      </p:sp>
      <p:sp>
        <p:nvSpPr>
          <p:cNvPr id="38" name="Responsable B.13"/>
          <p:cNvSpPr txBox="1"/>
          <p:nvPr/>
        </p:nvSpPr>
        <p:spPr>
          <a:xfrm>
            <a:off x="3966896" y="3710704"/>
            <a:ext cx="1955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/ Seguridad de la información</a:t>
            </a:r>
            <a:endParaRPr lang="en-US" sz="1200" dirty="0"/>
          </a:p>
        </p:txBody>
      </p:sp>
      <p:sp>
        <p:nvSpPr>
          <p:cNvPr id="39" name="Título B.13"/>
          <p:cNvSpPr txBox="1"/>
          <p:nvPr/>
        </p:nvSpPr>
        <p:spPr>
          <a:xfrm>
            <a:off x="3454832" y="4295920"/>
            <a:ext cx="2430704" cy="31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75" b="1" dirty="0">
                <a:solidFill>
                  <a:schemeClr val="accent1"/>
                </a:solidFill>
              </a:rPr>
              <a:t>Limitante para identificar la base de datos de CRM</a:t>
            </a:r>
            <a:endParaRPr lang="en-US" sz="875" dirty="0"/>
          </a:p>
        </p:txBody>
      </p:sp>
      <p:sp>
        <p:nvSpPr>
          <p:cNvPr id="40" name="Comentario B.13"/>
          <p:cNvSpPr txBox="1"/>
          <p:nvPr/>
        </p:nvSpPr>
        <p:spPr>
          <a:xfrm>
            <a:off x="3454832" y="4685683"/>
            <a:ext cx="2430704" cy="16602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775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775" b="1" dirty="0">
                <a:solidFill>
                  <a:schemeClr val="accent6"/>
                </a:solidFill>
              </a:rPr>
              <a:t>Pendiente</a:t>
            </a:r>
            <a:endParaRPr lang="en-US" sz="775" dirty="0"/>
          </a:p>
        </p:txBody>
      </p:sp>
      <p:sp>
        <p:nvSpPr>
          <p:cNvPr id="41" name="Obs B.14"/>
          <p:cNvSpPr/>
          <p:nvPr/>
        </p:nvSpPr>
        <p:spPr>
          <a:xfrm>
            <a:off x="6159856" y="3637552"/>
            <a:ext cx="2723312" cy="2763248"/>
          </a:xfrm>
          <a:prstGeom prst="roundRect">
            <a:avLst>
              <a:gd name="adj" fmla="val 3358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2" name="Número B.14 círculo"/>
          <p:cNvSpPr/>
          <p:nvPr/>
        </p:nvSpPr>
        <p:spPr>
          <a:xfrm>
            <a:off x="6269584" y="37472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3" name="Número B.14"/>
          <p:cNvSpPr txBox="1"/>
          <p:nvPr/>
        </p:nvSpPr>
        <p:spPr>
          <a:xfrm>
            <a:off x="6269584" y="374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B.14</a:t>
            </a:r>
            <a:endParaRPr lang="en-US" sz="1100" dirty="0"/>
          </a:p>
        </p:txBody>
      </p:sp>
      <p:sp>
        <p:nvSpPr>
          <p:cNvPr id="44" name="Responsable B.14"/>
          <p:cNvSpPr txBox="1"/>
          <p:nvPr/>
        </p:nvSpPr>
        <p:spPr>
          <a:xfrm>
            <a:off x="6818224" y="3710704"/>
            <a:ext cx="1955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/Seguridad de la Información</a:t>
            </a:r>
            <a:endParaRPr lang="en-US" sz="1200" dirty="0"/>
          </a:p>
        </p:txBody>
      </p:sp>
      <p:sp>
        <p:nvSpPr>
          <p:cNvPr id="45" name="Título B.14"/>
          <p:cNvSpPr txBox="1"/>
          <p:nvPr/>
        </p:nvSpPr>
        <p:spPr>
          <a:xfrm>
            <a:off x="6306160" y="4295920"/>
            <a:ext cx="2430704" cy="596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75" b="1" dirty="0">
                <a:solidFill>
                  <a:schemeClr val="accent1"/>
                </a:solidFill>
              </a:rPr>
              <a:t>Falta de documentación que dé cumplimiento a lo requerido por el artículo 22 de la NRP-23 correspondiente a la adquisición del sistema CRM.</a:t>
            </a:r>
            <a:endParaRPr lang="en-US" sz="875" dirty="0"/>
          </a:p>
        </p:txBody>
      </p:sp>
      <p:sp>
        <p:nvSpPr>
          <p:cNvPr id="46" name="Comentario B.14"/>
          <p:cNvSpPr txBox="1"/>
          <p:nvPr/>
        </p:nvSpPr>
        <p:spPr>
          <a:xfrm>
            <a:off x="6306160" y="4965718"/>
            <a:ext cx="2430704" cy="1380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775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775" b="1" dirty="0">
                <a:solidFill>
                  <a:schemeClr val="accent6"/>
                </a:solidFill>
              </a:rPr>
              <a:t>Pendiente</a:t>
            </a:r>
            <a:endParaRPr lang="en-US" sz="775" dirty="0"/>
          </a:p>
        </p:txBody>
      </p:sp>
      <p:sp>
        <p:nvSpPr>
          <p:cNvPr id="47" name="Obs B.15"/>
          <p:cNvSpPr/>
          <p:nvPr/>
        </p:nvSpPr>
        <p:spPr>
          <a:xfrm>
            <a:off x="9011183" y="3637552"/>
            <a:ext cx="2723312" cy="2763248"/>
          </a:xfrm>
          <a:prstGeom prst="roundRect">
            <a:avLst>
              <a:gd name="adj" fmla="val 3358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8" name="Número B.15 círculo"/>
          <p:cNvSpPr/>
          <p:nvPr/>
        </p:nvSpPr>
        <p:spPr>
          <a:xfrm>
            <a:off x="9120911" y="37472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9" name="Número B.15"/>
          <p:cNvSpPr txBox="1"/>
          <p:nvPr/>
        </p:nvSpPr>
        <p:spPr>
          <a:xfrm>
            <a:off x="9120911" y="374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B.15</a:t>
            </a:r>
            <a:endParaRPr lang="en-US" sz="1100" dirty="0"/>
          </a:p>
        </p:txBody>
      </p:sp>
      <p:sp>
        <p:nvSpPr>
          <p:cNvPr id="50" name="Responsable B.15"/>
          <p:cNvSpPr txBox="1"/>
          <p:nvPr/>
        </p:nvSpPr>
        <p:spPr>
          <a:xfrm>
            <a:off x="9669551" y="3710704"/>
            <a:ext cx="1955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Seguridad de la Información</a:t>
            </a:r>
            <a:endParaRPr lang="en-US" sz="1200" dirty="0"/>
          </a:p>
        </p:txBody>
      </p:sp>
      <p:sp>
        <p:nvSpPr>
          <p:cNvPr id="51" name="Título B.15"/>
          <p:cNvSpPr txBox="1"/>
          <p:nvPr/>
        </p:nvSpPr>
        <p:spPr>
          <a:xfrm>
            <a:off x="9157487" y="4295920"/>
            <a:ext cx="2430704" cy="176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75" b="1" dirty="0">
                <a:solidFill>
                  <a:schemeClr val="accent1"/>
                </a:solidFill>
              </a:rPr>
              <a:t>Servicios tercerizados</a:t>
            </a:r>
            <a:endParaRPr lang="en-US" sz="875" dirty="0"/>
          </a:p>
        </p:txBody>
      </p:sp>
      <p:sp>
        <p:nvSpPr>
          <p:cNvPr id="52" name="Comentario B.15"/>
          <p:cNvSpPr txBox="1"/>
          <p:nvPr/>
        </p:nvSpPr>
        <p:spPr>
          <a:xfrm>
            <a:off x="9157487" y="4545665"/>
            <a:ext cx="2430704" cy="1800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775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775" dirty="0">
                <a:solidFill>
                  <a:schemeClr val="tx1"/>
                </a:solidFill>
              </a:rPr>
              <a:t>Como parte del fortalecimiento de los controles de seguridad asociados al servicio tercerizado del módulo ACRM, la Unidad de Seguridad de la Información y Ciberseguridad realizará una reevaluación de los riesgos de seguridad de la información y ciberseguridad, mediante la actualización de la matriz de riesgos y la revisión de los controles existentes, con el propósito de identificar oportunidades de mejora y definir las medidas adicionales de tratamiento que correspondan, en coordinación con el área responsable de la solución el proveedor. Fecha de cumplimiento: 30 de noviembre de 2026.</a:t>
            </a:r>
            <a:endParaRPr lang="en-US" sz="77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51052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457200" y="29260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chemeClr val="accent5"/>
                </a:solidFill>
              </a:rPr>
              <a:t>CIRCULAR DS-SABAO-BCS-BC-23486 · SEGUIMIENTO A OBSERVACIONES DE VISITAS ANTERIORES</a:t>
            </a:r>
            <a:endParaRPr lang="en-US" sz="1050" dirty="0"/>
          </a:p>
        </p:txBody>
      </p:sp>
      <p:sp>
        <p:nvSpPr>
          <p:cNvPr id="3" name="Título"/>
          <p:cNvSpPr txBox="1"/>
          <p:nvPr/>
        </p:nvSpPr>
        <p:spPr>
          <a:xfrm>
            <a:off x="457200" y="5486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Seguimiento · Circulares 16572 y 18445</a:t>
            </a:r>
            <a:endParaRPr lang="en-US" sz="2800" dirty="0"/>
          </a:p>
        </p:txBody>
      </p:sp>
      <p:pic>
        <p:nvPicPr>
          <p:cNvPr id="4" name="Logo COMEDICA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256032"/>
            <a:ext cx="1828800" cy="561399"/>
          </a:xfrm>
          <a:prstGeom prst="rect">
            <a:avLst/>
          </a:prstGeom>
        </p:spPr>
      </p:pic>
      <p:sp>
        <p:nvSpPr>
          <p:cNvPr id="5" name="Seg 0"/>
          <p:cNvSpPr/>
          <p:nvPr/>
        </p:nvSpPr>
        <p:spPr>
          <a:xfrm>
            <a:off x="457200" y="1234440"/>
            <a:ext cx="3673754" cy="3291674"/>
          </a:xfrm>
          <a:prstGeom prst="roundRect">
            <a:avLst>
              <a:gd name="adj" fmla="val 2778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6" name="Circular 0 fondo"/>
          <p:cNvSpPr/>
          <p:nvPr/>
        </p:nvSpPr>
        <p:spPr>
          <a:xfrm>
            <a:off x="566928" y="1325880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7" name="Circular 0"/>
          <p:cNvSpPr txBox="1"/>
          <p:nvPr/>
        </p:nvSpPr>
        <p:spPr>
          <a:xfrm>
            <a:off x="566928" y="132588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Circular 16572 · C.1.1</a:t>
            </a:r>
            <a:endParaRPr lang="en-US" sz="850" dirty="0"/>
          </a:p>
        </p:txBody>
      </p:sp>
      <p:sp>
        <p:nvSpPr>
          <p:cNvPr id="8" name="Estado 0 fondo"/>
          <p:cNvSpPr/>
          <p:nvPr/>
        </p:nvSpPr>
        <p:spPr>
          <a:xfrm>
            <a:off x="2240280" y="1325880"/>
            <a:ext cx="1691640" cy="23774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9" name="Estado 0"/>
          <p:cNvSpPr txBox="1"/>
          <p:nvPr/>
        </p:nvSpPr>
        <p:spPr>
          <a:xfrm>
            <a:off x="2240280" y="13258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PARCIALMENTE SUPERADA</a:t>
            </a:r>
            <a:endParaRPr lang="en-US" sz="850" dirty="0"/>
          </a:p>
        </p:txBody>
      </p:sp>
      <p:sp>
        <p:nvSpPr>
          <p:cNvPr id="10" name="Obs 0"/>
          <p:cNvSpPr txBox="1"/>
          <p:nvPr/>
        </p:nvSpPr>
        <p:spPr>
          <a:xfrm>
            <a:off x="594360" y="1655064"/>
            <a:ext cx="3399434" cy="984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Observación 2: Falta de eficacia en la subsanación de observaciones determinadas por el Departamento de Auditoría Interna.</a:t>
            </a:r>
            <a:endParaRPr lang="en-US" sz="1200" dirty="0"/>
          </a:p>
          <a:p>
            <a:pPr algn="just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Seguimiento realizado en la presente visita de supervisión:</a:t>
            </a:r>
            <a:endParaRPr lang="en-US" sz="1200" dirty="0"/>
          </a:p>
          <a:p>
            <a:pPr algn="just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Comentarios COMEDICA: en el Plan de Auditoría interna 2026 se incluyó seguimientos trimestrales como actividad 44 para solventar la observación.</a:t>
            </a:r>
            <a:endParaRPr lang="en-US" sz="1200" dirty="0"/>
          </a:p>
        </p:txBody>
      </p:sp>
      <p:sp>
        <p:nvSpPr>
          <p:cNvPr id="11" name="Com 0"/>
          <p:cNvSpPr txBox="1"/>
          <p:nvPr/>
        </p:nvSpPr>
        <p:spPr>
          <a:xfrm>
            <a:off x="594360" y="2694280"/>
            <a:ext cx="3399434" cy="1502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AI 28 2024 y AI 45 2024 Otorgamiento de Préstamos. Se realizó el seguimiento correspondiente a los informes AI 44-2025, AI 64-2025 y AI 20-2026. Como resultado, las observaciones quedaron solventadas. (Se anexan los informes). AI 21 2024 y AI 26 2024 Otorgamiento de Tarjeta de Crédito. Se realizó el seguimiento correspondiente en los informes AI 14 2025 y AI 69 2025. Como resultado, las observaciones quedaron solventadas. (Se anexan los informes). Informes AI 32 2024; AI 37 2024 y AI 52 2024. Se continuará con el seguimiento, solicitando nuevamente planes de acción con fechas plazo, a cada unidad responsable. Plazo: 30/11/2026</a:t>
            </a:r>
            <a:endParaRPr lang="en-US" sz="800" dirty="0"/>
          </a:p>
        </p:txBody>
      </p:sp>
      <p:sp>
        <p:nvSpPr>
          <p:cNvPr id="12" name="Resp 0"/>
          <p:cNvSpPr txBox="1"/>
          <p:nvPr/>
        </p:nvSpPr>
        <p:spPr>
          <a:xfrm>
            <a:off x="594360" y="4233506"/>
            <a:ext cx="33994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  </a:t>
            </a:r>
            <a:pPr indent="0" marL="0">
              <a:buNone/>
            </a:pPr>
            <a:r>
              <a:rPr lang="en-US" sz="850" b="1" dirty="0">
                <a:solidFill>
                  <a:schemeClr val="accent1"/>
                </a:solidFill>
              </a:rPr>
              <a:t>Auditoría interna</a:t>
            </a:r>
            <a:endParaRPr lang="en-US" sz="850" dirty="0"/>
          </a:p>
        </p:txBody>
      </p:sp>
      <p:sp>
        <p:nvSpPr>
          <p:cNvPr id="13" name="Seg 1"/>
          <p:cNvSpPr/>
          <p:nvPr/>
        </p:nvSpPr>
        <p:spPr>
          <a:xfrm>
            <a:off x="4258970" y="1234440"/>
            <a:ext cx="3673754" cy="3291674"/>
          </a:xfrm>
          <a:prstGeom prst="roundRect">
            <a:avLst>
              <a:gd name="adj" fmla="val 2778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14" name="Circular 1 fondo"/>
          <p:cNvSpPr/>
          <p:nvPr/>
        </p:nvSpPr>
        <p:spPr>
          <a:xfrm>
            <a:off x="4368698" y="1325880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5" name="Circular 1"/>
          <p:cNvSpPr txBox="1"/>
          <p:nvPr/>
        </p:nvSpPr>
        <p:spPr>
          <a:xfrm>
            <a:off x="4368698" y="132588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Circular 16572 · C.1.1</a:t>
            </a:r>
            <a:endParaRPr lang="en-US" sz="850" dirty="0"/>
          </a:p>
        </p:txBody>
      </p:sp>
      <p:sp>
        <p:nvSpPr>
          <p:cNvPr id="16" name="Estado 1 fondo"/>
          <p:cNvSpPr/>
          <p:nvPr/>
        </p:nvSpPr>
        <p:spPr>
          <a:xfrm>
            <a:off x="6042050" y="1325880"/>
            <a:ext cx="1051560" cy="23774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17" name="Estado 1"/>
          <p:cNvSpPr txBox="1"/>
          <p:nvPr/>
        </p:nvSpPr>
        <p:spPr>
          <a:xfrm>
            <a:off x="6042050" y="1325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NO SUPERADA</a:t>
            </a:r>
            <a:endParaRPr lang="en-US" sz="850" dirty="0"/>
          </a:p>
        </p:txBody>
      </p:sp>
      <p:sp>
        <p:nvSpPr>
          <p:cNvPr id="18" name="Obs 1"/>
          <p:cNvSpPr txBox="1"/>
          <p:nvPr/>
        </p:nvSpPr>
        <p:spPr>
          <a:xfrm>
            <a:off x="4396130" y="1655064"/>
            <a:ext cx="3399434" cy="8403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Observación 3: Seguimiento inoportuno de las observaciones por parte de Auditoría Interna.</a:t>
            </a:r>
            <a:endParaRPr lang="en-US" sz="1200" dirty="0"/>
          </a:p>
          <a:p>
            <a:pPr algn="just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Seguimiento realizado en la presente visita de supervisión:</a:t>
            </a:r>
            <a:endParaRPr lang="en-US" sz="1200" dirty="0"/>
          </a:p>
          <a:p>
            <a:pPr algn="just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Comentarios COMEDICA de R.L.: En el Plan de Auditoría Interna 2026 se incluyó seguimientos trimestrales como actividad 44 para solventar la observación.</a:t>
            </a:r>
            <a:endParaRPr lang="en-US" sz="1200" dirty="0"/>
          </a:p>
        </p:txBody>
      </p:sp>
      <p:sp>
        <p:nvSpPr>
          <p:cNvPr id="19" name="Com 1"/>
          <p:cNvSpPr txBox="1"/>
          <p:nvPr/>
        </p:nvSpPr>
        <p:spPr>
          <a:xfrm>
            <a:off x="4396130" y="2550262"/>
            <a:ext cx="3399434" cy="1646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Para dar seguimiento a los informes se ha elaborado una matriz con las observaciones de todos los informes, la matriz es actualizada trimestralmente. Se anexa la matriz de seguimiento de informes.</a:t>
            </a:r>
            <a:endParaRPr lang="en-US" sz="800" dirty="0"/>
          </a:p>
        </p:txBody>
      </p:sp>
      <p:sp>
        <p:nvSpPr>
          <p:cNvPr id="20" name="Resp 1"/>
          <p:cNvSpPr txBox="1"/>
          <p:nvPr/>
        </p:nvSpPr>
        <p:spPr>
          <a:xfrm>
            <a:off x="4396130" y="4233506"/>
            <a:ext cx="33994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  </a:t>
            </a:r>
            <a:pPr indent="0" marL="0">
              <a:buNone/>
            </a:pPr>
            <a:r>
              <a:rPr lang="en-US" sz="850" b="1" dirty="0">
                <a:solidFill>
                  <a:schemeClr val="accent1"/>
                </a:solidFill>
              </a:rPr>
              <a:t>Auditoría interna</a:t>
            </a:r>
            <a:endParaRPr lang="en-US" sz="850" dirty="0"/>
          </a:p>
        </p:txBody>
      </p:sp>
      <p:sp>
        <p:nvSpPr>
          <p:cNvPr id="21" name="Seg 2"/>
          <p:cNvSpPr/>
          <p:nvPr/>
        </p:nvSpPr>
        <p:spPr>
          <a:xfrm>
            <a:off x="8060741" y="1234440"/>
            <a:ext cx="3673754" cy="3291674"/>
          </a:xfrm>
          <a:prstGeom prst="roundRect">
            <a:avLst>
              <a:gd name="adj" fmla="val 2778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22" name="Circular 2 fondo"/>
          <p:cNvSpPr/>
          <p:nvPr/>
        </p:nvSpPr>
        <p:spPr>
          <a:xfrm>
            <a:off x="8170469" y="1325880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3" name="Circular 2"/>
          <p:cNvSpPr txBox="1"/>
          <p:nvPr/>
        </p:nvSpPr>
        <p:spPr>
          <a:xfrm>
            <a:off x="8170469" y="132588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Circular 16572 · C.1.2</a:t>
            </a:r>
            <a:endParaRPr lang="en-US" sz="850" dirty="0"/>
          </a:p>
        </p:txBody>
      </p:sp>
      <p:sp>
        <p:nvSpPr>
          <p:cNvPr id="24" name="Estado 2 fondo"/>
          <p:cNvSpPr/>
          <p:nvPr/>
        </p:nvSpPr>
        <p:spPr>
          <a:xfrm>
            <a:off x="9843821" y="1325880"/>
            <a:ext cx="1691640" cy="23774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25" name="Estado 2"/>
          <p:cNvSpPr txBox="1"/>
          <p:nvPr/>
        </p:nvSpPr>
        <p:spPr>
          <a:xfrm>
            <a:off x="9843821" y="13258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PARCIAMENTE SUPERADA</a:t>
            </a:r>
            <a:endParaRPr lang="en-US" sz="850" dirty="0"/>
          </a:p>
        </p:txBody>
      </p:sp>
      <p:sp>
        <p:nvSpPr>
          <p:cNvPr id="26" name="Obs 2"/>
          <p:cNvSpPr txBox="1"/>
          <p:nvPr/>
        </p:nvSpPr>
        <p:spPr>
          <a:xfrm>
            <a:off x="8197901" y="1655064"/>
            <a:ext cx="3399434" cy="48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Observación 2: Seguimiento a informes de observaciones del Comité de Auditoría y de Auditoría Interna durante el período 2023.</a:t>
            </a:r>
            <a:endParaRPr lang="en-US" sz="1200" dirty="0"/>
          </a:p>
        </p:txBody>
      </p:sp>
      <p:sp>
        <p:nvSpPr>
          <p:cNvPr id="27" name="Com 2"/>
          <p:cNvSpPr txBox="1"/>
          <p:nvPr/>
        </p:nvSpPr>
        <p:spPr>
          <a:xfrm>
            <a:off x="8197901" y="2196846"/>
            <a:ext cx="3399434" cy="2000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Se realizará nuevamente el seguimiento de las observaciones pendientes de solventar en las Actas: 173 y 175; Plazo: 30/11/2026</a:t>
            </a:r>
            <a:endParaRPr lang="en-US" sz="800" dirty="0"/>
          </a:p>
        </p:txBody>
      </p:sp>
      <p:sp>
        <p:nvSpPr>
          <p:cNvPr id="28" name="Resp 2"/>
          <p:cNvSpPr txBox="1"/>
          <p:nvPr/>
        </p:nvSpPr>
        <p:spPr>
          <a:xfrm>
            <a:off x="8197901" y="4233506"/>
            <a:ext cx="33994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  </a:t>
            </a:r>
            <a:pPr indent="0" marL="0">
              <a:buNone/>
            </a:pPr>
            <a:r>
              <a:rPr lang="en-US" sz="850" b="1" dirty="0">
                <a:solidFill>
                  <a:schemeClr val="accent1"/>
                </a:solidFill>
              </a:rPr>
              <a:t>Auditoría interna</a:t>
            </a:r>
            <a:endParaRPr lang="en-US" sz="850" dirty="0"/>
          </a:p>
        </p:txBody>
      </p:sp>
      <p:sp>
        <p:nvSpPr>
          <p:cNvPr id="29" name="Seg 3"/>
          <p:cNvSpPr/>
          <p:nvPr/>
        </p:nvSpPr>
        <p:spPr>
          <a:xfrm>
            <a:off x="457200" y="4654130"/>
            <a:ext cx="3673754" cy="1746670"/>
          </a:xfrm>
          <a:prstGeom prst="roundRect">
            <a:avLst>
              <a:gd name="adj" fmla="val 5235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30" name="Circular 3 fondo"/>
          <p:cNvSpPr/>
          <p:nvPr/>
        </p:nvSpPr>
        <p:spPr>
          <a:xfrm>
            <a:off x="566928" y="4745570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1" name="Circular 3"/>
          <p:cNvSpPr txBox="1"/>
          <p:nvPr/>
        </p:nvSpPr>
        <p:spPr>
          <a:xfrm>
            <a:off x="566928" y="474557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Circular 18445 · NRP-36</a:t>
            </a:r>
            <a:endParaRPr lang="en-US" sz="850" dirty="0"/>
          </a:p>
        </p:txBody>
      </p:sp>
      <p:sp>
        <p:nvSpPr>
          <p:cNvPr id="32" name="Estado 3 fondo"/>
          <p:cNvSpPr/>
          <p:nvPr/>
        </p:nvSpPr>
        <p:spPr>
          <a:xfrm>
            <a:off x="2240280" y="4745570"/>
            <a:ext cx="1051560" cy="23774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33" name="Estado 3"/>
          <p:cNvSpPr txBox="1"/>
          <p:nvPr/>
        </p:nvSpPr>
        <p:spPr>
          <a:xfrm>
            <a:off x="2240280" y="474557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NO SUPERADA</a:t>
            </a:r>
            <a:endParaRPr lang="en-US" sz="850" dirty="0"/>
          </a:p>
        </p:txBody>
      </p:sp>
      <p:sp>
        <p:nvSpPr>
          <p:cNvPr id="34" name="Obs 3"/>
          <p:cNvSpPr txBox="1"/>
          <p:nvPr/>
        </p:nvSpPr>
        <p:spPr>
          <a:xfrm>
            <a:off x="594360" y="5074754"/>
            <a:ext cx="3399434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Observación 1. Falta de aplicación del factor de riesgo empleados.</a:t>
            </a:r>
            <a:endParaRPr lang="en-US" sz="1200" dirty="0"/>
          </a:p>
          <a:p>
            <a:pPr algn="just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Seguimiento realizado en la presente visita de supervisión:</a:t>
            </a:r>
            <a:endParaRPr lang="en-US" sz="1200" dirty="0"/>
          </a:p>
        </p:txBody>
      </p:sp>
      <p:sp>
        <p:nvSpPr>
          <p:cNvPr id="35" name="Com 3"/>
          <p:cNvSpPr txBox="1"/>
          <p:nvPr/>
        </p:nvSpPr>
        <p:spPr>
          <a:xfrm>
            <a:off x="594360" y="5596876"/>
            <a:ext cx="3399434" cy="474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Sin comentarios ni documentación</a:t>
            </a:r>
            <a:endParaRPr lang="en-US" sz="800" dirty="0"/>
          </a:p>
        </p:txBody>
      </p:sp>
      <p:sp>
        <p:nvSpPr>
          <p:cNvPr id="36" name="Resp 3"/>
          <p:cNvSpPr txBox="1"/>
          <p:nvPr/>
        </p:nvSpPr>
        <p:spPr>
          <a:xfrm>
            <a:off x="594360" y="6108192"/>
            <a:ext cx="33994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  </a:t>
            </a:r>
            <a:pPr indent="0" marL="0">
              <a:buNone/>
            </a:pPr>
            <a:r>
              <a:rPr lang="en-US" sz="850" b="1" dirty="0">
                <a:solidFill>
                  <a:schemeClr val="accent1"/>
                </a:solidFill>
              </a:rPr>
              <a:t>Gerencia de Oficialía de Cumplimiento</a:t>
            </a:r>
            <a:endParaRPr lang="en-US" sz="850" dirty="0"/>
          </a:p>
        </p:txBody>
      </p:sp>
      <p:sp>
        <p:nvSpPr>
          <p:cNvPr id="37" name="Seg 4"/>
          <p:cNvSpPr/>
          <p:nvPr/>
        </p:nvSpPr>
        <p:spPr>
          <a:xfrm>
            <a:off x="4258970" y="4654130"/>
            <a:ext cx="3673754" cy="1746670"/>
          </a:xfrm>
          <a:prstGeom prst="roundRect">
            <a:avLst>
              <a:gd name="adj" fmla="val 5235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38" name="Circular 4 fondo"/>
          <p:cNvSpPr/>
          <p:nvPr/>
        </p:nvSpPr>
        <p:spPr>
          <a:xfrm>
            <a:off x="4368698" y="4745570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9" name="Circular 4"/>
          <p:cNvSpPr txBox="1"/>
          <p:nvPr/>
        </p:nvSpPr>
        <p:spPr>
          <a:xfrm>
            <a:off x="4368698" y="474557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Circular 18445 · NRP-36</a:t>
            </a:r>
            <a:endParaRPr lang="en-US" sz="850" dirty="0"/>
          </a:p>
        </p:txBody>
      </p:sp>
      <p:sp>
        <p:nvSpPr>
          <p:cNvPr id="40" name="Estado 4 fondo"/>
          <p:cNvSpPr/>
          <p:nvPr/>
        </p:nvSpPr>
        <p:spPr>
          <a:xfrm>
            <a:off x="6042050" y="4745570"/>
            <a:ext cx="1691640" cy="23774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41" name="Estado 4"/>
          <p:cNvSpPr txBox="1"/>
          <p:nvPr/>
        </p:nvSpPr>
        <p:spPr>
          <a:xfrm>
            <a:off x="6042050" y="474557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PARCIALMENTE SUPERADA</a:t>
            </a:r>
            <a:endParaRPr lang="en-US" sz="850" dirty="0"/>
          </a:p>
        </p:txBody>
      </p:sp>
      <p:sp>
        <p:nvSpPr>
          <p:cNvPr id="42" name="Obs 4"/>
          <p:cNvSpPr txBox="1"/>
          <p:nvPr/>
        </p:nvSpPr>
        <p:spPr>
          <a:xfrm>
            <a:off x="4396130" y="5074754"/>
            <a:ext cx="3399434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Observación 4. Seguimiento de observaciones de Auditoría Interna de años anteriores no subsanadas.</a:t>
            </a:r>
            <a:endParaRPr lang="en-US" sz="1200" dirty="0"/>
          </a:p>
          <a:p>
            <a:pPr algn="just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Seguimiento realizado en la presente visita de supervisión:</a:t>
            </a:r>
            <a:endParaRPr lang="en-US" sz="1200" dirty="0"/>
          </a:p>
        </p:txBody>
      </p:sp>
      <p:sp>
        <p:nvSpPr>
          <p:cNvPr id="43" name="Com 4"/>
          <p:cNvSpPr txBox="1"/>
          <p:nvPr/>
        </p:nvSpPr>
        <p:spPr>
          <a:xfrm>
            <a:off x="4396130" y="5596876"/>
            <a:ext cx="3399434" cy="474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Se gestionará con la Gerencia de Oficialía de Cumplimiento un nuevo Plan de Acción. Auditoría Interna dará seguimiento. Plazo: 30/11/2026</a:t>
            </a:r>
            <a:endParaRPr lang="en-US" sz="800" dirty="0"/>
          </a:p>
        </p:txBody>
      </p:sp>
      <p:sp>
        <p:nvSpPr>
          <p:cNvPr id="44" name="Resp 4"/>
          <p:cNvSpPr txBox="1"/>
          <p:nvPr/>
        </p:nvSpPr>
        <p:spPr>
          <a:xfrm>
            <a:off x="4396130" y="6108192"/>
            <a:ext cx="33994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  </a:t>
            </a:r>
            <a:pPr indent="0" marL="0">
              <a:buNone/>
            </a:pPr>
            <a:r>
              <a:rPr lang="en-US" sz="850" b="1" dirty="0">
                <a:solidFill>
                  <a:schemeClr val="accent1"/>
                </a:solidFill>
              </a:rPr>
              <a:t>Auditoría interna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51052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457200" y="29260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chemeClr val="accent5"/>
                </a:solidFill>
              </a:rPr>
              <a:t>CIRCULAR DS-SABAO-BCS-BC-23486 · SEGUIMIENTO A OBSERVACIONES DE VISITAS ANTERIORES</a:t>
            </a:r>
            <a:endParaRPr lang="en-US" sz="1050" dirty="0"/>
          </a:p>
        </p:txBody>
      </p:sp>
      <p:sp>
        <p:nvSpPr>
          <p:cNvPr id="3" name="Título"/>
          <p:cNvSpPr txBox="1"/>
          <p:nvPr/>
        </p:nvSpPr>
        <p:spPr>
          <a:xfrm>
            <a:off x="457200" y="5486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Seguimiento · Circular 29295</a:t>
            </a:r>
            <a:endParaRPr lang="en-US" sz="2800" dirty="0"/>
          </a:p>
        </p:txBody>
      </p:sp>
      <p:pic>
        <p:nvPicPr>
          <p:cNvPr id="4" name="Logo COMEDICA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256032"/>
            <a:ext cx="1828800" cy="561399"/>
          </a:xfrm>
          <a:prstGeom prst="rect">
            <a:avLst/>
          </a:prstGeom>
        </p:spPr>
      </p:pic>
      <p:sp>
        <p:nvSpPr>
          <p:cNvPr id="5" name="Seg 5"/>
          <p:cNvSpPr/>
          <p:nvPr/>
        </p:nvSpPr>
        <p:spPr>
          <a:xfrm>
            <a:off x="457200" y="1234440"/>
            <a:ext cx="5574640" cy="2529739"/>
          </a:xfrm>
          <a:prstGeom prst="roundRect">
            <a:avLst>
              <a:gd name="adj" fmla="val 3615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6" name="Circular 5 fondo"/>
          <p:cNvSpPr/>
          <p:nvPr/>
        </p:nvSpPr>
        <p:spPr>
          <a:xfrm>
            <a:off x="566928" y="1325880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7" name="Circular 5"/>
          <p:cNvSpPr txBox="1"/>
          <p:nvPr/>
        </p:nvSpPr>
        <p:spPr>
          <a:xfrm>
            <a:off x="566928" y="132588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Circular 29295 · C.3.1</a:t>
            </a:r>
            <a:endParaRPr lang="en-US" sz="850" dirty="0"/>
          </a:p>
        </p:txBody>
      </p:sp>
      <p:sp>
        <p:nvSpPr>
          <p:cNvPr id="8" name="Estado 5 fondo"/>
          <p:cNvSpPr/>
          <p:nvPr/>
        </p:nvSpPr>
        <p:spPr>
          <a:xfrm>
            <a:off x="2240280" y="1325880"/>
            <a:ext cx="1051560" cy="23774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9" name="Estado 5"/>
          <p:cNvSpPr txBox="1"/>
          <p:nvPr/>
        </p:nvSpPr>
        <p:spPr>
          <a:xfrm>
            <a:off x="2240280" y="1325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NO SUPERADA</a:t>
            </a:r>
            <a:endParaRPr lang="en-US" sz="850" dirty="0"/>
          </a:p>
        </p:txBody>
      </p:sp>
      <p:sp>
        <p:nvSpPr>
          <p:cNvPr id="10" name="Obs 5"/>
          <p:cNvSpPr txBox="1"/>
          <p:nvPr/>
        </p:nvSpPr>
        <p:spPr>
          <a:xfrm>
            <a:off x="594360" y="1655064"/>
            <a:ext cx="5300320" cy="449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Observación 1: Falta de elementos en el plan de contingencia.</a:t>
            </a:r>
            <a:endParaRPr lang="en-US" sz="1200" dirty="0"/>
          </a:p>
          <a:p>
            <a:pPr algn="just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Seguimiento realizado en la presente visita de supervisión:</a:t>
            </a:r>
            <a:endParaRPr lang="en-US" sz="1200" dirty="0"/>
          </a:p>
        </p:txBody>
      </p:sp>
      <p:sp>
        <p:nvSpPr>
          <p:cNvPr id="11" name="Com 5"/>
          <p:cNvSpPr txBox="1"/>
          <p:nvPr/>
        </p:nvSpPr>
        <p:spPr>
          <a:xfrm>
            <a:off x="594360" y="2159356"/>
            <a:ext cx="5300320" cy="127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 trabajará en modificar el Plan de Contingencia de Liquidez para subsanar las observaciones indicadas por la SSF. Fecha de finalización: 16 de noviembre de 2026</a:t>
            </a:r>
            <a:endParaRPr lang="en-US" sz="1200" dirty="0"/>
          </a:p>
        </p:txBody>
      </p:sp>
      <p:sp>
        <p:nvSpPr>
          <p:cNvPr id="12" name="Resp 5"/>
          <p:cNvSpPr txBox="1"/>
          <p:nvPr/>
        </p:nvSpPr>
        <p:spPr>
          <a:xfrm>
            <a:off x="594360" y="3471571"/>
            <a:ext cx="530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5"/>
                </a:solidFill>
              </a:rPr>
              <a:t>Responsable  </a:t>
            </a:r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Gerencia Financiera</a:t>
            </a:r>
            <a:endParaRPr lang="en-US" sz="1250" dirty="0"/>
          </a:p>
        </p:txBody>
      </p:sp>
      <p:sp>
        <p:nvSpPr>
          <p:cNvPr id="13" name="Seg 6"/>
          <p:cNvSpPr/>
          <p:nvPr/>
        </p:nvSpPr>
        <p:spPr>
          <a:xfrm>
            <a:off x="6159856" y="1234440"/>
            <a:ext cx="5574640" cy="2529739"/>
          </a:xfrm>
          <a:prstGeom prst="roundRect">
            <a:avLst>
              <a:gd name="adj" fmla="val 3615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14" name="Circular 6 fondo"/>
          <p:cNvSpPr/>
          <p:nvPr/>
        </p:nvSpPr>
        <p:spPr>
          <a:xfrm>
            <a:off x="6269584" y="1325880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5" name="Circular 6"/>
          <p:cNvSpPr txBox="1"/>
          <p:nvPr/>
        </p:nvSpPr>
        <p:spPr>
          <a:xfrm>
            <a:off x="6269584" y="132588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Circular 29295 · C.3.1</a:t>
            </a:r>
            <a:endParaRPr lang="en-US" sz="850" dirty="0"/>
          </a:p>
        </p:txBody>
      </p:sp>
      <p:sp>
        <p:nvSpPr>
          <p:cNvPr id="16" name="Estado 6 fondo"/>
          <p:cNvSpPr/>
          <p:nvPr/>
        </p:nvSpPr>
        <p:spPr>
          <a:xfrm>
            <a:off x="7942936" y="1325880"/>
            <a:ext cx="1051560" cy="23774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17" name="Estado 6"/>
          <p:cNvSpPr txBox="1"/>
          <p:nvPr/>
        </p:nvSpPr>
        <p:spPr>
          <a:xfrm>
            <a:off x="7942936" y="1325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NO SUPERADA</a:t>
            </a:r>
            <a:endParaRPr lang="en-US" sz="850" dirty="0"/>
          </a:p>
        </p:txBody>
      </p:sp>
      <p:sp>
        <p:nvSpPr>
          <p:cNvPr id="18" name="Obs 6"/>
          <p:cNvSpPr txBox="1"/>
          <p:nvPr/>
        </p:nvSpPr>
        <p:spPr>
          <a:xfrm>
            <a:off x="6297016" y="1655064"/>
            <a:ext cx="5300320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Observación 2: Inconsistencia en los roles y responsabilidades asignados en la elaboración del Plan de Contingencia de Liquidez</a:t>
            </a:r>
            <a:endParaRPr lang="en-US" sz="1200" dirty="0"/>
          </a:p>
        </p:txBody>
      </p:sp>
      <p:sp>
        <p:nvSpPr>
          <p:cNvPr id="19" name="Com 6"/>
          <p:cNvSpPr txBox="1"/>
          <p:nvPr/>
        </p:nvSpPr>
        <p:spPr>
          <a:xfrm>
            <a:off x="6297016" y="2388870"/>
            <a:ext cx="5300320" cy="1046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 trabajará en modificar el Plan de Contingencia de Liquidez para subsanar las observaciones indicadas por la SSF. Fecha de finalización: 16 de noviembre de 2026.</a:t>
            </a:r>
            <a:endParaRPr lang="en-US" sz="1200" dirty="0"/>
          </a:p>
        </p:txBody>
      </p:sp>
      <p:sp>
        <p:nvSpPr>
          <p:cNvPr id="20" name="Resp 6"/>
          <p:cNvSpPr txBox="1"/>
          <p:nvPr/>
        </p:nvSpPr>
        <p:spPr>
          <a:xfrm>
            <a:off x="6297016" y="3471571"/>
            <a:ext cx="530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5"/>
                </a:solidFill>
              </a:rPr>
              <a:t>Responsable  </a:t>
            </a:r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Gerencia Financiera</a:t>
            </a:r>
            <a:endParaRPr lang="en-US" sz="1250" dirty="0"/>
          </a:p>
        </p:txBody>
      </p:sp>
      <p:sp>
        <p:nvSpPr>
          <p:cNvPr id="21" name="Seg 7"/>
          <p:cNvSpPr/>
          <p:nvPr/>
        </p:nvSpPr>
        <p:spPr>
          <a:xfrm>
            <a:off x="457200" y="3892195"/>
            <a:ext cx="5574640" cy="2508605"/>
          </a:xfrm>
          <a:prstGeom prst="roundRect">
            <a:avLst>
              <a:gd name="adj" fmla="val 3645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22" name="Circular 7 fondo"/>
          <p:cNvSpPr/>
          <p:nvPr/>
        </p:nvSpPr>
        <p:spPr>
          <a:xfrm>
            <a:off x="566928" y="3983635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3" name="Circular 7"/>
          <p:cNvSpPr txBox="1"/>
          <p:nvPr/>
        </p:nvSpPr>
        <p:spPr>
          <a:xfrm>
            <a:off x="566928" y="3983635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Circular 29295 · C.3.2</a:t>
            </a:r>
            <a:endParaRPr lang="en-US" sz="850" dirty="0"/>
          </a:p>
        </p:txBody>
      </p:sp>
      <p:sp>
        <p:nvSpPr>
          <p:cNvPr id="24" name="Estado 7 fondo"/>
          <p:cNvSpPr/>
          <p:nvPr/>
        </p:nvSpPr>
        <p:spPr>
          <a:xfrm>
            <a:off x="2240280" y="3983635"/>
            <a:ext cx="1691640" cy="23774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25" name="Estado 7"/>
          <p:cNvSpPr txBox="1"/>
          <p:nvPr/>
        </p:nvSpPr>
        <p:spPr>
          <a:xfrm>
            <a:off x="2240280" y="3983635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PARCIALMENTE SUPERADA</a:t>
            </a:r>
            <a:endParaRPr lang="en-US" sz="850" dirty="0"/>
          </a:p>
        </p:txBody>
      </p:sp>
      <p:sp>
        <p:nvSpPr>
          <p:cNvPr id="26" name="Obs 7"/>
          <p:cNvSpPr txBox="1"/>
          <p:nvPr/>
        </p:nvSpPr>
        <p:spPr>
          <a:xfrm>
            <a:off x="594360" y="4312819"/>
            <a:ext cx="5300320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Observación 1: Falta de actualización de normativa interna relacionada la gestión de Riesgo Operacional y Tecnológico</a:t>
            </a:r>
            <a:endParaRPr lang="en-US" sz="1200" dirty="0"/>
          </a:p>
          <a:p>
            <a:pPr algn="just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Seguimiento realizado en la presente visita de supervisión:</a:t>
            </a:r>
            <a:endParaRPr lang="en-US" sz="1200" dirty="0"/>
          </a:p>
        </p:txBody>
      </p:sp>
      <p:sp>
        <p:nvSpPr>
          <p:cNvPr id="27" name="Com 7"/>
          <p:cNvSpPr txBox="1"/>
          <p:nvPr/>
        </p:nvSpPr>
        <p:spPr>
          <a:xfrm>
            <a:off x="594360" y="5025136"/>
            <a:ext cx="5300320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 agrega documentos actualizados, según detalle: Política de Gestión de Riesgo Operacional Manual de Administración de Riesgo Tecnológico. Pendiente de presentar al Comité de Riesgos: Política de contratación de servicios críticos tercerizados.</a:t>
            </a:r>
            <a:endParaRPr lang="en-US" sz="1200" dirty="0"/>
          </a:p>
        </p:txBody>
      </p:sp>
      <p:sp>
        <p:nvSpPr>
          <p:cNvPr id="28" name="Resp 7"/>
          <p:cNvSpPr txBox="1"/>
          <p:nvPr/>
        </p:nvSpPr>
        <p:spPr>
          <a:xfrm>
            <a:off x="594360" y="6108192"/>
            <a:ext cx="530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5"/>
                </a:solidFill>
              </a:rPr>
              <a:t>Responsable  </a:t>
            </a:r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Administración de Riesgos</a:t>
            </a:r>
            <a:endParaRPr lang="en-US" sz="1250" dirty="0"/>
          </a:p>
        </p:txBody>
      </p:sp>
      <p:sp>
        <p:nvSpPr>
          <p:cNvPr id="29" name="Seg 8"/>
          <p:cNvSpPr/>
          <p:nvPr/>
        </p:nvSpPr>
        <p:spPr>
          <a:xfrm>
            <a:off x="6159856" y="3892195"/>
            <a:ext cx="5574640" cy="2508605"/>
          </a:xfrm>
          <a:prstGeom prst="roundRect">
            <a:avLst>
              <a:gd name="adj" fmla="val 3645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30" name="Circular 8 fondo"/>
          <p:cNvSpPr/>
          <p:nvPr/>
        </p:nvSpPr>
        <p:spPr>
          <a:xfrm>
            <a:off x="6269584" y="3983635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1" name="Circular 8"/>
          <p:cNvSpPr txBox="1"/>
          <p:nvPr/>
        </p:nvSpPr>
        <p:spPr>
          <a:xfrm>
            <a:off x="6269584" y="3983635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Circular 29295 · C.3.2</a:t>
            </a:r>
            <a:endParaRPr lang="en-US" sz="850" dirty="0"/>
          </a:p>
        </p:txBody>
      </p:sp>
      <p:sp>
        <p:nvSpPr>
          <p:cNvPr id="32" name="Estado 8 fondo"/>
          <p:cNvSpPr/>
          <p:nvPr/>
        </p:nvSpPr>
        <p:spPr>
          <a:xfrm>
            <a:off x="7942936" y="3983635"/>
            <a:ext cx="1051560" cy="23774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33" name="Estado 8"/>
          <p:cNvSpPr txBox="1"/>
          <p:nvPr/>
        </p:nvSpPr>
        <p:spPr>
          <a:xfrm>
            <a:off x="7942936" y="3983635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NO SUPERADA</a:t>
            </a:r>
            <a:endParaRPr lang="en-US" sz="850" dirty="0"/>
          </a:p>
        </p:txBody>
      </p:sp>
      <p:sp>
        <p:nvSpPr>
          <p:cNvPr id="34" name="Obs 8"/>
          <p:cNvSpPr txBox="1"/>
          <p:nvPr/>
        </p:nvSpPr>
        <p:spPr>
          <a:xfrm>
            <a:off x="6297016" y="4312819"/>
            <a:ext cx="5300320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Observación 2: Omisión de la presentación del objetivo mínimo de continuidad de negocio (MBCO) en BIA con referencia al 31 de agosto del 2024.</a:t>
            </a:r>
            <a:endParaRPr lang="en-US" sz="1200" dirty="0"/>
          </a:p>
        </p:txBody>
      </p:sp>
      <p:sp>
        <p:nvSpPr>
          <p:cNvPr id="35" name="Com 8"/>
          <p:cNvSpPr txBox="1"/>
          <p:nvPr/>
        </p:nvSpPr>
        <p:spPr>
          <a:xfrm>
            <a:off x="6297016" y="5046625"/>
            <a:ext cx="5300320" cy="10249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Programado actualizar el BIA en noviembre 2026, siendo esa fecha en la que se incorporará lo solicitado.</a:t>
            </a:r>
            <a:endParaRPr lang="en-US" sz="1200" dirty="0"/>
          </a:p>
        </p:txBody>
      </p:sp>
      <p:sp>
        <p:nvSpPr>
          <p:cNvPr id="36" name="Resp 8"/>
          <p:cNvSpPr txBox="1"/>
          <p:nvPr/>
        </p:nvSpPr>
        <p:spPr>
          <a:xfrm>
            <a:off x="6297016" y="6108192"/>
            <a:ext cx="530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5"/>
                </a:solidFill>
              </a:rPr>
              <a:t>Responsable  </a:t>
            </a:r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Administración de Riesgos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51052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Matriz de requerimientos DS-SABAO-BCS-BC-23486</dc:title>
  <dc:subject>PptxGenJS Presentation</dc:subject>
  <dc:creator>PptxGenJS</dc:creator>
  <cp:lastModifiedBy>PptxGenJS</cp:lastModifiedBy>
  <cp:revision>1</cp:revision>
  <dcterms:created xsi:type="dcterms:W3CDTF">2026-10-14T19:18:03Z</dcterms:created>
  <dcterms:modified xsi:type="dcterms:W3CDTF">2026-10-14T19:18:03Z</dcterms:modified>
</cp:coreProperties>
</file>