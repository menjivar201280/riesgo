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8" r:id="rId2"/>
    <p:sldId id="257" r:id="rId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61949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Matriz de requerimientos DS-SABAO-BCS-BC-23486 (versión corta). Secciones A y B. 'Comentario CA: 14/10/2026 Compromiso' se muestra como 'Pendiente'.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Texto tal como aparece en la Matriz de requerimientos DS-SABAO-BCS-BC-23486 (versión corta). Seguimiento a observaciones de visitas anteriores.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TRIZ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228600"/>
            <a:ext cx="917417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marL="0" indent="0" algn="l">
              <a:buNone/>
            </a:pPr>
            <a:r>
              <a:rPr lang="en-US" sz="2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11480" y="95209"/>
            <a:ext cx="9174175" cy="2667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SV" sz="1800" b="1" noProof="0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 </a:t>
            </a:r>
            <a:endParaRPr lang="es-SV" sz="1800" noProof="0" dirty="0">
              <a:solidFill>
                <a:srgbClr val="002060"/>
              </a:solidFill>
            </a:endParaRPr>
          </a:p>
        </p:txBody>
      </p:sp>
      <p:sp>
        <p:nvSpPr>
          <p:cNvPr id="3" name="Sección A"/>
          <p:cNvSpPr txBox="1"/>
          <p:nvPr/>
        </p:nvSpPr>
        <p:spPr>
          <a:xfrm>
            <a:off x="411480" y="466542"/>
            <a:ext cx="2484120" cy="19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100" b="1" noProof="0" dirty="0">
                <a:solidFill>
                  <a:schemeClr val="accent1"/>
                </a:solidFill>
              </a:rPr>
              <a:t>A. Gestión de Riesgo de LDA/FT/FPADM</a:t>
            </a:r>
            <a:endParaRPr lang="es-SV" sz="1100" noProof="0" dirty="0"/>
          </a:p>
        </p:txBody>
      </p:sp>
      <p:graphicFrame>
        <p:nvGraphicFramePr>
          <p:cNvPr id="4" name="Tabla sección 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4019786"/>
              </p:ext>
            </p:extLst>
          </p:nvPr>
        </p:nvGraphicFramePr>
        <p:xfrm>
          <a:off x="44116" y="704749"/>
          <a:ext cx="12103769" cy="569976"/>
        </p:xfrm>
        <a:graphic>
          <a:graphicData uri="http://schemas.openxmlformats.org/drawingml/2006/table">
            <a:tbl>
              <a:tblPr/>
              <a:tblGrid>
                <a:gridCol w="4235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Funcionario Responsable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0C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A.1  Deficiencias en la conformación y actualización de expedientes de clientes.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A.2  Deficiencias en la identificación de la actividad económica realizada por clientes.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Sección B"/>
          <p:cNvSpPr txBox="1"/>
          <p:nvPr/>
        </p:nvSpPr>
        <p:spPr>
          <a:xfrm>
            <a:off x="408737" y="1360640"/>
            <a:ext cx="3754189" cy="1990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SV" sz="1100" b="1" noProof="0" dirty="0">
                <a:solidFill>
                  <a:schemeClr val="accent1"/>
                </a:solidFill>
              </a:rPr>
              <a:t>B. Proceso de implementación de la Herramienta de Monitoreo</a:t>
            </a:r>
            <a:endParaRPr lang="es-SV" sz="1100" noProof="0" dirty="0"/>
          </a:p>
        </p:txBody>
      </p:sp>
      <p:graphicFrame>
        <p:nvGraphicFramePr>
          <p:cNvPr id="7" name="Tabla sección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2017504"/>
              </p:ext>
            </p:extLst>
          </p:nvPr>
        </p:nvGraphicFramePr>
        <p:xfrm>
          <a:off x="44116" y="1569069"/>
          <a:ext cx="12103768" cy="5209032"/>
        </p:xfrm>
        <a:graphic>
          <a:graphicData uri="http://schemas.openxmlformats.org/drawingml/2006/table">
            <a:tbl>
              <a:tblPr/>
              <a:tblGrid>
                <a:gridCol w="42358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6386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040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0062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900" b="1" noProof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Observación</a:t>
                      </a:r>
                      <a:endParaRPr lang="es-SV" sz="9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900" b="1" noProof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Comentarios</a:t>
                      </a:r>
                      <a:endParaRPr lang="es-SV" sz="9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900" b="1" noProof="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Funcionario Responsable</a:t>
                      </a:r>
                      <a:endParaRPr lang="es-SV" sz="900" noProof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  Falta de actualización de Metodología y matriz de riesgo LA/FT/FPADM de la Entidad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B.2  Falta de actualización de Metodología y matriz de riesgo LA/FT/FPADM Clientes o asociados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B.3  Falta de automatización en el proceso de remisión de reportería regulada a la Web Service de UIF.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524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B.4  Falta de Automatización de la herramienta de validación de Listas de Cautela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4524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B.5  Falta de evidencia en los porcentajes de avance comunicados en el cronograma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B.6  Revisión documentación conforme artículo22 de la NRP-23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anexa informe elaborado en fecha 13 de diciembre de 2024, sobre proyecto de implementación de un nuevo sistema de monitoreo de LDA/FT/FPADM y del sistema de fraude de canales digitales.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Jefe de Riesgos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2370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B.7  Debilidades en el contrato del servicio de software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adjuntará la propuesta de la Gerencia Legal por medio de correo de fecha 09 de octubre 2026, envió propuesta a la Gerencia de Cumplimiento y Seguridad de la Información para la modificación del contrato.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Gerencia Legal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9498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B.8  Debilidad en el Alcance de las Pruebas Continuidad del Negocio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Plan de acción: proveedor critico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identificarán los servicios tecnológicos tercerizados críticos y se incorporarán en el alcance de las pruebas de continuidad del negocio. Asimismo, se solicitarán a los proveedores los resultados y evidencias de las pruebas realizadas, con el fin de validar la efectividad de los controles implementados.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Administración de Riesgos/Gerencia de sistemas/Seguridad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B.9  Deficiencia en los procedimientos de Respaldos.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Plan de acción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Gerencia de Sistemas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B.10  Deficiencia en la hora del sistema y la herramienta de Monitoreo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Descargo correos de </a:t>
                      </a:r>
                      <a:r>
                        <a:rPr lang="es-SV" sz="800" noProof="0" dirty="0" err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gestion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B.11  Verificación de las condiciones en ACRM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Descargo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B.12  Limitante de Accesos a los Datos de COMEDICA, alojada en la Herramienta de Monitoreo.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Descargo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B.13  Limitante para identificar la base de datos de CRM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3805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B.14  Falta de documentación que dé cumplimiento a lo requerido por el artículo 22 de la NRP-23 correspondiente a la adquisición del sistema CRM.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Descargo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97519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B.15  Servicios tercerizados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Plan de acción: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 Licda. Bonilla: Como parte del fortalecimiento de los controles de seguridad asociados al servicio tercerizado del módulo ACRM, la Unidad de Seguridad de la Información y Ciberseguridad realizará una reevaluación de los riesgos de seguridad de la información y ciberseguridad, mediante la actualización de la matriz de riesgos y la revisión de los controles existentes, con el propósito de identificar oportunidades de mejora y definir las medidas adicionales de tratamiento que correspondan, en coordinación con el área responsable de la solución el proveedor.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80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Fecha de cumplimiento: 30 de noviembre de 2026.</a:t>
                      </a:r>
                      <a:endParaRPr lang="es-SV" sz="80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Cumplimiento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s-SV" sz="80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/ Seguridad de la Información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3716" marB="1371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pic>
        <p:nvPicPr>
          <p:cNvPr id="8" name="Logo COMED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315227" y="78205"/>
            <a:ext cx="8523973" cy="3007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s-SV" sz="1800" b="1" noProof="0" dirty="0">
                <a:solidFill>
                  <a:srgbClr val="002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requerimientos DS-SABAO-BCS-BC-23486 · Gestión de Riesgo Específico</a:t>
            </a:r>
            <a:endParaRPr lang="es-SV" sz="1800" noProof="0" dirty="0">
              <a:solidFill>
                <a:srgbClr val="002060"/>
              </a:solidFill>
            </a:endParaRPr>
          </a:p>
        </p:txBody>
      </p:sp>
      <p:graphicFrame>
        <p:nvGraphicFramePr>
          <p:cNvPr id="3" name="Tabla matri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790113"/>
              </p:ext>
            </p:extLst>
          </p:nvPr>
        </p:nvGraphicFramePr>
        <p:xfrm>
          <a:off x="112296" y="657726"/>
          <a:ext cx="11983452" cy="6198290"/>
        </p:xfrm>
        <a:graphic>
          <a:graphicData uri="http://schemas.openxmlformats.org/drawingml/2006/table">
            <a:tbl>
              <a:tblPr/>
              <a:tblGrid>
                <a:gridCol w="5206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31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1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5246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800" b="1" noProof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Funcionario Responsable</a:t>
                      </a:r>
                      <a:endParaRPr lang="es-SV" sz="80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7016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Dar seguimiento a observaciones de visitas anteriores con referencia al 31 de mayo de 2026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Evaluación de la gestión de los Riesgos de Crédito, Operacional y Tecnológico, con referencia al 31 de enero de 2025; resultados preliminares comunicados mediante nota No. DS-SABAO-BCS-BC-16572 del 10 de septiembre de 2025.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C.1.1. Gestión del Riesgo de Crédito.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207959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Falta de eficacia en la subsanación de observaciones determinadas por el Departamento de Auditoría Interna.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 COMEDICA: en el Plan de Auditoría interna 2026 se incluyó seguimientos trimestrales como actividad 44 para solventar la observación.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4">
                              <a:lumMod val="75000"/>
                            </a:schemeClr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parcialmente superada</a:t>
                      </a:r>
                      <a:endParaRPr lang="es-SV" sz="750" noProof="0" dirty="0">
                        <a:solidFill>
                          <a:schemeClr val="accent4">
                            <a:lumMod val="75000"/>
                          </a:schemeClr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AI 28 2024 y AI 45 2024 Otorgamiento de Préstamos.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realizó el seguimiento correspondiente a los informes AI 44-2025, AI 64-2025 y AI 20-2026. Como resultado, las observaciones quedaron solventadas. (Se anexan los informes).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AI 21 2024 y AI 26 2024 Otorgamiento de Tarjeta de Crédito.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realizó el seguimiento correspondiente en los informes AI 14 2025 y AI 69 2025. Como resultado, las observaciones quedaron solventadas. (Se anexan los informes).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Informes AI 32 2024; AI 37 2024 y AI 52 2024.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continuará con el seguimiento, solicitando nuevamente planes de acción con fechas plazo, a cada unidad responsable.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Plazo: 30/11/2026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571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3: Seguimiento inoportuno de las observaciones por parte de Auditoría Interna.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Comentarios COMEDICA de R.L.: En el Plan de Auditoría Interna 2026 se incluyó seguimientos trimestrales como actividad 44 para solventar la observación.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No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Para dar seguimiento a los informes se ha elaborado una matriz con las observaciones de todos los informes, la matriz es actualizada trimestralmente.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anexa la matriz de seguimiento de informes.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2461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C.1.2. Gestión de Riesgo Operacional y Tecnológico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Seguimiento a informes de observaciones del Comité de Auditoría y de Auditoría Interna durante el período 2023.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 : Parciamente superada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realizará nuevamente el seguimiento de las observaciones pendientes de solventar en las Actas: 173 y 175;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Plazo: 30/11/2026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9738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Verificación de las Normas Técnicas para la Gestión de los Riesgos de Lavado de Dinero y de Activos, Financiación del Terrorismo y la Financiación de la Proliferación de Armas de Destrucción Masiva (NRP-36), con referencia al 31 de mayo de 2025, comunicadas mediante nota No. DS-SABAO-BCS-BC-18445 del 30 de octubre de 2025.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1. Falta de aplicación del factor de riesgo empleados.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No superada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Sin comentarios ni documentación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de Oficialía de Cumplimiento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4. Seguimiento de observaciones de Auditoría Interna de años anteriores no subsanadas.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Estado: Parcialmente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Sin comentarios ni documentación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Auditoría interna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9738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C.3. Evaluación de Guías de Calidad de la Gestión de Riesgos Específicos, con el propósito evaluar la gestión de los riesgos de liquidez, mercado, operacional y tecnológico, de lavado de dinero y de activos, financiación del terrorismo y la financiación de la proliferación de armas de destrucción masiva (LDA/FT/FPADM), con referencia al 30 de septiembre de 2025, comunicadas mediante nota DS-SABAO-BCS-29295 de fecha 03 de diciembre de 2025.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2461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C.3.1. Gestión de riesgo de Liquidez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1: Falta de elementos en el plan de contingencia.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No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trabajará en modificar el Plan de Contingencia de Liquidez para subsanar las observaciones indicadas por la SSF.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Fecha de finalización: 16 de noviembre de 2026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Financiera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Inconsistencia en los roles y responsabilidades asignados en la elaboración del Plan de Contingencia de Liquidez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No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trabajará en modificar el Plan de Contingencia de Liquidez para subsanar las observaciones indicadas por la SSF.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Fecha de finalización: 16 de noviembre de 2026.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Gerencia Financiera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2461">
                <a:tc gridSpan="3"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C.3.2. Gestión de riesgo Operacional y Tecnológico.</a:t>
                      </a:r>
                      <a:endParaRPr lang="es-SV" sz="750" noProof="0" dirty="0">
                        <a:solidFill>
                          <a:schemeClr val="tx1"/>
                        </a:solidFill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s-SV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504293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1: Falta de actualización de normativa interna relacionada la gestión de Riesgo Operacional y Tecnológico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Seguimiento realizado en la presente visita de supervisión: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6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Parcialmente superada.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4E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Se agrega documentos actualizados, según detalle: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Política de Gestión de Riesgo Operacional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Manual de Administración de Riesgo Tecnológico.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Pendiente de presentar al Comité de Riesgos: Política de contratación de servicios críticos tercerizados.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Administración de Riesgos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87016"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b="1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Observación 2: Omisión de la presentación del objetivo mínimo de continuidad de negocio (MBCO) en BIA con referencia al 31 de agosto del 2024.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accent3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Estado de la observación: No superada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just">
                        <a:buNone/>
                      </a:pPr>
                      <a:r>
                        <a:rPr lang="es-SV" sz="750" noProof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Programado actualizar el BIA en noviembre 2026, siendo esa fecha en la que se incorporará lo solicitado.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SV" sz="750" b="1" noProof="0" dirty="0">
                          <a:solidFill>
                            <a:schemeClr val="accent1"/>
                          </a:solidFill>
                          <a:latin typeface="Arial" panose="020B0604020202020204" pitchFamily="34" charset="0"/>
                          <a:ea typeface="Calibri" pitchFamily="34" charset="-122"/>
                          <a:cs typeface="Arial" panose="020B0604020202020204" pitchFamily="34" charset="0"/>
                        </a:rPr>
                        <a:t>Administración de Riesgos</a:t>
                      </a:r>
                      <a:endParaRPr lang="es-SV" sz="750" noProof="0" dirty="0">
                        <a:latin typeface="Arial" panose="020B0604020202020204" pitchFamily="34" charset="0"/>
                        <a:ea typeface="Calibri" charset="0"/>
                        <a:cs typeface="Arial" panose="020B0604020202020204" pitchFamily="34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pic>
        <p:nvPicPr>
          <p:cNvPr id="4" name="Logo COMEDICA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14255" y="109728"/>
            <a:ext cx="1965960" cy="6035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1566</Words>
  <Application>Microsoft Office PowerPoint</Application>
  <PresentationFormat>Panorámica</PresentationFormat>
  <Paragraphs>150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Cambria</vt:lpstr>
      <vt:lpstr>SSF Gobierno Corporativo</vt:lpstr>
      <vt:lpstr>Matriz de requerimientos DS-SABAO-BCS-BC-23486 · Gestión de Riesgo Específico </vt:lpstr>
      <vt:lpstr>Matriz de requerimientos DS-SABAO-BCS-BC-23486 · Gestión de Riesgo Específico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Matriz de requerimientos DS-SABAO-BCS-BC-23486</dc:title>
  <dc:subject>PptxGenJS Presentation</dc:subject>
  <dc:creator>PptxGenJS</dc:creator>
  <cp:lastModifiedBy>Hector Jose Menjivar Somoza</cp:lastModifiedBy>
  <cp:revision>2</cp:revision>
  <dcterms:created xsi:type="dcterms:W3CDTF">2026-10-14T17:10:57Z</dcterms:created>
  <dcterms:modified xsi:type="dcterms:W3CDTF">2026-10-14T17:23:05Z</dcterms:modified>
</cp:coreProperties>
</file>