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Versión para proyectar. El texto completo de las secciones A y B está en la diapositiva oculta del anexo, al final del archivo.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Seguimiento a observaciones de visitas anteriores.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requerimientos DS-SABAO-BCS-BC-23486 (versión corta). Secciones A y B. 'Comentario CA: 14/10/2026 Compromiso' se muestra como 'Pendiente'.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RIZ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000" dirty="0"/>
          </a:p>
        </p:txBody>
      </p:sp>
      <p:pic>
        <p:nvPicPr>
          <p:cNvPr id="3" name="Image 0" descr="logo_comed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4255" y="109728"/>
            <a:ext cx="1965960" cy="60350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</a:t>
            </a:r>
            <a:endParaRPr lang="en-US" sz="2000" dirty="0"/>
          </a:p>
        </p:txBody>
      </p:sp>
      <p:graphicFrame>
        <p:nvGraphicFramePr>
          <p:cNvPr id="2" name="Tabla A y 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49808"/>
          <a:ext cx="11368735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338328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Gestión de Riesgo de LDA/FT/FPADM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A.1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conformación y actualización de expedientes de clientes.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A.2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Deficiencias en la identificación de la actividad económica realizada por clientes.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Proceso de implementación de la Herramienta de Monitoreo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de la Entidad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B.2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actualización de Metodología y matriz de riesgo LA/FT/FPADM Clientes o asociados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B.3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en el proceso de remisión de reportería regulada a la Web Service de UIF.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B.4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Automatización de la herramienta de validación de Listas de Cautela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B.5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evidencia en los porcentajes de avance comunicados en el cronograma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B.6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Revisión documentación conforme artículo22 de la NRP-23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informe elaborado en fecha 13 de diciembre de 20… (ver anexo)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Riesgos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B.7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Debilidades en el contrato del servicio de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adjuntará la propuesta de la Gerencia Legal por medio… (ver anexo)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Gerencia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B.8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Debilidad en el Alcance de las Pruebas Continuidad del Negocio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proveedor critico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Riesgos/Gerencia de sistemas/Seguridad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B.9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los procedimientos de Respaldos.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Gerencia de Sistemas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B.10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Deficiencia en la hora del sistema y la herramienta de Monitoreo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correos de gestion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B.11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Verificación de las condiciones en ACRM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B.12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de Accesos a los Datos de COMEDICA, alojada en la Herramienta de Monitoreo.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B.13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Limitante para identificar la base de datos de 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B.14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documentación que dé cumplimiento a lo requerido por el artículo 22 de la NRP-23 correspondiente a la adquisición del sistema CRM.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B.15 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Servicios tercerizados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· Pendiente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 / Seguridad de la Información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</a:t>
            </a:r>
            <a:endParaRPr lang="en-US" sz="2000" dirty="0"/>
          </a:p>
        </p:txBody>
      </p:sp>
      <p:graphicFrame>
        <p:nvGraphicFramePr>
          <p:cNvPr id="3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11368735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056632"/>
                <a:gridCol w="137160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seguimiento a observaciones de visitas anteriores con referencia al 31 de mayo de 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 de la gestión de los Riesgos de Crédito, Operacional y Tecnológico, con referencia al 31 de enero de 2025; resultados preliminares comunicados mediante nota No. DS-SABAO-BCS-BC-16572 del 10 de septiembre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C.1.1. Gestión del Riesgo de Crédito.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Falta de eficacia en la subsanación de observaciones determinadas por el Departamento de Auditoría Interna.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COMEDICA: en el Plan de Auditoría interna 2026 se incluyó seguimientos trimestrales como actividad 44 para solventar la observación.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28 2024 y AI 45 2024 Otorgamiento de Préstamos.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a los informes AI 44-2025, AI 64-2025 y AI 20-2026. Como resultado, las observaciones quedaron solventadas. (Se anexan los informes).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21 2024 y AI 26 2024 Otorgamiento de Tarjeta de Crédito.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realizó el seguimiento correspondiente en los informes AI 14 2025 y AI 69 2025. Como resultado, las observaciones quedaron solventadas. (Se anexan los informes).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Informes AI 32 2024; AI 37 2024 y AI 52 2024.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continuará con el seguimiento, solicitando nuevamente planes de acción con fechas plazo, a cada unidad responsable.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3: Seguimiento inoportuno de las observaciones por parte de Auditoría Interna.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 COMEDICA de R.L.: En el Plan de Auditoría Interna 2026 se incluyó seguimientos trimestrales como actividad 44 para solventar la observación.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dar seguimiento a los informes se ha elaborado una matriz con las observaciones de todos los informes, la matriz es actualizada trimestralmente.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la matriz de seguimiento de informes.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C.1.2. Gestión de Riesgo Operacional y Tecnológico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Seguimiento a informes de observaciones del Comité de Auditoría y de Auditoría Interna durante el período 2023.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 : Parciamente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realizará nuevamente el seguimiento de las observaciones pendientes de solventar en las Actas: 173 y 175;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Plazo: 30/11/2026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Verificacion de las Normas Técnicas para la Gestión de los Riesgos de Lavado de Dinero y de Activos, Financiacion del Terrorismo y la Financiacion de la Proliferacion de Armas de Destruccion Masiva (NRP-36), con referencia al 31 de mayo de 2025, comunicadas mediante nota No. DS-SABAO-BCS-BC-18445 del 30 de octubre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1. Falta de aplicación del factor de riesgo empleados.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No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Oficialía de Cumplimiento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4. Seguimiento de observaciones de Auditoría Interna de años anteriores no subsanadas.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Estado: Parcialmente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comentarios ni documentación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Auditoría interna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C.3.1. Gestión de riesgo de Liquidez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elementos en el plan de contingencia.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Inconsistencia en los roles y responsabilidades asignados en la elaboración del Plan de Contingencia de Liquidez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trabajará en modificar el Plan de Contingencia de Liquidez para subsanar las observaciones indicadas por la SSF.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finalización: 16 de noviembre de 2026.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 gridSpan="3"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C.3.2. Gestión de riesgo Operacional y Tecnológico.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1: Falta de actualización de normativa interna relacionada la gestión de Riesgo Operacional y Tecnológico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Seguimiento realizado en la presente visita de supervisión: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Parcialmente superada.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agrega documentos actualizados, según detalle: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de Gestión de Riesgo Operacional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de Administración de Riesgo Tecnológico.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 de presentar al Comité de Riesgos: Política de contratación de servicios críticos tercerizados.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 2: Omisión de la presentación del objetivo mínimo de continuidad de negocio (MBCO) en BIA con referencia al 31 de agosto del 2024.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de la observación: No superada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2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Programado actualizar el BIA en noviembre 2026, siendo esa fecha en la que se incorporará lo solicitado.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</a:t>
                      </a:r>
                      <a:endParaRPr lang="en-US" sz="7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 · Anexo A y B (texto completo)</a:t>
            </a:r>
            <a:endParaRPr lang="en-US" sz="2000" dirty="0"/>
          </a:p>
        </p:txBody>
      </p:sp>
      <p:sp>
        <p:nvSpPr>
          <p:cNvPr id="3" name="Sección A"/>
          <p:cNvSpPr txBox="1"/>
          <p:nvPr/>
        </p:nvSpPr>
        <p:spPr>
          <a:xfrm>
            <a:off x="411480" y="694944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A. Gestión de Riesgo de LDA/FT/FPADM</a:t>
            </a:r>
            <a:endParaRPr lang="en-US" sz="1100" dirty="0"/>
          </a:p>
        </p:txBody>
      </p:sp>
      <p:graphicFrame>
        <p:nvGraphicFramePr>
          <p:cNvPr id="4" name="Tabla sección 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69264"/>
          <a:ext cx="11368735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5788152"/>
                <a:gridCol w="160020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A.1  Deficiencias en la conformación y actualización de expedientes de clientes.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A.2  Deficiencias en la identificación de la actividad económica realizada por clientes.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ección B"/>
          <p:cNvSpPr txBox="1"/>
          <p:nvPr/>
        </p:nvSpPr>
        <p:spPr>
          <a:xfrm>
            <a:off x="411480" y="1627632"/>
            <a:ext cx="11368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B. Proceso de implementación de la Herramienta de Monitoreo</a:t>
            </a:r>
            <a:endParaRPr lang="en-US" sz="1100" dirty="0"/>
          </a:p>
        </p:txBody>
      </p:sp>
      <p:graphicFrame>
        <p:nvGraphicFramePr>
          <p:cNvPr id="7" name="Tabla sección 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901952"/>
          <a:ext cx="11368735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5788152"/>
                <a:gridCol w="1600200"/>
              </a:tblGrid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9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  Falta de actualización de Metodología y matriz de riesgo LA/FT/FPADM de la Entidad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B.2  Falta de actualización de Metodología y matriz de riesgo LA/FT/FPADM Clientes o asociados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B.3  Falta de automatización en el proceso de remisión de reportería regulada a la Web Service de UIF.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B.4  Falta de Automatización de la herramienta de validación de Listas de Cautela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B.5  Falta de evidencia en los porcentajes de avance comunicados en el cronograma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B.6  Revisión documentación conforme artículo22 de la NRP-23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anexa informe elaborado en fecha 13 de diciembre de 2024, sobre proyecto de implementación de un nuevo sistema de monitoreo de LDA/FT/FPADM y del sistema de fraude de canales digitales.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Jefe de Riesgos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B.7  Debilidades en el contrato del servicio de software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adjuntará la propuesta de la Gerencia Legal por medio de correo de fecha 09 de octubre 2026, envió propuesta a la Gerencia de Cumplimiento y Seguridad de la Información para la modificación del contrato.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Legal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B.8  Debilidad en el Alcance de las Pruebas Continuidad del Negocio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 proveedor critico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Administración de Riesgos/Gerencia de sistemas/Seguridad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B.9  Deficiencia en los procedimientos de Respaldos.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Gerencia de Sistemas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B.10  Deficiencia en la hora del sistema y la herramienta de Monitoreo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correos de gestion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B.11  Verificación de las condiciones en ACRM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B.12  Limitante de Accesos a los Datos de COMEDICA, alojada en la Herramienta de Monitoreo.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B.13  Limitante para identificar la base de datos de CRM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B.14  Falta de documentación que dé cumplimiento a lo requerido por el artículo 22 de la NRP-23 correspondiente a la adquisición del sistema CRM.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B.15  Servicios tercerizados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acción: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 Licda. Bonilla: 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just" indent="0" marL="0">
                        <a:buNone/>
                      </a:pPr>
                      <a:r>
                        <a:rPr lang="en-US" sz="76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cumplimiento: 30 de noviembre de 2026.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Cumplimiento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 Seguridad de la Información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PptxGenJS</cp:lastModifiedBy>
  <cp:revision>1</cp:revision>
  <dcterms:created xsi:type="dcterms:W3CDTF">2026-10-14T17:10:16Z</dcterms:created>
  <dcterms:modified xsi:type="dcterms:W3CDTF">2026-10-14T17:10:16Z</dcterms:modified>
</cp:coreProperties>
</file>