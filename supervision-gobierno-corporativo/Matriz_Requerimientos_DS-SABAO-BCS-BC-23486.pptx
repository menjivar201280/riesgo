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2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949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 (versión corta). Secciones A y B. 'Comentario CA: 14/10/2026 Compromiso' se muestra como 'Pendiente'.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95209"/>
            <a:ext cx="9174175" cy="266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SV" sz="1800" b="1" noProof="0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 </a:t>
            </a:r>
            <a:endParaRPr lang="es-SV" sz="1800" noProof="0" dirty="0">
              <a:solidFill>
                <a:srgbClr val="002060"/>
              </a:solidFill>
            </a:endParaRPr>
          </a:p>
        </p:txBody>
      </p:sp>
      <p:sp>
        <p:nvSpPr>
          <p:cNvPr id="3" name="Sección A"/>
          <p:cNvSpPr txBox="1"/>
          <p:nvPr/>
        </p:nvSpPr>
        <p:spPr>
          <a:xfrm>
            <a:off x="411480" y="466542"/>
            <a:ext cx="2484120" cy="19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100" b="1" noProof="0" dirty="0">
                <a:solidFill>
                  <a:schemeClr val="accent1"/>
                </a:solidFill>
              </a:rPr>
              <a:t>A. Gestión de Riesgo de LDA/FT/FPADM</a:t>
            </a:r>
            <a:endParaRPr lang="es-SV" sz="1100" noProof="0" dirty="0"/>
          </a:p>
        </p:txBody>
      </p:sp>
      <p:graphicFrame>
        <p:nvGraphicFramePr>
          <p:cNvPr id="4" name="Tabla sección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019786"/>
              </p:ext>
            </p:extLst>
          </p:nvPr>
        </p:nvGraphicFramePr>
        <p:xfrm>
          <a:off x="44116" y="704749"/>
          <a:ext cx="12103769" cy="569976"/>
        </p:xfrm>
        <a:graphic>
          <a:graphicData uri="http://schemas.openxmlformats.org/drawingml/2006/table">
            <a:tbl>
              <a:tblPr/>
              <a:tblGrid>
                <a:gridCol w="4235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Funcionario Responsable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A.1  Deficiencias en la conformación y actualización de expedientes de clientes.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A.2  Deficiencias en la identificación de la actividad económica realizada por clientes.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ección B"/>
          <p:cNvSpPr txBox="1"/>
          <p:nvPr/>
        </p:nvSpPr>
        <p:spPr>
          <a:xfrm>
            <a:off x="408737" y="1360640"/>
            <a:ext cx="3754189" cy="19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100" b="1" noProof="0" dirty="0">
                <a:solidFill>
                  <a:schemeClr val="accent1"/>
                </a:solidFill>
              </a:rPr>
              <a:t>B. Proceso de implementación de la Herramienta de Monitoreo</a:t>
            </a:r>
            <a:endParaRPr lang="es-SV" sz="1100" noProof="0" dirty="0"/>
          </a:p>
        </p:txBody>
      </p:sp>
      <p:graphicFrame>
        <p:nvGraphicFramePr>
          <p:cNvPr id="7" name="Tabla sección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19768"/>
              </p:ext>
            </p:extLst>
          </p:nvPr>
        </p:nvGraphicFramePr>
        <p:xfrm>
          <a:off x="44116" y="1569069"/>
          <a:ext cx="12103768" cy="5173964"/>
        </p:xfrm>
        <a:graphic>
          <a:graphicData uri="http://schemas.openxmlformats.org/drawingml/2006/table">
            <a:tbl>
              <a:tblPr/>
              <a:tblGrid>
                <a:gridCol w="4235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0062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  Falta de actualización de Metodología y matriz de riesgo LA/FT/FPADM de la Entidad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B.2  Falta de actualización de Metodología y matriz de riesgo LA/FT/FPADM Clientes o asociados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B.3  Falta de automatización en el proceso de remisión de reportería regulada a la Web Service de UIF.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24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B.4  Falta de Automatización de la herramienta de validación de Listas de Cautela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24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B.5  Falta de evidencia en los porcentajes de avance comunicados en el cronograma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B.6  Revisión documentación conforme artículo22 de la NRP-23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Jefe de Riesgos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7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B.7  Debilidades en el contrato del servicio de software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Gerencia Legal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498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B.8  Debilidad en el Alcance de las Pruebas Continuidad del Negocio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Plan de acción: proveedor critico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Riesgos/Gerencia de sistemas/Seguridad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B.9  Deficiencia en los procedimientos de Respaldos.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Plan de acción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Gerencia de Sistemas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B.10  Deficiencia en la hora del sistema y la herramienta de Monitoreo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Descargo correos </a:t>
                      </a:r>
                      <a:r>
                        <a:rPr lang="es-SV" sz="800" noProof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 gestión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B.11  Verificación de las condiciones en ACRM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B.12  Limitante de Accesos a los Datos de COMEDICA, alojada en la Herramienta de Monitoreo.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B.13  Limitante para identificar la base de datos de CRM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B.14  Falta de documentación que dé cumplimiento a lo requerido por el artículo 22 de la NRP-23 correspondiente a la adquisición del sistema CRM.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97519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B.15  Servicios tercerizados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cumplimiento: 30 de noviembre de 2026.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pic>
        <p:nvPicPr>
          <p:cNvPr id="8" name="Logo COMED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560" y="0"/>
            <a:ext cx="196596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5227" y="78205"/>
            <a:ext cx="8523973" cy="30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SV" sz="1800" b="1" noProof="0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s-SV" sz="1800" noProof="0" dirty="0">
              <a:solidFill>
                <a:srgbClr val="002060"/>
              </a:solidFill>
            </a:endParaRPr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962269"/>
              </p:ext>
            </p:extLst>
          </p:nvPr>
        </p:nvGraphicFramePr>
        <p:xfrm>
          <a:off x="112296" y="559367"/>
          <a:ext cx="11983452" cy="6198290"/>
        </p:xfrm>
        <a:graphic>
          <a:graphicData uri="http://schemas.openxmlformats.org/drawingml/2006/table">
            <a:tbl>
              <a:tblPr/>
              <a:tblGrid>
                <a:gridCol w="5206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1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6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Funcionario Responsable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016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Dar seguimiento a observaciones de visitas anteriores con referencia al 31 de mayo de 2026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C.1.1. Gestión del Riesgo de Crédito.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7959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Falta de eficacia en la subsanación de observaciones determinadas por el Departamento de Auditoría Interna.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parcialmente superada</a:t>
                      </a:r>
                      <a:endParaRPr lang="es-SV" sz="750" noProof="0" dirty="0">
                        <a:solidFill>
                          <a:schemeClr val="accent4">
                            <a:lumMod val="75000"/>
                          </a:schemeClr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AI 28 2024 y AI 45 2024 Otorgamiento de Préstamos.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AI 21 2024 y AI 26 2024 Otorgamiento de Tarjeta de Crédito.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Informes AI 32 2024; AI 37 2024 y AI 52 2024.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continuará con el seguimiento, solicitando nuevamente planes de acción con fechas plazo, a cada unidad responsable.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Plazo: 30/11/2026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57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3: Seguimiento inoportuno de las observaciones por parte de Auditoría Interna.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anexa la matriz de seguimiento de informes.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C.1.2. Gestión de Riesgo Operacional y Tecnológico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Seguimiento a informes de observaciones del Comité de Auditoría y de Auditoría Interna durante el período 2023.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 : Parciamente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realizará nuevamente el seguimiento de las observaciones pendientes de solventar en las Actas: 173 y 175;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Plazo: 30/11/2026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738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1. Falta de aplicación del factor de riesgo empleados.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No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Sin comentarios ni documentación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Oficialía de Cumplimiento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4. Seguimiento de observaciones de Auditoría Interna de años anteriores no subsanadas.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Parcialmente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MX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gestionará con la Gerencia de Oficialía de Cumplimiento un nuevo Plan de Acción. Auditoría Interna dará seguimiento.</a:t>
                      </a: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Plazo: 30/11/2026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738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C.3.1. Gestión de riesgo de Liquidez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1: Falta de elementos en el plan de contingencia.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trabajará en modificar el Plan de Contingencia de Liquidez para subsanar las observaciones indicadas por la SSF.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finalización: 16 de noviembre de 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Financiera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Inconsistencia en los roles y responsabilidades asignados en la elaboración del Plan de Contingencia de Liquidez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trabajará en modificar el Plan de Contingencia de Liquidez para subsanar las observaciones indicadas por la SSF.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finalización: 16 de noviembre de 2026.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Financiera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C.3.2. Gestión de riesgo Operacional y Tecnológico.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04293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1: Falta de actualización de normativa interna relacionada la gestión de Riesgo Operacional y Tecnológico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Parcialmente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agrega documentos actualizados, según detalle: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Política de Gestión de Riesgo Operacional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Manual de Administración de Riesgo Tecnológico.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 de presentar al Comité de Riesgos: Política de contratación de servicios críticos tercerizados.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Programado actualizar el BIA en noviembre 2026, siendo esa fecha en la que se incorporará lo solicitado.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pic>
        <p:nvPicPr>
          <p:cNvPr id="4" name="Logo COMED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813" y="-44137"/>
            <a:ext cx="1965960" cy="603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1568</Words>
  <Application>Microsoft Office PowerPoint</Application>
  <PresentationFormat>Panorámica</PresentationFormat>
  <Paragraphs>145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SSF Gobierno Corporativo</vt:lpstr>
      <vt:lpstr>Matriz de requerimientos DS-SABAO-BCS-BC-23486 · Gestión de Riesgo Específico </vt:lpstr>
      <vt:lpstr>Matriz de requerimientos DS-SABAO-BCS-BC-23486 · Gestión de Riesgo Específico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Henrry Daniel Escamilla Zaldaña</cp:lastModifiedBy>
  <cp:revision>6</cp:revision>
  <dcterms:created xsi:type="dcterms:W3CDTF">2026-10-14T17:10:57Z</dcterms:created>
  <dcterms:modified xsi:type="dcterms:W3CDTF">2026-10-14T17:40:37Z</dcterms:modified>
</cp:coreProperties>
</file>