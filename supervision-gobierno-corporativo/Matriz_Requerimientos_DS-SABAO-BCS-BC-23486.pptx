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requerimientos de la Circular DS-SABAO-BCS-BC-23486 (versión corta). Izquierda: 17 observaciones nuevas (A. Gestión de riesgo de LDA/FT/FPADM y B. Implementación de la herramienta de monitoreo); en la matriz todas tienen 'Comentario CA: 14/10/2026 Compromiso'. Derecha: 9 observaciones de visitas anteriores en seguimiento: 5 no superadas y 4 parcialmente superadas. La redacción se adaptó a un lenguaje sencillo sin cambiar el contenido.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RIZ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28600"/>
            <a:ext cx="7315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SECCIÓN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45720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400" dirty="0"/>
          </a:p>
        </p:txBody>
      </p:sp>
      <p:sp>
        <p:nvSpPr>
          <p:cNvPr id="4" name="Text 0"/>
          <p:cNvSpPr/>
          <p:nvPr/>
        </p:nvSpPr>
        <p:spPr>
          <a:xfrm>
            <a:off x="411480" y="65653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SSF · Matriz de requerimientos · COMEDICA de R.L.</a:t>
            </a:r>
            <a:endParaRPr lang="en-US" sz="8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11480" y="2286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CIRCULAR DS-SABAO-BCS-BC-23486 · MATRIZ DE REQUERIMIENTOS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11480" y="45720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de la SSF y respuesta de COMEDICA</a:t>
            </a:r>
            <a:endParaRPr lang="en-US" sz="2400" dirty="0"/>
          </a:p>
        </p:txBody>
      </p:sp>
      <p:sp>
        <p:nvSpPr>
          <p:cNvPr id="4" name="Cifra nuevas"/>
          <p:cNvSpPr/>
          <p:nvPr/>
        </p:nvSpPr>
        <p:spPr>
          <a:xfrm>
            <a:off x="7498080" y="274320"/>
            <a:ext cx="77724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5" name="Cifra texto nuevas"/>
          <p:cNvSpPr txBox="1"/>
          <p:nvPr/>
        </p:nvSpPr>
        <p:spPr>
          <a:xfrm>
            <a:off x="7498080" y="27432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nuevas</a:t>
            </a:r>
            <a:endParaRPr lang="en-US" sz="2000" dirty="0"/>
          </a:p>
        </p:txBody>
      </p:sp>
      <p:sp>
        <p:nvSpPr>
          <p:cNvPr id="6" name="Cifra en seguimiento"/>
          <p:cNvSpPr/>
          <p:nvPr/>
        </p:nvSpPr>
        <p:spPr>
          <a:xfrm>
            <a:off x="8348472" y="274320"/>
            <a:ext cx="100584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7" name="Cifra texto en seguimiento"/>
          <p:cNvSpPr txBox="1"/>
          <p:nvPr/>
        </p:nvSpPr>
        <p:spPr>
          <a:xfrm>
            <a:off x="8348472" y="2743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en seguimiento</a:t>
            </a:r>
            <a:endParaRPr lang="en-US" sz="2000" dirty="0"/>
          </a:p>
        </p:txBody>
      </p:sp>
      <p:sp>
        <p:nvSpPr>
          <p:cNvPr id="8" name="Cifra no superadas"/>
          <p:cNvSpPr/>
          <p:nvPr/>
        </p:nvSpPr>
        <p:spPr>
          <a:xfrm>
            <a:off x="9427464" y="274320"/>
            <a:ext cx="96012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Cifra texto no superadas"/>
          <p:cNvSpPr txBox="1"/>
          <p:nvPr/>
        </p:nvSpPr>
        <p:spPr>
          <a:xfrm>
            <a:off x="9427464" y="274320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no superadas</a:t>
            </a:r>
            <a:endParaRPr lang="en-US" sz="2000" dirty="0"/>
          </a:p>
        </p:txBody>
      </p:sp>
      <p:sp>
        <p:nvSpPr>
          <p:cNvPr id="10" name="Cifra parcialmente superadas"/>
          <p:cNvSpPr/>
          <p:nvPr/>
        </p:nvSpPr>
        <p:spPr>
          <a:xfrm>
            <a:off x="10460736" y="274320"/>
            <a:ext cx="132588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1" name="Cifra texto parcialmente superadas"/>
          <p:cNvSpPr txBox="1"/>
          <p:nvPr/>
        </p:nvSpPr>
        <p:spPr>
          <a:xfrm>
            <a:off x="10460736" y="274320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parcialmente superadas</a:t>
            </a:r>
            <a:endParaRPr lang="en-US" sz="2000" dirty="0"/>
          </a:p>
        </p:txBody>
      </p:sp>
      <p:sp>
        <p:nvSpPr>
          <p:cNvPr id="12" name="Etiqueta nuevas"/>
          <p:cNvSpPr txBox="1"/>
          <p:nvPr/>
        </p:nvSpPr>
        <p:spPr>
          <a:xfrm>
            <a:off x="411480" y="1033272"/>
            <a:ext cx="6172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1"/>
                </a:solidFill>
              </a:rPr>
              <a:t>OBSERVACIONES NUEVAS DE LA VISITA</a:t>
            </a:r>
            <a:endParaRPr lang="en-US" sz="950" dirty="0"/>
          </a:p>
        </p:txBody>
      </p:sp>
      <p:sp>
        <p:nvSpPr>
          <p:cNvPr id="13" name="Etiqueta seguimiento"/>
          <p:cNvSpPr txBox="1"/>
          <p:nvPr/>
        </p:nvSpPr>
        <p:spPr>
          <a:xfrm>
            <a:off x="6812280" y="1033272"/>
            <a:ext cx="49679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3"/>
                </a:solidFill>
              </a:rPr>
              <a:t>SEGUIMIENTO A OBSERVACIONES DE VISITAS ANTERIORES</a:t>
            </a:r>
            <a:endParaRPr lang="en-US" sz="950" dirty="0"/>
          </a:p>
        </p:txBody>
      </p:sp>
      <p:graphicFrame>
        <p:nvGraphicFramePr>
          <p:cNvPr id="2" name="Tabla observaciones nuev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98448"/>
          <a:ext cx="6172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spc="100" kern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spc="100" kern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spc="100" kern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GESTIÓN DE RIESGO DE LDA/FT/FPADM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Expedientes de clientes incompletos o sin actualizar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 al 14/10/2026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No se identifica bien la actividad económica de los clientes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 al 14/10/2026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IMPLEMENTACIÓN DE LA HERRAMIENTA DE MONITOREO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Metodología y matriz de riesgo LA/FT/FPADM de la entidad sin actualizar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 al 14/10/2026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Metodología y matriz de riesgo de clientes o asociados sin actualizar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 al 14/10/2026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El envío de reportes regulados a la UIF (Web Service) no está automatizado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 al 14/10/2026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La validación de Listas de Cautela no está automatizada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 al 14/10/2026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No hay evidencia de los avances reportados en el cronograma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 al 14/10/2026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 Revisión de documentos según el artículo 22 de la NRP-23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adjuntará evidencia de la fecha de la matriz de riesgos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Riesgos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 Debilidades en el contrato del servicio de software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Legal envió propuesta para modificar el contrato (correo del 09/10/2026)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Gerencia Legal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 Las pruebas de continuidad del negocio tienen un alcance limitado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 con el proveedor crítico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 Fallas en los procedimientos de respaldos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Gerencia de Sistemas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 La hora del sistema no cuadra con la herramienta de monitoreo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con correos de gestión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 Verificación de las condiciones en ACRM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 Acceso limitado a los datos de COMEDICA en la herramienta de monitoreo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 No se logra identificar la base de datos del CRM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 al 14/10/2026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 Falta documentación del artículo 22 de la NRP-23 por la compra del CRM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 Servicios tercerizados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de la Información reevaluará riesgos y controles del servicio ACRM con el proveedor · vence 30/11/2026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a seguimient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298448"/>
          <a:ext cx="496793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0574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spc="100" kern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spc="100" kern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spc="100" kern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 CRÉDITO, OPERACIONAL Y TECNOLÓGICO · CIRCULAR 16572 (10/09/2025)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2 · Auditoría Interna no logra que se corrijan sus observaciones</a:t>
                      </a:r>
                      <a:pPr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PARCIALMENTE SUPERADA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Préstamos y tarjetas de crédito: ya solventadas. Informes AI 32, 37 y 52 de 2024 siguen en seguimiento · vence 30/11/2026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3 · Auditoría Interna da seguimiento fuera de tiempo</a:t>
                      </a:r>
                      <a:pPr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SUPERADA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creó una matriz de seguimiento de informes que se actualiza cada trimestre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2 · Seguimiento a informes del Comité de Auditoría y de Auditoría Interna 2023</a:t>
                      </a:r>
                      <a:pPr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PARCIALMENTE SUPERADA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retomará el seguimiento de lo pendiente en las Actas 173 y 175 · vence 30/11/2026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C.2 NRP-36 (LDA/FT/FPADM) · CIRCULAR 18445 (30/10/2025)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1 · No se aplica el factor de riesgo «empleados»</a:t>
                      </a:r>
                      <a:pPr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SUPERADA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Oficialía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4 · Observaciones de Auditoría Interna de años anteriores sin corregir</a:t>
                      </a:r>
                      <a:pPr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PARCIALMENTE SUPERADA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spc="100" kern="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 GUÍAS DE CALIDAD · CIRCULAR 29295 (03/12/2025)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· Obs. 1 · Al plan de contingencia le faltan elementos</a:t>
                      </a:r>
                      <a:pPr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SUPERADA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ajustará el Plan de Contingencia de Liquidez · vence 16/11/2026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· Obs. 2 · Roles y responsabilidades del plan de contingencia no cuadran</a:t>
                      </a:r>
                      <a:pPr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SUPERADA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ajustará el Plan de Contingencia de Liquidez · vence 16/11/2026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Operacional y tecnológico · Obs. 1 · Normativa interna desactualizada</a:t>
                      </a:r>
                      <a:pPr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PARCIALMENTE SUPERADA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 actualizadas: Política de Riesgo Operacional y Manual de Riesgo Tecnológico. Falta llevar al Comité de Riesgos la Política de servicios críticos tercerizados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Operacional y tecnológico · Obs. 2 · El BIA no incluye el objetivo mínimo de continuidad (MBCO)</a:t>
                      </a:r>
                      <a:pPr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SUPERADA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Actualización del BIA programada para noviembre de 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22860" marB="228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Nota compromiso"/>
          <p:cNvSpPr txBox="1"/>
          <p:nvPr/>
        </p:nvSpPr>
        <p:spPr>
          <a:xfrm>
            <a:off x="4206240" y="103327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Todas con compromiso al 14/10/2026</a:t>
            </a:r>
            <a:endParaRPr lang="en-US" sz="850" dirty="0"/>
          </a:p>
        </p:txBody>
      </p:sp>
      <p:sp>
        <p:nvSpPr>
          <p:cNvPr id="17" name="Vencimientos fondo"/>
          <p:cNvSpPr/>
          <p:nvPr/>
        </p:nvSpPr>
        <p:spPr>
          <a:xfrm>
            <a:off x="6812280" y="5779008"/>
            <a:ext cx="4967935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8" name="Vencimientos título"/>
          <p:cNvSpPr txBox="1"/>
          <p:nvPr/>
        </p:nvSpPr>
        <p:spPr>
          <a:xfrm>
            <a:off x="6949440" y="5852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chemeClr val="accent1"/>
                </a:solidFill>
              </a:rPr>
              <a:t>PRÓXIMOS VENCIMIENTOS</a:t>
            </a:r>
            <a:endParaRPr lang="en-US" sz="800" dirty="0"/>
          </a:p>
        </p:txBody>
      </p:sp>
      <p:sp>
        <p:nvSpPr>
          <p:cNvPr id="19" name="Vence 0"/>
          <p:cNvSpPr/>
          <p:nvPr/>
        </p:nvSpPr>
        <p:spPr>
          <a:xfrm>
            <a:off x="6949440" y="6071616"/>
            <a:ext cx="1503578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0" name="Vence texto 0"/>
          <p:cNvSpPr txBox="1"/>
          <p:nvPr/>
        </p:nvSpPr>
        <p:spPr>
          <a:xfrm>
            <a:off x="7022592" y="6080760"/>
            <a:ext cx="1357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16 NOV 2026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chemeClr val="tx1"/>
                </a:solidFill>
              </a:rPr>
              <a:t>Plan de Contingencia de Liquidez</a:t>
            </a:r>
            <a:endParaRPr lang="en-US" sz="850" dirty="0"/>
          </a:p>
        </p:txBody>
      </p:sp>
      <p:sp>
        <p:nvSpPr>
          <p:cNvPr id="21" name="Vence 1"/>
          <p:cNvSpPr/>
          <p:nvPr/>
        </p:nvSpPr>
        <p:spPr>
          <a:xfrm>
            <a:off x="8544458" y="6071616"/>
            <a:ext cx="1503578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2" name="Vence texto 1"/>
          <p:cNvSpPr txBox="1"/>
          <p:nvPr/>
        </p:nvSpPr>
        <p:spPr>
          <a:xfrm>
            <a:off x="8617610" y="6080760"/>
            <a:ext cx="1357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30 NOV 2026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chemeClr val="tx1"/>
                </a:solidFill>
              </a:rPr>
              <a:t>Auditoría Interna y servicio ACRM</a:t>
            </a:r>
            <a:endParaRPr lang="en-US" sz="850" dirty="0"/>
          </a:p>
        </p:txBody>
      </p:sp>
      <p:sp>
        <p:nvSpPr>
          <p:cNvPr id="23" name="Vence 2"/>
          <p:cNvSpPr/>
          <p:nvPr/>
        </p:nvSpPr>
        <p:spPr>
          <a:xfrm>
            <a:off x="10139477" y="6071616"/>
            <a:ext cx="1503578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Vence texto 2"/>
          <p:cNvSpPr txBox="1"/>
          <p:nvPr/>
        </p:nvSpPr>
        <p:spPr>
          <a:xfrm>
            <a:off x="10212629" y="6080760"/>
            <a:ext cx="1357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NOV 2026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chemeClr val="tx1"/>
                </a:solidFill>
              </a:rPr>
              <a:t>Actualización del BIA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· Circular DS-SABAO-BCS-BC-23486</dc:title>
  <dc:subject>PptxGenJS Presentation</dc:subject>
  <dc:creator>COMEDICA de R.L.</dc:creator>
  <cp:lastModifiedBy>COMEDICA de R.L.</cp:lastModifiedBy>
  <cp:revision>1</cp:revision>
  <dcterms:created xsi:type="dcterms:W3CDTF">2026-10-14T16:18:43Z</dcterms:created>
  <dcterms:modified xsi:type="dcterms:W3CDTF">2026-10-14T16:18:43Z</dcterms:modified>
</cp:coreProperties>
</file>