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Circular 17003 con 9 observaciones. 2026: Circular 22741 con 7 observaciones nuevas (Anexo A) y seguimiento a 2 de las 9 observaciones de 2025 (Anexo B): la obs. 3 no superada y la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SUPERVISIONES DE GOBIERNO CORPORATIVO · COMEDICA DE R.L.</a:t>
            </a: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4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5" name="Visita 2025"/>
          <p:cNvSpPr txBox="1"/>
          <p:nvPr/>
        </p:nvSpPr>
        <p:spPr>
          <a:xfrm>
            <a:off x="4160520" y="320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1 · supervisión ampliada</a:t>
            </a:r>
            <a:endParaRPr lang="en-US" sz="14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Norma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NRP-17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DESCARGOS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NOV 2025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33" name="Grupo 2025-2-0"/>
          <p:cNvSpPr txBox="1"/>
          <p:nvPr/>
        </p:nvSpPr>
        <p:spPr>
          <a:xfrm>
            <a:off x="7406640" y="1691640"/>
            <a:ext cx="4007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1"/>
                </a:solidFill>
              </a:rPr>
              <a:t>9 OBSERVACIONES</a:t>
            </a:r>
            <a:endParaRPr lang="en-US" sz="900" dirty="0"/>
          </a:p>
        </p:txBody>
      </p:sp>
      <p:sp>
        <p:nvSpPr>
          <p:cNvPr id="34" name="Lista 2025-2-0"/>
          <p:cNvSpPr txBox="1"/>
          <p:nvPr/>
        </p:nvSpPr>
        <p:spPr>
          <a:xfrm>
            <a:off x="7406640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1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Política de Operaciones Vinculadas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2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Confidencialidad e inducción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3 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Comités sin personal ejecutivo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4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Pago de dietas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5  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Normativa interna desactualizada</a:t>
            </a:r>
            <a:endParaRPr lang="en-US" sz="1000" dirty="0"/>
          </a:p>
        </p:txBody>
      </p:sp>
      <p:sp>
        <p:nvSpPr>
          <p:cNvPr id="35" name="Lista 2025-2-1"/>
          <p:cNvSpPr txBox="1"/>
          <p:nvPr/>
        </p:nvSpPr>
        <p:spPr>
          <a:xfrm>
            <a:off x="9456268" y="1938528"/>
            <a:ext cx="19399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Soporte de Ferias de Crédito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7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Declaración jurada (NRP-75)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8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Manual de Compras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9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Uso del Fondo de Educación</a:t>
            </a:r>
            <a:endParaRPr lang="en-US" sz="1000" dirty="0"/>
          </a:p>
        </p:txBody>
      </p:sp>
      <p:sp>
        <p:nvSpPr>
          <p:cNvPr id="36" name="Nota rojo"/>
          <p:cNvSpPr txBox="1"/>
          <p:nvPr/>
        </p:nvSpPr>
        <p:spPr>
          <a:xfrm>
            <a:off x="9456268" y="2935224"/>
            <a:ext cx="1939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3"/>
                </a:solidFill>
              </a:rPr>
              <a:t>En rojo: con seguimiento de la SSF en 2026</a:t>
            </a:r>
            <a:endParaRPr lang="en-US" sz="900" dirty="0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39" name="Visita 2026"/>
          <p:cNvSpPr txBox="1"/>
          <p:nvPr/>
        </p:nvSpPr>
        <p:spPr>
          <a:xfrm>
            <a:off x="4160520" y="33649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Visita 2 · supervisión ampliada</a:t>
            </a:r>
            <a:endParaRPr lang="en-US" sz="14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INFORME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Norma  </a:t>
            </a:r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NRP-17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RECEPCIÓN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chemeClr val="bg1"/>
                </a:solidFill>
              </a:rPr>
              <a:t>VENCE APROX.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bg1"/>
                </a:solidFill>
              </a:rPr>
              <a:t>OCT 2026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</p:sp>
      <p:sp>
        <p:nvSpPr>
          <p:cNvPr id="67" name="Grupo 2026-2-0"/>
          <p:cNvSpPr txBox="1"/>
          <p:nvPr/>
        </p:nvSpPr>
        <p:spPr>
          <a:xfrm>
            <a:off x="7406640" y="47365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2"/>
                </a:solidFill>
              </a:rPr>
              <a:t>7 NUEVAS · ANEXO A</a:t>
            </a:r>
            <a:endParaRPr lang="en-US" sz="900" dirty="0"/>
          </a:p>
        </p:txBody>
      </p:sp>
      <p:sp>
        <p:nvSpPr>
          <p:cNvPr id="68" name="Lista 2026-2-0"/>
          <p:cNvSpPr txBox="1"/>
          <p:nvPr/>
        </p:nvSpPr>
        <p:spPr>
          <a:xfrm>
            <a:off x="7406640" y="4983480"/>
            <a:ext cx="2176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1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Inducción sobre estados financieros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2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Certificación del Código de Conducta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3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Políticas sin aprobar por el Consejo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4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Sitio web de comités desactualizado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5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Integración de Comités de Apoyo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6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Reglamento del Fondo de Educación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chemeClr val="accent2"/>
                </a:solidFill>
              </a:rPr>
              <a:t>7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tx1"/>
                </a:solidFill>
              </a:rPr>
              <a:t>Transparencia ante la Asamblea</a:t>
            </a:r>
            <a:endParaRPr lang="en-US" sz="950" dirty="0"/>
          </a:p>
        </p:txBody>
      </p:sp>
      <p:sp>
        <p:nvSpPr>
          <p:cNvPr id="69" name="Grupo 2026-2-1"/>
          <p:cNvSpPr txBox="1"/>
          <p:nvPr/>
        </p:nvSpPr>
        <p:spPr>
          <a:xfrm>
            <a:off x="9692640" y="4736592"/>
            <a:ext cx="17218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chemeClr val="accent3"/>
                </a:solidFill>
              </a:rPr>
              <a:t>2 EN SEGUIMIENTO</a:t>
            </a:r>
            <a:endParaRPr lang="en-US" sz="900" dirty="0"/>
          </a:p>
        </p:txBody>
      </p:sp>
      <p:sp>
        <p:nvSpPr>
          <p:cNvPr id="70" name="Lista 2026-2-1"/>
          <p:cNvSpPr txBox="1"/>
          <p:nvPr/>
        </p:nvSpPr>
        <p:spPr>
          <a:xfrm>
            <a:off x="9692640" y="4983480"/>
            <a:ext cx="1703527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3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Comités sin ejecutivos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No superada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Obs. 5  </a:t>
            </a:r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Normativa interna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chemeClr val="accent3"/>
                </a:solidFill>
              </a:rPr>
              <a:t>Parcialmente superada</a:t>
            </a:r>
            <a:endParaRPr lang="en-US" sz="1000" dirty="0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9" name="Número 2025-1 círculo"/>
          <p:cNvSpPr/>
          <p:nvPr/>
        </p:nvSpPr>
        <p:spPr>
          <a:xfrm>
            <a:off x="731520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0" name="Número 2025-1"/>
          <p:cNvSpPr txBox="1"/>
          <p:nvPr/>
        </p:nvSpPr>
        <p:spPr>
          <a:xfrm>
            <a:off x="73152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1234440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31520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creará la política para aprobación del Consejo de Administración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4" name="Número 2025-2 círculo"/>
          <p:cNvSpPr/>
          <p:nvPr/>
        </p:nvSpPr>
        <p:spPr>
          <a:xfrm>
            <a:off x="4475378" y="1508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Número 2025-2"/>
          <p:cNvSpPr txBox="1"/>
          <p:nvPr/>
        </p:nvSpPr>
        <p:spPr>
          <a:xfrm>
            <a:off x="4475378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978298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Sin evidencia de firma de confidencialidad ni fechas de inducción en actas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75378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Acta 2579 del Consejo de Administración: fechas de inducción aprobadas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9" name="Número 2025-3 círculo"/>
          <p:cNvSpPr/>
          <p:nvPr/>
        </p:nvSpPr>
        <p:spPr>
          <a:xfrm>
            <a:off x="8219237" y="15087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20" name="Número 2025-3"/>
          <p:cNvSpPr txBox="1"/>
          <p:nvPr/>
        </p:nvSpPr>
        <p:spPr>
          <a:xfrm>
            <a:off x="8219237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722157" y="144475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19237" y="207568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4" name="Número 2025-4 círculo"/>
          <p:cNvSpPr/>
          <p:nvPr/>
        </p:nvSpPr>
        <p:spPr>
          <a:xfrm>
            <a:off x="731520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5" name="Número 2025-4"/>
          <p:cNvSpPr txBox="1"/>
          <p:nvPr/>
        </p:nvSpPr>
        <p:spPr>
          <a:xfrm>
            <a:off x="73152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1234440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Inconsistencia en pago de dietas (Reglamento vs. Asamblea General)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31520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actualizará el Reglamento de Compensaciones Económicas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9" name="Número 2025-5 círculo"/>
          <p:cNvSpPr/>
          <p:nvPr/>
        </p:nvSpPr>
        <p:spPr>
          <a:xfrm>
            <a:off x="4475378" y="32461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30" name="Número 2025-5"/>
          <p:cNvSpPr txBox="1"/>
          <p:nvPr/>
        </p:nvSpPr>
        <p:spPr>
          <a:xfrm>
            <a:off x="4475378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978298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 (más de 2 años sin revisión)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75378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2025-6 círculo"/>
          <p:cNvSpPr/>
          <p:nvPr/>
        </p:nvSpPr>
        <p:spPr>
          <a:xfrm>
            <a:off x="8219237" y="3246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5" name="Número 2025-6"/>
          <p:cNvSpPr txBox="1"/>
          <p:nvPr/>
        </p:nvSpPr>
        <p:spPr>
          <a:xfrm>
            <a:off x="8219237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722157" y="318211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soporte en expedientes de créditos de Ferias de Crédito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19237" y="381304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Negocios / Administración de Cartera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9" name="Número 2025-7 círculo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0" name="Número 2025-7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1234440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Falta de información obligatoria en declaración jurada de personas relacionadas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31520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4" name="Número 2025-8 círculo"/>
          <p:cNvSpPr/>
          <p:nvPr/>
        </p:nvSpPr>
        <p:spPr>
          <a:xfrm>
            <a:off x="4475378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45" name="Número 2025-8"/>
          <p:cNvSpPr txBox="1"/>
          <p:nvPr/>
        </p:nvSpPr>
        <p:spPr>
          <a:xfrm>
            <a:off x="4475378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978298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Omisiones en procedimientos del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75378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9" name="Número 2025-9 círculo"/>
          <p:cNvSpPr/>
          <p:nvPr/>
        </p:nvSpPr>
        <p:spPr>
          <a:xfrm>
            <a:off x="8219237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0" name="Número 2025-9"/>
          <p:cNvSpPr txBox="1"/>
          <p:nvPr/>
        </p:nvSpPr>
        <p:spPr>
          <a:xfrm>
            <a:off x="8219237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722157" y="4919472"/>
            <a:ext cx="27380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Uso del Fondo de Educación en fines distintos a los legales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19237" y="5550408"/>
            <a:ext cx="324093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/ Jefe de Administración de Riesgos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accent5"/>
                </a:solidFill>
              </a:rPr>
              <a:t>Descargo  </a:t>
            </a:r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inducción sobre estados financieros a nuevos miembros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Certificación de Lectura del Código de Conducta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Falta de formalización y aprobación de políticas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5798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Información de comités desactualizada en el sitio web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Incongruencia entre Estatutos y Código de Gobierno Corporativo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Reglamento del Fondo de Educación con conceptos no delimitados por Ley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712464"/>
            <a:ext cx="23987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Limitada transparencia a la Asamblea sobre 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chemeClr val="accent5"/>
                </a:solidFill>
              </a:rPr>
              <a:t>Respuesta: Memoria de Labores 2026 con conceptos y montos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Comités de Apoyo no integran personal ejecutivo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2026-10-13T20:49:53Z</dcterms:created>
  <dcterms:modified xsi:type="dcterms:W3CDTF">2026-10-13T20:49:53Z</dcterms:modified>
</cp:coreProperties>
</file>