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notas SSF" id="{f8a980c5-0ac1-48d0-1a13-b6f03a2a718c}">
          <p14:sldIdLst>
            <p14:sldId id="256"/>
          </p14:sldIdLst>
        </p14:section>
        <p14:section name="2 · Observaciones 2025" id="{477f850f-de6e-760b-27c3-19370312717b}">
          <p14:sldIdLst>
            <p14:sldId id="257"/>
          </p14:sldIdLst>
        </p14:section>
        <p14:section name="3 · Observaciones 2026" id="{d10f3d11-5be7-a116-e926-e24deade5a89}">
          <p14:sldIdLst>
            <p14:sldId id="258"/>
          </p14:sldIdLst>
        </p14:section>
        <p14:section name="4 · Línea de tiempo y evolución" id="{def73deb-d5db-252e-c448-92acbc19c2b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comunicados oficiales: en cada año la SSF primero notifica el nombramiento de la visita ampliada y luego remite el informe de resultados preliminares. 2025: 9 observaciones. 2026: 7 nuevas y 2 de seguimiento.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Nota 17003 (visita con corte al 30/04/2025). Las observaciones 3, 5 y 9 siguen abiertas en la visita 2026: comités sin ejecutivos (no superada), normativa desactualizada (parcialmente superada) y Fondo de Educación (reincide).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nuevas; plazo de 10 días hábiles desde el día hábil siguiente a la recepción para remitir pruebas de descargo documentadas, previo conocimiento del Consejo de Administración. Anexo B: dos observaciones de visitas anteriores siguen abiertas; plan de solución en 15 días hábiles con acciones, responsable, plazo por acción y certificación del punto de acta del Consejo. Fechas aproximadas sin asuetos; validar con el Sistema de Control de Envíos.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Ambas visitas siguieron el mismo ciclo: nombramiento, inicio de visita e informe preliminar. En 2026 la entidad está dentro de los plazos de respuesta. Tres temas persisten: comités con ejecutivos (no superada), normativa interna (parcialmente superada) y Fondo de Educación (reincide). Paleta: azul marino #173A6E para 2025, verde #1D7A4B para 2026, rojo #B42318 no superada, ámbar #D99A1E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SECCIÓN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1 · SUPERVISIONES DE GOBIERNO CORPORATIVO SSF A COMEDICA DE R.L.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de notificación SSF 2025 - 2026</a:t>
            </a:r>
            <a:endParaRPr lang="en-US" sz="3000" dirty="0"/>
          </a:p>
        </p:txBody>
      </p:sp>
      <p:sp>
        <p:nvSpPr>
          <p:cNvPr id="4" name="KPI notas oficiales SSF"/>
          <p:cNvSpPr/>
          <p:nvPr/>
        </p:nvSpPr>
        <p:spPr>
          <a:xfrm>
            <a:off x="548640" y="1463040"/>
            <a:ext cx="25678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KPI valor notas oficiales SSF"/>
          <p:cNvSpPr txBox="1"/>
          <p:nvPr/>
        </p:nvSpPr>
        <p:spPr>
          <a:xfrm>
            <a:off x="731520" y="153619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6" name="KPI texto notas oficiales SSF"/>
          <p:cNvSpPr txBox="1"/>
          <p:nvPr/>
        </p:nvSpPr>
        <p:spPr>
          <a:xfrm>
            <a:off x="731520" y="1993392"/>
            <a:ext cx="2202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notas oficiales SSF</a:t>
            </a:r>
            <a:endParaRPr lang="en-US" sz="1300" dirty="0"/>
          </a:p>
        </p:txBody>
      </p:sp>
      <p:sp>
        <p:nvSpPr>
          <p:cNvPr id="7" name="KPI observaciones 2025"/>
          <p:cNvSpPr/>
          <p:nvPr/>
        </p:nvSpPr>
        <p:spPr>
          <a:xfrm>
            <a:off x="3390824" y="1463040"/>
            <a:ext cx="25678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KPI valor observaciones 2025"/>
          <p:cNvSpPr txBox="1"/>
          <p:nvPr/>
        </p:nvSpPr>
        <p:spPr>
          <a:xfrm>
            <a:off x="3573704" y="153619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9" name="KPI texto observaciones 2025"/>
          <p:cNvSpPr txBox="1"/>
          <p:nvPr/>
        </p:nvSpPr>
        <p:spPr>
          <a:xfrm>
            <a:off x="3573704" y="1993392"/>
            <a:ext cx="2202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observaciones 2025</a:t>
            </a:r>
            <a:endParaRPr lang="en-US" sz="1300" dirty="0"/>
          </a:p>
        </p:txBody>
      </p:sp>
      <p:sp>
        <p:nvSpPr>
          <p:cNvPr id="10" name="KPI nuevas + seguimiento 2026"/>
          <p:cNvSpPr/>
          <p:nvPr/>
        </p:nvSpPr>
        <p:spPr>
          <a:xfrm>
            <a:off x="6233008" y="1463040"/>
            <a:ext cx="25678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KPI valor nuevas + seguimiento 2026"/>
          <p:cNvSpPr txBox="1"/>
          <p:nvPr/>
        </p:nvSpPr>
        <p:spPr>
          <a:xfrm>
            <a:off x="6415888" y="153619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+ 2</a:t>
            </a:r>
            <a:endParaRPr lang="en-US" sz="2800" dirty="0"/>
          </a:p>
        </p:txBody>
      </p:sp>
      <p:sp>
        <p:nvSpPr>
          <p:cNvPr id="12" name="KPI texto nuevas + seguimiento 2026"/>
          <p:cNvSpPr txBox="1"/>
          <p:nvPr/>
        </p:nvSpPr>
        <p:spPr>
          <a:xfrm>
            <a:off x="6415888" y="1993392"/>
            <a:ext cx="2202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nuevas + seguimiento 2026</a:t>
            </a:r>
            <a:endParaRPr lang="en-US" sz="1300" dirty="0"/>
          </a:p>
        </p:txBody>
      </p:sp>
      <p:sp>
        <p:nvSpPr>
          <p:cNvPr id="13" name="KPI no superada / parcial"/>
          <p:cNvSpPr/>
          <p:nvPr/>
        </p:nvSpPr>
        <p:spPr>
          <a:xfrm>
            <a:off x="9075191" y="1463040"/>
            <a:ext cx="25678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KPI valor no superada / parcial"/>
          <p:cNvSpPr txBox="1"/>
          <p:nvPr/>
        </p:nvSpPr>
        <p:spPr>
          <a:xfrm>
            <a:off x="9258071" y="153619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1</a:t>
            </a:r>
            <a:endParaRPr lang="en-US" sz="2800" dirty="0"/>
          </a:p>
        </p:txBody>
      </p:sp>
      <p:sp>
        <p:nvSpPr>
          <p:cNvPr id="15" name="KPI texto no superada / parcial"/>
          <p:cNvSpPr txBox="1"/>
          <p:nvPr/>
        </p:nvSpPr>
        <p:spPr>
          <a:xfrm>
            <a:off x="9258071" y="1993392"/>
            <a:ext cx="2202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 superada / parcial</a:t>
            </a:r>
            <a:endParaRPr lang="en-US" sz="1300" dirty="0"/>
          </a:p>
        </p:txBody>
      </p:sp>
      <p:sp>
        <p:nvSpPr>
          <p:cNvPr id="16" name="Encabezado 2025"/>
          <p:cNvSpPr/>
          <p:nvPr/>
        </p:nvSpPr>
        <p:spPr>
          <a:xfrm>
            <a:off x="548640" y="2651760"/>
            <a:ext cx="536432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Año 2025"/>
          <p:cNvSpPr txBox="1"/>
          <p:nvPr/>
        </p:nvSpPr>
        <p:spPr>
          <a:xfrm>
            <a:off x="777240" y="2651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200" dirty="0"/>
          </a:p>
        </p:txBody>
      </p:sp>
      <p:sp>
        <p:nvSpPr>
          <p:cNvPr id="18" name="Subtítulo 2025"/>
          <p:cNvSpPr txBox="1"/>
          <p:nvPr/>
        </p:nvSpPr>
        <p:spPr>
          <a:xfrm>
            <a:off x="2011680" y="2651760"/>
            <a:ext cx="367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Visita 1 · corte 30/04/2025</a:t>
            </a:r>
            <a:endParaRPr lang="en-US" sz="1300" dirty="0"/>
          </a:p>
        </p:txBody>
      </p:sp>
      <p:sp>
        <p:nvSpPr>
          <p:cNvPr id="19" name="Tarjeta 2025-1"/>
          <p:cNvSpPr/>
          <p:nvPr/>
        </p:nvSpPr>
        <p:spPr>
          <a:xfrm>
            <a:off x="548640" y="3337560"/>
            <a:ext cx="5364328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0" name="Tipo 2025-1"/>
          <p:cNvSpPr txBox="1"/>
          <p:nvPr/>
        </p:nvSpPr>
        <p:spPr>
          <a:xfrm>
            <a:off x="777240" y="347472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Nombramiento de visita ampliada</a:t>
            </a:r>
            <a:endParaRPr lang="en-US" sz="1600" dirty="0"/>
          </a:p>
        </p:txBody>
      </p:sp>
      <p:sp>
        <p:nvSpPr>
          <p:cNvPr id="21" name="Fecha 2025-1 fondo"/>
          <p:cNvSpPr/>
          <p:nvPr/>
        </p:nvSpPr>
        <p:spPr>
          <a:xfrm>
            <a:off x="4495648" y="349300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Fecha 2025-1"/>
          <p:cNvSpPr txBox="1"/>
          <p:nvPr/>
        </p:nvSpPr>
        <p:spPr>
          <a:xfrm>
            <a:off x="4495648" y="34930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09/04/2025</a:t>
            </a:r>
            <a:endParaRPr lang="en-US" sz="1100" dirty="0"/>
          </a:p>
        </p:txBody>
      </p:sp>
      <p:sp>
        <p:nvSpPr>
          <p:cNvPr id="23" name="Nota 2025-1"/>
          <p:cNvSpPr txBox="1"/>
          <p:nvPr/>
        </p:nvSpPr>
        <p:spPr>
          <a:xfrm>
            <a:off x="777240" y="3867912"/>
            <a:ext cx="490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 No. DS-SABAO-BCS-BC-9337</a:t>
            </a:r>
            <a:endParaRPr lang="en-US" sz="1300" dirty="0"/>
          </a:p>
        </p:txBody>
      </p:sp>
      <p:sp>
        <p:nvSpPr>
          <p:cNvPr id="24" name="Detalle 2025-1"/>
          <p:cNvSpPr txBox="1"/>
          <p:nvPr/>
        </p:nvSpPr>
        <p:spPr>
          <a:xfrm>
            <a:off x="777240" y="417880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Corte: 30/04/2025 · Inicio: 19/05/2025</a:t>
            </a:r>
            <a:endParaRPr lang="en-US" sz="1400" dirty="0"/>
          </a:p>
        </p:txBody>
      </p:sp>
      <p:sp>
        <p:nvSpPr>
          <p:cNvPr id="25" name="Tarjeta 2025-2"/>
          <p:cNvSpPr/>
          <p:nvPr/>
        </p:nvSpPr>
        <p:spPr>
          <a:xfrm>
            <a:off x="548640" y="4800600"/>
            <a:ext cx="5364328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6" name="Tipo 2025-2"/>
          <p:cNvSpPr txBox="1"/>
          <p:nvPr/>
        </p:nvSpPr>
        <p:spPr>
          <a:xfrm>
            <a:off x="777240" y="493776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Informe de resultados preliminares</a:t>
            </a:r>
            <a:endParaRPr lang="en-US" sz="1600" dirty="0"/>
          </a:p>
        </p:txBody>
      </p:sp>
      <p:sp>
        <p:nvSpPr>
          <p:cNvPr id="27" name="Fecha 2025-2 fondo"/>
          <p:cNvSpPr/>
          <p:nvPr/>
        </p:nvSpPr>
        <p:spPr>
          <a:xfrm>
            <a:off x="4495648" y="495604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Fecha 2025-2"/>
          <p:cNvSpPr txBox="1"/>
          <p:nvPr/>
        </p:nvSpPr>
        <p:spPr>
          <a:xfrm>
            <a:off x="4495648" y="4956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05/11/2025</a:t>
            </a:r>
            <a:endParaRPr lang="en-US" sz="1100" dirty="0"/>
          </a:p>
        </p:txBody>
      </p:sp>
      <p:sp>
        <p:nvSpPr>
          <p:cNvPr id="29" name="Nota 2025-2"/>
          <p:cNvSpPr txBox="1"/>
          <p:nvPr/>
        </p:nvSpPr>
        <p:spPr>
          <a:xfrm>
            <a:off x="777240" y="5330952"/>
            <a:ext cx="490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 No. DS-SABAO-BCS-BC-17003</a:t>
            </a:r>
            <a:endParaRPr lang="en-US" sz="1300" dirty="0"/>
          </a:p>
        </p:txBody>
      </p:sp>
      <p:sp>
        <p:nvSpPr>
          <p:cNvPr id="30" name="Detalle 2025-2"/>
          <p:cNvSpPr txBox="1"/>
          <p:nvPr/>
        </p:nvSpPr>
        <p:spPr>
          <a:xfrm>
            <a:off x="777240" y="564184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9 observaciones</a:t>
            </a:r>
            <a:endParaRPr lang="en-US" sz="1400" dirty="0"/>
          </a:p>
        </p:txBody>
      </p:sp>
      <p:sp>
        <p:nvSpPr>
          <p:cNvPr id="31" name="Encabezado 2026"/>
          <p:cNvSpPr/>
          <p:nvPr/>
        </p:nvSpPr>
        <p:spPr>
          <a:xfrm>
            <a:off x="6278728" y="2651760"/>
            <a:ext cx="536432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Año 2026"/>
          <p:cNvSpPr txBox="1"/>
          <p:nvPr/>
        </p:nvSpPr>
        <p:spPr>
          <a:xfrm>
            <a:off x="6507328" y="2651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200" dirty="0"/>
          </a:p>
        </p:txBody>
      </p:sp>
      <p:sp>
        <p:nvSpPr>
          <p:cNvPr id="33" name="Subtítulo 2026"/>
          <p:cNvSpPr txBox="1"/>
          <p:nvPr/>
        </p:nvSpPr>
        <p:spPr>
          <a:xfrm>
            <a:off x="7741768" y="2651760"/>
            <a:ext cx="367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Visita 2 · corte 31/07/2026</a:t>
            </a:r>
            <a:endParaRPr lang="en-US" sz="1300" dirty="0"/>
          </a:p>
        </p:txBody>
      </p:sp>
      <p:sp>
        <p:nvSpPr>
          <p:cNvPr id="34" name="Tarjeta 2026-1"/>
          <p:cNvSpPr/>
          <p:nvPr/>
        </p:nvSpPr>
        <p:spPr>
          <a:xfrm>
            <a:off x="6278728" y="3337560"/>
            <a:ext cx="5364328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35" name="Tipo 2026-1"/>
          <p:cNvSpPr txBox="1"/>
          <p:nvPr/>
        </p:nvSpPr>
        <p:spPr>
          <a:xfrm>
            <a:off x="6507328" y="347472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Nombramiento de visita ampliada</a:t>
            </a:r>
            <a:endParaRPr lang="en-US" sz="1600" dirty="0"/>
          </a:p>
        </p:txBody>
      </p:sp>
      <p:sp>
        <p:nvSpPr>
          <p:cNvPr id="36" name="Fecha 2026-1 fondo"/>
          <p:cNvSpPr/>
          <p:nvPr/>
        </p:nvSpPr>
        <p:spPr>
          <a:xfrm>
            <a:off x="10225735" y="349300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Fecha 2026-1"/>
          <p:cNvSpPr txBox="1"/>
          <p:nvPr/>
        </p:nvSpPr>
        <p:spPr>
          <a:xfrm>
            <a:off x="10225735" y="34930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31/07/2026</a:t>
            </a:r>
            <a:endParaRPr lang="en-US" sz="1100" dirty="0"/>
          </a:p>
        </p:txBody>
      </p:sp>
      <p:sp>
        <p:nvSpPr>
          <p:cNvPr id="38" name="Nota 2026-1"/>
          <p:cNvSpPr txBox="1"/>
          <p:nvPr/>
        </p:nvSpPr>
        <p:spPr>
          <a:xfrm>
            <a:off x="6507328" y="3867912"/>
            <a:ext cx="490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 No. SABAO-BCS-BC-18432</a:t>
            </a:r>
            <a:endParaRPr lang="en-US" sz="1300" dirty="0"/>
          </a:p>
        </p:txBody>
      </p:sp>
      <p:sp>
        <p:nvSpPr>
          <p:cNvPr id="39" name="Detalle 2026-1"/>
          <p:cNvSpPr txBox="1"/>
          <p:nvPr/>
        </p:nvSpPr>
        <p:spPr>
          <a:xfrm>
            <a:off x="6507328" y="417880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Corte: 31/07/2026 · Inicio: 21/08/2026</a:t>
            </a:r>
            <a:endParaRPr lang="en-US" sz="1400" dirty="0"/>
          </a:p>
        </p:txBody>
      </p:sp>
      <p:sp>
        <p:nvSpPr>
          <p:cNvPr id="40" name="Tarjeta 2026-2"/>
          <p:cNvSpPr/>
          <p:nvPr/>
        </p:nvSpPr>
        <p:spPr>
          <a:xfrm>
            <a:off x="6278728" y="4800600"/>
            <a:ext cx="5364328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1" name="Tipo 2026-2"/>
          <p:cNvSpPr txBox="1"/>
          <p:nvPr/>
        </p:nvSpPr>
        <p:spPr>
          <a:xfrm>
            <a:off x="6507328" y="493776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Informe de resultados preliminares</a:t>
            </a:r>
            <a:endParaRPr lang="en-US" sz="1600" dirty="0"/>
          </a:p>
        </p:txBody>
      </p:sp>
      <p:sp>
        <p:nvSpPr>
          <p:cNvPr id="42" name="Fecha 2026-2 fondo"/>
          <p:cNvSpPr/>
          <p:nvPr/>
        </p:nvSpPr>
        <p:spPr>
          <a:xfrm>
            <a:off x="10225735" y="495604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Fecha 2026-2"/>
          <p:cNvSpPr txBox="1"/>
          <p:nvPr/>
        </p:nvSpPr>
        <p:spPr>
          <a:xfrm>
            <a:off x="10225735" y="4956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09/10/2026</a:t>
            </a:r>
            <a:endParaRPr lang="en-US" sz="1100" dirty="0"/>
          </a:p>
        </p:txBody>
      </p:sp>
      <p:sp>
        <p:nvSpPr>
          <p:cNvPr id="44" name="Nota 2026-2"/>
          <p:cNvSpPr txBox="1"/>
          <p:nvPr/>
        </p:nvSpPr>
        <p:spPr>
          <a:xfrm>
            <a:off x="6507328" y="5330952"/>
            <a:ext cx="490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 No. DS-SABAO-BCS-BC-22741</a:t>
            </a:r>
            <a:endParaRPr lang="en-US" sz="1300" dirty="0"/>
          </a:p>
        </p:txBody>
      </p:sp>
      <p:sp>
        <p:nvSpPr>
          <p:cNvPr id="45" name="Detalle 2026-2"/>
          <p:cNvSpPr txBox="1"/>
          <p:nvPr/>
        </p:nvSpPr>
        <p:spPr>
          <a:xfrm>
            <a:off x="6507328" y="564184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7 nuevas (Anexo A) · 2 de seguimiento (Anexo B)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2 · NOTA DS-SABAO-BCS-BC-17003 · AÑO 2025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 de observaciones 2025</a:t>
            </a:r>
            <a:endParaRPr lang="en-US" sz="3000" dirty="0"/>
          </a:p>
        </p:txBody>
      </p:sp>
      <p:graphicFrame>
        <p:nvGraphicFramePr>
          <p:cNvPr id="3" name="Tabla observaciones 20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754880"/>
                <a:gridCol w="292608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 la observación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/ Área implicada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actual / Criterio SSF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Política de Operaciones Vinculadas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Gerencia General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Requerida por Art. 12 NRP-17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evidencia de firma de confidencialidad e inducción en actas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Secretaría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 del Manual de Inducción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Comités de Apoyo no integran personal ejecutivo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2026: NO SUPERADA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RRHH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 Art. 3 literal h) NRP-17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Inconsistencia en pago de dietas (Reglamento vs. Asamblea General)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Asamblea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 actualización del Reglamento y autorización de Asamblea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Normativa interna desactualizada (más de 2 años sin revisión)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2026: PARCIALMENTE SUPERADA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Departamento de Procesos / Líderes de Área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documentos vencidos (RIT, Auditoría, Riesgos, etc.)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soporte en expedientes de créditos de Ferias de Crédito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Créditos / Riesgos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acuerdos de CA ni soporte de tasas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información obligatoria en declaración jurada de personas relacionadas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Directivos y Equipo Gerencial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 Art. 9 NRP-75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Omisiones en procedimientos del Manual de Compras de Bienes y Servicios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Generales / Área Contratante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Cotizaciones sin sellar y falta de cláusula penal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del Fondo de Educación en fines distintos a los legales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2026: REINCIDE (Anexo A, obs. 6 y 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 de Educación / Gerencia Financiera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Gastos socio-culturales/operativos (Art. 59 Ley de Cooperativas)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3 · NOTA DS-SABAO-BCS-BC-22741 · AÑO 2026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 de observaciones 2026</a:t>
            </a:r>
            <a:endParaRPr lang="en-US" sz="3000" dirty="0"/>
          </a:p>
        </p:txBody>
      </p:sp>
      <p:graphicFrame>
        <p:nvGraphicFramePr>
          <p:cNvPr id="4" name="Tabla observaciones 20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754880"/>
                <a:gridCol w="292608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0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 la observación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0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/ Área implicada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0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actual / Criterio SSF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0EA"/>
                    </a:solidFill>
                  </a:tcPr>
                </a:tc>
              </a:tr>
              <a:tr h="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ANEXO A · OBSERVACIONES DETERMINADAS EN LA VISITA 2026 · Descargo en 10 días hábiles (buzón DESCARGOS_OBSERVACIONES, vence aprox. 23/10/2026)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inducción sobre partidas relevantes de EEFF a nuevos miembros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 / RRHH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10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Art. 11 NRP-17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Certificación de Lectura del Código de Conducta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Junta de Vigilancia / Comités de Apoyo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10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de Conducta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formalización y aprobación de Políticas por el Consejo de Administración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10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 de Retribución y Control Interno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Información de comités desactualizada en sitio web institucional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Oficialía de Cumplimiento / Comunicaciones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10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Arts. 27 y 28 NRP-17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Incongruencia entre Estatutos y Código de Gobierno Corporativo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Asesoría Legal / Consejo de Administración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10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Restricción de cargos remunerados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Reglamento del Fondo de Educación incluye conceptos no delimitados por Ley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 de Educación / Gerencia Financiera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10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Art. 5 del Reglamento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 transparencia en información presentada a Asamblea sobre Fondo de Educación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Comité de Educación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10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$100,774.28 no detallados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ANEXO B · SEGUIMIENTO A OBSERVACIONES DE VISITAS ANTERIORES · Plan de solución en 15 días hábiles (buzón PLANES_SOLUC_VISITASUPERVIS, vence aprox. 30/10/2026)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Comités de Apoyo no integran personal ejecutivo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SUPERADA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solución en 15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Normativa interna desactualizada (RIT, Comité de Auditoría, Compras)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Departamento de Procesos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PARCIALMENTE SUPERADA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solución en 15 días hábiles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4 · LÍNEA DE TIEMPO COMPARATIVA Y EVOLUCIÓN DEL CUMPLIMIENTO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tiempo 2025 vs. 2026</a:t>
            </a:r>
            <a:endParaRPr lang="en-US" sz="3000" dirty="0"/>
          </a:p>
        </p:txBody>
      </p:sp>
      <p:sp>
        <p:nvSpPr>
          <p:cNvPr id="4" name="Año línea 2025 fondo"/>
          <p:cNvSpPr/>
          <p:nvPr/>
        </p:nvSpPr>
        <p:spPr>
          <a:xfrm>
            <a:off x="548640" y="1444752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ño línea 2025"/>
          <p:cNvSpPr txBox="1"/>
          <p:nvPr/>
        </p:nvSpPr>
        <p:spPr>
          <a:xfrm>
            <a:off x="548640" y="144475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6" name="Eje 2025"/>
          <p:cNvSpPr/>
          <p:nvPr/>
        </p:nvSpPr>
        <p:spPr>
          <a:xfrm>
            <a:off x="1645920" y="1600200"/>
            <a:ext cx="63093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7" name="Hito 2025-1"/>
          <p:cNvSpPr/>
          <p:nvPr/>
        </p:nvSpPr>
        <p:spPr>
          <a:xfrm>
            <a:off x="1691640" y="1481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8" name="Hito fecha 2025-1"/>
          <p:cNvSpPr txBox="1"/>
          <p:nvPr/>
        </p:nvSpPr>
        <p:spPr>
          <a:xfrm>
            <a:off x="1691640" y="18288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ABR 2025</a:t>
            </a:r>
            <a:endParaRPr lang="en-US" sz="1100" dirty="0"/>
          </a:p>
        </p:txBody>
      </p:sp>
      <p:sp>
        <p:nvSpPr>
          <p:cNvPr id="9" name="Hito texto 2025-1"/>
          <p:cNvSpPr txBox="1"/>
          <p:nvPr/>
        </p:nvSpPr>
        <p:spPr>
          <a:xfrm>
            <a:off x="1691640" y="207568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Nombramiento SSF</a:t>
            </a:r>
            <a:endParaRPr lang="en-US" sz="1300" dirty="0"/>
          </a:p>
        </p:txBody>
      </p:sp>
      <p:sp>
        <p:nvSpPr>
          <p:cNvPr id="10" name="Hito detalle 2025-1"/>
          <p:cNvSpPr txBox="1"/>
          <p:nvPr/>
        </p:nvSpPr>
        <p:spPr>
          <a:xfrm>
            <a:off x="1691640" y="24871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Nota 9337 · corte 30/04</a:t>
            </a:r>
            <a:endParaRPr lang="en-US" sz="1050" dirty="0"/>
          </a:p>
        </p:txBody>
      </p:sp>
      <p:sp>
        <p:nvSpPr>
          <p:cNvPr id="11" name="Hito 2025-2"/>
          <p:cNvSpPr/>
          <p:nvPr/>
        </p:nvSpPr>
        <p:spPr>
          <a:xfrm>
            <a:off x="3794760" y="1481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2" name="Hito fecha 2025-2"/>
          <p:cNvSpPr txBox="1"/>
          <p:nvPr/>
        </p:nvSpPr>
        <p:spPr>
          <a:xfrm>
            <a:off x="3794760" y="18288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 2025</a:t>
            </a:r>
            <a:endParaRPr lang="en-US" sz="1100" dirty="0"/>
          </a:p>
        </p:txBody>
      </p:sp>
      <p:sp>
        <p:nvSpPr>
          <p:cNvPr id="13" name="Hito texto 2025-2"/>
          <p:cNvSpPr txBox="1"/>
          <p:nvPr/>
        </p:nvSpPr>
        <p:spPr>
          <a:xfrm>
            <a:off x="3794760" y="207568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Inicio de visita en sitio</a:t>
            </a:r>
            <a:endParaRPr lang="en-US" sz="1300" dirty="0"/>
          </a:p>
        </p:txBody>
      </p:sp>
      <p:sp>
        <p:nvSpPr>
          <p:cNvPr id="14" name="Hito 2025-3"/>
          <p:cNvSpPr/>
          <p:nvPr/>
        </p:nvSpPr>
        <p:spPr>
          <a:xfrm>
            <a:off x="5897880" y="148132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5" name="Hito fecha 2025-3"/>
          <p:cNvSpPr txBox="1"/>
          <p:nvPr/>
        </p:nvSpPr>
        <p:spPr>
          <a:xfrm>
            <a:off x="5897880" y="18288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NOV 2025</a:t>
            </a:r>
            <a:endParaRPr lang="en-US" sz="1100" dirty="0"/>
          </a:p>
        </p:txBody>
      </p:sp>
      <p:sp>
        <p:nvSpPr>
          <p:cNvPr id="16" name="Hito texto 2025-3"/>
          <p:cNvSpPr txBox="1"/>
          <p:nvPr/>
        </p:nvSpPr>
        <p:spPr>
          <a:xfrm>
            <a:off x="5897880" y="207568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Informe preliminar</a:t>
            </a:r>
            <a:endParaRPr lang="en-US" sz="1300" dirty="0"/>
          </a:p>
        </p:txBody>
      </p:sp>
      <p:sp>
        <p:nvSpPr>
          <p:cNvPr id="17" name="Hito detalle 2025-3"/>
          <p:cNvSpPr txBox="1"/>
          <p:nvPr/>
        </p:nvSpPr>
        <p:spPr>
          <a:xfrm>
            <a:off x="5897880" y="24871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Nota 17003 · 9 obs.</a:t>
            </a:r>
            <a:endParaRPr lang="en-US" sz="1050" dirty="0"/>
          </a:p>
        </p:txBody>
      </p:sp>
      <p:sp>
        <p:nvSpPr>
          <p:cNvPr id="18" name="Recuadro 2025"/>
          <p:cNvSpPr/>
          <p:nvPr/>
        </p:nvSpPr>
        <p:spPr>
          <a:xfrm>
            <a:off x="8275320" y="1371600"/>
            <a:ext cx="3367735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cuadro título 2025"/>
          <p:cNvSpPr txBox="1"/>
          <p:nvPr/>
        </p:nvSpPr>
        <p:spPr>
          <a:xfrm>
            <a:off x="8458200" y="149047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Hallazgos críticos 2025</a:t>
            </a:r>
            <a:endParaRPr lang="en-US" sz="1300" dirty="0"/>
          </a:p>
        </p:txBody>
      </p:sp>
      <p:sp>
        <p:nvSpPr>
          <p:cNvPr id="20" name="Recuadro lista 2025"/>
          <p:cNvSpPr txBox="1"/>
          <p:nvPr/>
        </p:nvSpPr>
        <p:spPr>
          <a:xfrm>
            <a:off x="8458200" y="1801368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Sin Política de Operaciones Vinculadas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Normativa interna desactualizada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Uso inapropiado del Fondo de Educación</a:t>
            </a:r>
            <a:endParaRPr lang="en-US" sz="1200" dirty="0"/>
          </a:p>
        </p:txBody>
      </p:sp>
      <p:sp>
        <p:nvSpPr>
          <p:cNvPr id="21" name="Año línea 2026 fondo"/>
          <p:cNvSpPr/>
          <p:nvPr/>
        </p:nvSpPr>
        <p:spPr>
          <a:xfrm>
            <a:off x="548640" y="2862072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Año línea 2026"/>
          <p:cNvSpPr txBox="1"/>
          <p:nvPr/>
        </p:nvSpPr>
        <p:spPr>
          <a:xfrm>
            <a:off x="548640" y="28620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23" name="Eje 2026"/>
          <p:cNvSpPr/>
          <p:nvPr/>
        </p:nvSpPr>
        <p:spPr>
          <a:xfrm>
            <a:off x="1645920" y="3017520"/>
            <a:ext cx="630936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24" name="Hito 2026-1"/>
          <p:cNvSpPr/>
          <p:nvPr/>
        </p:nvSpPr>
        <p:spPr>
          <a:xfrm>
            <a:off x="1691640" y="289864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25" name="Hito fecha 2026-1"/>
          <p:cNvSpPr txBox="1"/>
          <p:nvPr/>
        </p:nvSpPr>
        <p:spPr>
          <a:xfrm>
            <a:off x="1691640" y="3246120"/>
            <a:ext cx="1440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JUL 2026</a:t>
            </a:r>
            <a:endParaRPr lang="en-US" sz="1100" dirty="0"/>
          </a:p>
        </p:txBody>
      </p:sp>
      <p:sp>
        <p:nvSpPr>
          <p:cNvPr id="26" name="Hito texto 2026-1"/>
          <p:cNvSpPr txBox="1"/>
          <p:nvPr/>
        </p:nvSpPr>
        <p:spPr>
          <a:xfrm>
            <a:off x="1691640" y="3493008"/>
            <a:ext cx="14401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Nombramiento SSF</a:t>
            </a:r>
            <a:endParaRPr lang="en-US" sz="1300" dirty="0"/>
          </a:p>
        </p:txBody>
      </p:sp>
      <p:sp>
        <p:nvSpPr>
          <p:cNvPr id="27" name="Hito detalle 2026-1"/>
          <p:cNvSpPr txBox="1"/>
          <p:nvPr/>
        </p:nvSpPr>
        <p:spPr>
          <a:xfrm>
            <a:off x="1691640" y="3904488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Nota 18432 · corte 31/07</a:t>
            </a:r>
            <a:endParaRPr lang="en-US" sz="1050" dirty="0"/>
          </a:p>
        </p:txBody>
      </p:sp>
      <p:sp>
        <p:nvSpPr>
          <p:cNvPr id="28" name="Hito 2026-2"/>
          <p:cNvSpPr/>
          <p:nvPr/>
        </p:nvSpPr>
        <p:spPr>
          <a:xfrm>
            <a:off x="3268980" y="289864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29" name="Hito fecha 2026-2"/>
          <p:cNvSpPr txBox="1"/>
          <p:nvPr/>
        </p:nvSpPr>
        <p:spPr>
          <a:xfrm>
            <a:off x="3268980" y="3246120"/>
            <a:ext cx="1440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</a:t>
            </a:r>
            <a:endParaRPr lang="en-US" sz="1100" dirty="0"/>
          </a:p>
        </p:txBody>
      </p:sp>
      <p:sp>
        <p:nvSpPr>
          <p:cNvPr id="30" name="Hito texto 2026-2"/>
          <p:cNvSpPr txBox="1"/>
          <p:nvPr/>
        </p:nvSpPr>
        <p:spPr>
          <a:xfrm>
            <a:off x="3268980" y="3493008"/>
            <a:ext cx="14401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Inicio de visita ampliada</a:t>
            </a:r>
            <a:endParaRPr lang="en-US" sz="1300" dirty="0"/>
          </a:p>
        </p:txBody>
      </p:sp>
      <p:sp>
        <p:nvSpPr>
          <p:cNvPr id="31" name="Hito 2026-3"/>
          <p:cNvSpPr/>
          <p:nvPr/>
        </p:nvSpPr>
        <p:spPr>
          <a:xfrm>
            <a:off x="4846320" y="2898648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32" name="Hito fecha 2026-3"/>
          <p:cNvSpPr txBox="1"/>
          <p:nvPr/>
        </p:nvSpPr>
        <p:spPr>
          <a:xfrm>
            <a:off x="4846320" y="3246120"/>
            <a:ext cx="1440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OCT 2026</a:t>
            </a:r>
            <a:endParaRPr lang="en-US" sz="1100" dirty="0"/>
          </a:p>
        </p:txBody>
      </p:sp>
      <p:sp>
        <p:nvSpPr>
          <p:cNvPr id="33" name="Hito texto 2026-3"/>
          <p:cNvSpPr txBox="1"/>
          <p:nvPr/>
        </p:nvSpPr>
        <p:spPr>
          <a:xfrm>
            <a:off x="4846320" y="3493008"/>
            <a:ext cx="14401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Informe preliminar</a:t>
            </a:r>
            <a:endParaRPr lang="en-US" sz="1300" dirty="0"/>
          </a:p>
        </p:txBody>
      </p:sp>
      <p:sp>
        <p:nvSpPr>
          <p:cNvPr id="34" name="Hito detalle 2026-3"/>
          <p:cNvSpPr txBox="1"/>
          <p:nvPr/>
        </p:nvSpPr>
        <p:spPr>
          <a:xfrm>
            <a:off x="4846320" y="3904488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Nota 22741 · 7 + 2 obs.</a:t>
            </a:r>
            <a:endParaRPr lang="en-US" sz="1050" dirty="0"/>
          </a:p>
        </p:txBody>
      </p:sp>
      <p:sp>
        <p:nvSpPr>
          <p:cNvPr id="35" name="Hito 2026-4"/>
          <p:cNvSpPr/>
          <p:nvPr/>
        </p:nvSpPr>
        <p:spPr>
          <a:xfrm>
            <a:off x="6423660" y="2898648"/>
            <a:ext cx="237744" cy="237744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36" name="Hito fecha 2026-4"/>
          <p:cNvSpPr txBox="1"/>
          <p:nvPr/>
        </p:nvSpPr>
        <p:spPr>
          <a:xfrm>
            <a:off x="6423660" y="3246120"/>
            <a:ext cx="1440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1100" dirty="0"/>
          </a:p>
        </p:txBody>
      </p:sp>
      <p:sp>
        <p:nvSpPr>
          <p:cNvPr id="37" name="Hito texto 2026-4"/>
          <p:cNvSpPr txBox="1"/>
          <p:nvPr/>
        </p:nvSpPr>
        <p:spPr>
          <a:xfrm>
            <a:off x="6423660" y="3493008"/>
            <a:ext cx="14401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Plazos en curso</a:t>
            </a:r>
            <a:endParaRPr lang="en-US" sz="1300" dirty="0"/>
          </a:p>
        </p:txBody>
      </p:sp>
      <p:sp>
        <p:nvSpPr>
          <p:cNvPr id="38" name="Hito detalle 2026-4"/>
          <p:cNvSpPr txBox="1"/>
          <p:nvPr/>
        </p:nvSpPr>
        <p:spPr>
          <a:xfrm>
            <a:off x="6423660" y="3904488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Vencen 23/10 y 30/10</a:t>
            </a:r>
            <a:endParaRPr lang="en-US" sz="1050" dirty="0"/>
          </a:p>
        </p:txBody>
      </p:sp>
      <p:sp>
        <p:nvSpPr>
          <p:cNvPr id="39" name="Recuadro 2026"/>
          <p:cNvSpPr/>
          <p:nvPr/>
        </p:nvSpPr>
        <p:spPr>
          <a:xfrm>
            <a:off x="8275320" y="2788920"/>
            <a:ext cx="3367735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Recuadro título 2026"/>
          <p:cNvSpPr txBox="1"/>
          <p:nvPr/>
        </p:nvSpPr>
        <p:spPr>
          <a:xfrm>
            <a:off x="8458200" y="290779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Plazos de respuesta</a:t>
            </a:r>
            <a:endParaRPr lang="en-US" sz="1300" dirty="0"/>
          </a:p>
        </p:txBody>
      </p:sp>
      <p:sp>
        <p:nvSpPr>
          <p:cNvPr id="41" name="Recuadro lista 2026"/>
          <p:cNvSpPr txBox="1"/>
          <p:nvPr/>
        </p:nvSpPr>
        <p:spPr>
          <a:xfrm>
            <a:off x="8458200" y="3218688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Descargos Anexo A: 10 días hábiles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Plan de solución Anexo B: 15 días hábiles</a:t>
            </a:r>
            <a:endParaRPr lang="en-US" sz="1200" dirty="0"/>
          </a:p>
        </p:txBody>
      </p:sp>
      <p:sp>
        <p:nvSpPr>
          <p:cNvPr id="42" name="Evolución título"/>
          <p:cNvSpPr txBox="1"/>
          <p:nvPr/>
        </p:nvSpPr>
        <p:spPr>
          <a:xfrm>
            <a:off x="548640" y="4434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ANÁLISIS DE EVOLUCIÓN · OBSERVACIONES REINCIDENTES Y PERSISTENTES</a:t>
            </a:r>
            <a:endParaRPr lang="en-US" sz="1200" dirty="0"/>
          </a:p>
        </p:txBody>
      </p:sp>
      <p:sp>
        <p:nvSpPr>
          <p:cNvPr id="43" name="Evolución 1"/>
          <p:cNvSpPr/>
          <p:nvPr/>
        </p:nvSpPr>
        <p:spPr>
          <a:xfrm>
            <a:off x="548640" y="4773168"/>
            <a:ext cx="3515258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Evolución tema 1"/>
          <p:cNvSpPr txBox="1"/>
          <p:nvPr/>
        </p:nvSpPr>
        <p:spPr>
          <a:xfrm>
            <a:off x="731520" y="4882896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 de comités con ejecutivos</a:t>
            </a:r>
            <a:endParaRPr lang="en-US" sz="1400" dirty="0"/>
          </a:p>
        </p:txBody>
      </p:sp>
      <p:sp>
        <p:nvSpPr>
          <p:cNvPr id="45" name="Evolución 2025 1 fondo"/>
          <p:cNvSpPr/>
          <p:nvPr/>
        </p:nvSpPr>
        <p:spPr>
          <a:xfrm>
            <a:off x="731520" y="5276088"/>
            <a:ext cx="82296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Evolución 2025 1"/>
          <p:cNvSpPr txBox="1"/>
          <p:nvPr/>
        </p:nvSpPr>
        <p:spPr>
          <a:xfrm>
            <a:off x="731520" y="52760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OBS. 3</a:t>
            </a:r>
            <a:endParaRPr lang="en-US" sz="1100" dirty="0"/>
          </a:p>
        </p:txBody>
      </p:sp>
      <p:sp>
        <p:nvSpPr>
          <p:cNvPr id="47" name="Evolución flecha 1"/>
          <p:cNvSpPr/>
          <p:nvPr/>
        </p:nvSpPr>
        <p:spPr>
          <a:xfrm>
            <a:off x="1664208" y="5321808"/>
            <a:ext cx="292608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8" name="Evolución 2026 1 fondo"/>
          <p:cNvSpPr/>
          <p:nvPr/>
        </p:nvSpPr>
        <p:spPr>
          <a:xfrm>
            <a:off x="2066544" y="527608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9" name="Evolución 2026 1"/>
          <p:cNvSpPr txBox="1"/>
          <p:nvPr/>
        </p:nvSpPr>
        <p:spPr>
          <a:xfrm>
            <a:off x="2066544" y="5276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NO SUPERADA</a:t>
            </a:r>
            <a:endParaRPr lang="en-US" sz="1100" dirty="0"/>
          </a:p>
        </p:txBody>
      </p:sp>
      <p:sp>
        <p:nvSpPr>
          <p:cNvPr id="50" name="Evolución detalle 1"/>
          <p:cNvSpPr txBox="1"/>
          <p:nvPr/>
        </p:nvSpPr>
        <p:spPr>
          <a:xfrm>
            <a:off x="731520" y="5687568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Anexo B, obs. 8</a:t>
            </a:r>
            <a:endParaRPr lang="en-US" sz="1150" dirty="0"/>
          </a:p>
        </p:txBody>
      </p:sp>
      <p:sp>
        <p:nvSpPr>
          <p:cNvPr id="51" name="Evolución 2"/>
          <p:cNvSpPr/>
          <p:nvPr/>
        </p:nvSpPr>
        <p:spPr>
          <a:xfrm>
            <a:off x="4338218" y="4773168"/>
            <a:ext cx="3515258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2" name="Evolución tema 2"/>
          <p:cNvSpPr txBox="1"/>
          <p:nvPr/>
        </p:nvSpPr>
        <p:spPr>
          <a:xfrm>
            <a:off x="4521098" y="4882896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Actualización de normativa interna</a:t>
            </a:r>
            <a:endParaRPr lang="en-US" sz="1400" dirty="0"/>
          </a:p>
        </p:txBody>
      </p:sp>
      <p:sp>
        <p:nvSpPr>
          <p:cNvPr id="53" name="Evolución 2025 2 fondo"/>
          <p:cNvSpPr/>
          <p:nvPr/>
        </p:nvSpPr>
        <p:spPr>
          <a:xfrm>
            <a:off x="4521098" y="5276088"/>
            <a:ext cx="82296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4" name="Evolución 2025 2"/>
          <p:cNvSpPr txBox="1"/>
          <p:nvPr/>
        </p:nvSpPr>
        <p:spPr>
          <a:xfrm>
            <a:off x="4521098" y="52760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OBS. 5</a:t>
            </a:r>
            <a:endParaRPr lang="en-US" sz="1100" dirty="0"/>
          </a:p>
        </p:txBody>
      </p:sp>
      <p:sp>
        <p:nvSpPr>
          <p:cNvPr id="55" name="Evolución flecha 2"/>
          <p:cNvSpPr/>
          <p:nvPr/>
        </p:nvSpPr>
        <p:spPr>
          <a:xfrm>
            <a:off x="5453786" y="5321808"/>
            <a:ext cx="292608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6" name="Evolución 2026 2 fondo"/>
          <p:cNvSpPr/>
          <p:nvPr/>
        </p:nvSpPr>
        <p:spPr>
          <a:xfrm>
            <a:off x="5856122" y="5276088"/>
            <a:ext cx="1814474" cy="31089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7" name="Evolución 2026 2"/>
          <p:cNvSpPr txBox="1"/>
          <p:nvPr/>
        </p:nvSpPr>
        <p:spPr>
          <a:xfrm>
            <a:off x="5856122" y="5276088"/>
            <a:ext cx="18144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58" name="Evolución detalle 2"/>
          <p:cNvSpPr txBox="1"/>
          <p:nvPr/>
        </p:nvSpPr>
        <p:spPr>
          <a:xfrm>
            <a:off x="4521098" y="5687568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Anexo B, obs. 9: RIT, Comité de Auditoría, Compras</a:t>
            </a:r>
            <a:endParaRPr lang="en-US" sz="1150" dirty="0"/>
          </a:p>
        </p:txBody>
      </p:sp>
      <p:sp>
        <p:nvSpPr>
          <p:cNvPr id="59" name="Evolución 3"/>
          <p:cNvSpPr/>
          <p:nvPr/>
        </p:nvSpPr>
        <p:spPr>
          <a:xfrm>
            <a:off x="8127797" y="4773168"/>
            <a:ext cx="3515258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0" name="Evolución tema 3"/>
          <p:cNvSpPr txBox="1"/>
          <p:nvPr/>
        </p:nvSpPr>
        <p:spPr>
          <a:xfrm>
            <a:off x="8310677" y="4882896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Gobernanza del Fondo de Educación</a:t>
            </a:r>
            <a:endParaRPr lang="en-US" sz="1400" dirty="0"/>
          </a:p>
        </p:txBody>
      </p:sp>
      <p:sp>
        <p:nvSpPr>
          <p:cNvPr id="61" name="Evolución 2025 3 fondo"/>
          <p:cNvSpPr/>
          <p:nvPr/>
        </p:nvSpPr>
        <p:spPr>
          <a:xfrm>
            <a:off x="8310677" y="5276088"/>
            <a:ext cx="82296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2" name="Evolución 2025 3"/>
          <p:cNvSpPr txBox="1"/>
          <p:nvPr/>
        </p:nvSpPr>
        <p:spPr>
          <a:xfrm>
            <a:off x="8310677" y="52760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OBS. 9</a:t>
            </a:r>
            <a:endParaRPr lang="en-US" sz="1100" dirty="0"/>
          </a:p>
        </p:txBody>
      </p:sp>
      <p:sp>
        <p:nvSpPr>
          <p:cNvPr id="63" name="Evolución flecha 3"/>
          <p:cNvSpPr/>
          <p:nvPr/>
        </p:nvSpPr>
        <p:spPr>
          <a:xfrm>
            <a:off x="9243365" y="5321808"/>
            <a:ext cx="292608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4" name="Evolución 2026 3 fondo"/>
          <p:cNvSpPr/>
          <p:nvPr/>
        </p:nvSpPr>
        <p:spPr>
          <a:xfrm>
            <a:off x="9645701" y="527608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5" name="Evolución 2026 3"/>
          <p:cNvSpPr txBox="1"/>
          <p:nvPr/>
        </p:nvSpPr>
        <p:spPr>
          <a:xfrm>
            <a:off x="9645701" y="5276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REINCIDE</a:t>
            </a:r>
            <a:endParaRPr lang="en-US" sz="1100" dirty="0"/>
          </a:p>
        </p:txBody>
      </p:sp>
      <p:sp>
        <p:nvSpPr>
          <p:cNvPr id="66" name="Evolución detalle 3"/>
          <p:cNvSpPr txBox="1"/>
          <p:nvPr/>
        </p:nvSpPr>
        <p:spPr>
          <a:xfrm>
            <a:off x="8310677" y="5687568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Reglamento sin criterios legales y $100,774.28 sin detalle a la Asamblea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2026-10-13T17:01:32Z</dcterms:created>
  <dcterms:modified xsi:type="dcterms:W3CDTF">2026-10-13T17:01:32Z</dcterms:modified>
</cp:coreProperties>
</file>