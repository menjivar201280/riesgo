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3" name="Grupo 2025-2-0"/>
          <p:cNvSpPr txBox="1"/>
          <p:nvPr/>
        </p:nvSpPr>
        <p:spPr>
          <a:xfrm>
            <a:off x="7406640" y="169164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accent1"/>
                </a:solidFill>
              </a:rPr>
              <a:t>9 OBSERVACIONES</a:t>
            </a:r>
            <a:endParaRPr lang="en-US" sz="900" dirty="0"/>
          </a:p>
        </p:txBody>
      </p:sp>
      <p:sp>
        <p:nvSpPr>
          <p:cNvPr id="34" name="Lista 2025-2-0"/>
          <p:cNvSpPr txBox="1"/>
          <p:nvPr/>
        </p:nvSpPr>
        <p:spPr>
          <a:xfrm>
            <a:off x="7406640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</a:t>
            </a:r>
            <a:r>
              <a:rPr lang="en-US" sz="1000" dirty="0">
                <a:solidFill>
                  <a:schemeClr val="tx1"/>
                </a:solidFill>
              </a:rPr>
              <a:t>Política de Operaciones Vinculadas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</a:t>
            </a:r>
            <a:r>
              <a:rPr lang="en-US" sz="1000" dirty="0">
                <a:solidFill>
                  <a:schemeClr val="tx1"/>
                </a:solidFill>
              </a:rPr>
              <a:t>Confidencialidad e inducción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3  Comités sin personal ejecutivo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</a:t>
            </a:r>
            <a:r>
              <a:rPr lang="en-US" sz="1000" dirty="0">
                <a:solidFill>
                  <a:schemeClr val="tx1"/>
                </a:solidFill>
              </a:rPr>
              <a:t>Pago de dietas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5  Normativa interna desactualizada</a:t>
            </a:r>
            <a:endParaRPr lang="en-US" sz="1000" dirty="0"/>
          </a:p>
        </p:txBody>
      </p:sp>
      <p:sp>
        <p:nvSpPr>
          <p:cNvPr id="35" name="Lista 2025-2-1"/>
          <p:cNvSpPr txBox="1"/>
          <p:nvPr/>
        </p:nvSpPr>
        <p:spPr>
          <a:xfrm>
            <a:off x="9456268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 </a:t>
            </a:r>
            <a:r>
              <a:rPr lang="en-US" sz="1000" dirty="0">
                <a:solidFill>
                  <a:schemeClr val="tx1"/>
                </a:solidFill>
              </a:rPr>
              <a:t>Soporte de Ferias de Crédito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7  </a:t>
            </a:r>
            <a:r>
              <a:rPr lang="en-US" sz="1000" dirty="0">
                <a:solidFill>
                  <a:schemeClr val="tx1"/>
                </a:solidFill>
              </a:rPr>
              <a:t>Declaración jurada (NRP-75)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8  </a:t>
            </a:r>
            <a:r>
              <a:rPr lang="en-US" sz="1000" dirty="0">
                <a:solidFill>
                  <a:schemeClr val="tx1"/>
                </a:solidFill>
              </a:rPr>
              <a:t>Manual de Compras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9  </a:t>
            </a:r>
            <a:r>
              <a:rPr lang="en-US" sz="1000" dirty="0">
                <a:solidFill>
                  <a:schemeClr val="tx1"/>
                </a:solidFill>
              </a:rPr>
              <a:t>Uso del Fondo de Educación</a:t>
            </a:r>
            <a:endParaRPr lang="en-US" sz="1000" dirty="0"/>
          </a:p>
        </p:txBody>
      </p:sp>
      <p:sp>
        <p:nvSpPr>
          <p:cNvPr id="36" name="Nota rojo"/>
          <p:cNvSpPr txBox="1"/>
          <p:nvPr/>
        </p:nvSpPr>
        <p:spPr>
          <a:xfrm>
            <a:off x="9456268" y="2935224"/>
            <a:ext cx="1939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En rojo: con seguimiento de la SSF en 2026</a:t>
            </a:r>
            <a:endParaRPr lang="en-US" sz="900" dirty="0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Norma  </a:t>
            </a: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7" name="Grupo 2026-2-0"/>
          <p:cNvSpPr txBox="1"/>
          <p:nvPr/>
        </p:nvSpPr>
        <p:spPr>
          <a:xfrm>
            <a:off x="7406640" y="4736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accent2"/>
                </a:solidFill>
              </a:rPr>
              <a:t>7 NUEVAS · ANEXO A</a:t>
            </a:r>
            <a:endParaRPr lang="en-US" sz="900" dirty="0"/>
          </a:p>
        </p:txBody>
      </p:sp>
      <p:sp>
        <p:nvSpPr>
          <p:cNvPr id="68" name="Lista 2026-2-0"/>
          <p:cNvSpPr txBox="1"/>
          <p:nvPr/>
        </p:nvSpPr>
        <p:spPr>
          <a:xfrm>
            <a:off x="7406640" y="498348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1  </a:t>
            </a:r>
            <a:r>
              <a:rPr lang="en-US" sz="950" dirty="0">
                <a:solidFill>
                  <a:schemeClr val="tx1"/>
                </a:solidFill>
              </a:rPr>
              <a:t>Inducción sobre estados financieros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2  </a:t>
            </a:r>
            <a:r>
              <a:rPr lang="en-US" sz="950" dirty="0">
                <a:solidFill>
                  <a:schemeClr val="tx1"/>
                </a:solidFill>
              </a:rPr>
              <a:t>Certificación del Código de Conducta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3  </a:t>
            </a:r>
            <a:r>
              <a:rPr lang="en-US" sz="950" dirty="0">
                <a:solidFill>
                  <a:schemeClr val="tx1"/>
                </a:solidFill>
              </a:rPr>
              <a:t>Políticas sin aprobar por el Consejo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4  </a:t>
            </a:r>
            <a:r>
              <a:rPr lang="en-US" sz="950" dirty="0">
                <a:solidFill>
                  <a:schemeClr val="tx1"/>
                </a:solidFill>
              </a:rPr>
              <a:t>Sitio web de comités desactualizado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5  </a:t>
            </a:r>
            <a:r>
              <a:rPr lang="en-US" sz="950" dirty="0">
                <a:solidFill>
                  <a:schemeClr val="tx1"/>
                </a:solidFill>
              </a:rPr>
              <a:t>Integración de Comités de Apoyo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6  </a:t>
            </a:r>
            <a:r>
              <a:rPr lang="en-US" sz="950" dirty="0">
                <a:solidFill>
                  <a:schemeClr val="tx1"/>
                </a:solidFill>
              </a:rPr>
              <a:t>Reglamento del Fondo de Educación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7  </a:t>
            </a:r>
            <a:r>
              <a:rPr lang="en-US" sz="950" dirty="0">
                <a:solidFill>
                  <a:schemeClr val="tx1"/>
                </a:solidFill>
              </a:rPr>
              <a:t>Transparencia ante la Asamblea</a:t>
            </a:r>
            <a:endParaRPr lang="en-US" sz="950" dirty="0"/>
          </a:p>
        </p:txBody>
      </p:sp>
      <p:sp>
        <p:nvSpPr>
          <p:cNvPr id="69" name="Grupo 2026-2-1"/>
          <p:cNvSpPr txBox="1"/>
          <p:nvPr/>
        </p:nvSpPr>
        <p:spPr>
          <a:xfrm>
            <a:off x="9692640" y="4736592"/>
            <a:ext cx="1721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accent3"/>
                </a:solidFill>
              </a:rPr>
              <a:t>2 EN SEGUIMIENTO</a:t>
            </a:r>
            <a:endParaRPr lang="en-US" sz="900" dirty="0"/>
          </a:p>
        </p:txBody>
      </p:sp>
      <p:sp>
        <p:nvSpPr>
          <p:cNvPr id="70" name="Lista 2026-2-1"/>
          <p:cNvSpPr txBox="1"/>
          <p:nvPr/>
        </p:nvSpPr>
        <p:spPr>
          <a:xfrm>
            <a:off x="9692640" y="4983480"/>
            <a:ext cx="17035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3  </a:t>
            </a:r>
            <a:r>
              <a:rPr lang="en-US" sz="1000" dirty="0">
                <a:solidFill>
                  <a:schemeClr val="tx1"/>
                </a:solidFill>
              </a:rPr>
              <a:t>Comités sin ejecutivos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No superada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5  </a:t>
            </a:r>
            <a:r>
              <a:rPr lang="en-US" sz="1000" dirty="0">
                <a:solidFill>
                  <a:schemeClr val="tx1"/>
                </a:solidFill>
              </a:rPr>
              <a:t>Normativa interna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creará la política para aprobación del Consejo de Administración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Acta 2579 del Consejo de Administración: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estados financieros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