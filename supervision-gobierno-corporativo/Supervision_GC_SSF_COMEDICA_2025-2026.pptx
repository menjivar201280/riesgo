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4592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682496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213969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DS-SABAO-BCS-BC-17003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05/11/2025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78308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69087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379976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09744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SEGUIMIENTO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5896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8887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2025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DS-SABAO-BCS-BC-22741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09/10/2026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82803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91947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Descargos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Plazo de 10 días hábiles  ·  vence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  <a:r>
              <a:rPr sz="1050" b="0">
                <a:solidFill>
                  <a:srgbClr val="586579"/>
                </a:solidFill>
              </a:rPr>
              <a:t/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541264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632704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 de 2025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Plan de solución en 15 días hábiles  · 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  <p:sp>
        <p:nvSpPr>
          <p:cNvPr id="82" name="Resumen resultados 2025"/>
          <p:cNvSpPr txBox="1"/>
          <p:nvPr/>
        </p:nvSpPr>
        <p:spPr>
          <a:xfrm>
            <a:off x="7406640" y="19019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A6E"/>
                </a:solidFill>
              </a:rPr>
              <a:t>9 observaciones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13232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13232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713232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La Entidad no cuenta con una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13232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creó la Política de Operaciones Vinculadas y Relacionadas en sesión del Consejo de Administración (Acta 2623, 12/01/2026)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57090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57090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457090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No se tuvo evidencia de la firma del acuerdo de confidencialidad de los nuevos miembros de Consejo de Administración, Junta de Vigilancia y Comités ni se programó las fechas de inducción en la primera sesión del Consejo de Administración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57090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Acta 2579 (28/04/2025): se derogó el convenio de confidencialidad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00949" y="14538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00949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200949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Comités de Junta Directiva y Comités de Apoyo no cumplen con las especificaciones establecidas en el literal h) del Art. 3 de las Normas NRP-17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00949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13232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13232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713232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Inconsistencia entre el pago de dietas establecido en el Reglamento de Compensaciones Económicas para Directivos y lo informado a la Asamblea General de Asociados en los puntos varios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13232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Fue aprobada la modificación al Reglamento de Compensaciones Económicas para Directivos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57090" y="319125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57090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457090" y="37398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57090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3 de 9 documentos están desactualizados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00949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00949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200949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documentación soporte en los expedientes de créditos otorgados mediante Ferias de Créditos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00949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evidenció el otorgamiento de los créditos con la resolución y la referencia de la feria de créditos sobre la cual se aprobaron, y se ha dado cumplimiento con base en el Acuerdo del Consejo de Administración que lo autoriza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13232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13232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713232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información obligatoria en la declaración jurada de personas relacionadas conforme a lo dispuesto en el Art. 9 de las Normas NRP-75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13232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En enero de 2025 se remitieron las declaraciones juradas de los miembros del Consejo de Administración y del equipo gerencial, conforme a la normativa vigente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57090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57090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457090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aplicación de procedimientos internos establecidos en 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57090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Las compras fueron debidamente autorizadas y respaldadas, se incorporó la documentación faltante y se fortaleció la revisión jurídica de contratos, según los Anexos 10 al 13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00949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00949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200949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Utilización del Fondo de Educación con fines distintos a los establecidos en el marco legal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00949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El Consejo de Administración suspendió el Comité Sociocultural (Acta 2576 de fecha 7 de abril de 2025)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1" name="Responsable 2025-1"/>
          <p:cNvSpPr txBox="1"/>
          <p:nvPr/>
        </p:nvSpPr>
        <p:spPr>
          <a:xfrm>
            <a:off x="1170432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16" name="Responsable 2025-2"/>
          <p:cNvSpPr txBox="1"/>
          <p:nvPr/>
        </p:nvSpPr>
        <p:spPr>
          <a:xfrm>
            <a:off x="4914290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1" name="Responsable 2025-3"/>
          <p:cNvSpPr txBox="1"/>
          <p:nvPr/>
        </p:nvSpPr>
        <p:spPr>
          <a:xfrm>
            <a:off x="8658149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6" name="Responsable 2025-4"/>
          <p:cNvSpPr txBox="1"/>
          <p:nvPr/>
        </p:nvSpPr>
        <p:spPr>
          <a:xfrm>
            <a:off x="1170432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31" name="Responsable 2025-5"/>
          <p:cNvSpPr txBox="1"/>
          <p:nvPr/>
        </p:nvSpPr>
        <p:spPr>
          <a:xfrm>
            <a:off x="4914290" y="3108960"/>
            <a:ext cx="28294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250" dirty="0"/>
          </a:p>
        </p:txBody>
      </p:sp>
      <p:sp>
        <p:nvSpPr>
          <p:cNvPr id="36" name="Responsable 2025-6"/>
          <p:cNvSpPr txBox="1"/>
          <p:nvPr/>
        </p:nvSpPr>
        <p:spPr>
          <a:xfrm>
            <a:off x="8658149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de Negocios / Administración de Cartera</a:t>
            </a:r>
            <a:endParaRPr lang="en-US" sz="1250" dirty="0"/>
          </a:p>
        </p:txBody>
      </p:sp>
      <p:sp>
        <p:nvSpPr>
          <p:cNvPr id="41" name="Responsable 2025-7"/>
          <p:cNvSpPr txBox="1"/>
          <p:nvPr/>
        </p:nvSpPr>
        <p:spPr>
          <a:xfrm>
            <a:off x="1170432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46" name="Responsable 2025-8"/>
          <p:cNvSpPr txBox="1"/>
          <p:nvPr/>
        </p:nvSpPr>
        <p:spPr>
          <a:xfrm>
            <a:off x="4914290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Administrativa</a:t>
            </a:r>
            <a:endParaRPr lang="en-US" sz="1250" dirty="0"/>
          </a:p>
        </p:txBody>
      </p:sp>
      <p:sp>
        <p:nvSpPr>
          <p:cNvPr id="51" name="Responsable 2025-9"/>
          <p:cNvSpPr txBox="1"/>
          <p:nvPr/>
        </p:nvSpPr>
        <p:spPr>
          <a:xfrm>
            <a:off x="8658149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inducción sobre las partidas relevantes de los estados financieros a nuevos miembros de los órganos de gobierno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Certificación de Lectura del Código de Conducta de miembros de Junta de Vigilancia y Comités de Apoyo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formalización y aprobación de políticas por parte del Consejo de Administración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Información divulgada sobre los comités de apoyo no se encuentra actualizada ni alineada con el Código de Gobierno Corporativo vigente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Incongruencia en las disposiciones internas para la integración de los Comités de Apoyo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La regulación interna del Fondo de Educación incorpora conceptos cuya relación con la finalidad prevista en la Ley no se encuentra suficientemente delimitada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Limitada transparencia en la información presentada a la Asamblea General Ordinaria de Asociados respecto del uso del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Memoria de Labores 2026 detallada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Comités de Apoyo no cumplen con las especificaciones establecidas en el literal i) del Artículo 3 de las Normas NRP-17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760720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96188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