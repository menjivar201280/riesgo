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 · Resumen de notas SSF" id="{33e2959b-55c3-7a5d-d500-a90e1161012b}">
          <p14:sldIdLst>
            <p14:sldId id="256"/>
          </p14:sldIdLst>
        </p14:section>
        <p14:section name="2 · Observaciones 2025" id="{0162c1be-d6ef-56b3-1f48-41d080df8b7a}">
          <p14:sldIdLst>
            <p14:sldId id="257"/>
          </p14:sldIdLst>
        </p14:section>
        <p14:section name="3 · Observaciones 2026" id="{341ec66c-ada8-9e87-b474-b87abfc899fa}">
          <p14:sldIdLst>
            <p14:sldId id="258"/>
          </p14:sldIdLst>
        </p14:section>
        <p14:section name="4 · Línea de tiempo y evolución" id="{6bfa256d-dff9-87c0-5fcc-c0f901ea8dc0}">
          <p14:sldIdLst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comunicados oficiales. Cada año la SSF primero notifica el nombramiento de la visita ampliada y luego remite el informe de resultados preliminares. 2025: 9 observaciones. 2026: 7 observaciones nuevas (Anexo A) y seguimiento a 2 de las 9 observaciones de 2025 (Anexo B): la obs. 3 no superada y la obs. 5 parcialmente superada.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Nueve observaciones de la Nota 17003. En rojo y ámbar, las 2 observaciones a las que la SSF dio seguimiento en la visita 2026 (Anexo B): obs. 3 comités sin ejecutivos (no superada) y obs. 5 normativa desactualizada (parcialmente superada).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A: siete observaciones nuevas; plazo de 10 días hábiles desde el día hábil siguiente a la recepción para remitir pruebas de descargo, previo conocimiento del Consejo de Administración. Anexo B: no son observaciones nuevas, es el seguimiento a las obs. 3 y 5 de 2025, que siguen abiertas; plan de solución en 15 días hábiles con acciones, responsable, plazo por acción y certificación del punto de acta del Consejo. Fechas aproximadas sin asuetos; validar con el Sistema de Control de Envíos.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línea de tiempo se lee de arriba hacia abajo, de lo más reciente a lo más antiguo. Hoy corren los plazos: 10 días hábiles para descargos del Anexo A (aprox. 23/10/2026) y 15 días hábiles para el plan de solución del Anexo B (aprox. 30/10/2026). 2026: nombramiento 31/07, inicio 21/08 e informe preliminar 09/10 con 7 observaciones nuevas y seguimiento a las obs. 3 y 5 de 2025. 2025: nombramiento 09/04, inicio 19/05 e informe preliminar 05/11 con 9 observaciones. Seguimiento: obs. 3 no superada; obs. 5 parcialmente superada. El Fondo de Educación vuelve como tema, pero con observaciones nuevas.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SUMEN PANE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502920"/>
            <a:ext cx="32004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SECCIÓN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1143000"/>
            <a:ext cx="32004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000" dirty="0"/>
          </a:p>
        </p:txBody>
      </p:sp>
      <p:sp>
        <p:nvSpPr>
          <p:cNvPr id="5" name="Text 1"/>
          <p:cNvSpPr/>
          <p:nvPr/>
        </p:nvSpPr>
        <p:spPr>
          <a:xfrm>
            <a:off x="45720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SECCIÓN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5029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SUPERVISIONES DE GOBIERNO CORPORATIVO · COMEDICA DE R.L.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11430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Notas de notificación SSF 2025 – 2026</a:t>
            </a:r>
            <a:endParaRPr lang="en-US" sz="3000" dirty="0"/>
          </a:p>
        </p:txBody>
      </p:sp>
      <p:sp>
        <p:nvSpPr>
          <p:cNvPr id="4" name="KPI valor 1"/>
          <p:cNvSpPr txBox="1"/>
          <p:nvPr/>
        </p:nvSpPr>
        <p:spPr>
          <a:xfrm>
            <a:off x="548640" y="315468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5" name="KPI texto 1"/>
          <p:cNvSpPr txBox="1"/>
          <p:nvPr/>
        </p:nvSpPr>
        <p:spPr>
          <a:xfrm>
            <a:off x="548640" y="379476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notas oficiales recibidas</a:t>
            </a:r>
            <a:endParaRPr lang="en-US" sz="1200" dirty="0"/>
          </a:p>
        </p:txBody>
      </p:sp>
      <p:sp>
        <p:nvSpPr>
          <p:cNvPr id="6" name="KPI valor 2"/>
          <p:cNvSpPr txBox="1"/>
          <p:nvPr/>
        </p:nvSpPr>
        <p:spPr>
          <a:xfrm>
            <a:off x="2148840" y="315468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400" dirty="0"/>
          </a:p>
        </p:txBody>
      </p:sp>
      <p:sp>
        <p:nvSpPr>
          <p:cNvPr id="7" name="KPI texto 2"/>
          <p:cNvSpPr txBox="1"/>
          <p:nvPr/>
        </p:nvSpPr>
        <p:spPr>
          <a:xfrm>
            <a:off x="2148840" y="379476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observaciones en 2025</a:t>
            </a:r>
            <a:endParaRPr lang="en-US" sz="1200" dirty="0"/>
          </a:p>
        </p:txBody>
      </p:sp>
      <p:sp>
        <p:nvSpPr>
          <p:cNvPr id="8" name="KPI valor 3"/>
          <p:cNvSpPr txBox="1"/>
          <p:nvPr/>
        </p:nvSpPr>
        <p:spPr>
          <a:xfrm>
            <a:off x="548640" y="457200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400" dirty="0"/>
          </a:p>
        </p:txBody>
      </p:sp>
      <p:sp>
        <p:nvSpPr>
          <p:cNvPr id="9" name="KPI texto 3"/>
          <p:cNvSpPr txBox="1"/>
          <p:nvPr/>
        </p:nvSpPr>
        <p:spPr>
          <a:xfrm>
            <a:off x="548640" y="52120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observaciones nuevas en 2026</a:t>
            </a:r>
            <a:endParaRPr lang="en-US" sz="1200" dirty="0"/>
          </a:p>
        </p:txBody>
      </p:sp>
      <p:sp>
        <p:nvSpPr>
          <p:cNvPr id="10" name="KPI valor 4"/>
          <p:cNvSpPr txBox="1"/>
          <p:nvPr/>
        </p:nvSpPr>
        <p:spPr>
          <a:xfrm>
            <a:off x="2148840" y="457200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1" name="KPI texto 4"/>
          <p:cNvSpPr txBox="1"/>
          <p:nvPr/>
        </p:nvSpPr>
        <p:spPr>
          <a:xfrm>
            <a:off x="2148840" y="52120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de 2025 en seguimiento: 1 no superada, 1 parcial</a:t>
            </a:r>
            <a:endParaRPr lang="en-US" sz="1200" dirty="0"/>
          </a:p>
        </p:txBody>
      </p:sp>
      <p:sp>
        <p:nvSpPr>
          <p:cNvPr id="12" name="Año 2025"/>
          <p:cNvSpPr txBox="1"/>
          <p:nvPr/>
        </p:nvSpPr>
        <p:spPr>
          <a:xfrm>
            <a:off x="4572000" y="5029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3000" dirty="0"/>
          </a:p>
        </p:txBody>
      </p:sp>
      <p:sp>
        <p:nvSpPr>
          <p:cNvPr id="13" name="Visita 2025"/>
          <p:cNvSpPr txBox="1"/>
          <p:nvPr/>
        </p:nvSpPr>
        <p:spPr>
          <a:xfrm>
            <a:off x="5897880" y="5029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Visita 1 · corte 30/04/2025</a:t>
            </a:r>
            <a:endParaRPr lang="en-US" sz="1400" dirty="0"/>
          </a:p>
        </p:txBody>
      </p:sp>
      <p:sp>
        <p:nvSpPr>
          <p:cNvPr id="14" name="Tarjeta 2025-1"/>
          <p:cNvSpPr/>
          <p:nvPr/>
        </p:nvSpPr>
        <p:spPr>
          <a:xfrm>
            <a:off x="4572000" y="1188720"/>
            <a:ext cx="3261208" cy="1965960"/>
          </a:xfrm>
          <a:prstGeom prst="roundRect">
            <a:avLst>
              <a:gd name="adj" fmla="val 4651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5" name="Paso 2025-1 círculo"/>
          <p:cNvSpPr/>
          <p:nvPr/>
        </p:nvSpPr>
        <p:spPr>
          <a:xfrm>
            <a:off x="4800600" y="141732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6" name="Paso 2025-1"/>
          <p:cNvSpPr txBox="1"/>
          <p:nvPr/>
        </p:nvSpPr>
        <p:spPr>
          <a:xfrm>
            <a:off x="4800600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Fecha 2025-1"/>
          <p:cNvSpPr txBox="1"/>
          <p:nvPr/>
        </p:nvSpPr>
        <p:spPr>
          <a:xfrm>
            <a:off x="5303520" y="1417320"/>
            <a:ext cx="2346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09/04/2025</a:t>
            </a:r>
            <a:endParaRPr lang="en-US" sz="1300" dirty="0"/>
          </a:p>
        </p:txBody>
      </p:sp>
      <p:sp>
        <p:nvSpPr>
          <p:cNvPr id="18" name="Tipo 2025-1"/>
          <p:cNvSpPr txBox="1"/>
          <p:nvPr/>
        </p:nvSpPr>
        <p:spPr>
          <a:xfrm>
            <a:off x="4800600" y="1920240"/>
            <a:ext cx="2804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Nombramiento de visita ampliada</a:t>
            </a:r>
            <a:endParaRPr lang="en-US" sz="1500" dirty="0"/>
          </a:p>
        </p:txBody>
      </p:sp>
      <p:sp>
        <p:nvSpPr>
          <p:cNvPr id="19" name="Nota 2025-1"/>
          <p:cNvSpPr txBox="1"/>
          <p:nvPr/>
        </p:nvSpPr>
        <p:spPr>
          <a:xfrm>
            <a:off x="4800600" y="2258568"/>
            <a:ext cx="2804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Nota No. DS-SABAO-BCS-BC-9337</a:t>
            </a:r>
            <a:endParaRPr lang="en-US" sz="1200" dirty="0"/>
          </a:p>
        </p:txBody>
      </p:sp>
      <p:sp>
        <p:nvSpPr>
          <p:cNvPr id="20" name="Detalle 2025-1 fondo"/>
          <p:cNvSpPr/>
          <p:nvPr/>
        </p:nvSpPr>
        <p:spPr>
          <a:xfrm>
            <a:off x="4800600" y="2651760"/>
            <a:ext cx="2804008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1" name="Detalle 2025-1"/>
          <p:cNvSpPr txBox="1"/>
          <p:nvPr/>
        </p:nvSpPr>
        <p:spPr>
          <a:xfrm>
            <a:off x="4800600" y="2651760"/>
            <a:ext cx="2804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Corte 30/04/2025 · inicio 19/05/2025</a:t>
            </a:r>
            <a:endParaRPr lang="en-US" sz="1100" dirty="0"/>
          </a:p>
        </p:txBody>
      </p:sp>
      <p:sp>
        <p:nvSpPr>
          <p:cNvPr id="22" name="Tarjeta 2025-2"/>
          <p:cNvSpPr/>
          <p:nvPr/>
        </p:nvSpPr>
        <p:spPr>
          <a:xfrm>
            <a:off x="8381848" y="1188720"/>
            <a:ext cx="3261208" cy="1965960"/>
          </a:xfrm>
          <a:prstGeom prst="roundRect">
            <a:avLst>
              <a:gd name="adj" fmla="val 4651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23" name="Paso 2025-2 círculo"/>
          <p:cNvSpPr/>
          <p:nvPr/>
        </p:nvSpPr>
        <p:spPr>
          <a:xfrm>
            <a:off x="8610448" y="141732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4" name="Paso 2025-2"/>
          <p:cNvSpPr txBox="1"/>
          <p:nvPr/>
        </p:nvSpPr>
        <p:spPr>
          <a:xfrm>
            <a:off x="8610448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Fecha 2025-2"/>
          <p:cNvSpPr txBox="1"/>
          <p:nvPr/>
        </p:nvSpPr>
        <p:spPr>
          <a:xfrm>
            <a:off x="9113368" y="1417320"/>
            <a:ext cx="2346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05/11/2025</a:t>
            </a:r>
            <a:endParaRPr lang="en-US" sz="1300" dirty="0"/>
          </a:p>
        </p:txBody>
      </p:sp>
      <p:sp>
        <p:nvSpPr>
          <p:cNvPr id="26" name="Tipo 2025-2"/>
          <p:cNvSpPr txBox="1"/>
          <p:nvPr/>
        </p:nvSpPr>
        <p:spPr>
          <a:xfrm>
            <a:off x="8610448" y="1920240"/>
            <a:ext cx="2804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Informe de resultados preliminares</a:t>
            </a:r>
            <a:endParaRPr lang="en-US" sz="1500" dirty="0"/>
          </a:p>
        </p:txBody>
      </p:sp>
      <p:sp>
        <p:nvSpPr>
          <p:cNvPr id="27" name="Nota 2025-2"/>
          <p:cNvSpPr txBox="1"/>
          <p:nvPr/>
        </p:nvSpPr>
        <p:spPr>
          <a:xfrm>
            <a:off x="8610448" y="2258568"/>
            <a:ext cx="2804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Nota No. DS-SABAO-BCS-BC-17003</a:t>
            </a:r>
            <a:endParaRPr lang="en-US" sz="1200" dirty="0"/>
          </a:p>
        </p:txBody>
      </p:sp>
      <p:sp>
        <p:nvSpPr>
          <p:cNvPr id="28" name="Detalle 2025-2 fondo"/>
          <p:cNvSpPr/>
          <p:nvPr/>
        </p:nvSpPr>
        <p:spPr>
          <a:xfrm>
            <a:off x="8610448" y="2651760"/>
            <a:ext cx="2804008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9" name="Detalle 2025-2"/>
          <p:cNvSpPr txBox="1"/>
          <p:nvPr/>
        </p:nvSpPr>
        <p:spPr>
          <a:xfrm>
            <a:off x="8610448" y="2651760"/>
            <a:ext cx="2804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9 observaciones</a:t>
            </a:r>
            <a:endParaRPr lang="en-US" sz="1100" dirty="0"/>
          </a:p>
        </p:txBody>
      </p:sp>
      <p:sp>
        <p:nvSpPr>
          <p:cNvPr id="30" name="Flecha 2025"/>
          <p:cNvSpPr/>
          <p:nvPr/>
        </p:nvSpPr>
        <p:spPr>
          <a:xfrm>
            <a:off x="7961224" y="2025396"/>
            <a:ext cx="292608" cy="292608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1" name="Año 2026"/>
          <p:cNvSpPr txBox="1"/>
          <p:nvPr/>
        </p:nvSpPr>
        <p:spPr>
          <a:xfrm>
            <a:off x="4572000" y="342900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3000" dirty="0"/>
          </a:p>
        </p:txBody>
      </p:sp>
      <p:sp>
        <p:nvSpPr>
          <p:cNvPr id="32" name="Visita 2026"/>
          <p:cNvSpPr txBox="1"/>
          <p:nvPr/>
        </p:nvSpPr>
        <p:spPr>
          <a:xfrm>
            <a:off x="5897880" y="34290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Visita 2 · corte 31/07/2026</a:t>
            </a:r>
            <a:endParaRPr lang="en-US" sz="1400" dirty="0"/>
          </a:p>
        </p:txBody>
      </p:sp>
      <p:sp>
        <p:nvSpPr>
          <p:cNvPr id="33" name="Tarjeta 2026-1"/>
          <p:cNvSpPr/>
          <p:nvPr/>
        </p:nvSpPr>
        <p:spPr>
          <a:xfrm>
            <a:off x="4572000" y="4114800"/>
            <a:ext cx="3261208" cy="1965960"/>
          </a:xfrm>
          <a:prstGeom prst="roundRect">
            <a:avLst>
              <a:gd name="adj" fmla="val 4651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34" name="Paso 2026-1 círculo"/>
          <p:cNvSpPr/>
          <p:nvPr/>
        </p:nvSpPr>
        <p:spPr>
          <a:xfrm>
            <a:off x="4800600" y="434340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35" name="Paso 2026-1"/>
          <p:cNvSpPr txBox="1"/>
          <p:nvPr/>
        </p:nvSpPr>
        <p:spPr>
          <a:xfrm>
            <a:off x="4800600" y="4343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36" name="Fecha 2026-1"/>
          <p:cNvSpPr txBox="1"/>
          <p:nvPr/>
        </p:nvSpPr>
        <p:spPr>
          <a:xfrm>
            <a:off x="5303520" y="4343400"/>
            <a:ext cx="2346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31/07/2026</a:t>
            </a:r>
            <a:endParaRPr lang="en-US" sz="1300" dirty="0"/>
          </a:p>
        </p:txBody>
      </p:sp>
      <p:sp>
        <p:nvSpPr>
          <p:cNvPr id="37" name="Tipo 2026-1"/>
          <p:cNvSpPr txBox="1"/>
          <p:nvPr/>
        </p:nvSpPr>
        <p:spPr>
          <a:xfrm>
            <a:off x="4800600" y="4846320"/>
            <a:ext cx="2804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Nombramiento de visita ampliada</a:t>
            </a:r>
            <a:endParaRPr lang="en-US" sz="1500" dirty="0"/>
          </a:p>
        </p:txBody>
      </p:sp>
      <p:sp>
        <p:nvSpPr>
          <p:cNvPr id="38" name="Nota 2026-1"/>
          <p:cNvSpPr txBox="1"/>
          <p:nvPr/>
        </p:nvSpPr>
        <p:spPr>
          <a:xfrm>
            <a:off x="4800600" y="5184648"/>
            <a:ext cx="2804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Nota No. SABAO-BCS-BC-18432</a:t>
            </a:r>
            <a:endParaRPr lang="en-US" sz="1200" dirty="0"/>
          </a:p>
        </p:txBody>
      </p:sp>
      <p:sp>
        <p:nvSpPr>
          <p:cNvPr id="39" name="Detalle 2026-1 fondo"/>
          <p:cNvSpPr/>
          <p:nvPr/>
        </p:nvSpPr>
        <p:spPr>
          <a:xfrm>
            <a:off x="4800600" y="5577840"/>
            <a:ext cx="2804008" cy="31089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0" name="Detalle 2026-1"/>
          <p:cNvSpPr txBox="1"/>
          <p:nvPr/>
        </p:nvSpPr>
        <p:spPr>
          <a:xfrm>
            <a:off x="4800600" y="5577840"/>
            <a:ext cx="2804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Corte 31/07/2026 · inicio 21/08/2026</a:t>
            </a:r>
            <a:endParaRPr lang="en-US" sz="1100" dirty="0"/>
          </a:p>
        </p:txBody>
      </p:sp>
      <p:sp>
        <p:nvSpPr>
          <p:cNvPr id="41" name="Tarjeta 2026-2"/>
          <p:cNvSpPr/>
          <p:nvPr/>
        </p:nvSpPr>
        <p:spPr>
          <a:xfrm>
            <a:off x="8381848" y="4114800"/>
            <a:ext cx="3261208" cy="1965960"/>
          </a:xfrm>
          <a:prstGeom prst="roundRect">
            <a:avLst>
              <a:gd name="adj" fmla="val 4651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42" name="Paso 2026-2 círculo"/>
          <p:cNvSpPr/>
          <p:nvPr/>
        </p:nvSpPr>
        <p:spPr>
          <a:xfrm>
            <a:off x="8610448" y="434340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3" name="Paso 2026-2"/>
          <p:cNvSpPr txBox="1"/>
          <p:nvPr/>
        </p:nvSpPr>
        <p:spPr>
          <a:xfrm>
            <a:off x="8610448" y="4343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44" name="Fecha 2026-2"/>
          <p:cNvSpPr txBox="1"/>
          <p:nvPr/>
        </p:nvSpPr>
        <p:spPr>
          <a:xfrm>
            <a:off x="9113368" y="4343400"/>
            <a:ext cx="2346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09/10/2026</a:t>
            </a:r>
            <a:endParaRPr lang="en-US" sz="1300" dirty="0"/>
          </a:p>
        </p:txBody>
      </p:sp>
      <p:sp>
        <p:nvSpPr>
          <p:cNvPr id="45" name="Tipo 2026-2"/>
          <p:cNvSpPr txBox="1"/>
          <p:nvPr/>
        </p:nvSpPr>
        <p:spPr>
          <a:xfrm>
            <a:off x="8610448" y="4846320"/>
            <a:ext cx="2804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Informe de resultados preliminares</a:t>
            </a:r>
            <a:endParaRPr lang="en-US" sz="1500" dirty="0"/>
          </a:p>
        </p:txBody>
      </p:sp>
      <p:sp>
        <p:nvSpPr>
          <p:cNvPr id="46" name="Nota 2026-2"/>
          <p:cNvSpPr txBox="1"/>
          <p:nvPr/>
        </p:nvSpPr>
        <p:spPr>
          <a:xfrm>
            <a:off x="8610448" y="5184648"/>
            <a:ext cx="2804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Nota No. DS-SABAO-BCS-BC-22741</a:t>
            </a:r>
            <a:endParaRPr lang="en-US" sz="1200" dirty="0"/>
          </a:p>
        </p:txBody>
      </p:sp>
      <p:sp>
        <p:nvSpPr>
          <p:cNvPr id="47" name="Detalle 2026-2 fondo"/>
          <p:cNvSpPr/>
          <p:nvPr/>
        </p:nvSpPr>
        <p:spPr>
          <a:xfrm>
            <a:off x="8610448" y="5577840"/>
            <a:ext cx="2804008" cy="31089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8" name="Detalle 2026-2"/>
          <p:cNvSpPr txBox="1"/>
          <p:nvPr/>
        </p:nvSpPr>
        <p:spPr>
          <a:xfrm>
            <a:off x="8610448" y="5577840"/>
            <a:ext cx="2804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7 nuevas + seguimiento a 2 de 2025</a:t>
            </a:r>
            <a:endParaRPr lang="en-US" sz="1100" dirty="0"/>
          </a:p>
        </p:txBody>
      </p:sp>
      <p:sp>
        <p:nvSpPr>
          <p:cNvPr id="49" name="Flecha 2026"/>
          <p:cNvSpPr/>
          <p:nvPr/>
        </p:nvSpPr>
        <p:spPr>
          <a:xfrm>
            <a:off x="7961224" y="4951476"/>
            <a:ext cx="292608" cy="292608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NOTA DS-SABAO-BCS-BC-17003 · VISITA CON CORTE AL 30/04/2025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2025</a:t>
            </a:r>
            <a:endParaRPr lang="en-US" sz="3000" dirty="0"/>
          </a:p>
        </p:txBody>
      </p:sp>
      <p:sp>
        <p:nvSpPr>
          <p:cNvPr id="4" name="Leyenda 2025 punto"/>
          <p:cNvSpPr/>
          <p:nvPr/>
        </p:nvSpPr>
        <p:spPr>
          <a:xfrm>
            <a:off x="854964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5" name="Leyenda 2025"/>
          <p:cNvSpPr txBox="1"/>
          <p:nvPr/>
        </p:nvSpPr>
        <p:spPr>
          <a:xfrm>
            <a:off x="8769096" y="777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Observación 2025</a:t>
            </a:r>
            <a:endParaRPr lang="en-US" sz="1100" dirty="0"/>
          </a:p>
        </p:txBody>
      </p:sp>
      <p:sp>
        <p:nvSpPr>
          <p:cNvPr id="6" name="Leyenda abierta punto"/>
          <p:cNvSpPr/>
          <p:nvPr/>
        </p:nvSpPr>
        <p:spPr>
          <a:xfrm>
            <a:off x="9921240" y="841248"/>
            <a:ext cx="146304" cy="14630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7" name="Leyenda abierta"/>
          <p:cNvSpPr txBox="1"/>
          <p:nvPr/>
        </p:nvSpPr>
        <p:spPr>
          <a:xfrm>
            <a:off x="10140696" y="777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En seguimiento SSF 2026</a:t>
            </a:r>
            <a:endParaRPr lang="en-US" sz="1100" dirty="0"/>
          </a:p>
        </p:txBody>
      </p:sp>
      <p:sp>
        <p:nvSpPr>
          <p:cNvPr id="8" name="Observación 2025-1"/>
          <p:cNvSpPr/>
          <p:nvPr/>
        </p:nvSpPr>
        <p:spPr>
          <a:xfrm>
            <a:off x="548640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9" name="Número 2025-1 círculo"/>
          <p:cNvSpPr/>
          <p:nvPr/>
        </p:nvSpPr>
        <p:spPr>
          <a:xfrm>
            <a:off x="731520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0" name="Número 2025-1"/>
          <p:cNvSpPr txBox="1"/>
          <p:nvPr/>
        </p:nvSpPr>
        <p:spPr>
          <a:xfrm>
            <a:off x="73152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ítulo 2025-1"/>
          <p:cNvSpPr txBox="1"/>
          <p:nvPr/>
        </p:nvSpPr>
        <p:spPr>
          <a:xfrm>
            <a:off x="1234440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Política de Operaciones Vinculadas</a:t>
            </a:r>
            <a:endParaRPr lang="en-US" sz="1250" dirty="0"/>
          </a:p>
        </p:txBody>
      </p:sp>
      <p:sp>
        <p:nvSpPr>
          <p:cNvPr id="12" name="Detalle 2025-1"/>
          <p:cNvSpPr txBox="1"/>
          <p:nvPr/>
        </p:nvSpPr>
        <p:spPr>
          <a:xfrm>
            <a:off x="731520" y="2093976"/>
            <a:ext cx="324093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Consejo de Administración / Gerencia General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Criterio SSF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Requerida por Art. 12 NRP-17</a:t>
            </a:r>
            <a:endParaRPr lang="en-US" sz="1050" dirty="0"/>
          </a:p>
        </p:txBody>
      </p:sp>
      <p:sp>
        <p:nvSpPr>
          <p:cNvPr id="13" name="Observación 2025-2"/>
          <p:cNvSpPr/>
          <p:nvPr/>
        </p:nvSpPr>
        <p:spPr>
          <a:xfrm>
            <a:off x="4292498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4" name="Número 2025-2 círculo"/>
          <p:cNvSpPr/>
          <p:nvPr/>
        </p:nvSpPr>
        <p:spPr>
          <a:xfrm>
            <a:off x="4475378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5" name="Número 2025-2"/>
          <p:cNvSpPr txBox="1"/>
          <p:nvPr/>
        </p:nvSpPr>
        <p:spPr>
          <a:xfrm>
            <a:off x="4475378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ítulo 2025-2"/>
          <p:cNvSpPr txBox="1"/>
          <p:nvPr/>
        </p:nvSpPr>
        <p:spPr>
          <a:xfrm>
            <a:off x="4978298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Sin evidencia de firma de confidencialidad e inducción en actas</a:t>
            </a:r>
            <a:endParaRPr lang="en-US" sz="1250" dirty="0"/>
          </a:p>
        </p:txBody>
      </p:sp>
      <p:sp>
        <p:nvSpPr>
          <p:cNvPr id="17" name="Detalle 2025-2"/>
          <p:cNvSpPr txBox="1"/>
          <p:nvPr/>
        </p:nvSpPr>
        <p:spPr>
          <a:xfrm>
            <a:off x="4475378" y="2093976"/>
            <a:ext cx="324093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Consejo de Administración / Secretaría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Criterio SSF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Incumplimiento del Manual de Inducción</a:t>
            </a:r>
            <a:endParaRPr lang="en-US" sz="1050" dirty="0"/>
          </a:p>
        </p:txBody>
      </p:sp>
      <p:sp>
        <p:nvSpPr>
          <p:cNvPr id="18" name="Observación 2025-3"/>
          <p:cNvSpPr/>
          <p:nvPr/>
        </p:nvSpPr>
        <p:spPr>
          <a:xfrm>
            <a:off x="8036357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9" name="Número 2025-3 círculo"/>
          <p:cNvSpPr/>
          <p:nvPr/>
        </p:nvSpPr>
        <p:spPr>
          <a:xfrm>
            <a:off x="8219237" y="150876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20" name="Número 2025-3"/>
          <p:cNvSpPr txBox="1"/>
          <p:nvPr/>
        </p:nvSpPr>
        <p:spPr>
          <a:xfrm>
            <a:off x="8219237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ítulo 2025-3"/>
          <p:cNvSpPr txBox="1"/>
          <p:nvPr/>
        </p:nvSpPr>
        <p:spPr>
          <a:xfrm>
            <a:off x="8722157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Comités de Apoyo no integran personal ejecutivo</a:t>
            </a:r>
            <a:endParaRPr lang="en-US" sz="1250" dirty="0"/>
          </a:p>
        </p:txBody>
      </p:sp>
      <p:sp>
        <p:nvSpPr>
          <p:cNvPr id="22" name="Detalle 2025-3"/>
          <p:cNvSpPr txBox="1"/>
          <p:nvPr/>
        </p:nvSpPr>
        <p:spPr>
          <a:xfrm>
            <a:off x="8219237" y="2093976"/>
            <a:ext cx="324093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Consejo de Administración / RRHH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Criterio SSF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Incumplimiento Art. 3 literal h) NRP-17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3"/>
                </a:solidFill>
              </a:rPr>
              <a:t>↳ Seguimiento 2026: NO SUPERADA</a:t>
            </a:r>
            <a:endParaRPr lang="en-US" sz="1050" dirty="0"/>
          </a:p>
        </p:txBody>
      </p:sp>
      <p:sp>
        <p:nvSpPr>
          <p:cNvPr id="23" name="Observación 2025-4"/>
          <p:cNvSpPr/>
          <p:nvPr/>
        </p:nvSpPr>
        <p:spPr>
          <a:xfrm>
            <a:off x="548640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4" name="Número 2025-4 círculo"/>
          <p:cNvSpPr/>
          <p:nvPr/>
        </p:nvSpPr>
        <p:spPr>
          <a:xfrm>
            <a:off x="731520" y="32461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5" name="Número 2025-4"/>
          <p:cNvSpPr txBox="1"/>
          <p:nvPr/>
        </p:nvSpPr>
        <p:spPr>
          <a:xfrm>
            <a:off x="73152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ítulo 2025-4"/>
          <p:cNvSpPr txBox="1"/>
          <p:nvPr/>
        </p:nvSpPr>
        <p:spPr>
          <a:xfrm>
            <a:off x="1234440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Inconsistencia en pago de dietas (Reglamento vs. Asamblea General)</a:t>
            </a:r>
            <a:endParaRPr lang="en-US" sz="1250" dirty="0"/>
          </a:p>
        </p:txBody>
      </p:sp>
      <p:sp>
        <p:nvSpPr>
          <p:cNvPr id="27" name="Detalle 2025-4"/>
          <p:cNvSpPr txBox="1"/>
          <p:nvPr/>
        </p:nvSpPr>
        <p:spPr>
          <a:xfrm>
            <a:off x="731520" y="3831336"/>
            <a:ext cx="324093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Consejo de Administración / Asamblea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Criterio SSF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Actualizar Reglamento y autorización de Asamblea</a:t>
            </a:r>
            <a:endParaRPr lang="en-US" sz="1050" dirty="0"/>
          </a:p>
        </p:txBody>
      </p:sp>
      <p:sp>
        <p:nvSpPr>
          <p:cNvPr id="28" name="Observación 2025-5"/>
          <p:cNvSpPr/>
          <p:nvPr/>
        </p:nvSpPr>
        <p:spPr>
          <a:xfrm>
            <a:off x="4292498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9" name="Número 2025-5 círculo"/>
          <p:cNvSpPr/>
          <p:nvPr/>
        </p:nvSpPr>
        <p:spPr>
          <a:xfrm>
            <a:off x="4475378" y="3246120"/>
            <a:ext cx="384048" cy="38404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</p:sp>
      <p:sp>
        <p:nvSpPr>
          <p:cNvPr id="30" name="Número 2025-5"/>
          <p:cNvSpPr txBox="1"/>
          <p:nvPr/>
        </p:nvSpPr>
        <p:spPr>
          <a:xfrm>
            <a:off x="4475378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ítulo 2025-5"/>
          <p:cNvSpPr txBox="1"/>
          <p:nvPr/>
        </p:nvSpPr>
        <p:spPr>
          <a:xfrm>
            <a:off x="4978298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Normativa interna desactualizada (más de 2 años sin revisión)</a:t>
            </a:r>
            <a:endParaRPr lang="en-US" sz="1250" dirty="0"/>
          </a:p>
        </p:txBody>
      </p:sp>
      <p:sp>
        <p:nvSpPr>
          <p:cNvPr id="32" name="Detalle 2025-5"/>
          <p:cNvSpPr txBox="1"/>
          <p:nvPr/>
        </p:nvSpPr>
        <p:spPr>
          <a:xfrm>
            <a:off x="4475378" y="3831336"/>
            <a:ext cx="324093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Departamento de Procesos / Líderes de Área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Criterio SSF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9 documentos vencidos (RIT, Auditoría, Riesgos, etc.)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6"/>
                </a:solidFill>
              </a:rPr>
              <a:t>↳ Seguimiento 2026: PARCIALMENTE SUPERADA</a:t>
            </a:r>
            <a:endParaRPr lang="en-US" sz="1050" dirty="0"/>
          </a:p>
        </p:txBody>
      </p:sp>
      <p:sp>
        <p:nvSpPr>
          <p:cNvPr id="33" name="Observación 2025-6"/>
          <p:cNvSpPr/>
          <p:nvPr/>
        </p:nvSpPr>
        <p:spPr>
          <a:xfrm>
            <a:off x="8036357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4" name="Número 2025-6 círculo"/>
          <p:cNvSpPr/>
          <p:nvPr/>
        </p:nvSpPr>
        <p:spPr>
          <a:xfrm>
            <a:off x="8219237" y="32461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5" name="Número 2025-6"/>
          <p:cNvSpPr txBox="1"/>
          <p:nvPr/>
        </p:nvSpPr>
        <p:spPr>
          <a:xfrm>
            <a:off x="8219237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ítulo 2025-6"/>
          <p:cNvSpPr txBox="1"/>
          <p:nvPr/>
        </p:nvSpPr>
        <p:spPr>
          <a:xfrm>
            <a:off x="8722157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soporte en expedientes de créditos de Ferias de Crédito</a:t>
            </a:r>
            <a:endParaRPr lang="en-US" sz="1250" dirty="0"/>
          </a:p>
        </p:txBody>
      </p:sp>
      <p:sp>
        <p:nvSpPr>
          <p:cNvPr id="37" name="Detalle 2025-6"/>
          <p:cNvSpPr txBox="1"/>
          <p:nvPr/>
        </p:nvSpPr>
        <p:spPr>
          <a:xfrm>
            <a:off x="8219237" y="3831336"/>
            <a:ext cx="324093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Gerencia de Créditos / Riesgos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Criterio SSF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Sin acuerdos de CA ni soporte de tasas</a:t>
            </a:r>
            <a:endParaRPr lang="en-US" sz="1050" dirty="0"/>
          </a:p>
        </p:txBody>
      </p:sp>
      <p:sp>
        <p:nvSpPr>
          <p:cNvPr id="38" name="Observación 2025-7"/>
          <p:cNvSpPr/>
          <p:nvPr/>
        </p:nvSpPr>
        <p:spPr>
          <a:xfrm>
            <a:off x="548640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9" name="Número 2025-7 círculo"/>
          <p:cNvSpPr/>
          <p:nvPr/>
        </p:nvSpPr>
        <p:spPr>
          <a:xfrm>
            <a:off x="731520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40" name="Número 2025-7"/>
          <p:cNvSpPr txBox="1"/>
          <p:nvPr/>
        </p:nvSpPr>
        <p:spPr>
          <a:xfrm>
            <a:off x="731520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1" name="Título 2025-7"/>
          <p:cNvSpPr txBox="1"/>
          <p:nvPr/>
        </p:nvSpPr>
        <p:spPr>
          <a:xfrm>
            <a:off x="1234440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información obligatoria en declaración jurada de personas relacionadas</a:t>
            </a:r>
            <a:endParaRPr lang="en-US" sz="1250" dirty="0"/>
          </a:p>
        </p:txBody>
      </p:sp>
      <p:sp>
        <p:nvSpPr>
          <p:cNvPr id="42" name="Detalle 2025-7"/>
          <p:cNvSpPr txBox="1"/>
          <p:nvPr/>
        </p:nvSpPr>
        <p:spPr>
          <a:xfrm>
            <a:off x="731520" y="5568696"/>
            <a:ext cx="324093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Directivos y Equipo Gerencial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Criterio SSF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Incumplimiento Art. 9 NRP-75</a:t>
            </a:r>
            <a:endParaRPr lang="en-US" sz="1050" dirty="0"/>
          </a:p>
        </p:txBody>
      </p:sp>
      <p:sp>
        <p:nvSpPr>
          <p:cNvPr id="43" name="Observación 2025-8"/>
          <p:cNvSpPr/>
          <p:nvPr/>
        </p:nvSpPr>
        <p:spPr>
          <a:xfrm>
            <a:off x="4292498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4" name="Número 2025-8 círculo"/>
          <p:cNvSpPr/>
          <p:nvPr/>
        </p:nvSpPr>
        <p:spPr>
          <a:xfrm>
            <a:off x="4475378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45" name="Número 2025-8"/>
          <p:cNvSpPr txBox="1"/>
          <p:nvPr/>
        </p:nvSpPr>
        <p:spPr>
          <a:xfrm>
            <a:off x="4475378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200" dirty="0"/>
          </a:p>
        </p:txBody>
      </p:sp>
      <p:sp>
        <p:nvSpPr>
          <p:cNvPr id="46" name="Título 2025-8"/>
          <p:cNvSpPr txBox="1"/>
          <p:nvPr/>
        </p:nvSpPr>
        <p:spPr>
          <a:xfrm>
            <a:off x="4978298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Omisiones en procedimientos del Manual de Compras de Bienes y Servicios</a:t>
            </a:r>
            <a:endParaRPr lang="en-US" sz="1250" dirty="0"/>
          </a:p>
        </p:txBody>
      </p:sp>
      <p:sp>
        <p:nvSpPr>
          <p:cNvPr id="47" name="Detalle 2025-8"/>
          <p:cNvSpPr txBox="1"/>
          <p:nvPr/>
        </p:nvSpPr>
        <p:spPr>
          <a:xfrm>
            <a:off x="4475378" y="5568696"/>
            <a:ext cx="324093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Servicios Generales / Área Contratante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Criterio SSF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Cotizaciones sin sellar y falta de cláusula penal</a:t>
            </a:r>
            <a:endParaRPr lang="en-US" sz="1050" dirty="0"/>
          </a:p>
        </p:txBody>
      </p:sp>
      <p:sp>
        <p:nvSpPr>
          <p:cNvPr id="48" name="Observación 2025-9"/>
          <p:cNvSpPr/>
          <p:nvPr/>
        </p:nvSpPr>
        <p:spPr>
          <a:xfrm>
            <a:off x="8036357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9" name="Número 2025-9 círculo"/>
          <p:cNvSpPr/>
          <p:nvPr/>
        </p:nvSpPr>
        <p:spPr>
          <a:xfrm>
            <a:off x="8219237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50" name="Número 2025-9"/>
          <p:cNvSpPr txBox="1"/>
          <p:nvPr/>
        </p:nvSpPr>
        <p:spPr>
          <a:xfrm>
            <a:off x="8219237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200" dirty="0"/>
          </a:p>
        </p:txBody>
      </p:sp>
      <p:sp>
        <p:nvSpPr>
          <p:cNvPr id="51" name="Título 2025-9"/>
          <p:cNvSpPr txBox="1"/>
          <p:nvPr/>
        </p:nvSpPr>
        <p:spPr>
          <a:xfrm>
            <a:off x="8722157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Uso del Fondo de Educación en fines distintos a los legales</a:t>
            </a:r>
            <a:endParaRPr lang="en-US" sz="1250" dirty="0"/>
          </a:p>
        </p:txBody>
      </p:sp>
      <p:sp>
        <p:nvSpPr>
          <p:cNvPr id="52" name="Detalle 2025-9"/>
          <p:cNvSpPr txBox="1"/>
          <p:nvPr/>
        </p:nvSpPr>
        <p:spPr>
          <a:xfrm>
            <a:off x="8219237" y="5568696"/>
            <a:ext cx="324093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Comité de Educación / Gerencia Financiera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Criterio SSF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Fuera del Art. 59 Ley de Cooperativas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NOTA DS-SABAO-BCS-BC-22741 · VISITA CON CORTE AL 31/07/2026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2026</a:t>
            </a:r>
            <a:endParaRPr lang="en-US" sz="3000" dirty="0"/>
          </a:p>
        </p:txBody>
      </p:sp>
      <p:sp>
        <p:nvSpPr>
          <p:cNvPr id="4" name="Leyenda A punto"/>
          <p:cNvSpPr/>
          <p:nvPr/>
        </p:nvSpPr>
        <p:spPr>
          <a:xfrm>
            <a:off x="8046720" y="841248"/>
            <a:ext cx="146304" cy="1463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5" name="Leyenda A"/>
          <p:cNvSpPr txBox="1"/>
          <p:nvPr/>
        </p:nvSpPr>
        <p:spPr>
          <a:xfrm>
            <a:off x="8266176" y="777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A · nuevas</a:t>
            </a:r>
            <a:endParaRPr lang="en-US" sz="1100" dirty="0"/>
          </a:p>
        </p:txBody>
      </p:sp>
      <p:sp>
        <p:nvSpPr>
          <p:cNvPr id="6" name="Leyenda B punto"/>
          <p:cNvSpPr/>
          <p:nvPr/>
        </p:nvSpPr>
        <p:spPr>
          <a:xfrm>
            <a:off x="964692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7" name="Leyenda B"/>
          <p:cNvSpPr txBox="1"/>
          <p:nvPr/>
        </p:nvSpPr>
        <p:spPr>
          <a:xfrm>
            <a:off x="9866376" y="777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B · seguimiento 2025</a:t>
            </a:r>
            <a:endParaRPr lang="en-US" sz="1100" dirty="0"/>
          </a:p>
        </p:txBody>
      </p:sp>
      <p:sp>
        <p:nvSpPr>
          <p:cNvPr id="8" name="Etiqueta Anexo A"/>
          <p:cNvSpPr txBox="1"/>
          <p:nvPr/>
        </p:nvSpPr>
        <p:spPr>
          <a:xfrm>
            <a:off x="548640" y="12984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ANEXO A · OBSERVACIONES DETERMINADAS EN LA VISITA 2026</a:t>
            </a:r>
            <a:endParaRPr lang="en-US" sz="1100" dirty="0"/>
          </a:p>
        </p:txBody>
      </p:sp>
      <p:sp>
        <p:nvSpPr>
          <p:cNvPr id="9" name="Anexo A-1"/>
          <p:cNvSpPr/>
          <p:nvPr/>
        </p:nvSpPr>
        <p:spPr>
          <a:xfrm>
            <a:off x="548640" y="1600200"/>
            <a:ext cx="2670734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0" name="Número A-1 círculo"/>
          <p:cNvSpPr/>
          <p:nvPr/>
        </p:nvSpPr>
        <p:spPr>
          <a:xfrm>
            <a:off x="713232" y="174650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1" name="Número A-1"/>
          <p:cNvSpPr txBox="1"/>
          <p:nvPr/>
        </p:nvSpPr>
        <p:spPr>
          <a:xfrm>
            <a:off x="713232" y="17465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Responsable A-1"/>
          <p:cNvSpPr txBox="1"/>
          <p:nvPr/>
        </p:nvSpPr>
        <p:spPr>
          <a:xfrm>
            <a:off x="1143000" y="1719072"/>
            <a:ext cx="19392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Gerencia Financiera / RRHH</a:t>
            </a:r>
            <a:endParaRPr lang="en-US" sz="1050" dirty="0"/>
          </a:p>
        </p:txBody>
      </p:sp>
      <p:sp>
        <p:nvSpPr>
          <p:cNvPr id="13" name="Título A-1"/>
          <p:cNvSpPr txBox="1"/>
          <p:nvPr/>
        </p:nvSpPr>
        <p:spPr>
          <a:xfrm>
            <a:off x="713232" y="2148840"/>
            <a:ext cx="234155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inducción sobre partidas relevantes de EEFF a nuevos miembros</a:t>
            </a:r>
            <a:endParaRPr lang="en-US" sz="1150" dirty="0"/>
          </a:p>
        </p:txBody>
      </p:sp>
      <p:sp>
        <p:nvSpPr>
          <p:cNvPr id="14" name="Criterio A-1"/>
          <p:cNvSpPr txBox="1"/>
          <p:nvPr/>
        </p:nvSpPr>
        <p:spPr>
          <a:xfrm>
            <a:off x="713232" y="2761488"/>
            <a:ext cx="23415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Art. 11 NRP-17</a:t>
            </a:r>
            <a:endParaRPr lang="en-US" sz="1050" dirty="0"/>
          </a:p>
        </p:txBody>
      </p:sp>
      <p:sp>
        <p:nvSpPr>
          <p:cNvPr id="15" name="Anexo A-2"/>
          <p:cNvSpPr/>
          <p:nvPr/>
        </p:nvSpPr>
        <p:spPr>
          <a:xfrm>
            <a:off x="3356534" y="1600200"/>
            <a:ext cx="2670734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6" name="Número A-2 círculo"/>
          <p:cNvSpPr/>
          <p:nvPr/>
        </p:nvSpPr>
        <p:spPr>
          <a:xfrm>
            <a:off x="3521126" y="174650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7" name="Número A-2"/>
          <p:cNvSpPr txBox="1"/>
          <p:nvPr/>
        </p:nvSpPr>
        <p:spPr>
          <a:xfrm>
            <a:off x="3521126" y="17465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Responsable A-2"/>
          <p:cNvSpPr txBox="1"/>
          <p:nvPr/>
        </p:nvSpPr>
        <p:spPr>
          <a:xfrm>
            <a:off x="3950894" y="1719072"/>
            <a:ext cx="19392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Junta de Vigilancia / Comités de Apoyo</a:t>
            </a:r>
            <a:endParaRPr lang="en-US" sz="1050" dirty="0"/>
          </a:p>
        </p:txBody>
      </p:sp>
      <p:sp>
        <p:nvSpPr>
          <p:cNvPr id="19" name="Título A-2"/>
          <p:cNvSpPr txBox="1"/>
          <p:nvPr/>
        </p:nvSpPr>
        <p:spPr>
          <a:xfrm>
            <a:off x="3521126" y="2148840"/>
            <a:ext cx="234155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Certificación de Lectura del Código de Conducta</a:t>
            </a:r>
            <a:endParaRPr lang="en-US" sz="1150" dirty="0"/>
          </a:p>
        </p:txBody>
      </p:sp>
      <p:sp>
        <p:nvSpPr>
          <p:cNvPr id="20" name="Criterio A-2"/>
          <p:cNvSpPr txBox="1"/>
          <p:nvPr/>
        </p:nvSpPr>
        <p:spPr>
          <a:xfrm>
            <a:off x="3521126" y="2761488"/>
            <a:ext cx="23415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Código de Conducta</a:t>
            </a:r>
            <a:endParaRPr lang="en-US" sz="1050" dirty="0"/>
          </a:p>
        </p:txBody>
      </p:sp>
      <p:sp>
        <p:nvSpPr>
          <p:cNvPr id="21" name="Anexo A-3"/>
          <p:cNvSpPr/>
          <p:nvPr/>
        </p:nvSpPr>
        <p:spPr>
          <a:xfrm>
            <a:off x="6164428" y="1600200"/>
            <a:ext cx="2670734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2" name="Número A-3 círculo"/>
          <p:cNvSpPr/>
          <p:nvPr/>
        </p:nvSpPr>
        <p:spPr>
          <a:xfrm>
            <a:off x="6329020" y="174650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3" name="Número A-3"/>
          <p:cNvSpPr txBox="1"/>
          <p:nvPr/>
        </p:nvSpPr>
        <p:spPr>
          <a:xfrm>
            <a:off x="6329020" y="17465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Responsable A-3"/>
          <p:cNvSpPr txBox="1"/>
          <p:nvPr/>
        </p:nvSpPr>
        <p:spPr>
          <a:xfrm>
            <a:off x="6758788" y="1719072"/>
            <a:ext cx="19392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Consejo de Administración</a:t>
            </a:r>
            <a:endParaRPr lang="en-US" sz="1050" dirty="0"/>
          </a:p>
        </p:txBody>
      </p:sp>
      <p:sp>
        <p:nvSpPr>
          <p:cNvPr id="25" name="Título A-3"/>
          <p:cNvSpPr txBox="1"/>
          <p:nvPr/>
        </p:nvSpPr>
        <p:spPr>
          <a:xfrm>
            <a:off x="6329020" y="2148840"/>
            <a:ext cx="234155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formalización y aprobación de Políticas por el Consejo</a:t>
            </a:r>
            <a:endParaRPr lang="en-US" sz="1150" dirty="0"/>
          </a:p>
        </p:txBody>
      </p:sp>
      <p:sp>
        <p:nvSpPr>
          <p:cNvPr id="26" name="Criterio A-3"/>
          <p:cNvSpPr txBox="1"/>
          <p:nvPr/>
        </p:nvSpPr>
        <p:spPr>
          <a:xfrm>
            <a:off x="6329020" y="2761488"/>
            <a:ext cx="23415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Políticas de Retribución y Control Interno</a:t>
            </a:r>
            <a:endParaRPr lang="en-US" sz="1050" dirty="0"/>
          </a:p>
        </p:txBody>
      </p:sp>
      <p:sp>
        <p:nvSpPr>
          <p:cNvPr id="27" name="Anexo A-4"/>
          <p:cNvSpPr/>
          <p:nvPr/>
        </p:nvSpPr>
        <p:spPr>
          <a:xfrm>
            <a:off x="8972321" y="1600200"/>
            <a:ext cx="2670734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8" name="Número A-4 círculo"/>
          <p:cNvSpPr/>
          <p:nvPr/>
        </p:nvSpPr>
        <p:spPr>
          <a:xfrm>
            <a:off x="9136913" y="174650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9" name="Número A-4"/>
          <p:cNvSpPr txBox="1"/>
          <p:nvPr/>
        </p:nvSpPr>
        <p:spPr>
          <a:xfrm>
            <a:off x="9136913" y="17465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Responsable A-4"/>
          <p:cNvSpPr txBox="1"/>
          <p:nvPr/>
        </p:nvSpPr>
        <p:spPr>
          <a:xfrm>
            <a:off x="9566681" y="1719072"/>
            <a:ext cx="19392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Oficialía de Cumplimiento / Comunicaciones</a:t>
            </a:r>
            <a:endParaRPr lang="en-US" sz="1050" dirty="0"/>
          </a:p>
        </p:txBody>
      </p:sp>
      <p:sp>
        <p:nvSpPr>
          <p:cNvPr id="31" name="Título A-4"/>
          <p:cNvSpPr txBox="1"/>
          <p:nvPr/>
        </p:nvSpPr>
        <p:spPr>
          <a:xfrm>
            <a:off x="9136913" y="2148840"/>
            <a:ext cx="234155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Información de comités desactualizada en sitio web institucional</a:t>
            </a:r>
            <a:endParaRPr lang="en-US" sz="1150" dirty="0"/>
          </a:p>
        </p:txBody>
      </p:sp>
      <p:sp>
        <p:nvSpPr>
          <p:cNvPr id="32" name="Criterio A-4"/>
          <p:cNvSpPr txBox="1"/>
          <p:nvPr/>
        </p:nvSpPr>
        <p:spPr>
          <a:xfrm>
            <a:off x="9136913" y="2761488"/>
            <a:ext cx="23415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Arts. 27 y 28 NRP-17</a:t>
            </a:r>
            <a:endParaRPr lang="en-US" sz="1050" dirty="0"/>
          </a:p>
        </p:txBody>
      </p:sp>
      <p:sp>
        <p:nvSpPr>
          <p:cNvPr id="33" name="Anexo A-5"/>
          <p:cNvSpPr/>
          <p:nvPr/>
        </p:nvSpPr>
        <p:spPr>
          <a:xfrm>
            <a:off x="548640" y="3200400"/>
            <a:ext cx="2670734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4" name="Número A-5 círculo"/>
          <p:cNvSpPr/>
          <p:nvPr/>
        </p:nvSpPr>
        <p:spPr>
          <a:xfrm>
            <a:off x="713232" y="334670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35" name="Número A-5"/>
          <p:cNvSpPr txBox="1"/>
          <p:nvPr/>
        </p:nvSpPr>
        <p:spPr>
          <a:xfrm>
            <a:off x="713232" y="33467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Responsable A-5"/>
          <p:cNvSpPr txBox="1"/>
          <p:nvPr/>
        </p:nvSpPr>
        <p:spPr>
          <a:xfrm>
            <a:off x="1143000" y="3319272"/>
            <a:ext cx="19392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Asesoría Legal / Consejo de Administración</a:t>
            </a:r>
            <a:endParaRPr lang="en-US" sz="1050" dirty="0"/>
          </a:p>
        </p:txBody>
      </p:sp>
      <p:sp>
        <p:nvSpPr>
          <p:cNvPr id="37" name="Título A-5"/>
          <p:cNvSpPr txBox="1"/>
          <p:nvPr/>
        </p:nvSpPr>
        <p:spPr>
          <a:xfrm>
            <a:off x="713232" y="3749040"/>
            <a:ext cx="234155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Incongruencia entre Estatutos y Código de Gobierno Corporativo</a:t>
            </a:r>
            <a:endParaRPr lang="en-US" sz="1150" dirty="0"/>
          </a:p>
        </p:txBody>
      </p:sp>
      <p:sp>
        <p:nvSpPr>
          <p:cNvPr id="38" name="Criterio A-5"/>
          <p:cNvSpPr txBox="1"/>
          <p:nvPr/>
        </p:nvSpPr>
        <p:spPr>
          <a:xfrm>
            <a:off x="713232" y="4361688"/>
            <a:ext cx="23415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Restricción de cargos remunerados</a:t>
            </a:r>
            <a:endParaRPr lang="en-US" sz="1050" dirty="0"/>
          </a:p>
        </p:txBody>
      </p:sp>
      <p:sp>
        <p:nvSpPr>
          <p:cNvPr id="39" name="Anexo A-6"/>
          <p:cNvSpPr/>
          <p:nvPr/>
        </p:nvSpPr>
        <p:spPr>
          <a:xfrm>
            <a:off x="3356534" y="3200400"/>
            <a:ext cx="2670734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0" name="Número A-6 círculo"/>
          <p:cNvSpPr/>
          <p:nvPr/>
        </p:nvSpPr>
        <p:spPr>
          <a:xfrm>
            <a:off x="3521126" y="334670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1" name="Número A-6"/>
          <p:cNvSpPr txBox="1"/>
          <p:nvPr/>
        </p:nvSpPr>
        <p:spPr>
          <a:xfrm>
            <a:off x="3521126" y="33467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42" name="Responsable A-6"/>
          <p:cNvSpPr txBox="1"/>
          <p:nvPr/>
        </p:nvSpPr>
        <p:spPr>
          <a:xfrm>
            <a:off x="3950894" y="3319272"/>
            <a:ext cx="19392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Comité de Educación / Gerencia Financiera</a:t>
            </a:r>
            <a:endParaRPr lang="en-US" sz="1050" dirty="0"/>
          </a:p>
        </p:txBody>
      </p:sp>
      <p:sp>
        <p:nvSpPr>
          <p:cNvPr id="43" name="Título A-6"/>
          <p:cNvSpPr txBox="1"/>
          <p:nvPr/>
        </p:nvSpPr>
        <p:spPr>
          <a:xfrm>
            <a:off x="3521126" y="3749040"/>
            <a:ext cx="234155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Reglamento del Fondo de Educación incluye conceptos no delimitados por Ley</a:t>
            </a:r>
            <a:endParaRPr lang="en-US" sz="1150" dirty="0"/>
          </a:p>
        </p:txBody>
      </p:sp>
      <p:sp>
        <p:nvSpPr>
          <p:cNvPr id="44" name="Criterio A-6"/>
          <p:cNvSpPr txBox="1"/>
          <p:nvPr/>
        </p:nvSpPr>
        <p:spPr>
          <a:xfrm>
            <a:off x="3521126" y="4361688"/>
            <a:ext cx="23415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Art. 5 del Reglamento</a:t>
            </a:r>
            <a:endParaRPr lang="en-US" sz="1050" dirty="0"/>
          </a:p>
        </p:txBody>
      </p:sp>
      <p:sp>
        <p:nvSpPr>
          <p:cNvPr id="45" name="Anexo A-7"/>
          <p:cNvSpPr/>
          <p:nvPr/>
        </p:nvSpPr>
        <p:spPr>
          <a:xfrm>
            <a:off x="6164428" y="3200400"/>
            <a:ext cx="2670734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6" name="Número A-7 círculo"/>
          <p:cNvSpPr/>
          <p:nvPr/>
        </p:nvSpPr>
        <p:spPr>
          <a:xfrm>
            <a:off x="6329020" y="334670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7" name="Número A-7"/>
          <p:cNvSpPr txBox="1"/>
          <p:nvPr/>
        </p:nvSpPr>
        <p:spPr>
          <a:xfrm>
            <a:off x="6329020" y="33467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8" name="Responsable A-7"/>
          <p:cNvSpPr txBox="1"/>
          <p:nvPr/>
        </p:nvSpPr>
        <p:spPr>
          <a:xfrm>
            <a:off x="6758788" y="3319272"/>
            <a:ext cx="19392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Consejo de Administración / Comité de Educación</a:t>
            </a:r>
            <a:endParaRPr lang="en-US" sz="1050" dirty="0"/>
          </a:p>
        </p:txBody>
      </p:sp>
      <p:sp>
        <p:nvSpPr>
          <p:cNvPr id="49" name="Título A-7"/>
          <p:cNvSpPr txBox="1"/>
          <p:nvPr/>
        </p:nvSpPr>
        <p:spPr>
          <a:xfrm>
            <a:off x="6329020" y="3749040"/>
            <a:ext cx="234155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Limitada transparencia a la Asamblea sobre el Fondo de Educación</a:t>
            </a:r>
            <a:endParaRPr lang="en-US" sz="1150" dirty="0"/>
          </a:p>
        </p:txBody>
      </p:sp>
      <p:sp>
        <p:nvSpPr>
          <p:cNvPr id="50" name="Criterio A-7"/>
          <p:cNvSpPr txBox="1"/>
          <p:nvPr/>
        </p:nvSpPr>
        <p:spPr>
          <a:xfrm>
            <a:off x="6329020" y="4361688"/>
            <a:ext cx="23415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$100,774.28 no detallados</a:t>
            </a:r>
            <a:endParaRPr lang="en-US" sz="1050" dirty="0"/>
          </a:p>
        </p:txBody>
      </p:sp>
      <p:sp>
        <p:nvSpPr>
          <p:cNvPr id="51" name="Plazo Anexo A"/>
          <p:cNvSpPr/>
          <p:nvPr/>
        </p:nvSpPr>
        <p:spPr>
          <a:xfrm>
            <a:off x="8972321" y="3200400"/>
            <a:ext cx="2670734" cy="1463040"/>
          </a:xfrm>
          <a:prstGeom prst="roundRect">
            <a:avLst>
              <a:gd name="adj" fmla="val 6250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52" name="Plazo A número"/>
          <p:cNvSpPr txBox="1"/>
          <p:nvPr/>
        </p:nvSpPr>
        <p:spPr>
          <a:xfrm>
            <a:off x="9155201" y="331012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000" dirty="0"/>
          </a:p>
        </p:txBody>
      </p:sp>
      <p:sp>
        <p:nvSpPr>
          <p:cNvPr id="53" name="Plazo A título"/>
          <p:cNvSpPr txBox="1"/>
          <p:nvPr/>
        </p:nvSpPr>
        <p:spPr>
          <a:xfrm>
            <a:off x="9978161" y="3355848"/>
            <a:ext cx="15277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descargos</a:t>
            </a:r>
            <a:endParaRPr lang="en-US" sz="1200" dirty="0"/>
          </a:p>
        </p:txBody>
      </p:sp>
      <p:sp>
        <p:nvSpPr>
          <p:cNvPr id="54" name="Plazo A detalle"/>
          <p:cNvSpPr txBox="1"/>
          <p:nvPr/>
        </p:nvSpPr>
        <p:spPr>
          <a:xfrm>
            <a:off x="9155201" y="4005072"/>
            <a:ext cx="2350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Buzón DESCARGOS_OBSERVACIONES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23/10/2026</a:t>
            </a:r>
            <a:endParaRPr lang="en-US" sz="1050" dirty="0"/>
          </a:p>
        </p:txBody>
      </p:sp>
      <p:sp>
        <p:nvSpPr>
          <p:cNvPr id="55" name="Etiqueta Anexo B"/>
          <p:cNvSpPr txBox="1"/>
          <p:nvPr/>
        </p:nvSpPr>
        <p:spPr>
          <a:xfrm>
            <a:off x="548640" y="482803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ANEXO B · SEGUIMIENTO A 2 DE LAS 9 OBSERVACIONES DE 2025 (NO SON NUEVAS)</a:t>
            </a:r>
            <a:endParaRPr lang="en-US" sz="1100" dirty="0"/>
          </a:p>
        </p:txBody>
      </p:sp>
      <p:sp>
        <p:nvSpPr>
          <p:cNvPr id="56" name="Anexo B-8"/>
          <p:cNvSpPr/>
          <p:nvPr/>
        </p:nvSpPr>
        <p:spPr>
          <a:xfrm>
            <a:off x="548640" y="5120640"/>
            <a:ext cx="4074681" cy="1143000"/>
          </a:xfrm>
          <a:prstGeom prst="roundRect">
            <a:avLst>
              <a:gd name="adj" fmla="val 8000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57" name="Origen B-3 fondo"/>
          <p:cNvSpPr/>
          <p:nvPr/>
        </p:nvSpPr>
        <p:spPr>
          <a:xfrm>
            <a:off x="731520" y="52943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58" name="Origen B-3"/>
          <p:cNvSpPr txBox="1"/>
          <p:nvPr/>
        </p:nvSpPr>
        <p:spPr>
          <a:xfrm>
            <a:off x="731520" y="52943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OBS. 3 DE 2025</a:t>
            </a:r>
            <a:endParaRPr lang="en-US" sz="1050" dirty="0"/>
          </a:p>
        </p:txBody>
      </p:sp>
      <p:sp>
        <p:nvSpPr>
          <p:cNvPr id="59" name="Estado B-3 fondo"/>
          <p:cNvSpPr/>
          <p:nvPr/>
        </p:nvSpPr>
        <p:spPr>
          <a:xfrm>
            <a:off x="2194560" y="52943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60" name="Estado B-3"/>
          <p:cNvSpPr txBox="1"/>
          <p:nvPr/>
        </p:nvSpPr>
        <p:spPr>
          <a:xfrm>
            <a:off x="2194560" y="52943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NO SUPERADA</a:t>
            </a:r>
            <a:endParaRPr lang="en-US" sz="1050" dirty="0"/>
          </a:p>
        </p:txBody>
      </p:sp>
      <p:sp>
        <p:nvSpPr>
          <p:cNvPr id="61" name="Título B-8"/>
          <p:cNvSpPr txBox="1"/>
          <p:nvPr/>
        </p:nvSpPr>
        <p:spPr>
          <a:xfrm>
            <a:off x="731520" y="5687568"/>
            <a:ext cx="37089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Comités de Apoyo no integran personal ejecutivo</a:t>
            </a:r>
            <a:endParaRPr lang="en-US" sz="1250" dirty="0"/>
          </a:p>
        </p:txBody>
      </p:sp>
      <p:sp>
        <p:nvSpPr>
          <p:cNvPr id="62" name="Responsable B-8"/>
          <p:cNvSpPr txBox="1"/>
          <p:nvPr/>
        </p:nvSpPr>
        <p:spPr>
          <a:xfrm>
            <a:off x="731520" y="5971032"/>
            <a:ext cx="370892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Responsable: Consejo de Administración</a:t>
            </a:r>
            <a:endParaRPr lang="en-US" sz="1050" dirty="0"/>
          </a:p>
        </p:txBody>
      </p:sp>
      <p:sp>
        <p:nvSpPr>
          <p:cNvPr id="63" name="Anexo B-9"/>
          <p:cNvSpPr/>
          <p:nvPr/>
        </p:nvSpPr>
        <p:spPr>
          <a:xfrm>
            <a:off x="4760481" y="5120640"/>
            <a:ext cx="4074681" cy="1143000"/>
          </a:xfrm>
          <a:prstGeom prst="roundRect">
            <a:avLst>
              <a:gd name="adj" fmla="val 8000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64" name="Origen B-5 fondo"/>
          <p:cNvSpPr/>
          <p:nvPr/>
        </p:nvSpPr>
        <p:spPr>
          <a:xfrm>
            <a:off x="4943361" y="52943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65" name="Origen B-5"/>
          <p:cNvSpPr txBox="1"/>
          <p:nvPr/>
        </p:nvSpPr>
        <p:spPr>
          <a:xfrm>
            <a:off x="4943361" y="52943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OBS. 5 DE 2025</a:t>
            </a:r>
            <a:endParaRPr lang="en-US" sz="1050" dirty="0"/>
          </a:p>
        </p:txBody>
      </p:sp>
      <p:sp>
        <p:nvSpPr>
          <p:cNvPr id="66" name="Estado B-5 fondo"/>
          <p:cNvSpPr/>
          <p:nvPr/>
        </p:nvSpPr>
        <p:spPr>
          <a:xfrm>
            <a:off x="6406401" y="5294376"/>
            <a:ext cx="219456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67" name="Estado B-5"/>
          <p:cNvSpPr txBox="1"/>
          <p:nvPr/>
        </p:nvSpPr>
        <p:spPr>
          <a:xfrm>
            <a:off x="6406401" y="52943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PARCIALMENTE SUPERADA</a:t>
            </a:r>
            <a:endParaRPr lang="en-US" sz="1050" dirty="0"/>
          </a:p>
        </p:txBody>
      </p:sp>
      <p:sp>
        <p:nvSpPr>
          <p:cNvPr id="68" name="Título B-9"/>
          <p:cNvSpPr txBox="1"/>
          <p:nvPr/>
        </p:nvSpPr>
        <p:spPr>
          <a:xfrm>
            <a:off x="4943361" y="5687568"/>
            <a:ext cx="37089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Normativa interna desactualizada</a:t>
            </a:r>
            <a:endParaRPr lang="en-US" sz="1250" dirty="0"/>
          </a:p>
        </p:txBody>
      </p:sp>
      <p:sp>
        <p:nvSpPr>
          <p:cNvPr id="69" name="Responsable B-9"/>
          <p:cNvSpPr txBox="1"/>
          <p:nvPr/>
        </p:nvSpPr>
        <p:spPr>
          <a:xfrm>
            <a:off x="4943361" y="5971032"/>
            <a:ext cx="370892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Depto. de Procesos · RIT, Comité de Auditoría, Compras</a:t>
            </a:r>
            <a:endParaRPr lang="en-US" sz="1050" dirty="0"/>
          </a:p>
        </p:txBody>
      </p:sp>
      <p:sp>
        <p:nvSpPr>
          <p:cNvPr id="70" name="Plazo Anexo B"/>
          <p:cNvSpPr/>
          <p:nvPr/>
        </p:nvSpPr>
        <p:spPr>
          <a:xfrm>
            <a:off x="8972321" y="5120640"/>
            <a:ext cx="2670734" cy="11430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</p:sp>
      <p:sp>
        <p:nvSpPr>
          <p:cNvPr id="71" name="Plazo B número"/>
          <p:cNvSpPr txBox="1"/>
          <p:nvPr/>
        </p:nvSpPr>
        <p:spPr>
          <a:xfrm>
            <a:off x="9155201" y="513892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72" name="Plazo B título"/>
          <p:cNvSpPr txBox="1"/>
          <p:nvPr/>
        </p:nvSpPr>
        <p:spPr>
          <a:xfrm>
            <a:off x="9978161" y="5184648"/>
            <a:ext cx="15277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plan de solución</a:t>
            </a:r>
            <a:endParaRPr lang="en-US" sz="1200" dirty="0"/>
          </a:p>
        </p:txBody>
      </p:sp>
      <p:sp>
        <p:nvSpPr>
          <p:cNvPr id="73" name="Plazo B detalle"/>
          <p:cNvSpPr txBox="1"/>
          <p:nvPr/>
        </p:nvSpPr>
        <p:spPr>
          <a:xfrm>
            <a:off x="9155201" y="5806440"/>
            <a:ext cx="23964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Buzón PLANES_SOLUC_VISITASUPERVIS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30/10/2026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LÍNEA DE TIEMPO COMPARATIVA Y EVOLUCIÓN DEL CUMPLIMIENTO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Línea de tiempo: de hoy a 2025</a:t>
            </a:r>
            <a:endParaRPr lang="en-US" sz="3000" dirty="0"/>
          </a:p>
        </p:txBody>
      </p:sp>
      <p:sp>
        <p:nvSpPr>
          <p:cNvPr id="4" name="Eje 2026"/>
          <p:cNvSpPr/>
          <p:nvPr/>
        </p:nvSpPr>
        <p:spPr>
          <a:xfrm>
            <a:off x="1645920" y="1463040"/>
            <a:ext cx="0" cy="2029968"/>
          </a:xfrm>
          <a:prstGeom prst="line">
            <a:avLst/>
          </a:prstGeom>
          <a:noFill/>
          <a:ln w="38100">
            <a:solidFill>
              <a:schemeClr val="accent2"/>
            </a:solidFill>
            <a:prstDash val="solid"/>
          </a:ln>
        </p:spPr>
      </p:sp>
      <p:sp>
        <p:nvSpPr>
          <p:cNvPr id="5" name="Pausa entre visitas"/>
          <p:cNvSpPr/>
          <p:nvPr/>
        </p:nvSpPr>
        <p:spPr>
          <a:xfrm>
            <a:off x="1645920" y="3675888"/>
            <a:ext cx="0" cy="51206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</a:ln>
        </p:spPr>
      </p:sp>
      <p:sp>
        <p:nvSpPr>
          <p:cNvPr id="6" name="Eje 2025"/>
          <p:cNvSpPr/>
          <p:nvPr/>
        </p:nvSpPr>
        <p:spPr>
          <a:xfrm>
            <a:off x="1645920" y="4370832"/>
            <a:ext cx="0" cy="1353312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solid"/>
          </a:ln>
        </p:spPr>
      </p:sp>
      <p:sp>
        <p:nvSpPr>
          <p:cNvPr id="7" name="Año 2026 fondo"/>
          <p:cNvSpPr/>
          <p:nvPr/>
        </p:nvSpPr>
        <p:spPr>
          <a:xfrm>
            <a:off x="548640" y="1426464"/>
            <a:ext cx="77724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8" name="Año 2026"/>
          <p:cNvSpPr txBox="1"/>
          <p:nvPr/>
        </p:nvSpPr>
        <p:spPr>
          <a:xfrm>
            <a:off x="548640" y="142646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9" name="Año 2025 fondo"/>
          <p:cNvSpPr/>
          <p:nvPr/>
        </p:nvSpPr>
        <p:spPr>
          <a:xfrm>
            <a:off x="548640" y="4334256"/>
            <a:ext cx="77724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0" name="Año 2025"/>
          <p:cNvSpPr txBox="1"/>
          <p:nvPr/>
        </p:nvSpPr>
        <p:spPr>
          <a:xfrm>
            <a:off x="548640" y="433425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2025</a:t>
            </a:r>
            <a:endParaRPr lang="en-US" sz="1100" dirty="0"/>
          </a:p>
        </p:txBody>
      </p:sp>
      <p:sp>
        <p:nvSpPr>
          <p:cNvPr id="11" name="Pausa texto"/>
          <p:cNvSpPr txBox="1"/>
          <p:nvPr/>
        </p:nvSpPr>
        <p:spPr>
          <a:xfrm>
            <a:off x="502920" y="384048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8 meses</a:t>
            </a:r>
            <a:endParaRPr lang="en-US" sz="1000" dirty="0"/>
          </a:p>
        </p:txBody>
      </p:sp>
      <p:sp>
        <p:nvSpPr>
          <p:cNvPr id="12" name="Fondo hoy"/>
          <p:cNvSpPr/>
          <p:nvPr/>
        </p:nvSpPr>
        <p:spPr>
          <a:xfrm>
            <a:off x="1856232" y="1371600"/>
            <a:ext cx="4754880" cy="621792"/>
          </a:xfrm>
          <a:prstGeom prst="roundRect">
            <a:avLst>
              <a:gd name="adj" fmla="val 14706"/>
            </a:avLst>
          </a:prstGeom>
          <a:solidFill>
            <a:schemeClr val="accent2">
              <a:alpha val="15000"/>
            </a:schemeClr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3" name="Halo hoy"/>
          <p:cNvSpPr/>
          <p:nvPr/>
        </p:nvSpPr>
        <p:spPr>
          <a:xfrm>
            <a:off x="1463040" y="1426464"/>
            <a:ext cx="365760" cy="365760"/>
          </a:xfrm>
          <a:prstGeom prst="ellipse">
            <a:avLst/>
          </a:prstGeom>
          <a:solidFill>
            <a:schemeClr val="accent2">
              <a:alpha val="30000"/>
            </a:schemeClr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4" name="Hito 1"/>
          <p:cNvSpPr/>
          <p:nvPr/>
        </p:nvSpPr>
        <p:spPr>
          <a:xfrm>
            <a:off x="1536192" y="1499616"/>
            <a:ext cx="219456" cy="219456"/>
          </a:xfrm>
          <a:prstGeom prst="ellipse">
            <a:avLst/>
          </a:prstGeom>
          <a:solidFill>
            <a:schemeClr val="accent2"/>
          </a:solidFill>
          <a:ln w="31750">
            <a:solidFill>
              <a:schemeClr val="accent2"/>
            </a:solidFill>
            <a:prstDash val="solid"/>
          </a:ln>
        </p:spPr>
      </p:sp>
      <p:sp>
        <p:nvSpPr>
          <p:cNvPr id="15" name="Hito fecha 1"/>
          <p:cNvSpPr txBox="1"/>
          <p:nvPr/>
        </p:nvSpPr>
        <p:spPr>
          <a:xfrm>
            <a:off x="1965960" y="1463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HOY   </a:t>
            </a:r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Plazos de respuesta en curso</a:t>
            </a:r>
            <a:endParaRPr lang="en-US" sz="1400" dirty="0"/>
          </a:p>
        </p:txBody>
      </p:sp>
      <p:sp>
        <p:nvSpPr>
          <p:cNvPr id="16" name="Hito detalle 1"/>
          <p:cNvSpPr txBox="1"/>
          <p:nvPr/>
        </p:nvSpPr>
        <p:spPr>
          <a:xfrm>
            <a:off x="1965960" y="17373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Descargos 10 días hábiles (≈23/10) · Plan de solución 15 días hábiles (≈30/10)</a:t>
            </a:r>
            <a:endParaRPr lang="en-US" sz="1050" dirty="0"/>
          </a:p>
        </p:txBody>
      </p:sp>
      <p:sp>
        <p:nvSpPr>
          <p:cNvPr id="17" name="Hito 2"/>
          <p:cNvSpPr/>
          <p:nvPr/>
        </p:nvSpPr>
        <p:spPr>
          <a:xfrm>
            <a:off x="1536192" y="2176272"/>
            <a:ext cx="219456" cy="219456"/>
          </a:xfrm>
          <a:prstGeom prst="ellipse">
            <a:avLst/>
          </a:prstGeom>
          <a:solidFill>
            <a:schemeClr val="bg1"/>
          </a:solidFill>
          <a:ln w="31750">
            <a:solidFill>
              <a:schemeClr val="accent2"/>
            </a:solidFill>
            <a:prstDash val="solid"/>
          </a:ln>
        </p:spPr>
      </p:sp>
      <p:sp>
        <p:nvSpPr>
          <p:cNvPr id="18" name="Hito fecha 2"/>
          <p:cNvSpPr txBox="1"/>
          <p:nvPr/>
        </p:nvSpPr>
        <p:spPr>
          <a:xfrm>
            <a:off x="1965960" y="213969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OCT 2026   </a:t>
            </a:r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Informe preliminar · Nota 22741</a:t>
            </a:r>
            <a:endParaRPr lang="en-US" sz="1400" dirty="0"/>
          </a:p>
        </p:txBody>
      </p:sp>
      <p:sp>
        <p:nvSpPr>
          <p:cNvPr id="19" name="Hito detalle 2"/>
          <p:cNvSpPr txBox="1"/>
          <p:nvPr/>
        </p:nvSpPr>
        <p:spPr>
          <a:xfrm>
            <a:off x="1965960" y="2414016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7 nuevas (Anexo A) + seguimiento a obs. 3 y 5 de 2025 (Anexo B)</a:t>
            </a:r>
            <a:endParaRPr lang="en-US" sz="1050" dirty="0"/>
          </a:p>
        </p:txBody>
      </p:sp>
      <p:sp>
        <p:nvSpPr>
          <p:cNvPr id="20" name="Hito 3"/>
          <p:cNvSpPr/>
          <p:nvPr/>
        </p:nvSpPr>
        <p:spPr>
          <a:xfrm>
            <a:off x="1536192" y="2852928"/>
            <a:ext cx="219456" cy="219456"/>
          </a:xfrm>
          <a:prstGeom prst="ellipse">
            <a:avLst/>
          </a:prstGeom>
          <a:solidFill>
            <a:schemeClr val="bg1"/>
          </a:solidFill>
          <a:ln w="31750">
            <a:solidFill>
              <a:schemeClr val="accent2"/>
            </a:solidFill>
            <a:prstDash val="solid"/>
          </a:ln>
        </p:spPr>
      </p:sp>
      <p:sp>
        <p:nvSpPr>
          <p:cNvPr id="21" name="Hito fecha 3"/>
          <p:cNvSpPr txBox="1"/>
          <p:nvPr/>
        </p:nvSpPr>
        <p:spPr>
          <a:xfrm>
            <a:off x="1965960" y="28163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AGO 2026   </a:t>
            </a:r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Inicio de la visita de supervisión ampliada</a:t>
            </a:r>
            <a:endParaRPr lang="en-US" sz="1400" dirty="0"/>
          </a:p>
        </p:txBody>
      </p:sp>
      <p:sp>
        <p:nvSpPr>
          <p:cNvPr id="22" name="Hito 4"/>
          <p:cNvSpPr/>
          <p:nvPr/>
        </p:nvSpPr>
        <p:spPr>
          <a:xfrm>
            <a:off x="1536192" y="3529584"/>
            <a:ext cx="219456" cy="219456"/>
          </a:xfrm>
          <a:prstGeom prst="ellipse">
            <a:avLst/>
          </a:prstGeom>
          <a:solidFill>
            <a:schemeClr val="bg1"/>
          </a:solidFill>
          <a:ln w="31750">
            <a:solidFill>
              <a:schemeClr val="accent2"/>
            </a:solidFill>
            <a:prstDash val="solid"/>
          </a:ln>
        </p:spPr>
      </p:sp>
      <p:sp>
        <p:nvSpPr>
          <p:cNvPr id="23" name="Hito fecha 4"/>
          <p:cNvSpPr txBox="1"/>
          <p:nvPr/>
        </p:nvSpPr>
        <p:spPr>
          <a:xfrm>
            <a:off x="1965960" y="34930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 JUL 2026   </a:t>
            </a:r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Nombramiento SSF · Nota 18432</a:t>
            </a:r>
            <a:endParaRPr lang="en-US" sz="1400" dirty="0"/>
          </a:p>
        </p:txBody>
      </p:sp>
      <p:sp>
        <p:nvSpPr>
          <p:cNvPr id="24" name="Hito detalle 4"/>
          <p:cNvSpPr txBox="1"/>
          <p:nvPr/>
        </p:nvSpPr>
        <p:spPr>
          <a:xfrm>
            <a:off x="1965960" y="376732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Visita con corte al 31/07/2026</a:t>
            </a:r>
            <a:endParaRPr lang="en-US" sz="1050" dirty="0"/>
          </a:p>
        </p:txBody>
      </p:sp>
      <p:sp>
        <p:nvSpPr>
          <p:cNvPr id="25" name="Hito 5"/>
          <p:cNvSpPr/>
          <p:nvPr/>
        </p:nvSpPr>
        <p:spPr>
          <a:xfrm>
            <a:off x="1536192" y="4407408"/>
            <a:ext cx="219456" cy="219456"/>
          </a:xfrm>
          <a:prstGeom prst="ellipse">
            <a:avLst/>
          </a:prstGeom>
          <a:solidFill>
            <a:schemeClr val="bg1"/>
          </a:solidFill>
          <a:ln w="31750">
            <a:solidFill>
              <a:schemeClr val="accent1"/>
            </a:solidFill>
            <a:prstDash val="solid"/>
          </a:ln>
        </p:spPr>
      </p:sp>
      <p:sp>
        <p:nvSpPr>
          <p:cNvPr id="26" name="Hito fecha 5"/>
          <p:cNvSpPr txBox="1"/>
          <p:nvPr/>
        </p:nvSpPr>
        <p:spPr>
          <a:xfrm>
            <a:off x="1965960" y="43708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NOV 2025   </a:t>
            </a:r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Informe preliminar · Nota 17003</a:t>
            </a:r>
            <a:endParaRPr lang="en-US" sz="1400" dirty="0"/>
          </a:p>
        </p:txBody>
      </p:sp>
      <p:sp>
        <p:nvSpPr>
          <p:cNvPr id="27" name="Hito detalle 5"/>
          <p:cNvSpPr txBox="1"/>
          <p:nvPr/>
        </p:nvSpPr>
        <p:spPr>
          <a:xfrm>
            <a:off x="1965960" y="46451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9 observaciones</a:t>
            </a:r>
            <a:endParaRPr lang="en-US" sz="1050" dirty="0"/>
          </a:p>
        </p:txBody>
      </p:sp>
      <p:sp>
        <p:nvSpPr>
          <p:cNvPr id="28" name="Hito 6"/>
          <p:cNvSpPr/>
          <p:nvPr/>
        </p:nvSpPr>
        <p:spPr>
          <a:xfrm>
            <a:off x="1536192" y="5084064"/>
            <a:ext cx="219456" cy="219456"/>
          </a:xfrm>
          <a:prstGeom prst="ellipse">
            <a:avLst/>
          </a:prstGeom>
          <a:solidFill>
            <a:schemeClr val="bg1"/>
          </a:solidFill>
          <a:ln w="31750">
            <a:solidFill>
              <a:schemeClr val="accent1"/>
            </a:solidFill>
            <a:prstDash val="solid"/>
          </a:ln>
        </p:spPr>
      </p:sp>
      <p:sp>
        <p:nvSpPr>
          <p:cNvPr id="29" name="Hito fecha 6"/>
          <p:cNvSpPr txBox="1"/>
          <p:nvPr/>
        </p:nvSpPr>
        <p:spPr>
          <a:xfrm>
            <a:off x="1965960" y="50474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MAY 2025   </a:t>
            </a:r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Inicio formal de la visita en sitio</a:t>
            </a:r>
            <a:endParaRPr lang="en-US" sz="1400" dirty="0"/>
          </a:p>
        </p:txBody>
      </p:sp>
      <p:sp>
        <p:nvSpPr>
          <p:cNvPr id="30" name="Hito 7"/>
          <p:cNvSpPr/>
          <p:nvPr/>
        </p:nvSpPr>
        <p:spPr>
          <a:xfrm>
            <a:off x="1536192" y="5760720"/>
            <a:ext cx="219456" cy="219456"/>
          </a:xfrm>
          <a:prstGeom prst="ellipse">
            <a:avLst/>
          </a:prstGeom>
          <a:solidFill>
            <a:schemeClr val="bg1"/>
          </a:solidFill>
          <a:ln w="31750">
            <a:solidFill>
              <a:schemeClr val="accent1"/>
            </a:solidFill>
            <a:prstDash val="solid"/>
          </a:ln>
        </p:spPr>
      </p:sp>
      <p:sp>
        <p:nvSpPr>
          <p:cNvPr id="31" name="Hito fecha 7"/>
          <p:cNvSpPr txBox="1"/>
          <p:nvPr/>
        </p:nvSpPr>
        <p:spPr>
          <a:xfrm>
            <a:off x="1965960" y="572414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ABR 2025   </a:t>
            </a:r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Nombramiento SSF · Nota 9337</a:t>
            </a:r>
            <a:endParaRPr lang="en-US" sz="1400" dirty="0"/>
          </a:p>
        </p:txBody>
      </p:sp>
      <p:sp>
        <p:nvSpPr>
          <p:cNvPr id="32" name="Hito detalle 7"/>
          <p:cNvSpPr txBox="1"/>
          <p:nvPr/>
        </p:nvSpPr>
        <p:spPr>
          <a:xfrm>
            <a:off x="1965960" y="599846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Visita con corte al 30/04/2025</a:t>
            </a:r>
            <a:endParaRPr lang="en-US" sz="1050" dirty="0"/>
          </a:p>
        </p:txBody>
      </p:sp>
      <p:sp>
        <p:nvSpPr>
          <p:cNvPr id="33" name="Detalle 2026"/>
          <p:cNvSpPr/>
          <p:nvPr/>
        </p:nvSpPr>
        <p:spPr>
          <a:xfrm>
            <a:off x="6720840" y="1325880"/>
            <a:ext cx="4922215" cy="1298448"/>
          </a:xfrm>
          <a:prstGeom prst="roundRect">
            <a:avLst>
              <a:gd name="adj" fmla="val 7042"/>
            </a:avLst>
          </a:prstGeom>
          <a:solidFill>
            <a:schemeClr val="accent2">
              <a:alpha val="12000"/>
            </a:schemeClr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34" name="Detalle 2026 título"/>
          <p:cNvSpPr txBox="1"/>
          <p:nvPr/>
        </p:nvSpPr>
        <p:spPr>
          <a:xfrm>
            <a:off x="6903720" y="1435608"/>
            <a:ext cx="45564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Resultado 2026 · Nota 22741</a:t>
            </a:r>
            <a:endParaRPr lang="en-US" sz="1300" dirty="0"/>
          </a:p>
        </p:txBody>
      </p:sp>
      <p:sp>
        <p:nvSpPr>
          <p:cNvPr id="35" name="Detalle 2026 texto"/>
          <p:cNvSpPr txBox="1"/>
          <p:nvPr/>
        </p:nvSpPr>
        <p:spPr>
          <a:xfrm>
            <a:off x="6903720" y="1755648"/>
            <a:ext cx="455645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tx1"/>
                </a:solidFill>
              </a:rPr>
              <a:t>Anexo A: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7 observaciones nuevas · descargos en 10 días hábiles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tx1"/>
                </a:solidFill>
              </a:rPr>
              <a:t>Anexo B: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seguimiento a obs. 3 y 5 de 2025 · plan de solución en 15 días hábiles</a:t>
            </a:r>
            <a:endParaRPr lang="en-US" sz="1150" dirty="0"/>
          </a:p>
        </p:txBody>
      </p:sp>
      <p:sp>
        <p:nvSpPr>
          <p:cNvPr id="36" name="Detalle 2025"/>
          <p:cNvSpPr/>
          <p:nvPr/>
        </p:nvSpPr>
        <p:spPr>
          <a:xfrm>
            <a:off x="6720840" y="2761488"/>
            <a:ext cx="4922215" cy="1143000"/>
          </a:xfrm>
          <a:prstGeom prst="roundRect">
            <a:avLst>
              <a:gd name="adj" fmla="val 8000"/>
            </a:avLst>
          </a:prstGeom>
          <a:solidFill>
            <a:schemeClr val="accent1">
              <a:alpha val="12000"/>
            </a:schemeClr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7" name="Detalle 2025 título"/>
          <p:cNvSpPr txBox="1"/>
          <p:nvPr/>
        </p:nvSpPr>
        <p:spPr>
          <a:xfrm>
            <a:off x="6903720" y="2871216"/>
            <a:ext cx="45564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Hallazgos críticos 2025 · Nota 17003</a:t>
            </a:r>
            <a:endParaRPr lang="en-US" sz="1300" dirty="0"/>
          </a:p>
        </p:txBody>
      </p:sp>
      <p:sp>
        <p:nvSpPr>
          <p:cNvPr id="38" name="Detalle 2025 texto"/>
          <p:cNvSpPr txBox="1"/>
          <p:nvPr/>
        </p:nvSpPr>
        <p:spPr>
          <a:xfrm>
            <a:off x="6903720" y="3182112"/>
            <a:ext cx="45564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Ausencia de Política de Operaciones Vinculadas</a:t>
            </a:r>
            <a:endParaRPr lang="en-US" sz="11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Normativa interna desactualizada (9 documentos)</a:t>
            </a:r>
            <a:endParaRPr lang="en-US" sz="11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Uso inapropiado del Fondo de Educación</a:t>
            </a:r>
            <a:endParaRPr lang="en-US" sz="1150" dirty="0"/>
          </a:p>
        </p:txBody>
      </p:sp>
      <p:sp>
        <p:nvSpPr>
          <p:cNvPr id="39" name="Evolución título"/>
          <p:cNvSpPr txBox="1"/>
          <p:nvPr/>
        </p:nvSpPr>
        <p:spPr>
          <a:xfrm>
            <a:off x="6720840" y="4041648"/>
            <a:ext cx="4922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SEGUIMIENTO A OBSERVACIONES 2025</a:t>
            </a:r>
            <a:endParaRPr lang="en-US" sz="1100" dirty="0"/>
          </a:p>
        </p:txBody>
      </p:sp>
      <p:sp>
        <p:nvSpPr>
          <p:cNvPr id="40" name="Evolución 1"/>
          <p:cNvSpPr/>
          <p:nvPr/>
        </p:nvSpPr>
        <p:spPr>
          <a:xfrm>
            <a:off x="6720840" y="4343400"/>
            <a:ext cx="4922215" cy="585216"/>
          </a:xfrm>
          <a:prstGeom prst="roundRect">
            <a:avLst>
              <a:gd name="adj" fmla="val 15625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41" name="Evolución estado 1 fondo"/>
          <p:cNvSpPr/>
          <p:nvPr/>
        </p:nvSpPr>
        <p:spPr>
          <a:xfrm>
            <a:off x="6858000" y="4498848"/>
            <a:ext cx="20116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42" name="Evolución estado 1"/>
          <p:cNvSpPr txBox="1"/>
          <p:nvPr/>
        </p:nvSpPr>
        <p:spPr>
          <a:xfrm>
            <a:off x="6858000" y="44988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NO SUPERADA</a:t>
            </a:r>
            <a:endParaRPr lang="en-US" sz="1000" dirty="0"/>
          </a:p>
        </p:txBody>
      </p:sp>
      <p:sp>
        <p:nvSpPr>
          <p:cNvPr id="43" name="Evolución tema 1"/>
          <p:cNvSpPr txBox="1"/>
          <p:nvPr/>
        </p:nvSpPr>
        <p:spPr>
          <a:xfrm>
            <a:off x="9006840" y="4416552"/>
            <a:ext cx="2544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Comités de Apoyo sin ejecutivos</a:t>
            </a:r>
            <a:endParaRPr lang="en-US" sz="1200" dirty="0"/>
          </a:p>
        </p:txBody>
      </p:sp>
      <p:sp>
        <p:nvSpPr>
          <p:cNvPr id="44" name="Evolución detalle 1"/>
          <p:cNvSpPr txBox="1"/>
          <p:nvPr/>
        </p:nvSpPr>
        <p:spPr>
          <a:xfrm>
            <a:off x="9006840" y="4654296"/>
            <a:ext cx="25447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Obs. 3 de 2025 · Anexo B</a:t>
            </a:r>
            <a:endParaRPr lang="en-US" sz="1050" dirty="0"/>
          </a:p>
        </p:txBody>
      </p:sp>
      <p:sp>
        <p:nvSpPr>
          <p:cNvPr id="45" name="Evolución 2"/>
          <p:cNvSpPr/>
          <p:nvPr/>
        </p:nvSpPr>
        <p:spPr>
          <a:xfrm>
            <a:off x="6720840" y="5001768"/>
            <a:ext cx="4922215" cy="585216"/>
          </a:xfrm>
          <a:prstGeom prst="roundRect">
            <a:avLst>
              <a:gd name="adj" fmla="val 15625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46" name="Evolución estado 2 fondo"/>
          <p:cNvSpPr/>
          <p:nvPr/>
        </p:nvSpPr>
        <p:spPr>
          <a:xfrm>
            <a:off x="6858000" y="5157216"/>
            <a:ext cx="201168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47" name="Evolución estado 2"/>
          <p:cNvSpPr txBox="1"/>
          <p:nvPr/>
        </p:nvSpPr>
        <p:spPr>
          <a:xfrm>
            <a:off x="6858000" y="51572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PARCIALMENTE SUPERADA</a:t>
            </a:r>
            <a:endParaRPr lang="en-US" sz="1000" dirty="0"/>
          </a:p>
        </p:txBody>
      </p:sp>
      <p:sp>
        <p:nvSpPr>
          <p:cNvPr id="48" name="Evolución tema 2"/>
          <p:cNvSpPr txBox="1"/>
          <p:nvPr/>
        </p:nvSpPr>
        <p:spPr>
          <a:xfrm>
            <a:off x="9006840" y="5074920"/>
            <a:ext cx="2544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Normativa interna desactualizada</a:t>
            </a:r>
            <a:endParaRPr lang="en-US" sz="1200" dirty="0"/>
          </a:p>
        </p:txBody>
      </p:sp>
      <p:sp>
        <p:nvSpPr>
          <p:cNvPr id="49" name="Evolución detalle 2"/>
          <p:cNvSpPr txBox="1"/>
          <p:nvPr/>
        </p:nvSpPr>
        <p:spPr>
          <a:xfrm>
            <a:off x="9006840" y="5312664"/>
            <a:ext cx="25447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Obs. 5 de 2025 · Anexo B</a:t>
            </a:r>
            <a:endParaRPr lang="en-US" sz="1050" dirty="0"/>
          </a:p>
        </p:txBody>
      </p:sp>
      <p:sp>
        <p:nvSpPr>
          <p:cNvPr id="50" name="Evolución 3"/>
          <p:cNvSpPr/>
          <p:nvPr/>
        </p:nvSpPr>
        <p:spPr>
          <a:xfrm>
            <a:off x="6720840" y="5660136"/>
            <a:ext cx="4922215" cy="585216"/>
          </a:xfrm>
          <a:prstGeom prst="roundRect">
            <a:avLst>
              <a:gd name="adj" fmla="val 15625"/>
            </a:avLst>
          </a:prstGeom>
          <a:solidFill>
            <a:schemeClr val="accent2">
              <a:alpha val="12000"/>
            </a:schemeClr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51" name="Evolución estado 3 fondo"/>
          <p:cNvSpPr/>
          <p:nvPr/>
        </p:nvSpPr>
        <p:spPr>
          <a:xfrm>
            <a:off x="6858000" y="5815584"/>
            <a:ext cx="201168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52" name="Evolución estado 3"/>
          <p:cNvSpPr txBox="1"/>
          <p:nvPr/>
        </p:nvSpPr>
        <p:spPr>
          <a:xfrm>
            <a:off x="6858000" y="581558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MISMO TEMA · NUEVAS</a:t>
            </a:r>
            <a:endParaRPr lang="en-US" sz="1000" dirty="0"/>
          </a:p>
        </p:txBody>
      </p:sp>
      <p:sp>
        <p:nvSpPr>
          <p:cNvPr id="53" name="Evolución tema 3"/>
          <p:cNvSpPr txBox="1"/>
          <p:nvPr/>
        </p:nvSpPr>
        <p:spPr>
          <a:xfrm>
            <a:off x="9006840" y="5733288"/>
            <a:ext cx="2544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Fondo de Educación</a:t>
            </a:r>
            <a:endParaRPr lang="en-US" sz="1200" dirty="0"/>
          </a:p>
        </p:txBody>
      </p:sp>
      <p:sp>
        <p:nvSpPr>
          <p:cNvPr id="54" name="Evolución detalle 3"/>
          <p:cNvSpPr txBox="1"/>
          <p:nvPr/>
        </p:nvSpPr>
        <p:spPr>
          <a:xfrm>
            <a:off x="9006840" y="5971032"/>
            <a:ext cx="25447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Obs. 6 y 7 nuevas · no es seguimiento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SF Gobierno Corporativo">
  <a:themeElements>
    <a:clrScheme name="SSF Gobierno Corporativo">
      <a:dk1>
        <a:srgbClr val="142033"/>
      </a:dk1>
      <a:lt1>
        <a:srgbClr val="FFFFFF"/>
      </a:lt1>
      <a:dk2>
        <a:srgbClr val="173A6E"/>
      </a:dk2>
      <a:lt2>
        <a:srgbClr val="EEF2F8"/>
      </a:lt2>
      <a:accent1>
        <a:srgbClr val="173A6E"/>
      </a:accent1>
      <a:accent2>
        <a:srgbClr val="1D7A4B"/>
      </a:accent2>
      <a:accent3>
        <a:srgbClr val="B42318"/>
      </a:accent3>
      <a:accent4>
        <a:srgbClr val="D99A1E"/>
      </a:accent4>
      <a:accent5>
        <a:srgbClr val="586579"/>
      </a:accent5>
      <a:accent6>
        <a:srgbClr val="A86410"/>
      </a:accent6>
      <a:hlink>
        <a:srgbClr val="173A6E"/>
      </a:hlink>
      <a:folHlink>
        <a:srgbClr val="586579"/>
      </a:folHlink>
    </a:clrScheme>
    <a:fontScheme name="SSF Gobierno Corporativ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Supervisiones de Gobierno Corporativo SSF a COMEDICA de R.L.</dc:title>
  <dc:subject>Resultados de visitas de supervisión 2025 y 2026</dc:subject>
  <dc:creator>COMEDICA de R.L.</dc:creator>
  <cp:lastModifiedBy>COMEDICA de R.L.</cp:lastModifiedBy>
  <cp:revision>1</cp:revision>
  <dcterms:created xsi:type="dcterms:W3CDTF">2026-10-13T17:14:04Z</dcterms:created>
  <dcterms:modified xsi:type="dcterms:W3CDTF">2026-10-13T17:14:04Z</dcterms:modified>
</cp:coreProperties>
</file>