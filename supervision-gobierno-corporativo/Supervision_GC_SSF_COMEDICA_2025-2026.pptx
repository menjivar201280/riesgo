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5a24ffc2-a8e0-049f-ecc0-09267bc56beb}">
          <p14:sldIdLst>
            <p14:sldId id="256"/>
          </p14:sldIdLst>
        </p14:section>
        <p14:section name="2 · Observaciones 2025" id="{700b8b80-88a2-9551-c054-5356091811fc}">
          <p14:sldIdLst>
            <p14:sldId id="257"/>
          </p14:sldIdLst>
        </p14:section>
        <p14:section name="3 · Observaciones 2026" id="{5f3d3702-92cf-fc86-202d-2e81c8a6ea3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Separador panel 2025"/>
          <p:cNvSpPr/>
          <p:nvPr/>
        </p:nvSpPr>
        <p:spPr>
          <a:xfrm>
            <a:off x="548640" y="278892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5" name="Año panel 2025 fondo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Año panel 2025"/>
          <p:cNvSpPr txBox="1"/>
          <p:nvPr/>
        </p:nvSpPr>
        <p:spPr>
          <a:xfrm>
            <a:off x="548640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7" name="Contorno panel 2025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8" name="Visita panel 2025"/>
          <p:cNvSpPr txBox="1"/>
          <p:nvPr/>
        </p:nvSpPr>
        <p:spPr>
          <a:xfrm>
            <a:off x="1463040" y="2953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1 · Circular 17003</a:t>
            </a:r>
            <a:endParaRPr lang="en-US" sz="1100" dirty="0"/>
          </a:p>
        </p:txBody>
      </p:sp>
      <p:sp>
        <p:nvSpPr>
          <p:cNvPr id="9" name="KPI 2025-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KPI texto 2025-1"/>
          <p:cNvSpPr txBox="1"/>
          <p:nvPr/>
        </p:nvSpPr>
        <p:spPr>
          <a:xfrm>
            <a:off x="5486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1" name="KPI 2025-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KPI texto 2025-2"/>
          <p:cNvSpPr txBox="1"/>
          <p:nvPr/>
        </p:nvSpPr>
        <p:spPr>
          <a:xfrm>
            <a:off x="21488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</a:t>
            </a:r>
            <a:endParaRPr lang="en-US" sz="1100" dirty="0"/>
          </a:p>
        </p:txBody>
      </p:sp>
      <p:sp>
        <p:nvSpPr>
          <p:cNvPr id="13" name="Separador panel 2026"/>
          <p:cNvSpPr/>
          <p:nvPr/>
        </p:nvSpPr>
        <p:spPr>
          <a:xfrm>
            <a:off x="548640" y="443484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14" name="Año panel 2026 fondo"/>
          <p:cNvSpPr/>
          <p:nvPr/>
        </p:nvSpPr>
        <p:spPr>
          <a:xfrm>
            <a:off x="548640" y="459943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Año panel 2026"/>
          <p:cNvSpPr txBox="1"/>
          <p:nvPr/>
        </p:nvSpPr>
        <p:spPr>
          <a:xfrm>
            <a:off x="548640" y="4599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16" name="Visita panel 2026"/>
          <p:cNvSpPr txBox="1"/>
          <p:nvPr/>
        </p:nvSpPr>
        <p:spPr>
          <a:xfrm>
            <a:off x="1463040" y="4599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2 · Circular 22741</a:t>
            </a:r>
            <a:endParaRPr lang="en-US" sz="1100" dirty="0"/>
          </a:p>
        </p:txBody>
      </p:sp>
      <p:sp>
        <p:nvSpPr>
          <p:cNvPr id="17" name="KPI 2026-1"/>
          <p:cNvSpPr txBox="1"/>
          <p:nvPr/>
        </p:nvSpPr>
        <p:spPr>
          <a:xfrm>
            <a:off x="5486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KPI texto 2026-1"/>
          <p:cNvSpPr txBox="1"/>
          <p:nvPr/>
        </p:nvSpPr>
        <p:spPr>
          <a:xfrm>
            <a:off x="5486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9" name="KPI 2026-2"/>
          <p:cNvSpPr txBox="1"/>
          <p:nvPr/>
        </p:nvSpPr>
        <p:spPr>
          <a:xfrm>
            <a:off x="16154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0" name="KPI texto 2026-2"/>
          <p:cNvSpPr txBox="1"/>
          <p:nvPr/>
        </p:nvSpPr>
        <p:spPr>
          <a:xfrm>
            <a:off x="16154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 nuevas</a:t>
            </a:r>
            <a:endParaRPr lang="en-US" sz="1100" dirty="0"/>
          </a:p>
        </p:txBody>
      </p:sp>
      <p:sp>
        <p:nvSpPr>
          <p:cNvPr id="21" name="KPI 2026-3"/>
          <p:cNvSpPr txBox="1"/>
          <p:nvPr/>
        </p:nvSpPr>
        <p:spPr>
          <a:xfrm>
            <a:off x="26822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2" name="KPI texto 2026-3"/>
          <p:cNvSpPr txBox="1"/>
          <p:nvPr/>
        </p:nvSpPr>
        <p:spPr>
          <a:xfrm>
            <a:off x="26822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de 2025 en seguimiento</a:t>
            </a:r>
            <a:endParaRPr lang="en-US" sz="1100" dirty="0"/>
          </a:p>
        </p:txBody>
      </p:sp>
      <p:sp>
        <p:nvSpPr>
          <p:cNvPr id="23" name="Seguimiento panel"/>
          <p:cNvSpPr txBox="1"/>
          <p:nvPr/>
        </p:nvSpPr>
        <p:spPr>
          <a:xfrm>
            <a:off x="5486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bg2"/>
                </a:solidFill>
              </a:rPr>
              <a:t>Seguimiento: obs. 3 no superada · obs. 5 parcialmente superada</a:t>
            </a:r>
            <a:endParaRPr lang="en-US" sz="1050" dirty="0"/>
          </a:p>
        </p:txBody>
      </p:sp>
      <p:sp>
        <p:nvSpPr>
          <p:cNvPr id="24" name="Año 2025"/>
          <p:cNvSpPr txBox="1"/>
          <p:nvPr/>
        </p:nvSpPr>
        <p:spPr>
          <a:xfrm>
            <a:off x="4572000" y="457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25" name="Visita 2025"/>
          <p:cNvSpPr txBox="1"/>
          <p:nvPr/>
        </p:nvSpPr>
        <p:spPr>
          <a:xfrm>
            <a:off x="5806440" y="457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26" name="Tarjeta 2025-1"/>
          <p:cNvSpPr/>
          <p:nvPr/>
        </p:nvSpPr>
        <p:spPr>
          <a:xfrm>
            <a:off x="4572000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 fondo 2025-1"/>
          <p:cNvSpPr/>
          <p:nvPr/>
        </p:nvSpPr>
        <p:spPr>
          <a:xfrm>
            <a:off x="4709160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día 2025-1"/>
          <p:cNvSpPr txBox="1"/>
          <p:nvPr/>
        </p:nvSpPr>
        <p:spPr>
          <a:xfrm>
            <a:off x="470916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29" name="Fecha mes 2025-1"/>
          <p:cNvSpPr txBox="1"/>
          <p:nvPr/>
        </p:nvSpPr>
        <p:spPr>
          <a:xfrm>
            <a:off x="470916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ABR</a:t>
            </a:r>
            <a:endParaRPr lang="en-US" sz="1400" dirty="0"/>
          </a:p>
        </p:txBody>
      </p:sp>
      <p:sp>
        <p:nvSpPr>
          <p:cNvPr id="30" name="Fecha año 2025-1"/>
          <p:cNvSpPr txBox="1"/>
          <p:nvPr/>
        </p:nvSpPr>
        <p:spPr>
          <a:xfrm>
            <a:off x="470916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31" name="Tipo 2025-1"/>
          <p:cNvSpPr txBox="1"/>
          <p:nvPr/>
        </p:nvSpPr>
        <p:spPr>
          <a:xfrm>
            <a:off x="5806440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32" name="Circular 2025-1"/>
          <p:cNvSpPr txBox="1"/>
          <p:nvPr/>
        </p:nvSpPr>
        <p:spPr>
          <a:xfrm>
            <a:off x="5806440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DS-SABAO-BCS-BC-9337</a:t>
            </a:r>
            <a:endParaRPr lang="en-US" sz="1100" dirty="0"/>
          </a:p>
        </p:txBody>
      </p:sp>
      <p:sp>
        <p:nvSpPr>
          <p:cNvPr id="33" name="Separador 2025-1-0"/>
          <p:cNvSpPr/>
          <p:nvPr/>
        </p:nvSpPr>
        <p:spPr>
          <a:xfrm>
            <a:off x="5806440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4" name="Dato 2025-1-0"/>
          <p:cNvSpPr txBox="1"/>
          <p:nvPr/>
        </p:nvSpPr>
        <p:spPr>
          <a:xfrm>
            <a:off x="5806440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30/04/2025</a:t>
            </a:r>
            <a:endParaRPr lang="en-US" sz="1150" dirty="0"/>
          </a:p>
        </p:txBody>
      </p:sp>
      <p:sp>
        <p:nvSpPr>
          <p:cNvPr id="35" name="Separador 2025-1-1"/>
          <p:cNvSpPr/>
          <p:nvPr/>
        </p:nvSpPr>
        <p:spPr>
          <a:xfrm>
            <a:off x="5806440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6" name="Dato 2025-1-1"/>
          <p:cNvSpPr txBox="1"/>
          <p:nvPr/>
        </p:nvSpPr>
        <p:spPr>
          <a:xfrm>
            <a:off x="5806440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19/05/2025</a:t>
            </a:r>
            <a:endParaRPr lang="en-US" sz="1150" dirty="0"/>
          </a:p>
        </p:txBody>
      </p:sp>
      <p:sp>
        <p:nvSpPr>
          <p:cNvPr id="37" name="Tarjeta 2025-2"/>
          <p:cNvSpPr/>
          <p:nvPr/>
        </p:nvSpPr>
        <p:spPr>
          <a:xfrm>
            <a:off x="8336128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8" name="Fecha fondo 2025-2"/>
          <p:cNvSpPr/>
          <p:nvPr/>
        </p:nvSpPr>
        <p:spPr>
          <a:xfrm>
            <a:off x="8473288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Fecha día 2025-2"/>
          <p:cNvSpPr txBox="1"/>
          <p:nvPr/>
        </p:nvSpPr>
        <p:spPr>
          <a:xfrm>
            <a:off x="8473288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40" name="Fecha mes 2025-2"/>
          <p:cNvSpPr txBox="1"/>
          <p:nvPr/>
        </p:nvSpPr>
        <p:spPr>
          <a:xfrm>
            <a:off x="847328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NOV</a:t>
            </a:r>
            <a:endParaRPr lang="en-US" sz="1400" dirty="0"/>
          </a:p>
        </p:txBody>
      </p:sp>
      <p:sp>
        <p:nvSpPr>
          <p:cNvPr id="41" name="Fecha año 2025-2"/>
          <p:cNvSpPr txBox="1"/>
          <p:nvPr/>
        </p:nvSpPr>
        <p:spPr>
          <a:xfrm>
            <a:off x="8473288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42" name="Tipo 2025-2"/>
          <p:cNvSpPr txBox="1"/>
          <p:nvPr/>
        </p:nvSpPr>
        <p:spPr>
          <a:xfrm>
            <a:off x="9570568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43" name="Circular 2025-2"/>
          <p:cNvSpPr txBox="1"/>
          <p:nvPr/>
        </p:nvSpPr>
        <p:spPr>
          <a:xfrm>
            <a:off x="9570568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DS-SABAO-BCS-BC-17003</a:t>
            </a:r>
            <a:endParaRPr lang="en-US" sz="1100" dirty="0"/>
          </a:p>
        </p:txBody>
      </p:sp>
      <p:sp>
        <p:nvSpPr>
          <p:cNvPr id="44" name="Separador 2025-2-0"/>
          <p:cNvSpPr/>
          <p:nvPr/>
        </p:nvSpPr>
        <p:spPr>
          <a:xfrm>
            <a:off x="9570568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5" name="Dato 2025-2-0"/>
          <p:cNvSpPr txBox="1"/>
          <p:nvPr/>
        </p:nvSpPr>
        <p:spPr>
          <a:xfrm>
            <a:off x="9570568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Resultado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9 observaciones</a:t>
            </a:r>
            <a:endParaRPr lang="en-US" sz="1150" dirty="0"/>
          </a:p>
        </p:txBody>
      </p:sp>
      <p:sp>
        <p:nvSpPr>
          <p:cNvPr id="46" name="Separador 2025-2-1"/>
          <p:cNvSpPr/>
          <p:nvPr/>
        </p:nvSpPr>
        <p:spPr>
          <a:xfrm>
            <a:off x="9570568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7" name="Dato 2025-2-1"/>
          <p:cNvSpPr txBox="1"/>
          <p:nvPr/>
        </p:nvSpPr>
        <p:spPr>
          <a:xfrm>
            <a:off x="9570568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Descargos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18/11/2025</a:t>
            </a:r>
            <a:endParaRPr lang="en-US" sz="1150" dirty="0"/>
          </a:p>
        </p:txBody>
      </p:sp>
      <p:sp>
        <p:nvSpPr>
          <p:cNvPr id="48" name="Flecha 2025"/>
          <p:cNvSpPr/>
          <p:nvPr/>
        </p:nvSpPr>
        <p:spPr>
          <a:xfrm>
            <a:off x="7970368" y="201168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9" name="Año 2026"/>
          <p:cNvSpPr txBox="1"/>
          <p:nvPr/>
        </p:nvSpPr>
        <p:spPr>
          <a:xfrm>
            <a:off x="4572000" y="34015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50" name="Visita 2026"/>
          <p:cNvSpPr txBox="1"/>
          <p:nvPr/>
        </p:nvSpPr>
        <p:spPr>
          <a:xfrm>
            <a:off x="5806440" y="34015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51" name="Tarjeta 2026-1"/>
          <p:cNvSpPr/>
          <p:nvPr/>
        </p:nvSpPr>
        <p:spPr>
          <a:xfrm>
            <a:off x="4572000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2" name="Fecha fondo 2026-1"/>
          <p:cNvSpPr/>
          <p:nvPr/>
        </p:nvSpPr>
        <p:spPr>
          <a:xfrm>
            <a:off x="4709160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3" name="Fecha día 2026-1"/>
          <p:cNvSpPr txBox="1"/>
          <p:nvPr/>
        </p:nvSpPr>
        <p:spPr>
          <a:xfrm>
            <a:off x="4709160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400" dirty="0"/>
          </a:p>
        </p:txBody>
      </p:sp>
      <p:sp>
        <p:nvSpPr>
          <p:cNvPr id="54" name="Fecha mes 2026-1"/>
          <p:cNvSpPr txBox="1"/>
          <p:nvPr/>
        </p:nvSpPr>
        <p:spPr>
          <a:xfrm>
            <a:off x="4709160" y="5065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JUL</a:t>
            </a:r>
            <a:endParaRPr lang="en-US" sz="1400" dirty="0"/>
          </a:p>
        </p:txBody>
      </p:sp>
      <p:sp>
        <p:nvSpPr>
          <p:cNvPr id="55" name="Fecha año 2026-1"/>
          <p:cNvSpPr txBox="1"/>
          <p:nvPr/>
        </p:nvSpPr>
        <p:spPr>
          <a:xfrm>
            <a:off x="4709160" y="5367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56" name="Tipo 2026-1"/>
          <p:cNvSpPr txBox="1"/>
          <p:nvPr/>
        </p:nvSpPr>
        <p:spPr>
          <a:xfrm>
            <a:off x="5806440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57" name="Circular 2026-1"/>
          <p:cNvSpPr txBox="1"/>
          <p:nvPr/>
        </p:nvSpPr>
        <p:spPr>
          <a:xfrm>
            <a:off x="5806440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SABAO-BCS-BC-18432</a:t>
            </a:r>
            <a:endParaRPr lang="en-US" sz="1100" dirty="0"/>
          </a:p>
        </p:txBody>
      </p:sp>
      <p:sp>
        <p:nvSpPr>
          <p:cNvPr id="58" name="Separador 2026-1-0"/>
          <p:cNvSpPr/>
          <p:nvPr/>
        </p:nvSpPr>
        <p:spPr>
          <a:xfrm>
            <a:off x="5806440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9" name="Dato 2026-1-0"/>
          <p:cNvSpPr txBox="1"/>
          <p:nvPr/>
        </p:nvSpPr>
        <p:spPr>
          <a:xfrm>
            <a:off x="5806440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31/07/2026</a:t>
            </a:r>
            <a:endParaRPr lang="en-US" sz="1150" dirty="0"/>
          </a:p>
        </p:txBody>
      </p:sp>
      <p:sp>
        <p:nvSpPr>
          <p:cNvPr id="60" name="Separador 2026-1-1"/>
          <p:cNvSpPr/>
          <p:nvPr/>
        </p:nvSpPr>
        <p:spPr>
          <a:xfrm>
            <a:off x="5806440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1" name="Dato 2026-1-1"/>
          <p:cNvSpPr txBox="1"/>
          <p:nvPr/>
        </p:nvSpPr>
        <p:spPr>
          <a:xfrm>
            <a:off x="5806440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21/08/2026</a:t>
            </a:r>
            <a:endParaRPr lang="en-US" sz="1150" dirty="0"/>
          </a:p>
        </p:txBody>
      </p:sp>
      <p:sp>
        <p:nvSpPr>
          <p:cNvPr id="62" name="Tarjeta 2026-2"/>
          <p:cNvSpPr/>
          <p:nvPr/>
        </p:nvSpPr>
        <p:spPr>
          <a:xfrm>
            <a:off x="8336128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3" name="Fecha fondo 2026-2"/>
          <p:cNvSpPr/>
          <p:nvPr/>
        </p:nvSpPr>
        <p:spPr>
          <a:xfrm>
            <a:off x="8473288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4" name="Fecha día 2026-2"/>
          <p:cNvSpPr txBox="1"/>
          <p:nvPr/>
        </p:nvSpPr>
        <p:spPr>
          <a:xfrm>
            <a:off x="847328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65" name="Fecha mes 2026-2"/>
          <p:cNvSpPr txBox="1"/>
          <p:nvPr/>
        </p:nvSpPr>
        <p:spPr>
          <a:xfrm>
            <a:off x="8473288" y="5065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OCT</a:t>
            </a:r>
            <a:endParaRPr lang="en-US" sz="1400" dirty="0"/>
          </a:p>
        </p:txBody>
      </p:sp>
      <p:sp>
        <p:nvSpPr>
          <p:cNvPr id="66" name="Fecha año 2026-2"/>
          <p:cNvSpPr txBox="1"/>
          <p:nvPr/>
        </p:nvSpPr>
        <p:spPr>
          <a:xfrm>
            <a:off x="8473288" y="5367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67" name="Tipo 2026-2"/>
          <p:cNvSpPr txBox="1"/>
          <p:nvPr/>
        </p:nvSpPr>
        <p:spPr>
          <a:xfrm>
            <a:off x="9570568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68" name="Circular 2026-2"/>
          <p:cNvSpPr txBox="1"/>
          <p:nvPr/>
        </p:nvSpPr>
        <p:spPr>
          <a:xfrm>
            <a:off x="9570568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DS-SABAO-BCS-BC-22741</a:t>
            </a:r>
            <a:endParaRPr lang="en-US" sz="1100" dirty="0"/>
          </a:p>
        </p:txBody>
      </p:sp>
      <p:sp>
        <p:nvSpPr>
          <p:cNvPr id="69" name="Separador 2026-2-0"/>
          <p:cNvSpPr/>
          <p:nvPr/>
        </p:nvSpPr>
        <p:spPr>
          <a:xfrm>
            <a:off x="9570568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0" name="Dato 2026-2-0"/>
          <p:cNvSpPr txBox="1"/>
          <p:nvPr/>
        </p:nvSpPr>
        <p:spPr>
          <a:xfrm>
            <a:off x="9570568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7 nuevas</a:t>
            </a:r>
            <a:endParaRPr lang="en-US" sz="1150" dirty="0"/>
          </a:p>
        </p:txBody>
      </p:sp>
      <p:sp>
        <p:nvSpPr>
          <p:cNvPr id="71" name="Separador 2026-2-1"/>
          <p:cNvSpPr/>
          <p:nvPr/>
        </p:nvSpPr>
        <p:spPr>
          <a:xfrm>
            <a:off x="9570568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2" name="Dato 2026-2-1"/>
          <p:cNvSpPr txBox="1"/>
          <p:nvPr/>
        </p:nvSpPr>
        <p:spPr>
          <a:xfrm>
            <a:off x="9570568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B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obs. 3 y 5 de 2025</a:t>
            </a:r>
            <a:endParaRPr lang="en-US" sz="1150" dirty="0"/>
          </a:p>
        </p:txBody>
      </p:sp>
      <p:sp>
        <p:nvSpPr>
          <p:cNvPr id="73" name="Flecha 2026"/>
          <p:cNvSpPr/>
          <p:nvPr/>
        </p:nvSpPr>
        <p:spPr>
          <a:xfrm>
            <a:off x="7970368" y="4956048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2026-10-13T20:21:00Z</dcterms:created>
  <dcterms:modified xsi:type="dcterms:W3CDTF">2026-10-13T20:21:00Z</dcterms:modified>
</cp:coreProperties>
</file>