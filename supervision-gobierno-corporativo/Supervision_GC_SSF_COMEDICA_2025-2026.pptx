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Fecha etiqueta 2025-2-0"/>
          <p:cNvSpPr txBox="1"/>
          <p:nvPr/>
        </p:nvSpPr>
        <p:spPr>
          <a:xfrm>
            <a:off x="6263640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26" name="Fecha etiqueta 2025-2-1"/>
          <p:cNvSpPr txBox="1"/>
          <p:nvPr/>
        </p:nvSpPr>
        <p:spPr>
          <a:xfrm>
            <a:off x="6263640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DESCARGOS</a:t>
            </a:r>
            <a:endParaRPr lang="en-US" sz="8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3" name="Grupo 2025-2-0"/>
          <p:cNvSpPr txBox="1"/>
          <p:nvPr/>
        </p:nvSpPr>
        <p:spPr>
          <a:xfrm>
            <a:off x="7406640" y="1691640"/>
            <a:ext cx="4007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chemeClr val="accent1"/>
                </a:solidFill>
              </a:rPr>
              <a:t>9 OBSERVACIONES</a:t>
            </a:r>
            <a:endParaRPr lang="en-US" sz="900" dirty="0"/>
          </a:p>
        </p:txBody>
      </p:sp>
      <p:sp>
        <p:nvSpPr>
          <p:cNvPr id="34" name="Lista 2025-2-0"/>
          <p:cNvSpPr txBox="1"/>
          <p:nvPr/>
        </p:nvSpPr>
        <p:spPr>
          <a:xfrm>
            <a:off x="7406640" y="1938528"/>
            <a:ext cx="19399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1  </a:t>
            </a:r>
            <a:r>
              <a:rPr lang="en-US" sz="1000" dirty="0">
                <a:solidFill>
                  <a:schemeClr val="tx1"/>
                </a:solidFill>
              </a:rPr>
              <a:t>Política de Operaciones Vinculadas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2  </a:t>
            </a:r>
            <a:r>
              <a:rPr lang="en-US" sz="1000" dirty="0">
                <a:solidFill>
                  <a:schemeClr val="tx1"/>
                </a:solidFill>
              </a:rPr>
              <a:t>Confidencialidad e inducción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3  Comités sin personal ejecutivo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4  </a:t>
            </a:r>
            <a:r>
              <a:rPr lang="en-US" sz="1000" dirty="0">
                <a:solidFill>
                  <a:schemeClr val="tx1"/>
                </a:solidFill>
              </a:rPr>
              <a:t>Pago de dietas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5  Normativa interna desactualizada</a:t>
            </a:r>
            <a:endParaRPr lang="en-US" sz="1000" dirty="0"/>
          </a:p>
        </p:txBody>
      </p:sp>
      <p:sp>
        <p:nvSpPr>
          <p:cNvPr id="35" name="Lista 2025-2-1"/>
          <p:cNvSpPr txBox="1"/>
          <p:nvPr/>
        </p:nvSpPr>
        <p:spPr>
          <a:xfrm>
            <a:off x="9456268" y="1938528"/>
            <a:ext cx="19399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6  </a:t>
            </a:r>
            <a:r>
              <a:rPr lang="en-US" sz="1000" dirty="0">
                <a:solidFill>
                  <a:schemeClr val="tx1"/>
                </a:solidFill>
              </a:rPr>
              <a:t>Soporte de Ferias de Crédito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7  </a:t>
            </a:r>
            <a:r>
              <a:rPr lang="en-US" sz="1000" dirty="0">
                <a:solidFill>
                  <a:schemeClr val="tx1"/>
                </a:solidFill>
              </a:rPr>
              <a:t>Declaración jurada (NRP-75)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8  </a:t>
            </a:r>
            <a:r>
              <a:rPr lang="en-US" sz="1000" dirty="0">
                <a:solidFill>
                  <a:schemeClr val="tx1"/>
                </a:solidFill>
              </a:rPr>
              <a:t>Manual de Compras</a:t>
            </a:r>
            <a:endParaRPr lang="en-US" sz="10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9  </a:t>
            </a:r>
            <a:r>
              <a:rPr lang="en-US" sz="1000" dirty="0">
                <a:solidFill>
                  <a:schemeClr val="tx1"/>
                </a:solidFill>
              </a:rPr>
              <a:t>Uso del Fondo de Educación</a:t>
            </a:r>
            <a:endParaRPr lang="en-US" sz="1000" dirty="0"/>
          </a:p>
        </p:txBody>
      </p:sp>
      <p:sp>
        <p:nvSpPr>
          <p:cNvPr id="36" name="Nota rojo"/>
          <p:cNvSpPr txBox="1"/>
          <p:nvPr/>
        </p:nvSpPr>
        <p:spPr>
          <a:xfrm>
            <a:off x="9456268" y="2935224"/>
            <a:ext cx="19399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chemeClr val="accent3"/>
                </a:solidFill>
              </a:rPr>
              <a:t>En rojo: con seguimiento de la SSF en 2026</a:t>
            </a:r>
            <a:endParaRPr lang="en-US" sz="900" dirty="0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A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NUEVAS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B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9" name="Resumen Anexo A 2026"/>
          <p:cNvSpPr txBox="1"/>
          <p:nvPr/>
        </p:nvSpPr>
        <p:spPr>
          <a:xfrm>
            <a:off x="7406640" y="4773168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D7A4B"/>
                </a:solidFill>
              </a:rPr>
              <a:t>7 observaciones nuevas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Recepción  </a:t>
            </a:r>
            <a:r>
              <a:rPr sz="1050" b="1">
                <a:solidFill>
                  <a:srgbClr val="142033"/>
                </a:solidFill>
              </a:rPr>
              <a:t>09/10/2026</a:t>
            </a:r>
            <a:r>
              <a:rPr sz="1050" b="0">
                <a:solidFill>
                  <a:srgbClr val="586579"/>
                </a:solidFill>
              </a:rPr>
              <a:t>   ·   Descargos vencen aprox.  </a:t>
            </a:r>
            <a:r>
              <a:rPr sz="1050" b="1">
                <a:solidFill>
                  <a:srgbClr val="142033"/>
                </a:solidFill>
              </a:rPr>
              <a:t>23/10/2026</a:t>
            </a:r>
          </a:p>
        </p:txBody>
      </p:sp>
      <p:cxnSp>
        <p:nvCxnSpPr>
          <p:cNvPr id="80" name="Separador anexos 2026"/>
          <p:cNvCxnSpPr/>
          <p:nvPr/>
        </p:nvCxnSpPr>
        <p:spPr>
          <a:xfrm>
            <a:off x="7406640" y="5440680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sumen Anexo B 2026"/>
          <p:cNvSpPr txBox="1"/>
          <p:nvPr/>
        </p:nvSpPr>
        <p:spPr>
          <a:xfrm>
            <a:off x="7406640" y="555955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2 observaciones en seguimiento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Obs. 3 y 5 de 2025   ·   Plan de solución vence aprox.  </a:t>
            </a:r>
            <a:r>
              <a:rPr sz="1050" b="1">
                <a:solidFill>
                  <a:srgbClr val="142033"/>
                </a:solidFill>
              </a:rPr>
              <a:t>30/10/2026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Se creará la política para aprobación del Consejo de Administración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ni fechas de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Acta 2579 del Consejo de Administración: fechas de inducción aprobadas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Se actualizará el Reglamento de Compensaciones Económicas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de Negocios / Administración de Cartera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Se enviaron resoluciones y acuerdos del Consejo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Administrativa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estados financieros a nuevos miembros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el sitio web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con conceptos no delimitados por Ley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Memoria de Labores 2026 con conceptos y montos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