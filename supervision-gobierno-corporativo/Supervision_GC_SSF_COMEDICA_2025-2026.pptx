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Portada" id="{7dabddf9-a54c-359d-4fae-5c15f678bd1a}">
          <p14:sldIdLst>
            <p14:sldId id="256"/>
          </p14:sldIdLst>
        </p14:section>
        <p14:section name="1 · Resumen de notas SSF" id="{5f3cb101-1981-472f-f3b6-4a9e5f83a1a1}">
          <p14:sldIdLst>
            <p14:sldId id="257"/>
          </p14:sldIdLst>
        </p14:section>
        <p14:section name="2 · Observaciones 2025" id="{4abf7972-e121-e51f-5e7c-c15e8ae1cbfd}">
          <p14:sldIdLst>
            <p14:sldId id="258"/>
            <p14:sldId id="259"/>
          </p14:sldIdLst>
        </p14:section>
        <p14:section name="3 · Observaciones 2026" id="{fb2b3486-58b0-1501-46a4-23c234a7254f}">
          <p14:sldIdLst>
            <p14:sldId id="260"/>
            <p14:sldId id="261"/>
          </p14:sldIdLst>
        </p14:section>
        <p14:section name="4 · Línea de tiempo y evolución" id="{d6a9b4ca-4e0f-7127-4a91-bbee5f07ec46}">
          <p14:sldIdLst>
            <p14:sldId id="262"/>
            <p14:sldId id="263"/>
          </p14:sldIdLst>
        </p14:section>
        <p14:section name="Anexo · Kit de diseño" id="{726ffc0e-8fce-4020-0325-5e7f28ff5da6}">
          <p14:sldIdLst>
            <p14:sldId id="264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Presentación de resultados de las supervisiones de Gobierno Corporativo realizadas por la SSF a COMEDICA de R.L. en 2025 y 2026. Estructura: 1) notas oficiales, 2) observaciones 2025, 3) observaciones 2026, 4) línea de tiempo y evolución.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Cuatro comunicados oficiales: en cada año la SSF primero notifica el nombramiento de la visita ampliada y luego remite el informe de resultados preliminares. 2025: 9 observaciones. 2026: 7 nuevas y 2 de seguimiento.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Observaciones 1 a 5 de la Nota 17003. Las observaciones 3 y 5 se volvieron a señalar en la visita 2026 (Anexo B).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Observaciones 6 a 9. Abajo, las tres observaciones de 2025 que siguen abiertas en la visita 2026.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Siete observaciones nuevas. Para todas, el plazo es de 10 días hábiles contados desde el día hábil siguiente a la recepción de la nota, para remitir pruebas de descargo documentadas por el buzón DESCARGOS_OBSERVACIONES, previo conocimiento del Consejo de Administración.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Dos observaciones de visitas anteriores siguen abiertas: la integración de comités con personal ejecutivo (no superada) y la normativa interna desactualizada (parcialmente superada). Para ambas se exige un plan de solución en 15 días hábiles.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Ambas visitas siguieron el mismo ciclo: nombramiento, inicio de visita e informe preliminar. En 2026 la entidad está ahora dentro de los plazos de respuesta: 10 días hábiles para descargos del Anexo A y 15 días hábiles para el plan de solución del Anexo B.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Tres temas persisten entre visitas. Comités con ejecutivos: no superada. Normativa interna: parcialmente superada. Fondo de Educación: reincide con hallazgos de falta de transparencia ($100,774.28 no detallados a la Asamblea) y conceptos no delimitados por ley en su Reglamento.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Guía de colores y fuentes para mantener la consistencia si se agregan diapositivas o se migra la presentación a Canva o Gamma.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RTADA">
    <p:bg>
      <p:bgPr>
        <a:solidFill>
          <a:schemeClr val="tx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051560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1051560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000" dirty="0">
                <a:solidFill>
                  <a:schemeClr val="bg2"/>
                </a:solidFill>
              </a:defRPr>
            </a:lvl1pPr>
          </a:lstStyle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Subtítulo</a:t>
            </a:r>
            <a:endParaRPr lang="en-US" sz="20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I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200" b="1" spc="200" kern="0" dirty="0">
                <a:solidFill>
                  <a:schemeClr val="accent5"/>
                </a:solidFill>
              </a:defRPr>
            </a:lvl1pPr>
          </a:lstStyle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SECCIÓN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Título</a:t>
            </a:r>
            <a:endParaRPr lang="en-US" sz="3000" dirty="0"/>
          </a:p>
        </p:txBody>
      </p:sp>
      <p:sp>
        <p:nvSpPr>
          <p:cNvPr id="4" name="Text 0"/>
          <p:cNvSpPr/>
          <p:nvPr/>
        </p:nvSpPr>
        <p:spPr>
          <a:xfrm>
            <a:off x="548640" y="640080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accent5"/>
                </a:solidFill>
              </a:rPr>
              <a:t>SSF · Gobierno Corporativo (NRP-17) · COMEDICA de R.L.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920240"/>
            <a:ext cx="10515600" cy="1737360"/>
          </a:xfrm>
          <a:prstGeom prst="rect">
            <a:avLst/>
          </a:prstGeom>
          <a:noFill/>
          <a:ln/>
        </p:spPr>
        <p:txBody>
          <a:bodyPr wrap="square" rtlCol="0" anchor="b"/>
          <a:lstStyle/>
          <a:p>
            <a:pPr algn="l"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Supervisiones de Gobierno Corporativo SSF a COMEDICA de R.L.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3794760"/>
            <a:ext cx="1051560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2000" dirty="0">
                <a:solidFill>
                  <a:schemeClr val="bg2"/>
                </a:solidFill>
              </a:rPr>
              <a:t>Resultados de las visitas de supervisión ampliada 2025 y 2026 · Notas oficiales, observaciones y evolución del cumplimiento</a:t>
            </a:r>
            <a:endParaRPr lang="en-US" sz="2000" dirty="0"/>
          </a:p>
        </p:txBody>
      </p:sp>
      <p:sp>
        <p:nvSpPr>
          <p:cNvPr id="4" name="Etiqueta"/>
          <p:cNvSpPr txBox="1"/>
          <p:nvPr/>
        </p:nvSpPr>
        <p:spPr>
          <a:xfrm>
            <a:off x="548640" y="132588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spc="300" kern="0" dirty="0">
                <a:solidFill>
                  <a:schemeClr val="bg2"/>
                </a:solidFill>
              </a:rPr>
              <a:t>SUPERINTENDENCIA DEL SISTEMA FINANCIERO · NRP-17</a:t>
            </a:r>
            <a:endParaRPr lang="en-US" sz="1300" dirty="0"/>
          </a:p>
        </p:txBody>
      </p:sp>
      <p:sp>
        <p:nvSpPr>
          <p:cNvPr id="5" name="Etiqueta 2025 fondo"/>
          <p:cNvSpPr/>
          <p:nvPr/>
        </p:nvSpPr>
        <p:spPr>
          <a:xfrm>
            <a:off x="548640" y="52578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6" name="Etiqueta 2025"/>
          <p:cNvSpPr txBox="1"/>
          <p:nvPr/>
        </p:nvSpPr>
        <p:spPr>
          <a:xfrm>
            <a:off x="548640" y="52578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 · NOTA 17003</a:t>
            </a:r>
            <a:endParaRPr lang="en-US" sz="1100" dirty="0"/>
          </a:p>
        </p:txBody>
      </p:sp>
      <p:sp>
        <p:nvSpPr>
          <p:cNvPr id="7" name="Contorno 2025"/>
          <p:cNvSpPr/>
          <p:nvPr/>
        </p:nvSpPr>
        <p:spPr>
          <a:xfrm>
            <a:off x="548640" y="5257800"/>
            <a:ext cx="2103120" cy="310896"/>
          </a:xfrm>
          <a:prstGeom prst="roundRect">
            <a:avLst>
              <a:gd name="adj" fmla="val 50000"/>
            </a:avLst>
          </a:prstGeom>
          <a:ln w="12700">
            <a:solidFill>
              <a:schemeClr val="bg2"/>
            </a:solidFill>
            <a:prstDash val="solid"/>
          </a:ln>
        </p:spPr>
      </p:sp>
      <p:sp>
        <p:nvSpPr>
          <p:cNvPr id="8" name="Etiqueta 2026 fondo"/>
          <p:cNvSpPr/>
          <p:nvPr/>
        </p:nvSpPr>
        <p:spPr>
          <a:xfrm>
            <a:off x="2834640" y="5257800"/>
            <a:ext cx="210312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9" name="Etiqueta 2026"/>
          <p:cNvSpPr txBox="1"/>
          <p:nvPr/>
        </p:nvSpPr>
        <p:spPr>
          <a:xfrm>
            <a:off x="2834640" y="5257800"/>
            <a:ext cx="21031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 · NOTA 22741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1 · RESUMEN EJECUTIVO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Notas de notificación SSF recibidas 2025 - 2026</a:t>
            </a:r>
            <a:endParaRPr lang="en-US" sz="3000" dirty="0"/>
          </a:p>
        </p:txBody>
      </p:sp>
      <p:sp>
        <p:nvSpPr>
          <p:cNvPr id="4" name="KPI notas oficiales SSF"/>
          <p:cNvSpPr/>
          <p:nvPr/>
        </p:nvSpPr>
        <p:spPr>
          <a:xfrm>
            <a:off x="548640" y="1463040"/>
            <a:ext cx="2567864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KPI valor notas oficiales SSF"/>
          <p:cNvSpPr txBox="1"/>
          <p:nvPr/>
        </p:nvSpPr>
        <p:spPr>
          <a:xfrm>
            <a:off x="731520" y="153619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800" dirty="0"/>
          </a:p>
        </p:txBody>
      </p:sp>
      <p:sp>
        <p:nvSpPr>
          <p:cNvPr id="6" name="KPI texto notas oficiales SSF"/>
          <p:cNvSpPr txBox="1"/>
          <p:nvPr/>
        </p:nvSpPr>
        <p:spPr>
          <a:xfrm>
            <a:off x="731520" y="1993392"/>
            <a:ext cx="2202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notas oficiales SSF</a:t>
            </a:r>
            <a:endParaRPr lang="en-US" sz="1300" dirty="0"/>
          </a:p>
        </p:txBody>
      </p:sp>
      <p:sp>
        <p:nvSpPr>
          <p:cNvPr id="7" name="KPI observaciones 2025"/>
          <p:cNvSpPr/>
          <p:nvPr/>
        </p:nvSpPr>
        <p:spPr>
          <a:xfrm>
            <a:off x="3390824" y="1463040"/>
            <a:ext cx="2567864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KPI valor observaciones 2025"/>
          <p:cNvSpPr txBox="1"/>
          <p:nvPr/>
        </p:nvSpPr>
        <p:spPr>
          <a:xfrm>
            <a:off x="3573704" y="153619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</a:t>
            </a:r>
            <a:endParaRPr lang="en-US" sz="2800" dirty="0"/>
          </a:p>
        </p:txBody>
      </p:sp>
      <p:sp>
        <p:nvSpPr>
          <p:cNvPr id="9" name="KPI texto observaciones 2025"/>
          <p:cNvSpPr txBox="1"/>
          <p:nvPr/>
        </p:nvSpPr>
        <p:spPr>
          <a:xfrm>
            <a:off x="3573704" y="1993392"/>
            <a:ext cx="2202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observaciones 2025</a:t>
            </a:r>
            <a:endParaRPr lang="en-US" sz="1300" dirty="0"/>
          </a:p>
        </p:txBody>
      </p:sp>
      <p:sp>
        <p:nvSpPr>
          <p:cNvPr id="10" name="KPI nuevas + seguimiento 2026"/>
          <p:cNvSpPr/>
          <p:nvPr/>
        </p:nvSpPr>
        <p:spPr>
          <a:xfrm>
            <a:off x="6233008" y="1463040"/>
            <a:ext cx="2567864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KPI valor nuevas + seguimiento 2026"/>
          <p:cNvSpPr txBox="1"/>
          <p:nvPr/>
        </p:nvSpPr>
        <p:spPr>
          <a:xfrm>
            <a:off x="6415888" y="153619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7 + 2</a:t>
            </a:r>
            <a:endParaRPr lang="en-US" sz="2800" dirty="0"/>
          </a:p>
        </p:txBody>
      </p:sp>
      <p:sp>
        <p:nvSpPr>
          <p:cNvPr id="12" name="KPI texto nuevas + seguimiento 2026"/>
          <p:cNvSpPr txBox="1"/>
          <p:nvPr/>
        </p:nvSpPr>
        <p:spPr>
          <a:xfrm>
            <a:off x="6415888" y="1993392"/>
            <a:ext cx="2202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nuevas + seguimiento 2026</a:t>
            </a:r>
            <a:endParaRPr lang="en-US" sz="1300" dirty="0"/>
          </a:p>
        </p:txBody>
      </p:sp>
      <p:sp>
        <p:nvSpPr>
          <p:cNvPr id="13" name="KPI no superada / parcial"/>
          <p:cNvSpPr/>
          <p:nvPr/>
        </p:nvSpPr>
        <p:spPr>
          <a:xfrm>
            <a:off x="9075191" y="1463040"/>
            <a:ext cx="2567864" cy="914400"/>
          </a:xfrm>
          <a:prstGeom prst="roundRect">
            <a:avLst>
              <a:gd name="adj" fmla="val 8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KPI valor no superada / parcial"/>
          <p:cNvSpPr txBox="1"/>
          <p:nvPr/>
        </p:nvSpPr>
        <p:spPr>
          <a:xfrm>
            <a:off x="9258071" y="1536192"/>
            <a:ext cx="2202104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/ 1</a:t>
            </a:r>
            <a:endParaRPr lang="en-US" sz="2800" dirty="0"/>
          </a:p>
        </p:txBody>
      </p:sp>
      <p:sp>
        <p:nvSpPr>
          <p:cNvPr id="15" name="KPI texto no superada / parcial"/>
          <p:cNvSpPr txBox="1"/>
          <p:nvPr/>
        </p:nvSpPr>
        <p:spPr>
          <a:xfrm>
            <a:off x="9258071" y="1993392"/>
            <a:ext cx="220210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no superada / parcial</a:t>
            </a:r>
            <a:endParaRPr lang="en-US" sz="1300" dirty="0"/>
          </a:p>
        </p:txBody>
      </p:sp>
      <p:sp>
        <p:nvSpPr>
          <p:cNvPr id="16" name="Encabezado 2025"/>
          <p:cNvSpPr/>
          <p:nvPr/>
        </p:nvSpPr>
        <p:spPr>
          <a:xfrm>
            <a:off x="548640" y="2651760"/>
            <a:ext cx="5364328" cy="548640"/>
          </a:xfrm>
          <a:prstGeom prst="roundRect">
            <a:avLst>
              <a:gd name="adj" fmla="val 13333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7" name="Año 2025"/>
          <p:cNvSpPr txBox="1"/>
          <p:nvPr/>
        </p:nvSpPr>
        <p:spPr>
          <a:xfrm>
            <a:off x="777240" y="26517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2025</a:t>
            </a:r>
            <a:endParaRPr lang="en-US" sz="2200" dirty="0"/>
          </a:p>
        </p:txBody>
      </p:sp>
      <p:sp>
        <p:nvSpPr>
          <p:cNvPr id="18" name="Subtítulo 2025"/>
          <p:cNvSpPr txBox="1"/>
          <p:nvPr/>
        </p:nvSpPr>
        <p:spPr>
          <a:xfrm>
            <a:off x="2011680" y="2651760"/>
            <a:ext cx="3672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Visita 1 · corte 30/04/2025</a:t>
            </a:r>
            <a:endParaRPr lang="en-US" sz="1300" dirty="0"/>
          </a:p>
        </p:txBody>
      </p:sp>
      <p:sp>
        <p:nvSpPr>
          <p:cNvPr id="19" name="Tarjeta 2025-1"/>
          <p:cNvSpPr/>
          <p:nvPr/>
        </p:nvSpPr>
        <p:spPr>
          <a:xfrm>
            <a:off x="548640" y="3337560"/>
            <a:ext cx="5364328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0" name="Tipo 2025-1"/>
          <p:cNvSpPr txBox="1"/>
          <p:nvPr/>
        </p:nvSpPr>
        <p:spPr>
          <a:xfrm>
            <a:off x="777240" y="347472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Nombramiento de visita ampliada</a:t>
            </a:r>
            <a:endParaRPr lang="en-US" sz="1600" dirty="0"/>
          </a:p>
        </p:txBody>
      </p:sp>
      <p:sp>
        <p:nvSpPr>
          <p:cNvPr id="21" name="Fecha 2025-1 fondo"/>
          <p:cNvSpPr/>
          <p:nvPr/>
        </p:nvSpPr>
        <p:spPr>
          <a:xfrm>
            <a:off x="4495648" y="3493008"/>
            <a:ext cx="11887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2" name="Fecha 2025-1"/>
          <p:cNvSpPr txBox="1"/>
          <p:nvPr/>
        </p:nvSpPr>
        <p:spPr>
          <a:xfrm>
            <a:off x="4495648" y="34930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09/04/2025</a:t>
            </a:r>
            <a:endParaRPr lang="en-US" sz="1100" dirty="0"/>
          </a:p>
        </p:txBody>
      </p:sp>
      <p:sp>
        <p:nvSpPr>
          <p:cNvPr id="23" name="Nota 2025-1"/>
          <p:cNvSpPr txBox="1"/>
          <p:nvPr/>
        </p:nvSpPr>
        <p:spPr>
          <a:xfrm>
            <a:off x="777240" y="3867912"/>
            <a:ext cx="490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 No. DS-SABAO-BCS-BC-9337</a:t>
            </a:r>
            <a:endParaRPr lang="en-US" sz="1300" dirty="0"/>
          </a:p>
        </p:txBody>
      </p:sp>
      <p:sp>
        <p:nvSpPr>
          <p:cNvPr id="24" name="Detalle 2025-1"/>
          <p:cNvSpPr txBox="1"/>
          <p:nvPr/>
        </p:nvSpPr>
        <p:spPr>
          <a:xfrm>
            <a:off x="777240" y="417880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Corte: 30/04/2025 · Inicio: 19/05/2025</a:t>
            </a:r>
            <a:endParaRPr lang="en-US" sz="1400" dirty="0"/>
          </a:p>
        </p:txBody>
      </p:sp>
      <p:sp>
        <p:nvSpPr>
          <p:cNvPr id="25" name="Tarjeta 2025-2"/>
          <p:cNvSpPr/>
          <p:nvPr/>
        </p:nvSpPr>
        <p:spPr>
          <a:xfrm>
            <a:off x="548640" y="4800600"/>
            <a:ext cx="5364328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26" name="Tipo 2025-2"/>
          <p:cNvSpPr txBox="1"/>
          <p:nvPr/>
        </p:nvSpPr>
        <p:spPr>
          <a:xfrm>
            <a:off x="777240" y="493776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Informe de resultados preliminares</a:t>
            </a:r>
            <a:endParaRPr lang="en-US" sz="1600" dirty="0"/>
          </a:p>
        </p:txBody>
      </p:sp>
      <p:sp>
        <p:nvSpPr>
          <p:cNvPr id="27" name="Fecha 2025-2 fondo"/>
          <p:cNvSpPr/>
          <p:nvPr/>
        </p:nvSpPr>
        <p:spPr>
          <a:xfrm>
            <a:off x="4495648" y="4956048"/>
            <a:ext cx="118872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Fecha 2025-2"/>
          <p:cNvSpPr txBox="1"/>
          <p:nvPr/>
        </p:nvSpPr>
        <p:spPr>
          <a:xfrm>
            <a:off x="4495648" y="4956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05/11/2025</a:t>
            </a:r>
            <a:endParaRPr lang="en-US" sz="1100" dirty="0"/>
          </a:p>
        </p:txBody>
      </p:sp>
      <p:sp>
        <p:nvSpPr>
          <p:cNvPr id="29" name="Nota 2025-2"/>
          <p:cNvSpPr txBox="1"/>
          <p:nvPr/>
        </p:nvSpPr>
        <p:spPr>
          <a:xfrm>
            <a:off x="777240" y="5330952"/>
            <a:ext cx="490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 No. DS-SABAO-BCS-BC-17003</a:t>
            </a:r>
            <a:endParaRPr lang="en-US" sz="1300" dirty="0"/>
          </a:p>
        </p:txBody>
      </p:sp>
      <p:sp>
        <p:nvSpPr>
          <p:cNvPr id="30" name="Detalle 2025-2"/>
          <p:cNvSpPr txBox="1"/>
          <p:nvPr/>
        </p:nvSpPr>
        <p:spPr>
          <a:xfrm>
            <a:off x="777240" y="564184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9 observaciones</a:t>
            </a:r>
            <a:endParaRPr lang="en-US" sz="1400" dirty="0"/>
          </a:p>
        </p:txBody>
      </p:sp>
      <p:sp>
        <p:nvSpPr>
          <p:cNvPr id="31" name="Encabezado 2026"/>
          <p:cNvSpPr/>
          <p:nvPr/>
        </p:nvSpPr>
        <p:spPr>
          <a:xfrm>
            <a:off x="6278728" y="2651760"/>
            <a:ext cx="5364328" cy="548640"/>
          </a:xfrm>
          <a:prstGeom prst="roundRect">
            <a:avLst>
              <a:gd name="adj" fmla="val 13333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2" name="Año 2026"/>
          <p:cNvSpPr txBox="1"/>
          <p:nvPr/>
        </p:nvSpPr>
        <p:spPr>
          <a:xfrm>
            <a:off x="6507328" y="2651760"/>
            <a:ext cx="1371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2026</a:t>
            </a:r>
            <a:endParaRPr lang="en-US" sz="2200" dirty="0"/>
          </a:p>
        </p:txBody>
      </p:sp>
      <p:sp>
        <p:nvSpPr>
          <p:cNvPr id="33" name="Subtítulo 2026"/>
          <p:cNvSpPr txBox="1"/>
          <p:nvPr/>
        </p:nvSpPr>
        <p:spPr>
          <a:xfrm>
            <a:off x="7741768" y="2651760"/>
            <a:ext cx="3672688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chemeClr val="bg1"/>
                </a:solidFill>
              </a:rPr>
              <a:t>Visita 2 · corte 31/07/2026</a:t>
            </a:r>
            <a:endParaRPr lang="en-US" sz="1300" dirty="0"/>
          </a:p>
        </p:txBody>
      </p:sp>
      <p:sp>
        <p:nvSpPr>
          <p:cNvPr id="34" name="Tarjeta 2026-1"/>
          <p:cNvSpPr/>
          <p:nvPr/>
        </p:nvSpPr>
        <p:spPr>
          <a:xfrm>
            <a:off x="6278728" y="3337560"/>
            <a:ext cx="5364328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35" name="Tipo 2026-1"/>
          <p:cNvSpPr txBox="1"/>
          <p:nvPr/>
        </p:nvSpPr>
        <p:spPr>
          <a:xfrm>
            <a:off x="6507328" y="347472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Nombramiento de visita ampliada</a:t>
            </a:r>
            <a:endParaRPr lang="en-US" sz="1600" dirty="0"/>
          </a:p>
        </p:txBody>
      </p:sp>
      <p:sp>
        <p:nvSpPr>
          <p:cNvPr id="36" name="Fecha 2026-1 fondo"/>
          <p:cNvSpPr/>
          <p:nvPr/>
        </p:nvSpPr>
        <p:spPr>
          <a:xfrm>
            <a:off x="10225735" y="3493008"/>
            <a:ext cx="118872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37" name="Fecha 2026-1"/>
          <p:cNvSpPr txBox="1"/>
          <p:nvPr/>
        </p:nvSpPr>
        <p:spPr>
          <a:xfrm>
            <a:off x="10225735" y="349300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31/07/2026</a:t>
            </a:r>
            <a:endParaRPr lang="en-US" sz="1100" dirty="0"/>
          </a:p>
        </p:txBody>
      </p:sp>
      <p:sp>
        <p:nvSpPr>
          <p:cNvPr id="38" name="Nota 2026-1"/>
          <p:cNvSpPr txBox="1"/>
          <p:nvPr/>
        </p:nvSpPr>
        <p:spPr>
          <a:xfrm>
            <a:off x="6507328" y="3867912"/>
            <a:ext cx="490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 No. SABAO-BCS-BC-18432</a:t>
            </a:r>
            <a:endParaRPr lang="en-US" sz="1300" dirty="0"/>
          </a:p>
        </p:txBody>
      </p:sp>
      <p:sp>
        <p:nvSpPr>
          <p:cNvPr id="39" name="Detalle 2026-1"/>
          <p:cNvSpPr txBox="1"/>
          <p:nvPr/>
        </p:nvSpPr>
        <p:spPr>
          <a:xfrm>
            <a:off x="6507328" y="417880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Corte: 31/07/2026 · Inicio: 21/08/2026</a:t>
            </a:r>
            <a:endParaRPr lang="en-US" sz="1400" dirty="0"/>
          </a:p>
        </p:txBody>
      </p:sp>
      <p:sp>
        <p:nvSpPr>
          <p:cNvPr id="40" name="Tarjeta 2026-2"/>
          <p:cNvSpPr/>
          <p:nvPr/>
        </p:nvSpPr>
        <p:spPr>
          <a:xfrm>
            <a:off x="6278728" y="4800600"/>
            <a:ext cx="5364328" cy="1325880"/>
          </a:xfrm>
          <a:prstGeom prst="roundRect">
            <a:avLst>
              <a:gd name="adj" fmla="val 5517"/>
            </a:avLst>
          </a:prstGeom>
          <a:solidFill>
            <a:schemeClr val="bg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41" name="Tipo 2026-2"/>
          <p:cNvSpPr txBox="1"/>
          <p:nvPr/>
        </p:nvSpPr>
        <p:spPr>
          <a:xfrm>
            <a:off x="6507328" y="4937760"/>
            <a:ext cx="362696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Informe de resultados preliminares</a:t>
            </a:r>
            <a:endParaRPr lang="en-US" sz="1600" dirty="0"/>
          </a:p>
        </p:txBody>
      </p:sp>
      <p:sp>
        <p:nvSpPr>
          <p:cNvPr id="42" name="Fecha 2026-2 fondo"/>
          <p:cNvSpPr/>
          <p:nvPr/>
        </p:nvSpPr>
        <p:spPr>
          <a:xfrm>
            <a:off x="10225735" y="4956048"/>
            <a:ext cx="118872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43" name="Fecha 2026-2"/>
          <p:cNvSpPr txBox="1"/>
          <p:nvPr/>
        </p:nvSpPr>
        <p:spPr>
          <a:xfrm>
            <a:off x="10225735" y="4956048"/>
            <a:ext cx="118872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09/10/2026</a:t>
            </a:r>
            <a:endParaRPr lang="en-US" sz="1100" dirty="0"/>
          </a:p>
        </p:txBody>
      </p:sp>
      <p:sp>
        <p:nvSpPr>
          <p:cNvPr id="44" name="Nota 2026-2"/>
          <p:cNvSpPr txBox="1"/>
          <p:nvPr/>
        </p:nvSpPr>
        <p:spPr>
          <a:xfrm>
            <a:off x="6507328" y="5330952"/>
            <a:ext cx="49071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Nota No. DS-SABAO-BCS-BC-22741</a:t>
            </a:r>
            <a:endParaRPr lang="en-US" sz="1300" dirty="0"/>
          </a:p>
        </p:txBody>
      </p:sp>
      <p:sp>
        <p:nvSpPr>
          <p:cNvPr id="45" name="Detalle 2026-2"/>
          <p:cNvSpPr txBox="1"/>
          <p:nvPr/>
        </p:nvSpPr>
        <p:spPr>
          <a:xfrm>
            <a:off x="6507328" y="5641848"/>
            <a:ext cx="490712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7 nuevas (Anexo A) · 2 de seguimiento (Anexo B)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2 · NOTA DS-SABAO-BCS-BC-17003 · AÑO 2025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 de observaciones 2025 (1 de 2)</a:t>
            </a:r>
            <a:endParaRPr lang="en-US" sz="3000" dirty="0"/>
          </a:p>
        </p:txBody>
      </p:sp>
      <p:graphicFrame>
        <p:nvGraphicFramePr>
          <p:cNvPr id="4" name="Tabla observaciones 2025 1-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754880"/>
                <a:gridCol w="2926080"/>
                <a:gridCol w="2907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de la observación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/ Área implicada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actual / Criterio SSF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Política de Operaciones Vinculadas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 / Gerencia General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Requerida por Art. 12 NRP-17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evidencia de firma de confidencialidad e inducción en actas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 / Secretaría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 del Manual de Inducción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Comités de Apoyo no integran personal ejecutivo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2026: NO SUPERADA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 / RRHH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 Art. 3 literal h) NRP-17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Inconsistencia en pago de dietas (Reglamento vs. Asamblea General)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 / Asamblea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Requiere actualización del Reglamento y autorización de Asamblea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Normativa interna desactualizada (más de 2 años sin revisión)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2026: PARCIALMENTE SUPERADA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Departamento de Procesos / Líderes de Área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 documentos vencidos (RIT, Auditoría, Riesgos, etc.)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2 · NOTA DS-SABAO-BCS-BC-17003 · AÑO 2025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Detalle de observaciones 2025 (2 de 2)</a:t>
            </a:r>
            <a:endParaRPr lang="en-US" sz="3000" dirty="0"/>
          </a:p>
        </p:txBody>
      </p:sp>
      <p:graphicFrame>
        <p:nvGraphicFramePr>
          <p:cNvPr id="5" name="Tabla observaciones 2025 6-9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754880"/>
                <a:gridCol w="2926080"/>
                <a:gridCol w="2907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de la observación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/ Área implicada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actual / Criterio SSF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soporte en expedientes de créditos de Ferias de Crédito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de Créditos / Riesgos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Sin acuerdos de CA ni soporte de tasas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información obligatoria en declaración jurada de personas relacionadas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Directivos y Equipo Gerencial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Incumplimiento Art. 9 NRP-75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Omisiones en procedimientos del Manual de Compras de Bienes y Servicios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Servicios Generales / Área Contratante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Cotizaciones sin sellar y falta de cláusula penal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Uso del Fondo de Educación en fines distintos a los legales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↳ 2026: REINCIDE (Anexo A, obs. 6 y 7)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Comité de Educación / Gerencia Financiera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Gastos socio-culturales/operativos (Art. 59 Ley de Cooperativas)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Persistencia 1"/>
          <p:cNvSpPr/>
          <p:nvPr/>
        </p:nvSpPr>
        <p:spPr>
          <a:xfrm>
            <a:off x="548640" y="5074920"/>
            <a:ext cx="351525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Persistencia título 1"/>
          <p:cNvSpPr txBox="1"/>
          <p:nvPr/>
        </p:nvSpPr>
        <p:spPr>
          <a:xfrm>
            <a:off x="731520" y="52120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Obs. 3 · Comités sin ejecutivos</a:t>
            </a:r>
            <a:endParaRPr lang="en-US" sz="1400" dirty="0"/>
          </a:p>
        </p:txBody>
      </p:sp>
      <p:sp>
        <p:nvSpPr>
          <p:cNvPr id="7" name="Persistencia estado 1"/>
          <p:cNvSpPr txBox="1"/>
          <p:nvPr/>
        </p:nvSpPr>
        <p:spPr>
          <a:xfrm>
            <a:off x="731520" y="557784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3"/>
                </a:solidFill>
              </a:rPr>
              <a:t>NO SUPERADA en 2026</a:t>
            </a:r>
            <a:endParaRPr lang="en-US" sz="1400" dirty="0"/>
          </a:p>
        </p:txBody>
      </p:sp>
      <p:sp>
        <p:nvSpPr>
          <p:cNvPr id="8" name="Persistencia 2"/>
          <p:cNvSpPr/>
          <p:nvPr/>
        </p:nvSpPr>
        <p:spPr>
          <a:xfrm>
            <a:off x="4338218" y="5074920"/>
            <a:ext cx="351525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9" name="Persistencia título 2"/>
          <p:cNvSpPr txBox="1"/>
          <p:nvPr/>
        </p:nvSpPr>
        <p:spPr>
          <a:xfrm>
            <a:off x="4521098" y="52120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Obs. 5 · Normativa desactualizada</a:t>
            </a:r>
            <a:endParaRPr lang="en-US" sz="1400" dirty="0"/>
          </a:p>
        </p:txBody>
      </p:sp>
      <p:sp>
        <p:nvSpPr>
          <p:cNvPr id="10" name="Persistencia estado 2"/>
          <p:cNvSpPr txBox="1"/>
          <p:nvPr/>
        </p:nvSpPr>
        <p:spPr>
          <a:xfrm>
            <a:off x="4521098" y="557784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PARCIALMENTE SUPERADA en 2026</a:t>
            </a:r>
            <a:endParaRPr lang="en-US" sz="1400" dirty="0"/>
          </a:p>
        </p:txBody>
      </p:sp>
      <p:sp>
        <p:nvSpPr>
          <p:cNvPr id="11" name="Persistencia 3"/>
          <p:cNvSpPr/>
          <p:nvPr/>
        </p:nvSpPr>
        <p:spPr>
          <a:xfrm>
            <a:off x="8127797" y="5074920"/>
            <a:ext cx="3515258" cy="960120"/>
          </a:xfrm>
          <a:prstGeom prst="roundRect">
            <a:avLst>
              <a:gd name="adj" fmla="val 76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Persistencia título 3"/>
          <p:cNvSpPr txBox="1"/>
          <p:nvPr/>
        </p:nvSpPr>
        <p:spPr>
          <a:xfrm>
            <a:off x="8310677" y="521208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Obs. 9 · Fondo de Educación</a:t>
            </a:r>
            <a:endParaRPr lang="en-US" sz="1400" dirty="0"/>
          </a:p>
        </p:txBody>
      </p:sp>
      <p:sp>
        <p:nvSpPr>
          <p:cNvPr id="13" name="Persistencia estado 3"/>
          <p:cNvSpPr txBox="1"/>
          <p:nvPr/>
        </p:nvSpPr>
        <p:spPr>
          <a:xfrm>
            <a:off x="8310677" y="5577840"/>
            <a:ext cx="314949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6"/>
                </a:solidFill>
              </a:rPr>
              <a:t>REINCIDE en 2026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3 · NOTA DS-SABAO-BCS-BC-22741 · ANEXO 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Anexo A: observaciones nuevas de la visita 2026</a:t>
            </a:r>
            <a:endParaRPr lang="en-US" sz="3000" dirty="0"/>
          </a:p>
        </p:txBody>
      </p:sp>
      <p:graphicFrame>
        <p:nvGraphicFramePr>
          <p:cNvPr id="6" name="Tabla Anexo A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754880"/>
                <a:gridCol w="2926080"/>
                <a:gridCol w="2907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de la observación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/ Área implicada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actual / Criterio SSF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inducción sobre partidas relevantes de EEFF a nuevos miembros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Gerencia Financiera / RRHH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10 DÍAS HÁBILES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Art. 11 NRP-17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Certificación de Lectura del Código de Conducta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Junta de Vigilancia / Comités de Apoyo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10 DÍAS HÁBILES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Código de Conducta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Falta de formalización y aprobación de Políticas por el Consejo de Administración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10 DÍAS HÁBILES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Políticas de Retribución y Control Interno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Información de comités desactualizada en sitio web institucional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Oficialía de Cumplimiento / Comunicaciones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10 DÍAS HÁBILES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Arts. 27 y 28 NRP-17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Incongruencia entre Estatutos y Código de Gobierno Corporativo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Asesoría Legal / Consejo de Administración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10 DÍAS HÁBILES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Restricción de cargos remunerados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Reglamento del Fondo de Educación incluye conceptos no delimitados por Ley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Comité de Educación / Gerencia Financiera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10 DÍAS HÁBILES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Art. 5 del Reglamento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 transparencia en información presentada a Asamblea sobre Fondo de Educación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 / Comité de Educación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chemeClr val="accent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DESCARGO · 10 DÍAS HÁBILES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$100,774.28 no detallados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54864" marB="54864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3 · NOTA DS-SABAO-BCS-BC-22741 · ANEXO B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Anexo B: seguimiento a observaciones anteriores</a:t>
            </a:r>
            <a:endParaRPr lang="en-US" sz="3000" dirty="0"/>
          </a:p>
        </p:txBody>
      </p:sp>
      <p:graphicFrame>
        <p:nvGraphicFramePr>
          <p:cNvPr id="7" name="Tabla Anexo B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508760"/>
          <a:ext cx="11094415" cy="914400"/>
        </p:xfrm>
        <a:graphic>
          <a:graphicData uri="http://schemas.openxmlformats.org/drawingml/2006/table">
            <a:tbl>
              <a:tblPr/>
              <a:tblGrid>
                <a:gridCol w="502920"/>
                <a:gridCol w="4754880"/>
                <a:gridCol w="2926080"/>
                <a:gridCol w="2907792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#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de la observación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Responsable / Área implicada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chemeClr val="bg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Estado actual / Criterio SSF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Comités de Apoyo no integran personal ejecutivo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Consejo de Administración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SUPERADA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solución en 15 días hábiles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5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Normativa interna desactualizada (RIT, Comité de Auditoría, Compras)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Departamento de Procesos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chemeClr val="accent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PARCIALMENTE SUPERADA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chemeClr val="tx1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Plan de solución en 15 días hábiles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9728" marR="109728" marT="91440" marB="91440" anchor="ctr">
                    <a:lnL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9E0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</a:tr>
            </a:tbl>
          </a:graphicData>
        </a:graphic>
      </p:graphicFrame>
      <p:sp>
        <p:nvSpPr>
          <p:cNvPr id="5" name="Plazo 10"/>
          <p:cNvSpPr/>
          <p:nvPr/>
        </p:nvSpPr>
        <p:spPr>
          <a:xfrm>
            <a:off x="548640" y="3520440"/>
            <a:ext cx="5364328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Plazo número 10"/>
          <p:cNvSpPr txBox="1"/>
          <p:nvPr/>
        </p:nvSpPr>
        <p:spPr>
          <a:xfrm>
            <a:off x="822960" y="370332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</a:t>
            </a:r>
            <a:endParaRPr lang="en-US" sz="5400" dirty="0"/>
          </a:p>
        </p:txBody>
      </p:sp>
      <p:sp>
        <p:nvSpPr>
          <p:cNvPr id="7" name="Plazo título 10"/>
          <p:cNvSpPr txBox="1"/>
          <p:nvPr/>
        </p:nvSpPr>
        <p:spPr>
          <a:xfrm>
            <a:off x="2148840" y="3840480"/>
            <a:ext cx="3535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días hábiles · Anexo A</a:t>
            </a:r>
            <a:endParaRPr lang="en-US" sz="1800" dirty="0"/>
          </a:p>
        </p:txBody>
      </p:sp>
      <p:sp>
        <p:nvSpPr>
          <p:cNvPr id="8" name="Plazo detalle 10"/>
          <p:cNvSpPr txBox="1"/>
          <p:nvPr/>
        </p:nvSpPr>
        <p:spPr>
          <a:xfrm>
            <a:off x="822960" y="4663440"/>
            <a:ext cx="48156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Pruebas de descargo documentadas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Buzón: DESCARGOS_OBSERVACIONES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Vence aprox. 23/10/2026</a:t>
            </a:r>
            <a:endParaRPr lang="en-US" sz="1300" dirty="0"/>
          </a:p>
        </p:txBody>
      </p:sp>
      <p:sp>
        <p:nvSpPr>
          <p:cNvPr id="9" name="Plazo 15"/>
          <p:cNvSpPr/>
          <p:nvPr/>
        </p:nvSpPr>
        <p:spPr>
          <a:xfrm>
            <a:off x="6278728" y="3520440"/>
            <a:ext cx="5364328" cy="2423160"/>
          </a:xfrm>
          <a:prstGeom prst="roundRect">
            <a:avLst>
              <a:gd name="adj" fmla="val 301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Plazo número 15"/>
          <p:cNvSpPr txBox="1"/>
          <p:nvPr/>
        </p:nvSpPr>
        <p:spPr>
          <a:xfrm>
            <a:off x="6553048" y="3703320"/>
            <a:ext cx="12801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chemeClr val="accent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15</a:t>
            </a:r>
            <a:endParaRPr lang="en-US" sz="5400" dirty="0"/>
          </a:p>
        </p:txBody>
      </p:sp>
      <p:sp>
        <p:nvSpPr>
          <p:cNvPr id="11" name="Plazo título 15"/>
          <p:cNvSpPr txBox="1"/>
          <p:nvPr/>
        </p:nvSpPr>
        <p:spPr>
          <a:xfrm>
            <a:off x="7878928" y="3840480"/>
            <a:ext cx="3535528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chemeClr val="tx1"/>
                </a:solidFill>
              </a:rPr>
              <a:t>días hábiles · Anexo B</a:t>
            </a:r>
            <a:endParaRPr lang="en-US" sz="1800" dirty="0"/>
          </a:p>
        </p:txBody>
      </p:sp>
      <p:sp>
        <p:nvSpPr>
          <p:cNvPr id="12" name="Plazo detalle 15"/>
          <p:cNvSpPr txBox="1"/>
          <p:nvPr/>
        </p:nvSpPr>
        <p:spPr>
          <a:xfrm>
            <a:off x="6553048" y="4663440"/>
            <a:ext cx="481568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Plan de solución: acciones, responsable y plazo por acción, con certificación del punto de acta del Consejo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Buzón: PLANES_SOLUC_VISITASUPERVIS</a:t>
            </a:r>
            <a:endParaRPr lang="en-US" sz="13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300" dirty="0">
                <a:solidFill>
                  <a:schemeClr val="tx1"/>
                </a:solidFill>
              </a:rPr>
              <a:t>Vence aprox. 30/10/2026</a:t>
            </a:r>
            <a:endParaRPr lang="en-US" sz="1300" dirty="0"/>
          </a:p>
        </p:txBody>
      </p:sp>
      <p:sp>
        <p:nvSpPr>
          <p:cNvPr id="13" name="Nota de fechas"/>
          <p:cNvSpPr txBox="1"/>
          <p:nvPr/>
        </p:nvSpPr>
        <p:spPr>
          <a:xfrm>
            <a:off x="548640" y="603504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i="1" dirty="0">
                <a:solidFill>
                  <a:schemeClr val="accent5"/>
                </a:solidFill>
              </a:rPr>
              <a:t>Fechas estimadas en días hábiles desde el 12/10/2026, sin asuetos. Validar con la fecha de recepción del Sistema de Control de Envíos.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4 · LÍNEA DE TIEMPO COMPARATIVA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Línea de tiempo 2025 vs. 2026</a:t>
            </a:r>
            <a:endParaRPr lang="en-US" sz="3000" dirty="0"/>
          </a:p>
        </p:txBody>
      </p:sp>
      <p:sp>
        <p:nvSpPr>
          <p:cNvPr id="4" name="Año línea 2025 fondo"/>
          <p:cNvSpPr/>
          <p:nvPr/>
        </p:nvSpPr>
        <p:spPr>
          <a:xfrm>
            <a:off x="548640" y="1600200"/>
            <a:ext cx="86868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5" name="Año línea 2025"/>
          <p:cNvSpPr txBox="1"/>
          <p:nvPr/>
        </p:nvSpPr>
        <p:spPr>
          <a:xfrm>
            <a:off x="548640" y="160020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2025</a:t>
            </a:r>
            <a:endParaRPr lang="en-US" sz="1100" dirty="0"/>
          </a:p>
        </p:txBody>
      </p:sp>
      <p:sp>
        <p:nvSpPr>
          <p:cNvPr id="6" name="Eje 2025"/>
          <p:cNvSpPr/>
          <p:nvPr/>
        </p:nvSpPr>
        <p:spPr>
          <a:xfrm>
            <a:off x="1691640" y="1755648"/>
            <a:ext cx="6675120" cy="0"/>
          </a:xfrm>
          <a:prstGeom prst="line">
            <a:avLst/>
          </a:prstGeom>
          <a:noFill/>
          <a:ln w="31750">
            <a:solidFill>
              <a:schemeClr val="accent1"/>
            </a:solidFill>
            <a:prstDash val="solid"/>
          </a:ln>
        </p:spPr>
      </p:sp>
      <p:sp>
        <p:nvSpPr>
          <p:cNvPr id="7" name="Hito 2025-1"/>
          <p:cNvSpPr/>
          <p:nvPr/>
        </p:nvSpPr>
        <p:spPr>
          <a:xfrm>
            <a:off x="1783080" y="1627632"/>
            <a:ext cx="256032" cy="256032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8" name="Hito fecha 2025-1"/>
          <p:cNvSpPr txBox="1"/>
          <p:nvPr/>
        </p:nvSpPr>
        <p:spPr>
          <a:xfrm>
            <a:off x="1783080" y="2048256"/>
            <a:ext cx="199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ABR 2025</a:t>
            </a:r>
            <a:endParaRPr lang="en-US" sz="1200" dirty="0"/>
          </a:p>
        </p:txBody>
      </p:sp>
      <p:sp>
        <p:nvSpPr>
          <p:cNvPr id="9" name="Hito texto 2025-1"/>
          <p:cNvSpPr txBox="1"/>
          <p:nvPr/>
        </p:nvSpPr>
        <p:spPr>
          <a:xfrm>
            <a:off x="1783080" y="2350008"/>
            <a:ext cx="199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SSF</a:t>
            </a:r>
            <a:endParaRPr lang="en-US" sz="1400" dirty="0"/>
          </a:p>
        </p:txBody>
      </p:sp>
      <p:sp>
        <p:nvSpPr>
          <p:cNvPr id="10" name="Hito detalle 2025-1"/>
          <p:cNvSpPr txBox="1"/>
          <p:nvPr/>
        </p:nvSpPr>
        <p:spPr>
          <a:xfrm>
            <a:off x="1783080" y="2898648"/>
            <a:ext cx="199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9337 · corte 30/04</a:t>
            </a:r>
            <a:endParaRPr lang="en-US" sz="1200" dirty="0"/>
          </a:p>
        </p:txBody>
      </p:sp>
      <p:sp>
        <p:nvSpPr>
          <p:cNvPr id="11" name="Hito 2025-2"/>
          <p:cNvSpPr/>
          <p:nvPr/>
        </p:nvSpPr>
        <p:spPr>
          <a:xfrm>
            <a:off x="4008120" y="1627632"/>
            <a:ext cx="256032" cy="256032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2" name="Hito fecha 2025-2"/>
          <p:cNvSpPr txBox="1"/>
          <p:nvPr/>
        </p:nvSpPr>
        <p:spPr>
          <a:xfrm>
            <a:off x="4008120" y="2048256"/>
            <a:ext cx="199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19 MAY 2025</a:t>
            </a:r>
            <a:endParaRPr lang="en-US" sz="1200" dirty="0"/>
          </a:p>
        </p:txBody>
      </p:sp>
      <p:sp>
        <p:nvSpPr>
          <p:cNvPr id="13" name="Hito texto 2025-2"/>
          <p:cNvSpPr txBox="1"/>
          <p:nvPr/>
        </p:nvSpPr>
        <p:spPr>
          <a:xfrm>
            <a:off x="4008120" y="2350008"/>
            <a:ext cx="199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Inicio de visita en sitio</a:t>
            </a:r>
            <a:endParaRPr lang="en-US" sz="1400" dirty="0"/>
          </a:p>
        </p:txBody>
      </p:sp>
      <p:sp>
        <p:nvSpPr>
          <p:cNvPr id="14" name="Hito 2025-3"/>
          <p:cNvSpPr/>
          <p:nvPr/>
        </p:nvSpPr>
        <p:spPr>
          <a:xfrm>
            <a:off x="6233160" y="1627632"/>
            <a:ext cx="256032" cy="256032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1"/>
            </a:solidFill>
            <a:prstDash val="solid"/>
          </a:ln>
        </p:spPr>
      </p:sp>
      <p:sp>
        <p:nvSpPr>
          <p:cNvPr id="15" name="Hito fecha 2025-3"/>
          <p:cNvSpPr txBox="1"/>
          <p:nvPr/>
        </p:nvSpPr>
        <p:spPr>
          <a:xfrm>
            <a:off x="6233160" y="2048256"/>
            <a:ext cx="199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1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05 NOV 2025</a:t>
            </a:r>
            <a:endParaRPr lang="en-US" sz="1200" dirty="0"/>
          </a:p>
        </p:txBody>
      </p:sp>
      <p:sp>
        <p:nvSpPr>
          <p:cNvPr id="16" name="Hito texto 2025-3"/>
          <p:cNvSpPr txBox="1"/>
          <p:nvPr/>
        </p:nvSpPr>
        <p:spPr>
          <a:xfrm>
            <a:off x="6233160" y="2350008"/>
            <a:ext cx="1996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 preliminar</a:t>
            </a:r>
            <a:endParaRPr lang="en-US" sz="1400" dirty="0"/>
          </a:p>
        </p:txBody>
      </p:sp>
      <p:sp>
        <p:nvSpPr>
          <p:cNvPr id="17" name="Hito detalle 2025-3"/>
          <p:cNvSpPr txBox="1"/>
          <p:nvPr/>
        </p:nvSpPr>
        <p:spPr>
          <a:xfrm>
            <a:off x="6233160" y="2898648"/>
            <a:ext cx="19964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17003 · 9 obs.</a:t>
            </a:r>
            <a:endParaRPr lang="en-US" sz="1200" dirty="0"/>
          </a:p>
        </p:txBody>
      </p:sp>
      <p:sp>
        <p:nvSpPr>
          <p:cNvPr id="18" name="Recuadro 2025"/>
          <p:cNvSpPr/>
          <p:nvPr/>
        </p:nvSpPr>
        <p:spPr>
          <a:xfrm>
            <a:off x="8641080" y="1508760"/>
            <a:ext cx="3001975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Recuadro título 2025"/>
          <p:cNvSpPr txBox="1"/>
          <p:nvPr/>
        </p:nvSpPr>
        <p:spPr>
          <a:xfrm>
            <a:off x="8823960" y="1645920"/>
            <a:ext cx="2636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1"/>
                </a:solidFill>
              </a:rPr>
              <a:t>Hallazgos críticos 2025</a:t>
            </a:r>
            <a:endParaRPr lang="en-US" sz="1400" dirty="0"/>
          </a:p>
        </p:txBody>
      </p:sp>
      <p:sp>
        <p:nvSpPr>
          <p:cNvPr id="20" name="Recuadro lista 2025"/>
          <p:cNvSpPr txBox="1"/>
          <p:nvPr/>
        </p:nvSpPr>
        <p:spPr>
          <a:xfrm>
            <a:off x="8823960" y="2011680"/>
            <a:ext cx="26362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Sin Política de Operaciones Vinculadas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Normativa interna desactualizada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Uso inapropiado del Fondo de Educación</a:t>
            </a:r>
            <a:endParaRPr lang="en-US" sz="1300" dirty="0"/>
          </a:p>
        </p:txBody>
      </p:sp>
      <p:sp>
        <p:nvSpPr>
          <p:cNvPr id="21" name="Año línea 2026 fondo"/>
          <p:cNvSpPr/>
          <p:nvPr/>
        </p:nvSpPr>
        <p:spPr>
          <a:xfrm>
            <a:off x="548640" y="3977640"/>
            <a:ext cx="868680" cy="310896"/>
          </a:xfrm>
          <a:prstGeom prst="roundRect">
            <a:avLst>
              <a:gd name="adj" fmla="val 50000"/>
            </a:avLst>
          </a:prstGeom>
          <a:solidFill>
            <a:schemeClr val="accent2"/>
          </a:solidFill>
          <a:ln w="12700">
            <a:solidFill>
              <a:schemeClr val="accent2"/>
            </a:solidFill>
            <a:prstDash val="solid"/>
          </a:ln>
        </p:spPr>
      </p:sp>
      <p:sp>
        <p:nvSpPr>
          <p:cNvPr id="22" name="Año línea 2026"/>
          <p:cNvSpPr txBox="1"/>
          <p:nvPr/>
        </p:nvSpPr>
        <p:spPr>
          <a:xfrm>
            <a:off x="548640" y="3977640"/>
            <a:ext cx="8686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2026</a:t>
            </a:r>
            <a:endParaRPr lang="en-US" sz="1100" dirty="0"/>
          </a:p>
        </p:txBody>
      </p:sp>
      <p:sp>
        <p:nvSpPr>
          <p:cNvPr id="23" name="Eje 2026"/>
          <p:cNvSpPr/>
          <p:nvPr/>
        </p:nvSpPr>
        <p:spPr>
          <a:xfrm>
            <a:off x="1691640" y="4133088"/>
            <a:ext cx="6675120" cy="0"/>
          </a:xfrm>
          <a:prstGeom prst="line">
            <a:avLst/>
          </a:prstGeom>
          <a:noFill/>
          <a:ln w="31750">
            <a:solidFill>
              <a:schemeClr val="accent2"/>
            </a:solidFill>
            <a:prstDash val="solid"/>
          </a:ln>
        </p:spPr>
      </p:sp>
      <p:sp>
        <p:nvSpPr>
          <p:cNvPr id="24" name="Hito 2026-1"/>
          <p:cNvSpPr/>
          <p:nvPr/>
        </p:nvSpPr>
        <p:spPr>
          <a:xfrm>
            <a:off x="1783080" y="4005072"/>
            <a:ext cx="256032" cy="256032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25" name="Hito fecha 2026-1"/>
          <p:cNvSpPr txBox="1"/>
          <p:nvPr/>
        </p:nvSpPr>
        <p:spPr>
          <a:xfrm>
            <a:off x="1783080" y="4425696"/>
            <a:ext cx="144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31 JUL 2026</a:t>
            </a:r>
            <a:endParaRPr lang="en-US" sz="1200" dirty="0"/>
          </a:p>
        </p:txBody>
      </p:sp>
      <p:sp>
        <p:nvSpPr>
          <p:cNvPr id="26" name="Hito texto 2026-1"/>
          <p:cNvSpPr txBox="1"/>
          <p:nvPr/>
        </p:nvSpPr>
        <p:spPr>
          <a:xfrm>
            <a:off x="1783080" y="4727448"/>
            <a:ext cx="1440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Nombramiento SSF</a:t>
            </a:r>
            <a:endParaRPr lang="en-US" sz="1400" dirty="0"/>
          </a:p>
        </p:txBody>
      </p:sp>
      <p:sp>
        <p:nvSpPr>
          <p:cNvPr id="27" name="Hito detalle 2026-1"/>
          <p:cNvSpPr txBox="1"/>
          <p:nvPr/>
        </p:nvSpPr>
        <p:spPr>
          <a:xfrm>
            <a:off x="1783080" y="5276088"/>
            <a:ext cx="1440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18432 · corte 31/07</a:t>
            </a:r>
            <a:endParaRPr lang="en-US" sz="1200" dirty="0"/>
          </a:p>
        </p:txBody>
      </p:sp>
      <p:sp>
        <p:nvSpPr>
          <p:cNvPr id="28" name="Hito 2026-2"/>
          <p:cNvSpPr/>
          <p:nvPr/>
        </p:nvSpPr>
        <p:spPr>
          <a:xfrm>
            <a:off x="3451860" y="4005072"/>
            <a:ext cx="256032" cy="256032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29" name="Hito fecha 2026-2"/>
          <p:cNvSpPr txBox="1"/>
          <p:nvPr/>
        </p:nvSpPr>
        <p:spPr>
          <a:xfrm>
            <a:off x="3451860" y="4425696"/>
            <a:ext cx="144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21 AGO 2026</a:t>
            </a:r>
            <a:endParaRPr lang="en-US" sz="1200" dirty="0"/>
          </a:p>
        </p:txBody>
      </p:sp>
      <p:sp>
        <p:nvSpPr>
          <p:cNvPr id="30" name="Hito texto 2026-2"/>
          <p:cNvSpPr txBox="1"/>
          <p:nvPr/>
        </p:nvSpPr>
        <p:spPr>
          <a:xfrm>
            <a:off x="3451860" y="4727448"/>
            <a:ext cx="1440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Inicio de visita ampliada</a:t>
            </a:r>
            <a:endParaRPr lang="en-US" sz="1400" dirty="0"/>
          </a:p>
        </p:txBody>
      </p:sp>
      <p:sp>
        <p:nvSpPr>
          <p:cNvPr id="31" name="Hito 2026-3"/>
          <p:cNvSpPr/>
          <p:nvPr/>
        </p:nvSpPr>
        <p:spPr>
          <a:xfrm>
            <a:off x="5120640" y="4005072"/>
            <a:ext cx="256032" cy="256032"/>
          </a:xfrm>
          <a:prstGeom prst="ellipse">
            <a:avLst/>
          </a:prstGeom>
          <a:solidFill>
            <a:schemeClr val="bg1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32" name="Hito fecha 2026-3"/>
          <p:cNvSpPr txBox="1"/>
          <p:nvPr/>
        </p:nvSpPr>
        <p:spPr>
          <a:xfrm>
            <a:off x="5120640" y="4425696"/>
            <a:ext cx="144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09 OCT 2026</a:t>
            </a:r>
            <a:endParaRPr lang="en-US" sz="1200" dirty="0"/>
          </a:p>
        </p:txBody>
      </p:sp>
      <p:sp>
        <p:nvSpPr>
          <p:cNvPr id="33" name="Hito texto 2026-3"/>
          <p:cNvSpPr txBox="1"/>
          <p:nvPr/>
        </p:nvSpPr>
        <p:spPr>
          <a:xfrm>
            <a:off x="5120640" y="4727448"/>
            <a:ext cx="1440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Informe preliminar</a:t>
            </a:r>
            <a:endParaRPr lang="en-US" sz="1400" dirty="0"/>
          </a:p>
        </p:txBody>
      </p:sp>
      <p:sp>
        <p:nvSpPr>
          <p:cNvPr id="34" name="Hito detalle 2026-3"/>
          <p:cNvSpPr txBox="1"/>
          <p:nvPr/>
        </p:nvSpPr>
        <p:spPr>
          <a:xfrm>
            <a:off x="5120640" y="5276088"/>
            <a:ext cx="1440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Nota 22741 · 7 + 2 obs.</a:t>
            </a:r>
            <a:endParaRPr lang="en-US" sz="1200" dirty="0"/>
          </a:p>
        </p:txBody>
      </p:sp>
      <p:sp>
        <p:nvSpPr>
          <p:cNvPr id="35" name="Hito 2026-4"/>
          <p:cNvSpPr/>
          <p:nvPr/>
        </p:nvSpPr>
        <p:spPr>
          <a:xfrm>
            <a:off x="6789420" y="4005072"/>
            <a:ext cx="256032" cy="256032"/>
          </a:xfrm>
          <a:prstGeom prst="ellipse">
            <a:avLst/>
          </a:prstGeom>
          <a:solidFill>
            <a:schemeClr val="accent2"/>
          </a:solidFill>
          <a:ln w="38100">
            <a:solidFill>
              <a:schemeClr val="accent2"/>
            </a:solidFill>
            <a:prstDash val="solid"/>
          </a:ln>
        </p:spPr>
      </p:sp>
      <p:sp>
        <p:nvSpPr>
          <p:cNvPr id="36" name="Hito fecha 2026-4"/>
          <p:cNvSpPr txBox="1"/>
          <p:nvPr/>
        </p:nvSpPr>
        <p:spPr>
          <a:xfrm>
            <a:off x="6789420" y="4425696"/>
            <a:ext cx="14401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chemeClr val="accent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ACTUAL</a:t>
            </a:r>
            <a:endParaRPr lang="en-US" sz="1200" dirty="0"/>
          </a:p>
        </p:txBody>
      </p:sp>
      <p:sp>
        <p:nvSpPr>
          <p:cNvPr id="37" name="Hito texto 2026-4"/>
          <p:cNvSpPr txBox="1"/>
          <p:nvPr/>
        </p:nvSpPr>
        <p:spPr>
          <a:xfrm>
            <a:off x="6789420" y="4727448"/>
            <a:ext cx="14401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Plazos en curso</a:t>
            </a:r>
            <a:endParaRPr lang="en-US" sz="1400" dirty="0"/>
          </a:p>
        </p:txBody>
      </p:sp>
      <p:sp>
        <p:nvSpPr>
          <p:cNvPr id="38" name="Hito detalle 2026-4"/>
          <p:cNvSpPr txBox="1"/>
          <p:nvPr/>
        </p:nvSpPr>
        <p:spPr>
          <a:xfrm>
            <a:off x="6789420" y="5276088"/>
            <a:ext cx="14401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chemeClr val="accent5"/>
                </a:solidFill>
              </a:rPr>
              <a:t>10 y 15 días hábiles</a:t>
            </a:r>
            <a:endParaRPr lang="en-US" sz="1200" dirty="0"/>
          </a:p>
        </p:txBody>
      </p:sp>
      <p:sp>
        <p:nvSpPr>
          <p:cNvPr id="39" name="Recuadro 2026"/>
          <p:cNvSpPr/>
          <p:nvPr/>
        </p:nvSpPr>
        <p:spPr>
          <a:xfrm>
            <a:off x="8641080" y="3886200"/>
            <a:ext cx="3001975" cy="2057400"/>
          </a:xfrm>
          <a:prstGeom prst="roundRect">
            <a:avLst>
              <a:gd name="adj" fmla="val 355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0" name="Recuadro título 2026"/>
          <p:cNvSpPr txBox="1"/>
          <p:nvPr/>
        </p:nvSpPr>
        <p:spPr>
          <a:xfrm>
            <a:off x="8823960" y="4023360"/>
            <a:ext cx="26362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accent2"/>
                </a:solidFill>
              </a:rPr>
              <a:t>Plazos de respuesta</a:t>
            </a:r>
            <a:endParaRPr lang="en-US" sz="1400" dirty="0"/>
          </a:p>
        </p:txBody>
      </p:sp>
      <p:sp>
        <p:nvSpPr>
          <p:cNvPr id="41" name="Recuadro lista 2026"/>
          <p:cNvSpPr txBox="1"/>
          <p:nvPr/>
        </p:nvSpPr>
        <p:spPr>
          <a:xfrm>
            <a:off x="8823960" y="4389120"/>
            <a:ext cx="2636215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Descargos (Anexo A): 10 días hábiles, aprox. 23/10/2026</a:t>
            </a:r>
            <a:endParaRPr lang="en-US" sz="1300" dirty="0"/>
          </a:p>
          <a:p>
            <a:pPr marL="342900" indent="-3429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chemeClr val="tx1"/>
                </a:solidFill>
              </a:rPr>
              <a:t>Plan de solución (Anexo B): 15 días hábiles, aprox. 30/10/2026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4 · ANÁLISIS DE EVOLUCIÓN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Observaciones reincidentes y persistentes</a:t>
            </a:r>
            <a:endParaRPr lang="en-US" sz="3000" dirty="0"/>
          </a:p>
        </p:txBody>
      </p:sp>
      <p:sp>
        <p:nvSpPr>
          <p:cNvPr id="4" name="Encabezado tema"/>
          <p:cNvSpPr txBox="1"/>
          <p:nvPr/>
        </p:nvSpPr>
        <p:spPr>
          <a:xfrm>
            <a:off x="548640" y="1463040"/>
            <a:ext cx="3566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TEMA</a:t>
            </a:r>
            <a:endParaRPr lang="en-US" sz="1200" dirty="0"/>
          </a:p>
        </p:txBody>
      </p:sp>
      <p:sp>
        <p:nvSpPr>
          <p:cNvPr id="5" name="Encabezado 2025"/>
          <p:cNvSpPr txBox="1"/>
          <p:nvPr/>
        </p:nvSpPr>
        <p:spPr>
          <a:xfrm>
            <a:off x="4343400" y="1463040"/>
            <a:ext cx="2834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1"/>
                </a:solidFill>
              </a:rPr>
              <a:t>2025 · NOTA 17003</a:t>
            </a:r>
            <a:endParaRPr lang="en-US" sz="1200" dirty="0"/>
          </a:p>
        </p:txBody>
      </p:sp>
      <p:sp>
        <p:nvSpPr>
          <p:cNvPr id="6" name="Encabezado 2026"/>
          <p:cNvSpPr txBox="1"/>
          <p:nvPr/>
        </p:nvSpPr>
        <p:spPr>
          <a:xfrm>
            <a:off x="7863840" y="1463040"/>
            <a:ext cx="37792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2"/>
                </a:solidFill>
              </a:rPr>
              <a:t>2026 · NOTA 22741</a:t>
            </a:r>
            <a:endParaRPr lang="en-US" sz="1200" dirty="0"/>
          </a:p>
        </p:txBody>
      </p:sp>
      <p:sp>
        <p:nvSpPr>
          <p:cNvPr id="7" name="Fila evolución 1"/>
          <p:cNvSpPr/>
          <p:nvPr/>
        </p:nvSpPr>
        <p:spPr>
          <a:xfrm>
            <a:off x="548640" y="1874520"/>
            <a:ext cx="11094415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ma 1"/>
          <p:cNvSpPr txBox="1"/>
          <p:nvPr/>
        </p:nvSpPr>
        <p:spPr>
          <a:xfrm>
            <a:off x="777240" y="187452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Integración de Comités de Apoyo con personal ejecutivo</a:t>
            </a:r>
            <a:endParaRPr lang="en-US" sz="1700" dirty="0"/>
          </a:p>
        </p:txBody>
      </p:sp>
      <p:sp>
        <p:nvSpPr>
          <p:cNvPr id="9" name="Estado 2025 1 fondo"/>
          <p:cNvSpPr/>
          <p:nvPr/>
        </p:nvSpPr>
        <p:spPr>
          <a:xfrm>
            <a:off x="4343400" y="214884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Estado 2025 1"/>
          <p:cNvSpPr txBox="1"/>
          <p:nvPr/>
        </p:nvSpPr>
        <p:spPr>
          <a:xfrm>
            <a:off x="4343400" y="214884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OBSERVADA</a:t>
            </a:r>
            <a:endParaRPr lang="en-US" sz="1100" dirty="0"/>
          </a:p>
        </p:txBody>
      </p:sp>
      <p:sp>
        <p:nvSpPr>
          <p:cNvPr id="11" name="Detalle 2025 1"/>
          <p:cNvSpPr txBox="1"/>
          <p:nvPr/>
        </p:nvSpPr>
        <p:spPr>
          <a:xfrm>
            <a:off x="4343400" y="256032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Obs. 3 · Art. 3 lit. h) NRP-17</a:t>
            </a:r>
            <a:endParaRPr lang="en-US" sz="1300" dirty="0"/>
          </a:p>
        </p:txBody>
      </p:sp>
      <p:sp>
        <p:nvSpPr>
          <p:cNvPr id="12" name="Flecha 1"/>
          <p:cNvSpPr/>
          <p:nvPr/>
        </p:nvSpPr>
        <p:spPr>
          <a:xfrm>
            <a:off x="7315200" y="233172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Estado 2026 1 fondo"/>
          <p:cNvSpPr/>
          <p:nvPr/>
        </p:nvSpPr>
        <p:spPr>
          <a:xfrm>
            <a:off x="7863840" y="2148840"/>
            <a:ext cx="1737360" cy="310896"/>
          </a:xfrm>
          <a:prstGeom prst="roundRect">
            <a:avLst>
              <a:gd name="adj" fmla="val 50000"/>
            </a:avLst>
          </a:prstGeom>
          <a:solidFill>
            <a:schemeClr val="accent3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14" name="Estado 2026 1"/>
          <p:cNvSpPr txBox="1"/>
          <p:nvPr/>
        </p:nvSpPr>
        <p:spPr>
          <a:xfrm>
            <a:off x="7863840" y="214884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NO SUPERADA</a:t>
            </a:r>
            <a:endParaRPr lang="en-US" sz="1100" dirty="0"/>
          </a:p>
        </p:txBody>
      </p:sp>
      <p:sp>
        <p:nvSpPr>
          <p:cNvPr id="15" name="Detalle 2026 1"/>
          <p:cNvSpPr txBox="1"/>
          <p:nvPr/>
        </p:nvSpPr>
        <p:spPr>
          <a:xfrm>
            <a:off x="7863840" y="2560320"/>
            <a:ext cx="3596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Anexo B, obs. 8</a:t>
            </a:r>
            <a:endParaRPr lang="en-US" sz="1300" dirty="0"/>
          </a:p>
        </p:txBody>
      </p:sp>
      <p:sp>
        <p:nvSpPr>
          <p:cNvPr id="16" name="Fila evolución 2"/>
          <p:cNvSpPr/>
          <p:nvPr/>
        </p:nvSpPr>
        <p:spPr>
          <a:xfrm>
            <a:off x="548640" y="3337560"/>
            <a:ext cx="11094415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7" name="Tema 2"/>
          <p:cNvSpPr txBox="1"/>
          <p:nvPr/>
        </p:nvSpPr>
        <p:spPr>
          <a:xfrm>
            <a:off x="777240" y="333756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Actualización de normativa interna</a:t>
            </a:r>
            <a:endParaRPr lang="en-US" sz="1700" dirty="0"/>
          </a:p>
        </p:txBody>
      </p:sp>
      <p:sp>
        <p:nvSpPr>
          <p:cNvPr id="18" name="Estado 2025 2 fondo"/>
          <p:cNvSpPr/>
          <p:nvPr/>
        </p:nvSpPr>
        <p:spPr>
          <a:xfrm>
            <a:off x="4343400" y="361188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9" name="Estado 2025 2"/>
          <p:cNvSpPr txBox="1"/>
          <p:nvPr/>
        </p:nvSpPr>
        <p:spPr>
          <a:xfrm>
            <a:off x="4343400" y="361188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OBSERVADA</a:t>
            </a:r>
            <a:endParaRPr lang="en-US" sz="1100" dirty="0"/>
          </a:p>
        </p:txBody>
      </p:sp>
      <p:sp>
        <p:nvSpPr>
          <p:cNvPr id="20" name="Detalle 2025 2"/>
          <p:cNvSpPr txBox="1"/>
          <p:nvPr/>
        </p:nvSpPr>
        <p:spPr>
          <a:xfrm>
            <a:off x="4343400" y="402336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Obs. 5 · 9 documentos vencidos</a:t>
            </a:r>
            <a:endParaRPr lang="en-US" sz="1300" dirty="0"/>
          </a:p>
        </p:txBody>
      </p:sp>
      <p:sp>
        <p:nvSpPr>
          <p:cNvPr id="21" name="Flecha 2"/>
          <p:cNvSpPr/>
          <p:nvPr/>
        </p:nvSpPr>
        <p:spPr>
          <a:xfrm>
            <a:off x="7315200" y="379476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22" name="Estado 2026 2 fondo"/>
          <p:cNvSpPr/>
          <p:nvPr/>
        </p:nvSpPr>
        <p:spPr>
          <a:xfrm>
            <a:off x="7863840" y="3611880"/>
            <a:ext cx="2651760" cy="31089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23" name="Estado 2026 2"/>
          <p:cNvSpPr txBox="1"/>
          <p:nvPr/>
        </p:nvSpPr>
        <p:spPr>
          <a:xfrm>
            <a:off x="7863840" y="3611880"/>
            <a:ext cx="26517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PARCIALMENTE SUPERADA</a:t>
            </a:r>
            <a:endParaRPr lang="en-US" sz="1100" dirty="0"/>
          </a:p>
        </p:txBody>
      </p:sp>
      <p:sp>
        <p:nvSpPr>
          <p:cNvPr id="24" name="Detalle 2026 2"/>
          <p:cNvSpPr txBox="1"/>
          <p:nvPr/>
        </p:nvSpPr>
        <p:spPr>
          <a:xfrm>
            <a:off x="7863840" y="4023360"/>
            <a:ext cx="3596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Anexo B, obs. 9: RIT, Comité de Auditoría, Compras</a:t>
            </a:r>
            <a:endParaRPr lang="en-US" sz="1300" dirty="0"/>
          </a:p>
        </p:txBody>
      </p:sp>
      <p:sp>
        <p:nvSpPr>
          <p:cNvPr id="25" name="Fila evolución 3"/>
          <p:cNvSpPr/>
          <p:nvPr/>
        </p:nvSpPr>
        <p:spPr>
          <a:xfrm>
            <a:off x="548640" y="4800600"/>
            <a:ext cx="11094415" cy="1280160"/>
          </a:xfrm>
          <a:prstGeom prst="roundRect">
            <a:avLst>
              <a:gd name="adj" fmla="val 5714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6" name="Tema 3"/>
          <p:cNvSpPr txBox="1"/>
          <p:nvPr/>
        </p:nvSpPr>
        <p:spPr>
          <a:xfrm>
            <a:off x="777240" y="4800600"/>
            <a:ext cx="32918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Gobernanza del Fondo de Educación</a:t>
            </a:r>
            <a:endParaRPr lang="en-US" sz="1700" dirty="0"/>
          </a:p>
        </p:txBody>
      </p:sp>
      <p:sp>
        <p:nvSpPr>
          <p:cNvPr id="27" name="Estado 2025 3 fondo"/>
          <p:cNvSpPr/>
          <p:nvPr/>
        </p:nvSpPr>
        <p:spPr>
          <a:xfrm>
            <a:off x="4343400" y="5074920"/>
            <a:ext cx="1463040" cy="310896"/>
          </a:xfrm>
          <a:prstGeom prst="roundRect">
            <a:avLst>
              <a:gd name="adj" fmla="val 50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28" name="Estado 2025 3"/>
          <p:cNvSpPr txBox="1"/>
          <p:nvPr/>
        </p:nvSpPr>
        <p:spPr>
          <a:xfrm>
            <a:off x="4343400" y="5074920"/>
            <a:ext cx="1463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OBSERVADA</a:t>
            </a:r>
            <a:endParaRPr lang="en-US" sz="1100" dirty="0"/>
          </a:p>
        </p:txBody>
      </p:sp>
      <p:sp>
        <p:nvSpPr>
          <p:cNvPr id="29" name="Detalle 2025 3"/>
          <p:cNvSpPr txBox="1"/>
          <p:nvPr/>
        </p:nvSpPr>
        <p:spPr>
          <a:xfrm>
            <a:off x="4343400" y="5486400"/>
            <a:ext cx="2834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Obs. 9 · Art. 59 Ley de Cooperativas</a:t>
            </a:r>
            <a:endParaRPr lang="en-US" sz="1300" dirty="0"/>
          </a:p>
        </p:txBody>
      </p:sp>
      <p:sp>
        <p:nvSpPr>
          <p:cNvPr id="30" name="Flecha 3"/>
          <p:cNvSpPr/>
          <p:nvPr/>
        </p:nvSpPr>
        <p:spPr>
          <a:xfrm>
            <a:off x="7315200" y="5257800"/>
            <a:ext cx="411480" cy="365760"/>
          </a:xfrm>
          <a:prstGeom prst="rightArrow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31" name="Estado 2026 3 fondo"/>
          <p:cNvSpPr/>
          <p:nvPr/>
        </p:nvSpPr>
        <p:spPr>
          <a:xfrm>
            <a:off x="7863840" y="5074920"/>
            <a:ext cx="1737360" cy="310896"/>
          </a:xfrm>
          <a:prstGeom prst="roundRect">
            <a:avLst>
              <a:gd name="adj" fmla="val 50000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32" name="Estado 2026 3"/>
          <p:cNvSpPr txBox="1"/>
          <p:nvPr/>
        </p:nvSpPr>
        <p:spPr>
          <a:xfrm>
            <a:off x="7863840" y="5074920"/>
            <a:ext cx="17373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100" kern="0" dirty="0">
                <a:solidFill>
                  <a:schemeClr val="bg1"/>
                </a:solidFill>
              </a:rPr>
              <a:t>REINCIDE</a:t>
            </a:r>
            <a:endParaRPr lang="en-US" sz="1100" dirty="0"/>
          </a:p>
        </p:txBody>
      </p:sp>
      <p:sp>
        <p:nvSpPr>
          <p:cNvPr id="33" name="Detalle 2026 3"/>
          <p:cNvSpPr txBox="1"/>
          <p:nvPr/>
        </p:nvSpPr>
        <p:spPr>
          <a:xfrm>
            <a:off x="7863840" y="5486400"/>
            <a:ext cx="359633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Anexo A, obs. 6 y 7: Reglamento sin criterios legales y $100,774.28 sin detalle a la Asamblea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body" hasCustomPrompt="1"/>
          </p:nvPr>
        </p:nvSpPr>
        <p:spPr>
          <a:xfrm>
            <a:off x="548640" y="32004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chemeClr val="accent5"/>
                </a:solidFill>
              </a:rPr>
              <a:t>ANEXO · GUÍA VISUAL</a:t>
            </a:r>
            <a:endParaRPr lang="en-US" sz="1200" dirty="0"/>
          </a:p>
        </p:txBody>
      </p:sp>
      <p:sp>
        <p:nvSpPr>
          <p:cNvPr id="3" name="Text 0"/>
          <p:cNvSpPr/>
          <p:nvPr>
            <p:ph idx="101" type="title" hasCustomPrompt="1"/>
          </p:nvPr>
        </p:nvSpPr>
        <p:spPr>
          <a:xfrm>
            <a:off x="548640" y="640080"/>
            <a:ext cx="11094415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3000" b="1" dirty="0">
                <a:solidFill>
                  <a:schemeClr val="tx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Paleta, tipografía y uso de la plantilla</a:t>
            </a:r>
            <a:endParaRPr lang="en-US" sz="3000" dirty="0"/>
          </a:p>
        </p:txBody>
      </p:sp>
      <p:sp>
        <p:nvSpPr>
          <p:cNvPr id="4" name="Muestra Azul marino corporativo"/>
          <p:cNvSpPr/>
          <p:nvPr/>
        </p:nvSpPr>
        <p:spPr>
          <a:xfrm>
            <a:off x="548640" y="1508760"/>
            <a:ext cx="685800" cy="685800"/>
          </a:xfrm>
          <a:prstGeom prst="roundRect">
            <a:avLst>
              <a:gd name="adj" fmla="val 10667"/>
            </a:avLst>
          </a:prstGeom>
          <a:solidFill>
            <a:schemeClr val="accent1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5" name="Color Azul marino corporativo"/>
          <p:cNvSpPr txBox="1"/>
          <p:nvPr/>
        </p:nvSpPr>
        <p:spPr>
          <a:xfrm>
            <a:off x="1417320" y="155448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Azul marino corporativo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#173A6E</a:t>
            </a:r>
            <a:endParaRPr lang="en-US" sz="1400" dirty="0"/>
          </a:p>
        </p:txBody>
      </p:sp>
      <p:sp>
        <p:nvSpPr>
          <p:cNvPr id="6" name="Uso Azul marino corporativo"/>
          <p:cNvSpPr txBox="1"/>
          <p:nvPr/>
        </p:nvSpPr>
        <p:spPr>
          <a:xfrm>
            <a:off x="1417320" y="187452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Hitos y tablas 2025</a:t>
            </a:r>
            <a:endParaRPr lang="en-US" sz="1300" dirty="0"/>
          </a:p>
        </p:txBody>
      </p:sp>
      <p:sp>
        <p:nvSpPr>
          <p:cNvPr id="7" name="Muestra Verde"/>
          <p:cNvSpPr/>
          <p:nvPr/>
        </p:nvSpPr>
        <p:spPr>
          <a:xfrm>
            <a:off x="548640" y="2377440"/>
            <a:ext cx="685800" cy="685800"/>
          </a:xfrm>
          <a:prstGeom prst="roundRect">
            <a:avLst>
              <a:gd name="adj" fmla="val 10667"/>
            </a:avLst>
          </a:prstGeom>
          <a:solidFill>
            <a:schemeClr val="accent2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8" name="Color Verde"/>
          <p:cNvSpPr txBox="1"/>
          <p:nvPr/>
        </p:nvSpPr>
        <p:spPr>
          <a:xfrm>
            <a:off x="1417320" y="242316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Verde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#1D7A4B</a:t>
            </a:r>
            <a:endParaRPr lang="en-US" sz="1400" dirty="0"/>
          </a:p>
        </p:txBody>
      </p:sp>
      <p:sp>
        <p:nvSpPr>
          <p:cNvPr id="9" name="Uso Verde"/>
          <p:cNvSpPr txBox="1"/>
          <p:nvPr/>
        </p:nvSpPr>
        <p:spPr>
          <a:xfrm>
            <a:off x="1417320" y="274320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Hitos y tablas 2026</a:t>
            </a:r>
            <a:endParaRPr lang="en-US" sz="1300" dirty="0"/>
          </a:p>
        </p:txBody>
      </p:sp>
      <p:sp>
        <p:nvSpPr>
          <p:cNvPr id="10" name="Muestra Rojo"/>
          <p:cNvSpPr/>
          <p:nvPr/>
        </p:nvSpPr>
        <p:spPr>
          <a:xfrm>
            <a:off x="548640" y="3246120"/>
            <a:ext cx="685800" cy="685800"/>
          </a:xfrm>
          <a:prstGeom prst="roundRect">
            <a:avLst>
              <a:gd name="adj" fmla="val 10667"/>
            </a:avLst>
          </a:prstGeom>
          <a:solidFill>
            <a:schemeClr val="accent3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1" name="Color Rojo"/>
          <p:cNvSpPr txBox="1"/>
          <p:nvPr/>
        </p:nvSpPr>
        <p:spPr>
          <a:xfrm>
            <a:off x="1417320" y="329184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Rojo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#B42318</a:t>
            </a:r>
            <a:endParaRPr lang="en-US" sz="1400" dirty="0"/>
          </a:p>
        </p:txBody>
      </p:sp>
      <p:sp>
        <p:nvSpPr>
          <p:cNvPr id="12" name="Uso Rojo"/>
          <p:cNvSpPr txBox="1"/>
          <p:nvPr/>
        </p:nvSpPr>
        <p:spPr>
          <a:xfrm>
            <a:off x="1417320" y="361188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Estado NO SUPERADA</a:t>
            </a:r>
            <a:endParaRPr lang="en-US" sz="1300" dirty="0"/>
          </a:p>
        </p:txBody>
      </p:sp>
      <p:sp>
        <p:nvSpPr>
          <p:cNvPr id="13" name="Muestra Amarillo / ámbar"/>
          <p:cNvSpPr/>
          <p:nvPr/>
        </p:nvSpPr>
        <p:spPr>
          <a:xfrm>
            <a:off x="548640" y="4114800"/>
            <a:ext cx="685800" cy="685800"/>
          </a:xfrm>
          <a:prstGeom prst="roundRect">
            <a:avLst>
              <a:gd name="adj" fmla="val 10667"/>
            </a:avLst>
          </a:prstGeom>
          <a:solidFill>
            <a:schemeClr val="accent4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4" name="Color Amarillo / ámbar"/>
          <p:cNvSpPr txBox="1"/>
          <p:nvPr/>
        </p:nvSpPr>
        <p:spPr>
          <a:xfrm>
            <a:off x="1417320" y="416052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Amarillo / ámbar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#D99A1E</a:t>
            </a:r>
            <a:endParaRPr lang="en-US" sz="1400" dirty="0"/>
          </a:p>
        </p:txBody>
      </p:sp>
      <p:sp>
        <p:nvSpPr>
          <p:cNvPr id="15" name="Uso Amarillo / ámbar"/>
          <p:cNvSpPr txBox="1"/>
          <p:nvPr/>
        </p:nvSpPr>
        <p:spPr>
          <a:xfrm>
            <a:off x="1417320" y="448056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PARCIALMENTE SUPERADA y reincidencias</a:t>
            </a:r>
            <a:endParaRPr lang="en-US" sz="1300" dirty="0"/>
          </a:p>
        </p:txBody>
      </p:sp>
      <p:sp>
        <p:nvSpPr>
          <p:cNvPr id="16" name="Muestra Gris azulado claro"/>
          <p:cNvSpPr/>
          <p:nvPr/>
        </p:nvSpPr>
        <p:spPr>
          <a:xfrm>
            <a:off x="548640" y="4983480"/>
            <a:ext cx="685800" cy="685800"/>
          </a:xfrm>
          <a:prstGeom prst="roundRect">
            <a:avLst>
              <a:gd name="adj" fmla="val 10667"/>
            </a:avLst>
          </a:prstGeom>
          <a:solidFill>
            <a:schemeClr val="bg2"/>
          </a:solidFill>
          <a:ln w="12700">
            <a:solidFill>
              <a:srgbClr val="D9E0EA"/>
            </a:solidFill>
            <a:prstDash val="solid"/>
          </a:ln>
        </p:spPr>
      </p:sp>
      <p:sp>
        <p:nvSpPr>
          <p:cNvPr id="17" name="Color Gris azulado claro"/>
          <p:cNvSpPr txBox="1"/>
          <p:nvPr/>
        </p:nvSpPr>
        <p:spPr>
          <a:xfrm>
            <a:off x="1417320" y="5029200"/>
            <a:ext cx="4206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chemeClr val="tx1"/>
                </a:solidFill>
              </a:rPr>
              <a:t>Gris azulado claro  </a:t>
            </a:r>
            <a:pPr indent="0" marL="0">
              <a:buNone/>
            </a:pPr>
            <a:r>
              <a:rPr lang="en-US" sz="1400" dirty="0">
                <a:solidFill>
                  <a:schemeClr val="accent5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#EEF2F8</a:t>
            </a:r>
            <a:endParaRPr lang="en-US" sz="1400" dirty="0"/>
          </a:p>
        </p:txBody>
      </p:sp>
      <p:sp>
        <p:nvSpPr>
          <p:cNvPr id="18" name="Uso Gris azulado claro"/>
          <p:cNvSpPr txBox="1"/>
          <p:nvPr/>
        </p:nvSpPr>
        <p:spPr>
          <a:xfrm>
            <a:off x="1417320" y="5349240"/>
            <a:ext cx="4206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accent5"/>
                </a:solidFill>
              </a:rPr>
              <a:t>Fondo de tarjetas</a:t>
            </a:r>
            <a:endParaRPr lang="en-US" sz="1300" dirty="0"/>
          </a:p>
        </p:txBody>
      </p:sp>
      <p:sp>
        <p:nvSpPr>
          <p:cNvPr id="19" name="Tipografía"/>
          <p:cNvSpPr/>
          <p:nvPr/>
        </p:nvSpPr>
        <p:spPr>
          <a:xfrm>
            <a:off x="6035040" y="1508760"/>
            <a:ext cx="5608015" cy="1920240"/>
          </a:xfrm>
          <a:prstGeom prst="roundRect">
            <a:avLst>
              <a:gd name="adj" fmla="val 381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0" name="Tipografía título"/>
          <p:cNvSpPr txBox="1"/>
          <p:nvPr/>
        </p:nvSpPr>
        <p:spPr>
          <a:xfrm>
            <a:off x="6263640" y="164592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Tipografía</a:t>
            </a:r>
            <a:endParaRPr lang="en-US" sz="1600" dirty="0"/>
          </a:p>
        </p:txBody>
      </p:sp>
      <p:sp>
        <p:nvSpPr>
          <p:cNvPr id="21" name="Tipografía lista"/>
          <p:cNvSpPr txBox="1"/>
          <p:nvPr/>
        </p:nvSpPr>
        <p:spPr>
          <a:xfrm>
            <a:off x="6263640" y="2011680"/>
            <a:ext cx="5150815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Títulos: Cambria Bold, 30-40 pt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Texto y tablas: Calibri, 13-16 pt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Números de nota y fechas: Courier New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Etiquetas: 11-12 pt en MAYÚSCULAS con espaciado</a:t>
            </a:r>
            <a:endParaRPr lang="en-US" sz="1400" dirty="0"/>
          </a:p>
        </p:txBody>
      </p:sp>
      <p:sp>
        <p:nvSpPr>
          <p:cNvPr id="22" name="Uso plantilla"/>
          <p:cNvSpPr/>
          <p:nvPr/>
        </p:nvSpPr>
        <p:spPr>
          <a:xfrm>
            <a:off x="6035040" y="3611880"/>
            <a:ext cx="5608015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3" name="Uso plantilla título"/>
          <p:cNvSpPr txBox="1"/>
          <p:nvPr/>
        </p:nvSpPr>
        <p:spPr>
          <a:xfrm>
            <a:off x="6263640" y="3749040"/>
            <a:ext cx="515081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chemeClr val="tx1"/>
                </a:solidFill>
              </a:rPr>
              <a:t>Cómo editar en PowerPoint</a:t>
            </a:r>
            <a:endParaRPr lang="en-US" sz="1600" dirty="0"/>
          </a:p>
        </p:txBody>
      </p:sp>
      <p:sp>
        <p:nvSpPr>
          <p:cNvPr id="24" name="Uso plantilla lista"/>
          <p:cNvSpPr txBox="1"/>
          <p:nvPr/>
        </p:nvSpPr>
        <p:spPr>
          <a:xfrm>
            <a:off x="6263640" y="4114800"/>
            <a:ext cx="5150815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Diseño &gt; Variantes &gt; Colores: el tema “SSF Gobierno Corporativo” controla toda la paleta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Vista &gt; Patrón de diapositivas: diseños PORTADA y CONTENIDO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Las secciones 1 a 4 corresponden a las 4 pestañas del dashboard</a:t>
            </a:r>
            <a:endParaRPr lang="en-US" sz="1400" dirty="0"/>
          </a:p>
          <a:p>
            <a:pPr marL="342900" indent="-342900">
              <a:spcAft>
                <a:spcPts val="400"/>
              </a:spcAft>
              <a:buSzPct val="100000"/>
              <a:buChar char="•"/>
            </a:pPr>
            <a:r>
              <a:rPr lang="en-US" sz="1400" dirty="0">
                <a:solidFill>
                  <a:schemeClr val="tx1"/>
                </a:solidFill>
              </a:rPr>
              <a:t>Para Canva o Gamma: importar este .pptx directamente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94415" y="640080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accent5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SF Gobierno Corporativo">
  <a:themeElements>
    <a:clrScheme name="SSF Gobierno Corporativo">
      <a:dk1>
        <a:srgbClr val="142033"/>
      </a:dk1>
      <a:lt1>
        <a:srgbClr val="FFFFFF"/>
      </a:lt1>
      <a:dk2>
        <a:srgbClr val="173A6E"/>
      </a:dk2>
      <a:lt2>
        <a:srgbClr val="EEF2F8"/>
      </a:lt2>
      <a:accent1>
        <a:srgbClr val="173A6E"/>
      </a:accent1>
      <a:accent2>
        <a:srgbClr val="1D7A4B"/>
      </a:accent2>
      <a:accent3>
        <a:srgbClr val="B42318"/>
      </a:accent3>
      <a:accent4>
        <a:srgbClr val="D99A1E"/>
      </a:accent4>
      <a:accent5>
        <a:srgbClr val="586579"/>
      </a:accent5>
      <a:accent6>
        <a:srgbClr val="A86410"/>
      </a:accent6>
      <a:hlink>
        <a:srgbClr val="173A6E"/>
      </a:hlink>
      <a:folHlink>
        <a:srgbClr val="586579"/>
      </a:folHlink>
    </a:clrScheme>
    <a:fontScheme name="SSF Gobierno Corporativo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Supervisiones de Gobierno Corporativo SSF a COMEDICA de R.L.</dc:title>
  <dc:subject>Resultados de visitas de supervisión 2025 y 2026</dc:subject>
  <dc:creator>COMEDICA de R.L.</dc:creator>
  <cp:lastModifiedBy>COMEDICA de R.L.</cp:lastModifiedBy>
  <cp:revision>1</cp:revision>
  <dcterms:created xsi:type="dcterms:W3CDTF">2026-10-13T16:56:49Z</dcterms:created>
  <dcterms:modified xsi:type="dcterms:W3CDTF">2026-10-13T16:56:49Z</dcterms:modified>
</cp:coreProperties>
</file>