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3d5ab828-53ea-a767-01b0-db9abe728243}">
          <p14:sldIdLst>
            <p14:sldId id="256"/>
          </p14:sldIdLst>
        </p14:section>
        <p14:section name="2 · Observaciones 2025" id="{df8d5321-8e28-4c9f-283b-5907fad14477}">
          <p14:sldIdLst>
            <p14:sldId id="257"/>
          </p14:sldIdLst>
        </p14:section>
        <p14:section name="3 · Observaciones 2026" id="{9a001d32-34a3-54fa-c898-7c4459d281fc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Circular 17003 con 9 observaciones.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Circulares de notificación SSF 2025 – 2026</a:t>
            </a:r>
            <a:endParaRPr lang="en-US" sz="3000" dirty="0"/>
          </a:p>
        </p:txBody>
      </p:sp>
      <p:sp>
        <p:nvSpPr>
          <p:cNvPr id="4" name="Separador panel 2025"/>
          <p:cNvSpPr/>
          <p:nvPr/>
        </p:nvSpPr>
        <p:spPr>
          <a:xfrm>
            <a:off x="548640" y="278892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5" name="Año panel 2025 fondo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Año panel 2025"/>
          <p:cNvSpPr txBox="1"/>
          <p:nvPr/>
        </p:nvSpPr>
        <p:spPr>
          <a:xfrm>
            <a:off x="548640" y="29535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7" name="Contorno panel 2025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8" name="Visita panel 2025"/>
          <p:cNvSpPr txBox="1"/>
          <p:nvPr/>
        </p:nvSpPr>
        <p:spPr>
          <a:xfrm>
            <a:off x="1463040" y="2953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1 · Circular 17003</a:t>
            </a:r>
            <a:endParaRPr lang="en-US" sz="1100" dirty="0"/>
          </a:p>
        </p:txBody>
      </p:sp>
      <p:sp>
        <p:nvSpPr>
          <p:cNvPr id="9" name="KPI 2025-1"/>
          <p:cNvSpPr txBox="1"/>
          <p:nvPr/>
        </p:nvSpPr>
        <p:spPr>
          <a:xfrm>
            <a:off x="548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KPI texto 2025-1"/>
          <p:cNvSpPr txBox="1"/>
          <p:nvPr/>
        </p:nvSpPr>
        <p:spPr>
          <a:xfrm>
            <a:off x="5486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1" name="KPI 2025-2"/>
          <p:cNvSpPr txBox="1"/>
          <p:nvPr/>
        </p:nvSpPr>
        <p:spPr>
          <a:xfrm>
            <a:off x="2148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12" name="KPI texto 2025-2"/>
          <p:cNvSpPr txBox="1"/>
          <p:nvPr/>
        </p:nvSpPr>
        <p:spPr>
          <a:xfrm>
            <a:off x="21488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</a:t>
            </a:r>
            <a:endParaRPr lang="en-US" sz="1100" dirty="0"/>
          </a:p>
        </p:txBody>
      </p:sp>
      <p:sp>
        <p:nvSpPr>
          <p:cNvPr id="13" name="Separador panel 2026"/>
          <p:cNvSpPr/>
          <p:nvPr/>
        </p:nvSpPr>
        <p:spPr>
          <a:xfrm>
            <a:off x="548640" y="443484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14" name="Año panel 2026 fondo"/>
          <p:cNvSpPr/>
          <p:nvPr/>
        </p:nvSpPr>
        <p:spPr>
          <a:xfrm>
            <a:off x="548640" y="459943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5" name="Año panel 2026"/>
          <p:cNvSpPr txBox="1"/>
          <p:nvPr/>
        </p:nvSpPr>
        <p:spPr>
          <a:xfrm>
            <a:off x="548640" y="45994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16" name="Visita panel 2026"/>
          <p:cNvSpPr txBox="1"/>
          <p:nvPr/>
        </p:nvSpPr>
        <p:spPr>
          <a:xfrm>
            <a:off x="1463040" y="4599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2 · Circular 22741</a:t>
            </a:r>
            <a:endParaRPr lang="en-US" sz="1100" dirty="0"/>
          </a:p>
        </p:txBody>
      </p:sp>
      <p:sp>
        <p:nvSpPr>
          <p:cNvPr id="17" name="KPI 2026-1"/>
          <p:cNvSpPr txBox="1"/>
          <p:nvPr/>
        </p:nvSpPr>
        <p:spPr>
          <a:xfrm>
            <a:off x="5486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KPI texto 2026-1"/>
          <p:cNvSpPr txBox="1"/>
          <p:nvPr/>
        </p:nvSpPr>
        <p:spPr>
          <a:xfrm>
            <a:off x="5486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9" name="KPI 2026-2"/>
          <p:cNvSpPr txBox="1"/>
          <p:nvPr/>
        </p:nvSpPr>
        <p:spPr>
          <a:xfrm>
            <a:off x="16154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20" name="KPI texto 2026-2"/>
          <p:cNvSpPr txBox="1"/>
          <p:nvPr/>
        </p:nvSpPr>
        <p:spPr>
          <a:xfrm>
            <a:off x="16154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 nuevas</a:t>
            </a:r>
            <a:endParaRPr lang="en-US" sz="1100" dirty="0"/>
          </a:p>
        </p:txBody>
      </p:sp>
      <p:sp>
        <p:nvSpPr>
          <p:cNvPr id="21" name="KPI 2026-3"/>
          <p:cNvSpPr txBox="1"/>
          <p:nvPr/>
        </p:nvSpPr>
        <p:spPr>
          <a:xfrm>
            <a:off x="26822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2" name="KPI texto 2026-3"/>
          <p:cNvSpPr txBox="1"/>
          <p:nvPr/>
        </p:nvSpPr>
        <p:spPr>
          <a:xfrm>
            <a:off x="26822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de 2025 en seguimiento</a:t>
            </a:r>
            <a:endParaRPr lang="en-US" sz="1100" dirty="0"/>
          </a:p>
        </p:txBody>
      </p:sp>
      <p:sp>
        <p:nvSpPr>
          <p:cNvPr id="23" name="Seguimiento panel"/>
          <p:cNvSpPr txBox="1"/>
          <p:nvPr/>
        </p:nvSpPr>
        <p:spPr>
          <a:xfrm>
            <a:off x="548640" y="5989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bg2"/>
                </a:solidFill>
              </a:rPr>
              <a:t>Seguimiento: obs. 3 no superada · obs. 5 parcialmente superada</a:t>
            </a:r>
            <a:endParaRPr lang="en-US" sz="1050" dirty="0"/>
          </a:p>
        </p:txBody>
      </p:sp>
      <p:sp>
        <p:nvSpPr>
          <p:cNvPr id="24" name="Año 2025"/>
          <p:cNvSpPr txBox="1"/>
          <p:nvPr/>
        </p:nvSpPr>
        <p:spPr>
          <a:xfrm>
            <a:off x="4572000" y="457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3000" dirty="0"/>
          </a:p>
        </p:txBody>
      </p:sp>
      <p:sp>
        <p:nvSpPr>
          <p:cNvPr id="25" name="Visita 2025"/>
          <p:cNvSpPr txBox="1"/>
          <p:nvPr/>
        </p:nvSpPr>
        <p:spPr>
          <a:xfrm>
            <a:off x="5806440" y="457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26" name="Tarjeta 2025-1"/>
          <p:cNvSpPr/>
          <p:nvPr/>
        </p:nvSpPr>
        <p:spPr>
          <a:xfrm>
            <a:off x="4572000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7" name="Fechas fondo 2025-1"/>
          <p:cNvSpPr/>
          <p:nvPr/>
        </p:nvSpPr>
        <p:spPr>
          <a:xfrm>
            <a:off x="4709160" y="1234440"/>
            <a:ext cx="1051560" cy="1828800"/>
          </a:xfrm>
          <a:prstGeom prst="roundRect">
            <a:avLst>
              <a:gd name="adj" fmla="val 8696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8" name="Fecha etiqueta 2025-1-0"/>
          <p:cNvSpPr txBox="1"/>
          <p:nvPr/>
        </p:nvSpPr>
        <p:spPr>
          <a:xfrm>
            <a:off x="4709160" y="13258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29" name="Fecha día 2025-1-0"/>
          <p:cNvSpPr txBox="1"/>
          <p:nvPr/>
        </p:nvSpPr>
        <p:spPr>
          <a:xfrm>
            <a:off x="4709160" y="15087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400" dirty="0"/>
          </a:p>
        </p:txBody>
      </p:sp>
      <p:sp>
        <p:nvSpPr>
          <p:cNvPr id="30" name="Fecha mes 2025-1-0"/>
          <p:cNvSpPr txBox="1"/>
          <p:nvPr/>
        </p:nvSpPr>
        <p:spPr>
          <a:xfrm>
            <a:off x="4709160" y="18928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31" name="Fecha etiqueta 2025-1-1"/>
          <p:cNvSpPr txBox="1"/>
          <p:nvPr/>
        </p:nvSpPr>
        <p:spPr>
          <a:xfrm>
            <a:off x="4709160" y="22402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32" name="Fecha día 2025-1-1"/>
          <p:cNvSpPr txBox="1"/>
          <p:nvPr/>
        </p:nvSpPr>
        <p:spPr>
          <a:xfrm>
            <a:off x="4709160" y="24231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33" name="Fecha mes 2025-1-1"/>
          <p:cNvSpPr txBox="1"/>
          <p:nvPr/>
        </p:nvSpPr>
        <p:spPr>
          <a:xfrm>
            <a:off x="4709160" y="28072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34" name="Fechas separador 2025-1"/>
          <p:cNvSpPr/>
          <p:nvPr/>
        </p:nvSpPr>
        <p:spPr>
          <a:xfrm>
            <a:off x="4892040" y="2148840"/>
            <a:ext cx="68580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35" name="Tipo 2025-1"/>
          <p:cNvSpPr txBox="1"/>
          <p:nvPr/>
        </p:nvSpPr>
        <p:spPr>
          <a:xfrm>
            <a:off x="5916168" y="1234440"/>
            <a:ext cx="1843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36" name="Circular 2025-1"/>
          <p:cNvSpPr txBox="1"/>
          <p:nvPr/>
        </p:nvSpPr>
        <p:spPr>
          <a:xfrm>
            <a:off x="5916168" y="1810512"/>
            <a:ext cx="1843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DS-SABAO-BCS-BC-9337</a:t>
            </a:r>
            <a:endParaRPr lang="en-US" sz="1100" dirty="0"/>
          </a:p>
        </p:txBody>
      </p:sp>
      <p:sp>
        <p:nvSpPr>
          <p:cNvPr id="37" name="Separador 2025-1-0"/>
          <p:cNvSpPr/>
          <p:nvPr/>
        </p:nvSpPr>
        <p:spPr>
          <a:xfrm>
            <a:off x="5916168" y="2340864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8" name="Dato 2025-1-0"/>
          <p:cNvSpPr txBox="1"/>
          <p:nvPr/>
        </p:nvSpPr>
        <p:spPr>
          <a:xfrm>
            <a:off x="5916168" y="2377440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30/04/2025</a:t>
            </a:r>
            <a:endParaRPr lang="en-US" sz="1100" dirty="0"/>
          </a:p>
        </p:txBody>
      </p:sp>
      <p:sp>
        <p:nvSpPr>
          <p:cNvPr id="39" name="Separador 2025-1-1"/>
          <p:cNvSpPr/>
          <p:nvPr/>
        </p:nvSpPr>
        <p:spPr>
          <a:xfrm>
            <a:off x="5916168" y="2706624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40" name="Dato 2025-1-1"/>
          <p:cNvSpPr txBox="1"/>
          <p:nvPr/>
        </p:nvSpPr>
        <p:spPr>
          <a:xfrm>
            <a:off x="5916168" y="2743200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Alcance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Gobierno Corporativo</a:t>
            </a:r>
            <a:endParaRPr lang="en-US" sz="1100" dirty="0"/>
          </a:p>
        </p:txBody>
      </p:sp>
      <p:sp>
        <p:nvSpPr>
          <p:cNvPr id="41" name="Tarjeta 2025-2"/>
          <p:cNvSpPr/>
          <p:nvPr/>
        </p:nvSpPr>
        <p:spPr>
          <a:xfrm>
            <a:off x="8336128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2" name="Fechas fondo 2025-2"/>
          <p:cNvSpPr/>
          <p:nvPr/>
        </p:nvSpPr>
        <p:spPr>
          <a:xfrm>
            <a:off x="8473288" y="1234440"/>
            <a:ext cx="1051560" cy="1828800"/>
          </a:xfrm>
          <a:prstGeom prst="roundRect">
            <a:avLst>
              <a:gd name="adj" fmla="val 8696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3" name="Fecha etiqueta 2025-2-0"/>
          <p:cNvSpPr txBox="1"/>
          <p:nvPr/>
        </p:nvSpPr>
        <p:spPr>
          <a:xfrm>
            <a:off x="8473288" y="13258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44" name="Fecha día 2025-2-0"/>
          <p:cNvSpPr txBox="1"/>
          <p:nvPr/>
        </p:nvSpPr>
        <p:spPr>
          <a:xfrm>
            <a:off x="8473288" y="15087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45" name="Fecha mes 2025-2-0"/>
          <p:cNvSpPr txBox="1"/>
          <p:nvPr/>
        </p:nvSpPr>
        <p:spPr>
          <a:xfrm>
            <a:off x="8473288" y="18928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46" name="Fecha etiqueta 2025-2-1"/>
          <p:cNvSpPr txBox="1"/>
          <p:nvPr/>
        </p:nvSpPr>
        <p:spPr>
          <a:xfrm>
            <a:off x="8473288" y="22402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47" name="Fecha día 2025-2-1"/>
          <p:cNvSpPr txBox="1"/>
          <p:nvPr/>
        </p:nvSpPr>
        <p:spPr>
          <a:xfrm>
            <a:off x="8473288" y="24231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400" dirty="0"/>
          </a:p>
        </p:txBody>
      </p:sp>
      <p:sp>
        <p:nvSpPr>
          <p:cNvPr id="48" name="Fecha mes 2025-2-1"/>
          <p:cNvSpPr txBox="1"/>
          <p:nvPr/>
        </p:nvSpPr>
        <p:spPr>
          <a:xfrm>
            <a:off x="8473288" y="28072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49" name="Fechas separador 2025-2"/>
          <p:cNvSpPr/>
          <p:nvPr/>
        </p:nvSpPr>
        <p:spPr>
          <a:xfrm>
            <a:off x="8656168" y="2148840"/>
            <a:ext cx="68580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50" name="Tipo 2025-2"/>
          <p:cNvSpPr txBox="1"/>
          <p:nvPr/>
        </p:nvSpPr>
        <p:spPr>
          <a:xfrm>
            <a:off x="9680296" y="1234440"/>
            <a:ext cx="1843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51" name="Circular 2025-2"/>
          <p:cNvSpPr txBox="1"/>
          <p:nvPr/>
        </p:nvSpPr>
        <p:spPr>
          <a:xfrm>
            <a:off x="9680296" y="1810512"/>
            <a:ext cx="1843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05/11/2025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DS-SABAO-BCS-BC-17003</a:t>
            </a:r>
            <a:endParaRPr lang="en-US" sz="1100" dirty="0"/>
          </a:p>
        </p:txBody>
      </p:sp>
      <p:sp>
        <p:nvSpPr>
          <p:cNvPr id="52" name="Separador 2025-2-0"/>
          <p:cNvSpPr/>
          <p:nvPr/>
        </p:nvSpPr>
        <p:spPr>
          <a:xfrm>
            <a:off x="9680296" y="2340864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3" name="Dato 2025-2-0"/>
          <p:cNvSpPr txBox="1"/>
          <p:nvPr/>
        </p:nvSpPr>
        <p:spPr>
          <a:xfrm>
            <a:off x="9680296" y="2377440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Resultado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 observaciones</a:t>
            </a:r>
            <a:endParaRPr lang="en-US" sz="1100" dirty="0"/>
          </a:p>
        </p:txBody>
      </p:sp>
      <p:sp>
        <p:nvSpPr>
          <p:cNvPr id="54" name="Separador 2025-2-1"/>
          <p:cNvSpPr/>
          <p:nvPr/>
        </p:nvSpPr>
        <p:spPr>
          <a:xfrm>
            <a:off x="9680296" y="2706624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5" name="Dato 2025-2-1"/>
          <p:cNvSpPr txBox="1"/>
          <p:nvPr/>
        </p:nvSpPr>
        <p:spPr>
          <a:xfrm>
            <a:off x="9680296" y="2743200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Ref. envío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NB07-2025-974</a:t>
            </a:r>
            <a:endParaRPr lang="en-US" sz="1100" dirty="0"/>
          </a:p>
        </p:txBody>
      </p:sp>
      <p:sp>
        <p:nvSpPr>
          <p:cNvPr id="56" name="Flecha 2025"/>
          <p:cNvSpPr/>
          <p:nvPr/>
        </p:nvSpPr>
        <p:spPr>
          <a:xfrm>
            <a:off x="7970368" y="201168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7" name="Año 2026"/>
          <p:cNvSpPr txBox="1"/>
          <p:nvPr/>
        </p:nvSpPr>
        <p:spPr>
          <a:xfrm>
            <a:off x="4572000" y="340156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58" name="Visita 2026"/>
          <p:cNvSpPr txBox="1"/>
          <p:nvPr/>
        </p:nvSpPr>
        <p:spPr>
          <a:xfrm>
            <a:off x="5806440" y="34015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59" name="Tarjeta 2026-1"/>
          <p:cNvSpPr/>
          <p:nvPr/>
        </p:nvSpPr>
        <p:spPr>
          <a:xfrm>
            <a:off x="4572000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0" name="Fechas fondo 2026-1"/>
          <p:cNvSpPr/>
          <p:nvPr/>
        </p:nvSpPr>
        <p:spPr>
          <a:xfrm>
            <a:off x="4709160" y="4178808"/>
            <a:ext cx="1051560" cy="1828800"/>
          </a:xfrm>
          <a:prstGeom prst="roundRect">
            <a:avLst>
              <a:gd name="adj" fmla="val 8696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61" name="Fecha etiqueta 2026-1-0"/>
          <p:cNvSpPr txBox="1"/>
          <p:nvPr/>
        </p:nvSpPr>
        <p:spPr>
          <a:xfrm>
            <a:off x="4709160" y="42702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62" name="Fecha día 2026-1-0"/>
          <p:cNvSpPr txBox="1"/>
          <p:nvPr/>
        </p:nvSpPr>
        <p:spPr>
          <a:xfrm>
            <a:off x="4709160" y="44531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400" dirty="0"/>
          </a:p>
        </p:txBody>
      </p:sp>
      <p:sp>
        <p:nvSpPr>
          <p:cNvPr id="63" name="Fecha mes 2026-1-0"/>
          <p:cNvSpPr txBox="1"/>
          <p:nvPr/>
        </p:nvSpPr>
        <p:spPr>
          <a:xfrm>
            <a:off x="4709160" y="48371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64" name="Fecha etiqueta 2026-1-1"/>
          <p:cNvSpPr txBox="1"/>
          <p:nvPr/>
        </p:nvSpPr>
        <p:spPr>
          <a:xfrm>
            <a:off x="4709160" y="51846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65" name="Fecha día 2026-1-1"/>
          <p:cNvSpPr txBox="1"/>
          <p:nvPr/>
        </p:nvSpPr>
        <p:spPr>
          <a:xfrm>
            <a:off x="4709160" y="5367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400" dirty="0"/>
          </a:p>
        </p:txBody>
      </p:sp>
      <p:sp>
        <p:nvSpPr>
          <p:cNvPr id="66" name="Fecha mes 2026-1-1"/>
          <p:cNvSpPr txBox="1"/>
          <p:nvPr/>
        </p:nvSpPr>
        <p:spPr>
          <a:xfrm>
            <a:off x="4709160" y="57515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7" name="Fechas separador 2026-1"/>
          <p:cNvSpPr/>
          <p:nvPr/>
        </p:nvSpPr>
        <p:spPr>
          <a:xfrm>
            <a:off x="4892040" y="5093208"/>
            <a:ext cx="68580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8" name="Tipo 2026-1"/>
          <p:cNvSpPr txBox="1"/>
          <p:nvPr/>
        </p:nvSpPr>
        <p:spPr>
          <a:xfrm>
            <a:off x="5916168" y="4178808"/>
            <a:ext cx="1843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69" name="Circular 2026-1"/>
          <p:cNvSpPr txBox="1"/>
          <p:nvPr/>
        </p:nvSpPr>
        <p:spPr>
          <a:xfrm>
            <a:off x="5916168" y="4754880"/>
            <a:ext cx="1843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SABAO-BCS-BC-18432</a:t>
            </a:r>
            <a:endParaRPr lang="en-US" sz="1100" dirty="0"/>
          </a:p>
        </p:txBody>
      </p:sp>
      <p:sp>
        <p:nvSpPr>
          <p:cNvPr id="70" name="Separador 2026-1-0"/>
          <p:cNvSpPr/>
          <p:nvPr/>
        </p:nvSpPr>
        <p:spPr>
          <a:xfrm>
            <a:off x="5916168" y="5285232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1" name="Dato 2026-1-0"/>
          <p:cNvSpPr txBox="1"/>
          <p:nvPr/>
        </p:nvSpPr>
        <p:spPr>
          <a:xfrm>
            <a:off x="5916168" y="5321808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31/07/2026</a:t>
            </a:r>
            <a:endParaRPr lang="en-US" sz="1100" dirty="0"/>
          </a:p>
        </p:txBody>
      </p:sp>
      <p:sp>
        <p:nvSpPr>
          <p:cNvPr id="72" name="Separador 2026-1-1"/>
          <p:cNvSpPr/>
          <p:nvPr/>
        </p:nvSpPr>
        <p:spPr>
          <a:xfrm>
            <a:off x="5916168" y="5650992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3" name="Dato 2026-1-1"/>
          <p:cNvSpPr txBox="1"/>
          <p:nvPr/>
        </p:nvSpPr>
        <p:spPr>
          <a:xfrm>
            <a:off x="5916168" y="5687568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Alcance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GC + seguimiento</a:t>
            </a:r>
            <a:endParaRPr lang="en-US" sz="1100" dirty="0"/>
          </a:p>
        </p:txBody>
      </p:sp>
      <p:sp>
        <p:nvSpPr>
          <p:cNvPr id="74" name="Tarjeta 2026-2"/>
          <p:cNvSpPr/>
          <p:nvPr/>
        </p:nvSpPr>
        <p:spPr>
          <a:xfrm>
            <a:off x="8336128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5" name="Fechas fondo 2026-2"/>
          <p:cNvSpPr/>
          <p:nvPr/>
        </p:nvSpPr>
        <p:spPr>
          <a:xfrm>
            <a:off x="8473288" y="4178808"/>
            <a:ext cx="1051560" cy="1828800"/>
          </a:xfrm>
          <a:prstGeom prst="roundRect">
            <a:avLst>
              <a:gd name="adj" fmla="val 8696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76" name="Fecha etiqueta 2026-2-0"/>
          <p:cNvSpPr txBox="1"/>
          <p:nvPr/>
        </p:nvSpPr>
        <p:spPr>
          <a:xfrm>
            <a:off x="8473288" y="42702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77" name="Fecha día 2026-2-0"/>
          <p:cNvSpPr txBox="1"/>
          <p:nvPr/>
        </p:nvSpPr>
        <p:spPr>
          <a:xfrm>
            <a:off x="8473288" y="44531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400" dirty="0"/>
          </a:p>
        </p:txBody>
      </p:sp>
      <p:sp>
        <p:nvSpPr>
          <p:cNvPr id="78" name="Fecha mes 2026-2-0"/>
          <p:cNvSpPr txBox="1"/>
          <p:nvPr/>
        </p:nvSpPr>
        <p:spPr>
          <a:xfrm>
            <a:off x="8473288" y="48371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79" name="Fecha etiqueta 2026-2-1"/>
          <p:cNvSpPr txBox="1"/>
          <p:nvPr/>
        </p:nvSpPr>
        <p:spPr>
          <a:xfrm>
            <a:off x="8473288" y="51846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80" name="Fecha día 2026-2-1"/>
          <p:cNvSpPr txBox="1"/>
          <p:nvPr/>
        </p:nvSpPr>
        <p:spPr>
          <a:xfrm>
            <a:off x="8473288" y="5367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400" dirty="0"/>
          </a:p>
        </p:txBody>
      </p:sp>
      <p:sp>
        <p:nvSpPr>
          <p:cNvPr id="81" name="Fecha mes 2026-2-1"/>
          <p:cNvSpPr txBox="1"/>
          <p:nvPr/>
        </p:nvSpPr>
        <p:spPr>
          <a:xfrm>
            <a:off x="8473288" y="57515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82" name="Fechas separador 2026-2"/>
          <p:cNvSpPr/>
          <p:nvPr/>
        </p:nvSpPr>
        <p:spPr>
          <a:xfrm>
            <a:off x="8656168" y="5093208"/>
            <a:ext cx="68580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3" name="Tipo 2026-2"/>
          <p:cNvSpPr txBox="1"/>
          <p:nvPr/>
        </p:nvSpPr>
        <p:spPr>
          <a:xfrm>
            <a:off x="9680296" y="4178808"/>
            <a:ext cx="1843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84" name="Circular 2026-2"/>
          <p:cNvSpPr txBox="1"/>
          <p:nvPr/>
        </p:nvSpPr>
        <p:spPr>
          <a:xfrm>
            <a:off x="9680296" y="4754880"/>
            <a:ext cx="1843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09/10/2026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DS-SABAO-BCS-BC-22741</a:t>
            </a:r>
            <a:endParaRPr lang="en-US" sz="1100" dirty="0"/>
          </a:p>
        </p:txBody>
      </p:sp>
      <p:sp>
        <p:nvSpPr>
          <p:cNvPr id="85" name="Separador 2026-2-0"/>
          <p:cNvSpPr/>
          <p:nvPr/>
        </p:nvSpPr>
        <p:spPr>
          <a:xfrm>
            <a:off x="9680296" y="5285232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86" name="Dato 2026-2-0"/>
          <p:cNvSpPr txBox="1"/>
          <p:nvPr/>
        </p:nvSpPr>
        <p:spPr>
          <a:xfrm>
            <a:off x="9680296" y="5321808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 nuevas</a:t>
            </a:r>
            <a:endParaRPr lang="en-US" sz="1100" dirty="0"/>
          </a:p>
        </p:txBody>
      </p:sp>
      <p:sp>
        <p:nvSpPr>
          <p:cNvPr id="87" name="Separador 2026-2-1"/>
          <p:cNvSpPr/>
          <p:nvPr/>
        </p:nvSpPr>
        <p:spPr>
          <a:xfrm>
            <a:off x="9680296" y="5650992"/>
            <a:ext cx="1843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88" name="Dato 2026-2-1"/>
          <p:cNvSpPr txBox="1"/>
          <p:nvPr/>
        </p:nvSpPr>
        <p:spPr>
          <a:xfrm>
            <a:off x="9680296" y="5687568"/>
            <a:ext cx="184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obs. 3 y 5 de 2025</a:t>
            </a:r>
            <a:endParaRPr lang="en-US" sz="1100" dirty="0"/>
          </a:p>
        </p:txBody>
      </p:sp>
      <p:sp>
        <p:nvSpPr>
          <p:cNvPr id="89" name="Flecha 2026"/>
          <p:cNvSpPr/>
          <p:nvPr/>
        </p:nvSpPr>
        <p:spPr>
          <a:xfrm>
            <a:off x="7970368" y="4956048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política: Comité de Riesgos y aprobación del Consejo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CA 2579 (28/04/2025): convenio sin efecto y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ADR, Auditoría Interna, G. Financiera, Seg. de la Información y G.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remitieron resoluciones y acuerdos del CA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/ Gerente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DLF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CA suspendió el Comité Sociocultural (Acta 2576, 07/04/2025)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Depto.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CA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Resp.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Resp.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CA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2026-10-13T20:42:18Z</dcterms:created>
  <dcterms:modified xsi:type="dcterms:W3CDTF">2026-10-13T20:42:18Z</dcterms:modified>
</cp:coreProperties>
</file>