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notas SSF" id="{8ece2e2f-c120-34a5-4e28-95fcdfe0e678}">
          <p14:sldIdLst>
            <p14:sldId id="256"/>
          </p14:sldIdLst>
        </p14:section>
        <p14:section name="2 · Observaciones 2025" id="{fd0e32ea-9e9e-a672-42e4-feb7fb224f4a}">
          <p14:sldIdLst>
            <p14:sldId id="257"/>
          </p14:sldIdLst>
        </p14:section>
        <p14:section name="3 · Observaciones 2026" id="{6a166e19-8089-133b-26ec-5c1bae9f9705}">
          <p14:sldIdLst>
            <p14:sldId id="258"/>
          </p14:sldIdLst>
        </p14:section>
        <p14:section name="4 · Línea de tiempo y evolución" id="{b83de5a8-c859-f69c-9859-1f36feb7d7b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comunicados oficiales. Cada año la SSF primero notifica el nombramiento de la visita ampliada y luego remite el informe de resultados preliminares. 2025: 9 observaciones. 2026: 7 nuevas (Anexo A) y 2 de seguimiento (Anexo B), de las cuales 1 no está superada y 1 está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Nota 17003. En rojo y ámbar, las que siguen abiertas en la visita 2026: comités sin ejecutivos (no superada), normativa desactualizada (parcialmente superada) y Fondo de Educación (reincide).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nuevas; plazo de 10 días hábiles desde el día hábil siguiente a la recepción para remitir pruebas de descargo, previo conocimiento del Consejo de Administración. Anexo B: dos observaciones anteriores siguen abiertas; plan de solución en 15 días hábiles con acciones, responsable, plazo por acción y certificación del punto de acta del Consejo. Fechas aproximadas sin asuetos; validar con el Sistema de Control de Envíos.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Ambas visitas siguieron el mismo ciclo: nombramiento, inicio de visita e informe preliminar, con 8 meses entre el informe de 2025 y el nuevo nombramiento. Hoy corren los plazos: 10 días hábiles para descargos del Anexo A (aprox. 23/10/2026) y 15 días hábiles para el plan de solución del Anexo B (aprox. 30/10/2026). Persisten tres temas: comités sin ejecutivos (no superada), normativa interna (parcialmente superada) y Fondo de Educación (reincide). Paleta: azul marino #173A6E 2025, verde #1D7A4B 2026, rojo #B42318 no superada, ámbar #D99A1E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de notificación SSF 2025 – 2026</a:t>
            </a:r>
            <a:endParaRPr lang="en-US" sz="3000" dirty="0"/>
          </a:p>
        </p:txBody>
      </p:sp>
      <p:sp>
        <p:nvSpPr>
          <p:cNvPr id="4" name="KPI valor 1"/>
          <p:cNvSpPr txBox="1"/>
          <p:nvPr/>
        </p:nvSpPr>
        <p:spPr>
          <a:xfrm>
            <a:off x="5486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KPI texto 1"/>
          <p:cNvSpPr txBox="1"/>
          <p:nvPr/>
        </p:nvSpPr>
        <p:spPr>
          <a:xfrm>
            <a:off x="5486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notas oficiales recibidas</a:t>
            </a:r>
            <a:endParaRPr lang="en-US" sz="1200" dirty="0"/>
          </a:p>
        </p:txBody>
      </p:sp>
      <p:sp>
        <p:nvSpPr>
          <p:cNvPr id="6" name="KPI valor 2"/>
          <p:cNvSpPr txBox="1"/>
          <p:nvPr/>
        </p:nvSpPr>
        <p:spPr>
          <a:xfrm>
            <a:off x="21488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7" name="KPI texto 2"/>
          <p:cNvSpPr txBox="1"/>
          <p:nvPr/>
        </p:nvSpPr>
        <p:spPr>
          <a:xfrm>
            <a:off x="21488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en 2025</a:t>
            </a:r>
            <a:endParaRPr lang="en-US" sz="1200" dirty="0"/>
          </a:p>
        </p:txBody>
      </p:sp>
      <p:sp>
        <p:nvSpPr>
          <p:cNvPr id="8" name="KPI valor 3"/>
          <p:cNvSpPr txBox="1"/>
          <p:nvPr/>
        </p:nvSpPr>
        <p:spPr>
          <a:xfrm>
            <a:off x="5486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+ 2</a:t>
            </a:r>
            <a:endParaRPr lang="en-US" sz="3400" dirty="0"/>
          </a:p>
        </p:txBody>
      </p:sp>
      <p:sp>
        <p:nvSpPr>
          <p:cNvPr id="9" name="KPI texto 3"/>
          <p:cNvSpPr txBox="1"/>
          <p:nvPr/>
        </p:nvSpPr>
        <p:spPr>
          <a:xfrm>
            <a:off x="5486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nuevas y de seguimiento en 2026</a:t>
            </a:r>
            <a:endParaRPr lang="en-US" sz="1200" dirty="0"/>
          </a:p>
        </p:txBody>
      </p:sp>
      <p:sp>
        <p:nvSpPr>
          <p:cNvPr id="10" name="KPI valor 4"/>
          <p:cNvSpPr txBox="1"/>
          <p:nvPr/>
        </p:nvSpPr>
        <p:spPr>
          <a:xfrm>
            <a:off x="21488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1</a:t>
            </a:r>
            <a:endParaRPr lang="en-US" sz="3400" dirty="0"/>
          </a:p>
        </p:txBody>
      </p:sp>
      <p:sp>
        <p:nvSpPr>
          <p:cNvPr id="11" name="KPI texto 4"/>
          <p:cNvSpPr txBox="1"/>
          <p:nvPr/>
        </p:nvSpPr>
        <p:spPr>
          <a:xfrm>
            <a:off x="21488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no superada · parcialmente superada</a:t>
            </a:r>
            <a:endParaRPr lang="en-US" sz="1200" dirty="0"/>
          </a:p>
        </p:txBody>
      </p:sp>
      <p:sp>
        <p:nvSpPr>
          <p:cNvPr id="12" name="Año 2025"/>
          <p:cNvSpPr txBox="1"/>
          <p:nvPr/>
        </p:nvSpPr>
        <p:spPr>
          <a:xfrm>
            <a:off x="4572000" y="5029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13" name="Visita 2025"/>
          <p:cNvSpPr txBox="1"/>
          <p:nvPr/>
        </p:nvSpPr>
        <p:spPr>
          <a:xfrm>
            <a:off x="5897880" y="502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corte 30/04/2025</a:t>
            </a:r>
            <a:endParaRPr lang="en-US" sz="1400" dirty="0"/>
          </a:p>
        </p:txBody>
      </p:sp>
      <p:sp>
        <p:nvSpPr>
          <p:cNvPr id="14" name="Tarjeta 2025-1"/>
          <p:cNvSpPr/>
          <p:nvPr/>
        </p:nvSpPr>
        <p:spPr>
          <a:xfrm>
            <a:off x="4572000" y="118872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5" name="Paso 2025-1 círculo"/>
          <p:cNvSpPr/>
          <p:nvPr/>
        </p:nvSpPr>
        <p:spPr>
          <a:xfrm>
            <a:off x="4800600" y="1417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6" name="Paso 2025-1"/>
          <p:cNvSpPr txBox="1"/>
          <p:nvPr/>
        </p:nvSpPr>
        <p:spPr>
          <a:xfrm>
            <a:off x="4800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Fecha 2025-1"/>
          <p:cNvSpPr txBox="1"/>
          <p:nvPr/>
        </p:nvSpPr>
        <p:spPr>
          <a:xfrm>
            <a:off x="5303520" y="141732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09/04/2025</a:t>
            </a:r>
            <a:endParaRPr lang="en-US" sz="1300" dirty="0"/>
          </a:p>
        </p:txBody>
      </p:sp>
      <p:sp>
        <p:nvSpPr>
          <p:cNvPr id="18" name="Tipo 2025-1"/>
          <p:cNvSpPr txBox="1"/>
          <p:nvPr/>
        </p:nvSpPr>
        <p:spPr>
          <a:xfrm>
            <a:off x="4800600" y="192024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Nombramiento de visita ampliada</a:t>
            </a:r>
            <a:endParaRPr lang="en-US" sz="1500" dirty="0"/>
          </a:p>
        </p:txBody>
      </p:sp>
      <p:sp>
        <p:nvSpPr>
          <p:cNvPr id="19" name="Nota 2025-1"/>
          <p:cNvSpPr txBox="1"/>
          <p:nvPr/>
        </p:nvSpPr>
        <p:spPr>
          <a:xfrm>
            <a:off x="4800600" y="225856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DS-SABAO-BCS-BC-9337</a:t>
            </a:r>
            <a:endParaRPr lang="en-US" sz="1200" dirty="0"/>
          </a:p>
        </p:txBody>
      </p:sp>
      <p:sp>
        <p:nvSpPr>
          <p:cNvPr id="20" name="Detalle 2025-1 fondo"/>
          <p:cNvSpPr/>
          <p:nvPr/>
        </p:nvSpPr>
        <p:spPr>
          <a:xfrm>
            <a:off x="4800600" y="265176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1" name="Detalle 2025-1"/>
          <p:cNvSpPr txBox="1"/>
          <p:nvPr/>
        </p:nvSpPr>
        <p:spPr>
          <a:xfrm>
            <a:off x="4800600" y="265176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Corte 30/04/2025 · inicio 19/05/2025</a:t>
            </a:r>
            <a:endParaRPr lang="en-US" sz="1100" dirty="0"/>
          </a:p>
        </p:txBody>
      </p:sp>
      <p:sp>
        <p:nvSpPr>
          <p:cNvPr id="22" name="Tarjeta 2025-2"/>
          <p:cNvSpPr/>
          <p:nvPr/>
        </p:nvSpPr>
        <p:spPr>
          <a:xfrm>
            <a:off x="8381848" y="118872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3" name="Paso 2025-2 círculo"/>
          <p:cNvSpPr/>
          <p:nvPr/>
        </p:nvSpPr>
        <p:spPr>
          <a:xfrm>
            <a:off x="8610448" y="1417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4" name="Paso 2025-2"/>
          <p:cNvSpPr txBox="1"/>
          <p:nvPr/>
        </p:nvSpPr>
        <p:spPr>
          <a:xfrm>
            <a:off x="86104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Fecha 2025-2"/>
          <p:cNvSpPr txBox="1"/>
          <p:nvPr/>
        </p:nvSpPr>
        <p:spPr>
          <a:xfrm>
            <a:off x="9113368" y="141732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05/11/2025</a:t>
            </a:r>
            <a:endParaRPr lang="en-US" sz="1300" dirty="0"/>
          </a:p>
        </p:txBody>
      </p:sp>
      <p:sp>
        <p:nvSpPr>
          <p:cNvPr id="26" name="Tipo 2025-2"/>
          <p:cNvSpPr txBox="1"/>
          <p:nvPr/>
        </p:nvSpPr>
        <p:spPr>
          <a:xfrm>
            <a:off x="8610448" y="192024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Informe de resultados preliminares</a:t>
            </a:r>
            <a:endParaRPr lang="en-US" sz="1500" dirty="0"/>
          </a:p>
        </p:txBody>
      </p:sp>
      <p:sp>
        <p:nvSpPr>
          <p:cNvPr id="27" name="Nota 2025-2"/>
          <p:cNvSpPr txBox="1"/>
          <p:nvPr/>
        </p:nvSpPr>
        <p:spPr>
          <a:xfrm>
            <a:off x="8610448" y="225856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DS-SABAO-BCS-BC-17003</a:t>
            </a:r>
            <a:endParaRPr lang="en-US" sz="1200" dirty="0"/>
          </a:p>
        </p:txBody>
      </p:sp>
      <p:sp>
        <p:nvSpPr>
          <p:cNvPr id="28" name="Detalle 2025-2 fondo"/>
          <p:cNvSpPr/>
          <p:nvPr/>
        </p:nvSpPr>
        <p:spPr>
          <a:xfrm>
            <a:off x="8610448" y="265176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Detalle 2025-2"/>
          <p:cNvSpPr txBox="1"/>
          <p:nvPr/>
        </p:nvSpPr>
        <p:spPr>
          <a:xfrm>
            <a:off x="8610448" y="265176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9 observaciones</a:t>
            </a:r>
            <a:endParaRPr lang="en-US" sz="1100" dirty="0"/>
          </a:p>
        </p:txBody>
      </p:sp>
      <p:sp>
        <p:nvSpPr>
          <p:cNvPr id="30" name="Flecha 2025"/>
          <p:cNvSpPr/>
          <p:nvPr/>
        </p:nvSpPr>
        <p:spPr>
          <a:xfrm>
            <a:off x="7961224" y="2025396"/>
            <a:ext cx="292608" cy="292608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Año 2026"/>
          <p:cNvSpPr txBox="1"/>
          <p:nvPr/>
        </p:nvSpPr>
        <p:spPr>
          <a:xfrm>
            <a:off x="4572000" y="34290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32" name="Visita 2026"/>
          <p:cNvSpPr txBox="1"/>
          <p:nvPr/>
        </p:nvSpPr>
        <p:spPr>
          <a:xfrm>
            <a:off x="589788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corte 31/07/2026</a:t>
            </a:r>
            <a:endParaRPr lang="en-US" sz="1400" dirty="0"/>
          </a:p>
        </p:txBody>
      </p:sp>
      <p:sp>
        <p:nvSpPr>
          <p:cNvPr id="33" name="Tarjeta 2026-1"/>
          <p:cNvSpPr/>
          <p:nvPr/>
        </p:nvSpPr>
        <p:spPr>
          <a:xfrm>
            <a:off x="4572000" y="411480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4" name="Paso 2026-1 círculo"/>
          <p:cNvSpPr/>
          <p:nvPr/>
        </p:nvSpPr>
        <p:spPr>
          <a:xfrm>
            <a:off x="4800600" y="4343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Paso 2026-1"/>
          <p:cNvSpPr txBox="1"/>
          <p:nvPr/>
        </p:nvSpPr>
        <p:spPr>
          <a:xfrm>
            <a:off x="480060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Fecha 2026-1"/>
          <p:cNvSpPr txBox="1"/>
          <p:nvPr/>
        </p:nvSpPr>
        <p:spPr>
          <a:xfrm>
            <a:off x="5303520" y="434340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31/07/2026</a:t>
            </a:r>
            <a:endParaRPr lang="en-US" sz="1300" dirty="0"/>
          </a:p>
        </p:txBody>
      </p:sp>
      <p:sp>
        <p:nvSpPr>
          <p:cNvPr id="37" name="Tipo 2026-1"/>
          <p:cNvSpPr txBox="1"/>
          <p:nvPr/>
        </p:nvSpPr>
        <p:spPr>
          <a:xfrm>
            <a:off x="4800600" y="484632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Nombramiento de visita ampliada</a:t>
            </a:r>
            <a:endParaRPr lang="en-US" sz="1500" dirty="0"/>
          </a:p>
        </p:txBody>
      </p:sp>
      <p:sp>
        <p:nvSpPr>
          <p:cNvPr id="38" name="Nota 2026-1"/>
          <p:cNvSpPr txBox="1"/>
          <p:nvPr/>
        </p:nvSpPr>
        <p:spPr>
          <a:xfrm>
            <a:off x="4800600" y="51846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SABAO-BCS-BC-18432</a:t>
            </a:r>
            <a:endParaRPr lang="en-US" sz="1200" dirty="0"/>
          </a:p>
        </p:txBody>
      </p:sp>
      <p:sp>
        <p:nvSpPr>
          <p:cNvPr id="39" name="Detalle 2026-1 fondo"/>
          <p:cNvSpPr/>
          <p:nvPr/>
        </p:nvSpPr>
        <p:spPr>
          <a:xfrm>
            <a:off x="4800600" y="557784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0" name="Detalle 2026-1"/>
          <p:cNvSpPr txBox="1"/>
          <p:nvPr/>
        </p:nvSpPr>
        <p:spPr>
          <a:xfrm>
            <a:off x="4800600" y="557784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Corte 31/07/2026 · inicio 21/08/2026</a:t>
            </a:r>
            <a:endParaRPr lang="en-US" sz="1100" dirty="0"/>
          </a:p>
        </p:txBody>
      </p:sp>
      <p:sp>
        <p:nvSpPr>
          <p:cNvPr id="41" name="Tarjeta 2026-2"/>
          <p:cNvSpPr/>
          <p:nvPr/>
        </p:nvSpPr>
        <p:spPr>
          <a:xfrm>
            <a:off x="8381848" y="411480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Paso 2026-2 círculo"/>
          <p:cNvSpPr/>
          <p:nvPr/>
        </p:nvSpPr>
        <p:spPr>
          <a:xfrm>
            <a:off x="8610448" y="4343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Paso 2026-2"/>
          <p:cNvSpPr txBox="1"/>
          <p:nvPr/>
        </p:nvSpPr>
        <p:spPr>
          <a:xfrm>
            <a:off x="8610448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Fecha 2026-2"/>
          <p:cNvSpPr txBox="1"/>
          <p:nvPr/>
        </p:nvSpPr>
        <p:spPr>
          <a:xfrm>
            <a:off x="9113368" y="434340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09/10/2026</a:t>
            </a:r>
            <a:endParaRPr lang="en-US" sz="1300" dirty="0"/>
          </a:p>
        </p:txBody>
      </p:sp>
      <p:sp>
        <p:nvSpPr>
          <p:cNvPr id="45" name="Tipo 2026-2"/>
          <p:cNvSpPr txBox="1"/>
          <p:nvPr/>
        </p:nvSpPr>
        <p:spPr>
          <a:xfrm>
            <a:off x="8610448" y="484632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Informe de resultados preliminares</a:t>
            </a:r>
            <a:endParaRPr lang="en-US" sz="1500" dirty="0"/>
          </a:p>
        </p:txBody>
      </p:sp>
      <p:sp>
        <p:nvSpPr>
          <p:cNvPr id="46" name="Nota 2026-2"/>
          <p:cNvSpPr txBox="1"/>
          <p:nvPr/>
        </p:nvSpPr>
        <p:spPr>
          <a:xfrm>
            <a:off x="8610448" y="51846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DS-SABAO-BCS-BC-22741</a:t>
            </a:r>
            <a:endParaRPr lang="en-US" sz="1200" dirty="0"/>
          </a:p>
        </p:txBody>
      </p:sp>
      <p:sp>
        <p:nvSpPr>
          <p:cNvPr id="47" name="Detalle 2026-2 fondo"/>
          <p:cNvSpPr/>
          <p:nvPr/>
        </p:nvSpPr>
        <p:spPr>
          <a:xfrm>
            <a:off x="8610448" y="557784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8" name="Detalle 2026-2"/>
          <p:cNvSpPr txBox="1"/>
          <p:nvPr/>
        </p:nvSpPr>
        <p:spPr>
          <a:xfrm>
            <a:off x="8610448" y="557784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7 nuevas + 2 de seguimiento</a:t>
            </a:r>
            <a:endParaRPr lang="en-US" sz="1100" dirty="0"/>
          </a:p>
        </p:txBody>
      </p:sp>
      <p:sp>
        <p:nvSpPr>
          <p:cNvPr id="49" name="Flecha 2026"/>
          <p:cNvSpPr/>
          <p:nvPr/>
        </p:nvSpPr>
        <p:spPr>
          <a:xfrm>
            <a:off x="7961224" y="4951476"/>
            <a:ext cx="292608" cy="29260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NOTA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6696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86416" y="777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Sigue abierta en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Gerencia General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Requerida por Art. 12 NRP-17</a:t>
            </a:r>
            <a:endParaRPr lang="en-US" sz="105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Secretaría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del Manual de Inducción</a:t>
            </a:r>
            <a:endParaRPr lang="en-US" sz="105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RRHH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Art. 3 literal h) NRP-17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3"/>
                </a:solidFill>
              </a:rPr>
              <a:t>↳ 2026: NO SUPERADA</a:t>
            </a:r>
            <a:endParaRPr lang="en-US" sz="105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Asamblea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Actualizar Reglamento y autorización de Asamblea</a:t>
            </a:r>
            <a:endParaRPr lang="en-US" sz="105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Departamento de Procesos / Líderes de Área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9 documentos vencidos (RIT, Auditoría, Riesgos, etc.)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6"/>
                </a:solidFill>
              </a:rPr>
              <a:t>↳ 2026: PARCIALMENTE SUPERADA</a:t>
            </a:r>
            <a:endParaRPr lang="en-US" sz="105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Gerencia de Créditos / Riesgos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Sin acuerdos de CA ni soporte de tasas</a:t>
            </a:r>
            <a:endParaRPr lang="en-US" sz="105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Directivos y Equipo Gerencial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Art. 9 NRP-75</a:t>
            </a:r>
            <a:endParaRPr lang="en-US" sz="105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Servicios Generales / Área Contratante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Cotizaciones sin sellar y falta de cláusula penal</a:t>
            </a:r>
            <a:endParaRPr lang="en-US" sz="105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Comité de Educación / Gerencia Financiera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Fuera del Art. 59 Ley de Cooperativas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6"/>
                </a:solidFill>
              </a:rPr>
              <a:t>↳ 2026: REINCIDE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NOTA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22960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44905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829800" y="841248"/>
            <a:ext cx="146304" cy="14630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10049256" y="777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98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713232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713232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43000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Gerencia Financiera / RRHH</a:t>
            </a:r>
            <a:endParaRPr lang="en-US" sz="1050" dirty="0"/>
          </a:p>
        </p:txBody>
      </p:sp>
      <p:sp>
        <p:nvSpPr>
          <p:cNvPr id="13" name="Título A-1"/>
          <p:cNvSpPr txBox="1"/>
          <p:nvPr/>
        </p:nvSpPr>
        <p:spPr>
          <a:xfrm>
            <a:off x="713232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Criterio A-1"/>
          <p:cNvSpPr txBox="1"/>
          <p:nvPr/>
        </p:nvSpPr>
        <p:spPr>
          <a:xfrm>
            <a:off x="713232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Art. 11 NRP-17</a:t>
            </a:r>
            <a:endParaRPr lang="en-US" sz="1050" dirty="0"/>
          </a:p>
        </p:txBody>
      </p:sp>
      <p:sp>
        <p:nvSpPr>
          <p:cNvPr id="15" name="Anexo A-2"/>
          <p:cNvSpPr/>
          <p:nvPr/>
        </p:nvSpPr>
        <p:spPr>
          <a:xfrm>
            <a:off x="3356534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521126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52112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50894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Junta de Vigilancia / Comités de Apoyo</a:t>
            </a:r>
            <a:endParaRPr lang="en-US" sz="1050" dirty="0"/>
          </a:p>
        </p:txBody>
      </p:sp>
      <p:sp>
        <p:nvSpPr>
          <p:cNvPr id="19" name="Título A-2"/>
          <p:cNvSpPr txBox="1"/>
          <p:nvPr/>
        </p:nvSpPr>
        <p:spPr>
          <a:xfrm>
            <a:off x="3521126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Criterio A-2"/>
          <p:cNvSpPr txBox="1"/>
          <p:nvPr/>
        </p:nvSpPr>
        <p:spPr>
          <a:xfrm>
            <a:off x="3521126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Código de Conducta</a:t>
            </a:r>
            <a:endParaRPr lang="en-US" sz="1050" dirty="0"/>
          </a:p>
        </p:txBody>
      </p:sp>
      <p:sp>
        <p:nvSpPr>
          <p:cNvPr id="21" name="Anexo A-3"/>
          <p:cNvSpPr/>
          <p:nvPr/>
        </p:nvSpPr>
        <p:spPr>
          <a:xfrm>
            <a:off x="6164428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329020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329020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58788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Consejo de Administración</a:t>
            </a:r>
            <a:endParaRPr lang="en-US" sz="1050" dirty="0"/>
          </a:p>
        </p:txBody>
      </p:sp>
      <p:sp>
        <p:nvSpPr>
          <p:cNvPr id="25" name="Título A-3"/>
          <p:cNvSpPr txBox="1"/>
          <p:nvPr/>
        </p:nvSpPr>
        <p:spPr>
          <a:xfrm>
            <a:off x="6329020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 por el Consejo</a:t>
            </a:r>
            <a:endParaRPr lang="en-US" sz="1150" dirty="0"/>
          </a:p>
        </p:txBody>
      </p:sp>
      <p:sp>
        <p:nvSpPr>
          <p:cNvPr id="26" name="Criterio A-3"/>
          <p:cNvSpPr txBox="1"/>
          <p:nvPr/>
        </p:nvSpPr>
        <p:spPr>
          <a:xfrm>
            <a:off x="6329020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Políticas de Retribución y Control Interno</a:t>
            </a:r>
            <a:endParaRPr lang="en-US" sz="1050" dirty="0"/>
          </a:p>
        </p:txBody>
      </p:sp>
      <p:sp>
        <p:nvSpPr>
          <p:cNvPr id="27" name="Anexo A-4"/>
          <p:cNvSpPr/>
          <p:nvPr/>
        </p:nvSpPr>
        <p:spPr>
          <a:xfrm>
            <a:off x="8972321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136913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136913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66681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Oficialía de Cumplimiento / Comunicaciones</a:t>
            </a:r>
            <a:endParaRPr lang="en-US" sz="1050" dirty="0"/>
          </a:p>
        </p:txBody>
      </p:sp>
      <p:sp>
        <p:nvSpPr>
          <p:cNvPr id="31" name="Título A-4"/>
          <p:cNvSpPr txBox="1"/>
          <p:nvPr/>
        </p:nvSpPr>
        <p:spPr>
          <a:xfrm>
            <a:off x="9136913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sitio web institucional</a:t>
            </a:r>
            <a:endParaRPr lang="en-US" sz="1150" dirty="0"/>
          </a:p>
        </p:txBody>
      </p:sp>
      <p:sp>
        <p:nvSpPr>
          <p:cNvPr id="32" name="Criterio A-4"/>
          <p:cNvSpPr txBox="1"/>
          <p:nvPr/>
        </p:nvSpPr>
        <p:spPr>
          <a:xfrm>
            <a:off x="9136913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Arts. 27 y 28 NRP-17</a:t>
            </a:r>
            <a:endParaRPr lang="en-US" sz="1050" dirty="0"/>
          </a:p>
        </p:txBody>
      </p:sp>
      <p:sp>
        <p:nvSpPr>
          <p:cNvPr id="33" name="Anexo A-5"/>
          <p:cNvSpPr/>
          <p:nvPr/>
        </p:nvSpPr>
        <p:spPr>
          <a:xfrm>
            <a:off x="548640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713232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713232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43000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Asesoría Legal / Consejo de Administración</a:t>
            </a:r>
            <a:endParaRPr lang="en-US" sz="1050" dirty="0"/>
          </a:p>
        </p:txBody>
      </p:sp>
      <p:sp>
        <p:nvSpPr>
          <p:cNvPr id="37" name="Título A-5"/>
          <p:cNvSpPr txBox="1"/>
          <p:nvPr/>
        </p:nvSpPr>
        <p:spPr>
          <a:xfrm>
            <a:off x="713232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Criterio A-5"/>
          <p:cNvSpPr txBox="1"/>
          <p:nvPr/>
        </p:nvSpPr>
        <p:spPr>
          <a:xfrm>
            <a:off x="713232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Restricción de cargos remunerados</a:t>
            </a:r>
            <a:endParaRPr lang="en-US" sz="1050" dirty="0"/>
          </a:p>
        </p:txBody>
      </p:sp>
      <p:sp>
        <p:nvSpPr>
          <p:cNvPr id="39" name="Anexo A-6"/>
          <p:cNvSpPr/>
          <p:nvPr/>
        </p:nvSpPr>
        <p:spPr>
          <a:xfrm>
            <a:off x="3356534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521126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521126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50894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Comité de Educación / Gerencia Financiera</a:t>
            </a:r>
            <a:endParaRPr lang="en-US" sz="1050" dirty="0"/>
          </a:p>
        </p:txBody>
      </p:sp>
      <p:sp>
        <p:nvSpPr>
          <p:cNvPr id="43" name="Título A-6"/>
          <p:cNvSpPr txBox="1"/>
          <p:nvPr/>
        </p:nvSpPr>
        <p:spPr>
          <a:xfrm>
            <a:off x="3521126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incluye conceptos no delimitados por Ley</a:t>
            </a:r>
            <a:endParaRPr lang="en-US" sz="1150" dirty="0"/>
          </a:p>
        </p:txBody>
      </p:sp>
      <p:sp>
        <p:nvSpPr>
          <p:cNvPr id="44" name="Criterio A-6"/>
          <p:cNvSpPr txBox="1"/>
          <p:nvPr/>
        </p:nvSpPr>
        <p:spPr>
          <a:xfrm>
            <a:off x="3521126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Art. 5 del Reglamento</a:t>
            </a:r>
            <a:endParaRPr lang="en-US" sz="1050" dirty="0"/>
          </a:p>
        </p:txBody>
      </p:sp>
      <p:sp>
        <p:nvSpPr>
          <p:cNvPr id="45" name="Anexo A-7"/>
          <p:cNvSpPr/>
          <p:nvPr/>
        </p:nvSpPr>
        <p:spPr>
          <a:xfrm>
            <a:off x="6164428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329020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32902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58788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Consejo de Administración / Comité de Educación</a:t>
            </a:r>
            <a:endParaRPr lang="en-US" sz="1050" dirty="0"/>
          </a:p>
        </p:txBody>
      </p:sp>
      <p:sp>
        <p:nvSpPr>
          <p:cNvPr id="49" name="Título A-7"/>
          <p:cNvSpPr txBox="1"/>
          <p:nvPr/>
        </p:nvSpPr>
        <p:spPr>
          <a:xfrm>
            <a:off x="6329020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Criterio A-7"/>
          <p:cNvSpPr txBox="1"/>
          <p:nvPr/>
        </p:nvSpPr>
        <p:spPr>
          <a:xfrm>
            <a:off x="6329020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$100,774.28 no detallados</a:t>
            </a:r>
            <a:endParaRPr lang="en-US" sz="1050" dirty="0"/>
          </a:p>
        </p:txBody>
      </p:sp>
      <p:sp>
        <p:nvSpPr>
          <p:cNvPr id="51" name="Plazo Anexo A"/>
          <p:cNvSpPr/>
          <p:nvPr/>
        </p:nvSpPr>
        <p:spPr>
          <a:xfrm>
            <a:off x="8972321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55201" y="33101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78161" y="33558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55201" y="4005072"/>
            <a:ext cx="235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828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OBSERVACIONES DE VISITAS ANTERIORES</a:t>
            </a:r>
            <a:endParaRPr lang="en-US" sz="1100" dirty="0"/>
          </a:p>
        </p:txBody>
      </p:sp>
      <p:sp>
        <p:nvSpPr>
          <p:cNvPr id="56" name="Anexo B-8"/>
          <p:cNvSpPr/>
          <p:nvPr/>
        </p:nvSpPr>
        <p:spPr>
          <a:xfrm>
            <a:off x="548640" y="5120640"/>
            <a:ext cx="4074681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Número B-8 círculo"/>
          <p:cNvSpPr/>
          <p:nvPr/>
        </p:nvSpPr>
        <p:spPr>
          <a:xfrm>
            <a:off x="731520" y="524865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8" name="Número B-8"/>
          <p:cNvSpPr txBox="1"/>
          <p:nvPr/>
        </p:nvSpPr>
        <p:spPr>
          <a:xfrm>
            <a:off x="731520" y="5248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59" name="Estado B-8 fondo"/>
          <p:cNvSpPr/>
          <p:nvPr/>
        </p:nvSpPr>
        <p:spPr>
          <a:xfrm>
            <a:off x="1234440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8"/>
          <p:cNvSpPr txBox="1"/>
          <p:nvPr/>
        </p:nvSpPr>
        <p:spPr>
          <a:xfrm>
            <a:off x="1234440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8"/>
          <p:cNvSpPr txBox="1"/>
          <p:nvPr/>
        </p:nvSpPr>
        <p:spPr>
          <a:xfrm>
            <a:off x="731520" y="5687568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8"/>
          <p:cNvSpPr txBox="1"/>
          <p:nvPr/>
        </p:nvSpPr>
        <p:spPr>
          <a:xfrm>
            <a:off x="731520" y="5971032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Responsable: Consejo de Administración</a:t>
            </a:r>
            <a:endParaRPr lang="en-US" sz="1050" dirty="0"/>
          </a:p>
        </p:txBody>
      </p:sp>
      <p:sp>
        <p:nvSpPr>
          <p:cNvPr id="63" name="Anexo B-9"/>
          <p:cNvSpPr/>
          <p:nvPr/>
        </p:nvSpPr>
        <p:spPr>
          <a:xfrm>
            <a:off x="4760481" y="5120640"/>
            <a:ext cx="4074681" cy="1143000"/>
          </a:xfrm>
          <a:prstGeom prst="roundRect">
            <a:avLst>
              <a:gd name="adj" fmla="val 8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4" name="Número B-9 círculo"/>
          <p:cNvSpPr/>
          <p:nvPr/>
        </p:nvSpPr>
        <p:spPr>
          <a:xfrm>
            <a:off x="4943361" y="5248656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Número B-9"/>
          <p:cNvSpPr txBox="1"/>
          <p:nvPr/>
        </p:nvSpPr>
        <p:spPr>
          <a:xfrm>
            <a:off x="4943361" y="5248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66" name="Estado B-9 fondo"/>
          <p:cNvSpPr/>
          <p:nvPr/>
        </p:nvSpPr>
        <p:spPr>
          <a:xfrm>
            <a:off x="5446281" y="52943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7" name="Estado B-9"/>
          <p:cNvSpPr txBox="1"/>
          <p:nvPr/>
        </p:nvSpPr>
        <p:spPr>
          <a:xfrm>
            <a:off x="5446281" y="52943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8" name="Título B-9"/>
          <p:cNvSpPr txBox="1"/>
          <p:nvPr/>
        </p:nvSpPr>
        <p:spPr>
          <a:xfrm>
            <a:off x="4943361" y="5687568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69" name="Responsable B-9"/>
          <p:cNvSpPr txBox="1"/>
          <p:nvPr/>
        </p:nvSpPr>
        <p:spPr>
          <a:xfrm>
            <a:off x="4943361" y="5971032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Depto. de Procesos · RIT, Comité de Auditoría, Compras</a:t>
            </a:r>
            <a:endParaRPr lang="en-US" sz="1050" dirty="0"/>
          </a:p>
        </p:txBody>
      </p:sp>
      <p:sp>
        <p:nvSpPr>
          <p:cNvPr id="70" name="Plazo Anexo B"/>
          <p:cNvSpPr/>
          <p:nvPr/>
        </p:nvSpPr>
        <p:spPr>
          <a:xfrm>
            <a:off x="8972321" y="5120640"/>
            <a:ext cx="2670734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1" name="Plazo B número"/>
          <p:cNvSpPr txBox="1"/>
          <p:nvPr/>
        </p:nvSpPr>
        <p:spPr>
          <a:xfrm>
            <a:off x="9155201" y="51389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2" name="Plazo B título"/>
          <p:cNvSpPr txBox="1"/>
          <p:nvPr/>
        </p:nvSpPr>
        <p:spPr>
          <a:xfrm>
            <a:off x="9978161" y="51846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3" name="Plazo B detalle"/>
          <p:cNvSpPr txBox="1"/>
          <p:nvPr/>
        </p:nvSpPr>
        <p:spPr>
          <a:xfrm>
            <a:off x="9155201" y="5806440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LÍNEA DE TIEMPO COMPARATIVA Y EVOLUCIÓN DEL CUMPLIMIENTO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2025 a 2026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7782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997696" y="777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2025 · Visita 1</a:t>
            </a:r>
            <a:endParaRPr lang="en-US" sz="1100" dirty="0"/>
          </a:p>
        </p:txBody>
      </p:sp>
      <p:sp>
        <p:nvSpPr>
          <p:cNvPr id="6" name="Leyenda 2026 punto"/>
          <p:cNvSpPr/>
          <p:nvPr/>
        </p:nvSpPr>
        <p:spPr>
          <a:xfrm>
            <a:off x="1014984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7" name="Leyenda 2026"/>
          <p:cNvSpPr txBox="1"/>
          <p:nvPr/>
        </p:nvSpPr>
        <p:spPr>
          <a:xfrm>
            <a:off x="10369296" y="777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· Visita 2</a:t>
            </a:r>
            <a:endParaRPr lang="en-US" sz="1100" dirty="0"/>
          </a:p>
        </p:txBody>
      </p:sp>
      <p:sp>
        <p:nvSpPr>
          <p:cNvPr id="8" name="Eje 2025"/>
          <p:cNvSpPr/>
          <p:nvPr/>
        </p:nvSpPr>
        <p:spPr>
          <a:xfrm>
            <a:off x="548640" y="2688336"/>
            <a:ext cx="4109618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9" name="Pausa entre visitas"/>
          <p:cNvSpPr/>
          <p:nvPr/>
        </p:nvSpPr>
        <p:spPr>
          <a:xfrm>
            <a:off x="4749698" y="2743200"/>
            <a:ext cx="1117549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10" name="Eje 2026"/>
          <p:cNvSpPr/>
          <p:nvPr/>
        </p:nvSpPr>
        <p:spPr>
          <a:xfrm>
            <a:off x="5958688" y="2688336"/>
            <a:ext cx="5684368" cy="1097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Pausa texto"/>
          <p:cNvSpPr txBox="1"/>
          <p:nvPr/>
        </p:nvSpPr>
        <p:spPr>
          <a:xfrm>
            <a:off x="4759833" y="282549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8 meses</a:t>
            </a:r>
            <a:endParaRPr lang="en-US" sz="1000" dirty="0"/>
          </a:p>
        </p:txBody>
      </p:sp>
      <p:sp>
        <p:nvSpPr>
          <p:cNvPr id="12" name="Conector 1"/>
          <p:cNvSpPr/>
          <p:nvPr/>
        </p:nvSpPr>
        <p:spPr>
          <a:xfrm>
            <a:off x="1371600" y="2450592"/>
            <a:ext cx="0" cy="29260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Hito 1"/>
          <p:cNvSpPr/>
          <p:nvPr/>
        </p:nvSpPr>
        <p:spPr>
          <a:xfrm>
            <a:off x="1252728" y="2624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4" name="Tarjeta hito 1"/>
          <p:cNvSpPr/>
          <p:nvPr/>
        </p:nvSpPr>
        <p:spPr>
          <a:xfrm>
            <a:off x="548640" y="1426464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5" name="Fecha hito 1"/>
          <p:cNvSpPr txBox="1"/>
          <p:nvPr/>
        </p:nvSpPr>
        <p:spPr>
          <a:xfrm>
            <a:off x="713232" y="1536192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</a:t>
            </a:r>
            <a:endParaRPr lang="en-US" sz="1200" dirty="0"/>
          </a:p>
        </p:txBody>
      </p:sp>
      <p:sp>
        <p:nvSpPr>
          <p:cNvPr id="16" name="Texto hito 1"/>
          <p:cNvSpPr txBox="1"/>
          <p:nvPr/>
        </p:nvSpPr>
        <p:spPr>
          <a:xfrm>
            <a:off x="713232" y="179222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SSF</a:t>
            </a:r>
            <a:endParaRPr lang="en-US" sz="1350" dirty="0"/>
          </a:p>
        </p:txBody>
      </p:sp>
      <p:sp>
        <p:nvSpPr>
          <p:cNvPr id="17" name="Detalle hito 1"/>
          <p:cNvSpPr txBox="1"/>
          <p:nvPr/>
        </p:nvSpPr>
        <p:spPr>
          <a:xfrm>
            <a:off x="713232" y="2093976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Nota 9337 · corte 30/04</a:t>
            </a:r>
            <a:endParaRPr lang="en-US" sz="1100" dirty="0"/>
          </a:p>
        </p:txBody>
      </p:sp>
      <p:sp>
        <p:nvSpPr>
          <p:cNvPr id="18" name="Conector 2"/>
          <p:cNvSpPr/>
          <p:nvPr/>
        </p:nvSpPr>
        <p:spPr>
          <a:xfrm>
            <a:off x="2946349" y="2743200"/>
            <a:ext cx="0" cy="29260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Hito 2"/>
          <p:cNvSpPr/>
          <p:nvPr/>
        </p:nvSpPr>
        <p:spPr>
          <a:xfrm>
            <a:off x="2827477" y="2624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20" name="Tarjeta hito 2"/>
          <p:cNvSpPr/>
          <p:nvPr/>
        </p:nvSpPr>
        <p:spPr>
          <a:xfrm>
            <a:off x="1689049" y="3035808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1" name="Fecha hito 2"/>
          <p:cNvSpPr txBox="1"/>
          <p:nvPr/>
        </p:nvSpPr>
        <p:spPr>
          <a:xfrm>
            <a:off x="1853641" y="31455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</a:t>
            </a:r>
            <a:endParaRPr lang="en-US" sz="1200" dirty="0"/>
          </a:p>
        </p:txBody>
      </p:sp>
      <p:sp>
        <p:nvSpPr>
          <p:cNvPr id="22" name="Texto hito 2"/>
          <p:cNvSpPr txBox="1"/>
          <p:nvPr/>
        </p:nvSpPr>
        <p:spPr>
          <a:xfrm>
            <a:off x="1853641" y="340156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Inicio de visita en sitio</a:t>
            </a:r>
            <a:endParaRPr lang="en-US" sz="1350" dirty="0"/>
          </a:p>
        </p:txBody>
      </p:sp>
      <p:sp>
        <p:nvSpPr>
          <p:cNvPr id="23" name="Detalle hito 2"/>
          <p:cNvSpPr txBox="1"/>
          <p:nvPr/>
        </p:nvSpPr>
        <p:spPr>
          <a:xfrm>
            <a:off x="1853641" y="3703320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Supervisión ampliada</a:t>
            </a:r>
            <a:endParaRPr lang="en-US" sz="1100" dirty="0"/>
          </a:p>
        </p:txBody>
      </p:sp>
      <p:sp>
        <p:nvSpPr>
          <p:cNvPr id="24" name="Conector 3"/>
          <p:cNvSpPr/>
          <p:nvPr/>
        </p:nvSpPr>
        <p:spPr>
          <a:xfrm>
            <a:off x="4521098" y="2450592"/>
            <a:ext cx="0" cy="29260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Hito 3"/>
          <p:cNvSpPr/>
          <p:nvPr/>
        </p:nvSpPr>
        <p:spPr>
          <a:xfrm>
            <a:off x="4402226" y="2624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26" name="Tarjeta hito 3"/>
          <p:cNvSpPr/>
          <p:nvPr/>
        </p:nvSpPr>
        <p:spPr>
          <a:xfrm>
            <a:off x="3263798" y="1426464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7" name="Fecha hito 3"/>
          <p:cNvSpPr txBox="1"/>
          <p:nvPr/>
        </p:nvSpPr>
        <p:spPr>
          <a:xfrm>
            <a:off x="3428390" y="1536192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</a:t>
            </a:r>
            <a:endParaRPr lang="en-US" sz="1200" dirty="0"/>
          </a:p>
        </p:txBody>
      </p:sp>
      <p:sp>
        <p:nvSpPr>
          <p:cNvPr id="28" name="Texto hito 3"/>
          <p:cNvSpPr txBox="1"/>
          <p:nvPr/>
        </p:nvSpPr>
        <p:spPr>
          <a:xfrm>
            <a:off x="3428390" y="179222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Informe preliminar</a:t>
            </a:r>
            <a:endParaRPr lang="en-US" sz="1350" dirty="0"/>
          </a:p>
        </p:txBody>
      </p:sp>
      <p:sp>
        <p:nvSpPr>
          <p:cNvPr id="29" name="Detalle hito 3"/>
          <p:cNvSpPr txBox="1"/>
          <p:nvPr/>
        </p:nvSpPr>
        <p:spPr>
          <a:xfrm>
            <a:off x="3428390" y="2093976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Nota 17003 · 9 observaciones</a:t>
            </a:r>
            <a:endParaRPr lang="en-US" sz="1100" dirty="0"/>
          </a:p>
        </p:txBody>
      </p:sp>
      <p:sp>
        <p:nvSpPr>
          <p:cNvPr id="30" name="Conector 4"/>
          <p:cNvSpPr/>
          <p:nvPr/>
        </p:nvSpPr>
        <p:spPr>
          <a:xfrm>
            <a:off x="6095848" y="2743200"/>
            <a:ext cx="0" cy="292608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31" name="Hito 4"/>
          <p:cNvSpPr/>
          <p:nvPr/>
        </p:nvSpPr>
        <p:spPr>
          <a:xfrm>
            <a:off x="5976976" y="2624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32" name="Tarjeta hito 4"/>
          <p:cNvSpPr/>
          <p:nvPr/>
        </p:nvSpPr>
        <p:spPr>
          <a:xfrm>
            <a:off x="4838548" y="3035808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3" name="Fecha hito 4"/>
          <p:cNvSpPr txBox="1"/>
          <p:nvPr/>
        </p:nvSpPr>
        <p:spPr>
          <a:xfrm>
            <a:off x="5003140" y="31455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</a:t>
            </a:r>
            <a:endParaRPr lang="en-US" sz="1200" dirty="0"/>
          </a:p>
        </p:txBody>
      </p:sp>
      <p:sp>
        <p:nvSpPr>
          <p:cNvPr id="34" name="Texto hito 4"/>
          <p:cNvSpPr txBox="1"/>
          <p:nvPr/>
        </p:nvSpPr>
        <p:spPr>
          <a:xfrm>
            <a:off x="5003140" y="340156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SSF</a:t>
            </a:r>
            <a:endParaRPr lang="en-US" sz="1350" dirty="0"/>
          </a:p>
        </p:txBody>
      </p:sp>
      <p:sp>
        <p:nvSpPr>
          <p:cNvPr id="35" name="Detalle hito 4"/>
          <p:cNvSpPr txBox="1"/>
          <p:nvPr/>
        </p:nvSpPr>
        <p:spPr>
          <a:xfrm>
            <a:off x="5003140" y="3703320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Nota 18432 · corte 31/07</a:t>
            </a:r>
            <a:endParaRPr lang="en-US" sz="1100" dirty="0"/>
          </a:p>
        </p:txBody>
      </p:sp>
      <p:sp>
        <p:nvSpPr>
          <p:cNvPr id="36" name="Conector 5"/>
          <p:cNvSpPr/>
          <p:nvPr/>
        </p:nvSpPr>
        <p:spPr>
          <a:xfrm>
            <a:off x="7670597" y="2450592"/>
            <a:ext cx="0" cy="292608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37" name="Hito 5"/>
          <p:cNvSpPr/>
          <p:nvPr/>
        </p:nvSpPr>
        <p:spPr>
          <a:xfrm>
            <a:off x="7551725" y="2624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38" name="Tarjeta hito 5"/>
          <p:cNvSpPr/>
          <p:nvPr/>
        </p:nvSpPr>
        <p:spPr>
          <a:xfrm>
            <a:off x="6413297" y="1426464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Fecha hito 5"/>
          <p:cNvSpPr txBox="1"/>
          <p:nvPr/>
        </p:nvSpPr>
        <p:spPr>
          <a:xfrm>
            <a:off x="6577889" y="1536192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200" dirty="0"/>
          </a:p>
        </p:txBody>
      </p:sp>
      <p:sp>
        <p:nvSpPr>
          <p:cNvPr id="40" name="Texto hito 5"/>
          <p:cNvSpPr txBox="1"/>
          <p:nvPr/>
        </p:nvSpPr>
        <p:spPr>
          <a:xfrm>
            <a:off x="6577889" y="179222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Inicio de visita ampliada</a:t>
            </a:r>
            <a:endParaRPr lang="en-US" sz="1350" dirty="0"/>
          </a:p>
        </p:txBody>
      </p:sp>
      <p:sp>
        <p:nvSpPr>
          <p:cNvPr id="41" name="Detalle hito 5"/>
          <p:cNvSpPr txBox="1"/>
          <p:nvPr/>
        </p:nvSpPr>
        <p:spPr>
          <a:xfrm>
            <a:off x="6577889" y="2093976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Supervisión ampliada</a:t>
            </a:r>
            <a:endParaRPr lang="en-US" sz="1100" dirty="0"/>
          </a:p>
        </p:txBody>
      </p:sp>
      <p:sp>
        <p:nvSpPr>
          <p:cNvPr id="42" name="Conector 6"/>
          <p:cNvSpPr/>
          <p:nvPr/>
        </p:nvSpPr>
        <p:spPr>
          <a:xfrm>
            <a:off x="9245346" y="2743200"/>
            <a:ext cx="0" cy="292608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43" name="Hito 6"/>
          <p:cNvSpPr/>
          <p:nvPr/>
        </p:nvSpPr>
        <p:spPr>
          <a:xfrm>
            <a:off x="9126474" y="2624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44" name="Tarjeta hito 6"/>
          <p:cNvSpPr/>
          <p:nvPr/>
        </p:nvSpPr>
        <p:spPr>
          <a:xfrm>
            <a:off x="7988046" y="3035808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5" name="Fecha hito 6"/>
          <p:cNvSpPr txBox="1"/>
          <p:nvPr/>
        </p:nvSpPr>
        <p:spPr>
          <a:xfrm>
            <a:off x="8152638" y="31455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</a:t>
            </a:r>
            <a:endParaRPr lang="en-US" sz="1200" dirty="0"/>
          </a:p>
        </p:txBody>
      </p:sp>
      <p:sp>
        <p:nvSpPr>
          <p:cNvPr id="46" name="Texto hito 6"/>
          <p:cNvSpPr txBox="1"/>
          <p:nvPr/>
        </p:nvSpPr>
        <p:spPr>
          <a:xfrm>
            <a:off x="8152638" y="340156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Informe preliminar</a:t>
            </a:r>
            <a:endParaRPr lang="en-US" sz="1350" dirty="0"/>
          </a:p>
        </p:txBody>
      </p:sp>
      <p:sp>
        <p:nvSpPr>
          <p:cNvPr id="47" name="Detalle hito 6"/>
          <p:cNvSpPr txBox="1"/>
          <p:nvPr/>
        </p:nvSpPr>
        <p:spPr>
          <a:xfrm>
            <a:off x="8152638" y="3703320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Nota 22741 · 7 nuevas + 2</a:t>
            </a:r>
            <a:endParaRPr lang="en-US" sz="1100" dirty="0"/>
          </a:p>
        </p:txBody>
      </p:sp>
      <p:sp>
        <p:nvSpPr>
          <p:cNvPr id="48" name="Conector 7"/>
          <p:cNvSpPr/>
          <p:nvPr/>
        </p:nvSpPr>
        <p:spPr>
          <a:xfrm>
            <a:off x="10820095" y="2450592"/>
            <a:ext cx="0" cy="292608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49" name="Halo hoy"/>
          <p:cNvSpPr/>
          <p:nvPr/>
        </p:nvSpPr>
        <p:spPr>
          <a:xfrm>
            <a:off x="10600639" y="2523744"/>
            <a:ext cx="438912" cy="438912"/>
          </a:xfrm>
          <a:prstGeom prst="ellipse">
            <a:avLst/>
          </a:prstGeom>
          <a:solidFill>
            <a:schemeClr val="accent2">
              <a:alpha val="2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0" name="Hito 7"/>
          <p:cNvSpPr/>
          <p:nvPr/>
        </p:nvSpPr>
        <p:spPr>
          <a:xfrm>
            <a:off x="10701223" y="2624328"/>
            <a:ext cx="237744" cy="237744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51" name="Tarjeta hito 7"/>
          <p:cNvSpPr/>
          <p:nvPr/>
        </p:nvSpPr>
        <p:spPr>
          <a:xfrm>
            <a:off x="9128455" y="1426464"/>
            <a:ext cx="2514600" cy="1024128"/>
          </a:xfrm>
          <a:prstGeom prst="roundRect">
            <a:avLst>
              <a:gd name="adj" fmla="val 89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Fecha hito 7"/>
          <p:cNvSpPr txBox="1"/>
          <p:nvPr/>
        </p:nvSpPr>
        <p:spPr>
          <a:xfrm>
            <a:off x="9293047" y="1536192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</a:t>
            </a:r>
            <a:endParaRPr lang="en-US" sz="1200" dirty="0"/>
          </a:p>
        </p:txBody>
      </p:sp>
      <p:sp>
        <p:nvSpPr>
          <p:cNvPr id="53" name="Texto hito 7"/>
          <p:cNvSpPr txBox="1"/>
          <p:nvPr/>
        </p:nvSpPr>
        <p:spPr>
          <a:xfrm>
            <a:off x="9293047" y="179222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Plazos de respuesta</a:t>
            </a:r>
            <a:endParaRPr lang="en-US" sz="1350" dirty="0"/>
          </a:p>
        </p:txBody>
      </p:sp>
      <p:sp>
        <p:nvSpPr>
          <p:cNvPr id="54" name="Detalle hito 7"/>
          <p:cNvSpPr txBox="1"/>
          <p:nvPr/>
        </p:nvSpPr>
        <p:spPr>
          <a:xfrm>
            <a:off x="9293047" y="2093976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Descargos 10 d.h. · Plan 15 d.h.</a:t>
            </a:r>
            <a:endParaRPr lang="en-US" sz="1100" dirty="0"/>
          </a:p>
        </p:txBody>
      </p:sp>
      <p:sp>
        <p:nvSpPr>
          <p:cNvPr id="55" name="Evolución título"/>
          <p:cNvSpPr txBox="1"/>
          <p:nvPr/>
        </p:nvSpPr>
        <p:spPr>
          <a:xfrm>
            <a:off x="548640" y="45079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EVOLUCIÓN · LO QUE PERSISTE DE 2025 A 2026</a:t>
            </a:r>
            <a:endParaRPr lang="en-US" sz="1100" dirty="0"/>
          </a:p>
        </p:txBody>
      </p:sp>
      <p:sp>
        <p:nvSpPr>
          <p:cNvPr id="56" name="Hallazgos críticos 2025"/>
          <p:cNvSpPr/>
          <p:nvPr/>
        </p:nvSpPr>
        <p:spPr>
          <a:xfrm>
            <a:off x="548640" y="4846320"/>
            <a:ext cx="2636444" cy="146304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7" name="Hallazgos título"/>
          <p:cNvSpPr txBox="1"/>
          <p:nvPr/>
        </p:nvSpPr>
        <p:spPr>
          <a:xfrm>
            <a:off x="731520" y="4974336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Hallazgos críticos 2025</a:t>
            </a:r>
            <a:endParaRPr lang="en-US" sz="1300" dirty="0"/>
          </a:p>
        </p:txBody>
      </p:sp>
      <p:sp>
        <p:nvSpPr>
          <p:cNvPr id="58" name="Hallazgos lista"/>
          <p:cNvSpPr txBox="1"/>
          <p:nvPr/>
        </p:nvSpPr>
        <p:spPr>
          <a:xfrm>
            <a:off x="731520" y="5303520"/>
            <a:ext cx="23164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Sin Política de Operaciones Vinculadas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Normativa interna desactualizada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Uso inapropiado del Fondo de Educación</a:t>
            </a:r>
            <a:endParaRPr lang="en-US" sz="1100" dirty="0"/>
          </a:p>
        </p:txBody>
      </p:sp>
      <p:sp>
        <p:nvSpPr>
          <p:cNvPr id="59" name="Evolución 1"/>
          <p:cNvSpPr/>
          <p:nvPr/>
        </p:nvSpPr>
        <p:spPr>
          <a:xfrm>
            <a:off x="3367964" y="4846320"/>
            <a:ext cx="2636444" cy="1463040"/>
          </a:xfrm>
          <a:prstGeom prst="roundRect">
            <a:avLst>
              <a:gd name="adj" fmla="val 625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volución estado 1 fondo"/>
          <p:cNvSpPr/>
          <p:nvPr/>
        </p:nvSpPr>
        <p:spPr>
          <a:xfrm>
            <a:off x="3550844" y="501091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1" name="Evolución estado 1"/>
          <p:cNvSpPr txBox="1"/>
          <p:nvPr/>
        </p:nvSpPr>
        <p:spPr>
          <a:xfrm>
            <a:off x="3550844" y="50109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2" name="Evolución tema 1"/>
          <p:cNvSpPr txBox="1"/>
          <p:nvPr/>
        </p:nvSpPr>
        <p:spPr>
          <a:xfrm>
            <a:off x="3550844" y="539496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Comités de Apoyo sin personal ejecutivo</a:t>
            </a:r>
            <a:endParaRPr lang="en-US" sz="1300" dirty="0"/>
          </a:p>
        </p:txBody>
      </p:sp>
      <p:sp>
        <p:nvSpPr>
          <p:cNvPr id="63" name="Evolución detalle 1"/>
          <p:cNvSpPr txBox="1"/>
          <p:nvPr/>
        </p:nvSpPr>
        <p:spPr>
          <a:xfrm>
            <a:off x="3550844" y="5806440"/>
            <a:ext cx="2270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2025 obs. 3 → 2026 Anexo B, obs. 8</a:t>
            </a:r>
            <a:endParaRPr lang="en-US" sz="1050" dirty="0"/>
          </a:p>
        </p:txBody>
      </p:sp>
      <p:sp>
        <p:nvSpPr>
          <p:cNvPr id="64" name="Evolución 2"/>
          <p:cNvSpPr/>
          <p:nvPr/>
        </p:nvSpPr>
        <p:spPr>
          <a:xfrm>
            <a:off x="6187288" y="4846320"/>
            <a:ext cx="2636444" cy="1463040"/>
          </a:xfrm>
          <a:prstGeom prst="roundRect">
            <a:avLst>
              <a:gd name="adj" fmla="val 62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Evolución estado 2 fondo"/>
          <p:cNvSpPr/>
          <p:nvPr/>
        </p:nvSpPr>
        <p:spPr>
          <a:xfrm>
            <a:off x="6370168" y="5010912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6" name="Evolución estado 2"/>
          <p:cNvSpPr txBox="1"/>
          <p:nvPr/>
        </p:nvSpPr>
        <p:spPr>
          <a:xfrm>
            <a:off x="6370168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7" name="Evolución tema 2"/>
          <p:cNvSpPr txBox="1"/>
          <p:nvPr/>
        </p:nvSpPr>
        <p:spPr>
          <a:xfrm>
            <a:off x="6370168" y="539496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Normativa interna desactualizada</a:t>
            </a:r>
            <a:endParaRPr lang="en-US" sz="1300" dirty="0"/>
          </a:p>
        </p:txBody>
      </p:sp>
      <p:sp>
        <p:nvSpPr>
          <p:cNvPr id="68" name="Evolución detalle 2"/>
          <p:cNvSpPr txBox="1"/>
          <p:nvPr/>
        </p:nvSpPr>
        <p:spPr>
          <a:xfrm>
            <a:off x="6370168" y="5806440"/>
            <a:ext cx="2270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2025 obs. 5 → 2026 Anexo B, obs. 9 (RIT, Auditoría, Compras)</a:t>
            </a:r>
            <a:endParaRPr lang="en-US" sz="1050" dirty="0"/>
          </a:p>
        </p:txBody>
      </p:sp>
      <p:sp>
        <p:nvSpPr>
          <p:cNvPr id="69" name="Evolución 3"/>
          <p:cNvSpPr/>
          <p:nvPr/>
        </p:nvSpPr>
        <p:spPr>
          <a:xfrm>
            <a:off x="9006611" y="4846320"/>
            <a:ext cx="2636444" cy="1463040"/>
          </a:xfrm>
          <a:prstGeom prst="roundRect">
            <a:avLst>
              <a:gd name="adj" fmla="val 62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0" name="Evolución estado 3 fondo"/>
          <p:cNvSpPr/>
          <p:nvPr/>
        </p:nvSpPr>
        <p:spPr>
          <a:xfrm>
            <a:off x="9189491" y="501091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1" name="Evolución estado 3"/>
          <p:cNvSpPr txBox="1"/>
          <p:nvPr/>
        </p:nvSpPr>
        <p:spPr>
          <a:xfrm>
            <a:off x="9189491" y="50109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REINCIDE</a:t>
            </a:r>
            <a:endParaRPr lang="en-US" sz="1050" dirty="0"/>
          </a:p>
        </p:txBody>
      </p:sp>
      <p:sp>
        <p:nvSpPr>
          <p:cNvPr id="72" name="Evolución tema 3"/>
          <p:cNvSpPr txBox="1"/>
          <p:nvPr/>
        </p:nvSpPr>
        <p:spPr>
          <a:xfrm>
            <a:off x="9189491" y="539496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Gobernanza del Fondo de Educación</a:t>
            </a:r>
            <a:endParaRPr lang="en-US" sz="1300" dirty="0"/>
          </a:p>
        </p:txBody>
      </p:sp>
      <p:sp>
        <p:nvSpPr>
          <p:cNvPr id="73" name="Evolución detalle 3"/>
          <p:cNvSpPr txBox="1"/>
          <p:nvPr/>
        </p:nvSpPr>
        <p:spPr>
          <a:xfrm>
            <a:off x="9189491" y="5806440"/>
            <a:ext cx="22706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2025 obs. 9 → 2026 Anexo A, obs. 6 y 7 ($100,774.28 sin detalle)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2026-10-13T17:09:04Z</dcterms:created>
  <dcterms:modified xsi:type="dcterms:W3CDTF">2026-10-13T17:09:04Z</dcterms:modified>
</cp:coreProperties>
</file>