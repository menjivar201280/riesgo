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e69be941-a94f-d308-442c-34a0e39c01f9}">
          <p14:sldIdLst>
            <p14:sldId id="256"/>
          </p14:sldIdLst>
        </p14:section>
        <p14:section name="2 · Observaciones 2025" id="{8942b9e4-87d0-b071-6138-fe37218b960c}">
          <p14:sldIdLst>
            <p14:sldId id="257"/>
          </p14:sldIdLst>
        </p14:section>
        <p14:section name="3 · Observaciones 2026" id="{115ce71f-e2c6-9019-d686-5aeee9903dd7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Circular 17003 con 9 observaciones. 2026: Circular 22741 con 7 observaciones nuevas (Anexo A) y seguimiento a 2 de las 9 observaciones de 2025 (Anexo B): la obs. 3 no superada y la obs. 5 parcialmente superada.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502920"/>
            <a:ext cx="3200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1143000"/>
            <a:ext cx="3200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45720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502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SUPERVISIONES DE GOBIERNO CORPORATIVO · COMEDICA DE R.L.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11430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Circulares de notificación SSF 2025 – 2026</a:t>
            </a:r>
            <a:endParaRPr lang="en-US" sz="3000" dirty="0"/>
          </a:p>
        </p:txBody>
      </p:sp>
      <p:sp>
        <p:nvSpPr>
          <p:cNvPr id="4" name="Separador panel 2025"/>
          <p:cNvSpPr/>
          <p:nvPr/>
        </p:nvSpPr>
        <p:spPr>
          <a:xfrm>
            <a:off x="548640" y="2788920"/>
            <a:ext cx="3200400" cy="0"/>
          </a:xfrm>
          <a:prstGeom prst="line">
            <a:avLst/>
          </a:prstGeom>
          <a:noFill/>
          <a:ln w="9525">
            <a:solidFill>
              <a:schemeClr val="bg2">
                <a:alpha val="40000"/>
              </a:schemeClr>
            </a:solidFill>
            <a:prstDash val="solid"/>
          </a:ln>
        </p:spPr>
      </p:sp>
      <p:sp>
        <p:nvSpPr>
          <p:cNvPr id="5" name="Año panel 2025 fondo"/>
          <p:cNvSpPr/>
          <p:nvPr/>
        </p:nvSpPr>
        <p:spPr>
          <a:xfrm>
            <a:off x="548640" y="2953512"/>
            <a:ext cx="77724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6" name="Año panel 2025"/>
          <p:cNvSpPr txBox="1"/>
          <p:nvPr/>
        </p:nvSpPr>
        <p:spPr>
          <a:xfrm>
            <a:off x="548640" y="29535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sp>
        <p:nvSpPr>
          <p:cNvPr id="7" name="Contorno panel 2025"/>
          <p:cNvSpPr/>
          <p:nvPr/>
        </p:nvSpPr>
        <p:spPr>
          <a:xfrm>
            <a:off x="548640" y="2953512"/>
            <a:ext cx="777240" cy="274320"/>
          </a:xfrm>
          <a:prstGeom prst="roundRect">
            <a:avLst>
              <a:gd name="adj" fmla="val 50000"/>
            </a:avLst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8" name="Visita panel 2025"/>
          <p:cNvSpPr txBox="1"/>
          <p:nvPr/>
        </p:nvSpPr>
        <p:spPr>
          <a:xfrm>
            <a:off x="1463040" y="29535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Visita 1 · Circular 17003</a:t>
            </a:r>
            <a:endParaRPr lang="en-US" sz="1100" dirty="0"/>
          </a:p>
        </p:txBody>
      </p:sp>
      <p:sp>
        <p:nvSpPr>
          <p:cNvPr id="9" name="KPI 2025-1"/>
          <p:cNvSpPr txBox="1"/>
          <p:nvPr/>
        </p:nvSpPr>
        <p:spPr>
          <a:xfrm>
            <a:off x="548640" y="33375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KPI texto 2025-1"/>
          <p:cNvSpPr txBox="1"/>
          <p:nvPr/>
        </p:nvSpPr>
        <p:spPr>
          <a:xfrm>
            <a:off x="548640" y="390448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circulares</a:t>
            </a:r>
            <a:endParaRPr lang="en-US" sz="1100" dirty="0"/>
          </a:p>
        </p:txBody>
      </p:sp>
      <p:sp>
        <p:nvSpPr>
          <p:cNvPr id="11" name="KPI 2025-2"/>
          <p:cNvSpPr txBox="1"/>
          <p:nvPr/>
        </p:nvSpPr>
        <p:spPr>
          <a:xfrm>
            <a:off x="2148840" y="33375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200" dirty="0"/>
          </a:p>
        </p:txBody>
      </p:sp>
      <p:sp>
        <p:nvSpPr>
          <p:cNvPr id="12" name="KPI texto 2025-2"/>
          <p:cNvSpPr txBox="1"/>
          <p:nvPr/>
        </p:nvSpPr>
        <p:spPr>
          <a:xfrm>
            <a:off x="2148840" y="390448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observaciones</a:t>
            </a:r>
            <a:endParaRPr lang="en-US" sz="1100" dirty="0"/>
          </a:p>
        </p:txBody>
      </p:sp>
      <p:sp>
        <p:nvSpPr>
          <p:cNvPr id="13" name="Separador panel 2026"/>
          <p:cNvSpPr/>
          <p:nvPr/>
        </p:nvSpPr>
        <p:spPr>
          <a:xfrm>
            <a:off x="548640" y="4434840"/>
            <a:ext cx="3200400" cy="0"/>
          </a:xfrm>
          <a:prstGeom prst="line">
            <a:avLst/>
          </a:prstGeom>
          <a:noFill/>
          <a:ln w="9525">
            <a:solidFill>
              <a:schemeClr val="bg2">
                <a:alpha val="40000"/>
              </a:schemeClr>
            </a:solidFill>
            <a:prstDash val="solid"/>
          </a:ln>
        </p:spPr>
      </p:sp>
      <p:sp>
        <p:nvSpPr>
          <p:cNvPr id="14" name="Año panel 2026 fondo"/>
          <p:cNvSpPr/>
          <p:nvPr/>
        </p:nvSpPr>
        <p:spPr>
          <a:xfrm>
            <a:off x="548640" y="4599432"/>
            <a:ext cx="77724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5" name="Año panel 2026"/>
          <p:cNvSpPr txBox="1"/>
          <p:nvPr/>
        </p:nvSpPr>
        <p:spPr>
          <a:xfrm>
            <a:off x="548640" y="45994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16" name="Visita panel 2026"/>
          <p:cNvSpPr txBox="1"/>
          <p:nvPr/>
        </p:nvSpPr>
        <p:spPr>
          <a:xfrm>
            <a:off x="1463040" y="4599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Visita 2 · Circular 22741</a:t>
            </a:r>
            <a:endParaRPr lang="en-US" sz="1100" dirty="0"/>
          </a:p>
        </p:txBody>
      </p:sp>
      <p:sp>
        <p:nvSpPr>
          <p:cNvPr id="17" name="KPI 2026-1"/>
          <p:cNvSpPr txBox="1"/>
          <p:nvPr/>
        </p:nvSpPr>
        <p:spPr>
          <a:xfrm>
            <a:off x="548640" y="4983480"/>
            <a:ext cx="97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8" name="KPI texto 2026-1"/>
          <p:cNvSpPr txBox="1"/>
          <p:nvPr/>
        </p:nvSpPr>
        <p:spPr>
          <a:xfrm>
            <a:off x="548640" y="5550408"/>
            <a:ext cx="97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circulares</a:t>
            </a:r>
            <a:endParaRPr lang="en-US" sz="1100" dirty="0"/>
          </a:p>
        </p:txBody>
      </p:sp>
      <p:sp>
        <p:nvSpPr>
          <p:cNvPr id="19" name="KPI 2026-2"/>
          <p:cNvSpPr txBox="1"/>
          <p:nvPr/>
        </p:nvSpPr>
        <p:spPr>
          <a:xfrm>
            <a:off x="1615440" y="4983480"/>
            <a:ext cx="97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20" name="KPI texto 2026-2"/>
          <p:cNvSpPr txBox="1"/>
          <p:nvPr/>
        </p:nvSpPr>
        <p:spPr>
          <a:xfrm>
            <a:off x="1615440" y="5550408"/>
            <a:ext cx="97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observaciones nuevas</a:t>
            </a:r>
            <a:endParaRPr lang="en-US" sz="1100" dirty="0"/>
          </a:p>
        </p:txBody>
      </p:sp>
      <p:sp>
        <p:nvSpPr>
          <p:cNvPr id="21" name="KPI 2026-3"/>
          <p:cNvSpPr txBox="1"/>
          <p:nvPr/>
        </p:nvSpPr>
        <p:spPr>
          <a:xfrm>
            <a:off x="2682240" y="4983480"/>
            <a:ext cx="97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22" name="KPI texto 2026-3"/>
          <p:cNvSpPr txBox="1"/>
          <p:nvPr/>
        </p:nvSpPr>
        <p:spPr>
          <a:xfrm>
            <a:off x="2682240" y="5550408"/>
            <a:ext cx="97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de 2025 en seguimiento</a:t>
            </a:r>
            <a:endParaRPr lang="en-US" sz="1100" dirty="0"/>
          </a:p>
        </p:txBody>
      </p:sp>
      <p:sp>
        <p:nvSpPr>
          <p:cNvPr id="23" name="Seguimiento panel"/>
          <p:cNvSpPr txBox="1"/>
          <p:nvPr/>
        </p:nvSpPr>
        <p:spPr>
          <a:xfrm>
            <a:off x="548640" y="5989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bg2"/>
                </a:solidFill>
              </a:rPr>
              <a:t>Seguimiento: obs. 3 no superada · obs. 5 parcialmente superada</a:t>
            </a:r>
            <a:endParaRPr lang="en-US" sz="1050" dirty="0"/>
          </a:p>
        </p:txBody>
      </p:sp>
      <p:sp>
        <p:nvSpPr>
          <p:cNvPr id="24" name="Año 2025"/>
          <p:cNvSpPr txBox="1"/>
          <p:nvPr/>
        </p:nvSpPr>
        <p:spPr>
          <a:xfrm>
            <a:off x="4572000" y="4572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3000" dirty="0"/>
          </a:p>
        </p:txBody>
      </p:sp>
      <p:sp>
        <p:nvSpPr>
          <p:cNvPr id="25" name="Visita 2025"/>
          <p:cNvSpPr txBox="1"/>
          <p:nvPr/>
        </p:nvSpPr>
        <p:spPr>
          <a:xfrm>
            <a:off x="5806440" y="4572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1 · supervisión ampliada</a:t>
            </a:r>
            <a:endParaRPr lang="en-US" sz="1400" dirty="0"/>
          </a:p>
        </p:txBody>
      </p:sp>
      <p:sp>
        <p:nvSpPr>
          <p:cNvPr id="26" name="Tarjeta 2025-1"/>
          <p:cNvSpPr/>
          <p:nvPr/>
        </p:nvSpPr>
        <p:spPr>
          <a:xfrm>
            <a:off x="4572000" y="1097280"/>
            <a:ext cx="3306928" cy="2103120"/>
          </a:xfrm>
          <a:prstGeom prst="roundRect">
            <a:avLst>
              <a:gd name="adj" fmla="val 4348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7" name="Fechas fondo 2025-1"/>
          <p:cNvSpPr/>
          <p:nvPr/>
        </p:nvSpPr>
        <p:spPr>
          <a:xfrm>
            <a:off x="4709160" y="1234440"/>
            <a:ext cx="1051560" cy="1828800"/>
          </a:xfrm>
          <a:prstGeom prst="roundRect">
            <a:avLst>
              <a:gd name="adj" fmla="val 8696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8" name="Fecha etiqueta 2025-1-0"/>
          <p:cNvSpPr txBox="1"/>
          <p:nvPr/>
        </p:nvSpPr>
        <p:spPr>
          <a:xfrm>
            <a:off x="4709160" y="132588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29" name="Fecha día 2025-1-0"/>
          <p:cNvSpPr txBox="1"/>
          <p:nvPr/>
        </p:nvSpPr>
        <p:spPr>
          <a:xfrm>
            <a:off x="4709160" y="150876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400" dirty="0"/>
          </a:p>
        </p:txBody>
      </p:sp>
      <p:sp>
        <p:nvSpPr>
          <p:cNvPr id="30" name="Fecha mes 2025-1-0"/>
          <p:cNvSpPr txBox="1"/>
          <p:nvPr/>
        </p:nvSpPr>
        <p:spPr>
          <a:xfrm>
            <a:off x="4709160" y="189280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31" name="Fecha etiqueta 2025-1-1"/>
          <p:cNvSpPr txBox="1"/>
          <p:nvPr/>
        </p:nvSpPr>
        <p:spPr>
          <a:xfrm>
            <a:off x="4709160" y="224028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INFORME</a:t>
            </a:r>
            <a:endParaRPr lang="en-US" sz="800" dirty="0"/>
          </a:p>
        </p:txBody>
      </p:sp>
      <p:sp>
        <p:nvSpPr>
          <p:cNvPr id="32" name="Fecha día 2025-1-1"/>
          <p:cNvSpPr txBox="1"/>
          <p:nvPr/>
        </p:nvSpPr>
        <p:spPr>
          <a:xfrm>
            <a:off x="4709160" y="242316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33" name="Fecha mes 2025-1-1"/>
          <p:cNvSpPr txBox="1"/>
          <p:nvPr/>
        </p:nvSpPr>
        <p:spPr>
          <a:xfrm>
            <a:off x="4709160" y="280720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34" name="Fechas separador 2025-1"/>
          <p:cNvSpPr/>
          <p:nvPr/>
        </p:nvSpPr>
        <p:spPr>
          <a:xfrm>
            <a:off x="4892040" y="2148840"/>
            <a:ext cx="685800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35" name="Tipo 2025-1"/>
          <p:cNvSpPr txBox="1"/>
          <p:nvPr/>
        </p:nvSpPr>
        <p:spPr>
          <a:xfrm>
            <a:off x="5916168" y="1234440"/>
            <a:ext cx="1843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Nombramiento de visita ampliada</a:t>
            </a:r>
            <a:endParaRPr lang="en-US" sz="1400" dirty="0"/>
          </a:p>
        </p:txBody>
      </p:sp>
      <p:sp>
        <p:nvSpPr>
          <p:cNvPr id="36" name="Circular 2025-1"/>
          <p:cNvSpPr txBox="1"/>
          <p:nvPr/>
        </p:nvSpPr>
        <p:spPr>
          <a:xfrm>
            <a:off x="5916168" y="1810512"/>
            <a:ext cx="1843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09/04/2025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DS-SABAO-BCS-BC-9337</a:t>
            </a:r>
            <a:endParaRPr lang="en-US" sz="1100" dirty="0"/>
          </a:p>
        </p:txBody>
      </p:sp>
      <p:sp>
        <p:nvSpPr>
          <p:cNvPr id="37" name="Separador 2025-1-0"/>
          <p:cNvSpPr/>
          <p:nvPr/>
        </p:nvSpPr>
        <p:spPr>
          <a:xfrm>
            <a:off x="5916168" y="2340864"/>
            <a:ext cx="1843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38" name="Dato 2025-1-0"/>
          <p:cNvSpPr txBox="1"/>
          <p:nvPr/>
        </p:nvSpPr>
        <p:spPr>
          <a:xfrm>
            <a:off x="5916168" y="2377440"/>
            <a:ext cx="1843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Corte 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30/04/2025</a:t>
            </a:r>
            <a:endParaRPr lang="en-US" sz="1100" dirty="0"/>
          </a:p>
        </p:txBody>
      </p:sp>
      <p:sp>
        <p:nvSpPr>
          <p:cNvPr id="39" name="Separador 2025-1-1"/>
          <p:cNvSpPr/>
          <p:nvPr/>
        </p:nvSpPr>
        <p:spPr>
          <a:xfrm>
            <a:off x="5916168" y="2706624"/>
            <a:ext cx="1843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40" name="Dato 2025-1-1"/>
          <p:cNvSpPr txBox="1"/>
          <p:nvPr/>
        </p:nvSpPr>
        <p:spPr>
          <a:xfrm>
            <a:off x="5916168" y="2743200"/>
            <a:ext cx="1843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Alcance 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Gobierno Corporativo</a:t>
            </a:r>
            <a:endParaRPr lang="en-US" sz="1100" dirty="0"/>
          </a:p>
        </p:txBody>
      </p:sp>
      <p:sp>
        <p:nvSpPr>
          <p:cNvPr id="41" name="Tarjeta 2025-2"/>
          <p:cNvSpPr/>
          <p:nvPr/>
        </p:nvSpPr>
        <p:spPr>
          <a:xfrm>
            <a:off x="8336128" y="1097280"/>
            <a:ext cx="3306928" cy="2103120"/>
          </a:xfrm>
          <a:prstGeom prst="roundRect">
            <a:avLst>
              <a:gd name="adj" fmla="val 4348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42" name="Fechas fondo 2025-2"/>
          <p:cNvSpPr/>
          <p:nvPr/>
        </p:nvSpPr>
        <p:spPr>
          <a:xfrm>
            <a:off x="8473288" y="1234440"/>
            <a:ext cx="1051560" cy="1828800"/>
          </a:xfrm>
          <a:prstGeom prst="roundRect">
            <a:avLst>
              <a:gd name="adj" fmla="val 8696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3" name="Fecha etiqueta 2025-2-0"/>
          <p:cNvSpPr txBox="1"/>
          <p:nvPr/>
        </p:nvSpPr>
        <p:spPr>
          <a:xfrm>
            <a:off x="8473288" y="132588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RECEPCIÓN</a:t>
            </a:r>
            <a:endParaRPr lang="en-US" sz="800" dirty="0"/>
          </a:p>
        </p:txBody>
      </p:sp>
      <p:sp>
        <p:nvSpPr>
          <p:cNvPr id="44" name="Fecha día 2025-2-0"/>
          <p:cNvSpPr txBox="1"/>
          <p:nvPr/>
        </p:nvSpPr>
        <p:spPr>
          <a:xfrm>
            <a:off x="8473288" y="150876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45" name="Fecha mes 2025-2-0"/>
          <p:cNvSpPr txBox="1"/>
          <p:nvPr/>
        </p:nvSpPr>
        <p:spPr>
          <a:xfrm>
            <a:off x="8473288" y="189280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46" name="Fecha etiqueta 2025-2-1"/>
          <p:cNvSpPr txBox="1"/>
          <p:nvPr/>
        </p:nvSpPr>
        <p:spPr>
          <a:xfrm>
            <a:off x="8473288" y="224028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DESCARGOS</a:t>
            </a:r>
            <a:endParaRPr lang="en-US" sz="800" dirty="0"/>
          </a:p>
        </p:txBody>
      </p:sp>
      <p:sp>
        <p:nvSpPr>
          <p:cNvPr id="47" name="Fecha día 2025-2-1"/>
          <p:cNvSpPr txBox="1"/>
          <p:nvPr/>
        </p:nvSpPr>
        <p:spPr>
          <a:xfrm>
            <a:off x="8473288" y="242316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400" dirty="0"/>
          </a:p>
        </p:txBody>
      </p:sp>
      <p:sp>
        <p:nvSpPr>
          <p:cNvPr id="48" name="Fecha mes 2025-2-1"/>
          <p:cNvSpPr txBox="1"/>
          <p:nvPr/>
        </p:nvSpPr>
        <p:spPr>
          <a:xfrm>
            <a:off x="8473288" y="280720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49" name="Fechas separador 2025-2"/>
          <p:cNvSpPr/>
          <p:nvPr/>
        </p:nvSpPr>
        <p:spPr>
          <a:xfrm>
            <a:off x="8656168" y="2148840"/>
            <a:ext cx="685800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50" name="Tipo 2025-2"/>
          <p:cNvSpPr txBox="1"/>
          <p:nvPr/>
        </p:nvSpPr>
        <p:spPr>
          <a:xfrm>
            <a:off x="9680296" y="1234440"/>
            <a:ext cx="1843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preliminares</a:t>
            </a:r>
            <a:endParaRPr lang="en-US" sz="1400" dirty="0"/>
          </a:p>
        </p:txBody>
      </p:sp>
      <p:sp>
        <p:nvSpPr>
          <p:cNvPr id="51" name="Circular 2025-2"/>
          <p:cNvSpPr txBox="1"/>
          <p:nvPr/>
        </p:nvSpPr>
        <p:spPr>
          <a:xfrm>
            <a:off x="9680296" y="1810512"/>
            <a:ext cx="1843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05/11/2025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DS-SABAO-BCS-BC-17003</a:t>
            </a:r>
            <a:endParaRPr lang="en-US" sz="1100" dirty="0"/>
          </a:p>
        </p:txBody>
      </p:sp>
      <p:sp>
        <p:nvSpPr>
          <p:cNvPr id="52" name="Separador 2025-2-0"/>
          <p:cNvSpPr/>
          <p:nvPr/>
        </p:nvSpPr>
        <p:spPr>
          <a:xfrm>
            <a:off x="9680296" y="2340864"/>
            <a:ext cx="1843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53" name="Dato 2025-2-0"/>
          <p:cNvSpPr txBox="1"/>
          <p:nvPr/>
        </p:nvSpPr>
        <p:spPr>
          <a:xfrm>
            <a:off x="9680296" y="2377440"/>
            <a:ext cx="1843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Resultado 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9 observaciones</a:t>
            </a:r>
            <a:endParaRPr lang="en-US" sz="1100" dirty="0"/>
          </a:p>
        </p:txBody>
      </p:sp>
      <p:sp>
        <p:nvSpPr>
          <p:cNvPr id="54" name="Separador 2025-2-1"/>
          <p:cNvSpPr/>
          <p:nvPr/>
        </p:nvSpPr>
        <p:spPr>
          <a:xfrm>
            <a:off x="9680296" y="2706624"/>
            <a:ext cx="1843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55" name="Dato 2025-2-1"/>
          <p:cNvSpPr txBox="1"/>
          <p:nvPr/>
        </p:nvSpPr>
        <p:spPr>
          <a:xfrm>
            <a:off x="9680296" y="2743200"/>
            <a:ext cx="1843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Ref. envío 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NB07-2025-974</a:t>
            </a:r>
            <a:endParaRPr lang="en-US" sz="1100" dirty="0"/>
          </a:p>
        </p:txBody>
      </p:sp>
      <p:sp>
        <p:nvSpPr>
          <p:cNvPr id="56" name="Flecha 2025"/>
          <p:cNvSpPr/>
          <p:nvPr/>
        </p:nvSpPr>
        <p:spPr>
          <a:xfrm>
            <a:off x="7970368" y="201168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7" name="Año 2026"/>
          <p:cNvSpPr txBox="1"/>
          <p:nvPr/>
        </p:nvSpPr>
        <p:spPr>
          <a:xfrm>
            <a:off x="4572000" y="3401568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3000" dirty="0"/>
          </a:p>
        </p:txBody>
      </p:sp>
      <p:sp>
        <p:nvSpPr>
          <p:cNvPr id="58" name="Visita 2026"/>
          <p:cNvSpPr txBox="1"/>
          <p:nvPr/>
        </p:nvSpPr>
        <p:spPr>
          <a:xfrm>
            <a:off x="5806440" y="340156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2 · supervisión ampliada</a:t>
            </a:r>
            <a:endParaRPr lang="en-US" sz="1400" dirty="0"/>
          </a:p>
        </p:txBody>
      </p:sp>
      <p:sp>
        <p:nvSpPr>
          <p:cNvPr id="59" name="Tarjeta 2026-1"/>
          <p:cNvSpPr/>
          <p:nvPr/>
        </p:nvSpPr>
        <p:spPr>
          <a:xfrm>
            <a:off x="4572000" y="4041648"/>
            <a:ext cx="3306928" cy="2103120"/>
          </a:xfrm>
          <a:prstGeom prst="roundRect">
            <a:avLst>
              <a:gd name="adj" fmla="val 4348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60" name="Fechas fondo 2026-1"/>
          <p:cNvSpPr/>
          <p:nvPr/>
        </p:nvSpPr>
        <p:spPr>
          <a:xfrm>
            <a:off x="4709160" y="4178808"/>
            <a:ext cx="1051560" cy="1828800"/>
          </a:xfrm>
          <a:prstGeom prst="roundRect">
            <a:avLst>
              <a:gd name="adj" fmla="val 8696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61" name="Fecha etiqueta 2026-1-0"/>
          <p:cNvSpPr txBox="1"/>
          <p:nvPr/>
        </p:nvSpPr>
        <p:spPr>
          <a:xfrm>
            <a:off x="4709160" y="4270248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62" name="Fecha día 2026-1-0"/>
          <p:cNvSpPr txBox="1"/>
          <p:nvPr/>
        </p:nvSpPr>
        <p:spPr>
          <a:xfrm>
            <a:off x="4709160" y="44531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400" dirty="0"/>
          </a:p>
        </p:txBody>
      </p:sp>
      <p:sp>
        <p:nvSpPr>
          <p:cNvPr id="63" name="Fecha mes 2026-1-0"/>
          <p:cNvSpPr txBox="1"/>
          <p:nvPr/>
        </p:nvSpPr>
        <p:spPr>
          <a:xfrm>
            <a:off x="4709160" y="483717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64" name="Fecha etiqueta 2026-1-1"/>
          <p:cNvSpPr txBox="1"/>
          <p:nvPr/>
        </p:nvSpPr>
        <p:spPr>
          <a:xfrm>
            <a:off x="4709160" y="5184648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INFORME</a:t>
            </a:r>
            <a:endParaRPr lang="en-US" sz="800" dirty="0"/>
          </a:p>
        </p:txBody>
      </p:sp>
      <p:sp>
        <p:nvSpPr>
          <p:cNvPr id="65" name="Fecha día 2026-1-1"/>
          <p:cNvSpPr txBox="1"/>
          <p:nvPr/>
        </p:nvSpPr>
        <p:spPr>
          <a:xfrm>
            <a:off x="4709160" y="5367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400" dirty="0"/>
          </a:p>
        </p:txBody>
      </p:sp>
      <p:sp>
        <p:nvSpPr>
          <p:cNvPr id="66" name="Fecha mes 2026-1-1"/>
          <p:cNvSpPr txBox="1"/>
          <p:nvPr/>
        </p:nvSpPr>
        <p:spPr>
          <a:xfrm>
            <a:off x="4709160" y="575157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67" name="Fechas separador 2026-1"/>
          <p:cNvSpPr/>
          <p:nvPr/>
        </p:nvSpPr>
        <p:spPr>
          <a:xfrm>
            <a:off x="4892040" y="5093208"/>
            <a:ext cx="685800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68" name="Tipo 2026-1"/>
          <p:cNvSpPr txBox="1"/>
          <p:nvPr/>
        </p:nvSpPr>
        <p:spPr>
          <a:xfrm>
            <a:off x="5916168" y="4178808"/>
            <a:ext cx="1843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Nombramiento de visita ampliada</a:t>
            </a:r>
            <a:endParaRPr lang="en-US" sz="1400" dirty="0"/>
          </a:p>
        </p:txBody>
      </p:sp>
      <p:sp>
        <p:nvSpPr>
          <p:cNvPr id="69" name="Circular 2026-1"/>
          <p:cNvSpPr txBox="1"/>
          <p:nvPr/>
        </p:nvSpPr>
        <p:spPr>
          <a:xfrm>
            <a:off x="5916168" y="4754880"/>
            <a:ext cx="1843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31/07/2026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SABAO-BCS-BC-18432</a:t>
            </a:r>
            <a:endParaRPr lang="en-US" sz="1100" dirty="0"/>
          </a:p>
        </p:txBody>
      </p:sp>
      <p:sp>
        <p:nvSpPr>
          <p:cNvPr id="70" name="Separador 2026-1-0"/>
          <p:cNvSpPr/>
          <p:nvPr/>
        </p:nvSpPr>
        <p:spPr>
          <a:xfrm>
            <a:off x="5916168" y="5285232"/>
            <a:ext cx="1843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71" name="Dato 2026-1-0"/>
          <p:cNvSpPr txBox="1"/>
          <p:nvPr/>
        </p:nvSpPr>
        <p:spPr>
          <a:xfrm>
            <a:off x="5916168" y="5321808"/>
            <a:ext cx="1843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Corte 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31/07/2026</a:t>
            </a:r>
            <a:endParaRPr lang="en-US" sz="1100" dirty="0"/>
          </a:p>
        </p:txBody>
      </p:sp>
      <p:sp>
        <p:nvSpPr>
          <p:cNvPr id="72" name="Separador 2026-1-1"/>
          <p:cNvSpPr/>
          <p:nvPr/>
        </p:nvSpPr>
        <p:spPr>
          <a:xfrm>
            <a:off x="5916168" y="5650992"/>
            <a:ext cx="1843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73" name="Dato 2026-1-1"/>
          <p:cNvSpPr txBox="1"/>
          <p:nvPr/>
        </p:nvSpPr>
        <p:spPr>
          <a:xfrm>
            <a:off x="5916168" y="5687568"/>
            <a:ext cx="1843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Alcance 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GC + seguimiento</a:t>
            </a:r>
            <a:endParaRPr lang="en-US" sz="1100" dirty="0"/>
          </a:p>
        </p:txBody>
      </p:sp>
      <p:sp>
        <p:nvSpPr>
          <p:cNvPr id="74" name="Tarjeta 2026-2"/>
          <p:cNvSpPr/>
          <p:nvPr/>
        </p:nvSpPr>
        <p:spPr>
          <a:xfrm>
            <a:off x="8336128" y="4041648"/>
            <a:ext cx="3306928" cy="2103120"/>
          </a:xfrm>
          <a:prstGeom prst="roundRect">
            <a:avLst>
              <a:gd name="adj" fmla="val 4348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75" name="Fechas fondo 2026-2"/>
          <p:cNvSpPr/>
          <p:nvPr/>
        </p:nvSpPr>
        <p:spPr>
          <a:xfrm>
            <a:off x="8473288" y="4178808"/>
            <a:ext cx="1051560" cy="1828800"/>
          </a:xfrm>
          <a:prstGeom prst="roundRect">
            <a:avLst>
              <a:gd name="adj" fmla="val 8696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76" name="Fecha etiqueta 2026-2-0"/>
          <p:cNvSpPr txBox="1"/>
          <p:nvPr/>
        </p:nvSpPr>
        <p:spPr>
          <a:xfrm>
            <a:off x="8473288" y="4270248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RECEPCIÓN</a:t>
            </a:r>
            <a:endParaRPr lang="en-US" sz="800" dirty="0"/>
          </a:p>
        </p:txBody>
      </p:sp>
      <p:sp>
        <p:nvSpPr>
          <p:cNvPr id="77" name="Fecha día 2026-2-0"/>
          <p:cNvSpPr txBox="1"/>
          <p:nvPr/>
        </p:nvSpPr>
        <p:spPr>
          <a:xfrm>
            <a:off x="8473288" y="44531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400" dirty="0"/>
          </a:p>
        </p:txBody>
      </p:sp>
      <p:sp>
        <p:nvSpPr>
          <p:cNvPr id="78" name="Fecha mes 2026-2-0"/>
          <p:cNvSpPr txBox="1"/>
          <p:nvPr/>
        </p:nvSpPr>
        <p:spPr>
          <a:xfrm>
            <a:off x="8473288" y="483717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79" name="Fecha etiqueta 2026-2-1"/>
          <p:cNvSpPr txBox="1"/>
          <p:nvPr/>
        </p:nvSpPr>
        <p:spPr>
          <a:xfrm>
            <a:off x="8473288" y="5184648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VENCE APROX.</a:t>
            </a:r>
            <a:endParaRPr lang="en-US" sz="800" dirty="0"/>
          </a:p>
        </p:txBody>
      </p:sp>
      <p:sp>
        <p:nvSpPr>
          <p:cNvPr id="80" name="Fecha día 2026-2-1"/>
          <p:cNvSpPr txBox="1"/>
          <p:nvPr/>
        </p:nvSpPr>
        <p:spPr>
          <a:xfrm>
            <a:off x="8473288" y="5367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400" dirty="0"/>
          </a:p>
        </p:txBody>
      </p:sp>
      <p:sp>
        <p:nvSpPr>
          <p:cNvPr id="81" name="Fecha mes 2026-2-1"/>
          <p:cNvSpPr txBox="1"/>
          <p:nvPr/>
        </p:nvSpPr>
        <p:spPr>
          <a:xfrm>
            <a:off x="8473288" y="575157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82" name="Fechas separador 2026-2"/>
          <p:cNvSpPr/>
          <p:nvPr/>
        </p:nvSpPr>
        <p:spPr>
          <a:xfrm>
            <a:off x="8656168" y="5093208"/>
            <a:ext cx="685800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83" name="Tipo 2026-2"/>
          <p:cNvSpPr txBox="1"/>
          <p:nvPr/>
        </p:nvSpPr>
        <p:spPr>
          <a:xfrm>
            <a:off x="9680296" y="4178808"/>
            <a:ext cx="1843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preliminares</a:t>
            </a:r>
            <a:endParaRPr lang="en-US" sz="1400" dirty="0"/>
          </a:p>
        </p:txBody>
      </p:sp>
      <p:sp>
        <p:nvSpPr>
          <p:cNvPr id="84" name="Circular 2026-2"/>
          <p:cNvSpPr txBox="1"/>
          <p:nvPr/>
        </p:nvSpPr>
        <p:spPr>
          <a:xfrm>
            <a:off x="9680296" y="4754880"/>
            <a:ext cx="1843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09/10/2026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DS-SABAO-BCS-BC-22741</a:t>
            </a:r>
            <a:endParaRPr lang="en-US" sz="1100" dirty="0"/>
          </a:p>
        </p:txBody>
      </p:sp>
      <p:sp>
        <p:nvSpPr>
          <p:cNvPr id="85" name="Separador 2026-2-0"/>
          <p:cNvSpPr/>
          <p:nvPr/>
        </p:nvSpPr>
        <p:spPr>
          <a:xfrm>
            <a:off x="9680296" y="5285232"/>
            <a:ext cx="1843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86" name="Dato 2026-2-0"/>
          <p:cNvSpPr txBox="1"/>
          <p:nvPr/>
        </p:nvSpPr>
        <p:spPr>
          <a:xfrm>
            <a:off x="9680296" y="5321808"/>
            <a:ext cx="1843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7 nuevas</a:t>
            </a:r>
            <a:endParaRPr lang="en-US" sz="1100" dirty="0"/>
          </a:p>
        </p:txBody>
      </p:sp>
      <p:sp>
        <p:nvSpPr>
          <p:cNvPr id="87" name="Separador 2026-2-1"/>
          <p:cNvSpPr/>
          <p:nvPr/>
        </p:nvSpPr>
        <p:spPr>
          <a:xfrm>
            <a:off x="9680296" y="5650992"/>
            <a:ext cx="1843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88" name="Dato 2026-2-1"/>
          <p:cNvSpPr txBox="1"/>
          <p:nvPr/>
        </p:nvSpPr>
        <p:spPr>
          <a:xfrm>
            <a:off x="9680296" y="5687568"/>
            <a:ext cx="1843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obs. 3 y 5 de 2025</a:t>
            </a:r>
            <a:endParaRPr lang="en-US" sz="1100" dirty="0"/>
          </a:p>
        </p:txBody>
      </p:sp>
      <p:sp>
        <p:nvSpPr>
          <p:cNvPr id="89" name="Flecha 2026"/>
          <p:cNvSpPr/>
          <p:nvPr/>
        </p:nvSpPr>
        <p:spPr>
          <a:xfrm>
            <a:off x="7970368" y="4956048"/>
            <a:ext cx="274320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9" name="Número 2025-1 círculo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0" name="Número 2025-1"/>
          <p:cNvSpPr txBox="1"/>
          <p:nvPr/>
        </p:nvSpPr>
        <p:spPr>
          <a:xfrm>
            <a:off x="7315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1234440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31520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 / Jefe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creará la política: Comité de Riesgos y aprobación del Consejo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4" name="Número 2025-2 círculo"/>
          <p:cNvSpPr/>
          <p:nvPr/>
        </p:nvSpPr>
        <p:spPr>
          <a:xfrm>
            <a:off x="4475378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Número 2025-2"/>
          <p:cNvSpPr txBox="1"/>
          <p:nvPr/>
        </p:nvSpPr>
        <p:spPr>
          <a:xfrm>
            <a:off x="447537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978298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Sin evidencia de firma de confidencialidad ni fechas de inducción en actas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75378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 / Jefe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Acta CA 2579 (28/04/2025): convenio sin efecto y fechas de inducción aprobadas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9" name="Número 2025-3 círculo"/>
          <p:cNvSpPr/>
          <p:nvPr/>
        </p:nvSpPr>
        <p:spPr>
          <a:xfrm>
            <a:off x="8219237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20" name="Número 2025-3"/>
          <p:cNvSpPr txBox="1"/>
          <p:nvPr/>
        </p:nvSpPr>
        <p:spPr>
          <a:xfrm>
            <a:off x="821923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722157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19237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 / Jefe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4" name="Número 2025-4 círculo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5" name="Número 2025-4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1234440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Inconsistencia en pago de dietas (Reglamento vs. Asamblea General)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31520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actualizará el Reglamento de Compensaciones Económicas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9" name="Número 2025-5 círculo"/>
          <p:cNvSpPr/>
          <p:nvPr/>
        </p:nvSpPr>
        <p:spPr>
          <a:xfrm>
            <a:off x="4475378" y="32461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30" name="Número 2025-5"/>
          <p:cNvSpPr txBox="1"/>
          <p:nvPr/>
        </p:nvSpPr>
        <p:spPr>
          <a:xfrm>
            <a:off x="4475378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978298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 (más de 2 años sin revisión)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75378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ADR, Auditoría Interna, G. Financiera, Seg. de la Información y G. Administrativa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3 de 9 documentos actualizados; el resto en proceso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2025-6 círculo"/>
          <p:cNvSpPr/>
          <p:nvPr/>
        </p:nvSpPr>
        <p:spPr>
          <a:xfrm>
            <a:off x="8219237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5" name="Número 2025-6"/>
          <p:cNvSpPr txBox="1"/>
          <p:nvPr/>
        </p:nvSpPr>
        <p:spPr>
          <a:xfrm>
            <a:off x="8219237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722157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soporte en expedientes de créditos de Ferias de Crédito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19237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Negocios / Administración de Cartera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remitieron resoluciones y acuerdos del CA de cada feria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9" name="Número 2025-7 círculo"/>
          <p:cNvSpPr/>
          <p:nvPr/>
        </p:nvSpPr>
        <p:spPr>
          <a:xfrm>
            <a:off x="731520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0" name="Número 2025-7"/>
          <p:cNvSpPr txBox="1"/>
          <p:nvPr/>
        </p:nvSpPr>
        <p:spPr>
          <a:xfrm>
            <a:off x="7315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1234440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información obligatoria en declaración jurada de personas relacionadas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31520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 / Jefe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pidió a la SSF el detalle de las personas señaladas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4" name="Número 2025-8 círculo"/>
          <p:cNvSpPr/>
          <p:nvPr/>
        </p:nvSpPr>
        <p:spPr>
          <a:xfrm>
            <a:off x="4475378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5" name="Número 2025-8"/>
          <p:cNvSpPr txBox="1"/>
          <p:nvPr/>
        </p:nvSpPr>
        <p:spPr>
          <a:xfrm>
            <a:off x="4475378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978298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Omisiones en procedimientos del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75378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/ Gerente Administrativa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Firmas de Mercadeo y Gerencia General; contrato DLF terminado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9" name="Número 2025-9 círculo"/>
          <p:cNvSpPr/>
          <p:nvPr/>
        </p:nvSpPr>
        <p:spPr>
          <a:xfrm>
            <a:off x="8219237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0" name="Número 2025-9"/>
          <p:cNvSpPr txBox="1"/>
          <p:nvPr/>
        </p:nvSpPr>
        <p:spPr>
          <a:xfrm>
            <a:off x="8219237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722157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Uso del Fondo de Educación en fines distintos a los legales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19237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CA suspendió el Comité Sociocultural (Acta 2576, 07/04/2025)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inducción sobre partidas relevantes de EEFF a nuevos miembros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Certificación de Lectura del Código de Conducta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Depto.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formalización y aprobación de políticas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Se elaborará la Política de Retribución para aprobación del CA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Información de comités desactualizada en el sitio web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Incongruencia entre Estatutos y Código de Gobierno Corporativo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Resp.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Reglamento del Fondo de Educación con conceptos no delimitados por Ley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Resp.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Limitada transparencia a la Asamblea sobre 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Memoria de Labores 2026 con conceptos y montos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CA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COMEDICA de R.L.</cp:lastModifiedBy>
  <cp:revision>1</cp:revision>
  <dcterms:created xsi:type="dcterms:W3CDTF">2026-10-13T20:26:21Z</dcterms:created>
  <dcterms:modified xsi:type="dcterms:W3CDTF">2026-10-13T20:26:21Z</dcterms:modified>
</cp:coreProperties>
</file>