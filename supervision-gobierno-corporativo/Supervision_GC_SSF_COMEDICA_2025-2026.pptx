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9c9cef2f-96c7-da3e-9de2-93f489c33286}">
          <p14:sldIdLst>
            <p14:sldId id="256"/>
          </p14:sldIdLst>
        </p14:section>
        <p14:section name="2 · Observaciones 2025" id="{2cd61f1b-0b52-671a-8a9b-6f782ce87562}">
          <p14:sldIdLst>
            <p14:sldId id="257"/>
          </p14:sldIdLst>
        </p14:section>
        <p14:section name="3 · Observaciones 2026" id="{c593cf52-04da-3b88-9970-b33b87bbea4d}">
          <p14:sldIdLst>
            <p14:sldId id="258"/>
          </p14:sldIdLst>
        </p14:section>
        <p14:section name="4 · Línea de tiempo y evolución" id="{d63d6be1-b406-d975-6c3e-5cf951955212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Circular 17003 con 9 observaciones. 2026: Circular 22741 con 7 observaciones nuevas (Anexo A) y seguimiento a 2 de las 9 observaciones de 2025 (Anexo B): la obs. 3 no superada y la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Los responsables son los órganos y cargos que señala la propia circular. En rojo y ámbar, las 2 observaciones a las que la SSF dio seguimiento en la visita 2026 (Anexo B): obs. 3 (no superada) y obs. 5 (parcialmente superada).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nuevas; los responsables son los que señala la Circular 22741 (en la obs. 4 la circular no asigna un área específica). Plazo de 10 días hábiles para remitir pruebas de descargo, previo conocimiento del Consejo de Administración. Anexo B: no son observaciones nuevas, es el seguimiento a las obs. 3 y 5 de 2025; plan de solución en 15 días hábiles con acciones, responsable, plazo por acción y certificación del punto de acta del Consejo. Fechas aproximadas sin asuetos.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línea de tiempo se lee de arriba hacia abajo, de lo más reciente a lo más antiguo. Hoy corren los plazos: 10 días hábiles para descargos del Anexo A (aprox. 23/10/2026) y 15 días hábiles para el plan de solución del Anexo B (aprox. 30/10/2026). 2026: nombramiento 31/07, inicio 21/08 e informe preliminar 09/10 con 7 observaciones nuevas y seguimiento a las obs. 3 y 5 de 2025. 2025: nombramiento 09/04, inicio 19/05 e informe preliminar 05/11 con 9 observaciones. Seguimiento: obs. 3 no superada; obs. 5 parcialmente superada. El Fondo de Educación vuelve como tema, pero con observaciones nuevas.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5720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SUPERVISIONES DE GOBIERNO CORPORATIVO · COMEDICA DE R.L.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Circulares de notificación SSF 2025 – 2026</a:t>
            </a:r>
            <a:endParaRPr lang="en-US" sz="3000" dirty="0"/>
          </a:p>
        </p:txBody>
      </p:sp>
      <p:sp>
        <p:nvSpPr>
          <p:cNvPr id="4" name="KPI valor 1"/>
          <p:cNvSpPr txBox="1"/>
          <p:nvPr/>
        </p:nvSpPr>
        <p:spPr>
          <a:xfrm>
            <a:off x="548640" y="31546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5" name="KPI texto 1"/>
          <p:cNvSpPr txBox="1"/>
          <p:nvPr/>
        </p:nvSpPr>
        <p:spPr>
          <a:xfrm>
            <a:off x="548640" y="37947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circulares recibidas de la SSF</a:t>
            </a:r>
            <a:endParaRPr lang="en-US" sz="1200" dirty="0"/>
          </a:p>
        </p:txBody>
      </p:sp>
      <p:sp>
        <p:nvSpPr>
          <p:cNvPr id="6" name="KPI valor 2"/>
          <p:cNvSpPr txBox="1"/>
          <p:nvPr/>
        </p:nvSpPr>
        <p:spPr>
          <a:xfrm>
            <a:off x="2148840" y="31546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7" name="KPI texto 2"/>
          <p:cNvSpPr txBox="1"/>
          <p:nvPr/>
        </p:nvSpPr>
        <p:spPr>
          <a:xfrm>
            <a:off x="2148840" y="37947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observaciones en 2025</a:t>
            </a:r>
            <a:endParaRPr lang="en-US" sz="1200" dirty="0"/>
          </a:p>
        </p:txBody>
      </p:sp>
      <p:sp>
        <p:nvSpPr>
          <p:cNvPr id="8" name="KPI valor 3"/>
          <p:cNvSpPr txBox="1"/>
          <p:nvPr/>
        </p:nvSpPr>
        <p:spPr>
          <a:xfrm>
            <a:off x="548640" y="4572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9" name="KPI texto 3"/>
          <p:cNvSpPr txBox="1"/>
          <p:nvPr/>
        </p:nvSpPr>
        <p:spPr>
          <a:xfrm>
            <a:off x="548640" y="5212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observaciones nuevas en 2026</a:t>
            </a:r>
            <a:endParaRPr lang="en-US" sz="1200" dirty="0"/>
          </a:p>
        </p:txBody>
      </p:sp>
      <p:sp>
        <p:nvSpPr>
          <p:cNvPr id="10" name="KPI valor 4"/>
          <p:cNvSpPr txBox="1"/>
          <p:nvPr/>
        </p:nvSpPr>
        <p:spPr>
          <a:xfrm>
            <a:off x="2148840" y="4572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KPI texto 4"/>
          <p:cNvSpPr txBox="1"/>
          <p:nvPr/>
        </p:nvSpPr>
        <p:spPr>
          <a:xfrm>
            <a:off x="2148840" y="5212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de 2025 en seguimiento: 1 no superada, 1 parcial</a:t>
            </a:r>
            <a:endParaRPr lang="en-US" sz="1200" dirty="0"/>
          </a:p>
        </p:txBody>
      </p:sp>
      <p:sp>
        <p:nvSpPr>
          <p:cNvPr id="12" name="Año 2025"/>
          <p:cNvSpPr txBox="1"/>
          <p:nvPr/>
        </p:nvSpPr>
        <p:spPr>
          <a:xfrm>
            <a:off x="4572000" y="4572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3000" dirty="0"/>
          </a:p>
        </p:txBody>
      </p:sp>
      <p:sp>
        <p:nvSpPr>
          <p:cNvPr id="13" name="Visita 2025"/>
          <p:cNvSpPr txBox="1"/>
          <p:nvPr/>
        </p:nvSpPr>
        <p:spPr>
          <a:xfrm>
            <a:off x="5806440" y="457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1 · supervisión ampliada</a:t>
            </a:r>
            <a:endParaRPr lang="en-US" sz="1400" dirty="0"/>
          </a:p>
        </p:txBody>
      </p:sp>
      <p:sp>
        <p:nvSpPr>
          <p:cNvPr id="14" name="Tarjeta 2025-1"/>
          <p:cNvSpPr/>
          <p:nvPr/>
        </p:nvSpPr>
        <p:spPr>
          <a:xfrm>
            <a:off x="4572000" y="1097280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5" name="Fecha fondo 2025-1"/>
          <p:cNvSpPr/>
          <p:nvPr/>
        </p:nvSpPr>
        <p:spPr>
          <a:xfrm>
            <a:off x="4709160" y="1234440"/>
            <a:ext cx="914400" cy="18288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6" name="Fecha día 2025-1"/>
          <p:cNvSpPr txBox="1"/>
          <p:nvPr/>
        </p:nvSpPr>
        <p:spPr>
          <a:xfrm>
            <a:off x="4709160" y="1463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3400" dirty="0"/>
          </a:p>
        </p:txBody>
      </p:sp>
      <p:sp>
        <p:nvSpPr>
          <p:cNvPr id="17" name="Fecha mes 2025-1"/>
          <p:cNvSpPr txBox="1"/>
          <p:nvPr/>
        </p:nvSpPr>
        <p:spPr>
          <a:xfrm>
            <a:off x="4709160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ABR</a:t>
            </a:r>
            <a:endParaRPr lang="en-US" sz="1400" dirty="0"/>
          </a:p>
        </p:txBody>
      </p:sp>
      <p:sp>
        <p:nvSpPr>
          <p:cNvPr id="18" name="Fecha año 2025-1"/>
          <p:cNvSpPr txBox="1"/>
          <p:nvPr/>
        </p:nvSpPr>
        <p:spPr>
          <a:xfrm>
            <a:off x="4709160" y="2286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2025</a:t>
            </a:r>
            <a:endParaRPr lang="en-US" sz="1200" dirty="0"/>
          </a:p>
        </p:txBody>
      </p:sp>
      <p:sp>
        <p:nvSpPr>
          <p:cNvPr id="19" name="Paso 2025-1"/>
          <p:cNvSpPr txBox="1"/>
          <p:nvPr/>
        </p:nvSpPr>
        <p:spPr>
          <a:xfrm>
            <a:off x="4709160" y="2697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chemeClr val="bg1"/>
                </a:solidFill>
              </a:rPr>
              <a:t>PASO 1 DE 2</a:t>
            </a:r>
            <a:endParaRPr lang="en-US" sz="950" dirty="0"/>
          </a:p>
        </p:txBody>
      </p:sp>
      <p:sp>
        <p:nvSpPr>
          <p:cNvPr id="20" name="Tipo 2025-1"/>
          <p:cNvSpPr txBox="1"/>
          <p:nvPr/>
        </p:nvSpPr>
        <p:spPr>
          <a:xfrm>
            <a:off x="5806440" y="1261872"/>
            <a:ext cx="1935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Nombramiento de visita ampliada</a:t>
            </a:r>
            <a:endParaRPr lang="en-US" sz="1400" dirty="0"/>
          </a:p>
        </p:txBody>
      </p:sp>
      <p:sp>
        <p:nvSpPr>
          <p:cNvPr id="21" name="Circular 2025-1"/>
          <p:cNvSpPr txBox="1"/>
          <p:nvPr/>
        </p:nvSpPr>
        <p:spPr>
          <a:xfrm>
            <a:off x="5806440" y="1828800"/>
            <a:ext cx="193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DS-SABAO-BCS-BC-9337</a:t>
            </a:r>
            <a:endParaRPr lang="en-US" sz="1100" dirty="0"/>
          </a:p>
        </p:txBody>
      </p:sp>
      <p:sp>
        <p:nvSpPr>
          <p:cNvPr id="22" name="Separador 2025-1-0"/>
          <p:cNvSpPr/>
          <p:nvPr/>
        </p:nvSpPr>
        <p:spPr>
          <a:xfrm>
            <a:off x="5806440" y="2340864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23" name="Dato 2025-1-0"/>
          <p:cNvSpPr txBox="1"/>
          <p:nvPr/>
        </p:nvSpPr>
        <p:spPr>
          <a:xfrm>
            <a:off x="5806440" y="2377440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30/04/2025</a:t>
            </a:r>
            <a:endParaRPr lang="en-US" sz="1150" dirty="0"/>
          </a:p>
        </p:txBody>
      </p:sp>
      <p:sp>
        <p:nvSpPr>
          <p:cNvPr id="24" name="Separador 2025-1-1"/>
          <p:cNvSpPr/>
          <p:nvPr/>
        </p:nvSpPr>
        <p:spPr>
          <a:xfrm>
            <a:off x="5806440" y="2706624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25" name="Dato 2025-1-1"/>
          <p:cNvSpPr txBox="1"/>
          <p:nvPr/>
        </p:nvSpPr>
        <p:spPr>
          <a:xfrm>
            <a:off x="5806440" y="2743200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Inicio de visita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19/05/2025</a:t>
            </a:r>
            <a:endParaRPr lang="en-US" sz="1150" dirty="0"/>
          </a:p>
        </p:txBody>
      </p:sp>
      <p:sp>
        <p:nvSpPr>
          <p:cNvPr id="26" name="Tarjeta 2025-2"/>
          <p:cNvSpPr/>
          <p:nvPr/>
        </p:nvSpPr>
        <p:spPr>
          <a:xfrm>
            <a:off x="8336128" y="1097280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7" name="Fecha fondo 2025-2"/>
          <p:cNvSpPr/>
          <p:nvPr/>
        </p:nvSpPr>
        <p:spPr>
          <a:xfrm>
            <a:off x="8473288" y="1234440"/>
            <a:ext cx="914400" cy="18288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8" name="Fecha día 2025-2"/>
          <p:cNvSpPr txBox="1"/>
          <p:nvPr/>
        </p:nvSpPr>
        <p:spPr>
          <a:xfrm>
            <a:off x="8473288" y="1463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400" dirty="0"/>
          </a:p>
        </p:txBody>
      </p:sp>
      <p:sp>
        <p:nvSpPr>
          <p:cNvPr id="29" name="Fecha mes 2025-2"/>
          <p:cNvSpPr txBox="1"/>
          <p:nvPr/>
        </p:nvSpPr>
        <p:spPr>
          <a:xfrm>
            <a:off x="8473288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NOV</a:t>
            </a:r>
            <a:endParaRPr lang="en-US" sz="1400" dirty="0"/>
          </a:p>
        </p:txBody>
      </p:sp>
      <p:sp>
        <p:nvSpPr>
          <p:cNvPr id="30" name="Fecha año 2025-2"/>
          <p:cNvSpPr txBox="1"/>
          <p:nvPr/>
        </p:nvSpPr>
        <p:spPr>
          <a:xfrm>
            <a:off x="8473288" y="2286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2025</a:t>
            </a:r>
            <a:endParaRPr lang="en-US" sz="1200" dirty="0"/>
          </a:p>
        </p:txBody>
      </p:sp>
      <p:sp>
        <p:nvSpPr>
          <p:cNvPr id="31" name="Paso 2025-2"/>
          <p:cNvSpPr txBox="1"/>
          <p:nvPr/>
        </p:nvSpPr>
        <p:spPr>
          <a:xfrm>
            <a:off x="8473288" y="2697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chemeClr val="bg1"/>
                </a:solidFill>
              </a:rPr>
              <a:t>PASO 2 DE 2</a:t>
            </a:r>
            <a:endParaRPr lang="en-US" sz="950" dirty="0"/>
          </a:p>
        </p:txBody>
      </p:sp>
      <p:sp>
        <p:nvSpPr>
          <p:cNvPr id="32" name="Tipo 2025-2"/>
          <p:cNvSpPr txBox="1"/>
          <p:nvPr/>
        </p:nvSpPr>
        <p:spPr>
          <a:xfrm>
            <a:off x="9570568" y="1261872"/>
            <a:ext cx="1935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preliminares</a:t>
            </a:r>
            <a:endParaRPr lang="en-US" sz="1400" dirty="0"/>
          </a:p>
        </p:txBody>
      </p:sp>
      <p:sp>
        <p:nvSpPr>
          <p:cNvPr id="33" name="Circular 2025-2"/>
          <p:cNvSpPr txBox="1"/>
          <p:nvPr/>
        </p:nvSpPr>
        <p:spPr>
          <a:xfrm>
            <a:off x="9570568" y="1828800"/>
            <a:ext cx="193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DS-SABAO-BCS-BC-17003</a:t>
            </a:r>
            <a:endParaRPr lang="en-US" sz="1100" dirty="0"/>
          </a:p>
        </p:txBody>
      </p:sp>
      <p:sp>
        <p:nvSpPr>
          <p:cNvPr id="34" name="Separador 2025-2-0"/>
          <p:cNvSpPr/>
          <p:nvPr/>
        </p:nvSpPr>
        <p:spPr>
          <a:xfrm>
            <a:off x="9570568" y="2340864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5" name="Dato 2025-2-0"/>
          <p:cNvSpPr txBox="1"/>
          <p:nvPr/>
        </p:nvSpPr>
        <p:spPr>
          <a:xfrm>
            <a:off x="9570568" y="2377440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Resultado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9 observaciones</a:t>
            </a:r>
            <a:endParaRPr lang="en-US" sz="1150" dirty="0"/>
          </a:p>
        </p:txBody>
      </p:sp>
      <p:sp>
        <p:nvSpPr>
          <p:cNvPr id="36" name="Separador 2025-2-1"/>
          <p:cNvSpPr/>
          <p:nvPr/>
        </p:nvSpPr>
        <p:spPr>
          <a:xfrm>
            <a:off x="9570568" y="2706624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7" name="Dato 2025-2-1"/>
          <p:cNvSpPr txBox="1"/>
          <p:nvPr/>
        </p:nvSpPr>
        <p:spPr>
          <a:xfrm>
            <a:off x="9570568" y="2743200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Descargos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10 días hábiles</a:t>
            </a:r>
            <a:endParaRPr lang="en-US" sz="1150" dirty="0"/>
          </a:p>
        </p:txBody>
      </p:sp>
      <p:sp>
        <p:nvSpPr>
          <p:cNvPr id="38" name="Flecha 2025"/>
          <p:cNvSpPr/>
          <p:nvPr/>
        </p:nvSpPr>
        <p:spPr>
          <a:xfrm>
            <a:off x="7970368" y="201168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9" name="Año 2026"/>
          <p:cNvSpPr txBox="1"/>
          <p:nvPr/>
        </p:nvSpPr>
        <p:spPr>
          <a:xfrm>
            <a:off x="4572000" y="340156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3000" dirty="0"/>
          </a:p>
        </p:txBody>
      </p:sp>
      <p:sp>
        <p:nvSpPr>
          <p:cNvPr id="40" name="Visita 2026"/>
          <p:cNvSpPr txBox="1"/>
          <p:nvPr/>
        </p:nvSpPr>
        <p:spPr>
          <a:xfrm>
            <a:off x="5806440" y="340156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2 · supervisión ampliada</a:t>
            </a:r>
            <a:endParaRPr lang="en-US" sz="1400" dirty="0"/>
          </a:p>
        </p:txBody>
      </p:sp>
      <p:sp>
        <p:nvSpPr>
          <p:cNvPr id="41" name="Tarjeta 2026-1"/>
          <p:cNvSpPr/>
          <p:nvPr/>
        </p:nvSpPr>
        <p:spPr>
          <a:xfrm>
            <a:off x="4572000" y="4041648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42" name="Fecha fondo 2026-1"/>
          <p:cNvSpPr/>
          <p:nvPr/>
        </p:nvSpPr>
        <p:spPr>
          <a:xfrm>
            <a:off x="4709160" y="4178808"/>
            <a:ext cx="914400" cy="18288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3" name="Fecha día 2026-1"/>
          <p:cNvSpPr txBox="1"/>
          <p:nvPr/>
        </p:nvSpPr>
        <p:spPr>
          <a:xfrm>
            <a:off x="4709160" y="44074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3400" dirty="0"/>
          </a:p>
        </p:txBody>
      </p:sp>
      <p:sp>
        <p:nvSpPr>
          <p:cNvPr id="44" name="Fecha mes 2026-1"/>
          <p:cNvSpPr txBox="1"/>
          <p:nvPr/>
        </p:nvSpPr>
        <p:spPr>
          <a:xfrm>
            <a:off x="4709160" y="4956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JUL</a:t>
            </a:r>
            <a:endParaRPr lang="en-US" sz="1400" dirty="0"/>
          </a:p>
        </p:txBody>
      </p:sp>
      <p:sp>
        <p:nvSpPr>
          <p:cNvPr id="45" name="Fecha año 2026-1"/>
          <p:cNvSpPr txBox="1"/>
          <p:nvPr/>
        </p:nvSpPr>
        <p:spPr>
          <a:xfrm>
            <a:off x="4709160" y="52303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46" name="Paso 2026-1"/>
          <p:cNvSpPr txBox="1"/>
          <p:nvPr/>
        </p:nvSpPr>
        <p:spPr>
          <a:xfrm>
            <a:off x="4709160" y="56418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chemeClr val="bg1"/>
                </a:solidFill>
              </a:rPr>
              <a:t>PASO 1 DE 2</a:t>
            </a:r>
            <a:endParaRPr lang="en-US" sz="950" dirty="0"/>
          </a:p>
        </p:txBody>
      </p:sp>
      <p:sp>
        <p:nvSpPr>
          <p:cNvPr id="47" name="Tipo 2026-1"/>
          <p:cNvSpPr txBox="1"/>
          <p:nvPr/>
        </p:nvSpPr>
        <p:spPr>
          <a:xfrm>
            <a:off x="5806440" y="4206240"/>
            <a:ext cx="1935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Nombramiento de visita ampliada</a:t>
            </a:r>
            <a:endParaRPr lang="en-US" sz="1400" dirty="0"/>
          </a:p>
        </p:txBody>
      </p:sp>
      <p:sp>
        <p:nvSpPr>
          <p:cNvPr id="48" name="Circular 2026-1"/>
          <p:cNvSpPr txBox="1"/>
          <p:nvPr/>
        </p:nvSpPr>
        <p:spPr>
          <a:xfrm>
            <a:off x="5806440" y="4773168"/>
            <a:ext cx="193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SABAO-BCS-BC-18432</a:t>
            </a:r>
            <a:endParaRPr lang="en-US" sz="1100" dirty="0"/>
          </a:p>
        </p:txBody>
      </p:sp>
      <p:sp>
        <p:nvSpPr>
          <p:cNvPr id="49" name="Separador 2026-1-0"/>
          <p:cNvSpPr/>
          <p:nvPr/>
        </p:nvSpPr>
        <p:spPr>
          <a:xfrm>
            <a:off x="5806440" y="5285232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0" name="Dato 2026-1-0"/>
          <p:cNvSpPr txBox="1"/>
          <p:nvPr/>
        </p:nvSpPr>
        <p:spPr>
          <a:xfrm>
            <a:off x="5806440" y="5321808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31/07/2026</a:t>
            </a:r>
            <a:endParaRPr lang="en-US" sz="1150" dirty="0"/>
          </a:p>
        </p:txBody>
      </p:sp>
      <p:sp>
        <p:nvSpPr>
          <p:cNvPr id="51" name="Separador 2026-1-1"/>
          <p:cNvSpPr/>
          <p:nvPr/>
        </p:nvSpPr>
        <p:spPr>
          <a:xfrm>
            <a:off x="5806440" y="5650992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2" name="Dato 2026-1-1"/>
          <p:cNvSpPr txBox="1"/>
          <p:nvPr/>
        </p:nvSpPr>
        <p:spPr>
          <a:xfrm>
            <a:off x="5806440" y="5687568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Inicio de visita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21/08/2026</a:t>
            </a:r>
            <a:endParaRPr lang="en-US" sz="1150" dirty="0"/>
          </a:p>
        </p:txBody>
      </p:sp>
      <p:sp>
        <p:nvSpPr>
          <p:cNvPr id="53" name="Tarjeta 2026-2"/>
          <p:cNvSpPr/>
          <p:nvPr/>
        </p:nvSpPr>
        <p:spPr>
          <a:xfrm>
            <a:off x="8336128" y="4041648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54" name="Fecha fondo 2026-2"/>
          <p:cNvSpPr/>
          <p:nvPr/>
        </p:nvSpPr>
        <p:spPr>
          <a:xfrm>
            <a:off x="8473288" y="4178808"/>
            <a:ext cx="914400" cy="18288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5" name="Fecha día 2026-2"/>
          <p:cNvSpPr txBox="1"/>
          <p:nvPr/>
        </p:nvSpPr>
        <p:spPr>
          <a:xfrm>
            <a:off x="8473288" y="44074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3400" dirty="0"/>
          </a:p>
        </p:txBody>
      </p:sp>
      <p:sp>
        <p:nvSpPr>
          <p:cNvPr id="56" name="Fecha mes 2026-2"/>
          <p:cNvSpPr txBox="1"/>
          <p:nvPr/>
        </p:nvSpPr>
        <p:spPr>
          <a:xfrm>
            <a:off x="8473288" y="4956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OCT</a:t>
            </a:r>
            <a:endParaRPr lang="en-US" sz="1400" dirty="0"/>
          </a:p>
        </p:txBody>
      </p:sp>
      <p:sp>
        <p:nvSpPr>
          <p:cNvPr id="57" name="Fecha año 2026-2"/>
          <p:cNvSpPr txBox="1"/>
          <p:nvPr/>
        </p:nvSpPr>
        <p:spPr>
          <a:xfrm>
            <a:off x="8473288" y="52303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58" name="Paso 2026-2"/>
          <p:cNvSpPr txBox="1"/>
          <p:nvPr/>
        </p:nvSpPr>
        <p:spPr>
          <a:xfrm>
            <a:off x="8473288" y="56418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chemeClr val="bg1"/>
                </a:solidFill>
              </a:rPr>
              <a:t>PASO 2 DE 2</a:t>
            </a:r>
            <a:endParaRPr lang="en-US" sz="950" dirty="0"/>
          </a:p>
        </p:txBody>
      </p:sp>
      <p:sp>
        <p:nvSpPr>
          <p:cNvPr id="59" name="Tipo 2026-2"/>
          <p:cNvSpPr txBox="1"/>
          <p:nvPr/>
        </p:nvSpPr>
        <p:spPr>
          <a:xfrm>
            <a:off x="9570568" y="4206240"/>
            <a:ext cx="1935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preliminares</a:t>
            </a:r>
            <a:endParaRPr lang="en-US" sz="1400" dirty="0"/>
          </a:p>
        </p:txBody>
      </p:sp>
      <p:sp>
        <p:nvSpPr>
          <p:cNvPr id="60" name="Circular 2026-2"/>
          <p:cNvSpPr txBox="1"/>
          <p:nvPr/>
        </p:nvSpPr>
        <p:spPr>
          <a:xfrm>
            <a:off x="9570568" y="4773168"/>
            <a:ext cx="193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DS-SABAO-BCS-BC-22741</a:t>
            </a:r>
            <a:endParaRPr lang="en-US" sz="1100" dirty="0"/>
          </a:p>
        </p:txBody>
      </p:sp>
      <p:sp>
        <p:nvSpPr>
          <p:cNvPr id="61" name="Separador 2026-2-0"/>
          <p:cNvSpPr/>
          <p:nvPr/>
        </p:nvSpPr>
        <p:spPr>
          <a:xfrm>
            <a:off x="9570568" y="5285232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62" name="Dato 2026-2-0"/>
          <p:cNvSpPr txBox="1"/>
          <p:nvPr/>
        </p:nvSpPr>
        <p:spPr>
          <a:xfrm>
            <a:off x="9570568" y="5321808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Anexo A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7 nuevas</a:t>
            </a:r>
            <a:endParaRPr lang="en-US" sz="1150" dirty="0"/>
          </a:p>
        </p:txBody>
      </p:sp>
      <p:sp>
        <p:nvSpPr>
          <p:cNvPr id="63" name="Separador 2026-2-1"/>
          <p:cNvSpPr/>
          <p:nvPr/>
        </p:nvSpPr>
        <p:spPr>
          <a:xfrm>
            <a:off x="9570568" y="5650992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64" name="Dato 2026-2-1"/>
          <p:cNvSpPr txBox="1"/>
          <p:nvPr/>
        </p:nvSpPr>
        <p:spPr>
          <a:xfrm>
            <a:off x="9570568" y="5687568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Anexo B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obs. 3 y 5 de 2025</a:t>
            </a:r>
            <a:endParaRPr lang="en-US" sz="1150" dirty="0"/>
          </a:p>
        </p:txBody>
      </p:sp>
      <p:sp>
        <p:nvSpPr>
          <p:cNvPr id="65" name="Flecha 2026"/>
          <p:cNvSpPr/>
          <p:nvPr/>
        </p:nvSpPr>
        <p:spPr>
          <a:xfrm>
            <a:off x="7970368" y="4956048"/>
            <a:ext cx="274320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9397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Art. 12 literal c) NRP-17</a:t>
            </a:r>
            <a:endParaRPr lang="en-US" sz="105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ni fechas de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9397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 (primera sesión con nuevos miembros)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Manual de Inducción y Capacitación</a:t>
            </a:r>
            <a:endParaRPr lang="en-US" sz="105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9397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Art. 3 literal h) NRP-17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3"/>
                </a:solidFill>
              </a:rPr>
              <a:t>↳ Seguimiento 2026: NO SUPERADA</a:t>
            </a:r>
            <a:endParaRPr lang="en-US" sz="105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3133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 · Asamblea General de Asociados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Arts. 12 lit. g) y q), 27 lit. a) NRP-17</a:t>
            </a:r>
            <a:endParaRPr lang="en-US" sz="105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3133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Líderes de procesos · Departamento de Procesos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Art. 12 lit. n) NRP-17 · 9 documentos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6"/>
                </a:solidFill>
              </a:rPr>
              <a:t>↳ Seguimiento 2026: PARCIALMENTE SUPERADA</a:t>
            </a:r>
            <a:endParaRPr lang="en-US" sz="105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3133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 (acuerdos de las ferias no identificados)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Sin acuerdos ni soporte de cambios de tasa</a:t>
            </a:r>
            <a:endParaRPr lang="en-US" sz="105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6869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Miembros del Consejo de Administración y equipo gerencial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Art. 9 NRP-75</a:t>
            </a:r>
            <a:endParaRPr lang="en-US" sz="105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6869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Jefe de Servicios Generales · áreas solicitantes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Cotizaciones sin sello · sin cláusula de penalización</a:t>
            </a:r>
            <a:endParaRPr lang="en-US" sz="105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6869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Comité de Educación · Comité Socio Cultural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Art. 59 LGAC y Art. 69 de su Reglamento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984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600200"/>
            <a:ext cx="2670734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0" name="Número A-1 círculo"/>
          <p:cNvSpPr/>
          <p:nvPr/>
        </p:nvSpPr>
        <p:spPr>
          <a:xfrm>
            <a:off x="694944" y="172821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Número A-1"/>
          <p:cNvSpPr txBox="1"/>
          <p:nvPr/>
        </p:nvSpPr>
        <p:spPr>
          <a:xfrm>
            <a:off x="694944" y="1728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Criterio A-1"/>
          <p:cNvSpPr txBox="1"/>
          <p:nvPr/>
        </p:nvSpPr>
        <p:spPr>
          <a:xfrm>
            <a:off x="1115568" y="1709928"/>
            <a:ext cx="19849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Art. 11 NRP-17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30552"/>
            <a:ext cx="23781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partidas relevantes de EEFF a nuevos miembros</a:t>
            </a:r>
            <a:endParaRPr lang="en-US" sz="1150" dirty="0"/>
          </a:p>
        </p:txBody>
      </p:sp>
      <p:sp>
        <p:nvSpPr>
          <p:cNvPr id="14" name="Responsable A-1"/>
          <p:cNvSpPr txBox="1"/>
          <p:nvPr/>
        </p:nvSpPr>
        <p:spPr>
          <a:xfrm>
            <a:off x="694944" y="2651760"/>
            <a:ext cx="23781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 (imparte la inducción según el Manual)</a:t>
            </a:r>
            <a:endParaRPr lang="en-US" sz="1000" dirty="0"/>
          </a:p>
        </p:txBody>
      </p:sp>
      <p:sp>
        <p:nvSpPr>
          <p:cNvPr id="15" name="Anexo A-2"/>
          <p:cNvSpPr/>
          <p:nvPr/>
        </p:nvSpPr>
        <p:spPr>
          <a:xfrm>
            <a:off x="3356534" y="1600200"/>
            <a:ext cx="2670734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6" name="Número A-2 círculo"/>
          <p:cNvSpPr/>
          <p:nvPr/>
        </p:nvSpPr>
        <p:spPr>
          <a:xfrm>
            <a:off x="3502838" y="172821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7" name="Número A-2"/>
          <p:cNvSpPr txBox="1"/>
          <p:nvPr/>
        </p:nvSpPr>
        <p:spPr>
          <a:xfrm>
            <a:off x="3502838" y="1728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Criterio A-2"/>
          <p:cNvSpPr txBox="1"/>
          <p:nvPr/>
        </p:nvSpPr>
        <p:spPr>
          <a:xfrm>
            <a:off x="3923462" y="1709928"/>
            <a:ext cx="19849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Cap. XI Código de Conducta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502838" y="2130552"/>
            <a:ext cx="23781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Responsable A-2"/>
          <p:cNvSpPr txBox="1"/>
          <p:nvPr/>
        </p:nvSpPr>
        <p:spPr>
          <a:xfrm>
            <a:off x="3502838" y="2651760"/>
            <a:ext cx="23781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Junta de Vigilancia · Comité de Créditos · Comité de Educación</a:t>
            </a:r>
            <a:endParaRPr lang="en-US" sz="1000" dirty="0"/>
          </a:p>
        </p:txBody>
      </p:sp>
      <p:sp>
        <p:nvSpPr>
          <p:cNvPr id="21" name="Anexo A-3"/>
          <p:cNvSpPr/>
          <p:nvPr/>
        </p:nvSpPr>
        <p:spPr>
          <a:xfrm>
            <a:off x="6164428" y="1600200"/>
            <a:ext cx="2670734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2" name="Número A-3 círculo"/>
          <p:cNvSpPr/>
          <p:nvPr/>
        </p:nvSpPr>
        <p:spPr>
          <a:xfrm>
            <a:off x="6310732" y="172821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Número A-3"/>
          <p:cNvSpPr txBox="1"/>
          <p:nvPr/>
        </p:nvSpPr>
        <p:spPr>
          <a:xfrm>
            <a:off x="6310732" y="1728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Criterio A-3"/>
          <p:cNvSpPr txBox="1"/>
          <p:nvPr/>
        </p:nvSpPr>
        <p:spPr>
          <a:xfrm>
            <a:off x="6731356" y="1709928"/>
            <a:ext cx="19849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Art. 12 lit. c) NRP-17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310732" y="2130552"/>
            <a:ext cx="23781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</a:t>
            </a:r>
            <a:endParaRPr lang="en-US" sz="1150" dirty="0"/>
          </a:p>
        </p:txBody>
      </p:sp>
      <p:sp>
        <p:nvSpPr>
          <p:cNvPr id="26" name="Responsable A-3"/>
          <p:cNvSpPr txBox="1"/>
          <p:nvPr/>
        </p:nvSpPr>
        <p:spPr>
          <a:xfrm>
            <a:off x="6310732" y="2651760"/>
            <a:ext cx="23781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Consejo de Administración</a:t>
            </a:r>
            <a:endParaRPr lang="en-US" sz="1000" dirty="0"/>
          </a:p>
        </p:txBody>
      </p:sp>
      <p:sp>
        <p:nvSpPr>
          <p:cNvPr id="27" name="Anexo A-4"/>
          <p:cNvSpPr/>
          <p:nvPr/>
        </p:nvSpPr>
        <p:spPr>
          <a:xfrm>
            <a:off x="8972321" y="1600200"/>
            <a:ext cx="2670734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8" name="Número A-4 círculo"/>
          <p:cNvSpPr/>
          <p:nvPr/>
        </p:nvSpPr>
        <p:spPr>
          <a:xfrm>
            <a:off x="9118625" y="172821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9" name="Número A-4"/>
          <p:cNvSpPr txBox="1"/>
          <p:nvPr/>
        </p:nvSpPr>
        <p:spPr>
          <a:xfrm>
            <a:off x="9118625" y="1728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Criterio A-4"/>
          <p:cNvSpPr txBox="1"/>
          <p:nvPr/>
        </p:nvSpPr>
        <p:spPr>
          <a:xfrm>
            <a:off x="9539249" y="1709928"/>
            <a:ext cx="19849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Arts. 27 y 28 NRP-17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118625" y="2130552"/>
            <a:ext cx="23781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el sitio web</a:t>
            </a:r>
            <a:endParaRPr lang="en-US" sz="1150" dirty="0"/>
          </a:p>
        </p:txBody>
      </p:sp>
      <p:sp>
        <p:nvSpPr>
          <p:cNvPr id="32" name="Responsable A-4"/>
          <p:cNvSpPr txBox="1"/>
          <p:nvPr/>
        </p:nvSpPr>
        <p:spPr>
          <a:xfrm>
            <a:off x="9118625" y="2651760"/>
            <a:ext cx="23781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La circular no asigna área (Asociación Cooperativa)</a:t>
            </a:r>
            <a:endParaRPr lang="en-US" sz="1000" dirty="0"/>
          </a:p>
        </p:txBody>
      </p:sp>
      <p:sp>
        <p:nvSpPr>
          <p:cNvPr id="33" name="Anexo A-5"/>
          <p:cNvSpPr/>
          <p:nvPr/>
        </p:nvSpPr>
        <p:spPr>
          <a:xfrm>
            <a:off x="548640" y="3218688"/>
            <a:ext cx="2670734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A-5 círculo"/>
          <p:cNvSpPr/>
          <p:nvPr/>
        </p:nvSpPr>
        <p:spPr>
          <a:xfrm>
            <a:off x="694944" y="33467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Número A-5"/>
          <p:cNvSpPr txBox="1"/>
          <p:nvPr/>
        </p:nvSpPr>
        <p:spPr>
          <a:xfrm>
            <a:off x="694944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Criterio A-5"/>
          <p:cNvSpPr txBox="1"/>
          <p:nvPr/>
        </p:nvSpPr>
        <p:spPr>
          <a:xfrm>
            <a:off x="1115568" y="3328416"/>
            <a:ext cx="19849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Art. 3 lit. i) y Art. 20 NRP-17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749040"/>
            <a:ext cx="23781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Responsable A-5"/>
          <p:cNvSpPr txBox="1"/>
          <p:nvPr/>
        </p:nvSpPr>
        <p:spPr>
          <a:xfrm>
            <a:off x="694944" y="4270248"/>
            <a:ext cx="23781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Consejo de Administración (aprobó el Código, Acta 2,663)</a:t>
            </a:r>
            <a:endParaRPr lang="en-US" sz="1000" dirty="0"/>
          </a:p>
        </p:txBody>
      </p:sp>
      <p:sp>
        <p:nvSpPr>
          <p:cNvPr id="39" name="Anexo A-6"/>
          <p:cNvSpPr/>
          <p:nvPr/>
        </p:nvSpPr>
        <p:spPr>
          <a:xfrm>
            <a:off x="3356534" y="3218688"/>
            <a:ext cx="2670734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0" name="Número A-6 círculo"/>
          <p:cNvSpPr/>
          <p:nvPr/>
        </p:nvSpPr>
        <p:spPr>
          <a:xfrm>
            <a:off x="3502838" y="33467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1" name="Número A-6"/>
          <p:cNvSpPr txBox="1"/>
          <p:nvPr/>
        </p:nvSpPr>
        <p:spPr>
          <a:xfrm>
            <a:off x="3502838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Criterio A-6"/>
          <p:cNvSpPr txBox="1"/>
          <p:nvPr/>
        </p:nvSpPr>
        <p:spPr>
          <a:xfrm>
            <a:off x="3923462" y="3328416"/>
            <a:ext cx="19849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Art. 59 LGAC · Art. 69 Reglamento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502838" y="3749040"/>
            <a:ext cx="23781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con conceptos no delimitados por Ley</a:t>
            </a:r>
            <a:endParaRPr lang="en-US" sz="1150" dirty="0"/>
          </a:p>
        </p:txBody>
      </p:sp>
      <p:sp>
        <p:nvSpPr>
          <p:cNvPr id="44" name="Responsable A-6"/>
          <p:cNvSpPr txBox="1"/>
          <p:nvPr/>
        </p:nvSpPr>
        <p:spPr>
          <a:xfrm>
            <a:off x="3502838" y="4270248"/>
            <a:ext cx="23781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Comité de Educación (Reglamento, art. 5)</a:t>
            </a:r>
            <a:endParaRPr lang="en-US" sz="1000" dirty="0"/>
          </a:p>
        </p:txBody>
      </p:sp>
      <p:sp>
        <p:nvSpPr>
          <p:cNvPr id="45" name="Anexo A-7"/>
          <p:cNvSpPr/>
          <p:nvPr/>
        </p:nvSpPr>
        <p:spPr>
          <a:xfrm>
            <a:off x="6164428" y="3218688"/>
            <a:ext cx="2670734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6" name="Número A-7 círculo"/>
          <p:cNvSpPr/>
          <p:nvPr/>
        </p:nvSpPr>
        <p:spPr>
          <a:xfrm>
            <a:off x="6310732" y="33467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7" name="Número A-7"/>
          <p:cNvSpPr txBox="1"/>
          <p:nvPr/>
        </p:nvSpPr>
        <p:spPr>
          <a:xfrm>
            <a:off x="6310732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Criterio A-7"/>
          <p:cNvSpPr txBox="1"/>
          <p:nvPr/>
        </p:nvSpPr>
        <p:spPr>
          <a:xfrm>
            <a:off x="6731356" y="3328416"/>
            <a:ext cx="19849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Art. 12 lit. q) NRP-17 · US$100,774.28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310732" y="3749040"/>
            <a:ext cx="23781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Responsable A-7"/>
          <p:cNvSpPr txBox="1"/>
          <p:nvPr/>
        </p:nvSpPr>
        <p:spPr>
          <a:xfrm>
            <a:off x="6310732" y="4270248"/>
            <a:ext cx="23781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Consejo de Administración (Memoria de Labores 2025)</a:t>
            </a:r>
            <a:endParaRPr lang="en-US" sz="1000" dirty="0"/>
          </a:p>
        </p:txBody>
      </p:sp>
      <p:sp>
        <p:nvSpPr>
          <p:cNvPr id="51" name="Plazo Anexo A"/>
          <p:cNvSpPr/>
          <p:nvPr/>
        </p:nvSpPr>
        <p:spPr>
          <a:xfrm>
            <a:off x="8972321" y="3218688"/>
            <a:ext cx="2670734" cy="1481328"/>
          </a:xfrm>
          <a:prstGeom prst="roundRect">
            <a:avLst>
              <a:gd name="adj" fmla="val 6173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Plazo A número"/>
          <p:cNvSpPr txBox="1"/>
          <p:nvPr/>
        </p:nvSpPr>
        <p:spPr>
          <a:xfrm>
            <a:off x="9155201" y="332841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78161" y="3374136"/>
            <a:ext cx="15277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55201" y="4041648"/>
            <a:ext cx="2350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828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5120640"/>
            <a:ext cx="4074681" cy="1124712"/>
          </a:xfrm>
          <a:prstGeom prst="roundRect">
            <a:avLst>
              <a:gd name="adj" fmla="val 813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57" name="Origen B-3 fondo"/>
          <p:cNvSpPr/>
          <p:nvPr/>
        </p:nvSpPr>
        <p:spPr>
          <a:xfrm>
            <a:off x="731520" y="5276088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8" name="Origen B-3"/>
          <p:cNvSpPr txBox="1"/>
          <p:nvPr/>
        </p:nvSpPr>
        <p:spPr>
          <a:xfrm>
            <a:off x="731520" y="52760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276088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0" name="Estado B-3"/>
          <p:cNvSpPr txBox="1"/>
          <p:nvPr/>
        </p:nvSpPr>
        <p:spPr>
          <a:xfrm>
            <a:off x="2194560" y="52760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650992"/>
            <a:ext cx="37089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934456"/>
            <a:ext cx="37089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Responsable: Consejo de Administración</a:t>
            </a:r>
            <a:endParaRPr lang="en-US" sz="1050" dirty="0"/>
          </a:p>
        </p:txBody>
      </p:sp>
      <p:sp>
        <p:nvSpPr>
          <p:cNvPr id="63" name="Anexo B-5"/>
          <p:cNvSpPr/>
          <p:nvPr/>
        </p:nvSpPr>
        <p:spPr>
          <a:xfrm>
            <a:off x="4760481" y="5120640"/>
            <a:ext cx="4074681" cy="1124712"/>
          </a:xfrm>
          <a:prstGeom prst="roundRect">
            <a:avLst>
              <a:gd name="adj" fmla="val 813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4" name="Origen B-5 fondo"/>
          <p:cNvSpPr/>
          <p:nvPr/>
        </p:nvSpPr>
        <p:spPr>
          <a:xfrm>
            <a:off x="4943361" y="5276088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5" name="Origen B-5"/>
          <p:cNvSpPr txBox="1"/>
          <p:nvPr/>
        </p:nvSpPr>
        <p:spPr>
          <a:xfrm>
            <a:off x="4943361" y="52760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6" name="Estado B-5 fondo"/>
          <p:cNvSpPr/>
          <p:nvPr/>
        </p:nvSpPr>
        <p:spPr>
          <a:xfrm>
            <a:off x="6406401" y="5276088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7" name="Estado B-5"/>
          <p:cNvSpPr txBox="1"/>
          <p:nvPr/>
        </p:nvSpPr>
        <p:spPr>
          <a:xfrm>
            <a:off x="6406401" y="52760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8" name="Título B-5"/>
          <p:cNvSpPr txBox="1"/>
          <p:nvPr/>
        </p:nvSpPr>
        <p:spPr>
          <a:xfrm>
            <a:off x="4943361" y="5650992"/>
            <a:ext cx="37089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69" name="Responsable B-5"/>
          <p:cNvSpPr txBox="1"/>
          <p:nvPr/>
        </p:nvSpPr>
        <p:spPr>
          <a:xfrm>
            <a:off x="4943361" y="5934456"/>
            <a:ext cx="37089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Responsable: líderes de procesos · Departamento de Procesos</a:t>
            </a:r>
            <a:endParaRPr lang="en-US" sz="1050" dirty="0"/>
          </a:p>
        </p:txBody>
      </p:sp>
      <p:sp>
        <p:nvSpPr>
          <p:cNvPr id="70" name="Plazo Anexo B"/>
          <p:cNvSpPr/>
          <p:nvPr/>
        </p:nvSpPr>
        <p:spPr>
          <a:xfrm>
            <a:off x="8972321" y="5120640"/>
            <a:ext cx="2670734" cy="1124712"/>
          </a:xfrm>
          <a:prstGeom prst="roundRect">
            <a:avLst>
              <a:gd name="adj" fmla="val 8130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71" name="Plazo B número"/>
          <p:cNvSpPr txBox="1"/>
          <p:nvPr/>
        </p:nvSpPr>
        <p:spPr>
          <a:xfrm>
            <a:off x="9155201" y="513892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2" name="Plazo B título"/>
          <p:cNvSpPr txBox="1"/>
          <p:nvPr/>
        </p:nvSpPr>
        <p:spPr>
          <a:xfrm>
            <a:off x="9978161" y="5184648"/>
            <a:ext cx="15277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3" name="Plazo B detalle"/>
          <p:cNvSpPr txBox="1"/>
          <p:nvPr/>
        </p:nvSpPr>
        <p:spPr>
          <a:xfrm>
            <a:off x="9155201" y="5788152"/>
            <a:ext cx="2396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LÍNEA DE TIEMPO COMPARATIVA Y EVOLUCIÓN DEL CUMPLIMIENTO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Línea de tiempo: de hoy a 2025</a:t>
            </a:r>
            <a:endParaRPr lang="en-US" sz="3000" dirty="0"/>
          </a:p>
        </p:txBody>
      </p:sp>
      <p:sp>
        <p:nvSpPr>
          <p:cNvPr id="4" name="Eje 2026"/>
          <p:cNvSpPr/>
          <p:nvPr/>
        </p:nvSpPr>
        <p:spPr>
          <a:xfrm>
            <a:off x="1645920" y="1463040"/>
            <a:ext cx="0" cy="2029968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5" name="Pausa entre visitas"/>
          <p:cNvSpPr/>
          <p:nvPr/>
        </p:nvSpPr>
        <p:spPr>
          <a:xfrm>
            <a:off x="1645920" y="3675888"/>
            <a:ext cx="0" cy="51206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6" name="Eje 2025"/>
          <p:cNvSpPr/>
          <p:nvPr/>
        </p:nvSpPr>
        <p:spPr>
          <a:xfrm>
            <a:off x="1645920" y="4370832"/>
            <a:ext cx="0" cy="1353312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7" name="Año 2026 fondo"/>
          <p:cNvSpPr/>
          <p:nvPr/>
        </p:nvSpPr>
        <p:spPr>
          <a:xfrm>
            <a:off x="548640" y="1426464"/>
            <a:ext cx="7772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8" name="Año 2026"/>
          <p:cNvSpPr txBox="1"/>
          <p:nvPr/>
        </p:nvSpPr>
        <p:spPr>
          <a:xfrm>
            <a:off x="548640" y="14264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9" name="Año 2025 fondo"/>
          <p:cNvSpPr/>
          <p:nvPr/>
        </p:nvSpPr>
        <p:spPr>
          <a:xfrm>
            <a:off x="548640" y="4334256"/>
            <a:ext cx="7772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0" name="Año 2025"/>
          <p:cNvSpPr txBox="1"/>
          <p:nvPr/>
        </p:nvSpPr>
        <p:spPr>
          <a:xfrm>
            <a:off x="548640" y="43342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11" name="Pausa texto"/>
          <p:cNvSpPr txBox="1"/>
          <p:nvPr/>
        </p:nvSpPr>
        <p:spPr>
          <a:xfrm>
            <a:off x="502920" y="38404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8 meses</a:t>
            </a:r>
            <a:endParaRPr lang="en-US" sz="1000" dirty="0"/>
          </a:p>
        </p:txBody>
      </p:sp>
      <p:sp>
        <p:nvSpPr>
          <p:cNvPr id="12" name="Fondo hoy"/>
          <p:cNvSpPr/>
          <p:nvPr/>
        </p:nvSpPr>
        <p:spPr>
          <a:xfrm>
            <a:off x="1856232" y="1371600"/>
            <a:ext cx="4754880" cy="621792"/>
          </a:xfrm>
          <a:prstGeom prst="roundRect">
            <a:avLst>
              <a:gd name="adj" fmla="val 14706"/>
            </a:avLst>
          </a:prstGeom>
          <a:solidFill>
            <a:schemeClr val="accent2">
              <a:alpha val="15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3" name="Halo hoy"/>
          <p:cNvSpPr/>
          <p:nvPr/>
        </p:nvSpPr>
        <p:spPr>
          <a:xfrm>
            <a:off x="1463040" y="1426464"/>
            <a:ext cx="365760" cy="365760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4" name="Hito 1"/>
          <p:cNvSpPr/>
          <p:nvPr/>
        </p:nvSpPr>
        <p:spPr>
          <a:xfrm>
            <a:off x="1536192" y="1499616"/>
            <a:ext cx="219456" cy="219456"/>
          </a:xfrm>
          <a:prstGeom prst="ellipse">
            <a:avLst/>
          </a:prstGeom>
          <a:solidFill>
            <a:schemeClr val="accent2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15" name="Hito fecha 1"/>
          <p:cNvSpPr txBox="1"/>
          <p:nvPr/>
        </p:nvSpPr>
        <p:spPr>
          <a:xfrm>
            <a:off x="1965960" y="1463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HOY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Plazos de respuesta en curso</a:t>
            </a:r>
            <a:endParaRPr lang="en-US" sz="1400" dirty="0"/>
          </a:p>
        </p:txBody>
      </p:sp>
      <p:sp>
        <p:nvSpPr>
          <p:cNvPr id="16" name="Hito detalle 1"/>
          <p:cNvSpPr txBox="1"/>
          <p:nvPr/>
        </p:nvSpPr>
        <p:spPr>
          <a:xfrm>
            <a:off x="1965960" y="17373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Descargos 10 días hábiles (≈23/10) · Plan de solución 15 días hábiles (≈30/10)</a:t>
            </a:r>
            <a:endParaRPr lang="en-US" sz="1050" dirty="0"/>
          </a:p>
        </p:txBody>
      </p:sp>
      <p:sp>
        <p:nvSpPr>
          <p:cNvPr id="17" name="Hito 2"/>
          <p:cNvSpPr/>
          <p:nvPr/>
        </p:nvSpPr>
        <p:spPr>
          <a:xfrm>
            <a:off x="1536192" y="2176272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18" name="Hito fecha 2"/>
          <p:cNvSpPr txBox="1"/>
          <p:nvPr/>
        </p:nvSpPr>
        <p:spPr>
          <a:xfrm>
            <a:off x="1965960" y="213969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OCT 2026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Informe preliminar · Circular 22741</a:t>
            </a:r>
            <a:endParaRPr lang="en-US" sz="1400" dirty="0"/>
          </a:p>
        </p:txBody>
      </p:sp>
      <p:sp>
        <p:nvSpPr>
          <p:cNvPr id="19" name="Hito detalle 2"/>
          <p:cNvSpPr txBox="1"/>
          <p:nvPr/>
        </p:nvSpPr>
        <p:spPr>
          <a:xfrm>
            <a:off x="1965960" y="241401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7 nuevas (Anexo A) + seguimiento a obs. 3 y 5 de 2025 (Anexo B)</a:t>
            </a:r>
            <a:endParaRPr lang="en-US" sz="1050" dirty="0"/>
          </a:p>
        </p:txBody>
      </p:sp>
      <p:sp>
        <p:nvSpPr>
          <p:cNvPr id="20" name="Hito 3"/>
          <p:cNvSpPr/>
          <p:nvPr/>
        </p:nvSpPr>
        <p:spPr>
          <a:xfrm>
            <a:off x="1536192" y="2852928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21" name="Hito fecha 3"/>
          <p:cNvSpPr txBox="1"/>
          <p:nvPr/>
        </p:nvSpPr>
        <p:spPr>
          <a:xfrm>
            <a:off x="196596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AGO 2026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Inicio de la visita de supervisión ampliada</a:t>
            </a:r>
            <a:endParaRPr lang="en-US" sz="1400" dirty="0"/>
          </a:p>
        </p:txBody>
      </p:sp>
      <p:sp>
        <p:nvSpPr>
          <p:cNvPr id="22" name="Hito 4"/>
          <p:cNvSpPr/>
          <p:nvPr/>
        </p:nvSpPr>
        <p:spPr>
          <a:xfrm>
            <a:off x="1536192" y="3529584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23" name="Hito fecha 4"/>
          <p:cNvSpPr txBox="1"/>
          <p:nvPr/>
        </p:nvSpPr>
        <p:spPr>
          <a:xfrm>
            <a:off x="1965960" y="34930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JUL 2026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Nombramiento SSF · Circular 18432</a:t>
            </a:r>
            <a:endParaRPr lang="en-US" sz="1400" dirty="0"/>
          </a:p>
        </p:txBody>
      </p:sp>
      <p:sp>
        <p:nvSpPr>
          <p:cNvPr id="24" name="Hito detalle 4"/>
          <p:cNvSpPr txBox="1"/>
          <p:nvPr/>
        </p:nvSpPr>
        <p:spPr>
          <a:xfrm>
            <a:off x="1965960" y="37673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Visita con corte al 31/07/2026</a:t>
            </a:r>
            <a:endParaRPr lang="en-US" sz="1050" dirty="0"/>
          </a:p>
        </p:txBody>
      </p:sp>
      <p:sp>
        <p:nvSpPr>
          <p:cNvPr id="25" name="Hito 5"/>
          <p:cNvSpPr/>
          <p:nvPr/>
        </p:nvSpPr>
        <p:spPr>
          <a:xfrm>
            <a:off x="1536192" y="4407408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26" name="Hito fecha 5"/>
          <p:cNvSpPr txBox="1"/>
          <p:nvPr/>
        </p:nvSpPr>
        <p:spPr>
          <a:xfrm>
            <a:off x="1965960" y="43708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NOV 2025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Informe preliminar · Circular 17003</a:t>
            </a:r>
            <a:endParaRPr lang="en-US" sz="1400" dirty="0"/>
          </a:p>
        </p:txBody>
      </p:sp>
      <p:sp>
        <p:nvSpPr>
          <p:cNvPr id="27" name="Hito detalle 5"/>
          <p:cNvSpPr txBox="1"/>
          <p:nvPr/>
        </p:nvSpPr>
        <p:spPr>
          <a:xfrm>
            <a:off x="1965960" y="46451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9 observaciones</a:t>
            </a:r>
            <a:endParaRPr lang="en-US" sz="1050" dirty="0"/>
          </a:p>
        </p:txBody>
      </p:sp>
      <p:sp>
        <p:nvSpPr>
          <p:cNvPr id="28" name="Hito 6"/>
          <p:cNvSpPr/>
          <p:nvPr/>
        </p:nvSpPr>
        <p:spPr>
          <a:xfrm>
            <a:off x="1536192" y="5084064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29" name="Hito fecha 6"/>
          <p:cNvSpPr txBox="1"/>
          <p:nvPr/>
        </p:nvSpPr>
        <p:spPr>
          <a:xfrm>
            <a:off x="1965960" y="5047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MAY 2025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Inicio formal de la visita en sitio</a:t>
            </a:r>
            <a:endParaRPr lang="en-US" sz="1400" dirty="0"/>
          </a:p>
        </p:txBody>
      </p:sp>
      <p:sp>
        <p:nvSpPr>
          <p:cNvPr id="30" name="Hito 7"/>
          <p:cNvSpPr/>
          <p:nvPr/>
        </p:nvSpPr>
        <p:spPr>
          <a:xfrm>
            <a:off x="1536192" y="5760720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31" name="Hito fecha 7"/>
          <p:cNvSpPr txBox="1"/>
          <p:nvPr/>
        </p:nvSpPr>
        <p:spPr>
          <a:xfrm>
            <a:off x="1965960" y="57241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ABR 2025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Nombramiento SSF · Circular 9337</a:t>
            </a:r>
            <a:endParaRPr lang="en-US" sz="1400" dirty="0"/>
          </a:p>
        </p:txBody>
      </p:sp>
      <p:sp>
        <p:nvSpPr>
          <p:cNvPr id="32" name="Hito detalle 7"/>
          <p:cNvSpPr txBox="1"/>
          <p:nvPr/>
        </p:nvSpPr>
        <p:spPr>
          <a:xfrm>
            <a:off x="1965960" y="59984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Visita con corte al 30/04/2025</a:t>
            </a:r>
            <a:endParaRPr lang="en-US" sz="1050" dirty="0"/>
          </a:p>
        </p:txBody>
      </p:sp>
      <p:sp>
        <p:nvSpPr>
          <p:cNvPr id="33" name="Detalle 2026"/>
          <p:cNvSpPr/>
          <p:nvPr/>
        </p:nvSpPr>
        <p:spPr>
          <a:xfrm>
            <a:off x="6720840" y="1325880"/>
            <a:ext cx="4922215" cy="1298448"/>
          </a:xfrm>
          <a:prstGeom prst="roundRect">
            <a:avLst>
              <a:gd name="adj" fmla="val 7042"/>
            </a:avLst>
          </a:prstGeom>
          <a:solidFill>
            <a:schemeClr val="accent2">
              <a:alpha val="12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4" name="Detalle 2026 título"/>
          <p:cNvSpPr txBox="1"/>
          <p:nvPr/>
        </p:nvSpPr>
        <p:spPr>
          <a:xfrm>
            <a:off x="6903720" y="1435608"/>
            <a:ext cx="4556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Resultado 2026 · Circular 22741</a:t>
            </a:r>
            <a:endParaRPr lang="en-US" sz="1300" dirty="0"/>
          </a:p>
        </p:txBody>
      </p:sp>
      <p:sp>
        <p:nvSpPr>
          <p:cNvPr id="35" name="Detalle 2026 texto"/>
          <p:cNvSpPr txBox="1"/>
          <p:nvPr/>
        </p:nvSpPr>
        <p:spPr>
          <a:xfrm>
            <a:off x="6903720" y="1755648"/>
            <a:ext cx="455645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Anexo A: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7 observaciones nuevas · descargos en 10 días hábiles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Anexo B: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seguimiento a obs. 3 y 5 de 2025 · plan de solución en 15 días hábiles</a:t>
            </a:r>
            <a:endParaRPr lang="en-US" sz="1150" dirty="0"/>
          </a:p>
        </p:txBody>
      </p:sp>
      <p:sp>
        <p:nvSpPr>
          <p:cNvPr id="36" name="Detalle 2025"/>
          <p:cNvSpPr/>
          <p:nvPr/>
        </p:nvSpPr>
        <p:spPr>
          <a:xfrm>
            <a:off x="6720840" y="2761488"/>
            <a:ext cx="4922215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7" name="Detalle 2025 título"/>
          <p:cNvSpPr txBox="1"/>
          <p:nvPr/>
        </p:nvSpPr>
        <p:spPr>
          <a:xfrm>
            <a:off x="6903720" y="2871216"/>
            <a:ext cx="4556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Hallazgos críticos 2025 · Circular 17003</a:t>
            </a:r>
            <a:endParaRPr lang="en-US" sz="1300" dirty="0"/>
          </a:p>
        </p:txBody>
      </p:sp>
      <p:sp>
        <p:nvSpPr>
          <p:cNvPr id="38" name="Detalle 2025 texto"/>
          <p:cNvSpPr txBox="1"/>
          <p:nvPr/>
        </p:nvSpPr>
        <p:spPr>
          <a:xfrm>
            <a:off x="6903720" y="3182112"/>
            <a:ext cx="45564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Ausencia de Política de Operaciones Vinculadas</a:t>
            </a:r>
            <a:endParaRPr lang="en-US" sz="11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Normativa interna desactualizada (9 documentos)</a:t>
            </a:r>
            <a:endParaRPr lang="en-US" sz="11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Uso inapropiado del Fondo de Educación</a:t>
            </a:r>
            <a:endParaRPr lang="en-US" sz="1150" dirty="0"/>
          </a:p>
        </p:txBody>
      </p:sp>
      <p:sp>
        <p:nvSpPr>
          <p:cNvPr id="39" name="Evolución título"/>
          <p:cNvSpPr txBox="1"/>
          <p:nvPr/>
        </p:nvSpPr>
        <p:spPr>
          <a:xfrm>
            <a:off x="6720840" y="4041648"/>
            <a:ext cx="4922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SEGUIMIENTO A OBSERVACIONES 2025</a:t>
            </a:r>
            <a:endParaRPr lang="en-US" sz="1100" dirty="0"/>
          </a:p>
        </p:txBody>
      </p:sp>
      <p:sp>
        <p:nvSpPr>
          <p:cNvPr id="40" name="Evolución 1"/>
          <p:cNvSpPr/>
          <p:nvPr/>
        </p:nvSpPr>
        <p:spPr>
          <a:xfrm>
            <a:off x="6720840" y="4343400"/>
            <a:ext cx="4922215" cy="585216"/>
          </a:xfrm>
          <a:prstGeom prst="roundRect">
            <a:avLst>
              <a:gd name="adj" fmla="val 15625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41" name="Evolución estado 1 fondo"/>
          <p:cNvSpPr/>
          <p:nvPr/>
        </p:nvSpPr>
        <p:spPr>
          <a:xfrm>
            <a:off x="6858000" y="4498848"/>
            <a:ext cx="20116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42" name="Evolución estado 1"/>
          <p:cNvSpPr txBox="1"/>
          <p:nvPr/>
        </p:nvSpPr>
        <p:spPr>
          <a:xfrm>
            <a:off x="685800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 SUPERADA</a:t>
            </a:r>
            <a:endParaRPr lang="en-US" sz="1000" dirty="0"/>
          </a:p>
        </p:txBody>
      </p:sp>
      <p:sp>
        <p:nvSpPr>
          <p:cNvPr id="43" name="Evolución tema 1"/>
          <p:cNvSpPr txBox="1"/>
          <p:nvPr/>
        </p:nvSpPr>
        <p:spPr>
          <a:xfrm>
            <a:off x="9006840" y="4416552"/>
            <a:ext cx="2544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Comités de Apoyo sin ejecutivos</a:t>
            </a:r>
            <a:endParaRPr lang="en-US" sz="1200" dirty="0"/>
          </a:p>
        </p:txBody>
      </p:sp>
      <p:sp>
        <p:nvSpPr>
          <p:cNvPr id="44" name="Evolución detalle 1"/>
          <p:cNvSpPr txBox="1"/>
          <p:nvPr/>
        </p:nvSpPr>
        <p:spPr>
          <a:xfrm>
            <a:off x="9006840" y="4654296"/>
            <a:ext cx="25447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Obs. 3 de 2025 · Anexo B</a:t>
            </a:r>
            <a:endParaRPr lang="en-US" sz="1050" dirty="0"/>
          </a:p>
        </p:txBody>
      </p:sp>
      <p:sp>
        <p:nvSpPr>
          <p:cNvPr id="45" name="Evolución 2"/>
          <p:cNvSpPr/>
          <p:nvPr/>
        </p:nvSpPr>
        <p:spPr>
          <a:xfrm>
            <a:off x="6720840" y="5001768"/>
            <a:ext cx="4922215" cy="585216"/>
          </a:xfrm>
          <a:prstGeom prst="roundRect">
            <a:avLst>
              <a:gd name="adj" fmla="val 15625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46" name="Evolución estado 2 fondo"/>
          <p:cNvSpPr/>
          <p:nvPr/>
        </p:nvSpPr>
        <p:spPr>
          <a:xfrm>
            <a:off x="6858000" y="5157216"/>
            <a:ext cx="201168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47" name="Evolución estado 2"/>
          <p:cNvSpPr txBox="1"/>
          <p:nvPr/>
        </p:nvSpPr>
        <p:spPr>
          <a:xfrm>
            <a:off x="6858000" y="51572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PARCIALMENTE SUPERADA</a:t>
            </a:r>
            <a:endParaRPr lang="en-US" sz="1000" dirty="0"/>
          </a:p>
        </p:txBody>
      </p:sp>
      <p:sp>
        <p:nvSpPr>
          <p:cNvPr id="48" name="Evolución tema 2"/>
          <p:cNvSpPr txBox="1"/>
          <p:nvPr/>
        </p:nvSpPr>
        <p:spPr>
          <a:xfrm>
            <a:off x="9006840" y="5074920"/>
            <a:ext cx="2544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Normativa interna desactualizada</a:t>
            </a:r>
            <a:endParaRPr lang="en-US" sz="1200" dirty="0"/>
          </a:p>
        </p:txBody>
      </p:sp>
      <p:sp>
        <p:nvSpPr>
          <p:cNvPr id="49" name="Evolución detalle 2"/>
          <p:cNvSpPr txBox="1"/>
          <p:nvPr/>
        </p:nvSpPr>
        <p:spPr>
          <a:xfrm>
            <a:off x="9006840" y="5312664"/>
            <a:ext cx="25447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Obs. 5 de 2025 · Anexo B</a:t>
            </a:r>
            <a:endParaRPr lang="en-US" sz="1050" dirty="0"/>
          </a:p>
        </p:txBody>
      </p:sp>
      <p:sp>
        <p:nvSpPr>
          <p:cNvPr id="50" name="Evolución 3"/>
          <p:cNvSpPr/>
          <p:nvPr/>
        </p:nvSpPr>
        <p:spPr>
          <a:xfrm>
            <a:off x="6720840" y="5660136"/>
            <a:ext cx="4922215" cy="585216"/>
          </a:xfrm>
          <a:prstGeom prst="roundRect">
            <a:avLst>
              <a:gd name="adj" fmla="val 15625"/>
            </a:avLst>
          </a:prstGeom>
          <a:solidFill>
            <a:schemeClr val="accent2">
              <a:alpha val="12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1" name="Evolución estado 3 fondo"/>
          <p:cNvSpPr/>
          <p:nvPr/>
        </p:nvSpPr>
        <p:spPr>
          <a:xfrm>
            <a:off x="6858000" y="5815584"/>
            <a:ext cx="201168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Evolución estado 3"/>
          <p:cNvSpPr txBox="1"/>
          <p:nvPr/>
        </p:nvSpPr>
        <p:spPr>
          <a:xfrm>
            <a:off x="6858000" y="58155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MISMO TEMA · NUEVAS</a:t>
            </a:r>
            <a:endParaRPr lang="en-US" sz="1000" dirty="0"/>
          </a:p>
        </p:txBody>
      </p:sp>
      <p:sp>
        <p:nvSpPr>
          <p:cNvPr id="53" name="Evolución tema 3"/>
          <p:cNvSpPr txBox="1"/>
          <p:nvPr/>
        </p:nvSpPr>
        <p:spPr>
          <a:xfrm>
            <a:off x="9006840" y="5733288"/>
            <a:ext cx="2544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Fondo de Educación</a:t>
            </a:r>
            <a:endParaRPr lang="en-US" sz="1200" dirty="0"/>
          </a:p>
        </p:txBody>
      </p:sp>
      <p:sp>
        <p:nvSpPr>
          <p:cNvPr id="54" name="Evolución detalle 3"/>
          <p:cNvSpPr txBox="1"/>
          <p:nvPr/>
        </p:nvSpPr>
        <p:spPr>
          <a:xfrm>
            <a:off x="9006840" y="5971032"/>
            <a:ext cx="25447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Obs. 6 y 7 nuevas · no es seguimiento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COMEDICA de R.L.</cp:lastModifiedBy>
  <cp:revision>1</cp:revision>
  <dcterms:created xsi:type="dcterms:W3CDTF">2026-10-13T17:41:02Z</dcterms:created>
  <dcterms:modified xsi:type="dcterms:W3CDTF">2026-10-13T17:41:02Z</dcterms:modified>
</cp:coreProperties>
</file>