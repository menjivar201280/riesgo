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1 · Resumen de circulares SSF" id="{78b0aa3a-9ab5-fb95-9248-4383e14b6bcd}">
          <p14:sldIdLst>
            <p14:sldId id="256"/>
          </p14:sldIdLst>
        </p14:section>
        <p14:section name="2 · Observaciones 2025" id="{4562aab9-27b5-7725-6e3f-232541bde45e}">
          <p14:sldIdLst>
            <p14:sldId id="257"/>
          </p14:sldIdLst>
        </p14:section>
        <p14:section name="3 · Observaciones 2026" id="{3570cbb6-4c7d-6896-bc4c-b664d66295a0}">
          <p14:sldIdLst>
            <p14:sldId id="25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Cuatro circulares de la SSF. Cada año la SSF primero notifica el nombramiento de la visita ampliada y luego remite los resultados preliminares. 2025: Circular 17003 con 9 observaciones. 2026: Circular 22741 con 7 observaciones nuevas (Anexo A) y seguimiento a 2 de las 9 observaciones de 2025 (Anexo B): la obs. 3 no superada y la obs. 5 parcialmente superada.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Nueve observaciones de la Circular 17003. Responsable y descargo según la Matriz de requerimientos enviada a la SSF el 18/11/2025 (ref. NB07-2025-974, buzón DESCARGOS_OBSERVACIONES). Obs. 5: actualizados el Reglamento del Comité de Finanzas (21/07/2025), la Política de Seguridad de la Información (02/06/2025) y el Manual de Inducción (25/08/2025). En rojo, las 2 observaciones con seguimiento en 2026 (Anexo B): obs. 3 no superada y obs. 5 parcialmente superada.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Anexo A: siete observaciones nuevas. Responsable y respuesta según la Matriz de requerimientos de la Circular 22741 (las obs. 1, 4 y 5 aún no tienen comentario en la matriz). Anexo B: seguimiento a las obs. 3 y 5 de 2025; responsable y avance según el Plan de solución. Obs. 5: Reglamento Interno de Trabajo en proceso; Reglamento del Comité de Auditoría aprobado por el Comité el 28/08/2026 y remitido el 05/10/2026 al Consejo de Administración para ratificación; Manual de Compras en proceso. Plazos: 10 días hábiles para descargos y 15 días hábiles para el plan de solución (fechas aproximadas sin asuetos).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RESUMEN PANEL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114800" cy="6858000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" name="Text 1"/>
          <p:cNvSpPr/>
          <p:nvPr>
            <p:ph idx="101" type="body" hasCustomPrompt="1"/>
          </p:nvPr>
        </p:nvSpPr>
        <p:spPr>
          <a:xfrm>
            <a:off x="548640" y="502920"/>
            <a:ext cx="320040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100" b="1" spc="200" kern="0" dirty="0">
                <a:solidFill>
                  <a:schemeClr val="bg2"/>
                </a:solidFill>
              </a:defRPr>
            </a:lvl1pPr>
          </a:lstStyle>
          <a:p>
            <a:pPr indent="0" marL="0">
              <a:buNone/>
            </a:pPr>
            <a:r>
              <a:rPr lang="en-US" sz="1100" b="1" spc="200" kern="0" dirty="0">
                <a:solidFill>
                  <a:schemeClr val="bg2"/>
                </a:solidFill>
              </a:rPr>
              <a:t>SECCIÓN</a:t>
            </a:r>
            <a:endParaRPr lang="en-US" sz="11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1143000"/>
            <a:ext cx="320040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Título</a:t>
            </a:r>
            <a:endParaRPr lang="en-US" sz="3000" dirty="0"/>
          </a:p>
        </p:txBody>
      </p:sp>
      <p:sp>
        <p:nvSpPr>
          <p:cNvPr id="5" name="Text 1"/>
          <p:cNvSpPr/>
          <p:nvPr/>
        </p:nvSpPr>
        <p:spPr>
          <a:xfrm>
            <a:off x="457200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SSF · Gobierno Corporativo (NRP-17) · COMEDICA de R.L.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IDO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100" b="1" spc="200" kern="0" dirty="0">
                <a:solidFill>
                  <a:schemeClr val="accent5"/>
                </a:solidFill>
              </a:defRPr>
            </a:lvl1pPr>
          </a:lstStyle>
          <a:p>
            <a:pPr indent="0" marL="0">
              <a:buNone/>
            </a:pPr>
            <a:r>
              <a:rPr lang="en-US" sz="1100" b="1" spc="200" kern="0" dirty="0">
                <a:solidFill>
                  <a:schemeClr val="accent5"/>
                </a:solidFill>
              </a:rPr>
              <a:t>SECCIÓN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94360"/>
            <a:ext cx="786384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Título</a:t>
            </a: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SSF · Gobierno Corporativo (NRP-17) · COMEDICA de R.L.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50292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bg2"/>
                </a:solidFill>
              </a:rPr>
              <a:t>SUPERVISIONES DE GOBIERNO CORPORATIVO · COMEDICA DE R.L.</a:t>
            </a:r>
            <a:endParaRPr lang="en-US" sz="11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1143000"/>
            <a:ext cx="3200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Circulares de notificación SSF 2025 – 2026</a:t>
            </a:r>
            <a:endParaRPr lang="en-US" sz="3000" dirty="0"/>
          </a:p>
        </p:txBody>
      </p:sp>
      <p:sp>
        <p:nvSpPr>
          <p:cNvPr id="4" name="Separador panel 2025"/>
          <p:cNvSpPr/>
          <p:nvPr/>
        </p:nvSpPr>
        <p:spPr>
          <a:xfrm>
            <a:off x="548640" y="2788920"/>
            <a:ext cx="3200400" cy="0"/>
          </a:xfrm>
          <a:prstGeom prst="line">
            <a:avLst/>
          </a:prstGeom>
          <a:noFill/>
          <a:ln w="9525">
            <a:solidFill>
              <a:schemeClr val="bg2">
                <a:alpha val="40000"/>
              </a:schemeClr>
            </a:solidFill>
            <a:prstDash val="solid"/>
          </a:ln>
        </p:spPr>
      </p:sp>
      <p:sp>
        <p:nvSpPr>
          <p:cNvPr id="5" name="Año panel 2025 fondo"/>
          <p:cNvSpPr/>
          <p:nvPr/>
        </p:nvSpPr>
        <p:spPr>
          <a:xfrm>
            <a:off x="548640" y="2953512"/>
            <a:ext cx="777240" cy="27432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</p:sp>
      <p:sp>
        <p:nvSpPr>
          <p:cNvPr id="6" name="Año panel 2025"/>
          <p:cNvSpPr txBox="1"/>
          <p:nvPr/>
        </p:nvSpPr>
        <p:spPr>
          <a:xfrm>
            <a:off x="548640" y="295351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chemeClr val="bg1"/>
                </a:solidFill>
              </a:rPr>
              <a:t>2025</a:t>
            </a:r>
            <a:endParaRPr lang="en-US" sz="1100" dirty="0"/>
          </a:p>
        </p:txBody>
      </p:sp>
      <p:sp>
        <p:nvSpPr>
          <p:cNvPr id="7" name="Contorno panel 2025"/>
          <p:cNvSpPr/>
          <p:nvPr/>
        </p:nvSpPr>
        <p:spPr>
          <a:xfrm>
            <a:off x="548640" y="2953512"/>
            <a:ext cx="777240" cy="274320"/>
          </a:xfrm>
          <a:prstGeom prst="roundRect">
            <a:avLst>
              <a:gd name="adj" fmla="val 50000"/>
            </a:avLst>
          </a:prstGeom>
          <a:ln w="12700">
            <a:solidFill>
              <a:schemeClr val="bg1"/>
            </a:solidFill>
            <a:prstDash val="solid"/>
          </a:ln>
        </p:spPr>
      </p:sp>
      <p:sp>
        <p:nvSpPr>
          <p:cNvPr id="8" name="Visita panel 2025"/>
          <p:cNvSpPr txBox="1"/>
          <p:nvPr/>
        </p:nvSpPr>
        <p:spPr>
          <a:xfrm>
            <a:off x="1463040" y="295351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bg2"/>
                </a:solidFill>
              </a:rPr>
              <a:t>Visita 1 · Circular 17003</a:t>
            </a:r>
            <a:endParaRPr lang="en-US" sz="1100" dirty="0"/>
          </a:p>
        </p:txBody>
      </p:sp>
      <p:sp>
        <p:nvSpPr>
          <p:cNvPr id="9" name="KPI 2025-1"/>
          <p:cNvSpPr txBox="1"/>
          <p:nvPr/>
        </p:nvSpPr>
        <p:spPr>
          <a:xfrm>
            <a:off x="548640" y="3337560"/>
            <a:ext cx="1508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3200" dirty="0"/>
          </a:p>
        </p:txBody>
      </p:sp>
      <p:sp>
        <p:nvSpPr>
          <p:cNvPr id="10" name="KPI texto 2025-1"/>
          <p:cNvSpPr txBox="1"/>
          <p:nvPr/>
        </p:nvSpPr>
        <p:spPr>
          <a:xfrm>
            <a:off x="548640" y="3904488"/>
            <a:ext cx="1508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bg2"/>
                </a:solidFill>
              </a:rPr>
              <a:t>circulares</a:t>
            </a:r>
            <a:endParaRPr lang="en-US" sz="1100" dirty="0"/>
          </a:p>
        </p:txBody>
      </p:sp>
      <p:sp>
        <p:nvSpPr>
          <p:cNvPr id="11" name="KPI 2025-2"/>
          <p:cNvSpPr txBox="1"/>
          <p:nvPr/>
        </p:nvSpPr>
        <p:spPr>
          <a:xfrm>
            <a:off x="2148840" y="3337560"/>
            <a:ext cx="1508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3200" dirty="0"/>
          </a:p>
        </p:txBody>
      </p:sp>
      <p:sp>
        <p:nvSpPr>
          <p:cNvPr id="12" name="KPI texto 2025-2"/>
          <p:cNvSpPr txBox="1"/>
          <p:nvPr/>
        </p:nvSpPr>
        <p:spPr>
          <a:xfrm>
            <a:off x="2148840" y="3904488"/>
            <a:ext cx="1508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bg2"/>
                </a:solidFill>
              </a:rPr>
              <a:t>observaciones</a:t>
            </a:r>
            <a:endParaRPr lang="en-US" sz="1100" dirty="0"/>
          </a:p>
        </p:txBody>
      </p:sp>
      <p:sp>
        <p:nvSpPr>
          <p:cNvPr id="13" name="Separador panel 2026"/>
          <p:cNvSpPr/>
          <p:nvPr/>
        </p:nvSpPr>
        <p:spPr>
          <a:xfrm>
            <a:off x="548640" y="4434840"/>
            <a:ext cx="3200400" cy="0"/>
          </a:xfrm>
          <a:prstGeom prst="line">
            <a:avLst/>
          </a:prstGeom>
          <a:noFill/>
          <a:ln w="9525">
            <a:solidFill>
              <a:schemeClr val="bg2">
                <a:alpha val="40000"/>
              </a:schemeClr>
            </a:solidFill>
            <a:prstDash val="solid"/>
          </a:ln>
        </p:spPr>
      </p:sp>
      <p:sp>
        <p:nvSpPr>
          <p:cNvPr id="14" name="Año panel 2026 fondo"/>
          <p:cNvSpPr/>
          <p:nvPr/>
        </p:nvSpPr>
        <p:spPr>
          <a:xfrm>
            <a:off x="548640" y="4599432"/>
            <a:ext cx="777240" cy="27432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</p:sp>
      <p:sp>
        <p:nvSpPr>
          <p:cNvPr id="15" name="Año panel 2026"/>
          <p:cNvSpPr txBox="1"/>
          <p:nvPr/>
        </p:nvSpPr>
        <p:spPr>
          <a:xfrm>
            <a:off x="548640" y="459943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chemeClr val="bg1"/>
                </a:solidFill>
              </a:rPr>
              <a:t>2026</a:t>
            </a:r>
            <a:endParaRPr lang="en-US" sz="1100" dirty="0"/>
          </a:p>
        </p:txBody>
      </p:sp>
      <p:sp>
        <p:nvSpPr>
          <p:cNvPr id="16" name="Visita panel 2026"/>
          <p:cNvSpPr txBox="1"/>
          <p:nvPr/>
        </p:nvSpPr>
        <p:spPr>
          <a:xfrm>
            <a:off x="1463040" y="459943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bg2"/>
                </a:solidFill>
              </a:rPr>
              <a:t>Visita 2 · Circular 22741</a:t>
            </a:r>
            <a:endParaRPr lang="en-US" sz="1100" dirty="0"/>
          </a:p>
        </p:txBody>
      </p:sp>
      <p:sp>
        <p:nvSpPr>
          <p:cNvPr id="17" name="KPI 2026-1"/>
          <p:cNvSpPr txBox="1"/>
          <p:nvPr/>
        </p:nvSpPr>
        <p:spPr>
          <a:xfrm>
            <a:off x="548640" y="4983480"/>
            <a:ext cx="975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3200" dirty="0"/>
          </a:p>
        </p:txBody>
      </p:sp>
      <p:sp>
        <p:nvSpPr>
          <p:cNvPr id="18" name="KPI texto 2026-1"/>
          <p:cNvSpPr txBox="1"/>
          <p:nvPr/>
        </p:nvSpPr>
        <p:spPr>
          <a:xfrm>
            <a:off x="548640" y="5550408"/>
            <a:ext cx="975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bg2"/>
                </a:solidFill>
              </a:rPr>
              <a:t>circulares</a:t>
            </a:r>
            <a:endParaRPr lang="en-US" sz="1100" dirty="0"/>
          </a:p>
        </p:txBody>
      </p:sp>
      <p:sp>
        <p:nvSpPr>
          <p:cNvPr id="19" name="KPI 2026-2"/>
          <p:cNvSpPr txBox="1"/>
          <p:nvPr/>
        </p:nvSpPr>
        <p:spPr>
          <a:xfrm>
            <a:off x="1615440" y="4983480"/>
            <a:ext cx="975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3200" dirty="0"/>
          </a:p>
        </p:txBody>
      </p:sp>
      <p:sp>
        <p:nvSpPr>
          <p:cNvPr id="20" name="KPI texto 2026-2"/>
          <p:cNvSpPr txBox="1"/>
          <p:nvPr/>
        </p:nvSpPr>
        <p:spPr>
          <a:xfrm>
            <a:off x="1615440" y="5550408"/>
            <a:ext cx="975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bg2"/>
                </a:solidFill>
              </a:rPr>
              <a:t>observaciones nuevas</a:t>
            </a:r>
            <a:endParaRPr lang="en-US" sz="1100" dirty="0"/>
          </a:p>
        </p:txBody>
      </p:sp>
      <p:sp>
        <p:nvSpPr>
          <p:cNvPr id="21" name="KPI 2026-3"/>
          <p:cNvSpPr txBox="1"/>
          <p:nvPr/>
        </p:nvSpPr>
        <p:spPr>
          <a:xfrm>
            <a:off x="2682240" y="4983480"/>
            <a:ext cx="975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3200" dirty="0"/>
          </a:p>
        </p:txBody>
      </p:sp>
      <p:sp>
        <p:nvSpPr>
          <p:cNvPr id="22" name="KPI texto 2026-3"/>
          <p:cNvSpPr txBox="1"/>
          <p:nvPr/>
        </p:nvSpPr>
        <p:spPr>
          <a:xfrm>
            <a:off x="2682240" y="5550408"/>
            <a:ext cx="975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bg2"/>
                </a:solidFill>
              </a:rPr>
              <a:t>de 2025 en seguimiento</a:t>
            </a:r>
            <a:endParaRPr lang="en-US" sz="1100" dirty="0"/>
          </a:p>
        </p:txBody>
      </p:sp>
      <p:sp>
        <p:nvSpPr>
          <p:cNvPr id="23" name="Seguimiento panel"/>
          <p:cNvSpPr txBox="1"/>
          <p:nvPr/>
        </p:nvSpPr>
        <p:spPr>
          <a:xfrm>
            <a:off x="548640" y="598932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chemeClr val="bg2"/>
                </a:solidFill>
              </a:rPr>
              <a:t>Seguimiento: obs. 3 no superada · obs. 5 parcialmente superada</a:t>
            </a:r>
            <a:endParaRPr lang="en-US" sz="1050" dirty="0"/>
          </a:p>
        </p:txBody>
      </p:sp>
      <p:sp>
        <p:nvSpPr>
          <p:cNvPr id="24" name="Año 2025"/>
          <p:cNvSpPr txBox="1"/>
          <p:nvPr/>
        </p:nvSpPr>
        <p:spPr>
          <a:xfrm>
            <a:off x="4572000" y="32004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2025</a:t>
            </a:r>
            <a:endParaRPr lang="en-US" sz="2800" dirty="0"/>
          </a:p>
        </p:txBody>
      </p:sp>
      <p:sp>
        <p:nvSpPr>
          <p:cNvPr id="25" name="Visita 2025"/>
          <p:cNvSpPr txBox="1"/>
          <p:nvPr/>
        </p:nvSpPr>
        <p:spPr>
          <a:xfrm>
            <a:off x="5760720" y="32004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Visita 1 · supervisión ampliada</a:t>
            </a:r>
            <a:endParaRPr lang="en-US" sz="1400" dirty="0"/>
          </a:p>
        </p:txBody>
      </p:sp>
      <p:sp>
        <p:nvSpPr>
          <p:cNvPr id="26" name="Tarjeta 2025-1"/>
          <p:cNvSpPr/>
          <p:nvPr/>
        </p:nvSpPr>
        <p:spPr>
          <a:xfrm>
            <a:off x="4572000" y="868680"/>
            <a:ext cx="2834640" cy="2377440"/>
          </a:xfrm>
          <a:prstGeom prst="roundRect">
            <a:avLst>
              <a:gd name="adj" fmla="val 3846"/>
            </a:avLst>
          </a:prstGeom>
          <a:solidFill>
            <a:schemeClr val="bg1"/>
          </a:solidFill>
          <a:ln w="12700">
            <a:solidFill>
              <a:srgbClr val="D9E0EA"/>
            </a:solidFill>
            <a:prstDash val="solid"/>
          </a:ln>
        </p:spPr>
      </p:sp>
      <p:sp>
        <p:nvSpPr>
          <p:cNvPr id="27" name="Fechas fondo 2025-1"/>
          <p:cNvSpPr/>
          <p:nvPr/>
        </p:nvSpPr>
        <p:spPr>
          <a:xfrm>
            <a:off x="4690872" y="987552"/>
            <a:ext cx="1005840" cy="2139696"/>
          </a:xfrm>
          <a:prstGeom prst="roundRect">
            <a:avLst>
              <a:gd name="adj" fmla="val 9091"/>
            </a:avLst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</p:sp>
      <p:sp>
        <p:nvSpPr>
          <p:cNvPr id="28" name="Fecha etiqueta 2025-1-0"/>
          <p:cNvSpPr txBox="1"/>
          <p:nvPr/>
        </p:nvSpPr>
        <p:spPr>
          <a:xfrm>
            <a:off x="4690872" y="1152144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chemeClr val="bg1"/>
                </a:solidFill>
              </a:rPr>
              <a:t>INICIO DE VISITA</a:t>
            </a:r>
            <a:endParaRPr lang="en-US" sz="800" dirty="0"/>
          </a:p>
        </p:txBody>
      </p:sp>
      <p:sp>
        <p:nvSpPr>
          <p:cNvPr id="29" name="Fecha día 2025-1-0"/>
          <p:cNvSpPr txBox="1"/>
          <p:nvPr/>
        </p:nvSpPr>
        <p:spPr>
          <a:xfrm>
            <a:off x="4690872" y="1353312"/>
            <a:ext cx="1005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</a:t>
            </a:r>
            <a:endParaRPr lang="en-US" sz="2600" dirty="0"/>
          </a:p>
        </p:txBody>
      </p:sp>
      <p:sp>
        <p:nvSpPr>
          <p:cNvPr id="30" name="Fecha mes 2025-1-0"/>
          <p:cNvSpPr txBox="1"/>
          <p:nvPr/>
        </p:nvSpPr>
        <p:spPr>
          <a:xfrm>
            <a:off x="4690872" y="1773936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chemeClr val="bg1"/>
                </a:solidFill>
              </a:rPr>
              <a:t>MAY 2025</a:t>
            </a:r>
            <a:endParaRPr lang="en-US" sz="1000" dirty="0"/>
          </a:p>
        </p:txBody>
      </p:sp>
      <p:sp>
        <p:nvSpPr>
          <p:cNvPr id="31" name="Fecha etiqueta 2025-1-1"/>
          <p:cNvSpPr txBox="1"/>
          <p:nvPr/>
        </p:nvSpPr>
        <p:spPr>
          <a:xfrm>
            <a:off x="4690872" y="2221992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chemeClr val="bg1"/>
                </a:solidFill>
              </a:rPr>
              <a:t>INFORME</a:t>
            </a:r>
            <a:endParaRPr lang="en-US" sz="800" dirty="0"/>
          </a:p>
        </p:txBody>
      </p:sp>
      <p:sp>
        <p:nvSpPr>
          <p:cNvPr id="32" name="Fecha día 2025-1-1"/>
          <p:cNvSpPr txBox="1"/>
          <p:nvPr/>
        </p:nvSpPr>
        <p:spPr>
          <a:xfrm>
            <a:off x="4690872" y="2423160"/>
            <a:ext cx="1005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2600" dirty="0"/>
          </a:p>
        </p:txBody>
      </p:sp>
      <p:sp>
        <p:nvSpPr>
          <p:cNvPr id="33" name="Fecha mes 2025-1-1"/>
          <p:cNvSpPr txBox="1"/>
          <p:nvPr/>
        </p:nvSpPr>
        <p:spPr>
          <a:xfrm>
            <a:off x="4690872" y="2843784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chemeClr val="bg1"/>
                </a:solidFill>
              </a:rPr>
              <a:t>NOV 2025</a:t>
            </a:r>
            <a:endParaRPr lang="en-US" sz="1000" dirty="0"/>
          </a:p>
        </p:txBody>
      </p:sp>
      <p:sp>
        <p:nvSpPr>
          <p:cNvPr id="34" name="Fechas separador 2025-1"/>
          <p:cNvSpPr/>
          <p:nvPr/>
        </p:nvSpPr>
        <p:spPr>
          <a:xfrm>
            <a:off x="4873752" y="2057400"/>
            <a:ext cx="640080" cy="0"/>
          </a:xfrm>
          <a:prstGeom prst="line">
            <a:avLst/>
          </a:prstGeom>
          <a:noFill/>
          <a:ln w="9525">
            <a:solidFill>
              <a:schemeClr val="bg1">
                <a:alpha val="60000"/>
              </a:schemeClr>
            </a:solidFill>
            <a:prstDash val="solid"/>
          </a:ln>
        </p:spPr>
      </p:sp>
      <p:sp>
        <p:nvSpPr>
          <p:cNvPr id="35" name="Tipo 2025-1"/>
          <p:cNvSpPr txBox="1"/>
          <p:nvPr/>
        </p:nvSpPr>
        <p:spPr>
          <a:xfrm>
            <a:off x="5852160" y="1005840"/>
            <a:ext cx="14447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Nombramiento de visita ampliada</a:t>
            </a:r>
            <a:endParaRPr lang="en-US" sz="1300" dirty="0"/>
          </a:p>
        </p:txBody>
      </p:sp>
      <p:sp>
        <p:nvSpPr>
          <p:cNvPr id="36" name="Circular 2025-1"/>
          <p:cNvSpPr txBox="1"/>
          <p:nvPr/>
        </p:nvSpPr>
        <p:spPr>
          <a:xfrm>
            <a:off x="5852160" y="1673352"/>
            <a:ext cx="1444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accent5"/>
                </a:solidFill>
              </a:rPr>
              <a:t>Circular No.  </a:t>
            </a:r>
            <a:pPr indent="0" marL="0">
              <a:buNone/>
            </a:pPr>
            <a:r>
              <a:rPr lang="en-US" sz="1000" b="1" dirty="0">
                <a:solidFill>
                  <a:schemeClr val="accent1"/>
                </a:solidFill>
              </a:rPr>
              <a:t>09/04/2025</a:t>
            </a: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chemeClr val="accent1"/>
                </a:solidFill>
              </a:rPr>
              <a:t>DS-SABAO-BCS-BC-9337</a:t>
            </a:r>
            <a:endParaRPr lang="en-US" sz="1000" dirty="0"/>
          </a:p>
        </p:txBody>
      </p:sp>
      <p:sp>
        <p:nvSpPr>
          <p:cNvPr id="37" name="Separador 2025-1-0"/>
          <p:cNvSpPr/>
          <p:nvPr/>
        </p:nvSpPr>
        <p:spPr>
          <a:xfrm>
            <a:off x="5852160" y="2313432"/>
            <a:ext cx="1444752" cy="0"/>
          </a:xfrm>
          <a:prstGeom prst="line">
            <a:avLst/>
          </a:prstGeom>
          <a:noFill/>
          <a:ln w="9525">
            <a:solidFill>
              <a:srgbClr val="D9E0EA"/>
            </a:solidFill>
            <a:prstDash val="solid"/>
          </a:ln>
        </p:spPr>
      </p:sp>
      <p:sp>
        <p:nvSpPr>
          <p:cNvPr id="38" name="Dato 2025-1-0"/>
          <p:cNvSpPr txBox="1"/>
          <p:nvPr/>
        </p:nvSpPr>
        <p:spPr>
          <a:xfrm>
            <a:off x="5852160" y="2350008"/>
            <a:ext cx="14447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accent5"/>
                </a:solidFill>
              </a:rPr>
              <a:t>Corte  </a:t>
            </a:r>
            <a:pPr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30/04/2025</a:t>
            </a:r>
            <a:endParaRPr lang="en-US" sz="1050" dirty="0"/>
          </a:p>
        </p:txBody>
      </p:sp>
      <p:sp>
        <p:nvSpPr>
          <p:cNvPr id="39" name="Separador 2025-1-1"/>
          <p:cNvSpPr/>
          <p:nvPr/>
        </p:nvSpPr>
        <p:spPr>
          <a:xfrm>
            <a:off x="5852160" y="2697480"/>
            <a:ext cx="1444752" cy="0"/>
          </a:xfrm>
          <a:prstGeom prst="line">
            <a:avLst/>
          </a:prstGeom>
          <a:noFill/>
          <a:ln w="9525">
            <a:solidFill>
              <a:srgbClr val="D9E0EA"/>
            </a:solidFill>
            <a:prstDash val="solid"/>
          </a:ln>
        </p:spPr>
      </p:sp>
      <p:sp>
        <p:nvSpPr>
          <p:cNvPr id="40" name="Dato 2025-1-1"/>
          <p:cNvSpPr txBox="1"/>
          <p:nvPr/>
        </p:nvSpPr>
        <p:spPr>
          <a:xfrm>
            <a:off x="5852160" y="2734056"/>
            <a:ext cx="14447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accent5"/>
                </a:solidFill>
              </a:rPr>
              <a:t>Alcance  </a:t>
            </a:r>
            <a:pPr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NRP-17</a:t>
            </a:r>
            <a:endParaRPr lang="en-US" sz="1050" dirty="0"/>
          </a:p>
        </p:txBody>
      </p:sp>
      <p:sp>
        <p:nvSpPr>
          <p:cNvPr id="41" name="Tarjeta 2025-2"/>
          <p:cNvSpPr/>
          <p:nvPr/>
        </p:nvSpPr>
        <p:spPr>
          <a:xfrm>
            <a:off x="7754112" y="868680"/>
            <a:ext cx="3888943" cy="2377440"/>
          </a:xfrm>
          <a:prstGeom prst="roundRect">
            <a:avLst>
              <a:gd name="adj" fmla="val 3846"/>
            </a:avLst>
          </a:prstGeom>
          <a:solidFill>
            <a:schemeClr val="bg1"/>
          </a:solidFill>
          <a:ln w="12700">
            <a:solidFill>
              <a:srgbClr val="D9E0EA"/>
            </a:solidFill>
            <a:prstDash val="solid"/>
          </a:ln>
        </p:spPr>
      </p:sp>
      <p:sp>
        <p:nvSpPr>
          <p:cNvPr id="42" name="Fechas fondo 2025-2"/>
          <p:cNvSpPr/>
          <p:nvPr/>
        </p:nvSpPr>
        <p:spPr>
          <a:xfrm>
            <a:off x="7872984" y="987552"/>
            <a:ext cx="1005840" cy="2139696"/>
          </a:xfrm>
          <a:prstGeom prst="roundRect">
            <a:avLst>
              <a:gd name="adj" fmla="val 9091"/>
            </a:avLst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</p:sp>
      <p:sp>
        <p:nvSpPr>
          <p:cNvPr id="43" name="Fecha etiqueta 2025-2-0"/>
          <p:cNvSpPr txBox="1"/>
          <p:nvPr/>
        </p:nvSpPr>
        <p:spPr>
          <a:xfrm>
            <a:off x="7872984" y="1152144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chemeClr val="bg1"/>
                </a:solidFill>
              </a:rPr>
              <a:t>RECEPCIÓN</a:t>
            </a:r>
            <a:endParaRPr lang="en-US" sz="800" dirty="0"/>
          </a:p>
        </p:txBody>
      </p:sp>
      <p:sp>
        <p:nvSpPr>
          <p:cNvPr id="44" name="Fecha día 2025-2-0"/>
          <p:cNvSpPr txBox="1"/>
          <p:nvPr/>
        </p:nvSpPr>
        <p:spPr>
          <a:xfrm>
            <a:off x="7872984" y="1353312"/>
            <a:ext cx="1005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2600" dirty="0"/>
          </a:p>
        </p:txBody>
      </p:sp>
      <p:sp>
        <p:nvSpPr>
          <p:cNvPr id="45" name="Fecha mes 2025-2-0"/>
          <p:cNvSpPr txBox="1"/>
          <p:nvPr/>
        </p:nvSpPr>
        <p:spPr>
          <a:xfrm>
            <a:off x="7872984" y="1773936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chemeClr val="bg1"/>
                </a:solidFill>
              </a:rPr>
              <a:t>NOV 2025</a:t>
            </a:r>
            <a:endParaRPr lang="en-US" sz="1000" dirty="0"/>
          </a:p>
        </p:txBody>
      </p:sp>
      <p:sp>
        <p:nvSpPr>
          <p:cNvPr id="46" name="Fecha etiqueta 2025-2-1"/>
          <p:cNvSpPr txBox="1"/>
          <p:nvPr/>
        </p:nvSpPr>
        <p:spPr>
          <a:xfrm>
            <a:off x="7872984" y="2221992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chemeClr val="bg1"/>
                </a:solidFill>
              </a:rPr>
              <a:t>DESCARGOS</a:t>
            </a:r>
            <a:endParaRPr lang="en-US" sz="800" dirty="0"/>
          </a:p>
        </p:txBody>
      </p:sp>
      <p:sp>
        <p:nvSpPr>
          <p:cNvPr id="47" name="Fecha día 2025-2-1"/>
          <p:cNvSpPr txBox="1"/>
          <p:nvPr/>
        </p:nvSpPr>
        <p:spPr>
          <a:xfrm>
            <a:off x="7872984" y="2423160"/>
            <a:ext cx="1005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</a:t>
            </a:r>
            <a:endParaRPr lang="en-US" sz="2600" dirty="0"/>
          </a:p>
        </p:txBody>
      </p:sp>
      <p:sp>
        <p:nvSpPr>
          <p:cNvPr id="48" name="Fecha mes 2025-2-1"/>
          <p:cNvSpPr txBox="1"/>
          <p:nvPr/>
        </p:nvSpPr>
        <p:spPr>
          <a:xfrm>
            <a:off x="7872984" y="2843784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chemeClr val="bg1"/>
                </a:solidFill>
              </a:rPr>
              <a:t>NOV 2025</a:t>
            </a:r>
            <a:endParaRPr lang="en-US" sz="1000" dirty="0"/>
          </a:p>
        </p:txBody>
      </p:sp>
      <p:sp>
        <p:nvSpPr>
          <p:cNvPr id="49" name="Fechas separador 2025-2"/>
          <p:cNvSpPr/>
          <p:nvPr/>
        </p:nvSpPr>
        <p:spPr>
          <a:xfrm>
            <a:off x="8055864" y="2057400"/>
            <a:ext cx="640080" cy="0"/>
          </a:xfrm>
          <a:prstGeom prst="line">
            <a:avLst/>
          </a:prstGeom>
          <a:noFill/>
          <a:ln w="9525">
            <a:solidFill>
              <a:schemeClr val="bg1">
                <a:alpha val="60000"/>
              </a:schemeClr>
            </a:solidFill>
            <a:prstDash val="solid"/>
          </a:ln>
        </p:spPr>
      </p:sp>
      <p:sp>
        <p:nvSpPr>
          <p:cNvPr id="50" name="Tipo 2025-2"/>
          <p:cNvSpPr txBox="1"/>
          <p:nvPr/>
        </p:nvSpPr>
        <p:spPr>
          <a:xfrm>
            <a:off x="9034272" y="978408"/>
            <a:ext cx="2499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Resultados preliminares</a:t>
            </a:r>
            <a:endParaRPr lang="en-US" sz="1300" dirty="0"/>
          </a:p>
        </p:txBody>
      </p:sp>
      <p:sp>
        <p:nvSpPr>
          <p:cNvPr id="51" name="Circular 2025-2"/>
          <p:cNvSpPr txBox="1"/>
          <p:nvPr/>
        </p:nvSpPr>
        <p:spPr>
          <a:xfrm>
            <a:off x="9034272" y="1261872"/>
            <a:ext cx="249905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chemeClr val="accent1"/>
                </a:solidFill>
              </a:rPr>
              <a:t>DS-SABAO-BCS-BC-17003  ·  05/11/2025</a:t>
            </a:r>
            <a:endParaRPr lang="en-US" sz="950" dirty="0"/>
          </a:p>
        </p:txBody>
      </p:sp>
      <p:sp>
        <p:nvSpPr>
          <p:cNvPr id="52" name="Separador lista 2025-2"/>
          <p:cNvSpPr/>
          <p:nvPr/>
        </p:nvSpPr>
        <p:spPr>
          <a:xfrm>
            <a:off x="9034272" y="1527048"/>
            <a:ext cx="2499055" cy="0"/>
          </a:xfrm>
          <a:prstGeom prst="line">
            <a:avLst/>
          </a:prstGeom>
          <a:noFill/>
          <a:ln w="9525">
            <a:solidFill>
              <a:srgbClr val="D9E0EA"/>
            </a:solidFill>
            <a:prstDash val="solid"/>
          </a:ln>
        </p:spPr>
      </p:sp>
      <p:sp>
        <p:nvSpPr>
          <p:cNvPr id="53" name="Listado 2025-2"/>
          <p:cNvSpPr txBox="1"/>
          <p:nvPr/>
        </p:nvSpPr>
        <p:spPr>
          <a:xfrm>
            <a:off x="9034272" y="1581912"/>
            <a:ext cx="2499055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850" b="1" spc="100" kern="0" dirty="0">
                <a:solidFill>
                  <a:schemeClr val="accent1"/>
                </a:solidFill>
              </a:rPr>
              <a:t>9 OBSERVACIONES</a:t>
            </a:r>
            <a:endParaRPr lang="en-US" sz="9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950" b="1" dirty="0">
                <a:solidFill>
                  <a:schemeClr val="accent1"/>
                </a:solidFill>
              </a:rPr>
              <a:t>1  </a:t>
            </a:r>
            <a:pPr indent="0" marL="0">
              <a:lnSpc>
                <a:spcPct val="92000"/>
              </a:lnSpc>
              <a:buNone/>
            </a:pPr>
            <a:r>
              <a:rPr lang="en-US" sz="950" dirty="0">
                <a:solidFill>
                  <a:schemeClr val="tx1"/>
                </a:solidFill>
              </a:rPr>
              <a:t>Política de Operaciones Vinculadas</a:t>
            </a:r>
            <a:endParaRPr lang="en-US" sz="9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950" b="1" dirty="0">
                <a:solidFill>
                  <a:schemeClr val="accent1"/>
                </a:solidFill>
              </a:rPr>
              <a:t>2  </a:t>
            </a:r>
            <a:pPr indent="0" marL="0">
              <a:lnSpc>
                <a:spcPct val="92000"/>
              </a:lnSpc>
              <a:buNone/>
            </a:pPr>
            <a:r>
              <a:rPr lang="en-US" sz="950" dirty="0">
                <a:solidFill>
                  <a:schemeClr val="tx1"/>
                </a:solidFill>
              </a:rPr>
              <a:t>Confidencialidad e inducción en actas</a:t>
            </a:r>
            <a:endParaRPr lang="en-US" sz="9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950" b="1" dirty="0">
                <a:solidFill>
                  <a:schemeClr val="accent1"/>
                </a:solidFill>
              </a:rPr>
              <a:t>3  </a:t>
            </a:r>
            <a:pPr indent="0" marL="0">
              <a:lnSpc>
                <a:spcPct val="92000"/>
              </a:lnSpc>
              <a:buNone/>
            </a:pPr>
            <a:r>
              <a:rPr lang="en-US" sz="950" b="1" dirty="0">
                <a:solidFill>
                  <a:schemeClr val="accent3"/>
                </a:solidFill>
              </a:rPr>
              <a:t>Comités sin personal ejecutivo</a:t>
            </a:r>
            <a:pPr indent="0" marL="0">
              <a:lnSpc>
                <a:spcPct val="92000"/>
              </a:lnSpc>
              <a:buNone/>
            </a:pPr>
            <a:r>
              <a:rPr lang="en-US" sz="850" dirty="0">
                <a:solidFill>
                  <a:schemeClr val="accent3"/>
                </a:solidFill>
              </a:rPr>
              <a:t>  · seguimiento</a:t>
            </a:r>
            <a:endParaRPr lang="en-US" sz="9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950" b="1" dirty="0">
                <a:solidFill>
                  <a:schemeClr val="accent1"/>
                </a:solidFill>
              </a:rPr>
              <a:t>4  </a:t>
            </a:r>
            <a:pPr indent="0" marL="0">
              <a:lnSpc>
                <a:spcPct val="92000"/>
              </a:lnSpc>
              <a:buNone/>
            </a:pPr>
            <a:r>
              <a:rPr lang="en-US" sz="950" dirty="0">
                <a:solidFill>
                  <a:schemeClr val="tx1"/>
                </a:solidFill>
              </a:rPr>
              <a:t>Pago de dietas</a:t>
            </a:r>
            <a:endParaRPr lang="en-US" sz="9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950" b="1" dirty="0">
                <a:solidFill>
                  <a:schemeClr val="accent1"/>
                </a:solidFill>
              </a:rPr>
              <a:t>5  </a:t>
            </a:r>
            <a:pPr indent="0" marL="0">
              <a:lnSpc>
                <a:spcPct val="92000"/>
              </a:lnSpc>
              <a:buNone/>
            </a:pPr>
            <a:r>
              <a:rPr lang="en-US" sz="950" b="1" dirty="0">
                <a:solidFill>
                  <a:schemeClr val="accent3"/>
                </a:solidFill>
              </a:rPr>
              <a:t>Normativa interna desactualizada</a:t>
            </a:r>
            <a:pPr indent="0" marL="0">
              <a:lnSpc>
                <a:spcPct val="92000"/>
              </a:lnSpc>
              <a:buNone/>
            </a:pPr>
            <a:r>
              <a:rPr lang="en-US" sz="850" dirty="0">
                <a:solidFill>
                  <a:schemeClr val="accent3"/>
                </a:solidFill>
              </a:rPr>
              <a:t>  · seguimiento</a:t>
            </a:r>
            <a:endParaRPr lang="en-US" sz="9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950" b="1" dirty="0">
                <a:solidFill>
                  <a:schemeClr val="accent1"/>
                </a:solidFill>
              </a:rPr>
              <a:t>6  </a:t>
            </a:r>
            <a:pPr indent="0" marL="0">
              <a:lnSpc>
                <a:spcPct val="92000"/>
              </a:lnSpc>
              <a:buNone/>
            </a:pPr>
            <a:r>
              <a:rPr lang="en-US" sz="950" dirty="0">
                <a:solidFill>
                  <a:schemeClr val="tx1"/>
                </a:solidFill>
              </a:rPr>
              <a:t>Soporte de Ferias de Crédito</a:t>
            </a:r>
            <a:endParaRPr lang="en-US" sz="9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950" b="1" dirty="0">
                <a:solidFill>
                  <a:schemeClr val="accent1"/>
                </a:solidFill>
              </a:rPr>
              <a:t>7  </a:t>
            </a:r>
            <a:pPr indent="0" marL="0">
              <a:lnSpc>
                <a:spcPct val="92000"/>
              </a:lnSpc>
              <a:buNone/>
            </a:pPr>
            <a:r>
              <a:rPr lang="en-US" sz="950" dirty="0">
                <a:solidFill>
                  <a:schemeClr val="tx1"/>
                </a:solidFill>
              </a:rPr>
              <a:t>Declaración jurada (NRP-75)</a:t>
            </a:r>
            <a:endParaRPr lang="en-US" sz="9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950" b="1" dirty="0">
                <a:solidFill>
                  <a:schemeClr val="accent1"/>
                </a:solidFill>
              </a:rPr>
              <a:t>8  </a:t>
            </a:r>
            <a:pPr indent="0" marL="0">
              <a:lnSpc>
                <a:spcPct val="92000"/>
              </a:lnSpc>
              <a:buNone/>
            </a:pPr>
            <a:r>
              <a:rPr lang="en-US" sz="950" dirty="0">
                <a:solidFill>
                  <a:schemeClr val="tx1"/>
                </a:solidFill>
              </a:rPr>
              <a:t>Manual de Compras</a:t>
            </a:r>
            <a:endParaRPr lang="en-US" sz="9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950" b="1" dirty="0">
                <a:solidFill>
                  <a:schemeClr val="accent1"/>
                </a:solidFill>
              </a:rPr>
              <a:t>9  </a:t>
            </a:r>
            <a:pPr indent="0" marL="0">
              <a:lnSpc>
                <a:spcPct val="92000"/>
              </a:lnSpc>
              <a:buNone/>
            </a:pPr>
            <a:r>
              <a:rPr lang="en-US" sz="950" dirty="0">
                <a:solidFill>
                  <a:schemeClr val="tx1"/>
                </a:solidFill>
              </a:rPr>
              <a:t>Uso del Fondo de Educación</a:t>
            </a:r>
            <a:endParaRPr lang="en-US" sz="950" dirty="0"/>
          </a:p>
        </p:txBody>
      </p:sp>
      <p:sp>
        <p:nvSpPr>
          <p:cNvPr id="54" name="Flecha 2025"/>
          <p:cNvSpPr/>
          <p:nvPr/>
        </p:nvSpPr>
        <p:spPr>
          <a:xfrm>
            <a:off x="7452360" y="1929384"/>
            <a:ext cx="256032" cy="256032"/>
          </a:xfrm>
          <a:prstGeom prst="rightArrow">
            <a:avLst/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</p:sp>
      <p:sp>
        <p:nvSpPr>
          <p:cNvPr id="55" name="Año 2026"/>
          <p:cNvSpPr txBox="1"/>
          <p:nvPr/>
        </p:nvSpPr>
        <p:spPr>
          <a:xfrm>
            <a:off x="4572000" y="3310128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2026</a:t>
            </a:r>
            <a:endParaRPr lang="en-US" sz="2800" dirty="0"/>
          </a:p>
        </p:txBody>
      </p:sp>
      <p:sp>
        <p:nvSpPr>
          <p:cNvPr id="56" name="Visita 2026"/>
          <p:cNvSpPr txBox="1"/>
          <p:nvPr/>
        </p:nvSpPr>
        <p:spPr>
          <a:xfrm>
            <a:off x="5760720" y="3310128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Visita 2 · supervisión ampliada</a:t>
            </a:r>
            <a:endParaRPr lang="en-US" sz="1400" dirty="0"/>
          </a:p>
        </p:txBody>
      </p:sp>
      <p:sp>
        <p:nvSpPr>
          <p:cNvPr id="57" name="Tarjeta 2026-1"/>
          <p:cNvSpPr/>
          <p:nvPr/>
        </p:nvSpPr>
        <p:spPr>
          <a:xfrm>
            <a:off x="4572000" y="3858768"/>
            <a:ext cx="2834640" cy="2377440"/>
          </a:xfrm>
          <a:prstGeom prst="roundRect">
            <a:avLst>
              <a:gd name="adj" fmla="val 3846"/>
            </a:avLst>
          </a:prstGeom>
          <a:solidFill>
            <a:schemeClr val="bg1"/>
          </a:solidFill>
          <a:ln w="12700">
            <a:solidFill>
              <a:srgbClr val="D9E0EA"/>
            </a:solidFill>
            <a:prstDash val="solid"/>
          </a:ln>
        </p:spPr>
      </p:sp>
      <p:sp>
        <p:nvSpPr>
          <p:cNvPr id="58" name="Fechas fondo 2026-1"/>
          <p:cNvSpPr/>
          <p:nvPr/>
        </p:nvSpPr>
        <p:spPr>
          <a:xfrm>
            <a:off x="4690872" y="3977640"/>
            <a:ext cx="1005840" cy="2139696"/>
          </a:xfrm>
          <a:prstGeom prst="roundRect">
            <a:avLst>
              <a:gd name="adj" fmla="val 9091"/>
            </a:avLst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</p:sp>
      <p:sp>
        <p:nvSpPr>
          <p:cNvPr id="59" name="Fecha etiqueta 2026-1-0"/>
          <p:cNvSpPr txBox="1"/>
          <p:nvPr/>
        </p:nvSpPr>
        <p:spPr>
          <a:xfrm>
            <a:off x="4690872" y="4142232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chemeClr val="bg1"/>
                </a:solidFill>
              </a:rPr>
              <a:t>INICIO DE VISITA</a:t>
            </a:r>
            <a:endParaRPr lang="en-US" sz="800" dirty="0"/>
          </a:p>
        </p:txBody>
      </p:sp>
      <p:sp>
        <p:nvSpPr>
          <p:cNvPr id="60" name="Fecha día 2026-1-0"/>
          <p:cNvSpPr txBox="1"/>
          <p:nvPr/>
        </p:nvSpPr>
        <p:spPr>
          <a:xfrm>
            <a:off x="4690872" y="4343400"/>
            <a:ext cx="1005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21</a:t>
            </a:r>
            <a:endParaRPr lang="en-US" sz="2600" dirty="0"/>
          </a:p>
        </p:txBody>
      </p:sp>
      <p:sp>
        <p:nvSpPr>
          <p:cNvPr id="61" name="Fecha mes 2026-1-0"/>
          <p:cNvSpPr txBox="1"/>
          <p:nvPr/>
        </p:nvSpPr>
        <p:spPr>
          <a:xfrm>
            <a:off x="4690872" y="4764024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chemeClr val="bg1"/>
                </a:solidFill>
              </a:rPr>
              <a:t>AGO 2026</a:t>
            </a:r>
            <a:endParaRPr lang="en-US" sz="1000" dirty="0"/>
          </a:p>
        </p:txBody>
      </p:sp>
      <p:sp>
        <p:nvSpPr>
          <p:cNvPr id="62" name="Fecha etiqueta 2026-1-1"/>
          <p:cNvSpPr txBox="1"/>
          <p:nvPr/>
        </p:nvSpPr>
        <p:spPr>
          <a:xfrm>
            <a:off x="4690872" y="5212080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chemeClr val="bg1"/>
                </a:solidFill>
              </a:rPr>
              <a:t>INFORME</a:t>
            </a:r>
            <a:endParaRPr lang="en-US" sz="800" dirty="0"/>
          </a:p>
        </p:txBody>
      </p:sp>
      <p:sp>
        <p:nvSpPr>
          <p:cNvPr id="63" name="Fecha día 2026-1-1"/>
          <p:cNvSpPr txBox="1"/>
          <p:nvPr/>
        </p:nvSpPr>
        <p:spPr>
          <a:xfrm>
            <a:off x="4690872" y="5413248"/>
            <a:ext cx="1005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09</a:t>
            </a:r>
            <a:endParaRPr lang="en-US" sz="2600" dirty="0"/>
          </a:p>
        </p:txBody>
      </p:sp>
      <p:sp>
        <p:nvSpPr>
          <p:cNvPr id="64" name="Fecha mes 2026-1-1"/>
          <p:cNvSpPr txBox="1"/>
          <p:nvPr/>
        </p:nvSpPr>
        <p:spPr>
          <a:xfrm>
            <a:off x="4690872" y="5833872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chemeClr val="bg1"/>
                </a:solidFill>
              </a:rPr>
              <a:t>OCT 2026</a:t>
            </a:r>
            <a:endParaRPr lang="en-US" sz="1000" dirty="0"/>
          </a:p>
        </p:txBody>
      </p:sp>
      <p:sp>
        <p:nvSpPr>
          <p:cNvPr id="65" name="Fechas separador 2026-1"/>
          <p:cNvSpPr/>
          <p:nvPr/>
        </p:nvSpPr>
        <p:spPr>
          <a:xfrm>
            <a:off x="4873752" y="5047488"/>
            <a:ext cx="640080" cy="0"/>
          </a:xfrm>
          <a:prstGeom prst="line">
            <a:avLst/>
          </a:prstGeom>
          <a:noFill/>
          <a:ln w="9525">
            <a:solidFill>
              <a:schemeClr val="bg1">
                <a:alpha val="60000"/>
              </a:schemeClr>
            </a:solidFill>
            <a:prstDash val="solid"/>
          </a:ln>
        </p:spPr>
      </p:sp>
      <p:sp>
        <p:nvSpPr>
          <p:cNvPr id="66" name="Tipo 2026-1"/>
          <p:cNvSpPr txBox="1"/>
          <p:nvPr/>
        </p:nvSpPr>
        <p:spPr>
          <a:xfrm>
            <a:off x="5852160" y="3995928"/>
            <a:ext cx="14447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Nombramiento de visita ampliada</a:t>
            </a:r>
            <a:endParaRPr lang="en-US" sz="1300" dirty="0"/>
          </a:p>
        </p:txBody>
      </p:sp>
      <p:sp>
        <p:nvSpPr>
          <p:cNvPr id="67" name="Circular 2026-1"/>
          <p:cNvSpPr txBox="1"/>
          <p:nvPr/>
        </p:nvSpPr>
        <p:spPr>
          <a:xfrm>
            <a:off x="5852160" y="4663440"/>
            <a:ext cx="1444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accent5"/>
                </a:solidFill>
              </a:rPr>
              <a:t>Circular No.  </a:t>
            </a:r>
            <a:pPr indent="0" marL="0">
              <a:buNone/>
            </a:pPr>
            <a:r>
              <a:rPr lang="en-US" sz="1000" b="1" dirty="0">
                <a:solidFill>
                  <a:schemeClr val="accent2"/>
                </a:solidFill>
              </a:rPr>
              <a:t>31/07/2026</a:t>
            </a: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chemeClr val="accent2"/>
                </a:solidFill>
              </a:rPr>
              <a:t>SABAO-BCS-BC-18432</a:t>
            </a:r>
            <a:endParaRPr lang="en-US" sz="1000" dirty="0"/>
          </a:p>
        </p:txBody>
      </p:sp>
      <p:sp>
        <p:nvSpPr>
          <p:cNvPr id="68" name="Separador 2026-1-0"/>
          <p:cNvSpPr/>
          <p:nvPr/>
        </p:nvSpPr>
        <p:spPr>
          <a:xfrm>
            <a:off x="5852160" y="5303520"/>
            <a:ext cx="1444752" cy="0"/>
          </a:xfrm>
          <a:prstGeom prst="line">
            <a:avLst/>
          </a:prstGeom>
          <a:noFill/>
          <a:ln w="9525">
            <a:solidFill>
              <a:srgbClr val="D9E0EA"/>
            </a:solidFill>
            <a:prstDash val="solid"/>
          </a:ln>
        </p:spPr>
      </p:sp>
      <p:sp>
        <p:nvSpPr>
          <p:cNvPr id="69" name="Dato 2026-1-0"/>
          <p:cNvSpPr txBox="1"/>
          <p:nvPr/>
        </p:nvSpPr>
        <p:spPr>
          <a:xfrm>
            <a:off x="5852160" y="5340096"/>
            <a:ext cx="14447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accent5"/>
                </a:solidFill>
              </a:rPr>
              <a:t>Corte  </a:t>
            </a:r>
            <a:pPr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31/07/2026</a:t>
            </a:r>
            <a:endParaRPr lang="en-US" sz="1050" dirty="0"/>
          </a:p>
        </p:txBody>
      </p:sp>
      <p:sp>
        <p:nvSpPr>
          <p:cNvPr id="70" name="Separador 2026-1-1"/>
          <p:cNvSpPr/>
          <p:nvPr/>
        </p:nvSpPr>
        <p:spPr>
          <a:xfrm>
            <a:off x="5852160" y="5687568"/>
            <a:ext cx="1444752" cy="0"/>
          </a:xfrm>
          <a:prstGeom prst="line">
            <a:avLst/>
          </a:prstGeom>
          <a:noFill/>
          <a:ln w="9525">
            <a:solidFill>
              <a:srgbClr val="D9E0EA"/>
            </a:solidFill>
            <a:prstDash val="solid"/>
          </a:ln>
        </p:spPr>
      </p:sp>
      <p:sp>
        <p:nvSpPr>
          <p:cNvPr id="71" name="Dato 2026-1-1"/>
          <p:cNvSpPr txBox="1"/>
          <p:nvPr/>
        </p:nvSpPr>
        <p:spPr>
          <a:xfrm>
            <a:off x="5852160" y="5724144"/>
            <a:ext cx="14447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accent5"/>
                </a:solidFill>
              </a:rPr>
              <a:t>Alcance  </a:t>
            </a:r>
            <a:pPr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NRP-17 + seguim.</a:t>
            </a:r>
            <a:endParaRPr lang="en-US" sz="1050" dirty="0"/>
          </a:p>
        </p:txBody>
      </p:sp>
      <p:sp>
        <p:nvSpPr>
          <p:cNvPr id="72" name="Tarjeta 2026-2"/>
          <p:cNvSpPr/>
          <p:nvPr/>
        </p:nvSpPr>
        <p:spPr>
          <a:xfrm>
            <a:off x="7754112" y="3858768"/>
            <a:ext cx="3888943" cy="2377440"/>
          </a:xfrm>
          <a:prstGeom prst="roundRect">
            <a:avLst>
              <a:gd name="adj" fmla="val 3846"/>
            </a:avLst>
          </a:prstGeom>
          <a:solidFill>
            <a:schemeClr val="bg1"/>
          </a:solidFill>
          <a:ln w="12700">
            <a:solidFill>
              <a:srgbClr val="D9E0EA"/>
            </a:solidFill>
            <a:prstDash val="solid"/>
          </a:ln>
        </p:spPr>
      </p:sp>
      <p:sp>
        <p:nvSpPr>
          <p:cNvPr id="73" name="Fechas fondo 2026-2"/>
          <p:cNvSpPr/>
          <p:nvPr/>
        </p:nvSpPr>
        <p:spPr>
          <a:xfrm>
            <a:off x="7872984" y="3977640"/>
            <a:ext cx="1005840" cy="2139696"/>
          </a:xfrm>
          <a:prstGeom prst="roundRect">
            <a:avLst>
              <a:gd name="adj" fmla="val 9091"/>
            </a:avLst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</p:sp>
      <p:sp>
        <p:nvSpPr>
          <p:cNvPr id="74" name="Fecha etiqueta 2026-2-0"/>
          <p:cNvSpPr txBox="1"/>
          <p:nvPr/>
        </p:nvSpPr>
        <p:spPr>
          <a:xfrm>
            <a:off x="7872984" y="4142232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chemeClr val="bg1"/>
                </a:solidFill>
              </a:rPr>
              <a:t>RECEPCIÓN</a:t>
            </a:r>
            <a:endParaRPr lang="en-US" sz="800" dirty="0"/>
          </a:p>
        </p:txBody>
      </p:sp>
      <p:sp>
        <p:nvSpPr>
          <p:cNvPr id="75" name="Fecha día 2026-2-0"/>
          <p:cNvSpPr txBox="1"/>
          <p:nvPr/>
        </p:nvSpPr>
        <p:spPr>
          <a:xfrm>
            <a:off x="7872984" y="4343400"/>
            <a:ext cx="1005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09</a:t>
            </a:r>
            <a:endParaRPr lang="en-US" sz="2600" dirty="0"/>
          </a:p>
        </p:txBody>
      </p:sp>
      <p:sp>
        <p:nvSpPr>
          <p:cNvPr id="76" name="Fecha mes 2026-2-0"/>
          <p:cNvSpPr txBox="1"/>
          <p:nvPr/>
        </p:nvSpPr>
        <p:spPr>
          <a:xfrm>
            <a:off x="7872984" y="4764024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chemeClr val="bg1"/>
                </a:solidFill>
              </a:rPr>
              <a:t>OCT 2026</a:t>
            </a:r>
            <a:endParaRPr lang="en-US" sz="1000" dirty="0"/>
          </a:p>
        </p:txBody>
      </p:sp>
      <p:sp>
        <p:nvSpPr>
          <p:cNvPr id="77" name="Fecha etiqueta 2026-2-1"/>
          <p:cNvSpPr txBox="1"/>
          <p:nvPr/>
        </p:nvSpPr>
        <p:spPr>
          <a:xfrm>
            <a:off x="7872984" y="5212080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chemeClr val="bg1"/>
                </a:solidFill>
              </a:rPr>
              <a:t>VENCE APROX.</a:t>
            </a:r>
            <a:endParaRPr lang="en-US" sz="800" dirty="0"/>
          </a:p>
        </p:txBody>
      </p:sp>
      <p:sp>
        <p:nvSpPr>
          <p:cNvPr id="78" name="Fecha día 2026-2-1"/>
          <p:cNvSpPr txBox="1"/>
          <p:nvPr/>
        </p:nvSpPr>
        <p:spPr>
          <a:xfrm>
            <a:off x="7872984" y="5413248"/>
            <a:ext cx="1005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23</a:t>
            </a:r>
            <a:endParaRPr lang="en-US" sz="2600" dirty="0"/>
          </a:p>
        </p:txBody>
      </p:sp>
      <p:sp>
        <p:nvSpPr>
          <p:cNvPr id="79" name="Fecha mes 2026-2-1"/>
          <p:cNvSpPr txBox="1"/>
          <p:nvPr/>
        </p:nvSpPr>
        <p:spPr>
          <a:xfrm>
            <a:off x="7872984" y="5833872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chemeClr val="bg1"/>
                </a:solidFill>
              </a:rPr>
              <a:t>OCT 2026</a:t>
            </a:r>
            <a:endParaRPr lang="en-US" sz="1000" dirty="0"/>
          </a:p>
        </p:txBody>
      </p:sp>
      <p:sp>
        <p:nvSpPr>
          <p:cNvPr id="80" name="Fechas separador 2026-2"/>
          <p:cNvSpPr/>
          <p:nvPr/>
        </p:nvSpPr>
        <p:spPr>
          <a:xfrm>
            <a:off x="8055864" y="5047488"/>
            <a:ext cx="640080" cy="0"/>
          </a:xfrm>
          <a:prstGeom prst="line">
            <a:avLst/>
          </a:prstGeom>
          <a:noFill/>
          <a:ln w="9525">
            <a:solidFill>
              <a:schemeClr val="bg1">
                <a:alpha val="60000"/>
              </a:schemeClr>
            </a:solidFill>
            <a:prstDash val="solid"/>
          </a:ln>
        </p:spPr>
      </p:sp>
      <p:sp>
        <p:nvSpPr>
          <p:cNvPr id="81" name="Tipo 2026-2"/>
          <p:cNvSpPr txBox="1"/>
          <p:nvPr/>
        </p:nvSpPr>
        <p:spPr>
          <a:xfrm>
            <a:off x="9034272" y="3968496"/>
            <a:ext cx="2499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Resultados preliminares</a:t>
            </a:r>
            <a:endParaRPr lang="en-US" sz="1300" dirty="0"/>
          </a:p>
        </p:txBody>
      </p:sp>
      <p:sp>
        <p:nvSpPr>
          <p:cNvPr id="82" name="Circular 2026-2"/>
          <p:cNvSpPr txBox="1"/>
          <p:nvPr/>
        </p:nvSpPr>
        <p:spPr>
          <a:xfrm>
            <a:off x="9034272" y="4251960"/>
            <a:ext cx="249905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chemeClr val="accent2"/>
                </a:solidFill>
              </a:rPr>
              <a:t>DS-SABAO-BCS-BC-22741  ·  09/10/2026</a:t>
            </a:r>
            <a:endParaRPr lang="en-US" sz="950" dirty="0"/>
          </a:p>
        </p:txBody>
      </p:sp>
      <p:sp>
        <p:nvSpPr>
          <p:cNvPr id="83" name="Separador lista 2026-2"/>
          <p:cNvSpPr/>
          <p:nvPr/>
        </p:nvSpPr>
        <p:spPr>
          <a:xfrm>
            <a:off x="9034272" y="4517136"/>
            <a:ext cx="2499055" cy="0"/>
          </a:xfrm>
          <a:prstGeom prst="line">
            <a:avLst/>
          </a:prstGeom>
          <a:noFill/>
          <a:ln w="9525">
            <a:solidFill>
              <a:srgbClr val="D9E0EA"/>
            </a:solidFill>
            <a:prstDash val="solid"/>
          </a:ln>
        </p:spPr>
      </p:sp>
      <p:sp>
        <p:nvSpPr>
          <p:cNvPr id="84" name="Listado 2026-2"/>
          <p:cNvSpPr txBox="1"/>
          <p:nvPr/>
        </p:nvSpPr>
        <p:spPr>
          <a:xfrm>
            <a:off x="9034272" y="4572000"/>
            <a:ext cx="2499055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850" b="1" spc="100" kern="0" dirty="0">
                <a:solidFill>
                  <a:schemeClr val="accent2"/>
                </a:solidFill>
              </a:rPr>
              <a:t>7 OBSERVACIONES NUEVAS · ANEXO A</a:t>
            </a:r>
            <a:endParaRPr lang="en-US" sz="9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950" b="1" dirty="0">
                <a:solidFill>
                  <a:schemeClr val="accent2"/>
                </a:solidFill>
              </a:rPr>
              <a:t>1  </a:t>
            </a:r>
            <a:pPr indent="0" marL="0">
              <a:lnSpc>
                <a:spcPct val="92000"/>
              </a:lnSpc>
              <a:buNone/>
            </a:pPr>
            <a:r>
              <a:rPr lang="en-US" sz="950" dirty="0">
                <a:solidFill>
                  <a:schemeClr val="tx1"/>
                </a:solidFill>
              </a:rPr>
              <a:t>Inducción sobre partidas de EEFF</a:t>
            </a:r>
            <a:endParaRPr lang="en-US" sz="9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950" b="1" dirty="0">
                <a:solidFill>
                  <a:schemeClr val="accent2"/>
                </a:solidFill>
              </a:rPr>
              <a:t>2  </a:t>
            </a:r>
            <a:pPr indent="0" marL="0">
              <a:lnSpc>
                <a:spcPct val="92000"/>
              </a:lnSpc>
              <a:buNone/>
            </a:pPr>
            <a:r>
              <a:rPr lang="en-US" sz="950" dirty="0">
                <a:solidFill>
                  <a:schemeClr val="tx1"/>
                </a:solidFill>
              </a:rPr>
              <a:t>Certificación del Código de Conducta</a:t>
            </a:r>
            <a:endParaRPr lang="en-US" sz="9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950" b="1" dirty="0">
                <a:solidFill>
                  <a:schemeClr val="accent2"/>
                </a:solidFill>
              </a:rPr>
              <a:t>3  </a:t>
            </a:r>
            <a:pPr indent="0" marL="0">
              <a:lnSpc>
                <a:spcPct val="92000"/>
              </a:lnSpc>
              <a:buNone/>
            </a:pPr>
            <a:r>
              <a:rPr lang="en-US" sz="950" dirty="0">
                <a:solidFill>
                  <a:schemeClr val="tx1"/>
                </a:solidFill>
              </a:rPr>
              <a:t>Políticas sin aprobar por el Consejo</a:t>
            </a:r>
            <a:endParaRPr lang="en-US" sz="9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950" b="1" dirty="0">
                <a:solidFill>
                  <a:schemeClr val="accent2"/>
                </a:solidFill>
              </a:rPr>
              <a:t>4  </a:t>
            </a:r>
            <a:pPr indent="0" marL="0">
              <a:lnSpc>
                <a:spcPct val="92000"/>
              </a:lnSpc>
              <a:buNone/>
            </a:pPr>
            <a:r>
              <a:rPr lang="en-US" sz="950" dirty="0">
                <a:solidFill>
                  <a:schemeClr val="tx1"/>
                </a:solidFill>
              </a:rPr>
              <a:t>Sitio web de comités desactualizado</a:t>
            </a:r>
            <a:endParaRPr lang="en-US" sz="9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950" b="1" dirty="0">
                <a:solidFill>
                  <a:schemeClr val="accent2"/>
                </a:solidFill>
              </a:rPr>
              <a:t>5  </a:t>
            </a:r>
            <a:pPr indent="0" marL="0">
              <a:lnSpc>
                <a:spcPct val="92000"/>
              </a:lnSpc>
              <a:buNone/>
            </a:pPr>
            <a:r>
              <a:rPr lang="en-US" sz="950" dirty="0">
                <a:solidFill>
                  <a:schemeClr val="tx1"/>
                </a:solidFill>
              </a:rPr>
              <a:t>Estatutos vs. Código de GC</a:t>
            </a:r>
            <a:endParaRPr lang="en-US" sz="9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950" b="1" dirty="0">
                <a:solidFill>
                  <a:schemeClr val="accent2"/>
                </a:solidFill>
              </a:rPr>
              <a:t>6  </a:t>
            </a:r>
            <a:pPr indent="0" marL="0">
              <a:lnSpc>
                <a:spcPct val="92000"/>
              </a:lnSpc>
              <a:buNone/>
            </a:pPr>
            <a:r>
              <a:rPr lang="en-US" sz="950" dirty="0">
                <a:solidFill>
                  <a:schemeClr val="tx1"/>
                </a:solidFill>
              </a:rPr>
              <a:t>Reglamento del Fondo de Educación</a:t>
            </a:r>
            <a:endParaRPr lang="en-US" sz="9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950" b="1" dirty="0">
                <a:solidFill>
                  <a:schemeClr val="accent2"/>
                </a:solidFill>
              </a:rPr>
              <a:t>7  </a:t>
            </a:r>
            <a:pPr indent="0" marL="0">
              <a:lnSpc>
                <a:spcPct val="92000"/>
              </a:lnSpc>
              <a:buNone/>
            </a:pPr>
            <a:r>
              <a:rPr lang="en-US" sz="950" dirty="0">
                <a:solidFill>
                  <a:schemeClr val="tx1"/>
                </a:solidFill>
              </a:rPr>
              <a:t>Transparencia del Fondo de Educación</a:t>
            </a:r>
            <a:endParaRPr lang="en-US" sz="950" dirty="0"/>
          </a:p>
          <a:p>
            <a:pPr indent="0" marL="0">
              <a:lnSpc>
                <a:spcPct val="92000"/>
              </a:lnSpc>
              <a:spcBef>
                <a:spcPts val="300"/>
              </a:spcBef>
              <a:buNone/>
            </a:pPr>
            <a:r>
              <a:rPr lang="en-US" sz="850" b="1" spc="100" kern="0" dirty="0">
                <a:solidFill>
                  <a:schemeClr val="accent3"/>
                </a:solidFill>
              </a:rPr>
              <a:t>2 EN SEGUIMIENTO DE 2025 · ANEXO B</a:t>
            </a:r>
            <a:endParaRPr lang="en-US" sz="9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950" b="1" dirty="0">
                <a:solidFill>
                  <a:schemeClr val="accent3"/>
                </a:solidFill>
              </a:rPr>
              <a:t>Obs. 3  </a:t>
            </a:r>
            <a:pPr indent="0" marL="0">
              <a:lnSpc>
                <a:spcPct val="92000"/>
              </a:lnSpc>
              <a:buNone/>
            </a:pPr>
            <a:r>
              <a:rPr lang="en-US" sz="950" dirty="0">
                <a:solidFill>
                  <a:schemeClr val="tx1"/>
                </a:solidFill>
              </a:rPr>
              <a:t>Comités sin ejecutivos · No superada</a:t>
            </a:r>
            <a:endParaRPr lang="en-US" sz="9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950" b="1" dirty="0">
                <a:solidFill>
                  <a:schemeClr val="accent3"/>
                </a:solidFill>
              </a:rPr>
              <a:t>Obs. 5  </a:t>
            </a:r>
            <a:pPr indent="0" marL="0">
              <a:lnSpc>
                <a:spcPct val="92000"/>
              </a:lnSpc>
              <a:buNone/>
            </a:pPr>
            <a:r>
              <a:rPr lang="en-US" sz="950" dirty="0">
                <a:solidFill>
                  <a:schemeClr val="tx1"/>
                </a:solidFill>
              </a:rPr>
              <a:t>Normativa interna · Parcialmente superada</a:t>
            </a:r>
            <a:endParaRPr lang="en-US" sz="950" dirty="0"/>
          </a:p>
        </p:txBody>
      </p:sp>
      <p:sp>
        <p:nvSpPr>
          <p:cNvPr id="85" name="Flecha 2026"/>
          <p:cNvSpPr/>
          <p:nvPr/>
        </p:nvSpPr>
        <p:spPr>
          <a:xfrm>
            <a:off x="7452360" y="4919472"/>
            <a:ext cx="256032" cy="256032"/>
          </a:xfrm>
          <a:prstGeom prst="rightArrow">
            <a:avLst/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5"/>
                </a:solidFill>
              </a:rPr>
              <a:t>CIRCULAR DS-SABAO-BCS-BC-17003 · VISITA CON CORTE AL 30/04/2025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9436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Observaciones 2025</a:t>
            </a:r>
            <a:endParaRPr lang="en-US" sz="3000" dirty="0"/>
          </a:p>
        </p:txBody>
      </p:sp>
      <p:sp>
        <p:nvSpPr>
          <p:cNvPr id="4" name="Leyenda 2025 punto"/>
          <p:cNvSpPr/>
          <p:nvPr/>
        </p:nvSpPr>
        <p:spPr>
          <a:xfrm>
            <a:off x="8549640" y="841248"/>
            <a:ext cx="146304" cy="14630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</p:sp>
      <p:sp>
        <p:nvSpPr>
          <p:cNvPr id="5" name="Leyenda 2025"/>
          <p:cNvSpPr txBox="1"/>
          <p:nvPr/>
        </p:nvSpPr>
        <p:spPr>
          <a:xfrm>
            <a:off x="8769096" y="77724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Observación 2025</a:t>
            </a:r>
            <a:endParaRPr lang="en-US" sz="1100" dirty="0"/>
          </a:p>
        </p:txBody>
      </p:sp>
      <p:sp>
        <p:nvSpPr>
          <p:cNvPr id="6" name="Leyenda abierta punto"/>
          <p:cNvSpPr/>
          <p:nvPr/>
        </p:nvSpPr>
        <p:spPr>
          <a:xfrm>
            <a:off x="9921240" y="841248"/>
            <a:ext cx="146304" cy="146304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>
                <a:alpha val="0"/>
              </a:schemeClr>
            </a:solidFill>
            <a:prstDash val="solid"/>
          </a:ln>
        </p:spPr>
      </p:sp>
      <p:sp>
        <p:nvSpPr>
          <p:cNvPr id="7" name="Leyenda abierta"/>
          <p:cNvSpPr txBox="1"/>
          <p:nvPr/>
        </p:nvSpPr>
        <p:spPr>
          <a:xfrm>
            <a:off x="10140696" y="77724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En seguimiento SSF 2026</a:t>
            </a:r>
            <a:endParaRPr lang="en-US" sz="1100" dirty="0"/>
          </a:p>
        </p:txBody>
      </p:sp>
      <p:sp>
        <p:nvSpPr>
          <p:cNvPr id="8" name="Observación 2025-1"/>
          <p:cNvSpPr/>
          <p:nvPr/>
        </p:nvSpPr>
        <p:spPr>
          <a:xfrm>
            <a:off x="548640" y="1325880"/>
            <a:ext cx="3606698" cy="16002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</p:sp>
      <p:sp>
        <p:nvSpPr>
          <p:cNvPr id="9" name="Número 2025-1 círculo"/>
          <p:cNvSpPr/>
          <p:nvPr/>
        </p:nvSpPr>
        <p:spPr>
          <a:xfrm>
            <a:off x="731520" y="150876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</p:sp>
      <p:sp>
        <p:nvSpPr>
          <p:cNvPr id="10" name="Número 2025-1"/>
          <p:cNvSpPr txBox="1"/>
          <p:nvPr/>
        </p:nvSpPr>
        <p:spPr>
          <a:xfrm>
            <a:off x="731520" y="1508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ítulo 2025-1"/>
          <p:cNvSpPr txBox="1"/>
          <p:nvPr/>
        </p:nvSpPr>
        <p:spPr>
          <a:xfrm>
            <a:off x="1234440" y="1444752"/>
            <a:ext cx="273801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Falta de Política de Operaciones Vinculadas</a:t>
            </a:r>
            <a:endParaRPr lang="en-US" sz="1250" dirty="0"/>
          </a:p>
        </p:txBody>
      </p:sp>
      <p:sp>
        <p:nvSpPr>
          <p:cNvPr id="12" name="Detalle 2025-1"/>
          <p:cNvSpPr txBox="1"/>
          <p:nvPr/>
        </p:nvSpPr>
        <p:spPr>
          <a:xfrm>
            <a:off x="731520" y="2075688"/>
            <a:ext cx="3240938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000" b="1" dirty="0">
                <a:solidFill>
                  <a:schemeClr val="accent5"/>
                </a:solidFill>
              </a:rPr>
              <a:t>Responsable  </a:t>
            </a:r>
            <a:pPr indent="0" marL="0">
              <a:spcAft>
                <a:spcPts val="100"/>
              </a:spcAft>
              <a:buNone/>
            </a:pPr>
            <a:r>
              <a:rPr lang="en-US" sz="1000" dirty="0">
                <a:solidFill>
                  <a:schemeClr val="tx1"/>
                </a:solidFill>
              </a:rPr>
              <a:t>ADR / Jefe de Riesgos</a:t>
            </a:r>
            <a:endParaRPr lang="en-US" sz="10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00" b="1" dirty="0">
                <a:solidFill>
                  <a:schemeClr val="accent5"/>
                </a:solidFill>
              </a:rPr>
              <a:t>Descargo  </a:t>
            </a:r>
            <a:pPr indent="0" marL="0">
              <a:spcAft>
                <a:spcPts val="100"/>
              </a:spcAft>
              <a:buNone/>
            </a:pPr>
            <a:r>
              <a:rPr lang="en-US" sz="1000" dirty="0">
                <a:solidFill>
                  <a:schemeClr val="tx1"/>
                </a:solidFill>
              </a:rPr>
              <a:t>Se creará la política: Comité de Riesgos y aprobación del Consejo</a:t>
            </a:r>
            <a:endParaRPr lang="en-US" sz="1000" dirty="0"/>
          </a:p>
        </p:txBody>
      </p:sp>
      <p:sp>
        <p:nvSpPr>
          <p:cNvPr id="13" name="Observación 2025-2"/>
          <p:cNvSpPr/>
          <p:nvPr/>
        </p:nvSpPr>
        <p:spPr>
          <a:xfrm>
            <a:off x="4292498" y="1325880"/>
            <a:ext cx="3606698" cy="16002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</p:sp>
      <p:sp>
        <p:nvSpPr>
          <p:cNvPr id="14" name="Número 2025-2 círculo"/>
          <p:cNvSpPr/>
          <p:nvPr/>
        </p:nvSpPr>
        <p:spPr>
          <a:xfrm>
            <a:off x="4475378" y="150876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</p:sp>
      <p:sp>
        <p:nvSpPr>
          <p:cNvPr id="15" name="Número 2025-2"/>
          <p:cNvSpPr txBox="1"/>
          <p:nvPr/>
        </p:nvSpPr>
        <p:spPr>
          <a:xfrm>
            <a:off x="4475378" y="1508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ítulo 2025-2"/>
          <p:cNvSpPr txBox="1"/>
          <p:nvPr/>
        </p:nvSpPr>
        <p:spPr>
          <a:xfrm>
            <a:off x="4978298" y="1444752"/>
            <a:ext cx="273801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Sin evidencia de firma de confidencialidad ni fechas de inducción en actas</a:t>
            </a:r>
            <a:endParaRPr lang="en-US" sz="1250" dirty="0"/>
          </a:p>
        </p:txBody>
      </p:sp>
      <p:sp>
        <p:nvSpPr>
          <p:cNvPr id="17" name="Detalle 2025-2"/>
          <p:cNvSpPr txBox="1"/>
          <p:nvPr/>
        </p:nvSpPr>
        <p:spPr>
          <a:xfrm>
            <a:off x="4475378" y="2075688"/>
            <a:ext cx="3240938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000" b="1" dirty="0">
                <a:solidFill>
                  <a:schemeClr val="accent5"/>
                </a:solidFill>
              </a:rPr>
              <a:t>Responsable  </a:t>
            </a:r>
            <a:pPr indent="0" marL="0">
              <a:spcAft>
                <a:spcPts val="100"/>
              </a:spcAft>
              <a:buNone/>
            </a:pPr>
            <a:r>
              <a:rPr lang="en-US" sz="1000" dirty="0">
                <a:solidFill>
                  <a:schemeClr val="tx1"/>
                </a:solidFill>
              </a:rPr>
              <a:t>ADR / Jefe de Riesgos</a:t>
            </a:r>
            <a:endParaRPr lang="en-US" sz="10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00" b="1" dirty="0">
                <a:solidFill>
                  <a:schemeClr val="accent5"/>
                </a:solidFill>
              </a:rPr>
              <a:t>Descargo  </a:t>
            </a:r>
            <a:pPr indent="0" marL="0">
              <a:spcAft>
                <a:spcPts val="100"/>
              </a:spcAft>
              <a:buNone/>
            </a:pPr>
            <a:r>
              <a:rPr lang="en-US" sz="1000" dirty="0">
                <a:solidFill>
                  <a:schemeClr val="tx1"/>
                </a:solidFill>
              </a:rPr>
              <a:t>Acta CA 2579 (28/04/2025): convenio sin efecto y fechas de inducción aprobadas</a:t>
            </a:r>
            <a:endParaRPr lang="en-US" sz="1000" dirty="0"/>
          </a:p>
        </p:txBody>
      </p:sp>
      <p:sp>
        <p:nvSpPr>
          <p:cNvPr id="18" name="Observación 2025-3"/>
          <p:cNvSpPr/>
          <p:nvPr/>
        </p:nvSpPr>
        <p:spPr>
          <a:xfrm>
            <a:off x="8036357" y="1325880"/>
            <a:ext cx="3606698" cy="16002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</p:sp>
      <p:sp>
        <p:nvSpPr>
          <p:cNvPr id="19" name="Número 2025-3 círculo"/>
          <p:cNvSpPr/>
          <p:nvPr/>
        </p:nvSpPr>
        <p:spPr>
          <a:xfrm>
            <a:off x="8219237" y="1508760"/>
            <a:ext cx="384048" cy="38404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>
                <a:alpha val="0"/>
              </a:schemeClr>
            </a:solidFill>
            <a:prstDash val="solid"/>
          </a:ln>
        </p:spPr>
      </p:sp>
      <p:sp>
        <p:nvSpPr>
          <p:cNvPr id="20" name="Número 2025-3"/>
          <p:cNvSpPr txBox="1"/>
          <p:nvPr/>
        </p:nvSpPr>
        <p:spPr>
          <a:xfrm>
            <a:off x="8219237" y="1508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ítulo 2025-3"/>
          <p:cNvSpPr txBox="1"/>
          <p:nvPr/>
        </p:nvSpPr>
        <p:spPr>
          <a:xfrm>
            <a:off x="8722157" y="1444752"/>
            <a:ext cx="273801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Comités de Apoyo no integran personal ejecutivo</a:t>
            </a:r>
            <a:endParaRPr lang="en-US" sz="1250" dirty="0"/>
          </a:p>
        </p:txBody>
      </p:sp>
      <p:sp>
        <p:nvSpPr>
          <p:cNvPr id="22" name="Detalle 2025-3"/>
          <p:cNvSpPr txBox="1"/>
          <p:nvPr/>
        </p:nvSpPr>
        <p:spPr>
          <a:xfrm>
            <a:off x="8219237" y="2075688"/>
            <a:ext cx="3240938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000" b="1" dirty="0">
                <a:solidFill>
                  <a:schemeClr val="accent5"/>
                </a:solidFill>
              </a:rPr>
              <a:t>Responsable  </a:t>
            </a:r>
            <a:pPr indent="0" marL="0">
              <a:spcAft>
                <a:spcPts val="100"/>
              </a:spcAft>
              <a:buNone/>
            </a:pPr>
            <a:r>
              <a:rPr lang="en-US" sz="1000" dirty="0">
                <a:solidFill>
                  <a:schemeClr val="tx1"/>
                </a:solidFill>
              </a:rPr>
              <a:t>ADR / Jefe de Riesgos</a:t>
            </a:r>
            <a:endParaRPr lang="en-US" sz="10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00" b="1" dirty="0">
                <a:solidFill>
                  <a:schemeClr val="accent5"/>
                </a:solidFill>
              </a:rPr>
              <a:t>Descargo  </a:t>
            </a:r>
            <a:pPr indent="0" marL="0">
              <a:spcAft>
                <a:spcPts val="100"/>
              </a:spcAft>
              <a:buNone/>
            </a:pPr>
            <a:r>
              <a:rPr lang="en-US" sz="1000" dirty="0">
                <a:solidFill>
                  <a:schemeClr val="tx1"/>
                </a:solidFill>
              </a:rPr>
              <a:t>Integración sustentada en Estatutos (arts. 61 y 73)</a:t>
            </a:r>
            <a:endParaRPr lang="en-US" sz="10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00" b="1" dirty="0">
                <a:solidFill>
                  <a:schemeClr val="accent3"/>
                </a:solidFill>
              </a:rPr>
              <a:t>↳ Seguimiento 2026: NO SUPERADA</a:t>
            </a:r>
            <a:endParaRPr lang="en-US" sz="1000" dirty="0"/>
          </a:p>
        </p:txBody>
      </p:sp>
      <p:sp>
        <p:nvSpPr>
          <p:cNvPr id="23" name="Observación 2025-4"/>
          <p:cNvSpPr/>
          <p:nvPr/>
        </p:nvSpPr>
        <p:spPr>
          <a:xfrm>
            <a:off x="548640" y="3063240"/>
            <a:ext cx="3606698" cy="16002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</p:sp>
      <p:sp>
        <p:nvSpPr>
          <p:cNvPr id="24" name="Número 2025-4 círculo"/>
          <p:cNvSpPr/>
          <p:nvPr/>
        </p:nvSpPr>
        <p:spPr>
          <a:xfrm>
            <a:off x="731520" y="324612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</p:sp>
      <p:sp>
        <p:nvSpPr>
          <p:cNvPr id="25" name="Número 2025-4"/>
          <p:cNvSpPr txBox="1"/>
          <p:nvPr/>
        </p:nvSpPr>
        <p:spPr>
          <a:xfrm>
            <a:off x="731520" y="3246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200" dirty="0"/>
          </a:p>
        </p:txBody>
      </p:sp>
      <p:sp>
        <p:nvSpPr>
          <p:cNvPr id="26" name="Título 2025-4"/>
          <p:cNvSpPr txBox="1"/>
          <p:nvPr/>
        </p:nvSpPr>
        <p:spPr>
          <a:xfrm>
            <a:off x="1234440" y="3182112"/>
            <a:ext cx="273801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Inconsistencia en pago de dietas (Reglamento vs. Asamblea General)</a:t>
            </a:r>
            <a:endParaRPr lang="en-US" sz="1250" dirty="0"/>
          </a:p>
        </p:txBody>
      </p:sp>
      <p:sp>
        <p:nvSpPr>
          <p:cNvPr id="27" name="Detalle 2025-4"/>
          <p:cNvSpPr txBox="1"/>
          <p:nvPr/>
        </p:nvSpPr>
        <p:spPr>
          <a:xfrm>
            <a:off x="731520" y="3813048"/>
            <a:ext cx="3240938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000" b="1" dirty="0">
                <a:solidFill>
                  <a:schemeClr val="accent5"/>
                </a:solidFill>
              </a:rPr>
              <a:t>Responsable  </a:t>
            </a:r>
            <a:pPr indent="0" marL="0">
              <a:spcAft>
                <a:spcPts val="100"/>
              </a:spcAft>
              <a:buNone/>
            </a:pPr>
            <a:r>
              <a:rPr lang="en-US" sz="1000" dirty="0">
                <a:solidFill>
                  <a:schemeClr val="tx1"/>
                </a:solidFill>
              </a:rPr>
              <a:t>Jefe de Administración de Riesgos</a:t>
            </a:r>
            <a:endParaRPr lang="en-US" sz="10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00" b="1" dirty="0">
                <a:solidFill>
                  <a:schemeClr val="accent5"/>
                </a:solidFill>
              </a:rPr>
              <a:t>Descargo  </a:t>
            </a:r>
            <a:pPr indent="0" marL="0">
              <a:spcAft>
                <a:spcPts val="100"/>
              </a:spcAft>
              <a:buNone/>
            </a:pPr>
            <a:r>
              <a:rPr lang="en-US" sz="1000" dirty="0">
                <a:solidFill>
                  <a:schemeClr val="tx1"/>
                </a:solidFill>
              </a:rPr>
              <a:t>Se actualizará el Reglamento de Compensaciones Económicas</a:t>
            </a:r>
            <a:endParaRPr lang="en-US" sz="1000" dirty="0"/>
          </a:p>
        </p:txBody>
      </p:sp>
      <p:sp>
        <p:nvSpPr>
          <p:cNvPr id="28" name="Observación 2025-5"/>
          <p:cNvSpPr/>
          <p:nvPr/>
        </p:nvSpPr>
        <p:spPr>
          <a:xfrm>
            <a:off x="4292498" y="3063240"/>
            <a:ext cx="3606698" cy="16002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</p:sp>
      <p:sp>
        <p:nvSpPr>
          <p:cNvPr id="29" name="Número 2025-5 círculo"/>
          <p:cNvSpPr/>
          <p:nvPr/>
        </p:nvSpPr>
        <p:spPr>
          <a:xfrm>
            <a:off x="4475378" y="3246120"/>
            <a:ext cx="384048" cy="38404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>
                <a:alpha val="0"/>
              </a:schemeClr>
            </a:solidFill>
            <a:prstDash val="solid"/>
          </a:ln>
        </p:spPr>
      </p:sp>
      <p:sp>
        <p:nvSpPr>
          <p:cNvPr id="30" name="Número 2025-5"/>
          <p:cNvSpPr txBox="1"/>
          <p:nvPr/>
        </p:nvSpPr>
        <p:spPr>
          <a:xfrm>
            <a:off x="4475378" y="3246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200" dirty="0"/>
          </a:p>
        </p:txBody>
      </p:sp>
      <p:sp>
        <p:nvSpPr>
          <p:cNvPr id="31" name="Título 2025-5"/>
          <p:cNvSpPr txBox="1"/>
          <p:nvPr/>
        </p:nvSpPr>
        <p:spPr>
          <a:xfrm>
            <a:off x="4978298" y="3182112"/>
            <a:ext cx="273801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Normativa interna desactualizada (más de 2 años sin revisión)</a:t>
            </a:r>
            <a:endParaRPr lang="en-US" sz="1250" dirty="0"/>
          </a:p>
        </p:txBody>
      </p:sp>
      <p:sp>
        <p:nvSpPr>
          <p:cNvPr id="32" name="Detalle 2025-5"/>
          <p:cNvSpPr txBox="1"/>
          <p:nvPr/>
        </p:nvSpPr>
        <p:spPr>
          <a:xfrm>
            <a:off x="4475378" y="3813048"/>
            <a:ext cx="3240938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000" b="1" dirty="0">
                <a:solidFill>
                  <a:schemeClr val="accent5"/>
                </a:solidFill>
              </a:rPr>
              <a:t>Responsable  </a:t>
            </a:r>
            <a:pPr indent="0" marL="0">
              <a:spcAft>
                <a:spcPts val="100"/>
              </a:spcAft>
              <a:buNone/>
            </a:pPr>
            <a:r>
              <a:rPr lang="en-US" sz="1000" dirty="0">
                <a:solidFill>
                  <a:schemeClr val="tx1"/>
                </a:solidFill>
              </a:rPr>
              <a:t>ADR, Auditoría Interna, G. Financiera, Seg. de la Información y G. Administrativa</a:t>
            </a:r>
            <a:endParaRPr lang="en-US" sz="10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00" b="1" dirty="0">
                <a:solidFill>
                  <a:schemeClr val="accent5"/>
                </a:solidFill>
              </a:rPr>
              <a:t>Descargo  </a:t>
            </a:r>
            <a:pPr indent="0" marL="0">
              <a:spcAft>
                <a:spcPts val="100"/>
              </a:spcAft>
              <a:buNone/>
            </a:pPr>
            <a:r>
              <a:rPr lang="en-US" sz="1000" dirty="0">
                <a:solidFill>
                  <a:schemeClr val="tx1"/>
                </a:solidFill>
              </a:rPr>
              <a:t>3 de 9 documentos actualizados; el resto en proceso</a:t>
            </a:r>
            <a:endParaRPr lang="en-US" sz="10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00" b="1" dirty="0">
                <a:solidFill>
                  <a:schemeClr val="accent3"/>
                </a:solidFill>
              </a:rPr>
              <a:t>↳ Seguimiento 2026: PARCIALMENTE SUPERADA</a:t>
            </a:r>
            <a:endParaRPr lang="en-US" sz="1000" dirty="0"/>
          </a:p>
        </p:txBody>
      </p:sp>
      <p:sp>
        <p:nvSpPr>
          <p:cNvPr id="33" name="Observación 2025-6"/>
          <p:cNvSpPr/>
          <p:nvPr/>
        </p:nvSpPr>
        <p:spPr>
          <a:xfrm>
            <a:off x="8036357" y="3063240"/>
            <a:ext cx="3606698" cy="16002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</p:sp>
      <p:sp>
        <p:nvSpPr>
          <p:cNvPr id="34" name="Número 2025-6 círculo"/>
          <p:cNvSpPr/>
          <p:nvPr/>
        </p:nvSpPr>
        <p:spPr>
          <a:xfrm>
            <a:off x="8219237" y="324612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</p:sp>
      <p:sp>
        <p:nvSpPr>
          <p:cNvPr id="35" name="Número 2025-6"/>
          <p:cNvSpPr txBox="1"/>
          <p:nvPr/>
        </p:nvSpPr>
        <p:spPr>
          <a:xfrm>
            <a:off x="8219237" y="3246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200" dirty="0"/>
          </a:p>
        </p:txBody>
      </p:sp>
      <p:sp>
        <p:nvSpPr>
          <p:cNvPr id="36" name="Título 2025-6"/>
          <p:cNvSpPr txBox="1"/>
          <p:nvPr/>
        </p:nvSpPr>
        <p:spPr>
          <a:xfrm>
            <a:off x="8722157" y="3182112"/>
            <a:ext cx="273801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Falta de soporte en expedientes de créditos de Ferias de Crédito</a:t>
            </a:r>
            <a:endParaRPr lang="en-US" sz="1250" dirty="0"/>
          </a:p>
        </p:txBody>
      </p:sp>
      <p:sp>
        <p:nvSpPr>
          <p:cNvPr id="37" name="Detalle 2025-6"/>
          <p:cNvSpPr txBox="1"/>
          <p:nvPr/>
        </p:nvSpPr>
        <p:spPr>
          <a:xfrm>
            <a:off x="8219237" y="3813048"/>
            <a:ext cx="3240938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000" b="1" dirty="0">
                <a:solidFill>
                  <a:schemeClr val="accent5"/>
                </a:solidFill>
              </a:rPr>
              <a:t>Responsable  </a:t>
            </a:r>
            <a:pPr indent="0" marL="0">
              <a:spcAft>
                <a:spcPts val="100"/>
              </a:spcAft>
              <a:buNone/>
            </a:pPr>
            <a:r>
              <a:rPr lang="en-US" sz="1000" dirty="0">
                <a:solidFill>
                  <a:schemeClr val="tx1"/>
                </a:solidFill>
              </a:rPr>
              <a:t>Gerencia de Negocios / Administración de Cartera</a:t>
            </a:r>
            <a:endParaRPr lang="en-US" sz="10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00" b="1" dirty="0">
                <a:solidFill>
                  <a:schemeClr val="accent5"/>
                </a:solidFill>
              </a:rPr>
              <a:t>Descargo  </a:t>
            </a:r>
            <a:pPr indent="0" marL="0">
              <a:spcAft>
                <a:spcPts val="100"/>
              </a:spcAft>
              <a:buNone/>
            </a:pPr>
            <a:r>
              <a:rPr lang="en-US" sz="1000" dirty="0">
                <a:solidFill>
                  <a:schemeClr val="tx1"/>
                </a:solidFill>
              </a:rPr>
              <a:t>Se remitieron resoluciones y acuerdos del CA de cada feria</a:t>
            </a:r>
            <a:endParaRPr lang="en-US" sz="1000" dirty="0"/>
          </a:p>
        </p:txBody>
      </p:sp>
      <p:sp>
        <p:nvSpPr>
          <p:cNvPr id="38" name="Observación 2025-7"/>
          <p:cNvSpPr/>
          <p:nvPr/>
        </p:nvSpPr>
        <p:spPr>
          <a:xfrm>
            <a:off x="548640" y="4800600"/>
            <a:ext cx="3606698" cy="16002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</p:sp>
      <p:sp>
        <p:nvSpPr>
          <p:cNvPr id="39" name="Número 2025-7 círculo"/>
          <p:cNvSpPr/>
          <p:nvPr/>
        </p:nvSpPr>
        <p:spPr>
          <a:xfrm>
            <a:off x="731520" y="498348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</p:sp>
      <p:sp>
        <p:nvSpPr>
          <p:cNvPr id="40" name="Número 2025-7"/>
          <p:cNvSpPr txBox="1"/>
          <p:nvPr/>
        </p:nvSpPr>
        <p:spPr>
          <a:xfrm>
            <a:off x="731520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1200" dirty="0"/>
          </a:p>
        </p:txBody>
      </p:sp>
      <p:sp>
        <p:nvSpPr>
          <p:cNvPr id="41" name="Título 2025-7"/>
          <p:cNvSpPr txBox="1"/>
          <p:nvPr/>
        </p:nvSpPr>
        <p:spPr>
          <a:xfrm>
            <a:off x="1234440" y="4919472"/>
            <a:ext cx="273801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Falta de información obligatoria en declaración jurada de personas relacionadas</a:t>
            </a:r>
            <a:endParaRPr lang="en-US" sz="1250" dirty="0"/>
          </a:p>
        </p:txBody>
      </p:sp>
      <p:sp>
        <p:nvSpPr>
          <p:cNvPr id="42" name="Detalle 2025-7"/>
          <p:cNvSpPr txBox="1"/>
          <p:nvPr/>
        </p:nvSpPr>
        <p:spPr>
          <a:xfrm>
            <a:off x="731520" y="5550408"/>
            <a:ext cx="3240938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000" b="1" dirty="0">
                <a:solidFill>
                  <a:schemeClr val="accent5"/>
                </a:solidFill>
              </a:rPr>
              <a:t>Responsable  </a:t>
            </a:r>
            <a:pPr indent="0" marL="0">
              <a:spcAft>
                <a:spcPts val="100"/>
              </a:spcAft>
              <a:buNone/>
            </a:pPr>
            <a:r>
              <a:rPr lang="en-US" sz="1000" dirty="0">
                <a:solidFill>
                  <a:schemeClr val="tx1"/>
                </a:solidFill>
              </a:rPr>
              <a:t>ADR / Jefe de Riesgos</a:t>
            </a:r>
            <a:endParaRPr lang="en-US" sz="10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00" b="1" dirty="0">
                <a:solidFill>
                  <a:schemeClr val="accent5"/>
                </a:solidFill>
              </a:rPr>
              <a:t>Descargo  </a:t>
            </a:r>
            <a:pPr indent="0" marL="0">
              <a:spcAft>
                <a:spcPts val="100"/>
              </a:spcAft>
              <a:buNone/>
            </a:pPr>
            <a:r>
              <a:rPr lang="en-US" sz="1000" dirty="0">
                <a:solidFill>
                  <a:schemeClr val="tx1"/>
                </a:solidFill>
              </a:rPr>
              <a:t>Se pidió a la SSF el detalle de las personas señaladas</a:t>
            </a:r>
            <a:endParaRPr lang="en-US" sz="1000" dirty="0"/>
          </a:p>
        </p:txBody>
      </p:sp>
      <p:sp>
        <p:nvSpPr>
          <p:cNvPr id="43" name="Observación 2025-8"/>
          <p:cNvSpPr/>
          <p:nvPr/>
        </p:nvSpPr>
        <p:spPr>
          <a:xfrm>
            <a:off x="4292498" y="4800600"/>
            <a:ext cx="3606698" cy="16002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</p:sp>
      <p:sp>
        <p:nvSpPr>
          <p:cNvPr id="44" name="Número 2025-8 círculo"/>
          <p:cNvSpPr/>
          <p:nvPr/>
        </p:nvSpPr>
        <p:spPr>
          <a:xfrm>
            <a:off x="4475378" y="498348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</p:sp>
      <p:sp>
        <p:nvSpPr>
          <p:cNvPr id="45" name="Número 2025-8"/>
          <p:cNvSpPr txBox="1"/>
          <p:nvPr/>
        </p:nvSpPr>
        <p:spPr>
          <a:xfrm>
            <a:off x="4475378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1200" dirty="0"/>
          </a:p>
        </p:txBody>
      </p:sp>
      <p:sp>
        <p:nvSpPr>
          <p:cNvPr id="46" name="Título 2025-8"/>
          <p:cNvSpPr txBox="1"/>
          <p:nvPr/>
        </p:nvSpPr>
        <p:spPr>
          <a:xfrm>
            <a:off x="4978298" y="4919472"/>
            <a:ext cx="273801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Omisiones en procedimientos del Manual de Compras de Bienes y Servicios</a:t>
            </a:r>
            <a:endParaRPr lang="en-US" sz="1250" dirty="0"/>
          </a:p>
        </p:txBody>
      </p:sp>
      <p:sp>
        <p:nvSpPr>
          <p:cNvPr id="47" name="Detalle 2025-8"/>
          <p:cNvSpPr txBox="1"/>
          <p:nvPr/>
        </p:nvSpPr>
        <p:spPr>
          <a:xfrm>
            <a:off x="4475378" y="5550408"/>
            <a:ext cx="3240938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000" b="1" dirty="0">
                <a:solidFill>
                  <a:schemeClr val="accent5"/>
                </a:solidFill>
              </a:rPr>
              <a:t>Responsable  </a:t>
            </a:r>
            <a:pPr indent="0" marL="0">
              <a:spcAft>
                <a:spcPts val="100"/>
              </a:spcAft>
              <a:buNone/>
            </a:pPr>
            <a:r>
              <a:rPr lang="en-US" sz="1000" dirty="0">
                <a:solidFill>
                  <a:schemeClr val="tx1"/>
                </a:solidFill>
              </a:rPr>
              <a:t>Gerencia Administrativa / Gerente Administrativa</a:t>
            </a:r>
            <a:endParaRPr lang="en-US" sz="10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00" b="1" dirty="0">
                <a:solidFill>
                  <a:schemeClr val="accent5"/>
                </a:solidFill>
              </a:rPr>
              <a:t>Descargo  </a:t>
            </a:r>
            <a:pPr indent="0" marL="0">
              <a:spcAft>
                <a:spcPts val="100"/>
              </a:spcAft>
              <a:buNone/>
            </a:pPr>
            <a:r>
              <a:rPr lang="en-US" sz="1000" dirty="0">
                <a:solidFill>
                  <a:schemeClr val="tx1"/>
                </a:solidFill>
              </a:rPr>
              <a:t>Firmas de Mercadeo y Gerencia General; contrato DLF terminado</a:t>
            </a:r>
            <a:endParaRPr lang="en-US" sz="1000" dirty="0"/>
          </a:p>
        </p:txBody>
      </p:sp>
      <p:sp>
        <p:nvSpPr>
          <p:cNvPr id="48" name="Observación 2025-9"/>
          <p:cNvSpPr/>
          <p:nvPr/>
        </p:nvSpPr>
        <p:spPr>
          <a:xfrm>
            <a:off x="8036357" y="4800600"/>
            <a:ext cx="3606698" cy="16002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</p:sp>
      <p:sp>
        <p:nvSpPr>
          <p:cNvPr id="49" name="Número 2025-9 círculo"/>
          <p:cNvSpPr/>
          <p:nvPr/>
        </p:nvSpPr>
        <p:spPr>
          <a:xfrm>
            <a:off x="8219237" y="498348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</p:sp>
      <p:sp>
        <p:nvSpPr>
          <p:cNvPr id="50" name="Número 2025-9"/>
          <p:cNvSpPr txBox="1"/>
          <p:nvPr/>
        </p:nvSpPr>
        <p:spPr>
          <a:xfrm>
            <a:off x="8219237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1200" dirty="0"/>
          </a:p>
        </p:txBody>
      </p:sp>
      <p:sp>
        <p:nvSpPr>
          <p:cNvPr id="51" name="Título 2025-9"/>
          <p:cNvSpPr txBox="1"/>
          <p:nvPr/>
        </p:nvSpPr>
        <p:spPr>
          <a:xfrm>
            <a:off x="8722157" y="4919472"/>
            <a:ext cx="273801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Uso del Fondo de Educación en fines distintos a los legales</a:t>
            </a:r>
            <a:endParaRPr lang="en-US" sz="1250" dirty="0"/>
          </a:p>
        </p:txBody>
      </p:sp>
      <p:sp>
        <p:nvSpPr>
          <p:cNvPr id="52" name="Detalle 2025-9"/>
          <p:cNvSpPr txBox="1"/>
          <p:nvPr/>
        </p:nvSpPr>
        <p:spPr>
          <a:xfrm>
            <a:off x="8219237" y="5550408"/>
            <a:ext cx="3240938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000" b="1" dirty="0">
                <a:solidFill>
                  <a:schemeClr val="accent5"/>
                </a:solidFill>
              </a:rPr>
              <a:t>Responsable  </a:t>
            </a:r>
            <a:pPr indent="0" marL="0">
              <a:spcAft>
                <a:spcPts val="100"/>
              </a:spcAft>
              <a:buNone/>
            </a:pPr>
            <a:r>
              <a:rPr lang="en-US" sz="1000" dirty="0">
                <a:solidFill>
                  <a:schemeClr val="tx1"/>
                </a:solidFill>
              </a:rPr>
              <a:t>Jefe de Administración de Riesgos</a:t>
            </a:r>
            <a:endParaRPr lang="en-US" sz="10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00" b="1" dirty="0">
                <a:solidFill>
                  <a:schemeClr val="accent5"/>
                </a:solidFill>
              </a:rPr>
              <a:t>Descargo  </a:t>
            </a:r>
            <a:pPr indent="0" marL="0">
              <a:spcAft>
                <a:spcPts val="100"/>
              </a:spcAft>
              <a:buNone/>
            </a:pPr>
            <a:r>
              <a:rPr lang="en-US" sz="1000" dirty="0">
                <a:solidFill>
                  <a:schemeClr val="tx1"/>
                </a:solidFill>
              </a:rPr>
              <a:t>CA suspendió el Comité Sociocultural (Acta 2576, 07/04/2025)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5"/>
                </a:solidFill>
              </a:rPr>
              <a:t>CIRCULAR DS-SABAO-BCS-BC-22741 · VISITA CON CORTE AL 31/07/2026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9436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Observaciones 2026</a:t>
            </a:r>
            <a:endParaRPr lang="en-US" sz="3000" dirty="0"/>
          </a:p>
        </p:txBody>
      </p:sp>
      <p:sp>
        <p:nvSpPr>
          <p:cNvPr id="4" name="Leyenda A punto"/>
          <p:cNvSpPr/>
          <p:nvPr/>
        </p:nvSpPr>
        <p:spPr>
          <a:xfrm>
            <a:off x="8046720" y="841248"/>
            <a:ext cx="146304" cy="14630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</p:sp>
      <p:sp>
        <p:nvSpPr>
          <p:cNvPr id="5" name="Leyenda A"/>
          <p:cNvSpPr txBox="1"/>
          <p:nvPr/>
        </p:nvSpPr>
        <p:spPr>
          <a:xfrm>
            <a:off x="8266176" y="77724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Anexo A · nuevas</a:t>
            </a:r>
            <a:endParaRPr lang="en-US" sz="1100" dirty="0"/>
          </a:p>
        </p:txBody>
      </p:sp>
      <p:sp>
        <p:nvSpPr>
          <p:cNvPr id="6" name="Leyenda B punto"/>
          <p:cNvSpPr/>
          <p:nvPr/>
        </p:nvSpPr>
        <p:spPr>
          <a:xfrm>
            <a:off x="9646920" y="841248"/>
            <a:ext cx="146304" cy="14630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</p:sp>
      <p:sp>
        <p:nvSpPr>
          <p:cNvPr id="7" name="Leyenda B"/>
          <p:cNvSpPr txBox="1"/>
          <p:nvPr/>
        </p:nvSpPr>
        <p:spPr>
          <a:xfrm>
            <a:off x="9866376" y="77724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Anexo B · seguimiento 2025</a:t>
            </a:r>
            <a:endParaRPr lang="en-US" sz="1100" dirty="0"/>
          </a:p>
        </p:txBody>
      </p:sp>
      <p:sp>
        <p:nvSpPr>
          <p:cNvPr id="8" name="Etiqueta Anexo A"/>
          <p:cNvSpPr txBox="1"/>
          <p:nvPr/>
        </p:nvSpPr>
        <p:spPr>
          <a:xfrm>
            <a:off x="548640" y="12801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2"/>
                </a:solidFill>
              </a:rPr>
              <a:t>ANEXO A · OBSERVACIONES NUEVAS DETERMINADAS EN LA VISITA 2026</a:t>
            </a:r>
            <a:endParaRPr lang="en-US" sz="1100" dirty="0"/>
          </a:p>
        </p:txBody>
      </p:sp>
      <p:sp>
        <p:nvSpPr>
          <p:cNvPr id="9" name="Anexo A-1"/>
          <p:cNvSpPr/>
          <p:nvPr/>
        </p:nvSpPr>
        <p:spPr>
          <a:xfrm>
            <a:off x="548640" y="1572768"/>
            <a:ext cx="2691308" cy="1444752"/>
          </a:xfrm>
          <a:prstGeom prst="roundRect">
            <a:avLst>
              <a:gd name="adj" fmla="val 6329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</p:sp>
      <p:sp>
        <p:nvSpPr>
          <p:cNvPr id="10" name="Número A-1 círculo"/>
          <p:cNvSpPr/>
          <p:nvPr/>
        </p:nvSpPr>
        <p:spPr>
          <a:xfrm>
            <a:off x="694944" y="1700784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</p:sp>
      <p:sp>
        <p:nvSpPr>
          <p:cNvPr id="11" name="Número A-1"/>
          <p:cNvSpPr txBox="1"/>
          <p:nvPr/>
        </p:nvSpPr>
        <p:spPr>
          <a:xfrm>
            <a:off x="694944" y="170078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Responsable A-1"/>
          <p:cNvSpPr txBox="1"/>
          <p:nvPr/>
        </p:nvSpPr>
        <p:spPr>
          <a:xfrm>
            <a:off x="1115568" y="1645920"/>
            <a:ext cx="20329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chemeClr val="accent2"/>
                </a:solidFill>
              </a:rPr>
              <a:t>Responsable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Gerencia Financiera</a:t>
            </a:r>
            <a:endParaRPr lang="en-US" sz="1000" dirty="0"/>
          </a:p>
        </p:txBody>
      </p:sp>
      <p:sp>
        <p:nvSpPr>
          <p:cNvPr id="13" name="Título A-1"/>
          <p:cNvSpPr txBox="1"/>
          <p:nvPr/>
        </p:nvSpPr>
        <p:spPr>
          <a:xfrm>
            <a:off x="694944" y="2157984"/>
            <a:ext cx="23987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chemeClr val="tx1"/>
                </a:solidFill>
              </a:rPr>
              <a:t>Falta de inducción sobre partidas relevantes de EEFF a nuevos miembros</a:t>
            </a:r>
            <a:endParaRPr lang="en-US" sz="1150" dirty="0"/>
          </a:p>
        </p:txBody>
      </p:sp>
      <p:sp>
        <p:nvSpPr>
          <p:cNvPr id="14" name="Respuesta A-1"/>
          <p:cNvSpPr txBox="1"/>
          <p:nvPr/>
        </p:nvSpPr>
        <p:spPr>
          <a:xfrm>
            <a:off x="694944" y="2651760"/>
            <a:ext cx="23987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i="1" dirty="0">
                <a:solidFill>
                  <a:schemeClr val="accent5"/>
                </a:solidFill>
              </a:rPr>
              <a:t>Respuesta: sin comentario en la matriz</a:t>
            </a:r>
            <a:endParaRPr lang="en-US" sz="950" dirty="0"/>
          </a:p>
        </p:txBody>
      </p:sp>
      <p:sp>
        <p:nvSpPr>
          <p:cNvPr id="15" name="Anexo A-2"/>
          <p:cNvSpPr/>
          <p:nvPr/>
        </p:nvSpPr>
        <p:spPr>
          <a:xfrm>
            <a:off x="3349676" y="1572768"/>
            <a:ext cx="2691308" cy="1444752"/>
          </a:xfrm>
          <a:prstGeom prst="roundRect">
            <a:avLst>
              <a:gd name="adj" fmla="val 6329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</p:sp>
      <p:sp>
        <p:nvSpPr>
          <p:cNvPr id="16" name="Número A-2 círculo"/>
          <p:cNvSpPr/>
          <p:nvPr/>
        </p:nvSpPr>
        <p:spPr>
          <a:xfrm>
            <a:off x="3495980" y="1700784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</p:sp>
      <p:sp>
        <p:nvSpPr>
          <p:cNvPr id="17" name="Número A-2"/>
          <p:cNvSpPr txBox="1"/>
          <p:nvPr/>
        </p:nvSpPr>
        <p:spPr>
          <a:xfrm>
            <a:off x="3495980" y="170078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200" dirty="0"/>
          </a:p>
        </p:txBody>
      </p:sp>
      <p:sp>
        <p:nvSpPr>
          <p:cNvPr id="18" name="Responsable A-2"/>
          <p:cNvSpPr txBox="1"/>
          <p:nvPr/>
        </p:nvSpPr>
        <p:spPr>
          <a:xfrm>
            <a:off x="3916604" y="1645920"/>
            <a:ext cx="20329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chemeClr val="accent2"/>
                </a:solidFill>
              </a:rPr>
              <a:t>Responsable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Gerencia de Oficialía de Cumplimiento</a:t>
            </a:r>
            <a:endParaRPr lang="en-US" sz="1000" dirty="0"/>
          </a:p>
        </p:txBody>
      </p:sp>
      <p:sp>
        <p:nvSpPr>
          <p:cNvPr id="19" name="Título A-2"/>
          <p:cNvSpPr txBox="1"/>
          <p:nvPr/>
        </p:nvSpPr>
        <p:spPr>
          <a:xfrm>
            <a:off x="3495980" y="2157984"/>
            <a:ext cx="23987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chemeClr val="tx1"/>
                </a:solidFill>
              </a:rPr>
              <a:t>Falta de Certificación de Lectura del Código de Conducta</a:t>
            </a:r>
            <a:endParaRPr lang="en-US" sz="1150" dirty="0"/>
          </a:p>
        </p:txBody>
      </p:sp>
      <p:sp>
        <p:nvSpPr>
          <p:cNvPr id="20" name="Respuesta A-2"/>
          <p:cNvSpPr txBox="1"/>
          <p:nvPr/>
        </p:nvSpPr>
        <p:spPr>
          <a:xfrm>
            <a:off x="3495980" y="2651760"/>
            <a:ext cx="23987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i="1" dirty="0">
                <a:solidFill>
                  <a:schemeClr val="accent5"/>
                </a:solidFill>
              </a:rPr>
              <a:t>Respuesta: 6 de 7 certificaciones localizadas; se pide reconsiderar</a:t>
            </a:r>
            <a:endParaRPr lang="en-US" sz="950" dirty="0"/>
          </a:p>
        </p:txBody>
      </p:sp>
      <p:sp>
        <p:nvSpPr>
          <p:cNvPr id="21" name="Anexo A-3"/>
          <p:cNvSpPr/>
          <p:nvPr/>
        </p:nvSpPr>
        <p:spPr>
          <a:xfrm>
            <a:off x="6150712" y="1572768"/>
            <a:ext cx="2691308" cy="1444752"/>
          </a:xfrm>
          <a:prstGeom prst="roundRect">
            <a:avLst>
              <a:gd name="adj" fmla="val 6329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</p:sp>
      <p:sp>
        <p:nvSpPr>
          <p:cNvPr id="22" name="Número A-3 círculo"/>
          <p:cNvSpPr/>
          <p:nvPr/>
        </p:nvSpPr>
        <p:spPr>
          <a:xfrm>
            <a:off x="6297016" y="1700784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</p:sp>
      <p:sp>
        <p:nvSpPr>
          <p:cNvPr id="23" name="Número A-3"/>
          <p:cNvSpPr txBox="1"/>
          <p:nvPr/>
        </p:nvSpPr>
        <p:spPr>
          <a:xfrm>
            <a:off x="6297016" y="170078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200" dirty="0"/>
          </a:p>
        </p:txBody>
      </p:sp>
      <p:sp>
        <p:nvSpPr>
          <p:cNvPr id="24" name="Responsable A-3"/>
          <p:cNvSpPr txBox="1"/>
          <p:nvPr/>
        </p:nvSpPr>
        <p:spPr>
          <a:xfrm>
            <a:off x="6717640" y="1645920"/>
            <a:ext cx="20329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chemeClr val="accent2"/>
                </a:solidFill>
              </a:rPr>
              <a:t>Responsable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Talento Humano · Depto. de Procesos</a:t>
            </a:r>
            <a:endParaRPr lang="en-US" sz="1000" dirty="0"/>
          </a:p>
        </p:txBody>
      </p:sp>
      <p:sp>
        <p:nvSpPr>
          <p:cNvPr id="25" name="Título A-3"/>
          <p:cNvSpPr txBox="1"/>
          <p:nvPr/>
        </p:nvSpPr>
        <p:spPr>
          <a:xfrm>
            <a:off x="6297016" y="2157984"/>
            <a:ext cx="23987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chemeClr val="tx1"/>
                </a:solidFill>
              </a:rPr>
              <a:t>Falta de formalización y aprobación de políticas</a:t>
            </a:r>
            <a:endParaRPr lang="en-US" sz="1150" dirty="0"/>
          </a:p>
        </p:txBody>
      </p:sp>
      <p:sp>
        <p:nvSpPr>
          <p:cNvPr id="26" name="Respuesta A-3"/>
          <p:cNvSpPr txBox="1"/>
          <p:nvPr/>
        </p:nvSpPr>
        <p:spPr>
          <a:xfrm>
            <a:off x="6297016" y="2651760"/>
            <a:ext cx="23987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i="1" dirty="0">
                <a:solidFill>
                  <a:schemeClr val="accent5"/>
                </a:solidFill>
              </a:rPr>
              <a:t>Respuesta: Se elaborará la Política de Retribución para aprobación del CA</a:t>
            </a:r>
            <a:endParaRPr lang="en-US" sz="950" dirty="0"/>
          </a:p>
        </p:txBody>
      </p:sp>
      <p:sp>
        <p:nvSpPr>
          <p:cNvPr id="27" name="Anexo A-4"/>
          <p:cNvSpPr/>
          <p:nvPr/>
        </p:nvSpPr>
        <p:spPr>
          <a:xfrm>
            <a:off x="8951747" y="1572768"/>
            <a:ext cx="2691308" cy="1444752"/>
          </a:xfrm>
          <a:prstGeom prst="roundRect">
            <a:avLst>
              <a:gd name="adj" fmla="val 6329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</p:sp>
      <p:sp>
        <p:nvSpPr>
          <p:cNvPr id="28" name="Número A-4 círculo"/>
          <p:cNvSpPr/>
          <p:nvPr/>
        </p:nvSpPr>
        <p:spPr>
          <a:xfrm>
            <a:off x="9098051" y="1700784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</p:sp>
      <p:sp>
        <p:nvSpPr>
          <p:cNvPr id="29" name="Número A-4"/>
          <p:cNvSpPr txBox="1"/>
          <p:nvPr/>
        </p:nvSpPr>
        <p:spPr>
          <a:xfrm>
            <a:off x="9098051" y="170078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200" dirty="0"/>
          </a:p>
        </p:txBody>
      </p:sp>
      <p:sp>
        <p:nvSpPr>
          <p:cNvPr id="30" name="Responsable A-4"/>
          <p:cNvSpPr txBox="1"/>
          <p:nvPr/>
        </p:nvSpPr>
        <p:spPr>
          <a:xfrm>
            <a:off x="9518675" y="1645920"/>
            <a:ext cx="20329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chemeClr val="accent2"/>
                </a:solidFill>
              </a:rPr>
              <a:t>Responsable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Administración de Riesgos</a:t>
            </a:r>
            <a:endParaRPr lang="en-US" sz="1000" dirty="0"/>
          </a:p>
        </p:txBody>
      </p:sp>
      <p:sp>
        <p:nvSpPr>
          <p:cNvPr id="31" name="Título A-4"/>
          <p:cNvSpPr txBox="1"/>
          <p:nvPr/>
        </p:nvSpPr>
        <p:spPr>
          <a:xfrm>
            <a:off x="9098051" y="2157984"/>
            <a:ext cx="23987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chemeClr val="tx1"/>
                </a:solidFill>
              </a:rPr>
              <a:t>Información de comités desactualizada en el sitio web</a:t>
            </a:r>
            <a:endParaRPr lang="en-US" sz="1150" dirty="0"/>
          </a:p>
        </p:txBody>
      </p:sp>
      <p:sp>
        <p:nvSpPr>
          <p:cNvPr id="32" name="Respuesta A-4"/>
          <p:cNvSpPr txBox="1"/>
          <p:nvPr/>
        </p:nvSpPr>
        <p:spPr>
          <a:xfrm>
            <a:off x="9098051" y="2651760"/>
            <a:ext cx="23987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i="1" dirty="0">
                <a:solidFill>
                  <a:schemeClr val="accent5"/>
                </a:solidFill>
              </a:rPr>
              <a:t>Respuesta: sin comentario en la matriz</a:t>
            </a:r>
            <a:endParaRPr lang="en-US" sz="950" dirty="0"/>
          </a:p>
        </p:txBody>
      </p:sp>
      <p:sp>
        <p:nvSpPr>
          <p:cNvPr id="33" name="Anexo A-5"/>
          <p:cNvSpPr/>
          <p:nvPr/>
        </p:nvSpPr>
        <p:spPr>
          <a:xfrm>
            <a:off x="548640" y="3127248"/>
            <a:ext cx="2691308" cy="1444752"/>
          </a:xfrm>
          <a:prstGeom prst="roundRect">
            <a:avLst>
              <a:gd name="adj" fmla="val 6329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</p:sp>
      <p:sp>
        <p:nvSpPr>
          <p:cNvPr id="34" name="Número A-5 círculo"/>
          <p:cNvSpPr/>
          <p:nvPr/>
        </p:nvSpPr>
        <p:spPr>
          <a:xfrm>
            <a:off x="694944" y="3255264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</p:sp>
      <p:sp>
        <p:nvSpPr>
          <p:cNvPr id="35" name="Número A-5"/>
          <p:cNvSpPr txBox="1"/>
          <p:nvPr/>
        </p:nvSpPr>
        <p:spPr>
          <a:xfrm>
            <a:off x="694944" y="325526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200" dirty="0"/>
          </a:p>
        </p:txBody>
      </p:sp>
      <p:sp>
        <p:nvSpPr>
          <p:cNvPr id="36" name="Responsable A-5"/>
          <p:cNvSpPr txBox="1"/>
          <p:nvPr/>
        </p:nvSpPr>
        <p:spPr>
          <a:xfrm>
            <a:off x="1115568" y="3200400"/>
            <a:ext cx="20329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chemeClr val="accent2"/>
                </a:solidFill>
              </a:rPr>
              <a:t>Responsable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Gerencia General · Administración de Riesgos</a:t>
            </a:r>
            <a:endParaRPr lang="en-US" sz="1000" dirty="0"/>
          </a:p>
        </p:txBody>
      </p:sp>
      <p:sp>
        <p:nvSpPr>
          <p:cNvPr id="37" name="Título A-5"/>
          <p:cNvSpPr txBox="1"/>
          <p:nvPr/>
        </p:nvSpPr>
        <p:spPr>
          <a:xfrm>
            <a:off x="694944" y="3712464"/>
            <a:ext cx="23987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chemeClr val="tx1"/>
                </a:solidFill>
              </a:rPr>
              <a:t>Incongruencia entre Estatutos y Código de Gobierno Corporativo</a:t>
            </a:r>
            <a:endParaRPr lang="en-US" sz="1150" dirty="0"/>
          </a:p>
        </p:txBody>
      </p:sp>
      <p:sp>
        <p:nvSpPr>
          <p:cNvPr id="38" name="Respuesta A-5"/>
          <p:cNvSpPr txBox="1"/>
          <p:nvPr/>
        </p:nvSpPr>
        <p:spPr>
          <a:xfrm>
            <a:off x="694944" y="4206240"/>
            <a:ext cx="23987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i="1" dirty="0">
                <a:solidFill>
                  <a:schemeClr val="accent5"/>
                </a:solidFill>
              </a:rPr>
              <a:t>Respuesta: sin comentario en la matriz</a:t>
            </a:r>
            <a:endParaRPr lang="en-US" sz="950" dirty="0"/>
          </a:p>
        </p:txBody>
      </p:sp>
      <p:sp>
        <p:nvSpPr>
          <p:cNvPr id="39" name="Anexo A-6"/>
          <p:cNvSpPr/>
          <p:nvPr/>
        </p:nvSpPr>
        <p:spPr>
          <a:xfrm>
            <a:off x="3349676" y="3127248"/>
            <a:ext cx="2691308" cy="1444752"/>
          </a:xfrm>
          <a:prstGeom prst="roundRect">
            <a:avLst>
              <a:gd name="adj" fmla="val 6329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</p:sp>
      <p:sp>
        <p:nvSpPr>
          <p:cNvPr id="40" name="Número A-6 círculo"/>
          <p:cNvSpPr/>
          <p:nvPr/>
        </p:nvSpPr>
        <p:spPr>
          <a:xfrm>
            <a:off x="3495980" y="3255264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</p:sp>
      <p:sp>
        <p:nvSpPr>
          <p:cNvPr id="41" name="Número A-6"/>
          <p:cNvSpPr txBox="1"/>
          <p:nvPr/>
        </p:nvSpPr>
        <p:spPr>
          <a:xfrm>
            <a:off x="3495980" y="325526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200" dirty="0"/>
          </a:p>
        </p:txBody>
      </p:sp>
      <p:sp>
        <p:nvSpPr>
          <p:cNvPr id="42" name="Responsable A-6"/>
          <p:cNvSpPr txBox="1"/>
          <p:nvPr/>
        </p:nvSpPr>
        <p:spPr>
          <a:xfrm>
            <a:off x="3916604" y="3200400"/>
            <a:ext cx="20329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chemeClr val="accent2"/>
                </a:solidFill>
              </a:rPr>
              <a:t>Responsable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Gerencia Administrativa · Jefe de Educación y Resp. Social</a:t>
            </a:r>
            <a:endParaRPr lang="en-US" sz="1000" dirty="0"/>
          </a:p>
        </p:txBody>
      </p:sp>
      <p:sp>
        <p:nvSpPr>
          <p:cNvPr id="43" name="Título A-6"/>
          <p:cNvSpPr txBox="1"/>
          <p:nvPr/>
        </p:nvSpPr>
        <p:spPr>
          <a:xfrm>
            <a:off x="3495980" y="3712464"/>
            <a:ext cx="23987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chemeClr val="tx1"/>
                </a:solidFill>
              </a:rPr>
              <a:t>Reglamento del Fondo de Educación con conceptos no delimitados por Ley</a:t>
            </a:r>
            <a:endParaRPr lang="en-US" sz="1150" dirty="0"/>
          </a:p>
        </p:txBody>
      </p:sp>
      <p:sp>
        <p:nvSpPr>
          <p:cNvPr id="44" name="Respuesta A-6"/>
          <p:cNvSpPr txBox="1"/>
          <p:nvPr/>
        </p:nvSpPr>
        <p:spPr>
          <a:xfrm>
            <a:off x="3495980" y="4206240"/>
            <a:ext cx="23987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i="1" dirty="0">
                <a:solidFill>
                  <a:schemeClr val="accent5"/>
                </a:solidFill>
              </a:rPr>
              <a:t>Respuesta: Revisión integral del Reglamento del Fondo</a:t>
            </a:r>
            <a:endParaRPr lang="en-US" sz="950" dirty="0"/>
          </a:p>
        </p:txBody>
      </p:sp>
      <p:sp>
        <p:nvSpPr>
          <p:cNvPr id="45" name="Anexo A-7"/>
          <p:cNvSpPr/>
          <p:nvPr/>
        </p:nvSpPr>
        <p:spPr>
          <a:xfrm>
            <a:off x="6150712" y="3127248"/>
            <a:ext cx="2691308" cy="1444752"/>
          </a:xfrm>
          <a:prstGeom prst="roundRect">
            <a:avLst>
              <a:gd name="adj" fmla="val 6329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</p:sp>
      <p:sp>
        <p:nvSpPr>
          <p:cNvPr id="46" name="Número A-7 círculo"/>
          <p:cNvSpPr/>
          <p:nvPr/>
        </p:nvSpPr>
        <p:spPr>
          <a:xfrm>
            <a:off x="6297016" y="3255264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</p:sp>
      <p:sp>
        <p:nvSpPr>
          <p:cNvPr id="47" name="Número A-7"/>
          <p:cNvSpPr txBox="1"/>
          <p:nvPr/>
        </p:nvSpPr>
        <p:spPr>
          <a:xfrm>
            <a:off x="6297016" y="325526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1200" dirty="0"/>
          </a:p>
        </p:txBody>
      </p:sp>
      <p:sp>
        <p:nvSpPr>
          <p:cNvPr id="48" name="Responsable A-7"/>
          <p:cNvSpPr txBox="1"/>
          <p:nvPr/>
        </p:nvSpPr>
        <p:spPr>
          <a:xfrm>
            <a:off x="6717640" y="3200400"/>
            <a:ext cx="20329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chemeClr val="accent2"/>
                </a:solidFill>
              </a:rPr>
              <a:t>Responsable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Gerencia Administrativa · Jefatura de Educación y Resp. Social</a:t>
            </a:r>
            <a:endParaRPr lang="en-US" sz="1000" dirty="0"/>
          </a:p>
        </p:txBody>
      </p:sp>
      <p:sp>
        <p:nvSpPr>
          <p:cNvPr id="49" name="Título A-7"/>
          <p:cNvSpPr txBox="1"/>
          <p:nvPr/>
        </p:nvSpPr>
        <p:spPr>
          <a:xfrm>
            <a:off x="6297016" y="3712464"/>
            <a:ext cx="23987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chemeClr val="tx1"/>
                </a:solidFill>
              </a:rPr>
              <a:t>Limitada transparencia a la Asamblea sobre el Fondo de Educación</a:t>
            </a:r>
            <a:endParaRPr lang="en-US" sz="1150" dirty="0"/>
          </a:p>
        </p:txBody>
      </p:sp>
      <p:sp>
        <p:nvSpPr>
          <p:cNvPr id="50" name="Respuesta A-7"/>
          <p:cNvSpPr txBox="1"/>
          <p:nvPr/>
        </p:nvSpPr>
        <p:spPr>
          <a:xfrm>
            <a:off x="6297016" y="4206240"/>
            <a:ext cx="23987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i="1" dirty="0">
                <a:solidFill>
                  <a:schemeClr val="accent5"/>
                </a:solidFill>
              </a:rPr>
              <a:t>Respuesta: Memoria de Labores 2026 con conceptos y montos</a:t>
            </a:r>
            <a:endParaRPr lang="en-US" sz="950" dirty="0"/>
          </a:p>
        </p:txBody>
      </p:sp>
      <p:sp>
        <p:nvSpPr>
          <p:cNvPr id="51" name="Plazo Anexo A"/>
          <p:cNvSpPr/>
          <p:nvPr/>
        </p:nvSpPr>
        <p:spPr>
          <a:xfrm>
            <a:off x="8951747" y="3127248"/>
            <a:ext cx="2691308" cy="1444752"/>
          </a:xfrm>
          <a:prstGeom prst="roundRect">
            <a:avLst>
              <a:gd name="adj" fmla="val 6329"/>
            </a:avLst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</p:sp>
      <p:sp>
        <p:nvSpPr>
          <p:cNvPr id="52" name="Plazo A número"/>
          <p:cNvSpPr txBox="1"/>
          <p:nvPr/>
        </p:nvSpPr>
        <p:spPr>
          <a:xfrm>
            <a:off x="9134627" y="3218688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4000" dirty="0"/>
          </a:p>
        </p:txBody>
      </p:sp>
      <p:sp>
        <p:nvSpPr>
          <p:cNvPr id="53" name="Plazo A título"/>
          <p:cNvSpPr txBox="1"/>
          <p:nvPr/>
        </p:nvSpPr>
        <p:spPr>
          <a:xfrm>
            <a:off x="9957587" y="3264408"/>
            <a:ext cx="15483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días hábiles para descargos</a:t>
            </a:r>
            <a:endParaRPr lang="en-US" sz="1200" dirty="0"/>
          </a:p>
        </p:txBody>
      </p:sp>
      <p:sp>
        <p:nvSpPr>
          <p:cNvPr id="54" name="Plazo A detalle"/>
          <p:cNvSpPr txBox="1"/>
          <p:nvPr/>
        </p:nvSpPr>
        <p:spPr>
          <a:xfrm>
            <a:off x="9134627" y="3931920"/>
            <a:ext cx="23712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bg1"/>
                </a:solidFill>
              </a:rPr>
              <a:t>Buzón DESCARGOS_OBSERVACIONES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chemeClr val="bg1"/>
                </a:solidFill>
              </a:rPr>
              <a:t>Vence aprox. 23/10/2026</a:t>
            </a:r>
            <a:endParaRPr lang="en-US" sz="1050" dirty="0"/>
          </a:p>
        </p:txBody>
      </p:sp>
      <p:sp>
        <p:nvSpPr>
          <p:cNvPr id="55" name="Etiqueta Anexo B"/>
          <p:cNvSpPr txBox="1"/>
          <p:nvPr/>
        </p:nvSpPr>
        <p:spPr>
          <a:xfrm>
            <a:off x="548640" y="46634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6"/>
                </a:solidFill>
              </a:rPr>
              <a:t>ANEXO B · SEGUIMIENTO A 2 DE LAS 9 OBSERVACIONES DE 2025 (NO SON NUEVAS)</a:t>
            </a:r>
            <a:endParaRPr lang="en-US" sz="1100" dirty="0"/>
          </a:p>
        </p:txBody>
      </p:sp>
      <p:sp>
        <p:nvSpPr>
          <p:cNvPr id="56" name="Anexo B-3"/>
          <p:cNvSpPr/>
          <p:nvPr/>
        </p:nvSpPr>
        <p:spPr>
          <a:xfrm>
            <a:off x="548640" y="4937760"/>
            <a:ext cx="4091826" cy="1325880"/>
          </a:xfrm>
          <a:prstGeom prst="roundRect">
            <a:avLst>
              <a:gd name="adj" fmla="val 6897"/>
            </a:avLst>
          </a:prstGeom>
          <a:solidFill>
            <a:schemeClr val="accent3">
              <a:alpha val="12000"/>
            </a:schemeClr>
          </a:solidFill>
          <a:ln w="12700">
            <a:solidFill>
              <a:schemeClr val="accent3">
                <a:alpha val="0"/>
              </a:schemeClr>
            </a:solidFill>
            <a:prstDash val="solid"/>
          </a:ln>
        </p:spPr>
      </p:sp>
      <p:sp>
        <p:nvSpPr>
          <p:cNvPr id="57" name="Origen B-3 fondo"/>
          <p:cNvSpPr/>
          <p:nvPr/>
        </p:nvSpPr>
        <p:spPr>
          <a:xfrm>
            <a:off x="731520" y="5065776"/>
            <a:ext cx="1325880" cy="27432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</p:sp>
      <p:sp>
        <p:nvSpPr>
          <p:cNvPr id="58" name="Origen B-3"/>
          <p:cNvSpPr txBox="1"/>
          <p:nvPr/>
        </p:nvSpPr>
        <p:spPr>
          <a:xfrm>
            <a:off x="731520" y="5065776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chemeClr val="bg1"/>
                </a:solidFill>
              </a:rPr>
              <a:t>OBS. 3 DE 2025</a:t>
            </a:r>
            <a:endParaRPr lang="en-US" sz="1050" dirty="0"/>
          </a:p>
        </p:txBody>
      </p:sp>
      <p:sp>
        <p:nvSpPr>
          <p:cNvPr id="59" name="Estado B-3 fondo"/>
          <p:cNvSpPr/>
          <p:nvPr/>
        </p:nvSpPr>
        <p:spPr>
          <a:xfrm>
            <a:off x="2194560" y="5065776"/>
            <a:ext cx="1325880" cy="274320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>
                <a:alpha val="0"/>
              </a:schemeClr>
            </a:solidFill>
            <a:prstDash val="solid"/>
          </a:ln>
        </p:spPr>
      </p:sp>
      <p:sp>
        <p:nvSpPr>
          <p:cNvPr id="60" name="Estado B-3"/>
          <p:cNvSpPr txBox="1"/>
          <p:nvPr/>
        </p:nvSpPr>
        <p:spPr>
          <a:xfrm>
            <a:off x="2194560" y="5065776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chemeClr val="bg1"/>
                </a:solidFill>
              </a:rPr>
              <a:t>NO SUPERADA</a:t>
            </a:r>
            <a:endParaRPr lang="en-US" sz="1050" dirty="0"/>
          </a:p>
        </p:txBody>
      </p:sp>
      <p:sp>
        <p:nvSpPr>
          <p:cNvPr id="61" name="Título B-3"/>
          <p:cNvSpPr txBox="1"/>
          <p:nvPr/>
        </p:nvSpPr>
        <p:spPr>
          <a:xfrm>
            <a:off x="731520" y="5394960"/>
            <a:ext cx="372606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Comités de Apoyo no integran personal ejecutivo</a:t>
            </a:r>
            <a:endParaRPr lang="en-US" sz="1250" dirty="0"/>
          </a:p>
        </p:txBody>
      </p:sp>
      <p:sp>
        <p:nvSpPr>
          <p:cNvPr id="62" name="Responsable B-3"/>
          <p:cNvSpPr txBox="1"/>
          <p:nvPr/>
        </p:nvSpPr>
        <p:spPr>
          <a:xfrm>
            <a:off x="731520" y="5650992"/>
            <a:ext cx="372606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Responsable: </a:t>
            </a:r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Gerencia General · Jefe de Administración de Riesgos</a:t>
            </a:r>
            <a:endParaRPr lang="en-US" sz="1000" dirty="0"/>
          </a:p>
        </p:txBody>
      </p:sp>
      <p:sp>
        <p:nvSpPr>
          <p:cNvPr id="63" name="Avance B-3"/>
          <p:cNvSpPr txBox="1"/>
          <p:nvPr/>
        </p:nvSpPr>
        <p:spPr>
          <a:xfrm>
            <a:off x="731520" y="5870448"/>
            <a:ext cx="37260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chemeClr val="accent5"/>
                </a:solidFill>
              </a:rPr>
              <a:t>Avance: </a:t>
            </a:r>
            <a:pPr indent="0" marL="0">
              <a:buNone/>
            </a:pPr>
            <a:r>
              <a:rPr lang="en-US" sz="950" dirty="0">
                <a:solidFill>
                  <a:schemeClr val="tx1"/>
                </a:solidFill>
              </a:rPr>
              <a:t>Plan de solución: acciones aún sin registrar</a:t>
            </a:r>
            <a:endParaRPr lang="en-US" sz="950" dirty="0"/>
          </a:p>
        </p:txBody>
      </p:sp>
      <p:sp>
        <p:nvSpPr>
          <p:cNvPr id="64" name="Anexo B-5"/>
          <p:cNvSpPr/>
          <p:nvPr/>
        </p:nvSpPr>
        <p:spPr>
          <a:xfrm>
            <a:off x="4750194" y="4937760"/>
            <a:ext cx="4091826" cy="1325880"/>
          </a:xfrm>
          <a:prstGeom prst="roundRect">
            <a:avLst>
              <a:gd name="adj" fmla="val 6897"/>
            </a:avLst>
          </a:prstGeom>
          <a:solidFill>
            <a:schemeClr val="accent4">
              <a:alpha val="12000"/>
            </a:schemeClr>
          </a:solidFill>
          <a:ln w="12700">
            <a:solidFill>
              <a:schemeClr val="accent4">
                <a:alpha val="0"/>
              </a:schemeClr>
            </a:solidFill>
            <a:prstDash val="solid"/>
          </a:ln>
        </p:spPr>
      </p:sp>
      <p:sp>
        <p:nvSpPr>
          <p:cNvPr id="65" name="Origen B-5 fondo"/>
          <p:cNvSpPr/>
          <p:nvPr/>
        </p:nvSpPr>
        <p:spPr>
          <a:xfrm>
            <a:off x="4933074" y="5065776"/>
            <a:ext cx="1325880" cy="27432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</p:sp>
      <p:sp>
        <p:nvSpPr>
          <p:cNvPr id="66" name="Origen B-5"/>
          <p:cNvSpPr txBox="1"/>
          <p:nvPr/>
        </p:nvSpPr>
        <p:spPr>
          <a:xfrm>
            <a:off x="4933074" y="5065776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chemeClr val="bg1"/>
                </a:solidFill>
              </a:rPr>
              <a:t>OBS. 5 DE 2025</a:t>
            </a:r>
            <a:endParaRPr lang="en-US" sz="1050" dirty="0"/>
          </a:p>
        </p:txBody>
      </p:sp>
      <p:sp>
        <p:nvSpPr>
          <p:cNvPr id="67" name="Estado B-5 fondo"/>
          <p:cNvSpPr/>
          <p:nvPr/>
        </p:nvSpPr>
        <p:spPr>
          <a:xfrm>
            <a:off x="6396114" y="5065776"/>
            <a:ext cx="2194560" cy="274320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 w="12700">
            <a:solidFill>
              <a:schemeClr val="accent4">
                <a:alpha val="0"/>
              </a:schemeClr>
            </a:solidFill>
            <a:prstDash val="solid"/>
          </a:ln>
        </p:spPr>
      </p:sp>
      <p:sp>
        <p:nvSpPr>
          <p:cNvPr id="68" name="Estado B-5"/>
          <p:cNvSpPr txBox="1"/>
          <p:nvPr/>
        </p:nvSpPr>
        <p:spPr>
          <a:xfrm>
            <a:off x="6396114" y="5065776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chemeClr val="bg1"/>
                </a:solidFill>
              </a:rPr>
              <a:t>PARCIALMENTE SUPERADA</a:t>
            </a:r>
            <a:endParaRPr lang="en-US" sz="1050" dirty="0"/>
          </a:p>
        </p:txBody>
      </p:sp>
      <p:sp>
        <p:nvSpPr>
          <p:cNvPr id="69" name="Título B-5"/>
          <p:cNvSpPr txBox="1"/>
          <p:nvPr/>
        </p:nvSpPr>
        <p:spPr>
          <a:xfrm>
            <a:off x="4933074" y="5394960"/>
            <a:ext cx="372606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Normativa interna desactualizada</a:t>
            </a:r>
            <a:endParaRPr lang="en-US" sz="1250" dirty="0"/>
          </a:p>
        </p:txBody>
      </p:sp>
      <p:sp>
        <p:nvSpPr>
          <p:cNvPr id="70" name="Responsable B-5"/>
          <p:cNvSpPr txBox="1"/>
          <p:nvPr/>
        </p:nvSpPr>
        <p:spPr>
          <a:xfrm>
            <a:off x="4933074" y="5650992"/>
            <a:ext cx="372606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Responsable: </a:t>
            </a:r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Talento Humano · Auditor Interno · Servicios Generales</a:t>
            </a:r>
            <a:endParaRPr lang="en-US" sz="1000" dirty="0"/>
          </a:p>
        </p:txBody>
      </p:sp>
      <p:sp>
        <p:nvSpPr>
          <p:cNvPr id="71" name="Avance B-5"/>
          <p:cNvSpPr txBox="1"/>
          <p:nvPr/>
        </p:nvSpPr>
        <p:spPr>
          <a:xfrm>
            <a:off x="4933074" y="5870448"/>
            <a:ext cx="37260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chemeClr val="accent5"/>
                </a:solidFill>
              </a:rPr>
              <a:t>Avance: </a:t>
            </a:r>
            <a:pPr indent="0" marL="0">
              <a:buNone/>
            </a:pPr>
            <a:r>
              <a:rPr lang="en-US" sz="950" dirty="0">
                <a:solidFill>
                  <a:schemeClr val="tx1"/>
                </a:solidFill>
              </a:rPr>
              <a:t>RIT y Manual de Compras en proceso · Reglamento del Comité de Auditoría aprobado (28/08/2026) y enviado al CA (05/10/2026)</a:t>
            </a:r>
            <a:endParaRPr lang="en-US" sz="950" dirty="0"/>
          </a:p>
        </p:txBody>
      </p:sp>
      <p:sp>
        <p:nvSpPr>
          <p:cNvPr id="72" name="Plazo Anexo B"/>
          <p:cNvSpPr/>
          <p:nvPr/>
        </p:nvSpPr>
        <p:spPr>
          <a:xfrm>
            <a:off x="8951747" y="4937760"/>
            <a:ext cx="2691308" cy="1325880"/>
          </a:xfrm>
          <a:prstGeom prst="roundRect">
            <a:avLst>
              <a:gd name="adj" fmla="val 6897"/>
            </a:avLst>
          </a:prstGeom>
          <a:solidFill>
            <a:schemeClr val="accent6"/>
          </a:solidFill>
          <a:ln w="12700">
            <a:solidFill>
              <a:schemeClr val="accent6">
                <a:alpha val="0"/>
              </a:schemeClr>
            </a:solidFill>
            <a:prstDash val="solid"/>
          </a:ln>
        </p:spPr>
      </p:sp>
      <p:sp>
        <p:nvSpPr>
          <p:cNvPr id="73" name="Plazo B número"/>
          <p:cNvSpPr txBox="1"/>
          <p:nvPr/>
        </p:nvSpPr>
        <p:spPr>
          <a:xfrm>
            <a:off x="9134627" y="5010912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</a:t>
            </a:r>
            <a:endParaRPr lang="en-US" sz="4000" dirty="0"/>
          </a:p>
        </p:txBody>
      </p:sp>
      <p:sp>
        <p:nvSpPr>
          <p:cNvPr id="74" name="Plazo B título"/>
          <p:cNvSpPr txBox="1"/>
          <p:nvPr/>
        </p:nvSpPr>
        <p:spPr>
          <a:xfrm>
            <a:off x="9957587" y="5056632"/>
            <a:ext cx="15483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días hábiles para plan de solución</a:t>
            </a:r>
            <a:endParaRPr lang="en-US" sz="1200" dirty="0"/>
          </a:p>
        </p:txBody>
      </p:sp>
      <p:sp>
        <p:nvSpPr>
          <p:cNvPr id="75" name="Plazo B detalle"/>
          <p:cNvSpPr txBox="1"/>
          <p:nvPr/>
        </p:nvSpPr>
        <p:spPr>
          <a:xfrm>
            <a:off x="9134627" y="5715000"/>
            <a:ext cx="24169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bg1"/>
                </a:solidFill>
              </a:rPr>
              <a:t>Buzón PLANES_SOLUC_VISITASUPERVIS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chemeClr val="bg1"/>
                </a:solidFill>
              </a:rPr>
              <a:t>Vence aprox. 30/10/2026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SF Gobierno Corporativo">
  <a:themeElements>
    <a:clrScheme name="SSF Gobierno Corporativo">
      <a:dk1>
        <a:srgbClr val="142033"/>
      </a:dk1>
      <a:lt1>
        <a:srgbClr val="FFFFFF"/>
      </a:lt1>
      <a:dk2>
        <a:srgbClr val="173A6E"/>
      </a:dk2>
      <a:lt2>
        <a:srgbClr val="EEF2F8"/>
      </a:lt2>
      <a:accent1>
        <a:srgbClr val="173A6E"/>
      </a:accent1>
      <a:accent2>
        <a:srgbClr val="1D7A4B"/>
      </a:accent2>
      <a:accent3>
        <a:srgbClr val="B42318"/>
      </a:accent3>
      <a:accent4>
        <a:srgbClr val="D99A1E"/>
      </a:accent4>
      <a:accent5>
        <a:srgbClr val="586579"/>
      </a:accent5>
      <a:accent6>
        <a:srgbClr val="A86410"/>
      </a:accent6>
      <a:hlink>
        <a:srgbClr val="173A6E"/>
      </a:hlink>
      <a:folHlink>
        <a:srgbClr val="586579"/>
      </a:folHlink>
    </a:clrScheme>
    <a:fontScheme name="SSF Gobierno Corporativo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Supervisiones de Gobierno Corporativo SSF a COMEDICA de R.L.</dc:title>
  <dc:subject>Resultados de visitas de supervisión 2025 y 2026</dc:subject>
  <dc:creator>COMEDICA de R.L.</dc:creator>
  <cp:lastModifiedBy>COMEDICA de R.L.</cp:lastModifiedBy>
  <cp:revision>1</cp:revision>
  <dcterms:created xsi:type="dcterms:W3CDTF">2026-10-13T20:34:31Z</dcterms:created>
  <dcterms:modified xsi:type="dcterms:W3CDTF">2026-10-13T20:34:31Z</dcterms:modified>
</cp:coreProperties>
</file>