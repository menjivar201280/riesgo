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D4BC93EA-717B-1DB4-CD05-3E25CC7E6455}">
          <p14:sldIdLst>
            <p14:sldId id="256"/>
          </p14:sldIdLst>
        </p14:section>
        <p14:section name="2 · Observaciones 2025" id="{61F120E5-CD73-3034-85EC-DEC39749F4C7}">
          <p14:sldIdLst>
            <p14:sldId id="257"/>
          </p14:sldIdLst>
        </p14:section>
        <p14:section name="3 · Observaciones 2026" id="{0DA0406F-48C1-0CF5-D2F7-A9A0666B2A08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224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visita del 19/05/2025 al 04/07/2025 (Acta de Cierre de Visita); Circular 17003 con 9 observaciones; descargos recibidos por la SSF el 18/11/2025 a las 5:19 p. m. (constancia de recepción). 2026: visita del 21/08/2026 al 22/09/2026 (Acta de Cierre de Visita); Circular 22741 con 7 observaciones nuevas (Anexo A) y seguimiento a 2 de las 9 observaciones de 2025 (Anexo B): la obs. 3 no superada y la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120317" y="502920"/>
            <a:ext cx="223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SV" sz="1800" dirty="0">
                <a:latin typeface="Arial" panose="020B0604020202020204" pitchFamily="34" charset="0"/>
                <a:cs typeface="Arial" panose="020B0604020202020204" pitchFamily="34" charset="0"/>
              </a:rPr>
              <a:t>VISITA DE SUPERVISIÓN  GOBIERNO CORPORATIVO</a:t>
            </a:r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170368" y="2139696"/>
            <a:ext cx="22378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 2026</a:t>
            </a:r>
            <a:endParaRPr lang="en-US" sz="3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JUL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9164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04/07/2025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298448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19072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37744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79806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chemeClr val="bg1"/>
                </a:solidFill>
              </a:rPr>
              <a:t>SEGUIMIENTO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1"/>
                </a:solidFill>
              </a:rPr>
              <a:t>05/11/2025  ·  DS-SABAO-BCS-BC-17003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60020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SEP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736592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22/09/2026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A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379976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09744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NUEVAS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SEGUIMIENTO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58968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888736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  <a:p>
            <a:pPr marL="0" indent="0" algn="ctr">
              <a:buNone/>
            </a:pPr>
            <a:r>
              <a:rPr lang="en-US" sz="750" b="1" kern="0" spc="100" dirty="0">
                <a:solidFill>
                  <a:schemeClr val="bg1"/>
                </a:solidFill>
              </a:rPr>
              <a:t>2025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2"/>
                </a:solidFill>
              </a:rPr>
              <a:t>09/10/2026  ·  DS-SABAO-BCS-BC-22741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64515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74" name="Imagen 73">
            <a:extLst>
              <a:ext uri="{FF2B5EF4-FFF2-40B4-BE49-F238E27FC236}">
                <a16:creationId xmlns:a16="http://schemas.microsoft.com/office/drawing/2014/main" id="{D6B9EEBF-57F7-DAB8-6804-9A27806F2E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192" r="16739" b="27189"/>
          <a:stretch>
            <a:fillRect/>
          </a:stretch>
        </p:blipFill>
        <p:spPr>
          <a:xfrm>
            <a:off x="76364" y="3172968"/>
            <a:ext cx="2264500" cy="1778273"/>
          </a:xfrm>
          <a:prstGeom prst="rect">
            <a:avLst/>
          </a:prstGeom>
        </p:spPr>
      </p:pic>
      <p:sp>
        <p:nvSpPr>
          <p:cNvPr id="76" name="Visita 2025">
            <a:extLst>
              <a:ext uri="{FF2B5EF4-FFF2-40B4-BE49-F238E27FC236}">
                <a16:creationId xmlns:a16="http://schemas.microsoft.com/office/drawing/2014/main" id="{52B2FF47-7925-9D96-0455-8BB08B9ED3E5}"/>
              </a:ext>
            </a:extLst>
          </p:cNvPr>
          <p:cNvSpPr txBox="1"/>
          <p:nvPr/>
        </p:nvSpPr>
        <p:spPr>
          <a:xfrm>
            <a:off x="4366260" y="376027"/>
            <a:ext cx="55513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8" name="Visita 2026">
            <a:extLst>
              <a:ext uri="{FF2B5EF4-FFF2-40B4-BE49-F238E27FC236}">
                <a16:creationId xmlns:a16="http://schemas.microsoft.com/office/drawing/2014/main" id="{264CBCEF-F979-4B2F-2707-AFE31FED173B}"/>
              </a:ext>
            </a:extLst>
          </p:cNvPr>
          <p:cNvSpPr txBox="1"/>
          <p:nvPr/>
        </p:nvSpPr>
        <p:spPr>
          <a:xfrm>
            <a:off x="4366260" y="3366917"/>
            <a:ext cx="53909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9" name="Resumen Anexo A 2026"/>
          <p:cNvSpPr txBox="1"/>
          <p:nvPr/>
        </p:nvSpPr>
        <p:spPr>
          <a:xfrm>
            <a:off x="7406640" y="4773168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D7A4B"/>
                </a:solidFill>
              </a:rPr>
              <a:t>Descargos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Plazo de 10 días hábiles  ·  vence aprox.  </a:t>
            </a:r>
            <a:r>
              <a:rPr sz="1050" b="1">
                <a:solidFill>
                  <a:srgbClr val="142033"/>
                </a:solidFill>
              </a:rPr>
              <a:t>23/10/2026</a:t>
            </a:r>
            <a:r>
              <a:rPr sz="1050" b="0">
                <a:solidFill>
                  <a:srgbClr val="586579"/>
                </a:solidFill>
              </a:rPr>
              <a:t/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0" name="Separador anexos 2026"/>
          <p:cNvCxnSpPr/>
          <p:nvPr/>
        </p:nvCxnSpPr>
        <p:spPr>
          <a:xfrm>
            <a:off x="7406640" y="5440680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sumen Anexo B 2026"/>
          <p:cNvSpPr txBox="1"/>
          <p:nvPr/>
        </p:nvSpPr>
        <p:spPr>
          <a:xfrm>
            <a:off x="7406640" y="5559552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 de 2025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Plan de solución en 15 días hábiles  ·  vence aprox.  </a:t>
            </a:r>
            <a:r>
              <a:rPr sz="1050" b="1">
                <a:solidFill>
                  <a:srgbClr val="142033"/>
                </a:solidFill>
              </a:rPr>
              <a:t>30/10/2026</a:t>
            </a:r>
          </a:p>
        </p:txBody>
      </p:sp>
      <p:sp>
        <p:nvSpPr>
          <p:cNvPr id="82" name="Resumen resultados 2025"/>
          <p:cNvSpPr txBox="1"/>
          <p:nvPr/>
        </p:nvSpPr>
        <p:spPr>
          <a:xfrm>
            <a:off x="7406640" y="1728216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73A6E"/>
                </a:solidFill>
              </a:rPr>
              <a:t>Descargos presentados a la SSF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Enviados  </a:t>
            </a:r>
            <a:r>
              <a:rPr sz="1050" b="1">
                <a:solidFill>
                  <a:srgbClr val="142033"/>
                </a:solidFill>
              </a:rPr>
              <a:t>18/11/2025</a:t>
            </a:r>
            <a:r>
              <a:rPr sz="1050" b="0">
                <a:solidFill>
                  <a:srgbClr val="586579"/>
                </a:solidFill>
              </a:rPr>
              <a:t>   ·   Constancia de recepción SSF</a:t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3" name="Separador resultados 2025"/>
          <p:cNvCxnSpPr/>
          <p:nvPr/>
        </p:nvCxnSpPr>
        <p:spPr>
          <a:xfrm>
            <a:off x="7406640" y="2395728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sumen seguimiento 2025"/>
          <p:cNvSpPr txBox="1"/>
          <p:nvPr/>
        </p:nvSpPr>
        <p:spPr>
          <a:xfrm>
            <a:off x="7406640" y="2514600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Revisadas por la SSF en la visita 2026 (Anexo 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9" name="Número 2025-1 círculo"/>
          <p:cNvSpPr/>
          <p:nvPr/>
        </p:nvSpPr>
        <p:spPr>
          <a:xfrm>
            <a:off x="713232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2025-1"/>
          <p:cNvSpPr txBox="1"/>
          <p:nvPr/>
        </p:nvSpPr>
        <p:spPr>
          <a:xfrm>
            <a:off x="713232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713232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La Entidad no cuenta con una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13232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creó la Política de Operaciones Vinculadas y Relacionadas en sesión del Consejo de Administración (Acta 2623, 12/01/2026)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4" name="Número 2025-2 círculo"/>
          <p:cNvSpPr/>
          <p:nvPr/>
        </p:nvSpPr>
        <p:spPr>
          <a:xfrm>
            <a:off x="4457090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Número 2025-2"/>
          <p:cNvSpPr txBox="1"/>
          <p:nvPr/>
        </p:nvSpPr>
        <p:spPr>
          <a:xfrm>
            <a:off x="4457090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457090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No se tuvo evidencia de la firma del acuerdo de confidencialidad de los nuevos miembros de Consejo de Administración, Junta de Vigilancia y Comités ni se programó las fechas de inducción en la primera sesión del Consejo de Administración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57090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Acta 2579 (28/04/2025): se derogó el convenio de confidencialidad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9" name="Número 2025-3 círculo"/>
          <p:cNvSpPr/>
          <p:nvPr/>
        </p:nvSpPr>
        <p:spPr>
          <a:xfrm>
            <a:off x="8200949" y="145389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Número 2025-3"/>
          <p:cNvSpPr txBox="1"/>
          <p:nvPr/>
        </p:nvSpPr>
        <p:spPr>
          <a:xfrm>
            <a:off x="8200949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200949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Comités de Junta Directiva y Comités de Apoyo no cumplen con las especificaciones establecidas en el literal h) del Art. 3 de las Normas NRP-17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00949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Número 2025-4 círculo"/>
          <p:cNvSpPr/>
          <p:nvPr/>
        </p:nvSpPr>
        <p:spPr>
          <a:xfrm>
            <a:off x="713232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5" name="Número 2025-4"/>
          <p:cNvSpPr txBox="1"/>
          <p:nvPr/>
        </p:nvSpPr>
        <p:spPr>
          <a:xfrm>
            <a:off x="713232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713232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Inconsistencia entre el pago de dietas establecido en el Reglamento de Compensaciones Económicas para Directivos y lo informado a la Asamblea General de Asociados en los puntos varios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13232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Fue aprobada la modificación al Reglamento de Compensaciones Económicas para Directivos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2025-5 círculo"/>
          <p:cNvSpPr/>
          <p:nvPr/>
        </p:nvSpPr>
        <p:spPr>
          <a:xfrm>
            <a:off x="4457090" y="319125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Número 2025-5"/>
          <p:cNvSpPr txBox="1"/>
          <p:nvPr/>
        </p:nvSpPr>
        <p:spPr>
          <a:xfrm>
            <a:off x="4457090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457090" y="37398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57090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3 de 9 documentos están desactualizados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2025-6 círculo"/>
          <p:cNvSpPr/>
          <p:nvPr/>
        </p:nvSpPr>
        <p:spPr>
          <a:xfrm>
            <a:off x="8200949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2025-6"/>
          <p:cNvSpPr txBox="1"/>
          <p:nvPr/>
        </p:nvSpPr>
        <p:spPr>
          <a:xfrm>
            <a:off x="8200949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200949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documentación soporte en los expedientes de créditos otorgados mediante Ferias de Créditos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00949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enviaron resoluciones y acuerdos del Consejo de cada feria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9" name="Número 2025-7 círculo"/>
          <p:cNvSpPr/>
          <p:nvPr/>
        </p:nvSpPr>
        <p:spPr>
          <a:xfrm>
            <a:off x="713232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2025-7"/>
          <p:cNvSpPr txBox="1"/>
          <p:nvPr/>
        </p:nvSpPr>
        <p:spPr>
          <a:xfrm>
            <a:off x="713232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713232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información obligatoria en la declaración jurada de personas relacionadas conforme a lo dispuesto en el Art. 9 de las Normas NRP-75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13232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pidió a la SSF el detalle de las personas señaladas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4" name="Número 2025-8 círculo"/>
          <p:cNvSpPr/>
          <p:nvPr/>
        </p:nvSpPr>
        <p:spPr>
          <a:xfrm>
            <a:off x="4457090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5" name="Número 2025-8"/>
          <p:cNvSpPr txBox="1"/>
          <p:nvPr/>
        </p:nvSpPr>
        <p:spPr>
          <a:xfrm>
            <a:off x="4457090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457090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aplicación de procedimientos internos establecidos en 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57090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Firmas de Mercadeo y Gerencia General; contrato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Número 2025-9 círculo"/>
          <p:cNvSpPr/>
          <p:nvPr/>
        </p:nvSpPr>
        <p:spPr>
          <a:xfrm>
            <a:off x="8200949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0" name="Número 2025-9"/>
          <p:cNvSpPr txBox="1"/>
          <p:nvPr/>
        </p:nvSpPr>
        <p:spPr>
          <a:xfrm>
            <a:off x="8200949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200949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Utilización del Fondo de Educación con fines distintos a los establecidos en el marco legal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00949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El Consejo de Administración suspendió el Comité Sociocultural (Acta 2576)</a:t>
            </a:r>
            <a:endParaRPr lang="en-US" sz="10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11" name="Responsable 2025-1"/>
          <p:cNvSpPr txBox="1"/>
          <p:nvPr/>
        </p:nvSpPr>
        <p:spPr>
          <a:xfrm>
            <a:off x="1170432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16" name="Responsable 2025-2"/>
          <p:cNvSpPr txBox="1"/>
          <p:nvPr/>
        </p:nvSpPr>
        <p:spPr>
          <a:xfrm>
            <a:off x="4914290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1" name="Responsable 2025-3"/>
          <p:cNvSpPr txBox="1"/>
          <p:nvPr/>
        </p:nvSpPr>
        <p:spPr>
          <a:xfrm>
            <a:off x="8658149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6" name="Responsable 2025-4"/>
          <p:cNvSpPr txBox="1"/>
          <p:nvPr/>
        </p:nvSpPr>
        <p:spPr>
          <a:xfrm>
            <a:off x="1170432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31" name="Responsable 2025-5"/>
          <p:cNvSpPr txBox="1"/>
          <p:nvPr/>
        </p:nvSpPr>
        <p:spPr>
          <a:xfrm>
            <a:off x="4914290" y="3108960"/>
            <a:ext cx="282945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250" dirty="0"/>
          </a:p>
        </p:txBody>
      </p:sp>
      <p:sp>
        <p:nvSpPr>
          <p:cNvPr id="36" name="Responsable 2025-6"/>
          <p:cNvSpPr txBox="1"/>
          <p:nvPr/>
        </p:nvSpPr>
        <p:spPr>
          <a:xfrm>
            <a:off x="8658149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de Negocios / Administración de Cartera</a:t>
            </a:r>
            <a:endParaRPr lang="en-US" sz="1250" dirty="0"/>
          </a:p>
        </p:txBody>
      </p:sp>
      <p:sp>
        <p:nvSpPr>
          <p:cNvPr id="41" name="Responsable 2025-7"/>
          <p:cNvSpPr txBox="1"/>
          <p:nvPr/>
        </p:nvSpPr>
        <p:spPr>
          <a:xfrm>
            <a:off x="1170432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46" name="Responsable 2025-8"/>
          <p:cNvSpPr txBox="1"/>
          <p:nvPr/>
        </p:nvSpPr>
        <p:spPr>
          <a:xfrm>
            <a:off x="4914290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Administrativa</a:t>
            </a:r>
            <a:endParaRPr lang="en-US" sz="1250" dirty="0"/>
          </a:p>
        </p:txBody>
      </p:sp>
      <p:sp>
        <p:nvSpPr>
          <p:cNvPr id="51" name="Responsable 2025-9"/>
          <p:cNvSpPr txBox="1"/>
          <p:nvPr/>
        </p:nvSpPr>
        <p:spPr>
          <a:xfrm>
            <a:off x="8658149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inducción sobre las partidas relevantes de los estados financieros a nuevos miembros de los órganos de gobierno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Certificación de Lectura del Código de Conducta de miembros de Junta de Vigilancia y Comités de Apoyo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formalización y aprobación de políticas por parte del Consejo de Administración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Información divulgada sobre los comités de apoyo no se encuentra actualizada ni alineada con el Código de Gobierno Corporativo vigente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Incongruencia en las disposiciones internas para la integración de los Comités de Apoyo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La regulación interna del Fondo de Educación incorpora conceptos cuya relación con la finalidad prevista en la Ley no se encuentra suficientemente delimitada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Limitada transparencia en la información presentada a la Asamblea General Ordinaria de Asociados respecto del uso del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Memoria de Labores 2026 detallada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Comités de Apoyo no cumplen con las especificaciones establecidas en el literal i) del Artículo 3 de las Normas NRP-17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760720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96188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7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1162</Words>
  <Application>Microsoft Office PowerPoint</Application>
  <PresentationFormat>Panorámica</PresentationFormat>
  <Paragraphs>178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SSF Gobierno Corporativo</vt:lpstr>
      <vt:lpstr>2025 – 2026</vt:lpstr>
      <vt:lpstr>Observaciones 2025</vt:lpstr>
      <vt:lpstr>Observaciones 2026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Hector Jose Menjivar Somoza</cp:lastModifiedBy>
  <cp:revision>2</cp:revision>
  <dcterms:created xsi:type="dcterms:W3CDTF">2026-10-13T20:49:53Z</dcterms:created>
  <dcterms:modified xsi:type="dcterms:W3CDTF">2026-10-13T21:16:38Z</dcterms:modified>
</cp:coreProperties>
</file>