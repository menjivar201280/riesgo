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notas SSF" id="{0af96d93-5c4c-7280-46fd-ff1a3e29c353}">
          <p14:sldIdLst>
            <p14:sldId id="256"/>
          </p14:sldIdLst>
        </p14:section>
        <p14:section name="2 · Observaciones 2025" id="{91fb50bf-dd51-b62a-6699-ab5b62a1e3bd}">
          <p14:sldIdLst>
            <p14:sldId id="257"/>
          </p14:sldIdLst>
        </p14:section>
        <p14:section name="3 · Observaciones 2026" id="{35a45ce6-d975-1685-af17-f9ab2f8b42fe}">
          <p14:sldIdLst>
            <p14:sldId id="258"/>
          </p14:sldIdLst>
        </p14:section>
        <p14:section name="4 · Línea de tiempo y evolución" id="{dcff3e0a-b1ea-1978-c5f7-a6ced01321f6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comunicados oficiales. Cada año la SSF primero notifica el nombramiento de la visita ampliada y luego remite el informe de resultados preliminares. 2025: 9 observaciones. 2026: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Nota 17003. En rojo y ámbar, las 2 observaciones a las que la SSF dio seguimiento en la visita 2026 (Anexo B): obs. 3 comités sin ejecutivos (no superada) y obs. 5 normativa desactualizada (parcialmente superada).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nuevas; plazo de 10 días hábiles desde el día hábil siguiente a la recepción para remitir pruebas de descargo, previo conocimiento del Consejo de Administración. Anexo B: no son observaciones nuevas, es el seguimiento a las obs. 3 y 5 de 2025, que siguen abiertas; plan de solución en 15 días hábiles con acciones, responsable, plazo por acción y certificación del punto de acta del Consejo. Fechas aproximadas sin asuetos; validar con el Sistema de Control de Envíos.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2025: nombramiento (09/04/2025), inicio de visita (19/05/2025) e informe preliminar con 9 observaciones (05/11/2025); hallazgos críticos: Política de Operaciones Vinculadas, normativa desactualizada y Fondo de Educación. Bloque 2026: nombramiento (31/07/2026), inicio (21/08/2026) e informe preliminar (09/10/2026) con 7 observaciones nuevas (Anexo A) y seguimiento a 2 observaciones de 2025 (Anexo B). Plazos: 10 días hábiles para descargos y 15 días hábiles para plan de solución. Seguimiento: obs. 3 de 2025 no superada; obs. 5 de 2025 parcialmente superada. El Fondo de Educación vuelve a aparecer como tema, pero con observaciones nuevas, no como seguimiento.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de notificación SSF 2025 – 2026</a:t>
            </a:r>
            <a:endParaRPr lang="en-US" sz="3000" dirty="0"/>
          </a:p>
        </p:txBody>
      </p:sp>
      <p:sp>
        <p:nvSpPr>
          <p:cNvPr id="4" name="KPI valor 1"/>
          <p:cNvSpPr txBox="1"/>
          <p:nvPr/>
        </p:nvSpPr>
        <p:spPr>
          <a:xfrm>
            <a:off x="5486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KPI texto 1"/>
          <p:cNvSpPr txBox="1"/>
          <p:nvPr/>
        </p:nvSpPr>
        <p:spPr>
          <a:xfrm>
            <a:off x="5486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notas oficiales recibidas</a:t>
            </a:r>
            <a:endParaRPr lang="en-US" sz="1200" dirty="0"/>
          </a:p>
        </p:txBody>
      </p:sp>
      <p:sp>
        <p:nvSpPr>
          <p:cNvPr id="6" name="KPI valor 2"/>
          <p:cNvSpPr txBox="1"/>
          <p:nvPr/>
        </p:nvSpPr>
        <p:spPr>
          <a:xfrm>
            <a:off x="2148840" y="31546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7" name="KPI texto 2"/>
          <p:cNvSpPr txBox="1"/>
          <p:nvPr/>
        </p:nvSpPr>
        <p:spPr>
          <a:xfrm>
            <a:off x="2148840" y="3794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en 2025</a:t>
            </a:r>
            <a:endParaRPr lang="en-US" sz="1200" dirty="0"/>
          </a:p>
        </p:txBody>
      </p:sp>
      <p:sp>
        <p:nvSpPr>
          <p:cNvPr id="8" name="KPI valor 3"/>
          <p:cNvSpPr txBox="1"/>
          <p:nvPr/>
        </p:nvSpPr>
        <p:spPr>
          <a:xfrm>
            <a:off x="5486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9" name="KPI texto 3"/>
          <p:cNvSpPr txBox="1"/>
          <p:nvPr/>
        </p:nvSpPr>
        <p:spPr>
          <a:xfrm>
            <a:off x="5486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observaciones nuevas en 2026</a:t>
            </a:r>
            <a:endParaRPr lang="en-US" sz="1200" dirty="0"/>
          </a:p>
        </p:txBody>
      </p:sp>
      <p:sp>
        <p:nvSpPr>
          <p:cNvPr id="10" name="KPI valor 4"/>
          <p:cNvSpPr txBox="1"/>
          <p:nvPr/>
        </p:nvSpPr>
        <p:spPr>
          <a:xfrm>
            <a:off x="214884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KPI texto 4"/>
          <p:cNvSpPr txBox="1"/>
          <p:nvPr/>
        </p:nvSpPr>
        <p:spPr>
          <a:xfrm>
            <a:off x="214884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de 2025 en seguimiento: 1 no superada, 1 parcial</a:t>
            </a:r>
            <a:endParaRPr lang="en-US" sz="1200" dirty="0"/>
          </a:p>
        </p:txBody>
      </p:sp>
      <p:sp>
        <p:nvSpPr>
          <p:cNvPr id="12" name="Año 2025"/>
          <p:cNvSpPr txBox="1"/>
          <p:nvPr/>
        </p:nvSpPr>
        <p:spPr>
          <a:xfrm>
            <a:off x="4572000" y="5029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13" name="Visita 2025"/>
          <p:cNvSpPr txBox="1"/>
          <p:nvPr/>
        </p:nvSpPr>
        <p:spPr>
          <a:xfrm>
            <a:off x="5897880" y="5029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corte 30/04/2025</a:t>
            </a:r>
            <a:endParaRPr lang="en-US" sz="1400" dirty="0"/>
          </a:p>
        </p:txBody>
      </p:sp>
      <p:sp>
        <p:nvSpPr>
          <p:cNvPr id="14" name="Tarjeta 2025-1"/>
          <p:cNvSpPr/>
          <p:nvPr/>
        </p:nvSpPr>
        <p:spPr>
          <a:xfrm>
            <a:off x="4572000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Paso 2025-1 círculo"/>
          <p:cNvSpPr/>
          <p:nvPr/>
        </p:nvSpPr>
        <p:spPr>
          <a:xfrm>
            <a:off x="4800600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6" name="Paso 2025-1"/>
          <p:cNvSpPr txBox="1"/>
          <p:nvPr/>
        </p:nvSpPr>
        <p:spPr>
          <a:xfrm>
            <a:off x="4800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Fecha 2025-1"/>
          <p:cNvSpPr txBox="1"/>
          <p:nvPr/>
        </p:nvSpPr>
        <p:spPr>
          <a:xfrm>
            <a:off x="5303520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09/04/2025</a:t>
            </a:r>
            <a:endParaRPr lang="en-US" sz="1300" dirty="0"/>
          </a:p>
        </p:txBody>
      </p:sp>
      <p:sp>
        <p:nvSpPr>
          <p:cNvPr id="18" name="Tipo 2025-1"/>
          <p:cNvSpPr txBox="1"/>
          <p:nvPr/>
        </p:nvSpPr>
        <p:spPr>
          <a:xfrm>
            <a:off x="4800600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19" name="Nota 2025-1"/>
          <p:cNvSpPr txBox="1"/>
          <p:nvPr/>
        </p:nvSpPr>
        <p:spPr>
          <a:xfrm>
            <a:off x="4800600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DS-SABAO-BCS-BC-9337</a:t>
            </a:r>
            <a:endParaRPr lang="en-US" sz="1200" dirty="0"/>
          </a:p>
        </p:txBody>
      </p:sp>
      <p:sp>
        <p:nvSpPr>
          <p:cNvPr id="20" name="Detalle 2025-1 fondo"/>
          <p:cNvSpPr/>
          <p:nvPr/>
        </p:nvSpPr>
        <p:spPr>
          <a:xfrm>
            <a:off x="4800600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Detalle 2025-1"/>
          <p:cNvSpPr txBox="1"/>
          <p:nvPr/>
        </p:nvSpPr>
        <p:spPr>
          <a:xfrm>
            <a:off x="4800600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30/04/2025 · inicio 19/05/2025</a:t>
            </a:r>
            <a:endParaRPr lang="en-US" sz="1100" dirty="0"/>
          </a:p>
        </p:txBody>
      </p:sp>
      <p:sp>
        <p:nvSpPr>
          <p:cNvPr id="22" name="Tarjeta 2025-2"/>
          <p:cNvSpPr/>
          <p:nvPr/>
        </p:nvSpPr>
        <p:spPr>
          <a:xfrm>
            <a:off x="8381848" y="118872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3" name="Paso 2025-2 círculo"/>
          <p:cNvSpPr/>
          <p:nvPr/>
        </p:nvSpPr>
        <p:spPr>
          <a:xfrm>
            <a:off x="8610448" y="1417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4" name="Paso 2025-2"/>
          <p:cNvSpPr txBox="1"/>
          <p:nvPr/>
        </p:nvSpPr>
        <p:spPr>
          <a:xfrm>
            <a:off x="86104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Fecha 2025-2"/>
          <p:cNvSpPr txBox="1"/>
          <p:nvPr/>
        </p:nvSpPr>
        <p:spPr>
          <a:xfrm>
            <a:off x="9113368" y="141732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05/11/2025</a:t>
            </a:r>
            <a:endParaRPr lang="en-US" sz="1300" dirty="0"/>
          </a:p>
        </p:txBody>
      </p:sp>
      <p:sp>
        <p:nvSpPr>
          <p:cNvPr id="26" name="Tipo 2025-2"/>
          <p:cNvSpPr txBox="1"/>
          <p:nvPr/>
        </p:nvSpPr>
        <p:spPr>
          <a:xfrm>
            <a:off x="8610448" y="192024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27" name="Nota 2025-2"/>
          <p:cNvSpPr txBox="1"/>
          <p:nvPr/>
        </p:nvSpPr>
        <p:spPr>
          <a:xfrm>
            <a:off x="8610448" y="225856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DS-SABAO-BCS-BC-17003</a:t>
            </a:r>
            <a:endParaRPr lang="en-US" sz="1200" dirty="0"/>
          </a:p>
        </p:txBody>
      </p:sp>
      <p:sp>
        <p:nvSpPr>
          <p:cNvPr id="28" name="Detalle 2025-2 fondo"/>
          <p:cNvSpPr/>
          <p:nvPr/>
        </p:nvSpPr>
        <p:spPr>
          <a:xfrm>
            <a:off x="8610448" y="265176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Detalle 2025-2"/>
          <p:cNvSpPr txBox="1"/>
          <p:nvPr/>
        </p:nvSpPr>
        <p:spPr>
          <a:xfrm>
            <a:off x="8610448" y="265176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9 observaciones</a:t>
            </a:r>
            <a:endParaRPr lang="en-US" sz="1100" dirty="0"/>
          </a:p>
        </p:txBody>
      </p:sp>
      <p:sp>
        <p:nvSpPr>
          <p:cNvPr id="30" name="Flecha 2025"/>
          <p:cNvSpPr/>
          <p:nvPr/>
        </p:nvSpPr>
        <p:spPr>
          <a:xfrm>
            <a:off x="7961224" y="2025396"/>
            <a:ext cx="292608" cy="292608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Año 2026"/>
          <p:cNvSpPr txBox="1"/>
          <p:nvPr/>
        </p:nvSpPr>
        <p:spPr>
          <a:xfrm>
            <a:off x="4572000" y="34290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32" name="Visita 2026"/>
          <p:cNvSpPr txBox="1"/>
          <p:nvPr/>
        </p:nvSpPr>
        <p:spPr>
          <a:xfrm>
            <a:off x="589788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corte 31/07/2026</a:t>
            </a:r>
            <a:endParaRPr lang="en-US" sz="1400" dirty="0"/>
          </a:p>
        </p:txBody>
      </p:sp>
      <p:sp>
        <p:nvSpPr>
          <p:cNvPr id="33" name="Tarjeta 2026-1"/>
          <p:cNvSpPr/>
          <p:nvPr/>
        </p:nvSpPr>
        <p:spPr>
          <a:xfrm>
            <a:off x="4572000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4" name="Paso 2026-1 círculo"/>
          <p:cNvSpPr/>
          <p:nvPr/>
        </p:nvSpPr>
        <p:spPr>
          <a:xfrm>
            <a:off x="4800600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Paso 2026-1"/>
          <p:cNvSpPr txBox="1"/>
          <p:nvPr/>
        </p:nvSpPr>
        <p:spPr>
          <a:xfrm>
            <a:off x="480060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Fecha 2026-1"/>
          <p:cNvSpPr txBox="1"/>
          <p:nvPr/>
        </p:nvSpPr>
        <p:spPr>
          <a:xfrm>
            <a:off x="5303520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31/07/2026</a:t>
            </a:r>
            <a:endParaRPr lang="en-US" sz="1300" dirty="0"/>
          </a:p>
        </p:txBody>
      </p:sp>
      <p:sp>
        <p:nvSpPr>
          <p:cNvPr id="37" name="Tipo 2026-1"/>
          <p:cNvSpPr txBox="1"/>
          <p:nvPr/>
        </p:nvSpPr>
        <p:spPr>
          <a:xfrm>
            <a:off x="4800600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Nombramiento de visita ampliada</a:t>
            </a:r>
            <a:endParaRPr lang="en-US" sz="1500" dirty="0"/>
          </a:p>
        </p:txBody>
      </p:sp>
      <p:sp>
        <p:nvSpPr>
          <p:cNvPr id="38" name="Nota 2026-1"/>
          <p:cNvSpPr txBox="1"/>
          <p:nvPr/>
        </p:nvSpPr>
        <p:spPr>
          <a:xfrm>
            <a:off x="4800600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SABAO-BCS-BC-18432</a:t>
            </a:r>
            <a:endParaRPr lang="en-US" sz="1200" dirty="0"/>
          </a:p>
        </p:txBody>
      </p:sp>
      <p:sp>
        <p:nvSpPr>
          <p:cNvPr id="39" name="Detalle 2026-1 fondo"/>
          <p:cNvSpPr/>
          <p:nvPr/>
        </p:nvSpPr>
        <p:spPr>
          <a:xfrm>
            <a:off x="4800600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0" name="Detalle 2026-1"/>
          <p:cNvSpPr txBox="1"/>
          <p:nvPr/>
        </p:nvSpPr>
        <p:spPr>
          <a:xfrm>
            <a:off x="4800600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Corte 31/07/2026 · inicio 21/08/2026</a:t>
            </a:r>
            <a:endParaRPr lang="en-US" sz="1100" dirty="0"/>
          </a:p>
        </p:txBody>
      </p:sp>
      <p:sp>
        <p:nvSpPr>
          <p:cNvPr id="41" name="Tarjeta 2026-2"/>
          <p:cNvSpPr/>
          <p:nvPr/>
        </p:nvSpPr>
        <p:spPr>
          <a:xfrm>
            <a:off x="8381848" y="4114800"/>
            <a:ext cx="3261208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Paso 2026-2 círculo"/>
          <p:cNvSpPr/>
          <p:nvPr/>
        </p:nvSpPr>
        <p:spPr>
          <a:xfrm>
            <a:off x="8610448" y="4343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Paso 2026-2"/>
          <p:cNvSpPr txBox="1"/>
          <p:nvPr/>
        </p:nvSpPr>
        <p:spPr>
          <a:xfrm>
            <a:off x="8610448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Fecha 2026-2"/>
          <p:cNvSpPr txBox="1"/>
          <p:nvPr/>
        </p:nvSpPr>
        <p:spPr>
          <a:xfrm>
            <a:off x="9113368" y="4343400"/>
            <a:ext cx="2346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09/10/2026</a:t>
            </a:r>
            <a:endParaRPr lang="en-US" sz="1300" dirty="0"/>
          </a:p>
        </p:txBody>
      </p:sp>
      <p:sp>
        <p:nvSpPr>
          <p:cNvPr id="45" name="Tipo 2026-2"/>
          <p:cNvSpPr txBox="1"/>
          <p:nvPr/>
        </p:nvSpPr>
        <p:spPr>
          <a:xfrm>
            <a:off x="8610448" y="4846320"/>
            <a:ext cx="2804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Informe de resultados preliminares</a:t>
            </a:r>
            <a:endParaRPr lang="en-US" sz="1500" dirty="0"/>
          </a:p>
        </p:txBody>
      </p:sp>
      <p:sp>
        <p:nvSpPr>
          <p:cNvPr id="46" name="Nota 2026-2"/>
          <p:cNvSpPr txBox="1"/>
          <p:nvPr/>
        </p:nvSpPr>
        <p:spPr>
          <a:xfrm>
            <a:off x="8610448" y="5184648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No. DS-SABAO-BCS-BC-22741</a:t>
            </a:r>
            <a:endParaRPr lang="en-US" sz="1200" dirty="0"/>
          </a:p>
        </p:txBody>
      </p:sp>
      <p:sp>
        <p:nvSpPr>
          <p:cNvPr id="47" name="Detalle 2026-2 fondo"/>
          <p:cNvSpPr/>
          <p:nvPr/>
        </p:nvSpPr>
        <p:spPr>
          <a:xfrm>
            <a:off x="8610448" y="5577840"/>
            <a:ext cx="2804008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8" name="Detalle 2026-2"/>
          <p:cNvSpPr txBox="1"/>
          <p:nvPr/>
        </p:nvSpPr>
        <p:spPr>
          <a:xfrm>
            <a:off x="8610448" y="5577840"/>
            <a:ext cx="2804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7 nuevas + seguimiento a 2 de 2025</a:t>
            </a:r>
            <a:endParaRPr lang="en-US" sz="1100" dirty="0"/>
          </a:p>
        </p:txBody>
      </p:sp>
      <p:sp>
        <p:nvSpPr>
          <p:cNvPr id="49" name="Flecha 2026"/>
          <p:cNvSpPr/>
          <p:nvPr/>
        </p:nvSpPr>
        <p:spPr>
          <a:xfrm>
            <a:off x="7961224" y="4951476"/>
            <a:ext cx="292608" cy="29260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Gerencia General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Requerida por Art. 12 NRP-17</a:t>
            </a:r>
            <a:endParaRPr lang="en-US" sz="105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Secretaría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del Manual de Inducción</a:t>
            </a:r>
            <a:endParaRPr lang="en-US" sz="105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9397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RRHH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3 literal h) NRP-17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3"/>
                </a:solidFill>
              </a:rPr>
              <a:t>↳ Seguimiento 2026: NO SUPERADA</a:t>
            </a:r>
            <a:endParaRPr lang="en-US" sz="105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Consejo de Administración / Asamblea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Actualizar Reglamento y autorización de Asamblea</a:t>
            </a:r>
            <a:endParaRPr lang="en-US" sz="105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Departamento de Procesos / Líderes de Área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9 documentos vencidos (RIT, Auditoría, Riesgos, etc.)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6"/>
                </a:solidFill>
              </a:rPr>
              <a:t>↳ Seguimiento 2026: PARCIALMENTE SUPERADA</a:t>
            </a:r>
            <a:endParaRPr lang="en-US" sz="105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3133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Gerencia de Créditos / Riesgos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Sin acuerdos de CA ni soporte de tasas</a:t>
            </a:r>
            <a:endParaRPr lang="en-US" sz="105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Directivos y Equipo Gerencial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Incumplimiento Art. 9 NRP-75</a:t>
            </a:r>
            <a:endParaRPr lang="en-US" sz="105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Servicios Generales / Área Contratante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Cotizaciones sin sellar y falta de cláusula penal</a:t>
            </a:r>
            <a:endParaRPr lang="en-US" sz="105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68696"/>
            <a:ext cx="324093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Comité de Educación / Gerencia Financiera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accent5"/>
                </a:solidFill>
              </a:rPr>
              <a:t>Criterio SSF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Fuera del Art. 59 Ley de Cooperativas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NOTA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98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713232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713232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43000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Gerencia Financiera / RRHH</a:t>
            </a:r>
            <a:endParaRPr lang="en-US" sz="1050" dirty="0"/>
          </a:p>
        </p:txBody>
      </p:sp>
      <p:sp>
        <p:nvSpPr>
          <p:cNvPr id="13" name="Título A-1"/>
          <p:cNvSpPr txBox="1"/>
          <p:nvPr/>
        </p:nvSpPr>
        <p:spPr>
          <a:xfrm>
            <a:off x="713232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Criterio A-1"/>
          <p:cNvSpPr txBox="1"/>
          <p:nvPr/>
        </p:nvSpPr>
        <p:spPr>
          <a:xfrm>
            <a:off x="713232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11 NRP-17</a:t>
            </a:r>
            <a:endParaRPr lang="en-US" sz="1050" dirty="0"/>
          </a:p>
        </p:txBody>
      </p:sp>
      <p:sp>
        <p:nvSpPr>
          <p:cNvPr id="15" name="Anexo A-2"/>
          <p:cNvSpPr/>
          <p:nvPr/>
        </p:nvSpPr>
        <p:spPr>
          <a:xfrm>
            <a:off x="3356534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521126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52112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50894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Junta de Vigilancia / Comités de Apoyo</a:t>
            </a:r>
            <a:endParaRPr lang="en-US" sz="1050" dirty="0"/>
          </a:p>
        </p:txBody>
      </p:sp>
      <p:sp>
        <p:nvSpPr>
          <p:cNvPr id="19" name="Título A-2"/>
          <p:cNvSpPr txBox="1"/>
          <p:nvPr/>
        </p:nvSpPr>
        <p:spPr>
          <a:xfrm>
            <a:off x="3521126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Criterio A-2"/>
          <p:cNvSpPr txBox="1"/>
          <p:nvPr/>
        </p:nvSpPr>
        <p:spPr>
          <a:xfrm>
            <a:off x="3521126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Código de Conducta</a:t>
            </a:r>
            <a:endParaRPr lang="en-US" sz="1050" dirty="0"/>
          </a:p>
        </p:txBody>
      </p:sp>
      <p:sp>
        <p:nvSpPr>
          <p:cNvPr id="21" name="Anexo A-3"/>
          <p:cNvSpPr/>
          <p:nvPr/>
        </p:nvSpPr>
        <p:spPr>
          <a:xfrm>
            <a:off x="6164428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329020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329020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58788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</a:t>
            </a:r>
            <a:endParaRPr lang="en-US" sz="1050" dirty="0"/>
          </a:p>
        </p:txBody>
      </p:sp>
      <p:sp>
        <p:nvSpPr>
          <p:cNvPr id="25" name="Título A-3"/>
          <p:cNvSpPr txBox="1"/>
          <p:nvPr/>
        </p:nvSpPr>
        <p:spPr>
          <a:xfrm>
            <a:off x="6329020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 por el Consejo</a:t>
            </a:r>
            <a:endParaRPr lang="en-US" sz="1150" dirty="0"/>
          </a:p>
        </p:txBody>
      </p:sp>
      <p:sp>
        <p:nvSpPr>
          <p:cNvPr id="26" name="Criterio A-3"/>
          <p:cNvSpPr txBox="1"/>
          <p:nvPr/>
        </p:nvSpPr>
        <p:spPr>
          <a:xfrm>
            <a:off x="6329020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Políticas de Retribución y Control Interno</a:t>
            </a:r>
            <a:endParaRPr lang="en-US" sz="1050" dirty="0"/>
          </a:p>
        </p:txBody>
      </p:sp>
      <p:sp>
        <p:nvSpPr>
          <p:cNvPr id="27" name="Anexo A-4"/>
          <p:cNvSpPr/>
          <p:nvPr/>
        </p:nvSpPr>
        <p:spPr>
          <a:xfrm>
            <a:off x="8972321" y="16002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136913" y="17465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136913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66681" y="17190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Oficialía de Cumplimiento / Comunicaciones</a:t>
            </a:r>
            <a:endParaRPr lang="en-US" sz="1050" dirty="0"/>
          </a:p>
        </p:txBody>
      </p:sp>
      <p:sp>
        <p:nvSpPr>
          <p:cNvPr id="31" name="Título A-4"/>
          <p:cNvSpPr txBox="1"/>
          <p:nvPr/>
        </p:nvSpPr>
        <p:spPr>
          <a:xfrm>
            <a:off x="9136913" y="21488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sitio web institucional</a:t>
            </a:r>
            <a:endParaRPr lang="en-US" sz="1150" dirty="0"/>
          </a:p>
        </p:txBody>
      </p:sp>
      <p:sp>
        <p:nvSpPr>
          <p:cNvPr id="32" name="Criterio A-4"/>
          <p:cNvSpPr txBox="1"/>
          <p:nvPr/>
        </p:nvSpPr>
        <p:spPr>
          <a:xfrm>
            <a:off x="9136913" y="27614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Arts. 27 y 28 NRP-17</a:t>
            </a:r>
            <a:endParaRPr lang="en-US" sz="1050" dirty="0"/>
          </a:p>
        </p:txBody>
      </p:sp>
      <p:sp>
        <p:nvSpPr>
          <p:cNvPr id="33" name="Anexo A-5"/>
          <p:cNvSpPr/>
          <p:nvPr/>
        </p:nvSpPr>
        <p:spPr>
          <a:xfrm>
            <a:off x="548640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713232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7132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43000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Asesoría Legal / Consejo de Administración</a:t>
            </a:r>
            <a:endParaRPr lang="en-US" sz="1050" dirty="0"/>
          </a:p>
        </p:txBody>
      </p:sp>
      <p:sp>
        <p:nvSpPr>
          <p:cNvPr id="37" name="Título A-5"/>
          <p:cNvSpPr txBox="1"/>
          <p:nvPr/>
        </p:nvSpPr>
        <p:spPr>
          <a:xfrm>
            <a:off x="713232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Criterio A-5"/>
          <p:cNvSpPr txBox="1"/>
          <p:nvPr/>
        </p:nvSpPr>
        <p:spPr>
          <a:xfrm>
            <a:off x="713232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Restricción de cargos remunerados</a:t>
            </a:r>
            <a:endParaRPr lang="en-US" sz="1050" dirty="0"/>
          </a:p>
        </p:txBody>
      </p:sp>
      <p:sp>
        <p:nvSpPr>
          <p:cNvPr id="39" name="Anexo A-6"/>
          <p:cNvSpPr/>
          <p:nvPr/>
        </p:nvSpPr>
        <p:spPr>
          <a:xfrm>
            <a:off x="3356534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521126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521126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50894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Comité de Educación / Gerencia Financiera</a:t>
            </a:r>
            <a:endParaRPr lang="en-US" sz="1050" dirty="0"/>
          </a:p>
        </p:txBody>
      </p:sp>
      <p:sp>
        <p:nvSpPr>
          <p:cNvPr id="43" name="Título A-6"/>
          <p:cNvSpPr txBox="1"/>
          <p:nvPr/>
        </p:nvSpPr>
        <p:spPr>
          <a:xfrm>
            <a:off x="3521126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incluye conceptos no delimitados por Ley</a:t>
            </a:r>
            <a:endParaRPr lang="en-US" sz="1150" dirty="0"/>
          </a:p>
        </p:txBody>
      </p:sp>
      <p:sp>
        <p:nvSpPr>
          <p:cNvPr id="44" name="Criterio A-6"/>
          <p:cNvSpPr txBox="1"/>
          <p:nvPr/>
        </p:nvSpPr>
        <p:spPr>
          <a:xfrm>
            <a:off x="3521126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Art. 5 del Reglamento</a:t>
            </a:r>
            <a:endParaRPr lang="en-US" sz="1050" dirty="0"/>
          </a:p>
        </p:txBody>
      </p:sp>
      <p:sp>
        <p:nvSpPr>
          <p:cNvPr id="45" name="Anexo A-7"/>
          <p:cNvSpPr/>
          <p:nvPr/>
        </p:nvSpPr>
        <p:spPr>
          <a:xfrm>
            <a:off x="6164428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329020" y="334670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32902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58788" y="3319272"/>
            <a:ext cx="19392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Consejo de Administración / Comité de Educación</a:t>
            </a:r>
            <a:endParaRPr lang="en-US" sz="1050" dirty="0"/>
          </a:p>
        </p:txBody>
      </p:sp>
      <p:sp>
        <p:nvSpPr>
          <p:cNvPr id="49" name="Título A-7"/>
          <p:cNvSpPr txBox="1"/>
          <p:nvPr/>
        </p:nvSpPr>
        <p:spPr>
          <a:xfrm>
            <a:off x="6329020" y="3749040"/>
            <a:ext cx="234155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Criterio A-7"/>
          <p:cNvSpPr txBox="1"/>
          <p:nvPr/>
        </p:nvSpPr>
        <p:spPr>
          <a:xfrm>
            <a:off x="6329020" y="4361688"/>
            <a:ext cx="2341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$100,774.28 no detallados</a:t>
            </a:r>
            <a:endParaRPr lang="en-US" sz="1050" dirty="0"/>
          </a:p>
        </p:txBody>
      </p:sp>
      <p:sp>
        <p:nvSpPr>
          <p:cNvPr id="51" name="Plazo Anexo A"/>
          <p:cNvSpPr/>
          <p:nvPr/>
        </p:nvSpPr>
        <p:spPr>
          <a:xfrm>
            <a:off x="8972321" y="3200400"/>
            <a:ext cx="2670734" cy="146304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55201" y="33101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78161" y="33558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55201" y="4005072"/>
            <a:ext cx="235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828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8"/>
          <p:cNvSpPr/>
          <p:nvPr/>
        </p:nvSpPr>
        <p:spPr>
          <a:xfrm>
            <a:off x="548640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8"/>
          <p:cNvSpPr txBox="1"/>
          <p:nvPr/>
        </p:nvSpPr>
        <p:spPr>
          <a:xfrm>
            <a:off x="731520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8"/>
          <p:cNvSpPr txBox="1"/>
          <p:nvPr/>
        </p:nvSpPr>
        <p:spPr>
          <a:xfrm>
            <a:off x="731520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Responsable: Consejo de Administración</a:t>
            </a:r>
            <a:endParaRPr lang="en-US" sz="1050" dirty="0"/>
          </a:p>
        </p:txBody>
      </p:sp>
      <p:sp>
        <p:nvSpPr>
          <p:cNvPr id="63" name="Anexo B-9"/>
          <p:cNvSpPr/>
          <p:nvPr/>
        </p:nvSpPr>
        <p:spPr>
          <a:xfrm>
            <a:off x="4760481" y="5120640"/>
            <a:ext cx="4074681" cy="1143000"/>
          </a:xfrm>
          <a:prstGeom prst="roundRect">
            <a:avLst>
              <a:gd name="adj" fmla="val 8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4" name="Origen B-5 fondo"/>
          <p:cNvSpPr/>
          <p:nvPr/>
        </p:nvSpPr>
        <p:spPr>
          <a:xfrm>
            <a:off x="4943361" y="52943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5" name="Origen B-5"/>
          <p:cNvSpPr txBox="1"/>
          <p:nvPr/>
        </p:nvSpPr>
        <p:spPr>
          <a:xfrm>
            <a:off x="4943361" y="52943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6" name="Estado B-5 fondo"/>
          <p:cNvSpPr/>
          <p:nvPr/>
        </p:nvSpPr>
        <p:spPr>
          <a:xfrm>
            <a:off x="6406401" y="52943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7" name="Estado B-5"/>
          <p:cNvSpPr txBox="1"/>
          <p:nvPr/>
        </p:nvSpPr>
        <p:spPr>
          <a:xfrm>
            <a:off x="6406401" y="52943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8" name="Título B-9"/>
          <p:cNvSpPr txBox="1"/>
          <p:nvPr/>
        </p:nvSpPr>
        <p:spPr>
          <a:xfrm>
            <a:off x="4943361" y="5687568"/>
            <a:ext cx="37089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69" name="Responsable B-9"/>
          <p:cNvSpPr txBox="1"/>
          <p:nvPr/>
        </p:nvSpPr>
        <p:spPr>
          <a:xfrm>
            <a:off x="4943361" y="5971032"/>
            <a:ext cx="37089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Depto. de Procesos · RIT, Comité de Auditoría, Compras</a:t>
            </a:r>
            <a:endParaRPr lang="en-US" sz="1050" dirty="0"/>
          </a:p>
        </p:txBody>
      </p:sp>
      <p:sp>
        <p:nvSpPr>
          <p:cNvPr id="70" name="Plazo Anexo B"/>
          <p:cNvSpPr/>
          <p:nvPr/>
        </p:nvSpPr>
        <p:spPr>
          <a:xfrm>
            <a:off x="8972321" y="5120640"/>
            <a:ext cx="2670734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1" name="Plazo B número"/>
          <p:cNvSpPr txBox="1"/>
          <p:nvPr/>
        </p:nvSpPr>
        <p:spPr>
          <a:xfrm>
            <a:off x="9155201" y="513892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2" name="Plazo B título"/>
          <p:cNvSpPr txBox="1"/>
          <p:nvPr/>
        </p:nvSpPr>
        <p:spPr>
          <a:xfrm>
            <a:off x="9978161" y="5184648"/>
            <a:ext cx="15277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3" name="Plazo B detalle"/>
          <p:cNvSpPr txBox="1"/>
          <p:nvPr/>
        </p:nvSpPr>
        <p:spPr>
          <a:xfrm>
            <a:off x="9155201" y="5806440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LÍNEA DE TIEMPO COMPARATIVA Y EVOLUCIÓN DEL CUMPLIMIENTO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 2025 vs. 2026</a:t>
            </a:r>
            <a:endParaRPr lang="en-US" sz="3000" dirty="0"/>
          </a:p>
        </p:txBody>
      </p:sp>
      <p:sp>
        <p:nvSpPr>
          <p:cNvPr id="4" name="Bloque 2025"/>
          <p:cNvSpPr/>
          <p:nvPr/>
        </p:nvSpPr>
        <p:spPr>
          <a:xfrm>
            <a:off x="548640" y="1325880"/>
            <a:ext cx="5410048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Año bloque 2025"/>
          <p:cNvSpPr txBox="1"/>
          <p:nvPr/>
        </p:nvSpPr>
        <p:spPr>
          <a:xfrm>
            <a:off x="777240" y="1463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600" dirty="0"/>
          </a:p>
        </p:txBody>
      </p:sp>
      <p:sp>
        <p:nvSpPr>
          <p:cNvPr id="6" name="Subtítulo bloque 2025"/>
          <p:cNvSpPr txBox="1"/>
          <p:nvPr/>
        </p:nvSpPr>
        <p:spPr>
          <a:xfrm>
            <a:off x="1828800" y="1463040"/>
            <a:ext cx="394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Visita 1 · Nota 17003 · 9 observaciones</a:t>
            </a:r>
            <a:endParaRPr lang="en-US" sz="1200" dirty="0"/>
          </a:p>
        </p:txBody>
      </p:sp>
      <p:sp>
        <p:nvSpPr>
          <p:cNvPr id="7" name="Eje 2025"/>
          <p:cNvSpPr/>
          <p:nvPr/>
        </p:nvSpPr>
        <p:spPr>
          <a:xfrm>
            <a:off x="877824" y="2231136"/>
            <a:ext cx="0" cy="1463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8" name="Hito 2025-1"/>
          <p:cNvSpPr/>
          <p:nvPr/>
        </p:nvSpPr>
        <p:spPr>
          <a:xfrm>
            <a:off x="777240" y="213055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9" name="Fecha 2025-1"/>
          <p:cNvSpPr txBox="1"/>
          <p:nvPr/>
        </p:nvSpPr>
        <p:spPr>
          <a:xfrm>
            <a:off x="1143000" y="210312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</a:t>
            </a:r>
            <a:endParaRPr lang="en-US" sz="1100" dirty="0"/>
          </a:p>
        </p:txBody>
      </p:sp>
      <p:sp>
        <p:nvSpPr>
          <p:cNvPr id="10" name="Hito 2025-1 texto"/>
          <p:cNvSpPr txBox="1"/>
          <p:nvPr/>
        </p:nvSpPr>
        <p:spPr>
          <a:xfrm>
            <a:off x="1143000" y="232257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Nombramiento SSF · Nota 9337</a:t>
            </a:r>
            <a:endParaRPr lang="en-US" sz="1150" dirty="0"/>
          </a:p>
        </p:txBody>
      </p:sp>
      <p:sp>
        <p:nvSpPr>
          <p:cNvPr id="11" name="Hito 2025-2"/>
          <p:cNvSpPr/>
          <p:nvPr/>
        </p:nvSpPr>
        <p:spPr>
          <a:xfrm>
            <a:off x="777240" y="286207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2" name="Fecha 2025-2"/>
          <p:cNvSpPr txBox="1"/>
          <p:nvPr/>
        </p:nvSpPr>
        <p:spPr>
          <a:xfrm>
            <a:off x="1143000" y="283464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</a:t>
            </a:r>
            <a:endParaRPr lang="en-US" sz="1100" dirty="0"/>
          </a:p>
        </p:txBody>
      </p:sp>
      <p:sp>
        <p:nvSpPr>
          <p:cNvPr id="13" name="Hito 2025-2 texto"/>
          <p:cNvSpPr txBox="1"/>
          <p:nvPr/>
        </p:nvSpPr>
        <p:spPr>
          <a:xfrm>
            <a:off x="1143000" y="305409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Inicio formal de la visita en sitio</a:t>
            </a:r>
            <a:endParaRPr lang="en-US" sz="1150" dirty="0"/>
          </a:p>
        </p:txBody>
      </p:sp>
      <p:sp>
        <p:nvSpPr>
          <p:cNvPr id="14" name="Hito 2025-3"/>
          <p:cNvSpPr/>
          <p:nvPr/>
        </p:nvSpPr>
        <p:spPr>
          <a:xfrm>
            <a:off x="777240" y="359359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5" name="Fecha 2025-3"/>
          <p:cNvSpPr txBox="1"/>
          <p:nvPr/>
        </p:nvSpPr>
        <p:spPr>
          <a:xfrm>
            <a:off x="1143000" y="356616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</a:t>
            </a:r>
            <a:endParaRPr lang="en-US" sz="1100" dirty="0"/>
          </a:p>
        </p:txBody>
      </p:sp>
      <p:sp>
        <p:nvSpPr>
          <p:cNvPr id="16" name="Hito 2025-3 texto"/>
          <p:cNvSpPr txBox="1"/>
          <p:nvPr/>
        </p:nvSpPr>
        <p:spPr>
          <a:xfrm>
            <a:off x="1143000" y="37856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Informe preliminar · Nota 17003 · 9 obs.</a:t>
            </a:r>
            <a:endParaRPr lang="en-US" sz="1150" dirty="0"/>
          </a:p>
        </p:txBody>
      </p:sp>
      <p:sp>
        <p:nvSpPr>
          <p:cNvPr id="17" name="Detalle 2025"/>
          <p:cNvSpPr/>
          <p:nvPr/>
        </p:nvSpPr>
        <p:spPr>
          <a:xfrm>
            <a:off x="3840480" y="2103120"/>
            <a:ext cx="1935328" cy="2103120"/>
          </a:xfrm>
          <a:prstGeom prst="roundRect">
            <a:avLst>
              <a:gd name="adj" fmla="val 4725"/>
            </a:avLst>
          </a:prstGeom>
          <a:solidFill>
            <a:schemeClr val="bg1"/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</p:sp>
      <p:sp>
        <p:nvSpPr>
          <p:cNvPr id="18" name="Detalle título 2025"/>
          <p:cNvSpPr txBox="1"/>
          <p:nvPr/>
        </p:nvSpPr>
        <p:spPr>
          <a:xfrm>
            <a:off x="4005072" y="2240280"/>
            <a:ext cx="160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Hallazgos críticos 2025</a:t>
            </a:r>
            <a:endParaRPr lang="en-US" sz="1250" dirty="0"/>
          </a:p>
        </p:txBody>
      </p:sp>
      <p:sp>
        <p:nvSpPr>
          <p:cNvPr id="19" name="Detalle lista 2025"/>
          <p:cNvSpPr txBox="1"/>
          <p:nvPr/>
        </p:nvSpPr>
        <p:spPr>
          <a:xfrm>
            <a:off x="4005072" y="2587752"/>
            <a:ext cx="16610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Ausencia de Política de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Operaciones Vinculadas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Normativa interna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desactualizada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(9 documentos)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Uso inapropiado del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Fondo de Educación</a:t>
            </a:r>
            <a:endParaRPr lang="en-US" sz="1100" dirty="0"/>
          </a:p>
        </p:txBody>
      </p:sp>
      <p:sp>
        <p:nvSpPr>
          <p:cNvPr id="20" name="Bloque 2026"/>
          <p:cNvSpPr/>
          <p:nvPr/>
        </p:nvSpPr>
        <p:spPr>
          <a:xfrm>
            <a:off x="6233008" y="1325880"/>
            <a:ext cx="5410048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1" name="Año bloque 2026"/>
          <p:cNvSpPr txBox="1"/>
          <p:nvPr/>
        </p:nvSpPr>
        <p:spPr>
          <a:xfrm>
            <a:off x="6461608" y="1463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600" dirty="0"/>
          </a:p>
        </p:txBody>
      </p:sp>
      <p:sp>
        <p:nvSpPr>
          <p:cNvPr id="22" name="Subtítulo bloque 2026"/>
          <p:cNvSpPr txBox="1"/>
          <p:nvPr/>
        </p:nvSpPr>
        <p:spPr>
          <a:xfrm>
            <a:off x="7513168" y="1463040"/>
            <a:ext cx="394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Visita 2 · Nota 22741 · 7 nuevas + 2 de 2025</a:t>
            </a:r>
            <a:endParaRPr lang="en-US" sz="1200" dirty="0"/>
          </a:p>
        </p:txBody>
      </p:sp>
      <p:sp>
        <p:nvSpPr>
          <p:cNvPr id="23" name="Eje 2026"/>
          <p:cNvSpPr/>
          <p:nvPr/>
        </p:nvSpPr>
        <p:spPr>
          <a:xfrm>
            <a:off x="6562192" y="2231136"/>
            <a:ext cx="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24" name="Hito 2026-1"/>
          <p:cNvSpPr/>
          <p:nvPr/>
        </p:nvSpPr>
        <p:spPr>
          <a:xfrm>
            <a:off x="6461608" y="213055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5" name="Fecha 2026-1"/>
          <p:cNvSpPr txBox="1"/>
          <p:nvPr/>
        </p:nvSpPr>
        <p:spPr>
          <a:xfrm>
            <a:off x="6827368" y="210312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</a:t>
            </a:r>
            <a:endParaRPr lang="en-US" sz="1100" dirty="0"/>
          </a:p>
        </p:txBody>
      </p:sp>
      <p:sp>
        <p:nvSpPr>
          <p:cNvPr id="26" name="Hito 2026-1 texto"/>
          <p:cNvSpPr txBox="1"/>
          <p:nvPr/>
        </p:nvSpPr>
        <p:spPr>
          <a:xfrm>
            <a:off x="6827368" y="232257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Nombramiento SSF · Nota 18432</a:t>
            </a:r>
            <a:endParaRPr lang="en-US" sz="1150" dirty="0"/>
          </a:p>
        </p:txBody>
      </p:sp>
      <p:sp>
        <p:nvSpPr>
          <p:cNvPr id="27" name="Hito 2026-2"/>
          <p:cNvSpPr/>
          <p:nvPr/>
        </p:nvSpPr>
        <p:spPr>
          <a:xfrm>
            <a:off x="6461608" y="267919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8" name="Fecha 2026-2"/>
          <p:cNvSpPr txBox="1"/>
          <p:nvPr/>
        </p:nvSpPr>
        <p:spPr>
          <a:xfrm>
            <a:off x="6827368" y="265176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100" dirty="0"/>
          </a:p>
        </p:txBody>
      </p:sp>
      <p:sp>
        <p:nvSpPr>
          <p:cNvPr id="29" name="Hito 2026-2 texto"/>
          <p:cNvSpPr txBox="1"/>
          <p:nvPr/>
        </p:nvSpPr>
        <p:spPr>
          <a:xfrm>
            <a:off x="6827368" y="28712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Inicio de la visita ampliada</a:t>
            </a:r>
            <a:endParaRPr lang="en-US" sz="1150" dirty="0"/>
          </a:p>
        </p:txBody>
      </p:sp>
      <p:sp>
        <p:nvSpPr>
          <p:cNvPr id="30" name="Hito 2026-3"/>
          <p:cNvSpPr/>
          <p:nvPr/>
        </p:nvSpPr>
        <p:spPr>
          <a:xfrm>
            <a:off x="6461608" y="3227832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31" name="Fecha 2026-3"/>
          <p:cNvSpPr txBox="1"/>
          <p:nvPr/>
        </p:nvSpPr>
        <p:spPr>
          <a:xfrm>
            <a:off x="6827368" y="32004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</a:t>
            </a:r>
            <a:endParaRPr lang="en-US" sz="1100" dirty="0"/>
          </a:p>
        </p:txBody>
      </p:sp>
      <p:sp>
        <p:nvSpPr>
          <p:cNvPr id="32" name="Hito 2026-3 texto"/>
          <p:cNvSpPr txBox="1"/>
          <p:nvPr/>
        </p:nvSpPr>
        <p:spPr>
          <a:xfrm>
            <a:off x="6827368" y="34198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Informe preliminar · Nota 22741 · 7 + 2</a:t>
            </a:r>
            <a:endParaRPr lang="en-US" sz="1150" dirty="0"/>
          </a:p>
        </p:txBody>
      </p:sp>
      <p:sp>
        <p:nvSpPr>
          <p:cNvPr id="33" name="Halo hoy"/>
          <p:cNvSpPr/>
          <p:nvPr/>
        </p:nvSpPr>
        <p:spPr>
          <a:xfrm>
            <a:off x="6397600" y="3712464"/>
            <a:ext cx="329184" cy="329184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4" name="Hito 2026-4"/>
          <p:cNvSpPr/>
          <p:nvPr/>
        </p:nvSpPr>
        <p:spPr>
          <a:xfrm>
            <a:off x="6461608" y="3776472"/>
            <a:ext cx="201168" cy="201168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35" name="Fecha 2026-4"/>
          <p:cNvSpPr txBox="1"/>
          <p:nvPr/>
        </p:nvSpPr>
        <p:spPr>
          <a:xfrm>
            <a:off x="6827368" y="374904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</a:t>
            </a:r>
            <a:endParaRPr lang="en-US" sz="1100" dirty="0"/>
          </a:p>
        </p:txBody>
      </p:sp>
      <p:sp>
        <p:nvSpPr>
          <p:cNvPr id="36" name="Hito 2026-4 texto"/>
          <p:cNvSpPr txBox="1"/>
          <p:nvPr/>
        </p:nvSpPr>
        <p:spPr>
          <a:xfrm>
            <a:off x="6827368" y="396849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Plazos de respuesta en curso</a:t>
            </a:r>
            <a:endParaRPr lang="en-US" sz="1150" dirty="0"/>
          </a:p>
        </p:txBody>
      </p:sp>
      <p:sp>
        <p:nvSpPr>
          <p:cNvPr id="37" name="Detalle 2026"/>
          <p:cNvSpPr/>
          <p:nvPr/>
        </p:nvSpPr>
        <p:spPr>
          <a:xfrm>
            <a:off x="9524848" y="2103120"/>
            <a:ext cx="1935328" cy="2103120"/>
          </a:xfrm>
          <a:prstGeom prst="roundRect">
            <a:avLst>
              <a:gd name="adj" fmla="val 4725"/>
            </a:avLst>
          </a:prstGeom>
          <a:solidFill>
            <a:schemeClr val="bg1"/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</p:sp>
      <p:sp>
        <p:nvSpPr>
          <p:cNvPr id="38" name="Detalle título 2026"/>
          <p:cNvSpPr txBox="1"/>
          <p:nvPr/>
        </p:nvSpPr>
        <p:spPr>
          <a:xfrm>
            <a:off x="9689440" y="2240280"/>
            <a:ext cx="160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Resultado y plazos 2026</a:t>
            </a:r>
            <a:endParaRPr lang="en-US" sz="1250" dirty="0"/>
          </a:p>
        </p:txBody>
      </p:sp>
      <p:sp>
        <p:nvSpPr>
          <p:cNvPr id="39" name="Detalle lista 2026"/>
          <p:cNvSpPr txBox="1"/>
          <p:nvPr/>
        </p:nvSpPr>
        <p:spPr>
          <a:xfrm>
            <a:off x="9689440" y="2587752"/>
            <a:ext cx="16610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chemeClr val="tx1"/>
                </a:solidFill>
              </a:rPr>
              <a:t>Anexo A: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 observaciones nuevas · descargos en 10 días hábiles (aprox. 23/10/2026)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chemeClr val="tx1"/>
                </a:solidFill>
              </a:rPr>
              <a:t>Anexo B: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seguimiento a obs. 3 y 5 de 2025 · plan de solución en 15 días hábiles (aprox. 30/10/2026)</a:t>
            </a:r>
            <a:endParaRPr lang="en-US" sz="1100" dirty="0"/>
          </a:p>
        </p:txBody>
      </p:sp>
      <p:sp>
        <p:nvSpPr>
          <p:cNvPr id="40" name="Evolución título"/>
          <p:cNvSpPr txBox="1"/>
          <p:nvPr/>
        </p:nvSpPr>
        <p:spPr>
          <a:xfrm>
            <a:off x="548640" y="45720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EVOLUCIÓN · SEGUIMIENTO A OBSERVACIONES 2025</a:t>
            </a:r>
            <a:endParaRPr lang="en-US" sz="1100" dirty="0"/>
          </a:p>
        </p:txBody>
      </p:sp>
      <p:sp>
        <p:nvSpPr>
          <p:cNvPr id="41" name="Evolución 1"/>
          <p:cNvSpPr/>
          <p:nvPr/>
        </p:nvSpPr>
        <p:spPr>
          <a:xfrm>
            <a:off x="548640" y="4892040"/>
            <a:ext cx="3576218" cy="1371600"/>
          </a:xfrm>
          <a:prstGeom prst="roundRect">
            <a:avLst>
              <a:gd name="adj" fmla="val 666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2" name="Evolución estado 1 fondo"/>
          <p:cNvSpPr/>
          <p:nvPr/>
        </p:nvSpPr>
        <p:spPr>
          <a:xfrm>
            <a:off x="731520" y="5047488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3" name="Evolución estado 1"/>
          <p:cNvSpPr txBox="1"/>
          <p:nvPr/>
        </p:nvSpPr>
        <p:spPr>
          <a:xfrm>
            <a:off x="731520" y="5047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44" name="Evolución tema 1"/>
          <p:cNvSpPr txBox="1"/>
          <p:nvPr/>
        </p:nvSpPr>
        <p:spPr>
          <a:xfrm>
            <a:off x="731520" y="5440680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Comités de Apoyo sin personal ejecutivo</a:t>
            </a:r>
            <a:endParaRPr lang="en-US" sz="1300" dirty="0"/>
          </a:p>
        </p:txBody>
      </p:sp>
      <p:sp>
        <p:nvSpPr>
          <p:cNvPr id="45" name="Evolución detalle 1"/>
          <p:cNvSpPr txBox="1"/>
          <p:nvPr/>
        </p:nvSpPr>
        <p:spPr>
          <a:xfrm>
            <a:off x="731520" y="5742432"/>
            <a:ext cx="3210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3 de 2025 · seguimiento en Anexo B 2026</a:t>
            </a:r>
            <a:endParaRPr lang="en-US" sz="1050" dirty="0"/>
          </a:p>
        </p:txBody>
      </p:sp>
      <p:sp>
        <p:nvSpPr>
          <p:cNvPr id="46" name="Evolución 2"/>
          <p:cNvSpPr/>
          <p:nvPr/>
        </p:nvSpPr>
        <p:spPr>
          <a:xfrm>
            <a:off x="4307738" y="4892040"/>
            <a:ext cx="3576218" cy="1371600"/>
          </a:xfrm>
          <a:prstGeom prst="roundRect">
            <a:avLst>
              <a:gd name="adj" fmla="val 666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7" name="Evolución estado 2 fondo"/>
          <p:cNvSpPr/>
          <p:nvPr/>
        </p:nvSpPr>
        <p:spPr>
          <a:xfrm>
            <a:off x="4490618" y="5047488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8" name="Evolución estado 2"/>
          <p:cNvSpPr txBox="1"/>
          <p:nvPr/>
        </p:nvSpPr>
        <p:spPr>
          <a:xfrm>
            <a:off x="4490618" y="5047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49" name="Evolución tema 2"/>
          <p:cNvSpPr txBox="1"/>
          <p:nvPr/>
        </p:nvSpPr>
        <p:spPr>
          <a:xfrm>
            <a:off x="4490618" y="5440680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Normativa interna desactualizada</a:t>
            </a:r>
            <a:endParaRPr lang="en-US" sz="1300" dirty="0"/>
          </a:p>
        </p:txBody>
      </p:sp>
      <p:sp>
        <p:nvSpPr>
          <p:cNvPr id="50" name="Evolución detalle 2"/>
          <p:cNvSpPr txBox="1"/>
          <p:nvPr/>
        </p:nvSpPr>
        <p:spPr>
          <a:xfrm>
            <a:off x="4490618" y="5742432"/>
            <a:ext cx="3210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5 de 2025 · seguimiento en Anexo B 2026 (RIT, Auditoría, Compras)</a:t>
            </a:r>
            <a:endParaRPr lang="en-US" sz="1050" dirty="0"/>
          </a:p>
        </p:txBody>
      </p:sp>
      <p:sp>
        <p:nvSpPr>
          <p:cNvPr id="51" name="Evolución 3"/>
          <p:cNvSpPr/>
          <p:nvPr/>
        </p:nvSpPr>
        <p:spPr>
          <a:xfrm>
            <a:off x="8066837" y="4892040"/>
            <a:ext cx="3576218" cy="137160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Evolución estado 3 fondo"/>
          <p:cNvSpPr/>
          <p:nvPr/>
        </p:nvSpPr>
        <p:spPr>
          <a:xfrm>
            <a:off x="8249717" y="5047488"/>
            <a:ext cx="21031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3" name="Evolución estado 3"/>
          <p:cNvSpPr txBox="1"/>
          <p:nvPr/>
        </p:nvSpPr>
        <p:spPr>
          <a:xfrm>
            <a:off x="8249717" y="5047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MISMO TEMA · NUEVAS</a:t>
            </a:r>
            <a:endParaRPr lang="en-US" sz="1050" dirty="0"/>
          </a:p>
        </p:txBody>
      </p:sp>
      <p:sp>
        <p:nvSpPr>
          <p:cNvPr id="54" name="Evolución tema 3"/>
          <p:cNvSpPr txBox="1"/>
          <p:nvPr/>
        </p:nvSpPr>
        <p:spPr>
          <a:xfrm>
            <a:off x="8249717" y="5440680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Fondo de Educación</a:t>
            </a:r>
            <a:endParaRPr lang="en-US" sz="1300" dirty="0"/>
          </a:p>
        </p:txBody>
      </p:sp>
      <p:sp>
        <p:nvSpPr>
          <p:cNvPr id="55" name="Evolución detalle 3"/>
          <p:cNvSpPr txBox="1"/>
          <p:nvPr/>
        </p:nvSpPr>
        <p:spPr>
          <a:xfrm>
            <a:off x="8249717" y="5742432"/>
            <a:ext cx="3210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 es seguimiento: obs. 6 y 7 de 2026 son nuevas (Anexo A), mismo tema de la obs. 9 de 2025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2026-10-13T17:11:07Z</dcterms:created>
  <dcterms:modified xsi:type="dcterms:W3CDTF">2026-10-13T17:11:07Z</dcterms:modified>
</cp:coreProperties>
</file>