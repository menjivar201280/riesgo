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· Resumen de circulares SSF" id="{D4BC93EA-717B-1DB4-CD05-3E25CC7E6455}">
          <p14:sldIdLst>
            <p14:sldId id="256"/>
          </p14:sldIdLst>
        </p14:section>
        <p14:section name="2 · Observaciones 2025" id="{61F120E5-CD73-3034-85EC-DEC39749F4C7}">
          <p14:sldIdLst>
            <p14:sldId id="257"/>
          </p14:sldIdLst>
        </p14:section>
        <p14:section name="3 · Observaciones 2026" id="{0DA0406F-48C1-0CF5-D2F7-A9A0666B2A08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24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circulares de la SSF. Cada año la SSF primero notifica el nombramiento de la visita ampliada y luego remite los resultados preliminares. 2025: visita del 19/05/2025 al 04/07/2025 (Acta de Cierre de Visita); Circular 17003 con 9 observaciones; descargos recibidos por la SSF el 18/11/2025 a las 5:19 p. m. (constancia de recepción). 2026: visita del 21/08/2026 al 22/09/2026 (Acta de Cierre de Visita); Circular 22741 con 7 observaciones nuevas (Anexo A) y seguimiento a 2 de las 9 observaciones de 2025 (Anexo B): la obs. 3 no superada y la obs. 5 parcialmente superada.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Nueve observaciones de la Circular 17003. Responsable y descargo según la Matriz de requerimientos enviada a la SSF el 18/11/2025 (ref. NB07-2025-974, buzón DESCARGOS_OBSERVACIONES). Obs. 5: actualizados el Reglamento del Comité de Finanzas (21/07/2025), la Política de Seguridad de la Información (02/06/2025) y el Manual de Inducción (25/08/2025). En rojo, las 2 observaciones con seguimiento en 2026 (Anexo B): obs. 3 no superada y obs. 5 parcialmente superada.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A: siete observaciones nuevas. Responsable y respuesta según la Matriz de requerimientos de la Circular 22741 (las obs. 1, 4 y 5 aún no tienen comentario en la matriz). Anexo B: seguimiento a las obs. 3 y 5 de 2025; responsable y avance según el Plan de solución. Obs. 5: Reglamento Interno de Trabajo en proceso; Reglamento del Comité de Auditoría aprobado por el Comité el 28/08/2026 y remitido el 05/10/2026 al Consejo de Administración para ratificación; Manual de Compras en proceso. Plazos: 10 días hábiles para descargos y 15 días hábiles para el plan de solución (fechas aproximadas sin asuetos).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UMEN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14600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502920"/>
            <a:ext cx="1600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r>
              <a:rPr lang="en-US" sz="1100" b="1" kern="0" spc="200" dirty="0">
                <a:solidFill>
                  <a:schemeClr val="bg2"/>
                </a:solidFill>
              </a:rPr>
              <a:t>SECCIÓN</a:t>
            </a: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011680"/>
            <a:ext cx="1600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29718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SSF · Gobierno Corporativo (NRP-17) · COMEDICA de R.L.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SECCIÓN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SSF · Gobierno Corporativo (NRP-17) · COMEDICA de R.L.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120317" y="502920"/>
            <a:ext cx="2237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SV" sz="1800" dirty="0">
                <a:latin typeface="Arial" panose="020B0604020202020204" pitchFamily="34" charset="0"/>
                <a:cs typeface="Arial" panose="020B0604020202020204" pitchFamily="34" charset="0"/>
              </a:rPr>
              <a:t>VISITA DE SUPERVISIÓN  GOBIERNO CORPORATIVO</a:t>
            </a:r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170368" y="2139696"/>
            <a:ext cx="22378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– 2026</a:t>
            </a:r>
            <a:endParaRPr lang="en-US" sz="3000" dirty="0"/>
          </a:p>
        </p:txBody>
      </p:sp>
      <p:sp>
        <p:nvSpPr>
          <p:cNvPr id="4" name="Año 2025"/>
          <p:cNvSpPr txBox="1"/>
          <p:nvPr/>
        </p:nvSpPr>
        <p:spPr>
          <a:xfrm>
            <a:off x="2971800" y="320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800" dirty="0"/>
          </a:p>
        </p:txBody>
      </p:sp>
      <p:sp>
        <p:nvSpPr>
          <p:cNvPr id="6" name="Tarjeta 2025-1"/>
          <p:cNvSpPr/>
          <p:nvPr/>
        </p:nvSpPr>
        <p:spPr>
          <a:xfrm>
            <a:off x="2971800" y="868680"/>
            <a:ext cx="2788920" cy="2395728"/>
          </a:xfrm>
          <a:prstGeom prst="roundRect">
            <a:avLst>
              <a:gd name="adj" fmla="val 3817"/>
            </a:avLst>
          </a:prstGeom>
          <a:solidFill>
            <a:schemeClr val="bg1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7" name="Fechas fondo 2025-1"/>
          <p:cNvSpPr/>
          <p:nvPr/>
        </p:nvSpPr>
        <p:spPr>
          <a:xfrm>
            <a:off x="3090672" y="987552"/>
            <a:ext cx="987552" cy="2157984"/>
          </a:xfrm>
          <a:prstGeom prst="roundRect">
            <a:avLst>
              <a:gd name="adj" fmla="val 9259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8" name="Fecha etiqueta 2025-1-0"/>
          <p:cNvSpPr txBox="1"/>
          <p:nvPr/>
        </p:nvSpPr>
        <p:spPr>
          <a:xfrm>
            <a:off x="3090672" y="11704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chemeClr val="bg1"/>
                </a:solidFill>
              </a:rPr>
              <a:t>INICIO DE VISITA</a:t>
            </a:r>
            <a:endParaRPr lang="en-US" sz="800" dirty="0"/>
          </a:p>
        </p:txBody>
      </p:sp>
      <p:sp>
        <p:nvSpPr>
          <p:cNvPr id="9" name="Fecha día 2025-1-0"/>
          <p:cNvSpPr txBox="1"/>
          <p:nvPr/>
        </p:nvSpPr>
        <p:spPr>
          <a:xfrm>
            <a:off x="3090672" y="137160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10" name="Fecha mes 2025-1-0"/>
          <p:cNvSpPr txBox="1"/>
          <p:nvPr/>
        </p:nvSpPr>
        <p:spPr>
          <a:xfrm>
            <a:off x="3090672" y="17922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MAY 2025</a:t>
            </a:r>
            <a:endParaRPr lang="en-US" sz="1000" dirty="0"/>
          </a:p>
        </p:txBody>
      </p:sp>
      <p:sp>
        <p:nvSpPr>
          <p:cNvPr id="11" name="Fecha etiqueta 2025-1-1"/>
          <p:cNvSpPr txBox="1"/>
          <p:nvPr/>
        </p:nvSpPr>
        <p:spPr>
          <a:xfrm>
            <a:off x="3090672" y="22494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chemeClr val="bg1"/>
                </a:solidFill>
              </a:rPr>
              <a:t>ACTA DE CIERRE</a:t>
            </a:r>
            <a:endParaRPr lang="en-US" sz="800" dirty="0"/>
          </a:p>
        </p:txBody>
      </p:sp>
      <p:sp>
        <p:nvSpPr>
          <p:cNvPr id="12" name="Fecha día 2025-1-1"/>
          <p:cNvSpPr txBox="1"/>
          <p:nvPr/>
        </p:nvSpPr>
        <p:spPr>
          <a:xfrm>
            <a:off x="3090672" y="245059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Fecha mes 2025-1-1"/>
          <p:cNvSpPr txBox="1"/>
          <p:nvPr/>
        </p:nvSpPr>
        <p:spPr>
          <a:xfrm>
            <a:off x="3090672" y="28712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JUL 2025</a:t>
            </a:r>
            <a:endParaRPr lang="en-US" sz="1000" dirty="0"/>
          </a:p>
        </p:txBody>
      </p:sp>
      <p:sp>
        <p:nvSpPr>
          <p:cNvPr id="14" name="Fechas separador 2025-1"/>
          <p:cNvSpPr/>
          <p:nvPr/>
        </p:nvSpPr>
        <p:spPr>
          <a:xfrm>
            <a:off x="3273552" y="2066544"/>
            <a:ext cx="621792" cy="0"/>
          </a:xfrm>
          <a:prstGeom prst="line">
            <a:avLst/>
          </a:prstGeom>
          <a:noFill/>
          <a:ln w="9525">
            <a:solidFill>
              <a:schemeClr val="bg1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5" name="Tipo 2025-1"/>
          <p:cNvSpPr txBox="1"/>
          <p:nvPr/>
        </p:nvSpPr>
        <p:spPr>
          <a:xfrm>
            <a:off x="4233672" y="10058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Nombramiento de visita ampliada</a:t>
            </a:r>
            <a:endParaRPr lang="en-US" sz="1350" dirty="0"/>
          </a:p>
        </p:txBody>
      </p:sp>
      <p:sp>
        <p:nvSpPr>
          <p:cNvPr id="16" name="Circular 2025-1"/>
          <p:cNvSpPr txBox="1"/>
          <p:nvPr/>
        </p:nvSpPr>
        <p:spPr>
          <a:xfrm>
            <a:off x="4233672" y="164592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Circular No.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DS-SABAO-BCS-BC-9337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09/04/2025</a:t>
            </a:r>
            <a:endParaRPr lang="en-US" sz="1050" dirty="0"/>
          </a:p>
        </p:txBody>
      </p:sp>
      <p:sp>
        <p:nvSpPr>
          <p:cNvPr id="17" name="Separador 2025-1-0"/>
          <p:cNvSpPr/>
          <p:nvPr/>
        </p:nvSpPr>
        <p:spPr>
          <a:xfrm>
            <a:off x="4233672" y="2350008"/>
            <a:ext cx="1389888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8" name="Dato 2025-1-0"/>
          <p:cNvSpPr txBox="1"/>
          <p:nvPr/>
        </p:nvSpPr>
        <p:spPr>
          <a:xfrm>
            <a:off x="4233672" y="238658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Corte  </a:t>
            </a:r>
            <a:r>
              <a:rPr lang="en-US" sz="1050" b="1" dirty="0">
                <a:solidFill>
                  <a:schemeClr val="tx1"/>
                </a:solidFill>
              </a:rPr>
              <a:t>30/04/2025</a:t>
            </a:r>
            <a:endParaRPr lang="en-US" sz="1050" dirty="0"/>
          </a:p>
        </p:txBody>
      </p:sp>
      <p:sp>
        <p:nvSpPr>
          <p:cNvPr id="19" name="Separador 2025-1-1"/>
          <p:cNvSpPr/>
          <p:nvPr/>
        </p:nvSpPr>
        <p:spPr>
          <a:xfrm>
            <a:off x="4233672" y="2734056"/>
            <a:ext cx="1389888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0" name="Dato 2025-1-1"/>
          <p:cNvSpPr txBox="1"/>
          <p:nvPr/>
        </p:nvSpPr>
        <p:spPr>
          <a:xfrm>
            <a:off x="4233672" y="2770632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Acta de cierre  </a:t>
            </a:r>
            <a:r>
              <a:rPr lang="en-US" sz="1050" b="1" dirty="0">
                <a:solidFill>
                  <a:schemeClr val="tx1"/>
                </a:solidFill>
              </a:rPr>
              <a:t>04/07/2025</a:t>
            </a:r>
            <a:endParaRPr lang="en-US" sz="1050" dirty="0"/>
          </a:p>
        </p:txBody>
      </p:sp>
      <p:sp>
        <p:nvSpPr>
          <p:cNvPr id="21" name="Tarjeta 2025-2"/>
          <p:cNvSpPr/>
          <p:nvPr/>
        </p:nvSpPr>
        <p:spPr>
          <a:xfrm>
            <a:off x="6144768" y="868680"/>
            <a:ext cx="5498287" cy="2395728"/>
          </a:xfrm>
          <a:prstGeom prst="roundRect">
            <a:avLst>
              <a:gd name="adj" fmla="val 3817"/>
            </a:avLst>
          </a:prstGeom>
          <a:solidFill>
            <a:schemeClr val="bg1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2" name="Fechas fondo 2025-2"/>
          <p:cNvSpPr/>
          <p:nvPr/>
        </p:nvSpPr>
        <p:spPr>
          <a:xfrm>
            <a:off x="6263640" y="987552"/>
            <a:ext cx="987552" cy="2157984"/>
          </a:xfrm>
          <a:prstGeom prst="roundRect">
            <a:avLst>
              <a:gd name="adj" fmla="val 9259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4" name="Fecha día 2025-2-0"/>
          <p:cNvSpPr txBox="1"/>
          <p:nvPr/>
        </p:nvSpPr>
        <p:spPr>
          <a:xfrm>
            <a:off x="6263640" y="1682496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25" name="Fecha mes 2025-2-0"/>
          <p:cNvSpPr txBox="1"/>
          <p:nvPr/>
        </p:nvSpPr>
        <p:spPr>
          <a:xfrm>
            <a:off x="6263640" y="213969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chemeClr val="bg1"/>
                </a:solidFill>
              </a:rPr>
              <a:t>OBSERVACIONES</a:t>
            </a:r>
            <a:endParaRPr lang="en-US" sz="1000" dirty="0"/>
          </a:p>
        </p:txBody>
      </p:sp>
      <p:sp>
        <p:nvSpPr>
          <p:cNvPr id="30" name="Tipo 2025-2"/>
          <p:cNvSpPr txBox="1"/>
          <p:nvPr/>
        </p:nvSpPr>
        <p:spPr>
          <a:xfrm>
            <a:off x="7406640" y="996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Resultados preliminares</a:t>
            </a:r>
            <a:endParaRPr lang="en-US" sz="1350" dirty="0"/>
          </a:p>
        </p:txBody>
      </p:sp>
      <p:sp>
        <p:nvSpPr>
          <p:cNvPr id="31" name="Circular 2025-2"/>
          <p:cNvSpPr txBox="1"/>
          <p:nvPr/>
        </p:nvSpPr>
        <p:spPr>
          <a:xfrm>
            <a:off x="7406640" y="1298448"/>
            <a:ext cx="4099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Circular No.  </a:t>
            </a:r>
            <a:r>
              <a:rPr lang="en-US" sz="1000" b="1" dirty="0">
                <a:solidFill>
                  <a:schemeClr val="accent1"/>
                </a:solidFill>
              </a:rPr>
              <a:t>DS-SABAO-BCS-BC-17003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05/11/2025</a:t>
            </a:r>
            <a:endParaRPr lang="en-US" sz="1000" dirty="0"/>
          </a:p>
        </p:txBody>
      </p:sp>
      <p:sp>
        <p:nvSpPr>
          <p:cNvPr id="32" name="Separador lista 2025-2"/>
          <p:cNvSpPr/>
          <p:nvPr/>
        </p:nvSpPr>
        <p:spPr>
          <a:xfrm>
            <a:off x="7406640" y="1783080"/>
            <a:ext cx="4099255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7" name="Flecha 2025"/>
          <p:cNvSpPr/>
          <p:nvPr/>
        </p:nvSpPr>
        <p:spPr>
          <a:xfrm>
            <a:off x="5824728" y="1938528"/>
            <a:ext cx="256032" cy="256032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8" name="Año 2026"/>
          <p:cNvSpPr txBox="1"/>
          <p:nvPr/>
        </p:nvSpPr>
        <p:spPr>
          <a:xfrm>
            <a:off x="2971800" y="33649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800" dirty="0"/>
          </a:p>
        </p:txBody>
      </p:sp>
      <p:sp>
        <p:nvSpPr>
          <p:cNvPr id="40" name="Tarjeta 2026-1"/>
          <p:cNvSpPr/>
          <p:nvPr/>
        </p:nvSpPr>
        <p:spPr>
          <a:xfrm>
            <a:off x="2971800" y="3913632"/>
            <a:ext cx="2788920" cy="2395728"/>
          </a:xfrm>
          <a:prstGeom prst="roundRect">
            <a:avLst>
              <a:gd name="adj" fmla="val 3817"/>
            </a:avLst>
          </a:prstGeom>
          <a:solidFill>
            <a:schemeClr val="bg1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1" name="Fechas fondo 2026-1"/>
          <p:cNvSpPr/>
          <p:nvPr/>
        </p:nvSpPr>
        <p:spPr>
          <a:xfrm>
            <a:off x="3090672" y="4032504"/>
            <a:ext cx="987552" cy="2157984"/>
          </a:xfrm>
          <a:prstGeom prst="roundRect">
            <a:avLst>
              <a:gd name="adj" fmla="val 9259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2" name="Fecha etiqueta 2026-1-0"/>
          <p:cNvSpPr txBox="1"/>
          <p:nvPr/>
        </p:nvSpPr>
        <p:spPr>
          <a:xfrm>
            <a:off x="3090672" y="42153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chemeClr val="bg1"/>
                </a:solidFill>
              </a:rPr>
              <a:t>INICIO DE VISITA</a:t>
            </a:r>
            <a:endParaRPr lang="en-US" sz="800" dirty="0"/>
          </a:p>
        </p:txBody>
      </p:sp>
      <p:sp>
        <p:nvSpPr>
          <p:cNvPr id="43" name="Fecha día 2026-1-0"/>
          <p:cNvSpPr txBox="1"/>
          <p:nvPr/>
        </p:nvSpPr>
        <p:spPr>
          <a:xfrm>
            <a:off x="3090672" y="4416552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44" name="Fecha mes 2026-1-0"/>
          <p:cNvSpPr txBox="1"/>
          <p:nvPr/>
        </p:nvSpPr>
        <p:spPr>
          <a:xfrm>
            <a:off x="3090672" y="48371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AGO 2026</a:t>
            </a:r>
            <a:endParaRPr lang="en-US" sz="1000" dirty="0"/>
          </a:p>
        </p:txBody>
      </p:sp>
      <p:sp>
        <p:nvSpPr>
          <p:cNvPr id="45" name="Fecha etiqueta 2026-1-1"/>
          <p:cNvSpPr txBox="1"/>
          <p:nvPr/>
        </p:nvSpPr>
        <p:spPr>
          <a:xfrm>
            <a:off x="3090672" y="529437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chemeClr val="bg1"/>
                </a:solidFill>
              </a:rPr>
              <a:t>ACTA DE CIERRE</a:t>
            </a:r>
            <a:endParaRPr lang="en-US" sz="800" dirty="0"/>
          </a:p>
        </p:txBody>
      </p:sp>
      <p:sp>
        <p:nvSpPr>
          <p:cNvPr id="46" name="Fecha día 2026-1-1"/>
          <p:cNvSpPr txBox="1"/>
          <p:nvPr/>
        </p:nvSpPr>
        <p:spPr>
          <a:xfrm>
            <a:off x="3090672" y="5495544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47" name="Fecha mes 2026-1-1"/>
          <p:cNvSpPr txBox="1"/>
          <p:nvPr/>
        </p:nvSpPr>
        <p:spPr>
          <a:xfrm>
            <a:off x="3090672" y="59161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SEP 2026</a:t>
            </a:r>
            <a:endParaRPr lang="en-US" sz="1000" dirty="0"/>
          </a:p>
        </p:txBody>
      </p:sp>
      <p:sp>
        <p:nvSpPr>
          <p:cNvPr id="48" name="Fechas separador 2026-1"/>
          <p:cNvSpPr/>
          <p:nvPr/>
        </p:nvSpPr>
        <p:spPr>
          <a:xfrm>
            <a:off x="3273552" y="5111496"/>
            <a:ext cx="621792" cy="0"/>
          </a:xfrm>
          <a:prstGeom prst="line">
            <a:avLst/>
          </a:prstGeom>
          <a:noFill/>
          <a:ln w="9525">
            <a:solidFill>
              <a:schemeClr val="bg1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9" name="Tipo 2026-1"/>
          <p:cNvSpPr txBox="1"/>
          <p:nvPr/>
        </p:nvSpPr>
        <p:spPr>
          <a:xfrm>
            <a:off x="4233672" y="405079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Nombramiento de visita ampliada</a:t>
            </a:r>
            <a:endParaRPr lang="en-US" sz="1350" dirty="0"/>
          </a:p>
        </p:txBody>
      </p:sp>
      <p:sp>
        <p:nvSpPr>
          <p:cNvPr id="50" name="Circular 2026-1"/>
          <p:cNvSpPr txBox="1"/>
          <p:nvPr/>
        </p:nvSpPr>
        <p:spPr>
          <a:xfrm>
            <a:off x="4233672" y="46908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Circular No.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SABAO-BCS-BC-18432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31/07/2026</a:t>
            </a:r>
            <a:endParaRPr lang="en-US" sz="1050" dirty="0"/>
          </a:p>
        </p:txBody>
      </p:sp>
      <p:sp>
        <p:nvSpPr>
          <p:cNvPr id="51" name="Separador 2026-1-0"/>
          <p:cNvSpPr/>
          <p:nvPr/>
        </p:nvSpPr>
        <p:spPr>
          <a:xfrm>
            <a:off x="4233672" y="5394960"/>
            <a:ext cx="1389888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2" name="Dato 2026-1-0"/>
          <p:cNvSpPr txBox="1"/>
          <p:nvPr/>
        </p:nvSpPr>
        <p:spPr>
          <a:xfrm>
            <a:off x="4233672" y="5431536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Corte  </a:t>
            </a:r>
            <a:r>
              <a:rPr lang="en-US" sz="1050" b="1" dirty="0">
                <a:solidFill>
                  <a:schemeClr val="tx1"/>
                </a:solidFill>
              </a:rPr>
              <a:t>31/07/2026</a:t>
            </a:r>
            <a:endParaRPr lang="en-US" sz="1050" dirty="0"/>
          </a:p>
        </p:txBody>
      </p:sp>
      <p:sp>
        <p:nvSpPr>
          <p:cNvPr id="53" name="Separador 2026-1-1"/>
          <p:cNvSpPr/>
          <p:nvPr/>
        </p:nvSpPr>
        <p:spPr>
          <a:xfrm>
            <a:off x="4233672" y="5779008"/>
            <a:ext cx="1389888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4" name="Dato 2026-1-1"/>
          <p:cNvSpPr txBox="1"/>
          <p:nvPr/>
        </p:nvSpPr>
        <p:spPr>
          <a:xfrm>
            <a:off x="4233672" y="5815584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Acta de cierre  </a:t>
            </a:r>
            <a:r>
              <a:rPr lang="en-US" sz="1050" b="1" dirty="0">
                <a:solidFill>
                  <a:schemeClr val="tx1"/>
                </a:solidFill>
              </a:rPr>
              <a:t>22/09/2026</a:t>
            </a:r>
            <a:endParaRPr lang="en-US" sz="1050" dirty="0"/>
          </a:p>
        </p:txBody>
      </p:sp>
      <p:sp>
        <p:nvSpPr>
          <p:cNvPr id="55" name="Tarjeta 2026-2"/>
          <p:cNvSpPr/>
          <p:nvPr/>
        </p:nvSpPr>
        <p:spPr>
          <a:xfrm>
            <a:off x="6144768" y="3913632"/>
            <a:ext cx="5498287" cy="2395728"/>
          </a:xfrm>
          <a:prstGeom prst="roundRect">
            <a:avLst>
              <a:gd name="adj" fmla="val 3817"/>
            </a:avLst>
          </a:prstGeom>
          <a:solidFill>
            <a:schemeClr val="bg1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6" name="Fechas fondo 2026-2"/>
          <p:cNvSpPr/>
          <p:nvPr/>
        </p:nvSpPr>
        <p:spPr>
          <a:xfrm>
            <a:off x="6263640" y="4032504"/>
            <a:ext cx="987552" cy="2157984"/>
          </a:xfrm>
          <a:prstGeom prst="roundRect">
            <a:avLst>
              <a:gd name="adj" fmla="val 9259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7" name="Fecha etiqueta 2026-2-0"/>
          <p:cNvSpPr txBox="1"/>
          <p:nvPr/>
        </p:nvSpPr>
        <p:spPr>
          <a:xfrm>
            <a:off x="6263640" y="42153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chemeClr val="bg1"/>
                </a:solidFill>
              </a:rPr>
              <a:t>ANEXO A</a:t>
            </a:r>
            <a:endParaRPr lang="en-US" sz="800" dirty="0"/>
          </a:p>
        </p:txBody>
      </p:sp>
      <p:sp>
        <p:nvSpPr>
          <p:cNvPr id="58" name="Fecha día 2026-2-0"/>
          <p:cNvSpPr txBox="1"/>
          <p:nvPr/>
        </p:nvSpPr>
        <p:spPr>
          <a:xfrm>
            <a:off x="6263640" y="4379976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59" name="Fecha mes 2026-2-0"/>
          <p:cNvSpPr txBox="1"/>
          <p:nvPr/>
        </p:nvSpPr>
        <p:spPr>
          <a:xfrm>
            <a:off x="6263640" y="480974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chemeClr val="bg1"/>
                </a:solidFill>
              </a:rPr>
              <a:t>NUEVAS</a:t>
            </a:r>
            <a:endParaRPr lang="en-US" sz="1000" dirty="0"/>
          </a:p>
          <a:p>
            <a:pPr marL="0" indent="0" algn="ctr">
              <a:buNone/>
            </a:pPr>
            <a:r>
              <a:rPr lang="en-US" sz="750" b="1" kern="0" spc="100" dirty="0">
                <a:solidFill>
                  <a:schemeClr val="bg1"/>
                </a:solidFill>
              </a:rPr>
              <a:t>OBSERVACIONES</a:t>
            </a:r>
            <a:endParaRPr lang="en-US" sz="1000" dirty="0"/>
          </a:p>
        </p:txBody>
      </p:sp>
      <p:sp>
        <p:nvSpPr>
          <p:cNvPr id="60" name="Fecha etiqueta 2026-2-1"/>
          <p:cNvSpPr txBox="1"/>
          <p:nvPr/>
        </p:nvSpPr>
        <p:spPr>
          <a:xfrm>
            <a:off x="6263640" y="529437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chemeClr val="bg1"/>
                </a:solidFill>
              </a:rPr>
              <a:t>SEGUIMIENTO</a:t>
            </a:r>
            <a:endParaRPr lang="en-US" sz="800" dirty="0"/>
          </a:p>
        </p:txBody>
      </p:sp>
      <p:sp>
        <p:nvSpPr>
          <p:cNvPr id="61" name="Fecha día 2026-2-1"/>
          <p:cNvSpPr txBox="1"/>
          <p:nvPr/>
        </p:nvSpPr>
        <p:spPr>
          <a:xfrm>
            <a:off x="6263640" y="5458968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2" name="Fecha mes 2026-2-1"/>
          <p:cNvSpPr txBox="1"/>
          <p:nvPr/>
        </p:nvSpPr>
        <p:spPr>
          <a:xfrm>
            <a:off x="6263640" y="588873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chemeClr val="bg1"/>
                </a:solidFill>
              </a:rPr>
              <a:t>OBSERVACIONES</a:t>
            </a:r>
            <a:endParaRPr lang="en-US" sz="1000" dirty="0"/>
          </a:p>
          <a:p>
            <a:pPr marL="0" indent="0" algn="ctr">
              <a:buNone/>
            </a:pPr>
            <a:r>
              <a:rPr lang="en-US" sz="750" b="1" kern="0" spc="100" dirty="0">
                <a:solidFill>
                  <a:schemeClr val="bg1"/>
                </a:solidFill>
              </a:rPr>
              <a:t>2025</a:t>
            </a:r>
            <a:endParaRPr lang="en-US" sz="1000" dirty="0"/>
          </a:p>
        </p:txBody>
      </p:sp>
      <p:sp>
        <p:nvSpPr>
          <p:cNvPr id="63" name="Fechas separador 2026-2"/>
          <p:cNvSpPr/>
          <p:nvPr/>
        </p:nvSpPr>
        <p:spPr>
          <a:xfrm>
            <a:off x="6446520" y="5111496"/>
            <a:ext cx="621792" cy="0"/>
          </a:xfrm>
          <a:prstGeom prst="line">
            <a:avLst/>
          </a:prstGeom>
          <a:noFill/>
          <a:ln w="9525">
            <a:solidFill>
              <a:schemeClr val="bg1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64" name="Tipo 2026-2"/>
          <p:cNvSpPr txBox="1"/>
          <p:nvPr/>
        </p:nvSpPr>
        <p:spPr>
          <a:xfrm>
            <a:off x="7406640" y="4041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Resultados preliminares</a:t>
            </a:r>
            <a:endParaRPr lang="en-US" sz="1350" dirty="0"/>
          </a:p>
        </p:txBody>
      </p:sp>
      <p:sp>
        <p:nvSpPr>
          <p:cNvPr id="65" name="Circular 2026-2"/>
          <p:cNvSpPr txBox="1"/>
          <p:nvPr/>
        </p:nvSpPr>
        <p:spPr>
          <a:xfrm>
            <a:off x="7406640" y="4343400"/>
            <a:ext cx="4099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Circular No.  </a:t>
            </a:r>
            <a:r>
              <a:rPr lang="en-US" sz="1000" b="1" dirty="0">
                <a:solidFill>
                  <a:schemeClr val="accent2"/>
                </a:solidFill>
              </a:rPr>
              <a:t>DS-SABAO-BCS-BC-22741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09/10/2026</a:t>
            </a:r>
            <a:endParaRPr lang="en-US" sz="1000" dirty="0"/>
          </a:p>
        </p:txBody>
      </p:sp>
      <p:sp>
        <p:nvSpPr>
          <p:cNvPr id="66" name="Separador lista 2026-2"/>
          <p:cNvSpPr/>
          <p:nvPr/>
        </p:nvSpPr>
        <p:spPr>
          <a:xfrm>
            <a:off x="7406640" y="4828032"/>
            <a:ext cx="4099255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71" name="Flecha 2026"/>
          <p:cNvSpPr/>
          <p:nvPr/>
        </p:nvSpPr>
        <p:spPr>
          <a:xfrm>
            <a:off x="5824728" y="4983480"/>
            <a:ext cx="256032" cy="25603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74" name="Imagen 73">
            <a:extLst>
              <a:ext uri="{FF2B5EF4-FFF2-40B4-BE49-F238E27FC236}">
                <a16:creationId xmlns:a16="http://schemas.microsoft.com/office/drawing/2014/main" id="{D6B9EEBF-57F7-DAB8-6804-9A27806F2E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92" r="16739" b="27189"/>
          <a:stretch>
            <a:fillRect/>
          </a:stretch>
        </p:blipFill>
        <p:spPr>
          <a:xfrm>
            <a:off x="76364" y="3172968"/>
            <a:ext cx="2264500" cy="1778273"/>
          </a:xfrm>
          <a:prstGeom prst="rect">
            <a:avLst/>
          </a:prstGeom>
        </p:spPr>
      </p:pic>
      <p:sp>
        <p:nvSpPr>
          <p:cNvPr id="76" name="Visita 2025">
            <a:extLst>
              <a:ext uri="{FF2B5EF4-FFF2-40B4-BE49-F238E27FC236}">
                <a16:creationId xmlns:a16="http://schemas.microsoft.com/office/drawing/2014/main" id="{52B2FF47-7925-9D96-0455-8BB08B9ED3E5}"/>
              </a:ext>
            </a:extLst>
          </p:cNvPr>
          <p:cNvSpPr txBox="1"/>
          <p:nvPr/>
        </p:nvSpPr>
        <p:spPr>
          <a:xfrm>
            <a:off x="4366260" y="376027"/>
            <a:ext cx="55513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400" noProof="0" dirty="0">
                <a:solidFill>
                  <a:schemeClr val="accent5"/>
                </a:solidFill>
              </a:rPr>
              <a:t>Visita de supervisión ampliada para evaluar el Gobierno Corporativo</a:t>
            </a:r>
            <a:endParaRPr lang="es-SV" sz="1400" noProof="0" dirty="0"/>
          </a:p>
        </p:txBody>
      </p:sp>
      <p:sp>
        <p:nvSpPr>
          <p:cNvPr id="78" name="Visita 2026">
            <a:extLst>
              <a:ext uri="{FF2B5EF4-FFF2-40B4-BE49-F238E27FC236}">
                <a16:creationId xmlns:a16="http://schemas.microsoft.com/office/drawing/2014/main" id="{264CBCEF-F979-4B2F-2707-AFE31FED173B}"/>
              </a:ext>
            </a:extLst>
          </p:cNvPr>
          <p:cNvSpPr txBox="1"/>
          <p:nvPr/>
        </p:nvSpPr>
        <p:spPr>
          <a:xfrm>
            <a:off x="4366260" y="3366917"/>
            <a:ext cx="53909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400" noProof="0" dirty="0">
                <a:solidFill>
                  <a:schemeClr val="accent5"/>
                </a:solidFill>
              </a:rPr>
              <a:t>Visita de supervisión ampliada para evaluar el Gobierno Corporativo</a:t>
            </a:r>
            <a:endParaRPr lang="es-SV" sz="1400" noProof="0" dirty="0"/>
          </a:p>
        </p:txBody>
      </p:sp>
      <p:sp>
        <p:nvSpPr>
          <p:cNvPr id="79" name="Resumen Anexo A 2026"/>
          <p:cNvSpPr txBox="1"/>
          <p:nvPr/>
        </p:nvSpPr>
        <p:spPr>
          <a:xfrm>
            <a:off x="7406640" y="4919472"/>
            <a:ext cx="40965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D7A4B"/>
                </a:solidFill>
              </a:rPr>
              <a:t>Descargos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586579"/>
                </a:solidFill>
              </a:rPr>
              <a:t>Plazo de 10 días hábiles  ·  vence aprox.  </a:t>
            </a:r>
            <a:r>
              <a:rPr sz="1050" b="1">
                <a:solidFill>
                  <a:srgbClr val="142033"/>
                </a:solidFill>
              </a:rPr>
              <a:t>23/10/2026</a:t>
            </a:r>
            <a:r>
              <a:rPr sz="1050" b="0">
                <a:solidFill>
                  <a:srgbClr val="586579"/>
                </a:solidFill>
              </a:rPr>
              <a:t/>
            </a:r>
            <a:r>
              <a:rPr sz="1050" b="1">
                <a:solidFill>
                  <a:srgbClr val="142033"/>
                </a:solidFill>
              </a:rPr>
              <a:t/>
            </a:r>
          </a:p>
        </p:txBody>
      </p:sp>
      <p:cxnSp>
        <p:nvCxnSpPr>
          <p:cNvPr id="80" name="Separador anexos 2026"/>
          <p:cNvCxnSpPr/>
          <p:nvPr/>
        </p:nvCxnSpPr>
        <p:spPr>
          <a:xfrm>
            <a:off x="7406640" y="5541264"/>
            <a:ext cx="4096512" cy="0"/>
          </a:xfrm>
          <a:prstGeom prst="line">
            <a:avLst/>
          </a:prstGeom>
          <a:ln w="9525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sumen Anexo B 2026"/>
          <p:cNvSpPr txBox="1"/>
          <p:nvPr/>
        </p:nvSpPr>
        <p:spPr>
          <a:xfrm>
            <a:off x="7406640" y="5632704"/>
            <a:ext cx="40965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42318"/>
                </a:solidFill>
              </a:rPr>
              <a:t>Obs. 3 y 5 de 2025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586579"/>
                </a:solidFill>
              </a:rPr>
              <a:t>Plan de solución en 15 días hábiles  ·  vence aprox.  </a:t>
            </a:r>
            <a:r>
              <a:rPr sz="1050" b="1">
                <a:solidFill>
                  <a:srgbClr val="142033"/>
                </a:solidFill>
              </a:rPr>
              <a:t>30/10/2026</a:t>
            </a:r>
          </a:p>
        </p:txBody>
      </p:sp>
      <p:sp>
        <p:nvSpPr>
          <p:cNvPr id="82" name="Resumen resultados 2025"/>
          <p:cNvSpPr txBox="1"/>
          <p:nvPr/>
        </p:nvSpPr>
        <p:spPr>
          <a:xfrm>
            <a:off x="7406640" y="1901952"/>
            <a:ext cx="40965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73A6E"/>
                </a:solidFill>
              </a:rPr>
              <a:t>9 observaciones</a:t>
            </a:r>
          </a:p>
        </p:txBody>
      </p:sp>
      <p:sp>
        <p:nvSpPr>
          <p:cNvPr id="83" name="Lista observaciones 2025-0"/>
          <p:cNvSpPr txBox="1"/>
          <p:nvPr/>
        </p:nvSpPr>
        <p:spPr>
          <a:xfrm>
            <a:off x="7406640" y="2240280"/>
            <a:ext cx="20848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1  </a:t>
            </a:r>
            <a:r>
              <a:rPr sz="950">
                <a:solidFill>
                  <a:srgbClr val="142033"/>
                </a:solidFill>
              </a:rPr>
              <a:t>Política de Operaciones Vinculadas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2  </a:t>
            </a:r>
            <a:r>
              <a:rPr sz="950">
                <a:solidFill>
                  <a:srgbClr val="142033"/>
                </a:solidFill>
              </a:rPr>
              <a:t>Confidencialidad e inducción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3  </a:t>
            </a:r>
            <a:r>
              <a:rPr sz="950">
                <a:solidFill>
                  <a:srgbClr val="142033"/>
                </a:solidFill>
              </a:rPr>
              <a:t>Integración de Comités de Apoyo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4  </a:t>
            </a:r>
            <a:r>
              <a:rPr sz="950">
                <a:solidFill>
                  <a:srgbClr val="142033"/>
                </a:solidFill>
              </a:rPr>
              <a:t>Pago de dietas a directivos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5  </a:t>
            </a:r>
            <a:r>
              <a:rPr sz="950">
                <a:solidFill>
                  <a:srgbClr val="142033"/>
                </a:solidFill>
              </a:rPr>
              <a:t>Normativa interna desactualizada</a:t>
            </a:r>
          </a:p>
        </p:txBody>
      </p:sp>
      <p:sp>
        <p:nvSpPr>
          <p:cNvPr id="84" name="Lista observaciones 2025-1"/>
          <p:cNvSpPr txBox="1"/>
          <p:nvPr/>
        </p:nvSpPr>
        <p:spPr>
          <a:xfrm>
            <a:off x="9528048" y="2240280"/>
            <a:ext cx="208483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6  </a:t>
            </a:r>
            <a:r>
              <a:rPr sz="950">
                <a:solidFill>
                  <a:srgbClr val="142033"/>
                </a:solidFill>
              </a:rPr>
              <a:t>Soporte de Ferias de Créditos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7  </a:t>
            </a:r>
            <a:r>
              <a:rPr sz="950">
                <a:solidFill>
                  <a:srgbClr val="142033"/>
                </a:solidFill>
              </a:rPr>
              <a:t>Declaración jurada (NRP-75)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8  </a:t>
            </a:r>
            <a:r>
              <a:rPr sz="950">
                <a:solidFill>
                  <a:srgbClr val="142033"/>
                </a:solidFill>
              </a:rPr>
              <a:t>Procedimientos del Manual de Compras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73A6E"/>
                </a:solidFill>
              </a:rPr>
              <a:t>9  </a:t>
            </a:r>
            <a:r>
              <a:rPr sz="950">
                <a:solidFill>
                  <a:srgbClr val="142033"/>
                </a:solidFill>
              </a:rPr>
              <a:t>Uso del Fondo de Educación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CIRCULAR DS-SABAO-BCS-BC-17003 · VISITA CON CORTE AL 30/04/2025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Observaciones 2025</a:t>
            </a:r>
            <a:endParaRPr lang="en-US" sz="3000" dirty="0"/>
          </a:p>
        </p:txBody>
      </p:sp>
      <p:sp>
        <p:nvSpPr>
          <p:cNvPr id="4" name="Leyenda 2025 punto"/>
          <p:cNvSpPr/>
          <p:nvPr/>
        </p:nvSpPr>
        <p:spPr>
          <a:xfrm>
            <a:off x="8549640" y="84124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Leyenda 2025"/>
          <p:cNvSpPr txBox="1"/>
          <p:nvPr/>
        </p:nvSpPr>
        <p:spPr>
          <a:xfrm>
            <a:off x="8769096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Observación 2025</a:t>
            </a:r>
            <a:endParaRPr lang="en-US" sz="1100" dirty="0"/>
          </a:p>
        </p:txBody>
      </p:sp>
      <p:sp>
        <p:nvSpPr>
          <p:cNvPr id="6" name="Leyenda abierta punto"/>
          <p:cNvSpPr/>
          <p:nvPr/>
        </p:nvSpPr>
        <p:spPr>
          <a:xfrm>
            <a:off x="9921240" y="84124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7" name="Leyenda abierta"/>
          <p:cNvSpPr txBox="1"/>
          <p:nvPr/>
        </p:nvSpPr>
        <p:spPr>
          <a:xfrm>
            <a:off x="10140696" y="777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En seguimiento SSF 2026</a:t>
            </a:r>
            <a:endParaRPr lang="en-US" sz="1100" dirty="0"/>
          </a:p>
        </p:txBody>
      </p:sp>
      <p:sp>
        <p:nvSpPr>
          <p:cNvPr id="8" name="Observación 2025-1"/>
          <p:cNvSpPr/>
          <p:nvPr/>
        </p:nvSpPr>
        <p:spPr>
          <a:xfrm>
            <a:off x="548640" y="132588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Número 2025-1 círculo"/>
          <p:cNvSpPr/>
          <p:nvPr/>
        </p:nvSpPr>
        <p:spPr>
          <a:xfrm>
            <a:off x="713232" y="14538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0" name="Número 2025-1"/>
          <p:cNvSpPr txBox="1"/>
          <p:nvPr/>
        </p:nvSpPr>
        <p:spPr>
          <a:xfrm>
            <a:off x="713232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ítulo 2025-1"/>
          <p:cNvSpPr txBox="1"/>
          <p:nvPr/>
        </p:nvSpPr>
        <p:spPr>
          <a:xfrm>
            <a:off x="713232" y="191109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3A6E"/>
                </a:solidFill>
              </a:rPr>
              <a:t>La Entidad no cuenta con una Política de Operaciones Vinculadas</a:t>
            </a:r>
            <a:endParaRPr lang="en-US" sz="1250" dirty="0"/>
          </a:p>
        </p:txBody>
      </p:sp>
      <p:sp>
        <p:nvSpPr>
          <p:cNvPr id="12" name="Detalle 2025-1"/>
          <p:cNvSpPr txBox="1"/>
          <p:nvPr/>
        </p:nvSpPr>
        <p:spPr>
          <a:xfrm>
            <a:off x="713232" y="242316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Se creó la Política de Operaciones Vinculadas y Relacionadas en sesión del Consejo de Administración (Acta 2623, 12/01/2026)</a:t>
            </a:r>
            <a:endParaRPr lang="en-US" sz="1000" dirty="0"/>
          </a:p>
        </p:txBody>
      </p:sp>
      <p:sp>
        <p:nvSpPr>
          <p:cNvPr id="13" name="Observación 2025-2"/>
          <p:cNvSpPr/>
          <p:nvPr/>
        </p:nvSpPr>
        <p:spPr>
          <a:xfrm>
            <a:off x="4292498" y="132588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4" name="Número 2025-2 círculo"/>
          <p:cNvSpPr/>
          <p:nvPr/>
        </p:nvSpPr>
        <p:spPr>
          <a:xfrm>
            <a:off x="4457090" y="145389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5" name="Número 2025-2"/>
          <p:cNvSpPr txBox="1"/>
          <p:nvPr/>
        </p:nvSpPr>
        <p:spPr>
          <a:xfrm>
            <a:off x="4457090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ítulo 2025-2"/>
          <p:cNvSpPr txBox="1"/>
          <p:nvPr/>
        </p:nvSpPr>
        <p:spPr>
          <a:xfrm>
            <a:off x="4457090" y="191109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73A6E"/>
                </a:solidFill>
              </a:rPr>
              <a:t>No se tuvo evidencia de la firma del acuerdo de confidencialidad de los nuevos miembros de Consejo de Administración, Junta de Vigilancia y Comités ni se programó las fechas de inducción en la primera sesión del Consejo de Administración</a:t>
            </a:r>
            <a:endParaRPr lang="en-US" sz="1250" dirty="0"/>
          </a:p>
        </p:txBody>
      </p:sp>
      <p:sp>
        <p:nvSpPr>
          <p:cNvPr id="17" name="Detalle 2025-2"/>
          <p:cNvSpPr txBox="1"/>
          <p:nvPr/>
        </p:nvSpPr>
        <p:spPr>
          <a:xfrm>
            <a:off x="4457090" y="242316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Acta 2579 (28/04/2025): se derogó el convenio de confidencialidad</a:t>
            </a:r>
            <a:endParaRPr lang="en-US" sz="1000" dirty="0"/>
          </a:p>
        </p:txBody>
      </p:sp>
      <p:sp>
        <p:nvSpPr>
          <p:cNvPr id="18" name="Observación 2025-3"/>
          <p:cNvSpPr/>
          <p:nvPr/>
        </p:nvSpPr>
        <p:spPr>
          <a:xfrm>
            <a:off x="8036357" y="132588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9" name="Número 2025-3 círculo"/>
          <p:cNvSpPr/>
          <p:nvPr/>
        </p:nvSpPr>
        <p:spPr>
          <a:xfrm>
            <a:off x="8200949" y="1453896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0" name="Número 2025-3"/>
          <p:cNvSpPr txBox="1"/>
          <p:nvPr/>
        </p:nvSpPr>
        <p:spPr>
          <a:xfrm>
            <a:off x="8200949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ítulo 2025-3"/>
          <p:cNvSpPr txBox="1"/>
          <p:nvPr/>
        </p:nvSpPr>
        <p:spPr>
          <a:xfrm>
            <a:off x="8200949" y="191109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3A6E"/>
                </a:solidFill>
              </a:rPr>
              <a:t>Comités de Junta Directiva y Comités de Apoyo no cumplen con las especificaciones establecidas en el literal h) del Art. 3 de las Normas NRP-17</a:t>
            </a:r>
            <a:endParaRPr lang="en-US" sz="1250" dirty="0"/>
          </a:p>
        </p:txBody>
      </p:sp>
      <p:sp>
        <p:nvSpPr>
          <p:cNvPr id="22" name="Detalle 2025-3"/>
          <p:cNvSpPr txBox="1"/>
          <p:nvPr/>
        </p:nvSpPr>
        <p:spPr>
          <a:xfrm>
            <a:off x="8200949" y="242316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Integración sustentada en Estatutos (arts. 61 y 73)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3"/>
                </a:solidFill>
              </a:rPr>
              <a:t>↳ Seguimiento 2026: NO SUPERADA</a:t>
            </a:r>
            <a:endParaRPr lang="en-US" sz="1000" dirty="0"/>
          </a:p>
        </p:txBody>
      </p:sp>
      <p:sp>
        <p:nvSpPr>
          <p:cNvPr id="23" name="Observación 2025-4"/>
          <p:cNvSpPr/>
          <p:nvPr/>
        </p:nvSpPr>
        <p:spPr>
          <a:xfrm>
            <a:off x="548640" y="306324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4" name="Número 2025-4 círculo"/>
          <p:cNvSpPr/>
          <p:nvPr/>
        </p:nvSpPr>
        <p:spPr>
          <a:xfrm>
            <a:off x="713232" y="319125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5" name="Número 2025-4"/>
          <p:cNvSpPr txBox="1"/>
          <p:nvPr/>
        </p:nvSpPr>
        <p:spPr>
          <a:xfrm>
            <a:off x="713232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ítulo 2025-4"/>
          <p:cNvSpPr txBox="1"/>
          <p:nvPr/>
        </p:nvSpPr>
        <p:spPr>
          <a:xfrm>
            <a:off x="713232" y="364845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73A6E"/>
                </a:solidFill>
              </a:rPr>
              <a:t>Inconsistencia entre el pago de dietas establecido en el Reglamento de Compensaciones Económicas para Directivos y lo informado a la Asamblea General de Asociados en los puntos varios</a:t>
            </a:r>
            <a:endParaRPr lang="en-US" sz="1250" dirty="0"/>
          </a:p>
        </p:txBody>
      </p:sp>
      <p:sp>
        <p:nvSpPr>
          <p:cNvPr id="27" name="Detalle 2025-4"/>
          <p:cNvSpPr txBox="1"/>
          <p:nvPr/>
        </p:nvSpPr>
        <p:spPr>
          <a:xfrm>
            <a:off x="713232" y="416052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Fue aprobada la modificación al Reglamento de Compensaciones Económicas para Directivos</a:t>
            </a:r>
            <a:endParaRPr lang="en-US" sz="1000" dirty="0"/>
          </a:p>
        </p:txBody>
      </p:sp>
      <p:sp>
        <p:nvSpPr>
          <p:cNvPr id="28" name="Observación 2025-5"/>
          <p:cNvSpPr/>
          <p:nvPr/>
        </p:nvSpPr>
        <p:spPr>
          <a:xfrm>
            <a:off x="4292498" y="306324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9" name="Número 2025-5 círculo"/>
          <p:cNvSpPr/>
          <p:nvPr/>
        </p:nvSpPr>
        <p:spPr>
          <a:xfrm>
            <a:off x="4457090" y="3191256"/>
            <a:ext cx="347472" cy="3474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0" name="Número 2025-5"/>
          <p:cNvSpPr txBox="1"/>
          <p:nvPr/>
        </p:nvSpPr>
        <p:spPr>
          <a:xfrm>
            <a:off x="445709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ítulo 2025-5"/>
          <p:cNvSpPr txBox="1"/>
          <p:nvPr/>
        </p:nvSpPr>
        <p:spPr>
          <a:xfrm>
            <a:off x="4457090" y="373989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3A6E"/>
                </a:solidFill>
              </a:rPr>
              <a:t>Normativa interna desactualizada</a:t>
            </a:r>
            <a:endParaRPr lang="en-US" sz="1250" dirty="0"/>
          </a:p>
        </p:txBody>
      </p:sp>
      <p:sp>
        <p:nvSpPr>
          <p:cNvPr id="32" name="Detalle 2025-5"/>
          <p:cNvSpPr txBox="1"/>
          <p:nvPr/>
        </p:nvSpPr>
        <p:spPr>
          <a:xfrm>
            <a:off x="4457090" y="416052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3 de 9 documentos están desactualizados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3"/>
                </a:solidFill>
              </a:rPr>
              <a:t>↳ Seguimiento 2026: PARCIALMENTE SUPERADA</a:t>
            </a:r>
            <a:endParaRPr lang="en-US" sz="1000" dirty="0"/>
          </a:p>
        </p:txBody>
      </p:sp>
      <p:sp>
        <p:nvSpPr>
          <p:cNvPr id="33" name="Observación 2025-6"/>
          <p:cNvSpPr/>
          <p:nvPr/>
        </p:nvSpPr>
        <p:spPr>
          <a:xfrm>
            <a:off x="8036357" y="306324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4" name="Número 2025-6 círculo"/>
          <p:cNvSpPr/>
          <p:nvPr/>
        </p:nvSpPr>
        <p:spPr>
          <a:xfrm>
            <a:off x="8200949" y="319125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5" name="Número 2025-6"/>
          <p:cNvSpPr txBox="1"/>
          <p:nvPr/>
        </p:nvSpPr>
        <p:spPr>
          <a:xfrm>
            <a:off x="8200949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ítulo 2025-6"/>
          <p:cNvSpPr txBox="1"/>
          <p:nvPr/>
        </p:nvSpPr>
        <p:spPr>
          <a:xfrm>
            <a:off x="8200949" y="364845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3A6E"/>
                </a:solidFill>
              </a:rPr>
              <a:t>Falta de documentación soporte en los expedientes de créditos otorgados mediante Ferias de Créditos</a:t>
            </a:r>
            <a:endParaRPr lang="en-US" sz="1250" dirty="0"/>
          </a:p>
        </p:txBody>
      </p:sp>
      <p:sp>
        <p:nvSpPr>
          <p:cNvPr id="37" name="Detalle 2025-6"/>
          <p:cNvSpPr txBox="1"/>
          <p:nvPr/>
        </p:nvSpPr>
        <p:spPr>
          <a:xfrm>
            <a:off x="8200949" y="416052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Se evidenció el otorgamiento de los créditos con la resolución y la referencia de la feria de créditos sobre la cual se aprobaron, y se ha dado cumplimiento con base en el Acuerdo del Consejo de Administración que lo autoriza</a:t>
            </a:r>
            <a:endParaRPr lang="en-US" sz="1000" dirty="0"/>
          </a:p>
        </p:txBody>
      </p:sp>
      <p:sp>
        <p:nvSpPr>
          <p:cNvPr id="38" name="Observación 2025-7"/>
          <p:cNvSpPr/>
          <p:nvPr/>
        </p:nvSpPr>
        <p:spPr>
          <a:xfrm>
            <a:off x="548640" y="480060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9" name="Número 2025-7 círculo"/>
          <p:cNvSpPr/>
          <p:nvPr/>
        </p:nvSpPr>
        <p:spPr>
          <a:xfrm>
            <a:off x="713232" y="492861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0" name="Número 2025-7"/>
          <p:cNvSpPr txBox="1"/>
          <p:nvPr/>
        </p:nvSpPr>
        <p:spPr>
          <a:xfrm>
            <a:off x="713232" y="4928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ítulo 2025-7"/>
          <p:cNvSpPr txBox="1"/>
          <p:nvPr/>
        </p:nvSpPr>
        <p:spPr>
          <a:xfrm>
            <a:off x="713232" y="538581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3A6E"/>
                </a:solidFill>
              </a:rPr>
              <a:t>Falta de información obligatoria en la declaración jurada de personas relacionadas conforme a lo dispuesto en el Art. 9 de las Normas NRP-75</a:t>
            </a:r>
            <a:endParaRPr lang="en-US" sz="1250" dirty="0"/>
          </a:p>
        </p:txBody>
      </p:sp>
      <p:sp>
        <p:nvSpPr>
          <p:cNvPr id="42" name="Detalle 2025-7"/>
          <p:cNvSpPr txBox="1"/>
          <p:nvPr/>
        </p:nvSpPr>
        <p:spPr>
          <a:xfrm>
            <a:off x="713232" y="589788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En enero de 2025 se remitieron las declaraciones juradas de los miembros del Consejo de Administración y del equipo gerencial, conforme a la normativa vigente</a:t>
            </a:r>
            <a:endParaRPr lang="en-US" sz="1000" dirty="0"/>
          </a:p>
        </p:txBody>
      </p:sp>
      <p:sp>
        <p:nvSpPr>
          <p:cNvPr id="43" name="Observación 2025-8"/>
          <p:cNvSpPr/>
          <p:nvPr/>
        </p:nvSpPr>
        <p:spPr>
          <a:xfrm>
            <a:off x="4292498" y="480060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4" name="Número 2025-8 círculo"/>
          <p:cNvSpPr/>
          <p:nvPr/>
        </p:nvSpPr>
        <p:spPr>
          <a:xfrm>
            <a:off x="4457090" y="492861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5" name="Número 2025-8"/>
          <p:cNvSpPr txBox="1"/>
          <p:nvPr/>
        </p:nvSpPr>
        <p:spPr>
          <a:xfrm>
            <a:off x="4457090" y="4928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ítulo 2025-8"/>
          <p:cNvSpPr txBox="1"/>
          <p:nvPr/>
        </p:nvSpPr>
        <p:spPr>
          <a:xfrm>
            <a:off x="4457090" y="538581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3A6E"/>
                </a:solidFill>
              </a:rPr>
              <a:t>Falta de aplicación de procedimientos internos establecidos en el Manual de Compras de Bienes y Servicios</a:t>
            </a:r>
            <a:endParaRPr lang="en-US" sz="1250" dirty="0"/>
          </a:p>
        </p:txBody>
      </p:sp>
      <p:sp>
        <p:nvSpPr>
          <p:cNvPr id="47" name="Detalle 2025-8"/>
          <p:cNvSpPr txBox="1"/>
          <p:nvPr/>
        </p:nvSpPr>
        <p:spPr>
          <a:xfrm>
            <a:off x="4457090" y="589788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Las compras fueron debidamente autorizadas y respaldadas, se incorporó la documentación faltante y se fortaleció la revisión jurídica de contratos, según los Anexos 10 al 13</a:t>
            </a:r>
            <a:endParaRPr lang="en-US" sz="1000" dirty="0"/>
          </a:p>
        </p:txBody>
      </p:sp>
      <p:sp>
        <p:nvSpPr>
          <p:cNvPr id="48" name="Observación 2025-9"/>
          <p:cNvSpPr/>
          <p:nvPr/>
        </p:nvSpPr>
        <p:spPr>
          <a:xfrm>
            <a:off x="8036357" y="4800600"/>
            <a:ext cx="3606698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9" name="Número 2025-9 círculo"/>
          <p:cNvSpPr/>
          <p:nvPr/>
        </p:nvSpPr>
        <p:spPr>
          <a:xfrm>
            <a:off x="8200949" y="4928616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0" name="Número 2025-9"/>
          <p:cNvSpPr txBox="1"/>
          <p:nvPr/>
        </p:nvSpPr>
        <p:spPr>
          <a:xfrm>
            <a:off x="8200949" y="4928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51" name="Título 2025-9"/>
          <p:cNvSpPr txBox="1"/>
          <p:nvPr/>
        </p:nvSpPr>
        <p:spPr>
          <a:xfrm>
            <a:off x="8200949" y="5385816"/>
            <a:ext cx="327751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3A6E"/>
                </a:solidFill>
              </a:rPr>
              <a:t>Utilización del Fondo de Educación con fines distintos a los establecidos en el marco legal</a:t>
            </a:r>
            <a:endParaRPr lang="en-US" sz="1250" dirty="0"/>
          </a:p>
        </p:txBody>
      </p:sp>
      <p:sp>
        <p:nvSpPr>
          <p:cNvPr id="52" name="Detalle 2025-9"/>
          <p:cNvSpPr txBox="1"/>
          <p:nvPr/>
        </p:nvSpPr>
        <p:spPr>
          <a:xfrm>
            <a:off x="8200949" y="5897880"/>
            <a:ext cx="327751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chemeClr val="accent5"/>
                </a:solidFill>
              </a:rPr>
              <a:t>Descargo  </a:t>
            </a:r>
            <a:r>
              <a:rPr lang="en-US" sz="900" dirty="0">
                <a:solidFill>
                  <a:schemeClr val="tx1"/>
                </a:solidFill>
              </a:rPr>
              <a:t>El Consejo de Administración suspendió el Comité Sociocultural (Acta 2576 de fecha 7 de abril de 2025)</a:t>
            </a:r>
            <a:endParaRPr lang="en-US" sz="10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1" name="Responsable 2025-1"/>
          <p:cNvSpPr txBox="1"/>
          <p:nvPr/>
        </p:nvSpPr>
        <p:spPr>
          <a:xfrm>
            <a:off x="1170432" y="1417320"/>
            <a:ext cx="2829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General / Jefe de Administración de Riesgos</a:t>
            </a:r>
            <a:endParaRPr lang="en-US" sz="1250" dirty="0"/>
          </a:p>
        </p:txBody>
      </p:sp>
      <p:sp>
        <p:nvSpPr>
          <p:cNvPr id="16" name="Responsable 2025-2"/>
          <p:cNvSpPr txBox="1"/>
          <p:nvPr/>
        </p:nvSpPr>
        <p:spPr>
          <a:xfrm>
            <a:off x="4914290" y="1417320"/>
            <a:ext cx="2829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General / Jefe de Administración de Riesgos</a:t>
            </a:r>
            <a:endParaRPr lang="en-US" sz="1250" dirty="0"/>
          </a:p>
        </p:txBody>
      </p:sp>
      <p:sp>
        <p:nvSpPr>
          <p:cNvPr id="21" name="Responsable 2025-3"/>
          <p:cNvSpPr txBox="1"/>
          <p:nvPr/>
        </p:nvSpPr>
        <p:spPr>
          <a:xfrm>
            <a:off x="8658149" y="1417320"/>
            <a:ext cx="2829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General / Jefe de Administración de Riesgos</a:t>
            </a:r>
            <a:endParaRPr lang="en-US" sz="1250" dirty="0"/>
          </a:p>
        </p:txBody>
      </p:sp>
      <p:sp>
        <p:nvSpPr>
          <p:cNvPr id="26" name="Responsable 2025-4"/>
          <p:cNvSpPr txBox="1"/>
          <p:nvPr/>
        </p:nvSpPr>
        <p:spPr>
          <a:xfrm>
            <a:off x="1170432" y="3154680"/>
            <a:ext cx="2829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General / Jefe de Administración de Riesgos</a:t>
            </a:r>
            <a:endParaRPr lang="en-US" sz="1250" dirty="0"/>
          </a:p>
        </p:txBody>
      </p:sp>
      <p:sp>
        <p:nvSpPr>
          <p:cNvPr id="31" name="Responsable 2025-5"/>
          <p:cNvSpPr txBox="1"/>
          <p:nvPr/>
        </p:nvSpPr>
        <p:spPr>
          <a:xfrm>
            <a:off x="4914290" y="3108960"/>
            <a:ext cx="282945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General / Jefe de Administración de Riesgos, Auditoría Interna, Gerencia de Finanzas, Seguridad de la Información y Gerencia Administrativa</a:t>
            </a:r>
            <a:endParaRPr lang="en-US" sz="1250" dirty="0"/>
          </a:p>
        </p:txBody>
      </p:sp>
      <p:sp>
        <p:nvSpPr>
          <p:cNvPr id="36" name="Responsable 2025-6"/>
          <p:cNvSpPr txBox="1"/>
          <p:nvPr/>
        </p:nvSpPr>
        <p:spPr>
          <a:xfrm>
            <a:off x="8658149" y="3154680"/>
            <a:ext cx="2829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de Negocios / Administración de Cartera</a:t>
            </a:r>
            <a:endParaRPr lang="en-US" sz="1250" dirty="0"/>
          </a:p>
        </p:txBody>
      </p:sp>
      <p:sp>
        <p:nvSpPr>
          <p:cNvPr id="41" name="Responsable 2025-7"/>
          <p:cNvSpPr txBox="1"/>
          <p:nvPr/>
        </p:nvSpPr>
        <p:spPr>
          <a:xfrm>
            <a:off x="1170432" y="4892040"/>
            <a:ext cx="2829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General / Jefe de Administración de Riesgos</a:t>
            </a:r>
            <a:endParaRPr lang="en-US" sz="1250" dirty="0"/>
          </a:p>
        </p:txBody>
      </p:sp>
      <p:sp>
        <p:nvSpPr>
          <p:cNvPr id="46" name="Responsable 2025-8"/>
          <p:cNvSpPr txBox="1"/>
          <p:nvPr/>
        </p:nvSpPr>
        <p:spPr>
          <a:xfrm>
            <a:off x="4914290" y="4892040"/>
            <a:ext cx="2829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Administrativa</a:t>
            </a:r>
            <a:endParaRPr lang="en-US" sz="1250" dirty="0"/>
          </a:p>
        </p:txBody>
      </p:sp>
      <p:sp>
        <p:nvSpPr>
          <p:cNvPr id="51" name="Responsable 2025-9"/>
          <p:cNvSpPr txBox="1"/>
          <p:nvPr/>
        </p:nvSpPr>
        <p:spPr>
          <a:xfrm>
            <a:off x="8658149" y="4892040"/>
            <a:ext cx="28294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86579"/>
                </a:solidFill>
              </a:rPr>
              <a:t>RESPONSABLE</a:t>
            </a:r>
            <a:endParaRPr lang="en-US" sz="1250" dirty="0"/>
          </a:p>
          <a:p>
            <a:pPr marL="0" indent="0">
              <a:buNone/>
            </a:pPr>
            <a:r>
              <a:rPr lang="en-US" sz="900" b="0" dirty="0">
                <a:solidFill>
                  <a:srgbClr val="142033"/>
                </a:solidFill>
              </a:rPr>
              <a:t>Gerencia General / Jefe de Administración de Riesgos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CIRCULAR DS-SABAO-BCS-BC-22741 · VISITA CON CORTE AL 31/07/2026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Observaciones 2026</a:t>
            </a:r>
            <a:endParaRPr lang="en-US" sz="3000" dirty="0"/>
          </a:p>
        </p:txBody>
      </p:sp>
      <p:sp>
        <p:nvSpPr>
          <p:cNvPr id="4" name="Leyenda A punto"/>
          <p:cNvSpPr/>
          <p:nvPr/>
        </p:nvSpPr>
        <p:spPr>
          <a:xfrm>
            <a:off x="8046720" y="84124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Leyenda A"/>
          <p:cNvSpPr txBox="1"/>
          <p:nvPr/>
        </p:nvSpPr>
        <p:spPr>
          <a:xfrm>
            <a:off x="8266176" y="777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Anexo A · nuevas</a:t>
            </a:r>
            <a:endParaRPr lang="en-US" sz="1100" dirty="0"/>
          </a:p>
        </p:txBody>
      </p:sp>
      <p:sp>
        <p:nvSpPr>
          <p:cNvPr id="6" name="Leyenda B punto"/>
          <p:cNvSpPr/>
          <p:nvPr/>
        </p:nvSpPr>
        <p:spPr>
          <a:xfrm>
            <a:off x="9646920" y="84124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7" name="Leyenda B"/>
          <p:cNvSpPr txBox="1"/>
          <p:nvPr/>
        </p:nvSpPr>
        <p:spPr>
          <a:xfrm>
            <a:off x="9866376" y="777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Anexo B · seguimiento 2025</a:t>
            </a:r>
            <a:endParaRPr lang="en-US" sz="1100" dirty="0"/>
          </a:p>
        </p:txBody>
      </p:sp>
      <p:sp>
        <p:nvSpPr>
          <p:cNvPr id="8" name="Etiqueta Anexo A"/>
          <p:cNvSpPr txBox="1"/>
          <p:nvPr/>
        </p:nvSpPr>
        <p:spPr>
          <a:xfrm>
            <a:off x="548640" y="1280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ANEXO A · OBSERVACIONES NUEVAS DETERMINADAS EN LA VISITA 2026</a:t>
            </a:r>
            <a:endParaRPr lang="en-US" sz="1100" dirty="0"/>
          </a:p>
        </p:txBody>
      </p:sp>
      <p:sp>
        <p:nvSpPr>
          <p:cNvPr id="9" name="Anexo A-1"/>
          <p:cNvSpPr/>
          <p:nvPr/>
        </p:nvSpPr>
        <p:spPr>
          <a:xfrm>
            <a:off x="548640" y="1572768"/>
            <a:ext cx="2691308" cy="1444752"/>
          </a:xfrm>
          <a:prstGeom prst="roundRect">
            <a:avLst>
              <a:gd name="adj" fmla="val 6329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0" name="Número A-1 círculo"/>
          <p:cNvSpPr/>
          <p:nvPr/>
        </p:nvSpPr>
        <p:spPr>
          <a:xfrm>
            <a:off x="694944" y="17007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Número A-1"/>
          <p:cNvSpPr txBox="1"/>
          <p:nvPr/>
        </p:nvSpPr>
        <p:spPr>
          <a:xfrm>
            <a:off x="694944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Responsable A-1"/>
          <p:cNvSpPr txBox="1"/>
          <p:nvPr/>
        </p:nvSpPr>
        <p:spPr>
          <a:xfrm>
            <a:off x="1115568" y="164592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Gerencia Financiera</a:t>
            </a:r>
            <a:endParaRPr lang="en-US" sz="1000" dirty="0"/>
          </a:p>
        </p:txBody>
      </p:sp>
      <p:sp>
        <p:nvSpPr>
          <p:cNvPr id="13" name="Título A-1"/>
          <p:cNvSpPr txBox="1"/>
          <p:nvPr/>
        </p:nvSpPr>
        <p:spPr>
          <a:xfrm>
            <a:off x="694944" y="2139696"/>
            <a:ext cx="2398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Falta de evidencia de inducción sobre las partidas relevantes de los estados financieros a nuevos miembros de los órganos de gobierno</a:t>
            </a:r>
            <a:endParaRPr lang="en-US" sz="1150" dirty="0"/>
          </a:p>
        </p:txBody>
      </p:sp>
      <p:sp>
        <p:nvSpPr>
          <p:cNvPr id="14" name="Respuesta A-1"/>
          <p:cNvSpPr txBox="1"/>
          <p:nvPr/>
        </p:nvSpPr>
        <p:spPr>
          <a:xfrm>
            <a:off x="694944" y="265176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i="1" dirty="0">
                <a:solidFill>
                  <a:schemeClr val="accent5"/>
                </a:solidFill>
              </a:rPr>
              <a:t>Respuesta: sin comentario en la matriz</a:t>
            </a:r>
            <a:endParaRPr lang="en-US" sz="950" dirty="0"/>
          </a:p>
        </p:txBody>
      </p:sp>
      <p:sp>
        <p:nvSpPr>
          <p:cNvPr id="15" name="Anexo A-2"/>
          <p:cNvSpPr/>
          <p:nvPr/>
        </p:nvSpPr>
        <p:spPr>
          <a:xfrm>
            <a:off x="3349676" y="1572768"/>
            <a:ext cx="2691308" cy="1444752"/>
          </a:xfrm>
          <a:prstGeom prst="roundRect">
            <a:avLst>
              <a:gd name="adj" fmla="val 6329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6" name="Número A-2 círculo"/>
          <p:cNvSpPr/>
          <p:nvPr/>
        </p:nvSpPr>
        <p:spPr>
          <a:xfrm>
            <a:off x="3495980" y="17007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7" name="Número A-2"/>
          <p:cNvSpPr txBox="1"/>
          <p:nvPr/>
        </p:nvSpPr>
        <p:spPr>
          <a:xfrm>
            <a:off x="3495980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Responsable A-2"/>
          <p:cNvSpPr txBox="1"/>
          <p:nvPr/>
        </p:nvSpPr>
        <p:spPr>
          <a:xfrm>
            <a:off x="3916604" y="164592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Gerencia de Oficialía de Cumplimiento</a:t>
            </a:r>
            <a:endParaRPr lang="en-US" sz="1000" dirty="0"/>
          </a:p>
        </p:txBody>
      </p:sp>
      <p:sp>
        <p:nvSpPr>
          <p:cNvPr id="19" name="Título A-2"/>
          <p:cNvSpPr txBox="1"/>
          <p:nvPr/>
        </p:nvSpPr>
        <p:spPr>
          <a:xfrm>
            <a:off x="3495980" y="2139696"/>
            <a:ext cx="2398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Falta de evidencia de Certificación de Lectura del Código de Conducta de miembros de Junta de Vigilancia y Comités de Apoyo</a:t>
            </a:r>
            <a:endParaRPr lang="en-US" sz="1150" dirty="0"/>
          </a:p>
        </p:txBody>
      </p:sp>
      <p:sp>
        <p:nvSpPr>
          <p:cNvPr id="20" name="Respuesta A-2"/>
          <p:cNvSpPr txBox="1"/>
          <p:nvPr/>
        </p:nvSpPr>
        <p:spPr>
          <a:xfrm>
            <a:off x="3495980" y="265176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i="1" dirty="0">
                <a:solidFill>
                  <a:schemeClr val="accent5"/>
                </a:solidFill>
              </a:rPr>
              <a:t>Respuesta: 6 de 7 certificaciones localizadas; se pide reconsiderar</a:t>
            </a:r>
            <a:endParaRPr lang="en-US" sz="950" dirty="0"/>
          </a:p>
        </p:txBody>
      </p:sp>
      <p:sp>
        <p:nvSpPr>
          <p:cNvPr id="21" name="Anexo A-3"/>
          <p:cNvSpPr/>
          <p:nvPr/>
        </p:nvSpPr>
        <p:spPr>
          <a:xfrm>
            <a:off x="6150712" y="1572768"/>
            <a:ext cx="2691308" cy="1444752"/>
          </a:xfrm>
          <a:prstGeom prst="roundRect">
            <a:avLst>
              <a:gd name="adj" fmla="val 6329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2" name="Número A-3 círculo"/>
          <p:cNvSpPr/>
          <p:nvPr/>
        </p:nvSpPr>
        <p:spPr>
          <a:xfrm>
            <a:off x="6297016" y="17007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3" name="Número A-3"/>
          <p:cNvSpPr txBox="1"/>
          <p:nvPr/>
        </p:nvSpPr>
        <p:spPr>
          <a:xfrm>
            <a:off x="6297016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Responsable A-3"/>
          <p:cNvSpPr txBox="1"/>
          <p:nvPr/>
        </p:nvSpPr>
        <p:spPr>
          <a:xfrm>
            <a:off x="6717640" y="164592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Talento Humano · Departamento de Procesos</a:t>
            </a:r>
            <a:endParaRPr lang="en-US" sz="1000" dirty="0"/>
          </a:p>
        </p:txBody>
      </p:sp>
      <p:sp>
        <p:nvSpPr>
          <p:cNvPr id="25" name="Título A-3"/>
          <p:cNvSpPr txBox="1"/>
          <p:nvPr/>
        </p:nvSpPr>
        <p:spPr>
          <a:xfrm>
            <a:off x="6297016" y="2139696"/>
            <a:ext cx="2398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Falta de formalización y aprobación de políticas por parte del Consejo de Administración</a:t>
            </a:r>
            <a:endParaRPr lang="en-US" sz="1150" dirty="0"/>
          </a:p>
        </p:txBody>
      </p:sp>
      <p:sp>
        <p:nvSpPr>
          <p:cNvPr id="26" name="Respuesta A-3"/>
          <p:cNvSpPr txBox="1"/>
          <p:nvPr/>
        </p:nvSpPr>
        <p:spPr>
          <a:xfrm>
            <a:off x="6297016" y="265176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i="1" dirty="0">
                <a:solidFill>
                  <a:schemeClr val="accent5"/>
                </a:solidFill>
              </a:rPr>
              <a:t>Respuesta: Se elaborará la Política de Retribución para aprobación del Consejo</a:t>
            </a:r>
            <a:endParaRPr lang="en-US" sz="950" dirty="0"/>
          </a:p>
        </p:txBody>
      </p:sp>
      <p:sp>
        <p:nvSpPr>
          <p:cNvPr id="27" name="Anexo A-4"/>
          <p:cNvSpPr/>
          <p:nvPr/>
        </p:nvSpPr>
        <p:spPr>
          <a:xfrm>
            <a:off x="8951747" y="1572768"/>
            <a:ext cx="2691308" cy="1444752"/>
          </a:xfrm>
          <a:prstGeom prst="roundRect">
            <a:avLst>
              <a:gd name="adj" fmla="val 6329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8" name="Número A-4 círculo"/>
          <p:cNvSpPr/>
          <p:nvPr/>
        </p:nvSpPr>
        <p:spPr>
          <a:xfrm>
            <a:off x="9098051" y="170078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9" name="Número A-4"/>
          <p:cNvSpPr txBox="1"/>
          <p:nvPr/>
        </p:nvSpPr>
        <p:spPr>
          <a:xfrm>
            <a:off x="9098051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Responsable A-4"/>
          <p:cNvSpPr txBox="1"/>
          <p:nvPr/>
        </p:nvSpPr>
        <p:spPr>
          <a:xfrm>
            <a:off x="9518675" y="164592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Administración de Riesgos</a:t>
            </a:r>
            <a:endParaRPr lang="en-US" sz="1000" dirty="0"/>
          </a:p>
        </p:txBody>
      </p:sp>
      <p:sp>
        <p:nvSpPr>
          <p:cNvPr id="31" name="Título A-4"/>
          <p:cNvSpPr txBox="1"/>
          <p:nvPr/>
        </p:nvSpPr>
        <p:spPr>
          <a:xfrm>
            <a:off x="9098051" y="2139696"/>
            <a:ext cx="2398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Información divulgada sobre los comités de apoyo no se encuentra actualizada ni alineada con el Código de Gobierno Corporativo vigente</a:t>
            </a:r>
            <a:endParaRPr lang="en-US" sz="1150" dirty="0"/>
          </a:p>
        </p:txBody>
      </p:sp>
      <p:sp>
        <p:nvSpPr>
          <p:cNvPr id="32" name="Respuesta A-4"/>
          <p:cNvSpPr txBox="1"/>
          <p:nvPr/>
        </p:nvSpPr>
        <p:spPr>
          <a:xfrm>
            <a:off x="9098051" y="265176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i="1" dirty="0">
                <a:solidFill>
                  <a:schemeClr val="accent5"/>
                </a:solidFill>
              </a:rPr>
              <a:t>Respuesta: sin comentario en la matriz</a:t>
            </a:r>
            <a:endParaRPr lang="en-US" sz="950" dirty="0"/>
          </a:p>
        </p:txBody>
      </p:sp>
      <p:sp>
        <p:nvSpPr>
          <p:cNvPr id="33" name="Anexo A-5"/>
          <p:cNvSpPr/>
          <p:nvPr/>
        </p:nvSpPr>
        <p:spPr>
          <a:xfrm>
            <a:off x="548640" y="3127248"/>
            <a:ext cx="2691308" cy="1444752"/>
          </a:xfrm>
          <a:prstGeom prst="roundRect">
            <a:avLst>
              <a:gd name="adj" fmla="val 6329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4" name="Número A-5 círculo"/>
          <p:cNvSpPr/>
          <p:nvPr/>
        </p:nvSpPr>
        <p:spPr>
          <a:xfrm>
            <a:off x="694944" y="325526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5" name="Número A-5"/>
          <p:cNvSpPr txBox="1"/>
          <p:nvPr/>
        </p:nvSpPr>
        <p:spPr>
          <a:xfrm>
            <a:off x="6949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Responsable A-5"/>
          <p:cNvSpPr txBox="1"/>
          <p:nvPr/>
        </p:nvSpPr>
        <p:spPr>
          <a:xfrm>
            <a:off x="1115568" y="320040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Gerencia General · Administración de Riesgos</a:t>
            </a:r>
            <a:endParaRPr lang="en-US" sz="1000" dirty="0"/>
          </a:p>
        </p:txBody>
      </p:sp>
      <p:sp>
        <p:nvSpPr>
          <p:cNvPr id="37" name="Título A-5"/>
          <p:cNvSpPr txBox="1"/>
          <p:nvPr/>
        </p:nvSpPr>
        <p:spPr>
          <a:xfrm>
            <a:off x="694944" y="3694176"/>
            <a:ext cx="2398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Incongruencia en las disposiciones internas para la integración de los Comités de Apoyo</a:t>
            </a:r>
            <a:endParaRPr lang="en-US" sz="1150" dirty="0"/>
          </a:p>
        </p:txBody>
      </p:sp>
      <p:sp>
        <p:nvSpPr>
          <p:cNvPr id="38" name="Respuesta A-5"/>
          <p:cNvSpPr txBox="1"/>
          <p:nvPr/>
        </p:nvSpPr>
        <p:spPr>
          <a:xfrm>
            <a:off x="694944" y="420624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i="1" dirty="0">
                <a:solidFill>
                  <a:schemeClr val="accent5"/>
                </a:solidFill>
              </a:rPr>
              <a:t>Respuesta: </a:t>
            </a:r>
            <a:endParaRPr lang="en-US" sz="950" dirty="0"/>
          </a:p>
        </p:txBody>
      </p:sp>
      <p:sp>
        <p:nvSpPr>
          <p:cNvPr id="39" name="Anexo A-6"/>
          <p:cNvSpPr/>
          <p:nvPr/>
        </p:nvSpPr>
        <p:spPr>
          <a:xfrm>
            <a:off x="3349676" y="3127248"/>
            <a:ext cx="2691308" cy="1444752"/>
          </a:xfrm>
          <a:prstGeom prst="roundRect">
            <a:avLst>
              <a:gd name="adj" fmla="val 6329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0" name="Número A-6 círculo"/>
          <p:cNvSpPr/>
          <p:nvPr/>
        </p:nvSpPr>
        <p:spPr>
          <a:xfrm>
            <a:off x="3495980" y="325526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1" name="Número A-6"/>
          <p:cNvSpPr txBox="1"/>
          <p:nvPr/>
        </p:nvSpPr>
        <p:spPr>
          <a:xfrm>
            <a:off x="34959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Responsable A-6"/>
          <p:cNvSpPr txBox="1"/>
          <p:nvPr/>
        </p:nvSpPr>
        <p:spPr>
          <a:xfrm>
            <a:off x="3916604" y="320040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Gerencia Administrativa · Jefe de Educación y Responsabilidad Social</a:t>
            </a:r>
            <a:endParaRPr lang="en-US" sz="1000" dirty="0"/>
          </a:p>
        </p:txBody>
      </p:sp>
      <p:sp>
        <p:nvSpPr>
          <p:cNvPr id="43" name="Título A-6"/>
          <p:cNvSpPr txBox="1"/>
          <p:nvPr/>
        </p:nvSpPr>
        <p:spPr>
          <a:xfrm>
            <a:off x="3495980" y="3694176"/>
            <a:ext cx="2398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La regulación interna del Fondo de Educación incorpora conceptos cuya relación con la finalidad prevista en la Ley no se encuentra suficientemente delimitada</a:t>
            </a:r>
            <a:endParaRPr lang="en-US" sz="1150" dirty="0"/>
          </a:p>
        </p:txBody>
      </p:sp>
      <p:sp>
        <p:nvSpPr>
          <p:cNvPr id="44" name="Respuesta A-6"/>
          <p:cNvSpPr txBox="1"/>
          <p:nvPr/>
        </p:nvSpPr>
        <p:spPr>
          <a:xfrm>
            <a:off x="3495980" y="420624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i="1" dirty="0">
                <a:solidFill>
                  <a:schemeClr val="accent5"/>
                </a:solidFill>
              </a:rPr>
              <a:t>Respuesta: Revisión integral del Reglamento del Fondo</a:t>
            </a:r>
            <a:endParaRPr lang="en-US" sz="950" dirty="0"/>
          </a:p>
        </p:txBody>
      </p:sp>
      <p:sp>
        <p:nvSpPr>
          <p:cNvPr id="45" name="Anexo A-7"/>
          <p:cNvSpPr/>
          <p:nvPr/>
        </p:nvSpPr>
        <p:spPr>
          <a:xfrm>
            <a:off x="6150712" y="3127248"/>
            <a:ext cx="2691308" cy="1444752"/>
          </a:xfrm>
          <a:prstGeom prst="roundRect">
            <a:avLst>
              <a:gd name="adj" fmla="val 6329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6" name="Número A-7 círculo"/>
          <p:cNvSpPr/>
          <p:nvPr/>
        </p:nvSpPr>
        <p:spPr>
          <a:xfrm>
            <a:off x="6297016" y="325526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7" name="Número A-7"/>
          <p:cNvSpPr txBox="1"/>
          <p:nvPr/>
        </p:nvSpPr>
        <p:spPr>
          <a:xfrm>
            <a:off x="6297016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Responsable A-7"/>
          <p:cNvSpPr txBox="1"/>
          <p:nvPr/>
        </p:nvSpPr>
        <p:spPr>
          <a:xfrm>
            <a:off x="6717640" y="3200400"/>
            <a:ext cx="2032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Gerencia Administrativa · Jefatura de Educación y Responsabilidad Social</a:t>
            </a:r>
            <a:endParaRPr lang="en-US" sz="1000" dirty="0"/>
          </a:p>
        </p:txBody>
      </p:sp>
      <p:sp>
        <p:nvSpPr>
          <p:cNvPr id="49" name="Título A-7"/>
          <p:cNvSpPr txBox="1"/>
          <p:nvPr/>
        </p:nvSpPr>
        <p:spPr>
          <a:xfrm>
            <a:off x="6297016" y="3694176"/>
            <a:ext cx="2398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</a:rPr>
              <a:t>Limitada transparencia en la información presentada a la Asamblea General Ordinaria de Asociados respecto del uso del Fondo de Educación</a:t>
            </a:r>
            <a:endParaRPr lang="en-US" sz="1150" dirty="0"/>
          </a:p>
        </p:txBody>
      </p:sp>
      <p:sp>
        <p:nvSpPr>
          <p:cNvPr id="50" name="Respuesta A-7"/>
          <p:cNvSpPr txBox="1"/>
          <p:nvPr/>
        </p:nvSpPr>
        <p:spPr>
          <a:xfrm>
            <a:off x="6297016" y="420624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i="1" dirty="0">
                <a:solidFill>
                  <a:schemeClr val="accent5"/>
                </a:solidFill>
              </a:rPr>
              <a:t>Respuesta: Memoria de Labores 2026 detallada</a:t>
            </a:r>
            <a:endParaRPr lang="en-US" sz="950" dirty="0"/>
          </a:p>
        </p:txBody>
      </p:sp>
      <p:sp>
        <p:nvSpPr>
          <p:cNvPr id="51" name="Plazo Anexo A"/>
          <p:cNvSpPr/>
          <p:nvPr/>
        </p:nvSpPr>
        <p:spPr>
          <a:xfrm>
            <a:off x="8951747" y="3127248"/>
            <a:ext cx="2691308" cy="1444752"/>
          </a:xfrm>
          <a:prstGeom prst="roundRect">
            <a:avLst>
              <a:gd name="adj" fmla="val 6329"/>
            </a:avLst>
          </a:prstGeom>
          <a:solidFill>
            <a:schemeClr val="accent2"/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2" name="Plazo A número"/>
          <p:cNvSpPr txBox="1"/>
          <p:nvPr/>
        </p:nvSpPr>
        <p:spPr>
          <a:xfrm>
            <a:off x="9134627" y="32186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53" name="Plazo A título"/>
          <p:cNvSpPr txBox="1"/>
          <p:nvPr/>
        </p:nvSpPr>
        <p:spPr>
          <a:xfrm>
            <a:off x="9957587" y="3264408"/>
            <a:ext cx="154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días hábiles para descargos</a:t>
            </a:r>
            <a:endParaRPr lang="en-US" sz="1200" dirty="0"/>
          </a:p>
        </p:txBody>
      </p:sp>
      <p:sp>
        <p:nvSpPr>
          <p:cNvPr id="54" name="Plazo A detalle"/>
          <p:cNvSpPr txBox="1"/>
          <p:nvPr/>
        </p:nvSpPr>
        <p:spPr>
          <a:xfrm>
            <a:off x="9134627" y="3931920"/>
            <a:ext cx="237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Buzón DESCARGOS_OBSERVACIONES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Vence aprox. 23/10/2026</a:t>
            </a:r>
            <a:endParaRPr lang="en-US" sz="1050" dirty="0"/>
          </a:p>
        </p:txBody>
      </p:sp>
      <p:sp>
        <p:nvSpPr>
          <p:cNvPr id="55" name="Etiqueta Anexo B"/>
          <p:cNvSpPr txBox="1"/>
          <p:nvPr/>
        </p:nvSpPr>
        <p:spPr>
          <a:xfrm>
            <a:off x="54864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ANEXO B · SEGUIMIENTO A 2 DE LAS 9 OBSERVACIONES DE 2025 (NO SON NUEVAS)</a:t>
            </a:r>
            <a:endParaRPr lang="en-US" sz="1100" dirty="0"/>
          </a:p>
        </p:txBody>
      </p:sp>
      <p:sp>
        <p:nvSpPr>
          <p:cNvPr id="56" name="Anexo B-3"/>
          <p:cNvSpPr/>
          <p:nvPr/>
        </p:nvSpPr>
        <p:spPr>
          <a:xfrm>
            <a:off x="548640" y="4937760"/>
            <a:ext cx="4091826" cy="1325880"/>
          </a:xfrm>
          <a:prstGeom prst="roundRect">
            <a:avLst>
              <a:gd name="adj" fmla="val 6897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7" name="Origen B-3 fondo"/>
          <p:cNvSpPr/>
          <p:nvPr/>
        </p:nvSpPr>
        <p:spPr>
          <a:xfrm>
            <a:off x="731520" y="5065776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8" name="Origen B-3"/>
          <p:cNvSpPr txBox="1"/>
          <p:nvPr/>
        </p:nvSpPr>
        <p:spPr>
          <a:xfrm>
            <a:off x="731520" y="50657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</a:rPr>
              <a:t>OBS. 3 DE 2025</a:t>
            </a:r>
            <a:endParaRPr lang="en-US" sz="1050" dirty="0"/>
          </a:p>
        </p:txBody>
      </p:sp>
      <p:sp>
        <p:nvSpPr>
          <p:cNvPr id="59" name="Estado B-3 fondo"/>
          <p:cNvSpPr/>
          <p:nvPr/>
        </p:nvSpPr>
        <p:spPr>
          <a:xfrm>
            <a:off x="2194560" y="5065776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60" name="Estado B-3"/>
          <p:cNvSpPr txBox="1"/>
          <p:nvPr/>
        </p:nvSpPr>
        <p:spPr>
          <a:xfrm>
            <a:off x="2194560" y="50657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</a:rPr>
              <a:t>NO SUPERADA</a:t>
            </a:r>
            <a:endParaRPr lang="en-US" sz="1050" dirty="0"/>
          </a:p>
        </p:txBody>
      </p:sp>
      <p:sp>
        <p:nvSpPr>
          <p:cNvPr id="61" name="Título B-3"/>
          <p:cNvSpPr txBox="1"/>
          <p:nvPr/>
        </p:nvSpPr>
        <p:spPr>
          <a:xfrm>
            <a:off x="731520" y="5394960"/>
            <a:ext cx="37260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Comités de Apoyo no cumplen con las especificaciones establecidas en el literal i) del Artículo 3 de las Normas NRP-17</a:t>
            </a:r>
            <a:endParaRPr lang="en-US" sz="1250" dirty="0"/>
          </a:p>
        </p:txBody>
      </p:sp>
      <p:sp>
        <p:nvSpPr>
          <p:cNvPr id="62" name="Responsable B-3"/>
          <p:cNvSpPr txBox="1"/>
          <p:nvPr/>
        </p:nvSpPr>
        <p:spPr>
          <a:xfrm>
            <a:off x="731520" y="5760720"/>
            <a:ext cx="3726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Responsable: </a:t>
            </a:r>
            <a:r>
              <a:rPr lang="en-US" sz="1000" dirty="0">
                <a:solidFill>
                  <a:schemeClr val="tx1"/>
                </a:solidFill>
              </a:rPr>
              <a:t>Gerencia General · Jefe de Administración de Riesgos</a:t>
            </a:r>
            <a:endParaRPr lang="en-US" sz="1000" dirty="0"/>
          </a:p>
        </p:txBody>
      </p:sp>
      <p:sp>
        <p:nvSpPr>
          <p:cNvPr id="63" name="Avance B-3"/>
          <p:cNvSpPr txBox="1"/>
          <p:nvPr/>
        </p:nvSpPr>
        <p:spPr>
          <a:xfrm>
            <a:off x="731520" y="5961888"/>
            <a:ext cx="3726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Avance: </a:t>
            </a:r>
            <a:r>
              <a:rPr lang="en-US" sz="950" dirty="0">
                <a:solidFill>
                  <a:schemeClr val="tx1"/>
                </a:solidFill>
              </a:rPr>
              <a:t>Plan de solución: acciones aún sin registrar</a:t>
            </a:r>
            <a:endParaRPr lang="en-US" sz="950" dirty="0"/>
          </a:p>
        </p:txBody>
      </p:sp>
      <p:sp>
        <p:nvSpPr>
          <p:cNvPr id="64" name="Anexo B-5"/>
          <p:cNvSpPr/>
          <p:nvPr/>
        </p:nvSpPr>
        <p:spPr>
          <a:xfrm>
            <a:off x="4750194" y="4937760"/>
            <a:ext cx="4091826" cy="1325880"/>
          </a:xfrm>
          <a:prstGeom prst="roundRect">
            <a:avLst>
              <a:gd name="adj" fmla="val 6897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65" name="Origen B-5 fondo"/>
          <p:cNvSpPr/>
          <p:nvPr/>
        </p:nvSpPr>
        <p:spPr>
          <a:xfrm>
            <a:off x="4933074" y="5065776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66" name="Origen B-5"/>
          <p:cNvSpPr txBox="1"/>
          <p:nvPr/>
        </p:nvSpPr>
        <p:spPr>
          <a:xfrm>
            <a:off x="4933074" y="50657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</a:rPr>
              <a:t>OBS. 5 DE 2025</a:t>
            </a:r>
            <a:endParaRPr lang="en-US" sz="1050" dirty="0"/>
          </a:p>
        </p:txBody>
      </p:sp>
      <p:sp>
        <p:nvSpPr>
          <p:cNvPr id="67" name="Estado B-5 fondo"/>
          <p:cNvSpPr/>
          <p:nvPr/>
        </p:nvSpPr>
        <p:spPr>
          <a:xfrm>
            <a:off x="6396114" y="5065776"/>
            <a:ext cx="219456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68" name="Estado B-5"/>
          <p:cNvSpPr txBox="1"/>
          <p:nvPr/>
        </p:nvSpPr>
        <p:spPr>
          <a:xfrm>
            <a:off x="6396114" y="5065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chemeClr val="bg1"/>
                </a:solidFill>
              </a:rPr>
              <a:t>PARCIALMENTE SUPERADA</a:t>
            </a:r>
            <a:endParaRPr lang="en-US" sz="1050" dirty="0"/>
          </a:p>
        </p:txBody>
      </p:sp>
      <p:sp>
        <p:nvSpPr>
          <p:cNvPr id="69" name="Título B-5"/>
          <p:cNvSpPr txBox="1"/>
          <p:nvPr/>
        </p:nvSpPr>
        <p:spPr>
          <a:xfrm>
            <a:off x="4933074" y="5394960"/>
            <a:ext cx="37260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tx1"/>
                </a:solidFill>
              </a:rPr>
              <a:t>Normativa interna desactualizada</a:t>
            </a:r>
            <a:endParaRPr lang="en-US" sz="1250" dirty="0"/>
          </a:p>
        </p:txBody>
      </p:sp>
      <p:sp>
        <p:nvSpPr>
          <p:cNvPr id="70" name="Responsable B-5"/>
          <p:cNvSpPr txBox="1"/>
          <p:nvPr/>
        </p:nvSpPr>
        <p:spPr>
          <a:xfrm>
            <a:off x="4933074" y="5650992"/>
            <a:ext cx="3726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Responsable: </a:t>
            </a:r>
            <a:r>
              <a:rPr lang="en-US" sz="1000" dirty="0">
                <a:solidFill>
                  <a:schemeClr val="tx1"/>
                </a:solidFill>
              </a:rPr>
              <a:t>Talento Humano · Auditor Interno · Servicios Generales</a:t>
            </a:r>
            <a:endParaRPr lang="en-US" sz="1000" dirty="0"/>
          </a:p>
        </p:txBody>
      </p:sp>
      <p:sp>
        <p:nvSpPr>
          <p:cNvPr id="71" name="Avance B-5"/>
          <p:cNvSpPr txBox="1"/>
          <p:nvPr/>
        </p:nvSpPr>
        <p:spPr>
          <a:xfrm>
            <a:off x="4933074" y="5870448"/>
            <a:ext cx="3726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Avance: </a:t>
            </a:r>
            <a:r>
              <a:rPr lang="en-US" sz="950" dirty="0">
                <a:solidFill>
                  <a:schemeClr val="tx1"/>
                </a:solidFill>
              </a:rPr>
              <a:t>RIT y Manual de Compras en proceso · Reglamento del Comité de Auditoría aprobado (28/08/2026) y enviado al Consejo (05/10/2026)</a:t>
            </a:r>
            <a:endParaRPr lang="en-US" sz="950" dirty="0"/>
          </a:p>
        </p:txBody>
      </p:sp>
      <p:sp>
        <p:nvSpPr>
          <p:cNvPr id="72" name="Plazo Anexo B"/>
          <p:cNvSpPr/>
          <p:nvPr/>
        </p:nvSpPr>
        <p:spPr>
          <a:xfrm>
            <a:off x="8951747" y="4937760"/>
            <a:ext cx="2691308" cy="1325880"/>
          </a:xfrm>
          <a:prstGeom prst="roundRect">
            <a:avLst>
              <a:gd name="adj" fmla="val 6897"/>
            </a:avLst>
          </a:prstGeom>
          <a:solidFill>
            <a:schemeClr val="accent6"/>
          </a:solidFill>
          <a:ln w="12700">
            <a:solidFill>
              <a:schemeClr val="accent6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73" name="Plazo B número"/>
          <p:cNvSpPr txBox="1"/>
          <p:nvPr/>
        </p:nvSpPr>
        <p:spPr>
          <a:xfrm>
            <a:off x="9134627" y="50109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74" name="Plazo B título"/>
          <p:cNvSpPr txBox="1"/>
          <p:nvPr/>
        </p:nvSpPr>
        <p:spPr>
          <a:xfrm>
            <a:off x="9957587" y="5056632"/>
            <a:ext cx="1548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días hábiles para plan de solución</a:t>
            </a:r>
            <a:endParaRPr lang="en-US" sz="1200" dirty="0"/>
          </a:p>
        </p:txBody>
      </p:sp>
      <p:sp>
        <p:nvSpPr>
          <p:cNvPr id="75" name="Plazo B detalle"/>
          <p:cNvSpPr txBox="1"/>
          <p:nvPr/>
        </p:nvSpPr>
        <p:spPr>
          <a:xfrm>
            <a:off x="9134627" y="5715000"/>
            <a:ext cx="2416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Buzón PLANES_SOLUC_VISITASUPERVIS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Vence aprox. 30/10/2026</a:t>
            </a:r>
            <a:endParaRPr lang="en-US" sz="105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F Gobierno Corporativo">
  <a:themeElements>
    <a:clrScheme name="SSF Gobierno Corporativo">
      <a:dk1>
        <a:srgbClr val="142033"/>
      </a:dk1>
      <a:lt1>
        <a:srgbClr val="FFFFFF"/>
      </a:lt1>
      <a:dk2>
        <a:srgbClr val="173A6E"/>
      </a:dk2>
      <a:lt2>
        <a:srgbClr val="EEF2F8"/>
      </a:lt2>
      <a:accent1>
        <a:srgbClr val="173A6E"/>
      </a:accent1>
      <a:accent2>
        <a:srgbClr val="1D7A4B"/>
      </a:accent2>
      <a:accent3>
        <a:srgbClr val="B42318"/>
      </a:accent3>
      <a:accent4>
        <a:srgbClr val="D99A1E"/>
      </a:accent4>
      <a:accent5>
        <a:srgbClr val="586579"/>
      </a:accent5>
      <a:accent6>
        <a:srgbClr val="A86410"/>
      </a:accent6>
      <a:hlink>
        <a:srgbClr val="173A6E"/>
      </a:hlink>
      <a:folHlink>
        <a:srgbClr val="586579"/>
      </a:folHlink>
    </a:clrScheme>
    <a:fontScheme name="SSF Gobierno Corporativ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1162</Words>
  <Application>Microsoft Office PowerPoint</Application>
  <PresentationFormat>Panorámica</PresentationFormat>
  <Paragraphs>178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SSF Gobierno Corporativo</vt:lpstr>
      <vt:lpstr>2025 – 2026</vt:lpstr>
      <vt:lpstr>Observaciones 2025</vt:lpstr>
      <vt:lpstr>Observaciones 2026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Supervisiones de Gobierno Corporativo SSF a COMEDICA de R.L.</dc:title>
  <dc:subject>Resultados de visitas de supervisión 2025 y 2026</dc:subject>
  <dc:creator>COMEDICA de R.L.</dc:creator>
  <cp:lastModifiedBy>Hector Jose Menjivar Somoza</cp:lastModifiedBy>
  <cp:revision>2</cp:revision>
  <dcterms:created xsi:type="dcterms:W3CDTF">2026-10-13T20:49:53Z</dcterms:created>
  <dcterms:modified xsi:type="dcterms:W3CDTF">2026-10-13T21:16:38Z</dcterms:modified>
</cp:coreProperties>
</file>