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Resumen de circulares SSF" id="{619f2926-fd99-cca1-1be0-1035ac208998}">
          <p14:sldIdLst>
            <p14:sldId id="256"/>
          </p14:sldIdLst>
        </p14:section>
        <p14:section name="2 · Observaciones 2025" id="{ccdfb403-7b12-d3a4-9611-e82fe676afd5}">
          <p14:sldIdLst>
            <p14:sldId id="257"/>
          </p14:sldIdLst>
        </p14:section>
        <p14:section name="3 · Observaciones 2026" id="{ad589576-44a1-76d6-d228-14ef33ae39c6}">
          <p14:sldIdLst>
            <p14:sldId id="258"/>
          </p14:sldIdLst>
        </p14:section>
        <p14:section name="4 · Línea de tiempo y evolución" id="{372e2051-7d80-12e8-24f4-ab370725ff6b}">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circulares de la SSF. Cada año la SSF primero notifica el nombramiento de la visita ampliada y luego remite los resultados preliminares. 2025: Circular 17003 con 9 observaciones. 2026: Circular 22741 con 7 observaciones nuevas (Anexo A) y seguimiento a 2 de las 9 observaciones de 2025 (Anexo B): la obs. 3 no superada y la obs. 5 parcialmente superada.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Nueve observaciones de la Circular 17003. Los responsables son los órganos y cargos que señala la propia circular. En rojo y ámbar, las 2 observaciones a las que la SSF dio seguimiento en la visita 2026 (Anexo B): obs. 3 (no superada) y obs. 5 (parcialmente superada).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 siete observaciones nuevas; los responsables son los que señala la Circular 22741 (en la obs. 4, Administración de Riesgo). Plazo de 10 días hábiles para remitir pruebas de descargo, previo conocimiento del Consejo de Administración. Anexo B: no son observaciones nuevas, es el seguimiento a las obs. 3 y 5 de 2025; plan de solución en 15 días hábiles con acciones, responsable, plazo por acción y certificación del punto de acta del Consejo. Fechas aproximadas sin asuetos.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línea de tiempo se lee de arriba hacia abajo, de lo más reciente a lo más antiguo. Hoy corren los plazos: 10 días hábiles para descargos del Anexo A (aprox. 23/10/2026) y 15 días hábiles para el plan de solución del Anexo B (aprox. 30/10/2026). 2026: nombramiento 31/07, inicio 21/08 e informe preliminar 09/10 con 7 observaciones nuevas y seguimiento a las obs. 3 y 5 de 2025. 2025: nombramiento 09/04, inicio 19/05 e informe preliminar 05/11 con 9 observaciones. Seguimiento: obs. 3 no superada; obs. 5 parcialmente superada. El Fondo de Educación vuelve como tema, pero con observaciones nuevas.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SUMEN PANEL">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chemeClr val="accent1"/>
          </a:solidFill>
          <a:ln w="12700">
            <a:solidFill>
              <a:schemeClr val="accent1"/>
            </a:solidFill>
            <a:prstDash val="solid"/>
          </a:ln>
        </p:spPr>
      </p:sp>
      <p:sp>
        <p:nvSpPr>
          <p:cNvPr id="3" name="Text 1"/>
          <p:cNvSpPr/>
          <p:nvPr>
            <p:ph idx="101" type="body" hasCustomPrompt="1"/>
          </p:nvPr>
        </p:nvSpPr>
        <p:spPr>
          <a:xfrm>
            <a:off x="548640" y="502920"/>
            <a:ext cx="3200400" cy="548640"/>
          </a:xfrm>
          <a:prstGeom prst="rect">
            <a:avLst/>
          </a:prstGeom>
          <a:noFill/>
          <a:ln/>
        </p:spPr>
        <p:txBody>
          <a:bodyPr wrap="square" rtlCol="0"/>
          <a:lstStyle>
            <a:lvl1pPr indent="0" marL="0">
              <a:buNone/>
              <a:defRPr lang="en-US" sz="1100" b="1" spc="200" kern="0" dirty="0">
                <a:solidFill>
                  <a:schemeClr val="bg2"/>
                </a:solidFill>
              </a:defRPr>
            </a:lvl1pPr>
          </a:lstStyle>
          <a:p>
            <a:pPr indent="0" marL="0">
              <a:buNone/>
            </a:pPr>
            <a:r>
              <a:rPr lang="en-US" sz="1100" b="1" spc="200" kern="0" dirty="0">
                <a:solidFill>
                  <a:schemeClr val="bg2"/>
                </a:solidFill>
              </a:rPr>
              <a:t>SECCIÓN</a:t>
            </a:r>
            <a:endParaRPr lang="en-US" sz="1100" dirty="0"/>
          </a:p>
        </p:txBody>
      </p:sp>
      <p:sp>
        <p:nvSpPr>
          <p:cNvPr id="4" name="Text 1"/>
          <p:cNvSpPr/>
          <p:nvPr>
            <p:ph idx="102" type="title" hasCustomPrompt="1"/>
          </p:nvPr>
        </p:nvSpPr>
        <p:spPr>
          <a:xfrm>
            <a:off x="548640" y="1143000"/>
            <a:ext cx="3200400" cy="146304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r>
              <a:rPr lang="en-US" sz="3000" b="1" dirty="0">
                <a:solidFill>
                  <a:schemeClr val="bg1"/>
                </a:solidFill>
                <a:latin typeface="Cambria" pitchFamily="34" charset="0"/>
                <a:ea typeface="Cambria" pitchFamily="34" charset="-122"/>
                <a:cs typeface="Cambria" pitchFamily="34" charset="-120"/>
              </a:rPr>
              <a:t>Título</a:t>
            </a:r>
            <a:endParaRPr lang="en-US" sz="3000" dirty="0"/>
          </a:p>
        </p:txBody>
      </p:sp>
      <p:sp>
        <p:nvSpPr>
          <p:cNvPr id="5" name="Text 1"/>
          <p:cNvSpPr/>
          <p:nvPr/>
        </p:nvSpPr>
        <p:spPr>
          <a:xfrm>
            <a:off x="457200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SSF · Gobierno Corporativo (NRP-17) · COMEDICA de R.L.</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rtlCol="0"/>
          <a:lstStyle>
            <a:lvl1pPr indent="0" marL="0">
              <a:buNone/>
              <a:defRPr lang="en-US" sz="1100" b="1" spc="200" kern="0" dirty="0">
                <a:solidFill>
                  <a:schemeClr val="accent5"/>
                </a:solidFill>
              </a:defRPr>
            </a:lvl1pPr>
          </a:lstStyle>
          <a:p>
            <a:pPr indent="0" marL="0">
              <a:buNone/>
            </a:pPr>
            <a:r>
              <a:rPr lang="en-US" sz="1100" b="1" spc="200" kern="0" dirty="0">
                <a:solidFill>
                  <a:schemeClr val="accent5"/>
                </a:solidFill>
              </a:rPr>
              <a:t>SECCIÓN</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r>
              <a:rPr lang="en-US" sz="3000" b="1" dirty="0">
                <a:solidFill>
                  <a:schemeClr val="tx1"/>
                </a:solidFill>
                <a:latin typeface="Cambria" pitchFamily="34" charset="0"/>
                <a:ea typeface="Cambria" pitchFamily="34" charset="-122"/>
                <a:cs typeface="Cambria" pitchFamily="34" charset="-120"/>
              </a:rPr>
              <a:t>Título</a:t>
            </a:r>
            <a:endParaRPr lang="en-US" sz="30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SSF · Gobierno Corporativo (NRP-17) · COMEDICA de R.L.</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502920"/>
            <a:ext cx="3200400" cy="548640"/>
          </a:xfrm>
          <a:prstGeom prst="rect">
            <a:avLst/>
          </a:prstGeom>
          <a:noFill/>
          <a:ln/>
        </p:spPr>
        <p:txBody>
          <a:bodyPr wrap="square" lIns="0" tIns="0" rIns="0" bIns="0" rtlCol="0" anchor="t"/>
          <a:lstStyle/>
          <a:p>
            <a:pPr indent="0" marL="0">
              <a:buNone/>
            </a:pPr>
            <a:r>
              <a:rPr lang="en-US" sz="1100" b="1" spc="200" kern="0" dirty="0">
                <a:solidFill>
                  <a:schemeClr val="bg2"/>
                </a:solidFill>
              </a:rPr>
              <a:t>SUPERVISIONES DE GOBIERNO CORPORATIVO · COMEDICA DE R.L.</a:t>
            </a:r>
            <a:endParaRPr lang="en-US" sz="1100" dirty="0"/>
          </a:p>
        </p:txBody>
      </p:sp>
      <p:sp>
        <p:nvSpPr>
          <p:cNvPr id="3" name="Text 1"/>
          <p:cNvSpPr/>
          <p:nvPr>
            <p:ph idx="102" type="title" hasCustomPrompt="1"/>
          </p:nvPr>
        </p:nvSpPr>
        <p:spPr>
          <a:xfrm>
            <a:off x="548640" y="1143000"/>
            <a:ext cx="3200400" cy="146304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Circulares de notificación SSF 2025 – 2026</a:t>
            </a:r>
            <a:endParaRPr lang="en-US" sz="3000" dirty="0"/>
          </a:p>
        </p:txBody>
      </p:sp>
      <p:sp>
        <p:nvSpPr>
          <p:cNvPr id="4" name="Separador panel 2025"/>
          <p:cNvSpPr/>
          <p:nvPr/>
        </p:nvSpPr>
        <p:spPr>
          <a:xfrm>
            <a:off x="548640" y="2788920"/>
            <a:ext cx="3200400" cy="0"/>
          </a:xfrm>
          <a:prstGeom prst="line">
            <a:avLst/>
          </a:prstGeom>
          <a:noFill/>
          <a:ln w="9525">
            <a:solidFill>
              <a:schemeClr val="bg2">
                <a:alpha val="40000"/>
              </a:schemeClr>
            </a:solidFill>
            <a:prstDash val="solid"/>
          </a:ln>
        </p:spPr>
      </p:sp>
      <p:sp>
        <p:nvSpPr>
          <p:cNvPr id="5" name="Año panel 2025 fondo"/>
          <p:cNvSpPr/>
          <p:nvPr/>
        </p:nvSpPr>
        <p:spPr>
          <a:xfrm>
            <a:off x="548640" y="2953512"/>
            <a:ext cx="777240" cy="274320"/>
          </a:xfrm>
          <a:prstGeom prst="roundRect">
            <a:avLst>
              <a:gd name="adj" fmla="val 50000"/>
            </a:avLst>
          </a:prstGeom>
          <a:solidFill>
            <a:schemeClr val="accent1"/>
          </a:solidFill>
          <a:ln w="12700">
            <a:solidFill>
              <a:schemeClr val="accent1">
                <a:alpha val="0"/>
              </a:schemeClr>
            </a:solidFill>
            <a:prstDash val="solid"/>
          </a:ln>
        </p:spPr>
      </p:sp>
      <p:sp>
        <p:nvSpPr>
          <p:cNvPr id="6" name="Año panel 2025"/>
          <p:cNvSpPr txBox="1"/>
          <p:nvPr/>
        </p:nvSpPr>
        <p:spPr>
          <a:xfrm>
            <a:off x="548640" y="2953512"/>
            <a:ext cx="777240" cy="274320"/>
          </a:xfrm>
          <a:prstGeom prst="rect">
            <a:avLst/>
          </a:prstGeom>
          <a:noFill/>
          <a:ln/>
        </p:spPr>
        <p:txBody>
          <a:bodyPr wrap="square" lIns="0" tIns="0" rIns="0" bIns="0" rtlCol="0" anchor="ctr"/>
          <a:lstStyle/>
          <a:p>
            <a:pPr algn="ctr" indent="0" marL="0">
              <a:buNone/>
            </a:pPr>
            <a:r>
              <a:rPr lang="en-US" sz="1100" b="1" spc="100" kern="0" dirty="0">
                <a:solidFill>
                  <a:schemeClr val="bg1"/>
                </a:solidFill>
              </a:rPr>
              <a:t>2025</a:t>
            </a:r>
            <a:endParaRPr lang="en-US" sz="1100" dirty="0"/>
          </a:p>
        </p:txBody>
      </p:sp>
      <p:sp>
        <p:nvSpPr>
          <p:cNvPr id="7" name="Contorno panel 2025"/>
          <p:cNvSpPr/>
          <p:nvPr/>
        </p:nvSpPr>
        <p:spPr>
          <a:xfrm>
            <a:off x="548640" y="2953512"/>
            <a:ext cx="777240" cy="274320"/>
          </a:xfrm>
          <a:prstGeom prst="roundRect">
            <a:avLst>
              <a:gd name="adj" fmla="val 50000"/>
            </a:avLst>
          </a:prstGeom>
          <a:ln w="12700">
            <a:solidFill>
              <a:schemeClr val="bg1"/>
            </a:solidFill>
            <a:prstDash val="solid"/>
          </a:ln>
        </p:spPr>
      </p:sp>
      <p:sp>
        <p:nvSpPr>
          <p:cNvPr id="8" name="Visita panel 2025"/>
          <p:cNvSpPr txBox="1"/>
          <p:nvPr/>
        </p:nvSpPr>
        <p:spPr>
          <a:xfrm>
            <a:off x="1463040" y="2953512"/>
            <a:ext cx="2286000" cy="274320"/>
          </a:xfrm>
          <a:prstGeom prst="rect">
            <a:avLst/>
          </a:prstGeom>
          <a:noFill/>
          <a:ln/>
        </p:spPr>
        <p:txBody>
          <a:bodyPr wrap="square" lIns="0" tIns="0" rIns="0" bIns="0" rtlCol="0" anchor="ctr"/>
          <a:lstStyle/>
          <a:p>
            <a:pPr indent="0" marL="0">
              <a:buNone/>
            </a:pPr>
            <a:r>
              <a:rPr lang="en-US" sz="1100" dirty="0">
                <a:solidFill>
                  <a:schemeClr val="bg2"/>
                </a:solidFill>
              </a:rPr>
              <a:t>Visita 1 · Circular 17003</a:t>
            </a:r>
            <a:endParaRPr lang="en-US" sz="1100" dirty="0"/>
          </a:p>
        </p:txBody>
      </p:sp>
      <p:sp>
        <p:nvSpPr>
          <p:cNvPr id="9" name="KPI 2025-1"/>
          <p:cNvSpPr txBox="1"/>
          <p:nvPr/>
        </p:nvSpPr>
        <p:spPr>
          <a:xfrm>
            <a:off x="548640" y="3337560"/>
            <a:ext cx="1508760" cy="548640"/>
          </a:xfrm>
          <a:prstGeom prst="rect">
            <a:avLst/>
          </a:prstGeom>
          <a:noFill/>
          <a:ln/>
        </p:spPr>
        <p:txBody>
          <a:bodyPr wrap="square" lIns="0" tIns="0" rIns="0" bIns="0" rtlCol="0" anchor="b"/>
          <a:lstStyle/>
          <a:p>
            <a:pPr indent="0" marL="0">
              <a:buNone/>
            </a:pPr>
            <a:r>
              <a:rPr lang="en-US" sz="3200" b="1" dirty="0">
                <a:solidFill>
                  <a:schemeClr val="bg1"/>
                </a:solidFill>
                <a:latin typeface="Cambria" pitchFamily="34" charset="0"/>
                <a:ea typeface="Cambria" pitchFamily="34" charset="-122"/>
                <a:cs typeface="Cambria" pitchFamily="34" charset="-120"/>
              </a:rPr>
              <a:t>2</a:t>
            </a:r>
            <a:endParaRPr lang="en-US" sz="3200" dirty="0"/>
          </a:p>
        </p:txBody>
      </p:sp>
      <p:sp>
        <p:nvSpPr>
          <p:cNvPr id="10" name="KPI texto 2025-1"/>
          <p:cNvSpPr txBox="1"/>
          <p:nvPr/>
        </p:nvSpPr>
        <p:spPr>
          <a:xfrm>
            <a:off x="548640" y="3904488"/>
            <a:ext cx="1508760" cy="384048"/>
          </a:xfrm>
          <a:prstGeom prst="rect">
            <a:avLst/>
          </a:prstGeom>
          <a:noFill/>
          <a:ln/>
        </p:spPr>
        <p:txBody>
          <a:bodyPr wrap="square" lIns="0" tIns="0" rIns="0" bIns="0" rtlCol="0" anchor="t"/>
          <a:lstStyle/>
          <a:p>
            <a:pPr indent="0" marL="0">
              <a:buNone/>
            </a:pPr>
            <a:r>
              <a:rPr lang="en-US" sz="1100" dirty="0">
                <a:solidFill>
                  <a:schemeClr val="bg2"/>
                </a:solidFill>
              </a:rPr>
              <a:t>circulares</a:t>
            </a:r>
            <a:endParaRPr lang="en-US" sz="1100" dirty="0"/>
          </a:p>
        </p:txBody>
      </p:sp>
      <p:sp>
        <p:nvSpPr>
          <p:cNvPr id="11" name="KPI 2025-2"/>
          <p:cNvSpPr txBox="1"/>
          <p:nvPr/>
        </p:nvSpPr>
        <p:spPr>
          <a:xfrm>
            <a:off x="2148840" y="3337560"/>
            <a:ext cx="1508760" cy="548640"/>
          </a:xfrm>
          <a:prstGeom prst="rect">
            <a:avLst/>
          </a:prstGeom>
          <a:noFill/>
          <a:ln/>
        </p:spPr>
        <p:txBody>
          <a:bodyPr wrap="square" lIns="0" tIns="0" rIns="0" bIns="0" rtlCol="0" anchor="b"/>
          <a:lstStyle/>
          <a:p>
            <a:pPr indent="0" marL="0">
              <a:buNone/>
            </a:pPr>
            <a:r>
              <a:rPr lang="en-US" sz="3200" b="1" dirty="0">
                <a:solidFill>
                  <a:schemeClr val="bg1"/>
                </a:solidFill>
                <a:latin typeface="Cambria" pitchFamily="34" charset="0"/>
                <a:ea typeface="Cambria" pitchFamily="34" charset="-122"/>
                <a:cs typeface="Cambria" pitchFamily="34" charset="-120"/>
              </a:rPr>
              <a:t>9</a:t>
            </a:r>
            <a:endParaRPr lang="en-US" sz="3200" dirty="0"/>
          </a:p>
        </p:txBody>
      </p:sp>
      <p:sp>
        <p:nvSpPr>
          <p:cNvPr id="12" name="KPI texto 2025-2"/>
          <p:cNvSpPr txBox="1"/>
          <p:nvPr/>
        </p:nvSpPr>
        <p:spPr>
          <a:xfrm>
            <a:off x="2148840" y="3904488"/>
            <a:ext cx="1508760" cy="384048"/>
          </a:xfrm>
          <a:prstGeom prst="rect">
            <a:avLst/>
          </a:prstGeom>
          <a:noFill/>
          <a:ln/>
        </p:spPr>
        <p:txBody>
          <a:bodyPr wrap="square" lIns="0" tIns="0" rIns="0" bIns="0" rtlCol="0" anchor="t"/>
          <a:lstStyle/>
          <a:p>
            <a:pPr indent="0" marL="0">
              <a:buNone/>
            </a:pPr>
            <a:r>
              <a:rPr lang="en-US" sz="1100" dirty="0">
                <a:solidFill>
                  <a:schemeClr val="bg2"/>
                </a:solidFill>
              </a:rPr>
              <a:t>observaciones</a:t>
            </a:r>
            <a:endParaRPr lang="en-US" sz="1100" dirty="0"/>
          </a:p>
        </p:txBody>
      </p:sp>
      <p:sp>
        <p:nvSpPr>
          <p:cNvPr id="13" name="Separador panel 2026"/>
          <p:cNvSpPr/>
          <p:nvPr/>
        </p:nvSpPr>
        <p:spPr>
          <a:xfrm>
            <a:off x="548640" y="4434840"/>
            <a:ext cx="3200400" cy="0"/>
          </a:xfrm>
          <a:prstGeom prst="line">
            <a:avLst/>
          </a:prstGeom>
          <a:noFill/>
          <a:ln w="9525">
            <a:solidFill>
              <a:schemeClr val="bg2">
                <a:alpha val="40000"/>
              </a:schemeClr>
            </a:solidFill>
            <a:prstDash val="solid"/>
          </a:ln>
        </p:spPr>
      </p:sp>
      <p:sp>
        <p:nvSpPr>
          <p:cNvPr id="14" name="Año panel 2026 fondo"/>
          <p:cNvSpPr/>
          <p:nvPr/>
        </p:nvSpPr>
        <p:spPr>
          <a:xfrm>
            <a:off x="548640" y="4599432"/>
            <a:ext cx="777240" cy="274320"/>
          </a:xfrm>
          <a:prstGeom prst="roundRect">
            <a:avLst>
              <a:gd name="adj" fmla="val 50000"/>
            </a:avLst>
          </a:prstGeom>
          <a:solidFill>
            <a:schemeClr val="accent2"/>
          </a:solidFill>
          <a:ln w="12700">
            <a:solidFill>
              <a:schemeClr val="accent2">
                <a:alpha val="0"/>
              </a:schemeClr>
            </a:solidFill>
            <a:prstDash val="solid"/>
          </a:ln>
        </p:spPr>
      </p:sp>
      <p:sp>
        <p:nvSpPr>
          <p:cNvPr id="15" name="Año panel 2026"/>
          <p:cNvSpPr txBox="1"/>
          <p:nvPr/>
        </p:nvSpPr>
        <p:spPr>
          <a:xfrm>
            <a:off x="548640" y="4599432"/>
            <a:ext cx="777240" cy="274320"/>
          </a:xfrm>
          <a:prstGeom prst="rect">
            <a:avLst/>
          </a:prstGeom>
          <a:noFill/>
          <a:ln/>
        </p:spPr>
        <p:txBody>
          <a:bodyPr wrap="square" lIns="0" tIns="0" rIns="0" bIns="0" rtlCol="0" anchor="ctr"/>
          <a:lstStyle/>
          <a:p>
            <a:pPr algn="ctr" indent="0" marL="0">
              <a:buNone/>
            </a:pPr>
            <a:r>
              <a:rPr lang="en-US" sz="1100" b="1" spc="100" kern="0" dirty="0">
                <a:solidFill>
                  <a:schemeClr val="bg1"/>
                </a:solidFill>
              </a:rPr>
              <a:t>2026</a:t>
            </a:r>
            <a:endParaRPr lang="en-US" sz="1100" dirty="0"/>
          </a:p>
        </p:txBody>
      </p:sp>
      <p:sp>
        <p:nvSpPr>
          <p:cNvPr id="16" name="Visita panel 2026"/>
          <p:cNvSpPr txBox="1"/>
          <p:nvPr/>
        </p:nvSpPr>
        <p:spPr>
          <a:xfrm>
            <a:off x="1463040" y="4599432"/>
            <a:ext cx="2286000" cy="274320"/>
          </a:xfrm>
          <a:prstGeom prst="rect">
            <a:avLst/>
          </a:prstGeom>
          <a:noFill/>
          <a:ln/>
        </p:spPr>
        <p:txBody>
          <a:bodyPr wrap="square" lIns="0" tIns="0" rIns="0" bIns="0" rtlCol="0" anchor="ctr"/>
          <a:lstStyle/>
          <a:p>
            <a:pPr indent="0" marL="0">
              <a:buNone/>
            </a:pPr>
            <a:r>
              <a:rPr lang="en-US" sz="1100" dirty="0">
                <a:solidFill>
                  <a:schemeClr val="bg2"/>
                </a:solidFill>
              </a:rPr>
              <a:t>Visita 2 · Circular 22741</a:t>
            </a:r>
            <a:endParaRPr lang="en-US" sz="1100" dirty="0"/>
          </a:p>
        </p:txBody>
      </p:sp>
      <p:sp>
        <p:nvSpPr>
          <p:cNvPr id="17" name="KPI 2026-1"/>
          <p:cNvSpPr txBox="1"/>
          <p:nvPr/>
        </p:nvSpPr>
        <p:spPr>
          <a:xfrm>
            <a:off x="548640" y="4983480"/>
            <a:ext cx="975360" cy="548640"/>
          </a:xfrm>
          <a:prstGeom prst="rect">
            <a:avLst/>
          </a:prstGeom>
          <a:noFill/>
          <a:ln/>
        </p:spPr>
        <p:txBody>
          <a:bodyPr wrap="square" lIns="0" tIns="0" rIns="0" bIns="0" rtlCol="0" anchor="b"/>
          <a:lstStyle/>
          <a:p>
            <a:pPr indent="0" marL="0">
              <a:buNone/>
            </a:pPr>
            <a:r>
              <a:rPr lang="en-US" sz="3200" b="1" dirty="0">
                <a:solidFill>
                  <a:schemeClr val="bg1"/>
                </a:solidFill>
                <a:latin typeface="Cambria" pitchFamily="34" charset="0"/>
                <a:ea typeface="Cambria" pitchFamily="34" charset="-122"/>
                <a:cs typeface="Cambria" pitchFamily="34" charset="-120"/>
              </a:rPr>
              <a:t>2</a:t>
            </a:r>
            <a:endParaRPr lang="en-US" sz="3200" dirty="0"/>
          </a:p>
        </p:txBody>
      </p:sp>
      <p:sp>
        <p:nvSpPr>
          <p:cNvPr id="18" name="KPI texto 2026-1"/>
          <p:cNvSpPr txBox="1"/>
          <p:nvPr/>
        </p:nvSpPr>
        <p:spPr>
          <a:xfrm>
            <a:off x="548640" y="5550408"/>
            <a:ext cx="975360" cy="384048"/>
          </a:xfrm>
          <a:prstGeom prst="rect">
            <a:avLst/>
          </a:prstGeom>
          <a:noFill/>
          <a:ln/>
        </p:spPr>
        <p:txBody>
          <a:bodyPr wrap="square" lIns="0" tIns="0" rIns="0" bIns="0" rtlCol="0" anchor="t"/>
          <a:lstStyle/>
          <a:p>
            <a:pPr indent="0" marL="0">
              <a:buNone/>
            </a:pPr>
            <a:r>
              <a:rPr lang="en-US" sz="1100" dirty="0">
                <a:solidFill>
                  <a:schemeClr val="bg2"/>
                </a:solidFill>
              </a:rPr>
              <a:t>circulares</a:t>
            </a:r>
            <a:endParaRPr lang="en-US" sz="1100" dirty="0"/>
          </a:p>
        </p:txBody>
      </p:sp>
      <p:sp>
        <p:nvSpPr>
          <p:cNvPr id="19" name="KPI 2026-2"/>
          <p:cNvSpPr txBox="1"/>
          <p:nvPr/>
        </p:nvSpPr>
        <p:spPr>
          <a:xfrm>
            <a:off x="1615440" y="4983480"/>
            <a:ext cx="975360" cy="548640"/>
          </a:xfrm>
          <a:prstGeom prst="rect">
            <a:avLst/>
          </a:prstGeom>
          <a:noFill/>
          <a:ln/>
        </p:spPr>
        <p:txBody>
          <a:bodyPr wrap="square" lIns="0" tIns="0" rIns="0" bIns="0" rtlCol="0" anchor="b"/>
          <a:lstStyle/>
          <a:p>
            <a:pPr indent="0" marL="0">
              <a:buNone/>
            </a:pPr>
            <a:r>
              <a:rPr lang="en-US" sz="3200" b="1" dirty="0">
                <a:solidFill>
                  <a:schemeClr val="bg1"/>
                </a:solidFill>
                <a:latin typeface="Cambria" pitchFamily="34" charset="0"/>
                <a:ea typeface="Cambria" pitchFamily="34" charset="-122"/>
                <a:cs typeface="Cambria" pitchFamily="34" charset="-120"/>
              </a:rPr>
              <a:t>7</a:t>
            </a:r>
            <a:endParaRPr lang="en-US" sz="3200" dirty="0"/>
          </a:p>
        </p:txBody>
      </p:sp>
      <p:sp>
        <p:nvSpPr>
          <p:cNvPr id="20" name="KPI texto 2026-2"/>
          <p:cNvSpPr txBox="1"/>
          <p:nvPr/>
        </p:nvSpPr>
        <p:spPr>
          <a:xfrm>
            <a:off x="1615440" y="5550408"/>
            <a:ext cx="975360" cy="384048"/>
          </a:xfrm>
          <a:prstGeom prst="rect">
            <a:avLst/>
          </a:prstGeom>
          <a:noFill/>
          <a:ln/>
        </p:spPr>
        <p:txBody>
          <a:bodyPr wrap="square" lIns="0" tIns="0" rIns="0" bIns="0" rtlCol="0" anchor="t"/>
          <a:lstStyle/>
          <a:p>
            <a:pPr indent="0" marL="0">
              <a:buNone/>
            </a:pPr>
            <a:r>
              <a:rPr lang="en-US" sz="1100" dirty="0">
                <a:solidFill>
                  <a:schemeClr val="bg2"/>
                </a:solidFill>
              </a:rPr>
              <a:t>observaciones nuevas</a:t>
            </a:r>
            <a:endParaRPr lang="en-US" sz="1100" dirty="0"/>
          </a:p>
        </p:txBody>
      </p:sp>
      <p:sp>
        <p:nvSpPr>
          <p:cNvPr id="21" name="KPI 2026-3"/>
          <p:cNvSpPr txBox="1"/>
          <p:nvPr/>
        </p:nvSpPr>
        <p:spPr>
          <a:xfrm>
            <a:off x="2682240" y="4983480"/>
            <a:ext cx="975360" cy="548640"/>
          </a:xfrm>
          <a:prstGeom prst="rect">
            <a:avLst/>
          </a:prstGeom>
          <a:noFill/>
          <a:ln/>
        </p:spPr>
        <p:txBody>
          <a:bodyPr wrap="square" lIns="0" tIns="0" rIns="0" bIns="0" rtlCol="0" anchor="b"/>
          <a:lstStyle/>
          <a:p>
            <a:pPr indent="0" marL="0">
              <a:buNone/>
            </a:pPr>
            <a:r>
              <a:rPr lang="en-US" sz="3200" b="1" dirty="0">
                <a:solidFill>
                  <a:schemeClr val="bg1"/>
                </a:solidFill>
                <a:latin typeface="Cambria" pitchFamily="34" charset="0"/>
                <a:ea typeface="Cambria" pitchFamily="34" charset="-122"/>
                <a:cs typeface="Cambria" pitchFamily="34" charset="-120"/>
              </a:rPr>
              <a:t>2</a:t>
            </a:r>
            <a:endParaRPr lang="en-US" sz="3200" dirty="0"/>
          </a:p>
        </p:txBody>
      </p:sp>
      <p:sp>
        <p:nvSpPr>
          <p:cNvPr id="22" name="KPI texto 2026-3"/>
          <p:cNvSpPr txBox="1"/>
          <p:nvPr/>
        </p:nvSpPr>
        <p:spPr>
          <a:xfrm>
            <a:off x="2682240" y="5550408"/>
            <a:ext cx="975360" cy="384048"/>
          </a:xfrm>
          <a:prstGeom prst="rect">
            <a:avLst/>
          </a:prstGeom>
          <a:noFill/>
          <a:ln/>
        </p:spPr>
        <p:txBody>
          <a:bodyPr wrap="square" lIns="0" tIns="0" rIns="0" bIns="0" rtlCol="0" anchor="t"/>
          <a:lstStyle/>
          <a:p>
            <a:pPr indent="0" marL="0">
              <a:buNone/>
            </a:pPr>
            <a:r>
              <a:rPr lang="en-US" sz="1100" dirty="0">
                <a:solidFill>
                  <a:schemeClr val="bg2"/>
                </a:solidFill>
              </a:rPr>
              <a:t>de 2025 en seguimiento</a:t>
            </a:r>
            <a:endParaRPr lang="en-US" sz="1100" dirty="0"/>
          </a:p>
        </p:txBody>
      </p:sp>
      <p:sp>
        <p:nvSpPr>
          <p:cNvPr id="23" name="Seguimiento panel"/>
          <p:cNvSpPr txBox="1"/>
          <p:nvPr/>
        </p:nvSpPr>
        <p:spPr>
          <a:xfrm>
            <a:off x="548640" y="5989320"/>
            <a:ext cx="3200400" cy="365760"/>
          </a:xfrm>
          <a:prstGeom prst="rect">
            <a:avLst/>
          </a:prstGeom>
          <a:noFill/>
          <a:ln/>
        </p:spPr>
        <p:txBody>
          <a:bodyPr wrap="square" lIns="0" tIns="0" rIns="0" bIns="0" rtlCol="0" anchor="t"/>
          <a:lstStyle/>
          <a:p>
            <a:pPr indent="0" marL="0">
              <a:buNone/>
            </a:pPr>
            <a:r>
              <a:rPr lang="en-US" sz="1050" i="1" dirty="0">
                <a:solidFill>
                  <a:schemeClr val="bg2"/>
                </a:solidFill>
              </a:rPr>
              <a:t>Seguimiento: obs. 3 no superada · obs. 5 parcialmente superada</a:t>
            </a:r>
            <a:endParaRPr lang="en-US" sz="1050" dirty="0"/>
          </a:p>
        </p:txBody>
      </p:sp>
      <p:sp>
        <p:nvSpPr>
          <p:cNvPr id="24" name="Año 2025"/>
          <p:cNvSpPr txBox="1"/>
          <p:nvPr/>
        </p:nvSpPr>
        <p:spPr>
          <a:xfrm>
            <a:off x="4572000" y="457200"/>
            <a:ext cx="1188720" cy="5029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2025</a:t>
            </a:r>
            <a:endParaRPr lang="en-US" sz="3000" dirty="0"/>
          </a:p>
        </p:txBody>
      </p:sp>
      <p:sp>
        <p:nvSpPr>
          <p:cNvPr id="25" name="Visita 2025"/>
          <p:cNvSpPr txBox="1"/>
          <p:nvPr/>
        </p:nvSpPr>
        <p:spPr>
          <a:xfrm>
            <a:off x="5806440" y="457200"/>
            <a:ext cx="3657600" cy="502920"/>
          </a:xfrm>
          <a:prstGeom prst="rect">
            <a:avLst/>
          </a:prstGeom>
          <a:noFill/>
          <a:ln/>
        </p:spPr>
        <p:txBody>
          <a:bodyPr wrap="square" lIns="0" tIns="0" rIns="0" bIns="0" rtlCol="0" anchor="ctr"/>
          <a:lstStyle/>
          <a:p>
            <a:pPr indent="0" marL="0">
              <a:buNone/>
            </a:pPr>
            <a:r>
              <a:rPr lang="en-US" sz="1400" dirty="0">
                <a:solidFill>
                  <a:schemeClr val="accent5"/>
                </a:solidFill>
              </a:rPr>
              <a:t>Visita 1 · supervisión ampliada</a:t>
            </a:r>
            <a:endParaRPr lang="en-US" sz="1400" dirty="0"/>
          </a:p>
        </p:txBody>
      </p:sp>
      <p:sp>
        <p:nvSpPr>
          <p:cNvPr id="26" name="Tarjeta 2025-1"/>
          <p:cNvSpPr/>
          <p:nvPr/>
        </p:nvSpPr>
        <p:spPr>
          <a:xfrm>
            <a:off x="4572000" y="1097280"/>
            <a:ext cx="3306928" cy="2103120"/>
          </a:xfrm>
          <a:prstGeom prst="roundRect">
            <a:avLst>
              <a:gd name="adj" fmla="val 4348"/>
            </a:avLst>
          </a:prstGeom>
          <a:solidFill>
            <a:schemeClr val="bg1"/>
          </a:solidFill>
          <a:ln w="12700">
            <a:solidFill>
              <a:srgbClr val="D9E0EA"/>
            </a:solidFill>
            <a:prstDash val="solid"/>
          </a:ln>
        </p:spPr>
      </p:sp>
      <p:sp>
        <p:nvSpPr>
          <p:cNvPr id="27" name="Fecha fondo 2025-1"/>
          <p:cNvSpPr/>
          <p:nvPr/>
        </p:nvSpPr>
        <p:spPr>
          <a:xfrm>
            <a:off x="4709160" y="1234440"/>
            <a:ext cx="914400" cy="1828800"/>
          </a:xfrm>
          <a:prstGeom prst="roundRect">
            <a:avLst>
              <a:gd name="adj" fmla="val 10000"/>
            </a:avLst>
          </a:prstGeom>
          <a:solidFill>
            <a:schemeClr val="accent1"/>
          </a:solidFill>
          <a:ln w="12700">
            <a:solidFill>
              <a:schemeClr val="accent1">
                <a:alpha val="0"/>
              </a:schemeClr>
            </a:solidFill>
            <a:prstDash val="solid"/>
          </a:ln>
        </p:spPr>
      </p:sp>
      <p:sp>
        <p:nvSpPr>
          <p:cNvPr id="28" name="Fecha día 2025-1"/>
          <p:cNvSpPr txBox="1"/>
          <p:nvPr/>
        </p:nvSpPr>
        <p:spPr>
          <a:xfrm>
            <a:off x="4709160" y="1554480"/>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09</a:t>
            </a:r>
            <a:endParaRPr lang="en-US" sz="3400" dirty="0"/>
          </a:p>
        </p:txBody>
      </p:sp>
      <p:sp>
        <p:nvSpPr>
          <p:cNvPr id="29" name="Fecha mes 2025-1"/>
          <p:cNvSpPr txBox="1"/>
          <p:nvPr/>
        </p:nvSpPr>
        <p:spPr>
          <a:xfrm>
            <a:off x="4709160" y="2121408"/>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ABR</a:t>
            </a:r>
            <a:endParaRPr lang="en-US" sz="1400" dirty="0"/>
          </a:p>
        </p:txBody>
      </p:sp>
      <p:sp>
        <p:nvSpPr>
          <p:cNvPr id="30" name="Fecha año 2025-1"/>
          <p:cNvSpPr txBox="1"/>
          <p:nvPr/>
        </p:nvSpPr>
        <p:spPr>
          <a:xfrm>
            <a:off x="4709160" y="2423160"/>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2025</a:t>
            </a:r>
            <a:endParaRPr lang="en-US" sz="1200" dirty="0"/>
          </a:p>
        </p:txBody>
      </p:sp>
      <p:sp>
        <p:nvSpPr>
          <p:cNvPr id="31" name="Tipo 2025-1"/>
          <p:cNvSpPr txBox="1"/>
          <p:nvPr/>
        </p:nvSpPr>
        <p:spPr>
          <a:xfrm>
            <a:off x="5806440" y="1261872"/>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Nombramiento de visita ampliada</a:t>
            </a:r>
            <a:endParaRPr lang="en-US" sz="1400" dirty="0"/>
          </a:p>
        </p:txBody>
      </p:sp>
      <p:sp>
        <p:nvSpPr>
          <p:cNvPr id="32" name="Circular 2025-1"/>
          <p:cNvSpPr txBox="1"/>
          <p:nvPr/>
        </p:nvSpPr>
        <p:spPr>
          <a:xfrm>
            <a:off x="5806440" y="1828800"/>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1"/>
                </a:solidFill>
              </a:rPr>
              <a:t>DS-SABAO-BCS-BC-9337</a:t>
            </a:r>
            <a:endParaRPr lang="en-US" sz="1100" dirty="0"/>
          </a:p>
        </p:txBody>
      </p:sp>
      <p:sp>
        <p:nvSpPr>
          <p:cNvPr id="33" name="Separador 2025-1-0"/>
          <p:cNvSpPr/>
          <p:nvPr/>
        </p:nvSpPr>
        <p:spPr>
          <a:xfrm>
            <a:off x="5806440" y="2340864"/>
            <a:ext cx="1935328" cy="0"/>
          </a:xfrm>
          <a:prstGeom prst="line">
            <a:avLst/>
          </a:prstGeom>
          <a:noFill/>
          <a:ln w="9525">
            <a:solidFill>
              <a:srgbClr val="D9E0EA"/>
            </a:solidFill>
            <a:prstDash val="solid"/>
          </a:ln>
        </p:spPr>
      </p:sp>
      <p:sp>
        <p:nvSpPr>
          <p:cNvPr id="34" name="Dato 2025-1-0"/>
          <p:cNvSpPr txBox="1"/>
          <p:nvPr/>
        </p:nvSpPr>
        <p:spPr>
          <a:xfrm>
            <a:off x="5806440" y="237744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Corte  </a:t>
            </a:r>
            <a:pPr indent="0" marL="0">
              <a:buNone/>
            </a:pPr>
            <a:r>
              <a:rPr lang="en-US" sz="1150" b="1" dirty="0">
                <a:solidFill>
                  <a:schemeClr val="tx1"/>
                </a:solidFill>
              </a:rPr>
              <a:t>30/04/2025</a:t>
            </a:r>
            <a:endParaRPr lang="en-US" sz="1150" dirty="0"/>
          </a:p>
        </p:txBody>
      </p:sp>
      <p:sp>
        <p:nvSpPr>
          <p:cNvPr id="35" name="Separador 2025-1-1"/>
          <p:cNvSpPr/>
          <p:nvPr/>
        </p:nvSpPr>
        <p:spPr>
          <a:xfrm>
            <a:off x="5806440" y="2706624"/>
            <a:ext cx="1935328" cy="0"/>
          </a:xfrm>
          <a:prstGeom prst="line">
            <a:avLst/>
          </a:prstGeom>
          <a:noFill/>
          <a:ln w="9525">
            <a:solidFill>
              <a:srgbClr val="D9E0EA"/>
            </a:solidFill>
            <a:prstDash val="solid"/>
          </a:ln>
        </p:spPr>
      </p:sp>
      <p:sp>
        <p:nvSpPr>
          <p:cNvPr id="36" name="Dato 2025-1-1"/>
          <p:cNvSpPr txBox="1"/>
          <p:nvPr/>
        </p:nvSpPr>
        <p:spPr>
          <a:xfrm>
            <a:off x="5806440" y="274320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Inicio de visita  </a:t>
            </a:r>
            <a:pPr indent="0" marL="0">
              <a:buNone/>
            </a:pPr>
            <a:r>
              <a:rPr lang="en-US" sz="1150" b="1" dirty="0">
                <a:solidFill>
                  <a:schemeClr val="tx1"/>
                </a:solidFill>
              </a:rPr>
              <a:t>19/05/2025</a:t>
            </a:r>
            <a:endParaRPr lang="en-US" sz="1150" dirty="0"/>
          </a:p>
        </p:txBody>
      </p:sp>
      <p:sp>
        <p:nvSpPr>
          <p:cNvPr id="37" name="Tarjeta 2025-2"/>
          <p:cNvSpPr/>
          <p:nvPr/>
        </p:nvSpPr>
        <p:spPr>
          <a:xfrm>
            <a:off x="8336128" y="1097280"/>
            <a:ext cx="3306928" cy="2103120"/>
          </a:xfrm>
          <a:prstGeom prst="roundRect">
            <a:avLst>
              <a:gd name="adj" fmla="val 4348"/>
            </a:avLst>
          </a:prstGeom>
          <a:solidFill>
            <a:schemeClr val="bg1"/>
          </a:solidFill>
          <a:ln w="12700">
            <a:solidFill>
              <a:srgbClr val="D9E0EA"/>
            </a:solidFill>
            <a:prstDash val="solid"/>
          </a:ln>
        </p:spPr>
      </p:sp>
      <p:sp>
        <p:nvSpPr>
          <p:cNvPr id="38" name="Fecha fondo 2025-2"/>
          <p:cNvSpPr/>
          <p:nvPr/>
        </p:nvSpPr>
        <p:spPr>
          <a:xfrm>
            <a:off x="8473288" y="1234440"/>
            <a:ext cx="914400" cy="1828800"/>
          </a:xfrm>
          <a:prstGeom prst="roundRect">
            <a:avLst>
              <a:gd name="adj" fmla="val 10000"/>
            </a:avLst>
          </a:prstGeom>
          <a:solidFill>
            <a:schemeClr val="accent1"/>
          </a:solidFill>
          <a:ln w="12700">
            <a:solidFill>
              <a:schemeClr val="accent1">
                <a:alpha val="0"/>
              </a:schemeClr>
            </a:solidFill>
            <a:prstDash val="solid"/>
          </a:ln>
        </p:spPr>
      </p:sp>
      <p:sp>
        <p:nvSpPr>
          <p:cNvPr id="39" name="Fecha día 2025-2"/>
          <p:cNvSpPr txBox="1"/>
          <p:nvPr/>
        </p:nvSpPr>
        <p:spPr>
          <a:xfrm>
            <a:off x="8473288" y="1554480"/>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05</a:t>
            </a:r>
            <a:endParaRPr lang="en-US" sz="3400" dirty="0"/>
          </a:p>
        </p:txBody>
      </p:sp>
      <p:sp>
        <p:nvSpPr>
          <p:cNvPr id="40" name="Fecha mes 2025-2"/>
          <p:cNvSpPr txBox="1"/>
          <p:nvPr/>
        </p:nvSpPr>
        <p:spPr>
          <a:xfrm>
            <a:off x="8473288" y="2121408"/>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NOV</a:t>
            </a:r>
            <a:endParaRPr lang="en-US" sz="1400" dirty="0"/>
          </a:p>
        </p:txBody>
      </p:sp>
      <p:sp>
        <p:nvSpPr>
          <p:cNvPr id="41" name="Fecha año 2025-2"/>
          <p:cNvSpPr txBox="1"/>
          <p:nvPr/>
        </p:nvSpPr>
        <p:spPr>
          <a:xfrm>
            <a:off x="8473288" y="2423160"/>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2025</a:t>
            </a:r>
            <a:endParaRPr lang="en-US" sz="1200" dirty="0"/>
          </a:p>
        </p:txBody>
      </p:sp>
      <p:sp>
        <p:nvSpPr>
          <p:cNvPr id="42" name="Tipo 2025-2"/>
          <p:cNvSpPr txBox="1"/>
          <p:nvPr/>
        </p:nvSpPr>
        <p:spPr>
          <a:xfrm>
            <a:off x="9570568" y="1261872"/>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Resultados preliminares</a:t>
            </a:r>
            <a:endParaRPr lang="en-US" sz="1400" dirty="0"/>
          </a:p>
        </p:txBody>
      </p:sp>
      <p:sp>
        <p:nvSpPr>
          <p:cNvPr id="43" name="Circular 2025-2"/>
          <p:cNvSpPr txBox="1"/>
          <p:nvPr/>
        </p:nvSpPr>
        <p:spPr>
          <a:xfrm>
            <a:off x="9570568" y="1828800"/>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1"/>
                </a:solidFill>
              </a:rPr>
              <a:t>DS-SABAO-BCS-BC-17003</a:t>
            </a:r>
            <a:endParaRPr lang="en-US" sz="1100" dirty="0"/>
          </a:p>
        </p:txBody>
      </p:sp>
      <p:sp>
        <p:nvSpPr>
          <p:cNvPr id="44" name="Separador 2025-2-0"/>
          <p:cNvSpPr/>
          <p:nvPr/>
        </p:nvSpPr>
        <p:spPr>
          <a:xfrm>
            <a:off x="9570568" y="2340864"/>
            <a:ext cx="1935328" cy="0"/>
          </a:xfrm>
          <a:prstGeom prst="line">
            <a:avLst/>
          </a:prstGeom>
          <a:noFill/>
          <a:ln w="9525">
            <a:solidFill>
              <a:srgbClr val="D9E0EA"/>
            </a:solidFill>
            <a:prstDash val="solid"/>
          </a:ln>
        </p:spPr>
      </p:sp>
      <p:sp>
        <p:nvSpPr>
          <p:cNvPr id="45" name="Dato 2025-2-0"/>
          <p:cNvSpPr txBox="1"/>
          <p:nvPr/>
        </p:nvSpPr>
        <p:spPr>
          <a:xfrm>
            <a:off x="9570568" y="237744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Resultado  </a:t>
            </a:r>
            <a:pPr indent="0" marL="0">
              <a:buNone/>
            </a:pPr>
            <a:r>
              <a:rPr lang="en-US" sz="1150" b="1" dirty="0">
                <a:solidFill>
                  <a:schemeClr val="tx1"/>
                </a:solidFill>
              </a:rPr>
              <a:t>9 observaciones</a:t>
            </a:r>
            <a:endParaRPr lang="en-US" sz="1150" dirty="0"/>
          </a:p>
        </p:txBody>
      </p:sp>
      <p:sp>
        <p:nvSpPr>
          <p:cNvPr id="46" name="Separador 2025-2-1"/>
          <p:cNvSpPr/>
          <p:nvPr/>
        </p:nvSpPr>
        <p:spPr>
          <a:xfrm>
            <a:off x="9570568" y="2706624"/>
            <a:ext cx="1935328" cy="0"/>
          </a:xfrm>
          <a:prstGeom prst="line">
            <a:avLst/>
          </a:prstGeom>
          <a:noFill/>
          <a:ln w="9525">
            <a:solidFill>
              <a:srgbClr val="D9E0EA"/>
            </a:solidFill>
            <a:prstDash val="solid"/>
          </a:ln>
        </p:spPr>
      </p:sp>
      <p:sp>
        <p:nvSpPr>
          <p:cNvPr id="47" name="Dato 2025-2-1"/>
          <p:cNvSpPr txBox="1"/>
          <p:nvPr/>
        </p:nvSpPr>
        <p:spPr>
          <a:xfrm>
            <a:off x="9570568" y="274320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Descargos  </a:t>
            </a:r>
            <a:pPr indent="0" marL="0">
              <a:buNone/>
            </a:pPr>
            <a:r>
              <a:rPr lang="en-US" sz="1150" b="1" dirty="0">
                <a:solidFill>
                  <a:schemeClr val="tx1"/>
                </a:solidFill>
              </a:rPr>
              <a:t>10 días hábiles</a:t>
            </a:r>
            <a:endParaRPr lang="en-US" sz="1150" dirty="0"/>
          </a:p>
        </p:txBody>
      </p:sp>
      <p:sp>
        <p:nvSpPr>
          <p:cNvPr id="48" name="Flecha 2025"/>
          <p:cNvSpPr/>
          <p:nvPr/>
        </p:nvSpPr>
        <p:spPr>
          <a:xfrm>
            <a:off x="7970368" y="2011680"/>
            <a:ext cx="274320" cy="274320"/>
          </a:xfrm>
          <a:prstGeom prst="rightArrow">
            <a:avLst/>
          </a:prstGeom>
          <a:solidFill>
            <a:schemeClr val="accent1"/>
          </a:solidFill>
          <a:ln w="12700">
            <a:solidFill>
              <a:schemeClr val="accent1">
                <a:alpha val="0"/>
              </a:schemeClr>
            </a:solidFill>
            <a:prstDash val="solid"/>
          </a:ln>
        </p:spPr>
      </p:sp>
      <p:sp>
        <p:nvSpPr>
          <p:cNvPr id="49" name="Año 2026"/>
          <p:cNvSpPr txBox="1"/>
          <p:nvPr/>
        </p:nvSpPr>
        <p:spPr>
          <a:xfrm>
            <a:off x="4572000" y="3401568"/>
            <a:ext cx="1188720" cy="50292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2026</a:t>
            </a:r>
            <a:endParaRPr lang="en-US" sz="3000" dirty="0"/>
          </a:p>
        </p:txBody>
      </p:sp>
      <p:sp>
        <p:nvSpPr>
          <p:cNvPr id="50" name="Visita 2026"/>
          <p:cNvSpPr txBox="1"/>
          <p:nvPr/>
        </p:nvSpPr>
        <p:spPr>
          <a:xfrm>
            <a:off x="5806440" y="3401568"/>
            <a:ext cx="3657600" cy="502920"/>
          </a:xfrm>
          <a:prstGeom prst="rect">
            <a:avLst/>
          </a:prstGeom>
          <a:noFill/>
          <a:ln/>
        </p:spPr>
        <p:txBody>
          <a:bodyPr wrap="square" lIns="0" tIns="0" rIns="0" bIns="0" rtlCol="0" anchor="ctr"/>
          <a:lstStyle/>
          <a:p>
            <a:pPr indent="0" marL="0">
              <a:buNone/>
            </a:pPr>
            <a:r>
              <a:rPr lang="en-US" sz="1400" dirty="0">
                <a:solidFill>
                  <a:schemeClr val="accent5"/>
                </a:solidFill>
              </a:rPr>
              <a:t>Visita 2 · supervisión ampliada</a:t>
            </a:r>
            <a:endParaRPr lang="en-US" sz="1400" dirty="0"/>
          </a:p>
        </p:txBody>
      </p:sp>
      <p:sp>
        <p:nvSpPr>
          <p:cNvPr id="51" name="Tarjeta 2026-1"/>
          <p:cNvSpPr/>
          <p:nvPr/>
        </p:nvSpPr>
        <p:spPr>
          <a:xfrm>
            <a:off x="4572000" y="4041648"/>
            <a:ext cx="3306928" cy="2103120"/>
          </a:xfrm>
          <a:prstGeom prst="roundRect">
            <a:avLst>
              <a:gd name="adj" fmla="val 4348"/>
            </a:avLst>
          </a:prstGeom>
          <a:solidFill>
            <a:schemeClr val="bg1"/>
          </a:solidFill>
          <a:ln w="12700">
            <a:solidFill>
              <a:srgbClr val="D9E0EA"/>
            </a:solidFill>
            <a:prstDash val="solid"/>
          </a:ln>
        </p:spPr>
      </p:sp>
      <p:sp>
        <p:nvSpPr>
          <p:cNvPr id="52" name="Fecha fondo 2026-1"/>
          <p:cNvSpPr/>
          <p:nvPr/>
        </p:nvSpPr>
        <p:spPr>
          <a:xfrm>
            <a:off x="4709160" y="4178808"/>
            <a:ext cx="914400" cy="1828800"/>
          </a:xfrm>
          <a:prstGeom prst="roundRect">
            <a:avLst>
              <a:gd name="adj" fmla="val 10000"/>
            </a:avLst>
          </a:prstGeom>
          <a:solidFill>
            <a:schemeClr val="accent2"/>
          </a:solidFill>
          <a:ln w="12700">
            <a:solidFill>
              <a:schemeClr val="accent2">
                <a:alpha val="0"/>
              </a:schemeClr>
            </a:solidFill>
            <a:prstDash val="solid"/>
          </a:ln>
        </p:spPr>
      </p:sp>
      <p:sp>
        <p:nvSpPr>
          <p:cNvPr id="53" name="Fecha día 2026-1"/>
          <p:cNvSpPr txBox="1"/>
          <p:nvPr/>
        </p:nvSpPr>
        <p:spPr>
          <a:xfrm>
            <a:off x="4709160" y="4498848"/>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31</a:t>
            </a:r>
            <a:endParaRPr lang="en-US" sz="3400" dirty="0"/>
          </a:p>
        </p:txBody>
      </p:sp>
      <p:sp>
        <p:nvSpPr>
          <p:cNvPr id="54" name="Fecha mes 2026-1"/>
          <p:cNvSpPr txBox="1"/>
          <p:nvPr/>
        </p:nvSpPr>
        <p:spPr>
          <a:xfrm>
            <a:off x="4709160" y="5065776"/>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JUL</a:t>
            </a:r>
            <a:endParaRPr lang="en-US" sz="1400" dirty="0"/>
          </a:p>
        </p:txBody>
      </p:sp>
      <p:sp>
        <p:nvSpPr>
          <p:cNvPr id="55" name="Fecha año 2026-1"/>
          <p:cNvSpPr txBox="1"/>
          <p:nvPr/>
        </p:nvSpPr>
        <p:spPr>
          <a:xfrm>
            <a:off x="4709160" y="5367528"/>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2026</a:t>
            </a:r>
            <a:endParaRPr lang="en-US" sz="1200" dirty="0"/>
          </a:p>
        </p:txBody>
      </p:sp>
      <p:sp>
        <p:nvSpPr>
          <p:cNvPr id="56" name="Tipo 2026-1"/>
          <p:cNvSpPr txBox="1"/>
          <p:nvPr/>
        </p:nvSpPr>
        <p:spPr>
          <a:xfrm>
            <a:off x="5806440" y="4206240"/>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Nombramiento de visita ampliada</a:t>
            </a:r>
            <a:endParaRPr lang="en-US" sz="1400" dirty="0"/>
          </a:p>
        </p:txBody>
      </p:sp>
      <p:sp>
        <p:nvSpPr>
          <p:cNvPr id="57" name="Circular 2026-1"/>
          <p:cNvSpPr txBox="1"/>
          <p:nvPr/>
        </p:nvSpPr>
        <p:spPr>
          <a:xfrm>
            <a:off x="5806440" y="4773168"/>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2"/>
                </a:solidFill>
              </a:rPr>
              <a:t>SABAO-BCS-BC-18432</a:t>
            </a:r>
            <a:endParaRPr lang="en-US" sz="1100" dirty="0"/>
          </a:p>
        </p:txBody>
      </p:sp>
      <p:sp>
        <p:nvSpPr>
          <p:cNvPr id="58" name="Separador 2026-1-0"/>
          <p:cNvSpPr/>
          <p:nvPr/>
        </p:nvSpPr>
        <p:spPr>
          <a:xfrm>
            <a:off x="5806440" y="5285232"/>
            <a:ext cx="1935328" cy="0"/>
          </a:xfrm>
          <a:prstGeom prst="line">
            <a:avLst/>
          </a:prstGeom>
          <a:noFill/>
          <a:ln w="9525">
            <a:solidFill>
              <a:srgbClr val="D9E0EA"/>
            </a:solidFill>
            <a:prstDash val="solid"/>
          </a:ln>
        </p:spPr>
      </p:sp>
      <p:sp>
        <p:nvSpPr>
          <p:cNvPr id="59" name="Dato 2026-1-0"/>
          <p:cNvSpPr txBox="1"/>
          <p:nvPr/>
        </p:nvSpPr>
        <p:spPr>
          <a:xfrm>
            <a:off x="5806440" y="532180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Corte  </a:t>
            </a:r>
            <a:pPr indent="0" marL="0">
              <a:buNone/>
            </a:pPr>
            <a:r>
              <a:rPr lang="en-US" sz="1150" b="1" dirty="0">
                <a:solidFill>
                  <a:schemeClr val="tx1"/>
                </a:solidFill>
              </a:rPr>
              <a:t>31/07/2026</a:t>
            </a:r>
            <a:endParaRPr lang="en-US" sz="1150" dirty="0"/>
          </a:p>
        </p:txBody>
      </p:sp>
      <p:sp>
        <p:nvSpPr>
          <p:cNvPr id="60" name="Separador 2026-1-1"/>
          <p:cNvSpPr/>
          <p:nvPr/>
        </p:nvSpPr>
        <p:spPr>
          <a:xfrm>
            <a:off x="5806440" y="5650992"/>
            <a:ext cx="1935328" cy="0"/>
          </a:xfrm>
          <a:prstGeom prst="line">
            <a:avLst/>
          </a:prstGeom>
          <a:noFill/>
          <a:ln w="9525">
            <a:solidFill>
              <a:srgbClr val="D9E0EA"/>
            </a:solidFill>
            <a:prstDash val="solid"/>
          </a:ln>
        </p:spPr>
      </p:sp>
      <p:sp>
        <p:nvSpPr>
          <p:cNvPr id="61" name="Dato 2026-1-1"/>
          <p:cNvSpPr txBox="1"/>
          <p:nvPr/>
        </p:nvSpPr>
        <p:spPr>
          <a:xfrm>
            <a:off x="5806440" y="568756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Inicio de visita  </a:t>
            </a:r>
            <a:pPr indent="0" marL="0">
              <a:buNone/>
            </a:pPr>
            <a:r>
              <a:rPr lang="en-US" sz="1150" b="1" dirty="0">
                <a:solidFill>
                  <a:schemeClr val="tx1"/>
                </a:solidFill>
              </a:rPr>
              <a:t>21/08/2026</a:t>
            </a:r>
            <a:endParaRPr lang="en-US" sz="1150" dirty="0"/>
          </a:p>
        </p:txBody>
      </p:sp>
      <p:sp>
        <p:nvSpPr>
          <p:cNvPr id="62" name="Tarjeta 2026-2"/>
          <p:cNvSpPr/>
          <p:nvPr/>
        </p:nvSpPr>
        <p:spPr>
          <a:xfrm>
            <a:off x="8336128" y="4041648"/>
            <a:ext cx="3306928" cy="2103120"/>
          </a:xfrm>
          <a:prstGeom prst="roundRect">
            <a:avLst>
              <a:gd name="adj" fmla="val 4348"/>
            </a:avLst>
          </a:prstGeom>
          <a:solidFill>
            <a:schemeClr val="bg1"/>
          </a:solidFill>
          <a:ln w="12700">
            <a:solidFill>
              <a:srgbClr val="D9E0EA"/>
            </a:solidFill>
            <a:prstDash val="solid"/>
          </a:ln>
        </p:spPr>
      </p:sp>
      <p:sp>
        <p:nvSpPr>
          <p:cNvPr id="63" name="Fecha fondo 2026-2"/>
          <p:cNvSpPr/>
          <p:nvPr/>
        </p:nvSpPr>
        <p:spPr>
          <a:xfrm>
            <a:off x="8473288" y="4178808"/>
            <a:ext cx="914400" cy="1828800"/>
          </a:xfrm>
          <a:prstGeom prst="roundRect">
            <a:avLst>
              <a:gd name="adj" fmla="val 10000"/>
            </a:avLst>
          </a:prstGeom>
          <a:solidFill>
            <a:schemeClr val="accent2"/>
          </a:solidFill>
          <a:ln w="12700">
            <a:solidFill>
              <a:schemeClr val="accent2">
                <a:alpha val="0"/>
              </a:schemeClr>
            </a:solidFill>
            <a:prstDash val="solid"/>
          </a:ln>
        </p:spPr>
      </p:sp>
      <p:sp>
        <p:nvSpPr>
          <p:cNvPr id="64" name="Fecha día 2026-2"/>
          <p:cNvSpPr txBox="1"/>
          <p:nvPr/>
        </p:nvSpPr>
        <p:spPr>
          <a:xfrm>
            <a:off x="8473288" y="4498848"/>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09</a:t>
            </a:r>
            <a:endParaRPr lang="en-US" sz="3400" dirty="0"/>
          </a:p>
        </p:txBody>
      </p:sp>
      <p:sp>
        <p:nvSpPr>
          <p:cNvPr id="65" name="Fecha mes 2026-2"/>
          <p:cNvSpPr txBox="1"/>
          <p:nvPr/>
        </p:nvSpPr>
        <p:spPr>
          <a:xfrm>
            <a:off x="8473288" y="5065776"/>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OCT</a:t>
            </a:r>
            <a:endParaRPr lang="en-US" sz="1400" dirty="0"/>
          </a:p>
        </p:txBody>
      </p:sp>
      <p:sp>
        <p:nvSpPr>
          <p:cNvPr id="66" name="Fecha año 2026-2"/>
          <p:cNvSpPr txBox="1"/>
          <p:nvPr/>
        </p:nvSpPr>
        <p:spPr>
          <a:xfrm>
            <a:off x="8473288" y="5367528"/>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2026</a:t>
            </a:r>
            <a:endParaRPr lang="en-US" sz="1200" dirty="0"/>
          </a:p>
        </p:txBody>
      </p:sp>
      <p:sp>
        <p:nvSpPr>
          <p:cNvPr id="67" name="Tipo 2026-2"/>
          <p:cNvSpPr txBox="1"/>
          <p:nvPr/>
        </p:nvSpPr>
        <p:spPr>
          <a:xfrm>
            <a:off x="9570568" y="4206240"/>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Resultados preliminares</a:t>
            </a:r>
            <a:endParaRPr lang="en-US" sz="1400" dirty="0"/>
          </a:p>
        </p:txBody>
      </p:sp>
      <p:sp>
        <p:nvSpPr>
          <p:cNvPr id="68" name="Circular 2026-2"/>
          <p:cNvSpPr txBox="1"/>
          <p:nvPr/>
        </p:nvSpPr>
        <p:spPr>
          <a:xfrm>
            <a:off x="9570568" y="4773168"/>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2"/>
                </a:solidFill>
              </a:rPr>
              <a:t>DS-SABAO-BCS-BC-22741</a:t>
            </a:r>
            <a:endParaRPr lang="en-US" sz="1100" dirty="0"/>
          </a:p>
        </p:txBody>
      </p:sp>
      <p:sp>
        <p:nvSpPr>
          <p:cNvPr id="69" name="Separador 2026-2-0"/>
          <p:cNvSpPr/>
          <p:nvPr/>
        </p:nvSpPr>
        <p:spPr>
          <a:xfrm>
            <a:off x="9570568" y="5285232"/>
            <a:ext cx="1935328" cy="0"/>
          </a:xfrm>
          <a:prstGeom prst="line">
            <a:avLst/>
          </a:prstGeom>
          <a:noFill/>
          <a:ln w="9525">
            <a:solidFill>
              <a:srgbClr val="D9E0EA"/>
            </a:solidFill>
            <a:prstDash val="solid"/>
          </a:ln>
        </p:spPr>
      </p:sp>
      <p:sp>
        <p:nvSpPr>
          <p:cNvPr id="70" name="Dato 2026-2-0"/>
          <p:cNvSpPr txBox="1"/>
          <p:nvPr/>
        </p:nvSpPr>
        <p:spPr>
          <a:xfrm>
            <a:off x="9570568" y="532180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Anexo A  </a:t>
            </a:r>
            <a:pPr indent="0" marL="0">
              <a:buNone/>
            </a:pPr>
            <a:r>
              <a:rPr lang="en-US" sz="1150" b="1" dirty="0">
                <a:solidFill>
                  <a:schemeClr val="tx1"/>
                </a:solidFill>
              </a:rPr>
              <a:t>7 nuevas</a:t>
            </a:r>
            <a:endParaRPr lang="en-US" sz="1150" dirty="0"/>
          </a:p>
        </p:txBody>
      </p:sp>
      <p:sp>
        <p:nvSpPr>
          <p:cNvPr id="71" name="Separador 2026-2-1"/>
          <p:cNvSpPr/>
          <p:nvPr/>
        </p:nvSpPr>
        <p:spPr>
          <a:xfrm>
            <a:off x="9570568" y="5650992"/>
            <a:ext cx="1935328" cy="0"/>
          </a:xfrm>
          <a:prstGeom prst="line">
            <a:avLst/>
          </a:prstGeom>
          <a:noFill/>
          <a:ln w="9525">
            <a:solidFill>
              <a:srgbClr val="D9E0EA"/>
            </a:solidFill>
            <a:prstDash val="solid"/>
          </a:ln>
        </p:spPr>
      </p:sp>
      <p:sp>
        <p:nvSpPr>
          <p:cNvPr id="72" name="Dato 2026-2-1"/>
          <p:cNvSpPr txBox="1"/>
          <p:nvPr/>
        </p:nvSpPr>
        <p:spPr>
          <a:xfrm>
            <a:off x="9570568" y="568756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Anexo B  </a:t>
            </a:r>
            <a:pPr indent="0" marL="0">
              <a:buNone/>
            </a:pPr>
            <a:r>
              <a:rPr lang="en-US" sz="1150" b="1" dirty="0">
                <a:solidFill>
                  <a:schemeClr val="tx1"/>
                </a:solidFill>
              </a:rPr>
              <a:t>obs. 3 y 5 de 2025</a:t>
            </a:r>
            <a:endParaRPr lang="en-US" sz="1150" dirty="0"/>
          </a:p>
        </p:txBody>
      </p:sp>
      <p:sp>
        <p:nvSpPr>
          <p:cNvPr id="73" name="Flecha 2026"/>
          <p:cNvSpPr/>
          <p:nvPr/>
        </p:nvSpPr>
        <p:spPr>
          <a:xfrm>
            <a:off x="7970368" y="4956048"/>
            <a:ext cx="274320" cy="274320"/>
          </a:xfrm>
          <a:prstGeom prst="rightArrow">
            <a:avLst/>
          </a:prstGeom>
          <a:solidFill>
            <a:schemeClr val="accent2"/>
          </a:solidFill>
          <a:ln w="12700">
            <a:solidFill>
              <a:schemeClr val="accent2">
                <a:alpha val="0"/>
              </a:schemeClr>
            </a:solidFill>
            <a:prstDash val="solid"/>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CIRCULAR DS-SABAO-BCS-BC-17003 · VISITA CON CORTE AL 30/04/2025</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Observaciones 2025</a:t>
            </a:r>
            <a:endParaRPr lang="en-US" sz="3000" dirty="0"/>
          </a:p>
        </p:txBody>
      </p:sp>
      <p:sp>
        <p:nvSpPr>
          <p:cNvPr id="4" name="Leyenda 2025 punto"/>
          <p:cNvSpPr/>
          <p:nvPr/>
        </p:nvSpPr>
        <p:spPr>
          <a:xfrm>
            <a:off x="8549640" y="841248"/>
            <a:ext cx="146304" cy="146304"/>
          </a:xfrm>
          <a:prstGeom prst="ellipse">
            <a:avLst/>
          </a:prstGeom>
          <a:solidFill>
            <a:schemeClr val="accent1"/>
          </a:solidFill>
          <a:ln w="12700">
            <a:solidFill>
              <a:schemeClr val="accent1">
                <a:alpha val="0"/>
              </a:schemeClr>
            </a:solidFill>
            <a:prstDash val="solid"/>
          </a:ln>
        </p:spPr>
      </p:sp>
      <p:sp>
        <p:nvSpPr>
          <p:cNvPr id="5" name="Leyenda 2025"/>
          <p:cNvSpPr txBox="1"/>
          <p:nvPr/>
        </p:nvSpPr>
        <p:spPr>
          <a:xfrm>
            <a:off x="8769096" y="777240"/>
            <a:ext cx="1280160" cy="274320"/>
          </a:xfrm>
          <a:prstGeom prst="rect">
            <a:avLst/>
          </a:prstGeom>
          <a:noFill/>
          <a:ln/>
        </p:spPr>
        <p:txBody>
          <a:bodyPr wrap="square" lIns="0" tIns="0" rIns="0" bIns="0" rtlCol="0" anchor="ctr"/>
          <a:lstStyle/>
          <a:p>
            <a:pPr indent="0" marL="0">
              <a:buNone/>
            </a:pPr>
            <a:r>
              <a:rPr lang="en-US" sz="1100" dirty="0">
                <a:solidFill>
                  <a:schemeClr val="accent5"/>
                </a:solidFill>
              </a:rPr>
              <a:t>Observación 2025</a:t>
            </a:r>
            <a:endParaRPr lang="en-US" sz="1100" dirty="0"/>
          </a:p>
        </p:txBody>
      </p:sp>
      <p:sp>
        <p:nvSpPr>
          <p:cNvPr id="6" name="Leyenda abierta punto"/>
          <p:cNvSpPr/>
          <p:nvPr/>
        </p:nvSpPr>
        <p:spPr>
          <a:xfrm>
            <a:off x="9921240" y="841248"/>
            <a:ext cx="146304" cy="146304"/>
          </a:xfrm>
          <a:prstGeom prst="ellipse">
            <a:avLst/>
          </a:prstGeom>
          <a:solidFill>
            <a:schemeClr val="accent3"/>
          </a:solidFill>
          <a:ln w="12700">
            <a:solidFill>
              <a:schemeClr val="accent3">
                <a:alpha val="0"/>
              </a:schemeClr>
            </a:solidFill>
            <a:prstDash val="solid"/>
          </a:ln>
        </p:spPr>
      </p:sp>
      <p:sp>
        <p:nvSpPr>
          <p:cNvPr id="7" name="Leyenda abierta"/>
          <p:cNvSpPr txBox="1"/>
          <p:nvPr/>
        </p:nvSpPr>
        <p:spPr>
          <a:xfrm>
            <a:off x="10140696" y="777240"/>
            <a:ext cx="1783080" cy="274320"/>
          </a:xfrm>
          <a:prstGeom prst="rect">
            <a:avLst/>
          </a:prstGeom>
          <a:noFill/>
          <a:ln/>
        </p:spPr>
        <p:txBody>
          <a:bodyPr wrap="square" lIns="0" tIns="0" rIns="0" bIns="0" rtlCol="0" anchor="ctr"/>
          <a:lstStyle/>
          <a:p>
            <a:pPr indent="0" marL="0">
              <a:buNone/>
            </a:pPr>
            <a:r>
              <a:rPr lang="en-US" sz="1100" dirty="0">
                <a:solidFill>
                  <a:schemeClr val="accent5"/>
                </a:solidFill>
              </a:rPr>
              <a:t>En seguimiento SSF 2026</a:t>
            </a:r>
            <a:endParaRPr lang="en-US" sz="1100" dirty="0"/>
          </a:p>
        </p:txBody>
      </p:sp>
      <p:sp>
        <p:nvSpPr>
          <p:cNvPr id="8" name="Observación 2025-1"/>
          <p:cNvSpPr/>
          <p:nvPr/>
        </p:nvSpPr>
        <p:spPr>
          <a:xfrm>
            <a:off x="548640" y="1325880"/>
            <a:ext cx="3606698" cy="1600200"/>
          </a:xfrm>
          <a:prstGeom prst="roundRect">
            <a:avLst>
              <a:gd name="adj" fmla="val 5714"/>
            </a:avLst>
          </a:prstGeom>
          <a:solidFill>
            <a:schemeClr val="bg2"/>
          </a:solidFill>
          <a:ln w="12700">
            <a:solidFill>
              <a:schemeClr val="bg2">
                <a:alpha val="0"/>
              </a:schemeClr>
            </a:solidFill>
            <a:prstDash val="solid"/>
          </a:ln>
        </p:spPr>
      </p:sp>
      <p:sp>
        <p:nvSpPr>
          <p:cNvPr id="9" name="Número 2025-1 círculo"/>
          <p:cNvSpPr/>
          <p:nvPr/>
        </p:nvSpPr>
        <p:spPr>
          <a:xfrm>
            <a:off x="731520" y="1508760"/>
            <a:ext cx="384048" cy="384048"/>
          </a:xfrm>
          <a:prstGeom prst="ellipse">
            <a:avLst/>
          </a:prstGeom>
          <a:solidFill>
            <a:schemeClr val="accent1"/>
          </a:solidFill>
          <a:ln w="12700">
            <a:solidFill>
              <a:schemeClr val="accent1">
                <a:alpha val="0"/>
              </a:schemeClr>
            </a:solidFill>
            <a:prstDash val="solid"/>
          </a:ln>
        </p:spPr>
      </p:sp>
      <p:sp>
        <p:nvSpPr>
          <p:cNvPr id="10" name="Número 2025-1"/>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1</a:t>
            </a:r>
            <a:endParaRPr lang="en-US" sz="1200" dirty="0"/>
          </a:p>
        </p:txBody>
      </p:sp>
      <p:sp>
        <p:nvSpPr>
          <p:cNvPr id="11" name="Título 2025-1"/>
          <p:cNvSpPr txBox="1"/>
          <p:nvPr/>
        </p:nvSpPr>
        <p:spPr>
          <a:xfrm>
            <a:off x="1234440" y="144475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Falta de Política de Operaciones Vinculadas</a:t>
            </a:r>
            <a:endParaRPr lang="en-US" sz="1250" dirty="0"/>
          </a:p>
        </p:txBody>
      </p:sp>
      <p:sp>
        <p:nvSpPr>
          <p:cNvPr id="12" name="Detalle 2025-1"/>
          <p:cNvSpPr txBox="1"/>
          <p:nvPr/>
        </p:nvSpPr>
        <p:spPr>
          <a:xfrm>
            <a:off x="731520" y="209397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12 literal c) NRP-17</a:t>
            </a:r>
            <a:endParaRPr lang="en-US" sz="1050" dirty="0"/>
          </a:p>
        </p:txBody>
      </p:sp>
      <p:sp>
        <p:nvSpPr>
          <p:cNvPr id="13" name="Observación 2025-2"/>
          <p:cNvSpPr/>
          <p:nvPr/>
        </p:nvSpPr>
        <p:spPr>
          <a:xfrm>
            <a:off x="4292498" y="1325880"/>
            <a:ext cx="3606698" cy="1600200"/>
          </a:xfrm>
          <a:prstGeom prst="roundRect">
            <a:avLst>
              <a:gd name="adj" fmla="val 5714"/>
            </a:avLst>
          </a:prstGeom>
          <a:solidFill>
            <a:schemeClr val="bg2"/>
          </a:solidFill>
          <a:ln w="12700">
            <a:solidFill>
              <a:schemeClr val="bg2">
                <a:alpha val="0"/>
              </a:schemeClr>
            </a:solidFill>
            <a:prstDash val="solid"/>
          </a:ln>
        </p:spPr>
      </p:sp>
      <p:sp>
        <p:nvSpPr>
          <p:cNvPr id="14" name="Número 2025-2 círculo"/>
          <p:cNvSpPr/>
          <p:nvPr/>
        </p:nvSpPr>
        <p:spPr>
          <a:xfrm>
            <a:off x="4475378" y="1508760"/>
            <a:ext cx="384048" cy="384048"/>
          </a:xfrm>
          <a:prstGeom prst="ellipse">
            <a:avLst/>
          </a:prstGeom>
          <a:solidFill>
            <a:schemeClr val="accent1"/>
          </a:solidFill>
          <a:ln w="12700">
            <a:solidFill>
              <a:schemeClr val="accent1">
                <a:alpha val="0"/>
              </a:schemeClr>
            </a:solidFill>
            <a:prstDash val="solid"/>
          </a:ln>
        </p:spPr>
      </p:sp>
      <p:sp>
        <p:nvSpPr>
          <p:cNvPr id="15" name="Número 2025-2"/>
          <p:cNvSpPr txBox="1"/>
          <p:nvPr/>
        </p:nvSpPr>
        <p:spPr>
          <a:xfrm>
            <a:off x="4475378"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2</a:t>
            </a:r>
            <a:endParaRPr lang="en-US" sz="1200" dirty="0"/>
          </a:p>
        </p:txBody>
      </p:sp>
      <p:sp>
        <p:nvSpPr>
          <p:cNvPr id="16" name="Título 2025-2"/>
          <p:cNvSpPr txBox="1"/>
          <p:nvPr/>
        </p:nvSpPr>
        <p:spPr>
          <a:xfrm>
            <a:off x="4978298" y="144475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Sin evidencia de firma de confidencialidad ni fechas de inducción en actas</a:t>
            </a:r>
            <a:endParaRPr lang="en-US" sz="1250" dirty="0"/>
          </a:p>
        </p:txBody>
      </p:sp>
      <p:sp>
        <p:nvSpPr>
          <p:cNvPr id="17" name="Detalle 2025-2"/>
          <p:cNvSpPr txBox="1"/>
          <p:nvPr/>
        </p:nvSpPr>
        <p:spPr>
          <a:xfrm>
            <a:off x="4475378" y="209397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 (primera sesión con nuevos miembros)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Manual de Inducción y Capacitación</a:t>
            </a:r>
            <a:endParaRPr lang="en-US" sz="1050" dirty="0"/>
          </a:p>
        </p:txBody>
      </p:sp>
      <p:sp>
        <p:nvSpPr>
          <p:cNvPr id="18" name="Observación 2025-3"/>
          <p:cNvSpPr/>
          <p:nvPr/>
        </p:nvSpPr>
        <p:spPr>
          <a:xfrm>
            <a:off x="8036357" y="1325880"/>
            <a:ext cx="3606698" cy="1600200"/>
          </a:xfrm>
          <a:prstGeom prst="roundRect">
            <a:avLst>
              <a:gd name="adj" fmla="val 5714"/>
            </a:avLst>
          </a:prstGeom>
          <a:solidFill>
            <a:schemeClr val="bg2"/>
          </a:solidFill>
          <a:ln w="12700">
            <a:solidFill>
              <a:schemeClr val="bg2">
                <a:alpha val="0"/>
              </a:schemeClr>
            </a:solidFill>
            <a:prstDash val="solid"/>
          </a:ln>
        </p:spPr>
      </p:sp>
      <p:sp>
        <p:nvSpPr>
          <p:cNvPr id="19" name="Número 2025-3 círculo"/>
          <p:cNvSpPr/>
          <p:nvPr/>
        </p:nvSpPr>
        <p:spPr>
          <a:xfrm>
            <a:off x="8219237" y="1508760"/>
            <a:ext cx="384048" cy="384048"/>
          </a:xfrm>
          <a:prstGeom prst="ellipse">
            <a:avLst/>
          </a:prstGeom>
          <a:solidFill>
            <a:schemeClr val="accent3"/>
          </a:solidFill>
          <a:ln w="12700">
            <a:solidFill>
              <a:schemeClr val="accent3">
                <a:alpha val="0"/>
              </a:schemeClr>
            </a:solidFill>
            <a:prstDash val="solid"/>
          </a:ln>
        </p:spPr>
      </p:sp>
      <p:sp>
        <p:nvSpPr>
          <p:cNvPr id="20" name="Número 2025-3"/>
          <p:cNvSpPr txBox="1"/>
          <p:nvPr/>
        </p:nvSpPr>
        <p:spPr>
          <a:xfrm>
            <a:off x="8219237"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3</a:t>
            </a:r>
            <a:endParaRPr lang="en-US" sz="1200" dirty="0"/>
          </a:p>
        </p:txBody>
      </p:sp>
      <p:sp>
        <p:nvSpPr>
          <p:cNvPr id="21" name="Título 2025-3"/>
          <p:cNvSpPr txBox="1"/>
          <p:nvPr/>
        </p:nvSpPr>
        <p:spPr>
          <a:xfrm>
            <a:off x="8722157" y="144475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Comités de Apoyo no integran personal ejecutivo</a:t>
            </a:r>
            <a:endParaRPr lang="en-US" sz="1250" dirty="0"/>
          </a:p>
        </p:txBody>
      </p:sp>
      <p:sp>
        <p:nvSpPr>
          <p:cNvPr id="22" name="Detalle 2025-3"/>
          <p:cNvSpPr txBox="1"/>
          <p:nvPr/>
        </p:nvSpPr>
        <p:spPr>
          <a:xfrm>
            <a:off x="8219237" y="209397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3 literal h) NRP-17</a:t>
            </a:r>
            <a:endParaRPr lang="en-US" sz="1050" dirty="0"/>
          </a:p>
          <a:p>
            <a:pPr indent="0" marL="0">
              <a:spcAft>
                <a:spcPts val="100"/>
              </a:spcAft>
              <a:buNone/>
            </a:pPr>
            <a:r>
              <a:rPr lang="en-US" sz="1050" b="1" dirty="0">
                <a:solidFill>
                  <a:schemeClr val="accent3"/>
                </a:solidFill>
              </a:rPr>
              <a:t>↳ Seguimiento 2026: NO SUPERADA</a:t>
            </a:r>
            <a:endParaRPr lang="en-US" sz="1050" dirty="0"/>
          </a:p>
        </p:txBody>
      </p:sp>
      <p:sp>
        <p:nvSpPr>
          <p:cNvPr id="23" name="Observación 2025-4"/>
          <p:cNvSpPr/>
          <p:nvPr/>
        </p:nvSpPr>
        <p:spPr>
          <a:xfrm>
            <a:off x="548640" y="3063240"/>
            <a:ext cx="3606698" cy="1600200"/>
          </a:xfrm>
          <a:prstGeom prst="roundRect">
            <a:avLst>
              <a:gd name="adj" fmla="val 5714"/>
            </a:avLst>
          </a:prstGeom>
          <a:solidFill>
            <a:schemeClr val="bg2"/>
          </a:solidFill>
          <a:ln w="12700">
            <a:solidFill>
              <a:schemeClr val="bg2">
                <a:alpha val="0"/>
              </a:schemeClr>
            </a:solidFill>
            <a:prstDash val="solid"/>
          </a:ln>
        </p:spPr>
      </p:sp>
      <p:sp>
        <p:nvSpPr>
          <p:cNvPr id="24" name="Número 2025-4 círculo"/>
          <p:cNvSpPr/>
          <p:nvPr/>
        </p:nvSpPr>
        <p:spPr>
          <a:xfrm>
            <a:off x="731520" y="3246120"/>
            <a:ext cx="384048" cy="384048"/>
          </a:xfrm>
          <a:prstGeom prst="ellipse">
            <a:avLst/>
          </a:prstGeom>
          <a:solidFill>
            <a:schemeClr val="accent1"/>
          </a:solidFill>
          <a:ln w="12700">
            <a:solidFill>
              <a:schemeClr val="accent1">
                <a:alpha val="0"/>
              </a:schemeClr>
            </a:solidFill>
            <a:prstDash val="solid"/>
          </a:ln>
        </p:spPr>
      </p:sp>
      <p:sp>
        <p:nvSpPr>
          <p:cNvPr id="25" name="Número 2025-4"/>
          <p:cNvSpPr txBox="1"/>
          <p:nvPr/>
        </p:nvSpPr>
        <p:spPr>
          <a:xfrm>
            <a:off x="731520" y="32461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26" name="Título 2025-4"/>
          <p:cNvSpPr txBox="1"/>
          <p:nvPr/>
        </p:nvSpPr>
        <p:spPr>
          <a:xfrm>
            <a:off x="1234440" y="318211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Inconsistencia en pago de dietas (Reglamento vs. Asamblea General)</a:t>
            </a:r>
            <a:endParaRPr lang="en-US" sz="1250" dirty="0"/>
          </a:p>
        </p:txBody>
      </p:sp>
      <p:sp>
        <p:nvSpPr>
          <p:cNvPr id="27" name="Detalle 2025-4"/>
          <p:cNvSpPr txBox="1"/>
          <p:nvPr/>
        </p:nvSpPr>
        <p:spPr>
          <a:xfrm>
            <a:off x="731520" y="383133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 · Asamblea General de Asociados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Arts. 12 lit. g) y q), 27 lit. a) NRP-17</a:t>
            </a:r>
            <a:endParaRPr lang="en-US" sz="1050" dirty="0"/>
          </a:p>
        </p:txBody>
      </p:sp>
      <p:sp>
        <p:nvSpPr>
          <p:cNvPr id="28" name="Observación 2025-5"/>
          <p:cNvSpPr/>
          <p:nvPr/>
        </p:nvSpPr>
        <p:spPr>
          <a:xfrm>
            <a:off x="4292498" y="3063240"/>
            <a:ext cx="3606698" cy="1600200"/>
          </a:xfrm>
          <a:prstGeom prst="roundRect">
            <a:avLst>
              <a:gd name="adj" fmla="val 5714"/>
            </a:avLst>
          </a:prstGeom>
          <a:solidFill>
            <a:schemeClr val="bg2"/>
          </a:solidFill>
          <a:ln w="12700">
            <a:solidFill>
              <a:schemeClr val="bg2">
                <a:alpha val="0"/>
              </a:schemeClr>
            </a:solidFill>
            <a:prstDash val="solid"/>
          </a:ln>
        </p:spPr>
      </p:sp>
      <p:sp>
        <p:nvSpPr>
          <p:cNvPr id="29" name="Número 2025-5 círculo"/>
          <p:cNvSpPr/>
          <p:nvPr/>
        </p:nvSpPr>
        <p:spPr>
          <a:xfrm>
            <a:off x="4475378" y="3246120"/>
            <a:ext cx="384048" cy="384048"/>
          </a:xfrm>
          <a:prstGeom prst="ellipse">
            <a:avLst/>
          </a:prstGeom>
          <a:solidFill>
            <a:schemeClr val="accent3"/>
          </a:solidFill>
          <a:ln w="12700">
            <a:solidFill>
              <a:schemeClr val="accent3">
                <a:alpha val="0"/>
              </a:schemeClr>
            </a:solidFill>
            <a:prstDash val="solid"/>
          </a:ln>
        </p:spPr>
      </p:sp>
      <p:sp>
        <p:nvSpPr>
          <p:cNvPr id="30" name="Número 2025-5"/>
          <p:cNvSpPr txBox="1"/>
          <p:nvPr/>
        </p:nvSpPr>
        <p:spPr>
          <a:xfrm>
            <a:off x="4475378" y="32461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1" name="Título 2025-5"/>
          <p:cNvSpPr txBox="1"/>
          <p:nvPr/>
        </p:nvSpPr>
        <p:spPr>
          <a:xfrm>
            <a:off x="4978298" y="318211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Normativa interna desactualizada (más de 2 años sin revisión)</a:t>
            </a:r>
            <a:endParaRPr lang="en-US" sz="1250" dirty="0"/>
          </a:p>
        </p:txBody>
      </p:sp>
      <p:sp>
        <p:nvSpPr>
          <p:cNvPr id="32" name="Detalle 2025-5"/>
          <p:cNvSpPr txBox="1"/>
          <p:nvPr/>
        </p:nvSpPr>
        <p:spPr>
          <a:xfrm>
            <a:off x="4475378" y="383133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Líderes de procesos · Departamento de Procesos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12 lit. n) NRP-17 · 9 documentos</a:t>
            </a:r>
            <a:endParaRPr lang="en-US" sz="1050" dirty="0"/>
          </a:p>
          <a:p>
            <a:pPr indent="0" marL="0">
              <a:spcAft>
                <a:spcPts val="100"/>
              </a:spcAft>
              <a:buNone/>
            </a:pPr>
            <a:r>
              <a:rPr lang="en-US" sz="1050" b="1" dirty="0">
                <a:solidFill>
                  <a:schemeClr val="accent3"/>
                </a:solidFill>
              </a:rPr>
              <a:t>↳ Seguimiento 2026: PARCIALMENTE SUPERADA</a:t>
            </a:r>
            <a:endParaRPr lang="en-US" sz="1050" dirty="0"/>
          </a:p>
        </p:txBody>
      </p:sp>
      <p:sp>
        <p:nvSpPr>
          <p:cNvPr id="33" name="Observación 2025-6"/>
          <p:cNvSpPr/>
          <p:nvPr/>
        </p:nvSpPr>
        <p:spPr>
          <a:xfrm>
            <a:off x="8036357" y="3063240"/>
            <a:ext cx="3606698" cy="1600200"/>
          </a:xfrm>
          <a:prstGeom prst="roundRect">
            <a:avLst>
              <a:gd name="adj" fmla="val 5714"/>
            </a:avLst>
          </a:prstGeom>
          <a:solidFill>
            <a:schemeClr val="bg2"/>
          </a:solidFill>
          <a:ln w="12700">
            <a:solidFill>
              <a:schemeClr val="bg2">
                <a:alpha val="0"/>
              </a:schemeClr>
            </a:solidFill>
            <a:prstDash val="solid"/>
          </a:ln>
        </p:spPr>
      </p:sp>
      <p:sp>
        <p:nvSpPr>
          <p:cNvPr id="34" name="Número 2025-6 círculo"/>
          <p:cNvSpPr/>
          <p:nvPr/>
        </p:nvSpPr>
        <p:spPr>
          <a:xfrm>
            <a:off x="8219237" y="3246120"/>
            <a:ext cx="384048" cy="384048"/>
          </a:xfrm>
          <a:prstGeom prst="ellipse">
            <a:avLst/>
          </a:prstGeom>
          <a:solidFill>
            <a:schemeClr val="accent1"/>
          </a:solidFill>
          <a:ln w="12700">
            <a:solidFill>
              <a:schemeClr val="accent1">
                <a:alpha val="0"/>
              </a:schemeClr>
            </a:solidFill>
            <a:prstDash val="solid"/>
          </a:ln>
        </p:spPr>
      </p:sp>
      <p:sp>
        <p:nvSpPr>
          <p:cNvPr id="35" name="Número 2025-6"/>
          <p:cNvSpPr txBox="1"/>
          <p:nvPr/>
        </p:nvSpPr>
        <p:spPr>
          <a:xfrm>
            <a:off x="8219237" y="32461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36" name="Título 2025-6"/>
          <p:cNvSpPr txBox="1"/>
          <p:nvPr/>
        </p:nvSpPr>
        <p:spPr>
          <a:xfrm>
            <a:off x="8722157" y="318211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Falta de soporte en expedientes de créditos de Ferias de Crédito</a:t>
            </a:r>
            <a:endParaRPr lang="en-US" sz="1250" dirty="0"/>
          </a:p>
        </p:txBody>
      </p:sp>
      <p:sp>
        <p:nvSpPr>
          <p:cNvPr id="37" name="Detalle 2025-6"/>
          <p:cNvSpPr txBox="1"/>
          <p:nvPr/>
        </p:nvSpPr>
        <p:spPr>
          <a:xfrm>
            <a:off x="8219237" y="383133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 (acuerdos de las ferias no identificados)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Sin acuerdos ni soporte de cambios de tasa</a:t>
            </a:r>
            <a:endParaRPr lang="en-US" sz="1050" dirty="0"/>
          </a:p>
        </p:txBody>
      </p:sp>
      <p:sp>
        <p:nvSpPr>
          <p:cNvPr id="38" name="Observación 2025-7"/>
          <p:cNvSpPr/>
          <p:nvPr/>
        </p:nvSpPr>
        <p:spPr>
          <a:xfrm>
            <a:off x="548640" y="4800600"/>
            <a:ext cx="3606698" cy="1600200"/>
          </a:xfrm>
          <a:prstGeom prst="roundRect">
            <a:avLst>
              <a:gd name="adj" fmla="val 5714"/>
            </a:avLst>
          </a:prstGeom>
          <a:solidFill>
            <a:schemeClr val="bg2"/>
          </a:solidFill>
          <a:ln w="12700">
            <a:solidFill>
              <a:schemeClr val="bg2">
                <a:alpha val="0"/>
              </a:schemeClr>
            </a:solidFill>
            <a:prstDash val="solid"/>
          </a:ln>
        </p:spPr>
      </p:sp>
      <p:sp>
        <p:nvSpPr>
          <p:cNvPr id="39" name="Número 2025-7 círculo"/>
          <p:cNvSpPr/>
          <p:nvPr/>
        </p:nvSpPr>
        <p:spPr>
          <a:xfrm>
            <a:off x="731520" y="4983480"/>
            <a:ext cx="384048" cy="384048"/>
          </a:xfrm>
          <a:prstGeom prst="ellipse">
            <a:avLst/>
          </a:prstGeom>
          <a:solidFill>
            <a:schemeClr val="accent1"/>
          </a:solidFill>
          <a:ln w="12700">
            <a:solidFill>
              <a:schemeClr val="accent1">
                <a:alpha val="0"/>
              </a:schemeClr>
            </a:solidFill>
            <a:prstDash val="solid"/>
          </a:ln>
        </p:spPr>
      </p:sp>
      <p:sp>
        <p:nvSpPr>
          <p:cNvPr id="40" name="Número 2025-7"/>
          <p:cNvSpPr txBox="1"/>
          <p:nvPr/>
        </p:nvSpPr>
        <p:spPr>
          <a:xfrm>
            <a:off x="731520" y="49834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1" name="Título 2025-7"/>
          <p:cNvSpPr txBox="1"/>
          <p:nvPr/>
        </p:nvSpPr>
        <p:spPr>
          <a:xfrm>
            <a:off x="1234440" y="491947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Falta de información obligatoria en declaración jurada de personas relacionadas</a:t>
            </a:r>
            <a:endParaRPr lang="en-US" sz="1250" dirty="0"/>
          </a:p>
        </p:txBody>
      </p:sp>
      <p:sp>
        <p:nvSpPr>
          <p:cNvPr id="42" name="Detalle 2025-7"/>
          <p:cNvSpPr txBox="1"/>
          <p:nvPr/>
        </p:nvSpPr>
        <p:spPr>
          <a:xfrm>
            <a:off x="731520" y="556869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Miembros del Consejo de Administración y equipo gerencial</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9 NRP-75</a:t>
            </a:r>
            <a:endParaRPr lang="en-US" sz="1050" dirty="0"/>
          </a:p>
        </p:txBody>
      </p:sp>
      <p:sp>
        <p:nvSpPr>
          <p:cNvPr id="43" name="Observación 2025-8"/>
          <p:cNvSpPr/>
          <p:nvPr/>
        </p:nvSpPr>
        <p:spPr>
          <a:xfrm>
            <a:off x="4292498" y="4800600"/>
            <a:ext cx="3606698" cy="1600200"/>
          </a:xfrm>
          <a:prstGeom prst="roundRect">
            <a:avLst>
              <a:gd name="adj" fmla="val 5714"/>
            </a:avLst>
          </a:prstGeom>
          <a:solidFill>
            <a:schemeClr val="bg2"/>
          </a:solidFill>
          <a:ln w="12700">
            <a:solidFill>
              <a:schemeClr val="bg2">
                <a:alpha val="0"/>
              </a:schemeClr>
            </a:solidFill>
            <a:prstDash val="solid"/>
          </a:ln>
        </p:spPr>
      </p:sp>
      <p:sp>
        <p:nvSpPr>
          <p:cNvPr id="44" name="Número 2025-8 círculo"/>
          <p:cNvSpPr/>
          <p:nvPr/>
        </p:nvSpPr>
        <p:spPr>
          <a:xfrm>
            <a:off x="4475378" y="4983480"/>
            <a:ext cx="384048" cy="384048"/>
          </a:xfrm>
          <a:prstGeom prst="ellipse">
            <a:avLst/>
          </a:prstGeom>
          <a:solidFill>
            <a:schemeClr val="accent1"/>
          </a:solidFill>
          <a:ln w="12700">
            <a:solidFill>
              <a:schemeClr val="accent1">
                <a:alpha val="0"/>
              </a:schemeClr>
            </a:solidFill>
            <a:prstDash val="solid"/>
          </a:ln>
        </p:spPr>
      </p:sp>
      <p:sp>
        <p:nvSpPr>
          <p:cNvPr id="45" name="Número 2025-8"/>
          <p:cNvSpPr txBox="1"/>
          <p:nvPr/>
        </p:nvSpPr>
        <p:spPr>
          <a:xfrm>
            <a:off x="4475378" y="49834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46" name="Título 2025-8"/>
          <p:cNvSpPr txBox="1"/>
          <p:nvPr/>
        </p:nvSpPr>
        <p:spPr>
          <a:xfrm>
            <a:off x="4978298" y="491947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Omisiones en procedimientos del Manual de Compras de Bienes y Servicios</a:t>
            </a:r>
            <a:endParaRPr lang="en-US" sz="1250" dirty="0"/>
          </a:p>
        </p:txBody>
      </p:sp>
      <p:sp>
        <p:nvSpPr>
          <p:cNvPr id="47" name="Detalle 2025-8"/>
          <p:cNvSpPr txBox="1"/>
          <p:nvPr/>
        </p:nvSpPr>
        <p:spPr>
          <a:xfrm>
            <a:off x="4475378" y="556869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Jefe de Servicios Generales · áreas solicitantes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Cotizaciones sin sello · sin cláusula de penalización</a:t>
            </a:r>
            <a:endParaRPr lang="en-US" sz="1050" dirty="0"/>
          </a:p>
        </p:txBody>
      </p:sp>
      <p:sp>
        <p:nvSpPr>
          <p:cNvPr id="48" name="Observación 2025-9"/>
          <p:cNvSpPr/>
          <p:nvPr/>
        </p:nvSpPr>
        <p:spPr>
          <a:xfrm>
            <a:off x="8036357" y="4800600"/>
            <a:ext cx="3606698" cy="1600200"/>
          </a:xfrm>
          <a:prstGeom prst="roundRect">
            <a:avLst>
              <a:gd name="adj" fmla="val 5714"/>
            </a:avLst>
          </a:prstGeom>
          <a:solidFill>
            <a:schemeClr val="bg2"/>
          </a:solidFill>
          <a:ln w="12700">
            <a:solidFill>
              <a:schemeClr val="bg2">
                <a:alpha val="0"/>
              </a:schemeClr>
            </a:solidFill>
            <a:prstDash val="solid"/>
          </a:ln>
        </p:spPr>
      </p:sp>
      <p:sp>
        <p:nvSpPr>
          <p:cNvPr id="49" name="Número 2025-9 círculo"/>
          <p:cNvSpPr/>
          <p:nvPr/>
        </p:nvSpPr>
        <p:spPr>
          <a:xfrm>
            <a:off x="8219237" y="4983480"/>
            <a:ext cx="384048" cy="384048"/>
          </a:xfrm>
          <a:prstGeom prst="ellipse">
            <a:avLst/>
          </a:prstGeom>
          <a:solidFill>
            <a:schemeClr val="accent1"/>
          </a:solidFill>
          <a:ln w="12700">
            <a:solidFill>
              <a:schemeClr val="accent1">
                <a:alpha val="0"/>
              </a:schemeClr>
            </a:solidFill>
            <a:prstDash val="solid"/>
          </a:ln>
        </p:spPr>
      </p:sp>
      <p:sp>
        <p:nvSpPr>
          <p:cNvPr id="50" name="Número 2025-9"/>
          <p:cNvSpPr txBox="1"/>
          <p:nvPr/>
        </p:nvSpPr>
        <p:spPr>
          <a:xfrm>
            <a:off x="8219237" y="49834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9</a:t>
            </a:r>
            <a:endParaRPr lang="en-US" sz="1200" dirty="0"/>
          </a:p>
        </p:txBody>
      </p:sp>
      <p:sp>
        <p:nvSpPr>
          <p:cNvPr id="51" name="Título 2025-9"/>
          <p:cNvSpPr txBox="1"/>
          <p:nvPr/>
        </p:nvSpPr>
        <p:spPr>
          <a:xfrm>
            <a:off x="8722157" y="491947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Uso del Fondo de Educación en fines distintos a los legales</a:t>
            </a:r>
            <a:endParaRPr lang="en-US" sz="1250" dirty="0"/>
          </a:p>
        </p:txBody>
      </p:sp>
      <p:sp>
        <p:nvSpPr>
          <p:cNvPr id="52" name="Detalle 2025-9"/>
          <p:cNvSpPr txBox="1"/>
          <p:nvPr/>
        </p:nvSpPr>
        <p:spPr>
          <a:xfrm>
            <a:off x="8219237" y="556869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Comité de Educación · Comité Socio Cultural</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59 LGAC y Art. 69 de su Reglamento</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CIRCULAR DS-SABAO-BCS-BC-22741 · VISITA CON CORTE AL 31/07/2026</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Observaciones 2026</a:t>
            </a:r>
            <a:endParaRPr lang="en-US" sz="3000" dirty="0"/>
          </a:p>
        </p:txBody>
      </p:sp>
      <p:sp>
        <p:nvSpPr>
          <p:cNvPr id="4" name="Leyenda A punto"/>
          <p:cNvSpPr/>
          <p:nvPr/>
        </p:nvSpPr>
        <p:spPr>
          <a:xfrm>
            <a:off x="8046720" y="841248"/>
            <a:ext cx="146304" cy="146304"/>
          </a:xfrm>
          <a:prstGeom prst="ellipse">
            <a:avLst/>
          </a:prstGeom>
          <a:solidFill>
            <a:schemeClr val="accent2"/>
          </a:solidFill>
          <a:ln w="12700">
            <a:solidFill>
              <a:schemeClr val="accent2">
                <a:alpha val="0"/>
              </a:schemeClr>
            </a:solidFill>
            <a:prstDash val="solid"/>
          </a:ln>
        </p:spPr>
      </p:sp>
      <p:sp>
        <p:nvSpPr>
          <p:cNvPr id="5" name="Leyenda A"/>
          <p:cNvSpPr txBox="1"/>
          <p:nvPr/>
        </p:nvSpPr>
        <p:spPr>
          <a:xfrm>
            <a:off x="8266176" y="777240"/>
            <a:ext cx="1371600" cy="274320"/>
          </a:xfrm>
          <a:prstGeom prst="rect">
            <a:avLst/>
          </a:prstGeom>
          <a:noFill/>
          <a:ln/>
        </p:spPr>
        <p:txBody>
          <a:bodyPr wrap="square" lIns="0" tIns="0" rIns="0" bIns="0" rtlCol="0" anchor="ctr"/>
          <a:lstStyle/>
          <a:p>
            <a:pPr indent="0" marL="0">
              <a:buNone/>
            </a:pPr>
            <a:r>
              <a:rPr lang="en-US" sz="1100" dirty="0">
                <a:solidFill>
                  <a:schemeClr val="accent5"/>
                </a:solidFill>
              </a:rPr>
              <a:t>Anexo A · nuevas</a:t>
            </a:r>
            <a:endParaRPr lang="en-US" sz="1100" dirty="0"/>
          </a:p>
        </p:txBody>
      </p:sp>
      <p:sp>
        <p:nvSpPr>
          <p:cNvPr id="6" name="Leyenda B punto"/>
          <p:cNvSpPr/>
          <p:nvPr/>
        </p:nvSpPr>
        <p:spPr>
          <a:xfrm>
            <a:off x="9646920" y="841248"/>
            <a:ext cx="146304" cy="146304"/>
          </a:xfrm>
          <a:prstGeom prst="ellipse">
            <a:avLst/>
          </a:prstGeom>
          <a:solidFill>
            <a:schemeClr val="accent1"/>
          </a:solidFill>
          <a:ln w="12700">
            <a:solidFill>
              <a:schemeClr val="accent1">
                <a:alpha val="0"/>
              </a:schemeClr>
            </a:solidFill>
            <a:prstDash val="solid"/>
          </a:ln>
        </p:spPr>
      </p:sp>
      <p:sp>
        <p:nvSpPr>
          <p:cNvPr id="7" name="Leyenda B"/>
          <p:cNvSpPr txBox="1"/>
          <p:nvPr/>
        </p:nvSpPr>
        <p:spPr>
          <a:xfrm>
            <a:off x="9866376" y="777240"/>
            <a:ext cx="1920240" cy="274320"/>
          </a:xfrm>
          <a:prstGeom prst="rect">
            <a:avLst/>
          </a:prstGeom>
          <a:noFill/>
          <a:ln/>
        </p:spPr>
        <p:txBody>
          <a:bodyPr wrap="square" lIns="0" tIns="0" rIns="0" bIns="0" rtlCol="0" anchor="ctr"/>
          <a:lstStyle/>
          <a:p>
            <a:pPr indent="0" marL="0">
              <a:buNone/>
            </a:pPr>
            <a:r>
              <a:rPr lang="en-US" sz="1100" dirty="0">
                <a:solidFill>
                  <a:schemeClr val="accent5"/>
                </a:solidFill>
              </a:rPr>
              <a:t>Anexo B · seguimiento 2025</a:t>
            </a:r>
            <a:endParaRPr lang="en-US" sz="1100" dirty="0"/>
          </a:p>
        </p:txBody>
      </p:sp>
      <p:sp>
        <p:nvSpPr>
          <p:cNvPr id="8" name="Etiqueta Anexo A"/>
          <p:cNvSpPr txBox="1"/>
          <p:nvPr/>
        </p:nvSpPr>
        <p:spPr>
          <a:xfrm>
            <a:off x="548640" y="1298448"/>
            <a:ext cx="8229600" cy="256032"/>
          </a:xfrm>
          <a:prstGeom prst="rect">
            <a:avLst/>
          </a:prstGeom>
          <a:noFill/>
          <a:ln/>
        </p:spPr>
        <p:txBody>
          <a:bodyPr wrap="square" lIns="0" tIns="0" rIns="0" bIns="0" rtlCol="0" anchor="t"/>
          <a:lstStyle/>
          <a:p>
            <a:pPr indent="0" marL="0">
              <a:buNone/>
            </a:pPr>
            <a:r>
              <a:rPr lang="en-US" sz="1100" b="1" spc="200" kern="0" dirty="0">
                <a:solidFill>
                  <a:schemeClr val="accent2"/>
                </a:solidFill>
              </a:rPr>
              <a:t>ANEXO A · OBSERVACIONES NUEVAS DETERMINADAS EN LA VISITA 2026</a:t>
            </a:r>
            <a:endParaRPr lang="en-US" sz="1100" dirty="0"/>
          </a:p>
        </p:txBody>
      </p:sp>
      <p:sp>
        <p:nvSpPr>
          <p:cNvPr id="9" name="Anexo A-1"/>
          <p:cNvSpPr/>
          <p:nvPr/>
        </p:nvSpPr>
        <p:spPr>
          <a:xfrm>
            <a:off x="548640"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10" name="Número A-1 círculo"/>
          <p:cNvSpPr/>
          <p:nvPr/>
        </p:nvSpPr>
        <p:spPr>
          <a:xfrm>
            <a:off x="694944" y="1728216"/>
            <a:ext cx="329184" cy="329184"/>
          </a:xfrm>
          <a:prstGeom prst="ellipse">
            <a:avLst/>
          </a:prstGeom>
          <a:solidFill>
            <a:schemeClr val="accent2"/>
          </a:solidFill>
          <a:ln w="12700">
            <a:solidFill>
              <a:schemeClr val="accent2">
                <a:alpha val="0"/>
              </a:schemeClr>
            </a:solidFill>
            <a:prstDash val="solid"/>
          </a:ln>
        </p:spPr>
      </p:sp>
      <p:sp>
        <p:nvSpPr>
          <p:cNvPr id="11" name="Número A-1"/>
          <p:cNvSpPr txBox="1"/>
          <p:nvPr/>
        </p:nvSpPr>
        <p:spPr>
          <a:xfrm>
            <a:off x="694944"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1</a:t>
            </a:r>
            <a:endParaRPr lang="en-US" sz="1200" dirty="0"/>
          </a:p>
        </p:txBody>
      </p:sp>
      <p:sp>
        <p:nvSpPr>
          <p:cNvPr id="12" name="Criterio A-1"/>
          <p:cNvSpPr txBox="1"/>
          <p:nvPr/>
        </p:nvSpPr>
        <p:spPr>
          <a:xfrm>
            <a:off x="1115568"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11 NRP-17</a:t>
            </a:r>
            <a:endParaRPr lang="en-US" sz="1000" dirty="0"/>
          </a:p>
        </p:txBody>
      </p:sp>
      <p:sp>
        <p:nvSpPr>
          <p:cNvPr id="13" name="Título A-1"/>
          <p:cNvSpPr txBox="1"/>
          <p:nvPr/>
        </p:nvSpPr>
        <p:spPr>
          <a:xfrm>
            <a:off x="694944"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Falta de inducción sobre partidas relevantes de EEFF a nuevos miembros</a:t>
            </a:r>
            <a:endParaRPr lang="en-US" sz="1150" dirty="0"/>
          </a:p>
        </p:txBody>
      </p:sp>
      <p:sp>
        <p:nvSpPr>
          <p:cNvPr id="14" name="Responsable A-1"/>
          <p:cNvSpPr txBox="1"/>
          <p:nvPr/>
        </p:nvSpPr>
        <p:spPr>
          <a:xfrm>
            <a:off x="694944"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Gerencia Financiera (imparte la inducción según el Manual)</a:t>
            </a:r>
            <a:endParaRPr lang="en-US" sz="1000" dirty="0"/>
          </a:p>
        </p:txBody>
      </p:sp>
      <p:sp>
        <p:nvSpPr>
          <p:cNvPr id="15" name="Anexo A-2"/>
          <p:cNvSpPr/>
          <p:nvPr/>
        </p:nvSpPr>
        <p:spPr>
          <a:xfrm>
            <a:off x="3356534"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16" name="Número A-2 círculo"/>
          <p:cNvSpPr/>
          <p:nvPr/>
        </p:nvSpPr>
        <p:spPr>
          <a:xfrm>
            <a:off x="3502838" y="1728216"/>
            <a:ext cx="329184" cy="329184"/>
          </a:xfrm>
          <a:prstGeom prst="ellipse">
            <a:avLst/>
          </a:prstGeom>
          <a:solidFill>
            <a:schemeClr val="accent2"/>
          </a:solidFill>
          <a:ln w="12700">
            <a:solidFill>
              <a:schemeClr val="accent2">
                <a:alpha val="0"/>
              </a:schemeClr>
            </a:solidFill>
            <a:prstDash val="solid"/>
          </a:ln>
        </p:spPr>
      </p:sp>
      <p:sp>
        <p:nvSpPr>
          <p:cNvPr id="17" name="Número A-2"/>
          <p:cNvSpPr txBox="1"/>
          <p:nvPr/>
        </p:nvSpPr>
        <p:spPr>
          <a:xfrm>
            <a:off x="3502838"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2</a:t>
            </a:r>
            <a:endParaRPr lang="en-US" sz="1200" dirty="0"/>
          </a:p>
        </p:txBody>
      </p:sp>
      <p:sp>
        <p:nvSpPr>
          <p:cNvPr id="18" name="Criterio A-2"/>
          <p:cNvSpPr txBox="1"/>
          <p:nvPr/>
        </p:nvSpPr>
        <p:spPr>
          <a:xfrm>
            <a:off x="3923462"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Cap. XI Código de Conducta</a:t>
            </a:r>
            <a:endParaRPr lang="en-US" sz="1000" dirty="0"/>
          </a:p>
        </p:txBody>
      </p:sp>
      <p:sp>
        <p:nvSpPr>
          <p:cNvPr id="19" name="Título A-2"/>
          <p:cNvSpPr txBox="1"/>
          <p:nvPr/>
        </p:nvSpPr>
        <p:spPr>
          <a:xfrm>
            <a:off x="3502838"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Falta de Certificación de Lectura del Código de Conducta</a:t>
            </a:r>
            <a:endParaRPr lang="en-US" sz="1150" dirty="0"/>
          </a:p>
        </p:txBody>
      </p:sp>
      <p:sp>
        <p:nvSpPr>
          <p:cNvPr id="20" name="Responsable A-2"/>
          <p:cNvSpPr txBox="1"/>
          <p:nvPr/>
        </p:nvSpPr>
        <p:spPr>
          <a:xfrm>
            <a:off x="3502838"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Junta de Vigilancia · Comité de Créditos · Comité de Educación</a:t>
            </a:r>
            <a:endParaRPr lang="en-US" sz="1000" dirty="0"/>
          </a:p>
        </p:txBody>
      </p:sp>
      <p:sp>
        <p:nvSpPr>
          <p:cNvPr id="21" name="Anexo A-3"/>
          <p:cNvSpPr/>
          <p:nvPr/>
        </p:nvSpPr>
        <p:spPr>
          <a:xfrm>
            <a:off x="6164428"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22" name="Número A-3 círculo"/>
          <p:cNvSpPr/>
          <p:nvPr/>
        </p:nvSpPr>
        <p:spPr>
          <a:xfrm>
            <a:off x="6310732" y="1728216"/>
            <a:ext cx="329184" cy="329184"/>
          </a:xfrm>
          <a:prstGeom prst="ellipse">
            <a:avLst/>
          </a:prstGeom>
          <a:solidFill>
            <a:schemeClr val="accent2"/>
          </a:solidFill>
          <a:ln w="12700">
            <a:solidFill>
              <a:schemeClr val="accent2">
                <a:alpha val="0"/>
              </a:schemeClr>
            </a:solidFill>
            <a:prstDash val="solid"/>
          </a:ln>
        </p:spPr>
      </p:sp>
      <p:sp>
        <p:nvSpPr>
          <p:cNvPr id="23" name="Número A-3"/>
          <p:cNvSpPr txBox="1"/>
          <p:nvPr/>
        </p:nvSpPr>
        <p:spPr>
          <a:xfrm>
            <a:off x="6310732"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3</a:t>
            </a:r>
            <a:endParaRPr lang="en-US" sz="1200" dirty="0"/>
          </a:p>
        </p:txBody>
      </p:sp>
      <p:sp>
        <p:nvSpPr>
          <p:cNvPr id="24" name="Criterio A-3"/>
          <p:cNvSpPr txBox="1"/>
          <p:nvPr/>
        </p:nvSpPr>
        <p:spPr>
          <a:xfrm>
            <a:off x="6731356"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12 lit. c) NRP-17</a:t>
            </a:r>
            <a:endParaRPr lang="en-US" sz="1000" dirty="0"/>
          </a:p>
        </p:txBody>
      </p:sp>
      <p:sp>
        <p:nvSpPr>
          <p:cNvPr id="25" name="Título A-3"/>
          <p:cNvSpPr txBox="1"/>
          <p:nvPr/>
        </p:nvSpPr>
        <p:spPr>
          <a:xfrm>
            <a:off x="6310732"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Falta de formalización y aprobación de políticas</a:t>
            </a:r>
            <a:endParaRPr lang="en-US" sz="1150" dirty="0"/>
          </a:p>
        </p:txBody>
      </p:sp>
      <p:sp>
        <p:nvSpPr>
          <p:cNvPr id="26" name="Responsable A-3"/>
          <p:cNvSpPr txBox="1"/>
          <p:nvPr/>
        </p:nvSpPr>
        <p:spPr>
          <a:xfrm>
            <a:off x="6310732"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Consejo de Administración</a:t>
            </a:r>
            <a:endParaRPr lang="en-US" sz="1000" dirty="0"/>
          </a:p>
        </p:txBody>
      </p:sp>
      <p:sp>
        <p:nvSpPr>
          <p:cNvPr id="27" name="Anexo A-4"/>
          <p:cNvSpPr/>
          <p:nvPr/>
        </p:nvSpPr>
        <p:spPr>
          <a:xfrm>
            <a:off x="8972321"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28" name="Número A-4 círculo"/>
          <p:cNvSpPr/>
          <p:nvPr/>
        </p:nvSpPr>
        <p:spPr>
          <a:xfrm>
            <a:off x="9118625" y="1728216"/>
            <a:ext cx="329184" cy="329184"/>
          </a:xfrm>
          <a:prstGeom prst="ellipse">
            <a:avLst/>
          </a:prstGeom>
          <a:solidFill>
            <a:schemeClr val="accent2"/>
          </a:solidFill>
          <a:ln w="12700">
            <a:solidFill>
              <a:schemeClr val="accent2">
                <a:alpha val="0"/>
              </a:schemeClr>
            </a:solidFill>
            <a:prstDash val="solid"/>
          </a:ln>
        </p:spPr>
      </p:sp>
      <p:sp>
        <p:nvSpPr>
          <p:cNvPr id="29" name="Número A-4"/>
          <p:cNvSpPr txBox="1"/>
          <p:nvPr/>
        </p:nvSpPr>
        <p:spPr>
          <a:xfrm>
            <a:off x="9118625"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0" name="Criterio A-4"/>
          <p:cNvSpPr txBox="1"/>
          <p:nvPr/>
        </p:nvSpPr>
        <p:spPr>
          <a:xfrm>
            <a:off x="9539249"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Arts. 27 y 28 NRP-17</a:t>
            </a:r>
            <a:endParaRPr lang="en-US" sz="1000" dirty="0"/>
          </a:p>
        </p:txBody>
      </p:sp>
      <p:sp>
        <p:nvSpPr>
          <p:cNvPr id="31" name="Título A-4"/>
          <p:cNvSpPr txBox="1"/>
          <p:nvPr/>
        </p:nvSpPr>
        <p:spPr>
          <a:xfrm>
            <a:off x="9118625"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Información de comités desactualizada en el sitio web</a:t>
            </a:r>
            <a:endParaRPr lang="en-US" sz="1150" dirty="0"/>
          </a:p>
        </p:txBody>
      </p:sp>
      <p:sp>
        <p:nvSpPr>
          <p:cNvPr id="32" name="Responsable A-4"/>
          <p:cNvSpPr txBox="1"/>
          <p:nvPr/>
        </p:nvSpPr>
        <p:spPr>
          <a:xfrm>
            <a:off x="9118625"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Administración de Riesgo</a:t>
            </a:r>
            <a:endParaRPr lang="en-US" sz="1000" dirty="0"/>
          </a:p>
        </p:txBody>
      </p:sp>
      <p:sp>
        <p:nvSpPr>
          <p:cNvPr id="33" name="Anexo A-5"/>
          <p:cNvSpPr/>
          <p:nvPr/>
        </p:nvSpPr>
        <p:spPr>
          <a:xfrm>
            <a:off x="548640" y="3218688"/>
            <a:ext cx="2670734" cy="1481328"/>
          </a:xfrm>
          <a:prstGeom prst="roundRect">
            <a:avLst>
              <a:gd name="adj" fmla="val 6173"/>
            </a:avLst>
          </a:prstGeom>
          <a:solidFill>
            <a:schemeClr val="bg2"/>
          </a:solidFill>
          <a:ln w="12700">
            <a:solidFill>
              <a:schemeClr val="bg2">
                <a:alpha val="0"/>
              </a:schemeClr>
            </a:solidFill>
            <a:prstDash val="solid"/>
          </a:ln>
        </p:spPr>
      </p:sp>
      <p:sp>
        <p:nvSpPr>
          <p:cNvPr id="34" name="Número A-5 círculo"/>
          <p:cNvSpPr/>
          <p:nvPr/>
        </p:nvSpPr>
        <p:spPr>
          <a:xfrm>
            <a:off x="694944" y="3346704"/>
            <a:ext cx="329184" cy="329184"/>
          </a:xfrm>
          <a:prstGeom prst="ellipse">
            <a:avLst/>
          </a:prstGeom>
          <a:solidFill>
            <a:schemeClr val="accent2"/>
          </a:solidFill>
          <a:ln w="12700">
            <a:solidFill>
              <a:schemeClr val="accent2">
                <a:alpha val="0"/>
              </a:schemeClr>
            </a:solidFill>
            <a:prstDash val="solid"/>
          </a:ln>
        </p:spPr>
      </p:sp>
      <p:sp>
        <p:nvSpPr>
          <p:cNvPr id="35" name="Número A-5"/>
          <p:cNvSpPr txBox="1"/>
          <p:nvPr/>
        </p:nvSpPr>
        <p:spPr>
          <a:xfrm>
            <a:off x="694944" y="33467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6" name="Criterio A-5"/>
          <p:cNvSpPr txBox="1"/>
          <p:nvPr/>
        </p:nvSpPr>
        <p:spPr>
          <a:xfrm>
            <a:off x="1115568" y="3328416"/>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3 lit. i) y Art. 20 NRP-17</a:t>
            </a:r>
            <a:endParaRPr lang="en-US" sz="1000" dirty="0"/>
          </a:p>
        </p:txBody>
      </p:sp>
      <p:sp>
        <p:nvSpPr>
          <p:cNvPr id="37" name="Título A-5"/>
          <p:cNvSpPr txBox="1"/>
          <p:nvPr/>
        </p:nvSpPr>
        <p:spPr>
          <a:xfrm>
            <a:off x="694944" y="3749040"/>
            <a:ext cx="2378126" cy="530352"/>
          </a:xfrm>
          <a:prstGeom prst="rect">
            <a:avLst/>
          </a:prstGeom>
          <a:noFill/>
          <a:ln/>
        </p:spPr>
        <p:txBody>
          <a:bodyPr wrap="square" lIns="0" tIns="0" rIns="0" bIns="0" rtlCol="0" anchor="t"/>
          <a:lstStyle/>
          <a:p>
            <a:pPr indent="0" marL="0">
              <a:buNone/>
            </a:pPr>
            <a:r>
              <a:rPr lang="en-US" sz="1150" b="1" dirty="0">
                <a:solidFill>
                  <a:schemeClr val="tx1"/>
                </a:solidFill>
              </a:rPr>
              <a:t>Incongruencia entre Estatutos y Código de Gobierno Corporativo</a:t>
            </a:r>
            <a:endParaRPr lang="en-US" sz="1150" dirty="0"/>
          </a:p>
        </p:txBody>
      </p:sp>
      <p:sp>
        <p:nvSpPr>
          <p:cNvPr id="38" name="Responsable A-5"/>
          <p:cNvSpPr txBox="1"/>
          <p:nvPr/>
        </p:nvSpPr>
        <p:spPr>
          <a:xfrm>
            <a:off x="694944" y="4270248"/>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Consejo de Administración (aprobó el Código, Acta 2,663)</a:t>
            </a:r>
            <a:endParaRPr lang="en-US" sz="1000" dirty="0"/>
          </a:p>
        </p:txBody>
      </p:sp>
      <p:sp>
        <p:nvSpPr>
          <p:cNvPr id="39" name="Anexo A-6"/>
          <p:cNvSpPr/>
          <p:nvPr/>
        </p:nvSpPr>
        <p:spPr>
          <a:xfrm>
            <a:off x="3356534" y="3218688"/>
            <a:ext cx="2670734" cy="1481328"/>
          </a:xfrm>
          <a:prstGeom prst="roundRect">
            <a:avLst>
              <a:gd name="adj" fmla="val 6173"/>
            </a:avLst>
          </a:prstGeom>
          <a:solidFill>
            <a:schemeClr val="bg2"/>
          </a:solidFill>
          <a:ln w="12700">
            <a:solidFill>
              <a:schemeClr val="bg2">
                <a:alpha val="0"/>
              </a:schemeClr>
            </a:solidFill>
            <a:prstDash val="solid"/>
          </a:ln>
        </p:spPr>
      </p:sp>
      <p:sp>
        <p:nvSpPr>
          <p:cNvPr id="40" name="Número A-6 círculo"/>
          <p:cNvSpPr/>
          <p:nvPr/>
        </p:nvSpPr>
        <p:spPr>
          <a:xfrm>
            <a:off x="3502838" y="3346704"/>
            <a:ext cx="329184" cy="329184"/>
          </a:xfrm>
          <a:prstGeom prst="ellipse">
            <a:avLst/>
          </a:prstGeom>
          <a:solidFill>
            <a:schemeClr val="accent2"/>
          </a:solidFill>
          <a:ln w="12700">
            <a:solidFill>
              <a:schemeClr val="accent2">
                <a:alpha val="0"/>
              </a:schemeClr>
            </a:solidFill>
            <a:prstDash val="solid"/>
          </a:ln>
        </p:spPr>
      </p:sp>
      <p:sp>
        <p:nvSpPr>
          <p:cNvPr id="41" name="Número A-6"/>
          <p:cNvSpPr txBox="1"/>
          <p:nvPr/>
        </p:nvSpPr>
        <p:spPr>
          <a:xfrm>
            <a:off x="3502838" y="33467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2" name="Criterio A-6"/>
          <p:cNvSpPr txBox="1"/>
          <p:nvPr/>
        </p:nvSpPr>
        <p:spPr>
          <a:xfrm>
            <a:off x="3923462" y="3328416"/>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59 LGAC · Art. 69 Reglamento</a:t>
            </a:r>
            <a:endParaRPr lang="en-US" sz="1000" dirty="0"/>
          </a:p>
        </p:txBody>
      </p:sp>
      <p:sp>
        <p:nvSpPr>
          <p:cNvPr id="43" name="Título A-6"/>
          <p:cNvSpPr txBox="1"/>
          <p:nvPr/>
        </p:nvSpPr>
        <p:spPr>
          <a:xfrm>
            <a:off x="3502838" y="3749040"/>
            <a:ext cx="2378126" cy="530352"/>
          </a:xfrm>
          <a:prstGeom prst="rect">
            <a:avLst/>
          </a:prstGeom>
          <a:noFill/>
          <a:ln/>
        </p:spPr>
        <p:txBody>
          <a:bodyPr wrap="square" lIns="0" tIns="0" rIns="0" bIns="0" rtlCol="0" anchor="t"/>
          <a:lstStyle/>
          <a:p>
            <a:pPr indent="0" marL="0">
              <a:buNone/>
            </a:pPr>
            <a:r>
              <a:rPr lang="en-US" sz="1150" b="1" dirty="0">
                <a:solidFill>
                  <a:schemeClr val="tx1"/>
                </a:solidFill>
              </a:rPr>
              <a:t>Reglamento del Fondo de Educación con conceptos no delimitados por Ley</a:t>
            </a:r>
            <a:endParaRPr lang="en-US" sz="1150" dirty="0"/>
          </a:p>
        </p:txBody>
      </p:sp>
      <p:sp>
        <p:nvSpPr>
          <p:cNvPr id="44" name="Responsable A-6"/>
          <p:cNvSpPr txBox="1"/>
          <p:nvPr/>
        </p:nvSpPr>
        <p:spPr>
          <a:xfrm>
            <a:off x="3502838" y="4270248"/>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Comité de Educación (Reglamento, art. 5)</a:t>
            </a:r>
            <a:endParaRPr lang="en-US" sz="1000" dirty="0"/>
          </a:p>
        </p:txBody>
      </p:sp>
      <p:sp>
        <p:nvSpPr>
          <p:cNvPr id="45" name="Anexo A-7"/>
          <p:cNvSpPr/>
          <p:nvPr/>
        </p:nvSpPr>
        <p:spPr>
          <a:xfrm>
            <a:off x="6164428" y="3218688"/>
            <a:ext cx="2670734" cy="1481328"/>
          </a:xfrm>
          <a:prstGeom prst="roundRect">
            <a:avLst>
              <a:gd name="adj" fmla="val 6173"/>
            </a:avLst>
          </a:prstGeom>
          <a:solidFill>
            <a:schemeClr val="bg2"/>
          </a:solidFill>
          <a:ln w="12700">
            <a:solidFill>
              <a:schemeClr val="bg2">
                <a:alpha val="0"/>
              </a:schemeClr>
            </a:solidFill>
            <a:prstDash val="solid"/>
          </a:ln>
        </p:spPr>
      </p:sp>
      <p:sp>
        <p:nvSpPr>
          <p:cNvPr id="46" name="Número A-7 círculo"/>
          <p:cNvSpPr/>
          <p:nvPr/>
        </p:nvSpPr>
        <p:spPr>
          <a:xfrm>
            <a:off x="6310732" y="3346704"/>
            <a:ext cx="329184" cy="329184"/>
          </a:xfrm>
          <a:prstGeom prst="ellipse">
            <a:avLst/>
          </a:prstGeom>
          <a:solidFill>
            <a:schemeClr val="accent2"/>
          </a:solidFill>
          <a:ln w="12700">
            <a:solidFill>
              <a:schemeClr val="accent2">
                <a:alpha val="0"/>
              </a:schemeClr>
            </a:solidFill>
            <a:prstDash val="solid"/>
          </a:ln>
        </p:spPr>
      </p:sp>
      <p:sp>
        <p:nvSpPr>
          <p:cNvPr id="47" name="Número A-7"/>
          <p:cNvSpPr txBox="1"/>
          <p:nvPr/>
        </p:nvSpPr>
        <p:spPr>
          <a:xfrm>
            <a:off x="6310732" y="33467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8" name="Criterio A-7"/>
          <p:cNvSpPr txBox="1"/>
          <p:nvPr/>
        </p:nvSpPr>
        <p:spPr>
          <a:xfrm>
            <a:off x="6731356" y="3328416"/>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12 lit. q) NRP-17 · US$100,774.28</a:t>
            </a:r>
            <a:endParaRPr lang="en-US" sz="1000" dirty="0"/>
          </a:p>
        </p:txBody>
      </p:sp>
      <p:sp>
        <p:nvSpPr>
          <p:cNvPr id="49" name="Título A-7"/>
          <p:cNvSpPr txBox="1"/>
          <p:nvPr/>
        </p:nvSpPr>
        <p:spPr>
          <a:xfrm>
            <a:off x="6310732" y="3749040"/>
            <a:ext cx="2378126" cy="530352"/>
          </a:xfrm>
          <a:prstGeom prst="rect">
            <a:avLst/>
          </a:prstGeom>
          <a:noFill/>
          <a:ln/>
        </p:spPr>
        <p:txBody>
          <a:bodyPr wrap="square" lIns="0" tIns="0" rIns="0" bIns="0" rtlCol="0" anchor="t"/>
          <a:lstStyle/>
          <a:p>
            <a:pPr indent="0" marL="0">
              <a:buNone/>
            </a:pPr>
            <a:r>
              <a:rPr lang="en-US" sz="1150" b="1" dirty="0">
                <a:solidFill>
                  <a:schemeClr val="tx1"/>
                </a:solidFill>
              </a:rPr>
              <a:t>Limitada transparencia a la Asamblea sobre el Fondo de Educación</a:t>
            </a:r>
            <a:endParaRPr lang="en-US" sz="1150" dirty="0"/>
          </a:p>
        </p:txBody>
      </p:sp>
      <p:sp>
        <p:nvSpPr>
          <p:cNvPr id="50" name="Responsable A-7"/>
          <p:cNvSpPr txBox="1"/>
          <p:nvPr/>
        </p:nvSpPr>
        <p:spPr>
          <a:xfrm>
            <a:off x="6310732" y="4270248"/>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Consejo de Administración (Memoria de Labores 2025)</a:t>
            </a:r>
            <a:endParaRPr lang="en-US" sz="1000" dirty="0"/>
          </a:p>
        </p:txBody>
      </p:sp>
      <p:sp>
        <p:nvSpPr>
          <p:cNvPr id="51" name="Plazo Anexo A"/>
          <p:cNvSpPr/>
          <p:nvPr/>
        </p:nvSpPr>
        <p:spPr>
          <a:xfrm>
            <a:off x="8972321" y="3218688"/>
            <a:ext cx="2670734" cy="1481328"/>
          </a:xfrm>
          <a:prstGeom prst="roundRect">
            <a:avLst>
              <a:gd name="adj" fmla="val 6173"/>
            </a:avLst>
          </a:prstGeom>
          <a:solidFill>
            <a:schemeClr val="accent2"/>
          </a:solidFill>
          <a:ln w="12700">
            <a:solidFill>
              <a:schemeClr val="accent2">
                <a:alpha val="0"/>
              </a:schemeClr>
            </a:solidFill>
            <a:prstDash val="solid"/>
          </a:ln>
        </p:spPr>
      </p:sp>
      <p:sp>
        <p:nvSpPr>
          <p:cNvPr id="52" name="Plazo A número"/>
          <p:cNvSpPr txBox="1"/>
          <p:nvPr/>
        </p:nvSpPr>
        <p:spPr>
          <a:xfrm>
            <a:off x="9155201" y="3328416"/>
            <a:ext cx="822960" cy="64008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10</a:t>
            </a:r>
            <a:endParaRPr lang="en-US" sz="4000" dirty="0"/>
          </a:p>
        </p:txBody>
      </p:sp>
      <p:sp>
        <p:nvSpPr>
          <p:cNvPr id="53" name="Plazo A título"/>
          <p:cNvSpPr txBox="1"/>
          <p:nvPr/>
        </p:nvSpPr>
        <p:spPr>
          <a:xfrm>
            <a:off x="9978161" y="3374136"/>
            <a:ext cx="1527734" cy="548640"/>
          </a:xfrm>
          <a:prstGeom prst="rect">
            <a:avLst/>
          </a:prstGeom>
          <a:noFill/>
          <a:ln/>
        </p:spPr>
        <p:txBody>
          <a:bodyPr wrap="square" lIns="0" tIns="0" rIns="0" bIns="0" rtlCol="0" anchor="ctr"/>
          <a:lstStyle/>
          <a:p>
            <a:pPr indent="0" marL="0">
              <a:buNone/>
            </a:pPr>
            <a:r>
              <a:rPr lang="en-US" sz="1200" b="1" dirty="0">
                <a:solidFill>
                  <a:schemeClr val="bg1"/>
                </a:solidFill>
              </a:rPr>
              <a:t>días hábiles para descargos</a:t>
            </a:r>
            <a:endParaRPr lang="en-US" sz="1200" dirty="0"/>
          </a:p>
        </p:txBody>
      </p:sp>
      <p:sp>
        <p:nvSpPr>
          <p:cNvPr id="54" name="Plazo A detalle"/>
          <p:cNvSpPr txBox="1"/>
          <p:nvPr/>
        </p:nvSpPr>
        <p:spPr>
          <a:xfrm>
            <a:off x="9155201" y="4041648"/>
            <a:ext cx="2350694" cy="502920"/>
          </a:xfrm>
          <a:prstGeom prst="rect">
            <a:avLst/>
          </a:prstGeom>
          <a:noFill/>
          <a:ln/>
        </p:spPr>
        <p:txBody>
          <a:bodyPr wrap="square" lIns="0" tIns="0" rIns="0" bIns="0" rtlCol="0" anchor="t"/>
          <a:lstStyle/>
          <a:p>
            <a:pPr indent="0" marL="0">
              <a:buNone/>
            </a:pPr>
            <a:r>
              <a:rPr lang="en-US" sz="1050" dirty="0">
                <a:solidFill>
                  <a:schemeClr val="bg1"/>
                </a:solidFill>
              </a:rPr>
              <a:t>Buzón DESCARGOS_OBSERVACIONES</a:t>
            </a:r>
            <a:endParaRPr lang="en-US" sz="1050" dirty="0"/>
          </a:p>
          <a:p>
            <a:pPr indent="0" marL="0">
              <a:buNone/>
            </a:pPr>
            <a:r>
              <a:rPr lang="en-US" sz="1050" dirty="0">
                <a:solidFill>
                  <a:schemeClr val="bg1"/>
                </a:solidFill>
              </a:rPr>
              <a:t>Vence aprox. 23/10/2026</a:t>
            </a:r>
            <a:endParaRPr lang="en-US" sz="1050" dirty="0"/>
          </a:p>
        </p:txBody>
      </p:sp>
      <p:sp>
        <p:nvSpPr>
          <p:cNvPr id="55" name="Etiqueta Anexo B"/>
          <p:cNvSpPr txBox="1"/>
          <p:nvPr/>
        </p:nvSpPr>
        <p:spPr>
          <a:xfrm>
            <a:off x="548640" y="4828032"/>
            <a:ext cx="8229600" cy="237744"/>
          </a:xfrm>
          <a:prstGeom prst="rect">
            <a:avLst/>
          </a:prstGeom>
          <a:noFill/>
          <a:ln/>
        </p:spPr>
        <p:txBody>
          <a:bodyPr wrap="square" lIns="0" tIns="0" rIns="0" bIns="0" rtlCol="0" anchor="t"/>
          <a:lstStyle/>
          <a:p>
            <a:pPr indent="0" marL="0">
              <a:buNone/>
            </a:pPr>
            <a:r>
              <a:rPr lang="en-US" sz="1100" b="1" spc="200" kern="0" dirty="0">
                <a:solidFill>
                  <a:schemeClr val="accent6"/>
                </a:solidFill>
              </a:rPr>
              <a:t>ANEXO B · SEGUIMIENTO A 2 DE LAS 9 OBSERVACIONES DE 2025 (NO SON NUEVAS)</a:t>
            </a:r>
            <a:endParaRPr lang="en-US" sz="1100" dirty="0"/>
          </a:p>
        </p:txBody>
      </p:sp>
      <p:sp>
        <p:nvSpPr>
          <p:cNvPr id="56" name="Anexo B-3"/>
          <p:cNvSpPr/>
          <p:nvPr/>
        </p:nvSpPr>
        <p:spPr>
          <a:xfrm>
            <a:off x="548640" y="5120640"/>
            <a:ext cx="4074681" cy="1124712"/>
          </a:xfrm>
          <a:prstGeom prst="roundRect">
            <a:avLst>
              <a:gd name="adj" fmla="val 8130"/>
            </a:avLst>
          </a:prstGeom>
          <a:solidFill>
            <a:schemeClr val="accent3">
              <a:alpha val="12000"/>
            </a:schemeClr>
          </a:solidFill>
          <a:ln w="12700">
            <a:solidFill>
              <a:schemeClr val="accent3">
                <a:alpha val="0"/>
              </a:schemeClr>
            </a:solidFill>
            <a:prstDash val="solid"/>
          </a:ln>
        </p:spPr>
      </p:sp>
      <p:sp>
        <p:nvSpPr>
          <p:cNvPr id="57" name="Origen B-3 fondo"/>
          <p:cNvSpPr/>
          <p:nvPr/>
        </p:nvSpPr>
        <p:spPr>
          <a:xfrm>
            <a:off x="731520" y="5276088"/>
            <a:ext cx="1325880" cy="274320"/>
          </a:xfrm>
          <a:prstGeom prst="roundRect">
            <a:avLst>
              <a:gd name="adj" fmla="val 50000"/>
            </a:avLst>
          </a:prstGeom>
          <a:solidFill>
            <a:schemeClr val="accent1"/>
          </a:solidFill>
          <a:ln w="12700">
            <a:solidFill>
              <a:schemeClr val="accent1">
                <a:alpha val="0"/>
              </a:schemeClr>
            </a:solidFill>
            <a:prstDash val="solid"/>
          </a:ln>
        </p:spPr>
      </p:sp>
      <p:sp>
        <p:nvSpPr>
          <p:cNvPr id="58" name="Origen B-3"/>
          <p:cNvSpPr txBox="1"/>
          <p:nvPr/>
        </p:nvSpPr>
        <p:spPr>
          <a:xfrm>
            <a:off x="731520" y="5276088"/>
            <a:ext cx="132588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OBS. 3 DE 2025</a:t>
            </a:r>
            <a:endParaRPr lang="en-US" sz="1050" dirty="0"/>
          </a:p>
        </p:txBody>
      </p:sp>
      <p:sp>
        <p:nvSpPr>
          <p:cNvPr id="59" name="Estado B-3 fondo"/>
          <p:cNvSpPr/>
          <p:nvPr/>
        </p:nvSpPr>
        <p:spPr>
          <a:xfrm>
            <a:off x="2194560" y="5276088"/>
            <a:ext cx="1325880" cy="274320"/>
          </a:xfrm>
          <a:prstGeom prst="roundRect">
            <a:avLst>
              <a:gd name="adj" fmla="val 50000"/>
            </a:avLst>
          </a:prstGeom>
          <a:solidFill>
            <a:schemeClr val="accent3"/>
          </a:solidFill>
          <a:ln w="12700">
            <a:solidFill>
              <a:schemeClr val="accent3">
                <a:alpha val="0"/>
              </a:schemeClr>
            </a:solidFill>
            <a:prstDash val="solid"/>
          </a:ln>
        </p:spPr>
      </p:sp>
      <p:sp>
        <p:nvSpPr>
          <p:cNvPr id="60" name="Estado B-3"/>
          <p:cNvSpPr txBox="1"/>
          <p:nvPr/>
        </p:nvSpPr>
        <p:spPr>
          <a:xfrm>
            <a:off x="2194560" y="5276088"/>
            <a:ext cx="132588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NO SUPERADA</a:t>
            </a:r>
            <a:endParaRPr lang="en-US" sz="1050" dirty="0"/>
          </a:p>
        </p:txBody>
      </p:sp>
      <p:sp>
        <p:nvSpPr>
          <p:cNvPr id="61" name="Título B-3"/>
          <p:cNvSpPr txBox="1"/>
          <p:nvPr/>
        </p:nvSpPr>
        <p:spPr>
          <a:xfrm>
            <a:off x="731520" y="5623560"/>
            <a:ext cx="3708921" cy="256032"/>
          </a:xfrm>
          <a:prstGeom prst="rect">
            <a:avLst/>
          </a:prstGeom>
          <a:noFill/>
          <a:ln/>
        </p:spPr>
        <p:txBody>
          <a:bodyPr wrap="square" lIns="0" tIns="0" rIns="0" bIns="0" rtlCol="0" anchor="t"/>
          <a:lstStyle/>
          <a:p>
            <a:pPr indent="0" marL="0">
              <a:buNone/>
            </a:pPr>
            <a:r>
              <a:rPr lang="en-US" sz="1250" b="1" dirty="0">
                <a:solidFill>
                  <a:schemeClr val="tx1"/>
                </a:solidFill>
              </a:rPr>
              <a:t>Comités de Apoyo no integran personal ejecutivo</a:t>
            </a:r>
            <a:endParaRPr lang="en-US" sz="1250" dirty="0"/>
          </a:p>
        </p:txBody>
      </p:sp>
      <p:sp>
        <p:nvSpPr>
          <p:cNvPr id="62" name="Responsable B-3"/>
          <p:cNvSpPr txBox="1"/>
          <p:nvPr/>
        </p:nvSpPr>
        <p:spPr>
          <a:xfrm>
            <a:off x="731520" y="5888736"/>
            <a:ext cx="3708921" cy="310896"/>
          </a:xfrm>
          <a:prstGeom prst="rect">
            <a:avLst/>
          </a:prstGeom>
          <a:noFill/>
          <a:ln/>
        </p:spPr>
        <p:txBody>
          <a:bodyPr wrap="square" lIns="0" tIns="0" rIns="0" bIns="0" rtlCol="0" anchor="t"/>
          <a:lstStyle/>
          <a:p>
            <a:pPr indent="0" marL="0">
              <a:buNone/>
            </a:pPr>
            <a:r>
              <a:rPr lang="en-US" sz="1050" b="1" dirty="0">
                <a:solidFill>
                  <a:schemeClr val="accent5"/>
                </a:solidFill>
              </a:rPr>
              <a:t>Responsable: </a:t>
            </a:r>
            <a:pPr indent="0" marL="0">
              <a:buNone/>
            </a:pPr>
            <a:r>
              <a:rPr lang="en-US" sz="1050" dirty="0">
                <a:solidFill>
                  <a:schemeClr val="tx1"/>
                </a:solidFill>
              </a:rPr>
              <a:t>Administración de Riesgo</a:t>
            </a:r>
            <a:endParaRPr lang="en-US" sz="1050" dirty="0"/>
          </a:p>
        </p:txBody>
      </p:sp>
      <p:sp>
        <p:nvSpPr>
          <p:cNvPr id="63" name="Anexo B-5"/>
          <p:cNvSpPr/>
          <p:nvPr/>
        </p:nvSpPr>
        <p:spPr>
          <a:xfrm>
            <a:off x="4760481" y="5120640"/>
            <a:ext cx="4074681" cy="1124712"/>
          </a:xfrm>
          <a:prstGeom prst="roundRect">
            <a:avLst>
              <a:gd name="adj" fmla="val 8130"/>
            </a:avLst>
          </a:prstGeom>
          <a:solidFill>
            <a:schemeClr val="accent4">
              <a:alpha val="12000"/>
            </a:schemeClr>
          </a:solidFill>
          <a:ln w="12700">
            <a:solidFill>
              <a:schemeClr val="accent4">
                <a:alpha val="0"/>
              </a:schemeClr>
            </a:solidFill>
            <a:prstDash val="solid"/>
          </a:ln>
        </p:spPr>
      </p:sp>
      <p:sp>
        <p:nvSpPr>
          <p:cNvPr id="64" name="Origen B-5 fondo"/>
          <p:cNvSpPr/>
          <p:nvPr/>
        </p:nvSpPr>
        <p:spPr>
          <a:xfrm>
            <a:off x="4943361" y="5276088"/>
            <a:ext cx="1325880" cy="274320"/>
          </a:xfrm>
          <a:prstGeom prst="roundRect">
            <a:avLst>
              <a:gd name="adj" fmla="val 50000"/>
            </a:avLst>
          </a:prstGeom>
          <a:solidFill>
            <a:schemeClr val="accent1"/>
          </a:solidFill>
          <a:ln w="12700">
            <a:solidFill>
              <a:schemeClr val="accent1">
                <a:alpha val="0"/>
              </a:schemeClr>
            </a:solidFill>
            <a:prstDash val="solid"/>
          </a:ln>
        </p:spPr>
      </p:sp>
      <p:sp>
        <p:nvSpPr>
          <p:cNvPr id="65" name="Origen B-5"/>
          <p:cNvSpPr txBox="1"/>
          <p:nvPr/>
        </p:nvSpPr>
        <p:spPr>
          <a:xfrm>
            <a:off x="4943361" y="5276088"/>
            <a:ext cx="132588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OBS. 5 DE 2025</a:t>
            </a:r>
            <a:endParaRPr lang="en-US" sz="1050" dirty="0"/>
          </a:p>
        </p:txBody>
      </p:sp>
      <p:sp>
        <p:nvSpPr>
          <p:cNvPr id="66" name="Estado B-5 fondo"/>
          <p:cNvSpPr/>
          <p:nvPr/>
        </p:nvSpPr>
        <p:spPr>
          <a:xfrm>
            <a:off x="6406401" y="5276088"/>
            <a:ext cx="2194560" cy="274320"/>
          </a:xfrm>
          <a:prstGeom prst="roundRect">
            <a:avLst>
              <a:gd name="adj" fmla="val 50000"/>
            </a:avLst>
          </a:prstGeom>
          <a:solidFill>
            <a:schemeClr val="accent4"/>
          </a:solidFill>
          <a:ln w="12700">
            <a:solidFill>
              <a:schemeClr val="accent4">
                <a:alpha val="0"/>
              </a:schemeClr>
            </a:solidFill>
            <a:prstDash val="solid"/>
          </a:ln>
        </p:spPr>
      </p:sp>
      <p:sp>
        <p:nvSpPr>
          <p:cNvPr id="67" name="Estado B-5"/>
          <p:cNvSpPr txBox="1"/>
          <p:nvPr/>
        </p:nvSpPr>
        <p:spPr>
          <a:xfrm>
            <a:off x="6406401" y="5276088"/>
            <a:ext cx="219456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PARCIALMENTE SUPERADA</a:t>
            </a:r>
            <a:endParaRPr lang="en-US" sz="1050" dirty="0"/>
          </a:p>
        </p:txBody>
      </p:sp>
      <p:sp>
        <p:nvSpPr>
          <p:cNvPr id="68" name="Título B-5"/>
          <p:cNvSpPr txBox="1"/>
          <p:nvPr/>
        </p:nvSpPr>
        <p:spPr>
          <a:xfrm>
            <a:off x="4943361" y="5623560"/>
            <a:ext cx="3708921" cy="256032"/>
          </a:xfrm>
          <a:prstGeom prst="rect">
            <a:avLst/>
          </a:prstGeom>
          <a:noFill/>
          <a:ln/>
        </p:spPr>
        <p:txBody>
          <a:bodyPr wrap="square" lIns="0" tIns="0" rIns="0" bIns="0" rtlCol="0" anchor="t"/>
          <a:lstStyle/>
          <a:p>
            <a:pPr indent="0" marL="0">
              <a:buNone/>
            </a:pPr>
            <a:r>
              <a:rPr lang="en-US" sz="1250" b="1" dirty="0">
                <a:solidFill>
                  <a:schemeClr val="tx1"/>
                </a:solidFill>
              </a:rPr>
              <a:t>Normativa interna desactualizada</a:t>
            </a:r>
            <a:endParaRPr lang="en-US" sz="1250" dirty="0"/>
          </a:p>
        </p:txBody>
      </p:sp>
      <p:sp>
        <p:nvSpPr>
          <p:cNvPr id="69" name="Responsable B-5"/>
          <p:cNvSpPr txBox="1"/>
          <p:nvPr/>
        </p:nvSpPr>
        <p:spPr>
          <a:xfrm>
            <a:off x="4943361" y="5888736"/>
            <a:ext cx="3708921" cy="310896"/>
          </a:xfrm>
          <a:prstGeom prst="rect">
            <a:avLst/>
          </a:prstGeom>
          <a:noFill/>
          <a:ln/>
        </p:spPr>
        <p:txBody>
          <a:bodyPr wrap="square" lIns="0" tIns="0" rIns="0" bIns="0" rtlCol="0" anchor="t"/>
          <a:lstStyle/>
          <a:p>
            <a:pPr indent="0" marL="0">
              <a:buNone/>
            </a:pPr>
            <a:r>
              <a:rPr lang="en-US" sz="1050" b="1" dirty="0">
                <a:solidFill>
                  <a:schemeClr val="accent5"/>
                </a:solidFill>
              </a:rPr>
              <a:t>Responsables: </a:t>
            </a:r>
            <a:pPr indent="0" marL="0">
              <a:buNone/>
            </a:pPr>
            <a:r>
              <a:rPr lang="en-US" sz="1050" dirty="0">
                <a:solidFill>
                  <a:schemeClr val="tx1"/>
                </a:solidFill>
              </a:rPr>
              <a:t>Auditoría Interna, Servicios Generales y Talento Humano</a:t>
            </a:r>
            <a:endParaRPr lang="en-US" sz="1050" dirty="0"/>
          </a:p>
        </p:txBody>
      </p:sp>
      <p:sp>
        <p:nvSpPr>
          <p:cNvPr id="70" name="Plazo Anexo B"/>
          <p:cNvSpPr/>
          <p:nvPr/>
        </p:nvSpPr>
        <p:spPr>
          <a:xfrm>
            <a:off x="8972321" y="5120640"/>
            <a:ext cx="2670734" cy="1124712"/>
          </a:xfrm>
          <a:prstGeom prst="roundRect">
            <a:avLst>
              <a:gd name="adj" fmla="val 8130"/>
            </a:avLst>
          </a:prstGeom>
          <a:solidFill>
            <a:schemeClr val="accent6"/>
          </a:solidFill>
          <a:ln w="12700">
            <a:solidFill>
              <a:schemeClr val="accent6">
                <a:alpha val="0"/>
              </a:schemeClr>
            </a:solidFill>
            <a:prstDash val="solid"/>
          </a:ln>
        </p:spPr>
      </p:sp>
      <p:sp>
        <p:nvSpPr>
          <p:cNvPr id="71" name="Plazo B número"/>
          <p:cNvSpPr txBox="1"/>
          <p:nvPr/>
        </p:nvSpPr>
        <p:spPr>
          <a:xfrm>
            <a:off x="9155201" y="5138928"/>
            <a:ext cx="822960" cy="64008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15</a:t>
            </a:r>
            <a:endParaRPr lang="en-US" sz="4000" dirty="0"/>
          </a:p>
        </p:txBody>
      </p:sp>
      <p:sp>
        <p:nvSpPr>
          <p:cNvPr id="72" name="Plazo B título"/>
          <p:cNvSpPr txBox="1"/>
          <p:nvPr/>
        </p:nvSpPr>
        <p:spPr>
          <a:xfrm>
            <a:off x="9978161" y="5184648"/>
            <a:ext cx="1527734" cy="548640"/>
          </a:xfrm>
          <a:prstGeom prst="rect">
            <a:avLst/>
          </a:prstGeom>
          <a:noFill/>
          <a:ln/>
        </p:spPr>
        <p:txBody>
          <a:bodyPr wrap="square" lIns="0" tIns="0" rIns="0" bIns="0" rtlCol="0" anchor="ctr"/>
          <a:lstStyle/>
          <a:p>
            <a:pPr indent="0" marL="0">
              <a:buNone/>
            </a:pPr>
            <a:r>
              <a:rPr lang="en-US" sz="1200" b="1" dirty="0">
                <a:solidFill>
                  <a:schemeClr val="bg1"/>
                </a:solidFill>
              </a:rPr>
              <a:t>días hábiles para plan de solución</a:t>
            </a:r>
            <a:endParaRPr lang="en-US" sz="1200" dirty="0"/>
          </a:p>
        </p:txBody>
      </p:sp>
      <p:sp>
        <p:nvSpPr>
          <p:cNvPr id="73" name="Plazo B detalle"/>
          <p:cNvSpPr txBox="1"/>
          <p:nvPr/>
        </p:nvSpPr>
        <p:spPr>
          <a:xfrm>
            <a:off x="9155201" y="5788152"/>
            <a:ext cx="2396414" cy="411480"/>
          </a:xfrm>
          <a:prstGeom prst="rect">
            <a:avLst/>
          </a:prstGeom>
          <a:noFill/>
          <a:ln/>
        </p:spPr>
        <p:txBody>
          <a:bodyPr wrap="square" lIns="0" tIns="0" rIns="0" bIns="0" rtlCol="0" anchor="t"/>
          <a:lstStyle/>
          <a:p>
            <a:pPr indent="0" marL="0">
              <a:buNone/>
            </a:pPr>
            <a:r>
              <a:rPr lang="en-US" sz="1050" dirty="0">
                <a:solidFill>
                  <a:schemeClr val="bg1"/>
                </a:solidFill>
              </a:rPr>
              <a:t>Buzón PLANES_SOLUC_VISITASUPERVIS</a:t>
            </a:r>
            <a:endParaRPr lang="en-US" sz="1050" dirty="0"/>
          </a:p>
          <a:p>
            <a:pPr indent="0" marL="0">
              <a:buNone/>
            </a:pPr>
            <a:r>
              <a:rPr lang="en-US" sz="1050" dirty="0">
                <a:solidFill>
                  <a:schemeClr val="bg1"/>
                </a:solidFill>
              </a:rPr>
              <a:t>Vence aprox. 30/10/2026</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LÍNEA DE TIEMPO COMPARATIVA Y EVOLUCIÓN DEL CUMPLIMIENTO</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Línea de tiempo: de hoy a 2025</a:t>
            </a:r>
            <a:endParaRPr lang="en-US" sz="3000" dirty="0"/>
          </a:p>
        </p:txBody>
      </p:sp>
      <p:sp>
        <p:nvSpPr>
          <p:cNvPr id="4" name="Eje 2026"/>
          <p:cNvSpPr/>
          <p:nvPr/>
        </p:nvSpPr>
        <p:spPr>
          <a:xfrm>
            <a:off x="1645920" y="1463040"/>
            <a:ext cx="0" cy="2029968"/>
          </a:xfrm>
          <a:prstGeom prst="line">
            <a:avLst/>
          </a:prstGeom>
          <a:noFill/>
          <a:ln w="38100">
            <a:solidFill>
              <a:schemeClr val="accent2"/>
            </a:solidFill>
            <a:prstDash val="solid"/>
          </a:ln>
        </p:spPr>
      </p:sp>
      <p:sp>
        <p:nvSpPr>
          <p:cNvPr id="5" name="Pausa entre visitas"/>
          <p:cNvSpPr/>
          <p:nvPr/>
        </p:nvSpPr>
        <p:spPr>
          <a:xfrm>
            <a:off x="1645920" y="3675888"/>
            <a:ext cx="0" cy="512064"/>
          </a:xfrm>
          <a:prstGeom prst="line">
            <a:avLst/>
          </a:prstGeom>
          <a:noFill/>
          <a:ln w="19050">
            <a:solidFill>
              <a:schemeClr val="accent5"/>
            </a:solidFill>
            <a:prstDash val="dash"/>
          </a:ln>
        </p:spPr>
      </p:sp>
      <p:sp>
        <p:nvSpPr>
          <p:cNvPr id="6" name="Eje 2025"/>
          <p:cNvSpPr/>
          <p:nvPr/>
        </p:nvSpPr>
        <p:spPr>
          <a:xfrm>
            <a:off x="1645920" y="4370832"/>
            <a:ext cx="0" cy="1353312"/>
          </a:xfrm>
          <a:prstGeom prst="line">
            <a:avLst/>
          </a:prstGeom>
          <a:noFill/>
          <a:ln w="38100">
            <a:solidFill>
              <a:schemeClr val="accent1"/>
            </a:solidFill>
            <a:prstDash val="solid"/>
          </a:ln>
        </p:spPr>
      </p:sp>
      <p:sp>
        <p:nvSpPr>
          <p:cNvPr id="7" name="Año 2026 fondo"/>
          <p:cNvSpPr/>
          <p:nvPr/>
        </p:nvSpPr>
        <p:spPr>
          <a:xfrm>
            <a:off x="548640" y="1426464"/>
            <a:ext cx="777240" cy="274320"/>
          </a:xfrm>
          <a:prstGeom prst="roundRect">
            <a:avLst>
              <a:gd name="adj" fmla="val 50000"/>
            </a:avLst>
          </a:prstGeom>
          <a:solidFill>
            <a:schemeClr val="accent2"/>
          </a:solidFill>
          <a:ln w="12700">
            <a:solidFill>
              <a:schemeClr val="accent2">
                <a:alpha val="0"/>
              </a:schemeClr>
            </a:solidFill>
            <a:prstDash val="solid"/>
          </a:ln>
        </p:spPr>
      </p:sp>
      <p:sp>
        <p:nvSpPr>
          <p:cNvPr id="8" name="Año 2026"/>
          <p:cNvSpPr txBox="1"/>
          <p:nvPr/>
        </p:nvSpPr>
        <p:spPr>
          <a:xfrm>
            <a:off x="548640" y="1426464"/>
            <a:ext cx="777240" cy="274320"/>
          </a:xfrm>
          <a:prstGeom prst="rect">
            <a:avLst/>
          </a:prstGeom>
          <a:noFill/>
          <a:ln/>
        </p:spPr>
        <p:txBody>
          <a:bodyPr wrap="square" lIns="0" tIns="0" rIns="0" bIns="0" rtlCol="0" anchor="ctr"/>
          <a:lstStyle/>
          <a:p>
            <a:pPr algn="ctr" indent="0" marL="0">
              <a:buNone/>
            </a:pPr>
            <a:r>
              <a:rPr lang="en-US" sz="1100" b="1" spc="100" kern="0" dirty="0">
                <a:solidFill>
                  <a:schemeClr val="bg1"/>
                </a:solidFill>
              </a:rPr>
              <a:t>2026</a:t>
            </a:r>
            <a:endParaRPr lang="en-US" sz="1100" dirty="0"/>
          </a:p>
        </p:txBody>
      </p:sp>
      <p:sp>
        <p:nvSpPr>
          <p:cNvPr id="9" name="Año 2025 fondo"/>
          <p:cNvSpPr/>
          <p:nvPr/>
        </p:nvSpPr>
        <p:spPr>
          <a:xfrm>
            <a:off x="548640" y="4334256"/>
            <a:ext cx="777240" cy="274320"/>
          </a:xfrm>
          <a:prstGeom prst="roundRect">
            <a:avLst>
              <a:gd name="adj" fmla="val 50000"/>
            </a:avLst>
          </a:prstGeom>
          <a:solidFill>
            <a:schemeClr val="accent1"/>
          </a:solidFill>
          <a:ln w="12700">
            <a:solidFill>
              <a:schemeClr val="accent1">
                <a:alpha val="0"/>
              </a:schemeClr>
            </a:solidFill>
            <a:prstDash val="solid"/>
          </a:ln>
        </p:spPr>
      </p:sp>
      <p:sp>
        <p:nvSpPr>
          <p:cNvPr id="10" name="Año 2025"/>
          <p:cNvSpPr txBox="1"/>
          <p:nvPr/>
        </p:nvSpPr>
        <p:spPr>
          <a:xfrm>
            <a:off x="548640" y="4334256"/>
            <a:ext cx="777240" cy="274320"/>
          </a:xfrm>
          <a:prstGeom prst="rect">
            <a:avLst/>
          </a:prstGeom>
          <a:noFill/>
          <a:ln/>
        </p:spPr>
        <p:txBody>
          <a:bodyPr wrap="square" lIns="0" tIns="0" rIns="0" bIns="0" rtlCol="0" anchor="ctr"/>
          <a:lstStyle/>
          <a:p>
            <a:pPr algn="ctr" indent="0" marL="0">
              <a:buNone/>
            </a:pPr>
            <a:r>
              <a:rPr lang="en-US" sz="1100" b="1" spc="100" kern="0" dirty="0">
                <a:solidFill>
                  <a:schemeClr val="bg1"/>
                </a:solidFill>
              </a:rPr>
              <a:t>2025</a:t>
            </a:r>
            <a:endParaRPr lang="en-US" sz="1100" dirty="0"/>
          </a:p>
        </p:txBody>
      </p:sp>
      <p:sp>
        <p:nvSpPr>
          <p:cNvPr id="11" name="Pausa texto"/>
          <p:cNvSpPr txBox="1"/>
          <p:nvPr/>
        </p:nvSpPr>
        <p:spPr>
          <a:xfrm>
            <a:off x="502920" y="3840480"/>
            <a:ext cx="914400" cy="201168"/>
          </a:xfrm>
          <a:prstGeom prst="rect">
            <a:avLst/>
          </a:prstGeom>
          <a:noFill/>
          <a:ln/>
        </p:spPr>
        <p:txBody>
          <a:bodyPr wrap="square" lIns="0" tIns="0" rIns="0" bIns="0" rtlCol="0" anchor="t"/>
          <a:lstStyle/>
          <a:p>
            <a:pPr algn="ctr" indent="0" marL="0">
              <a:buNone/>
            </a:pPr>
            <a:r>
              <a:rPr lang="en-US" sz="1000" i="1" dirty="0">
                <a:solidFill>
                  <a:schemeClr val="accent5"/>
                </a:solidFill>
              </a:rPr>
              <a:t>8 meses</a:t>
            </a:r>
            <a:endParaRPr lang="en-US" sz="1000" dirty="0"/>
          </a:p>
        </p:txBody>
      </p:sp>
      <p:sp>
        <p:nvSpPr>
          <p:cNvPr id="12" name="Fondo hoy"/>
          <p:cNvSpPr/>
          <p:nvPr/>
        </p:nvSpPr>
        <p:spPr>
          <a:xfrm>
            <a:off x="1856232" y="1371600"/>
            <a:ext cx="4754880" cy="621792"/>
          </a:xfrm>
          <a:prstGeom prst="roundRect">
            <a:avLst>
              <a:gd name="adj" fmla="val 14706"/>
            </a:avLst>
          </a:prstGeom>
          <a:solidFill>
            <a:schemeClr val="accent2">
              <a:alpha val="15000"/>
            </a:schemeClr>
          </a:solidFill>
          <a:ln w="12700">
            <a:solidFill>
              <a:schemeClr val="accent2">
                <a:alpha val="0"/>
              </a:schemeClr>
            </a:solidFill>
            <a:prstDash val="solid"/>
          </a:ln>
        </p:spPr>
      </p:sp>
      <p:sp>
        <p:nvSpPr>
          <p:cNvPr id="13" name="Halo hoy"/>
          <p:cNvSpPr/>
          <p:nvPr/>
        </p:nvSpPr>
        <p:spPr>
          <a:xfrm>
            <a:off x="1463040" y="1426464"/>
            <a:ext cx="365760" cy="365760"/>
          </a:xfrm>
          <a:prstGeom prst="ellipse">
            <a:avLst/>
          </a:prstGeom>
          <a:solidFill>
            <a:schemeClr val="accent2">
              <a:alpha val="30000"/>
            </a:schemeClr>
          </a:solidFill>
          <a:ln w="12700">
            <a:solidFill>
              <a:schemeClr val="accent2">
                <a:alpha val="0"/>
              </a:schemeClr>
            </a:solidFill>
            <a:prstDash val="solid"/>
          </a:ln>
        </p:spPr>
      </p:sp>
      <p:sp>
        <p:nvSpPr>
          <p:cNvPr id="14" name="Hito 1"/>
          <p:cNvSpPr/>
          <p:nvPr/>
        </p:nvSpPr>
        <p:spPr>
          <a:xfrm>
            <a:off x="1536192" y="1499616"/>
            <a:ext cx="219456" cy="219456"/>
          </a:xfrm>
          <a:prstGeom prst="ellipse">
            <a:avLst/>
          </a:prstGeom>
          <a:solidFill>
            <a:schemeClr val="accent2"/>
          </a:solidFill>
          <a:ln w="31750">
            <a:solidFill>
              <a:schemeClr val="accent2"/>
            </a:solidFill>
            <a:prstDash val="solid"/>
          </a:ln>
        </p:spPr>
      </p:sp>
      <p:sp>
        <p:nvSpPr>
          <p:cNvPr id="15" name="Hito fecha 1"/>
          <p:cNvSpPr txBox="1"/>
          <p:nvPr/>
        </p:nvSpPr>
        <p:spPr>
          <a:xfrm>
            <a:off x="1965960" y="1463040"/>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HOY   </a:t>
            </a:r>
            <a:pPr indent="0" marL="0">
              <a:buNone/>
            </a:pPr>
            <a:r>
              <a:rPr lang="en-US" sz="1250" b="1" dirty="0">
                <a:solidFill>
                  <a:schemeClr val="tx1"/>
                </a:solidFill>
              </a:rPr>
              <a:t>Plazos de respuesta en curso</a:t>
            </a:r>
            <a:endParaRPr lang="en-US" sz="1400" dirty="0"/>
          </a:p>
        </p:txBody>
      </p:sp>
      <p:sp>
        <p:nvSpPr>
          <p:cNvPr id="16" name="Hito detalle 1"/>
          <p:cNvSpPr txBox="1"/>
          <p:nvPr/>
        </p:nvSpPr>
        <p:spPr>
          <a:xfrm>
            <a:off x="1965960" y="1737360"/>
            <a:ext cx="4572000" cy="228600"/>
          </a:xfrm>
          <a:prstGeom prst="rect">
            <a:avLst/>
          </a:prstGeom>
          <a:noFill/>
          <a:ln/>
        </p:spPr>
        <p:txBody>
          <a:bodyPr wrap="square" lIns="0" tIns="0" rIns="0" bIns="0" rtlCol="0" anchor="t"/>
          <a:lstStyle/>
          <a:p>
            <a:pPr indent="0" marL="0">
              <a:buNone/>
            </a:pPr>
            <a:r>
              <a:rPr lang="en-US" sz="1050" dirty="0">
                <a:solidFill>
                  <a:schemeClr val="accent5"/>
                </a:solidFill>
              </a:rPr>
              <a:t>Descargos 10 días hábiles (≈23/10) · Plan de solución 15 días hábiles (≈30/10)</a:t>
            </a:r>
            <a:endParaRPr lang="en-US" sz="1050" dirty="0"/>
          </a:p>
        </p:txBody>
      </p:sp>
      <p:sp>
        <p:nvSpPr>
          <p:cNvPr id="17" name="Hito 2"/>
          <p:cNvSpPr/>
          <p:nvPr/>
        </p:nvSpPr>
        <p:spPr>
          <a:xfrm>
            <a:off x="1536192" y="2176272"/>
            <a:ext cx="219456" cy="219456"/>
          </a:xfrm>
          <a:prstGeom prst="ellipse">
            <a:avLst/>
          </a:prstGeom>
          <a:solidFill>
            <a:schemeClr val="bg1"/>
          </a:solidFill>
          <a:ln w="31750">
            <a:solidFill>
              <a:schemeClr val="accent2"/>
            </a:solidFill>
            <a:prstDash val="solid"/>
          </a:ln>
        </p:spPr>
      </p:sp>
      <p:sp>
        <p:nvSpPr>
          <p:cNvPr id="18" name="Hito fecha 2"/>
          <p:cNvSpPr txBox="1"/>
          <p:nvPr/>
        </p:nvSpPr>
        <p:spPr>
          <a:xfrm>
            <a:off x="1965960" y="2139696"/>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09 OCT 2026   </a:t>
            </a:r>
            <a:pPr indent="0" marL="0">
              <a:buNone/>
            </a:pPr>
            <a:r>
              <a:rPr lang="en-US" sz="1250" b="1" dirty="0">
                <a:solidFill>
                  <a:schemeClr val="tx1"/>
                </a:solidFill>
              </a:rPr>
              <a:t>Informe preliminar · Circular 22741</a:t>
            </a:r>
            <a:endParaRPr lang="en-US" sz="1400" dirty="0"/>
          </a:p>
        </p:txBody>
      </p:sp>
      <p:sp>
        <p:nvSpPr>
          <p:cNvPr id="19" name="Hito detalle 2"/>
          <p:cNvSpPr txBox="1"/>
          <p:nvPr/>
        </p:nvSpPr>
        <p:spPr>
          <a:xfrm>
            <a:off x="1965960" y="2414016"/>
            <a:ext cx="4572000" cy="228600"/>
          </a:xfrm>
          <a:prstGeom prst="rect">
            <a:avLst/>
          </a:prstGeom>
          <a:noFill/>
          <a:ln/>
        </p:spPr>
        <p:txBody>
          <a:bodyPr wrap="square" lIns="0" tIns="0" rIns="0" bIns="0" rtlCol="0" anchor="t"/>
          <a:lstStyle/>
          <a:p>
            <a:pPr indent="0" marL="0">
              <a:buNone/>
            </a:pPr>
            <a:r>
              <a:rPr lang="en-US" sz="1050" dirty="0">
                <a:solidFill>
                  <a:schemeClr val="accent5"/>
                </a:solidFill>
              </a:rPr>
              <a:t>7 nuevas (Anexo A) + seguimiento a obs. 3 y 5 de 2025 (Anexo B)</a:t>
            </a:r>
            <a:endParaRPr lang="en-US" sz="1050" dirty="0"/>
          </a:p>
        </p:txBody>
      </p:sp>
      <p:sp>
        <p:nvSpPr>
          <p:cNvPr id="20" name="Hito 3"/>
          <p:cNvSpPr/>
          <p:nvPr/>
        </p:nvSpPr>
        <p:spPr>
          <a:xfrm>
            <a:off x="1536192" y="2852928"/>
            <a:ext cx="219456" cy="219456"/>
          </a:xfrm>
          <a:prstGeom prst="ellipse">
            <a:avLst/>
          </a:prstGeom>
          <a:solidFill>
            <a:schemeClr val="bg1"/>
          </a:solidFill>
          <a:ln w="31750">
            <a:solidFill>
              <a:schemeClr val="accent2"/>
            </a:solidFill>
            <a:prstDash val="solid"/>
          </a:ln>
        </p:spPr>
      </p:sp>
      <p:sp>
        <p:nvSpPr>
          <p:cNvPr id="21" name="Hito fecha 3"/>
          <p:cNvSpPr txBox="1"/>
          <p:nvPr/>
        </p:nvSpPr>
        <p:spPr>
          <a:xfrm>
            <a:off x="1965960" y="2816352"/>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21 AGO 2026   </a:t>
            </a:r>
            <a:pPr indent="0" marL="0">
              <a:buNone/>
            </a:pPr>
            <a:r>
              <a:rPr lang="en-US" sz="1250" b="1" dirty="0">
                <a:solidFill>
                  <a:schemeClr val="tx1"/>
                </a:solidFill>
              </a:rPr>
              <a:t>Inicio de la visita de supervisión ampliada</a:t>
            </a:r>
            <a:endParaRPr lang="en-US" sz="1400" dirty="0"/>
          </a:p>
        </p:txBody>
      </p:sp>
      <p:sp>
        <p:nvSpPr>
          <p:cNvPr id="22" name="Hito 4"/>
          <p:cNvSpPr/>
          <p:nvPr/>
        </p:nvSpPr>
        <p:spPr>
          <a:xfrm>
            <a:off x="1536192" y="3529584"/>
            <a:ext cx="219456" cy="219456"/>
          </a:xfrm>
          <a:prstGeom prst="ellipse">
            <a:avLst/>
          </a:prstGeom>
          <a:solidFill>
            <a:schemeClr val="bg1"/>
          </a:solidFill>
          <a:ln w="31750">
            <a:solidFill>
              <a:schemeClr val="accent2"/>
            </a:solidFill>
            <a:prstDash val="solid"/>
          </a:ln>
        </p:spPr>
      </p:sp>
      <p:sp>
        <p:nvSpPr>
          <p:cNvPr id="23" name="Hito fecha 4"/>
          <p:cNvSpPr txBox="1"/>
          <p:nvPr/>
        </p:nvSpPr>
        <p:spPr>
          <a:xfrm>
            <a:off x="1965960" y="3493008"/>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31 JUL 2026   </a:t>
            </a:r>
            <a:pPr indent="0" marL="0">
              <a:buNone/>
            </a:pPr>
            <a:r>
              <a:rPr lang="en-US" sz="1250" b="1" dirty="0">
                <a:solidFill>
                  <a:schemeClr val="tx1"/>
                </a:solidFill>
              </a:rPr>
              <a:t>Nombramiento SSF · Circular 18432</a:t>
            </a:r>
            <a:endParaRPr lang="en-US" sz="1400" dirty="0"/>
          </a:p>
        </p:txBody>
      </p:sp>
      <p:sp>
        <p:nvSpPr>
          <p:cNvPr id="24" name="Hito detalle 4"/>
          <p:cNvSpPr txBox="1"/>
          <p:nvPr/>
        </p:nvSpPr>
        <p:spPr>
          <a:xfrm>
            <a:off x="1965960" y="3767328"/>
            <a:ext cx="4572000" cy="228600"/>
          </a:xfrm>
          <a:prstGeom prst="rect">
            <a:avLst/>
          </a:prstGeom>
          <a:noFill/>
          <a:ln/>
        </p:spPr>
        <p:txBody>
          <a:bodyPr wrap="square" lIns="0" tIns="0" rIns="0" bIns="0" rtlCol="0" anchor="t"/>
          <a:lstStyle/>
          <a:p>
            <a:pPr indent="0" marL="0">
              <a:buNone/>
            </a:pPr>
            <a:r>
              <a:rPr lang="en-US" sz="1050" dirty="0">
                <a:solidFill>
                  <a:schemeClr val="accent5"/>
                </a:solidFill>
              </a:rPr>
              <a:t>Visita con corte al 31/07/2026</a:t>
            </a:r>
            <a:endParaRPr lang="en-US" sz="1050" dirty="0"/>
          </a:p>
        </p:txBody>
      </p:sp>
      <p:sp>
        <p:nvSpPr>
          <p:cNvPr id="25" name="Hito 5"/>
          <p:cNvSpPr/>
          <p:nvPr/>
        </p:nvSpPr>
        <p:spPr>
          <a:xfrm>
            <a:off x="1536192" y="4407408"/>
            <a:ext cx="219456" cy="219456"/>
          </a:xfrm>
          <a:prstGeom prst="ellipse">
            <a:avLst/>
          </a:prstGeom>
          <a:solidFill>
            <a:schemeClr val="bg1"/>
          </a:solidFill>
          <a:ln w="31750">
            <a:solidFill>
              <a:schemeClr val="accent1"/>
            </a:solidFill>
            <a:prstDash val="solid"/>
          </a:ln>
        </p:spPr>
      </p:sp>
      <p:sp>
        <p:nvSpPr>
          <p:cNvPr id="26" name="Hito fecha 5"/>
          <p:cNvSpPr txBox="1"/>
          <p:nvPr/>
        </p:nvSpPr>
        <p:spPr>
          <a:xfrm>
            <a:off x="1965960" y="4370832"/>
            <a:ext cx="4572000" cy="274320"/>
          </a:xfrm>
          <a:prstGeom prst="rect">
            <a:avLst/>
          </a:prstGeom>
          <a:noFill/>
          <a:ln/>
        </p:spPr>
        <p:txBody>
          <a:bodyPr wrap="square" lIns="0" tIns="0" rIns="0" bIns="0" rtlCol="0" anchor="ctr"/>
          <a:lstStyle/>
          <a:p>
            <a:pPr indent="0" marL="0">
              <a:buNone/>
            </a:pPr>
            <a:r>
              <a:rPr lang="en-US" sz="1150" b="1" dirty="0">
                <a:solidFill>
                  <a:schemeClr val="accent1"/>
                </a:solidFill>
                <a:latin typeface="Courier New" pitchFamily="34" charset="0"/>
                <a:ea typeface="Courier New" pitchFamily="34" charset="-122"/>
                <a:cs typeface="Courier New" pitchFamily="34" charset="-120"/>
              </a:rPr>
              <a:t>05 NOV 2025   </a:t>
            </a:r>
            <a:pPr indent="0" marL="0">
              <a:buNone/>
            </a:pPr>
            <a:r>
              <a:rPr lang="en-US" sz="1250" b="1" dirty="0">
                <a:solidFill>
                  <a:schemeClr val="tx1"/>
                </a:solidFill>
              </a:rPr>
              <a:t>Informe preliminar · Circular 17003</a:t>
            </a:r>
            <a:endParaRPr lang="en-US" sz="1400" dirty="0"/>
          </a:p>
        </p:txBody>
      </p:sp>
      <p:sp>
        <p:nvSpPr>
          <p:cNvPr id="27" name="Hito detalle 5"/>
          <p:cNvSpPr txBox="1"/>
          <p:nvPr/>
        </p:nvSpPr>
        <p:spPr>
          <a:xfrm>
            <a:off x="1965960" y="4645152"/>
            <a:ext cx="4572000" cy="228600"/>
          </a:xfrm>
          <a:prstGeom prst="rect">
            <a:avLst/>
          </a:prstGeom>
          <a:noFill/>
          <a:ln/>
        </p:spPr>
        <p:txBody>
          <a:bodyPr wrap="square" lIns="0" tIns="0" rIns="0" bIns="0" rtlCol="0" anchor="t"/>
          <a:lstStyle/>
          <a:p>
            <a:pPr indent="0" marL="0">
              <a:buNone/>
            </a:pPr>
            <a:r>
              <a:rPr lang="en-US" sz="1050" dirty="0">
                <a:solidFill>
                  <a:schemeClr val="accent5"/>
                </a:solidFill>
              </a:rPr>
              <a:t>9 observaciones</a:t>
            </a:r>
            <a:endParaRPr lang="en-US" sz="1050" dirty="0"/>
          </a:p>
        </p:txBody>
      </p:sp>
      <p:sp>
        <p:nvSpPr>
          <p:cNvPr id="28" name="Hito 6"/>
          <p:cNvSpPr/>
          <p:nvPr/>
        </p:nvSpPr>
        <p:spPr>
          <a:xfrm>
            <a:off x="1536192" y="5084064"/>
            <a:ext cx="219456" cy="219456"/>
          </a:xfrm>
          <a:prstGeom prst="ellipse">
            <a:avLst/>
          </a:prstGeom>
          <a:solidFill>
            <a:schemeClr val="bg1"/>
          </a:solidFill>
          <a:ln w="31750">
            <a:solidFill>
              <a:schemeClr val="accent1"/>
            </a:solidFill>
            <a:prstDash val="solid"/>
          </a:ln>
        </p:spPr>
      </p:sp>
      <p:sp>
        <p:nvSpPr>
          <p:cNvPr id="29" name="Hito fecha 6"/>
          <p:cNvSpPr txBox="1"/>
          <p:nvPr/>
        </p:nvSpPr>
        <p:spPr>
          <a:xfrm>
            <a:off x="1965960" y="5047488"/>
            <a:ext cx="4572000" cy="274320"/>
          </a:xfrm>
          <a:prstGeom prst="rect">
            <a:avLst/>
          </a:prstGeom>
          <a:noFill/>
          <a:ln/>
        </p:spPr>
        <p:txBody>
          <a:bodyPr wrap="square" lIns="0" tIns="0" rIns="0" bIns="0" rtlCol="0" anchor="ctr"/>
          <a:lstStyle/>
          <a:p>
            <a:pPr indent="0" marL="0">
              <a:buNone/>
            </a:pPr>
            <a:r>
              <a:rPr lang="en-US" sz="1150" b="1" dirty="0">
                <a:solidFill>
                  <a:schemeClr val="accent1"/>
                </a:solidFill>
                <a:latin typeface="Courier New" pitchFamily="34" charset="0"/>
                <a:ea typeface="Courier New" pitchFamily="34" charset="-122"/>
                <a:cs typeface="Courier New" pitchFamily="34" charset="-120"/>
              </a:rPr>
              <a:t>19 MAY 2025   </a:t>
            </a:r>
            <a:pPr indent="0" marL="0">
              <a:buNone/>
            </a:pPr>
            <a:r>
              <a:rPr lang="en-US" sz="1250" b="1" dirty="0">
                <a:solidFill>
                  <a:schemeClr val="tx1"/>
                </a:solidFill>
              </a:rPr>
              <a:t>Inicio formal de la visita en sitio</a:t>
            </a:r>
            <a:endParaRPr lang="en-US" sz="1400" dirty="0"/>
          </a:p>
        </p:txBody>
      </p:sp>
      <p:sp>
        <p:nvSpPr>
          <p:cNvPr id="30" name="Hito 7"/>
          <p:cNvSpPr/>
          <p:nvPr/>
        </p:nvSpPr>
        <p:spPr>
          <a:xfrm>
            <a:off x="1536192" y="5760720"/>
            <a:ext cx="219456" cy="219456"/>
          </a:xfrm>
          <a:prstGeom prst="ellipse">
            <a:avLst/>
          </a:prstGeom>
          <a:solidFill>
            <a:schemeClr val="bg1"/>
          </a:solidFill>
          <a:ln w="31750">
            <a:solidFill>
              <a:schemeClr val="accent1"/>
            </a:solidFill>
            <a:prstDash val="solid"/>
          </a:ln>
        </p:spPr>
      </p:sp>
      <p:sp>
        <p:nvSpPr>
          <p:cNvPr id="31" name="Hito fecha 7"/>
          <p:cNvSpPr txBox="1"/>
          <p:nvPr/>
        </p:nvSpPr>
        <p:spPr>
          <a:xfrm>
            <a:off x="1965960" y="5724144"/>
            <a:ext cx="4572000" cy="274320"/>
          </a:xfrm>
          <a:prstGeom prst="rect">
            <a:avLst/>
          </a:prstGeom>
          <a:noFill/>
          <a:ln/>
        </p:spPr>
        <p:txBody>
          <a:bodyPr wrap="square" lIns="0" tIns="0" rIns="0" bIns="0" rtlCol="0" anchor="ctr"/>
          <a:lstStyle/>
          <a:p>
            <a:pPr indent="0" marL="0">
              <a:buNone/>
            </a:pPr>
            <a:r>
              <a:rPr lang="en-US" sz="1150" b="1" dirty="0">
                <a:solidFill>
                  <a:schemeClr val="accent1"/>
                </a:solidFill>
                <a:latin typeface="Courier New" pitchFamily="34" charset="0"/>
                <a:ea typeface="Courier New" pitchFamily="34" charset="-122"/>
                <a:cs typeface="Courier New" pitchFamily="34" charset="-120"/>
              </a:rPr>
              <a:t>09 ABR 2025   </a:t>
            </a:r>
            <a:pPr indent="0" marL="0">
              <a:buNone/>
            </a:pPr>
            <a:r>
              <a:rPr lang="en-US" sz="1250" b="1" dirty="0">
                <a:solidFill>
                  <a:schemeClr val="tx1"/>
                </a:solidFill>
              </a:rPr>
              <a:t>Nombramiento SSF · Circular 9337</a:t>
            </a:r>
            <a:endParaRPr lang="en-US" sz="1400" dirty="0"/>
          </a:p>
        </p:txBody>
      </p:sp>
      <p:sp>
        <p:nvSpPr>
          <p:cNvPr id="32" name="Hito detalle 7"/>
          <p:cNvSpPr txBox="1"/>
          <p:nvPr/>
        </p:nvSpPr>
        <p:spPr>
          <a:xfrm>
            <a:off x="1965960" y="5998464"/>
            <a:ext cx="4572000" cy="228600"/>
          </a:xfrm>
          <a:prstGeom prst="rect">
            <a:avLst/>
          </a:prstGeom>
          <a:noFill/>
          <a:ln/>
        </p:spPr>
        <p:txBody>
          <a:bodyPr wrap="square" lIns="0" tIns="0" rIns="0" bIns="0" rtlCol="0" anchor="t"/>
          <a:lstStyle/>
          <a:p>
            <a:pPr indent="0" marL="0">
              <a:buNone/>
            </a:pPr>
            <a:r>
              <a:rPr lang="en-US" sz="1050" dirty="0">
                <a:solidFill>
                  <a:schemeClr val="accent5"/>
                </a:solidFill>
              </a:rPr>
              <a:t>Visita con corte al 30/04/2025</a:t>
            </a:r>
            <a:endParaRPr lang="en-US" sz="1050" dirty="0"/>
          </a:p>
        </p:txBody>
      </p:sp>
      <p:sp>
        <p:nvSpPr>
          <p:cNvPr id="33" name="Detalle 2026"/>
          <p:cNvSpPr/>
          <p:nvPr/>
        </p:nvSpPr>
        <p:spPr>
          <a:xfrm>
            <a:off x="6720840" y="1325880"/>
            <a:ext cx="4922215" cy="1298448"/>
          </a:xfrm>
          <a:prstGeom prst="roundRect">
            <a:avLst>
              <a:gd name="adj" fmla="val 7042"/>
            </a:avLst>
          </a:prstGeom>
          <a:solidFill>
            <a:schemeClr val="accent2">
              <a:alpha val="12000"/>
            </a:schemeClr>
          </a:solidFill>
          <a:ln w="12700">
            <a:solidFill>
              <a:schemeClr val="accent2">
                <a:alpha val="0"/>
              </a:schemeClr>
            </a:solidFill>
            <a:prstDash val="solid"/>
          </a:ln>
        </p:spPr>
      </p:sp>
      <p:sp>
        <p:nvSpPr>
          <p:cNvPr id="34" name="Detalle 2026 título"/>
          <p:cNvSpPr txBox="1"/>
          <p:nvPr/>
        </p:nvSpPr>
        <p:spPr>
          <a:xfrm>
            <a:off x="6903720" y="1435608"/>
            <a:ext cx="4556455" cy="256032"/>
          </a:xfrm>
          <a:prstGeom prst="rect">
            <a:avLst/>
          </a:prstGeom>
          <a:noFill/>
          <a:ln/>
        </p:spPr>
        <p:txBody>
          <a:bodyPr wrap="square" lIns="0" tIns="0" rIns="0" bIns="0" rtlCol="0" anchor="t"/>
          <a:lstStyle/>
          <a:p>
            <a:pPr indent="0" marL="0">
              <a:buNone/>
            </a:pPr>
            <a:r>
              <a:rPr lang="en-US" sz="1300" b="1" dirty="0">
                <a:solidFill>
                  <a:schemeClr val="accent2"/>
                </a:solidFill>
              </a:rPr>
              <a:t>Resultado 2026 · Circular 22741</a:t>
            </a:r>
            <a:endParaRPr lang="en-US" sz="1300" dirty="0"/>
          </a:p>
        </p:txBody>
      </p:sp>
      <p:sp>
        <p:nvSpPr>
          <p:cNvPr id="35" name="Detalle 2026 texto"/>
          <p:cNvSpPr txBox="1"/>
          <p:nvPr/>
        </p:nvSpPr>
        <p:spPr>
          <a:xfrm>
            <a:off x="6903720" y="1755648"/>
            <a:ext cx="4556455" cy="804672"/>
          </a:xfrm>
          <a:prstGeom prst="rect">
            <a:avLst/>
          </a:prstGeom>
          <a:noFill/>
          <a:ln/>
        </p:spPr>
        <p:txBody>
          <a:bodyPr wrap="square" lIns="0" tIns="0" rIns="0" bIns="0" rtlCol="0" anchor="t"/>
          <a:lstStyle/>
          <a:p>
            <a:pPr indent="0" marL="0">
              <a:spcAft>
                <a:spcPts val="300"/>
              </a:spcAft>
              <a:buNone/>
            </a:pPr>
            <a:r>
              <a:rPr lang="en-US" sz="1150" b="1" dirty="0">
                <a:solidFill>
                  <a:schemeClr val="tx1"/>
                </a:solidFill>
              </a:rPr>
              <a:t>Anexo A: </a:t>
            </a:r>
            <a:pPr indent="0" marL="0">
              <a:spcAft>
                <a:spcPts val="300"/>
              </a:spcAft>
              <a:buNone/>
            </a:pPr>
            <a:r>
              <a:rPr lang="en-US" sz="1150" dirty="0">
                <a:solidFill>
                  <a:schemeClr val="tx1"/>
                </a:solidFill>
              </a:rPr>
              <a:t>7 observaciones nuevas · descargos en 10 días hábiles</a:t>
            </a:r>
            <a:endParaRPr lang="en-US" sz="1150" dirty="0"/>
          </a:p>
          <a:p>
            <a:pPr indent="0" marL="0">
              <a:spcAft>
                <a:spcPts val="300"/>
              </a:spcAft>
              <a:buNone/>
            </a:pPr>
            <a:r>
              <a:rPr lang="en-US" sz="1150" b="1" dirty="0">
                <a:solidFill>
                  <a:schemeClr val="tx1"/>
                </a:solidFill>
              </a:rPr>
              <a:t>Anexo B: </a:t>
            </a:r>
            <a:pPr indent="0" marL="0">
              <a:spcAft>
                <a:spcPts val="300"/>
              </a:spcAft>
              <a:buNone/>
            </a:pPr>
            <a:r>
              <a:rPr lang="en-US" sz="1150" dirty="0">
                <a:solidFill>
                  <a:schemeClr val="tx1"/>
                </a:solidFill>
              </a:rPr>
              <a:t>seguimiento a obs. 3 y 5 de 2025 · plan de solución en 15 días hábiles</a:t>
            </a:r>
            <a:endParaRPr lang="en-US" sz="1150" dirty="0"/>
          </a:p>
        </p:txBody>
      </p:sp>
      <p:sp>
        <p:nvSpPr>
          <p:cNvPr id="36" name="Detalle 2025"/>
          <p:cNvSpPr/>
          <p:nvPr/>
        </p:nvSpPr>
        <p:spPr>
          <a:xfrm>
            <a:off x="6720840" y="2761488"/>
            <a:ext cx="4922215" cy="1143000"/>
          </a:xfrm>
          <a:prstGeom prst="roundRect">
            <a:avLst>
              <a:gd name="adj" fmla="val 8000"/>
            </a:avLst>
          </a:prstGeom>
          <a:solidFill>
            <a:schemeClr val="accent1">
              <a:alpha val="12000"/>
            </a:schemeClr>
          </a:solidFill>
          <a:ln w="12700">
            <a:solidFill>
              <a:schemeClr val="accent1">
                <a:alpha val="0"/>
              </a:schemeClr>
            </a:solidFill>
            <a:prstDash val="solid"/>
          </a:ln>
        </p:spPr>
      </p:sp>
      <p:sp>
        <p:nvSpPr>
          <p:cNvPr id="37" name="Detalle 2025 título"/>
          <p:cNvSpPr txBox="1"/>
          <p:nvPr/>
        </p:nvSpPr>
        <p:spPr>
          <a:xfrm>
            <a:off x="6903720" y="2871216"/>
            <a:ext cx="4556455" cy="256032"/>
          </a:xfrm>
          <a:prstGeom prst="rect">
            <a:avLst/>
          </a:prstGeom>
          <a:noFill/>
          <a:ln/>
        </p:spPr>
        <p:txBody>
          <a:bodyPr wrap="square" lIns="0" tIns="0" rIns="0" bIns="0" rtlCol="0" anchor="t"/>
          <a:lstStyle/>
          <a:p>
            <a:pPr indent="0" marL="0">
              <a:buNone/>
            </a:pPr>
            <a:r>
              <a:rPr lang="en-US" sz="1300" b="1" dirty="0">
                <a:solidFill>
                  <a:schemeClr val="accent1"/>
                </a:solidFill>
              </a:rPr>
              <a:t>Hallazgos críticos 2025 · Circular 17003</a:t>
            </a:r>
            <a:endParaRPr lang="en-US" sz="1300" dirty="0"/>
          </a:p>
        </p:txBody>
      </p:sp>
      <p:sp>
        <p:nvSpPr>
          <p:cNvPr id="38" name="Detalle 2025 texto"/>
          <p:cNvSpPr txBox="1"/>
          <p:nvPr/>
        </p:nvSpPr>
        <p:spPr>
          <a:xfrm>
            <a:off x="6903720" y="3182112"/>
            <a:ext cx="4556455" cy="685800"/>
          </a:xfrm>
          <a:prstGeom prst="rect">
            <a:avLst/>
          </a:prstGeom>
          <a:noFill/>
          <a:ln/>
        </p:spPr>
        <p:txBody>
          <a:bodyPr wrap="square" lIns="0" tIns="0" rIns="0" bIns="0" rtlCol="0" anchor="t"/>
          <a:lstStyle/>
          <a:p>
            <a:pPr marL="342900" indent="-342900">
              <a:spcAft>
                <a:spcPts val="100"/>
              </a:spcAft>
              <a:buSzPct val="100000"/>
              <a:buChar char="•"/>
            </a:pPr>
            <a:r>
              <a:rPr lang="en-US" sz="1150" dirty="0">
                <a:solidFill>
                  <a:schemeClr val="tx1"/>
                </a:solidFill>
              </a:rPr>
              <a:t>Ausencia de Política de Operaciones Vinculadas</a:t>
            </a:r>
            <a:endParaRPr lang="en-US" sz="1150" dirty="0"/>
          </a:p>
          <a:p>
            <a:pPr marL="342900" indent="-342900">
              <a:spcAft>
                <a:spcPts val="100"/>
              </a:spcAft>
              <a:buSzPct val="100000"/>
              <a:buChar char="•"/>
            </a:pPr>
            <a:r>
              <a:rPr lang="en-US" sz="1150" dirty="0">
                <a:solidFill>
                  <a:schemeClr val="tx1"/>
                </a:solidFill>
              </a:rPr>
              <a:t>Normativa interna desactualizada (9 documentos)</a:t>
            </a:r>
            <a:endParaRPr lang="en-US" sz="1150" dirty="0"/>
          </a:p>
          <a:p>
            <a:pPr marL="342900" indent="-342900">
              <a:spcAft>
                <a:spcPts val="100"/>
              </a:spcAft>
              <a:buSzPct val="100000"/>
              <a:buChar char="•"/>
            </a:pPr>
            <a:r>
              <a:rPr lang="en-US" sz="1150" dirty="0">
                <a:solidFill>
                  <a:schemeClr val="tx1"/>
                </a:solidFill>
              </a:rPr>
              <a:t>Uso inapropiado del Fondo de Educación</a:t>
            </a:r>
            <a:endParaRPr lang="en-US" sz="1150" dirty="0"/>
          </a:p>
        </p:txBody>
      </p:sp>
      <p:sp>
        <p:nvSpPr>
          <p:cNvPr id="39" name="Evolución título"/>
          <p:cNvSpPr txBox="1"/>
          <p:nvPr/>
        </p:nvSpPr>
        <p:spPr>
          <a:xfrm>
            <a:off x="6720840" y="4041648"/>
            <a:ext cx="4922215" cy="237744"/>
          </a:xfrm>
          <a:prstGeom prst="rect">
            <a:avLst/>
          </a:prstGeom>
          <a:noFill/>
          <a:ln/>
        </p:spPr>
        <p:txBody>
          <a:bodyPr wrap="square" lIns="0" tIns="0" rIns="0" bIns="0" rtlCol="0" anchor="t"/>
          <a:lstStyle/>
          <a:p>
            <a:pPr indent="0" marL="0">
              <a:buNone/>
            </a:pPr>
            <a:r>
              <a:rPr lang="en-US" sz="1100" b="1" spc="200" kern="0" dirty="0">
                <a:solidFill>
                  <a:schemeClr val="accent5"/>
                </a:solidFill>
              </a:rPr>
              <a:t>SEGUIMIENTO A OBSERVACIONES 2025</a:t>
            </a:r>
            <a:endParaRPr lang="en-US" sz="1100" dirty="0"/>
          </a:p>
        </p:txBody>
      </p:sp>
      <p:sp>
        <p:nvSpPr>
          <p:cNvPr id="40" name="Evolución 1"/>
          <p:cNvSpPr/>
          <p:nvPr/>
        </p:nvSpPr>
        <p:spPr>
          <a:xfrm>
            <a:off x="6720840" y="4343400"/>
            <a:ext cx="4922215" cy="585216"/>
          </a:xfrm>
          <a:prstGeom prst="roundRect">
            <a:avLst>
              <a:gd name="adj" fmla="val 15625"/>
            </a:avLst>
          </a:prstGeom>
          <a:solidFill>
            <a:schemeClr val="accent3">
              <a:alpha val="12000"/>
            </a:schemeClr>
          </a:solidFill>
          <a:ln w="12700">
            <a:solidFill>
              <a:schemeClr val="accent3">
                <a:alpha val="0"/>
              </a:schemeClr>
            </a:solidFill>
            <a:prstDash val="solid"/>
          </a:ln>
        </p:spPr>
      </p:sp>
      <p:sp>
        <p:nvSpPr>
          <p:cNvPr id="41" name="Evolución estado 1 fondo"/>
          <p:cNvSpPr/>
          <p:nvPr/>
        </p:nvSpPr>
        <p:spPr>
          <a:xfrm>
            <a:off x="6858000" y="4498848"/>
            <a:ext cx="2011680" cy="274320"/>
          </a:xfrm>
          <a:prstGeom prst="roundRect">
            <a:avLst>
              <a:gd name="adj" fmla="val 50000"/>
            </a:avLst>
          </a:prstGeom>
          <a:solidFill>
            <a:schemeClr val="accent3"/>
          </a:solidFill>
          <a:ln w="12700">
            <a:solidFill>
              <a:schemeClr val="accent3">
                <a:alpha val="0"/>
              </a:schemeClr>
            </a:solidFill>
            <a:prstDash val="solid"/>
          </a:ln>
        </p:spPr>
      </p:sp>
      <p:sp>
        <p:nvSpPr>
          <p:cNvPr id="42" name="Evolución estado 1"/>
          <p:cNvSpPr txBox="1"/>
          <p:nvPr/>
        </p:nvSpPr>
        <p:spPr>
          <a:xfrm>
            <a:off x="6858000" y="4498848"/>
            <a:ext cx="20116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NO SUPERADA</a:t>
            </a:r>
            <a:endParaRPr lang="en-US" sz="1000" dirty="0"/>
          </a:p>
        </p:txBody>
      </p:sp>
      <p:sp>
        <p:nvSpPr>
          <p:cNvPr id="43" name="Evolución tema 1"/>
          <p:cNvSpPr txBox="1"/>
          <p:nvPr/>
        </p:nvSpPr>
        <p:spPr>
          <a:xfrm>
            <a:off x="9006840" y="4416552"/>
            <a:ext cx="2544775" cy="237744"/>
          </a:xfrm>
          <a:prstGeom prst="rect">
            <a:avLst/>
          </a:prstGeom>
          <a:noFill/>
          <a:ln/>
        </p:spPr>
        <p:txBody>
          <a:bodyPr wrap="square" lIns="0" tIns="0" rIns="0" bIns="0" rtlCol="0" anchor="t"/>
          <a:lstStyle/>
          <a:p>
            <a:pPr indent="0" marL="0">
              <a:buNone/>
            </a:pPr>
            <a:r>
              <a:rPr lang="en-US" sz="1200" b="1" dirty="0">
                <a:solidFill>
                  <a:schemeClr val="tx1"/>
                </a:solidFill>
              </a:rPr>
              <a:t>Comités de Apoyo sin ejecutivos</a:t>
            </a:r>
            <a:endParaRPr lang="en-US" sz="1200" dirty="0"/>
          </a:p>
        </p:txBody>
      </p:sp>
      <p:sp>
        <p:nvSpPr>
          <p:cNvPr id="44" name="Evolución detalle 1"/>
          <p:cNvSpPr txBox="1"/>
          <p:nvPr/>
        </p:nvSpPr>
        <p:spPr>
          <a:xfrm>
            <a:off x="9006840" y="4654296"/>
            <a:ext cx="2544775" cy="219456"/>
          </a:xfrm>
          <a:prstGeom prst="rect">
            <a:avLst/>
          </a:prstGeom>
          <a:noFill/>
          <a:ln/>
        </p:spPr>
        <p:txBody>
          <a:bodyPr wrap="square" lIns="0" tIns="0" rIns="0" bIns="0" rtlCol="0" anchor="t"/>
          <a:lstStyle/>
          <a:p>
            <a:pPr indent="0" marL="0">
              <a:buNone/>
            </a:pPr>
            <a:r>
              <a:rPr lang="en-US" sz="1050" dirty="0">
                <a:solidFill>
                  <a:schemeClr val="accent5"/>
                </a:solidFill>
              </a:rPr>
              <a:t>Obs. 3 de 2025 · Anexo B</a:t>
            </a:r>
            <a:endParaRPr lang="en-US" sz="1050" dirty="0"/>
          </a:p>
        </p:txBody>
      </p:sp>
      <p:sp>
        <p:nvSpPr>
          <p:cNvPr id="45" name="Evolución 2"/>
          <p:cNvSpPr/>
          <p:nvPr/>
        </p:nvSpPr>
        <p:spPr>
          <a:xfrm>
            <a:off x="6720840" y="5001768"/>
            <a:ext cx="4922215" cy="585216"/>
          </a:xfrm>
          <a:prstGeom prst="roundRect">
            <a:avLst>
              <a:gd name="adj" fmla="val 15625"/>
            </a:avLst>
          </a:prstGeom>
          <a:solidFill>
            <a:schemeClr val="accent4">
              <a:alpha val="12000"/>
            </a:schemeClr>
          </a:solidFill>
          <a:ln w="12700">
            <a:solidFill>
              <a:schemeClr val="accent4">
                <a:alpha val="0"/>
              </a:schemeClr>
            </a:solidFill>
            <a:prstDash val="solid"/>
          </a:ln>
        </p:spPr>
      </p:sp>
      <p:sp>
        <p:nvSpPr>
          <p:cNvPr id="46" name="Evolución estado 2 fondo"/>
          <p:cNvSpPr/>
          <p:nvPr/>
        </p:nvSpPr>
        <p:spPr>
          <a:xfrm>
            <a:off x="6858000" y="5157216"/>
            <a:ext cx="2011680" cy="274320"/>
          </a:xfrm>
          <a:prstGeom prst="roundRect">
            <a:avLst>
              <a:gd name="adj" fmla="val 50000"/>
            </a:avLst>
          </a:prstGeom>
          <a:solidFill>
            <a:schemeClr val="accent4"/>
          </a:solidFill>
          <a:ln w="12700">
            <a:solidFill>
              <a:schemeClr val="accent4">
                <a:alpha val="0"/>
              </a:schemeClr>
            </a:solidFill>
            <a:prstDash val="solid"/>
          </a:ln>
        </p:spPr>
      </p:sp>
      <p:sp>
        <p:nvSpPr>
          <p:cNvPr id="47" name="Evolución estado 2"/>
          <p:cNvSpPr txBox="1"/>
          <p:nvPr/>
        </p:nvSpPr>
        <p:spPr>
          <a:xfrm>
            <a:off x="6858000" y="5157216"/>
            <a:ext cx="20116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PARCIALMENTE SUPERADA</a:t>
            </a:r>
            <a:endParaRPr lang="en-US" sz="1000" dirty="0"/>
          </a:p>
        </p:txBody>
      </p:sp>
      <p:sp>
        <p:nvSpPr>
          <p:cNvPr id="48" name="Evolución tema 2"/>
          <p:cNvSpPr txBox="1"/>
          <p:nvPr/>
        </p:nvSpPr>
        <p:spPr>
          <a:xfrm>
            <a:off x="9006840" y="5074920"/>
            <a:ext cx="2544775" cy="237744"/>
          </a:xfrm>
          <a:prstGeom prst="rect">
            <a:avLst/>
          </a:prstGeom>
          <a:noFill/>
          <a:ln/>
        </p:spPr>
        <p:txBody>
          <a:bodyPr wrap="square" lIns="0" tIns="0" rIns="0" bIns="0" rtlCol="0" anchor="t"/>
          <a:lstStyle/>
          <a:p>
            <a:pPr indent="0" marL="0">
              <a:buNone/>
            </a:pPr>
            <a:r>
              <a:rPr lang="en-US" sz="1200" b="1" dirty="0">
                <a:solidFill>
                  <a:schemeClr val="tx1"/>
                </a:solidFill>
              </a:rPr>
              <a:t>Normativa interna desactualizada</a:t>
            </a:r>
            <a:endParaRPr lang="en-US" sz="1200" dirty="0"/>
          </a:p>
        </p:txBody>
      </p:sp>
      <p:sp>
        <p:nvSpPr>
          <p:cNvPr id="49" name="Evolución detalle 2"/>
          <p:cNvSpPr txBox="1"/>
          <p:nvPr/>
        </p:nvSpPr>
        <p:spPr>
          <a:xfrm>
            <a:off x="9006840" y="5312664"/>
            <a:ext cx="2544775" cy="219456"/>
          </a:xfrm>
          <a:prstGeom prst="rect">
            <a:avLst/>
          </a:prstGeom>
          <a:noFill/>
          <a:ln/>
        </p:spPr>
        <p:txBody>
          <a:bodyPr wrap="square" lIns="0" tIns="0" rIns="0" bIns="0" rtlCol="0" anchor="t"/>
          <a:lstStyle/>
          <a:p>
            <a:pPr indent="0" marL="0">
              <a:buNone/>
            </a:pPr>
            <a:r>
              <a:rPr lang="en-US" sz="1050" dirty="0">
                <a:solidFill>
                  <a:schemeClr val="accent5"/>
                </a:solidFill>
              </a:rPr>
              <a:t>Obs. 5 de 2025 · Anexo B</a:t>
            </a:r>
            <a:endParaRPr lang="en-US" sz="1050" dirty="0"/>
          </a:p>
        </p:txBody>
      </p:sp>
      <p:sp>
        <p:nvSpPr>
          <p:cNvPr id="50" name="Evolución 3"/>
          <p:cNvSpPr/>
          <p:nvPr/>
        </p:nvSpPr>
        <p:spPr>
          <a:xfrm>
            <a:off x="6720840" y="5660136"/>
            <a:ext cx="4922215" cy="585216"/>
          </a:xfrm>
          <a:prstGeom prst="roundRect">
            <a:avLst>
              <a:gd name="adj" fmla="val 15625"/>
            </a:avLst>
          </a:prstGeom>
          <a:solidFill>
            <a:schemeClr val="accent2">
              <a:alpha val="12000"/>
            </a:schemeClr>
          </a:solidFill>
          <a:ln w="12700">
            <a:solidFill>
              <a:schemeClr val="accent2">
                <a:alpha val="0"/>
              </a:schemeClr>
            </a:solidFill>
            <a:prstDash val="solid"/>
          </a:ln>
        </p:spPr>
      </p:sp>
      <p:sp>
        <p:nvSpPr>
          <p:cNvPr id="51" name="Evolución estado 3 fondo"/>
          <p:cNvSpPr/>
          <p:nvPr/>
        </p:nvSpPr>
        <p:spPr>
          <a:xfrm>
            <a:off x="6858000" y="5815584"/>
            <a:ext cx="2011680" cy="274320"/>
          </a:xfrm>
          <a:prstGeom prst="roundRect">
            <a:avLst>
              <a:gd name="adj" fmla="val 50000"/>
            </a:avLst>
          </a:prstGeom>
          <a:solidFill>
            <a:schemeClr val="accent2"/>
          </a:solidFill>
          <a:ln w="12700">
            <a:solidFill>
              <a:schemeClr val="accent2">
                <a:alpha val="0"/>
              </a:schemeClr>
            </a:solidFill>
            <a:prstDash val="solid"/>
          </a:ln>
        </p:spPr>
      </p:sp>
      <p:sp>
        <p:nvSpPr>
          <p:cNvPr id="52" name="Evolución estado 3"/>
          <p:cNvSpPr txBox="1"/>
          <p:nvPr/>
        </p:nvSpPr>
        <p:spPr>
          <a:xfrm>
            <a:off x="6858000" y="5815584"/>
            <a:ext cx="20116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MISMO TEMA · NUEVAS</a:t>
            </a:r>
            <a:endParaRPr lang="en-US" sz="1000" dirty="0"/>
          </a:p>
        </p:txBody>
      </p:sp>
      <p:sp>
        <p:nvSpPr>
          <p:cNvPr id="53" name="Evolución tema 3"/>
          <p:cNvSpPr txBox="1"/>
          <p:nvPr/>
        </p:nvSpPr>
        <p:spPr>
          <a:xfrm>
            <a:off x="9006840" y="5733288"/>
            <a:ext cx="2544775" cy="237744"/>
          </a:xfrm>
          <a:prstGeom prst="rect">
            <a:avLst/>
          </a:prstGeom>
          <a:noFill/>
          <a:ln/>
        </p:spPr>
        <p:txBody>
          <a:bodyPr wrap="square" lIns="0" tIns="0" rIns="0" bIns="0" rtlCol="0" anchor="t"/>
          <a:lstStyle/>
          <a:p>
            <a:pPr indent="0" marL="0">
              <a:buNone/>
            </a:pPr>
            <a:r>
              <a:rPr lang="en-US" sz="1200" b="1" dirty="0">
                <a:solidFill>
                  <a:schemeClr val="tx1"/>
                </a:solidFill>
              </a:rPr>
              <a:t>Fondo de Educación</a:t>
            </a:r>
            <a:endParaRPr lang="en-US" sz="1200" dirty="0"/>
          </a:p>
        </p:txBody>
      </p:sp>
      <p:sp>
        <p:nvSpPr>
          <p:cNvPr id="54" name="Evolución detalle 3"/>
          <p:cNvSpPr txBox="1"/>
          <p:nvPr/>
        </p:nvSpPr>
        <p:spPr>
          <a:xfrm>
            <a:off x="9006840" y="5971032"/>
            <a:ext cx="2544775" cy="219456"/>
          </a:xfrm>
          <a:prstGeom prst="rect">
            <a:avLst/>
          </a:prstGeom>
          <a:noFill/>
          <a:ln/>
        </p:spPr>
        <p:txBody>
          <a:bodyPr wrap="square" lIns="0" tIns="0" rIns="0" bIns="0" rtlCol="0" anchor="t"/>
          <a:lstStyle/>
          <a:p>
            <a:pPr indent="0" marL="0">
              <a:buNone/>
            </a:pPr>
            <a:r>
              <a:rPr lang="en-US" sz="1050" dirty="0">
                <a:solidFill>
                  <a:schemeClr val="accent5"/>
                </a:solidFill>
              </a:rPr>
              <a:t>Obs. 6 y 7 nuevas · no es seguimiento</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SSF Gobierno Corporativo">
  <a:themeElements>
    <a:clrScheme name="SSF Gobierno Corporativo">
      <a:dk1>
        <a:srgbClr val="142033"/>
      </a:dk1>
      <a:lt1>
        <a:srgbClr val="FFFFFF"/>
      </a:lt1>
      <a:dk2>
        <a:srgbClr val="173A6E"/>
      </a:dk2>
      <a:lt2>
        <a:srgbClr val="EEF2F8"/>
      </a:lt2>
      <a:accent1>
        <a:srgbClr val="173A6E"/>
      </a:accent1>
      <a:accent2>
        <a:srgbClr val="1D7A4B"/>
      </a:accent2>
      <a:accent3>
        <a:srgbClr val="B42318"/>
      </a:accent3>
      <a:accent4>
        <a:srgbClr val="D99A1E"/>
      </a:accent4>
      <a:accent5>
        <a:srgbClr val="586579"/>
      </a:accent5>
      <a:accent6>
        <a:srgbClr val="A86410"/>
      </a:accent6>
      <a:hlink>
        <a:srgbClr val="173A6E"/>
      </a:hlink>
      <a:folHlink>
        <a:srgbClr val="586579"/>
      </a:folHlink>
    </a:clrScheme>
    <a:fontScheme name="SSF Gobierno Corporativ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Supervisiones de Gobierno Corporativo SSF a COMEDICA de R.L.</dc:title>
  <dc:subject>Resultados de visitas de supervisión 2025 y 2026</dc:subject>
  <dc:creator>COMEDICA de R.L.</dc:creator>
  <cp:lastModifiedBy>COMEDICA de R.L.</cp:lastModifiedBy>
  <cp:revision>1</cp:revision>
  <dcterms:created xsi:type="dcterms:W3CDTF">2026-10-13T17:48:30Z</dcterms:created>
  <dcterms:modified xsi:type="dcterms:W3CDTF">2026-10-13T17:48:30Z</dcterms:modified>
</cp:coreProperties>
</file>