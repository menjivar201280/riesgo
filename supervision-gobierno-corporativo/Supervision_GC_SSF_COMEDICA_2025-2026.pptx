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cd644b79-7029-ba89-e5ea-7a004caeb1d1}">
          <p14:sldIdLst>
            <p14:sldId id="256"/>
          </p14:sldIdLst>
        </p14:section>
        <p14:section name="2 · Observaciones 2025" id="{47cc28b4-e155-0e32-ba32-07f05acc5604}">
          <p14:sldIdLst>
            <p14:sldId id="257"/>
          </p14:sldIdLst>
        </p14:section>
        <p14:section name="3 · Observaciones 2026" id="{ed885da7-e1e1-0cd8-2619-7ac6fb5c8e67}">
          <p14:sldIdLst>
            <p14:sldId id="258"/>
          </p14:sldIdLst>
        </p14:section>
        <p14:section name="4 · Línea de tiempo y evolución" id="{58fbf1f1-8a0d-6b19-fa7c-7d21a3e47fa0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Circular 17003 con 9 observaciones. 2026: Circular 22741 con 7 observaciones nuevas (Anexo A) y seguimiento a 2 de las 9 observaciones de 2025 (Anexo B): la obs. 3 no superada y la obs. 5 parcialmente superada.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línea de tiempo se lee de arriba hacia abajo, de lo más reciente a lo más antiguo. Hoy corren los plazos: 10 días hábiles para descargos del Anexo A (aprox. 23/10/2026) y 15 días hábiles para el plan de solución del Anexo B (aprox. 30/10/2026). 2026: nombramiento 31/07, inicio 21/08 e informe preliminar 09/10 con 7 observaciones nuevas y seguimiento a las obs. 3 y 5 de 2025. 2025: nombramiento 09/04, inicio 19/05 e informe preliminar 05/11 con 9 observaciones. Seguimiento: obs. 3 no superada; obs. 5 parcialmente superada. El Fondo de Educación vuelve como tema, pero con observaciones nuevas.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502920"/>
            <a:ext cx="3200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1143000"/>
            <a:ext cx="3200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45720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502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SUPERVISIONES DE GOBIERNO CORPORATIVO · COMEDICA DE R.L.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11430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Circulares de notificación SSF 2025 – 2026</a:t>
            </a:r>
            <a:endParaRPr lang="en-US" sz="3000" dirty="0"/>
          </a:p>
        </p:txBody>
      </p:sp>
      <p:sp>
        <p:nvSpPr>
          <p:cNvPr id="4" name="Separador panel 2025"/>
          <p:cNvSpPr/>
          <p:nvPr/>
        </p:nvSpPr>
        <p:spPr>
          <a:xfrm>
            <a:off x="548640" y="2788920"/>
            <a:ext cx="3200400" cy="0"/>
          </a:xfrm>
          <a:prstGeom prst="line">
            <a:avLst/>
          </a:prstGeom>
          <a:noFill/>
          <a:ln w="9525">
            <a:solidFill>
              <a:schemeClr val="bg2">
                <a:alpha val="40000"/>
              </a:schemeClr>
            </a:solidFill>
            <a:prstDash val="solid"/>
          </a:ln>
        </p:spPr>
      </p:sp>
      <p:sp>
        <p:nvSpPr>
          <p:cNvPr id="5" name="Año panel 2025 fondo"/>
          <p:cNvSpPr/>
          <p:nvPr/>
        </p:nvSpPr>
        <p:spPr>
          <a:xfrm>
            <a:off x="548640" y="2953512"/>
            <a:ext cx="77724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6" name="Año panel 2025"/>
          <p:cNvSpPr txBox="1"/>
          <p:nvPr/>
        </p:nvSpPr>
        <p:spPr>
          <a:xfrm>
            <a:off x="548640" y="295351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2025</a:t>
            </a:r>
            <a:endParaRPr lang="en-US" sz="1100" dirty="0"/>
          </a:p>
        </p:txBody>
      </p:sp>
      <p:sp>
        <p:nvSpPr>
          <p:cNvPr id="7" name="Contorno panel 2025"/>
          <p:cNvSpPr/>
          <p:nvPr/>
        </p:nvSpPr>
        <p:spPr>
          <a:xfrm>
            <a:off x="548640" y="2953512"/>
            <a:ext cx="777240" cy="274320"/>
          </a:xfrm>
          <a:prstGeom prst="roundRect">
            <a:avLst>
              <a:gd name="adj" fmla="val 50000"/>
            </a:avLst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8" name="Visita panel 2025"/>
          <p:cNvSpPr txBox="1"/>
          <p:nvPr/>
        </p:nvSpPr>
        <p:spPr>
          <a:xfrm>
            <a:off x="1463040" y="29535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Visita 1 · Circular 17003</a:t>
            </a:r>
            <a:endParaRPr lang="en-US" sz="1100" dirty="0"/>
          </a:p>
        </p:txBody>
      </p:sp>
      <p:sp>
        <p:nvSpPr>
          <p:cNvPr id="9" name="KPI 2025-1"/>
          <p:cNvSpPr txBox="1"/>
          <p:nvPr/>
        </p:nvSpPr>
        <p:spPr>
          <a:xfrm>
            <a:off x="548640" y="33375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KPI texto 2025-1"/>
          <p:cNvSpPr txBox="1"/>
          <p:nvPr/>
        </p:nvSpPr>
        <p:spPr>
          <a:xfrm>
            <a:off x="548640" y="390448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circulares</a:t>
            </a:r>
            <a:endParaRPr lang="en-US" sz="1100" dirty="0"/>
          </a:p>
        </p:txBody>
      </p:sp>
      <p:sp>
        <p:nvSpPr>
          <p:cNvPr id="11" name="KPI 2025-2"/>
          <p:cNvSpPr txBox="1"/>
          <p:nvPr/>
        </p:nvSpPr>
        <p:spPr>
          <a:xfrm>
            <a:off x="2148840" y="33375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200" dirty="0"/>
          </a:p>
        </p:txBody>
      </p:sp>
      <p:sp>
        <p:nvSpPr>
          <p:cNvPr id="12" name="KPI texto 2025-2"/>
          <p:cNvSpPr txBox="1"/>
          <p:nvPr/>
        </p:nvSpPr>
        <p:spPr>
          <a:xfrm>
            <a:off x="2148840" y="390448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observaciones</a:t>
            </a:r>
            <a:endParaRPr lang="en-US" sz="1100" dirty="0"/>
          </a:p>
        </p:txBody>
      </p:sp>
      <p:sp>
        <p:nvSpPr>
          <p:cNvPr id="13" name="Separador panel 2026"/>
          <p:cNvSpPr/>
          <p:nvPr/>
        </p:nvSpPr>
        <p:spPr>
          <a:xfrm>
            <a:off x="548640" y="4434840"/>
            <a:ext cx="3200400" cy="0"/>
          </a:xfrm>
          <a:prstGeom prst="line">
            <a:avLst/>
          </a:prstGeom>
          <a:noFill/>
          <a:ln w="9525">
            <a:solidFill>
              <a:schemeClr val="bg2">
                <a:alpha val="40000"/>
              </a:schemeClr>
            </a:solidFill>
            <a:prstDash val="solid"/>
          </a:ln>
        </p:spPr>
      </p:sp>
      <p:sp>
        <p:nvSpPr>
          <p:cNvPr id="14" name="Año panel 2026 fondo"/>
          <p:cNvSpPr/>
          <p:nvPr/>
        </p:nvSpPr>
        <p:spPr>
          <a:xfrm>
            <a:off x="548640" y="4599432"/>
            <a:ext cx="77724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5" name="Año panel 2026"/>
          <p:cNvSpPr txBox="1"/>
          <p:nvPr/>
        </p:nvSpPr>
        <p:spPr>
          <a:xfrm>
            <a:off x="548640" y="45994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16" name="Visita panel 2026"/>
          <p:cNvSpPr txBox="1"/>
          <p:nvPr/>
        </p:nvSpPr>
        <p:spPr>
          <a:xfrm>
            <a:off x="1463040" y="4599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Visita 2 · Circular 22741</a:t>
            </a:r>
            <a:endParaRPr lang="en-US" sz="1100" dirty="0"/>
          </a:p>
        </p:txBody>
      </p:sp>
      <p:sp>
        <p:nvSpPr>
          <p:cNvPr id="17" name="KPI 2026-1"/>
          <p:cNvSpPr txBox="1"/>
          <p:nvPr/>
        </p:nvSpPr>
        <p:spPr>
          <a:xfrm>
            <a:off x="548640" y="4983480"/>
            <a:ext cx="97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8" name="KPI texto 2026-1"/>
          <p:cNvSpPr txBox="1"/>
          <p:nvPr/>
        </p:nvSpPr>
        <p:spPr>
          <a:xfrm>
            <a:off x="548640" y="5550408"/>
            <a:ext cx="97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circulares</a:t>
            </a:r>
            <a:endParaRPr lang="en-US" sz="1100" dirty="0"/>
          </a:p>
        </p:txBody>
      </p:sp>
      <p:sp>
        <p:nvSpPr>
          <p:cNvPr id="19" name="KPI 2026-2"/>
          <p:cNvSpPr txBox="1"/>
          <p:nvPr/>
        </p:nvSpPr>
        <p:spPr>
          <a:xfrm>
            <a:off x="1615440" y="4983480"/>
            <a:ext cx="97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200" dirty="0"/>
          </a:p>
        </p:txBody>
      </p:sp>
      <p:sp>
        <p:nvSpPr>
          <p:cNvPr id="20" name="KPI texto 2026-2"/>
          <p:cNvSpPr txBox="1"/>
          <p:nvPr/>
        </p:nvSpPr>
        <p:spPr>
          <a:xfrm>
            <a:off x="1615440" y="5550408"/>
            <a:ext cx="97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observaciones nuevas</a:t>
            </a:r>
            <a:endParaRPr lang="en-US" sz="1100" dirty="0"/>
          </a:p>
        </p:txBody>
      </p:sp>
      <p:sp>
        <p:nvSpPr>
          <p:cNvPr id="21" name="KPI 2026-3"/>
          <p:cNvSpPr txBox="1"/>
          <p:nvPr/>
        </p:nvSpPr>
        <p:spPr>
          <a:xfrm>
            <a:off x="2682240" y="4983480"/>
            <a:ext cx="97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22" name="KPI texto 2026-3"/>
          <p:cNvSpPr txBox="1"/>
          <p:nvPr/>
        </p:nvSpPr>
        <p:spPr>
          <a:xfrm>
            <a:off x="2682240" y="5550408"/>
            <a:ext cx="97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de 2025 en seguimiento</a:t>
            </a:r>
            <a:endParaRPr lang="en-US" sz="1100" dirty="0"/>
          </a:p>
        </p:txBody>
      </p:sp>
      <p:sp>
        <p:nvSpPr>
          <p:cNvPr id="23" name="Seguimiento panel"/>
          <p:cNvSpPr txBox="1"/>
          <p:nvPr/>
        </p:nvSpPr>
        <p:spPr>
          <a:xfrm>
            <a:off x="548640" y="5989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bg2"/>
                </a:solidFill>
              </a:rPr>
              <a:t>Seguimiento: obs. 3 no superada · obs. 5 parcialmente superada</a:t>
            </a:r>
            <a:endParaRPr lang="en-US" sz="1050" dirty="0"/>
          </a:p>
        </p:txBody>
      </p:sp>
      <p:sp>
        <p:nvSpPr>
          <p:cNvPr id="24" name="Año 2025"/>
          <p:cNvSpPr txBox="1"/>
          <p:nvPr/>
        </p:nvSpPr>
        <p:spPr>
          <a:xfrm>
            <a:off x="4572000" y="4572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3000" dirty="0"/>
          </a:p>
        </p:txBody>
      </p:sp>
      <p:sp>
        <p:nvSpPr>
          <p:cNvPr id="25" name="Visita 2025"/>
          <p:cNvSpPr txBox="1"/>
          <p:nvPr/>
        </p:nvSpPr>
        <p:spPr>
          <a:xfrm>
            <a:off x="5806440" y="4572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Visita 1 · supervisión ampliada</a:t>
            </a:r>
            <a:endParaRPr lang="en-US" sz="1400" dirty="0"/>
          </a:p>
        </p:txBody>
      </p:sp>
      <p:sp>
        <p:nvSpPr>
          <p:cNvPr id="26" name="Tarjeta 2025-1"/>
          <p:cNvSpPr/>
          <p:nvPr/>
        </p:nvSpPr>
        <p:spPr>
          <a:xfrm>
            <a:off x="4572000" y="1097280"/>
            <a:ext cx="3306928" cy="2103120"/>
          </a:xfrm>
          <a:prstGeom prst="roundRect">
            <a:avLst>
              <a:gd name="adj" fmla="val 4348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7" name="Fecha fondo 2025-1"/>
          <p:cNvSpPr/>
          <p:nvPr/>
        </p:nvSpPr>
        <p:spPr>
          <a:xfrm>
            <a:off x="4709160" y="1234440"/>
            <a:ext cx="914400" cy="18288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8" name="Fecha día 2025-1"/>
          <p:cNvSpPr txBox="1"/>
          <p:nvPr/>
        </p:nvSpPr>
        <p:spPr>
          <a:xfrm>
            <a:off x="4709160" y="1554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3400" dirty="0"/>
          </a:p>
        </p:txBody>
      </p:sp>
      <p:sp>
        <p:nvSpPr>
          <p:cNvPr id="29" name="Fecha mes 2025-1"/>
          <p:cNvSpPr txBox="1"/>
          <p:nvPr/>
        </p:nvSpPr>
        <p:spPr>
          <a:xfrm>
            <a:off x="4709160" y="21214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ABR</a:t>
            </a:r>
            <a:endParaRPr lang="en-US" sz="1400" dirty="0"/>
          </a:p>
        </p:txBody>
      </p:sp>
      <p:sp>
        <p:nvSpPr>
          <p:cNvPr id="30" name="Fecha año 2025-1"/>
          <p:cNvSpPr txBox="1"/>
          <p:nvPr/>
        </p:nvSpPr>
        <p:spPr>
          <a:xfrm>
            <a:off x="4709160" y="2423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2025</a:t>
            </a:r>
            <a:endParaRPr lang="en-US" sz="1200" dirty="0"/>
          </a:p>
        </p:txBody>
      </p:sp>
      <p:sp>
        <p:nvSpPr>
          <p:cNvPr id="31" name="Tipo 2025-1"/>
          <p:cNvSpPr txBox="1"/>
          <p:nvPr/>
        </p:nvSpPr>
        <p:spPr>
          <a:xfrm>
            <a:off x="5806440" y="1261872"/>
            <a:ext cx="1935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Nombramiento de visita ampliada</a:t>
            </a:r>
            <a:endParaRPr lang="en-US" sz="1400" dirty="0"/>
          </a:p>
        </p:txBody>
      </p:sp>
      <p:sp>
        <p:nvSpPr>
          <p:cNvPr id="32" name="Circular 2025-1"/>
          <p:cNvSpPr txBox="1"/>
          <p:nvPr/>
        </p:nvSpPr>
        <p:spPr>
          <a:xfrm>
            <a:off x="5806440" y="1828800"/>
            <a:ext cx="193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DS-SABAO-BCS-BC-9337</a:t>
            </a:r>
            <a:endParaRPr lang="en-US" sz="1100" dirty="0"/>
          </a:p>
        </p:txBody>
      </p:sp>
      <p:sp>
        <p:nvSpPr>
          <p:cNvPr id="33" name="Separador 2025-1-0"/>
          <p:cNvSpPr/>
          <p:nvPr/>
        </p:nvSpPr>
        <p:spPr>
          <a:xfrm>
            <a:off x="5806440" y="2340864"/>
            <a:ext cx="193532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34" name="Dato 2025-1-0"/>
          <p:cNvSpPr txBox="1"/>
          <p:nvPr/>
        </p:nvSpPr>
        <p:spPr>
          <a:xfrm>
            <a:off x="5806440" y="2377440"/>
            <a:ext cx="193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Corte 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30/04/2025</a:t>
            </a:r>
            <a:endParaRPr lang="en-US" sz="1150" dirty="0"/>
          </a:p>
        </p:txBody>
      </p:sp>
      <p:sp>
        <p:nvSpPr>
          <p:cNvPr id="35" name="Separador 2025-1-1"/>
          <p:cNvSpPr/>
          <p:nvPr/>
        </p:nvSpPr>
        <p:spPr>
          <a:xfrm>
            <a:off x="5806440" y="2706624"/>
            <a:ext cx="193532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36" name="Dato 2025-1-1"/>
          <p:cNvSpPr txBox="1"/>
          <p:nvPr/>
        </p:nvSpPr>
        <p:spPr>
          <a:xfrm>
            <a:off x="5806440" y="2743200"/>
            <a:ext cx="193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Inicio de visita 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19/05/2025</a:t>
            </a:r>
            <a:endParaRPr lang="en-US" sz="1150" dirty="0"/>
          </a:p>
        </p:txBody>
      </p:sp>
      <p:sp>
        <p:nvSpPr>
          <p:cNvPr id="37" name="Tarjeta 2025-2"/>
          <p:cNvSpPr/>
          <p:nvPr/>
        </p:nvSpPr>
        <p:spPr>
          <a:xfrm>
            <a:off x="8336128" y="1097280"/>
            <a:ext cx="3306928" cy="2103120"/>
          </a:xfrm>
          <a:prstGeom prst="roundRect">
            <a:avLst>
              <a:gd name="adj" fmla="val 4348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38" name="Fecha fondo 2025-2"/>
          <p:cNvSpPr/>
          <p:nvPr/>
        </p:nvSpPr>
        <p:spPr>
          <a:xfrm>
            <a:off x="8473288" y="1234440"/>
            <a:ext cx="914400" cy="18288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9" name="Fecha día 2025-2"/>
          <p:cNvSpPr txBox="1"/>
          <p:nvPr/>
        </p:nvSpPr>
        <p:spPr>
          <a:xfrm>
            <a:off x="8473288" y="1554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400" dirty="0"/>
          </a:p>
        </p:txBody>
      </p:sp>
      <p:sp>
        <p:nvSpPr>
          <p:cNvPr id="40" name="Fecha mes 2025-2"/>
          <p:cNvSpPr txBox="1"/>
          <p:nvPr/>
        </p:nvSpPr>
        <p:spPr>
          <a:xfrm>
            <a:off x="8473288" y="21214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NOV</a:t>
            </a:r>
            <a:endParaRPr lang="en-US" sz="1400" dirty="0"/>
          </a:p>
        </p:txBody>
      </p:sp>
      <p:sp>
        <p:nvSpPr>
          <p:cNvPr id="41" name="Fecha año 2025-2"/>
          <p:cNvSpPr txBox="1"/>
          <p:nvPr/>
        </p:nvSpPr>
        <p:spPr>
          <a:xfrm>
            <a:off x="8473288" y="2423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2025</a:t>
            </a:r>
            <a:endParaRPr lang="en-US" sz="1200" dirty="0"/>
          </a:p>
        </p:txBody>
      </p:sp>
      <p:sp>
        <p:nvSpPr>
          <p:cNvPr id="42" name="Tipo 2025-2"/>
          <p:cNvSpPr txBox="1"/>
          <p:nvPr/>
        </p:nvSpPr>
        <p:spPr>
          <a:xfrm>
            <a:off x="9570568" y="1261872"/>
            <a:ext cx="1935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Resultados preliminares</a:t>
            </a:r>
            <a:endParaRPr lang="en-US" sz="1400" dirty="0"/>
          </a:p>
        </p:txBody>
      </p:sp>
      <p:sp>
        <p:nvSpPr>
          <p:cNvPr id="43" name="Circular 2025-2"/>
          <p:cNvSpPr txBox="1"/>
          <p:nvPr/>
        </p:nvSpPr>
        <p:spPr>
          <a:xfrm>
            <a:off x="9570568" y="1828800"/>
            <a:ext cx="193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DS-SABAO-BCS-BC-17003</a:t>
            </a:r>
            <a:endParaRPr lang="en-US" sz="1100" dirty="0"/>
          </a:p>
        </p:txBody>
      </p:sp>
      <p:sp>
        <p:nvSpPr>
          <p:cNvPr id="44" name="Separador 2025-2-0"/>
          <p:cNvSpPr/>
          <p:nvPr/>
        </p:nvSpPr>
        <p:spPr>
          <a:xfrm>
            <a:off x="9570568" y="2340864"/>
            <a:ext cx="193532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45" name="Dato 2025-2-0"/>
          <p:cNvSpPr txBox="1"/>
          <p:nvPr/>
        </p:nvSpPr>
        <p:spPr>
          <a:xfrm>
            <a:off x="9570568" y="2377440"/>
            <a:ext cx="193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Resultado 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9 observaciones</a:t>
            </a:r>
            <a:endParaRPr lang="en-US" sz="1150" dirty="0"/>
          </a:p>
        </p:txBody>
      </p:sp>
      <p:sp>
        <p:nvSpPr>
          <p:cNvPr id="46" name="Separador 2025-2-1"/>
          <p:cNvSpPr/>
          <p:nvPr/>
        </p:nvSpPr>
        <p:spPr>
          <a:xfrm>
            <a:off x="9570568" y="2706624"/>
            <a:ext cx="193532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47" name="Dato 2025-2-1"/>
          <p:cNvSpPr txBox="1"/>
          <p:nvPr/>
        </p:nvSpPr>
        <p:spPr>
          <a:xfrm>
            <a:off x="9570568" y="2743200"/>
            <a:ext cx="193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Descargos 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18/11/2025</a:t>
            </a:r>
            <a:endParaRPr lang="en-US" sz="1150" dirty="0"/>
          </a:p>
        </p:txBody>
      </p:sp>
      <p:sp>
        <p:nvSpPr>
          <p:cNvPr id="48" name="Flecha 2025"/>
          <p:cNvSpPr/>
          <p:nvPr/>
        </p:nvSpPr>
        <p:spPr>
          <a:xfrm>
            <a:off x="7970368" y="2011680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9" name="Año 2026"/>
          <p:cNvSpPr txBox="1"/>
          <p:nvPr/>
        </p:nvSpPr>
        <p:spPr>
          <a:xfrm>
            <a:off x="4572000" y="3401568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3000" dirty="0"/>
          </a:p>
        </p:txBody>
      </p:sp>
      <p:sp>
        <p:nvSpPr>
          <p:cNvPr id="50" name="Visita 2026"/>
          <p:cNvSpPr txBox="1"/>
          <p:nvPr/>
        </p:nvSpPr>
        <p:spPr>
          <a:xfrm>
            <a:off x="5806440" y="340156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Visita 2 · supervisión ampliada</a:t>
            </a:r>
            <a:endParaRPr lang="en-US" sz="1400" dirty="0"/>
          </a:p>
        </p:txBody>
      </p:sp>
      <p:sp>
        <p:nvSpPr>
          <p:cNvPr id="51" name="Tarjeta 2026-1"/>
          <p:cNvSpPr/>
          <p:nvPr/>
        </p:nvSpPr>
        <p:spPr>
          <a:xfrm>
            <a:off x="4572000" y="4041648"/>
            <a:ext cx="3306928" cy="2103120"/>
          </a:xfrm>
          <a:prstGeom prst="roundRect">
            <a:avLst>
              <a:gd name="adj" fmla="val 4348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52" name="Fecha fondo 2026-1"/>
          <p:cNvSpPr/>
          <p:nvPr/>
        </p:nvSpPr>
        <p:spPr>
          <a:xfrm>
            <a:off x="4709160" y="4178808"/>
            <a:ext cx="914400" cy="18288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3" name="Fecha día 2026-1"/>
          <p:cNvSpPr txBox="1"/>
          <p:nvPr/>
        </p:nvSpPr>
        <p:spPr>
          <a:xfrm>
            <a:off x="4709160" y="44988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3400" dirty="0"/>
          </a:p>
        </p:txBody>
      </p:sp>
      <p:sp>
        <p:nvSpPr>
          <p:cNvPr id="54" name="Fecha mes 2026-1"/>
          <p:cNvSpPr txBox="1"/>
          <p:nvPr/>
        </p:nvSpPr>
        <p:spPr>
          <a:xfrm>
            <a:off x="4709160" y="5065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JUL</a:t>
            </a:r>
            <a:endParaRPr lang="en-US" sz="1400" dirty="0"/>
          </a:p>
        </p:txBody>
      </p:sp>
      <p:sp>
        <p:nvSpPr>
          <p:cNvPr id="55" name="Fecha año 2026-1"/>
          <p:cNvSpPr txBox="1"/>
          <p:nvPr/>
        </p:nvSpPr>
        <p:spPr>
          <a:xfrm>
            <a:off x="4709160" y="5367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56" name="Tipo 2026-1"/>
          <p:cNvSpPr txBox="1"/>
          <p:nvPr/>
        </p:nvSpPr>
        <p:spPr>
          <a:xfrm>
            <a:off x="5806440" y="4206240"/>
            <a:ext cx="1935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Nombramiento de visita ampliada</a:t>
            </a:r>
            <a:endParaRPr lang="en-US" sz="1400" dirty="0"/>
          </a:p>
        </p:txBody>
      </p:sp>
      <p:sp>
        <p:nvSpPr>
          <p:cNvPr id="57" name="Circular 2026-1"/>
          <p:cNvSpPr txBox="1"/>
          <p:nvPr/>
        </p:nvSpPr>
        <p:spPr>
          <a:xfrm>
            <a:off x="5806440" y="4773168"/>
            <a:ext cx="193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SABAO-BCS-BC-18432</a:t>
            </a:r>
            <a:endParaRPr lang="en-US" sz="1100" dirty="0"/>
          </a:p>
        </p:txBody>
      </p:sp>
      <p:sp>
        <p:nvSpPr>
          <p:cNvPr id="58" name="Separador 2026-1-0"/>
          <p:cNvSpPr/>
          <p:nvPr/>
        </p:nvSpPr>
        <p:spPr>
          <a:xfrm>
            <a:off x="5806440" y="5285232"/>
            <a:ext cx="193532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59" name="Dato 2026-1-0"/>
          <p:cNvSpPr txBox="1"/>
          <p:nvPr/>
        </p:nvSpPr>
        <p:spPr>
          <a:xfrm>
            <a:off x="5806440" y="5321808"/>
            <a:ext cx="193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Corte 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31/07/2026</a:t>
            </a:r>
            <a:endParaRPr lang="en-US" sz="1150" dirty="0"/>
          </a:p>
        </p:txBody>
      </p:sp>
      <p:sp>
        <p:nvSpPr>
          <p:cNvPr id="60" name="Separador 2026-1-1"/>
          <p:cNvSpPr/>
          <p:nvPr/>
        </p:nvSpPr>
        <p:spPr>
          <a:xfrm>
            <a:off x="5806440" y="5650992"/>
            <a:ext cx="193532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61" name="Dato 2026-1-1"/>
          <p:cNvSpPr txBox="1"/>
          <p:nvPr/>
        </p:nvSpPr>
        <p:spPr>
          <a:xfrm>
            <a:off x="5806440" y="5687568"/>
            <a:ext cx="193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Inicio de visita 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21/08/2026</a:t>
            </a:r>
            <a:endParaRPr lang="en-US" sz="1150" dirty="0"/>
          </a:p>
        </p:txBody>
      </p:sp>
      <p:sp>
        <p:nvSpPr>
          <p:cNvPr id="62" name="Tarjeta 2026-2"/>
          <p:cNvSpPr/>
          <p:nvPr/>
        </p:nvSpPr>
        <p:spPr>
          <a:xfrm>
            <a:off x="8336128" y="4041648"/>
            <a:ext cx="3306928" cy="2103120"/>
          </a:xfrm>
          <a:prstGeom prst="roundRect">
            <a:avLst>
              <a:gd name="adj" fmla="val 4348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63" name="Fecha fondo 2026-2"/>
          <p:cNvSpPr/>
          <p:nvPr/>
        </p:nvSpPr>
        <p:spPr>
          <a:xfrm>
            <a:off x="8473288" y="4178808"/>
            <a:ext cx="914400" cy="18288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64" name="Fecha día 2026-2"/>
          <p:cNvSpPr txBox="1"/>
          <p:nvPr/>
        </p:nvSpPr>
        <p:spPr>
          <a:xfrm>
            <a:off x="8473288" y="44988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3400" dirty="0"/>
          </a:p>
        </p:txBody>
      </p:sp>
      <p:sp>
        <p:nvSpPr>
          <p:cNvPr id="65" name="Fecha mes 2026-2"/>
          <p:cNvSpPr txBox="1"/>
          <p:nvPr/>
        </p:nvSpPr>
        <p:spPr>
          <a:xfrm>
            <a:off x="8473288" y="5065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OCT</a:t>
            </a:r>
            <a:endParaRPr lang="en-US" sz="1400" dirty="0"/>
          </a:p>
        </p:txBody>
      </p:sp>
      <p:sp>
        <p:nvSpPr>
          <p:cNvPr id="66" name="Fecha año 2026-2"/>
          <p:cNvSpPr txBox="1"/>
          <p:nvPr/>
        </p:nvSpPr>
        <p:spPr>
          <a:xfrm>
            <a:off x="8473288" y="5367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2026</a:t>
            </a:r>
            <a:endParaRPr lang="en-US" sz="1200" dirty="0"/>
          </a:p>
        </p:txBody>
      </p:sp>
      <p:sp>
        <p:nvSpPr>
          <p:cNvPr id="67" name="Tipo 2026-2"/>
          <p:cNvSpPr txBox="1"/>
          <p:nvPr/>
        </p:nvSpPr>
        <p:spPr>
          <a:xfrm>
            <a:off x="9570568" y="4206240"/>
            <a:ext cx="1935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Resultados preliminares</a:t>
            </a:r>
            <a:endParaRPr lang="en-US" sz="1400" dirty="0"/>
          </a:p>
        </p:txBody>
      </p:sp>
      <p:sp>
        <p:nvSpPr>
          <p:cNvPr id="68" name="Circular 2026-2"/>
          <p:cNvSpPr txBox="1"/>
          <p:nvPr/>
        </p:nvSpPr>
        <p:spPr>
          <a:xfrm>
            <a:off x="9570568" y="4773168"/>
            <a:ext cx="193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DS-SABAO-BCS-BC-22741</a:t>
            </a:r>
            <a:endParaRPr lang="en-US" sz="1100" dirty="0"/>
          </a:p>
        </p:txBody>
      </p:sp>
      <p:sp>
        <p:nvSpPr>
          <p:cNvPr id="69" name="Separador 2026-2-0"/>
          <p:cNvSpPr/>
          <p:nvPr/>
        </p:nvSpPr>
        <p:spPr>
          <a:xfrm>
            <a:off x="9570568" y="5285232"/>
            <a:ext cx="193532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70" name="Dato 2026-2-0"/>
          <p:cNvSpPr txBox="1"/>
          <p:nvPr/>
        </p:nvSpPr>
        <p:spPr>
          <a:xfrm>
            <a:off x="9570568" y="5321808"/>
            <a:ext cx="193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Anexo A 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7 nuevas</a:t>
            </a:r>
            <a:endParaRPr lang="en-US" sz="1150" dirty="0"/>
          </a:p>
        </p:txBody>
      </p:sp>
      <p:sp>
        <p:nvSpPr>
          <p:cNvPr id="71" name="Separador 2026-2-1"/>
          <p:cNvSpPr/>
          <p:nvPr/>
        </p:nvSpPr>
        <p:spPr>
          <a:xfrm>
            <a:off x="9570568" y="5650992"/>
            <a:ext cx="193532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72" name="Dato 2026-2-1"/>
          <p:cNvSpPr txBox="1"/>
          <p:nvPr/>
        </p:nvSpPr>
        <p:spPr>
          <a:xfrm>
            <a:off x="9570568" y="5687568"/>
            <a:ext cx="193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Anexo B  </a:t>
            </a:r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obs. 3 y 5 de 2025</a:t>
            </a:r>
            <a:endParaRPr lang="en-US" sz="1150" dirty="0"/>
          </a:p>
        </p:txBody>
      </p:sp>
      <p:sp>
        <p:nvSpPr>
          <p:cNvPr id="73" name="Flecha 2026"/>
          <p:cNvSpPr/>
          <p:nvPr/>
        </p:nvSpPr>
        <p:spPr>
          <a:xfrm>
            <a:off x="7970368" y="4956048"/>
            <a:ext cx="274320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9" name="Número 2025-1 círculo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0" name="Número 2025-1"/>
          <p:cNvSpPr txBox="1"/>
          <p:nvPr/>
        </p:nvSpPr>
        <p:spPr>
          <a:xfrm>
            <a:off x="7315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1234440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31520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 / Jefe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creará la política: Comité de Riesgos y aprobación del Consejo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4" name="Número 2025-2 círculo"/>
          <p:cNvSpPr/>
          <p:nvPr/>
        </p:nvSpPr>
        <p:spPr>
          <a:xfrm>
            <a:off x="4475378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Número 2025-2"/>
          <p:cNvSpPr txBox="1"/>
          <p:nvPr/>
        </p:nvSpPr>
        <p:spPr>
          <a:xfrm>
            <a:off x="447537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978298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Sin evidencia de firma de confidencialidad ni fechas de inducción en actas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75378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 / Jefe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Acta CA 2579 (28/04/2025): convenio sin efecto y fechas de inducción aprobadas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9" name="Número 2025-3 círculo"/>
          <p:cNvSpPr/>
          <p:nvPr/>
        </p:nvSpPr>
        <p:spPr>
          <a:xfrm>
            <a:off x="8219237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20" name="Número 2025-3"/>
          <p:cNvSpPr txBox="1"/>
          <p:nvPr/>
        </p:nvSpPr>
        <p:spPr>
          <a:xfrm>
            <a:off x="821923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722157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19237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 / Jefe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4" name="Número 2025-4 círculo"/>
          <p:cNvSpPr/>
          <p:nvPr/>
        </p:nvSpPr>
        <p:spPr>
          <a:xfrm>
            <a:off x="731520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5" name="Número 2025-4"/>
          <p:cNvSpPr txBox="1"/>
          <p:nvPr/>
        </p:nvSpPr>
        <p:spPr>
          <a:xfrm>
            <a:off x="731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1234440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Inconsistencia en pago de dietas (Reglamento vs. Asamblea General)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31520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actualizará el Reglamento de Compensaciones Económicas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9" name="Número 2025-5 círculo"/>
          <p:cNvSpPr/>
          <p:nvPr/>
        </p:nvSpPr>
        <p:spPr>
          <a:xfrm>
            <a:off x="4475378" y="32461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30" name="Número 2025-5"/>
          <p:cNvSpPr txBox="1"/>
          <p:nvPr/>
        </p:nvSpPr>
        <p:spPr>
          <a:xfrm>
            <a:off x="4475378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978298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 (más de 2 años sin revisión)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75378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ADR, Auditoría Interna, G. Financiera, Seg. de la Información y G. Administrativa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3 de 9 documentos actualizados; el resto en proceso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2025-6 círculo"/>
          <p:cNvSpPr/>
          <p:nvPr/>
        </p:nvSpPr>
        <p:spPr>
          <a:xfrm>
            <a:off x="8219237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5" name="Número 2025-6"/>
          <p:cNvSpPr txBox="1"/>
          <p:nvPr/>
        </p:nvSpPr>
        <p:spPr>
          <a:xfrm>
            <a:off x="8219237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722157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soporte en expedientes de créditos de Ferias de Crédito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19237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Negocios / Administración de Cartera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remitieron resoluciones y acuerdos del CA de cada feria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9" name="Número 2025-7 círculo"/>
          <p:cNvSpPr/>
          <p:nvPr/>
        </p:nvSpPr>
        <p:spPr>
          <a:xfrm>
            <a:off x="731520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0" name="Número 2025-7"/>
          <p:cNvSpPr txBox="1"/>
          <p:nvPr/>
        </p:nvSpPr>
        <p:spPr>
          <a:xfrm>
            <a:off x="73152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1234440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información obligatoria en declaración jurada de personas relacionadas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31520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 / Jefe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pidió a la SSF el detalle de las personas señaladas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4" name="Número 2025-8 círculo"/>
          <p:cNvSpPr/>
          <p:nvPr/>
        </p:nvSpPr>
        <p:spPr>
          <a:xfrm>
            <a:off x="4475378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5" name="Número 2025-8"/>
          <p:cNvSpPr txBox="1"/>
          <p:nvPr/>
        </p:nvSpPr>
        <p:spPr>
          <a:xfrm>
            <a:off x="4475378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978298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Omisiones en procedimientos del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75378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/ Gerente Administrativa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Firmas de Mercadeo y Gerencia General; contrato DLF terminado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9" name="Número 2025-9 círculo"/>
          <p:cNvSpPr/>
          <p:nvPr/>
        </p:nvSpPr>
        <p:spPr>
          <a:xfrm>
            <a:off x="8219237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0" name="Número 2025-9"/>
          <p:cNvSpPr txBox="1"/>
          <p:nvPr/>
        </p:nvSpPr>
        <p:spPr>
          <a:xfrm>
            <a:off x="8219237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722157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Uso del Fondo de Educación en fines distintos a los legales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19237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CA suspendió el Comité Sociocultural (Acta 2576, 07/04/2025)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inducción sobre partidas relevantes de EEFF a nuevos miembros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Certificación de Lectura del Código de Conducta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Depto.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formalización y aprobación de políticas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Se elaborará la Política de Retribución para aprobación del CA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Información de comités desactualizada en el sitio web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Incongruencia entre Estatutos y Código de Gobierno Corporativo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Resp.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Reglamento del Fondo de Educación con conceptos no delimitados por Ley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Resp.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Limitada transparencia a la Asamblea sobre 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Memoria de Labores 2026 con conceptos y montos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CA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LÍNEA DE TIEMPO COMPARATIVA Y EVOLUCIÓN DEL CUMPLIMIENTO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Línea de tiempo: de hoy a 2025</a:t>
            </a:r>
            <a:endParaRPr lang="en-US" sz="3000" dirty="0"/>
          </a:p>
        </p:txBody>
      </p:sp>
      <p:sp>
        <p:nvSpPr>
          <p:cNvPr id="4" name="Eje 2026"/>
          <p:cNvSpPr/>
          <p:nvPr/>
        </p:nvSpPr>
        <p:spPr>
          <a:xfrm>
            <a:off x="1645920" y="1444752"/>
            <a:ext cx="0" cy="1796796"/>
          </a:xfrm>
          <a:prstGeom prst="line">
            <a:avLst/>
          </a:prstGeom>
          <a:noFill/>
          <a:ln w="38100">
            <a:solidFill>
              <a:schemeClr val="accent2"/>
            </a:solidFill>
            <a:prstDash val="solid"/>
          </a:ln>
        </p:spPr>
      </p:sp>
      <p:sp>
        <p:nvSpPr>
          <p:cNvPr id="5" name="Pausa entre visitas"/>
          <p:cNvSpPr/>
          <p:nvPr/>
        </p:nvSpPr>
        <p:spPr>
          <a:xfrm>
            <a:off x="1645920" y="3424428"/>
            <a:ext cx="0" cy="416052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6" name="Eje 2025"/>
          <p:cNvSpPr/>
          <p:nvPr/>
        </p:nvSpPr>
        <p:spPr>
          <a:xfrm>
            <a:off x="1645920" y="4023360"/>
            <a:ext cx="0" cy="1796796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7" name="Año 2026 fondo"/>
          <p:cNvSpPr/>
          <p:nvPr/>
        </p:nvSpPr>
        <p:spPr>
          <a:xfrm>
            <a:off x="548640" y="1408176"/>
            <a:ext cx="77724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8" name="Año 2026"/>
          <p:cNvSpPr txBox="1"/>
          <p:nvPr/>
        </p:nvSpPr>
        <p:spPr>
          <a:xfrm>
            <a:off x="548640" y="140817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9" name="Año 2025 fondo"/>
          <p:cNvSpPr/>
          <p:nvPr/>
        </p:nvSpPr>
        <p:spPr>
          <a:xfrm>
            <a:off x="548640" y="3986784"/>
            <a:ext cx="77724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0" name="Año 2025"/>
          <p:cNvSpPr txBox="1"/>
          <p:nvPr/>
        </p:nvSpPr>
        <p:spPr>
          <a:xfrm>
            <a:off x="548640" y="398678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2025</a:t>
            </a:r>
            <a:endParaRPr lang="en-US" sz="1100" dirty="0"/>
          </a:p>
        </p:txBody>
      </p:sp>
      <p:sp>
        <p:nvSpPr>
          <p:cNvPr id="11" name="Pausa texto"/>
          <p:cNvSpPr txBox="1"/>
          <p:nvPr/>
        </p:nvSpPr>
        <p:spPr>
          <a:xfrm>
            <a:off x="502920" y="354101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8 meses</a:t>
            </a:r>
            <a:endParaRPr lang="en-US" sz="1000" dirty="0"/>
          </a:p>
        </p:txBody>
      </p:sp>
      <p:sp>
        <p:nvSpPr>
          <p:cNvPr id="12" name="Fondo hoy"/>
          <p:cNvSpPr/>
          <p:nvPr/>
        </p:nvSpPr>
        <p:spPr>
          <a:xfrm>
            <a:off x="1856232" y="1353312"/>
            <a:ext cx="4754880" cy="544068"/>
          </a:xfrm>
          <a:prstGeom prst="roundRect">
            <a:avLst>
              <a:gd name="adj" fmla="val 16807"/>
            </a:avLst>
          </a:prstGeom>
          <a:solidFill>
            <a:schemeClr val="accent2">
              <a:alpha val="15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3" name="Halo hoy"/>
          <p:cNvSpPr/>
          <p:nvPr/>
        </p:nvSpPr>
        <p:spPr>
          <a:xfrm>
            <a:off x="1463040" y="1408176"/>
            <a:ext cx="365760" cy="365760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4" name="Hito 1"/>
          <p:cNvSpPr/>
          <p:nvPr/>
        </p:nvSpPr>
        <p:spPr>
          <a:xfrm>
            <a:off x="1536192" y="1481328"/>
            <a:ext cx="219456" cy="219456"/>
          </a:xfrm>
          <a:prstGeom prst="ellipse">
            <a:avLst/>
          </a:prstGeom>
          <a:solidFill>
            <a:schemeClr val="accent2"/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15" name="Hito fecha 1"/>
          <p:cNvSpPr txBox="1"/>
          <p:nvPr/>
        </p:nvSpPr>
        <p:spPr>
          <a:xfrm>
            <a:off x="1965960" y="14447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HOY  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Plazos de respuesta en curso</a:t>
            </a:r>
            <a:endParaRPr lang="en-US" sz="1400" dirty="0"/>
          </a:p>
        </p:txBody>
      </p:sp>
      <p:sp>
        <p:nvSpPr>
          <p:cNvPr id="16" name="Hito detalle 1"/>
          <p:cNvSpPr txBox="1"/>
          <p:nvPr/>
        </p:nvSpPr>
        <p:spPr>
          <a:xfrm>
            <a:off x="1965960" y="171907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Descargos 10 días hábiles (≈23/10) · Plan de solución 15 días hábiles (≈30/10)</a:t>
            </a:r>
            <a:endParaRPr lang="en-US" sz="1050" dirty="0"/>
          </a:p>
        </p:txBody>
      </p:sp>
      <p:sp>
        <p:nvSpPr>
          <p:cNvPr id="17" name="Hito 2"/>
          <p:cNvSpPr/>
          <p:nvPr/>
        </p:nvSpPr>
        <p:spPr>
          <a:xfrm>
            <a:off x="1536192" y="2080260"/>
            <a:ext cx="219456" cy="219456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18" name="Hito fecha 2"/>
          <p:cNvSpPr txBox="1"/>
          <p:nvPr/>
        </p:nvSpPr>
        <p:spPr>
          <a:xfrm>
            <a:off x="1965960" y="20436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OCT 2026  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Informe preliminar · Circular 22741</a:t>
            </a:r>
            <a:endParaRPr lang="en-US" sz="1400" dirty="0"/>
          </a:p>
        </p:txBody>
      </p:sp>
      <p:sp>
        <p:nvSpPr>
          <p:cNvPr id="19" name="Hito detalle 2"/>
          <p:cNvSpPr txBox="1"/>
          <p:nvPr/>
        </p:nvSpPr>
        <p:spPr>
          <a:xfrm>
            <a:off x="1965960" y="231800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7 nuevas (Anexo A) + seguimiento a obs. 3 y 5 de 2025 (Anexo B)</a:t>
            </a:r>
            <a:endParaRPr lang="en-US" sz="1050" dirty="0"/>
          </a:p>
        </p:txBody>
      </p:sp>
      <p:sp>
        <p:nvSpPr>
          <p:cNvPr id="20" name="Hito 3"/>
          <p:cNvSpPr/>
          <p:nvPr/>
        </p:nvSpPr>
        <p:spPr>
          <a:xfrm>
            <a:off x="1536192" y="2679192"/>
            <a:ext cx="219456" cy="219456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21" name="Hito fecha 3"/>
          <p:cNvSpPr txBox="1"/>
          <p:nvPr/>
        </p:nvSpPr>
        <p:spPr>
          <a:xfrm>
            <a:off x="1965960" y="26426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AGO 2026  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Inicio de la visita de supervisión ampliada</a:t>
            </a:r>
            <a:endParaRPr lang="en-US" sz="1400" dirty="0"/>
          </a:p>
        </p:txBody>
      </p:sp>
      <p:sp>
        <p:nvSpPr>
          <p:cNvPr id="22" name="Hito 4"/>
          <p:cNvSpPr/>
          <p:nvPr/>
        </p:nvSpPr>
        <p:spPr>
          <a:xfrm>
            <a:off x="1536192" y="3278124"/>
            <a:ext cx="219456" cy="219456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23" name="Hito fecha 4"/>
          <p:cNvSpPr txBox="1"/>
          <p:nvPr/>
        </p:nvSpPr>
        <p:spPr>
          <a:xfrm>
            <a:off x="1965960" y="32415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JUL 2026  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Nombramiento SSF · Circular 18432</a:t>
            </a:r>
            <a:endParaRPr lang="en-US" sz="1400" dirty="0"/>
          </a:p>
        </p:txBody>
      </p:sp>
      <p:sp>
        <p:nvSpPr>
          <p:cNvPr id="24" name="Hito detalle 4"/>
          <p:cNvSpPr txBox="1"/>
          <p:nvPr/>
        </p:nvSpPr>
        <p:spPr>
          <a:xfrm>
            <a:off x="1965960" y="35158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Visita con corte al 31/07/2026</a:t>
            </a:r>
            <a:endParaRPr lang="en-US" sz="1050" dirty="0"/>
          </a:p>
        </p:txBody>
      </p:sp>
      <p:sp>
        <p:nvSpPr>
          <p:cNvPr id="25" name="Hito 5"/>
          <p:cNvSpPr/>
          <p:nvPr/>
        </p:nvSpPr>
        <p:spPr>
          <a:xfrm>
            <a:off x="1536192" y="4059936"/>
            <a:ext cx="219456" cy="219456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26" name="Hito fecha 5"/>
          <p:cNvSpPr txBox="1"/>
          <p:nvPr/>
        </p:nvSpPr>
        <p:spPr>
          <a:xfrm>
            <a:off x="1965960" y="4023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NOV 2025  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Envío de descargos a la SSF</a:t>
            </a:r>
            <a:endParaRPr lang="en-US" sz="1400" dirty="0"/>
          </a:p>
        </p:txBody>
      </p:sp>
      <p:sp>
        <p:nvSpPr>
          <p:cNvPr id="27" name="Hito detalle 5"/>
          <p:cNvSpPr txBox="1"/>
          <p:nvPr/>
        </p:nvSpPr>
        <p:spPr>
          <a:xfrm>
            <a:off x="1965960" y="42976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Matriz de pruebas de descargo · ref. NB07-2025-974</a:t>
            </a:r>
            <a:endParaRPr lang="en-US" sz="1050" dirty="0"/>
          </a:p>
        </p:txBody>
      </p:sp>
      <p:sp>
        <p:nvSpPr>
          <p:cNvPr id="28" name="Hito 6"/>
          <p:cNvSpPr/>
          <p:nvPr/>
        </p:nvSpPr>
        <p:spPr>
          <a:xfrm>
            <a:off x="1536192" y="4658868"/>
            <a:ext cx="219456" cy="219456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29" name="Hito fecha 6"/>
          <p:cNvSpPr txBox="1"/>
          <p:nvPr/>
        </p:nvSpPr>
        <p:spPr>
          <a:xfrm>
            <a:off x="1965960" y="46222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NOV 2025  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Informe preliminar · Circular 17003</a:t>
            </a:r>
            <a:endParaRPr lang="en-US" sz="1400" dirty="0"/>
          </a:p>
        </p:txBody>
      </p:sp>
      <p:sp>
        <p:nvSpPr>
          <p:cNvPr id="30" name="Hito detalle 6"/>
          <p:cNvSpPr txBox="1"/>
          <p:nvPr/>
        </p:nvSpPr>
        <p:spPr>
          <a:xfrm>
            <a:off x="1965960" y="48966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9 observaciones</a:t>
            </a:r>
            <a:endParaRPr lang="en-US" sz="1050" dirty="0"/>
          </a:p>
        </p:txBody>
      </p:sp>
      <p:sp>
        <p:nvSpPr>
          <p:cNvPr id="31" name="Hito 7"/>
          <p:cNvSpPr/>
          <p:nvPr/>
        </p:nvSpPr>
        <p:spPr>
          <a:xfrm>
            <a:off x="1536192" y="5257800"/>
            <a:ext cx="219456" cy="219456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32" name="Hito fecha 7"/>
          <p:cNvSpPr txBox="1"/>
          <p:nvPr/>
        </p:nvSpPr>
        <p:spPr>
          <a:xfrm>
            <a:off x="1965960" y="52212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MAY 2025  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Inicio formal de la visita en sitio</a:t>
            </a:r>
            <a:endParaRPr lang="en-US" sz="1400" dirty="0"/>
          </a:p>
        </p:txBody>
      </p:sp>
      <p:sp>
        <p:nvSpPr>
          <p:cNvPr id="33" name="Hito 8"/>
          <p:cNvSpPr/>
          <p:nvPr/>
        </p:nvSpPr>
        <p:spPr>
          <a:xfrm>
            <a:off x="1536192" y="5856732"/>
            <a:ext cx="219456" cy="219456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34" name="Hito fecha 8"/>
          <p:cNvSpPr txBox="1"/>
          <p:nvPr/>
        </p:nvSpPr>
        <p:spPr>
          <a:xfrm>
            <a:off x="1965960" y="58201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ABR 2025  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Nombramiento SSF · Circular 9337</a:t>
            </a:r>
            <a:endParaRPr lang="en-US" sz="1400" dirty="0"/>
          </a:p>
        </p:txBody>
      </p:sp>
      <p:sp>
        <p:nvSpPr>
          <p:cNvPr id="35" name="Hito detalle 8"/>
          <p:cNvSpPr txBox="1"/>
          <p:nvPr/>
        </p:nvSpPr>
        <p:spPr>
          <a:xfrm>
            <a:off x="1965960" y="609447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Visita con corte al 30/04/2025</a:t>
            </a:r>
            <a:endParaRPr lang="en-US" sz="1050" dirty="0"/>
          </a:p>
        </p:txBody>
      </p:sp>
      <p:sp>
        <p:nvSpPr>
          <p:cNvPr id="36" name="Detalle 2026"/>
          <p:cNvSpPr/>
          <p:nvPr/>
        </p:nvSpPr>
        <p:spPr>
          <a:xfrm>
            <a:off x="6720840" y="1325880"/>
            <a:ext cx="4922215" cy="1298448"/>
          </a:xfrm>
          <a:prstGeom prst="roundRect">
            <a:avLst>
              <a:gd name="adj" fmla="val 7042"/>
            </a:avLst>
          </a:prstGeom>
          <a:solidFill>
            <a:schemeClr val="accent2">
              <a:alpha val="12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7" name="Detalle 2026 título"/>
          <p:cNvSpPr txBox="1"/>
          <p:nvPr/>
        </p:nvSpPr>
        <p:spPr>
          <a:xfrm>
            <a:off x="6903720" y="1435608"/>
            <a:ext cx="4556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Resultado 2026 · Circular 22741</a:t>
            </a:r>
            <a:endParaRPr lang="en-US" sz="1300" dirty="0"/>
          </a:p>
        </p:txBody>
      </p:sp>
      <p:sp>
        <p:nvSpPr>
          <p:cNvPr id="38" name="Detalle 2026 texto"/>
          <p:cNvSpPr txBox="1"/>
          <p:nvPr/>
        </p:nvSpPr>
        <p:spPr>
          <a:xfrm>
            <a:off x="6903720" y="1755648"/>
            <a:ext cx="455645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tx1"/>
                </a:solidFill>
              </a:rPr>
              <a:t>Anexo A: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7 observaciones nuevas · descargos en 10 días hábiles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tx1"/>
                </a:solidFill>
              </a:rPr>
              <a:t>Anexo B: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seguimiento a obs. 3 y 5 de 2025 · plan de solución en 15 días hábiles</a:t>
            </a:r>
            <a:endParaRPr lang="en-US" sz="1150" dirty="0"/>
          </a:p>
        </p:txBody>
      </p:sp>
      <p:sp>
        <p:nvSpPr>
          <p:cNvPr id="39" name="Detalle 2025"/>
          <p:cNvSpPr/>
          <p:nvPr/>
        </p:nvSpPr>
        <p:spPr>
          <a:xfrm>
            <a:off x="6720840" y="2761488"/>
            <a:ext cx="4922215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12000"/>
            </a:schemeClr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0" name="Detalle 2025 título"/>
          <p:cNvSpPr txBox="1"/>
          <p:nvPr/>
        </p:nvSpPr>
        <p:spPr>
          <a:xfrm>
            <a:off x="6903720" y="2871216"/>
            <a:ext cx="4556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Hallazgos críticos 2025 · Circular 17003</a:t>
            </a:r>
            <a:endParaRPr lang="en-US" sz="1300" dirty="0"/>
          </a:p>
        </p:txBody>
      </p:sp>
      <p:sp>
        <p:nvSpPr>
          <p:cNvPr id="41" name="Detalle 2025 texto"/>
          <p:cNvSpPr txBox="1"/>
          <p:nvPr/>
        </p:nvSpPr>
        <p:spPr>
          <a:xfrm>
            <a:off x="6903720" y="3182112"/>
            <a:ext cx="45564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Ausencia de Política de Operaciones Vinculadas</a:t>
            </a:r>
            <a:endParaRPr lang="en-US" sz="11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Normativa interna desactualizada (9 documentos)</a:t>
            </a:r>
            <a:endParaRPr lang="en-US" sz="11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Uso inapropiado del Fondo de Educación</a:t>
            </a:r>
            <a:endParaRPr lang="en-US" sz="1150" dirty="0"/>
          </a:p>
        </p:txBody>
      </p:sp>
      <p:sp>
        <p:nvSpPr>
          <p:cNvPr id="42" name="Evolución título"/>
          <p:cNvSpPr txBox="1"/>
          <p:nvPr/>
        </p:nvSpPr>
        <p:spPr>
          <a:xfrm>
            <a:off x="6720840" y="4041648"/>
            <a:ext cx="4922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SEGUIMIENTO A OBSERVACIONES 2025</a:t>
            </a:r>
            <a:endParaRPr lang="en-US" sz="1100" dirty="0"/>
          </a:p>
        </p:txBody>
      </p:sp>
      <p:sp>
        <p:nvSpPr>
          <p:cNvPr id="43" name="Evolución 1"/>
          <p:cNvSpPr/>
          <p:nvPr/>
        </p:nvSpPr>
        <p:spPr>
          <a:xfrm>
            <a:off x="6720840" y="4343400"/>
            <a:ext cx="4922215" cy="585216"/>
          </a:xfrm>
          <a:prstGeom prst="roundRect">
            <a:avLst>
              <a:gd name="adj" fmla="val 15625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44" name="Evolución estado 1 fondo"/>
          <p:cNvSpPr/>
          <p:nvPr/>
        </p:nvSpPr>
        <p:spPr>
          <a:xfrm>
            <a:off x="6858000" y="4498848"/>
            <a:ext cx="20116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45" name="Evolución estado 1"/>
          <p:cNvSpPr txBox="1"/>
          <p:nvPr/>
        </p:nvSpPr>
        <p:spPr>
          <a:xfrm>
            <a:off x="6858000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NO SUPERADA</a:t>
            </a:r>
            <a:endParaRPr lang="en-US" sz="1000" dirty="0"/>
          </a:p>
        </p:txBody>
      </p:sp>
      <p:sp>
        <p:nvSpPr>
          <p:cNvPr id="46" name="Evolución tema 1"/>
          <p:cNvSpPr txBox="1"/>
          <p:nvPr/>
        </p:nvSpPr>
        <p:spPr>
          <a:xfrm>
            <a:off x="9006840" y="4416552"/>
            <a:ext cx="2544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Comités de Apoyo sin ejecutivos</a:t>
            </a:r>
            <a:endParaRPr lang="en-US" sz="1200" dirty="0"/>
          </a:p>
        </p:txBody>
      </p:sp>
      <p:sp>
        <p:nvSpPr>
          <p:cNvPr id="47" name="Evolución detalle 1"/>
          <p:cNvSpPr txBox="1"/>
          <p:nvPr/>
        </p:nvSpPr>
        <p:spPr>
          <a:xfrm>
            <a:off x="9006840" y="4654296"/>
            <a:ext cx="25447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Obs. 3 de 2025 · Anexo B</a:t>
            </a:r>
            <a:endParaRPr lang="en-US" sz="1050" dirty="0"/>
          </a:p>
        </p:txBody>
      </p:sp>
      <p:sp>
        <p:nvSpPr>
          <p:cNvPr id="48" name="Evolución 2"/>
          <p:cNvSpPr/>
          <p:nvPr/>
        </p:nvSpPr>
        <p:spPr>
          <a:xfrm>
            <a:off x="6720840" y="5001768"/>
            <a:ext cx="4922215" cy="585216"/>
          </a:xfrm>
          <a:prstGeom prst="roundRect">
            <a:avLst>
              <a:gd name="adj" fmla="val 15625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49" name="Evolución estado 2 fondo"/>
          <p:cNvSpPr/>
          <p:nvPr/>
        </p:nvSpPr>
        <p:spPr>
          <a:xfrm>
            <a:off x="6858000" y="5157216"/>
            <a:ext cx="201168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50" name="Evolución estado 2"/>
          <p:cNvSpPr txBox="1"/>
          <p:nvPr/>
        </p:nvSpPr>
        <p:spPr>
          <a:xfrm>
            <a:off x="6858000" y="51572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PARCIALMENTE SUPERADA</a:t>
            </a:r>
            <a:endParaRPr lang="en-US" sz="1000" dirty="0"/>
          </a:p>
        </p:txBody>
      </p:sp>
      <p:sp>
        <p:nvSpPr>
          <p:cNvPr id="51" name="Evolución tema 2"/>
          <p:cNvSpPr txBox="1"/>
          <p:nvPr/>
        </p:nvSpPr>
        <p:spPr>
          <a:xfrm>
            <a:off x="9006840" y="5074920"/>
            <a:ext cx="2544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Normativa interna desactualizada</a:t>
            </a:r>
            <a:endParaRPr lang="en-US" sz="1200" dirty="0"/>
          </a:p>
        </p:txBody>
      </p:sp>
      <p:sp>
        <p:nvSpPr>
          <p:cNvPr id="52" name="Evolución detalle 2"/>
          <p:cNvSpPr txBox="1"/>
          <p:nvPr/>
        </p:nvSpPr>
        <p:spPr>
          <a:xfrm>
            <a:off x="9006840" y="5312664"/>
            <a:ext cx="25447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Obs. 5 de 2025 · Anexo B</a:t>
            </a:r>
            <a:endParaRPr lang="en-US" sz="1050" dirty="0"/>
          </a:p>
        </p:txBody>
      </p:sp>
      <p:sp>
        <p:nvSpPr>
          <p:cNvPr id="53" name="Evolución 3"/>
          <p:cNvSpPr/>
          <p:nvPr/>
        </p:nvSpPr>
        <p:spPr>
          <a:xfrm>
            <a:off x="6720840" y="5660136"/>
            <a:ext cx="4922215" cy="585216"/>
          </a:xfrm>
          <a:prstGeom prst="roundRect">
            <a:avLst>
              <a:gd name="adj" fmla="val 15625"/>
            </a:avLst>
          </a:prstGeom>
          <a:solidFill>
            <a:schemeClr val="accent2">
              <a:alpha val="12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4" name="Evolución estado 3 fondo"/>
          <p:cNvSpPr/>
          <p:nvPr/>
        </p:nvSpPr>
        <p:spPr>
          <a:xfrm>
            <a:off x="6858000" y="5815584"/>
            <a:ext cx="201168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5" name="Evolución estado 3"/>
          <p:cNvSpPr txBox="1"/>
          <p:nvPr/>
        </p:nvSpPr>
        <p:spPr>
          <a:xfrm>
            <a:off x="6858000" y="58155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MISMO TEMA · NUEVAS</a:t>
            </a:r>
            <a:endParaRPr lang="en-US" sz="1000" dirty="0"/>
          </a:p>
        </p:txBody>
      </p:sp>
      <p:sp>
        <p:nvSpPr>
          <p:cNvPr id="56" name="Evolución tema 3"/>
          <p:cNvSpPr txBox="1"/>
          <p:nvPr/>
        </p:nvSpPr>
        <p:spPr>
          <a:xfrm>
            <a:off x="9006840" y="5733288"/>
            <a:ext cx="2544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Fondo de Educación</a:t>
            </a:r>
            <a:endParaRPr lang="en-US" sz="1200" dirty="0"/>
          </a:p>
        </p:txBody>
      </p:sp>
      <p:sp>
        <p:nvSpPr>
          <p:cNvPr id="57" name="Evolución detalle 3"/>
          <p:cNvSpPr txBox="1"/>
          <p:nvPr/>
        </p:nvSpPr>
        <p:spPr>
          <a:xfrm>
            <a:off x="9006840" y="5971032"/>
            <a:ext cx="25447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Obs. 6 y 7 nuevas · no es seguimiento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COMEDICA de R.L.</cp:lastModifiedBy>
  <cp:revision>1</cp:revision>
  <dcterms:created xsi:type="dcterms:W3CDTF">2026-10-13T20:16:17Z</dcterms:created>
  <dcterms:modified xsi:type="dcterms:W3CDTF">2026-10-13T20:16:17Z</dcterms:modified>
</cp:coreProperties>
</file>