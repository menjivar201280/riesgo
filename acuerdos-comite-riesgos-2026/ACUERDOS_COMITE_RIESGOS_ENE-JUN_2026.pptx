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sumen" id="{4212f8d3-de9e-c620-12af-a58b9d54089d}">
          <p14:sldIdLst>
            <p14:sldId id="256"/>
          </p14:sldIdLst>
        </p14:section>
        <p14:section name="Acuerdos por sesión" id="{7312b249-2a81-87f4-466c-47c045cbd031}">
          <p14:sldIdLst>
            <p14:sldId id="257"/>
          </p14:sldIdLst>
        </p14:section>
        <p14:section name="Tipos de riesgo" id="{cec7b178-94de-0281-406f-e21ac8305634}">
          <p14:sldIdLst>
            <p14:sldId id="258"/>
          </p14:sldIdLst>
        </p14:section>
        <p14:section name="Gestión integral" id="{7c8a023c-42fd-1a2e-76b4-351adab9c70c}">
          <p14:sldIdLst>
            <p14:sldId id="259"/>
          </p14:sldIdLst>
        </p14:section>
        <p14:section name="Planes de acción" id="{a580ac72-c231-c5b3-7d1e-653e65ec02d2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C6B7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5C6B73"/>
                </a:solidFill>
                <a:latin typeface="+mn-lt"/>
              </a:rPr>
              <a:t>Número de acuerdos por tipo de riesgo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Acuerdos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B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C6B7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3C4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A4C9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D6E6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A86A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Crédito</c:v>
                  </c:pt>
                  <c:pt idx="1">
                    <c:v>Estratégico y gobierno</c:v>
                  </c:pt>
                  <c:pt idx="2">
                    <c:v>Gestión integral</c:v>
                  </c:pt>
                  <c:pt idx="3">
                    <c:v>Seguridad de la información</c:v>
                  </c:pt>
                  <c:pt idx="4">
                    <c:v>Legal y cumplimiento</c:v>
                  </c:pt>
                  <c:pt idx="5">
                    <c:v>Liquidez y mercado</c:v>
                  </c:pt>
                  <c:pt idx="6">
                    <c:v>Operacional y continuidad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</c:v>
                </c:pt>
                <c:pt idx="1">
                  <c:v>9</c:v>
                </c:pt>
                <c:pt idx="2">
                  <c:v>5</c:v>
                </c:pt>
                <c:pt idx="3">
                  <c:v>5</c:v>
                </c:pt>
                <c:pt idx="4">
                  <c:v>3</c:v>
                </c:pt>
                <c:pt idx="5">
                  <c:v>2</c:v>
                </c:pt>
                <c:pt idx="6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B2A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Comité de Riesgos celebró 5 sesiones (144 a 148) entre febrero y junio de 2026 y adoptó 38 acuerdos (CR-2026-01 a CR-2026-38). 13 de ellos instruyen planes de acción, solicitudes o recomendaciones de seguimiento a áreas específicas.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sesión ordinaria incluyó el Informe de Gestión Integral de Riesgos, la gestión de avalúos, la segmentación de asociados/clientes, el monitoreo del récord crediticio de personas relacionadas y los informes de Seguridad de la Información. La sesión 145 fue la más extensa con 10 acuerdos.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Crédito (12 acuerdos) incluye avalúos, récord crediticio de personas relacionadas, prueba de estrés y el Manual de Riesgo de Crédito. Estratégico y gobierno (9) incluye segmentación de asociados, informes al Consejo, Gobierno Corporativo y la propuesta de Gerencia de Riesgos. Gestión integral (5) agrupa los informes mensuales que cubren crédito, liquidez, mercado, operacional, reputacional y legal.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cinco informes de gestión integral mantuvieron crédito, liquidez, operacional y legal en riesgo Medio y mercado en Bajo. El riesgo reputacional pasó de Bajo a Medio en las sesiones 147 y 148. En crédito persisten traslados de deuda a otros bancos, migración de créditos a categoría E y crecimiento de cartera vencida y reservas. El indicador de cartera vencida se reportó en 1.34% en las sesiones 146 y 147.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acuerdos CR-02, 12, 20 y 26 repiten la misma recomendación de gestión integral en cada sesión. CR-33 la concreta con instrucciones a la Gerencia de Negocios, Mercadeo y Comité de Educación, además de seguimiento a planes de acción operacionales, reputacionales y legales. CR-25 es el único que compromete recursos humanos, tecnológicos y presupuestarios para la remediación de hallazgos.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234440"/>
            <a:ext cx="67665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</a:rPr>
              <a:t>Comité de Riesgos  ·  Informe DAR-2026-55  ·  Enero – junio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tetitulo"/>
          <p:cNvSpPr txBox="1"/>
          <p:nvPr/>
        </p:nvSpPr>
        <p:spPr>
          <a:xfrm>
            <a:off x="640080" y="6858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100"/>
                </a:solidFill>
              </a:rPr>
              <a:t>INFORME DAR-2026-55  ·  JUNTA DE VIGILANCIA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23444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Acuerdos del Comité de Riesgos</a:t>
            </a:r>
            <a:endParaRPr lang="en-US" sz="4400" dirty="0"/>
          </a:p>
        </p:txBody>
      </p:sp>
      <p:sp>
        <p:nvSpPr>
          <p:cNvPr id="4" name="Periodo"/>
          <p:cNvSpPr txBox="1"/>
          <p:nvPr/>
        </p:nvSpPr>
        <p:spPr>
          <a:xfrm>
            <a:off x="640080" y="288036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3E8"/>
                </a:solidFill>
              </a:rPr>
              <a:t>Primer semestre 2026  ·  Sesiones No. 144 a 148</a:t>
            </a:r>
            <a:endParaRPr lang="en-US" sz="2000" dirty="0"/>
          </a:p>
        </p:txBody>
      </p:sp>
      <p:sp>
        <p:nvSpPr>
          <p:cNvPr id="5" name="Proposito"/>
          <p:cNvSpPr txBox="1"/>
          <p:nvPr/>
        </p:nvSpPr>
        <p:spPr>
          <a:xfrm>
            <a:off x="640080" y="370332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Resumen de los asuntos conocidos y decisiones adoptadas por el Comité, clasificados por tipo de riesgo, con los acuerdos que generan planes de acción resaltados.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9FC3CC"/>
                </a:solidFill>
              </a:rPr>
              <a:t>Base normativa: NRP-17, art. 20, inciso tercero.</a:t>
            </a:r>
            <a:endParaRPr lang="en-US" sz="1500" dirty="0"/>
          </a:p>
        </p:txBody>
      </p:sp>
      <p:sp>
        <p:nvSpPr>
          <p:cNvPr id="6" name="Firma"/>
          <p:cNvSpPr txBox="1"/>
          <p:nvPr/>
        </p:nvSpPr>
        <p:spPr>
          <a:xfrm>
            <a:off x="640080" y="60350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3CC"/>
                </a:solidFill>
              </a:rPr>
              <a:t>Lic. Henrry Daniel Escamilla  ·  Jefe de Administración de Riesgos</a:t>
            </a:r>
            <a:endParaRPr lang="en-US" sz="1200" dirty="0"/>
          </a:p>
        </p:txBody>
      </p:sp>
      <p:sp>
        <p:nvSpPr>
          <p:cNvPr id="7" name="KPI 1"/>
          <p:cNvSpPr/>
          <p:nvPr/>
        </p:nvSpPr>
        <p:spPr>
          <a:xfrm>
            <a:off x="7635240" y="1234440"/>
            <a:ext cx="1874520" cy="2148840"/>
          </a:xfrm>
          <a:prstGeom prst="roundRect">
            <a:avLst>
              <a:gd name="adj" fmla="val 5854"/>
            </a:avLst>
          </a:prstGeom>
          <a:solidFill>
            <a:srgbClr val="134B5A"/>
          </a:solidFill>
          <a:ln/>
        </p:spPr>
      </p:sp>
      <p:pic>
        <p:nvPicPr>
          <p:cNvPr id="8" name="Icono KPI 1" descr="sesiones ordinari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463040"/>
            <a:ext cx="384048" cy="384048"/>
          </a:xfrm>
          <a:prstGeom prst="rect">
            <a:avLst/>
          </a:prstGeom>
        </p:spPr>
      </p:pic>
      <p:sp>
        <p:nvSpPr>
          <p:cNvPr id="9" name="Valor KPI 1"/>
          <p:cNvSpPr txBox="1"/>
          <p:nvPr/>
        </p:nvSpPr>
        <p:spPr>
          <a:xfrm>
            <a:off x="7863840" y="19202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10" name="Etiqueta KPI 1"/>
          <p:cNvSpPr txBox="1"/>
          <p:nvPr/>
        </p:nvSpPr>
        <p:spPr>
          <a:xfrm>
            <a:off x="7863840" y="271576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3E8"/>
                </a:solidFill>
              </a:rPr>
              <a:t>sesiones ordinarias</a:t>
            </a:r>
            <a:endParaRPr lang="en-US" sz="1300" dirty="0"/>
          </a:p>
        </p:txBody>
      </p:sp>
      <p:sp>
        <p:nvSpPr>
          <p:cNvPr id="11" name="KPI 2"/>
          <p:cNvSpPr/>
          <p:nvPr/>
        </p:nvSpPr>
        <p:spPr>
          <a:xfrm>
            <a:off x="9738360" y="1234440"/>
            <a:ext cx="1874520" cy="2148840"/>
          </a:xfrm>
          <a:prstGeom prst="roundRect">
            <a:avLst>
              <a:gd name="adj" fmla="val 5854"/>
            </a:avLst>
          </a:prstGeom>
          <a:solidFill>
            <a:srgbClr val="134B5A"/>
          </a:solidFill>
          <a:ln/>
        </p:spPr>
      </p:sp>
      <p:pic>
        <p:nvPicPr>
          <p:cNvPr id="12" name="Icono KPI 2" descr="acuerdos adoptad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463040"/>
            <a:ext cx="384048" cy="384048"/>
          </a:xfrm>
          <a:prstGeom prst="rect">
            <a:avLst/>
          </a:prstGeom>
        </p:spPr>
      </p:pic>
      <p:sp>
        <p:nvSpPr>
          <p:cNvPr id="13" name="Valor KPI 2"/>
          <p:cNvSpPr txBox="1"/>
          <p:nvPr/>
        </p:nvSpPr>
        <p:spPr>
          <a:xfrm>
            <a:off x="9966960" y="19202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5400" dirty="0"/>
          </a:p>
        </p:txBody>
      </p:sp>
      <p:sp>
        <p:nvSpPr>
          <p:cNvPr id="14" name="Etiqueta KPI 2"/>
          <p:cNvSpPr txBox="1"/>
          <p:nvPr/>
        </p:nvSpPr>
        <p:spPr>
          <a:xfrm>
            <a:off x="9966960" y="271576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3E8"/>
                </a:solidFill>
              </a:rPr>
              <a:t>acuerdos adoptados</a:t>
            </a:r>
            <a:endParaRPr lang="en-US" sz="1300" dirty="0"/>
          </a:p>
        </p:txBody>
      </p:sp>
      <p:sp>
        <p:nvSpPr>
          <p:cNvPr id="15" name="KPI 3"/>
          <p:cNvSpPr/>
          <p:nvPr/>
        </p:nvSpPr>
        <p:spPr>
          <a:xfrm>
            <a:off x="7635240" y="3611880"/>
            <a:ext cx="1874520" cy="2148840"/>
          </a:xfrm>
          <a:prstGeom prst="roundRect">
            <a:avLst>
              <a:gd name="adj" fmla="val 5854"/>
            </a:avLst>
          </a:prstGeom>
          <a:solidFill>
            <a:srgbClr val="134B5A"/>
          </a:solidFill>
          <a:ln/>
        </p:spPr>
      </p:sp>
      <p:pic>
        <p:nvPicPr>
          <p:cNvPr id="16" name="Icono KPI 3" descr="tipos de ries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840480"/>
            <a:ext cx="384048" cy="384048"/>
          </a:xfrm>
          <a:prstGeom prst="rect">
            <a:avLst/>
          </a:prstGeom>
        </p:spPr>
      </p:pic>
      <p:sp>
        <p:nvSpPr>
          <p:cNvPr id="17" name="Valor KPI 3"/>
          <p:cNvSpPr txBox="1"/>
          <p:nvPr/>
        </p:nvSpPr>
        <p:spPr>
          <a:xfrm>
            <a:off x="7863840" y="42976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18" name="Etiqueta KPI 3"/>
          <p:cNvSpPr txBox="1"/>
          <p:nvPr/>
        </p:nvSpPr>
        <p:spPr>
          <a:xfrm>
            <a:off x="7863840" y="509320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3E8"/>
                </a:solidFill>
              </a:rPr>
              <a:t>tipos de riesgo</a:t>
            </a:r>
            <a:endParaRPr lang="en-US" sz="1300" dirty="0"/>
          </a:p>
        </p:txBody>
      </p:sp>
      <p:sp>
        <p:nvSpPr>
          <p:cNvPr id="19" name="KPI 4"/>
          <p:cNvSpPr/>
          <p:nvPr/>
        </p:nvSpPr>
        <p:spPr>
          <a:xfrm>
            <a:off x="9738360" y="3611880"/>
            <a:ext cx="1874520" cy="2148840"/>
          </a:xfrm>
          <a:prstGeom prst="roundRect">
            <a:avLst>
              <a:gd name="adj" fmla="val 5854"/>
            </a:avLst>
          </a:prstGeom>
          <a:solidFill>
            <a:srgbClr val="E0A100"/>
          </a:solidFill>
          <a:ln/>
        </p:spPr>
      </p:sp>
      <p:pic>
        <p:nvPicPr>
          <p:cNvPr id="20" name="Icono KPI 4" descr="acuerdos con plan de acció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3840480"/>
            <a:ext cx="384048" cy="384048"/>
          </a:xfrm>
          <a:prstGeom prst="rect">
            <a:avLst/>
          </a:prstGeom>
        </p:spPr>
      </p:pic>
      <p:sp>
        <p:nvSpPr>
          <p:cNvPr id="21" name="Valor KPI 4"/>
          <p:cNvSpPr txBox="1"/>
          <p:nvPr/>
        </p:nvSpPr>
        <p:spPr>
          <a:xfrm>
            <a:off x="9966960" y="42976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400" dirty="0"/>
          </a:p>
        </p:txBody>
      </p:sp>
      <p:sp>
        <p:nvSpPr>
          <p:cNvPr id="22" name="Etiqueta KPI 4"/>
          <p:cNvSpPr txBox="1"/>
          <p:nvPr/>
        </p:nvSpPr>
        <p:spPr>
          <a:xfrm>
            <a:off x="9966960" y="509320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</a:rPr>
              <a:t>acuerdos con plan de acción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 acuerdos en 5 sesiones del Comité</a:t>
            </a:r>
            <a:endParaRPr lang="en-US" sz="3200" dirty="0"/>
          </a:p>
        </p:txBody>
      </p:sp>
      <p:sp>
        <p:nvSpPr>
          <p:cNvPr id="3" name="Subtitulo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3"/>
                </a:solidFill>
              </a:rPr>
              <a:t>Número de acuerdo CR-2026-## por sesión, coloreado por tipo de riesgo; en dorado, los que tienen plan de acción</a:t>
            </a:r>
            <a:endParaRPr lang="en-US" sz="1500" dirty="0"/>
          </a:p>
        </p:txBody>
      </p:sp>
      <p:sp>
        <p:nvSpPr>
          <p:cNvPr id="4" name="Sesion 144"/>
          <p:cNvSpPr/>
          <p:nvPr/>
        </p:nvSpPr>
        <p:spPr>
          <a:xfrm>
            <a:off x="548640" y="1481328"/>
            <a:ext cx="2066544" cy="676656"/>
          </a:xfrm>
          <a:prstGeom prst="roundRect">
            <a:avLst>
              <a:gd name="adj" fmla="val 10811"/>
            </a:avLst>
          </a:prstGeom>
          <a:solidFill>
            <a:srgbClr val="0B3C49"/>
          </a:solidFill>
          <a:ln/>
        </p:spPr>
      </p:sp>
      <p:sp>
        <p:nvSpPr>
          <p:cNvPr id="5" name="Sesion 144 texto"/>
          <p:cNvSpPr txBox="1"/>
          <p:nvPr/>
        </p:nvSpPr>
        <p:spPr>
          <a:xfrm>
            <a:off x="685800" y="1481328"/>
            <a:ext cx="1325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Sesión 144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FE3E8"/>
                </a:solidFill>
              </a:rPr>
              <a:t>04 feb 2026</a:t>
            </a:r>
            <a:endParaRPr lang="en-US" sz="1500" dirty="0"/>
          </a:p>
        </p:txBody>
      </p:sp>
      <p:sp>
        <p:nvSpPr>
          <p:cNvPr id="6" name="Sesion 144 total"/>
          <p:cNvSpPr txBox="1"/>
          <p:nvPr/>
        </p:nvSpPr>
        <p:spPr>
          <a:xfrm>
            <a:off x="1965960" y="1481328"/>
            <a:ext cx="530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0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7" name="CR-01 fondo"/>
          <p:cNvSpPr/>
          <p:nvPr/>
        </p:nvSpPr>
        <p:spPr>
          <a:xfrm>
            <a:off x="548640" y="2267712"/>
            <a:ext cx="2066544" cy="329184"/>
          </a:xfrm>
          <a:prstGeom prst="roundRect">
            <a:avLst>
              <a:gd name="adj" fmla="val 13889"/>
            </a:avLst>
          </a:prstGeom>
          <a:solidFill>
            <a:srgbClr val="FFF1C7"/>
          </a:solidFill>
          <a:ln w="22225">
            <a:solidFill>
              <a:srgbClr val="E0A100"/>
            </a:solidFill>
            <a:prstDash val="solid"/>
          </a:ln>
        </p:spPr>
      </p:sp>
      <p:sp>
        <p:nvSpPr>
          <p:cNvPr id="8" name="CR-01 tipo"/>
          <p:cNvSpPr/>
          <p:nvPr/>
        </p:nvSpPr>
        <p:spPr>
          <a:xfrm>
            <a:off x="594360" y="2313432"/>
            <a:ext cx="603504" cy="237744"/>
          </a:xfrm>
          <a:prstGeom prst="roundRect">
            <a:avLst>
              <a:gd name="adj" fmla="val 15385"/>
            </a:avLst>
          </a:prstGeom>
          <a:solidFill>
            <a:srgbClr val="6A4C93"/>
          </a:solidFill>
          <a:ln/>
        </p:spPr>
      </p:sp>
      <p:sp>
        <p:nvSpPr>
          <p:cNvPr id="9" name="CR-01 numero"/>
          <p:cNvSpPr txBox="1"/>
          <p:nvPr/>
        </p:nvSpPr>
        <p:spPr>
          <a:xfrm>
            <a:off x="594360" y="2313432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CR-01</a:t>
            </a:r>
            <a:endParaRPr lang="en-US" sz="1100" dirty="0"/>
          </a:p>
        </p:txBody>
      </p:sp>
      <p:sp>
        <p:nvSpPr>
          <p:cNvPr id="10" name="CR-01 tema"/>
          <p:cNvSpPr txBox="1"/>
          <p:nvPr/>
        </p:nvSpPr>
        <p:spPr>
          <a:xfrm>
            <a:off x="1280160" y="2267712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0"/>
                </a:solidFill>
              </a:rPr>
              <a:t>Ciberseguridad y SGSI</a:t>
            </a:r>
            <a:endParaRPr lang="en-US" sz="1100" dirty="0"/>
          </a:p>
        </p:txBody>
      </p:sp>
      <p:sp>
        <p:nvSpPr>
          <p:cNvPr id="11" name="CR-02 fondo"/>
          <p:cNvSpPr/>
          <p:nvPr/>
        </p:nvSpPr>
        <p:spPr>
          <a:xfrm>
            <a:off x="548640" y="2642616"/>
            <a:ext cx="2066544" cy="329184"/>
          </a:xfrm>
          <a:prstGeom prst="roundRect">
            <a:avLst>
              <a:gd name="adj" fmla="val 13889"/>
            </a:avLst>
          </a:prstGeom>
          <a:solidFill>
            <a:srgbClr val="FFF1C7"/>
          </a:solidFill>
          <a:ln w="22225">
            <a:solidFill>
              <a:srgbClr val="E0A100"/>
            </a:solidFill>
            <a:prstDash val="solid"/>
          </a:ln>
        </p:spPr>
      </p:sp>
      <p:sp>
        <p:nvSpPr>
          <p:cNvPr id="12" name="CR-02 tipo"/>
          <p:cNvSpPr/>
          <p:nvPr/>
        </p:nvSpPr>
        <p:spPr>
          <a:xfrm>
            <a:off x="594360" y="2688336"/>
            <a:ext cx="603504" cy="237744"/>
          </a:xfrm>
          <a:prstGeom prst="roundRect">
            <a:avLst>
              <a:gd name="adj" fmla="val 15385"/>
            </a:avLst>
          </a:prstGeom>
          <a:solidFill>
            <a:srgbClr val="0B3C49"/>
          </a:solidFill>
          <a:ln/>
        </p:spPr>
      </p:sp>
      <p:sp>
        <p:nvSpPr>
          <p:cNvPr id="13" name="CR-02 numero"/>
          <p:cNvSpPr txBox="1"/>
          <p:nvPr/>
        </p:nvSpPr>
        <p:spPr>
          <a:xfrm>
            <a:off x="594360" y="2688336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CR-02</a:t>
            </a:r>
            <a:endParaRPr lang="en-US" sz="1100" dirty="0"/>
          </a:p>
        </p:txBody>
      </p:sp>
      <p:sp>
        <p:nvSpPr>
          <p:cNvPr id="14" name="CR-02 tema"/>
          <p:cNvSpPr txBox="1"/>
          <p:nvPr/>
        </p:nvSpPr>
        <p:spPr>
          <a:xfrm>
            <a:off x="1280160" y="2642616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0"/>
                </a:solidFill>
              </a:rPr>
              <a:t>Gestión integral</a:t>
            </a:r>
            <a:endParaRPr lang="en-US" sz="1100" dirty="0"/>
          </a:p>
        </p:txBody>
      </p:sp>
      <p:sp>
        <p:nvSpPr>
          <p:cNvPr id="15" name="CR-03 fondo"/>
          <p:cNvSpPr/>
          <p:nvPr/>
        </p:nvSpPr>
        <p:spPr>
          <a:xfrm>
            <a:off x="548640" y="3017520"/>
            <a:ext cx="2066544" cy="329184"/>
          </a:xfrm>
          <a:prstGeom prst="roundRect">
            <a:avLst>
              <a:gd name="adj" fmla="val 13889"/>
            </a:avLst>
          </a:prstGeom>
          <a:solidFill>
            <a:srgbClr val="F3F6F7"/>
          </a:solidFill>
          <a:ln/>
        </p:spPr>
      </p:sp>
      <p:sp>
        <p:nvSpPr>
          <p:cNvPr id="16" name="CR-03 tipo"/>
          <p:cNvSpPr/>
          <p:nvPr/>
        </p:nvSpPr>
        <p:spPr>
          <a:xfrm>
            <a:off x="594360" y="3063240"/>
            <a:ext cx="603504" cy="237744"/>
          </a:xfrm>
          <a:prstGeom prst="roundRect">
            <a:avLst>
              <a:gd name="adj" fmla="val 15385"/>
            </a:avLst>
          </a:prstGeom>
          <a:solidFill>
            <a:srgbClr val="5C6B73"/>
          </a:solidFill>
          <a:ln/>
        </p:spPr>
      </p:sp>
      <p:sp>
        <p:nvSpPr>
          <p:cNvPr id="17" name="CR-03 numero"/>
          <p:cNvSpPr txBox="1"/>
          <p:nvPr/>
        </p:nvSpPr>
        <p:spPr>
          <a:xfrm>
            <a:off x="594360" y="3063240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CR-03</a:t>
            </a:r>
            <a:endParaRPr lang="en-US" sz="1100" dirty="0"/>
          </a:p>
        </p:txBody>
      </p:sp>
      <p:sp>
        <p:nvSpPr>
          <p:cNvPr id="18" name="CR-03 tema"/>
          <p:cNvSpPr txBox="1"/>
          <p:nvPr/>
        </p:nvSpPr>
        <p:spPr>
          <a:xfrm>
            <a:off x="1280160" y="3017520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0"/>
                </a:solidFill>
              </a:rPr>
              <a:t>Informes semestrales</a:t>
            </a:r>
            <a:endParaRPr lang="en-US" sz="1100" dirty="0"/>
          </a:p>
        </p:txBody>
      </p:sp>
      <p:sp>
        <p:nvSpPr>
          <p:cNvPr id="19" name="CR-04 fondo"/>
          <p:cNvSpPr/>
          <p:nvPr/>
        </p:nvSpPr>
        <p:spPr>
          <a:xfrm>
            <a:off x="548640" y="3392424"/>
            <a:ext cx="2066544" cy="329184"/>
          </a:xfrm>
          <a:prstGeom prst="roundRect">
            <a:avLst>
              <a:gd name="adj" fmla="val 13889"/>
            </a:avLst>
          </a:prstGeom>
          <a:solidFill>
            <a:srgbClr val="F3F6F7"/>
          </a:solidFill>
          <a:ln/>
        </p:spPr>
      </p:sp>
      <p:sp>
        <p:nvSpPr>
          <p:cNvPr id="20" name="CR-04 tipo"/>
          <p:cNvSpPr/>
          <p:nvPr/>
        </p:nvSpPr>
        <p:spPr>
          <a:xfrm>
            <a:off x="594360" y="3438144"/>
            <a:ext cx="603504" cy="237744"/>
          </a:xfrm>
          <a:prstGeom prst="roundRect">
            <a:avLst>
              <a:gd name="adj" fmla="val 15385"/>
            </a:avLst>
          </a:prstGeom>
          <a:solidFill>
            <a:srgbClr val="C8553D"/>
          </a:solidFill>
          <a:ln/>
        </p:spPr>
      </p:sp>
      <p:sp>
        <p:nvSpPr>
          <p:cNvPr id="21" name="CR-04 numero"/>
          <p:cNvSpPr txBox="1"/>
          <p:nvPr/>
        </p:nvSpPr>
        <p:spPr>
          <a:xfrm>
            <a:off x="594360" y="3438144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CR-04</a:t>
            </a:r>
            <a:endParaRPr lang="en-US" sz="1100" dirty="0"/>
          </a:p>
        </p:txBody>
      </p:sp>
      <p:sp>
        <p:nvSpPr>
          <p:cNvPr id="22" name="CR-04 tema"/>
          <p:cNvSpPr txBox="1"/>
          <p:nvPr/>
        </p:nvSpPr>
        <p:spPr>
          <a:xfrm>
            <a:off x="1280160" y="3392424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0"/>
                </a:solidFill>
              </a:rPr>
              <a:t>Avalúos dic 2025</a:t>
            </a:r>
            <a:endParaRPr lang="en-US" sz="1100" dirty="0"/>
          </a:p>
        </p:txBody>
      </p:sp>
      <p:sp>
        <p:nvSpPr>
          <p:cNvPr id="23" name="CR-05 fondo"/>
          <p:cNvSpPr/>
          <p:nvPr/>
        </p:nvSpPr>
        <p:spPr>
          <a:xfrm>
            <a:off x="548640" y="3767328"/>
            <a:ext cx="2066544" cy="329184"/>
          </a:xfrm>
          <a:prstGeom prst="roundRect">
            <a:avLst>
              <a:gd name="adj" fmla="val 13889"/>
            </a:avLst>
          </a:prstGeom>
          <a:solidFill>
            <a:srgbClr val="F3F6F7"/>
          </a:solidFill>
          <a:ln/>
        </p:spPr>
      </p:sp>
      <p:sp>
        <p:nvSpPr>
          <p:cNvPr id="24" name="CR-05 tipo"/>
          <p:cNvSpPr/>
          <p:nvPr/>
        </p:nvSpPr>
        <p:spPr>
          <a:xfrm>
            <a:off x="594360" y="3813048"/>
            <a:ext cx="603504" cy="237744"/>
          </a:xfrm>
          <a:prstGeom prst="roundRect">
            <a:avLst>
              <a:gd name="adj" fmla="val 15385"/>
            </a:avLst>
          </a:prstGeom>
          <a:solidFill>
            <a:srgbClr val="3A86A8"/>
          </a:solidFill>
          <a:ln/>
        </p:spPr>
      </p:sp>
      <p:sp>
        <p:nvSpPr>
          <p:cNvPr id="25" name="CR-05 numero"/>
          <p:cNvSpPr txBox="1"/>
          <p:nvPr/>
        </p:nvSpPr>
        <p:spPr>
          <a:xfrm>
            <a:off x="594360" y="3813048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CR-05</a:t>
            </a:r>
            <a:endParaRPr lang="en-US" sz="1100" dirty="0"/>
          </a:p>
        </p:txBody>
      </p:sp>
      <p:sp>
        <p:nvSpPr>
          <p:cNvPr id="26" name="CR-05 tema"/>
          <p:cNvSpPr txBox="1"/>
          <p:nvPr/>
        </p:nvSpPr>
        <p:spPr>
          <a:xfrm>
            <a:off x="1280160" y="3767328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0"/>
                </a:solidFill>
              </a:rPr>
              <a:t>Manual de liquidez</a:t>
            </a:r>
            <a:endParaRPr lang="en-US" sz="1100" dirty="0"/>
          </a:p>
        </p:txBody>
      </p:sp>
      <p:sp>
        <p:nvSpPr>
          <p:cNvPr id="27" name="CR-06 fondo"/>
          <p:cNvSpPr/>
          <p:nvPr/>
        </p:nvSpPr>
        <p:spPr>
          <a:xfrm>
            <a:off x="548640" y="4142232"/>
            <a:ext cx="2066544" cy="329184"/>
          </a:xfrm>
          <a:prstGeom prst="roundRect">
            <a:avLst>
              <a:gd name="adj" fmla="val 13889"/>
            </a:avLst>
          </a:prstGeom>
          <a:solidFill>
            <a:srgbClr val="F3F6F7"/>
          </a:solidFill>
          <a:ln/>
        </p:spPr>
      </p:sp>
      <p:sp>
        <p:nvSpPr>
          <p:cNvPr id="28" name="CR-06 tipo"/>
          <p:cNvSpPr/>
          <p:nvPr/>
        </p:nvSpPr>
        <p:spPr>
          <a:xfrm>
            <a:off x="594360" y="4187952"/>
            <a:ext cx="603504" cy="237744"/>
          </a:xfrm>
          <a:prstGeom prst="roundRect">
            <a:avLst>
              <a:gd name="adj" fmla="val 15385"/>
            </a:avLst>
          </a:prstGeom>
          <a:solidFill>
            <a:srgbClr val="C8553D"/>
          </a:solidFill>
          <a:ln/>
        </p:spPr>
      </p:sp>
      <p:sp>
        <p:nvSpPr>
          <p:cNvPr id="29" name="CR-06 numero"/>
          <p:cNvSpPr txBox="1"/>
          <p:nvPr/>
        </p:nvSpPr>
        <p:spPr>
          <a:xfrm>
            <a:off x="594360" y="4187952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CR-06</a:t>
            </a:r>
            <a:endParaRPr lang="en-US" sz="1100" dirty="0"/>
          </a:p>
        </p:txBody>
      </p:sp>
      <p:sp>
        <p:nvSpPr>
          <p:cNvPr id="30" name="CR-06 tema"/>
          <p:cNvSpPr txBox="1"/>
          <p:nvPr/>
        </p:nvSpPr>
        <p:spPr>
          <a:xfrm>
            <a:off x="1280160" y="4142232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0"/>
                </a:solidFill>
              </a:rPr>
              <a:t>Estrés crediticio</a:t>
            </a:r>
            <a:endParaRPr lang="en-US" sz="1100" dirty="0"/>
          </a:p>
        </p:txBody>
      </p:sp>
      <p:sp>
        <p:nvSpPr>
          <p:cNvPr id="31" name="CR-07 fondo"/>
          <p:cNvSpPr/>
          <p:nvPr/>
        </p:nvSpPr>
        <p:spPr>
          <a:xfrm>
            <a:off x="548640" y="4517136"/>
            <a:ext cx="2066544" cy="329184"/>
          </a:xfrm>
          <a:prstGeom prst="roundRect">
            <a:avLst>
              <a:gd name="adj" fmla="val 13889"/>
            </a:avLst>
          </a:prstGeom>
          <a:solidFill>
            <a:srgbClr val="F3F6F7"/>
          </a:solidFill>
          <a:ln/>
        </p:spPr>
      </p:sp>
      <p:sp>
        <p:nvSpPr>
          <p:cNvPr id="32" name="CR-07 tipo"/>
          <p:cNvSpPr/>
          <p:nvPr/>
        </p:nvSpPr>
        <p:spPr>
          <a:xfrm>
            <a:off x="594360" y="4562856"/>
            <a:ext cx="603504" cy="237744"/>
          </a:xfrm>
          <a:prstGeom prst="roundRect">
            <a:avLst>
              <a:gd name="adj" fmla="val 15385"/>
            </a:avLst>
          </a:prstGeom>
          <a:solidFill>
            <a:srgbClr val="3A86A8"/>
          </a:solidFill>
          <a:ln/>
        </p:spPr>
      </p:sp>
      <p:sp>
        <p:nvSpPr>
          <p:cNvPr id="33" name="CR-07 numero"/>
          <p:cNvSpPr txBox="1"/>
          <p:nvPr/>
        </p:nvSpPr>
        <p:spPr>
          <a:xfrm>
            <a:off x="594360" y="4562856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CR-07</a:t>
            </a:r>
            <a:endParaRPr lang="en-US" sz="1100" dirty="0"/>
          </a:p>
        </p:txBody>
      </p:sp>
      <p:sp>
        <p:nvSpPr>
          <p:cNvPr id="34" name="CR-07 tema"/>
          <p:cNvSpPr txBox="1"/>
          <p:nvPr/>
        </p:nvSpPr>
        <p:spPr>
          <a:xfrm>
            <a:off x="1280160" y="4517136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0"/>
                </a:solidFill>
              </a:rPr>
              <a:t>Modelos predictivos</a:t>
            </a:r>
            <a:endParaRPr lang="en-US" sz="1100" dirty="0"/>
          </a:p>
        </p:txBody>
      </p:sp>
      <p:sp>
        <p:nvSpPr>
          <p:cNvPr id="35" name="CR-08 fondo"/>
          <p:cNvSpPr/>
          <p:nvPr/>
        </p:nvSpPr>
        <p:spPr>
          <a:xfrm>
            <a:off x="548640" y="4892040"/>
            <a:ext cx="2066544" cy="329184"/>
          </a:xfrm>
          <a:prstGeom prst="roundRect">
            <a:avLst>
              <a:gd name="adj" fmla="val 13889"/>
            </a:avLst>
          </a:prstGeom>
          <a:solidFill>
            <a:srgbClr val="F3F6F7"/>
          </a:solidFill>
          <a:ln/>
        </p:spPr>
      </p:sp>
      <p:sp>
        <p:nvSpPr>
          <p:cNvPr id="36" name="CR-08 tipo"/>
          <p:cNvSpPr/>
          <p:nvPr/>
        </p:nvSpPr>
        <p:spPr>
          <a:xfrm>
            <a:off x="594360" y="4937760"/>
            <a:ext cx="603504" cy="237744"/>
          </a:xfrm>
          <a:prstGeom prst="roundRect">
            <a:avLst>
              <a:gd name="adj" fmla="val 15385"/>
            </a:avLst>
          </a:prstGeom>
          <a:solidFill>
            <a:srgbClr val="5C6B73"/>
          </a:solidFill>
          <a:ln/>
        </p:spPr>
      </p:sp>
      <p:sp>
        <p:nvSpPr>
          <p:cNvPr id="37" name="CR-08 numero"/>
          <p:cNvSpPr txBox="1"/>
          <p:nvPr/>
        </p:nvSpPr>
        <p:spPr>
          <a:xfrm>
            <a:off x="594360" y="4937760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CR-08</a:t>
            </a:r>
            <a:endParaRPr lang="en-US" sz="1100" dirty="0"/>
          </a:p>
        </p:txBody>
      </p:sp>
      <p:sp>
        <p:nvSpPr>
          <p:cNvPr id="38" name="CR-08 tema"/>
          <p:cNvSpPr txBox="1"/>
          <p:nvPr/>
        </p:nvSpPr>
        <p:spPr>
          <a:xfrm>
            <a:off x="1280160" y="4892040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0"/>
                </a:solidFill>
              </a:rPr>
              <a:t>Segmentación</a:t>
            </a:r>
            <a:endParaRPr lang="en-US" sz="1100" dirty="0"/>
          </a:p>
        </p:txBody>
      </p:sp>
      <p:sp>
        <p:nvSpPr>
          <p:cNvPr id="39" name="CR-09 fondo"/>
          <p:cNvSpPr/>
          <p:nvPr/>
        </p:nvSpPr>
        <p:spPr>
          <a:xfrm>
            <a:off x="548640" y="5266944"/>
            <a:ext cx="2066544" cy="329184"/>
          </a:xfrm>
          <a:prstGeom prst="roundRect">
            <a:avLst>
              <a:gd name="adj" fmla="val 13889"/>
            </a:avLst>
          </a:prstGeom>
          <a:solidFill>
            <a:srgbClr val="F3F6F7"/>
          </a:solidFill>
          <a:ln/>
        </p:spPr>
      </p:sp>
      <p:sp>
        <p:nvSpPr>
          <p:cNvPr id="40" name="CR-09 tipo"/>
          <p:cNvSpPr/>
          <p:nvPr/>
        </p:nvSpPr>
        <p:spPr>
          <a:xfrm>
            <a:off x="594360" y="5312664"/>
            <a:ext cx="603504" cy="237744"/>
          </a:xfrm>
          <a:prstGeom prst="roundRect">
            <a:avLst>
              <a:gd name="adj" fmla="val 15385"/>
            </a:avLst>
          </a:prstGeom>
          <a:solidFill>
            <a:srgbClr val="C8553D"/>
          </a:solidFill>
          <a:ln/>
        </p:spPr>
      </p:sp>
      <p:sp>
        <p:nvSpPr>
          <p:cNvPr id="41" name="CR-09 numero"/>
          <p:cNvSpPr txBox="1"/>
          <p:nvPr/>
        </p:nvSpPr>
        <p:spPr>
          <a:xfrm>
            <a:off x="594360" y="5312664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CR-09</a:t>
            </a:r>
            <a:endParaRPr lang="en-US" sz="1100" dirty="0"/>
          </a:p>
        </p:txBody>
      </p:sp>
      <p:sp>
        <p:nvSpPr>
          <p:cNvPr id="42" name="CR-09 tema"/>
          <p:cNvSpPr txBox="1"/>
          <p:nvPr/>
        </p:nvSpPr>
        <p:spPr>
          <a:xfrm>
            <a:off x="1280160" y="5266944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0"/>
                </a:solidFill>
              </a:rPr>
              <a:t>Récord relacionados</a:t>
            </a:r>
            <a:endParaRPr lang="en-US" sz="1100" dirty="0"/>
          </a:p>
        </p:txBody>
      </p:sp>
      <p:sp>
        <p:nvSpPr>
          <p:cNvPr id="43" name="Sesion 145"/>
          <p:cNvSpPr/>
          <p:nvPr/>
        </p:nvSpPr>
        <p:spPr>
          <a:xfrm>
            <a:off x="2798064" y="1481328"/>
            <a:ext cx="2066544" cy="676656"/>
          </a:xfrm>
          <a:prstGeom prst="roundRect">
            <a:avLst>
              <a:gd name="adj" fmla="val 10811"/>
            </a:avLst>
          </a:prstGeom>
          <a:solidFill>
            <a:srgbClr val="0B3C49"/>
          </a:solidFill>
          <a:ln/>
        </p:spPr>
      </p:sp>
      <p:sp>
        <p:nvSpPr>
          <p:cNvPr id="44" name="Sesion 145 texto"/>
          <p:cNvSpPr txBox="1"/>
          <p:nvPr/>
        </p:nvSpPr>
        <p:spPr>
          <a:xfrm>
            <a:off x="2935224" y="1481328"/>
            <a:ext cx="1325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Sesión 145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FE3E8"/>
                </a:solidFill>
              </a:rPr>
              <a:t>18 mar 2026</a:t>
            </a:r>
            <a:endParaRPr lang="en-US" sz="1500" dirty="0"/>
          </a:p>
        </p:txBody>
      </p:sp>
      <p:sp>
        <p:nvSpPr>
          <p:cNvPr id="45" name="Sesion 145 total"/>
          <p:cNvSpPr txBox="1"/>
          <p:nvPr/>
        </p:nvSpPr>
        <p:spPr>
          <a:xfrm>
            <a:off x="4215384" y="1481328"/>
            <a:ext cx="530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0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46" name="CR-10 fondo"/>
          <p:cNvSpPr/>
          <p:nvPr/>
        </p:nvSpPr>
        <p:spPr>
          <a:xfrm>
            <a:off x="2798064" y="2267712"/>
            <a:ext cx="2066544" cy="329184"/>
          </a:xfrm>
          <a:prstGeom prst="roundRect">
            <a:avLst>
              <a:gd name="adj" fmla="val 13889"/>
            </a:avLst>
          </a:prstGeom>
          <a:solidFill>
            <a:srgbClr val="F3F6F7"/>
          </a:solidFill>
          <a:ln/>
        </p:spPr>
      </p:sp>
      <p:sp>
        <p:nvSpPr>
          <p:cNvPr id="47" name="CR-10 tipo"/>
          <p:cNvSpPr/>
          <p:nvPr/>
        </p:nvSpPr>
        <p:spPr>
          <a:xfrm>
            <a:off x="2843784" y="2313432"/>
            <a:ext cx="603504" cy="237744"/>
          </a:xfrm>
          <a:prstGeom prst="roundRect">
            <a:avLst>
              <a:gd name="adj" fmla="val 15385"/>
            </a:avLst>
          </a:prstGeom>
          <a:solidFill>
            <a:srgbClr val="8D6E63"/>
          </a:solidFill>
          <a:ln/>
        </p:spPr>
      </p:sp>
      <p:sp>
        <p:nvSpPr>
          <p:cNvPr id="48" name="CR-10 numero"/>
          <p:cNvSpPr txBox="1"/>
          <p:nvPr/>
        </p:nvSpPr>
        <p:spPr>
          <a:xfrm>
            <a:off x="2843784" y="2313432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CR-10</a:t>
            </a:r>
            <a:endParaRPr lang="en-US" sz="1100" dirty="0"/>
          </a:p>
        </p:txBody>
      </p:sp>
      <p:sp>
        <p:nvSpPr>
          <p:cNvPr id="49" name="CR-10 tema"/>
          <p:cNvSpPr txBox="1"/>
          <p:nvPr/>
        </p:nvSpPr>
        <p:spPr>
          <a:xfrm>
            <a:off x="3529584" y="2267712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0"/>
                </a:solidFill>
              </a:rPr>
              <a:t>Litigios Soluc. Fin.</a:t>
            </a:r>
            <a:endParaRPr lang="en-US" sz="1100" dirty="0"/>
          </a:p>
        </p:txBody>
      </p:sp>
      <p:sp>
        <p:nvSpPr>
          <p:cNvPr id="50" name="CR-11 fondo"/>
          <p:cNvSpPr/>
          <p:nvPr/>
        </p:nvSpPr>
        <p:spPr>
          <a:xfrm>
            <a:off x="2798064" y="2642616"/>
            <a:ext cx="2066544" cy="329184"/>
          </a:xfrm>
          <a:prstGeom prst="roundRect">
            <a:avLst>
              <a:gd name="adj" fmla="val 13889"/>
            </a:avLst>
          </a:prstGeom>
          <a:solidFill>
            <a:srgbClr val="FFF1C7"/>
          </a:solidFill>
          <a:ln w="22225">
            <a:solidFill>
              <a:srgbClr val="E0A100"/>
            </a:solidFill>
            <a:prstDash val="solid"/>
          </a:ln>
        </p:spPr>
      </p:sp>
      <p:sp>
        <p:nvSpPr>
          <p:cNvPr id="51" name="CR-11 tipo"/>
          <p:cNvSpPr/>
          <p:nvPr/>
        </p:nvSpPr>
        <p:spPr>
          <a:xfrm>
            <a:off x="2843784" y="2688336"/>
            <a:ext cx="603504" cy="237744"/>
          </a:xfrm>
          <a:prstGeom prst="roundRect">
            <a:avLst>
              <a:gd name="adj" fmla="val 15385"/>
            </a:avLst>
          </a:prstGeom>
          <a:solidFill>
            <a:srgbClr val="8D6E63"/>
          </a:solidFill>
          <a:ln/>
        </p:spPr>
      </p:sp>
      <p:sp>
        <p:nvSpPr>
          <p:cNvPr id="52" name="CR-11 numero"/>
          <p:cNvSpPr txBox="1"/>
          <p:nvPr/>
        </p:nvSpPr>
        <p:spPr>
          <a:xfrm>
            <a:off x="2843784" y="2688336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CR-11</a:t>
            </a:r>
            <a:endParaRPr lang="en-US" sz="1100" dirty="0"/>
          </a:p>
        </p:txBody>
      </p:sp>
      <p:sp>
        <p:nvSpPr>
          <p:cNvPr id="53" name="CR-11 tema"/>
          <p:cNvSpPr txBox="1"/>
          <p:nvPr/>
        </p:nvSpPr>
        <p:spPr>
          <a:xfrm>
            <a:off x="3529584" y="2642616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0"/>
                </a:solidFill>
              </a:rPr>
              <a:t>Litigios G. Legal</a:t>
            </a:r>
            <a:endParaRPr lang="en-US" sz="1100" dirty="0"/>
          </a:p>
        </p:txBody>
      </p:sp>
      <p:sp>
        <p:nvSpPr>
          <p:cNvPr id="54" name="CR-12 fondo"/>
          <p:cNvSpPr/>
          <p:nvPr/>
        </p:nvSpPr>
        <p:spPr>
          <a:xfrm>
            <a:off x="2798064" y="3017520"/>
            <a:ext cx="2066544" cy="329184"/>
          </a:xfrm>
          <a:prstGeom prst="roundRect">
            <a:avLst>
              <a:gd name="adj" fmla="val 13889"/>
            </a:avLst>
          </a:prstGeom>
          <a:solidFill>
            <a:srgbClr val="FFF1C7"/>
          </a:solidFill>
          <a:ln w="22225">
            <a:solidFill>
              <a:srgbClr val="E0A100"/>
            </a:solidFill>
            <a:prstDash val="solid"/>
          </a:ln>
        </p:spPr>
      </p:sp>
      <p:sp>
        <p:nvSpPr>
          <p:cNvPr id="55" name="CR-12 tipo"/>
          <p:cNvSpPr/>
          <p:nvPr/>
        </p:nvSpPr>
        <p:spPr>
          <a:xfrm>
            <a:off x="2843784" y="3063240"/>
            <a:ext cx="603504" cy="237744"/>
          </a:xfrm>
          <a:prstGeom prst="roundRect">
            <a:avLst>
              <a:gd name="adj" fmla="val 15385"/>
            </a:avLst>
          </a:prstGeom>
          <a:solidFill>
            <a:srgbClr val="0B3C49"/>
          </a:solidFill>
          <a:ln/>
        </p:spPr>
      </p:sp>
      <p:sp>
        <p:nvSpPr>
          <p:cNvPr id="56" name="CR-12 numero"/>
          <p:cNvSpPr txBox="1"/>
          <p:nvPr/>
        </p:nvSpPr>
        <p:spPr>
          <a:xfrm>
            <a:off x="2843784" y="3063240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CR-12</a:t>
            </a:r>
            <a:endParaRPr lang="en-US" sz="1100" dirty="0"/>
          </a:p>
        </p:txBody>
      </p:sp>
      <p:sp>
        <p:nvSpPr>
          <p:cNvPr id="57" name="CR-12 tema"/>
          <p:cNvSpPr txBox="1"/>
          <p:nvPr/>
        </p:nvSpPr>
        <p:spPr>
          <a:xfrm>
            <a:off x="3529584" y="3017520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0"/>
                </a:solidFill>
              </a:rPr>
              <a:t>Gestión integral</a:t>
            </a:r>
            <a:endParaRPr lang="en-US" sz="1100" dirty="0"/>
          </a:p>
        </p:txBody>
      </p:sp>
      <p:sp>
        <p:nvSpPr>
          <p:cNvPr id="58" name="CR-13 fondo"/>
          <p:cNvSpPr/>
          <p:nvPr/>
        </p:nvSpPr>
        <p:spPr>
          <a:xfrm>
            <a:off x="2798064" y="3392424"/>
            <a:ext cx="2066544" cy="329184"/>
          </a:xfrm>
          <a:prstGeom prst="roundRect">
            <a:avLst>
              <a:gd name="adj" fmla="val 13889"/>
            </a:avLst>
          </a:prstGeom>
          <a:solidFill>
            <a:srgbClr val="F3F6F7"/>
          </a:solidFill>
          <a:ln/>
        </p:spPr>
      </p:sp>
      <p:sp>
        <p:nvSpPr>
          <p:cNvPr id="59" name="CR-13 tipo"/>
          <p:cNvSpPr/>
          <p:nvPr/>
        </p:nvSpPr>
        <p:spPr>
          <a:xfrm>
            <a:off x="2843784" y="3438144"/>
            <a:ext cx="603504" cy="237744"/>
          </a:xfrm>
          <a:prstGeom prst="roundRect">
            <a:avLst>
              <a:gd name="adj" fmla="val 15385"/>
            </a:avLst>
          </a:prstGeom>
          <a:solidFill>
            <a:srgbClr val="5C6B73"/>
          </a:solidFill>
          <a:ln/>
        </p:spPr>
      </p:sp>
      <p:sp>
        <p:nvSpPr>
          <p:cNvPr id="60" name="CR-13 numero"/>
          <p:cNvSpPr txBox="1"/>
          <p:nvPr/>
        </p:nvSpPr>
        <p:spPr>
          <a:xfrm>
            <a:off x="2843784" y="3438144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CR-13</a:t>
            </a:r>
            <a:endParaRPr lang="en-US" sz="1100" dirty="0"/>
          </a:p>
        </p:txBody>
      </p:sp>
      <p:sp>
        <p:nvSpPr>
          <p:cNvPr id="61" name="CR-13 tema"/>
          <p:cNvSpPr txBox="1"/>
          <p:nvPr/>
        </p:nvSpPr>
        <p:spPr>
          <a:xfrm>
            <a:off x="3529584" y="3392424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0"/>
                </a:solidFill>
              </a:rPr>
              <a:t>Gob. Corporativo 2025</a:t>
            </a:r>
            <a:endParaRPr lang="en-US" sz="1100" dirty="0"/>
          </a:p>
        </p:txBody>
      </p:sp>
      <p:sp>
        <p:nvSpPr>
          <p:cNvPr id="62" name="CR-14 fondo"/>
          <p:cNvSpPr/>
          <p:nvPr/>
        </p:nvSpPr>
        <p:spPr>
          <a:xfrm>
            <a:off x="2798064" y="3767328"/>
            <a:ext cx="2066544" cy="329184"/>
          </a:xfrm>
          <a:prstGeom prst="roundRect">
            <a:avLst>
              <a:gd name="adj" fmla="val 13889"/>
            </a:avLst>
          </a:prstGeom>
          <a:solidFill>
            <a:srgbClr val="F3F6F7"/>
          </a:solidFill>
          <a:ln/>
        </p:spPr>
      </p:sp>
      <p:sp>
        <p:nvSpPr>
          <p:cNvPr id="63" name="CR-14 tipo"/>
          <p:cNvSpPr/>
          <p:nvPr/>
        </p:nvSpPr>
        <p:spPr>
          <a:xfrm>
            <a:off x="2843784" y="3813048"/>
            <a:ext cx="603504" cy="237744"/>
          </a:xfrm>
          <a:prstGeom prst="roundRect">
            <a:avLst>
              <a:gd name="adj" fmla="val 15385"/>
            </a:avLst>
          </a:prstGeom>
          <a:solidFill>
            <a:srgbClr val="8D6E63"/>
          </a:solidFill>
          <a:ln/>
        </p:spPr>
      </p:sp>
      <p:sp>
        <p:nvSpPr>
          <p:cNvPr id="64" name="CR-14 numero"/>
          <p:cNvSpPr txBox="1"/>
          <p:nvPr/>
        </p:nvSpPr>
        <p:spPr>
          <a:xfrm>
            <a:off x="2843784" y="3813048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CR-14</a:t>
            </a:r>
            <a:endParaRPr lang="en-US" sz="1100" dirty="0"/>
          </a:p>
        </p:txBody>
      </p:sp>
      <p:sp>
        <p:nvSpPr>
          <p:cNvPr id="65" name="CR-14 tema"/>
          <p:cNvSpPr txBox="1"/>
          <p:nvPr/>
        </p:nvSpPr>
        <p:spPr>
          <a:xfrm>
            <a:off x="3529584" y="3767328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0"/>
                </a:solidFill>
              </a:rPr>
              <a:t>Ley FATCA</a:t>
            </a:r>
            <a:endParaRPr lang="en-US" sz="1100" dirty="0"/>
          </a:p>
        </p:txBody>
      </p:sp>
      <p:sp>
        <p:nvSpPr>
          <p:cNvPr id="66" name="CR-15 fondo"/>
          <p:cNvSpPr/>
          <p:nvPr/>
        </p:nvSpPr>
        <p:spPr>
          <a:xfrm>
            <a:off x="2798064" y="4142232"/>
            <a:ext cx="2066544" cy="329184"/>
          </a:xfrm>
          <a:prstGeom prst="roundRect">
            <a:avLst>
              <a:gd name="adj" fmla="val 13889"/>
            </a:avLst>
          </a:prstGeom>
          <a:solidFill>
            <a:srgbClr val="F3F6F7"/>
          </a:solidFill>
          <a:ln/>
        </p:spPr>
      </p:sp>
      <p:sp>
        <p:nvSpPr>
          <p:cNvPr id="67" name="CR-15 tipo"/>
          <p:cNvSpPr/>
          <p:nvPr/>
        </p:nvSpPr>
        <p:spPr>
          <a:xfrm>
            <a:off x="2843784" y="4187952"/>
            <a:ext cx="603504" cy="237744"/>
          </a:xfrm>
          <a:prstGeom prst="roundRect">
            <a:avLst>
              <a:gd name="adj" fmla="val 15385"/>
            </a:avLst>
          </a:prstGeom>
          <a:solidFill>
            <a:srgbClr val="2A9D8F"/>
          </a:solidFill>
          <a:ln/>
        </p:spPr>
      </p:sp>
      <p:sp>
        <p:nvSpPr>
          <p:cNvPr id="68" name="CR-15 numero"/>
          <p:cNvSpPr txBox="1"/>
          <p:nvPr/>
        </p:nvSpPr>
        <p:spPr>
          <a:xfrm>
            <a:off x="2843784" y="4187952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CR-15</a:t>
            </a:r>
            <a:endParaRPr lang="en-US" sz="1100" dirty="0"/>
          </a:p>
        </p:txBody>
      </p:sp>
      <p:sp>
        <p:nvSpPr>
          <p:cNvPr id="69" name="CR-15 tema"/>
          <p:cNvSpPr txBox="1"/>
          <p:nvPr/>
        </p:nvSpPr>
        <p:spPr>
          <a:xfrm>
            <a:off x="3529584" y="4142232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0"/>
                </a:solidFill>
              </a:rPr>
              <a:t>Política R. Operac.</a:t>
            </a:r>
            <a:endParaRPr lang="en-US" sz="1100" dirty="0"/>
          </a:p>
        </p:txBody>
      </p:sp>
      <p:sp>
        <p:nvSpPr>
          <p:cNvPr id="70" name="CR-16 fondo"/>
          <p:cNvSpPr/>
          <p:nvPr/>
        </p:nvSpPr>
        <p:spPr>
          <a:xfrm>
            <a:off x="2798064" y="4517136"/>
            <a:ext cx="2066544" cy="329184"/>
          </a:xfrm>
          <a:prstGeom prst="roundRect">
            <a:avLst>
              <a:gd name="adj" fmla="val 13889"/>
            </a:avLst>
          </a:prstGeom>
          <a:solidFill>
            <a:srgbClr val="F3F6F7"/>
          </a:solidFill>
          <a:ln/>
        </p:spPr>
      </p:sp>
      <p:sp>
        <p:nvSpPr>
          <p:cNvPr id="71" name="CR-16 tipo"/>
          <p:cNvSpPr/>
          <p:nvPr/>
        </p:nvSpPr>
        <p:spPr>
          <a:xfrm>
            <a:off x="2843784" y="4562856"/>
            <a:ext cx="603504" cy="237744"/>
          </a:xfrm>
          <a:prstGeom prst="roundRect">
            <a:avLst>
              <a:gd name="adj" fmla="val 15385"/>
            </a:avLst>
          </a:prstGeom>
          <a:solidFill>
            <a:srgbClr val="C8553D"/>
          </a:solidFill>
          <a:ln/>
        </p:spPr>
      </p:sp>
      <p:sp>
        <p:nvSpPr>
          <p:cNvPr id="72" name="CR-16 numero"/>
          <p:cNvSpPr txBox="1"/>
          <p:nvPr/>
        </p:nvSpPr>
        <p:spPr>
          <a:xfrm>
            <a:off x="2843784" y="4562856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CR-16</a:t>
            </a:r>
            <a:endParaRPr lang="en-US" sz="1100" dirty="0"/>
          </a:p>
        </p:txBody>
      </p:sp>
      <p:sp>
        <p:nvSpPr>
          <p:cNvPr id="73" name="CR-16 tema"/>
          <p:cNvSpPr txBox="1"/>
          <p:nvPr/>
        </p:nvSpPr>
        <p:spPr>
          <a:xfrm>
            <a:off x="3529584" y="4517136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0"/>
                </a:solidFill>
              </a:rPr>
              <a:t>Avalúos ene–feb</a:t>
            </a:r>
            <a:endParaRPr lang="en-US" sz="1100" dirty="0"/>
          </a:p>
        </p:txBody>
      </p:sp>
      <p:sp>
        <p:nvSpPr>
          <p:cNvPr id="74" name="CR-17 fondo"/>
          <p:cNvSpPr/>
          <p:nvPr/>
        </p:nvSpPr>
        <p:spPr>
          <a:xfrm>
            <a:off x="2798064" y="4892040"/>
            <a:ext cx="2066544" cy="329184"/>
          </a:xfrm>
          <a:prstGeom prst="roundRect">
            <a:avLst>
              <a:gd name="adj" fmla="val 13889"/>
            </a:avLst>
          </a:prstGeom>
          <a:solidFill>
            <a:srgbClr val="F3F6F7"/>
          </a:solidFill>
          <a:ln/>
        </p:spPr>
      </p:sp>
      <p:sp>
        <p:nvSpPr>
          <p:cNvPr id="75" name="CR-17 tipo"/>
          <p:cNvSpPr/>
          <p:nvPr/>
        </p:nvSpPr>
        <p:spPr>
          <a:xfrm>
            <a:off x="2843784" y="4937760"/>
            <a:ext cx="603504" cy="237744"/>
          </a:xfrm>
          <a:prstGeom prst="roundRect">
            <a:avLst>
              <a:gd name="adj" fmla="val 15385"/>
            </a:avLst>
          </a:prstGeom>
          <a:solidFill>
            <a:srgbClr val="5C6B73"/>
          </a:solidFill>
          <a:ln/>
        </p:spPr>
      </p:sp>
      <p:sp>
        <p:nvSpPr>
          <p:cNvPr id="76" name="CR-17 numero"/>
          <p:cNvSpPr txBox="1"/>
          <p:nvPr/>
        </p:nvSpPr>
        <p:spPr>
          <a:xfrm>
            <a:off x="2843784" y="4937760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CR-17</a:t>
            </a:r>
            <a:endParaRPr lang="en-US" sz="1100" dirty="0"/>
          </a:p>
        </p:txBody>
      </p:sp>
      <p:sp>
        <p:nvSpPr>
          <p:cNvPr id="77" name="CR-17 tema"/>
          <p:cNvSpPr txBox="1"/>
          <p:nvPr/>
        </p:nvSpPr>
        <p:spPr>
          <a:xfrm>
            <a:off x="3529584" y="4892040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0"/>
                </a:solidFill>
              </a:rPr>
              <a:t>Segmentación</a:t>
            </a:r>
            <a:endParaRPr lang="en-US" sz="1100" dirty="0"/>
          </a:p>
        </p:txBody>
      </p:sp>
      <p:sp>
        <p:nvSpPr>
          <p:cNvPr id="78" name="CR-18 fondo"/>
          <p:cNvSpPr/>
          <p:nvPr/>
        </p:nvSpPr>
        <p:spPr>
          <a:xfrm>
            <a:off x="2798064" y="5266944"/>
            <a:ext cx="2066544" cy="329184"/>
          </a:xfrm>
          <a:prstGeom prst="roundRect">
            <a:avLst>
              <a:gd name="adj" fmla="val 13889"/>
            </a:avLst>
          </a:prstGeom>
          <a:solidFill>
            <a:srgbClr val="F3F6F7"/>
          </a:solidFill>
          <a:ln/>
        </p:spPr>
      </p:sp>
      <p:sp>
        <p:nvSpPr>
          <p:cNvPr id="79" name="CR-18 tipo"/>
          <p:cNvSpPr/>
          <p:nvPr/>
        </p:nvSpPr>
        <p:spPr>
          <a:xfrm>
            <a:off x="2843784" y="5312664"/>
            <a:ext cx="603504" cy="237744"/>
          </a:xfrm>
          <a:prstGeom prst="roundRect">
            <a:avLst>
              <a:gd name="adj" fmla="val 15385"/>
            </a:avLst>
          </a:prstGeom>
          <a:solidFill>
            <a:srgbClr val="C8553D"/>
          </a:solidFill>
          <a:ln/>
        </p:spPr>
      </p:sp>
      <p:sp>
        <p:nvSpPr>
          <p:cNvPr id="80" name="CR-18 numero"/>
          <p:cNvSpPr txBox="1"/>
          <p:nvPr/>
        </p:nvSpPr>
        <p:spPr>
          <a:xfrm>
            <a:off x="2843784" y="5312664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CR-18</a:t>
            </a:r>
            <a:endParaRPr lang="en-US" sz="1100" dirty="0"/>
          </a:p>
        </p:txBody>
      </p:sp>
      <p:sp>
        <p:nvSpPr>
          <p:cNvPr id="81" name="CR-18 tema"/>
          <p:cNvSpPr txBox="1"/>
          <p:nvPr/>
        </p:nvSpPr>
        <p:spPr>
          <a:xfrm>
            <a:off x="3529584" y="5266944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0"/>
                </a:solidFill>
              </a:rPr>
              <a:t>Récord relacionados</a:t>
            </a:r>
            <a:endParaRPr lang="en-US" sz="1100" dirty="0"/>
          </a:p>
        </p:txBody>
      </p:sp>
      <p:sp>
        <p:nvSpPr>
          <p:cNvPr id="82" name="CR-19 fondo"/>
          <p:cNvSpPr/>
          <p:nvPr/>
        </p:nvSpPr>
        <p:spPr>
          <a:xfrm>
            <a:off x="2798064" y="5641848"/>
            <a:ext cx="2066544" cy="329184"/>
          </a:xfrm>
          <a:prstGeom prst="roundRect">
            <a:avLst>
              <a:gd name="adj" fmla="val 13889"/>
            </a:avLst>
          </a:prstGeom>
          <a:solidFill>
            <a:srgbClr val="FFF1C7"/>
          </a:solidFill>
          <a:ln w="22225">
            <a:solidFill>
              <a:srgbClr val="E0A100"/>
            </a:solidFill>
            <a:prstDash val="solid"/>
          </a:ln>
        </p:spPr>
      </p:sp>
      <p:sp>
        <p:nvSpPr>
          <p:cNvPr id="83" name="CR-19 tipo"/>
          <p:cNvSpPr/>
          <p:nvPr/>
        </p:nvSpPr>
        <p:spPr>
          <a:xfrm>
            <a:off x="2843784" y="5687568"/>
            <a:ext cx="603504" cy="237744"/>
          </a:xfrm>
          <a:prstGeom prst="roundRect">
            <a:avLst>
              <a:gd name="adj" fmla="val 15385"/>
            </a:avLst>
          </a:prstGeom>
          <a:solidFill>
            <a:srgbClr val="6A4C93"/>
          </a:solidFill>
          <a:ln/>
        </p:spPr>
      </p:sp>
      <p:sp>
        <p:nvSpPr>
          <p:cNvPr id="84" name="CR-19 numero"/>
          <p:cNvSpPr txBox="1"/>
          <p:nvPr/>
        </p:nvSpPr>
        <p:spPr>
          <a:xfrm>
            <a:off x="2843784" y="5687568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CR-19</a:t>
            </a:r>
            <a:endParaRPr lang="en-US" sz="1100" dirty="0"/>
          </a:p>
        </p:txBody>
      </p:sp>
      <p:sp>
        <p:nvSpPr>
          <p:cNvPr id="85" name="CR-19 tema"/>
          <p:cNvSpPr txBox="1"/>
          <p:nvPr/>
        </p:nvSpPr>
        <p:spPr>
          <a:xfrm>
            <a:off x="3529584" y="5641848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0"/>
                </a:solidFill>
              </a:rPr>
              <a:t>Ciberseg. y DBFD</a:t>
            </a:r>
            <a:endParaRPr lang="en-US" sz="1100" dirty="0"/>
          </a:p>
        </p:txBody>
      </p:sp>
      <p:sp>
        <p:nvSpPr>
          <p:cNvPr id="86" name="Sesion 146"/>
          <p:cNvSpPr/>
          <p:nvPr/>
        </p:nvSpPr>
        <p:spPr>
          <a:xfrm>
            <a:off x="5047488" y="1481328"/>
            <a:ext cx="2066544" cy="676656"/>
          </a:xfrm>
          <a:prstGeom prst="roundRect">
            <a:avLst>
              <a:gd name="adj" fmla="val 10811"/>
            </a:avLst>
          </a:prstGeom>
          <a:solidFill>
            <a:srgbClr val="0B3C49"/>
          </a:solidFill>
          <a:ln/>
        </p:spPr>
      </p:sp>
      <p:sp>
        <p:nvSpPr>
          <p:cNvPr id="87" name="Sesion 146 texto"/>
          <p:cNvSpPr txBox="1"/>
          <p:nvPr/>
        </p:nvSpPr>
        <p:spPr>
          <a:xfrm>
            <a:off x="5184648" y="1481328"/>
            <a:ext cx="1325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Sesión 146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FE3E8"/>
                </a:solidFill>
              </a:rPr>
              <a:t>22 abr 2026</a:t>
            </a:r>
            <a:endParaRPr lang="en-US" sz="1500" dirty="0"/>
          </a:p>
        </p:txBody>
      </p:sp>
      <p:sp>
        <p:nvSpPr>
          <p:cNvPr id="88" name="Sesion 146 total"/>
          <p:cNvSpPr txBox="1"/>
          <p:nvPr/>
        </p:nvSpPr>
        <p:spPr>
          <a:xfrm>
            <a:off x="6464808" y="1481328"/>
            <a:ext cx="530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0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89" name="CR-20 fondo"/>
          <p:cNvSpPr/>
          <p:nvPr/>
        </p:nvSpPr>
        <p:spPr>
          <a:xfrm>
            <a:off x="5047488" y="2267712"/>
            <a:ext cx="2066544" cy="329184"/>
          </a:xfrm>
          <a:prstGeom prst="roundRect">
            <a:avLst>
              <a:gd name="adj" fmla="val 13889"/>
            </a:avLst>
          </a:prstGeom>
          <a:solidFill>
            <a:srgbClr val="FFF1C7"/>
          </a:solidFill>
          <a:ln w="22225">
            <a:solidFill>
              <a:srgbClr val="E0A100"/>
            </a:solidFill>
            <a:prstDash val="solid"/>
          </a:ln>
        </p:spPr>
      </p:sp>
      <p:sp>
        <p:nvSpPr>
          <p:cNvPr id="90" name="CR-20 tipo"/>
          <p:cNvSpPr/>
          <p:nvPr/>
        </p:nvSpPr>
        <p:spPr>
          <a:xfrm>
            <a:off x="5093208" y="2313432"/>
            <a:ext cx="603504" cy="237744"/>
          </a:xfrm>
          <a:prstGeom prst="roundRect">
            <a:avLst>
              <a:gd name="adj" fmla="val 15385"/>
            </a:avLst>
          </a:prstGeom>
          <a:solidFill>
            <a:srgbClr val="0B3C49"/>
          </a:solidFill>
          <a:ln/>
        </p:spPr>
      </p:sp>
      <p:sp>
        <p:nvSpPr>
          <p:cNvPr id="91" name="CR-20 numero"/>
          <p:cNvSpPr txBox="1"/>
          <p:nvPr/>
        </p:nvSpPr>
        <p:spPr>
          <a:xfrm>
            <a:off x="5093208" y="2313432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CR-20</a:t>
            </a:r>
            <a:endParaRPr lang="en-US" sz="1100" dirty="0"/>
          </a:p>
        </p:txBody>
      </p:sp>
      <p:sp>
        <p:nvSpPr>
          <p:cNvPr id="92" name="CR-20 tema"/>
          <p:cNvSpPr txBox="1"/>
          <p:nvPr/>
        </p:nvSpPr>
        <p:spPr>
          <a:xfrm>
            <a:off x="5779008" y="2267712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0"/>
                </a:solidFill>
              </a:rPr>
              <a:t>Gestión integral</a:t>
            </a:r>
            <a:endParaRPr lang="en-US" sz="1100" dirty="0"/>
          </a:p>
        </p:txBody>
      </p:sp>
      <p:sp>
        <p:nvSpPr>
          <p:cNvPr id="93" name="CR-21 fondo"/>
          <p:cNvSpPr/>
          <p:nvPr/>
        </p:nvSpPr>
        <p:spPr>
          <a:xfrm>
            <a:off x="5047488" y="2642616"/>
            <a:ext cx="2066544" cy="329184"/>
          </a:xfrm>
          <a:prstGeom prst="roundRect">
            <a:avLst>
              <a:gd name="adj" fmla="val 13889"/>
            </a:avLst>
          </a:prstGeom>
          <a:solidFill>
            <a:srgbClr val="F3F6F7"/>
          </a:solidFill>
          <a:ln/>
        </p:spPr>
      </p:sp>
      <p:sp>
        <p:nvSpPr>
          <p:cNvPr id="94" name="CR-21 tipo"/>
          <p:cNvSpPr/>
          <p:nvPr/>
        </p:nvSpPr>
        <p:spPr>
          <a:xfrm>
            <a:off x="5093208" y="2688336"/>
            <a:ext cx="603504" cy="237744"/>
          </a:xfrm>
          <a:prstGeom prst="roundRect">
            <a:avLst>
              <a:gd name="adj" fmla="val 15385"/>
            </a:avLst>
          </a:prstGeom>
          <a:solidFill>
            <a:srgbClr val="5C6B73"/>
          </a:solidFill>
          <a:ln/>
        </p:spPr>
      </p:sp>
      <p:sp>
        <p:nvSpPr>
          <p:cNvPr id="95" name="CR-21 numero"/>
          <p:cNvSpPr txBox="1"/>
          <p:nvPr/>
        </p:nvSpPr>
        <p:spPr>
          <a:xfrm>
            <a:off x="5093208" y="2688336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CR-21</a:t>
            </a:r>
            <a:endParaRPr lang="en-US" sz="1100" dirty="0"/>
          </a:p>
        </p:txBody>
      </p:sp>
      <p:sp>
        <p:nvSpPr>
          <p:cNvPr id="96" name="CR-21 tema"/>
          <p:cNvSpPr txBox="1"/>
          <p:nvPr/>
        </p:nvSpPr>
        <p:spPr>
          <a:xfrm>
            <a:off x="5779008" y="2642616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0"/>
                </a:solidFill>
              </a:rPr>
              <a:t>Informes anuales</a:t>
            </a:r>
            <a:endParaRPr lang="en-US" sz="1100" dirty="0"/>
          </a:p>
        </p:txBody>
      </p:sp>
      <p:sp>
        <p:nvSpPr>
          <p:cNvPr id="97" name="CR-22 fondo"/>
          <p:cNvSpPr/>
          <p:nvPr/>
        </p:nvSpPr>
        <p:spPr>
          <a:xfrm>
            <a:off x="5047488" y="3017520"/>
            <a:ext cx="2066544" cy="329184"/>
          </a:xfrm>
          <a:prstGeom prst="roundRect">
            <a:avLst>
              <a:gd name="adj" fmla="val 13889"/>
            </a:avLst>
          </a:prstGeom>
          <a:solidFill>
            <a:srgbClr val="F3F6F7"/>
          </a:solidFill>
          <a:ln/>
        </p:spPr>
      </p:sp>
      <p:sp>
        <p:nvSpPr>
          <p:cNvPr id="98" name="CR-22 tipo"/>
          <p:cNvSpPr/>
          <p:nvPr/>
        </p:nvSpPr>
        <p:spPr>
          <a:xfrm>
            <a:off x="5093208" y="3063240"/>
            <a:ext cx="603504" cy="237744"/>
          </a:xfrm>
          <a:prstGeom prst="roundRect">
            <a:avLst>
              <a:gd name="adj" fmla="val 15385"/>
            </a:avLst>
          </a:prstGeom>
          <a:solidFill>
            <a:srgbClr val="C8553D"/>
          </a:solidFill>
          <a:ln/>
        </p:spPr>
      </p:sp>
      <p:sp>
        <p:nvSpPr>
          <p:cNvPr id="99" name="CR-22 numero"/>
          <p:cNvSpPr txBox="1"/>
          <p:nvPr/>
        </p:nvSpPr>
        <p:spPr>
          <a:xfrm>
            <a:off x="5093208" y="3063240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CR-22</a:t>
            </a:r>
            <a:endParaRPr lang="en-US" sz="1100" dirty="0"/>
          </a:p>
        </p:txBody>
      </p:sp>
      <p:sp>
        <p:nvSpPr>
          <p:cNvPr id="100" name="CR-22 tema"/>
          <p:cNvSpPr txBox="1"/>
          <p:nvPr/>
        </p:nvSpPr>
        <p:spPr>
          <a:xfrm>
            <a:off x="5779008" y="3017520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0"/>
                </a:solidFill>
              </a:rPr>
              <a:t>Avalúos marzo</a:t>
            </a:r>
            <a:endParaRPr lang="en-US" sz="1100" dirty="0"/>
          </a:p>
        </p:txBody>
      </p:sp>
      <p:sp>
        <p:nvSpPr>
          <p:cNvPr id="101" name="CR-23 fondo"/>
          <p:cNvSpPr/>
          <p:nvPr/>
        </p:nvSpPr>
        <p:spPr>
          <a:xfrm>
            <a:off x="5047488" y="3392424"/>
            <a:ext cx="2066544" cy="329184"/>
          </a:xfrm>
          <a:prstGeom prst="roundRect">
            <a:avLst>
              <a:gd name="adj" fmla="val 13889"/>
            </a:avLst>
          </a:prstGeom>
          <a:solidFill>
            <a:srgbClr val="F3F6F7"/>
          </a:solidFill>
          <a:ln/>
        </p:spPr>
      </p:sp>
      <p:sp>
        <p:nvSpPr>
          <p:cNvPr id="102" name="CR-23 tipo"/>
          <p:cNvSpPr/>
          <p:nvPr/>
        </p:nvSpPr>
        <p:spPr>
          <a:xfrm>
            <a:off x="5093208" y="3438144"/>
            <a:ext cx="603504" cy="237744"/>
          </a:xfrm>
          <a:prstGeom prst="roundRect">
            <a:avLst>
              <a:gd name="adj" fmla="val 15385"/>
            </a:avLst>
          </a:prstGeom>
          <a:solidFill>
            <a:srgbClr val="5C6B73"/>
          </a:solidFill>
          <a:ln/>
        </p:spPr>
      </p:sp>
      <p:sp>
        <p:nvSpPr>
          <p:cNvPr id="103" name="CR-23 numero"/>
          <p:cNvSpPr txBox="1"/>
          <p:nvPr/>
        </p:nvSpPr>
        <p:spPr>
          <a:xfrm>
            <a:off x="5093208" y="3438144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CR-23</a:t>
            </a:r>
            <a:endParaRPr lang="en-US" sz="1100" dirty="0"/>
          </a:p>
        </p:txBody>
      </p:sp>
      <p:sp>
        <p:nvSpPr>
          <p:cNvPr id="104" name="CR-23 tema"/>
          <p:cNvSpPr txBox="1"/>
          <p:nvPr/>
        </p:nvSpPr>
        <p:spPr>
          <a:xfrm>
            <a:off x="5779008" y="3392424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0"/>
                </a:solidFill>
              </a:rPr>
              <a:t>Segmentación</a:t>
            </a:r>
            <a:endParaRPr lang="en-US" sz="1100" dirty="0"/>
          </a:p>
        </p:txBody>
      </p:sp>
      <p:sp>
        <p:nvSpPr>
          <p:cNvPr id="105" name="CR-24 fondo"/>
          <p:cNvSpPr/>
          <p:nvPr/>
        </p:nvSpPr>
        <p:spPr>
          <a:xfrm>
            <a:off x="5047488" y="3767328"/>
            <a:ext cx="2066544" cy="329184"/>
          </a:xfrm>
          <a:prstGeom prst="roundRect">
            <a:avLst>
              <a:gd name="adj" fmla="val 13889"/>
            </a:avLst>
          </a:prstGeom>
          <a:solidFill>
            <a:srgbClr val="F3F6F7"/>
          </a:solidFill>
          <a:ln/>
        </p:spPr>
      </p:sp>
      <p:sp>
        <p:nvSpPr>
          <p:cNvPr id="106" name="CR-24 tipo"/>
          <p:cNvSpPr/>
          <p:nvPr/>
        </p:nvSpPr>
        <p:spPr>
          <a:xfrm>
            <a:off x="5093208" y="3813048"/>
            <a:ext cx="603504" cy="237744"/>
          </a:xfrm>
          <a:prstGeom prst="roundRect">
            <a:avLst>
              <a:gd name="adj" fmla="val 15385"/>
            </a:avLst>
          </a:prstGeom>
          <a:solidFill>
            <a:srgbClr val="C8553D"/>
          </a:solidFill>
          <a:ln/>
        </p:spPr>
      </p:sp>
      <p:sp>
        <p:nvSpPr>
          <p:cNvPr id="107" name="CR-24 numero"/>
          <p:cNvSpPr txBox="1"/>
          <p:nvPr/>
        </p:nvSpPr>
        <p:spPr>
          <a:xfrm>
            <a:off x="5093208" y="3813048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CR-24</a:t>
            </a:r>
            <a:endParaRPr lang="en-US" sz="1100" dirty="0"/>
          </a:p>
        </p:txBody>
      </p:sp>
      <p:sp>
        <p:nvSpPr>
          <p:cNvPr id="108" name="CR-24 tema"/>
          <p:cNvSpPr txBox="1"/>
          <p:nvPr/>
        </p:nvSpPr>
        <p:spPr>
          <a:xfrm>
            <a:off x="5779008" y="3767328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0"/>
                </a:solidFill>
              </a:rPr>
              <a:t>Récord relacionados</a:t>
            </a:r>
            <a:endParaRPr lang="en-US" sz="1100" dirty="0"/>
          </a:p>
        </p:txBody>
      </p:sp>
      <p:sp>
        <p:nvSpPr>
          <p:cNvPr id="109" name="CR-25 fondo"/>
          <p:cNvSpPr/>
          <p:nvPr/>
        </p:nvSpPr>
        <p:spPr>
          <a:xfrm>
            <a:off x="5047488" y="4142232"/>
            <a:ext cx="2066544" cy="329184"/>
          </a:xfrm>
          <a:prstGeom prst="roundRect">
            <a:avLst>
              <a:gd name="adj" fmla="val 13889"/>
            </a:avLst>
          </a:prstGeom>
          <a:solidFill>
            <a:srgbClr val="FFF1C7"/>
          </a:solidFill>
          <a:ln w="22225">
            <a:solidFill>
              <a:srgbClr val="E0A100"/>
            </a:solidFill>
            <a:prstDash val="solid"/>
          </a:ln>
        </p:spPr>
      </p:sp>
      <p:sp>
        <p:nvSpPr>
          <p:cNvPr id="110" name="CR-25 tipo"/>
          <p:cNvSpPr/>
          <p:nvPr/>
        </p:nvSpPr>
        <p:spPr>
          <a:xfrm>
            <a:off x="5093208" y="4187952"/>
            <a:ext cx="603504" cy="237744"/>
          </a:xfrm>
          <a:prstGeom prst="roundRect">
            <a:avLst>
              <a:gd name="adj" fmla="val 15385"/>
            </a:avLst>
          </a:prstGeom>
          <a:solidFill>
            <a:srgbClr val="6A4C93"/>
          </a:solidFill>
          <a:ln/>
        </p:spPr>
      </p:sp>
      <p:sp>
        <p:nvSpPr>
          <p:cNvPr id="111" name="CR-25 numero"/>
          <p:cNvSpPr txBox="1"/>
          <p:nvPr/>
        </p:nvSpPr>
        <p:spPr>
          <a:xfrm>
            <a:off x="5093208" y="4187952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CR-25</a:t>
            </a:r>
            <a:endParaRPr lang="en-US" sz="1100" dirty="0"/>
          </a:p>
        </p:txBody>
      </p:sp>
      <p:sp>
        <p:nvSpPr>
          <p:cNvPr id="112" name="CR-25 tema"/>
          <p:cNvSpPr txBox="1"/>
          <p:nvPr/>
        </p:nvSpPr>
        <p:spPr>
          <a:xfrm>
            <a:off x="5779008" y="4142232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0"/>
                </a:solidFill>
              </a:rPr>
              <a:t>Remediación ciber</a:t>
            </a:r>
            <a:endParaRPr lang="en-US" sz="1100" dirty="0"/>
          </a:p>
        </p:txBody>
      </p:sp>
      <p:sp>
        <p:nvSpPr>
          <p:cNvPr id="113" name="Sesion 147"/>
          <p:cNvSpPr/>
          <p:nvPr/>
        </p:nvSpPr>
        <p:spPr>
          <a:xfrm>
            <a:off x="7296912" y="1481328"/>
            <a:ext cx="2066544" cy="676656"/>
          </a:xfrm>
          <a:prstGeom prst="roundRect">
            <a:avLst>
              <a:gd name="adj" fmla="val 10811"/>
            </a:avLst>
          </a:prstGeom>
          <a:solidFill>
            <a:srgbClr val="0B3C49"/>
          </a:solidFill>
          <a:ln/>
        </p:spPr>
      </p:sp>
      <p:sp>
        <p:nvSpPr>
          <p:cNvPr id="114" name="Sesion 147 texto"/>
          <p:cNvSpPr txBox="1"/>
          <p:nvPr/>
        </p:nvSpPr>
        <p:spPr>
          <a:xfrm>
            <a:off x="7434072" y="1481328"/>
            <a:ext cx="1325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Sesión 147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FE3E8"/>
                </a:solidFill>
              </a:rPr>
              <a:t>29 may 2026</a:t>
            </a:r>
            <a:endParaRPr lang="en-US" sz="1500" dirty="0"/>
          </a:p>
        </p:txBody>
      </p:sp>
      <p:sp>
        <p:nvSpPr>
          <p:cNvPr id="115" name="Sesion 147 total"/>
          <p:cNvSpPr txBox="1"/>
          <p:nvPr/>
        </p:nvSpPr>
        <p:spPr>
          <a:xfrm>
            <a:off x="8714232" y="1481328"/>
            <a:ext cx="530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0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116" name="CR-26 fondo"/>
          <p:cNvSpPr/>
          <p:nvPr/>
        </p:nvSpPr>
        <p:spPr>
          <a:xfrm>
            <a:off x="7296912" y="2267712"/>
            <a:ext cx="2066544" cy="329184"/>
          </a:xfrm>
          <a:prstGeom prst="roundRect">
            <a:avLst>
              <a:gd name="adj" fmla="val 13889"/>
            </a:avLst>
          </a:prstGeom>
          <a:solidFill>
            <a:srgbClr val="FFF1C7"/>
          </a:solidFill>
          <a:ln w="22225">
            <a:solidFill>
              <a:srgbClr val="E0A100"/>
            </a:solidFill>
            <a:prstDash val="solid"/>
          </a:ln>
        </p:spPr>
      </p:sp>
      <p:sp>
        <p:nvSpPr>
          <p:cNvPr id="117" name="CR-26 tipo"/>
          <p:cNvSpPr/>
          <p:nvPr/>
        </p:nvSpPr>
        <p:spPr>
          <a:xfrm>
            <a:off x="7342632" y="2313432"/>
            <a:ext cx="603504" cy="237744"/>
          </a:xfrm>
          <a:prstGeom prst="roundRect">
            <a:avLst>
              <a:gd name="adj" fmla="val 15385"/>
            </a:avLst>
          </a:prstGeom>
          <a:solidFill>
            <a:srgbClr val="0B3C49"/>
          </a:solidFill>
          <a:ln/>
        </p:spPr>
      </p:sp>
      <p:sp>
        <p:nvSpPr>
          <p:cNvPr id="118" name="CR-26 numero"/>
          <p:cNvSpPr txBox="1"/>
          <p:nvPr/>
        </p:nvSpPr>
        <p:spPr>
          <a:xfrm>
            <a:off x="7342632" y="2313432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CR-26</a:t>
            </a:r>
            <a:endParaRPr lang="en-US" sz="1100" dirty="0"/>
          </a:p>
        </p:txBody>
      </p:sp>
      <p:sp>
        <p:nvSpPr>
          <p:cNvPr id="119" name="CR-26 tema"/>
          <p:cNvSpPr txBox="1"/>
          <p:nvPr/>
        </p:nvSpPr>
        <p:spPr>
          <a:xfrm>
            <a:off x="8028432" y="2267712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0"/>
                </a:solidFill>
              </a:rPr>
              <a:t>Gestión integral</a:t>
            </a:r>
            <a:endParaRPr lang="en-US" sz="1100" dirty="0"/>
          </a:p>
        </p:txBody>
      </p:sp>
      <p:sp>
        <p:nvSpPr>
          <p:cNvPr id="120" name="CR-27 fondo"/>
          <p:cNvSpPr/>
          <p:nvPr/>
        </p:nvSpPr>
        <p:spPr>
          <a:xfrm>
            <a:off x="7296912" y="2642616"/>
            <a:ext cx="2066544" cy="329184"/>
          </a:xfrm>
          <a:prstGeom prst="roundRect">
            <a:avLst>
              <a:gd name="adj" fmla="val 13889"/>
            </a:avLst>
          </a:prstGeom>
          <a:solidFill>
            <a:srgbClr val="F3F6F7"/>
          </a:solidFill>
          <a:ln/>
        </p:spPr>
      </p:sp>
      <p:sp>
        <p:nvSpPr>
          <p:cNvPr id="121" name="CR-27 tipo"/>
          <p:cNvSpPr/>
          <p:nvPr/>
        </p:nvSpPr>
        <p:spPr>
          <a:xfrm>
            <a:off x="7342632" y="2688336"/>
            <a:ext cx="603504" cy="237744"/>
          </a:xfrm>
          <a:prstGeom prst="roundRect">
            <a:avLst>
              <a:gd name="adj" fmla="val 15385"/>
            </a:avLst>
          </a:prstGeom>
          <a:solidFill>
            <a:srgbClr val="C8553D"/>
          </a:solidFill>
          <a:ln/>
        </p:spPr>
      </p:sp>
      <p:sp>
        <p:nvSpPr>
          <p:cNvPr id="122" name="CR-27 numero"/>
          <p:cNvSpPr txBox="1"/>
          <p:nvPr/>
        </p:nvSpPr>
        <p:spPr>
          <a:xfrm>
            <a:off x="7342632" y="2688336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CR-27</a:t>
            </a:r>
            <a:endParaRPr lang="en-US" sz="1100" dirty="0"/>
          </a:p>
        </p:txBody>
      </p:sp>
      <p:sp>
        <p:nvSpPr>
          <p:cNvPr id="123" name="CR-27 tema"/>
          <p:cNvSpPr txBox="1"/>
          <p:nvPr/>
        </p:nvSpPr>
        <p:spPr>
          <a:xfrm>
            <a:off x="8028432" y="2642616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0"/>
                </a:solidFill>
              </a:rPr>
              <a:t>Manual de crédito</a:t>
            </a:r>
            <a:endParaRPr lang="en-US" sz="1100" dirty="0"/>
          </a:p>
        </p:txBody>
      </p:sp>
      <p:sp>
        <p:nvSpPr>
          <p:cNvPr id="124" name="CR-28 fondo"/>
          <p:cNvSpPr/>
          <p:nvPr/>
        </p:nvSpPr>
        <p:spPr>
          <a:xfrm>
            <a:off x="7296912" y="3017520"/>
            <a:ext cx="2066544" cy="329184"/>
          </a:xfrm>
          <a:prstGeom prst="roundRect">
            <a:avLst>
              <a:gd name="adj" fmla="val 13889"/>
            </a:avLst>
          </a:prstGeom>
          <a:solidFill>
            <a:srgbClr val="FFF1C7"/>
          </a:solidFill>
          <a:ln w="22225">
            <a:solidFill>
              <a:srgbClr val="E0A100"/>
            </a:solidFill>
            <a:prstDash val="solid"/>
          </a:ln>
        </p:spPr>
      </p:sp>
      <p:sp>
        <p:nvSpPr>
          <p:cNvPr id="125" name="CR-28 tipo"/>
          <p:cNvSpPr/>
          <p:nvPr/>
        </p:nvSpPr>
        <p:spPr>
          <a:xfrm>
            <a:off x="7342632" y="3063240"/>
            <a:ext cx="603504" cy="237744"/>
          </a:xfrm>
          <a:prstGeom prst="roundRect">
            <a:avLst>
              <a:gd name="adj" fmla="val 15385"/>
            </a:avLst>
          </a:prstGeom>
          <a:solidFill>
            <a:srgbClr val="C8553D"/>
          </a:solidFill>
          <a:ln/>
        </p:spPr>
      </p:sp>
      <p:sp>
        <p:nvSpPr>
          <p:cNvPr id="126" name="CR-28 numero"/>
          <p:cNvSpPr txBox="1"/>
          <p:nvPr/>
        </p:nvSpPr>
        <p:spPr>
          <a:xfrm>
            <a:off x="7342632" y="3063240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CR-28</a:t>
            </a:r>
            <a:endParaRPr lang="en-US" sz="1100" dirty="0"/>
          </a:p>
        </p:txBody>
      </p:sp>
      <p:sp>
        <p:nvSpPr>
          <p:cNvPr id="127" name="CR-28 tema"/>
          <p:cNvSpPr txBox="1"/>
          <p:nvPr/>
        </p:nvSpPr>
        <p:spPr>
          <a:xfrm>
            <a:off x="8028432" y="3017520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0"/>
                </a:solidFill>
              </a:rPr>
              <a:t>Avalúos abril</a:t>
            </a:r>
            <a:endParaRPr lang="en-US" sz="1100" dirty="0"/>
          </a:p>
        </p:txBody>
      </p:sp>
      <p:sp>
        <p:nvSpPr>
          <p:cNvPr id="128" name="CR-29 fondo"/>
          <p:cNvSpPr/>
          <p:nvPr/>
        </p:nvSpPr>
        <p:spPr>
          <a:xfrm>
            <a:off x="7296912" y="3392424"/>
            <a:ext cx="2066544" cy="329184"/>
          </a:xfrm>
          <a:prstGeom prst="roundRect">
            <a:avLst>
              <a:gd name="adj" fmla="val 13889"/>
            </a:avLst>
          </a:prstGeom>
          <a:solidFill>
            <a:srgbClr val="F3F6F7"/>
          </a:solidFill>
          <a:ln/>
        </p:spPr>
      </p:sp>
      <p:sp>
        <p:nvSpPr>
          <p:cNvPr id="129" name="CR-29 tipo"/>
          <p:cNvSpPr/>
          <p:nvPr/>
        </p:nvSpPr>
        <p:spPr>
          <a:xfrm>
            <a:off x="7342632" y="3438144"/>
            <a:ext cx="603504" cy="237744"/>
          </a:xfrm>
          <a:prstGeom prst="roundRect">
            <a:avLst>
              <a:gd name="adj" fmla="val 15385"/>
            </a:avLst>
          </a:prstGeom>
          <a:solidFill>
            <a:srgbClr val="5C6B73"/>
          </a:solidFill>
          <a:ln/>
        </p:spPr>
      </p:sp>
      <p:sp>
        <p:nvSpPr>
          <p:cNvPr id="130" name="CR-29 numero"/>
          <p:cNvSpPr txBox="1"/>
          <p:nvPr/>
        </p:nvSpPr>
        <p:spPr>
          <a:xfrm>
            <a:off x="7342632" y="3438144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CR-29</a:t>
            </a:r>
            <a:endParaRPr lang="en-US" sz="1100" dirty="0"/>
          </a:p>
        </p:txBody>
      </p:sp>
      <p:sp>
        <p:nvSpPr>
          <p:cNvPr id="131" name="CR-29 tema"/>
          <p:cNvSpPr txBox="1"/>
          <p:nvPr/>
        </p:nvSpPr>
        <p:spPr>
          <a:xfrm>
            <a:off x="8028432" y="3392424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0"/>
                </a:solidFill>
              </a:rPr>
              <a:t>Segmentación</a:t>
            </a:r>
            <a:endParaRPr lang="en-US" sz="1100" dirty="0"/>
          </a:p>
        </p:txBody>
      </p:sp>
      <p:sp>
        <p:nvSpPr>
          <p:cNvPr id="132" name="CR-30 fondo"/>
          <p:cNvSpPr/>
          <p:nvPr/>
        </p:nvSpPr>
        <p:spPr>
          <a:xfrm>
            <a:off x="7296912" y="3767328"/>
            <a:ext cx="2066544" cy="329184"/>
          </a:xfrm>
          <a:prstGeom prst="roundRect">
            <a:avLst>
              <a:gd name="adj" fmla="val 13889"/>
            </a:avLst>
          </a:prstGeom>
          <a:solidFill>
            <a:srgbClr val="FFF1C7"/>
          </a:solidFill>
          <a:ln w="22225">
            <a:solidFill>
              <a:srgbClr val="E0A100"/>
            </a:solidFill>
            <a:prstDash val="solid"/>
          </a:ln>
        </p:spPr>
      </p:sp>
      <p:sp>
        <p:nvSpPr>
          <p:cNvPr id="133" name="CR-30 tipo"/>
          <p:cNvSpPr/>
          <p:nvPr/>
        </p:nvSpPr>
        <p:spPr>
          <a:xfrm>
            <a:off x="7342632" y="3813048"/>
            <a:ext cx="603504" cy="237744"/>
          </a:xfrm>
          <a:prstGeom prst="roundRect">
            <a:avLst>
              <a:gd name="adj" fmla="val 15385"/>
            </a:avLst>
          </a:prstGeom>
          <a:solidFill>
            <a:srgbClr val="C8553D"/>
          </a:solidFill>
          <a:ln/>
        </p:spPr>
      </p:sp>
      <p:sp>
        <p:nvSpPr>
          <p:cNvPr id="134" name="CR-30 numero"/>
          <p:cNvSpPr txBox="1"/>
          <p:nvPr/>
        </p:nvSpPr>
        <p:spPr>
          <a:xfrm>
            <a:off x="7342632" y="3813048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CR-30</a:t>
            </a:r>
            <a:endParaRPr lang="en-US" sz="1100" dirty="0"/>
          </a:p>
        </p:txBody>
      </p:sp>
      <p:sp>
        <p:nvSpPr>
          <p:cNvPr id="135" name="CR-30 tema"/>
          <p:cNvSpPr txBox="1"/>
          <p:nvPr/>
        </p:nvSpPr>
        <p:spPr>
          <a:xfrm>
            <a:off x="8028432" y="3767328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0"/>
                </a:solidFill>
              </a:rPr>
              <a:t>Récord relacionados</a:t>
            </a:r>
            <a:endParaRPr lang="en-US" sz="1100" dirty="0"/>
          </a:p>
        </p:txBody>
      </p:sp>
      <p:sp>
        <p:nvSpPr>
          <p:cNvPr id="136" name="CR-31 fondo"/>
          <p:cNvSpPr/>
          <p:nvPr/>
        </p:nvSpPr>
        <p:spPr>
          <a:xfrm>
            <a:off x="7296912" y="4142232"/>
            <a:ext cx="2066544" cy="329184"/>
          </a:xfrm>
          <a:prstGeom prst="roundRect">
            <a:avLst>
              <a:gd name="adj" fmla="val 13889"/>
            </a:avLst>
          </a:prstGeom>
          <a:solidFill>
            <a:srgbClr val="F3F6F7"/>
          </a:solidFill>
          <a:ln/>
        </p:spPr>
      </p:sp>
      <p:sp>
        <p:nvSpPr>
          <p:cNvPr id="137" name="CR-31 tipo"/>
          <p:cNvSpPr/>
          <p:nvPr/>
        </p:nvSpPr>
        <p:spPr>
          <a:xfrm>
            <a:off x="7342632" y="4187952"/>
            <a:ext cx="603504" cy="237744"/>
          </a:xfrm>
          <a:prstGeom prst="roundRect">
            <a:avLst>
              <a:gd name="adj" fmla="val 15385"/>
            </a:avLst>
          </a:prstGeom>
          <a:solidFill>
            <a:srgbClr val="5C6B73"/>
          </a:solidFill>
          <a:ln/>
        </p:spPr>
      </p:sp>
      <p:sp>
        <p:nvSpPr>
          <p:cNvPr id="138" name="CR-31 numero"/>
          <p:cNvSpPr txBox="1"/>
          <p:nvPr/>
        </p:nvSpPr>
        <p:spPr>
          <a:xfrm>
            <a:off x="7342632" y="4187952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CR-31</a:t>
            </a:r>
            <a:endParaRPr lang="en-US" sz="1100" dirty="0"/>
          </a:p>
        </p:txBody>
      </p:sp>
      <p:sp>
        <p:nvSpPr>
          <p:cNvPr id="139" name="CR-31 tema"/>
          <p:cNvSpPr txBox="1"/>
          <p:nvPr/>
        </p:nvSpPr>
        <p:spPr>
          <a:xfrm>
            <a:off x="8028432" y="4142232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0"/>
                </a:solidFill>
              </a:rPr>
              <a:t>Gerencia de Riesgos</a:t>
            </a:r>
            <a:endParaRPr lang="en-US" sz="1100" dirty="0"/>
          </a:p>
        </p:txBody>
      </p:sp>
      <p:sp>
        <p:nvSpPr>
          <p:cNvPr id="140" name="CR-32 fondo"/>
          <p:cNvSpPr/>
          <p:nvPr/>
        </p:nvSpPr>
        <p:spPr>
          <a:xfrm>
            <a:off x="7296912" y="4517136"/>
            <a:ext cx="2066544" cy="329184"/>
          </a:xfrm>
          <a:prstGeom prst="roundRect">
            <a:avLst>
              <a:gd name="adj" fmla="val 13889"/>
            </a:avLst>
          </a:prstGeom>
          <a:solidFill>
            <a:srgbClr val="F3F6F7"/>
          </a:solidFill>
          <a:ln/>
        </p:spPr>
      </p:sp>
      <p:sp>
        <p:nvSpPr>
          <p:cNvPr id="141" name="CR-32 tipo"/>
          <p:cNvSpPr/>
          <p:nvPr/>
        </p:nvSpPr>
        <p:spPr>
          <a:xfrm>
            <a:off x="7342632" y="4562856"/>
            <a:ext cx="603504" cy="237744"/>
          </a:xfrm>
          <a:prstGeom prst="roundRect">
            <a:avLst>
              <a:gd name="adj" fmla="val 15385"/>
            </a:avLst>
          </a:prstGeom>
          <a:solidFill>
            <a:srgbClr val="6A4C93"/>
          </a:solidFill>
          <a:ln/>
        </p:spPr>
      </p:sp>
      <p:sp>
        <p:nvSpPr>
          <p:cNvPr id="142" name="CR-32 numero"/>
          <p:cNvSpPr txBox="1"/>
          <p:nvPr/>
        </p:nvSpPr>
        <p:spPr>
          <a:xfrm>
            <a:off x="7342632" y="4562856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CR-32</a:t>
            </a:r>
            <a:endParaRPr lang="en-US" sz="1100" dirty="0"/>
          </a:p>
        </p:txBody>
      </p:sp>
      <p:sp>
        <p:nvSpPr>
          <p:cNvPr id="143" name="CR-32 tema"/>
          <p:cNvSpPr txBox="1"/>
          <p:nvPr/>
        </p:nvSpPr>
        <p:spPr>
          <a:xfrm>
            <a:off x="8028432" y="4517136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0"/>
                </a:solidFill>
              </a:rPr>
              <a:t>Ciberseg. y política IA</a:t>
            </a:r>
            <a:endParaRPr lang="en-US" sz="1100" dirty="0"/>
          </a:p>
        </p:txBody>
      </p:sp>
      <p:sp>
        <p:nvSpPr>
          <p:cNvPr id="144" name="Sesion 148"/>
          <p:cNvSpPr/>
          <p:nvPr/>
        </p:nvSpPr>
        <p:spPr>
          <a:xfrm>
            <a:off x="9546336" y="1481328"/>
            <a:ext cx="2066544" cy="676656"/>
          </a:xfrm>
          <a:prstGeom prst="roundRect">
            <a:avLst>
              <a:gd name="adj" fmla="val 10811"/>
            </a:avLst>
          </a:prstGeom>
          <a:solidFill>
            <a:srgbClr val="0B3C49"/>
          </a:solidFill>
          <a:ln/>
        </p:spPr>
      </p:sp>
      <p:sp>
        <p:nvSpPr>
          <p:cNvPr id="145" name="Sesion 148 texto"/>
          <p:cNvSpPr txBox="1"/>
          <p:nvPr/>
        </p:nvSpPr>
        <p:spPr>
          <a:xfrm>
            <a:off x="9683496" y="1481328"/>
            <a:ext cx="1325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Sesión 148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FE3E8"/>
                </a:solidFill>
              </a:rPr>
              <a:t>25 jun 2026</a:t>
            </a:r>
            <a:endParaRPr lang="en-US" sz="1500" dirty="0"/>
          </a:p>
        </p:txBody>
      </p:sp>
      <p:sp>
        <p:nvSpPr>
          <p:cNvPr id="146" name="Sesion 148 total"/>
          <p:cNvSpPr txBox="1"/>
          <p:nvPr/>
        </p:nvSpPr>
        <p:spPr>
          <a:xfrm>
            <a:off x="10963656" y="1481328"/>
            <a:ext cx="530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0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47" name="CR-33 fondo"/>
          <p:cNvSpPr/>
          <p:nvPr/>
        </p:nvSpPr>
        <p:spPr>
          <a:xfrm>
            <a:off x="9546336" y="2267712"/>
            <a:ext cx="2066544" cy="329184"/>
          </a:xfrm>
          <a:prstGeom prst="roundRect">
            <a:avLst>
              <a:gd name="adj" fmla="val 13889"/>
            </a:avLst>
          </a:prstGeom>
          <a:solidFill>
            <a:srgbClr val="FFF1C7"/>
          </a:solidFill>
          <a:ln w="22225">
            <a:solidFill>
              <a:srgbClr val="E0A100"/>
            </a:solidFill>
            <a:prstDash val="solid"/>
          </a:ln>
        </p:spPr>
      </p:sp>
      <p:sp>
        <p:nvSpPr>
          <p:cNvPr id="148" name="CR-33 tipo"/>
          <p:cNvSpPr/>
          <p:nvPr/>
        </p:nvSpPr>
        <p:spPr>
          <a:xfrm>
            <a:off x="9592056" y="2313432"/>
            <a:ext cx="603504" cy="237744"/>
          </a:xfrm>
          <a:prstGeom prst="roundRect">
            <a:avLst>
              <a:gd name="adj" fmla="val 15385"/>
            </a:avLst>
          </a:prstGeom>
          <a:solidFill>
            <a:srgbClr val="0B3C49"/>
          </a:solidFill>
          <a:ln/>
        </p:spPr>
      </p:sp>
      <p:sp>
        <p:nvSpPr>
          <p:cNvPr id="149" name="CR-33 numero"/>
          <p:cNvSpPr txBox="1"/>
          <p:nvPr/>
        </p:nvSpPr>
        <p:spPr>
          <a:xfrm>
            <a:off x="9592056" y="2313432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CR-33</a:t>
            </a:r>
            <a:endParaRPr lang="en-US" sz="1100" dirty="0"/>
          </a:p>
        </p:txBody>
      </p:sp>
      <p:sp>
        <p:nvSpPr>
          <p:cNvPr id="150" name="CR-33 tema"/>
          <p:cNvSpPr txBox="1"/>
          <p:nvPr/>
        </p:nvSpPr>
        <p:spPr>
          <a:xfrm>
            <a:off x="10277856" y="2267712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0"/>
                </a:solidFill>
              </a:rPr>
              <a:t>Gestión integral</a:t>
            </a:r>
            <a:endParaRPr lang="en-US" sz="1100" dirty="0"/>
          </a:p>
        </p:txBody>
      </p:sp>
      <p:sp>
        <p:nvSpPr>
          <p:cNvPr id="151" name="CR-34 fondo"/>
          <p:cNvSpPr/>
          <p:nvPr/>
        </p:nvSpPr>
        <p:spPr>
          <a:xfrm>
            <a:off x="9546336" y="2642616"/>
            <a:ext cx="2066544" cy="329184"/>
          </a:xfrm>
          <a:prstGeom prst="roundRect">
            <a:avLst>
              <a:gd name="adj" fmla="val 13889"/>
            </a:avLst>
          </a:prstGeom>
          <a:solidFill>
            <a:srgbClr val="F3F6F7"/>
          </a:solidFill>
          <a:ln/>
        </p:spPr>
      </p:sp>
      <p:sp>
        <p:nvSpPr>
          <p:cNvPr id="152" name="CR-34 tipo"/>
          <p:cNvSpPr/>
          <p:nvPr/>
        </p:nvSpPr>
        <p:spPr>
          <a:xfrm>
            <a:off x="9592056" y="2688336"/>
            <a:ext cx="603504" cy="237744"/>
          </a:xfrm>
          <a:prstGeom prst="roundRect">
            <a:avLst>
              <a:gd name="adj" fmla="val 15385"/>
            </a:avLst>
          </a:prstGeom>
          <a:solidFill>
            <a:srgbClr val="2A9D8F"/>
          </a:solidFill>
          <a:ln/>
        </p:spPr>
      </p:sp>
      <p:sp>
        <p:nvSpPr>
          <p:cNvPr id="153" name="CR-34 numero"/>
          <p:cNvSpPr txBox="1"/>
          <p:nvPr/>
        </p:nvSpPr>
        <p:spPr>
          <a:xfrm>
            <a:off x="9592056" y="2688336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CR-34</a:t>
            </a:r>
            <a:endParaRPr lang="en-US" sz="1100" dirty="0"/>
          </a:p>
        </p:txBody>
      </p:sp>
      <p:sp>
        <p:nvSpPr>
          <p:cNvPr id="154" name="CR-34 tema"/>
          <p:cNvSpPr txBox="1"/>
          <p:nvPr/>
        </p:nvSpPr>
        <p:spPr>
          <a:xfrm>
            <a:off x="10277856" y="2642616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0"/>
                </a:solidFill>
              </a:rPr>
              <a:t>Continuidad negocio</a:t>
            </a:r>
            <a:endParaRPr lang="en-US" sz="1100" dirty="0"/>
          </a:p>
        </p:txBody>
      </p:sp>
      <p:sp>
        <p:nvSpPr>
          <p:cNvPr id="155" name="CR-35 fondo"/>
          <p:cNvSpPr/>
          <p:nvPr/>
        </p:nvSpPr>
        <p:spPr>
          <a:xfrm>
            <a:off x="9546336" y="3017520"/>
            <a:ext cx="2066544" cy="329184"/>
          </a:xfrm>
          <a:prstGeom prst="roundRect">
            <a:avLst>
              <a:gd name="adj" fmla="val 13889"/>
            </a:avLst>
          </a:prstGeom>
          <a:solidFill>
            <a:srgbClr val="F3F6F7"/>
          </a:solidFill>
          <a:ln/>
        </p:spPr>
      </p:sp>
      <p:sp>
        <p:nvSpPr>
          <p:cNvPr id="156" name="CR-35 tipo"/>
          <p:cNvSpPr/>
          <p:nvPr/>
        </p:nvSpPr>
        <p:spPr>
          <a:xfrm>
            <a:off x="9592056" y="3063240"/>
            <a:ext cx="603504" cy="237744"/>
          </a:xfrm>
          <a:prstGeom prst="roundRect">
            <a:avLst>
              <a:gd name="adj" fmla="val 15385"/>
            </a:avLst>
          </a:prstGeom>
          <a:solidFill>
            <a:srgbClr val="C8553D"/>
          </a:solidFill>
          <a:ln/>
        </p:spPr>
      </p:sp>
      <p:sp>
        <p:nvSpPr>
          <p:cNvPr id="157" name="CR-35 numero"/>
          <p:cNvSpPr txBox="1"/>
          <p:nvPr/>
        </p:nvSpPr>
        <p:spPr>
          <a:xfrm>
            <a:off x="9592056" y="3063240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CR-35</a:t>
            </a:r>
            <a:endParaRPr lang="en-US" sz="1100" dirty="0"/>
          </a:p>
        </p:txBody>
      </p:sp>
      <p:sp>
        <p:nvSpPr>
          <p:cNvPr id="158" name="CR-35 tema"/>
          <p:cNvSpPr txBox="1"/>
          <p:nvPr/>
        </p:nvSpPr>
        <p:spPr>
          <a:xfrm>
            <a:off x="10277856" y="3017520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0"/>
                </a:solidFill>
              </a:rPr>
              <a:t>Avalúos mayo</a:t>
            </a:r>
            <a:endParaRPr lang="en-US" sz="1100" dirty="0"/>
          </a:p>
        </p:txBody>
      </p:sp>
      <p:sp>
        <p:nvSpPr>
          <p:cNvPr id="159" name="CR-36 fondo"/>
          <p:cNvSpPr/>
          <p:nvPr/>
        </p:nvSpPr>
        <p:spPr>
          <a:xfrm>
            <a:off x="9546336" y="3392424"/>
            <a:ext cx="2066544" cy="329184"/>
          </a:xfrm>
          <a:prstGeom prst="roundRect">
            <a:avLst>
              <a:gd name="adj" fmla="val 13889"/>
            </a:avLst>
          </a:prstGeom>
          <a:solidFill>
            <a:srgbClr val="FFF1C7"/>
          </a:solidFill>
          <a:ln w="22225">
            <a:solidFill>
              <a:srgbClr val="E0A100"/>
            </a:solidFill>
            <a:prstDash val="solid"/>
          </a:ln>
        </p:spPr>
      </p:sp>
      <p:sp>
        <p:nvSpPr>
          <p:cNvPr id="160" name="CR-36 tipo"/>
          <p:cNvSpPr/>
          <p:nvPr/>
        </p:nvSpPr>
        <p:spPr>
          <a:xfrm>
            <a:off x="9592056" y="3438144"/>
            <a:ext cx="603504" cy="237744"/>
          </a:xfrm>
          <a:prstGeom prst="roundRect">
            <a:avLst>
              <a:gd name="adj" fmla="val 15385"/>
            </a:avLst>
          </a:prstGeom>
          <a:solidFill>
            <a:srgbClr val="5C6B73"/>
          </a:solidFill>
          <a:ln/>
        </p:spPr>
      </p:sp>
      <p:sp>
        <p:nvSpPr>
          <p:cNvPr id="161" name="CR-36 numero"/>
          <p:cNvSpPr txBox="1"/>
          <p:nvPr/>
        </p:nvSpPr>
        <p:spPr>
          <a:xfrm>
            <a:off x="9592056" y="3438144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CR-36</a:t>
            </a:r>
            <a:endParaRPr lang="en-US" sz="1100" dirty="0"/>
          </a:p>
        </p:txBody>
      </p:sp>
      <p:sp>
        <p:nvSpPr>
          <p:cNvPr id="162" name="CR-36 tema"/>
          <p:cNvSpPr txBox="1"/>
          <p:nvPr/>
        </p:nvSpPr>
        <p:spPr>
          <a:xfrm>
            <a:off x="10277856" y="3392424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0"/>
                </a:solidFill>
              </a:rPr>
              <a:t>Segmentación</a:t>
            </a:r>
            <a:endParaRPr lang="en-US" sz="1100" dirty="0"/>
          </a:p>
        </p:txBody>
      </p:sp>
      <p:sp>
        <p:nvSpPr>
          <p:cNvPr id="163" name="CR-37 fondo"/>
          <p:cNvSpPr/>
          <p:nvPr/>
        </p:nvSpPr>
        <p:spPr>
          <a:xfrm>
            <a:off x="9546336" y="3767328"/>
            <a:ext cx="2066544" cy="329184"/>
          </a:xfrm>
          <a:prstGeom prst="roundRect">
            <a:avLst>
              <a:gd name="adj" fmla="val 13889"/>
            </a:avLst>
          </a:prstGeom>
          <a:solidFill>
            <a:srgbClr val="FFF1C7"/>
          </a:solidFill>
          <a:ln w="22225">
            <a:solidFill>
              <a:srgbClr val="E0A100"/>
            </a:solidFill>
            <a:prstDash val="solid"/>
          </a:ln>
        </p:spPr>
      </p:sp>
      <p:sp>
        <p:nvSpPr>
          <p:cNvPr id="164" name="CR-37 tipo"/>
          <p:cNvSpPr/>
          <p:nvPr/>
        </p:nvSpPr>
        <p:spPr>
          <a:xfrm>
            <a:off x="9592056" y="3813048"/>
            <a:ext cx="603504" cy="237744"/>
          </a:xfrm>
          <a:prstGeom prst="roundRect">
            <a:avLst>
              <a:gd name="adj" fmla="val 15385"/>
            </a:avLst>
          </a:prstGeom>
          <a:solidFill>
            <a:srgbClr val="C8553D"/>
          </a:solidFill>
          <a:ln/>
        </p:spPr>
      </p:sp>
      <p:sp>
        <p:nvSpPr>
          <p:cNvPr id="165" name="CR-37 numero"/>
          <p:cNvSpPr txBox="1"/>
          <p:nvPr/>
        </p:nvSpPr>
        <p:spPr>
          <a:xfrm>
            <a:off x="9592056" y="3813048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CR-37</a:t>
            </a:r>
            <a:endParaRPr lang="en-US" sz="1100" dirty="0"/>
          </a:p>
        </p:txBody>
      </p:sp>
      <p:sp>
        <p:nvSpPr>
          <p:cNvPr id="166" name="CR-37 tema"/>
          <p:cNvSpPr txBox="1"/>
          <p:nvPr/>
        </p:nvSpPr>
        <p:spPr>
          <a:xfrm>
            <a:off x="10277856" y="3767328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0"/>
                </a:solidFill>
              </a:rPr>
              <a:t>Récord relacionados</a:t>
            </a:r>
            <a:endParaRPr lang="en-US" sz="1100" dirty="0"/>
          </a:p>
        </p:txBody>
      </p:sp>
      <p:sp>
        <p:nvSpPr>
          <p:cNvPr id="167" name="CR-38 fondo"/>
          <p:cNvSpPr/>
          <p:nvPr/>
        </p:nvSpPr>
        <p:spPr>
          <a:xfrm>
            <a:off x="9546336" y="4142232"/>
            <a:ext cx="2066544" cy="329184"/>
          </a:xfrm>
          <a:prstGeom prst="roundRect">
            <a:avLst>
              <a:gd name="adj" fmla="val 13889"/>
            </a:avLst>
          </a:prstGeom>
          <a:solidFill>
            <a:srgbClr val="F3F6F7"/>
          </a:solidFill>
          <a:ln/>
        </p:spPr>
      </p:sp>
      <p:sp>
        <p:nvSpPr>
          <p:cNvPr id="168" name="CR-38 tipo"/>
          <p:cNvSpPr/>
          <p:nvPr/>
        </p:nvSpPr>
        <p:spPr>
          <a:xfrm>
            <a:off x="9592056" y="4187952"/>
            <a:ext cx="603504" cy="237744"/>
          </a:xfrm>
          <a:prstGeom prst="roundRect">
            <a:avLst>
              <a:gd name="adj" fmla="val 15385"/>
            </a:avLst>
          </a:prstGeom>
          <a:solidFill>
            <a:srgbClr val="6A4C93"/>
          </a:solidFill>
          <a:ln/>
        </p:spPr>
      </p:sp>
      <p:sp>
        <p:nvSpPr>
          <p:cNvPr id="169" name="CR-38 numero"/>
          <p:cNvSpPr txBox="1"/>
          <p:nvPr/>
        </p:nvSpPr>
        <p:spPr>
          <a:xfrm>
            <a:off x="9592056" y="4187952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CR-38</a:t>
            </a:r>
            <a:endParaRPr lang="en-US" sz="1100" dirty="0"/>
          </a:p>
        </p:txBody>
      </p:sp>
      <p:sp>
        <p:nvSpPr>
          <p:cNvPr id="170" name="CR-38 tema"/>
          <p:cNvSpPr txBox="1"/>
          <p:nvPr/>
        </p:nvSpPr>
        <p:spPr>
          <a:xfrm>
            <a:off x="10277856" y="4142232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0"/>
                </a:solidFill>
              </a:rPr>
              <a:t>Ciberseguridad</a:t>
            </a:r>
            <a:endParaRPr lang="en-US" sz="1100" dirty="0"/>
          </a:p>
        </p:txBody>
      </p:sp>
      <p:sp>
        <p:nvSpPr>
          <p:cNvPr id="171" name="Leyenda Gestión integral"/>
          <p:cNvSpPr/>
          <p:nvPr/>
        </p:nvSpPr>
        <p:spPr>
          <a:xfrm>
            <a:off x="548640" y="609904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0B3C49"/>
          </a:solidFill>
          <a:ln/>
        </p:spPr>
      </p:sp>
      <p:sp>
        <p:nvSpPr>
          <p:cNvPr id="172" name="Leyenda texto Gestión integral"/>
          <p:cNvSpPr txBox="1"/>
          <p:nvPr/>
        </p:nvSpPr>
        <p:spPr>
          <a:xfrm>
            <a:off x="768096" y="6035040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</a:rPr>
              <a:t>Gestión integral</a:t>
            </a:r>
            <a:endParaRPr lang="en-US" sz="1000" dirty="0"/>
          </a:p>
        </p:txBody>
      </p:sp>
      <p:sp>
        <p:nvSpPr>
          <p:cNvPr id="173" name="Leyenda Crédito"/>
          <p:cNvSpPr/>
          <p:nvPr/>
        </p:nvSpPr>
        <p:spPr>
          <a:xfrm>
            <a:off x="1828800" y="609904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C8553D"/>
          </a:solidFill>
          <a:ln/>
        </p:spPr>
      </p:sp>
      <p:sp>
        <p:nvSpPr>
          <p:cNvPr id="174" name="Leyenda texto Crédito"/>
          <p:cNvSpPr txBox="1"/>
          <p:nvPr/>
        </p:nvSpPr>
        <p:spPr>
          <a:xfrm>
            <a:off x="2048256" y="6035040"/>
            <a:ext cx="649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</a:rPr>
              <a:t>Crédito</a:t>
            </a:r>
            <a:endParaRPr lang="en-US" sz="1000" dirty="0"/>
          </a:p>
        </p:txBody>
      </p:sp>
      <p:sp>
        <p:nvSpPr>
          <p:cNvPr id="175" name="Leyenda Liquidez y mercado"/>
          <p:cNvSpPr/>
          <p:nvPr/>
        </p:nvSpPr>
        <p:spPr>
          <a:xfrm>
            <a:off x="2697480" y="609904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3A86A8"/>
          </a:solidFill>
          <a:ln/>
        </p:spPr>
      </p:sp>
      <p:sp>
        <p:nvSpPr>
          <p:cNvPr id="176" name="Leyenda texto Liquidez y mercado"/>
          <p:cNvSpPr txBox="1"/>
          <p:nvPr/>
        </p:nvSpPr>
        <p:spPr>
          <a:xfrm>
            <a:off x="2916936" y="6035040"/>
            <a:ext cx="1197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</a:rPr>
              <a:t>Liquidez y mercado</a:t>
            </a:r>
            <a:endParaRPr lang="en-US" sz="1000" dirty="0"/>
          </a:p>
        </p:txBody>
      </p:sp>
      <p:sp>
        <p:nvSpPr>
          <p:cNvPr id="177" name="Leyenda Seguridad de la información"/>
          <p:cNvSpPr/>
          <p:nvPr/>
        </p:nvSpPr>
        <p:spPr>
          <a:xfrm>
            <a:off x="4114800" y="609904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6A4C93"/>
          </a:solidFill>
          <a:ln/>
        </p:spPr>
      </p:sp>
      <p:sp>
        <p:nvSpPr>
          <p:cNvPr id="178" name="Leyenda texto Seguridad de la información"/>
          <p:cNvSpPr txBox="1"/>
          <p:nvPr/>
        </p:nvSpPr>
        <p:spPr>
          <a:xfrm>
            <a:off x="4334256" y="6035040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</a:rPr>
              <a:t>Seguridad de la información</a:t>
            </a:r>
            <a:endParaRPr lang="en-US" sz="1000" dirty="0"/>
          </a:p>
        </p:txBody>
      </p:sp>
      <p:sp>
        <p:nvSpPr>
          <p:cNvPr id="179" name="Leyenda Operacional y continuidad"/>
          <p:cNvSpPr/>
          <p:nvPr/>
        </p:nvSpPr>
        <p:spPr>
          <a:xfrm>
            <a:off x="5852160" y="609904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/>
        </p:spPr>
      </p:sp>
      <p:sp>
        <p:nvSpPr>
          <p:cNvPr id="180" name="Leyenda texto Operacional y continuidad"/>
          <p:cNvSpPr txBox="1"/>
          <p:nvPr/>
        </p:nvSpPr>
        <p:spPr>
          <a:xfrm>
            <a:off x="6071616" y="6035040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</a:rPr>
              <a:t>Operacional y continuidad</a:t>
            </a:r>
            <a:endParaRPr lang="en-US" sz="1000" dirty="0"/>
          </a:p>
        </p:txBody>
      </p:sp>
      <p:sp>
        <p:nvSpPr>
          <p:cNvPr id="181" name="Leyenda Legal y cumplimiento"/>
          <p:cNvSpPr/>
          <p:nvPr/>
        </p:nvSpPr>
        <p:spPr>
          <a:xfrm>
            <a:off x="7452360" y="609904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8D6E63"/>
          </a:solidFill>
          <a:ln/>
        </p:spPr>
      </p:sp>
      <p:sp>
        <p:nvSpPr>
          <p:cNvPr id="182" name="Leyenda texto Legal y cumplimiento"/>
          <p:cNvSpPr txBox="1"/>
          <p:nvPr/>
        </p:nvSpPr>
        <p:spPr>
          <a:xfrm>
            <a:off x="7671816" y="6035040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</a:rPr>
              <a:t>Legal y cumplimiento</a:t>
            </a:r>
            <a:endParaRPr lang="en-US" sz="1000" dirty="0"/>
          </a:p>
        </p:txBody>
      </p:sp>
      <p:sp>
        <p:nvSpPr>
          <p:cNvPr id="183" name="Leyenda Estratégico y gobierno"/>
          <p:cNvSpPr/>
          <p:nvPr/>
        </p:nvSpPr>
        <p:spPr>
          <a:xfrm>
            <a:off x="8823960" y="609904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5C6B73"/>
          </a:solidFill>
          <a:ln/>
        </p:spPr>
      </p:sp>
      <p:sp>
        <p:nvSpPr>
          <p:cNvPr id="184" name="Leyenda texto Estratégico y gobierno"/>
          <p:cNvSpPr txBox="1"/>
          <p:nvPr/>
        </p:nvSpPr>
        <p:spPr>
          <a:xfrm>
            <a:off x="9043416" y="6035040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</a:rPr>
              <a:t>Estratégico y gobierno</a:t>
            </a:r>
            <a:endParaRPr lang="en-US" sz="1000" dirty="0"/>
          </a:p>
        </p:txBody>
      </p:sp>
      <p:sp>
        <p:nvSpPr>
          <p:cNvPr id="185" name="Leyenda plan"/>
          <p:cNvSpPr/>
          <p:nvPr/>
        </p:nvSpPr>
        <p:spPr>
          <a:xfrm>
            <a:off x="10287000" y="609904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FFF1C7"/>
          </a:solidFill>
          <a:ln w="19050">
            <a:solidFill>
              <a:srgbClr val="E0A100"/>
            </a:solidFill>
            <a:prstDash val="solid"/>
          </a:ln>
        </p:spPr>
      </p:sp>
      <p:sp>
        <p:nvSpPr>
          <p:cNvPr id="186" name="Leyenda plan texto"/>
          <p:cNvSpPr txBox="1"/>
          <p:nvPr/>
        </p:nvSpPr>
        <p:spPr>
          <a:xfrm>
            <a:off x="10506456" y="6035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30"/>
                </a:solidFill>
              </a:rPr>
              <a:t>Con plan de acción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Crédito concentra un tercio de los acuerdos</a:t>
            </a:r>
            <a:endParaRPr lang="en-US" sz="3200" dirty="0"/>
          </a:p>
        </p:txBody>
      </p:sp>
      <p:sp>
        <p:nvSpPr>
          <p:cNvPr id="3" name="Subtitulo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3"/>
                </a:solidFill>
              </a:rPr>
              <a:t>Clasificación de los 38 acuerdos por tipo de riesgo; resaltados en dorado los que tienen plan de acción</a:t>
            </a:r>
            <a:endParaRPr lang="en-US" sz="1500" dirty="0"/>
          </a:p>
        </p:txBody>
      </p:sp>
      <p:graphicFrame>
        <p:nvGraphicFramePr>
          <p:cNvPr id="4" name="Grafico tipos de riesgo" descr=""/>
          <p:cNvGraphicFramePr/>
          <p:nvPr/>
        </p:nvGraphicFramePr>
        <p:xfrm>
          <a:off x="457200" y="1508760"/>
          <a:ext cx="51206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ipo Crédito"/>
          <p:cNvSpPr/>
          <p:nvPr/>
        </p:nvSpPr>
        <p:spPr>
          <a:xfrm>
            <a:off x="5897880" y="1554480"/>
            <a:ext cx="5715000" cy="566928"/>
          </a:xfrm>
          <a:prstGeom prst="roundRect">
            <a:avLst>
              <a:gd name="adj" fmla="val 9677"/>
            </a:avLst>
          </a:prstGeom>
          <a:solidFill>
            <a:srgbClr val="F3F6F7"/>
          </a:solidFill>
          <a:ln/>
        </p:spPr>
      </p:sp>
      <p:sp>
        <p:nvSpPr>
          <p:cNvPr id="6" name="Marca Crédito"/>
          <p:cNvSpPr/>
          <p:nvPr/>
        </p:nvSpPr>
        <p:spPr>
          <a:xfrm>
            <a:off x="6035040" y="1746504"/>
            <a:ext cx="182880" cy="182880"/>
          </a:xfrm>
          <a:prstGeom prst="ellipse">
            <a:avLst/>
          </a:prstGeom>
          <a:solidFill>
            <a:srgbClr val="C8553D"/>
          </a:solidFill>
          <a:ln/>
        </p:spPr>
      </p:sp>
      <p:sp>
        <p:nvSpPr>
          <p:cNvPr id="7" name="Nombre Crédito"/>
          <p:cNvSpPr txBox="1"/>
          <p:nvPr/>
        </p:nvSpPr>
        <p:spPr>
          <a:xfrm>
            <a:off x="6327648" y="155448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0"/>
                </a:solidFill>
              </a:rPr>
              <a:t>Crédito</a:t>
            </a:r>
            <a:endParaRPr lang="en-US" sz="1300" dirty="0"/>
          </a:p>
        </p:txBody>
      </p:sp>
      <p:sp>
        <p:nvSpPr>
          <p:cNvPr id="8" name="Acuerdos Crédito"/>
          <p:cNvSpPr txBox="1"/>
          <p:nvPr/>
        </p:nvSpPr>
        <p:spPr>
          <a:xfrm>
            <a:off x="8503920" y="15544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0"/>
                </a:solidFill>
              </a:rPr>
              <a:t>04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1B2A30"/>
                </a:solidFill>
              </a:rPr>
              <a:t>06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1B2A30"/>
                </a:solidFill>
              </a:rPr>
              <a:t>09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1B2A30"/>
                </a:solidFill>
              </a:rPr>
              <a:t>16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1B2A30"/>
                </a:solidFill>
              </a:rPr>
              <a:t>18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1B2A30"/>
                </a:solidFill>
              </a:rPr>
              <a:t>22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1B2A30"/>
                </a:solidFill>
              </a:rPr>
              <a:t>24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1B2A30"/>
                </a:solidFill>
              </a:rPr>
              <a:t>27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300" b="1" dirty="0">
                <a:solidFill>
                  <a:srgbClr val="1B2A30"/>
                </a:solidFill>
                <a:highlight>
                  <a:srgbClr val="FFD966"/>
                </a:highlight>
              </a:rPr>
              <a:t>28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300" b="1" dirty="0">
                <a:solidFill>
                  <a:srgbClr val="1B2A30"/>
                </a:solidFill>
                <a:highlight>
                  <a:srgbClr val="FFD966"/>
                </a:highlight>
              </a:rPr>
              <a:t>30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1B2A30"/>
                </a:solidFill>
              </a:rPr>
              <a:t>35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300" b="1" dirty="0">
                <a:solidFill>
                  <a:srgbClr val="1B2A30"/>
                </a:solidFill>
                <a:highlight>
                  <a:srgbClr val="FFD966"/>
                </a:highlight>
              </a:rPr>
              <a:t>37</a:t>
            </a:r>
            <a:endParaRPr lang="en-US" sz="1300" dirty="0"/>
          </a:p>
        </p:txBody>
      </p:sp>
      <p:sp>
        <p:nvSpPr>
          <p:cNvPr id="9" name="Tipo Estratégico y gobierno"/>
          <p:cNvSpPr/>
          <p:nvPr/>
        </p:nvSpPr>
        <p:spPr>
          <a:xfrm>
            <a:off x="5897880" y="2221992"/>
            <a:ext cx="5715000" cy="566928"/>
          </a:xfrm>
          <a:prstGeom prst="roundRect">
            <a:avLst>
              <a:gd name="adj" fmla="val 9677"/>
            </a:avLst>
          </a:prstGeom>
          <a:solidFill>
            <a:srgbClr val="F3F6F7"/>
          </a:solidFill>
          <a:ln/>
        </p:spPr>
      </p:sp>
      <p:sp>
        <p:nvSpPr>
          <p:cNvPr id="10" name="Marca Estratégico y gobierno"/>
          <p:cNvSpPr/>
          <p:nvPr/>
        </p:nvSpPr>
        <p:spPr>
          <a:xfrm>
            <a:off x="6035040" y="2414016"/>
            <a:ext cx="182880" cy="182880"/>
          </a:xfrm>
          <a:prstGeom prst="ellipse">
            <a:avLst/>
          </a:prstGeom>
          <a:solidFill>
            <a:srgbClr val="5C6B73"/>
          </a:solidFill>
          <a:ln/>
        </p:spPr>
      </p:sp>
      <p:sp>
        <p:nvSpPr>
          <p:cNvPr id="11" name="Nombre Estratégico y gobierno"/>
          <p:cNvSpPr txBox="1"/>
          <p:nvPr/>
        </p:nvSpPr>
        <p:spPr>
          <a:xfrm>
            <a:off x="6327648" y="222199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0"/>
                </a:solidFill>
              </a:rPr>
              <a:t>Estratégico y gobierno</a:t>
            </a:r>
            <a:endParaRPr lang="en-US" sz="1300" dirty="0"/>
          </a:p>
        </p:txBody>
      </p:sp>
      <p:sp>
        <p:nvSpPr>
          <p:cNvPr id="12" name="Acuerdos Estratégico y gobierno"/>
          <p:cNvSpPr txBox="1"/>
          <p:nvPr/>
        </p:nvSpPr>
        <p:spPr>
          <a:xfrm>
            <a:off x="8503920" y="222199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0"/>
                </a:solidFill>
              </a:rPr>
              <a:t>03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1B2A30"/>
                </a:solidFill>
              </a:rPr>
              <a:t>08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1B2A30"/>
                </a:solidFill>
              </a:rPr>
              <a:t>13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1B2A30"/>
                </a:solidFill>
              </a:rPr>
              <a:t>17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1B2A30"/>
                </a:solidFill>
              </a:rPr>
              <a:t>21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1B2A30"/>
                </a:solidFill>
              </a:rPr>
              <a:t>23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1B2A30"/>
                </a:solidFill>
              </a:rPr>
              <a:t>29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1B2A30"/>
                </a:solidFill>
              </a:rPr>
              <a:t>31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300" b="1" dirty="0">
                <a:solidFill>
                  <a:srgbClr val="1B2A30"/>
                </a:solidFill>
                <a:highlight>
                  <a:srgbClr val="FFD966"/>
                </a:highlight>
              </a:rPr>
              <a:t>36</a:t>
            </a:r>
            <a:endParaRPr lang="en-US" sz="1300" dirty="0"/>
          </a:p>
        </p:txBody>
      </p:sp>
      <p:sp>
        <p:nvSpPr>
          <p:cNvPr id="13" name="Tipo Gestión integral"/>
          <p:cNvSpPr/>
          <p:nvPr/>
        </p:nvSpPr>
        <p:spPr>
          <a:xfrm>
            <a:off x="5897880" y="2889504"/>
            <a:ext cx="5715000" cy="566928"/>
          </a:xfrm>
          <a:prstGeom prst="roundRect">
            <a:avLst>
              <a:gd name="adj" fmla="val 9677"/>
            </a:avLst>
          </a:prstGeom>
          <a:solidFill>
            <a:srgbClr val="F3F6F7"/>
          </a:solidFill>
          <a:ln/>
        </p:spPr>
      </p:sp>
      <p:sp>
        <p:nvSpPr>
          <p:cNvPr id="14" name="Marca Gestión integral"/>
          <p:cNvSpPr/>
          <p:nvPr/>
        </p:nvSpPr>
        <p:spPr>
          <a:xfrm>
            <a:off x="6035040" y="3081528"/>
            <a:ext cx="182880" cy="182880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15" name="Nombre Gestión integral"/>
          <p:cNvSpPr txBox="1"/>
          <p:nvPr/>
        </p:nvSpPr>
        <p:spPr>
          <a:xfrm>
            <a:off x="6327648" y="288950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0"/>
                </a:solidFill>
              </a:rPr>
              <a:t>Gestión integral</a:t>
            </a:r>
            <a:endParaRPr lang="en-US" sz="1300" dirty="0"/>
          </a:p>
        </p:txBody>
      </p:sp>
      <p:sp>
        <p:nvSpPr>
          <p:cNvPr id="16" name="Acuerdos Gestión integral"/>
          <p:cNvSpPr txBox="1"/>
          <p:nvPr/>
        </p:nvSpPr>
        <p:spPr>
          <a:xfrm>
            <a:off x="8503920" y="288950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0"/>
                </a:solidFill>
                <a:highlight>
                  <a:srgbClr val="FFD966"/>
                </a:highlight>
              </a:rPr>
              <a:t>02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300" b="1" dirty="0">
                <a:solidFill>
                  <a:srgbClr val="1B2A30"/>
                </a:solidFill>
                <a:highlight>
                  <a:srgbClr val="FFD966"/>
                </a:highlight>
              </a:rPr>
              <a:t>12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300" b="1" dirty="0">
                <a:solidFill>
                  <a:srgbClr val="1B2A30"/>
                </a:solidFill>
                <a:highlight>
                  <a:srgbClr val="FFD966"/>
                </a:highlight>
              </a:rPr>
              <a:t>20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300" b="1" dirty="0">
                <a:solidFill>
                  <a:srgbClr val="1B2A30"/>
                </a:solidFill>
                <a:highlight>
                  <a:srgbClr val="FFD966"/>
                </a:highlight>
              </a:rPr>
              <a:t>26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300" b="1" dirty="0">
                <a:solidFill>
                  <a:srgbClr val="1B2A30"/>
                </a:solidFill>
                <a:highlight>
                  <a:srgbClr val="FFD966"/>
                </a:highlight>
              </a:rPr>
              <a:t>33</a:t>
            </a:r>
            <a:endParaRPr lang="en-US" sz="1300" dirty="0"/>
          </a:p>
        </p:txBody>
      </p:sp>
      <p:sp>
        <p:nvSpPr>
          <p:cNvPr id="17" name="Tipo Seguridad de la información"/>
          <p:cNvSpPr/>
          <p:nvPr/>
        </p:nvSpPr>
        <p:spPr>
          <a:xfrm>
            <a:off x="5897880" y="3557016"/>
            <a:ext cx="5715000" cy="566928"/>
          </a:xfrm>
          <a:prstGeom prst="roundRect">
            <a:avLst>
              <a:gd name="adj" fmla="val 9677"/>
            </a:avLst>
          </a:prstGeom>
          <a:solidFill>
            <a:srgbClr val="F3F6F7"/>
          </a:solidFill>
          <a:ln/>
        </p:spPr>
      </p:sp>
      <p:sp>
        <p:nvSpPr>
          <p:cNvPr id="18" name="Marca Seguridad de la información"/>
          <p:cNvSpPr/>
          <p:nvPr/>
        </p:nvSpPr>
        <p:spPr>
          <a:xfrm>
            <a:off x="6035040" y="3749040"/>
            <a:ext cx="182880" cy="182880"/>
          </a:xfrm>
          <a:prstGeom prst="ellipse">
            <a:avLst/>
          </a:prstGeom>
          <a:solidFill>
            <a:srgbClr val="6A4C93"/>
          </a:solidFill>
          <a:ln/>
        </p:spPr>
      </p:sp>
      <p:sp>
        <p:nvSpPr>
          <p:cNvPr id="19" name="Nombre Seguridad de la información"/>
          <p:cNvSpPr txBox="1"/>
          <p:nvPr/>
        </p:nvSpPr>
        <p:spPr>
          <a:xfrm>
            <a:off x="6327648" y="3557016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0"/>
                </a:solidFill>
              </a:rPr>
              <a:t>Seguridad de la información</a:t>
            </a:r>
            <a:endParaRPr lang="en-US" sz="1300" dirty="0"/>
          </a:p>
        </p:txBody>
      </p:sp>
      <p:sp>
        <p:nvSpPr>
          <p:cNvPr id="20" name="Acuerdos Seguridad de la información"/>
          <p:cNvSpPr txBox="1"/>
          <p:nvPr/>
        </p:nvSpPr>
        <p:spPr>
          <a:xfrm>
            <a:off x="8503920" y="355701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0"/>
                </a:solidFill>
                <a:highlight>
                  <a:srgbClr val="FFD966"/>
                </a:highlight>
              </a:rPr>
              <a:t>01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300" b="1" dirty="0">
                <a:solidFill>
                  <a:srgbClr val="1B2A30"/>
                </a:solidFill>
                <a:highlight>
                  <a:srgbClr val="FFD966"/>
                </a:highlight>
              </a:rPr>
              <a:t>19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300" b="1" dirty="0">
                <a:solidFill>
                  <a:srgbClr val="1B2A30"/>
                </a:solidFill>
                <a:highlight>
                  <a:srgbClr val="FFD966"/>
                </a:highlight>
              </a:rPr>
              <a:t>25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1B2A30"/>
                </a:solidFill>
              </a:rPr>
              <a:t>32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1B2A30"/>
                </a:solidFill>
              </a:rPr>
              <a:t>38</a:t>
            </a:r>
            <a:endParaRPr lang="en-US" sz="1300" dirty="0"/>
          </a:p>
        </p:txBody>
      </p:sp>
      <p:sp>
        <p:nvSpPr>
          <p:cNvPr id="21" name="Tipo Legal y cumplimiento"/>
          <p:cNvSpPr/>
          <p:nvPr/>
        </p:nvSpPr>
        <p:spPr>
          <a:xfrm>
            <a:off x="5897880" y="4224528"/>
            <a:ext cx="5715000" cy="566928"/>
          </a:xfrm>
          <a:prstGeom prst="roundRect">
            <a:avLst>
              <a:gd name="adj" fmla="val 9677"/>
            </a:avLst>
          </a:prstGeom>
          <a:solidFill>
            <a:srgbClr val="F3F6F7"/>
          </a:solidFill>
          <a:ln/>
        </p:spPr>
      </p:sp>
      <p:sp>
        <p:nvSpPr>
          <p:cNvPr id="22" name="Marca Legal y cumplimiento"/>
          <p:cNvSpPr/>
          <p:nvPr/>
        </p:nvSpPr>
        <p:spPr>
          <a:xfrm>
            <a:off x="6035040" y="4416552"/>
            <a:ext cx="182880" cy="182880"/>
          </a:xfrm>
          <a:prstGeom prst="ellipse">
            <a:avLst/>
          </a:prstGeom>
          <a:solidFill>
            <a:srgbClr val="8D6E63"/>
          </a:solidFill>
          <a:ln/>
        </p:spPr>
      </p:sp>
      <p:sp>
        <p:nvSpPr>
          <p:cNvPr id="23" name="Nombre Legal y cumplimiento"/>
          <p:cNvSpPr txBox="1"/>
          <p:nvPr/>
        </p:nvSpPr>
        <p:spPr>
          <a:xfrm>
            <a:off x="6327648" y="422452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0"/>
                </a:solidFill>
              </a:rPr>
              <a:t>Legal y cumplimiento</a:t>
            </a:r>
            <a:endParaRPr lang="en-US" sz="1300" dirty="0"/>
          </a:p>
        </p:txBody>
      </p:sp>
      <p:sp>
        <p:nvSpPr>
          <p:cNvPr id="24" name="Acuerdos Legal y cumplimiento"/>
          <p:cNvSpPr txBox="1"/>
          <p:nvPr/>
        </p:nvSpPr>
        <p:spPr>
          <a:xfrm>
            <a:off x="8503920" y="422452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0"/>
                </a:solidFill>
              </a:rPr>
              <a:t>10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300" b="1" dirty="0">
                <a:solidFill>
                  <a:srgbClr val="1B2A30"/>
                </a:solidFill>
                <a:highlight>
                  <a:srgbClr val="FFD966"/>
                </a:highlight>
              </a:rPr>
              <a:t>11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1B2A30"/>
                </a:solidFill>
              </a:rPr>
              <a:t>14</a:t>
            </a:r>
            <a:endParaRPr lang="en-US" sz="1300" dirty="0"/>
          </a:p>
        </p:txBody>
      </p:sp>
      <p:sp>
        <p:nvSpPr>
          <p:cNvPr id="25" name="Tipo Liquidez y mercado"/>
          <p:cNvSpPr/>
          <p:nvPr/>
        </p:nvSpPr>
        <p:spPr>
          <a:xfrm>
            <a:off x="5897880" y="4892040"/>
            <a:ext cx="5715000" cy="566928"/>
          </a:xfrm>
          <a:prstGeom prst="roundRect">
            <a:avLst>
              <a:gd name="adj" fmla="val 9677"/>
            </a:avLst>
          </a:prstGeom>
          <a:solidFill>
            <a:srgbClr val="F3F6F7"/>
          </a:solidFill>
          <a:ln/>
        </p:spPr>
      </p:sp>
      <p:sp>
        <p:nvSpPr>
          <p:cNvPr id="26" name="Marca Liquidez y mercado"/>
          <p:cNvSpPr/>
          <p:nvPr/>
        </p:nvSpPr>
        <p:spPr>
          <a:xfrm>
            <a:off x="6035040" y="5084064"/>
            <a:ext cx="182880" cy="182880"/>
          </a:xfrm>
          <a:prstGeom prst="ellipse">
            <a:avLst/>
          </a:prstGeom>
          <a:solidFill>
            <a:srgbClr val="3A86A8"/>
          </a:solidFill>
          <a:ln/>
        </p:spPr>
      </p:sp>
      <p:sp>
        <p:nvSpPr>
          <p:cNvPr id="27" name="Nombre Liquidez y mercado"/>
          <p:cNvSpPr txBox="1"/>
          <p:nvPr/>
        </p:nvSpPr>
        <p:spPr>
          <a:xfrm>
            <a:off x="6327648" y="489204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0"/>
                </a:solidFill>
              </a:rPr>
              <a:t>Liquidez y mercado</a:t>
            </a:r>
            <a:endParaRPr lang="en-US" sz="1300" dirty="0"/>
          </a:p>
        </p:txBody>
      </p:sp>
      <p:sp>
        <p:nvSpPr>
          <p:cNvPr id="28" name="Acuerdos Liquidez y mercado"/>
          <p:cNvSpPr txBox="1"/>
          <p:nvPr/>
        </p:nvSpPr>
        <p:spPr>
          <a:xfrm>
            <a:off x="8503920" y="48920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0"/>
                </a:solidFill>
              </a:rPr>
              <a:t>05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1B2A30"/>
                </a:solidFill>
              </a:rPr>
              <a:t>07</a:t>
            </a:r>
            <a:endParaRPr lang="en-US" sz="1300" dirty="0"/>
          </a:p>
        </p:txBody>
      </p:sp>
      <p:sp>
        <p:nvSpPr>
          <p:cNvPr id="29" name="Tipo Operacional y continuidad"/>
          <p:cNvSpPr/>
          <p:nvPr/>
        </p:nvSpPr>
        <p:spPr>
          <a:xfrm>
            <a:off x="5897880" y="5559552"/>
            <a:ext cx="5715000" cy="566928"/>
          </a:xfrm>
          <a:prstGeom prst="roundRect">
            <a:avLst>
              <a:gd name="adj" fmla="val 9677"/>
            </a:avLst>
          </a:prstGeom>
          <a:solidFill>
            <a:srgbClr val="F3F6F7"/>
          </a:solidFill>
          <a:ln/>
        </p:spPr>
      </p:sp>
      <p:sp>
        <p:nvSpPr>
          <p:cNvPr id="30" name="Marca Operacional y continuidad"/>
          <p:cNvSpPr/>
          <p:nvPr/>
        </p:nvSpPr>
        <p:spPr>
          <a:xfrm>
            <a:off x="6035040" y="5751576"/>
            <a:ext cx="182880" cy="1828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1" name="Nombre Operacional y continuidad"/>
          <p:cNvSpPr txBox="1"/>
          <p:nvPr/>
        </p:nvSpPr>
        <p:spPr>
          <a:xfrm>
            <a:off x="6327648" y="555955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0"/>
                </a:solidFill>
              </a:rPr>
              <a:t>Operacional y continuidad</a:t>
            </a:r>
            <a:endParaRPr lang="en-US" sz="1300" dirty="0"/>
          </a:p>
        </p:txBody>
      </p:sp>
      <p:sp>
        <p:nvSpPr>
          <p:cNvPr id="32" name="Acuerdos Operacional y continuidad"/>
          <p:cNvSpPr txBox="1"/>
          <p:nvPr/>
        </p:nvSpPr>
        <p:spPr>
          <a:xfrm>
            <a:off x="8503920" y="555955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0"/>
                </a:solidFill>
              </a:rPr>
              <a:t>15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1B2A30"/>
                </a:solidFill>
              </a:rPr>
              <a:t>34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riesgo reputacional sube a Medio desde mayo</a:t>
            </a:r>
            <a:endParaRPr lang="en-US" sz="3200" dirty="0"/>
          </a:p>
        </p:txBody>
      </p:sp>
      <p:sp>
        <p:nvSpPr>
          <p:cNvPr id="3" name="Subtitulo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3"/>
                </a:solidFill>
              </a:rPr>
              <a:t>Nivel de riesgo aprobado en cada Informe de Gestión Integral de Riesgos</a:t>
            </a:r>
            <a:endParaRPr lang="en-US" sz="1500" dirty="0"/>
          </a:p>
        </p:txBody>
      </p:sp>
      <p:graphicFrame>
        <p:nvGraphicFramePr>
          <p:cNvPr id="5" name="Semaforo de riesg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7665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24128"/>
                <a:gridCol w="1024128"/>
                <a:gridCol w="1024128"/>
                <a:gridCol w="1024128"/>
                <a:gridCol w="102412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riesgo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S-144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FE3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S-145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FE3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CR-12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S-146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FE3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CR-20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S-147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FE3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CR-26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S-148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FE3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CR-33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Crédito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55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Liquidez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55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D3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D3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D3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D3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D3C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55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Reputacional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D3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D3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D3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3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55B"/>
                    </a:solidFill>
                  </a:tcPr>
                </a:tc>
              </a:tr>
            </a:tbl>
          </a:graphicData>
        </a:graphic>
      </p:graphicFrame>
      <p:sp>
        <p:nvSpPr>
          <p:cNvPr id="5" name="Recomendacion"/>
          <p:cNvSpPr txBox="1"/>
          <p:nvPr/>
        </p:nvSpPr>
        <p:spPr>
          <a:xfrm>
            <a:off x="548640" y="5486400"/>
            <a:ext cx="6766560" cy="685800"/>
          </a:xfrm>
          <a:prstGeom prst="rect">
            <a:avLst/>
          </a:prstGeom>
          <a:solidFill>
            <a:srgbClr val="FFF1C7"/>
          </a:solidFill>
          <a:ln w="15875">
            <a:solidFill>
              <a:srgbClr val="E0A100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0"/>
                </a:solidFill>
              </a:rPr>
              <a:t>Recomendación recurrente: </a:t>
            </a:r>
            <a:pPr indent="0" marL="0">
              <a:buNone/>
            </a:pPr>
            <a:r>
              <a:rPr lang="en-US" sz="1300" dirty="0">
                <a:solidFill>
                  <a:srgbClr val="1B2A30"/>
                </a:solidFill>
              </a:rPr>
              <a:t>estrategia integral de revisión de cartera, diversificación de depósitos y seguimiento a planes de acción derivados de quejas.</a:t>
            </a:r>
            <a:endParaRPr lang="en-US" sz="1300" dirty="0"/>
          </a:p>
        </p:txBody>
      </p:sp>
      <p:sp>
        <p:nvSpPr>
          <p:cNvPr id="6" name="Indicadores titulo"/>
          <p:cNvSpPr txBox="1"/>
          <p:nvPr/>
        </p:nvSpPr>
        <p:spPr>
          <a:xfrm>
            <a:off x="777240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</a:rPr>
              <a:t>Indicadores de riesgo de crédito</a:t>
            </a:r>
            <a:endParaRPr lang="en-US" sz="1500" dirty="0"/>
          </a:p>
        </p:txBody>
      </p:sp>
      <p:sp>
        <p:nvSpPr>
          <p:cNvPr id="7" name="Indicador 1"/>
          <p:cNvSpPr/>
          <p:nvPr/>
        </p:nvSpPr>
        <p:spPr>
          <a:xfrm>
            <a:off x="7772400" y="2011680"/>
            <a:ext cx="3840480" cy="1207008"/>
          </a:xfrm>
          <a:prstGeom prst="roundRect">
            <a:avLst>
              <a:gd name="adj" fmla="val 6061"/>
            </a:avLst>
          </a:prstGeom>
          <a:solidFill>
            <a:srgbClr val="F3F6F7"/>
          </a:solidFill>
          <a:ln/>
        </p:spPr>
      </p:sp>
      <p:sp>
        <p:nvSpPr>
          <p:cNvPr id="8" name="Indicador valor 1"/>
          <p:cNvSpPr txBox="1"/>
          <p:nvPr/>
        </p:nvSpPr>
        <p:spPr>
          <a:xfrm>
            <a:off x="7955280" y="212140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→ 19</a:t>
            </a:r>
            <a:endParaRPr lang="en-US" sz="2600" dirty="0"/>
          </a:p>
        </p:txBody>
      </p:sp>
      <p:sp>
        <p:nvSpPr>
          <p:cNvPr id="9" name="Indicador etiqueta 1"/>
          <p:cNvSpPr txBox="1"/>
          <p:nvPr/>
        </p:nvSpPr>
        <p:spPr>
          <a:xfrm>
            <a:off x="7955280" y="26700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</a:rPr>
              <a:t>créditos/mes migrados a categoría E (S-144 a S-147)</a:t>
            </a:r>
            <a:endParaRPr lang="en-US" sz="1200" dirty="0"/>
          </a:p>
        </p:txBody>
      </p:sp>
      <p:sp>
        <p:nvSpPr>
          <p:cNvPr id="10" name="Indicador 2"/>
          <p:cNvSpPr/>
          <p:nvPr/>
        </p:nvSpPr>
        <p:spPr>
          <a:xfrm>
            <a:off x="7772400" y="3383280"/>
            <a:ext cx="3840480" cy="1207008"/>
          </a:xfrm>
          <a:prstGeom prst="roundRect">
            <a:avLst>
              <a:gd name="adj" fmla="val 6061"/>
            </a:avLst>
          </a:prstGeom>
          <a:solidFill>
            <a:srgbClr val="F3F6F7"/>
          </a:solidFill>
          <a:ln/>
        </p:spPr>
      </p:sp>
      <p:sp>
        <p:nvSpPr>
          <p:cNvPr id="11" name="Indicador valor 2"/>
          <p:cNvSpPr txBox="1"/>
          <p:nvPr/>
        </p:nvSpPr>
        <p:spPr>
          <a:xfrm>
            <a:off x="7955280" y="349300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$10.78M → $8.59M</a:t>
            </a:r>
            <a:endParaRPr lang="en-US" sz="2600" dirty="0"/>
          </a:p>
        </p:txBody>
      </p:sp>
      <p:sp>
        <p:nvSpPr>
          <p:cNvPr id="12" name="Indicador etiqueta 2"/>
          <p:cNvSpPr txBox="1"/>
          <p:nvPr/>
        </p:nvSpPr>
        <p:spPr>
          <a:xfrm>
            <a:off x="7955280" y="40416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</a:rPr>
              <a:t>cancelaciones anticipadas en 6 meses</a:t>
            </a:r>
            <a:endParaRPr lang="en-US" sz="1200" dirty="0"/>
          </a:p>
        </p:txBody>
      </p:sp>
      <p:sp>
        <p:nvSpPr>
          <p:cNvPr id="13" name="Indicador 3"/>
          <p:cNvSpPr/>
          <p:nvPr/>
        </p:nvSpPr>
        <p:spPr>
          <a:xfrm>
            <a:off x="7772400" y="4754880"/>
            <a:ext cx="3840480" cy="1207008"/>
          </a:xfrm>
          <a:prstGeom prst="roundRect">
            <a:avLst>
              <a:gd name="adj" fmla="val 6061"/>
            </a:avLst>
          </a:prstGeom>
          <a:solidFill>
            <a:srgbClr val="F3F6F7"/>
          </a:solidFill>
          <a:ln/>
        </p:spPr>
      </p:sp>
      <p:sp>
        <p:nvSpPr>
          <p:cNvPr id="14" name="Indicador valor 3"/>
          <p:cNvSpPr txBox="1"/>
          <p:nvPr/>
        </p:nvSpPr>
        <p:spPr>
          <a:xfrm>
            <a:off x="7955280" y="486460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1.53% → 1.48%</a:t>
            </a:r>
            <a:endParaRPr lang="en-US" sz="2600" dirty="0"/>
          </a:p>
        </p:txBody>
      </p:sp>
      <p:sp>
        <p:nvSpPr>
          <p:cNvPr id="15" name="Indicador etiqueta 3"/>
          <p:cNvSpPr txBox="1"/>
          <p:nvPr/>
        </p:nvSpPr>
        <p:spPr>
          <a:xfrm>
            <a:off x="7955280" y="54132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</a:rPr>
              <a:t>crecimiento interanual de cartera; tendencia decreciente en S-148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acuerdos con planes de acción en curso</a:t>
            </a:r>
            <a:endParaRPr lang="en-US" sz="3200" dirty="0"/>
          </a:p>
        </p:txBody>
      </p:sp>
      <p:sp>
        <p:nvSpPr>
          <p:cNvPr id="3" name="Subtitulo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3"/>
                </a:solidFill>
              </a:rPr>
              <a:t>Instrucciones, solicitudes y recomendaciones de seguimiento derivadas de los acuerdos</a:t>
            </a:r>
            <a:endParaRPr lang="en-US" sz="1500" dirty="0"/>
          </a:p>
        </p:txBody>
      </p:sp>
      <p:graphicFrame>
        <p:nvGraphicFramePr>
          <p:cNvPr id="6" name="Tabla planes de acci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1691640"/>
                <a:gridCol w="4572000"/>
                <a:gridCol w="26060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Acuerdo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riesgo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de acción / instrucción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CR-01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A4C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 de la información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Actualizar todos los planes de acción por hallazgos de análisis de vulnerabilidad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 de la Información / Gerencia de Sistemas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CR-02 · 12 · 20 · 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144–147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integral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Revisar cartera (traslados, cancelaciones, líneas con más reservas); diversificar depósitos; verificar beneficiarios de depositantes &gt; 65 años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Administración de Riesgos y áreas de negocio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CR-11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D6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y cumplimiento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Seguimiento oportuno de litigios y procesos sancionatorios hasta su resolución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Gerencia Legal y de Cumplimiento Normativo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CR-19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A4C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 de la información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Atender recomendaciones de alertas de fraude digital (DBFD)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 de la Información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CR-25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A4C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 de la información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Priorizar remediación por nivel de riesgo y asignar recursos a los planes de acción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Gerencia de Sistemas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CR-28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5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Crédito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Presentar al Consejo propuesta de ajuste del pago por informe de avalúo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Administración de Riesgos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CR-30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5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Crédito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Monitorear y comunicar a empleados con categoría de riesgo distinta de A1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Administración de Riesgos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CR-33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integral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Analizar causas del traslado de créditos; plan de comunicación y educación financiera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Gerencia de Negocios, Mercadeo, Comité de Educación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CR-36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7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Estratégico y gobierno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Compartir segmentación con Mercadeo; punto de equilibrio de agencias Usulután y Sonsonate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Mercadeo / Gerencia de Finanzas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CR-37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5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Crédito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Programas de educación financiera para empleados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Educación y Responsabilidad Social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ite de Riesgos">
  <a:themeElements>
    <a:clrScheme name="Comite de Riesgos">
      <a:dk1>
        <a:srgbClr val="1B2A30"/>
      </a:dk1>
      <a:lt1>
        <a:srgbClr val="FFFFFF"/>
      </a:lt1>
      <a:dk2>
        <a:srgbClr val="0B3C49"/>
      </a:dk2>
      <a:lt2>
        <a:srgbClr val="EEF3F4"/>
      </a:lt2>
      <a:accent1>
        <a:srgbClr val="C8553D"/>
      </a:accent1>
      <a:accent2>
        <a:srgbClr val="3A86A8"/>
      </a:accent2>
      <a:accent3>
        <a:srgbClr val="6A4C93"/>
      </a:accent3>
      <a:accent4>
        <a:srgbClr val="2A9D8F"/>
      </a:accent4>
      <a:accent5>
        <a:srgbClr val="E0A100"/>
      </a:accent5>
      <a:accent6>
        <a:srgbClr val="8D6E63"/>
      </a:accent6>
      <a:hlink>
        <a:srgbClr val="3A86A8"/>
      </a:hlink>
      <a:folHlink>
        <a:srgbClr val="6A4C93"/>
      </a:folHlink>
    </a:clrScheme>
    <a:fontScheme name="Comite de Riesgo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Acuerdos del Comité de Riesgos – Enero a junio 2026</dc:title>
  <dc:subject>DAR-2026-55</dc:subject>
  <dc:creator>Departamento de Administración de Riesgos</dc:creator>
  <cp:lastModifiedBy>Departamento de Administración de Riesgos</cp:lastModifiedBy>
  <cp:revision>1</cp:revision>
  <dcterms:created xsi:type="dcterms:W3CDTF">2026-10-09T20:57:20Z</dcterms:created>
  <dcterms:modified xsi:type="dcterms:W3CDTF">2026-10-09T20:57:20Z</dcterms:modified>
</cp:coreProperties>
</file>