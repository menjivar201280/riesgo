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Resumen: 27 actividades, avance promedio 88.1%, 13 completadas y 14 en proceso. Prioridades: Plan de Riesgo Operacional 2026 y 3.ª prueba de continuidad (45%), Proyectos a largo plazo (63%), Eventos de riesgo informados (67%).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image" Target="../media/image-1-13.png"/><Relationship Id="rId14" Type="http://schemas.openxmlformats.org/officeDocument/2006/relationships/image" Target="../media/image-1-14.png"/><Relationship Id="rId15" Type="http://schemas.openxmlformats.org/officeDocument/2006/relationships/image" Target="../media/image-1-15.png"/><Relationship Id="rId16" Type="http://schemas.openxmlformats.org/officeDocument/2006/relationships/image" Target="../media/image-1-16.png"/><Relationship Id="rId17" Type="http://schemas.openxmlformats.org/officeDocument/2006/relationships/image" Target="../media/image-1-17.png"/><Relationship Id="rId18" Type="http://schemas.openxmlformats.org/officeDocument/2006/relationships/image" Target="../media/image-1-18.png"/><Relationship Id="rId19" Type="http://schemas.openxmlformats.org/officeDocument/2006/relationships/image" Target="../media/image-1-19.png"/><Relationship Id="rId20" Type="http://schemas.openxmlformats.org/officeDocument/2006/relationships/image" Target="../media/image-1-20.png"/><Relationship Id="rId21" Type="http://schemas.openxmlformats.org/officeDocument/2006/relationships/image" Target="../media/image-1-21.png"/><Relationship Id="rId22" Type="http://schemas.openxmlformats.org/officeDocument/2006/relationships/slideLayout" Target="../slideLayouts/slideLayout1.xml"/><Relationship Id="rId2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3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9260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6FDE"/>
                </a:solidFill>
              </a:rPr>
              <a:t>INFORME SEMANAL · AVANCE DE ACTIVIDADES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603504"/>
            <a:ext cx="6720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B3D"/>
                </a:solidFill>
              </a:rPr>
              <a:t>Departamento de Administración de Riesgos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217359" y="274320"/>
            <a:ext cx="1051560" cy="859536"/>
          </a:xfrm>
          <a:prstGeom prst="roundRect">
            <a:avLst>
              <a:gd name="adj" fmla="val 10638"/>
            </a:avLst>
          </a:prstGeom>
          <a:solidFill>
            <a:srgbClr val="FFFFFF"/>
          </a:solidFill>
          <a:ln w="9525">
            <a:solidFill>
              <a:srgbClr val="E3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45375" y="411480"/>
            <a:ext cx="219456" cy="21945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345375" y="621792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B3D"/>
                </a:solidFill>
              </a:rPr>
              <a:t>27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7345375" y="932688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Actividades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8387791" y="274320"/>
            <a:ext cx="1051560" cy="859536"/>
          </a:xfrm>
          <a:prstGeom prst="roundRect">
            <a:avLst>
              <a:gd name="adj" fmla="val 10638"/>
            </a:avLst>
          </a:prstGeom>
          <a:solidFill>
            <a:srgbClr val="FFFFFF"/>
          </a:solidFill>
          <a:ln w="9525">
            <a:solidFill>
              <a:srgbClr val="E3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15807" y="411480"/>
            <a:ext cx="219456" cy="219456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8515807" y="621792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F6FDE"/>
                </a:solidFill>
              </a:rPr>
              <a:t>88,1%</a:t>
            </a:r>
            <a:endParaRPr lang="en-US" sz="2000" dirty="0"/>
          </a:p>
        </p:txBody>
      </p:sp>
      <p:sp>
        <p:nvSpPr>
          <p:cNvPr id="11" name="Text 7"/>
          <p:cNvSpPr txBox="1"/>
          <p:nvPr/>
        </p:nvSpPr>
        <p:spPr>
          <a:xfrm>
            <a:off x="8515807" y="932688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Avance prom.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9558223" y="274320"/>
            <a:ext cx="1051560" cy="859536"/>
          </a:xfrm>
          <a:prstGeom prst="roundRect">
            <a:avLst>
              <a:gd name="adj" fmla="val 10638"/>
            </a:avLst>
          </a:prstGeom>
          <a:solidFill>
            <a:srgbClr val="FFFFFF"/>
          </a:solidFill>
          <a:ln w="9525">
            <a:solidFill>
              <a:srgbClr val="E3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86239" y="411480"/>
            <a:ext cx="219456" cy="219456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9686239" y="621792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A34A"/>
                </a:solidFill>
              </a:rPr>
              <a:t>13</a:t>
            </a:r>
            <a:endParaRPr lang="en-US" sz="2000" dirty="0"/>
          </a:p>
        </p:txBody>
      </p:sp>
      <p:sp>
        <p:nvSpPr>
          <p:cNvPr id="15" name="Text 10"/>
          <p:cNvSpPr txBox="1"/>
          <p:nvPr/>
        </p:nvSpPr>
        <p:spPr>
          <a:xfrm>
            <a:off x="9686239" y="932688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Completadas</a:t>
            </a:r>
            <a:endParaRPr lang="en-US" sz="1000" dirty="0"/>
          </a:p>
        </p:txBody>
      </p:sp>
      <p:sp>
        <p:nvSpPr>
          <p:cNvPr id="16" name="Shape 11"/>
          <p:cNvSpPr/>
          <p:nvPr/>
        </p:nvSpPr>
        <p:spPr>
          <a:xfrm>
            <a:off x="10728655" y="274320"/>
            <a:ext cx="1051560" cy="859536"/>
          </a:xfrm>
          <a:prstGeom prst="roundRect">
            <a:avLst>
              <a:gd name="adj" fmla="val 10638"/>
            </a:avLst>
          </a:prstGeom>
          <a:solidFill>
            <a:srgbClr val="FFFFFF"/>
          </a:solidFill>
          <a:ln w="9525">
            <a:solidFill>
              <a:srgbClr val="E3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56671" y="411480"/>
            <a:ext cx="219456" cy="219456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0856671" y="621792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07B12"/>
                </a:solidFill>
              </a:rPr>
              <a:t>14</a:t>
            </a:r>
            <a:endParaRPr lang="en-US" sz="2000" dirty="0"/>
          </a:p>
        </p:txBody>
      </p:sp>
      <p:sp>
        <p:nvSpPr>
          <p:cNvPr id="19" name="Text 13"/>
          <p:cNvSpPr txBox="1"/>
          <p:nvPr/>
        </p:nvSpPr>
        <p:spPr>
          <a:xfrm>
            <a:off x="10856671" y="932688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En proceso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411480" y="1243584"/>
            <a:ext cx="2705024" cy="5285232"/>
          </a:xfrm>
          <a:prstGeom prst="roundRect">
            <a:avLst>
              <a:gd name="adj" fmla="val 4056"/>
            </a:avLst>
          </a:prstGeom>
          <a:solidFill>
            <a:srgbClr val="FFFFFF"/>
          </a:solidFill>
          <a:ln w="9525">
            <a:solidFill>
              <a:srgbClr val="E3E7E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502920" y="1335024"/>
            <a:ext cx="2522144" cy="841248"/>
          </a:xfrm>
          <a:prstGeom prst="roundRect">
            <a:avLst>
              <a:gd name="adj" fmla="val 10870"/>
            </a:avLst>
          </a:prstGeom>
          <a:solidFill>
            <a:srgbClr val="E3F5F2"/>
          </a:solidFill>
          <a:ln w="12700">
            <a:solidFill>
              <a:srgbClr val="E3F5F2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612648" y="1408176"/>
            <a:ext cx="420624" cy="420624"/>
          </a:xfrm>
          <a:prstGeom prst="ellipse">
            <a:avLst/>
          </a:prstGeom>
          <a:solidFill>
            <a:srgbClr val="0E9F8E"/>
          </a:solidFill>
          <a:ln w="12700">
            <a:solidFill>
              <a:srgbClr val="0E9F8E"/>
            </a:solidFill>
            <a:prstDash val="solid"/>
          </a:ln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7804" y="1513332"/>
            <a:ext cx="210312" cy="210312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1143000" y="1389888"/>
            <a:ext cx="1836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3D"/>
                </a:solidFill>
              </a:rPr>
              <a:t>CUMPLIMIENTO REGULATORIO</a:t>
            </a:r>
            <a:endParaRPr lang="en-US" sz="1300" dirty="0"/>
          </a:p>
        </p:txBody>
      </p:sp>
      <p:sp>
        <p:nvSpPr>
          <p:cNvPr id="25" name="Text 18"/>
          <p:cNvSpPr txBox="1"/>
          <p:nvPr/>
        </p:nvSpPr>
        <p:spPr>
          <a:xfrm>
            <a:off x="612648" y="1865376"/>
            <a:ext cx="15163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9F8E"/>
                </a:solidFill>
              </a:rPr>
              <a:t>Requerimientos SSF y acuerdos</a:t>
            </a:r>
            <a:endParaRPr lang="en-US" sz="1000" dirty="0"/>
          </a:p>
        </p:txBody>
      </p:sp>
      <p:sp>
        <p:nvSpPr>
          <p:cNvPr id="26" name="Text 19"/>
          <p:cNvSpPr txBox="1"/>
          <p:nvPr/>
        </p:nvSpPr>
        <p:spPr>
          <a:xfrm>
            <a:off x="2156384" y="1700784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0E9F8E"/>
                </a:solidFill>
              </a:rPr>
              <a:t>98%</a:t>
            </a:r>
            <a:endParaRPr lang="en-US" sz="2200" dirty="0"/>
          </a:p>
        </p:txBody>
      </p:sp>
      <p:sp>
        <p:nvSpPr>
          <p:cNvPr id="27" name="Text 20"/>
          <p:cNvSpPr txBox="1"/>
          <p:nvPr/>
        </p:nvSpPr>
        <p:spPr>
          <a:xfrm>
            <a:off x="1973504" y="1965960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6 actividades</a:t>
            </a:r>
            <a:endParaRPr lang="en-US" sz="900" dirty="0"/>
          </a:p>
        </p:txBody>
      </p:sp>
      <p:sp>
        <p:nvSpPr>
          <p:cNvPr id="28" name="Text 21"/>
          <p:cNvSpPr txBox="1"/>
          <p:nvPr/>
        </p:nvSpPr>
        <p:spPr>
          <a:xfrm>
            <a:off x="612648" y="2286000"/>
            <a:ext cx="23026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F2937"/>
                </a:solidFill>
              </a:rPr>
              <a:t>Req. DS-SABAO-BCS-BC-23486 (Riesgos Específicos)</a:t>
            </a:r>
            <a:endParaRPr lang="en-US" sz="1050" dirty="0"/>
          </a:p>
        </p:txBody>
      </p:sp>
      <p:sp>
        <p:nvSpPr>
          <p:cNvPr id="29" name="Text 22"/>
          <p:cNvSpPr txBox="1"/>
          <p:nvPr/>
        </p:nvSpPr>
        <p:spPr>
          <a:xfrm>
            <a:off x="2366696" y="2596896"/>
            <a:ext cx="3657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6A34A"/>
                </a:solidFill>
              </a:rPr>
              <a:t>100%</a:t>
            </a:r>
            <a:endParaRPr lang="en-US" sz="1050" dirty="0"/>
          </a:p>
        </p:txBody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78176" y="2624328"/>
            <a:ext cx="128016" cy="128016"/>
          </a:xfrm>
          <a:prstGeom prst="rect">
            <a:avLst/>
          </a:prstGeom>
        </p:spPr>
      </p:pic>
      <p:sp>
        <p:nvSpPr>
          <p:cNvPr id="31" name="Shape 23"/>
          <p:cNvSpPr/>
          <p:nvPr/>
        </p:nvSpPr>
        <p:spPr>
          <a:xfrm>
            <a:off x="612648" y="2665476"/>
            <a:ext cx="1708328" cy="50292"/>
          </a:xfrm>
          <a:prstGeom prst="roundRect">
            <a:avLst>
              <a:gd name="adj" fmla="val 49091"/>
            </a:avLst>
          </a:prstGeom>
          <a:solidFill>
            <a:srgbClr val="E5E9F0"/>
          </a:solidFill>
          <a:ln w="12700">
            <a:solidFill>
              <a:srgbClr val="E5E9F0"/>
            </a:solidFill>
            <a:prstDash val="solid"/>
          </a:ln>
        </p:spPr>
      </p:sp>
      <p:sp>
        <p:nvSpPr>
          <p:cNvPr id="32" name="Shape 24"/>
          <p:cNvSpPr/>
          <p:nvPr/>
        </p:nvSpPr>
        <p:spPr>
          <a:xfrm>
            <a:off x="612648" y="2665476"/>
            <a:ext cx="1708328" cy="50292"/>
          </a:xfrm>
          <a:prstGeom prst="roundRect">
            <a:avLst>
              <a:gd name="adj" fmla="val 49091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3" name="Text 25"/>
          <p:cNvSpPr txBox="1"/>
          <p:nvPr/>
        </p:nvSpPr>
        <p:spPr>
          <a:xfrm>
            <a:off x="612648" y="2788920"/>
            <a:ext cx="2302688" cy="132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Remisión de pruebas de descargo.</a:t>
            </a:r>
            <a:endParaRPr lang="en-US" sz="900" dirty="0"/>
          </a:p>
        </p:txBody>
      </p:sp>
      <p:sp>
        <p:nvSpPr>
          <p:cNvPr id="34" name="Text 26"/>
          <p:cNvSpPr txBox="1"/>
          <p:nvPr/>
        </p:nvSpPr>
        <p:spPr>
          <a:xfrm>
            <a:off x="612648" y="3033979"/>
            <a:ext cx="2302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F2937"/>
                </a:solidFill>
              </a:rPr>
              <a:t>Req. de información adicional SSF · 22742</a:t>
            </a:r>
            <a:endParaRPr lang="en-US" sz="1050" dirty="0"/>
          </a:p>
        </p:txBody>
      </p:sp>
      <p:sp>
        <p:nvSpPr>
          <p:cNvPr id="35" name="Text 27"/>
          <p:cNvSpPr txBox="1"/>
          <p:nvPr/>
        </p:nvSpPr>
        <p:spPr>
          <a:xfrm>
            <a:off x="2366696" y="3180283"/>
            <a:ext cx="5486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E9F8E"/>
                </a:solidFill>
              </a:rPr>
              <a:t>90%</a:t>
            </a:r>
            <a:endParaRPr lang="en-US" sz="1050" dirty="0"/>
          </a:p>
        </p:txBody>
      </p:sp>
      <p:sp>
        <p:nvSpPr>
          <p:cNvPr id="36" name="Shape 28"/>
          <p:cNvSpPr/>
          <p:nvPr/>
        </p:nvSpPr>
        <p:spPr>
          <a:xfrm>
            <a:off x="612648" y="3248863"/>
            <a:ext cx="1708328" cy="50292"/>
          </a:xfrm>
          <a:prstGeom prst="roundRect">
            <a:avLst>
              <a:gd name="adj" fmla="val 49091"/>
            </a:avLst>
          </a:prstGeom>
          <a:solidFill>
            <a:srgbClr val="E5E9F0"/>
          </a:solidFill>
          <a:ln w="12700">
            <a:solidFill>
              <a:srgbClr val="E5E9F0"/>
            </a:solidFill>
            <a:prstDash val="solid"/>
          </a:ln>
        </p:spPr>
      </p:sp>
      <p:sp>
        <p:nvSpPr>
          <p:cNvPr id="37" name="Shape 29"/>
          <p:cNvSpPr/>
          <p:nvPr/>
        </p:nvSpPr>
        <p:spPr>
          <a:xfrm>
            <a:off x="612648" y="3248863"/>
            <a:ext cx="1537495" cy="50292"/>
          </a:xfrm>
          <a:prstGeom prst="roundRect">
            <a:avLst>
              <a:gd name="adj" fmla="val 49091"/>
            </a:avLst>
          </a:prstGeom>
          <a:solidFill>
            <a:srgbClr val="0E9F8E"/>
          </a:solidFill>
          <a:ln w="12700">
            <a:solidFill>
              <a:srgbClr val="0E9F8E"/>
            </a:solidFill>
            <a:prstDash val="solid"/>
          </a:ln>
        </p:spPr>
      </p:sp>
      <p:sp>
        <p:nvSpPr>
          <p:cNvPr id="38" name="Text 30"/>
          <p:cNvSpPr txBox="1"/>
          <p:nvPr/>
        </p:nvSpPr>
        <p:spPr>
          <a:xfrm>
            <a:off x="612648" y="3372307"/>
            <a:ext cx="230268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Cumplimiento a RIA #2 (100%); seguimiento a RIA #3 (50%).</a:t>
            </a:r>
            <a:endParaRPr lang="en-US" sz="900" dirty="0"/>
          </a:p>
        </p:txBody>
      </p:sp>
      <p:sp>
        <p:nvSpPr>
          <p:cNvPr id="39" name="Text 31"/>
          <p:cNvSpPr txBox="1"/>
          <p:nvPr/>
        </p:nvSpPr>
        <p:spPr>
          <a:xfrm>
            <a:off x="612648" y="3749954"/>
            <a:ext cx="2302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F2937"/>
                </a:solidFill>
              </a:rPr>
              <a:t>Gobierno Corporativo · 22741</a:t>
            </a:r>
            <a:endParaRPr lang="en-US" sz="1050" dirty="0"/>
          </a:p>
        </p:txBody>
      </p:sp>
      <p:sp>
        <p:nvSpPr>
          <p:cNvPr id="40" name="Text 32"/>
          <p:cNvSpPr txBox="1"/>
          <p:nvPr/>
        </p:nvSpPr>
        <p:spPr>
          <a:xfrm>
            <a:off x="2366696" y="3896258"/>
            <a:ext cx="3657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6A34A"/>
                </a:solidFill>
              </a:rPr>
              <a:t>100%</a:t>
            </a:r>
            <a:endParaRPr lang="en-US" sz="1050" dirty="0"/>
          </a:p>
        </p:txBody>
      </p:sp>
      <p:pic>
        <p:nvPicPr>
          <p:cNvPr id="4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78176" y="3923690"/>
            <a:ext cx="128016" cy="128016"/>
          </a:xfrm>
          <a:prstGeom prst="rect">
            <a:avLst/>
          </a:prstGeom>
        </p:spPr>
      </p:pic>
      <p:sp>
        <p:nvSpPr>
          <p:cNvPr id="42" name="Shape 33"/>
          <p:cNvSpPr/>
          <p:nvPr/>
        </p:nvSpPr>
        <p:spPr>
          <a:xfrm>
            <a:off x="612648" y="3964838"/>
            <a:ext cx="1708328" cy="50292"/>
          </a:xfrm>
          <a:prstGeom prst="roundRect">
            <a:avLst>
              <a:gd name="adj" fmla="val 49091"/>
            </a:avLst>
          </a:prstGeom>
          <a:solidFill>
            <a:srgbClr val="E5E9F0"/>
          </a:solidFill>
          <a:ln w="12700">
            <a:solidFill>
              <a:srgbClr val="E5E9F0"/>
            </a:solidFill>
            <a:prstDash val="solid"/>
          </a:ln>
        </p:spPr>
      </p:sp>
      <p:sp>
        <p:nvSpPr>
          <p:cNvPr id="43" name="Shape 34"/>
          <p:cNvSpPr/>
          <p:nvPr/>
        </p:nvSpPr>
        <p:spPr>
          <a:xfrm>
            <a:off x="612648" y="3964838"/>
            <a:ext cx="1708328" cy="50292"/>
          </a:xfrm>
          <a:prstGeom prst="roundRect">
            <a:avLst>
              <a:gd name="adj" fmla="val 49091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4" name="Text 35"/>
          <p:cNvSpPr txBox="1"/>
          <p:nvPr/>
        </p:nvSpPr>
        <p:spPr>
          <a:xfrm>
            <a:off x="612648" y="4088282"/>
            <a:ext cx="2302688" cy="132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Remisión de pruebas de descargo.</a:t>
            </a:r>
            <a:endParaRPr lang="en-US" sz="900" dirty="0"/>
          </a:p>
        </p:txBody>
      </p:sp>
      <p:sp>
        <p:nvSpPr>
          <p:cNvPr id="45" name="Text 36"/>
          <p:cNvSpPr txBox="1"/>
          <p:nvPr/>
        </p:nvSpPr>
        <p:spPr>
          <a:xfrm>
            <a:off x="612648" y="4333342"/>
            <a:ext cx="23026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F2937"/>
                </a:solidFill>
              </a:rPr>
              <a:t>Recalificación del riesgo crediticio · Asociado 22494</a:t>
            </a:r>
            <a:endParaRPr lang="en-US" sz="1050" dirty="0"/>
          </a:p>
        </p:txBody>
      </p:sp>
      <p:sp>
        <p:nvSpPr>
          <p:cNvPr id="46" name="Text 37"/>
          <p:cNvSpPr txBox="1"/>
          <p:nvPr/>
        </p:nvSpPr>
        <p:spPr>
          <a:xfrm>
            <a:off x="2366696" y="4644238"/>
            <a:ext cx="3657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6A34A"/>
                </a:solidFill>
              </a:rPr>
              <a:t>100%</a:t>
            </a:r>
            <a:endParaRPr lang="en-US" sz="1050" dirty="0"/>
          </a:p>
        </p:txBody>
      </p:sp>
      <p:pic>
        <p:nvPicPr>
          <p:cNvPr id="4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78176" y="4671670"/>
            <a:ext cx="128016" cy="128016"/>
          </a:xfrm>
          <a:prstGeom prst="rect">
            <a:avLst/>
          </a:prstGeom>
        </p:spPr>
      </p:pic>
      <p:sp>
        <p:nvSpPr>
          <p:cNvPr id="48" name="Shape 38"/>
          <p:cNvSpPr/>
          <p:nvPr/>
        </p:nvSpPr>
        <p:spPr>
          <a:xfrm>
            <a:off x="612648" y="4712818"/>
            <a:ext cx="1708328" cy="50292"/>
          </a:xfrm>
          <a:prstGeom prst="roundRect">
            <a:avLst>
              <a:gd name="adj" fmla="val 49091"/>
            </a:avLst>
          </a:prstGeom>
          <a:solidFill>
            <a:srgbClr val="E5E9F0"/>
          </a:solidFill>
          <a:ln w="12700">
            <a:solidFill>
              <a:srgbClr val="E5E9F0"/>
            </a:solidFill>
            <a:prstDash val="solid"/>
          </a:ln>
        </p:spPr>
      </p:sp>
      <p:sp>
        <p:nvSpPr>
          <p:cNvPr id="49" name="Shape 39"/>
          <p:cNvSpPr/>
          <p:nvPr/>
        </p:nvSpPr>
        <p:spPr>
          <a:xfrm>
            <a:off x="612648" y="4712818"/>
            <a:ext cx="1708328" cy="50292"/>
          </a:xfrm>
          <a:prstGeom prst="roundRect">
            <a:avLst>
              <a:gd name="adj" fmla="val 49091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0" name="Text 40"/>
          <p:cNvSpPr txBox="1"/>
          <p:nvPr/>
        </p:nvSpPr>
        <p:spPr>
          <a:xfrm>
            <a:off x="612648" y="4836262"/>
            <a:ext cx="230268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Presentación del caso: Jonnathan Jacobo Marroquín.</a:t>
            </a:r>
            <a:endParaRPr lang="en-US" sz="900" dirty="0"/>
          </a:p>
        </p:txBody>
      </p:sp>
      <p:sp>
        <p:nvSpPr>
          <p:cNvPr id="51" name="Text 41"/>
          <p:cNvSpPr txBox="1"/>
          <p:nvPr/>
        </p:nvSpPr>
        <p:spPr>
          <a:xfrm>
            <a:off x="612648" y="5213909"/>
            <a:ext cx="2302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F2937"/>
                </a:solidFill>
              </a:rPr>
              <a:t>Política Servicios Tercerizados</a:t>
            </a:r>
            <a:endParaRPr lang="en-US" sz="1050" dirty="0"/>
          </a:p>
        </p:txBody>
      </p:sp>
      <p:sp>
        <p:nvSpPr>
          <p:cNvPr id="52" name="Text 42"/>
          <p:cNvSpPr txBox="1"/>
          <p:nvPr/>
        </p:nvSpPr>
        <p:spPr>
          <a:xfrm>
            <a:off x="2366696" y="5360213"/>
            <a:ext cx="3657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6A34A"/>
                </a:solidFill>
              </a:rPr>
              <a:t>100%</a:t>
            </a:r>
            <a:endParaRPr lang="en-US" sz="1050" dirty="0"/>
          </a:p>
        </p:txBody>
      </p:sp>
      <p:pic>
        <p:nvPicPr>
          <p:cNvPr id="53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778176" y="5387645"/>
            <a:ext cx="128016" cy="128016"/>
          </a:xfrm>
          <a:prstGeom prst="rect">
            <a:avLst/>
          </a:prstGeom>
        </p:spPr>
      </p:pic>
      <p:sp>
        <p:nvSpPr>
          <p:cNvPr id="54" name="Shape 43"/>
          <p:cNvSpPr/>
          <p:nvPr/>
        </p:nvSpPr>
        <p:spPr>
          <a:xfrm>
            <a:off x="612648" y="5428793"/>
            <a:ext cx="1708328" cy="50292"/>
          </a:xfrm>
          <a:prstGeom prst="roundRect">
            <a:avLst>
              <a:gd name="adj" fmla="val 49091"/>
            </a:avLst>
          </a:prstGeom>
          <a:solidFill>
            <a:srgbClr val="E5E9F0"/>
          </a:solidFill>
          <a:ln w="12700">
            <a:solidFill>
              <a:srgbClr val="E5E9F0"/>
            </a:solidFill>
            <a:prstDash val="solid"/>
          </a:ln>
        </p:spPr>
      </p:sp>
      <p:sp>
        <p:nvSpPr>
          <p:cNvPr id="55" name="Shape 44"/>
          <p:cNvSpPr/>
          <p:nvPr/>
        </p:nvSpPr>
        <p:spPr>
          <a:xfrm>
            <a:off x="612648" y="5428793"/>
            <a:ext cx="1708328" cy="50292"/>
          </a:xfrm>
          <a:prstGeom prst="roundRect">
            <a:avLst>
              <a:gd name="adj" fmla="val 49091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6" name="Text 45"/>
          <p:cNvSpPr txBox="1"/>
          <p:nvPr/>
        </p:nvSpPr>
        <p:spPr>
          <a:xfrm>
            <a:off x="612648" y="5552237"/>
            <a:ext cx="2302688" cy="132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Actualización 100% (revisión 80%).</a:t>
            </a:r>
            <a:endParaRPr lang="en-US" sz="900" dirty="0"/>
          </a:p>
        </p:txBody>
      </p:sp>
      <p:sp>
        <p:nvSpPr>
          <p:cNvPr id="57" name="Text 46"/>
          <p:cNvSpPr txBox="1"/>
          <p:nvPr/>
        </p:nvSpPr>
        <p:spPr>
          <a:xfrm>
            <a:off x="612648" y="5797296"/>
            <a:ext cx="2302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F2937"/>
                </a:solidFill>
              </a:rPr>
              <a:t>Período de gracia total · Asociado 25572</a:t>
            </a:r>
            <a:endParaRPr lang="en-US" sz="1050" dirty="0"/>
          </a:p>
        </p:txBody>
      </p:sp>
      <p:sp>
        <p:nvSpPr>
          <p:cNvPr id="58" name="Text 47"/>
          <p:cNvSpPr txBox="1"/>
          <p:nvPr/>
        </p:nvSpPr>
        <p:spPr>
          <a:xfrm>
            <a:off x="2366696" y="5943600"/>
            <a:ext cx="3657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6A34A"/>
                </a:solidFill>
              </a:rPr>
              <a:t>100%</a:t>
            </a:r>
            <a:endParaRPr lang="en-US" sz="1050" dirty="0"/>
          </a:p>
        </p:txBody>
      </p:sp>
      <p:pic>
        <p:nvPicPr>
          <p:cNvPr id="59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778176" y="5971032"/>
            <a:ext cx="128016" cy="128016"/>
          </a:xfrm>
          <a:prstGeom prst="rect">
            <a:avLst/>
          </a:prstGeom>
        </p:spPr>
      </p:pic>
      <p:sp>
        <p:nvSpPr>
          <p:cNvPr id="60" name="Shape 48"/>
          <p:cNvSpPr/>
          <p:nvPr/>
        </p:nvSpPr>
        <p:spPr>
          <a:xfrm>
            <a:off x="612648" y="6012180"/>
            <a:ext cx="1708328" cy="50292"/>
          </a:xfrm>
          <a:prstGeom prst="roundRect">
            <a:avLst>
              <a:gd name="adj" fmla="val 49091"/>
            </a:avLst>
          </a:prstGeom>
          <a:solidFill>
            <a:srgbClr val="E5E9F0"/>
          </a:solidFill>
          <a:ln w="12700">
            <a:solidFill>
              <a:srgbClr val="E5E9F0"/>
            </a:solidFill>
            <a:prstDash val="solid"/>
          </a:ln>
        </p:spPr>
      </p:sp>
      <p:sp>
        <p:nvSpPr>
          <p:cNvPr id="61" name="Shape 49"/>
          <p:cNvSpPr/>
          <p:nvPr/>
        </p:nvSpPr>
        <p:spPr>
          <a:xfrm>
            <a:off x="612648" y="6012180"/>
            <a:ext cx="1708328" cy="50292"/>
          </a:xfrm>
          <a:prstGeom prst="roundRect">
            <a:avLst>
              <a:gd name="adj" fmla="val 49091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62" name="Text 50"/>
          <p:cNvSpPr txBox="1"/>
          <p:nvPr/>
        </p:nvSpPr>
        <p:spPr>
          <a:xfrm>
            <a:off x="612648" y="6135624"/>
            <a:ext cx="230268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Presentación del análisis de solicitud: Dr. Erick Xavier Gutiérrez Mejía.</a:t>
            </a:r>
            <a:endParaRPr lang="en-US" sz="900" dirty="0"/>
          </a:p>
        </p:txBody>
      </p:sp>
      <p:sp>
        <p:nvSpPr>
          <p:cNvPr id="63" name="Shape 51"/>
          <p:cNvSpPr/>
          <p:nvPr/>
        </p:nvSpPr>
        <p:spPr>
          <a:xfrm>
            <a:off x="3299384" y="1243584"/>
            <a:ext cx="2705024" cy="5285232"/>
          </a:xfrm>
          <a:prstGeom prst="roundRect">
            <a:avLst>
              <a:gd name="adj" fmla="val 4056"/>
            </a:avLst>
          </a:prstGeom>
          <a:solidFill>
            <a:srgbClr val="FFFFFF"/>
          </a:solidFill>
          <a:ln w="9525">
            <a:solidFill>
              <a:srgbClr val="E3E7E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4" name="Shape 52"/>
          <p:cNvSpPr/>
          <p:nvPr/>
        </p:nvSpPr>
        <p:spPr>
          <a:xfrm>
            <a:off x="3390824" y="1335024"/>
            <a:ext cx="2522144" cy="841248"/>
          </a:xfrm>
          <a:prstGeom prst="roundRect">
            <a:avLst>
              <a:gd name="adj" fmla="val 10870"/>
            </a:avLst>
          </a:prstGeom>
          <a:solidFill>
            <a:srgbClr val="E6EEFC"/>
          </a:solidFill>
          <a:ln w="12700">
            <a:solidFill>
              <a:srgbClr val="E6EEFC"/>
            </a:solidFill>
            <a:prstDash val="solid"/>
          </a:ln>
        </p:spPr>
      </p:sp>
      <p:sp>
        <p:nvSpPr>
          <p:cNvPr id="65" name="Shape 53"/>
          <p:cNvSpPr/>
          <p:nvPr/>
        </p:nvSpPr>
        <p:spPr>
          <a:xfrm>
            <a:off x="3500552" y="1408176"/>
            <a:ext cx="420624" cy="420624"/>
          </a:xfrm>
          <a:prstGeom prst="ellipse">
            <a:avLst/>
          </a:prstGeom>
          <a:solidFill>
            <a:srgbClr val="2F6FDE"/>
          </a:solidFill>
          <a:ln w="12700">
            <a:solidFill>
              <a:srgbClr val="2F6FDE"/>
            </a:solidFill>
            <a:prstDash val="solid"/>
          </a:ln>
        </p:spPr>
      </p:sp>
      <p:pic>
        <p:nvPicPr>
          <p:cNvPr id="66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605708" y="1513332"/>
            <a:ext cx="210312" cy="210312"/>
          </a:xfrm>
          <a:prstGeom prst="rect">
            <a:avLst/>
          </a:prstGeom>
        </p:spPr>
      </p:pic>
      <p:sp>
        <p:nvSpPr>
          <p:cNvPr id="67" name="Text 54"/>
          <p:cNvSpPr txBox="1"/>
          <p:nvPr/>
        </p:nvSpPr>
        <p:spPr>
          <a:xfrm>
            <a:off x="4030904" y="1389888"/>
            <a:ext cx="1836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3D"/>
                </a:solidFill>
              </a:rPr>
              <a:t>RIESGO OPERACIONAL</a:t>
            </a:r>
            <a:endParaRPr lang="en-US" sz="1300" dirty="0"/>
          </a:p>
        </p:txBody>
      </p:sp>
      <p:sp>
        <p:nvSpPr>
          <p:cNvPr id="68" name="Text 55"/>
          <p:cNvSpPr txBox="1"/>
          <p:nvPr/>
        </p:nvSpPr>
        <p:spPr>
          <a:xfrm>
            <a:off x="3500552" y="1865376"/>
            <a:ext cx="15163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F6FDE"/>
                </a:solidFill>
              </a:rPr>
              <a:t>Gestión y continuidad</a:t>
            </a:r>
            <a:endParaRPr lang="en-US" sz="1000" dirty="0"/>
          </a:p>
        </p:txBody>
      </p:sp>
      <p:sp>
        <p:nvSpPr>
          <p:cNvPr id="69" name="Text 56"/>
          <p:cNvSpPr txBox="1"/>
          <p:nvPr/>
        </p:nvSpPr>
        <p:spPr>
          <a:xfrm>
            <a:off x="5044288" y="1700784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2F6FDE"/>
                </a:solidFill>
              </a:rPr>
              <a:t>77%</a:t>
            </a:r>
            <a:endParaRPr lang="en-US" sz="2200" dirty="0"/>
          </a:p>
        </p:txBody>
      </p:sp>
      <p:sp>
        <p:nvSpPr>
          <p:cNvPr id="70" name="Text 57"/>
          <p:cNvSpPr txBox="1"/>
          <p:nvPr/>
        </p:nvSpPr>
        <p:spPr>
          <a:xfrm>
            <a:off x="4861408" y="1965960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9 actividades</a:t>
            </a:r>
            <a:endParaRPr lang="en-US" sz="900" dirty="0"/>
          </a:p>
        </p:txBody>
      </p:sp>
      <p:sp>
        <p:nvSpPr>
          <p:cNvPr id="71" name="Text 58"/>
          <p:cNvSpPr txBox="1"/>
          <p:nvPr/>
        </p:nvSpPr>
        <p:spPr>
          <a:xfrm>
            <a:off x="3500552" y="2286000"/>
            <a:ext cx="2302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F2937"/>
                </a:solidFill>
              </a:rPr>
              <a:t>Caídas TC y Orion</a:t>
            </a:r>
            <a:endParaRPr lang="en-US" sz="1050" dirty="0"/>
          </a:p>
        </p:txBody>
      </p:sp>
      <p:sp>
        <p:nvSpPr>
          <p:cNvPr id="72" name="Text 59"/>
          <p:cNvSpPr txBox="1"/>
          <p:nvPr/>
        </p:nvSpPr>
        <p:spPr>
          <a:xfrm>
            <a:off x="5254600" y="2432304"/>
            <a:ext cx="5486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F6FDE"/>
                </a:solidFill>
              </a:rPr>
              <a:t>83%</a:t>
            </a:r>
            <a:endParaRPr lang="en-US" sz="1050" dirty="0"/>
          </a:p>
        </p:txBody>
      </p:sp>
      <p:sp>
        <p:nvSpPr>
          <p:cNvPr id="73" name="Shape 60"/>
          <p:cNvSpPr/>
          <p:nvPr/>
        </p:nvSpPr>
        <p:spPr>
          <a:xfrm>
            <a:off x="3500552" y="2500884"/>
            <a:ext cx="1708328" cy="50292"/>
          </a:xfrm>
          <a:prstGeom prst="roundRect">
            <a:avLst>
              <a:gd name="adj" fmla="val 49091"/>
            </a:avLst>
          </a:prstGeom>
          <a:solidFill>
            <a:srgbClr val="E5E9F0"/>
          </a:solidFill>
          <a:ln w="12700">
            <a:solidFill>
              <a:srgbClr val="E5E9F0"/>
            </a:solidFill>
            <a:prstDash val="solid"/>
          </a:ln>
        </p:spPr>
      </p:sp>
      <p:sp>
        <p:nvSpPr>
          <p:cNvPr id="74" name="Shape 61"/>
          <p:cNvSpPr/>
          <p:nvPr/>
        </p:nvSpPr>
        <p:spPr>
          <a:xfrm>
            <a:off x="3500552" y="2500884"/>
            <a:ext cx="1417912" cy="50292"/>
          </a:xfrm>
          <a:prstGeom prst="roundRect">
            <a:avLst>
              <a:gd name="adj" fmla="val 49091"/>
            </a:avLst>
          </a:prstGeom>
          <a:solidFill>
            <a:srgbClr val="2F6FDE"/>
          </a:solidFill>
          <a:ln w="12700">
            <a:solidFill>
              <a:srgbClr val="2F6FDE"/>
            </a:solidFill>
            <a:prstDash val="solid"/>
          </a:ln>
        </p:spPr>
      </p:sp>
      <p:sp>
        <p:nvSpPr>
          <p:cNvPr id="75" name="Text 62"/>
          <p:cNvSpPr txBox="1"/>
          <p:nvPr/>
        </p:nvSpPr>
        <p:spPr>
          <a:xfrm>
            <a:off x="3500552" y="2642045"/>
            <a:ext cx="2302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F2937"/>
                </a:solidFill>
              </a:rPr>
              <a:t>Actualización de página web</a:t>
            </a:r>
            <a:endParaRPr lang="en-US" sz="1050" dirty="0"/>
          </a:p>
        </p:txBody>
      </p:sp>
      <p:sp>
        <p:nvSpPr>
          <p:cNvPr id="76" name="Text 63"/>
          <p:cNvSpPr txBox="1"/>
          <p:nvPr/>
        </p:nvSpPr>
        <p:spPr>
          <a:xfrm>
            <a:off x="5254600" y="2788349"/>
            <a:ext cx="5486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F6FDE"/>
                </a:solidFill>
              </a:rPr>
              <a:t>50%</a:t>
            </a:r>
            <a:endParaRPr lang="en-US" sz="1050" dirty="0"/>
          </a:p>
        </p:txBody>
      </p:sp>
      <p:sp>
        <p:nvSpPr>
          <p:cNvPr id="77" name="Shape 64"/>
          <p:cNvSpPr/>
          <p:nvPr/>
        </p:nvSpPr>
        <p:spPr>
          <a:xfrm>
            <a:off x="3500552" y="2856929"/>
            <a:ext cx="1708328" cy="50292"/>
          </a:xfrm>
          <a:prstGeom prst="roundRect">
            <a:avLst>
              <a:gd name="adj" fmla="val 49091"/>
            </a:avLst>
          </a:prstGeom>
          <a:solidFill>
            <a:srgbClr val="E5E9F0"/>
          </a:solidFill>
          <a:ln w="12700">
            <a:solidFill>
              <a:srgbClr val="E5E9F0"/>
            </a:solidFill>
            <a:prstDash val="solid"/>
          </a:ln>
        </p:spPr>
      </p:sp>
      <p:sp>
        <p:nvSpPr>
          <p:cNvPr id="78" name="Shape 65"/>
          <p:cNvSpPr/>
          <p:nvPr/>
        </p:nvSpPr>
        <p:spPr>
          <a:xfrm>
            <a:off x="3500552" y="2856929"/>
            <a:ext cx="854164" cy="50292"/>
          </a:xfrm>
          <a:prstGeom prst="roundRect">
            <a:avLst>
              <a:gd name="adj" fmla="val 49091"/>
            </a:avLst>
          </a:prstGeom>
          <a:solidFill>
            <a:srgbClr val="2F6FDE"/>
          </a:solidFill>
          <a:ln w="12700">
            <a:solidFill>
              <a:srgbClr val="2F6FDE"/>
            </a:solidFill>
            <a:prstDash val="solid"/>
          </a:ln>
        </p:spPr>
      </p:sp>
      <p:sp>
        <p:nvSpPr>
          <p:cNvPr id="79" name="Text 66"/>
          <p:cNvSpPr txBox="1"/>
          <p:nvPr/>
        </p:nvSpPr>
        <p:spPr>
          <a:xfrm>
            <a:off x="3500552" y="2980373"/>
            <a:ext cx="2302688" cy="132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Incorporar nueva auxiliar (50%).</a:t>
            </a:r>
            <a:endParaRPr lang="en-US" sz="900" dirty="0"/>
          </a:p>
        </p:txBody>
      </p:sp>
      <p:sp>
        <p:nvSpPr>
          <p:cNvPr id="80" name="Text 67"/>
          <p:cNvSpPr txBox="1"/>
          <p:nvPr/>
        </p:nvSpPr>
        <p:spPr>
          <a:xfrm>
            <a:off x="3500552" y="3130677"/>
            <a:ext cx="2302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F2937"/>
                </a:solidFill>
              </a:rPr>
              <a:t>Comité de Riesgos</a:t>
            </a:r>
            <a:endParaRPr lang="en-US" sz="1050" dirty="0"/>
          </a:p>
        </p:txBody>
      </p:sp>
      <p:sp>
        <p:nvSpPr>
          <p:cNvPr id="81" name="Text 68"/>
          <p:cNvSpPr txBox="1"/>
          <p:nvPr/>
        </p:nvSpPr>
        <p:spPr>
          <a:xfrm>
            <a:off x="5254600" y="3276981"/>
            <a:ext cx="3657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6A34A"/>
                </a:solidFill>
              </a:rPr>
              <a:t>100%</a:t>
            </a:r>
            <a:endParaRPr lang="en-US" sz="1050" dirty="0"/>
          </a:p>
        </p:txBody>
      </p:sp>
      <p:pic>
        <p:nvPicPr>
          <p:cNvPr id="82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666080" y="3304413"/>
            <a:ext cx="128016" cy="128016"/>
          </a:xfrm>
          <a:prstGeom prst="rect">
            <a:avLst/>
          </a:prstGeom>
        </p:spPr>
      </p:pic>
      <p:sp>
        <p:nvSpPr>
          <p:cNvPr id="83" name="Shape 69"/>
          <p:cNvSpPr/>
          <p:nvPr/>
        </p:nvSpPr>
        <p:spPr>
          <a:xfrm>
            <a:off x="3500552" y="3345561"/>
            <a:ext cx="1708328" cy="50292"/>
          </a:xfrm>
          <a:prstGeom prst="roundRect">
            <a:avLst>
              <a:gd name="adj" fmla="val 49091"/>
            </a:avLst>
          </a:prstGeom>
          <a:solidFill>
            <a:srgbClr val="E5E9F0"/>
          </a:solidFill>
          <a:ln w="12700">
            <a:solidFill>
              <a:srgbClr val="E5E9F0"/>
            </a:solidFill>
            <a:prstDash val="solid"/>
          </a:ln>
        </p:spPr>
      </p:sp>
      <p:sp>
        <p:nvSpPr>
          <p:cNvPr id="84" name="Shape 70"/>
          <p:cNvSpPr/>
          <p:nvPr/>
        </p:nvSpPr>
        <p:spPr>
          <a:xfrm>
            <a:off x="3500552" y="3345561"/>
            <a:ext cx="1708328" cy="50292"/>
          </a:xfrm>
          <a:prstGeom prst="roundRect">
            <a:avLst>
              <a:gd name="adj" fmla="val 49091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85" name="Text 71"/>
          <p:cNvSpPr txBox="1"/>
          <p:nvPr/>
        </p:nvSpPr>
        <p:spPr>
          <a:xfrm>
            <a:off x="3500552" y="3469005"/>
            <a:ext cx="2302688" cy="132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Matriz de Acuerdos Sesiones 150 y 151 (100%).</a:t>
            </a:r>
            <a:endParaRPr lang="en-US" sz="900" dirty="0"/>
          </a:p>
        </p:txBody>
      </p:sp>
      <p:sp>
        <p:nvSpPr>
          <p:cNvPr id="86" name="Text 72"/>
          <p:cNvSpPr txBox="1"/>
          <p:nvPr/>
        </p:nvSpPr>
        <p:spPr>
          <a:xfrm>
            <a:off x="3500552" y="3619310"/>
            <a:ext cx="2302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F2937"/>
                </a:solidFill>
              </a:rPr>
              <a:t>Plan Riesgo Operacional 2026</a:t>
            </a:r>
            <a:endParaRPr lang="en-US" sz="1050" dirty="0"/>
          </a:p>
        </p:txBody>
      </p:sp>
      <p:sp>
        <p:nvSpPr>
          <p:cNvPr id="87" name="Text 73"/>
          <p:cNvSpPr txBox="1"/>
          <p:nvPr/>
        </p:nvSpPr>
        <p:spPr>
          <a:xfrm>
            <a:off x="5254600" y="3765614"/>
            <a:ext cx="5486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F6FDE"/>
                </a:solidFill>
              </a:rPr>
              <a:t>45%</a:t>
            </a:r>
            <a:endParaRPr lang="en-US" sz="1050" dirty="0"/>
          </a:p>
        </p:txBody>
      </p:sp>
      <p:sp>
        <p:nvSpPr>
          <p:cNvPr id="88" name="Shape 74"/>
          <p:cNvSpPr/>
          <p:nvPr/>
        </p:nvSpPr>
        <p:spPr>
          <a:xfrm>
            <a:off x="3500552" y="3834194"/>
            <a:ext cx="1708328" cy="50292"/>
          </a:xfrm>
          <a:prstGeom prst="roundRect">
            <a:avLst>
              <a:gd name="adj" fmla="val 49091"/>
            </a:avLst>
          </a:prstGeom>
          <a:solidFill>
            <a:srgbClr val="E5E9F0"/>
          </a:solidFill>
          <a:ln w="12700">
            <a:solidFill>
              <a:srgbClr val="E5E9F0"/>
            </a:solidFill>
            <a:prstDash val="solid"/>
          </a:ln>
        </p:spPr>
      </p:sp>
      <p:sp>
        <p:nvSpPr>
          <p:cNvPr id="89" name="Shape 75"/>
          <p:cNvSpPr/>
          <p:nvPr/>
        </p:nvSpPr>
        <p:spPr>
          <a:xfrm>
            <a:off x="3500552" y="3834194"/>
            <a:ext cx="768748" cy="50292"/>
          </a:xfrm>
          <a:prstGeom prst="roundRect">
            <a:avLst>
              <a:gd name="adj" fmla="val 49091"/>
            </a:avLst>
          </a:prstGeom>
          <a:solidFill>
            <a:srgbClr val="2F6FDE"/>
          </a:solidFill>
          <a:ln w="12700">
            <a:solidFill>
              <a:srgbClr val="2F6FDE"/>
            </a:solidFill>
            <a:prstDash val="solid"/>
          </a:ln>
        </p:spPr>
      </p:sp>
      <p:sp>
        <p:nvSpPr>
          <p:cNvPr id="90" name="Text 76"/>
          <p:cNvSpPr txBox="1"/>
          <p:nvPr/>
        </p:nvSpPr>
        <p:spPr>
          <a:xfrm>
            <a:off x="3500552" y="3957638"/>
            <a:ext cx="230268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Automatizar Derechos de registros – Legal (50%).</a:t>
            </a:r>
            <a:endParaRPr lang="en-US" sz="900" dirty="0"/>
          </a:p>
        </p:txBody>
      </p:sp>
      <p:sp>
        <p:nvSpPr>
          <p:cNvPr id="91" name="Text 77"/>
          <p:cNvSpPr txBox="1"/>
          <p:nvPr/>
        </p:nvSpPr>
        <p:spPr>
          <a:xfrm>
            <a:off x="3500552" y="4240530"/>
            <a:ext cx="2302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F2937"/>
                </a:solidFill>
              </a:rPr>
              <a:t>3.ª Prueba Continuidad de Negocio</a:t>
            </a:r>
            <a:endParaRPr lang="en-US" sz="1050" dirty="0"/>
          </a:p>
        </p:txBody>
      </p:sp>
      <p:sp>
        <p:nvSpPr>
          <p:cNvPr id="92" name="Text 78"/>
          <p:cNvSpPr txBox="1"/>
          <p:nvPr/>
        </p:nvSpPr>
        <p:spPr>
          <a:xfrm>
            <a:off x="5254600" y="4386834"/>
            <a:ext cx="5486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F6FDE"/>
                </a:solidFill>
              </a:rPr>
              <a:t>45%</a:t>
            </a:r>
            <a:endParaRPr lang="en-US" sz="1050" dirty="0"/>
          </a:p>
        </p:txBody>
      </p:sp>
      <p:sp>
        <p:nvSpPr>
          <p:cNvPr id="93" name="Shape 79"/>
          <p:cNvSpPr/>
          <p:nvPr/>
        </p:nvSpPr>
        <p:spPr>
          <a:xfrm>
            <a:off x="3500552" y="4455414"/>
            <a:ext cx="1708328" cy="50292"/>
          </a:xfrm>
          <a:prstGeom prst="roundRect">
            <a:avLst>
              <a:gd name="adj" fmla="val 49091"/>
            </a:avLst>
          </a:prstGeom>
          <a:solidFill>
            <a:srgbClr val="E5E9F0"/>
          </a:solidFill>
          <a:ln w="12700">
            <a:solidFill>
              <a:srgbClr val="E5E9F0"/>
            </a:solidFill>
            <a:prstDash val="solid"/>
          </a:ln>
        </p:spPr>
      </p:sp>
      <p:sp>
        <p:nvSpPr>
          <p:cNvPr id="94" name="Shape 80"/>
          <p:cNvSpPr/>
          <p:nvPr/>
        </p:nvSpPr>
        <p:spPr>
          <a:xfrm>
            <a:off x="3500552" y="4455414"/>
            <a:ext cx="768748" cy="50292"/>
          </a:xfrm>
          <a:prstGeom prst="roundRect">
            <a:avLst>
              <a:gd name="adj" fmla="val 49091"/>
            </a:avLst>
          </a:prstGeom>
          <a:solidFill>
            <a:srgbClr val="2F6FDE"/>
          </a:solidFill>
          <a:ln w="12700">
            <a:solidFill>
              <a:srgbClr val="2F6FDE"/>
            </a:solidFill>
            <a:prstDash val="solid"/>
          </a:ln>
        </p:spPr>
      </p:sp>
      <p:sp>
        <p:nvSpPr>
          <p:cNvPr id="95" name="Text 81"/>
          <p:cNvSpPr txBox="1"/>
          <p:nvPr/>
        </p:nvSpPr>
        <p:spPr>
          <a:xfrm>
            <a:off x="3500552" y="4578858"/>
            <a:ext cx="2302688" cy="132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Ejecución y seguimiento de pruebas 2026.</a:t>
            </a:r>
            <a:endParaRPr lang="en-US" sz="900" dirty="0"/>
          </a:p>
        </p:txBody>
      </p:sp>
      <p:sp>
        <p:nvSpPr>
          <p:cNvPr id="96" name="Text 82"/>
          <p:cNvSpPr txBox="1"/>
          <p:nvPr/>
        </p:nvSpPr>
        <p:spPr>
          <a:xfrm>
            <a:off x="3500552" y="4729163"/>
            <a:ext cx="2302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F2937"/>
                </a:solidFill>
              </a:rPr>
              <a:t>Eventos de Riesgo Informados</a:t>
            </a:r>
            <a:endParaRPr lang="en-US" sz="1050" dirty="0"/>
          </a:p>
        </p:txBody>
      </p:sp>
      <p:sp>
        <p:nvSpPr>
          <p:cNvPr id="97" name="Text 83"/>
          <p:cNvSpPr txBox="1"/>
          <p:nvPr/>
        </p:nvSpPr>
        <p:spPr>
          <a:xfrm>
            <a:off x="5254600" y="4875467"/>
            <a:ext cx="5486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F6FDE"/>
                </a:solidFill>
              </a:rPr>
              <a:t>67%</a:t>
            </a:r>
            <a:endParaRPr lang="en-US" sz="1050" dirty="0"/>
          </a:p>
        </p:txBody>
      </p:sp>
      <p:sp>
        <p:nvSpPr>
          <p:cNvPr id="98" name="Shape 84"/>
          <p:cNvSpPr/>
          <p:nvPr/>
        </p:nvSpPr>
        <p:spPr>
          <a:xfrm>
            <a:off x="3500552" y="4944047"/>
            <a:ext cx="1708328" cy="50292"/>
          </a:xfrm>
          <a:prstGeom prst="roundRect">
            <a:avLst>
              <a:gd name="adj" fmla="val 49091"/>
            </a:avLst>
          </a:prstGeom>
          <a:solidFill>
            <a:srgbClr val="E5E9F0"/>
          </a:solidFill>
          <a:ln w="12700">
            <a:solidFill>
              <a:srgbClr val="E5E9F0"/>
            </a:solidFill>
            <a:prstDash val="solid"/>
          </a:ln>
        </p:spPr>
      </p:sp>
      <p:sp>
        <p:nvSpPr>
          <p:cNvPr id="99" name="Shape 85"/>
          <p:cNvSpPr/>
          <p:nvPr/>
        </p:nvSpPr>
        <p:spPr>
          <a:xfrm>
            <a:off x="3500552" y="4944047"/>
            <a:ext cx="1144580" cy="50292"/>
          </a:xfrm>
          <a:prstGeom prst="roundRect">
            <a:avLst>
              <a:gd name="adj" fmla="val 49091"/>
            </a:avLst>
          </a:prstGeom>
          <a:solidFill>
            <a:srgbClr val="2F6FDE"/>
          </a:solidFill>
          <a:ln w="12700">
            <a:solidFill>
              <a:srgbClr val="2F6FDE"/>
            </a:solidFill>
            <a:prstDash val="solid"/>
          </a:ln>
        </p:spPr>
      </p:sp>
      <p:sp>
        <p:nvSpPr>
          <p:cNvPr id="100" name="Text 86"/>
          <p:cNvSpPr txBox="1"/>
          <p:nvPr/>
        </p:nvSpPr>
        <p:spPr>
          <a:xfrm>
            <a:off x="3500552" y="5067491"/>
            <a:ext cx="230268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Caída Red Ag. San Miguel (100%); falla de energía y vulnerabilidad de correo (50%).</a:t>
            </a:r>
            <a:endParaRPr lang="en-US" sz="900" dirty="0"/>
          </a:p>
        </p:txBody>
      </p:sp>
      <p:sp>
        <p:nvSpPr>
          <p:cNvPr id="101" name="Text 87"/>
          <p:cNvSpPr txBox="1"/>
          <p:nvPr/>
        </p:nvSpPr>
        <p:spPr>
          <a:xfrm>
            <a:off x="3500552" y="5350383"/>
            <a:ext cx="2302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F2937"/>
                </a:solidFill>
              </a:rPr>
              <a:t>Elaboración y envío de boletín</a:t>
            </a:r>
            <a:endParaRPr lang="en-US" sz="1050" dirty="0"/>
          </a:p>
        </p:txBody>
      </p:sp>
      <p:sp>
        <p:nvSpPr>
          <p:cNvPr id="102" name="Text 88"/>
          <p:cNvSpPr txBox="1"/>
          <p:nvPr/>
        </p:nvSpPr>
        <p:spPr>
          <a:xfrm>
            <a:off x="5254600" y="5496687"/>
            <a:ext cx="3657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6A34A"/>
                </a:solidFill>
              </a:rPr>
              <a:t>100%</a:t>
            </a:r>
            <a:endParaRPr lang="en-US" sz="1050" dirty="0"/>
          </a:p>
        </p:txBody>
      </p:sp>
      <p:pic>
        <p:nvPicPr>
          <p:cNvPr id="103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666080" y="5524119"/>
            <a:ext cx="128016" cy="128016"/>
          </a:xfrm>
          <a:prstGeom prst="rect">
            <a:avLst/>
          </a:prstGeom>
        </p:spPr>
      </p:pic>
      <p:sp>
        <p:nvSpPr>
          <p:cNvPr id="104" name="Shape 89"/>
          <p:cNvSpPr/>
          <p:nvPr/>
        </p:nvSpPr>
        <p:spPr>
          <a:xfrm>
            <a:off x="3500552" y="5565267"/>
            <a:ext cx="1708328" cy="50292"/>
          </a:xfrm>
          <a:prstGeom prst="roundRect">
            <a:avLst>
              <a:gd name="adj" fmla="val 49091"/>
            </a:avLst>
          </a:prstGeom>
          <a:solidFill>
            <a:srgbClr val="E5E9F0"/>
          </a:solidFill>
          <a:ln w="12700">
            <a:solidFill>
              <a:srgbClr val="E5E9F0"/>
            </a:solidFill>
            <a:prstDash val="solid"/>
          </a:ln>
        </p:spPr>
      </p:sp>
      <p:sp>
        <p:nvSpPr>
          <p:cNvPr id="105" name="Shape 90"/>
          <p:cNvSpPr/>
          <p:nvPr/>
        </p:nvSpPr>
        <p:spPr>
          <a:xfrm>
            <a:off x="3500552" y="5565267"/>
            <a:ext cx="1708328" cy="50292"/>
          </a:xfrm>
          <a:prstGeom prst="roundRect">
            <a:avLst>
              <a:gd name="adj" fmla="val 49091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06" name="Text 91"/>
          <p:cNvSpPr txBox="1"/>
          <p:nvPr/>
        </p:nvSpPr>
        <p:spPr>
          <a:xfrm>
            <a:off x="3500552" y="5706428"/>
            <a:ext cx="2302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F2937"/>
                </a:solidFill>
              </a:rPr>
              <a:t>Informe Capacitación / Examen GIR</a:t>
            </a:r>
            <a:endParaRPr lang="en-US" sz="1050" dirty="0"/>
          </a:p>
        </p:txBody>
      </p:sp>
      <p:sp>
        <p:nvSpPr>
          <p:cNvPr id="107" name="Text 92"/>
          <p:cNvSpPr txBox="1"/>
          <p:nvPr/>
        </p:nvSpPr>
        <p:spPr>
          <a:xfrm>
            <a:off x="5254600" y="5852732"/>
            <a:ext cx="3657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6A34A"/>
                </a:solidFill>
              </a:rPr>
              <a:t>100%</a:t>
            </a:r>
            <a:endParaRPr lang="en-US" sz="1050" dirty="0"/>
          </a:p>
        </p:txBody>
      </p:sp>
      <p:pic>
        <p:nvPicPr>
          <p:cNvPr id="108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666080" y="5880164"/>
            <a:ext cx="128016" cy="128016"/>
          </a:xfrm>
          <a:prstGeom prst="rect">
            <a:avLst/>
          </a:prstGeom>
        </p:spPr>
      </p:pic>
      <p:sp>
        <p:nvSpPr>
          <p:cNvPr id="109" name="Shape 93"/>
          <p:cNvSpPr/>
          <p:nvPr/>
        </p:nvSpPr>
        <p:spPr>
          <a:xfrm>
            <a:off x="3500552" y="5921312"/>
            <a:ext cx="1708328" cy="50292"/>
          </a:xfrm>
          <a:prstGeom prst="roundRect">
            <a:avLst>
              <a:gd name="adj" fmla="val 49091"/>
            </a:avLst>
          </a:prstGeom>
          <a:solidFill>
            <a:srgbClr val="E5E9F0"/>
          </a:solidFill>
          <a:ln w="12700">
            <a:solidFill>
              <a:srgbClr val="E5E9F0"/>
            </a:solidFill>
            <a:prstDash val="solid"/>
          </a:ln>
        </p:spPr>
      </p:sp>
      <p:sp>
        <p:nvSpPr>
          <p:cNvPr id="110" name="Shape 94"/>
          <p:cNvSpPr/>
          <p:nvPr/>
        </p:nvSpPr>
        <p:spPr>
          <a:xfrm>
            <a:off x="3500552" y="5921312"/>
            <a:ext cx="1708328" cy="50292"/>
          </a:xfrm>
          <a:prstGeom prst="roundRect">
            <a:avLst>
              <a:gd name="adj" fmla="val 49091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11" name="Text 95"/>
          <p:cNvSpPr txBox="1"/>
          <p:nvPr/>
        </p:nvSpPr>
        <p:spPr>
          <a:xfrm>
            <a:off x="3500552" y="6062472"/>
            <a:ext cx="2302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F2937"/>
                </a:solidFill>
              </a:rPr>
              <a:t>Piloto Contact Center</a:t>
            </a:r>
            <a:endParaRPr lang="en-US" sz="1050" dirty="0"/>
          </a:p>
        </p:txBody>
      </p:sp>
      <p:sp>
        <p:nvSpPr>
          <p:cNvPr id="112" name="Text 96"/>
          <p:cNvSpPr txBox="1"/>
          <p:nvPr/>
        </p:nvSpPr>
        <p:spPr>
          <a:xfrm>
            <a:off x="5254600" y="6208776"/>
            <a:ext cx="3657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6A34A"/>
                </a:solidFill>
              </a:rPr>
              <a:t>100%</a:t>
            </a:r>
            <a:endParaRPr lang="en-US" sz="1050" dirty="0"/>
          </a:p>
        </p:txBody>
      </p:sp>
      <p:pic>
        <p:nvPicPr>
          <p:cNvPr id="113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666080" y="6236208"/>
            <a:ext cx="128016" cy="128016"/>
          </a:xfrm>
          <a:prstGeom prst="rect">
            <a:avLst/>
          </a:prstGeom>
        </p:spPr>
      </p:pic>
      <p:sp>
        <p:nvSpPr>
          <p:cNvPr id="114" name="Shape 97"/>
          <p:cNvSpPr/>
          <p:nvPr/>
        </p:nvSpPr>
        <p:spPr>
          <a:xfrm>
            <a:off x="3500552" y="6277356"/>
            <a:ext cx="1708328" cy="50292"/>
          </a:xfrm>
          <a:prstGeom prst="roundRect">
            <a:avLst>
              <a:gd name="adj" fmla="val 49091"/>
            </a:avLst>
          </a:prstGeom>
          <a:solidFill>
            <a:srgbClr val="E5E9F0"/>
          </a:solidFill>
          <a:ln w="12700">
            <a:solidFill>
              <a:srgbClr val="E5E9F0"/>
            </a:solidFill>
            <a:prstDash val="solid"/>
          </a:ln>
        </p:spPr>
      </p:sp>
      <p:sp>
        <p:nvSpPr>
          <p:cNvPr id="115" name="Shape 98"/>
          <p:cNvSpPr/>
          <p:nvPr/>
        </p:nvSpPr>
        <p:spPr>
          <a:xfrm>
            <a:off x="3500552" y="6277356"/>
            <a:ext cx="1708328" cy="50292"/>
          </a:xfrm>
          <a:prstGeom prst="roundRect">
            <a:avLst>
              <a:gd name="adj" fmla="val 49091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16" name="Shape 99"/>
          <p:cNvSpPr/>
          <p:nvPr/>
        </p:nvSpPr>
        <p:spPr>
          <a:xfrm>
            <a:off x="6187288" y="1243584"/>
            <a:ext cx="2705024" cy="5285232"/>
          </a:xfrm>
          <a:prstGeom prst="roundRect">
            <a:avLst>
              <a:gd name="adj" fmla="val 4056"/>
            </a:avLst>
          </a:prstGeom>
          <a:solidFill>
            <a:srgbClr val="FFFFFF"/>
          </a:solidFill>
          <a:ln w="9525">
            <a:solidFill>
              <a:srgbClr val="E3E7E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17" name="Shape 100"/>
          <p:cNvSpPr/>
          <p:nvPr/>
        </p:nvSpPr>
        <p:spPr>
          <a:xfrm>
            <a:off x="6278728" y="1335024"/>
            <a:ext cx="2522144" cy="841248"/>
          </a:xfrm>
          <a:prstGeom prst="roundRect">
            <a:avLst>
              <a:gd name="adj" fmla="val 10870"/>
            </a:avLst>
          </a:prstGeom>
          <a:solidFill>
            <a:srgbClr val="EFE9FB"/>
          </a:solidFill>
          <a:ln w="12700">
            <a:solidFill>
              <a:srgbClr val="EFE9FB"/>
            </a:solidFill>
            <a:prstDash val="solid"/>
          </a:ln>
        </p:spPr>
      </p:sp>
      <p:sp>
        <p:nvSpPr>
          <p:cNvPr id="118" name="Shape 101"/>
          <p:cNvSpPr/>
          <p:nvPr/>
        </p:nvSpPr>
        <p:spPr>
          <a:xfrm>
            <a:off x="6388456" y="1408176"/>
            <a:ext cx="420624" cy="420624"/>
          </a:xfrm>
          <a:prstGeom prst="ellipse">
            <a:avLst/>
          </a:prstGeom>
          <a:solidFill>
            <a:srgbClr val="7A4FD3"/>
          </a:solidFill>
          <a:ln w="12700">
            <a:solidFill>
              <a:srgbClr val="7A4FD3"/>
            </a:solidFill>
            <a:prstDash val="solid"/>
          </a:ln>
        </p:spPr>
      </p:sp>
      <p:pic>
        <p:nvPicPr>
          <p:cNvPr id="119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493612" y="1513332"/>
            <a:ext cx="210312" cy="210312"/>
          </a:xfrm>
          <a:prstGeom prst="rect">
            <a:avLst/>
          </a:prstGeom>
        </p:spPr>
      </p:pic>
      <p:sp>
        <p:nvSpPr>
          <p:cNvPr id="120" name="Text 102"/>
          <p:cNvSpPr txBox="1"/>
          <p:nvPr/>
        </p:nvSpPr>
        <p:spPr>
          <a:xfrm>
            <a:off x="6918808" y="1389888"/>
            <a:ext cx="1836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3D"/>
                </a:solidFill>
              </a:rPr>
              <a:t>RIESGO NORMATIVO</a:t>
            </a:r>
            <a:endParaRPr lang="en-US" sz="1300" dirty="0"/>
          </a:p>
        </p:txBody>
      </p:sp>
      <p:sp>
        <p:nvSpPr>
          <p:cNvPr id="121" name="Text 103"/>
          <p:cNvSpPr txBox="1"/>
          <p:nvPr/>
        </p:nvSpPr>
        <p:spPr>
          <a:xfrm>
            <a:off x="6388456" y="1865376"/>
            <a:ext cx="15163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A4FD3"/>
                </a:solidFill>
              </a:rPr>
              <a:t>Avalúos</a:t>
            </a:r>
            <a:endParaRPr lang="en-US" sz="1000" dirty="0"/>
          </a:p>
        </p:txBody>
      </p:sp>
      <p:sp>
        <p:nvSpPr>
          <p:cNvPr id="122" name="Text 104"/>
          <p:cNvSpPr txBox="1"/>
          <p:nvPr/>
        </p:nvSpPr>
        <p:spPr>
          <a:xfrm>
            <a:off x="7932191" y="1700784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7A4FD3"/>
                </a:solidFill>
              </a:rPr>
              <a:t>96%</a:t>
            </a:r>
            <a:endParaRPr lang="en-US" sz="2200" dirty="0"/>
          </a:p>
        </p:txBody>
      </p:sp>
      <p:sp>
        <p:nvSpPr>
          <p:cNvPr id="123" name="Text 105"/>
          <p:cNvSpPr txBox="1"/>
          <p:nvPr/>
        </p:nvSpPr>
        <p:spPr>
          <a:xfrm>
            <a:off x="7749311" y="1965960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6 actividades</a:t>
            </a:r>
            <a:endParaRPr lang="en-US" sz="900" dirty="0"/>
          </a:p>
        </p:txBody>
      </p:sp>
      <p:sp>
        <p:nvSpPr>
          <p:cNvPr id="124" name="Text 106"/>
          <p:cNvSpPr txBox="1"/>
          <p:nvPr/>
        </p:nvSpPr>
        <p:spPr>
          <a:xfrm>
            <a:off x="6388456" y="2286000"/>
            <a:ext cx="2302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F2937"/>
                </a:solidFill>
              </a:rPr>
              <a:t>Control de Avalúos</a:t>
            </a:r>
            <a:endParaRPr lang="en-US" sz="1050" dirty="0"/>
          </a:p>
        </p:txBody>
      </p:sp>
      <p:sp>
        <p:nvSpPr>
          <p:cNvPr id="125" name="Text 107"/>
          <p:cNvSpPr txBox="1"/>
          <p:nvPr/>
        </p:nvSpPr>
        <p:spPr>
          <a:xfrm>
            <a:off x="8142503" y="2432304"/>
            <a:ext cx="5486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7A4FD3"/>
                </a:solidFill>
              </a:rPr>
              <a:t>90%</a:t>
            </a:r>
            <a:endParaRPr lang="en-US" sz="1050" dirty="0"/>
          </a:p>
        </p:txBody>
      </p:sp>
      <p:sp>
        <p:nvSpPr>
          <p:cNvPr id="126" name="Shape 108"/>
          <p:cNvSpPr/>
          <p:nvPr/>
        </p:nvSpPr>
        <p:spPr>
          <a:xfrm>
            <a:off x="6388456" y="2500884"/>
            <a:ext cx="1708328" cy="50292"/>
          </a:xfrm>
          <a:prstGeom prst="roundRect">
            <a:avLst>
              <a:gd name="adj" fmla="val 49091"/>
            </a:avLst>
          </a:prstGeom>
          <a:solidFill>
            <a:srgbClr val="E5E9F0"/>
          </a:solidFill>
          <a:ln w="12700">
            <a:solidFill>
              <a:srgbClr val="E5E9F0"/>
            </a:solidFill>
            <a:prstDash val="solid"/>
          </a:ln>
        </p:spPr>
      </p:sp>
      <p:sp>
        <p:nvSpPr>
          <p:cNvPr id="127" name="Shape 109"/>
          <p:cNvSpPr/>
          <p:nvPr/>
        </p:nvSpPr>
        <p:spPr>
          <a:xfrm>
            <a:off x="6388456" y="2500884"/>
            <a:ext cx="1537495" cy="50292"/>
          </a:xfrm>
          <a:prstGeom prst="roundRect">
            <a:avLst>
              <a:gd name="adj" fmla="val 49091"/>
            </a:avLst>
          </a:prstGeom>
          <a:solidFill>
            <a:srgbClr val="7A4FD3"/>
          </a:solidFill>
          <a:ln w="12700">
            <a:solidFill>
              <a:srgbClr val="7A4FD3"/>
            </a:solidFill>
            <a:prstDash val="solid"/>
          </a:ln>
        </p:spPr>
      </p:sp>
      <p:sp>
        <p:nvSpPr>
          <p:cNvPr id="128" name="Text 110"/>
          <p:cNvSpPr txBox="1"/>
          <p:nvPr/>
        </p:nvSpPr>
        <p:spPr>
          <a:xfrm>
            <a:off x="6388456" y="2624328"/>
            <a:ext cx="230268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Descargo de avalúo y mutuo, asignación, gestiones electrónicas y notas masivas.</a:t>
            </a:r>
            <a:endParaRPr lang="en-US" sz="900" dirty="0"/>
          </a:p>
        </p:txBody>
      </p:sp>
      <p:sp>
        <p:nvSpPr>
          <p:cNvPr id="129" name="Text 111"/>
          <p:cNvSpPr txBox="1"/>
          <p:nvPr/>
        </p:nvSpPr>
        <p:spPr>
          <a:xfrm>
            <a:off x="6388456" y="3094330"/>
            <a:ext cx="2302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F2937"/>
                </a:solidFill>
              </a:rPr>
              <a:t>Acta de sesión 29/08/2026</a:t>
            </a:r>
            <a:endParaRPr lang="en-US" sz="1050" dirty="0"/>
          </a:p>
        </p:txBody>
      </p:sp>
      <p:sp>
        <p:nvSpPr>
          <p:cNvPr id="130" name="Text 112"/>
          <p:cNvSpPr txBox="1"/>
          <p:nvPr/>
        </p:nvSpPr>
        <p:spPr>
          <a:xfrm>
            <a:off x="8142503" y="3240634"/>
            <a:ext cx="5486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7A4FD3"/>
                </a:solidFill>
              </a:rPr>
              <a:t>90%</a:t>
            </a:r>
            <a:endParaRPr lang="en-US" sz="1050" dirty="0"/>
          </a:p>
        </p:txBody>
      </p:sp>
      <p:sp>
        <p:nvSpPr>
          <p:cNvPr id="131" name="Shape 113"/>
          <p:cNvSpPr/>
          <p:nvPr/>
        </p:nvSpPr>
        <p:spPr>
          <a:xfrm>
            <a:off x="6388456" y="3309214"/>
            <a:ext cx="1708328" cy="50292"/>
          </a:xfrm>
          <a:prstGeom prst="roundRect">
            <a:avLst>
              <a:gd name="adj" fmla="val 49091"/>
            </a:avLst>
          </a:prstGeom>
          <a:solidFill>
            <a:srgbClr val="E5E9F0"/>
          </a:solidFill>
          <a:ln w="12700">
            <a:solidFill>
              <a:srgbClr val="E5E9F0"/>
            </a:solidFill>
            <a:prstDash val="solid"/>
          </a:ln>
        </p:spPr>
      </p:sp>
      <p:sp>
        <p:nvSpPr>
          <p:cNvPr id="132" name="Shape 114"/>
          <p:cNvSpPr/>
          <p:nvPr/>
        </p:nvSpPr>
        <p:spPr>
          <a:xfrm>
            <a:off x="6388456" y="3309214"/>
            <a:ext cx="1537495" cy="50292"/>
          </a:xfrm>
          <a:prstGeom prst="roundRect">
            <a:avLst>
              <a:gd name="adj" fmla="val 49091"/>
            </a:avLst>
          </a:prstGeom>
          <a:solidFill>
            <a:srgbClr val="7A4FD3"/>
          </a:solidFill>
          <a:ln w="12700">
            <a:solidFill>
              <a:srgbClr val="7A4FD3"/>
            </a:solidFill>
            <a:prstDash val="solid"/>
          </a:ln>
        </p:spPr>
      </p:sp>
      <p:sp>
        <p:nvSpPr>
          <p:cNvPr id="133" name="Text 115"/>
          <p:cNvSpPr txBox="1"/>
          <p:nvPr/>
        </p:nvSpPr>
        <p:spPr>
          <a:xfrm>
            <a:off x="6388456" y="3432658"/>
            <a:ext cx="2302688" cy="132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Elaboración de acta (90%).</a:t>
            </a:r>
            <a:endParaRPr lang="en-US" sz="900" dirty="0"/>
          </a:p>
        </p:txBody>
      </p:sp>
      <p:sp>
        <p:nvSpPr>
          <p:cNvPr id="134" name="Text 116"/>
          <p:cNvSpPr txBox="1"/>
          <p:nvPr/>
        </p:nvSpPr>
        <p:spPr>
          <a:xfrm>
            <a:off x="6388456" y="3770071"/>
            <a:ext cx="2302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F2937"/>
                </a:solidFill>
              </a:rPr>
              <a:t>Seguimiento actualización avalúos</a:t>
            </a:r>
            <a:endParaRPr lang="en-US" sz="1050" dirty="0"/>
          </a:p>
        </p:txBody>
      </p:sp>
      <p:sp>
        <p:nvSpPr>
          <p:cNvPr id="135" name="Text 117"/>
          <p:cNvSpPr txBox="1"/>
          <p:nvPr/>
        </p:nvSpPr>
        <p:spPr>
          <a:xfrm>
            <a:off x="8142503" y="3916375"/>
            <a:ext cx="5486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7A4FD3"/>
                </a:solidFill>
              </a:rPr>
              <a:t>98%</a:t>
            </a:r>
            <a:endParaRPr lang="en-US" sz="1050" dirty="0"/>
          </a:p>
        </p:txBody>
      </p:sp>
      <p:sp>
        <p:nvSpPr>
          <p:cNvPr id="136" name="Shape 118"/>
          <p:cNvSpPr/>
          <p:nvPr/>
        </p:nvSpPr>
        <p:spPr>
          <a:xfrm>
            <a:off x="6388456" y="3984955"/>
            <a:ext cx="1708328" cy="50292"/>
          </a:xfrm>
          <a:prstGeom prst="roundRect">
            <a:avLst>
              <a:gd name="adj" fmla="val 49091"/>
            </a:avLst>
          </a:prstGeom>
          <a:solidFill>
            <a:srgbClr val="E5E9F0"/>
          </a:solidFill>
          <a:ln w="12700">
            <a:solidFill>
              <a:srgbClr val="E5E9F0"/>
            </a:solidFill>
            <a:prstDash val="solid"/>
          </a:ln>
        </p:spPr>
      </p:sp>
      <p:sp>
        <p:nvSpPr>
          <p:cNvPr id="137" name="Shape 119"/>
          <p:cNvSpPr/>
          <p:nvPr/>
        </p:nvSpPr>
        <p:spPr>
          <a:xfrm>
            <a:off x="6388456" y="3984955"/>
            <a:ext cx="1674161" cy="50292"/>
          </a:xfrm>
          <a:prstGeom prst="roundRect">
            <a:avLst>
              <a:gd name="adj" fmla="val 49091"/>
            </a:avLst>
          </a:prstGeom>
          <a:solidFill>
            <a:srgbClr val="7A4FD3"/>
          </a:solidFill>
          <a:ln w="12700">
            <a:solidFill>
              <a:srgbClr val="7A4FD3"/>
            </a:solidFill>
            <a:prstDash val="solid"/>
          </a:ln>
        </p:spPr>
      </p:sp>
      <p:sp>
        <p:nvSpPr>
          <p:cNvPr id="138" name="Text 120"/>
          <p:cNvSpPr txBox="1"/>
          <p:nvPr/>
        </p:nvSpPr>
        <p:spPr>
          <a:xfrm>
            <a:off x="6388456" y="4108399"/>
            <a:ext cx="230268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Asignación perito (100%), gestiones (90%), notas (100%).</a:t>
            </a:r>
            <a:endParaRPr lang="en-US" sz="900" dirty="0"/>
          </a:p>
        </p:txBody>
      </p:sp>
      <p:sp>
        <p:nvSpPr>
          <p:cNvPr id="139" name="Text 121"/>
          <p:cNvSpPr txBox="1"/>
          <p:nvPr/>
        </p:nvSpPr>
        <p:spPr>
          <a:xfrm>
            <a:off x="6388456" y="4578401"/>
            <a:ext cx="2302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F2937"/>
                </a:solidFill>
              </a:rPr>
              <a:t>Informe Comité para Consejo</a:t>
            </a:r>
            <a:endParaRPr lang="en-US" sz="1050" dirty="0"/>
          </a:p>
        </p:txBody>
      </p:sp>
      <p:sp>
        <p:nvSpPr>
          <p:cNvPr id="140" name="Text 122"/>
          <p:cNvSpPr txBox="1"/>
          <p:nvPr/>
        </p:nvSpPr>
        <p:spPr>
          <a:xfrm>
            <a:off x="8142503" y="4724705"/>
            <a:ext cx="5486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7A4FD3"/>
                </a:solidFill>
              </a:rPr>
              <a:t>95%</a:t>
            </a:r>
            <a:endParaRPr lang="en-US" sz="1050" dirty="0"/>
          </a:p>
        </p:txBody>
      </p:sp>
      <p:sp>
        <p:nvSpPr>
          <p:cNvPr id="141" name="Shape 123"/>
          <p:cNvSpPr/>
          <p:nvPr/>
        </p:nvSpPr>
        <p:spPr>
          <a:xfrm>
            <a:off x="6388456" y="4793285"/>
            <a:ext cx="1708328" cy="50292"/>
          </a:xfrm>
          <a:prstGeom prst="roundRect">
            <a:avLst>
              <a:gd name="adj" fmla="val 49091"/>
            </a:avLst>
          </a:prstGeom>
          <a:solidFill>
            <a:srgbClr val="E5E9F0"/>
          </a:solidFill>
          <a:ln w="12700">
            <a:solidFill>
              <a:srgbClr val="E5E9F0"/>
            </a:solidFill>
            <a:prstDash val="solid"/>
          </a:ln>
        </p:spPr>
      </p:sp>
      <p:sp>
        <p:nvSpPr>
          <p:cNvPr id="142" name="Shape 124"/>
          <p:cNvSpPr/>
          <p:nvPr/>
        </p:nvSpPr>
        <p:spPr>
          <a:xfrm>
            <a:off x="6388456" y="4793285"/>
            <a:ext cx="1622911" cy="50292"/>
          </a:xfrm>
          <a:prstGeom prst="roundRect">
            <a:avLst>
              <a:gd name="adj" fmla="val 49091"/>
            </a:avLst>
          </a:prstGeom>
          <a:solidFill>
            <a:srgbClr val="7A4FD3"/>
          </a:solidFill>
          <a:ln w="12700">
            <a:solidFill>
              <a:srgbClr val="7A4FD3"/>
            </a:solidFill>
            <a:prstDash val="solid"/>
          </a:ln>
        </p:spPr>
      </p:sp>
      <p:sp>
        <p:nvSpPr>
          <p:cNvPr id="143" name="Text 125"/>
          <p:cNvSpPr txBox="1"/>
          <p:nvPr/>
        </p:nvSpPr>
        <p:spPr>
          <a:xfrm>
            <a:off x="6388456" y="4916729"/>
            <a:ext cx="230268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Elaboración informe (90%); gestión Jefe de Seguridad de la Información (100%).</a:t>
            </a:r>
            <a:endParaRPr lang="en-US" sz="900" dirty="0"/>
          </a:p>
        </p:txBody>
      </p:sp>
      <p:sp>
        <p:nvSpPr>
          <p:cNvPr id="144" name="Text 126"/>
          <p:cNvSpPr txBox="1"/>
          <p:nvPr/>
        </p:nvSpPr>
        <p:spPr>
          <a:xfrm>
            <a:off x="6388456" y="5386730"/>
            <a:ext cx="2302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F2937"/>
                </a:solidFill>
              </a:rPr>
              <a:t>Manuales Internos</a:t>
            </a:r>
            <a:endParaRPr lang="en-US" sz="1050" dirty="0"/>
          </a:p>
        </p:txBody>
      </p:sp>
      <p:sp>
        <p:nvSpPr>
          <p:cNvPr id="145" name="Text 127"/>
          <p:cNvSpPr txBox="1"/>
          <p:nvPr/>
        </p:nvSpPr>
        <p:spPr>
          <a:xfrm>
            <a:off x="8142503" y="5533034"/>
            <a:ext cx="3657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6A34A"/>
                </a:solidFill>
              </a:rPr>
              <a:t>100%</a:t>
            </a:r>
            <a:endParaRPr lang="en-US" sz="1050" dirty="0"/>
          </a:p>
        </p:txBody>
      </p:sp>
      <p:pic>
        <p:nvPicPr>
          <p:cNvPr id="146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553983" y="5560466"/>
            <a:ext cx="128016" cy="128016"/>
          </a:xfrm>
          <a:prstGeom prst="rect">
            <a:avLst/>
          </a:prstGeom>
        </p:spPr>
      </p:pic>
      <p:sp>
        <p:nvSpPr>
          <p:cNvPr id="147" name="Shape 128"/>
          <p:cNvSpPr/>
          <p:nvPr/>
        </p:nvSpPr>
        <p:spPr>
          <a:xfrm>
            <a:off x="6388456" y="5601614"/>
            <a:ext cx="1708328" cy="50292"/>
          </a:xfrm>
          <a:prstGeom prst="roundRect">
            <a:avLst>
              <a:gd name="adj" fmla="val 49091"/>
            </a:avLst>
          </a:prstGeom>
          <a:solidFill>
            <a:srgbClr val="E5E9F0"/>
          </a:solidFill>
          <a:ln w="12700">
            <a:solidFill>
              <a:srgbClr val="E5E9F0"/>
            </a:solidFill>
            <a:prstDash val="solid"/>
          </a:ln>
        </p:spPr>
      </p:sp>
      <p:sp>
        <p:nvSpPr>
          <p:cNvPr id="148" name="Shape 129"/>
          <p:cNvSpPr/>
          <p:nvPr/>
        </p:nvSpPr>
        <p:spPr>
          <a:xfrm>
            <a:off x="6388456" y="5601614"/>
            <a:ext cx="1708328" cy="50292"/>
          </a:xfrm>
          <a:prstGeom prst="roundRect">
            <a:avLst>
              <a:gd name="adj" fmla="val 49091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9" name="Text 130"/>
          <p:cNvSpPr txBox="1"/>
          <p:nvPr/>
        </p:nvSpPr>
        <p:spPr>
          <a:xfrm>
            <a:off x="6388456" y="5725058"/>
            <a:ext cx="2302688" cy="132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Informe relativo a Comités (75%).</a:t>
            </a:r>
            <a:endParaRPr lang="en-US" sz="900" dirty="0"/>
          </a:p>
        </p:txBody>
      </p:sp>
      <p:sp>
        <p:nvSpPr>
          <p:cNvPr id="150" name="Text 131"/>
          <p:cNvSpPr txBox="1"/>
          <p:nvPr/>
        </p:nvSpPr>
        <p:spPr>
          <a:xfrm>
            <a:off x="6388456" y="6062472"/>
            <a:ext cx="2302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F2937"/>
                </a:solidFill>
              </a:rPr>
              <a:t>Presentación Junta de Vigilancia</a:t>
            </a:r>
            <a:endParaRPr lang="en-US" sz="1050" dirty="0"/>
          </a:p>
        </p:txBody>
      </p:sp>
      <p:sp>
        <p:nvSpPr>
          <p:cNvPr id="151" name="Text 132"/>
          <p:cNvSpPr txBox="1"/>
          <p:nvPr/>
        </p:nvSpPr>
        <p:spPr>
          <a:xfrm>
            <a:off x="8142503" y="6208776"/>
            <a:ext cx="3657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6A34A"/>
                </a:solidFill>
              </a:rPr>
              <a:t>100%</a:t>
            </a:r>
            <a:endParaRPr lang="en-US" sz="1050" dirty="0"/>
          </a:p>
        </p:txBody>
      </p:sp>
      <p:pic>
        <p:nvPicPr>
          <p:cNvPr id="152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553983" y="6236208"/>
            <a:ext cx="128016" cy="128016"/>
          </a:xfrm>
          <a:prstGeom prst="rect">
            <a:avLst/>
          </a:prstGeom>
        </p:spPr>
      </p:pic>
      <p:sp>
        <p:nvSpPr>
          <p:cNvPr id="153" name="Shape 133"/>
          <p:cNvSpPr/>
          <p:nvPr/>
        </p:nvSpPr>
        <p:spPr>
          <a:xfrm>
            <a:off x="6388456" y="6277356"/>
            <a:ext cx="1708328" cy="50292"/>
          </a:xfrm>
          <a:prstGeom prst="roundRect">
            <a:avLst>
              <a:gd name="adj" fmla="val 49091"/>
            </a:avLst>
          </a:prstGeom>
          <a:solidFill>
            <a:srgbClr val="E5E9F0"/>
          </a:solidFill>
          <a:ln w="12700">
            <a:solidFill>
              <a:srgbClr val="E5E9F0"/>
            </a:solidFill>
            <a:prstDash val="solid"/>
          </a:ln>
        </p:spPr>
      </p:sp>
      <p:sp>
        <p:nvSpPr>
          <p:cNvPr id="154" name="Shape 134"/>
          <p:cNvSpPr/>
          <p:nvPr/>
        </p:nvSpPr>
        <p:spPr>
          <a:xfrm>
            <a:off x="6388456" y="6277356"/>
            <a:ext cx="1708328" cy="50292"/>
          </a:xfrm>
          <a:prstGeom prst="roundRect">
            <a:avLst>
              <a:gd name="adj" fmla="val 49091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55" name="Shape 135"/>
          <p:cNvSpPr/>
          <p:nvPr/>
        </p:nvSpPr>
        <p:spPr>
          <a:xfrm>
            <a:off x="9075191" y="1243584"/>
            <a:ext cx="2705024" cy="5285232"/>
          </a:xfrm>
          <a:prstGeom prst="roundRect">
            <a:avLst>
              <a:gd name="adj" fmla="val 4056"/>
            </a:avLst>
          </a:prstGeom>
          <a:solidFill>
            <a:srgbClr val="FFFFFF"/>
          </a:solidFill>
          <a:ln w="9525">
            <a:solidFill>
              <a:srgbClr val="E3E7E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56" name="Shape 136"/>
          <p:cNvSpPr/>
          <p:nvPr/>
        </p:nvSpPr>
        <p:spPr>
          <a:xfrm>
            <a:off x="9166631" y="1335024"/>
            <a:ext cx="2522144" cy="841248"/>
          </a:xfrm>
          <a:prstGeom prst="roundRect">
            <a:avLst>
              <a:gd name="adj" fmla="val 10870"/>
            </a:avLst>
          </a:prstGeom>
          <a:solidFill>
            <a:srgbClr val="FDF0E2"/>
          </a:solidFill>
          <a:ln w="12700">
            <a:solidFill>
              <a:srgbClr val="FDF0E2"/>
            </a:solidFill>
            <a:prstDash val="solid"/>
          </a:ln>
        </p:spPr>
      </p:sp>
      <p:sp>
        <p:nvSpPr>
          <p:cNvPr id="157" name="Shape 137"/>
          <p:cNvSpPr/>
          <p:nvPr/>
        </p:nvSpPr>
        <p:spPr>
          <a:xfrm>
            <a:off x="9276359" y="1408176"/>
            <a:ext cx="420624" cy="420624"/>
          </a:xfrm>
          <a:prstGeom prst="ellipse">
            <a:avLst/>
          </a:prstGeom>
          <a:solidFill>
            <a:srgbClr val="E07B12"/>
          </a:solidFill>
          <a:ln w="12700">
            <a:solidFill>
              <a:srgbClr val="E07B12"/>
            </a:solidFill>
            <a:prstDash val="solid"/>
          </a:ln>
        </p:spPr>
      </p:sp>
      <p:pic>
        <p:nvPicPr>
          <p:cNvPr id="158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381515" y="1513332"/>
            <a:ext cx="210312" cy="210312"/>
          </a:xfrm>
          <a:prstGeom prst="rect">
            <a:avLst/>
          </a:prstGeom>
        </p:spPr>
      </p:pic>
      <p:sp>
        <p:nvSpPr>
          <p:cNvPr id="159" name="Text 138"/>
          <p:cNvSpPr txBox="1"/>
          <p:nvPr/>
        </p:nvSpPr>
        <p:spPr>
          <a:xfrm>
            <a:off x="9806711" y="1389888"/>
            <a:ext cx="1836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3D"/>
                </a:solidFill>
              </a:rPr>
              <a:t>RIESGO FINANCIERO</a:t>
            </a:r>
            <a:endParaRPr lang="en-US" sz="1300" dirty="0"/>
          </a:p>
        </p:txBody>
      </p:sp>
      <p:sp>
        <p:nvSpPr>
          <p:cNvPr id="160" name="Text 139"/>
          <p:cNvSpPr txBox="1"/>
          <p:nvPr/>
        </p:nvSpPr>
        <p:spPr>
          <a:xfrm>
            <a:off x="9276359" y="1865376"/>
            <a:ext cx="15163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7B12"/>
                </a:solidFill>
              </a:rPr>
              <a:t>Activos y modelos de riesgo</a:t>
            </a:r>
            <a:endParaRPr lang="en-US" sz="1000" dirty="0"/>
          </a:p>
        </p:txBody>
      </p:sp>
      <p:sp>
        <p:nvSpPr>
          <p:cNvPr id="161" name="Text 140"/>
          <p:cNvSpPr txBox="1"/>
          <p:nvPr/>
        </p:nvSpPr>
        <p:spPr>
          <a:xfrm>
            <a:off x="10820095" y="1700784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E07B12"/>
                </a:solidFill>
              </a:rPr>
              <a:t>88%</a:t>
            </a:r>
            <a:endParaRPr lang="en-US" sz="2200" dirty="0"/>
          </a:p>
        </p:txBody>
      </p:sp>
      <p:sp>
        <p:nvSpPr>
          <p:cNvPr id="162" name="Text 141"/>
          <p:cNvSpPr txBox="1"/>
          <p:nvPr/>
        </p:nvSpPr>
        <p:spPr>
          <a:xfrm>
            <a:off x="10637215" y="1965960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6 actividades</a:t>
            </a:r>
            <a:endParaRPr lang="en-US" sz="900" dirty="0"/>
          </a:p>
        </p:txBody>
      </p:sp>
      <p:sp>
        <p:nvSpPr>
          <p:cNvPr id="163" name="Text 142"/>
          <p:cNvSpPr txBox="1"/>
          <p:nvPr/>
        </p:nvSpPr>
        <p:spPr>
          <a:xfrm>
            <a:off x="9276359" y="2286000"/>
            <a:ext cx="2302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F2937"/>
                </a:solidFill>
              </a:rPr>
              <a:t>Riesgo Crediticio</a:t>
            </a:r>
            <a:endParaRPr lang="en-US" sz="1050" dirty="0"/>
          </a:p>
        </p:txBody>
      </p:sp>
      <p:sp>
        <p:nvSpPr>
          <p:cNvPr id="164" name="Text 143"/>
          <p:cNvSpPr txBox="1"/>
          <p:nvPr/>
        </p:nvSpPr>
        <p:spPr>
          <a:xfrm>
            <a:off x="11030407" y="2432304"/>
            <a:ext cx="5486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E07B12"/>
                </a:solidFill>
              </a:rPr>
              <a:t>90%</a:t>
            </a:r>
            <a:endParaRPr lang="en-US" sz="1050" dirty="0"/>
          </a:p>
        </p:txBody>
      </p:sp>
      <p:sp>
        <p:nvSpPr>
          <p:cNvPr id="165" name="Shape 144"/>
          <p:cNvSpPr/>
          <p:nvPr/>
        </p:nvSpPr>
        <p:spPr>
          <a:xfrm>
            <a:off x="9276359" y="2500884"/>
            <a:ext cx="1708328" cy="50292"/>
          </a:xfrm>
          <a:prstGeom prst="roundRect">
            <a:avLst>
              <a:gd name="adj" fmla="val 49091"/>
            </a:avLst>
          </a:prstGeom>
          <a:solidFill>
            <a:srgbClr val="E5E9F0"/>
          </a:solidFill>
          <a:ln w="12700">
            <a:solidFill>
              <a:srgbClr val="E5E9F0"/>
            </a:solidFill>
            <a:prstDash val="solid"/>
          </a:ln>
        </p:spPr>
      </p:sp>
      <p:sp>
        <p:nvSpPr>
          <p:cNvPr id="166" name="Shape 145"/>
          <p:cNvSpPr/>
          <p:nvPr/>
        </p:nvSpPr>
        <p:spPr>
          <a:xfrm>
            <a:off x="9276359" y="2500884"/>
            <a:ext cx="1537495" cy="50292"/>
          </a:xfrm>
          <a:prstGeom prst="roundRect">
            <a:avLst>
              <a:gd name="adj" fmla="val 49091"/>
            </a:avLst>
          </a:prstGeom>
          <a:solidFill>
            <a:srgbClr val="E07B12"/>
          </a:solidFill>
          <a:ln w="12700">
            <a:solidFill>
              <a:srgbClr val="E07B12"/>
            </a:solidFill>
            <a:prstDash val="solid"/>
          </a:ln>
        </p:spPr>
      </p:sp>
      <p:sp>
        <p:nvSpPr>
          <p:cNvPr id="167" name="Text 146"/>
          <p:cNvSpPr txBox="1"/>
          <p:nvPr/>
        </p:nvSpPr>
        <p:spPr>
          <a:xfrm>
            <a:off x="9276359" y="2624328"/>
            <a:ext cx="230268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Modelos de medición: pérdidas esperadas y cosechas.</a:t>
            </a:r>
            <a:endParaRPr lang="en-US" sz="900" dirty="0"/>
          </a:p>
        </p:txBody>
      </p:sp>
      <p:sp>
        <p:nvSpPr>
          <p:cNvPr id="168" name="Text 147"/>
          <p:cNvSpPr txBox="1"/>
          <p:nvPr/>
        </p:nvSpPr>
        <p:spPr>
          <a:xfrm>
            <a:off x="9276359" y="3014777"/>
            <a:ext cx="2302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F2937"/>
                </a:solidFill>
              </a:rPr>
              <a:t>Liquidez y Mercado</a:t>
            </a:r>
            <a:endParaRPr lang="en-US" sz="1050" dirty="0"/>
          </a:p>
        </p:txBody>
      </p:sp>
      <p:sp>
        <p:nvSpPr>
          <p:cNvPr id="169" name="Text 148"/>
          <p:cNvSpPr txBox="1"/>
          <p:nvPr/>
        </p:nvSpPr>
        <p:spPr>
          <a:xfrm>
            <a:off x="11030407" y="3161081"/>
            <a:ext cx="5486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E07B12"/>
                </a:solidFill>
              </a:rPr>
              <a:t>97%</a:t>
            </a:r>
            <a:endParaRPr lang="en-US" sz="1050" dirty="0"/>
          </a:p>
        </p:txBody>
      </p:sp>
      <p:sp>
        <p:nvSpPr>
          <p:cNvPr id="170" name="Shape 149"/>
          <p:cNvSpPr/>
          <p:nvPr/>
        </p:nvSpPr>
        <p:spPr>
          <a:xfrm>
            <a:off x="9276359" y="3229661"/>
            <a:ext cx="1708328" cy="50292"/>
          </a:xfrm>
          <a:prstGeom prst="roundRect">
            <a:avLst>
              <a:gd name="adj" fmla="val 49091"/>
            </a:avLst>
          </a:prstGeom>
          <a:solidFill>
            <a:srgbClr val="E5E9F0"/>
          </a:solidFill>
          <a:ln w="12700">
            <a:solidFill>
              <a:srgbClr val="E5E9F0"/>
            </a:solidFill>
            <a:prstDash val="solid"/>
          </a:ln>
        </p:spPr>
      </p:sp>
      <p:sp>
        <p:nvSpPr>
          <p:cNvPr id="171" name="Shape 150"/>
          <p:cNvSpPr/>
          <p:nvPr/>
        </p:nvSpPr>
        <p:spPr>
          <a:xfrm>
            <a:off x="9276359" y="3229661"/>
            <a:ext cx="1657078" cy="50292"/>
          </a:xfrm>
          <a:prstGeom prst="roundRect">
            <a:avLst>
              <a:gd name="adj" fmla="val 49091"/>
            </a:avLst>
          </a:prstGeom>
          <a:solidFill>
            <a:srgbClr val="E07B12"/>
          </a:solidFill>
          <a:ln w="12700">
            <a:solidFill>
              <a:srgbClr val="E07B12"/>
            </a:solidFill>
            <a:prstDash val="solid"/>
          </a:ln>
        </p:spPr>
      </p:sp>
      <p:sp>
        <p:nvSpPr>
          <p:cNvPr id="172" name="Text 151"/>
          <p:cNvSpPr txBox="1"/>
          <p:nvPr/>
        </p:nvSpPr>
        <p:spPr>
          <a:xfrm>
            <a:off x="9276359" y="3353105"/>
            <a:ext cx="230268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Modelos medición (90%); Anexo 03 NRP-05 (100%); escenarios regulatorios (100%).</a:t>
            </a:r>
            <a:endParaRPr lang="en-US" sz="900" dirty="0"/>
          </a:p>
        </p:txBody>
      </p:sp>
      <p:sp>
        <p:nvSpPr>
          <p:cNvPr id="173" name="Text 152"/>
          <p:cNvSpPr txBox="1"/>
          <p:nvPr/>
        </p:nvSpPr>
        <p:spPr>
          <a:xfrm>
            <a:off x="9276359" y="3743554"/>
            <a:ext cx="2302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F2937"/>
                </a:solidFill>
              </a:rPr>
              <a:t>Activos de Riesgo</a:t>
            </a:r>
            <a:endParaRPr lang="en-US" sz="1050" dirty="0"/>
          </a:p>
        </p:txBody>
      </p:sp>
      <p:sp>
        <p:nvSpPr>
          <p:cNvPr id="174" name="Text 153"/>
          <p:cNvSpPr txBox="1"/>
          <p:nvPr/>
        </p:nvSpPr>
        <p:spPr>
          <a:xfrm>
            <a:off x="11030407" y="3889858"/>
            <a:ext cx="3657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6A34A"/>
                </a:solidFill>
              </a:rPr>
              <a:t>100%</a:t>
            </a:r>
            <a:endParaRPr lang="en-US" sz="1050" dirty="0"/>
          </a:p>
        </p:txBody>
      </p:sp>
      <p:pic>
        <p:nvPicPr>
          <p:cNvPr id="175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1441887" y="3917290"/>
            <a:ext cx="128016" cy="128016"/>
          </a:xfrm>
          <a:prstGeom prst="rect">
            <a:avLst/>
          </a:prstGeom>
        </p:spPr>
      </p:pic>
      <p:sp>
        <p:nvSpPr>
          <p:cNvPr id="176" name="Shape 154"/>
          <p:cNvSpPr/>
          <p:nvPr/>
        </p:nvSpPr>
        <p:spPr>
          <a:xfrm>
            <a:off x="9276359" y="3958438"/>
            <a:ext cx="1708328" cy="50292"/>
          </a:xfrm>
          <a:prstGeom prst="roundRect">
            <a:avLst>
              <a:gd name="adj" fmla="val 49091"/>
            </a:avLst>
          </a:prstGeom>
          <a:solidFill>
            <a:srgbClr val="E5E9F0"/>
          </a:solidFill>
          <a:ln w="12700">
            <a:solidFill>
              <a:srgbClr val="E5E9F0"/>
            </a:solidFill>
            <a:prstDash val="solid"/>
          </a:ln>
        </p:spPr>
      </p:sp>
      <p:sp>
        <p:nvSpPr>
          <p:cNvPr id="177" name="Shape 155"/>
          <p:cNvSpPr/>
          <p:nvPr/>
        </p:nvSpPr>
        <p:spPr>
          <a:xfrm>
            <a:off x="9276359" y="3958438"/>
            <a:ext cx="1708328" cy="50292"/>
          </a:xfrm>
          <a:prstGeom prst="roundRect">
            <a:avLst>
              <a:gd name="adj" fmla="val 49091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78" name="Text 156"/>
          <p:cNvSpPr txBox="1"/>
          <p:nvPr/>
        </p:nvSpPr>
        <p:spPr>
          <a:xfrm>
            <a:off x="9276359" y="4081882"/>
            <a:ext cx="230268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NCB-022, Central Riesgo NRP-41, CTRI-RECR y Créditos relacionados (100%).</a:t>
            </a:r>
            <a:endParaRPr lang="en-US" sz="900" dirty="0"/>
          </a:p>
        </p:txBody>
      </p:sp>
      <p:sp>
        <p:nvSpPr>
          <p:cNvPr id="179" name="Text 157"/>
          <p:cNvSpPr txBox="1"/>
          <p:nvPr/>
        </p:nvSpPr>
        <p:spPr>
          <a:xfrm>
            <a:off x="9276359" y="4472330"/>
            <a:ext cx="2302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F2937"/>
                </a:solidFill>
              </a:rPr>
              <a:t>Otros / Monitoreo</a:t>
            </a:r>
            <a:endParaRPr lang="en-US" sz="1050" dirty="0"/>
          </a:p>
        </p:txBody>
      </p:sp>
      <p:sp>
        <p:nvSpPr>
          <p:cNvPr id="180" name="Text 158"/>
          <p:cNvSpPr txBox="1"/>
          <p:nvPr/>
        </p:nvSpPr>
        <p:spPr>
          <a:xfrm>
            <a:off x="11030407" y="4618634"/>
            <a:ext cx="5486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E07B12"/>
                </a:solidFill>
              </a:rPr>
              <a:t>76%</a:t>
            </a:r>
            <a:endParaRPr lang="en-US" sz="1050" dirty="0"/>
          </a:p>
        </p:txBody>
      </p:sp>
      <p:sp>
        <p:nvSpPr>
          <p:cNvPr id="181" name="Shape 159"/>
          <p:cNvSpPr/>
          <p:nvPr/>
        </p:nvSpPr>
        <p:spPr>
          <a:xfrm>
            <a:off x="9276359" y="4687214"/>
            <a:ext cx="1708328" cy="50292"/>
          </a:xfrm>
          <a:prstGeom prst="roundRect">
            <a:avLst>
              <a:gd name="adj" fmla="val 49091"/>
            </a:avLst>
          </a:prstGeom>
          <a:solidFill>
            <a:srgbClr val="E5E9F0"/>
          </a:solidFill>
          <a:ln w="12700">
            <a:solidFill>
              <a:srgbClr val="E5E9F0"/>
            </a:solidFill>
            <a:prstDash val="solid"/>
          </a:ln>
        </p:spPr>
      </p:sp>
      <p:sp>
        <p:nvSpPr>
          <p:cNvPr id="182" name="Shape 160"/>
          <p:cNvSpPr/>
          <p:nvPr/>
        </p:nvSpPr>
        <p:spPr>
          <a:xfrm>
            <a:off x="9276359" y="4687214"/>
            <a:ext cx="1298329" cy="50292"/>
          </a:xfrm>
          <a:prstGeom prst="roundRect">
            <a:avLst>
              <a:gd name="adj" fmla="val 49091"/>
            </a:avLst>
          </a:prstGeom>
          <a:solidFill>
            <a:srgbClr val="E07B12"/>
          </a:solidFill>
          <a:ln w="12700">
            <a:solidFill>
              <a:srgbClr val="E07B12"/>
            </a:solidFill>
            <a:prstDash val="solid"/>
          </a:ln>
        </p:spPr>
      </p:sp>
      <p:sp>
        <p:nvSpPr>
          <p:cNvPr id="183" name="Text 161"/>
          <p:cNvSpPr txBox="1"/>
          <p:nvPr/>
        </p:nvSpPr>
        <p:spPr>
          <a:xfrm>
            <a:off x="9276359" y="4810658"/>
            <a:ext cx="230268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Segmentación (100%); reserva saneamiento (60%); traslados deuda (60%).</a:t>
            </a:r>
            <a:endParaRPr lang="en-US" sz="900" dirty="0"/>
          </a:p>
        </p:txBody>
      </p:sp>
      <p:sp>
        <p:nvSpPr>
          <p:cNvPr id="184" name="Text 162"/>
          <p:cNvSpPr txBox="1"/>
          <p:nvPr/>
        </p:nvSpPr>
        <p:spPr>
          <a:xfrm>
            <a:off x="9276359" y="5201107"/>
            <a:ext cx="2302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F2937"/>
                </a:solidFill>
              </a:rPr>
              <a:t>Proyectos a largo plazo</a:t>
            </a:r>
            <a:endParaRPr lang="en-US" sz="1050" dirty="0"/>
          </a:p>
        </p:txBody>
      </p:sp>
      <p:sp>
        <p:nvSpPr>
          <p:cNvPr id="185" name="Text 163"/>
          <p:cNvSpPr txBox="1"/>
          <p:nvPr/>
        </p:nvSpPr>
        <p:spPr>
          <a:xfrm>
            <a:off x="11030407" y="5347411"/>
            <a:ext cx="5486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E07B12"/>
                </a:solidFill>
              </a:rPr>
              <a:t>63%</a:t>
            </a:r>
            <a:endParaRPr lang="en-US" sz="1050" dirty="0"/>
          </a:p>
        </p:txBody>
      </p:sp>
      <p:sp>
        <p:nvSpPr>
          <p:cNvPr id="186" name="Shape 164"/>
          <p:cNvSpPr/>
          <p:nvPr/>
        </p:nvSpPr>
        <p:spPr>
          <a:xfrm>
            <a:off x="9276359" y="5415991"/>
            <a:ext cx="1708328" cy="50292"/>
          </a:xfrm>
          <a:prstGeom prst="roundRect">
            <a:avLst>
              <a:gd name="adj" fmla="val 49091"/>
            </a:avLst>
          </a:prstGeom>
          <a:solidFill>
            <a:srgbClr val="E5E9F0"/>
          </a:solidFill>
          <a:ln w="12700">
            <a:solidFill>
              <a:srgbClr val="E5E9F0"/>
            </a:solidFill>
            <a:prstDash val="solid"/>
          </a:ln>
        </p:spPr>
      </p:sp>
      <p:sp>
        <p:nvSpPr>
          <p:cNvPr id="187" name="Shape 165"/>
          <p:cNvSpPr/>
          <p:nvPr/>
        </p:nvSpPr>
        <p:spPr>
          <a:xfrm>
            <a:off x="9276359" y="5415991"/>
            <a:ext cx="1076247" cy="50292"/>
          </a:xfrm>
          <a:prstGeom prst="roundRect">
            <a:avLst>
              <a:gd name="adj" fmla="val 49091"/>
            </a:avLst>
          </a:prstGeom>
          <a:solidFill>
            <a:srgbClr val="E07B12"/>
          </a:solidFill>
          <a:ln w="12700">
            <a:solidFill>
              <a:srgbClr val="E07B12"/>
            </a:solidFill>
            <a:prstDash val="solid"/>
          </a:ln>
        </p:spPr>
      </p:sp>
      <p:sp>
        <p:nvSpPr>
          <p:cNvPr id="188" name="Text 166"/>
          <p:cNvSpPr txBox="1"/>
          <p:nvPr/>
        </p:nvSpPr>
        <p:spPr>
          <a:xfrm>
            <a:off x="9276359" y="5539435"/>
            <a:ext cx="230268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Adecuación sistema NRP-41 (10%); expedientes tarjeta (100%); políticas TC (80%).</a:t>
            </a:r>
            <a:endParaRPr lang="en-US" sz="900" dirty="0"/>
          </a:p>
        </p:txBody>
      </p:sp>
      <p:sp>
        <p:nvSpPr>
          <p:cNvPr id="189" name="Text 167"/>
          <p:cNvSpPr txBox="1"/>
          <p:nvPr/>
        </p:nvSpPr>
        <p:spPr>
          <a:xfrm>
            <a:off x="9276359" y="5929884"/>
            <a:ext cx="2302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F2937"/>
                </a:solidFill>
              </a:rPr>
              <a:t>Opiniones y análisis crediticios</a:t>
            </a:r>
            <a:endParaRPr lang="en-US" sz="1050" dirty="0"/>
          </a:p>
        </p:txBody>
      </p:sp>
      <p:sp>
        <p:nvSpPr>
          <p:cNvPr id="190" name="Text 168"/>
          <p:cNvSpPr txBox="1"/>
          <p:nvPr/>
        </p:nvSpPr>
        <p:spPr>
          <a:xfrm>
            <a:off x="11030407" y="6076188"/>
            <a:ext cx="3657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6A34A"/>
                </a:solidFill>
              </a:rPr>
              <a:t>100%</a:t>
            </a:r>
            <a:endParaRPr lang="en-US" sz="1050" dirty="0"/>
          </a:p>
        </p:txBody>
      </p:sp>
      <p:pic>
        <p:nvPicPr>
          <p:cNvPr id="191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1441887" y="6103620"/>
            <a:ext cx="128016" cy="128016"/>
          </a:xfrm>
          <a:prstGeom prst="rect">
            <a:avLst/>
          </a:prstGeom>
        </p:spPr>
      </p:pic>
      <p:sp>
        <p:nvSpPr>
          <p:cNvPr id="192" name="Shape 169"/>
          <p:cNvSpPr/>
          <p:nvPr/>
        </p:nvSpPr>
        <p:spPr>
          <a:xfrm>
            <a:off x="9276359" y="6144768"/>
            <a:ext cx="1708328" cy="50292"/>
          </a:xfrm>
          <a:prstGeom prst="roundRect">
            <a:avLst>
              <a:gd name="adj" fmla="val 49091"/>
            </a:avLst>
          </a:prstGeom>
          <a:solidFill>
            <a:srgbClr val="E5E9F0"/>
          </a:solidFill>
          <a:ln w="12700">
            <a:solidFill>
              <a:srgbClr val="E5E9F0"/>
            </a:solidFill>
            <a:prstDash val="solid"/>
          </a:ln>
        </p:spPr>
      </p:sp>
      <p:sp>
        <p:nvSpPr>
          <p:cNvPr id="193" name="Shape 170"/>
          <p:cNvSpPr/>
          <p:nvPr/>
        </p:nvSpPr>
        <p:spPr>
          <a:xfrm>
            <a:off x="9276359" y="6144768"/>
            <a:ext cx="1708328" cy="50292"/>
          </a:xfrm>
          <a:prstGeom prst="roundRect">
            <a:avLst>
              <a:gd name="adj" fmla="val 49091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94" name="Text 171"/>
          <p:cNvSpPr txBox="1"/>
          <p:nvPr/>
        </p:nvSpPr>
        <p:spPr>
          <a:xfrm>
            <a:off x="9276359" y="6268212"/>
            <a:ext cx="2302688" cy="132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Asociado 8487, caso 25572.</a:t>
            </a:r>
            <a:endParaRPr lang="en-US" sz="900" dirty="0"/>
          </a:p>
        </p:txBody>
      </p:sp>
      <p:sp>
        <p:nvSpPr>
          <p:cNvPr id="195" name="Text 172"/>
          <p:cNvSpPr txBox="1"/>
          <p:nvPr/>
        </p:nvSpPr>
        <p:spPr>
          <a:xfrm>
            <a:off x="411480" y="6583680"/>
            <a:ext cx="11338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6A34A"/>
                </a:solidFill>
              </a:rPr>
              <a:t>● </a:t>
            </a:r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Completada (100%)     </a:t>
            </a:r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● </a:t>
            </a:r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En proceso: color de la categoría     </a:t>
            </a:r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</a:rPr>
              <a:t>Porcentaje de cabecera = avance promedio de la categoría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iesgos">
  <a:themeElements>
    <a:clrScheme name="Riesgos">
      <a:dk1>
        <a:srgbClr val="1F2937"/>
      </a:dk1>
      <a:lt1>
        <a:srgbClr val="FFFFFF"/>
      </a:lt1>
      <a:dk2>
        <a:srgbClr val="0F1B3D"/>
      </a:dk2>
      <a:lt2>
        <a:srgbClr val="F3F5F9"/>
      </a:lt2>
      <a:accent1>
        <a:srgbClr val="0E9F8E"/>
      </a:accent1>
      <a:accent2>
        <a:srgbClr val="2F6FDE"/>
      </a:accent2>
      <a:accent3>
        <a:srgbClr val="7A4FD3"/>
      </a:accent3>
      <a:accent4>
        <a:srgbClr val="E07B12"/>
      </a:accent4>
      <a:accent5>
        <a:srgbClr val="16A34A"/>
      </a:accent5>
      <a:accent6>
        <a:srgbClr val="6B7280"/>
      </a:accent6>
      <a:hlink>
        <a:srgbClr val="2F6FDE"/>
      </a:hlink>
      <a:folHlink>
        <a:srgbClr val="7A4FD3"/>
      </a:folHlink>
    </a:clrScheme>
    <a:fontScheme name="Riesgos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Informe semanal · Administración de Riesgos</dc:title>
  <dc:subject>PptxGenJS Presentation</dc:subject>
  <dc:creator>PptxGenJS</dc:creator>
  <cp:lastModifiedBy>PptxGenJS</cp:lastModifiedBy>
  <cp:revision>1</cp:revision>
  <dcterms:created xsi:type="dcterms:W3CDTF">2026-10-24T17:14:39Z</dcterms:created>
  <dcterms:modified xsi:type="dcterms:W3CDTF">2026-10-24T17:14:39Z</dcterms:modified>
</cp:coreProperties>
</file>