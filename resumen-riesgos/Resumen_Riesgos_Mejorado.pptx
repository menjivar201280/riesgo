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Resumen: 26 actividades, avance promedio 89.6%, 13 completadas y 13 en proceso. Prioridades: Plan de Riesgo Operacional 2026 y 3.ª prueba de continuidad (45%), Proyectos a largo plazo (63%), Eventos de riesgo informados (67%).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47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DE"/>
                </a:solidFill>
              </a:rPr>
              <a:t>INFORME SEMANAL · AVANCE DE ACTIVIDADES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76656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3D"/>
                </a:solidFill>
              </a:rPr>
              <a:t>Departamento de Administración de Riesgos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217359" y="329184"/>
            <a:ext cx="105156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5375" y="466344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45375" y="67665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3D"/>
                </a:solidFill>
              </a:rPr>
              <a:t>26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45375" y="98755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Actividades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387791" y="329184"/>
            <a:ext cx="105156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5807" y="466344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515807" y="67665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6FDE"/>
                </a:solidFill>
              </a:rPr>
              <a:t>89,6%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8515807" y="98755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Avance prom.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9558223" y="329184"/>
            <a:ext cx="105156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6239" y="466344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686239" y="67665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</a:rPr>
              <a:t>13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9686239" y="98755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Completadas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10728655" y="329184"/>
            <a:ext cx="105156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6671" y="466344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856671" y="67665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B12"/>
                </a:solidFill>
              </a:rPr>
              <a:t>13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10856671" y="98755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En proceso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11480" y="1481328"/>
            <a:ext cx="2705024" cy="4983480"/>
          </a:xfrm>
          <a:prstGeom prst="roundRect">
            <a:avLst>
              <a:gd name="adj" fmla="val 4056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02920" y="1572768"/>
            <a:ext cx="2522144" cy="1024128"/>
          </a:xfrm>
          <a:prstGeom prst="roundRect">
            <a:avLst>
              <a:gd name="adj" fmla="val 8929"/>
            </a:avLst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12648" y="1682496"/>
            <a:ext cx="457200" cy="45720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" y="1796796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179576" y="1682496"/>
            <a:ext cx="179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</a:rPr>
              <a:t>CUMPLIMIENTO REGULATORIO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612648" y="2212848"/>
            <a:ext cx="151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</a:rPr>
              <a:t>Requerimientos SSF y acuerdos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2156384" y="204825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E9F8E"/>
                </a:solidFill>
              </a:rPr>
              <a:t>98%</a:t>
            </a:r>
            <a:endParaRPr lang="en-US" sz="2200" dirty="0"/>
          </a:p>
        </p:txBody>
      </p:sp>
      <p:sp>
        <p:nvSpPr>
          <p:cNvPr id="27" name="Text 20"/>
          <p:cNvSpPr txBox="1"/>
          <p:nvPr/>
        </p:nvSpPr>
        <p:spPr>
          <a:xfrm>
            <a:off x="1973504" y="236829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 actividades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640080" y="2779776"/>
            <a:ext cx="224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Req. adicional SSF · 22742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2339264" y="2999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9F8E"/>
                </a:solidFill>
              </a:rPr>
              <a:t>90%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40080" y="3063240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40080" y="3063240"/>
            <a:ext cx="1512806" cy="73152"/>
          </a:xfrm>
          <a:prstGeom prst="roundRect">
            <a:avLst>
              <a:gd name="adj" fmla="val 50000"/>
            </a:avLst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640080" y="3375660"/>
            <a:ext cx="224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Req. DS-SABAO-BCS-BC-23486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2339264" y="35951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100%</a:t>
            </a:r>
            <a:endParaRPr lang="en-US" sz="11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9888" y="3631692"/>
            <a:ext cx="128016" cy="128016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640080" y="3659124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640080" y="3659124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640080" y="3971544"/>
            <a:ext cx="224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Gobierno Corporativo · 22741</a:t>
            </a:r>
            <a:endParaRPr lang="en-US" sz="1100" dirty="0"/>
          </a:p>
        </p:txBody>
      </p:sp>
      <p:sp>
        <p:nvSpPr>
          <p:cNvPr id="38" name="Text 30"/>
          <p:cNvSpPr txBox="1"/>
          <p:nvPr/>
        </p:nvSpPr>
        <p:spPr>
          <a:xfrm>
            <a:off x="2339264" y="419100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100%</a:t>
            </a:r>
            <a:endParaRPr lang="en-US" sz="1100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59888" y="4227576"/>
            <a:ext cx="128016" cy="128016"/>
          </a:xfrm>
          <a:prstGeom prst="rect">
            <a:avLst/>
          </a:prstGeom>
        </p:spPr>
      </p:pic>
      <p:sp>
        <p:nvSpPr>
          <p:cNvPr id="40" name="Shape 31"/>
          <p:cNvSpPr/>
          <p:nvPr/>
        </p:nvSpPr>
        <p:spPr>
          <a:xfrm>
            <a:off x="640080" y="4255008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640080" y="4255008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640080" y="4567428"/>
            <a:ext cx="224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Recalificación · Asociado 22494</a:t>
            </a:r>
            <a:endParaRPr lang="en-US" sz="1100" dirty="0"/>
          </a:p>
        </p:txBody>
      </p:sp>
      <p:sp>
        <p:nvSpPr>
          <p:cNvPr id="43" name="Text 34"/>
          <p:cNvSpPr txBox="1"/>
          <p:nvPr/>
        </p:nvSpPr>
        <p:spPr>
          <a:xfrm>
            <a:off x="2339264" y="478688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100%</a:t>
            </a:r>
            <a:endParaRPr lang="en-US" sz="1100" dirty="0"/>
          </a:p>
        </p:txBody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59888" y="4823460"/>
            <a:ext cx="128016" cy="128016"/>
          </a:xfrm>
          <a:prstGeom prst="rect">
            <a:avLst/>
          </a:prstGeom>
        </p:spPr>
      </p:pic>
      <p:sp>
        <p:nvSpPr>
          <p:cNvPr id="45" name="Shape 35"/>
          <p:cNvSpPr/>
          <p:nvPr/>
        </p:nvSpPr>
        <p:spPr>
          <a:xfrm>
            <a:off x="640080" y="4850892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46" name="Shape 36"/>
          <p:cNvSpPr/>
          <p:nvPr/>
        </p:nvSpPr>
        <p:spPr>
          <a:xfrm>
            <a:off x="640080" y="4850892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7" name="Text 37"/>
          <p:cNvSpPr txBox="1"/>
          <p:nvPr/>
        </p:nvSpPr>
        <p:spPr>
          <a:xfrm>
            <a:off x="640080" y="5163312"/>
            <a:ext cx="224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Servicios Tercerizados</a:t>
            </a:r>
            <a:endParaRPr lang="en-US" sz="1100" dirty="0"/>
          </a:p>
        </p:txBody>
      </p:sp>
      <p:sp>
        <p:nvSpPr>
          <p:cNvPr id="48" name="Text 38"/>
          <p:cNvSpPr txBox="1"/>
          <p:nvPr/>
        </p:nvSpPr>
        <p:spPr>
          <a:xfrm>
            <a:off x="2339264" y="538276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100%</a:t>
            </a:r>
            <a:endParaRPr lang="en-US" sz="1100" dirty="0"/>
          </a:p>
        </p:txBody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59888" y="5419344"/>
            <a:ext cx="128016" cy="128016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640080" y="5446776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51" name="Shape 40"/>
          <p:cNvSpPr/>
          <p:nvPr/>
        </p:nvSpPr>
        <p:spPr>
          <a:xfrm>
            <a:off x="640080" y="5446776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41"/>
          <p:cNvSpPr txBox="1"/>
          <p:nvPr/>
        </p:nvSpPr>
        <p:spPr>
          <a:xfrm>
            <a:off x="640080" y="5759196"/>
            <a:ext cx="224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Período de gracia · Asociado 25572</a:t>
            </a:r>
            <a:endParaRPr lang="en-US" sz="1100" dirty="0"/>
          </a:p>
        </p:txBody>
      </p:sp>
      <p:sp>
        <p:nvSpPr>
          <p:cNvPr id="53" name="Text 42"/>
          <p:cNvSpPr txBox="1"/>
          <p:nvPr/>
        </p:nvSpPr>
        <p:spPr>
          <a:xfrm>
            <a:off x="2339264" y="59786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100%</a:t>
            </a:r>
            <a:endParaRPr lang="en-US" sz="1100" dirty="0"/>
          </a:p>
        </p:txBody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59888" y="6015228"/>
            <a:ext cx="128016" cy="128016"/>
          </a:xfrm>
          <a:prstGeom prst="rect">
            <a:avLst/>
          </a:prstGeom>
        </p:spPr>
      </p:pic>
      <p:sp>
        <p:nvSpPr>
          <p:cNvPr id="55" name="Shape 43"/>
          <p:cNvSpPr/>
          <p:nvPr/>
        </p:nvSpPr>
        <p:spPr>
          <a:xfrm>
            <a:off x="640080" y="6042660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56" name="Shape 44"/>
          <p:cNvSpPr/>
          <p:nvPr/>
        </p:nvSpPr>
        <p:spPr>
          <a:xfrm>
            <a:off x="640080" y="6042660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7" name="Shape 45"/>
          <p:cNvSpPr/>
          <p:nvPr/>
        </p:nvSpPr>
        <p:spPr>
          <a:xfrm>
            <a:off x="3299384" y="1481328"/>
            <a:ext cx="2705024" cy="4983480"/>
          </a:xfrm>
          <a:prstGeom prst="roundRect">
            <a:avLst>
              <a:gd name="adj" fmla="val 4056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8" name="Shape 46"/>
          <p:cNvSpPr/>
          <p:nvPr/>
        </p:nvSpPr>
        <p:spPr>
          <a:xfrm>
            <a:off x="3390824" y="1572768"/>
            <a:ext cx="2522144" cy="1024128"/>
          </a:xfrm>
          <a:prstGeom prst="roundRect">
            <a:avLst>
              <a:gd name="adj" fmla="val 8929"/>
            </a:avLst>
          </a:prstGeom>
          <a:solidFill>
            <a:srgbClr val="E6EEFC"/>
          </a:solidFill>
          <a:ln w="12700">
            <a:solidFill>
              <a:srgbClr val="E6EEFC"/>
            </a:solidFill>
            <a:prstDash val="solid"/>
          </a:ln>
        </p:spPr>
      </p:sp>
      <p:sp>
        <p:nvSpPr>
          <p:cNvPr id="59" name="Shape 47"/>
          <p:cNvSpPr/>
          <p:nvPr/>
        </p:nvSpPr>
        <p:spPr>
          <a:xfrm>
            <a:off x="3500552" y="1682496"/>
            <a:ext cx="457200" cy="457200"/>
          </a:xfrm>
          <a:prstGeom prst="ellipse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pic>
        <p:nvPicPr>
          <p:cNvPr id="6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14852" y="1796796"/>
            <a:ext cx="228600" cy="228600"/>
          </a:xfrm>
          <a:prstGeom prst="rect">
            <a:avLst/>
          </a:prstGeom>
        </p:spPr>
      </p:pic>
      <p:sp>
        <p:nvSpPr>
          <p:cNvPr id="61" name="Text 48"/>
          <p:cNvSpPr txBox="1"/>
          <p:nvPr/>
        </p:nvSpPr>
        <p:spPr>
          <a:xfrm>
            <a:off x="4067480" y="1682496"/>
            <a:ext cx="179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</a:rPr>
              <a:t>RIESGO OPERACIONAL</a:t>
            </a:r>
            <a:endParaRPr lang="en-US" sz="1300" dirty="0"/>
          </a:p>
        </p:txBody>
      </p:sp>
      <p:sp>
        <p:nvSpPr>
          <p:cNvPr id="62" name="Text 49"/>
          <p:cNvSpPr txBox="1"/>
          <p:nvPr/>
        </p:nvSpPr>
        <p:spPr>
          <a:xfrm>
            <a:off x="3500552" y="2212848"/>
            <a:ext cx="151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FDE"/>
                </a:solidFill>
              </a:rPr>
              <a:t>Gestión y continuidad</a:t>
            </a:r>
            <a:endParaRPr lang="en-US" sz="1000" dirty="0"/>
          </a:p>
        </p:txBody>
      </p:sp>
      <p:sp>
        <p:nvSpPr>
          <p:cNvPr id="63" name="Text 50"/>
          <p:cNvSpPr txBox="1"/>
          <p:nvPr/>
        </p:nvSpPr>
        <p:spPr>
          <a:xfrm>
            <a:off x="5044288" y="204825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F6FDE"/>
                </a:solidFill>
              </a:rPr>
              <a:t>80%</a:t>
            </a:r>
            <a:endParaRPr lang="en-US" sz="2200" dirty="0"/>
          </a:p>
        </p:txBody>
      </p:sp>
      <p:sp>
        <p:nvSpPr>
          <p:cNvPr id="64" name="Text 51"/>
          <p:cNvSpPr txBox="1"/>
          <p:nvPr/>
        </p:nvSpPr>
        <p:spPr>
          <a:xfrm>
            <a:off x="4861408" y="236829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8 actividades</a:t>
            </a:r>
            <a:endParaRPr lang="en-US" sz="900" dirty="0"/>
          </a:p>
        </p:txBody>
      </p:sp>
      <p:sp>
        <p:nvSpPr>
          <p:cNvPr id="65" name="Text 52"/>
          <p:cNvSpPr txBox="1"/>
          <p:nvPr/>
        </p:nvSpPr>
        <p:spPr>
          <a:xfrm>
            <a:off x="3527984" y="2779776"/>
            <a:ext cx="224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Plan de Riesgo Operacional 2026</a:t>
            </a:r>
            <a:endParaRPr lang="en-US" sz="1100" dirty="0"/>
          </a:p>
        </p:txBody>
      </p:sp>
      <p:sp>
        <p:nvSpPr>
          <p:cNvPr id="66" name="Text 53"/>
          <p:cNvSpPr txBox="1"/>
          <p:nvPr/>
        </p:nvSpPr>
        <p:spPr>
          <a:xfrm>
            <a:off x="5227168" y="2999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FDE"/>
                </a:solidFill>
              </a:rPr>
              <a:t>45%</a:t>
            </a:r>
            <a:endParaRPr lang="en-US" sz="1100" dirty="0"/>
          </a:p>
        </p:txBody>
      </p:sp>
      <p:sp>
        <p:nvSpPr>
          <p:cNvPr id="67" name="Shape 54"/>
          <p:cNvSpPr/>
          <p:nvPr/>
        </p:nvSpPr>
        <p:spPr>
          <a:xfrm>
            <a:off x="3527984" y="3063240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68" name="Shape 55"/>
          <p:cNvSpPr/>
          <p:nvPr/>
        </p:nvSpPr>
        <p:spPr>
          <a:xfrm>
            <a:off x="3527984" y="3063240"/>
            <a:ext cx="756403" cy="73152"/>
          </a:xfrm>
          <a:prstGeom prst="roundRect">
            <a:avLst>
              <a:gd name="adj" fmla="val 50000"/>
            </a:avLst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69" name="Text 56"/>
          <p:cNvSpPr txBox="1"/>
          <p:nvPr/>
        </p:nvSpPr>
        <p:spPr>
          <a:xfrm>
            <a:off x="3527984" y="3226689"/>
            <a:ext cx="224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3.ª prueba de continuidad</a:t>
            </a:r>
            <a:endParaRPr lang="en-US" sz="1100" dirty="0"/>
          </a:p>
        </p:txBody>
      </p:sp>
      <p:sp>
        <p:nvSpPr>
          <p:cNvPr id="70" name="Text 57"/>
          <p:cNvSpPr txBox="1"/>
          <p:nvPr/>
        </p:nvSpPr>
        <p:spPr>
          <a:xfrm>
            <a:off x="5227168" y="3446145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FDE"/>
                </a:solidFill>
              </a:rPr>
              <a:t>45%</a:t>
            </a:r>
            <a:endParaRPr lang="en-US" sz="1100" dirty="0"/>
          </a:p>
        </p:txBody>
      </p:sp>
      <p:sp>
        <p:nvSpPr>
          <p:cNvPr id="71" name="Shape 58"/>
          <p:cNvSpPr/>
          <p:nvPr/>
        </p:nvSpPr>
        <p:spPr>
          <a:xfrm>
            <a:off x="3527984" y="3510153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72" name="Shape 59"/>
          <p:cNvSpPr/>
          <p:nvPr/>
        </p:nvSpPr>
        <p:spPr>
          <a:xfrm>
            <a:off x="3527984" y="3510153"/>
            <a:ext cx="756403" cy="73152"/>
          </a:xfrm>
          <a:prstGeom prst="roundRect">
            <a:avLst>
              <a:gd name="adj" fmla="val 50000"/>
            </a:avLst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73" name="Text 60"/>
          <p:cNvSpPr txBox="1"/>
          <p:nvPr/>
        </p:nvSpPr>
        <p:spPr>
          <a:xfrm>
            <a:off x="3527984" y="3673602"/>
            <a:ext cx="224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Eventos de riesgo informados</a:t>
            </a:r>
            <a:endParaRPr lang="en-US" sz="1100" dirty="0"/>
          </a:p>
        </p:txBody>
      </p:sp>
      <p:sp>
        <p:nvSpPr>
          <p:cNvPr id="74" name="Text 61"/>
          <p:cNvSpPr txBox="1"/>
          <p:nvPr/>
        </p:nvSpPr>
        <p:spPr>
          <a:xfrm>
            <a:off x="5227168" y="389305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FDE"/>
                </a:solidFill>
              </a:rPr>
              <a:t>67%</a:t>
            </a:r>
            <a:endParaRPr lang="en-US" sz="1100" dirty="0"/>
          </a:p>
        </p:txBody>
      </p:sp>
      <p:sp>
        <p:nvSpPr>
          <p:cNvPr id="75" name="Shape 62"/>
          <p:cNvSpPr/>
          <p:nvPr/>
        </p:nvSpPr>
        <p:spPr>
          <a:xfrm>
            <a:off x="3527984" y="3957066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76" name="Shape 63"/>
          <p:cNvSpPr/>
          <p:nvPr/>
        </p:nvSpPr>
        <p:spPr>
          <a:xfrm>
            <a:off x="3527984" y="3957066"/>
            <a:ext cx="1126200" cy="73152"/>
          </a:xfrm>
          <a:prstGeom prst="roundRect">
            <a:avLst>
              <a:gd name="adj" fmla="val 50000"/>
            </a:avLst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77" name="Text 64"/>
          <p:cNvSpPr txBox="1"/>
          <p:nvPr/>
        </p:nvSpPr>
        <p:spPr>
          <a:xfrm>
            <a:off x="3527984" y="4120515"/>
            <a:ext cx="224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Caídas TC y Orion</a:t>
            </a:r>
            <a:endParaRPr lang="en-US" sz="1100" dirty="0"/>
          </a:p>
        </p:txBody>
      </p:sp>
      <p:sp>
        <p:nvSpPr>
          <p:cNvPr id="78" name="Text 65"/>
          <p:cNvSpPr txBox="1"/>
          <p:nvPr/>
        </p:nvSpPr>
        <p:spPr>
          <a:xfrm>
            <a:off x="5227168" y="4339971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FDE"/>
                </a:solidFill>
              </a:rPr>
              <a:t>83%</a:t>
            </a:r>
            <a:endParaRPr lang="en-US" sz="1100" dirty="0"/>
          </a:p>
        </p:txBody>
      </p:sp>
      <p:sp>
        <p:nvSpPr>
          <p:cNvPr id="79" name="Shape 66"/>
          <p:cNvSpPr/>
          <p:nvPr/>
        </p:nvSpPr>
        <p:spPr>
          <a:xfrm>
            <a:off x="3527984" y="4403979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80" name="Shape 67"/>
          <p:cNvSpPr/>
          <p:nvPr/>
        </p:nvSpPr>
        <p:spPr>
          <a:xfrm>
            <a:off x="3527984" y="4403979"/>
            <a:ext cx="1395144" cy="73152"/>
          </a:xfrm>
          <a:prstGeom prst="roundRect">
            <a:avLst>
              <a:gd name="adj" fmla="val 50000"/>
            </a:avLst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81" name="Text 68"/>
          <p:cNvSpPr txBox="1"/>
          <p:nvPr/>
        </p:nvSpPr>
        <p:spPr>
          <a:xfrm>
            <a:off x="3527984" y="4567428"/>
            <a:ext cx="224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Comité de Riesgos</a:t>
            </a:r>
            <a:endParaRPr lang="en-US" sz="1100" dirty="0"/>
          </a:p>
        </p:txBody>
      </p:sp>
      <p:sp>
        <p:nvSpPr>
          <p:cNvPr id="82" name="Text 69"/>
          <p:cNvSpPr txBox="1"/>
          <p:nvPr/>
        </p:nvSpPr>
        <p:spPr>
          <a:xfrm>
            <a:off x="5227168" y="478688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100%</a:t>
            </a:r>
            <a:endParaRPr lang="en-US" sz="1100" dirty="0"/>
          </a:p>
        </p:txBody>
      </p:sp>
      <p:pic>
        <p:nvPicPr>
          <p:cNvPr id="8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47792" y="4823460"/>
            <a:ext cx="128016" cy="128016"/>
          </a:xfrm>
          <a:prstGeom prst="rect">
            <a:avLst/>
          </a:prstGeom>
        </p:spPr>
      </p:pic>
      <p:sp>
        <p:nvSpPr>
          <p:cNvPr id="84" name="Shape 70"/>
          <p:cNvSpPr/>
          <p:nvPr/>
        </p:nvSpPr>
        <p:spPr>
          <a:xfrm>
            <a:off x="3527984" y="4850892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85" name="Shape 71"/>
          <p:cNvSpPr/>
          <p:nvPr/>
        </p:nvSpPr>
        <p:spPr>
          <a:xfrm>
            <a:off x="3527984" y="4850892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6" name="Text 72"/>
          <p:cNvSpPr txBox="1"/>
          <p:nvPr/>
        </p:nvSpPr>
        <p:spPr>
          <a:xfrm>
            <a:off x="3527984" y="5014341"/>
            <a:ext cx="224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Boletín de riesgos</a:t>
            </a:r>
            <a:endParaRPr lang="en-US" sz="1100" dirty="0"/>
          </a:p>
        </p:txBody>
      </p:sp>
      <p:sp>
        <p:nvSpPr>
          <p:cNvPr id="87" name="Text 73"/>
          <p:cNvSpPr txBox="1"/>
          <p:nvPr/>
        </p:nvSpPr>
        <p:spPr>
          <a:xfrm>
            <a:off x="5227168" y="5233797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100%</a:t>
            </a:r>
            <a:endParaRPr lang="en-US" sz="1100" dirty="0"/>
          </a:p>
        </p:txBody>
      </p:sp>
      <p:pic>
        <p:nvPicPr>
          <p:cNvPr id="8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47792" y="5270373"/>
            <a:ext cx="128016" cy="128016"/>
          </a:xfrm>
          <a:prstGeom prst="rect">
            <a:avLst/>
          </a:prstGeom>
        </p:spPr>
      </p:pic>
      <p:sp>
        <p:nvSpPr>
          <p:cNvPr id="89" name="Shape 74"/>
          <p:cNvSpPr/>
          <p:nvPr/>
        </p:nvSpPr>
        <p:spPr>
          <a:xfrm>
            <a:off x="3527984" y="5297805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90" name="Shape 75"/>
          <p:cNvSpPr/>
          <p:nvPr/>
        </p:nvSpPr>
        <p:spPr>
          <a:xfrm>
            <a:off x="3527984" y="5297805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1" name="Text 76"/>
          <p:cNvSpPr txBox="1"/>
          <p:nvPr/>
        </p:nvSpPr>
        <p:spPr>
          <a:xfrm>
            <a:off x="3527984" y="5461254"/>
            <a:ext cx="224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Capacitación / Examen GIR</a:t>
            </a:r>
            <a:endParaRPr lang="en-US" sz="1100" dirty="0"/>
          </a:p>
        </p:txBody>
      </p:sp>
      <p:sp>
        <p:nvSpPr>
          <p:cNvPr id="92" name="Text 77"/>
          <p:cNvSpPr txBox="1"/>
          <p:nvPr/>
        </p:nvSpPr>
        <p:spPr>
          <a:xfrm>
            <a:off x="5227168" y="568071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100%</a:t>
            </a:r>
            <a:endParaRPr lang="en-US" sz="1100" dirty="0"/>
          </a:p>
        </p:txBody>
      </p:sp>
      <p:pic>
        <p:nvPicPr>
          <p:cNvPr id="9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47792" y="5717286"/>
            <a:ext cx="128016" cy="128016"/>
          </a:xfrm>
          <a:prstGeom prst="rect">
            <a:avLst/>
          </a:prstGeom>
        </p:spPr>
      </p:pic>
      <p:sp>
        <p:nvSpPr>
          <p:cNvPr id="94" name="Shape 78"/>
          <p:cNvSpPr/>
          <p:nvPr/>
        </p:nvSpPr>
        <p:spPr>
          <a:xfrm>
            <a:off x="3527984" y="5744718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95" name="Shape 79"/>
          <p:cNvSpPr/>
          <p:nvPr/>
        </p:nvSpPr>
        <p:spPr>
          <a:xfrm>
            <a:off x="3527984" y="5744718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6" name="Text 80"/>
          <p:cNvSpPr txBox="1"/>
          <p:nvPr/>
        </p:nvSpPr>
        <p:spPr>
          <a:xfrm>
            <a:off x="3527984" y="5908167"/>
            <a:ext cx="224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Piloto Contact Center</a:t>
            </a:r>
            <a:endParaRPr lang="en-US" sz="1100" dirty="0"/>
          </a:p>
        </p:txBody>
      </p:sp>
      <p:sp>
        <p:nvSpPr>
          <p:cNvPr id="97" name="Text 81"/>
          <p:cNvSpPr txBox="1"/>
          <p:nvPr/>
        </p:nvSpPr>
        <p:spPr>
          <a:xfrm>
            <a:off x="5227168" y="6127623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100%</a:t>
            </a:r>
            <a:endParaRPr lang="en-US" sz="1100" dirty="0"/>
          </a:p>
        </p:txBody>
      </p:sp>
      <p:pic>
        <p:nvPicPr>
          <p:cNvPr id="9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47792" y="6164199"/>
            <a:ext cx="128016" cy="128016"/>
          </a:xfrm>
          <a:prstGeom prst="rect">
            <a:avLst/>
          </a:prstGeom>
        </p:spPr>
      </p:pic>
      <p:sp>
        <p:nvSpPr>
          <p:cNvPr id="99" name="Shape 82"/>
          <p:cNvSpPr/>
          <p:nvPr/>
        </p:nvSpPr>
        <p:spPr>
          <a:xfrm>
            <a:off x="3527984" y="6191631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00" name="Shape 83"/>
          <p:cNvSpPr/>
          <p:nvPr/>
        </p:nvSpPr>
        <p:spPr>
          <a:xfrm>
            <a:off x="3527984" y="6191631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1" name="Shape 84"/>
          <p:cNvSpPr/>
          <p:nvPr/>
        </p:nvSpPr>
        <p:spPr>
          <a:xfrm>
            <a:off x="6187288" y="1481328"/>
            <a:ext cx="2705024" cy="4983480"/>
          </a:xfrm>
          <a:prstGeom prst="roundRect">
            <a:avLst>
              <a:gd name="adj" fmla="val 4056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2" name="Shape 85"/>
          <p:cNvSpPr/>
          <p:nvPr/>
        </p:nvSpPr>
        <p:spPr>
          <a:xfrm>
            <a:off x="6278728" y="1572768"/>
            <a:ext cx="2522144" cy="1024128"/>
          </a:xfrm>
          <a:prstGeom prst="roundRect">
            <a:avLst>
              <a:gd name="adj" fmla="val 8929"/>
            </a:avLst>
          </a:prstGeom>
          <a:solidFill>
            <a:srgbClr val="EFE9FB"/>
          </a:solidFill>
          <a:ln w="12700">
            <a:solidFill>
              <a:srgbClr val="EFE9FB"/>
            </a:solidFill>
            <a:prstDash val="solid"/>
          </a:ln>
        </p:spPr>
      </p:sp>
      <p:sp>
        <p:nvSpPr>
          <p:cNvPr id="103" name="Shape 86"/>
          <p:cNvSpPr/>
          <p:nvPr/>
        </p:nvSpPr>
        <p:spPr>
          <a:xfrm>
            <a:off x="6388456" y="1682496"/>
            <a:ext cx="457200" cy="457200"/>
          </a:xfrm>
          <a:prstGeom prst="ellipse">
            <a:avLst/>
          </a:prstGeom>
          <a:solidFill>
            <a:srgbClr val="7A4FD3"/>
          </a:solidFill>
          <a:ln w="12700">
            <a:solidFill>
              <a:srgbClr val="7A4FD3"/>
            </a:solidFill>
            <a:prstDash val="solid"/>
          </a:ln>
        </p:spPr>
      </p:sp>
      <p:pic>
        <p:nvPicPr>
          <p:cNvPr id="10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02756" y="1796796"/>
            <a:ext cx="228600" cy="228600"/>
          </a:xfrm>
          <a:prstGeom prst="rect">
            <a:avLst/>
          </a:prstGeom>
        </p:spPr>
      </p:pic>
      <p:sp>
        <p:nvSpPr>
          <p:cNvPr id="105" name="Text 87"/>
          <p:cNvSpPr txBox="1"/>
          <p:nvPr/>
        </p:nvSpPr>
        <p:spPr>
          <a:xfrm>
            <a:off x="6955384" y="1682496"/>
            <a:ext cx="179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</a:rPr>
              <a:t>RIESGO NORMATIVO</a:t>
            </a:r>
            <a:endParaRPr lang="en-US" sz="1300" dirty="0"/>
          </a:p>
        </p:txBody>
      </p:sp>
      <p:sp>
        <p:nvSpPr>
          <p:cNvPr id="106" name="Text 88"/>
          <p:cNvSpPr txBox="1"/>
          <p:nvPr/>
        </p:nvSpPr>
        <p:spPr>
          <a:xfrm>
            <a:off x="6388456" y="2212848"/>
            <a:ext cx="151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4FD3"/>
                </a:solidFill>
              </a:rPr>
              <a:t>Avalúos</a:t>
            </a:r>
            <a:endParaRPr lang="en-US" sz="1000" dirty="0"/>
          </a:p>
        </p:txBody>
      </p:sp>
      <p:sp>
        <p:nvSpPr>
          <p:cNvPr id="107" name="Text 89"/>
          <p:cNvSpPr txBox="1"/>
          <p:nvPr/>
        </p:nvSpPr>
        <p:spPr>
          <a:xfrm>
            <a:off x="7932191" y="204825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7A4FD3"/>
                </a:solidFill>
              </a:rPr>
              <a:t>96%</a:t>
            </a:r>
            <a:endParaRPr lang="en-US" sz="2200" dirty="0"/>
          </a:p>
        </p:txBody>
      </p:sp>
      <p:sp>
        <p:nvSpPr>
          <p:cNvPr id="108" name="Text 90"/>
          <p:cNvSpPr txBox="1"/>
          <p:nvPr/>
        </p:nvSpPr>
        <p:spPr>
          <a:xfrm>
            <a:off x="7749311" y="236829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 actividades</a:t>
            </a:r>
            <a:endParaRPr lang="en-US" sz="900" dirty="0"/>
          </a:p>
        </p:txBody>
      </p:sp>
      <p:sp>
        <p:nvSpPr>
          <p:cNvPr id="109" name="Text 91"/>
          <p:cNvSpPr txBox="1"/>
          <p:nvPr/>
        </p:nvSpPr>
        <p:spPr>
          <a:xfrm>
            <a:off x="6415888" y="2779776"/>
            <a:ext cx="224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Control de Avalúos</a:t>
            </a:r>
            <a:endParaRPr lang="en-US" sz="1100" dirty="0"/>
          </a:p>
        </p:txBody>
      </p:sp>
      <p:sp>
        <p:nvSpPr>
          <p:cNvPr id="110" name="Text 92"/>
          <p:cNvSpPr txBox="1"/>
          <p:nvPr/>
        </p:nvSpPr>
        <p:spPr>
          <a:xfrm>
            <a:off x="8115071" y="2999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4FD3"/>
                </a:solidFill>
              </a:rPr>
              <a:t>90%</a:t>
            </a:r>
            <a:endParaRPr lang="en-US" sz="1100" dirty="0"/>
          </a:p>
        </p:txBody>
      </p:sp>
      <p:sp>
        <p:nvSpPr>
          <p:cNvPr id="111" name="Shape 93"/>
          <p:cNvSpPr/>
          <p:nvPr/>
        </p:nvSpPr>
        <p:spPr>
          <a:xfrm>
            <a:off x="6415888" y="3063240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12" name="Shape 94"/>
          <p:cNvSpPr/>
          <p:nvPr/>
        </p:nvSpPr>
        <p:spPr>
          <a:xfrm>
            <a:off x="6415888" y="3063240"/>
            <a:ext cx="1512806" cy="73152"/>
          </a:xfrm>
          <a:prstGeom prst="roundRect">
            <a:avLst>
              <a:gd name="adj" fmla="val 50000"/>
            </a:avLst>
          </a:prstGeom>
          <a:solidFill>
            <a:srgbClr val="7A4FD3"/>
          </a:solidFill>
          <a:ln w="12700">
            <a:solidFill>
              <a:srgbClr val="7A4FD3"/>
            </a:solidFill>
            <a:prstDash val="solid"/>
          </a:ln>
        </p:spPr>
      </p:sp>
      <p:sp>
        <p:nvSpPr>
          <p:cNvPr id="113" name="Text 95"/>
          <p:cNvSpPr txBox="1"/>
          <p:nvPr/>
        </p:nvSpPr>
        <p:spPr>
          <a:xfrm>
            <a:off x="6415888" y="3375660"/>
            <a:ext cx="224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Acta de sesión 29/08/2026</a:t>
            </a:r>
            <a:endParaRPr lang="en-US" sz="1100" dirty="0"/>
          </a:p>
        </p:txBody>
      </p:sp>
      <p:sp>
        <p:nvSpPr>
          <p:cNvPr id="114" name="Text 96"/>
          <p:cNvSpPr txBox="1"/>
          <p:nvPr/>
        </p:nvSpPr>
        <p:spPr>
          <a:xfrm>
            <a:off x="8115071" y="35951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4FD3"/>
                </a:solidFill>
              </a:rPr>
              <a:t>90%</a:t>
            </a:r>
            <a:endParaRPr lang="en-US" sz="1100" dirty="0"/>
          </a:p>
        </p:txBody>
      </p:sp>
      <p:sp>
        <p:nvSpPr>
          <p:cNvPr id="115" name="Shape 97"/>
          <p:cNvSpPr/>
          <p:nvPr/>
        </p:nvSpPr>
        <p:spPr>
          <a:xfrm>
            <a:off x="6415888" y="3659124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16" name="Shape 98"/>
          <p:cNvSpPr/>
          <p:nvPr/>
        </p:nvSpPr>
        <p:spPr>
          <a:xfrm>
            <a:off x="6415888" y="3659124"/>
            <a:ext cx="1512806" cy="73152"/>
          </a:xfrm>
          <a:prstGeom prst="roundRect">
            <a:avLst>
              <a:gd name="adj" fmla="val 50000"/>
            </a:avLst>
          </a:prstGeom>
          <a:solidFill>
            <a:srgbClr val="7A4FD3"/>
          </a:solidFill>
          <a:ln w="12700">
            <a:solidFill>
              <a:srgbClr val="7A4FD3"/>
            </a:solidFill>
            <a:prstDash val="solid"/>
          </a:ln>
        </p:spPr>
      </p:sp>
      <p:sp>
        <p:nvSpPr>
          <p:cNvPr id="117" name="Text 99"/>
          <p:cNvSpPr txBox="1"/>
          <p:nvPr/>
        </p:nvSpPr>
        <p:spPr>
          <a:xfrm>
            <a:off x="6415888" y="3971544"/>
            <a:ext cx="224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Informe Comité para Consejo</a:t>
            </a:r>
            <a:endParaRPr lang="en-US" sz="1100" dirty="0"/>
          </a:p>
        </p:txBody>
      </p:sp>
      <p:sp>
        <p:nvSpPr>
          <p:cNvPr id="118" name="Text 100"/>
          <p:cNvSpPr txBox="1"/>
          <p:nvPr/>
        </p:nvSpPr>
        <p:spPr>
          <a:xfrm>
            <a:off x="8115071" y="41910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4FD3"/>
                </a:solidFill>
              </a:rPr>
              <a:t>95%</a:t>
            </a:r>
            <a:endParaRPr lang="en-US" sz="1100" dirty="0"/>
          </a:p>
        </p:txBody>
      </p:sp>
      <p:sp>
        <p:nvSpPr>
          <p:cNvPr id="119" name="Shape 101"/>
          <p:cNvSpPr/>
          <p:nvPr/>
        </p:nvSpPr>
        <p:spPr>
          <a:xfrm>
            <a:off x="6415888" y="4255008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20" name="Shape 102"/>
          <p:cNvSpPr/>
          <p:nvPr/>
        </p:nvSpPr>
        <p:spPr>
          <a:xfrm>
            <a:off x="6415888" y="4255008"/>
            <a:ext cx="1596851" cy="73152"/>
          </a:xfrm>
          <a:prstGeom prst="roundRect">
            <a:avLst>
              <a:gd name="adj" fmla="val 50000"/>
            </a:avLst>
          </a:prstGeom>
          <a:solidFill>
            <a:srgbClr val="7A4FD3"/>
          </a:solidFill>
          <a:ln w="12700">
            <a:solidFill>
              <a:srgbClr val="7A4FD3"/>
            </a:solidFill>
            <a:prstDash val="solid"/>
          </a:ln>
        </p:spPr>
      </p:sp>
      <p:sp>
        <p:nvSpPr>
          <p:cNvPr id="121" name="Text 103"/>
          <p:cNvSpPr txBox="1"/>
          <p:nvPr/>
        </p:nvSpPr>
        <p:spPr>
          <a:xfrm>
            <a:off x="6415888" y="4567428"/>
            <a:ext cx="224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Actualización de avalúos</a:t>
            </a:r>
            <a:endParaRPr lang="en-US" sz="1100" dirty="0"/>
          </a:p>
        </p:txBody>
      </p:sp>
      <p:sp>
        <p:nvSpPr>
          <p:cNvPr id="122" name="Text 104"/>
          <p:cNvSpPr txBox="1"/>
          <p:nvPr/>
        </p:nvSpPr>
        <p:spPr>
          <a:xfrm>
            <a:off x="8115071" y="47868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4FD3"/>
                </a:solidFill>
              </a:rPr>
              <a:t>98%</a:t>
            </a:r>
            <a:endParaRPr lang="en-US" sz="1100" dirty="0"/>
          </a:p>
        </p:txBody>
      </p:sp>
      <p:sp>
        <p:nvSpPr>
          <p:cNvPr id="123" name="Shape 105"/>
          <p:cNvSpPr/>
          <p:nvPr/>
        </p:nvSpPr>
        <p:spPr>
          <a:xfrm>
            <a:off x="6415888" y="4850892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24" name="Shape 106"/>
          <p:cNvSpPr/>
          <p:nvPr/>
        </p:nvSpPr>
        <p:spPr>
          <a:xfrm>
            <a:off x="6415888" y="4850892"/>
            <a:ext cx="1647278" cy="73152"/>
          </a:xfrm>
          <a:prstGeom prst="roundRect">
            <a:avLst>
              <a:gd name="adj" fmla="val 50000"/>
            </a:avLst>
          </a:prstGeom>
          <a:solidFill>
            <a:srgbClr val="7A4FD3"/>
          </a:solidFill>
          <a:ln w="12700">
            <a:solidFill>
              <a:srgbClr val="7A4FD3"/>
            </a:solidFill>
            <a:prstDash val="solid"/>
          </a:ln>
        </p:spPr>
      </p:sp>
      <p:sp>
        <p:nvSpPr>
          <p:cNvPr id="125" name="Text 107"/>
          <p:cNvSpPr txBox="1"/>
          <p:nvPr/>
        </p:nvSpPr>
        <p:spPr>
          <a:xfrm>
            <a:off x="6415888" y="5163312"/>
            <a:ext cx="224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Manuales Internos</a:t>
            </a:r>
            <a:endParaRPr lang="en-US" sz="1100" dirty="0"/>
          </a:p>
        </p:txBody>
      </p:sp>
      <p:sp>
        <p:nvSpPr>
          <p:cNvPr id="126" name="Text 108"/>
          <p:cNvSpPr txBox="1"/>
          <p:nvPr/>
        </p:nvSpPr>
        <p:spPr>
          <a:xfrm>
            <a:off x="8115071" y="538276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100%</a:t>
            </a:r>
            <a:endParaRPr lang="en-US" sz="1100" dirty="0"/>
          </a:p>
        </p:txBody>
      </p:sp>
      <p:pic>
        <p:nvPicPr>
          <p:cNvPr id="12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35695" y="5419344"/>
            <a:ext cx="128016" cy="128016"/>
          </a:xfrm>
          <a:prstGeom prst="rect">
            <a:avLst/>
          </a:prstGeom>
        </p:spPr>
      </p:pic>
      <p:sp>
        <p:nvSpPr>
          <p:cNvPr id="128" name="Shape 109"/>
          <p:cNvSpPr/>
          <p:nvPr/>
        </p:nvSpPr>
        <p:spPr>
          <a:xfrm>
            <a:off x="6415888" y="5446776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29" name="Shape 110"/>
          <p:cNvSpPr/>
          <p:nvPr/>
        </p:nvSpPr>
        <p:spPr>
          <a:xfrm>
            <a:off x="6415888" y="5446776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0" name="Text 111"/>
          <p:cNvSpPr txBox="1"/>
          <p:nvPr/>
        </p:nvSpPr>
        <p:spPr>
          <a:xfrm>
            <a:off x="6415888" y="5759196"/>
            <a:ext cx="224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Junta de Vigilancia</a:t>
            </a:r>
            <a:endParaRPr lang="en-US" sz="1100" dirty="0"/>
          </a:p>
        </p:txBody>
      </p:sp>
      <p:sp>
        <p:nvSpPr>
          <p:cNvPr id="131" name="Text 112"/>
          <p:cNvSpPr txBox="1"/>
          <p:nvPr/>
        </p:nvSpPr>
        <p:spPr>
          <a:xfrm>
            <a:off x="8115071" y="59786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100%</a:t>
            </a:r>
            <a:endParaRPr lang="en-US" sz="1100" dirty="0"/>
          </a:p>
        </p:txBody>
      </p:sp>
      <p:pic>
        <p:nvPicPr>
          <p:cNvPr id="13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35695" y="6015228"/>
            <a:ext cx="128016" cy="128016"/>
          </a:xfrm>
          <a:prstGeom prst="rect">
            <a:avLst/>
          </a:prstGeom>
        </p:spPr>
      </p:pic>
      <p:sp>
        <p:nvSpPr>
          <p:cNvPr id="133" name="Shape 113"/>
          <p:cNvSpPr/>
          <p:nvPr/>
        </p:nvSpPr>
        <p:spPr>
          <a:xfrm>
            <a:off x="6415888" y="6042660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34" name="Shape 114"/>
          <p:cNvSpPr/>
          <p:nvPr/>
        </p:nvSpPr>
        <p:spPr>
          <a:xfrm>
            <a:off x="6415888" y="6042660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5" name="Shape 115"/>
          <p:cNvSpPr/>
          <p:nvPr/>
        </p:nvSpPr>
        <p:spPr>
          <a:xfrm>
            <a:off x="9075191" y="1481328"/>
            <a:ext cx="2705024" cy="4983480"/>
          </a:xfrm>
          <a:prstGeom prst="roundRect">
            <a:avLst>
              <a:gd name="adj" fmla="val 4056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6" name="Shape 116"/>
          <p:cNvSpPr/>
          <p:nvPr/>
        </p:nvSpPr>
        <p:spPr>
          <a:xfrm>
            <a:off x="9166631" y="1572768"/>
            <a:ext cx="2522144" cy="1024128"/>
          </a:xfrm>
          <a:prstGeom prst="roundRect">
            <a:avLst>
              <a:gd name="adj" fmla="val 8929"/>
            </a:avLst>
          </a:prstGeom>
          <a:solidFill>
            <a:srgbClr val="FDF0E2"/>
          </a:solidFill>
          <a:ln w="12700">
            <a:solidFill>
              <a:srgbClr val="FDF0E2"/>
            </a:solidFill>
            <a:prstDash val="solid"/>
          </a:ln>
        </p:spPr>
      </p:sp>
      <p:sp>
        <p:nvSpPr>
          <p:cNvPr id="137" name="Shape 117"/>
          <p:cNvSpPr/>
          <p:nvPr/>
        </p:nvSpPr>
        <p:spPr>
          <a:xfrm>
            <a:off x="9276359" y="1682496"/>
            <a:ext cx="457200" cy="457200"/>
          </a:xfrm>
          <a:prstGeom prst="ellipse">
            <a:avLst/>
          </a:prstGeom>
          <a:solidFill>
            <a:srgbClr val="E07B12"/>
          </a:solidFill>
          <a:ln w="12700">
            <a:solidFill>
              <a:srgbClr val="E07B12"/>
            </a:solidFill>
            <a:prstDash val="solid"/>
          </a:ln>
        </p:spPr>
      </p:sp>
      <p:pic>
        <p:nvPicPr>
          <p:cNvPr id="13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90659" y="1796796"/>
            <a:ext cx="228600" cy="228600"/>
          </a:xfrm>
          <a:prstGeom prst="rect">
            <a:avLst/>
          </a:prstGeom>
        </p:spPr>
      </p:pic>
      <p:sp>
        <p:nvSpPr>
          <p:cNvPr id="139" name="Text 118"/>
          <p:cNvSpPr txBox="1"/>
          <p:nvPr/>
        </p:nvSpPr>
        <p:spPr>
          <a:xfrm>
            <a:off x="9843287" y="1682496"/>
            <a:ext cx="179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</a:rPr>
              <a:t>RIESGO FINANCIERO</a:t>
            </a:r>
            <a:endParaRPr lang="en-US" sz="1300" dirty="0"/>
          </a:p>
        </p:txBody>
      </p:sp>
      <p:sp>
        <p:nvSpPr>
          <p:cNvPr id="140" name="Text 119"/>
          <p:cNvSpPr txBox="1"/>
          <p:nvPr/>
        </p:nvSpPr>
        <p:spPr>
          <a:xfrm>
            <a:off x="9276359" y="2212848"/>
            <a:ext cx="151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12"/>
                </a:solidFill>
              </a:rPr>
              <a:t>Activos y modelos de riesgo</a:t>
            </a:r>
            <a:endParaRPr lang="en-US" sz="1000" dirty="0"/>
          </a:p>
        </p:txBody>
      </p:sp>
      <p:sp>
        <p:nvSpPr>
          <p:cNvPr id="141" name="Text 120"/>
          <p:cNvSpPr txBox="1"/>
          <p:nvPr/>
        </p:nvSpPr>
        <p:spPr>
          <a:xfrm>
            <a:off x="10820095" y="204825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7B12"/>
                </a:solidFill>
              </a:rPr>
              <a:t>88%</a:t>
            </a:r>
            <a:endParaRPr lang="en-US" sz="2200" dirty="0"/>
          </a:p>
        </p:txBody>
      </p:sp>
      <p:sp>
        <p:nvSpPr>
          <p:cNvPr id="142" name="Text 121"/>
          <p:cNvSpPr txBox="1"/>
          <p:nvPr/>
        </p:nvSpPr>
        <p:spPr>
          <a:xfrm>
            <a:off x="10637215" y="236829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 actividades</a:t>
            </a:r>
            <a:endParaRPr lang="en-US" sz="900" dirty="0"/>
          </a:p>
        </p:txBody>
      </p:sp>
      <p:sp>
        <p:nvSpPr>
          <p:cNvPr id="143" name="Text 122"/>
          <p:cNvSpPr txBox="1"/>
          <p:nvPr/>
        </p:nvSpPr>
        <p:spPr>
          <a:xfrm>
            <a:off x="9303791" y="2779776"/>
            <a:ext cx="224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Proyectos a largo plazo</a:t>
            </a:r>
            <a:endParaRPr lang="en-US" sz="1100" dirty="0"/>
          </a:p>
        </p:txBody>
      </p:sp>
      <p:sp>
        <p:nvSpPr>
          <p:cNvPr id="144" name="Text 123"/>
          <p:cNvSpPr txBox="1"/>
          <p:nvPr/>
        </p:nvSpPr>
        <p:spPr>
          <a:xfrm>
            <a:off x="11002975" y="2999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12"/>
                </a:solidFill>
              </a:rPr>
              <a:t>63%</a:t>
            </a:r>
            <a:endParaRPr lang="en-US" sz="1100" dirty="0"/>
          </a:p>
        </p:txBody>
      </p:sp>
      <p:sp>
        <p:nvSpPr>
          <p:cNvPr id="145" name="Shape 124"/>
          <p:cNvSpPr/>
          <p:nvPr/>
        </p:nvSpPr>
        <p:spPr>
          <a:xfrm>
            <a:off x="9303791" y="3063240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46" name="Shape 125"/>
          <p:cNvSpPr/>
          <p:nvPr/>
        </p:nvSpPr>
        <p:spPr>
          <a:xfrm>
            <a:off x="9303791" y="3063240"/>
            <a:ext cx="1058964" cy="73152"/>
          </a:xfrm>
          <a:prstGeom prst="roundRect">
            <a:avLst>
              <a:gd name="adj" fmla="val 50000"/>
            </a:avLst>
          </a:prstGeom>
          <a:solidFill>
            <a:srgbClr val="E07B12"/>
          </a:solidFill>
          <a:ln w="12700">
            <a:solidFill>
              <a:srgbClr val="E07B12"/>
            </a:solidFill>
            <a:prstDash val="solid"/>
          </a:ln>
        </p:spPr>
      </p:sp>
      <p:sp>
        <p:nvSpPr>
          <p:cNvPr id="147" name="Text 126"/>
          <p:cNvSpPr txBox="1"/>
          <p:nvPr/>
        </p:nvSpPr>
        <p:spPr>
          <a:xfrm>
            <a:off x="9303791" y="3375660"/>
            <a:ext cx="224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Otros / Monitoreo</a:t>
            </a:r>
            <a:endParaRPr lang="en-US" sz="1100" dirty="0"/>
          </a:p>
        </p:txBody>
      </p:sp>
      <p:sp>
        <p:nvSpPr>
          <p:cNvPr id="148" name="Text 127"/>
          <p:cNvSpPr txBox="1"/>
          <p:nvPr/>
        </p:nvSpPr>
        <p:spPr>
          <a:xfrm>
            <a:off x="11002975" y="35951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12"/>
                </a:solidFill>
              </a:rPr>
              <a:t>76%</a:t>
            </a:r>
            <a:endParaRPr lang="en-US" sz="1100" dirty="0"/>
          </a:p>
        </p:txBody>
      </p:sp>
      <p:sp>
        <p:nvSpPr>
          <p:cNvPr id="149" name="Shape 128"/>
          <p:cNvSpPr/>
          <p:nvPr/>
        </p:nvSpPr>
        <p:spPr>
          <a:xfrm>
            <a:off x="9303791" y="3659124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50" name="Shape 129"/>
          <p:cNvSpPr/>
          <p:nvPr/>
        </p:nvSpPr>
        <p:spPr>
          <a:xfrm>
            <a:off x="9303791" y="3659124"/>
            <a:ext cx="1277481" cy="73152"/>
          </a:xfrm>
          <a:prstGeom prst="roundRect">
            <a:avLst>
              <a:gd name="adj" fmla="val 50000"/>
            </a:avLst>
          </a:prstGeom>
          <a:solidFill>
            <a:srgbClr val="E07B12"/>
          </a:solidFill>
          <a:ln w="12700">
            <a:solidFill>
              <a:srgbClr val="E07B12"/>
            </a:solidFill>
            <a:prstDash val="solid"/>
          </a:ln>
        </p:spPr>
      </p:sp>
      <p:sp>
        <p:nvSpPr>
          <p:cNvPr id="151" name="Text 130"/>
          <p:cNvSpPr txBox="1"/>
          <p:nvPr/>
        </p:nvSpPr>
        <p:spPr>
          <a:xfrm>
            <a:off x="9303791" y="3971544"/>
            <a:ext cx="224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Riesgo Crediticio</a:t>
            </a:r>
            <a:endParaRPr lang="en-US" sz="1100" dirty="0"/>
          </a:p>
        </p:txBody>
      </p:sp>
      <p:sp>
        <p:nvSpPr>
          <p:cNvPr id="152" name="Text 131"/>
          <p:cNvSpPr txBox="1"/>
          <p:nvPr/>
        </p:nvSpPr>
        <p:spPr>
          <a:xfrm>
            <a:off x="11002975" y="41910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12"/>
                </a:solidFill>
              </a:rPr>
              <a:t>90%</a:t>
            </a:r>
            <a:endParaRPr lang="en-US" sz="1100" dirty="0"/>
          </a:p>
        </p:txBody>
      </p:sp>
      <p:sp>
        <p:nvSpPr>
          <p:cNvPr id="153" name="Shape 132"/>
          <p:cNvSpPr/>
          <p:nvPr/>
        </p:nvSpPr>
        <p:spPr>
          <a:xfrm>
            <a:off x="9303791" y="4255008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54" name="Shape 133"/>
          <p:cNvSpPr/>
          <p:nvPr/>
        </p:nvSpPr>
        <p:spPr>
          <a:xfrm>
            <a:off x="9303791" y="4255008"/>
            <a:ext cx="1512806" cy="73152"/>
          </a:xfrm>
          <a:prstGeom prst="roundRect">
            <a:avLst>
              <a:gd name="adj" fmla="val 50000"/>
            </a:avLst>
          </a:prstGeom>
          <a:solidFill>
            <a:srgbClr val="E07B12"/>
          </a:solidFill>
          <a:ln w="12700">
            <a:solidFill>
              <a:srgbClr val="E07B12"/>
            </a:solidFill>
            <a:prstDash val="solid"/>
          </a:ln>
        </p:spPr>
      </p:sp>
      <p:sp>
        <p:nvSpPr>
          <p:cNvPr id="155" name="Text 134"/>
          <p:cNvSpPr txBox="1"/>
          <p:nvPr/>
        </p:nvSpPr>
        <p:spPr>
          <a:xfrm>
            <a:off x="9303791" y="4567428"/>
            <a:ext cx="224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Liquidez y Mercado</a:t>
            </a:r>
            <a:endParaRPr lang="en-US" sz="1100" dirty="0"/>
          </a:p>
        </p:txBody>
      </p:sp>
      <p:sp>
        <p:nvSpPr>
          <p:cNvPr id="156" name="Text 135"/>
          <p:cNvSpPr txBox="1"/>
          <p:nvPr/>
        </p:nvSpPr>
        <p:spPr>
          <a:xfrm>
            <a:off x="11002975" y="47868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12"/>
                </a:solidFill>
              </a:rPr>
              <a:t>97%</a:t>
            </a:r>
            <a:endParaRPr lang="en-US" sz="1100" dirty="0"/>
          </a:p>
        </p:txBody>
      </p:sp>
      <p:sp>
        <p:nvSpPr>
          <p:cNvPr id="157" name="Shape 136"/>
          <p:cNvSpPr/>
          <p:nvPr/>
        </p:nvSpPr>
        <p:spPr>
          <a:xfrm>
            <a:off x="9303791" y="4850892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58" name="Shape 137"/>
          <p:cNvSpPr/>
          <p:nvPr/>
        </p:nvSpPr>
        <p:spPr>
          <a:xfrm>
            <a:off x="9303791" y="4850892"/>
            <a:ext cx="1630469" cy="73152"/>
          </a:xfrm>
          <a:prstGeom prst="roundRect">
            <a:avLst>
              <a:gd name="adj" fmla="val 50000"/>
            </a:avLst>
          </a:prstGeom>
          <a:solidFill>
            <a:srgbClr val="E07B12"/>
          </a:solidFill>
          <a:ln w="12700">
            <a:solidFill>
              <a:srgbClr val="E07B12"/>
            </a:solidFill>
            <a:prstDash val="solid"/>
          </a:ln>
        </p:spPr>
      </p:sp>
      <p:sp>
        <p:nvSpPr>
          <p:cNvPr id="159" name="Text 138"/>
          <p:cNvSpPr txBox="1"/>
          <p:nvPr/>
        </p:nvSpPr>
        <p:spPr>
          <a:xfrm>
            <a:off x="9303791" y="5163312"/>
            <a:ext cx="224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Activos de Riesgo</a:t>
            </a:r>
            <a:endParaRPr lang="en-US" sz="1100" dirty="0"/>
          </a:p>
        </p:txBody>
      </p:sp>
      <p:sp>
        <p:nvSpPr>
          <p:cNvPr id="160" name="Text 139"/>
          <p:cNvSpPr txBox="1"/>
          <p:nvPr/>
        </p:nvSpPr>
        <p:spPr>
          <a:xfrm>
            <a:off x="11002975" y="538276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100%</a:t>
            </a:r>
            <a:endParaRPr lang="en-US" sz="1100" dirty="0"/>
          </a:p>
        </p:txBody>
      </p:sp>
      <p:pic>
        <p:nvPicPr>
          <p:cNvPr id="16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423599" y="5419344"/>
            <a:ext cx="128016" cy="128016"/>
          </a:xfrm>
          <a:prstGeom prst="rect">
            <a:avLst/>
          </a:prstGeom>
        </p:spPr>
      </p:pic>
      <p:sp>
        <p:nvSpPr>
          <p:cNvPr id="162" name="Shape 140"/>
          <p:cNvSpPr/>
          <p:nvPr/>
        </p:nvSpPr>
        <p:spPr>
          <a:xfrm>
            <a:off x="9303791" y="5446776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63" name="Shape 141"/>
          <p:cNvSpPr/>
          <p:nvPr/>
        </p:nvSpPr>
        <p:spPr>
          <a:xfrm>
            <a:off x="9303791" y="5446776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4" name="Text 142"/>
          <p:cNvSpPr txBox="1"/>
          <p:nvPr/>
        </p:nvSpPr>
        <p:spPr>
          <a:xfrm>
            <a:off x="9303791" y="5759196"/>
            <a:ext cx="224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Opiniones y análisis crediticios</a:t>
            </a:r>
            <a:endParaRPr lang="en-US" sz="1100" dirty="0"/>
          </a:p>
        </p:txBody>
      </p:sp>
      <p:sp>
        <p:nvSpPr>
          <p:cNvPr id="165" name="Text 143"/>
          <p:cNvSpPr txBox="1"/>
          <p:nvPr/>
        </p:nvSpPr>
        <p:spPr>
          <a:xfrm>
            <a:off x="11002975" y="59786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100%</a:t>
            </a:r>
            <a:endParaRPr lang="en-US" sz="1100" dirty="0"/>
          </a:p>
        </p:txBody>
      </p:sp>
      <p:pic>
        <p:nvPicPr>
          <p:cNvPr id="166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423599" y="6015228"/>
            <a:ext cx="128016" cy="128016"/>
          </a:xfrm>
          <a:prstGeom prst="rect">
            <a:avLst/>
          </a:prstGeom>
        </p:spPr>
      </p:pic>
      <p:sp>
        <p:nvSpPr>
          <p:cNvPr id="167" name="Shape 144"/>
          <p:cNvSpPr/>
          <p:nvPr/>
        </p:nvSpPr>
        <p:spPr>
          <a:xfrm>
            <a:off x="9303791" y="6042660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68" name="Shape 145"/>
          <p:cNvSpPr/>
          <p:nvPr/>
        </p:nvSpPr>
        <p:spPr>
          <a:xfrm>
            <a:off x="9303791" y="6042660"/>
            <a:ext cx="1680896" cy="7315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9" name="Text 146"/>
          <p:cNvSpPr txBox="1"/>
          <p:nvPr/>
        </p:nvSpPr>
        <p:spPr>
          <a:xfrm>
            <a:off x="411480" y="6510528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Completada (100%)    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En proceso: color de la categoría     </a:t>
            </a:r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Porcentaje de cabecera = avance promedio de la categoría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iesgos">
  <a:themeElements>
    <a:clrScheme name="Riesgos">
      <a:dk1>
        <a:srgbClr val="1F2937"/>
      </a:dk1>
      <a:lt1>
        <a:srgbClr val="FFFFFF"/>
      </a:lt1>
      <a:dk2>
        <a:srgbClr val="0F1B3D"/>
      </a:dk2>
      <a:lt2>
        <a:srgbClr val="F3F5F9"/>
      </a:lt2>
      <a:accent1>
        <a:srgbClr val="0E9F8E"/>
      </a:accent1>
      <a:accent2>
        <a:srgbClr val="2F6FDE"/>
      </a:accent2>
      <a:accent3>
        <a:srgbClr val="7A4FD3"/>
      </a:accent3>
      <a:accent4>
        <a:srgbClr val="E07B12"/>
      </a:accent4>
      <a:accent5>
        <a:srgbClr val="16A34A"/>
      </a:accent5>
      <a:accent6>
        <a:srgbClr val="6B7280"/>
      </a:accent6>
      <a:hlink>
        <a:srgbClr val="2F6FDE"/>
      </a:hlink>
      <a:folHlink>
        <a:srgbClr val="7A4FD3"/>
      </a:folHlink>
    </a:clrScheme>
    <a:fontScheme name="Riesgo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 semanal · Administración de Riesgos</dc:title>
  <dc:subject>PptxGenJS Presentation</dc:subject>
  <dc:creator>PptxGenJS</dc:creator>
  <cp:lastModifiedBy>PptxGenJS</cp:lastModifiedBy>
  <cp:revision>1</cp:revision>
  <dcterms:created xsi:type="dcterms:W3CDTF">2026-10-24T17:09:28Z</dcterms:created>
  <dcterms:modified xsi:type="dcterms:W3CDTF">2026-10-24T17:09:28Z</dcterms:modified>
</cp:coreProperties>
</file>