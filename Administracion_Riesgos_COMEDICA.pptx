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3B6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120512" cy="1005840"/>
          </a:xfrm>
          <a:prstGeom prst="rect">
            <a:avLst/>
          </a:prstGeom>
          <a:solidFill>
            <a:srgbClr val="0A1F3B"/>
          </a:solidFill>
          <a:ln/>
        </p:spPr>
      </p:sp>
      <p:sp>
        <p:nvSpPr>
          <p:cNvPr id="4" name="Shape 2"/>
          <p:cNvSpPr/>
          <p:nvPr/>
        </p:nvSpPr>
        <p:spPr>
          <a:xfrm>
            <a:off x="9997190" y="0"/>
            <a:ext cx="2194505" cy="1005840"/>
          </a:xfrm>
          <a:prstGeom prst="rect">
            <a:avLst/>
          </a:prstGeom>
          <a:solidFill>
            <a:srgbClr val="106B78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973836"/>
            <a:ext cx="12191695" cy="32004"/>
          </a:xfrm>
          <a:prstGeom prst="rect">
            <a:avLst/>
          </a:prstGeom>
          <a:solidFill>
            <a:srgbClr val="17A9B0"/>
          </a:solidFill>
          <a:ln/>
        </p:spPr>
      </p:sp>
      <p:sp>
        <p:nvSpPr>
          <p:cNvPr id="6" name="Shape 4"/>
          <p:cNvSpPr/>
          <p:nvPr/>
        </p:nvSpPr>
        <p:spPr>
          <a:xfrm>
            <a:off x="10774375" y="-960120"/>
            <a:ext cx="2377440" cy="2377440"/>
          </a:xfrm>
          <a:prstGeom prst="ellipse">
            <a:avLst/>
          </a:prstGeom>
          <a:ln w="12700">
            <a:solidFill>
              <a:srgbClr val="97D8DB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-685800"/>
            <a:ext cx="1828800" cy="1828800"/>
          </a:xfrm>
          <a:prstGeom prst="ellipse">
            <a:avLst/>
          </a:prstGeom>
          <a:ln w="12700">
            <a:solidFill>
              <a:srgbClr val="97D8DB">
                <a:alpha val="18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" y="12801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7D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COMÉDICA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32918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de Riesgos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365760" y="71323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gestión y cumplimiento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899855" y="21945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C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899855" y="4023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2026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5F9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COMÉDICA  ·  Administración de Riesgos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170432"/>
            <a:ext cx="2160361" cy="525780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1170432"/>
            <a:ext cx="2160361" cy="41148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8197" y="1298448"/>
            <a:ext cx="475488" cy="475488"/>
          </a:xfrm>
          <a:prstGeom prst="ellipse">
            <a:avLst/>
          </a:prstGeom>
          <a:solidFill>
            <a:srgbClr val="EAF0F8"/>
          </a:solidFill>
          <a:ln/>
        </p:spPr>
      </p:sp>
      <p:pic>
        <p:nvPicPr>
          <p:cNvPr id="18" name="Image 0" descr="/tmp/claude-0/-home-user-riesgo/579fb8c8-70e5-51d5-80ec-6ed51cc2e8df/scratchpad/pptx-build/icons/dollarsign_1B4F9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8781" y="1399032"/>
            <a:ext cx="274320" cy="27432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420624" y="1828800"/>
            <a:ext cx="205063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Financieros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281349" y="2048256"/>
            <a:ext cx="329184" cy="20117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21" name="Shape 18"/>
          <p:cNvSpPr/>
          <p:nvPr/>
        </p:nvSpPr>
        <p:spPr>
          <a:xfrm>
            <a:off x="493776" y="2157984"/>
            <a:ext cx="1554480" cy="173736"/>
          </a:xfrm>
          <a:prstGeom prst="roundRect">
            <a:avLst>
              <a:gd name="adj" fmla="val 50000"/>
            </a:avLst>
          </a:prstGeom>
          <a:solidFill>
            <a:srgbClr val="EAF0F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93776" y="2157984"/>
            <a:ext cx="1554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" kern="0" dirty="0">
                <a:solidFill>
                  <a:srgbClr val="1B4F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ENVÍOS REGULATORIOS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493776" y="2450592"/>
            <a:ext cx="190432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FINANCIEROS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493776" y="2720340"/>
            <a:ext cx="64008" cy="64008"/>
          </a:xfrm>
          <a:prstGeom prst="ellipse">
            <a:avLst/>
          </a:prstGeom>
          <a:solidFill>
            <a:srgbClr val="1B4F9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40080" y="2642616"/>
            <a:ext cx="17580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Variación de Préstamo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93776" y="2937510"/>
            <a:ext cx="64008" cy="64008"/>
          </a:xfrm>
          <a:prstGeom prst="ellipse">
            <a:avLst/>
          </a:prstGeom>
          <a:solidFill>
            <a:srgbClr val="1B4F91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640080" y="2859786"/>
            <a:ext cx="17580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Préstamos Modificados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93776" y="3154680"/>
            <a:ext cx="64008" cy="64008"/>
          </a:xfrm>
          <a:prstGeom prst="ellipse">
            <a:avLst/>
          </a:prstGeom>
          <a:solidFill>
            <a:srgbClr val="1B4F91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40080" y="3076956"/>
            <a:ext cx="17580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Traslado de Deuda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93776" y="3371850"/>
            <a:ext cx="64008" cy="64008"/>
          </a:xfrm>
          <a:prstGeom prst="ellipse">
            <a:avLst/>
          </a:prstGeom>
          <a:solidFill>
            <a:srgbClr val="1B4F91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40080" y="3294126"/>
            <a:ext cx="17580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Vencimiento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93776" y="3589020"/>
            <a:ext cx="64008" cy="64008"/>
          </a:xfrm>
          <a:prstGeom prst="ellipse">
            <a:avLst/>
          </a:prstGeom>
          <a:solidFill>
            <a:srgbClr val="1B4F91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40080" y="3511296"/>
            <a:ext cx="17580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2690713" y="1170432"/>
            <a:ext cx="2160361" cy="525780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2690713" y="1170432"/>
            <a:ext cx="2160361" cy="41148"/>
          </a:xfrm>
          <a:prstGeom prst="rect">
            <a:avLst/>
          </a:prstGeom>
          <a:solidFill>
            <a:srgbClr val="A6650F"/>
          </a:solidFill>
          <a:ln/>
        </p:spPr>
      </p:sp>
      <p:sp>
        <p:nvSpPr>
          <p:cNvPr id="36" name="Shape 33"/>
          <p:cNvSpPr/>
          <p:nvPr/>
        </p:nvSpPr>
        <p:spPr>
          <a:xfrm>
            <a:off x="3533150" y="1298448"/>
            <a:ext cx="475488" cy="475488"/>
          </a:xfrm>
          <a:prstGeom prst="ellipse">
            <a:avLst/>
          </a:prstGeom>
          <a:solidFill>
            <a:srgbClr val="FDF3E7"/>
          </a:solidFill>
          <a:ln/>
        </p:spPr>
      </p:sp>
      <p:pic>
        <p:nvPicPr>
          <p:cNvPr id="37" name="Image 1" descr="/tmp/claude-0/-home-user-riesgo/579fb8c8-70e5-51d5-80ec-6ed51cc2e8df/scratchpad/pptx-build/icons/activity_A6650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3734" y="1399032"/>
            <a:ext cx="274320" cy="274320"/>
          </a:xfrm>
          <a:prstGeom prst="rect">
            <a:avLst/>
          </a:prstGeom>
        </p:spPr>
      </p:pic>
      <p:sp>
        <p:nvSpPr>
          <p:cNvPr id="38" name="Text 34"/>
          <p:cNvSpPr txBox="1"/>
          <p:nvPr/>
        </p:nvSpPr>
        <p:spPr>
          <a:xfrm>
            <a:off x="2745577" y="1828800"/>
            <a:ext cx="205063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Operacional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3606302" y="2048256"/>
            <a:ext cx="329184" cy="20117"/>
          </a:xfrm>
          <a:prstGeom prst="rect">
            <a:avLst/>
          </a:prstGeom>
          <a:solidFill>
            <a:srgbClr val="A6650F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2782153" y="2157984"/>
            <a:ext cx="197748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4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RIESGO OPERACIONAL</a:t>
            </a:r>
            <a:endParaRPr lang="en-US" sz="750" dirty="0"/>
          </a:p>
        </p:txBody>
      </p:sp>
      <p:sp>
        <p:nvSpPr>
          <p:cNvPr id="41" name="Shape 37"/>
          <p:cNvSpPr/>
          <p:nvPr/>
        </p:nvSpPr>
        <p:spPr>
          <a:xfrm>
            <a:off x="3290834" y="2340864"/>
            <a:ext cx="219456" cy="137160"/>
          </a:xfrm>
          <a:prstGeom prst="roundRect">
            <a:avLst>
              <a:gd name="adj" fmla="val 13333"/>
            </a:avLst>
          </a:prstGeom>
          <a:solidFill>
            <a:srgbClr val="E0392B"/>
          </a:solidFill>
          <a:ln/>
        </p:spPr>
      </p:sp>
      <p:sp>
        <p:nvSpPr>
          <p:cNvPr id="42" name="Shape 38"/>
          <p:cNvSpPr/>
          <p:nvPr/>
        </p:nvSpPr>
        <p:spPr>
          <a:xfrm>
            <a:off x="3537722" y="2340864"/>
            <a:ext cx="219456" cy="137160"/>
          </a:xfrm>
          <a:prstGeom prst="roundRect">
            <a:avLst>
              <a:gd name="adj" fmla="val 13333"/>
            </a:avLst>
          </a:prstGeom>
          <a:solidFill>
            <a:srgbClr val="E0392B"/>
          </a:solidFill>
          <a:ln/>
        </p:spPr>
      </p:sp>
      <p:sp>
        <p:nvSpPr>
          <p:cNvPr id="43" name="Shape 39"/>
          <p:cNvSpPr/>
          <p:nvPr/>
        </p:nvSpPr>
        <p:spPr>
          <a:xfrm>
            <a:off x="3784610" y="2340864"/>
            <a:ext cx="219456" cy="137160"/>
          </a:xfrm>
          <a:prstGeom prst="roundRect">
            <a:avLst>
              <a:gd name="adj" fmla="val 13333"/>
            </a:avLst>
          </a:prstGeom>
          <a:solidFill>
            <a:srgbClr val="F0AD35"/>
          </a:solidFill>
          <a:ln/>
        </p:spPr>
      </p:sp>
      <p:sp>
        <p:nvSpPr>
          <p:cNvPr id="44" name="Shape 40"/>
          <p:cNvSpPr/>
          <p:nvPr/>
        </p:nvSpPr>
        <p:spPr>
          <a:xfrm>
            <a:off x="4031498" y="2340864"/>
            <a:ext cx="219456" cy="137160"/>
          </a:xfrm>
          <a:prstGeom prst="roundRect">
            <a:avLst>
              <a:gd name="adj" fmla="val 13333"/>
            </a:avLst>
          </a:prstGeom>
          <a:solidFill>
            <a:srgbClr val="F0AD35"/>
          </a:solidFill>
          <a:ln/>
        </p:spPr>
      </p:sp>
      <p:sp>
        <p:nvSpPr>
          <p:cNvPr id="45" name="Shape 41"/>
          <p:cNvSpPr/>
          <p:nvPr/>
        </p:nvSpPr>
        <p:spPr>
          <a:xfrm>
            <a:off x="3290834" y="2505456"/>
            <a:ext cx="219456" cy="137160"/>
          </a:xfrm>
          <a:prstGeom prst="roundRect">
            <a:avLst>
              <a:gd name="adj" fmla="val 13333"/>
            </a:avLst>
          </a:prstGeom>
          <a:solidFill>
            <a:srgbClr val="F0AD35"/>
          </a:solidFill>
          <a:ln/>
        </p:spPr>
      </p:sp>
      <p:sp>
        <p:nvSpPr>
          <p:cNvPr id="46" name="Shape 42"/>
          <p:cNvSpPr/>
          <p:nvPr/>
        </p:nvSpPr>
        <p:spPr>
          <a:xfrm>
            <a:off x="3537722" y="2505456"/>
            <a:ext cx="219456" cy="137160"/>
          </a:xfrm>
          <a:prstGeom prst="roundRect">
            <a:avLst>
              <a:gd name="adj" fmla="val 13333"/>
            </a:avLst>
          </a:prstGeom>
          <a:solidFill>
            <a:srgbClr val="F6C877"/>
          </a:solidFill>
          <a:ln/>
        </p:spPr>
      </p:sp>
      <p:sp>
        <p:nvSpPr>
          <p:cNvPr id="47" name="Shape 43"/>
          <p:cNvSpPr/>
          <p:nvPr/>
        </p:nvSpPr>
        <p:spPr>
          <a:xfrm>
            <a:off x="3784610" y="2505456"/>
            <a:ext cx="219456" cy="137160"/>
          </a:xfrm>
          <a:prstGeom prst="roundRect">
            <a:avLst>
              <a:gd name="adj" fmla="val 13333"/>
            </a:avLst>
          </a:prstGeom>
          <a:solidFill>
            <a:srgbClr val="F6C877"/>
          </a:solidFill>
          <a:ln/>
        </p:spPr>
      </p:sp>
      <p:sp>
        <p:nvSpPr>
          <p:cNvPr id="48" name="Shape 44"/>
          <p:cNvSpPr/>
          <p:nvPr/>
        </p:nvSpPr>
        <p:spPr>
          <a:xfrm>
            <a:off x="4031498" y="2505456"/>
            <a:ext cx="219456" cy="137160"/>
          </a:xfrm>
          <a:prstGeom prst="roundRect">
            <a:avLst>
              <a:gd name="adj" fmla="val 13333"/>
            </a:avLst>
          </a:prstGeom>
          <a:solidFill>
            <a:srgbClr val="2FAE60"/>
          </a:solidFill>
          <a:ln/>
        </p:spPr>
      </p:sp>
      <p:sp>
        <p:nvSpPr>
          <p:cNvPr id="49" name="Shape 45"/>
          <p:cNvSpPr/>
          <p:nvPr/>
        </p:nvSpPr>
        <p:spPr>
          <a:xfrm>
            <a:off x="3290834" y="2670048"/>
            <a:ext cx="219456" cy="137160"/>
          </a:xfrm>
          <a:prstGeom prst="roundRect">
            <a:avLst>
              <a:gd name="adj" fmla="val 13333"/>
            </a:avLst>
          </a:prstGeom>
          <a:solidFill>
            <a:srgbClr val="F6C877"/>
          </a:solidFill>
          <a:ln/>
        </p:spPr>
      </p:sp>
      <p:sp>
        <p:nvSpPr>
          <p:cNvPr id="50" name="Shape 46"/>
          <p:cNvSpPr/>
          <p:nvPr/>
        </p:nvSpPr>
        <p:spPr>
          <a:xfrm>
            <a:off x="3537722" y="2670048"/>
            <a:ext cx="219456" cy="137160"/>
          </a:xfrm>
          <a:prstGeom prst="roundRect">
            <a:avLst>
              <a:gd name="adj" fmla="val 13333"/>
            </a:avLst>
          </a:prstGeom>
          <a:solidFill>
            <a:srgbClr val="2FAE60"/>
          </a:solidFill>
          <a:ln/>
        </p:spPr>
      </p:sp>
      <p:sp>
        <p:nvSpPr>
          <p:cNvPr id="51" name="Shape 47"/>
          <p:cNvSpPr/>
          <p:nvPr/>
        </p:nvSpPr>
        <p:spPr>
          <a:xfrm>
            <a:off x="3784610" y="2670048"/>
            <a:ext cx="219456" cy="137160"/>
          </a:xfrm>
          <a:prstGeom prst="roundRect">
            <a:avLst>
              <a:gd name="adj" fmla="val 13333"/>
            </a:avLst>
          </a:prstGeom>
          <a:solidFill>
            <a:srgbClr val="2FAE60"/>
          </a:solidFill>
          <a:ln/>
        </p:spPr>
      </p:sp>
      <p:sp>
        <p:nvSpPr>
          <p:cNvPr id="52" name="Shape 48"/>
          <p:cNvSpPr/>
          <p:nvPr/>
        </p:nvSpPr>
        <p:spPr>
          <a:xfrm>
            <a:off x="4031498" y="2670048"/>
            <a:ext cx="219456" cy="137160"/>
          </a:xfrm>
          <a:prstGeom prst="roundRect">
            <a:avLst>
              <a:gd name="adj" fmla="val 13333"/>
            </a:avLst>
          </a:prstGeom>
          <a:solidFill>
            <a:srgbClr val="2FAE60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2782153" y="2862072"/>
            <a:ext cx="1977481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8A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Probabilidad / Impacto</a:t>
            </a:r>
            <a:endParaRPr lang="en-US" sz="700" dirty="0"/>
          </a:p>
        </p:txBody>
      </p:sp>
      <p:sp>
        <p:nvSpPr>
          <p:cNvPr id="54" name="Text 50"/>
          <p:cNvSpPr txBox="1"/>
          <p:nvPr/>
        </p:nvSpPr>
        <p:spPr>
          <a:xfrm>
            <a:off x="2818729" y="3081528"/>
            <a:ext cx="1904329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4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DE RIESGO OPERACIONAL</a:t>
            </a:r>
            <a:endParaRPr lang="en-US" sz="700" dirty="0"/>
          </a:p>
        </p:txBody>
      </p:sp>
      <p:sp>
        <p:nvSpPr>
          <p:cNvPr id="55" name="Shape 51"/>
          <p:cNvSpPr/>
          <p:nvPr/>
        </p:nvSpPr>
        <p:spPr>
          <a:xfrm>
            <a:off x="2818729" y="3282696"/>
            <a:ext cx="219456" cy="219456"/>
          </a:xfrm>
          <a:prstGeom prst="ellipse">
            <a:avLst/>
          </a:prstGeom>
          <a:solidFill>
            <a:srgbClr val="FDF3E7"/>
          </a:solidFill>
          <a:ln/>
        </p:spPr>
      </p:sp>
      <p:pic>
        <p:nvPicPr>
          <p:cNvPr id="56" name="Image 2" descr="/tmp/claude-0/-home-user-riesgo/579fb8c8-70e5-51d5-80ec-6ed51cc2e8df/scratchpad/pptx-build/icons/search_A6650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4449" y="3328416"/>
            <a:ext cx="128016" cy="128016"/>
          </a:xfrm>
          <a:prstGeom prst="rect">
            <a:avLst/>
          </a:prstGeom>
        </p:spPr>
      </p:pic>
      <p:sp>
        <p:nvSpPr>
          <p:cNvPr id="57" name="Text 52"/>
          <p:cNvSpPr txBox="1"/>
          <p:nvPr/>
        </p:nvSpPr>
        <p:spPr>
          <a:xfrm>
            <a:off x="3147913" y="32644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Identificación</a:t>
            </a:r>
            <a:endParaRPr lang="en-US" sz="900" dirty="0"/>
          </a:p>
        </p:txBody>
      </p:sp>
      <p:sp>
        <p:nvSpPr>
          <p:cNvPr id="58" name="Shape 53"/>
          <p:cNvSpPr/>
          <p:nvPr/>
        </p:nvSpPr>
        <p:spPr>
          <a:xfrm>
            <a:off x="2921142" y="3502152"/>
            <a:ext cx="14630" cy="164592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59" name="Shape 54"/>
          <p:cNvSpPr/>
          <p:nvPr/>
        </p:nvSpPr>
        <p:spPr>
          <a:xfrm>
            <a:off x="2818729" y="3721608"/>
            <a:ext cx="219456" cy="219456"/>
          </a:xfrm>
          <a:prstGeom prst="ellipse">
            <a:avLst/>
          </a:prstGeom>
          <a:solidFill>
            <a:srgbClr val="FDF3E7"/>
          </a:solidFill>
          <a:ln/>
        </p:spPr>
      </p:sp>
      <p:pic>
        <p:nvPicPr>
          <p:cNvPr id="60" name="Image 3" descr="/tmp/claude-0/-home-user-riesgo/579fb8c8-70e5-51d5-80ec-6ed51cc2e8df/scratchpad/pptx-build/icons/edit3_A6650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4449" y="3767328"/>
            <a:ext cx="128016" cy="128016"/>
          </a:xfrm>
          <a:prstGeom prst="rect">
            <a:avLst/>
          </a:prstGeom>
        </p:spPr>
      </p:pic>
      <p:sp>
        <p:nvSpPr>
          <p:cNvPr id="61" name="Text 55"/>
          <p:cNvSpPr txBox="1"/>
          <p:nvPr/>
        </p:nvSpPr>
        <p:spPr>
          <a:xfrm>
            <a:off x="3147913" y="37033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</a:t>
            </a:r>
            <a:endParaRPr lang="en-US" sz="900" dirty="0"/>
          </a:p>
        </p:txBody>
      </p:sp>
      <p:sp>
        <p:nvSpPr>
          <p:cNvPr id="62" name="Shape 56"/>
          <p:cNvSpPr/>
          <p:nvPr/>
        </p:nvSpPr>
        <p:spPr>
          <a:xfrm>
            <a:off x="2921142" y="3941064"/>
            <a:ext cx="14630" cy="164592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63" name="Shape 57"/>
          <p:cNvSpPr/>
          <p:nvPr/>
        </p:nvSpPr>
        <p:spPr>
          <a:xfrm>
            <a:off x="2818729" y="4160520"/>
            <a:ext cx="219456" cy="219456"/>
          </a:xfrm>
          <a:prstGeom prst="ellipse">
            <a:avLst/>
          </a:prstGeom>
          <a:solidFill>
            <a:srgbClr val="FDF3E7"/>
          </a:solidFill>
          <a:ln/>
        </p:spPr>
      </p:sp>
      <p:pic>
        <p:nvPicPr>
          <p:cNvPr id="64" name="Image 4" descr="/tmp/claude-0/-home-user-riesgo/579fb8c8-70e5-51d5-80ec-6ed51cc2e8df/scratchpad/pptx-build/icons/barchart2_A6650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4449" y="4206240"/>
            <a:ext cx="128016" cy="128016"/>
          </a:xfrm>
          <a:prstGeom prst="rect">
            <a:avLst/>
          </a:prstGeom>
        </p:spPr>
      </p:pic>
      <p:sp>
        <p:nvSpPr>
          <p:cNvPr id="65" name="Text 58"/>
          <p:cNvSpPr txBox="1"/>
          <p:nvPr/>
        </p:nvSpPr>
        <p:spPr>
          <a:xfrm>
            <a:off x="3147913" y="414223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</a:t>
            </a:r>
            <a:endParaRPr lang="en-US" sz="900" dirty="0"/>
          </a:p>
        </p:txBody>
      </p:sp>
      <p:sp>
        <p:nvSpPr>
          <p:cNvPr id="66" name="Shape 59"/>
          <p:cNvSpPr/>
          <p:nvPr/>
        </p:nvSpPr>
        <p:spPr>
          <a:xfrm>
            <a:off x="2921142" y="4379976"/>
            <a:ext cx="14630" cy="164592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67" name="Shape 60"/>
          <p:cNvSpPr/>
          <p:nvPr/>
        </p:nvSpPr>
        <p:spPr>
          <a:xfrm>
            <a:off x="2818729" y="4599432"/>
            <a:ext cx="219456" cy="219456"/>
          </a:xfrm>
          <a:prstGeom prst="ellipse">
            <a:avLst/>
          </a:prstGeom>
          <a:solidFill>
            <a:srgbClr val="FDF3E7"/>
          </a:solidFill>
          <a:ln/>
        </p:spPr>
      </p:sp>
      <p:pic>
        <p:nvPicPr>
          <p:cNvPr id="68" name="Image 5" descr="/tmp/claude-0/-home-user-riesgo/579fb8c8-70e5-51d5-80ec-6ed51cc2e8df/scratchpad/pptx-build/icons/eye_A6650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4449" y="4645152"/>
            <a:ext cx="128016" cy="128016"/>
          </a:xfrm>
          <a:prstGeom prst="rect">
            <a:avLst/>
          </a:prstGeom>
        </p:spPr>
      </p:pic>
      <p:sp>
        <p:nvSpPr>
          <p:cNvPr id="69" name="Text 61"/>
          <p:cNvSpPr txBox="1"/>
          <p:nvPr/>
        </p:nvSpPr>
        <p:spPr>
          <a:xfrm>
            <a:off x="3147913" y="458114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</a:t>
            </a:r>
            <a:endParaRPr lang="en-US" sz="900" dirty="0"/>
          </a:p>
        </p:txBody>
      </p:sp>
      <p:sp>
        <p:nvSpPr>
          <p:cNvPr id="70" name="Shape 62"/>
          <p:cNvSpPr/>
          <p:nvPr/>
        </p:nvSpPr>
        <p:spPr>
          <a:xfrm>
            <a:off x="2818729" y="6117336"/>
            <a:ext cx="1904329" cy="219456"/>
          </a:xfrm>
          <a:prstGeom prst="roundRect">
            <a:avLst>
              <a:gd name="adj" fmla="val 50000"/>
            </a:avLst>
          </a:prstGeom>
          <a:solidFill>
            <a:srgbClr val="FDF3E7"/>
          </a:solidFill>
          <a:ln/>
        </p:spPr>
      </p:sp>
      <p:sp>
        <p:nvSpPr>
          <p:cNvPr id="71" name="Text 63"/>
          <p:cNvSpPr txBox="1"/>
          <p:nvPr/>
        </p:nvSpPr>
        <p:spPr>
          <a:xfrm>
            <a:off x="2818729" y="6117336"/>
            <a:ext cx="190432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40" kern="0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AENOR</a:t>
            </a:r>
            <a:endParaRPr lang="en-US" sz="800" dirty="0"/>
          </a:p>
        </p:txBody>
      </p:sp>
      <p:sp>
        <p:nvSpPr>
          <p:cNvPr id="72" name="Shape 64"/>
          <p:cNvSpPr/>
          <p:nvPr/>
        </p:nvSpPr>
        <p:spPr>
          <a:xfrm>
            <a:off x="5015667" y="1170432"/>
            <a:ext cx="2160361" cy="525780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73" name="Shape 65"/>
          <p:cNvSpPr/>
          <p:nvPr/>
        </p:nvSpPr>
        <p:spPr>
          <a:xfrm>
            <a:off x="5015667" y="1170432"/>
            <a:ext cx="2160361" cy="4114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74" name="Shape 66"/>
          <p:cNvSpPr/>
          <p:nvPr/>
        </p:nvSpPr>
        <p:spPr>
          <a:xfrm>
            <a:off x="5858104" y="1298448"/>
            <a:ext cx="475488" cy="475488"/>
          </a:xfrm>
          <a:prstGeom prst="ellipse">
            <a:avLst/>
          </a:prstGeom>
          <a:solidFill>
            <a:srgbClr val="E4F5F3"/>
          </a:solidFill>
          <a:ln/>
        </p:spPr>
      </p:sp>
      <p:pic>
        <p:nvPicPr>
          <p:cNvPr id="75" name="Image 6" descr="/tmp/claude-0/-home-user-riesgo/579fb8c8-70e5-51d5-80ec-6ed51cc2e8df/scratchpad/pptx-build/icons/checkcircle_0F766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58688" y="1399032"/>
            <a:ext cx="274320" cy="274320"/>
          </a:xfrm>
          <a:prstGeom prst="rect">
            <a:avLst/>
          </a:prstGeom>
        </p:spPr>
      </p:pic>
      <p:sp>
        <p:nvSpPr>
          <p:cNvPr id="76" name="Text 67"/>
          <p:cNvSpPr txBox="1"/>
          <p:nvPr/>
        </p:nvSpPr>
        <p:spPr>
          <a:xfrm>
            <a:off x="5070531" y="1828800"/>
            <a:ext cx="205063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Regulatorio</a:t>
            </a:r>
            <a:endParaRPr lang="en-US" sz="1200" dirty="0"/>
          </a:p>
        </p:txBody>
      </p:sp>
      <p:sp>
        <p:nvSpPr>
          <p:cNvPr id="77" name="Shape 68"/>
          <p:cNvSpPr/>
          <p:nvPr/>
        </p:nvSpPr>
        <p:spPr>
          <a:xfrm>
            <a:off x="5931256" y="2048256"/>
            <a:ext cx="329184" cy="20117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78" name="Text 69"/>
          <p:cNvSpPr txBox="1"/>
          <p:nvPr/>
        </p:nvSpPr>
        <p:spPr>
          <a:xfrm>
            <a:off x="5143683" y="2157984"/>
            <a:ext cx="190432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SSF</a:t>
            </a:r>
            <a:endParaRPr lang="en-US" sz="800" dirty="0"/>
          </a:p>
        </p:txBody>
      </p:sp>
      <p:sp>
        <p:nvSpPr>
          <p:cNvPr id="79" name="Shape 70"/>
          <p:cNvSpPr/>
          <p:nvPr/>
        </p:nvSpPr>
        <p:spPr>
          <a:xfrm>
            <a:off x="5143683" y="2427732"/>
            <a:ext cx="64008" cy="6400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80" name="Text 71"/>
          <p:cNvSpPr txBox="1"/>
          <p:nvPr/>
        </p:nvSpPr>
        <p:spPr>
          <a:xfrm>
            <a:off x="5289987" y="2350008"/>
            <a:ext cx="17580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Riesgos Específicos</a:t>
            </a:r>
            <a:endParaRPr lang="en-US" sz="1000" dirty="0"/>
          </a:p>
        </p:txBody>
      </p:sp>
      <p:sp>
        <p:nvSpPr>
          <p:cNvPr id="81" name="Shape 72"/>
          <p:cNvSpPr/>
          <p:nvPr/>
        </p:nvSpPr>
        <p:spPr>
          <a:xfrm>
            <a:off x="5143683" y="2644902"/>
            <a:ext cx="64008" cy="6400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82" name="Text 73"/>
          <p:cNvSpPr txBox="1"/>
          <p:nvPr/>
        </p:nvSpPr>
        <p:spPr>
          <a:xfrm>
            <a:off x="5289987" y="2567178"/>
            <a:ext cx="17580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 Corporativo</a:t>
            </a:r>
            <a:endParaRPr lang="en-US" sz="1000" dirty="0"/>
          </a:p>
        </p:txBody>
      </p:sp>
      <p:sp>
        <p:nvSpPr>
          <p:cNvPr id="83" name="Shape 74"/>
          <p:cNvSpPr/>
          <p:nvPr/>
        </p:nvSpPr>
        <p:spPr>
          <a:xfrm>
            <a:off x="5143683" y="2862072"/>
            <a:ext cx="64008" cy="6400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84" name="Text 75"/>
          <p:cNvSpPr txBox="1"/>
          <p:nvPr/>
        </p:nvSpPr>
        <p:spPr>
          <a:xfrm>
            <a:off x="5289987" y="2784348"/>
            <a:ext cx="17580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Recuperación</a:t>
            </a:r>
            <a:endParaRPr lang="en-US" sz="1000" dirty="0"/>
          </a:p>
        </p:txBody>
      </p:sp>
      <p:sp>
        <p:nvSpPr>
          <p:cNvPr id="85" name="Shape 76"/>
          <p:cNvSpPr/>
          <p:nvPr/>
        </p:nvSpPr>
        <p:spPr>
          <a:xfrm>
            <a:off x="5143683" y="3079242"/>
            <a:ext cx="64008" cy="64008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86" name="Text 77"/>
          <p:cNvSpPr txBox="1"/>
          <p:nvPr/>
        </p:nvSpPr>
        <p:spPr>
          <a:xfrm>
            <a:off x="5289987" y="3001518"/>
            <a:ext cx="175802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IGD</a:t>
            </a:r>
            <a:endParaRPr lang="en-US" sz="1000" dirty="0"/>
          </a:p>
        </p:txBody>
      </p:sp>
      <p:sp>
        <p:nvSpPr>
          <p:cNvPr id="87" name="Text 78"/>
          <p:cNvSpPr txBox="1"/>
          <p:nvPr/>
        </p:nvSpPr>
        <p:spPr>
          <a:xfrm>
            <a:off x="5143683" y="3374136"/>
            <a:ext cx="190432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</a:t>
            </a:r>
            <a:endParaRPr lang="en-US" sz="800" dirty="0"/>
          </a:p>
        </p:txBody>
      </p:sp>
      <p:sp>
        <p:nvSpPr>
          <p:cNvPr id="88" name="Shape 79"/>
          <p:cNvSpPr/>
          <p:nvPr/>
        </p:nvSpPr>
        <p:spPr>
          <a:xfrm>
            <a:off x="5143683" y="3593592"/>
            <a:ext cx="1188720" cy="219456"/>
          </a:xfrm>
          <a:prstGeom prst="roundRect">
            <a:avLst>
              <a:gd name="adj" fmla="val 50000"/>
            </a:avLst>
          </a:prstGeom>
          <a:solidFill>
            <a:srgbClr val="E4F5F3"/>
          </a:solidFill>
          <a:ln/>
        </p:spPr>
      </p:sp>
      <p:sp>
        <p:nvSpPr>
          <p:cNvPr id="89" name="Text 80"/>
          <p:cNvSpPr txBox="1"/>
          <p:nvPr/>
        </p:nvSpPr>
        <p:spPr>
          <a:xfrm>
            <a:off x="5143683" y="3593592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40" kern="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NRP 4-41</a:t>
            </a:r>
            <a:endParaRPr lang="en-US" sz="900" dirty="0"/>
          </a:p>
        </p:txBody>
      </p:sp>
      <p:sp>
        <p:nvSpPr>
          <p:cNvPr id="90" name="Shape 81"/>
          <p:cNvSpPr/>
          <p:nvPr/>
        </p:nvSpPr>
        <p:spPr>
          <a:xfrm>
            <a:off x="7340620" y="1170432"/>
            <a:ext cx="2160361" cy="525780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91" name="Shape 82"/>
          <p:cNvSpPr/>
          <p:nvPr/>
        </p:nvSpPr>
        <p:spPr>
          <a:xfrm>
            <a:off x="7340620" y="1170432"/>
            <a:ext cx="2160361" cy="41148"/>
          </a:xfrm>
          <a:prstGeom prst="rect">
            <a:avLst/>
          </a:prstGeom>
          <a:solidFill>
            <a:srgbClr val="1D63A1"/>
          </a:solidFill>
          <a:ln/>
        </p:spPr>
      </p:sp>
      <p:sp>
        <p:nvSpPr>
          <p:cNvPr id="92" name="Shape 83"/>
          <p:cNvSpPr/>
          <p:nvPr/>
        </p:nvSpPr>
        <p:spPr>
          <a:xfrm>
            <a:off x="8183057" y="1298448"/>
            <a:ext cx="475488" cy="475488"/>
          </a:xfrm>
          <a:prstGeom prst="ellipse">
            <a:avLst/>
          </a:prstGeom>
          <a:solidFill>
            <a:srgbClr val="E8F1FA"/>
          </a:solidFill>
          <a:ln/>
        </p:spPr>
      </p:sp>
      <p:pic>
        <p:nvPicPr>
          <p:cNvPr id="93" name="Image 7" descr="/tmp/claude-0/-home-user-riesgo/579fb8c8-70e5-51d5-80ec-6ed51cc2e8df/scratchpad/pptx-build/icons/refreshcw_1D63A1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3641" y="1399032"/>
            <a:ext cx="274320" cy="274320"/>
          </a:xfrm>
          <a:prstGeom prst="rect">
            <a:avLst/>
          </a:prstGeom>
        </p:spPr>
      </p:pic>
      <p:sp>
        <p:nvSpPr>
          <p:cNvPr id="94" name="Text 84"/>
          <p:cNvSpPr txBox="1"/>
          <p:nvPr/>
        </p:nvSpPr>
        <p:spPr>
          <a:xfrm>
            <a:off x="7395484" y="1828800"/>
            <a:ext cx="205063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Negocio</a:t>
            </a:r>
            <a:endParaRPr lang="en-US" sz="1200" dirty="0"/>
          </a:p>
        </p:txBody>
      </p:sp>
      <p:sp>
        <p:nvSpPr>
          <p:cNvPr id="95" name="Shape 85"/>
          <p:cNvSpPr/>
          <p:nvPr/>
        </p:nvSpPr>
        <p:spPr>
          <a:xfrm>
            <a:off x="8256209" y="2048256"/>
            <a:ext cx="329184" cy="20117"/>
          </a:xfrm>
          <a:prstGeom prst="rect">
            <a:avLst/>
          </a:prstGeom>
          <a:solidFill>
            <a:srgbClr val="1D63A1"/>
          </a:solidFill>
          <a:ln/>
        </p:spPr>
      </p:sp>
      <p:sp>
        <p:nvSpPr>
          <p:cNvPr id="96" name="Text 86"/>
          <p:cNvSpPr txBox="1"/>
          <p:nvPr/>
        </p:nvSpPr>
        <p:spPr>
          <a:xfrm>
            <a:off x="7468636" y="2157984"/>
            <a:ext cx="190432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</a:t>
            </a:r>
            <a:endParaRPr lang="en-US" sz="800" dirty="0"/>
          </a:p>
        </p:txBody>
      </p:sp>
      <p:sp>
        <p:nvSpPr>
          <p:cNvPr id="97" name="Shape 87"/>
          <p:cNvSpPr/>
          <p:nvPr/>
        </p:nvSpPr>
        <p:spPr>
          <a:xfrm>
            <a:off x="7468636" y="2377440"/>
            <a:ext cx="219456" cy="219456"/>
          </a:xfrm>
          <a:prstGeom prst="ellipse">
            <a:avLst/>
          </a:prstGeom>
          <a:solidFill>
            <a:srgbClr val="E8F1FA"/>
          </a:solidFill>
          <a:ln/>
        </p:spPr>
      </p:sp>
      <p:pic>
        <p:nvPicPr>
          <p:cNvPr id="98" name="Image 8" descr="/tmp/claude-0/-home-user-riesgo/579fb8c8-70e5-51d5-80ec-6ed51cc2e8df/scratchpad/pptx-build/icons/clipboard_1D63A1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14356" y="2423160"/>
            <a:ext cx="128016" cy="128016"/>
          </a:xfrm>
          <a:prstGeom prst="rect">
            <a:avLst/>
          </a:prstGeom>
        </p:spPr>
      </p:pic>
      <p:sp>
        <p:nvSpPr>
          <p:cNvPr id="99" name="Text 88"/>
          <p:cNvSpPr txBox="1"/>
          <p:nvPr/>
        </p:nvSpPr>
        <p:spPr>
          <a:xfrm>
            <a:off x="7797820" y="23591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CN</a:t>
            </a:r>
            <a:endParaRPr lang="en-US" sz="950" dirty="0"/>
          </a:p>
        </p:txBody>
      </p:sp>
      <p:sp>
        <p:nvSpPr>
          <p:cNvPr id="100" name="Shape 89"/>
          <p:cNvSpPr/>
          <p:nvPr/>
        </p:nvSpPr>
        <p:spPr>
          <a:xfrm>
            <a:off x="7571049" y="2596896"/>
            <a:ext cx="14630" cy="164592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101" name="Shape 90"/>
          <p:cNvSpPr/>
          <p:nvPr/>
        </p:nvSpPr>
        <p:spPr>
          <a:xfrm>
            <a:off x="7468636" y="2816352"/>
            <a:ext cx="219456" cy="219456"/>
          </a:xfrm>
          <a:prstGeom prst="ellipse">
            <a:avLst/>
          </a:prstGeom>
          <a:solidFill>
            <a:srgbClr val="E8F1FA"/>
          </a:solidFill>
          <a:ln/>
        </p:spPr>
      </p:sp>
      <p:pic>
        <p:nvPicPr>
          <p:cNvPr id="102" name="Image 9" descr="/tmp/claude-0/-home-user-riesgo/579fb8c8-70e5-51d5-80ec-6ed51cc2e8df/scratchpad/pptx-build/icons/checksquare_1D63A1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14356" y="2862072"/>
            <a:ext cx="128016" cy="128016"/>
          </a:xfrm>
          <a:prstGeom prst="rect">
            <a:avLst/>
          </a:prstGeom>
        </p:spPr>
      </p:pic>
      <p:sp>
        <p:nvSpPr>
          <p:cNvPr id="103" name="Text 91"/>
          <p:cNvSpPr txBox="1"/>
          <p:nvPr/>
        </p:nvSpPr>
        <p:spPr>
          <a:xfrm>
            <a:off x="7797820" y="279806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Guion de Pruebas</a:t>
            </a:r>
            <a:endParaRPr lang="en-US" sz="950" dirty="0"/>
          </a:p>
        </p:txBody>
      </p:sp>
      <p:sp>
        <p:nvSpPr>
          <p:cNvPr id="104" name="Shape 92"/>
          <p:cNvSpPr/>
          <p:nvPr/>
        </p:nvSpPr>
        <p:spPr>
          <a:xfrm>
            <a:off x="7571049" y="3035808"/>
            <a:ext cx="14630" cy="164592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105" name="Shape 93"/>
          <p:cNvSpPr/>
          <p:nvPr/>
        </p:nvSpPr>
        <p:spPr>
          <a:xfrm>
            <a:off x="7468636" y="3255264"/>
            <a:ext cx="219456" cy="219456"/>
          </a:xfrm>
          <a:prstGeom prst="ellipse">
            <a:avLst/>
          </a:prstGeom>
          <a:solidFill>
            <a:srgbClr val="E8F1FA"/>
          </a:solidFill>
          <a:ln/>
        </p:spPr>
      </p:sp>
      <p:pic>
        <p:nvPicPr>
          <p:cNvPr id="106" name="Image 10" descr="/tmp/claude-0/-home-user-riesgo/579fb8c8-70e5-51d5-80ec-6ed51cc2e8df/scratchpad/pptx-build/icons/play_1D63A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14356" y="3300984"/>
            <a:ext cx="128016" cy="128016"/>
          </a:xfrm>
          <a:prstGeom prst="rect">
            <a:avLst/>
          </a:prstGeom>
        </p:spPr>
      </p:pic>
      <p:sp>
        <p:nvSpPr>
          <p:cNvPr id="107" name="Text 94"/>
          <p:cNvSpPr txBox="1"/>
          <p:nvPr/>
        </p:nvSpPr>
        <p:spPr>
          <a:xfrm>
            <a:off x="7797820" y="32369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Primera Prueba</a:t>
            </a:r>
            <a:endParaRPr lang="en-US" sz="950" dirty="0"/>
          </a:p>
        </p:txBody>
      </p:sp>
      <p:sp>
        <p:nvSpPr>
          <p:cNvPr id="108" name="Shape 95"/>
          <p:cNvSpPr/>
          <p:nvPr/>
        </p:nvSpPr>
        <p:spPr>
          <a:xfrm>
            <a:off x="7468636" y="5715000"/>
            <a:ext cx="1904329" cy="566928"/>
          </a:xfrm>
          <a:prstGeom prst="roundRect">
            <a:avLst>
              <a:gd name="adj" fmla="val 8065"/>
            </a:avLst>
          </a:prstGeom>
          <a:solidFill>
            <a:srgbClr val="133B6C"/>
          </a:solidFill>
          <a:ln/>
        </p:spPr>
      </p:sp>
      <p:sp>
        <p:nvSpPr>
          <p:cNvPr id="109" name="Text 96"/>
          <p:cNvSpPr txBox="1"/>
          <p:nvPr/>
        </p:nvSpPr>
        <p:spPr>
          <a:xfrm>
            <a:off x="7468636" y="5769864"/>
            <a:ext cx="19043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03/09/2026</a:t>
            </a:r>
            <a:endParaRPr lang="en-US" sz="1500" dirty="0"/>
          </a:p>
        </p:txBody>
      </p:sp>
      <p:sp>
        <p:nvSpPr>
          <p:cNvPr id="110" name="Text 97"/>
          <p:cNvSpPr txBox="1"/>
          <p:nvPr/>
        </p:nvSpPr>
        <p:spPr>
          <a:xfrm>
            <a:off x="7505212" y="6044184"/>
            <a:ext cx="183117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DCEF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REALIZADA EN AGENCIA COLONIA MÉDICA</a:t>
            </a:r>
            <a:endParaRPr lang="en-US" sz="630" dirty="0"/>
          </a:p>
        </p:txBody>
      </p:sp>
      <p:sp>
        <p:nvSpPr>
          <p:cNvPr id="111" name="Shape 98"/>
          <p:cNvSpPr/>
          <p:nvPr/>
        </p:nvSpPr>
        <p:spPr>
          <a:xfrm>
            <a:off x="9665574" y="1170432"/>
            <a:ext cx="2160361" cy="525780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12" name="Shape 99"/>
          <p:cNvSpPr/>
          <p:nvPr/>
        </p:nvSpPr>
        <p:spPr>
          <a:xfrm>
            <a:off x="9665574" y="1170432"/>
            <a:ext cx="2160361" cy="41148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13" name="Shape 100"/>
          <p:cNvSpPr/>
          <p:nvPr/>
        </p:nvSpPr>
        <p:spPr>
          <a:xfrm>
            <a:off x="10508010" y="1298448"/>
            <a:ext cx="475488" cy="475488"/>
          </a:xfrm>
          <a:prstGeom prst="ellipse">
            <a:avLst/>
          </a:prstGeom>
          <a:solidFill>
            <a:srgbClr val="E4F5EA"/>
          </a:solidFill>
          <a:ln/>
        </p:spPr>
      </p:sp>
      <p:pic>
        <p:nvPicPr>
          <p:cNvPr id="114" name="Image 11" descr="/tmp/claude-0/-home-user-riesgo/579fb8c8-70e5-51d5-80ec-6ed51cc2e8df/scratchpad/pptx-build/icons/home_1E8449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08594" y="1399032"/>
            <a:ext cx="274320" cy="274320"/>
          </a:xfrm>
          <a:prstGeom prst="rect">
            <a:avLst/>
          </a:prstGeom>
        </p:spPr>
      </p:pic>
      <p:sp>
        <p:nvSpPr>
          <p:cNvPr id="115" name="Text 101"/>
          <p:cNvSpPr txBox="1"/>
          <p:nvPr/>
        </p:nvSpPr>
        <p:spPr>
          <a:xfrm>
            <a:off x="9720438" y="1828800"/>
            <a:ext cx="205063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Avalúos</a:t>
            </a:r>
            <a:endParaRPr lang="en-US" sz="1200" dirty="0"/>
          </a:p>
        </p:txBody>
      </p:sp>
      <p:sp>
        <p:nvSpPr>
          <p:cNvPr id="116" name="Shape 102"/>
          <p:cNvSpPr/>
          <p:nvPr/>
        </p:nvSpPr>
        <p:spPr>
          <a:xfrm>
            <a:off x="10581162" y="2048256"/>
            <a:ext cx="329184" cy="20117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17" name="Text 103"/>
          <p:cNvSpPr txBox="1"/>
          <p:nvPr/>
        </p:nvSpPr>
        <p:spPr>
          <a:xfrm>
            <a:off x="9793590" y="2157984"/>
            <a:ext cx="190432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spc="50" kern="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</a:t>
            </a:r>
            <a:endParaRPr lang="en-US" sz="800" dirty="0"/>
          </a:p>
        </p:txBody>
      </p:sp>
      <p:sp>
        <p:nvSpPr>
          <p:cNvPr id="118" name="Shape 104"/>
          <p:cNvSpPr/>
          <p:nvPr/>
        </p:nvSpPr>
        <p:spPr>
          <a:xfrm>
            <a:off x="9793590" y="2377440"/>
            <a:ext cx="219456" cy="219456"/>
          </a:xfrm>
          <a:prstGeom prst="ellipse">
            <a:avLst/>
          </a:prstGeom>
          <a:solidFill>
            <a:srgbClr val="E4F5EA"/>
          </a:solidFill>
          <a:ln/>
        </p:spPr>
      </p:sp>
      <p:pic>
        <p:nvPicPr>
          <p:cNvPr id="119" name="Image 12" descr="/tmp/claude-0/-home-user-riesgo/579fb8c8-70e5-51d5-80ec-6ed51cc2e8df/scratchpad/pptx-build/icons/sliders_1E8449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39310" y="2423160"/>
            <a:ext cx="128016" cy="128016"/>
          </a:xfrm>
          <a:prstGeom prst="rect">
            <a:avLst/>
          </a:prstGeom>
        </p:spPr>
      </p:pic>
      <p:sp>
        <p:nvSpPr>
          <p:cNvPr id="120" name="Text 105"/>
          <p:cNvSpPr txBox="1"/>
          <p:nvPr/>
        </p:nvSpPr>
        <p:spPr>
          <a:xfrm>
            <a:off x="10122774" y="23591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de Actualización</a:t>
            </a:r>
            <a:endParaRPr lang="en-US" sz="860" dirty="0"/>
          </a:p>
        </p:txBody>
      </p:sp>
      <p:sp>
        <p:nvSpPr>
          <p:cNvPr id="121" name="Shape 106"/>
          <p:cNvSpPr/>
          <p:nvPr/>
        </p:nvSpPr>
        <p:spPr>
          <a:xfrm>
            <a:off x="9896003" y="2596896"/>
            <a:ext cx="14630" cy="164592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122" name="Shape 107"/>
          <p:cNvSpPr/>
          <p:nvPr/>
        </p:nvSpPr>
        <p:spPr>
          <a:xfrm>
            <a:off x="9793590" y="2816352"/>
            <a:ext cx="219456" cy="219456"/>
          </a:xfrm>
          <a:prstGeom prst="ellipse">
            <a:avLst/>
          </a:prstGeom>
          <a:solidFill>
            <a:srgbClr val="E4F5EA"/>
          </a:solidFill>
          <a:ln/>
        </p:spPr>
      </p:sp>
      <p:pic>
        <p:nvPicPr>
          <p:cNvPr id="123" name="Image 13" descr="/tmp/claude-0/-home-user-riesgo/579fb8c8-70e5-51d5-80ec-6ed51cc2e8df/scratchpad/pptx-build/icons/search_1E8449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39310" y="2862072"/>
            <a:ext cx="128016" cy="128016"/>
          </a:xfrm>
          <a:prstGeom prst="rect">
            <a:avLst/>
          </a:prstGeom>
        </p:spPr>
      </p:pic>
      <p:sp>
        <p:nvSpPr>
          <p:cNvPr id="124" name="Text 108"/>
          <p:cNvSpPr txBox="1"/>
          <p:nvPr/>
        </p:nvSpPr>
        <p:spPr>
          <a:xfrm>
            <a:off x="10122774" y="2798064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Integral</a:t>
            </a:r>
            <a:endParaRPr lang="en-US" sz="860" dirty="0"/>
          </a:p>
        </p:txBody>
      </p:sp>
      <p:sp>
        <p:nvSpPr>
          <p:cNvPr id="125" name="Shape 109"/>
          <p:cNvSpPr/>
          <p:nvPr/>
        </p:nvSpPr>
        <p:spPr>
          <a:xfrm>
            <a:off x="9896003" y="3035808"/>
            <a:ext cx="14630" cy="164592"/>
          </a:xfrm>
          <a:prstGeom prst="rect">
            <a:avLst/>
          </a:prstGeom>
          <a:solidFill>
            <a:srgbClr val="F1F3F7"/>
          </a:solidFill>
          <a:ln/>
        </p:spPr>
      </p:sp>
      <p:sp>
        <p:nvSpPr>
          <p:cNvPr id="126" name="Shape 110"/>
          <p:cNvSpPr/>
          <p:nvPr/>
        </p:nvSpPr>
        <p:spPr>
          <a:xfrm>
            <a:off x="9793590" y="3255264"/>
            <a:ext cx="219456" cy="219456"/>
          </a:xfrm>
          <a:prstGeom prst="ellipse">
            <a:avLst/>
          </a:prstGeom>
          <a:solidFill>
            <a:srgbClr val="E4F5EA"/>
          </a:solidFill>
          <a:ln/>
        </p:spPr>
      </p:sp>
      <p:pic>
        <p:nvPicPr>
          <p:cNvPr id="127" name="Image 14" descr="/tmp/claude-0/-home-user-riesgo/579fb8c8-70e5-51d5-80ec-6ed51cc2e8df/scratchpad/pptx-build/icons/bookopen_1E8449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39310" y="3300984"/>
            <a:ext cx="128016" cy="128016"/>
          </a:xfrm>
          <a:prstGeom prst="rect">
            <a:avLst/>
          </a:prstGeom>
        </p:spPr>
      </p:pic>
      <p:sp>
        <p:nvSpPr>
          <p:cNvPr id="128" name="Text 111"/>
          <p:cNvSpPr txBox="1"/>
          <p:nvPr/>
        </p:nvSpPr>
        <p:spPr>
          <a:xfrm>
            <a:off x="10122774" y="323697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0" b="1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Integral</a:t>
            </a:r>
            <a:endParaRPr lang="en-US" sz="860" dirty="0"/>
          </a:p>
        </p:txBody>
      </p:sp>
      <p:sp>
        <p:nvSpPr>
          <p:cNvPr id="129" name="Shape 112"/>
          <p:cNvSpPr/>
          <p:nvPr/>
        </p:nvSpPr>
        <p:spPr>
          <a:xfrm>
            <a:off x="9793590" y="5715000"/>
            <a:ext cx="1904329" cy="566928"/>
          </a:xfrm>
          <a:prstGeom prst="roundRect">
            <a:avLst>
              <a:gd name="adj" fmla="val 8065"/>
            </a:avLst>
          </a:prstGeom>
          <a:solidFill>
            <a:srgbClr val="1E8449"/>
          </a:solidFill>
          <a:ln/>
        </p:spPr>
      </p:sp>
      <p:sp>
        <p:nvSpPr>
          <p:cNvPr id="130" name="Text 113"/>
          <p:cNvSpPr txBox="1"/>
          <p:nvPr/>
        </p:nvSpPr>
        <p:spPr>
          <a:xfrm>
            <a:off x="9793590" y="5769864"/>
            <a:ext cx="19043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31/10/2026</a:t>
            </a:r>
            <a:endParaRPr lang="en-US" sz="1500" dirty="0"/>
          </a:p>
        </p:txBody>
      </p:sp>
      <p:sp>
        <p:nvSpPr>
          <p:cNvPr id="131" name="Text 114"/>
          <p:cNvSpPr txBox="1"/>
          <p:nvPr/>
        </p:nvSpPr>
        <p:spPr>
          <a:xfrm>
            <a:off x="9830166" y="6044184"/>
            <a:ext cx="183117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60" b="1" spc="30" kern="0" dirty="0">
                <a:solidFill>
                  <a:srgbClr val="DFF4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POLÍTICA INTEGRAL</a:t>
            </a:r>
            <a:endParaRPr lang="en-US" sz="6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3B6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120512" cy="1005840"/>
          </a:xfrm>
          <a:prstGeom prst="rect">
            <a:avLst/>
          </a:prstGeom>
          <a:solidFill>
            <a:srgbClr val="0A1F3B"/>
          </a:solidFill>
          <a:ln/>
        </p:spPr>
      </p:sp>
      <p:sp>
        <p:nvSpPr>
          <p:cNvPr id="4" name="Shape 2"/>
          <p:cNvSpPr/>
          <p:nvPr/>
        </p:nvSpPr>
        <p:spPr>
          <a:xfrm>
            <a:off x="9997190" y="0"/>
            <a:ext cx="2194505" cy="1005840"/>
          </a:xfrm>
          <a:prstGeom prst="rect">
            <a:avLst/>
          </a:prstGeom>
          <a:solidFill>
            <a:srgbClr val="106B78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973836"/>
            <a:ext cx="12191695" cy="32004"/>
          </a:xfrm>
          <a:prstGeom prst="rect">
            <a:avLst/>
          </a:prstGeom>
          <a:solidFill>
            <a:srgbClr val="17A9B0"/>
          </a:solidFill>
          <a:ln/>
        </p:spPr>
      </p:sp>
      <p:sp>
        <p:nvSpPr>
          <p:cNvPr id="6" name="Shape 4"/>
          <p:cNvSpPr/>
          <p:nvPr/>
        </p:nvSpPr>
        <p:spPr>
          <a:xfrm>
            <a:off x="10774375" y="-960120"/>
            <a:ext cx="2377440" cy="2377440"/>
          </a:xfrm>
          <a:prstGeom prst="ellipse">
            <a:avLst/>
          </a:prstGeom>
          <a:ln w="12700">
            <a:solidFill>
              <a:srgbClr val="97D8DB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-685800"/>
            <a:ext cx="1828800" cy="1828800"/>
          </a:xfrm>
          <a:prstGeom prst="ellipse">
            <a:avLst/>
          </a:prstGeom>
          <a:ln w="12700">
            <a:solidFill>
              <a:srgbClr val="97D8DB">
                <a:alpha val="18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" y="12801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7D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COMÉDICA · CRONOGRAMA DE ACTIVIDADES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32918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Informes Semanal – Mensual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8899855" y="21945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C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8899855" y="4023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Silvia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5F9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COMÉDICA  ·  Cronograma de Actividades — Silvia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1170432"/>
            <a:ext cx="2727884" cy="5257800"/>
          </a:xfrm>
          <a:prstGeom prst="roundRect">
            <a:avLst>
              <a:gd name="adj" fmla="val 23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1170432"/>
            <a:ext cx="2727884" cy="41148"/>
          </a:xfrm>
          <a:prstGeom prst="rect">
            <a:avLst/>
          </a:prstGeom>
          <a:solidFill>
            <a:srgbClr val="A6650F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064" y="1316736"/>
            <a:ext cx="384048" cy="384048"/>
          </a:xfrm>
          <a:prstGeom prst="ellipse">
            <a:avLst/>
          </a:prstGeom>
          <a:solidFill>
            <a:srgbClr val="FDF3E7"/>
          </a:solidFill>
          <a:ln/>
        </p:spPr>
      </p:sp>
      <p:pic>
        <p:nvPicPr>
          <p:cNvPr id="17" name="Image 0" descr="/tmp/claude-0/-home-user-riesgo/579fb8c8-70e5-51d5-80ec-6ed51cc2e8df/scratchpad/pptx-build/icons/bookopen_A6650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389888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005840" y="1280160"/>
            <a:ext cx="19780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y Auditoría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512064" y="1828800"/>
            <a:ext cx="2435276" cy="12802"/>
          </a:xfrm>
          <a:prstGeom prst="rect">
            <a:avLst/>
          </a:prstGeom>
          <a:solidFill>
            <a:srgbClr val="EDF0F5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2064" y="1938528"/>
            <a:ext cx="24352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 de presentación y examen para Capacitación de GIR 2026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12064" y="2322576"/>
            <a:ext cx="1283132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22" name="Shape 19"/>
          <p:cNvSpPr/>
          <p:nvPr/>
        </p:nvSpPr>
        <p:spPr>
          <a:xfrm>
            <a:off x="512064" y="2322576"/>
            <a:ext cx="128313" cy="45720"/>
          </a:xfrm>
          <a:prstGeom prst="roundRect">
            <a:avLst>
              <a:gd name="adj" fmla="val 50000"/>
            </a:avLst>
          </a:prstGeom>
          <a:solidFill>
            <a:srgbClr val="A6650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850060" y="2281428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700" dirty="0"/>
          </a:p>
        </p:txBody>
      </p:sp>
      <p:sp>
        <p:nvSpPr>
          <p:cNvPr id="24" name="Shape 21"/>
          <p:cNvSpPr/>
          <p:nvPr/>
        </p:nvSpPr>
        <p:spPr>
          <a:xfrm>
            <a:off x="2215820" y="2267712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FDF3E7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215820" y="2267712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PROCESO</a:t>
            </a:r>
            <a:endParaRPr lang="en-US" sz="630" dirty="0"/>
          </a:p>
        </p:txBody>
      </p:sp>
      <p:sp>
        <p:nvSpPr>
          <p:cNvPr id="26" name="Text 23"/>
          <p:cNvSpPr txBox="1"/>
          <p:nvPr/>
        </p:nvSpPr>
        <p:spPr>
          <a:xfrm>
            <a:off x="512064" y="2450592"/>
            <a:ext cx="2435276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visita AENOR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12064" y="2683764"/>
            <a:ext cx="1283132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28" name="Shape 25"/>
          <p:cNvSpPr/>
          <p:nvPr/>
        </p:nvSpPr>
        <p:spPr>
          <a:xfrm>
            <a:off x="512064" y="2683764"/>
            <a:ext cx="1283132" cy="45720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850060" y="2642616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00" dirty="0"/>
          </a:p>
        </p:txBody>
      </p:sp>
      <p:sp>
        <p:nvSpPr>
          <p:cNvPr id="30" name="Shape 27"/>
          <p:cNvSpPr/>
          <p:nvPr/>
        </p:nvSpPr>
        <p:spPr>
          <a:xfrm>
            <a:off x="2215820" y="2628900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E4F5EA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2215820" y="2628900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630" dirty="0"/>
          </a:p>
        </p:txBody>
      </p:sp>
      <p:sp>
        <p:nvSpPr>
          <p:cNvPr id="32" name="Shape 29"/>
          <p:cNvSpPr/>
          <p:nvPr/>
        </p:nvSpPr>
        <p:spPr>
          <a:xfrm>
            <a:off x="3276524" y="1170432"/>
            <a:ext cx="2727884" cy="5257800"/>
          </a:xfrm>
          <a:prstGeom prst="roundRect">
            <a:avLst>
              <a:gd name="adj" fmla="val 23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3276524" y="1170432"/>
            <a:ext cx="2727884" cy="4114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4" name="Shape 31"/>
          <p:cNvSpPr/>
          <p:nvPr/>
        </p:nvSpPr>
        <p:spPr>
          <a:xfrm>
            <a:off x="3422828" y="1316736"/>
            <a:ext cx="384048" cy="384048"/>
          </a:xfrm>
          <a:prstGeom prst="ellipse">
            <a:avLst/>
          </a:prstGeom>
          <a:solidFill>
            <a:srgbClr val="E4F5F3"/>
          </a:solidFill>
          <a:ln/>
        </p:spPr>
      </p:sp>
      <p:pic>
        <p:nvPicPr>
          <p:cNvPr id="35" name="Image 1" descr="/tmp/claude-0/-home-user-riesgo/579fb8c8-70e5-51d5-80ec-6ed51cc2e8df/scratchpad/pptx-build/icons/users_0F766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5980" y="1389888"/>
            <a:ext cx="237744" cy="237744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3916604" y="1280160"/>
            <a:ext cx="19780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Comité de Riesgos y Gestión</a:t>
            </a:r>
            <a:endParaRPr lang="en-US" sz="1350" dirty="0"/>
          </a:p>
        </p:txBody>
      </p:sp>
      <p:sp>
        <p:nvSpPr>
          <p:cNvPr id="37" name="Shape 33"/>
          <p:cNvSpPr/>
          <p:nvPr/>
        </p:nvSpPr>
        <p:spPr>
          <a:xfrm>
            <a:off x="3422828" y="1828800"/>
            <a:ext cx="2435276" cy="12802"/>
          </a:xfrm>
          <a:prstGeom prst="rect">
            <a:avLst/>
          </a:prstGeom>
          <a:solidFill>
            <a:srgbClr val="EDF0F5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3422828" y="1938528"/>
            <a:ext cx="2435276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ejecutivo RO y Reputacional para Comité (cierre agosto 2026)</a:t>
            </a:r>
            <a:endParaRPr lang="en-US" sz="850" dirty="0"/>
          </a:p>
        </p:txBody>
      </p:sp>
      <p:sp>
        <p:nvSpPr>
          <p:cNvPr id="39" name="Shape 35"/>
          <p:cNvSpPr/>
          <p:nvPr/>
        </p:nvSpPr>
        <p:spPr>
          <a:xfrm>
            <a:off x="3422828" y="2305812"/>
            <a:ext cx="1283132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40" name="Shape 36"/>
          <p:cNvSpPr/>
          <p:nvPr/>
        </p:nvSpPr>
        <p:spPr>
          <a:xfrm>
            <a:off x="3422828" y="2305812"/>
            <a:ext cx="256626" cy="45720"/>
          </a:xfrm>
          <a:prstGeom prst="roundRect">
            <a:avLst>
              <a:gd name="adj" fmla="val 50000"/>
            </a:avLst>
          </a:prstGeom>
          <a:solidFill>
            <a:srgbClr val="A6650F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4760824" y="2264664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700" dirty="0"/>
          </a:p>
        </p:txBody>
      </p:sp>
      <p:sp>
        <p:nvSpPr>
          <p:cNvPr id="42" name="Shape 38"/>
          <p:cNvSpPr/>
          <p:nvPr/>
        </p:nvSpPr>
        <p:spPr>
          <a:xfrm>
            <a:off x="5126584" y="2250948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FDF3E7"/>
          </a:solidFill>
          <a:ln/>
        </p:spPr>
      </p:sp>
      <p:sp>
        <p:nvSpPr>
          <p:cNvPr id="43" name="Text 39"/>
          <p:cNvSpPr txBox="1"/>
          <p:nvPr/>
        </p:nvSpPr>
        <p:spPr>
          <a:xfrm>
            <a:off x="5126584" y="2250948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PROCESO</a:t>
            </a:r>
            <a:endParaRPr lang="en-US" sz="630" dirty="0"/>
          </a:p>
        </p:txBody>
      </p:sp>
      <p:sp>
        <p:nvSpPr>
          <p:cNvPr id="44" name="Text 40"/>
          <p:cNvSpPr txBox="1"/>
          <p:nvPr/>
        </p:nvSpPr>
        <p:spPr>
          <a:xfrm>
            <a:off x="3422828" y="2433828"/>
            <a:ext cx="2435276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Reunión con Custodia de Valores – proyecto Gestor Documental (Evaluación Matriz de Riesgos)</a:t>
            </a:r>
            <a:endParaRPr lang="en-US" sz="850" dirty="0"/>
          </a:p>
        </p:txBody>
      </p:sp>
      <p:sp>
        <p:nvSpPr>
          <p:cNvPr id="45" name="Shape 41"/>
          <p:cNvSpPr/>
          <p:nvPr/>
        </p:nvSpPr>
        <p:spPr>
          <a:xfrm>
            <a:off x="3422828" y="2943606"/>
            <a:ext cx="1283132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46" name="Shape 42"/>
          <p:cNvSpPr/>
          <p:nvPr/>
        </p:nvSpPr>
        <p:spPr>
          <a:xfrm>
            <a:off x="3422828" y="2943606"/>
            <a:ext cx="320783" cy="45720"/>
          </a:xfrm>
          <a:prstGeom prst="roundRect">
            <a:avLst>
              <a:gd name="adj" fmla="val 50000"/>
            </a:avLst>
          </a:prstGeom>
          <a:solidFill>
            <a:srgbClr val="A6650F"/>
          </a:solidFill>
          <a:ln/>
        </p:spPr>
      </p:sp>
      <p:sp>
        <p:nvSpPr>
          <p:cNvPr id="47" name="Text 43"/>
          <p:cNvSpPr txBox="1"/>
          <p:nvPr/>
        </p:nvSpPr>
        <p:spPr>
          <a:xfrm>
            <a:off x="4760824" y="2902458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700" dirty="0"/>
          </a:p>
        </p:txBody>
      </p:sp>
      <p:sp>
        <p:nvSpPr>
          <p:cNvPr id="48" name="Shape 44"/>
          <p:cNvSpPr/>
          <p:nvPr/>
        </p:nvSpPr>
        <p:spPr>
          <a:xfrm>
            <a:off x="5126584" y="2888742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FDF3E7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5126584" y="2888742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PROCESO</a:t>
            </a:r>
            <a:endParaRPr lang="en-US" sz="630" dirty="0"/>
          </a:p>
        </p:txBody>
      </p:sp>
      <p:sp>
        <p:nvSpPr>
          <p:cNvPr id="50" name="Text 46"/>
          <p:cNvSpPr txBox="1"/>
          <p:nvPr/>
        </p:nvSpPr>
        <p:spPr>
          <a:xfrm>
            <a:off x="3422828" y="3071622"/>
            <a:ext cx="2435276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 de pérdida – Multa Gerencia Finanzas (pendiente firma GF)</a:t>
            </a:r>
            <a:endParaRPr lang="en-US" sz="850" dirty="0"/>
          </a:p>
        </p:txBody>
      </p:sp>
      <p:sp>
        <p:nvSpPr>
          <p:cNvPr id="51" name="Shape 47"/>
          <p:cNvSpPr/>
          <p:nvPr/>
        </p:nvSpPr>
        <p:spPr>
          <a:xfrm>
            <a:off x="3422828" y="3438906"/>
            <a:ext cx="1283132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52" name="Shape 48"/>
          <p:cNvSpPr/>
          <p:nvPr/>
        </p:nvSpPr>
        <p:spPr>
          <a:xfrm>
            <a:off x="3422828" y="3438906"/>
            <a:ext cx="641566" cy="45720"/>
          </a:xfrm>
          <a:prstGeom prst="roundRect">
            <a:avLst>
              <a:gd name="adj" fmla="val 50000"/>
            </a:avLst>
          </a:prstGeom>
          <a:solidFill>
            <a:srgbClr val="A6650F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4760824" y="3397758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700" dirty="0"/>
          </a:p>
        </p:txBody>
      </p:sp>
      <p:sp>
        <p:nvSpPr>
          <p:cNvPr id="54" name="Shape 50"/>
          <p:cNvSpPr/>
          <p:nvPr/>
        </p:nvSpPr>
        <p:spPr>
          <a:xfrm>
            <a:off x="5126584" y="3384042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FDF3E7"/>
          </a:solidFill>
          <a:ln/>
        </p:spPr>
      </p:sp>
      <p:sp>
        <p:nvSpPr>
          <p:cNvPr id="55" name="Text 51"/>
          <p:cNvSpPr txBox="1"/>
          <p:nvPr/>
        </p:nvSpPr>
        <p:spPr>
          <a:xfrm>
            <a:off x="5126584" y="3384042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PROCESO</a:t>
            </a:r>
            <a:endParaRPr lang="en-US" sz="630" dirty="0"/>
          </a:p>
        </p:txBody>
      </p:sp>
      <p:sp>
        <p:nvSpPr>
          <p:cNvPr id="56" name="Text 52"/>
          <p:cNvSpPr txBox="1"/>
          <p:nvPr/>
        </p:nvSpPr>
        <p:spPr>
          <a:xfrm>
            <a:off x="3422828" y="3566922"/>
            <a:ext cx="2435276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Matriz de Acuerdos – Sesión 150 Comité de Riesgos</a:t>
            </a:r>
            <a:endParaRPr lang="en-US" sz="850" dirty="0"/>
          </a:p>
        </p:txBody>
      </p:sp>
      <p:sp>
        <p:nvSpPr>
          <p:cNvPr id="57" name="Shape 53"/>
          <p:cNvSpPr/>
          <p:nvPr/>
        </p:nvSpPr>
        <p:spPr>
          <a:xfrm>
            <a:off x="3422828" y="3934206"/>
            <a:ext cx="1283132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58" name="Shape 54"/>
          <p:cNvSpPr/>
          <p:nvPr/>
        </p:nvSpPr>
        <p:spPr>
          <a:xfrm>
            <a:off x="3422828" y="3934206"/>
            <a:ext cx="1283132" cy="45720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/>
        </p:spPr>
      </p:sp>
      <p:sp>
        <p:nvSpPr>
          <p:cNvPr id="59" name="Text 55"/>
          <p:cNvSpPr txBox="1"/>
          <p:nvPr/>
        </p:nvSpPr>
        <p:spPr>
          <a:xfrm>
            <a:off x="4760824" y="3893058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00" dirty="0"/>
          </a:p>
        </p:txBody>
      </p:sp>
      <p:sp>
        <p:nvSpPr>
          <p:cNvPr id="60" name="Shape 56"/>
          <p:cNvSpPr/>
          <p:nvPr/>
        </p:nvSpPr>
        <p:spPr>
          <a:xfrm>
            <a:off x="5126584" y="3879342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E4F5EA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5126584" y="3879342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630" dirty="0"/>
          </a:p>
        </p:txBody>
      </p:sp>
      <p:sp>
        <p:nvSpPr>
          <p:cNvPr id="62" name="Shape 58"/>
          <p:cNvSpPr/>
          <p:nvPr/>
        </p:nvSpPr>
        <p:spPr>
          <a:xfrm>
            <a:off x="6187288" y="1170432"/>
            <a:ext cx="2727884" cy="5257800"/>
          </a:xfrm>
          <a:prstGeom prst="roundRect">
            <a:avLst>
              <a:gd name="adj" fmla="val 23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63" name="Shape 59"/>
          <p:cNvSpPr/>
          <p:nvPr/>
        </p:nvSpPr>
        <p:spPr>
          <a:xfrm>
            <a:off x="6187288" y="1170432"/>
            <a:ext cx="2727884" cy="41148"/>
          </a:xfrm>
          <a:prstGeom prst="rect">
            <a:avLst/>
          </a:prstGeom>
          <a:solidFill>
            <a:srgbClr val="1D63A1"/>
          </a:solidFill>
          <a:ln/>
        </p:spPr>
      </p:sp>
      <p:sp>
        <p:nvSpPr>
          <p:cNvPr id="64" name="Shape 60"/>
          <p:cNvSpPr/>
          <p:nvPr/>
        </p:nvSpPr>
        <p:spPr>
          <a:xfrm>
            <a:off x="6333592" y="1316736"/>
            <a:ext cx="384048" cy="384048"/>
          </a:xfrm>
          <a:prstGeom prst="ellipse">
            <a:avLst/>
          </a:prstGeom>
          <a:solidFill>
            <a:srgbClr val="E8F1FA"/>
          </a:solidFill>
          <a:ln/>
        </p:spPr>
      </p:sp>
      <p:pic>
        <p:nvPicPr>
          <p:cNvPr id="65" name="Image 2" descr="/tmp/claude-0/-home-user-riesgo/579fb8c8-70e5-51d5-80ec-6ed51cc2e8df/scratchpad/pptx-build/icons/refreshcw_1D63A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6744" y="1389888"/>
            <a:ext cx="237744" cy="237744"/>
          </a:xfrm>
          <a:prstGeom prst="rect">
            <a:avLst/>
          </a:prstGeom>
        </p:spPr>
      </p:pic>
      <p:sp>
        <p:nvSpPr>
          <p:cNvPr id="66" name="Text 61"/>
          <p:cNvSpPr txBox="1"/>
          <p:nvPr/>
        </p:nvSpPr>
        <p:spPr>
          <a:xfrm>
            <a:off x="6827368" y="1280160"/>
            <a:ext cx="19780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Negocio</a:t>
            </a:r>
            <a:endParaRPr lang="en-US" sz="1350" dirty="0"/>
          </a:p>
        </p:txBody>
      </p:sp>
      <p:sp>
        <p:nvSpPr>
          <p:cNvPr id="67" name="Shape 62"/>
          <p:cNvSpPr/>
          <p:nvPr/>
        </p:nvSpPr>
        <p:spPr>
          <a:xfrm>
            <a:off x="6333592" y="1828800"/>
            <a:ext cx="2435276" cy="12802"/>
          </a:xfrm>
          <a:prstGeom prst="rect">
            <a:avLst/>
          </a:prstGeom>
          <a:solidFill>
            <a:srgbClr val="EDF0F5"/>
          </a:solidFill>
          <a:ln/>
        </p:spPr>
      </p:sp>
      <p:sp>
        <p:nvSpPr>
          <p:cNvPr id="68" name="Text 63"/>
          <p:cNvSpPr txBox="1"/>
          <p:nvPr/>
        </p:nvSpPr>
        <p:spPr>
          <a:xfrm>
            <a:off x="6333592" y="1938528"/>
            <a:ext cx="24352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primera prueba de CN (10 días hábiles) – envío a SSF vence 12.09.2026</a:t>
            </a:r>
            <a:endParaRPr lang="en-US" sz="900" dirty="0"/>
          </a:p>
        </p:txBody>
      </p:sp>
      <p:sp>
        <p:nvSpPr>
          <p:cNvPr id="69" name="Shape 64"/>
          <p:cNvSpPr/>
          <p:nvPr/>
        </p:nvSpPr>
        <p:spPr>
          <a:xfrm>
            <a:off x="6333592" y="2322576"/>
            <a:ext cx="1283132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70" name="Shape 65"/>
          <p:cNvSpPr/>
          <p:nvPr/>
        </p:nvSpPr>
        <p:spPr>
          <a:xfrm>
            <a:off x="6333592" y="2322576"/>
            <a:ext cx="1026505" cy="45720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/>
        </p:spPr>
      </p:sp>
      <p:sp>
        <p:nvSpPr>
          <p:cNvPr id="71" name="Text 66"/>
          <p:cNvSpPr txBox="1"/>
          <p:nvPr/>
        </p:nvSpPr>
        <p:spPr>
          <a:xfrm>
            <a:off x="7671587" y="2281428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700" dirty="0"/>
          </a:p>
        </p:txBody>
      </p:sp>
      <p:sp>
        <p:nvSpPr>
          <p:cNvPr id="72" name="Shape 67"/>
          <p:cNvSpPr/>
          <p:nvPr/>
        </p:nvSpPr>
        <p:spPr>
          <a:xfrm>
            <a:off x="8037347" y="2267712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E4F5EA"/>
          </a:solidFill>
          <a:ln/>
        </p:spPr>
      </p:sp>
      <p:sp>
        <p:nvSpPr>
          <p:cNvPr id="73" name="Text 68"/>
          <p:cNvSpPr txBox="1"/>
          <p:nvPr/>
        </p:nvSpPr>
        <p:spPr>
          <a:xfrm>
            <a:off x="8037347" y="2267712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630" dirty="0"/>
          </a:p>
        </p:txBody>
      </p:sp>
      <p:sp>
        <p:nvSpPr>
          <p:cNvPr id="74" name="Text 69"/>
          <p:cNvSpPr txBox="1"/>
          <p:nvPr/>
        </p:nvSpPr>
        <p:spPr>
          <a:xfrm>
            <a:off x="6333592" y="2450592"/>
            <a:ext cx="24352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Gerenciales: seminario "análisis de la cartera" y Diagnóstico SGCN</a:t>
            </a:r>
            <a:endParaRPr lang="en-US" sz="900" dirty="0"/>
          </a:p>
        </p:txBody>
      </p:sp>
      <p:sp>
        <p:nvSpPr>
          <p:cNvPr id="75" name="Shape 70"/>
          <p:cNvSpPr/>
          <p:nvPr/>
        </p:nvSpPr>
        <p:spPr>
          <a:xfrm>
            <a:off x="6333592" y="2834640"/>
            <a:ext cx="1283132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76" name="Shape 71"/>
          <p:cNvSpPr/>
          <p:nvPr/>
        </p:nvSpPr>
        <p:spPr>
          <a:xfrm>
            <a:off x="6333592" y="2834640"/>
            <a:ext cx="1283132" cy="45720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/>
        </p:spPr>
      </p:sp>
      <p:sp>
        <p:nvSpPr>
          <p:cNvPr id="77" name="Text 72"/>
          <p:cNvSpPr txBox="1"/>
          <p:nvPr/>
        </p:nvSpPr>
        <p:spPr>
          <a:xfrm>
            <a:off x="7671587" y="2793492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00" dirty="0"/>
          </a:p>
        </p:txBody>
      </p:sp>
      <p:sp>
        <p:nvSpPr>
          <p:cNvPr id="78" name="Shape 73"/>
          <p:cNvSpPr/>
          <p:nvPr/>
        </p:nvSpPr>
        <p:spPr>
          <a:xfrm>
            <a:off x="8037347" y="2779776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E4F5EA"/>
          </a:solidFill>
          <a:ln/>
        </p:spPr>
      </p:sp>
      <p:sp>
        <p:nvSpPr>
          <p:cNvPr id="79" name="Text 74"/>
          <p:cNvSpPr txBox="1"/>
          <p:nvPr/>
        </p:nvSpPr>
        <p:spPr>
          <a:xfrm>
            <a:off x="8037347" y="2779776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630" dirty="0"/>
          </a:p>
        </p:txBody>
      </p:sp>
      <p:sp>
        <p:nvSpPr>
          <p:cNvPr id="80" name="Text 75"/>
          <p:cNvSpPr txBox="1"/>
          <p:nvPr/>
        </p:nvSpPr>
        <p:spPr>
          <a:xfrm>
            <a:off x="6333592" y="2962656"/>
            <a:ext cx="24352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Líderes de CN solicitado por Procesos</a:t>
            </a:r>
            <a:endParaRPr lang="en-US" sz="900" dirty="0"/>
          </a:p>
        </p:txBody>
      </p:sp>
      <p:sp>
        <p:nvSpPr>
          <p:cNvPr id="81" name="Shape 76"/>
          <p:cNvSpPr/>
          <p:nvPr/>
        </p:nvSpPr>
        <p:spPr>
          <a:xfrm>
            <a:off x="6333592" y="3346704"/>
            <a:ext cx="1283132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82" name="Shape 77"/>
          <p:cNvSpPr/>
          <p:nvPr/>
        </p:nvSpPr>
        <p:spPr>
          <a:xfrm>
            <a:off x="6333592" y="3346704"/>
            <a:ext cx="1283132" cy="45720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/>
        </p:spPr>
      </p:sp>
      <p:sp>
        <p:nvSpPr>
          <p:cNvPr id="83" name="Text 78"/>
          <p:cNvSpPr txBox="1"/>
          <p:nvPr/>
        </p:nvSpPr>
        <p:spPr>
          <a:xfrm>
            <a:off x="7671587" y="3305556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00" dirty="0"/>
          </a:p>
        </p:txBody>
      </p:sp>
      <p:sp>
        <p:nvSpPr>
          <p:cNvPr id="84" name="Shape 79"/>
          <p:cNvSpPr/>
          <p:nvPr/>
        </p:nvSpPr>
        <p:spPr>
          <a:xfrm>
            <a:off x="8037347" y="3291840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E4F5EA"/>
          </a:solidFill>
          <a:ln/>
        </p:spPr>
      </p:sp>
      <p:sp>
        <p:nvSpPr>
          <p:cNvPr id="85" name="Text 80"/>
          <p:cNvSpPr txBox="1"/>
          <p:nvPr/>
        </p:nvSpPr>
        <p:spPr>
          <a:xfrm>
            <a:off x="8037347" y="3291840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630" dirty="0"/>
          </a:p>
        </p:txBody>
      </p:sp>
      <p:sp>
        <p:nvSpPr>
          <p:cNvPr id="86" name="Shape 81"/>
          <p:cNvSpPr/>
          <p:nvPr/>
        </p:nvSpPr>
        <p:spPr>
          <a:xfrm>
            <a:off x="9098051" y="1170432"/>
            <a:ext cx="2727884" cy="5257800"/>
          </a:xfrm>
          <a:prstGeom prst="roundRect">
            <a:avLst>
              <a:gd name="adj" fmla="val 23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87" name="Shape 82"/>
          <p:cNvSpPr/>
          <p:nvPr/>
        </p:nvSpPr>
        <p:spPr>
          <a:xfrm>
            <a:off x="9098051" y="1170432"/>
            <a:ext cx="2727884" cy="41148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88" name="Shape 83"/>
          <p:cNvSpPr/>
          <p:nvPr/>
        </p:nvSpPr>
        <p:spPr>
          <a:xfrm>
            <a:off x="9244355" y="1316736"/>
            <a:ext cx="384048" cy="384048"/>
          </a:xfrm>
          <a:prstGeom prst="ellipse">
            <a:avLst/>
          </a:prstGeom>
          <a:solidFill>
            <a:srgbClr val="EAF0F8"/>
          </a:solidFill>
          <a:ln/>
        </p:spPr>
      </p:sp>
      <p:pic>
        <p:nvPicPr>
          <p:cNvPr id="89" name="Image 3" descr="/tmp/claude-0/-home-user-riesgo/579fb8c8-70e5-51d5-80ec-6ed51cc2e8df/scratchpad/pptx-build/icons/briefcase_1B4F9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507" y="1389888"/>
            <a:ext cx="237744" cy="237744"/>
          </a:xfrm>
          <a:prstGeom prst="rect">
            <a:avLst/>
          </a:prstGeom>
        </p:spPr>
      </p:pic>
      <p:sp>
        <p:nvSpPr>
          <p:cNvPr id="90" name="Text 84"/>
          <p:cNvSpPr txBox="1"/>
          <p:nvPr/>
        </p:nvSpPr>
        <p:spPr>
          <a:xfrm>
            <a:off x="9738131" y="1280160"/>
            <a:ext cx="19780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 Corporativo</a:t>
            </a:r>
            <a:endParaRPr lang="en-US" sz="1350" dirty="0"/>
          </a:p>
        </p:txBody>
      </p:sp>
      <p:sp>
        <p:nvSpPr>
          <p:cNvPr id="91" name="Shape 85"/>
          <p:cNvSpPr/>
          <p:nvPr/>
        </p:nvSpPr>
        <p:spPr>
          <a:xfrm>
            <a:off x="9244355" y="1828800"/>
            <a:ext cx="2435276" cy="12802"/>
          </a:xfrm>
          <a:prstGeom prst="rect">
            <a:avLst/>
          </a:prstGeom>
          <a:solidFill>
            <a:srgbClr val="EDF0F5"/>
          </a:solidFill>
          <a:ln/>
        </p:spPr>
      </p:sp>
      <p:sp>
        <p:nvSpPr>
          <p:cNvPr id="92" name="Text 86"/>
          <p:cNvSpPr txBox="1"/>
          <p:nvPr/>
        </p:nvSpPr>
        <p:spPr>
          <a:xfrm>
            <a:off x="9244355" y="1938528"/>
            <a:ext cx="2435276" cy="305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3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Creación de perfil Gerente General (web) y solicitud de arte a Mercadeo</a:t>
            </a:r>
            <a:endParaRPr lang="en-US" sz="830" dirty="0"/>
          </a:p>
        </p:txBody>
      </p:sp>
      <p:sp>
        <p:nvSpPr>
          <p:cNvPr id="93" name="Shape 87"/>
          <p:cNvSpPr/>
          <p:nvPr/>
        </p:nvSpPr>
        <p:spPr>
          <a:xfrm>
            <a:off x="9244355" y="2299106"/>
            <a:ext cx="1283132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94" name="Shape 88"/>
          <p:cNvSpPr/>
          <p:nvPr/>
        </p:nvSpPr>
        <p:spPr>
          <a:xfrm>
            <a:off x="9244355" y="2299106"/>
            <a:ext cx="1026505" cy="45720"/>
          </a:xfrm>
          <a:prstGeom prst="roundRect">
            <a:avLst>
              <a:gd name="adj" fmla="val 50000"/>
            </a:avLst>
          </a:prstGeom>
          <a:solidFill>
            <a:srgbClr val="A6650F"/>
          </a:solidFill>
          <a:ln/>
        </p:spPr>
      </p:sp>
      <p:sp>
        <p:nvSpPr>
          <p:cNvPr id="95" name="Text 89"/>
          <p:cNvSpPr txBox="1"/>
          <p:nvPr/>
        </p:nvSpPr>
        <p:spPr>
          <a:xfrm>
            <a:off x="10582351" y="2257958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700" dirty="0"/>
          </a:p>
        </p:txBody>
      </p:sp>
      <p:sp>
        <p:nvSpPr>
          <p:cNvPr id="96" name="Shape 90"/>
          <p:cNvSpPr/>
          <p:nvPr/>
        </p:nvSpPr>
        <p:spPr>
          <a:xfrm>
            <a:off x="10948111" y="2244242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FDF3E7"/>
          </a:solidFill>
          <a:ln/>
        </p:spPr>
      </p:sp>
      <p:sp>
        <p:nvSpPr>
          <p:cNvPr id="97" name="Text 91"/>
          <p:cNvSpPr txBox="1"/>
          <p:nvPr/>
        </p:nvSpPr>
        <p:spPr>
          <a:xfrm>
            <a:off x="10948111" y="2244242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PROCESO</a:t>
            </a:r>
            <a:endParaRPr lang="en-US" sz="630" dirty="0"/>
          </a:p>
        </p:txBody>
      </p:sp>
      <p:sp>
        <p:nvSpPr>
          <p:cNvPr id="98" name="Text 92"/>
          <p:cNvSpPr txBox="1"/>
          <p:nvPr/>
        </p:nvSpPr>
        <p:spPr>
          <a:xfrm>
            <a:off x="9244355" y="2427122"/>
            <a:ext cx="2435276" cy="305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3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 en página web de actualización de Gobierno Corporativo</a:t>
            </a:r>
            <a:endParaRPr lang="en-US" sz="830" dirty="0"/>
          </a:p>
        </p:txBody>
      </p:sp>
      <p:sp>
        <p:nvSpPr>
          <p:cNvPr id="99" name="Shape 93"/>
          <p:cNvSpPr/>
          <p:nvPr/>
        </p:nvSpPr>
        <p:spPr>
          <a:xfrm>
            <a:off x="9244355" y="2787701"/>
            <a:ext cx="1283132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100" name="Shape 94"/>
          <p:cNvSpPr/>
          <p:nvPr/>
        </p:nvSpPr>
        <p:spPr>
          <a:xfrm>
            <a:off x="9244355" y="2787701"/>
            <a:ext cx="1283132" cy="45720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/>
        </p:spPr>
      </p:sp>
      <p:sp>
        <p:nvSpPr>
          <p:cNvPr id="101" name="Text 95"/>
          <p:cNvSpPr txBox="1"/>
          <p:nvPr/>
        </p:nvSpPr>
        <p:spPr>
          <a:xfrm>
            <a:off x="10582351" y="2746553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00" dirty="0"/>
          </a:p>
        </p:txBody>
      </p:sp>
      <p:sp>
        <p:nvSpPr>
          <p:cNvPr id="102" name="Shape 96"/>
          <p:cNvSpPr/>
          <p:nvPr/>
        </p:nvSpPr>
        <p:spPr>
          <a:xfrm>
            <a:off x="10948111" y="2732837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E4F5EA"/>
          </a:solidFill>
          <a:ln/>
        </p:spPr>
      </p:sp>
      <p:sp>
        <p:nvSpPr>
          <p:cNvPr id="103" name="Text 97"/>
          <p:cNvSpPr txBox="1"/>
          <p:nvPr/>
        </p:nvSpPr>
        <p:spPr>
          <a:xfrm>
            <a:off x="10948111" y="2732837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630" dirty="0"/>
          </a:p>
        </p:txBody>
      </p:sp>
      <p:sp>
        <p:nvSpPr>
          <p:cNvPr id="104" name="Text 98"/>
          <p:cNvSpPr txBox="1"/>
          <p:nvPr/>
        </p:nvSpPr>
        <p:spPr>
          <a:xfrm>
            <a:off x="9244355" y="2915717"/>
            <a:ext cx="2435276" cy="444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3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acuerdo del CA a Mercadeo y Educación (traslado de créditos / récord crediticio)</a:t>
            </a:r>
            <a:endParaRPr lang="en-US" sz="830" dirty="0"/>
          </a:p>
        </p:txBody>
      </p:sp>
      <p:sp>
        <p:nvSpPr>
          <p:cNvPr id="105" name="Shape 99"/>
          <p:cNvSpPr/>
          <p:nvPr/>
        </p:nvSpPr>
        <p:spPr>
          <a:xfrm>
            <a:off x="9244355" y="3415436"/>
            <a:ext cx="1283132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106" name="Shape 100"/>
          <p:cNvSpPr/>
          <p:nvPr/>
        </p:nvSpPr>
        <p:spPr>
          <a:xfrm>
            <a:off x="9244355" y="3415436"/>
            <a:ext cx="1283132" cy="45720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/>
        </p:spPr>
      </p:sp>
      <p:sp>
        <p:nvSpPr>
          <p:cNvPr id="107" name="Text 101"/>
          <p:cNvSpPr txBox="1"/>
          <p:nvPr/>
        </p:nvSpPr>
        <p:spPr>
          <a:xfrm>
            <a:off x="10582351" y="3374288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00" dirty="0"/>
          </a:p>
        </p:txBody>
      </p:sp>
      <p:sp>
        <p:nvSpPr>
          <p:cNvPr id="108" name="Shape 102"/>
          <p:cNvSpPr/>
          <p:nvPr/>
        </p:nvSpPr>
        <p:spPr>
          <a:xfrm>
            <a:off x="10948111" y="3360572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E4F5EA"/>
          </a:solidFill>
          <a:ln/>
        </p:spPr>
      </p:sp>
      <p:sp>
        <p:nvSpPr>
          <p:cNvPr id="109" name="Text 103"/>
          <p:cNvSpPr txBox="1"/>
          <p:nvPr/>
        </p:nvSpPr>
        <p:spPr>
          <a:xfrm>
            <a:off x="10948111" y="3360572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630" dirty="0"/>
          </a:p>
        </p:txBody>
      </p:sp>
      <p:sp>
        <p:nvSpPr>
          <p:cNvPr id="110" name="Text 104"/>
          <p:cNvSpPr txBox="1"/>
          <p:nvPr/>
        </p:nvSpPr>
        <p:spPr>
          <a:xfrm>
            <a:off x="9244355" y="3543452"/>
            <a:ext cx="2435276" cy="166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3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RIA #1 Gobierno Corporativo</a:t>
            </a:r>
            <a:endParaRPr lang="en-US" sz="830" dirty="0"/>
          </a:p>
        </p:txBody>
      </p:sp>
      <p:sp>
        <p:nvSpPr>
          <p:cNvPr id="111" name="Shape 105"/>
          <p:cNvSpPr/>
          <p:nvPr/>
        </p:nvSpPr>
        <p:spPr>
          <a:xfrm>
            <a:off x="9244355" y="3764890"/>
            <a:ext cx="1283132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112" name="Shape 106"/>
          <p:cNvSpPr/>
          <p:nvPr/>
        </p:nvSpPr>
        <p:spPr>
          <a:xfrm>
            <a:off x="9244355" y="3764890"/>
            <a:ext cx="1283132" cy="45720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/>
        </p:spPr>
      </p:sp>
      <p:sp>
        <p:nvSpPr>
          <p:cNvPr id="113" name="Text 107"/>
          <p:cNvSpPr txBox="1"/>
          <p:nvPr/>
        </p:nvSpPr>
        <p:spPr>
          <a:xfrm>
            <a:off x="10582351" y="3723742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00" dirty="0"/>
          </a:p>
        </p:txBody>
      </p:sp>
      <p:sp>
        <p:nvSpPr>
          <p:cNvPr id="114" name="Shape 108"/>
          <p:cNvSpPr/>
          <p:nvPr/>
        </p:nvSpPr>
        <p:spPr>
          <a:xfrm>
            <a:off x="10948111" y="3710026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E4F5EA"/>
          </a:solidFill>
          <a:ln/>
        </p:spPr>
      </p:sp>
      <p:sp>
        <p:nvSpPr>
          <p:cNvPr id="115" name="Text 109"/>
          <p:cNvSpPr txBox="1"/>
          <p:nvPr/>
        </p:nvSpPr>
        <p:spPr>
          <a:xfrm>
            <a:off x="10948111" y="3710026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630" dirty="0"/>
          </a:p>
        </p:txBody>
      </p:sp>
      <p:sp>
        <p:nvSpPr>
          <p:cNvPr id="116" name="Text 110"/>
          <p:cNvSpPr txBox="1"/>
          <p:nvPr/>
        </p:nvSpPr>
        <p:spPr>
          <a:xfrm>
            <a:off x="9244355" y="3892906"/>
            <a:ext cx="2435276" cy="166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3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RIA #2 Gobierno Corporativo</a:t>
            </a:r>
            <a:endParaRPr lang="en-US" sz="830" dirty="0"/>
          </a:p>
        </p:txBody>
      </p:sp>
      <p:sp>
        <p:nvSpPr>
          <p:cNvPr id="117" name="Shape 111"/>
          <p:cNvSpPr/>
          <p:nvPr/>
        </p:nvSpPr>
        <p:spPr>
          <a:xfrm>
            <a:off x="9244355" y="4114343"/>
            <a:ext cx="1283132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118" name="Shape 112"/>
          <p:cNvSpPr/>
          <p:nvPr/>
        </p:nvSpPr>
        <p:spPr>
          <a:xfrm>
            <a:off x="9244355" y="4114343"/>
            <a:ext cx="1283132" cy="45720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/>
        </p:spPr>
      </p:sp>
      <p:sp>
        <p:nvSpPr>
          <p:cNvPr id="119" name="Text 113"/>
          <p:cNvSpPr txBox="1"/>
          <p:nvPr/>
        </p:nvSpPr>
        <p:spPr>
          <a:xfrm>
            <a:off x="10582351" y="4073195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00" dirty="0"/>
          </a:p>
        </p:txBody>
      </p:sp>
      <p:sp>
        <p:nvSpPr>
          <p:cNvPr id="120" name="Shape 114"/>
          <p:cNvSpPr/>
          <p:nvPr/>
        </p:nvSpPr>
        <p:spPr>
          <a:xfrm>
            <a:off x="10948111" y="4059479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E4F5EA"/>
          </a:solidFill>
          <a:ln/>
        </p:spPr>
      </p:sp>
      <p:sp>
        <p:nvSpPr>
          <p:cNvPr id="121" name="Text 115"/>
          <p:cNvSpPr txBox="1"/>
          <p:nvPr/>
        </p:nvSpPr>
        <p:spPr>
          <a:xfrm>
            <a:off x="10948111" y="4059479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630" dirty="0"/>
          </a:p>
        </p:txBody>
      </p:sp>
      <p:sp>
        <p:nvSpPr>
          <p:cNvPr id="122" name="Text 116"/>
          <p:cNvSpPr txBox="1"/>
          <p:nvPr/>
        </p:nvSpPr>
        <p:spPr>
          <a:xfrm>
            <a:off x="9244355" y="4242359"/>
            <a:ext cx="2435276" cy="166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3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RIA #3 Gobierno Corporativo</a:t>
            </a:r>
            <a:endParaRPr lang="en-US" sz="830" dirty="0"/>
          </a:p>
        </p:txBody>
      </p:sp>
      <p:sp>
        <p:nvSpPr>
          <p:cNvPr id="123" name="Shape 117"/>
          <p:cNvSpPr/>
          <p:nvPr/>
        </p:nvSpPr>
        <p:spPr>
          <a:xfrm>
            <a:off x="9244355" y="4463796"/>
            <a:ext cx="1283132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124" name="Shape 118"/>
          <p:cNvSpPr/>
          <p:nvPr/>
        </p:nvSpPr>
        <p:spPr>
          <a:xfrm>
            <a:off x="9244355" y="4463796"/>
            <a:ext cx="1283132" cy="45720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/>
        </p:spPr>
      </p:sp>
      <p:sp>
        <p:nvSpPr>
          <p:cNvPr id="125" name="Text 119"/>
          <p:cNvSpPr txBox="1"/>
          <p:nvPr/>
        </p:nvSpPr>
        <p:spPr>
          <a:xfrm>
            <a:off x="10582351" y="4422648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00" dirty="0"/>
          </a:p>
        </p:txBody>
      </p:sp>
      <p:sp>
        <p:nvSpPr>
          <p:cNvPr id="126" name="Shape 120"/>
          <p:cNvSpPr/>
          <p:nvPr/>
        </p:nvSpPr>
        <p:spPr>
          <a:xfrm>
            <a:off x="10948111" y="4408932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E4F5EA"/>
          </a:solidFill>
          <a:ln/>
        </p:spPr>
      </p:sp>
      <p:sp>
        <p:nvSpPr>
          <p:cNvPr id="127" name="Text 121"/>
          <p:cNvSpPr txBox="1"/>
          <p:nvPr/>
        </p:nvSpPr>
        <p:spPr>
          <a:xfrm>
            <a:off x="10948111" y="4408932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6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3B6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120512" cy="1005840"/>
          </a:xfrm>
          <a:prstGeom prst="rect">
            <a:avLst/>
          </a:prstGeom>
          <a:solidFill>
            <a:srgbClr val="0A1F3B"/>
          </a:solidFill>
          <a:ln/>
        </p:spPr>
      </p:sp>
      <p:sp>
        <p:nvSpPr>
          <p:cNvPr id="4" name="Shape 2"/>
          <p:cNvSpPr/>
          <p:nvPr/>
        </p:nvSpPr>
        <p:spPr>
          <a:xfrm>
            <a:off x="9997190" y="0"/>
            <a:ext cx="2194505" cy="1005840"/>
          </a:xfrm>
          <a:prstGeom prst="rect">
            <a:avLst/>
          </a:prstGeom>
          <a:solidFill>
            <a:srgbClr val="106B78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973836"/>
            <a:ext cx="12191695" cy="32004"/>
          </a:xfrm>
          <a:prstGeom prst="rect">
            <a:avLst/>
          </a:prstGeom>
          <a:solidFill>
            <a:srgbClr val="17A9B0"/>
          </a:solidFill>
          <a:ln/>
        </p:spPr>
      </p:sp>
      <p:sp>
        <p:nvSpPr>
          <p:cNvPr id="6" name="Shape 4"/>
          <p:cNvSpPr/>
          <p:nvPr/>
        </p:nvSpPr>
        <p:spPr>
          <a:xfrm>
            <a:off x="10774375" y="-960120"/>
            <a:ext cx="2377440" cy="2377440"/>
          </a:xfrm>
          <a:prstGeom prst="ellipse">
            <a:avLst/>
          </a:prstGeom>
          <a:ln w="12700">
            <a:solidFill>
              <a:srgbClr val="97D8DB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-685800"/>
            <a:ext cx="1828800" cy="1828800"/>
          </a:xfrm>
          <a:prstGeom prst="ellipse">
            <a:avLst/>
          </a:prstGeom>
          <a:ln w="12700">
            <a:solidFill>
              <a:srgbClr val="97D8DB">
                <a:alpha val="18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" y="12801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7D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COMÉDICA · CRONOGRAMA DE ACTIVIDADES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32918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Informes Semanal – Mensual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8899855" y="21945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C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8899855" y="4023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5F9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COMÉDICA  ·  Cronograma de Actividades — Sara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1170432"/>
            <a:ext cx="3698138" cy="5257800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1170432"/>
            <a:ext cx="3698138" cy="41148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064" y="1316736"/>
            <a:ext cx="384048" cy="384048"/>
          </a:xfrm>
          <a:prstGeom prst="ellipse">
            <a:avLst/>
          </a:prstGeom>
          <a:solidFill>
            <a:srgbClr val="EAF0F8"/>
          </a:solidFill>
          <a:ln/>
        </p:spPr>
      </p:sp>
      <p:pic>
        <p:nvPicPr>
          <p:cNvPr id="17" name="Image 0" descr="/tmp/claude-0/-home-user-riesgo/579fb8c8-70e5-51d5-80ec-6ed51cc2e8df/scratchpad/pptx-build/icons/users_1B4F9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389888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005840" y="1280160"/>
            <a:ext cx="29483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Comité de Riesgos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512064" y="1828800"/>
            <a:ext cx="3405530" cy="12802"/>
          </a:xfrm>
          <a:prstGeom prst="rect">
            <a:avLst/>
          </a:prstGeom>
          <a:solidFill>
            <a:srgbClr val="EDF0F5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2064" y="1938528"/>
            <a:ext cx="245455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matriz de acuerdos Comité de Riesgos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3076346" y="1938528"/>
            <a:ext cx="841248" cy="164592"/>
          </a:xfrm>
          <a:prstGeom prst="roundRect">
            <a:avLst>
              <a:gd name="adj" fmla="val 50000"/>
            </a:avLst>
          </a:prstGeom>
          <a:solidFill>
            <a:srgbClr val="FDF3E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076346" y="193852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30" kern="0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PROCESO</a:t>
            </a:r>
            <a:endParaRPr lang="en-US" sz="700" dirty="0"/>
          </a:p>
        </p:txBody>
      </p:sp>
      <p:sp>
        <p:nvSpPr>
          <p:cNvPr id="23" name="Text 20"/>
          <p:cNvSpPr txBox="1"/>
          <p:nvPr/>
        </p:nvSpPr>
        <p:spPr>
          <a:xfrm>
            <a:off x="512064" y="2378456"/>
            <a:ext cx="245455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Acta mensual Comité de Riesgos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076346" y="2378456"/>
            <a:ext cx="841248" cy="164592"/>
          </a:xfrm>
          <a:prstGeom prst="roundRect">
            <a:avLst>
              <a:gd name="adj" fmla="val 50000"/>
            </a:avLst>
          </a:prstGeom>
          <a:solidFill>
            <a:srgbClr val="FDF3E7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3076346" y="237845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30" kern="0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PROCESO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512064" y="2661920"/>
            <a:ext cx="2454554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mensual de sesión de Comité de Riesgos al Consejo de Administración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076346" y="2661920"/>
            <a:ext cx="841248" cy="164592"/>
          </a:xfrm>
          <a:prstGeom prst="roundRect">
            <a:avLst>
              <a:gd name="adj" fmla="val 50000"/>
            </a:avLst>
          </a:prstGeom>
          <a:solidFill>
            <a:srgbClr val="FDF3E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3076346" y="2661920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30" kern="0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PROCESO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512064" y="3266948"/>
            <a:ext cx="245455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de informes para Comité de Riesgos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3076346" y="326694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7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246778" y="1170432"/>
            <a:ext cx="3698138" cy="5257800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4246778" y="1170432"/>
            <a:ext cx="3698138" cy="41148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33" name="Shape 30"/>
          <p:cNvSpPr/>
          <p:nvPr/>
        </p:nvSpPr>
        <p:spPr>
          <a:xfrm>
            <a:off x="4393082" y="1316736"/>
            <a:ext cx="384048" cy="384048"/>
          </a:xfrm>
          <a:prstGeom prst="ellipse">
            <a:avLst/>
          </a:prstGeom>
          <a:solidFill>
            <a:srgbClr val="E4F5EA"/>
          </a:solidFill>
          <a:ln/>
        </p:spPr>
      </p:sp>
      <p:pic>
        <p:nvPicPr>
          <p:cNvPr id="34" name="Image 1" descr="/tmp/claude-0/-home-user-riesgo/579fb8c8-70e5-51d5-80ec-6ed51cc2e8df/scratchpad/pptx-build/icons/home_1E844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6234" y="1389888"/>
            <a:ext cx="237744" cy="237744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4886858" y="1280160"/>
            <a:ext cx="29483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Avalúos</a:t>
            </a:r>
            <a:endParaRPr lang="en-US" sz="1350" dirty="0"/>
          </a:p>
        </p:txBody>
      </p:sp>
      <p:sp>
        <p:nvSpPr>
          <p:cNvPr id="36" name="Shape 32"/>
          <p:cNvSpPr/>
          <p:nvPr/>
        </p:nvSpPr>
        <p:spPr>
          <a:xfrm>
            <a:off x="4393082" y="1828800"/>
            <a:ext cx="3405530" cy="12802"/>
          </a:xfrm>
          <a:prstGeom prst="rect">
            <a:avLst/>
          </a:prstGeom>
          <a:solidFill>
            <a:srgbClr val="EDF0F5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4393082" y="1938528"/>
            <a:ext cx="245455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Creación nueva base de avalúos vencidos y por vencer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6957365" y="1938528"/>
            <a:ext cx="841248" cy="164592"/>
          </a:xfrm>
          <a:prstGeom prst="roundRect">
            <a:avLst>
              <a:gd name="adj" fmla="val 50000"/>
            </a:avLst>
          </a:prstGeom>
          <a:solidFill>
            <a:srgbClr val="FDF3E7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6957365" y="193852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30" kern="0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PROCESO</a:t>
            </a:r>
            <a:endParaRPr lang="en-US" sz="700" dirty="0"/>
          </a:p>
        </p:txBody>
      </p:sp>
      <p:sp>
        <p:nvSpPr>
          <p:cNvPr id="40" name="Text 36"/>
          <p:cNvSpPr txBox="1"/>
          <p:nvPr/>
        </p:nvSpPr>
        <p:spPr>
          <a:xfrm>
            <a:off x="4393082" y="2378456"/>
            <a:ext cx="2454554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Solicitar devolución de avalúos asignados, depurar y reasignar (cambios Norma NCB-022)</a:t>
            </a:r>
            <a:endParaRPr lang="en-US" sz="1000" dirty="0"/>
          </a:p>
        </p:txBody>
      </p:sp>
      <p:sp>
        <p:nvSpPr>
          <p:cNvPr id="41" name="Shape 37"/>
          <p:cNvSpPr/>
          <p:nvPr/>
        </p:nvSpPr>
        <p:spPr>
          <a:xfrm>
            <a:off x="6957365" y="2378456"/>
            <a:ext cx="841248" cy="164592"/>
          </a:xfrm>
          <a:prstGeom prst="roundRect">
            <a:avLst>
              <a:gd name="adj" fmla="val 50000"/>
            </a:avLst>
          </a:prstGeom>
          <a:solidFill>
            <a:srgbClr val="FDF3E7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6957365" y="2378456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30" kern="0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PROCESO</a:t>
            </a:r>
            <a:endParaRPr lang="en-US" sz="700" dirty="0"/>
          </a:p>
        </p:txBody>
      </p:sp>
      <p:sp>
        <p:nvSpPr>
          <p:cNvPr id="43" name="Text 39"/>
          <p:cNvSpPr txBox="1"/>
          <p:nvPr/>
        </p:nvSpPr>
        <p:spPr>
          <a:xfrm>
            <a:off x="4393082" y="2983484"/>
            <a:ext cx="245455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Gestiones de avalúos</a:t>
            </a:r>
            <a:endParaRPr lang="en-US" sz="1000" dirty="0"/>
          </a:p>
        </p:txBody>
      </p:sp>
      <p:sp>
        <p:nvSpPr>
          <p:cNvPr id="44" name="Shape 40"/>
          <p:cNvSpPr/>
          <p:nvPr/>
        </p:nvSpPr>
        <p:spPr>
          <a:xfrm>
            <a:off x="6957365" y="2983484"/>
            <a:ext cx="841248" cy="164592"/>
          </a:xfrm>
          <a:prstGeom prst="roundRect">
            <a:avLst>
              <a:gd name="adj" fmla="val 50000"/>
            </a:avLst>
          </a:prstGeom>
          <a:solidFill>
            <a:srgbClr val="FDF3E7"/>
          </a:solidFill>
          <a:ln/>
        </p:spPr>
      </p:sp>
      <p:sp>
        <p:nvSpPr>
          <p:cNvPr id="45" name="Text 41"/>
          <p:cNvSpPr txBox="1"/>
          <p:nvPr/>
        </p:nvSpPr>
        <p:spPr>
          <a:xfrm>
            <a:off x="6957365" y="29834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30" kern="0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PROCESO</a:t>
            </a:r>
            <a:endParaRPr lang="en-US" sz="700" dirty="0"/>
          </a:p>
        </p:txBody>
      </p:sp>
      <p:sp>
        <p:nvSpPr>
          <p:cNvPr id="46" name="Text 42"/>
          <p:cNvSpPr txBox="1"/>
          <p:nvPr/>
        </p:nvSpPr>
        <p:spPr>
          <a:xfrm>
            <a:off x="4393082" y="3266948"/>
            <a:ext cx="245455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Asignación de avalúos a peritos valuadores</a:t>
            </a:r>
            <a:endParaRPr lang="en-US" sz="1000" dirty="0"/>
          </a:p>
        </p:txBody>
      </p:sp>
      <p:sp>
        <p:nvSpPr>
          <p:cNvPr id="47" name="Shape 43"/>
          <p:cNvSpPr/>
          <p:nvPr/>
        </p:nvSpPr>
        <p:spPr>
          <a:xfrm>
            <a:off x="6957365" y="3266948"/>
            <a:ext cx="841248" cy="164592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48" name="Text 44"/>
          <p:cNvSpPr txBox="1"/>
          <p:nvPr/>
        </p:nvSpPr>
        <p:spPr>
          <a:xfrm>
            <a:off x="6957365" y="326694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spc="30" kern="0" dirty="0">
                <a:solidFill>
                  <a:srgbClr val="4658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700" dirty="0"/>
          </a:p>
        </p:txBody>
      </p:sp>
      <p:sp>
        <p:nvSpPr>
          <p:cNvPr id="49" name="Shape 45"/>
          <p:cNvSpPr/>
          <p:nvPr/>
        </p:nvSpPr>
        <p:spPr>
          <a:xfrm>
            <a:off x="8127797" y="1170432"/>
            <a:ext cx="3698138" cy="5257800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50" name="Shape 46"/>
          <p:cNvSpPr/>
          <p:nvPr/>
        </p:nvSpPr>
        <p:spPr>
          <a:xfrm>
            <a:off x="8127797" y="1170432"/>
            <a:ext cx="3698138" cy="4114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51" name="Shape 47"/>
          <p:cNvSpPr/>
          <p:nvPr/>
        </p:nvSpPr>
        <p:spPr>
          <a:xfrm>
            <a:off x="8274101" y="1316736"/>
            <a:ext cx="384048" cy="384048"/>
          </a:xfrm>
          <a:prstGeom prst="ellipse">
            <a:avLst/>
          </a:prstGeom>
          <a:solidFill>
            <a:srgbClr val="E4F5F3"/>
          </a:solidFill>
          <a:ln/>
        </p:spPr>
      </p:sp>
      <p:pic>
        <p:nvPicPr>
          <p:cNvPr id="52" name="Image 2" descr="/tmp/claude-0/-home-user-riesgo/579fb8c8-70e5-51d5-80ec-6ed51cc2e8df/scratchpad/pptx-build/icons/checkcircle_0F766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7253" y="1389888"/>
            <a:ext cx="237744" cy="237744"/>
          </a:xfrm>
          <a:prstGeom prst="rect">
            <a:avLst/>
          </a:prstGeom>
        </p:spPr>
      </p:pic>
      <p:sp>
        <p:nvSpPr>
          <p:cNvPr id="53" name="Text 48"/>
          <p:cNvSpPr txBox="1"/>
          <p:nvPr/>
        </p:nvSpPr>
        <p:spPr>
          <a:xfrm>
            <a:off x="8767877" y="1280160"/>
            <a:ext cx="29483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Regulatoria</a:t>
            </a:r>
            <a:endParaRPr lang="en-US" sz="1350" dirty="0"/>
          </a:p>
        </p:txBody>
      </p:sp>
      <p:sp>
        <p:nvSpPr>
          <p:cNvPr id="54" name="Shape 49"/>
          <p:cNvSpPr/>
          <p:nvPr/>
        </p:nvSpPr>
        <p:spPr>
          <a:xfrm>
            <a:off x="8274101" y="1828800"/>
            <a:ext cx="3405530" cy="12802"/>
          </a:xfrm>
          <a:prstGeom prst="rect">
            <a:avLst/>
          </a:prstGeom>
          <a:solidFill>
            <a:srgbClr val="EDF0F5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8274101" y="1938528"/>
            <a:ext cx="245455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a requerimientos SSF – BCR</a:t>
            </a:r>
            <a:endParaRPr lang="en-US" sz="1000" dirty="0"/>
          </a:p>
        </p:txBody>
      </p:sp>
      <p:sp>
        <p:nvSpPr>
          <p:cNvPr id="56" name="Text 51"/>
          <p:cNvSpPr txBox="1"/>
          <p:nvPr/>
        </p:nvSpPr>
        <p:spPr>
          <a:xfrm>
            <a:off x="10838383" y="193852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7C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33B6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120512" cy="1005840"/>
          </a:xfrm>
          <a:prstGeom prst="rect">
            <a:avLst/>
          </a:prstGeom>
          <a:solidFill>
            <a:srgbClr val="0A1F3B"/>
          </a:solidFill>
          <a:ln/>
        </p:spPr>
      </p:sp>
      <p:sp>
        <p:nvSpPr>
          <p:cNvPr id="4" name="Shape 2"/>
          <p:cNvSpPr/>
          <p:nvPr/>
        </p:nvSpPr>
        <p:spPr>
          <a:xfrm>
            <a:off x="9997190" y="0"/>
            <a:ext cx="2194505" cy="1005840"/>
          </a:xfrm>
          <a:prstGeom prst="rect">
            <a:avLst/>
          </a:prstGeom>
          <a:solidFill>
            <a:srgbClr val="106B78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973836"/>
            <a:ext cx="12191695" cy="32004"/>
          </a:xfrm>
          <a:prstGeom prst="rect">
            <a:avLst/>
          </a:prstGeom>
          <a:solidFill>
            <a:srgbClr val="17A9B0"/>
          </a:solidFill>
          <a:ln/>
        </p:spPr>
      </p:sp>
      <p:sp>
        <p:nvSpPr>
          <p:cNvPr id="6" name="Shape 4"/>
          <p:cNvSpPr/>
          <p:nvPr/>
        </p:nvSpPr>
        <p:spPr>
          <a:xfrm>
            <a:off x="10774375" y="-960120"/>
            <a:ext cx="2377440" cy="2377440"/>
          </a:xfrm>
          <a:prstGeom prst="ellipse">
            <a:avLst/>
          </a:prstGeom>
          <a:ln w="12700">
            <a:solidFill>
              <a:srgbClr val="97D8DB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48695" y="-685800"/>
            <a:ext cx="1828800" cy="1828800"/>
          </a:xfrm>
          <a:prstGeom prst="ellipse">
            <a:avLst/>
          </a:prstGeom>
          <a:ln w="12700">
            <a:solidFill>
              <a:srgbClr val="97D8DB">
                <a:alpha val="18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" y="128016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7D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COMÉDICA · CRONOGRAMA DE ACTIVIDADES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329184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Informes Semanal – Mensual</a:t>
            </a:r>
            <a:endParaRPr lang="en-US" sz="2500" dirty="0"/>
          </a:p>
        </p:txBody>
      </p:sp>
      <p:sp>
        <p:nvSpPr>
          <p:cNvPr id="10" name="Text 8"/>
          <p:cNvSpPr txBox="1"/>
          <p:nvPr/>
        </p:nvSpPr>
        <p:spPr>
          <a:xfrm>
            <a:off x="8899855" y="21945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8CB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8899855" y="40233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Melvin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5F9"/>
          </a:solidFill>
          <a:ln w="9525">
            <a:solidFill>
              <a:srgbClr val="DDE3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COMÉDICA  ·  Cronograma de Actividades — Melvin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1170432"/>
            <a:ext cx="2145731" cy="5257800"/>
          </a:xfrm>
          <a:prstGeom prst="roundRect">
            <a:avLst>
              <a:gd name="adj" fmla="val 29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1170432"/>
            <a:ext cx="2145731" cy="41148"/>
          </a:xfrm>
          <a:prstGeom prst="rect">
            <a:avLst/>
          </a:prstGeom>
          <a:solidFill>
            <a:srgbClr val="1B4F91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064" y="1316736"/>
            <a:ext cx="384048" cy="384048"/>
          </a:xfrm>
          <a:prstGeom prst="ellipse">
            <a:avLst/>
          </a:prstGeom>
          <a:solidFill>
            <a:srgbClr val="EAF0F8"/>
          </a:solidFill>
          <a:ln/>
        </p:spPr>
      </p:sp>
      <p:pic>
        <p:nvPicPr>
          <p:cNvPr id="17" name="Image 0" descr="/tmp/claude-0/-home-user-riesgo/579fb8c8-70e5-51d5-80ec-6ed51cc2e8df/scratchpad/pptx-build/icons/dollarsign_1B4F9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389888"/>
            <a:ext cx="237744" cy="23774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005840" y="1280160"/>
            <a:ext cx="13959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Crediticio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512064" y="1828800"/>
            <a:ext cx="1853123" cy="12802"/>
          </a:xfrm>
          <a:prstGeom prst="rect">
            <a:avLst/>
          </a:prstGeom>
          <a:solidFill>
            <a:srgbClr val="EDF0F5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2064" y="1938528"/>
            <a:ext cx="1853123" cy="697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para el Comité de Riesgos sobre modelos de medición del riesgo crediticio: pérdidas esperadas, matrices de transición, modelo de cosechas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512064" y="2691384"/>
            <a:ext cx="700979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22" name="Shape 19"/>
          <p:cNvSpPr/>
          <p:nvPr/>
        </p:nvSpPr>
        <p:spPr>
          <a:xfrm>
            <a:off x="512064" y="2691384"/>
            <a:ext cx="560783" cy="45720"/>
          </a:xfrm>
          <a:prstGeom prst="roundRect">
            <a:avLst>
              <a:gd name="adj" fmla="val 50000"/>
            </a:avLst>
          </a:prstGeom>
          <a:solidFill>
            <a:srgbClr val="A6650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267907" y="2650236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700" dirty="0"/>
          </a:p>
        </p:txBody>
      </p:sp>
      <p:sp>
        <p:nvSpPr>
          <p:cNvPr id="24" name="Shape 21"/>
          <p:cNvSpPr/>
          <p:nvPr/>
        </p:nvSpPr>
        <p:spPr>
          <a:xfrm>
            <a:off x="1633667" y="2636520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FDF3E7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1633667" y="2636520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</a:t>
            </a:r>
            <a:endParaRPr lang="en-US" sz="630" dirty="0"/>
          </a:p>
        </p:txBody>
      </p:sp>
      <p:sp>
        <p:nvSpPr>
          <p:cNvPr id="26" name="Shape 23"/>
          <p:cNvSpPr/>
          <p:nvPr/>
        </p:nvSpPr>
        <p:spPr>
          <a:xfrm>
            <a:off x="2694371" y="1170432"/>
            <a:ext cx="2145731" cy="5257800"/>
          </a:xfrm>
          <a:prstGeom prst="roundRect">
            <a:avLst>
              <a:gd name="adj" fmla="val 29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2694371" y="1170432"/>
            <a:ext cx="2145731" cy="41148"/>
          </a:xfrm>
          <a:prstGeom prst="rect">
            <a:avLst/>
          </a:prstGeom>
          <a:solidFill>
            <a:srgbClr val="1D63A1"/>
          </a:solidFill>
          <a:ln/>
        </p:spPr>
      </p:sp>
      <p:sp>
        <p:nvSpPr>
          <p:cNvPr id="28" name="Shape 25"/>
          <p:cNvSpPr/>
          <p:nvPr/>
        </p:nvSpPr>
        <p:spPr>
          <a:xfrm>
            <a:off x="2840675" y="1316736"/>
            <a:ext cx="384048" cy="384048"/>
          </a:xfrm>
          <a:prstGeom prst="ellipse">
            <a:avLst/>
          </a:prstGeom>
          <a:solidFill>
            <a:srgbClr val="E8F1FA"/>
          </a:solidFill>
          <a:ln/>
        </p:spPr>
      </p:sp>
      <p:pic>
        <p:nvPicPr>
          <p:cNvPr id="29" name="Image 1" descr="/tmp/claude-0/-home-user-riesgo/579fb8c8-70e5-51d5-80ec-6ed51cc2e8df/scratchpad/pptx-build/icons/trendingup_1D63A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3827" y="1389888"/>
            <a:ext cx="237744" cy="237744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3334451" y="1280160"/>
            <a:ext cx="13959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 y Mercado</a:t>
            </a:r>
            <a:endParaRPr lang="en-US" sz="1350" dirty="0"/>
          </a:p>
        </p:txBody>
      </p:sp>
      <p:sp>
        <p:nvSpPr>
          <p:cNvPr id="31" name="Shape 27"/>
          <p:cNvSpPr/>
          <p:nvPr/>
        </p:nvSpPr>
        <p:spPr>
          <a:xfrm>
            <a:off x="2840675" y="1828800"/>
            <a:ext cx="1853123" cy="12802"/>
          </a:xfrm>
          <a:prstGeom prst="rect">
            <a:avLst/>
          </a:prstGeom>
          <a:solidFill>
            <a:srgbClr val="EDF0F5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2840675" y="1938528"/>
            <a:ext cx="1853123" cy="5370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sobre modelos de medición del riesgo de mercado y liquidez: volatilidad de captaciones y tasas de interés</a:t>
            </a:r>
            <a:endParaRPr lang="en-US" sz="760" dirty="0"/>
          </a:p>
        </p:txBody>
      </p:sp>
      <p:sp>
        <p:nvSpPr>
          <p:cNvPr id="33" name="Shape 29"/>
          <p:cNvSpPr/>
          <p:nvPr/>
        </p:nvSpPr>
        <p:spPr>
          <a:xfrm>
            <a:off x="2840675" y="2530450"/>
            <a:ext cx="700979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34" name="Shape 30"/>
          <p:cNvSpPr/>
          <p:nvPr/>
        </p:nvSpPr>
        <p:spPr>
          <a:xfrm>
            <a:off x="2840675" y="2530450"/>
            <a:ext cx="18288" cy="45720"/>
          </a:xfrm>
          <a:prstGeom prst="roundRect">
            <a:avLst>
              <a:gd name="adj" fmla="val 125000"/>
            </a:avLst>
          </a:prstGeom>
          <a:solidFill>
            <a:srgbClr val="A6650F"/>
          </a:solidFill>
          <a:ln/>
        </p:spPr>
      </p:sp>
      <p:sp>
        <p:nvSpPr>
          <p:cNvPr id="35" name="Text 31"/>
          <p:cNvSpPr txBox="1"/>
          <p:nvPr/>
        </p:nvSpPr>
        <p:spPr>
          <a:xfrm>
            <a:off x="3596518" y="2489302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700" dirty="0"/>
          </a:p>
        </p:txBody>
      </p:sp>
      <p:sp>
        <p:nvSpPr>
          <p:cNvPr id="36" name="Shape 32"/>
          <p:cNvSpPr/>
          <p:nvPr/>
        </p:nvSpPr>
        <p:spPr>
          <a:xfrm>
            <a:off x="3962278" y="2475586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FDF3E7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3962278" y="2475586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</a:t>
            </a:r>
            <a:endParaRPr lang="en-US" sz="630" dirty="0"/>
          </a:p>
        </p:txBody>
      </p:sp>
      <p:sp>
        <p:nvSpPr>
          <p:cNvPr id="38" name="Text 34"/>
          <p:cNvSpPr txBox="1"/>
          <p:nvPr/>
        </p:nvSpPr>
        <p:spPr>
          <a:xfrm>
            <a:off x="2840675" y="2658466"/>
            <a:ext cx="1853123" cy="282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a la SSF del Anexo 03 de la normativa NRP-05</a:t>
            </a:r>
            <a:endParaRPr lang="en-US" sz="760" dirty="0"/>
          </a:p>
        </p:txBody>
      </p:sp>
      <p:sp>
        <p:nvSpPr>
          <p:cNvPr id="39" name="Shape 35"/>
          <p:cNvSpPr/>
          <p:nvPr/>
        </p:nvSpPr>
        <p:spPr>
          <a:xfrm>
            <a:off x="2840675" y="2995574"/>
            <a:ext cx="700979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40" name="Shape 36"/>
          <p:cNvSpPr/>
          <p:nvPr/>
        </p:nvSpPr>
        <p:spPr>
          <a:xfrm>
            <a:off x="2840675" y="2995574"/>
            <a:ext cx="18288" cy="45720"/>
          </a:xfrm>
          <a:prstGeom prst="roundRect">
            <a:avLst>
              <a:gd name="adj" fmla="val 125000"/>
            </a:avLst>
          </a:prstGeom>
          <a:solidFill>
            <a:srgbClr val="A6650F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3596518" y="2954426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700" dirty="0"/>
          </a:p>
        </p:txBody>
      </p:sp>
      <p:sp>
        <p:nvSpPr>
          <p:cNvPr id="42" name="Shape 38"/>
          <p:cNvSpPr/>
          <p:nvPr/>
        </p:nvSpPr>
        <p:spPr>
          <a:xfrm>
            <a:off x="3962278" y="2940710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FDF3E7"/>
          </a:solidFill>
          <a:ln/>
        </p:spPr>
      </p:sp>
      <p:sp>
        <p:nvSpPr>
          <p:cNvPr id="43" name="Text 39"/>
          <p:cNvSpPr txBox="1"/>
          <p:nvPr/>
        </p:nvSpPr>
        <p:spPr>
          <a:xfrm>
            <a:off x="3962278" y="2940710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</a:t>
            </a:r>
            <a:endParaRPr lang="en-US" sz="630" dirty="0"/>
          </a:p>
        </p:txBody>
      </p:sp>
      <p:sp>
        <p:nvSpPr>
          <p:cNvPr id="44" name="Text 40"/>
          <p:cNvSpPr txBox="1"/>
          <p:nvPr/>
        </p:nvSpPr>
        <p:spPr>
          <a:xfrm>
            <a:off x="2840675" y="3123590"/>
            <a:ext cx="1853123" cy="282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sobre escenarios regulatorios del riesgo de liquidez</a:t>
            </a:r>
            <a:endParaRPr lang="en-US" sz="760" dirty="0"/>
          </a:p>
        </p:txBody>
      </p:sp>
      <p:sp>
        <p:nvSpPr>
          <p:cNvPr id="45" name="Shape 41"/>
          <p:cNvSpPr/>
          <p:nvPr/>
        </p:nvSpPr>
        <p:spPr>
          <a:xfrm>
            <a:off x="2840675" y="3460699"/>
            <a:ext cx="700979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46" name="Shape 42"/>
          <p:cNvSpPr/>
          <p:nvPr/>
        </p:nvSpPr>
        <p:spPr>
          <a:xfrm>
            <a:off x="2840675" y="3460699"/>
            <a:ext cx="18288" cy="45720"/>
          </a:xfrm>
          <a:prstGeom prst="roundRect">
            <a:avLst>
              <a:gd name="adj" fmla="val 125000"/>
            </a:avLst>
          </a:prstGeom>
          <a:solidFill>
            <a:srgbClr val="A6650F"/>
          </a:solidFill>
          <a:ln/>
        </p:spPr>
      </p:sp>
      <p:sp>
        <p:nvSpPr>
          <p:cNvPr id="47" name="Text 43"/>
          <p:cNvSpPr txBox="1"/>
          <p:nvPr/>
        </p:nvSpPr>
        <p:spPr>
          <a:xfrm>
            <a:off x="3596518" y="3419551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700" dirty="0"/>
          </a:p>
        </p:txBody>
      </p:sp>
      <p:sp>
        <p:nvSpPr>
          <p:cNvPr id="48" name="Shape 44"/>
          <p:cNvSpPr/>
          <p:nvPr/>
        </p:nvSpPr>
        <p:spPr>
          <a:xfrm>
            <a:off x="3962278" y="3405835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FDF3E7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3962278" y="3405835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</a:t>
            </a:r>
            <a:endParaRPr lang="en-US" sz="630" dirty="0"/>
          </a:p>
        </p:txBody>
      </p:sp>
      <p:sp>
        <p:nvSpPr>
          <p:cNvPr id="50" name="Shape 46"/>
          <p:cNvSpPr/>
          <p:nvPr/>
        </p:nvSpPr>
        <p:spPr>
          <a:xfrm>
            <a:off x="5022982" y="1170432"/>
            <a:ext cx="2145731" cy="5257800"/>
          </a:xfrm>
          <a:prstGeom prst="roundRect">
            <a:avLst>
              <a:gd name="adj" fmla="val 29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51" name="Shape 47"/>
          <p:cNvSpPr/>
          <p:nvPr/>
        </p:nvSpPr>
        <p:spPr>
          <a:xfrm>
            <a:off x="5022982" y="1170432"/>
            <a:ext cx="2145731" cy="41148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52" name="Shape 48"/>
          <p:cNvSpPr/>
          <p:nvPr/>
        </p:nvSpPr>
        <p:spPr>
          <a:xfrm>
            <a:off x="5169286" y="1316736"/>
            <a:ext cx="384048" cy="384048"/>
          </a:xfrm>
          <a:prstGeom prst="ellipse">
            <a:avLst/>
          </a:prstGeom>
          <a:solidFill>
            <a:srgbClr val="E4F5EA"/>
          </a:solidFill>
          <a:ln/>
        </p:spPr>
      </p:sp>
      <p:pic>
        <p:nvPicPr>
          <p:cNvPr id="53" name="Image 2" descr="/tmp/claude-0/-home-user-riesgo/579fb8c8-70e5-51d5-80ec-6ed51cc2e8df/scratchpad/pptx-build/icons/checkcircle_1E844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2438" y="1389888"/>
            <a:ext cx="237744" cy="237744"/>
          </a:xfrm>
          <a:prstGeom prst="rect">
            <a:avLst/>
          </a:prstGeom>
        </p:spPr>
      </p:pic>
      <p:sp>
        <p:nvSpPr>
          <p:cNvPr id="54" name="Text 49"/>
          <p:cNvSpPr txBox="1"/>
          <p:nvPr/>
        </p:nvSpPr>
        <p:spPr>
          <a:xfrm>
            <a:off x="5663062" y="1280160"/>
            <a:ext cx="13959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Activos de Riesgo</a:t>
            </a:r>
            <a:endParaRPr lang="en-US" sz="1350" dirty="0"/>
          </a:p>
        </p:txBody>
      </p:sp>
      <p:sp>
        <p:nvSpPr>
          <p:cNvPr id="55" name="Shape 50"/>
          <p:cNvSpPr/>
          <p:nvPr/>
        </p:nvSpPr>
        <p:spPr>
          <a:xfrm>
            <a:off x="5169286" y="1828800"/>
            <a:ext cx="1853123" cy="12802"/>
          </a:xfrm>
          <a:prstGeom prst="rect">
            <a:avLst/>
          </a:prstGeom>
          <a:solidFill>
            <a:srgbClr val="EDF0F5"/>
          </a:solidFill>
          <a:ln/>
        </p:spPr>
      </p:sp>
      <p:sp>
        <p:nvSpPr>
          <p:cNvPr id="56" name="Text 51"/>
          <p:cNvSpPr txBox="1"/>
          <p:nvPr/>
        </p:nvSpPr>
        <p:spPr>
          <a:xfrm>
            <a:off x="5169286" y="1938528"/>
            <a:ext cx="1853123" cy="282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Envíos regulatorios de la normativa NCB-022</a:t>
            </a:r>
            <a:endParaRPr lang="en-US" sz="760" dirty="0"/>
          </a:p>
        </p:txBody>
      </p:sp>
      <p:sp>
        <p:nvSpPr>
          <p:cNvPr id="57" name="Shape 52"/>
          <p:cNvSpPr/>
          <p:nvPr/>
        </p:nvSpPr>
        <p:spPr>
          <a:xfrm>
            <a:off x="5169286" y="2275637"/>
            <a:ext cx="700979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58" name="Shape 53"/>
          <p:cNvSpPr/>
          <p:nvPr/>
        </p:nvSpPr>
        <p:spPr>
          <a:xfrm>
            <a:off x="5169286" y="2275637"/>
            <a:ext cx="700979" cy="45720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/>
        </p:spPr>
      </p:sp>
      <p:sp>
        <p:nvSpPr>
          <p:cNvPr id="59" name="Text 54"/>
          <p:cNvSpPr txBox="1"/>
          <p:nvPr/>
        </p:nvSpPr>
        <p:spPr>
          <a:xfrm>
            <a:off x="5925129" y="2234489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00" dirty="0"/>
          </a:p>
        </p:txBody>
      </p:sp>
      <p:sp>
        <p:nvSpPr>
          <p:cNvPr id="60" name="Shape 55"/>
          <p:cNvSpPr/>
          <p:nvPr/>
        </p:nvSpPr>
        <p:spPr>
          <a:xfrm>
            <a:off x="6290889" y="2220773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E4F5EA"/>
          </a:solidFill>
          <a:ln/>
        </p:spPr>
      </p:sp>
      <p:sp>
        <p:nvSpPr>
          <p:cNvPr id="61" name="Text 56"/>
          <p:cNvSpPr txBox="1"/>
          <p:nvPr/>
        </p:nvSpPr>
        <p:spPr>
          <a:xfrm>
            <a:off x="6290889" y="2220773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630" dirty="0"/>
          </a:p>
        </p:txBody>
      </p:sp>
      <p:sp>
        <p:nvSpPr>
          <p:cNvPr id="62" name="Text 57"/>
          <p:cNvSpPr txBox="1"/>
          <p:nvPr/>
        </p:nvSpPr>
        <p:spPr>
          <a:xfrm>
            <a:off x="5169286" y="2403653"/>
            <a:ext cx="1853123" cy="282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información a la Central de Riesgo (NRP-41)</a:t>
            </a:r>
            <a:endParaRPr lang="en-US" sz="760" dirty="0"/>
          </a:p>
        </p:txBody>
      </p:sp>
      <p:sp>
        <p:nvSpPr>
          <p:cNvPr id="63" name="Shape 58"/>
          <p:cNvSpPr/>
          <p:nvPr/>
        </p:nvSpPr>
        <p:spPr>
          <a:xfrm>
            <a:off x="5169286" y="2740762"/>
            <a:ext cx="700979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64" name="Shape 59"/>
          <p:cNvSpPr/>
          <p:nvPr/>
        </p:nvSpPr>
        <p:spPr>
          <a:xfrm>
            <a:off x="5169286" y="2740762"/>
            <a:ext cx="700979" cy="45720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/>
        </p:spPr>
      </p:sp>
      <p:sp>
        <p:nvSpPr>
          <p:cNvPr id="65" name="Text 60"/>
          <p:cNvSpPr txBox="1"/>
          <p:nvPr/>
        </p:nvSpPr>
        <p:spPr>
          <a:xfrm>
            <a:off x="5925129" y="2699614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00" dirty="0"/>
          </a:p>
        </p:txBody>
      </p:sp>
      <p:sp>
        <p:nvSpPr>
          <p:cNvPr id="66" name="Shape 61"/>
          <p:cNvSpPr/>
          <p:nvPr/>
        </p:nvSpPr>
        <p:spPr>
          <a:xfrm>
            <a:off x="6290889" y="2685898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E4F5EA"/>
          </a:solidFill>
          <a:ln/>
        </p:spPr>
      </p:sp>
      <p:sp>
        <p:nvSpPr>
          <p:cNvPr id="67" name="Text 62"/>
          <p:cNvSpPr txBox="1"/>
          <p:nvPr/>
        </p:nvSpPr>
        <p:spPr>
          <a:xfrm>
            <a:off x="6290889" y="2685898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630" dirty="0"/>
          </a:p>
        </p:txBody>
      </p:sp>
      <p:sp>
        <p:nvSpPr>
          <p:cNvPr id="68" name="Text 63"/>
          <p:cNvSpPr txBox="1"/>
          <p:nvPr/>
        </p:nvSpPr>
        <p:spPr>
          <a:xfrm>
            <a:off x="5169286" y="2868778"/>
            <a:ext cx="1853123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a la SSF del archivo CTRI-RECR (recuperaciones de activos de riesgo)</a:t>
            </a:r>
            <a:endParaRPr lang="en-US" sz="760" dirty="0"/>
          </a:p>
        </p:txBody>
      </p:sp>
      <p:sp>
        <p:nvSpPr>
          <p:cNvPr id="69" name="Shape 64"/>
          <p:cNvSpPr/>
          <p:nvPr/>
        </p:nvSpPr>
        <p:spPr>
          <a:xfrm>
            <a:off x="5169286" y="3333293"/>
            <a:ext cx="700979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70" name="Shape 65"/>
          <p:cNvSpPr/>
          <p:nvPr/>
        </p:nvSpPr>
        <p:spPr>
          <a:xfrm>
            <a:off x="5169286" y="3333293"/>
            <a:ext cx="700979" cy="45720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/>
        </p:spPr>
      </p:sp>
      <p:sp>
        <p:nvSpPr>
          <p:cNvPr id="71" name="Text 66"/>
          <p:cNvSpPr txBox="1"/>
          <p:nvPr/>
        </p:nvSpPr>
        <p:spPr>
          <a:xfrm>
            <a:off x="5925129" y="3292145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00" dirty="0"/>
          </a:p>
        </p:txBody>
      </p:sp>
      <p:sp>
        <p:nvSpPr>
          <p:cNvPr id="72" name="Shape 67"/>
          <p:cNvSpPr/>
          <p:nvPr/>
        </p:nvSpPr>
        <p:spPr>
          <a:xfrm>
            <a:off x="6290889" y="3278429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E4F5EA"/>
          </a:solidFill>
          <a:ln/>
        </p:spPr>
      </p:sp>
      <p:sp>
        <p:nvSpPr>
          <p:cNvPr id="73" name="Text 68"/>
          <p:cNvSpPr txBox="1"/>
          <p:nvPr/>
        </p:nvSpPr>
        <p:spPr>
          <a:xfrm>
            <a:off x="6290889" y="3278429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630" dirty="0"/>
          </a:p>
        </p:txBody>
      </p:sp>
      <p:sp>
        <p:nvSpPr>
          <p:cNvPr id="74" name="Text 69"/>
          <p:cNvSpPr txBox="1"/>
          <p:nvPr/>
        </p:nvSpPr>
        <p:spPr>
          <a:xfrm>
            <a:off x="5169286" y="3461309"/>
            <a:ext cx="1853123" cy="282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a la SSF del detalle de los créditos relacionados</a:t>
            </a:r>
            <a:endParaRPr lang="en-US" sz="760" dirty="0"/>
          </a:p>
        </p:txBody>
      </p:sp>
      <p:sp>
        <p:nvSpPr>
          <p:cNvPr id="75" name="Shape 70"/>
          <p:cNvSpPr/>
          <p:nvPr/>
        </p:nvSpPr>
        <p:spPr>
          <a:xfrm>
            <a:off x="5169286" y="3798418"/>
            <a:ext cx="700979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76" name="Shape 71"/>
          <p:cNvSpPr/>
          <p:nvPr/>
        </p:nvSpPr>
        <p:spPr>
          <a:xfrm>
            <a:off x="5169286" y="3798418"/>
            <a:ext cx="700979" cy="45720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/>
        </p:spPr>
      </p:sp>
      <p:sp>
        <p:nvSpPr>
          <p:cNvPr id="77" name="Text 72"/>
          <p:cNvSpPr txBox="1"/>
          <p:nvPr/>
        </p:nvSpPr>
        <p:spPr>
          <a:xfrm>
            <a:off x="5925129" y="3757270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00" dirty="0"/>
          </a:p>
        </p:txBody>
      </p:sp>
      <p:sp>
        <p:nvSpPr>
          <p:cNvPr id="78" name="Shape 73"/>
          <p:cNvSpPr/>
          <p:nvPr/>
        </p:nvSpPr>
        <p:spPr>
          <a:xfrm>
            <a:off x="6290889" y="3743554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E4F5EA"/>
          </a:solidFill>
          <a:ln/>
        </p:spPr>
      </p:sp>
      <p:sp>
        <p:nvSpPr>
          <p:cNvPr id="79" name="Text 74"/>
          <p:cNvSpPr txBox="1"/>
          <p:nvPr/>
        </p:nvSpPr>
        <p:spPr>
          <a:xfrm>
            <a:off x="6290889" y="3743554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630" dirty="0"/>
          </a:p>
        </p:txBody>
      </p:sp>
      <p:sp>
        <p:nvSpPr>
          <p:cNvPr id="80" name="Text 75"/>
          <p:cNvSpPr txBox="1"/>
          <p:nvPr/>
        </p:nvSpPr>
        <p:spPr>
          <a:xfrm>
            <a:off x="5169286" y="3926434"/>
            <a:ext cx="1853123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Revisión, cuadratura y envío a Contabilidad de cartera de tarjeta de crédito y reserva de saneamiento</a:t>
            </a:r>
            <a:endParaRPr lang="en-US" sz="760" dirty="0"/>
          </a:p>
        </p:txBody>
      </p:sp>
      <p:sp>
        <p:nvSpPr>
          <p:cNvPr id="81" name="Shape 76"/>
          <p:cNvSpPr/>
          <p:nvPr/>
        </p:nvSpPr>
        <p:spPr>
          <a:xfrm>
            <a:off x="5169286" y="4390949"/>
            <a:ext cx="700979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82" name="Shape 77"/>
          <p:cNvSpPr/>
          <p:nvPr/>
        </p:nvSpPr>
        <p:spPr>
          <a:xfrm>
            <a:off x="5169286" y="4390949"/>
            <a:ext cx="700979" cy="45720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/>
        </p:spPr>
      </p:sp>
      <p:sp>
        <p:nvSpPr>
          <p:cNvPr id="83" name="Text 78"/>
          <p:cNvSpPr txBox="1"/>
          <p:nvPr/>
        </p:nvSpPr>
        <p:spPr>
          <a:xfrm>
            <a:off x="5925129" y="4349801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00" dirty="0"/>
          </a:p>
        </p:txBody>
      </p:sp>
      <p:sp>
        <p:nvSpPr>
          <p:cNvPr id="84" name="Shape 79"/>
          <p:cNvSpPr/>
          <p:nvPr/>
        </p:nvSpPr>
        <p:spPr>
          <a:xfrm>
            <a:off x="6290889" y="4336085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E4F5EA"/>
          </a:solidFill>
          <a:ln/>
        </p:spPr>
      </p:sp>
      <p:sp>
        <p:nvSpPr>
          <p:cNvPr id="85" name="Text 80"/>
          <p:cNvSpPr txBox="1"/>
          <p:nvPr/>
        </p:nvSpPr>
        <p:spPr>
          <a:xfrm>
            <a:off x="6290889" y="4336085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630" dirty="0"/>
          </a:p>
        </p:txBody>
      </p:sp>
      <p:sp>
        <p:nvSpPr>
          <p:cNvPr id="86" name="Text 81"/>
          <p:cNvSpPr txBox="1"/>
          <p:nvPr/>
        </p:nvSpPr>
        <p:spPr>
          <a:xfrm>
            <a:off x="5169286" y="4518965"/>
            <a:ext cx="1853123" cy="282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evaluación de los activos de riesgo</a:t>
            </a:r>
            <a:endParaRPr lang="en-US" sz="760" dirty="0"/>
          </a:p>
        </p:txBody>
      </p:sp>
      <p:sp>
        <p:nvSpPr>
          <p:cNvPr id="87" name="Shape 82"/>
          <p:cNvSpPr/>
          <p:nvPr/>
        </p:nvSpPr>
        <p:spPr>
          <a:xfrm>
            <a:off x="5169286" y="4856074"/>
            <a:ext cx="700979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88" name="Shape 83"/>
          <p:cNvSpPr/>
          <p:nvPr/>
        </p:nvSpPr>
        <p:spPr>
          <a:xfrm>
            <a:off x="5169286" y="4856074"/>
            <a:ext cx="700979" cy="45720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/>
        </p:spPr>
      </p:sp>
      <p:sp>
        <p:nvSpPr>
          <p:cNvPr id="89" name="Text 84"/>
          <p:cNvSpPr txBox="1"/>
          <p:nvPr/>
        </p:nvSpPr>
        <p:spPr>
          <a:xfrm>
            <a:off x="5925129" y="4814926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00" dirty="0"/>
          </a:p>
        </p:txBody>
      </p:sp>
      <p:sp>
        <p:nvSpPr>
          <p:cNvPr id="90" name="Shape 85"/>
          <p:cNvSpPr/>
          <p:nvPr/>
        </p:nvSpPr>
        <p:spPr>
          <a:xfrm>
            <a:off x="6290889" y="4801210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E4F5EA"/>
          </a:solidFill>
          <a:ln/>
        </p:spPr>
      </p:sp>
      <p:sp>
        <p:nvSpPr>
          <p:cNvPr id="91" name="Text 86"/>
          <p:cNvSpPr txBox="1"/>
          <p:nvPr/>
        </p:nvSpPr>
        <p:spPr>
          <a:xfrm>
            <a:off x="6290889" y="4801210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630" dirty="0"/>
          </a:p>
        </p:txBody>
      </p:sp>
      <p:sp>
        <p:nvSpPr>
          <p:cNvPr id="92" name="Text 87"/>
          <p:cNvSpPr txBox="1"/>
          <p:nvPr/>
        </p:nvSpPr>
        <p:spPr>
          <a:xfrm>
            <a:off x="5169286" y="4984090"/>
            <a:ext cx="1853123" cy="282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evaluación de los créditos relacionados</a:t>
            </a:r>
            <a:endParaRPr lang="en-US" sz="760" dirty="0"/>
          </a:p>
        </p:txBody>
      </p:sp>
      <p:sp>
        <p:nvSpPr>
          <p:cNvPr id="93" name="Shape 88"/>
          <p:cNvSpPr/>
          <p:nvPr/>
        </p:nvSpPr>
        <p:spPr>
          <a:xfrm>
            <a:off x="5169286" y="5321198"/>
            <a:ext cx="700979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94" name="Shape 89"/>
          <p:cNvSpPr/>
          <p:nvPr/>
        </p:nvSpPr>
        <p:spPr>
          <a:xfrm>
            <a:off x="5169286" y="5321198"/>
            <a:ext cx="700979" cy="45720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/>
        </p:spPr>
      </p:sp>
      <p:sp>
        <p:nvSpPr>
          <p:cNvPr id="95" name="Text 90"/>
          <p:cNvSpPr txBox="1"/>
          <p:nvPr/>
        </p:nvSpPr>
        <p:spPr>
          <a:xfrm>
            <a:off x="5925129" y="5280050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00" dirty="0"/>
          </a:p>
        </p:txBody>
      </p:sp>
      <p:sp>
        <p:nvSpPr>
          <p:cNvPr id="96" name="Shape 91"/>
          <p:cNvSpPr/>
          <p:nvPr/>
        </p:nvSpPr>
        <p:spPr>
          <a:xfrm>
            <a:off x="6290889" y="5266334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E4F5EA"/>
          </a:solidFill>
          <a:ln/>
        </p:spPr>
      </p:sp>
      <p:sp>
        <p:nvSpPr>
          <p:cNvPr id="97" name="Text 92"/>
          <p:cNvSpPr txBox="1"/>
          <p:nvPr/>
        </p:nvSpPr>
        <p:spPr>
          <a:xfrm>
            <a:off x="6290889" y="5266334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630" dirty="0"/>
          </a:p>
        </p:txBody>
      </p:sp>
      <p:sp>
        <p:nvSpPr>
          <p:cNvPr id="98" name="Shape 93"/>
          <p:cNvSpPr/>
          <p:nvPr/>
        </p:nvSpPr>
        <p:spPr>
          <a:xfrm>
            <a:off x="7351593" y="1170432"/>
            <a:ext cx="2145731" cy="5257800"/>
          </a:xfrm>
          <a:prstGeom prst="roundRect">
            <a:avLst>
              <a:gd name="adj" fmla="val 29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99" name="Shape 94"/>
          <p:cNvSpPr/>
          <p:nvPr/>
        </p:nvSpPr>
        <p:spPr>
          <a:xfrm>
            <a:off x="7351593" y="1170432"/>
            <a:ext cx="2145731" cy="41148"/>
          </a:xfrm>
          <a:prstGeom prst="rect">
            <a:avLst/>
          </a:prstGeom>
          <a:solidFill>
            <a:srgbClr val="A6650F"/>
          </a:solidFill>
          <a:ln/>
        </p:spPr>
      </p:sp>
      <p:sp>
        <p:nvSpPr>
          <p:cNvPr id="100" name="Shape 95"/>
          <p:cNvSpPr/>
          <p:nvPr/>
        </p:nvSpPr>
        <p:spPr>
          <a:xfrm>
            <a:off x="7497897" y="1316736"/>
            <a:ext cx="384048" cy="384048"/>
          </a:xfrm>
          <a:prstGeom prst="ellipse">
            <a:avLst/>
          </a:prstGeom>
          <a:solidFill>
            <a:srgbClr val="FDF3E7"/>
          </a:solidFill>
          <a:ln/>
        </p:spPr>
      </p:sp>
      <p:pic>
        <p:nvPicPr>
          <p:cNvPr id="101" name="Image 3" descr="/tmp/claude-0/-home-user-riesgo/579fb8c8-70e5-51d5-80ec-6ed51cc2e8df/scratchpad/pptx-build/icons/layers_A6650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1049" y="1389888"/>
            <a:ext cx="237744" cy="237744"/>
          </a:xfrm>
          <a:prstGeom prst="rect">
            <a:avLst/>
          </a:prstGeom>
        </p:spPr>
      </p:pic>
      <p:sp>
        <p:nvSpPr>
          <p:cNvPr id="102" name="Text 96"/>
          <p:cNvSpPr txBox="1"/>
          <p:nvPr/>
        </p:nvSpPr>
        <p:spPr>
          <a:xfrm>
            <a:off x="7991673" y="1280160"/>
            <a:ext cx="13959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Otros</a:t>
            </a:r>
            <a:endParaRPr lang="en-US" sz="1350" dirty="0"/>
          </a:p>
        </p:txBody>
      </p:sp>
      <p:sp>
        <p:nvSpPr>
          <p:cNvPr id="103" name="Shape 97"/>
          <p:cNvSpPr/>
          <p:nvPr/>
        </p:nvSpPr>
        <p:spPr>
          <a:xfrm>
            <a:off x="7497897" y="1828800"/>
            <a:ext cx="1853123" cy="12802"/>
          </a:xfrm>
          <a:prstGeom prst="rect">
            <a:avLst/>
          </a:prstGeom>
          <a:solidFill>
            <a:srgbClr val="EDF0F5"/>
          </a:solidFill>
          <a:ln/>
        </p:spPr>
      </p:sp>
      <p:sp>
        <p:nvSpPr>
          <p:cNvPr id="104" name="Text 98"/>
          <p:cNvSpPr txBox="1"/>
          <p:nvPr/>
        </p:nvSpPr>
        <p:spPr>
          <a:xfrm>
            <a:off x="7497897" y="1938528"/>
            <a:ext cx="1853123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segmentación de los productos de COMÉDICA</a:t>
            </a:r>
            <a:endParaRPr lang="en-US" sz="780" dirty="0"/>
          </a:p>
        </p:txBody>
      </p:sp>
      <p:sp>
        <p:nvSpPr>
          <p:cNvPr id="105" name="Shape 99"/>
          <p:cNvSpPr/>
          <p:nvPr/>
        </p:nvSpPr>
        <p:spPr>
          <a:xfrm>
            <a:off x="7497897" y="2282342"/>
            <a:ext cx="700979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106" name="Shape 100"/>
          <p:cNvSpPr/>
          <p:nvPr/>
        </p:nvSpPr>
        <p:spPr>
          <a:xfrm>
            <a:off x="7497897" y="2282342"/>
            <a:ext cx="35049" cy="45720"/>
          </a:xfrm>
          <a:prstGeom prst="roundRect">
            <a:avLst>
              <a:gd name="adj" fmla="val 65223"/>
            </a:avLst>
          </a:prstGeom>
          <a:solidFill>
            <a:srgbClr val="A6650F"/>
          </a:solidFill>
          <a:ln/>
        </p:spPr>
      </p:sp>
      <p:sp>
        <p:nvSpPr>
          <p:cNvPr id="107" name="Text 101"/>
          <p:cNvSpPr txBox="1"/>
          <p:nvPr/>
        </p:nvSpPr>
        <p:spPr>
          <a:xfrm>
            <a:off x="8253740" y="2241194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700" dirty="0"/>
          </a:p>
        </p:txBody>
      </p:sp>
      <p:sp>
        <p:nvSpPr>
          <p:cNvPr id="108" name="Shape 102"/>
          <p:cNvSpPr/>
          <p:nvPr/>
        </p:nvSpPr>
        <p:spPr>
          <a:xfrm>
            <a:off x="8619500" y="2227478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FDF3E7"/>
          </a:solidFill>
          <a:ln/>
        </p:spPr>
      </p:sp>
      <p:sp>
        <p:nvSpPr>
          <p:cNvPr id="109" name="Text 103"/>
          <p:cNvSpPr txBox="1"/>
          <p:nvPr/>
        </p:nvSpPr>
        <p:spPr>
          <a:xfrm>
            <a:off x="8619500" y="2227478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</a:t>
            </a:r>
            <a:endParaRPr lang="en-US" sz="630" dirty="0"/>
          </a:p>
        </p:txBody>
      </p:sp>
      <p:sp>
        <p:nvSpPr>
          <p:cNvPr id="110" name="Text 104"/>
          <p:cNvSpPr txBox="1"/>
          <p:nvPr/>
        </p:nvSpPr>
        <p:spPr>
          <a:xfrm>
            <a:off x="7497897" y="2410358"/>
            <a:ext cx="1853123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semanal de la reserva de saneamiento</a:t>
            </a:r>
            <a:endParaRPr lang="en-US" sz="780" dirty="0"/>
          </a:p>
        </p:txBody>
      </p:sp>
      <p:sp>
        <p:nvSpPr>
          <p:cNvPr id="111" name="Shape 105"/>
          <p:cNvSpPr/>
          <p:nvPr/>
        </p:nvSpPr>
        <p:spPr>
          <a:xfrm>
            <a:off x="7497897" y="2754173"/>
            <a:ext cx="700979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112" name="Shape 106"/>
          <p:cNvSpPr/>
          <p:nvPr/>
        </p:nvSpPr>
        <p:spPr>
          <a:xfrm>
            <a:off x="7497897" y="2754173"/>
            <a:ext cx="18288" cy="45720"/>
          </a:xfrm>
          <a:prstGeom prst="roundRect">
            <a:avLst>
              <a:gd name="adj" fmla="val 125000"/>
            </a:avLst>
          </a:prstGeom>
          <a:solidFill>
            <a:srgbClr val="A6650F"/>
          </a:solidFill>
          <a:ln/>
        </p:spPr>
      </p:sp>
      <p:sp>
        <p:nvSpPr>
          <p:cNvPr id="113" name="Text 107"/>
          <p:cNvSpPr txBox="1"/>
          <p:nvPr/>
        </p:nvSpPr>
        <p:spPr>
          <a:xfrm>
            <a:off x="8253740" y="2713025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700" dirty="0"/>
          </a:p>
        </p:txBody>
      </p:sp>
      <p:sp>
        <p:nvSpPr>
          <p:cNvPr id="114" name="Shape 108"/>
          <p:cNvSpPr/>
          <p:nvPr/>
        </p:nvSpPr>
        <p:spPr>
          <a:xfrm>
            <a:off x="8619500" y="2699309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FDF3E7"/>
          </a:solidFill>
          <a:ln/>
        </p:spPr>
      </p:sp>
      <p:sp>
        <p:nvSpPr>
          <p:cNvPr id="115" name="Text 109"/>
          <p:cNvSpPr txBox="1"/>
          <p:nvPr/>
        </p:nvSpPr>
        <p:spPr>
          <a:xfrm>
            <a:off x="8619500" y="2699309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</a:t>
            </a:r>
            <a:endParaRPr lang="en-US" sz="630" dirty="0"/>
          </a:p>
        </p:txBody>
      </p:sp>
      <p:sp>
        <p:nvSpPr>
          <p:cNvPr id="116" name="Text 110"/>
          <p:cNvSpPr txBox="1"/>
          <p:nvPr/>
        </p:nvSpPr>
        <p:spPr>
          <a:xfrm>
            <a:off x="7497897" y="2882189"/>
            <a:ext cx="1853123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mensual de los incrementos en la reserva de saneamiento</a:t>
            </a:r>
            <a:endParaRPr lang="en-US" sz="780" dirty="0"/>
          </a:p>
        </p:txBody>
      </p:sp>
      <p:sp>
        <p:nvSpPr>
          <p:cNvPr id="117" name="Shape 111"/>
          <p:cNvSpPr/>
          <p:nvPr/>
        </p:nvSpPr>
        <p:spPr>
          <a:xfrm>
            <a:off x="7497897" y="3226003"/>
            <a:ext cx="700979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118" name="Shape 112"/>
          <p:cNvSpPr/>
          <p:nvPr/>
        </p:nvSpPr>
        <p:spPr>
          <a:xfrm>
            <a:off x="7497897" y="3226003"/>
            <a:ext cx="700979" cy="45720"/>
          </a:xfrm>
          <a:prstGeom prst="roundRect">
            <a:avLst>
              <a:gd name="adj" fmla="val 50000"/>
            </a:avLst>
          </a:prstGeom>
          <a:solidFill>
            <a:srgbClr val="1E8449"/>
          </a:solidFill>
          <a:ln/>
        </p:spPr>
      </p:sp>
      <p:sp>
        <p:nvSpPr>
          <p:cNvPr id="119" name="Text 113"/>
          <p:cNvSpPr txBox="1"/>
          <p:nvPr/>
        </p:nvSpPr>
        <p:spPr>
          <a:xfrm>
            <a:off x="8253740" y="3184855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00" dirty="0"/>
          </a:p>
        </p:txBody>
      </p:sp>
      <p:sp>
        <p:nvSpPr>
          <p:cNvPr id="120" name="Shape 114"/>
          <p:cNvSpPr/>
          <p:nvPr/>
        </p:nvSpPr>
        <p:spPr>
          <a:xfrm>
            <a:off x="8619500" y="3171139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E4F5EA"/>
          </a:solidFill>
          <a:ln/>
        </p:spPr>
      </p:sp>
      <p:sp>
        <p:nvSpPr>
          <p:cNvPr id="121" name="Text 115"/>
          <p:cNvSpPr txBox="1"/>
          <p:nvPr/>
        </p:nvSpPr>
        <p:spPr>
          <a:xfrm>
            <a:off x="8619500" y="3171139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1E8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630" dirty="0"/>
          </a:p>
        </p:txBody>
      </p:sp>
      <p:sp>
        <p:nvSpPr>
          <p:cNvPr id="122" name="Text 116"/>
          <p:cNvSpPr txBox="1"/>
          <p:nvPr/>
        </p:nvSpPr>
        <p:spPr>
          <a:xfrm>
            <a:off x="7497897" y="3354019"/>
            <a:ext cx="1853123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en la Central de Riesgos de los aspirantes a empleados</a:t>
            </a:r>
            <a:endParaRPr lang="en-US" sz="780" dirty="0"/>
          </a:p>
        </p:txBody>
      </p:sp>
      <p:sp>
        <p:nvSpPr>
          <p:cNvPr id="123" name="Shape 117"/>
          <p:cNvSpPr/>
          <p:nvPr/>
        </p:nvSpPr>
        <p:spPr>
          <a:xfrm>
            <a:off x="7497897" y="3697834"/>
            <a:ext cx="700979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124" name="Shape 118"/>
          <p:cNvSpPr/>
          <p:nvPr/>
        </p:nvSpPr>
        <p:spPr>
          <a:xfrm>
            <a:off x="7497897" y="3697834"/>
            <a:ext cx="700979" cy="45720"/>
          </a:xfrm>
          <a:prstGeom prst="roundRect">
            <a:avLst>
              <a:gd name="adj" fmla="val 50000"/>
            </a:avLst>
          </a:prstGeom>
          <a:solidFill>
            <a:srgbClr val="A6650F"/>
          </a:solidFill>
          <a:ln/>
        </p:spPr>
      </p:sp>
      <p:sp>
        <p:nvSpPr>
          <p:cNvPr id="125" name="Text 119"/>
          <p:cNvSpPr txBox="1"/>
          <p:nvPr/>
        </p:nvSpPr>
        <p:spPr>
          <a:xfrm>
            <a:off x="8253740" y="3656686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00" dirty="0"/>
          </a:p>
        </p:txBody>
      </p:sp>
      <p:sp>
        <p:nvSpPr>
          <p:cNvPr id="126" name="Shape 120"/>
          <p:cNvSpPr/>
          <p:nvPr/>
        </p:nvSpPr>
        <p:spPr>
          <a:xfrm>
            <a:off x="8619500" y="3642970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FDF3E7"/>
          </a:solidFill>
          <a:ln/>
        </p:spPr>
      </p:sp>
      <p:sp>
        <p:nvSpPr>
          <p:cNvPr id="127" name="Text 121"/>
          <p:cNvSpPr txBox="1"/>
          <p:nvPr/>
        </p:nvSpPr>
        <p:spPr>
          <a:xfrm>
            <a:off x="8619500" y="3642970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</a:t>
            </a:r>
            <a:endParaRPr lang="en-US" sz="630" dirty="0"/>
          </a:p>
        </p:txBody>
      </p:sp>
      <p:sp>
        <p:nvSpPr>
          <p:cNvPr id="128" name="Text 122"/>
          <p:cNvSpPr txBox="1"/>
          <p:nvPr/>
        </p:nvSpPr>
        <p:spPr>
          <a:xfrm>
            <a:off x="7497897" y="3825850"/>
            <a:ext cx="1853123" cy="288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permanente de los traslados de deuda</a:t>
            </a:r>
            <a:endParaRPr lang="en-US" sz="780" dirty="0"/>
          </a:p>
        </p:txBody>
      </p:sp>
      <p:sp>
        <p:nvSpPr>
          <p:cNvPr id="129" name="Shape 123"/>
          <p:cNvSpPr/>
          <p:nvPr/>
        </p:nvSpPr>
        <p:spPr>
          <a:xfrm>
            <a:off x="7497897" y="4169664"/>
            <a:ext cx="700979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130" name="Shape 124"/>
          <p:cNvSpPr/>
          <p:nvPr/>
        </p:nvSpPr>
        <p:spPr>
          <a:xfrm>
            <a:off x="7497897" y="4169664"/>
            <a:ext cx="700979" cy="45720"/>
          </a:xfrm>
          <a:prstGeom prst="roundRect">
            <a:avLst>
              <a:gd name="adj" fmla="val 50000"/>
            </a:avLst>
          </a:prstGeom>
          <a:solidFill>
            <a:srgbClr val="A6650F"/>
          </a:solidFill>
          <a:ln/>
        </p:spPr>
      </p:sp>
      <p:sp>
        <p:nvSpPr>
          <p:cNvPr id="131" name="Text 125"/>
          <p:cNvSpPr txBox="1"/>
          <p:nvPr/>
        </p:nvSpPr>
        <p:spPr>
          <a:xfrm>
            <a:off x="8253740" y="4128516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00" dirty="0"/>
          </a:p>
        </p:txBody>
      </p:sp>
      <p:sp>
        <p:nvSpPr>
          <p:cNvPr id="132" name="Shape 126"/>
          <p:cNvSpPr/>
          <p:nvPr/>
        </p:nvSpPr>
        <p:spPr>
          <a:xfrm>
            <a:off x="8619500" y="4114800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FDF3E7"/>
          </a:solidFill>
          <a:ln/>
        </p:spPr>
      </p:sp>
      <p:sp>
        <p:nvSpPr>
          <p:cNvPr id="133" name="Text 127"/>
          <p:cNvSpPr txBox="1"/>
          <p:nvPr/>
        </p:nvSpPr>
        <p:spPr>
          <a:xfrm>
            <a:off x="8619500" y="4114800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</a:t>
            </a:r>
            <a:endParaRPr lang="en-US" sz="630" dirty="0"/>
          </a:p>
        </p:txBody>
      </p:sp>
      <p:sp>
        <p:nvSpPr>
          <p:cNvPr id="134" name="Shape 128"/>
          <p:cNvSpPr/>
          <p:nvPr/>
        </p:nvSpPr>
        <p:spPr>
          <a:xfrm>
            <a:off x="9680204" y="1170432"/>
            <a:ext cx="2145731" cy="5257800"/>
          </a:xfrm>
          <a:prstGeom prst="roundRect">
            <a:avLst>
              <a:gd name="adj" fmla="val 29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2F4E">
                <a:alpha val="22000"/>
              </a:srgbClr>
            </a:outerShdw>
          </a:effectLst>
        </p:spPr>
      </p:sp>
      <p:sp>
        <p:nvSpPr>
          <p:cNvPr id="135" name="Shape 129"/>
          <p:cNvSpPr/>
          <p:nvPr/>
        </p:nvSpPr>
        <p:spPr>
          <a:xfrm>
            <a:off x="9680204" y="1170432"/>
            <a:ext cx="2145731" cy="4114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36" name="Shape 130"/>
          <p:cNvSpPr/>
          <p:nvPr/>
        </p:nvSpPr>
        <p:spPr>
          <a:xfrm>
            <a:off x="9826508" y="1316736"/>
            <a:ext cx="384048" cy="384048"/>
          </a:xfrm>
          <a:prstGeom prst="ellipse">
            <a:avLst/>
          </a:prstGeom>
          <a:solidFill>
            <a:srgbClr val="E4F5F3"/>
          </a:solidFill>
          <a:ln/>
        </p:spPr>
      </p:sp>
      <p:pic>
        <p:nvPicPr>
          <p:cNvPr id="137" name="Image 4" descr="/tmp/claude-0/-home-user-riesgo/579fb8c8-70e5-51d5-80ec-6ed51cc2e8df/scratchpad/pptx-build/icons/target_0F766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9660" y="1389888"/>
            <a:ext cx="237744" cy="237744"/>
          </a:xfrm>
          <a:prstGeom prst="rect">
            <a:avLst/>
          </a:prstGeom>
        </p:spPr>
      </p:pic>
      <p:sp>
        <p:nvSpPr>
          <p:cNvPr id="138" name="Text 131"/>
          <p:cNvSpPr txBox="1"/>
          <p:nvPr/>
        </p:nvSpPr>
        <p:spPr>
          <a:xfrm>
            <a:off x="10320284" y="1280160"/>
            <a:ext cx="13959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2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 a Largo Plazo</a:t>
            </a:r>
            <a:endParaRPr lang="en-US" sz="1350" dirty="0"/>
          </a:p>
        </p:txBody>
      </p:sp>
      <p:sp>
        <p:nvSpPr>
          <p:cNvPr id="139" name="Shape 132"/>
          <p:cNvSpPr/>
          <p:nvPr/>
        </p:nvSpPr>
        <p:spPr>
          <a:xfrm>
            <a:off x="9826508" y="1828800"/>
            <a:ext cx="1853123" cy="12802"/>
          </a:xfrm>
          <a:prstGeom prst="rect">
            <a:avLst/>
          </a:prstGeom>
          <a:solidFill>
            <a:srgbClr val="EDF0F5"/>
          </a:solidFill>
          <a:ln/>
        </p:spPr>
      </p:sp>
      <p:sp>
        <p:nvSpPr>
          <p:cNvPr id="140" name="Text 133"/>
          <p:cNvSpPr txBox="1"/>
          <p:nvPr/>
        </p:nvSpPr>
        <p:spPr>
          <a:xfrm>
            <a:off x="9826508" y="1938528"/>
            <a:ext cx="1853123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Adecuación del sistema de créditos para cumplir reformas de la normativa NRP-41</a:t>
            </a:r>
            <a:endParaRPr lang="en-US" sz="800" dirty="0"/>
          </a:p>
        </p:txBody>
      </p:sp>
      <p:sp>
        <p:nvSpPr>
          <p:cNvPr id="141" name="Shape 134"/>
          <p:cNvSpPr/>
          <p:nvPr/>
        </p:nvSpPr>
        <p:spPr>
          <a:xfrm>
            <a:off x="9826508" y="2423160"/>
            <a:ext cx="700979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142" name="Shape 135"/>
          <p:cNvSpPr/>
          <p:nvPr/>
        </p:nvSpPr>
        <p:spPr>
          <a:xfrm>
            <a:off x="9826508" y="2423160"/>
            <a:ext cx="70098" cy="45720"/>
          </a:xfrm>
          <a:prstGeom prst="roundRect">
            <a:avLst>
              <a:gd name="adj" fmla="val 50000"/>
            </a:avLst>
          </a:prstGeom>
          <a:solidFill>
            <a:srgbClr val="A6650F"/>
          </a:solidFill>
          <a:ln/>
        </p:spPr>
      </p:sp>
      <p:sp>
        <p:nvSpPr>
          <p:cNvPr id="143" name="Text 136"/>
          <p:cNvSpPr txBox="1"/>
          <p:nvPr/>
        </p:nvSpPr>
        <p:spPr>
          <a:xfrm>
            <a:off x="10582351" y="2382012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700" dirty="0"/>
          </a:p>
        </p:txBody>
      </p:sp>
      <p:sp>
        <p:nvSpPr>
          <p:cNvPr id="144" name="Shape 137"/>
          <p:cNvSpPr/>
          <p:nvPr/>
        </p:nvSpPr>
        <p:spPr>
          <a:xfrm>
            <a:off x="10948111" y="2368296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FDF3E7"/>
          </a:solidFill>
          <a:ln/>
        </p:spPr>
      </p:sp>
      <p:sp>
        <p:nvSpPr>
          <p:cNvPr id="145" name="Text 138"/>
          <p:cNvSpPr txBox="1"/>
          <p:nvPr/>
        </p:nvSpPr>
        <p:spPr>
          <a:xfrm>
            <a:off x="10948111" y="2368296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</a:t>
            </a:r>
            <a:endParaRPr lang="en-US" sz="630" dirty="0"/>
          </a:p>
        </p:txBody>
      </p:sp>
      <p:sp>
        <p:nvSpPr>
          <p:cNvPr id="146" name="Text 139"/>
          <p:cNvSpPr txBox="1"/>
          <p:nvPr/>
        </p:nvSpPr>
        <p:spPr>
          <a:xfrm>
            <a:off x="9826508" y="2551176"/>
            <a:ext cx="1853123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800" dirty="0">
                <a:solidFill>
                  <a:srgbClr val="2430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expedientes de tarjetahabientes de alto riesgo, a solicitud del Consejo de Admón.</a:t>
            </a:r>
            <a:endParaRPr lang="en-US" sz="800" dirty="0"/>
          </a:p>
        </p:txBody>
      </p:sp>
      <p:sp>
        <p:nvSpPr>
          <p:cNvPr id="147" name="Shape 140"/>
          <p:cNvSpPr/>
          <p:nvPr/>
        </p:nvSpPr>
        <p:spPr>
          <a:xfrm>
            <a:off x="9826508" y="3035808"/>
            <a:ext cx="700979" cy="45720"/>
          </a:xfrm>
          <a:prstGeom prst="roundRect">
            <a:avLst>
              <a:gd name="adj" fmla="val 50000"/>
            </a:avLst>
          </a:prstGeom>
          <a:solidFill>
            <a:srgbClr val="E7ECF3"/>
          </a:solidFill>
          <a:ln/>
        </p:spPr>
      </p:sp>
      <p:sp>
        <p:nvSpPr>
          <p:cNvPr id="148" name="Shape 141"/>
          <p:cNvSpPr/>
          <p:nvPr/>
        </p:nvSpPr>
        <p:spPr>
          <a:xfrm>
            <a:off x="9826508" y="3035808"/>
            <a:ext cx="700979" cy="45720"/>
          </a:xfrm>
          <a:prstGeom prst="roundRect">
            <a:avLst>
              <a:gd name="adj" fmla="val 50000"/>
            </a:avLst>
          </a:prstGeom>
          <a:solidFill>
            <a:srgbClr val="A6650F"/>
          </a:solidFill>
          <a:ln/>
        </p:spPr>
      </p:sp>
      <p:sp>
        <p:nvSpPr>
          <p:cNvPr id="149" name="Text 142"/>
          <p:cNvSpPr txBox="1"/>
          <p:nvPr/>
        </p:nvSpPr>
        <p:spPr>
          <a:xfrm>
            <a:off x="10582351" y="2994660"/>
            <a:ext cx="31089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00" dirty="0"/>
          </a:p>
        </p:txBody>
      </p:sp>
      <p:sp>
        <p:nvSpPr>
          <p:cNvPr id="150" name="Shape 143"/>
          <p:cNvSpPr/>
          <p:nvPr/>
        </p:nvSpPr>
        <p:spPr>
          <a:xfrm>
            <a:off x="10948111" y="2980944"/>
            <a:ext cx="713232" cy="155448"/>
          </a:xfrm>
          <a:prstGeom prst="roundRect">
            <a:avLst>
              <a:gd name="adj" fmla="val 50000"/>
            </a:avLst>
          </a:prstGeom>
          <a:solidFill>
            <a:srgbClr val="FDF3E7"/>
          </a:solidFill>
          <a:ln/>
        </p:spPr>
      </p:sp>
      <p:sp>
        <p:nvSpPr>
          <p:cNvPr id="151" name="Text 144"/>
          <p:cNvSpPr txBox="1"/>
          <p:nvPr/>
        </p:nvSpPr>
        <p:spPr>
          <a:xfrm>
            <a:off x="10948111" y="2980944"/>
            <a:ext cx="71323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30" b="1" spc="30" kern="0" dirty="0">
                <a:solidFill>
                  <a:srgbClr val="A66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</a:t>
            </a:r>
            <a:endParaRPr lang="en-US" sz="6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Administración de Riesgos</dc:title>
  <dc:subject>PptxGenJS Presentation</dc:subject>
  <dc:creator>COMÉDICA</dc:creator>
  <cp:lastModifiedBy>COMÉDICA</cp:lastModifiedBy>
  <cp:revision>1</cp:revision>
  <dcterms:created xsi:type="dcterms:W3CDTF">2026-09-11T19:10:50Z</dcterms:created>
  <dcterms:modified xsi:type="dcterms:W3CDTF">2026-09-11T19:10:50Z</dcterms:modified>
</cp:coreProperties>
</file>