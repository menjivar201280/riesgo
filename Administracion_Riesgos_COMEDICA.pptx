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DE R.L.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Actividades · Informe Semanal – 14 al 19 de septiembre 2026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08415" y="411480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3643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814255" y="411480"/>
            <a:ext cx="82296" cy="82296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4227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820095" y="411480"/>
            <a:ext cx="82296" cy="82296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4811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DE R.L.  ·  Cronograma de Actividades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1170432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B4F9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" y="1170432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174175" y="117043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actividades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1417320"/>
            <a:ext cx="276903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9692" y="1467612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27" name="Image 0" descr="/tmp/claude-0/-home-user-riesgo/579fb8c8-70e5-51d5-80ec-6ed51cc2e8df/scratchpad/pptx-build/icons/bookopen_A6650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925" y="1507846"/>
            <a:ext cx="120701" cy="120701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411480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Auditoría</a:t>
            </a:r>
            <a:endParaRPr lang="en-US" sz="760" dirty="0"/>
          </a:p>
        </p:txBody>
      </p:sp>
      <p:sp>
        <p:nvSpPr>
          <p:cNvPr id="29" name="Shape 26"/>
          <p:cNvSpPr/>
          <p:nvPr/>
        </p:nvSpPr>
        <p:spPr>
          <a:xfrm>
            <a:off x="1631404" y="1819656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30" name="Shape 27"/>
          <p:cNvSpPr/>
          <p:nvPr/>
        </p:nvSpPr>
        <p:spPr>
          <a:xfrm>
            <a:off x="484632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3504" y="1847088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presentación y examen para Capacitación de GIR 2026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90" dirty="0"/>
          </a:p>
        </p:txBody>
      </p:sp>
      <p:sp>
        <p:nvSpPr>
          <p:cNvPr id="32" name="Shape 29"/>
          <p:cNvSpPr/>
          <p:nvPr/>
        </p:nvSpPr>
        <p:spPr>
          <a:xfrm>
            <a:off x="484632" y="209214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03504" y="2050085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requerimiento información Auditoría Interna – NRP-17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34" name="Shape 31"/>
          <p:cNvSpPr/>
          <p:nvPr/>
        </p:nvSpPr>
        <p:spPr>
          <a:xfrm>
            <a:off x="3262808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62808" y="1417320"/>
            <a:ext cx="276903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6" name="Shape 33"/>
          <p:cNvSpPr/>
          <p:nvPr/>
        </p:nvSpPr>
        <p:spPr>
          <a:xfrm>
            <a:off x="4546740" y="1467612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37" name="Image 1" descr="/tmp/claude-0/-home-user-riesgo/579fb8c8-70e5-51d5-80ec-6ed51cc2e8df/scratchpad/pptx-build/icons/filetext_1B4F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73" y="1507846"/>
            <a:ext cx="120701" cy="120701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3308528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760" dirty="0"/>
          </a:p>
        </p:txBody>
      </p:sp>
      <p:sp>
        <p:nvSpPr>
          <p:cNvPr id="39" name="Shape 35"/>
          <p:cNvSpPr/>
          <p:nvPr/>
        </p:nvSpPr>
        <p:spPr>
          <a:xfrm>
            <a:off x="4528452" y="1819656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40" name="Shape 36"/>
          <p:cNvSpPr/>
          <p:nvPr/>
        </p:nvSpPr>
        <p:spPr>
          <a:xfrm>
            <a:off x="3381680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3500552" y="1847088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Matriz de Riesgo proyecto Gestor Documental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90" dirty="0"/>
          </a:p>
        </p:txBody>
      </p:sp>
      <p:sp>
        <p:nvSpPr>
          <p:cNvPr id="42" name="Shape 38"/>
          <p:cNvSpPr/>
          <p:nvPr/>
        </p:nvSpPr>
        <p:spPr>
          <a:xfrm>
            <a:off x="3381680" y="209214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3500552" y="2050085"/>
            <a:ext cx="2412416" cy="311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Fábrica de Créditos – Revisión de documentos de Riesgos necesarios para expediente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44" name="Shape 40"/>
          <p:cNvSpPr/>
          <p:nvPr/>
        </p:nvSpPr>
        <p:spPr>
          <a:xfrm>
            <a:off x="6159856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45" name="Shape 41"/>
          <p:cNvSpPr/>
          <p:nvPr/>
        </p:nvSpPr>
        <p:spPr>
          <a:xfrm>
            <a:off x="6159856" y="1417320"/>
            <a:ext cx="276903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46" name="Shape 42"/>
          <p:cNvSpPr/>
          <p:nvPr/>
        </p:nvSpPr>
        <p:spPr>
          <a:xfrm>
            <a:off x="7443788" y="1467612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47" name="Image 2" descr="/tmp/claude-0/-home-user-riesgo/579fb8c8-70e5-51d5-80ec-6ed51cc2e8df/scratchpad/pptx-build/icons/activity_1D63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021" y="1507846"/>
            <a:ext cx="120701" cy="120701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6205576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 y Tecnológico</a:t>
            </a:r>
            <a:endParaRPr lang="en-US" sz="760" dirty="0"/>
          </a:p>
        </p:txBody>
      </p:sp>
      <p:sp>
        <p:nvSpPr>
          <p:cNvPr id="49" name="Shape 44"/>
          <p:cNvSpPr/>
          <p:nvPr/>
        </p:nvSpPr>
        <p:spPr>
          <a:xfrm>
            <a:off x="7425499" y="1819656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50" name="Shape 45"/>
          <p:cNvSpPr/>
          <p:nvPr/>
        </p:nvSpPr>
        <p:spPr>
          <a:xfrm>
            <a:off x="6278728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397600" y="1847088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 lanzamiento de nueva plataforma de Canales Digitales – informe de Riesgo Reputacional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70" dirty="0"/>
          </a:p>
        </p:txBody>
      </p:sp>
      <p:sp>
        <p:nvSpPr>
          <p:cNvPr id="52" name="Shape 47"/>
          <p:cNvSpPr/>
          <p:nvPr/>
        </p:nvSpPr>
        <p:spPr>
          <a:xfrm>
            <a:off x="6278728" y="205922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6397600" y="2017166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evaluación de Riesgos Operacionales y Tecnológicos – cambio de Procesador de TC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570" dirty="0"/>
          </a:p>
        </p:txBody>
      </p:sp>
      <p:sp>
        <p:nvSpPr>
          <p:cNvPr id="54" name="Shape 49"/>
          <p:cNvSpPr/>
          <p:nvPr/>
        </p:nvSpPr>
        <p:spPr>
          <a:xfrm>
            <a:off x="6278728" y="222930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397600" y="2187245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encuesta e informe de evaluación del Servicio de Procesamiento de Tarjetas de Crédito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70" dirty="0"/>
          </a:p>
        </p:txBody>
      </p:sp>
      <p:sp>
        <p:nvSpPr>
          <p:cNvPr id="56" name="Shape 51"/>
          <p:cNvSpPr/>
          <p:nvPr/>
        </p:nvSpPr>
        <p:spPr>
          <a:xfrm>
            <a:off x="6278728" y="2399386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6397600" y="2357323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Matriz de Riesgos Operacionales por cambio de Procesador de TC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70" dirty="0"/>
          </a:p>
        </p:txBody>
      </p:sp>
      <p:sp>
        <p:nvSpPr>
          <p:cNvPr id="58" name="Shape 53"/>
          <p:cNvSpPr/>
          <p:nvPr/>
        </p:nvSpPr>
        <p:spPr>
          <a:xfrm>
            <a:off x="6278728" y="2569464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6397600" y="2527402"/>
            <a:ext cx="2412416" cy="10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pérdida TC, DPF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70" dirty="0"/>
          </a:p>
        </p:txBody>
      </p:sp>
      <p:sp>
        <p:nvSpPr>
          <p:cNvPr id="60" name="Shape 55"/>
          <p:cNvSpPr/>
          <p:nvPr/>
        </p:nvSpPr>
        <p:spPr>
          <a:xfrm>
            <a:off x="6278728" y="26613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6397600" y="2619299"/>
            <a:ext cx="2412416" cy="10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Criticidad IT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70" dirty="0"/>
          </a:p>
        </p:txBody>
      </p:sp>
      <p:sp>
        <p:nvSpPr>
          <p:cNvPr id="62" name="Shape 57"/>
          <p:cNvSpPr/>
          <p:nvPr/>
        </p:nvSpPr>
        <p:spPr>
          <a:xfrm>
            <a:off x="9056903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63" name="Shape 58"/>
          <p:cNvSpPr/>
          <p:nvPr/>
        </p:nvSpPr>
        <p:spPr>
          <a:xfrm>
            <a:off x="9056903" y="1417320"/>
            <a:ext cx="276903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4" name="Shape 59"/>
          <p:cNvSpPr/>
          <p:nvPr/>
        </p:nvSpPr>
        <p:spPr>
          <a:xfrm>
            <a:off x="10340835" y="1467612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65" name="Image 3" descr="/tmp/claude-0/-home-user-riesgo/579fb8c8-70e5-51d5-80ec-6ed51cc2e8df/scratchpad/pptx-build/icons/briefcase_1B4F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1069" y="1507846"/>
            <a:ext cx="120701" cy="120701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9102623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760" dirty="0"/>
          </a:p>
        </p:txBody>
      </p:sp>
      <p:sp>
        <p:nvSpPr>
          <p:cNvPr id="67" name="Shape 61"/>
          <p:cNvSpPr/>
          <p:nvPr/>
        </p:nvSpPr>
        <p:spPr>
          <a:xfrm>
            <a:off x="10322547" y="1819656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8" name="Shape 62"/>
          <p:cNvSpPr/>
          <p:nvPr/>
        </p:nvSpPr>
        <p:spPr>
          <a:xfrm>
            <a:off x="9175775" y="1889150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9" name="Text 63"/>
          <p:cNvSpPr txBox="1"/>
          <p:nvPr/>
        </p:nvSpPr>
        <p:spPr>
          <a:xfrm>
            <a:off x="9294647" y="1847088"/>
            <a:ext cx="2412416" cy="12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#4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70" name="Shape 64"/>
          <p:cNvSpPr/>
          <p:nvPr/>
        </p:nvSpPr>
        <p:spPr>
          <a:xfrm>
            <a:off x="9175775" y="199750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1" name="Text 65"/>
          <p:cNvSpPr txBox="1"/>
          <p:nvPr/>
        </p:nvSpPr>
        <p:spPr>
          <a:xfrm>
            <a:off x="9294647" y="1955444"/>
            <a:ext cx="2412416" cy="12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#5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72" name="Shape 66"/>
          <p:cNvSpPr/>
          <p:nvPr/>
        </p:nvSpPr>
        <p:spPr>
          <a:xfrm>
            <a:off x="365760" y="2833116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E8449"/>
          </a:solidFill>
          <a:ln/>
        </p:spPr>
      </p:sp>
      <p:sp>
        <p:nvSpPr>
          <p:cNvPr id="73" name="Text 67"/>
          <p:cNvSpPr txBox="1"/>
          <p:nvPr/>
        </p:nvSpPr>
        <p:spPr>
          <a:xfrm>
            <a:off x="493776" y="2833116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Regulatorio y Gestión Avalúos</a:t>
            </a:r>
            <a:endParaRPr lang="en-US" sz="1100" dirty="0"/>
          </a:p>
        </p:txBody>
      </p:sp>
      <p:sp>
        <p:nvSpPr>
          <p:cNvPr id="74" name="Text 68"/>
          <p:cNvSpPr txBox="1"/>
          <p:nvPr/>
        </p:nvSpPr>
        <p:spPr>
          <a:xfrm>
            <a:off x="9174175" y="2833116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actividades</a:t>
            </a:r>
            <a:endParaRPr lang="en-US" sz="800" dirty="0"/>
          </a:p>
        </p:txBody>
      </p:sp>
      <p:sp>
        <p:nvSpPr>
          <p:cNvPr id="75" name="Shape 69"/>
          <p:cNvSpPr/>
          <p:nvPr/>
        </p:nvSpPr>
        <p:spPr>
          <a:xfrm>
            <a:off x="365760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76" name="Shape 70"/>
          <p:cNvSpPr/>
          <p:nvPr/>
        </p:nvSpPr>
        <p:spPr>
          <a:xfrm>
            <a:off x="365760" y="3080004"/>
            <a:ext cx="3734714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77" name="Shape 71"/>
          <p:cNvSpPr/>
          <p:nvPr/>
        </p:nvSpPr>
        <p:spPr>
          <a:xfrm>
            <a:off x="2132533" y="3130296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78" name="Image 4" descr="/tmp/claude-0/-home-user-riesgo/579fb8c8-70e5-51d5-80ec-6ed51cc2e8df/scratchpad/pptx-build/icons/users_1B4F9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2767" y="3170530"/>
            <a:ext cx="120701" cy="120701"/>
          </a:xfrm>
          <a:prstGeom prst="rect">
            <a:avLst/>
          </a:prstGeom>
        </p:spPr>
      </p:pic>
      <p:sp>
        <p:nvSpPr>
          <p:cNvPr id="79" name="Text 72"/>
          <p:cNvSpPr txBox="1"/>
          <p:nvPr/>
        </p:nvSpPr>
        <p:spPr>
          <a:xfrm>
            <a:off x="411480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</a:t>
            </a:r>
            <a:endParaRPr lang="en-US" sz="760" dirty="0"/>
          </a:p>
        </p:txBody>
      </p:sp>
      <p:sp>
        <p:nvSpPr>
          <p:cNvPr id="80" name="Shape 73"/>
          <p:cNvSpPr/>
          <p:nvPr/>
        </p:nvSpPr>
        <p:spPr>
          <a:xfrm>
            <a:off x="2114245" y="3482340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81" name="Shape 74"/>
          <p:cNvSpPr/>
          <p:nvPr/>
        </p:nvSpPr>
        <p:spPr>
          <a:xfrm>
            <a:off x="484632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2" name="Text 75"/>
          <p:cNvSpPr txBox="1"/>
          <p:nvPr/>
        </p:nvSpPr>
        <p:spPr>
          <a:xfrm>
            <a:off x="603504" y="350977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matriz de acuerdos Comité de Riesgos</a:t>
            </a:r>
            <a:endParaRPr lang="en-US" sz="670" dirty="0"/>
          </a:p>
        </p:txBody>
      </p:sp>
      <p:sp>
        <p:nvSpPr>
          <p:cNvPr id="83" name="Shape 76"/>
          <p:cNvSpPr/>
          <p:nvPr/>
        </p:nvSpPr>
        <p:spPr>
          <a:xfrm>
            <a:off x="484632" y="365744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4" name="Text 77"/>
          <p:cNvSpPr txBox="1"/>
          <p:nvPr/>
        </p:nvSpPr>
        <p:spPr>
          <a:xfrm>
            <a:off x="603504" y="3615385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mensual Comité de Riesgos</a:t>
            </a:r>
            <a:endParaRPr lang="en-US" sz="670" dirty="0"/>
          </a:p>
        </p:txBody>
      </p:sp>
      <p:sp>
        <p:nvSpPr>
          <p:cNvPr id="85" name="Shape 78"/>
          <p:cNvSpPr/>
          <p:nvPr/>
        </p:nvSpPr>
        <p:spPr>
          <a:xfrm>
            <a:off x="484632" y="37630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6" name="Text 79"/>
          <p:cNvSpPr txBox="1"/>
          <p:nvPr/>
        </p:nvSpPr>
        <p:spPr>
          <a:xfrm>
            <a:off x="603504" y="3720998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informe Mensual de sesión de Comité de Riesgos al Consejo de Administración</a:t>
            </a:r>
            <a:endParaRPr lang="en-US" sz="670" dirty="0"/>
          </a:p>
        </p:txBody>
      </p:sp>
      <p:sp>
        <p:nvSpPr>
          <p:cNvPr id="87" name="Shape 80"/>
          <p:cNvSpPr/>
          <p:nvPr/>
        </p:nvSpPr>
        <p:spPr>
          <a:xfrm>
            <a:off x="484632" y="3960571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8" name="Text 81"/>
          <p:cNvSpPr txBox="1"/>
          <p:nvPr/>
        </p:nvSpPr>
        <p:spPr>
          <a:xfrm>
            <a:off x="603504" y="3918509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informe riesgo legal para Comité de Riesgos</a:t>
            </a:r>
            <a:endParaRPr lang="en-US" sz="670" dirty="0"/>
          </a:p>
        </p:txBody>
      </p:sp>
      <p:sp>
        <p:nvSpPr>
          <p:cNvPr id="89" name="Shape 82"/>
          <p:cNvSpPr/>
          <p:nvPr/>
        </p:nvSpPr>
        <p:spPr>
          <a:xfrm>
            <a:off x="4228490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0" name="Shape 83"/>
          <p:cNvSpPr/>
          <p:nvPr/>
        </p:nvSpPr>
        <p:spPr>
          <a:xfrm>
            <a:off x="4228490" y="3080004"/>
            <a:ext cx="3734714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1" name="Shape 84"/>
          <p:cNvSpPr/>
          <p:nvPr/>
        </p:nvSpPr>
        <p:spPr>
          <a:xfrm>
            <a:off x="5995264" y="3130296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92" name="Image 5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497" y="3170530"/>
            <a:ext cx="120701" cy="120701"/>
          </a:xfrm>
          <a:prstGeom prst="rect">
            <a:avLst/>
          </a:prstGeom>
        </p:spPr>
      </p:pic>
      <p:sp>
        <p:nvSpPr>
          <p:cNvPr id="93" name="Text 85"/>
          <p:cNvSpPr txBox="1"/>
          <p:nvPr/>
        </p:nvSpPr>
        <p:spPr>
          <a:xfrm>
            <a:off x="4274210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760" dirty="0"/>
          </a:p>
        </p:txBody>
      </p:sp>
      <p:sp>
        <p:nvSpPr>
          <p:cNvPr id="94" name="Shape 86"/>
          <p:cNvSpPr/>
          <p:nvPr/>
        </p:nvSpPr>
        <p:spPr>
          <a:xfrm>
            <a:off x="5976976" y="3482340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5" name="Shape 87"/>
          <p:cNvSpPr/>
          <p:nvPr/>
        </p:nvSpPr>
        <p:spPr>
          <a:xfrm>
            <a:off x="4347362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96" name="Text 88"/>
          <p:cNvSpPr txBox="1"/>
          <p:nvPr/>
        </p:nvSpPr>
        <p:spPr>
          <a:xfrm>
            <a:off x="4466234" y="350977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nueva base de avalúos vencidos y por vencer</a:t>
            </a:r>
            <a:endParaRPr lang="en-US" sz="580" dirty="0"/>
          </a:p>
        </p:txBody>
      </p:sp>
      <p:sp>
        <p:nvSpPr>
          <p:cNvPr id="97" name="Shape 89"/>
          <p:cNvSpPr/>
          <p:nvPr/>
        </p:nvSpPr>
        <p:spPr>
          <a:xfrm>
            <a:off x="4347362" y="364510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98" name="Text 90"/>
          <p:cNvSpPr txBox="1"/>
          <p:nvPr/>
        </p:nvSpPr>
        <p:spPr>
          <a:xfrm>
            <a:off x="4466234" y="3603041"/>
            <a:ext cx="337809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devolución de avalúos asignados, depurar y reasignar (cambios Norma NCB-022)</a:t>
            </a:r>
            <a:endParaRPr lang="en-US" sz="580" dirty="0"/>
          </a:p>
        </p:txBody>
      </p:sp>
      <p:sp>
        <p:nvSpPr>
          <p:cNvPr id="99" name="Shape 91"/>
          <p:cNvSpPr/>
          <p:nvPr/>
        </p:nvSpPr>
        <p:spPr>
          <a:xfrm>
            <a:off x="4347362" y="381792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0" name="Text 92"/>
          <p:cNvSpPr txBox="1"/>
          <p:nvPr/>
        </p:nvSpPr>
        <p:spPr>
          <a:xfrm>
            <a:off x="4466234" y="377586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de avalúos</a:t>
            </a:r>
            <a:endParaRPr lang="en-US" sz="580" dirty="0"/>
          </a:p>
        </p:txBody>
      </p:sp>
      <p:sp>
        <p:nvSpPr>
          <p:cNvPr id="101" name="Shape 93"/>
          <p:cNvSpPr/>
          <p:nvPr/>
        </p:nvSpPr>
        <p:spPr>
          <a:xfrm>
            <a:off x="4347362" y="391119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02" name="Text 94"/>
          <p:cNvSpPr txBox="1"/>
          <p:nvPr/>
        </p:nvSpPr>
        <p:spPr>
          <a:xfrm>
            <a:off x="4466234" y="3869131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estado actual de base de avalúos para analista de Riesgos Financieros</a:t>
            </a:r>
            <a:endParaRPr lang="en-US" sz="580" dirty="0"/>
          </a:p>
        </p:txBody>
      </p:sp>
      <p:sp>
        <p:nvSpPr>
          <p:cNvPr id="103" name="Shape 95"/>
          <p:cNvSpPr/>
          <p:nvPr/>
        </p:nvSpPr>
        <p:spPr>
          <a:xfrm>
            <a:off x="4347362" y="4004462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4" name="Text 96"/>
          <p:cNvSpPr txBox="1"/>
          <p:nvPr/>
        </p:nvSpPr>
        <p:spPr>
          <a:xfrm>
            <a:off x="4466234" y="3962400"/>
            <a:ext cx="337809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con perito valuador GRIS, S.A. de C.V. – revisión de informe de avalúo (NRP-27)</a:t>
            </a:r>
            <a:endParaRPr lang="en-US" sz="580" dirty="0"/>
          </a:p>
        </p:txBody>
      </p:sp>
      <p:sp>
        <p:nvSpPr>
          <p:cNvPr id="105" name="Shape 97"/>
          <p:cNvSpPr/>
          <p:nvPr/>
        </p:nvSpPr>
        <p:spPr>
          <a:xfrm>
            <a:off x="4347362" y="417728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06" name="Text 98"/>
          <p:cNvSpPr txBox="1"/>
          <p:nvPr/>
        </p:nvSpPr>
        <p:spPr>
          <a:xfrm>
            <a:off x="4466234" y="413522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informes de avalúos digitales recibidos por peritos</a:t>
            </a:r>
            <a:endParaRPr lang="en-US" sz="580" dirty="0"/>
          </a:p>
        </p:txBody>
      </p:sp>
      <p:sp>
        <p:nvSpPr>
          <p:cNvPr id="107" name="Shape 99"/>
          <p:cNvSpPr/>
          <p:nvPr/>
        </p:nvSpPr>
        <p:spPr>
          <a:xfrm>
            <a:off x="8091221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08" name="Shape 100"/>
          <p:cNvSpPr/>
          <p:nvPr/>
        </p:nvSpPr>
        <p:spPr>
          <a:xfrm>
            <a:off x="8091221" y="3080004"/>
            <a:ext cx="3734714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09" name="Shape 101"/>
          <p:cNvSpPr/>
          <p:nvPr/>
        </p:nvSpPr>
        <p:spPr>
          <a:xfrm>
            <a:off x="9857994" y="3130296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10" name="Image 6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8228" y="3170530"/>
            <a:ext cx="120701" cy="120701"/>
          </a:xfrm>
          <a:prstGeom prst="rect">
            <a:avLst/>
          </a:prstGeom>
        </p:spPr>
      </p:pic>
      <p:sp>
        <p:nvSpPr>
          <p:cNvPr id="111" name="Text 102"/>
          <p:cNvSpPr txBox="1"/>
          <p:nvPr/>
        </p:nvSpPr>
        <p:spPr>
          <a:xfrm>
            <a:off x="8136941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Regulatoria</a:t>
            </a:r>
            <a:endParaRPr lang="en-US" sz="760" dirty="0"/>
          </a:p>
        </p:txBody>
      </p:sp>
      <p:sp>
        <p:nvSpPr>
          <p:cNvPr id="112" name="Shape 103"/>
          <p:cNvSpPr/>
          <p:nvPr/>
        </p:nvSpPr>
        <p:spPr>
          <a:xfrm>
            <a:off x="9839706" y="3482340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3" name="Shape 104"/>
          <p:cNvSpPr/>
          <p:nvPr/>
        </p:nvSpPr>
        <p:spPr>
          <a:xfrm>
            <a:off x="8210093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4" name="Text 105"/>
          <p:cNvSpPr txBox="1"/>
          <p:nvPr/>
        </p:nvSpPr>
        <p:spPr>
          <a:xfrm>
            <a:off x="8328965" y="350977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 requerimientos vía correo electrónico SSF</a:t>
            </a:r>
            <a:endParaRPr lang="en-US" sz="670" dirty="0"/>
          </a:p>
        </p:txBody>
      </p:sp>
      <p:sp>
        <p:nvSpPr>
          <p:cNvPr id="115" name="Shape 106"/>
          <p:cNvSpPr/>
          <p:nvPr/>
        </p:nvSpPr>
        <p:spPr>
          <a:xfrm>
            <a:off x="8210093" y="365744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6" name="Text 107"/>
          <p:cNvSpPr txBox="1"/>
          <p:nvPr/>
        </p:nvSpPr>
        <p:spPr>
          <a:xfrm>
            <a:off x="8328965" y="3615385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notas SABAO-DR-10417 (visita de supervisión SI/CS) – matriz de resultados del informe preliminar</a:t>
            </a:r>
            <a:endParaRPr lang="en-US" sz="670" dirty="0"/>
          </a:p>
        </p:txBody>
      </p:sp>
      <p:sp>
        <p:nvSpPr>
          <p:cNvPr id="117" name="Shape 108"/>
          <p:cNvSpPr/>
          <p:nvPr/>
        </p:nvSpPr>
        <p:spPr>
          <a:xfrm>
            <a:off x="365760" y="4345305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118" name="Text 109"/>
          <p:cNvSpPr txBox="1"/>
          <p:nvPr/>
        </p:nvSpPr>
        <p:spPr>
          <a:xfrm>
            <a:off x="493776" y="4345305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Financieros</a:t>
            </a:r>
            <a:endParaRPr lang="en-US" sz="1100" dirty="0"/>
          </a:p>
        </p:txBody>
      </p:sp>
      <p:sp>
        <p:nvSpPr>
          <p:cNvPr id="119" name="Text 110"/>
          <p:cNvSpPr txBox="1"/>
          <p:nvPr/>
        </p:nvSpPr>
        <p:spPr>
          <a:xfrm>
            <a:off x="9174175" y="4345305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actividades</a:t>
            </a:r>
            <a:endParaRPr lang="en-US" sz="800" dirty="0"/>
          </a:p>
        </p:txBody>
      </p:sp>
      <p:sp>
        <p:nvSpPr>
          <p:cNvPr id="120" name="Shape 111"/>
          <p:cNvSpPr/>
          <p:nvPr/>
        </p:nvSpPr>
        <p:spPr>
          <a:xfrm>
            <a:off x="365760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1" name="Shape 112"/>
          <p:cNvSpPr/>
          <p:nvPr/>
        </p:nvSpPr>
        <p:spPr>
          <a:xfrm>
            <a:off x="365760" y="4592193"/>
            <a:ext cx="218962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2" name="Shape 113"/>
          <p:cNvSpPr/>
          <p:nvPr/>
        </p:nvSpPr>
        <p:spPr>
          <a:xfrm>
            <a:off x="1359987" y="4642485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23" name="Image 7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0221" y="4682719"/>
            <a:ext cx="120701" cy="120701"/>
          </a:xfrm>
          <a:prstGeom prst="rect">
            <a:avLst/>
          </a:prstGeom>
        </p:spPr>
      </p:pic>
      <p:sp>
        <p:nvSpPr>
          <p:cNvPr id="124" name="Text 114"/>
          <p:cNvSpPr txBox="1"/>
          <p:nvPr/>
        </p:nvSpPr>
        <p:spPr>
          <a:xfrm>
            <a:off x="411480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760" dirty="0"/>
          </a:p>
        </p:txBody>
      </p:sp>
      <p:sp>
        <p:nvSpPr>
          <p:cNvPr id="125" name="Shape 115"/>
          <p:cNvSpPr/>
          <p:nvPr/>
        </p:nvSpPr>
        <p:spPr>
          <a:xfrm>
            <a:off x="1341699" y="4994529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6" name="Shape 116"/>
          <p:cNvSpPr/>
          <p:nvPr/>
        </p:nvSpPr>
        <p:spPr>
          <a:xfrm>
            <a:off x="484632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27" name="Text 117"/>
          <p:cNvSpPr txBox="1"/>
          <p:nvPr/>
        </p:nvSpPr>
        <p:spPr>
          <a:xfrm>
            <a:off x="603504" y="5021961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crediticio: pérdidas esperadas, matrices de transición, cosechas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60" dirty="0"/>
          </a:p>
        </p:txBody>
      </p:sp>
      <p:sp>
        <p:nvSpPr>
          <p:cNvPr id="128" name="Shape 118"/>
          <p:cNvSpPr/>
          <p:nvPr/>
        </p:nvSpPr>
        <p:spPr>
          <a:xfrm>
            <a:off x="2683398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9" name="Shape 119"/>
          <p:cNvSpPr/>
          <p:nvPr/>
        </p:nvSpPr>
        <p:spPr>
          <a:xfrm>
            <a:off x="2683398" y="4592193"/>
            <a:ext cx="218962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0" name="Shape 120"/>
          <p:cNvSpPr/>
          <p:nvPr/>
        </p:nvSpPr>
        <p:spPr>
          <a:xfrm>
            <a:off x="3677625" y="4642485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31" name="Image 8" descr="/tmp/claude-0/-home-user-riesgo/579fb8c8-70e5-51d5-80ec-6ed51cc2e8df/scratchpad/pptx-build/icons/trendingup_1D63A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7859" y="4682719"/>
            <a:ext cx="120701" cy="120701"/>
          </a:xfrm>
          <a:prstGeom prst="rect">
            <a:avLst/>
          </a:prstGeom>
        </p:spPr>
      </p:pic>
      <p:sp>
        <p:nvSpPr>
          <p:cNvPr id="132" name="Text 121"/>
          <p:cNvSpPr txBox="1"/>
          <p:nvPr/>
        </p:nvSpPr>
        <p:spPr>
          <a:xfrm>
            <a:off x="2729118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 y Mercado</a:t>
            </a:r>
            <a:endParaRPr lang="en-US" sz="760" dirty="0"/>
          </a:p>
        </p:txBody>
      </p:sp>
      <p:sp>
        <p:nvSpPr>
          <p:cNvPr id="133" name="Shape 122"/>
          <p:cNvSpPr/>
          <p:nvPr/>
        </p:nvSpPr>
        <p:spPr>
          <a:xfrm>
            <a:off x="3659337" y="4994529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4" name="Shape 123"/>
          <p:cNvSpPr/>
          <p:nvPr/>
        </p:nvSpPr>
        <p:spPr>
          <a:xfrm>
            <a:off x="2802270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5" name="Text 124"/>
          <p:cNvSpPr txBox="1"/>
          <p:nvPr/>
        </p:nvSpPr>
        <p:spPr>
          <a:xfrm>
            <a:off x="2921142" y="5021961"/>
            <a:ext cx="1833006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de mercado y liquidez: volatilidad de captaciones y tasas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40" dirty="0"/>
          </a:p>
        </p:txBody>
      </p:sp>
      <p:sp>
        <p:nvSpPr>
          <p:cNvPr id="136" name="Shape 125"/>
          <p:cNvSpPr/>
          <p:nvPr/>
        </p:nvSpPr>
        <p:spPr>
          <a:xfrm>
            <a:off x="2802270" y="534108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7" name="Text 126"/>
          <p:cNvSpPr txBox="1"/>
          <p:nvPr/>
        </p:nvSpPr>
        <p:spPr>
          <a:xfrm>
            <a:off x="2921142" y="5299024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Anexo 03 de la normativa NRP-05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" dirty="0"/>
          </a:p>
        </p:txBody>
      </p:sp>
      <p:sp>
        <p:nvSpPr>
          <p:cNvPr id="138" name="Shape 127"/>
          <p:cNvSpPr/>
          <p:nvPr/>
        </p:nvSpPr>
        <p:spPr>
          <a:xfrm>
            <a:off x="2802270" y="553036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9" name="Text 128"/>
          <p:cNvSpPr txBox="1"/>
          <p:nvPr/>
        </p:nvSpPr>
        <p:spPr>
          <a:xfrm>
            <a:off x="2921142" y="5488305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escenarios regulatorios del riesgo de liquidez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" dirty="0"/>
          </a:p>
        </p:txBody>
      </p:sp>
      <p:sp>
        <p:nvSpPr>
          <p:cNvPr id="140" name="Shape 129"/>
          <p:cNvSpPr/>
          <p:nvPr/>
        </p:nvSpPr>
        <p:spPr>
          <a:xfrm>
            <a:off x="5001036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41" name="Shape 130"/>
          <p:cNvSpPr/>
          <p:nvPr/>
        </p:nvSpPr>
        <p:spPr>
          <a:xfrm>
            <a:off x="5001036" y="4592193"/>
            <a:ext cx="2189622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2" name="Shape 131"/>
          <p:cNvSpPr/>
          <p:nvPr/>
        </p:nvSpPr>
        <p:spPr>
          <a:xfrm>
            <a:off x="5995264" y="4642485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43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497" y="4682719"/>
            <a:ext cx="120701" cy="120701"/>
          </a:xfrm>
          <a:prstGeom prst="rect">
            <a:avLst/>
          </a:prstGeom>
        </p:spPr>
      </p:pic>
      <p:sp>
        <p:nvSpPr>
          <p:cNvPr id="144" name="Text 132"/>
          <p:cNvSpPr txBox="1"/>
          <p:nvPr/>
        </p:nvSpPr>
        <p:spPr>
          <a:xfrm>
            <a:off x="5046756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</a:t>
            </a:r>
            <a:endParaRPr lang="en-US" sz="760" dirty="0"/>
          </a:p>
        </p:txBody>
      </p:sp>
      <p:sp>
        <p:nvSpPr>
          <p:cNvPr id="145" name="Shape 133"/>
          <p:cNvSpPr/>
          <p:nvPr/>
        </p:nvSpPr>
        <p:spPr>
          <a:xfrm>
            <a:off x="5976976" y="4994529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6" name="Shape 134"/>
          <p:cNvSpPr/>
          <p:nvPr/>
        </p:nvSpPr>
        <p:spPr>
          <a:xfrm>
            <a:off x="5119908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7" name="Text 135"/>
          <p:cNvSpPr txBox="1"/>
          <p:nvPr/>
        </p:nvSpPr>
        <p:spPr>
          <a:xfrm>
            <a:off x="5238780" y="502196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de la normativa NCB-022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48" name="Shape 136"/>
          <p:cNvSpPr/>
          <p:nvPr/>
        </p:nvSpPr>
        <p:spPr>
          <a:xfrm>
            <a:off x="5119908" y="523958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9" name="Text 137"/>
          <p:cNvSpPr txBox="1"/>
          <p:nvPr/>
        </p:nvSpPr>
        <p:spPr>
          <a:xfrm>
            <a:off x="5238780" y="5197526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0" name="Shape 138"/>
          <p:cNvSpPr/>
          <p:nvPr/>
        </p:nvSpPr>
        <p:spPr>
          <a:xfrm>
            <a:off x="5119908" y="541515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1" name="Text 139"/>
          <p:cNvSpPr txBox="1"/>
          <p:nvPr/>
        </p:nvSpPr>
        <p:spPr>
          <a:xfrm>
            <a:off x="5238780" y="537309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archivo CTRI-RECR (recuperaciones de activos de riesgo)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2" name="Shape 140"/>
          <p:cNvSpPr/>
          <p:nvPr/>
        </p:nvSpPr>
        <p:spPr>
          <a:xfrm>
            <a:off x="5119908" y="559071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3" name="Text 141"/>
          <p:cNvSpPr txBox="1"/>
          <p:nvPr/>
        </p:nvSpPr>
        <p:spPr>
          <a:xfrm>
            <a:off x="5238780" y="5548655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detalle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4" name="Shape 142"/>
          <p:cNvSpPr/>
          <p:nvPr/>
        </p:nvSpPr>
        <p:spPr>
          <a:xfrm>
            <a:off x="5119908" y="576628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5" name="Text 143"/>
          <p:cNvSpPr txBox="1"/>
          <p:nvPr/>
        </p:nvSpPr>
        <p:spPr>
          <a:xfrm>
            <a:off x="5238780" y="5724220"/>
            <a:ext cx="1833006" cy="2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Revisión, cuadratura y envío a Contabilidad de cartera de tarjeta de crédito y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6" name="Shape 144"/>
          <p:cNvSpPr/>
          <p:nvPr/>
        </p:nvSpPr>
        <p:spPr>
          <a:xfrm>
            <a:off x="5119908" y="6022772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7" name="Text 145"/>
          <p:cNvSpPr txBox="1"/>
          <p:nvPr/>
        </p:nvSpPr>
        <p:spPr>
          <a:xfrm>
            <a:off x="5238780" y="5980709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activos de riesgo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8" name="Shape 146"/>
          <p:cNvSpPr/>
          <p:nvPr/>
        </p:nvSpPr>
        <p:spPr>
          <a:xfrm>
            <a:off x="5119908" y="619833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9" name="Text 147"/>
          <p:cNvSpPr txBox="1"/>
          <p:nvPr/>
        </p:nvSpPr>
        <p:spPr>
          <a:xfrm>
            <a:off x="5238780" y="6156274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60" name="Shape 148"/>
          <p:cNvSpPr/>
          <p:nvPr/>
        </p:nvSpPr>
        <p:spPr>
          <a:xfrm>
            <a:off x="7318675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61" name="Shape 149"/>
          <p:cNvSpPr/>
          <p:nvPr/>
        </p:nvSpPr>
        <p:spPr>
          <a:xfrm>
            <a:off x="7318675" y="4592193"/>
            <a:ext cx="218962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2" name="Shape 150"/>
          <p:cNvSpPr/>
          <p:nvPr/>
        </p:nvSpPr>
        <p:spPr>
          <a:xfrm>
            <a:off x="8312902" y="4642485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163" name="Image 10" descr="/tmp/claude-0/-home-user-riesgo/579fb8c8-70e5-51d5-80ec-6ed51cc2e8df/scratchpad/pptx-build/icons/layers_A6650F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3135" y="4682719"/>
            <a:ext cx="120701" cy="120701"/>
          </a:xfrm>
          <a:prstGeom prst="rect">
            <a:avLst/>
          </a:prstGeom>
        </p:spPr>
      </p:pic>
      <p:sp>
        <p:nvSpPr>
          <p:cNvPr id="164" name="Text 151"/>
          <p:cNvSpPr txBox="1"/>
          <p:nvPr/>
        </p:nvSpPr>
        <p:spPr>
          <a:xfrm>
            <a:off x="7364395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760" dirty="0"/>
          </a:p>
        </p:txBody>
      </p:sp>
      <p:sp>
        <p:nvSpPr>
          <p:cNvPr id="165" name="Shape 152"/>
          <p:cNvSpPr/>
          <p:nvPr/>
        </p:nvSpPr>
        <p:spPr>
          <a:xfrm>
            <a:off x="8294614" y="4994529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6" name="Shape 153"/>
          <p:cNvSpPr/>
          <p:nvPr/>
        </p:nvSpPr>
        <p:spPr>
          <a:xfrm>
            <a:off x="7437547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67" name="Text 154"/>
          <p:cNvSpPr txBox="1"/>
          <p:nvPr/>
        </p:nvSpPr>
        <p:spPr>
          <a:xfrm>
            <a:off x="7556419" y="5021961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segmentación de los productos de COMÉDICA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68" name="Shape 155"/>
          <p:cNvSpPr/>
          <p:nvPr/>
        </p:nvSpPr>
        <p:spPr>
          <a:xfrm>
            <a:off x="7437547" y="5256047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9" name="Text 156"/>
          <p:cNvSpPr txBox="1"/>
          <p:nvPr/>
        </p:nvSpPr>
        <p:spPr>
          <a:xfrm>
            <a:off x="7556419" y="5213985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50" dirty="0"/>
          </a:p>
        </p:txBody>
      </p:sp>
      <p:sp>
        <p:nvSpPr>
          <p:cNvPr id="170" name="Shape 157"/>
          <p:cNvSpPr/>
          <p:nvPr/>
        </p:nvSpPr>
        <p:spPr>
          <a:xfrm>
            <a:off x="7437547" y="544807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71" name="Text 158"/>
          <p:cNvSpPr txBox="1"/>
          <p:nvPr/>
        </p:nvSpPr>
        <p:spPr>
          <a:xfrm>
            <a:off x="7556419" y="5406009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mensual de los incrementos en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2" name="Shape 159"/>
          <p:cNvSpPr/>
          <p:nvPr/>
        </p:nvSpPr>
        <p:spPr>
          <a:xfrm>
            <a:off x="7437547" y="564009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3" name="Text 160"/>
          <p:cNvSpPr txBox="1"/>
          <p:nvPr/>
        </p:nvSpPr>
        <p:spPr>
          <a:xfrm>
            <a:off x="7556419" y="5598033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la Central de Riesgos de los aspirantes a empleados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4" name="Shape 161"/>
          <p:cNvSpPr/>
          <p:nvPr/>
        </p:nvSpPr>
        <p:spPr>
          <a:xfrm>
            <a:off x="7437547" y="583211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5" name="Text 162"/>
          <p:cNvSpPr txBox="1"/>
          <p:nvPr/>
        </p:nvSpPr>
        <p:spPr>
          <a:xfrm>
            <a:off x="7556419" y="5790057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6" name="Shape 163"/>
          <p:cNvSpPr/>
          <p:nvPr/>
        </p:nvSpPr>
        <p:spPr>
          <a:xfrm>
            <a:off x="9636313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77" name="Shape 164"/>
          <p:cNvSpPr/>
          <p:nvPr/>
        </p:nvSpPr>
        <p:spPr>
          <a:xfrm>
            <a:off x="9636313" y="4592193"/>
            <a:ext cx="218962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8" name="Shape 165"/>
          <p:cNvSpPr/>
          <p:nvPr/>
        </p:nvSpPr>
        <p:spPr>
          <a:xfrm>
            <a:off x="10630540" y="4642485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79" name="Image 11" descr="/tmp/claude-0/-home-user-riesgo/579fb8c8-70e5-51d5-80ec-6ed51cc2e8df/scratchpad/pptx-build/icons/target_0F766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0774" y="4682719"/>
            <a:ext cx="120701" cy="120701"/>
          </a:xfrm>
          <a:prstGeom prst="rect">
            <a:avLst/>
          </a:prstGeom>
        </p:spPr>
      </p:pic>
      <p:sp>
        <p:nvSpPr>
          <p:cNvPr id="180" name="Text 166"/>
          <p:cNvSpPr txBox="1"/>
          <p:nvPr/>
        </p:nvSpPr>
        <p:spPr>
          <a:xfrm>
            <a:off x="9682033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Largo Plazo</a:t>
            </a:r>
            <a:endParaRPr lang="en-US" sz="760" dirty="0"/>
          </a:p>
        </p:txBody>
      </p:sp>
      <p:sp>
        <p:nvSpPr>
          <p:cNvPr id="181" name="Shape 167"/>
          <p:cNvSpPr/>
          <p:nvPr/>
        </p:nvSpPr>
        <p:spPr>
          <a:xfrm>
            <a:off x="10612252" y="4994529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2" name="Shape 168"/>
          <p:cNvSpPr/>
          <p:nvPr/>
        </p:nvSpPr>
        <p:spPr>
          <a:xfrm>
            <a:off x="9755185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3" name="Text 169"/>
          <p:cNvSpPr txBox="1"/>
          <p:nvPr/>
        </p:nvSpPr>
        <p:spPr>
          <a:xfrm>
            <a:off x="9874057" y="5021961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del sistema de créditos para cumplir reformas de la normativa NRP-41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60" dirty="0"/>
          </a:p>
        </p:txBody>
      </p:sp>
      <p:sp>
        <p:nvSpPr>
          <p:cNvPr id="184" name="Shape 170"/>
          <p:cNvSpPr/>
          <p:nvPr/>
        </p:nvSpPr>
        <p:spPr>
          <a:xfrm>
            <a:off x="9755185" y="5349316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5" name="Text 171"/>
          <p:cNvSpPr txBox="1"/>
          <p:nvPr/>
        </p:nvSpPr>
        <p:spPr>
          <a:xfrm>
            <a:off x="9874057" y="5307254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expedientes de tarjetahabientes de alto riesgo, a solicitud del Consejo de Admón.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DE R.L.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Actividades · Resumen Ejecutivo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DE R.L.  ·  Resumen de Actividades por Riesgo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170432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B4F9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" y="1170432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 (RO)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74175" y="117043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actividades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65760" y="1472184"/>
            <a:ext cx="56660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1472184"/>
            <a:ext cx="5666080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20" name="Shape 18"/>
          <p:cNvSpPr/>
          <p:nvPr/>
        </p:nvSpPr>
        <p:spPr>
          <a:xfrm>
            <a:off x="3098216" y="1522476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21" name="Image 0" descr="/tmp/claude-0/-home-user-riesgo/579fb8c8-70e5-51d5-80ec-6ed51cc2e8df/scratchpad/pptx-build/icons/settings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449" y="1562710"/>
            <a:ext cx="120701" cy="120701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11480" y="1755648"/>
            <a:ext cx="557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Proyectos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3079928" y="1874520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24" name="Shape 21"/>
          <p:cNvSpPr/>
          <p:nvPr/>
        </p:nvSpPr>
        <p:spPr>
          <a:xfrm>
            <a:off x="484632" y="1944014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3504" y="1901952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Procesador TC: encuestas, matriz de riesgo operacional y requerimiento de información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4632" y="2067458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03504" y="2025396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Documental: evaluación de peritaje TC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84632" y="2190902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03504" y="2148840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revisión de formulario de informe y reunión de créditos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159856" y="1472184"/>
            <a:ext cx="56660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159856" y="1472184"/>
            <a:ext cx="5666080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2" name="Shape 29"/>
          <p:cNvSpPr/>
          <p:nvPr/>
        </p:nvSpPr>
        <p:spPr>
          <a:xfrm>
            <a:off x="8892311" y="1522476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33" name="Image 1" descr="/tmp/claude-0/-home-user-riesgo/579fb8c8-70e5-51d5-80ec-6ed51cc2e8df/scratchpad/pptx-build/icons/briefcase_1B4F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2545" y="1562710"/>
            <a:ext cx="120701" cy="12070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205576" y="1755648"/>
            <a:ext cx="557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y Seguimiento</a:t>
            </a:r>
            <a:endParaRPr lang="en-US" sz="760" dirty="0"/>
          </a:p>
        </p:txBody>
      </p:sp>
      <p:sp>
        <p:nvSpPr>
          <p:cNvPr id="35" name="Shape 31"/>
          <p:cNvSpPr/>
          <p:nvPr/>
        </p:nvSpPr>
        <p:spPr>
          <a:xfrm>
            <a:off x="8874023" y="1874520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6" name="Shape 32"/>
          <p:cNvSpPr/>
          <p:nvPr/>
        </p:nvSpPr>
        <p:spPr>
          <a:xfrm>
            <a:off x="6278728" y="1944014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397600" y="1901952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SSF: Gobierno Corporativo – Plan de Recuperación (reunión de cierre)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6278728" y="2067458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397600" y="2025396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al Plan de acción de observaciones de sistemas</a:t>
            </a:r>
            <a:endParaRPr lang="en-US" sz="800" dirty="0"/>
          </a:p>
        </p:txBody>
      </p:sp>
      <p:sp>
        <p:nvSpPr>
          <p:cNvPr id="40" name="Shape 36"/>
          <p:cNvSpPr/>
          <p:nvPr/>
        </p:nvSpPr>
        <p:spPr>
          <a:xfrm>
            <a:off x="6278728" y="2190902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6397600" y="2148840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al proyecto Fábrica de Créditos</a:t>
            </a:r>
            <a:endParaRPr lang="en-US" sz="800" dirty="0"/>
          </a:p>
        </p:txBody>
      </p:sp>
      <p:sp>
        <p:nvSpPr>
          <p:cNvPr id="42" name="Shape 38"/>
          <p:cNvSpPr/>
          <p:nvPr/>
        </p:nvSpPr>
        <p:spPr>
          <a:xfrm>
            <a:off x="365760" y="2606040"/>
            <a:ext cx="5666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365760" y="2606040"/>
            <a:ext cx="5666080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4" name="Shape 40"/>
          <p:cNvSpPr/>
          <p:nvPr/>
        </p:nvSpPr>
        <p:spPr>
          <a:xfrm>
            <a:off x="3098216" y="2656332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45" name="Image 2" descr="/tmp/claude-0/-home-user-riesgo/579fb8c8-70e5-51d5-80ec-6ed51cc2e8df/scratchpad/pptx-build/icons/creditcard_0F766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449" y="2696566"/>
            <a:ext cx="120701" cy="120701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411480" y="2889504"/>
            <a:ext cx="557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  ·  RIESGO FINANCIERO (RC)</a:t>
            </a:r>
            <a:endParaRPr lang="en-US" sz="760" dirty="0"/>
          </a:p>
        </p:txBody>
      </p:sp>
      <p:sp>
        <p:nvSpPr>
          <p:cNvPr id="47" name="Shape 42"/>
          <p:cNvSpPr/>
          <p:nvPr/>
        </p:nvSpPr>
        <p:spPr>
          <a:xfrm>
            <a:off x="3079928" y="3008376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8" name="Shape 43"/>
          <p:cNvSpPr/>
          <p:nvPr/>
        </p:nvSpPr>
        <p:spPr>
          <a:xfrm>
            <a:off x="484632" y="3077870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03504" y="3035808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créditos castigados (Gerencia de Operaciones / Soluciones Financieras)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484632" y="3201314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03504" y="3159252"/>
            <a:ext cx="5309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Cartera de Tarjeta de Crédito (Acuerdo CA)  </a:t>
            </a:r>
            <a:pPr algn="l" indent="0" marL="0">
              <a:lnSpc>
                <a:spcPct val="98000"/>
              </a:lnSpc>
              <a:buNone/>
            </a:pPr>
            <a:r>
              <a:rPr lang="en-US" sz="8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365760" y="3557016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E8449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93776" y="3557016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Regulatorio y Gestión Avalúos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174175" y="3557016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ACCIÓN · SABAO-DR-10417</a:t>
            </a:r>
            <a:endParaRPr lang="en-US" sz="800" dirty="0"/>
          </a:p>
        </p:txBody>
      </p:sp>
      <p:sp>
        <p:nvSpPr>
          <p:cNvPr id="55" name="Shape 50"/>
          <p:cNvSpPr/>
          <p:nvPr/>
        </p:nvSpPr>
        <p:spPr>
          <a:xfrm>
            <a:off x="365760" y="3840480"/>
            <a:ext cx="11460175" cy="2633472"/>
          </a:xfrm>
          <a:prstGeom prst="roundRect">
            <a:avLst>
              <a:gd name="adj" fmla="val 24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56" name="Shape 51"/>
          <p:cNvSpPr/>
          <p:nvPr/>
        </p:nvSpPr>
        <p:spPr>
          <a:xfrm>
            <a:off x="365760" y="3840480"/>
            <a:ext cx="11460175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530352" y="3941064"/>
            <a:ext cx="111309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Seguimiento: Visita focalizada</a:t>
            </a:r>
            <a:endParaRPr lang="en-US" sz="1100" dirty="0"/>
          </a:p>
        </p:txBody>
      </p:sp>
      <p:sp>
        <p:nvSpPr>
          <p:cNvPr id="58" name="Text 53"/>
          <p:cNvSpPr txBox="1"/>
          <p:nvPr/>
        </p:nvSpPr>
        <p:spPr>
          <a:xfrm>
            <a:off x="530352" y="4123944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seguridad de la información y ciberseguridad en la plataforma tecnológica · SABAO-DR-10417</a:t>
            </a:r>
            <a:endParaRPr lang="en-US" sz="800" dirty="0"/>
          </a:p>
        </p:txBody>
      </p:sp>
      <p:sp>
        <p:nvSpPr>
          <p:cNvPr id="59" name="Shape 54"/>
          <p:cNvSpPr/>
          <p:nvPr/>
        </p:nvSpPr>
        <p:spPr>
          <a:xfrm>
            <a:off x="530352" y="4379976"/>
            <a:ext cx="2700452" cy="512064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9525">
            <a:solidFill>
              <a:srgbClr val="E7EAF0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21792" y="4416552"/>
            <a:ext cx="25175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</a:t>
            </a:r>
            <a:endParaRPr lang="en-US" sz="700" dirty="0"/>
          </a:p>
        </p:txBody>
      </p:sp>
      <p:sp>
        <p:nvSpPr>
          <p:cNvPr id="61" name="Text 56"/>
          <p:cNvSpPr txBox="1"/>
          <p:nvPr/>
        </p:nvSpPr>
        <p:spPr>
          <a:xfrm>
            <a:off x="621792" y="4553712"/>
            <a:ext cx="25175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26/04/2024</a:t>
            </a:r>
            <a:endParaRPr lang="en-US" sz="1500" dirty="0"/>
          </a:p>
        </p:txBody>
      </p:sp>
      <p:sp>
        <p:nvSpPr>
          <p:cNvPr id="62" name="Shape 57"/>
          <p:cNvSpPr/>
          <p:nvPr/>
        </p:nvSpPr>
        <p:spPr>
          <a:xfrm>
            <a:off x="3340532" y="4379976"/>
            <a:ext cx="2700452" cy="512064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9525">
            <a:solidFill>
              <a:srgbClr val="E7EAF0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3431972" y="4416552"/>
            <a:ext cx="25175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Y FIRMA DE ACTA</a:t>
            </a:r>
            <a:endParaRPr lang="en-US" sz="700" dirty="0"/>
          </a:p>
        </p:txBody>
      </p:sp>
      <p:sp>
        <p:nvSpPr>
          <p:cNvPr id="64" name="Text 59"/>
          <p:cNvSpPr txBox="1"/>
          <p:nvPr/>
        </p:nvSpPr>
        <p:spPr>
          <a:xfrm>
            <a:off x="3431972" y="4553712"/>
            <a:ext cx="25175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27/02/2025</a:t>
            </a:r>
            <a:endParaRPr lang="en-US" sz="1500" dirty="0"/>
          </a:p>
        </p:txBody>
      </p:sp>
      <p:sp>
        <p:nvSpPr>
          <p:cNvPr id="65" name="Shape 60"/>
          <p:cNvSpPr/>
          <p:nvPr/>
        </p:nvSpPr>
        <p:spPr>
          <a:xfrm>
            <a:off x="6150712" y="4379976"/>
            <a:ext cx="2700452" cy="512064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9525">
            <a:solidFill>
              <a:srgbClr val="E7EAF0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6242152" y="4416552"/>
            <a:ext cx="25175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REQUERIMIENTOS</a:t>
            </a:r>
            <a:endParaRPr lang="en-US" sz="700" dirty="0"/>
          </a:p>
        </p:txBody>
      </p:sp>
      <p:sp>
        <p:nvSpPr>
          <p:cNvPr id="67" name="Text 62"/>
          <p:cNvSpPr txBox="1"/>
          <p:nvPr/>
        </p:nvSpPr>
        <p:spPr>
          <a:xfrm>
            <a:off x="6242152" y="4553712"/>
            <a:ext cx="25175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puntos</a:t>
            </a:r>
            <a:endParaRPr lang="en-US" sz="1500" dirty="0"/>
          </a:p>
        </p:txBody>
      </p:sp>
      <p:sp>
        <p:nvSpPr>
          <p:cNvPr id="68" name="Shape 63"/>
          <p:cNvSpPr/>
          <p:nvPr/>
        </p:nvSpPr>
        <p:spPr>
          <a:xfrm>
            <a:off x="8960891" y="4379976"/>
            <a:ext cx="2700452" cy="512064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9525">
            <a:solidFill>
              <a:srgbClr val="E7EAF0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9052331" y="4416552"/>
            <a:ext cx="25175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REGISTRADAS</a:t>
            </a:r>
            <a:endParaRPr lang="en-US" sz="700" dirty="0"/>
          </a:p>
        </p:txBody>
      </p:sp>
      <p:sp>
        <p:nvSpPr>
          <p:cNvPr id="70" name="Text 65"/>
          <p:cNvSpPr txBox="1"/>
          <p:nvPr/>
        </p:nvSpPr>
        <p:spPr>
          <a:xfrm>
            <a:off x="9052331" y="4553712"/>
            <a:ext cx="25175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obs.</a:t>
            </a:r>
            <a:endParaRPr lang="en-US" sz="1500" dirty="0"/>
          </a:p>
        </p:txBody>
      </p:sp>
      <p:sp>
        <p:nvSpPr>
          <p:cNvPr id="71" name="Text 66"/>
          <p:cNvSpPr txBox="1"/>
          <p:nvPr/>
        </p:nvSpPr>
        <p:spPr>
          <a:xfrm>
            <a:off x="530352" y="49926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preliminar </a:t>
            </a:r>
            <a:pPr algn="l" indent="0" marL="0">
              <a:buNone/>
            </a:pPr>
            <a:r>
              <a:rPr lang="en-US" sz="9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DS-DR-9005</a:t>
            </a:r>
            <a:endParaRPr lang="en-US" sz="950" dirty="0"/>
          </a:p>
        </p:txBody>
      </p:sp>
      <p:sp>
        <p:nvSpPr>
          <p:cNvPr id="72" name="Shape 67"/>
          <p:cNvSpPr/>
          <p:nvPr/>
        </p:nvSpPr>
        <p:spPr>
          <a:xfrm>
            <a:off x="2953512" y="4992624"/>
            <a:ext cx="1645920" cy="182880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2953512" y="499262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Respondido · Descargo</a:t>
            </a:r>
            <a:endParaRPr lang="en-US" sz="850" dirty="0"/>
          </a:p>
        </p:txBody>
      </p:sp>
      <p:sp>
        <p:nvSpPr>
          <p:cNvPr id="74" name="Shape 69"/>
          <p:cNvSpPr/>
          <p:nvPr/>
        </p:nvSpPr>
        <p:spPr>
          <a:xfrm>
            <a:off x="4690872" y="4992624"/>
            <a:ext cx="1645920" cy="18288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4690872" y="499262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65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final: Pendiente</a:t>
            </a:r>
            <a:endParaRPr lang="en-US" sz="850" dirty="0"/>
          </a:p>
        </p:txBody>
      </p:sp>
      <p:sp>
        <p:nvSpPr>
          <p:cNvPr id="76" name="Shape 71"/>
          <p:cNvSpPr/>
          <p:nvPr/>
        </p:nvSpPr>
        <p:spPr>
          <a:xfrm>
            <a:off x="1593159" y="5285232"/>
            <a:ext cx="100584" cy="100584"/>
          </a:xfrm>
          <a:prstGeom prst="ellipse">
            <a:avLst/>
          </a:prstGeom>
          <a:solidFill>
            <a:srgbClr val="1D63A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Text 72"/>
          <p:cNvSpPr txBox="1"/>
          <p:nvPr/>
        </p:nvSpPr>
        <p:spPr>
          <a:xfrm>
            <a:off x="530352" y="5422392"/>
            <a:ext cx="222619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26/04/2024</a:t>
            </a:r>
            <a:endParaRPr lang="en-US" sz="850" dirty="0"/>
          </a:p>
        </p:txBody>
      </p:sp>
      <p:sp>
        <p:nvSpPr>
          <p:cNvPr id="78" name="Text 73"/>
          <p:cNvSpPr txBox="1"/>
          <p:nvPr/>
        </p:nvSpPr>
        <p:spPr>
          <a:xfrm>
            <a:off x="566928" y="5568696"/>
            <a:ext cx="2153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 y requerimiento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1643451" y="5328209"/>
            <a:ext cx="2226198" cy="14630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80" name="Shape 75"/>
          <p:cNvSpPr/>
          <p:nvPr/>
        </p:nvSpPr>
        <p:spPr>
          <a:xfrm>
            <a:off x="3819357" y="5285232"/>
            <a:ext cx="100584" cy="100584"/>
          </a:xfrm>
          <a:prstGeom prst="ellipse">
            <a:avLst/>
          </a:prstGeom>
          <a:solidFill>
            <a:srgbClr val="133B6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1" name="Text 76"/>
          <p:cNvSpPr txBox="1"/>
          <p:nvPr/>
        </p:nvSpPr>
        <p:spPr>
          <a:xfrm>
            <a:off x="2756550" y="5422392"/>
            <a:ext cx="222619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27/02/2025</a:t>
            </a:r>
            <a:endParaRPr lang="en-US" sz="850" dirty="0"/>
          </a:p>
        </p:txBody>
      </p:sp>
      <p:sp>
        <p:nvSpPr>
          <p:cNvPr id="82" name="Text 77"/>
          <p:cNvSpPr txBox="1"/>
          <p:nvPr/>
        </p:nvSpPr>
        <p:spPr>
          <a:xfrm>
            <a:off x="2793126" y="5568696"/>
            <a:ext cx="2153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y firma de acta</a:t>
            </a:r>
            <a:endParaRPr lang="en-US" sz="700" dirty="0"/>
          </a:p>
        </p:txBody>
      </p:sp>
      <p:sp>
        <p:nvSpPr>
          <p:cNvPr id="83" name="Shape 78"/>
          <p:cNvSpPr/>
          <p:nvPr/>
        </p:nvSpPr>
        <p:spPr>
          <a:xfrm>
            <a:off x="3869649" y="5328209"/>
            <a:ext cx="2226198" cy="14630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84" name="Shape 79"/>
          <p:cNvSpPr/>
          <p:nvPr/>
        </p:nvSpPr>
        <p:spPr>
          <a:xfrm>
            <a:off x="6045556" y="5285232"/>
            <a:ext cx="100584" cy="100584"/>
          </a:xfrm>
          <a:prstGeom prst="ellipse">
            <a:avLst/>
          </a:prstGeom>
          <a:solidFill>
            <a:srgbClr val="A6650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5" name="Text 80"/>
          <p:cNvSpPr txBox="1"/>
          <p:nvPr/>
        </p:nvSpPr>
        <p:spPr>
          <a:xfrm>
            <a:off x="4982748" y="5422392"/>
            <a:ext cx="222619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08/04/2025</a:t>
            </a:r>
            <a:endParaRPr lang="en-US" sz="850" dirty="0"/>
          </a:p>
        </p:txBody>
      </p:sp>
      <p:sp>
        <p:nvSpPr>
          <p:cNvPr id="86" name="Text 81"/>
          <p:cNvSpPr txBox="1"/>
          <p:nvPr/>
        </p:nvSpPr>
        <p:spPr>
          <a:xfrm>
            <a:off x="5019324" y="5568696"/>
            <a:ext cx="2153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del informe preliminar</a:t>
            </a:r>
            <a:endParaRPr lang="en-US" sz="700" dirty="0"/>
          </a:p>
        </p:txBody>
      </p:sp>
      <p:sp>
        <p:nvSpPr>
          <p:cNvPr id="87" name="Shape 82"/>
          <p:cNvSpPr/>
          <p:nvPr/>
        </p:nvSpPr>
        <p:spPr>
          <a:xfrm>
            <a:off x="6095848" y="5328209"/>
            <a:ext cx="2226198" cy="14630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88" name="Shape 83"/>
          <p:cNvSpPr/>
          <p:nvPr/>
        </p:nvSpPr>
        <p:spPr>
          <a:xfrm>
            <a:off x="8271754" y="5285232"/>
            <a:ext cx="100584" cy="100584"/>
          </a:xfrm>
          <a:prstGeom prst="ellipse">
            <a:avLst/>
          </a:prstGeom>
          <a:solidFill>
            <a:srgbClr val="1E84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9" name="Text 84"/>
          <p:cNvSpPr txBox="1"/>
          <p:nvPr/>
        </p:nvSpPr>
        <p:spPr>
          <a:xfrm>
            <a:off x="7208947" y="5422392"/>
            <a:ext cx="222619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23/04/2025</a:t>
            </a:r>
            <a:endParaRPr lang="en-US" sz="850" dirty="0"/>
          </a:p>
        </p:txBody>
      </p:sp>
      <p:sp>
        <p:nvSpPr>
          <p:cNvPr id="90" name="Text 85"/>
          <p:cNvSpPr txBox="1"/>
          <p:nvPr/>
        </p:nvSpPr>
        <p:spPr>
          <a:xfrm>
            <a:off x="7245523" y="5568696"/>
            <a:ext cx="2153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(descargo)</a:t>
            </a:r>
            <a:endParaRPr lang="en-US" sz="700" dirty="0"/>
          </a:p>
        </p:txBody>
      </p:sp>
      <p:sp>
        <p:nvSpPr>
          <p:cNvPr id="91" name="Shape 86"/>
          <p:cNvSpPr/>
          <p:nvPr/>
        </p:nvSpPr>
        <p:spPr>
          <a:xfrm>
            <a:off x="8322046" y="5328209"/>
            <a:ext cx="2226198" cy="14630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92" name="Shape 87"/>
          <p:cNvSpPr/>
          <p:nvPr/>
        </p:nvSpPr>
        <p:spPr>
          <a:xfrm>
            <a:off x="10497952" y="5285232"/>
            <a:ext cx="100584" cy="100584"/>
          </a:xfrm>
          <a:prstGeom prst="ellipse">
            <a:avLst/>
          </a:prstGeom>
          <a:solidFill>
            <a:srgbClr val="17A9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3" name="Text 88"/>
          <p:cNvSpPr txBox="1"/>
          <p:nvPr/>
        </p:nvSpPr>
        <p:spPr>
          <a:xfrm>
            <a:off x="9435145" y="5422392"/>
            <a:ext cx="222619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10/03/2026</a:t>
            </a:r>
            <a:endParaRPr lang="en-US" sz="850" dirty="0"/>
          </a:p>
        </p:txBody>
      </p:sp>
      <p:sp>
        <p:nvSpPr>
          <p:cNvPr id="94" name="Text 89"/>
          <p:cNvSpPr txBox="1"/>
          <p:nvPr/>
        </p:nvSpPr>
        <p:spPr>
          <a:xfrm>
            <a:off x="9471721" y="5568696"/>
            <a:ext cx="2153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prórroga de 6 meses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Administración de Riesgos</dc:title>
  <dc:subject>PptxGenJS Presentation</dc:subject>
  <dc:creator>COMÉDICA</dc:creator>
  <cp:lastModifiedBy>COMÉDICA</cp:lastModifiedBy>
  <cp:revision>1</cp:revision>
  <dcterms:created xsi:type="dcterms:W3CDTF">2026-09-19T17:06:52Z</dcterms:created>
  <dcterms:modified xsi:type="dcterms:W3CDTF">2026-09-19T17:06:52Z</dcterms:modified>
</cp:coreProperties>
</file>