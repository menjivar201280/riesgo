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33B6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120512" cy="1005840"/>
          </a:xfrm>
          <a:prstGeom prst="rect">
            <a:avLst/>
          </a:prstGeom>
          <a:solidFill>
            <a:srgbClr val="0A1F3B"/>
          </a:solidFill>
          <a:ln/>
        </p:spPr>
      </p:sp>
      <p:sp>
        <p:nvSpPr>
          <p:cNvPr id="4" name="Shape 2"/>
          <p:cNvSpPr/>
          <p:nvPr/>
        </p:nvSpPr>
        <p:spPr>
          <a:xfrm>
            <a:off x="9997190" y="0"/>
            <a:ext cx="2194505" cy="1005840"/>
          </a:xfrm>
          <a:prstGeom prst="rect">
            <a:avLst/>
          </a:prstGeom>
          <a:solidFill>
            <a:srgbClr val="106B78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973836"/>
            <a:ext cx="12191695" cy="32004"/>
          </a:xfrm>
          <a:prstGeom prst="rect">
            <a:avLst/>
          </a:prstGeom>
          <a:solidFill>
            <a:srgbClr val="17A9B0"/>
          </a:solidFill>
          <a:ln/>
        </p:spPr>
      </p:sp>
      <p:sp>
        <p:nvSpPr>
          <p:cNvPr id="6" name="Shape 4"/>
          <p:cNvSpPr/>
          <p:nvPr/>
        </p:nvSpPr>
        <p:spPr>
          <a:xfrm>
            <a:off x="10774375" y="-960120"/>
            <a:ext cx="2377440" cy="2377440"/>
          </a:xfrm>
          <a:prstGeom prst="ellipse">
            <a:avLst/>
          </a:prstGeom>
          <a:ln w="12700">
            <a:solidFill>
              <a:srgbClr val="97D8DB">
                <a:alpha val="1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048695" y="-685800"/>
            <a:ext cx="1828800" cy="1828800"/>
          </a:xfrm>
          <a:prstGeom prst="ellipse">
            <a:avLst/>
          </a:prstGeom>
          <a:ln w="12700">
            <a:solidFill>
              <a:srgbClr val="97D8DB">
                <a:alpha val="18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97D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COMÉDICA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291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 Riesgos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7132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C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Actividades · Informes Semanal – Mensual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899855" y="219456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899855" y="40233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808415" y="411480"/>
            <a:ext cx="82296" cy="82296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36431" y="3474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Finalizado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9814255" y="411480"/>
            <a:ext cx="82296" cy="82296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942271" y="3474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820095" y="411480"/>
            <a:ext cx="82296" cy="82296"/>
          </a:xfrm>
          <a:prstGeom prst="ellipse">
            <a:avLst/>
          </a:prstGeom>
          <a:solidFill>
            <a:srgbClr val="46586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948111" y="347472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8CB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 w="9525">
            <a:solidFill>
              <a:srgbClr val="DDE3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COMÉDICA  ·  Cronograma de Actividades — Silvia · Sara · Melvin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170432"/>
            <a:ext cx="11460175" cy="219456"/>
          </a:xfrm>
          <a:prstGeom prst="roundRect">
            <a:avLst>
              <a:gd name="adj" fmla="val 20833"/>
            </a:avLst>
          </a:prstGeom>
          <a:solidFill>
            <a:srgbClr val="1B4F9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93776" y="1170432"/>
            <a:ext cx="87169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Silvia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9174175" y="1170432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actividades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1417320"/>
            <a:ext cx="2769032" cy="1324356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1417320"/>
            <a:ext cx="2769032" cy="41148"/>
          </a:xfrm>
          <a:prstGeom prst="rect">
            <a:avLst/>
          </a:prstGeom>
          <a:solidFill>
            <a:srgbClr val="A6650F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9692" y="1467612"/>
            <a:ext cx="201168" cy="201168"/>
          </a:xfrm>
          <a:prstGeom prst="ellipse">
            <a:avLst/>
          </a:prstGeom>
          <a:solidFill>
            <a:srgbClr val="FDF3E7"/>
          </a:solidFill>
          <a:ln/>
        </p:spPr>
      </p:sp>
      <p:pic>
        <p:nvPicPr>
          <p:cNvPr id="27" name="Image 0" descr="/tmp/claude-0/-home-user-riesgo/579fb8c8-70e5-51d5-80ec-6ed51cc2e8df/scratchpad/pptx-build/icons/bookopen_A6650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9925" y="1507846"/>
            <a:ext cx="120701" cy="120701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411480" y="1700784"/>
            <a:ext cx="267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Capacitación y Auditoría</a:t>
            </a:r>
            <a:endParaRPr lang="en-US" sz="760" dirty="0"/>
          </a:p>
        </p:txBody>
      </p:sp>
      <p:sp>
        <p:nvSpPr>
          <p:cNvPr id="29" name="Shape 26"/>
          <p:cNvSpPr/>
          <p:nvPr/>
        </p:nvSpPr>
        <p:spPr>
          <a:xfrm>
            <a:off x="1631404" y="1819656"/>
            <a:ext cx="237744" cy="13716"/>
          </a:xfrm>
          <a:prstGeom prst="rect">
            <a:avLst/>
          </a:prstGeom>
          <a:solidFill>
            <a:srgbClr val="A6650F"/>
          </a:solidFill>
          <a:ln/>
        </p:spPr>
      </p:sp>
      <p:sp>
        <p:nvSpPr>
          <p:cNvPr id="30" name="Shape 27"/>
          <p:cNvSpPr/>
          <p:nvPr/>
        </p:nvSpPr>
        <p:spPr>
          <a:xfrm>
            <a:off x="484632" y="1889150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03504" y="1847088"/>
            <a:ext cx="2412416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presentación y examen para Capacitación de GIR 2026  </a:t>
            </a:r>
            <a:pPr algn="l" indent="0" marL="0">
              <a:lnSpc>
                <a:spcPct val="98000"/>
              </a:lnSpc>
              <a:buNone/>
            </a:pPr>
            <a:r>
              <a:rPr lang="en-US" sz="6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90" dirty="0"/>
          </a:p>
        </p:txBody>
      </p:sp>
      <p:sp>
        <p:nvSpPr>
          <p:cNvPr id="32" name="Shape 29"/>
          <p:cNvSpPr/>
          <p:nvPr/>
        </p:nvSpPr>
        <p:spPr>
          <a:xfrm>
            <a:off x="484632" y="2092147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03504" y="2050085"/>
            <a:ext cx="2412416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requerimiento información Auditoría Interna – NRP-17  </a:t>
            </a:r>
            <a:pPr algn="l" indent="0" marL="0">
              <a:lnSpc>
                <a:spcPct val="98000"/>
              </a:lnSpc>
              <a:buNone/>
            </a:pPr>
            <a:r>
              <a:rPr lang="en-US" sz="6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90" dirty="0"/>
          </a:p>
        </p:txBody>
      </p:sp>
      <p:sp>
        <p:nvSpPr>
          <p:cNvPr id="34" name="Shape 31"/>
          <p:cNvSpPr/>
          <p:nvPr/>
        </p:nvSpPr>
        <p:spPr>
          <a:xfrm>
            <a:off x="3262808" y="1417320"/>
            <a:ext cx="2769032" cy="1324356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3262808" y="1417320"/>
            <a:ext cx="2769032" cy="41148"/>
          </a:xfrm>
          <a:prstGeom prst="rect">
            <a:avLst/>
          </a:prstGeom>
          <a:solidFill>
            <a:srgbClr val="1B4F91"/>
          </a:solidFill>
          <a:ln/>
        </p:spPr>
      </p:sp>
      <p:sp>
        <p:nvSpPr>
          <p:cNvPr id="36" name="Shape 33"/>
          <p:cNvSpPr/>
          <p:nvPr/>
        </p:nvSpPr>
        <p:spPr>
          <a:xfrm>
            <a:off x="4546740" y="1467612"/>
            <a:ext cx="201168" cy="201168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37" name="Image 1" descr="/tmp/claude-0/-home-user-riesgo/579fb8c8-70e5-51d5-80ec-6ed51cc2e8df/scratchpad/pptx-build/icons/filetext_1B4F9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73" y="1507846"/>
            <a:ext cx="120701" cy="120701"/>
          </a:xfrm>
          <a:prstGeom prst="rect">
            <a:avLst/>
          </a:prstGeom>
        </p:spPr>
      </p:pic>
      <p:sp>
        <p:nvSpPr>
          <p:cNvPr id="38" name="Text 34"/>
          <p:cNvSpPr txBox="1"/>
          <p:nvPr/>
        </p:nvSpPr>
        <p:spPr>
          <a:xfrm>
            <a:off x="3308528" y="1700784"/>
            <a:ext cx="267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Documental y Crédito</a:t>
            </a:r>
            <a:endParaRPr lang="en-US" sz="760" dirty="0"/>
          </a:p>
        </p:txBody>
      </p:sp>
      <p:sp>
        <p:nvSpPr>
          <p:cNvPr id="39" name="Shape 35"/>
          <p:cNvSpPr/>
          <p:nvPr/>
        </p:nvSpPr>
        <p:spPr>
          <a:xfrm>
            <a:off x="4528452" y="1819656"/>
            <a:ext cx="237744" cy="13716"/>
          </a:xfrm>
          <a:prstGeom prst="rect">
            <a:avLst/>
          </a:prstGeom>
          <a:solidFill>
            <a:srgbClr val="1B4F91"/>
          </a:solidFill>
          <a:ln/>
        </p:spPr>
      </p:sp>
      <p:sp>
        <p:nvSpPr>
          <p:cNvPr id="40" name="Shape 36"/>
          <p:cNvSpPr/>
          <p:nvPr/>
        </p:nvSpPr>
        <p:spPr>
          <a:xfrm>
            <a:off x="3381680" y="1889150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3500552" y="1847088"/>
            <a:ext cx="2412416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Matriz de Riesgo proyecto Gestor Documental  </a:t>
            </a:r>
            <a:pPr algn="l" indent="0" marL="0">
              <a:lnSpc>
                <a:spcPct val="98000"/>
              </a:lnSpc>
              <a:buNone/>
            </a:pPr>
            <a:r>
              <a:rPr lang="en-US" sz="6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90" dirty="0"/>
          </a:p>
        </p:txBody>
      </p:sp>
      <p:sp>
        <p:nvSpPr>
          <p:cNvPr id="42" name="Shape 38"/>
          <p:cNvSpPr/>
          <p:nvPr/>
        </p:nvSpPr>
        <p:spPr>
          <a:xfrm>
            <a:off x="3381680" y="2092147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3500552" y="2050085"/>
            <a:ext cx="2412416" cy="21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Fábrica de Créditos – Revisión de documentos de Riesgos necesarios para expediente  </a:t>
            </a:r>
            <a:pPr algn="l" indent="0" marL="0">
              <a:lnSpc>
                <a:spcPct val="98000"/>
              </a:lnSpc>
              <a:buNone/>
            </a:pPr>
            <a:r>
              <a:rPr lang="en-US" sz="6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90" dirty="0"/>
          </a:p>
        </p:txBody>
      </p:sp>
      <p:sp>
        <p:nvSpPr>
          <p:cNvPr id="44" name="Shape 40"/>
          <p:cNvSpPr/>
          <p:nvPr/>
        </p:nvSpPr>
        <p:spPr>
          <a:xfrm>
            <a:off x="6159856" y="1417320"/>
            <a:ext cx="2769032" cy="1324356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45" name="Shape 41"/>
          <p:cNvSpPr/>
          <p:nvPr/>
        </p:nvSpPr>
        <p:spPr>
          <a:xfrm>
            <a:off x="6159856" y="1417320"/>
            <a:ext cx="2769032" cy="41148"/>
          </a:xfrm>
          <a:prstGeom prst="rect">
            <a:avLst/>
          </a:prstGeom>
          <a:solidFill>
            <a:srgbClr val="1D63A1"/>
          </a:solidFill>
          <a:ln/>
        </p:spPr>
      </p:sp>
      <p:sp>
        <p:nvSpPr>
          <p:cNvPr id="46" name="Shape 42"/>
          <p:cNvSpPr/>
          <p:nvPr/>
        </p:nvSpPr>
        <p:spPr>
          <a:xfrm>
            <a:off x="7443788" y="1467612"/>
            <a:ext cx="201168" cy="201168"/>
          </a:xfrm>
          <a:prstGeom prst="ellipse">
            <a:avLst/>
          </a:prstGeom>
          <a:solidFill>
            <a:srgbClr val="E8F1FA"/>
          </a:solidFill>
          <a:ln/>
        </p:spPr>
      </p:sp>
      <p:pic>
        <p:nvPicPr>
          <p:cNvPr id="47" name="Image 2" descr="/tmp/claude-0/-home-user-riesgo/579fb8c8-70e5-51d5-80ec-6ed51cc2e8df/scratchpad/pptx-build/icons/activity_1D63A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021" y="1507846"/>
            <a:ext cx="120701" cy="120701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6205576" y="1700784"/>
            <a:ext cx="267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Operacional y Tecnológico</a:t>
            </a:r>
            <a:endParaRPr lang="en-US" sz="760" dirty="0"/>
          </a:p>
        </p:txBody>
      </p:sp>
      <p:sp>
        <p:nvSpPr>
          <p:cNvPr id="49" name="Shape 44"/>
          <p:cNvSpPr/>
          <p:nvPr/>
        </p:nvSpPr>
        <p:spPr>
          <a:xfrm>
            <a:off x="7425499" y="1819656"/>
            <a:ext cx="237744" cy="13716"/>
          </a:xfrm>
          <a:prstGeom prst="rect">
            <a:avLst/>
          </a:prstGeom>
          <a:solidFill>
            <a:srgbClr val="1D63A1"/>
          </a:solidFill>
          <a:ln/>
        </p:spPr>
      </p:sp>
      <p:sp>
        <p:nvSpPr>
          <p:cNvPr id="50" name="Shape 45"/>
          <p:cNvSpPr/>
          <p:nvPr/>
        </p:nvSpPr>
        <p:spPr>
          <a:xfrm>
            <a:off x="6278728" y="1889150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51" name="Text 46"/>
          <p:cNvSpPr txBox="1"/>
          <p:nvPr/>
        </p:nvSpPr>
        <p:spPr>
          <a:xfrm>
            <a:off x="6397600" y="1847088"/>
            <a:ext cx="2412416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a lanzamiento de nueva plataforma de Canales Digitales – informe de Riesgo Reputacional  </a:t>
            </a:r>
            <a:pPr algn="l" indent="0" marL="0">
              <a:lnSpc>
                <a:spcPct val="98000"/>
              </a:lnSpc>
              <a:buNone/>
            </a:pPr>
            <a:r>
              <a:rPr lang="en-US" sz="57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570" dirty="0"/>
          </a:p>
        </p:txBody>
      </p:sp>
      <p:sp>
        <p:nvSpPr>
          <p:cNvPr id="52" name="Shape 47"/>
          <p:cNvSpPr/>
          <p:nvPr/>
        </p:nvSpPr>
        <p:spPr>
          <a:xfrm>
            <a:off x="6278728" y="2059229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53" name="Text 48"/>
          <p:cNvSpPr txBox="1"/>
          <p:nvPr/>
        </p:nvSpPr>
        <p:spPr>
          <a:xfrm>
            <a:off x="6397600" y="2017166"/>
            <a:ext cx="2412416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Reunión evaluación de Riesgos Operacionales y Tecnológicos – cambio de Procesador de TC  </a:t>
            </a:r>
            <a:pPr algn="l" indent="0" marL="0">
              <a:lnSpc>
                <a:spcPct val="98000"/>
              </a:lnSpc>
              <a:buNone/>
            </a:pPr>
            <a:r>
              <a:rPr lang="en-US" sz="57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570" dirty="0"/>
          </a:p>
        </p:txBody>
      </p:sp>
      <p:sp>
        <p:nvSpPr>
          <p:cNvPr id="54" name="Shape 49"/>
          <p:cNvSpPr/>
          <p:nvPr/>
        </p:nvSpPr>
        <p:spPr>
          <a:xfrm>
            <a:off x="6278728" y="2229307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6397600" y="2187245"/>
            <a:ext cx="2412416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 encuesta e informe de evaluación del Servicio de Procesamiento de Tarjetas de Crédito  </a:t>
            </a:r>
            <a:pPr algn="l" indent="0" marL="0">
              <a:lnSpc>
                <a:spcPct val="98000"/>
              </a:lnSpc>
              <a:buNone/>
            </a:pPr>
            <a:r>
              <a:rPr lang="en-US" sz="57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70" dirty="0"/>
          </a:p>
        </p:txBody>
      </p:sp>
      <p:sp>
        <p:nvSpPr>
          <p:cNvPr id="56" name="Shape 51"/>
          <p:cNvSpPr/>
          <p:nvPr/>
        </p:nvSpPr>
        <p:spPr>
          <a:xfrm>
            <a:off x="6278728" y="2399386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6397600" y="2357323"/>
            <a:ext cx="2412416" cy="183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 Matriz de Riesgos Operacionales por cambio de Procesador de TC  </a:t>
            </a:r>
            <a:pPr algn="l" indent="0" marL="0">
              <a:lnSpc>
                <a:spcPct val="98000"/>
              </a:lnSpc>
              <a:buNone/>
            </a:pPr>
            <a:r>
              <a:rPr lang="en-US" sz="57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570" dirty="0"/>
          </a:p>
        </p:txBody>
      </p:sp>
      <p:sp>
        <p:nvSpPr>
          <p:cNvPr id="58" name="Shape 53"/>
          <p:cNvSpPr/>
          <p:nvPr/>
        </p:nvSpPr>
        <p:spPr>
          <a:xfrm>
            <a:off x="6278728" y="2569464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6397600" y="2527402"/>
            <a:ext cx="2412416" cy="10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de pérdida TC, DPF  </a:t>
            </a:r>
            <a:pPr algn="l" indent="0" marL="0">
              <a:lnSpc>
                <a:spcPct val="98000"/>
              </a:lnSpc>
              <a:buNone/>
            </a:pPr>
            <a:r>
              <a:rPr lang="en-US" sz="57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570" dirty="0"/>
          </a:p>
        </p:txBody>
      </p:sp>
      <p:sp>
        <p:nvSpPr>
          <p:cNvPr id="60" name="Shape 55"/>
          <p:cNvSpPr/>
          <p:nvPr/>
        </p:nvSpPr>
        <p:spPr>
          <a:xfrm>
            <a:off x="6278728" y="2661361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61" name="Text 56"/>
          <p:cNvSpPr txBox="1"/>
          <p:nvPr/>
        </p:nvSpPr>
        <p:spPr>
          <a:xfrm>
            <a:off x="6397600" y="2619299"/>
            <a:ext cx="2412416" cy="105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Criticidad IT  </a:t>
            </a:r>
            <a:pPr algn="l" indent="0" marL="0">
              <a:lnSpc>
                <a:spcPct val="98000"/>
              </a:lnSpc>
              <a:buNone/>
            </a:pPr>
            <a:r>
              <a:rPr lang="en-US" sz="57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70" dirty="0"/>
          </a:p>
        </p:txBody>
      </p:sp>
      <p:sp>
        <p:nvSpPr>
          <p:cNvPr id="62" name="Shape 57"/>
          <p:cNvSpPr/>
          <p:nvPr/>
        </p:nvSpPr>
        <p:spPr>
          <a:xfrm>
            <a:off x="9056903" y="1417320"/>
            <a:ext cx="2769032" cy="1324356"/>
          </a:xfrm>
          <a:prstGeom prst="roundRect">
            <a:avLst>
              <a:gd name="adj" fmla="val 4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63" name="Shape 58"/>
          <p:cNvSpPr/>
          <p:nvPr/>
        </p:nvSpPr>
        <p:spPr>
          <a:xfrm>
            <a:off x="9056903" y="1417320"/>
            <a:ext cx="2769032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4" name="Shape 59"/>
          <p:cNvSpPr/>
          <p:nvPr/>
        </p:nvSpPr>
        <p:spPr>
          <a:xfrm>
            <a:off x="10340835" y="1467612"/>
            <a:ext cx="201168" cy="201168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65" name="Image 3" descr="/tmp/claude-0/-home-user-riesgo/579fb8c8-70e5-51d5-80ec-6ed51cc2e8df/scratchpad/pptx-build/icons/briefcase_1B4F9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1069" y="1507846"/>
            <a:ext cx="120701" cy="120701"/>
          </a:xfrm>
          <a:prstGeom prst="rect">
            <a:avLst/>
          </a:prstGeom>
        </p:spPr>
      </p:pic>
      <p:sp>
        <p:nvSpPr>
          <p:cNvPr id="66" name="Text 60"/>
          <p:cNvSpPr txBox="1"/>
          <p:nvPr/>
        </p:nvSpPr>
        <p:spPr>
          <a:xfrm>
            <a:off x="9102623" y="1700784"/>
            <a:ext cx="2677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 Corporativo</a:t>
            </a:r>
            <a:endParaRPr lang="en-US" sz="760" dirty="0"/>
          </a:p>
        </p:txBody>
      </p:sp>
      <p:sp>
        <p:nvSpPr>
          <p:cNvPr id="67" name="Shape 61"/>
          <p:cNvSpPr/>
          <p:nvPr/>
        </p:nvSpPr>
        <p:spPr>
          <a:xfrm>
            <a:off x="10322547" y="1819656"/>
            <a:ext cx="237744" cy="1371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8" name="Shape 62"/>
          <p:cNvSpPr/>
          <p:nvPr/>
        </p:nvSpPr>
        <p:spPr>
          <a:xfrm>
            <a:off x="9175775" y="1889150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69" name="Text 63"/>
          <p:cNvSpPr txBox="1"/>
          <p:nvPr/>
        </p:nvSpPr>
        <p:spPr>
          <a:xfrm>
            <a:off x="9294647" y="1847088"/>
            <a:ext cx="2412416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RIA #4 Gobierno Corporativo  </a:t>
            </a:r>
            <a:pPr algn="l" indent="0" marL="0">
              <a:lnSpc>
                <a:spcPct val="98000"/>
              </a:lnSpc>
              <a:buNone/>
            </a:pPr>
            <a:r>
              <a:rPr lang="en-US" sz="6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90" dirty="0"/>
          </a:p>
        </p:txBody>
      </p:sp>
      <p:sp>
        <p:nvSpPr>
          <p:cNvPr id="70" name="Shape 64"/>
          <p:cNvSpPr/>
          <p:nvPr/>
        </p:nvSpPr>
        <p:spPr>
          <a:xfrm>
            <a:off x="9175775" y="1997507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71" name="Text 65"/>
          <p:cNvSpPr txBox="1"/>
          <p:nvPr/>
        </p:nvSpPr>
        <p:spPr>
          <a:xfrm>
            <a:off x="9294647" y="1955444"/>
            <a:ext cx="2412416" cy="12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RIA #5 Gobierno Corporativo  </a:t>
            </a:r>
            <a:pPr algn="l" indent="0" marL="0">
              <a:lnSpc>
                <a:spcPct val="98000"/>
              </a:lnSpc>
              <a:buNone/>
            </a:pPr>
            <a:r>
              <a:rPr lang="en-US" sz="6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90" dirty="0"/>
          </a:p>
        </p:txBody>
      </p:sp>
      <p:sp>
        <p:nvSpPr>
          <p:cNvPr id="72" name="Shape 66"/>
          <p:cNvSpPr/>
          <p:nvPr/>
        </p:nvSpPr>
        <p:spPr>
          <a:xfrm>
            <a:off x="365760" y="2833116"/>
            <a:ext cx="11460175" cy="219456"/>
          </a:xfrm>
          <a:prstGeom prst="roundRect">
            <a:avLst>
              <a:gd name="adj" fmla="val 20833"/>
            </a:avLst>
          </a:prstGeom>
          <a:solidFill>
            <a:srgbClr val="1E8449"/>
          </a:solidFill>
          <a:ln/>
        </p:spPr>
      </p:sp>
      <p:sp>
        <p:nvSpPr>
          <p:cNvPr id="73" name="Text 67"/>
          <p:cNvSpPr txBox="1"/>
          <p:nvPr/>
        </p:nvSpPr>
        <p:spPr>
          <a:xfrm>
            <a:off x="493776" y="2833116"/>
            <a:ext cx="87169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1100" dirty="0"/>
          </a:p>
        </p:txBody>
      </p:sp>
      <p:sp>
        <p:nvSpPr>
          <p:cNvPr id="74" name="Text 68"/>
          <p:cNvSpPr txBox="1"/>
          <p:nvPr/>
        </p:nvSpPr>
        <p:spPr>
          <a:xfrm>
            <a:off x="9174175" y="283311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actividades</a:t>
            </a:r>
            <a:endParaRPr lang="en-US" sz="800" dirty="0"/>
          </a:p>
        </p:txBody>
      </p:sp>
      <p:sp>
        <p:nvSpPr>
          <p:cNvPr id="75" name="Shape 69"/>
          <p:cNvSpPr/>
          <p:nvPr/>
        </p:nvSpPr>
        <p:spPr>
          <a:xfrm>
            <a:off x="365760" y="3080004"/>
            <a:ext cx="3734714" cy="1173861"/>
          </a:xfrm>
          <a:prstGeom prst="roundRect">
            <a:avLst>
              <a:gd name="adj" fmla="val 54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76" name="Shape 70"/>
          <p:cNvSpPr/>
          <p:nvPr/>
        </p:nvSpPr>
        <p:spPr>
          <a:xfrm>
            <a:off x="365760" y="3080004"/>
            <a:ext cx="3734714" cy="41148"/>
          </a:xfrm>
          <a:prstGeom prst="rect">
            <a:avLst/>
          </a:prstGeom>
          <a:solidFill>
            <a:srgbClr val="1B4F91"/>
          </a:solidFill>
          <a:ln/>
        </p:spPr>
      </p:sp>
      <p:sp>
        <p:nvSpPr>
          <p:cNvPr id="77" name="Shape 71"/>
          <p:cNvSpPr/>
          <p:nvPr/>
        </p:nvSpPr>
        <p:spPr>
          <a:xfrm>
            <a:off x="2132533" y="3130296"/>
            <a:ext cx="201168" cy="201168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78" name="Image 4" descr="/tmp/claude-0/-home-user-riesgo/579fb8c8-70e5-51d5-80ec-6ed51cc2e8df/scratchpad/pptx-build/icons/users_1B4F9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2767" y="3170530"/>
            <a:ext cx="120701" cy="120701"/>
          </a:xfrm>
          <a:prstGeom prst="rect">
            <a:avLst/>
          </a:prstGeom>
        </p:spPr>
      </p:pic>
      <p:sp>
        <p:nvSpPr>
          <p:cNvPr id="79" name="Text 72"/>
          <p:cNvSpPr txBox="1"/>
          <p:nvPr/>
        </p:nvSpPr>
        <p:spPr>
          <a:xfrm>
            <a:off x="411480" y="3363468"/>
            <a:ext cx="3643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Comité de Riesgos</a:t>
            </a:r>
            <a:endParaRPr lang="en-US" sz="760" dirty="0"/>
          </a:p>
        </p:txBody>
      </p:sp>
      <p:sp>
        <p:nvSpPr>
          <p:cNvPr id="80" name="Shape 73"/>
          <p:cNvSpPr/>
          <p:nvPr/>
        </p:nvSpPr>
        <p:spPr>
          <a:xfrm>
            <a:off x="2114245" y="3482340"/>
            <a:ext cx="237744" cy="13716"/>
          </a:xfrm>
          <a:prstGeom prst="rect">
            <a:avLst/>
          </a:prstGeom>
          <a:solidFill>
            <a:srgbClr val="1B4F91"/>
          </a:solidFill>
          <a:ln/>
        </p:spPr>
      </p:sp>
      <p:sp>
        <p:nvSpPr>
          <p:cNvPr id="81" name="Shape 74"/>
          <p:cNvSpPr/>
          <p:nvPr/>
        </p:nvSpPr>
        <p:spPr>
          <a:xfrm>
            <a:off x="484632" y="3551834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82" name="Text 75"/>
          <p:cNvSpPr txBox="1"/>
          <p:nvPr/>
        </p:nvSpPr>
        <p:spPr>
          <a:xfrm>
            <a:off x="603504" y="3509772"/>
            <a:ext cx="3378098" cy="11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matriz de acuerdos Comité de Riesgos</a:t>
            </a:r>
            <a:endParaRPr lang="en-US" sz="670" dirty="0"/>
          </a:p>
        </p:txBody>
      </p:sp>
      <p:sp>
        <p:nvSpPr>
          <p:cNvPr id="83" name="Shape 76"/>
          <p:cNvSpPr/>
          <p:nvPr/>
        </p:nvSpPr>
        <p:spPr>
          <a:xfrm>
            <a:off x="484632" y="3657448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84" name="Text 77"/>
          <p:cNvSpPr txBox="1"/>
          <p:nvPr/>
        </p:nvSpPr>
        <p:spPr>
          <a:xfrm>
            <a:off x="603504" y="3615385"/>
            <a:ext cx="3378098" cy="11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Acta mensual Comité de Riesgos</a:t>
            </a:r>
            <a:endParaRPr lang="en-US" sz="670" dirty="0"/>
          </a:p>
        </p:txBody>
      </p:sp>
      <p:sp>
        <p:nvSpPr>
          <p:cNvPr id="85" name="Shape 78"/>
          <p:cNvSpPr/>
          <p:nvPr/>
        </p:nvSpPr>
        <p:spPr>
          <a:xfrm>
            <a:off x="484632" y="3763061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86" name="Text 79"/>
          <p:cNvSpPr txBox="1"/>
          <p:nvPr/>
        </p:nvSpPr>
        <p:spPr>
          <a:xfrm>
            <a:off x="603504" y="3720998"/>
            <a:ext cx="3378098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de informe Mensual de sesión de Comité de Riesgos al Consejo de Administración</a:t>
            </a:r>
            <a:endParaRPr lang="en-US" sz="670" dirty="0"/>
          </a:p>
        </p:txBody>
      </p:sp>
      <p:sp>
        <p:nvSpPr>
          <p:cNvPr id="87" name="Shape 80"/>
          <p:cNvSpPr/>
          <p:nvPr/>
        </p:nvSpPr>
        <p:spPr>
          <a:xfrm>
            <a:off x="484632" y="3960571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88" name="Text 81"/>
          <p:cNvSpPr txBox="1"/>
          <p:nvPr/>
        </p:nvSpPr>
        <p:spPr>
          <a:xfrm>
            <a:off x="603504" y="3918509"/>
            <a:ext cx="3378098" cy="11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informe riesgo legal para Comité de Riesgos</a:t>
            </a:r>
            <a:endParaRPr lang="en-US" sz="670" dirty="0"/>
          </a:p>
        </p:txBody>
      </p:sp>
      <p:sp>
        <p:nvSpPr>
          <p:cNvPr id="89" name="Shape 82"/>
          <p:cNvSpPr/>
          <p:nvPr/>
        </p:nvSpPr>
        <p:spPr>
          <a:xfrm>
            <a:off x="4228490" y="3080004"/>
            <a:ext cx="3734714" cy="1173861"/>
          </a:xfrm>
          <a:prstGeom prst="roundRect">
            <a:avLst>
              <a:gd name="adj" fmla="val 54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90" name="Shape 83"/>
          <p:cNvSpPr/>
          <p:nvPr/>
        </p:nvSpPr>
        <p:spPr>
          <a:xfrm>
            <a:off x="4228490" y="3080004"/>
            <a:ext cx="3734714" cy="411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1" name="Shape 84"/>
          <p:cNvSpPr/>
          <p:nvPr/>
        </p:nvSpPr>
        <p:spPr>
          <a:xfrm>
            <a:off x="5995264" y="3130296"/>
            <a:ext cx="201168" cy="201168"/>
          </a:xfrm>
          <a:prstGeom prst="ellipse">
            <a:avLst/>
          </a:prstGeom>
          <a:solidFill>
            <a:srgbClr val="E4F5EA"/>
          </a:solidFill>
          <a:ln/>
        </p:spPr>
      </p:sp>
      <p:pic>
        <p:nvPicPr>
          <p:cNvPr id="92" name="Image 5" descr="/tmp/claude-0/-home-user-riesgo/579fb8c8-70e5-51d5-80ec-6ed51cc2e8df/scratchpad/pptx-build/icons/home_1E8449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5497" y="3170530"/>
            <a:ext cx="120701" cy="120701"/>
          </a:xfrm>
          <a:prstGeom prst="rect">
            <a:avLst/>
          </a:prstGeom>
        </p:spPr>
      </p:pic>
      <p:sp>
        <p:nvSpPr>
          <p:cNvPr id="93" name="Text 85"/>
          <p:cNvSpPr txBox="1"/>
          <p:nvPr/>
        </p:nvSpPr>
        <p:spPr>
          <a:xfrm>
            <a:off x="4274210" y="3363468"/>
            <a:ext cx="3643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Avalúos</a:t>
            </a:r>
            <a:endParaRPr lang="en-US" sz="760" dirty="0"/>
          </a:p>
        </p:txBody>
      </p:sp>
      <p:sp>
        <p:nvSpPr>
          <p:cNvPr id="94" name="Shape 86"/>
          <p:cNvSpPr/>
          <p:nvPr/>
        </p:nvSpPr>
        <p:spPr>
          <a:xfrm>
            <a:off x="5976976" y="3482340"/>
            <a:ext cx="237744" cy="1371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5" name="Shape 87"/>
          <p:cNvSpPr/>
          <p:nvPr/>
        </p:nvSpPr>
        <p:spPr>
          <a:xfrm>
            <a:off x="4347362" y="3551834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96" name="Text 88"/>
          <p:cNvSpPr txBox="1"/>
          <p:nvPr/>
        </p:nvSpPr>
        <p:spPr>
          <a:xfrm>
            <a:off x="4466234" y="3509772"/>
            <a:ext cx="3378098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8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nueva base de avalúos vencidos y por vencer</a:t>
            </a:r>
            <a:endParaRPr lang="en-US" sz="580" dirty="0"/>
          </a:p>
        </p:txBody>
      </p:sp>
      <p:sp>
        <p:nvSpPr>
          <p:cNvPr id="97" name="Shape 89"/>
          <p:cNvSpPr/>
          <p:nvPr/>
        </p:nvSpPr>
        <p:spPr>
          <a:xfrm>
            <a:off x="4347362" y="3645103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98" name="Text 90"/>
          <p:cNvSpPr txBox="1"/>
          <p:nvPr/>
        </p:nvSpPr>
        <p:spPr>
          <a:xfrm>
            <a:off x="4466234" y="3603041"/>
            <a:ext cx="3378098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8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Solicitar devolución de avalúos asignados, depurar y reasignar (cambios Norma NCB-022)</a:t>
            </a:r>
            <a:endParaRPr lang="en-US" sz="580" dirty="0"/>
          </a:p>
        </p:txBody>
      </p:sp>
      <p:sp>
        <p:nvSpPr>
          <p:cNvPr id="99" name="Shape 91"/>
          <p:cNvSpPr/>
          <p:nvPr/>
        </p:nvSpPr>
        <p:spPr>
          <a:xfrm>
            <a:off x="4347362" y="3738372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00" name="Text 92"/>
          <p:cNvSpPr txBox="1"/>
          <p:nvPr/>
        </p:nvSpPr>
        <p:spPr>
          <a:xfrm>
            <a:off x="4466234" y="3696310"/>
            <a:ext cx="3378098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8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Gestiones de avalúos</a:t>
            </a:r>
            <a:endParaRPr lang="en-US" sz="580" dirty="0"/>
          </a:p>
        </p:txBody>
      </p:sp>
      <p:sp>
        <p:nvSpPr>
          <p:cNvPr id="101" name="Shape 93"/>
          <p:cNvSpPr/>
          <p:nvPr/>
        </p:nvSpPr>
        <p:spPr>
          <a:xfrm>
            <a:off x="4347362" y="3831641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02" name="Text 94"/>
          <p:cNvSpPr txBox="1"/>
          <p:nvPr/>
        </p:nvSpPr>
        <p:spPr>
          <a:xfrm>
            <a:off x="4466234" y="3789578"/>
            <a:ext cx="3378098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8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estado actual de base de avalúos para analista de Riesgos Financieros</a:t>
            </a:r>
            <a:endParaRPr lang="en-US" sz="580" dirty="0"/>
          </a:p>
        </p:txBody>
      </p:sp>
      <p:sp>
        <p:nvSpPr>
          <p:cNvPr id="103" name="Shape 95"/>
          <p:cNvSpPr/>
          <p:nvPr/>
        </p:nvSpPr>
        <p:spPr>
          <a:xfrm>
            <a:off x="4347362" y="3924910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04" name="Text 96"/>
          <p:cNvSpPr txBox="1"/>
          <p:nvPr/>
        </p:nvSpPr>
        <p:spPr>
          <a:xfrm>
            <a:off x="4466234" y="3882847"/>
            <a:ext cx="3378098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8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Gestiones con perito valuador GRIS, S.A. de C.V. – revisión de informe de avalúo (NRP-27)</a:t>
            </a:r>
            <a:endParaRPr lang="en-US" sz="580" dirty="0"/>
          </a:p>
        </p:txBody>
      </p:sp>
      <p:sp>
        <p:nvSpPr>
          <p:cNvPr id="105" name="Shape 97"/>
          <p:cNvSpPr/>
          <p:nvPr/>
        </p:nvSpPr>
        <p:spPr>
          <a:xfrm>
            <a:off x="4347362" y="4097731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06" name="Text 98"/>
          <p:cNvSpPr txBox="1"/>
          <p:nvPr/>
        </p:nvSpPr>
        <p:spPr>
          <a:xfrm>
            <a:off x="4466234" y="4055669"/>
            <a:ext cx="3378098" cy="106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8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informes de avalúos digitales recibidos por peritos</a:t>
            </a:r>
            <a:endParaRPr lang="en-US" sz="580" dirty="0"/>
          </a:p>
        </p:txBody>
      </p:sp>
      <p:sp>
        <p:nvSpPr>
          <p:cNvPr id="107" name="Shape 99"/>
          <p:cNvSpPr/>
          <p:nvPr/>
        </p:nvSpPr>
        <p:spPr>
          <a:xfrm>
            <a:off x="8091221" y="3080004"/>
            <a:ext cx="3734714" cy="1173861"/>
          </a:xfrm>
          <a:prstGeom prst="roundRect">
            <a:avLst>
              <a:gd name="adj" fmla="val 54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108" name="Shape 100"/>
          <p:cNvSpPr/>
          <p:nvPr/>
        </p:nvSpPr>
        <p:spPr>
          <a:xfrm>
            <a:off x="8091221" y="3080004"/>
            <a:ext cx="3734714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9" name="Shape 101"/>
          <p:cNvSpPr/>
          <p:nvPr/>
        </p:nvSpPr>
        <p:spPr>
          <a:xfrm>
            <a:off x="9857994" y="3130296"/>
            <a:ext cx="201168" cy="201168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10" name="Image 6" descr="/tmp/claude-0/-home-user-riesgo/579fb8c8-70e5-51d5-80ec-6ed51cc2e8df/scratchpad/pptx-build/icons/checkcircle_0F766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8228" y="3170530"/>
            <a:ext cx="120701" cy="120701"/>
          </a:xfrm>
          <a:prstGeom prst="rect">
            <a:avLst/>
          </a:prstGeom>
        </p:spPr>
      </p:pic>
      <p:sp>
        <p:nvSpPr>
          <p:cNvPr id="111" name="Text 102"/>
          <p:cNvSpPr txBox="1"/>
          <p:nvPr/>
        </p:nvSpPr>
        <p:spPr>
          <a:xfrm>
            <a:off x="8136941" y="3363468"/>
            <a:ext cx="36432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Regulatoria</a:t>
            </a:r>
            <a:endParaRPr lang="en-US" sz="760" dirty="0"/>
          </a:p>
        </p:txBody>
      </p:sp>
      <p:sp>
        <p:nvSpPr>
          <p:cNvPr id="112" name="Shape 103"/>
          <p:cNvSpPr/>
          <p:nvPr/>
        </p:nvSpPr>
        <p:spPr>
          <a:xfrm>
            <a:off x="9839706" y="3482340"/>
            <a:ext cx="237744" cy="1371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3" name="Shape 104"/>
          <p:cNvSpPr/>
          <p:nvPr/>
        </p:nvSpPr>
        <p:spPr>
          <a:xfrm>
            <a:off x="8210093" y="3551834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14" name="Text 105"/>
          <p:cNvSpPr txBox="1"/>
          <p:nvPr/>
        </p:nvSpPr>
        <p:spPr>
          <a:xfrm>
            <a:off x="8328965" y="3509772"/>
            <a:ext cx="3378098" cy="119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a requerimientos vía correo electrónico SSF</a:t>
            </a:r>
            <a:endParaRPr lang="en-US" sz="670" dirty="0"/>
          </a:p>
        </p:txBody>
      </p:sp>
      <p:sp>
        <p:nvSpPr>
          <p:cNvPr id="115" name="Shape 106"/>
          <p:cNvSpPr/>
          <p:nvPr/>
        </p:nvSpPr>
        <p:spPr>
          <a:xfrm>
            <a:off x="8210093" y="3657448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16" name="Text 107"/>
          <p:cNvSpPr txBox="1"/>
          <p:nvPr/>
        </p:nvSpPr>
        <p:spPr>
          <a:xfrm>
            <a:off x="8328965" y="3615385"/>
            <a:ext cx="3378098" cy="2112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7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 notas SABAO-DR-10417 (visita de supervisión SI/CS) – matriz de resultados del informe preliminar</a:t>
            </a:r>
            <a:endParaRPr lang="en-US" sz="670" dirty="0"/>
          </a:p>
        </p:txBody>
      </p:sp>
      <p:sp>
        <p:nvSpPr>
          <p:cNvPr id="117" name="Shape 108"/>
          <p:cNvSpPr/>
          <p:nvPr/>
        </p:nvSpPr>
        <p:spPr>
          <a:xfrm>
            <a:off x="365760" y="4345305"/>
            <a:ext cx="11460175" cy="219456"/>
          </a:xfrm>
          <a:prstGeom prst="roundRect">
            <a:avLst>
              <a:gd name="adj" fmla="val 20833"/>
            </a:avLst>
          </a:prstGeom>
          <a:solidFill>
            <a:srgbClr val="0F766E"/>
          </a:solidFill>
          <a:ln/>
        </p:spPr>
      </p:sp>
      <p:sp>
        <p:nvSpPr>
          <p:cNvPr id="118" name="Text 109"/>
          <p:cNvSpPr txBox="1"/>
          <p:nvPr/>
        </p:nvSpPr>
        <p:spPr>
          <a:xfrm>
            <a:off x="493776" y="4345305"/>
            <a:ext cx="871697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Melvin</a:t>
            </a:r>
            <a:endParaRPr lang="en-US" sz="1100" dirty="0"/>
          </a:p>
        </p:txBody>
      </p:sp>
      <p:sp>
        <p:nvSpPr>
          <p:cNvPr id="119" name="Text 110"/>
          <p:cNvSpPr txBox="1"/>
          <p:nvPr/>
        </p:nvSpPr>
        <p:spPr>
          <a:xfrm>
            <a:off x="9174175" y="4345305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actividades</a:t>
            </a:r>
            <a:endParaRPr lang="en-US" sz="800" dirty="0"/>
          </a:p>
        </p:txBody>
      </p:sp>
      <p:sp>
        <p:nvSpPr>
          <p:cNvPr id="120" name="Shape 111"/>
          <p:cNvSpPr/>
          <p:nvPr/>
        </p:nvSpPr>
        <p:spPr>
          <a:xfrm>
            <a:off x="365760" y="4592193"/>
            <a:ext cx="2189622" cy="1836039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121" name="Shape 112"/>
          <p:cNvSpPr/>
          <p:nvPr/>
        </p:nvSpPr>
        <p:spPr>
          <a:xfrm>
            <a:off x="365760" y="4592193"/>
            <a:ext cx="2189622" cy="41148"/>
          </a:xfrm>
          <a:prstGeom prst="rect">
            <a:avLst/>
          </a:prstGeom>
          <a:solidFill>
            <a:srgbClr val="1B4F91"/>
          </a:solidFill>
          <a:ln/>
        </p:spPr>
      </p:sp>
      <p:sp>
        <p:nvSpPr>
          <p:cNvPr id="122" name="Shape 113"/>
          <p:cNvSpPr/>
          <p:nvPr/>
        </p:nvSpPr>
        <p:spPr>
          <a:xfrm>
            <a:off x="1359987" y="4642485"/>
            <a:ext cx="201168" cy="201168"/>
          </a:xfrm>
          <a:prstGeom prst="ellipse">
            <a:avLst/>
          </a:prstGeom>
          <a:solidFill>
            <a:srgbClr val="EAF0F8"/>
          </a:solidFill>
          <a:ln/>
        </p:spPr>
      </p:sp>
      <p:pic>
        <p:nvPicPr>
          <p:cNvPr id="123" name="Image 7" descr="/tmp/claude-0/-home-user-riesgo/579fb8c8-70e5-51d5-80ec-6ed51cc2e8df/scratchpad/pptx-build/icons/dollarsign_1B4F91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0221" y="4682719"/>
            <a:ext cx="120701" cy="120701"/>
          </a:xfrm>
          <a:prstGeom prst="rect">
            <a:avLst/>
          </a:prstGeom>
        </p:spPr>
      </p:pic>
      <p:sp>
        <p:nvSpPr>
          <p:cNvPr id="124" name="Text 114"/>
          <p:cNvSpPr txBox="1"/>
          <p:nvPr/>
        </p:nvSpPr>
        <p:spPr>
          <a:xfrm>
            <a:off x="411480" y="4875657"/>
            <a:ext cx="2098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Crediticio</a:t>
            </a:r>
            <a:endParaRPr lang="en-US" sz="760" dirty="0"/>
          </a:p>
        </p:txBody>
      </p:sp>
      <p:sp>
        <p:nvSpPr>
          <p:cNvPr id="125" name="Shape 115"/>
          <p:cNvSpPr/>
          <p:nvPr/>
        </p:nvSpPr>
        <p:spPr>
          <a:xfrm>
            <a:off x="1341699" y="4994529"/>
            <a:ext cx="237744" cy="13716"/>
          </a:xfrm>
          <a:prstGeom prst="rect">
            <a:avLst/>
          </a:prstGeom>
          <a:solidFill>
            <a:srgbClr val="1B4F91"/>
          </a:solidFill>
          <a:ln/>
        </p:spPr>
      </p:sp>
      <p:sp>
        <p:nvSpPr>
          <p:cNvPr id="126" name="Shape 116"/>
          <p:cNvSpPr/>
          <p:nvPr/>
        </p:nvSpPr>
        <p:spPr>
          <a:xfrm>
            <a:off x="484632" y="5064023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27" name="Text 117"/>
          <p:cNvSpPr txBox="1"/>
          <p:nvPr/>
        </p:nvSpPr>
        <p:spPr>
          <a:xfrm>
            <a:off x="603504" y="5021961"/>
            <a:ext cx="1833006" cy="29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modelos de medición del riesgo crediticio: pérdidas esperadas, matrices de transición, cosechas  </a:t>
            </a:r>
            <a:pPr algn="l" indent="0" marL="0">
              <a:lnSpc>
                <a:spcPct val="98000"/>
              </a:lnSpc>
              <a:buNone/>
            </a:pPr>
            <a:r>
              <a:rPr lang="en-US" sz="66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660" dirty="0"/>
          </a:p>
        </p:txBody>
      </p:sp>
      <p:sp>
        <p:nvSpPr>
          <p:cNvPr id="128" name="Shape 118"/>
          <p:cNvSpPr/>
          <p:nvPr/>
        </p:nvSpPr>
        <p:spPr>
          <a:xfrm>
            <a:off x="2683398" y="4592193"/>
            <a:ext cx="2189622" cy="1836039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129" name="Shape 119"/>
          <p:cNvSpPr/>
          <p:nvPr/>
        </p:nvSpPr>
        <p:spPr>
          <a:xfrm>
            <a:off x="2683398" y="4592193"/>
            <a:ext cx="2189622" cy="41148"/>
          </a:xfrm>
          <a:prstGeom prst="rect">
            <a:avLst/>
          </a:prstGeom>
          <a:solidFill>
            <a:srgbClr val="1D63A1"/>
          </a:solidFill>
          <a:ln/>
        </p:spPr>
      </p:sp>
      <p:sp>
        <p:nvSpPr>
          <p:cNvPr id="130" name="Shape 120"/>
          <p:cNvSpPr/>
          <p:nvPr/>
        </p:nvSpPr>
        <p:spPr>
          <a:xfrm>
            <a:off x="3677625" y="4642485"/>
            <a:ext cx="201168" cy="201168"/>
          </a:xfrm>
          <a:prstGeom prst="ellipse">
            <a:avLst/>
          </a:prstGeom>
          <a:solidFill>
            <a:srgbClr val="E8F1FA"/>
          </a:solidFill>
          <a:ln/>
        </p:spPr>
      </p:sp>
      <p:pic>
        <p:nvPicPr>
          <p:cNvPr id="131" name="Image 8" descr="/tmp/claude-0/-home-user-riesgo/579fb8c8-70e5-51d5-80ec-6ed51cc2e8df/scratchpad/pptx-build/icons/trendingup_1D63A1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717859" y="4682719"/>
            <a:ext cx="120701" cy="120701"/>
          </a:xfrm>
          <a:prstGeom prst="rect">
            <a:avLst/>
          </a:prstGeom>
        </p:spPr>
      </p:pic>
      <p:sp>
        <p:nvSpPr>
          <p:cNvPr id="132" name="Text 121"/>
          <p:cNvSpPr txBox="1"/>
          <p:nvPr/>
        </p:nvSpPr>
        <p:spPr>
          <a:xfrm>
            <a:off x="2729118" y="4875657"/>
            <a:ext cx="2098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 y Mercado</a:t>
            </a:r>
            <a:endParaRPr lang="en-US" sz="760" dirty="0"/>
          </a:p>
        </p:txBody>
      </p:sp>
      <p:sp>
        <p:nvSpPr>
          <p:cNvPr id="133" name="Shape 122"/>
          <p:cNvSpPr/>
          <p:nvPr/>
        </p:nvSpPr>
        <p:spPr>
          <a:xfrm>
            <a:off x="3659337" y="4994529"/>
            <a:ext cx="237744" cy="13716"/>
          </a:xfrm>
          <a:prstGeom prst="rect">
            <a:avLst/>
          </a:prstGeom>
          <a:solidFill>
            <a:srgbClr val="1D63A1"/>
          </a:solidFill>
          <a:ln/>
        </p:spPr>
      </p:sp>
      <p:sp>
        <p:nvSpPr>
          <p:cNvPr id="134" name="Shape 123"/>
          <p:cNvSpPr/>
          <p:nvPr/>
        </p:nvSpPr>
        <p:spPr>
          <a:xfrm>
            <a:off x="2802270" y="5064023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35" name="Text 124"/>
          <p:cNvSpPr txBox="1"/>
          <p:nvPr/>
        </p:nvSpPr>
        <p:spPr>
          <a:xfrm>
            <a:off x="2921142" y="5021961"/>
            <a:ext cx="1833006" cy="29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4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modelos de medición del riesgo de mercado y liquidez: volatilidad de captaciones y tasas  </a:t>
            </a:r>
            <a:pPr algn="l" indent="0" marL="0">
              <a:lnSpc>
                <a:spcPct val="98000"/>
              </a:lnSpc>
              <a:buNone/>
            </a:pPr>
            <a:r>
              <a:rPr lang="en-US" sz="64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640" dirty="0"/>
          </a:p>
        </p:txBody>
      </p:sp>
      <p:sp>
        <p:nvSpPr>
          <p:cNvPr id="136" name="Shape 125"/>
          <p:cNvSpPr/>
          <p:nvPr/>
        </p:nvSpPr>
        <p:spPr>
          <a:xfrm>
            <a:off x="2802270" y="5341087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37" name="Text 126"/>
          <p:cNvSpPr txBox="1"/>
          <p:nvPr/>
        </p:nvSpPr>
        <p:spPr>
          <a:xfrm>
            <a:off x="2921142" y="5299024"/>
            <a:ext cx="183300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4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a la SSF del Anexo 03 de la normativa NRP-05  </a:t>
            </a:r>
            <a:pPr algn="l" indent="0" marL="0">
              <a:lnSpc>
                <a:spcPct val="98000"/>
              </a:lnSpc>
              <a:buNone/>
            </a:pPr>
            <a:r>
              <a:rPr lang="en-US" sz="64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40" dirty="0"/>
          </a:p>
        </p:txBody>
      </p:sp>
      <p:sp>
        <p:nvSpPr>
          <p:cNvPr id="138" name="Shape 127"/>
          <p:cNvSpPr/>
          <p:nvPr/>
        </p:nvSpPr>
        <p:spPr>
          <a:xfrm>
            <a:off x="2802270" y="5530367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39" name="Text 128"/>
          <p:cNvSpPr txBox="1"/>
          <p:nvPr/>
        </p:nvSpPr>
        <p:spPr>
          <a:xfrm>
            <a:off x="2921142" y="5488305"/>
            <a:ext cx="1833006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4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sobre escenarios regulatorios del riesgo de liquidez  </a:t>
            </a:r>
            <a:pPr algn="l" indent="0" marL="0">
              <a:lnSpc>
                <a:spcPct val="98000"/>
              </a:lnSpc>
              <a:buNone/>
            </a:pPr>
            <a:r>
              <a:rPr lang="en-US" sz="64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40" dirty="0"/>
          </a:p>
        </p:txBody>
      </p:sp>
      <p:sp>
        <p:nvSpPr>
          <p:cNvPr id="140" name="Shape 129"/>
          <p:cNvSpPr/>
          <p:nvPr/>
        </p:nvSpPr>
        <p:spPr>
          <a:xfrm>
            <a:off x="5001036" y="4592193"/>
            <a:ext cx="2189622" cy="1836039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141" name="Shape 130"/>
          <p:cNvSpPr/>
          <p:nvPr/>
        </p:nvSpPr>
        <p:spPr>
          <a:xfrm>
            <a:off x="5001036" y="4592193"/>
            <a:ext cx="2189622" cy="411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2" name="Shape 131"/>
          <p:cNvSpPr/>
          <p:nvPr/>
        </p:nvSpPr>
        <p:spPr>
          <a:xfrm>
            <a:off x="5995264" y="4642485"/>
            <a:ext cx="201168" cy="201168"/>
          </a:xfrm>
          <a:prstGeom prst="ellipse">
            <a:avLst/>
          </a:prstGeom>
          <a:solidFill>
            <a:srgbClr val="E4F5EA"/>
          </a:solidFill>
          <a:ln/>
        </p:spPr>
      </p:sp>
      <p:pic>
        <p:nvPicPr>
          <p:cNvPr id="143" name="Image 9" descr="/tmp/claude-0/-home-user-riesgo/579fb8c8-70e5-51d5-80ec-6ed51cc2e8df/scratchpad/pptx-build/icons/checkcircle_1E8449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5497" y="4682719"/>
            <a:ext cx="120701" cy="120701"/>
          </a:xfrm>
          <a:prstGeom prst="rect">
            <a:avLst/>
          </a:prstGeom>
        </p:spPr>
      </p:pic>
      <p:sp>
        <p:nvSpPr>
          <p:cNvPr id="144" name="Text 132"/>
          <p:cNvSpPr txBox="1"/>
          <p:nvPr/>
        </p:nvSpPr>
        <p:spPr>
          <a:xfrm>
            <a:off x="5046756" y="4875657"/>
            <a:ext cx="2098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de Riesgo</a:t>
            </a:r>
            <a:endParaRPr lang="en-US" sz="760" dirty="0"/>
          </a:p>
        </p:txBody>
      </p:sp>
      <p:sp>
        <p:nvSpPr>
          <p:cNvPr id="145" name="Shape 133"/>
          <p:cNvSpPr/>
          <p:nvPr/>
        </p:nvSpPr>
        <p:spPr>
          <a:xfrm>
            <a:off x="5976976" y="4994529"/>
            <a:ext cx="237744" cy="1371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6" name="Shape 134"/>
          <p:cNvSpPr/>
          <p:nvPr/>
        </p:nvSpPr>
        <p:spPr>
          <a:xfrm>
            <a:off x="5119908" y="5064023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47" name="Text 135"/>
          <p:cNvSpPr txBox="1"/>
          <p:nvPr/>
        </p:nvSpPr>
        <p:spPr>
          <a:xfrm>
            <a:off x="5238780" y="5021961"/>
            <a:ext cx="1833006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Envíos regulatorios de la normativa NCB-022  </a:t>
            </a:r>
            <a:pPr algn="l" indent="0" marL="0">
              <a:lnSpc>
                <a:spcPct val="98000"/>
              </a:lnSpc>
              <a:buNone/>
            </a:pPr>
            <a:r>
              <a:rPr lang="en-US" sz="5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90" dirty="0"/>
          </a:p>
        </p:txBody>
      </p:sp>
      <p:sp>
        <p:nvSpPr>
          <p:cNvPr id="148" name="Shape 136"/>
          <p:cNvSpPr/>
          <p:nvPr/>
        </p:nvSpPr>
        <p:spPr>
          <a:xfrm>
            <a:off x="5119908" y="5239588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49" name="Text 137"/>
          <p:cNvSpPr txBox="1"/>
          <p:nvPr/>
        </p:nvSpPr>
        <p:spPr>
          <a:xfrm>
            <a:off x="5238780" y="5197526"/>
            <a:ext cx="1833006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de información a la Central de Riesgo (NRP-41)  </a:t>
            </a:r>
            <a:pPr algn="l" indent="0" marL="0">
              <a:lnSpc>
                <a:spcPct val="98000"/>
              </a:lnSpc>
              <a:buNone/>
            </a:pPr>
            <a:r>
              <a:rPr lang="en-US" sz="5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90" dirty="0"/>
          </a:p>
        </p:txBody>
      </p:sp>
      <p:sp>
        <p:nvSpPr>
          <p:cNvPr id="150" name="Shape 138"/>
          <p:cNvSpPr/>
          <p:nvPr/>
        </p:nvSpPr>
        <p:spPr>
          <a:xfrm>
            <a:off x="5119908" y="5415153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51" name="Text 139"/>
          <p:cNvSpPr txBox="1"/>
          <p:nvPr/>
        </p:nvSpPr>
        <p:spPr>
          <a:xfrm>
            <a:off x="5238780" y="5373091"/>
            <a:ext cx="1833006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a la SSF del archivo CTRI-RECR (recuperaciones de activos de riesgo)  </a:t>
            </a:r>
            <a:pPr algn="l" indent="0" marL="0">
              <a:lnSpc>
                <a:spcPct val="98000"/>
              </a:lnSpc>
              <a:buNone/>
            </a:pPr>
            <a:r>
              <a:rPr lang="en-US" sz="5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90" dirty="0"/>
          </a:p>
        </p:txBody>
      </p:sp>
      <p:sp>
        <p:nvSpPr>
          <p:cNvPr id="152" name="Shape 140"/>
          <p:cNvSpPr/>
          <p:nvPr/>
        </p:nvSpPr>
        <p:spPr>
          <a:xfrm>
            <a:off x="5119908" y="5590718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53" name="Text 141"/>
          <p:cNvSpPr txBox="1"/>
          <p:nvPr/>
        </p:nvSpPr>
        <p:spPr>
          <a:xfrm>
            <a:off x="5238780" y="5548655"/>
            <a:ext cx="1833006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a la SSF del detalle de los créditos relacionados  </a:t>
            </a:r>
            <a:pPr algn="l" indent="0" marL="0">
              <a:lnSpc>
                <a:spcPct val="98000"/>
              </a:lnSpc>
              <a:buNone/>
            </a:pPr>
            <a:r>
              <a:rPr lang="en-US" sz="5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90" dirty="0"/>
          </a:p>
        </p:txBody>
      </p:sp>
      <p:sp>
        <p:nvSpPr>
          <p:cNvPr id="154" name="Shape 142"/>
          <p:cNvSpPr/>
          <p:nvPr/>
        </p:nvSpPr>
        <p:spPr>
          <a:xfrm>
            <a:off x="5119908" y="5766283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55" name="Text 143"/>
          <p:cNvSpPr txBox="1"/>
          <p:nvPr/>
        </p:nvSpPr>
        <p:spPr>
          <a:xfrm>
            <a:off x="5238780" y="5724220"/>
            <a:ext cx="1833006" cy="270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Revisión, cuadratura y envío a Contabilidad de cartera de tarjeta de crédito y reserva de saneamiento  </a:t>
            </a:r>
            <a:pPr algn="l" indent="0" marL="0">
              <a:lnSpc>
                <a:spcPct val="98000"/>
              </a:lnSpc>
              <a:buNone/>
            </a:pPr>
            <a:r>
              <a:rPr lang="en-US" sz="5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90" dirty="0"/>
          </a:p>
        </p:txBody>
      </p:sp>
      <p:sp>
        <p:nvSpPr>
          <p:cNvPr id="156" name="Shape 144"/>
          <p:cNvSpPr/>
          <p:nvPr/>
        </p:nvSpPr>
        <p:spPr>
          <a:xfrm>
            <a:off x="5119908" y="6022772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57" name="Text 145"/>
          <p:cNvSpPr txBox="1"/>
          <p:nvPr/>
        </p:nvSpPr>
        <p:spPr>
          <a:xfrm>
            <a:off x="5238780" y="5980709"/>
            <a:ext cx="1833006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evaluación de los activos de riesgo  </a:t>
            </a:r>
            <a:pPr algn="l" indent="0" marL="0">
              <a:lnSpc>
                <a:spcPct val="98000"/>
              </a:lnSpc>
              <a:buNone/>
            </a:pPr>
            <a:r>
              <a:rPr lang="en-US" sz="5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90" dirty="0"/>
          </a:p>
        </p:txBody>
      </p:sp>
      <p:sp>
        <p:nvSpPr>
          <p:cNvPr id="158" name="Shape 146"/>
          <p:cNvSpPr/>
          <p:nvPr/>
        </p:nvSpPr>
        <p:spPr>
          <a:xfrm>
            <a:off x="5119908" y="6198337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59" name="Text 147"/>
          <p:cNvSpPr txBox="1"/>
          <p:nvPr/>
        </p:nvSpPr>
        <p:spPr>
          <a:xfrm>
            <a:off x="5238780" y="6156274"/>
            <a:ext cx="1833006" cy="189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59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evaluación de los créditos relacionados  </a:t>
            </a:r>
            <a:pPr algn="l" indent="0" marL="0">
              <a:lnSpc>
                <a:spcPct val="98000"/>
              </a:lnSpc>
              <a:buNone/>
            </a:pPr>
            <a:r>
              <a:rPr lang="en-US" sz="59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90" dirty="0"/>
          </a:p>
        </p:txBody>
      </p:sp>
      <p:sp>
        <p:nvSpPr>
          <p:cNvPr id="160" name="Shape 148"/>
          <p:cNvSpPr/>
          <p:nvPr/>
        </p:nvSpPr>
        <p:spPr>
          <a:xfrm>
            <a:off x="7318675" y="4592193"/>
            <a:ext cx="2189622" cy="1836039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161" name="Shape 149"/>
          <p:cNvSpPr/>
          <p:nvPr/>
        </p:nvSpPr>
        <p:spPr>
          <a:xfrm>
            <a:off x="7318675" y="4592193"/>
            <a:ext cx="2189622" cy="41148"/>
          </a:xfrm>
          <a:prstGeom prst="rect">
            <a:avLst/>
          </a:prstGeom>
          <a:solidFill>
            <a:srgbClr val="A6650F"/>
          </a:solidFill>
          <a:ln/>
        </p:spPr>
      </p:sp>
      <p:sp>
        <p:nvSpPr>
          <p:cNvPr id="162" name="Shape 150"/>
          <p:cNvSpPr/>
          <p:nvPr/>
        </p:nvSpPr>
        <p:spPr>
          <a:xfrm>
            <a:off x="8312902" y="4642485"/>
            <a:ext cx="201168" cy="201168"/>
          </a:xfrm>
          <a:prstGeom prst="ellipse">
            <a:avLst/>
          </a:prstGeom>
          <a:solidFill>
            <a:srgbClr val="FDF3E7"/>
          </a:solidFill>
          <a:ln/>
        </p:spPr>
      </p:sp>
      <p:pic>
        <p:nvPicPr>
          <p:cNvPr id="163" name="Image 10" descr="/tmp/claude-0/-home-user-riesgo/579fb8c8-70e5-51d5-80ec-6ed51cc2e8df/scratchpad/pptx-build/icons/layers_A6650F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53135" y="4682719"/>
            <a:ext cx="120701" cy="120701"/>
          </a:xfrm>
          <a:prstGeom prst="rect">
            <a:avLst/>
          </a:prstGeom>
        </p:spPr>
      </p:pic>
      <p:sp>
        <p:nvSpPr>
          <p:cNvPr id="164" name="Text 151"/>
          <p:cNvSpPr txBox="1"/>
          <p:nvPr/>
        </p:nvSpPr>
        <p:spPr>
          <a:xfrm>
            <a:off x="7364395" y="4875657"/>
            <a:ext cx="2098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Otros</a:t>
            </a:r>
            <a:endParaRPr lang="en-US" sz="760" dirty="0"/>
          </a:p>
        </p:txBody>
      </p:sp>
      <p:sp>
        <p:nvSpPr>
          <p:cNvPr id="165" name="Shape 152"/>
          <p:cNvSpPr/>
          <p:nvPr/>
        </p:nvSpPr>
        <p:spPr>
          <a:xfrm>
            <a:off x="8294614" y="4994529"/>
            <a:ext cx="237744" cy="13716"/>
          </a:xfrm>
          <a:prstGeom prst="rect">
            <a:avLst/>
          </a:prstGeom>
          <a:solidFill>
            <a:srgbClr val="A6650F"/>
          </a:solidFill>
          <a:ln/>
        </p:spPr>
      </p:sp>
      <p:sp>
        <p:nvSpPr>
          <p:cNvPr id="166" name="Shape 153"/>
          <p:cNvSpPr/>
          <p:nvPr/>
        </p:nvSpPr>
        <p:spPr>
          <a:xfrm>
            <a:off x="7437547" y="5064023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67" name="Text 154"/>
          <p:cNvSpPr txBox="1"/>
          <p:nvPr/>
        </p:nvSpPr>
        <p:spPr>
          <a:xfrm>
            <a:off x="7556419" y="5021961"/>
            <a:ext cx="18330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segmentación de los productos de COMÉDICA  </a:t>
            </a:r>
            <a:pPr algn="l" indent="0" marL="0">
              <a:lnSpc>
                <a:spcPct val="98000"/>
              </a:lnSpc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50" dirty="0"/>
          </a:p>
        </p:txBody>
      </p:sp>
      <p:sp>
        <p:nvSpPr>
          <p:cNvPr id="168" name="Shape 155"/>
          <p:cNvSpPr/>
          <p:nvPr/>
        </p:nvSpPr>
        <p:spPr>
          <a:xfrm>
            <a:off x="7437547" y="5256047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69" name="Text 156"/>
          <p:cNvSpPr txBox="1"/>
          <p:nvPr/>
        </p:nvSpPr>
        <p:spPr>
          <a:xfrm>
            <a:off x="7556419" y="5213985"/>
            <a:ext cx="18330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semanal de la reserva de saneamiento  </a:t>
            </a:r>
            <a:pPr algn="l" indent="0" marL="0">
              <a:lnSpc>
                <a:spcPct val="98000"/>
              </a:lnSpc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650" dirty="0"/>
          </a:p>
        </p:txBody>
      </p:sp>
      <p:sp>
        <p:nvSpPr>
          <p:cNvPr id="170" name="Shape 157"/>
          <p:cNvSpPr/>
          <p:nvPr/>
        </p:nvSpPr>
        <p:spPr>
          <a:xfrm>
            <a:off x="7437547" y="5448071"/>
            <a:ext cx="38405" cy="38405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71" name="Text 158"/>
          <p:cNvSpPr txBox="1"/>
          <p:nvPr/>
        </p:nvSpPr>
        <p:spPr>
          <a:xfrm>
            <a:off x="7556419" y="5406009"/>
            <a:ext cx="18330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mensual de los incrementos en la reserva de saneamiento  </a:t>
            </a:r>
            <a:pPr algn="l" indent="0" marL="0">
              <a:lnSpc>
                <a:spcPct val="98000"/>
              </a:lnSpc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50" dirty="0"/>
          </a:p>
        </p:txBody>
      </p:sp>
      <p:sp>
        <p:nvSpPr>
          <p:cNvPr id="172" name="Shape 159"/>
          <p:cNvSpPr/>
          <p:nvPr/>
        </p:nvSpPr>
        <p:spPr>
          <a:xfrm>
            <a:off x="7437547" y="5640095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73" name="Text 160"/>
          <p:cNvSpPr txBox="1"/>
          <p:nvPr/>
        </p:nvSpPr>
        <p:spPr>
          <a:xfrm>
            <a:off x="7556419" y="5598033"/>
            <a:ext cx="18330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en la Central de Riesgos de los aspirantes a empleados  </a:t>
            </a:r>
            <a:pPr algn="l" indent="0" marL="0">
              <a:lnSpc>
                <a:spcPct val="98000"/>
              </a:lnSpc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50" dirty="0"/>
          </a:p>
        </p:txBody>
      </p:sp>
      <p:sp>
        <p:nvSpPr>
          <p:cNvPr id="174" name="Shape 161"/>
          <p:cNvSpPr/>
          <p:nvPr/>
        </p:nvSpPr>
        <p:spPr>
          <a:xfrm>
            <a:off x="7437547" y="5832119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75" name="Text 162"/>
          <p:cNvSpPr txBox="1"/>
          <p:nvPr/>
        </p:nvSpPr>
        <p:spPr>
          <a:xfrm>
            <a:off x="7556419" y="5790057"/>
            <a:ext cx="1833006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5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permanente de los traslados de deuda  </a:t>
            </a:r>
            <a:pPr algn="l" indent="0" marL="0">
              <a:lnSpc>
                <a:spcPct val="98000"/>
              </a:lnSpc>
              <a:buNone/>
            </a:pPr>
            <a:r>
              <a:rPr lang="en-US" sz="65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50" dirty="0"/>
          </a:p>
        </p:txBody>
      </p:sp>
      <p:sp>
        <p:nvSpPr>
          <p:cNvPr id="176" name="Shape 163"/>
          <p:cNvSpPr/>
          <p:nvPr/>
        </p:nvSpPr>
        <p:spPr>
          <a:xfrm>
            <a:off x="9636313" y="4592193"/>
            <a:ext cx="2189622" cy="1836039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F2F4E">
                <a:alpha val="22000"/>
              </a:srgbClr>
            </a:outerShdw>
          </a:effectLst>
        </p:spPr>
      </p:sp>
      <p:sp>
        <p:nvSpPr>
          <p:cNvPr id="177" name="Shape 164"/>
          <p:cNvSpPr/>
          <p:nvPr/>
        </p:nvSpPr>
        <p:spPr>
          <a:xfrm>
            <a:off x="9636313" y="4592193"/>
            <a:ext cx="2189622" cy="4114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8" name="Shape 165"/>
          <p:cNvSpPr/>
          <p:nvPr/>
        </p:nvSpPr>
        <p:spPr>
          <a:xfrm>
            <a:off x="10630540" y="4642485"/>
            <a:ext cx="201168" cy="201168"/>
          </a:xfrm>
          <a:prstGeom prst="ellipse">
            <a:avLst/>
          </a:prstGeom>
          <a:solidFill>
            <a:srgbClr val="E4F5F3"/>
          </a:solidFill>
          <a:ln/>
        </p:spPr>
      </p:sp>
      <p:pic>
        <p:nvPicPr>
          <p:cNvPr id="179" name="Image 11" descr="/tmp/claude-0/-home-user-riesgo/579fb8c8-70e5-51d5-80ec-6ed51cc2e8df/scratchpad/pptx-build/icons/target_0F766E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70774" y="4682719"/>
            <a:ext cx="120701" cy="120701"/>
          </a:xfrm>
          <a:prstGeom prst="rect">
            <a:avLst/>
          </a:prstGeom>
        </p:spPr>
      </p:pic>
      <p:sp>
        <p:nvSpPr>
          <p:cNvPr id="180" name="Text 166"/>
          <p:cNvSpPr txBox="1"/>
          <p:nvPr/>
        </p:nvSpPr>
        <p:spPr>
          <a:xfrm>
            <a:off x="9682033" y="4875657"/>
            <a:ext cx="209818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4000"/>
              </a:lnSpc>
              <a:buNone/>
            </a:pPr>
            <a:r>
              <a:rPr lang="en-US" sz="760" b="1" dirty="0">
                <a:solidFill>
                  <a:srgbClr val="172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a Largo Plazo</a:t>
            </a:r>
            <a:endParaRPr lang="en-US" sz="760" dirty="0"/>
          </a:p>
        </p:txBody>
      </p:sp>
      <p:sp>
        <p:nvSpPr>
          <p:cNvPr id="181" name="Shape 167"/>
          <p:cNvSpPr/>
          <p:nvPr/>
        </p:nvSpPr>
        <p:spPr>
          <a:xfrm>
            <a:off x="10612252" y="4994529"/>
            <a:ext cx="237744" cy="1371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82" name="Shape 168"/>
          <p:cNvSpPr/>
          <p:nvPr/>
        </p:nvSpPr>
        <p:spPr>
          <a:xfrm>
            <a:off x="9755185" y="5064023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83" name="Text 169"/>
          <p:cNvSpPr txBox="1"/>
          <p:nvPr/>
        </p:nvSpPr>
        <p:spPr>
          <a:xfrm>
            <a:off x="9874057" y="5021961"/>
            <a:ext cx="1833006" cy="208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del sistema de créditos para cumplir reformas de la normativa NRP-41  </a:t>
            </a:r>
            <a:pPr algn="l" indent="0" marL="0">
              <a:lnSpc>
                <a:spcPct val="98000"/>
              </a:lnSpc>
              <a:buNone/>
            </a:pPr>
            <a:r>
              <a:rPr lang="en-US" sz="66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660" dirty="0"/>
          </a:p>
        </p:txBody>
      </p:sp>
      <p:sp>
        <p:nvSpPr>
          <p:cNvPr id="184" name="Shape 170"/>
          <p:cNvSpPr/>
          <p:nvPr/>
        </p:nvSpPr>
        <p:spPr>
          <a:xfrm>
            <a:off x="9755185" y="5258791"/>
            <a:ext cx="38405" cy="38405"/>
          </a:xfrm>
          <a:prstGeom prst="ellipse">
            <a:avLst/>
          </a:prstGeom>
          <a:solidFill>
            <a:srgbClr val="A6650F"/>
          </a:solidFill>
          <a:ln/>
        </p:spPr>
      </p:sp>
      <p:sp>
        <p:nvSpPr>
          <p:cNvPr id="185" name="Text 171"/>
          <p:cNvSpPr txBox="1"/>
          <p:nvPr/>
        </p:nvSpPr>
        <p:spPr>
          <a:xfrm>
            <a:off x="9874057" y="5216728"/>
            <a:ext cx="1833006" cy="299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660" dirty="0">
                <a:solidFill>
                  <a:srgbClr val="243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expedientes de tarjetahabientes de alto riesgo, a solicitud del Consejo de Admón.  </a:t>
            </a:r>
            <a:pPr algn="l" indent="0" marL="0">
              <a:lnSpc>
                <a:spcPct val="98000"/>
              </a:lnSpc>
              <a:buNone/>
            </a:pPr>
            <a:r>
              <a:rPr lang="en-US" sz="66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6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Administración de Riesgos</dc:title>
  <dc:subject>PptxGenJS Presentation</dc:subject>
  <dc:creator>COMÉDICA</dc:creator>
  <cp:lastModifiedBy>COMÉDICA</cp:lastModifiedBy>
  <cp:revision>1</cp:revision>
  <dcterms:created xsi:type="dcterms:W3CDTF">2026-09-18T22:58:52Z</dcterms:created>
  <dcterms:modified xsi:type="dcterms:W3CDTF">2026-09-18T22:58:52Z</dcterms:modified>
</cp:coreProperties>
</file>