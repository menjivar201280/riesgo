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Actividades · Informes Semanal – Mensual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08415" y="411480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3643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814255" y="411480"/>
            <a:ext cx="82296" cy="82296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4227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820095" y="411480"/>
            <a:ext cx="82296" cy="82296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4811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Cronograma de Actividades — Silvia · Sara · Melvin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1170432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B4F9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" y="1170432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174175" y="117043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actividades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1417320"/>
            <a:ext cx="2769032" cy="1504950"/>
          </a:xfrm>
          <a:prstGeom prst="roundRect">
            <a:avLst>
              <a:gd name="adj" fmla="val 42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1417320"/>
            <a:ext cx="276903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9692" y="1467612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27" name="Image 0" descr="/tmp/claude-0/-home-user-riesgo/579fb8c8-70e5-51d5-80ec-6ed51cc2e8df/scratchpad/pptx-build/icons/bookopen_A6650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925" y="1507846"/>
            <a:ext cx="120701" cy="120701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411480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Auditoría</a:t>
            </a:r>
            <a:endParaRPr lang="en-US" sz="760" dirty="0"/>
          </a:p>
        </p:txBody>
      </p:sp>
      <p:sp>
        <p:nvSpPr>
          <p:cNvPr id="29" name="Shape 26"/>
          <p:cNvSpPr/>
          <p:nvPr/>
        </p:nvSpPr>
        <p:spPr>
          <a:xfrm>
            <a:off x="1631404" y="1819656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30" name="Shape 27"/>
          <p:cNvSpPr/>
          <p:nvPr/>
        </p:nvSpPr>
        <p:spPr>
          <a:xfrm>
            <a:off x="484632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3504" y="1847088"/>
            <a:ext cx="2412416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presentación y examen para Capacitación de GIR 2026  </a:t>
            </a:r>
            <a:pPr algn="l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484632" y="208940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03504" y="2047342"/>
            <a:ext cx="2412416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visita AENOR  </a:t>
            </a:r>
            <a:pPr algn="l" indent="0" marL="0">
              <a:lnSpc>
                <a:spcPct val="98000"/>
              </a:lnSpc>
              <a:buNone/>
            </a:pPr>
            <a:r>
              <a:rPr lang="en-US" sz="68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3262808" y="1417320"/>
            <a:ext cx="2769032" cy="1504950"/>
          </a:xfrm>
          <a:prstGeom prst="roundRect">
            <a:avLst>
              <a:gd name="adj" fmla="val 42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62808" y="1417320"/>
            <a:ext cx="276903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6" name="Shape 33"/>
          <p:cNvSpPr/>
          <p:nvPr/>
        </p:nvSpPr>
        <p:spPr>
          <a:xfrm>
            <a:off x="4546740" y="1467612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37" name="Image 1" descr="/tmp/claude-0/-home-user-riesgo/579fb8c8-70e5-51d5-80ec-6ed51cc2e8df/scratchpad/pptx-build/icons/users_0F766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73" y="1507846"/>
            <a:ext cx="120701" cy="120701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3308528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 y Gestión</a:t>
            </a:r>
            <a:endParaRPr lang="en-US" sz="760" dirty="0"/>
          </a:p>
        </p:txBody>
      </p:sp>
      <p:sp>
        <p:nvSpPr>
          <p:cNvPr id="39" name="Shape 35"/>
          <p:cNvSpPr/>
          <p:nvPr/>
        </p:nvSpPr>
        <p:spPr>
          <a:xfrm>
            <a:off x="4528452" y="1819656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0" name="Shape 36"/>
          <p:cNvSpPr/>
          <p:nvPr/>
        </p:nvSpPr>
        <p:spPr>
          <a:xfrm>
            <a:off x="3381680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3500552" y="1847088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ejecutivo RO y Reputacional para Comité (cierre agosto 2026)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660" dirty="0"/>
          </a:p>
        </p:txBody>
      </p:sp>
      <p:sp>
        <p:nvSpPr>
          <p:cNvPr id="42" name="Shape 38"/>
          <p:cNvSpPr/>
          <p:nvPr/>
        </p:nvSpPr>
        <p:spPr>
          <a:xfrm>
            <a:off x="3381680" y="2083918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3500552" y="2041855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con Custodia de Valores – Gestor Documental (Evaluación Matriz de Riesgos)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660" dirty="0"/>
          </a:p>
        </p:txBody>
      </p:sp>
      <p:sp>
        <p:nvSpPr>
          <p:cNvPr id="44" name="Shape 40"/>
          <p:cNvSpPr/>
          <p:nvPr/>
        </p:nvSpPr>
        <p:spPr>
          <a:xfrm>
            <a:off x="3381680" y="227868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3500552" y="2236622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pérdida – Multa Gerencia Finanzas (pendiente firma GF)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60" dirty="0"/>
          </a:p>
        </p:txBody>
      </p:sp>
      <p:sp>
        <p:nvSpPr>
          <p:cNvPr id="46" name="Shape 42"/>
          <p:cNvSpPr/>
          <p:nvPr/>
        </p:nvSpPr>
        <p:spPr>
          <a:xfrm>
            <a:off x="3381680" y="2473452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3500552" y="2431390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Matriz de Acuerdos – Sesión 150 Comité de Riesgos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6159856" y="1417320"/>
            <a:ext cx="2769032" cy="1504950"/>
          </a:xfrm>
          <a:prstGeom prst="roundRect">
            <a:avLst>
              <a:gd name="adj" fmla="val 42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6159856" y="1417320"/>
            <a:ext cx="276903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50" name="Shape 46"/>
          <p:cNvSpPr/>
          <p:nvPr/>
        </p:nvSpPr>
        <p:spPr>
          <a:xfrm>
            <a:off x="7443788" y="1467612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51" name="Image 2" descr="/tmp/claude-0/-home-user-riesgo/579fb8c8-70e5-51d5-80ec-6ed51cc2e8df/scratchpad/pptx-build/icons/refreshcw_1D63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021" y="1507846"/>
            <a:ext cx="120701" cy="120701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6205576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Negocio</a:t>
            </a:r>
            <a:endParaRPr lang="en-US" sz="760" dirty="0"/>
          </a:p>
        </p:txBody>
      </p:sp>
      <p:sp>
        <p:nvSpPr>
          <p:cNvPr id="53" name="Shape 48"/>
          <p:cNvSpPr/>
          <p:nvPr/>
        </p:nvSpPr>
        <p:spPr>
          <a:xfrm>
            <a:off x="7425499" y="1819656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54" name="Shape 49"/>
          <p:cNvSpPr/>
          <p:nvPr/>
        </p:nvSpPr>
        <p:spPr>
          <a:xfrm>
            <a:off x="6278728" y="1889150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397600" y="1847088"/>
            <a:ext cx="241241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primera prueba de CN (10 días hábiles) – envío a SSF vence 12.09.2026  </a:t>
            </a:r>
            <a:pPr algn="l" indent="0" marL="0">
              <a:lnSpc>
                <a:spcPct val="98000"/>
              </a:lnSpc>
              <a:buNone/>
            </a:pPr>
            <a:r>
              <a:rPr lang="en-US" sz="6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70" dirty="0"/>
          </a:p>
        </p:txBody>
      </p:sp>
      <p:sp>
        <p:nvSpPr>
          <p:cNvPr id="56" name="Shape 51"/>
          <p:cNvSpPr/>
          <p:nvPr/>
        </p:nvSpPr>
        <p:spPr>
          <a:xfrm>
            <a:off x="6278728" y="20866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6397600" y="2044598"/>
            <a:ext cx="241241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Gerenciales: seminario "análisis de la cartera" y Diagnóstico SGCN  </a:t>
            </a:r>
            <a:pPr algn="l" indent="0" marL="0">
              <a:lnSpc>
                <a:spcPct val="98000"/>
              </a:lnSpc>
              <a:buNone/>
            </a:pPr>
            <a:r>
              <a:rPr lang="en-US" sz="6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70" dirty="0"/>
          </a:p>
        </p:txBody>
      </p:sp>
      <p:sp>
        <p:nvSpPr>
          <p:cNvPr id="58" name="Shape 53"/>
          <p:cNvSpPr/>
          <p:nvPr/>
        </p:nvSpPr>
        <p:spPr>
          <a:xfrm>
            <a:off x="6278728" y="228417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6397600" y="2242109"/>
            <a:ext cx="241241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Líderes de CN solicitado por Procesos  </a:t>
            </a:r>
            <a:pPr algn="l" indent="0" marL="0">
              <a:lnSpc>
                <a:spcPct val="98000"/>
              </a:lnSpc>
              <a:buNone/>
            </a:pPr>
            <a:r>
              <a:rPr lang="en-US" sz="6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70" dirty="0"/>
          </a:p>
        </p:txBody>
      </p:sp>
      <p:sp>
        <p:nvSpPr>
          <p:cNvPr id="60" name="Shape 55"/>
          <p:cNvSpPr/>
          <p:nvPr/>
        </p:nvSpPr>
        <p:spPr>
          <a:xfrm>
            <a:off x="9056903" y="1417320"/>
            <a:ext cx="2769032" cy="1504950"/>
          </a:xfrm>
          <a:prstGeom prst="roundRect">
            <a:avLst>
              <a:gd name="adj" fmla="val 42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61" name="Shape 56"/>
          <p:cNvSpPr/>
          <p:nvPr/>
        </p:nvSpPr>
        <p:spPr>
          <a:xfrm>
            <a:off x="9056903" y="1417320"/>
            <a:ext cx="276903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62" name="Shape 57"/>
          <p:cNvSpPr/>
          <p:nvPr/>
        </p:nvSpPr>
        <p:spPr>
          <a:xfrm>
            <a:off x="10340835" y="1467612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63" name="Image 3" descr="/tmp/claude-0/-home-user-riesgo/579fb8c8-70e5-51d5-80ec-6ed51cc2e8df/scratchpad/pptx-build/icons/briefcase_1B4F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1069" y="1507846"/>
            <a:ext cx="120701" cy="120701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9102623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760" dirty="0"/>
          </a:p>
        </p:txBody>
      </p:sp>
      <p:sp>
        <p:nvSpPr>
          <p:cNvPr id="65" name="Shape 59"/>
          <p:cNvSpPr/>
          <p:nvPr/>
        </p:nvSpPr>
        <p:spPr>
          <a:xfrm>
            <a:off x="10322547" y="1819656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66" name="Shape 60"/>
          <p:cNvSpPr/>
          <p:nvPr/>
        </p:nvSpPr>
        <p:spPr>
          <a:xfrm>
            <a:off x="9175775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67" name="Text 61"/>
          <p:cNvSpPr txBox="1"/>
          <p:nvPr/>
        </p:nvSpPr>
        <p:spPr>
          <a:xfrm>
            <a:off x="9294647" y="1847088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perfil Gerente General (web) y solicitud de arte a Mercadeo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60" dirty="0"/>
          </a:p>
        </p:txBody>
      </p:sp>
      <p:sp>
        <p:nvSpPr>
          <p:cNvPr id="68" name="Shape 62"/>
          <p:cNvSpPr/>
          <p:nvPr/>
        </p:nvSpPr>
        <p:spPr>
          <a:xfrm>
            <a:off x="9175775" y="208391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9" name="Text 63"/>
          <p:cNvSpPr txBox="1"/>
          <p:nvPr/>
        </p:nvSpPr>
        <p:spPr>
          <a:xfrm>
            <a:off x="9294647" y="2041855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página web de actualización de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  <p:sp>
        <p:nvSpPr>
          <p:cNvPr id="70" name="Shape 64"/>
          <p:cNvSpPr/>
          <p:nvPr/>
        </p:nvSpPr>
        <p:spPr>
          <a:xfrm>
            <a:off x="9175775" y="2278685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1" name="Text 65"/>
          <p:cNvSpPr txBox="1"/>
          <p:nvPr/>
        </p:nvSpPr>
        <p:spPr>
          <a:xfrm>
            <a:off x="9294647" y="2236622"/>
            <a:ext cx="241241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acuerdo del CA a Mercadeo y Educación (traslado de créditos / récord crediticio)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  <p:sp>
        <p:nvSpPr>
          <p:cNvPr id="72" name="Shape 66"/>
          <p:cNvSpPr/>
          <p:nvPr/>
        </p:nvSpPr>
        <p:spPr>
          <a:xfrm>
            <a:off x="9175775" y="2473452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3" name="Text 67"/>
          <p:cNvSpPr txBox="1"/>
          <p:nvPr/>
        </p:nvSpPr>
        <p:spPr>
          <a:xfrm>
            <a:off x="9294647" y="2431390"/>
            <a:ext cx="2412416" cy="117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#1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  <p:sp>
        <p:nvSpPr>
          <p:cNvPr id="74" name="Shape 68"/>
          <p:cNvSpPr/>
          <p:nvPr/>
        </p:nvSpPr>
        <p:spPr>
          <a:xfrm>
            <a:off x="9175775" y="257769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5" name="Text 69"/>
          <p:cNvSpPr txBox="1"/>
          <p:nvPr/>
        </p:nvSpPr>
        <p:spPr>
          <a:xfrm>
            <a:off x="9294647" y="2535631"/>
            <a:ext cx="2412416" cy="117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#2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  <p:sp>
        <p:nvSpPr>
          <p:cNvPr id="76" name="Shape 70"/>
          <p:cNvSpPr/>
          <p:nvPr/>
        </p:nvSpPr>
        <p:spPr>
          <a:xfrm>
            <a:off x="9175775" y="2681935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7" name="Text 71"/>
          <p:cNvSpPr txBox="1"/>
          <p:nvPr/>
        </p:nvSpPr>
        <p:spPr>
          <a:xfrm>
            <a:off x="9294647" y="2639873"/>
            <a:ext cx="2412416" cy="117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#3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  <p:sp>
        <p:nvSpPr>
          <p:cNvPr id="78" name="Shape 72"/>
          <p:cNvSpPr/>
          <p:nvPr/>
        </p:nvSpPr>
        <p:spPr>
          <a:xfrm>
            <a:off x="365760" y="3013710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E8449"/>
          </a:solidFill>
          <a:ln/>
        </p:spPr>
      </p:sp>
      <p:sp>
        <p:nvSpPr>
          <p:cNvPr id="79" name="Text 73"/>
          <p:cNvSpPr txBox="1"/>
          <p:nvPr/>
        </p:nvSpPr>
        <p:spPr>
          <a:xfrm>
            <a:off x="493776" y="3013710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</a:t>
            </a:r>
            <a:endParaRPr lang="en-US" sz="1100" dirty="0"/>
          </a:p>
        </p:txBody>
      </p:sp>
      <p:sp>
        <p:nvSpPr>
          <p:cNvPr id="80" name="Text 74"/>
          <p:cNvSpPr txBox="1"/>
          <p:nvPr/>
        </p:nvSpPr>
        <p:spPr>
          <a:xfrm>
            <a:off x="9174175" y="301371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actividades</a:t>
            </a:r>
            <a:endParaRPr lang="en-US" sz="800" dirty="0"/>
          </a:p>
        </p:txBody>
      </p:sp>
      <p:sp>
        <p:nvSpPr>
          <p:cNvPr id="81" name="Shape 75"/>
          <p:cNvSpPr/>
          <p:nvPr/>
        </p:nvSpPr>
        <p:spPr>
          <a:xfrm>
            <a:off x="365760" y="3260598"/>
            <a:ext cx="3734714" cy="993267"/>
          </a:xfrm>
          <a:prstGeom prst="roundRect">
            <a:avLst>
              <a:gd name="adj" fmla="val 6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365760" y="3260598"/>
            <a:ext cx="3734714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83" name="Shape 77"/>
          <p:cNvSpPr/>
          <p:nvPr/>
        </p:nvSpPr>
        <p:spPr>
          <a:xfrm>
            <a:off x="2132533" y="3310890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84" name="Image 4" descr="/tmp/claude-0/-home-user-riesgo/579fb8c8-70e5-51d5-80ec-6ed51cc2e8df/scratchpad/pptx-build/icons/users_1B4F9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2767" y="3351124"/>
            <a:ext cx="120701" cy="120701"/>
          </a:xfrm>
          <a:prstGeom prst="rect">
            <a:avLst/>
          </a:prstGeom>
        </p:spPr>
      </p:pic>
      <p:sp>
        <p:nvSpPr>
          <p:cNvPr id="85" name="Text 78"/>
          <p:cNvSpPr txBox="1"/>
          <p:nvPr/>
        </p:nvSpPr>
        <p:spPr>
          <a:xfrm>
            <a:off x="411480" y="3544062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</a:t>
            </a:r>
            <a:endParaRPr lang="en-US" sz="760" dirty="0"/>
          </a:p>
        </p:txBody>
      </p:sp>
      <p:sp>
        <p:nvSpPr>
          <p:cNvPr id="86" name="Shape 79"/>
          <p:cNvSpPr/>
          <p:nvPr/>
        </p:nvSpPr>
        <p:spPr>
          <a:xfrm>
            <a:off x="2114245" y="3662934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87" name="Shape 80"/>
          <p:cNvSpPr/>
          <p:nvPr/>
        </p:nvSpPr>
        <p:spPr>
          <a:xfrm>
            <a:off x="484632" y="3732428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8" name="Text 81"/>
          <p:cNvSpPr txBox="1"/>
          <p:nvPr/>
        </p:nvSpPr>
        <p:spPr>
          <a:xfrm>
            <a:off x="603504" y="3690366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matriz de acuerdos Comité de Riesgos</a:t>
            </a:r>
            <a:endParaRPr lang="en-US" sz="670" dirty="0"/>
          </a:p>
        </p:txBody>
      </p:sp>
      <p:sp>
        <p:nvSpPr>
          <p:cNvPr id="89" name="Shape 82"/>
          <p:cNvSpPr/>
          <p:nvPr/>
        </p:nvSpPr>
        <p:spPr>
          <a:xfrm>
            <a:off x="484632" y="3838042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90" name="Text 83"/>
          <p:cNvSpPr txBox="1"/>
          <p:nvPr/>
        </p:nvSpPr>
        <p:spPr>
          <a:xfrm>
            <a:off x="603504" y="3795979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mensual Comité de Riesgos</a:t>
            </a:r>
            <a:endParaRPr lang="en-US" sz="670" dirty="0"/>
          </a:p>
        </p:txBody>
      </p:sp>
      <p:sp>
        <p:nvSpPr>
          <p:cNvPr id="91" name="Shape 84"/>
          <p:cNvSpPr/>
          <p:nvPr/>
        </p:nvSpPr>
        <p:spPr>
          <a:xfrm>
            <a:off x="484632" y="394365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92" name="Text 85"/>
          <p:cNvSpPr txBox="1"/>
          <p:nvPr/>
        </p:nvSpPr>
        <p:spPr>
          <a:xfrm>
            <a:off x="603504" y="390159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mensual de sesión de Comité de Riesgos al Consejo de Administración</a:t>
            </a:r>
            <a:endParaRPr lang="en-US" sz="670" dirty="0"/>
          </a:p>
        </p:txBody>
      </p:sp>
      <p:sp>
        <p:nvSpPr>
          <p:cNvPr id="93" name="Shape 86"/>
          <p:cNvSpPr/>
          <p:nvPr/>
        </p:nvSpPr>
        <p:spPr>
          <a:xfrm>
            <a:off x="484632" y="4049268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94" name="Text 87"/>
          <p:cNvSpPr txBox="1"/>
          <p:nvPr/>
        </p:nvSpPr>
        <p:spPr>
          <a:xfrm>
            <a:off x="603504" y="4007206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informes para Comité de Riesgos</a:t>
            </a:r>
            <a:endParaRPr lang="en-US" sz="670" dirty="0"/>
          </a:p>
        </p:txBody>
      </p:sp>
      <p:sp>
        <p:nvSpPr>
          <p:cNvPr id="95" name="Shape 88"/>
          <p:cNvSpPr/>
          <p:nvPr/>
        </p:nvSpPr>
        <p:spPr>
          <a:xfrm>
            <a:off x="4228490" y="3260598"/>
            <a:ext cx="3734714" cy="993267"/>
          </a:xfrm>
          <a:prstGeom prst="roundRect">
            <a:avLst>
              <a:gd name="adj" fmla="val 6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6" name="Shape 89"/>
          <p:cNvSpPr/>
          <p:nvPr/>
        </p:nvSpPr>
        <p:spPr>
          <a:xfrm>
            <a:off x="4228490" y="3260598"/>
            <a:ext cx="3734714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7" name="Shape 90"/>
          <p:cNvSpPr/>
          <p:nvPr/>
        </p:nvSpPr>
        <p:spPr>
          <a:xfrm>
            <a:off x="5995264" y="3310890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98" name="Image 5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497" y="3351124"/>
            <a:ext cx="120701" cy="120701"/>
          </a:xfrm>
          <a:prstGeom prst="rect">
            <a:avLst/>
          </a:prstGeom>
        </p:spPr>
      </p:pic>
      <p:sp>
        <p:nvSpPr>
          <p:cNvPr id="99" name="Text 91"/>
          <p:cNvSpPr txBox="1"/>
          <p:nvPr/>
        </p:nvSpPr>
        <p:spPr>
          <a:xfrm>
            <a:off x="4274210" y="3544062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760" dirty="0"/>
          </a:p>
        </p:txBody>
      </p:sp>
      <p:sp>
        <p:nvSpPr>
          <p:cNvPr id="100" name="Shape 92"/>
          <p:cNvSpPr/>
          <p:nvPr/>
        </p:nvSpPr>
        <p:spPr>
          <a:xfrm>
            <a:off x="5976976" y="3662934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01" name="Shape 93"/>
          <p:cNvSpPr/>
          <p:nvPr/>
        </p:nvSpPr>
        <p:spPr>
          <a:xfrm>
            <a:off x="4347362" y="3732428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2" name="Text 94"/>
          <p:cNvSpPr txBox="1"/>
          <p:nvPr/>
        </p:nvSpPr>
        <p:spPr>
          <a:xfrm>
            <a:off x="4466234" y="3690366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nueva base de avalúos vencidos y por vencer</a:t>
            </a:r>
            <a:endParaRPr lang="en-US" sz="670" dirty="0"/>
          </a:p>
        </p:txBody>
      </p:sp>
      <p:sp>
        <p:nvSpPr>
          <p:cNvPr id="103" name="Shape 95"/>
          <p:cNvSpPr/>
          <p:nvPr/>
        </p:nvSpPr>
        <p:spPr>
          <a:xfrm>
            <a:off x="4347362" y="3838042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4" name="Text 96"/>
          <p:cNvSpPr txBox="1"/>
          <p:nvPr/>
        </p:nvSpPr>
        <p:spPr>
          <a:xfrm>
            <a:off x="4466234" y="3795979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devolución de avalúos asignados, depurar y reasignar (cambios Norma NCB-022)</a:t>
            </a:r>
            <a:endParaRPr lang="en-US" sz="670" dirty="0"/>
          </a:p>
        </p:txBody>
      </p:sp>
      <p:sp>
        <p:nvSpPr>
          <p:cNvPr id="105" name="Shape 97"/>
          <p:cNvSpPr/>
          <p:nvPr/>
        </p:nvSpPr>
        <p:spPr>
          <a:xfrm>
            <a:off x="4347362" y="4035552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6" name="Text 98"/>
          <p:cNvSpPr txBox="1"/>
          <p:nvPr/>
        </p:nvSpPr>
        <p:spPr>
          <a:xfrm>
            <a:off x="4466234" y="3993490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de avalúos</a:t>
            </a:r>
            <a:endParaRPr lang="en-US" sz="670" dirty="0"/>
          </a:p>
        </p:txBody>
      </p:sp>
      <p:sp>
        <p:nvSpPr>
          <p:cNvPr id="107" name="Shape 99"/>
          <p:cNvSpPr/>
          <p:nvPr/>
        </p:nvSpPr>
        <p:spPr>
          <a:xfrm>
            <a:off x="4347362" y="4141165"/>
            <a:ext cx="38405" cy="38405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108" name="Text 100"/>
          <p:cNvSpPr txBox="1"/>
          <p:nvPr/>
        </p:nvSpPr>
        <p:spPr>
          <a:xfrm>
            <a:off x="4466234" y="4099103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avalúos a peritos valuadores</a:t>
            </a:r>
            <a:endParaRPr lang="en-US" sz="670" dirty="0"/>
          </a:p>
        </p:txBody>
      </p:sp>
      <p:sp>
        <p:nvSpPr>
          <p:cNvPr id="109" name="Shape 101"/>
          <p:cNvSpPr/>
          <p:nvPr/>
        </p:nvSpPr>
        <p:spPr>
          <a:xfrm>
            <a:off x="8091221" y="3260598"/>
            <a:ext cx="3734714" cy="993267"/>
          </a:xfrm>
          <a:prstGeom prst="roundRect">
            <a:avLst>
              <a:gd name="adj" fmla="val 6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10" name="Shape 102"/>
          <p:cNvSpPr/>
          <p:nvPr/>
        </p:nvSpPr>
        <p:spPr>
          <a:xfrm>
            <a:off x="8091221" y="3260598"/>
            <a:ext cx="3734714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1" name="Shape 103"/>
          <p:cNvSpPr/>
          <p:nvPr/>
        </p:nvSpPr>
        <p:spPr>
          <a:xfrm>
            <a:off x="9857994" y="3310890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12" name="Image 6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8228" y="3351124"/>
            <a:ext cx="120701" cy="120701"/>
          </a:xfrm>
          <a:prstGeom prst="rect">
            <a:avLst/>
          </a:prstGeom>
        </p:spPr>
      </p:pic>
      <p:sp>
        <p:nvSpPr>
          <p:cNvPr id="113" name="Text 104"/>
          <p:cNvSpPr txBox="1"/>
          <p:nvPr/>
        </p:nvSpPr>
        <p:spPr>
          <a:xfrm>
            <a:off x="8136941" y="3544062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Regulatoria</a:t>
            </a:r>
            <a:endParaRPr lang="en-US" sz="760" dirty="0"/>
          </a:p>
        </p:txBody>
      </p:sp>
      <p:sp>
        <p:nvSpPr>
          <p:cNvPr id="114" name="Shape 105"/>
          <p:cNvSpPr/>
          <p:nvPr/>
        </p:nvSpPr>
        <p:spPr>
          <a:xfrm>
            <a:off x="9839706" y="3662934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5" name="Shape 106"/>
          <p:cNvSpPr/>
          <p:nvPr/>
        </p:nvSpPr>
        <p:spPr>
          <a:xfrm>
            <a:off x="8210093" y="3732428"/>
            <a:ext cx="38405" cy="38405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116" name="Text 107"/>
          <p:cNvSpPr txBox="1"/>
          <p:nvPr/>
        </p:nvSpPr>
        <p:spPr>
          <a:xfrm>
            <a:off x="8328965" y="3690366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 requerimientos SSF – BCR</a:t>
            </a:r>
            <a:endParaRPr lang="en-US" sz="670" dirty="0"/>
          </a:p>
        </p:txBody>
      </p:sp>
      <p:sp>
        <p:nvSpPr>
          <p:cNvPr id="117" name="Shape 108"/>
          <p:cNvSpPr/>
          <p:nvPr/>
        </p:nvSpPr>
        <p:spPr>
          <a:xfrm>
            <a:off x="365760" y="4345305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118" name="Text 109"/>
          <p:cNvSpPr txBox="1"/>
          <p:nvPr/>
        </p:nvSpPr>
        <p:spPr>
          <a:xfrm>
            <a:off x="493776" y="4345305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Melvin</a:t>
            </a:r>
            <a:endParaRPr lang="en-US" sz="1100" dirty="0"/>
          </a:p>
        </p:txBody>
      </p:sp>
      <p:sp>
        <p:nvSpPr>
          <p:cNvPr id="119" name="Text 110"/>
          <p:cNvSpPr txBox="1"/>
          <p:nvPr/>
        </p:nvSpPr>
        <p:spPr>
          <a:xfrm>
            <a:off x="9174175" y="4345305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actividades</a:t>
            </a:r>
            <a:endParaRPr lang="en-US" sz="800" dirty="0"/>
          </a:p>
        </p:txBody>
      </p:sp>
      <p:sp>
        <p:nvSpPr>
          <p:cNvPr id="120" name="Shape 111"/>
          <p:cNvSpPr/>
          <p:nvPr/>
        </p:nvSpPr>
        <p:spPr>
          <a:xfrm>
            <a:off x="365760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1" name="Shape 112"/>
          <p:cNvSpPr/>
          <p:nvPr/>
        </p:nvSpPr>
        <p:spPr>
          <a:xfrm>
            <a:off x="365760" y="4592193"/>
            <a:ext cx="218962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2" name="Shape 113"/>
          <p:cNvSpPr/>
          <p:nvPr/>
        </p:nvSpPr>
        <p:spPr>
          <a:xfrm>
            <a:off x="1359987" y="4642485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23" name="Image 7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0221" y="4682719"/>
            <a:ext cx="120701" cy="120701"/>
          </a:xfrm>
          <a:prstGeom prst="rect">
            <a:avLst/>
          </a:prstGeom>
        </p:spPr>
      </p:pic>
      <p:sp>
        <p:nvSpPr>
          <p:cNvPr id="124" name="Text 114"/>
          <p:cNvSpPr txBox="1"/>
          <p:nvPr/>
        </p:nvSpPr>
        <p:spPr>
          <a:xfrm>
            <a:off x="411480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760" dirty="0"/>
          </a:p>
        </p:txBody>
      </p:sp>
      <p:sp>
        <p:nvSpPr>
          <p:cNvPr id="125" name="Shape 115"/>
          <p:cNvSpPr/>
          <p:nvPr/>
        </p:nvSpPr>
        <p:spPr>
          <a:xfrm>
            <a:off x="1341699" y="4994529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6" name="Shape 116"/>
          <p:cNvSpPr/>
          <p:nvPr/>
        </p:nvSpPr>
        <p:spPr>
          <a:xfrm>
            <a:off x="484632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27" name="Text 117"/>
          <p:cNvSpPr txBox="1"/>
          <p:nvPr/>
        </p:nvSpPr>
        <p:spPr>
          <a:xfrm>
            <a:off x="603504" y="5021961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crediticio: pérdidas esperadas, matrices de transición, cosechas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60" dirty="0"/>
          </a:p>
        </p:txBody>
      </p:sp>
      <p:sp>
        <p:nvSpPr>
          <p:cNvPr id="128" name="Shape 118"/>
          <p:cNvSpPr/>
          <p:nvPr/>
        </p:nvSpPr>
        <p:spPr>
          <a:xfrm>
            <a:off x="2683398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9" name="Shape 119"/>
          <p:cNvSpPr/>
          <p:nvPr/>
        </p:nvSpPr>
        <p:spPr>
          <a:xfrm>
            <a:off x="2683398" y="4592193"/>
            <a:ext cx="218962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0" name="Shape 120"/>
          <p:cNvSpPr/>
          <p:nvPr/>
        </p:nvSpPr>
        <p:spPr>
          <a:xfrm>
            <a:off x="3677625" y="4642485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31" name="Image 8" descr="/tmp/claude-0/-home-user-riesgo/579fb8c8-70e5-51d5-80ec-6ed51cc2e8df/scratchpad/pptx-build/icons/trendingup_1D63A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7859" y="4682719"/>
            <a:ext cx="120701" cy="120701"/>
          </a:xfrm>
          <a:prstGeom prst="rect">
            <a:avLst/>
          </a:prstGeom>
        </p:spPr>
      </p:pic>
      <p:sp>
        <p:nvSpPr>
          <p:cNvPr id="132" name="Text 121"/>
          <p:cNvSpPr txBox="1"/>
          <p:nvPr/>
        </p:nvSpPr>
        <p:spPr>
          <a:xfrm>
            <a:off x="2729118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 y Mercado</a:t>
            </a:r>
            <a:endParaRPr lang="en-US" sz="760" dirty="0"/>
          </a:p>
        </p:txBody>
      </p:sp>
      <p:sp>
        <p:nvSpPr>
          <p:cNvPr id="133" name="Shape 122"/>
          <p:cNvSpPr/>
          <p:nvPr/>
        </p:nvSpPr>
        <p:spPr>
          <a:xfrm>
            <a:off x="3659337" y="4994529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4" name="Shape 123"/>
          <p:cNvSpPr/>
          <p:nvPr/>
        </p:nvSpPr>
        <p:spPr>
          <a:xfrm>
            <a:off x="2802270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5" name="Text 124"/>
          <p:cNvSpPr txBox="1"/>
          <p:nvPr/>
        </p:nvSpPr>
        <p:spPr>
          <a:xfrm>
            <a:off x="2921142" y="5021961"/>
            <a:ext cx="1833006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de mercado y liquidez: volatilidad de captaciones y tasas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40" dirty="0"/>
          </a:p>
        </p:txBody>
      </p:sp>
      <p:sp>
        <p:nvSpPr>
          <p:cNvPr id="136" name="Shape 125"/>
          <p:cNvSpPr/>
          <p:nvPr/>
        </p:nvSpPr>
        <p:spPr>
          <a:xfrm>
            <a:off x="2802270" y="5341087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7" name="Text 126"/>
          <p:cNvSpPr txBox="1"/>
          <p:nvPr/>
        </p:nvSpPr>
        <p:spPr>
          <a:xfrm>
            <a:off x="2921142" y="5299024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Anexo 03 de la normativa NRP-05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40" dirty="0"/>
          </a:p>
        </p:txBody>
      </p:sp>
      <p:sp>
        <p:nvSpPr>
          <p:cNvPr id="138" name="Shape 127"/>
          <p:cNvSpPr/>
          <p:nvPr/>
        </p:nvSpPr>
        <p:spPr>
          <a:xfrm>
            <a:off x="2802270" y="5530367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9" name="Text 128"/>
          <p:cNvSpPr txBox="1"/>
          <p:nvPr/>
        </p:nvSpPr>
        <p:spPr>
          <a:xfrm>
            <a:off x="2921142" y="5488305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escenarios regulatorios del riesgo de liquidez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40" dirty="0"/>
          </a:p>
        </p:txBody>
      </p:sp>
      <p:sp>
        <p:nvSpPr>
          <p:cNvPr id="140" name="Shape 129"/>
          <p:cNvSpPr/>
          <p:nvPr/>
        </p:nvSpPr>
        <p:spPr>
          <a:xfrm>
            <a:off x="5001036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41" name="Shape 130"/>
          <p:cNvSpPr/>
          <p:nvPr/>
        </p:nvSpPr>
        <p:spPr>
          <a:xfrm>
            <a:off x="5001036" y="4592193"/>
            <a:ext cx="2189622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2" name="Shape 131"/>
          <p:cNvSpPr/>
          <p:nvPr/>
        </p:nvSpPr>
        <p:spPr>
          <a:xfrm>
            <a:off x="5995264" y="4642485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43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497" y="4682719"/>
            <a:ext cx="120701" cy="120701"/>
          </a:xfrm>
          <a:prstGeom prst="rect">
            <a:avLst/>
          </a:prstGeom>
        </p:spPr>
      </p:pic>
      <p:sp>
        <p:nvSpPr>
          <p:cNvPr id="144" name="Text 132"/>
          <p:cNvSpPr txBox="1"/>
          <p:nvPr/>
        </p:nvSpPr>
        <p:spPr>
          <a:xfrm>
            <a:off x="5046756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</a:t>
            </a:r>
            <a:endParaRPr lang="en-US" sz="760" dirty="0"/>
          </a:p>
        </p:txBody>
      </p:sp>
      <p:sp>
        <p:nvSpPr>
          <p:cNvPr id="145" name="Shape 133"/>
          <p:cNvSpPr/>
          <p:nvPr/>
        </p:nvSpPr>
        <p:spPr>
          <a:xfrm>
            <a:off x="5976976" y="4994529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6" name="Shape 134"/>
          <p:cNvSpPr/>
          <p:nvPr/>
        </p:nvSpPr>
        <p:spPr>
          <a:xfrm>
            <a:off x="5119908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7" name="Text 135"/>
          <p:cNvSpPr txBox="1"/>
          <p:nvPr/>
        </p:nvSpPr>
        <p:spPr>
          <a:xfrm>
            <a:off x="5238780" y="502196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de la normativa NCB-022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48" name="Shape 136"/>
          <p:cNvSpPr/>
          <p:nvPr/>
        </p:nvSpPr>
        <p:spPr>
          <a:xfrm>
            <a:off x="5119908" y="523958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9" name="Text 137"/>
          <p:cNvSpPr txBox="1"/>
          <p:nvPr/>
        </p:nvSpPr>
        <p:spPr>
          <a:xfrm>
            <a:off x="5238780" y="5197526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0" name="Shape 138"/>
          <p:cNvSpPr/>
          <p:nvPr/>
        </p:nvSpPr>
        <p:spPr>
          <a:xfrm>
            <a:off x="5119908" y="541515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1" name="Text 139"/>
          <p:cNvSpPr txBox="1"/>
          <p:nvPr/>
        </p:nvSpPr>
        <p:spPr>
          <a:xfrm>
            <a:off x="5238780" y="537309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archivo CTRI-RECR (recuperaciones de activos de riesgo)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2" name="Shape 140"/>
          <p:cNvSpPr/>
          <p:nvPr/>
        </p:nvSpPr>
        <p:spPr>
          <a:xfrm>
            <a:off x="5119908" y="559071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3" name="Text 141"/>
          <p:cNvSpPr txBox="1"/>
          <p:nvPr/>
        </p:nvSpPr>
        <p:spPr>
          <a:xfrm>
            <a:off x="5238780" y="5548655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detalle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4" name="Shape 142"/>
          <p:cNvSpPr/>
          <p:nvPr/>
        </p:nvSpPr>
        <p:spPr>
          <a:xfrm>
            <a:off x="5119908" y="576628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5" name="Text 143"/>
          <p:cNvSpPr txBox="1"/>
          <p:nvPr/>
        </p:nvSpPr>
        <p:spPr>
          <a:xfrm>
            <a:off x="5238780" y="5724220"/>
            <a:ext cx="1833006" cy="2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Revisión, cuadratura y envío a Contabilidad de cartera de tarjeta de crédito y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6" name="Shape 144"/>
          <p:cNvSpPr/>
          <p:nvPr/>
        </p:nvSpPr>
        <p:spPr>
          <a:xfrm>
            <a:off x="5119908" y="6022772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7" name="Text 145"/>
          <p:cNvSpPr txBox="1"/>
          <p:nvPr/>
        </p:nvSpPr>
        <p:spPr>
          <a:xfrm>
            <a:off x="5238780" y="5980709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activos de riesgo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8" name="Shape 146"/>
          <p:cNvSpPr/>
          <p:nvPr/>
        </p:nvSpPr>
        <p:spPr>
          <a:xfrm>
            <a:off x="5119908" y="619833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9" name="Text 147"/>
          <p:cNvSpPr txBox="1"/>
          <p:nvPr/>
        </p:nvSpPr>
        <p:spPr>
          <a:xfrm>
            <a:off x="5238780" y="6156274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60" name="Shape 148"/>
          <p:cNvSpPr/>
          <p:nvPr/>
        </p:nvSpPr>
        <p:spPr>
          <a:xfrm>
            <a:off x="7318675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61" name="Shape 149"/>
          <p:cNvSpPr/>
          <p:nvPr/>
        </p:nvSpPr>
        <p:spPr>
          <a:xfrm>
            <a:off x="7318675" y="4592193"/>
            <a:ext cx="218962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2" name="Shape 150"/>
          <p:cNvSpPr/>
          <p:nvPr/>
        </p:nvSpPr>
        <p:spPr>
          <a:xfrm>
            <a:off x="8312902" y="4642485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163" name="Image 10" descr="/tmp/claude-0/-home-user-riesgo/579fb8c8-70e5-51d5-80ec-6ed51cc2e8df/scratchpad/pptx-build/icons/layers_A6650F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3135" y="4682719"/>
            <a:ext cx="120701" cy="120701"/>
          </a:xfrm>
          <a:prstGeom prst="rect">
            <a:avLst/>
          </a:prstGeom>
        </p:spPr>
      </p:pic>
      <p:sp>
        <p:nvSpPr>
          <p:cNvPr id="164" name="Text 151"/>
          <p:cNvSpPr txBox="1"/>
          <p:nvPr/>
        </p:nvSpPr>
        <p:spPr>
          <a:xfrm>
            <a:off x="7364395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760" dirty="0"/>
          </a:p>
        </p:txBody>
      </p:sp>
      <p:sp>
        <p:nvSpPr>
          <p:cNvPr id="165" name="Shape 152"/>
          <p:cNvSpPr/>
          <p:nvPr/>
        </p:nvSpPr>
        <p:spPr>
          <a:xfrm>
            <a:off x="8294614" y="4994529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6" name="Shape 153"/>
          <p:cNvSpPr/>
          <p:nvPr/>
        </p:nvSpPr>
        <p:spPr>
          <a:xfrm>
            <a:off x="7437547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7" name="Text 154"/>
          <p:cNvSpPr txBox="1"/>
          <p:nvPr/>
        </p:nvSpPr>
        <p:spPr>
          <a:xfrm>
            <a:off x="7556419" y="5021961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segmentación de los productos de COMÉDICA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168" name="Shape 155"/>
          <p:cNvSpPr/>
          <p:nvPr/>
        </p:nvSpPr>
        <p:spPr>
          <a:xfrm>
            <a:off x="7437547" y="5256047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9" name="Text 156"/>
          <p:cNvSpPr txBox="1"/>
          <p:nvPr/>
        </p:nvSpPr>
        <p:spPr>
          <a:xfrm>
            <a:off x="7556419" y="5213985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50" dirty="0"/>
          </a:p>
        </p:txBody>
      </p:sp>
      <p:sp>
        <p:nvSpPr>
          <p:cNvPr id="170" name="Shape 157"/>
          <p:cNvSpPr/>
          <p:nvPr/>
        </p:nvSpPr>
        <p:spPr>
          <a:xfrm>
            <a:off x="7437547" y="544807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71" name="Text 158"/>
          <p:cNvSpPr txBox="1"/>
          <p:nvPr/>
        </p:nvSpPr>
        <p:spPr>
          <a:xfrm>
            <a:off x="7556419" y="5406009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mensual de los incrementos en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2" name="Shape 159"/>
          <p:cNvSpPr/>
          <p:nvPr/>
        </p:nvSpPr>
        <p:spPr>
          <a:xfrm>
            <a:off x="7437547" y="564009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3" name="Text 160"/>
          <p:cNvSpPr txBox="1"/>
          <p:nvPr/>
        </p:nvSpPr>
        <p:spPr>
          <a:xfrm>
            <a:off x="7556419" y="5598033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la Central de Riesgos de los aspirantes a empleados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4" name="Shape 161"/>
          <p:cNvSpPr/>
          <p:nvPr/>
        </p:nvSpPr>
        <p:spPr>
          <a:xfrm>
            <a:off x="7437547" y="583211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5" name="Text 162"/>
          <p:cNvSpPr txBox="1"/>
          <p:nvPr/>
        </p:nvSpPr>
        <p:spPr>
          <a:xfrm>
            <a:off x="7556419" y="5790057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6" name="Shape 163"/>
          <p:cNvSpPr/>
          <p:nvPr/>
        </p:nvSpPr>
        <p:spPr>
          <a:xfrm>
            <a:off x="9636313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77" name="Shape 164"/>
          <p:cNvSpPr/>
          <p:nvPr/>
        </p:nvSpPr>
        <p:spPr>
          <a:xfrm>
            <a:off x="9636313" y="4592193"/>
            <a:ext cx="218962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8" name="Shape 165"/>
          <p:cNvSpPr/>
          <p:nvPr/>
        </p:nvSpPr>
        <p:spPr>
          <a:xfrm>
            <a:off x="10630540" y="4642485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79" name="Image 11" descr="/tmp/claude-0/-home-user-riesgo/579fb8c8-70e5-51d5-80ec-6ed51cc2e8df/scratchpad/pptx-build/icons/target_0F766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0774" y="4682719"/>
            <a:ext cx="120701" cy="120701"/>
          </a:xfrm>
          <a:prstGeom prst="rect">
            <a:avLst/>
          </a:prstGeom>
        </p:spPr>
      </p:pic>
      <p:sp>
        <p:nvSpPr>
          <p:cNvPr id="180" name="Text 166"/>
          <p:cNvSpPr txBox="1"/>
          <p:nvPr/>
        </p:nvSpPr>
        <p:spPr>
          <a:xfrm>
            <a:off x="9682033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Largo Plazo</a:t>
            </a:r>
            <a:endParaRPr lang="en-US" sz="760" dirty="0"/>
          </a:p>
        </p:txBody>
      </p:sp>
      <p:sp>
        <p:nvSpPr>
          <p:cNvPr id="181" name="Shape 167"/>
          <p:cNvSpPr/>
          <p:nvPr/>
        </p:nvSpPr>
        <p:spPr>
          <a:xfrm>
            <a:off x="10612252" y="4994529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2" name="Shape 168"/>
          <p:cNvSpPr/>
          <p:nvPr/>
        </p:nvSpPr>
        <p:spPr>
          <a:xfrm>
            <a:off x="9755185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3" name="Text 169"/>
          <p:cNvSpPr txBox="1"/>
          <p:nvPr/>
        </p:nvSpPr>
        <p:spPr>
          <a:xfrm>
            <a:off x="9874057" y="5021961"/>
            <a:ext cx="1833006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del sistema de créditos para cumplir reformas de la normativa NRP-41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60" dirty="0"/>
          </a:p>
        </p:txBody>
      </p:sp>
      <p:sp>
        <p:nvSpPr>
          <p:cNvPr id="184" name="Shape 170"/>
          <p:cNvSpPr/>
          <p:nvPr/>
        </p:nvSpPr>
        <p:spPr>
          <a:xfrm>
            <a:off x="9755185" y="5258791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5" name="Text 171"/>
          <p:cNvSpPr txBox="1"/>
          <p:nvPr/>
        </p:nvSpPr>
        <p:spPr>
          <a:xfrm>
            <a:off x="9874057" y="5216728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expedientes de tarjetahabientes de alto riesgo, a solicitud del Consejo de Admón.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Administración de Riesgos</dc:title>
  <dc:subject>PptxGenJS Presentation</dc:subject>
  <dc:creator>COMÉDICA</dc:creator>
  <cp:lastModifiedBy>COMÉDICA</cp:lastModifiedBy>
  <cp:revision>1</cp:revision>
  <dcterms:created xsi:type="dcterms:W3CDTF">2026-09-11T20:30:22Z</dcterms:created>
  <dcterms:modified xsi:type="dcterms:W3CDTF">2026-09-11T20:30:22Z</dcterms:modified>
</cp:coreProperties>
</file>