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y cumplimiento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Administración de Riesgos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170432"/>
            <a:ext cx="2160361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8197" y="1298448"/>
            <a:ext cx="475488" cy="47548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8" name="Image 0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781" y="1399032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20624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81349" y="2048256"/>
            <a:ext cx="329184" cy="20117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21" name="Shape 18"/>
          <p:cNvSpPr/>
          <p:nvPr/>
        </p:nvSpPr>
        <p:spPr>
          <a:xfrm>
            <a:off x="493776" y="2157984"/>
            <a:ext cx="1554480" cy="173736"/>
          </a:xfrm>
          <a:prstGeom prst="roundRect">
            <a:avLst>
              <a:gd name="adj" fmla="val 50000"/>
            </a:avLst>
          </a:prstGeom>
          <a:solidFill>
            <a:srgbClr val="EAF0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3776" y="2157984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93776" y="2450592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FINANCIEROS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93776" y="272034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264261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de Préstamo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3776" y="293751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285978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Modificados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" y="315468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" y="307695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 de Deuda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93776" y="337185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" y="329412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Vencimiento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93776" y="358902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0080" y="351129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690713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2690713" y="1170432"/>
            <a:ext cx="2160361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6" name="Shape 33"/>
          <p:cNvSpPr/>
          <p:nvPr/>
        </p:nvSpPr>
        <p:spPr>
          <a:xfrm>
            <a:off x="3533150" y="1298448"/>
            <a:ext cx="475488" cy="47548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37" name="Image 1" descr="/tmp/claude-0/-home-user-riesgo/579fb8c8-70e5-51d5-80ec-6ed51cc2e8df/scratchpad/pptx-build/icons/activity_A6650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734" y="1399032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2745577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3606302" y="2048256"/>
            <a:ext cx="329184" cy="20117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782153" y="2157984"/>
            <a:ext cx="197748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 OPERACIONAL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3290834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E0392B"/>
          </a:solidFill>
          <a:ln/>
        </p:spPr>
      </p:sp>
      <p:sp>
        <p:nvSpPr>
          <p:cNvPr id="42" name="Shape 38"/>
          <p:cNvSpPr/>
          <p:nvPr/>
        </p:nvSpPr>
        <p:spPr>
          <a:xfrm>
            <a:off x="3537722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E0392B"/>
          </a:solidFill>
          <a:ln/>
        </p:spPr>
      </p:sp>
      <p:sp>
        <p:nvSpPr>
          <p:cNvPr id="43" name="Shape 39"/>
          <p:cNvSpPr/>
          <p:nvPr/>
        </p:nvSpPr>
        <p:spPr>
          <a:xfrm>
            <a:off x="3784610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4" name="Shape 40"/>
          <p:cNvSpPr/>
          <p:nvPr/>
        </p:nvSpPr>
        <p:spPr>
          <a:xfrm>
            <a:off x="4031498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5" name="Shape 41"/>
          <p:cNvSpPr/>
          <p:nvPr/>
        </p:nvSpPr>
        <p:spPr>
          <a:xfrm>
            <a:off x="3290834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6" name="Shape 42"/>
          <p:cNvSpPr/>
          <p:nvPr/>
        </p:nvSpPr>
        <p:spPr>
          <a:xfrm>
            <a:off x="3537722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47" name="Shape 43"/>
          <p:cNvSpPr/>
          <p:nvPr/>
        </p:nvSpPr>
        <p:spPr>
          <a:xfrm>
            <a:off x="3784610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48" name="Shape 44"/>
          <p:cNvSpPr/>
          <p:nvPr/>
        </p:nvSpPr>
        <p:spPr>
          <a:xfrm>
            <a:off x="4031498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49" name="Shape 45"/>
          <p:cNvSpPr/>
          <p:nvPr/>
        </p:nvSpPr>
        <p:spPr>
          <a:xfrm>
            <a:off x="3290834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50" name="Shape 46"/>
          <p:cNvSpPr/>
          <p:nvPr/>
        </p:nvSpPr>
        <p:spPr>
          <a:xfrm>
            <a:off x="3537722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1" name="Shape 47"/>
          <p:cNvSpPr/>
          <p:nvPr/>
        </p:nvSpPr>
        <p:spPr>
          <a:xfrm>
            <a:off x="3784610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2" name="Shape 48"/>
          <p:cNvSpPr/>
          <p:nvPr/>
        </p:nvSpPr>
        <p:spPr>
          <a:xfrm>
            <a:off x="4031498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2782153" y="2862072"/>
            <a:ext cx="197748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/ Impacto</a:t>
            </a:r>
            <a:endParaRPr lang="en-US" sz="700" dirty="0"/>
          </a:p>
        </p:txBody>
      </p:sp>
      <p:sp>
        <p:nvSpPr>
          <p:cNvPr id="54" name="Text 50"/>
          <p:cNvSpPr txBox="1"/>
          <p:nvPr/>
        </p:nvSpPr>
        <p:spPr>
          <a:xfrm>
            <a:off x="2818729" y="3081528"/>
            <a:ext cx="1904329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RIESGO OPERACIONAL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2818729" y="3282696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56" name="Image 2" descr="/tmp/claude-0/-home-user-riesgo/579fb8c8-70e5-51d5-80ec-6ed51cc2e8df/scratchpad/pptx-build/icons/search_A6650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4449" y="3328416"/>
            <a:ext cx="128016" cy="128016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3147913" y="32644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2921142" y="3502152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9" name="Shape 54"/>
          <p:cNvSpPr/>
          <p:nvPr/>
        </p:nvSpPr>
        <p:spPr>
          <a:xfrm>
            <a:off x="2818729" y="3721608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0" name="Image 3" descr="/tmp/claude-0/-home-user-riesgo/579fb8c8-70e5-51d5-80ec-6ed51cc2e8df/scratchpad/pptx-build/icons/edit3_A6650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449" y="3767328"/>
            <a:ext cx="128016" cy="12801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147913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900" dirty="0"/>
          </a:p>
        </p:txBody>
      </p:sp>
      <p:sp>
        <p:nvSpPr>
          <p:cNvPr id="62" name="Shape 56"/>
          <p:cNvSpPr/>
          <p:nvPr/>
        </p:nvSpPr>
        <p:spPr>
          <a:xfrm>
            <a:off x="2921142" y="3941064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3" name="Shape 57"/>
          <p:cNvSpPr/>
          <p:nvPr/>
        </p:nvSpPr>
        <p:spPr>
          <a:xfrm>
            <a:off x="2818729" y="4160520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4" name="Image 4" descr="/tmp/claude-0/-home-user-riesgo/579fb8c8-70e5-51d5-80ec-6ed51cc2e8df/scratchpad/pptx-build/icons/barchart2_A6650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449" y="4206240"/>
            <a:ext cx="128016" cy="128016"/>
          </a:xfrm>
          <a:prstGeom prst="rect">
            <a:avLst/>
          </a:prstGeom>
        </p:spPr>
      </p:pic>
      <p:sp>
        <p:nvSpPr>
          <p:cNvPr id="65" name="Text 58"/>
          <p:cNvSpPr txBox="1"/>
          <p:nvPr/>
        </p:nvSpPr>
        <p:spPr>
          <a:xfrm>
            <a:off x="3147913" y="4142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900" dirty="0"/>
          </a:p>
        </p:txBody>
      </p:sp>
      <p:sp>
        <p:nvSpPr>
          <p:cNvPr id="66" name="Shape 59"/>
          <p:cNvSpPr/>
          <p:nvPr/>
        </p:nvSpPr>
        <p:spPr>
          <a:xfrm>
            <a:off x="2921142" y="437997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7" name="Shape 60"/>
          <p:cNvSpPr/>
          <p:nvPr/>
        </p:nvSpPr>
        <p:spPr>
          <a:xfrm>
            <a:off x="2818729" y="4599432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8" name="Image 5" descr="/tmp/claude-0/-home-user-riesgo/579fb8c8-70e5-51d5-80ec-6ed51cc2e8df/scratchpad/pptx-build/icons/eye_A665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4449" y="4645152"/>
            <a:ext cx="128016" cy="128016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3147913" y="45811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2818729" y="6117336"/>
            <a:ext cx="1904329" cy="219456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71" name="Text 63"/>
          <p:cNvSpPr txBox="1"/>
          <p:nvPr/>
        </p:nvSpPr>
        <p:spPr>
          <a:xfrm>
            <a:off x="2818729" y="6117336"/>
            <a:ext cx="19043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AENOR</a:t>
            </a:r>
            <a:endParaRPr lang="en-US" sz="800" dirty="0"/>
          </a:p>
        </p:txBody>
      </p:sp>
      <p:sp>
        <p:nvSpPr>
          <p:cNvPr id="72" name="Shape 64"/>
          <p:cNvSpPr/>
          <p:nvPr/>
        </p:nvSpPr>
        <p:spPr>
          <a:xfrm>
            <a:off x="5015667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73" name="Shape 65"/>
          <p:cNvSpPr/>
          <p:nvPr/>
        </p:nvSpPr>
        <p:spPr>
          <a:xfrm>
            <a:off x="5015667" y="1170432"/>
            <a:ext cx="2160361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4" name="Shape 66"/>
          <p:cNvSpPr/>
          <p:nvPr/>
        </p:nvSpPr>
        <p:spPr>
          <a:xfrm>
            <a:off x="5858104" y="1298448"/>
            <a:ext cx="475488" cy="47548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75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8688" y="1399032"/>
            <a:ext cx="274320" cy="274320"/>
          </a:xfrm>
          <a:prstGeom prst="rect">
            <a:avLst/>
          </a:prstGeom>
        </p:spPr>
      </p:pic>
      <p:sp>
        <p:nvSpPr>
          <p:cNvPr id="76" name="Text 67"/>
          <p:cNvSpPr txBox="1"/>
          <p:nvPr/>
        </p:nvSpPr>
        <p:spPr>
          <a:xfrm>
            <a:off x="5070531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Regulatorio</a:t>
            </a:r>
            <a:endParaRPr lang="en-US" sz="1200" dirty="0"/>
          </a:p>
        </p:txBody>
      </p:sp>
      <p:sp>
        <p:nvSpPr>
          <p:cNvPr id="77" name="Shape 68"/>
          <p:cNvSpPr/>
          <p:nvPr/>
        </p:nvSpPr>
        <p:spPr>
          <a:xfrm>
            <a:off x="5931256" y="2048256"/>
            <a:ext cx="329184" cy="20117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8" name="Text 69"/>
          <p:cNvSpPr txBox="1"/>
          <p:nvPr/>
        </p:nvSpPr>
        <p:spPr>
          <a:xfrm>
            <a:off x="5143683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SSF</a:t>
            </a:r>
            <a:endParaRPr lang="en-US" sz="800" dirty="0"/>
          </a:p>
        </p:txBody>
      </p:sp>
      <p:sp>
        <p:nvSpPr>
          <p:cNvPr id="79" name="Shape 70"/>
          <p:cNvSpPr/>
          <p:nvPr/>
        </p:nvSpPr>
        <p:spPr>
          <a:xfrm>
            <a:off x="5143683" y="242773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0" name="Text 71"/>
          <p:cNvSpPr txBox="1"/>
          <p:nvPr/>
        </p:nvSpPr>
        <p:spPr>
          <a:xfrm>
            <a:off x="5289987" y="235000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Riesgos Específicos</a:t>
            </a:r>
            <a:endParaRPr lang="en-US" sz="1000" dirty="0"/>
          </a:p>
        </p:txBody>
      </p:sp>
      <p:sp>
        <p:nvSpPr>
          <p:cNvPr id="81" name="Shape 72"/>
          <p:cNvSpPr/>
          <p:nvPr/>
        </p:nvSpPr>
        <p:spPr>
          <a:xfrm>
            <a:off x="5143683" y="264490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2" name="Text 73"/>
          <p:cNvSpPr txBox="1"/>
          <p:nvPr/>
        </p:nvSpPr>
        <p:spPr>
          <a:xfrm>
            <a:off x="5289987" y="256717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1000" dirty="0"/>
          </a:p>
        </p:txBody>
      </p:sp>
      <p:sp>
        <p:nvSpPr>
          <p:cNvPr id="83" name="Shape 74"/>
          <p:cNvSpPr/>
          <p:nvPr/>
        </p:nvSpPr>
        <p:spPr>
          <a:xfrm>
            <a:off x="5143683" y="286207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4" name="Text 75"/>
          <p:cNvSpPr txBox="1"/>
          <p:nvPr/>
        </p:nvSpPr>
        <p:spPr>
          <a:xfrm>
            <a:off x="5289987" y="278434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</a:t>
            </a:r>
            <a:endParaRPr lang="en-US" sz="1000" dirty="0"/>
          </a:p>
        </p:txBody>
      </p:sp>
      <p:sp>
        <p:nvSpPr>
          <p:cNvPr id="85" name="Shape 76"/>
          <p:cNvSpPr/>
          <p:nvPr/>
        </p:nvSpPr>
        <p:spPr>
          <a:xfrm>
            <a:off x="5143683" y="307924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6" name="Text 77"/>
          <p:cNvSpPr txBox="1"/>
          <p:nvPr/>
        </p:nvSpPr>
        <p:spPr>
          <a:xfrm>
            <a:off x="5289987" y="300151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</a:t>
            </a:r>
            <a:endParaRPr lang="en-US" sz="1000" dirty="0"/>
          </a:p>
        </p:txBody>
      </p:sp>
      <p:sp>
        <p:nvSpPr>
          <p:cNvPr id="87" name="Text 78"/>
          <p:cNvSpPr txBox="1"/>
          <p:nvPr/>
        </p:nvSpPr>
        <p:spPr>
          <a:xfrm>
            <a:off x="5143683" y="3374136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</a:t>
            </a:r>
            <a:endParaRPr lang="en-US" sz="800" dirty="0"/>
          </a:p>
        </p:txBody>
      </p:sp>
      <p:sp>
        <p:nvSpPr>
          <p:cNvPr id="88" name="Shape 79"/>
          <p:cNvSpPr/>
          <p:nvPr/>
        </p:nvSpPr>
        <p:spPr>
          <a:xfrm>
            <a:off x="5143683" y="359359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4F5F3"/>
          </a:solidFill>
          <a:ln/>
        </p:spPr>
      </p:sp>
      <p:sp>
        <p:nvSpPr>
          <p:cNvPr id="89" name="Text 80"/>
          <p:cNvSpPr txBox="1"/>
          <p:nvPr/>
        </p:nvSpPr>
        <p:spPr>
          <a:xfrm>
            <a:off x="5143683" y="35935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NRP 4-41</a:t>
            </a:r>
            <a:endParaRPr lang="en-US" sz="900" dirty="0"/>
          </a:p>
        </p:txBody>
      </p:sp>
      <p:sp>
        <p:nvSpPr>
          <p:cNvPr id="90" name="Shape 81"/>
          <p:cNvSpPr/>
          <p:nvPr/>
        </p:nvSpPr>
        <p:spPr>
          <a:xfrm>
            <a:off x="7340620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1" name="Shape 82"/>
          <p:cNvSpPr/>
          <p:nvPr/>
        </p:nvSpPr>
        <p:spPr>
          <a:xfrm>
            <a:off x="7340620" y="1170432"/>
            <a:ext cx="2160361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92" name="Shape 83"/>
          <p:cNvSpPr/>
          <p:nvPr/>
        </p:nvSpPr>
        <p:spPr>
          <a:xfrm>
            <a:off x="8183057" y="1298448"/>
            <a:ext cx="475488" cy="47548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93" name="Image 7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3641" y="1399032"/>
            <a:ext cx="274320" cy="274320"/>
          </a:xfrm>
          <a:prstGeom prst="rect">
            <a:avLst/>
          </a:prstGeom>
        </p:spPr>
      </p:pic>
      <p:sp>
        <p:nvSpPr>
          <p:cNvPr id="94" name="Text 84"/>
          <p:cNvSpPr txBox="1"/>
          <p:nvPr/>
        </p:nvSpPr>
        <p:spPr>
          <a:xfrm>
            <a:off x="7395484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Negocio</a:t>
            </a:r>
            <a:endParaRPr lang="en-US" sz="1200" dirty="0"/>
          </a:p>
        </p:txBody>
      </p:sp>
      <p:sp>
        <p:nvSpPr>
          <p:cNvPr id="95" name="Shape 85"/>
          <p:cNvSpPr/>
          <p:nvPr/>
        </p:nvSpPr>
        <p:spPr>
          <a:xfrm>
            <a:off x="8256209" y="2048256"/>
            <a:ext cx="329184" cy="20117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96" name="Text 86"/>
          <p:cNvSpPr txBox="1"/>
          <p:nvPr/>
        </p:nvSpPr>
        <p:spPr>
          <a:xfrm>
            <a:off x="7468636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</a:t>
            </a:r>
            <a:endParaRPr lang="en-US" sz="800" dirty="0"/>
          </a:p>
        </p:txBody>
      </p:sp>
      <p:sp>
        <p:nvSpPr>
          <p:cNvPr id="97" name="Shape 87"/>
          <p:cNvSpPr/>
          <p:nvPr/>
        </p:nvSpPr>
        <p:spPr>
          <a:xfrm>
            <a:off x="7468636" y="2377440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98" name="Image 8" descr="/tmp/claude-0/-home-user-riesgo/579fb8c8-70e5-51d5-80ec-6ed51cc2e8df/scratchpad/pptx-build/icons/clipboard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4356" y="2423160"/>
            <a:ext cx="128016" cy="128016"/>
          </a:xfrm>
          <a:prstGeom prst="rect">
            <a:avLst/>
          </a:prstGeom>
        </p:spPr>
      </p:pic>
      <p:sp>
        <p:nvSpPr>
          <p:cNvPr id="99" name="Text 88"/>
          <p:cNvSpPr txBox="1"/>
          <p:nvPr/>
        </p:nvSpPr>
        <p:spPr>
          <a:xfrm>
            <a:off x="7797820" y="23591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CN</a:t>
            </a:r>
            <a:endParaRPr lang="en-US" sz="950" dirty="0"/>
          </a:p>
        </p:txBody>
      </p:sp>
      <p:sp>
        <p:nvSpPr>
          <p:cNvPr id="100" name="Shape 89"/>
          <p:cNvSpPr/>
          <p:nvPr/>
        </p:nvSpPr>
        <p:spPr>
          <a:xfrm>
            <a:off x="7571049" y="259689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1" name="Shape 90"/>
          <p:cNvSpPr/>
          <p:nvPr/>
        </p:nvSpPr>
        <p:spPr>
          <a:xfrm>
            <a:off x="7468636" y="2816352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2" name="Image 9" descr="/tmp/claude-0/-home-user-riesgo/579fb8c8-70e5-51d5-80ec-6ed51cc2e8df/scratchpad/pptx-build/icons/checksquare_1D63A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4356" y="2862072"/>
            <a:ext cx="128016" cy="128016"/>
          </a:xfrm>
          <a:prstGeom prst="rect">
            <a:avLst/>
          </a:prstGeom>
        </p:spPr>
      </p:pic>
      <p:sp>
        <p:nvSpPr>
          <p:cNvPr id="103" name="Text 91"/>
          <p:cNvSpPr txBox="1"/>
          <p:nvPr/>
        </p:nvSpPr>
        <p:spPr>
          <a:xfrm>
            <a:off x="7797820" y="2798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de Pruebas</a:t>
            </a:r>
            <a:endParaRPr lang="en-US" sz="950" dirty="0"/>
          </a:p>
        </p:txBody>
      </p:sp>
      <p:sp>
        <p:nvSpPr>
          <p:cNvPr id="104" name="Shape 92"/>
          <p:cNvSpPr/>
          <p:nvPr/>
        </p:nvSpPr>
        <p:spPr>
          <a:xfrm>
            <a:off x="7571049" y="3035808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5" name="Shape 93"/>
          <p:cNvSpPr/>
          <p:nvPr/>
        </p:nvSpPr>
        <p:spPr>
          <a:xfrm>
            <a:off x="7468636" y="3255264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6" name="Image 10" descr="/tmp/claude-0/-home-user-riesgo/579fb8c8-70e5-51d5-80ec-6ed51cc2e8df/scratchpad/pptx-build/icons/play_1D63A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14356" y="3300984"/>
            <a:ext cx="128016" cy="128016"/>
          </a:xfrm>
          <a:prstGeom prst="rect">
            <a:avLst/>
          </a:prstGeom>
        </p:spPr>
      </p:pic>
      <p:sp>
        <p:nvSpPr>
          <p:cNvPr id="107" name="Text 94"/>
          <p:cNvSpPr txBox="1"/>
          <p:nvPr/>
        </p:nvSpPr>
        <p:spPr>
          <a:xfrm>
            <a:off x="7797820" y="32369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Prueba</a:t>
            </a:r>
            <a:endParaRPr lang="en-US" sz="950" dirty="0"/>
          </a:p>
        </p:txBody>
      </p:sp>
      <p:sp>
        <p:nvSpPr>
          <p:cNvPr id="108" name="Shape 95"/>
          <p:cNvSpPr/>
          <p:nvPr/>
        </p:nvSpPr>
        <p:spPr>
          <a:xfrm>
            <a:off x="7468636" y="5715000"/>
            <a:ext cx="1904329" cy="566928"/>
          </a:xfrm>
          <a:prstGeom prst="roundRect">
            <a:avLst>
              <a:gd name="adj" fmla="val 8065"/>
            </a:avLst>
          </a:prstGeom>
          <a:solidFill>
            <a:srgbClr val="133B6C"/>
          </a:solidFill>
          <a:ln/>
        </p:spPr>
      </p:sp>
      <p:sp>
        <p:nvSpPr>
          <p:cNvPr id="109" name="Text 96"/>
          <p:cNvSpPr txBox="1"/>
          <p:nvPr/>
        </p:nvSpPr>
        <p:spPr>
          <a:xfrm>
            <a:off x="7468636" y="5769864"/>
            <a:ext cx="19043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03/09/2026</a:t>
            </a:r>
            <a:endParaRPr lang="en-US" sz="1500" dirty="0"/>
          </a:p>
        </p:txBody>
      </p:sp>
      <p:sp>
        <p:nvSpPr>
          <p:cNvPr id="110" name="Text 97"/>
          <p:cNvSpPr txBox="1"/>
          <p:nvPr/>
        </p:nvSpPr>
        <p:spPr>
          <a:xfrm>
            <a:off x="7505212" y="6044184"/>
            <a:ext cx="1831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DCE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REALIZADA EN AGENCIA COLONIA MÉDICA</a:t>
            </a:r>
            <a:endParaRPr lang="en-US" sz="630" dirty="0"/>
          </a:p>
        </p:txBody>
      </p:sp>
      <p:sp>
        <p:nvSpPr>
          <p:cNvPr id="111" name="Shape 98"/>
          <p:cNvSpPr/>
          <p:nvPr/>
        </p:nvSpPr>
        <p:spPr>
          <a:xfrm>
            <a:off x="9665574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12" name="Shape 99"/>
          <p:cNvSpPr/>
          <p:nvPr/>
        </p:nvSpPr>
        <p:spPr>
          <a:xfrm>
            <a:off x="9665574" y="1170432"/>
            <a:ext cx="2160361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3" name="Shape 100"/>
          <p:cNvSpPr/>
          <p:nvPr/>
        </p:nvSpPr>
        <p:spPr>
          <a:xfrm>
            <a:off x="10508010" y="1298448"/>
            <a:ext cx="475488" cy="47548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14" name="Image 11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08594" y="1399032"/>
            <a:ext cx="274320" cy="274320"/>
          </a:xfrm>
          <a:prstGeom prst="rect">
            <a:avLst/>
          </a:prstGeom>
        </p:spPr>
      </p:pic>
      <p:sp>
        <p:nvSpPr>
          <p:cNvPr id="115" name="Text 101"/>
          <p:cNvSpPr txBox="1"/>
          <p:nvPr/>
        </p:nvSpPr>
        <p:spPr>
          <a:xfrm>
            <a:off x="9720438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1200" dirty="0"/>
          </a:p>
        </p:txBody>
      </p:sp>
      <p:sp>
        <p:nvSpPr>
          <p:cNvPr id="116" name="Shape 102"/>
          <p:cNvSpPr/>
          <p:nvPr/>
        </p:nvSpPr>
        <p:spPr>
          <a:xfrm>
            <a:off x="10581162" y="2048256"/>
            <a:ext cx="329184" cy="20117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7" name="Text 103"/>
          <p:cNvSpPr txBox="1"/>
          <p:nvPr/>
        </p:nvSpPr>
        <p:spPr>
          <a:xfrm>
            <a:off x="9793590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</a:t>
            </a:r>
            <a:endParaRPr lang="en-US" sz="800" dirty="0"/>
          </a:p>
        </p:txBody>
      </p:sp>
      <p:sp>
        <p:nvSpPr>
          <p:cNvPr id="118" name="Shape 104"/>
          <p:cNvSpPr/>
          <p:nvPr/>
        </p:nvSpPr>
        <p:spPr>
          <a:xfrm>
            <a:off x="9793590" y="2377440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19" name="Image 12" descr="/tmp/claude-0/-home-user-riesgo/579fb8c8-70e5-51d5-80ec-6ed51cc2e8df/scratchpad/pptx-build/icons/sliders_1E844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39310" y="2423160"/>
            <a:ext cx="128016" cy="128016"/>
          </a:xfrm>
          <a:prstGeom prst="rect">
            <a:avLst/>
          </a:prstGeom>
        </p:spPr>
      </p:pic>
      <p:sp>
        <p:nvSpPr>
          <p:cNvPr id="120" name="Text 105"/>
          <p:cNvSpPr txBox="1"/>
          <p:nvPr/>
        </p:nvSpPr>
        <p:spPr>
          <a:xfrm>
            <a:off x="10122774" y="23591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Actualización</a:t>
            </a:r>
            <a:endParaRPr lang="en-US" sz="860" dirty="0"/>
          </a:p>
        </p:txBody>
      </p:sp>
      <p:sp>
        <p:nvSpPr>
          <p:cNvPr id="121" name="Shape 106"/>
          <p:cNvSpPr/>
          <p:nvPr/>
        </p:nvSpPr>
        <p:spPr>
          <a:xfrm>
            <a:off x="9896003" y="259689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22" name="Shape 107"/>
          <p:cNvSpPr/>
          <p:nvPr/>
        </p:nvSpPr>
        <p:spPr>
          <a:xfrm>
            <a:off x="9793590" y="2816352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23" name="Image 13" descr="/tmp/claude-0/-home-user-riesgo/579fb8c8-70e5-51d5-80ec-6ed51cc2e8df/scratchpad/pptx-build/icons/search_1E844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9310" y="2862072"/>
            <a:ext cx="128016" cy="128016"/>
          </a:xfrm>
          <a:prstGeom prst="rect">
            <a:avLst/>
          </a:prstGeom>
        </p:spPr>
      </p:pic>
      <p:sp>
        <p:nvSpPr>
          <p:cNvPr id="124" name="Text 108"/>
          <p:cNvSpPr txBox="1"/>
          <p:nvPr/>
        </p:nvSpPr>
        <p:spPr>
          <a:xfrm>
            <a:off x="10122774" y="2798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Integral</a:t>
            </a:r>
            <a:endParaRPr lang="en-US" sz="860" dirty="0"/>
          </a:p>
        </p:txBody>
      </p:sp>
      <p:sp>
        <p:nvSpPr>
          <p:cNvPr id="125" name="Shape 109"/>
          <p:cNvSpPr/>
          <p:nvPr/>
        </p:nvSpPr>
        <p:spPr>
          <a:xfrm>
            <a:off x="9896003" y="3035808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26" name="Shape 110"/>
          <p:cNvSpPr/>
          <p:nvPr/>
        </p:nvSpPr>
        <p:spPr>
          <a:xfrm>
            <a:off x="9793590" y="3255264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27" name="Image 14" descr="/tmp/claude-0/-home-user-riesgo/579fb8c8-70e5-51d5-80ec-6ed51cc2e8df/scratchpad/pptx-build/icons/bookopen_1E8449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39310" y="3300984"/>
            <a:ext cx="128016" cy="128016"/>
          </a:xfrm>
          <a:prstGeom prst="rect">
            <a:avLst/>
          </a:prstGeom>
        </p:spPr>
      </p:pic>
      <p:sp>
        <p:nvSpPr>
          <p:cNvPr id="128" name="Text 111"/>
          <p:cNvSpPr txBox="1"/>
          <p:nvPr/>
        </p:nvSpPr>
        <p:spPr>
          <a:xfrm>
            <a:off x="10122774" y="32369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Integral</a:t>
            </a:r>
            <a:endParaRPr lang="en-US" sz="860" dirty="0"/>
          </a:p>
        </p:txBody>
      </p:sp>
      <p:sp>
        <p:nvSpPr>
          <p:cNvPr id="129" name="Shape 112"/>
          <p:cNvSpPr/>
          <p:nvPr/>
        </p:nvSpPr>
        <p:spPr>
          <a:xfrm>
            <a:off x="9793590" y="5715000"/>
            <a:ext cx="1904329" cy="566928"/>
          </a:xfrm>
          <a:prstGeom prst="roundRect">
            <a:avLst>
              <a:gd name="adj" fmla="val 8065"/>
            </a:avLst>
          </a:prstGeom>
          <a:solidFill>
            <a:srgbClr val="1E8449"/>
          </a:solidFill>
          <a:ln/>
        </p:spPr>
      </p:sp>
      <p:sp>
        <p:nvSpPr>
          <p:cNvPr id="130" name="Text 113"/>
          <p:cNvSpPr txBox="1"/>
          <p:nvPr/>
        </p:nvSpPr>
        <p:spPr>
          <a:xfrm>
            <a:off x="9793590" y="5769864"/>
            <a:ext cx="19043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31/10/2026</a:t>
            </a:r>
            <a:endParaRPr lang="en-US" sz="1500" dirty="0"/>
          </a:p>
        </p:txBody>
      </p:sp>
      <p:sp>
        <p:nvSpPr>
          <p:cNvPr id="131" name="Text 114"/>
          <p:cNvSpPr txBox="1"/>
          <p:nvPr/>
        </p:nvSpPr>
        <p:spPr>
          <a:xfrm>
            <a:off x="9830166" y="6044184"/>
            <a:ext cx="1831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b="1" spc="30" kern="0" dirty="0">
                <a:solidFill>
                  <a:srgbClr val="DFF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POLÍTICA INTEGRAL</a:t>
            </a:r>
            <a:endParaRPr lang="en-US" sz="6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CRONOGRAMA DE 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Semanal – Mensual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Silvia   ·   Sara   ·   Melvin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808415" y="411480"/>
            <a:ext cx="82296" cy="82296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3643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814255" y="411480"/>
            <a:ext cx="82296" cy="82296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4227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820095" y="411480"/>
            <a:ext cx="82296" cy="82296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948111" y="347472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Silvia · Sara · Melvin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1170432"/>
            <a:ext cx="3685946" cy="5257800"/>
          </a:xfrm>
          <a:prstGeom prst="roundRect">
            <a:avLst>
              <a:gd name="adj" fmla="val 1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1170432"/>
            <a:ext cx="3685946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12064" y="1289304"/>
            <a:ext cx="24972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Silvia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2862986" y="1289304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actividades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12064" y="1572768"/>
            <a:ext cx="3393338" cy="10973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12064" y="1645920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512064" y="1824228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9224" y="1778508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512064" y="2075282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9224" y="2029562"/>
            <a:ext cx="3256178" cy="1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visita AENOR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512064" y="2188007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12064" y="2242871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 y Gestión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512064" y="2421179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9224" y="2375459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ejecutivo RO y Reputacional para Comité (cierre agosto 2026)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512064" y="2672232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9224" y="2626512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con Custodia de Valores – Gestor Documental (Evaluación Matriz de Riesgos)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740" dirty="0"/>
          </a:p>
        </p:txBody>
      </p:sp>
      <p:sp>
        <p:nvSpPr>
          <p:cNvPr id="37" name="Shape 35"/>
          <p:cNvSpPr/>
          <p:nvPr/>
        </p:nvSpPr>
        <p:spPr>
          <a:xfrm>
            <a:off x="512064" y="2923286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9224" y="2877566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– Multa Gerencia Finanzas (pendiente firma GF)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740" dirty="0"/>
          </a:p>
        </p:txBody>
      </p:sp>
      <p:sp>
        <p:nvSpPr>
          <p:cNvPr id="39" name="Shape 37"/>
          <p:cNvSpPr/>
          <p:nvPr/>
        </p:nvSpPr>
        <p:spPr>
          <a:xfrm>
            <a:off x="512064" y="3174340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9224" y="3128620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Matriz de Acuerdos – Sesión 150 Comité de Riesgos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512064" y="3397961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12064" y="3452825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Negocio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512064" y="3631133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9224" y="3585413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primera prueba de CN (10 días hábiles) – envío a SSF vence 12.09.2026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512064" y="3882187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9224" y="3836467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Gerenciales: seminario "análisis de la cartera" y Diagnóstico SGCN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512064" y="4133240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9224" y="4087520"/>
            <a:ext cx="3256178" cy="1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Líderes de CN solicitado por Procesos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12064" y="4245966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12064" y="4300830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840" dirty="0"/>
          </a:p>
        </p:txBody>
      </p:sp>
      <p:sp>
        <p:nvSpPr>
          <p:cNvPr id="51" name="Shape 49"/>
          <p:cNvSpPr/>
          <p:nvPr/>
        </p:nvSpPr>
        <p:spPr>
          <a:xfrm>
            <a:off x="512064" y="4479138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49224" y="4433418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perfil Gerente General (web) y solicitud de arte a Mercadeo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40" dirty="0"/>
          </a:p>
        </p:txBody>
      </p:sp>
      <p:sp>
        <p:nvSpPr>
          <p:cNvPr id="53" name="Shape 51"/>
          <p:cNvSpPr/>
          <p:nvPr/>
        </p:nvSpPr>
        <p:spPr>
          <a:xfrm>
            <a:off x="512064" y="4730191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9224" y="4684471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página web de actualización de Gobierno Corporativo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12064" y="4981245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9224" y="4935525"/>
            <a:ext cx="3256178" cy="2583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acuerdo del CA a Mercadeo y Educación (traslado de créditos / récord crediticio)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57" name="Shape 55"/>
          <p:cNvSpPr/>
          <p:nvPr/>
        </p:nvSpPr>
        <p:spPr>
          <a:xfrm>
            <a:off x="512064" y="5232298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49224" y="5186578"/>
            <a:ext cx="3256178" cy="1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#1 Gobierno Corporativo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59" name="Shape 57"/>
          <p:cNvSpPr/>
          <p:nvPr/>
        </p:nvSpPr>
        <p:spPr>
          <a:xfrm>
            <a:off x="512064" y="537245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49224" y="5326736"/>
            <a:ext cx="3256178" cy="1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#2 Gobierno Corporativo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12064" y="5512613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49224" y="5466893"/>
            <a:ext cx="3256178" cy="1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#3 Gobierno Corporativo  </a:t>
            </a:r>
            <a:pPr algn="l" indent="0" marL="0">
              <a:lnSpc>
                <a:spcPct val="100000"/>
              </a:lnSpc>
              <a:buNone/>
            </a:pPr>
            <a:r>
              <a:rPr lang="en-US" sz="74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63" name="Shape 61"/>
          <p:cNvSpPr/>
          <p:nvPr/>
        </p:nvSpPr>
        <p:spPr>
          <a:xfrm>
            <a:off x="4252874" y="1170432"/>
            <a:ext cx="3685946" cy="5257800"/>
          </a:xfrm>
          <a:prstGeom prst="roundRect">
            <a:avLst>
              <a:gd name="adj" fmla="val 1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252874" y="1170432"/>
            <a:ext cx="3685946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399178" y="1289304"/>
            <a:ext cx="24972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450" dirty="0"/>
          </a:p>
        </p:txBody>
      </p:sp>
      <p:sp>
        <p:nvSpPr>
          <p:cNvPr id="66" name="Text 64"/>
          <p:cNvSpPr txBox="1"/>
          <p:nvPr/>
        </p:nvSpPr>
        <p:spPr>
          <a:xfrm>
            <a:off x="6750101" y="1289304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actividades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399178" y="1572768"/>
            <a:ext cx="3393338" cy="10973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399178" y="1645920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840" dirty="0"/>
          </a:p>
        </p:txBody>
      </p:sp>
      <p:sp>
        <p:nvSpPr>
          <p:cNvPr id="69" name="Shape 67"/>
          <p:cNvSpPr/>
          <p:nvPr/>
        </p:nvSpPr>
        <p:spPr>
          <a:xfrm>
            <a:off x="4399178" y="1824228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536338" y="1778508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760" dirty="0"/>
          </a:p>
        </p:txBody>
      </p:sp>
      <p:sp>
        <p:nvSpPr>
          <p:cNvPr id="71" name="Shape 69"/>
          <p:cNvSpPr/>
          <p:nvPr/>
        </p:nvSpPr>
        <p:spPr>
          <a:xfrm>
            <a:off x="4399178" y="1967382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536338" y="1921662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760" dirty="0"/>
          </a:p>
        </p:txBody>
      </p:sp>
      <p:sp>
        <p:nvSpPr>
          <p:cNvPr id="73" name="Shape 71"/>
          <p:cNvSpPr/>
          <p:nvPr/>
        </p:nvSpPr>
        <p:spPr>
          <a:xfrm>
            <a:off x="4399178" y="2110537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536338" y="2064817"/>
            <a:ext cx="3256178" cy="264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 de sesión de Comité de Riesgos al Consejo de Administración</a:t>
            </a:r>
            <a:endParaRPr lang="en-US" sz="760" dirty="0"/>
          </a:p>
        </p:txBody>
      </p:sp>
      <p:sp>
        <p:nvSpPr>
          <p:cNvPr id="75" name="Shape 73"/>
          <p:cNvSpPr/>
          <p:nvPr/>
        </p:nvSpPr>
        <p:spPr>
          <a:xfrm>
            <a:off x="4399178" y="2367585"/>
            <a:ext cx="45720" cy="45720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4536338" y="2321865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informes para Comité de Riesgos</a:t>
            </a:r>
            <a:endParaRPr lang="en-US" sz="760" dirty="0"/>
          </a:p>
        </p:txBody>
      </p:sp>
      <p:sp>
        <p:nvSpPr>
          <p:cNvPr id="77" name="Shape 75"/>
          <p:cNvSpPr/>
          <p:nvPr/>
        </p:nvSpPr>
        <p:spPr>
          <a:xfrm>
            <a:off x="4399178" y="2483307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399178" y="2538171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840" dirty="0"/>
          </a:p>
        </p:txBody>
      </p:sp>
      <p:sp>
        <p:nvSpPr>
          <p:cNvPr id="79" name="Shape 77"/>
          <p:cNvSpPr/>
          <p:nvPr/>
        </p:nvSpPr>
        <p:spPr>
          <a:xfrm>
            <a:off x="4399178" y="2716479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536338" y="2670759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4399178" y="2859634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536338" y="2813914"/>
            <a:ext cx="3256178" cy="264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760" dirty="0"/>
          </a:p>
        </p:txBody>
      </p:sp>
      <p:sp>
        <p:nvSpPr>
          <p:cNvPr id="83" name="Shape 81"/>
          <p:cNvSpPr/>
          <p:nvPr/>
        </p:nvSpPr>
        <p:spPr>
          <a:xfrm>
            <a:off x="4399178" y="3116682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4536338" y="3070962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760" dirty="0"/>
          </a:p>
        </p:txBody>
      </p:sp>
      <p:sp>
        <p:nvSpPr>
          <p:cNvPr id="85" name="Shape 83"/>
          <p:cNvSpPr/>
          <p:nvPr/>
        </p:nvSpPr>
        <p:spPr>
          <a:xfrm>
            <a:off x="4399178" y="3259836"/>
            <a:ext cx="45720" cy="45720"/>
          </a:xfrm>
          <a:prstGeom prst="ellipse">
            <a:avLst/>
          </a:prstGeom>
          <a:solidFill>
            <a:srgbClr val="46586E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36338" y="3214116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avalúos a peritos valuadores</a:t>
            </a:r>
            <a:endParaRPr lang="en-US" sz="760" dirty="0"/>
          </a:p>
        </p:txBody>
      </p:sp>
      <p:sp>
        <p:nvSpPr>
          <p:cNvPr id="87" name="Shape 85"/>
          <p:cNvSpPr/>
          <p:nvPr/>
        </p:nvSpPr>
        <p:spPr>
          <a:xfrm>
            <a:off x="4399178" y="3375558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399178" y="3430422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840" dirty="0"/>
          </a:p>
        </p:txBody>
      </p:sp>
      <p:sp>
        <p:nvSpPr>
          <p:cNvPr id="89" name="Shape 87"/>
          <p:cNvSpPr/>
          <p:nvPr/>
        </p:nvSpPr>
        <p:spPr>
          <a:xfrm>
            <a:off x="4399178" y="3608730"/>
            <a:ext cx="45720" cy="45720"/>
          </a:xfrm>
          <a:prstGeom prst="ellipse">
            <a:avLst/>
          </a:prstGeom>
          <a:solidFill>
            <a:srgbClr val="C3CBD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536338" y="3563010"/>
            <a:ext cx="3256178" cy="150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SSF – BCR</a:t>
            </a:r>
            <a:endParaRPr lang="en-US" sz="760" dirty="0"/>
          </a:p>
        </p:txBody>
      </p:sp>
      <p:sp>
        <p:nvSpPr>
          <p:cNvPr id="91" name="Shape 89"/>
          <p:cNvSpPr/>
          <p:nvPr/>
        </p:nvSpPr>
        <p:spPr>
          <a:xfrm>
            <a:off x="8139989" y="1170432"/>
            <a:ext cx="3685946" cy="5257800"/>
          </a:xfrm>
          <a:prstGeom prst="roundRect">
            <a:avLst>
              <a:gd name="adj" fmla="val 1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8139989" y="1170432"/>
            <a:ext cx="3685946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286293" y="1289304"/>
            <a:ext cx="24972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Melvin</a:t>
            </a:r>
            <a:endParaRPr lang="en-US" sz="1450" dirty="0"/>
          </a:p>
        </p:txBody>
      </p:sp>
      <p:sp>
        <p:nvSpPr>
          <p:cNvPr id="94" name="Text 92"/>
          <p:cNvSpPr txBox="1"/>
          <p:nvPr/>
        </p:nvSpPr>
        <p:spPr>
          <a:xfrm>
            <a:off x="10637215" y="1289304"/>
            <a:ext cx="1042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actividades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286293" y="1572768"/>
            <a:ext cx="3393338" cy="10973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8286293" y="1645920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840" dirty="0"/>
          </a:p>
        </p:txBody>
      </p:sp>
      <p:sp>
        <p:nvSpPr>
          <p:cNvPr id="97" name="Shape 95"/>
          <p:cNvSpPr/>
          <p:nvPr/>
        </p:nvSpPr>
        <p:spPr>
          <a:xfrm>
            <a:off x="8286293" y="1824228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8423453" y="1778508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crediticio: pérdidas esperadas, matrices de transición, cosechas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20" dirty="0"/>
          </a:p>
        </p:txBody>
      </p:sp>
      <p:sp>
        <p:nvSpPr>
          <p:cNvPr id="99" name="Shape 97"/>
          <p:cNvSpPr/>
          <p:nvPr/>
        </p:nvSpPr>
        <p:spPr>
          <a:xfrm>
            <a:off x="8286293" y="2041855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8286293" y="2096719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D6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840" dirty="0"/>
          </a:p>
        </p:txBody>
      </p:sp>
      <p:sp>
        <p:nvSpPr>
          <p:cNvPr id="101" name="Shape 99"/>
          <p:cNvSpPr/>
          <p:nvPr/>
        </p:nvSpPr>
        <p:spPr>
          <a:xfrm>
            <a:off x="8286293" y="2275027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8423453" y="2229307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modelos de medición del riesgo de mercado y liquidez: volatilidad de captaciones y tasas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20" dirty="0"/>
          </a:p>
        </p:txBody>
      </p:sp>
      <p:sp>
        <p:nvSpPr>
          <p:cNvPr id="103" name="Shape 101"/>
          <p:cNvSpPr/>
          <p:nvPr/>
        </p:nvSpPr>
        <p:spPr>
          <a:xfrm>
            <a:off x="8286293" y="2520086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423453" y="2474366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20" dirty="0"/>
          </a:p>
        </p:txBody>
      </p:sp>
      <p:sp>
        <p:nvSpPr>
          <p:cNvPr id="105" name="Shape 103"/>
          <p:cNvSpPr/>
          <p:nvPr/>
        </p:nvSpPr>
        <p:spPr>
          <a:xfrm>
            <a:off x="8286293" y="2657246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8423453" y="2611526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20" dirty="0"/>
          </a:p>
        </p:txBody>
      </p:sp>
      <p:sp>
        <p:nvSpPr>
          <p:cNvPr id="107" name="Shape 105"/>
          <p:cNvSpPr/>
          <p:nvPr/>
        </p:nvSpPr>
        <p:spPr>
          <a:xfrm>
            <a:off x="8286293" y="2766974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8286293" y="2821838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840" dirty="0"/>
          </a:p>
        </p:txBody>
      </p:sp>
      <p:sp>
        <p:nvSpPr>
          <p:cNvPr id="109" name="Shape 107"/>
          <p:cNvSpPr/>
          <p:nvPr/>
        </p:nvSpPr>
        <p:spPr>
          <a:xfrm>
            <a:off x="8286293" y="300014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8423453" y="2954426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11" name="Shape 109"/>
          <p:cNvSpPr/>
          <p:nvPr/>
        </p:nvSpPr>
        <p:spPr>
          <a:xfrm>
            <a:off x="8286293" y="313730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8423453" y="3091586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13" name="Shape 111"/>
          <p:cNvSpPr/>
          <p:nvPr/>
        </p:nvSpPr>
        <p:spPr>
          <a:xfrm>
            <a:off x="8286293" y="327446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423453" y="3228746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8286293" y="351952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8423453" y="3473806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17" name="Shape 115"/>
          <p:cNvSpPr/>
          <p:nvPr/>
        </p:nvSpPr>
        <p:spPr>
          <a:xfrm>
            <a:off x="8286293" y="3656686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8423453" y="3610966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19" name="Shape 117"/>
          <p:cNvSpPr/>
          <p:nvPr/>
        </p:nvSpPr>
        <p:spPr>
          <a:xfrm>
            <a:off x="8286293" y="3901745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8423453" y="3856025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21" name="Shape 119"/>
          <p:cNvSpPr/>
          <p:nvPr/>
        </p:nvSpPr>
        <p:spPr>
          <a:xfrm>
            <a:off x="8286293" y="4038905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8423453" y="3993185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23" name="Shape 121"/>
          <p:cNvSpPr/>
          <p:nvPr/>
        </p:nvSpPr>
        <p:spPr>
          <a:xfrm>
            <a:off x="8286293" y="4148633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286293" y="4203497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840" dirty="0"/>
          </a:p>
        </p:txBody>
      </p:sp>
      <p:sp>
        <p:nvSpPr>
          <p:cNvPr id="125" name="Shape 123"/>
          <p:cNvSpPr/>
          <p:nvPr/>
        </p:nvSpPr>
        <p:spPr>
          <a:xfrm>
            <a:off x="8286293" y="4381805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8423453" y="4336085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20" dirty="0"/>
          </a:p>
        </p:txBody>
      </p:sp>
      <p:sp>
        <p:nvSpPr>
          <p:cNvPr id="127" name="Shape 125"/>
          <p:cNvSpPr/>
          <p:nvPr/>
        </p:nvSpPr>
        <p:spPr>
          <a:xfrm>
            <a:off x="8286293" y="4518965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8423453" y="4473245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20" dirty="0"/>
          </a:p>
        </p:txBody>
      </p:sp>
      <p:sp>
        <p:nvSpPr>
          <p:cNvPr id="129" name="Shape 127"/>
          <p:cNvSpPr/>
          <p:nvPr/>
        </p:nvSpPr>
        <p:spPr>
          <a:xfrm>
            <a:off x="8286293" y="4656125"/>
            <a:ext cx="45720" cy="45720"/>
          </a:xfrm>
          <a:prstGeom prst="ellipse">
            <a:avLst/>
          </a:prstGeom>
          <a:solidFill>
            <a:srgbClr val="1E8449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8423453" y="4610405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31" name="Shape 129"/>
          <p:cNvSpPr/>
          <p:nvPr/>
        </p:nvSpPr>
        <p:spPr>
          <a:xfrm>
            <a:off x="8286293" y="4901184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8423453" y="4855464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33" name="Shape 131"/>
          <p:cNvSpPr/>
          <p:nvPr/>
        </p:nvSpPr>
        <p:spPr>
          <a:xfrm>
            <a:off x="8286293" y="5146243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423453" y="5100523"/>
            <a:ext cx="325617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8286293" y="5255971"/>
            <a:ext cx="3393338" cy="8230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8286293" y="5310835"/>
            <a:ext cx="339333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840" dirty="0"/>
          </a:p>
        </p:txBody>
      </p:sp>
      <p:sp>
        <p:nvSpPr>
          <p:cNvPr id="137" name="Shape 135"/>
          <p:cNvSpPr/>
          <p:nvPr/>
        </p:nvSpPr>
        <p:spPr>
          <a:xfrm>
            <a:off x="8286293" y="5489143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8423453" y="5443423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8286293" y="5734202"/>
            <a:ext cx="45720" cy="45720"/>
          </a:xfrm>
          <a:prstGeom prst="ellipse">
            <a:avLst/>
          </a:prstGeom>
          <a:solidFill>
            <a:srgbClr val="A6650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8423453" y="5688482"/>
            <a:ext cx="3256178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  </a:t>
            </a:r>
            <a:pPr algn="l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2026-09-11T19:38:42Z</dcterms:created>
  <dcterms:modified xsi:type="dcterms:W3CDTF">2026-09-11T19:38:42Z</dcterms:modified>
</cp:coreProperties>
</file>