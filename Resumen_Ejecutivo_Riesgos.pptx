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55c2b855-e4c2-4caa-71e6-7591c7fe953c}">
          <p14:sldIdLst>
            <p14:sldId id="256"/>
          </p14:sldIdLst>
        </p14:section>
        <p14:section name="Calendario SSF" id="{6a5bba22-a3ef-4525-5b44-930bde5cd52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las iniciativas de riesgo por frente, distribuidas entre S1 y S2. Prioridad: requerimientos SSF con vencimientos el 16/10 (PLD/FT), 23/10 y 30/10 (Gobierno Corporativo) y 03/11 (Plan de Recuperación). Avance: Examen GIR 50%, Avalúos 60%.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de tiempo de los requerimientos SSF. El próximo vencimiento es el 16/10 (PLD/FT), en 6 días. Le siguen Gobierno Corporativo (23/10 y 30/10) y el envío del Plan de Recuperación (03/11).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686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Resumen Ejecutivo de Riesgos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Avance de iniciativas por frente de riesgo · corte al 10/10/2026</a:t>
            </a:r>
            <a:endParaRPr lang="en-US" sz="1300" dirty="0"/>
          </a:p>
        </p:txBody>
      </p:sp>
      <p:sp>
        <p:nvSpPr>
          <p:cNvPr id="4" name="Etiqueta"/>
          <p:cNvSpPr/>
          <p:nvPr/>
        </p:nvSpPr>
        <p:spPr>
          <a:xfrm>
            <a:off x="9646920" y="384048"/>
            <a:ext cx="2084832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46920" y="38404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Comité de Riesgos</a:t>
            </a:r>
            <a:endParaRPr lang="en-US" sz="1200" dirty="0"/>
          </a:p>
        </p:txBody>
      </p:sp>
      <p:sp>
        <p:nvSpPr>
          <p:cNvPr id="6" name="Encabezado S1"/>
          <p:cNvSpPr/>
          <p:nvPr/>
        </p:nvSpPr>
        <p:spPr>
          <a:xfrm>
            <a:off x="3291840" y="1207008"/>
            <a:ext cx="416052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070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S1</a:t>
            </a:r>
            <a:endParaRPr lang="en-US" sz="1300" dirty="0"/>
          </a:p>
        </p:txBody>
      </p:sp>
      <p:sp>
        <p:nvSpPr>
          <p:cNvPr id="8" name="Encabezado S2"/>
          <p:cNvSpPr/>
          <p:nvPr/>
        </p:nvSpPr>
        <p:spPr>
          <a:xfrm>
            <a:off x="7589520" y="1207008"/>
            <a:ext cx="4142232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0" y="1207008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2070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4"/>
                </a:solidFill>
              </a:rPr>
              <a:t>FRENTE DE RIESGO</a:t>
            </a:r>
            <a:endParaRPr lang="en-US" sz="1100" dirty="0"/>
          </a:p>
        </p:txBody>
      </p:sp>
      <p:sp>
        <p:nvSpPr>
          <p:cNvPr id="11" name="Frente Cumplimiento Regulatorio"/>
          <p:cNvSpPr/>
          <p:nvPr/>
        </p:nvSpPr>
        <p:spPr>
          <a:xfrm>
            <a:off x="457200" y="1609344"/>
            <a:ext cx="2697480" cy="1481328"/>
          </a:xfrm>
          <a:prstGeom prst="roundRect">
            <a:avLst>
              <a:gd name="adj" fmla="val 61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Icono fondo Cumplimiento Regulatorio"/>
          <p:cNvSpPr/>
          <p:nvPr/>
        </p:nvSpPr>
        <p:spPr>
          <a:xfrm>
            <a:off x="603504" y="2139696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o Cumplimiento Regulatori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49424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43000" y="1609344"/>
            <a:ext cx="19202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Cumplimiento Regulatorio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Requerimientos SSF</a:t>
            </a:r>
            <a:endParaRPr lang="en-US" sz="1400" dirty="0"/>
          </a:p>
        </p:txBody>
      </p:sp>
      <p:sp>
        <p:nvSpPr>
          <p:cNvPr id="15" name="S1 Cumplimiento Regulatorio"/>
          <p:cNvSpPr/>
          <p:nvPr/>
        </p:nvSpPr>
        <p:spPr>
          <a:xfrm>
            <a:off x="3291840" y="1609344"/>
            <a:ext cx="416052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29000" y="1655064"/>
            <a:ext cx="38862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Plan de Recuperación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  ·  Circ. 22737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Recepción 22/09/2026  →  Envío 03/11/2026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Visita inicial – Riesgos Específicos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  ·  Circ. 22742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Crédito, Liquidez y Mercado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Recepción 24/09/2026  →  Inicio 09/10/2026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Resultados preliminares – PLD/FT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  ·  Circ. 23486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Recepción 02/10/2026  →  Límite envío 16/10/2026</a:t>
            </a:r>
            <a:endParaRPr lang="en-US" sz="1100" dirty="0"/>
          </a:p>
        </p:txBody>
      </p:sp>
      <p:sp>
        <p:nvSpPr>
          <p:cNvPr id="17" name="S2 Cumplimiento Regulatorio"/>
          <p:cNvSpPr/>
          <p:nvPr/>
        </p:nvSpPr>
        <p:spPr>
          <a:xfrm>
            <a:off x="7589520" y="1609344"/>
            <a:ext cx="4142232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26680" y="1655064"/>
            <a:ext cx="38679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Resultados preliminares – Gobierno Corporativo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  ·  Circ. 22741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Recepción 09/10/2026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Límite 23/10/2026  ·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Nuevas observaciones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chemeClr val="accent2"/>
                </a:solidFill>
              </a:rPr>
              <a:t>Límite 30/10/2026  ·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tx1"/>
                </a:solidFill>
              </a:rPr>
              <a:t>Seguimiento de observaciones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chemeClr val="accent4"/>
                </a:solidFill>
              </a:rPr>
              <a:t>Incluye pruebas de descargo a observaciones de visitas anteriores</a:t>
            </a:r>
            <a:endParaRPr lang="en-US" sz="1100" dirty="0"/>
          </a:p>
        </p:txBody>
      </p:sp>
      <p:sp>
        <p:nvSpPr>
          <p:cNvPr id="19" name="Frente Riesgos No Financieros"/>
          <p:cNvSpPr/>
          <p:nvPr/>
        </p:nvSpPr>
        <p:spPr>
          <a:xfrm>
            <a:off x="457200" y="3182112"/>
            <a:ext cx="26974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Icono fondo Riesgos No Financieros"/>
          <p:cNvSpPr/>
          <p:nvPr/>
        </p:nvSpPr>
        <p:spPr>
          <a:xfrm>
            <a:off x="603504" y="342900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cono Riesgos No Financiero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38728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43000" y="318211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Riesgos No Financieros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Riesgo Operacional</a:t>
            </a:r>
            <a:endParaRPr lang="en-US" sz="1400" dirty="0"/>
          </a:p>
        </p:txBody>
      </p:sp>
      <p:sp>
        <p:nvSpPr>
          <p:cNvPr id="23" name="S1 Riesgos No Financieros"/>
          <p:cNvSpPr/>
          <p:nvPr/>
        </p:nvSpPr>
        <p:spPr>
          <a:xfrm>
            <a:off x="3291840" y="3182112"/>
            <a:ext cx="416052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429000" y="322783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Capacitación y Examen GIR 2026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Opinión Fábrica de Créditos</a:t>
            </a:r>
            <a:endParaRPr lang="en-US" sz="1100" dirty="0"/>
          </a:p>
        </p:txBody>
      </p:sp>
      <p:sp>
        <p:nvSpPr>
          <p:cNvPr id="25" name="GIR fondo"/>
          <p:cNvSpPr/>
          <p:nvPr/>
        </p:nvSpPr>
        <p:spPr>
          <a:xfrm>
            <a:off x="6035040" y="3520440"/>
            <a:ext cx="868680" cy="9144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GIR avance"/>
          <p:cNvSpPr/>
          <p:nvPr/>
        </p:nvSpPr>
        <p:spPr>
          <a:xfrm>
            <a:off x="6035040" y="3520440"/>
            <a:ext cx="434340" cy="914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949440" y="34290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50%</a:t>
            </a:r>
            <a:endParaRPr lang="en-US" sz="1100" dirty="0"/>
          </a:p>
        </p:txBody>
      </p:sp>
      <p:sp>
        <p:nvSpPr>
          <p:cNvPr id="28" name="S2 Riesgos No Financieros"/>
          <p:cNvSpPr/>
          <p:nvPr/>
        </p:nvSpPr>
        <p:spPr>
          <a:xfrm>
            <a:off x="7589520" y="3182112"/>
            <a:ext cx="414223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26680" y="3227832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Actualización Matriz BIA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Segunda prueba de continuidad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Indicadores de Gobierno Corporativo y Reputacional (Plan de Recuperación)</a:t>
            </a:r>
            <a:endParaRPr lang="en-US" sz="1100" dirty="0"/>
          </a:p>
        </p:txBody>
      </p:sp>
      <p:sp>
        <p:nvSpPr>
          <p:cNvPr id="30" name="Frente Cumplimiento Normativo"/>
          <p:cNvSpPr/>
          <p:nvPr/>
        </p:nvSpPr>
        <p:spPr>
          <a:xfrm>
            <a:off x="457200" y="4187952"/>
            <a:ext cx="269748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Icono fondo Cumplimiento Normativo"/>
          <p:cNvSpPr/>
          <p:nvPr/>
        </p:nvSpPr>
        <p:spPr>
          <a:xfrm>
            <a:off x="603504" y="430682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cono Cumplimiento Normativ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416552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143000" y="4187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Cumplimiento Normativo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Envíos y auditorías</a:t>
            </a:r>
            <a:endParaRPr lang="en-US" sz="1400" dirty="0"/>
          </a:p>
        </p:txBody>
      </p:sp>
      <p:sp>
        <p:nvSpPr>
          <p:cNvPr id="34" name="S1 Cumplimiento Normativo"/>
          <p:cNvSpPr/>
          <p:nvPr/>
        </p:nvSpPr>
        <p:spPr>
          <a:xfrm>
            <a:off x="3291840" y="4187952"/>
            <a:ext cx="41605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429000" y="423367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Envíos regulatorios (DAR)</a:t>
            </a:r>
            <a:endParaRPr lang="en-US" sz="1100" dirty="0"/>
          </a:p>
        </p:txBody>
      </p:sp>
      <p:sp>
        <p:nvSpPr>
          <p:cNvPr id="36" name="S2 Cumplimiento Normativo"/>
          <p:cNvSpPr/>
          <p:nvPr/>
        </p:nvSpPr>
        <p:spPr>
          <a:xfrm>
            <a:off x="7589520" y="4187952"/>
            <a:ext cx="4142232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726680" y="4233672"/>
            <a:ext cx="3867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Auditoría Interna – Evaluación NRP-24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Auditoría Externa</a:t>
            </a:r>
            <a:endParaRPr lang="en-US" sz="1100" dirty="0"/>
          </a:p>
        </p:txBody>
      </p:sp>
      <p:sp>
        <p:nvSpPr>
          <p:cNvPr id="38" name="Frente Riesgos Financieros"/>
          <p:cNvSpPr/>
          <p:nvPr/>
        </p:nvSpPr>
        <p:spPr>
          <a:xfrm>
            <a:off x="457200" y="4937760"/>
            <a:ext cx="2697480" cy="658368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Icono fondo Riesgos Financieros"/>
          <p:cNvSpPr/>
          <p:nvPr/>
        </p:nvSpPr>
        <p:spPr>
          <a:xfrm>
            <a:off x="603504" y="505663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Icono Riesgos Financiero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66360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143000" y="49377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Riesgos Financieros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Tarjeta de crédito</a:t>
            </a:r>
            <a:endParaRPr lang="en-US" sz="1400" dirty="0"/>
          </a:p>
        </p:txBody>
      </p:sp>
      <p:sp>
        <p:nvSpPr>
          <p:cNvPr id="42" name="S1 Riesgos Financieros"/>
          <p:cNvSpPr/>
          <p:nvPr/>
        </p:nvSpPr>
        <p:spPr>
          <a:xfrm>
            <a:off x="3291840" y="4937760"/>
            <a:ext cx="41605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429000" y="49834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Informe de Análisis de Cartera de TC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Simulación de cartera vencida</a:t>
            </a:r>
            <a:endParaRPr lang="en-US" sz="1100" dirty="0"/>
          </a:p>
        </p:txBody>
      </p:sp>
      <p:sp>
        <p:nvSpPr>
          <p:cNvPr id="44" name="S2 Riesgos Financieros"/>
          <p:cNvSpPr/>
          <p:nvPr/>
        </p:nvSpPr>
        <p:spPr>
          <a:xfrm>
            <a:off x="7589520" y="4937760"/>
            <a:ext cx="4142232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726680" y="4983480"/>
            <a:ext cx="3867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Actualización de Política de TC</a:t>
            </a:r>
            <a:endParaRPr lang="en-US" sz="1100" dirty="0"/>
          </a:p>
        </p:txBody>
      </p:sp>
      <p:sp>
        <p:nvSpPr>
          <p:cNvPr id="46" name="Frente Avalúos"/>
          <p:cNvSpPr/>
          <p:nvPr/>
        </p:nvSpPr>
        <p:spPr>
          <a:xfrm>
            <a:off x="457200" y="5687568"/>
            <a:ext cx="2697480" cy="841248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7" name="Icono fondo Avalúos"/>
          <p:cNvSpPr/>
          <p:nvPr/>
        </p:nvSpPr>
        <p:spPr>
          <a:xfrm>
            <a:off x="603504" y="58155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8" name="Icono Avalúo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925312"/>
            <a:ext cx="201168" cy="201168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143000" y="581558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Avalúos</a:t>
            </a:r>
            <a:endParaRPr lang="en-US" sz="1400" dirty="0"/>
          </a:p>
        </p:txBody>
      </p:sp>
      <p:sp>
        <p:nvSpPr>
          <p:cNvPr id="50" name="Progreso fondo"/>
          <p:cNvSpPr/>
          <p:nvPr/>
        </p:nvSpPr>
        <p:spPr>
          <a:xfrm>
            <a:off x="603504" y="6281928"/>
            <a:ext cx="1874520" cy="914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Progreso avance"/>
          <p:cNvSpPr/>
          <p:nvPr/>
        </p:nvSpPr>
        <p:spPr>
          <a:xfrm>
            <a:off x="603504" y="6281928"/>
            <a:ext cx="1124712" cy="91440"/>
          </a:xfrm>
          <a:prstGeom prst="roundRect">
            <a:avLst>
              <a:gd name="adj" fmla="val 50000"/>
            </a:avLst>
          </a:prstGeom>
          <a:solidFill>
            <a:srgbClr val="F2B233"/>
          </a:solidFill>
          <a:ln w="12700">
            <a:solidFill>
              <a:srgbClr val="F2B233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2560320" y="61904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60%</a:t>
            </a:r>
            <a:endParaRPr lang="en-US" sz="1300" dirty="0"/>
          </a:p>
        </p:txBody>
      </p:sp>
      <p:sp>
        <p:nvSpPr>
          <p:cNvPr id="53" name="S1 Avalúos"/>
          <p:cNvSpPr/>
          <p:nvPr/>
        </p:nvSpPr>
        <p:spPr>
          <a:xfrm>
            <a:off x="3291840" y="5687568"/>
            <a:ext cx="4160520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3429000" y="573328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Revisión de Política de Avalúos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Revisión de Procedimientos de Administración de Avalúos</a:t>
            </a:r>
            <a:endParaRPr lang="en-US" sz="1100" dirty="0"/>
          </a:p>
          <a:p>
            <a:pPr marL="152400" indent="-1524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Revisión de Perfil de Revisor</a:t>
            </a:r>
            <a:endParaRPr lang="en-US" sz="1100" dirty="0"/>
          </a:p>
        </p:txBody>
      </p:sp>
      <p:sp>
        <p:nvSpPr>
          <p:cNvPr id="55" name="S2 Avalúos"/>
          <p:cNvSpPr/>
          <p:nvPr/>
        </p:nvSpPr>
        <p:spPr>
          <a:xfrm>
            <a:off x="7589520" y="5687568"/>
            <a:ext cx="4142232" cy="841248"/>
          </a:xfrm>
          <a:prstGeom prst="roundRect">
            <a:avLst>
              <a:gd name="adj" fmla="val 1087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7726680" y="5687568"/>
            <a:ext cx="3867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Sin actividades programadas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Calendario regulatorio SSF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046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Hitos de las circulares en curso · corte al 10/10/2026</a:t>
            </a:r>
            <a:endParaRPr lang="en-US" sz="1300" dirty="0"/>
          </a:p>
        </p:txBody>
      </p:sp>
      <p:sp>
        <p:nvSpPr>
          <p:cNvPr id="4" name="Línea de tiempo"/>
          <p:cNvSpPr/>
          <p:nvPr/>
        </p:nvSpPr>
        <p:spPr>
          <a:xfrm>
            <a:off x="548640" y="2743200"/>
            <a:ext cx="11109960" cy="0"/>
          </a:xfrm>
          <a:prstGeom prst="line">
            <a:avLst/>
          </a:prstGeom>
          <a:noFill/>
          <a:ln w="38100">
            <a:solidFill>
              <a:srgbClr val="D7DEE9"/>
            </a:solidFill>
            <a:prstDash val="solid"/>
          </a:ln>
        </p:spPr>
      </p:sp>
      <p:sp>
        <p:nvSpPr>
          <p:cNvPr id="5" name="Hoy línea"/>
          <p:cNvSpPr/>
          <p:nvPr/>
        </p:nvSpPr>
        <p:spPr>
          <a:xfrm>
            <a:off x="5376672" y="1600200"/>
            <a:ext cx="0" cy="1417320"/>
          </a:xfrm>
          <a:prstGeom prst="line">
            <a:avLst/>
          </a:prstGeom>
          <a:noFill/>
          <a:ln w="19050">
            <a:solidFill>
              <a:srgbClr val="B87300"/>
            </a:solidFill>
            <a:prstDash val="dash"/>
          </a:ln>
        </p:spPr>
      </p:sp>
      <p:sp>
        <p:nvSpPr>
          <p:cNvPr id="6" name="Hoy"/>
          <p:cNvSpPr/>
          <p:nvPr/>
        </p:nvSpPr>
        <p:spPr>
          <a:xfrm>
            <a:off x="4919472" y="1325880"/>
            <a:ext cx="9144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9472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HOY 10/10</a:t>
            </a:r>
            <a:endParaRPr lang="en-US" sz="1000" dirty="0"/>
          </a:p>
        </p:txBody>
      </p:sp>
      <p:sp>
        <p:nvSpPr>
          <p:cNvPr id="8" name="Conector 22/09"/>
          <p:cNvSpPr/>
          <p:nvPr/>
        </p:nvSpPr>
        <p:spPr>
          <a:xfrm>
            <a:off x="1196035" y="2240280"/>
            <a:ext cx="0" cy="502920"/>
          </a:xfrm>
          <a:prstGeom prst="line">
            <a:avLst/>
          </a:prstGeom>
          <a:noFill/>
          <a:ln w="12700">
            <a:solidFill>
              <a:srgbClr val="0B2E59"/>
            </a:solidFill>
            <a:prstDash val="solid"/>
          </a:ln>
        </p:spPr>
      </p:sp>
      <p:sp>
        <p:nvSpPr>
          <p:cNvPr id="9" name="Hito 22/09"/>
          <p:cNvSpPr/>
          <p:nvPr/>
        </p:nvSpPr>
        <p:spPr>
          <a:xfrm>
            <a:off x="1095451" y="2642616"/>
            <a:ext cx="201168" cy="201168"/>
          </a:xfrm>
          <a:prstGeom prst="ellipse">
            <a:avLst/>
          </a:prstGeom>
          <a:solidFill>
            <a:schemeClr val="tx2"/>
          </a:solidFill>
          <a:ln w="31750">
            <a:solidFill>
              <a:srgbClr val="0B2E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8795" y="15544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22/09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Recepción Plan de Recuperación</a:t>
            </a:r>
            <a:endParaRPr lang="en-US" sz="1300" dirty="0"/>
          </a:p>
        </p:txBody>
      </p:sp>
      <p:sp>
        <p:nvSpPr>
          <p:cNvPr id="11" name="Conector 24/09"/>
          <p:cNvSpPr/>
          <p:nvPr/>
        </p:nvSpPr>
        <p:spPr>
          <a:xfrm>
            <a:off x="1660550" y="2743200"/>
            <a:ext cx="0" cy="502920"/>
          </a:xfrm>
          <a:prstGeom prst="line">
            <a:avLst/>
          </a:prstGeom>
          <a:noFill/>
          <a:ln w="12700">
            <a:solidFill>
              <a:srgbClr val="0B2E59"/>
            </a:solidFill>
            <a:prstDash val="solid"/>
          </a:ln>
        </p:spPr>
      </p:sp>
      <p:sp>
        <p:nvSpPr>
          <p:cNvPr id="12" name="Hito 24/09"/>
          <p:cNvSpPr/>
          <p:nvPr/>
        </p:nvSpPr>
        <p:spPr>
          <a:xfrm>
            <a:off x="1559966" y="2642616"/>
            <a:ext cx="201168" cy="201168"/>
          </a:xfrm>
          <a:prstGeom prst="ellipse">
            <a:avLst/>
          </a:prstGeom>
          <a:solidFill>
            <a:schemeClr val="tx2"/>
          </a:solidFill>
          <a:ln w="31750">
            <a:solidFill>
              <a:srgbClr val="0B2E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3310" y="32735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24/09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Recepción visita Riesgos Específicos</a:t>
            </a:r>
            <a:endParaRPr lang="en-US" sz="1300" dirty="0"/>
          </a:p>
        </p:txBody>
      </p:sp>
      <p:sp>
        <p:nvSpPr>
          <p:cNvPr id="14" name="Conector 02/10"/>
          <p:cNvSpPr/>
          <p:nvPr/>
        </p:nvSpPr>
        <p:spPr>
          <a:xfrm>
            <a:off x="3518611" y="2240280"/>
            <a:ext cx="0" cy="502920"/>
          </a:xfrm>
          <a:prstGeom prst="line">
            <a:avLst/>
          </a:prstGeom>
          <a:noFill/>
          <a:ln w="12700">
            <a:solidFill>
              <a:srgbClr val="0B2E59"/>
            </a:solidFill>
            <a:prstDash val="solid"/>
          </a:ln>
        </p:spPr>
      </p:sp>
      <p:sp>
        <p:nvSpPr>
          <p:cNvPr id="15" name="Hito 02/10"/>
          <p:cNvSpPr/>
          <p:nvPr/>
        </p:nvSpPr>
        <p:spPr>
          <a:xfrm>
            <a:off x="3418027" y="2642616"/>
            <a:ext cx="201168" cy="201168"/>
          </a:xfrm>
          <a:prstGeom prst="ellipse">
            <a:avLst/>
          </a:prstGeom>
          <a:solidFill>
            <a:schemeClr val="tx2"/>
          </a:solidFill>
          <a:ln w="31750">
            <a:solidFill>
              <a:srgbClr val="0B2E5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1371" y="15544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02/10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Recepción resultados PLD/FT</a:t>
            </a:r>
            <a:endParaRPr lang="en-US" sz="1300" dirty="0"/>
          </a:p>
        </p:txBody>
      </p:sp>
      <p:sp>
        <p:nvSpPr>
          <p:cNvPr id="17" name="Conector 09/10"/>
          <p:cNvSpPr/>
          <p:nvPr/>
        </p:nvSpPr>
        <p:spPr>
          <a:xfrm>
            <a:off x="5144414" y="2743200"/>
            <a:ext cx="0" cy="502920"/>
          </a:xfrm>
          <a:prstGeom prst="line">
            <a:avLst/>
          </a:prstGeom>
          <a:noFill/>
          <a:ln w="12700">
            <a:solidFill>
              <a:srgbClr val="0B2E59"/>
            </a:solidFill>
            <a:prstDash val="solid"/>
          </a:ln>
        </p:spPr>
      </p:sp>
      <p:sp>
        <p:nvSpPr>
          <p:cNvPr id="18" name="Hito 09/10"/>
          <p:cNvSpPr/>
          <p:nvPr/>
        </p:nvSpPr>
        <p:spPr>
          <a:xfrm>
            <a:off x="5043830" y="2642616"/>
            <a:ext cx="201168" cy="201168"/>
          </a:xfrm>
          <a:prstGeom prst="ellipse">
            <a:avLst/>
          </a:prstGeom>
          <a:solidFill>
            <a:schemeClr val="tx2"/>
          </a:solidFill>
          <a:ln w="31750">
            <a:solidFill>
              <a:srgbClr val="0B2E5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67174" y="32735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09/10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Inicio visita · Recepción Gob. Corporativo</a:t>
            </a:r>
            <a:endParaRPr lang="en-US" sz="1300" dirty="0"/>
          </a:p>
        </p:txBody>
      </p:sp>
      <p:sp>
        <p:nvSpPr>
          <p:cNvPr id="20" name="Conector 16/10"/>
          <p:cNvSpPr/>
          <p:nvPr/>
        </p:nvSpPr>
        <p:spPr>
          <a:xfrm>
            <a:off x="6770218" y="2240280"/>
            <a:ext cx="0" cy="502920"/>
          </a:xfrm>
          <a:prstGeom prst="line">
            <a:avLst/>
          </a:prstGeom>
          <a:noFill/>
          <a:ln w="12700">
            <a:solidFill>
              <a:srgbClr val="B87300"/>
            </a:solidFill>
            <a:prstDash val="solid"/>
          </a:ln>
        </p:spPr>
      </p:sp>
      <p:sp>
        <p:nvSpPr>
          <p:cNvPr id="21" name="Hito 16/10"/>
          <p:cNvSpPr/>
          <p:nvPr/>
        </p:nvSpPr>
        <p:spPr>
          <a:xfrm>
            <a:off x="6669634" y="2642616"/>
            <a:ext cx="201168" cy="201168"/>
          </a:xfrm>
          <a:prstGeom prst="ellipse">
            <a:avLst/>
          </a:prstGeom>
          <a:solidFill>
            <a:schemeClr val="bg1"/>
          </a:solidFill>
          <a:ln w="31750">
            <a:solidFill>
              <a:srgbClr val="B873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92978" y="15544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16/10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Límite envío PLD/FT</a:t>
            </a:r>
            <a:endParaRPr lang="en-US" sz="1300" dirty="0"/>
          </a:p>
        </p:txBody>
      </p:sp>
      <p:sp>
        <p:nvSpPr>
          <p:cNvPr id="23" name="Conector 23/10"/>
          <p:cNvSpPr/>
          <p:nvPr/>
        </p:nvSpPr>
        <p:spPr>
          <a:xfrm>
            <a:off x="8396021" y="2743200"/>
            <a:ext cx="0" cy="502920"/>
          </a:xfrm>
          <a:prstGeom prst="line">
            <a:avLst/>
          </a:prstGeom>
          <a:noFill/>
          <a:ln w="12700">
            <a:solidFill>
              <a:srgbClr val="B87300"/>
            </a:solidFill>
            <a:prstDash val="solid"/>
          </a:ln>
        </p:spPr>
      </p:sp>
      <p:sp>
        <p:nvSpPr>
          <p:cNvPr id="24" name="Hito 23/10"/>
          <p:cNvSpPr/>
          <p:nvPr/>
        </p:nvSpPr>
        <p:spPr>
          <a:xfrm>
            <a:off x="8295437" y="2642616"/>
            <a:ext cx="201168" cy="201168"/>
          </a:xfrm>
          <a:prstGeom prst="ellipse">
            <a:avLst/>
          </a:prstGeom>
          <a:solidFill>
            <a:schemeClr val="bg1"/>
          </a:solidFill>
          <a:ln w="31750">
            <a:solidFill>
              <a:srgbClr val="B873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18781" y="32735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23/10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Límite nuevas observaciones GC</a:t>
            </a:r>
            <a:endParaRPr lang="en-US" sz="1300" dirty="0"/>
          </a:p>
        </p:txBody>
      </p:sp>
      <p:sp>
        <p:nvSpPr>
          <p:cNvPr id="26" name="Conector 30/10"/>
          <p:cNvSpPr/>
          <p:nvPr/>
        </p:nvSpPr>
        <p:spPr>
          <a:xfrm>
            <a:off x="10021824" y="2240280"/>
            <a:ext cx="0" cy="502920"/>
          </a:xfrm>
          <a:prstGeom prst="line">
            <a:avLst/>
          </a:prstGeom>
          <a:noFill/>
          <a:ln w="12700">
            <a:solidFill>
              <a:srgbClr val="B87300"/>
            </a:solidFill>
            <a:prstDash val="solid"/>
          </a:ln>
        </p:spPr>
      </p:sp>
      <p:sp>
        <p:nvSpPr>
          <p:cNvPr id="27" name="Hito 30/10"/>
          <p:cNvSpPr/>
          <p:nvPr/>
        </p:nvSpPr>
        <p:spPr>
          <a:xfrm>
            <a:off x="9921240" y="2642616"/>
            <a:ext cx="201168" cy="201168"/>
          </a:xfrm>
          <a:prstGeom prst="ellipse">
            <a:avLst/>
          </a:prstGeom>
          <a:solidFill>
            <a:schemeClr val="bg1"/>
          </a:solidFill>
          <a:ln w="31750">
            <a:solidFill>
              <a:srgbClr val="B873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44584" y="15544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30/10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Límite seguimiento GC</a:t>
            </a:r>
            <a:endParaRPr lang="en-US" sz="1300" dirty="0"/>
          </a:p>
        </p:txBody>
      </p:sp>
      <p:sp>
        <p:nvSpPr>
          <p:cNvPr id="29" name="Conector 03/11"/>
          <p:cNvSpPr/>
          <p:nvPr/>
        </p:nvSpPr>
        <p:spPr>
          <a:xfrm>
            <a:off x="10950854" y="2743200"/>
            <a:ext cx="0" cy="502920"/>
          </a:xfrm>
          <a:prstGeom prst="line">
            <a:avLst/>
          </a:prstGeom>
          <a:noFill/>
          <a:ln w="12700">
            <a:solidFill>
              <a:srgbClr val="B87300"/>
            </a:solidFill>
            <a:prstDash val="solid"/>
          </a:ln>
        </p:spPr>
      </p:sp>
      <p:sp>
        <p:nvSpPr>
          <p:cNvPr id="30" name="Hito 03/11"/>
          <p:cNvSpPr/>
          <p:nvPr/>
        </p:nvSpPr>
        <p:spPr>
          <a:xfrm>
            <a:off x="10850270" y="2642616"/>
            <a:ext cx="201168" cy="201168"/>
          </a:xfrm>
          <a:prstGeom prst="ellipse">
            <a:avLst/>
          </a:prstGeom>
          <a:solidFill>
            <a:schemeClr val="bg1"/>
          </a:solidFill>
          <a:ln w="31750">
            <a:solidFill>
              <a:srgbClr val="B873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73614" y="32735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03/11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Envío Plan de Recuperación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Próximos vencimientos</a:t>
            </a:r>
            <a:endParaRPr lang="en-US" sz="1800" dirty="0"/>
          </a:p>
        </p:txBody>
      </p:sp>
      <p:sp>
        <p:nvSpPr>
          <p:cNvPr id="33" name="Vencimiento 16/10/2026"/>
          <p:cNvSpPr/>
          <p:nvPr/>
        </p:nvSpPr>
        <p:spPr>
          <a:xfrm>
            <a:off x="457200" y="4617720"/>
            <a:ext cx="2612898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4727448"/>
            <a:ext cx="2210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233"/>
                </a:solidFill>
              </a:rPr>
              <a:t>6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  días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394960"/>
            <a:ext cx="22105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16/10/2026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Envío respuesta resultados preliminares PLD/FT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Circular 23486</a:t>
            </a:r>
            <a:endParaRPr lang="en-US" sz="1200" dirty="0"/>
          </a:p>
        </p:txBody>
      </p:sp>
      <p:sp>
        <p:nvSpPr>
          <p:cNvPr id="36" name="Vencimiento 23/10/2026"/>
          <p:cNvSpPr/>
          <p:nvPr/>
        </p:nvSpPr>
        <p:spPr>
          <a:xfrm>
            <a:off x="3344418" y="4617720"/>
            <a:ext cx="261289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45586" y="4727448"/>
            <a:ext cx="2210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13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días</a:t>
            </a:r>
            <a:endParaRPr lang="en-US" sz="4000" dirty="0"/>
          </a:p>
        </p:txBody>
      </p:sp>
      <p:sp>
        <p:nvSpPr>
          <p:cNvPr id="38" name="Text 36"/>
          <p:cNvSpPr txBox="1"/>
          <p:nvPr/>
        </p:nvSpPr>
        <p:spPr>
          <a:xfrm>
            <a:off x="3545586" y="5394960"/>
            <a:ext cx="22105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23/10/2026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Envío de nuevas observaciones – Gobierno Corporativo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Circular 22741</a:t>
            </a:r>
            <a:endParaRPr lang="en-US" sz="1200" dirty="0"/>
          </a:p>
        </p:txBody>
      </p:sp>
      <p:sp>
        <p:nvSpPr>
          <p:cNvPr id="39" name="Vencimiento 30/10/2026"/>
          <p:cNvSpPr/>
          <p:nvPr/>
        </p:nvSpPr>
        <p:spPr>
          <a:xfrm>
            <a:off x="6231636" y="4617720"/>
            <a:ext cx="261289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32804" y="4727448"/>
            <a:ext cx="2210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días</a:t>
            </a:r>
            <a:endParaRPr lang="en-US" sz="4000" dirty="0"/>
          </a:p>
        </p:txBody>
      </p:sp>
      <p:sp>
        <p:nvSpPr>
          <p:cNvPr id="41" name="Text 39"/>
          <p:cNvSpPr txBox="1"/>
          <p:nvPr/>
        </p:nvSpPr>
        <p:spPr>
          <a:xfrm>
            <a:off x="6432804" y="5394960"/>
            <a:ext cx="22105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30/10/2026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Seguimiento de observaciones – Gobierno Corporativo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Circular 22741</a:t>
            </a:r>
            <a:endParaRPr lang="en-US" sz="1200" dirty="0"/>
          </a:p>
        </p:txBody>
      </p:sp>
      <p:sp>
        <p:nvSpPr>
          <p:cNvPr id="42" name="Vencimiento 03/11/2026"/>
          <p:cNvSpPr/>
          <p:nvPr/>
        </p:nvSpPr>
        <p:spPr>
          <a:xfrm>
            <a:off x="9118854" y="4617720"/>
            <a:ext cx="261289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20022" y="4727448"/>
            <a:ext cx="2210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24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  días</a:t>
            </a:r>
            <a:endParaRPr lang="en-US" sz="4000" dirty="0"/>
          </a:p>
        </p:txBody>
      </p:sp>
      <p:sp>
        <p:nvSpPr>
          <p:cNvPr id="44" name="Text 42"/>
          <p:cNvSpPr txBox="1"/>
          <p:nvPr/>
        </p:nvSpPr>
        <p:spPr>
          <a:xfrm>
            <a:off x="9320022" y="5394960"/>
            <a:ext cx="22105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03/11/2026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Envío del Plan de Recuperación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Circular 22737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esgos Ejecutivo">
  <a:themeElements>
    <a:clrScheme name="Riesgos Ejecutivo">
      <a:dk1>
        <a:srgbClr val="1E2A3A"/>
      </a:dk1>
      <a:lt1>
        <a:srgbClr val="FFFFFF"/>
      </a:lt1>
      <a:dk2>
        <a:srgbClr val="0B2E59"/>
      </a:dk2>
      <a:lt2>
        <a:srgbClr val="EEF2F8"/>
      </a:lt2>
      <a:accent1>
        <a:srgbClr val="0B2E59"/>
      </a:accent1>
      <a:accent2>
        <a:srgbClr val="B87300"/>
      </a:accent2>
      <a:accent3>
        <a:srgbClr val="1F5FA8"/>
      </a:accent3>
      <a:accent4>
        <a:srgbClr val="5B6B7F"/>
      </a:accent4>
      <a:accent5>
        <a:srgbClr val="D7DEE9"/>
      </a:accent5>
      <a:accent6>
        <a:srgbClr val="2E8B57"/>
      </a:accent6>
      <a:hlink>
        <a:srgbClr val="1F5FA8"/>
      </a:hlink>
      <a:folHlink>
        <a:srgbClr val="5B6B7F"/>
      </a:folHlink>
    </a:clrScheme>
    <a:fontScheme name="Riesgos Ejecutiv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de Riesgos</dc:title>
  <dc:subject>PptxGenJS Presentation</dc:subject>
  <dc:creator>PptxGenJS</dc:creator>
  <cp:lastModifiedBy>PptxGenJS</cp:lastModifiedBy>
  <cp:revision>1</cp:revision>
  <dcterms:created xsi:type="dcterms:W3CDTF">2026-10-10T16:23:35Z</dcterms:created>
  <dcterms:modified xsi:type="dcterms:W3CDTF">2026-10-10T16:23:35Z</dcterms:modified>
</cp:coreProperties>
</file>