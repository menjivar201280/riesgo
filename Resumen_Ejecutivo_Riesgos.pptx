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4bf66c11-3d0a-80f7-9adf-e739d72e7490}">
          <p14:sldIdLst>
            <p14:sldId id="256"/>
          </p14:sldIdLst>
        </p14:section>
        <p14:section name="Panorama" id="{bb567df1-6ee1-6f29-55d4-d727ff6a01fd}">
          <p14:sldIdLst>
            <p14:sldId id="257"/>
          </p14:sldIdLst>
        </p14:section>
        <p14:section name="Resumen por frente" id="{1e2aec36-8910-9876-b6b9-2eff0ba65f0b}">
          <p14:sldIdLst>
            <p14:sldId id="258"/>
          </p14:sldIdLst>
        </p14:section>
        <p14:section name="Calendario SSF" id="{1c1dc4b8-a400-e0d7-5155-0e271be34f20}">
          <p14:sldIdLst>
            <p14:sldId id="259"/>
          </p14:sldIdLst>
        </p14:section>
        <p14:section name="Prioridades" id="{9e292462-f976-cadb-ded2-d6176989f2d9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0B2E59"/>
            </a:solidFill>
            <a:effectLst/>
          </c:spPr>
          <c:invertIfNegative val="0"/>
          <c:dLbls>
            <c:numFmt formatCode="0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Cumplimiento Regulatorio</c:v>
                  </c:pt>
                  <c:pt idx="1">
                    <c:v>No Financieros</c:v>
                  </c:pt>
                  <c:pt idx="2">
                    <c:v>Cumplimiento Normativo</c:v>
                  </c:pt>
                  <c:pt idx="3">
                    <c:v>Financieros</c:v>
                  </c:pt>
                  <c:pt idx="4">
                    <c:v>Avalúos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2</c:v>
                </c:pt>
                <c:pt idx="2">
                  <c:v>1</c:v>
                </c:pt>
                <c:pt idx="3">
                  <c:v>2</c:v>
                </c:pt>
                <c:pt idx="4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S2</c:v>
                </c:pt>
              </c:strCache>
            </c:strRef>
          </c:tx>
          <c:spPr>
            <a:solidFill>
              <a:srgbClr val="F2B233"/>
            </a:solidFill>
            <a:effectLst/>
          </c:spPr>
          <c:invertIfNegative val="0"/>
          <c:dLbls>
            <c:numFmt formatCode="0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Cumplimiento Regulatorio</c:v>
                  </c:pt>
                  <c:pt idx="1">
                    <c:v>No Financieros</c:v>
                  </c:pt>
                  <c:pt idx="2">
                    <c:v>Cumplimiento Normativo</c:v>
                  </c:pt>
                  <c:pt idx="3">
                    <c:v>Financieros</c:v>
                  </c:pt>
                  <c:pt idx="4">
                    <c:v>Avalúos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  <c:pt idx="4">
                  <c:v>0</c:v>
                </c:pt>
              </c:numCache>
            </c:numRef>
          </c:val>
        </c:ser>
        <c:dLbls>
          <c:numFmt formatCode="0;;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2A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E2A3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resumen ejecutivo de riesgos con corte al 10/10/2026.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Cifras clave: 4 requerimientos SSF activos, 18 iniciativas (11 en S1, 7 en S2). El próximo vencimiento es PLD/FT el 16/10. Avalúos al 60 % y Examen GIR al 50 %.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Iniciativas por frente, distribuidas entre S1 y S2. Prioridad: requerimientos SSF con vencimientos el 16/10 (PLD/FT), 23/10 y 30/10 (Gobierno Corporativo) y 03/11 (Plan de Recuperación).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Línea de tiempo de los requerimientos SSF. El próximo vencimiento es el 16/10 (PLD/FT), en 6 días.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cuatro compromisos SSF con fecha y dos frentes internos en ejecución (Avalúos 60 %, Examen GIR 50 %).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148840"/>
            <a:ext cx="694944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840480"/>
            <a:ext cx="69494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6868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6868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6868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6868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.xm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6" Type="http://schemas.openxmlformats.org/officeDocument/2006/relationships/image" Target="../media/image-2-5.png"/><Relationship Id="rId7" Type="http://schemas.openxmlformats.org/officeDocument/2006/relationships/image" Target="../media/image-2-6.png"/><Relationship Id="rId8" Type="http://schemas.openxmlformats.org/officeDocument/2006/relationships/image" Target="../media/image-2-7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image" Target="../media/image-3-17.png"/><Relationship Id="rId18" Type="http://schemas.openxmlformats.org/officeDocument/2006/relationships/image" Target="../media/image-3-18.png"/><Relationship Id="rId19" Type="http://schemas.openxmlformats.org/officeDocument/2006/relationships/image" Target="../media/image-3-19.png"/><Relationship Id="rId20" Type="http://schemas.openxmlformats.org/officeDocument/2006/relationships/image" Target="../media/image-3-20.png"/><Relationship Id="rId21" Type="http://schemas.openxmlformats.org/officeDocument/2006/relationships/image" Target="../media/image-3-21.png"/><Relationship Id="rId22" Type="http://schemas.openxmlformats.org/officeDocument/2006/relationships/image" Target="../media/image-3-22.png"/><Relationship Id="rId23" Type="http://schemas.openxmlformats.org/officeDocument/2006/relationships/image" Target="../media/image-3-23.png"/><Relationship Id="rId24" Type="http://schemas.openxmlformats.org/officeDocument/2006/relationships/image" Target="../media/image-3-24.png"/><Relationship Id="rId25" Type="http://schemas.openxmlformats.org/officeDocument/2006/relationships/slideLayout" Target="../slideLayouts/slideLayout3.xml"/><Relationship Id="rId2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illo 1"/>
          <p:cNvSpPr/>
          <p:nvPr/>
        </p:nvSpPr>
        <p:spPr>
          <a:xfrm>
            <a:off x="7040880" y="1325880"/>
            <a:ext cx="4206240" cy="4206240"/>
          </a:xfrm>
          <a:prstGeom prst="ellipse">
            <a:avLst/>
          </a:prstGeom>
          <a:solidFill>
            <a:srgbClr val="15396B"/>
          </a:solidFill>
          <a:ln w="12700">
            <a:solidFill>
              <a:srgbClr val="15396B"/>
            </a:solidFill>
            <a:prstDash val="solid"/>
          </a:ln>
        </p:spPr>
      </p:sp>
      <p:sp>
        <p:nvSpPr>
          <p:cNvPr id="3" name="Anillo 2"/>
          <p:cNvSpPr/>
          <p:nvPr/>
        </p:nvSpPr>
        <p:spPr>
          <a:xfrm>
            <a:off x="7543800" y="1828800"/>
            <a:ext cx="3200400" cy="3200400"/>
          </a:xfrm>
          <a:prstGeom prst="ellipse">
            <a:avLst/>
          </a:prstGeom>
          <a:solidFill>
            <a:srgbClr val="1A4378"/>
          </a:solidFill>
          <a:ln w="12700">
            <a:solidFill>
              <a:srgbClr val="1A4378"/>
            </a:solidFill>
            <a:prstDash val="solid"/>
          </a:ln>
        </p:spPr>
      </p:sp>
      <p:sp>
        <p:nvSpPr>
          <p:cNvPr id="4" name="Anillo 3"/>
          <p:cNvSpPr/>
          <p:nvPr/>
        </p:nvSpPr>
        <p:spPr>
          <a:xfrm>
            <a:off x="8046720" y="2331720"/>
            <a:ext cx="2194560" cy="2194560"/>
          </a:xfrm>
          <a:prstGeom prst="ellipse">
            <a:avLst/>
          </a:prstGeom>
          <a:solidFill>
            <a:srgbClr val="1F5FA8"/>
          </a:solidFill>
          <a:ln w="12700">
            <a:solidFill>
              <a:srgbClr val="1F5FA8"/>
            </a:solidFill>
            <a:prstDash val="solid"/>
          </a:ln>
        </p:spPr>
      </p:sp>
      <p:pic>
        <p:nvPicPr>
          <p:cNvPr id="5" name="Escud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2880360"/>
            <a:ext cx="1097280" cy="1097280"/>
          </a:xfrm>
          <a:prstGeom prst="rect">
            <a:avLst/>
          </a:prstGeom>
        </p:spPr>
      </p:pic>
      <p:sp>
        <p:nvSpPr>
          <p:cNvPr id="6" name="Círculo satélite"/>
          <p:cNvSpPr/>
          <p:nvPr/>
        </p:nvSpPr>
        <p:spPr>
          <a:xfrm>
            <a:off x="7086600" y="160020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7" name="Icono satélit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9671" y="1753271"/>
            <a:ext cx="260787" cy="260787"/>
          </a:xfrm>
          <a:prstGeom prst="rect">
            <a:avLst/>
          </a:prstGeom>
        </p:spPr>
      </p:pic>
      <p:sp>
        <p:nvSpPr>
          <p:cNvPr id="8" name="Círculo satélite"/>
          <p:cNvSpPr/>
          <p:nvPr/>
        </p:nvSpPr>
        <p:spPr>
          <a:xfrm>
            <a:off x="10927080" y="178308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9" name="Icono satélit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0151" y="1936151"/>
            <a:ext cx="260787" cy="260787"/>
          </a:xfrm>
          <a:prstGeom prst="rect">
            <a:avLst/>
          </a:prstGeom>
        </p:spPr>
      </p:pic>
      <p:sp>
        <p:nvSpPr>
          <p:cNvPr id="10" name="Círculo satélite"/>
          <p:cNvSpPr/>
          <p:nvPr/>
        </p:nvSpPr>
        <p:spPr>
          <a:xfrm>
            <a:off x="11109960" y="484632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1" name="Icono satélit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3031" y="4999391"/>
            <a:ext cx="260787" cy="260787"/>
          </a:xfrm>
          <a:prstGeom prst="rect">
            <a:avLst/>
          </a:prstGeom>
        </p:spPr>
      </p:pic>
      <p:sp>
        <p:nvSpPr>
          <p:cNvPr id="12" name="Círculo satélite"/>
          <p:cNvSpPr/>
          <p:nvPr/>
        </p:nvSpPr>
        <p:spPr>
          <a:xfrm>
            <a:off x="7223760" y="507492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3" name="Icono satélit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6831" y="5227991"/>
            <a:ext cx="260787" cy="260787"/>
          </a:xfrm>
          <a:prstGeom prst="rect">
            <a:avLst/>
          </a:prstGeom>
        </p:spPr>
      </p:pic>
      <p:sp>
        <p:nvSpPr>
          <p:cNvPr id="14" name="Etiqueta portada"/>
          <p:cNvSpPr/>
          <p:nvPr/>
        </p:nvSpPr>
        <p:spPr>
          <a:xfrm>
            <a:off x="640080" y="1600200"/>
            <a:ext cx="2194560" cy="36576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640080" y="1600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COMITÉ DE RIESGOS</a:t>
            </a:r>
            <a:endParaRPr lang="en-US" sz="1200" dirty="0"/>
          </a:p>
        </p:txBody>
      </p:sp>
      <p:sp>
        <p:nvSpPr>
          <p:cNvPr id="16" name="Text 0"/>
          <p:cNvSpPr/>
          <p:nvPr>
            <p:ph idx="100" type="title" hasCustomPrompt="1"/>
          </p:nvPr>
        </p:nvSpPr>
        <p:spPr>
          <a:xfrm>
            <a:off x="640080" y="2148840"/>
            <a:ext cx="6949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Resumen Ejecutivo de Riesgos</a:t>
            </a:r>
            <a:endParaRPr lang="en-US" sz="4800" dirty="0"/>
          </a:p>
        </p:txBody>
      </p:sp>
      <p:sp>
        <p:nvSpPr>
          <p:cNvPr id="17" name="Text 0"/>
          <p:cNvSpPr/>
          <p:nvPr>
            <p:ph idx="101" type="body" hasCustomPrompt="1"/>
          </p:nvPr>
        </p:nvSpPr>
        <p:spPr>
          <a:xfrm>
            <a:off x="640080" y="38404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Cumplimiento regulatorio, riesgos financieros y no financieros</a:t>
            </a:r>
            <a:endParaRPr lang="en-US" sz="2000" dirty="0"/>
          </a:p>
        </p:txBody>
      </p:sp>
      <p:sp>
        <p:nvSpPr>
          <p:cNvPr id="18" name="Círculo fecha"/>
          <p:cNvSpPr/>
          <p:nvPr/>
        </p:nvSpPr>
        <p:spPr>
          <a:xfrm>
            <a:off x="640080" y="5074920"/>
            <a:ext cx="457200" cy="457200"/>
          </a:xfrm>
          <a:prstGeom prst="ellipse">
            <a:avLst/>
          </a:prstGeom>
          <a:solidFill>
            <a:srgbClr val="15396B"/>
          </a:solidFill>
          <a:ln w="12700">
            <a:solidFill>
              <a:srgbClr val="15396B"/>
            </a:solidFill>
            <a:prstDash val="solid"/>
          </a:ln>
        </p:spPr>
      </p:sp>
      <p:pic>
        <p:nvPicPr>
          <p:cNvPr id="19" name="Icono fecha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524" y="5198364"/>
            <a:ext cx="210312" cy="210312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234440" y="50292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Corte al 10 de octubre de 2026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Gerencia de Riesgos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Panorama en cifras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Lo que el comité debe saber en 30 segundos</a:t>
            </a:r>
            <a:endParaRPr lang="en-US" sz="1300" dirty="0"/>
          </a:p>
        </p:txBody>
      </p:sp>
      <p:sp>
        <p:nvSpPr>
          <p:cNvPr id="4" name="KPI Requerimientos SSF en curso"/>
          <p:cNvSpPr/>
          <p:nvPr/>
        </p:nvSpPr>
        <p:spPr>
          <a:xfrm>
            <a:off x="457200" y="1371600"/>
            <a:ext cx="2612898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írculo Requerimientos SSF en curso"/>
          <p:cNvSpPr/>
          <p:nvPr/>
        </p:nvSpPr>
        <p:spPr>
          <a:xfrm>
            <a:off x="2338578" y="1572768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6" name="Icono Requerimientos SSF en curs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76835" y="1711025"/>
            <a:ext cx="235549" cy="23554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1508760"/>
            <a:ext cx="16070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4</a:t>
            </a:r>
            <a:pPr indent="0" marL="0">
              <a:buNone/>
            </a:pP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286000"/>
            <a:ext cx="2155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Requerimientos SSF en curso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Circulares 22737, 22741, 22742 y 23486</a:t>
            </a:r>
            <a:endParaRPr lang="en-US" sz="1400" dirty="0"/>
          </a:p>
        </p:txBody>
      </p:sp>
      <p:sp>
        <p:nvSpPr>
          <p:cNvPr id="9" name="KPI Iniciativas en seguimiento"/>
          <p:cNvSpPr/>
          <p:nvPr/>
        </p:nvSpPr>
        <p:spPr>
          <a:xfrm>
            <a:off x="3344418" y="1371600"/>
            <a:ext cx="2612898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írculo Iniciativas en seguimiento"/>
          <p:cNvSpPr/>
          <p:nvPr/>
        </p:nvSpPr>
        <p:spPr>
          <a:xfrm>
            <a:off x="5225796" y="1572768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Icono Iniciativas en seguimient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053" y="1711025"/>
            <a:ext cx="235549" cy="23554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73018" y="1508760"/>
            <a:ext cx="16070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18</a:t>
            </a:r>
            <a:pPr indent="0" marL="0">
              <a:buNone/>
            </a:pPr>
            <a:endParaRPr lang="en-US" sz="4400" dirty="0"/>
          </a:p>
        </p:txBody>
      </p:sp>
      <p:sp>
        <p:nvSpPr>
          <p:cNvPr id="13" name="Text 9"/>
          <p:cNvSpPr txBox="1"/>
          <p:nvPr/>
        </p:nvSpPr>
        <p:spPr>
          <a:xfrm>
            <a:off x="3573018" y="2286000"/>
            <a:ext cx="2155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Iniciativas en seguimiento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11 en S1 · 7 en S2</a:t>
            </a:r>
            <a:endParaRPr lang="en-US" sz="1400" dirty="0"/>
          </a:p>
        </p:txBody>
      </p:sp>
      <p:sp>
        <p:nvSpPr>
          <p:cNvPr id="14" name="KPI Próximo vencimiento SSF"/>
          <p:cNvSpPr/>
          <p:nvPr/>
        </p:nvSpPr>
        <p:spPr>
          <a:xfrm>
            <a:off x="6231636" y="1371600"/>
            <a:ext cx="2612898" cy="1737360"/>
          </a:xfrm>
          <a:prstGeom prst="roundRect">
            <a:avLst>
              <a:gd name="adj" fmla="val 631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Círculo Próximo vencimiento SSF"/>
          <p:cNvSpPr/>
          <p:nvPr/>
        </p:nvSpPr>
        <p:spPr>
          <a:xfrm>
            <a:off x="8113014" y="1572768"/>
            <a:ext cx="512064" cy="51206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6" name="Icono Próximo vencimiento SSF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1271" y="1711025"/>
            <a:ext cx="235549" cy="235549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60236" y="1508760"/>
            <a:ext cx="16070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6"/>
                </a:solidFill>
              </a:rPr>
              <a:t>6</a:t>
            </a:r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 días</a:t>
            </a:r>
            <a:endParaRPr lang="en-US" sz="4400" dirty="0"/>
          </a:p>
        </p:txBody>
      </p:sp>
      <p:sp>
        <p:nvSpPr>
          <p:cNvPr id="18" name="Text 13"/>
          <p:cNvSpPr txBox="1"/>
          <p:nvPr/>
        </p:nvSpPr>
        <p:spPr>
          <a:xfrm>
            <a:off x="6460236" y="2286000"/>
            <a:ext cx="2155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Próximo vencimiento SSF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16/10 · Resultados PLD/FT</a:t>
            </a:r>
            <a:endParaRPr lang="en-US" sz="1400" dirty="0"/>
          </a:p>
        </p:txBody>
      </p:sp>
      <p:sp>
        <p:nvSpPr>
          <p:cNvPr id="19" name="KPI Avance de Avalúos"/>
          <p:cNvSpPr/>
          <p:nvPr/>
        </p:nvSpPr>
        <p:spPr>
          <a:xfrm>
            <a:off x="9118854" y="1371600"/>
            <a:ext cx="2612898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írculo Avance de Avalúos"/>
          <p:cNvSpPr/>
          <p:nvPr/>
        </p:nvSpPr>
        <p:spPr>
          <a:xfrm>
            <a:off x="11000232" y="1572768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1" name="Icono Avance de Avalúo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38489" y="1711025"/>
            <a:ext cx="235549" cy="23554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347454" y="1508760"/>
            <a:ext cx="16070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60</a:t>
            </a:r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%</a:t>
            </a:r>
            <a:endParaRPr lang="en-US" sz="4400" dirty="0"/>
          </a:p>
        </p:txBody>
      </p:sp>
      <p:sp>
        <p:nvSpPr>
          <p:cNvPr id="23" name="Text 17"/>
          <p:cNvSpPr txBox="1"/>
          <p:nvPr/>
        </p:nvSpPr>
        <p:spPr>
          <a:xfrm>
            <a:off x="9347454" y="2286000"/>
            <a:ext cx="21556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Avance de Avalúos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Examen GIR 2026 al 50 %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34290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Iniciativas por frente de riesgo</a:t>
            </a:r>
            <a:endParaRPr lang="en-US" sz="160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365760" y="3794760"/>
          <a:ext cx="612648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6" name="Text 19"/>
          <p:cNvSpPr txBox="1"/>
          <p:nvPr/>
        </p:nvSpPr>
        <p:spPr>
          <a:xfrm>
            <a:off x="6949440" y="34290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Lectura ejecutiva</a:t>
            </a:r>
            <a:endParaRPr lang="en-US" sz="1600" dirty="0"/>
          </a:p>
        </p:txBody>
      </p:sp>
      <p:sp>
        <p:nvSpPr>
          <p:cNvPr id="27" name="Círculo Foco regulatorio"/>
          <p:cNvSpPr/>
          <p:nvPr/>
        </p:nvSpPr>
        <p:spPr>
          <a:xfrm>
            <a:off x="6949440" y="3931920"/>
            <a:ext cx="512064" cy="51206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8" name="Icono Foco regulatori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7697" y="4070177"/>
            <a:ext cx="235549" cy="235549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635240" y="388620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Foco regulatorio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 hitos SSF entre el 16/10 y el 03/11; PLD/FT es el más urgente</a:t>
            </a:r>
            <a:endParaRPr lang="en-US" sz="1400" dirty="0"/>
          </a:p>
        </p:txBody>
      </p:sp>
      <p:sp>
        <p:nvSpPr>
          <p:cNvPr id="30" name="Círculo Carga concentrada en S1"/>
          <p:cNvSpPr/>
          <p:nvPr/>
        </p:nvSpPr>
        <p:spPr>
          <a:xfrm>
            <a:off x="6949440" y="4800600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1" name="Icono Carga concentrada en S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7697" y="4938857"/>
            <a:ext cx="235549" cy="235549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7635240" y="475488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Carga concentrada en S1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11 de 18 iniciativas, lideradas por SSF y Avalúos</a:t>
            </a:r>
            <a:endParaRPr lang="en-US" sz="1400" dirty="0"/>
          </a:p>
        </p:txBody>
      </p:sp>
      <p:sp>
        <p:nvSpPr>
          <p:cNvPr id="33" name="Círculo Avances en ejecución"/>
          <p:cNvSpPr/>
          <p:nvPr/>
        </p:nvSpPr>
        <p:spPr>
          <a:xfrm>
            <a:off x="6949440" y="5669280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4" name="Icono Avances en ejecució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7697" y="5807537"/>
            <a:ext cx="235549" cy="235549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635240" y="562356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Avances en ejecución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Avalúos al 60 % y Examen GIR 2026 al 50 %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Resumen Ejecutivo de Riesgos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Iniciativas por frente de riesgo y período · corte al 10/10/2026</a:t>
            </a:r>
            <a:endParaRPr lang="en-US" sz="1300" dirty="0"/>
          </a:p>
        </p:txBody>
      </p:sp>
      <p:sp>
        <p:nvSpPr>
          <p:cNvPr id="4" name="Etiqueta"/>
          <p:cNvSpPr/>
          <p:nvPr/>
        </p:nvSpPr>
        <p:spPr>
          <a:xfrm>
            <a:off x="9646920" y="384048"/>
            <a:ext cx="2084832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46920" y="384048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Comité de Riesgos</a:t>
            </a:r>
            <a:endParaRPr lang="en-US" sz="1200" dirty="0"/>
          </a:p>
        </p:txBody>
      </p:sp>
      <p:sp>
        <p:nvSpPr>
          <p:cNvPr id="6" name="Encabezado S1"/>
          <p:cNvSpPr/>
          <p:nvPr/>
        </p:nvSpPr>
        <p:spPr>
          <a:xfrm>
            <a:off x="3291840" y="1188720"/>
            <a:ext cx="4160520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91840" y="118872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S1</a:t>
            </a:r>
            <a:endParaRPr lang="en-US" sz="1300" dirty="0"/>
          </a:p>
        </p:txBody>
      </p:sp>
      <p:sp>
        <p:nvSpPr>
          <p:cNvPr id="8" name="Encabezado S2"/>
          <p:cNvSpPr/>
          <p:nvPr/>
        </p:nvSpPr>
        <p:spPr>
          <a:xfrm>
            <a:off x="7589520" y="1188720"/>
            <a:ext cx="4142232" cy="29260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89520" y="1188720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S2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118872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4"/>
                </a:solidFill>
              </a:rPr>
              <a:t>FRENTE DE RIESGO</a:t>
            </a:r>
            <a:endParaRPr lang="en-US" sz="1100" dirty="0"/>
          </a:p>
        </p:txBody>
      </p:sp>
      <p:sp>
        <p:nvSpPr>
          <p:cNvPr id="11" name="Frente Cumplimiento Regulatorio"/>
          <p:cNvSpPr/>
          <p:nvPr/>
        </p:nvSpPr>
        <p:spPr>
          <a:xfrm>
            <a:off x="457200" y="1591056"/>
            <a:ext cx="2697480" cy="1554480"/>
          </a:xfrm>
          <a:prstGeom prst="roundRect">
            <a:avLst>
              <a:gd name="adj" fmla="val 588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Círculo Cumplimiento Regulatorio"/>
          <p:cNvSpPr/>
          <p:nvPr/>
        </p:nvSpPr>
        <p:spPr>
          <a:xfrm>
            <a:off x="603504" y="2157984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3" name="Icono Cumplimiento Regulatori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072" y="2271552"/>
            <a:ext cx="193487" cy="193487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143000" y="1591056"/>
            <a:ext cx="1920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Cumplimiento Regulatorio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Requerimientos SSF</a:t>
            </a:r>
            <a:endParaRPr lang="en-US" sz="1400" dirty="0"/>
          </a:p>
        </p:txBody>
      </p:sp>
      <p:sp>
        <p:nvSpPr>
          <p:cNvPr id="15" name="S1 Cumplimiento Regulatorio"/>
          <p:cNvSpPr/>
          <p:nvPr/>
        </p:nvSpPr>
        <p:spPr>
          <a:xfrm>
            <a:off x="3291840" y="1591056"/>
            <a:ext cx="416052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Círculo S1"/>
          <p:cNvSpPr/>
          <p:nvPr/>
        </p:nvSpPr>
        <p:spPr>
          <a:xfrm>
            <a:off x="3429000" y="1618488"/>
            <a:ext cx="237744" cy="23774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7" name="Icono S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3191" y="1682679"/>
            <a:ext cx="109362" cy="10936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3767328" y="163677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chemeClr val="tx2"/>
                </a:solidFill>
              </a:rPr>
              <a:t>Plan de Recuperación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chemeClr val="accent4"/>
                </a:solidFill>
              </a:rPr>
              <a:t>  ·  Circ. 22737</a:t>
            </a:r>
            <a:endParaRPr lang="en-US" sz="11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chemeClr val="accent2"/>
                </a:solidFill>
              </a:rPr>
              <a:t>Recepción 22/09  →  Envío 03/11/2026</a:t>
            </a:r>
            <a:endParaRPr lang="en-US" sz="1100" dirty="0"/>
          </a:p>
        </p:txBody>
      </p:sp>
      <p:sp>
        <p:nvSpPr>
          <p:cNvPr id="19" name="Círculo S1"/>
          <p:cNvSpPr/>
          <p:nvPr/>
        </p:nvSpPr>
        <p:spPr>
          <a:xfrm>
            <a:off x="3429000" y="2075688"/>
            <a:ext cx="237744" cy="23774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20" name="Icono S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3191" y="2139879"/>
            <a:ext cx="109362" cy="10936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3767328" y="2093976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chemeClr val="tx2"/>
                </a:solidFill>
              </a:rPr>
              <a:t>Visita inicial – Riesgos Específicos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chemeClr val="accent4"/>
                </a:solidFill>
              </a:rPr>
              <a:t>  ·  Circ. 22742</a:t>
            </a:r>
            <a:endParaRPr lang="en-US" sz="11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Crédito, Liquidez y Mercado</a:t>
            </a:r>
            <a:endParaRPr lang="en-US" sz="11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chemeClr val="accent2"/>
                </a:solidFill>
              </a:rPr>
              <a:t>Recepción 24/09  →  Inicio 09/10/2026</a:t>
            </a:r>
            <a:endParaRPr lang="en-US" sz="1100" dirty="0"/>
          </a:p>
        </p:txBody>
      </p:sp>
      <p:sp>
        <p:nvSpPr>
          <p:cNvPr id="22" name="Círculo S1"/>
          <p:cNvSpPr/>
          <p:nvPr/>
        </p:nvSpPr>
        <p:spPr>
          <a:xfrm>
            <a:off x="3429000" y="2715768"/>
            <a:ext cx="237744" cy="23774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23" name="Icono S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3191" y="2779959"/>
            <a:ext cx="109362" cy="10936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3767328" y="273405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chemeClr val="tx2"/>
                </a:solidFill>
              </a:rPr>
              <a:t>Resultados preliminares – PLD/FT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chemeClr val="accent4"/>
                </a:solidFill>
              </a:rPr>
              <a:t>  ·  Circ. 23486</a:t>
            </a:r>
            <a:endParaRPr lang="en-US" sz="11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chemeClr val="accent2"/>
                </a:solidFill>
              </a:rPr>
              <a:t>Recepción 02/10  →  Límite envío 16/10/2026</a:t>
            </a:r>
            <a:endParaRPr lang="en-US" sz="1100" dirty="0"/>
          </a:p>
        </p:txBody>
      </p:sp>
      <p:sp>
        <p:nvSpPr>
          <p:cNvPr id="25" name="S2 Cumplimiento Regulatorio"/>
          <p:cNvSpPr/>
          <p:nvPr/>
        </p:nvSpPr>
        <p:spPr>
          <a:xfrm>
            <a:off x="7589520" y="1591056"/>
            <a:ext cx="4142232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Círculo S2"/>
          <p:cNvSpPr/>
          <p:nvPr/>
        </p:nvSpPr>
        <p:spPr>
          <a:xfrm>
            <a:off x="7726680" y="1801368"/>
            <a:ext cx="237744" cy="23774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27" name="Icono S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90871" y="1865559"/>
            <a:ext cx="109362" cy="10936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065008" y="1819656"/>
            <a:ext cx="3547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chemeClr val="tx2"/>
                </a:solidFill>
              </a:rPr>
              <a:t>Resultados preliminares – Gobierno Corporativo</a:t>
            </a:r>
            <a:endParaRPr lang="en-US" sz="11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chemeClr val="accent4"/>
                </a:solidFill>
              </a:rPr>
              <a:t>Circ. 22741  ·  </a:t>
            </a:r>
            <a:pPr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chemeClr val="accent2"/>
                </a:solidFill>
              </a:rPr>
              <a:t>Recepción 09/10/2026</a:t>
            </a:r>
            <a:endParaRPr lang="en-US" sz="11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chemeClr val="accent2"/>
                </a:solidFill>
              </a:rPr>
              <a:t>Límite 23/10/2026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  ·  Nuevas observaciones</a:t>
            </a:r>
            <a:endParaRPr lang="en-US" sz="11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chemeClr val="accent2"/>
                </a:solidFill>
              </a:rPr>
              <a:t>Límite 30/10/2026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  ·  Seguimiento de observaciones</a:t>
            </a:r>
            <a:endParaRPr lang="en-US" sz="11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chemeClr val="accent4"/>
                </a:solidFill>
              </a:rPr>
              <a:t>Incluye pruebas de descargo a observaciones de visitas anteriores</a:t>
            </a:r>
            <a:endParaRPr lang="en-US" sz="1100" dirty="0"/>
          </a:p>
        </p:txBody>
      </p:sp>
      <p:sp>
        <p:nvSpPr>
          <p:cNvPr id="29" name="Frente Riesgos No Financieros"/>
          <p:cNvSpPr/>
          <p:nvPr/>
        </p:nvSpPr>
        <p:spPr>
          <a:xfrm>
            <a:off x="457200" y="3236976"/>
            <a:ext cx="2697480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0" name="Círculo Riesgos No Financieros"/>
          <p:cNvSpPr/>
          <p:nvPr/>
        </p:nvSpPr>
        <p:spPr>
          <a:xfrm>
            <a:off x="603504" y="3483864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1" name="Icono Riesgos No Financieros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072" y="3597432"/>
            <a:ext cx="193487" cy="193487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1143000" y="3236976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Riesgos No Financieros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Riesgo Operacional</a:t>
            </a:r>
            <a:endParaRPr lang="en-US" sz="1400" dirty="0"/>
          </a:p>
        </p:txBody>
      </p:sp>
      <p:sp>
        <p:nvSpPr>
          <p:cNvPr id="33" name="S1 Riesgos No Financieros"/>
          <p:cNvSpPr/>
          <p:nvPr/>
        </p:nvSpPr>
        <p:spPr>
          <a:xfrm>
            <a:off x="3291840" y="3236976"/>
            <a:ext cx="416052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Círculo S1"/>
          <p:cNvSpPr/>
          <p:nvPr/>
        </p:nvSpPr>
        <p:spPr>
          <a:xfrm>
            <a:off x="3429000" y="3465576"/>
            <a:ext cx="237744" cy="23774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35" name="Icono S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93191" y="3529767"/>
            <a:ext cx="109362" cy="109362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3767328" y="3483864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Capacitación y Examen GIR 2026</a:t>
            </a:r>
            <a:endParaRPr lang="en-US" sz="1100" dirty="0"/>
          </a:p>
        </p:txBody>
      </p:sp>
      <p:sp>
        <p:nvSpPr>
          <p:cNvPr id="37" name="GIR fondo"/>
          <p:cNvSpPr/>
          <p:nvPr/>
        </p:nvSpPr>
        <p:spPr>
          <a:xfrm>
            <a:off x="6035040" y="3529584"/>
            <a:ext cx="868680" cy="9144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8" name="GIR avance"/>
          <p:cNvSpPr/>
          <p:nvPr/>
        </p:nvSpPr>
        <p:spPr>
          <a:xfrm>
            <a:off x="6035040" y="3529584"/>
            <a:ext cx="434340" cy="9144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9" name="Text 30"/>
          <p:cNvSpPr txBox="1"/>
          <p:nvPr/>
        </p:nvSpPr>
        <p:spPr>
          <a:xfrm>
            <a:off x="6949440" y="343814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50%</a:t>
            </a:r>
            <a:endParaRPr lang="en-US" sz="1100" dirty="0"/>
          </a:p>
        </p:txBody>
      </p:sp>
      <p:sp>
        <p:nvSpPr>
          <p:cNvPr id="40" name="Círculo S1"/>
          <p:cNvSpPr/>
          <p:nvPr/>
        </p:nvSpPr>
        <p:spPr>
          <a:xfrm>
            <a:off x="3429000" y="3703320"/>
            <a:ext cx="237744" cy="23774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41" name="Icono S1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93191" y="3767511"/>
            <a:ext cx="109362" cy="109362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3767328" y="372160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Opinión Fábrica de Créditos</a:t>
            </a:r>
            <a:endParaRPr lang="en-US" sz="1100" dirty="0"/>
          </a:p>
        </p:txBody>
      </p:sp>
      <p:sp>
        <p:nvSpPr>
          <p:cNvPr id="43" name="S2 Riesgos No Financieros"/>
          <p:cNvSpPr/>
          <p:nvPr/>
        </p:nvSpPr>
        <p:spPr>
          <a:xfrm>
            <a:off x="7589520" y="3236976"/>
            <a:ext cx="4142232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4" name="Círculo S2"/>
          <p:cNvSpPr/>
          <p:nvPr/>
        </p:nvSpPr>
        <p:spPr>
          <a:xfrm>
            <a:off x="7726680" y="3255264"/>
            <a:ext cx="237744" cy="23774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45" name="Icono S2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90871" y="3319455"/>
            <a:ext cx="109362" cy="109362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8065008" y="3273552"/>
            <a:ext cx="3547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Actualización Matriz BIA</a:t>
            </a:r>
            <a:endParaRPr lang="en-US" sz="1100" dirty="0"/>
          </a:p>
        </p:txBody>
      </p:sp>
      <p:sp>
        <p:nvSpPr>
          <p:cNvPr id="47" name="Círculo S2"/>
          <p:cNvSpPr/>
          <p:nvPr/>
        </p:nvSpPr>
        <p:spPr>
          <a:xfrm>
            <a:off x="7726680" y="3493008"/>
            <a:ext cx="237744" cy="23774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48" name="Icono S2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90871" y="3557199"/>
            <a:ext cx="109362" cy="109362"/>
          </a:xfrm>
          <a:prstGeom prst="rect">
            <a:avLst/>
          </a:prstGeom>
        </p:spPr>
      </p:pic>
      <p:sp>
        <p:nvSpPr>
          <p:cNvPr id="49" name="Text 37"/>
          <p:cNvSpPr txBox="1"/>
          <p:nvPr/>
        </p:nvSpPr>
        <p:spPr>
          <a:xfrm>
            <a:off x="8065008" y="3511296"/>
            <a:ext cx="3547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Segunda prueba de continuidad</a:t>
            </a:r>
            <a:endParaRPr lang="en-US" sz="1100" dirty="0"/>
          </a:p>
        </p:txBody>
      </p:sp>
      <p:sp>
        <p:nvSpPr>
          <p:cNvPr id="50" name="Círculo S2"/>
          <p:cNvSpPr/>
          <p:nvPr/>
        </p:nvSpPr>
        <p:spPr>
          <a:xfrm>
            <a:off x="7726680" y="3730752"/>
            <a:ext cx="237744" cy="23774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51" name="Icono S2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90871" y="3794943"/>
            <a:ext cx="109362" cy="109362"/>
          </a:xfrm>
          <a:prstGeom prst="rect">
            <a:avLst/>
          </a:prstGeom>
        </p:spPr>
      </p:pic>
      <p:sp>
        <p:nvSpPr>
          <p:cNvPr id="52" name="Text 39"/>
          <p:cNvSpPr txBox="1"/>
          <p:nvPr/>
        </p:nvSpPr>
        <p:spPr>
          <a:xfrm>
            <a:off x="8065008" y="3749040"/>
            <a:ext cx="3547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Indicadores de Gobierno Corporativo y Reputacional (Plan de Recuperación)</a:t>
            </a:r>
            <a:endParaRPr lang="en-US" sz="1100" dirty="0"/>
          </a:p>
        </p:txBody>
      </p:sp>
      <p:sp>
        <p:nvSpPr>
          <p:cNvPr id="53" name="Frente Cumplimiento Normativo"/>
          <p:cNvSpPr/>
          <p:nvPr/>
        </p:nvSpPr>
        <p:spPr>
          <a:xfrm>
            <a:off x="457200" y="4242816"/>
            <a:ext cx="2697480" cy="658368"/>
          </a:xfrm>
          <a:prstGeom prst="roundRect">
            <a:avLst>
              <a:gd name="adj" fmla="val 13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4" name="Círculo Cumplimiento Normativo"/>
          <p:cNvSpPr/>
          <p:nvPr/>
        </p:nvSpPr>
        <p:spPr>
          <a:xfrm>
            <a:off x="603504" y="436168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5" name="Icono Cumplimiento Normativo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7072" y="4475256"/>
            <a:ext cx="193487" cy="193487"/>
          </a:xfrm>
          <a:prstGeom prst="rect">
            <a:avLst/>
          </a:prstGeom>
        </p:spPr>
      </p:pic>
      <p:sp>
        <p:nvSpPr>
          <p:cNvPr id="56" name="Text 42"/>
          <p:cNvSpPr txBox="1"/>
          <p:nvPr/>
        </p:nvSpPr>
        <p:spPr>
          <a:xfrm>
            <a:off x="1143000" y="424281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Cumplimiento Normativo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Envíos y auditorías</a:t>
            </a:r>
            <a:endParaRPr lang="en-US" sz="1400" dirty="0"/>
          </a:p>
        </p:txBody>
      </p:sp>
      <p:sp>
        <p:nvSpPr>
          <p:cNvPr id="57" name="S1 Cumplimiento Normativo"/>
          <p:cNvSpPr/>
          <p:nvPr/>
        </p:nvSpPr>
        <p:spPr>
          <a:xfrm>
            <a:off x="3291840" y="4242816"/>
            <a:ext cx="4160520" cy="658368"/>
          </a:xfrm>
          <a:prstGeom prst="roundRect">
            <a:avLst>
              <a:gd name="adj" fmla="val 13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8" name="Círculo S1"/>
          <p:cNvSpPr/>
          <p:nvPr/>
        </p:nvSpPr>
        <p:spPr>
          <a:xfrm>
            <a:off x="3429000" y="4462272"/>
            <a:ext cx="237744" cy="23774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59" name="Icono S1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93191" y="4526463"/>
            <a:ext cx="109362" cy="109362"/>
          </a:xfrm>
          <a:prstGeom prst="rect">
            <a:avLst/>
          </a:prstGeom>
        </p:spPr>
      </p:pic>
      <p:sp>
        <p:nvSpPr>
          <p:cNvPr id="60" name="Text 45"/>
          <p:cNvSpPr txBox="1"/>
          <p:nvPr/>
        </p:nvSpPr>
        <p:spPr>
          <a:xfrm>
            <a:off x="3767328" y="448056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Envíos regulatorios (DAR)</a:t>
            </a:r>
            <a:endParaRPr lang="en-US" sz="1100" dirty="0"/>
          </a:p>
        </p:txBody>
      </p:sp>
      <p:sp>
        <p:nvSpPr>
          <p:cNvPr id="61" name="S2 Cumplimiento Normativo"/>
          <p:cNvSpPr/>
          <p:nvPr/>
        </p:nvSpPr>
        <p:spPr>
          <a:xfrm>
            <a:off x="7589520" y="4242816"/>
            <a:ext cx="4142232" cy="658368"/>
          </a:xfrm>
          <a:prstGeom prst="roundRect">
            <a:avLst>
              <a:gd name="adj" fmla="val 13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2" name="Círculo S2"/>
          <p:cNvSpPr/>
          <p:nvPr/>
        </p:nvSpPr>
        <p:spPr>
          <a:xfrm>
            <a:off x="7726680" y="4343400"/>
            <a:ext cx="237744" cy="23774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63" name="Icono S2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790871" y="4407591"/>
            <a:ext cx="109362" cy="109362"/>
          </a:xfrm>
          <a:prstGeom prst="rect">
            <a:avLst/>
          </a:prstGeom>
        </p:spPr>
      </p:pic>
      <p:sp>
        <p:nvSpPr>
          <p:cNvPr id="64" name="Text 48"/>
          <p:cNvSpPr txBox="1"/>
          <p:nvPr/>
        </p:nvSpPr>
        <p:spPr>
          <a:xfrm>
            <a:off x="8065008" y="4361688"/>
            <a:ext cx="3547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Auditoría Interna – Evaluación NRP-24</a:t>
            </a:r>
            <a:endParaRPr lang="en-US" sz="1100" dirty="0"/>
          </a:p>
        </p:txBody>
      </p:sp>
      <p:sp>
        <p:nvSpPr>
          <p:cNvPr id="65" name="Círculo S2"/>
          <p:cNvSpPr/>
          <p:nvPr/>
        </p:nvSpPr>
        <p:spPr>
          <a:xfrm>
            <a:off x="7726680" y="4581144"/>
            <a:ext cx="237744" cy="23774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66" name="Icono S2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790871" y="4645335"/>
            <a:ext cx="109362" cy="109362"/>
          </a:xfrm>
          <a:prstGeom prst="rect">
            <a:avLst/>
          </a:prstGeom>
        </p:spPr>
      </p:pic>
      <p:sp>
        <p:nvSpPr>
          <p:cNvPr id="67" name="Text 50"/>
          <p:cNvSpPr txBox="1"/>
          <p:nvPr/>
        </p:nvSpPr>
        <p:spPr>
          <a:xfrm>
            <a:off x="8065008" y="4599432"/>
            <a:ext cx="3547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Auditoría Externa</a:t>
            </a:r>
            <a:endParaRPr lang="en-US" sz="1100" dirty="0"/>
          </a:p>
        </p:txBody>
      </p:sp>
      <p:sp>
        <p:nvSpPr>
          <p:cNvPr id="68" name="Frente Riesgos Financieros"/>
          <p:cNvSpPr/>
          <p:nvPr/>
        </p:nvSpPr>
        <p:spPr>
          <a:xfrm>
            <a:off x="457200" y="4992624"/>
            <a:ext cx="2697480" cy="658368"/>
          </a:xfrm>
          <a:prstGeom prst="roundRect">
            <a:avLst>
              <a:gd name="adj" fmla="val 13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9" name="Círculo Riesgos Financieros"/>
          <p:cNvSpPr/>
          <p:nvPr/>
        </p:nvSpPr>
        <p:spPr>
          <a:xfrm>
            <a:off x="603504" y="5111496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70" name="Icono Riesgos Financieros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17072" y="5225064"/>
            <a:ext cx="193487" cy="193487"/>
          </a:xfrm>
          <a:prstGeom prst="rect">
            <a:avLst/>
          </a:prstGeom>
        </p:spPr>
      </p:pic>
      <p:sp>
        <p:nvSpPr>
          <p:cNvPr id="71" name="Text 53"/>
          <p:cNvSpPr txBox="1"/>
          <p:nvPr/>
        </p:nvSpPr>
        <p:spPr>
          <a:xfrm>
            <a:off x="1143000" y="4992624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Riesgos Financieros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Tarjeta de crédito</a:t>
            </a:r>
            <a:endParaRPr lang="en-US" sz="1400" dirty="0"/>
          </a:p>
        </p:txBody>
      </p:sp>
      <p:sp>
        <p:nvSpPr>
          <p:cNvPr id="72" name="S1 Riesgos Financieros"/>
          <p:cNvSpPr/>
          <p:nvPr/>
        </p:nvSpPr>
        <p:spPr>
          <a:xfrm>
            <a:off x="3291840" y="4992624"/>
            <a:ext cx="4160520" cy="658368"/>
          </a:xfrm>
          <a:prstGeom prst="roundRect">
            <a:avLst>
              <a:gd name="adj" fmla="val 13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3" name="Círculo S1"/>
          <p:cNvSpPr/>
          <p:nvPr/>
        </p:nvSpPr>
        <p:spPr>
          <a:xfrm>
            <a:off x="3429000" y="5093208"/>
            <a:ext cx="237744" cy="23774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74" name="Icono S1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493191" y="5157399"/>
            <a:ext cx="109362" cy="109362"/>
          </a:xfrm>
          <a:prstGeom prst="rect">
            <a:avLst/>
          </a:prstGeom>
        </p:spPr>
      </p:pic>
      <p:sp>
        <p:nvSpPr>
          <p:cNvPr id="75" name="Text 56"/>
          <p:cNvSpPr txBox="1"/>
          <p:nvPr/>
        </p:nvSpPr>
        <p:spPr>
          <a:xfrm>
            <a:off x="3767328" y="5111496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Informe de Análisis de Cartera de TC</a:t>
            </a:r>
            <a:endParaRPr lang="en-US" sz="1100" dirty="0"/>
          </a:p>
        </p:txBody>
      </p:sp>
      <p:sp>
        <p:nvSpPr>
          <p:cNvPr id="76" name="Círculo S1"/>
          <p:cNvSpPr/>
          <p:nvPr/>
        </p:nvSpPr>
        <p:spPr>
          <a:xfrm>
            <a:off x="3429000" y="5330952"/>
            <a:ext cx="237744" cy="23774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77" name="Icono S1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493191" y="5395143"/>
            <a:ext cx="109362" cy="109362"/>
          </a:xfrm>
          <a:prstGeom prst="rect">
            <a:avLst/>
          </a:prstGeom>
        </p:spPr>
      </p:pic>
      <p:sp>
        <p:nvSpPr>
          <p:cNvPr id="78" name="Text 58"/>
          <p:cNvSpPr txBox="1"/>
          <p:nvPr/>
        </p:nvSpPr>
        <p:spPr>
          <a:xfrm>
            <a:off x="3767328" y="534924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Simulación de cartera vencida</a:t>
            </a:r>
            <a:endParaRPr lang="en-US" sz="1100" dirty="0"/>
          </a:p>
        </p:txBody>
      </p:sp>
      <p:sp>
        <p:nvSpPr>
          <p:cNvPr id="79" name="S2 Riesgos Financieros"/>
          <p:cNvSpPr/>
          <p:nvPr/>
        </p:nvSpPr>
        <p:spPr>
          <a:xfrm>
            <a:off x="7589520" y="4992624"/>
            <a:ext cx="4142232" cy="658368"/>
          </a:xfrm>
          <a:prstGeom prst="roundRect">
            <a:avLst>
              <a:gd name="adj" fmla="val 13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0" name="Círculo S2"/>
          <p:cNvSpPr/>
          <p:nvPr/>
        </p:nvSpPr>
        <p:spPr>
          <a:xfrm>
            <a:off x="7726680" y="5212080"/>
            <a:ext cx="237744" cy="23774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81" name="Icono S2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790871" y="5276271"/>
            <a:ext cx="109362" cy="109362"/>
          </a:xfrm>
          <a:prstGeom prst="rect">
            <a:avLst/>
          </a:prstGeom>
        </p:spPr>
      </p:pic>
      <p:sp>
        <p:nvSpPr>
          <p:cNvPr id="82" name="Text 61"/>
          <p:cNvSpPr txBox="1"/>
          <p:nvPr/>
        </p:nvSpPr>
        <p:spPr>
          <a:xfrm>
            <a:off x="8065008" y="5230368"/>
            <a:ext cx="3547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Actualización de Política de TC</a:t>
            </a:r>
            <a:endParaRPr lang="en-US" sz="1100" dirty="0"/>
          </a:p>
        </p:txBody>
      </p:sp>
      <p:sp>
        <p:nvSpPr>
          <p:cNvPr id="83" name="Frente Avalúos"/>
          <p:cNvSpPr/>
          <p:nvPr/>
        </p:nvSpPr>
        <p:spPr>
          <a:xfrm>
            <a:off x="457200" y="5742432"/>
            <a:ext cx="2697480" cy="82296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4" name="Círculo Avalúos"/>
          <p:cNvSpPr/>
          <p:nvPr/>
        </p:nvSpPr>
        <p:spPr>
          <a:xfrm>
            <a:off x="603504" y="5852160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85" name="Icono Avalúos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17072" y="5965728"/>
            <a:ext cx="193487" cy="193487"/>
          </a:xfrm>
          <a:prstGeom prst="rect">
            <a:avLst/>
          </a:prstGeom>
        </p:spPr>
      </p:pic>
      <p:sp>
        <p:nvSpPr>
          <p:cNvPr id="86" name="Text 64"/>
          <p:cNvSpPr txBox="1"/>
          <p:nvPr/>
        </p:nvSpPr>
        <p:spPr>
          <a:xfrm>
            <a:off x="1143000" y="5852160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Avalúos</a:t>
            </a:r>
            <a:endParaRPr lang="en-US" sz="1400" dirty="0"/>
          </a:p>
        </p:txBody>
      </p:sp>
      <p:sp>
        <p:nvSpPr>
          <p:cNvPr id="87" name="Progreso fondo"/>
          <p:cNvSpPr/>
          <p:nvPr/>
        </p:nvSpPr>
        <p:spPr>
          <a:xfrm>
            <a:off x="603504" y="6336792"/>
            <a:ext cx="1874520" cy="9144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8" name="Progreso avance"/>
          <p:cNvSpPr/>
          <p:nvPr/>
        </p:nvSpPr>
        <p:spPr>
          <a:xfrm>
            <a:off x="603504" y="6336792"/>
            <a:ext cx="1124712" cy="9144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9" name="Text 67"/>
          <p:cNvSpPr txBox="1"/>
          <p:nvPr/>
        </p:nvSpPr>
        <p:spPr>
          <a:xfrm>
            <a:off x="2560320" y="62453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60%</a:t>
            </a:r>
            <a:endParaRPr lang="en-US" sz="1300" dirty="0"/>
          </a:p>
        </p:txBody>
      </p:sp>
      <p:sp>
        <p:nvSpPr>
          <p:cNvPr id="90" name="S1 Avalúos"/>
          <p:cNvSpPr/>
          <p:nvPr/>
        </p:nvSpPr>
        <p:spPr>
          <a:xfrm>
            <a:off x="3291840" y="5742432"/>
            <a:ext cx="416052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1" name="Círculo S1"/>
          <p:cNvSpPr/>
          <p:nvPr/>
        </p:nvSpPr>
        <p:spPr>
          <a:xfrm>
            <a:off x="3429000" y="5806440"/>
            <a:ext cx="237744" cy="23774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92" name="Icono S1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493191" y="5870631"/>
            <a:ext cx="109362" cy="109362"/>
          </a:xfrm>
          <a:prstGeom prst="rect">
            <a:avLst/>
          </a:prstGeom>
        </p:spPr>
      </p:pic>
      <p:sp>
        <p:nvSpPr>
          <p:cNvPr id="93" name="Text 70"/>
          <p:cNvSpPr txBox="1"/>
          <p:nvPr/>
        </p:nvSpPr>
        <p:spPr>
          <a:xfrm>
            <a:off x="3767328" y="582472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Revisión de Política de Avalúos</a:t>
            </a:r>
            <a:endParaRPr lang="en-US" sz="1100" dirty="0"/>
          </a:p>
        </p:txBody>
      </p:sp>
      <p:sp>
        <p:nvSpPr>
          <p:cNvPr id="94" name="Círculo S1"/>
          <p:cNvSpPr/>
          <p:nvPr/>
        </p:nvSpPr>
        <p:spPr>
          <a:xfrm>
            <a:off x="3429000" y="6044184"/>
            <a:ext cx="237744" cy="23774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95" name="Icono S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493191" y="6108375"/>
            <a:ext cx="109362" cy="109362"/>
          </a:xfrm>
          <a:prstGeom prst="rect">
            <a:avLst/>
          </a:prstGeom>
        </p:spPr>
      </p:pic>
      <p:sp>
        <p:nvSpPr>
          <p:cNvPr id="96" name="Text 72"/>
          <p:cNvSpPr txBox="1"/>
          <p:nvPr/>
        </p:nvSpPr>
        <p:spPr>
          <a:xfrm>
            <a:off x="3767328" y="6062472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Revisión de Procedimientos de Administración de Avalúos</a:t>
            </a:r>
            <a:endParaRPr lang="en-US" sz="1100" dirty="0"/>
          </a:p>
        </p:txBody>
      </p:sp>
      <p:sp>
        <p:nvSpPr>
          <p:cNvPr id="97" name="Círculo S1"/>
          <p:cNvSpPr/>
          <p:nvPr/>
        </p:nvSpPr>
        <p:spPr>
          <a:xfrm>
            <a:off x="3429000" y="6281928"/>
            <a:ext cx="237744" cy="23774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98" name="Icono S1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493191" y="6346119"/>
            <a:ext cx="109362" cy="109362"/>
          </a:xfrm>
          <a:prstGeom prst="rect">
            <a:avLst/>
          </a:prstGeom>
        </p:spPr>
      </p:pic>
      <p:sp>
        <p:nvSpPr>
          <p:cNvPr id="99" name="Text 74"/>
          <p:cNvSpPr txBox="1"/>
          <p:nvPr/>
        </p:nvSpPr>
        <p:spPr>
          <a:xfrm>
            <a:off x="3767328" y="6300216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Revisión de Perfil de Revisor</a:t>
            </a:r>
            <a:endParaRPr lang="en-US" sz="1100" dirty="0"/>
          </a:p>
        </p:txBody>
      </p:sp>
      <p:sp>
        <p:nvSpPr>
          <p:cNvPr id="100" name="S2 Avalúos"/>
          <p:cNvSpPr/>
          <p:nvPr/>
        </p:nvSpPr>
        <p:spPr>
          <a:xfrm>
            <a:off x="7589520" y="5742432"/>
            <a:ext cx="4142232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1" name="Círculo sin actividades"/>
          <p:cNvSpPr/>
          <p:nvPr/>
        </p:nvSpPr>
        <p:spPr>
          <a:xfrm>
            <a:off x="7726680" y="6025896"/>
            <a:ext cx="256032" cy="256032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02" name="Icono sin actividades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795809" y="6095025"/>
            <a:ext cx="117775" cy="117775"/>
          </a:xfrm>
          <a:prstGeom prst="rect">
            <a:avLst/>
          </a:prstGeom>
        </p:spPr>
      </p:pic>
      <p:sp>
        <p:nvSpPr>
          <p:cNvPr id="103" name="Text 77"/>
          <p:cNvSpPr txBox="1"/>
          <p:nvPr/>
        </p:nvSpPr>
        <p:spPr>
          <a:xfrm>
            <a:off x="8092440" y="5742432"/>
            <a:ext cx="3502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Sin actividades programadas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Calendario regulatorio SSF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Hitos de las circulares en curso · corte al 10/10/2026</a:t>
            </a:r>
            <a:endParaRPr lang="en-US" sz="1300" dirty="0"/>
          </a:p>
        </p:txBody>
      </p:sp>
      <p:sp>
        <p:nvSpPr>
          <p:cNvPr id="4" name="Línea de tiempo"/>
          <p:cNvSpPr/>
          <p:nvPr/>
        </p:nvSpPr>
        <p:spPr>
          <a:xfrm>
            <a:off x="548640" y="2743200"/>
            <a:ext cx="11109960" cy="0"/>
          </a:xfrm>
          <a:prstGeom prst="line">
            <a:avLst/>
          </a:prstGeom>
          <a:noFill/>
          <a:ln w="38100">
            <a:solidFill>
              <a:srgbClr val="D7DEE9"/>
            </a:solidFill>
            <a:prstDash val="solid"/>
          </a:ln>
        </p:spPr>
      </p:sp>
      <p:sp>
        <p:nvSpPr>
          <p:cNvPr id="5" name="Hoy línea"/>
          <p:cNvSpPr/>
          <p:nvPr/>
        </p:nvSpPr>
        <p:spPr>
          <a:xfrm>
            <a:off x="5376672" y="1600200"/>
            <a:ext cx="0" cy="1417320"/>
          </a:xfrm>
          <a:prstGeom prst="line">
            <a:avLst/>
          </a:prstGeom>
          <a:noFill/>
          <a:ln w="19050">
            <a:solidFill>
              <a:srgbClr val="B87300"/>
            </a:solidFill>
            <a:prstDash val="dash"/>
          </a:ln>
        </p:spPr>
      </p:sp>
      <p:sp>
        <p:nvSpPr>
          <p:cNvPr id="6" name="Hoy"/>
          <p:cNvSpPr/>
          <p:nvPr/>
        </p:nvSpPr>
        <p:spPr>
          <a:xfrm>
            <a:off x="4919472" y="1325880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19472" y="1325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HOY 10/10</a:t>
            </a:r>
            <a:endParaRPr lang="en-US" sz="1000" dirty="0"/>
          </a:p>
        </p:txBody>
      </p:sp>
      <p:sp>
        <p:nvSpPr>
          <p:cNvPr id="8" name="Conector 22/09"/>
          <p:cNvSpPr/>
          <p:nvPr/>
        </p:nvSpPr>
        <p:spPr>
          <a:xfrm>
            <a:off x="1196035" y="2240280"/>
            <a:ext cx="0" cy="502920"/>
          </a:xfrm>
          <a:prstGeom prst="line">
            <a:avLst/>
          </a:prstGeom>
          <a:noFill/>
          <a:ln w="12700">
            <a:solidFill>
              <a:srgbClr val="0B2E59"/>
            </a:solidFill>
            <a:prstDash val="solid"/>
          </a:ln>
        </p:spPr>
      </p:sp>
      <p:sp>
        <p:nvSpPr>
          <p:cNvPr id="9" name="Hito 22/09"/>
          <p:cNvSpPr/>
          <p:nvPr/>
        </p:nvSpPr>
        <p:spPr>
          <a:xfrm>
            <a:off x="1095451" y="2642616"/>
            <a:ext cx="201168" cy="201168"/>
          </a:xfrm>
          <a:prstGeom prst="ellipse">
            <a:avLst/>
          </a:prstGeom>
          <a:solidFill>
            <a:schemeClr val="tx2"/>
          </a:solidFill>
          <a:ln w="31750">
            <a:solidFill>
              <a:srgbClr val="0B2E5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18795" y="155448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22/09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Recepción Plan de Recuperación</a:t>
            </a:r>
            <a:endParaRPr lang="en-US" sz="1300" dirty="0"/>
          </a:p>
        </p:txBody>
      </p:sp>
      <p:sp>
        <p:nvSpPr>
          <p:cNvPr id="11" name="Conector 24/09"/>
          <p:cNvSpPr/>
          <p:nvPr/>
        </p:nvSpPr>
        <p:spPr>
          <a:xfrm>
            <a:off x="1660550" y="2743200"/>
            <a:ext cx="0" cy="502920"/>
          </a:xfrm>
          <a:prstGeom prst="line">
            <a:avLst/>
          </a:prstGeom>
          <a:noFill/>
          <a:ln w="12700">
            <a:solidFill>
              <a:srgbClr val="0B2E59"/>
            </a:solidFill>
            <a:prstDash val="solid"/>
          </a:ln>
        </p:spPr>
      </p:sp>
      <p:sp>
        <p:nvSpPr>
          <p:cNvPr id="12" name="Hito 24/09"/>
          <p:cNvSpPr/>
          <p:nvPr/>
        </p:nvSpPr>
        <p:spPr>
          <a:xfrm>
            <a:off x="1559966" y="2642616"/>
            <a:ext cx="201168" cy="201168"/>
          </a:xfrm>
          <a:prstGeom prst="ellipse">
            <a:avLst/>
          </a:prstGeom>
          <a:solidFill>
            <a:schemeClr val="tx2"/>
          </a:solidFill>
          <a:ln w="31750">
            <a:solidFill>
              <a:srgbClr val="0B2E5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3310" y="3273552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24/09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Recepción visita Riesgos Específicos</a:t>
            </a:r>
            <a:endParaRPr lang="en-US" sz="1300" dirty="0"/>
          </a:p>
        </p:txBody>
      </p:sp>
      <p:sp>
        <p:nvSpPr>
          <p:cNvPr id="14" name="Conector 02/10"/>
          <p:cNvSpPr/>
          <p:nvPr/>
        </p:nvSpPr>
        <p:spPr>
          <a:xfrm>
            <a:off x="3518611" y="2240280"/>
            <a:ext cx="0" cy="502920"/>
          </a:xfrm>
          <a:prstGeom prst="line">
            <a:avLst/>
          </a:prstGeom>
          <a:noFill/>
          <a:ln w="12700">
            <a:solidFill>
              <a:srgbClr val="0B2E59"/>
            </a:solidFill>
            <a:prstDash val="solid"/>
          </a:ln>
        </p:spPr>
      </p:sp>
      <p:sp>
        <p:nvSpPr>
          <p:cNvPr id="15" name="Hito 02/10"/>
          <p:cNvSpPr/>
          <p:nvPr/>
        </p:nvSpPr>
        <p:spPr>
          <a:xfrm>
            <a:off x="3418027" y="2642616"/>
            <a:ext cx="201168" cy="201168"/>
          </a:xfrm>
          <a:prstGeom prst="ellipse">
            <a:avLst/>
          </a:prstGeom>
          <a:solidFill>
            <a:schemeClr val="tx2"/>
          </a:solidFill>
          <a:ln w="31750">
            <a:solidFill>
              <a:srgbClr val="0B2E5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741371" y="155448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02/10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Recepción resultados PLD/FT</a:t>
            </a:r>
            <a:endParaRPr lang="en-US" sz="1300" dirty="0"/>
          </a:p>
        </p:txBody>
      </p:sp>
      <p:sp>
        <p:nvSpPr>
          <p:cNvPr id="17" name="Conector 09/10"/>
          <p:cNvSpPr/>
          <p:nvPr/>
        </p:nvSpPr>
        <p:spPr>
          <a:xfrm>
            <a:off x="5144414" y="2743200"/>
            <a:ext cx="0" cy="502920"/>
          </a:xfrm>
          <a:prstGeom prst="line">
            <a:avLst/>
          </a:prstGeom>
          <a:noFill/>
          <a:ln w="12700">
            <a:solidFill>
              <a:srgbClr val="0B2E59"/>
            </a:solidFill>
            <a:prstDash val="solid"/>
          </a:ln>
        </p:spPr>
      </p:sp>
      <p:sp>
        <p:nvSpPr>
          <p:cNvPr id="18" name="Hito 09/10"/>
          <p:cNvSpPr/>
          <p:nvPr/>
        </p:nvSpPr>
        <p:spPr>
          <a:xfrm>
            <a:off x="5043830" y="2642616"/>
            <a:ext cx="201168" cy="201168"/>
          </a:xfrm>
          <a:prstGeom prst="ellipse">
            <a:avLst/>
          </a:prstGeom>
          <a:solidFill>
            <a:schemeClr val="tx2"/>
          </a:solidFill>
          <a:ln w="31750">
            <a:solidFill>
              <a:srgbClr val="0B2E5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67174" y="3273552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09/10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Inicio visita · Recepción Gob. Corporativo</a:t>
            </a:r>
            <a:endParaRPr lang="en-US" sz="1300" dirty="0"/>
          </a:p>
        </p:txBody>
      </p:sp>
      <p:sp>
        <p:nvSpPr>
          <p:cNvPr id="20" name="Conector 16/10"/>
          <p:cNvSpPr/>
          <p:nvPr/>
        </p:nvSpPr>
        <p:spPr>
          <a:xfrm>
            <a:off x="6770218" y="2240280"/>
            <a:ext cx="0" cy="502920"/>
          </a:xfrm>
          <a:prstGeom prst="line">
            <a:avLst/>
          </a:prstGeom>
          <a:noFill/>
          <a:ln w="12700">
            <a:solidFill>
              <a:srgbClr val="B87300"/>
            </a:solidFill>
            <a:prstDash val="solid"/>
          </a:ln>
        </p:spPr>
      </p:sp>
      <p:sp>
        <p:nvSpPr>
          <p:cNvPr id="21" name="Hito 16/10"/>
          <p:cNvSpPr/>
          <p:nvPr/>
        </p:nvSpPr>
        <p:spPr>
          <a:xfrm>
            <a:off x="6669634" y="2642616"/>
            <a:ext cx="201168" cy="201168"/>
          </a:xfrm>
          <a:prstGeom prst="ellipse">
            <a:avLst/>
          </a:prstGeom>
          <a:solidFill>
            <a:schemeClr val="bg1"/>
          </a:solidFill>
          <a:ln w="31750">
            <a:solidFill>
              <a:srgbClr val="B873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92978" y="155448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16/10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Límite envío PLD/FT</a:t>
            </a:r>
            <a:endParaRPr lang="en-US" sz="1300" dirty="0"/>
          </a:p>
        </p:txBody>
      </p:sp>
      <p:sp>
        <p:nvSpPr>
          <p:cNvPr id="23" name="Conector 23/10"/>
          <p:cNvSpPr/>
          <p:nvPr/>
        </p:nvSpPr>
        <p:spPr>
          <a:xfrm>
            <a:off x="8396021" y="2743200"/>
            <a:ext cx="0" cy="502920"/>
          </a:xfrm>
          <a:prstGeom prst="line">
            <a:avLst/>
          </a:prstGeom>
          <a:noFill/>
          <a:ln w="12700">
            <a:solidFill>
              <a:srgbClr val="B87300"/>
            </a:solidFill>
            <a:prstDash val="solid"/>
          </a:ln>
        </p:spPr>
      </p:sp>
      <p:sp>
        <p:nvSpPr>
          <p:cNvPr id="24" name="Hito 23/10"/>
          <p:cNvSpPr/>
          <p:nvPr/>
        </p:nvSpPr>
        <p:spPr>
          <a:xfrm>
            <a:off x="8295437" y="2642616"/>
            <a:ext cx="201168" cy="201168"/>
          </a:xfrm>
          <a:prstGeom prst="ellipse">
            <a:avLst/>
          </a:prstGeom>
          <a:solidFill>
            <a:schemeClr val="bg1"/>
          </a:solidFill>
          <a:ln w="31750">
            <a:solidFill>
              <a:srgbClr val="B873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618781" y="3273552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23/10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Límite nuevas observaciones GC</a:t>
            </a:r>
            <a:endParaRPr lang="en-US" sz="1300" dirty="0"/>
          </a:p>
        </p:txBody>
      </p:sp>
      <p:sp>
        <p:nvSpPr>
          <p:cNvPr id="26" name="Conector 30/10"/>
          <p:cNvSpPr/>
          <p:nvPr/>
        </p:nvSpPr>
        <p:spPr>
          <a:xfrm>
            <a:off x="10021824" y="2240280"/>
            <a:ext cx="0" cy="502920"/>
          </a:xfrm>
          <a:prstGeom prst="line">
            <a:avLst/>
          </a:prstGeom>
          <a:noFill/>
          <a:ln w="12700">
            <a:solidFill>
              <a:srgbClr val="B87300"/>
            </a:solidFill>
            <a:prstDash val="solid"/>
          </a:ln>
        </p:spPr>
      </p:sp>
      <p:sp>
        <p:nvSpPr>
          <p:cNvPr id="27" name="Hito 30/10"/>
          <p:cNvSpPr/>
          <p:nvPr/>
        </p:nvSpPr>
        <p:spPr>
          <a:xfrm>
            <a:off x="9921240" y="2642616"/>
            <a:ext cx="201168" cy="201168"/>
          </a:xfrm>
          <a:prstGeom prst="ellipse">
            <a:avLst/>
          </a:prstGeom>
          <a:solidFill>
            <a:schemeClr val="bg1"/>
          </a:solidFill>
          <a:ln w="31750">
            <a:solidFill>
              <a:srgbClr val="B8730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244584" y="155448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30/10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Límite seguimiento GC</a:t>
            </a:r>
            <a:endParaRPr lang="en-US" sz="1300" dirty="0"/>
          </a:p>
        </p:txBody>
      </p:sp>
      <p:sp>
        <p:nvSpPr>
          <p:cNvPr id="29" name="Conector 03/11"/>
          <p:cNvSpPr/>
          <p:nvPr/>
        </p:nvSpPr>
        <p:spPr>
          <a:xfrm>
            <a:off x="10950854" y="2743200"/>
            <a:ext cx="0" cy="502920"/>
          </a:xfrm>
          <a:prstGeom prst="line">
            <a:avLst/>
          </a:prstGeom>
          <a:noFill/>
          <a:ln w="12700">
            <a:solidFill>
              <a:srgbClr val="B87300"/>
            </a:solidFill>
            <a:prstDash val="solid"/>
          </a:ln>
        </p:spPr>
      </p:sp>
      <p:sp>
        <p:nvSpPr>
          <p:cNvPr id="30" name="Hito 03/11"/>
          <p:cNvSpPr/>
          <p:nvPr/>
        </p:nvSpPr>
        <p:spPr>
          <a:xfrm>
            <a:off x="10850270" y="2642616"/>
            <a:ext cx="201168" cy="201168"/>
          </a:xfrm>
          <a:prstGeom prst="ellipse">
            <a:avLst/>
          </a:prstGeom>
          <a:solidFill>
            <a:schemeClr val="bg1"/>
          </a:solidFill>
          <a:ln w="31750">
            <a:solidFill>
              <a:srgbClr val="B8730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73614" y="3273552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03/11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Envío Plan de Recuperación</a:t>
            </a:r>
            <a:endParaRPr lang="en-US" sz="1300" dirty="0"/>
          </a:p>
        </p:txBody>
      </p:sp>
      <p:sp>
        <p:nvSpPr>
          <p:cNvPr id="32" name="Leyenda cumplido"/>
          <p:cNvSpPr/>
          <p:nvPr/>
        </p:nvSpPr>
        <p:spPr>
          <a:xfrm>
            <a:off x="8641080" y="1399032"/>
            <a:ext cx="146304" cy="146304"/>
          </a:xfrm>
          <a:prstGeom prst="ellipse">
            <a:avLst/>
          </a:prstGeom>
          <a:solidFill>
            <a:schemeClr val="tx2"/>
          </a:solidFill>
          <a:ln w="25400">
            <a:solidFill>
              <a:srgbClr val="0B2E59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851392" y="13350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Recibido / iniciado</a:t>
            </a:r>
            <a:endParaRPr lang="en-US" sz="1000" dirty="0"/>
          </a:p>
        </p:txBody>
      </p:sp>
      <p:sp>
        <p:nvSpPr>
          <p:cNvPr id="34" name="Leyenda pendiente"/>
          <p:cNvSpPr/>
          <p:nvPr/>
        </p:nvSpPr>
        <p:spPr>
          <a:xfrm>
            <a:off x="10287000" y="1399032"/>
            <a:ext cx="146304" cy="146304"/>
          </a:xfrm>
          <a:prstGeom prst="ellipse">
            <a:avLst/>
          </a:prstGeom>
          <a:solidFill>
            <a:schemeClr val="bg1"/>
          </a:solidFill>
          <a:ln w="25400">
            <a:solidFill>
              <a:srgbClr val="B8730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497312" y="133502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Por vencer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160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Próximos vencimientos</a:t>
            </a:r>
            <a:endParaRPr lang="en-US" sz="1800" dirty="0"/>
          </a:p>
        </p:txBody>
      </p:sp>
      <p:sp>
        <p:nvSpPr>
          <p:cNvPr id="37" name="Vencimiento 16/10/2026"/>
          <p:cNvSpPr/>
          <p:nvPr/>
        </p:nvSpPr>
        <p:spPr>
          <a:xfrm>
            <a:off x="457200" y="4617720"/>
            <a:ext cx="2612898" cy="178308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8" name="Círculo 16/10/2026"/>
          <p:cNvSpPr/>
          <p:nvPr/>
        </p:nvSpPr>
        <p:spPr>
          <a:xfrm>
            <a:off x="2384298" y="4818888"/>
            <a:ext cx="457200" cy="4572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39" name="Icono 16/10/202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07742" y="4942332"/>
            <a:ext cx="210312" cy="210312"/>
          </a:xfrm>
          <a:prstGeom prst="rect">
            <a:avLst/>
          </a:prstGeom>
        </p:spPr>
      </p:pic>
      <p:sp>
        <p:nvSpPr>
          <p:cNvPr id="40" name="Text 37"/>
          <p:cNvSpPr txBox="1"/>
          <p:nvPr/>
        </p:nvSpPr>
        <p:spPr>
          <a:xfrm>
            <a:off x="658368" y="4727448"/>
            <a:ext cx="16070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6</a:t>
            </a:r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  días</a:t>
            </a:r>
            <a:endParaRPr lang="en-US" sz="4000" dirty="0"/>
          </a:p>
        </p:txBody>
      </p:sp>
      <p:sp>
        <p:nvSpPr>
          <p:cNvPr id="41" name="Text 38"/>
          <p:cNvSpPr txBox="1"/>
          <p:nvPr/>
        </p:nvSpPr>
        <p:spPr>
          <a:xfrm>
            <a:off x="658368" y="5394960"/>
            <a:ext cx="221056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16/10/2026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Envío respuesta resultados preliminares PLD/FT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23486</a:t>
            </a:r>
            <a:endParaRPr lang="en-US" sz="1200" dirty="0"/>
          </a:p>
        </p:txBody>
      </p:sp>
      <p:sp>
        <p:nvSpPr>
          <p:cNvPr id="42" name="Vencimiento 23/10/2026"/>
          <p:cNvSpPr/>
          <p:nvPr/>
        </p:nvSpPr>
        <p:spPr>
          <a:xfrm>
            <a:off x="3344418" y="4617720"/>
            <a:ext cx="2612898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3" name="Círculo 23/10/2026"/>
          <p:cNvSpPr/>
          <p:nvPr/>
        </p:nvSpPr>
        <p:spPr>
          <a:xfrm>
            <a:off x="5271516" y="4818888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4" name="Icono 23/10/202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4942332"/>
            <a:ext cx="210312" cy="210312"/>
          </a:xfrm>
          <a:prstGeom prst="rect">
            <a:avLst/>
          </a:prstGeom>
        </p:spPr>
      </p:pic>
      <p:sp>
        <p:nvSpPr>
          <p:cNvPr id="45" name="Text 41"/>
          <p:cNvSpPr txBox="1"/>
          <p:nvPr/>
        </p:nvSpPr>
        <p:spPr>
          <a:xfrm>
            <a:off x="3545586" y="4727448"/>
            <a:ext cx="16070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13</a:t>
            </a:r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  días</a:t>
            </a:r>
            <a:endParaRPr lang="en-US" sz="4000" dirty="0"/>
          </a:p>
        </p:txBody>
      </p:sp>
      <p:sp>
        <p:nvSpPr>
          <p:cNvPr id="46" name="Text 42"/>
          <p:cNvSpPr txBox="1"/>
          <p:nvPr/>
        </p:nvSpPr>
        <p:spPr>
          <a:xfrm>
            <a:off x="3545586" y="5394960"/>
            <a:ext cx="221056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23/10/2026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Envío de nuevas observaciones – Gobierno Corporativo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Circular 22741</a:t>
            </a:r>
            <a:endParaRPr lang="en-US" sz="1200" dirty="0"/>
          </a:p>
        </p:txBody>
      </p:sp>
      <p:sp>
        <p:nvSpPr>
          <p:cNvPr id="47" name="Vencimiento 30/10/2026"/>
          <p:cNvSpPr/>
          <p:nvPr/>
        </p:nvSpPr>
        <p:spPr>
          <a:xfrm>
            <a:off x="6231636" y="4617720"/>
            <a:ext cx="2612898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8" name="Círculo 30/10/2026"/>
          <p:cNvSpPr/>
          <p:nvPr/>
        </p:nvSpPr>
        <p:spPr>
          <a:xfrm>
            <a:off x="8158734" y="4818888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9" name="Icono 30/10/202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178" y="4942332"/>
            <a:ext cx="210312" cy="210312"/>
          </a:xfrm>
          <a:prstGeom prst="rect">
            <a:avLst/>
          </a:prstGeom>
        </p:spPr>
      </p:pic>
      <p:sp>
        <p:nvSpPr>
          <p:cNvPr id="50" name="Text 45"/>
          <p:cNvSpPr txBox="1"/>
          <p:nvPr/>
        </p:nvSpPr>
        <p:spPr>
          <a:xfrm>
            <a:off x="6432804" y="4727448"/>
            <a:ext cx="16070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20</a:t>
            </a:r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  días</a:t>
            </a:r>
            <a:endParaRPr lang="en-US" sz="4000" dirty="0"/>
          </a:p>
        </p:txBody>
      </p:sp>
      <p:sp>
        <p:nvSpPr>
          <p:cNvPr id="51" name="Text 46"/>
          <p:cNvSpPr txBox="1"/>
          <p:nvPr/>
        </p:nvSpPr>
        <p:spPr>
          <a:xfrm>
            <a:off x="6432804" y="5394960"/>
            <a:ext cx="221056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30/10/2026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Seguimiento de observaciones – Gobierno Corporativo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Circular 22741</a:t>
            </a:r>
            <a:endParaRPr lang="en-US" sz="1200" dirty="0"/>
          </a:p>
        </p:txBody>
      </p:sp>
      <p:sp>
        <p:nvSpPr>
          <p:cNvPr id="52" name="Vencimiento 03/11/2026"/>
          <p:cNvSpPr/>
          <p:nvPr/>
        </p:nvSpPr>
        <p:spPr>
          <a:xfrm>
            <a:off x="9118854" y="4617720"/>
            <a:ext cx="2612898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3" name="Círculo 03/11/2026"/>
          <p:cNvSpPr/>
          <p:nvPr/>
        </p:nvSpPr>
        <p:spPr>
          <a:xfrm>
            <a:off x="11045952" y="4818888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4" name="Icono 03/11/202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69396" y="4942332"/>
            <a:ext cx="210312" cy="210312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9320022" y="4727448"/>
            <a:ext cx="16070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24</a:t>
            </a:r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  días</a:t>
            </a:r>
            <a:endParaRPr lang="en-US" sz="4000" dirty="0"/>
          </a:p>
        </p:txBody>
      </p:sp>
      <p:sp>
        <p:nvSpPr>
          <p:cNvPr id="56" name="Text 50"/>
          <p:cNvSpPr txBox="1"/>
          <p:nvPr/>
        </p:nvSpPr>
        <p:spPr>
          <a:xfrm>
            <a:off x="9320022" y="5394960"/>
            <a:ext cx="221056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03/11/2026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Envío del Plan de Recuperación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Circular 22737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Prioridades de las próximas semanas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04672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Compromisos con fecha y frentes en ejecución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6"/>
                </a:solidFill>
              </a:rPr>
              <a:t>COMPROMISOS SSF</a:t>
            </a:r>
            <a:endParaRPr lang="en-US" sz="1100" dirty="0"/>
          </a:p>
        </p:txBody>
      </p:sp>
      <p:sp>
        <p:nvSpPr>
          <p:cNvPr id="5" name="Prioridad 16/10"/>
          <p:cNvSpPr/>
          <p:nvPr/>
        </p:nvSpPr>
        <p:spPr>
          <a:xfrm>
            <a:off x="457200" y="1783080"/>
            <a:ext cx="6766560" cy="960120"/>
          </a:xfrm>
          <a:prstGeom prst="roundRect">
            <a:avLst>
              <a:gd name="adj" fmla="val 11429"/>
            </a:avLst>
          </a:prstGeom>
          <a:solidFill>
            <a:srgbClr val="15396B"/>
          </a:solidFill>
          <a:ln w="12700">
            <a:solidFill>
              <a:srgbClr val="15396B"/>
            </a:solidFill>
            <a:prstDash val="solid"/>
          </a:ln>
        </p:spPr>
      </p:sp>
      <p:sp>
        <p:nvSpPr>
          <p:cNvPr id="6" name="Círculo 16/10"/>
          <p:cNvSpPr/>
          <p:nvPr/>
        </p:nvSpPr>
        <p:spPr>
          <a:xfrm>
            <a:off x="658368" y="2002536"/>
            <a:ext cx="530352" cy="530352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7" name="Icono 16/1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1563" y="2145731"/>
            <a:ext cx="243962" cy="24396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1783080"/>
            <a:ext cx="1005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16/10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2423160" y="178308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Responder resultados preliminares PLD/FT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Circular 23486</a:t>
            </a:r>
            <a:endParaRPr lang="en-US" sz="1400" dirty="0"/>
          </a:p>
        </p:txBody>
      </p:sp>
      <p:sp>
        <p:nvSpPr>
          <p:cNvPr id="10" name="Prioridad 23/10"/>
          <p:cNvSpPr/>
          <p:nvPr/>
        </p:nvSpPr>
        <p:spPr>
          <a:xfrm>
            <a:off x="457200" y="2880360"/>
            <a:ext cx="6766560" cy="960120"/>
          </a:xfrm>
          <a:prstGeom prst="roundRect">
            <a:avLst>
              <a:gd name="adj" fmla="val 11429"/>
            </a:avLst>
          </a:prstGeom>
          <a:solidFill>
            <a:srgbClr val="15396B"/>
          </a:solidFill>
          <a:ln w="12700">
            <a:solidFill>
              <a:srgbClr val="15396B"/>
            </a:solidFill>
            <a:prstDash val="solid"/>
          </a:ln>
        </p:spPr>
      </p:sp>
      <p:sp>
        <p:nvSpPr>
          <p:cNvPr id="11" name="Círculo 23/10"/>
          <p:cNvSpPr/>
          <p:nvPr/>
        </p:nvSpPr>
        <p:spPr>
          <a:xfrm>
            <a:off x="658368" y="3099816"/>
            <a:ext cx="530352" cy="53035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Icono 23/1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563" y="3243011"/>
            <a:ext cx="243962" cy="24396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371600" y="2880360"/>
            <a:ext cx="1005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23/10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2423160" y="288036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Enviar nuevas observaciones de Gobierno Corporativo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Circular 22741</a:t>
            </a:r>
            <a:endParaRPr lang="en-US" sz="1400" dirty="0"/>
          </a:p>
        </p:txBody>
      </p:sp>
      <p:sp>
        <p:nvSpPr>
          <p:cNvPr id="15" name="Prioridad 30/10"/>
          <p:cNvSpPr/>
          <p:nvPr/>
        </p:nvSpPr>
        <p:spPr>
          <a:xfrm>
            <a:off x="457200" y="3977640"/>
            <a:ext cx="6766560" cy="960120"/>
          </a:xfrm>
          <a:prstGeom prst="roundRect">
            <a:avLst>
              <a:gd name="adj" fmla="val 11429"/>
            </a:avLst>
          </a:prstGeom>
          <a:solidFill>
            <a:srgbClr val="15396B"/>
          </a:solidFill>
          <a:ln w="12700">
            <a:solidFill>
              <a:srgbClr val="15396B"/>
            </a:solidFill>
            <a:prstDash val="solid"/>
          </a:ln>
        </p:spPr>
      </p:sp>
      <p:sp>
        <p:nvSpPr>
          <p:cNvPr id="16" name="Círculo 30/10"/>
          <p:cNvSpPr/>
          <p:nvPr/>
        </p:nvSpPr>
        <p:spPr>
          <a:xfrm>
            <a:off x="658368" y="4197096"/>
            <a:ext cx="530352" cy="53035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7" name="Icono 30/1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563" y="4340291"/>
            <a:ext cx="243962" cy="24396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371600" y="3977640"/>
            <a:ext cx="1005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30/10</a:t>
            </a:r>
            <a:endParaRPr lang="en-US" sz="2400" dirty="0"/>
          </a:p>
        </p:txBody>
      </p:sp>
      <p:sp>
        <p:nvSpPr>
          <p:cNvPr id="19" name="Text 14"/>
          <p:cNvSpPr txBox="1"/>
          <p:nvPr/>
        </p:nvSpPr>
        <p:spPr>
          <a:xfrm>
            <a:off x="2423160" y="397764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Enviar seguimiento de observaciones de Gobierno Corporativo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Circular 22741 · incluye pruebas de descargo</a:t>
            </a:r>
            <a:endParaRPr lang="en-US" sz="1400" dirty="0"/>
          </a:p>
        </p:txBody>
      </p:sp>
      <p:sp>
        <p:nvSpPr>
          <p:cNvPr id="20" name="Prioridad 03/11"/>
          <p:cNvSpPr/>
          <p:nvPr/>
        </p:nvSpPr>
        <p:spPr>
          <a:xfrm>
            <a:off x="457200" y="5074920"/>
            <a:ext cx="6766560" cy="960120"/>
          </a:xfrm>
          <a:prstGeom prst="roundRect">
            <a:avLst>
              <a:gd name="adj" fmla="val 11429"/>
            </a:avLst>
          </a:prstGeom>
          <a:solidFill>
            <a:srgbClr val="15396B"/>
          </a:solidFill>
          <a:ln w="12700">
            <a:solidFill>
              <a:srgbClr val="15396B"/>
            </a:solidFill>
            <a:prstDash val="solid"/>
          </a:ln>
        </p:spPr>
      </p:sp>
      <p:sp>
        <p:nvSpPr>
          <p:cNvPr id="21" name="Círculo 03/11"/>
          <p:cNvSpPr/>
          <p:nvPr/>
        </p:nvSpPr>
        <p:spPr>
          <a:xfrm>
            <a:off x="658368" y="5294376"/>
            <a:ext cx="530352" cy="53035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2" name="Icono 03/1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563" y="5437571"/>
            <a:ext cx="243962" cy="24396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371600" y="5074920"/>
            <a:ext cx="1005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03/11</a:t>
            </a:r>
            <a:endParaRPr lang="en-US" sz="2400" dirty="0"/>
          </a:p>
        </p:txBody>
      </p:sp>
      <p:sp>
        <p:nvSpPr>
          <p:cNvPr id="24" name="Text 18"/>
          <p:cNvSpPr txBox="1"/>
          <p:nvPr/>
        </p:nvSpPr>
        <p:spPr>
          <a:xfrm>
            <a:off x="2423160" y="507492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Enviar el Plan de Recuperación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Circular 22737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768096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6"/>
                </a:solidFill>
              </a:rPr>
              <a:t>FRENTES EN EJECUCIÓN</a:t>
            </a:r>
            <a:endParaRPr lang="en-US" sz="1100" dirty="0"/>
          </a:p>
        </p:txBody>
      </p:sp>
      <p:sp>
        <p:nvSpPr>
          <p:cNvPr id="26" name="Frentes en ejecución"/>
          <p:cNvSpPr/>
          <p:nvPr/>
        </p:nvSpPr>
        <p:spPr>
          <a:xfrm>
            <a:off x="7680960" y="1783080"/>
            <a:ext cx="4050792" cy="4251960"/>
          </a:xfrm>
          <a:prstGeom prst="roundRect">
            <a:avLst>
              <a:gd name="adj" fmla="val 2709"/>
            </a:avLst>
          </a:prstGeom>
          <a:solidFill>
            <a:srgbClr val="15396B"/>
          </a:solidFill>
          <a:ln w="12700">
            <a:solidFill>
              <a:srgbClr val="15396B"/>
            </a:solidFill>
            <a:prstDash val="solid"/>
          </a:ln>
        </p:spPr>
      </p:sp>
      <p:sp>
        <p:nvSpPr>
          <p:cNvPr id="27" name="Círculo Avalúos"/>
          <p:cNvSpPr/>
          <p:nvPr/>
        </p:nvSpPr>
        <p:spPr>
          <a:xfrm>
            <a:off x="7909560" y="2057400"/>
            <a:ext cx="475488" cy="47548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8" name="Icono Avalúos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7942" y="2185782"/>
            <a:ext cx="218724" cy="21872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549640" y="20116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Avalúos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Política, procedimientos y perfil de revisor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10744200" y="20116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60%</a:t>
            </a:r>
            <a:endParaRPr lang="en-US" sz="2200" dirty="0"/>
          </a:p>
        </p:txBody>
      </p:sp>
      <p:sp>
        <p:nvSpPr>
          <p:cNvPr id="31" name="Barra fondo Avalúos"/>
          <p:cNvSpPr/>
          <p:nvPr/>
        </p:nvSpPr>
        <p:spPr>
          <a:xfrm>
            <a:off x="7909560" y="2770632"/>
            <a:ext cx="3639312" cy="128016"/>
          </a:xfrm>
          <a:prstGeom prst="roundRect">
            <a:avLst>
              <a:gd name="adj" fmla="val 50000"/>
            </a:avLst>
          </a:prstGeom>
          <a:solidFill>
            <a:srgbClr val="1A4378"/>
          </a:solidFill>
          <a:ln w="12700">
            <a:solidFill>
              <a:srgbClr val="1A4378"/>
            </a:solidFill>
            <a:prstDash val="solid"/>
          </a:ln>
        </p:spPr>
      </p:sp>
      <p:sp>
        <p:nvSpPr>
          <p:cNvPr id="32" name="Barra avance Avalúos"/>
          <p:cNvSpPr/>
          <p:nvPr/>
        </p:nvSpPr>
        <p:spPr>
          <a:xfrm>
            <a:off x="7909560" y="2770632"/>
            <a:ext cx="2183587" cy="128016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3" name="Círculo Examen GIR 2026"/>
          <p:cNvSpPr/>
          <p:nvPr/>
        </p:nvSpPr>
        <p:spPr>
          <a:xfrm>
            <a:off x="7909560" y="3383280"/>
            <a:ext cx="475488" cy="47548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4" name="Icono Examen GIR 202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7942" y="3511662"/>
            <a:ext cx="218724" cy="218724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8549640" y="33375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Examen GIR 2026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Capacitación y evaluación de riesgos</a:t>
            </a:r>
            <a:endParaRPr lang="en-US" sz="1400" dirty="0"/>
          </a:p>
        </p:txBody>
      </p:sp>
      <p:sp>
        <p:nvSpPr>
          <p:cNvPr id="36" name="Text 28"/>
          <p:cNvSpPr txBox="1"/>
          <p:nvPr/>
        </p:nvSpPr>
        <p:spPr>
          <a:xfrm>
            <a:off x="10744200" y="333756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50%</a:t>
            </a:r>
            <a:endParaRPr lang="en-US" sz="2200" dirty="0"/>
          </a:p>
        </p:txBody>
      </p:sp>
      <p:sp>
        <p:nvSpPr>
          <p:cNvPr id="37" name="Barra fondo Examen GIR 2026"/>
          <p:cNvSpPr/>
          <p:nvPr/>
        </p:nvSpPr>
        <p:spPr>
          <a:xfrm>
            <a:off x="7909560" y="4096512"/>
            <a:ext cx="3639312" cy="128016"/>
          </a:xfrm>
          <a:prstGeom prst="roundRect">
            <a:avLst>
              <a:gd name="adj" fmla="val 50000"/>
            </a:avLst>
          </a:prstGeom>
          <a:solidFill>
            <a:srgbClr val="1A4378"/>
          </a:solidFill>
          <a:ln w="12700">
            <a:solidFill>
              <a:srgbClr val="1A4378"/>
            </a:solidFill>
            <a:prstDash val="solid"/>
          </a:ln>
        </p:spPr>
      </p:sp>
      <p:sp>
        <p:nvSpPr>
          <p:cNvPr id="38" name="Barra avance Examen GIR 2026"/>
          <p:cNvSpPr/>
          <p:nvPr/>
        </p:nvSpPr>
        <p:spPr>
          <a:xfrm>
            <a:off x="7909560" y="4096512"/>
            <a:ext cx="1819656" cy="128016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9" name="Círculo nota"/>
          <p:cNvSpPr/>
          <p:nvPr/>
        </p:nvSpPr>
        <p:spPr>
          <a:xfrm>
            <a:off x="7909560" y="4846320"/>
            <a:ext cx="475488" cy="47548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40" name="Icono nota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37942" y="4974702"/>
            <a:ext cx="218724" cy="218724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8549640" y="470916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En S2: </a:t>
            </a:r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BIA, continuidad, auditorías y Política de TC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iesgos Ejecutivo">
  <a:themeElements>
    <a:clrScheme name="Riesgos Ejecutivo">
      <a:dk1>
        <a:srgbClr val="1E2A3A"/>
      </a:dk1>
      <a:lt1>
        <a:srgbClr val="FFFFFF"/>
      </a:lt1>
      <a:dk2>
        <a:srgbClr val="0B2E59"/>
      </a:dk2>
      <a:lt2>
        <a:srgbClr val="EEF2F8"/>
      </a:lt2>
      <a:accent1>
        <a:srgbClr val="0B2E59"/>
      </a:accent1>
      <a:accent2>
        <a:srgbClr val="B87300"/>
      </a:accent2>
      <a:accent3>
        <a:srgbClr val="1F5FA8"/>
      </a:accent3>
      <a:accent4>
        <a:srgbClr val="5B6B7F"/>
      </a:accent4>
      <a:accent5>
        <a:srgbClr val="D7DEE9"/>
      </a:accent5>
      <a:accent6>
        <a:srgbClr val="F2B233"/>
      </a:accent6>
      <a:hlink>
        <a:srgbClr val="1F5FA8"/>
      </a:hlink>
      <a:folHlink>
        <a:srgbClr val="5B6B7F"/>
      </a:folHlink>
    </a:clrScheme>
    <a:fontScheme name="Riesgos Ejecutiv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Resumen Ejecutivo de Riesgos</dc:title>
  <dc:subject>PptxGenJS Presentation</dc:subject>
  <dc:creator>PptxGenJS</dc:creator>
  <cp:lastModifiedBy>PptxGenJS</cp:lastModifiedBy>
  <cp:revision>1</cp:revision>
  <dcterms:created xsi:type="dcterms:W3CDTF">2026-10-10T16:30:55Z</dcterms:created>
  <dcterms:modified xsi:type="dcterms:W3CDTF">2026-10-10T16:30:55Z</dcterms:modified>
</cp:coreProperties>
</file>