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una gran actividad final y un resumen de todos los riesgos vistos,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Ve verbo por verbo y pide un ejemplo concreto de cada uno aplicado al puesto de alguien en la sala.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reportar no es "delatar", es proteger a la Cooperativa. Explica los 4 pasos con un ejemplo cotidiano: VEO (algo llama mi atención), IDENTIFICO (reconozco que es un riesgo real), ACTÚO (tomo una acción inmediata) y REPORTO (lo comunico por el canal institucional) — ninguno se puede saltar. Luego lee la situación en voz alta y da un minuto para que el grupo vote por A, B o C (a mano alzada) antes de avanzar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Pide un ejemplo real de cada categoría, vivido por alguien del grupo o de la Cooperativa.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Recorre los 8 elementos y pregunta al grupo cuál consideran más vulnerable en su área de trabajo; prioriza los que generen más discusión. Deja que la frase del recuadro final respire unos segundos: el caso práctico de este tema (un asociado insatisfecho que se queja en redes sociales) aparece más adelante, en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 ambos deben reportarse, aunque el trasfondo sea distinto. Explica que la diferencia clave es la intención;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 Cierra reforzando el recuadro final: documentar y reportar siempre, encubrir nunca. Pide ejemplos adicionales de señales de alerta que el grupo haya visto u oído, sin señalar a nadie en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todos los que tocan el proceso influyen en el riesgo final. Recorre brevemente las 8 etapas y pregunta al grupo en qué etapa participan, aunque no trabajen directamente en Créditos. Deja que la respuesta del recuadro final impacte antes de explicarla. Cierra reforzando los tres pilares: corresponsabilidad (cada etapa depende de la calidad de la anterior), prevención (verificar a tiempo evita problemas costosos) y calidad del proceso (un expediente completo protege al asociado y a la Cooperativa).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Recorre cada rol de izquierda a derecha con una frase corta sobre su función. El mensaje debe quedar corto y memorable: todos los roles se ven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es un resumen de todos los riesgos vistos, antes de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todos los tipos de riesgo identificados a lo largo de la capacitación. Haz un repaso rápido pidiendo al grupo un ejemplo de cada uno desde su propio puesto de trabajo. Es el puente hacia los casos integradores, donde varios de estos riesgos aparecen combinados en una sola situación.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caso práctico del Tema 4 (reputación).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2.png"/><Relationship Id="rId11" Type="http://schemas.openxmlformats.org/officeDocument/2006/relationships/image" Target="../media/image-13-11.png"/><Relationship Id="rId12" Type="http://schemas.openxmlformats.org/officeDocument/2006/relationships/image" Target="../media/image-13-2.png"/><Relationship Id="rId13" Type="http://schemas.openxmlformats.org/officeDocument/2006/relationships/image" Target="../media/image-13-13.png"/><Relationship Id="rId14" Type="http://schemas.openxmlformats.org/officeDocument/2006/relationships/image" Target="../media/image-13-2.png"/><Relationship Id="rId15" Type="http://schemas.openxmlformats.org/officeDocument/2006/relationships/image" Target="../media/image-13-15.png"/><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2.png"/><Relationship Id="rId5" Type="http://schemas.openxmlformats.org/officeDocument/2006/relationships/image" Target="../media/image-15-5.png"/><Relationship Id="rId6" Type="http://schemas.openxmlformats.org/officeDocument/2006/relationships/image" Target="../media/image-15-2.png"/><Relationship Id="rId7" Type="http://schemas.openxmlformats.org/officeDocument/2006/relationships/image" Target="../media/image-15-7.png"/><Relationship Id="rId8" Type="http://schemas.openxmlformats.org/officeDocument/2006/relationships/image" Target="../media/image-15-2.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2.png"/><Relationship Id="rId4" Type="http://schemas.openxmlformats.org/officeDocument/2006/relationships/image" Target="../media/image-17-2.png"/><Relationship Id="rId5" Type="http://schemas.openxmlformats.org/officeDocument/2006/relationships/image" Target="../media/image-17-2.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2.png"/><Relationship Id="rId4" Type="http://schemas.openxmlformats.org/officeDocument/2006/relationships/image" Target="../media/image-19-2.png"/><Relationship Id="rId5"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2.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2.png"/><Relationship Id="rId5" Type="http://schemas.openxmlformats.org/officeDocument/2006/relationships/image" Target="../media/image-27-5.png"/><Relationship Id="rId6" Type="http://schemas.openxmlformats.org/officeDocument/2006/relationships/image" Target="../media/image-27-2.png"/><Relationship Id="rId7" Type="http://schemas.openxmlformats.org/officeDocument/2006/relationships/image" Target="../media/image-27-7.png"/><Relationship Id="rId8" Type="http://schemas.openxmlformats.org/officeDocument/2006/relationships/image" Target="../media/image-27-2.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1.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 · ESTOS SON EJEMPLOS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ESTOS ERAN LOS RIESGOS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148840"/>
            <a:ext cx="5391760" cy="880110"/>
          </a:xfrm>
          <a:prstGeom prst="roundRect">
            <a:avLst>
              <a:gd name="adj" fmla="val 9351"/>
            </a:avLst>
          </a:prstGeom>
          <a:solidFill>
            <a:srgbClr val="F2F5F9"/>
          </a:solidFill>
          <a:ln/>
        </p:spPr>
      </p:sp>
      <p:sp>
        <p:nvSpPr>
          <p:cNvPr id="7" name="Shape 4"/>
          <p:cNvSpPr/>
          <p:nvPr/>
        </p:nvSpPr>
        <p:spPr>
          <a:xfrm>
            <a:off x="704088" y="2305431"/>
            <a:ext cx="566928" cy="566928"/>
          </a:xfrm>
          <a:prstGeom prst="ellipse">
            <a:avLst/>
          </a:prstGeom>
          <a:solidFill>
            <a:srgbClr val="2E86C7"/>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840151" y="2441494"/>
            <a:ext cx="294803" cy="294803"/>
          </a:xfrm>
          <a:prstGeom prst="rect">
            <a:avLst/>
          </a:prstGeom>
        </p:spPr>
      </p:pic>
      <p:sp>
        <p:nvSpPr>
          <p:cNvPr id="9" name="Shape 5"/>
          <p:cNvSpPr/>
          <p:nvPr/>
        </p:nvSpPr>
        <p:spPr>
          <a:xfrm>
            <a:off x="1133856" y="2250567"/>
            <a:ext cx="292608" cy="292608"/>
          </a:xfrm>
          <a:prstGeom prst="ellipse">
            <a:avLst/>
          </a:prstGeom>
          <a:solidFill>
            <a:srgbClr val="133B6C"/>
          </a:solidFill>
          <a:ln/>
        </p:spPr>
      </p:sp>
      <p:sp>
        <p:nvSpPr>
          <p:cNvPr id="10" name="Text 6"/>
          <p:cNvSpPr txBox="1"/>
          <p:nvPr/>
        </p:nvSpPr>
        <p:spPr>
          <a:xfrm>
            <a:off x="1133856" y="2241423"/>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1</a:t>
            </a:r>
            <a:endParaRPr lang="en-US" sz="1088" dirty="0"/>
          </a:p>
        </p:txBody>
      </p:sp>
      <p:sp>
        <p:nvSpPr>
          <p:cNvPr id="11" name="Text 7"/>
          <p:cNvSpPr txBox="1"/>
          <p:nvPr/>
        </p:nvSpPr>
        <p:spPr>
          <a:xfrm>
            <a:off x="1408176" y="2221992"/>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Documento confidencial expuesto sobre el escritorio.</a:t>
            </a:r>
            <a:endParaRPr lang="en-US" sz="1200" dirty="0"/>
          </a:p>
        </p:txBody>
      </p:sp>
      <p:sp>
        <p:nvSpPr>
          <p:cNvPr id="12" name="Shape 8"/>
          <p:cNvSpPr/>
          <p:nvPr/>
        </p:nvSpPr>
        <p:spPr>
          <a:xfrm>
            <a:off x="6233008" y="2148840"/>
            <a:ext cx="5391760" cy="880110"/>
          </a:xfrm>
          <a:prstGeom prst="roundRect">
            <a:avLst>
              <a:gd name="adj" fmla="val 9351"/>
            </a:avLst>
          </a:prstGeom>
          <a:solidFill>
            <a:srgbClr val="F2F5F9"/>
          </a:solidFill>
          <a:ln/>
        </p:spPr>
      </p:sp>
      <p:sp>
        <p:nvSpPr>
          <p:cNvPr id="13" name="Shape 9"/>
          <p:cNvSpPr/>
          <p:nvPr/>
        </p:nvSpPr>
        <p:spPr>
          <a:xfrm>
            <a:off x="6370168" y="2305431"/>
            <a:ext cx="566928" cy="566928"/>
          </a:xfrm>
          <a:prstGeom prst="ellipse">
            <a:avLst/>
          </a:prstGeom>
          <a:solidFill>
            <a:srgbClr val="2E86C7"/>
          </a:solidFill>
          <a:ln/>
        </p:spPr>
      </p:sp>
      <p:pic>
        <p:nvPicPr>
          <p:cNvPr id="14" name="Image 1" descr="/tmp/claude-0/-home-user-riesgo/0ff9ff46-1396-5bd8-b3ac-2280dfbbbc55/scratchpad/work/gen/icons/cable_white.png">    </p:cNvPr>
          <p:cNvPicPr>
            <a:picLocks noChangeAspect="1"/>
          </p:cNvPicPr>
          <p:nvPr/>
        </p:nvPicPr>
        <p:blipFill>
          <a:blip r:embed="rId2"/>
          <a:stretch>
            <a:fillRect/>
          </a:stretch>
        </p:blipFill>
        <p:spPr>
          <a:xfrm>
            <a:off x="6506230" y="2441494"/>
            <a:ext cx="294803" cy="294803"/>
          </a:xfrm>
          <a:prstGeom prst="rect">
            <a:avLst/>
          </a:prstGeom>
        </p:spPr>
      </p:pic>
      <p:sp>
        <p:nvSpPr>
          <p:cNvPr id="15" name="Shape 10"/>
          <p:cNvSpPr/>
          <p:nvPr/>
        </p:nvSpPr>
        <p:spPr>
          <a:xfrm>
            <a:off x="6799936" y="2250567"/>
            <a:ext cx="292608" cy="292608"/>
          </a:xfrm>
          <a:prstGeom prst="ellipse">
            <a:avLst/>
          </a:prstGeom>
          <a:solidFill>
            <a:srgbClr val="133B6C"/>
          </a:solidFill>
          <a:ln/>
        </p:spPr>
      </p:sp>
      <p:sp>
        <p:nvSpPr>
          <p:cNvPr id="16" name="Text 11"/>
          <p:cNvSpPr txBox="1"/>
          <p:nvPr/>
        </p:nvSpPr>
        <p:spPr>
          <a:xfrm>
            <a:off x="6799936" y="2241423"/>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2</a:t>
            </a:r>
            <a:endParaRPr lang="en-US" sz="1088" dirty="0"/>
          </a:p>
        </p:txBody>
      </p:sp>
      <p:sp>
        <p:nvSpPr>
          <p:cNvPr id="17" name="Text 12"/>
          <p:cNvSpPr txBox="1"/>
          <p:nvPr/>
        </p:nvSpPr>
        <p:spPr>
          <a:xfrm>
            <a:off x="7074256" y="2221992"/>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Cable suelto que puede provocar una caída.</a:t>
            </a:r>
            <a:endParaRPr lang="en-US" sz="1200" dirty="0"/>
          </a:p>
        </p:txBody>
      </p:sp>
      <p:sp>
        <p:nvSpPr>
          <p:cNvPr id="18" name="Shape 13"/>
          <p:cNvSpPr/>
          <p:nvPr/>
        </p:nvSpPr>
        <p:spPr>
          <a:xfrm>
            <a:off x="566928" y="3175254"/>
            <a:ext cx="5391760" cy="880110"/>
          </a:xfrm>
          <a:prstGeom prst="roundRect">
            <a:avLst>
              <a:gd name="adj" fmla="val 9351"/>
            </a:avLst>
          </a:prstGeom>
          <a:solidFill>
            <a:srgbClr val="F2F5F9"/>
          </a:solidFill>
          <a:ln/>
        </p:spPr>
      </p:sp>
      <p:sp>
        <p:nvSpPr>
          <p:cNvPr id="19" name="Shape 14"/>
          <p:cNvSpPr/>
          <p:nvPr/>
        </p:nvSpPr>
        <p:spPr>
          <a:xfrm>
            <a:off x="704088" y="3331845"/>
            <a:ext cx="566928" cy="566928"/>
          </a:xfrm>
          <a:prstGeom prst="ellipse">
            <a:avLst/>
          </a:prstGeom>
          <a:solidFill>
            <a:srgbClr val="2E86C7"/>
          </a:solidFill>
          <a:ln/>
        </p:spPr>
      </p:sp>
      <p:pic>
        <p:nvPicPr>
          <p:cNvPr id="20" name="Image 2" descr="/tmp/claude-0/-home-user-riesgo/0ff9ff46-1396-5bd8-b3ac-2280dfbbbc55/scratchpad/work/gen/icons/password_white.png">    </p:cNvPr>
          <p:cNvPicPr>
            <a:picLocks noChangeAspect="1"/>
          </p:cNvPicPr>
          <p:nvPr/>
        </p:nvPicPr>
        <p:blipFill>
          <a:blip r:embed="rId3"/>
          <a:stretch>
            <a:fillRect/>
          </a:stretch>
        </p:blipFill>
        <p:spPr>
          <a:xfrm>
            <a:off x="840151" y="3467908"/>
            <a:ext cx="294803" cy="294803"/>
          </a:xfrm>
          <a:prstGeom prst="rect">
            <a:avLst/>
          </a:prstGeom>
        </p:spPr>
      </p:pic>
      <p:sp>
        <p:nvSpPr>
          <p:cNvPr id="21" name="Shape 15"/>
          <p:cNvSpPr/>
          <p:nvPr/>
        </p:nvSpPr>
        <p:spPr>
          <a:xfrm>
            <a:off x="1133856" y="3276981"/>
            <a:ext cx="292608" cy="292608"/>
          </a:xfrm>
          <a:prstGeom prst="ellipse">
            <a:avLst/>
          </a:prstGeom>
          <a:solidFill>
            <a:srgbClr val="133B6C"/>
          </a:solidFill>
          <a:ln/>
        </p:spPr>
      </p:sp>
      <p:sp>
        <p:nvSpPr>
          <p:cNvPr id="22" name="Text 16"/>
          <p:cNvSpPr txBox="1"/>
          <p:nvPr/>
        </p:nvSpPr>
        <p:spPr>
          <a:xfrm>
            <a:off x="1133856" y="3267837"/>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3</a:t>
            </a:r>
            <a:endParaRPr lang="en-US" sz="1088" dirty="0"/>
          </a:p>
        </p:txBody>
      </p:sp>
      <p:sp>
        <p:nvSpPr>
          <p:cNvPr id="23" name="Text 17"/>
          <p:cNvSpPr txBox="1"/>
          <p:nvPr/>
        </p:nvSpPr>
        <p:spPr>
          <a:xfrm>
            <a:off x="1408176" y="3248406"/>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Contraseña anotada y visible para cualquiera.</a:t>
            </a:r>
            <a:endParaRPr lang="en-US" sz="1200" dirty="0"/>
          </a:p>
        </p:txBody>
      </p:sp>
      <p:sp>
        <p:nvSpPr>
          <p:cNvPr id="24" name="Shape 18"/>
          <p:cNvSpPr/>
          <p:nvPr/>
        </p:nvSpPr>
        <p:spPr>
          <a:xfrm>
            <a:off x="6233008" y="3175254"/>
            <a:ext cx="5391760" cy="880110"/>
          </a:xfrm>
          <a:prstGeom prst="roundRect">
            <a:avLst>
              <a:gd name="adj" fmla="val 9351"/>
            </a:avLst>
          </a:prstGeom>
          <a:solidFill>
            <a:srgbClr val="F2F5F9"/>
          </a:solidFill>
          <a:ln/>
        </p:spPr>
      </p:sp>
      <p:sp>
        <p:nvSpPr>
          <p:cNvPr id="25" name="Shape 19"/>
          <p:cNvSpPr/>
          <p:nvPr/>
        </p:nvSpPr>
        <p:spPr>
          <a:xfrm>
            <a:off x="6370168" y="3331845"/>
            <a:ext cx="566928" cy="566928"/>
          </a:xfrm>
          <a:prstGeom prst="ellipse">
            <a:avLst/>
          </a:prstGeom>
          <a:solidFill>
            <a:srgbClr val="2E86C7"/>
          </a:solidFill>
          <a:ln/>
        </p:spPr>
      </p:sp>
      <p:pic>
        <p:nvPicPr>
          <p:cNvPr id="26" name="Image 3" descr="/tmp/claude-0/-home-user-riesgo/0ff9ff46-1396-5bd8-b3ac-2280dfbbbc55/scratchpad/work/gen/icons/door_open_white.png">    </p:cNvPr>
          <p:cNvPicPr>
            <a:picLocks noChangeAspect="1"/>
          </p:cNvPicPr>
          <p:nvPr/>
        </p:nvPicPr>
        <p:blipFill>
          <a:blip r:embed="rId4"/>
          <a:stretch>
            <a:fillRect/>
          </a:stretch>
        </p:blipFill>
        <p:spPr>
          <a:xfrm>
            <a:off x="6506230" y="3467908"/>
            <a:ext cx="294803" cy="294803"/>
          </a:xfrm>
          <a:prstGeom prst="rect">
            <a:avLst/>
          </a:prstGeom>
        </p:spPr>
      </p:pic>
      <p:sp>
        <p:nvSpPr>
          <p:cNvPr id="27" name="Shape 20"/>
          <p:cNvSpPr/>
          <p:nvPr/>
        </p:nvSpPr>
        <p:spPr>
          <a:xfrm>
            <a:off x="6799936" y="3276981"/>
            <a:ext cx="292608" cy="292608"/>
          </a:xfrm>
          <a:prstGeom prst="ellipse">
            <a:avLst/>
          </a:prstGeom>
          <a:solidFill>
            <a:srgbClr val="133B6C"/>
          </a:solidFill>
          <a:ln/>
        </p:spPr>
      </p:sp>
      <p:sp>
        <p:nvSpPr>
          <p:cNvPr id="28" name="Text 21"/>
          <p:cNvSpPr txBox="1"/>
          <p:nvPr/>
        </p:nvSpPr>
        <p:spPr>
          <a:xfrm>
            <a:off x="6799936" y="3267837"/>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4</a:t>
            </a:r>
            <a:endParaRPr lang="en-US" sz="1088" dirty="0"/>
          </a:p>
        </p:txBody>
      </p:sp>
      <p:sp>
        <p:nvSpPr>
          <p:cNvPr id="29" name="Text 22"/>
          <p:cNvSpPr txBox="1"/>
          <p:nvPr/>
        </p:nvSpPr>
        <p:spPr>
          <a:xfrm>
            <a:off x="7074256" y="3248406"/>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Puerta de un área restringida abierta.</a:t>
            </a:r>
            <a:endParaRPr lang="en-US" sz="1200" dirty="0"/>
          </a:p>
        </p:txBody>
      </p:sp>
      <p:sp>
        <p:nvSpPr>
          <p:cNvPr id="30" name="Shape 23"/>
          <p:cNvSpPr/>
          <p:nvPr/>
        </p:nvSpPr>
        <p:spPr>
          <a:xfrm>
            <a:off x="566928" y="4201668"/>
            <a:ext cx="5391760" cy="880110"/>
          </a:xfrm>
          <a:prstGeom prst="roundRect">
            <a:avLst>
              <a:gd name="adj" fmla="val 9351"/>
            </a:avLst>
          </a:prstGeom>
          <a:solidFill>
            <a:srgbClr val="F2F5F9"/>
          </a:solidFill>
          <a:ln/>
        </p:spPr>
      </p:sp>
      <p:sp>
        <p:nvSpPr>
          <p:cNvPr id="31" name="Shape 24"/>
          <p:cNvSpPr/>
          <p:nvPr/>
        </p:nvSpPr>
        <p:spPr>
          <a:xfrm>
            <a:off x="704088" y="4358259"/>
            <a:ext cx="566928" cy="566928"/>
          </a:xfrm>
          <a:prstGeom prst="ellipse">
            <a:avLst/>
          </a:prstGeom>
          <a:solidFill>
            <a:srgbClr val="2E86C7"/>
          </a:solidFill>
          <a:ln/>
        </p:spPr>
      </p:sp>
      <p:pic>
        <p:nvPicPr>
          <p:cNvPr id="32" name="Image 4" descr="/tmp/claude-0/-home-user-riesgo/0ff9ff46-1396-5bd8-b3ac-2280dfbbbc55/scratchpad/work/gen/icons/x_circle_white.png">    </p:cNvPr>
          <p:cNvPicPr>
            <a:picLocks noChangeAspect="1"/>
          </p:cNvPicPr>
          <p:nvPr/>
        </p:nvPicPr>
        <p:blipFill>
          <a:blip r:embed="rId5"/>
          <a:stretch>
            <a:fillRect/>
          </a:stretch>
        </p:blipFill>
        <p:spPr>
          <a:xfrm>
            <a:off x="840151" y="4494322"/>
            <a:ext cx="294803" cy="294803"/>
          </a:xfrm>
          <a:prstGeom prst="rect">
            <a:avLst/>
          </a:prstGeom>
        </p:spPr>
      </p:pic>
      <p:sp>
        <p:nvSpPr>
          <p:cNvPr id="33" name="Shape 25"/>
          <p:cNvSpPr/>
          <p:nvPr/>
        </p:nvSpPr>
        <p:spPr>
          <a:xfrm>
            <a:off x="1133856" y="4303395"/>
            <a:ext cx="292608" cy="292608"/>
          </a:xfrm>
          <a:prstGeom prst="ellipse">
            <a:avLst/>
          </a:prstGeom>
          <a:solidFill>
            <a:srgbClr val="133B6C"/>
          </a:solidFill>
          <a:ln/>
        </p:spPr>
      </p:sp>
      <p:sp>
        <p:nvSpPr>
          <p:cNvPr id="34" name="Text 26"/>
          <p:cNvSpPr txBox="1"/>
          <p:nvPr/>
        </p:nvSpPr>
        <p:spPr>
          <a:xfrm>
            <a:off x="1133856" y="4294251"/>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5</a:t>
            </a:r>
            <a:endParaRPr lang="en-US" sz="1088" dirty="0"/>
          </a:p>
        </p:txBody>
      </p:sp>
      <p:sp>
        <p:nvSpPr>
          <p:cNvPr id="35" name="Text 27"/>
          <p:cNvSpPr txBox="1"/>
          <p:nvPr/>
        </p:nvSpPr>
        <p:spPr>
          <a:xfrm>
            <a:off x="1408176" y="4274820"/>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 dato o cifra registrado de forma incorrecta.</a:t>
            </a:r>
            <a:endParaRPr lang="en-US" sz="1200" dirty="0"/>
          </a:p>
        </p:txBody>
      </p:sp>
      <p:sp>
        <p:nvSpPr>
          <p:cNvPr id="36" name="Shape 28"/>
          <p:cNvSpPr/>
          <p:nvPr/>
        </p:nvSpPr>
        <p:spPr>
          <a:xfrm>
            <a:off x="6233008" y="4201668"/>
            <a:ext cx="5391760" cy="880110"/>
          </a:xfrm>
          <a:prstGeom prst="roundRect">
            <a:avLst>
              <a:gd name="adj" fmla="val 9351"/>
            </a:avLst>
          </a:prstGeom>
          <a:solidFill>
            <a:srgbClr val="F2F5F9"/>
          </a:solidFill>
          <a:ln/>
        </p:spPr>
      </p:sp>
      <p:sp>
        <p:nvSpPr>
          <p:cNvPr id="37" name="Shape 29"/>
          <p:cNvSpPr/>
          <p:nvPr/>
        </p:nvSpPr>
        <p:spPr>
          <a:xfrm>
            <a:off x="6370168" y="4358259"/>
            <a:ext cx="566928" cy="566928"/>
          </a:xfrm>
          <a:prstGeom prst="ellipse">
            <a:avLst/>
          </a:prstGeom>
          <a:solidFill>
            <a:srgbClr val="2E86C7"/>
          </a:solidFill>
          <a:ln/>
        </p:spPr>
      </p:sp>
      <p:pic>
        <p:nvPicPr>
          <p:cNvPr id="38" name="Image 5" descr="/tmp/claude-0/-home-user-riesgo/0ff9ff46-1396-5bd8-b3ac-2280dfbbbc55/scratchpad/work/gen/icons/computer_white.png">    </p:cNvPr>
          <p:cNvPicPr>
            <a:picLocks noChangeAspect="1"/>
          </p:cNvPicPr>
          <p:nvPr/>
        </p:nvPicPr>
        <p:blipFill>
          <a:blip r:embed="rId6"/>
          <a:stretch>
            <a:fillRect/>
          </a:stretch>
        </p:blipFill>
        <p:spPr>
          <a:xfrm>
            <a:off x="6506230" y="4494322"/>
            <a:ext cx="294803" cy="294803"/>
          </a:xfrm>
          <a:prstGeom prst="rect">
            <a:avLst/>
          </a:prstGeom>
        </p:spPr>
      </p:pic>
      <p:sp>
        <p:nvSpPr>
          <p:cNvPr id="39" name="Shape 30"/>
          <p:cNvSpPr/>
          <p:nvPr/>
        </p:nvSpPr>
        <p:spPr>
          <a:xfrm>
            <a:off x="6799936" y="4303395"/>
            <a:ext cx="292608" cy="292608"/>
          </a:xfrm>
          <a:prstGeom prst="ellipse">
            <a:avLst/>
          </a:prstGeom>
          <a:solidFill>
            <a:srgbClr val="133B6C"/>
          </a:solidFill>
          <a:ln/>
        </p:spPr>
      </p:sp>
      <p:sp>
        <p:nvSpPr>
          <p:cNvPr id="40" name="Text 31"/>
          <p:cNvSpPr txBox="1"/>
          <p:nvPr/>
        </p:nvSpPr>
        <p:spPr>
          <a:xfrm>
            <a:off x="6799936" y="4294251"/>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6</a:t>
            </a:r>
            <a:endParaRPr lang="en-US" sz="1088" dirty="0"/>
          </a:p>
        </p:txBody>
      </p:sp>
      <p:sp>
        <p:nvSpPr>
          <p:cNvPr id="41" name="Text 32"/>
          <p:cNvSpPr txBox="1"/>
          <p:nvPr/>
        </p:nvSpPr>
        <p:spPr>
          <a:xfrm>
            <a:off x="7074256" y="4274820"/>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Equipo desatendido y sin bloqueo de pantalla.</a:t>
            </a:r>
            <a:endParaRPr lang="en-US" sz="1200" dirty="0"/>
          </a:p>
        </p:txBody>
      </p:sp>
      <p:sp>
        <p:nvSpPr>
          <p:cNvPr id="42" name="Shape 33"/>
          <p:cNvSpPr/>
          <p:nvPr/>
        </p:nvSpPr>
        <p:spPr>
          <a:xfrm>
            <a:off x="566928" y="5228082"/>
            <a:ext cx="5391760" cy="880110"/>
          </a:xfrm>
          <a:prstGeom prst="roundRect">
            <a:avLst>
              <a:gd name="adj" fmla="val 9351"/>
            </a:avLst>
          </a:prstGeom>
          <a:solidFill>
            <a:srgbClr val="F2F5F9"/>
          </a:solidFill>
          <a:ln/>
        </p:spPr>
      </p:sp>
      <p:sp>
        <p:nvSpPr>
          <p:cNvPr id="43" name="Shape 34"/>
          <p:cNvSpPr/>
          <p:nvPr/>
        </p:nvSpPr>
        <p:spPr>
          <a:xfrm>
            <a:off x="704088" y="5384673"/>
            <a:ext cx="566928" cy="566928"/>
          </a:xfrm>
          <a:prstGeom prst="ellipse">
            <a:avLst/>
          </a:prstGeom>
          <a:solidFill>
            <a:srgbClr val="2E86C7"/>
          </a:solidFill>
          <a:ln/>
        </p:spPr>
      </p:sp>
      <p:pic>
        <p:nvPicPr>
          <p:cNvPr id="44" name="Image 6" descr="/tmp/claude-0/-home-user-riesgo/0ff9ff46-1396-5bd8-b3ac-2280dfbbbc55/scratchpad/work/gen/icons/chat_white.png">    </p:cNvPr>
          <p:cNvPicPr>
            <a:picLocks noChangeAspect="1"/>
          </p:cNvPicPr>
          <p:nvPr/>
        </p:nvPicPr>
        <p:blipFill>
          <a:blip r:embed="rId7"/>
          <a:stretch>
            <a:fillRect/>
          </a:stretch>
        </p:blipFill>
        <p:spPr>
          <a:xfrm>
            <a:off x="840151" y="5520736"/>
            <a:ext cx="294803" cy="294803"/>
          </a:xfrm>
          <a:prstGeom prst="rect">
            <a:avLst/>
          </a:prstGeom>
        </p:spPr>
      </p:pic>
      <p:sp>
        <p:nvSpPr>
          <p:cNvPr id="45" name="Shape 35"/>
          <p:cNvSpPr/>
          <p:nvPr/>
        </p:nvSpPr>
        <p:spPr>
          <a:xfrm>
            <a:off x="1133856" y="5329809"/>
            <a:ext cx="292608" cy="292608"/>
          </a:xfrm>
          <a:prstGeom prst="ellipse">
            <a:avLst/>
          </a:prstGeom>
          <a:solidFill>
            <a:srgbClr val="133B6C"/>
          </a:solidFill>
          <a:ln/>
        </p:spPr>
      </p:sp>
      <p:sp>
        <p:nvSpPr>
          <p:cNvPr id="46" name="Text 36"/>
          <p:cNvSpPr txBox="1"/>
          <p:nvPr/>
        </p:nvSpPr>
        <p:spPr>
          <a:xfrm>
            <a:off x="1133856" y="5320665"/>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7</a:t>
            </a:r>
            <a:endParaRPr lang="en-US" sz="1088" dirty="0"/>
          </a:p>
        </p:txBody>
      </p:sp>
      <p:sp>
        <p:nvSpPr>
          <p:cNvPr id="47" name="Text 37"/>
          <p:cNvSpPr txBox="1"/>
          <p:nvPr/>
        </p:nvSpPr>
        <p:spPr>
          <a:xfrm>
            <a:off x="1408176" y="5301234"/>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Información institucional comentada fuera de lugar.</a:t>
            </a:r>
            <a:endParaRPr lang="en-US" sz="1200" dirty="0"/>
          </a:p>
        </p:txBody>
      </p:sp>
      <p:sp>
        <p:nvSpPr>
          <p:cNvPr id="48" name="Shape 38"/>
          <p:cNvSpPr/>
          <p:nvPr/>
        </p:nvSpPr>
        <p:spPr>
          <a:xfrm>
            <a:off x="6233008" y="5228082"/>
            <a:ext cx="5391760" cy="880110"/>
          </a:xfrm>
          <a:prstGeom prst="roundRect">
            <a:avLst>
              <a:gd name="adj" fmla="val 9351"/>
            </a:avLst>
          </a:prstGeom>
          <a:solidFill>
            <a:srgbClr val="F2F5F9"/>
          </a:solidFill>
          <a:ln/>
        </p:spPr>
      </p:sp>
      <p:sp>
        <p:nvSpPr>
          <p:cNvPr id="49" name="Shape 39"/>
          <p:cNvSpPr/>
          <p:nvPr/>
        </p:nvSpPr>
        <p:spPr>
          <a:xfrm>
            <a:off x="6370168" y="5384673"/>
            <a:ext cx="566928" cy="566928"/>
          </a:xfrm>
          <a:prstGeom prst="ellipse">
            <a:avLst/>
          </a:prstGeom>
          <a:solidFill>
            <a:srgbClr val="2E86C7"/>
          </a:solidFill>
          <a:ln/>
        </p:spPr>
      </p:sp>
      <p:pic>
        <p:nvPicPr>
          <p:cNvPr id="50" name="Image 7" descr="/tmp/claude-0/-home-user-riesgo/0ff9ff46-1396-5bd8-b3ac-2280dfbbbc55/scratchpad/work/gen/icons/id_card_white.png">    </p:cNvPr>
          <p:cNvPicPr>
            <a:picLocks noChangeAspect="1"/>
          </p:cNvPicPr>
          <p:nvPr/>
        </p:nvPicPr>
        <p:blipFill>
          <a:blip r:embed="rId8"/>
          <a:stretch>
            <a:fillRect/>
          </a:stretch>
        </p:blipFill>
        <p:spPr>
          <a:xfrm>
            <a:off x="6506230" y="5520736"/>
            <a:ext cx="294803" cy="294803"/>
          </a:xfrm>
          <a:prstGeom prst="rect">
            <a:avLst/>
          </a:prstGeom>
        </p:spPr>
      </p:pic>
      <p:sp>
        <p:nvSpPr>
          <p:cNvPr id="51" name="Shape 40"/>
          <p:cNvSpPr/>
          <p:nvPr/>
        </p:nvSpPr>
        <p:spPr>
          <a:xfrm>
            <a:off x="6799936" y="5329809"/>
            <a:ext cx="292608" cy="292608"/>
          </a:xfrm>
          <a:prstGeom prst="ellipse">
            <a:avLst/>
          </a:prstGeom>
          <a:solidFill>
            <a:srgbClr val="133B6C"/>
          </a:solidFill>
          <a:ln/>
        </p:spPr>
      </p:sp>
      <p:sp>
        <p:nvSpPr>
          <p:cNvPr id="52" name="Text 41"/>
          <p:cNvSpPr txBox="1"/>
          <p:nvPr/>
        </p:nvSpPr>
        <p:spPr>
          <a:xfrm>
            <a:off x="6799936" y="5320665"/>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8</a:t>
            </a:r>
            <a:endParaRPr lang="en-US" sz="1088" dirty="0"/>
          </a:p>
        </p:txBody>
      </p:sp>
      <p:sp>
        <p:nvSpPr>
          <p:cNvPr id="53" name="Text 42"/>
          <p:cNvSpPr txBox="1"/>
          <p:nvPr/>
        </p:nvSpPr>
        <p:spPr>
          <a:xfrm>
            <a:off x="7074256" y="5301234"/>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Gafete o credencial olvidado a la vista de todos.</a:t>
            </a:r>
            <a:endParaRPr lang="en-US" sz="1200" dirty="0"/>
          </a:p>
        </p:txBody>
      </p:sp>
      <p:sp>
        <p:nvSpPr>
          <p:cNvPr id="54" name="Text 4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5" name="Text 4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TODOS SOMOS GESTORES DE RIESGOS</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gestión de riesgos no es responsabilidad de un solo departamento. Sin importar tu cargo, puedes:</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¿QUÉ HARÍAS?</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A1C9E6"/>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RESPUESTA</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Actuar y reportar (VEO → IDENTIFICO → ACTÚO → REPORTO) es lo que evita que un pequeño descuido se transforme en un problema real.</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2E86C7"/>
          </a:solidFill>
          <a:ln/>
        </p:spPr>
      </p:sp>
      <p:pic>
        <p:nvPicPr>
          <p:cNvPr id="15" name="Image 1" descr="/tmp/claude-0/-home-user-riesgo/0ff9ff46-1396-5bd8-b3ac-2280dfbbbc55/scratchpad/work/gen/icons/mail_white.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LOS RIESGOS OPERATIVOS ESTÁN EN NUESTRO DÍA A DÍA</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CONSTRUYE NUESTRA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CUIDEMOS LA REPUTACIÓN DE NUESTRA COOPERATIVA</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REPUTACIÓN = CONFIANZA.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ERROR VS. FRAUDE</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FRAUDE Y ERRORES: APRENDAMOS A PREVENIRLOS</a:t>
            </a:r>
            <a:endParaRPr lang="en-US" sz="24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845820"/>
          </a:xfrm>
          <a:prstGeom prst="roundRect">
            <a:avLst>
              <a:gd name="adj" fmla="val 9730"/>
            </a:avLst>
          </a:prstGeom>
          <a:solidFill>
            <a:srgbClr val="F2F5F9"/>
          </a:solidFill>
          <a:ln/>
        </p:spPr>
      </p:sp>
      <p:sp>
        <p:nvSpPr>
          <p:cNvPr id="7" name="Shape 4"/>
          <p:cNvSpPr/>
          <p:nvPr/>
        </p:nvSpPr>
        <p:spPr>
          <a:xfrm>
            <a:off x="768096" y="2480310"/>
            <a:ext cx="457200" cy="457200"/>
          </a:xfrm>
          <a:prstGeom prst="ellipse">
            <a:avLst/>
          </a:prstGeom>
          <a:solidFill>
            <a:srgbClr val="1B4F91"/>
          </a:solidFill>
          <a:ln/>
        </p:spPr>
      </p:sp>
      <p:sp>
        <p:nvSpPr>
          <p:cNvPr id="8" name="Text 5"/>
          <p:cNvSpPr txBox="1"/>
          <p:nvPr/>
        </p:nvSpPr>
        <p:spPr>
          <a:xfrm>
            <a:off x="768096" y="247116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286000"/>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16886"/>
            <a:ext cx="1078992" cy="384048"/>
          </a:xfrm>
          <a:prstGeom prst="roundRect">
            <a:avLst>
              <a:gd name="adj" fmla="val 50000"/>
            </a:avLst>
          </a:prstGeom>
          <a:solidFill>
            <a:srgbClr val="FFFFFF"/>
          </a:solidFill>
          <a:ln/>
        </p:spPr>
      </p:sp>
      <p:sp>
        <p:nvSpPr>
          <p:cNvPr id="11" name="Text 8"/>
          <p:cNvSpPr txBox="1"/>
          <p:nvPr/>
        </p:nvSpPr>
        <p:spPr>
          <a:xfrm>
            <a:off x="9293047" y="2516886"/>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16886"/>
            <a:ext cx="1078992" cy="384048"/>
          </a:xfrm>
          <a:prstGeom prst="roundRect">
            <a:avLst>
              <a:gd name="adj" fmla="val 50000"/>
            </a:avLst>
          </a:prstGeom>
          <a:solidFill>
            <a:srgbClr val="FFFFFF"/>
          </a:solidFill>
          <a:ln/>
        </p:spPr>
      </p:sp>
      <p:sp>
        <p:nvSpPr>
          <p:cNvPr id="13" name="Text 10"/>
          <p:cNvSpPr txBox="1"/>
          <p:nvPr/>
        </p:nvSpPr>
        <p:spPr>
          <a:xfrm>
            <a:off x="10500055" y="2516886"/>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278124"/>
            <a:ext cx="11057839" cy="845820"/>
          </a:xfrm>
          <a:prstGeom prst="roundRect">
            <a:avLst>
              <a:gd name="adj" fmla="val 9730"/>
            </a:avLst>
          </a:prstGeom>
          <a:solidFill>
            <a:srgbClr val="F2F5F9"/>
          </a:solidFill>
          <a:ln/>
        </p:spPr>
      </p:sp>
      <p:sp>
        <p:nvSpPr>
          <p:cNvPr id="15" name="Shape 12"/>
          <p:cNvSpPr/>
          <p:nvPr/>
        </p:nvSpPr>
        <p:spPr>
          <a:xfrm>
            <a:off x="768096" y="3472434"/>
            <a:ext cx="457200" cy="457200"/>
          </a:xfrm>
          <a:prstGeom prst="ellipse">
            <a:avLst/>
          </a:prstGeom>
          <a:solidFill>
            <a:srgbClr val="1B4F91"/>
          </a:solidFill>
          <a:ln/>
        </p:spPr>
      </p:sp>
      <p:sp>
        <p:nvSpPr>
          <p:cNvPr id="16" name="Text 13"/>
          <p:cNvSpPr txBox="1"/>
          <p:nvPr/>
        </p:nvSpPr>
        <p:spPr>
          <a:xfrm>
            <a:off x="768096" y="346329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278124"/>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09010"/>
            <a:ext cx="1078992" cy="384048"/>
          </a:xfrm>
          <a:prstGeom prst="roundRect">
            <a:avLst>
              <a:gd name="adj" fmla="val 50000"/>
            </a:avLst>
          </a:prstGeom>
          <a:solidFill>
            <a:srgbClr val="FFFFFF"/>
          </a:solidFill>
          <a:ln/>
        </p:spPr>
      </p:sp>
      <p:sp>
        <p:nvSpPr>
          <p:cNvPr id="19" name="Text 16"/>
          <p:cNvSpPr txBox="1"/>
          <p:nvPr/>
        </p:nvSpPr>
        <p:spPr>
          <a:xfrm>
            <a:off x="9293047" y="3509010"/>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09010"/>
            <a:ext cx="1078992" cy="384048"/>
          </a:xfrm>
          <a:prstGeom prst="roundRect">
            <a:avLst>
              <a:gd name="adj" fmla="val 50000"/>
            </a:avLst>
          </a:prstGeom>
          <a:solidFill>
            <a:srgbClr val="FFFFFF"/>
          </a:solidFill>
          <a:ln/>
        </p:spPr>
      </p:sp>
      <p:sp>
        <p:nvSpPr>
          <p:cNvPr id="21" name="Text 18"/>
          <p:cNvSpPr txBox="1"/>
          <p:nvPr/>
        </p:nvSpPr>
        <p:spPr>
          <a:xfrm>
            <a:off x="10500055" y="3509010"/>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270248"/>
            <a:ext cx="11057839" cy="845820"/>
          </a:xfrm>
          <a:prstGeom prst="roundRect">
            <a:avLst>
              <a:gd name="adj" fmla="val 9730"/>
            </a:avLst>
          </a:prstGeom>
          <a:solidFill>
            <a:srgbClr val="F2F5F9"/>
          </a:solidFill>
          <a:ln/>
        </p:spPr>
      </p:sp>
      <p:sp>
        <p:nvSpPr>
          <p:cNvPr id="23" name="Shape 20"/>
          <p:cNvSpPr/>
          <p:nvPr/>
        </p:nvSpPr>
        <p:spPr>
          <a:xfrm>
            <a:off x="768096" y="4464558"/>
            <a:ext cx="457200" cy="457200"/>
          </a:xfrm>
          <a:prstGeom prst="ellipse">
            <a:avLst/>
          </a:prstGeom>
          <a:solidFill>
            <a:srgbClr val="1B4F91"/>
          </a:solidFill>
          <a:ln/>
        </p:spPr>
      </p:sp>
      <p:sp>
        <p:nvSpPr>
          <p:cNvPr id="24" name="Text 21"/>
          <p:cNvSpPr txBox="1"/>
          <p:nvPr/>
        </p:nvSpPr>
        <p:spPr>
          <a:xfrm>
            <a:off x="768096" y="445541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270248"/>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01134"/>
            <a:ext cx="1078992" cy="384048"/>
          </a:xfrm>
          <a:prstGeom prst="roundRect">
            <a:avLst>
              <a:gd name="adj" fmla="val 50000"/>
            </a:avLst>
          </a:prstGeom>
          <a:solidFill>
            <a:srgbClr val="FFFFFF"/>
          </a:solidFill>
          <a:ln/>
        </p:spPr>
      </p:sp>
      <p:sp>
        <p:nvSpPr>
          <p:cNvPr id="27" name="Text 24"/>
          <p:cNvSpPr txBox="1"/>
          <p:nvPr/>
        </p:nvSpPr>
        <p:spPr>
          <a:xfrm>
            <a:off x="9293047" y="4501134"/>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01134"/>
            <a:ext cx="1078992" cy="384048"/>
          </a:xfrm>
          <a:prstGeom prst="roundRect">
            <a:avLst>
              <a:gd name="adj" fmla="val 50000"/>
            </a:avLst>
          </a:prstGeom>
          <a:solidFill>
            <a:srgbClr val="FFFFFF"/>
          </a:solidFill>
          <a:ln/>
        </p:spPr>
      </p:sp>
      <p:sp>
        <p:nvSpPr>
          <p:cNvPr id="29" name="Text 26"/>
          <p:cNvSpPr txBox="1"/>
          <p:nvPr/>
        </p:nvSpPr>
        <p:spPr>
          <a:xfrm>
            <a:off x="10500055" y="4501134"/>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62372"/>
            <a:ext cx="11057839" cy="845820"/>
          </a:xfrm>
          <a:prstGeom prst="roundRect">
            <a:avLst>
              <a:gd name="adj" fmla="val 9730"/>
            </a:avLst>
          </a:prstGeom>
          <a:solidFill>
            <a:srgbClr val="F2F5F9"/>
          </a:solidFill>
          <a:ln/>
        </p:spPr>
      </p:sp>
      <p:sp>
        <p:nvSpPr>
          <p:cNvPr id="31" name="Shape 28"/>
          <p:cNvSpPr/>
          <p:nvPr/>
        </p:nvSpPr>
        <p:spPr>
          <a:xfrm>
            <a:off x="768096" y="5456682"/>
            <a:ext cx="457200" cy="457200"/>
          </a:xfrm>
          <a:prstGeom prst="ellipse">
            <a:avLst/>
          </a:prstGeom>
          <a:solidFill>
            <a:srgbClr val="1B4F91"/>
          </a:solidFill>
          <a:ln/>
        </p:spPr>
      </p:sp>
      <p:sp>
        <p:nvSpPr>
          <p:cNvPr id="32" name="Text 29"/>
          <p:cNvSpPr txBox="1"/>
          <p:nvPr/>
        </p:nvSpPr>
        <p:spPr>
          <a:xfrm>
            <a:off x="768096" y="544753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62372"/>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493258"/>
            <a:ext cx="1078992" cy="384048"/>
          </a:xfrm>
          <a:prstGeom prst="roundRect">
            <a:avLst>
              <a:gd name="adj" fmla="val 50000"/>
            </a:avLst>
          </a:prstGeom>
          <a:solidFill>
            <a:srgbClr val="FFFFFF"/>
          </a:solidFill>
          <a:ln/>
        </p:spPr>
      </p:sp>
      <p:sp>
        <p:nvSpPr>
          <p:cNvPr id="35" name="Text 32"/>
          <p:cNvSpPr txBox="1"/>
          <p:nvPr/>
        </p:nvSpPr>
        <p:spPr>
          <a:xfrm>
            <a:off x="9293047" y="5493258"/>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493258"/>
            <a:ext cx="1078992" cy="384048"/>
          </a:xfrm>
          <a:prstGeom prst="roundRect">
            <a:avLst>
              <a:gd name="adj" fmla="val 50000"/>
            </a:avLst>
          </a:prstGeom>
          <a:solidFill>
            <a:srgbClr val="FFFFFF"/>
          </a:solidFill>
          <a:ln/>
        </p:spPr>
      </p:sp>
      <p:sp>
        <p:nvSpPr>
          <p:cNvPr id="37" name="Text 34"/>
          <p:cNvSpPr txBox="1"/>
          <p:nvPr/>
        </p:nvSpPr>
        <p:spPr>
          <a:xfrm>
            <a:off x="10500055" y="5493258"/>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701802"/>
          </a:xfrm>
          <a:prstGeom prst="roundRect">
            <a:avLst>
              <a:gd name="adj" fmla="val 11726"/>
            </a:avLst>
          </a:prstGeom>
          <a:solidFill>
            <a:srgbClr val="F2F5F9"/>
          </a:solidFill>
          <a:ln/>
        </p:spPr>
      </p:sp>
      <p:sp>
        <p:nvSpPr>
          <p:cNvPr id="6" name="Text 3"/>
          <p:cNvSpPr txBox="1"/>
          <p:nvPr/>
        </p:nvSpPr>
        <p:spPr>
          <a:xfrm>
            <a:off x="822960" y="2148840"/>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289429"/>
            <a:ext cx="1463040" cy="420624"/>
          </a:xfrm>
          <a:prstGeom prst="roundRect">
            <a:avLst>
              <a:gd name="adj" fmla="val 50000"/>
            </a:avLst>
          </a:prstGeom>
          <a:solidFill>
            <a:srgbClr val="F0AD35"/>
          </a:solidFill>
          <a:ln/>
        </p:spPr>
      </p:sp>
      <p:sp>
        <p:nvSpPr>
          <p:cNvPr id="8" name="Text 5"/>
          <p:cNvSpPr txBox="1"/>
          <p:nvPr/>
        </p:nvSpPr>
        <p:spPr>
          <a:xfrm>
            <a:off x="9887407" y="2289429"/>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2996946"/>
            <a:ext cx="11057839" cy="701802"/>
          </a:xfrm>
          <a:prstGeom prst="roundRect">
            <a:avLst>
              <a:gd name="adj" fmla="val 11726"/>
            </a:avLst>
          </a:prstGeom>
          <a:solidFill>
            <a:srgbClr val="F2F5F9"/>
          </a:solidFill>
          <a:ln/>
        </p:spPr>
      </p:sp>
      <p:sp>
        <p:nvSpPr>
          <p:cNvPr id="10" name="Text 7"/>
          <p:cNvSpPr txBox="1"/>
          <p:nvPr/>
        </p:nvSpPr>
        <p:spPr>
          <a:xfrm>
            <a:off x="822960" y="2996946"/>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137535"/>
            <a:ext cx="1463040" cy="420624"/>
          </a:xfrm>
          <a:prstGeom prst="roundRect">
            <a:avLst>
              <a:gd name="adj" fmla="val 50000"/>
            </a:avLst>
          </a:prstGeom>
          <a:solidFill>
            <a:srgbClr val="E0392B"/>
          </a:solidFill>
          <a:ln/>
        </p:spPr>
      </p:sp>
      <p:sp>
        <p:nvSpPr>
          <p:cNvPr id="12" name="Text 9"/>
          <p:cNvSpPr txBox="1"/>
          <p:nvPr/>
        </p:nvSpPr>
        <p:spPr>
          <a:xfrm>
            <a:off x="9887407" y="313753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3845052"/>
            <a:ext cx="11057839" cy="701802"/>
          </a:xfrm>
          <a:prstGeom prst="roundRect">
            <a:avLst>
              <a:gd name="adj" fmla="val 11726"/>
            </a:avLst>
          </a:prstGeom>
          <a:solidFill>
            <a:srgbClr val="F2F5F9"/>
          </a:solidFill>
          <a:ln/>
        </p:spPr>
      </p:sp>
      <p:sp>
        <p:nvSpPr>
          <p:cNvPr id="14" name="Text 11"/>
          <p:cNvSpPr txBox="1"/>
          <p:nvPr/>
        </p:nvSpPr>
        <p:spPr>
          <a:xfrm>
            <a:off x="822960" y="3845052"/>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3985641"/>
            <a:ext cx="1463040" cy="420624"/>
          </a:xfrm>
          <a:prstGeom prst="roundRect">
            <a:avLst>
              <a:gd name="adj" fmla="val 50000"/>
            </a:avLst>
          </a:prstGeom>
          <a:solidFill>
            <a:srgbClr val="F0AD35"/>
          </a:solidFill>
          <a:ln/>
        </p:spPr>
      </p:sp>
      <p:sp>
        <p:nvSpPr>
          <p:cNvPr id="16" name="Text 13"/>
          <p:cNvSpPr txBox="1"/>
          <p:nvPr/>
        </p:nvSpPr>
        <p:spPr>
          <a:xfrm>
            <a:off x="9887407" y="398564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4693158"/>
            <a:ext cx="11057839" cy="701802"/>
          </a:xfrm>
          <a:prstGeom prst="roundRect">
            <a:avLst>
              <a:gd name="adj" fmla="val 11726"/>
            </a:avLst>
          </a:prstGeom>
          <a:solidFill>
            <a:srgbClr val="F2F5F9"/>
          </a:solidFill>
          <a:ln/>
        </p:spPr>
      </p:sp>
      <p:sp>
        <p:nvSpPr>
          <p:cNvPr id="18" name="Text 15"/>
          <p:cNvSpPr txBox="1"/>
          <p:nvPr/>
        </p:nvSpPr>
        <p:spPr>
          <a:xfrm>
            <a:off x="822960" y="4693158"/>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4833747"/>
            <a:ext cx="1463040" cy="420624"/>
          </a:xfrm>
          <a:prstGeom prst="roundRect">
            <a:avLst>
              <a:gd name="adj" fmla="val 50000"/>
            </a:avLst>
          </a:prstGeom>
          <a:solidFill>
            <a:srgbClr val="E0392B"/>
          </a:solidFill>
          <a:ln/>
        </p:spPr>
      </p:sp>
      <p:sp>
        <p:nvSpPr>
          <p:cNvPr id="20" name="Text 17"/>
          <p:cNvSpPr txBox="1"/>
          <p:nvPr/>
        </p:nvSpPr>
        <p:spPr>
          <a:xfrm>
            <a:off x="9887407" y="483374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Shape 18"/>
          <p:cNvSpPr/>
          <p:nvPr/>
        </p:nvSpPr>
        <p:spPr>
          <a:xfrm>
            <a:off x="566928" y="5559552"/>
            <a:ext cx="11057839" cy="548640"/>
          </a:xfrm>
          <a:prstGeom prst="roundRect">
            <a:avLst>
              <a:gd name="adj" fmla="val 16667"/>
            </a:avLst>
          </a:prstGeom>
          <a:solidFill>
            <a:srgbClr val="1B4F91"/>
          </a:solidFill>
          <a:ln/>
        </p:spPr>
      </p:sp>
      <p:sp>
        <p:nvSpPr>
          <p:cNvPr id="22" name="Text 19"/>
          <p:cNvSpPr txBox="1"/>
          <p:nvPr/>
        </p:nvSpPr>
        <p:spPr>
          <a:xfrm>
            <a:off x="841248" y="5559552"/>
            <a:ext cx="10509199" cy="548640"/>
          </a:xfrm>
          <a:prstGeom prst="rect">
            <a:avLst/>
          </a:prstGeom>
          <a:noFill/>
          <a:ln/>
        </p:spPr>
        <p:txBody>
          <a:bodyPr wrap="square" lIns="0" tIns="0" rIns="0" bIns="0" rtlCol="0" anchor="ctr"/>
          <a:lstStyle/>
          <a:p>
            <a:pPr algn="ctr" indent="0" marL="0">
              <a:lnSpc>
                <a:spcPct val="110000"/>
              </a:lnSpc>
              <a:buNone/>
            </a:pPr>
            <a:r>
              <a:rPr lang="en-US" sz="1250" b="1" dirty="0">
                <a:solidFill>
                  <a:srgbClr val="FFFFFF"/>
                </a:solidFill>
                <a:latin typeface="Calibri" pitchFamily="34" charset="0"/>
                <a:ea typeface="Calibri" pitchFamily="34" charset="-122"/>
                <a:cs typeface="Calibri" pitchFamily="34" charset="-120"/>
              </a:rPr>
              <a:t>Señal de alerta: presión inusual por aprobar algo muy rápido. Actúa: documenta con hechos y repórtalo — nunca lo encubras.</a:t>
            </a:r>
            <a:endParaRPr lang="en-US" sz="1250" dirty="0"/>
          </a:p>
        </p:txBody>
      </p:sp>
      <p:sp>
        <p:nvSpPr>
          <p:cNvPr id="23"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RIESGO CREDITICIO NO ES SOLO RESPONSABILIDAD DE CRÉDITOS</a:t>
            </a:r>
            <a:endParaRPr lang="en-US" sz="22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¿QUIÉN ES RESPONSABLE DE GESTIONAR LOS RIESGOS?</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riesgos es parte de nuestro trabajo.</a:t>
            </a:r>
            <a:endParaRPr lang="en-US" sz="1500" dirty="0"/>
          </a:p>
        </p:txBody>
      </p:sp>
      <p:sp>
        <p:nvSpPr>
          <p:cNvPr id="6" name="Shape 3"/>
          <p:cNvSpPr/>
          <p:nvPr/>
        </p:nvSpPr>
        <p:spPr>
          <a:xfrm>
            <a:off x="566928" y="2286000"/>
            <a:ext cx="11057839" cy="566928"/>
          </a:xfrm>
          <a:prstGeom prst="roundRect">
            <a:avLst>
              <a:gd name="adj" fmla="val 16129"/>
            </a:avLst>
          </a:prstGeom>
          <a:solidFill>
            <a:srgbClr val="1FB6C9"/>
          </a:solidFill>
          <a:ln/>
        </p:spPr>
      </p:sp>
      <p:sp>
        <p:nvSpPr>
          <p:cNvPr id="7" name="Text 4"/>
          <p:cNvSpPr txBox="1"/>
          <p:nvPr/>
        </p:nvSpPr>
        <p:spPr>
          <a:xfrm>
            <a:off x="566928" y="228600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8" name="Shape 5"/>
          <p:cNvSpPr/>
          <p:nvPr/>
        </p:nvSpPr>
        <p:spPr>
          <a:xfrm>
            <a:off x="1213683" y="3840480"/>
            <a:ext cx="713232" cy="713232"/>
          </a:xfrm>
          <a:prstGeom prst="ellipse">
            <a:avLst/>
          </a:prstGeom>
          <a:solidFill>
            <a:srgbClr val="133B6C"/>
          </a:solidFill>
          <a:ln/>
        </p:spPr>
      </p:sp>
      <p:pic>
        <p:nvPicPr>
          <p:cNvPr id="9" name="Image 0" descr="/tmp/claude-0/-home-user-riesgo/0ff9ff46-1396-5bd8-b3ac-2280dfbbbc55/scratchpad/work/gen/icons/person_white.png">    </p:cNvPr>
          <p:cNvPicPr>
            <a:picLocks noChangeAspect="1"/>
          </p:cNvPicPr>
          <p:nvPr/>
        </p:nvPicPr>
        <p:blipFill>
          <a:blip r:embed="rId1"/>
          <a:stretch>
            <a:fillRect/>
          </a:stretch>
        </p:blipFill>
        <p:spPr>
          <a:xfrm>
            <a:off x="1391991" y="4018788"/>
            <a:ext cx="356616" cy="356616"/>
          </a:xfrm>
          <a:prstGeom prst="rect">
            <a:avLst/>
          </a:prstGeom>
        </p:spPr>
      </p:pic>
      <p:sp>
        <p:nvSpPr>
          <p:cNvPr id="10" name="Text 6"/>
          <p:cNvSpPr txBox="1"/>
          <p:nvPr/>
        </p:nvSpPr>
        <p:spPr>
          <a:xfrm>
            <a:off x="612648"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1" name="Shape 7"/>
          <p:cNvSpPr/>
          <p:nvPr/>
        </p:nvSpPr>
        <p:spPr>
          <a:xfrm>
            <a:off x="3476457" y="3840480"/>
            <a:ext cx="713232" cy="713232"/>
          </a:xfrm>
          <a:prstGeom prst="ellipse">
            <a:avLst/>
          </a:prstGeom>
          <a:solidFill>
            <a:srgbClr val="133B6C"/>
          </a:solidFill>
          <a:ln/>
        </p:spPr>
      </p:sp>
      <p:pic>
        <p:nvPicPr>
          <p:cNvPr id="12" name="Image 1" descr="/tmp/claude-0/-home-user-riesgo/0ff9ff46-1396-5bd8-b3ac-2280dfbbbc55/scratchpad/work/gen/icons/briefcase_white.png">    </p:cNvPr>
          <p:cNvPicPr>
            <a:picLocks noChangeAspect="1"/>
          </p:cNvPicPr>
          <p:nvPr/>
        </p:nvPicPr>
        <p:blipFill>
          <a:blip r:embed="rId2"/>
          <a:stretch>
            <a:fillRect/>
          </a:stretch>
        </p:blipFill>
        <p:spPr>
          <a:xfrm>
            <a:off x="3654765" y="4018788"/>
            <a:ext cx="356616" cy="356616"/>
          </a:xfrm>
          <a:prstGeom prst="rect">
            <a:avLst/>
          </a:prstGeom>
        </p:spPr>
      </p:pic>
      <p:sp>
        <p:nvSpPr>
          <p:cNvPr id="13" name="Text 8"/>
          <p:cNvSpPr txBox="1"/>
          <p:nvPr/>
        </p:nvSpPr>
        <p:spPr>
          <a:xfrm>
            <a:off x="2875422"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4" name="Shape 9"/>
          <p:cNvSpPr/>
          <p:nvPr/>
        </p:nvSpPr>
        <p:spPr>
          <a:xfrm>
            <a:off x="5739232" y="3840480"/>
            <a:ext cx="713232" cy="713232"/>
          </a:xfrm>
          <a:prstGeom prst="ellipse">
            <a:avLst/>
          </a:prstGeom>
          <a:solidFill>
            <a:srgbClr val="133B6C"/>
          </a:solidFill>
          <a:ln/>
        </p:spPr>
      </p:sp>
      <p:pic>
        <p:nvPicPr>
          <p:cNvPr id="15" name="Image 2" descr="/tmp/claude-0/-home-user-riesgo/0ff9ff46-1396-5bd8-b3ac-2280dfbbbc55/scratchpad/work/gen/icons/crown_white.png">    </p:cNvPr>
          <p:cNvPicPr>
            <a:picLocks noChangeAspect="1"/>
          </p:cNvPicPr>
          <p:nvPr/>
        </p:nvPicPr>
        <p:blipFill>
          <a:blip r:embed="rId3"/>
          <a:stretch>
            <a:fillRect/>
          </a:stretch>
        </p:blipFill>
        <p:spPr>
          <a:xfrm>
            <a:off x="5917540" y="4018788"/>
            <a:ext cx="356616" cy="356616"/>
          </a:xfrm>
          <a:prstGeom prst="rect">
            <a:avLst/>
          </a:prstGeom>
        </p:spPr>
      </p:pic>
      <p:sp>
        <p:nvSpPr>
          <p:cNvPr id="16" name="Text 10"/>
          <p:cNvSpPr txBox="1"/>
          <p:nvPr/>
        </p:nvSpPr>
        <p:spPr>
          <a:xfrm>
            <a:off x="5138196"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7" name="Shape 11"/>
          <p:cNvSpPr/>
          <p:nvPr/>
        </p:nvSpPr>
        <p:spPr>
          <a:xfrm>
            <a:off x="8002006" y="3840480"/>
            <a:ext cx="713232" cy="713232"/>
          </a:xfrm>
          <a:prstGeom prst="ellipse">
            <a:avLst/>
          </a:prstGeom>
          <a:solidFill>
            <a:srgbClr val="133B6C"/>
          </a:solidFill>
          <a:ln/>
        </p:spPr>
      </p:sp>
      <p:pic>
        <p:nvPicPr>
          <p:cNvPr id="18" name="Image 3" descr="/tmp/claude-0/-home-user-riesgo/0ff9ff46-1396-5bd8-b3ac-2280dfbbbc55/scratchpad/work/gen/icons/shield_check_white.png">    </p:cNvPr>
          <p:cNvPicPr>
            <a:picLocks noChangeAspect="1"/>
          </p:cNvPicPr>
          <p:nvPr/>
        </p:nvPicPr>
        <p:blipFill>
          <a:blip r:embed="rId4"/>
          <a:stretch>
            <a:fillRect/>
          </a:stretch>
        </p:blipFill>
        <p:spPr>
          <a:xfrm>
            <a:off x="8180314" y="4018788"/>
            <a:ext cx="356616" cy="356616"/>
          </a:xfrm>
          <a:prstGeom prst="rect">
            <a:avLst/>
          </a:prstGeom>
        </p:spPr>
      </p:pic>
      <p:sp>
        <p:nvSpPr>
          <p:cNvPr id="19" name="Text 12"/>
          <p:cNvSpPr txBox="1"/>
          <p:nvPr/>
        </p:nvSpPr>
        <p:spPr>
          <a:xfrm>
            <a:off x="7400971"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0" name="Shape 13"/>
          <p:cNvSpPr/>
          <p:nvPr/>
        </p:nvSpPr>
        <p:spPr>
          <a:xfrm>
            <a:off x="10264780" y="3840480"/>
            <a:ext cx="713232" cy="713232"/>
          </a:xfrm>
          <a:prstGeom prst="ellipse">
            <a:avLst/>
          </a:prstGeom>
          <a:solidFill>
            <a:srgbClr val="133B6C"/>
          </a:solidFill>
          <a:ln/>
        </p:spPr>
      </p:sp>
      <p:pic>
        <p:nvPicPr>
          <p:cNvPr id="21"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4018788"/>
            <a:ext cx="356616" cy="356616"/>
          </a:xfrm>
          <a:prstGeom prst="rect">
            <a:avLst/>
          </a:prstGeom>
        </p:spPr>
      </p:pic>
      <p:sp>
        <p:nvSpPr>
          <p:cNvPr id="22" name="Text 14"/>
          <p:cNvSpPr txBox="1"/>
          <p:nvPr/>
        </p:nvSpPr>
        <p:spPr>
          <a:xfrm>
            <a:off x="9663745"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3" name="Text 15"/>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4" name="Text 1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TAMBIÉN SON RIESGOS FINANCIEROS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RIESGOS AMBIENTALES Y SOCIALES:</a:t>
            </a:r>
            <a:endParaRPr lang="en-US" sz="2000" dirty="0"/>
          </a:p>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TAMBIÉN SON RIESGOS FINANCIEROS</a:t>
            </a:r>
            <a:endParaRPr lang="en-US" sz="2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CIERRE DEL RECORRIDO · RESUMEN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TODOS LOS RIESGOS QUE IDENTIFICAMOS HOY</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tipos de riesgo que conviven en el trabajo diario de la Cooperativa:</a:t>
            </a:r>
            <a:endParaRPr lang="en-US" sz="1500" dirty="0"/>
          </a:p>
        </p:txBody>
      </p:sp>
      <p:sp>
        <p:nvSpPr>
          <p:cNvPr id="6" name="Shape 3"/>
          <p:cNvSpPr/>
          <p:nvPr/>
        </p:nvSpPr>
        <p:spPr>
          <a:xfrm>
            <a:off x="566928" y="2148840"/>
            <a:ext cx="2545004" cy="1851660"/>
          </a:xfrm>
          <a:prstGeom prst="roundRect">
            <a:avLst>
              <a:gd name="adj" fmla="val 4938"/>
            </a:avLst>
          </a:prstGeom>
          <a:solidFill>
            <a:srgbClr val="F2F5F9"/>
          </a:solidFill>
          <a:ln/>
        </p:spPr>
      </p:sp>
      <p:sp>
        <p:nvSpPr>
          <p:cNvPr id="7" name="Shape 4"/>
          <p:cNvSpPr/>
          <p:nvPr/>
        </p:nvSpPr>
        <p:spPr>
          <a:xfrm>
            <a:off x="1555966" y="2313432"/>
            <a:ext cx="566928" cy="566928"/>
          </a:xfrm>
          <a:prstGeom prst="ellipse">
            <a:avLst/>
          </a:prstGeom>
          <a:solidFill>
            <a:srgbClr val="2E86C7"/>
          </a:solidFill>
          <a:ln/>
        </p:spPr>
      </p:sp>
      <p:pic>
        <p:nvPicPr>
          <p:cNvPr id="8" name="Image 0" descr="/tmp/claude-0/-home-user-riesgo/0ff9ff46-1396-5bd8-b3ac-2280dfbbbc55/scratchpad/work/gen/icons/gears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Operativo</a:t>
            </a:r>
            <a:endParaRPr lang="en-US" sz="1250" dirty="0"/>
          </a:p>
        </p:txBody>
      </p:sp>
      <p:sp>
        <p:nvSpPr>
          <p:cNvPr id="10" name="Text 6"/>
          <p:cNvSpPr txBox="1"/>
          <p:nvPr/>
        </p:nvSpPr>
        <p:spPr>
          <a:xfrm>
            <a:off x="731520"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en personas, procesos, sistemas o eventos externos.</a:t>
            </a:r>
            <a:endParaRPr lang="en-US" sz="1100" dirty="0"/>
          </a:p>
        </p:txBody>
      </p:sp>
      <p:sp>
        <p:nvSpPr>
          <p:cNvPr id="11" name="Shape 7"/>
          <p:cNvSpPr/>
          <p:nvPr/>
        </p:nvSpPr>
        <p:spPr>
          <a:xfrm>
            <a:off x="3404540" y="2148840"/>
            <a:ext cx="2545004" cy="1851660"/>
          </a:xfrm>
          <a:prstGeom prst="roundRect">
            <a:avLst>
              <a:gd name="adj" fmla="val 4938"/>
            </a:avLst>
          </a:prstGeom>
          <a:solidFill>
            <a:srgbClr val="F2F5F9"/>
          </a:solidFill>
          <a:ln/>
        </p:spPr>
      </p:sp>
      <p:sp>
        <p:nvSpPr>
          <p:cNvPr id="12" name="Shape 8"/>
          <p:cNvSpPr/>
          <p:nvPr/>
        </p:nvSpPr>
        <p:spPr>
          <a:xfrm>
            <a:off x="4393578" y="2313432"/>
            <a:ext cx="566928" cy="566928"/>
          </a:xfrm>
          <a:prstGeom prst="ellipse">
            <a:avLst/>
          </a:prstGeom>
          <a:solidFill>
            <a:srgbClr val="2E86C7"/>
          </a:solidFill>
          <a:ln/>
        </p:spPr>
      </p:sp>
      <p:pic>
        <p:nvPicPr>
          <p:cNvPr id="13" name="Image 1" descr="/tmp/claude-0/-home-user-riesgo/0ff9ff46-1396-5bd8-b3ac-2280dfbbbc55/scratchpad/work/gen/icons/star_white.png">    </p:cNvPr>
          <p:cNvPicPr>
            <a:picLocks noChangeAspect="1"/>
          </p:cNvPicPr>
          <p:nvPr/>
        </p:nvPicPr>
        <p:blipFill>
          <a:blip r:embed="rId2"/>
          <a:stretch>
            <a:fillRect/>
          </a:stretch>
        </p:blipFill>
        <p:spPr>
          <a:xfrm>
            <a:off x="4529640" y="2449495"/>
            <a:ext cx="294803" cy="294803"/>
          </a:xfrm>
          <a:prstGeom prst="rect">
            <a:avLst/>
          </a:prstGeom>
        </p:spPr>
      </p:pic>
      <p:sp>
        <p:nvSpPr>
          <p:cNvPr id="14" name="Text 9"/>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Reputacional</a:t>
            </a:r>
            <a:endParaRPr lang="en-US" sz="1250" dirty="0"/>
          </a:p>
        </p:txBody>
      </p:sp>
      <p:sp>
        <p:nvSpPr>
          <p:cNvPr id="15" name="Text 10"/>
          <p:cNvSpPr txBox="1"/>
          <p:nvPr/>
        </p:nvSpPr>
        <p:spPr>
          <a:xfrm>
            <a:off x="3569132"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Daño a la imagen o la confianza en la Cooperativa.</a:t>
            </a:r>
            <a:endParaRPr lang="en-US" sz="1100" dirty="0"/>
          </a:p>
        </p:txBody>
      </p:sp>
      <p:sp>
        <p:nvSpPr>
          <p:cNvPr id="16" name="Shape 11"/>
          <p:cNvSpPr/>
          <p:nvPr/>
        </p:nvSpPr>
        <p:spPr>
          <a:xfrm>
            <a:off x="6242152" y="2148840"/>
            <a:ext cx="2545004" cy="1851660"/>
          </a:xfrm>
          <a:prstGeom prst="roundRect">
            <a:avLst>
              <a:gd name="adj" fmla="val 4938"/>
            </a:avLst>
          </a:prstGeom>
          <a:solidFill>
            <a:srgbClr val="F2F5F9"/>
          </a:solidFill>
          <a:ln/>
        </p:spPr>
      </p:sp>
      <p:sp>
        <p:nvSpPr>
          <p:cNvPr id="17" name="Shape 12"/>
          <p:cNvSpPr/>
          <p:nvPr/>
        </p:nvSpPr>
        <p:spPr>
          <a:xfrm>
            <a:off x="7231189" y="2313432"/>
            <a:ext cx="566928" cy="566928"/>
          </a:xfrm>
          <a:prstGeom prst="ellipse">
            <a:avLst/>
          </a:prstGeom>
          <a:solidFill>
            <a:srgbClr val="2E86C7"/>
          </a:solidFill>
          <a:ln/>
        </p:spPr>
      </p:sp>
      <p:pic>
        <p:nvPicPr>
          <p:cNvPr id="18" name="Image 2" descr="/tmp/claude-0/-home-user-riesgo/0ff9ff46-1396-5bd8-b3ac-2280dfbbbc55/scratchpad/work/gen/icons/shield_warning_white.png">    </p:cNvPr>
          <p:cNvPicPr>
            <a:picLocks noChangeAspect="1"/>
          </p:cNvPicPr>
          <p:nvPr/>
        </p:nvPicPr>
        <p:blipFill>
          <a:blip r:embed="rId3"/>
          <a:stretch>
            <a:fillRect/>
          </a:stretch>
        </p:blipFill>
        <p:spPr>
          <a:xfrm>
            <a:off x="7367252" y="2449495"/>
            <a:ext cx="294803" cy="294803"/>
          </a:xfrm>
          <a:prstGeom prst="rect">
            <a:avLst/>
          </a:prstGeom>
        </p:spPr>
      </p:pic>
      <p:sp>
        <p:nvSpPr>
          <p:cNvPr id="19" name="Text 13"/>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Fraude</a:t>
            </a:r>
            <a:endParaRPr lang="en-US" sz="1250" dirty="0"/>
          </a:p>
        </p:txBody>
      </p:sp>
      <p:sp>
        <p:nvSpPr>
          <p:cNvPr id="20" name="Text 14"/>
          <p:cNvSpPr txBox="1"/>
          <p:nvPr/>
        </p:nvSpPr>
        <p:spPr>
          <a:xfrm>
            <a:off x="6406744"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Acción intencional para obtener un beneficio indebido.</a:t>
            </a:r>
            <a:endParaRPr lang="en-US" sz="1100" dirty="0"/>
          </a:p>
        </p:txBody>
      </p:sp>
      <p:sp>
        <p:nvSpPr>
          <p:cNvPr id="21" name="Shape 15"/>
          <p:cNvSpPr/>
          <p:nvPr/>
        </p:nvSpPr>
        <p:spPr>
          <a:xfrm>
            <a:off x="9079763" y="2148840"/>
            <a:ext cx="2545004" cy="1851660"/>
          </a:xfrm>
          <a:prstGeom prst="roundRect">
            <a:avLst>
              <a:gd name="adj" fmla="val 4938"/>
            </a:avLst>
          </a:prstGeom>
          <a:solidFill>
            <a:srgbClr val="F2F5F9"/>
          </a:solidFill>
          <a:ln/>
        </p:spPr>
      </p:sp>
      <p:sp>
        <p:nvSpPr>
          <p:cNvPr id="22" name="Shape 16"/>
          <p:cNvSpPr/>
          <p:nvPr/>
        </p:nvSpPr>
        <p:spPr>
          <a:xfrm>
            <a:off x="10068801" y="2313432"/>
            <a:ext cx="566928" cy="566928"/>
          </a:xfrm>
          <a:prstGeom prst="ellipse">
            <a:avLst/>
          </a:prstGeom>
          <a:solidFill>
            <a:srgbClr val="2E86C7"/>
          </a:solidFill>
          <a:ln/>
        </p:spPr>
      </p:sp>
      <p:pic>
        <p:nvPicPr>
          <p:cNvPr id="23" name="Image 3" descr="/tmp/claude-0/-home-user-riesgo/0ff9ff46-1396-5bd8-b3ac-2280dfbbbc55/scratchpad/work/gen/icons/bank_white.png">    </p:cNvPr>
          <p:cNvPicPr>
            <a:picLocks noChangeAspect="1"/>
          </p:cNvPicPr>
          <p:nvPr/>
        </p:nvPicPr>
        <p:blipFill>
          <a:blip r:embed="rId4"/>
          <a:stretch>
            <a:fillRect/>
          </a:stretch>
        </p:blipFill>
        <p:spPr>
          <a:xfrm>
            <a:off x="10204864" y="2449495"/>
            <a:ext cx="294803" cy="294803"/>
          </a:xfrm>
          <a:prstGeom prst="rect">
            <a:avLst/>
          </a:prstGeom>
        </p:spPr>
      </p:pic>
      <p:sp>
        <p:nvSpPr>
          <p:cNvPr id="24" name="Text 17"/>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Crediticio</a:t>
            </a:r>
            <a:endParaRPr lang="en-US" sz="1250" dirty="0"/>
          </a:p>
        </p:txBody>
      </p:sp>
      <p:sp>
        <p:nvSpPr>
          <p:cNvPr id="25" name="Text 18"/>
          <p:cNvSpPr txBox="1"/>
          <p:nvPr/>
        </p:nvSpPr>
        <p:spPr>
          <a:xfrm>
            <a:off x="9244355"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Que un asociado no cumpla sus obligaciones de pago.</a:t>
            </a:r>
            <a:endParaRPr lang="en-US" sz="1100" dirty="0"/>
          </a:p>
        </p:txBody>
      </p:sp>
      <p:sp>
        <p:nvSpPr>
          <p:cNvPr id="26" name="Shape 19"/>
          <p:cNvSpPr/>
          <p:nvPr/>
        </p:nvSpPr>
        <p:spPr>
          <a:xfrm>
            <a:off x="566928" y="4256532"/>
            <a:ext cx="2545004" cy="1851660"/>
          </a:xfrm>
          <a:prstGeom prst="roundRect">
            <a:avLst>
              <a:gd name="adj" fmla="val 4938"/>
            </a:avLst>
          </a:prstGeom>
          <a:solidFill>
            <a:srgbClr val="F2F5F9"/>
          </a:solidFill>
          <a:ln/>
        </p:spPr>
      </p:sp>
      <p:sp>
        <p:nvSpPr>
          <p:cNvPr id="27" name="Shape 20"/>
          <p:cNvSpPr/>
          <p:nvPr/>
        </p:nvSpPr>
        <p:spPr>
          <a:xfrm>
            <a:off x="1555966" y="4421124"/>
            <a:ext cx="566928" cy="566928"/>
          </a:xfrm>
          <a:prstGeom prst="ellipse">
            <a:avLst/>
          </a:prstGeom>
          <a:solidFill>
            <a:srgbClr val="2E86C7"/>
          </a:solidFill>
          <a:ln/>
        </p:spPr>
      </p:sp>
      <p:pic>
        <p:nvPicPr>
          <p:cNvPr id="28" name="Image 4" descr="/tmp/claude-0/-home-user-riesgo/0ff9ff46-1396-5bd8-b3ac-2280dfbbbc55/scratchpad/work/gen/icons/server_white.png">    </p:cNvPr>
          <p:cNvPicPr>
            <a:picLocks noChangeAspect="1"/>
          </p:cNvPicPr>
          <p:nvPr/>
        </p:nvPicPr>
        <p:blipFill>
          <a:blip r:embed="rId5"/>
          <a:stretch>
            <a:fillRect/>
          </a:stretch>
        </p:blipFill>
        <p:spPr>
          <a:xfrm>
            <a:off x="1692029" y="4557187"/>
            <a:ext cx="294803" cy="294803"/>
          </a:xfrm>
          <a:prstGeom prst="rect">
            <a:avLst/>
          </a:prstGeom>
        </p:spPr>
      </p:pic>
      <p:sp>
        <p:nvSpPr>
          <p:cNvPr id="29" name="Text 21"/>
          <p:cNvSpPr txBox="1"/>
          <p:nvPr/>
        </p:nvSpPr>
        <p:spPr>
          <a:xfrm>
            <a:off x="676656"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Tecnológico</a:t>
            </a:r>
            <a:endParaRPr lang="en-US" sz="1250" dirty="0"/>
          </a:p>
        </p:txBody>
      </p:sp>
      <p:sp>
        <p:nvSpPr>
          <p:cNvPr id="30" name="Text 22"/>
          <p:cNvSpPr txBox="1"/>
          <p:nvPr/>
        </p:nvSpPr>
        <p:spPr>
          <a:xfrm>
            <a:off x="731520"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o interrupciones en sistemas y datos.</a:t>
            </a:r>
            <a:endParaRPr lang="en-US" sz="1100" dirty="0"/>
          </a:p>
        </p:txBody>
      </p:sp>
      <p:sp>
        <p:nvSpPr>
          <p:cNvPr id="31" name="Shape 23"/>
          <p:cNvSpPr/>
          <p:nvPr/>
        </p:nvSpPr>
        <p:spPr>
          <a:xfrm>
            <a:off x="3404540" y="4256532"/>
            <a:ext cx="2545004" cy="1851660"/>
          </a:xfrm>
          <a:prstGeom prst="roundRect">
            <a:avLst>
              <a:gd name="adj" fmla="val 4938"/>
            </a:avLst>
          </a:prstGeom>
          <a:solidFill>
            <a:srgbClr val="F2F5F9"/>
          </a:solidFill>
          <a:ln/>
        </p:spPr>
      </p:sp>
      <p:sp>
        <p:nvSpPr>
          <p:cNvPr id="32" name="Shape 24"/>
          <p:cNvSpPr/>
          <p:nvPr/>
        </p:nvSpPr>
        <p:spPr>
          <a:xfrm>
            <a:off x="4393578" y="4421124"/>
            <a:ext cx="566928" cy="566928"/>
          </a:xfrm>
          <a:prstGeom prst="ellipse">
            <a:avLst/>
          </a:prstGeom>
          <a:solidFill>
            <a:srgbClr val="2E86C7"/>
          </a:solidFill>
          <a:ln/>
        </p:spPr>
      </p:sp>
      <p:pic>
        <p:nvPicPr>
          <p:cNvPr id="33" name="Image 5" descr="/tmp/claude-0/-home-user-riesgo/0ff9ff46-1396-5bd8-b3ac-2280dfbbbc55/scratchpad/work/gen/icons/globe_white.png">    </p:cNvPr>
          <p:cNvPicPr>
            <a:picLocks noChangeAspect="1"/>
          </p:cNvPicPr>
          <p:nvPr/>
        </p:nvPicPr>
        <p:blipFill>
          <a:blip r:embed="rId6"/>
          <a:stretch>
            <a:fillRect/>
          </a:stretch>
        </p:blipFill>
        <p:spPr>
          <a:xfrm>
            <a:off x="4529640" y="4557187"/>
            <a:ext cx="294803" cy="294803"/>
          </a:xfrm>
          <a:prstGeom prst="rect">
            <a:avLst/>
          </a:prstGeom>
        </p:spPr>
      </p:pic>
      <p:sp>
        <p:nvSpPr>
          <p:cNvPr id="34" name="Text 25"/>
          <p:cNvSpPr txBox="1"/>
          <p:nvPr/>
        </p:nvSpPr>
        <p:spPr>
          <a:xfrm>
            <a:off x="3514268"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Ambiental y Social</a:t>
            </a:r>
            <a:endParaRPr lang="en-US" sz="1250" dirty="0"/>
          </a:p>
        </p:txBody>
      </p:sp>
      <p:sp>
        <p:nvSpPr>
          <p:cNvPr id="35" name="Text 26"/>
          <p:cNvSpPr txBox="1"/>
          <p:nvPr/>
        </p:nvSpPr>
        <p:spPr>
          <a:xfrm>
            <a:off x="3569132"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Eventos externos que afectan personas y operaciones.</a:t>
            </a:r>
            <a:endParaRPr lang="en-US" sz="1100" dirty="0"/>
          </a:p>
        </p:txBody>
      </p:sp>
      <p:sp>
        <p:nvSpPr>
          <p:cNvPr id="36" name="Shape 27"/>
          <p:cNvSpPr/>
          <p:nvPr/>
        </p:nvSpPr>
        <p:spPr>
          <a:xfrm>
            <a:off x="6242152" y="4256532"/>
            <a:ext cx="2545004" cy="1851660"/>
          </a:xfrm>
          <a:prstGeom prst="roundRect">
            <a:avLst>
              <a:gd name="adj" fmla="val 4938"/>
            </a:avLst>
          </a:prstGeom>
          <a:solidFill>
            <a:srgbClr val="F2F5F9"/>
          </a:solidFill>
          <a:ln/>
        </p:spPr>
      </p:sp>
      <p:sp>
        <p:nvSpPr>
          <p:cNvPr id="37" name="Shape 28"/>
          <p:cNvSpPr/>
          <p:nvPr/>
        </p:nvSpPr>
        <p:spPr>
          <a:xfrm>
            <a:off x="7231189" y="4421124"/>
            <a:ext cx="566928" cy="566928"/>
          </a:xfrm>
          <a:prstGeom prst="ellipse">
            <a:avLst/>
          </a:prstGeom>
          <a:solidFill>
            <a:srgbClr val="2E86C7"/>
          </a:solidFill>
          <a:ln/>
        </p:spPr>
      </p:sp>
      <p:pic>
        <p:nvPicPr>
          <p:cNvPr id="38" name="Image 6" descr="/tmp/claude-0/-home-user-riesgo/0ff9ff46-1396-5bd8-b3ac-2280dfbbbc55/scratchpad/work/gen/icons/route_white.png">    </p:cNvPr>
          <p:cNvPicPr>
            <a:picLocks noChangeAspect="1"/>
          </p:cNvPicPr>
          <p:nvPr/>
        </p:nvPicPr>
        <p:blipFill>
          <a:blip r:embed="rId7"/>
          <a:stretch>
            <a:fillRect/>
          </a:stretch>
        </p:blipFill>
        <p:spPr>
          <a:xfrm>
            <a:off x="7367252" y="4557187"/>
            <a:ext cx="294803" cy="294803"/>
          </a:xfrm>
          <a:prstGeom prst="rect">
            <a:avLst/>
          </a:prstGeom>
        </p:spPr>
      </p:pic>
      <p:sp>
        <p:nvSpPr>
          <p:cNvPr id="39" name="Text 29"/>
          <p:cNvSpPr txBox="1"/>
          <p:nvPr/>
        </p:nvSpPr>
        <p:spPr>
          <a:xfrm>
            <a:off x="6351880"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Continuidad</a:t>
            </a:r>
            <a:endParaRPr lang="en-US" sz="1250" dirty="0"/>
          </a:p>
        </p:txBody>
      </p:sp>
      <p:sp>
        <p:nvSpPr>
          <p:cNvPr id="40" name="Text 30"/>
          <p:cNvSpPr txBox="1"/>
          <p:nvPr/>
        </p:nvSpPr>
        <p:spPr>
          <a:xfrm>
            <a:off x="6406744"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Interrupciones que afectan la operación normal del negocio.</a:t>
            </a:r>
            <a:endParaRPr lang="en-US" sz="1100" dirty="0"/>
          </a:p>
        </p:txBody>
      </p:sp>
      <p:sp>
        <p:nvSpPr>
          <p:cNvPr id="41" name="Shape 31"/>
          <p:cNvSpPr/>
          <p:nvPr/>
        </p:nvSpPr>
        <p:spPr>
          <a:xfrm>
            <a:off x="9079763" y="4256532"/>
            <a:ext cx="2545004" cy="1851660"/>
          </a:xfrm>
          <a:prstGeom prst="roundRect">
            <a:avLst>
              <a:gd name="adj" fmla="val 4938"/>
            </a:avLst>
          </a:prstGeom>
          <a:solidFill>
            <a:srgbClr val="F2F5F9"/>
          </a:solidFill>
          <a:ln/>
        </p:spPr>
      </p:sp>
      <p:sp>
        <p:nvSpPr>
          <p:cNvPr id="42" name="Shape 32"/>
          <p:cNvSpPr/>
          <p:nvPr/>
        </p:nvSpPr>
        <p:spPr>
          <a:xfrm>
            <a:off x="10068801" y="4421124"/>
            <a:ext cx="566928" cy="566928"/>
          </a:xfrm>
          <a:prstGeom prst="ellipse">
            <a:avLst/>
          </a:prstGeom>
          <a:solidFill>
            <a:srgbClr val="2E86C7"/>
          </a:solidFill>
          <a:ln/>
        </p:spPr>
      </p:sp>
      <p:pic>
        <p:nvPicPr>
          <p:cNvPr id="43" name="Image 7" descr="/tmp/claude-0/-home-user-riesgo/0ff9ff46-1396-5bd8-b3ac-2280dfbbbc55/scratchpad/work/gen/icons/scale_white.png">    </p:cNvPr>
          <p:cNvPicPr>
            <a:picLocks noChangeAspect="1"/>
          </p:cNvPicPr>
          <p:nvPr/>
        </p:nvPicPr>
        <p:blipFill>
          <a:blip r:embed="rId8"/>
          <a:stretch>
            <a:fillRect/>
          </a:stretch>
        </p:blipFill>
        <p:spPr>
          <a:xfrm>
            <a:off x="10204864" y="4557187"/>
            <a:ext cx="294803" cy="294803"/>
          </a:xfrm>
          <a:prstGeom prst="rect">
            <a:avLst/>
          </a:prstGeom>
        </p:spPr>
      </p:pic>
      <p:sp>
        <p:nvSpPr>
          <p:cNvPr id="44" name="Text 33"/>
          <p:cNvSpPr txBox="1"/>
          <p:nvPr/>
        </p:nvSpPr>
        <p:spPr>
          <a:xfrm>
            <a:off x="9189491"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Cumplimiento</a:t>
            </a:r>
            <a:endParaRPr lang="en-US" sz="1250" dirty="0"/>
          </a:p>
        </p:txBody>
      </p:sp>
      <p:sp>
        <p:nvSpPr>
          <p:cNvPr id="45" name="Text 34"/>
          <p:cNvSpPr txBox="1"/>
          <p:nvPr/>
        </p:nvSpPr>
        <p:spPr>
          <a:xfrm>
            <a:off x="9244355"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Incumplir leyes, normas regulatorias o políticas internas.</a:t>
            </a:r>
            <a:endParaRPr lang="en-US" sz="110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2075688"/>
            <a:ext cx="11057839" cy="1463040"/>
          </a:xfrm>
          <a:prstGeom prst="roundRect">
            <a:avLst>
              <a:gd name="adj" fmla="val 7500"/>
            </a:avLst>
          </a:prstGeom>
          <a:solidFill>
            <a:srgbClr val="133B6C"/>
          </a:solidFill>
          <a:ln/>
        </p:spPr>
      </p:sp>
      <p:sp>
        <p:nvSpPr>
          <p:cNvPr id="7" name="Shape 4"/>
          <p:cNvSpPr/>
          <p:nvPr/>
        </p:nvSpPr>
        <p:spPr>
          <a:xfrm>
            <a:off x="822960" y="2459736"/>
            <a:ext cx="694944" cy="694944"/>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979322" y="2616098"/>
            <a:ext cx="382219" cy="382219"/>
          </a:xfrm>
          <a:prstGeom prst="rect">
            <a:avLst/>
          </a:prstGeom>
        </p:spPr>
      </p:pic>
      <p:sp>
        <p:nvSpPr>
          <p:cNvPr id="9" name="Text 5"/>
          <p:cNvSpPr txBox="1"/>
          <p:nvPr/>
        </p:nvSpPr>
        <p:spPr>
          <a:xfrm>
            <a:off x="1709928" y="2258568"/>
            <a:ext cx="9144000" cy="292608"/>
          </a:xfrm>
          <a:prstGeom prst="rect">
            <a:avLst/>
          </a:prstGeom>
          <a:noFill/>
          <a:ln/>
        </p:spPr>
        <p:txBody>
          <a:bodyPr wrap="square" lIns="0" tIns="0" rIns="0" bIns="0" rtlCol="0" anchor="ctr"/>
          <a:lstStyle/>
          <a:p>
            <a:pPr indent="0" marL="0">
              <a:buNone/>
            </a:pPr>
            <a:r>
              <a:rPr lang="en-US" sz="1200" b="1" spc="200" kern="0" dirty="0">
                <a:solidFill>
                  <a:srgbClr val="97D8DB"/>
                </a:solidFill>
                <a:latin typeface="Calibri" pitchFamily="34" charset="0"/>
                <a:ea typeface="Calibri" pitchFamily="34" charset="-122"/>
                <a:cs typeface="Calibri" pitchFamily="34" charset="-120"/>
              </a:rPr>
              <a:t>SITUACIÓN</a:t>
            </a:r>
            <a:endParaRPr lang="en-US" sz="1200" dirty="0"/>
          </a:p>
        </p:txBody>
      </p:sp>
      <p:sp>
        <p:nvSpPr>
          <p:cNvPr id="10" name="Text 6"/>
          <p:cNvSpPr txBox="1"/>
          <p:nvPr/>
        </p:nvSpPr>
        <p:spPr>
          <a:xfrm>
            <a:off x="1709928" y="2532888"/>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1" name="Shape 7"/>
          <p:cNvSpPr/>
          <p:nvPr/>
        </p:nvSpPr>
        <p:spPr>
          <a:xfrm>
            <a:off x="566928" y="3813048"/>
            <a:ext cx="5400904" cy="1037844"/>
          </a:xfrm>
          <a:prstGeom prst="roundRect">
            <a:avLst>
              <a:gd name="adj" fmla="val 8811"/>
            </a:avLst>
          </a:prstGeom>
          <a:solidFill>
            <a:srgbClr val="F2F5F9"/>
          </a:solidFill>
          <a:ln/>
        </p:spPr>
      </p:sp>
      <p:sp>
        <p:nvSpPr>
          <p:cNvPr id="12" name="Shape 8"/>
          <p:cNvSpPr/>
          <p:nvPr/>
        </p:nvSpPr>
        <p:spPr>
          <a:xfrm>
            <a:off x="749808" y="4103370"/>
            <a:ext cx="457200" cy="457200"/>
          </a:xfrm>
          <a:prstGeom prst="ellipse">
            <a:avLst/>
          </a:prstGeom>
          <a:solidFill>
            <a:srgbClr val="133B6C"/>
          </a:solidFill>
          <a:ln/>
        </p:spPr>
      </p:sp>
      <p:pic>
        <p:nvPicPr>
          <p:cNvPr id="13" name="Image 1" descr="/tmp/claude-0/-home-user-riesgo/0ff9ff46-1396-5bd8-b3ac-2280dfbbbc55/scratchpad/work/gen/icons/question_white.png">    </p:cNvPr>
          <p:cNvPicPr>
            <a:picLocks noChangeAspect="1"/>
          </p:cNvPicPr>
          <p:nvPr/>
        </p:nvPicPr>
        <p:blipFill>
          <a:blip r:embed="rId2"/>
          <a:stretch>
            <a:fillRect/>
          </a:stretch>
        </p:blipFill>
        <p:spPr>
          <a:xfrm>
            <a:off x="852678" y="4206240"/>
            <a:ext cx="251460" cy="251460"/>
          </a:xfrm>
          <a:prstGeom prst="rect">
            <a:avLst/>
          </a:prstGeom>
        </p:spPr>
      </p:pic>
      <p:sp>
        <p:nvSpPr>
          <p:cNvPr id="14" name="Text 9"/>
          <p:cNvSpPr txBox="1"/>
          <p:nvPr/>
        </p:nvSpPr>
        <p:spPr>
          <a:xfrm>
            <a:off x="1344168" y="38130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5" name="Shape 10"/>
          <p:cNvSpPr/>
          <p:nvPr/>
        </p:nvSpPr>
        <p:spPr>
          <a:xfrm>
            <a:off x="6223864" y="3813048"/>
            <a:ext cx="5400904" cy="1037844"/>
          </a:xfrm>
          <a:prstGeom prst="roundRect">
            <a:avLst>
              <a:gd name="adj" fmla="val 8811"/>
            </a:avLst>
          </a:prstGeom>
          <a:solidFill>
            <a:srgbClr val="F2F5F9"/>
          </a:solidFill>
          <a:ln/>
        </p:spPr>
      </p:sp>
      <p:sp>
        <p:nvSpPr>
          <p:cNvPr id="16" name="Shape 11"/>
          <p:cNvSpPr/>
          <p:nvPr/>
        </p:nvSpPr>
        <p:spPr>
          <a:xfrm>
            <a:off x="6406744" y="4103370"/>
            <a:ext cx="457200" cy="457200"/>
          </a:xfrm>
          <a:prstGeom prst="ellipse">
            <a:avLst/>
          </a:prstGeom>
          <a:solidFill>
            <a:srgbClr val="133B6C"/>
          </a:solidFill>
          <a:ln/>
        </p:spPr>
      </p:sp>
      <p:pic>
        <p:nvPicPr>
          <p:cNvPr id="17" name="Image 2" descr="/tmp/claude-0/-home-user-riesgo/0ff9ff46-1396-5bd8-b3ac-2280dfbbbc55/scratchpad/work/gen/icons/question_white.png">    </p:cNvPr>
          <p:cNvPicPr>
            <a:picLocks noChangeAspect="1"/>
          </p:cNvPicPr>
          <p:nvPr/>
        </p:nvPicPr>
        <p:blipFill>
          <a:blip r:embed="rId3"/>
          <a:stretch>
            <a:fillRect/>
          </a:stretch>
        </p:blipFill>
        <p:spPr>
          <a:xfrm>
            <a:off x="6509614" y="4206240"/>
            <a:ext cx="251460" cy="251460"/>
          </a:xfrm>
          <a:prstGeom prst="rect">
            <a:avLst/>
          </a:prstGeom>
        </p:spPr>
      </p:pic>
      <p:sp>
        <p:nvSpPr>
          <p:cNvPr id="18" name="Text 12"/>
          <p:cNvSpPr txBox="1"/>
          <p:nvPr/>
        </p:nvSpPr>
        <p:spPr>
          <a:xfrm>
            <a:off x="7001104" y="38130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9" name="Shape 13"/>
          <p:cNvSpPr/>
          <p:nvPr/>
        </p:nvSpPr>
        <p:spPr>
          <a:xfrm>
            <a:off x="566928" y="5070348"/>
            <a:ext cx="5400904" cy="1037844"/>
          </a:xfrm>
          <a:prstGeom prst="roundRect">
            <a:avLst>
              <a:gd name="adj" fmla="val 8811"/>
            </a:avLst>
          </a:prstGeom>
          <a:solidFill>
            <a:srgbClr val="F2F5F9"/>
          </a:solidFill>
          <a:ln/>
        </p:spPr>
      </p:sp>
      <p:sp>
        <p:nvSpPr>
          <p:cNvPr id="20" name="Shape 14"/>
          <p:cNvSpPr/>
          <p:nvPr/>
        </p:nvSpPr>
        <p:spPr>
          <a:xfrm>
            <a:off x="749808" y="5360670"/>
            <a:ext cx="457200" cy="457200"/>
          </a:xfrm>
          <a:prstGeom prst="ellipse">
            <a:avLst/>
          </a:prstGeom>
          <a:solidFill>
            <a:srgbClr val="133B6C"/>
          </a:solidFill>
          <a:ln/>
        </p:spPr>
      </p:sp>
      <p:pic>
        <p:nvPicPr>
          <p:cNvPr id="21" name="Image 3" descr="/tmp/claude-0/-home-user-riesgo/0ff9ff46-1396-5bd8-b3ac-2280dfbbbc55/scratchpad/work/gen/icons/question_white.png">    </p:cNvPr>
          <p:cNvPicPr>
            <a:picLocks noChangeAspect="1"/>
          </p:cNvPicPr>
          <p:nvPr/>
        </p:nvPicPr>
        <p:blipFill>
          <a:blip r:embed="rId4"/>
          <a:stretch>
            <a:fillRect/>
          </a:stretch>
        </p:blipFill>
        <p:spPr>
          <a:xfrm>
            <a:off x="852678" y="5463540"/>
            <a:ext cx="251460" cy="251460"/>
          </a:xfrm>
          <a:prstGeom prst="rect">
            <a:avLst/>
          </a:prstGeom>
        </p:spPr>
      </p:pic>
      <p:sp>
        <p:nvSpPr>
          <p:cNvPr id="22" name="Text 15"/>
          <p:cNvSpPr txBox="1"/>
          <p:nvPr/>
        </p:nvSpPr>
        <p:spPr>
          <a:xfrm>
            <a:off x="1344168" y="50703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3" name="Shape 16"/>
          <p:cNvSpPr/>
          <p:nvPr/>
        </p:nvSpPr>
        <p:spPr>
          <a:xfrm>
            <a:off x="6223864" y="5070348"/>
            <a:ext cx="5400904" cy="1037844"/>
          </a:xfrm>
          <a:prstGeom prst="roundRect">
            <a:avLst>
              <a:gd name="adj" fmla="val 8811"/>
            </a:avLst>
          </a:prstGeom>
          <a:solidFill>
            <a:srgbClr val="F2F5F9"/>
          </a:solidFill>
          <a:ln/>
        </p:spPr>
      </p:sp>
      <p:sp>
        <p:nvSpPr>
          <p:cNvPr id="24" name="Shape 17"/>
          <p:cNvSpPr/>
          <p:nvPr/>
        </p:nvSpPr>
        <p:spPr>
          <a:xfrm>
            <a:off x="6406744" y="5360670"/>
            <a:ext cx="457200" cy="457200"/>
          </a:xfrm>
          <a:prstGeom prst="ellipse">
            <a:avLst/>
          </a:prstGeom>
          <a:solidFill>
            <a:srgbClr val="133B6C"/>
          </a:solidFill>
          <a:ln/>
        </p:spPr>
      </p:sp>
      <p:pic>
        <p:nvPicPr>
          <p:cNvPr id="25" name="Image 4" descr="/tmp/claude-0/-home-user-riesgo/0ff9ff46-1396-5bd8-b3ac-2280dfbbbc55/scratchpad/work/gen/icons/question_white.png">    </p:cNvPr>
          <p:cNvPicPr>
            <a:picLocks noChangeAspect="1"/>
          </p:cNvPicPr>
          <p:nvPr/>
        </p:nvPicPr>
        <p:blipFill>
          <a:blip r:embed="rId5"/>
          <a:stretch>
            <a:fillRect/>
          </a:stretch>
        </p:blipFill>
        <p:spPr>
          <a:xfrm>
            <a:off x="6509614" y="5463540"/>
            <a:ext cx="251460" cy="251460"/>
          </a:xfrm>
          <a:prstGeom prst="rect">
            <a:avLst/>
          </a:prstGeom>
        </p:spPr>
      </p:pic>
      <p:sp>
        <p:nvSpPr>
          <p:cNvPr id="26" name="Text 18"/>
          <p:cNvSpPr txBox="1"/>
          <p:nvPr/>
        </p:nvSpPr>
        <p:spPr>
          <a:xfrm>
            <a:off x="7001104" y="50703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7"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8"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7A9B0"/>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17A9B0"/>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6BED7"/>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3A6EA5"/>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FAE60"/>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E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98B0CE"/>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B4F91"/>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1B4F91"/>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1B7D9"/>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2E5EAA"/>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2E5EAA"/>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 · ESTOS SON EJEMPLOS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LOS RIESGOS DE ESTA ESCENA</a:t>
            </a:r>
            <a:endParaRPr lang="en-US" sz="2800" dirty="0"/>
          </a:p>
        </p:txBody>
      </p:sp>
      <p:sp>
        <p:nvSpPr>
          <p:cNvPr id="5" name="Shape 2"/>
          <p:cNvSpPr/>
          <p:nvPr/>
        </p:nvSpPr>
        <p:spPr>
          <a:xfrm>
            <a:off x="566928" y="1874520"/>
            <a:ext cx="3503066" cy="1313688"/>
          </a:xfrm>
          <a:prstGeom prst="roundRect">
            <a:avLst>
              <a:gd name="adj" fmla="val 6265"/>
            </a:avLst>
          </a:prstGeom>
          <a:solidFill>
            <a:srgbClr val="F2F5F9"/>
          </a:solidFill>
          <a:ln/>
        </p:spPr>
      </p:sp>
      <p:sp>
        <p:nvSpPr>
          <p:cNvPr id="6" name="Shape 3"/>
          <p:cNvSpPr/>
          <p:nvPr/>
        </p:nvSpPr>
        <p:spPr>
          <a:xfrm>
            <a:off x="704088" y="2247900"/>
            <a:ext cx="566928" cy="566928"/>
          </a:xfrm>
          <a:prstGeom prst="ellipse">
            <a:avLst/>
          </a:prstGeom>
          <a:solidFill>
            <a:srgbClr val="2E86C7"/>
          </a:solidFill>
          <a:ln/>
        </p:spPr>
      </p:sp>
      <p:pic>
        <p:nvPicPr>
          <p:cNvPr id="7" name="Image 0" descr="/tmp/claude-0/-home-user-riesgo/0ff9ff46-1396-5bd8-b3ac-2280dfbbbc55/scratchpad/work/gen/icons/lock_open_white.png">    </p:cNvPr>
          <p:cNvPicPr>
            <a:picLocks noChangeAspect="1"/>
          </p:cNvPicPr>
          <p:nvPr/>
        </p:nvPicPr>
        <p:blipFill>
          <a:blip r:embed="rId1"/>
          <a:stretch>
            <a:fillRect/>
          </a:stretch>
        </p:blipFill>
        <p:spPr>
          <a:xfrm>
            <a:off x="840151" y="2383963"/>
            <a:ext cx="294803" cy="294803"/>
          </a:xfrm>
          <a:prstGeom prst="rect">
            <a:avLst/>
          </a:prstGeom>
        </p:spPr>
      </p:pic>
      <p:sp>
        <p:nvSpPr>
          <p:cNvPr id="8" name="Shape 4"/>
          <p:cNvSpPr/>
          <p:nvPr/>
        </p:nvSpPr>
        <p:spPr>
          <a:xfrm>
            <a:off x="1133856" y="2193036"/>
            <a:ext cx="292608" cy="292608"/>
          </a:xfrm>
          <a:prstGeom prst="ellipse">
            <a:avLst/>
          </a:prstGeom>
          <a:solidFill>
            <a:srgbClr val="133B6C"/>
          </a:solidFill>
          <a:ln/>
        </p:spPr>
      </p:sp>
      <p:sp>
        <p:nvSpPr>
          <p:cNvPr id="9" name="Text 5"/>
          <p:cNvSpPr txBox="1"/>
          <p:nvPr/>
        </p:nvSpPr>
        <p:spPr>
          <a:xfrm>
            <a:off x="1133856"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1</a:t>
            </a:r>
            <a:endParaRPr lang="en-US" sz="1088" dirty="0"/>
          </a:p>
        </p:txBody>
      </p:sp>
      <p:sp>
        <p:nvSpPr>
          <p:cNvPr id="10" name="Text 6"/>
          <p:cNvSpPr txBox="1"/>
          <p:nvPr/>
        </p:nvSpPr>
        <p:spPr>
          <a:xfrm>
            <a:off x="1408176"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Equipo desbloqueado y sin supervisión.</a:t>
            </a:r>
            <a:endParaRPr lang="en-US" sz="1200" dirty="0"/>
          </a:p>
        </p:txBody>
      </p:sp>
      <p:sp>
        <p:nvSpPr>
          <p:cNvPr id="11" name="Shape 7"/>
          <p:cNvSpPr/>
          <p:nvPr/>
        </p:nvSpPr>
        <p:spPr>
          <a:xfrm>
            <a:off x="4344314" y="1874520"/>
            <a:ext cx="3503066" cy="1313688"/>
          </a:xfrm>
          <a:prstGeom prst="roundRect">
            <a:avLst>
              <a:gd name="adj" fmla="val 6265"/>
            </a:avLst>
          </a:prstGeom>
          <a:solidFill>
            <a:srgbClr val="F2F5F9"/>
          </a:solidFill>
          <a:ln/>
        </p:spPr>
      </p:sp>
      <p:sp>
        <p:nvSpPr>
          <p:cNvPr id="12" name="Shape 8"/>
          <p:cNvSpPr/>
          <p:nvPr/>
        </p:nvSpPr>
        <p:spPr>
          <a:xfrm>
            <a:off x="4481474" y="2247900"/>
            <a:ext cx="566928" cy="566928"/>
          </a:xfrm>
          <a:prstGeom prst="ellipse">
            <a:avLst/>
          </a:prstGeom>
          <a:solidFill>
            <a:srgbClr val="2E86C7"/>
          </a:solidFill>
          <a:ln/>
        </p:spPr>
      </p:sp>
      <p:pic>
        <p:nvPicPr>
          <p:cNvPr id="13" name="Image 1" descr="/tmp/claude-0/-home-user-riesgo/0ff9ff46-1396-5bd8-b3ac-2280dfbbbc55/scratchpad/work/gen/icons/usb_white.png">    </p:cNvPr>
          <p:cNvPicPr>
            <a:picLocks noChangeAspect="1"/>
          </p:cNvPicPr>
          <p:nvPr/>
        </p:nvPicPr>
        <p:blipFill>
          <a:blip r:embed="rId2"/>
          <a:stretch>
            <a:fillRect/>
          </a:stretch>
        </p:blipFill>
        <p:spPr>
          <a:xfrm>
            <a:off x="4617537" y="2383963"/>
            <a:ext cx="294803" cy="294803"/>
          </a:xfrm>
          <a:prstGeom prst="rect">
            <a:avLst/>
          </a:prstGeom>
        </p:spPr>
      </p:pic>
      <p:sp>
        <p:nvSpPr>
          <p:cNvPr id="14" name="Shape 9"/>
          <p:cNvSpPr/>
          <p:nvPr/>
        </p:nvSpPr>
        <p:spPr>
          <a:xfrm>
            <a:off x="4911242" y="2193036"/>
            <a:ext cx="292608" cy="292608"/>
          </a:xfrm>
          <a:prstGeom prst="ellipse">
            <a:avLst/>
          </a:prstGeom>
          <a:solidFill>
            <a:srgbClr val="133B6C"/>
          </a:solidFill>
          <a:ln/>
        </p:spPr>
      </p:sp>
      <p:sp>
        <p:nvSpPr>
          <p:cNvPr id="15" name="Text 10"/>
          <p:cNvSpPr txBox="1"/>
          <p:nvPr/>
        </p:nvSpPr>
        <p:spPr>
          <a:xfrm>
            <a:off x="4911242"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2</a:t>
            </a:r>
            <a:endParaRPr lang="en-US" sz="1088" dirty="0"/>
          </a:p>
        </p:txBody>
      </p:sp>
      <p:sp>
        <p:nvSpPr>
          <p:cNvPr id="16" name="Text 11"/>
          <p:cNvSpPr txBox="1"/>
          <p:nvPr/>
        </p:nvSpPr>
        <p:spPr>
          <a:xfrm>
            <a:off x="5185562"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Dispositivo USB desconocido conectado.</a:t>
            </a:r>
            <a:endParaRPr lang="en-US" sz="1200" dirty="0"/>
          </a:p>
        </p:txBody>
      </p:sp>
      <p:sp>
        <p:nvSpPr>
          <p:cNvPr id="17" name="Shape 12"/>
          <p:cNvSpPr/>
          <p:nvPr/>
        </p:nvSpPr>
        <p:spPr>
          <a:xfrm>
            <a:off x="8121701" y="1874520"/>
            <a:ext cx="3503066" cy="1313688"/>
          </a:xfrm>
          <a:prstGeom prst="roundRect">
            <a:avLst>
              <a:gd name="adj" fmla="val 6265"/>
            </a:avLst>
          </a:prstGeom>
          <a:solidFill>
            <a:srgbClr val="F2F5F9"/>
          </a:solidFill>
          <a:ln/>
        </p:spPr>
      </p:sp>
      <p:sp>
        <p:nvSpPr>
          <p:cNvPr id="18" name="Shape 13"/>
          <p:cNvSpPr/>
          <p:nvPr/>
        </p:nvSpPr>
        <p:spPr>
          <a:xfrm>
            <a:off x="8258861" y="2247900"/>
            <a:ext cx="566928" cy="566928"/>
          </a:xfrm>
          <a:prstGeom prst="ellipse">
            <a:avLst/>
          </a:prstGeom>
          <a:solidFill>
            <a:srgbClr val="2E86C7"/>
          </a:solidFill>
          <a:ln/>
        </p:spPr>
      </p:sp>
      <p:pic>
        <p:nvPicPr>
          <p:cNvPr id="19" name="Image 2" descr="/tmp/claude-0/-home-user-riesgo/0ff9ff46-1396-5bd8-b3ac-2280dfbbbc55/scratchpad/work/gen/icons/wifi_off_white.png">    </p:cNvPr>
          <p:cNvPicPr>
            <a:picLocks noChangeAspect="1"/>
          </p:cNvPicPr>
          <p:nvPr/>
        </p:nvPicPr>
        <p:blipFill>
          <a:blip r:embed="rId3"/>
          <a:stretch>
            <a:fillRect/>
          </a:stretch>
        </p:blipFill>
        <p:spPr>
          <a:xfrm>
            <a:off x="8394924" y="2383963"/>
            <a:ext cx="294803" cy="294803"/>
          </a:xfrm>
          <a:prstGeom prst="rect">
            <a:avLst/>
          </a:prstGeom>
        </p:spPr>
      </p:pic>
      <p:sp>
        <p:nvSpPr>
          <p:cNvPr id="20" name="Shape 14"/>
          <p:cNvSpPr/>
          <p:nvPr/>
        </p:nvSpPr>
        <p:spPr>
          <a:xfrm>
            <a:off x="8688629" y="2193036"/>
            <a:ext cx="292608" cy="292608"/>
          </a:xfrm>
          <a:prstGeom prst="ellipse">
            <a:avLst/>
          </a:prstGeom>
          <a:solidFill>
            <a:srgbClr val="133B6C"/>
          </a:solidFill>
          <a:ln/>
        </p:spPr>
      </p:sp>
      <p:sp>
        <p:nvSpPr>
          <p:cNvPr id="21" name="Text 15"/>
          <p:cNvSpPr txBox="1"/>
          <p:nvPr/>
        </p:nvSpPr>
        <p:spPr>
          <a:xfrm>
            <a:off x="8688629"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3</a:t>
            </a:r>
            <a:endParaRPr lang="en-US" sz="1088" dirty="0"/>
          </a:p>
        </p:txBody>
      </p:sp>
      <p:sp>
        <p:nvSpPr>
          <p:cNvPr id="22" name="Text 16"/>
          <p:cNvSpPr txBox="1"/>
          <p:nvPr/>
        </p:nvSpPr>
        <p:spPr>
          <a:xfrm>
            <a:off x="8962949"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Conexión fuera de la red segura de la Cooperativa.</a:t>
            </a:r>
            <a:endParaRPr lang="en-US" sz="1200" dirty="0"/>
          </a:p>
        </p:txBody>
      </p:sp>
      <p:sp>
        <p:nvSpPr>
          <p:cNvPr id="23" name="Shape 17"/>
          <p:cNvSpPr/>
          <p:nvPr/>
        </p:nvSpPr>
        <p:spPr>
          <a:xfrm>
            <a:off x="566928" y="3334512"/>
            <a:ext cx="3503066" cy="1313688"/>
          </a:xfrm>
          <a:prstGeom prst="roundRect">
            <a:avLst>
              <a:gd name="adj" fmla="val 6265"/>
            </a:avLst>
          </a:prstGeom>
          <a:solidFill>
            <a:srgbClr val="F2F5F9"/>
          </a:solidFill>
          <a:ln/>
        </p:spPr>
      </p:sp>
      <p:sp>
        <p:nvSpPr>
          <p:cNvPr id="24" name="Shape 18"/>
          <p:cNvSpPr/>
          <p:nvPr/>
        </p:nvSpPr>
        <p:spPr>
          <a:xfrm>
            <a:off x="704088" y="3707892"/>
            <a:ext cx="566928" cy="566928"/>
          </a:xfrm>
          <a:prstGeom prst="ellipse">
            <a:avLst/>
          </a:prstGeom>
          <a:solidFill>
            <a:srgbClr val="2E86C7"/>
          </a:solidFill>
          <a:ln/>
        </p:spPr>
      </p:sp>
      <p:pic>
        <p:nvPicPr>
          <p:cNvPr id="25" name="Image 3" descr="/tmp/claude-0/-home-user-riesgo/0ff9ff46-1396-5bd8-b3ac-2280dfbbbc55/scratchpad/work/gen/icons/trash_white.png">    </p:cNvPr>
          <p:cNvPicPr>
            <a:picLocks noChangeAspect="1"/>
          </p:cNvPicPr>
          <p:nvPr/>
        </p:nvPicPr>
        <p:blipFill>
          <a:blip r:embed="rId4"/>
          <a:stretch>
            <a:fillRect/>
          </a:stretch>
        </p:blipFill>
        <p:spPr>
          <a:xfrm>
            <a:off x="840151" y="3843955"/>
            <a:ext cx="294803" cy="294803"/>
          </a:xfrm>
          <a:prstGeom prst="rect">
            <a:avLst/>
          </a:prstGeom>
        </p:spPr>
      </p:pic>
      <p:sp>
        <p:nvSpPr>
          <p:cNvPr id="26" name="Shape 19"/>
          <p:cNvSpPr/>
          <p:nvPr/>
        </p:nvSpPr>
        <p:spPr>
          <a:xfrm>
            <a:off x="1133856" y="3653028"/>
            <a:ext cx="292608" cy="292608"/>
          </a:xfrm>
          <a:prstGeom prst="ellipse">
            <a:avLst/>
          </a:prstGeom>
          <a:solidFill>
            <a:srgbClr val="133B6C"/>
          </a:solidFill>
          <a:ln/>
        </p:spPr>
      </p:sp>
      <p:sp>
        <p:nvSpPr>
          <p:cNvPr id="27" name="Text 20"/>
          <p:cNvSpPr txBox="1"/>
          <p:nvPr/>
        </p:nvSpPr>
        <p:spPr>
          <a:xfrm>
            <a:off x="1133856"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4</a:t>
            </a:r>
            <a:endParaRPr lang="en-US" sz="1088" dirty="0"/>
          </a:p>
        </p:txBody>
      </p:sp>
      <p:sp>
        <p:nvSpPr>
          <p:cNvPr id="28" name="Text 21"/>
          <p:cNvSpPr txBox="1"/>
          <p:nvPr/>
        </p:nvSpPr>
        <p:spPr>
          <a:xfrm>
            <a:off x="1408176"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Documentos con datos de asociados en la basura.</a:t>
            </a:r>
            <a:endParaRPr lang="en-US" sz="1200" dirty="0"/>
          </a:p>
        </p:txBody>
      </p:sp>
      <p:sp>
        <p:nvSpPr>
          <p:cNvPr id="29" name="Shape 22"/>
          <p:cNvSpPr/>
          <p:nvPr/>
        </p:nvSpPr>
        <p:spPr>
          <a:xfrm>
            <a:off x="4344314" y="3334512"/>
            <a:ext cx="3503066" cy="1313688"/>
          </a:xfrm>
          <a:prstGeom prst="roundRect">
            <a:avLst>
              <a:gd name="adj" fmla="val 6265"/>
            </a:avLst>
          </a:prstGeom>
          <a:solidFill>
            <a:srgbClr val="F2F5F9"/>
          </a:solidFill>
          <a:ln/>
        </p:spPr>
      </p:sp>
      <p:sp>
        <p:nvSpPr>
          <p:cNvPr id="30" name="Shape 23"/>
          <p:cNvSpPr/>
          <p:nvPr/>
        </p:nvSpPr>
        <p:spPr>
          <a:xfrm>
            <a:off x="4481474" y="3707892"/>
            <a:ext cx="566928" cy="566928"/>
          </a:xfrm>
          <a:prstGeom prst="ellipse">
            <a:avLst/>
          </a:prstGeom>
          <a:solidFill>
            <a:srgbClr val="2E86C7"/>
          </a:solidFill>
          <a:ln/>
        </p:spPr>
      </p:sp>
      <p:pic>
        <p:nvPicPr>
          <p:cNvPr id="31" name="Image 4" descr="/tmp/claude-0/-home-user-riesgo/0ff9ff46-1396-5bd8-b3ac-2280dfbbbc55/scratchpad/work/gen/icons/bell_alert_white.png">    </p:cNvPr>
          <p:cNvPicPr>
            <a:picLocks noChangeAspect="1"/>
          </p:cNvPicPr>
          <p:nvPr/>
        </p:nvPicPr>
        <p:blipFill>
          <a:blip r:embed="rId5"/>
          <a:stretch>
            <a:fillRect/>
          </a:stretch>
        </p:blipFill>
        <p:spPr>
          <a:xfrm>
            <a:off x="4617537" y="3843955"/>
            <a:ext cx="294803" cy="294803"/>
          </a:xfrm>
          <a:prstGeom prst="rect">
            <a:avLst/>
          </a:prstGeom>
        </p:spPr>
      </p:pic>
      <p:sp>
        <p:nvSpPr>
          <p:cNvPr id="32" name="Shape 24"/>
          <p:cNvSpPr/>
          <p:nvPr/>
        </p:nvSpPr>
        <p:spPr>
          <a:xfrm>
            <a:off x="4911242" y="3653028"/>
            <a:ext cx="292608" cy="292608"/>
          </a:xfrm>
          <a:prstGeom prst="ellipse">
            <a:avLst/>
          </a:prstGeom>
          <a:solidFill>
            <a:srgbClr val="133B6C"/>
          </a:solidFill>
          <a:ln/>
        </p:spPr>
      </p:sp>
      <p:sp>
        <p:nvSpPr>
          <p:cNvPr id="33" name="Text 25"/>
          <p:cNvSpPr txBox="1"/>
          <p:nvPr/>
        </p:nvSpPr>
        <p:spPr>
          <a:xfrm>
            <a:off x="4911242"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5</a:t>
            </a:r>
            <a:endParaRPr lang="en-US" sz="1088" dirty="0"/>
          </a:p>
        </p:txBody>
      </p:sp>
      <p:sp>
        <p:nvSpPr>
          <p:cNvPr id="34" name="Text 26"/>
          <p:cNvSpPr txBox="1"/>
          <p:nvPr/>
        </p:nvSpPr>
        <p:spPr>
          <a:xfrm>
            <a:off x="5185562"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Una alerta del sistema que nadie atendió.</a:t>
            </a:r>
            <a:endParaRPr lang="en-US" sz="1200" dirty="0"/>
          </a:p>
        </p:txBody>
      </p:sp>
      <p:sp>
        <p:nvSpPr>
          <p:cNvPr id="35" name="Shape 27"/>
          <p:cNvSpPr/>
          <p:nvPr/>
        </p:nvSpPr>
        <p:spPr>
          <a:xfrm>
            <a:off x="8121701" y="3334512"/>
            <a:ext cx="3503066" cy="1313688"/>
          </a:xfrm>
          <a:prstGeom prst="roundRect">
            <a:avLst>
              <a:gd name="adj" fmla="val 6265"/>
            </a:avLst>
          </a:prstGeom>
          <a:solidFill>
            <a:srgbClr val="F2F5F9"/>
          </a:solidFill>
          <a:ln/>
        </p:spPr>
      </p:sp>
      <p:sp>
        <p:nvSpPr>
          <p:cNvPr id="36" name="Shape 28"/>
          <p:cNvSpPr/>
          <p:nvPr/>
        </p:nvSpPr>
        <p:spPr>
          <a:xfrm>
            <a:off x="8258861" y="3707892"/>
            <a:ext cx="566928" cy="566928"/>
          </a:xfrm>
          <a:prstGeom prst="ellipse">
            <a:avLst/>
          </a:prstGeom>
          <a:solidFill>
            <a:srgbClr val="2E86C7"/>
          </a:solidFill>
          <a:ln/>
        </p:spPr>
      </p:sp>
      <p:pic>
        <p:nvPicPr>
          <p:cNvPr id="37" name="Image 5" descr="/tmp/claude-0/-home-user-riesgo/0ff9ff46-1396-5bd8-b3ac-2280dfbbbc55/scratchpad/work/gen/icons/hand_stop_white.png">    </p:cNvPr>
          <p:cNvPicPr>
            <a:picLocks noChangeAspect="1"/>
          </p:cNvPicPr>
          <p:nvPr/>
        </p:nvPicPr>
        <p:blipFill>
          <a:blip r:embed="rId6"/>
          <a:stretch>
            <a:fillRect/>
          </a:stretch>
        </p:blipFill>
        <p:spPr>
          <a:xfrm>
            <a:off x="8394924" y="3843955"/>
            <a:ext cx="294803" cy="294803"/>
          </a:xfrm>
          <a:prstGeom prst="rect">
            <a:avLst/>
          </a:prstGeom>
        </p:spPr>
      </p:pic>
      <p:sp>
        <p:nvSpPr>
          <p:cNvPr id="38" name="Shape 29"/>
          <p:cNvSpPr/>
          <p:nvPr/>
        </p:nvSpPr>
        <p:spPr>
          <a:xfrm>
            <a:off x="8688629" y="3653028"/>
            <a:ext cx="292608" cy="292608"/>
          </a:xfrm>
          <a:prstGeom prst="ellipse">
            <a:avLst/>
          </a:prstGeom>
          <a:solidFill>
            <a:srgbClr val="133B6C"/>
          </a:solidFill>
          <a:ln/>
        </p:spPr>
      </p:sp>
      <p:sp>
        <p:nvSpPr>
          <p:cNvPr id="39" name="Text 30"/>
          <p:cNvSpPr txBox="1"/>
          <p:nvPr/>
        </p:nvSpPr>
        <p:spPr>
          <a:xfrm>
            <a:off x="8688629"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6</a:t>
            </a:r>
            <a:endParaRPr lang="en-US" sz="1088" dirty="0"/>
          </a:p>
        </p:txBody>
      </p:sp>
      <p:sp>
        <p:nvSpPr>
          <p:cNvPr id="40" name="Text 31"/>
          <p:cNvSpPr txBox="1"/>
          <p:nvPr/>
        </p:nvSpPr>
        <p:spPr>
          <a:xfrm>
            <a:off x="8962949"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Acceso a un área restringida sin autorización.</a:t>
            </a:r>
            <a:endParaRPr lang="en-US" sz="1200" dirty="0"/>
          </a:p>
        </p:txBody>
      </p:sp>
      <p:sp>
        <p:nvSpPr>
          <p:cNvPr id="41" name="Shape 32"/>
          <p:cNvSpPr/>
          <p:nvPr/>
        </p:nvSpPr>
        <p:spPr>
          <a:xfrm>
            <a:off x="566928" y="4794504"/>
            <a:ext cx="3503066" cy="1313688"/>
          </a:xfrm>
          <a:prstGeom prst="roundRect">
            <a:avLst>
              <a:gd name="adj" fmla="val 6265"/>
            </a:avLst>
          </a:prstGeom>
          <a:solidFill>
            <a:srgbClr val="F2F5F9"/>
          </a:solidFill>
          <a:ln/>
        </p:spPr>
      </p:sp>
      <p:sp>
        <p:nvSpPr>
          <p:cNvPr id="42" name="Shape 33"/>
          <p:cNvSpPr/>
          <p:nvPr/>
        </p:nvSpPr>
        <p:spPr>
          <a:xfrm>
            <a:off x="704088" y="5167884"/>
            <a:ext cx="566928" cy="566928"/>
          </a:xfrm>
          <a:prstGeom prst="ellipse">
            <a:avLst/>
          </a:prstGeom>
          <a:solidFill>
            <a:srgbClr val="2E86C7"/>
          </a:solidFill>
          <a:ln/>
        </p:spPr>
      </p:sp>
      <p:pic>
        <p:nvPicPr>
          <p:cNvPr id="43" name="Image 6" descr="/tmp/claude-0/-home-user-riesgo/0ff9ff46-1396-5bd8-b3ac-2280dfbbbc55/scratchpad/work/gen/icons/cctv_white.png">    </p:cNvPr>
          <p:cNvPicPr>
            <a:picLocks noChangeAspect="1"/>
          </p:cNvPicPr>
          <p:nvPr/>
        </p:nvPicPr>
        <p:blipFill>
          <a:blip r:embed="rId7"/>
          <a:stretch>
            <a:fillRect/>
          </a:stretch>
        </p:blipFill>
        <p:spPr>
          <a:xfrm>
            <a:off x="840151" y="5303947"/>
            <a:ext cx="294803" cy="294803"/>
          </a:xfrm>
          <a:prstGeom prst="rect">
            <a:avLst/>
          </a:prstGeom>
        </p:spPr>
      </p:pic>
      <p:sp>
        <p:nvSpPr>
          <p:cNvPr id="44" name="Shape 34"/>
          <p:cNvSpPr/>
          <p:nvPr/>
        </p:nvSpPr>
        <p:spPr>
          <a:xfrm>
            <a:off x="1133856" y="5113020"/>
            <a:ext cx="292608" cy="292608"/>
          </a:xfrm>
          <a:prstGeom prst="ellipse">
            <a:avLst/>
          </a:prstGeom>
          <a:solidFill>
            <a:srgbClr val="133B6C"/>
          </a:solidFill>
          <a:ln/>
        </p:spPr>
      </p:sp>
      <p:sp>
        <p:nvSpPr>
          <p:cNvPr id="45" name="Text 35"/>
          <p:cNvSpPr txBox="1"/>
          <p:nvPr/>
        </p:nvSpPr>
        <p:spPr>
          <a:xfrm>
            <a:off x="1133856"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7</a:t>
            </a:r>
            <a:endParaRPr lang="en-US" sz="1088" dirty="0"/>
          </a:p>
        </p:txBody>
      </p:sp>
      <p:sp>
        <p:nvSpPr>
          <p:cNvPr id="46" name="Text 36"/>
          <p:cNvSpPr txBox="1"/>
          <p:nvPr/>
        </p:nvSpPr>
        <p:spPr>
          <a:xfrm>
            <a:off x="1408176"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Cámara de seguridad bloqueada u obstruida.</a:t>
            </a:r>
            <a:endParaRPr lang="en-US" sz="1200" dirty="0"/>
          </a:p>
        </p:txBody>
      </p:sp>
      <p:sp>
        <p:nvSpPr>
          <p:cNvPr id="47" name="Shape 37"/>
          <p:cNvSpPr/>
          <p:nvPr/>
        </p:nvSpPr>
        <p:spPr>
          <a:xfrm>
            <a:off x="4344314" y="4794504"/>
            <a:ext cx="3503066" cy="1313688"/>
          </a:xfrm>
          <a:prstGeom prst="roundRect">
            <a:avLst>
              <a:gd name="adj" fmla="val 6265"/>
            </a:avLst>
          </a:prstGeom>
          <a:solidFill>
            <a:srgbClr val="F2F5F9"/>
          </a:solidFill>
          <a:ln/>
        </p:spPr>
      </p:sp>
      <p:sp>
        <p:nvSpPr>
          <p:cNvPr id="48" name="Shape 38"/>
          <p:cNvSpPr/>
          <p:nvPr/>
        </p:nvSpPr>
        <p:spPr>
          <a:xfrm>
            <a:off x="4481474" y="5167884"/>
            <a:ext cx="566928" cy="566928"/>
          </a:xfrm>
          <a:prstGeom prst="ellipse">
            <a:avLst/>
          </a:prstGeom>
          <a:solidFill>
            <a:srgbClr val="2E86C7"/>
          </a:solidFill>
          <a:ln/>
        </p:spPr>
      </p:sp>
      <p:pic>
        <p:nvPicPr>
          <p:cNvPr id="49" name="Image 7" descr="/tmp/claude-0/-home-user-riesgo/0ff9ff46-1396-5bd8-b3ac-2280dfbbbc55/scratchpad/work/gen/icons/key_white.png">    </p:cNvPr>
          <p:cNvPicPr>
            <a:picLocks noChangeAspect="1"/>
          </p:cNvPicPr>
          <p:nvPr/>
        </p:nvPicPr>
        <p:blipFill>
          <a:blip r:embed="rId8"/>
          <a:stretch>
            <a:fillRect/>
          </a:stretch>
        </p:blipFill>
        <p:spPr>
          <a:xfrm>
            <a:off x="4617537" y="5303947"/>
            <a:ext cx="294803" cy="294803"/>
          </a:xfrm>
          <a:prstGeom prst="rect">
            <a:avLst/>
          </a:prstGeom>
        </p:spPr>
      </p:pic>
      <p:sp>
        <p:nvSpPr>
          <p:cNvPr id="50" name="Shape 39"/>
          <p:cNvSpPr/>
          <p:nvPr/>
        </p:nvSpPr>
        <p:spPr>
          <a:xfrm>
            <a:off x="4911242" y="5113020"/>
            <a:ext cx="292608" cy="292608"/>
          </a:xfrm>
          <a:prstGeom prst="ellipse">
            <a:avLst/>
          </a:prstGeom>
          <a:solidFill>
            <a:srgbClr val="133B6C"/>
          </a:solidFill>
          <a:ln/>
        </p:spPr>
      </p:sp>
      <p:sp>
        <p:nvSpPr>
          <p:cNvPr id="51" name="Text 40"/>
          <p:cNvSpPr txBox="1"/>
          <p:nvPr/>
        </p:nvSpPr>
        <p:spPr>
          <a:xfrm>
            <a:off x="4911242"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8</a:t>
            </a:r>
            <a:endParaRPr lang="en-US" sz="1088" dirty="0"/>
          </a:p>
        </p:txBody>
      </p:sp>
      <p:sp>
        <p:nvSpPr>
          <p:cNvPr id="52" name="Text 41"/>
          <p:cNvSpPr txBox="1"/>
          <p:nvPr/>
        </p:nvSpPr>
        <p:spPr>
          <a:xfrm>
            <a:off x="5185562"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Llaves de una oficina dejadas a la vista.</a:t>
            </a:r>
            <a:endParaRPr lang="en-US" sz="1200" dirty="0"/>
          </a:p>
        </p:txBody>
      </p:sp>
      <p:sp>
        <p:nvSpPr>
          <p:cNvPr id="53" name="Shape 42"/>
          <p:cNvSpPr/>
          <p:nvPr/>
        </p:nvSpPr>
        <p:spPr>
          <a:xfrm>
            <a:off x="8121701" y="4794504"/>
            <a:ext cx="3503066" cy="1313688"/>
          </a:xfrm>
          <a:prstGeom prst="roundRect">
            <a:avLst>
              <a:gd name="adj" fmla="val 6265"/>
            </a:avLst>
          </a:prstGeom>
          <a:solidFill>
            <a:srgbClr val="F2F5F9"/>
          </a:solidFill>
          <a:ln/>
        </p:spPr>
      </p:sp>
      <p:sp>
        <p:nvSpPr>
          <p:cNvPr id="54" name="Shape 43"/>
          <p:cNvSpPr/>
          <p:nvPr/>
        </p:nvSpPr>
        <p:spPr>
          <a:xfrm>
            <a:off x="8258861" y="5167884"/>
            <a:ext cx="566928" cy="566928"/>
          </a:xfrm>
          <a:prstGeom prst="ellipse">
            <a:avLst/>
          </a:prstGeom>
          <a:solidFill>
            <a:srgbClr val="2E86C7"/>
          </a:solidFill>
          <a:ln/>
        </p:spPr>
      </p:sp>
      <p:pic>
        <p:nvPicPr>
          <p:cNvPr id="55" name="Image 8" descr="/tmp/claude-0/-home-user-riesgo/0ff9ff46-1396-5bd8-b3ac-2280dfbbbc55/scratchpad/work/gen/icons/social_white.png">    </p:cNvPr>
          <p:cNvPicPr>
            <a:picLocks noChangeAspect="1"/>
          </p:cNvPicPr>
          <p:nvPr/>
        </p:nvPicPr>
        <p:blipFill>
          <a:blip r:embed="rId9"/>
          <a:stretch>
            <a:fillRect/>
          </a:stretch>
        </p:blipFill>
        <p:spPr>
          <a:xfrm>
            <a:off x="8394924" y="5303947"/>
            <a:ext cx="294803" cy="294803"/>
          </a:xfrm>
          <a:prstGeom prst="rect">
            <a:avLst/>
          </a:prstGeom>
        </p:spPr>
      </p:pic>
      <p:sp>
        <p:nvSpPr>
          <p:cNvPr id="56" name="Shape 44"/>
          <p:cNvSpPr/>
          <p:nvPr/>
        </p:nvSpPr>
        <p:spPr>
          <a:xfrm>
            <a:off x="8688629" y="5113020"/>
            <a:ext cx="292608" cy="292608"/>
          </a:xfrm>
          <a:prstGeom prst="ellipse">
            <a:avLst/>
          </a:prstGeom>
          <a:solidFill>
            <a:srgbClr val="133B6C"/>
          </a:solidFill>
          <a:ln/>
        </p:spPr>
      </p:sp>
      <p:sp>
        <p:nvSpPr>
          <p:cNvPr id="57" name="Text 45"/>
          <p:cNvSpPr txBox="1"/>
          <p:nvPr/>
        </p:nvSpPr>
        <p:spPr>
          <a:xfrm>
            <a:off x="8688629"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9</a:t>
            </a:r>
            <a:endParaRPr lang="en-US" sz="1088" dirty="0"/>
          </a:p>
        </p:txBody>
      </p:sp>
      <p:sp>
        <p:nvSpPr>
          <p:cNvPr id="58" name="Text 46"/>
          <p:cNvSpPr txBox="1"/>
          <p:nvPr/>
        </p:nvSpPr>
        <p:spPr>
          <a:xfrm>
            <a:off x="8962949"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200" dirty="0"/>
          </a:p>
        </p:txBody>
      </p:sp>
      <p:sp>
        <p:nvSpPr>
          <p:cNvPr id="59" name="Text 4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60" name="Text 4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2026-09-11T02:03:18Z</dcterms:created>
  <dcterms:modified xsi:type="dcterms:W3CDTF">2026-09-11T02:03:18Z</dcterms:modified>
</cp:coreProperties>
</file>