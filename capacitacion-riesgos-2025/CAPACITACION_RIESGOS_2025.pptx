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una gran actividad final y un resumen de todos los riesgos vistos,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Luego revísalos uno por uno EN VOZ ALTA (no hay una diapositiva de respuesta): 1) Documento confidencial expuesto sobre el escritorio. 2) Cable suelto que puede provocar una caída. 3) Contraseña anotada y visible para cualquiera. 4) Puerta de un área restringida abierta. 5) Un dato o cifra registrado de forma incorrecta. 6) Equipo desatendido y sin bloqueo de pantalla. 7) Información institucional comentada fuera de lugar. 8) Gafete o credencial olvidado a la vista de todos. Felicita a quien más encontró y conecta: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Ve verbo por verbo y pide un ejemplo concreto de cada uno aplicado al puesto de alguien en la sala. Deja que la frase final del recuadro azul respire unos segundos: es el cierre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reportar no es "delatar", es proteger a la Cooperativa. Explica los 4 pasos con un ejemplo cotidiano: VEO (algo llama mi atención), IDENTIFICO (reconozco que es un riesgo real), ACTÚO (tomo una acción inmediata) y REPORTO (lo comunico por el canal institucional) — ninguno se puede saltar. Luego lee la situación en voz alta y da un minuto para que el grupo vote por A, B o C antes de señalar la opción C ya marcada en pantalla. Asegúrate de que todos vean y recuerden el canal institucional de reporte del recuadro inferior.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Pide un ejemplo real de cada categoría, vivido por alguien del grupo o de la Cooperativa. Refuerza la frase del recuadro final y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Recorre los 8 elementos y pregunta al grupo cuál consideran más vulnerable en su área de trabajo; prioriza los que generen más discusión. Deja que la frase del recuadro final respire unos segundos antes de pasar al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caso y pide una votación rápida (A, B o C) antes de señalar la opción C ya marcada en pantalla. Pregunta si alguien ha vivido una situación similar con un asociado. Cierra conectando con la idea de canalizar los casos por los canales adecuados de la Cooperativa, sin dar detalles de un procedimiento específico si no está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 ambos deben reportarse, aunque el trasfondo sea distinto. Explica que la diferencia clave es la intención;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señalar el recuadro coloreado ya marcado en pantalla. Explica brevemente el razonamiento en cada una. Cierra reforzando el recuadro final: documentar y reportar siempre, encubrir nunca. Pide ejemplos adicionales de señales de alerta que el grupo haya visto u oído, sin señalar a nadie en específico.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todos los que tocan el proceso influyen en el riesgo final. Recorre brevemente las 8 etapas y pregunta al grupo en qué etapa participan, aunque no trabajen directamente en Créditos. Deja que la respuesta del recuadro final impacte antes de explicarla. Cierra reforzando los tres pilares: corresponsabilidad (cada etapa depende de la calidad de la anterior), prevención (verificar a tiempo evita problemas costosos) y calidad del proceso (un expediente completo protege al asociado y a la Cooperativa).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Recorre cada rol de izquierda a derecha con una frase corta sobre su función. El mensaje debe quedar corto y memorable: todos los roles se ven bajo el mismo mensaje de "todos somos responsables".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 Pregunta si alguien en el grupo ha vivido una interrupción operativa por alguno de los eventos listados abajo. Cierra el bloque de los 8 temas: lo que sigue es un resumen de todos los riesgos vistos, antes de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todos los tipos de riesgo identificados a lo largo de la capacitación. Haz un repaso rápido pidiendo al grupo un ejemplo de cada uno desde su propio puesto de trabajo. Es el puente hacia los casos integradores, donde varios de estos riesgos aparecen combinados en una sola situación.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Da 2-3 minutos para que el grupo (o equipos pequeños) discuta la situación —¿qué riesgos identifican, qué harían, a quién corresponde actuar y qué pasa si no se actúa?— antes de recorrer las tres columnas de respuesta.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Repite la dinámica: da tiempo de discusión en equipos antes de recorrer la respuesta. Conecta esta respuesta con el Tema 4 (reputación) visto anteriormente.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 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 Cierra la sección de casos integradores preguntando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y genera energía y expectativa antes de iniciar el cronómetro. Da 30 segundos reales con un cronómetro visible. Motiva a que compitan entre sí por encontrar más riesgos que en la actividad de apertura. Luego revisa los 9 riesgos uno por uno EN VOZ ALTA (no hay una diapositiva de respuesta): 1) Equipo desbloqueado y sin supervisión. 2) Dispositivo USB desconocido conectado. 3) Conexión fuera de la red segura de la Cooperativa. 4) Documentos con datos de asociados en la basura. 5) Una alerta del sistema que nadie atendió. 6) Acceso a un área restringida sin autorización. 7) Cámara de seguridad bloqueada u obstruida. 8) Llaves de una oficina dejadas a la vista. 9) Un comentario institucional inapropiado en redes sociales. Felicita a quien más encontró y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 es el resumen de toda la capacitación en cinco palabras. Luego 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2.png"/><Relationship Id="rId5" Type="http://schemas.openxmlformats.org/officeDocument/2006/relationships/image" Target="../media/image-11-5.png"/><Relationship Id="rId6" Type="http://schemas.openxmlformats.org/officeDocument/2006/relationships/image" Target="../media/image-11-2.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2.png"/><Relationship Id="rId11" Type="http://schemas.openxmlformats.org/officeDocument/2006/relationships/image" Target="../media/image-11-11.png"/><Relationship Id="rId12" Type="http://schemas.openxmlformats.org/officeDocument/2006/relationships/image" Target="../media/image-11-2.png"/><Relationship Id="rId13" Type="http://schemas.openxmlformats.org/officeDocument/2006/relationships/image" Target="../media/image-11-13.png"/><Relationship Id="rId14" Type="http://schemas.openxmlformats.org/officeDocument/2006/relationships/image" Target="../media/image-11-2.png"/><Relationship Id="rId15" Type="http://schemas.openxmlformats.org/officeDocument/2006/relationships/image" Target="../media/image-11-15.png"/><Relationship Id="rId16" Type="http://schemas.openxmlformats.org/officeDocument/2006/relationships/slideLayout" Target="../slideLayouts/slideLayout1.xml"/><Relationship Id="rId1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2.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2.png"/><Relationship Id="rId7" Type="http://schemas.openxmlformats.org/officeDocument/2006/relationships/image" Target="../media/image-20-7.png"/><Relationship Id="rId8" Type="http://schemas.openxmlformats.org/officeDocument/2006/relationships/image" Target="../media/image-20-2.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2E86C7"/>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2E86C7"/>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2E86C7"/>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2E86C7"/>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2E86C7"/>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2E86C7"/>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2E86C7"/>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2E86C7"/>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Da 30 segundos y luego revisa las respuestas en voz alta con el grupo.</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TODOS SOMOS GESTORES DE RIESGOS</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gestión de riesgos no es responsabilidad de un solo departamento. Sin importar tu cargo, puedes:</a:t>
            </a:r>
            <a:endParaRPr lang="en-US" sz="1500" dirty="0"/>
          </a:p>
        </p:txBody>
      </p:sp>
      <p:sp>
        <p:nvSpPr>
          <p:cNvPr id="6" name="Shape 3"/>
          <p:cNvSpPr/>
          <p:nvPr/>
        </p:nvSpPr>
        <p:spPr>
          <a:xfrm>
            <a:off x="566928" y="2148840"/>
            <a:ext cx="3490874" cy="1431036"/>
          </a:xfrm>
          <a:prstGeom prst="roundRect">
            <a:avLst>
              <a:gd name="adj" fmla="val 6390"/>
            </a:avLst>
          </a:prstGeom>
          <a:solidFill>
            <a:srgbClr val="F2F5F9"/>
          </a:solidFill>
          <a:ln/>
        </p:spPr>
      </p:sp>
      <p:sp>
        <p:nvSpPr>
          <p:cNvPr id="7" name="Shape 4"/>
          <p:cNvSpPr/>
          <p:nvPr/>
        </p:nvSpPr>
        <p:spPr>
          <a:xfrm>
            <a:off x="2028901" y="2313432"/>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449495"/>
            <a:ext cx="294803" cy="294803"/>
          </a:xfrm>
          <a:prstGeom prst="rect">
            <a:avLst/>
          </a:prstGeom>
        </p:spPr>
      </p:pic>
      <p:sp>
        <p:nvSpPr>
          <p:cNvPr id="9" name="Text 5"/>
          <p:cNvSpPr txBox="1"/>
          <p:nvPr/>
        </p:nvSpPr>
        <p:spPr>
          <a:xfrm>
            <a:off x="676656"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148840"/>
            <a:ext cx="3490874" cy="1431036"/>
          </a:xfrm>
          <a:prstGeom prst="roundRect">
            <a:avLst>
              <a:gd name="adj" fmla="val 6390"/>
            </a:avLst>
          </a:prstGeom>
          <a:solidFill>
            <a:srgbClr val="F2F5F9"/>
          </a:solidFill>
          <a:ln/>
        </p:spPr>
      </p:sp>
      <p:sp>
        <p:nvSpPr>
          <p:cNvPr id="11" name="Shape 7"/>
          <p:cNvSpPr/>
          <p:nvPr/>
        </p:nvSpPr>
        <p:spPr>
          <a:xfrm>
            <a:off x="5812384" y="2313432"/>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449495"/>
            <a:ext cx="294803" cy="294803"/>
          </a:xfrm>
          <a:prstGeom prst="rect">
            <a:avLst/>
          </a:prstGeom>
        </p:spPr>
      </p:pic>
      <p:sp>
        <p:nvSpPr>
          <p:cNvPr id="13" name="Text 8"/>
          <p:cNvSpPr txBox="1"/>
          <p:nvPr/>
        </p:nvSpPr>
        <p:spPr>
          <a:xfrm>
            <a:off x="4460138"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148840"/>
            <a:ext cx="3490874" cy="1431036"/>
          </a:xfrm>
          <a:prstGeom prst="roundRect">
            <a:avLst>
              <a:gd name="adj" fmla="val 6390"/>
            </a:avLst>
          </a:prstGeom>
          <a:solidFill>
            <a:srgbClr val="F2F5F9"/>
          </a:solidFill>
          <a:ln/>
        </p:spPr>
      </p:sp>
      <p:sp>
        <p:nvSpPr>
          <p:cNvPr id="15" name="Shape 10"/>
          <p:cNvSpPr/>
          <p:nvPr/>
        </p:nvSpPr>
        <p:spPr>
          <a:xfrm>
            <a:off x="9595866" y="2313432"/>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449495"/>
            <a:ext cx="294803" cy="294803"/>
          </a:xfrm>
          <a:prstGeom prst="rect">
            <a:avLst/>
          </a:prstGeom>
        </p:spPr>
      </p:pic>
      <p:sp>
        <p:nvSpPr>
          <p:cNvPr id="17" name="Text 11"/>
          <p:cNvSpPr txBox="1"/>
          <p:nvPr/>
        </p:nvSpPr>
        <p:spPr>
          <a:xfrm>
            <a:off x="8243621"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3835908"/>
            <a:ext cx="3490874" cy="1431036"/>
          </a:xfrm>
          <a:prstGeom prst="roundRect">
            <a:avLst>
              <a:gd name="adj" fmla="val 6390"/>
            </a:avLst>
          </a:prstGeom>
          <a:solidFill>
            <a:srgbClr val="F2F5F9"/>
          </a:solidFill>
          <a:ln/>
        </p:spPr>
      </p:sp>
      <p:sp>
        <p:nvSpPr>
          <p:cNvPr id="19" name="Shape 13"/>
          <p:cNvSpPr/>
          <p:nvPr/>
        </p:nvSpPr>
        <p:spPr>
          <a:xfrm>
            <a:off x="2028901" y="4000500"/>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136563"/>
            <a:ext cx="294803" cy="294803"/>
          </a:xfrm>
          <a:prstGeom prst="rect">
            <a:avLst/>
          </a:prstGeom>
        </p:spPr>
      </p:pic>
      <p:sp>
        <p:nvSpPr>
          <p:cNvPr id="21" name="Text 14"/>
          <p:cNvSpPr txBox="1"/>
          <p:nvPr/>
        </p:nvSpPr>
        <p:spPr>
          <a:xfrm>
            <a:off x="676656"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3835908"/>
            <a:ext cx="3490874" cy="1431036"/>
          </a:xfrm>
          <a:prstGeom prst="roundRect">
            <a:avLst>
              <a:gd name="adj" fmla="val 6390"/>
            </a:avLst>
          </a:prstGeom>
          <a:solidFill>
            <a:srgbClr val="F2F5F9"/>
          </a:solidFill>
          <a:ln/>
        </p:spPr>
      </p:sp>
      <p:sp>
        <p:nvSpPr>
          <p:cNvPr id="23" name="Shape 16"/>
          <p:cNvSpPr/>
          <p:nvPr/>
        </p:nvSpPr>
        <p:spPr>
          <a:xfrm>
            <a:off x="5812384" y="4000500"/>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136563"/>
            <a:ext cx="294803" cy="294803"/>
          </a:xfrm>
          <a:prstGeom prst="rect">
            <a:avLst/>
          </a:prstGeom>
        </p:spPr>
      </p:pic>
      <p:sp>
        <p:nvSpPr>
          <p:cNvPr id="25" name="Text 17"/>
          <p:cNvSpPr txBox="1"/>
          <p:nvPr/>
        </p:nvSpPr>
        <p:spPr>
          <a:xfrm>
            <a:off x="4460138"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3835908"/>
            <a:ext cx="3490874" cy="1431036"/>
          </a:xfrm>
          <a:prstGeom prst="roundRect">
            <a:avLst>
              <a:gd name="adj" fmla="val 6390"/>
            </a:avLst>
          </a:prstGeom>
          <a:solidFill>
            <a:srgbClr val="F2F5F9"/>
          </a:solidFill>
          <a:ln/>
        </p:spPr>
      </p:sp>
      <p:sp>
        <p:nvSpPr>
          <p:cNvPr id="27" name="Shape 19"/>
          <p:cNvSpPr/>
          <p:nvPr/>
        </p:nvSpPr>
        <p:spPr>
          <a:xfrm>
            <a:off x="9595866" y="4000500"/>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136563"/>
            <a:ext cx="294803" cy="294803"/>
          </a:xfrm>
          <a:prstGeom prst="rect">
            <a:avLst/>
          </a:prstGeom>
        </p:spPr>
      </p:pic>
      <p:sp>
        <p:nvSpPr>
          <p:cNvPr id="29" name="Text 20"/>
          <p:cNvSpPr txBox="1"/>
          <p:nvPr/>
        </p:nvSpPr>
        <p:spPr>
          <a:xfrm>
            <a:off x="8243621"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Shape 21"/>
          <p:cNvSpPr/>
          <p:nvPr/>
        </p:nvSpPr>
        <p:spPr>
          <a:xfrm>
            <a:off x="566928" y="5449824"/>
            <a:ext cx="11057839" cy="658368"/>
          </a:xfrm>
          <a:prstGeom prst="roundRect">
            <a:avLst>
              <a:gd name="adj" fmla="val 13889"/>
            </a:avLst>
          </a:prstGeom>
          <a:solidFill>
            <a:srgbClr val="4FA8E0"/>
          </a:solidFill>
          <a:ln/>
        </p:spPr>
      </p:sp>
      <p:sp>
        <p:nvSpPr>
          <p:cNvPr id="31" name="Text 22"/>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puede aparecer en cualquier lugar. La gestión también.</a:t>
            </a:r>
            <a:endParaRPr lang="en-US" sz="1500" dirty="0"/>
          </a:p>
        </p:txBody>
      </p:sp>
      <p:sp>
        <p:nvSpPr>
          <p:cNvPr id="32"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ESCENARIO: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¿VES UN RIESGO? ¡REPÓRTALO!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1C9E6"/>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La ignoro; seguro alguien más la recogerá.</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Espero a ver si alguien más se da cuenta y actúa.</a:t>
            </a:r>
            <a:endParaRPr lang="en-US" sz="1200" dirty="0"/>
          </a:p>
        </p:txBody>
      </p:sp>
      <p:sp>
        <p:nvSpPr>
          <p:cNvPr id="19" name="Shape 15"/>
          <p:cNvSpPr/>
          <p:nvPr/>
        </p:nvSpPr>
        <p:spPr>
          <a:xfrm>
            <a:off x="566928" y="4200144"/>
            <a:ext cx="11057839" cy="509016"/>
          </a:xfrm>
          <a:prstGeom prst="roundRect">
            <a:avLst>
              <a:gd name="adj" fmla="val 16168"/>
            </a:avLst>
          </a:prstGeom>
          <a:solidFill>
            <a:srgbClr val="E2F4E9"/>
          </a:solidFill>
          <a:ln/>
        </p:spPr>
      </p:sp>
      <p:sp>
        <p:nvSpPr>
          <p:cNvPr id="20" name="Shape 16"/>
          <p:cNvSpPr/>
          <p:nvPr/>
        </p:nvSpPr>
        <p:spPr>
          <a:xfrm>
            <a:off x="768096" y="4253484"/>
            <a:ext cx="402336" cy="402336"/>
          </a:xfrm>
          <a:prstGeom prst="ellipse">
            <a:avLst/>
          </a:prstGeom>
          <a:solidFill>
            <a:srgbClr val="2FAE60"/>
          </a:solidFill>
          <a:ln/>
        </p:spPr>
      </p:sp>
      <p:pic>
        <p:nvPicPr>
          <p:cNvPr id="21" name="Image 1"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2" name="Text 17"/>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La protejo de la vista de otros y reporto la situación de inmediato.</a:t>
            </a:r>
            <a:endParaRPr lang="en-US" sz="1200" dirty="0"/>
          </a:p>
        </p:txBody>
      </p:sp>
      <p:sp>
        <p:nvSpPr>
          <p:cNvPr id="23" name="Text 18"/>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4" name="Shape 19"/>
          <p:cNvSpPr/>
          <p:nvPr/>
        </p:nvSpPr>
        <p:spPr>
          <a:xfrm>
            <a:off x="566928" y="5102352"/>
            <a:ext cx="11057839" cy="566928"/>
          </a:xfrm>
          <a:prstGeom prst="roundRect">
            <a:avLst>
              <a:gd name="adj" fmla="val 16129"/>
            </a:avLst>
          </a:prstGeom>
          <a:solidFill>
            <a:srgbClr val="F2F5F9"/>
          </a:solidFill>
          <a:ln/>
        </p:spPr>
      </p:sp>
      <p:sp>
        <p:nvSpPr>
          <p:cNvPr id="25" name="Text 20"/>
          <p:cNvSpPr txBox="1"/>
          <p:nvPr/>
        </p:nvSpPr>
        <p:spPr>
          <a:xfrm>
            <a:off x="841248" y="5102352"/>
            <a:ext cx="10509199" cy="566928"/>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o esperar deja expuesta información de nuestros asociados. Actuar y reportar (VEO → IDENTIFICO → ACTÚO → REPORTO) es lo que evita que un pequeño descuido se transforme en un problema real.</a:t>
            </a:r>
            <a:endParaRPr lang="en-US" sz="1150" dirty="0"/>
          </a:p>
        </p:txBody>
      </p:sp>
      <p:sp>
        <p:nvSpPr>
          <p:cNvPr id="26" name="Shape 21"/>
          <p:cNvSpPr/>
          <p:nvPr/>
        </p:nvSpPr>
        <p:spPr>
          <a:xfrm>
            <a:off x="566928" y="5779008"/>
            <a:ext cx="11057839" cy="384048"/>
          </a:xfrm>
          <a:prstGeom prst="roundRect">
            <a:avLst>
              <a:gd name="adj" fmla="val 21429"/>
            </a:avLst>
          </a:prstGeom>
          <a:solidFill>
            <a:srgbClr val="133B6C"/>
          </a:solidFill>
          <a:ln/>
        </p:spPr>
      </p:sp>
      <p:sp>
        <p:nvSpPr>
          <p:cNvPr id="27" name="Shape 22"/>
          <p:cNvSpPr/>
          <p:nvPr/>
        </p:nvSpPr>
        <p:spPr>
          <a:xfrm>
            <a:off x="694944" y="5833872"/>
            <a:ext cx="274320" cy="274320"/>
          </a:xfrm>
          <a:prstGeom prst="ellipse">
            <a:avLst/>
          </a:prstGeom>
          <a:solidFill>
            <a:srgbClr val="2E86C7"/>
          </a:solidFill>
          <a:ln/>
        </p:spPr>
      </p:sp>
      <p:pic>
        <p:nvPicPr>
          <p:cNvPr id="28" name="Image 2" descr="/tmp/claude-0/-home-user-riesgo/0ff9ff46-1396-5bd8-b3ac-2280dfbbbc55/scratchpad/work/gen/icons/mail_white.png">    </p:cNvPr>
          <p:cNvPicPr>
            <a:picLocks noChangeAspect="1"/>
          </p:cNvPicPr>
          <p:nvPr/>
        </p:nvPicPr>
        <p:blipFill>
          <a:blip r:embed="rId3"/>
          <a:stretch>
            <a:fillRect/>
          </a:stretch>
        </p:blipFill>
        <p:spPr>
          <a:xfrm>
            <a:off x="756666" y="5895594"/>
            <a:ext cx="150876" cy="150876"/>
          </a:xfrm>
          <a:prstGeom prst="rect">
            <a:avLst/>
          </a:prstGeom>
        </p:spPr>
      </p:pic>
      <p:sp>
        <p:nvSpPr>
          <p:cNvPr id="29" name="Text 23"/>
          <p:cNvSpPr txBox="1"/>
          <p:nvPr/>
        </p:nvSpPr>
        <p:spPr>
          <a:xfrm>
            <a:off x="1097280" y="5779008"/>
            <a:ext cx="10372039" cy="384048"/>
          </a:xfrm>
          <a:prstGeom prst="rect">
            <a:avLst/>
          </a:prstGeom>
          <a:noFill/>
          <a:ln/>
        </p:spPr>
        <p:txBody>
          <a:bodyPr wrap="square" lIns="0" tIns="0" rIns="0" bIns="0" rtlCol="0" anchor="ctr"/>
          <a:lstStyle/>
          <a:p>
            <a:pPr indent="0" marL="0">
              <a:lnSpc>
                <a:spcPct val="100000"/>
              </a:lnSpc>
              <a:buNone/>
            </a:pPr>
            <a:r>
              <a:rPr lang="en-US" sz="10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000" dirty="0"/>
          </a:p>
        </p:txBody>
      </p:sp>
      <p:sp>
        <p:nvSpPr>
          <p:cNvPr id="30"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LOS RIESGOS OPERATIVOS ESTÁN EN NUESTRO DÍA A DÍA</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564892"/>
            <a:ext cx="2545004" cy="2286000"/>
          </a:xfrm>
          <a:prstGeom prst="roundRect">
            <a:avLst>
              <a:gd name="adj" fmla="val 4000"/>
            </a:avLst>
          </a:prstGeom>
          <a:solidFill>
            <a:srgbClr val="F2F5F9"/>
          </a:solidFill>
          <a:ln/>
        </p:spPr>
      </p:sp>
      <p:sp>
        <p:nvSpPr>
          <p:cNvPr id="7" name="Shape 4"/>
          <p:cNvSpPr/>
          <p:nvPr/>
        </p:nvSpPr>
        <p:spPr>
          <a:xfrm>
            <a:off x="1555966" y="2729484"/>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2865547"/>
            <a:ext cx="294803" cy="294803"/>
          </a:xfrm>
          <a:prstGeom prst="rect">
            <a:avLst/>
          </a:prstGeom>
        </p:spPr>
      </p:pic>
      <p:sp>
        <p:nvSpPr>
          <p:cNvPr id="9" name="Text 5"/>
          <p:cNvSpPr txBox="1"/>
          <p:nvPr/>
        </p:nvSpPr>
        <p:spPr>
          <a:xfrm>
            <a:off x="676656"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564892"/>
            <a:ext cx="2545004" cy="2286000"/>
          </a:xfrm>
          <a:prstGeom prst="roundRect">
            <a:avLst>
              <a:gd name="adj" fmla="val 4000"/>
            </a:avLst>
          </a:prstGeom>
          <a:solidFill>
            <a:srgbClr val="F2F5F9"/>
          </a:solidFill>
          <a:ln/>
        </p:spPr>
      </p:sp>
      <p:sp>
        <p:nvSpPr>
          <p:cNvPr id="12" name="Shape 8"/>
          <p:cNvSpPr/>
          <p:nvPr/>
        </p:nvSpPr>
        <p:spPr>
          <a:xfrm>
            <a:off x="4393578" y="2729484"/>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2865547"/>
            <a:ext cx="294803" cy="294803"/>
          </a:xfrm>
          <a:prstGeom prst="rect">
            <a:avLst/>
          </a:prstGeom>
        </p:spPr>
      </p:pic>
      <p:sp>
        <p:nvSpPr>
          <p:cNvPr id="14" name="Text 9"/>
          <p:cNvSpPr txBox="1"/>
          <p:nvPr/>
        </p:nvSpPr>
        <p:spPr>
          <a:xfrm>
            <a:off x="3514268"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564892"/>
            <a:ext cx="2545004" cy="2286000"/>
          </a:xfrm>
          <a:prstGeom prst="roundRect">
            <a:avLst>
              <a:gd name="adj" fmla="val 4000"/>
            </a:avLst>
          </a:prstGeom>
          <a:solidFill>
            <a:srgbClr val="F2F5F9"/>
          </a:solidFill>
          <a:ln/>
        </p:spPr>
      </p:sp>
      <p:sp>
        <p:nvSpPr>
          <p:cNvPr id="17" name="Shape 12"/>
          <p:cNvSpPr/>
          <p:nvPr/>
        </p:nvSpPr>
        <p:spPr>
          <a:xfrm>
            <a:off x="7231189" y="2729484"/>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2865547"/>
            <a:ext cx="294803" cy="294803"/>
          </a:xfrm>
          <a:prstGeom prst="rect">
            <a:avLst/>
          </a:prstGeom>
        </p:spPr>
      </p:pic>
      <p:sp>
        <p:nvSpPr>
          <p:cNvPr id="19" name="Text 13"/>
          <p:cNvSpPr txBox="1"/>
          <p:nvPr/>
        </p:nvSpPr>
        <p:spPr>
          <a:xfrm>
            <a:off x="6351880"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564892"/>
            <a:ext cx="2545004" cy="2286000"/>
          </a:xfrm>
          <a:prstGeom prst="roundRect">
            <a:avLst>
              <a:gd name="adj" fmla="val 4000"/>
            </a:avLst>
          </a:prstGeom>
          <a:solidFill>
            <a:srgbClr val="F2F5F9"/>
          </a:solidFill>
          <a:ln/>
        </p:spPr>
      </p:sp>
      <p:sp>
        <p:nvSpPr>
          <p:cNvPr id="22" name="Shape 16"/>
          <p:cNvSpPr/>
          <p:nvPr/>
        </p:nvSpPr>
        <p:spPr>
          <a:xfrm>
            <a:off x="10068801" y="2729484"/>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2865547"/>
            <a:ext cx="294803" cy="294803"/>
          </a:xfrm>
          <a:prstGeom prst="rect">
            <a:avLst/>
          </a:prstGeom>
        </p:spPr>
      </p:pic>
      <p:sp>
        <p:nvSpPr>
          <p:cNvPr id="24" name="Text 17"/>
          <p:cNvSpPr txBox="1"/>
          <p:nvPr/>
        </p:nvSpPr>
        <p:spPr>
          <a:xfrm>
            <a:off x="9189491"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Shape 19"/>
          <p:cNvSpPr/>
          <p:nvPr/>
        </p:nvSpPr>
        <p:spPr>
          <a:xfrm>
            <a:off x="566928" y="5449824"/>
            <a:ext cx="11057839" cy="658368"/>
          </a:xfrm>
          <a:prstGeom prst="roundRect">
            <a:avLst>
              <a:gd name="adj" fmla="val 13889"/>
            </a:avLst>
          </a:prstGeom>
          <a:solidFill>
            <a:srgbClr val="17A9B0"/>
          </a:solidFill>
          <a:ln/>
        </p:spPr>
      </p:sp>
      <p:sp>
        <p:nvSpPr>
          <p:cNvPr id="27" name="Text 20"/>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operativo no siempre es un gran problema. A veces comienza con un pequeño descuido.</a:t>
            </a:r>
            <a:endParaRPr lang="en-US" sz="150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CONSTRUYE NUESTRA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CUIDEMOS LA REPUTACIÓN DE NUESTRA COOPERATIVA</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REPUTACIÓN = CONFIANZA. Se forma con cada interacción:</a:t>
            </a:r>
            <a:endParaRPr lang="en-US" sz="1500" dirty="0"/>
          </a:p>
        </p:txBody>
      </p:sp>
      <p:sp>
        <p:nvSpPr>
          <p:cNvPr id="6" name="Shape 3"/>
          <p:cNvSpPr/>
          <p:nvPr/>
        </p:nvSpPr>
        <p:spPr>
          <a:xfrm>
            <a:off x="566928" y="2148840"/>
            <a:ext cx="2545004" cy="1431036"/>
          </a:xfrm>
          <a:prstGeom prst="roundRect">
            <a:avLst>
              <a:gd name="adj" fmla="val 6390"/>
            </a:avLst>
          </a:prstGeom>
          <a:solidFill>
            <a:srgbClr val="F2F5F9"/>
          </a:solidFill>
          <a:ln/>
        </p:spPr>
      </p:sp>
      <p:sp>
        <p:nvSpPr>
          <p:cNvPr id="7" name="Shape 4"/>
          <p:cNvSpPr/>
          <p:nvPr/>
        </p:nvSpPr>
        <p:spPr>
          <a:xfrm>
            <a:off x="1555966" y="2313432"/>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148840"/>
            <a:ext cx="2545004" cy="1431036"/>
          </a:xfrm>
          <a:prstGeom prst="roundRect">
            <a:avLst>
              <a:gd name="adj" fmla="val 6390"/>
            </a:avLst>
          </a:prstGeom>
          <a:solidFill>
            <a:srgbClr val="F2F5F9"/>
          </a:solidFill>
          <a:ln/>
        </p:spPr>
      </p:sp>
      <p:sp>
        <p:nvSpPr>
          <p:cNvPr id="11" name="Shape 7"/>
          <p:cNvSpPr/>
          <p:nvPr/>
        </p:nvSpPr>
        <p:spPr>
          <a:xfrm>
            <a:off x="4393578" y="2313432"/>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449495"/>
            <a:ext cx="294803" cy="294803"/>
          </a:xfrm>
          <a:prstGeom prst="rect">
            <a:avLst/>
          </a:prstGeom>
        </p:spPr>
      </p:pic>
      <p:sp>
        <p:nvSpPr>
          <p:cNvPr id="13" name="Text 8"/>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148840"/>
            <a:ext cx="2545004" cy="1431036"/>
          </a:xfrm>
          <a:prstGeom prst="roundRect">
            <a:avLst>
              <a:gd name="adj" fmla="val 6390"/>
            </a:avLst>
          </a:prstGeom>
          <a:solidFill>
            <a:srgbClr val="F2F5F9"/>
          </a:solidFill>
          <a:ln/>
        </p:spPr>
      </p:sp>
      <p:sp>
        <p:nvSpPr>
          <p:cNvPr id="15" name="Shape 10"/>
          <p:cNvSpPr/>
          <p:nvPr/>
        </p:nvSpPr>
        <p:spPr>
          <a:xfrm>
            <a:off x="7231189" y="2313432"/>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449495"/>
            <a:ext cx="294803" cy="294803"/>
          </a:xfrm>
          <a:prstGeom prst="rect">
            <a:avLst/>
          </a:prstGeom>
        </p:spPr>
      </p:pic>
      <p:sp>
        <p:nvSpPr>
          <p:cNvPr id="17" name="Text 11"/>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148840"/>
            <a:ext cx="2545004" cy="1431036"/>
          </a:xfrm>
          <a:prstGeom prst="roundRect">
            <a:avLst>
              <a:gd name="adj" fmla="val 6390"/>
            </a:avLst>
          </a:prstGeom>
          <a:solidFill>
            <a:srgbClr val="F2F5F9"/>
          </a:solidFill>
          <a:ln/>
        </p:spPr>
      </p:sp>
      <p:sp>
        <p:nvSpPr>
          <p:cNvPr id="19" name="Shape 13"/>
          <p:cNvSpPr/>
          <p:nvPr/>
        </p:nvSpPr>
        <p:spPr>
          <a:xfrm>
            <a:off x="10068801" y="2313432"/>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449495"/>
            <a:ext cx="294803" cy="294803"/>
          </a:xfrm>
          <a:prstGeom prst="rect">
            <a:avLst/>
          </a:prstGeom>
        </p:spPr>
      </p:pic>
      <p:sp>
        <p:nvSpPr>
          <p:cNvPr id="21" name="Text 14"/>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3835908"/>
            <a:ext cx="2545004" cy="1431036"/>
          </a:xfrm>
          <a:prstGeom prst="roundRect">
            <a:avLst>
              <a:gd name="adj" fmla="val 6390"/>
            </a:avLst>
          </a:prstGeom>
          <a:solidFill>
            <a:srgbClr val="F2F5F9"/>
          </a:solidFill>
          <a:ln/>
        </p:spPr>
      </p:sp>
      <p:sp>
        <p:nvSpPr>
          <p:cNvPr id="23" name="Shape 16"/>
          <p:cNvSpPr/>
          <p:nvPr/>
        </p:nvSpPr>
        <p:spPr>
          <a:xfrm>
            <a:off x="1555966" y="4000500"/>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136563"/>
            <a:ext cx="294803" cy="294803"/>
          </a:xfrm>
          <a:prstGeom prst="rect">
            <a:avLst/>
          </a:prstGeom>
        </p:spPr>
      </p:pic>
      <p:sp>
        <p:nvSpPr>
          <p:cNvPr id="25" name="Text 17"/>
          <p:cNvSpPr txBox="1"/>
          <p:nvPr/>
        </p:nvSpPr>
        <p:spPr>
          <a:xfrm>
            <a:off x="676656"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3835908"/>
            <a:ext cx="2545004" cy="1431036"/>
          </a:xfrm>
          <a:prstGeom prst="roundRect">
            <a:avLst>
              <a:gd name="adj" fmla="val 6390"/>
            </a:avLst>
          </a:prstGeom>
          <a:solidFill>
            <a:srgbClr val="F2F5F9"/>
          </a:solidFill>
          <a:ln/>
        </p:spPr>
      </p:sp>
      <p:sp>
        <p:nvSpPr>
          <p:cNvPr id="27" name="Shape 19"/>
          <p:cNvSpPr/>
          <p:nvPr/>
        </p:nvSpPr>
        <p:spPr>
          <a:xfrm>
            <a:off x="4393578" y="4000500"/>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136563"/>
            <a:ext cx="294803" cy="294803"/>
          </a:xfrm>
          <a:prstGeom prst="rect">
            <a:avLst/>
          </a:prstGeom>
        </p:spPr>
      </p:pic>
      <p:sp>
        <p:nvSpPr>
          <p:cNvPr id="29" name="Text 20"/>
          <p:cNvSpPr txBox="1"/>
          <p:nvPr/>
        </p:nvSpPr>
        <p:spPr>
          <a:xfrm>
            <a:off x="3514268"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3835908"/>
            <a:ext cx="2545004" cy="1431036"/>
          </a:xfrm>
          <a:prstGeom prst="roundRect">
            <a:avLst>
              <a:gd name="adj" fmla="val 6390"/>
            </a:avLst>
          </a:prstGeom>
          <a:solidFill>
            <a:srgbClr val="F2F5F9"/>
          </a:solidFill>
          <a:ln/>
        </p:spPr>
      </p:sp>
      <p:sp>
        <p:nvSpPr>
          <p:cNvPr id="31" name="Shape 22"/>
          <p:cNvSpPr/>
          <p:nvPr/>
        </p:nvSpPr>
        <p:spPr>
          <a:xfrm>
            <a:off x="7231189" y="4000500"/>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136563"/>
            <a:ext cx="294803" cy="294803"/>
          </a:xfrm>
          <a:prstGeom prst="rect">
            <a:avLst/>
          </a:prstGeom>
        </p:spPr>
      </p:pic>
      <p:sp>
        <p:nvSpPr>
          <p:cNvPr id="33" name="Text 23"/>
          <p:cNvSpPr txBox="1"/>
          <p:nvPr/>
        </p:nvSpPr>
        <p:spPr>
          <a:xfrm>
            <a:off x="6351880"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3835908"/>
            <a:ext cx="2545004" cy="1431036"/>
          </a:xfrm>
          <a:prstGeom prst="roundRect">
            <a:avLst>
              <a:gd name="adj" fmla="val 6390"/>
            </a:avLst>
          </a:prstGeom>
          <a:solidFill>
            <a:srgbClr val="F2F5F9"/>
          </a:solidFill>
          <a:ln/>
        </p:spPr>
      </p:sp>
      <p:sp>
        <p:nvSpPr>
          <p:cNvPr id="35" name="Shape 25"/>
          <p:cNvSpPr/>
          <p:nvPr/>
        </p:nvSpPr>
        <p:spPr>
          <a:xfrm>
            <a:off x="10068801" y="4000500"/>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136563"/>
            <a:ext cx="294803" cy="294803"/>
          </a:xfrm>
          <a:prstGeom prst="rect">
            <a:avLst/>
          </a:prstGeom>
        </p:spPr>
      </p:pic>
      <p:sp>
        <p:nvSpPr>
          <p:cNvPr id="37" name="Text 26"/>
          <p:cNvSpPr txBox="1"/>
          <p:nvPr/>
        </p:nvSpPr>
        <p:spPr>
          <a:xfrm>
            <a:off x="9189491"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Shape 27"/>
          <p:cNvSpPr/>
          <p:nvPr/>
        </p:nvSpPr>
        <p:spPr>
          <a:xfrm>
            <a:off x="566928" y="5449824"/>
            <a:ext cx="11057839" cy="658368"/>
          </a:xfrm>
          <a:prstGeom prst="roundRect">
            <a:avLst>
              <a:gd name="adj" fmla="val 13889"/>
            </a:avLst>
          </a:prstGeom>
          <a:solidFill>
            <a:srgbClr val="3A6EA5"/>
          </a:solidFill>
          <a:ln/>
        </p:spPr>
      </p:sp>
      <p:sp>
        <p:nvSpPr>
          <p:cNvPr id="39" name="Text 28"/>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Una experiencia puede durar minutos. Una mala reputación puede durar mucho más.</a:t>
            </a:r>
            <a:endParaRPr lang="en-US" sz="15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CASO: UN ASOCIADO INSATISFECHO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3A6EA5"/>
          </a:solidFill>
          <a:ln/>
        </p:spPr>
      </p:sp>
      <p:pic>
        <p:nvPicPr>
          <p:cNvPr id="7" name="Image 0" descr="/tmp/claude-0/-home-user-riesgo/0ff9ff46-1396-5bd8-b3ac-2280dfbbbc55/scratchpad/work/gen/icons/heart_cra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6BED7"/>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Un asociado se queja fuertemente en agencia por una demora y luego publica un comentario negativo sobre COMEDICA DE R.L. en redes sociales.</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Ignorar la publicación; no es asunto mío.</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Responder de forma informal y a título personal en redes sociales.</a:t>
            </a:r>
            <a:endParaRPr lang="en-US" sz="1200" dirty="0"/>
          </a:p>
        </p:txBody>
      </p:sp>
      <p:sp>
        <p:nvSpPr>
          <p:cNvPr id="19" name="Shape 15"/>
          <p:cNvSpPr/>
          <p:nvPr/>
        </p:nvSpPr>
        <p:spPr>
          <a:xfrm>
            <a:off x="566928" y="4200144"/>
            <a:ext cx="11057839" cy="509016"/>
          </a:xfrm>
          <a:prstGeom prst="roundRect">
            <a:avLst>
              <a:gd name="adj" fmla="val 16168"/>
            </a:avLst>
          </a:prstGeom>
          <a:solidFill>
            <a:srgbClr val="E2F4E9"/>
          </a:solidFill>
          <a:ln/>
        </p:spPr>
      </p:sp>
      <p:sp>
        <p:nvSpPr>
          <p:cNvPr id="20" name="Shape 16"/>
          <p:cNvSpPr/>
          <p:nvPr/>
        </p:nvSpPr>
        <p:spPr>
          <a:xfrm>
            <a:off x="768096" y="4253484"/>
            <a:ext cx="402336" cy="402336"/>
          </a:xfrm>
          <a:prstGeom prst="ellipse">
            <a:avLst/>
          </a:prstGeom>
          <a:solidFill>
            <a:srgbClr val="2FAE60"/>
          </a:solidFill>
          <a:ln/>
        </p:spPr>
      </p:sp>
      <p:pic>
        <p:nvPicPr>
          <p:cNvPr id="21" name="Image 1"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2" name="Text 17"/>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200" dirty="0"/>
          </a:p>
        </p:txBody>
      </p:sp>
      <p:sp>
        <p:nvSpPr>
          <p:cNvPr id="23" name="Text 18"/>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4" name="Shape 19"/>
          <p:cNvSpPr/>
          <p:nvPr/>
        </p:nvSpPr>
        <p:spPr>
          <a:xfrm>
            <a:off x="566928" y="5102352"/>
            <a:ext cx="11057839" cy="868680"/>
          </a:xfrm>
          <a:prstGeom prst="roundRect">
            <a:avLst>
              <a:gd name="adj" fmla="val 10526"/>
            </a:avLst>
          </a:prstGeom>
          <a:solidFill>
            <a:srgbClr val="F2F5F9"/>
          </a:solidFill>
          <a:ln/>
        </p:spPr>
      </p:sp>
      <p:sp>
        <p:nvSpPr>
          <p:cNvPr id="25" name="Text 20"/>
          <p:cNvSpPr txBox="1"/>
          <p:nvPr/>
        </p:nvSpPr>
        <p:spPr>
          <a:xfrm>
            <a:off x="841248" y="5102352"/>
            <a:ext cx="10509199" cy="868680"/>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la situación o responder de forma personal e informal puede agravar el impacto reputacional. Escuchar al asociado y canalizar el caso protege su confianza y la imagen institucional de la Cooperativa.</a:t>
            </a:r>
            <a:endParaRPr lang="en-US" sz="1150" dirty="0"/>
          </a:p>
        </p:txBody>
      </p:sp>
      <p:sp>
        <p:nvSpPr>
          <p:cNvPr id="26"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ERROR VS. FRAUDE</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FRAUDE Y ERRORES: APRENDAMOS A PREVENIRLOS</a:t>
            </a:r>
            <a:endParaRPr lang="en-US" sz="24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286000"/>
            <a:ext cx="11057839" cy="681228"/>
          </a:xfrm>
          <a:prstGeom prst="roundRect">
            <a:avLst>
              <a:gd name="adj" fmla="val 12081"/>
            </a:avLst>
          </a:prstGeom>
          <a:solidFill>
            <a:srgbClr val="F2F5F9"/>
          </a:solidFill>
          <a:ln/>
        </p:spPr>
      </p:sp>
      <p:sp>
        <p:nvSpPr>
          <p:cNvPr id="7" name="Shape 4"/>
          <p:cNvSpPr/>
          <p:nvPr/>
        </p:nvSpPr>
        <p:spPr>
          <a:xfrm>
            <a:off x="768096" y="2425446"/>
            <a:ext cx="402336" cy="402336"/>
          </a:xfrm>
          <a:prstGeom prst="ellipse">
            <a:avLst/>
          </a:prstGeom>
          <a:solidFill>
            <a:srgbClr val="1B4F91"/>
          </a:solidFill>
          <a:ln/>
        </p:spPr>
      </p:sp>
      <p:sp>
        <p:nvSpPr>
          <p:cNvPr id="8" name="Text 5"/>
          <p:cNvSpPr txBox="1"/>
          <p:nvPr/>
        </p:nvSpPr>
        <p:spPr>
          <a:xfrm>
            <a:off x="768096" y="2416302"/>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1</a:t>
            </a:r>
            <a:endParaRPr lang="en-US" sz="1496" dirty="0"/>
          </a:p>
        </p:txBody>
      </p:sp>
      <p:sp>
        <p:nvSpPr>
          <p:cNvPr id="9" name="Text 6"/>
          <p:cNvSpPr txBox="1"/>
          <p:nvPr/>
        </p:nvSpPr>
        <p:spPr>
          <a:xfrm>
            <a:off x="1344168" y="2286000"/>
            <a:ext cx="7765999" cy="681228"/>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1.  Un colaborador digita mal el monto de un depósito por una distracción.</a:t>
            </a:r>
            <a:endParaRPr lang="en-US" sz="1200" dirty="0"/>
          </a:p>
        </p:txBody>
      </p:sp>
      <p:sp>
        <p:nvSpPr>
          <p:cNvPr id="10" name="Shape 7"/>
          <p:cNvSpPr/>
          <p:nvPr/>
        </p:nvSpPr>
        <p:spPr>
          <a:xfrm>
            <a:off x="8744407" y="2443734"/>
            <a:ext cx="1325880" cy="365760"/>
          </a:xfrm>
          <a:prstGeom prst="roundRect">
            <a:avLst>
              <a:gd name="adj" fmla="val 50000"/>
            </a:avLst>
          </a:prstGeom>
          <a:solidFill>
            <a:srgbClr val="F0AD35"/>
          </a:solidFill>
          <a:ln/>
        </p:spPr>
      </p:sp>
      <p:sp>
        <p:nvSpPr>
          <p:cNvPr id="11" name="Text 8"/>
          <p:cNvSpPr txBox="1"/>
          <p:nvPr/>
        </p:nvSpPr>
        <p:spPr>
          <a:xfrm>
            <a:off x="8744407" y="2443734"/>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566928" y="3095244"/>
            <a:ext cx="11057839" cy="681228"/>
          </a:xfrm>
          <a:prstGeom prst="roundRect">
            <a:avLst>
              <a:gd name="adj" fmla="val 12081"/>
            </a:avLst>
          </a:prstGeom>
          <a:solidFill>
            <a:srgbClr val="F2F5F9"/>
          </a:solidFill>
          <a:ln/>
        </p:spPr>
      </p:sp>
      <p:sp>
        <p:nvSpPr>
          <p:cNvPr id="13" name="Shape 10"/>
          <p:cNvSpPr/>
          <p:nvPr/>
        </p:nvSpPr>
        <p:spPr>
          <a:xfrm>
            <a:off x="768096" y="3234690"/>
            <a:ext cx="402336" cy="402336"/>
          </a:xfrm>
          <a:prstGeom prst="ellipse">
            <a:avLst/>
          </a:prstGeom>
          <a:solidFill>
            <a:srgbClr val="1B4F91"/>
          </a:solidFill>
          <a:ln/>
        </p:spPr>
      </p:sp>
      <p:sp>
        <p:nvSpPr>
          <p:cNvPr id="14" name="Text 11"/>
          <p:cNvSpPr txBox="1"/>
          <p:nvPr/>
        </p:nvSpPr>
        <p:spPr>
          <a:xfrm>
            <a:off x="768096" y="322554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2</a:t>
            </a:r>
            <a:endParaRPr lang="en-US" sz="1496" dirty="0"/>
          </a:p>
        </p:txBody>
      </p:sp>
      <p:sp>
        <p:nvSpPr>
          <p:cNvPr id="15" name="Text 12"/>
          <p:cNvSpPr txBox="1"/>
          <p:nvPr/>
        </p:nvSpPr>
        <p:spPr>
          <a:xfrm>
            <a:off x="1344168" y="3095244"/>
            <a:ext cx="7765999" cy="681228"/>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2.  Un colaborador aprueba trámites usando documentación que sabe que fue alterada.</a:t>
            </a:r>
            <a:endParaRPr lang="en-US" sz="1200" dirty="0"/>
          </a:p>
        </p:txBody>
      </p:sp>
      <p:sp>
        <p:nvSpPr>
          <p:cNvPr id="16" name="Shape 13"/>
          <p:cNvSpPr/>
          <p:nvPr/>
        </p:nvSpPr>
        <p:spPr>
          <a:xfrm>
            <a:off x="10161727" y="3252978"/>
            <a:ext cx="1371600" cy="365760"/>
          </a:xfrm>
          <a:prstGeom prst="roundRect">
            <a:avLst>
              <a:gd name="adj" fmla="val 50000"/>
            </a:avLst>
          </a:prstGeom>
          <a:solidFill>
            <a:srgbClr val="E0392B"/>
          </a:solidFill>
          <a:ln/>
        </p:spPr>
      </p:sp>
      <p:sp>
        <p:nvSpPr>
          <p:cNvPr id="17" name="Text 14"/>
          <p:cNvSpPr txBox="1"/>
          <p:nvPr/>
        </p:nvSpPr>
        <p:spPr>
          <a:xfrm>
            <a:off x="10161727" y="3252978"/>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18" name="Shape 15"/>
          <p:cNvSpPr/>
          <p:nvPr/>
        </p:nvSpPr>
        <p:spPr>
          <a:xfrm>
            <a:off x="566928" y="3904488"/>
            <a:ext cx="11057839" cy="681228"/>
          </a:xfrm>
          <a:prstGeom prst="roundRect">
            <a:avLst>
              <a:gd name="adj" fmla="val 12081"/>
            </a:avLst>
          </a:prstGeom>
          <a:solidFill>
            <a:srgbClr val="F2F5F9"/>
          </a:solidFill>
          <a:ln/>
        </p:spPr>
      </p:sp>
      <p:sp>
        <p:nvSpPr>
          <p:cNvPr id="19" name="Shape 16"/>
          <p:cNvSpPr/>
          <p:nvPr/>
        </p:nvSpPr>
        <p:spPr>
          <a:xfrm>
            <a:off x="768096" y="4043934"/>
            <a:ext cx="402336" cy="402336"/>
          </a:xfrm>
          <a:prstGeom prst="ellipse">
            <a:avLst/>
          </a:prstGeom>
          <a:solidFill>
            <a:srgbClr val="1B4F91"/>
          </a:solidFill>
          <a:ln/>
        </p:spPr>
      </p:sp>
      <p:sp>
        <p:nvSpPr>
          <p:cNvPr id="20" name="Text 17"/>
          <p:cNvSpPr txBox="1"/>
          <p:nvPr/>
        </p:nvSpPr>
        <p:spPr>
          <a:xfrm>
            <a:off x="768096" y="403479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3</a:t>
            </a:r>
            <a:endParaRPr lang="en-US" sz="1496" dirty="0"/>
          </a:p>
        </p:txBody>
      </p:sp>
      <p:sp>
        <p:nvSpPr>
          <p:cNvPr id="21" name="Text 18"/>
          <p:cNvSpPr txBox="1"/>
          <p:nvPr/>
        </p:nvSpPr>
        <p:spPr>
          <a:xfrm>
            <a:off x="1344168" y="3904488"/>
            <a:ext cx="7765999" cy="681228"/>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3.  Un colaborador olvida adjuntar un documento por exceso de carga de trabajo.</a:t>
            </a:r>
            <a:endParaRPr lang="en-US" sz="1200" dirty="0"/>
          </a:p>
        </p:txBody>
      </p:sp>
      <p:sp>
        <p:nvSpPr>
          <p:cNvPr id="22" name="Shape 19"/>
          <p:cNvSpPr/>
          <p:nvPr/>
        </p:nvSpPr>
        <p:spPr>
          <a:xfrm>
            <a:off x="8744407" y="4062222"/>
            <a:ext cx="1325880" cy="365760"/>
          </a:xfrm>
          <a:prstGeom prst="roundRect">
            <a:avLst>
              <a:gd name="adj" fmla="val 50000"/>
            </a:avLst>
          </a:prstGeom>
          <a:solidFill>
            <a:srgbClr val="F0AD35"/>
          </a:solidFill>
          <a:ln/>
        </p:spPr>
      </p:sp>
      <p:sp>
        <p:nvSpPr>
          <p:cNvPr id="23" name="Text 20"/>
          <p:cNvSpPr txBox="1"/>
          <p:nvPr/>
        </p:nvSpPr>
        <p:spPr>
          <a:xfrm>
            <a:off x="8744407" y="4062222"/>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24" name="Shape 21"/>
          <p:cNvSpPr/>
          <p:nvPr/>
        </p:nvSpPr>
        <p:spPr>
          <a:xfrm>
            <a:off x="566928" y="4713732"/>
            <a:ext cx="11057839" cy="681228"/>
          </a:xfrm>
          <a:prstGeom prst="roundRect">
            <a:avLst>
              <a:gd name="adj" fmla="val 12081"/>
            </a:avLst>
          </a:prstGeom>
          <a:solidFill>
            <a:srgbClr val="F2F5F9"/>
          </a:solidFill>
          <a:ln/>
        </p:spPr>
      </p:sp>
      <p:sp>
        <p:nvSpPr>
          <p:cNvPr id="25" name="Shape 22"/>
          <p:cNvSpPr/>
          <p:nvPr/>
        </p:nvSpPr>
        <p:spPr>
          <a:xfrm>
            <a:off x="768096" y="4853178"/>
            <a:ext cx="402336" cy="402336"/>
          </a:xfrm>
          <a:prstGeom prst="ellipse">
            <a:avLst/>
          </a:prstGeom>
          <a:solidFill>
            <a:srgbClr val="1B4F91"/>
          </a:solidFill>
          <a:ln/>
        </p:spPr>
      </p:sp>
      <p:sp>
        <p:nvSpPr>
          <p:cNvPr id="26" name="Text 23"/>
          <p:cNvSpPr txBox="1"/>
          <p:nvPr/>
        </p:nvSpPr>
        <p:spPr>
          <a:xfrm>
            <a:off x="768096" y="4844034"/>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4</a:t>
            </a:r>
            <a:endParaRPr lang="en-US" sz="1496" dirty="0"/>
          </a:p>
        </p:txBody>
      </p:sp>
      <p:sp>
        <p:nvSpPr>
          <p:cNvPr id="27" name="Text 24"/>
          <p:cNvSpPr txBox="1"/>
          <p:nvPr/>
        </p:nvSpPr>
        <p:spPr>
          <a:xfrm>
            <a:off x="1344168" y="4713732"/>
            <a:ext cx="7765999" cy="681228"/>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4.  Un colaborador oculta una diferencia de efectivo alterando un registro a propósito.</a:t>
            </a:r>
            <a:endParaRPr lang="en-US" sz="1200" dirty="0"/>
          </a:p>
        </p:txBody>
      </p:sp>
      <p:sp>
        <p:nvSpPr>
          <p:cNvPr id="28" name="Shape 25"/>
          <p:cNvSpPr/>
          <p:nvPr/>
        </p:nvSpPr>
        <p:spPr>
          <a:xfrm>
            <a:off x="10161727" y="4871466"/>
            <a:ext cx="1371600" cy="365760"/>
          </a:xfrm>
          <a:prstGeom prst="roundRect">
            <a:avLst>
              <a:gd name="adj" fmla="val 50000"/>
            </a:avLst>
          </a:prstGeom>
          <a:solidFill>
            <a:srgbClr val="E0392B"/>
          </a:solidFill>
          <a:ln/>
        </p:spPr>
      </p:sp>
      <p:sp>
        <p:nvSpPr>
          <p:cNvPr id="29" name="Text 26"/>
          <p:cNvSpPr txBox="1"/>
          <p:nvPr/>
        </p:nvSpPr>
        <p:spPr>
          <a:xfrm>
            <a:off x="10161727" y="4871466"/>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559552"/>
            <a:ext cx="11057839" cy="548640"/>
          </a:xfrm>
          <a:prstGeom prst="roundRect">
            <a:avLst>
              <a:gd name="adj" fmla="val 16667"/>
            </a:avLst>
          </a:prstGeom>
          <a:solidFill>
            <a:srgbClr val="1B4F91"/>
          </a:solidFill>
          <a:ln/>
        </p:spPr>
      </p:sp>
      <p:sp>
        <p:nvSpPr>
          <p:cNvPr id="31" name="Text 28"/>
          <p:cNvSpPr txBox="1"/>
          <p:nvPr/>
        </p:nvSpPr>
        <p:spPr>
          <a:xfrm>
            <a:off x="841248" y="5559552"/>
            <a:ext cx="10509199" cy="548640"/>
          </a:xfrm>
          <a:prstGeom prst="rect">
            <a:avLst/>
          </a:prstGeom>
          <a:noFill/>
          <a:ln/>
        </p:spPr>
        <p:txBody>
          <a:bodyPr wrap="square" lIns="0" tIns="0" rIns="0" bIns="0" rtlCol="0" anchor="ctr"/>
          <a:lstStyle/>
          <a:p>
            <a:pPr algn="ctr" indent="0" marL="0">
              <a:lnSpc>
                <a:spcPct val="110000"/>
              </a:lnSpc>
              <a:buNone/>
            </a:pPr>
            <a:r>
              <a:rPr lang="en-US" sz="1250" b="1" dirty="0">
                <a:solidFill>
                  <a:srgbClr val="FFFFFF"/>
                </a:solidFill>
                <a:latin typeface="Calibri" pitchFamily="34" charset="0"/>
                <a:ea typeface="Calibri" pitchFamily="34" charset="-122"/>
                <a:cs typeface="Calibri" pitchFamily="34" charset="-120"/>
              </a:rPr>
              <a:t>Señal de alerta: presión inusual por aprobar algo muy rápido. Actúa: documenta con hechos y repórtalo — nunca lo encubras.</a:t>
            </a:r>
            <a:endParaRPr lang="en-US" sz="1250" dirty="0"/>
          </a:p>
        </p:txBody>
      </p:sp>
      <p:sp>
        <p:nvSpPr>
          <p:cNvPr id="32"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RIESGO CREDITICIO NO ES SOLO RESPONSABILIDAD DE CRÉDITOS</a:t>
            </a:r>
            <a:endParaRPr lang="en-US" sz="2200" dirty="0"/>
          </a:p>
        </p:txBody>
      </p:sp>
      <p:sp>
        <p:nvSpPr>
          <p:cNvPr id="5" name="Shape 2"/>
          <p:cNvSpPr/>
          <p:nvPr/>
        </p:nvSpPr>
        <p:spPr>
          <a:xfrm>
            <a:off x="1514818" y="2112264"/>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329434"/>
            <a:ext cx="434340" cy="434340"/>
          </a:xfrm>
          <a:prstGeom prst="rect">
            <a:avLst/>
          </a:prstGeom>
        </p:spPr>
      </p:pic>
      <p:sp>
        <p:nvSpPr>
          <p:cNvPr id="7" name="Text 3"/>
          <p:cNvSpPr txBox="1"/>
          <p:nvPr/>
        </p:nvSpPr>
        <p:spPr>
          <a:xfrm>
            <a:off x="62179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400300"/>
            <a:ext cx="292608" cy="292608"/>
          </a:xfrm>
          <a:prstGeom prst="rect">
            <a:avLst/>
          </a:prstGeom>
        </p:spPr>
      </p:pic>
      <p:sp>
        <p:nvSpPr>
          <p:cNvPr id="9" name="Shape 4"/>
          <p:cNvSpPr/>
          <p:nvPr/>
        </p:nvSpPr>
        <p:spPr>
          <a:xfrm>
            <a:off x="4279278" y="2112264"/>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329434"/>
            <a:ext cx="434340" cy="434340"/>
          </a:xfrm>
          <a:prstGeom prst="rect">
            <a:avLst/>
          </a:prstGeom>
        </p:spPr>
      </p:pic>
      <p:sp>
        <p:nvSpPr>
          <p:cNvPr id="11" name="Text 5"/>
          <p:cNvSpPr txBox="1"/>
          <p:nvPr/>
        </p:nvSpPr>
        <p:spPr>
          <a:xfrm>
            <a:off x="338625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400300"/>
            <a:ext cx="292608" cy="292608"/>
          </a:xfrm>
          <a:prstGeom prst="rect">
            <a:avLst/>
          </a:prstGeom>
        </p:spPr>
      </p:pic>
      <p:sp>
        <p:nvSpPr>
          <p:cNvPr id="13" name="Shape 6"/>
          <p:cNvSpPr/>
          <p:nvPr/>
        </p:nvSpPr>
        <p:spPr>
          <a:xfrm>
            <a:off x="7043738" y="2112264"/>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329434"/>
            <a:ext cx="434340" cy="434340"/>
          </a:xfrm>
          <a:prstGeom prst="rect">
            <a:avLst/>
          </a:prstGeom>
        </p:spPr>
      </p:pic>
      <p:sp>
        <p:nvSpPr>
          <p:cNvPr id="15" name="Text 7"/>
          <p:cNvSpPr txBox="1"/>
          <p:nvPr/>
        </p:nvSpPr>
        <p:spPr>
          <a:xfrm>
            <a:off x="615071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400300"/>
            <a:ext cx="292608" cy="292608"/>
          </a:xfrm>
          <a:prstGeom prst="rect">
            <a:avLst/>
          </a:prstGeom>
        </p:spPr>
      </p:pic>
      <p:sp>
        <p:nvSpPr>
          <p:cNvPr id="17" name="Shape 8"/>
          <p:cNvSpPr/>
          <p:nvPr/>
        </p:nvSpPr>
        <p:spPr>
          <a:xfrm>
            <a:off x="9808197" y="2112264"/>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329434"/>
            <a:ext cx="434340" cy="434340"/>
          </a:xfrm>
          <a:prstGeom prst="rect">
            <a:avLst/>
          </a:prstGeom>
        </p:spPr>
      </p:pic>
      <p:sp>
        <p:nvSpPr>
          <p:cNvPr id="19" name="Text 9"/>
          <p:cNvSpPr txBox="1"/>
          <p:nvPr/>
        </p:nvSpPr>
        <p:spPr>
          <a:xfrm>
            <a:off x="8915171"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511296"/>
            <a:ext cx="292608" cy="292608"/>
          </a:xfrm>
          <a:prstGeom prst="rect">
            <a:avLst/>
          </a:prstGeom>
        </p:spPr>
      </p:pic>
      <p:sp>
        <p:nvSpPr>
          <p:cNvPr id="21" name="Shape 10"/>
          <p:cNvSpPr/>
          <p:nvPr/>
        </p:nvSpPr>
        <p:spPr>
          <a:xfrm>
            <a:off x="1514818" y="3840480"/>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057650"/>
            <a:ext cx="434340" cy="434340"/>
          </a:xfrm>
          <a:prstGeom prst="rect">
            <a:avLst/>
          </a:prstGeom>
        </p:spPr>
      </p:pic>
      <p:sp>
        <p:nvSpPr>
          <p:cNvPr id="23" name="Text 11"/>
          <p:cNvSpPr txBox="1"/>
          <p:nvPr/>
        </p:nvSpPr>
        <p:spPr>
          <a:xfrm>
            <a:off x="62179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128516"/>
            <a:ext cx="292608" cy="292608"/>
          </a:xfrm>
          <a:prstGeom prst="rect">
            <a:avLst/>
          </a:prstGeom>
        </p:spPr>
      </p:pic>
      <p:sp>
        <p:nvSpPr>
          <p:cNvPr id="25" name="Shape 12"/>
          <p:cNvSpPr/>
          <p:nvPr/>
        </p:nvSpPr>
        <p:spPr>
          <a:xfrm>
            <a:off x="4279278" y="3840480"/>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057650"/>
            <a:ext cx="434340" cy="434340"/>
          </a:xfrm>
          <a:prstGeom prst="rect">
            <a:avLst/>
          </a:prstGeom>
        </p:spPr>
      </p:pic>
      <p:sp>
        <p:nvSpPr>
          <p:cNvPr id="27" name="Text 13"/>
          <p:cNvSpPr txBox="1"/>
          <p:nvPr/>
        </p:nvSpPr>
        <p:spPr>
          <a:xfrm>
            <a:off x="338625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128516"/>
            <a:ext cx="292608" cy="292608"/>
          </a:xfrm>
          <a:prstGeom prst="rect">
            <a:avLst/>
          </a:prstGeom>
        </p:spPr>
      </p:pic>
      <p:sp>
        <p:nvSpPr>
          <p:cNvPr id="29" name="Shape 14"/>
          <p:cNvSpPr/>
          <p:nvPr/>
        </p:nvSpPr>
        <p:spPr>
          <a:xfrm>
            <a:off x="7043738" y="3840480"/>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057650"/>
            <a:ext cx="434340" cy="434340"/>
          </a:xfrm>
          <a:prstGeom prst="rect">
            <a:avLst/>
          </a:prstGeom>
        </p:spPr>
      </p:pic>
      <p:sp>
        <p:nvSpPr>
          <p:cNvPr id="31" name="Text 15"/>
          <p:cNvSpPr txBox="1"/>
          <p:nvPr/>
        </p:nvSpPr>
        <p:spPr>
          <a:xfrm>
            <a:off x="615071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128516"/>
            <a:ext cx="292608" cy="292608"/>
          </a:xfrm>
          <a:prstGeom prst="rect">
            <a:avLst/>
          </a:prstGeom>
        </p:spPr>
      </p:pic>
      <p:sp>
        <p:nvSpPr>
          <p:cNvPr id="33" name="Shape 16"/>
          <p:cNvSpPr/>
          <p:nvPr/>
        </p:nvSpPr>
        <p:spPr>
          <a:xfrm>
            <a:off x="9808197" y="3840480"/>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057650"/>
            <a:ext cx="434340" cy="434340"/>
          </a:xfrm>
          <a:prstGeom prst="rect">
            <a:avLst/>
          </a:prstGeom>
        </p:spPr>
      </p:pic>
      <p:sp>
        <p:nvSpPr>
          <p:cNvPr id="35" name="Text 17"/>
          <p:cNvSpPr txBox="1"/>
          <p:nvPr/>
        </p:nvSpPr>
        <p:spPr>
          <a:xfrm>
            <a:off x="8915171"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Shape 18"/>
          <p:cNvSpPr/>
          <p:nvPr/>
        </p:nvSpPr>
        <p:spPr>
          <a:xfrm>
            <a:off x="566928" y="5486400"/>
            <a:ext cx="11057839" cy="621792"/>
          </a:xfrm>
          <a:prstGeom prst="roundRect">
            <a:avLst>
              <a:gd name="adj" fmla="val 14706"/>
            </a:avLst>
          </a:prstGeom>
          <a:solidFill>
            <a:srgbClr val="2E5EAA"/>
          </a:solidFill>
          <a:ln/>
        </p:spPr>
      </p:sp>
      <p:sp>
        <p:nvSpPr>
          <p:cNvPr id="37" name="Text 19"/>
          <p:cNvSpPr txBox="1"/>
          <p:nvPr/>
        </p:nvSpPr>
        <p:spPr>
          <a:xfrm>
            <a:off x="841248" y="5486400"/>
            <a:ext cx="10509199" cy="621792"/>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¿En qué etapa puede aparecer un riesgo?  EN TODAS.</a:t>
            </a:r>
            <a:endParaRPr lang="en-US" sz="1500" dirty="0"/>
          </a:p>
        </p:txBody>
      </p:sp>
      <p:sp>
        <p:nvSpPr>
          <p:cNvPr id="3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¿QUIÉN ES RESPONSABLE DE GESTIONAR LOS RIESGOS?</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riesgos es parte de nuestro trabajo.</a:t>
            </a:r>
            <a:endParaRPr lang="en-US" sz="1500" dirty="0"/>
          </a:p>
        </p:txBody>
      </p:sp>
      <p:sp>
        <p:nvSpPr>
          <p:cNvPr id="6" name="Shape 3"/>
          <p:cNvSpPr/>
          <p:nvPr/>
        </p:nvSpPr>
        <p:spPr>
          <a:xfrm>
            <a:off x="566928" y="2286000"/>
            <a:ext cx="11057839" cy="566928"/>
          </a:xfrm>
          <a:prstGeom prst="roundRect">
            <a:avLst>
              <a:gd name="adj" fmla="val 16129"/>
            </a:avLst>
          </a:prstGeom>
          <a:solidFill>
            <a:srgbClr val="1FB6C9"/>
          </a:solidFill>
          <a:ln/>
        </p:spPr>
      </p:sp>
      <p:sp>
        <p:nvSpPr>
          <p:cNvPr id="7" name="Text 4"/>
          <p:cNvSpPr txBox="1"/>
          <p:nvPr/>
        </p:nvSpPr>
        <p:spPr>
          <a:xfrm>
            <a:off x="566928" y="2286000"/>
            <a:ext cx="11057839" cy="566928"/>
          </a:xfrm>
          <a:prstGeom prst="rect">
            <a:avLst/>
          </a:prstGeom>
          <a:noFill/>
          <a:ln/>
        </p:spPr>
        <p:txBody>
          <a:bodyPr wrap="square" lIns="0" tIns="0" rIns="0" bIns="0" rtlCol="0" anchor="ctr"/>
          <a:lstStyle/>
          <a:p>
            <a:pPr algn="ctr" indent="0" marL="0">
              <a:buNone/>
            </a:pPr>
            <a:r>
              <a:rPr lang="en-US" sz="1900" b="1" spc="300" kern="0" dirty="0">
                <a:solidFill>
                  <a:srgbClr val="FFFFFF"/>
                </a:solidFill>
                <a:latin typeface="Cambria" pitchFamily="34" charset="0"/>
                <a:ea typeface="Cambria" pitchFamily="34" charset="-122"/>
                <a:cs typeface="Cambria" pitchFamily="34" charset="-120"/>
              </a:rPr>
              <a:t>TODOS SOMOS RESPONSABLES</a:t>
            </a:r>
            <a:endParaRPr lang="en-US" sz="1900" dirty="0"/>
          </a:p>
        </p:txBody>
      </p:sp>
      <p:sp>
        <p:nvSpPr>
          <p:cNvPr id="8" name="Shape 5"/>
          <p:cNvSpPr/>
          <p:nvPr/>
        </p:nvSpPr>
        <p:spPr>
          <a:xfrm>
            <a:off x="1213683" y="3840480"/>
            <a:ext cx="713232" cy="713232"/>
          </a:xfrm>
          <a:prstGeom prst="ellipse">
            <a:avLst/>
          </a:prstGeom>
          <a:solidFill>
            <a:srgbClr val="133B6C"/>
          </a:solidFill>
          <a:ln/>
        </p:spPr>
      </p:sp>
      <p:pic>
        <p:nvPicPr>
          <p:cNvPr id="9" name="Image 0" descr="/tmp/claude-0/-home-user-riesgo/0ff9ff46-1396-5bd8-b3ac-2280dfbbbc55/scratchpad/work/gen/icons/person_white.png">    </p:cNvPr>
          <p:cNvPicPr>
            <a:picLocks noChangeAspect="1"/>
          </p:cNvPicPr>
          <p:nvPr/>
        </p:nvPicPr>
        <p:blipFill>
          <a:blip r:embed="rId1"/>
          <a:stretch>
            <a:fillRect/>
          </a:stretch>
        </p:blipFill>
        <p:spPr>
          <a:xfrm>
            <a:off x="1391991" y="4018788"/>
            <a:ext cx="356616" cy="356616"/>
          </a:xfrm>
          <a:prstGeom prst="rect">
            <a:avLst/>
          </a:prstGeom>
        </p:spPr>
      </p:pic>
      <p:sp>
        <p:nvSpPr>
          <p:cNvPr id="10" name="Text 6"/>
          <p:cNvSpPr txBox="1"/>
          <p:nvPr/>
        </p:nvSpPr>
        <p:spPr>
          <a:xfrm>
            <a:off x="612648"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1" name="Shape 7"/>
          <p:cNvSpPr/>
          <p:nvPr/>
        </p:nvSpPr>
        <p:spPr>
          <a:xfrm>
            <a:off x="3476457" y="3840480"/>
            <a:ext cx="713232" cy="713232"/>
          </a:xfrm>
          <a:prstGeom prst="ellipse">
            <a:avLst/>
          </a:prstGeom>
          <a:solidFill>
            <a:srgbClr val="133B6C"/>
          </a:solidFill>
          <a:ln/>
        </p:spPr>
      </p:sp>
      <p:pic>
        <p:nvPicPr>
          <p:cNvPr id="12" name="Image 1" descr="/tmp/claude-0/-home-user-riesgo/0ff9ff46-1396-5bd8-b3ac-2280dfbbbc55/scratchpad/work/gen/icons/briefcase_white.png">    </p:cNvPr>
          <p:cNvPicPr>
            <a:picLocks noChangeAspect="1"/>
          </p:cNvPicPr>
          <p:nvPr/>
        </p:nvPicPr>
        <p:blipFill>
          <a:blip r:embed="rId2"/>
          <a:stretch>
            <a:fillRect/>
          </a:stretch>
        </p:blipFill>
        <p:spPr>
          <a:xfrm>
            <a:off x="3654765" y="4018788"/>
            <a:ext cx="356616" cy="356616"/>
          </a:xfrm>
          <a:prstGeom prst="rect">
            <a:avLst/>
          </a:prstGeom>
        </p:spPr>
      </p:pic>
      <p:sp>
        <p:nvSpPr>
          <p:cNvPr id="13" name="Text 8"/>
          <p:cNvSpPr txBox="1"/>
          <p:nvPr/>
        </p:nvSpPr>
        <p:spPr>
          <a:xfrm>
            <a:off x="2875422"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4" name="Shape 9"/>
          <p:cNvSpPr/>
          <p:nvPr/>
        </p:nvSpPr>
        <p:spPr>
          <a:xfrm>
            <a:off x="5739232" y="3840480"/>
            <a:ext cx="713232" cy="713232"/>
          </a:xfrm>
          <a:prstGeom prst="ellipse">
            <a:avLst/>
          </a:prstGeom>
          <a:solidFill>
            <a:srgbClr val="133B6C"/>
          </a:solidFill>
          <a:ln/>
        </p:spPr>
      </p:sp>
      <p:pic>
        <p:nvPicPr>
          <p:cNvPr id="15" name="Image 2" descr="/tmp/claude-0/-home-user-riesgo/0ff9ff46-1396-5bd8-b3ac-2280dfbbbc55/scratchpad/work/gen/icons/crown_white.png">    </p:cNvPr>
          <p:cNvPicPr>
            <a:picLocks noChangeAspect="1"/>
          </p:cNvPicPr>
          <p:nvPr/>
        </p:nvPicPr>
        <p:blipFill>
          <a:blip r:embed="rId3"/>
          <a:stretch>
            <a:fillRect/>
          </a:stretch>
        </p:blipFill>
        <p:spPr>
          <a:xfrm>
            <a:off x="5917540" y="4018788"/>
            <a:ext cx="356616" cy="356616"/>
          </a:xfrm>
          <a:prstGeom prst="rect">
            <a:avLst/>
          </a:prstGeom>
        </p:spPr>
      </p:pic>
      <p:sp>
        <p:nvSpPr>
          <p:cNvPr id="16" name="Text 10"/>
          <p:cNvSpPr txBox="1"/>
          <p:nvPr/>
        </p:nvSpPr>
        <p:spPr>
          <a:xfrm>
            <a:off x="5138196"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7" name="Shape 11"/>
          <p:cNvSpPr/>
          <p:nvPr/>
        </p:nvSpPr>
        <p:spPr>
          <a:xfrm>
            <a:off x="8002006" y="3840480"/>
            <a:ext cx="713232" cy="713232"/>
          </a:xfrm>
          <a:prstGeom prst="ellipse">
            <a:avLst/>
          </a:prstGeom>
          <a:solidFill>
            <a:srgbClr val="133B6C"/>
          </a:solidFill>
          <a:ln/>
        </p:spPr>
      </p:sp>
      <p:pic>
        <p:nvPicPr>
          <p:cNvPr id="18" name="Image 3" descr="/tmp/claude-0/-home-user-riesgo/0ff9ff46-1396-5bd8-b3ac-2280dfbbbc55/scratchpad/work/gen/icons/shield_check_white.png">    </p:cNvPr>
          <p:cNvPicPr>
            <a:picLocks noChangeAspect="1"/>
          </p:cNvPicPr>
          <p:nvPr/>
        </p:nvPicPr>
        <p:blipFill>
          <a:blip r:embed="rId4"/>
          <a:stretch>
            <a:fillRect/>
          </a:stretch>
        </p:blipFill>
        <p:spPr>
          <a:xfrm>
            <a:off x="8180314" y="4018788"/>
            <a:ext cx="356616" cy="356616"/>
          </a:xfrm>
          <a:prstGeom prst="rect">
            <a:avLst/>
          </a:prstGeom>
        </p:spPr>
      </p:pic>
      <p:sp>
        <p:nvSpPr>
          <p:cNvPr id="19" name="Text 12"/>
          <p:cNvSpPr txBox="1"/>
          <p:nvPr/>
        </p:nvSpPr>
        <p:spPr>
          <a:xfrm>
            <a:off x="7400971"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20" name="Shape 13"/>
          <p:cNvSpPr/>
          <p:nvPr/>
        </p:nvSpPr>
        <p:spPr>
          <a:xfrm>
            <a:off x="10264780" y="3840480"/>
            <a:ext cx="713232" cy="713232"/>
          </a:xfrm>
          <a:prstGeom prst="ellipse">
            <a:avLst/>
          </a:prstGeom>
          <a:solidFill>
            <a:srgbClr val="133B6C"/>
          </a:solidFill>
          <a:ln/>
        </p:spPr>
      </p:sp>
      <p:pic>
        <p:nvPicPr>
          <p:cNvPr id="21" name="Image 4" descr="/tmp/claude-0/-home-user-riesgo/0ff9ff46-1396-5bd8-b3ac-2280dfbbbc55/scratchpad/work/gen/icons/clipboard_check_white.png">    </p:cNvPr>
          <p:cNvPicPr>
            <a:picLocks noChangeAspect="1"/>
          </p:cNvPicPr>
          <p:nvPr/>
        </p:nvPicPr>
        <p:blipFill>
          <a:blip r:embed="rId5"/>
          <a:stretch>
            <a:fillRect/>
          </a:stretch>
        </p:blipFill>
        <p:spPr>
          <a:xfrm>
            <a:off x="10443088" y="4018788"/>
            <a:ext cx="356616" cy="356616"/>
          </a:xfrm>
          <a:prstGeom prst="rect">
            <a:avLst/>
          </a:prstGeom>
        </p:spPr>
      </p:pic>
      <p:sp>
        <p:nvSpPr>
          <p:cNvPr id="22" name="Text 14"/>
          <p:cNvSpPr txBox="1"/>
          <p:nvPr/>
        </p:nvSpPr>
        <p:spPr>
          <a:xfrm>
            <a:off x="9663745"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3" name="Text 15"/>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4" name="Text 1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TAMBIÉN SON RIESGOS FINANCIEROS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000" b="1" dirty="0">
                <a:solidFill>
                  <a:srgbClr val="133B6C"/>
                </a:solidFill>
                <a:latin typeface="Cambria" pitchFamily="34" charset="0"/>
                <a:ea typeface="Cambria" pitchFamily="34" charset="-122"/>
                <a:cs typeface="Cambria" pitchFamily="34" charset="-120"/>
              </a:rPr>
              <a:t>RIESGOS AMBIENTALES Y SOCIALES:</a:t>
            </a:r>
            <a:endParaRPr lang="en-US" sz="2000" dirty="0"/>
          </a:p>
          <a:p>
            <a:pPr algn="l" indent="0" marL="0">
              <a:lnSpc>
                <a:spcPct val="102000"/>
              </a:lnSpc>
              <a:buNone/>
            </a:pPr>
            <a:r>
              <a:rPr lang="en-US" sz="2000" b="1" dirty="0">
                <a:solidFill>
                  <a:srgbClr val="133B6C"/>
                </a:solidFill>
                <a:latin typeface="Cambria" pitchFamily="34" charset="0"/>
                <a:ea typeface="Cambria" pitchFamily="34" charset="-122"/>
                <a:cs typeface="Cambria" pitchFamily="34" charset="-120"/>
              </a:rPr>
              <a:t>TAMBIÉN SON RIESGOS FINANCIEROS</a:t>
            </a:r>
            <a:endParaRPr lang="en-US" sz="2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238372" y="2148840"/>
            <a:ext cx="868680" cy="86868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55542" y="2366010"/>
            <a:ext cx="434340" cy="434340"/>
          </a:xfrm>
          <a:prstGeom prst="rect">
            <a:avLst/>
          </a:prstGeom>
        </p:spPr>
      </p:pic>
      <p:sp>
        <p:nvSpPr>
          <p:cNvPr id="8" name="Text 4"/>
          <p:cNvSpPr txBox="1"/>
          <p:nvPr/>
        </p:nvSpPr>
        <p:spPr>
          <a:xfrm>
            <a:off x="621792"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Evento ambiental o social</a:t>
            </a:r>
            <a:endParaRPr lang="en-US" sz="11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41336" y="2446020"/>
            <a:ext cx="274320" cy="274320"/>
          </a:xfrm>
          <a:prstGeom prst="rect">
            <a:avLst/>
          </a:prstGeom>
        </p:spPr>
      </p:pic>
      <p:sp>
        <p:nvSpPr>
          <p:cNvPr id="10" name="Shape 5"/>
          <p:cNvSpPr/>
          <p:nvPr/>
        </p:nvSpPr>
        <p:spPr>
          <a:xfrm>
            <a:off x="3449940" y="2148840"/>
            <a:ext cx="868680" cy="868680"/>
          </a:xfrm>
          <a:prstGeom prst="ellipse">
            <a:avLst/>
          </a:prstGeom>
          <a:solidFill>
            <a:srgbClr val="0EA5A0"/>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67110" y="2366010"/>
            <a:ext cx="434340" cy="434340"/>
          </a:xfrm>
          <a:prstGeom prst="rect">
            <a:avLst/>
          </a:prstGeom>
        </p:spPr>
      </p:pic>
      <p:sp>
        <p:nvSpPr>
          <p:cNvPr id="12" name="Text 6"/>
          <p:cNvSpPr txBox="1"/>
          <p:nvPr/>
        </p:nvSpPr>
        <p:spPr>
          <a:xfrm>
            <a:off x="2833360"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Afecta a personas y operaciones</a:t>
            </a:r>
            <a:endParaRPr lang="en-US" sz="115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52904" y="2446020"/>
            <a:ext cx="274320" cy="274320"/>
          </a:xfrm>
          <a:prstGeom prst="rect">
            <a:avLst/>
          </a:prstGeom>
        </p:spPr>
      </p:pic>
      <p:sp>
        <p:nvSpPr>
          <p:cNvPr id="14" name="Shape 7"/>
          <p:cNvSpPr/>
          <p:nvPr/>
        </p:nvSpPr>
        <p:spPr>
          <a:xfrm>
            <a:off x="5661508" y="2148840"/>
            <a:ext cx="868680" cy="868680"/>
          </a:xfrm>
          <a:prstGeom prst="ellipse">
            <a:avLst/>
          </a:prstGeom>
          <a:solidFill>
            <a:srgbClr val="0EA5A0"/>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78678" y="2366010"/>
            <a:ext cx="434340" cy="434340"/>
          </a:xfrm>
          <a:prstGeom prst="rect">
            <a:avLst/>
          </a:prstGeom>
        </p:spPr>
      </p:pic>
      <p:sp>
        <p:nvSpPr>
          <p:cNvPr id="16" name="Text 8"/>
          <p:cNvSpPr txBox="1"/>
          <p:nvPr/>
        </p:nvSpPr>
        <p:spPr>
          <a:xfrm>
            <a:off x="5044928"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Interrupción o deterioro</a:t>
            </a:r>
            <a:endParaRPr lang="en-US" sz="115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64472" y="2446020"/>
            <a:ext cx="274320" cy="274320"/>
          </a:xfrm>
          <a:prstGeom prst="rect">
            <a:avLst/>
          </a:prstGeom>
        </p:spPr>
      </p:pic>
      <p:sp>
        <p:nvSpPr>
          <p:cNvPr id="18" name="Shape 9"/>
          <p:cNvSpPr/>
          <p:nvPr/>
        </p:nvSpPr>
        <p:spPr>
          <a:xfrm>
            <a:off x="7873075" y="2148840"/>
            <a:ext cx="868680" cy="868680"/>
          </a:xfrm>
          <a:prstGeom prst="ellipse">
            <a:avLst/>
          </a:prstGeom>
          <a:solidFill>
            <a:srgbClr val="0EA5A0"/>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90245" y="2366010"/>
            <a:ext cx="434340" cy="434340"/>
          </a:xfrm>
          <a:prstGeom prst="rect">
            <a:avLst/>
          </a:prstGeom>
        </p:spPr>
      </p:pic>
      <p:sp>
        <p:nvSpPr>
          <p:cNvPr id="20" name="Text 10"/>
          <p:cNvSpPr txBox="1"/>
          <p:nvPr/>
        </p:nvSpPr>
        <p:spPr>
          <a:xfrm>
            <a:off x="7256496"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económico</a:t>
            </a:r>
            <a:endParaRPr lang="en-US" sz="115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76039" y="2446020"/>
            <a:ext cx="274320" cy="274320"/>
          </a:xfrm>
          <a:prstGeom prst="rect">
            <a:avLst/>
          </a:prstGeom>
        </p:spPr>
      </p:pic>
      <p:sp>
        <p:nvSpPr>
          <p:cNvPr id="22" name="Shape 11"/>
          <p:cNvSpPr/>
          <p:nvPr/>
        </p:nvSpPr>
        <p:spPr>
          <a:xfrm>
            <a:off x="10084643" y="2148840"/>
            <a:ext cx="868680" cy="86868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301813" y="2366010"/>
            <a:ext cx="434340" cy="434340"/>
          </a:xfrm>
          <a:prstGeom prst="rect">
            <a:avLst/>
          </a:prstGeom>
        </p:spPr>
      </p:pic>
      <p:sp>
        <p:nvSpPr>
          <p:cNvPr id="24" name="Text 12"/>
          <p:cNvSpPr txBox="1"/>
          <p:nvPr/>
        </p:nvSpPr>
        <p:spPr>
          <a:xfrm>
            <a:off x="9468063"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financiero</a:t>
            </a:r>
            <a:endParaRPr lang="en-US" sz="1150" dirty="0"/>
          </a:p>
        </p:txBody>
      </p:sp>
      <p:sp>
        <p:nvSpPr>
          <p:cNvPr id="25" name="Text 13"/>
          <p:cNvSpPr txBox="1"/>
          <p:nvPr/>
        </p:nvSpPr>
        <p:spPr>
          <a:xfrm>
            <a:off x="566928" y="3703320"/>
            <a:ext cx="11057839" cy="256032"/>
          </a:xfrm>
          <a:prstGeom prst="rect">
            <a:avLst/>
          </a:prstGeom>
          <a:noFill/>
          <a:ln/>
        </p:spPr>
        <p:txBody>
          <a:bodyPr wrap="square" lIns="0" tIns="0" rIns="0" bIns="0" rtlCol="0" anchor="ctr"/>
          <a:lstStyle/>
          <a:p>
            <a:pPr algn="ctr" indent="0" marL="0">
              <a:buNone/>
            </a:pPr>
            <a:r>
              <a:rPr lang="en-US" sz="1200" b="1" spc="150" kern="0" dirty="0">
                <a:solidFill>
                  <a:srgbClr val="5B6B82"/>
                </a:solidFill>
                <a:latin typeface="Calibri" pitchFamily="34" charset="0"/>
                <a:ea typeface="Calibri" pitchFamily="34" charset="-122"/>
                <a:cs typeface="Calibri" pitchFamily="34" charset="-120"/>
              </a:rPr>
              <a:t>EVENTOS QUE PUEDEN AFECTARNOS</a:t>
            </a:r>
            <a:endParaRPr lang="en-US" sz="1200" dirty="0"/>
          </a:p>
        </p:txBody>
      </p:sp>
      <p:sp>
        <p:nvSpPr>
          <p:cNvPr id="26" name="Shape 14"/>
          <p:cNvSpPr/>
          <p:nvPr/>
        </p:nvSpPr>
        <p:spPr>
          <a:xfrm>
            <a:off x="1361816" y="4087368"/>
            <a:ext cx="621792" cy="621792"/>
          </a:xfrm>
          <a:prstGeom prst="ellipse">
            <a:avLst/>
          </a:prstGeom>
          <a:solidFill>
            <a:srgbClr val="133B6C"/>
          </a:solidFill>
          <a:ln/>
        </p:spPr>
      </p:sp>
      <p:pic>
        <p:nvPicPr>
          <p:cNvPr id="27" name="Image 9" descr="/tmp/claude-0/-home-user-riesgo/0ff9ff46-1396-5bd8-b3ac-2280dfbbbc55/scratchpad/work/gen/icons/earthquake_white.png">    </p:cNvPr>
          <p:cNvPicPr>
            <a:picLocks noChangeAspect="1"/>
          </p:cNvPicPr>
          <p:nvPr/>
        </p:nvPicPr>
        <p:blipFill>
          <a:blip r:embed="rId10"/>
          <a:stretch>
            <a:fillRect/>
          </a:stretch>
        </p:blipFill>
        <p:spPr>
          <a:xfrm>
            <a:off x="1517264" y="4242816"/>
            <a:ext cx="310896" cy="310896"/>
          </a:xfrm>
          <a:prstGeom prst="rect">
            <a:avLst/>
          </a:prstGeom>
        </p:spPr>
      </p:pic>
      <p:sp>
        <p:nvSpPr>
          <p:cNvPr id="28" name="Text 15"/>
          <p:cNvSpPr txBox="1"/>
          <p:nvPr/>
        </p:nvSpPr>
        <p:spPr>
          <a:xfrm>
            <a:off x="640080"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Terremotos</a:t>
            </a:r>
            <a:endParaRPr lang="en-US" sz="1150" dirty="0"/>
          </a:p>
        </p:txBody>
      </p:sp>
      <p:sp>
        <p:nvSpPr>
          <p:cNvPr id="29" name="Shape 16"/>
          <p:cNvSpPr/>
          <p:nvPr/>
        </p:nvSpPr>
        <p:spPr>
          <a:xfrm>
            <a:off x="3573384" y="4087368"/>
            <a:ext cx="621792" cy="621792"/>
          </a:xfrm>
          <a:prstGeom prst="ellipse">
            <a:avLst/>
          </a:prstGeom>
          <a:solidFill>
            <a:srgbClr val="133B6C"/>
          </a:solidFill>
          <a:ln/>
        </p:spPr>
      </p:sp>
      <p:pic>
        <p:nvPicPr>
          <p:cNvPr id="30" name="Image 10" descr="/tmp/claude-0/-home-user-riesgo/0ff9ff46-1396-5bd8-b3ac-2280dfbbbc55/scratchpad/work/gen/icons/flood_white.png">    </p:cNvPr>
          <p:cNvPicPr>
            <a:picLocks noChangeAspect="1"/>
          </p:cNvPicPr>
          <p:nvPr/>
        </p:nvPicPr>
        <p:blipFill>
          <a:blip r:embed="rId11"/>
          <a:stretch>
            <a:fillRect/>
          </a:stretch>
        </p:blipFill>
        <p:spPr>
          <a:xfrm>
            <a:off x="3728832" y="4242816"/>
            <a:ext cx="310896" cy="310896"/>
          </a:xfrm>
          <a:prstGeom prst="rect">
            <a:avLst/>
          </a:prstGeom>
        </p:spPr>
      </p:pic>
      <p:sp>
        <p:nvSpPr>
          <p:cNvPr id="31" name="Text 17"/>
          <p:cNvSpPr txBox="1"/>
          <p:nvPr/>
        </p:nvSpPr>
        <p:spPr>
          <a:xfrm>
            <a:off x="2851648"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Inundaciones</a:t>
            </a:r>
            <a:endParaRPr lang="en-US" sz="1150" dirty="0"/>
          </a:p>
        </p:txBody>
      </p:sp>
      <p:sp>
        <p:nvSpPr>
          <p:cNvPr id="32" name="Shape 18"/>
          <p:cNvSpPr/>
          <p:nvPr/>
        </p:nvSpPr>
        <p:spPr>
          <a:xfrm>
            <a:off x="5784952" y="4087368"/>
            <a:ext cx="621792" cy="621792"/>
          </a:xfrm>
          <a:prstGeom prst="ellipse">
            <a:avLst/>
          </a:prstGeom>
          <a:solidFill>
            <a:srgbClr val="133B6C"/>
          </a:solidFill>
          <a:ln/>
        </p:spPr>
      </p:sp>
      <p:pic>
        <p:nvPicPr>
          <p:cNvPr id="33" name="Image 11" descr="/tmp/claude-0/-home-user-riesgo/0ff9ff46-1396-5bd8-b3ac-2280dfbbbc55/scratchpad/work/gen/icons/wind_white.png">    </p:cNvPr>
          <p:cNvPicPr>
            <a:picLocks noChangeAspect="1"/>
          </p:cNvPicPr>
          <p:nvPr/>
        </p:nvPicPr>
        <p:blipFill>
          <a:blip r:embed="rId12"/>
          <a:stretch>
            <a:fillRect/>
          </a:stretch>
        </p:blipFill>
        <p:spPr>
          <a:xfrm>
            <a:off x="5940400" y="4242816"/>
            <a:ext cx="310896" cy="310896"/>
          </a:xfrm>
          <a:prstGeom prst="rect">
            <a:avLst/>
          </a:prstGeom>
        </p:spPr>
      </p:pic>
      <p:sp>
        <p:nvSpPr>
          <p:cNvPr id="34" name="Text 19"/>
          <p:cNvSpPr txBox="1"/>
          <p:nvPr/>
        </p:nvSpPr>
        <p:spPr>
          <a:xfrm>
            <a:off x="5063216"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Cambio climático</a:t>
            </a:r>
            <a:endParaRPr lang="en-US" sz="1150" dirty="0"/>
          </a:p>
        </p:txBody>
      </p:sp>
      <p:sp>
        <p:nvSpPr>
          <p:cNvPr id="35" name="Shape 20"/>
          <p:cNvSpPr/>
          <p:nvPr/>
        </p:nvSpPr>
        <p:spPr>
          <a:xfrm>
            <a:off x="7996519" y="4087368"/>
            <a:ext cx="621792" cy="621792"/>
          </a:xfrm>
          <a:prstGeom prst="ellipse">
            <a:avLst/>
          </a:prstGeom>
          <a:solidFill>
            <a:srgbClr val="133B6C"/>
          </a:solidFill>
          <a:ln/>
        </p:spPr>
      </p:sp>
      <p:pic>
        <p:nvPicPr>
          <p:cNvPr id="36" name="Image 12" descr="/tmp/claude-0/-home-user-riesgo/0ff9ff46-1396-5bd8-b3ac-2280dfbbbc55/scratchpad/work/gen/icons/virus_white.png">    </p:cNvPr>
          <p:cNvPicPr>
            <a:picLocks noChangeAspect="1"/>
          </p:cNvPicPr>
          <p:nvPr/>
        </p:nvPicPr>
        <p:blipFill>
          <a:blip r:embed="rId13"/>
          <a:stretch>
            <a:fillRect/>
          </a:stretch>
        </p:blipFill>
        <p:spPr>
          <a:xfrm>
            <a:off x="8151967" y="4242816"/>
            <a:ext cx="310896" cy="310896"/>
          </a:xfrm>
          <a:prstGeom prst="rect">
            <a:avLst/>
          </a:prstGeom>
        </p:spPr>
      </p:pic>
      <p:sp>
        <p:nvSpPr>
          <p:cNvPr id="37" name="Text 21"/>
          <p:cNvSpPr txBox="1"/>
          <p:nvPr/>
        </p:nvSpPr>
        <p:spPr>
          <a:xfrm>
            <a:off x="7274784"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Epidemias y pandemias</a:t>
            </a:r>
            <a:endParaRPr lang="en-US" sz="1150" dirty="0"/>
          </a:p>
        </p:txBody>
      </p:sp>
      <p:sp>
        <p:nvSpPr>
          <p:cNvPr id="38" name="Shape 22"/>
          <p:cNvSpPr/>
          <p:nvPr/>
        </p:nvSpPr>
        <p:spPr>
          <a:xfrm>
            <a:off x="10208087" y="4087368"/>
            <a:ext cx="621792" cy="621792"/>
          </a:xfrm>
          <a:prstGeom prst="ellipse">
            <a:avLst/>
          </a:prstGeom>
          <a:solidFill>
            <a:srgbClr val="133B6C"/>
          </a:solidFill>
          <a:ln/>
        </p:spPr>
      </p:sp>
      <p:pic>
        <p:nvPicPr>
          <p:cNvPr id="39" name="Image 13" descr="/tmp/claude-0/-home-user-riesgo/0ff9ff46-1396-5bd8-b3ac-2280dfbbbc55/scratchpad/work/gen/icons/fire_white.png">    </p:cNvPr>
          <p:cNvPicPr>
            <a:picLocks noChangeAspect="1"/>
          </p:cNvPicPr>
          <p:nvPr/>
        </p:nvPicPr>
        <p:blipFill>
          <a:blip r:embed="rId14"/>
          <a:stretch>
            <a:fillRect/>
          </a:stretch>
        </p:blipFill>
        <p:spPr>
          <a:xfrm>
            <a:off x="10363535" y="4242816"/>
            <a:ext cx="310896" cy="310896"/>
          </a:xfrm>
          <a:prstGeom prst="rect">
            <a:avLst/>
          </a:prstGeom>
        </p:spPr>
      </p:pic>
      <p:sp>
        <p:nvSpPr>
          <p:cNvPr id="40" name="Text 23"/>
          <p:cNvSpPr txBox="1"/>
          <p:nvPr/>
        </p:nvSpPr>
        <p:spPr>
          <a:xfrm>
            <a:off x="9486351"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Incendios e interrupciones</a:t>
            </a:r>
            <a:endParaRPr lang="en-US" sz="1150" dirty="0"/>
          </a:p>
        </p:txBody>
      </p:sp>
      <p:sp>
        <p:nvSpPr>
          <p:cNvPr id="4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CIERRE DEL RECORRIDO · RESUMEN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TODOS LOS RIESGOS QUE IDENTIFICAMOS HOY</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tipos de riesgo que conviven en el trabajo diario de la Cooperativa:</a:t>
            </a:r>
            <a:endParaRPr lang="en-US" sz="1500" dirty="0"/>
          </a:p>
        </p:txBody>
      </p:sp>
      <p:sp>
        <p:nvSpPr>
          <p:cNvPr id="6" name="Shape 3"/>
          <p:cNvSpPr/>
          <p:nvPr/>
        </p:nvSpPr>
        <p:spPr>
          <a:xfrm>
            <a:off x="566928" y="2148840"/>
            <a:ext cx="2545004" cy="1851660"/>
          </a:xfrm>
          <a:prstGeom prst="roundRect">
            <a:avLst>
              <a:gd name="adj" fmla="val 4938"/>
            </a:avLst>
          </a:prstGeom>
          <a:solidFill>
            <a:srgbClr val="F2F5F9"/>
          </a:solidFill>
          <a:ln/>
        </p:spPr>
      </p:sp>
      <p:sp>
        <p:nvSpPr>
          <p:cNvPr id="7" name="Shape 4"/>
          <p:cNvSpPr/>
          <p:nvPr/>
        </p:nvSpPr>
        <p:spPr>
          <a:xfrm>
            <a:off x="1555966" y="2313432"/>
            <a:ext cx="566928" cy="566928"/>
          </a:xfrm>
          <a:prstGeom prst="ellipse">
            <a:avLst/>
          </a:prstGeom>
          <a:solidFill>
            <a:srgbClr val="2E86C7"/>
          </a:solidFill>
          <a:ln/>
        </p:spPr>
      </p:sp>
      <p:pic>
        <p:nvPicPr>
          <p:cNvPr id="8" name="Image 0" descr="/tmp/claude-0/-home-user-riesgo/0ff9ff46-1396-5bd8-b3ac-2280dfbbbc55/scratchpad/work/gen/icons/gears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Operativo</a:t>
            </a:r>
            <a:endParaRPr lang="en-US" sz="1250" dirty="0"/>
          </a:p>
        </p:txBody>
      </p:sp>
      <p:sp>
        <p:nvSpPr>
          <p:cNvPr id="10" name="Text 6"/>
          <p:cNvSpPr txBox="1"/>
          <p:nvPr/>
        </p:nvSpPr>
        <p:spPr>
          <a:xfrm>
            <a:off x="731520"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Fallas en personas, procesos, sistemas o eventos externos.</a:t>
            </a:r>
            <a:endParaRPr lang="en-US" sz="1100" dirty="0"/>
          </a:p>
        </p:txBody>
      </p:sp>
      <p:sp>
        <p:nvSpPr>
          <p:cNvPr id="11" name="Shape 7"/>
          <p:cNvSpPr/>
          <p:nvPr/>
        </p:nvSpPr>
        <p:spPr>
          <a:xfrm>
            <a:off x="3404540" y="2148840"/>
            <a:ext cx="2545004" cy="1851660"/>
          </a:xfrm>
          <a:prstGeom prst="roundRect">
            <a:avLst>
              <a:gd name="adj" fmla="val 4938"/>
            </a:avLst>
          </a:prstGeom>
          <a:solidFill>
            <a:srgbClr val="F2F5F9"/>
          </a:solidFill>
          <a:ln/>
        </p:spPr>
      </p:sp>
      <p:sp>
        <p:nvSpPr>
          <p:cNvPr id="12" name="Shape 8"/>
          <p:cNvSpPr/>
          <p:nvPr/>
        </p:nvSpPr>
        <p:spPr>
          <a:xfrm>
            <a:off x="4393578" y="2313432"/>
            <a:ext cx="566928" cy="566928"/>
          </a:xfrm>
          <a:prstGeom prst="ellipse">
            <a:avLst/>
          </a:prstGeom>
          <a:solidFill>
            <a:srgbClr val="2E86C7"/>
          </a:solidFill>
          <a:ln/>
        </p:spPr>
      </p:sp>
      <p:pic>
        <p:nvPicPr>
          <p:cNvPr id="13" name="Image 1" descr="/tmp/claude-0/-home-user-riesgo/0ff9ff46-1396-5bd8-b3ac-2280dfbbbc55/scratchpad/work/gen/icons/star_white.png">    </p:cNvPr>
          <p:cNvPicPr>
            <a:picLocks noChangeAspect="1"/>
          </p:cNvPicPr>
          <p:nvPr/>
        </p:nvPicPr>
        <p:blipFill>
          <a:blip r:embed="rId2"/>
          <a:stretch>
            <a:fillRect/>
          </a:stretch>
        </p:blipFill>
        <p:spPr>
          <a:xfrm>
            <a:off x="4529640" y="2449495"/>
            <a:ext cx="294803" cy="294803"/>
          </a:xfrm>
          <a:prstGeom prst="rect">
            <a:avLst/>
          </a:prstGeom>
        </p:spPr>
      </p:pic>
      <p:sp>
        <p:nvSpPr>
          <p:cNvPr id="14" name="Text 9"/>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Reputacional</a:t>
            </a:r>
            <a:endParaRPr lang="en-US" sz="1250" dirty="0"/>
          </a:p>
        </p:txBody>
      </p:sp>
      <p:sp>
        <p:nvSpPr>
          <p:cNvPr id="15" name="Text 10"/>
          <p:cNvSpPr txBox="1"/>
          <p:nvPr/>
        </p:nvSpPr>
        <p:spPr>
          <a:xfrm>
            <a:off x="3569132"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Daño a la imagen o la confianza en la Cooperativa.</a:t>
            </a:r>
            <a:endParaRPr lang="en-US" sz="1100" dirty="0"/>
          </a:p>
        </p:txBody>
      </p:sp>
      <p:sp>
        <p:nvSpPr>
          <p:cNvPr id="16" name="Shape 11"/>
          <p:cNvSpPr/>
          <p:nvPr/>
        </p:nvSpPr>
        <p:spPr>
          <a:xfrm>
            <a:off x="6242152" y="2148840"/>
            <a:ext cx="2545004" cy="1851660"/>
          </a:xfrm>
          <a:prstGeom prst="roundRect">
            <a:avLst>
              <a:gd name="adj" fmla="val 4938"/>
            </a:avLst>
          </a:prstGeom>
          <a:solidFill>
            <a:srgbClr val="F2F5F9"/>
          </a:solidFill>
          <a:ln/>
        </p:spPr>
      </p:sp>
      <p:sp>
        <p:nvSpPr>
          <p:cNvPr id="17" name="Shape 12"/>
          <p:cNvSpPr/>
          <p:nvPr/>
        </p:nvSpPr>
        <p:spPr>
          <a:xfrm>
            <a:off x="7231189" y="2313432"/>
            <a:ext cx="566928" cy="566928"/>
          </a:xfrm>
          <a:prstGeom prst="ellipse">
            <a:avLst/>
          </a:prstGeom>
          <a:solidFill>
            <a:srgbClr val="2E86C7"/>
          </a:solidFill>
          <a:ln/>
        </p:spPr>
      </p:sp>
      <p:pic>
        <p:nvPicPr>
          <p:cNvPr id="18" name="Image 2" descr="/tmp/claude-0/-home-user-riesgo/0ff9ff46-1396-5bd8-b3ac-2280dfbbbc55/scratchpad/work/gen/icons/shield_warning_white.png">    </p:cNvPr>
          <p:cNvPicPr>
            <a:picLocks noChangeAspect="1"/>
          </p:cNvPicPr>
          <p:nvPr/>
        </p:nvPicPr>
        <p:blipFill>
          <a:blip r:embed="rId3"/>
          <a:stretch>
            <a:fillRect/>
          </a:stretch>
        </p:blipFill>
        <p:spPr>
          <a:xfrm>
            <a:off x="7367252" y="2449495"/>
            <a:ext cx="294803" cy="294803"/>
          </a:xfrm>
          <a:prstGeom prst="rect">
            <a:avLst/>
          </a:prstGeom>
        </p:spPr>
      </p:pic>
      <p:sp>
        <p:nvSpPr>
          <p:cNvPr id="19" name="Text 13"/>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Fraude</a:t>
            </a:r>
            <a:endParaRPr lang="en-US" sz="1250" dirty="0"/>
          </a:p>
        </p:txBody>
      </p:sp>
      <p:sp>
        <p:nvSpPr>
          <p:cNvPr id="20" name="Text 14"/>
          <p:cNvSpPr txBox="1"/>
          <p:nvPr/>
        </p:nvSpPr>
        <p:spPr>
          <a:xfrm>
            <a:off x="6406744"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Acción intencional para obtener un beneficio indebido.</a:t>
            </a:r>
            <a:endParaRPr lang="en-US" sz="1100" dirty="0"/>
          </a:p>
        </p:txBody>
      </p:sp>
      <p:sp>
        <p:nvSpPr>
          <p:cNvPr id="21" name="Shape 15"/>
          <p:cNvSpPr/>
          <p:nvPr/>
        </p:nvSpPr>
        <p:spPr>
          <a:xfrm>
            <a:off x="9079763" y="2148840"/>
            <a:ext cx="2545004" cy="1851660"/>
          </a:xfrm>
          <a:prstGeom prst="roundRect">
            <a:avLst>
              <a:gd name="adj" fmla="val 4938"/>
            </a:avLst>
          </a:prstGeom>
          <a:solidFill>
            <a:srgbClr val="F2F5F9"/>
          </a:solidFill>
          <a:ln/>
        </p:spPr>
      </p:sp>
      <p:sp>
        <p:nvSpPr>
          <p:cNvPr id="22" name="Shape 16"/>
          <p:cNvSpPr/>
          <p:nvPr/>
        </p:nvSpPr>
        <p:spPr>
          <a:xfrm>
            <a:off x="10068801" y="2313432"/>
            <a:ext cx="566928" cy="566928"/>
          </a:xfrm>
          <a:prstGeom prst="ellipse">
            <a:avLst/>
          </a:prstGeom>
          <a:solidFill>
            <a:srgbClr val="2E86C7"/>
          </a:solidFill>
          <a:ln/>
        </p:spPr>
      </p:sp>
      <p:pic>
        <p:nvPicPr>
          <p:cNvPr id="23" name="Image 3" descr="/tmp/claude-0/-home-user-riesgo/0ff9ff46-1396-5bd8-b3ac-2280dfbbbc55/scratchpad/work/gen/icons/bank_white.png">    </p:cNvPr>
          <p:cNvPicPr>
            <a:picLocks noChangeAspect="1"/>
          </p:cNvPicPr>
          <p:nvPr/>
        </p:nvPicPr>
        <p:blipFill>
          <a:blip r:embed="rId4"/>
          <a:stretch>
            <a:fillRect/>
          </a:stretch>
        </p:blipFill>
        <p:spPr>
          <a:xfrm>
            <a:off x="10204864" y="2449495"/>
            <a:ext cx="294803" cy="294803"/>
          </a:xfrm>
          <a:prstGeom prst="rect">
            <a:avLst/>
          </a:prstGeom>
        </p:spPr>
      </p:pic>
      <p:sp>
        <p:nvSpPr>
          <p:cNvPr id="24" name="Text 17"/>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Crediticio</a:t>
            </a:r>
            <a:endParaRPr lang="en-US" sz="1250" dirty="0"/>
          </a:p>
        </p:txBody>
      </p:sp>
      <p:sp>
        <p:nvSpPr>
          <p:cNvPr id="25" name="Text 18"/>
          <p:cNvSpPr txBox="1"/>
          <p:nvPr/>
        </p:nvSpPr>
        <p:spPr>
          <a:xfrm>
            <a:off x="9244355"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Que un asociado no cumpla sus obligaciones de pago.</a:t>
            </a:r>
            <a:endParaRPr lang="en-US" sz="1100" dirty="0"/>
          </a:p>
        </p:txBody>
      </p:sp>
      <p:sp>
        <p:nvSpPr>
          <p:cNvPr id="26" name="Shape 19"/>
          <p:cNvSpPr/>
          <p:nvPr/>
        </p:nvSpPr>
        <p:spPr>
          <a:xfrm>
            <a:off x="566928" y="4256532"/>
            <a:ext cx="2545004" cy="1851660"/>
          </a:xfrm>
          <a:prstGeom prst="roundRect">
            <a:avLst>
              <a:gd name="adj" fmla="val 4938"/>
            </a:avLst>
          </a:prstGeom>
          <a:solidFill>
            <a:srgbClr val="F2F5F9"/>
          </a:solidFill>
          <a:ln/>
        </p:spPr>
      </p:sp>
      <p:sp>
        <p:nvSpPr>
          <p:cNvPr id="27" name="Shape 20"/>
          <p:cNvSpPr/>
          <p:nvPr/>
        </p:nvSpPr>
        <p:spPr>
          <a:xfrm>
            <a:off x="1555966" y="4421124"/>
            <a:ext cx="566928" cy="566928"/>
          </a:xfrm>
          <a:prstGeom prst="ellipse">
            <a:avLst/>
          </a:prstGeom>
          <a:solidFill>
            <a:srgbClr val="2E86C7"/>
          </a:solidFill>
          <a:ln/>
        </p:spPr>
      </p:sp>
      <p:pic>
        <p:nvPicPr>
          <p:cNvPr id="28" name="Image 4" descr="/tmp/claude-0/-home-user-riesgo/0ff9ff46-1396-5bd8-b3ac-2280dfbbbc55/scratchpad/work/gen/icons/server_white.png">    </p:cNvPr>
          <p:cNvPicPr>
            <a:picLocks noChangeAspect="1"/>
          </p:cNvPicPr>
          <p:nvPr/>
        </p:nvPicPr>
        <p:blipFill>
          <a:blip r:embed="rId5"/>
          <a:stretch>
            <a:fillRect/>
          </a:stretch>
        </p:blipFill>
        <p:spPr>
          <a:xfrm>
            <a:off x="1692029" y="4557187"/>
            <a:ext cx="294803" cy="294803"/>
          </a:xfrm>
          <a:prstGeom prst="rect">
            <a:avLst/>
          </a:prstGeom>
        </p:spPr>
      </p:pic>
      <p:sp>
        <p:nvSpPr>
          <p:cNvPr id="29" name="Text 21"/>
          <p:cNvSpPr txBox="1"/>
          <p:nvPr/>
        </p:nvSpPr>
        <p:spPr>
          <a:xfrm>
            <a:off x="676656"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Tecnológico</a:t>
            </a:r>
            <a:endParaRPr lang="en-US" sz="1250" dirty="0"/>
          </a:p>
        </p:txBody>
      </p:sp>
      <p:sp>
        <p:nvSpPr>
          <p:cNvPr id="30" name="Text 22"/>
          <p:cNvSpPr txBox="1"/>
          <p:nvPr/>
        </p:nvSpPr>
        <p:spPr>
          <a:xfrm>
            <a:off x="731520"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Fallas o interrupciones en sistemas y datos.</a:t>
            </a:r>
            <a:endParaRPr lang="en-US" sz="1100" dirty="0"/>
          </a:p>
        </p:txBody>
      </p:sp>
      <p:sp>
        <p:nvSpPr>
          <p:cNvPr id="31" name="Shape 23"/>
          <p:cNvSpPr/>
          <p:nvPr/>
        </p:nvSpPr>
        <p:spPr>
          <a:xfrm>
            <a:off x="3404540" y="4256532"/>
            <a:ext cx="2545004" cy="1851660"/>
          </a:xfrm>
          <a:prstGeom prst="roundRect">
            <a:avLst>
              <a:gd name="adj" fmla="val 4938"/>
            </a:avLst>
          </a:prstGeom>
          <a:solidFill>
            <a:srgbClr val="F2F5F9"/>
          </a:solidFill>
          <a:ln/>
        </p:spPr>
      </p:sp>
      <p:sp>
        <p:nvSpPr>
          <p:cNvPr id="32" name="Shape 24"/>
          <p:cNvSpPr/>
          <p:nvPr/>
        </p:nvSpPr>
        <p:spPr>
          <a:xfrm>
            <a:off x="4393578" y="4421124"/>
            <a:ext cx="566928" cy="566928"/>
          </a:xfrm>
          <a:prstGeom prst="ellipse">
            <a:avLst/>
          </a:prstGeom>
          <a:solidFill>
            <a:srgbClr val="2E86C7"/>
          </a:solidFill>
          <a:ln/>
        </p:spPr>
      </p:sp>
      <p:pic>
        <p:nvPicPr>
          <p:cNvPr id="33" name="Image 5" descr="/tmp/claude-0/-home-user-riesgo/0ff9ff46-1396-5bd8-b3ac-2280dfbbbc55/scratchpad/work/gen/icons/globe_white.png">    </p:cNvPr>
          <p:cNvPicPr>
            <a:picLocks noChangeAspect="1"/>
          </p:cNvPicPr>
          <p:nvPr/>
        </p:nvPicPr>
        <p:blipFill>
          <a:blip r:embed="rId6"/>
          <a:stretch>
            <a:fillRect/>
          </a:stretch>
        </p:blipFill>
        <p:spPr>
          <a:xfrm>
            <a:off x="4529640" y="4557187"/>
            <a:ext cx="294803" cy="294803"/>
          </a:xfrm>
          <a:prstGeom prst="rect">
            <a:avLst/>
          </a:prstGeom>
        </p:spPr>
      </p:pic>
      <p:sp>
        <p:nvSpPr>
          <p:cNvPr id="34" name="Text 25"/>
          <p:cNvSpPr txBox="1"/>
          <p:nvPr/>
        </p:nvSpPr>
        <p:spPr>
          <a:xfrm>
            <a:off x="3514268"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Ambiental y Social</a:t>
            </a:r>
            <a:endParaRPr lang="en-US" sz="1250" dirty="0"/>
          </a:p>
        </p:txBody>
      </p:sp>
      <p:sp>
        <p:nvSpPr>
          <p:cNvPr id="35" name="Text 26"/>
          <p:cNvSpPr txBox="1"/>
          <p:nvPr/>
        </p:nvSpPr>
        <p:spPr>
          <a:xfrm>
            <a:off x="3569132"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Eventos externos que afectan personas y operaciones.</a:t>
            </a:r>
            <a:endParaRPr lang="en-US" sz="1100" dirty="0"/>
          </a:p>
        </p:txBody>
      </p:sp>
      <p:sp>
        <p:nvSpPr>
          <p:cNvPr id="36" name="Shape 27"/>
          <p:cNvSpPr/>
          <p:nvPr/>
        </p:nvSpPr>
        <p:spPr>
          <a:xfrm>
            <a:off x="6242152" y="4256532"/>
            <a:ext cx="2545004" cy="1851660"/>
          </a:xfrm>
          <a:prstGeom prst="roundRect">
            <a:avLst>
              <a:gd name="adj" fmla="val 4938"/>
            </a:avLst>
          </a:prstGeom>
          <a:solidFill>
            <a:srgbClr val="F2F5F9"/>
          </a:solidFill>
          <a:ln/>
        </p:spPr>
      </p:sp>
      <p:sp>
        <p:nvSpPr>
          <p:cNvPr id="37" name="Shape 28"/>
          <p:cNvSpPr/>
          <p:nvPr/>
        </p:nvSpPr>
        <p:spPr>
          <a:xfrm>
            <a:off x="7231189" y="4421124"/>
            <a:ext cx="566928" cy="566928"/>
          </a:xfrm>
          <a:prstGeom prst="ellipse">
            <a:avLst/>
          </a:prstGeom>
          <a:solidFill>
            <a:srgbClr val="2E86C7"/>
          </a:solidFill>
          <a:ln/>
        </p:spPr>
      </p:sp>
      <p:pic>
        <p:nvPicPr>
          <p:cNvPr id="38" name="Image 6" descr="/tmp/claude-0/-home-user-riesgo/0ff9ff46-1396-5bd8-b3ac-2280dfbbbc55/scratchpad/work/gen/icons/route_white.png">    </p:cNvPr>
          <p:cNvPicPr>
            <a:picLocks noChangeAspect="1"/>
          </p:cNvPicPr>
          <p:nvPr/>
        </p:nvPicPr>
        <p:blipFill>
          <a:blip r:embed="rId7"/>
          <a:stretch>
            <a:fillRect/>
          </a:stretch>
        </p:blipFill>
        <p:spPr>
          <a:xfrm>
            <a:off x="7367252" y="4557187"/>
            <a:ext cx="294803" cy="294803"/>
          </a:xfrm>
          <a:prstGeom prst="rect">
            <a:avLst/>
          </a:prstGeom>
        </p:spPr>
      </p:pic>
      <p:sp>
        <p:nvSpPr>
          <p:cNvPr id="39" name="Text 29"/>
          <p:cNvSpPr txBox="1"/>
          <p:nvPr/>
        </p:nvSpPr>
        <p:spPr>
          <a:xfrm>
            <a:off x="6351880"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de Continuidad</a:t>
            </a:r>
            <a:endParaRPr lang="en-US" sz="1250" dirty="0"/>
          </a:p>
        </p:txBody>
      </p:sp>
      <p:sp>
        <p:nvSpPr>
          <p:cNvPr id="40" name="Text 30"/>
          <p:cNvSpPr txBox="1"/>
          <p:nvPr/>
        </p:nvSpPr>
        <p:spPr>
          <a:xfrm>
            <a:off x="6406744"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Interrupciones que afectan la operación normal del negocio.</a:t>
            </a:r>
            <a:endParaRPr lang="en-US" sz="1100" dirty="0"/>
          </a:p>
        </p:txBody>
      </p:sp>
      <p:sp>
        <p:nvSpPr>
          <p:cNvPr id="41" name="Shape 31"/>
          <p:cNvSpPr/>
          <p:nvPr/>
        </p:nvSpPr>
        <p:spPr>
          <a:xfrm>
            <a:off x="9079763" y="4256532"/>
            <a:ext cx="2545004" cy="1851660"/>
          </a:xfrm>
          <a:prstGeom prst="roundRect">
            <a:avLst>
              <a:gd name="adj" fmla="val 4938"/>
            </a:avLst>
          </a:prstGeom>
          <a:solidFill>
            <a:srgbClr val="F2F5F9"/>
          </a:solidFill>
          <a:ln/>
        </p:spPr>
      </p:sp>
      <p:sp>
        <p:nvSpPr>
          <p:cNvPr id="42" name="Shape 32"/>
          <p:cNvSpPr/>
          <p:nvPr/>
        </p:nvSpPr>
        <p:spPr>
          <a:xfrm>
            <a:off x="10068801" y="4421124"/>
            <a:ext cx="566928" cy="566928"/>
          </a:xfrm>
          <a:prstGeom prst="ellipse">
            <a:avLst/>
          </a:prstGeom>
          <a:solidFill>
            <a:srgbClr val="2E86C7"/>
          </a:solidFill>
          <a:ln/>
        </p:spPr>
      </p:sp>
      <p:pic>
        <p:nvPicPr>
          <p:cNvPr id="43" name="Image 7" descr="/tmp/claude-0/-home-user-riesgo/0ff9ff46-1396-5bd8-b3ac-2280dfbbbc55/scratchpad/work/gen/icons/scale_white.png">    </p:cNvPr>
          <p:cNvPicPr>
            <a:picLocks noChangeAspect="1"/>
          </p:cNvPicPr>
          <p:nvPr/>
        </p:nvPicPr>
        <p:blipFill>
          <a:blip r:embed="rId8"/>
          <a:stretch>
            <a:fillRect/>
          </a:stretch>
        </p:blipFill>
        <p:spPr>
          <a:xfrm>
            <a:off x="10204864" y="4557187"/>
            <a:ext cx="294803" cy="294803"/>
          </a:xfrm>
          <a:prstGeom prst="rect">
            <a:avLst/>
          </a:prstGeom>
        </p:spPr>
      </p:pic>
      <p:sp>
        <p:nvSpPr>
          <p:cNvPr id="44" name="Text 33"/>
          <p:cNvSpPr txBox="1"/>
          <p:nvPr/>
        </p:nvSpPr>
        <p:spPr>
          <a:xfrm>
            <a:off x="9189491"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de Cumplimiento</a:t>
            </a:r>
            <a:endParaRPr lang="en-US" sz="1250" dirty="0"/>
          </a:p>
        </p:txBody>
      </p:sp>
      <p:sp>
        <p:nvSpPr>
          <p:cNvPr id="45" name="Text 34"/>
          <p:cNvSpPr txBox="1"/>
          <p:nvPr/>
        </p:nvSpPr>
        <p:spPr>
          <a:xfrm>
            <a:off x="9244355"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Incumplir leyes, normas regulatorias o políticas internas.</a:t>
            </a:r>
            <a:endParaRPr lang="en-US" sz="110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CASOS INTEGRADORES · CASO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417320"/>
            <a:ext cx="11057839" cy="329184"/>
          </a:xfrm>
          <a:prstGeom prst="rect">
            <a:avLst/>
          </a:prstGeom>
          <a:noFill/>
          <a:ln/>
        </p:spPr>
        <p:txBody>
          <a:bodyPr wrap="square" lIns="0" tIns="0" rIns="0" bIns="0" rtlCol="0" anchor="ctr"/>
          <a:lstStyle/>
          <a:p>
            <a:pPr indent="0" marL="0">
              <a:lnSpc>
                <a:spcPct val="110000"/>
              </a:lnSpc>
              <a:buNone/>
            </a:pPr>
            <a:r>
              <a:rPr lang="en-US" sz="1250" i="1" dirty="0">
                <a:solidFill>
                  <a:srgbClr val="5B6B82"/>
                </a:solidFill>
                <a:latin typeface="Calibri" pitchFamily="34" charset="0"/>
                <a:ea typeface="Calibri" pitchFamily="34" charset="-122"/>
                <a:cs typeface="Calibri" pitchFamily="34" charset="-120"/>
              </a:rPr>
              <a:t>CASOS INTEGRADORES — Cuatro situaciones reales de una cooperativa financiera para aplicar todo lo aprendido.</a:t>
            </a:r>
            <a:endParaRPr lang="en-US" sz="1250" dirty="0"/>
          </a:p>
        </p:txBody>
      </p:sp>
      <p:sp>
        <p:nvSpPr>
          <p:cNvPr id="6" name="Shape 3"/>
          <p:cNvSpPr/>
          <p:nvPr/>
        </p:nvSpPr>
        <p:spPr>
          <a:xfrm>
            <a:off x="566928" y="1920240"/>
            <a:ext cx="11057839" cy="841248"/>
          </a:xfrm>
          <a:prstGeom prst="roundRect">
            <a:avLst>
              <a:gd name="adj" fmla="val 13043"/>
            </a:avLst>
          </a:prstGeom>
          <a:solidFill>
            <a:srgbClr val="133B6C"/>
          </a:solidFill>
          <a:ln/>
        </p:spPr>
      </p:sp>
      <p:sp>
        <p:nvSpPr>
          <p:cNvPr id="7" name="Shape 4"/>
          <p:cNvSpPr/>
          <p:nvPr/>
        </p:nvSpPr>
        <p:spPr>
          <a:xfrm>
            <a:off x="768096" y="2075688"/>
            <a:ext cx="530352" cy="530352"/>
          </a:xfrm>
          <a:prstGeom prst="ellipse">
            <a:avLst/>
          </a:prstGeom>
          <a:solidFill>
            <a:srgbClr val="17A9B0"/>
          </a:solidFill>
          <a:ln/>
        </p:spPr>
      </p:sp>
      <p:pic>
        <p:nvPicPr>
          <p:cNvPr id="8" name="Image 0" descr="/tmp/claude-0/-home-user-riesgo/0ff9ff46-1396-5bd8-b3ac-2280dfbbbc55/scratchpad/work/gen/icons/server_white.png">    </p:cNvPr>
          <p:cNvPicPr>
            <a:picLocks noChangeAspect="1"/>
          </p:cNvPicPr>
          <p:nvPr/>
        </p:nvPicPr>
        <p:blipFill>
          <a:blip r:embed="rId1"/>
          <a:stretch>
            <a:fillRect/>
          </a:stretch>
        </p:blipFill>
        <p:spPr>
          <a:xfrm>
            <a:off x="887425" y="2195017"/>
            <a:ext cx="291694" cy="291694"/>
          </a:xfrm>
          <a:prstGeom prst="rect">
            <a:avLst/>
          </a:prstGeom>
        </p:spPr>
      </p:pic>
      <p:sp>
        <p:nvSpPr>
          <p:cNvPr id="9" name="Text 5"/>
          <p:cNvSpPr txBox="1"/>
          <p:nvPr/>
        </p:nvSpPr>
        <p:spPr>
          <a:xfrm>
            <a:off x="1435608" y="2039112"/>
            <a:ext cx="9418320" cy="237744"/>
          </a:xfrm>
          <a:prstGeom prst="rect">
            <a:avLst/>
          </a:prstGeom>
          <a:noFill/>
          <a:ln/>
        </p:spPr>
        <p:txBody>
          <a:bodyPr wrap="square" lIns="0" tIns="0" rIns="0" bIns="0" rtlCol="0" anchor="ctr"/>
          <a:lstStyle/>
          <a:p>
            <a:pPr indent="0" marL="0">
              <a:buNone/>
            </a:pPr>
            <a:r>
              <a:rPr lang="en-US" sz="1050" b="1" spc="200" kern="0" dirty="0">
                <a:solidFill>
                  <a:srgbClr val="97D8DB"/>
                </a:solidFill>
                <a:latin typeface="Calibri" pitchFamily="34" charset="0"/>
                <a:ea typeface="Calibri" pitchFamily="34" charset="-122"/>
                <a:cs typeface="Calibri" pitchFamily="34" charset="-120"/>
              </a:rPr>
              <a:t>SITUACIÓN</a:t>
            </a:r>
            <a:endParaRPr lang="en-US" sz="1050" dirty="0"/>
          </a:p>
        </p:txBody>
      </p:sp>
      <p:sp>
        <p:nvSpPr>
          <p:cNvPr id="10" name="Text 6"/>
          <p:cNvSpPr txBox="1"/>
          <p:nvPr/>
        </p:nvSpPr>
        <p:spPr>
          <a:xfrm>
            <a:off x="1435608" y="2267712"/>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100" dirty="0"/>
          </a:p>
        </p:txBody>
      </p:sp>
      <p:sp>
        <p:nvSpPr>
          <p:cNvPr id="11" name="Text 7"/>
          <p:cNvSpPr txBox="1"/>
          <p:nvPr/>
        </p:nvSpPr>
        <p:spPr>
          <a:xfrm>
            <a:off x="566928" y="2926080"/>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2" name="Shape 8"/>
          <p:cNvSpPr/>
          <p:nvPr/>
        </p:nvSpPr>
        <p:spPr>
          <a:xfrm>
            <a:off x="566928" y="3182112"/>
            <a:ext cx="1598371" cy="329184"/>
          </a:xfrm>
          <a:prstGeom prst="roundRect">
            <a:avLst>
              <a:gd name="adj" fmla="val 50000"/>
            </a:avLst>
          </a:prstGeom>
          <a:solidFill>
            <a:srgbClr val="17A9B0"/>
          </a:solidFill>
          <a:ln/>
        </p:spPr>
      </p:sp>
      <p:sp>
        <p:nvSpPr>
          <p:cNvPr id="13" name="Text 9"/>
          <p:cNvSpPr txBox="1"/>
          <p:nvPr/>
        </p:nvSpPr>
        <p:spPr>
          <a:xfrm>
            <a:off x="566928" y="3182112"/>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4" name="Shape 10"/>
          <p:cNvSpPr/>
          <p:nvPr/>
        </p:nvSpPr>
        <p:spPr>
          <a:xfrm>
            <a:off x="2293315" y="3182112"/>
            <a:ext cx="1741018" cy="329184"/>
          </a:xfrm>
          <a:prstGeom prst="roundRect">
            <a:avLst>
              <a:gd name="adj" fmla="val 50000"/>
            </a:avLst>
          </a:prstGeom>
          <a:solidFill>
            <a:srgbClr val="17A9B0"/>
          </a:solidFill>
          <a:ln/>
        </p:spPr>
      </p:sp>
      <p:sp>
        <p:nvSpPr>
          <p:cNvPr id="15" name="Text 11"/>
          <p:cNvSpPr txBox="1"/>
          <p:nvPr/>
        </p:nvSpPr>
        <p:spPr>
          <a:xfrm>
            <a:off x="2293315" y="3182112"/>
            <a:ext cx="174101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tecnológico</a:t>
            </a:r>
            <a:endParaRPr lang="en-US" sz="1000" dirty="0"/>
          </a:p>
        </p:txBody>
      </p:sp>
      <p:sp>
        <p:nvSpPr>
          <p:cNvPr id="16" name="Shape 12"/>
          <p:cNvSpPr/>
          <p:nvPr/>
        </p:nvSpPr>
        <p:spPr>
          <a:xfrm>
            <a:off x="566928" y="3675888"/>
            <a:ext cx="3527450" cy="2377440"/>
          </a:xfrm>
          <a:prstGeom prst="roundRect">
            <a:avLst>
              <a:gd name="adj" fmla="val 3846"/>
            </a:avLst>
          </a:prstGeom>
          <a:solidFill>
            <a:srgbClr val="F2F5F9"/>
          </a:solidFill>
          <a:ln/>
        </p:spPr>
      </p:sp>
      <p:sp>
        <p:nvSpPr>
          <p:cNvPr id="17" name="Shape 13"/>
          <p:cNvSpPr/>
          <p:nvPr/>
        </p:nvSpPr>
        <p:spPr>
          <a:xfrm>
            <a:off x="2102053" y="3840480"/>
            <a:ext cx="457200" cy="457200"/>
          </a:xfrm>
          <a:prstGeom prst="ellipse">
            <a:avLst/>
          </a:prstGeom>
          <a:solidFill>
            <a:srgbClr val="2FAE60"/>
          </a:solidFill>
          <a:ln/>
        </p:spPr>
      </p:sp>
      <p:pic>
        <p:nvPicPr>
          <p:cNvPr id="18" name="Image 1" descr="/tmp/claude-0/-home-user-riesgo/0ff9ff46-1396-5bd8-b3ac-2280dfbbbc55/scratchpad/work/gen/icons/check_circle_white.png">    </p:cNvPr>
          <p:cNvPicPr>
            <a:picLocks noChangeAspect="1"/>
          </p:cNvPicPr>
          <p:nvPr/>
        </p:nvPicPr>
        <p:blipFill>
          <a:blip r:embed="rId2"/>
          <a:stretch>
            <a:fillRect/>
          </a:stretch>
        </p:blipFill>
        <p:spPr>
          <a:xfrm>
            <a:off x="2211781" y="3950208"/>
            <a:ext cx="237744" cy="237744"/>
          </a:xfrm>
          <a:prstGeom prst="rect">
            <a:avLst/>
          </a:prstGeom>
        </p:spPr>
      </p:pic>
      <p:sp>
        <p:nvSpPr>
          <p:cNvPr id="19" name="Text 14"/>
          <p:cNvSpPr txBox="1"/>
          <p:nvPr/>
        </p:nvSpPr>
        <p:spPr>
          <a:xfrm>
            <a:off x="713232"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0" name="Text 15"/>
          <p:cNvSpPr txBox="1"/>
          <p:nvPr/>
        </p:nvSpPr>
        <p:spPr>
          <a:xfrm>
            <a:off x="749808"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080" dirty="0"/>
          </a:p>
        </p:txBody>
      </p:sp>
      <p:sp>
        <p:nvSpPr>
          <p:cNvPr id="21" name="Shape 16"/>
          <p:cNvSpPr/>
          <p:nvPr/>
        </p:nvSpPr>
        <p:spPr>
          <a:xfrm>
            <a:off x="4332122" y="3675888"/>
            <a:ext cx="3527450" cy="2377440"/>
          </a:xfrm>
          <a:prstGeom prst="roundRect">
            <a:avLst>
              <a:gd name="adj" fmla="val 3846"/>
            </a:avLst>
          </a:prstGeom>
          <a:solidFill>
            <a:srgbClr val="F2F5F9"/>
          </a:solidFill>
          <a:ln/>
        </p:spPr>
      </p:sp>
      <p:sp>
        <p:nvSpPr>
          <p:cNvPr id="22" name="Shape 17"/>
          <p:cNvSpPr/>
          <p:nvPr/>
        </p:nvSpPr>
        <p:spPr>
          <a:xfrm>
            <a:off x="5867248" y="3840480"/>
            <a:ext cx="457200" cy="457200"/>
          </a:xfrm>
          <a:prstGeom prst="ellipse">
            <a:avLst/>
          </a:prstGeom>
          <a:solidFill>
            <a:srgbClr val="133B6C"/>
          </a:solidFill>
          <a:ln/>
        </p:spPr>
      </p:sp>
      <p:pic>
        <p:nvPicPr>
          <p:cNvPr id="23" name="Image 2" descr="/tmp/claude-0/-home-user-riesgo/0ff9ff46-1396-5bd8-b3ac-2280dfbbbc55/scratchpad/work/gen/icons/people_group_white.png">    </p:cNvPr>
          <p:cNvPicPr>
            <a:picLocks noChangeAspect="1"/>
          </p:cNvPicPr>
          <p:nvPr/>
        </p:nvPicPr>
        <p:blipFill>
          <a:blip r:embed="rId3"/>
          <a:stretch>
            <a:fillRect/>
          </a:stretch>
        </p:blipFill>
        <p:spPr>
          <a:xfrm>
            <a:off x="5976976" y="3950208"/>
            <a:ext cx="237744" cy="237744"/>
          </a:xfrm>
          <a:prstGeom prst="rect">
            <a:avLst/>
          </a:prstGeom>
        </p:spPr>
      </p:pic>
      <p:sp>
        <p:nvSpPr>
          <p:cNvPr id="24" name="Text 18"/>
          <p:cNvSpPr txBox="1"/>
          <p:nvPr/>
        </p:nvSpPr>
        <p:spPr>
          <a:xfrm>
            <a:off x="4478426"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5" name="Text 19"/>
          <p:cNvSpPr txBox="1"/>
          <p:nvPr/>
        </p:nvSpPr>
        <p:spPr>
          <a:xfrm>
            <a:off x="4515002"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080" dirty="0"/>
          </a:p>
        </p:txBody>
      </p:sp>
      <p:sp>
        <p:nvSpPr>
          <p:cNvPr id="26" name="Shape 20"/>
          <p:cNvSpPr/>
          <p:nvPr/>
        </p:nvSpPr>
        <p:spPr>
          <a:xfrm>
            <a:off x="8097317" y="3675888"/>
            <a:ext cx="3527450" cy="2377440"/>
          </a:xfrm>
          <a:prstGeom prst="roundRect">
            <a:avLst>
              <a:gd name="adj" fmla="val 3846"/>
            </a:avLst>
          </a:prstGeom>
          <a:solidFill>
            <a:srgbClr val="F2F5F9"/>
          </a:solidFill>
          <a:ln/>
        </p:spPr>
      </p:sp>
      <p:sp>
        <p:nvSpPr>
          <p:cNvPr id="27" name="Shape 21"/>
          <p:cNvSpPr/>
          <p:nvPr/>
        </p:nvSpPr>
        <p:spPr>
          <a:xfrm>
            <a:off x="9632442" y="3840480"/>
            <a:ext cx="457200" cy="457200"/>
          </a:xfrm>
          <a:prstGeom prst="ellipse">
            <a:avLst/>
          </a:prstGeom>
          <a:solidFill>
            <a:srgbClr val="E0392B"/>
          </a:solidFill>
          <a:ln/>
        </p:spPr>
      </p:sp>
      <p:pic>
        <p:nvPicPr>
          <p:cNvPr id="28"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950208"/>
            <a:ext cx="237744" cy="237744"/>
          </a:xfrm>
          <a:prstGeom prst="rect">
            <a:avLst/>
          </a:prstGeom>
        </p:spPr>
      </p:pic>
      <p:sp>
        <p:nvSpPr>
          <p:cNvPr id="29" name="Text 22"/>
          <p:cNvSpPr txBox="1"/>
          <p:nvPr/>
        </p:nvSpPr>
        <p:spPr>
          <a:xfrm>
            <a:off x="8243621"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0" name="Text 23"/>
          <p:cNvSpPr txBox="1"/>
          <p:nvPr/>
        </p:nvSpPr>
        <p:spPr>
          <a:xfrm>
            <a:off x="8280197"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080" dirty="0"/>
          </a:p>
        </p:txBody>
      </p:sp>
      <p:sp>
        <p:nvSpPr>
          <p:cNvPr id="3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6BED7"/>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812341" cy="329184"/>
          </a:xfrm>
          <a:prstGeom prst="roundRect">
            <a:avLst>
              <a:gd name="adj" fmla="val 50000"/>
            </a:avLst>
          </a:prstGeom>
          <a:solidFill>
            <a:srgbClr val="3A6EA5"/>
          </a:solidFill>
          <a:ln/>
        </p:spPr>
      </p:sp>
      <p:sp>
        <p:nvSpPr>
          <p:cNvPr id="12" name="Text 8"/>
          <p:cNvSpPr txBox="1"/>
          <p:nvPr/>
        </p:nvSpPr>
        <p:spPr>
          <a:xfrm>
            <a:off x="566928" y="2798064"/>
            <a:ext cx="181234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reputacional</a:t>
            </a:r>
            <a:endParaRPr lang="en-US" sz="1000" dirty="0"/>
          </a:p>
        </p:txBody>
      </p:sp>
      <p:sp>
        <p:nvSpPr>
          <p:cNvPr id="13" name="Shape 9"/>
          <p:cNvSpPr/>
          <p:nvPr/>
        </p:nvSpPr>
        <p:spPr>
          <a:xfrm>
            <a:off x="566928" y="3291840"/>
            <a:ext cx="3527450" cy="2761488"/>
          </a:xfrm>
          <a:prstGeom prst="roundRect">
            <a:avLst>
              <a:gd name="adj" fmla="val 3311"/>
            </a:avLst>
          </a:prstGeom>
          <a:solidFill>
            <a:srgbClr val="F2F5F9"/>
          </a:solidFill>
          <a:ln/>
        </p:spPr>
      </p:sp>
      <p:sp>
        <p:nvSpPr>
          <p:cNvPr id="14" name="Shape 10"/>
          <p:cNvSpPr/>
          <p:nvPr/>
        </p:nvSpPr>
        <p:spPr>
          <a:xfrm>
            <a:off x="2102053" y="3456432"/>
            <a:ext cx="457200" cy="457200"/>
          </a:xfrm>
          <a:prstGeom prst="ellipse">
            <a:avLst/>
          </a:prstGeom>
          <a:solidFill>
            <a:srgbClr val="2FAE60"/>
          </a:solidFill>
          <a:ln/>
        </p:spPr>
      </p:sp>
      <p:pic>
        <p:nvPicPr>
          <p:cNvPr id="15"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6" name="Text 11"/>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7" name="Text 12"/>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080" dirty="0"/>
          </a:p>
        </p:txBody>
      </p:sp>
      <p:sp>
        <p:nvSpPr>
          <p:cNvPr id="18" name="Shape 13"/>
          <p:cNvSpPr/>
          <p:nvPr/>
        </p:nvSpPr>
        <p:spPr>
          <a:xfrm>
            <a:off x="4332122" y="3291840"/>
            <a:ext cx="3527450" cy="2761488"/>
          </a:xfrm>
          <a:prstGeom prst="roundRect">
            <a:avLst>
              <a:gd name="adj" fmla="val 3311"/>
            </a:avLst>
          </a:prstGeom>
          <a:solidFill>
            <a:srgbClr val="F2F5F9"/>
          </a:solidFill>
          <a:ln/>
        </p:spPr>
      </p:sp>
      <p:sp>
        <p:nvSpPr>
          <p:cNvPr id="19" name="Shape 14"/>
          <p:cNvSpPr/>
          <p:nvPr/>
        </p:nvSpPr>
        <p:spPr>
          <a:xfrm>
            <a:off x="5867248" y="3456432"/>
            <a:ext cx="457200" cy="457200"/>
          </a:xfrm>
          <a:prstGeom prst="ellipse">
            <a:avLst/>
          </a:prstGeom>
          <a:solidFill>
            <a:srgbClr val="133B6C"/>
          </a:solidFill>
          <a:ln/>
        </p:spPr>
      </p:sp>
      <p:pic>
        <p:nvPicPr>
          <p:cNvPr id="20"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1" name="Text 15"/>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2" name="Text 16"/>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080" dirty="0"/>
          </a:p>
        </p:txBody>
      </p:sp>
      <p:sp>
        <p:nvSpPr>
          <p:cNvPr id="23" name="Shape 17"/>
          <p:cNvSpPr/>
          <p:nvPr/>
        </p:nvSpPr>
        <p:spPr>
          <a:xfrm>
            <a:off x="8097317" y="3291840"/>
            <a:ext cx="3527450" cy="2761488"/>
          </a:xfrm>
          <a:prstGeom prst="roundRect">
            <a:avLst>
              <a:gd name="adj" fmla="val 3311"/>
            </a:avLst>
          </a:prstGeom>
          <a:solidFill>
            <a:srgbClr val="F2F5F9"/>
          </a:solidFill>
          <a:ln/>
        </p:spPr>
      </p:sp>
      <p:sp>
        <p:nvSpPr>
          <p:cNvPr id="24" name="Shape 18"/>
          <p:cNvSpPr/>
          <p:nvPr/>
        </p:nvSpPr>
        <p:spPr>
          <a:xfrm>
            <a:off x="9632442" y="3456432"/>
            <a:ext cx="457200" cy="457200"/>
          </a:xfrm>
          <a:prstGeom prst="ellipse">
            <a:avLst/>
          </a:prstGeom>
          <a:solidFill>
            <a:srgbClr val="E0392B"/>
          </a:solidFill>
          <a:ln/>
        </p:spPr>
      </p:sp>
      <p:pic>
        <p:nvPicPr>
          <p:cNvPr id="25"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6" name="Text 19"/>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7" name="Text 20"/>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08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98B0CE"/>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598371" cy="329184"/>
          </a:xfrm>
          <a:prstGeom prst="roundRect">
            <a:avLst>
              <a:gd name="adj" fmla="val 50000"/>
            </a:avLst>
          </a:prstGeom>
          <a:solidFill>
            <a:srgbClr val="1B4F91"/>
          </a:solidFill>
          <a:ln/>
        </p:spPr>
      </p:sp>
      <p:sp>
        <p:nvSpPr>
          <p:cNvPr id="12" name="Text 8"/>
          <p:cNvSpPr txBox="1"/>
          <p:nvPr/>
        </p:nvSpPr>
        <p:spPr>
          <a:xfrm>
            <a:off x="56692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3" name="Shape 9"/>
          <p:cNvSpPr/>
          <p:nvPr/>
        </p:nvSpPr>
        <p:spPr>
          <a:xfrm>
            <a:off x="2293315" y="2798064"/>
            <a:ext cx="2026310" cy="329184"/>
          </a:xfrm>
          <a:prstGeom prst="roundRect">
            <a:avLst>
              <a:gd name="adj" fmla="val 50000"/>
            </a:avLst>
          </a:prstGeom>
          <a:solidFill>
            <a:srgbClr val="1B4F91"/>
          </a:solidFill>
          <a:ln/>
        </p:spPr>
      </p:sp>
      <p:sp>
        <p:nvSpPr>
          <p:cNvPr id="14" name="Text 10"/>
          <p:cNvSpPr txBox="1"/>
          <p:nvPr/>
        </p:nvSpPr>
        <p:spPr>
          <a:xfrm>
            <a:off x="2293315" y="2798064"/>
            <a:ext cx="202631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Posible error o fraude</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2102053" y="3456432"/>
            <a:ext cx="457200" cy="457200"/>
          </a:xfrm>
          <a:prstGeom prst="ellipse">
            <a:avLst/>
          </a:prstGeom>
          <a:solidFill>
            <a:srgbClr val="2FAE60"/>
          </a:solidFill>
          <a:ln/>
        </p:spPr>
      </p:sp>
      <p:pic>
        <p:nvPicPr>
          <p:cNvPr id="17"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8" name="Text 13"/>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9" name="Text 14"/>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080" dirty="0"/>
          </a:p>
        </p:txBody>
      </p:sp>
      <p:sp>
        <p:nvSpPr>
          <p:cNvPr id="20" name="Shape 15"/>
          <p:cNvSpPr/>
          <p:nvPr/>
        </p:nvSpPr>
        <p:spPr>
          <a:xfrm>
            <a:off x="4332122" y="3291840"/>
            <a:ext cx="3527450" cy="2761488"/>
          </a:xfrm>
          <a:prstGeom prst="roundRect">
            <a:avLst>
              <a:gd name="adj" fmla="val 3311"/>
            </a:avLst>
          </a:prstGeom>
          <a:solidFill>
            <a:srgbClr val="F2F5F9"/>
          </a:solidFill>
          <a:ln/>
        </p:spPr>
      </p:sp>
      <p:sp>
        <p:nvSpPr>
          <p:cNvPr id="21" name="Shape 16"/>
          <p:cNvSpPr/>
          <p:nvPr/>
        </p:nvSpPr>
        <p:spPr>
          <a:xfrm>
            <a:off x="5867248" y="3456432"/>
            <a:ext cx="457200" cy="457200"/>
          </a:xfrm>
          <a:prstGeom prst="ellipse">
            <a:avLst/>
          </a:prstGeom>
          <a:solidFill>
            <a:srgbClr val="133B6C"/>
          </a:solidFill>
          <a:ln/>
        </p:spPr>
      </p:sp>
      <p:pic>
        <p:nvPicPr>
          <p:cNvPr id="22"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3" name="Text 17"/>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4" name="Text 18"/>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080" dirty="0"/>
          </a:p>
        </p:txBody>
      </p:sp>
      <p:sp>
        <p:nvSpPr>
          <p:cNvPr id="25" name="Shape 19"/>
          <p:cNvSpPr/>
          <p:nvPr/>
        </p:nvSpPr>
        <p:spPr>
          <a:xfrm>
            <a:off x="8097317" y="3291840"/>
            <a:ext cx="3527450" cy="2761488"/>
          </a:xfrm>
          <a:prstGeom prst="roundRect">
            <a:avLst>
              <a:gd name="adj" fmla="val 3311"/>
            </a:avLst>
          </a:prstGeom>
          <a:solidFill>
            <a:srgbClr val="F2F5F9"/>
          </a:solidFill>
          <a:ln/>
        </p:spPr>
      </p:sp>
      <p:sp>
        <p:nvSpPr>
          <p:cNvPr id="26" name="Shape 20"/>
          <p:cNvSpPr/>
          <p:nvPr/>
        </p:nvSpPr>
        <p:spPr>
          <a:xfrm>
            <a:off x="9632442" y="3456432"/>
            <a:ext cx="457200" cy="457200"/>
          </a:xfrm>
          <a:prstGeom prst="ellipse">
            <a:avLst/>
          </a:prstGeom>
          <a:solidFill>
            <a:srgbClr val="E0392B"/>
          </a:solidFill>
          <a:ln/>
        </p:spPr>
      </p:sp>
      <p:pic>
        <p:nvPicPr>
          <p:cNvPr id="27"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8" name="Text 21"/>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9" name="Text 22"/>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080" dirty="0"/>
          </a:p>
        </p:txBody>
      </p:sp>
      <p:sp>
        <p:nvSpPr>
          <p:cNvPr id="30"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1B7D9"/>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669694" cy="329184"/>
          </a:xfrm>
          <a:prstGeom prst="roundRect">
            <a:avLst>
              <a:gd name="adj" fmla="val 50000"/>
            </a:avLst>
          </a:prstGeom>
          <a:solidFill>
            <a:srgbClr val="2E5EAA"/>
          </a:solidFill>
          <a:ln/>
        </p:spPr>
      </p:sp>
      <p:sp>
        <p:nvSpPr>
          <p:cNvPr id="12" name="Text 8"/>
          <p:cNvSpPr txBox="1"/>
          <p:nvPr/>
        </p:nvSpPr>
        <p:spPr>
          <a:xfrm>
            <a:off x="566928" y="2798064"/>
            <a:ext cx="166969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crediticio</a:t>
            </a:r>
            <a:endParaRPr lang="en-US" sz="1000" dirty="0"/>
          </a:p>
        </p:txBody>
      </p:sp>
      <p:sp>
        <p:nvSpPr>
          <p:cNvPr id="13" name="Shape 9"/>
          <p:cNvSpPr/>
          <p:nvPr/>
        </p:nvSpPr>
        <p:spPr>
          <a:xfrm>
            <a:off x="2364638" y="2798064"/>
            <a:ext cx="1598371" cy="329184"/>
          </a:xfrm>
          <a:prstGeom prst="roundRect">
            <a:avLst>
              <a:gd name="adj" fmla="val 50000"/>
            </a:avLst>
          </a:prstGeom>
          <a:solidFill>
            <a:srgbClr val="2E5EAA"/>
          </a:solidFill>
          <a:ln/>
        </p:spPr>
      </p:sp>
      <p:sp>
        <p:nvSpPr>
          <p:cNvPr id="14" name="Text 10"/>
          <p:cNvSpPr txBox="1"/>
          <p:nvPr/>
        </p:nvSpPr>
        <p:spPr>
          <a:xfrm>
            <a:off x="236463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2102053" y="3456432"/>
            <a:ext cx="457200" cy="457200"/>
          </a:xfrm>
          <a:prstGeom prst="ellipse">
            <a:avLst/>
          </a:prstGeom>
          <a:solidFill>
            <a:srgbClr val="2FAE60"/>
          </a:solidFill>
          <a:ln/>
        </p:spPr>
      </p:sp>
      <p:pic>
        <p:nvPicPr>
          <p:cNvPr id="17"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8" name="Text 13"/>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9" name="Text 14"/>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080" dirty="0"/>
          </a:p>
        </p:txBody>
      </p:sp>
      <p:sp>
        <p:nvSpPr>
          <p:cNvPr id="20" name="Shape 15"/>
          <p:cNvSpPr/>
          <p:nvPr/>
        </p:nvSpPr>
        <p:spPr>
          <a:xfrm>
            <a:off x="4332122" y="3291840"/>
            <a:ext cx="3527450" cy="2761488"/>
          </a:xfrm>
          <a:prstGeom prst="roundRect">
            <a:avLst>
              <a:gd name="adj" fmla="val 3311"/>
            </a:avLst>
          </a:prstGeom>
          <a:solidFill>
            <a:srgbClr val="F2F5F9"/>
          </a:solidFill>
          <a:ln/>
        </p:spPr>
      </p:sp>
      <p:sp>
        <p:nvSpPr>
          <p:cNvPr id="21" name="Shape 16"/>
          <p:cNvSpPr/>
          <p:nvPr/>
        </p:nvSpPr>
        <p:spPr>
          <a:xfrm>
            <a:off x="5867248" y="3456432"/>
            <a:ext cx="457200" cy="457200"/>
          </a:xfrm>
          <a:prstGeom prst="ellipse">
            <a:avLst/>
          </a:prstGeom>
          <a:solidFill>
            <a:srgbClr val="133B6C"/>
          </a:solidFill>
          <a:ln/>
        </p:spPr>
      </p:sp>
      <p:pic>
        <p:nvPicPr>
          <p:cNvPr id="22"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3" name="Text 17"/>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4" name="Text 18"/>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080" dirty="0"/>
          </a:p>
        </p:txBody>
      </p:sp>
      <p:sp>
        <p:nvSpPr>
          <p:cNvPr id="25" name="Shape 19"/>
          <p:cNvSpPr/>
          <p:nvPr/>
        </p:nvSpPr>
        <p:spPr>
          <a:xfrm>
            <a:off x="8097317" y="3291840"/>
            <a:ext cx="3527450" cy="2761488"/>
          </a:xfrm>
          <a:prstGeom prst="roundRect">
            <a:avLst>
              <a:gd name="adj" fmla="val 3311"/>
            </a:avLst>
          </a:prstGeom>
          <a:solidFill>
            <a:srgbClr val="F2F5F9"/>
          </a:solidFill>
          <a:ln/>
        </p:spPr>
      </p:sp>
      <p:sp>
        <p:nvSpPr>
          <p:cNvPr id="26" name="Shape 20"/>
          <p:cNvSpPr/>
          <p:nvPr/>
        </p:nvSpPr>
        <p:spPr>
          <a:xfrm>
            <a:off x="9632442" y="3456432"/>
            <a:ext cx="457200" cy="457200"/>
          </a:xfrm>
          <a:prstGeom prst="ellipse">
            <a:avLst/>
          </a:prstGeom>
          <a:solidFill>
            <a:srgbClr val="E0392B"/>
          </a:solidFill>
          <a:ln/>
        </p:spPr>
      </p:sp>
      <p:pic>
        <p:nvPicPr>
          <p:cNvPr id="27"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8" name="Text 21"/>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9" name="Text 22"/>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080" dirty="0"/>
          </a:p>
        </p:txBody>
      </p:sp>
      <p:sp>
        <p:nvSpPr>
          <p:cNvPr id="30"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GRAN 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Pon a prueba todo lo aprendido. 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2E86C7"/>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2E86C7"/>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2E86C7"/>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2E86C7"/>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2E86C7"/>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2E86C7"/>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2E86C7"/>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2E86C7"/>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2E86C7"/>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Da 30 segundos y luego revisa las respuestas en voz alta con el grupo.</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502920"/>
            <a:ext cx="10972800" cy="365760"/>
          </a:xfrm>
          <a:prstGeom prst="rect">
            <a:avLst/>
          </a:prstGeom>
          <a:noFill/>
          <a:ln/>
        </p:spPr>
        <p:txBody>
          <a:bodyPr wrap="square" lIns="0" tIns="0" rIns="0" bIns="0" rtlCol="0" anchor="ctr"/>
          <a:lstStyle/>
          <a:p>
            <a:pPr algn="ctr" indent="0" marL="0">
              <a:buNone/>
            </a:pPr>
            <a:r>
              <a:rPr lang="en-US" sz="1700" b="1" dirty="0">
                <a:solidFill>
                  <a:srgbClr val="5B6B82"/>
                </a:solidFill>
                <a:latin typeface="Cambria" pitchFamily="34" charset="0"/>
                <a:ea typeface="Cambria" pitchFamily="34" charset="-122"/>
                <a:cs typeface="Cambria" pitchFamily="34" charset="-120"/>
              </a:rPr>
              <a:t>TODOS SOMOS</a:t>
            </a:r>
            <a:endParaRPr lang="en-US" sz="1700" dirty="0"/>
          </a:p>
        </p:txBody>
      </p:sp>
      <p:sp>
        <p:nvSpPr>
          <p:cNvPr id="6" name="Text 3"/>
          <p:cNvSpPr txBox="1"/>
          <p:nvPr/>
        </p:nvSpPr>
        <p:spPr>
          <a:xfrm>
            <a:off x="640080" y="841248"/>
            <a:ext cx="10972800" cy="594360"/>
          </a:xfrm>
          <a:prstGeom prst="rect">
            <a:avLst/>
          </a:prstGeom>
          <a:noFill/>
          <a:ln/>
        </p:spPr>
        <p:txBody>
          <a:bodyPr wrap="square" lIns="0" tIns="0" rIns="0" bIns="0" rtlCol="0" anchor="ctr"/>
          <a:lstStyle/>
          <a:p>
            <a:pPr algn="ctr" indent="0" marL="0">
              <a:buNone/>
            </a:pPr>
            <a:r>
              <a:rPr lang="en-US" sz="3000" b="1" dirty="0">
                <a:solidFill>
                  <a:srgbClr val="133B6C"/>
                </a:solidFill>
                <a:latin typeface="Cambria" pitchFamily="34" charset="0"/>
                <a:ea typeface="Cambria" pitchFamily="34" charset="-122"/>
                <a:cs typeface="Cambria" pitchFamily="34" charset="-120"/>
              </a:rPr>
              <a:t>GESTORES DE RIESGOS</a:t>
            </a:r>
            <a:endParaRPr lang="en-US" sz="3000" dirty="0"/>
          </a:p>
        </p:txBody>
      </p:sp>
      <p:sp>
        <p:nvSpPr>
          <p:cNvPr id="7" name="Shape 4"/>
          <p:cNvSpPr/>
          <p:nvPr/>
        </p:nvSpPr>
        <p:spPr>
          <a:xfrm>
            <a:off x="3444088"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654400" y="1810512"/>
            <a:ext cx="420624" cy="420624"/>
          </a:xfrm>
          <a:prstGeom prst="rect">
            <a:avLst/>
          </a:prstGeom>
        </p:spPr>
      </p:pic>
      <p:sp>
        <p:nvSpPr>
          <p:cNvPr id="9" name="Text 5"/>
          <p:cNvSpPr txBox="1"/>
          <p:nvPr/>
        </p:nvSpPr>
        <p:spPr>
          <a:xfrm>
            <a:off x="3169768"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VEO</a:t>
            </a:r>
            <a:endParaRPr lang="en-US" sz="115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4312768" y="1911096"/>
            <a:ext cx="219456" cy="219456"/>
          </a:xfrm>
          <a:prstGeom prst="rect">
            <a:avLst/>
          </a:prstGeom>
        </p:spPr>
      </p:pic>
      <p:sp>
        <p:nvSpPr>
          <p:cNvPr id="11" name="Shape 6"/>
          <p:cNvSpPr/>
          <p:nvPr/>
        </p:nvSpPr>
        <p:spPr>
          <a:xfrm>
            <a:off x="4559656"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769968" y="1810512"/>
            <a:ext cx="420624" cy="420624"/>
          </a:xfrm>
          <a:prstGeom prst="rect">
            <a:avLst/>
          </a:prstGeom>
        </p:spPr>
      </p:pic>
      <p:sp>
        <p:nvSpPr>
          <p:cNvPr id="13" name="Text 7"/>
          <p:cNvSpPr txBox="1"/>
          <p:nvPr/>
        </p:nvSpPr>
        <p:spPr>
          <a:xfrm>
            <a:off x="4285336"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IDENTIFICO</a:t>
            </a:r>
            <a:endParaRPr lang="en-US" sz="11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428336" y="1911096"/>
            <a:ext cx="219456" cy="219456"/>
          </a:xfrm>
          <a:prstGeom prst="rect">
            <a:avLst/>
          </a:prstGeom>
        </p:spPr>
      </p:pic>
      <p:sp>
        <p:nvSpPr>
          <p:cNvPr id="15" name="Shape 8"/>
          <p:cNvSpPr/>
          <p:nvPr/>
        </p:nvSpPr>
        <p:spPr>
          <a:xfrm>
            <a:off x="5675224"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85536" y="1810512"/>
            <a:ext cx="420624" cy="420624"/>
          </a:xfrm>
          <a:prstGeom prst="rect">
            <a:avLst/>
          </a:prstGeom>
        </p:spPr>
      </p:pic>
      <p:sp>
        <p:nvSpPr>
          <p:cNvPr id="17" name="Text 9"/>
          <p:cNvSpPr txBox="1"/>
          <p:nvPr/>
        </p:nvSpPr>
        <p:spPr>
          <a:xfrm>
            <a:off x="5400904"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PREVENGO</a:t>
            </a:r>
            <a:endParaRPr lang="en-US" sz="115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543904" y="1911096"/>
            <a:ext cx="219456" cy="219456"/>
          </a:xfrm>
          <a:prstGeom prst="rect">
            <a:avLst/>
          </a:prstGeom>
        </p:spPr>
      </p:pic>
      <p:sp>
        <p:nvSpPr>
          <p:cNvPr id="19" name="Shape 10"/>
          <p:cNvSpPr/>
          <p:nvPr/>
        </p:nvSpPr>
        <p:spPr>
          <a:xfrm>
            <a:off x="6790792"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001104" y="1810512"/>
            <a:ext cx="420624" cy="420624"/>
          </a:xfrm>
          <a:prstGeom prst="rect">
            <a:avLst/>
          </a:prstGeom>
        </p:spPr>
      </p:pic>
      <p:sp>
        <p:nvSpPr>
          <p:cNvPr id="21" name="Text 11"/>
          <p:cNvSpPr txBox="1"/>
          <p:nvPr/>
        </p:nvSpPr>
        <p:spPr>
          <a:xfrm>
            <a:off x="6516472"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ACTÚO</a:t>
            </a:r>
            <a:endParaRPr lang="en-US" sz="115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7659472" y="1911096"/>
            <a:ext cx="219456" cy="219456"/>
          </a:xfrm>
          <a:prstGeom prst="rect">
            <a:avLst/>
          </a:prstGeom>
        </p:spPr>
      </p:pic>
      <p:sp>
        <p:nvSpPr>
          <p:cNvPr id="23" name="Shape 12"/>
          <p:cNvSpPr/>
          <p:nvPr/>
        </p:nvSpPr>
        <p:spPr>
          <a:xfrm>
            <a:off x="7906360"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116672" y="1810512"/>
            <a:ext cx="420624" cy="420624"/>
          </a:xfrm>
          <a:prstGeom prst="rect">
            <a:avLst/>
          </a:prstGeom>
        </p:spPr>
      </p:pic>
      <p:sp>
        <p:nvSpPr>
          <p:cNvPr id="25" name="Text 13"/>
          <p:cNvSpPr txBox="1"/>
          <p:nvPr/>
        </p:nvSpPr>
        <p:spPr>
          <a:xfrm>
            <a:off x="7632040"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REPORTO</a:t>
            </a:r>
            <a:endParaRPr lang="en-US" sz="1150" dirty="0"/>
          </a:p>
        </p:txBody>
      </p:sp>
      <p:sp>
        <p:nvSpPr>
          <p:cNvPr id="26" name="Text 14"/>
          <p:cNvSpPr txBox="1"/>
          <p:nvPr/>
        </p:nvSpPr>
        <p:spPr>
          <a:xfrm>
            <a:off x="640080" y="3054096"/>
            <a:ext cx="10972800" cy="329184"/>
          </a:xfrm>
          <a:prstGeom prst="rect">
            <a:avLst/>
          </a:prstGeom>
          <a:noFill/>
          <a:ln/>
        </p:spPr>
        <p:txBody>
          <a:bodyPr wrap="square" lIns="0" tIns="0" rIns="0" bIns="0" rtlCol="0" anchor="ctr"/>
          <a:lstStyle/>
          <a:p>
            <a:pPr algn="ctr" indent="0" marL="0">
              <a:buNone/>
            </a:pPr>
            <a:r>
              <a:rPr lang="en-US" sz="1600" b="1" spc="100" kern="0" dirty="0">
                <a:solidFill>
                  <a:srgbClr val="2E86C7"/>
                </a:solidFill>
                <a:latin typeface="Calibri" pitchFamily="34" charset="0"/>
                <a:ea typeface="Calibri" pitchFamily="34" charset="-122"/>
                <a:cs typeface="Calibri" pitchFamily="34" charset="-120"/>
              </a:rPr>
              <a:t>¿VES UN RIESGO?  ¡REPÓRTALO!</a:t>
            </a:r>
            <a:endParaRPr lang="en-US" sz="1600" dirty="0"/>
          </a:p>
        </p:txBody>
      </p:sp>
      <p:sp>
        <p:nvSpPr>
          <p:cNvPr id="27" name="Text 15"/>
          <p:cNvSpPr txBox="1"/>
          <p:nvPr/>
        </p:nvSpPr>
        <p:spPr>
          <a:xfrm>
            <a:off x="5638648" y="3456432"/>
            <a:ext cx="914400" cy="502920"/>
          </a:xfrm>
          <a:prstGeom prst="rect">
            <a:avLst/>
          </a:prstGeom>
          <a:noFill/>
          <a:ln/>
        </p:spPr>
        <p:txBody>
          <a:bodyPr wrap="square" lIns="0" tIns="0" rIns="0" bIns="0" rtlCol="0" anchor="ctr"/>
          <a:lstStyle/>
          <a:p>
            <a:pPr algn="ctr" indent="0" marL="0">
              <a:buNone/>
            </a:pPr>
            <a:r>
              <a:rPr lang="en-US" sz="4600" b="1" dirty="0">
                <a:solidFill>
                  <a:srgbClr val="E3E8EF"/>
                </a:solidFill>
                <a:latin typeface="Cambria" pitchFamily="34" charset="0"/>
                <a:ea typeface="Cambria" pitchFamily="34" charset="-122"/>
                <a:cs typeface="Cambria" pitchFamily="34" charset="-120"/>
              </a:rPr>
              <a:t>“</a:t>
            </a:r>
            <a:endParaRPr lang="en-US" sz="4600" dirty="0"/>
          </a:p>
        </p:txBody>
      </p:sp>
      <p:sp>
        <p:nvSpPr>
          <p:cNvPr id="28" name="Text 16"/>
          <p:cNvSpPr txBox="1"/>
          <p:nvPr/>
        </p:nvSpPr>
        <p:spPr>
          <a:xfrm>
            <a:off x="914400" y="3950208"/>
            <a:ext cx="10360152" cy="914400"/>
          </a:xfrm>
          <a:prstGeom prst="rect">
            <a:avLst/>
          </a:prstGeom>
          <a:noFill/>
          <a:ln/>
        </p:spPr>
        <p:txBody>
          <a:bodyPr wrap="square" lIns="0" tIns="0" rIns="0" bIns="0" rtlCol="0" anchor="ctr"/>
          <a:lstStyle/>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Un riesgo que reportamos a tiempo</a:t>
            </a:r>
            <a:endParaRPr lang="en-US" sz="2200" dirty="0"/>
          </a:p>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puede evitar un problema mañana.</a:t>
            </a:r>
            <a:endParaRPr lang="en-US" sz="2200" dirty="0"/>
          </a:p>
        </p:txBody>
      </p:sp>
      <p:sp>
        <p:nvSpPr>
          <p:cNvPr id="29" name="Text 17"/>
          <p:cNvSpPr txBox="1"/>
          <p:nvPr/>
        </p:nvSpPr>
        <p:spPr>
          <a:xfrm>
            <a:off x="1463040" y="4956048"/>
            <a:ext cx="9262872" cy="347472"/>
          </a:xfrm>
          <a:prstGeom prst="rect">
            <a:avLst/>
          </a:prstGeom>
          <a:noFill/>
          <a:ln/>
        </p:spPr>
        <p:txBody>
          <a:bodyPr wrap="square" lIns="0" tIns="0" rIns="0" bIns="0" rtlCol="0" anchor="ctr"/>
          <a:lstStyle/>
          <a:p>
            <a:pPr algn="ctr" indent="0" marL="0">
              <a:buNone/>
            </a:pPr>
            <a:r>
              <a:rPr lang="en-US" sz="13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300" dirty="0"/>
          </a:p>
        </p:txBody>
      </p:sp>
      <p:pic>
        <p:nvPicPr>
          <p:cNvPr id="30" name="Image 9" descr="/tmp/claude-0/-home-user-riesgo/0ff9ff46-1396-5bd8-b3ac-2280dfbbbc55/scratchpad/work/gen/logo_navy.png">    </p:cNvPr>
          <p:cNvPicPr>
            <a:picLocks noChangeAspect="1"/>
          </p:cNvPicPr>
          <p:nvPr/>
        </p:nvPicPr>
        <p:blipFill>
          <a:blip r:embed="rId10"/>
          <a:stretch>
            <a:fillRect/>
          </a:stretch>
        </p:blipFill>
        <p:spPr>
          <a:xfrm>
            <a:off x="5318608" y="5440680"/>
            <a:ext cx="1554480" cy="436809"/>
          </a:xfrm>
          <a:prstGeom prst="rect">
            <a:avLst/>
          </a:prstGeom>
        </p:spPr>
      </p:pic>
      <p:sp>
        <p:nvSpPr>
          <p:cNvPr id="31" name="Text 18"/>
          <p:cNvSpPr txBox="1"/>
          <p:nvPr/>
        </p:nvSpPr>
        <p:spPr>
          <a:xfrm>
            <a:off x="914400" y="6035040"/>
            <a:ext cx="10360152" cy="274320"/>
          </a:xfrm>
          <a:prstGeom prst="rect">
            <a:avLst/>
          </a:prstGeom>
          <a:noFill/>
          <a:ln/>
        </p:spPr>
        <p:txBody>
          <a:bodyPr wrap="square" lIns="0" tIns="0" rIns="0" bIns="0" rtlCol="0" anchor="ctr"/>
          <a:lstStyle/>
          <a:p>
            <a:pPr algn="ctr" indent="0" marL="0">
              <a:buNone/>
            </a:pPr>
            <a:r>
              <a:rPr lang="en-US" sz="105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050" dirty="0"/>
          </a:p>
        </p:txBody>
      </p:sp>
      <p:sp>
        <p:nvSpPr>
          <p:cNvPr id="32"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2026-09-10T23:49:04Z</dcterms:created>
  <dcterms:modified xsi:type="dcterms:W3CDTF">2026-09-10T23:49:04Z</dcterms:modified>
</cp:coreProperties>
</file>