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2.png"/><Relationship Id="rId5" Type="http://schemas.openxmlformats.org/officeDocument/2006/relationships/image" Target="../media/image-9-5.png"/><Relationship Id="rId6" Type="http://schemas.openxmlformats.org/officeDocument/2006/relationships/image" Target="../media/image-9-2.png"/><Relationship Id="rId7" Type="http://schemas.openxmlformats.org/officeDocument/2006/relationships/image" Target="../media/image-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2.png"/><Relationship Id="rId5" Type="http://schemas.openxmlformats.org/officeDocument/2006/relationships/image" Target="../media/image-26-5.png"/><Relationship Id="rId6" Type="http://schemas.openxmlformats.org/officeDocument/2006/relationships/image" Target="../media/image-26-2.png"/><Relationship Id="rId7" Type="http://schemas.openxmlformats.org/officeDocument/2006/relationships/image" Target="../media/image-26-7.png"/><Relationship Id="rId8" Type="http://schemas.openxmlformats.org/officeDocument/2006/relationships/image" Target="../media/image-26-8.png"/><Relationship Id="rId9" Type="http://schemas.openxmlformats.org/officeDocument/2006/relationships/image" Target="../media/image-26-9.png"/><Relationship Id="rId10" Type="http://schemas.openxmlformats.org/officeDocument/2006/relationships/image" Target="../media/image-26-2.png"/><Relationship Id="rId11" Type="http://schemas.openxmlformats.org/officeDocument/2006/relationships/image" Target="../media/image-26-11.png"/><Relationship Id="rId12" Type="http://schemas.openxmlformats.org/officeDocument/2006/relationships/image" Target="../media/image-26-2.png"/><Relationship Id="rId13" Type="http://schemas.openxmlformats.org/officeDocument/2006/relationships/image" Target="../media/image-26-13.png"/><Relationship Id="rId14" Type="http://schemas.openxmlformats.org/officeDocument/2006/relationships/image" Target="../media/image-26-2.png"/><Relationship Id="rId15" Type="http://schemas.openxmlformats.org/officeDocument/2006/relationships/image" Target="../media/image-26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2.png"/><Relationship Id="rId5" Type="http://schemas.openxmlformats.org/officeDocument/2006/relationships/image" Target="../media/image-32-5.png"/><Relationship Id="rId6" Type="http://schemas.openxmlformats.org/officeDocument/2006/relationships/image" Target="../media/image-32-2.png"/><Relationship Id="rId7" Type="http://schemas.openxmlformats.org/officeDocument/2006/relationships/image" Target="../media/image-32-7.png"/><Relationship Id="rId8" Type="http://schemas.openxmlformats.org/officeDocument/2006/relationships/image" Target="../media/image-32-2.png"/><Relationship Id="rId9" Type="http://schemas.openxmlformats.org/officeDocument/2006/relationships/image" Target="../media/image-32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image" Target="../media/image-3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2.png"/><Relationship Id="rId4" Type="http://schemas.openxmlformats.org/officeDocument/2006/relationships/image" Target="../media/image-35-2.png"/><Relationship Id="rId5" Type="http://schemas.openxmlformats.org/officeDocument/2006/relationships/image" Target="../media/image-35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2.png"/><Relationship Id="rId4" Type="http://schemas.openxmlformats.org/officeDocument/2006/relationships/image" Target="../media/image-37-2.png"/><Relationship Id="rId5" Type="http://schemas.openxmlformats.org/officeDocument/2006/relationships/image" Target="../media/image-37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2.png"/><Relationship Id="rId4" Type="http://schemas.openxmlformats.org/officeDocument/2006/relationships/image" Target="../media/image-39-2.png"/><Relationship Id="rId5" Type="http://schemas.openxmlformats.org/officeDocument/2006/relationships/image" Target="../media/image-39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image" Target="../media/image-4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2.png"/><Relationship Id="rId4" Type="http://schemas.openxmlformats.org/officeDocument/2006/relationships/image" Target="../media/image-41-2.png"/><Relationship Id="rId5" Type="http://schemas.openxmlformats.org/officeDocument/2006/relationships/image" Target="../media/image-41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image" Target="../media/image-44-3.png"/><Relationship Id="rId4" Type="http://schemas.openxmlformats.org/officeDocument/2006/relationships/image" Target="../media/image-44-4.png"/><Relationship Id="rId5" Type="http://schemas.openxmlformats.org/officeDocument/2006/relationships/image" Target="../media/image-44-5.png"/><Relationship Id="rId6" Type="http://schemas.openxmlformats.org/officeDocument/2006/relationships/image" Target="../media/image-44-6.png"/><Relationship Id="rId7" Type="http://schemas.openxmlformats.org/officeDocument/2006/relationships/image" Target="../media/image-44-7.png"/><Relationship Id="rId8" Type="http://schemas.openxmlformats.org/officeDocument/2006/relationships/image" Target="../media/image-44-8.png"/><Relationship Id="rId9" Type="http://schemas.openxmlformats.org/officeDocument/2006/relationships/image" Target="../media/image-44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image" Target="../media/image-45-3.png"/><Relationship Id="rId4" Type="http://schemas.openxmlformats.org/officeDocument/2006/relationships/image" Target="../media/image-45-4.png"/><Relationship Id="rId5" Type="http://schemas.openxmlformats.org/officeDocument/2006/relationships/image" Target="../media/image-45-5.png"/><Relationship Id="rId6" Type="http://schemas.openxmlformats.org/officeDocument/2006/relationships/image" Target="../media/image-45-6.png"/><Relationship Id="rId7" Type="http://schemas.openxmlformats.org/officeDocument/2006/relationships/image" Target="../media/image-45-7.png"/><Relationship Id="rId8" Type="http://schemas.openxmlformats.org/officeDocument/2006/relationships/image" Target="../media/image-45-8.png"/><Relationship Id="rId9" Type="http://schemas.openxmlformats.org/officeDocument/2006/relationships/image" Target="../media/image-45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image" Target="../media/image-46-3.png"/><Relationship Id="rId4" Type="http://schemas.openxmlformats.org/officeDocument/2006/relationships/image" Target="../media/image-46-2.png"/><Relationship Id="rId5" Type="http://schemas.openxmlformats.org/officeDocument/2006/relationships/image" Target="../media/image-46-5.png"/><Relationship Id="rId6" Type="http://schemas.openxmlformats.org/officeDocument/2006/relationships/image" Target="../media/image-46-2.png"/><Relationship Id="rId7" Type="http://schemas.openxmlformats.org/officeDocument/2006/relationships/image" Target="../media/image-46-7.png"/><Relationship Id="rId8" Type="http://schemas.openxmlformats.org/officeDocument/2006/relationships/image" Target="../media/image-46-2.png"/><Relationship Id="rId9" Type="http://schemas.openxmlformats.org/officeDocument/2006/relationships/image" Target="../media/image-46-9.png"/><Relationship Id="rId10" Type="http://schemas.openxmlformats.org/officeDocument/2006/relationships/image" Target="../media/image-46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377440"/>
            <a:ext cx="6858000" cy="6858000"/>
          </a:xfrm>
          <a:prstGeom prst="ellipse">
            <a:avLst/>
          </a:prstGeom>
          <a:solidFill>
            <a:srgbClr val="0D2847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-822960"/>
            <a:ext cx="3291840" cy="3291840"/>
          </a:xfrm>
          <a:prstGeom prst="ellipse">
            <a:avLst/>
          </a:prstGeom>
          <a:solidFill>
            <a:srgbClr val="E3A7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417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E3A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CAPACITACIÓN ANUAL 2025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74520"/>
            <a:ext cx="78638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GESTIÓN INTEGRAL</a:t>
            </a:r>
            <a:endParaRPr lang="en-US" sz="46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RIESGOS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79476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SOMOS GESTORES DE RIESGOS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46177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D3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Departamento de Administración de Riesgos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9377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3A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Identificar · Prevenir · Reducir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 flipV="1">
            <a:off x="9921240" y="2468880"/>
            <a:ext cx="9144" cy="1691640"/>
          </a:xfrm>
          <a:prstGeom prst="line">
            <a:avLst/>
          </a:prstGeom>
          <a:noFill/>
          <a:ln w="12700">
            <a:solidFill>
              <a:srgbClr val="25406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9921240" y="3637774"/>
            <a:ext cx="1608845" cy="522746"/>
          </a:xfrm>
          <a:prstGeom prst="line">
            <a:avLst/>
          </a:prstGeom>
          <a:noFill/>
          <a:ln w="12700">
            <a:solidFill>
              <a:srgbClr val="25406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921240" y="4160520"/>
            <a:ext cx="994321" cy="1368566"/>
          </a:xfrm>
          <a:prstGeom prst="line">
            <a:avLst/>
          </a:prstGeom>
          <a:noFill/>
          <a:ln w="12700">
            <a:solidFill>
              <a:srgbClr val="25406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H="1">
            <a:off x="8926919" y="4160520"/>
            <a:ext cx="994321" cy="1368566"/>
          </a:xfrm>
          <a:prstGeom prst="line">
            <a:avLst/>
          </a:prstGeom>
          <a:noFill/>
          <a:ln w="12700">
            <a:solidFill>
              <a:srgbClr val="25406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H="1" flipV="1">
            <a:off x="8312395" y="3637774"/>
            <a:ext cx="1608845" cy="522746"/>
          </a:xfrm>
          <a:prstGeom prst="line">
            <a:avLst/>
          </a:prstGeom>
          <a:noFill/>
          <a:ln w="12700">
            <a:solidFill>
              <a:srgbClr val="25406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537192" y="2084832"/>
            <a:ext cx="768096" cy="768096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15" name="Image 0" descr="/tmp/claude-0/-home-user-riesgo/0ff9ff46-1396-5bd8-b3ac-2280dfbbbc55/scratchpad/work/gen/icons/person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21535" y="2269175"/>
            <a:ext cx="399410" cy="39941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11146037" y="3253726"/>
            <a:ext cx="768096" cy="768096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17" name="Image 1" descr="/tmp/claude-0/-home-user-riesgo/0ff9ff46-1396-5bd8-b3ac-2280dfbbbc55/scratchpad/work/gen/icons/briefcas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0380" y="3438070"/>
            <a:ext cx="399410" cy="399410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10531513" y="5145038"/>
            <a:ext cx="768096" cy="768096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19" name="Image 2" descr="/tmp/claude-0/-home-user-riesgo/0ff9ff46-1396-5bd8-b3ac-2280dfbbbc55/scratchpad/work/gen/icons/handshake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15856" y="5329381"/>
            <a:ext cx="399410" cy="39941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8542871" y="5145038"/>
            <a:ext cx="768096" cy="768096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21" name="Image 3" descr="/tmp/claude-0/-home-user-riesgo/0ff9ff46-1396-5bd8-b3ac-2280dfbbbc55/scratchpad/work/gen/icons/clipboard_check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7214" y="5329381"/>
            <a:ext cx="399410" cy="39941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7928347" y="3253726"/>
            <a:ext cx="768096" cy="768096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23" name="Image 4" descr="/tmp/claude-0/-home-user-riesgo/0ff9ff46-1396-5bd8-b3ac-2280dfbbbc55/scratchpad/work/gen/icons/megaphone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12690" y="3438070"/>
            <a:ext cx="399410" cy="399410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9262872" y="3502152"/>
            <a:ext cx="1316736" cy="1316736"/>
          </a:xfrm>
          <a:prstGeom prst="ellipse">
            <a:avLst/>
          </a:prstGeom>
          <a:solidFill>
            <a:srgbClr val="E3A73B"/>
          </a:solidFill>
          <a:ln/>
        </p:spPr>
      </p:sp>
      <p:pic>
        <p:nvPicPr>
          <p:cNvPr id="25" name="Image 5" descr="/tmp/claude-0/-home-user-riesgo/0ff9ff46-1396-5bd8-b3ac-2280dfbbbc55/scratchpad/work/gen/icons/shield_check_nav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92056" y="3831336"/>
            <a:ext cx="658368" cy="658368"/>
          </a:xfrm>
          <a:prstGeom prst="rect">
            <a:avLst/>
          </a:prstGeom>
        </p:spPr>
      </p:pic>
      <p:pic>
        <p:nvPicPr>
          <p:cNvPr id="26" name="Image 6" descr="/tmp/claude-0/-home-user-riesgo/0ff9ff46-1396-5bd8-b3ac-2280dfbbbc55/scratchpad/work/gen/logo_whi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" y="5779008"/>
            <a:ext cx="1691640" cy="475351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C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INTEGRAL DE RIESGOS  ·  COMEDICA DE R.L.</a:t>
            </a:r>
            <a:endParaRPr lang="en-US" sz="900" dirty="0"/>
          </a:p>
        </p:txBody>
      </p:sp>
      <p:sp>
        <p:nvSpPr>
          <p:cNvPr id="28" name="Text 19"/>
          <p:cNvSpPr txBox="1"/>
          <p:nvPr/>
        </p:nvSpPr>
        <p:spPr>
          <a:xfrm>
            <a:off x="11076127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C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E3A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CAPACITACIÓN 2025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22960"/>
            <a:ext cx="110578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133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NUESTRO RECORRIDO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Ocho temas para construir, entre todos, una cultura real de gestión de riesgos.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1993392"/>
            <a:ext cx="5349240" cy="868680"/>
          </a:xfrm>
          <a:prstGeom prst="roundRect">
            <a:avLst>
              <a:gd name="adj" fmla="val 9474"/>
            </a:avLst>
          </a:prstGeom>
          <a:solidFill>
            <a:srgbClr val="F2F5F9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2116836"/>
            <a:ext cx="621792" cy="621792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7" name="Image 0" descr="/tmp/claude-0/-home-user-riesgo/0ff9ff46-1396-5bd8-b3ac-2280dfbbbc55/scratchpad/work/gen/icons/people_grou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2272284"/>
            <a:ext cx="310896" cy="31089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463040" y="206654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3A7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2304288"/>
            <a:ext cx="4270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SOMOS GESTORES DE RIESGOS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36208" y="1993392"/>
            <a:ext cx="5349240" cy="868680"/>
          </a:xfrm>
          <a:prstGeom prst="roundRect">
            <a:avLst>
              <a:gd name="adj" fmla="val 9474"/>
            </a:avLst>
          </a:prstGeom>
          <a:solidFill>
            <a:srgbClr val="F2F5F9"/>
          </a:solidFill>
          <a:ln/>
        </p:spPr>
      </p:sp>
      <p:sp>
        <p:nvSpPr>
          <p:cNvPr id="11" name="Shape 8"/>
          <p:cNvSpPr/>
          <p:nvPr/>
        </p:nvSpPr>
        <p:spPr>
          <a:xfrm>
            <a:off x="6400800" y="2116836"/>
            <a:ext cx="621792" cy="621792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12" name="Image 1" descr="/tmp/claude-0/-home-user-riesgo/0ff9ff46-1396-5bd8-b3ac-2280dfbbbc55/scratchpad/work/gen/icons/megaphon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6248" y="2272284"/>
            <a:ext cx="310896" cy="31089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132320" y="206654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3A7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7132320" y="2304288"/>
            <a:ext cx="4270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¿VES UN RIESGO? ¡REPÓRTALO!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566928" y="2980944"/>
            <a:ext cx="5349240" cy="868680"/>
          </a:xfrm>
          <a:prstGeom prst="roundRect">
            <a:avLst>
              <a:gd name="adj" fmla="val 9474"/>
            </a:avLst>
          </a:prstGeom>
          <a:solidFill>
            <a:srgbClr val="F2F5F9"/>
          </a:solidFill>
          <a:ln/>
        </p:spPr>
      </p:sp>
      <p:sp>
        <p:nvSpPr>
          <p:cNvPr id="16" name="Shape 12"/>
          <p:cNvSpPr/>
          <p:nvPr/>
        </p:nvSpPr>
        <p:spPr>
          <a:xfrm>
            <a:off x="731520" y="3104388"/>
            <a:ext cx="621792" cy="621792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17" name="Image 2" descr="/tmp/claude-0/-home-user-riesgo/0ff9ff46-1396-5bd8-b3ac-2280dfbbbc55/scratchpad/work/gen/icons/gears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3259836"/>
            <a:ext cx="310896" cy="31089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463040" y="305409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3A7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1463040" y="3291840"/>
            <a:ext cx="4270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RIESGOS OPERATIVOS ESTÁN EN NUESTRO DÍA A DÍA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6236208" y="2980944"/>
            <a:ext cx="5349240" cy="868680"/>
          </a:xfrm>
          <a:prstGeom prst="roundRect">
            <a:avLst>
              <a:gd name="adj" fmla="val 9474"/>
            </a:avLst>
          </a:prstGeom>
          <a:solidFill>
            <a:srgbClr val="F2F5F9"/>
          </a:solidFill>
          <a:ln/>
        </p:spPr>
      </p:sp>
      <p:sp>
        <p:nvSpPr>
          <p:cNvPr id="21" name="Shape 16"/>
          <p:cNvSpPr/>
          <p:nvPr/>
        </p:nvSpPr>
        <p:spPr>
          <a:xfrm>
            <a:off x="6400800" y="3104388"/>
            <a:ext cx="621792" cy="621792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22" name="Image 3" descr="/tmp/claude-0/-home-user-riesgo/0ff9ff46-1396-5bd8-b3ac-2280dfbbbc55/scratchpad/work/gen/icons/star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6248" y="3259836"/>
            <a:ext cx="310896" cy="310896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132320" y="305409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3A7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300" dirty="0"/>
          </a:p>
        </p:txBody>
      </p:sp>
      <p:sp>
        <p:nvSpPr>
          <p:cNvPr id="24" name="Text 18"/>
          <p:cNvSpPr txBox="1"/>
          <p:nvPr/>
        </p:nvSpPr>
        <p:spPr>
          <a:xfrm>
            <a:off x="7132320" y="3291840"/>
            <a:ext cx="4270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CUIDEMOS LA REPUTACIÓN DE NUESTRA COOPERATIVA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566928" y="3968496"/>
            <a:ext cx="5349240" cy="868680"/>
          </a:xfrm>
          <a:prstGeom prst="roundRect">
            <a:avLst>
              <a:gd name="adj" fmla="val 9474"/>
            </a:avLst>
          </a:prstGeom>
          <a:solidFill>
            <a:srgbClr val="F2F5F9"/>
          </a:solidFill>
          <a:ln/>
        </p:spPr>
      </p:sp>
      <p:sp>
        <p:nvSpPr>
          <p:cNvPr id="26" name="Shape 20"/>
          <p:cNvSpPr/>
          <p:nvPr/>
        </p:nvSpPr>
        <p:spPr>
          <a:xfrm>
            <a:off x="731520" y="4091940"/>
            <a:ext cx="621792" cy="621792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27" name="Image 4" descr="/tmp/claude-0/-home-user-riesgo/0ff9ff46-1396-5bd8-b3ac-2280dfbbbc55/scratchpad/work/gen/icons/shield_warning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968" y="4247388"/>
            <a:ext cx="310896" cy="310896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463040" y="40416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3A7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300" dirty="0"/>
          </a:p>
        </p:txBody>
      </p:sp>
      <p:sp>
        <p:nvSpPr>
          <p:cNvPr id="29" name="Text 22"/>
          <p:cNvSpPr txBox="1"/>
          <p:nvPr/>
        </p:nvSpPr>
        <p:spPr>
          <a:xfrm>
            <a:off x="1463040" y="4279392"/>
            <a:ext cx="4270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FRAUDE Y ERRORES: APRENDAMOS A PREVENIRLOS</a:t>
            </a:r>
            <a:endParaRPr lang="en-US" sz="1150" dirty="0"/>
          </a:p>
        </p:txBody>
      </p:sp>
      <p:sp>
        <p:nvSpPr>
          <p:cNvPr id="30" name="Shape 23"/>
          <p:cNvSpPr/>
          <p:nvPr/>
        </p:nvSpPr>
        <p:spPr>
          <a:xfrm>
            <a:off x="6236208" y="3968496"/>
            <a:ext cx="5349240" cy="868680"/>
          </a:xfrm>
          <a:prstGeom prst="roundRect">
            <a:avLst>
              <a:gd name="adj" fmla="val 9474"/>
            </a:avLst>
          </a:prstGeom>
          <a:solidFill>
            <a:srgbClr val="F2F5F9"/>
          </a:solidFill>
          <a:ln/>
        </p:spPr>
      </p:sp>
      <p:sp>
        <p:nvSpPr>
          <p:cNvPr id="31" name="Shape 24"/>
          <p:cNvSpPr/>
          <p:nvPr/>
        </p:nvSpPr>
        <p:spPr>
          <a:xfrm>
            <a:off x="6400800" y="4091940"/>
            <a:ext cx="621792" cy="621792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32" name="Image 5" descr="/tmp/claude-0/-home-user-riesgo/0ff9ff46-1396-5bd8-b3ac-2280dfbbbc55/scratchpad/work/gen/icons/bank_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6248" y="4247388"/>
            <a:ext cx="310896" cy="310896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7132320" y="40416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3A7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300" dirty="0"/>
          </a:p>
        </p:txBody>
      </p:sp>
      <p:sp>
        <p:nvSpPr>
          <p:cNvPr id="34" name="Text 26"/>
          <p:cNvSpPr txBox="1"/>
          <p:nvPr/>
        </p:nvSpPr>
        <p:spPr>
          <a:xfrm>
            <a:off x="7132320" y="4279392"/>
            <a:ext cx="4270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RIESGO CREDITICIO NO ES SOLO RESPONSABILIDAD DE CRÉDITOS</a:t>
            </a:r>
            <a:endParaRPr lang="en-US" sz="1150" dirty="0"/>
          </a:p>
        </p:txBody>
      </p:sp>
      <p:sp>
        <p:nvSpPr>
          <p:cNvPr id="35" name="Shape 27"/>
          <p:cNvSpPr/>
          <p:nvPr/>
        </p:nvSpPr>
        <p:spPr>
          <a:xfrm>
            <a:off x="566928" y="4956048"/>
            <a:ext cx="5349240" cy="868680"/>
          </a:xfrm>
          <a:prstGeom prst="roundRect">
            <a:avLst>
              <a:gd name="adj" fmla="val 9474"/>
            </a:avLst>
          </a:prstGeom>
          <a:solidFill>
            <a:srgbClr val="F2F5F9"/>
          </a:solidFill>
          <a:ln/>
        </p:spPr>
      </p:sp>
      <p:sp>
        <p:nvSpPr>
          <p:cNvPr id="36" name="Shape 28"/>
          <p:cNvSpPr/>
          <p:nvPr/>
        </p:nvSpPr>
        <p:spPr>
          <a:xfrm>
            <a:off x="731520" y="5079492"/>
            <a:ext cx="621792" cy="621792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37" name="Image 6" descr="/tmp/claude-0/-home-user-riesgo/0ff9ff46-1396-5bd8-b3ac-2280dfbbbc55/scratchpad/work/gen/icons/handshake_whi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6968" y="5234940"/>
            <a:ext cx="310896" cy="310896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1463040" y="50292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3A7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300" dirty="0"/>
          </a:p>
        </p:txBody>
      </p:sp>
      <p:sp>
        <p:nvSpPr>
          <p:cNvPr id="39" name="Text 30"/>
          <p:cNvSpPr txBox="1"/>
          <p:nvPr/>
        </p:nvSpPr>
        <p:spPr>
          <a:xfrm>
            <a:off x="1463040" y="5266944"/>
            <a:ext cx="4270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¿QUIÉN ES RESPONSABLE DE GESTIONAR LOS RIESGOS?</a:t>
            </a:r>
            <a:endParaRPr lang="en-US" sz="1150" dirty="0"/>
          </a:p>
        </p:txBody>
      </p:sp>
      <p:sp>
        <p:nvSpPr>
          <p:cNvPr id="40" name="Shape 31"/>
          <p:cNvSpPr/>
          <p:nvPr/>
        </p:nvSpPr>
        <p:spPr>
          <a:xfrm>
            <a:off x="6236208" y="4956048"/>
            <a:ext cx="5349240" cy="868680"/>
          </a:xfrm>
          <a:prstGeom prst="roundRect">
            <a:avLst>
              <a:gd name="adj" fmla="val 9474"/>
            </a:avLst>
          </a:prstGeom>
          <a:solidFill>
            <a:srgbClr val="F2F5F9"/>
          </a:solidFill>
          <a:ln/>
        </p:spPr>
      </p:sp>
      <p:sp>
        <p:nvSpPr>
          <p:cNvPr id="41" name="Shape 32"/>
          <p:cNvSpPr/>
          <p:nvPr/>
        </p:nvSpPr>
        <p:spPr>
          <a:xfrm>
            <a:off x="6400800" y="5079492"/>
            <a:ext cx="621792" cy="621792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42" name="Image 7" descr="/tmp/claude-0/-home-user-riesgo/0ff9ff46-1396-5bd8-b3ac-2280dfbbbc55/scratchpad/work/gen/icons/globe_whit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56248" y="5234940"/>
            <a:ext cx="310896" cy="310896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7132320" y="50292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3A7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1300" dirty="0"/>
          </a:p>
        </p:txBody>
      </p:sp>
      <p:sp>
        <p:nvSpPr>
          <p:cNvPr id="44" name="Text 34"/>
          <p:cNvSpPr txBox="1"/>
          <p:nvPr/>
        </p:nvSpPr>
        <p:spPr>
          <a:xfrm>
            <a:off x="7132320" y="5266944"/>
            <a:ext cx="4270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 AMBIENTALES Y SOCIALES: TAMBIÉN SON RIESGOS FINANCIEROS</a:t>
            </a:r>
            <a:endParaRPr lang="en-US" sz="1150" dirty="0"/>
          </a:p>
        </p:txBody>
      </p:sp>
      <p:sp>
        <p:nvSpPr>
          <p:cNvPr id="45" name="Text 35"/>
          <p:cNvSpPr txBox="1"/>
          <p:nvPr/>
        </p:nvSpPr>
        <p:spPr>
          <a:xfrm>
            <a:off x="566928" y="6053328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CASOS INTEGRADORES   ·   GRAN ACTIVIDAD FINAL   ·   CIERRE</a:t>
            </a:r>
            <a:endParaRPr lang="en-US" sz="1150" dirty="0"/>
          </a:p>
        </p:txBody>
      </p:sp>
      <p:sp>
        <p:nvSpPr>
          <p:cNvPr id="46" name="Text 36"/>
          <p:cNvSpPr txBox="1"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INTEGRAL DE RIESGOS  ·  COMEDICA DE R.L.</a:t>
            </a:r>
            <a:endParaRPr lang="en-US" sz="900" dirty="0"/>
          </a:p>
        </p:txBody>
      </p:sp>
      <p:sp>
        <p:nvSpPr>
          <p:cNvPr id="47" name="Text 37"/>
          <p:cNvSpPr txBox="1"/>
          <p:nvPr/>
        </p:nvSpPr>
        <p:spPr>
          <a:xfrm>
            <a:off x="11076127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E3A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EMPEZAR · ROMPE EL HIELO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22960"/>
            <a:ext cx="110578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133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¿DÓNDE ESTÁ EL RIESGO?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es una oficina como la tuya. Tienes 30 segundos: ¿cuántos riesgos puedes identificar?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1965960"/>
            <a:ext cx="11057839" cy="3977640"/>
          </a:xfrm>
          <a:prstGeom prst="roundRect">
            <a:avLst>
              <a:gd name="adj" fmla="val 3218"/>
            </a:avLst>
          </a:prstGeom>
          <a:solidFill>
            <a:srgbClr val="F2F5F9"/>
          </a:solidFill>
          <a:ln/>
        </p:spPr>
      </p:sp>
      <p:sp>
        <p:nvSpPr>
          <p:cNvPr id="6" name="Shape 4"/>
          <p:cNvSpPr/>
          <p:nvPr/>
        </p:nvSpPr>
        <p:spPr>
          <a:xfrm>
            <a:off x="1554480" y="2331720"/>
            <a:ext cx="960120" cy="9601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/tmp/claude-0/-home-user-riesgo/0ff9ff46-1396-5bd8-b3ac-2280dfbbbc55/scratchpad/work/gen/icons/document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94510" y="2571750"/>
            <a:ext cx="480060" cy="4800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2203704" y="2240280"/>
            <a:ext cx="402336" cy="402336"/>
          </a:xfrm>
          <a:prstGeom prst="ellipse">
            <a:avLst/>
          </a:prstGeom>
          <a:solidFill>
            <a:srgbClr val="E3A73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203704" y="22311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0A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96" dirty="0"/>
          </a:p>
        </p:txBody>
      </p:sp>
      <p:sp>
        <p:nvSpPr>
          <p:cNvPr id="10" name="Shape 7"/>
          <p:cNvSpPr/>
          <p:nvPr/>
        </p:nvSpPr>
        <p:spPr>
          <a:xfrm>
            <a:off x="4297680" y="2148840"/>
            <a:ext cx="960120" cy="9601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/tmp/claude-0/-home-user-riesgo/0ff9ff46-1396-5bd8-b3ac-2280dfbbbc55/scratchpad/work/gen/icons/cable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7710" y="2388870"/>
            <a:ext cx="480060" cy="48006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4946904" y="2057400"/>
            <a:ext cx="402336" cy="402336"/>
          </a:xfrm>
          <a:prstGeom prst="ellipse">
            <a:avLst/>
          </a:prstGeom>
          <a:solidFill>
            <a:srgbClr val="E3A73B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4946904" y="20482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0A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96" dirty="0"/>
          </a:p>
        </p:txBody>
      </p:sp>
      <p:sp>
        <p:nvSpPr>
          <p:cNvPr id="14" name="Shape 10"/>
          <p:cNvSpPr/>
          <p:nvPr/>
        </p:nvSpPr>
        <p:spPr>
          <a:xfrm>
            <a:off x="6949440" y="2468880"/>
            <a:ext cx="960120" cy="9601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/tmp/claude-0/-home-user-riesgo/0ff9ff46-1396-5bd8-b3ac-2280dfbbbc55/scratchpad/work/gen/icons/password_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9470" y="2708910"/>
            <a:ext cx="480060" cy="48006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7598664" y="2377440"/>
            <a:ext cx="402336" cy="402336"/>
          </a:xfrm>
          <a:prstGeom prst="ellipse">
            <a:avLst/>
          </a:prstGeom>
          <a:solidFill>
            <a:srgbClr val="E3A73B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7598664" y="2368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0A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96" dirty="0"/>
          </a:p>
        </p:txBody>
      </p:sp>
      <p:sp>
        <p:nvSpPr>
          <p:cNvPr id="18" name="Shape 13"/>
          <p:cNvSpPr/>
          <p:nvPr/>
        </p:nvSpPr>
        <p:spPr>
          <a:xfrm>
            <a:off x="9464040" y="2194560"/>
            <a:ext cx="960120" cy="9601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3" descr="/tmp/claude-0/-home-user-riesgo/0ff9ff46-1396-5bd8-b3ac-2280dfbbbc55/scratchpad/work/gen/icons/door_open_nav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4070" y="2434590"/>
            <a:ext cx="480060" cy="48006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10113264" y="2103120"/>
            <a:ext cx="402336" cy="402336"/>
          </a:xfrm>
          <a:prstGeom prst="ellipse">
            <a:avLst/>
          </a:prstGeom>
          <a:solidFill>
            <a:srgbClr val="E3A73B"/>
          </a:solidFill>
          <a:ln/>
        </p:spPr>
      </p:sp>
      <p:sp>
        <p:nvSpPr>
          <p:cNvPr id="21" name="Text 15"/>
          <p:cNvSpPr txBox="1"/>
          <p:nvPr/>
        </p:nvSpPr>
        <p:spPr>
          <a:xfrm>
            <a:off x="10113264" y="20939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0A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96" dirty="0"/>
          </a:p>
        </p:txBody>
      </p:sp>
      <p:sp>
        <p:nvSpPr>
          <p:cNvPr id="22" name="Shape 16"/>
          <p:cNvSpPr/>
          <p:nvPr/>
        </p:nvSpPr>
        <p:spPr>
          <a:xfrm>
            <a:off x="2103120" y="4343400"/>
            <a:ext cx="960120" cy="9601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3" name="Image 4" descr="/tmp/claude-0/-home-user-riesgo/0ff9ff46-1396-5bd8-b3ac-2280dfbbbc55/scratchpad/work/gen/icons/x_circle_nav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43150" y="4583430"/>
            <a:ext cx="480060" cy="480060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2752344" y="4251960"/>
            <a:ext cx="402336" cy="402336"/>
          </a:xfrm>
          <a:prstGeom prst="ellipse">
            <a:avLst/>
          </a:prstGeom>
          <a:solidFill>
            <a:srgbClr val="E3A73B"/>
          </a:solidFill>
          <a:ln/>
        </p:spPr>
      </p:sp>
      <p:sp>
        <p:nvSpPr>
          <p:cNvPr id="25" name="Text 18"/>
          <p:cNvSpPr txBox="1"/>
          <p:nvPr/>
        </p:nvSpPr>
        <p:spPr>
          <a:xfrm>
            <a:off x="2752344" y="42428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0A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96" dirty="0"/>
          </a:p>
        </p:txBody>
      </p:sp>
      <p:sp>
        <p:nvSpPr>
          <p:cNvPr id="26" name="Shape 19"/>
          <p:cNvSpPr/>
          <p:nvPr/>
        </p:nvSpPr>
        <p:spPr>
          <a:xfrm>
            <a:off x="4846320" y="4617720"/>
            <a:ext cx="960120" cy="9601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7" name="Image 5" descr="/tmp/claude-0/-home-user-riesgo/0ff9ff46-1396-5bd8-b3ac-2280dfbbbc55/scratchpad/work/gen/icons/computer_nav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6350" y="4857750"/>
            <a:ext cx="480060" cy="480060"/>
          </a:xfrm>
          <a:prstGeom prst="rect">
            <a:avLst/>
          </a:prstGeom>
        </p:spPr>
      </p:pic>
      <p:sp>
        <p:nvSpPr>
          <p:cNvPr id="28" name="Shape 20"/>
          <p:cNvSpPr/>
          <p:nvPr/>
        </p:nvSpPr>
        <p:spPr>
          <a:xfrm>
            <a:off x="5495544" y="4526280"/>
            <a:ext cx="402336" cy="402336"/>
          </a:xfrm>
          <a:prstGeom prst="ellipse">
            <a:avLst/>
          </a:prstGeom>
          <a:solidFill>
            <a:srgbClr val="E3A73B"/>
          </a:solidFill>
          <a:ln/>
        </p:spPr>
      </p:sp>
      <p:sp>
        <p:nvSpPr>
          <p:cNvPr id="29" name="Text 21"/>
          <p:cNvSpPr txBox="1"/>
          <p:nvPr/>
        </p:nvSpPr>
        <p:spPr>
          <a:xfrm>
            <a:off x="5495544" y="45171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0A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496" dirty="0"/>
          </a:p>
        </p:txBody>
      </p:sp>
      <p:sp>
        <p:nvSpPr>
          <p:cNvPr id="30" name="Shape 22"/>
          <p:cNvSpPr/>
          <p:nvPr/>
        </p:nvSpPr>
        <p:spPr>
          <a:xfrm>
            <a:off x="7498080" y="4343400"/>
            <a:ext cx="960120" cy="9601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1" name="Image 6" descr="/tmp/claude-0/-home-user-riesgo/0ff9ff46-1396-5bd8-b3ac-2280dfbbbc55/scratchpad/work/gen/icons/chat_nav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38110" y="4583430"/>
            <a:ext cx="480060" cy="480060"/>
          </a:xfrm>
          <a:prstGeom prst="rect">
            <a:avLst/>
          </a:prstGeom>
        </p:spPr>
      </p:pic>
      <p:sp>
        <p:nvSpPr>
          <p:cNvPr id="32" name="Shape 23"/>
          <p:cNvSpPr/>
          <p:nvPr/>
        </p:nvSpPr>
        <p:spPr>
          <a:xfrm>
            <a:off x="8147304" y="4251960"/>
            <a:ext cx="402336" cy="402336"/>
          </a:xfrm>
          <a:prstGeom prst="ellipse">
            <a:avLst/>
          </a:prstGeom>
          <a:solidFill>
            <a:srgbClr val="E3A73B"/>
          </a:solidFill>
          <a:ln/>
        </p:spPr>
      </p:sp>
      <p:sp>
        <p:nvSpPr>
          <p:cNvPr id="33" name="Text 24"/>
          <p:cNvSpPr txBox="1"/>
          <p:nvPr/>
        </p:nvSpPr>
        <p:spPr>
          <a:xfrm>
            <a:off x="8147304" y="42428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0A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496" dirty="0"/>
          </a:p>
        </p:txBody>
      </p:sp>
      <p:sp>
        <p:nvSpPr>
          <p:cNvPr id="34" name="Shape 25"/>
          <p:cNvSpPr/>
          <p:nvPr/>
        </p:nvSpPr>
        <p:spPr>
          <a:xfrm>
            <a:off x="9966960" y="4663440"/>
            <a:ext cx="960120" cy="9601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5" name="Image 7" descr="/tmp/claude-0/-home-user-riesgo/0ff9ff46-1396-5bd8-b3ac-2280dfbbbc55/scratchpad/work/gen/icons/id_card_navy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06990" y="4903470"/>
            <a:ext cx="480060" cy="480060"/>
          </a:xfrm>
          <a:prstGeom prst="rect">
            <a:avLst/>
          </a:prstGeom>
        </p:spPr>
      </p:pic>
      <p:sp>
        <p:nvSpPr>
          <p:cNvPr id="36" name="Shape 26"/>
          <p:cNvSpPr/>
          <p:nvPr/>
        </p:nvSpPr>
        <p:spPr>
          <a:xfrm>
            <a:off x="10616184" y="4572000"/>
            <a:ext cx="402336" cy="402336"/>
          </a:xfrm>
          <a:prstGeom prst="ellipse">
            <a:avLst/>
          </a:prstGeom>
          <a:solidFill>
            <a:srgbClr val="E3A73B"/>
          </a:solidFill>
          <a:ln/>
        </p:spPr>
      </p:sp>
      <p:sp>
        <p:nvSpPr>
          <p:cNvPr id="37" name="Text 27"/>
          <p:cNvSpPr txBox="1"/>
          <p:nvPr/>
        </p:nvSpPr>
        <p:spPr>
          <a:xfrm>
            <a:off x="10616184" y="45628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0A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496" dirty="0"/>
          </a:p>
        </p:txBody>
      </p:sp>
      <p:sp>
        <p:nvSpPr>
          <p:cNvPr id="38" name="Text 28"/>
          <p:cNvSpPr txBox="1"/>
          <p:nvPr/>
        </p:nvSpPr>
        <p:spPr>
          <a:xfrm>
            <a:off x="566928" y="6053328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Obsérvala con atención antes de continuar a la siguiente diapositiva.</a:t>
            </a:r>
            <a:endParaRPr lang="en-US" sz="1200" dirty="0"/>
          </a:p>
        </p:txBody>
      </p:sp>
      <p:sp>
        <p:nvSpPr>
          <p:cNvPr id="39" name="Text 29"/>
          <p:cNvSpPr txBox="1"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INTEGRAL DE RIESGOS  ·  COMEDICA DE R.L.</a:t>
            </a:r>
            <a:endParaRPr lang="en-US" sz="900" dirty="0"/>
          </a:p>
        </p:txBody>
      </p:sp>
      <p:sp>
        <p:nvSpPr>
          <p:cNvPr id="40" name="Text 30"/>
          <p:cNvSpPr txBox="1"/>
          <p:nvPr/>
        </p:nvSpPr>
        <p:spPr>
          <a:xfrm>
            <a:off x="11076127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E3A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22960"/>
            <a:ext cx="110578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133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ESTOS ERAN LOS RIESGOS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Situaciones simples que, sin darnos cuenta, pueden convertirse en un incidente real.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057400"/>
            <a:ext cx="5391760" cy="902970"/>
          </a:xfrm>
          <a:prstGeom prst="roundRect">
            <a:avLst>
              <a:gd name="adj" fmla="val 91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7223A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04088" y="2225421"/>
            <a:ext cx="566928" cy="566928"/>
          </a:xfrm>
          <a:prstGeom prst="ellipse">
            <a:avLst/>
          </a:prstGeom>
          <a:solidFill>
            <a:srgbClr val="E3A73B"/>
          </a:solidFill>
          <a:ln/>
        </p:spPr>
      </p:sp>
      <p:pic>
        <p:nvPicPr>
          <p:cNvPr id="7" name="Image 0" descr="/tmp/claude-0/-home-user-riesgo/0ff9ff46-1396-5bd8-b3ac-2280dfbbbc55/scratchpad/work/gen/icons/document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0151" y="2361484"/>
            <a:ext cx="294803" cy="29480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04088" y="211569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A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389888" y="2130552"/>
            <a:ext cx="4431640" cy="7566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confidencial expuesto sobre el escritorio.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33008" y="2057400"/>
            <a:ext cx="5391760" cy="902970"/>
          </a:xfrm>
          <a:prstGeom prst="roundRect">
            <a:avLst>
              <a:gd name="adj" fmla="val 91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7223A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370168" y="2225421"/>
            <a:ext cx="566928" cy="566928"/>
          </a:xfrm>
          <a:prstGeom prst="ellipse">
            <a:avLst/>
          </a:prstGeom>
          <a:solidFill>
            <a:srgbClr val="E3A73B"/>
          </a:solidFill>
          <a:ln/>
        </p:spPr>
      </p:sp>
      <p:pic>
        <p:nvPicPr>
          <p:cNvPr id="12" name="Image 1" descr="/tmp/claude-0/-home-user-riesgo/0ff9ff46-1396-5bd8-b3ac-2280dfbbbc55/scratchpad/work/gen/icons/cable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6230" y="2361484"/>
            <a:ext cx="294803" cy="29480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370168" y="211569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A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7055968" y="2130552"/>
            <a:ext cx="4431640" cy="7566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Cable suelto que puede provocar una caída.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566928" y="3106674"/>
            <a:ext cx="5391760" cy="902970"/>
          </a:xfrm>
          <a:prstGeom prst="roundRect">
            <a:avLst>
              <a:gd name="adj" fmla="val 91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7223A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04088" y="3274695"/>
            <a:ext cx="566928" cy="566928"/>
          </a:xfrm>
          <a:prstGeom prst="ellipse">
            <a:avLst/>
          </a:prstGeom>
          <a:solidFill>
            <a:srgbClr val="E3A73B"/>
          </a:solidFill>
          <a:ln/>
        </p:spPr>
      </p:sp>
      <p:pic>
        <p:nvPicPr>
          <p:cNvPr id="17" name="Image 2" descr="/tmp/claude-0/-home-user-riesgo/0ff9ff46-1396-5bd8-b3ac-2280dfbbbc55/scratchpad/work/gen/icons/password_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151" y="3410758"/>
            <a:ext cx="294803" cy="29480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04088" y="316496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A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19" name="Text 14"/>
          <p:cNvSpPr txBox="1"/>
          <p:nvPr/>
        </p:nvSpPr>
        <p:spPr>
          <a:xfrm>
            <a:off x="1389888" y="3179826"/>
            <a:ext cx="4431640" cy="7566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Contraseña anotada y visible para cualquiera.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6233008" y="3106674"/>
            <a:ext cx="5391760" cy="902970"/>
          </a:xfrm>
          <a:prstGeom prst="roundRect">
            <a:avLst>
              <a:gd name="adj" fmla="val 91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7223A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370168" y="3274695"/>
            <a:ext cx="566928" cy="566928"/>
          </a:xfrm>
          <a:prstGeom prst="ellipse">
            <a:avLst/>
          </a:prstGeom>
          <a:solidFill>
            <a:srgbClr val="E3A73B"/>
          </a:solidFill>
          <a:ln/>
        </p:spPr>
      </p:sp>
      <p:pic>
        <p:nvPicPr>
          <p:cNvPr id="22" name="Image 3" descr="/tmp/claude-0/-home-user-riesgo/0ff9ff46-1396-5bd8-b3ac-2280dfbbbc55/scratchpad/work/gen/icons/door_open_nav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6230" y="3410758"/>
            <a:ext cx="294803" cy="294803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370168" y="316496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A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4" name="Text 18"/>
          <p:cNvSpPr txBox="1"/>
          <p:nvPr/>
        </p:nvSpPr>
        <p:spPr>
          <a:xfrm>
            <a:off x="7055968" y="3179826"/>
            <a:ext cx="4431640" cy="7566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Puerta de un área restringida abierta.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566928" y="4155948"/>
            <a:ext cx="5391760" cy="902970"/>
          </a:xfrm>
          <a:prstGeom prst="roundRect">
            <a:avLst>
              <a:gd name="adj" fmla="val 91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7223A">
                <a:alpha val="12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704088" y="4323969"/>
            <a:ext cx="566928" cy="566928"/>
          </a:xfrm>
          <a:prstGeom prst="ellipse">
            <a:avLst/>
          </a:prstGeom>
          <a:solidFill>
            <a:srgbClr val="E3A73B"/>
          </a:solidFill>
          <a:ln/>
        </p:spPr>
      </p:sp>
      <p:pic>
        <p:nvPicPr>
          <p:cNvPr id="27" name="Image 4" descr="/tmp/claude-0/-home-user-riesgo/0ff9ff46-1396-5bd8-b3ac-2280dfbbbc55/scratchpad/work/gen/icons/x_circle_nav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151" y="4460032"/>
            <a:ext cx="294803" cy="294803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04088" y="421424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A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29" name="Text 22"/>
          <p:cNvSpPr txBox="1"/>
          <p:nvPr/>
        </p:nvSpPr>
        <p:spPr>
          <a:xfrm>
            <a:off x="1389888" y="4229100"/>
            <a:ext cx="4431640" cy="7566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dato o cifra registrado de forma incorrecta.</a:t>
            </a:r>
            <a:endParaRPr lang="en-US" sz="1150" dirty="0"/>
          </a:p>
        </p:txBody>
      </p:sp>
      <p:sp>
        <p:nvSpPr>
          <p:cNvPr id="30" name="Shape 23"/>
          <p:cNvSpPr/>
          <p:nvPr/>
        </p:nvSpPr>
        <p:spPr>
          <a:xfrm>
            <a:off x="6233008" y="4155948"/>
            <a:ext cx="5391760" cy="902970"/>
          </a:xfrm>
          <a:prstGeom prst="roundRect">
            <a:avLst>
              <a:gd name="adj" fmla="val 91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7223A">
                <a:alpha val="12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6370168" y="4323969"/>
            <a:ext cx="566928" cy="566928"/>
          </a:xfrm>
          <a:prstGeom prst="ellipse">
            <a:avLst/>
          </a:prstGeom>
          <a:solidFill>
            <a:srgbClr val="E3A73B"/>
          </a:solidFill>
          <a:ln/>
        </p:spPr>
      </p:sp>
      <p:pic>
        <p:nvPicPr>
          <p:cNvPr id="32" name="Image 5" descr="/tmp/claude-0/-home-user-riesgo/0ff9ff46-1396-5bd8-b3ac-2280dfbbbc55/scratchpad/work/gen/icons/computer_nav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6230" y="4460032"/>
            <a:ext cx="294803" cy="294803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6370168" y="421424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A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34" name="Text 26"/>
          <p:cNvSpPr txBox="1"/>
          <p:nvPr/>
        </p:nvSpPr>
        <p:spPr>
          <a:xfrm>
            <a:off x="7055968" y="4229100"/>
            <a:ext cx="4431640" cy="7566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desatendido y sin bloqueo de pantalla.</a:t>
            </a:r>
            <a:endParaRPr lang="en-US" sz="1150" dirty="0"/>
          </a:p>
        </p:txBody>
      </p:sp>
      <p:sp>
        <p:nvSpPr>
          <p:cNvPr id="35" name="Shape 27"/>
          <p:cNvSpPr/>
          <p:nvPr/>
        </p:nvSpPr>
        <p:spPr>
          <a:xfrm>
            <a:off x="566928" y="5205222"/>
            <a:ext cx="5391760" cy="902970"/>
          </a:xfrm>
          <a:prstGeom prst="roundRect">
            <a:avLst>
              <a:gd name="adj" fmla="val 91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7223A">
                <a:alpha val="12000"/>
              </a:srgbClr>
            </a:outerShdw>
          </a:effectLst>
        </p:spPr>
      </p:sp>
      <p:sp>
        <p:nvSpPr>
          <p:cNvPr id="36" name="Shape 28"/>
          <p:cNvSpPr/>
          <p:nvPr/>
        </p:nvSpPr>
        <p:spPr>
          <a:xfrm>
            <a:off x="704088" y="5373243"/>
            <a:ext cx="566928" cy="566928"/>
          </a:xfrm>
          <a:prstGeom prst="ellipse">
            <a:avLst/>
          </a:prstGeom>
          <a:solidFill>
            <a:srgbClr val="E3A73B"/>
          </a:solidFill>
          <a:ln/>
        </p:spPr>
      </p:sp>
      <p:pic>
        <p:nvPicPr>
          <p:cNvPr id="37" name="Image 6" descr="/tmp/claude-0/-home-user-riesgo/0ff9ff46-1396-5bd8-b3ac-2280dfbbbc55/scratchpad/work/gen/icons/chat_nav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0151" y="5509306"/>
            <a:ext cx="294803" cy="294803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704088" y="526351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A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39" name="Text 30"/>
          <p:cNvSpPr txBox="1"/>
          <p:nvPr/>
        </p:nvSpPr>
        <p:spPr>
          <a:xfrm>
            <a:off x="1389888" y="5278374"/>
            <a:ext cx="4431640" cy="7566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institucional comentada fuera de lugar.</a:t>
            </a:r>
            <a:endParaRPr lang="en-US" sz="1150" dirty="0"/>
          </a:p>
        </p:txBody>
      </p:sp>
      <p:sp>
        <p:nvSpPr>
          <p:cNvPr id="40" name="Shape 31"/>
          <p:cNvSpPr/>
          <p:nvPr/>
        </p:nvSpPr>
        <p:spPr>
          <a:xfrm>
            <a:off x="6233008" y="5205222"/>
            <a:ext cx="5391760" cy="902970"/>
          </a:xfrm>
          <a:prstGeom prst="roundRect">
            <a:avLst>
              <a:gd name="adj" fmla="val 91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7223A">
                <a:alpha val="12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6370168" y="5373243"/>
            <a:ext cx="566928" cy="566928"/>
          </a:xfrm>
          <a:prstGeom prst="ellipse">
            <a:avLst/>
          </a:prstGeom>
          <a:solidFill>
            <a:srgbClr val="E3A73B"/>
          </a:solidFill>
          <a:ln/>
        </p:spPr>
      </p:sp>
      <p:pic>
        <p:nvPicPr>
          <p:cNvPr id="42" name="Image 7" descr="/tmp/claude-0/-home-user-riesgo/0ff9ff46-1396-5bd8-b3ac-2280dfbbbc55/scratchpad/work/gen/icons/id_card_navy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06230" y="5509306"/>
            <a:ext cx="294803" cy="294803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6370168" y="526351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A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44" name="Text 34"/>
          <p:cNvSpPr txBox="1"/>
          <p:nvPr/>
        </p:nvSpPr>
        <p:spPr>
          <a:xfrm>
            <a:off x="7055968" y="5278374"/>
            <a:ext cx="4431640" cy="7566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Gafete o credencial olvidado a la vista de todos.</a:t>
            </a:r>
            <a:endParaRPr lang="en-US" sz="1150" dirty="0"/>
          </a:p>
        </p:txBody>
      </p:sp>
      <p:sp>
        <p:nvSpPr>
          <p:cNvPr id="45" name="Text 35"/>
          <p:cNvSpPr txBox="1"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INTEGRAL DE RIESGOS  ·  COMEDICA DE R.L.</a:t>
            </a:r>
            <a:endParaRPr lang="en-US" sz="900" dirty="0"/>
          </a:p>
        </p:txBody>
      </p:sp>
      <p:sp>
        <p:nvSpPr>
          <p:cNvPr id="46" name="Text 36"/>
          <p:cNvSpPr txBox="1"/>
          <p:nvPr/>
        </p:nvSpPr>
        <p:spPr>
          <a:xfrm>
            <a:off x="11076127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926080" y="2926080"/>
            <a:ext cx="7772400" cy="7772400"/>
          </a:xfrm>
          <a:prstGeom prst="ellipse">
            <a:avLst/>
          </a:prstGeom>
          <a:solidFill>
            <a:srgbClr val="0D284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498080" y="-777240"/>
            <a:ext cx="51206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0" b="1" dirty="0">
                <a:solidFill>
                  <a:srgbClr val="152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6000" dirty="0"/>
          </a:p>
        </p:txBody>
      </p:sp>
      <p:sp>
        <p:nvSpPr>
          <p:cNvPr id="4" name="Shape 2"/>
          <p:cNvSpPr/>
          <p:nvPr/>
        </p:nvSpPr>
        <p:spPr>
          <a:xfrm>
            <a:off x="566928" y="1828800"/>
            <a:ext cx="1188720" cy="1188720"/>
          </a:xfrm>
          <a:prstGeom prst="ellipse">
            <a:avLst/>
          </a:prstGeom>
          <a:solidFill>
            <a:srgbClr val="E3A73B"/>
          </a:solidFill>
          <a:ln/>
        </p:spPr>
      </p:sp>
      <p:pic>
        <p:nvPicPr>
          <p:cNvPr id="5" name="Image 0" descr="/tmp/claude-0/-home-user-riesgo/0ff9ff46-1396-5bd8-b3ac-2280dfbbbc55/scratchpad/work/gen/icons/people_group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2114093"/>
            <a:ext cx="618134" cy="61813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28803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E3A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3246120"/>
            <a:ext cx="10424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TODOS SOMOS GESTORES</a:t>
            </a:r>
            <a:endParaRPr lang="en-US" sz="3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RIESGOS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46634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C7D3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gestión de riesgos no es responsabilidad de un solo departamento.</a:t>
            </a:r>
            <a:endParaRPr lang="en-US" sz="1600" dirty="0"/>
          </a:p>
        </p:txBody>
      </p:sp>
      <p:pic>
        <p:nvPicPr>
          <p:cNvPr id="9" name="Image 1" descr="/tmp/claude-0/-home-user-riesgo/0ff9ff46-1396-5bd8-b3ac-2280dfbbbc55/scratchpad/work/gen/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1727" y="5961888"/>
            <a:ext cx="1463040" cy="41111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C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INTEGRAL DE RIESGOS  ·  COMEDICA DE R.L.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076127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C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E3A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1 · TODOS SOMOS GESTORES DE RIESGOS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22960"/>
            <a:ext cx="110578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800" b="1" dirty="0">
                <a:solidFill>
                  <a:srgbClr val="133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 ACCIONES QUE ESTÁN EN TUS MANOS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importar tu cargo o área, cada colaborador de COMEDICA DE R.L. puede: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308860"/>
            <a:ext cx="3490874" cy="1691640"/>
          </a:xfrm>
          <a:prstGeom prst="roundRect">
            <a:avLst>
              <a:gd name="adj" fmla="val 5405"/>
            </a:avLst>
          </a:prstGeom>
          <a:solidFill>
            <a:srgbClr val="F2F5F9"/>
          </a:solidFill>
          <a:ln/>
        </p:spPr>
      </p:sp>
      <p:sp>
        <p:nvSpPr>
          <p:cNvPr id="6" name="Shape 4"/>
          <p:cNvSpPr/>
          <p:nvPr/>
        </p:nvSpPr>
        <p:spPr>
          <a:xfrm>
            <a:off x="2028901" y="2569464"/>
            <a:ext cx="566928" cy="566928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7" name="Image 0" descr="/tmp/claude-0/-home-user-riesgo/0ff9ff46-1396-5bd8-b3ac-2280dfbbbc55/scratchpad/work/gen/icons/magnifier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4964" y="2705527"/>
            <a:ext cx="294803" cy="29480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" y="3282696"/>
            <a:ext cx="327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Identificar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350410" y="2308860"/>
            <a:ext cx="3490874" cy="1691640"/>
          </a:xfrm>
          <a:prstGeom prst="roundRect">
            <a:avLst>
              <a:gd name="adj" fmla="val 5405"/>
            </a:avLst>
          </a:prstGeom>
          <a:solidFill>
            <a:srgbClr val="F2F5F9"/>
          </a:solidFill>
          <a:ln/>
        </p:spPr>
      </p:sp>
      <p:sp>
        <p:nvSpPr>
          <p:cNvPr id="10" name="Shape 7"/>
          <p:cNvSpPr/>
          <p:nvPr/>
        </p:nvSpPr>
        <p:spPr>
          <a:xfrm>
            <a:off x="5812384" y="2569464"/>
            <a:ext cx="566928" cy="566928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11" name="Image 1" descr="/tmp/claude-0/-home-user-riesgo/0ff9ff46-1396-5bd8-b3ac-2280dfbbbc55/scratchpad/work/gen/icons/shield_check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8446" y="2705527"/>
            <a:ext cx="294803" cy="29480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460138" y="3282696"/>
            <a:ext cx="327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Prevenir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8133893" y="2308860"/>
            <a:ext cx="3490874" cy="1691640"/>
          </a:xfrm>
          <a:prstGeom prst="roundRect">
            <a:avLst>
              <a:gd name="adj" fmla="val 5405"/>
            </a:avLst>
          </a:prstGeom>
          <a:solidFill>
            <a:srgbClr val="F2F5F9"/>
          </a:solidFill>
          <a:ln/>
        </p:spPr>
      </p:sp>
      <p:sp>
        <p:nvSpPr>
          <p:cNvPr id="14" name="Shape 10"/>
          <p:cNvSpPr/>
          <p:nvPr/>
        </p:nvSpPr>
        <p:spPr>
          <a:xfrm>
            <a:off x="9595866" y="2569464"/>
            <a:ext cx="566928" cy="566928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15" name="Image 2" descr="/tmp/claude-0/-home-user-riesgo/0ff9ff46-1396-5bd8-b3ac-2280dfbbbc55/scratchpad/work/gen/icons/gear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1929" y="2705527"/>
            <a:ext cx="294803" cy="294803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243621" y="3282696"/>
            <a:ext cx="327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Controlar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566928" y="4256532"/>
            <a:ext cx="3490874" cy="1691640"/>
          </a:xfrm>
          <a:prstGeom prst="roundRect">
            <a:avLst>
              <a:gd name="adj" fmla="val 5405"/>
            </a:avLst>
          </a:prstGeom>
          <a:solidFill>
            <a:srgbClr val="F2F5F9"/>
          </a:solidFill>
          <a:ln/>
        </p:spPr>
      </p:sp>
      <p:sp>
        <p:nvSpPr>
          <p:cNvPr id="18" name="Shape 13"/>
          <p:cNvSpPr/>
          <p:nvPr/>
        </p:nvSpPr>
        <p:spPr>
          <a:xfrm>
            <a:off x="2028901" y="4517136"/>
            <a:ext cx="566928" cy="566928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19" name="Image 3" descr="/tmp/claude-0/-home-user-riesgo/0ff9ff46-1396-5bd8-b3ac-2280dfbbbc55/scratchpad/work/gen/icons/chat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4964" y="4653199"/>
            <a:ext cx="294803" cy="294803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76656" y="5230368"/>
            <a:ext cx="327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Comunicar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4350410" y="4256532"/>
            <a:ext cx="3490874" cy="1691640"/>
          </a:xfrm>
          <a:prstGeom prst="roundRect">
            <a:avLst>
              <a:gd name="adj" fmla="val 5405"/>
            </a:avLst>
          </a:prstGeom>
          <a:solidFill>
            <a:srgbClr val="F2F5F9"/>
          </a:solidFill>
          <a:ln/>
        </p:spPr>
      </p:sp>
      <p:sp>
        <p:nvSpPr>
          <p:cNvPr id="22" name="Shape 16"/>
          <p:cNvSpPr/>
          <p:nvPr/>
        </p:nvSpPr>
        <p:spPr>
          <a:xfrm>
            <a:off x="5812384" y="4517136"/>
            <a:ext cx="566928" cy="566928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23" name="Image 4" descr="/tmp/claude-0/-home-user-riesgo/0ff9ff46-1396-5bd8-b3ac-2280dfbbbc55/scratchpad/work/gen/icons/megaphone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8446" y="4653199"/>
            <a:ext cx="294803" cy="294803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4460138" y="5230368"/>
            <a:ext cx="327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Reportar</a:t>
            </a:r>
            <a:endParaRPr lang="en-US" sz="1250" dirty="0"/>
          </a:p>
        </p:txBody>
      </p:sp>
      <p:sp>
        <p:nvSpPr>
          <p:cNvPr id="25" name="Shape 18"/>
          <p:cNvSpPr/>
          <p:nvPr/>
        </p:nvSpPr>
        <p:spPr>
          <a:xfrm>
            <a:off x="8133893" y="4256532"/>
            <a:ext cx="3490874" cy="1691640"/>
          </a:xfrm>
          <a:prstGeom prst="roundRect">
            <a:avLst>
              <a:gd name="adj" fmla="val 5405"/>
            </a:avLst>
          </a:prstGeom>
          <a:solidFill>
            <a:srgbClr val="F2F5F9"/>
          </a:solidFill>
          <a:ln/>
        </p:spPr>
      </p:sp>
      <p:sp>
        <p:nvSpPr>
          <p:cNvPr id="26" name="Shape 19"/>
          <p:cNvSpPr/>
          <p:nvPr/>
        </p:nvSpPr>
        <p:spPr>
          <a:xfrm>
            <a:off x="9595866" y="4517136"/>
            <a:ext cx="566928" cy="566928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27" name="Image 5" descr="/tmp/claude-0/-home-user-riesgo/0ff9ff46-1396-5bd8-b3ac-2280dfbbbc55/scratchpad/work/gen/icons/check_circle_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31929" y="4653199"/>
            <a:ext cx="294803" cy="294803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8243621" y="5230368"/>
            <a:ext cx="327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Actuar</a:t>
            </a:r>
            <a:endParaRPr lang="en-US" sz="1250" dirty="0"/>
          </a:p>
        </p:txBody>
      </p:sp>
      <p:sp>
        <p:nvSpPr>
          <p:cNvPr id="29" name="Text 21"/>
          <p:cNvSpPr txBox="1"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INTEGRAL DE RIESGOS  ·  COMEDICA DE R.L.</a:t>
            </a:r>
            <a:endParaRPr lang="en-US" sz="900" dirty="0"/>
          </a:p>
        </p:txBody>
      </p:sp>
      <p:sp>
        <p:nvSpPr>
          <p:cNvPr id="30" name="Text 22"/>
          <p:cNvSpPr txBox="1"/>
          <p:nvPr/>
        </p:nvSpPr>
        <p:spPr>
          <a:xfrm>
            <a:off x="11076127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3B6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2194560"/>
            <a:ext cx="5486400" cy="5486400"/>
          </a:xfrm>
          <a:prstGeom prst="ellipse">
            <a:avLst/>
          </a:prstGeom>
          <a:solidFill>
            <a:srgbClr val="0D284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468880"/>
            <a:ext cx="1036015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RIESGO PUEDE APARECER</a:t>
            </a:r>
            <a:endParaRPr lang="en-US" sz="30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CUALQUIER LUGAR.</a:t>
            </a:r>
            <a:endParaRPr lang="en-US" sz="30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E3A7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GESTIÓN TAMBIÉN.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C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INTEGRAL DE RIESGOS  ·  COMEDICA DE R.L.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076127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C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926080" y="2926080"/>
            <a:ext cx="7772400" cy="7772400"/>
          </a:xfrm>
          <a:prstGeom prst="ellipse">
            <a:avLst/>
          </a:prstGeom>
          <a:solidFill>
            <a:srgbClr val="0D284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498080" y="-777240"/>
            <a:ext cx="51206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0" b="1" dirty="0">
                <a:solidFill>
                  <a:srgbClr val="152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0" dirty="0"/>
          </a:p>
        </p:txBody>
      </p:sp>
      <p:sp>
        <p:nvSpPr>
          <p:cNvPr id="4" name="Shape 2"/>
          <p:cNvSpPr/>
          <p:nvPr/>
        </p:nvSpPr>
        <p:spPr>
          <a:xfrm>
            <a:off x="566928" y="1828800"/>
            <a:ext cx="1188720" cy="1188720"/>
          </a:xfrm>
          <a:prstGeom prst="ellipse">
            <a:avLst/>
          </a:prstGeom>
          <a:solidFill>
            <a:srgbClr val="E3A73B"/>
          </a:solidFill>
          <a:ln/>
        </p:spPr>
      </p:sp>
      <p:pic>
        <p:nvPicPr>
          <p:cNvPr id="5" name="Image 0" descr="/tmp/claude-0/-home-user-riesgo/0ff9ff46-1396-5bd8-b3ac-2280dfbbbc55/scratchpad/work/gen/icons/megaphone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2114093"/>
            <a:ext cx="618134" cy="61813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28803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E3A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2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3246120"/>
            <a:ext cx="10424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¿VES UN RIESGO?</a:t>
            </a:r>
            <a:endParaRPr lang="en-US" sz="3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¡REPÓRTALO!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46634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C7D3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 de los hábitos más importantes que puedes construir en tu día a día.</a:t>
            </a:r>
            <a:endParaRPr lang="en-US" sz="1600" dirty="0"/>
          </a:p>
        </p:txBody>
      </p:sp>
      <p:pic>
        <p:nvPicPr>
          <p:cNvPr id="9" name="Image 1" descr="/tmp/claude-0/-home-user-riesgo/0ff9ff46-1396-5bd8-b3ac-2280dfbbbc55/scratchpad/work/gen/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1727" y="5961888"/>
            <a:ext cx="1463040" cy="41111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C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INTEGRAL DE RIESGOS  ·  COMEDICA DE R.L.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076127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C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E3A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2 · ¿VES UN RIESGO? ¡REPÓRTALO!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22960"/>
            <a:ext cx="110578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33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CUATRO PASOS QUE MARCAN LA DIFERENCIA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469098" y="3049524"/>
            <a:ext cx="960120" cy="960120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5" name="Image 0" descr="/tmp/claude-0/-home-user-riesgo/0ff9ff46-1396-5bd8-b3ac-2280dfbbbc55/scratchpad/work/gen/icons/ey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9128" y="3289554"/>
            <a:ext cx="480060" cy="4800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21792" y="4137660"/>
            <a:ext cx="2654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VEO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94944" y="4503420"/>
            <a:ext cx="25084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 llama mi atención en mi entorno de trabajo.</a:t>
            </a:r>
            <a:endParaRPr lang="en-US" sz="1050" dirty="0"/>
          </a:p>
        </p:txBody>
      </p:sp>
      <p:pic>
        <p:nvPicPr>
          <p:cNvPr id="8" name="Image 1" descr="/tmp/claude-0/-home-user-riesgo/0ff9ff46-1396-5bd8-b3ac-2280dfbbbc55/scratchpad/work/gen/icons/arrow_right_gr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5084" y="3383280"/>
            <a:ext cx="292608" cy="29260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4233558" y="3049524"/>
            <a:ext cx="960120" cy="960120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10" name="Image 2" descr="/tmp/claude-0/-home-user-riesgo/0ff9ff46-1396-5bd8-b3ac-2280dfbbbc55/scratchpad/work/gen/icons/magnifier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3588" y="3289554"/>
            <a:ext cx="480060" cy="4800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386252" y="4137660"/>
            <a:ext cx="2654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IDENTIFICO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3459404" y="4503420"/>
            <a:ext cx="25084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Reconozco que se trata de un riesgo real.</a:t>
            </a:r>
            <a:endParaRPr lang="en-US" sz="1050" dirty="0"/>
          </a:p>
        </p:txBody>
      </p:sp>
      <p:pic>
        <p:nvPicPr>
          <p:cNvPr id="13" name="Image 3" descr="/tmp/claude-0/-home-user-riesgo/0ff9ff46-1396-5bd8-b3ac-2280dfbbbc55/scratchpad/work/gen/icons/arrow_right_gra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9544" y="3383280"/>
            <a:ext cx="292608" cy="292608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998017" y="3049524"/>
            <a:ext cx="960120" cy="960120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15" name="Image 4" descr="/tmp/claude-0/-home-user-riesgo/0ff9ff46-1396-5bd8-b3ac-2280dfbbbc55/scratchpad/work/gen/icons/check_circle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8047" y="3289554"/>
            <a:ext cx="480060" cy="48006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6150712" y="4137660"/>
            <a:ext cx="2654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ACTÚO</a:t>
            </a:r>
            <a:endParaRPr lang="en-US" sz="1300" dirty="0"/>
          </a:p>
        </p:txBody>
      </p:sp>
      <p:sp>
        <p:nvSpPr>
          <p:cNvPr id="17" name="Text 10"/>
          <p:cNvSpPr txBox="1"/>
          <p:nvPr/>
        </p:nvSpPr>
        <p:spPr>
          <a:xfrm>
            <a:off x="6223864" y="4503420"/>
            <a:ext cx="25084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Tomo una acción inmediata para contenerlo.</a:t>
            </a:r>
            <a:endParaRPr lang="en-US" sz="1050" dirty="0"/>
          </a:p>
        </p:txBody>
      </p:sp>
      <p:pic>
        <p:nvPicPr>
          <p:cNvPr id="18" name="Image 5" descr="/tmp/claude-0/-home-user-riesgo/0ff9ff46-1396-5bd8-b3ac-2280dfbbbc55/scratchpad/work/gen/icons/arrow_right_gra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14003" y="3383280"/>
            <a:ext cx="292608" cy="292608"/>
          </a:xfrm>
          <a:prstGeom prst="rect">
            <a:avLst/>
          </a:prstGeom>
        </p:spPr>
      </p:pic>
      <p:sp>
        <p:nvSpPr>
          <p:cNvPr id="19" name="Shape 11"/>
          <p:cNvSpPr/>
          <p:nvPr/>
        </p:nvSpPr>
        <p:spPr>
          <a:xfrm>
            <a:off x="9762477" y="3049524"/>
            <a:ext cx="960120" cy="960120"/>
          </a:xfrm>
          <a:prstGeom prst="ellipse">
            <a:avLst/>
          </a:prstGeom>
          <a:solidFill>
            <a:srgbClr val="E3A73B"/>
          </a:solidFill>
          <a:ln/>
        </p:spPr>
      </p:sp>
      <p:pic>
        <p:nvPicPr>
          <p:cNvPr id="20" name="Image 6" descr="/tmp/claude-0/-home-user-riesgo/0ff9ff46-1396-5bd8-b3ac-2280dfbbbc55/scratchpad/work/gen/icons/megaphone_whi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02507" y="3289554"/>
            <a:ext cx="480060" cy="480060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8915171" y="4137660"/>
            <a:ext cx="2654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REPORTO</a:t>
            </a:r>
            <a:endParaRPr lang="en-US" sz="1300" dirty="0"/>
          </a:p>
        </p:txBody>
      </p:sp>
      <p:sp>
        <p:nvSpPr>
          <p:cNvPr id="22" name="Text 13"/>
          <p:cNvSpPr txBox="1"/>
          <p:nvPr/>
        </p:nvSpPr>
        <p:spPr>
          <a:xfrm>
            <a:off x="8988323" y="4503420"/>
            <a:ext cx="25084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comunico por el canal institucional.</a:t>
            </a:r>
            <a:endParaRPr lang="en-US" sz="1050" dirty="0"/>
          </a:p>
        </p:txBody>
      </p:sp>
      <p:sp>
        <p:nvSpPr>
          <p:cNvPr id="23" name="Text 14"/>
          <p:cNvSpPr txBox="1"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INTEGRAL DE RIESGOS  ·  COMEDICA DE R.L.</a:t>
            </a:r>
            <a:endParaRPr lang="en-US" sz="900" dirty="0"/>
          </a:p>
        </p:txBody>
      </p:sp>
      <p:sp>
        <p:nvSpPr>
          <p:cNvPr id="24" name="Text 15"/>
          <p:cNvSpPr txBox="1"/>
          <p:nvPr/>
        </p:nvSpPr>
        <p:spPr>
          <a:xfrm>
            <a:off x="11076127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E3A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2 · ¿QUÉ HARÍAS?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22960"/>
            <a:ext cx="110578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33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ESCENARIO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11057839" cy="1417320"/>
          </a:xfrm>
          <a:prstGeom prst="roundRect">
            <a:avLst>
              <a:gd name="adj" fmla="val 7742"/>
            </a:avLst>
          </a:prstGeom>
          <a:solidFill>
            <a:srgbClr val="133B6C"/>
          </a:solidFill>
          <a:ln/>
        </p:spPr>
      </p:sp>
      <p:sp>
        <p:nvSpPr>
          <p:cNvPr id="5" name="Shape 3"/>
          <p:cNvSpPr/>
          <p:nvPr/>
        </p:nvSpPr>
        <p:spPr>
          <a:xfrm>
            <a:off x="841248" y="2148840"/>
            <a:ext cx="685800" cy="685800"/>
          </a:xfrm>
          <a:prstGeom prst="ellipse">
            <a:avLst/>
          </a:prstGeom>
          <a:solidFill>
            <a:srgbClr val="E3A73B"/>
          </a:solidFill>
          <a:ln/>
        </p:spPr>
      </p:sp>
      <p:pic>
        <p:nvPicPr>
          <p:cNvPr id="6" name="Image 0" descr="/tmp/claude-0/-home-user-riesgo/0ff9ff46-1396-5bd8-b3ac-2280dfbbbc55/scratchpad/work/gen/icons/document_lock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553" y="2303145"/>
            <a:ext cx="377190" cy="37719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55648" y="1956816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3A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SITUACIÓN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755648" y="2231136"/>
            <a:ext cx="959479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Encuentras información confidencial de asociados en un lugar donde no debería estar (una impresora, un escritorio o un basurero).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3429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HARÍAS?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3794760"/>
            <a:ext cx="11057839" cy="649224"/>
          </a:xfrm>
          <a:prstGeom prst="roundRect">
            <a:avLst>
              <a:gd name="adj" fmla="val 12676"/>
            </a:avLst>
          </a:prstGeom>
          <a:solidFill>
            <a:srgbClr val="F2F5F9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3890772"/>
            <a:ext cx="457200" cy="457200"/>
          </a:xfrm>
          <a:prstGeom prst="ellipse">
            <a:avLst/>
          </a:prstGeom>
          <a:solidFill>
            <a:srgbClr val="133B6C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68096" y="38816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1435608" y="3794760"/>
            <a:ext cx="9960559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ignoro; seguro alguien más la recogerá.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66928" y="4626864"/>
            <a:ext cx="11057839" cy="649224"/>
          </a:xfrm>
          <a:prstGeom prst="roundRect">
            <a:avLst>
              <a:gd name="adj" fmla="val 12676"/>
            </a:avLst>
          </a:prstGeom>
          <a:solidFill>
            <a:srgbClr val="F2F5F9"/>
          </a:solidFill>
          <a:ln/>
        </p:spPr>
      </p:sp>
      <p:sp>
        <p:nvSpPr>
          <p:cNvPr id="15" name="Shape 12"/>
          <p:cNvSpPr/>
          <p:nvPr/>
        </p:nvSpPr>
        <p:spPr>
          <a:xfrm>
            <a:off x="768096" y="4722876"/>
            <a:ext cx="457200" cy="457200"/>
          </a:xfrm>
          <a:prstGeom prst="ellipse">
            <a:avLst/>
          </a:prstGeom>
          <a:solidFill>
            <a:srgbClr val="133B6C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68096" y="47137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1435608" y="4626864"/>
            <a:ext cx="9960559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Espero a ver si alguien más se da cuenta y actúa.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5458968"/>
            <a:ext cx="11057839" cy="649224"/>
          </a:xfrm>
          <a:prstGeom prst="roundRect">
            <a:avLst>
              <a:gd name="adj" fmla="val 12676"/>
            </a:avLst>
          </a:prstGeom>
          <a:solidFill>
            <a:srgbClr val="F2F5F9"/>
          </a:solidFill>
          <a:ln/>
        </p:spPr>
      </p:sp>
      <p:sp>
        <p:nvSpPr>
          <p:cNvPr id="19" name="Shape 16"/>
          <p:cNvSpPr/>
          <p:nvPr/>
        </p:nvSpPr>
        <p:spPr>
          <a:xfrm>
            <a:off x="768096" y="5554980"/>
            <a:ext cx="457200" cy="457200"/>
          </a:xfrm>
          <a:prstGeom prst="ellipse">
            <a:avLst/>
          </a:prstGeom>
          <a:solidFill>
            <a:srgbClr val="133B6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68096" y="55458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1435608" y="5458968"/>
            <a:ext cx="9960559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protejo de la vista de otros y reporto la situación de inmediato.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INTEGRAL DE RIESGOS  ·  COMEDICA DE R.L.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11076127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E3A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2 · RESPUESTA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22960"/>
            <a:ext cx="110578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33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ESCENARIO · RESPUESTA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11057839" cy="1234440"/>
          </a:xfrm>
          <a:prstGeom prst="roundRect">
            <a:avLst>
              <a:gd name="adj" fmla="val 8889"/>
            </a:avLst>
          </a:prstGeom>
          <a:solidFill>
            <a:srgbClr val="2E9E5B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167128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tmp/claude-0/-home-user-riesgo/0ff9ff46-1396-5bd8-b3ac-2280dfbbbc55/scratchpad/work/gen/icons/check_circle_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4575" y="2288743"/>
            <a:ext cx="396850" cy="39685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64208" y="2048256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FF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CORRECTA · OPCIÓN C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664208" y="2322576"/>
            <a:ext cx="96862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protejo de la vista de otros y reporto la situación de inmediato.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3337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QUÉ?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3703320"/>
            <a:ext cx="11057839" cy="1417320"/>
          </a:xfrm>
          <a:prstGeom prst="roundRect">
            <a:avLst>
              <a:gd name="adj" fmla="val 6452"/>
            </a:avLst>
          </a:prstGeom>
          <a:solidFill>
            <a:srgbClr val="F2F5F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86968" y="3886200"/>
            <a:ext cx="10417759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Ignorar o esperar deja expuesta información de nuestros asociados y aumenta el riesgo de que se convierta en un incidente mayor. Actuar y reportar es lo que evita que un pequeño descuido se transforme en un problema real para la Cooperativa.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5285232"/>
            <a:ext cx="11057839" cy="777240"/>
          </a:xfrm>
          <a:prstGeom prst="roundRect">
            <a:avLst>
              <a:gd name="adj" fmla="val 11765"/>
            </a:avLst>
          </a:prstGeom>
          <a:solidFill>
            <a:srgbClr val="133B6C"/>
          </a:solidFill>
          <a:ln/>
        </p:spPr>
      </p:sp>
      <p:sp>
        <p:nvSpPr>
          <p:cNvPr id="13" name="Shape 10"/>
          <p:cNvSpPr/>
          <p:nvPr/>
        </p:nvSpPr>
        <p:spPr>
          <a:xfrm>
            <a:off x="768096" y="5404104"/>
            <a:ext cx="530352" cy="530352"/>
          </a:xfrm>
          <a:prstGeom prst="ellipse">
            <a:avLst/>
          </a:prstGeom>
          <a:solidFill>
            <a:srgbClr val="E3A73B"/>
          </a:solidFill>
          <a:ln/>
        </p:spPr>
      </p:sp>
      <p:pic>
        <p:nvPicPr>
          <p:cNvPr id="14" name="Image 1" descr="/tmp/claude-0/-home-user-riesgo/0ff9ff46-1396-5bd8-b3ac-2280dfbbbc55/scratchpad/work/gen/icons/mail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425" y="5523433"/>
            <a:ext cx="291694" cy="291694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63040" y="5285232"/>
            <a:ext cx="986911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Reporta por el canal institucional: incidentes.interrupción@comedica.com.sv, o directamente al Departamento de Administración de Riesgos.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INTEGRAL DE RIESGOS  ·  COMEDICA DE R.L.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11076127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926080" y="2926080"/>
            <a:ext cx="7772400" cy="7772400"/>
          </a:xfrm>
          <a:prstGeom prst="ellipse">
            <a:avLst/>
          </a:prstGeom>
          <a:solidFill>
            <a:srgbClr val="0D284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498080" y="-777240"/>
            <a:ext cx="51206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0" b="1" dirty="0">
                <a:solidFill>
                  <a:srgbClr val="152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0" dirty="0"/>
          </a:p>
        </p:txBody>
      </p:sp>
      <p:sp>
        <p:nvSpPr>
          <p:cNvPr id="4" name="Shape 2"/>
          <p:cNvSpPr/>
          <p:nvPr/>
        </p:nvSpPr>
        <p:spPr>
          <a:xfrm>
            <a:off x="566928" y="1828800"/>
            <a:ext cx="1188720" cy="1188720"/>
          </a:xfrm>
          <a:prstGeom prst="ellipse">
            <a:avLst/>
          </a:prstGeom>
          <a:solidFill>
            <a:srgbClr val="E3A73B"/>
          </a:solidFill>
          <a:ln/>
        </p:spPr>
      </p:sp>
      <p:pic>
        <p:nvPicPr>
          <p:cNvPr id="5" name="Image 0" descr="/tmp/claude-0/-home-user-riesgo/0ff9ff46-1396-5bd8-b3ac-2280dfbbbc55/scratchpad/work/gen/icons/gears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2114093"/>
            <a:ext cx="618134" cy="61813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28803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E3A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3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3246120"/>
            <a:ext cx="10424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RIESGOS OPERATIVOS ESTÁN</a:t>
            </a:r>
            <a:endParaRPr lang="en-US" sz="3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NUESTRO DÍA A DÍA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46634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C7D3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Personas, procesos, sistemas y eventos externos: así se presenta el riesgo operativo.</a:t>
            </a:r>
            <a:endParaRPr lang="en-US" sz="1600" dirty="0"/>
          </a:p>
        </p:txBody>
      </p:sp>
      <p:pic>
        <p:nvPicPr>
          <p:cNvPr id="9" name="Image 1" descr="/tmp/claude-0/-home-user-riesgo/0ff9ff46-1396-5bd8-b3ac-2280dfbbbc55/scratchpad/work/gen/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1727" y="5961888"/>
            <a:ext cx="1463040" cy="41111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C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INTEGRAL DE RIESGOS  ·  COMEDICA DE R.L.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076127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C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E3A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3 · RIESGOS OPERATIVOS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22960"/>
            <a:ext cx="110578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800" b="1" dirty="0">
                <a:solidFill>
                  <a:srgbClr val="133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CUATRO ORÍGENES, UN MISMO EFECTO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riesgo operacional surge de fallas en: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985516"/>
            <a:ext cx="2545004" cy="2286000"/>
          </a:xfrm>
          <a:prstGeom prst="roundRect">
            <a:avLst>
              <a:gd name="adj" fmla="val 4000"/>
            </a:avLst>
          </a:prstGeom>
          <a:solidFill>
            <a:srgbClr val="F2F5F9"/>
          </a:solidFill>
          <a:ln/>
        </p:spPr>
      </p:sp>
      <p:sp>
        <p:nvSpPr>
          <p:cNvPr id="6" name="Shape 4"/>
          <p:cNvSpPr/>
          <p:nvPr/>
        </p:nvSpPr>
        <p:spPr>
          <a:xfrm>
            <a:off x="1555966" y="3150108"/>
            <a:ext cx="566928" cy="566928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7" name="Image 0" descr="/tmp/claude-0/-home-user-riesgo/0ff9ff46-1396-5bd8-b3ac-2280dfbbbc55/scratchpad/work/gen/icons/person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2029" y="3286171"/>
            <a:ext cx="294803" cy="29480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" y="3863340"/>
            <a:ext cx="23255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4375404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→ retraso → pérdida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04540" y="2985516"/>
            <a:ext cx="2545004" cy="2286000"/>
          </a:xfrm>
          <a:prstGeom prst="roundRect">
            <a:avLst>
              <a:gd name="adj" fmla="val 4000"/>
            </a:avLst>
          </a:prstGeom>
          <a:solidFill>
            <a:srgbClr val="F2F5F9"/>
          </a:solidFill>
          <a:ln/>
        </p:spPr>
      </p:sp>
      <p:sp>
        <p:nvSpPr>
          <p:cNvPr id="11" name="Shape 8"/>
          <p:cNvSpPr/>
          <p:nvPr/>
        </p:nvSpPr>
        <p:spPr>
          <a:xfrm>
            <a:off x="4393578" y="3150108"/>
            <a:ext cx="566928" cy="566928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12" name="Image 1" descr="/tmp/claude-0/-home-user-riesgo/0ff9ff46-1396-5bd8-b3ac-2280dfbbbc55/scratchpad/work/gen/icons/gear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9640" y="3286171"/>
            <a:ext cx="294803" cy="29480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514268" y="3863340"/>
            <a:ext cx="23255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PROCESOS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3569132" y="4375404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omitido → incidente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242152" y="2985516"/>
            <a:ext cx="2545004" cy="2286000"/>
          </a:xfrm>
          <a:prstGeom prst="roundRect">
            <a:avLst>
              <a:gd name="adj" fmla="val 4000"/>
            </a:avLst>
          </a:prstGeom>
          <a:solidFill>
            <a:srgbClr val="F2F5F9"/>
          </a:solidFill>
          <a:ln/>
        </p:spPr>
      </p:sp>
      <p:sp>
        <p:nvSpPr>
          <p:cNvPr id="16" name="Shape 12"/>
          <p:cNvSpPr/>
          <p:nvPr/>
        </p:nvSpPr>
        <p:spPr>
          <a:xfrm>
            <a:off x="7231189" y="3150108"/>
            <a:ext cx="566928" cy="566928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17" name="Image 2" descr="/tmp/claude-0/-home-user-riesgo/0ff9ff46-1396-5bd8-b3ac-2280dfbbbc55/scratchpad/work/gen/icons/server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7252" y="3286171"/>
            <a:ext cx="294803" cy="29480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1880" y="3863340"/>
            <a:ext cx="23255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</a:t>
            </a:r>
            <a:endParaRPr lang="en-US" sz="1250" dirty="0"/>
          </a:p>
        </p:txBody>
      </p:sp>
      <p:sp>
        <p:nvSpPr>
          <p:cNvPr id="19" name="Text 14"/>
          <p:cNvSpPr txBox="1"/>
          <p:nvPr/>
        </p:nvSpPr>
        <p:spPr>
          <a:xfrm>
            <a:off x="6406744" y="4375404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Falla → interrupción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9079763" y="2985516"/>
            <a:ext cx="2545004" cy="2286000"/>
          </a:xfrm>
          <a:prstGeom prst="roundRect">
            <a:avLst>
              <a:gd name="adj" fmla="val 4000"/>
            </a:avLst>
          </a:prstGeom>
          <a:solidFill>
            <a:srgbClr val="F2F5F9"/>
          </a:solidFill>
          <a:ln/>
        </p:spPr>
      </p:sp>
      <p:sp>
        <p:nvSpPr>
          <p:cNvPr id="21" name="Shape 16"/>
          <p:cNvSpPr/>
          <p:nvPr/>
        </p:nvSpPr>
        <p:spPr>
          <a:xfrm>
            <a:off x="10068801" y="3150108"/>
            <a:ext cx="566928" cy="566928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22" name="Image 3" descr="/tmp/claude-0/-home-user-riesgo/0ff9ff46-1396-5bd8-b3ac-2280dfbbbc55/scratchpad/work/gen/icons/globe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04864" y="3286171"/>
            <a:ext cx="294803" cy="294803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189491" y="3863340"/>
            <a:ext cx="23255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EVENTOS EXTERNOS</a:t>
            </a:r>
            <a:endParaRPr lang="en-US" sz="1250" dirty="0"/>
          </a:p>
        </p:txBody>
      </p:sp>
      <p:sp>
        <p:nvSpPr>
          <p:cNvPr id="24" name="Text 18"/>
          <p:cNvSpPr txBox="1"/>
          <p:nvPr/>
        </p:nvSpPr>
        <p:spPr>
          <a:xfrm>
            <a:off x="9244355" y="4375404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Interrupción → impacto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INTEGRAL DE RIESGOS  ·  COMEDICA DE R.L.</a:t>
            </a:r>
            <a:endParaRPr lang="en-US" sz="900" dirty="0"/>
          </a:p>
        </p:txBody>
      </p:sp>
      <p:sp>
        <p:nvSpPr>
          <p:cNvPr id="26" name="Text 20"/>
          <p:cNvSpPr txBox="1"/>
          <p:nvPr/>
        </p:nvSpPr>
        <p:spPr>
          <a:xfrm>
            <a:off x="11076127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33B6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2194560"/>
            <a:ext cx="5486400" cy="5486400"/>
          </a:xfrm>
          <a:prstGeom prst="ellipse">
            <a:avLst/>
          </a:prstGeom>
          <a:solidFill>
            <a:srgbClr val="0D284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468880"/>
            <a:ext cx="1036015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2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RIESGO OPERATIVO NO SIEMPRE</a:t>
            </a:r>
            <a:endParaRPr lang="en-US" sz="27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2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VE COMO UN GRAN PROBLEMA.</a:t>
            </a:r>
            <a:endParaRPr lang="en-US" sz="27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2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VECES COMIENZA CON</a:t>
            </a:r>
            <a:endParaRPr lang="en-US" sz="27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3000" b="1" dirty="0">
                <a:solidFill>
                  <a:srgbClr val="E3A7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PEQUEÑO DESCUIDO.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C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INTEGRAL DE RIESGOS  ·  COMEDICA DE R.L.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076127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C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926080" y="2926080"/>
            <a:ext cx="7772400" cy="7772400"/>
          </a:xfrm>
          <a:prstGeom prst="ellipse">
            <a:avLst/>
          </a:prstGeom>
          <a:solidFill>
            <a:srgbClr val="0D284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498080" y="-777240"/>
            <a:ext cx="51206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0" b="1" dirty="0">
                <a:solidFill>
                  <a:srgbClr val="152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0" dirty="0"/>
          </a:p>
        </p:txBody>
      </p:sp>
      <p:sp>
        <p:nvSpPr>
          <p:cNvPr id="4" name="Shape 2"/>
          <p:cNvSpPr/>
          <p:nvPr/>
        </p:nvSpPr>
        <p:spPr>
          <a:xfrm>
            <a:off x="566928" y="1828800"/>
            <a:ext cx="1188720" cy="1188720"/>
          </a:xfrm>
          <a:prstGeom prst="ellipse">
            <a:avLst/>
          </a:prstGeom>
          <a:solidFill>
            <a:srgbClr val="E3A73B"/>
          </a:solidFill>
          <a:ln/>
        </p:spPr>
      </p:sp>
      <p:pic>
        <p:nvPicPr>
          <p:cNvPr id="5" name="Image 0" descr="/tmp/claude-0/-home-user-riesgo/0ff9ff46-1396-5bd8-b3ac-2280dfbbbc55/scratchpad/work/gen/icons/star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2114093"/>
            <a:ext cx="618134" cy="61813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28803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E3A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4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3246120"/>
            <a:ext cx="10424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CUIDEMOS LA REPUTACIÓN</a:t>
            </a:r>
            <a:endParaRPr lang="en-US" sz="3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NUESTRA COOPERATIVA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46634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C7D3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REPUTACIÓN = CONFIANZA. Y la confianza se construye todos los días.</a:t>
            </a:r>
            <a:endParaRPr lang="en-US" sz="1600" dirty="0"/>
          </a:p>
        </p:txBody>
      </p:sp>
      <p:pic>
        <p:nvPicPr>
          <p:cNvPr id="9" name="Image 1" descr="/tmp/claude-0/-home-user-riesgo/0ff9ff46-1396-5bd8-b3ac-2280dfbbbc55/scratchpad/work/gen/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1727" y="5961888"/>
            <a:ext cx="1463040" cy="41111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C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INTEGRAL DE RIESGOS  ·  COMEDICA DE R.L.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076127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C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E3A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4 · REPUTACIÓN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22960"/>
            <a:ext cx="110578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800" b="1" dirty="0">
                <a:solidFill>
                  <a:srgbClr val="133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CONSTRUYE NUESTRA REPUTACIÓN?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reputación de COMEDICA DE R.L. se forma con cada interacción: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308860"/>
            <a:ext cx="2545004" cy="1691640"/>
          </a:xfrm>
          <a:prstGeom prst="roundRect">
            <a:avLst>
              <a:gd name="adj" fmla="val 5405"/>
            </a:avLst>
          </a:prstGeom>
          <a:solidFill>
            <a:srgbClr val="F2F5F9"/>
          </a:solidFill>
          <a:ln/>
        </p:spPr>
      </p:sp>
      <p:sp>
        <p:nvSpPr>
          <p:cNvPr id="6" name="Shape 4"/>
          <p:cNvSpPr/>
          <p:nvPr/>
        </p:nvSpPr>
        <p:spPr>
          <a:xfrm>
            <a:off x="1555966" y="2569464"/>
            <a:ext cx="566928" cy="566928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7" name="Image 0" descr="/tmp/claude-0/-home-user-riesgo/0ff9ff46-1396-5bd8-b3ac-2280dfbbbc55/scratchpad/work/gen/icons/handshak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2029" y="2705527"/>
            <a:ext cx="294803" cy="29480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" y="3282696"/>
            <a:ext cx="23255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 y experiencia del asociado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3404540" y="2308860"/>
            <a:ext cx="2545004" cy="1691640"/>
          </a:xfrm>
          <a:prstGeom prst="roundRect">
            <a:avLst>
              <a:gd name="adj" fmla="val 5405"/>
            </a:avLst>
          </a:prstGeom>
          <a:solidFill>
            <a:srgbClr val="F2F5F9"/>
          </a:solidFill>
          <a:ln/>
        </p:spPr>
      </p:sp>
      <p:sp>
        <p:nvSpPr>
          <p:cNvPr id="10" name="Shape 7"/>
          <p:cNvSpPr/>
          <p:nvPr/>
        </p:nvSpPr>
        <p:spPr>
          <a:xfrm>
            <a:off x="4393578" y="2569464"/>
            <a:ext cx="566928" cy="566928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11" name="Image 1" descr="/tmp/claude-0/-home-user-riesgo/0ff9ff46-1396-5bd8-b3ac-2280dfbbbc55/scratchpad/work/gen/icons/scal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9640" y="2705527"/>
            <a:ext cx="294803" cy="29480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514268" y="3282696"/>
            <a:ext cx="23255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Ética y cumplimiento normativo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242152" y="2308860"/>
            <a:ext cx="2545004" cy="1691640"/>
          </a:xfrm>
          <a:prstGeom prst="roundRect">
            <a:avLst>
              <a:gd name="adj" fmla="val 5405"/>
            </a:avLst>
          </a:prstGeom>
          <a:solidFill>
            <a:srgbClr val="F2F5F9"/>
          </a:solidFill>
          <a:ln/>
        </p:spPr>
      </p:sp>
      <p:sp>
        <p:nvSpPr>
          <p:cNvPr id="14" name="Shape 10"/>
          <p:cNvSpPr/>
          <p:nvPr/>
        </p:nvSpPr>
        <p:spPr>
          <a:xfrm>
            <a:off x="7231189" y="2569464"/>
            <a:ext cx="566928" cy="566928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15" name="Image 2" descr="/tmp/claude-0/-home-user-riesgo/0ff9ff46-1396-5bd8-b3ac-2280dfbbbc55/scratchpad/work/gen/icons/lock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7252" y="2705527"/>
            <a:ext cx="294803" cy="294803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51880" y="3282696"/>
            <a:ext cx="23255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adecuado de la información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9079763" y="2308860"/>
            <a:ext cx="2545004" cy="1691640"/>
          </a:xfrm>
          <a:prstGeom prst="roundRect">
            <a:avLst>
              <a:gd name="adj" fmla="val 5405"/>
            </a:avLst>
          </a:prstGeom>
          <a:solidFill>
            <a:srgbClr val="F2F5F9"/>
          </a:solidFill>
          <a:ln/>
        </p:spPr>
      </p:sp>
      <p:sp>
        <p:nvSpPr>
          <p:cNvPr id="18" name="Shape 13"/>
          <p:cNvSpPr/>
          <p:nvPr/>
        </p:nvSpPr>
        <p:spPr>
          <a:xfrm>
            <a:off x="10068801" y="2569464"/>
            <a:ext cx="566928" cy="566928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19" name="Image 3" descr="/tmp/claude-0/-home-user-riesgo/0ff9ff46-1396-5bd8-b3ac-2280dfbbbc55/scratchpad/work/gen/icons/person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04864" y="2705527"/>
            <a:ext cx="294803" cy="294803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9189491" y="3282696"/>
            <a:ext cx="23255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Comportamiento de cada colaborador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566928" y="4256532"/>
            <a:ext cx="2545004" cy="1691640"/>
          </a:xfrm>
          <a:prstGeom prst="roundRect">
            <a:avLst>
              <a:gd name="adj" fmla="val 5405"/>
            </a:avLst>
          </a:prstGeom>
          <a:solidFill>
            <a:srgbClr val="F2F5F9"/>
          </a:solidFill>
          <a:ln/>
        </p:spPr>
      </p:sp>
      <p:sp>
        <p:nvSpPr>
          <p:cNvPr id="22" name="Shape 16"/>
          <p:cNvSpPr/>
          <p:nvPr/>
        </p:nvSpPr>
        <p:spPr>
          <a:xfrm>
            <a:off x="1555966" y="4517136"/>
            <a:ext cx="566928" cy="566928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23" name="Image 4" descr="/tmp/claude-0/-home-user-riesgo/0ff9ff46-1396-5bd8-b3ac-2280dfbbbc55/scratchpad/work/gen/icons/social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92029" y="4653199"/>
            <a:ext cx="294803" cy="294803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676656" y="5230368"/>
            <a:ext cx="23255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se dice en redes sociales</a:t>
            </a:r>
            <a:endParaRPr lang="en-US" sz="1250" dirty="0"/>
          </a:p>
        </p:txBody>
      </p:sp>
      <p:sp>
        <p:nvSpPr>
          <p:cNvPr id="25" name="Shape 18"/>
          <p:cNvSpPr/>
          <p:nvPr/>
        </p:nvSpPr>
        <p:spPr>
          <a:xfrm>
            <a:off x="3404540" y="4256532"/>
            <a:ext cx="2545004" cy="1691640"/>
          </a:xfrm>
          <a:prstGeom prst="roundRect">
            <a:avLst>
              <a:gd name="adj" fmla="val 5405"/>
            </a:avLst>
          </a:prstGeom>
          <a:solidFill>
            <a:srgbClr val="F2F5F9"/>
          </a:solidFill>
          <a:ln/>
        </p:spPr>
      </p:sp>
      <p:sp>
        <p:nvSpPr>
          <p:cNvPr id="26" name="Shape 19"/>
          <p:cNvSpPr/>
          <p:nvPr/>
        </p:nvSpPr>
        <p:spPr>
          <a:xfrm>
            <a:off x="4393578" y="4517136"/>
            <a:ext cx="566928" cy="566928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27" name="Image 5" descr="/tmp/claude-0/-home-user-riesgo/0ff9ff46-1396-5bd8-b3ac-2280dfbbbc55/scratchpad/work/gen/icons/people_group_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9640" y="4653199"/>
            <a:ext cx="294803" cy="294803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3514268" y="5230368"/>
            <a:ext cx="23255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Relación con proveedores y terceros</a:t>
            </a:r>
            <a:endParaRPr lang="en-US" sz="1250" dirty="0"/>
          </a:p>
        </p:txBody>
      </p:sp>
      <p:sp>
        <p:nvSpPr>
          <p:cNvPr id="29" name="Shape 21"/>
          <p:cNvSpPr/>
          <p:nvPr/>
        </p:nvSpPr>
        <p:spPr>
          <a:xfrm>
            <a:off x="6242152" y="4256532"/>
            <a:ext cx="2545004" cy="1691640"/>
          </a:xfrm>
          <a:prstGeom prst="roundRect">
            <a:avLst>
              <a:gd name="adj" fmla="val 5405"/>
            </a:avLst>
          </a:prstGeom>
          <a:solidFill>
            <a:srgbClr val="F2F5F9"/>
          </a:solidFill>
          <a:ln/>
        </p:spPr>
      </p:sp>
      <p:sp>
        <p:nvSpPr>
          <p:cNvPr id="30" name="Shape 22"/>
          <p:cNvSpPr/>
          <p:nvPr/>
        </p:nvSpPr>
        <p:spPr>
          <a:xfrm>
            <a:off x="7231189" y="4517136"/>
            <a:ext cx="566928" cy="566928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31" name="Image 6" descr="/tmp/claude-0/-home-user-riesgo/0ff9ff46-1396-5bd8-b3ac-2280dfbbbc55/scratchpad/work/gen/icons/target_whi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67252" y="4653199"/>
            <a:ext cx="294803" cy="294803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6351880" y="5230368"/>
            <a:ext cx="23255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de productos y servicios</a:t>
            </a:r>
            <a:endParaRPr lang="en-US" sz="1250" dirty="0"/>
          </a:p>
        </p:txBody>
      </p:sp>
      <p:sp>
        <p:nvSpPr>
          <p:cNvPr id="33" name="Shape 24"/>
          <p:cNvSpPr/>
          <p:nvPr/>
        </p:nvSpPr>
        <p:spPr>
          <a:xfrm>
            <a:off x="9079763" y="4256532"/>
            <a:ext cx="2545004" cy="1691640"/>
          </a:xfrm>
          <a:prstGeom prst="roundRect">
            <a:avLst>
              <a:gd name="adj" fmla="val 5405"/>
            </a:avLst>
          </a:prstGeom>
          <a:solidFill>
            <a:srgbClr val="F2F5F9"/>
          </a:solidFill>
          <a:ln/>
        </p:spPr>
      </p:sp>
      <p:sp>
        <p:nvSpPr>
          <p:cNvPr id="34" name="Shape 25"/>
          <p:cNvSpPr/>
          <p:nvPr/>
        </p:nvSpPr>
        <p:spPr>
          <a:xfrm>
            <a:off x="10068801" y="4517136"/>
            <a:ext cx="566928" cy="566928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35" name="Image 7" descr="/tmp/claude-0/-home-user-riesgo/0ff9ff46-1396-5bd8-b3ac-2280dfbbbc55/scratchpad/work/gen/icons/globe_whit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04864" y="4653199"/>
            <a:ext cx="294803" cy="294803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9189491" y="5230368"/>
            <a:ext cx="23255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Percepción pública y cobertura mediática</a:t>
            </a:r>
            <a:endParaRPr lang="en-US" sz="1250" dirty="0"/>
          </a:p>
        </p:txBody>
      </p:sp>
      <p:sp>
        <p:nvSpPr>
          <p:cNvPr id="37" name="Text 27"/>
          <p:cNvSpPr txBox="1"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INTEGRAL DE RIESGOS  ·  COMEDICA DE R.L.</a:t>
            </a:r>
            <a:endParaRPr lang="en-US" sz="900" dirty="0"/>
          </a:p>
        </p:txBody>
      </p:sp>
      <p:sp>
        <p:nvSpPr>
          <p:cNvPr id="38" name="Text 28"/>
          <p:cNvSpPr txBox="1"/>
          <p:nvPr/>
        </p:nvSpPr>
        <p:spPr>
          <a:xfrm>
            <a:off x="11076127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33B6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2194560"/>
            <a:ext cx="5486400" cy="5486400"/>
          </a:xfrm>
          <a:prstGeom prst="ellipse">
            <a:avLst/>
          </a:prstGeom>
          <a:solidFill>
            <a:srgbClr val="0D284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468880"/>
            <a:ext cx="1036015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2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EXPERIENCIA PUEDE DURAR MINUTOS.</a:t>
            </a:r>
            <a:endParaRPr lang="en-US" sz="27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2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MALA REPUTACIÓN</a:t>
            </a:r>
            <a:endParaRPr lang="en-US" sz="27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3000" b="1" dirty="0">
                <a:solidFill>
                  <a:srgbClr val="E3A7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PUEDE DURAR MUCHO MÁS.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C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INTEGRAL DE RIESGOS  ·  COMEDICA DE R.L.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076127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C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E3A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4 · ¿QUÉ HARÍAS?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22960"/>
            <a:ext cx="110578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33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CASO: UN ASOCIADO INSATISFECHO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11057839" cy="1417320"/>
          </a:xfrm>
          <a:prstGeom prst="roundRect">
            <a:avLst>
              <a:gd name="adj" fmla="val 7742"/>
            </a:avLst>
          </a:prstGeom>
          <a:solidFill>
            <a:srgbClr val="133B6C"/>
          </a:solidFill>
          <a:ln/>
        </p:spPr>
      </p:sp>
      <p:sp>
        <p:nvSpPr>
          <p:cNvPr id="5" name="Shape 3"/>
          <p:cNvSpPr/>
          <p:nvPr/>
        </p:nvSpPr>
        <p:spPr>
          <a:xfrm>
            <a:off x="841248" y="2148840"/>
            <a:ext cx="685800" cy="685800"/>
          </a:xfrm>
          <a:prstGeom prst="ellipse">
            <a:avLst/>
          </a:prstGeom>
          <a:solidFill>
            <a:srgbClr val="E3A73B"/>
          </a:solidFill>
          <a:ln/>
        </p:spPr>
      </p:sp>
      <p:pic>
        <p:nvPicPr>
          <p:cNvPr id="6" name="Image 0" descr="/tmp/claude-0/-home-user-riesgo/0ff9ff46-1396-5bd8-b3ac-2280dfbbbc55/scratchpad/work/gen/icons/heart_crack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553" y="2303145"/>
            <a:ext cx="377190" cy="37719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55648" y="1956816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3A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SITUACIÓN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755648" y="2231136"/>
            <a:ext cx="959479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asociado se queja fuertemente en agencia por una demora y luego publica un comentario negativo sobre COMEDICA DE R.L. en redes sociales.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3429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HARÍAS?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3794760"/>
            <a:ext cx="11057839" cy="649224"/>
          </a:xfrm>
          <a:prstGeom prst="roundRect">
            <a:avLst>
              <a:gd name="adj" fmla="val 12676"/>
            </a:avLst>
          </a:prstGeom>
          <a:solidFill>
            <a:srgbClr val="F2F5F9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3890772"/>
            <a:ext cx="457200" cy="457200"/>
          </a:xfrm>
          <a:prstGeom prst="ellipse">
            <a:avLst/>
          </a:prstGeom>
          <a:solidFill>
            <a:srgbClr val="133B6C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68096" y="38816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1435608" y="3794760"/>
            <a:ext cx="9960559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Ignorar la publicación; no es asunto mío.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66928" y="4626864"/>
            <a:ext cx="11057839" cy="649224"/>
          </a:xfrm>
          <a:prstGeom prst="roundRect">
            <a:avLst>
              <a:gd name="adj" fmla="val 12676"/>
            </a:avLst>
          </a:prstGeom>
          <a:solidFill>
            <a:srgbClr val="F2F5F9"/>
          </a:solidFill>
          <a:ln/>
        </p:spPr>
      </p:sp>
      <p:sp>
        <p:nvSpPr>
          <p:cNvPr id="15" name="Shape 12"/>
          <p:cNvSpPr/>
          <p:nvPr/>
        </p:nvSpPr>
        <p:spPr>
          <a:xfrm>
            <a:off x="768096" y="4722876"/>
            <a:ext cx="457200" cy="457200"/>
          </a:xfrm>
          <a:prstGeom prst="ellipse">
            <a:avLst/>
          </a:prstGeom>
          <a:solidFill>
            <a:srgbClr val="133B6C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68096" y="47137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1435608" y="4626864"/>
            <a:ext cx="9960559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Responder de forma informal y a título personal en redes sociales.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5458968"/>
            <a:ext cx="11057839" cy="649224"/>
          </a:xfrm>
          <a:prstGeom prst="roundRect">
            <a:avLst>
              <a:gd name="adj" fmla="val 12676"/>
            </a:avLst>
          </a:prstGeom>
          <a:solidFill>
            <a:srgbClr val="F2F5F9"/>
          </a:solidFill>
          <a:ln/>
        </p:spPr>
      </p:sp>
      <p:sp>
        <p:nvSpPr>
          <p:cNvPr id="19" name="Shape 16"/>
          <p:cNvSpPr/>
          <p:nvPr/>
        </p:nvSpPr>
        <p:spPr>
          <a:xfrm>
            <a:off x="768096" y="5554980"/>
            <a:ext cx="457200" cy="457200"/>
          </a:xfrm>
          <a:prstGeom prst="ellipse">
            <a:avLst/>
          </a:prstGeom>
          <a:solidFill>
            <a:srgbClr val="133B6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68096" y="55458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1435608" y="5458968"/>
            <a:ext cx="9960559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Escuchar al asociado, dar un buen servicio y canalizar el caso a quien corresponde dentro de la Cooperativa.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INTEGRAL DE RIESGOS  ·  COMEDICA DE R.L.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11076127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E3A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4 · RESPUESTA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22960"/>
            <a:ext cx="110578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33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CASO · RESPUESTA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11057839" cy="1234440"/>
          </a:xfrm>
          <a:prstGeom prst="roundRect">
            <a:avLst>
              <a:gd name="adj" fmla="val 8889"/>
            </a:avLst>
          </a:prstGeom>
          <a:solidFill>
            <a:srgbClr val="2E9E5B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167128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tmp/claude-0/-home-user-riesgo/0ff9ff46-1396-5bd8-b3ac-2280dfbbbc55/scratchpad/work/gen/icons/check_circle_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4575" y="2288743"/>
            <a:ext cx="396850" cy="39685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64208" y="2048256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FF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CORRECTA · OPCIÓN C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664208" y="2322576"/>
            <a:ext cx="96862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Escuchar, brindar un buen servicio y canalizar el caso internamente.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3337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QUÉ?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3703320"/>
            <a:ext cx="11057839" cy="1874520"/>
          </a:xfrm>
          <a:prstGeom prst="roundRect">
            <a:avLst>
              <a:gd name="adj" fmla="val 4878"/>
            </a:avLst>
          </a:prstGeom>
          <a:solidFill>
            <a:srgbClr val="F2F5F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86968" y="3886200"/>
            <a:ext cx="10417759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Ignorar la situación o responder de forma personal e informal puede agravar el impacto reputacional. Escuchar al asociado y canalizar el caso de manera adecuada protege tanto su confianza como la imagen institucional de la Cooperativa.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INTEGRAL DE RIESGOS  ·  COMEDICA DE R.L.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11076127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926080" y="2926080"/>
            <a:ext cx="7772400" cy="7772400"/>
          </a:xfrm>
          <a:prstGeom prst="ellipse">
            <a:avLst/>
          </a:prstGeom>
          <a:solidFill>
            <a:srgbClr val="0D284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498080" y="-777240"/>
            <a:ext cx="51206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0" b="1" dirty="0">
                <a:solidFill>
                  <a:srgbClr val="152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6000" dirty="0"/>
          </a:p>
        </p:txBody>
      </p:sp>
      <p:sp>
        <p:nvSpPr>
          <p:cNvPr id="4" name="Shape 2"/>
          <p:cNvSpPr/>
          <p:nvPr/>
        </p:nvSpPr>
        <p:spPr>
          <a:xfrm>
            <a:off x="566928" y="1828800"/>
            <a:ext cx="1188720" cy="1188720"/>
          </a:xfrm>
          <a:prstGeom prst="ellipse">
            <a:avLst/>
          </a:prstGeom>
          <a:solidFill>
            <a:srgbClr val="E3A73B"/>
          </a:solidFill>
          <a:ln/>
        </p:spPr>
      </p:sp>
      <p:pic>
        <p:nvPicPr>
          <p:cNvPr id="5" name="Image 0" descr="/tmp/claude-0/-home-user-riesgo/0ff9ff46-1396-5bd8-b3ac-2280dfbbbc55/scratchpad/work/gen/icons/shield_warning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2114093"/>
            <a:ext cx="618134" cy="61813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28803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E3A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5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3246120"/>
            <a:ext cx="10424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FRAUDE Y ERRORES:</a:t>
            </a:r>
            <a:endParaRPr lang="en-US" sz="3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APRENDAMOS A PREVENIRLOS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46634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C7D3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Distinguirlos es el primer paso para prevenirlos.</a:t>
            </a:r>
            <a:endParaRPr lang="en-US" sz="1600" dirty="0"/>
          </a:p>
        </p:txBody>
      </p:sp>
      <p:pic>
        <p:nvPicPr>
          <p:cNvPr id="9" name="Image 1" descr="/tmp/claude-0/-home-user-riesgo/0ff9ff46-1396-5bd8-b3ac-2280dfbbbc55/scratchpad/work/gen/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1727" y="5961888"/>
            <a:ext cx="1463040" cy="41111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C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INTEGRAL DE RIESGOS  ·  COMEDICA DE R.L.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076127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C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E3A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5 · FRAUDE Y ERRORES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22960"/>
            <a:ext cx="110578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800" b="1" dirty="0">
                <a:solidFill>
                  <a:srgbClr val="133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 VS. FRAUDE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5346040" cy="3657600"/>
          </a:xfrm>
          <a:prstGeom prst="roundRect">
            <a:avLst>
              <a:gd name="adj" fmla="val 3000"/>
            </a:avLst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874520"/>
            <a:ext cx="5346040" cy="566928"/>
          </a:xfrm>
          <a:prstGeom prst="roundRect">
            <a:avLst>
              <a:gd name="adj" fmla="val 19355"/>
            </a:avLst>
          </a:prstGeom>
          <a:solidFill>
            <a:srgbClr val="E3A73B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2157984"/>
            <a:ext cx="5346040" cy="283464"/>
          </a:xfrm>
          <a:prstGeom prst="rect">
            <a:avLst/>
          </a:prstGeom>
          <a:solidFill>
            <a:srgbClr val="E3A73B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039112"/>
            <a:ext cx="457200" cy="457200"/>
          </a:xfrm>
          <a:prstGeom prst="ellipse">
            <a:avLst/>
          </a:prstGeom>
          <a:solidFill>
            <a:srgbClr val="E3A73B"/>
          </a:solidFill>
          <a:ln/>
        </p:spPr>
      </p:sp>
      <p:pic>
        <p:nvPicPr>
          <p:cNvPr id="8" name="Image 0" descr="/tmp/claude-0/-home-user-riesgo/0ff9ff46-1396-5bd8-b3ac-2280dfbbbc55/scratchpad/work/gen/icons/x_circl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130552"/>
            <a:ext cx="274320" cy="2743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08176" y="2002536"/>
            <a:ext cx="434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886968" y="2624328"/>
            <a:ext cx="470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E3A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INTENCIONAL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886968" y="2971800"/>
            <a:ext cx="47059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Ocurre sin intención de causar daño: una equivocación, un olvido o una falla al seguir un procedimiento. Se corrige fortaleciendo la capacitación, la atención y los controles.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278728" y="1874520"/>
            <a:ext cx="5346040" cy="3657600"/>
          </a:xfrm>
          <a:prstGeom prst="roundRect">
            <a:avLst>
              <a:gd name="adj" fmla="val 3000"/>
            </a:avLst>
          </a:prstGeom>
          <a:solidFill>
            <a:srgbClr val="F2F5F9"/>
          </a:solidFill>
          <a:ln/>
        </p:spPr>
      </p:sp>
      <p:sp>
        <p:nvSpPr>
          <p:cNvPr id="13" name="Shape 10"/>
          <p:cNvSpPr/>
          <p:nvPr/>
        </p:nvSpPr>
        <p:spPr>
          <a:xfrm>
            <a:off x="6278728" y="1874520"/>
            <a:ext cx="5346040" cy="566928"/>
          </a:xfrm>
          <a:prstGeom prst="roundRect">
            <a:avLst>
              <a:gd name="adj" fmla="val 19355"/>
            </a:avLst>
          </a:prstGeom>
          <a:solidFill>
            <a:srgbClr val="C0392B"/>
          </a:solidFill>
          <a:ln/>
        </p:spPr>
      </p:sp>
      <p:sp>
        <p:nvSpPr>
          <p:cNvPr id="14" name="Shape 11"/>
          <p:cNvSpPr/>
          <p:nvPr/>
        </p:nvSpPr>
        <p:spPr>
          <a:xfrm>
            <a:off x="6278728" y="2157984"/>
            <a:ext cx="5346040" cy="28346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5" name="Shape 12"/>
          <p:cNvSpPr/>
          <p:nvPr/>
        </p:nvSpPr>
        <p:spPr>
          <a:xfrm>
            <a:off x="6534760" y="2039112"/>
            <a:ext cx="457200" cy="45720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16" name="Image 1" descr="/tmp/claude-0/-home-user-riesgo/0ff9ff46-1396-5bd8-b3ac-2280dfbbbc55/scratchpad/work/gen/icons/shield_warning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6200" y="2130552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7119976" y="2002536"/>
            <a:ext cx="434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FRAUDE</a:t>
            </a:r>
            <a:endParaRPr lang="en-US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6598768" y="2624328"/>
            <a:ext cx="470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INTENCIONAL</a:t>
            </a:r>
            <a:endParaRPr lang="en-US" sz="1250" dirty="0"/>
          </a:p>
        </p:txBody>
      </p:sp>
      <p:sp>
        <p:nvSpPr>
          <p:cNvPr id="19" name="Text 15"/>
          <p:cNvSpPr txBox="1"/>
          <p:nvPr/>
        </p:nvSpPr>
        <p:spPr>
          <a:xfrm>
            <a:off x="6598768" y="2971800"/>
            <a:ext cx="47059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una acción deliberada para obtener un beneficio indebido, ocultando u omitiendo información a propósito. Se previene con controles, supervisión y una cultura de reporte.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566928" y="5696712"/>
            <a:ext cx="11057839" cy="411480"/>
          </a:xfrm>
          <a:prstGeom prst="roundRect">
            <a:avLst>
              <a:gd name="adj" fmla="val 22222"/>
            </a:avLst>
          </a:prstGeom>
          <a:solidFill>
            <a:srgbClr val="133B6C"/>
          </a:solidFill>
          <a:ln/>
        </p:spPr>
      </p:sp>
      <p:sp>
        <p:nvSpPr>
          <p:cNvPr id="21" name="Shape 17"/>
          <p:cNvSpPr/>
          <p:nvPr/>
        </p:nvSpPr>
        <p:spPr>
          <a:xfrm>
            <a:off x="768096" y="5797296"/>
            <a:ext cx="384048" cy="384048"/>
          </a:xfrm>
          <a:prstGeom prst="ellipse">
            <a:avLst/>
          </a:prstGeom>
          <a:solidFill>
            <a:srgbClr val="E3A73B"/>
          </a:solidFill>
          <a:ln/>
        </p:spPr>
      </p:sp>
      <p:pic>
        <p:nvPicPr>
          <p:cNvPr id="22" name="Image 2" descr="/tmp/claude-0/-home-user-riesgo/0ff9ff46-1396-5bd8-b3ac-2280dfbbbc55/scratchpad/work/gen/icons/lightbulb_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507" y="5883707"/>
            <a:ext cx="211226" cy="211226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298448" y="5696712"/>
            <a:ext cx="1005199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Definiciones de carácter general para efectos de esta capacitación; ante cualquier duda, consulta con el Departamento de Administración de Riesgos.</a:t>
            </a:r>
            <a:endParaRPr lang="en-US" sz="1200" dirty="0"/>
          </a:p>
        </p:txBody>
      </p:sp>
      <p:sp>
        <p:nvSpPr>
          <p:cNvPr id="24" name="Text 19"/>
          <p:cNvSpPr txBox="1"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INTEGRAL DE RIESGOS  ·  COMEDICA DE R.L.</a:t>
            </a:r>
            <a:endParaRPr lang="en-US" sz="900" dirty="0"/>
          </a:p>
        </p:txBody>
      </p:sp>
      <p:sp>
        <p:nvSpPr>
          <p:cNvPr id="25" name="Text 20"/>
          <p:cNvSpPr txBox="1"/>
          <p:nvPr/>
        </p:nvSpPr>
        <p:spPr>
          <a:xfrm>
            <a:off x="11076127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E3A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5 · JUEGO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22960"/>
            <a:ext cx="110578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600" b="1" dirty="0">
                <a:solidFill>
                  <a:srgbClr val="133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¿ERROR O FRAUDE?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Analiza cada situación y decide.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331720"/>
            <a:ext cx="11057839" cy="820674"/>
          </a:xfrm>
          <a:prstGeom prst="roundRect">
            <a:avLst>
              <a:gd name="adj" fmla="val 10028"/>
            </a:avLst>
          </a:prstGeom>
          <a:solidFill>
            <a:srgbClr val="F2F5F9"/>
          </a:solidFill>
          <a:ln/>
        </p:spPr>
      </p:sp>
      <p:sp>
        <p:nvSpPr>
          <p:cNvPr id="6" name="Shape 4"/>
          <p:cNvSpPr/>
          <p:nvPr/>
        </p:nvSpPr>
        <p:spPr>
          <a:xfrm>
            <a:off x="768096" y="2513457"/>
            <a:ext cx="457200" cy="457200"/>
          </a:xfrm>
          <a:prstGeom prst="ellipse">
            <a:avLst/>
          </a:prstGeom>
          <a:solidFill>
            <a:srgbClr val="133B6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68096" y="250431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435608" y="2331720"/>
            <a:ext cx="8314639" cy="820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colaborador digita mal el monto de un depósito por una distracción.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9293047" y="2550033"/>
            <a:ext cx="107899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293047" y="2550033"/>
            <a:ext cx="1078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0500055" y="2550033"/>
            <a:ext cx="107899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500055" y="2550033"/>
            <a:ext cx="1078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3316986"/>
            <a:ext cx="11057839" cy="820674"/>
          </a:xfrm>
          <a:prstGeom prst="roundRect">
            <a:avLst>
              <a:gd name="adj" fmla="val 10028"/>
            </a:avLst>
          </a:prstGeom>
          <a:solidFill>
            <a:srgbClr val="F2F5F9"/>
          </a:solidFill>
          <a:ln/>
        </p:spPr>
      </p:sp>
      <p:sp>
        <p:nvSpPr>
          <p:cNvPr id="14" name="Shape 12"/>
          <p:cNvSpPr/>
          <p:nvPr/>
        </p:nvSpPr>
        <p:spPr>
          <a:xfrm>
            <a:off x="768096" y="3498723"/>
            <a:ext cx="457200" cy="457200"/>
          </a:xfrm>
          <a:prstGeom prst="ellipse">
            <a:avLst/>
          </a:prstGeom>
          <a:solidFill>
            <a:srgbClr val="133B6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68096" y="348957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435608" y="3316986"/>
            <a:ext cx="8314639" cy="820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colaborador aprueba trámites usando documentación que sabe que fue alterada.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293047" y="3535299"/>
            <a:ext cx="107899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293047" y="3535299"/>
            <a:ext cx="1078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10500055" y="3535299"/>
            <a:ext cx="107899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500055" y="3535299"/>
            <a:ext cx="1078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FRAUDE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4302252"/>
            <a:ext cx="11057839" cy="820674"/>
          </a:xfrm>
          <a:prstGeom prst="roundRect">
            <a:avLst>
              <a:gd name="adj" fmla="val 10028"/>
            </a:avLst>
          </a:prstGeom>
          <a:solidFill>
            <a:srgbClr val="F2F5F9"/>
          </a:solidFill>
          <a:ln/>
        </p:spPr>
      </p:sp>
      <p:sp>
        <p:nvSpPr>
          <p:cNvPr id="22" name="Shape 20"/>
          <p:cNvSpPr/>
          <p:nvPr/>
        </p:nvSpPr>
        <p:spPr>
          <a:xfrm>
            <a:off x="768096" y="4483989"/>
            <a:ext cx="457200" cy="457200"/>
          </a:xfrm>
          <a:prstGeom prst="ellipse">
            <a:avLst/>
          </a:prstGeom>
          <a:solidFill>
            <a:srgbClr val="133B6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8096" y="447484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1435608" y="4302252"/>
            <a:ext cx="8314639" cy="820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colaborador olvida adjuntar un documento por exceso de carga de trabajo.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9293047" y="4520565"/>
            <a:ext cx="107899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293047" y="4520565"/>
            <a:ext cx="1078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10500055" y="4520565"/>
            <a:ext cx="107899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500055" y="4520565"/>
            <a:ext cx="1078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FRAUDE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6928" y="5287518"/>
            <a:ext cx="11057839" cy="820674"/>
          </a:xfrm>
          <a:prstGeom prst="roundRect">
            <a:avLst>
              <a:gd name="adj" fmla="val 10028"/>
            </a:avLst>
          </a:prstGeom>
          <a:solidFill>
            <a:srgbClr val="F2F5F9"/>
          </a:solidFill>
          <a:ln/>
        </p:spPr>
      </p:sp>
      <p:sp>
        <p:nvSpPr>
          <p:cNvPr id="30" name="Shape 28"/>
          <p:cNvSpPr/>
          <p:nvPr/>
        </p:nvSpPr>
        <p:spPr>
          <a:xfrm>
            <a:off x="768096" y="5469255"/>
            <a:ext cx="457200" cy="457200"/>
          </a:xfrm>
          <a:prstGeom prst="ellipse">
            <a:avLst/>
          </a:prstGeom>
          <a:solidFill>
            <a:srgbClr val="133B6C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68096" y="546011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1435608" y="5287518"/>
            <a:ext cx="8314639" cy="820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colaborador oculta una diferencia de efectivo alterando un registro a propósito.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9293047" y="5505831"/>
            <a:ext cx="107899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293047" y="5505831"/>
            <a:ext cx="1078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10500055" y="5505831"/>
            <a:ext cx="107899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10500055" y="5505831"/>
            <a:ext cx="1078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FRAUDE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INTEGRAL DE RIESGOS  ·  COMEDICA DE R.L.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11076127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E3A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5 · RESPUESTAS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22960"/>
            <a:ext cx="110578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600" b="1" dirty="0">
                <a:solidFill>
                  <a:srgbClr val="133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¿ERROR O FRAUDE?  ·  RESPUESTAS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2148840"/>
            <a:ext cx="11057839" cy="880110"/>
          </a:xfrm>
          <a:prstGeom prst="roundRect">
            <a:avLst>
              <a:gd name="adj" fmla="val 9351"/>
            </a:avLst>
          </a:prstGeom>
          <a:solidFill>
            <a:srgbClr val="F2F5F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148840"/>
            <a:ext cx="8314639" cy="880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Digitar mal un monto por distracción: una equivocación sin intención de dañar.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9887407" y="2378583"/>
            <a:ext cx="1463040" cy="420624"/>
          </a:xfrm>
          <a:prstGeom prst="roundRect">
            <a:avLst>
              <a:gd name="adj" fmla="val 50000"/>
            </a:avLst>
          </a:prstGeom>
          <a:solidFill>
            <a:srgbClr val="E3A73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887407" y="2378583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3175254"/>
            <a:ext cx="11057839" cy="880110"/>
          </a:xfrm>
          <a:prstGeom prst="roundRect">
            <a:avLst>
              <a:gd name="adj" fmla="val 9351"/>
            </a:avLst>
          </a:prstGeom>
          <a:solidFill>
            <a:srgbClr val="F2F5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3175254"/>
            <a:ext cx="8314639" cy="880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Aprobar a sabiendas con documentación alterada: acción deliberada para obtener un beneficio.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9887407" y="3404997"/>
            <a:ext cx="1463040" cy="42062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887407" y="3404997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201668"/>
            <a:ext cx="11057839" cy="880110"/>
          </a:xfrm>
          <a:prstGeom prst="roundRect">
            <a:avLst>
              <a:gd name="adj" fmla="val 9351"/>
            </a:avLst>
          </a:prstGeom>
          <a:solidFill>
            <a:srgbClr val="F2F5F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4201668"/>
            <a:ext cx="8314639" cy="880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Olvidar un documento por carga de trabajo: una falla involuntaria del proceso.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9887407" y="4431411"/>
            <a:ext cx="1463040" cy="420624"/>
          </a:xfrm>
          <a:prstGeom prst="roundRect">
            <a:avLst>
              <a:gd name="adj" fmla="val 50000"/>
            </a:avLst>
          </a:prstGeom>
          <a:solidFill>
            <a:srgbClr val="E3A73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887407" y="4431411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5228082"/>
            <a:ext cx="11057839" cy="880110"/>
          </a:xfrm>
          <a:prstGeom prst="roundRect">
            <a:avLst>
              <a:gd name="adj" fmla="val 9351"/>
            </a:avLst>
          </a:prstGeom>
          <a:solidFill>
            <a:srgbClr val="F2F5F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5228082"/>
            <a:ext cx="8314639" cy="880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Ocultar una diferencia alterando un registro a propósito: intención de encubrir.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887407" y="5457825"/>
            <a:ext cx="1463040" cy="42062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887407" y="5457825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FRAUDE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INTEGRAL DE RIESGOS  ·  COMEDICA DE R.L.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076127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E3A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5 · PREVENCIÓN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22960"/>
            <a:ext cx="110578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800" b="1" dirty="0">
                <a:solidFill>
                  <a:srgbClr val="133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SEÑALES DE ALERTA Y QUÉ PUEDO HACER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2825496"/>
            <a:ext cx="2545004" cy="2286000"/>
          </a:xfrm>
          <a:prstGeom prst="roundRect">
            <a:avLst>
              <a:gd name="adj" fmla="val 4000"/>
            </a:avLst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1555966" y="2990088"/>
            <a:ext cx="566928" cy="566928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6" name="Image 0" descr="/tmp/claude-0/-home-user-riesgo/0ff9ff46-1396-5bd8-b3ac-2280dfbbbc55/scratchpad/work/gen/icons/eye_slash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2029" y="3126151"/>
            <a:ext cx="294803" cy="29480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76656" y="3703320"/>
            <a:ext cx="23255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4215384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Negativa a documentar o mostrar un proceso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404540" y="2825496"/>
            <a:ext cx="2545004" cy="2286000"/>
          </a:xfrm>
          <a:prstGeom prst="roundRect">
            <a:avLst>
              <a:gd name="adj" fmla="val 4000"/>
            </a:avLst>
          </a:prstGeom>
          <a:solidFill>
            <a:srgbClr val="F2F5F9"/>
          </a:solidFill>
          <a:ln/>
        </p:spPr>
      </p:sp>
      <p:sp>
        <p:nvSpPr>
          <p:cNvPr id="10" name="Shape 7"/>
          <p:cNvSpPr/>
          <p:nvPr/>
        </p:nvSpPr>
        <p:spPr>
          <a:xfrm>
            <a:off x="4393578" y="2990088"/>
            <a:ext cx="566928" cy="566928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11" name="Image 1" descr="/tmp/claude-0/-home-user-riesgo/0ff9ff46-1396-5bd8-b3ac-2280dfbbbc55/scratchpad/work/gen/icons/warning_triangl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9640" y="3126151"/>
            <a:ext cx="294803" cy="29480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514268" y="3703320"/>
            <a:ext cx="23255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3569132" y="4215384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Presión inusual por aprobar algo muy rápido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242152" y="2825496"/>
            <a:ext cx="2545004" cy="2286000"/>
          </a:xfrm>
          <a:prstGeom prst="roundRect">
            <a:avLst>
              <a:gd name="adj" fmla="val 4000"/>
            </a:avLst>
          </a:prstGeom>
          <a:solidFill>
            <a:srgbClr val="F2F5F9"/>
          </a:solidFill>
          <a:ln/>
        </p:spPr>
      </p:sp>
      <p:sp>
        <p:nvSpPr>
          <p:cNvPr id="15" name="Shape 11"/>
          <p:cNvSpPr/>
          <p:nvPr/>
        </p:nvSpPr>
        <p:spPr>
          <a:xfrm>
            <a:off x="7231189" y="2990088"/>
            <a:ext cx="566928" cy="566928"/>
          </a:xfrm>
          <a:prstGeom prst="ellipse">
            <a:avLst/>
          </a:prstGeom>
          <a:solidFill>
            <a:srgbClr val="2E9E5B"/>
          </a:solidFill>
          <a:ln/>
        </p:spPr>
      </p:sp>
      <p:pic>
        <p:nvPicPr>
          <p:cNvPr id="16" name="Image 2" descr="/tmp/claude-0/-home-user-riesgo/0ff9ff46-1396-5bd8-b3ac-2280dfbbbc55/scratchpad/work/gen/icons/form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7252" y="3126151"/>
            <a:ext cx="294803" cy="29480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351880" y="3703320"/>
            <a:ext cx="23255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Actúa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6406744" y="4215384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 lo que observas con hechos, no suposiciones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9079763" y="2825496"/>
            <a:ext cx="2545004" cy="2286000"/>
          </a:xfrm>
          <a:prstGeom prst="roundRect">
            <a:avLst>
              <a:gd name="adj" fmla="val 4000"/>
            </a:avLst>
          </a:prstGeom>
          <a:solidFill>
            <a:srgbClr val="F2F5F9"/>
          </a:solidFill>
          <a:ln/>
        </p:spPr>
      </p:sp>
      <p:sp>
        <p:nvSpPr>
          <p:cNvPr id="20" name="Shape 15"/>
          <p:cNvSpPr/>
          <p:nvPr/>
        </p:nvSpPr>
        <p:spPr>
          <a:xfrm>
            <a:off x="10068801" y="2990088"/>
            <a:ext cx="566928" cy="566928"/>
          </a:xfrm>
          <a:prstGeom prst="ellipse">
            <a:avLst/>
          </a:prstGeom>
          <a:solidFill>
            <a:srgbClr val="2E9E5B"/>
          </a:solidFill>
          <a:ln/>
        </p:spPr>
      </p:sp>
      <p:pic>
        <p:nvPicPr>
          <p:cNvPr id="21" name="Image 3" descr="/tmp/claude-0/-home-user-riesgo/0ff9ff46-1396-5bd8-b3ac-2280dfbbbc55/scratchpad/work/gen/icons/megaphone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04864" y="3126151"/>
            <a:ext cx="294803" cy="29480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189491" y="3703320"/>
            <a:ext cx="23255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Actúa</a:t>
            </a:r>
            <a:endParaRPr lang="en-US" sz="1250" dirty="0"/>
          </a:p>
        </p:txBody>
      </p:sp>
      <p:sp>
        <p:nvSpPr>
          <p:cNvPr id="23" name="Text 17"/>
          <p:cNvSpPr txBox="1"/>
          <p:nvPr/>
        </p:nvSpPr>
        <p:spPr>
          <a:xfrm>
            <a:off x="9244355" y="4215384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Repórtalo por el canal institucional; nunca lo encubras</a:t>
            </a:r>
            <a:endParaRPr lang="en-US" sz="1100" dirty="0"/>
          </a:p>
        </p:txBody>
      </p:sp>
      <p:sp>
        <p:nvSpPr>
          <p:cNvPr id="24" name="Text 18"/>
          <p:cNvSpPr txBox="1"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INTEGRAL DE RIESGOS  ·  COMEDICA DE R.L.</a:t>
            </a:r>
            <a:endParaRPr lang="en-US" sz="900" dirty="0"/>
          </a:p>
        </p:txBody>
      </p:sp>
      <p:sp>
        <p:nvSpPr>
          <p:cNvPr id="25" name="Text 19"/>
          <p:cNvSpPr txBox="1"/>
          <p:nvPr/>
        </p:nvSpPr>
        <p:spPr>
          <a:xfrm>
            <a:off x="11076127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A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926080" y="2926080"/>
            <a:ext cx="7772400" cy="7772400"/>
          </a:xfrm>
          <a:prstGeom prst="ellipse">
            <a:avLst/>
          </a:prstGeom>
          <a:solidFill>
            <a:srgbClr val="0D284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498080" y="-777240"/>
            <a:ext cx="51206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0" b="1" dirty="0">
                <a:solidFill>
                  <a:srgbClr val="152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6000" dirty="0"/>
          </a:p>
        </p:txBody>
      </p:sp>
      <p:sp>
        <p:nvSpPr>
          <p:cNvPr id="4" name="Shape 2"/>
          <p:cNvSpPr/>
          <p:nvPr/>
        </p:nvSpPr>
        <p:spPr>
          <a:xfrm>
            <a:off x="566928" y="1828800"/>
            <a:ext cx="1188720" cy="1188720"/>
          </a:xfrm>
          <a:prstGeom prst="ellipse">
            <a:avLst/>
          </a:prstGeom>
          <a:solidFill>
            <a:srgbClr val="E3A73B"/>
          </a:solidFill>
          <a:ln/>
        </p:spPr>
      </p:sp>
      <p:pic>
        <p:nvPicPr>
          <p:cNvPr id="5" name="Image 0" descr="/tmp/claude-0/-home-user-riesgo/0ff9ff46-1396-5bd8-b3ac-2280dfbbbc55/scratchpad/work/gen/icons/bank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2114093"/>
            <a:ext cx="618134" cy="61813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28803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E3A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6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3246120"/>
            <a:ext cx="10424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RIESGO CREDITICIO NO ES SOLO</a:t>
            </a:r>
            <a:endParaRPr lang="en-US" sz="3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RESPONSABILIDAD DE CRÉDITOS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46634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C7D3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crédito es un proceso. El riesgo puede aparecer en cualquier etapa.</a:t>
            </a:r>
            <a:endParaRPr lang="en-US" sz="1600" dirty="0"/>
          </a:p>
        </p:txBody>
      </p:sp>
      <p:pic>
        <p:nvPicPr>
          <p:cNvPr id="9" name="Image 1" descr="/tmp/claude-0/-home-user-riesgo/0ff9ff46-1396-5bd8-b3ac-2280dfbbbc55/scratchpad/work/gen/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1727" y="5961888"/>
            <a:ext cx="1463040" cy="41111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C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INTEGRAL DE RIESGOS  ·  COMEDICA DE R.L.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076127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C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E3A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6 · PROCESO DE CRÉDITO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22960"/>
            <a:ext cx="110578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33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PROCESO, VARIAS ETAPAS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514818" y="2514600"/>
            <a:ext cx="868680" cy="868680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5" name="Image 0" descr="/tmp/claude-0/-home-user-riesgo/0ff9ff46-1396-5bd8-b3ac-2280dfbbbc55/scratchpad/work/gen/icons/form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1988" y="2731770"/>
            <a:ext cx="434340" cy="4343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21792" y="3511296"/>
            <a:ext cx="2654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Solicitud</a:t>
            </a:r>
            <a:endParaRPr lang="en-US" sz="1300" dirty="0"/>
          </a:p>
        </p:txBody>
      </p:sp>
      <p:pic>
        <p:nvPicPr>
          <p:cNvPr id="7" name="Image 1" descr="/tmp/claude-0/-home-user-riesgo/0ff9ff46-1396-5bd8-b3ac-2280dfbbbc55/scratchpad/work/gen/icons/arrow_right_gr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5084" y="2802636"/>
            <a:ext cx="292608" cy="292608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4279278" y="2514600"/>
            <a:ext cx="868680" cy="868680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9" name="Image 2" descr="/tmp/claude-0/-home-user-riesgo/0ff9ff46-1396-5bd8-b3ac-2280dfbbbc55/scratchpad/work/gen/icons/document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6448" y="2731770"/>
            <a:ext cx="434340" cy="43434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3386252" y="3511296"/>
            <a:ext cx="2654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Información</a:t>
            </a:r>
            <a:endParaRPr lang="en-US" sz="1300" dirty="0"/>
          </a:p>
        </p:txBody>
      </p:sp>
      <p:pic>
        <p:nvPicPr>
          <p:cNvPr id="11" name="Image 3" descr="/tmp/claude-0/-home-user-riesgo/0ff9ff46-1396-5bd8-b3ac-2280dfbbbc55/scratchpad/work/gen/icons/arrow_right_gra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9544" y="2802636"/>
            <a:ext cx="292608" cy="292608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7043738" y="2514600"/>
            <a:ext cx="868680" cy="868680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13" name="Image 4" descr="/tmp/claude-0/-home-user-riesgo/0ff9ff46-1396-5bd8-b3ac-2280dfbbbc55/scratchpad/work/gen/icons/search_doc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0908" y="2731770"/>
            <a:ext cx="434340" cy="43434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6150712" y="3511296"/>
            <a:ext cx="2654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Evaluación</a:t>
            </a:r>
            <a:endParaRPr lang="en-US" sz="1300" dirty="0"/>
          </a:p>
        </p:txBody>
      </p:sp>
      <p:pic>
        <p:nvPicPr>
          <p:cNvPr id="15" name="Image 5" descr="/tmp/claude-0/-home-user-riesgo/0ff9ff46-1396-5bd8-b3ac-2280dfbbbc55/scratchpad/work/gen/icons/arrow_right_gra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14003" y="2802636"/>
            <a:ext cx="292608" cy="292608"/>
          </a:xfrm>
          <a:prstGeom prst="rect">
            <a:avLst/>
          </a:prstGeom>
        </p:spPr>
      </p:pic>
      <p:sp>
        <p:nvSpPr>
          <p:cNvPr id="16" name="Shape 8"/>
          <p:cNvSpPr/>
          <p:nvPr/>
        </p:nvSpPr>
        <p:spPr>
          <a:xfrm>
            <a:off x="9808197" y="2514600"/>
            <a:ext cx="868680" cy="868680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17" name="Image 6" descr="/tmp/claude-0/-home-user-riesgo/0ff9ff46-1396-5bd8-b3ac-2280dfbbbc55/scratchpad/work/gen/icons/check_circle_whi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25367" y="2731770"/>
            <a:ext cx="434340" cy="434340"/>
          </a:xfrm>
          <a:prstGeom prst="rect">
            <a:avLst/>
          </a:prstGeom>
        </p:spPr>
      </p:pic>
      <p:sp>
        <p:nvSpPr>
          <p:cNvPr id="18" name="Text 9"/>
          <p:cNvSpPr txBox="1"/>
          <p:nvPr/>
        </p:nvSpPr>
        <p:spPr>
          <a:xfrm>
            <a:off x="8915171" y="3511296"/>
            <a:ext cx="2654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Aprobación</a:t>
            </a:r>
            <a:endParaRPr lang="en-US" sz="1300" dirty="0"/>
          </a:p>
        </p:txBody>
      </p:sp>
      <p:pic>
        <p:nvPicPr>
          <p:cNvPr id="19" name="Image 7" descr="/tmp/claude-0/-home-user-riesgo/0ff9ff46-1396-5bd8-b3ac-2280dfbbbc55/scratchpad/work/gen/icons/arrow_down_gray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96233" y="3913632"/>
            <a:ext cx="292608" cy="292608"/>
          </a:xfrm>
          <a:prstGeom prst="rect">
            <a:avLst/>
          </a:prstGeom>
        </p:spPr>
      </p:pic>
      <p:sp>
        <p:nvSpPr>
          <p:cNvPr id="20" name="Shape 10"/>
          <p:cNvSpPr/>
          <p:nvPr/>
        </p:nvSpPr>
        <p:spPr>
          <a:xfrm>
            <a:off x="1514818" y="4242816"/>
            <a:ext cx="868680" cy="868680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21" name="Image 8" descr="/tmp/claude-0/-home-user-riesgo/0ff9ff46-1396-5bd8-b3ac-2280dfbbbc55/scratchpad/work/gen/icons/signature_whit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31988" y="4459986"/>
            <a:ext cx="434340" cy="434340"/>
          </a:xfrm>
          <a:prstGeom prst="rect">
            <a:avLst/>
          </a:prstGeom>
        </p:spPr>
      </p:pic>
      <p:sp>
        <p:nvSpPr>
          <p:cNvPr id="22" name="Text 11"/>
          <p:cNvSpPr txBox="1"/>
          <p:nvPr/>
        </p:nvSpPr>
        <p:spPr>
          <a:xfrm>
            <a:off x="621792" y="5239512"/>
            <a:ext cx="2654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Formalización</a:t>
            </a:r>
            <a:endParaRPr lang="en-US" sz="1300" dirty="0"/>
          </a:p>
        </p:txBody>
      </p:sp>
      <p:pic>
        <p:nvPicPr>
          <p:cNvPr id="23" name="Image 9" descr="/tmp/claude-0/-home-user-riesgo/0ff9ff46-1396-5bd8-b3ac-2280dfbbbc55/scratchpad/work/gen/icons/arrow_right_gray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85084" y="4530852"/>
            <a:ext cx="292608" cy="292608"/>
          </a:xfrm>
          <a:prstGeom prst="rect">
            <a:avLst/>
          </a:prstGeom>
        </p:spPr>
      </p:pic>
      <p:sp>
        <p:nvSpPr>
          <p:cNvPr id="24" name="Shape 12"/>
          <p:cNvSpPr/>
          <p:nvPr/>
        </p:nvSpPr>
        <p:spPr>
          <a:xfrm>
            <a:off x="4279278" y="4242816"/>
            <a:ext cx="868680" cy="868680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25" name="Image 10" descr="/tmp/claude-0/-home-user-riesgo/0ff9ff46-1396-5bd8-b3ac-2280dfbbbc55/scratchpad/work/gen/icons/money_whit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96448" y="4459986"/>
            <a:ext cx="434340" cy="434340"/>
          </a:xfrm>
          <a:prstGeom prst="rect">
            <a:avLst/>
          </a:prstGeom>
        </p:spPr>
      </p:pic>
      <p:sp>
        <p:nvSpPr>
          <p:cNvPr id="26" name="Text 13"/>
          <p:cNvSpPr txBox="1"/>
          <p:nvPr/>
        </p:nvSpPr>
        <p:spPr>
          <a:xfrm>
            <a:off x="3386252" y="5239512"/>
            <a:ext cx="2654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Desembolso</a:t>
            </a:r>
            <a:endParaRPr lang="en-US" sz="1300" dirty="0"/>
          </a:p>
        </p:txBody>
      </p:sp>
      <p:pic>
        <p:nvPicPr>
          <p:cNvPr id="27" name="Image 11" descr="/tmp/claude-0/-home-user-riesgo/0ff9ff46-1396-5bd8-b3ac-2280dfbbbc55/scratchpad/work/gen/icons/arrow_right_gray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949544" y="4530852"/>
            <a:ext cx="292608" cy="292608"/>
          </a:xfrm>
          <a:prstGeom prst="rect">
            <a:avLst/>
          </a:prstGeom>
        </p:spPr>
      </p:pic>
      <p:sp>
        <p:nvSpPr>
          <p:cNvPr id="28" name="Shape 14"/>
          <p:cNvSpPr/>
          <p:nvPr/>
        </p:nvSpPr>
        <p:spPr>
          <a:xfrm>
            <a:off x="7043738" y="4242816"/>
            <a:ext cx="868680" cy="868680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29" name="Image 12" descr="/tmp/claude-0/-home-user-riesgo/0ff9ff46-1396-5bd8-b3ac-2280dfbbbc55/scratchpad/work/gen/icons/binoculars_white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260908" y="4459986"/>
            <a:ext cx="434340" cy="434340"/>
          </a:xfrm>
          <a:prstGeom prst="rect">
            <a:avLst/>
          </a:prstGeom>
        </p:spPr>
      </p:pic>
      <p:sp>
        <p:nvSpPr>
          <p:cNvPr id="30" name="Text 15"/>
          <p:cNvSpPr txBox="1"/>
          <p:nvPr/>
        </p:nvSpPr>
        <p:spPr>
          <a:xfrm>
            <a:off x="6150712" y="5239512"/>
            <a:ext cx="2654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Seguimiento</a:t>
            </a:r>
            <a:endParaRPr lang="en-US" sz="1300" dirty="0"/>
          </a:p>
        </p:txBody>
      </p:sp>
      <p:pic>
        <p:nvPicPr>
          <p:cNvPr id="31" name="Image 13" descr="/tmp/claude-0/-home-user-riesgo/0ff9ff46-1396-5bd8-b3ac-2280dfbbbc55/scratchpad/work/gen/icons/arrow_right_gray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714003" y="4530852"/>
            <a:ext cx="292608" cy="292608"/>
          </a:xfrm>
          <a:prstGeom prst="rect">
            <a:avLst/>
          </a:prstGeom>
        </p:spPr>
      </p:pic>
      <p:sp>
        <p:nvSpPr>
          <p:cNvPr id="32" name="Shape 16"/>
          <p:cNvSpPr/>
          <p:nvPr/>
        </p:nvSpPr>
        <p:spPr>
          <a:xfrm>
            <a:off x="9808197" y="4242816"/>
            <a:ext cx="868680" cy="868680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33" name="Image 14" descr="/tmp/claude-0/-home-user-riesgo/0ff9ff46-1396-5bd8-b3ac-2280dfbbbc55/scratchpad/work/gen/icons/coins_white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025367" y="4459986"/>
            <a:ext cx="434340" cy="434340"/>
          </a:xfrm>
          <a:prstGeom prst="rect">
            <a:avLst/>
          </a:prstGeom>
        </p:spPr>
      </p:pic>
      <p:sp>
        <p:nvSpPr>
          <p:cNvPr id="34" name="Text 17"/>
          <p:cNvSpPr txBox="1"/>
          <p:nvPr/>
        </p:nvSpPr>
        <p:spPr>
          <a:xfrm>
            <a:off x="8915171" y="5239512"/>
            <a:ext cx="2654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Recuperación</a:t>
            </a:r>
            <a:endParaRPr lang="en-US" sz="1300" dirty="0"/>
          </a:p>
        </p:txBody>
      </p:sp>
      <p:sp>
        <p:nvSpPr>
          <p:cNvPr id="35" name="Text 18"/>
          <p:cNvSpPr txBox="1"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INTEGRAL DE RIESGOS  ·  COMEDICA DE R.L.</a:t>
            </a:r>
            <a:endParaRPr lang="en-US" sz="900" dirty="0"/>
          </a:p>
        </p:txBody>
      </p:sp>
      <p:sp>
        <p:nvSpPr>
          <p:cNvPr id="36" name="Text 19"/>
          <p:cNvSpPr txBox="1"/>
          <p:nvPr/>
        </p:nvSpPr>
        <p:spPr>
          <a:xfrm>
            <a:off x="11076127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33B6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2194560"/>
            <a:ext cx="5486400" cy="5486400"/>
          </a:xfrm>
          <a:prstGeom prst="ellipse">
            <a:avLst/>
          </a:prstGeom>
          <a:solidFill>
            <a:srgbClr val="0D284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196596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E3A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¿EN QUÉ PARTE DEL PROCESO PUEDE APARECER UN RIESGO?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2468880"/>
            <a:ext cx="1036015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4400" b="1" dirty="0">
                <a:solidFill>
                  <a:srgbClr val="E3A7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TODAS.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5257800"/>
            <a:ext cx="926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BF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dato mal verificado, un documento incompleto o una alerta ignorada puede aparecer en cualquier etapa del proceso.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C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INTEGRAL DE RIESGOS  ·  COMEDICA DE R.L.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076127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C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E3A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6 · CORRESPONSABILIDAD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22960"/>
            <a:ext cx="110578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800" b="1" dirty="0">
                <a:solidFill>
                  <a:srgbClr val="133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CORRESPONSABILIDAD, NO SEÑALAMIENTO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Gestionar bien el riesgo crediticio depende de todos los que participan en el proceso, no solo del área de Créditos: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985516"/>
            <a:ext cx="3490874" cy="2286000"/>
          </a:xfrm>
          <a:prstGeom prst="roundRect">
            <a:avLst>
              <a:gd name="adj" fmla="val 4000"/>
            </a:avLst>
          </a:prstGeom>
          <a:solidFill>
            <a:srgbClr val="F2F5F9"/>
          </a:solidFill>
          <a:ln/>
        </p:spPr>
      </p:sp>
      <p:sp>
        <p:nvSpPr>
          <p:cNvPr id="6" name="Shape 4"/>
          <p:cNvSpPr/>
          <p:nvPr/>
        </p:nvSpPr>
        <p:spPr>
          <a:xfrm>
            <a:off x="1983181" y="3150108"/>
            <a:ext cx="658368" cy="658368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7" name="Image 0" descr="/tmp/claude-0/-home-user-riesgo/0ff9ff46-1396-5bd8-b3ac-2280dfbbbc55/scratchpad/work/gen/icons/people_grou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1190" y="3308116"/>
            <a:ext cx="342351" cy="342351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" y="3954780"/>
            <a:ext cx="327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40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Corresponsabilidad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4466844"/>
            <a:ext cx="316169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etapa del proceso depende de la calidad del trabajo de la etapa anterior.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350410" y="2985516"/>
            <a:ext cx="3490874" cy="2286000"/>
          </a:xfrm>
          <a:prstGeom prst="roundRect">
            <a:avLst>
              <a:gd name="adj" fmla="val 4000"/>
            </a:avLst>
          </a:prstGeom>
          <a:solidFill>
            <a:srgbClr val="F2F5F9"/>
          </a:solidFill>
          <a:ln/>
        </p:spPr>
      </p:sp>
      <p:sp>
        <p:nvSpPr>
          <p:cNvPr id="11" name="Shape 8"/>
          <p:cNvSpPr/>
          <p:nvPr/>
        </p:nvSpPr>
        <p:spPr>
          <a:xfrm>
            <a:off x="5766664" y="3150108"/>
            <a:ext cx="658368" cy="658368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12" name="Image 1" descr="/tmp/claude-0/-home-user-riesgo/0ff9ff46-1396-5bd8-b3ac-2280dfbbbc55/scratchpad/work/gen/icons/shield_check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4672" y="3308116"/>
            <a:ext cx="342351" cy="342351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460138" y="3954780"/>
            <a:ext cx="327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40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Prevención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15002" y="4466844"/>
            <a:ext cx="316169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 la información a tiempo evita problemas costosos más adelante.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8133893" y="2985516"/>
            <a:ext cx="3490874" cy="2286000"/>
          </a:xfrm>
          <a:prstGeom prst="roundRect">
            <a:avLst>
              <a:gd name="adj" fmla="val 4000"/>
            </a:avLst>
          </a:prstGeom>
          <a:solidFill>
            <a:srgbClr val="F2F5F9"/>
          </a:solidFill>
          <a:ln/>
        </p:spPr>
      </p:sp>
      <p:sp>
        <p:nvSpPr>
          <p:cNvPr id="16" name="Shape 12"/>
          <p:cNvSpPr/>
          <p:nvPr/>
        </p:nvSpPr>
        <p:spPr>
          <a:xfrm>
            <a:off x="9550146" y="3150108"/>
            <a:ext cx="658368" cy="658368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17" name="Image 2" descr="/tmp/claude-0/-home-user-riesgo/0ff9ff46-1396-5bd8-b3ac-2280dfbbbc55/scratchpad/work/gen/icons/medal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8154" y="3308116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243621" y="3954780"/>
            <a:ext cx="327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40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del proceso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298485" y="4466844"/>
            <a:ext cx="316169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expediente completo y verificado protege al asociado y a la Cooperativa.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INTEGRAL DE RIESGOS  ·  COMEDICA DE R.L.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11076127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A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926080" y="2926080"/>
            <a:ext cx="7772400" cy="7772400"/>
          </a:xfrm>
          <a:prstGeom prst="ellipse">
            <a:avLst/>
          </a:prstGeom>
          <a:solidFill>
            <a:srgbClr val="0D284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498080" y="-777240"/>
            <a:ext cx="51206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0" b="1" dirty="0">
                <a:solidFill>
                  <a:srgbClr val="152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6000" dirty="0"/>
          </a:p>
        </p:txBody>
      </p:sp>
      <p:sp>
        <p:nvSpPr>
          <p:cNvPr id="4" name="Shape 2"/>
          <p:cNvSpPr/>
          <p:nvPr/>
        </p:nvSpPr>
        <p:spPr>
          <a:xfrm>
            <a:off x="566928" y="1828800"/>
            <a:ext cx="1188720" cy="1188720"/>
          </a:xfrm>
          <a:prstGeom prst="ellipse">
            <a:avLst/>
          </a:prstGeom>
          <a:solidFill>
            <a:srgbClr val="E3A73B"/>
          </a:solidFill>
          <a:ln/>
        </p:spPr>
      </p:sp>
      <p:pic>
        <p:nvPicPr>
          <p:cNvPr id="5" name="Image 0" descr="/tmp/claude-0/-home-user-riesgo/0ff9ff46-1396-5bd8-b3ac-2280dfbbbc55/scratchpad/work/gen/icons/handshake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2114093"/>
            <a:ext cx="618134" cy="61813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28803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E3A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7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3246120"/>
            <a:ext cx="10424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¿QUIÉN ES RESPONSABLE DE</a:t>
            </a:r>
            <a:endParaRPr lang="en-US" sz="3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GESTIONAR LOS RIESGOS?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46634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C7D3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Gestionar riesgos es parte de nuestro trabajo.</a:t>
            </a:r>
            <a:endParaRPr lang="en-US" sz="1600" dirty="0"/>
          </a:p>
        </p:txBody>
      </p:sp>
      <p:pic>
        <p:nvPicPr>
          <p:cNvPr id="9" name="Image 1" descr="/tmp/claude-0/-home-user-riesgo/0ff9ff46-1396-5bd8-b3ac-2280dfbbbc55/scratchpad/work/gen/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1727" y="5961888"/>
            <a:ext cx="1463040" cy="41111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C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INTEGRAL DE RIESGOS  ·  COMEDICA DE R.L.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076127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C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E3A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7 · RESPONSABILIDAD COMPARTIDA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22960"/>
            <a:ext cx="110578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400" b="1" dirty="0">
                <a:solidFill>
                  <a:srgbClr val="133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GESTIONAR RIESGOS ES PARTE DE NUESTRO TRABAJO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 flipV="1">
            <a:off x="6095848" y="2304288"/>
            <a:ext cx="9144" cy="1600200"/>
          </a:xfrm>
          <a:prstGeom prst="line">
            <a:avLst/>
          </a:prstGeom>
          <a:noFill/>
          <a:ln w="19050">
            <a:solidFill>
              <a:srgbClr val="E3E8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6095848" y="3409999"/>
            <a:ext cx="1521881" cy="494489"/>
          </a:xfrm>
          <a:prstGeom prst="line">
            <a:avLst/>
          </a:prstGeom>
          <a:noFill/>
          <a:ln w="19050">
            <a:solidFill>
              <a:srgbClr val="E3E8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95848" y="3904488"/>
            <a:ext cx="940574" cy="1294589"/>
          </a:xfrm>
          <a:prstGeom prst="line">
            <a:avLst/>
          </a:prstGeom>
          <a:noFill/>
          <a:ln w="19050">
            <a:solidFill>
              <a:srgbClr val="E3E8E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H="1">
            <a:off x="5155274" y="3904488"/>
            <a:ext cx="940574" cy="1294589"/>
          </a:xfrm>
          <a:prstGeom prst="line">
            <a:avLst/>
          </a:prstGeom>
          <a:noFill/>
          <a:ln w="19050">
            <a:solidFill>
              <a:srgbClr val="E3E8E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 flipV="1">
            <a:off x="4573967" y="3409999"/>
            <a:ext cx="1521881" cy="494489"/>
          </a:xfrm>
          <a:prstGeom prst="line">
            <a:avLst/>
          </a:prstGeom>
          <a:noFill/>
          <a:ln w="19050">
            <a:solidFill>
              <a:srgbClr val="E3E8E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07228" y="1915668"/>
            <a:ext cx="777240" cy="777240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10" name="Image 0" descr="/tmp/claude-0/-home-user-riesgo/0ff9ff46-1396-5bd8-b3ac-2280dfbbbc55/scratchpad/work/gen/icons/person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01538" y="2109978"/>
            <a:ext cx="388620" cy="38862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227168" y="277520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Colaboradores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229108" y="3021379"/>
            <a:ext cx="777240" cy="777240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13" name="Image 1" descr="/tmp/claude-0/-home-user-riesgo/0ff9ff46-1396-5bd8-b3ac-2280dfbbbc55/scratchpad/work/gen/icons/briefcas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3418" y="3215689"/>
            <a:ext cx="388620" cy="38862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749048" y="3880915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Jefaturas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647802" y="4810457"/>
            <a:ext cx="777240" cy="777240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16" name="Image 2" descr="/tmp/claude-0/-home-user-riesgo/0ff9ff46-1396-5bd8-b3ac-2280dfbbbc55/scratchpad/work/gen/icons/crown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2112" y="5004767"/>
            <a:ext cx="388620" cy="3886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167742" y="5669993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Gerencias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4766654" y="4810457"/>
            <a:ext cx="777240" cy="777240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19" name="Image 3" descr="/tmp/claude-0/-home-user-riesgo/0ff9ff46-1396-5bd8-b3ac-2280dfbbbc55/scratchpad/work/gen/icons/shield_check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0964" y="5004767"/>
            <a:ext cx="388620" cy="3886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4286594" y="5669993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Administración de Riesgos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4185347" y="3021379"/>
            <a:ext cx="777240" cy="777240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22" name="Image 4" descr="/tmp/claude-0/-home-user-riesgo/0ff9ff46-1396-5bd8-b3ac-2280dfbbbc55/scratchpad/work/gen/icons/clipboard_check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79657" y="3215689"/>
            <a:ext cx="388620" cy="38862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3705287" y="3880915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Auditoría</a:t>
            </a:r>
            <a:endParaRPr lang="en-US" sz="1150" dirty="0"/>
          </a:p>
        </p:txBody>
      </p:sp>
      <p:sp>
        <p:nvSpPr>
          <p:cNvPr id="24" name="Shape 17"/>
          <p:cNvSpPr/>
          <p:nvPr/>
        </p:nvSpPr>
        <p:spPr>
          <a:xfrm>
            <a:off x="5432908" y="3241548"/>
            <a:ext cx="1325880" cy="1325880"/>
          </a:xfrm>
          <a:prstGeom prst="ellipse">
            <a:avLst/>
          </a:prstGeom>
          <a:solidFill>
            <a:srgbClr val="E3A73B"/>
          </a:solidFill>
          <a:ln/>
          <a:effectLst>
            <a:outerShdw sx="100000" sy="100000" kx="0" ky="0" algn="bl" rotWithShape="0" blurRad="127000" dist="38100" dir="5400000">
              <a:srgbClr val="17223A">
                <a:alpha val="18000"/>
              </a:srgbClr>
            </a:outerShdw>
          </a:effectLst>
        </p:spPr>
      </p:sp>
      <p:sp>
        <p:nvSpPr>
          <p:cNvPr id="25" name="Text 18"/>
          <p:cNvSpPr txBox="1"/>
          <p:nvPr/>
        </p:nvSpPr>
        <p:spPr>
          <a:xfrm>
            <a:off x="5432908" y="3648456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TODOS</a:t>
            </a:r>
            <a:endParaRPr lang="en-US" sz="1900" dirty="0"/>
          </a:p>
        </p:txBody>
      </p:sp>
      <p:sp>
        <p:nvSpPr>
          <p:cNvPr id="26" name="Text 19"/>
          <p:cNvSpPr txBox="1"/>
          <p:nvPr/>
        </p:nvSpPr>
        <p:spPr>
          <a:xfrm>
            <a:off x="566928" y="6199632"/>
            <a:ext cx="1105783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Colaboradores, jefaturas, gerencias, Administración de Riesgos y Auditoría: cada uno desde su rol.</a:t>
            </a:r>
            <a:endParaRPr lang="en-US" sz="1150" dirty="0"/>
          </a:p>
        </p:txBody>
      </p:sp>
      <p:sp>
        <p:nvSpPr>
          <p:cNvPr id="27" name="Text 20"/>
          <p:cNvSpPr txBox="1"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INTEGRAL DE RIESGOS  ·  COMEDICA DE R.L.</a:t>
            </a:r>
            <a:endParaRPr lang="en-US" sz="900" dirty="0"/>
          </a:p>
        </p:txBody>
      </p:sp>
      <p:sp>
        <p:nvSpPr>
          <p:cNvPr id="28" name="Text 21"/>
          <p:cNvSpPr txBox="1"/>
          <p:nvPr/>
        </p:nvSpPr>
        <p:spPr>
          <a:xfrm>
            <a:off x="11076127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A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926080" y="2926080"/>
            <a:ext cx="7772400" cy="7772400"/>
          </a:xfrm>
          <a:prstGeom prst="ellipse">
            <a:avLst/>
          </a:prstGeom>
          <a:solidFill>
            <a:srgbClr val="0D284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498080" y="-777240"/>
            <a:ext cx="51206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0" b="1" dirty="0">
                <a:solidFill>
                  <a:srgbClr val="152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26000" dirty="0"/>
          </a:p>
        </p:txBody>
      </p:sp>
      <p:sp>
        <p:nvSpPr>
          <p:cNvPr id="4" name="Shape 2"/>
          <p:cNvSpPr/>
          <p:nvPr/>
        </p:nvSpPr>
        <p:spPr>
          <a:xfrm>
            <a:off x="566928" y="1828800"/>
            <a:ext cx="1188720" cy="1188720"/>
          </a:xfrm>
          <a:prstGeom prst="ellipse">
            <a:avLst/>
          </a:prstGeom>
          <a:solidFill>
            <a:srgbClr val="E3A73B"/>
          </a:solidFill>
          <a:ln/>
        </p:spPr>
      </p:sp>
      <p:pic>
        <p:nvPicPr>
          <p:cNvPr id="5" name="Image 0" descr="/tmp/claude-0/-home-user-riesgo/0ff9ff46-1396-5bd8-b3ac-2280dfbbbc55/scratchpad/work/gen/icons/globe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2114093"/>
            <a:ext cx="618134" cy="61813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28803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E3A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8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3246120"/>
            <a:ext cx="10424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RIESGOS AMBIENTALES Y SOCIALES:</a:t>
            </a:r>
            <a:endParaRPr lang="en-US" sz="3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TAMBIÉN SON RIESGOS FINANCIEROS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46634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C7D3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Ambiente + sociedad + negocio + finanzas: una misma cadena.</a:t>
            </a:r>
            <a:endParaRPr lang="en-US" sz="1600" dirty="0"/>
          </a:p>
        </p:txBody>
      </p:sp>
      <p:pic>
        <p:nvPicPr>
          <p:cNvPr id="9" name="Image 1" descr="/tmp/claude-0/-home-user-riesgo/0ff9ff46-1396-5bd8-b3ac-2280dfbbbc55/scratchpad/work/gen/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1727" y="5961888"/>
            <a:ext cx="1463040" cy="41111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C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INTEGRAL DE RIESGOS  ·  COMEDICA DE R.L.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076127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C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E3A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8 · DE LO AMBIENTAL A LO FINANCIERO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22960"/>
            <a:ext cx="110578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33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CADENA DE IMPACTO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Así es como un evento externo puede terminar afectando las finanzas de la Cooperativa: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146932" y="3447288"/>
            <a:ext cx="1051560" cy="1051560"/>
          </a:xfrm>
          <a:prstGeom prst="ellipse">
            <a:avLst/>
          </a:prstGeom>
          <a:solidFill>
            <a:srgbClr val="E3A73B"/>
          </a:solidFill>
          <a:ln/>
        </p:spPr>
      </p:sp>
      <p:pic>
        <p:nvPicPr>
          <p:cNvPr id="6" name="Image 0" descr="/tmp/claude-0/-home-user-riesgo/0ff9ff46-1396-5bd8-b3ac-2280dfbbbc55/scratchpad/work/gen/icons/cloud_rain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9822" y="3710178"/>
            <a:ext cx="525780" cy="5257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1792" y="4626864"/>
            <a:ext cx="210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Evento ambiental o social</a:t>
            </a:r>
            <a:endParaRPr lang="en-US" sz="1300" dirty="0"/>
          </a:p>
        </p:txBody>
      </p:sp>
      <p:pic>
        <p:nvPicPr>
          <p:cNvPr id="8" name="Image 1" descr="/tmp/claude-0/-home-user-riesgo/0ff9ff46-1396-5bd8-b3ac-2280dfbbbc55/scratchpad/work/gen/icons/arrow_right_gr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2192" y="3826764"/>
            <a:ext cx="292608" cy="29260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358500" y="3447288"/>
            <a:ext cx="1051560" cy="1051560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10" name="Image 2" descr="/tmp/claude-0/-home-user-riesgo/0ff9ff46-1396-5bd8-b3ac-2280dfbbbc55/scratchpad/work/gen/icons/people_group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1390" y="3710178"/>
            <a:ext cx="525780" cy="5257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833360" y="4626864"/>
            <a:ext cx="210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Afecta a personas y operaciones</a:t>
            </a:r>
            <a:endParaRPr lang="en-US" sz="1300" dirty="0"/>
          </a:p>
        </p:txBody>
      </p:sp>
      <p:pic>
        <p:nvPicPr>
          <p:cNvPr id="12" name="Image 3" descr="/tmp/claude-0/-home-user-riesgo/0ff9ff46-1396-5bd8-b3ac-2280dfbbbc55/scratchpad/work/gen/icons/arrow_right_gra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3760" y="3826764"/>
            <a:ext cx="292608" cy="292608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5570068" y="3447288"/>
            <a:ext cx="1051560" cy="1051560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14" name="Image 4" descr="/tmp/claude-0/-home-user-riesgo/0ff9ff46-1396-5bd8-b3ac-2280dfbbbc55/scratchpad/work/gen/icons/x_circle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2958" y="3710178"/>
            <a:ext cx="525780" cy="52578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5044928" y="4626864"/>
            <a:ext cx="210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Interrupción o deterioro</a:t>
            </a:r>
            <a:endParaRPr lang="en-US" sz="1300" dirty="0"/>
          </a:p>
        </p:txBody>
      </p:sp>
      <p:pic>
        <p:nvPicPr>
          <p:cNvPr id="16" name="Image 5" descr="/tmp/claude-0/-home-user-riesgo/0ff9ff46-1396-5bd8-b3ac-2280dfbbbc55/scratchpad/work/gen/icons/arrow_right_gra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55328" y="3826764"/>
            <a:ext cx="292608" cy="292608"/>
          </a:xfrm>
          <a:prstGeom prst="rect">
            <a:avLst/>
          </a:prstGeom>
        </p:spPr>
      </p:pic>
      <p:sp>
        <p:nvSpPr>
          <p:cNvPr id="17" name="Shape 9"/>
          <p:cNvSpPr/>
          <p:nvPr/>
        </p:nvSpPr>
        <p:spPr>
          <a:xfrm>
            <a:off x="7781635" y="3447288"/>
            <a:ext cx="1051560" cy="1051560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18" name="Image 6" descr="/tmp/claude-0/-home-user-riesgo/0ff9ff46-1396-5bd8-b3ac-2280dfbbbc55/scratchpad/work/gen/icons/chart_down_whi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4525" y="3710178"/>
            <a:ext cx="525780" cy="525780"/>
          </a:xfrm>
          <a:prstGeom prst="rect">
            <a:avLst/>
          </a:prstGeom>
        </p:spPr>
      </p:pic>
      <p:sp>
        <p:nvSpPr>
          <p:cNvPr id="19" name="Text 10"/>
          <p:cNvSpPr txBox="1"/>
          <p:nvPr/>
        </p:nvSpPr>
        <p:spPr>
          <a:xfrm>
            <a:off x="7256496" y="4626864"/>
            <a:ext cx="210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Impacto económico</a:t>
            </a:r>
            <a:endParaRPr lang="en-US" sz="1300" dirty="0"/>
          </a:p>
        </p:txBody>
      </p:sp>
      <p:pic>
        <p:nvPicPr>
          <p:cNvPr id="20" name="Image 7" descr="/tmp/claude-0/-home-user-riesgo/0ff9ff46-1396-5bd8-b3ac-2280dfbbbc55/scratchpad/work/gen/icons/arrow_right_gray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66895" y="3826764"/>
            <a:ext cx="292608" cy="292608"/>
          </a:xfrm>
          <a:prstGeom prst="rect">
            <a:avLst/>
          </a:prstGeom>
        </p:spPr>
      </p:pic>
      <p:sp>
        <p:nvSpPr>
          <p:cNvPr id="21" name="Shape 11"/>
          <p:cNvSpPr/>
          <p:nvPr/>
        </p:nvSpPr>
        <p:spPr>
          <a:xfrm>
            <a:off x="9993203" y="3447288"/>
            <a:ext cx="1051560" cy="105156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22" name="Image 8" descr="/tmp/claude-0/-home-user-riesgo/0ff9ff46-1396-5bd8-b3ac-2280dfbbbc55/scratchpad/work/gen/icons/bank_whit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56093" y="3710178"/>
            <a:ext cx="525780" cy="525780"/>
          </a:xfrm>
          <a:prstGeom prst="rect">
            <a:avLst/>
          </a:prstGeom>
        </p:spPr>
      </p:pic>
      <p:sp>
        <p:nvSpPr>
          <p:cNvPr id="23" name="Text 12"/>
          <p:cNvSpPr txBox="1"/>
          <p:nvPr/>
        </p:nvSpPr>
        <p:spPr>
          <a:xfrm>
            <a:off x="9468063" y="4626864"/>
            <a:ext cx="210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Impacto financiero</a:t>
            </a:r>
            <a:endParaRPr lang="en-US" sz="1300" dirty="0"/>
          </a:p>
        </p:txBody>
      </p:sp>
      <p:sp>
        <p:nvSpPr>
          <p:cNvPr id="24" name="Text 13"/>
          <p:cNvSpPr txBox="1"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INTEGRAL DE RIESGOS  ·  COMEDICA DE R.L.</a:t>
            </a:r>
            <a:endParaRPr lang="en-US" sz="900" dirty="0"/>
          </a:p>
        </p:txBody>
      </p:sp>
      <p:sp>
        <p:nvSpPr>
          <p:cNvPr id="25" name="Text 14"/>
          <p:cNvSpPr txBox="1"/>
          <p:nvPr/>
        </p:nvSpPr>
        <p:spPr>
          <a:xfrm>
            <a:off x="11076127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E3A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8 · EJEMPLOS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22960"/>
            <a:ext cx="110578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800" b="1" dirty="0">
                <a:solidFill>
                  <a:srgbClr val="133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EVENTOS QUE PUEDEN AFECTARNOS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3122676"/>
            <a:ext cx="1977481" cy="1691640"/>
          </a:xfrm>
          <a:prstGeom prst="roundRect">
            <a:avLst>
              <a:gd name="adj" fmla="val 5405"/>
            </a:avLst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1272205" y="3383280"/>
            <a:ext cx="566928" cy="566928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6" name="Image 0" descr="/tmp/claude-0/-home-user-riesgo/0ff9ff46-1396-5bd8-b3ac-2280dfbbbc55/scratchpad/work/gen/icons/earthquak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8267" y="3519343"/>
            <a:ext cx="294803" cy="29480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76656" y="4096512"/>
            <a:ext cx="17580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Terremotos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2837017" y="3122676"/>
            <a:ext cx="1977481" cy="1691640"/>
          </a:xfrm>
          <a:prstGeom prst="roundRect">
            <a:avLst>
              <a:gd name="adj" fmla="val 5405"/>
            </a:avLst>
          </a:prstGeom>
          <a:solidFill>
            <a:srgbClr val="F2F5F9"/>
          </a:solidFill>
          <a:ln/>
        </p:spPr>
      </p:sp>
      <p:sp>
        <p:nvSpPr>
          <p:cNvPr id="9" name="Shape 6"/>
          <p:cNvSpPr/>
          <p:nvPr/>
        </p:nvSpPr>
        <p:spPr>
          <a:xfrm>
            <a:off x="3542294" y="3383280"/>
            <a:ext cx="566928" cy="566928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10" name="Image 1" descr="/tmp/claude-0/-home-user-riesgo/0ff9ff46-1396-5bd8-b3ac-2280dfbbbc55/scratchpad/work/gen/icons/flood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8357" y="3519343"/>
            <a:ext cx="294803" cy="29480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946745" y="4096512"/>
            <a:ext cx="17580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Inundaciones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5107107" y="3122676"/>
            <a:ext cx="1977481" cy="1691640"/>
          </a:xfrm>
          <a:prstGeom prst="roundRect">
            <a:avLst>
              <a:gd name="adj" fmla="val 5405"/>
            </a:avLst>
          </a:prstGeom>
          <a:solidFill>
            <a:srgbClr val="F2F5F9"/>
          </a:solidFill>
          <a:ln/>
        </p:spPr>
      </p:sp>
      <p:sp>
        <p:nvSpPr>
          <p:cNvPr id="13" name="Shape 9"/>
          <p:cNvSpPr/>
          <p:nvPr/>
        </p:nvSpPr>
        <p:spPr>
          <a:xfrm>
            <a:off x="5812384" y="3383280"/>
            <a:ext cx="566928" cy="566928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14" name="Image 2" descr="/tmp/claude-0/-home-user-riesgo/0ff9ff46-1396-5bd8-b3ac-2280dfbbbc55/scratchpad/work/gen/icons/wind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8446" y="3519343"/>
            <a:ext cx="294803" cy="294803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216835" y="4096512"/>
            <a:ext cx="17580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Cambio climático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7377196" y="3122676"/>
            <a:ext cx="1977481" cy="1691640"/>
          </a:xfrm>
          <a:prstGeom prst="roundRect">
            <a:avLst>
              <a:gd name="adj" fmla="val 5405"/>
            </a:avLst>
          </a:prstGeom>
          <a:solidFill>
            <a:srgbClr val="F2F5F9"/>
          </a:solidFill>
          <a:ln/>
        </p:spPr>
      </p:sp>
      <p:sp>
        <p:nvSpPr>
          <p:cNvPr id="17" name="Shape 12"/>
          <p:cNvSpPr/>
          <p:nvPr/>
        </p:nvSpPr>
        <p:spPr>
          <a:xfrm>
            <a:off x="8082473" y="3383280"/>
            <a:ext cx="566928" cy="566928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18" name="Image 3" descr="/tmp/claude-0/-home-user-riesgo/0ff9ff46-1396-5bd8-b3ac-2280dfbbbc55/scratchpad/work/gen/icons/virus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8536" y="3519343"/>
            <a:ext cx="294803" cy="294803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486924" y="4096512"/>
            <a:ext cx="17580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Epidemias y pandemias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9647286" y="3122676"/>
            <a:ext cx="1977481" cy="1691640"/>
          </a:xfrm>
          <a:prstGeom prst="roundRect">
            <a:avLst>
              <a:gd name="adj" fmla="val 5405"/>
            </a:avLst>
          </a:prstGeom>
          <a:solidFill>
            <a:srgbClr val="F2F5F9"/>
          </a:solidFill>
          <a:ln/>
        </p:spPr>
      </p:sp>
      <p:sp>
        <p:nvSpPr>
          <p:cNvPr id="21" name="Shape 15"/>
          <p:cNvSpPr/>
          <p:nvPr/>
        </p:nvSpPr>
        <p:spPr>
          <a:xfrm>
            <a:off x="10352562" y="3383280"/>
            <a:ext cx="566928" cy="566928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22" name="Image 4" descr="/tmp/claude-0/-home-user-riesgo/0ff9ff46-1396-5bd8-b3ac-2280dfbbbc55/scratchpad/work/gen/icons/fire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88625" y="3519343"/>
            <a:ext cx="294803" cy="294803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757014" y="4096512"/>
            <a:ext cx="17580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Incendios e interrupciones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INTEGRAL DE RIESGOS  ·  COMEDICA DE R.L.</a:t>
            </a:r>
            <a:endParaRPr lang="en-US" sz="900" dirty="0"/>
          </a:p>
        </p:txBody>
      </p:sp>
      <p:sp>
        <p:nvSpPr>
          <p:cNvPr id="25" name="Text 18"/>
          <p:cNvSpPr txBox="1"/>
          <p:nvPr/>
        </p:nvSpPr>
        <p:spPr>
          <a:xfrm>
            <a:off x="11076127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A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926080" y="2926080"/>
            <a:ext cx="7772400" cy="7772400"/>
          </a:xfrm>
          <a:prstGeom prst="ellipse">
            <a:avLst/>
          </a:prstGeom>
          <a:solidFill>
            <a:srgbClr val="0D2847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1828800"/>
            <a:ext cx="1188720" cy="1188720"/>
          </a:xfrm>
          <a:prstGeom prst="ellipse">
            <a:avLst/>
          </a:prstGeom>
          <a:solidFill>
            <a:srgbClr val="E3A73B"/>
          </a:solidFill>
          <a:ln/>
        </p:spPr>
      </p:sp>
      <p:pic>
        <p:nvPicPr>
          <p:cNvPr id="4" name="Image 0" descr="/tmp/claude-0/-home-user-riesgo/0ff9ff46-1396-5bd8-b3ac-2280dfbbbc55/scratchpad/work/gen/icons/clipboard_check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2114093"/>
            <a:ext cx="618134" cy="61813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28803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E3A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3246120"/>
            <a:ext cx="10424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CASOS INTEGRADORES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46634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C7D3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situaciones reales de una cooperativa financiera para aplicar todo lo aprendido.</a:t>
            </a:r>
            <a:endParaRPr lang="en-US" sz="1600" dirty="0"/>
          </a:p>
        </p:txBody>
      </p:sp>
      <p:pic>
        <p:nvPicPr>
          <p:cNvPr id="8" name="Image 1" descr="/tmp/claude-0/-home-user-riesgo/0ff9ff46-1396-5bd8-b3ac-2280dfbbbc55/scratchpad/work/gen/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1727" y="5961888"/>
            <a:ext cx="1463040" cy="41111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C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INTEGRAL DE RIESGOS  ·  COMEDICA DE R.L.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11076127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C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E3A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INTEGRADOR 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22960"/>
            <a:ext cx="110578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500" b="1" dirty="0">
                <a:solidFill>
                  <a:srgbClr val="133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SISTEMA SE CAE EN CIERRE DE MES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11057839" cy="1463040"/>
          </a:xfrm>
          <a:prstGeom prst="roundRect">
            <a:avLst>
              <a:gd name="adj" fmla="val 7500"/>
            </a:avLst>
          </a:prstGeom>
          <a:solidFill>
            <a:srgbClr val="133B6C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075688"/>
            <a:ext cx="694944" cy="694944"/>
          </a:xfrm>
          <a:prstGeom prst="ellipse">
            <a:avLst/>
          </a:prstGeom>
          <a:solidFill>
            <a:srgbClr val="E3A73B"/>
          </a:solidFill>
          <a:ln/>
        </p:spPr>
      </p:sp>
      <p:pic>
        <p:nvPicPr>
          <p:cNvPr id="6" name="Image 0" descr="/tmp/claude-0/-home-user-riesgo/0ff9ff46-1396-5bd8-b3ac-2280dfbbbc55/scratchpad/work/gen/icons/server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9322" y="2232050"/>
            <a:ext cx="382219" cy="38221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09928" y="187452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3A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SITUACIÓN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709928" y="2148840"/>
            <a:ext cx="964051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Durante el cierre de mes, el sistema se cae varias veces mientras se procesan transacciones. El colaborador sigue intentando registrar manualmente sin informar a nadie, para “no atrasarse”.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66928" y="3429000"/>
            <a:ext cx="5400904" cy="1229868"/>
          </a:xfrm>
          <a:prstGeom prst="roundRect">
            <a:avLst>
              <a:gd name="adj" fmla="val 7435"/>
            </a:avLst>
          </a:prstGeom>
          <a:solidFill>
            <a:srgbClr val="F2F5F9"/>
          </a:solidFill>
          <a:ln/>
        </p:spPr>
      </p:sp>
      <p:sp>
        <p:nvSpPr>
          <p:cNvPr id="10" name="Shape 7"/>
          <p:cNvSpPr/>
          <p:nvPr/>
        </p:nvSpPr>
        <p:spPr>
          <a:xfrm>
            <a:off x="749808" y="3815334"/>
            <a:ext cx="457200" cy="457200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11" name="Image 1" descr="/tmp/claude-0/-home-user-riesgo/0ff9ff46-1396-5bd8-b3ac-2280dfbbbc55/scratchpad/work/gen/icons/question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678" y="3918204"/>
            <a:ext cx="251460" cy="2514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344168" y="3429000"/>
            <a:ext cx="4440784" cy="12298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RIESGOS IDENTIFICAS?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223864" y="3429000"/>
            <a:ext cx="5400904" cy="1229868"/>
          </a:xfrm>
          <a:prstGeom prst="roundRect">
            <a:avLst>
              <a:gd name="adj" fmla="val 7435"/>
            </a:avLst>
          </a:prstGeom>
          <a:solidFill>
            <a:srgbClr val="F2F5F9"/>
          </a:solidFill>
          <a:ln/>
        </p:spPr>
      </p:sp>
      <p:sp>
        <p:nvSpPr>
          <p:cNvPr id="14" name="Shape 10"/>
          <p:cNvSpPr/>
          <p:nvPr/>
        </p:nvSpPr>
        <p:spPr>
          <a:xfrm>
            <a:off x="6406744" y="3815334"/>
            <a:ext cx="457200" cy="457200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15" name="Image 2" descr="/tmp/claude-0/-home-user-riesgo/0ff9ff46-1396-5bd8-b3ac-2280dfbbbc55/scratchpad/work/gen/icons/question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614" y="3918204"/>
            <a:ext cx="251460" cy="251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001104" y="3429000"/>
            <a:ext cx="4440784" cy="12298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HARÍAS?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566928" y="4878324"/>
            <a:ext cx="5400904" cy="1229868"/>
          </a:xfrm>
          <a:prstGeom prst="roundRect">
            <a:avLst>
              <a:gd name="adj" fmla="val 7435"/>
            </a:avLst>
          </a:prstGeom>
          <a:solidFill>
            <a:srgbClr val="F2F5F9"/>
          </a:solidFill>
          <a:ln/>
        </p:spPr>
      </p:sp>
      <p:sp>
        <p:nvSpPr>
          <p:cNvPr id="18" name="Shape 13"/>
          <p:cNvSpPr/>
          <p:nvPr/>
        </p:nvSpPr>
        <p:spPr>
          <a:xfrm>
            <a:off x="749808" y="5264658"/>
            <a:ext cx="457200" cy="457200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19" name="Image 3" descr="/tmp/claude-0/-home-user-riesgo/0ff9ff46-1396-5bd8-b3ac-2280dfbbbc55/scratchpad/work/gen/icons/question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678" y="5367528"/>
            <a:ext cx="251460" cy="25146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344168" y="4878324"/>
            <a:ext cx="4440784" cy="12298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¿A QUIÉN CORRESPONDE ACTUAR?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6223864" y="4878324"/>
            <a:ext cx="5400904" cy="1229868"/>
          </a:xfrm>
          <a:prstGeom prst="roundRect">
            <a:avLst>
              <a:gd name="adj" fmla="val 7435"/>
            </a:avLst>
          </a:prstGeom>
          <a:solidFill>
            <a:srgbClr val="F2F5F9"/>
          </a:solidFill>
          <a:ln/>
        </p:spPr>
      </p:sp>
      <p:sp>
        <p:nvSpPr>
          <p:cNvPr id="22" name="Shape 16"/>
          <p:cNvSpPr/>
          <p:nvPr/>
        </p:nvSpPr>
        <p:spPr>
          <a:xfrm>
            <a:off x="6406744" y="5264658"/>
            <a:ext cx="457200" cy="457200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23" name="Image 4" descr="/tmp/claude-0/-home-user-riesgo/0ff9ff46-1396-5bd8-b3ac-2280dfbbbc55/scratchpad/work/gen/icons/question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9614" y="5367528"/>
            <a:ext cx="251460" cy="25146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001104" y="4878324"/>
            <a:ext cx="4440784" cy="12298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PASA SI NO ACTUAMOS?</a:t>
            </a:r>
            <a:endParaRPr lang="en-US" sz="1250" dirty="0"/>
          </a:p>
        </p:txBody>
      </p:sp>
      <p:sp>
        <p:nvSpPr>
          <p:cNvPr id="25" name="Text 18"/>
          <p:cNvSpPr txBox="1"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INTEGRAL DE RIESGOS  ·  COMEDICA DE R.L.</a:t>
            </a:r>
            <a:endParaRPr lang="en-US" sz="900" dirty="0"/>
          </a:p>
        </p:txBody>
      </p:sp>
      <p:sp>
        <p:nvSpPr>
          <p:cNvPr id="26" name="Text 19"/>
          <p:cNvSpPr txBox="1"/>
          <p:nvPr/>
        </p:nvSpPr>
        <p:spPr>
          <a:xfrm>
            <a:off x="11076127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E3A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INTEGRADOR 1 · RESPUESTA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22960"/>
            <a:ext cx="110578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200" b="1" dirty="0">
                <a:solidFill>
                  <a:srgbClr val="133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SISTEMA SE CAE EN CIERRE DE MES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91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 IDENTIFICADOS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993392"/>
            <a:ext cx="1717243" cy="365760"/>
          </a:xfrm>
          <a:prstGeom prst="roundRect">
            <a:avLst>
              <a:gd name="adj" fmla="val 50000"/>
            </a:avLst>
          </a:prstGeom>
          <a:solidFill>
            <a:srgbClr val="133B6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993392"/>
            <a:ext cx="17172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operativo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430475" y="1993392"/>
            <a:ext cx="1869034" cy="365760"/>
          </a:xfrm>
          <a:prstGeom prst="roundRect">
            <a:avLst>
              <a:gd name="adj" fmla="val 50000"/>
            </a:avLst>
          </a:prstGeom>
          <a:solidFill>
            <a:srgbClr val="133B6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430475" y="1993392"/>
            <a:ext cx="18690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tecnológico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2651760"/>
            <a:ext cx="3515258" cy="3337560"/>
          </a:xfrm>
          <a:prstGeom prst="roundRect">
            <a:avLst>
              <a:gd name="adj" fmla="val 2740"/>
            </a:avLst>
          </a:prstGeom>
          <a:solidFill>
            <a:srgbClr val="F2F5F9"/>
          </a:solidFill>
          <a:ln/>
        </p:spPr>
      </p:sp>
      <p:sp>
        <p:nvSpPr>
          <p:cNvPr id="10" name="Shape 8"/>
          <p:cNvSpPr/>
          <p:nvPr/>
        </p:nvSpPr>
        <p:spPr>
          <a:xfrm>
            <a:off x="2041093" y="2871216"/>
            <a:ext cx="566928" cy="566928"/>
          </a:xfrm>
          <a:prstGeom prst="ellipse">
            <a:avLst/>
          </a:prstGeom>
          <a:solidFill>
            <a:srgbClr val="2E9E5B"/>
          </a:solidFill>
          <a:ln/>
        </p:spPr>
      </p:sp>
      <p:pic>
        <p:nvPicPr>
          <p:cNvPr id="11" name="Image 0" descr="/tmp/claude-0/-home-user-riesgo/0ff9ff46-1396-5bd8-b3ac-2280dfbbbc55/scratchpad/work/gen/icons/check_circl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77156" y="3007279"/>
            <a:ext cx="294803" cy="294803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731520" y="3611880"/>
            <a:ext cx="31860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50" kern="0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ACCIÓN RECOMENDADA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768096" y="4069080"/>
            <a:ext cx="311292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Detener el registro manual improvisado y reportar la falla de inmediato para que sea atendida y documentada.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338218" y="2651760"/>
            <a:ext cx="3515258" cy="3337560"/>
          </a:xfrm>
          <a:prstGeom prst="roundRect">
            <a:avLst>
              <a:gd name="adj" fmla="val 2740"/>
            </a:avLst>
          </a:prstGeom>
          <a:solidFill>
            <a:srgbClr val="F2F5F9"/>
          </a:solidFill>
          <a:ln/>
        </p:spPr>
      </p:sp>
      <p:sp>
        <p:nvSpPr>
          <p:cNvPr id="15" name="Shape 12"/>
          <p:cNvSpPr/>
          <p:nvPr/>
        </p:nvSpPr>
        <p:spPr>
          <a:xfrm>
            <a:off x="5812384" y="2871216"/>
            <a:ext cx="566928" cy="566928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16" name="Image 1" descr="/tmp/claude-0/-home-user-riesgo/0ff9ff46-1396-5bd8-b3ac-2280dfbbbc55/scratchpad/work/gen/icons/people_group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8446" y="3007279"/>
            <a:ext cx="294803" cy="294803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502810" y="3611880"/>
            <a:ext cx="31860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50" kern="0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 DE ACTUAR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4539386" y="4069080"/>
            <a:ext cx="311292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colaborador que detecta la falla, apoyado por su jefatura y las áreas técnicas correspondientes.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8109509" y="2651760"/>
            <a:ext cx="3515258" cy="3337560"/>
          </a:xfrm>
          <a:prstGeom prst="roundRect">
            <a:avLst>
              <a:gd name="adj" fmla="val 2740"/>
            </a:avLst>
          </a:prstGeom>
          <a:solidFill>
            <a:srgbClr val="F2F5F9"/>
          </a:solidFill>
          <a:ln/>
        </p:spPr>
      </p:sp>
      <p:sp>
        <p:nvSpPr>
          <p:cNvPr id="20" name="Shape 16"/>
          <p:cNvSpPr/>
          <p:nvPr/>
        </p:nvSpPr>
        <p:spPr>
          <a:xfrm>
            <a:off x="9583674" y="2871216"/>
            <a:ext cx="566928" cy="566928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21" name="Image 2" descr="/tmp/claude-0/-home-user-riesgo/0ff9ff46-1396-5bd8-b3ac-2280dfbbbc55/scratchpad/work/gen/icons/warning_triangle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9737" y="3007279"/>
            <a:ext cx="294803" cy="294803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274101" y="3611880"/>
            <a:ext cx="31860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5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NO ACTUAMOS</a:t>
            </a:r>
            <a:endParaRPr lang="en-US" sz="1150" dirty="0"/>
          </a:p>
        </p:txBody>
      </p:sp>
      <p:sp>
        <p:nvSpPr>
          <p:cNvPr id="23" name="Text 18"/>
          <p:cNvSpPr txBox="1"/>
          <p:nvPr/>
        </p:nvSpPr>
        <p:spPr>
          <a:xfrm>
            <a:off x="8310677" y="4069080"/>
            <a:ext cx="311292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duplicados o incompletos, pérdida de información y decisiones basadas en datos incorrectos.</a:t>
            </a:r>
            <a:endParaRPr lang="en-US" sz="1200" dirty="0"/>
          </a:p>
        </p:txBody>
      </p:sp>
      <p:sp>
        <p:nvSpPr>
          <p:cNvPr id="24" name="Text 19"/>
          <p:cNvSpPr txBox="1"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INTEGRAL DE RIESGOS  ·  COMEDICA DE R.L.</a:t>
            </a:r>
            <a:endParaRPr lang="en-US" sz="900" dirty="0"/>
          </a:p>
        </p:txBody>
      </p:sp>
      <p:sp>
        <p:nvSpPr>
          <p:cNvPr id="25" name="Text 20"/>
          <p:cNvSpPr txBox="1"/>
          <p:nvPr/>
        </p:nvSpPr>
        <p:spPr>
          <a:xfrm>
            <a:off x="11076127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E3A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INTEGRADOR 2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22960"/>
            <a:ext cx="110578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500" b="1" dirty="0">
                <a:solidFill>
                  <a:srgbClr val="133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QUEJA QUE SE VUELVE PÚBLICA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11057839" cy="1463040"/>
          </a:xfrm>
          <a:prstGeom prst="roundRect">
            <a:avLst>
              <a:gd name="adj" fmla="val 7500"/>
            </a:avLst>
          </a:prstGeom>
          <a:solidFill>
            <a:srgbClr val="133B6C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075688"/>
            <a:ext cx="694944" cy="694944"/>
          </a:xfrm>
          <a:prstGeom prst="ellipse">
            <a:avLst/>
          </a:prstGeom>
          <a:solidFill>
            <a:srgbClr val="E3A73B"/>
          </a:solidFill>
          <a:ln/>
        </p:spPr>
      </p:sp>
      <p:pic>
        <p:nvPicPr>
          <p:cNvPr id="6" name="Image 0" descr="/tmp/claude-0/-home-user-riesgo/0ff9ff46-1396-5bd8-b3ac-2280dfbbbc55/scratchpad/work/gen/icons/social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9322" y="2232050"/>
            <a:ext cx="382219" cy="38221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09928" y="187452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3A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SITUACIÓN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709928" y="2148840"/>
            <a:ext cx="964051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asociado espera más tiempo del habitual para ser atendido. Molesto, publica en redes sociales una queja sobre el servicio recibido en la Cooperativa.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66928" y="3429000"/>
            <a:ext cx="5400904" cy="1229868"/>
          </a:xfrm>
          <a:prstGeom prst="roundRect">
            <a:avLst>
              <a:gd name="adj" fmla="val 7435"/>
            </a:avLst>
          </a:prstGeom>
          <a:solidFill>
            <a:srgbClr val="F2F5F9"/>
          </a:solidFill>
          <a:ln/>
        </p:spPr>
      </p:sp>
      <p:sp>
        <p:nvSpPr>
          <p:cNvPr id="10" name="Shape 7"/>
          <p:cNvSpPr/>
          <p:nvPr/>
        </p:nvSpPr>
        <p:spPr>
          <a:xfrm>
            <a:off x="749808" y="3815334"/>
            <a:ext cx="457200" cy="457200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11" name="Image 1" descr="/tmp/claude-0/-home-user-riesgo/0ff9ff46-1396-5bd8-b3ac-2280dfbbbc55/scratchpad/work/gen/icons/question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678" y="3918204"/>
            <a:ext cx="251460" cy="2514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344168" y="3429000"/>
            <a:ext cx="4440784" cy="12298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RIESGOS IDENTIFICAS?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223864" y="3429000"/>
            <a:ext cx="5400904" cy="1229868"/>
          </a:xfrm>
          <a:prstGeom prst="roundRect">
            <a:avLst>
              <a:gd name="adj" fmla="val 7435"/>
            </a:avLst>
          </a:prstGeom>
          <a:solidFill>
            <a:srgbClr val="F2F5F9"/>
          </a:solidFill>
          <a:ln/>
        </p:spPr>
      </p:sp>
      <p:sp>
        <p:nvSpPr>
          <p:cNvPr id="14" name="Shape 10"/>
          <p:cNvSpPr/>
          <p:nvPr/>
        </p:nvSpPr>
        <p:spPr>
          <a:xfrm>
            <a:off x="6406744" y="3815334"/>
            <a:ext cx="457200" cy="457200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15" name="Image 2" descr="/tmp/claude-0/-home-user-riesgo/0ff9ff46-1396-5bd8-b3ac-2280dfbbbc55/scratchpad/work/gen/icons/question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614" y="3918204"/>
            <a:ext cx="251460" cy="251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001104" y="3429000"/>
            <a:ext cx="4440784" cy="12298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HARÍAS?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566928" y="4878324"/>
            <a:ext cx="5400904" cy="1229868"/>
          </a:xfrm>
          <a:prstGeom prst="roundRect">
            <a:avLst>
              <a:gd name="adj" fmla="val 7435"/>
            </a:avLst>
          </a:prstGeom>
          <a:solidFill>
            <a:srgbClr val="F2F5F9"/>
          </a:solidFill>
          <a:ln/>
        </p:spPr>
      </p:sp>
      <p:sp>
        <p:nvSpPr>
          <p:cNvPr id="18" name="Shape 13"/>
          <p:cNvSpPr/>
          <p:nvPr/>
        </p:nvSpPr>
        <p:spPr>
          <a:xfrm>
            <a:off x="749808" y="5264658"/>
            <a:ext cx="457200" cy="457200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19" name="Image 3" descr="/tmp/claude-0/-home-user-riesgo/0ff9ff46-1396-5bd8-b3ac-2280dfbbbc55/scratchpad/work/gen/icons/question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678" y="5367528"/>
            <a:ext cx="251460" cy="25146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344168" y="4878324"/>
            <a:ext cx="4440784" cy="12298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¿A QUIÉN CORRESPONDE ACTUAR?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6223864" y="4878324"/>
            <a:ext cx="5400904" cy="1229868"/>
          </a:xfrm>
          <a:prstGeom prst="roundRect">
            <a:avLst>
              <a:gd name="adj" fmla="val 7435"/>
            </a:avLst>
          </a:prstGeom>
          <a:solidFill>
            <a:srgbClr val="F2F5F9"/>
          </a:solidFill>
          <a:ln/>
        </p:spPr>
      </p:sp>
      <p:sp>
        <p:nvSpPr>
          <p:cNvPr id="22" name="Shape 16"/>
          <p:cNvSpPr/>
          <p:nvPr/>
        </p:nvSpPr>
        <p:spPr>
          <a:xfrm>
            <a:off x="6406744" y="5264658"/>
            <a:ext cx="457200" cy="457200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23" name="Image 4" descr="/tmp/claude-0/-home-user-riesgo/0ff9ff46-1396-5bd8-b3ac-2280dfbbbc55/scratchpad/work/gen/icons/question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9614" y="5367528"/>
            <a:ext cx="251460" cy="25146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001104" y="4878324"/>
            <a:ext cx="4440784" cy="12298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PASA SI NO ACTUAMOS?</a:t>
            </a:r>
            <a:endParaRPr lang="en-US" sz="1250" dirty="0"/>
          </a:p>
        </p:txBody>
      </p:sp>
      <p:sp>
        <p:nvSpPr>
          <p:cNvPr id="25" name="Text 18"/>
          <p:cNvSpPr txBox="1"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INTEGRAL DE RIESGOS  ·  COMEDICA DE R.L.</a:t>
            </a:r>
            <a:endParaRPr lang="en-US" sz="900" dirty="0"/>
          </a:p>
        </p:txBody>
      </p:sp>
      <p:sp>
        <p:nvSpPr>
          <p:cNvPr id="26" name="Text 19"/>
          <p:cNvSpPr txBox="1"/>
          <p:nvPr/>
        </p:nvSpPr>
        <p:spPr>
          <a:xfrm>
            <a:off x="11076127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E3A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INTEGRADOR 2 · RESPUESTA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22960"/>
            <a:ext cx="110578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200" b="1" dirty="0">
                <a:solidFill>
                  <a:srgbClr val="133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QUEJA QUE SE VUELVE PÚBLICA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91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 IDENTIFICADOS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993392"/>
            <a:ext cx="1944929" cy="365760"/>
          </a:xfrm>
          <a:prstGeom prst="roundRect">
            <a:avLst>
              <a:gd name="adj" fmla="val 50000"/>
            </a:avLst>
          </a:prstGeom>
          <a:solidFill>
            <a:srgbClr val="133B6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993392"/>
            <a:ext cx="19449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reputacional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651760"/>
            <a:ext cx="3515258" cy="3337560"/>
          </a:xfrm>
          <a:prstGeom prst="roundRect">
            <a:avLst>
              <a:gd name="adj" fmla="val 2740"/>
            </a:avLst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2041093" y="2871216"/>
            <a:ext cx="566928" cy="566928"/>
          </a:xfrm>
          <a:prstGeom prst="ellipse">
            <a:avLst/>
          </a:prstGeom>
          <a:solidFill>
            <a:srgbClr val="2E9E5B"/>
          </a:solidFill>
          <a:ln/>
        </p:spPr>
      </p:sp>
      <p:pic>
        <p:nvPicPr>
          <p:cNvPr id="9" name="Image 0" descr="/tmp/claude-0/-home-user-riesgo/0ff9ff46-1396-5bd8-b3ac-2280dfbbbc55/scratchpad/work/gen/icons/check_circl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77156" y="3007279"/>
            <a:ext cx="294803" cy="294803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31520" y="3611880"/>
            <a:ext cx="31860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50" kern="0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ACCIÓN RECOMENDADA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768096" y="4069080"/>
            <a:ext cx="311292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Escuchar al asociado, brindar una atención oportuna y canalizar el caso a quien corresponde dentro de la Cooperativa.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338218" y="2651760"/>
            <a:ext cx="3515258" cy="3337560"/>
          </a:xfrm>
          <a:prstGeom prst="roundRect">
            <a:avLst>
              <a:gd name="adj" fmla="val 2740"/>
            </a:avLst>
          </a:prstGeom>
          <a:solidFill>
            <a:srgbClr val="F2F5F9"/>
          </a:solidFill>
          <a:ln/>
        </p:spPr>
      </p:sp>
      <p:sp>
        <p:nvSpPr>
          <p:cNvPr id="13" name="Shape 10"/>
          <p:cNvSpPr/>
          <p:nvPr/>
        </p:nvSpPr>
        <p:spPr>
          <a:xfrm>
            <a:off x="5812384" y="2871216"/>
            <a:ext cx="566928" cy="566928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14" name="Image 1" descr="/tmp/claude-0/-home-user-riesgo/0ff9ff46-1396-5bd8-b3ac-2280dfbbbc55/scratchpad/work/gen/icons/people_group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8446" y="3007279"/>
            <a:ext cx="294803" cy="294803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502810" y="3611880"/>
            <a:ext cx="31860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50" kern="0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 DE ACTUAR</a:t>
            </a:r>
            <a:endParaRPr lang="en-US" sz="1150" dirty="0"/>
          </a:p>
        </p:txBody>
      </p:sp>
      <p:sp>
        <p:nvSpPr>
          <p:cNvPr id="16" name="Text 12"/>
          <p:cNvSpPr txBox="1"/>
          <p:nvPr/>
        </p:nvSpPr>
        <p:spPr>
          <a:xfrm>
            <a:off x="4539386" y="4069080"/>
            <a:ext cx="311292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colaborador que atiende al asociado, con apoyo de su jefatura ante situaciones que lo requieran.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8109509" y="2651760"/>
            <a:ext cx="3515258" cy="3337560"/>
          </a:xfrm>
          <a:prstGeom prst="roundRect">
            <a:avLst>
              <a:gd name="adj" fmla="val 2740"/>
            </a:avLst>
          </a:prstGeom>
          <a:solidFill>
            <a:srgbClr val="F2F5F9"/>
          </a:solidFill>
          <a:ln/>
        </p:spPr>
      </p:sp>
      <p:sp>
        <p:nvSpPr>
          <p:cNvPr id="18" name="Shape 14"/>
          <p:cNvSpPr/>
          <p:nvPr/>
        </p:nvSpPr>
        <p:spPr>
          <a:xfrm>
            <a:off x="9583674" y="2871216"/>
            <a:ext cx="566928" cy="566928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19" name="Image 2" descr="/tmp/claude-0/-home-user-riesgo/0ff9ff46-1396-5bd8-b3ac-2280dfbbbc55/scratchpad/work/gen/icons/warning_triangle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9737" y="3007279"/>
            <a:ext cx="294803" cy="294803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274101" y="3611880"/>
            <a:ext cx="31860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5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NO ACTUAMOS</a:t>
            </a:r>
            <a:endParaRPr lang="en-US" sz="1150" dirty="0"/>
          </a:p>
        </p:txBody>
      </p:sp>
      <p:sp>
        <p:nvSpPr>
          <p:cNvPr id="21" name="Text 16"/>
          <p:cNvSpPr txBox="1"/>
          <p:nvPr/>
        </p:nvSpPr>
        <p:spPr>
          <a:xfrm>
            <a:off x="8310677" y="4069080"/>
            <a:ext cx="311292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queja gana más visibilidad y erosiona la confianza de otros asociados y de la comunidad.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INTEGRAL DE RIESGOS  ·  COMEDICA DE R.L.</a:t>
            </a:r>
            <a:endParaRPr lang="en-US" sz="900" dirty="0"/>
          </a:p>
        </p:txBody>
      </p:sp>
      <p:sp>
        <p:nvSpPr>
          <p:cNvPr id="23" name="Text 18"/>
          <p:cNvSpPr txBox="1"/>
          <p:nvPr/>
        </p:nvSpPr>
        <p:spPr>
          <a:xfrm>
            <a:off x="11076127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E3A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INTEGRADOR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22960"/>
            <a:ext cx="110578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500" b="1" dirty="0">
                <a:solidFill>
                  <a:srgbClr val="133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DIFERENCIA QUE NADIE EXPLICA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11057839" cy="1463040"/>
          </a:xfrm>
          <a:prstGeom prst="roundRect">
            <a:avLst>
              <a:gd name="adj" fmla="val 7500"/>
            </a:avLst>
          </a:prstGeom>
          <a:solidFill>
            <a:srgbClr val="133B6C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075688"/>
            <a:ext cx="694944" cy="694944"/>
          </a:xfrm>
          <a:prstGeom prst="ellipse">
            <a:avLst/>
          </a:prstGeom>
          <a:solidFill>
            <a:srgbClr val="E3A73B"/>
          </a:solidFill>
          <a:ln/>
        </p:spPr>
      </p:sp>
      <p:pic>
        <p:nvPicPr>
          <p:cNvPr id="6" name="Image 0" descr="/tmp/claude-0/-home-user-riesgo/0ff9ff46-1396-5bd8-b3ac-2280dfbbbc55/scratchpad/work/gen/icons/search_doc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9322" y="2232050"/>
            <a:ext cx="382219" cy="38221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09928" y="187452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3A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SITUACIÓN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709928" y="2148840"/>
            <a:ext cx="964051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colaborador nota que un depósito quedó registrado dos veces. No está seguro si fue un error de digitación o algo más, y duda si reportarlo.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66928" y="3429000"/>
            <a:ext cx="5400904" cy="1229868"/>
          </a:xfrm>
          <a:prstGeom prst="roundRect">
            <a:avLst>
              <a:gd name="adj" fmla="val 7435"/>
            </a:avLst>
          </a:prstGeom>
          <a:solidFill>
            <a:srgbClr val="F2F5F9"/>
          </a:solidFill>
          <a:ln/>
        </p:spPr>
      </p:sp>
      <p:sp>
        <p:nvSpPr>
          <p:cNvPr id="10" name="Shape 7"/>
          <p:cNvSpPr/>
          <p:nvPr/>
        </p:nvSpPr>
        <p:spPr>
          <a:xfrm>
            <a:off x="749808" y="3815334"/>
            <a:ext cx="457200" cy="457200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11" name="Image 1" descr="/tmp/claude-0/-home-user-riesgo/0ff9ff46-1396-5bd8-b3ac-2280dfbbbc55/scratchpad/work/gen/icons/question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678" y="3918204"/>
            <a:ext cx="251460" cy="2514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344168" y="3429000"/>
            <a:ext cx="4440784" cy="12298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RIESGOS IDENTIFICAS?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223864" y="3429000"/>
            <a:ext cx="5400904" cy="1229868"/>
          </a:xfrm>
          <a:prstGeom prst="roundRect">
            <a:avLst>
              <a:gd name="adj" fmla="val 7435"/>
            </a:avLst>
          </a:prstGeom>
          <a:solidFill>
            <a:srgbClr val="F2F5F9"/>
          </a:solidFill>
          <a:ln/>
        </p:spPr>
      </p:sp>
      <p:sp>
        <p:nvSpPr>
          <p:cNvPr id="14" name="Shape 10"/>
          <p:cNvSpPr/>
          <p:nvPr/>
        </p:nvSpPr>
        <p:spPr>
          <a:xfrm>
            <a:off x="6406744" y="3815334"/>
            <a:ext cx="457200" cy="457200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15" name="Image 2" descr="/tmp/claude-0/-home-user-riesgo/0ff9ff46-1396-5bd8-b3ac-2280dfbbbc55/scratchpad/work/gen/icons/question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614" y="3918204"/>
            <a:ext cx="251460" cy="251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001104" y="3429000"/>
            <a:ext cx="4440784" cy="12298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HARÍAS?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566928" y="4878324"/>
            <a:ext cx="5400904" cy="1229868"/>
          </a:xfrm>
          <a:prstGeom prst="roundRect">
            <a:avLst>
              <a:gd name="adj" fmla="val 7435"/>
            </a:avLst>
          </a:prstGeom>
          <a:solidFill>
            <a:srgbClr val="F2F5F9"/>
          </a:solidFill>
          <a:ln/>
        </p:spPr>
      </p:sp>
      <p:sp>
        <p:nvSpPr>
          <p:cNvPr id="18" name="Shape 13"/>
          <p:cNvSpPr/>
          <p:nvPr/>
        </p:nvSpPr>
        <p:spPr>
          <a:xfrm>
            <a:off x="749808" y="5264658"/>
            <a:ext cx="457200" cy="457200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19" name="Image 3" descr="/tmp/claude-0/-home-user-riesgo/0ff9ff46-1396-5bd8-b3ac-2280dfbbbc55/scratchpad/work/gen/icons/question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678" y="5367528"/>
            <a:ext cx="251460" cy="25146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344168" y="4878324"/>
            <a:ext cx="4440784" cy="12298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¿A QUIÉN CORRESPONDE ACTUAR?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6223864" y="4878324"/>
            <a:ext cx="5400904" cy="1229868"/>
          </a:xfrm>
          <a:prstGeom prst="roundRect">
            <a:avLst>
              <a:gd name="adj" fmla="val 7435"/>
            </a:avLst>
          </a:prstGeom>
          <a:solidFill>
            <a:srgbClr val="F2F5F9"/>
          </a:solidFill>
          <a:ln/>
        </p:spPr>
      </p:sp>
      <p:sp>
        <p:nvSpPr>
          <p:cNvPr id="22" name="Shape 16"/>
          <p:cNvSpPr/>
          <p:nvPr/>
        </p:nvSpPr>
        <p:spPr>
          <a:xfrm>
            <a:off x="6406744" y="5264658"/>
            <a:ext cx="457200" cy="457200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23" name="Image 4" descr="/tmp/claude-0/-home-user-riesgo/0ff9ff46-1396-5bd8-b3ac-2280dfbbbc55/scratchpad/work/gen/icons/question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9614" y="5367528"/>
            <a:ext cx="251460" cy="25146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001104" y="4878324"/>
            <a:ext cx="4440784" cy="12298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PASA SI NO ACTUAMOS?</a:t>
            </a:r>
            <a:endParaRPr lang="en-US" sz="1250" dirty="0"/>
          </a:p>
        </p:txBody>
      </p:sp>
      <p:sp>
        <p:nvSpPr>
          <p:cNvPr id="25" name="Text 18"/>
          <p:cNvSpPr txBox="1"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INTEGRAL DE RIESGOS  ·  COMEDICA DE R.L.</a:t>
            </a:r>
            <a:endParaRPr lang="en-US" sz="900" dirty="0"/>
          </a:p>
        </p:txBody>
      </p:sp>
      <p:sp>
        <p:nvSpPr>
          <p:cNvPr id="26" name="Text 19"/>
          <p:cNvSpPr txBox="1"/>
          <p:nvPr/>
        </p:nvSpPr>
        <p:spPr>
          <a:xfrm>
            <a:off x="11076127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E3A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INTEGRADOR 3 · RESPUESTA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22960"/>
            <a:ext cx="110578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200" b="1" dirty="0">
                <a:solidFill>
                  <a:srgbClr val="133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DIFERENCIA QUE NADIE EXPLICA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91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 IDENTIFICADOS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993392"/>
            <a:ext cx="1717243" cy="365760"/>
          </a:xfrm>
          <a:prstGeom prst="roundRect">
            <a:avLst>
              <a:gd name="adj" fmla="val 50000"/>
            </a:avLst>
          </a:prstGeom>
          <a:solidFill>
            <a:srgbClr val="133B6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993392"/>
            <a:ext cx="17172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operativo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430475" y="1993392"/>
            <a:ext cx="2172614" cy="365760"/>
          </a:xfrm>
          <a:prstGeom prst="roundRect">
            <a:avLst>
              <a:gd name="adj" fmla="val 50000"/>
            </a:avLst>
          </a:prstGeom>
          <a:solidFill>
            <a:srgbClr val="133B6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430475" y="1993392"/>
            <a:ext cx="21726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Posible error o fraude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2651760"/>
            <a:ext cx="3515258" cy="3337560"/>
          </a:xfrm>
          <a:prstGeom prst="roundRect">
            <a:avLst>
              <a:gd name="adj" fmla="val 2740"/>
            </a:avLst>
          </a:prstGeom>
          <a:solidFill>
            <a:srgbClr val="F2F5F9"/>
          </a:solidFill>
          <a:ln/>
        </p:spPr>
      </p:sp>
      <p:sp>
        <p:nvSpPr>
          <p:cNvPr id="10" name="Shape 8"/>
          <p:cNvSpPr/>
          <p:nvPr/>
        </p:nvSpPr>
        <p:spPr>
          <a:xfrm>
            <a:off x="2041093" y="2871216"/>
            <a:ext cx="566928" cy="566928"/>
          </a:xfrm>
          <a:prstGeom prst="ellipse">
            <a:avLst/>
          </a:prstGeom>
          <a:solidFill>
            <a:srgbClr val="2E9E5B"/>
          </a:solidFill>
          <a:ln/>
        </p:spPr>
      </p:sp>
      <p:pic>
        <p:nvPicPr>
          <p:cNvPr id="11" name="Image 0" descr="/tmp/claude-0/-home-user-riesgo/0ff9ff46-1396-5bd8-b3ac-2280dfbbbc55/scratchpad/work/gen/icons/check_circl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77156" y="3007279"/>
            <a:ext cx="294803" cy="294803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731520" y="3611880"/>
            <a:ext cx="31860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50" kern="0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ACCIÓN RECOMENDADA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768096" y="4069080"/>
            <a:ext cx="311292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Documentar la diferencia encontrada y reportarla, sin asumir por su cuenta si fue error o algo intencional.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338218" y="2651760"/>
            <a:ext cx="3515258" cy="3337560"/>
          </a:xfrm>
          <a:prstGeom prst="roundRect">
            <a:avLst>
              <a:gd name="adj" fmla="val 2740"/>
            </a:avLst>
          </a:prstGeom>
          <a:solidFill>
            <a:srgbClr val="F2F5F9"/>
          </a:solidFill>
          <a:ln/>
        </p:spPr>
      </p:sp>
      <p:sp>
        <p:nvSpPr>
          <p:cNvPr id="15" name="Shape 12"/>
          <p:cNvSpPr/>
          <p:nvPr/>
        </p:nvSpPr>
        <p:spPr>
          <a:xfrm>
            <a:off x="5812384" y="2871216"/>
            <a:ext cx="566928" cy="566928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16" name="Image 1" descr="/tmp/claude-0/-home-user-riesgo/0ff9ff46-1396-5bd8-b3ac-2280dfbbbc55/scratchpad/work/gen/icons/people_group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8446" y="3007279"/>
            <a:ext cx="294803" cy="294803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502810" y="3611880"/>
            <a:ext cx="31860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50" kern="0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 DE ACTUAR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4539386" y="4069080"/>
            <a:ext cx="311292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colaborador que la detecta, y el Departamento de Administración de Riesgos para su análisis.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8109509" y="2651760"/>
            <a:ext cx="3515258" cy="3337560"/>
          </a:xfrm>
          <a:prstGeom prst="roundRect">
            <a:avLst>
              <a:gd name="adj" fmla="val 2740"/>
            </a:avLst>
          </a:prstGeom>
          <a:solidFill>
            <a:srgbClr val="F2F5F9"/>
          </a:solidFill>
          <a:ln/>
        </p:spPr>
      </p:sp>
      <p:sp>
        <p:nvSpPr>
          <p:cNvPr id="20" name="Shape 16"/>
          <p:cNvSpPr/>
          <p:nvPr/>
        </p:nvSpPr>
        <p:spPr>
          <a:xfrm>
            <a:off x="9583674" y="2871216"/>
            <a:ext cx="566928" cy="566928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21" name="Image 2" descr="/tmp/claude-0/-home-user-riesgo/0ff9ff46-1396-5bd8-b3ac-2280dfbbbc55/scratchpad/work/gen/icons/warning_triangle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9737" y="3007279"/>
            <a:ext cx="294803" cy="294803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274101" y="3611880"/>
            <a:ext cx="31860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5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NO ACTUAMOS</a:t>
            </a:r>
            <a:endParaRPr lang="en-US" sz="1150" dirty="0"/>
          </a:p>
        </p:txBody>
      </p:sp>
      <p:sp>
        <p:nvSpPr>
          <p:cNvPr id="23" name="Text 18"/>
          <p:cNvSpPr txBox="1"/>
          <p:nvPr/>
        </p:nvSpPr>
        <p:spPr>
          <a:xfrm>
            <a:off x="8310677" y="4069080"/>
            <a:ext cx="311292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diferencia queda sin explicación, y un posible error —o algo más grave— pasa desapercibido.</a:t>
            </a:r>
            <a:endParaRPr lang="en-US" sz="1200" dirty="0"/>
          </a:p>
        </p:txBody>
      </p:sp>
      <p:sp>
        <p:nvSpPr>
          <p:cNvPr id="24" name="Text 19"/>
          <p:cNvSpPr txBox="1"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INTEGRAL DE RIESGOS  ·  COMEDICA DE R.L.</a:t>
            </a:r>
            <a:endParaRPr lang="en-US" sz="900" dirty="0"/>
          </a:p>
        </p:txBody>
      </p:sp>
      <p:sp>
        <p:nvSpPr>
          <p:cNvPr id="25" name="Text 20"/>
          <p:cNvSpPr txBox="1"/>
          <p:nvPr/>
        </p:nvSpPr>
        <p:spPr>
          <a:xfrm>
            <a:off x="11076127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E3A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INTEGRADOR 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22960"/>
            <a:ext cx="110578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500" b="1" dirty="0">
                <a:solidFill>
                  <a:srgbClr val="133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DATOS QUE NO COINCIDEN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11057839" cy="1463040"/>
          </a:xfrm>
          <a:prstGeom prst="roundRect">
            <a:avLst>
              <a:gd name="adj" fmla="val 7500"/>
            </a:avLst>
          </a:prstGeom>
          <a:solidFill>
            <a:srgbClr val="133B6C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075688"/>
            <a:ext cx="694944" cy="694944"/>
          </a:xfrm>
          <a:prstGeom prst="ellipse">
            <a:avLst/>
          </a:prstGeom>
          <a:solidFill>
            <a:srgbClr val="E3A73B"/>
          </a:solidFill>
          <a:ln/>
        </p:spPr>
      </p:sp>
      <p:pic>
        <p:nvPicPr>
          <p:cNvPr id="6" name="Image 0" descr="/tmp/claude-0/-home-user-riesgo/0ff9ff46-1396-5bd8-b3ac-2280dfbbbc55/scratchpad/work/gen/icons/form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9322" y="2232050"/>
            <a:ext cx="382219" cy="38221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09928" y="187452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3A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SITUACIÓN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709928" y="2148840"/>
            <a:ext cx="964051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evaluar una solicitud de crédito, los ingresos declarados por el solicitante no coinciden con los documentos de soporte presentados.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66928" y="3429000"/>
            <a:ext cx="5400904" cy="1229868"/>
          </a:xfrm>
          <a:prstGeom prst="roundRect">
            <a:avLst>
              <a:gd name="adj" fmla="val 7435"/>
            </a:avLst>
          </a:prstGeom>
          <a:solidFill>
            <a:srgbClr val="F2F5F9"/>
          </a:solidFill>
          <a:ln/>
        </p:spPr>
      </p:sp>
      <p:sp>
        <p:nvSpPr>
          <p:cNvPr id="10" name="Shape 7"/>
          <p:cNvSpPr/>
          <p:nvPr/>
        </p:nvSpPr>
        <p:spPr>
          <a:xfrm>
            <a:off x="749808" y="3815334"/>
            <a:ext cx="457200" cy="457200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11" name="Image 1" descr="/tmp/claude-0/-home-user-riesgo/0ff9ff46-1396-5bd8-b3ac-2280dfbbbc55/scratchpad/work/gen/icons/question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678" y="3918204"/>
            <a:ext cx="251460" cy="2514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344168" y="3429000"/>
            <a:ext cx="4440784" cy="12298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RIESGOS IDENTIFICAS?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223864" y="3429000"/>
            <a:ext cx="5400904" cy="1229868"/>
          </a:xfrm>
          <a:prstGeom prst="roundRect">
            <a:avLst>
              <a:gd name="adj" fmla="val 7435"/>
            </a:avLst>
          </a:prstGeom>
          <a:solidFill>
            <a:srgbClr val="F2F5F9"/>
          </a:solidFill>
          <a:ln/>
        </p:spPr>
      </p:sp>
      <p:sp>
        <p:nvSpPr>
          <p:cNvPr id="14" name="Shape 10"/>
          <p:cNvSpPr/>
          <p:nvPr/>
        </p:nvSpPr>
        <p:spPr>
          <a:xfrm>
            <a:off x="6406744" y="3815334"/>
            <a:ext cx="457200" cy="457200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15" name="Image 2" descr="/tmp/claude-0/-home-user-riesgo/0ff9ff46-1396-5bd8-b3ac-2280dfbbbc55/scratchpad/work/gen/icons/question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614" y="3918204"/>
            <a:ext cx="251460" cy="251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001104" y="3429000"/>
            <a:ext cx="4440784" cy="12298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HARÍAS?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566928" y="4878324"/>
            <a:ext cx="5400904" cy="1229868"/>
          </a:xfrm>
          <a:prstGeom prst="roundRect">
            <a:avLst>
              <a:gd name="adj" fmla="val 7435"/>
            </a:avLst>
          </a:prstGeom>
          <a:solidFill>
            <a:srgbClr val="F2F5F9"/>
          </a:solidFill>
          <a:ln/>
        </p:spPr>
      </p:sp>
      <p:sp>
        <p:nvSpPr>
          <p:cNvPr id="18" name="Shape 13"/>
          <p:cNvSpPr/>
          <p:nvPr/>
        </p:nvSpPr>
        <p:spPr>
          <a:xfrm>
            <a:off x="749808" y="5264658"/>
            <a:ext cx="457200" cy="457200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19" name="Image 3" descr="/tmp/claude-0/-home-user-riesgo/0ff9ff46-1396-5bd8-b3ac-2280dfbbbc55/scratchpad/work/gen/icons/question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678" y="5367528"/>
            <a:ext cx="251460" cy="25146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344168" y="4878324"/>
            <a:ext cx="4440784" cy="12298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¿A QUIÉN CORRESPONDE ACTUAR?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6223864" y="4878324"/>
            <a:ext cx="5400904" cy="1229868"/>
          </a:xfrm>
          <a:prstGeom prst="roundRect">
            <a:avLst>
              <a:gd name="adj" fmla="val 7435"/>
            </a:avLst>
          </a:prstGeom>
          <a:solidFill>
            <a:srgbClr val="F2F5F9"/>
          </a:solidFill>
          <a:ln/>
        </p:spPr>
      </p:sp>
      <p:sp>
        <p:nvSpPr>
          <p:cNvPr id="22" name="Shape 16"/>
          <p:cNvSpPr/>
          <p:nvPr/>
        </p:nvSpPr>
        <p:spPr>
          <a:xfrm>
            <a:off x="6406744" y="5264658"/>
            <a:ext cx="457200" cy="457200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23" name="Image 4" descr="/tmp/claude-0/-home-user-riesgo/0ff9ff46-1396-5bd8-b3ac-2280dfbbbc55/scratchpad/work/gen/icons/question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9614" y="5367528"/>
            <a:ext cx="251460" cy="25146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001104" y="4878324"/>
            <a:ext cx="4440784" cy="12298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PASA SI NO ACTUAMOS?</a:t>
            </a:r>
            <a:endParaRPr lang="en-US" sz="1250" dirty="0"/>
          </a:p>
        </p:txBody>
      </p:sp>
      <p:sp>
        <p:nvSpPr>
          <p:cNvPr id="25" name="Text 18"/>
          <p:cNvSpPr txBox="1"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INTEGRAL DE RIESGOS  ·  COMEDICA DE R.L.</a:t>
            </a:r>
            <a:endParaRPr lang="en-US" sz="900" dirty="0"/>
          </a:p>
        </p:txBody>
      </p:sp>
      <p:sp>
        <p:nvSpPr>
          <p:cNvPr id="26" name="Text 19"/>
          <p:cNvSpPr txBox="1"/>
          <p:nvPr/>
        </p:nvSpPr>
        <p:spPr>
          <a:xfrm>
            <a:off x="11076127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E3A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INTEGRADOR 4 · RESPUESTA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22960"/>
            <a:ext cx="110578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200" b="1" dirty="0">
                <a:solidFill>
                  <a:srgbClr val="133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DATOS QUE NO COINCIDEN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91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 IDENTIFICADOS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993392"/>
            <a:ext cx="1793138" cy="365760"/>
          </a:xfrm>
          <a:prstGeom prst="roundRect">
            <a:avLst>
              <a:gd name="adj" fmla="val 50000"/>
            </a:avLst>
          </a:prstGeom>
          <a:solidFill>
            <a:srgbClr val="133B6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993392"/>
            <a:ext cx="1793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crediticio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06370" y="1993392"/>
            <a:ext cx="1717243" cy="365760"/>
          </a:xfrm>
          <a:prstGeom prst="roundRect">
            <a:avLst>
              <a:gd name="adj" fmla="val 50000"/>
            </a:avLst>
          </a:prstGeom>
          <a:solidFill>
            <a:srgbClr val="133B6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506370" y="1993392"/>
            <a:ext cx="17172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operativo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2651760"/>
            <a:ext cx="3515258" cy="3337560"/>
          </a:xfrm>
          <a:prstGeom prst="roundRect">
            <a:avLst>
              <a:gd name="adj" fmla="val 2740"/>
            </a:avLst>
          </a:prstGeom>
          <a:solidFill>
            <a:srgbClr val="F2F5F9"/>
          </a:solidFill>
          <a:ln/>
        </p:spPr>
      </p:sp>
      <p:sp>
        <p:nvSpPr>
          <p:cNvPr id="10" name="Shape 8"/>
          <p:cNvSpPr/>
          <p:nvPr/>
        </p:nvSpPr>
        <p:spPr>
          <a:xfrm>
            <a:off x="2041093" y="2871216"/>
            <a:ext cx="566928" cy="566928"/>
          </a:xfrm>
          <a:prstGeom prst="ellipse">
            <a:avLst/>
          </a:prstGeom>
          <a:solidFill>
            <a:srgbClr val="2E9E5B"/>
          </a:solidFill>
          <a:ln/>
        </p:spPr>
      </p:sp>
      <p:pic>
        <p:nvPicPr>
          <p:cNvPr id="11" name="Image 0" descr="/tmp/claude-0/-home-user-riesgo/0ff9ff46-1396-5bd8-b3ac-2280dfbbbc55/scratchpad/work/gen/icons/check_circl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77156" y="3007279"/>
            <a:ext cx="294803" cy="294803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731520" y="3611880"/>
            <a:ext cx="31860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50" kern="0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ACCIÓN RECOMENDADA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768096" y="4069080"/>
            <a:ext cx="311292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 la inconsistencia con el solicitante y la documentación antes de continuar con el proceso.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338218" y="2651760"/>
            <a:ext cx="3515258" cy="3337560"/>
          </a:xfrm>
          <a:prstGeom prst="roundRect">
            <a:avLst>
              <a:gd name="adj" fmla="val 2740"/>
            </a:avLst>
          </a:prstGeom>
          <a:solidFill>
            <a:srgbClr val="F2F5F9"/>
          </a:solidFill>
          <a:ln/>
        </p:spPr>
      </p:sp>
      <p:sp>
        <p:nvSpPr>
          <p:cNvPr id="15" name="Shape 12"/>
          <p:cNvSpPr/>
          <p:nvPr/>
        </p:nvSpPr>
        <p:spPr>
          <a:xfrm>
            <a:off x="5812384" y="2871216"/>
            <a:ext cx="566928" cy="566928"/>
          </a:xfrm>
          <a:prstGeom prst="ellipse">
            <a:avLst/>
          </a:prstGeom>
          <a:solidFill>
            <a:srgbClr val="133B6C"/>
          </a:solidFill>
          <a:ln/>
        </p:spPr>
      </p:sp>
      <p:pic>
        <p:nvPicPr>
          <p:cNvPr id="16" name="Image 1" descr="/tmp/claude-0/-home-user-riesgo/0ff9ff46-1396-5bd8-b3ac-2280dfbbbc55/scratchpad/work/gen/icons/people_group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8446" y="3007279"/>
            <a:ext cx="294803" cy="294803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502810" y="3611880"/>
            <a:ext cx="31860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50" kern="0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 DE ACTUAR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4539386" y="4069080"/>
            <a:ext cx="311292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Quien evalúa la solicitud, con el respaldo de su jefatura para validar la información.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8109509" y="2651760"/>
            <a:ext cx="3515258" cy="3337560"/>
          </a:xfrm>
          <a:prstGeom prst="roundRect">
            <a:avLst>
              <a:gd name="adj" fmla="val 2740"/>
            </a:avLst>
          </a:prstGeom>
          <a:solidFill>
            <a:srgbClr val="F2F5F9"/>
          </a:solidFill>
          <a:ln/>
        </p:spPr>
      </p:sp>
      <p:sp>
        <p:nvSpPr>
          <p:cNvPr id="20" name="Shape 16"/>
          <p:cNvSpPr/>
          <p:nvPr/>
        </p:nvSpPr>
        <p:spPr>
          <a:xfrm>
            <a:off x="9583674" y="2871216"/>
            <a:ext cx="566928" cy="566928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21" name="Image 2" descr="/tmp/claude-0/-home-user-riesgo/0ff9ff46-1396-5bd8-b3ac-2280dfbbbc55/scratchpad/work/gen/icons/warning_triangle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9737" y="3007279"/>
            <a:ext cx="294803" cy="294803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274101" y="3611880"/>
            <a:ext cx="31860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5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NO ACTUAMOS</a:t>
            </a:r>
            <a:endParaRPr lang="en-US" sz="1150" dirty="0"/>
          </a:p>
        </p:txBody>
      </p:sp>
      <p:sp>
        <p:nvSpPr>
          <p:cNvPr id="23" name="Text 18"/>
          <p:cNvSpPr txBox="1"/>
          <p:nvPr/>
        </p:nvSpPr>
        <p:spPr>
          <a:xfrm>
            <a:off x="8310677" y="4069080"/>
            <a:ext cx="311292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Cooperativa podría asumir un riesgo crediticio mayor al que realmente cree estar asumiendo.</a:t>
            </a:r>
            <a:endParaRPr lang="en-US" sz="1200" dirty="0"/>
          </a:p>
        </p:txBody>
      </p:sp>
      <p:sp>
        <p:nvSpPr>
          <p:cNvPr id="24" name="Text 19"/>
          <p:cNvSpPr txBox="1"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INTEGRAL DE RIESGOS  ·  COMEDICA DE R.L.</a:t>
            </a:r>
            <a:endParaRPr lang="en-US" sz="900" dirty="0"/>
          </a:p>
        </p:txBody>
      </p:sp>
      <p:sp>
        <p:nvSpPr>
          <p:cNvPr id="25" name="Text 20"/>
          <p:cNvSpPr txBox="1"/>
          <p:nvPr/>
        </p:nvSpPr>
        <p:spPr>
          <a:xfrm>
            <a:off x="11076127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A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926080" y="2926080"/>
            <a:ext cx="7772400" cy="7772400"/>
          </a:xfrm>
          <a:prstGeom prst="ellipse">
            <a:avLst/>
          </a:prstGeom>
          <a:solidFill>
            <a:srgbClr val="0D2847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1828800"/>
            <a:ext cx="1188720" cy="1188720"/>
          </a:xfrm>
          <a:prstGeom prst="ellipse">
            <a:avLst/>
          </a:prstGeom>
          <a:solidFill>
            <a:srgbClr val="E3A73B"/>
          </a:solidFill>
          <a:ln/>
        </p:spPr>
      </p:sp>
      <p:pic>
        <p:nvPicPr>
          <p:cNvPr id="4" name="Image 0" descr="/tmp/claude-0/-home-user-riesgo/0ff9ff46-1396-5bd8-b3ac-2280dfbbbc55/scratchpad/work/gen/icons/timer30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2114093"/>
            <a:ext cx="618134" cy="61813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28803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E3A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 ACTIVIDAD FINAL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3246120"/>
            <a:ext cx="10424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DETECTA EL RIESGO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46634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C7D3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 a prueba todo lo aprendido en esta capacitación.</a:t>
            </a:r>
            <a:endParaRPr lang="en-US" sz="1600" dirty="0"/>
          </a:p>
        </p:txBody>
      </p:sp>
      <p:pic>
        <p:nvPicPr>
          <p:cNvPr id="8" name="Image 1" descr="/tmp/claude-0/-home-user-riesgo/0ff9ff46-1396-5bd8-b3ac-2280dfbbbc55/scratchpad/work/gen/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1727" y="5961888"/>
            <a:ext cx="1463040" cy="41111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C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INTEGRAL DE RIESGOS  ·  COMEDICA DE R.L.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11076127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C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E3A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 FINAL · 30 SEGUNDOS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22960"/>
            <a:ext cx="110578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133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DETECTA EL RIESGO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 la escena. Tienes 30 segundos: ¿cuántos riesgos puedes encontrar esta vez?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1965960"/>
            <a:ext cx="11057839" cy="3977640"/>
          </a:xfrm>
          <a:prstGeom prst="roundRect">
            <a:avLst>
              <a:gd name="adj" fmla="val 3218"/>
            </a:avLst>
          </a:prstGeom>
          <a:solidFill>
            <a:srgbClr val="F2F5F9"/>
          </a:solidFill>
          <a:ln/>
        </p:spPr>
      </p:sp>
      <p:sp>
        <p:nvSpPr>
          <p:cNvPr id="6" name="Shape 4"/>
          <p:cNvSpPr/>
          <p:nvPr/>
        </p:nvSpPr>
        <p:spPr>
          <a:xfrm>
            <a:off x="1417320" y="2148840"/>
            <a:ext cx="960120" cy="9601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/tmp/claude-0/-home-user-riesgo/0ff9ff46-1396-5bd8-b3ac-2280dfbbbc55/scratchpad/work/gen/icons/lock_open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57350" y="2388870"/>
            <a:ext cx="480060" cy="4800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2066544" y="2057400"/>
            <a:ext cx="402336" cy="402336"/>
          </a:xfrm>
          <a:prstGeom prst="ellipse">
            <a:avLst/>
          </a:prstGeom>
          <a:solidFill>
            <a:srgbClr val="E3A73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066544" y="20482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0A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96" dirty="0"/>
          </a:p>
        </p:txBody>
      </p:sp>
      <p:sp>
        <p:nvSpPr>
          <p:cNvPr id="10" name="Shape 7"/>
          <p:cNvSpPr/>
          <p:nvPr/>
        </p:nvSpPr>
        <p:spPr>
          <a:xfrm>
            <a:off x="3657600" y="2377440"/>
            <a:ext cx="960120" cy="9601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/tmp/claude-0/-home-user-riesgo/0ff9ff46-1396-5bd8-b3ac-2280dfbbbc55/scratchpad/work/gen/icons/usb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7630" y="2617470"/>
            <a:ext cx="480060" cy="48006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4306824" y="2286000"/>
            <a:ext cx="402336" cy="402336"/>
          </a:xfrm>
          <a:prstGeom prst="ellipse">
            <a:avLst/>
          </a:prstGeom>
          <a:solidFill>
            <a:srgbClr val="E3A73B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4306824" y="22768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0A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96" dirty="0"/>
          </a:p>
        </p:txBody>
      </p:sp>
      <p:sp>
        <p:nvSpPr>
          <p:cNvPr id="14" name="Shape 10"/>
          <p:cNvSpPr/>
          <p:nvPr/>
        </p:nvSpPr>
        <p:spPr>
          <a:xfrm>
            <a:off x="5852160" y="2103120"/>
            <a:ext cx="960120" cy="9601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/tmp/claude-0/-home-user-riesgo/0ff9ff46-1396-5bd8-b3ac-2280dfbbbc55/scratchpad/work/gen/icons/wifi_off_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2190" y="2343150"/>
            <a:ext cx="480060" cy="48006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6501384" y="2011680"/>
            <a:ext cx="402336" cy="402336"/>
          </a:xfrm>
          <a:prstGeom prst="ellipse">
            <a:avLst/>
          </a:prstGeom>
          <a:solidFill>
            <a:srgbClr val="E3A73B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6501384" y="20025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0A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96" dirty="0"/>
          </a:p>
        </p:txBody>
      </p:sp>
      <p:sp>
        <p:nvSpPr>
          <p:cNvPr id="18" name="Shape 13"/>
          <p:cNvSpPr/>
          <p:nvPr/>
        </p:nvSpPr>
        <p:spPr>
          <a:xfrm>
            <a:off x="8138160" y="2377440"/>
            <a:ext cx="960120" cy="9601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3" descr="/tmp/claude-0/-home-user-riesgo/0ff9ff46-1396-5bd8-b3ac-2280dfbbbc55/scratchpad/work/gen/icons/trash_nav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8190" y="2617470"/>
            <a:ext cx="480060" cy="48006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8787384" y="2286000"/>
            <a:ext cx="402336" cy="402336"/>
          </a:xfrm>
          <a:prstGeom prst="ellipse">
            <a:avLst/>
          </a:prstGeom>
          <a:solidFill>
            <a:srgbClr val="E3A73B"/>
          </a:solidFill>
          <a:ln/>
        </p:spPr>
      </p:sp>
      <p:sp>
        <p:nvSpPr>
          <p:cNvPr id="21" name="Text 15"/>
          <p:cNvSpPr txBox="1"/>
          <p:nvPr/>
        </p:nvSpPr>
        <p:spPr>
          <a:xfrm>
            <a:off x="8787384" y="22768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0A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96" dirty="0"/>
          </a:p>
        </p:txBody>
      </p:sp>
      <p:sp>
        <p:nvSpPr>
          <p:cNvPr id="22" name="Shape 16"/>
          <p:cNvSpPr/>
          <p:nvPr/>
        </p:nvSpPr>
        <p:spPr>
          <a:xfrm>
            <a:off x="10149840" y="2148840"/>
            <a:ext cx="960120" cy="9601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3" name="Image 4" descr="/tmp/claude-0/-home-user-riesgo/0ff9ff46-1396-5bd8-b3ac-2280dfbbbc55/scratchpad/work/gen/icons/bell_alert_nav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89870" y="2388870"/>
            <a:ext cx="480060" cy="480060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10799064" y="2057400"/>
            <a:ext cx="402336" cy="402336"/>
          </a:xfrm>
          <a:prstGeom prst="ellipse">
            <a:avLst/>
          </a:prstGeom>
          <a:solidFill>
            <a:srgbClr val="E3A73B"/>
          </a:solidFill>
          <a:ln/>
        </p:spPr>
      </p:sp>
      <p:sp>
        <p:nvSpPr>
          <p:cNvPr id="25" name="Text 18"/>
          <p:cNvSpPr txBox="1"/>
          <p:nvPr/>
        </p:nvSpPr>
        <p:spPr>
          <a:xfrm>
            <a:off x="10799064" y="20482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0A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96" dirty="0"/>
          </a:p>
        </p:txBody>
      </p:sp>
      <p:sp>
        <p:nvSpPr>
          <p:cNvPr id="26" name="Shape 19"/>
          <p:cNvSpPr/>
          <p:nvPr/>
        </p:nvSpPr>
        <p:spPr>
          <a:xfrm>
            <a:off x="2468880" y="4251960"/>
            <a:ext cx="960120" cy="9601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7" name="Image 5" descr="/tmp/claude-0/-home-user-riesgo/0ff9ff46-1396-5bd8-b3ac-2280dfbbbc55/scratchpad/work/gen/icons/hand_stop_nav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8910" y="4491990"/>
            <a:ext cx="480060" cy="480060"/>
          </a:xfrm>
          <a:prstGeom prst="rect">
            <a:avLst/>
          </a:prstGeom>
        </p:spPr>
      </p:pic>
      <p:sp>
        <p:nvSpPr>
          <p:cNvPr id="28" name="Shape 20"/>
          <p:cNvSpPr/>
          <p:nvPr/>
        </p:nvSpPr>
        <p:spPr>
          <a:xfrm>
            <a:off x="3118104" y="4160520"/>
            <a:ext cx="402336" cy="402336"/>
          </a:xfrm>
          <a:prstGeom prst="ellipse">
            <a:avLst/>
          </a:prstGeom>
          <a:solidFill>
            <a:srgbClr val="E3A73B"/>
          </a:solidFill>
          <a:ln/>
        </p:spPr>
      </p:sp>
      <p:sp>
        <p:nvSpPr>
          <p:cNvPr id="29" name="Text 21"/>
          <p:cNvSpPr txBox="1"/>
          <p:nvPr/>
        </p:nvSpPr>
        <p:spPr>
          <a:xfrm>
            <a:off x="3118104" y="4151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0A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496" dirty="0"/>
          </a:p>
        </p:txBody>
      </p:sp>
      <p:sp>
        <p:nvSpPr>
          <p:cNvPr id="30" name="Shape 22"/>
          <p:cNvSpPr/>
          <p:nvPr/>
        </p:nvSpPr>
        <p:spPr>
          <a:xfrm>
            <a:off x="4663440" y="4480560"/>
            <a:ext cx="960120" cy="9601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1" name="Image 6" descr="/tmp/claude-0/-home-user-riesgo/0ff9ff46-1396-5bd8-b3ac-2280dfbbbc55/scratchpad/work/gen/icons/cctv_nav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03470" y="4720590"/>
            <a:ext cx="480060" cy="480060"/>
          </a:xfrm>
          <a:prstGeom prst="rect">
            <a:avLst/>
          </a:prstGeom>
        </p:spPr>
      </p:pic>
      <p:sp>
        <p:nvSpPr>
          <p:cNvPr id="32" name="Shape 23"/>
          <p:cNvSpPr/>
          <p:nvPr/>
        </p:nvSpPr>
        <p:spPr>
          <a:xfrm>
            <a:off x="5312664" y="4389120"/>
            <a:ext cx="402336" cy="402336"/>
          </a:xfrm>
          <a:prstGeom prst="ellipse">
            <a:avLst/>
          </a:prstGeom>
          <a:solidFill>
            <a:srgbClr val="E3A73B"/>
          </a:solidFill>
          <a:ln/>
        </p:spPr>
      </p:sp>
      <p:sp>
        <p:nvSpPr>
          <p:cNvPr id="33" name="Text 24"/>
          <p:cNvSpPr txBox="1"/>
          <p:nvPr/>
        </p:nvSpPr>
        <p:spPr>
          <a:xfrm>
            <a:off x="5312664" y="43799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0A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496" dirty="0"/>
          </a:p>
        </p:txBody>
      </p:sp>
      <p:sp>
        <p:nvSpPr>
          <p:cNvPr id="34" name="Shape 25"/>
          <p:cNvSpPr/>
          <p:nvPr/>
        </p:nvSpPr>
        <p:spPr>
          <a:xfrm>
            <a:off x="6949440" y="4206240"/>
            <a:ext cx="960120" cy="9601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5" name="Image 7" descr="/tmp/claude-0/-home-user-riesgo/0ff9ff46-1396-5bd8-b3ac-2280dfbbbc55/scratchpad/work/gen/icons/key_navy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89470" y="4446270"/>
            <a:ext cx="480060" cy="480060"/>
          </a:xfrm>
          <a:prstGeom prst="rect">
            <a:avLst/>
          </a:prstGeom>
        </p:spPr>
      </p:pic>
      <p:sp>
        <p:nvSpPr>
          <p:cNvPr id="36" name="Shape 26"/>
          <p:cNvSpPr/>
          <p:nvPr/>
        </p:nvSpPr>
        <p:spPr>
          <a:xfrm>
            <a:off x="7598664" y="4114800"/>
            <a:ext cx="402336" cy="402336"/>
          </a:xfrm>
          <a:prstGeom prst="ellipse">
            <a:avLst/>
          </a:prstGeom>
          <a:solidFill>
            <a:srgbClr val="E3A73B"/>
          </a:solidFill>
          <a:ln/>
        </p:spPr>
      </p:sp>
      <p:sp>
        <p:nvSpPr>
          <p:cNvPr id="37" name="Text 27"/>
          <p:cNvSpPr txBox="1"/>
          <p:nvPr/>
        </p:nvSpPr>
        <p:spPr>
          <a:xfrm>
            <a:off x="7598664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0A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496" dirty="0"/>
          </a:p>
        </p:txBody>
      </p:sp>
      <p:sp>
        <p:nvSpPr>
          <p:cNvPr id="38" name="Shape 28"/>
          <p:cNvSpPr/>
          <p:nvPr/>
        </p:nvSpPr>
        <p:spPr>
          <a:xfrm>
            <a:off x="9144000" y="4480560"/>
            <a:ext cx="960120" cy="9601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9" name="Image 8" descr="/tmp/claude-0/-home-user-riesgo/0ff9ff46-1396-5bd8-b3ac-2280dfbbbc55/scratchpad/work/gen/icons/social_navy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84030" y="4720590"/>
            <a:ext cx="480060" cy="480060"/>
          </a:xfrm>
          <a:prstGeom prst="rect">
            <a:avLst/>
          </a:prstGeom>
        </p:spPr>
      </p:pic>
      <p:sp>
        <p:nvSpPr>
          <p:cNvPr id="40" name="Shape 29"/>
          <p:cNvSpPr/>
          <p:nvPr/>
        </p:nvSpPr>
        <p:spPr>
          <a:xfrm>
            <a:off x="9793224" y="4389120"/>
            <a:ext cx="402336" cy="402336"/>
          </a:xfrm>
          <a:prstGeom prst="ellipse">
            <a:avLst/>
          </a:prstGeom>
          <a:solidFill>
            <a:srgbClr val="E3A73B"/>
          </a:solidFill>
          <a:ln/>
        </p:spPr>
      </p:sp>
      <p:sp>
        <p:nvSpPr>
          <p:cNvPr id="41" name="Text 30"/>
          <p:cNvSpPr txBox="1"/>
          <p:nvPr/>
        </p:nvSpPr>
        <p:spPr>
          <a:xfrm>
            <a:off x="9793224" y="43799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0A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496" dirty="0"/>
          </a:p>
        </p:txBody>
      </p:sp>
      <p:sp>
        <p:nvSpPr>
          <p:cNvPr id="42" name="Text 31"/>
          <p:cNvSpPr txBox="1"/>
          <p:nvPr/>
        </p:nvSpPr>
        <p:spPr>
          <a:xfrm>
            <a:off x="566928" y="6053328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termines el tiempo, pasa a la siguiente diapositiva para revisar los resultados.</a:t>
            </a:r>
            <a:endParaRPr lang="en-US" sz="1200" dirty="0"/>
          </a:p>
        </p:txBody>
      </p:sp>
      <p:sp>
        <p:nvSpPr>
          <p:cNvPr id="43" name="Text 32"/>
          <p:cNvSpPr txBox="1"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INTEGRAL DE RIESGOS  ·  COMEDICA DE R.L.</a:t>
            </a:r>
            <a:endParaRPr lang="en-US" sz="900" dirty="0"/>
          </a:p>
        </p:txBody>
      </p:sp>
      <p:sp>
        <p:nvSpPr>
          <p:cNvPr id="44" name="Text 33"/>
          <p:cNvSpPr txBox="1"/>
          <p:nvPr/>
        </p:nvSpPr>
        <p:spPr>
          <a:xfrm>
            <a:off x="11076127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E3A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22960"/>
            <a:ext cx="110578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133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RIESGOS DE ESTA ESCENA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2057400"/>
            <a:ext cx="3503066" cy="1252728"/>
          </a:xfrm>
          <a:prstGeom prst="roundRect">
            <a:avLst>
              <a:gd name="adj" fmla="val 65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722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04088" y="2400300"/>
            <a:ext cx="566928" cy="566928"/>
          </a:xfrm>
          <a:prstGeom prst="ellipse">
            <a:avLst/>
          </a:prstGeom>
          <a:solidFill>
            <a:srgbClr val="E3A73B"/>
          </a:solidFill>
          <a:ln/>
        </p:spPr>
      </p:sp>
      <p:pic>
        <p:nvPicPr>
          <p:cNvPr id="6" name="Image 0" descr="/tmp/claude-0/-home-user-riesgo/0ff9ff46-1396-5bd8-b3ac-2280dfbbbc55/scratchpad/work/gen/icons/lock_open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0151" y="2536363"/>
            <a:ext cx="294803" cy="29480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04088" y="22905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A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389888" y="2130552"/>
            <a:ext cx="254294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desbloqueado y sin supervisión.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44314" y="2057400"/>
            <a:ext cx="3503066" cy="1252728"/>
          </a:xfrm>
          <a:prstGeom prst="roundRect">
            <a:avLst>
              <a:gd name="adj" fmla="val 65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7223A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481474" y="2400300"/>
            <a:ext cx="566928" cy="566928"/>
          </a:xfrm>
          <a:prstGeom prst="ellipse">
            <a:avLst/>
          </a:prstGeom>
          <a:solidFill>
            <a:srgbClr val="E3A73B"/>
          </a:solidFill>
          <a:ln/>
        </p:spPr>
      </p:sp>
      <p:pic>
        <p:nvPicPr>
          <p:cNvPr id="11" name="Image 1" descr="/tmp/claude-0/-home-user-riesgo/0ff9ff46-1396-5bd8-b3ac-2280dfbbbc55/scratchpad/work/gen/icons/usb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537" y="2536363"/>
            <a:ext cx="294803" cy="29480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481474" y="22905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A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5167274" y="2130552"/>
            <a:ext cx="254294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Dispositivo USB desconocido conectado.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1701" y="2057400"/>
            <a:ext cx="3503066" cy="1252728"/>
          </a:xfrm>
          <a:prstGeom prst="roundRect">
            <a:avLst>
              <a:gd name="adj" fmla="val 65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7223A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58861" y="2400300"/>
            <a:ext cx="566928" cy="566928"/>
          </a:xfrm>
          <a:prstGeom prst="ellipse">
            <a:avLst/>
          </a:prstGeom>
          <a:solidFill>
            <a:srgbClr val="E3A73B"/>
          </a:solidFill>
          <a:ln/>
        </p:spPr>
      </p:sp>
      <p:pic>
        <p:nvPicPr>
          <p:cNvPr id="16" name="Image 2" descr="/tmp/claude-0/-home-user-riesgo/0ff9ff46-1396-5bd8-b3ac-2280dfbbbc55/scratchpad/work/gen/icons/wifi_off_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924" y="2536363"/>
            <a:ext cx="294803" cy="29480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258861" y="22905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A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18" name="Text 13"/>
          <p:cNvSpPr txBox="1"/>
          <p:nvPr/>
        </p:nvSpPr>
        <p:spPr>
          <a:xfrm>
            <a:off x="8944661" y="2130552"/>
            <a:ext cx="254294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Conexión fuera de la red segura de la Cooperativa.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566928" y="3456432"/>
            <a:ext cx="3503066" cy="1252728"/>
          </a:xfrm>
          <a:prstGeom prst="roundRect">
            <a:avLst>
              <a:gd name="adj" fmla="val 65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7223A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04088" y="3799332"/>
            <a:ext cx="566928" cy="566928"/>
          </a:xfrm>
          <a:prstGeom prst="ellipse">
            <a:avLst/>
          </a:prstGeom>
          <a:solidFill>
            <a:srgbClr val="E3A73B"/>
          </a:solidFill>
          <a:ln/>
        </p:spPr>
      </p:sp>
      <p:pic>
        <p:nvPicPr>
          <p:cNvPr id="21" name="Image 3" descr="/tmp/claude-0/-home-user-riesgo/0ff9ff46-1396-5bd8-b3ac-2280dfbbbc55/scratchpad/work/gen/icons/trash_nav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151" y="3935395"/>
            <a:ext cx="294803" cy="29480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04088" y="36896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A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1389888" y="3529584"/>
            <a:ext cx="254294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 con datos de asociados en la basura.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4344314" y="3456432"/>
            <a:ext cx="3503066" cy="1252728"/>
          </a:xfrm>
          <a:prstGeom prst="roundRect">
            <a:avLst>
              <a:gd name="adj" fmla="val 65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7223A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481474" y="3799332"/>
            <a:ext cx="566928" cy="566928"/>
          </a:xfrm>
          <a:prstGeom prst="ellipse">
            <a:avLst/>
          </a:prstGeom>
          <a:solidFill>
            <a:srgbClr val="E3A73B"/>
          </a:solidFill>
          <a:ln/>
        </p:spPr>
      </p:sp>
      <p:pic>
        <p:nvPicPr>
          <p:cNvPr id="26" name="Image 4" descr="/tmp/claude-0/-home-user-riesgo/0ff9ff46-1396-5bd8-b3ac-2280dfbbbc55/scratchpad/work/gen/icons/bell_alert_nav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7537" y="3935395"/>
            <a:ext cx="294803" cy="29480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4481474" y="36896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A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28" name="Text 21"/>
          <p:cNvSpPr txBox="1"/>
          <p:nvPr/>
        </p:nvSpPr>
        <p:spPr>
          <a:xfrm>
            <a:off x="5167274" y="3529584"/>
            <a:ext cx="254294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alerta del sistema que nadie atendió.</a:t>
            </a:r>
            <a:endParaRPr lang="en-US" sz="1150" dirty="0"/>
          </a:p>
        </p:txBody>
      </p:sp>
      <p:sp>
        <p:nvSpPr>
          <p:cNvPr id="29" name="Shape 22"/>
          <p:cNvSpPr/>
          <p:nvPr/>
        </p:nvSpPr>
        <p:spPr>
          <a:xfrm>
            <a:off x="8121701" y="3456432"/>
            <a:ext cx="3503066" cy="1252728"/>
          </a:xfrm>
          <a:prstGeom prst="roundRect">
            <a:avLst>
              <a:gd name="adj" fmla="val 65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7223A">
                <a:alpha val="12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258861" y="3799332"/>
            <a:ext cx="566928" cy="566928"/>
          </a:xfrm>
          <a:prstGeom prst="ellipse">
            <a:avLst/>
          </a:prstGeom>
          <a:solidFill>
            <a:srgbClr val="E3A73B"/>
          </a:solidFill>
          <a:ln/>
        </p:spPr>
      </p:sp>
      <p:pic>
        <p:nvPicPr>
          <p:cNvPr id="31" name="Image 5" descr="/tmp/claude-0/-home-user-riesgo/0ff9ff46-1396-5bd8-b3ac-2280dfbbbc55/scratchpad/work/gen/icons/hand_stop_nav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4924" y="3935395"/>
            <a:ext cx="294803" cy="29480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258861" y="36896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A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33" name="Text 25"/>
          <p:cNvSpPr txBox="1"/>
          <p:nvPr/>
        </p:nvSpPr>
        <p:spPr>
          <a:xfrm>
            <a:off x="8944661" y="3529584"/>
            <a:ext cx="254294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a un área restringida sin autorización.</a:t>
            </a:r>
            <a:endParaRPr lang="en-US" sz="1150" dirty="0"/>
          </a:p>
        </p:txBody>
      </p:sp>
      <p:sp>
        <p:nvSpPr>
          <p:cNvPr id="34" name="Shape 26"/>
          <p:cNvSpPr/>
          <p:nvPr/>
        </p:nvSpPr>
        <p:spPr>
          <a:xfrm>
            <a:off x="566928" y="4855464"/>
            <a:ext cx="3503066" cy="1252728"/>
          </a:xfrm>
          <a:prstGeom prst="roundRect">
            <a:avLst>
              <a:gd name="adj" fmla="val 65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7223A">
                <a:alpha val="12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704088" y="5198364"/>
            <a:ext cx="566928" cy="566928"/>
          </a:xfrm>
          <a:prstGeom prst="ellipse">
            <a:avLst/>
          </a:prstGeom>
          <a:solidFill>
            <a:srgbClr val="E3A73B"/>
          </a:solidFill>
          <a:ln/>
        </p:spPr>
      </p:sp>
      <p:pic>
        <p:nvPicPr>
          <p:cNvPr id="36" name="Image 6" descr="/tmp/claude-0/-home-user-riesgo/0ff9ff46-1396-5bd8-b3ac-2280dfbbbc55/scratchpad/work/gen/icons/cctv_nav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0151" y="5334427"/>
            <a:ext cx="294803" cy="294803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704088" y="50886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A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38" name="Text 29"/>
          <p:cNvSpPr txBox="1"/>
          <p:nvPr/>
        </p:nvSpPr>
        <p:spPr>
          <a:xfrm>
            <a:off x="1389888" y="4928616"/>
            <a:ext cx="254294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Cámara de seguridad bloqueada u obstruida.</a:t>
            </a:r>
            <a:endParaRPr lang="en-US" sz="1150" dirty="0"/>
          </a:p>
        </p:txBody>
      </p:sp>
      <p:sp>
        <p:nvSpPr>
          <p:cNvPr id="39" name="Shape 30"/>
          <p:cNvSpPr/>
          <p:nvPr/>
        </p:nvSpPr>
        <p:spPr>
          <a:xfrm>
            <a:off x="4344314" y="4855464"/>
            <a:ext cx="3503066" cy="1252728"/>
          </a:xfrm>
          <a:prstGeom prst="roundRect">
            <a:avLst>
              <a:gd name="adj" fmla="val 65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7223A">
                <a:alpha val="12000"/>
              </a:srgbClr>
            </a:outerShdw>
          </a:effectLst>
        </p:spPr>
      </p:sp>
      <p:sp>
        <p:nvSpPr>
          <p:cNvPr id="40" name="Shape 31"/>
          <p:cNvSpPr/>
          <p:nvPr/>
        </p:nvSpPr>
        <p:spPr>
          <a:xfrm>
            <a:off x="4481474" y="5198364"/>
            <a:ext cx="566928" cy="566928"/>
          </a:xfrm>
          <a:prstGeom prst="ellipse">
            <a:avLst/>
          </a:prstGeom>
          <a:solidFill>
            <a:srgbClr val="E3A73B"/>
          </a:solidFill>
          <a:ln/>
        </p:spPr>
      </p:sp>
      <p:pic>
        <p:nvPicPr>
          <p:cNvPr id="41" name="Image 7" descr="/tmp/claude-0/-home-user-riesgo/0ff9ff46-1396-5bd8-b3ac-2280dfbbbc55/scratchpad/work/gen/icons/key_navy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17537" y="5334427"/>
            <a:ext cx="294803" cy="294803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4481474" y="50886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A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43" name="Text 33"/>
          <p:cNvSpPr txBox="1"/>
          <p:nvPr/>
        </p:nvSpPr>
        <p:spPr>
          <a:xfrm>
            <a:off x="5167274" y="4928616"/>
            <a:ext cx="254294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Llaves de una oficina dejadas a la vista.</a:t>
            </a:r>
            <a:endParaRPr lang="en-US" sz="1150" dirty="0"/>
          </a:p>
        </p:txBody>
      </p:sp>
      <p:sp>
        <p:nvSpPr>
          <p:cNvPr id="44" name="Shape 34"/>
          <p:cNvSpPr/>
          <p:nvPr/>
        </p:nvSpPr>
        <p:spPr>
          <a:xfrm>
            <a:off x="8121701" y="4855464"/>
            <a:ext cx="3503066" cy="1252728"/>
          </a:xfrm>
          <a:prstGeom prst="roundRect">
            <a:avLst>
              <a:gd name="adj" fmla="val 65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7223A">
                <a:alpha val="12000"/>
              </a:srgbClr>
            </a:outerShdw>
          </a:effectLst>
        </p:spPr>
      </p:sp>
      <p:sp>
        <p:nvSpPr>
          <p:cNvPr id="45" name="Shape 35"/>
          <p:cNvSpPr/>
          <p:nvPr/>
        </p:nvSpPr>
        <p:spPr>
          <a:xfrm>
            <a:off x="8258861" y="5198364"/>
            <a:ext cx="566928" cy="566928"/>
          </a:xfrm>
          <a:prstGeom prst="ellipse">
            <a:avLst/>
          </a:prstGeom>
          <a:solidFill>
            <a:srgbClr val="E3A73B"/>
          </a:solidFill>
          <a:ln/>
        </p:spPr>
      </p:sp>
      <p:pic>
        <p:nvPicPr>
          <p:cNvPr id="46" name="Image 8" descr="/tmp/claude-0/-home-user-riesgo/0ff9ff46-1396-5bd8-b3ac-2280dfbbbc55/scratchpad/work/gen/icons/social_navy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94924" y="5334427"/>
            <a:ext cx="294803" cy="294803"/>
          </a:xfrm>
          <a:prstGeom prst="rect">
            <a:avLst/>
          </a:prstGeom>
        </p:spPr>
      </p:pic>
      <p:sp>
        <p:nvSpPr>
          <p:cNvPr id="47" name="Text 36"/>
          <p:cNvSpPr txBox="1"/>
          <p:nvPr/>
        </p:nvSpPr>
        <p:spPr>
          <a:xfrm>
            <a:off x="8258861" y="50886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A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48" name="Text 37"/>
          <p:cNvSpPr txBox="1"/>
          <p:nvPr/>
        </p:nvSpPr>
        <p:spPr>
          <a:xfrm>
            <a:off x="8944661" y="4928616"/>
            <a:ext cx="254294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comentario institucional inapropiado en redes sociales.</a:t>
            </a:r>
            <a:endParaRPr lang="en-US" sz="1150" dirty="0"/>
          </a:p>
        </p:txBody>
      </p:sp>
      <p:sp>
        <p:nvSpPr>
          <p:cNvPr id="49" name="Text 38"/>
          <p:cNvSpPr txBox="1"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INTEGRAL DE RIESGOS  ·  COMEDICA DE R.L.</a:t>
            </a:r>
            <a:endParaRPr lang="en-US" sz="900" dirty="0"/>
          </a:p>
        </p:txBody>
      </p:sp>
      <p:sp>
        <p:nvSpPr>
          <p:cNvPr id="50" name="Text 39"/>
          <p:cNvSpPr txBox="1"/>
          <p:nvPr/>
        </p:nvSpPr>
        <p:spPr>
          <a:xfrm>
            <a:off x="11076127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A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3200400" y="-2926080"/>
            <a:ext cx="7315200" cy="7315200"/>
          </a:xfrm>
          <a:prstGeom prst="ellipse">
            <a:avLst/>
          </a:prstGeom>
          <a:solidFill>
            <a:srgbClr val="0D284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7772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7D3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TODOS SOMOS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801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GESTORES DE RIESGOS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2826868" y="3063240"/>
            <a:ext cx="1051560" cy="1051560"/>
          </a:xfrm>
          <a:prstGeom prst="ellipse">
            <a:avLst/>
          </a:prstGeom>
          <a:solidFill>
            <a:srgbClr val="E3A73B"/>
          </a:solidFill>
          <a:ln/>
        </p:spPr>
      </p:sp>
      <p:pic>
        <p:nvPicPr>
          <p:cNvPr id="6" name="Image 0" descr="/tmp/claude-0/-home-user-riesgo/0ff9ff46-1396-5bd8-b3ac-2280dfbbbc55/scratchpad/work/gen/icons/eye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89758" y="3326130"/>
            <a:ext cx="525780" cy="5257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552548" y="42519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VEO</a:t>
            </a:r>
            <a:endParaRPr lang="en-US" sz="1300" dirty="0"/>
          </a:p>
        </p:txBody>
      </p:sp>
      <p:pic>
        <p:nvPicPr>
          <p:cNvPr id="8" name="Image 1" descr="/tmp/claude-0/-home-user-riesgo/0ff9ff46-1396-5bd8-b3ac-2280dfbbbc55/scratchpad/work/gen/icons/arrow_right_go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0432" y="3461004"/>
            <a:ext cx="256032" cy="256032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4198468" y="3063240"/>
            <a:ext cx="1051560" cy="1051560"/>
          </a:xfrm>
          <a:prstGeom prst="ellipse">
            <a:avLst/>
          </a:prstGeom>
          <a:solidFill>
            <a:srgbClr val="E3A73B"/>
          </a:solidFill>
          <a:ln/>
        </p:spPr>
      </p:sp>
      <p:pic>
        <p:nvPicPr>
          <p:cNvPr id="10" name="Image 2" descr="/tmp/claude-0/-home-user-riesgo/0ff9ff46-1396-5bd8-b3ac-2280dfbbbc55/scratchpad/work/gen/icons/magnifier_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1358" y="3326130"/>
            <a:ext cx="525780" cy="5257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924148" y="42519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IDENTIFICO</a:t>
            </a:r>
            <a:endParaRPr lang="en-US" sz="1300" dirty="0"/>
          </a:p>
        </p:txBody>
      </p:sp>
      <p:pic>
        <p:nvPicPr>
          <p:cNvPr id="12" name="Image 3" descr="/tmp/claude-0/-home-user-riesgo/0ff9ff46-1396-5bd8-b3ac-2280dfbbbc55/scratchpad/work/gen/icons/arrow_right_go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2032" y="3461004"/>
            <a:ext cx="256032" cy="256032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5570068" y="3063240"/>
            <a:ext cx="1051560" cy="1051560"/>
          </a:xfrm>
          <a:prstGeom prst="ellipse">
            <a:avLst/>
          </a:prstGeom>
          <a:solidFill>
            <a:srgbClr val="E3A73B"/>
          </a:solidFill>
          <a:ln/>
        </p:spPr>
      </p:sp>
      <p:pic>
        <p:nvPicPr>
          <p:cNvPr id="14" name="Image 4" descr="/tmp/claude-0/-home-user-riesgo/0ff9ff46-1396-5bd8-b3ac-2280dfbbbc55/scratchpad/work/gen/icons/shield_check_nav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2958" y="3326130"/>
            <a:ext cx="525780" cy="52578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5295748" y="42519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PREVENGO</a:t>
            </a:r>
            <a:endParaRPr lang="en-US" sz="1300" dirty="0"/>
          </a:p>
        </p:txBody>
      </p:sp>
      <p:pic>
        <p:nvPicPr>
          <p:cNvPr id="16" name="Image 5" descr="/tmp/claude-0/-home-user-riesgo/0ff9ff46-1396-5bd8-b3ac-2280dfbbbc55/scratchpad/work/gen/icons/arrow_right_gol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53632" y="3461004"/>
            <a:ext cx="256032" cy="256032"/>
          </a:xfrm>
          <a:prstGeom prst="rect">
            <a:avLst/>
          </a:prstGeom>
        </p:spPr>
      </p:pic>
      <p:sp>
        <p:nvSpPr>
          <p:cNvPr id="17" name="Shape 9"/>
          <p:cNvSpPr/>
          <p:nvPr/>
        </p:nvSpPr>
        <p:spPr>
          <a:xfrm>
            <a:off x="6941668" y="3063240"/>
            <a:ext cx="1051560" cy="1051560"/>
          </a:xfrm>
          <a:prstGeom prst="ellipse">
            <a:avLst/>
          </a:prstGeom>
          <a:solidFill>
            <a:srgbClr val="E3A73B"/>
          </a:solidFill>
          <a:ln/>
        </p:spPr>
      </p:sp>
      <p:pic>
        <p:nvPicPr>
          <p:cNvPr id="18" name="Image 6" descr="/tmp/claude-0/-home-user-riesgo/0ff9ff46-1396-5bd8-b3ac-2280dfbbbc55/scratchpad/work/gen/icons/lightbulb_nav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04558" y="3326130"/>
            <a:ext cx="525780" cy="525780"/>
          </a:xfrm>
          <a:prstGeom prst="rect">
            <a:avLst/>
          </a:prstGeom>
        </p:spPr>
      </p:pic>
      <p:sp>
        <p:nvSpPr>
          <p:cNvPr id="19" name="Text 10"/>
          <p:cNvSpPr txBox="1"/>
          <p:nvPr/>
        </p:nvSpPr>
        <p:spPr>
          <a:xfrm>
            <a:off x="6667348" y="42519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ACTÚO</a:t>
            </a:r>
            <a:endParaRPr lang="en-US" sz="1300" dirty="0"/>
          </a:p>
        </p:txBody>
      </p:sp>
      <p:pic>
        <p:nvPicPr>
          <p:cNvPr id="20" name="Image 7" descr="/tmp/claude-0/-home-user-riesgo/0ff9ff46-1396-5bd8-b3ac-2280dfbbbc55/scratchpad/work/gen/icons/arrow_right_gol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25232" y="3461004"/>
            <a:ext cx="256032" cy="256032"/>
          </a:xfrm>
          <a:prstGeom prst="rect">
            <a:avLst/>
          </a:prstGeom>
        </p:spPr>
      </p:pic>
      <p:sp>
        <p:nvSpPr>
          <p:cNvPr id="21" name="Shape 11"/>
          <p:cNvSpPr/>
          <p:nvPr/>
        </p:nvSpPr>
        <p:spPr>
          <a:xfrm>
            <a:off x="8313268" y="3063240"/>
            <a:ext cx="1051560" cy="1051560"/>
          </a:xfrm>
          <a:prstGeom prst="ellipse">
            <a:avLst/>
          </a:prstGeom>
          <a:solidFill>
            <a:srgbClr val="E3A73B"/>
          </a:solidFill>
          <a:ln/>
        </p:spPr>
      </p:sp>
      <p:pic>
        <p:nvPicPr>
          <p:cNvPr id="22" name="Image 8" descr="/tmp/claude-0/-home-user-riesgo/0ff9ff46-1396-5bd8-b3ac-2280dfbbbc55/scratchpad/work/gen/icons/megaphone_navy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76158" y="3326130"/>
            <a:ext cx="525780" cy="525780"/>
          </a:xfrm>
          <a:prstGeom prst="rect">
            <a:avLst/>
          </a:prstGeom>
        </p:spPr>
      </p:pic>
      <p:sp>
        <p:nvSpPr>
          <p:cNvPr id="23" name="Text 12"/>
          <p:cNvSpPr txBox="1"/>
          <p:nvPr/>
        </p:nvSpPr>
        <p:spPr>
          <a:xfrm>
            <a:off x="8038948" y="42519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REPORTO</a:t>
            </a:r>
            <a:endParaRPr lang="en-US" sz="1300" dirty="0"/>
          </a:p>
        </p:txBody>
      </p:sp>
      <p:sp>
        <p:nvSpPr>
          <p:cNvPr id="24" name="Text 13"/>
          <p:cNvSpPr txBox="1"/>
          <p:nvPr/>
        </p:nvSpPr>
        <p:spPr>
          <a:xfrm>
            <a:off x="640080" y="507492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spc="100" kern="0" dirty="0">
                <a:solidFill>
                  <a:srgbClr val="E3A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¿VES UN RIESGO?  ¡REPÓRTALO!</a:t>
            </a:r>
            <a:endParaRPr lang="en-US" sz="2000" dirty="0"/>
          </a:p>
        </p:txBody>
      </p:sp>
      <p:pic>
        <p:nvPicPr>
          <p:cNvPr id="25" name="Image 9" descr="/tmp/claude-0/-home-user-riesgo/0ff9ff46-1396-5bd8-b3ac-2280dfbbbc55/scratchpad/work/gen/logo_whit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18608" y="5779008"/>
            <a:ext cx="1554480" cy="436809"/>
          </a:xfrm>
          <a:prstGeom prst="rect">
            <a:avLst/>
          </a:prstGeom>
        </p:spPr>
      </p:pic>
      <p:sp>
        <p:nvSpPr>
          <p:cNvPr id="26" name="Text 14"/>
          <p:cNvSpPr txBox="1"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C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INTEGRAL DE RIESGOS  ·  COMEDICA DE R.L.</a:t>
            </a:r>
            <a:endParaRPr lang="en-US" sz="900" dirty="0"/>
          </a:p>
        </p:txBody>
      </p:sp>
      <p:sp>
        <p:nvSpPr>
          <p:cNvPr id="27" name="Text 15"/>
          <p:cNvSpPr txBox="1"/>
          <p:nvPr/>
        </p:nvSpPr>
        <p:spPr>
          <a:xfrm>
            <a:off x="11076127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C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33B6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3291840"/>
            <a:ext cx="5669280" cy="5669280"/>
          </a:xfrm>
          <a:prstGeom prst="ellipse">
            <a:avLst/>
          </a:prstGeom>
          <a:solidFill>
            <a:srgbClr val="0D284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68580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2E52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1965960"/>
            <a:ext cx="103601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riesgo que reportamos a tiempo</a:t>
            </a:r>
            <a:endParaRPr lang="en-US" sz="3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puede evitar un problema mañana.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3931920"/>
            <a:ext cx="9262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D7E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hacer de la gestión de riesgos parte de tu trabajo diario.</a:t>
            </a:r>
            <a:endParaRPr lang="en-US" sz="1500" dirty="0"/>
          </a:p>
        </p:txBody>
      </p:sp>
      <p:pic>
        <p:nvPicPr>
          <p:cNvPr id="6" name="Image 0" descr="/tmp/claude-0/-home-user-riesgo/0ff9ff46-1396-5bd8-b3ac-2280dfbbbc55/scratchpad/work/gen/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90008" y="5074920"/>
            <a:ext cx="2011680" cy="56528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14400" y="6172200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C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Departamento de Administración de Riesgos  ·  Capacitación anual 2025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COMEDICA DE R.L.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Gestión Integral de Riesgos — Capacitación 2025</dc:title>
  <dc:subject>Todos somos gestores de riesgos</dc:subject>
  <dc:creator>Departamento de Administración de Riesgos</dc:creator>
  <cp:lastModifiedBy>Departamento de Administración de Riesgos</cp:lastModifiedBy>
  <cp:revision>1</cp:revision>
  <dcterms:created xsi:type="dcterms:W3CDTF">2026-09-10T03:41:55Z</dcterms:created>
  <dcterms:modified xsi:type="dcterms:W3CDTF">2026-09-10T03:41:55Z</dcterms:modified>
</cp:coreProperties>
</file>