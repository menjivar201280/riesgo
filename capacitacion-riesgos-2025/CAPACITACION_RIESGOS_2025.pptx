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la bienvenida al grupo. Explica que el objetivo de hoy no es memorizar definiciones, sino construir una cultura real de gestión de riesgos: que cada persona salga pensando "yo también soy responsable". Menciona que habrá dinámicas, preguntas y casos prácticos durante toda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el recorrido de los 8 temas sin entrar en detalle todavía. Aclara que al final habrá casos integradores, una gran actividad final y un resumen de todos los riesgos vistos, y que la sesión es participativa: se espera que el grupo opine, vote y responda preguntas durante toda la capacitación.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30 segundos reales, con un cronómetro visible si es posible. Pide que levanten la mano o griten en voz alta conforme identifiquen riesgos, sin revelar todavía cuáles son. Genera expectativa antes de pasar a la siguiente diapositiva con las respuestas.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Repasa los 8 riesgos uno por uno. Pregunta cuántos identificó el grupo y felicita a quien más encontró. Cierra la apertura conectando: este mismo ejercicio de observación es el que deben aplicar todos los días en su puesto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el primer tema con la idea central de toda la capacitación: la gestión de riesgos no es tarea exclusiva de Administración de Riesgos, sino de cada colaborador. Ve verbo por verbo y pide un ejemplo concreto de cada uno aplicado al puesto de alguien en la sala. Deja que la frase final del recuadro azul respire unos segundos: es el cierre emocional del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este tema como uno de los más importantes de toda la capacitación: no basta con identificar un riesgo, hay que reportarlo; reportar no es "delatar", es proteger a la Cooperativa. Explica los 4 pasos con un ejemplo cotidiano: VEO (algo llama mi atención), IDENTIFICO (reconozco que es un riesgo real), ACTÚO (tomo una acción inmediata) y REPORTO (lo comunico por el canal institucional) — ninguno se puede saltar. Luego lee la situación en voz alta y da un minuto para que el grupo vote por A, B o C (a mano alzada) antes de avanzar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Revela la respuesta y compárala con la votación del grupo. Asegúrate de que todos vean y recuerden el canal institucional de reporte del recuadro inferior: es el dato más importante de esta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el riesgo operativo como algo cotidiano y concreto, no como un concepto técnico abstracto. Pide un ejemplo real de cada categoría, vivido por alguien del grupo o de la Cooperativa. Refuerza la frase del recuadro final y pausa unos segundos antes de avanzar al Tema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la reputación como un activo que se construye o se pierde con cada interacción. Recorre los 8 elementos y pregunta al grupo cuál consideran más vulnerable en su área de trabajo; prioriza los que generen más discusión. Deja que la frase del recuadro final respire unos segundos: el caso práctico de este tema (un asociado insatisfecho que se queja en redes sociales) aparece más adelante, en los Casos Integradores.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la diferencia entre error y fraude como el eje central de este tema — ambos deben reportarse, aunque el trasfondo sea distinto. Explica que la diferencia clave es la intención; la responsabilidad del colaborador no es "juzgar" cuál es cuál, sino documentar y reportar en ambos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cada situación y pide que el grupo vote ERROR o FRAUDE (a mano alzada) antes de pasar a la diapositiva de respuestas. No confirmes ni corrijas todavía.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 cada respuesta comparándola con la votación del grupo y explica brevemente el razonamiento (¿hubo intención de obtener un beneficio u ocultar algo, o fue una equivocación?). Cierra reforzando el recuadro final: documentar y reportar siempre, encubrir nunca. Pide ejemplos adicionales de señales de alerta que el grupo haya visto u oído, sin señalar a nadie en específico.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 desde el inicio que este tema busca corresponsabilidad, no señalar al área de Créditos: todos los que tocan el proceso influyen en el riesgo final. Recorre brevemente las 8 etapas y pregunta al grupo en qué etapa participan, aunque no trabajen directamente en Créditos. Deja que la respuesta del recuadro final impacte antes de explicarla. Cierra reforzando los tres pilares: corresponsabilidad (cada etapa depende de la calidad de la anterior), prevención (verificar a tiempo evita problemas costosos) y calidad del proceso (un expediente completo protege al asociado y a la Cooperativa). Evita que el cierre suene como una crítica al área de Créditos.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este tema como una aclaración simple de roles, no como una explicación burocrática. Recorre cada rol de izquierda a derecha con una frase corta sobre su función. El mensaje debe quedar corto y memorable: todos los roles se ven bajo el mismo mensaje de "todos somos responsables".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esquema explica cómo funciona la continuidad del trabajo cuando algo interrumpe la operación (en cumplimiento de la NRP-24). No profundices en la norma en sí: el objetivo es que el grupo entienda el proceso. Pregunta si alguien ha vivido una interrupción operativa (falla de sistemas, desastre natural, etc.) y cómo se resolvió. Deja que la frase del recuadro final respire unos segundos antes de avanzar.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ejemplo concreto de continuidad del negocio: cómo se decide si un servicio contratado con un proveedor externo es crítico. Recorre los 8 pasos con el grupo y detente en el punto de decisión (paso 2): si el servicio no podría afectar la continuidad, el proceso termina ahí (rama NO); si sí podría afectarla, se valida contra los 5 criterios del paso 3 antes de escalar a Riesgos. Menciona que el formulario RP-GG-F-213 es el instrumento oficial para documentar esa evaluación.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complemento del esquema anterior: mientras la lámina previa habla de continuidad del negocio (NRP-24), esta habla de riesgo ambiental y social en el otorgamiento de crédito (NRP-53). Recalca que nadie debe decidir solo la viabilidad ambiental de un crédito: el rol de todos es identificar señales de alerta y escalarlas según el procedimiento.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ejemplos ilustrativos de categorías de actividad que, en la práctica de instituciones financieras de la región, suelen asociarse a mayor riesgo ambiental o social — no es la clasificación oficial y cerrada de Comedica, que está definida en la Política de Riesgos Ambientales y Sociales (MA-GG-PL-004). El mensaje clave para el grupo: no se trata de memorizar una lista, sino de desarrollar el criterio para detectar la señal y saber a quién reportarla. Cierra el bloque de los 8 temas: lo que sigue es un resumen de todos los riesgos vistos, antes de los casos integradores.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resume todos los tipos de riesgo identificados a lo largo de la capacitación. Haz un repaso rápido pidiendo al grupo un ejemplo de cada uno desde su propio puesto de trabajo. Es el puente hacia los casos integradores, donde varios de estos riesgos aparecen combinados en una sola situación.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que estos 4 casos integran todos los temas vistos. Da 2-3 minutos para que el grupo (o equipos pequeños) discuta las 4 preguntas antes de pasar a la respuesta. No reveles todavía la solución.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 la respuesta con lo que discutió el grupo. Resalta que este caso conecta el Tema 3 (riesgo operativo) con la importancia de reportar del Tema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caso práctico del Tema 4 (reputación). Da tiempo de discusión en equipos antes de revelar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esta respuesta con el Tema 4 (reputación) visto anteriormente. Pregunta si alguien ha vivido una situación similar con un asociado.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caso es ambiguo a propósito: motiva al grupo a discutir qué harían ante la incertidumbre de no saber si es error o algo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Refuerza la idea clave del Tema 5: no le corresponde al colaborador decidir si es error o fraude, solo documentar y reportar.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este caso con el Tema 6 (riesgo crediticio) y su idea de corresponsabilidad a lo largo del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la sección de casos integradores. Pregunta si el grupo tiene algún caso real propio (sin mencionar nombres) que quiera compartir antes de pasar a la actividad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esta como la gran actividad de cierre. Genera energía y expectativa antes de iniciar el cronómetro. Da 30 segundos reales con un cronómetro visible. Motiva a que compitan entre sí por encontrar más riesgos que en la actividad de apertura del inicio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 los 9 riesgos uno por uno. Pregunta cuántos identificó cada persona y felicita a quien más encontró. Compara con el resultado de la actividad de apertura si el grupo lo recuerda.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 la secuencia VEO-IDENTIFICO-PREVENGO-ACTÚO-REPORTO en voz alta junto con el grupo, casi como un compromiso colectivo — es el resumen de toda la capacitación en cinco palabras. Luego cierra con la frase final y agradece la participación del grupo. Recuerda una vez más el canal institucional de reporte antes de terminar la sesión, y resuelve cualquier duda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2.png"/><Relationship Id="rId5" Type="http://schemas.openxmlformats.org/officeDocument/2006/relationships/image" Target="../media/image-13-5.png"/><Relationship Id="rId6" Type="http://schemas.openxmlformats.org/officeDocument/2006/relationships/image" Target="../media/image-13-2.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2.png"/><Relationship Id="rId11" Type="http://schemas.openxmlformats.org/officeDocument/2006/relationships/image" Target="../media/image-13-11.png"/><Relationship Id="rId12" Type="http://schemas.openxmlformats.org/officeDocument/2006/relationships/image" Target="../media/image-13-2.png"/><Relationship Id="rId13" Type="http://schemas.openxmlformats.org/officeDocument/2006/relationships/image" Target="../media/image-13-13.png"/><Relationship Id="rId14" Type="http://schemas.openxmlformats.org/officeDocument/2006/relationships/image" Target="../media/image-13-2.png"/><Relationship Id="rId15" Type="http://schemas.openxmlformats.org/officeDocument/2006/relationships/image" Target="../media/image-13-15.png"/><Relationship Id="rId16" Type="http://schemas.openxmlformats.org/officeDocument/2006/relationships/slideLayout" Target="../slideLayouts/slideLayout1.xml"/><Relationship Id="rId1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2.png"/><Relationship Id="rId5" Type="http://schemas.openxmlformats.org/officeDocument/2006/relationships/image" Target="../media/image-15-5.png"/><Relationship Id="rId6" Type="http://schemas.openxmlformats.org/officeDocument/2006/relationships/image" Target="../media/image-15-2.png"/><Relationship Id="rId7" Type="http://schemas.openxmlformats.org/officeDocument/2006/relationships/image" Target="../media/image-15-7.png"/><Relationship Id="rId8" Type="http://schemas.openxmlformats.org/officeDocument/2006/relationships/image" Target="../media/image-15-2.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2.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6.png"/><Relationship Id="rId8" Type="http://schemas.openxmlformats.org/officeDocument/2006/relationships/image" Target="../media/image-16-6.png"/><Relationship Id="rId9" Type="http://schemas.openxmlformats.org/officeDocument/2006/relationships/image" Target="../media/image-16-6.png"/><Relationship Id="rId10" Type="http://schemas.openxmlformats.org/officeDocument/2006/relationships/image" Target="../media/image-16-6.png"/><Relationship Id="rId11" Type="http://schemas.openxmlformats.org/officeDocument/2006/relationships/image" Target="../media/image-16-2.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3.png"/><Relationship Id="rId15" Type="http://schemas.openxmlformats.org/officeDocument/2006/relationships/image" Target="../media/image-16-15.png"/><Relationship Id="rId16" Type="http://schemas.openxmlformats.org/officeDocument/2006/relationships/image" Target="../media/image-16-2.png"/><Relationship Id="rId17" Type="http://schemas.openxmlformats.org/officeDocument/2006/relationships/image" Target="../media/image-16-17.png"/><Relationship Id="rId18" Type="http://schemas.openxmlformats.org/officeDocument/2006/relationships/image" Target="../media/image-16-2.png"/><Relationship Id="rId19" Type="http://schemas.openxmlformats.org/officeDocument/2006/relationships/image" Target="../media/image-16-19.png"/><Relationship Id="rId20" Type="http://schemas.openxmlformats.org/officeDocument/2006/relationships/image" Target="../media/image-16-2.png"/><Relationship Id="rId21" Type="http://schemas.openxmlformats.org/officeDocument/2006/relationships/image" Target="../media/image-16-21.png"/><Relationship Id="rId22" Type="http://schemas.openxmlformats.org/officeDocument/2006/relationships/slideLayout" Target="../slideLayouts/slideLayout1.xml"/><Relationship Id="rId2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2.png"/><Relationship Id="rId4" Type="http://schemas.openxmlformats.org/officeDocument/2006/relationships/image" Target="../media/image-20-2.png"/><Relationship Id="rId5" Type="http://schemas.openxmlformats.org/officeDocument/2006/relationships/image" Target="../media/image-20-2.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2.png"/><Relationship Id="rId4" Type="http://schemas.openxmlformats.org/officeDocument/2006/relationships/image" Target="../media/image-22-2.png"/><Relationship Id="rId5" Type="http://schemas.openxmlformats.org/officeDocument/2006/relationships/image" Target="../media/image-22-2.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2.png"/><Relationship Id="rId4" Type="http://schemas.openxmlformats.org/officeDocument/2006/relationships/image" Target="../media/image-24-2.png"/><Relationship Id="rId5" Type="http://schemas.openxmlformats.org/officeDocument/2006/relationships/image" Target="../media/image-24-2.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2.png"/><Relationship Id="rId4" Type="http://schemas.openxmlformats.org/officeDocument/2006/relationships/image" Target="../media/image-26-2.png"/><Relationship Id="rId5" Type="http://schemas.openxmlformats.org/officeDocument/2006/relationships/image" Target="../media/image-26-2.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slideLayout" Target="../slideLayouts/slideLayout1.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slideLayout" Target="../slideLayouts/slideLayout1.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2.png"/><Relationship Id="rId5" Type="http://schemas.openxmlformats.org/officeDocument/2006/relationships/image" Target="../media/image-30-5.png"/><Relationship Id="rId6" Type="http://schemas.openxmlformats.org/officeDocument/2006/relationships/image" Target="../media/image-30-2.png"/><Relationship Id="rId7" Type="http://schemas.openxmlformats.org/officeDocument/2006/relationships/image" Target="../media/image-30-7.png"/><Relationship Id="rId8" Type="http://schemas.openxmlformats.org/officeDocument/2006/relationships/image" Target="../media/image-30-2.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slideLayout" Target="../slideLayouts/slideLayout1.xml"/><Relationship Id="rId1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743200" y="4572000"/>
            <a:ext cx="5852160" cy="5852160"/>
          </a:xfrm>
          <a:prstGeom prst="ellipse">
            <a:avLst/>
          </a:prstGeom>
          <a:solidFill>
            <a:srgbClr val="F2F5F9"/>
          </a:solidFill>
          <a:ln/>
        </p:spPr>
      </p:sp>
      <p:sp>
        <p:nvSpPr>
          <p:cNvPr id="4" name="Text 1"/>
          <p:cNvSpPr txBox="1"/>
          <p:nvPr/>
        </p:nvSpPr>
        <p:spPr>
          <a:xfrm>
            <a:off x="868680" y="1280160"/>
            <a:ext cx="7315200" cy="365760"/>
          </a:xfrm>
          <a:prstGeom prst="rect">
            <a:avLst/>
          </a:prstGeom>
          <a:noFill/>
          <a:ln/>
        </p:spPr>
        <p:txBody>
          <a:bodyPr wrap="square" lIns="0" tIns="0" rIns="0" bIns="0" rtlCol="0" anchor="ctr"/>
          <a:lstStyle/>
          <a:p>
            <a:pPr indent="0" marL="0">
              <a:buNone/>
            </a:pPr>
            <a:r>
              <a:rPr lang="en-US" sz="1500" b="1" spc="300" kern="0" dirty="0">
                <a:solidFill>
                  <a:srgbClr val="2E86C7"/>
                </a:solidFill>
                <a:latin typeface="Calibri" pitchFamily="34" charset="0"/>
                <a:ea typeface="Calibri" pitchFamily="34" charset="-122"/>
                <a:cs typeface="Calibri" pitchFamily="34" charset="-120"/>
              </a:rPr>
              <a:t>CAPACITACIÓN ANUAL 2025</a:t>
            </a:r>
            <a:endParaRPr lang="en-US" sz="1500" dirty="0"/>
          </a:p>
        </p:txBody>
      </p:sp>
      <p:sp>
        <p:nvSpPr>
          <p:cNvPr id="5" name="Text 2"/>
          <p:cNvSpPr txBox="1"/>
          <p:nvPr/>
        </p:nvSpPr>
        <p:spPr>
          <a:xfrm>
            <a:off x="822960" y="1737360"/>
            <a:ext cx="7863840" cy="1874520"/>
          </a:xfrm>
          <a:prstGeom prst="rect">
            <a:avLst/>
          </a:prstGeom>
          <a:noFill/>
          <a:ln/>
        </p:spPr>
        <p:txBody>
          <a:bodyPr wrap="square" lIns="0" tIns="0" rIns="0" bIns="0" rtlCol="0" anchor="ctr"/>
          <a:lstStyle/>
          <a:p>
            <a:pPr indent="0" marL="0">
              <a:lnSpc>
                <a:spcPct val="103000"/>
              </a:lnSpc>
              <a:buNone/>
            </a:pPr>
            <a:r>
              <a:rPr lang="en-US" sz="4600" b="1" dirty="0">
                <a:solidFill>
                  <a:srgbClr val="133B6C"/>
                </a:solidFill>
                <a:latin typeface="Cambria" pitchFamily="34" charset="0"/>
                <a:ea typeface="Cambria" pitchFamily="34" charset="-122"/>
                <a:cs typeface="Cambria" pitchFamily="34" charset="-120"/>
              </a:rPr>
              <a:t>GESTIÓN INTEGRAL</a:t>
            </a:r>
            <a:endParaRPr lang="en-US" sz="4600" dirty="0"/>
          </a:p>
          <a:p>
            <a:pPr indent="0" marL="0">
              <a:lnSpc>
                <a:spcPct val="103000"/>
              </a:lnSpc>
              <a:buNone/>
            </a:pPr>
            <a:r>
              <a:rPr lang="en-US" sz="4600" b="1" dirty="0">
                <a:solidFill>
                  <a:srgbClr val="133B6C"/>
                </a:solidFill>
                <a:latin typeface="Cambria" pitchFamily="34" charset="0"/>
                <a:ea typeface="Cambria" pitchFamily="34" charset="-122"/>
                <a:cs typeface="Cambria" pitchFamily="34" charset="-120"/>
              </a:rPr>
              <a:t>DE RIESGOS</a:t>
            </a:r>
            <a:endParaRPr lang="en-US" sz="4600" dirty="0"/>
          </a:p>
        </p:txBody>
      </p:sp>
      <p:sp>
        <p:nvSpPr>
          <p:cNvPr id="6" name="Text 3"/>
          <p:cNvSpPr txBox="1"/>
          <p:nvPr/>
        </p:nvSpPr>
        <p:spPr>
          <a:xfrm>
            <a:off x="868680" y="3657600"/>
            <a:ext cx="7680960" cy="502920"/>
          </a:xfrm>
          <a:prstGeom prst="rect">
            <a:avLst/>
          </a:prstGeom>
          <a:noFill/>
          <a:ln/>
        </p:spPr>
        <p:txBody>
          <a:bodyPr wrap="square" lIns="0" tIns="0" rIns="0" bIns="0" rtlCol="0" anchor="ctr"/>
          <a:lstStyle/>
          <a:p>
            <a:pPr indent="0" marL="0">
              <a:buNone/>
            </a:pPr>
            <a:r>
              <a:rPr lang="en-US" sz="1900" b="1" spc="150" kern="0" dirty="0">
                <a:solidFill>
                  <a:srgbClr val="243044"/>
                </a:solidFill>
                <a:latin typeface="Calibri" pitchFamily="34" charset="0"/>
                <a:ea typeface="Calibri" pitchFamily="34" charset="-122"/>
                <a:cs typeface="Calibri" pitchFamily="34" charset="-120"/>
              </a:rPr>
              <a:t>TODOS SOMOS GESTORES DE RIESGOS</a:t>
            </a:r>
            <a:endParaRPr lang="en-US" sz="1900" dirty="0"/>
          </a:p>
        </p:txBody>
      </p:sp>
      <p:sp>
        <p:nvSpPr>
          <p:cNvPr id="7" name="Text 4"/>
          <p:cNvSpPr txBox="1"/>
          <p:nvPr/>
        </p:nvSpPr>
        <p:spPr>
          <a:xfrm>
            <a:off x="868680" y="4480560"/>
            <a:ext cx="6400800" cy="320040"/>
          </a:xfrm>
          <a:prstGeom prst="rect">
            <a:avLst/>
          </a:prstGeom>
          <a:noFill/>
          <a:ln/>
        </p:spPr>
        <p:txBody>
          <a:bodyPr wrap="square" lIns="0" tIns="0" rIns="0" bIns="0" rtlCol="0" anchor="ctr"/>
          <a:lstStyle/>
          <a:p>
            <a:pPr indent="0" marL="0">
              <a:buNone/>
            </a:pPr>
            <a:r>
              <a:rPr lang="en-US" sz="1300" dirty="0">
                <a:solidFill>
                  <a:srgbClr val="5B6B82"/>
                </a:solidFill>
                <a:latin typeface="Calibri" pitchFamily="34" charset="0"/>
                <a:ea typeface="Calibri" pitchFamily="34" charset="-122"/>
                <a:cs typeface="Calibri" pitchFamily="34" charset="-120"/>
              </a:rPr>
              <a:t>Departamento de Administración de Riesgos</a:t>
            </a:r>
            <a:endParaRPr lang="en-US" sz="1300" dirty="0"/>
          </a:p>
        </p:txBody>
      </p:sp>
      <p:sp>
        <p:nvSpPr>
          <p:cNvPr id="8" name="Text 5"/>
          <p:cNvSpPr txBox="1"/>
          <p:nvPr/>
        </p:nvSpPr>
        <p:spPr>
          <a:xfrm>
            <a:off x="868680" y="4800600"/>
            <a:ext cx="6400800" cy="320040"/>
          </a:xfrm>
          <a:prstGeom prst="rect">
            <a:avLst/>
          </a:prstGeom>
          <a:noFill/>
          <a:ln/>
        </p:spPr>
        <p:txBody>
          <a:bodyPr wrap="square" lIns="0" tIns="0" rIns="0" bIns="0" rtlCol="0" anchor="ctr"/>
          <a:lstStyle/>
          <a:p>
            <a:pPr indent="0" marL="0">
              <a:buNone/>
            </a:pPr>
            <a:r>
              <a:rPr lang="en-US" sz="1300" i="1" dirty="0">
                <a:solidFill>
                  <a:srgbClr val="2E86C7"/>
                </a:solidFill>
                <a:latin typeface="Calibri" pitchFamily="34" charset="0"/>
                <a:ea typeface="Calibri" pitchFamily="34" charset="-122"/>
                <a:cs typeface="Calibri" pitchFamily="34" charset="-120"/>
              </a:rPr>
              <a:t>Identificar · Prevenir · Reducir</a:t>
            </a:r>
            <a:endParaRPr lang="en-US" sz="1300" dirty="0"/>
          </a:p>
        </p:txBody>
      </p:sp>
      <p:sp>
        <p:nvSpPr>
          <p:cNvPr id="9" name="Shape 6"/>
          <p:cNvSpPr/>
          <p:nvPr/>
        </p:nvSpPr>
        <p:spPr>
          <a:xfrm>
            <a:off x="10195560" y="-548640"/>
            <a:ext cx="2743200" cy="2743200"/>
          </a:xfrm>
          <a:prstGeom prst="ellipse">
            <a:avLst/>
          </a:prstGeom>
          <a:solidFill>
            <a:srgbClr val="8CBCE0"/>
          </a:solidFill>
          <a:ln/>
        </p:spPr>
      </p:sp>
      <p:sp>
        <p:nvSpPr>
          <p:cNvPr id="10" name="Shape 7"/>
          <p:cNvSpPr/>
          <p:nvPr/>
        </p:nvSpPr>
        <p:spPr>
          <a:xfrm>
            <a:off x="8366760" y="640080"/>
            <a:ext cx="3383280" cy="5257800"/>
          </a:xfrm>
          <a:prstGeom prst="roundRect">
            <a:avLst>
              <a:gd name="adj" fmla="val 12162"/>
            </a:avLst>
          </a:prstGeom>
          <a:solidFill>
            <a:srgbClr val="2E86C7"/>
          </a:solidFill>
          <a:ln/>
        </p:spPr>
      </p:sp>
      <p:sp>
        <p:nvSpPr>
          <p:cNvPr id="11" name="Shape 8"/>
          <p:cNvSpPr/>
          <p:nvPr/>
        </p:nvSpPr>
        <p:spPr>
          <a:xfrm>
            <a:off x="9280246" y="2262226"/>
            <a:ext cx="1556309" cy="1556309"/>
          </a:xfrm>
          <a:prstGeom prst="ellipse">
            <a:avLst/>
          </a:prstGeom>
          <a:solidFill>
            <a:srgbClr val="FFFFFF"/>
          </a:solidFill>
          <a:ln/>
          <a:effectLst>
            <a:outerShdw sx="100000" sy="100000" kx="0" ky="0" algn="bl" rotWithShape="0" blurRad="127000" dist="38100" dir="5400000">
              <a:srgbClr val="17223A">
                <a:alpha val="18000"/>
              </a:srgbClr>
            </a:outerShdw>
          </a:effectLst>
        </p:spPr>
      </p:sp>
      <p:pic>
        <p:nvPicPr>
          <p:cNvPr id="12" name="Image 0" descr="/tmp/claude-0/-home-user-riesgo/0ff9ff46-1396-5bd8-b3ac-2280dfbbbc55/scratchpad/work/gen/icons/shield_check_navy.png">    </p:cNvPr>
          <p:cNvPicPr>
            <a:picLocks noChangeAspect="1"/>
          </p:cNvPicPr>
          <p:nvPr/>
        </p:nvPicPr>
        <p:blipFill>
          <a:blip r:embed="rId1"/>
          <a:stretch>
            <a:fillRect/>
          </a:stretch>
        </p:blipFill>
        <p:spPr>
          <a:xfrm>
            <a:off x="9716012" y="2697992"/>
            <a:ext cx="684776" cy="684776"/>
          </a:xfrm>
          <a:prstGeom prst="rect">
            <a:avLst/>
          </a:prstGeom>
        </p:spPr>
      </p:pic>
      <p:sp>
        <p:nvSpPr>
          <p:cNvPr id="13" name="Shape 9"/>
          <p:cNvSpPr/>
          <p:nvPr/>
        </p:nvSpPr>
        <p:spPr>
          <a:xfrm>
            <a:off x="8117751" y="5236449"/>
            <a:ext cx="778154" cy="778154"/>
          </a:xfrm>
          <a:prstGeom prst="ellipse">
            <a:avLst/>
          </a:prstGeom>
          <a:solidFill>
            <a:srgbClr val="133B6C"/>
          </a:solidFill>
          <a:ln/>
          <a:effectLst>
            <a:outerShdw sx="100000" sy="100000" kx="0" ky="0" algn="bl" rotWithShape="0" blurRad="127000" dist="38100" dir="5400000">
              <a:srgbClr val="17223A">
                <a:alpha val="18000"/>
              </a:srgbClr>
            </a:outerShdw>
          </a:effectLst>
        </p:spPr>
      </p:sp>
      <p:pic>
        <p:nvPicPr>
          <p:cNvPr id="14" name="Image 1" descr="/tmp/claude-0/-home-user-riesgo/0ff9ff46-1396-5bd8-b3ac-2280dfbbbc55/scratchpad/work/gen/icons/handshake_white.png">    </p:cNvPr>
          <p:cNvPicPr>
            <a:picLocks noChangeAspect="1"/>
          </p:cNvPicPr>
          <p:nvPr/>
        </p:nvPicPr>
        <p:blipFill>
          <a:blip r:embed="rId2"/>
          <a:stretch>
            <a:fillRect/>
          </a:stretch>
        </p:blipFill>
        <p:spPr>
          <a:xfrm>
            <a:off x="8320071" y="5438769"/>
            <a:ext cx="373514" cy="373514"/>
          </a:xfrm>
          <a:prstGeom prst="rect">
            <a:avLst/>
          </a:prstGeom>
        </p:spPr>
      </p:pic>
      <p:pic>
        <p:nvPicPr>
          <p:cNvPr id="15" name="Image 2" descr="/tmp/claude-0/-home-user-riesgo/0ff9ff46-1396-5bd8-b3ac-2280dfbbbc55/scratchpad/work/gen/logo_navy.png">    </p:cNvPr>
          <p:cNvPicPr>
            <a:picLocks noChangeAspect="1"/>
          </p:cNvPicPr>
          <p:nvPr/>
        </p:nvPicPr>
        <p:blipFill>
          <a:blip r:embed="rId3"/>
          <a:stretch>
            <a:fillRect/>
          </a:stretch>
        </p:blipFill>
        <p:spPr>
          <a:xfrm>
            <a:off x="868680" y="5779008"/>
            <a:ext cx="1691640" cy="475351"/>
          </a:xfrm>
          <a:prstGeom prst="rect">
            <a:avLst/>
          </a:prstGeom>
        </p:spPr>
      </p:pic>
      <p:sp>
        <p:nvSpPr>
          <p:cNvPr id="16" name="Text 10"/>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17" name="Text 11"/>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a:t>
            </a:r>
            <a:endParaRPr lang="en-US" sz="9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86C7"/>
                </a:solidFill>
                <a:latin typeface="Calibri" pitchFamily="34" charset="0"/>
                <a:ea typeface="Calibri" pitchFamily="34" charset="-122"/>
                <a:cs typeface="Calibri" pitchFamily="34" charset="-120"/>
              </a:rPr>
              <a:t>CAPACITACIÓN 2025</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3000" b="1" dirty="0">
                <a:solidFill>
                  <a:srgbClr val="133B6C"/>
                </a:solidFill>
                <a:latin typeface="Cambria" pitchFamily="34" charset="0"/>
                <a:ea typeface="Cambria" pitchFamily="34" charset="-122"/>
                <a:cs typeface="Cambria" pitchFamily="34" charset="-120"/>
              </a:rPr>
              <a:t>NUESTRO RECORRIDO</a:t>
            </a:r>
            <a:endParaRPr lang="en-US" sz="30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Ocho temas para construir, entre todos, una cultura real de gestión de riesgos.</a:t>
            </a:r>
            <a:endParaRPr lang="en-US" sz="1500" dirty="0"/>
          </a:p>
        </p:txBody>
      </p:sp>
      <p:sp>
        <p:nvSpPr>
          <p:cNvPr id="6" name="Shape 3"/>
          <p:cNvSpPr/>
          <p:nvPr/>
        </p:nvSpPr>
        <p:spPr>
          <a:xfrm>
            <a:off x="566928" y="1993392"/>
            <a:ext cx="5349240" cy="868680"/>
          </a:xfrm>
          <a:prstGeom prst="roundRect">
            <a:avLst>
              <a:gd name="adj" fmla="val 9474"/>
            </a:avLst>
          </a:prstGeom>
          <a:solidFill>
            <a:srgbClr val="F2F5F9"/>
          </a:solidFill>
          <a:ln/>
        </p:spPr>
      </p:sp>
      <p:sp>
        <p:nvSpPr>
          <p:cNvPr id="7" name="Shape 4"/>
          <p:cNvSpPr/>
          <p:nvPr/>
        </p:nvSpPr>
        <p:spPr>
          <a:xfrm>
            <a:off x="731520" y="2116836"/>
            <a:ext cx="621792" cy="621792"/>
          </a:xfrm>
          <a:prstGeom prst="ellipse">
            <a:avLst/>
          </a:prstGeom>
          <a:solidFill>
            <a:srgbClr val="4FA8E0"/>
          </a:solidFill>
          <a:ln/>
        </p:spPr>
      </p:sp>
      <p:pic>
        <p:nvPicPr>
          <p:cNvPr id="8" name="Image 0" descr="/tmp/claude-0/-home-user-riesgo/0ff9ff46-1396-5bd8-b3ac-2280dfbbbc55/scratchpad/work/gen/icons/people_group_white.png">    </p:cNvPr>
          <p:cNvPicPr>
            <a:picLocks noChangeAspect="1"/>
          </p:cNvPicPr>
          <p:nvPr/>
        </p:nvPicPr>
        <p:blipFill>
          <a:blip r:embed="rId1"/>
          <a:stretch>
            <a:fillRect/>
          </a:stretch>
        </p:blipFill>
        <p:spPr>
          <a:xfrm>
            <a:off x="886968" y="2272284"/>
            <a:ext cx="310896" cy="310896"/>
          </a:xfrm>
          <a:prstGeom prst="rect">
            <a:avLst/>
          </a:prstGeom>
        </p:spPr>
      </p:pic>
      <p:sp>
        <p:nvSpPr>
          <p:cNvPr id="9" name="Text 5"/>
          <p:cNvSpPr txBox="1"/>
          <p:nvPr/>
        </p:nvSpPr>
        <p:spPr>
          <a:xfrm>
            <a:off x="1463040" y="2066544"/>
            <a:ext cx="548640" cy="274320"/>
          </a:xfrm>
          <a:prstGeom prst="rect">
            <a:avLst/>
          </a:prstGeom>
          <a:noFill/>
          <a:ln/>
        </p:spPr>
        <p:txBody>
          <a:bodyPr wrap="square" lIns="0" tIns="0" rIns="0" bIns="0" rtlCol="0" anchor="ctr"/>
          <a:lstStyle/>
          <a:p>
            <a:pPr indent="0" marL="0">
              <a:buNone/>
            </a:pPr>
            <a:r>
              <a:rPr lang="en-US" sz="1300" b="1" dirty="0">
                <a:solidFill>
                  <a:srgbClr val="4FA8E0"/>
                </a:solidFill>
                <a:latin typeface="Cambria" pitchFamily="34" charset="0"/>
                <a:ea typeface="Cambria" pitchFamily="34" charset="-122"/>
                <a:cs typeface="Cambria" pitchFamily="34" charset="-120"/>
              </a:rPr>
              <a:t>01</a:t>
            </a:r>
            <a:endParaRPr lang="en-US" sz="1300" dirty="0"/>
          </a:p>
        </p:txBody>
      </p:sp>
      <p:sp>
        <p:nvSpPr>
          <p:cNvPr id="10" name="Text 6"/>
          <p:cNvSpPr txBox="1"/>
          <p:nvPr/>
        </p:nvSpPr>
        <p:spPr>
          <a:xfrm>
            <a:off x="1463040" y="2304288"/>
            <a:ext cx="4270248" cy="502920"/>
          </a:xfrm>
          <a:prstGeom prst="rect">
            <a:avLst/>
          </a:prstGeom>
          <a:noFill/>
          <a:ln/>
        </p:spPr>
        <p:txBody>
          <a:bodyPr wrap="square" lIns="0" tIns="0" rIns="0" bIns="0" rtlCol="0" anchor="ctr"/>
          <a:lstStyle/>
          <a:p>
            <a:pPr indent="0" marL="0">
              <a:lnSpc>
                <a:spcPct val="98000"/>
              </a:lnSpc>
              <a:buNone/>
            </a:pPr>
            <a:r>
              <a:rPr lang="en-US" sz="1150" b="1" dirty="0">
                <a:solidFill>
                  <a:srgbClr val="133B6C"/>
                </a:solidFill>
                <a:latin typeface="Calibri" pitchFamily="34" charset="0"/>
                <a:ea typeface="Calibri" pitchFamily="34" charset="-122"/>
                <a:cs typeface="Calibri" pitchFamily="34" charset="-120"/>
              </a:rPr>
              <a:t>TODOS SOMOS GESTORES DE RIESGOS</a:t>
            </a:r>
            <a:endParaRPr lang="en-US" sz="1150" dirty="0"/>
          </a:p>
        </p:txBody>
      </p:sp>
      <p:sp>
        <p:nvSpPr>
          <p:cNvPr id="11" name="Shape 7"/>
          <p:cNvSpPr/>
          <p:nvPr/>
        </p:nvSpPr>
        <p:spPr>
          <a:xfrm>
            <a:off x="6236208" y="1993392"/>
            <a:ext cx="5349240" cy="868680"/>
          </a:xfrm>
          <a:prstGeom prst="roundRect">
            <a:avLst>
              <a:gd name="adj" fmla="val 9474"/>
            </a:avLst>
          </a:prstGeom>
          <a:solidFill>
            <a:srgbClr val="F2F5F9"/>
          </a:solidFill>
          <a:ln/>
        </p:spPr>
      </p:sp>
      <p:sp>
        <p:nvSpPr>
          <p:cNvPr id="12" name="Shape 8"/>
          <p:cNvSpPr/>
          <p:nvPr/>
        </p:nvSpPr>
        <p:spPr>
          <a:xfrm>
            <a:off x="6400800" y="2116836"/>
            <a:ext cx="621792" cy="621792"/>
          </a:xfrm>
          <a:prstGeom prst="ellipse">
            <a:avLst/>
          </a:prstGeom>
          <a:solidFill>
            <a:srgbClr val="2E86C7"/>
          </a:solidFill>
          <a:ln/>
        </p:spPr>
      </p:sp>
      <p:pic>
        <p:nvPicPr>
          <p:cNvPr id="13" name="Image 1" descr="/tmp/claude-0/-home-user-riesgo/0ff9ff46-1396-5bd8-b3ac-2280dfbbbc55/scratchpad/work/gen/icons/megaphone_white.png">    </p:cNvPr>
          <p:cNvPicPr>
            <a:picLocks noChangeAspect="1"/>
          </p:cNvPicPr>
          <p:nvPr/>
        </p:nvPicPr>
        <p:blipFill>
          <a:blip r:embed="rId2"/>
          <a:stretch>
            <a:fillRect/>
          </a:stretch>
        </p:blipFill>
        <p:spPr>
          <a:xfrm>
            <a:off x="6556248" y="2272284"/>
            <a:ext cx="310896" cy="310896"/>
          </a:xfrm>
          <a:prstGeom prst="rect">
            <a:avLst/>
          </a:prstGeom>
        </p:spPr>
      </p:pic>
      <p:sp>
        <p:nvSpPr>
          <p:cNvPr id="14" name="Text 9"/>
          <p:cNvSpPr txBox="1"/>
          <p:nvPr/>
        </p:nvSpPr>
        <p:spPr>
          <a:xfrm>
            <a:off x="7132320" y="2066544"/>
            <a:ext cx="548640" cy="274320"/>
          </a:xfrm>
          <a:prstGeom prst="rect">
            <a:avLst/>
          </a:prstGeom>
          <a:noFill/>
          <a:ln/>
        </p:spPr>
        <p:txBody>
          <a:bodyPr wrap="square" lIns="0" tIns="0" rIns="0" bIns="0" rtlCol="0" anchor="ctr"/>
          <a:lstStyle/>
          <a:p>
            <a:pPr indent="0" marL="0">
              <a:buNone/>
            </a:pPr>
            <a:r>
              <a:rPr lang="en-US" sz="1300" b="1" dirty="0">
                <a:solidFill>
                  <a:srgbClr val="2E86C7"/>
                </a:solidFill>
                <a:latin typeface="Cambria" pitchFamily="34" charset="0"/>
                <a:ea typeface="Cambria" pitchFamily="34" charset="-122"/>
                <a:cs typeface="Cambria" pitchFamily="34" charset="-120"/>
              </a:rPr>
              <a:t>02</a:t>
            </a:r>
            <a:endParaRPr lang="en-US" sz="1300" dirty="0"/>
          </a:p>
        </p:txBody>
      </p:sp>
      <p:sp>
        <p:nvSpPr>
          <p:cNvPr id="15" name="Text 10"/>
          <p:cNvSpPr txBox="1"/>
          <p:nvPr/>
        </p:nvSpPr>
        <p:spPr>
          <a:xfrm>
            <a:off x="7132320" y="2304288"/>
            <a:ext cx="4270248" cy="502920"/>
          </a:xfrm>
          <a:prstGeom prst="rect">
            <a:avLst/>
          </a:prstGeom>
          <a:noFill/>
          <a:ln/>
        </p:spPr>
        <p:txBody>
          <a:bodyPr wrap="square" lIns="0" tIns="0" rIns="0" bIns="0" rtlCol="0" anchor="ctr"/>
          <a:lstStyle/>
          <a:p>
            <a:pPr indent="0" marL="0">
              <a:lnSpc>
                <a:spcPct val="98000"/>
              </a:lnSpc>
              <a:buNone/>
            </a:pPr>
            <a:r>
              <a:rPr lang="en-US" sz="1150" b="1" dirty="0">
                <a:solidFill>
                  <a:srgbClr val="133B6C"/>
                </a:solidFill>
                <a:latin typeface="Calibri" pitchFamily="34" charset="0"/>
                <a:ea typeface="Calibri" pitchFamily="34" charset="-122"/>
                <a:cs typeface="Calibri" pitchFamily="34" charset="-120"/>
              </a:rPr>
              <a:t>¿VES UN RIESGO? ¡REPÓRTALO!</a:t>
            </a:r>
            <a:endParaRPr lang="en-US" sz="1150" dirty="0"/>
          </a:p>
        </p:txBody>
      </p:sp>
      <p:sp>
        <p:nvSpPr>
          <p:cNvPr id="16" name="Shape 11"/>
          <p:cNvSpPr/>
          <p:nvPr/>
        </p:nvSpPr>
        <p:spPr>
          <a:xfrm>
            <a:off x="566928" y="2980944"/>
            <a:ext cx="5349240" cy="868680"/>
          </a:xfrm>
          <a:prstGeom prst="roundRect">
            <a:avLst>
              <a:gd name="adj" fmla="val 9474"/>
            </a:avLst>
          </a:prstGeom>
          <a:solidFill>
            <a:srgbClr val="F2F5F9"/>
          </a:solidFill>
          <a:ln/>
        </p:spPr>
      </p:sp>
      <p:sp>
        <p:nvSpPr>
          <p:cNvPr id="17" name="Shape 12"/>
          <p:cNvSpPr/>
          <p:nvPr/>
        </p:nvSpPr>
        <p:spPr>
          <a:xfrm>
            <a:off x="731520" y="3104388"/>
            <a:ext cx="621792" cy="621792"/>
          </a:xfrm>
          <a:prstGeom prst="ellipse">
            <a:avLst/>
          </a:prstGeom>
          <a:solidFill>
            <a:srgbClr val="17A9B0"/>
          </a:solidFill>
          <a:ln/>
        </p:spPr>
      </p:sp>
      <p:pic>
        <p:nvPicPr>
          <p:cNvPr id="18" name="Image 2" descr="/tmp/claude-0/-home-user-riesgo/0ff9ff46-1396-5bd8-b3ac-2280dfbbbc55/scratchpad/work/gen/icons/gears_white.png">    </p:cNvPr>
          <p:cNvPicPr>
            <a:picLocks noChangeAspect="1"/>
          </p:cNvPicPr>
          <p:nvPr/>
        </p:nvPicPr>
        <p:blipFill>
          <a:blip r:embed="rId3"/>
          <a:stretch>
            <a:fillRect/>
          </a:stretch>
        </p:blipFill>
        <p:spPr>
          <a:xfrm>
            <a:off x="886968" y="3259836"/>
            <a:ext cx="310896" cy="310896"/>
          </a:xfrm>
          <a:prstGeom prst="rect">
            <a:avLst/>
          </a:prstGeom>
        </p:spPr>
      </p:pic>
      <p:sp>
        <p:nvSpPr>
          <p:cNvPr id="19" name="Text 13"/>
          <p:cNvSpPr txBox="1"/>
          <p:nvPr/>
        </p:nvSpPr>
        <p:spPr>
          <a:xfrm>
            <a:off x="1463040" y="3054096"/>
            <a:ext cx="548640" cy="274320"/>
          </a:xfrm>
          <a:prstGeom prst="rect">
            <a:avLst/>
          </a:prstGeom>
          <a:noFill/>
          <a:ln/>
        </p:spPr>
        <p:txBody>
          <a:bodyPr wrap="square" lIns="0" tIns="0" rIns="0" bIns="0" rtlCol="0" anchor="ctr"/>
          <a:lstStyle/>
          <a:p>
            <a:pPr indent="0" marL="0">
              <a:buNone/>
            </a:pPr>
            <a:r>
              <a:rPr lang="en-US" sz="1300" b="1" dirty="0">
                <a:solidFill>
                  <a:srgbClr val="17A9B0"/>
                </a:solidFill>
                <a:latin typeface="Cambria" pitchFamily="34" charset="0"/>
                <a:ea typeface="Cambria" pitchFamily="34" charset="-122"/>
                <a:cs typeface="Cambria" pitchFamily="34" charset="-120"/>
              </a:rPr>
              <a:t>03</a:t>
            </a:r>
            <a:endParaRPr lang="en-US" sz="1300" dirty="0"/>
          </a:p>
        </p:txBody>
      </p:sp>
      <p:sp>
        <p:nvSpPr>
          <p:cNvPr id="20" name="Text 14"/>
          <p:cNvSpPr txBox="1"/>
          <p:nvPr/>
        </p:nvSpPr>
        <p:spPr>
          <a:xfrm>
            <a:off x="1463040" y="3291840"/>
            <a:ext cx="4270248" cy="502920"/>
          </a:xfrm>
          <a:prstGeom prst="rect">
            <a:avLst/>
          </a:prstGeom>
          <a:noFill/>
          <a:ln/>
        </p:spPr>
        <p:txBody>
          <a:bodyPr wrap="square" lIns="0" tIns="0" rIns="0" bIns="0" rtlCol="0" anchor="ctr"/>
          <a:lstStyle/>
          <a:p>
            <a:pPr indent="0" marL="0">
              <a:lnSpc>
                <a:spcPct val="98000"/>
              </a:lnSpc>
              <a:buNone/>
            </a:pPr>
            <a:r>
              <a:rPr lang="en-US" sz="1150" b="1" dirty="0">
                <a:solidFill>
                  <a:srgbClr val="133B6C"/>
                </a:solidFill>
                <a:latin typeface="Calibri" pitchFamily="34" charset="0"/>
                <a:ea typeface="Calibri" pitchFamily="34" charset="-122"/>
                <a:cs typeface="Calibri" pitchFamily="34" charset="-120"/>
              </a:rPr>
              <a:t>LOS RIESGOS OPERATIVOS ESTÁN EN NUESTRO DÍA A DÍA</a:t>
            </a:r>
            <a:endParaRPr lang="en-US" sz="1150" dirty="0"/>
          </a:p>
        </p:txBody>
      </p:sp>
      <p:sp>
        <p:nvSpPr>
          <p:cNvPr id="21" name="Shape 15"/>
          <p:cNvSpPr/>
          <p:nvPr/>
        </p:nvSpPr>
        <p:spPr>
          <a:xfrm>
            <a:off x="6236208" y="2980944"/>
            <a:ext cx="5349240" cy="868680"/>
          </a:xfrm>
          <a:prstGeom prst="roundRect">
            <a:avLst>
              <a:gd name="adj" fmla="val 9474"/>
            </a:avLst>
          </a:prstGeom>
          <a:solidFill>
            <a:srgbClr val="F2F5F9"/>
          </a:solidFill>
          <a:ln/>
        </p:spPr>
      </p:sp>
      <p:sp>
        <p:nvSpPr>
          <p:cNvPr id="22" name="Shape 16"/>
          <p:cNvSpPr/>
          <p:nvPr/>
        </p:nvSpPr>
        <p:spPr>
          <a:xfrm>
            <a:off x="6400800" y="3104388"/>
            <a:ext cx="621792" cy="621792"/>
          </a:xfrm>
          <a:prstGeom prst="ellipse">
            <a:avLst/>
          </a:prstGeom>
          <a:solidFill>
            <a:srgbClr val="3A6EA5"/>
          </a:solidFill>
          <a:ln/>
        </p:spPr>
      </p:sp>
      <p:pic>
        <p:nvPicPr>
          <p:cNvPr id="23" name="Image 3" descr="/tmp/claude-0/-home-user-riesgo/0ff9ff46-1396-5bd8-b3ac-2280dfbbbc55/scratchpad/work/gen/icons/star_white.png">    </p:cNvPr>
          <p:cNvPicPr>
            <a:picLocks noChangeAspect="1"/>
          </p:cNvPicPr>
          <p:nvPr/>
        </p:nvPicPr>
        <p:blipFill>
          <a:blip r:embed="rId4"/>
          <a:stretch>
            <a:fillRect/>
          </a:stretch>
        </p:blipFill>
        <p:spPr>
          <a:xfrm>
            <a:off x="6556248" y="3259836"/>
            <a:ext cx="310896" cy="310896"/>
          </a:xfrm>
          <a:prstGeom prst="rect">
            <a:avLst/>
          </a:prstGeom>
        </p:spPr>
      </p:pic>
      <p:sp>
        <p:nvSpPr>
          <p:cNvPr id="24" name="Text 17"/>
          <p:cNvSpPr txBox="1"/>
          <p:nvPr/>
        </p:nvSpPr>
        <p:spPr>
          <a:xfrm>
            <a:off x="7132320" y="3054096"/>
            <a:ext cx="548640" cy="274320"/>
          </a:xfrm>
          <a:prstGeom prst="rect">
            <a:avLst/>
          </a:prstGeom>
          <a:noFill/>
          <a:ln/>
        </p:spPr>
        <p:txBody>
          <a:bodyPr wrap="square" lIns="0" tIns="0" rIns="0" bIns="0" rtlCol="0" anchor="ctr"/>
          <a:lstStyle/>
          <a:p>
            <a:pPr indent="0" marL="0">
              <a:buNone/>
            </a:pPr>
            <a:r>
              <a:rPr lang="en-US" sz="1300" b="1" dirty="0">
                <a:solidFill>
                  <a:srgbClr val="3A6EA5"/>
                </a:solidFill>
                <a:latin typeface="Cambria" pitchFamily="34" charset="0"/>
                <a:ea typeface="Cambria" pitchFamily="34" charset="-122"/>
                <a:cs typeface="Cambria" pitchFamily="34" charset="-120"/>
              </a:rPr>
              <a:t>04</a:t>
            </a:r>
            <a:endParaRPr lang="en-US" sz="1300" dirty="0"/>
          </a:p>
        </p:txBody>
      </p:sp>
      <p:sp>
        <p:nvSpPr>
          <p:cNvPr id="25" name="Text 18"/>
          <p:cNvSpPr txBox="1"/>
          <p:nvPr/>
        </p:nvSpPr>
        <p:spPr>
          <a:xfrm>
            <a:off x="7132320" y="3291840"/>
            <a:ext cx="4270248" cy="502920"/>
          </a:xfrm>
          <a:prstGeom prst="rect">
            <a:avLst/>
          </a:prstGeom>
          <a:noFill/>
          <a:ln/>
        </p:spPr>
        <p:txBody>
          <a:bodyPr wrap="square" lIns="0" tIns="0" rIns="0" bIns="0" rtlCol="0" anchor="ctr"/>
          <a:lstStyle/>
          <a:p>
            <a:pPr indent="0" marL="0">
              <a:lnSpc>
                <a:spcPct val="98000"/>
              </a:lnSpc>
              <a:buNone/>
            </a:pPr>
            <a:r>
              <a:rPr lang="en-US" sz="1150" b="1" dirty="0">
                <a:solidFill>
                  <a:srgbClr val="133B6C"/>
                </a:solidFill>
                <a:latin typeface="Calibri" pitchFamily="34" charset="0"/>
                <a:ea typeface="Calibri" pitchFamily="34" charset="-122"/>
                <a:cs typeface="Calibri" pitchFamily="34" charset="-120"/>
              </a:rPr>
              <a:t>CUIDEMOS LA REPUTACIÓN DE NUESTRA COOPERATIVA</a:t>
            </a:r>
            <a:endParaRPr lang="en-US" sz="1150" dirty="0"/>
          </a:p>
        </p:txBody>
      </p:sp>
      <p:sp>
        <p:nvSpPr>
          <p:cNvPr id="26" name="Shape 19"/>
          <p:cNvSpPr/>
          <p:nvPr/>
        </p:nvSpPr>
        <p:spPr>
          <a:xfrm>
            <a:off x="566928" y="3968496"/>
            <a:ext cx="5349240" cy="868680"/>
          </a:xfrm>
          <a:prstGeom prst="roundRect">
            <a:avLst>
              <a:gd name="adj" fmla="val 9474"/>
            </a:avLst>
          </a:prstGeom>
          <a:solidFill>
            <a:srgbClr val="F2F5F9"/>
          </a:solidFill>
          <a:ln/>
        </p:spPr>
      </p:sp>
      <p:sp>
        <p:nvSpPr>
          <p:cNvPr id="27" name="Shape 20"/>
          <p:cNvSpPr/>
          <p:nvPr/>
        </p:nvSpPr>
        <p:spPr>
          <a:xfrm>
            <a:off x="731520" y="4091940"/>
            <a:ext cx="621792" cy="621792"/>
          </a:xfrm>
          <a:prstGeom prst="ellipse">
            <a:avLst/>
          </a:prstGeom>
          <a:solidFill>
            <a:srgbClr val="1B4F91"/>
          </a:solidFill>
          <a:ln/>
        </p:spPr>
      </p:sp>
      <p:pic>
        <p:nvPicPr>
          <p:cNvPr id="28" name="Image 4" descr="/tmp/claude-0/-home-user-riesgo/0ff9ff46-1396-5bd8-b3ac-2280dfbbbc55/scratchpad/work/gen/icons/shield_warning_white.png">    </p:cNvPr>
          <p:cNvPicPr>
            <a:picLocks noChangeAspect="1"/>
          </p:cNvPicPr>
          <p:nvPr/>
        </p:nvPicPr>
        <p:blipFill>
          <a:blip r:embed="rId5"/>
          <a:stretch>
            <a:fillRect/>
          </a:stretch>
        </p:blipFill>
        <p:spPr>
          <a:xfrm>
            <a:off x="886968" y="4247388"/>
            <a:ext cx="310896" cy="310896"/>
          </a:xfrm>
          <a:prstGeom prst="rect">
            <a:avLst/>
          </a:prstGeom>
        </p:spPr>
      </p:pic>
      <p:sp>
        <p:nvSpPr>
          <p:cNvPr id="29" name="Text 21"/>
          <p:cNvSpPr txBox="1"/>
          <p:nvPr/>
        </p:nvSpPr>
        <p:spPr>
          <a:xfrm>
            <a:off x="1463040" y="4041648"/>
            <a:ext cx="548640" cy="274320"/>
          </a:xfrm>
          <a:prstGeom prst="rect">
            <a:avLst/>
          </a:prstGeom>
          <a:noFill/>
          <a:ln/>
        </p:spPr>
        <p:txBody>
          <a:bodyPr wrap="square" lIns="0" tIns="0" rIns="0" bIns="0" rtlCol="0" anchor="ctr"/>
          <a:lstStyle/>
          <a:p>
            <a:pPr indent="0" marL="0">
              <a:buNone/>
            </a:pPr>
            <a:r>
              <a:rPr lang="en-US" sz="1300" b="1" dirty="0">
                <a:solidFill>
                  <a:srgbClr val="1B4F91"/>
                </a:solidFill>
                <a:latin typeface="Cambria" pitchFamily="34" charset="0"/>
                <a:ea typeface="Cambria" pitchFamily="34" charset="-122"/>
                <a:cs typeface="Cambria" pitchFamily="34" charset="-120"/>
              </a:rPr>
              <a:t>05</a:t>
            </a:r>
            <a:endParaRPr lang="en-US" sz="1300" dirty="0"/>
          </a:p>
        </p:txBody>
      </p:sp>
      <p:sp>
        <p:nvSpPr>
          <p:cNvPr id="30" name="Text 22"/>
          <p:cNvSpPr txBox="1"/>
          <p:nvPr/>
        </p:nvSpPr>
        <p:spPr>
          <a:xfrm>
            <a:off x="1463040" y="4279392"/>
            <a:ext cx="4270248" cy="502920"/>
          </a:xfrm>
          <a:prstGeom prst="rect">
            <a:avLst/>
          </a:prstGeom>
          <a:noFill/>
          <a:ln/>
        </p:spPr>
        <p:txBody>
          <a:bodyPr wrap="square" lIns="0" tIns="0" rIns="0" bIns="0" rtlCol="0" anchor="ctr"/>
          <a:lstStyle/>
          <a:p>
            <a:pPr indent="0" marL="0">
              <a:lnSpc>
                <a:spcPct val="98000"/>
              </a:lnSpc>
              <a:buNone/>
            </a:pPr>
            <a:r>
              <a:rPr lang="en-US" sz="1150" b="1" dirty="0">
                <a:solidFill>
                  <a:srgbClr val="133B6C"/>
                </a:solidFill>
                <a:latin typeface="Calibri" pitchFamily="34" charset="0"/>
                <a:ea typeface="Calibri" pitchFamily="34" charset="-122"/>
                <a:cs typeface="Calibri" pitchFamily="34" charset="-120"/>
              </a:rPr>
              <a:t>FRAUDE Y ERRORES: APRENDAMOS A PREVENIRLOS</a:t>
            </a:r>
            <a:endParaRPr lang="en-US" sz="1150" dirty="0"/>
          </a:p>
        </p:txBody>
      </p:sp>
      <p:sp>
        <p:nvSpPr>
          <p:cNvPr id="31" name="Shape 23"/>
          <p:cNvSpPr/>
          <p:nvPr/>
        </p:nvSpPr>
        <p:spPr>
          <a:xfrm>
            <a:off x="6236208" y="3968496"/>
            <a:ext cx="5349240" cy="868680"/>
          </a:xfrm>
          <a:prstGeom prst="roundRect">
            <a:avLst>
              <a:gd name="adj" fmla="val 9474"/>
            </a:avLst>
          </a:prstGeom>
          <a:solidFill>
            <a:srgbClr val="F2F5F9"/>
          </a:solidFill>
          <a:ln/>
        </p:spPr>
      </p:sp>
      <p:sp>
        <p:nvSpPr>
          <p:cNvPr id="32" name="Shape 24"/>
          <p:cNvSpPr/>
          <p:nvPr/>
        </p:nvSpPr>
        <p:spPr>
          <a:xfrm>
            <a:off x="6400800" y="4091940"/>
            <a:ext cx="621792" cy="621792"/>
          </a:xfrm>
          <a:prstGeom prst="ellipse">
            <a:avLst/>
          </a:prstGeom>
          <a:solidFill>
            <a:srgbClr val="2E5EAA"/>
          </a:solidFill>
          <a:ln/>
        </p:spPr>
      </p:sp>
      <p:pic>
        <p:nvPicPr>
          <p:cNvPr id="33" name="Image 5" descr="/tmp/claude-0/-home-user-riesgo/0ff9ff46-1396-5bd8-b3ac-2280dfbbbc55/scratchpad/work/gen/icons/bank_white.png">    </p:cNvPr>
          <p:cNvPicPr>
            <a:picLocks noChangeAspect="1"/>
          </p:cNvPicPr>
          <p:nvPr/>
        </p:nvPicPr>
        <p:blipFill>
          <a:blip r:embed="rId6"/>
          <a:stretch>
            <a:fillRect/>
          </a:stretch>
        </p:blipFill>
        <p:spPr>
          <a:xfrm>
            <a:off x="6556248" y="4247388"/>
            <a:ext cx="310896" cy="310896"/>
          </a:xfrm>
          <a:prstGeom prst="rect">
            <a:avLst/>
          </a:prstGeom>
        </p:spPr>
      </p:pic>
      <p:sp>
        <p:nvSpPr>
          <p:cNvPr id="34" name="Text 25"/>
          <p:cNvSpPr txBox="1"/>
          <p:nvPr/>
        </p:nvSpPr>
        <p:spPr>
          <a:xfrm>
            <a:off x="7132320" y="4041648"/>
            <a:ext cx="548640" cy="274320"/>
          </a:xfrm>
          <a:prstGeom prst="rect">
            <a:avLst/>
          </a:prstGeom>
          <a:noFill/>
          <a:ln/>
        </p:spPr>
        <p:txBody>
          <a:bodyPr wrap="square" lIns="0" tIns="0" rIns="0" bIns="0" rtlCol="0" anchor="ctr"/>
          <a:lstStyle/>
          <a:p>
            <a:pPr indent="0" marL="0">
              <a:buNone/>
            </a:pPr>
            <a:r>
              <a:rPr lang="en-US" sz="1300" b="1" dirty="0">
                <a:solidFill>
                  <a:srgbClr val="2E5EAA"/>
                </a:solidFill>
                <a:latin typeface="Cambria" pitchFamily="34" charset="0"/>
                <a:ea typeface="Cambria" pitchFamily="34" charset="-122"/>
                <a:cs typeface="Cambria" pitchFamily="34" charset="-120"/>
              </a:rPr>
              <a:t>06</a:t>
            </a:r>
            <a:endParaRPr lang="en-US" sz="1300" dirty="0"/>
          </a:p>
        </p:txBody>
      </p:sp>
      <p:sp>
        <p:nvSpPr>
          <p:cNvPr id="35" name="Text 26"/>
          <p:cNvSpPr txBox="1"/>
          <p:nvPr/>
        </p:nvSpPr>
        <p:spPr>
          <a:xfrm>
            <a:off x="7132320" y="4279392"/>
            <a:ext cx="4270248" cy="502920"/>
          </a:xfrm>
          <a:prstGeom prst="rect">
            <a:avLst/>
          </a:prstGeom>
          <a:noFill/>
          <a:ln/>
        </p:spPr>
        <p:txBody>
          <a:bodyPr wrap="square" lIns="0" tIns="0" rIns="0" bIns="0" rtlCol="0" anchor="ctr"/>
          <a:lstStyle/>
          <a:p>
            <a:pPr indent="0" marL="0">
              <a:lnSpc>
                <a:spcPct val="98000"/>
              </a:lnSpc>
              <a:buNone/>
            </a:pPr>
            <a:r>
              <a:rPr lang="en-US" sz="1150" b="1" dirty="0">
                <a:solidFill>
                  <a:srgbClr val="133B6C"/>
                </a:solidFill>
                <a:latin typeface="Calibri" pitchFamily="34" charset="0"/>
                <a:ea typeface="Calibri" pitchFamily="34" charset="-122"/>
                <a:cs typeface="Calibri" pitchFamily="34" charset="-120"/>
              </a:rPr>
              <a:t>EL RIESGO CREDITICIO NO ES SOLO RESPONSABILIDAD DE CRÉDITOS</a:t>
            </a:r>
            <a:endParaRPr lang="en-US" sz="1150" dirty="0"/>
          </a:p>
        </p:txBody>
      </p:sp>
      <p:sp>
        <p:nvSpPr>
          <p:cNvPr id="36" name="Shape 27"/>
          <p:cNvSpPr/>
          <p:nvPr/>
        </p:nvSpPr>
        <p:spPr>
          <a:xfrm>
            <a:off x="566928" y="4956048"/>
            <a:ext cx="5349240" cy="868680"/>
          </a:xfrm>
          <a:prstGeom prst="roundRect">
            <a:avLst>
              <a:gd name="adj" fmla="val 9474"/>
            </a:avLst>
          </a:prstGeom>
          <a:solidFill>
            <a:srgbClr val="F2F5F9"/>
          </a:solidFill>
          <a:ln/>
        </p:spPr>
      </p:sp>
      <p:sp>
        <p:nvSpPr>
          <p:cNvPr id="37" name="Shape 28"/>
          <p:cNvSpPr/>
          <p:nvPr/>
        </p:nvSpPr>
        <p:spPr>
          <a:xfrm>
            <a:off x="731520" y="5079492"/>
            <a:ext cx="621792" cy="621792"/>
          </a:xfrm>
          <a:prstGeom prst="ellipse">
            <a:avLst/>
          </a:prstGeom>
          <a:solidFill>
            <a:srgbClr val="1FB6C9"/>
          </a:solidFill>
          <a:ln/>
        </p:spPr>
      </p:sp>
      <p:pic>
        <p:nvPicPr>
          <p:cNvPr id="38" name="Image 6" descr="/tmp/claude-0/-home-user-riesgo/0ff9ff46-1396-5bd8-b3ac-2280dfbbbc55/scratchpad/work/gen/icons/handshake_white.png">    </p:cNvPr>
          <p:cNvPicPr>
            <a:picLocks noChangeAspect="1"/>
          </p:cNvPicPr>
          <p:nvPr/>
        </p:nvPicPr>
        <p:blipFill>
          <a:blip r:embed="rId7"/>
          <a:stretch>
            <a:fillRect/>
          </a:stretch>
        </p:blipFill>
        <p:spPr>
          <a:xfrm>
            <a:off x="886968" y="5234940"/>
            <a:ext cx="310896" cy="310896"/>
          </a:xfrm>
          <a:prstGeom prst="rect">
            <a:avLst/>
          </a:prstGeom>
        </p:spPr>
      </p:pic>
      <p:sp>
        <p:nvSpPr>
          <p:cNvPr id="39" name="Text 29"/>
          <p:cNvSpPr txBox="1"/>
          <p:nvPr/>
        </p:nvSpPr>
        <p:spPr>
          <a:xfrm>
            <a:off x="1463040" y="5029200"/>
            <a:ext cx="548640" cy="274320"/>
          </a:xfrm>
          <a:prstGeom prst="rect">
            <a:avLst/>
          </a:prstGeom>
          <a:noFill/>
          <a:ln/>
        </p:spPr>
        <p:txBody>
          <a:bodyPr wrap="square" lIns="0" tIns="0" rIns="0" bIns="0" rtlCol="0" anchor="ctr"/>
          <a:lstStyle/>
          <a:p>
            <a:pPr indent="0" marL="0">
              <a:buNone/>
            </a:pPr>
            <a:r>
              <a:rPr lang="en-US" sz="1300" b="1" dirty="0">
                <a:solidFill>
                  <a:srgbClr val="1FB6C9"/>
                </a:solidFill>
                <a:latin typeface="Cambria" pitchFamily="34" charset="0"/>
                <a:ea typeface="Cambria" pitchFamily="34" charset="-122"/>
                <a:cs typeface="Cambria" pitchFamily="34" charset="-120"/>
              </a:rPr>
              <a:t>07</a:t>
            </a:r>
            <a:endParaRPr lang="en-US" sz="1300" dirty="0"/>
          </a:p>
        </p:txBody>
      </p:sp>
      <p:sp>
        <p:nvSpPr>
          <p:cNvPr id="40" name="Text 30"/>
          <p:cNvSpPr txBox="1"/>
          <p:nvPr/>
        </p:nvSpPr>
        <p:spPr>
          <a:xfrm>
            <a:off x="1463040" y="5266944"/>
            <a:ext cx="4270248" cy="502920"/>
          </a:xfrm>
          <a:prstGeom prst="rect">
            <a:avLst/>
          </a:prstGeom>
          <a:noFill/>
          <a:ln/>
        </p:spPr>
        <p:txBody>
          <a:bodyPr wrap="square" lIns="0" tIns="0" rIns="0" bIns="0" rtlCol="0" anchor="ctr"/>
          <a:lstStyle/>
          <a:p>
            <a:pPr indent="0" marL="0">
              <a:lnSpc>
                <a:spcPct val="98000"/>
              </a:lnSpc>
              <a:buNone/>
            </a:pPr>
            <a:r>
              <a:rPr lang="en-US" sz="1150" b="1" dirty="0">
                <a:solidFill>
                  <a:srgbClr val="133B6C"/>
                </a:solidFill>
                <a:latin typeface="Calibri" pitchFamily="34" charset="0"/>
                <a:ea typeface="Calibri" pitchFamily="34" charset="-122"/>
                <a:cs typeface="Calibri" pitchFamily="34" charset="-120"/>
              </a:rPr>
              <a:t>¿QUIÉN ES RESPONSABLE DE GESTIONAR LOS RIESGOS?</a:t>
            </a:r>
            <a:endParaRPr lang="en-US" sz="1150" dirty="0"/>
          </a:p>
        </p:txBody>
      </p:sp>
      <p:sp>
        <p:nvSpPr>
          <p:cNvPr id="41" name="Shape 31"/>
          <p:cNvSpPr/>
          <p:nvPr/>
        </p:nvSpPr>
        <p:spPr>
          <a:xfrm>
            <a:off x="6236208" y="4956048"/>
            <a:ext cx="5349240" cy="868680"/>
          </a:xfrm>
          <a:prstGeom prst="roundRect">
            <a:avLst>
              <a:gd name="adj" fmla="val 9474"/>
            </a:avLst>
          </a:prstGeom>
          <a:solidFill>
            <a:srgbClr val="F2F5F9"/>
          </a:solidFill>
          <a:ln/>
        </p:spPr>
      </p:sp>
      <p:sp>
        <p:nvSpPr>
          <p:cNvPr id="42" name="Shape 32"/>
          <p:cNvSpPr/>
          <p:nvPr/>
        </p:nvSpPr>
        <p:spPr>
          <a:xfrm>
            <a:off x="6400800" y="5079492"/>
            <a:ext cx="621792" cy="621792"/>
          </a:xfrm>
          <a:prstGeom prst="ellipse">
            <a:avLst/>
          </a:prstGeom>
          <a:solidFill>
            <a:srgbClr val="0EA5A0"/>
          </a:solidFill>
          <a:ln/>
        </p:spPr>
      </p:sp>
      <p:pic>
        <p:nvPicPr>
          <p:cNvPr id="43" name="Image 7" descr="/tmp/claude-0/-home-user-riesgo/0ff9ff46-1396-5bd8-b3ac-2280dfbbbc55/scratchpad/work/gen/icons/globe_white.png">    </p:cNvPr>
          <p:cNvPicPr>
            <a:picLocks noChangeAspect="1"/>
          </p:cNvPicPr>
          <p:nvPr/>
        </p:nvPicPr>
        <p:blipFill>
          <a:blip r:embed="rId8"/>
          <a:stretch>
            <a:fillRect/>
          </a:stretch>
        </p:blipFill>
        <p:spPr>
          <a:xfrm>
            <a:off x="6556248" y="5234940"/>
            <a:ext cx="310896" cy="310896"/>
          </a:xfrm>
          <a:prstGeom prst="rect">
            <a:avLst/>
          </a:prstGeom>
        </p:spPr>
      </p:pic>
      <p:sp>
        <p:nvSpPr>
          <p:cNvPr id="44" name="Text 33"/>
          <p:cNvSpPr txBox="1"/>
          <p:nvPr/>
        </p:nvSpPr>
        <p:spPr>
          <a:xfrm>
            <a:off x="7132320" y="5029200"/>
            <a:ext cx="548640" cy="274320"/>
          </a:xfrm>
          <a:prstGeom prst="rect">
            <a:avLst/>
          </a:prstGeom>
          <a:noFill/>
          <a:ln/>
        </p:spPr>
        <p:txBody>
          <a:bodyPr wrap="square" lIns="0" tIns="0" rIns="0" bIns="0" rtlCol="0" anchor="ctr"/>
          <a:lstStyle/>
          <a:p>
            <a:pPr indent="0" marL="0">
              <a:buNone/>
            </a:pPr>
            <a:r>
              <a:rPr lang="en-US" sz="1300" b="1" dirty="0">
                <a:solidFill>
                  <a:srgbClr val="0EA5A0"/>
                </a:solidFill>
                <a:latin typeface="Cambria" pitchFamily="34" charset="0"/>
                <a:ea typeface="Cambria" pitchFamily="34" charset="-122"/>
                <a:cs typeface="Cambria" pitchFamily="34" charset="-120"/>
              </a:rPr>
              <a:t>08</a:t>
            </a:r>
            <a:endParaRPr lang="en-US" sz="1300" dirty="0"/>
          </a:p>
        </p:txBody>
      </p:sp>
      <p:sp>
        <p:nvSpPr>
          <p:cNvPr id="45" name="Text 34"/>
          <p:cNvSpPr txBox="1"/>
          <p:nvPr/>
        </p:nvSpPr>
        <p:spPr>
          <a:xfrm>
            <a:off x="7132320" y="5266944"/>
            <a:ext cx="4270248" cy="502920"/>
          </a:xfrm>
          <a:prstGeom prst="rect">
            <a:avLst/>
          </a:prstGeom>
          <a:noFill/>
          <a:ln/>
        </p:spPr>
        <p:txBody>
          <a:bodyPr wrap="square" lIns="0" tIns="0" rIns="0" bIns="0" rtlCol="0" anchor="ctr"/>
          <a:lstStyle/>
          <a:p>
            <a:pPr indent="0" marL="0">
              <a:lnSpc>
                <a:spcPct val="98000"/>
              </a:lnSpc>
              <a:buNone/>
            </a:pPr>
            <a:r>
              <a:rPr lang="en-US" sz="1150" b="1" dirty="0">
                <a:solidFill>
                  <a:srgbClr val="133B6C"/>
                </a:solidFill>
                <a:latin typeface="Calibri" pitchFamily="34" charset="0"/>
                <a:ea typeface="Calibri" pitchFamily="34" charset="-122"/>
                <a:cs typeface="Calibri" pitchFamily="34" charset="-120"/>
              </a:rPr>
              <a:t>RIESGOS AMBIENTALES Y SOCIALES: TAMBIÉN SON RIESGOS FINANCIEROS</a:t>
            </a:r>
            <a:endParaRPr lang="en-US" sz="1150" dirty="0"/>
          </a:p>
        </p:txBody>
      </p:sp>
      <p:sp>
        <p:nvSpPr>
          <p:cNvPr id="46" name="Text 35"/>
          <p:cNvSpPr txBox="1"/>
          <p:nvPr/>
        </p:nvSpPr>
        <p:spPr>
          <a:xfrm>
            <a:off x="566928" y="6053328"/>
            <a:ext cx="11057839" cy="274320"/>
          </a:xfrm>
          <a:prstGeom prst="rect">
            <a:avLst/>
          </a:prstGeom>
          <a:noFill/>
          <a:ln/>
        </p:spPr>
        <p:txBody>
          <a:bodyPr wrap="square" lIns="0" tIns="0" rIns="0" bIns="0" rtlCol="0" anchor="ctr"/>
          <a:lstStyle/>
          <a:p>
            <a:pPr algn="ctr" indent="0" marL="0">
              <a:buNone/>
            </a:pPr>
            <a:r>
              <a:rPr lang="en-US" sz="1150" b="1" spc="100" kern="0" dirty="0">
                <a:solidFill>
                  <a:srgbClr val="5B6B82"/>
                </a:solidFill>
                <a:latin typeface="Calibri" pitchFamily="34" charset="0"/>
                <a:ea typeface="Calibri" pitchFamily="34" charset="-122"/>
                <a:cs typeface="Calibri" pitchFamily="34" charset="-120"/>
              </a:rPr>
              <a:t>+  CASOS INTEGRADORES   ·   GRAN ACTIVIDAD FINAL   ·   CIERRE</a:t>
            </a:r>
            <a:endParaRPr lang="en-US" sz="1150" dirty="0"/>
          </a:p>
        </p:txBody>
      </p:sp>
      <p:sp>
        <p:nvSpPr>
          <p:cNvPr id="47" name="Text 36"/>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48" name="Text 37"/>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86C7"/>
                </a:solidFill>
                <a:latin typeface="Calibri" pitchFamily="34" charset="0"/>
                <a:ea typeface="Calibri" pitchFamily="34" charset="-122"/>
                <a:cs typeface="Calibri" pitchFamily="34" charset="-120"/>
              </a:rPr>
              <a:t>ANTES DE EMPEZAR · ROMPE EL HIELO</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3200" b="1" dirty="0">
                <a:solidFill>
                  <a:srgbClr val="133B6C"/>
                </a:solidFill>
                <a:latin typeface="Cambria" pitchFamily="34" charset="0"/>
                <a:ea typeface="Cambria" pitchFamily="34" charset="-122"/>
                <a:cs typeface="Cambria" pitchFamily="34" charset="-120"/>
              </a:rPr>
              <a:t>¿DÓNDE ESTÁ EL RIESGO?</a:t>
            </a:r>
            <a:endParaRPr lang="en-US" sz="32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Esta es una oficina como la tuya. Tienes 30 segundos: ¿cuántos riesgos puedes identificar?</a:t>
            </a:r>
            <a:endParaRPr lang="en-US" sz="1500" dirty="0"/>
          </a:p>
        </p:txBody>
      </p:sp>
      <p:sp>
        <p:nvSpPr>
          <p:cNvPr id="6" name="Shape 3"/>
          <p:cNvSpPr/>
          <p:nvPr/>
        </p:nvSpPr>
        <p:spPr>
          <a:xfrm>
            <a:off x="566928" y="1965960"/>
            <a:ext cx="11057839" cy="3977640"/>
          </a:xfrm>
          <a:prstGeom prst="roundRect">
            <a:avLst>
              <a:gd name="adj" fmla="val 3218"/>
            </a:avLst>
          </a:prstGeom>
          <a:solidFill>
            <a:srgbClr val="F2F5F9"/>
          </a:solidFill>
          <a:ln/>
        </p:spPr>
      </p:sp>
      <p:sp>
        <p:nvSpPr>
          <p:cNvPr id="7" name="Shape 4"/>
          <p:cNvSpPr/>
          <p:nvPr/>
        </p:nvSpPr>
        <p:spPr>
          <a:xfrm>
            <a:off x="1554480" y="2331720"/>
            <a:ext cx="960120" cy="960120"/>
          </a:xfrm>
          <a:prstGeom prst="ellipse">
            <a:avLst/>
          </a:prstGeom>
          <a:solidFill>
            <a:srgbClr val="133B6C"/>
          </a:solidFill>
          <a:ln/>
        </p:spPr>
      </p:sp>
      <p:pic>
        <p:nvPicPr>
          <p:cNvPr id="8" name="Image 0" descr="/tmp/claude-0/-home-user-riesgo/0ff9ff46-1396-5bd8-b3ac-2280dfbbbc55/scratchpad/work/gen/icons/document_white.png">    </p:cNvPr>
          <p:cNvPicPr>
            <a:picLocks noChangeAspect="1"/>
          </p:cNvPicPr>
          <p:nvPr/>
        </p:nvPicPr>
        <p:blipFill>
          <a:blip r:embed="rId1"/>
          <a:stretch>
            <a:fillRect/>
          </a:stretch>
        </p:blipFill>
        <p:spPr>
          <a:xfrm>
            <a:off x="1794510" y="2571750"/>
            <a:ext cx="480060" cy="480060"/>
          </a:xfrm>
          <a:prstGeom prst="rect">
            <a:avLst/>
          </a:prstGeom>
        </p:spPr>
      </p:pic>
      <p:sp>
        <p:nvSpPr>
          <p:cNvPr id="9" name="Shape 5"/>
          <p:cNvSpPr/>
          <p:nvPr/>
        </p:nvSpPr>
        <p:spPr>
          <a:xfrm>
            <a:off x="2203704" y="2240280"/>
            <a:ext cx="402336" cy="402336"/>
          </a:xfrm>
          <a:prstGeom prst="ellipse">
            <a:avLst/>
          </a:prstGeom>
          <a:solidFill>
            <a:srgbClr val="2E86C7"/>
          </a:solidFill>
          <a:ln/>
        </p:spPr>
      </p:sp>
      <p:sp>
        <p:nvSpPr>
          <p:cNvPr id="10" name="Text 6"/>
          <p:cNvSpPr txBox="1"/>
          <p:nvPr/>
        </p:nvSpPr>
        <p:spPr>
          <a:xfrm>
            <a:off x="2203704" y="223113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1</a:t>
            </a:r>
            <a:endParaRPr lang="en-US" sz="1496" dirty="0"/>
          </a:p>
        </p:txBody>
      </p:sp>
      <p:sp>
        <p:nvSpPr>
          <p:cNvPr id="11" name="Shape 7"/>
          <p:cNvSpPr/>
          <p:nvPr/>
        </p:nvSpPr>
        <p:spPr>
          <a:xfrm>
            <a:off x="4297680" y="2148840"/>
            <a:ext cx="960120" cy="960120"/>
          </a:xfrm>
          <a:prstGeom prst="ellipse">
            <a:avLst/>
          </a:prstGeom>
          <a:solidFill>
            <a:srgbClr val="133B6C"/>
          </a:solidFill>
          <a:ln/>
        </p:spPr>
      </p:sp>
      <p:pic>
        <p:nvPicPr>
          <p:cNvPr id="12" name="Image 1" descr="/tmp/claude-0/-home-user-riesgo/0ff9ff46-1396-5bd8-b3ac-2280dfbbbc55/scratchpad/work/gen/icons/cable_white.png">    </p:cNvPr>
          <p:cNvPicPr>
            <a:picLocks noChangeAspect="1"/>
          </p:cNvPicPr>
          <p:nvPr/>
        </p:nvPicPr>
        <p:blipFill>
          <a:blip r:embed="rId2"/>
          <a:stretch>
            <a:fillRect/>
          </a:stretch>
        </p:blipFill>
        <p:spPr>
          <a:xfrm>
            <a:off x="4537710" y="2388870"/>
            <a:ext cx="480060" cy="480060"/>
          </a:xfrm>
          <a:prstGeom prst="rect">
            <a:avLst/>
          </a:prstGeom>
        </p:spPr>
      </p:pic>
      <p:sp>
        <p:nvSpPr>
          <p:cNvPr id="13" name="Shape 8"/>
          <p:cNvSpPr/>
          <p:nvPr/>
        </p:nvSpPr>
        <p:spPr>
          <a:xfrm>
            <a:off x="4946904" y="2057400"/>
            <a:ext cx="402336" cy="402336"/>
          </a:xfrm>
          <a:prstGeom prst="ellipse">
            <a:avLst/>
          </a:prstGeom>
          <a:solidFill>
            <a:srgbClr val="2E86C7"/>
          </a:solidFill>
          <a:ln/>
        </p:spPr>
      </p:sp>
      <p:sp>
        <p:nvSpPr>
          <p:cNvPr id="14" name="Text 9"/>
          <p:cNvSpPr txBox="1"/>
          <p:nvPr/>
        </p:nvSpPr>
        <p:spPr>
          <a:xfrm>
            <a:off x="4946904" y="204825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2</a:t>
            </a:r>
            <a:endParaRPr lang="en-US" sz="1496" dirty="0"/>
          </a:p>
        </p:txBody>
      </p:sp>
      <p:sp>
        <p:nvSpPr>
          <p:cNvPr id="15" name="Shape 10"/>
          <p:cNvSpPr/>
          <p:nvPr/>
        </p:nvSpPr>
        <p:spPr>
          <a:xfrm>
            <a:off x="6949440" y="2468880"/>
            <a:ext cx="960120" cy="960120"/>
          </a:xfrm>
          <a:prstGeom prst="ellipse">
            <a:avLst/>
          </a:prstGeom>
          <a:solidFill>
            <a:srgbClr val="133B6C"/>
          </a:solidFill>
          <a:ln/>
        </p:spPr>
      </p:sp>
      <p:pic>
        <p:nvPicPr>
          <p:cNvPr id="16" name="Image 2" descr="/tmp/claude-0/-home-user-riesgo/0ff9ff46-1396-5bd8-b3ac-2280dfbbbc55/scratchpad/work/gen/icons/password_white.png">    </p:cNvPr>
          <p:cNvPicPr>
            <a:picLocks noChangeAspect="1"/>
          </p:cNvPicPr>
          <p:nvPr/>
        </p:nvPicPr>
        <p:blipFill>
          <a:blip r:embed="rId3"/>
          <a:stretch>
            <a:fillRect/>
          </a:stretch>
        </p:blipFill>
        <p:spPr>
          <a:xfrm>
            <a:off x="7189470" y="2708910"/>
            <a:ext cx="480060" cy="480060"/>
          </a:xfrm>
          <a:prstGeom prst="rect">
            <a:avLst/>
          </a:prstGeom>
        </p:spPr>
      </p:pic>
      <p:sp>
        <p:nvSpPr>
          <p:cNvPr id="17" name="Shape 11"/>
          <p:cNvSpPr/>
          <p:nvPr/>
        </p:nvSpPr>
        <p:spPr>
          <a:xfrm>
            <a:off x="7598664" y="2377440"/>
            <a:ext cx="402336" cy="402336"/>
          </a:xfrm>
          <a:prstGeom prst="ellipse">
            <a:avLst/>
          </a:prstGeom>
          <a:solidFill>
            <a:srgbClr val="2E86C7"/>
          </a:solidFill>
          <a:ln/>
        </p:spPr>
      </p:sp>
      <p:sp>
        <p:nvSpPr>
          <p:cNvPr id="18" name="Text 12"/>
          <p:cNvSpPr txBox="1"/>
          <p:nvPr/>
        </p:nvSpPr>
        <p:spPr>
          <a:xfrm>
            <a:off x="7598664" y="236829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3</a:t>
            </a:r>
            <a:endParaRPr lang="en-US" sz="1496" dirty="0"/>
          </a:p>
        </p:txBody>
      </p:sp>
      <p:sp>
        <p:nvSpPr>
          <p:cNvPr id="19" name="Shape 13"/>
          <p:cNvSpPr/>
          <p:nvPr/>
        </p:nvSpPr>
        <p:spPr>
          <a:xfrm>
            <a:off x="9464040" y="2194560"/>
            <a:ext cx="960120" cy="960120"/>
          </a:xfrm>
          <a:prstGeom prst="ellipse">
            <a:avLst/>
          </a:prstGeom>
          <a:solidFill>
            <a:srgbClr val="133B6C"/>
          </a:solidFill>
          <a:ln/>
        </p:spPr>
      </p:sp>
      <p:pic>
        <p:nvPicPr>
          <p:cNvPr id="20" name="Image 3" descr="/tmp/claude-0/-home-user-riesgo/0ff9ff46-1396-5bd8-b3ac-2280dfbbbc55/scratchpad/work/gen/icons/door_open_white.png">    </p:cNvPr>
          <p:cNvPicPr>
            <a:picLocks noChangeAspect="1"/>
          </p:cNvPicPr>
          <p:nvPr/>
        </p:nvPicPr>
        <p:blipFill>
          <a:blip r:embed="rId4"/>
          <a:stretch>
            <a:fillRect/>
          </a:stretch>
        </p:blipFill>
        <p:spPr>
          <a:xfrm>
            <a:off x="9704070" y="2434590"/>
            <a:ext cx="480060" cy="480060"/>
          </a:xfrm>
          <a:prstGeom prst="rect">
            <a:avLst/>
          </a:prstGeom>
        </p:spPr>
      </p:pic>
      <p:sp>
        <p:nvSpPr>
          <p:cNvPr id="21" name="Shape 14"/>
          <p:cNvSpPr/>
          <p:nvPr/>
        </p:nvSpPr>
        <p:spPr>
          <a:xfrm>
            <a:off x="10113264" y="2103120"/>
            <a:ext cx="402336" cy="402336"/>
          </a:xfrm>
          <a:prstGeom prst="ellipse">
            <a:avLst/>
          </a:prstGeom>
          <a:solidFill>
            <a:srgbClr val="2E86C7"/>
          </a:solidFill>
          <a:ln/>
        </p:spPr>
      </p:sp>
      <p:sp>
        <p:nvSpPr>
          <p:cNvPr id="22" name="Text 15"/>
          <p:cNvSpPr txBox="1"/>
          <p:nvPr/>
        </p:nvSpPr>
        <p:spPr>
          <a:xfrm>
            <a:off x="10113264" y="209397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4</a:t>
            </a:r>
            <a:endParaRPr lang="en-US" sz="1496" dirty="0"/>
          </a:p>
        </p:txBody>
      </p:sp>
      <p:sp>
        <p:nvSpPr>
          <p:cNvPr id="23" name="Shape 16"/>
          <p:cNvSpPr/>
          <p:nvPr/>
        </p:nvSpPr>
        <p:spPr>
          <a:xfrm>
            <a:off x="2103120" y="4343400"/>
            <a:ext cx="960120" cy="960120"/>
          </a:xfrm>
          <a:prstGeom prst="ellipse">
            <a:avLst/>
          </a:prstGeom>
          <a:solidFill>
            <a:srgbClr val="133B6C"/>
          </a:solidFill>
          <a:ln/>
        </p:spPr>
      </p:sp>
      <p:pic>
        <p:nvPicPr>
          <p:cNvPr id="24" name="Image 4" descr="/tmp/claude-0/-home-user-riesgo/0ff9ff46-1396-5bd8-b3ac-2280dfbbbc55/scratchpad/work/gen/icons/x_circle_white.png">    </p:cNvPr>
          <p:cNvPicPr>
            <a:picLocks noChangeAspect="1"/>
          </p:cNvPicPr>
          <p:nvPr/>
        </p:nvPicPr>
        <p:blipFill>
          <a:blip r:embed="rId5"/>
          <a:stretch>
            <a:fillRect/>
          </a:stretch>
        </p:blipFill>
        <p:spPr>
          <a:xfrm>
            <a:off x="2343150" y="4583430"/>
            <a:ext cx="480060" cy="480060"/>
          </a:xfrm>
          <a:prstGeom prst="rect">
            <a:avLst/>
          </a:prstGeom>
        </p:spPr>
      </p:pic>
      <p:sp>
        <p:nvSpPr>
          <p:cNvPr id="25" name="Shape 17"/>
          <p:cNvSpPr/>
          <p:nvPr/>
        </p:nvSpPr>
        <p:spPr>
          <a:xfrm>
            <a:off x="2752344" y="4251960"/>
            <a:ext cx="402336" cy="402336"/>
          </a:xfrm>
          <a:prstGeom prst="ellipse">
            <a:avLst/>
          </a:prstGeom>
          <a:solidFill>
            <a:srgbClr val="2E86C7"/>
          </a:solidFill>
          <a:ln/>
        </p:spPr>
      </p:sp>
      <p:sp>
        <p:nvSpPr>
          <p:cNvPr id="26" name="Text 18"/>
          <p:cNvSpPr txBox="1"/>
          <p:nvPr/>
        </p:nvSpPr>
        <p:spPr>
          <a:xfrm>
            <a:off x="2752344" y="424281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5</a:t>
            </a:r>
            <a:endParaRPr lang="en-US" sz="1496" dirty="0"/>
          </a:p>
        </p:txBody>
      </p:sp>
      <p:sp>
        <p:nvSpPr>
          <p:cNvPr id="27" name="Shape 19"/>
          <p:cNvSpPr/>
          <p:nvPr/>
        </p:nvSpPr>
        <p:spPr>
          <a:xfrm>
            <a:off x="4846320" y="4617720"/>
            <a:ext cx="960120" cy="960120"/>
          </a:xfrm>
          <a:prstGeom prst="ellipse">
            <a:avLst/>
          </a:prstGeom>
          <a:solidFill>
            <a:srgbClr val="133B6C"/>
          </a:solidFill>
          <a:ln/>
        </p:spPr>
      </p:sp>
      <p:pic>
        <p:nvPicPr>
          <p:cNvPr id="28" name="Image 5" descr="/tmp/claude-0/-home-user-riesgo/0ff9ff46-1396-5bd8-b3ac-2280dfbbbc55/scratchpad/work/gen/icons/computer_white.png">    </p:cNvPr>
          <p:cNvPicPr>
            <a:picLocks noChangeAspect="1"/>
          </p:cNvPicPr>
          <p:nvPr/>
        </p:nvPicPr>
        <p:blipFill>
          <a:blip r:embed="rId6"/>
          <a:stretch>
            <a:fillRect/>
          </a:stretch>
        </p:blipFill>
        <p:spPr>
          <a:xfrm>
            <a:off x="5086350" y="4857750"/>
            <a:ext cx="480060" cy="480060"/>
          </a:xfrm>
          <a:prstGeom prst="rect">
            <a:avLst/>
          </a:prstGeom>
        </p:spPr>
      </p:pic>
      <p:sp>
        <p:nvSpPr>
          <p:cNvPr id="29" name="Shape 20"/>
          <p:cNvSpPr/>
          <p:nvPr/>
        </p:nvSpPr>
        <p:spPr>
          <a:xfrm>
            <a:off x="5495544" y="4526280"/>
            <a:ext cx="402336" cy="402336"/>
          </a:xfrm>
          <a:prstGeom prst="ellipse">
            <a:avLst/>
          </a:prstGeom>
          <a:solidFill>
            <a:srgbClr val="2E86C7"/>
          </a:solidFill>
          <a:ln/>
        </p:spPr>
      </p:sp>
      <p:sp>
        <p:nvSpPr>
          <p:cNvPr id="30" name="Text 21"/>
          <p:cNvSpPr txBox="1"/>
          <p:nvPr/>
        </p:nvSpPr>
        <p:spPr>
          <a:xfrm>
            <a:off x="5495544" y="451713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6</a:t>
            </a:r>
            <a:endParaRPr lang="en-US" sz="1496" dirty="0"/>
          </a:p>
        </p:txBody>
      </p:sp>
      <p:sp>
        <p:nvSpPr>
          <p:cNvPr id="31" name="Shape 22"/>
          <p:cNvSpPr/>
          <p:nvPr/>
        </p:nvSpPr>
        <p:spPr>
          <a:xfrm>
            <a:off x="7498080" y="4343400"/>
            <a:ext cx="960120" cy="960120"/>
          </a:xfrm>
          <a:prstGeom prst="ellipse">
            <a:avLst/>
          </a:prstGeom>
          <a:solidFill>
            <a:srgbClr val="133B6C"/>
          </a:solidFill>
          <a:ln/>
        </p:spPr>
      </p:sp>
      <p:pic>
        <p:nvPicPr>
          <p:cNvPr id="32" name="Image 6" descr="/tmp/claude-0/-home-user-riesgo/0ff9ff46-1396-5bd8-b3ac-2280dfbbbc55/scratchpad/work/gen/icons/chat_white.png">    </p:cNvPr>
          <p:cNvPicPr>
            <a:picLocks noChangeAspect="1"/>
          </p:cNvPicPr>
          <p:nvPr/>
        </p:nvPicPr>
        <p:blipFill>
          <a:blip r:embed="rId7"/>
          <a:stretch>
            <a:fillRect/>
          </a:stretch>
        </p:blipFill>
        <p:spPr>
          <a:xfrm>
            <a:off x="7738110" y="4583430"/>
            <a:ext cx="480060" cy="480060"/>
          </a:xfrm>
          <a:prstGeom prst="rect">
            <a:avLst/>
          </a:prstGeom>
        </p:spPr>
      </p:pic>
      <p:sp>
        <p:nvSpPr>
          <p:cNvPr id="33" name="Shape 23"/>
          <p:cNvSpPr/>
          <p:nvPr/>
        </p:nvSpPr>
        <p:spPr>
          <a:xfrm>
            <a:off x="8147304" y="4251960"/>
            <a:ext cx="402336" cy="402336"/>
          </a:xfrm>
          <a:prstGeom prst="ellipse">
            <a:avLst/>
          </a:prstGeom>
          <a:solidFill>
            <a:srgbClr val="2E86C7"/>
          </a:solidFill>
          <a:ln/>
        </p:spPr>
      </p:sp>
      <p:sp>
        <p:nvSpPr>
          <p:cNvPr id="34" name="Text 24"/>
          <p:cNvSpPr txBox="1"/>
          <p:nvPr/>
        </p:nvSpPr>
        <p:spPr>
          <a:xfrm>
            <a:off x="8147304" y="424281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7</a:t>
            </a:r>
            <a:endParaRPr lang="en-US" sz="1496" dirty="0"/>
          </a:p>
        </p:txBody>
      </p:sp>
      <p:sp>
        <p:nvSpPr>
          <p:cNvPr id="35" name="Shape 25"/>
          <p:cNvSpPr/>
          <p:nvPr/>
        </p:nvSpPr>
        <p:spPr>
          <a:xfrm>
            <a:off x="9966960" y="4663440"/>
            <a:ext cx="960120" cy="960120"/>
          </a:xfrm>
          <a:prstGeom prst="ellipse">
            <a:avLst/>
          </a:prstGeom>
          <a:solidFill>
            <a:srgbClr val="133B6C"/>
          </a:solidFill>
          <a:ln/>
        </p:spPr>
      </p:sp>
      <p:pic>
        <p:nvPicPr>
          <p:cNvPr id="36" name="Image 7" descr="/tmp/claude-0/-home-user-riesgo/0ff9ff46-1396-5bd8-b3ac-2280dfbbbc55/scratchpad/work/gen/icons/id_card_white.png">    </p:cNvPr>
          <p:cNvPicPr>
            <a:picLocks noChangeAspect="1"/>
          </p:cNvPicPr>
          <p:nvPr/>
        </p:nvPicPr>
        <p:blipFill>
          <a:blip r:embed="rId8"/>
          <a:stretch>
            <a:fillRect/>
          </a:stretch>
        </p:blipFill>
        <p:spPr>
          <a:xfrm>
            <a:off x="10206990" y="4903470"/>
            <a:ext cx="480060" cy="480060"/>
          </a:xfrm>
          <a:prstGeom prst="rect">
            <a:avLst/>
          </a:prstGeom>
        </p:spPr>
      </p:pic>
      <p:sp>
        <p:nvSpPr>
          <p:cNvPr id="37" name="Shape 26"/>
          <p:cNvSpPr/>
          <p:nvPr/>
        </p:nvSpPr>
        <p:spPr>
          <a:xfrm>
            <a:off x="10616184" y="4572000"/>
            <a:ext cx="402336" cy="402336"/>
          </a:xfrm>
          <a:prstGeom prst="ellipse">
            <a:avLst/>
          </a:prstGeom>
          <a:solidFill>
            <a:srgbClr val="2E86C7"/>
          </a:solidFill>
          <a:ln/>
        </p:spPr>
      </p:sp>
      <p:sp>
        <p:nvSpPr>
          <p:cNvPr id="38" name="Text 27"/>
          <p:cNvSpPr txBox="1"/>
          <p:nvPr/>
        </p:nvSpPr>
        <p:spPr>
          <a:xfrm>
            <a:off x="10616184" y="456285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8</a:t>
            </a:r>
            <a:endParaRPr lang="en-US" sz="1496" dirty="0"/>
          </a:p>
        </p:txBody>
      </p:sp>
      <p:sp>
        <p:nvSpPr>
          <p:cNvPr id="39" name="Text 28"/>
          <p:cNvSpPr txBox="1"/>
          <p:nvPr/>
        </p:nvSpPr>
        <p:spPr>
          <a:xfrm>
            <a:off x="566928" y="6053328"/>
            <a:ext cx="11057839" cy="274320"/>
          </a:xfrm>
          <a:prstGeom prst="rect">
            <a:avLst/>
          </a:prstGeom>
          <a:noFill/>
          <a:ln/>
        </p:spPr>
        <p:txBody>
          <a:bodyPr wrap="square" lIns="0" tIns="0" rIns="0" bIns="0" rtlCol="0" anchor="ctr"/>
          <a:lstStyle/>
          <a:p>
            <a:pPr algn="ctr" indent="0" marL="0">
              <a:buNone/>
            </a:pPr>
            <a:r>
              <a:rPr lang="en-US" sz="1200" i="1" dirty="0">
                <a:solidFill>
                  <a:srgbClr val="5B6B82"/>
                </a:solidFill>
                <a:latin typeface="Calibri" pitchFamily="34" charset="0"/>
                <a:ea typeface="Calibri" pitchFamily="34" charset="-122"/>
                <a:cs typeface="Calibri" pitchFamily="34" charset="-120"/>
              </a:rPr>
              <a:t>Obsérvala con atención antes de continuar a la siguiente diapositiva.</a:t>
            </a:r>
            <a:endParaRPr lang="en-US" sz="1200" dirty="0"/>
          </a:p>
        </p:txBody>
      </p:sp>
      <p:sp>
        <p:nvSpPr>
          <p:cNvPr id="40" name="Text 29"/>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41" name="Text 30"/>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3</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86C7"/>
                </a:solidFill>
                <a:latin typeface="Calibri" pitchFamily="34" charset="0"/>
                <a:ea typeface="Calibri" pitchFamily="34" charset="-122"/>
                <a:cs typeface="Calibri" pitchFamily="34" charset="-120"/>
              </a:rPr>
              <a:t>RESULTADO · ESTOS SON EJEMPLOS DE RIESGOS</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800" b="1" dirty="0">
                <a:solidFill>
                  <a:srgbClr val="133B6C"/>
                </a:solidFill>
                <a:latin typeface="Cambria" pitchFamily="34" charset="0"/>
                <a:ea typeface="Cambria" pitchFamily="34" charset="-122"/>
                <a:cs typeface="Cambria" pitchFamily="34" charset="-120"/>
              </a:rPr>
              <a:t>ESTOS ERAN LOS RIESGOS</a:t>
            </a:r>
            <a:endParaRPr lang="en-US" sz="28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Situaciones simples que, sin darnos cuenta, pueden convertirse en un incidente real.</a:t>
            </a:r>
            <a:endParaRPr lang="en-US" sz="1500" dirty="0"/>
          </a:p>
        </p:txBody>
      </p:sp>
      <p:sp>
        <p:nvSpPr>
          <p:cNvPr id="6" name="Shape 3"/>
          <p:cNvSpPr/>
          <p:nvPr/>
        </p:nvSpPr>
        <p:spPr>
          <a:xfrm>
            <a:off x="566928" y="2148840"/>
            <a:ext cx="5391760" cy="880110"/>
          </a:xfrm>
          <a:prstGeom prst="roundRect">
            <a:avLst>
              <a:gd name="adj" fmla="val 9351"/>
            </a:avLst>
          </a:prstGeom>
          <a:solidFill>
            <a:srgbClr val="F2F5F9"/>
          </a:solidFill>
          <a:ln/>
        </p:spPr>
      </p:sp>
      <p:sp>
        <p:nvSpPr>
          <p:cNvPr id="7" name="Shape 4"/>
          <p:cNvSpPr/>
          <p:nvPr/>
        </p:nvSpPr>
        <p:spPr>
          <a:xfrm>
            <a:off x="704088" y="2305431"/>
            <a:ext cx="566928" cy="566928"/>
          </a:xfrm>
          <a:prstGeom prst="ellipse">
            <a:avLst/>
          </a:prstGeom>
          <a:solidFill>
            <a:srgbClr val="2E86C7"/>
          </a:solidFill>
          <a:ln/>
        </p:spPr>
      </p:sp>
      <p:pic>
        <p:nvPicPr>
          <p:cNvPr id="8" name="Image 0" descr="/tmp/claude-0/-home-user-riesgo/0ff9ff46-1396-5bd8-b3ac-2280dfbbbc55/scratchpad/work/gen/icons/document_white.png">    </p:cNvPr>
          <p:cNvPicPr>
            <a:picLocks noChangeAspect="1"/>
          </p:cNvPicPr>
          <p:nvPr/>
        </p:nvPicPr>
        <p:blipFill>
          <a:blip r:embed="rId1"/>
          <a:stretch>
            <a:fillRect/>
          </a:stretch>
        </p:blipFill>
        <p:spPr>
          <a:xfrm>
            <a:off x="840151" y="2441494"/>
            <a:ext cx="294803" cy="294803"/>
          </a:xfrm>
          <a:prstGeom prst="rect">
            <a:avLst/>
          </a:prstGeom>
        </p:spPr>
      </p:pic>
      <p:sp>
        <p:nvSpPr>
          <p:cNvPr id="9" name="Shape 5"/>
          <p:cNvSpPr/>
          <p:nvPr/>
        </p:nvSpPr>
        <p:spPr>
          <a:xfrm>
            <a:off x="1133856" y="2250567"/>
            <a:ext cx="292608" cy="292608"/>
          </a:xfrm>
          <a:prstGeom prst="ellipse">
            <a:avLst/>
          </a:prstGeom>
          <a:solidFill>
            <a:srgbClr val="133B6C"/>
          </a:solidFill>
          <a:ln/>
        </p:spPr>
      </p:sp>
      <p:sp>
        <p:nvSpPr>
          <p:cNvPr id="10" name="Text 6"/>
          <p:cNvSpPr txBox="1"/>
          <p:nvPr/>
        </p:nvSpPr>
        <p:spPr>
          <a:xfrm>
            <a:off x="1133856" y="2241423"/>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1</a:t>
            </a:r>
            <a:endParaRPr lang="en-US" sz="1088" dirty="0"/>
          </a:p>
        </p:txBody>
      </p:sp>
      <p:sp>
        <p:nvSpPr>
          <p:cNvPr id="11" name="Text 7"/>
          <p:cNvSpPr txBox="1"/>
          <p:nvPr/>
        </p:nvSpPr>
        <p:spPr>
          <a:xfrm>
            <a:off x="1408176" y="2221992"/>
            <a:ext cx="4404208" cy="733806"/>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Documento confidencial expuesto sobre el escritorio.</a:t>
            </a:r>
            <a:endParaRPr lang="en-US" sz="1200" dirty="0"/>
          </a:p>
        </p:txBody>
      </p:sp>
      <p:sp>
        <p:nvSpPr>
          <p:cNvPr id="12" name="Shape 8"/>
          <p:cNvSpPr/>
          <p:nvPr/>
        </p:nvSpPr>
        <p:spPr>
          <a:xfrm>
            <a:off x="6233008" y="2148840"/>
            <a:ext cx="5391760" cy="880110"/>
          </a:xfrm>
          <a:prstGeom prst="roundRect">
            <a:avLst>
              <a:gd name="adj" fmla="val 9351"/>
            </a:avLst>
          </a:prstGeom>
          <a:solidFill>
            <a:srgbClr val="F2F5F9"/>
          </a:solidFill>
          <a:ln/>
        </p:spPr>
      </p:sp>
      <p:sp>
        <p:nvSpPr>
          <p:cNvPr id="13" name="Shape 9"/>
          <p:cNvSpPr/>
          <p:nvPr/>
        </p:nvSpPr>
        <p:spPr>
          <a:xfrm>
            <a:off x="6370168" y="2305431"/>
            <a:ext cx="566928" cy="566928"/>
          </a:xfrm>
          <a:prstGeom prst="ellipse">
            <a:avLst/>
          </a:prstGeom>
          <a:solidFill>
            <a:srgbClr val="2E86C7"/>
          </a:solidFill>
          <a:ln/>
        </p:spPr>
      </p:sp>
      <p:pic>
        <p:nvPicPr>
          <p:cNvPr id="14" name="Image 1" descr="/tmp/claude-0/-home-user-riesgo/0ff9ff46-1396-5bd8-b3ac-2280dfbbbc55/scratchpad/work/gen/icons/cable_white.png">    </p:cNvPr>
          <p:cNvPicPr>
            <a:picLocks noChangeAspect="1"/>
          </p:cNvPicPr>
          <p:nvPr/>
        </p:nvPicPr>
        <p:blipFill>
          <a:blip r:embed="rId2"/>
          <a:stretch>
            <a:fillRect/>
          </a:stretch>
        </p:blipFill>
        <p:spPr>
          <a:xfrm>
            <a:off x="6506230" y="2441494"/>
            <a:ext cx="294803" cy="294803"/>
          </a:xfrm>
          <a:prstGeom prst="rect">
            <a:avLst/>
          </a:prstGeom>
        </p:spPr>
      </p:pic>
      <p:sp>
        <p:nvSpPr>
          <p:cNvPr id="15" name="Shape 10"/>
          <p:cNvSpPr/>
          <p:nvPr/>
        </p:nvSpPr>
        <p:spPr>
          <a:xfrm>
            <a:off x="6799936" y="2250567"/>
            <a:ext cx="292608" cy="292608"/>
          </a:xfrm>
          <a:prstGeom prst="ellipse">
            <a:avLst/>
          </a:prstGeom>
          <a:solidFill>
            <a:srgbClr val="133B6C"/>
          </a:solidFill>
          <a:ln/>
        </p:spPr>
      </p:sp>
      <p:sp>
        <p:nvSpPr>
          <p:cNvPr id="16" name="Text 11"/>
          <p:cNvSpPr txBox="1"/>
          <p:nvPr/>
        </p:nvSpPr>
        <p:spPr>
          <a:xfrm>
            <a:off x="6799936" y="2241423"/>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2</a:t>
            </a:r>
            <a:endParaRPr lang="en-US" sz="1088" dirty="0"/>
          </a:p>
        </p:txBody>
      </p:sp>
      <p:sp>
        <p:nvSpPr>
          <p:cNvPr id="17" name="Text 12"/>
          <p:cNvSpPr txBox="1"/>
          <p:nvPr/>
        </p:nvSpPr>
        <p:spPr>
          <a:xfrm>
            <a:off x="7074256" y="2221992"/>
            <a:ext cx="4404208" cy="733806"/>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Cable suelto que puede provocar una caída.</a:t>
            </a:r>
            <a:endParaRPr lang="en-US" sz="1200" dirty="0"/>
          </a:p>
        </p:txBody>
      </p:sp>
      <p:sp>
        <p:nvSpPr>
          <p:cNvPr id="18" name="Shape 13"/>
          <p:cNvSpPr/>
          <p:nvPr/>
        </p:nvSpPr>
        <p:spPr>
          <a:xfrm>
            <a:off x="566928" y="3175254"/>
            <a:ext cx="5391760" cy="880110"/>
          </a:xfrm>
          <a:prstGeom prst="roundRect">
            <a:avLst>
              <a:gd name="adj" fmla="val 9351"/>
            </a:avLst>
          </a:prstGeom>
          <a:solidFill>
            <a:srgbClr val="F2F5F9"/>
          </a:solidFill>
          <a:ln/>
        </p:spPr>
      </p:sp>
      <p:sp>
        <p:nvSpPr>
          <p:cNvPr id="19" name="Shape 14"/>
          <p:cNvSpPr/>
          <p:nvPr/>
        </p:nvSpPr>
        <p:spPr>
          <a:xfrm>
            <a:off x="704088" y="3331845"/>
            <a:ext cx="566928" cy="566928"/>
          </a:xfrm>
          <a:prstGeom prst="ellipse">
            <a:avLst/>
          </a:prstGeom>
          <a:solidFill>
            <a:srgbClr val="2E86C7"/>
          </a:solidFill>
          <a:ln/>
        </p:spPr>
      </p:sp>
      <p:pic>
        <p:nvPicPr>
          <p:cNvPr id="20" name="Image 2" descr="/tmp/claude-0/-home-user-riesgo/0ff9ff46-1396-5bd8-b3ac-2280dfbbbc55/scratchpad/work/gen/icons/password_white.png">    </p:cNvPr>
          <p:cNvPicPr>
            <a:picLocks noChangeAspect="1"/>
          </p:cNvPicPr>
          <p:nvPr/>
        </p:nvPicPr>
        <p:blipFill>
          <a:blip r:embed="rId3"/>
          <a:stretch>
            <a:fillRect/>
          </a:stretch>
        </p:blipFill>
        <p:spPr>
          <a:xfrm>
            <a:off x="840151" y="3467908"/>
            <a:ext cx="294803" cy="294803"/>
          </a:xfrm>
          <a:prstGeom prst="rect">
            <a:avLst/>
          </a:prstGeom>
        </p:spPr>
      </p:pic>
      <p:sp>
        <p:nvSpPr>
          <p:cNvPr id="21" name="Shape 15"/>
          <p:cNvSpPr/>
          <p:nvPr/>
        </p:nvSpPr>
        <p:spPr>
          <a:xfrm>
            <a:off x="1133856" y="3276981"/>
            <a:ext cx="292608" cy="292608"/>
          </a:xfrm>
          <a:prstGeom prst="ellipse">
            <a:avLst/>
          </a:prstGeom>
          <a:solidFill>
            <a:srgbClr val="133B6C"/>
          </a:solidFill>
          <a:ln/>
        </p:spPr>
      </p:sp>
      <p:sp>
        <p:nvSpPr>
          <p:cNvPr id="22" name="Text 16"/>
          <p:cNvSpPr txBox="1"/>
          <p:nvPr/>
        </p:nvSpPr>
        <p:spPr>
          <a:xfrm>
            <a:off x="1133856" y="3267837"/>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3</a:t>
            </a:r>
            <a:endParaRPr lang="en-US" sz="1088" dirty="0"/>
          </a:p>
        </p:txBody>
      </p:sp>
      <p:sp>
        <p:nvSpPr>
          <p:cNvPr id="23" name="Text 17"/>
          <p:cNvSpPr txBox="1"/>
          <p:nvPr/>
        </p:nvSpPr>
        <p:spPr>
          <a:xfrm>
            <a:off x="1408176" y="3248406"/>
            <a:ext cx="4404208" cy="733806"/>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Contraseña anotada y visible para cualquiera.</a:t>
            </a:r>
            <a:endParaRPr lang="en-US" sz="1200" dirty="0"/>
          </a:p>
        </p:txBody>
      </p:sp>
      <p:sp>
        <p:nvSpPr>
          <p:cNvPr id="24" name="Shape 18"/>
          <p:cNvSpPr/>
          <p:nvPr/>
        </p:nvSpPr>
        <p:spPr>
          <a:xfrm>
            <a:off x="6233008" y="3175254"/>
            <a:ext cx="5391760" cy="880110"/>
          </a:xfrm>
          <a:prstGeom prst="roundRect">
            <a:avLst>
              <a:gd name="adj" fmla="val 9351"/>
            </a:avLst>
          </a:prstGeom>
          <a:solidFill>
            <a:srgbClr val="F2F5F9"/>
          </a:solidFill>
          <a:ln/>
        </p:spPr>
      </p:sp>
      <p:sp>
        <p:nvSpPr>
          <p:cNvPr id="25" name="Shape 19"/>
          <p:cNvSpPr/>
          <p:nvPr/>
        </p:nvSpPr>
        <p:spPr>
          <a:xfrm>
            <a:off x="6370168" y="3331845"/>
            <a:ext cx="566928" cy="566928"/>
          </a:xfrm>
          <a:prstGeom prst="ellipse">
            <a:avLst/>
          </a:prstGeom>
          <a:solidFill>
            <a:srgbClr val="2E86C7"/>
          </a:solidFill>
          <a:ln/>
        </p:spPr>
      </p:sp>
      <p:pic>
        <p:nvPicPr>
          <p:cNvPr id="26" name="Image 3" descr="/tmp/claude-0/-home-user-riesgo/0ff9ff46-1396-5bd8-b3ac-2280dfbbbc55/scratchpad/work/gen/icons/door_open_white.png">    </p:cNvPr>
          <p:cNvPicPr>
            <a:picLocks noChangeAspect="1"/>
          </p:cNvPicPr>
          <p:nvPr/>
        </p:nvPicPr>
        <p:blipFill>
          <a:blip r:embed="rId4"/>
          <a:stretch>
            <a:fillRect/>
          </a:stretch>
        </p:blipFill>
        <p:spPr>
          <a:xfrm>
            <a:off x="6506230" y="3467908"/>
            <a:ext cx="294803" cy="294803"/>
          </a:xfrm>
          <a:prstGeom prst="rect">
            <a:avLst/>
          </a:prstGeom>
        </p:spPr>
      </p:pic>
      <p:sp>
        <p:nvSpPr>
          <p:cNvPr id="27" name="Shape 20"/>
          <p:cNvSpPr/>
          <p:nvPr/>
        </p:nvSpPr>
        <p:spPr>
          <a:xfrm>
            <a:off x="6799936" y="3276981"/>
            <a:ext cx="292608" cy="292608"/>
          </a:xfrm>
          <a:prstGeom prst="ellipse">
            <a:avLst/>
          </a:prstGeom>
          <a:solidFill>
            <a:srgbClr val="133B6C"/>
          </a:solidFill>
          <a:ln/>
        </p:spPr>
      </p:sp>
      <p:sp>
        <p:nvSpPr>
          <p:cNvPr id="28" name="Text 21"/>
          <p:cNvSpPr txBox="1"/>
          <p:nvPr/>
        </p:nvSpPr>
        <p:spPr>
          <a:xfrm>
            <a:off x="6799936" y="3267837"/>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4</a:t>
            </a:r>
            <a:endParaRPr lang="en-US" sz="1088" dirty="0"/>
          </a:p>
        </p:txBody>
      </p:sp>
      <p:sp>
        <p:nvSpPr>
          <p:cNvPr id="29" name="Text 22"/>
          <p:cNvSpPr txBox="1"/>
          <p:nvPr/>
        </p:nvSpPr>
        <p:spPr>
          <a:xfrm>
            <a:off x="7074256" y="3248406"/>
            <a:ext cx="4404208" cy="733806"/>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Puerta de un área restringida abierta.</a:t>
            </a:r>
            <a:endParaRPr lang="en-US" sz="1200" dirty="0"/>
          </a:p>
        </p:txBody>
      </p:sp>
      <p:sp>
        <p:nvSpPr>
          <p:cNvPr id="30" name="Shape 23"/>
          <p:cNvSpPr/>
          <p:nvPr/>
        </p:nvSpPr>
        <p:spPr>
          <a:xfrm>
            <a:off x="566928" y="4201668"/>
            <a:ext cx="5391760" cy="880110"/>
          </a:xfrm>
          <a:prstGeom prst="roundRect">
            <a:avLst>
              <a:gd name="adj" fmla="val 9351"/>
            </a:avLst>
          </a:prstGeom>
          <a:solidFill>
            <a:srgbClr val="F2F5F9"/>
          </a:solidFill>
          <a:ln/>
        </p:spPr>
      </p:sp>
      <p:sp>
        <p:nvSpPr>
          <p:cNvPr id="31" name="Shape 24"/>
          <p:cNvSpPr/>
          <p:nvPr/>
        </p:nvSpPr>
        <p:spPr>
          <a:xfrm>
            <a:off x="704088" y="4358259"/>
            <a:ext cx="566928" cy="566928"/>
          </a:xfrm>
          <a:prstGeom prst="ellipse">
            <a:avLst/>
          </a:prstGeom>
          <a:solidFill>
            <a:srgbClr val="2E86C7"/>
          </a:solidFill>
          <a:ln/>
        </p:spPr>
      </p:sp>
      <p:pic>
        <p:nvPicPr>
          <p:cNvPr id="32" name="Image 4" descr="/tmp/claude-0/-home-user-riesgo/0ff9ff46-1396-5bd8-b3ac-2280dfbbbc55/scratchpad/work/gen/icons/x_circle_white.png">    </p:cNvPr>
          <p:cNvPicPr>
            <a:picLocks noChangeAspect="1"/>
          </p:cNvPicPr>
          <p:nvPr/>
        </p:nvPicPr>
        <p:blipFill>
          <a:blip r:embed="rId5"/>
          <a:stretch>
            <a:fillRect/>
          </a:stretch>
        </p:blipFill>
        <p:spPr>
          <a:xfrm>
            <a:off x="840151" y="4494322"/>
            <a:ext cx="294803" cy="294803"/>
          </a:xfrm>
          <a:prstGeom prst="rect">
            <a:avLst/>
          </a:prstGeom>
        </p:spPr>
      </p:pic>
      <p:sp>
        <p:nvSpPr>
          <p:cNvPr id="33" name="Shape 25"/>
          <p:cNvSpPr/>
          <p:nvPr/>
        </p:nvSpPr>
        <p:spPr>
          <a:xfrm>
            <a:off x="1133856" y="4303395"/>
            <a:ext cx="292608" cy="292608"/>
          </a:xfrm>
          <a:prstGeom prst="ellipse">
            <a:avLst/>
          </a:prstGeom>
          <a:solidFill>
            <a:srgbClr val="133B6C"/>
          </a:solidFill>
          <a:ln/>
        </p:spPr>
      </p:sp>
      <p:sp>
        <p:nvSpPr>
          <p:cNvPr id="34" name="Text 26"/>
          <p:cNvSpPr txBox="1"/>
          <p:nvPr/>
        </p:nvSpPr>
        <p:spPr>
          <a:xfrm>
            <a:off x="1133856" y="4294251"/>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5</a:t>
            </a:r>
            <a:endParaRPr lang="en-US" sz="1088" dirty="0"/>
          </a:p>
        </p:txBody>
      </p:sp>
      <p:sp>
        <p:nvSpPr>
          <p:cNvPr id="35" name="Text 27"/>
          <p:cNvSpPr txBox="1"/>
          <p:nvPr/>
        </p:nvSpPr>
        <p:spPr>
          <a:xfrm>
            <a:off x="1408176" y="4274820"/>
            <a:ext cx="4404208" cy="733806"/>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Un dato o cifra registrado de forma incorrecta.</a:t>
            </a:r>
            <a:endParaRPr lang="en-US" sz="1200" dirty="0"/>
          </a:p>
        </p:txBody>
      </p:sp>
      <p:sp>
        <p:nvSpPr>
          <p:cNvPr id="36" name="Shape 28"/>
          <p:cNvSpPr/>
          <p:nvPr/>
        </p:nvSpPr>
        <p:spPr>
          <a:xfrm>
            <a:off x="6233008" y="4201668"/>
            <a:ext cx="5391760" cy="880110"/>
          </a:xfrm>
          <a:prstGeom prst="roundRect">
            <a:avLst>
              <a:gd name="adj" fmla="val 9351"/>
            </a:avLst>
          </a:prstGeom>
          <a:solidFill>
            <a:srgbClr val="F2F5F9"/>
          </a:solidFill>
          <a:ln/>
        </p:spPr>
      </p:sp>
      <p:sp>
        <p:nvSpPr>
          <p:cNvPr id="37" name="Shape 29"/>
          <p:cNvSpPr/>
          <p:nvPr/>
        </p:nvSpPr>
        <p:spPr>
          <a:xfrm>
            <a:off x="6370168" y="4358259"/>
            <a:ext cx="566928" cy="566928"/>
          </a:xfrm>
          <a:prstGeom prst="ellipse">
            <a:avLst/>
          </a:prstGeom>
          <a:solidFill>
            <a:srgbClr val="2E86C7"/>
          </a:solidFill>
          <a:ln/>
        </p:spPr>
      </p:sp>
      <p:pic>
        <p:nvPicPr>
          <p:cNvPr id="38" name="Image 5" descr="/tmp/claude-0/-home-user-riesgo/0ff9ff46-1396-5bd8-b3ac-2280dfbbbc55/scratchpad/work/gen/icons/computer_white.png">    </p:cNvPr>
          <p:cNvPicPr>
            <a:picLocks noChangeAspect="1"/>
          </p:cNvPicPr>
          <p:nvPr/>
        </p:nvPicPr>
        <p:blipFill>
          <a:blip r:embed="rId6"/>
          <a:stretch>
            <a:fillRect/>
          </a:stretch>
        </p:blipFill>
        <p:spPr>
          <a:xfrm>
            <a:off x="6506230" y="4494322"/>
            <a:ext cx="294803" cy="294803"/>
          </a:xfrm>
          <a:prstGeom prst="rect">
            <a:avLst/>
          </a:prstGeom>
        </p:spPr>
      </p:pic>
      <p:sp>
        <p:nvSpPr>
          <p:cNvPr id="39" name="Shape 30"/>
          <p:cNvSpPr/>
          <p:nvPr/>
        </p:nvSpPr>
        <p:spPr>
          <a:xfrm>
            <a:off x="6799936" y="4303395"/>
            <a:ext cx="292608" cy="292608"/>
          </a:xfrm>
          <a:prstGeom prst="ellipse">
            <a:avLst/>
          </a:prstGeom>
          <a:solidFill>
            <a:srgbClr val="133B6C"/>
          </a:solidFill>
          <a:ln/>
        </p:spPr>
      </p:sp>
      <p:sp>
        <p:nvSpPr>
          <p:cNvPr id="40" name="Text 31"/>
          <p:cNvSpPr txBox="1"/>
          <p:nvPr/>
        </p:nvSpPr>
        <p:spPr>
          <a:xfrm>
            <a:off x="6799936" y="4294251"/>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6</a:t>
            </a:r>
            <a:endParaRPr lang="en-US" sz="1088" dirty="0"/>
          </a:p>
        </p:txBody>
      </p:sp>
      <p:sp>
        <p:nvSpPr>
          <p:cNvPr id="41" name="Text 32"/>
          <p:cNvSpPr txBox="1"/>
          <p:nvPr/>
        </p:nvSpPr>
        <p:spPr>
          <a:xfrm>
            <a:off x="7074256" y="4274820"/>
            <a:ext cx="4404208" cy="733806"/>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Equipo desatendido y sin bloqueo de pantalla.</a:t>
            </a:r>
            <a:endParaRPr lang="en-US" sz="1200" dirty="0"/>
          </a:p>
        </p:txBody>
      </p:sp>
      <p:sp>
        <p:nvSpPr>
          <p:cNvPr id="42" name="Shape 33"/>
          <p:cNvSpPr/>
          <p:nvPr/>
        </p:nvSpPr>
        <p:spPr>
          <a:xfrm>
            <a:off x="566928" y="5228082"/>
            <a:ext cx="5391760" cy="880110"/>
          </a:xfrm>
          <a:prstGeom prst="roundRect">
            <a:avLst>
              <a:gd name="adj" fmla="val 9351"/>
            </a:avLst>
          </a:prstGeom>
          <a:solidFill>
            <a:srgbClr val="F2F5F9"/>
          </a:solidFill>
          <a:ln/>
        </p:spPr>
      </p:sp>
      <p:sp>
        <p:nvSpPr>
          <p:cNvPr id="43" name="Shape 34"/>
          <p:cNvSpPr/>
          <p:nvPr/>
        </p:nvSpPr>
        <p:spPr>
          <a:xfrm>
            <a:off x="704088" y="5384673"/>
            <a:ext cx="566928" cy="566928"/>
          </a:xfrm>
          <a:prstGeom prst="ellipse">
            <a:avLst/>
          </a:prstGeom>
          <a:solidFill>
            <a:srgbClr val="2E86C7"/>
          </a:solidFill>
          <a:ln/>
        </p:spPr>
      </p:sp>
      <p:pic>
        <p:nvPicPr>
          <p:cNvPr id="44" name="Image 6" descr="/tmp/claude-0/-home-user-riesgo/0ff9ff46-1396-5bd8-b3ac-2280dfbbbc55/scratchpad/work/gen/icons/chat_white.png">    </p:cNvPr>
          <p:cNvPicPr>
            <a:picLocks noChangeAspect="1"/>
          </p:cNvPicPr>
          <p:nvPr/>
        </p:nvPicPr>
        <p:blipFill>
          <a:blip r:embed="rId7"/>
          <a:stretch>
            <a:fillRect/>
          </a:stretch>
        </p:blipFill>
        <p:spPr>
          <a:xfrm>
            <a:off x="840151" y="5520736"/>
            <a:ext cx="294803" cy="294803"/>
          </a:xfrm>
          <a:prstGeom prst="rect">
            <a:avLst/>
          </a:prstGeom>
        </p:spPr>
      </p:pic>
      <p:sp>
        <p:nvSpPr>
          <p:cNvPr id="45" name="Shape 35"/>
          <p:cNvSpPr/>
          <p:nvPr/>
        </p:nvSpPr>
        <p:spPr>
          <a:xfrm>
            <a:off x="1133856" y="5329809"/>
            <a:ext cx="292608" cy="292608"/>
          </a:xfrm>
          <a:prstGeom prst="ellipse">
            <a:avLst/>
          </a:prstGeom>
          <a:solidFill>
            <a:srgbClr val="133B6C"/>
          </a:solidFill>
          <a:ln/>
        </p:spPr>
      </p:sp>
      <p:sp>
        <p:nvSpPr>
          <p:cNvPr id="46" name="Text 36"/>
          <p:cNvSpPr txBox="1"/>
          <p:nvPr/>
        </p:nvSpPr>
        <p:spPr>
          <a:xfrm>
            <a:off x="1133856" y="5320665"/>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7</a:t>
            </a:r>
            <a:endParaRPr lang="en-US" sz="1088" dirty="0"/>
          </a:p>
        </p:txBody>
      </p:sp>
      <p:sp>
        <p:nvSpPr>
          <p:cNvPr id="47" name="Text 37"/>
          <p:cNvSpPr txBox="1"/>
          <p:nvPr/>
        </p:nvSpPr>
        <p:spPr>
          <a:xfrm>
            <a:off x="1408176" y="5301234"/>
            <a:ext cx="4404208" cy="733806"/>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Información institucional comentada fuera de lugar.</a:t>
            </a:r>
            <a:endParaRPr lang="en-US" sz="1200" dirty="0"/>
          </a:p>
        </p:txBody>
      </p:sp>
      <p:sp>
        <p:nvSpPr>
          <p:cNvPr id="48" name="Shape 38"/>
          <p:cNvSpPr/>
          <p:nvPr/>
        </p:nvSpPr>
        <p:spPr>
          <a:xfrm>
            <a:off x="6233008" y="5228082"/>
            <a:ext cx="5391760" cy="880110"/>
          </a:xfrm>
          <a:prstGeom prst="roundRect">
            <a:avLst>
              <a:gd name="adj" fmla="val 9351"/>
            </a:avLst>
          </a:prstGeom>
          <a:solidFill>
            <a:srgbClr val="F2F5F9"/>
          </a:solidFill>
          <a:ln/>
        </p:spPr>
      </p:sp>
      <p:sp>
        <p:nvSpPr>
          <p:cNvPr id="49" name="Shape 39"/>
          <p:cNvSpPr/>
          <p:nvPr/>
        </p:nvSpPr>
        <p:spPr>
          <a:xfrm>
            <a:off x="6370168" y="5384673"/>
            <a:ext cx="566928" cy="566928"/>
          </a:xfrm>
          <a:prstGeom prst="ellipse">
            <a:avLst/>
          </a:prstGeom>
          <a:solidFill>
            <a:srgbClr val="2E86C7"/>
          </a:solidFill>
          <a:ln/>
        </p:spPr>
      </p:sp>
      <p:pic>
        <p:nvPicPr>
          <p:cNvPr id="50" name="Image 7" descr="/tmp/claude-0/-home-user-riesgo/0ff9ff46-1396-5bd8-b3ac-2280dfbbbc55/scratchpad/work/gen/icons/id_card_white.png">    </p:cNvPr>
          <p:cNvPicPr>
            <a:picLocks noChangeAspect="1"/>
          </p:cNvPicPr>
          <p:nvPr/>
        </p:nvPicPr>
        <p:blipFill>
          <a:blip r:embed="rId8"/>
          <a:stretch>
            <a:fillRect/>
          </a:stretch>
        </p:blipFill>
        <p:spPr>
          <a:xfrm>
            <a:off x="6506230" y="5520736"/>
            <a:ext cx="294803" cy="294803"/>
          </a:xfrm>
          <a:prstGeom prst="rect">
            <a:avLst/>
          </a:prstGeom>
        </p:spPr>
      </p:pic>
      <p:sp>
        <p:nvSpPr>
          <p:cNvPr id="51" name="Shape 40"/>
          <p:cNvSpPr/>
          <p:nvPr/>
        </p:nvSpPr>
        <p:spPr>
          <a:xfrm>
            <a:off x="6799936" y="5329809"/>
            <a:ext cx="292608" cy="292608"/>
          </a:xfrm>
          <a:prstGeom prst="ellipse">
            <a:avLst/>
          </a:prstGeom>
          <a:solidFill>
            <a:srgbClr val="133B6C"/>
          </a:solidFill>
          <a:ln/>
        </p:spPr>
      </p:sp>
      <p:sp>
        <p:nvSpPr>
          <p:cNvPr id="52" name="Text 41"/>
          <p:cNvSpPr txBox="1"/>
          <p:nvPr/>
        </p:nvSpPr>
        <p:spPr>
          <a:xfrm>
            <a:off x="6799936" y="5320665"/>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8</a:t>
            </a:r>
            <a:endParaRPr lang="en-US" sz="1088" dirty="0"/>
          </a:p>
        </p:txBody>
      </p:sp>
      <p:sp>
        <p:nvSpPr>
          <p:cNvPr id="53" name="Text 42"/>
          <p:cNvSpPr txBox="1"/>
          <p:nvPr/>
        </p:nvSpPr>
        <p:spPr>
          <a:xfrm>
            <a:off x="7074256" y="5301234"/>
            <a:ext cx="4404208" cy="733806"/>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Gafete o credencial olvidado a la vista de todos.</a:t>
            </a:r>
            <a:endParaRPr lang="en-US" sz="1200" dirty="0"/>
          </a:p>
        </p:txBody>
      </p:sp>
      <p:sp>
        <p:nvSpPr>
          <p:cNvPr id="54" name="Text 43"/>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55" name="Text 44"/>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4</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4FA8E0"/>
                </a:solidFill>
                <a:latin typeface="Calibri" pitchFamily="34" charset="0"/>
                <a:ea typeface="Calibri" pitchFamily="34" charset="-122"/>
                <a:cs typeface="Calibri" pitchFamily="34" charset="-120"/>
              </a:rPr>
              <a:t>TEMA 1 · TODOS SOMOS GESTORES DE RIESGOS</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600" b="1" dirty="0">
                <a:solidFill>
                  <a:srgbClr val="133B6C"/>
                </a:solidFill>
                <a:latin typeface="Cambria" pitchFamily="34" charset="0"/>
                <a:ea typeface="Cambria" pitchFamily="34" charset="-122"/>
                <a:cs typeface="Cambria" pitchFamily="34" charset="-120"/>
              </a:rPr>
              <a:t>TODOS SOMOS GESTORES DE RIESGOS</a:t>
            </a:r>
            <a:endParaRPr lang="en-US" sz="26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La gestión de riesgos no es responsabilidad de un solo departamento. Sin importar tu cargo, puedes:</a:t>
            </a:r>
            <a:endParaRPr lang="en-US" sz="1500" dirty="0"/>
          </a:p>
        </p:txBody>
      </p:sp>
      <p:sp>
        <p:nvSpPr>
          <p:cNvPr id="6" name="Shape 3"/>
          <p:cNvSpPr/>
          <p:nvPr/>
        </p:nvSpPr>
        <p:spPr>
          <a:xfrm>
            <a:off x="566928" y="2148840"/>
            <a:ext cx="3490874" cy="1431036"/>
          </a:xfrm>
          <a:prstGeom prst="roundRect">
            <a:avLst>
              <a:gd name="adj" fmla="val 6390"/>
            </a:avLst>
          </a:prstGeom>
          <a:solidFill>
            <a:srgbClr val="F2F5F9"/>
          </a:solidFill>
          <a:ln/>
        </p:spPr>
      </p:sp>
      <p:sp>
        <p:nvSpPr>
          <p:cNvPr id="7" name="Shape 4"/>
          <p:cNvSpPr/>
          <p:nvPr/>
        </p:nvSpPr>
        <p:spPr>
          <a:xfrm>
            <a:off x="2028901" y="2313432"/>
            <a:ext cx="566928" cy="566928"/>
          </a:xfrm>
          <a:prstGeom prst="ellipse">
            <a:avLst/>
          </a:prstGeom>
          <a:solidFill>
            <a:srgbClr val="4FA8E0"/>
          </a:solidFill>
          <a:ln/>
        </p:spPr>
      </p:sp>
      <p:pic>
        <p:nvPicPr>
          <p:cNvPr id="8" name="Image 0" descr="/tmp/claude-0/-home-user-riesgo/0ff9ff46-1396-5bd8-b3ac-2280dfbbbc55/scratchpad/work/gen/icons/magnifier_white.png">    </p:cNvPr>
          <p:cNvPicPr>
            <a:picLocks noChangeAspect="1"/>
          </p:cNvPicPr>
          <p:nvPr/>
        </p:nvPicPr>
        <p:blipFill>
          <a:blip r:embed="rId1"/>
          <a:stretch>
            <a:fillRect/>
          </a:stretch>
        </p:blipFill>
        <p:spPr>
          <a:xfrm>
            <a:off x="2164964" y="2449495"/>
            <a:ext cx="294803" cy="294803"/>
          </a:xfrm>
          <a:prstGeom prst="rect">
            <a:avLst/>
          </a:prstGeom>
        </p:spPr>
      </p:pic>
      <p:sp>
        <p:nvSpPr>
          <p:cNvPr id="9" name="Text 5"/>
          <p:cNvSpPr txBox="1"/>
          <p:nvPr/>
        </p:nvSpPr>
        <p:spPr>
          <a:xfrm>
            <a:off x="676656" y="3026664"/>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Identificar</a:t>
            </a:r>
            <a:endParaRPr lang="en-US" sz="1250" dirty="0"/>
          </a:p>
        </p:txBody>
      </p:sp>
      <p:sp>
        <p:nvSpPr>
          <p:cNvPr id="10" name="Shape 6"/>
          <p:cNvSpPr/>
          <p:nvPr/>
        </p:nvSpPr>
        <p:spPr>
          <a:xfrm>
            <a:off x="4350410" y="2148840"/>
            <a:ext cx="3490874" cy="1431036"/>
          </a:xfrm>
          <a:prstGeom prst="roundRect">
            <a:avLst>
              <a:gd name="adj" fmla="val 6390"/>
            </a:avLst>
          </a:prstGeom>
          <a:solidFill>
            <a:srgbClr val="F2F5F9"/>
          </a:solidFill>
          <a:ln/>
        </p:spPr>
      </p:sp>
      <p:sp>
        <p:nvSpPr>
          <p:cNvPr id="11" name="Shape 7"/>
          <p:cNvSpPr/>
          <p:nvPr/>
        </p:nvSpPr>
        <p:spPr>
          <a:xfrm>
            <a:off x="5812384" y="2313432"/>
            <a:ext cx="566928" cy="566928"/>
          </a:xfrm>
          <a:prstGeom prst="ellipse">
            <a:avLst/>
          </a:prstGeom>
          <a:solidFill>
            <a:srgbClr val="4FA8E0"/>
          </a:solidFill>
          <a:ln/>
        </p:spPr>
      </p:sp>
      <p:pic>
        <p:nvPicPr>
          <p:cNvPr id="12" name="Image 1" descr="/tmp/claude-0/-home-user-riesgo/0ff9ff46-1396-5bd8-b3ac-2280dfbbbc55/scratchpad/work/gen/icons/shield_check_white.png">    </p:cNvPr>
          <p:cNvPicPr>
            <a:picLocks noChangeAspect="1"/>
          </p:cNvPicPr>
          <p:nvPr/>
        </p:nvPicPr>
        <p:blipFill>
          <a:blip r:embed="rId2"/>
          <a:stretch>
            <a:fillRect/>
          </a:stretch>
        </p:blipFill>
        <p:spPr>
          <a:xfrm>
            <a:off x="5948446" y="2449495"/>
            <a:ext cx="294803" cy="294803"/>
          </a:xfrm>
          <a:prstGeom prst="rect">
            <a:avLst/>
          </a:prstGeom>
        </p:spPr>
      </p:pic>
      <p:sp>
        <p:nvSpPr>
          <p:cNvPr id="13" name="Text 8"/>
          <p:cNvSpPr txBox="1"/>
          <p:nvPr/>
        </p:nvSpPr>
        <p:spPr>
          <a:xfrm>
            <a:off x="4460138" y="3026664"/>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Prevenir</a:t>
            </a:r>
            <a:endParaRPr lang="en-US" sz="1250" dirty="0"/>
          </a:p>
        </p:txBody>
      </p:sp>
      <p:sp>
        <p:nvSpPr>
          <p:cNvPr id="14" name="Shape 9"/>
          <p:cNvSpPr/>
          <p:nvPr/>
        </p:nvSpPr>
        <p:spPr>
          <a:xfrm>
            <a:off x="8133893" y="2148840"/>
            <a:ext cx="3490874" cy="1431036"/>
          </a:xfrm>
          <a:prstGeom prst="roundRect">
            <a:avLst>
              <a:gd name="adj" fmla="val 6390"/>
            </a:avLst>
          </a:prstGeom>
          <a:solidFill>
            <a:srgbClr val="F2F5F9"/>
          </a:solidFill>
          <a:ln/>
        </p:spPr>
      </p:sp>
      <p:sp>
        <p:nvSpPr>
          <p:cNvPr id="15" name="Shape 10"/>
          <p:cNvSpPr/>
          <p:nvPr/>
        </p:nvSpPr>
        <p:spPr>
          <a:xfrm>
            <a:off x="9595866" y="2313432"/>
            <a:ext cx="566928" cy="566928"/>
          </a:xfrm>
          <a:prstGeom prst="ellipse">
            <a:avLst/>
          </a:prstGeom>
          <a:solidFill>
            <a:srgbClr val="4FA8E0"/>
          </a:solidFill>
          <a:ln/>
        </p:spPr>
      </p:sp>
      <p:pic>
        <p:nvPicPr>
          <p:cNvPr id="16" name="Image 2" descr="/tmp/claude-0/-home-user-riesgo/0ff9ff46-1396-5bd8-b3ac-2280dfbbbc55/scratchpad/work/gen/icons/gear_white.png">    </p:cNvPr>
          <p:cNvPicPr>
            <a:picLocks noChangeAspect="1"/>
          </p:cNvPicPr>
          <p:nvPr/>
        </p:nvPicPr>
        <p:blipFill>
          <a:blip r:embed="rId3"/>
          <a:stretch>
            <a:fillRect/>
          </a:stretch>
        </p:blipFill>
        <p:spPr>
          <a:xfrm>
            <a:off x="9731929" y="2449495"/>
            <a:ext cx="294803" cy="294803"/>
          </a:xfrm>
          <a:prstGeom prst="rect">
            <a:avLst/>
          </a:prstGeom>
        </p:spPr>
      </p:pic>
      <p:sp>
        <p:nvSpPr>
          <p:cNvPr id="17" name="Text 11"/>
          <p:cNvSpPr txBox="1"/>
          <p:nvPr/>
        </p:nvSpPr>
        <p:spPr>
          <a:xfrm>
            <a:off x="8243621" y="3026664"/>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Controlar</a:t>
            </a:r>
            <a:endParaRPr lang="en-US" sz="1250" dirty="0"/>
          </a:p>
        </p:txBody>
      </p:sp>
      <p:sp>
        <p:nvSpPr>
          <p:cNvPr id="18" name="Shape 12"/>
          <p:cNvSpPr/>
          <p:nvPr/>
        </p:nvSpPr>
        <p:spPr>
          <a:xfrm>
            <a:off x="566928" y="3835908"/>
            <a:ext cx="3490874" cy="1431036"/>
          </a:xfrm>
          <a:prstGeom prst="roundRect">
            <a:avLst>
              <a:gd name="adj" fmla="val 6390"/>
            </a:avLst>
          </a:prstGeom>
          <a:solidFill>
            <a:srgbClr val="F2F5F9"/>
          </a:solidFill>
          <a:ln/>
        </p:spPr>
      </p:sp>
      <p:sp>
        <p:nvSpPr>
          <p:cNvPr id="19" name="Shape 13"/>
          <p:cNvSpPr/>
          <p:nvPr/>
        </p:nvSpPr>
        <p:spPr>
          <a:xfrm>
            <a:off x="2028901" y="4000500"/>
            <a:ext cx="566928" cy="566928"/>
          </a:xfrm>
          <a:prstGeom prst="ellipse">
            <a:avLst/>
          </a:prstGeom>
          <a:solidFill>
            <a:srgbClr val="4FA8E0"/>
          </a:solidFill>
          <a:ln/>
        </p:spPr>
      </p:sp>
      <p:pic>
        <p:nvPicPr>
          <p:cNvPr id="20" name="Image 3" descr="/tmp/claude-0/-home-user-riesgo/0ff9ff46-1396-5bd8-b3ac-2280dfbbbc55/scratchpad/work/gen/icons/chat_white.png">    </p:cNvPr>
          <p:cNvPicPr>
            <a:picLocks noChangeAspect="1"/>
          </p:cNvPicPr>
          <p:nvPr/>
        </p:nvPicPr>
        <p:blipFill>
          <a:blip r:embed="rId4"/>
          <a:stretch>
            <a:fillRect/>
          </a:stretch>
        </p:blipFill>
        <p:spPr>
          <a:xfrm>
            <a:off x="2164964" y="4136563"/>
            <a:ext cx="294803" cy="294803"/>
          </a:xfrm>
          <a:prstGeom prst="rect">
            <a:avLst/>
          </a:prstGeom>
        </p:spPr>
      </p:pic>
      <p:sp>
        <p:nvSpPr>
          <p:cNvPr id="21" name="Text 14"/>
          <p:cNvSpPr txBox="1"/>
          <p:nvPr/>
        </p:nvSpPr>
        <p:spPr>
          <a:xfrm>
            <a:off x="676656" y="4713732"/>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Comunicar</a:t>
            </a:r>
            <a:endParaRPr lang="en-US" sz="1250" dirty="0"/>
          </a:p>
        </p:txBody>
      </p:sp>
      <p:sp>
        <p:nvSpPr>
          <p:cNvPr id="22" name="Shape 15"/>
          <p:cNvSpPr/>
          <p:nvPr/>
        </p:nvSpPr>
        <p:spPr>
          <a:xfrm>
            <a:off x="4350410" y="3835908"/>
            <a:ext cx="3490874" cy="1431036"/>
          </a:xfrm>
          <a:prstGeom prst="roundRect">
            <a:avLst>
              <a:gd name="adj" fmla="val 6390"/>
            </a:avLst>
          </a:prstGeom>
          <a:solidFill>
            <a:srgbClr val="F2F5F9"/>
          </a:solidFill>
          <a:ln/>
        </p:spPr>
      </p:sp>
      <p:sp>
        <p:nvSpPr>
          <p:cNvPr id="23" name="Shape 16"/>
          <p:cNvSpPr/>
          <p:nvPr/>
        </p:nvSpPr>
        <p:spPr>
          <a:xfrm>
            <a:off x="5812384" y="4000500"/>
            <a:ext cx="566928" cy="566928"/>
          </a:xfrm>
          <a:prstGeom prst="ellipse">
            <a:avLst/>
          </a:prstGeom>
          <a:solidFill>
            <a:srgbClr val="4FA8E0"/>
          </a:solidFill>
          <a:ln/>
        </p:spPr>
      </p:sp>
      <p:pic>
        <p:nvPicPr>
          <p:cNvPr id="24" name="Image 4" descr="/tmp/claude-0/-home-user-riesgo/0ff9ff46-1396-5bd8-b3ac-2280dfbbbc55/scratchpad/work/gen/icons/megaphone_white.png">    </p:cNvPr>
          <p:cNvPicPr>
            <a:picLocks noChangeAspect="1"/>
          </p:cNvPicPr>
          <p:nvPr/>
        </p:nvPicPr>
        <p:blipFill>
          <a:blip r:embed="rId5"/>
          <a:stretch>
            <a:fillRect/>
          </a:stretch>
        </p:blipFill>
        <p:spPr>
          <a:xfrm>
            <a:off x="5948446" y="4136563"/>
            <a:ext cx="294803" cy="294803"/>
          </a:xfrm>
          <a:prstGeom prst="rect">
            <a:avLst/>
          </a:prstGeom>
        </p:spPr>
      </p:pic>
      <p:sp>
        <p:nvSpPr>
          <p:cNvPr id="25" name="Text 17"/>
          <p:cNvSpPr txBox="1"/>
          <p:nvPr/>
        </p:nvSpPr>
        <p:spPr>
          <a:xfrm>
            <a:off x="4460138" y="4713732"/>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Reportar</a:t>
            </a:r>
            <a:endParaRPr lang="en-US" sz="1250" dirty="0"/>
          </a:p>
        </p:txBody>
      </p:sp>
      <p:sp>
        <p:nvSpPr>
          <p:cNvPr id="26" name="Shape 18"/>
          <p:cNvSpPr/>
          <p:nvPr/>
        </p:nvSpPr>
        <p:spPr>
          <a:xfrm>
            <a:off x="8133893" y="3835908"/>
            <a:ext cx="3490874" cy="1431036"/>
          </a:xfrm>
          <a:prstGeom prst="roundRect">
            <a:avLst>
              <a:gd name="adj" fmla="val 6390"/>
            </a:avLst>
          </a:prstGeom>
          <a:solidFill>
            <a:srgbClr val="F2F5F9"/>
          </a:solidFill>
          <a:ln/>
        </p:spPr>
      </p:sp>
      <p:sp>
        <p:nvSpPr>
          <p:cNvPr id="27" name="Shape 19"/>
          <p:cNvSpPr/>
          <p:nvPr/>
        </p:nvSpPr>
        <p:spPr>
          <a:xfrm>
            <a:off x="9595866" y="4000500"/>
            <a:ext cx="566928" cy="566928"/>
          </a:xfrm>
          <a:prstGeom prst="ellipse">
            <a:avLst/>
          </a:prstGeom>
          <a:solidFill>
            <a:srgbClr val="4FA8E0"/>
          </a:solidFill>
          <a:ln/>
        </p:spPr>
      </p:sp>
      <p:pic>
        <p:nvPicPr>
          <p:cNvPr id="28" name="Image 5" descr="/tmp/claude-0/-home-user-riesgo/0ff9ff46-1396-5bd8-b3ac-2280dfbbbc55/scratchpad/work/gen/icons/check_circle_white.png">    </p:cNvPr>
          <p:cNvPicPr>
            <a:picLocks noChangeAspect="1"/>
          </p:cNvPicPr>
          <p:nvPr/>
        </p:nvPicPr>
        <p:blipFill>
          <a:blip r:embed="rId6"/>
          <a:stretch>
            <a:fillRect/>
          </a:stretch>
        </p:blipFill>
        <p:spPr>
          <a:xfrm>
            <a:off x="9731929" y="4136563"/>
            <a:ext cx="294803" cy="294803"/>
          </a:xfrm>
          <a:prstGeom prst="rect">
            <a:avLst/>
          </a:prstGeom>
        </p:spPr>
      </p:pic>
      <p:sp>
        <p:nvSpPr>
          <p:cNvPr id="29" name="Text 20"/>
          <p:cNvSpPr txBox="1"/>
          <p:nvPr/>
        </p:nvSpPr>
        <p:spPr>
          <a:xfrm>
            <a:off x="8243621" y="4713732"/>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Actuar</a:t>
            </a:r>
            <a:endParaRPr lang="en-US" sz="1250" dirty="0"/>
          </a:p>
        </p:txBody>
      </p:sp>
      <p:sp>
        <p:nvSpPr>
          <p:cNvPr id="30" name="Shape 21"/>
          <p:cNvSpPr/>
          <p:nvPr/>
        </p:nvSpPr>
        <p:spPr>
          <a:xfrm>
            <a:off x="566928" y="5449824"/>
            <a:ext cx="11057839" cy="658368"/>
          </a:xfrm>
          <a:prstGeom prst="roundRect">
            <a:avLst>
              <a:gd name="adj" fmla="val 13889"/>
            </a:avLst>
          </a:prstGeom>
          <a:solidFill>
            <a:srgbClr val="4FA8E0"/>
          </a:solidFill>
          <a:ln/>
        </p:spPr>
      </p:sp>
      <p:sp>
        <p:nvSpPr>
          <p:cNvPr id="31" name="Text 22"/>
          <p:cNvSpPr txBox="1"/>
          <p:nvPr/>
        </p:nvSpPr>
        <p:spPr>
          <a:xfrm>
            <a:off x="841248" y="5449824"/>
            <a:ext cx="10509199" cy="658368"/>
          </a:xfrm>
          <a:prstGeom prst="rect">
            <a:avLst/>
          </a:prstGeom>
          <a:noFill/>
          <a:ln/>
        </p:spPr>
        <p:txBody>
          <a:bodyPr wrap="square" lIns="0" tIns="0" rIns="0" bIns="0" rtlCol="0" anchor="ctr"/>
          <a:lstStyle/>
          <a:p>
            <a:pPr algn="ctr" indent="0" marL="0">
              <a:lnSpc>
                <a:spcPct val="108000"/>
              </a:lnSpc>
              <a:buNone/>
            </a:pPr>
            <a:r>
              <a:rPr lang="en-US" sz="1500" b="1" dirty="0">
                <a:solidFill>
                  <a:srgbClr val="FFFFFF"/>
                </a:solidFill>
                <a:latin typeface="Cambria" pitchFamily="34" charset="0"/>
                <a:ea typeface="Cambria" pitchFamily="34" charset="-122"/>
                <a:cs typeface="Cambria" pitchFamily="34" charset="-120"/>
              </a:rPr>
              <a:t>El riesgo puede aparecer en cualquier lugar. La gestión también.</a:t>
            </a:r>
            <a:endParaRPr lang="en-US" sz="1500" dirty="0"/>
          </a:p>
        </p:txBody>
      </p:sp>
      <p:sp>
        <p:nvSpPr>
          <p:cNvPr id="32" name="Text 23"/>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33" name="Text 24"/>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5</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86C7"/>
                </a:solidFill>
                <a:latin typeface="Calibri" pitchFamily="34" charset="0"/>
                <a:ea typeface="Calibri" pitchFamily="34" charset="-122"/>
                <a:cs typeface="Calibri" pitchFamily="34" charset="-120"/>
              </a:rPr>
              <a:t>TEMA 2 · ¿VES UN RIESGO? ¡REPÓRTALO!</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700" b="1" dirty="0">
                <a:solidFill>
                  <a:srgbClr val="133B6C"/>
                </a:solidFill>
                <a:latin typeface="Cambria" pitchFamily="34" charset="0"/>
                <a:ea typeface="Cambria" pitchFamily="34" charset="-122"/>
                <a:cs typeface="Cambria" pitchFamily="34" charset="-120"/>
              </a:rPr>
              <a:t>ESCENARIO: ¿QUÉ HARÍAS?</a:t>
            </a:r>
            <a:endParaRPr lang="en-US" sz="2700" dirty="0"/>
          </a:p>
        </p:txBody>
      </p:sp>
      <p:sp>
        <p:nvSpPr>
          <p:cNvPr id="5" name="Shape 2"/>
          <p:cNvSpPr/>
          <p:nvPr/>
        </p:nvSpPr>
        <p:spPr>
          <a:xfrm>
            <a:off x="566928" y="1783080"/>
            <a:ext cx="11057839" cy="1417320"/>
          </a:xfrm>
          <a:prstGeom prst="roundRect">
            <a:avLst>
              <a:gd name="adj" fmla="val 7742"/>
            </a:avLst>
          </a:prstGeom>
          <a:solidFill>
            <a:srgbClr val="133B6C"/>
          </a:solidFill>
          <a:ln/>
        </p:spPr>
      </p:sp>
      <p:sp>
        <p:nvSpPr>
          <p:cNvPr id="6" name="Shape 3"/>
          <p:cNvSpPr/>
          <p:nvPr/>
        </p:nvSpPr>
        <p:spPr>
          <a:xfrm>
            <a:off x="841248" y="2148840"/>
            <a:ext cx="685800" cy="685800"/>
          </a:xfrm>
          <a:prstGeom prst="ellipse">
            <a:avLst/>
          </a:prstGeom>
          <a:solidFill>
            <a:srgbClr val="2E86C7"/>
          </a:solidFill>
          <a:ln/>
        </p:spPr>
      </p:sp>
      <p:pic>
        <p:nvPicPr>
          <p:cNvPr id="7" name="Image 0" descr="/tmp/claude-0/-home-user-riesgo/0ff9ff46-1396-5bd8-b3ac-2280dfbbbc55/scratchpad/work/gen/icons/document_lock_white.png">    </p:cNvPr>
          <p:cNvPicPr>
            <a:picLocks noChangeAspect="1"/>
          </p:cNvPicPr>
          <p:nvPr/>
        </p:nvPicPr>
        <p:blipFill>
          <a:blip r:embed="rId1"/>
          <a:stretch>
            <a:fillRect/>
          </a:stretch>
        </p:blipFill>
        <p:spPr>
          <a:xfrm>
            <a:off x="995553" y="2303145"/>
            <a:ext cx="377190" cy="377190"/>
          </a:xfrm>
          <a:prstGeom prst="rect">
            <a:avLst/>
          </a:prstGeom>
        </p:spPr>
      </p:pic>
      <p:sp>
        <p:nvSpPr>
          <p:cNvPr id="8" name="Text 4"/>
          <p:cNvSpPr txBox="1"/>
          <p:nvPr/>
        </p:nvSpPr>
        <p:spPr>
          <a:xfrm>
            <a:off x="1755648" y="1956816"/>
            <a:ext cx="9144000" cy="292608"/>
          </a:xfrm>
          <a:prstGeom prst="rect">
            <a:avLst/>
          </a:prstGeom>
          <a:noFill/>
          <a:ln/>
        </p:spPr>
        <p:txBody>
          <a:bodyPr wrap="square" lIns="0" tIns="0" rIns="0" bIns="0" rtlCol="0" anchor="ctr"/>
          <a:lstStyle/>
          <a:p>
            <a:pPr indent="0" marL="0">
              <a:buNone/>
            </a:pPr>
            <a:r>
              <a:rPr lang="en-US" sz="1200" b="1" spc="200" kern="0" dirty="0">
                <a:solidFill>
                  <a:srgbClr val="A1C9E6"/>
                </a:solidFill>
                <a:latin typeface="Calibri" pitchFamily="34" charset="0"/>
                <a:ea typeface="Calibri" pitchFamily="34" charset="-122"/>
                <a:cs typeface="Calibri" pitchFamily="34" charset="-120"/>
              </a:rPr>
              <a:t>LA SITUACIÓN</a:t>
            </a:r>
            <a:endParaRPr lang="en-US" sz="1200" dirty="0"/>
          </a:p>
        </p:txBody>
      </p:sp>
      <p:sp>
        <p:nvSpPr>
          <p:cNvPr id="9" name="Text 5"/>
          <p:cNvSpPr txBox="1"/>
          <p:nvPr/>
        </p:nvSpPr>
        <p:spPr>
          <a:xfrm>
            <a:off x="1755648" y="2231136"/>
            <a:ext cx="9594799" cy="868680"/>
          </a:xfrm>
          <a:prstGeom prst="rect">
            <a:avLst/>
          </a:prstGeom>
          <a:noFill/>
          <a:ln/>
        </p:spPr>
        <p:txBody>
          <a:bodyPr wrap="square" lIns="0" tIns="0" rIns="0" bIns="0" rtlCol="0" anchor="ctr"/>
          <a:lstStyle/>
          <a:p>
            <a:pPr indent="0" marL="0">
              <a:lnSpc>
                <a:spcPct val="110000"/>
              </a:lnSpc>
              <a:buNone/>
            </a:pPr>
            <a:r>
              <a:rPr lang="en-US" sz="1500" dirty="0">
                <a:solidFill>
                  <a:srgbClr val="FFFFFF"/>
                </a:solidFill>
                <a:latin typeface="Calibri" pitchFamily="34" charset="0"/>
                <a:ea typeface="Calibri" pitchFamily="34" charset="-122"/>
                <a:cs typeface="Calibri" pitchFamily="34" charset="-120"/>
              </a:rPr>
              <a:t>Encuentras información confidencial de asociados en un lugar donde no debería estar (una impresora, un escritorio o un basurero).</a:t>
            </a:r>
            <a:endParaRPr lang="en-US" sz="1500" dirty="0"/>
          </a:p>
        </p:txBody>
      </p:sp>
      <p:sp>
        <p:nvSpPr>
          <p:cNvPr id="10" name="Text 6"/>
          <p:cNvSpPr txBox="1"/>
          <p:nvPr/>
        </p:nvSpPr>
        <p:spPr>
          <a:xfrm>
            <a:off x="566928" y="3429000"/>
            <a:ext cx="5486400" cy="320040"/>
          </a:xfrm>
          <a:prstGeom prst="rect">
            <a:avLst/>
          </a:prstGeom>
          <a:noFill/>
          <a:ln/>
        </p:spPr>
        <p:txBody>
          <a:bodyPr wrap="square" lIns="0" tIns="0" rIns="0" bIns="0" rtlCol="0" anchor="ctr"/>
          <a:lstStyle/>
          <a:p>
            <a:pPr indent="0" marL="0">
              <a:buNone/>
            </a:pPr>
            <a:r>
              <a:rPr lang="en-US" sz="1300" b="1" spc="150" kern="0" dirty="0">
                <a:solidFill>
                  <a:srgbClr val="133B6C"/>
                </a:solidFill>
                <a:latin typeface="Calibri" pitchFamily="34" charset="0"/>
                <a:ea typeface="Calibri" pitchFamily="34" charset="-122"/>
                <a:cs typeface="Calibri" pitchFamily="34" charset="-120"/>
              </a:rPr>
              <a:t>¿QUÉ HARÍAS?</a:t>
            </a:r>
            <a:endParaRPr lang="en-US" sz="1300" dirty="0"/>
          </a:p>
        </p:txBody>
      </p:sp>
      <p:sp>
        <p:nvSpPr>
          <p:cNvPr id="11" name="Shape 7"/>
          <p:cNvSpPr/>
          <p:nvPr/>
        </p:nvSpPr>
        <p:spPr>
          <a:xfrm>
            <a:off x="566928" y="3794760"/>
            <a:ext cx="11057839" cy="649224"/>
          </a:xfrm>
          <a:prstGeom prst="roundRect">
            <a:avLst>
              <a:gd name="adj" fmla="val 12676"/>
            </a:avLst>
          </a:prstGeom>
          <a:solidFill>
            <a:srgbClr val="F2F5F9"/>
          </a:solidFill>
          <a:ln/>
        </p:spPr>
      </p:sp>
      <p:sp>
        <p:nvSpPr>
          <p:cNvPr id="12" name="Shape 8"/>
          <p:cNvSpPr/>
          <p:nvPr/>
        </p:nvSpPr>
        <p:spPr>
          <a:xfrm>
            <a:off x="768096" y="3890772"/>
            <a:ext cx="457200" cy="457200"/>
          </a:xfrm>
          <a:prstGeom prst="ellipse">
            <a:avLst/>
          </a:prstGeom>
          <a:solidFill>
            <a:srgbClr val="133B6C"/>
          </a:solidFill>
          <a:ln/>
        </p:spPr>
      </p:sp>
      <p:sp>
        <p:nvSpPr>
          <p:cNvPr id="13" name="Text 9"/>
          <p:cNvSpPr txBox="1"/>
          <p:nvPr/>
        </p:nvSpPr>
        <p:spPr>
          <a:xfrm>
            <a:off x="768096" y="388162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a:t>
            </a:r>
            <a:endParaRPr lang="en-US" sz="1700" dirty="0"/>
          </a:p>
        </p:txBody>
      </p:sp>
      <p:sp>
        <p:nvSpPr>
          <p:cNvPr id="14" name="Text 10"/>
          <p:cNvSpPr txBox="1"/>
          <p:nvPr/>
        </p:nvSpPr>
        <p:spPr>
          <a:xfrm>
            <a:off x="1435608" y="3794760"/>
            <a:ext cx="9960559" cy="649224"/>
          </a:xfrm>
          <a:prstGeom prst="rect">
            <a:avLst/>
          </a:prstGeom>
          <a:noFill/>
          <a:ln/>
        </p:spPr>
        <p:txBody>
          <a:bodyPr wrap="square" lIns="0" tIns="0" rIns="0" bIns="0" rtlCol="0" anchor="ctr"/>
          <a:lstStyle/>
          <a:p>
            <a:pPr indent="0" marL="0">
              <a:lnSpc>
                <a:spcPct val="105000"/>
              </a:lnSpc>
              <a:buNone/>
            </a:pPr>
            <a:r>
              <a:rPr lang="en-US" sz="1300" dirty="0">
                <a:solidFill>
                  <a:srgbClr val="243044"/>
                </a:solidFill>
                <a:latin typeface="Calibri" pitchFamily="34" charset="0"/>
                <a:ea typeface="Calibri" pitchFamily="34" charset="-122"/>
                <a:cs typeface="Calibri" pitchFamily="34" charset="-120"/>
              </a:rPr>
              <a:t>La ignoro; seguro alguien más la recogerá.</a:t>
            </a:r>
            <a:endParaRPr lang="en-US" sz="1300" dirty="0"/>
          </a:p>
        </p:txBody>
      </p:sp>
      <p:sp>
        <p:nvSpPr>
          <p:cNvPr id="15" name="Shape 11"/>
          <p:cNvSpPr/>
          <p:nvPr/>
        </p:nvSpPr>
        <p:spPr>
          <a:xfrm>
            <a:off x="566928" y="4626864"/>
            <a:ext cx="11057839" cy="649224"/>
          </a:xfrm>
          <a:prstGeom prst="roundRect">
            <a:avLst>
              <a:gd name="adj" fmla="val 12676"/>
            </a:avLst>
          </a:prstGeom>
          <a:solidFill>
            <a:srgbClr val="F2F5F9"/>
          </a:solidFill>
          <a:ln/>
        </p:spPr>
      </p:sp>
      <p:sp>
        <p:nvSpPr>
          <p:cNvPr id="16" name="Shape 12"/>
          <p:cNvSpPr/>
          <p:nvPr/>
        </p:nvSpPr>
        <p:spPr>
          <a:xfrm>
            <a:off x="768096" y="4722876"/>
            <a:ext cx="457200" cy="457200"/>
          </a:xfrm>
          <a:prstGeom prst="ellipse">
            <a:avLst/>
          </a:prstGeom>
          <a:solidFill>
            <a:srgbClr val="133B6C"/>
          </a:solidFill>
          <a:ln/>
        </p:spPr>
      </p:sp>
      <p:sp>
        <p:nvSpPr>
          <p:cNvPr id="17" name="Text 13"/>
          <p:cNvSpPr txBox="1"/>
          <p:nvPr/>
        </p:nvSpPr>
        <p:spPr>
          <a:xfrm>
            <a:off x="768096" y="47137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B</a:t>
            </a:r>
            <a:endParaRPr lang="en-US" sz="1700" dirty="0"/>
          </a:p>
        </p:txBody>
      </p:sp>
      <p:sp>
        <p:nvSpPr>
          <p:cNvPr id="18" name="Text 14"/>
          <p:cNvSpPr txBox="1"/>
          <p:nvPr/>
        </p:nvSpPr>
        <p:spPr>
          <a:xfrm>
            <a:off x="1435608" y="4626864"/>
            <a:ext cx="9960559" cy="649224"/>
          </a:xfrm>
          <a:prstGeom prst="rect">
            <a:avLst/>
          </a:prstGeom>
          <a:noFill/>
          <a:ln/>
        </p:spPr>
        <p:txBody>
          <a:bodyPr wrap="square" lIns="0" tIns="0" rIns="0" bIns="0" rtlCol="0" anchor="ctr"/>
          <a:lstStyle/>
          <a:p>
            <a:pPr indent="0" marL="0">
              <a:lnSpc>
                <a:spcPct val="105000"/>
              </a:lnSpc>
              <a:buNone/>
            </a:pPr>
            <a:r>
              <a:rPr lang="en-US" sz="1300" dirty="0">
                <a:solidFill>
                  <a:srgbClr val="243044"/>
                </a:solidFill>
                <a:latin typeface="Calibri" pitchFamily="34" charset="0"/>
                <a:ea typeface="Calibri" pitchFamily="34" charset="-122"/>
                <a:cs typeface="Calibri" pitchFamily="34" charset="-120"/>
              </a:rPr>
              <a:t>Espero a ver si alguien más se da cuenta y actúa.</a:t>
            </a:r>
            <a:endParaRPr lang="en-US" sz="1300" dirty="0"/>
          </a:p>
        </p:txBody>
      </p:sp>
      <p:sp>
        <p:nvSpPr>
          <p:cNvPr id="19" name="Shape 15"/>
          <p:cNvSpPr/>
          <p:nvPr/>
        </p:nvSpPr>
        <p:spPr>
          <a:xfrm>
            <a:off x="566928" y="5458968"/>
            <a:ext cx="11057839" cy="649224"/>
          </a:xfrm>
          <a:prstGeom prst="roundRect">
            <a:avLst>
              <a:gd name="adj" fmla="val 12676"/>
            </a:avLst>
          </a:prstGeom>
          <a:solidFill>
            <a:srgbClr val="F2F5F9"/>
          </a:solidFill>
          <a:ln/>
        </p:spPr>
      </p:sp>
      <p:sp>
        <p:nvSpPr>
          <p:cNvPr id="20" name="Shape 16"/>
          <p:cNvSpPr/>
          <p:nvPr/>
        </p:nvSpPr>
        <p:spPr>
          <a:xfrm>
            <a:off x="768096" y="5554980"/>
            <a:ext cx="457200" cy="457200"/>
          </a:xfrm>
          <a:prstGeom prst="ellipse">
            <a:avLst/>
          </a:prstGeom>
          <a:solidFill>
            <a:srgbClr val="133B6C"/>
          </a:solidFill>
          <a:ln/>
        </p:spPr>
      </p:sp>
      <p:sp>
        <p:nvSpPr>
          <p:cNvPr id="21" name="Text 17"/>
          <p:cNvSpPr txBox="1"/>
          <p:nvPr/>
        </p:nvSpPr>
        <p:spPr>
          <a:xfrm>
            <a:off x="768096" y="55458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a:t>
            </a:r>
            <a:endParaRPr lang="en-US" sz="1700" dirty="0"/>
          </a:p>
        </p:txBody>
      </p:sp>
      <p:sp>
        <p:nvSpPr>
          <p:cNvPr id="22" name="Text 18"/>
          <p:cNvSpPr txBox="1"/>
          <p:nvPr/>
        </p:nvSpPr>
        <p:spPr>
          <a:xfrm>
            <a:off x="1435608" y="5458968"/>
            <a:ext cx="9960559" cy="649224"/>
          </a:xfrm>
          <a:prstGeom prst="rect">
            <a:avLst/>
          </a:prstGeom>
          <a:noFill/>
          <a:ln/>
        </p:spPr>
        <p:txBody>
          <a:bodyPr wrap="square" lIns="0" tIns="0" rIns="0" bIns="0" rtlCol="0" anchor="ctr"/>
          <a:lstStyle/>
          <a:p>
            <a:pPr indent="0" marL="0">
              <a:lnSpc>
                <a:spcPct val="105000"/>
              </a:lnSpc>
              <a:buNone/>
            </a:pPr>
            <a:r>
              <a:rPr lang="en-US" sz="1300" dirty="0">
                <a:solidFill>
                  <a:srgbClr val="243044"/>
                </a:solidFill>
                <a:latin typeface="Calibri" pitchFamily="34" charset="0"/>
                <a:ea typeface="Calibri" pitchFamily="34" charset="-122"/>
                <a:cs typeface="Calibri" pitchFamily="34" charset="-120"/>
              </a:rPr>
              <a:t>La protejo de la vista de otros y reporto la situación de inmediato.</a:t>
            </a:r>
            <a:endParaRPr lang="en-US" sz="1300" dirty="0"/>
          </a:p>
        </p:txBody>
      </p:sp>
      <p:sp>
        <p:nvSpPr>
          <p:cNvPr id="23" name="Text 19"/>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4" name="Text 20"/>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6</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86C7"/>
                </a:solidFill>
                <a:latin typeface="Calibri" pitchFamily="34" charset="0"/>
                <a:ea typeface="Calibri" pitchFamily="34" charset="-122"/>
                <a:cs typeface="Calibri" pitchFamily="34" charset="-120"/>
              </a:rPr>
              <a:t>TEMA 2 · RESPUESTA</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700" b="1" dirty="0">
                <a:solidFill>
                  <a:srgbClr val="133B6C"/>
                </a:solidFill>
                <a:latin typeface="Cambria" pitchFamily="34" charset="0"/>
                <a:ea typeface="Cambria" pitchFamily="34" charset="-122"/>
                <a:cs typeface="Cambria" pitchFamily="34" charset="-120"/>
              </a:rPr>
              <a:t>ESCENARIO · RESPUESTA</a:t>
            </a:r>
            <a:endParaRPr lang="en-US" sz="2700" dirty="0"/>
          </a:p>
        </p:txBody>
      </p:sp>
      <p:sp>
        <p:nvSpPr>
          <p:cNvPr id="5" name="Shape 2"/>
          <p:cNvSpPr/>
          <p:nvPr/>
        </p:nvSpPr>
        <p:spPr>
          <a:xfrm>
            <a:off x="566928" y="1874520"/>
            <a:ext cx="11057839" cy="1234440"/>
          </a:xfrm>
          <a:prstGeom prst="roundRect">
            <a:avLst>
              <a:gd name="adj" fmla="val 8889"/>
            </a:avLst>
          </a:prstGeom>
          <a:solidFill>
            <a:srgbClr val="2FAE60"/>
          </a:solidFill>
          <a:ln/>
        </p:spPr>
      </p:sp>
      <p:sp>
        <p:nvSpPr>
          <p:cNvPr id="6" name="Shape 3"/>
          <p:cNvSpPr/>
          <p:nvPr/>
        </p:nvSpPr>
        <p:spPr>
          <a:xfrm>
            <a:off x="822960" y="2167128"/>
            <a:ext cx="640080" cy="640080"/>
          </a:xfrm>
          <a:prstGeom prst="ellipse">
            <a:avLst/>
          </a:prstGeom>
          <a:solidFill>
            <a:srgbClr val="FFFFFF"/>
          </a:solidFill>
          <a:ln/>
        </p:spPr>
      </p:sp>
      <p:pic>
        <p:nvPicPr>
          <p:cNvPr id="7" name="Image 0" descr="/tmp/claude-0/-home-user-riesgo/0ff9ff46-1396-5bd8-b3ac-2280dfbbbc55/scratchpad/work/gen/icons/check_circle_green.png">    </p:cNvPr>
          <p:cNvPicPr>
            <a:picLocks noChangeAspect="1"/>
          </p:cNvPicPr>
          <p:nvPr/>
        </p:nvPicPr>
        <p:blipFill>
          <a:blip r:embed="rId1"/>
          <a:stretch>
            <a:fillRect/>
          </a:stretch>
        </p:blipFill>
        <p:spPr>
          <a:xfrm>
            <a:off x="944575" y="2288743"/>
            <a:ext cx="396850" cy="396850"/>
          </a:xfrm>
          <a:prstGeom prst="rect">
            <a:avLst/>
          </a:prstGeom>
        </p:spPr>
      </p:pic>
      <p:sp>
        <p:nvSpPr>
          <p:cNvPr id="8" name="Text 4"/>
          <p:cNvSpPr txBox="1"/>
          <p:nvPr/>
        </p:nvSpPr>
        <p:spPr>
          <a:xfrm>
            <a:off x="1664208" y="2048256"/>
            <a:ext cx="9601200" cy="292608"/>
          </a:xfrm>
          <a:prstGeom prst="rect">
            <a:avLst/>
          </a:prstGeom>
          <a:noFill/>
          <a:ln/>
        </p:spPr>
        <p:txBody>
          <a:bodyPr wrap="square" lIns="0" tIns="0" rIns="0" bIns="0" rtlCol="0" anchor="ctr"/>
          <a:lstStyle/>
          <a:p>
            <a:pPr indent="0" marL="0">
              <a:buNone/>
            </a:pPr>
            <a:r>
              <a:rPr lang="en-US" sz="1200" b="1" spc="150" kern="0" dirty="0">
                <a:solidFill>
                  <a:srgbClr val="DFF3E7"/>
                </a:solidFill>
                <a:latin typeface="Calibri" pitchFamily="34" charset="0"/>
                <a:ea typeface="Calibri" pitchFamily="34" charset="-122"/>
                <a:cs typeface="Calibri" pitchFamily="34" charset="-120"/>
              </a:rPr>
              <a:t>RESPUESTA CORRECTA · OPCIÓN C</a:t>
            </a:r>
            <a:endParaRPr lang="en-US" sz="1200" dirty="0"/>
          </a:p>
        </p:txBody>
      </p:sp>
      <p:sp>
        <p:nvSpPr>
          <p:cNvPr id="9" name="Text 5"/>
          <p:cNvSpPr txBox="1"/>
          <p:nvPr/>
        </p:nvSpPr>
        <p:spPr>
          <a:xfrm>
            <a:off x="1664208" y="2322576"/>
            <a:ext cx="9686239" cy="73152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libri" pitchFamily="34" charset="0"/>
                <a:ea typeface="Calibri" pitchFamily="34" charset="-122"/>
                <a:cs typeface="Calibri" pitchFamily="34" charset="-120"/>
              </a:rPr>
              <a:t>La protejo de la vista de otros y reporto la situación de inmediato.</a:t>
            </a:r>
            <a:endParaRPr lang="en-US" sz="1500" dirty="0"/>
          </a:p>
        </p:txBody>
      </p:sp>
      <p:sp>
        <p:nvSpPr>
          <p:cNvPr id="10" name="Text 6"/>
          <p:cNvSpPr txBox="1"/>
          <p:nvPr/>
        </p:nvSpPr>
        <p:spPr>
          <a:xfrm>
            <a:off x="566928" y="3337560"/>
            <a:ext cx="5486400" cy="320040"/>
          </a:xfrm>
          <a:prstGeom prst="rect">
            <a:avLst/>
          </a:prstGeom>
          <a:noFill/>
          <a:ln/>
        </p:spPr>
        <p:txBody>
          <a:bodyPr wrap="square" lIns="0" tIns="0" rIns="0" bIns="0" rtlCol="0" anchor="ctr"/>
          <a:lstStyle/>
          <a:p>
            <a:pPr indent="0" marL="0">
              <a:buNone/>
            </a:pPr>
            <a:r>
              <a:rPr lang="en-US" sz="1300" b="1" spc="150" kern="0" dirty="0">
                <a:solidFill>
                  <a:srgbClr val="133B6C"/>
                </a:solidFill>
                <a:latin typeface="Calibri" pitchFamily="34" charset="0"/>
                <a:ea typeface="Calibri" pitchFamily="34" charset="-122"/>
                <a:cs typeface="Calibri" pitchFamily="34" charset="-120"/>
              </a:rPr>
              <a:t>RESPUESTA</a:t>
            </a:r>
            <a:endParaRPr lang="en-US" sz="1300" dirty="0"/>
          </a:p>
        </p:txBody>
      </p:sp>
      <p:sp>
        <p:nvSpPr>
          <p:cNvPr id="11" name="Shape 7"/>
          <p:cNvSpPr/>
          <p:nvPr/>
        </p:nvSpPr>
        <p:spPr>
          <a:xfrm>
            <a:off x="566928" y="3703320"/>
            <a:ext cx="11057839" cy="1417320"/>
          </a:xfrm>
          <a:prstGeom prst="roundRect">
            <a:avLst>
              <a:gd name="adj" fmla="val 6452"/>
            </a:avLst>
          </a:prstGeom>
          <a:solidFill>
            <a:srgbClr val="F2F5F9"/>
          </a:solidFill>
          <a:ln/>
        </p:spPr>
      </p:sp>
      <p:sp>
        <p:nvSpPr>
          <p:cNvPr id="12" name="Text 8"/>
          <p:cNvSpPr txBox="1"/>
          <p:nvPr/>
        </p:nvSpPr>
        <p:spPr>
          <a:xfrm>
            <a:off x="886968" y="3886200"/>
            <a:ext cx="10417759" cy="1097280"/>
          </a:xfrm>
          <a:prstGeom prst="rect">
            <a:avLst/>
          </a:prstGeom>
          <a:noFill/>
          <a:ln/>
        </p:spPr>
        <p:txBody>
          <a:bodyPr wrap="square" lIns="0" tIns="0" rIns="0" bIns="0" rtlCol="0" anchor="t"/>
          <a:lstStyle/>
          <a:p>
            <a:pPr indent="0" marL="0">
              <a:lnSpc>
                <a:spcPct val="120000"/>
              </a:lnSpc>
              <a:buNone/>
            </a:pPr>
            <a:r>
              <a:rPr lang="en-US" sz="1350" dirty="0">
                <a:solidFill>
                  <a:srgbClr val="243044"/>
                </a:solidFill>
                <a:latin typeface="Calibri" pitchFamily="34" charset="0"/>
                <a:ea typeface="Calibri" pitchFamily="34" charset="-122"/>
                <a:cs typeface="Calibri" pitchFamily="34" charset="-120"/>
              </a:rPr>
              <a:t>Ignorar o esperar deja expuesta información de nuestros asociados. Actuar y reportar (VEO → IDENTIFICO → ACTÚO → REPORTO) es lo que evita que un pequeño descuido se transforme en un problema real.</a:t>
            </a:r>
            <a:endParaRPr lang="en-US" sz="1350" dirty="0"/>
          </a:p>
        </p:txBody>
      </p:sp>
      <p:sp>
        <p:nvSpPr>
          <p:cNvPr id="13" name="Shape 9"/>
          <p:cNvSpPr/>
          <p:nvPr/>
        </p:nvSpPr>
        <p:spPr>
          <a:xfrm>
            <a:off x="566928" y="5285232"/>
            <a:ext cx="11057839" cy="777240"/>
          </a:xfrm>
          <a:prstGeom prst="roundRect">
            <a:avLst>
              <a:gd name="adj" fmla="val 11765"/>
            </a:avLst>
          </a:prstGeom>
          <a:solidFill>
            <a:srgbClr val="133B6C"/>
          </a:solidFill>
          <a:ln/>
        </p:spPr>
      </p:sp>
      <p:sp>
        <p:nvSpPr>
          <p:cNvPr id="14" name="Shape 10"/>
          <p:cNvSpPr/>
          <p:nvPr/>
        </p:nvSpPr>
        <p:spPr>
          <a:xfrm>
            <a:off x="768096" y="5404104"/>
            <a:ext cx="530352" cy="530352"/>
          </a:xfrm>
          <a:prstGeom prst="ellipse">
            <a:avLst/>
          </a:prstGeom>
          <a:solidFill>
            <a:srgbClr val="2E86C7"/>
          </a:solidFill>
          <a:ln/>
        </p:spPr>
      </p:sp>
      <p:pic>
        <p:nvPicPr>
          <p:cNvPr id="15" name="Image 1" descr="/tmp/claude-0/-home-user-riesgo/0ff9ff46-1396-5bd8-b3ac-2280dfbbbc55/scratchpad/work/gen/icons/mail_white.png">    </p:cNvPr>
          <p:cNvPicPr>
            <a:picLocks noChangeAspect="1"/>
          </p:cNvPicPr>
          <p:nvPr/>
        </p:nvPicPr>
        <p:blipFill>
          <a:blip r:embed="rId2"/>
          <a:stretch>
            <a:fillRect/>
          </a:stretch>
        </p:blipFill>
        <p:spPr>
          <a:xfrm>
            <a:off x="887425" y="5523433"/>
            <a:ext cx="291694" cy="291694"/>
          </a:xfrm>
          <a:prstGeom prst="rect">
            <a:avLst/>
          </a:prstGeom>
        </p:spPr>
      </p:pic>
      <p:sp>
        <p:nvSpPr>
          <p:cNvPr id="16" name="Text 11"/>
          <p:cNvSpPr txBox="1"/>
          <p:nvPr/>
        </p:nvSpPr>
        <p:spPr>
          <a:xfrm>
            <a:off x="1463040" y="5285232"/>
            <a:ext cx="9869119" cy="777240"/>
          </a:xfrm>
          <a:prstGeom prst="rect">
            <a:avLst/>
          </a:prstGeom>
          <a:noFill/>
          <a:ln/>
        </p:spPr>
        <p:txBody>
          <a:bodyPr wrap="square" lIns="0" tIns="0" rIns="0" bIns="0" rtlCol="0" anchor="ctr"/>
          <a:lstStyle/>
          <a:p>
            <a:pPr indent="0" marL="0">
              <a:lnSpc>
                <a:spcPct val="105000"/>
              </a:lnSpc>
              <a:buNone/>
            </a:pPr>
            <a:r>
              <a:rPr lang="en-US" sz="1200" dirty="0">
                <a:solidFill>
                  <a:srgbClr val="FFFFFF"/>
                </a:solidFill>
                <a:latin typeface="Calibri" pitchFamily="34" charset="0"/>
                <a:ea typeface="Calibri" pitchFamily="34" charset="-122"/>
                <a:cs typeface="Calibri" pitchFamily="34" charset="-120"/>
              </a:rPr>
              <a:t>Reporta por el canal institucional: incidentes.interrupción@comedica.com.sv, o directamente al Departamento de Administración de Riesgos.</a:t>
            </a:r>
            <a:endParaRPr lang="en-US" sz="1200" dirty="0"/>
          </a:p>
        </p:txBody>
      </p:sp>
      <p:sp>
        <p:nvSpPr>
          <p:cNvPr id="17" name="Text 12"/>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18" name="Text 13"/>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7</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17A9B0"/>
                </a:solidFill>
                <a:latin typeface="Calibri" pitchFamily="34" charset="0"/>
                <a:ea typeface="Calibri" pitchFamily="34" charset="-122"/>
                <a:cs typeface="Calibri" pitchFamily="34" charset="-120"/>
              </a:rPr>
              <a:t>TEMA 3 · RIESGOS OPERATIVOS</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400" b="1" dirty="0">
                <a:solidFill>
                  <a:srgbClr val="133B6C"/>
                </a:solidFill>
                <a:latin typeface="Cambria" pitchFamily="34" charset="0"/>
                <a:ea typeface="Cambria" pitchFamily="34" charset="-122"/>
                <a:cs typeface="Cambria" pitchFamily="34" charset="-120"/>
              </a:rPr>
              <a:t>LOS RIESGOS OPERATIVOS ESTÁN EN NUESTRO DÍA A DÍA</a:t>
            </a:r>
            <a:endParaRPr lang="en-US" sz="24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El riesgo operacional surge de fallas en:</a:t>
            </a:r>
            <a:endParaRPr lang="en-US" sz="1500" dirty="0"/>
          </a:p>
        </p:txBody>
      </p:sp>
      <p:sp>
        <p:nvSpPr>
          <p:cNvPr id="6" name="Shape 3"/>
          <p:cNvSpPr/>
          <p:nvPr/>
        </p:nvSpPr>
        <p:spPr>
          <a:xfrm>
            <a:off x="566928" y="2564892"/>
            <a:ext cx="2545004" cy="2286000"/>
          </a:xfrm>
          <a:prstGeom prst="roundRect">
            <a:avLst>
              <a:gd name="adj" fmla="val 4000"/>
            </a:avLst>
          </a:prstGeom>
          <a:solidFill>
            <a:srgbClr val="F2F5F9"/>
          </a:solidFill>
          <a:ln/>
        </p:spPr>
      </p:sp>
      <p:sp>
        <p:nvSpPr>
          <p:cNvPr id="7" name="Shape 4"/>
          <p:cNvSpPr/>
          <p:nvPr/>
        </p:nvSpPr>
        <p:spPr>
          <a:xfrm>
            <a:off x="1555966" y="2729484"/>
            <a:ext cx="566928" cy="566928"/>
          </a:xfrm>
          <a:prstGeom prst="ellipse">
            <a:avLst/>
          </a:prstGeom>
          <a:solidFill>
            <a:srgbClr val="17A9B0"/>
          </a:solidFill>
          <a:ln/>
        </p:spPr>
      </p:sp>
      <p:pic>
        <p:nvPicPr>
          <p:cNvPr id="8" name="Image 0" descr="/tmp/claude-0/-home-user-riesgo/0ff9ff46-1396-5bd8-b3ac-2280dfbbbc55/scratchpad/work/gen/icons/person_white.png">    </p:cNvPr>
          <p:cNvPicPr>
            <a:picLocks noChangeAspect="1"/>
          </p:cNvPicPr>
          <p:nvPr/>
        </p:nvPicPr>
        <p:blipFill>
          <a:blip r:embed="rId1"/>
          <a:stretch>
            <a:fillRect/>
          </a:stretch>
        </p:blipFill>
        <p:spPr>
          <a:xfrm>
            <a:off x="1692029" y="2865547"/>
            <a:ext cx="294803" cy="294803"/>
          </a:xfrm>
          <a:prstGeom prst="rect">
            <a:avLst/>
          </a:prstGeom>
        </p:spPr>
      </p:pic>
      <p:sp>
        <p:nvSpPr>
          <p:cNvPr id="9" name="Text 5"/>
          <p:cNvSpPr txBox="1"/>
          <p:nvPr/>
        </p:nvSpPr>
        <p:spPr>
          <a:xfrm>
            <a:off x="676656" y="3442716"/>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PERSONAS</a:t>
            </a:r>
            <a:endParaRPr lang="en-US" sz="1250" dirty="0"/>
          </a:p>
        </p:txBody>
      </p:sp>
      <p:sp>
        <p:nvSpPr>
          <p:cNvPr id="10" name="Text 6"/>
          <p:cNvSpPr txBox="1"/>
          <p:nvPr/>
        </p:nvSpPr>
        <p:spPr>
          <a:xfrm>
            <a:off x="731520" y="3954780"/>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Error → retraso → pérdida</a:t>
            </a:r>
            <a:endParaRPr lang="en-US" sz="1100" dirty="0"/>
          </a:p>
        </p:txBody>
      </p:sp>
      <p:sp>
        <p:nvSpPr>
          <p:cNvPr id="11" name="Shape 7"/>
          <p:cNvSpPr/>
          <p:nvPr/>
        </p:nvSpPr>
        <p:spPr>
          <a:xfrm>
            <a:off x="3404540" y="2564892"/>
            <a:ext cx="2545004" cy="2286000"/>
          </a:xfrm>
          <a:prstGeom prst="roundRect">
            <a:avLst>
              <a:gd name="adj" fmla="val 4000"/>
            </a:avLst>
          </a:prstGeom>
          <a:solidFill>
            <a:srgbClr val="F2F5F9"/>
          </a:solidFill>
          <a:ln/>
        </p:spPr>
      </p:sp>
      <p:sp>
        <p:nvSpPr>
          <p:cNvPr id="12" name="Shape 8"/>
          <p:cNvSpPr/>
          <p:nvPr/>
        </p:nvSpPr>
        <p:spPr>
          <a:xfrm>
            <a:off x="4393578" y="2729484"/>
            <a:ext cx="566928" cy="566928"/>
          </a:xfrm>
          <a:prstGeom prst="ellipse">
            <a:avLst/>
          </a:prstGeom>
          <a:solidFill>
            <a:srgbClr val="17A9B0"/>
          </a:solidFill>
          <a:ln/>
        </p:spPr>
      </p:sp>
      <p:pic>
        <p:nvPicPr>
          <p:cNvPr id="13" name="Image 1" descr="/tmp/claude-0/-home-user-riesgo/0ff9ff46-1396-5bd8-b3ac-2280dfbbbc55/scratchpad/work/gen/icons/gear_white.png">    </p:cNvPr>
          <p:cNvPicPr>
            <a:picLocks noChangeAspect="1"/>
          </p:cNvPicPr>
          <p:nvPr/>
        </p:nvPicPr>
        <p:blipFill>
          <a:blip r:embed="rId2"/>
          <a:stretch>
            <a:fillRect/>
          </a:stretch>
        </p:blipFill>
        <p:spPr>
          <a:xfrm>
            <a:off x="4529640" y="2865547"/>
            <a:ext cx="294803" cy="294803"/>
          </a:xfrm>
          <a:prstGeom prst="rect">
            <a:avLst/>
          </a:prstGeom>
        </p:spPr>
      </p:pic>
      <p:sp>
        <p:nvSpPr>
          <p:cNvPr id="14" name="Text 9"/>
          <p:cNvSpPr txBox="1"/>
          <p:nvPr/>
        </p:nvSpPr>
        <p:spPr>
          <a:xfrm>
            <a:off x="3514268" y="3442716"/>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PROCESOS</a:t>
            </a:r>
            <a:endParaRPr lang="en-US" sz="1250" dirty="0"/>
          </a:p>
        </p:txBody>
      </p:sp>
      <p:sp>
        <p:nvSpPr>
          <p:cNvPr id="15" name="Text 10"/>
          <p:cNvSpPr txBox="1"/>
          <p:nvPr/>
        </p:nvSpPr>
        <p:spPr>
          <a:xfrm>
            <a:off x="3569132" y="3954780"/>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Paso omitido → incidente</a:t>
            </a:r>
            <a:endParaRPr lang="en-US" sz="1100" dirty="0"/>
          </a:p>
        </p:txBody>
      </p:sp>
      <p:sp>
        <p:nvSpPr>
          <p:cNvPr id="16" name="Shape 11"/>
          <p:cNvSpPr/>
          <p:nvPr/>
        </p:nvSpPr>
        <p:spPr>
          <a:xfrm>
            <a:off x="6242152" y="2564892"/>
            <a:ext cx="2545004" cy="2286000"/>
          </a:xfrm>
          <a:prstGeom prst="roundRect">
            <a:avLst>
              <a:gd name="adj" fmla="val 4000"/>
            </a:avLst>
          </a:prstGeom>
          <a:solidFill>
            <a:srgbClr val="F2F5F9"/>
          </a:solidFill>
          <a:ln/>
        </p:spPr>
      </p:sp>
      <p:sp>
        <p:nvSpPr>
          <p:cNvPr id="17" name="Shape 12"/>
          <p:cNvSpPr/>
          <p:nvPr/>
        </p:nvSpPr>
        <p:spPr>
          <a:xfrm>
            <a:off x="7231189" y="2729484"/>
            <a:ext cx="566928" cy="566928"/>
          </a:xfrm>
          <a:prstGeom prst="ellipse">
            <a:avLst/>
          </a:prstGeom>
          <a:solidFill>
            <a:srgbClr val="17A9B0"/>
          </a:solidFill>
          <a:ln/>
        </p:spPr>
      </p:sp>
      <p:pic>
        <p:nvPicPr>
          <p:cNvPr id="18" name="Image 2" descr="/tmp/claude-0/-home-user-riesgo/0ff9ff46-1396-5bd8-b3ac-2280dfbbbc55/scratchpad/work/gen/icons/server_white.png">    </p:cNvPr>
          <p:cNvPicPr>
            <a:picLocks noChangeAspect="1"/>
          </p:cNvPicPr>
          <p:nvPr/>
        </p:nvPicPr>
        <p:blipFill>
          <a:blip r:embed="rId3"/>
          <a:stretch>
            <a:fillRect/>
          </a:stretch>
        </p:blipFill>
        <p:spPr>
          <a:xfrm>
            <a:off x="7367252" y="2865547"/>
            <a:ext cx="294803" cy="294803"/>
          </a:xfrm>
          <a:prstGeom prst="rect">
            <a:avLst/>
          </a:prstGeom>
        </p:spPr>
      </p:pic>
      <p:sp>
        <p:nvSpPr>
          <p:cNvPr id="19" name="Text 13"/>
          <p:cNvSpPr txBox="1"/>
          <p:nvPr/>
        </p:nvSpPr>
        <p:spPr>
          <a:xfrm>
            <a:off x="6351880" y="3442716"/>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SISTEMAS</a:t>
            </a:r>
            <a:endParaRPr lang="en-US" sz="1250" dirty="0"/>
          </a:p>
        </p:txBody>
      </p:sp>
      <p:sp>
        <p:nvSpPr>
          <p:cNvPr id="20" name="Text 14"/>
          <p:cNvSpPr txBox="1"/>
          <p:nvPr/>
        </p:nvSpPr>
        <p:spPr>
          <a:xfrm>
            <a:off x="6406744" y="3954780"/>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Falla → interrupción</a:t>
            </a:r>
            <a:endParaRPr lang="en-US" sz="1100" dirty="0"/>
          </a:p>
        </p:txBody>
      </p:sp>
      <p:sp>
        <p:nvSpPr>
          <p:cNvPr id="21" name="Shape 15"/>
          <p:cNvSpPr/>
          <p:nvPr/>
        </p:nvSpPr>
        <p:spPr>
          <a:xfrm>
            <a:off x="9079763" y="2564892"/>
            <a:ext cx="2545004" cy="2286000"/>
          </a:xfrm>
          <a:prstGeom prst="roundRect">
            <a:avLst>
              <a:gd name="adj" fmla="val 4000"/>
            </a:avLst>
          </a:prstGeom>
          <a:solidFill>
            <a:srgbClr val="F2F5F9"/>
          </a:solidFill>
          <a:ln/>
        </p:spPr>
      </p:sp>
      <p:sp>
        <p:nvSpPr>
          <p:cNvPr id="22" name="Shape 16"/>
          <p:cNvSpPr/>
          <p:nvPr/>
        </p:nvSpPr>
        <p:spPr>
          <a:xfrm>
            <a:off x="10068801" y="2729484"/>
            <a:ext cx="566928" cy="566928"/>
          </a:xfrm>
          <a:prstGeom prst="ellipse">
            <a:avLst/>
          </a:prstGeom>
          <a:solidFill>
            <a:srgbClr val="17A9B0"/>
          </a:solidFill>
          <a:ln/>
        </p:spPr>
      </p:sp>
      <p:pic>
        <p:nvPicPr>
          <p:cNvPr id="23" name="Image 3" descr="/tmp/claude-0/-home-user-riesgo/0ff9ff46-1396-5bd8-b3ac-2280dfbbbc55/scratchpad/work/gen/icons/globe_white.png">    </p:cNvPr>
          <p:cNvPicPr>
            <a:picLocks noChangeAspect="1"/>
          </p:cNvPicPr>
          <p:nvPr/>
        </p:nvPicPr>
        <p:blipFill>
          <a:blip r:embed="rId4"/>
          <a:stretch>
            <a:fillRect/>
          </a:stretch>
        </p:blipFill>
        <p:spPr>
          <a:xfrm>
            <a:off x="10204864" y="2865547"/>
            <a:ext cx="294803" cy="294803"/>
          </a:xfrm>
          <a:prstGeom prst="rect">
            <a:avLst/>
          </a:prstGeom>
        </p:spPr>
      </p:pic>
      <p:sp>
        <p:nvSpPr>
          <p:cNvPr id="24" name="Text 17"/>
          <p:cNvSpPr txBox="1"/>
          <p:nvPr/>
        </p:nvSpPr>
        <p:spPr>
          <a:xfrm>
            <a:off x="9189491" y="3442716"/>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EVENTOS EXTERNOS</a:t>
            </a:r>
            <a:endParaRPr lang="en-US" sz="1250" dirty="0"/>
          </a:p>
        </p:txBody>
      </p:sp>
      <p:sp>
        <p:nvSpPr>
          <p:cNvPr id="25" name="Text 18"/>
          <p:cNvSpPr txBox="1"/>
          <p:nvPr/>
        </p:nvSpPr>
        <p:spPr>
          <a:xfrm>
            <a:off x="9244355" y="3954780"/>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Interrupción → impacto</a:t>
            </a:r>
            <a:endParaRPr lang="en-US" sz="1100" dirty="0"/>
          </a:p>
        </p:txBody>
      </p:sp>
      <p:sp>
        <p:nvSpPr>
          <p:cNvPr id="26" name="Shape 19"/>
          <p:cNvSpPr/>
          <p:nvPr/>
        </p:nvSpPr>
        <p:spPr>
          <a:xfrm>
            <a:off x="566928" y="5449824"/>
            <a:ext cx="11057839" cy="658368"/>
          </a:xfrm>
          <a:prstGeom prst="roundRect">
            <a:avLst>
              <a:gd name="adj" fmla="val 13889"/>
            </a:avLst>
          </a:prstGeom>
          <a:solidFill>
            <a:srgbClr val="17A9B0"/>
          </a:solidFill>
          <a:ln/>
        </p:spPr>
      </p:sp>
      <p:sp>
        <p:nvSpPr>
          <p:cNvPr id="27" name="Text 20"/>
          <p:cNvSpPr txBox="1"/>
          <p:nvPr/>
        </p:nvSpPr>
        <p:spPr>
          <a:xfrm>
            <a:off x="841248" y="5449824"/>
            <a:ext cx="10509199" cy="658368"/>
          </a:xfrm>
          <a:prstGeom prst="rect">
            <a:avLst/>
          </a:prstGeom>
          <a:noFill/>
          <a:ln/>
        </p:spPr>
        <p:txBody>
          <a:bodyPr wrap="square" lIns="0" tIns="0" rIns="0" bIns="0" rtlCol="0" anchor="ctr"/>
          <a:lstStyle/>
          <a:p>
            <a:pPr algn="ctr" indent="0" marL="0">
              <a:lnSpc>
                <a:spcPct val="108000"/>
              </a:lnSpc>
              <a:buNone/>
            </a:pPr>
            <a:r>
              <a:rPr lang="en-US" sz="1500" b="1" dirty="0">
                <a:solidFill>
                  <a:srgbClr val="FFFFFF"/>
                </a:solidFill>
                <a:latin typeface="Cambria" pitchFamily="34" charset="0"/>
                <a:ea typeface="Cambria" pitchFamily="34" charset="-122"/>
                <a:cs typeface="Cambria" pitchFamily="34" charset="-120"/>
              </a:rPr>
              <a:t>El riesgo operativo no siempre es un gran problema. A veces comienza con un pequeño descuido.</a:t>
            </a:r>
            <a:endParaRPr lang="en-US" sz="1500" dirty="0"/>
          </a:p>
        </p:txBody>
      </p:sp>
      <p:sp>
        <p:nvSpPr>
          <p:cNvPr id="28" name="Text 21"/>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9" name="Text 22"/>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8</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3A6EA5"/>
                </a:solidFill>
                <a:latin typeface="Calibri" pitchFamily="34" charset="0"/>
                <a:ea typeface="Calibri" pitchFamily="34" charset="-122"/>
                <a:cs typeface="Calibri" pitchFamily="34" charset="-120"/>
              </a:rPr>
              <a:t>TEMA 4 · ¿QUÉ CONSTRUYE NUESTRA REPUTACIÓN?</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200" b="1" dirty="0">
                <a:solidFill>
                  <a:srgbClr val="133B6C"/>
                </a:solidFill>
                <a:latin typeface="Cambria" pitchFamily="34" charset="0"/>
                <a:ea typeface="Cambria" pitchFamily="34" charset="-122"/>
                <a:cs typeface="Cambria" pitchFamily="34" charset="-120"/>
              </a:rPr>
              <a:t>CUIDEMOS LA REPUTACIÓN DE NUESTRA COOPERATIVA</a:t>
            </a:r>
            <a:endParaRPr lang="en-US" sz="22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REPUTACIÓN = CONFIANZA. Se forma con cada interacción:</a:t>
            </a:r>
            <a:endParaRPr lang="en-US" sz="1500" dirty="0"/>
          </a:p>
        </p:txBody>
      </p:sp>
      <p:sp>
        <p:nvSpPr>
          <p:cNvPr id="6" name="Shape 3"/>
          <p:cNvSpPr/>
          <p:nvPr/>
        </p:nvSpPr>
        <p:spPr>
          <a:xfrm>
            <a:off x="566928" y="2148840"/>
            <a:ext cx="2545004" cy="1431036"/>
          </a:xfrm>
          <a:prstGeom prst="roundRect">
            <a:avLst>
              <a:gd name="adj" fmla="val 6390"/>
            </a:avLst>
          </a:prstGeom>
          <a:solidFill>
            <a:srgbClr val="F2F5F9"/>
          </a:solidFill>
          <a:ln/>
        </p:spPr>
      </p:sp>
      <p:sp>
        <p:nvSpPr>
          <p:cNvPr id="7" name="Shape 4"/>
          <p:cNvSpPr/>
          <p:nvPr/>
        </p:nvSpPr>
        <p:spPr>
          <a:xfrm>
            <a:off x="1555966" y="2313432"/>
            <a:ext cx="566928" cy="566928"/>
          </a:xfrm>
          <a:prstGeom prst="ellipse">
            <a:avLst/>
          </a:prstGeom>
          <a:solidFill>
            <a:srgbClr val="3A6EA5"/>
          </a:solidFill>
          <a:ln/>
        </p:spPr>
      </p:sp>
      <p:pic>
        <p:nvPicPr>
          <p:cNvPr id="8" name="Image 0" descr="/tmp/claude-0/-home-user-riesgo/0ff9ff46-1396-5bd8-b3ac-2280dfbbbc55/scratchpad/work/gen/icons/handshake_white.png">    </p:cNvPr>
          <p:cNvPicPr>
            <a:picLocks noChangeAspect="1"/>
          </p:cNvPicPr>
          <p:nvPr/>
        </p:nvPicPr>
        <p:blipFill>
          <a:blip r:embed="rId1"/>
          <a:stretch>
            <a:fillRect/>
          </a:stretch>
        </p:blipFill>
        <p:spPr>
          <a:xfrm>
            <a:off x="1692029" y="2449495"/>
            <a:ext cx="294803" cy="294803"/>
          </a:xfrm>
          <a:prstGeom prst="rect">
            <a:avLst/>
          </a:prstGeom>
        </p:spPr>
      </p:pic>
      <p:sp>
        <p:nvSpPr>
          <p:cNvPr id="9" name="Text 5"/>
          <p:cNvSpPr txBox="1"/>
          <p:nvPr/>
        </p:nvSpPr>
        <p:spPr>
          <a:xfrm>
            <a:off x="676656" y="3026664"/>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Servicio y experiencia del asociado</a:t>
            </a:r>
            <a:endParaRPr lang="en-US" sz="1250" dirty="0"/>
          </a:p>
        </p:txBody>
      </p:sp>
      <p:sp>
        <p:nvSpPr>
          <p:cNvPr id="10" name="Shape 6"/>
          <p:cNvSpPr/>
          <p:nvPr/>
        </p:nvSpPr>
        <p:spPr>
          <a:xfrm>
            <a:off x="3404540" y="2148840"/>
            <a:ext cx="2545004" cy="1431036"/>
          </a:xfrm>
          <a:prstGeom prst="roundRect">
            <a:avLst>
              <a:gd name="adj" fmla="val 6390"/>
            </a:avLst>
          </a:prstGeom>
          <a:solidFill>
            <a:srgbClr val="F2F5F9"/>
          </a:solidFill>
          <a:ln/>
        </p:spPr>
      </p:sp>
      <p:sp>
        <p:nvSpPr>
          <p:cNvPr id="11" name="Shape 7"/>
          <p:cNvSpPr/>
          <p:nvPr/>
        </p:nvSpPr>
        <p:spPr>
          <a:xfrm>
            <a:off x="4393578" y="2313432"/>
            <a:ext cx="566928" cy="566928"/>
          </a:xfrm>
          <a:prstGeom prst="ellipse">
            <a:avLst/>
          </a:prstGeom>
          <a:solidFill>
            <a:srgbClr val="3A6EA5"/>
          </a:solidFill>
          <a:ln/>
        </p:spPr>
      </p:sp>
      <p:pic>
        <p:nvPicPr>
          <p:cNvPr id="12" name="Image 1" descr="/tmp/claude-0/-home-user-riesgo/0ff9ff46-1396-5bd8-b3ac-2280dfbbbc55/scratchpad/work/gen/icons/scale_white.png">    </p:cNvPr>
          <p:cNvPicPr>
            <a:picLocks noChangeAspect="1"/>
          </p:cNvPicPr>
          <p:nvPr/>
        </p:nvPicPr>
        <p:blipFill>
          <a:blip r:embed="rId2"/>
          <a:stretch>
            <a:fillRect/>
          </a:stretch>
        </p:blipFill>
        <p:spPr>
          <a:xfrm>
            <a:off x="4529640" y="2449495"/>
            <a:ext cx="294803" cy="294803"/>
          </a:xfrm>
          <a:prstGeom prst="rect">
            <a:avLst/>
          </a:prstGeom>
        </p:spPr>
      </p:pic>
      <p:sp>
        <p:nvSpPr>
          <p:cNvPr id="13" name="Text 8"/>
          <p:cNvSpPr txBox="1"/>
          <p:nvPr/>
        </p:nvSpPr>
        <p:spPr>
          <a:xfrm>
            <a:off x="3514268" y="3026664"/>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Ética y cumplimiento normativo</a:t>
            </a:r>
            <a:endParaRPr lang="en-US" sz="1250" dirty="0"/>
          </a:p>
        </p:txBody>
      </p:sp>
      <p:sp>
        <p:nvSpPr>
          <p:cNvPr id="14" name="Shape 9"/>
          <p:cNvSpPr/>
          <p:nvPr/>
        </p:nvSpPr>
        <p:spPr>
          <a:xfrm>
            <a:off x="6242152" y="2148840"/>
            <a:ext cx="2545004" cy="1431036"/>
          </a:xfrm>
          <a:prstGeom prst="roundRect">
            <a:avLst>
              <a:gd name="adj" fmla="val 6390"/>
            </a:avLst>
          </a:prstGeom>
          <a:solidFill>
            <a:srgbClr val="F2F5F9"/>
          </a:solidFill>
          <a:ln/>
        </p:spPr>
      </p:sp>
      <p:sp>
        <p:nvSpPr>
          <p:cNvPr id="15" name="Shape 10"/>
          <p:cNvSpPr/>
          <p:nvPr/>
        </p:nvSpPr>
        <p:spPr>
          <a:xfrm>
            <a:off x="7231189" y="2313432"/>
            <a:ext cx="566928" cy="566928"/>
          </a:xfrm>
          <a:prstGeom prst="ellipse">
            <a:avLst/>
          </a:prstGeom>
          <a:solidFill>
            <a:srgbClr val="3A6EA5"/>
          </a:solidFill>
          <a:ln/>
        </p:spPr>
      </p:sp>
      <p:pic>
        <p:nvPicPr>
          <p:cNvPr id="16" name="Image 2" descr="/tmp/claude-0/-home-user-riesgo/0ff9ff46-1396-5bd8-b3ac-2280dfbbbc55/scratchpad/work/gen/icons/lock_white.png">    </p:cNvPr>
          <p:cNvPicPr>
            <a:picLocks noChangeAspect="1"/>
          </p:cNvPicPr>
          <p:nvPr/>
        </p:nvPicPr>
        <p:blipFill>
          <a:blip r:embed="rId3"/>
          <a:stretch>
            <a:fillRect/>
          </a:stretch>
        </p:blipFill>
        <p:spPr>
          <a:xfrm>
            <a:off x="7367252" y="2449495"/>
            <a:ext cx="294803" cy="294803"/>
          </a:xfrm>
          <a:prstGeom prst="rect">
            <a:avLst/>
          </a:prstGeom>
        </p:spPr>
      </p:pic>
      <p:sp>
        <p:nvSpPr>
          <p:cNvPr id="17" name="Text 11"/>
          <p:cNvSpPr txBox="1"/>
          <p:nvPr/>
        </p:nvSpPr>
        <p:spPr>
          <a:xfrm>
            <a:off x="6351880" y="3026664"/>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Manejo adecuado de la información</a:t>
            </a:r>
            <a:endParaRPr lang="en-US" sz="1250" dirty="0"/>
          </a:p>
        </p:txBody>
      </p:sp>
      <p:sp>
        <p:nvSpPr>
          <p:cNvPr id="18" name="Shape 12"/>
          <p:cNvSpPr/>
          <p:nvPr/>
        </p:nvSpPr>
        <p:spPr>
          <a:xfrm>
            <a:off x="9079763" y="2148840"/>
            <a:ext cx="2545004" cy="1431036"/>
          </a:xfrm>
          <a:prstGeom prst="roundRect">
            <a:avLst>
              <a:gd name="adj" fmla="val 6390"/>
            </a:avLst>
          </a:prstGeom>
          <a:solidFill>
            <a:srgbClr val="F2F5F9"/>
          </a:solidFill>
          <a:ln/>
        </p:spPr>
      </p:sp>
      <p:sp>
        <p:nvSpPr>
          <p:cNvPr id="19" name="Shape 13"/>
          <p:cNvSpPr/>
          <p:nvPr/>
        </p:nvSpPr>
        <p:spPr>
          <a:xfrm>
            <a:off x="10068801" y="2313432"/>
            <a:ext cx="566928" cy="566928"/>
          </a:xfrm>
          <a:prstGeom prst="ellipse">
            <a:avLst/>
          </a:prstGeom>
          <a:solidFill>
            <a:srgbClr val="3A6EA5"/>
          </a:solidFill>
          <a:ln/>
        </p:spPr>
      </p:sp>
      <p:pic>
        <p:nvPicPr>
          <p:cNvPr id="20" name="Image 3" descr="/tmp/claude-0/-home-user-riesgo/0ff9ff46-1396-5bd8-b3ac-2280dfbbbc55/scratchpad/work/gen/icons/person_white.png">    </p:cNvPr>
          <p:cNvPicPr>
            <a:picLocks noChangeAspect="1"/>
          </p:cNvPicPr>
          <p:nvPr/>
        </p:nvPicPr>
        <p:blipFill>
          <a:blip r:embed="rId4"/>
          <a:stretch>
            <a:fillRect/>
          </a:stretch>
        </p:blipFill>
        <p:spPr>
          <a:xfrm>
            <a:off x="10204864" y="2449495"/>
            <a:ext cx="294803" cy="294803"/>
          </a:xfrm>
          <a:prstGeom prst="rect">
            <a:avLst/>
          </a:prstGeom>
        </p:spPr>
      </p:pic>
      <p:sp>
        <p:nvSpPr>
          <p:cNvPr id="21" name="Text 14"/>
          <p:cNvSpPr txBox="1"/>
          <p:nvPr/>
        </p:nvSpPr>
        <p:spPr>
          <a:xfrm>
            <a:off x="9189491" y="3026664"/>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Comportamiento de cada colaborador</a:t>
            </a:r>
            <a:endParaRPr lang="en-US" sz="1250" dirty="0"/>
          </a:p>
        </p:txBody>
      </p:sp>
      <p:sp>
        <p:nvSpPr>
          <p:cNvPr id="22" name="Shape 15"/>
          <p:cNvSpPr/>
          <p:nvPr/>
        </p:nvSpPr>
        <p:spPr>
          <a:xfrm>
            <a:off x="566928" y="3835908"/>
            <a:ext cx="2545004" cy="1431036"/>
          </a:xfrm>
          <a:prstGeom prst="roundRect">
            <a:avLst>
              <a:gd name="adj" fmla="val 6390"/>
            </a:avLst>
          </a:prstGeom>
          <a:solidFill>
            <a:srgbClr val="F2F5F9"/>
          </a:solidFill>
          <a:ln/>
        </p:spPr>
      </p:sp>
      <p:sp>
        <p:nvSpPr>
          <p:cNvPr id="23" name="Shape 16"/>
          <p:cNvSpPr/>
          <p:nvPr/>
        </p:nvSpPr>
        <p:spPr>
          <a:xfrm>
            <a:off x="1555966" y="4000500"/>
            <a:ext cx="566928" cy="566928"/>
          </a:xfrm>
          <a:prstGeom prst="ellipse">
            <a:avLst/>
          </a:prstGeom>
          <a:solidFill>
            <a:srgbClr val="3A6EA5"/>
          </a:solidFill>
          <a:ln/>
        </p:spPr>
      </p:sp>
      <p:pic>
        <p:nvPicPr>
          <p:cNvPr id="24" name="Image 4" descr="/tmp/claude-0/-home-user-riesgo/0ff9ff46-1396-5bd8-b3ac-2280dfbbbc55/scratchpad/work/gen/icons/social_white.png">    </p:cNvPr>
          <p:cNvPicPr>
            <a:picLocks noChangeAspect="1"/>
          </p:cNvPicPr>
          <p:nvPr/>
        </p:nvPicPr>
        <p:blipFill>
          <a:blip r:embed="rId5"/>
          <a:stretch>
            <a:fillRect/>
          </a:stretch>
        </p:blipFill>
        <p:spPr>
          <a:xfrm>
            <a:off x="1692029" y="4136563"/>
            <a:ext cx="294803" cy="294803"/>
          </a:xfrm>
          <a:prstGeom prst="rect">
            <a:avLst/>
          </a:prstGeom>
        </p:spPr>
      </p:pic>
      <p:sp>
        <p:nvSpPr>
          <p:cNvPr id="25" name="Text 17"/>
          <p:cNvSpPr txBox="1"/>
          <p:nvPr/>
        </p:nvSpPr>
        <p:spPr>
          <a:xfrm>
            <a:off x="676656" y="4713732"/>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Lo que se dice en redes sociales</a:t>
            </a:r>
            <a:endParaRPr lang="en-US" sz="1250" dirty="0"/>
          </a:p>
        </p:txBody>
      </p:sp>
      <p:sp>
        <p:nvSpPr>
          <p:cNvPr id="26" name="Shape 18"/>
          <p:cNvSpPr/>
          <p:nvPr/>
        </p:nvSpPr>
        <p:spPr>
          <a:xfrm>
            <a:off x="3404540" y="3835908"/>
            <a:ext cx="2545004" cy="1431036"/>
          </a:xfrm>
          <a:prstGeom prst="roundRect">
            <a:avLst>
              <a:gd name="adj" fmla="val 6390"/>
            </a:avLst>
          </a:prstGeom>
          <a:solidFill>
            <a:srgbClr val="F2F5F9"/>
          </a:solidFill>
          <a:ln/>
        </p:spPr>
      </p:sp>
      <p:sp>
        <p:nvSpPr>
          <p:cNvPr id="27" name="Shape 19"/>
          <p:cNvSpPr/>
          <p:nvPr/>
        </p:nvSpPr>
        <p:spPr>
          <a:xfrm>
            <a:off x="4393578" y="4000500"/>
            <a:ext cx="566928" cy="566928"/>
          </a:xfrm>
          <a:prstGeom prst="ellipse">
            <a:avLst/>
          </a:prstGeom>
          <a:solidFill>
            <a:srgbClr val="3A6EA5"/>
          </a:solidFill>
          <a:ln/>
        </p:spPr>
      </p:sp>
      <p:pic>
        <p:nvPicPr>
          <p:cNvPr id="28" name="Image 5" descr="/tmp/claude-0/-home-user-riesgo/0ff9ff46-1396-5bd8-b3ac-2280dfbbbc55/scratchpad/work/gen/icons/people_group_white.png">    </p:cNvPr>
          <p:cNvPicPr>
            <a:picLocks noChangeAspect="1"/>
          </p:cNvPicPr>
          <p:nvPr/>
        </p:nvPicPr>
        <p:blipFill>
          <a:blip r:embed="rId6"/>
          <a:stretch>
            <a:fillRect/>
          </a:stretch>
        </p:blipFill>
        <p:spPr>
          <a:xfrm>
            <a:off x="4529640" y="4136563"/>
            <a:ext cx="294803" cy="294803"/>
          </a:xfrm>
          <a:prstGeom prst="rect">
            <a:avLst/>
          </a:prstGeom>
        </p:spPr>
      </p:pic>
      <p:sp>
        <p:nvSpPr>
          <p:cNvPr id="29" name="Text 20"/>
          <p:cNvSpPr txBox="1"/>
          <p:nvPr/>
        </p:nvSpPr>
        <p:spPr>
          <a:xfrm>
            <a:off x="3514268" y="4713732"/>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Relación con proveedores y terceros</a:t>
            </a:r>
            <a:endParaRPr lang="en-US" sz="1250" dirty="0"/>
          </a:p>
        </p:txBody>
      </p:sp>
      <p:sp>
        <p:nvSpPr>
          <p:cNvPr id="30" name="Shape 21"/>
          <p:cNvSpPr/>
          <p:nvPr/>
        </p:nvSpPr>
        <p:spPr>
          <a:xfrm>
            <a:off x="6242152" y="3835908"/>
            <a:ext cx="2545004" cy="1431036"/>
          </a:xfrm>
          <a:prstGeom prst="roundRect">
            <a:avLst>
              <a:gd name="adj" fmla="val 6390"/>
            </a:avLst>
          </a:prstGeom>
          <a:solidFill>
            <a:srgbClr val="F2F5F9"/>
          </a:solidFill>
          <a:ln/>
        </p:spPr>
      </p:sp>
      <p:sp>
        <p:nvSpPr>
          <p:cNvPr id="31" name="Shape 22"/>
          <p:cNvSpPr/>
          <p:nvPr/>
        </p:nvSpPr>
        <p:spPr>
          <a:xfrm>
            <a:off x="7231189" y="4000500"/>
            <a:ext cx="566928" cy="566928"/>
          </a:xfrm>
          <a:prstGeom prst="ellipse">
            <a:avLst/>
          </a:prstGeom>
          <a:solidFill>
            <a:srgbClr val="3A6EA5"/>
          </a:solidFill>
          <a:ln/>
        </p:spPr>
      </p:sp>
      <p:pic>
        <p:nvPicPr>
          <p:cNvPr id="32" name="Image 6" descr="/tmp/claude-0/-home-user-riesgo/0ff9ff46-1396-5bd8-b3ac-2280dfbbbc55/scratchpad/work/gen/icons/target_white.png">    </p:cNvPr>
          <p:cNvPicPr>
            <a:picLocks noChangeAspect="1"/>
          </p:cNvPicPr>
          <p:nvPr/>
        </p:nvPicPr>
        <p:blipFill>
          <a:blip r:embed="rId7"/>
          <a:stretch>
            <a:fillRect/>
          </a:stretch>
        </p:blipFill>
        <p:spPr>
          <a:xfrm>
            <a:off x="7367252" y="4136563"/>
            <a:ext cx="294803" cy="294803"/>
          </a:xfrm>
          <a:prstGeom prst="rect">
            <a:avLst/>
          </a:prstGeom>
        </p:spPr>
      </p:pic>
      <p:sp>
        <p:nvSpPr>
          <p:cNvPr id="33" name="Text 23"/>
          <p:cNvSpPr txBox="1"/>
          <p:nvPr/>
        </p:nvSpPr>
        <p:spPr>
          <a:xfrm>
            <a:off x="6351880" y="4713732"/>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Calidad de productos y servicios</a:t>
            </a:r>
            <a:endParaRPr lang="en-US" sz="1250" dirty="0"/>
          </a:p>
        </p:txBody>
      </p:sp>
      <p:sp>
        <p:nvSpPr>
          <p:cNvPr id="34" name="Shape 24"/>
          <p:cNvSpPr/>
          <p:nvPr/>
        </p:nvSpPr>
        <p:spPr>
          <a:xfrm>
            <a:off x="9079763" y="3835908"/>
            <a:ext cx="2545004" cy="1431036"/>
          </a:xfrm>
          <a:prstGeom prst="roundRect">
            <a:avLst>
              <a:gd name="adj" fmla="val 6390"/>
            </a:avLst>
          </a:prstGeom>
          <a:solidFill>
            <a:srgbClr val="F2F5F9"/>
          </a:solidFill>
          <a:ln/>
        </p:spPr>
      </p:sp>
      <p:sp>
        <p:nvSpPr>
          <p:cNvPr id="35" name="Shape 25"/>
          <p:cNvSpPr/>
          <p:nvPr/>
        </p:nvSpPr>
        <p:spPr>
          <a:xfrm>
            <a:off x="10068801" y="4000500"/>
            <a:ext cx="566928" cy="566928"/>
          </a:xfrm>
          <a:prstGeom prst="ellipse">
            <a:avLst/>
          </a:prstGeom>
          <a:solidFill>
            <a:srgbClr val="3A6EA5"/>
          </a:solidFill>
          <a:ln/>
        </p:spPr>
      </p:sp>
      <p:pic>
        <p:nvPicPr>
          <p:cNvPr id="36" name="Image 7" descr="/tmp/claude-0/-home-user-riesgo/0ff9ff46-1396-5bd8-b3ac-2280dfbbbc55/scratchpad/work/gen/icons/globe_white.png">    </p:cNvPr>
          <p:cNvPicPr>
            <a:picLocks noChangeAspect="1"/>
          </p:cNvPicPr>
          <p:nvPr/>
        </p:nvPicPr>
        <p:blipFill>
          <a:blip r:embed="rId8"/>
          <a:stretch>
            <a:fillRect/>
          </a:stretch>
        </p:blipFill>
        <p:spPr>
          <a:xfrm>
            <a:off x="10204864" y="4136563"/>
            <a:ext cx="294803" cy="294803"/>
          </a:xfrm>
          <a:prstGeom prst="rect">
            <a:avLst/>
          </a:prstGeom>
        </p:spPr>
      </p:pic>
      <p:sp>
        <p:nvSpPr>
          <p:cNvPr id="37" name="Text 26"/>
          <p:cNvSpPr txBox="1"/>
          <p:nvPr/>
        </p:nvSpPr>
        <p:spPr>
          <a:xfrm>
            <a:off x="9189491" y="4713732"/>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Percepción pública y cobertura mediática</a:t>
            </a:r>
            <a:endParaRPr lang="en-US" sz="1250" dirty="0"/>
          </a:p>
        </p:txBody>
      </p:sp>
      <p:sp>
        <p:nvSpPr>
          <p:cNvPr id="38" name="Shape 27"/>
          <p:cNvSpPr/>
          <p:nvPr/>
        </p:nvSpPr>
        <p:spPr>
          <a:xfrm>
            <a:off x="566928" y="5449824"/>
            <a:ext cx="11057839" cy="658368"/>
          </a:xfrm>
          <a:prstGeom prst="roundRect">
            <a:avLst>
              <a:gd name="adj" fmla="val 13889"/>
            </a:avLst>
          </a:prstGeom>
          <a:solidFill>
            <a:srgbClr val="3A6EA5"/>
          </a:solidFill>
          <a:ln/>
        </p:spPr>
      </p:sp>
      <p:sp>
        <p:nvSpPr>
          <p:cNvPr id="39" name="Text 28"/>
          <p:cNvSpPr txBox="1"/>
          <p:nvPr/>
        </p:nvSpPr>
        <p:spPr>
          <a:xfrm>
            <a:off x="841248" y="5449824"/>
            <a:ext cx="10509199" cy="658368"/>
          </a:xfrm>
          <a:prstGeom prst="rect">
            <a:avLst/>
          </a:prstGeom>
          <a:noFill/>
          <a:ln/>
        </p:spPr>
        <p:txBody>
          <a:bodyPr wrap="square" lIns="0" tIns="0" rIns="0" bIns="0" rtlCol="0" anchor="ctr"/>
          <a:lstStyle/>
          <a:p>
            <a:pPr algn="ctr" indent="0" marL="0">
              <a:lnSpc>
                <a:spcPct val="108000"/>
              </a:lnSpc>
              <a:buNone/>
            </a:pPr>
            <a:r>
              <a:rPr lang="en-US" sz="1500" b="1" dirty="0">
                <a:solidFill>
                  <a:srgbClr val="FFFFFF"/>
                </a:solidFill>
                <a:latin typeface="Cambria" pitchFamily="34" charset="0"/>
                <a:ea typeface="Cambria" pitchFamily="34" charset="-122"/>
                <a:cs typeface="Cambria" pitchFamily="34" charset="-120"/>
              </a:rPr>
              <a:t>Una experiencia puede durar minutos. Una mala reputación puede durar mucho más.</a:t>
            </a:r>
            <a:endParaRPr lang="en-US" sz="1500" dirty="0"/>
          </a:p>
        </p:txBody>
      </p:sp>
      <p:sp>
        <p:nvSpPr>
          <p:cNvPr id="40" name="Text 29"/>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41" name="Text 30"/>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9</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1B4F91"/>
                </a:solidFill>
                <a:latin typeface="Calibri" pitchFamily="34" charset="0"/>
                <a:ea typeface="Calibri" pitchFamily="34" charset="-122"/>
                <a:cs typeface="Calibri" pitchFamily="34" charset="-120"/>
              </a:rPr>
              <a:t>TEMA 5 · ERROR VS. FRAUDE</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400" b="1" dirty="0">
                <a:solidFill>
                  <a:srgbClr val="133B6C"/>
                </a:solidFill>
                <a:latin typeface="Cambria" pitchFamily="34" charset="0"/>
                <a:ea typeface="Cambria" pitchFamily="34" charset="-122"/>
                <a:cs typeface="Cambria" pitchFamily="34" charset="-120"/>
              </a:rPr>
              <a:t>FRAUDE Y ERRORES: APRENDAMOS A PREVENIRLOS</a:t>
            </a:r>
            <a:endParaRPr lang="en-US" sz="2400" dirty="0"/>
          </a:p>
        </p:txBody>
      </p:sp>
      <p:sp>
        <p:nvSpPr>
          <p:cNvPr id="5" name="Shape 2"/>
          <p:cNvSpPr/>
          <p:nvPr/>
        </p:nvSpPr>
        <p:spPr>
          <a:xfrm>
            <a:off x="566928" y="1874520"/>
            <a:ext cx="5346040" cy="3657600"/>
          </a:xfrm>
          <a:prstGeom prst="roundRect">
            <a:avLst>
              <a:gd name="adj" fmla="val 3000"/>
            </a:avLst>
          </a:prstGeom>
          <a:solidFill>
            <a:srgbClr val="F2F5F9"/>
          </a:solidFill>
          <a:ln/>
        </p:spPr>
      </p:sp>
      <p:sp>
        <p:nvSpPr>
          <p:cNvPr id="6" name="Shape 3"/>
          <p:cNvSpPr/>
          <p:nvPr/>
        </p:nvSpPr>
        <p:spPr>
          <a:xfrm>
            <a:off x="566928" y="1874520"/>
            <a:ext cx="5346040" cy="566928"/>
          </a:xfrm>
          <a:prstGeom prst="roundRect">
            <a:avLst>
              <a:gd name="adj" fmla="val 19355"/>
            </a:avLst>
          </a:prstGeom>
          <a:solidFill>
            <a:srgbClr val="F0AD35"/>
          </a:solidFill>
          <a:ln/>
        </p:spPr>
      </p:sp>
      <p:sp>
        <p:nvSpPr>
          <p:cNvPr id="7" name="Shape 4"/>
          <p:cNvSpPr/>
          <p:nvPr/>
        </p:nvSpPr>
        <p:spPr>
          <a:xfrm>
            <a:off x="566928" y="2157984"/>
            <a:ext cx="5346040" cy="283464"/>
          </a:xfrm>
          <a:prstGeom prst="rect">
            <a:avLst/>
          </a:prstGeom>
          <a:solidFill>
            <a:srgbClr val="F0AD35"/>
          </a:solidFill>
          <a:ln/>
        </p:spPr>
      </p:sp>
      <p:sp>
        <p:nvSpPr>
          <p:cNvPr id="8" name="Shape 5"/>
          <p:cNvSpPr/>
          <p:nvPr/>
        </p:nvSpPr>
        <p:spPr>
          <a:xfrm>
            <a:off x="822960" y="2039112"/>
            <a:ext cx="457200" cy="457200"/>
          </a:xfrm>
          <a:prstGeom prst="ellipse">
            <a:avLst/>
          </a:prstGeom>
          <a:solidFill>
            <a:srgbClr val="F0AD35"/>
          </a:solidFill>
          <a:ln/>
        </p:spPr>
      </p:sp>
      <p:pic>
        <p:nvPicPr>
          <p:cNvPr id="9" name="Image 0" descr="/tmp/claude-0/-home-user-riesgo/0ff9ff46-1396-5bd8-b3ac-2280dfbbbc55/scratchpad/work/gen/icons/x_circle_white.png">    </p:cNvPr>
          <p:cNvPicPr>
            <a:picLocks noChangeAspect="1"/>
          </p:cNvPicPr>
          <p:nvPr/>
        </p:nvPicPr>
        <p:blipFill>
          <a:blip r:embed="rId1"/>
          <a:stretch>
            <a:fillRect/>
          </a:stretch>
        </p:blipFill>
        <p:spPr>
          <a:xfrm>
            <a:off x="914400" y="2130552"/>
            <a:ext cx="274320" cy="274320"/>
          </a:xfrm>
          <a:prstGeom prst="rect">
            <a:avLst/>
          </a:prstGeom>
        </p:spPr>
      </p:pic>
      <p:sp>
        <p:nvSpPr>
          <p:cNvPr id="10" name="Text 6"/>
          <p:cNvSpPr txBox="1"/>
          <p:nvPr/>
        </p:nvSpPr>
        <p:spPr>
          <a:xfrm>
            <a:off x="1408176" y="2002536"/>
            <a:ext cx="434020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ERROR</a:t>
            </a:r>
            <a:endParaRPr lang="en-US" sz="1800" dirty="0"/>
          </a:p>
        </p:txBody>
      </p:sp>
      <p:sp>
        <p:nvSpPr>
          <p:cNvPr id="11" name="Text 7"/>
          <p:cNvSpPr txBox="1"/>
          <p:nvPr/>
        </p:nvSpPr>
        <p:spPr>
          <a:xfrm>
            <a:off x="886968" y="2624328"/>
            <a:ext cx="4705960" cy="329184"/>
          </a:xfrm>
          <a:prstGeom prst="rect">
            <a:avLst/>
          </a:prstGeom>
          <a:noFill/>
          <a:ln/>
        </p:spPr>
        <p:txBody>
          <a:bodyPr wrap="square" lIns="0" tIns="0" rIns="0" bIns="0" rtlCol="0" anchor="ctr"/>
          <a:lstStyle/>
          <a:p>
            <a:pPr indent="0" marL="0">
              <a:buNone/>
            </a:pPr>
            <a:r>
              <a:rPr lang="en-US" sz="1250" b="1" spc="120" kern="0" dirty="0">
                <a:solidFill>
                  <a:srgbClr val="F0AD35"/>
                </a:solidFill>
                <a:latin typeface="Calibri" pitchFamily="34" charset="0"/>
                <a:ea typeface="Calibri" pitchFamily="34" charset="-122"/>
                <a:cs typeface="Calibri" pitchFamily="34" charset="-120"/>
              </a:rPr>
              <a:t>NO INTENCIONAL</a:t>
            </a:r>
            <a:endParaRPr lang="en-US" sz="1250" dirty="0"/>
          </a:p>
        </p:txBody>
      </p:sp>
      <p:sp>
        <p:nvSpPr>
          <p:cNvPr id="12" name="Text 8"/>
          <p:cNvSpPr txBox="1"/>
          <p:nvPr/>
        </p:nvSpPr>
        <p:spPr>
          <a:xfrm>
            <a:off x="886968" y="2971800"/>
            <a:ext cx="4705960" cy="2423160"/>
          </a:xfrm>
          <a:prstGeom prst="rect">
            <a:avLst/>
          </a:prstGeom>
          <a:noFill/>
          <a:ln/>
        </p:spPr>
        <p:txBody>
          <a:bodyPr wrap="square" lIns="0" tIns="0" rIns="0" bIns="0" rtlCol="0" anchor="ctr"/>
          <a:lstStyle/>
          <a:p>
            <a:pPr indent="0" marL="0">
              <a:lnSpc>
                <a:spcPct val="118000"/>
              </a:lnSpc>
              <a:buNone/>
            </a:pPr>
            <a:r>
              <a:rPr lang="en-US" sz="1250" dirty="0">
                <a:solidFill>
                  <a:srgbClr val="243044"/>
                </a:solidFill>
                <a:latin typeface="Calibri" pitchFamily="34" charset="0"/>
                <a:ea typeface="Calibri" pitchFamily="34" charset="-122"/>
                <a:cs typeface="Calibri" pitchFamily="34" charset="-120"/>
              </a:rPr>
              <a:t>Ocurre sin intención de causar daño: una equivocación, un olvido o una falla al seguir un procedimiento. Se corrige fortaleciendo la capacitación, la atención y los controles.</a:t>
            </a:r>
            <a:endParaRPr lang="en-US" sz="1250" dirty="0"/>
          </a:p>
        </p:txBody>
      </p:sp>
      <p:sp>
        <p:nvSpPr>
          <p:cNvPr id="13" name="Shape 9"/>
          <p:cNvSpPr/>
          <p:nvPr/>
        </p:nvSpPr>
        <p:spPr>
          <a:xfrm>
            <a:off x="6278728" y="1874520"/>
            <a:ext cx="5346040" cy="3657600"/>
          </a:xfrm>
          <a:prstGeom prst="roundRect">
            <a:avLst>
              <a:gd name="adj" fmla="val 3000"/>
            </a:avLst>
          </a:prstGeom>
          <a:solidFill>
            <a:srgbClr val="F2F5F9"/>
          </a:solidFill>
          <a:ln/>
        </p:spPr>
      </p:sp>
      <p:sp>
        <p:nvSpPr>
          <p:cNvPr id="14" name="Shape 10"/>
          <p:cNvSpPr/>
          <p:nvPr/>
        </p:nvSpPr>
        <p:spPr>
          <a:xfrm>
            <a:off x="6278728" y="1874520"/>
            <a:ext cx="5346040" cy="566928"/>
          </a:xfrm>
          <a:prstGeom prst="roundRect">
            <a:avLst>
              <a:gd name="adj" fmla="val 19355"/>
            </a:avLst>
          </a:prstGeom>
          <a:solidFill>
            <a:srgbClr val="E0392B"/>
          </a:solidFill>
          <a:ln/>
        </p:spPr>
      </p:sp>
      <p:sp>
        <p:nvSpPr>
          <p:cNvPr id="15" name="Shape 11"/>
          <p:cNvSpPr/>
          <p:nvPr/>
        </p:nvSpPr>
        <p:spPr>
          <a:xfrm>
            <a:off x="6278728" y="2157984"/>
            <a:ext cx="5346040" cy="283464"/>
          </a:xfrm>
          <a:prstGeom prst="rect">
            <a:avLst/>
          </a:prstGeom>
          <a:solidFill>
            <a:srgbClr val="E0392B"/>
          </a:solidFill>
          <a:ln/>
        </p:spPr>
      </p:sp>
      <p:sp>
        <p:nvSpPr>
          <p:cNvPr id="16" name="Shape 12"/>
          <p:cNvSpPr/>
          <p:nvPr/>
        </p:nvSpPr>
        <p:spPr>
          <a:xfrm>
            <a:off x="6534760" y="2039112"/>
            <a:ext cx="457200" cy="457200"/>
          </a:xfrm>
          <a:prstGeom prst="ellipse">
            <a:avLst/>
          </a:prstGeom>
          <a:solidFill>
            <a:srgbClr val="E0392B"/>
          </a:solidFill>
          <a:ln/>
        </p:spPr>
      </p:sp>
      <p:pic>
        <p:nvPicPr>
          <p:cNvPr id="17" name="Image 1" descr="/tmp/claude-0/-home-user-riesgo/0ff9ff46-1396-5bd8-b3ac-2280dfbbbc55/scratchpad/work/gen/icons/shield_warning_white.png">    </p:cNvPr>
          <p:cNvPicPr>
            <a:picLocks noChangeAspect="1"/>
          </p:cNvPicPr>
          <p:nvPr/>
        </p:nvPicPr>
        <p:blipFill>
          <a:blip r:embed="rId2"/>
          <a:stretch>
            <a:fillRect/>
          </a:stretch>
        </p:blipFill>
        <p:spPr>
          <a:xfrm>
            <a:off x="6626200" y="2130552"/>
            <a:ext cx="274320" cy="274320"/>
          </a:xfrm>
          <a:prstGeom prst="rect">
            <a:avLst/>
          </a:prstGeom>
        </p:spPr>
      </p:pic>
      <p:sp>
        <p:nvSpPr>
          <p:cNvPr id="18" name="Text 13"/>
          <p:cNvSpPr txBox="1"/>
          <p:nvPr/>
        </p:nvSpPr>
        <p:spPr>
          <a:xfrm>
            <a:off x="7119976" y="2002536"/>
            <a:ext cx="434020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FRAUDE</a:t>
            </a:r>
            <a:endParaRPr lang="en-US" sz="1800" dirty="0"/>
          </a:p>
        </p:txBody>
      </p:sp>
      <p:sp>
        <p:nvSpPr>
          <p:cNvPr id="19" name="Text 14"/>
          <p:cNvSpPr txBox="1"/>
          <p:nvPr/>
        </p:nvSpPr>
        <p:spPr>
          <a:xfrm>
            <a:off x="6598768" y="2624328"/>
            <a:ext cx="4705960" cy="329184"/>
          </a:xfrm>
          <a:prstGeom prst="rect">
            <a:avLst/>
          </a:prstGeom>
          <a:noFill/>
          <a:ln/>
        </p:spPr>
        <p:txBody>
          <a:bodyPr wrap="square" lIns="0" tIns="0" rIns="0" bIns="0" rtlCol="0" anchor="ctr"/>
          <a:lstStyle/>
          <a:p>
            <a:pPr indent="0" marL="0">
              <a:buNone/>
            </a:pPr>
            <a:r>
              <a:rPr lang="en-US" sz="1250" b="1" spc="120" kern="0" dirty="0">
                <a:solidFill>
                  <a:srgbClr val="E0392B"/>
                </a:solidFill>
                <a:latin typeface="Calibri" pitchFamily="34" charset="0"/>
                <a:ea typeface="Calibri" pitchFamily="34" charset="-122"/>
                <a:cs typeface="Calibri" pitchFamily="34" charset="-120"/>
              </a:rPr>
              <a:t>INTENCIONAL</a:t>
            </a:r>
            <a:endParaRPr lang="en-US" sz="1250" dirty="0"/>
          </a:p>
        </p:txBody>
      </p:sp>
      <p:sp>
        <p:nvSpPr>
          <p:cNvPr id="20" name="Text 15"/>
          <p:cNvSpPr txBox="1"/>
          <p:nvPr/>
        </p:nvSpPr>
        <p:spPr>
          <a:xfrm>
            <a:off x="6598768" y="2971800"/>
            <a:ext cx="4705960" cy="2423160"/>
          </a:xfrm>
          <a:prstGeom prst="rect">
            <a:avLst/>
          </a:prstGeom>
          <a:noFill/>
          <a:ln/>
        </p:spPr>
        <p:txBody>
          <a:bodyPr wrap="square" lIns="0" tIns="0" rIns="0" bIns="0" rtlCol="0" anchor="ctr"/>
          <a:lstStyle/>
          <a:p>
            <a:pPr indent="0" marL="0">
              <a:lnSpc>
                <a:spcPct val="118000"/>
              </a:lnSpc>
              <a:buNone/>
            </a:pPr>
            <a:r>
              <a:rPr lang="en-US" sz="1250" dirty="0">
                <a:solidFill>
                  <a:srgbClr val="243044"/>
                </a:solidFill>
                <a:latin typeface="Calibri" pitchFamily="34" charset="0"/>
                <a:ea typeface="Calibri" pitchFamily="34" charset="-122"/>
                <a:cs typeface="Calibri" pitchFamily="34" charset="-120"/>
              </a:rPr>
              <a:t>Es una acción deliberada para obtener un beneficio indebido, ocultando u omitiendo información a propósito. Se previene con controles, supervisión y una cultura de reporte.</a:t>
            </a:r>
            <a:endParaRPr lang="en-US" sz="1250" dirty="0"/>
          </a:p>
        </p:txBody>
      </p:sp>
      <p:sp>
        <p:nvSpPr>
          <p:cNvPr id="21" name="Shape 16"/>
          <p:cNvSpPr/>
          <p:nvPr/>
        </p:nvSpPr>
        <p:spPr>
          <a:xfrm>
            <a:off x="566928" y="5696712"/>
            <a:ext cx="11057839" cy="411480"/>
          </a:xfrm>
          <a:prstGeom prst="roundRect">
            <a:avLst>
              <a:gd name="adj" fmla="val 22222"/>
            </a:avLst>
          </a:prstGeom>
          <a:solidFill>
            <a:srgbClr val="133B6C"/>
          </a:solidFill>
          <a:ln/>
        </p:spPr>
      </p:sp>
      <p:sp>
        <p:nvSpPr>
          <p:cNvPr id="22" name="Shape 17"/>
          <p:cNvSpPr/>
          <p:nvPr/>
        </p:nvSpPr>
        <p:spPr>
          <a:xfrm>
            <a:off x="768096" y="5797296"/>
            <a:ext cx="384048" cy="384048"/>
          </a:xfrm>
          <a:prstGeom prst="ellipse">
            <a:avLst/>
          </a:prstGeom>
          <a:solidFill>
            <a:srgbClr val="2E86C7"/>
          </a:solidFill>
          <a:ln/>
        </p:spPr>
      </p:sp>
      <p:pic>
        <p:nvPicPr>
          <p:cNvPr id="23" name="Image 2" descr="/tmp/claude-0/-home-user-riesgo/0ff9ff46-1396-5bd8-b3ac-2280dfbbbc55/scratchpad/work/gen/icons/lightbulb_white.png">    </p:cNvPr>
          <p:cNvPicPr>
            <a:picLocks noChangeAspect="1"/>
          </p:cNvPicPr>
          <p:nvPr/>
        </p:nvPicPr>
        <p:blipFill>
          <a:blip r:embed="rId3"/>
          <a:stretch>
            <a:fillRect/>
          </a:stretch>
        </p:blipFill>
        <p:spPr>
          <a:xfrm>
            <a:off x="854507" y="5883707"/>
            <a:ext cx="211226" cy="211226"/>
          </a:xfrm>
          <a:prstGeom prst="rect">
            <a:avLst/>
          </a:prstGeom>
        </p:spPr>
      </p:pic>
      <p:sp>
        <p:nvSpPr>
          <p:cNvPr id="24" name="Text 18"/>
          <p:cNvSpPr txBox="1"/>
          <p:nvPr/>
        </p:nvSpPr>
        <p:spPr>
          <a:xfrm>
            <a:off x="1298448" y="5696712"/>
            <a:ext cx="10051999" cy="411480"/>
          </a:xfrm>
          <a:prstGeom prst="rect">
            <a:avLst/>
          </a:prstGeom>
          <a:noFill/>
          <a:ln/>
        </p:spPr>
        <p:txBody>
          <a:bodyPr wrap="square" lIns="0" tIns="0" rIns="0" bIns="0" rtlCol="0" anchor="ctr"/>
          <a:lstStyle/>
          <a:p>
            <a:pPr indent="0" marL="0">
              <a:lnSpc>
                <a:spcPct val="110000"/>
              </a:lnSpc>
              <a:buNone/>
            </a:pPr>
            <a:r>
              <a:rPr lang="en-US" sz="1200" dirty="0">
                <a:solidFill>
                  <a:srgbClr val="FFFFFF"/>
                </a:solidFill>
                <a:latin typeface="Calibri" pitchFamily="34" charset="0"/>
                <a:ea typeface="Calibri" pitchFamily="34" charset="-122"/>
                <a:cs typeface="Calibri" pitchFamily="34" charset="-120"/>
              </a:rPr>
              <a:t>Definiciones de carácter general para efectos de esta capacitación; ante cualquier duda, consulta con el Departamento de Administración de Riesgos.</a:t>
            </a:r>
            <a:endParaRPr lang="en-US" sz="1200" dirty="0"/>
          </a:p>
        </p:txBody>
      </p:sp>
      <p:sp>
        <p:nvSpPr>
          <p:cNvPr id="25" name="Text 19"/>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6" name="Text 20"/>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10</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1B4F91"/>
                </a:solidFill>
                <a:latin typeface="Calibri" pitchFamily="34" charset="0"/>
                <a:ea typeface="Calibri" pitchFamily="34" charset="-122"/>
                <a:cs typeface="Calibri" pitchFamily="34" charset="-120"/>
              </a:rPr>
              <a:t>TEMA 5 · JUEGO</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600" b="1" dirty="0">
                <a:solidFill>
                  <a:srgbClr val="133B6C"/>
                </a:solidFill>
                <a:latin typeface="Cambria" pitchFamily="34" charset="0"/>
                <a:ea typeface="Cambria" pitchFamily="34" charset="-122"/>
                <a:cs typeface="Cambria" pitchFamily="34" charset="-120"/>
              </a:rPr>
              <a:t>¿ERROR O FRAUDE?</a:t>
            </a:r>
            <a:endParaRPr lang="en-US" sz="26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Analiza cada situación y decide.</a:t>
            </a:r>
            <a:endParaRPr lang="en-US" sz="1500" dirty="0"/>
          </a:p>
        </p:txBody>
      </p:sp>
      <p:sp>
        <p:nvSpPr>
          <p:cNvPr id="6" name="Shape 3"/>
          <p:cNvSpPr/>
          <p:nvPr/>
        </p:nvSpPr>
        <p:spPr>
          <a:xfrm>
            <a:off x="566928" y="2286000"/>
            <a:ext cx="11057839" cy="845820"/>
          </a:xfrm>
          <a:prstGeom prst="roundRect">
            <a:avLst>
              <a:gd name="adj" fmla="val 9730"/>
            </a:avLst>
          </a:prstGeom>
          <a:solidFill>
            <a:srgbClr val="F2F5F9"/>
          </a:solidFill>
          <a:ln/>
        </p:spPr>
      </p:sp>
      <p:sp>
        <p:nvSpPr>
          <p:cNvPr id="7" name="Shape 4"/>
          <p:cNvSpPr/>
          <p:nvPr/>
        </p:nvSpPr>
        <p:spPr>
          <a:xfrm>
            <a:off x="768096" y="2480310"/>
            <a:ext cx="457200" cy="457200"/>
          </a:xfrm>
          <a:prstGeom prst="ellipse">
            <a:avLst/>
          </a:prstGeom>
          <a:solidFill>
            <a:srgbClr val="1B4F91"/>
          </a:solidFill>
          <a:ln/>
        </p:spPr>
      </p:sp>
      <p:sp>
        <p:nvSpPr>
          <p:cNvPr id="8" name="Text 5"/>
          <p:cNvSpPr txBox="1"/>
          <p:nvPr/>
        </p:nvSpPr>
        <p:spPr>
          <a:xfrm>
            <a:off x="768096" y="247116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9" name="Text 6"/>
          <p:cNvSpPr txBox="1"/>
          <p:nvPr/>
        </p:nvSpPr>
        <p:spPr>
          <a:xfrm>
            <a:off x="1435608" y="2286000"/>
            <a:ext cx="8314639" cy="845820"/>
          </a:xfrm>
          <a:prstGeom prst="rect">
            <a:avLst/>
          </a:prstGeom>
          <a:noFill/>
          <a:ln/>
        </p:spPr>
        <p:txBody>
          <a:bodyPr wrap="square" lIns="0" tIns="0" rIns="0" bIns="0" rtlCol="0" anchor="ctr"/>
          <a:lstStyle/>
          <a:p>
            <a:pPr indent="0" marL="0">
              <a:lnSpc>
                <a:spcPct val="105000"/>
              </a:lnSpc>
              <a:buNone/>
            </a:pPr>
            <a:r>
              <a:rPr lang="en-US" sz="1300" dirty="0">
                <a:solidFill>
                  <a:srgbClr val="243044"/>
                </a:solidFill>
                <a:latin typeface="Calibri" pitchFamily="34" charset="0"/>
                <a:ea typeface="Calibri" pitchFamily="34" charset="-122"/>
                <a:cs typeface="Calibri" pitchFamily="34" charset="-120"/>
              </a:rPr>
              <a:t>Un colaborador digita mal el monto de un depósito por una distracción.</a:t>
            </a:r>
            <a:endParaRPr lang="en-US" sz="1300" dirty="0"/>
          </a:p>
        </p:txBody>
      </p:sp>
      <p:sp>
        <p:nvSpPr>
          <p:cNvPr id="10" name="Shape 7"/>
          <p:cNvSpPr/>
          <p:nvPr/>
        </p:nvSpPr>
        <p:spPr>
          <a:xfrm>
            <a:off x="9293047" y="2516886"/>
            <a:ext cx="1078992" cy="384048"/>
          </a:xfrm>
          <a:prstGeom prst="roundRect">
            <a:avLst>
              <a:gd name="adj" fmla="val 50000"/>
            </a:avLst>
          </a:prstGeom>
          <a:solidFill>
            <a:srgbClr val="FFFFFF"/>
          </a:solidFill>
          <a:ln/>
        </p:spPr>
      </p:sp>
      <p:sp>
        <p:nvSpPr>
          <p:cNvPr id="11" name="Text 8"/>
          <p:cNvSpPr txBox="1"/>
          <p:nvPr/>
        </p:nvSpPr>
        <p:spPr>
          <a:xfrm>
            <a:off x="9293047" y="2516886"/>
            <a:ext cx="1078992" cy="384048"/>
          </a:xfrm>
          <a:prstGeom prst="rect">
            <a:avLst/>
          </a:prstGeom>
          <a:noFill/>
          <a:ln/>
        </p:spPr>
        <p:txBody>
          <a:bodyPr wrap="square" lIns="0" tIns="0" rIns="0" bIns="0" rtlCol="0" anchor="ctr"/>
          <a:lstStyle/>
          <a:p>
            <a:pPr algn="ctr" indent="0" marL="0">
              <a:buNone/>
            </a:pPr>
            <a:r>
              <a:rPr lang="en-US" sz="1050" b="1" dirty="0">
                <a:solidFill>
                  <a:srgbClr val="5B6B82"/>
                </a:solidFill>
                <a:latin typeface="Calibri" pitchFamily="34" charset="0"/>
                <a:ea typeface="Calibri" pitchFamily="34" charset="-122"/>
                <a:cs typeface="Calibri" pitchFamily="34" charset="-120"/>
              </a:rPr>
              <a:t>ERROR</a:t>
            </a:r>
            <a:endParaRPr lang="en-US" sz="1050" dirty="0"/>
          </a:p>
        </p:txBody>
      </p:sp>
      <p:sp>
        <p:nvSpPr>
          <p:cNvPr id="12" name="Shape 9"/>
          <p:cNvSpPr/>
          <p:nvPr/>
        </p:nvSpPr>
        <p:spPr>
          <a:xfrm>
            <a:off x="10500055" y="2516886"/>
            <a:ext cx="1078992" cy="384048"/>
          </a:xfrm>
          <a:prstGeom prst="roundRect">
            <a:avLst>
              <a:gd name="adj" fmla="val 50000"/>
            </a:avLst>
          </a:prstGeom>
          <a:solidFill>
            <a:srgbClr val="FFFFFF"/>
          </a:solidFill>
          <a:ln/>
        </p:spPr>
      </p:sp>
      <p:sp>
        <p:nvSpPr>
          <p:cNvPr id="13" name="Text 10"/>
          <p:cNvSpPr txBox="1"/>
          <p:nvPr/>
        </p:nvSpPr>
        <p:spPr>
          <a:xfrm>
            <a:off x="10500055" y="2516886"/>
            <a:ext cx="1078992" cy="384048"/>
          </a:xfrm>
          <a:prstGeom prst="rect">
            <a:avLst/>
          </a:prstGeom>
          <a:noFill/>
          <a:ln/>
        </p:spPr>
        <p:txBody>
          <a:bodyPr wrap="square" lIns="0" tIns="0" rIns="0" bIns="0" rtlCol="0" anchor="ctr"/>
          <a:lstStyle/>
          <a:p>
            <a:pPr algn="ctr" indent="0" marL="0">
              <a:buNone/>
            </a:pPr>
            <a:r>
              <a:rPr lang="en-US" sz="1050" b="1" dirty="0">
                <a:solidFill>
                  <a:srgbClr val="5B6B82"/>
                </a:solidFill>
                <a:latin typeface="Calibri" pitchFamily="34" charset="0"/>
                <a:ea typeface="Calibri" pitchFamily="34" charset="-122"/>
                <a:cs typeface="Calibri" pitchFamily="34" charset="-120"/>
              </a:rPr>
              <a:t>FRAUDE</a:t>
            </a:r>
            <a:endParaRPr lang="en-US" sz="1050" dirty="0"/>
          </a:p>
        </p:txBody>
      </p:sp>
      <p:sp>
        <p:nvSpPr>
          <p:cNvPr id="14" name="Shape 11"/>
          <p:cNvSpPr/>
          <p:nvPr/>
        </p:nvSpPr>
        <p:spPr>
          <a:xfrm>
            <a:off x="566928" y="3278124"/>
            <a:ext cx="11057839" cy="845820"/>
          </a:xfrm>
          <a:prstGeom prst="roundRect">
            <a:avLst>
              <a:gd name="adj" fmla="val 9730"/>
            </a:avLst>
          </a:prstGeom>
          <a:solidFill>
            <a:srgbClr val="F2F5F9"/>
          </a:solidFill>
          <a:ln/>
        </p:spPr>
      </p:sp>
      <p:sp>
        <p:nvSpPr>
          <p:cNvPr id="15" name="Shape 12"/>
          <p:cNvSpPr/>
          <p:nvPr/>
        </p:nvSpPr>
        <p:spPr>
          <a:xfrm>
            <a:off x="768096" y="3472434"/>
            <a:ext cx="457200" cy="457200"/>
          </a:xfrm>
          <a:prstGeom prst="ellipse">
            <a:avLst/>
          </a:prstGeom>
          <a:solidFill>
            <a:srgbClr val="1B4F91"/>
          </a:solidFill>
          <a:ln/>
        </p:spPr>
      </p:sp>
      <p:sp>
        <p:nvSpPr>
          <p:cNvPr id="16" name="Text 13"/>
          <p:cNvSpPr txBox="1"/>
          <p:nvPr/>
        </p:nvSpPr>
        <p:spPr>
          <a:xfrm>
            <a:off x="768096" y="346329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7" name="Text 14"/>
          <p:cNvSpPr txBox="1"/>
          <p:nvPr/>
        </p:nvSpPr>
        <p:spPr>
          <a:xfrm>
            <a:off x="1435608" y="3278124"/>
            <a:ext cx="8314639" cy="845820"/>
          </a:xfrm>
          <a:prstGeom prst="rect">
            <a:avLst/>
          </a:prstGeom>
          <a:noFill/>
          <a:ln/>
        </p:spPr>
        <p:txBody>
          <a:bodyPr wrap="square" lIns="0" tIns="0" rIns="0" bIns="0" rtlCol="0" anchor="ctr"/>
          <a:lstStyle/>
          <a:p>
            <a:pPr indent="0" marL="0">
              <a:lnSpc>
                <a:spcPct val="105000"/>
              </a:lnSpc>
              <a:buNone/>
            </a:pPr>
            <a:r>
              <a:rPr lang="en-US" sz="1300" dirty="0">
                <a:solidFill>
                  <a:srgbClr val="243044"/>
                </a:solidFill>
                <a:latin typeface="Calibri" pitchFamily="34" charset="0"/>
                <a:ea typeface="Calibri" pitchFamily="34" charset="-122"/>
                <a:cs typeface="Calibri" pitchFamily="34" charset="-120"/>
              </a:rPr>
              <a:t>Un colaborador aprueba trámites usando documentación que sabe que fue alterada.</a:t>
            </a:r>
            <a:endParaRPr lang="en-US" sz="1300" dirty="0"/>
          </a:p>
        </p:txBody>
      </p:sp>
      <p:sp>
        <p:nvSpPr>
          <p:cNvPr id="18" name="Shape 15"/>
          <p:cNvSpPr/>
          <p:nvPr/>
        </p:nvSpPr>
        <p:spPr>
          <a:xfrm>
            <a:off x="9293047" y="3509010"/>
            <a:ext cx="1078992" cy="384048"/>
          </a:xfrm>
          <a:prstGeom prst="roundRect">
            <a:avLst>
              <a:gd name="adj" fmla="val 50000"/>
            </a:avLst>
          </a:prstGeom>
          <a:solidFill>
            <a:srgbClr val="FFFFFF"/>
          </a:solidFill>
          <a:ln/>
        </p:spPr>
      </p:sp>
      <p:sp>
        <p:nvSpPr>
          <p:cNvPr id="19" name="Text 16"/>
          <p:cNvSpPr txBox="1"/>
          <p:nvPr/>
        </p:nvSpPr>
        <p:spPr>
          <a:xfrm>
            <a:off x="9293047" y="3509010"/>
            <a:ext cx="1078992" cy="384048"/>
          </a:xfrm>
          <a:prstGeom prst="rect">
            <a:avLst/>
          </a:prstGeom>
          <a:noFill/>
          <a:ln/>
        </p:spPr>
        <p:txBody>
          <a:bodyPr wrap="square" lIns="0" tIns="0" rIns="0" bIns="0" rtlCol="0" anchor="ctr"/>
          <a:lstStyle/>
          <a:p>
            <a:pPr algn="ctr" indent="0" marL="0">
              <a:buNone/>
            </a:pPr>
            <a:r>
              <a:rPr lang="en-US" sz="1050" b="1" dirty="0">
                <a:solidFill>
                  <a:srgbClr val="5B6B82"/>
                </a:solidFill>
                <a:latin typeface="Calibri" pitchFamily="34" charset="0"/>
                <a:ea typeface="Calibri" pitchFamily="34" charset="-122"/>
                <a:cs typeface="Calibri" pitchFamily="34" charset="-120"/>
              </a:rPr>
              <a:t>ERROR</a:t>
            </a:r>
            <a:endParaRPr lang="en-US" sz="1050" dirty="0"/>
          </a:p>
        </p:txBody>
      </p:sp>
      <p:sp>
        <p:nvSpPr>
          <p:cNvPr id="20" name="Shape 17"/>
          <p:cNvSpPr/>
          <p:nvPr/>
        </p:nvSpPr>
        <p:spPr>
          <a:xfrm>
            <a:off x="10500055" y="3509010"/>
            <a:ext cx="1078992" cy="384048"/>
          </a:xfrm>
          <a:prstGeom prst="roundRect">
            <a:avLst>
              <a:gd name="adj" fmla="val 50000"/>
            </a:avLst>
          </a:prstGeom>
          <a:solidFill>
            <a:srgbClr val="FFFFFF"/>
          </a:solidFill>
          <a:ln/>
        </p:spPr>
      </p:sp>
      <p:sp>
        <p:nvSpPr>
          <p:cNvPr id="21" name="Text 18"/>
          <p:cNvSpPr txBox="1"/>
          <p:nvPr/>
        </p:nvSpPr>
        <p:spPr>
          <a:xfrm>
            <a:off x="10500055" y="3509010"/>
            <a:ext cx="1078992" cy="384048"/>
          </a:xfrm>
          <a:prstGeom prst="rect">
            <a:avLst/>
          </a:prstGeom>
          <a:noFill/>
          <a:ln/>
        </p:spPr>
        <p:txBody>
          <a:bodyPr wrap="square" lIns="0" tIns="0" rIns="0" bIns="0" rtlCol="0" anchor="ctr"/>
          <a:lstStyle/>
          <a:p>
            <a:pPr algn="ctr" indent="0" marL="0">
              <a:buNone/>
            </a:pPr>
            <a:r>
              <a:rPr lang="en-US" sz="1050" b="1" dirty="0">
                <a:solidFill>
                  <a:srgbClr val="5B6B82"/>
                </a:solidFill>
                <a:latin typeface="Calibri" pitchFamily="34" charset="0"/>
                <a:ea typeface="Calibri" pitchFamily="34" charset="-122"/>
                <a:cs typeface="Calibri" pitchFamily="34" charset="-120"/>
              </a:rPr>
              <a:t>FRAUDE</a:t>
            </a:r>
            <a:endParaRPr lang="en-US" sz="1050" dirty="0"/>
          </a:p>
        </p:txBody>
      </p:sp>
      <p:sp>
        <p:nvSpPr>
          <p:cNvPr id="22" name="Shape 19"/>
          <p:cNvSpPr/>
          <p:nvPr/>
        </p:nvSpPr>
        <p:spPr>
          <a:xfrm>
            <a:off x="566928" y="4270248"/>
            <a:ext cx="11057839" cy="845820"/>
          </a:xfrm>
          <a:prstGeom prst="roundRect">
            <a:avLst>
              <a:gd name="adj" fmla="val 9730"/>
            </a:avLst>
          </a:prstGeom>
          <a:solidFill>
            <a:srgbClr val="F2F5F9"/>
          </a:solidFill>
          <a:ln/>
        </p:spPr>
      </p:sp>
      <p:sp>
        <p:nvSpPr>
          <p:cNvPr id="23" name="Shape 20"/>
          <p:cNvSpPr/>
          <p:nvPr/>
        </p:nvSpPr>
        <p:spPr>
          <a:xfrm>
            <a:off x="768096" y="4464558"/>
            <a:ext cx="457200" cy="457200"/>
          </a:xfrm>
          <a:prstGeom prst="ellipse">
            <a:avLst/>
          </a:prstGeom>
          <a:solidFill>
            <a:srgbClr val="1B4F91"/>
          </a:solidFill>
          <a:ln/>
        </p:spPr>
      </p:sp>
      <p:sp>
        <p:nvSpPr>
          <p:cNvPr id="24" name="Text 21"/>
          <p:cNvSpPr txBox="1"/>
          <p:nvPr/>
        </p:nvSpPr>
        <p:spPr>
          <a:xfrm>
            <a:off x="768096" y="445541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5" name="Text 22"/>
          <p:cNvSpPr txBox="1"/>
          <p:nvPr/>
        </p:nvSpPr>
        <p:spPr>
          <a:xfrm>
            <a:off x="1435608" y="4270248"/>
            <a:ext cx="8314639" cy="845820"/>
          </a:xfrm>
          <a:prstGeom prst="rect">
            <a:avLst/>
          </a:prstGeom>
          <a:noFill/>
          <a:ln/>
        </p:spPr>
        <p:txBody>
          <a:bodyPr wrap="square" lIns="0" tIns="0" rIns="0" bIns="0" rtlCol="0" anchor="ctr"/>
          <a:lstStyle/>
          <a:p>
            <a:pPr indent="0" marL="0">
              <a:lnSpc>
                <a:spcPct val="105000"/>
              </a:lnSpc>
              <a:buNone/>
            </a:pPr>
            <a:r>
              <a:rPr lang="en-US" sz="1300" dirty="0">
                <a:solidFill>
                  <a:srgbClr val="243044"/>
                </a:solidFill>
                <a:latin typeface="Calibri" pitchFamily="34" charset="0"/>
                <a:ea typeface="Calibri" pitchFamily="34" charset="-122"/>
                <a:cs typeface="Calibri" pitchFamily="34" charset="-120"/>
              </a:rPr>
              <a:t>Un colaborador olvida adjuntar un documento por exceso de carga de trabajo.</a:t>
            </a:r>
            <a:endParaRPr lang="en-US" sz="1300" dirty="0"/>
          </a:p>
        </p:txBody>
      </p:sp>
      <p:sp>
        <p:nvSpPr>
          <p:cNvPr id="26" name="Shape 23"/>
          <p:cNvSpPr/>
          <p:nvPr/>
        </p:nvSpPr>
        <p:spPr>
          <a:xfrm>
            <a:off x="9293047" y="4501134"/>
            <a:ext cx="1078992" cy="384048"/>
          </a:xfrm>
          <a:prstGeom prst="roundRect">
            <a:avLst>
              <a:gd name="adj" fmla="val 50000"/>
            </a:avLst>
          </a:prstGeom>
          <a:solidFill>
            <a:srgbClr val="FFFFFF"/>
          </a:solidFill>
          <a:ln/>
        </p:spPr>
      </p:sp>
      <p:sp>
        <p:nvSpPr>
          <p:cNvPr id="27" name="Text 24"/>
          <p:cNvSpPr txBox="1"/>
          <p:nvPr/>
        </p:nvSpPr>
        <p:spPr>
          <a:xfrm>
            <a:off x="9293047" y="4501134"/>
            <a:ext cx="1078992" cy="384048"/>
          </a:xfrm>
          <a:prstGeom prst="rect">
            <a:avLst/>
          </a:prstGeom>
          <a:noFill/>
          <a:ln/>
        </p:spPr>
        <p:txBody>
          <a:bodyPr wrap="square" lIns="0" tIns="0" rIns="0" bIns="0" rtlCol="0" anchor="ctr"/>
          <a:lstStyle/>
          <a:p>
            <a:pPr algn="ctr" indent="0" marL="0">
              <a:buNone/>
            </a:pPr>
            <a:r>
              <a:rPr lang="en-US" sz="1050" b="1" dirty="0">
                <a:solidFill>
                  <a:srgbClr val="5B6B82"/>
                </a:solidFill>
                <a:latin typeface="Calibri" pitchFamily="34" charset="0"/>
                <a:ea typeface="Calibri" pitchFamily="34" charset="-122"/>
                <a:cs typeface="Calibri" pitchFamily="34" charset="-120"/>
              </a:rPr>
              <a:t>ERROR</a:t>
            </a:r>
            <a:endParaRPr lang="en-US" sz="1050" dirty="0"/>
          </a:p>
        </p:txBody>
      </p:sp>
      <p:sp>
        <p:nvSpPr>
          <p:cNvPr id="28" name="Shape 25"/>
          <p:cNvSpPr/>
          <p:nvPr/>
        </p:nvSpPr>
        <p:spPr>
          <a:xfrm>
            <a:off x="10500055" y="4501134"/>
            <a:ext cx="1078992" cy="384048"/>
          </a:xfrm>
          <a:prstGeom prst="roundRect">
            <a:avLst>
              <a:gd name="adj" fmla="val 50000"/>
            </a:avLst>
          </a:prstGeom>
          <a:solidFill>
            <a:srgbClr val="FFFFFF"/>
          </a:solidFill>
          <a:ln/>
        </p:spPr>
      </p:sp>
      <p:sp>
        <p:nvSpPr>
          <p:cNvPr id="29" name="Text 26"/>
          <p:cNvSpPr txBox="1"/>
          <p:nvPr/>
        </p:nvSpPr>
        <p:spPr>
          <a:xfrm>
            <a:off x="10500055" y="4501134"/>
            <a:ext cx="1078992" cy="384048"/>
          </a:xfrm>
          <a:prstGeom prst="rect">
            <a:avLst/>
          </a:prstGeom>
          <a:noFill/>
          <a:ln/>
        </p:spPr>
        <p:txBody>
          <a:bodyPr wrap="square" lIns="0" tIns="0" rIns="0" bIns="0" rtlCol="0" anchor="ctr"/>
          <a:lstStyle/>
          <a:p>
            <a:pPr algn="ctr" indent="0" marL="0">
              <a:buNone/>
            </a:pPr>
            <a:r>
              <a:rPr lang="en-US" sz="1050" b="1" dirty="0">
                <a:solidFill>
                  <a:srgbClr val="5B6B82"/>
                </a:solidFill>
                <a:latin typeface="Calibri" pitchFamily="34" charset="0"/>
                <a:ea typeface="Calibri" pitchFamily="34" charset="-122"/>
                <a:cs typeface="Calibri" pitchFamily="34" charset="-120"/>
              </a:rPr>
              <a:t>FRAUDE</a:t>
            </a:r>
            <a:endParaRPr lang="en-US" sz="1050" dirty="0"/>
          </a:p>
        </p:txBody>
      </p:sp>
      <p:sp>
        <p:nvSpPr>
          <p:cNvPr id="30" name="Shape 27"/>
          <p:cNvSpPr/>
          <p:nvPr/>
        </p:nvSpPr>
        <p:spPr>
          <a:xfrm>
            <a:off x="566928" y="5262372"/>
            <a:ext cx="11057839" cy="845820"/>
          </a:xfrm>
          <a:prstGeom prst="roundRect">
            <a:avLst>
              <a:gd name="adj" fmla="val 9730"/>
            </a:avLst>
          </a:prstGeom>
          <a:solidFill>
            <a:srgbClr val="F2F5F9"/>
          </a:solidFill>
          <a:ln/>
        </p:spPr>
      </p:sp>
      <p:sp>
        <p:nvSpPr>
          <p:cNvPr id="31" name="Shape 28"/>
          <p:cNvSpPr/>
          <p:nvPr/>
        </p:nvSpPr>
        <p:spPr>
          <a:xfrm>
            <a:off x="768096" y="5456682"/>
            <a:ext cx="457200" cy="457200"/>
          </a:xfrm>
          <a:prstGeom prst="ellipse">
            <a:avLst/>
          </a:prstGeom>
          <a:solidFill>
            <a:srgbClr val="1B4F91"/>
          </a:solidFill>
          <a:ln/>
        </p:spPr>
      </p:sp>
      <p:sp>
        <p:nvSpPr>
          <p:cNvPr id="32" name="Text 29"/>
          <p:cNvSpPr txBox="1"/>
          <p:nvPr/>
        </p:nvSpPr>
        <p:spPr>
          <a:xfrm>
            <a:off x="768096" y="544753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33" name="Text 30"/>
          <p:cNvSpPr txBox="1"/>
          <p:nvPr/>
        </p:nvSpPr>
        <p:spPr>
          <a:xfrm>
            <a:off x="1435608" y="5262372"/>
            <a:ext cx="8314639" cy="845820"/>
          </a:xfrm>
          <a:prstGeom prst="rect">
            <a:avLst/>
          </a:prstGeom>
          <a:noFill/>
          <a:ln/>
        </p:spPr>
        <p:txBody>
          <a:bodyPr wrap="square" lIns="0" tIns="0" rIns="0" bIns="0" rtlCol="0" anchor="ctr"/>
          <a:lstStyle/>
          <a:p>
            <a:pPr indent="0" marL="0">
              <a:lnSpc>
                <a:spcPct val="105000"/>
              </a:lnSpc>
              <a:buNone/>
            </a:pPr>
            <a:r>
              <a:rPr lang="en-US" sz="1300" dirty="0">
                <a:solidFill>
                  <a:srgbClr val="243044"/>
                </a:solidFill>
                <a:latin typeface="Calibri" pitchFamily="34" charset="0"/>
                <a:ea typeface="Calibri" pitchFamily="34" charset="-122"/>
                <a:cs typeface="Calibri" pitchFamily="34" charset="-120"/>
              </a:rPr>
              <a:t>Un colaborador oculta una diferencia de efectivo alterando un registro a propósito.</a:t>
            </a:r>
            <a:endParaRPr lang="en-US" sz="1300" dirty="0"/>
          </a:p>
        </p:txBody>
      </p:sp>
      <p:sp>
        <p:nvSpPr>
          <p:cNvPr id="34" name="Shape 31"/>
          <p:cNvSpPr/>
          <p:nvPr/>
        </p:nvSpPr>
        <p:spPr>
          <a:xfrm>
            <a:off x="9293047" y="5493258"/>
            <a:ext cx="1078992" cy="384048"/>
          </a:xfrm>
          <a:prstGeom prst="roundRect">
            <a:avLst>
              <a:gd name="adj" fmla="val 50000"/>
            </a:avLst>
          </a:prstGeom>
          <a:solidFill>
            <a:srgbClr val="FFFFFF"/>
          </a:solidFill>
          <a:ln/>
        </p:spPr>
      </p:sp>
      <p:sp>
        <p:nvSpPr>
          <p:cNvPr id="35" name="Text 32"/>
          <p:cNvSpPr txBox="1"/>
          <p:nvPr/>
        </p:nvSpPr>
        <p:spPr>
          <a:xfrm>
            <a:off x="9293047" y="5493258"/>
            <a:ext cx="1078992" cy="384048"/>
          </a:xfrm>
          <a:prstGeom prst="rect">
            <a:avLst/>
          </a:prstGeom>
          <a:noFill/>
          <a:ln/>
        </p:spPr>
        <p:txBody>
          <a:bodyPr wrap="square" lIns="0" tIns="0" rIns="0" bIns="0" rtlCol="0" anchor="ctr"/>
          <a:lstStyle/>
          <a:p>
            <a:pPr algn="ctr" indent="0" marL="0">
              <a:buNone/>
            </a:pPr>
            <a:r>
              <a:rPr lang="en-US" sz="1050" b="1" dirty="0">
                <a:solidFill>
                  <a:srgbClr val="5B6B82"/>
                </a:solidFill>
                <a:latin typeface="Calibri" pitchFamily="34" charset="0"/>
                <a:ea typeface="Calibri" pitchFamily="34" charset="-122"/>
                <a:cs typeface="Calibri" pitchFamily="34" charset="-120"/>
              </a:rPr>
              <a:t>ERROR</a:t>
            </a:r>
            <a:endParaRPr lang="en-US" sz="1050" dirty="0"/>
          </a:p>
        </p:txBody>
      </p:sp>
      <p:sp>
        <p:nvSpPr>
          <p:cNvPr id="36" name="Shape 33"/>
          <p:cNvSpPr/>
          <p:nvPr/>
        </p:nvSpPr>
        <p:spPr>
          <a:xfrm>
            <a:off x="10500055" y="5493258"/>
            <a:ext cx="1078992" cy="384048"/>
          </a:xfrm>
          <a:prstGeom prst="roundRect">
            <a:avLst>
              <a:gd name="adj" fmla="val 50000"/>
            </a:avLst>
          </a:prstGeom>
          <a:solidFill>
            <a:srgbClr val="FFFFFF"/>
          </a:solidFill>
          <a:ln/>
        </p:spPr>
      </p:sp>
      <p:sp>
        <p:nvSpPr>
          <p:cNvPr id="37" name="Text 34"/>
          <p:cNvSpPr txBox="1"/>
          <p:nvPr/>
        </p:nvSpPr>
        <p:spPr>
          <a:xfrm>
            <a:off x="10500055" y="5493258"/>
            <a:ext cx="1078992" cy="384048"/>
          </a:xfrm>
          <a:prstGeom prst="rect">
            <a:avLst/>
          </a:prstGeom>
          <a:noFill/>
          <a:ln/>
        </p:spPr>
        <p:txBody>
          <a:bodyPr wrap="square" lIns="0" tIns="0" rIns="0" bIns="0" rtlCol="0" anchor="ctr"/>
          <a:lstStyle/>
          <a:p>
            <a:pPr algn="ctr" indent="0" marL="0">
              <a:buNone/>
            </a:pPr>
            <a:r>
              <a:rPr lang="en-US" sz="1050" b="1" dirty="0">
                <a:solidFill>
                  <a:srgbClr val="5B6B82"/>
                </a:solidFill>
                <a:latin typeface="Calibri" pitchFamily="34" charset="0"/>
                <a:ea typeface="Calibri" pitchFamily="34" charset="-122"/>
                <a:cs typeface="Calibri" pitchFamily="34" charset="-120"/>
              </a:rPr>
              <a:t>FRAUDE</a:t>
            </a:r>
            <a:endParaRPr lang="en-US" sz="1050" dirty="0"/>
          </a:p>
        </p:txBody>
      </p:sp>
      <p:sp>
        <p:nvSpPr>
          <p:cNvPr id="38" name="Text 35"/>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39" name="Text 36"/>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11</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1B4F91"/>
                </a:solidFill>
                <a:latin typeface="Calibri" pitchFamily="34" charset="0"/>
                <a:ea typeface="Calibri" pitchFamily="34" charset="-122"/>
                <a:cs typeface="Calibri" pitchFamily="34" charset="-120"/>
              </a:rPr>
              <a:t>TEMA 5 · RESPUESTAS</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600" b="1" dirty="0">
                <a:solidFill>
                  <a:srgbClr val="133B6C"/>
                </a:solidFill>
                <a:latin typeface="Cambria" pitchFamily="34" charset="0"/>
                <a:ea typeface="Cambria" pitchFamily="34" charset="-122"/>
                <a:cs typeface="Cambria" pitchFamily="34" charset="-120"/>
              </a:rPr>
              <a:t>¿ERROR O FRAUDE?  ·  RESPUESTAS</a:t>
            </a:r>
            <a:endParaRPr lang="en-US" sz="2600" dirty="0"/>
          </a:p>
        </p:txBody>
      </p:sp>
      <p:sp>
        <p:nvSpPr>
          <p:cNvPr id="5" name="Shape 2"/>
          <p:cNvSpPr/>
          <p:nvPr/>
        </p:nvSpPr>
        <p:spPr>
          <a:xfrm>
            <a:off x="566928" y="2148840"/>
            <a:ext cx="11057839" cy="701802"/>
          </a:xfrm>
          <a:prstGeom prst="roundRect">
            <a:avLst>
              <a:gd name="adj" fmla="val 11726"/>
            </a:avLst>
          </a:prstGeom>
          <a:solidFill>
            <a:srgbClr val="F2F5F9"/>
          </a:solidFill>
          <a:ln/>
        </p:spPr>
      </p:sp>
      <p:sp>
        <p:nvSpPr>
          <p:cNvPr id="6" name="Text 3"/>
          <p:cNvSpPr txBox="1"/>
          <p:nvPr/>
        </p:nvSpPr>
        <p:spPr>
          <a:xfrm>
            <a:off x="822960" y="2148840"/>
            <a:ext cx="8314639" cy="701802"/>
          </a:xfrm>
          <a:prstGeom prst="rect">
            <a:avLst/>
          </a:prstGeom>
          <a:noFill/>
          <a:ln/>
        </p:spPr>
        <p:txBody>
          <a:bodyPr wrap="square" lIns="0" tIns="0" rIns="0" bIns="0" rtlCol="0" anchor="ctr"/>
          <a:lstStyle/>
          <a:p>
            <a:pPr indent="0" marL="0">
              <a:lnSpc>
                <a:spcPct val="105000"/>
              </a:lnSpc>
              <a:buNone/>
            </a:pPr>
            <a:r>
              <a:rPr lang="en-US" sz="1250" dirty="0">
                <a:solidFill>
                  <a:srgbClr val="243044"/>
                </a:solidFill>
                <a:latin typeface="Calibri" pitchFamily="34" charset="0"/>
                <a:ea typeface="Calibri" pitchFamily="34" charset="-122"/>
                <a:cs typeface="Calibri" pitchFamily="34" charset="-120"/>
              </a:rPr>
              <a:t>1.  Digitar mal un monto por distracción: una equivocación sin intención de dañar.</a:t>
            </a:r>
            <a:endParaRPr lang="en-US" sz="1250" dirty="0"/>
          </a:p>
        </p:txBody>
      </p:sp>
      <p:sp>
        <p:nvSpPr>
          <p:cNvPr id="7" name="Shape 4"/>
          <p:cNvSpPr/>
          <p:nvPr/>
        </p:nvSpPr>
        <p:spPr>
          <a:xfrm>
            <a:off x="9887407" y="2289429"/>
            <a:ext cx="1463040" cy="420624"/>
          </a:xfrm>
          <a:prstGeom prst="roundRect">
            <a:avLst>
              <a:gd name="adj" fmla="val 50000"/>
            </a:avLst>
          </a:prstGeom>
          <a:solidFill>
            <a:srgbClr val="F0AD35"/>
          </a:solidFill>
          <a:ln/>
        </p:spPr>
      </p:sp>
      <p:sp>
        <p:nvSpPr>
          <p:cNvPr id="8" name="Text 5"/>
          <p:cNvSpPr txBox="1"/>
          <p:nvPr/>
        </p:nvSpPr>
        <p:spPr>
          <a:xfrm>
            <a:off x="9887407" y="2289429"/>
            <a:ext cx="14630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ERROR</a:t>
            </a:r>
            <a:endParaRPr lang="en-US" sz="1200" dirty="0"/>
          </a:p>
        </p:txBody>
      </p:sp>
      <p:sp>
        <p:nvSpPr>
          <p:cNvPr id="9" name="Shape 6"/>
          <p:cNvSpPr/>
          <p:nvPr/>
        </p:nvSpPr>
        <p:spPr>
          <a:xfrm>
            <a:off x="566928" y="2996946"/>
            <a:ext cx="11057839" cy="701802"/>
          </a:xfrm>
          <a:prstGeom prst="roundRect">
            <a:avLst>
              <a:gd name="adj" fmla="val 11726"/>
            </a:avLst>
          </a:prstGeom>
          <a:solidFill>
            <a:srgbClr val="F2F5F9"/>
          </a:solidFill>
          <a:ln/>
        </p:spPr>
      </p:sp>
      <p:sp>
        <p:nvSpPr>
          <p:cNvPr id="10" name="Text 7"/>
          <p:cNvSpPr txBox="1"/>
          <p:nvPr/>
        </p:nvSpPr>
        <p:spPr>
          <a:xfrm>
            <a:off x="822960" y="2996946"/>
            <a:ext cx="8314639" cy="701802"/>
          </a:xfrm>
          <a:prstGeom prst="rect">
            <a:avLst/>
          </a:prstGeom>
          <a:noFill/>
          <a:ln/>
        </p:spPr>
        <p:txBody>
          <a:bodyPr wrap="square" lIns="0" tIns="0" rIns="0" bIns="0" rtlCol="0" anchor="ctr"/>
          <a:lstStyle/>
          <a:p>
            <a:pPr indent="0" marL="0">
              <a:lnSpc>
                <a:spcPct val="105000"/>
              </a:lnSpc>
              <a:buNone/>
            </a:pPr>
            <a:r>
              <a:rPr lang="en-US" sz="1250" dirty="0">
                <a:solidFill>
                  <a:srgbClr val="243044"/>
                </a:solidFill>
                <a:latin typeface="Calibri" pitchFamily="34" charset="0"/>
                <a:ea typeface="Calibri" pitchFamily="34" charset="-122"/>
                <a:cs typeface="Calibri" pitchFamily="34" charset="-120"/>
              </a:rPr>
              <a:t>2.  Aprobar a sabiendas con documentación alterada: acción deliberada para obtener un beneficio.</a:t>
            </a:r>
            <a:endParaRPr lang="en-US" sz="1250" dirty="0"/>
          </a:p>
        </p:txBody>
      </p:sp>
      <p:sp>
        <p:nvSpPr>
          <p:cNvPr id="11" name="Shape 8"/>
          <p:cNvSpPr/>
          <p:nvPr/>
        </p:nvSpPr>
        <p:spPr>
          <a:xfrm>
            <a:off x="9887407" y="3137535"/>
            <a:ext cx="1463040" cy="420624"/>
          </a:xfrm>
          <a:prstGeom prst="roundRect">
            <a:avLst>
              <a:gd name="adj" fmla="val 50000"/>
            </a:avLst>
          </a:prstGeom>
          <a:solidFill>
            <a:srgbClr val="E0392B"/>
          </a:solidFill>
          <a:ln/>
        </p:spPr>
      </p:sp>
      <p:sp>
        <p:nvSpPr>
          <p:cNvPr id="12" name="Text 9"/>
          <p:cNvSpPr txBox="1"/>
          <p:nvPr/>
        </p:nvSpPr>
        <p:spPr>
          <a:xfrm>
            <a:off x="9887407" y="3137535"/>
            <a:ext cx="14630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FRAUDE</a:t>
            </a:r>
            <a:endParaRPr lang="en-US" sz="1200" dirty="0"/>
          </a:p>
        </p:txBody>
      </p:sp>
      <p:sp>
        <p:nvSpPr>
          <p:cNvPr id="13" name="Shape 10"/>
          <p:cNvSpPr/>
          <p:nvPr/>
        </p:nvSpPr>
        <p:spPr>
          <a:xfrm>
            <a:off x="566928" y="3845052"/>
            <a:ext cx="11057839" cy="701802"/>
          </a:xfrm>
          <a:prstGeom prst="roundRect">
            <a:avLst>
              <a:gd name="adj" fmla="val 11726"/>
            </a:avLst>
          </a:prstGeom>
          <a:solidFill>
            <a:srgbClr val="F2F5F9"/>
          </a:solidFill>
          <a:ln/>
        </p:spPr>
      </p:sp>
      <p:sp>
        <p:nvSpPr>
          <p:cNvPr id="14" name="Text 11"/>
          <p:cNvSpPr txBox="1"/>
          <p:nvPr/>
        </p:nvSpPr>
        <p:spPr>
          <a:xfrm>
            <a:off x="822960" y="3845052"/>
            <a:ext cx="8314639" cy="701802"/>
          </a:xfrm>
          <a:prstGeom prst="rect">
            <a:avLst/>
          </a:prstGeom>
          <a:noFill/>
          <a:ln/>
        </p:spPr>
        <p:txBody>
          <a:bodyPr wrap="square" lIns="0" tIns="0" rIns="0" bIns="0" rtlCol="0" anchor="ctr"/>
          <a:lstStyle/>
          <a:p>
            <a:pPr indent="0" marL="0">
              <a:lnSpc>
                <a:spcPct val="105000"/>
              </a:lnSpc>
              <a:buNone/>
            </a:pPr>
            <a:r>
              <a:rPr lang="en-US" sz="1250" dirty="0">
                <a:solidFill>
                  <a:srgbClr val="243044"/>
                </a:solidFill>
                <a:latin typeface="Calibri" pitchFamily="34" charset="0"/>
                <a:ea typeface="Calibri" pitchFamily="34" charset="-122"/>
                <a:cs typeface="Calibri" pitchFamily="34" charset="-120"/>
              </a:rPr>
              <a:t>3.  Olvidar un documento por carga de trabajo: una falla involuntaria del proceso.</a:t>
            </a:r>
            <a:endParaRPr lang="en-US" sz="1250" dirty="0"/>
          </a:p>
        </p:txBody>
      </p:sp>
      <p:sp>
        <p:nvSpPr>
          <p:cNvPr id="15" name="Shape 12"/>
          <p:cNvSpPr/>
          <p:nvPr/>
        </p:nvSpPr>
        <p:spPr>
          <a:xfrm>
            <a:off x="9887407" y="3985641"/>
            <a:ext cx="1463040" cy="420624"/>
          </a:xfrm>
          <a:prstGeom prst="roundRect">
            <a:avLst>
              <a:gd name="adj" fmla="val 50000"/>
            </a:avLst>
          </a:prstGeom>
          <a:solidFill>
            <a:srgbClr val="F0AD35"/>
          </a:solidFill>
          <a:ln/>
        </p:spPr>
      </p:sp>
      <p:sp>
        <p:nvSpPr>
          <p:cNvPr id="16" name="Text 13"/>
          <p:cNvSpPr txBox="1"/>
          <p:nvPr/>
        </p:nvSpPr>
        <p:spPr>
          <a:xfrm>
            <a:off x="9887407" y="3985641"/>
            <a:ext cx="14630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ERROR</a:t>
            </a:r>
            <a:endParaRPr lang="en-US" sz="1200" dirty="0"/>
          </a:p>
        </p:txBody>
      </p:sp>
      <p:sp>
        <p:nvSpPr>
          <p:cNvPr id="17" name="Shape 14"/>
          <p:cNvSpPr/>
          <p:nvPr/>
        </p:nvSpPr>
        <p:spPr>
          <a:xfrm>
            <a:off x="566928" y="4693158"/>
            <a:ext cx="11057839" cy="701802"/>
          </a:xfrm>
          <a:prstGeom prst="roundRect">
            <a:avLst>
              <a:gd name="adj" fmla="val 11726"/>
            </a:avLst>
          </a:prstGeom>
          <a:solidFill>
            <a:srgbClr val="F2F5F9"/>
          </a:solidFill>
          <a:ln/>
        </p:spPr>
      </p:sp>
      <p:sp>
        <p:nvSpPr>
          <p:cNvPr id="18" name="Text 15"/>
          <p:cNvSpPr txBox="1"/>
          <p:nvPr/>
        </p:nvSpPr>
        <p:spPr>
          <a:xfrm>
            <a:off x="822960" y="4693158"/>
            <a:ext cx="8314639" cy="701802"/>
          </a:xfrm>
          <a:prstGeom prst="rect">
            <a:avLst/>
          </a:prstGeom>
          <a:noFill/>
          <a:ln/>
        </p:spPr>
        <p:txBody>
          <a:bodyPr wrap="square" lIns="0" tIns="0" rIns="0" bIns="0" rtlCol="0" anchor="ctr"/>
          <a:lstStyle/>
          <a:p>
            <a:pPr indent="0" marL="0">
              <a:lnSpc>
                <a:spcPct val="105000"/>
              </a:lnSpc>
              <a:buNone/>
            </a:pPr>
            <a:r>
              <a:rPr lang="en-US" sz="1250" dirty="0">
                <a:solidFill>
                  <a:srgbClr val="243044"/>
                </a:solidFill>
                <a:latin typeface="Calibri" pitchFamily="34" charset="0"/>
                <a:ea typeface="Calibri" pitchFamily="34" charset="-122"/>
                <a:cs typeface="Calibri" pitchFamily="34" charset="-120"/>
              </a:rPr>
              <a:t>4.  Ocultar una diferencia alterando un registro a propósito: intención de encubrir.</a:t>
            </a:r>
            <a:endParaRPr lang="en-US" sz="1250" dirty="0"/>
          </a:p>
        </p:txBody>
      </p:sp>
      <p:sp>
        <p:nvSpPr>
          <p:cNvPr id="19" name="Shape 16"/>
          <p:cNvSpPr/>
          <p:nvPr/>
        </p:nvSpPr>
        <p:spPr>
          <a:xfrm>
            <a:off x="9887407" y="4833747"/>
            <a:ext cx="1463040" cy="420624"/>
          </a:xfrm>
          <a:prstGeom prst="roundRect">
            <a:avLst>
              <a:gd name="adj" fmla="val 50000"/>
            </a:avLst>
          </a:prstGeom>
          <a:solidFill>
            <a:srgbClr val="E0392B"/>
          </a:solidFill>
          <a:ln/>
        </p:spPr>
      </p:sp>
      <p:sp>
        <p:nvSpPr>
          <p:cNvPr id="20" name="Text 17"/>
          <p:cNvSpPr txBox="1"/>
          <p:nvPr/>
        </p:nvSpPr>
        <p:spPr>
          <a:xfrm>
            <a:off x="9887407" y="4833747"/>
            <a:ext cx="14630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FRAUDE</a:t>
            </a:r>
            <a:endParaRPr lang="en-US" sz="1200" dirty="0"/>
          </a:p>
        </p:txBody>
      </p:sp>
      <p:sp>
        <p:nvSpPr>
          <p:cNvPr id="21" name="Shape 18"/>
          <p:cNvSpPr/>
          <p:nvPr/>
        </p:nvSpPr>
        <p:spPr>
          <a:xfrm>
            <a:off x="566928" y="5559552"/>
            <a:ext cx="11057839" cy="548640"/>
          </a:xfrm>
          <a:prstGeom prst="roundRect">
            <a:avLst>
              <a:gd name="adj" fmla="val 16667"/>
            </a:avLst>
          </a:prstGeom>
          <a:solidFill>
            <a:srgbClr val="1B4F91"/>
          </a:solidFill>
          <a:ln/>
        </p:spPr>
      </p:sp>
      <p:sp>
        <p:nvSpPr>
          <p:cNvPr id="22" name="Text 19"/>
          <p:cNvSpPr txBox="1"/>
          <p:nvPr/>
        </p:nvSpPr>
        <p:spPr>
          <a:xfrm>
            <a:off x="841248" y="5559552"/>
            <a:ext cx="10509199" cy="548640"/>
          </a:xfrm>
          <a:prstGeom prst="rect">
            <a:avLst/>
          </a:prstGeom>
          <a:noFill/>
          <a:ln/>
        </p:spPr>
        <p:txBody>
          <a:bodyPr wrap="square" lIns="0" tIns="0" rIns="0" bIns="0"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Señal de alerta: presión inusual por aprobar algo muy rápido. Actúa: documenta con hechos y repórtalo — nunca lo encubras.</a:t>
            </a:r>
            <a:endParaRPr lang="en-US" sz="1250" dirty="0"/>
          </a:p>
        </p:txBody>
      </p:sp>
      <p:sp>
        <p:nvSpPr>
          <p:cNvPr id="23" name="Text 20"/>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4" name="Text 21"/>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12</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5EAA"/>
                </a:solidFill>
                <a:latin typeface="Calibri" pitchFamily="34" charset="0"/>
                <a:ea typeface="Calibri" pitchFamily="34" charset="-122"/>
                <a:cs typeface="Calibri" pitchFamily="34" charset="-120"/>
              </a:rPr>
              <a:t>TEMA 6 · PROCESO DE CRÉDITO</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200" b="1" dirty="0">
                <a:solidFill>
                  <a:srgbClr val="133B6C"/>
                </a:solidFill>
                <a:latin typeface="Cambria" pitchFamily="34" charset="0"/>
                <a:ea typeface="Cambria" pitchFamily="34" charset="-122"/>
                <a:cs typeface="Cambria" pitchFamily="34" charset="-120"/>
              </a:rPr>
              <a:t>EL RIESGO CREDITICIO NO ES SOLO RESPONSABILIDAD DE CRÉDITOS</a:t>
            </a:r>
            <a:endParaRPr lang="en-US" sz="2200" dirty="0"/>
          </a:p>
        </p:txBody>
      </p:sp>
      <p:sp>
        <p:nvSpPr>
          <p:cNvPr id="5" name="Shape 2"/>
          <p:cNvSpPr/>
          <p:nvPr/>
        </p:nvSpPr>
        <p:spPr>
          <a:xfrm>
            <a:off x="1514818" y="2112264"/>
            <a:ext cx="868680" cy="868680"/>
          </a:xfrm>
          <a:prstGeom prst="ellipse">
            <a:avLst/>
          </a:prstGeom>
          <a:solidFill>
            <a:srgbClr val="2E5EAA"/>
          </a:solidFill>
          <a:ln/>
        </p:spPr>
      </p:sp>
      <p:pic>
        <p:nvPicPr>
          <p:cNvPr id="6" name="Image 0" descr="/tmp/claude-0/-home-user-riesgo/0ff9ff46-1396-5bd8-b3ac-2280dfbbbc55/scratchpad/work/gen/icons/form_white.png">    </p:cNvPr>
          <p:cNvPicPr>
            <a:picLocks noChangeAspect="1"/>
          </p:cNvPicPr>
          <p:nvPr/>
        </p:nvPicPr>
        <p:blipFill>
          <a:blip r:embed="rId1"/>
          <a:stretch>
            <a:fillRect/>
          </a:stretch>
        </p:blipFill>
        <p:spPr>
          <a:xfrm>
            <a:off x="1731988" y="2329434"/>
            <a:ext cx="434340" cy="434340"/>
          </a:xfrm>
          <a:prstGeom prst="rect">
            <a:avLst/>
          </a:prstGeom>
        </p:spPr>
      </p:pic>
      <p:sp>
        <p:nvSpPr>
          <p:cNvPr id="7" name="Text 3"/>
          <p:cNvSpPr txBox="1"/>
          <p:nvPr/>
        </p:nvSpPr>
        <p:spPr>
          <a:xfrm>
            <a:off x="621792" y="3108960"/>
            <a:ext cx="2654732"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1. Solicitud</a:t>
            </a:r>
            <a:endParaRPr lang="en-US" sz="1300" dirty="0"/>
          </a:p>
        </p:txBody>
      </p:sp>
      <p:pic>
        <p:nvPicPr>
          <p:cNvPr id="8" name="Image 1" descr="/tmp/claude-0/-home-user-riesgo/0ff9ff46-1396-5bd8-b3ac-2280dfbbbc55/scratchpad/work/gen/icons/arrow_right_gray.png">    </p:cNvPr>
          <p:cNvPicPr>
            <a:picLocks noChangeAspect="1"/>
          </p:cNvPicPr>
          <p:nvPr/>
        </p:nvPicPr>
        <p:blipFill>
          <a:blip r:embed="rId2"/>
          <a:stretch>
            <a:fillRect/>
          </a:stretch>
        </p:blipFill>
        <p:spPr>
          <a:xfrm>
            <a:off x="3185084" y="2400300"/>
            <a:ext cx="292608" cy="292608"/>
          </a:xfrm>
          <a:prstGeom prst="rect">
            <a:avLst/>
          </a:prstGeom>
        </p:spPr>
      </p:pic>
      <p:sp>
        <p:nvSpPr>
          <p:cNvPr id="9" name="Shape 4"/>
          <p:cNvSpPr/>
          <p:nvPr/>
        </p:nvSpPr>
        <p:spPr>
          <a:xfrm>
            <a:off x="4279278" y="2112264"/>
            <a:ext cx="868680" cy="868680"/>
          </a:xfrm>
          <a:prstGeom prst="ellipse">
            <a:avLst/>
          </a:prstGeom>
          <a:solidFill>
            <a:srgbClr val="2E5EAA"/>
          </a:solidFill>
          <a:ln/>
        </p:spPr>
      </p:sp>
      <p:pic>
        <p:nvPicPr>
          <p:cNvPr id="10" name="Image 2" descr="/tmp/claude-0/-home-user-riesgo/0ff9ff46-1396-5bd8-b3ac-2280dfbbbc55/scratchpad/work/gen/icons/document_white.png">    </p:cNvPr>
          <p:cNvPicPr>
            <a:picLocks noChangeAspect="1"/>
          </p:cNvPicPr>
          <p:nvPr/>
        </p:nvPicPr>
        <p:blipFill>
          <a:blip r:embed="rId3"/>
          <a:stretch>
            <a:fillRect/>
          </a:stretch>
        </p:blipFill>
        <p:spPr>
          <a:xfrm>
            <a:off x="4496448" y="2329434"/>
            <a:ext cx="434340" cy="434340"/>
          </a:xfrm>
          <a:prstGeom prst="rect">
            <a:avLst/>
          </a:prstGeom>
        </p:spPr>
      </p:pic>
      <p:sp>
        <p:nvSpPr>
          <p:cNvPr id="11" name="Text 5"/>
          <p:cNvSpPr txBox="1"/>
          <p:nvPr/>
        </p:nvSpPr>
        <p:spPr>
          <a:xfrm>
            <a:off x="3386252" y="3108960"/>
            <a:ext cx="2654732"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2. Información</a:t>
            </a:r>
            <a:endParaRPr lang="en-US" sz="1300" dirty="0"/>
          </a:p>
        </p:txBody>
      </p:sp>
      <p:pic>
        <p:nvPicPr>
          <p:cNvPr id="12" name="Image 3" descr="/tmp/claude-0/-home-user-riesgo/0ff9ff46-1396-5bd8-b3ac-2280dfbbbc55/scratchpad/work/gen/icons/arrow_right_gray.png">    </p:cNvPr>
          <p:cNvPicPr>
            <a:picLocks noChangeAspect="1"/>
          </p:cNvPicPr>
          <p:nvPr/>
        </p:nvPicPr>
        <p:blipFill>
          <a:blip r:embed="rId4"/>
          <a:stretch>
            <a:fillRect/>
          </a:stretch>
        </p:blipFill>
        <p:spPr>
          <a:xfrm>
            <a:off x="5949544" y="2400300"/>
            <a:ext cx="292608" cy="292608"/>
          </a:xfrm>
          <a:prstGeom prst="rect">
            <a:avLst/>
          </a:prstGeom>
        </p:spPr>
      </p:pic>
      <p:sp>
        <p:nvSpPr>
          <p:cNvPr id="13" name="Shape 6"/>
          <p:cNvSpPr/>
          <p:nvPr/>
        </p:nvSpPr>
        <p:spPr>
          <a:xfrm>
            <a:off x="7043738" y="2112264"/>
            <a:ext cx="868680" cy="868680"/>
          </a:xfrm>
          <a:prstGeom prst="ellipse">
            <a:avLst/>
          </a:prstGeom>
          <a:solidFill>
            <a:srgbClr val="2E5EAA"/>
          </a:solidFill>
          <a:ln/>
        </p:spPr>
      </p:sp>
      <p:pic>
        <p:nvPicPr>
          <p:cNvPr id="14" name="Image 4" descr="/tmp/claude-0/-home-user-riesgo/0ff9ff46-1396-5bd8-b3ac-2280dfbbbc55/scratchpad/work/gen/icons/search_doc_white.png">    </p:cNvPr>
          <p:cNvPicPr>
            <a:picLocks noChangeAspect="1"/>
          </p:cNvPicPr>
          <p:nvPr/>
        </p:nvPicPr>
        <p:blipFill>
          <a:blip r:embed="rId5"/>
          <a:stretch>
            <a:fillRect/>
          </a:stretch>
        </p:blipFill>
        <p:spPr>
          <a:xfrm>
            <a:off x="7260908" y="2329434"/>
            <a:ext cx="434340" cy="434340"/>
          </a:xfrm>
          <a:prstGeom prst="rect">
            <a:avLst/>
          </a:prstGeom>
        </p:spPr>
      </p:pic>
      <p:sp>
        <p:nvSpPr>
          <p:cNvPr id="15" name="Text 7"/>
          <p:cNvSpPr txBox="1"/>
          <p:nvPr/>
        </p:nvSpPr>
        <p:spPr>
          <a:xfrm>
            <a:off x="6150712" y="3108960"/>
            <a:ext cx="2654732"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3. Evaluación</a:t>
            </a:r>
            <a:endParaRPr lang="en-US" sz="1300" dirty="0"/>
          </a:p>
        </p:txBody>
      </p:sp>
      <p:pic>
        <p:nvPicPr>
          <p:cNvPr id="16" name="Image 5" descr="/tmp/claude-0/-home-user-riesgo/0ff9ff46-1396-5bd8-b3ac-2280dfbbbc55/scratchpad/work/gen/icons/arrow_right_gray.png">    </p:cNvPr>
          <p:cNvPicPr>
            <a:picLocks noChangeAspect="1"/>
          </p:cNvPicPr>
          <p:nvPr/>
        </p:nvPicPr>
        <p:blipFill>
          <a:blip r:embed="rId6"/>
          <a:stretch>
            <a:fillRect/>
          </a:stretch>
        </p:blipFill>
        <p:spPr>
          <a:xfrm>
            <a:off x="8714003" y="2400300"/>
            <a:ext cx="292608" cy="292608"/>
          </a:xfrm>
          <a:prstGeom prst="rect">
            <a:avLst/>
          </a:prstGeom>
        </p:spPr>
      </p:pic>
      <p:sp>
        <p:nvSpPr>
          <p:cNvPr id="17" name="Shape 8"/>
          <p:cNvSpPr/>
          <p:nvPr/>
        </p:nvSpPr>
        <p:spPr>
          <a:xfrm>
            <a:off x="9808197" y="2112264"/>
            <a:ext cx="868680" cy="868680"/>
          </a:xfrm>
          <a:prstGeom prst="ellipse">
            <a:avLst/>
          </a:prstGeom>
          <a:solidFill>
            <a:srgbClr val="2E5EAA"/>
          </a:solidFill>
          <a:ln/>
        </p:spPr>
      </p:sp>
      <p:pic>
        <p:nvPicPr>
          <p:cNvPr id="18" name="Image 6" descr="/tmp/claude-0/-home-user-riesgo/0ff9ff46-1396-5bd8-b3ac-2280dfbbbc55/scratchpad/work/gen/icons/check_circle_white.png">    </p:cNvPr>
          <p:cNvPicPr>
            <a:picLocks noChangeAspect="1"/>
          </p:cNvPicPr>
          <p:nvPr/>
        </p:nvPicPr>
        <p:blipFill>
          <a:blip r:embed="rId7"/>
          <a:stretch>
            <a:fillRect/>
          </a:stretch>
        </p:blipFill>
        <p:spPr>
          <a:xfrm>
            <a:off x="10025367" y="2329434"/>
            <a:ext cx="434340" cy="434340"/>
          </a:xfrm>
          <a:prstGeom prst="rect">
            <a:avLst/>
          </a:prstGeom>
        </p:spPr>
      </p:pic>
      <p:sp>
        <p:nvSpPr>
          <p:cNvPr id="19" name="Text 9"/>
          <p:cNvSpPr txBox="1"/>
          <p:nvPr/>
        </p:nvSpPr>
        <p:spPr>
          <a:xfrm>
            <a:off x="8915171" y="3108960"/>
            <a:ext cx="2654732"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4. Aprobación</a:t>
            </a:r>
            <a:endParaRPr lang="en-US" sz="1300" dirty="0"/>
          </a:p>
        </p:txBody>
      </p:sp>
      <p:pic>
        <p:nvPicPr>
          <p:cNvPr id="20" name="Image 7" descr="/tmp/claude-0/-home-user-riesgo/0ff9ff46-1396-5bd8-b3ac-2280dfbbbc55/scratchpad/work/gen/icons/arrow_down_gray.png">    </p:cNvPr>
          <p:cNvPicPr>
            <a:picLocks noChangeAspect="1"/>
          </p:cNvPicPr>
          <p:nvPr/>
        </p:nvPicPr>
        <p:blipFill>
          <a:blip r:embed="rId8"/>
          <a:stretch>
            <a:fillRect/>
          </a:stretch>
        </p:blipFill>
        <p:spPr>
          <a:xfrm>
            <a:off x="10096233" y="3511296"/>
            <a:ext cx="292608" cy="292608"/>
          </a:xfrm>
          <a:prstGeom prst="rect">
            <a:avLst/>
          </a:prstGeom>
        </p:spPr>
      </p:pic>
      <p:sp>
        <p:nvSpPr>
          <p:cNvPr id="21" name="Shape 10"/>
          <p:cNvSpPr/>
          <p:nvPr/>
        </p:nvSpPr>
        <p:spPr>
          <a:xfrm>
            <a:off x="1514818" y="3840480"/>
            <a:ext cx="868680" cy="868680"/>
          </a:xfrm>
          <a:prstGeom prst="ellipse">
            <a:avLst/>
          </a:prstGeom>
          <a:solidFill>
            <a:srgbClr val="2E5EAA"/>
          </a:solidFill>
          <a:ln/>
        </p:spPr>
      </p:sp>
      <p:pic>
        <p:nvPicPr>
          <p:cNvPr id="22" name="Image 8" descr="/tmp/claude-0/-home-user-riesgo/0ff9ff46-1396-5bd8-b3ac-2280dfbbbc55/scratchpad/work/gen/icons/signature_white.png">    </p:cNvPr>
          <p:cNvPicPr>
            <a:picLocks noChangeAspect="1"/>
          </p:cNvPicPr>
          <p:nvPr/>
        </p:nvPicPr>
        <p:blipFill>
          <a:blip r:embed="rId9"/>
          <a:stretch>
            <a:fillRect/>
          </a:stretch>
        </p:blipFill>
        <p:spPr>
          <a:xfrm>
            <a:off x="1731988" y="4057650"/>
            <a:ext cx="434340" cy="434340"/>
          </a:xfrm>
          <a:prstGeom prst="rect">
            <a:avLst/>
          </a:prstGeom>
        </p:spPr>
      </p:pic>
      <p:sp>
        <p:nvSpPr>
          <p:cNvPr id="23" name="Text 11"/>
          <p:cNvSpPr txBox="1"/>
          <p:nvPr/>
        </p:nvSpPr>
        <p:spPr>
          <a:xfrm>
            <a:off x="621792" y="4837176"/>
            <a:ext cx="2654732"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5. Formalización</a:t>
            </a:r>
            <a:endParaRPr lang="en-US" sz="1300" dirty="0"/>
          </a:p>
        </p:txBody>
      </p:sp>
      <p:pic>
        <p:nvPicPr>
          <p:cNvPr id="24" name="Image 9" descr="/tmp/claude-0/-home-user-riesgo/0ff9ff46-1396-5bd8-b3ac-2280dfbbbc55/scratchpad/work/gen/icons/arrow_right_gray.png">    </p:cNvPr>
          <p:cNvPicPr>
            <a:picLocks noChangeAspect="1"/>
          </p:cNvPicPr>
          <p:nvPr/>
        </p:nvPicPr>
        <p:blipFill>
          <a:blip r:embed="rId10"/>
          <a:stretch>
            <a:fillRect/>
          </a:stretch>
        </p:blipFill>
        <p:spPr>
          <a:xfrm>
            <a:off x="3185084" y="4128516"/>
            <a:ext cx="292608" cy="292608"/>
          </a:xfrm>
          <a:prstGeom prst="rect">
            <a:avLst/>
          </a:prstGeom>
        </p:spPr>
      </p:pic>
      <p:sp>
        <p:nvSpPr>
          <p:cNvPr id="25" name="Shape 12"/>
          <p:cNvSpPr/>
          <p:nvPr/>
        </p:nvSpPr>
        <p:spPr>
          <a:xfrm>
            <a:off x="4279278" y="3840480"/>
            <a:ext cx="868680" cy="868680"/>
          </a:xfrm>
          <a:prstGeom prst="ellipse">
            <a:avLst/>
          </a:prstGeom>
          <a:solidFill>
            <a:srgbClr val="2E5EAA"/>
          </a:solidFill>
          <a:ln/>
        </p:spPr>
      </p:sp>
      <p:pic>
        <p:nvPicPr>
          <p:cNvPr id="26" name="Image 10" descr="/tmp/claude-0/-home-user-riesgo/0ff9ff46-1396-5bd8-b3ac-2280dfbbbc55/scratchpad/work/gen/icons/money_white.png">    </p:cNvPr>
          <p:cNvPicPr>
            <a:picLocks noChangeAspect="1"/>
          </p:cNvPicPr>
          <p:nvPr/>
        </p:nvPicPr>
        <p:blipFill>
          <a:blip r:embed="rId11"/>
          <a:stretch>
            <a:fillRect/>
          </a:stretch>
        </p:blipFill>
        <p:spPr>
          <a:xfrm>
            <a:off x="4496448" y="4057650"/>
            <a:ext cx="434340" cy="434340"/>
          </a:xfrm>
          <a:prstGeom prst="rect">
            <a:avLst/>
          </a:prstGeom>
        </p:spPr>
      </p:pic>
      <p:sp>
        <p:nvSpPr>
          <p:cNvPr id="27" name="Text 13"/>
          <p:cNvSpPr txBox="1"/>
          <p:nvPr/>
        </p:nvSpPr>
        <p:spPr>
          <a:xfrm>
            <a:off x="3386252" y="4837176"/>
            <a:ext cx="2654732"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6. Desembolso</a:t>
            </a:r>
            <a:endParaRPr lang="en-US" sz="1300" dirty="0"/>
          </a:p>
        </p:txBody>
      </p:sp>
      <p:pic>
        <p:nvPicPr>
          <p:cNvPr id="28" name="Image 11" descr="/tmp/claude-0/-home-user-riesgo/0ff9ff46-1396-5bd8-b3ac-2280dfbbbc55/scratchpad/work/gen/icons/arrow_right_gray.png">    </p:cNvPr>
          <p:cNvPicPr>
            <a:picLocks noChangeAspect="1"/>
          </p:cNvPicPr>
          <p:nvPr/>
        </p:nvPicPr>
        <p:blipFill>
          <a:blip r:embed="rId12"/>
          <a:stretch>
            <a:fillRect/>
          </a:stretch>
        </p:blipFill>
        <p:spPr>
          <a:xfrm>
            <a:off x="5949544" y="4128516"/>
            <a:ext cx="292608" cy="292608"/>
          </a:xfrm>
          <a:prstGeom prst="rect">
            <a:avLst/>
          </a:prstGeom>
        </p:spPr>
      </p:pic>
      <p:sp>
        <p:nvSpPr>
          <p:cNvPr id="29" name="Shape 14"/>
          <p:cNvSpPr/>
          <p:nvPr/>
        </p:nvSpPr>
        <p:spPr>
          <a:xfrm>
            <a:off x="7043738" y="3840480"/>
            <a:ext cx="868680" cy="868680"/>
          </a:xfrm>
          <a:prstGeom prst="ellipse">
            <a:avLst/>
          </a:prstGeom>
          <a:solidFill>
            <a:srgbClr val="2E5EAA"/>
          </a:solidFill>
          <a:ln/>
        </p:spPr>
      </p:sp>
      <p:pic>
        <p:nvPicPr>
          <p:cNvPr id="30" name="Image 12" descr="/tmp/claude-0/-home-user-riesgo/0ff9ff46-1396-5bd8-b3ac-2280dfbbbc55/scratchpad/work/gen/icons/binoculars_white.png">    </p:cNvPr>
          <p:cNvPicPr>
            <a:picLocks noChangeAspect="1"/>
          </p:cNvPicPr>
          <p:nvPr/>
        </p:nvPicPr>
        <p:blipFill>
          <a:blip r:embed="rId13"/>
          <a:stretch>
            <a:fillRect/>
          </a:stretch>
        </p:blipFill>
        <p:spPr>
          <a:xfrm>
            <a:off x="7260908" y="4057650"/>
            <a:ext cx="434340" cy="434340"/>
          </a:xfrm>
          <a:prstGeom prst="rect">
            <a:avLst/>
          </a:prstGeom>
        </p:spPr>
      </p:pic>
      <p:sp>
        <p:nvSpPr>
          <p:cNvPr id="31" name="Text 15"/>
          <p:cNvSpPr txBox="1"/>
          <p:nvPr/>
        </p:nvSpPr>
        <p:spPr>
          <a:xfrm>
            <a:off x="6150712" y="4837176"/>
            <a:ext cx="2654732"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7. Seguimiento</a:t>
            </a:r>
            <a:endParaRPr lang="en-US" sz="1300" dirty="0"/>
          </a:p>
        </p:txBody>
      </p:sp>
      <p:pic>
        <p:nvPicPr>
          <p:cNvPr id="32" name="Image 13" descr="/tmp/claude-0/-home-user-riesgo/0ff9ff46-1396-5bd8-b3ac-2280dfbbbc55/scratchpad/work/gen/icons/arrow_right_gray.png">    </p:cNvPr>
          <p:cNvPicPr>
            <a:picLocks noChangeAspect="1"/>
          </p:cNvPicPr>
          <p:nvPr/>
        </p:nvPicPr>
        <p:blipFill>
          <a:blip r:embed="rId14"/>
          <a:stretch>
            <a:fillRect/>
          </a:stretch>
        </p:blipFill>
        <p:spPr>
          <a:xfrm>
            <a:off x="8714003" y="4128516"/>
            <a:ext cx="292608" cy="292608"/>
          </a:xfrm>
          <a:prstGeom prst="rect">
            <a:avLst/>
          </a:prstGeom>
        </p:spPr>
      </p:pic>
      <p:sp>
        <p:nvSpPr>
          <p:cNvPr id="33" name="Shape 16"/>
          <p:cNvSpPr/>
          <p:nvPr/>
        </p:nvSpPr>
        <p:spPr>
          <a:xfrm>
            <a:off x="9808197" y="3840480"/>
            <a:ext cx="868680" cy="868680"/>
          </a:xfrm>
          <a:prstGeom prst="ellipse">
            <a:avLst/>
          </a:prstGeom>
          <a:solidFill>
            <a:srgbClr val="2E5EAA"/>
          </a:solidFill>
          <a:ln/>
        </p:spPr>
      </p:sp>
      <p:pic>
        <p:nvPicPr>
          <p:cNvPr id="34" name="Image 14" descr="/tmp/claude-0/-home-user-riesgo/0ff9ff46-1396-5bd8-b3ac-2280dfbbbc55/scratchpad/work/gen/icons/coins_white.png">    </p:cNvPr>
          <p:cNvPicPr>
            <a:picLocks noChangeAspect="1"/>
          </p:cNvPicPr>
          <p:nvPr/>
        </p:nvPicPr>
        <p:blipFill>
          <a:blip r:embed="rId15"/>
          <a:stretch>
            <a:fillRect/>
          </a:stretch>
        </p:blipFill>
        <p:spPr>
          <a:xfrm>
            <a:off x="10025367" y="4057650"/>
            <a:ext cx="434340" cy="434340"/>
          </a:xfrm>
          <a:prstGeom prst="rect">
            <a:avLst/>
          </a:prstGeom>
        </p:spPr>
      </p:pic>
      <p:sp>
        <p:nvSpPr>
          <p:cNvPr id="35" name="Text 17"/>
          <p:cNvSpPr txBox="1"/>
          <p:nvPr/>
        </p:nvSpPr>
        <p:spPr>
          <a:xfrm>
            <a:off x="8915171" y="4837176"/>
            <a:ext cx="2654732"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8. Recuperación</a:t>
            </a:r>
            <a:endParaRPr lang="en-US" sz="1300" dirty="0"/>
          </a:p>
        </p:txBody>
      </p:sp>
      <p:sp>
        <p:nvSpPr>
          <p:cNvPr id="36" name="Shape 18"/>
          <p:cNvSpPr/>
          <p:nvPr/>
        </p:nvSpPr>
        <p:spPr>
          <a:xfrm>
            <a:off x="566928" y="5486400"/>
            <a:ext cx="11057839" cy="621792"/>
          </a:xfrm>
          <a:prstGeom prst="roundRect">
            <a:avLst>
              <a:gd name="adj" fmla="val 14706"/>
            </a:avLst>
          </a:prstGeom>
          <a:solidFill>
            <a:srgbClr val="2E5EAA"/>
          </a:solidFill>
          <a:ln/>
        </p:spPr>
      </p:sp>
      <p:sp>
        <p:nvSpPr>
          <p:cNvPr id="37" name="Text 19"/>
          <p:cNvSpPr txBox="1"/>
          <p:nvPr/>
        </p:nvSpPr>
        <p:spPr>
          <a:xfrm>
            <a:off x="841248" y="5486400"/>
            <a:ext cx="10509199" cy="621792"/>
          </a:xfrm>
          <a:prstGeom prst="rect">
            <a:avLst/>
          </a:prstGeom>
          <a:noFill/>
          <a:ln/>
        </p:spPr>
        <p:txBody>
          <a:bodyPr wrap="square" lIns="0" tIns="0" rIns="0" bIns="0" rtlCol="0" anchor="ctr"/>
          <a:lstStyle/>
          <a:p>
            <a:pPr algn="ctr" indent="0" marL="0">
              <a:lnSpc>
                <a:spcPct val="108000"/>
              </a:lnSpc>
              <a:buNone/>
            </a:pPr>
            <a:r>
              <a:rPr lang="en-US" sz="1500" b="1" dirty="0">
                <a:solidFill>
                  <a:srgbClr val="FFFFFF"/>
                </a:solidFill>
                <a:latin typeface="Cambria" pitchFamily="34" charset="0"/>
                <a:ea typeface="Cambria" pitchFamily="34" charset="-122"/>
                <a:cs typeface="Cambria" pitchFamily="34" charset="-120"/>
              </a:rPr>
              <a:t>¿En qué etapa puede aparecer un riesgo?  EN TODAS.</a:t>
            </a:r>
            <a:endParaRPr lang="en-US" sz="1500" dirty="0"/>
          </a:p>
        </p:txBody>
      </p:sp>
      <p:sp>
        <p:nvSpPr>
          <p:cNvPr id="38" name="Text 20"/>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39" name="Text 21"/>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13</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1FB6C9"/>
                </a:solidFill>
                <a:latin typeface="Calibri" pitchFamily="34" charset="0"/>
                <a:ea typeface="Calibri" pitchFamily="34" charset="-122"/>
                <a:cs typeface="Calibri" pitchFamily="34" charset="-120"/>
              </a:rPr>
              <a:t>TEMA 7 · RESPONSABILIDAD COMPARTIDA</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200" b="1" dirty="0">
                <a:solidFill>
                  <a:srgbClr val="133B6C"/>
                </a:solidFill>
                <a:latin typeface="Cambria" pitchFamily="34" charset="0"/>
                <a:ea typeface="Cambria" pitchFamily="34" charset="-122"/>
                <a:cs typeface="Cambria" pitchFamily="34" charset="-120"/>
              </a:rPr>
              <a:t>¿QUIÉN ES RESPONSABLE DE GESTIONAR LOS RIESGOS?</a:t>
            </a:r>
            <a:endParaRPr lang="en-US" sz="22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Gestionar riesgos es parte de nuestro trabajo.</a:t>
            </a:r>
            <a:endParaRPr lang="en-US" sz="1500" dirty="0"/>
          </a:p>
        </p:txBody>
      </p:sp>
      <p:sp>
        <p:nvSpPr>
          <p:cNvPr id="6" name="Shape 3"/>
          <p:cNvSpPr/>
          <p:nvPr/>
        </p:nvSpPr>
        <p:spPr>
          <a:xfrm>
            <a:off x="566928" y="2286000"/>
            <a:ext cx="11057839" cy="566928"/>
          </a:xfrm>
          <a:prstGeom prst="roundRect">
            <a:avLst>
              <a:gd name="adj" fmla="val 16129"/>
            </a:avLst>
          </a:prstGeom>
          <a:solidFill>
            <a:srgbClr val="1FB6C9"/>
          </a:solidFill>
          <a:ln/>
        </p:spPr>
      </p:sp>
      <p:sp>
        <p:nvSpPr>
          <p:cNvPr id="7" name="Text 4"/>
          <p:cNvSpPr txBox="1"/>
          <p:nvPr/>
        </p:nvSpPr>
        <p:spPr>
          <a:xfrm>
            <a:off x="566928" y="2286000"/>
            <a:ext cx="11057839" cy="566928"/>
          </a:xfrm>
          <a:prstGeom prst="rect">
            <a:avLst/>
          </a:prstGeom>
          <a:noFill/>
          <a:ln/>
        </p:spPr>
        <p:txBody>
          <a:bodyPr wrap="square" lIns="0" tIns="0" rIns="0" bIns="0" rtlCol="0" anchor="ctr"/>
          <a:lstStyle/>
          <a:p>
            <a:pPr algn="ctr" indent="0" marL="0">
              <a:buNone/>
            </a:pPr>
            <a:r>
              <a:rPr lang="en-US" sz="1900" b="1" spc="300" kern="0" dirty="0">
                <a:solidFill>
                  <a:srgbClr val="FFFFFF"/>
                </a:solidFill>
                <a:latin typeface="Cambria" pitchFamily="34" charset="0"/>
                <a:ea typeface="Cambria" pitchFamily="34" charset="-122"/>
                <a:cs typeface="Cambria" pitchFamily="34" charset="-120"/>
              </a:rPr>
              <a:t>TODOS SOMOS RESPONSABLES</a:t>
            </a:r>
            <a:endParaRPr lang="en-US" sz="1900" dirty="0"/>
          </a:p>
        </p:txBody>
      </p:sp>
      <p:sp>
        <p:nvSpPr>
          <p:cNvPr id="8" name="Shape 5"/>
          <p:cNvSpPr/>
          <p:nvPr/>
        </p:nvSpPr>
        <p:spPr>
          <a:xfrm>
            <a:off x="1213683" y="3840480"/>
            <a:ext cx="713232" cy="713232"/>
          </a:xfrm>
          <a:prstGeom prst="ellipse">
            <a:avLst/>
          </a:prstGeom>
          <a:solidFill>
            <a:srgbClr val="133B6C"/>
          </a:solidFill>
          <a:ln/>
        </p:spPr>
      </p:sp>
      <p:pic>
        <p:nvPicPr>
          <p:cNvPr id="9" name="Image 0" descr="/tmp/claude-0/-home-user-riesgo/0ff9ff46-1396-5bd8-b3ac-2280dfbbbc55/scratchpad/work/gen/icons/person_white.png">    </p:cNvPr>
          <p:cNvPicPr>
            <a:picLocks noChangeAspect="1"/>
          </p:cNvPicPr>
          <p:nvPr/>
        </p:nvPicPr>
        <p:blipFill>
          <a:blip r:embed="rId1"/>
          <a:stretch>
            <a:fillRect/>
          </a:stretch>
        </p:blipFill>
        <p:spPr>
          <a:xfrm>
            <a:off x="1391991" y="4018788"/>
            <a:ext cx="356616" cy="356616"/>
          </a:xfrm>
          <a:prstGeom prst="rect">
            <a:avLst/>
          </a:prstGeom>
        </p:spPr>
      </p:pic>
      <p:sp>
        <p:nvSpPr>
          <p:cNvPr id="10" name="Text 6"/>
          <p:cNvSpPr txBox="1"/>
          <p:nvPr/>
        </p:nvSpPr>
        <p:spPr>
          <a:xfrm>
            <a:off x="612648" y="4700016"/>
            <a:ext cx="1915302" cy="548640"/>
          </a:xfrm>
          <a:prstGeom prst="rect">
            <a:avLst/>
          </a:prstGeom>
          <a:noFill/>
          <a:ln/>
        </p:spPr>
        <p:txBody>
          <a:bodyPr wrap="square" lIns="0" tIns="0" rIns="0" bIns="0" rtlCol="0" anchor="t"/>
          <a:lstStyle/>
          <a:p>
            <a:pPr algn="ctr" indent="0" marL="0">
              <a:lnSpc>
                <a:spcPct val="98000"/>
              </a:lnSpc>
              <a:buNone/>
            </a:pPr>
            <a:r>
              <a:rPr lang="en-US" sz="1150" b="1" dirty="0">
                <a:solidFill>
                  <a:srgbClr val="133B6C"/>
                </a:solidFill>
                <a:latin typeface="Calibri" pitchFamily="34" charset="0"/>
                <a:ea typeface="Calibri" pitchFamily="34" charset="-122"/>
                <a:cs typeface="Calibri" pitchFamily="34" charset="-120"/>
              </a:rPr>
              <a:t>Colaboradores</a:t>
            </a:r>
            <a:endParaRPr lang="en-US" sz="1150" dirty="0"/>
          </a:p>
        </p:txBody>
      </p:sp>
      <p:sp>
        <p:nvSpPr>
          <p:cNvPr id="11" name="Shape 7"/>
          <p:cNvSpPr/>
          <p:nvPr/>
        </p:nvSpPr>
        <p:spPr>
          <a:xfrm>
            <a:off x="3476457" y="3840480"/>
            <a:ext cx="713232" cy="713232"/>
          </a:xfrm>
          <a:prstGeom prst="ellipse">
            <a:avLst/>
          </a:prstGeom>
          <a:solidFill>
            <a:srgbClr val="133B6C"/>
          </a:solidFill>
          <a:ln/>
        </p:spPr>
      </p:sp>
      <p:pic>
        <p:nvPicPr>
          <p:cNvPr id="12" name="Image 1" descr="/tmp/claude-0/-home-user-riesgo/0ff9ff46-1396-5bd8-b3ac-2280dfbbbc55/scratchpad/work/gen/icons/briefcase_white.png">    </p:cNvPr>
          <p:cNvPicPr>
            <a:picLocks noChangeAspect="1"/>
          </p:cNvPicPr>
          <p:nvPr/>
        </p:nvPicPr>
        <p:blipFill>
          <a:blip r:embed="rId2"/>
          <a:stretch>
            <a:fillRect/>
          </a:stretch>
        </p:blipFill>
        <p:spPr>
          <a:xfrm>
            <a:off x="3654765" y="4018788"/>
            <a:ext cx="356616" cy="356616"/>
          </a:xfrm>
          <a:prstGeom prst="rect">
            <a:avLst/>
          </a:prstGeom>
        </p:spPr>
      </p:pic>
      <p:sp>
        <p:nvSpPr>
          <p:cNvPr id="13" name="Text 8"/>
          <p:cNvSpPr txBox="1"/>
          <p:nvPr/>
        </p:nvSpPr>
        <p:spPr>
          <a:xfrm>
            <a:off x="2875422" y="4700016"/>
            <a:ext cx="1915302" cy="548640"/>
          </a:xfrm>
          <a:prstGeom prst="rect">
            <a:avLst/>
          </a:prstGeom>
          <a:noFill/>
          <a:ln/>
        </p:spPr>
        <p:txBody>
          <a:bodyPr wrap="square" lIns="0" tIns="0" rIns="0" bIns="0" rtlCol="0" anchor="t"/>
          <a:lstStyle/>
          <a:p>
            <a:pPr algn="ctr" indent="0" marL="0">
              <a:lnSpc>
                <a:spcPct val="98000"/>
              </a:lnSpc>
              <a:buNone/>
            </a:pPr>
            <a:r>
              <a:rPr lang="en-US" sz="1150" b="1" dirty="0">
                <a:solidFill>
                  <a:srgbClr val="133B6C"/>
                </a:solidFill>
                <a:latin typeface="Calibri" pitchFamily="34" charset="0"/>
                <a:ea typeface="Calibri" pitchFamily="34" charset="-122"/>
                <a:cs typeface="Calibri" pitchFamily="34" charset="-120"/>
              </a:rPr>
              <a:t>Jefaturas</a:t>
            </a:r>
            <a:endParaRPr lang="en-US" sz="1150" dirty="0"/>
          </a:p>
        </p:txBody>
      </p:sp>
      <p:sp>
        <p:nvSpPr>
          <p:cNvPr id="14" name="Shape 9"/>
          <p:cNvSpPr/>
          <p:nvPr/>
        </p:nvSpPr>
        <p:spPr>
          <a:xfrm>
            <a:off x="5739232" y="3840480"/>
            <a:ext cx="713232" cy="713232"/>
          </a:xfrm>
          <a:prstGeom prst="ellipse">
            <a:avLst/>
          </a:prstGeom>
          <a:solidFill>
            <a:srgbClr val="133B6C"/>
          </a:solidFill>
          <a:ln/>
        </p:spPr>
      </p:sp>
      <p:pic>
        <p:nvPicPr>
          <p:cNvPr id="15" name="Image 2" descr="/tmp/claude-0/-home-user-riesgo/0ff9ff46-1396-5bd8-b3ac-2280dfbbbc55/scratchpad/work/gen/icons/crown_white.png">    </p:cNvPr>
          <p:cNvPicPr>
            <a:picLocks noChangeAspect="1"/>
          </p:cNvPicPr>
          <p:nvPr/>
        </p:nvPicPr>
        <p:blipFill>
          <a:blip r:embed="rId3"/>
          <a:stretch>
            <a:fillRect/>
          </a:stretch>
        </p:blipFill>
        <p:spPr>
          <a:xfrm>
            <a:off x="5917540" y="4018788"/>
            <a:ext cx="356616" cy="356616"/>
          </a:xfrm>
          <a:prstGeom prst="rect">
            <a:avLst/>
          </a:prstGeom>
        </p:spPr>
      </p:pic>
      <p:sp>
        <p:nvSpPr>
          <p:cNvPr id="16" name="Text 10"/>
          <p:cNvSpPr txBox="1"/>
          <p:nvPr/>
        </p:nvSpPr>
        <p:spPr>
          <a:xfrm>
            <a:off x="5138196" y="4700016"/>
            <a:ext cx="1915302" cy="548640"/>
          </a:xfrm>
          <a:prstGeom prst="rect">
            <a:avLst/>
          </a:prstGeom>
          <a:noFill/>
          <a:ln/>
        </p:spPr>
        <p:txBody>
          <a:bodyPr wrap="square" lIns="0" tIns="0" rIns="0" bIns="0" rtlCol="0" anchor="t"/>
          <a:lstStyle/>
          <a:p>
            <a:pPr algn="ctr" indent="0" marL="0">
              <a:lnSpc>
                <a:spcPct val="98000"/>
              </a:lnSpc>
              <a:buNone/>
            </a:pPr>
            <a:r>
              <a:rPr lang="en-US" sz="1150" b="1" dirty="0">
                <a:solidFill>
                  <a:srgbClr val="133B6C"/>
                </a:solidFill>
                <a:latin typeface="Calibri" pitchFamily="34" charset="0"/>
                <a:ea typeface="Calibri" pitchFamily="34" charset="-122"/>
                <a:cs typeface="Calibri" pitchFamily="34" charset="-120"/>
              </a:rPr>
              <a:t>Gerencias</a:t>
            </a:r>
            <a:endParaRPr lang="en-US" sz="1150" dirty="0"/>
          </a:p>
        </p:txBody>
      </p:sp>
      <p:sp>
        <p:nvSpPr>
          <p:cNvPr id="17" name="Shape 11"/>
          <p:cNvSpPr/>
          <p:nvPr/>
        </p:nvSpPr>
        <p:spPr>
          <a:xfrm>
            <a:off x="8002006" y="3840480"/>
            <a:ext cx="713232" cy="713232"/>
          </a:xfrm>
          <a:prstGeom prst="ellipse">
            <a:avLst/>
          </a:prstGeom>
          <a:solidFill>
            <a:srgbClr val="133B6C"/>
          </a:solidFill>
          <a:ln/>
        </p:spPr>
      </p:sp>
      <p:pic>
        <p:nvPicPr>
          <p:cNvPr id="18" name="Image 3" descr="/tmp/claude-0/-home-user-riesgo/0ff9ff46-1396-5bd8-b3ac-2280dfbbbc55/scratchpad/work/gen/icons/shield_check_white.png">    </p:cNvPr>
          <p:cNvPicPr>
            <a:picLocks noChangeAspect="1"/>
          </p:cNvPicPr>
          <p:nvPr/>
        </p:nvPicPr>
        <p:blipFill>
          <a:blip r:embed="rId4"/>
          <a:stretch>
            <a:fillRect/>
          </a:stretch>
        </p:blipFill>
        <p:spPr>
          <a:xfrm>
            <a:off x="8180314" y="4018788"/>
            <a:ext cx="356616" cy="356616"/>
          </a:xfrm>
          <a:prstGeom prst="rect">
            <a:avLst/>
          </a:prstGeom>
        </p:spPr>
      </p:pic>
      <p:sp>
        <p:nvSpPr>
          <p:cNvPr id="19" name="Text 12"/>
          <p:cNvSpPr txBox="1"/>
          <p:nvPr/>
        </p:nvSpPr>
        <p:spPr>
          <a:xfrm>
            <a:off x="7400971" y="4700016"/>
            <a:ext cx="1915302" cy="548640"/>
          </a:xfrm>
          <a:prstGeom prst="rect">
            <a:avLst/>
          </a:prstGeom>
          <a:noFill/>
          <a:ln/>
        </p:spPr>
        <p:txBody>
          <a:bodyPr wrap="square" lIns="0" tIns="0" rIns="0" bIns="0" rtlCol="0" anchor="t"/>
          <a:lstStyle/>
          <a:p>
            <a:pPr algn="ctr" indent="0" marL="0">
              <a:lnSpc>
                <a:spcPct val="98000"/>
              </a:lnSpc>
              <a:buNone/>
            </a:pPr>
            <a:r>
              <a:rPr lang="en-US" sz="1150" b="1" dirty="0">
                <a:solidFill>
                  <a:srgbClr val="133B6C"/>
                </a:solidFill>
                <a:latin typeface="Calibri" pitchFamily="34" charset="0"/>
                <a:ea typeface="Calibri" pitchFamily="34" charset="-122"/>
                <a:cs typeface="Calibri" pitchFamily="34" charset="-120"/>
              </a:rPr>
              <a:t>Administración de Riesgos</a:t>
            </a:r>
            <a:endParaRPr lang="en-US" sz="1150" dirty="0"/>
          </a:p>
        </p:txBody>
      </p:sp>
      <p:sp>
        <p:nvSpPr>
          <p:cNvPr id="20" name="Shape 13"/>
          <p:cNvSpPr/>
          <p:nvPr/>
        </p:nvSpPr>
        <p:spPr>
          <a:xfrm>
            <a:off x="10264780" y="3840480"/>
            <a:ext cx="713232" cy="713232"/>
          </a:xfrm>
          <a:prstGeom prst="ellipse">
            <a:avLst/>
          </a:prstGeom>
          <a:solidFill>
            <a:srgbClr val="133B6C"/>
          </a:solidFill>
          <a:ln/>
        </p:spPr>
      </p:sp>
      <p:pic>
        <p:nvPicPr>
          <p:cNvPr id="21" name="Image 4" descr="/tmp/claude-0/-home-user-riesgo/0ff9ff46-1396-5bd8-b3ac-2280dfbbbc55/scratchpad/work/gen/icons/clipboard_check_white.png">    </p:cNvPr>
          <p:cNvPicPr>
            <a:picLocks noChangeAspect="1"/>
          </p:cNvPicPr>
          <p:nvPr/>
        </p:nvPicPr>
        <p:blipFill>
          <a:blip r:embed="rId5"/>
          <a:stretch>
            <a:fillRect/>
          </a:stretch>
        </p:blipFill>
        <p:spPr>
          <a:xfrm>
            <a:off x="10443088" y="4018788"/>
            <a:ext cx="356616" cy="356616"/>
          </a:xfrm>
          <a:prstGeom prst="rect">
            <a:avLst/>
          </a:prstGeom>
        </p:spPr>
      </p:pic>
      <p:sp>
        <p:nvSpPr>
          <p:cNvPr id="22" name="Text 14"/>
          <p:cNvSpPr txBox="1"/>
          <p:nvPr/>
        </p:nvSpPr>
        <p:spPr>
          <a:xfrm>
            <a:off x="9663745" y="4700016"/>
            <a:ext cx="1915302" cy="548640"/>
          </a:xfrm>
          <a:prstGeom prst="rect">
            <a:avLst/>
          </a:prstGeom>
          <a:noFill/>
          <a:ln/>
        </p:spPr>
        <p:txBody>
          <a:bodyPr wrap="square" lIns="0" tIns="0" rIns="0" bIns="0" rtlCol="0" anchor="t"/>
          <a:lstStyle/>
          <a:p>
            <a:pPr algn="ctr" indent="0" marL="0">
              <a:lnSpc>
                <a:spcPct val="98000"/>
              </a:lnSpc>
              <a:buNone/>
            </a:pPr>
            <a:r>
              <a:rPr lang="en-US" sz="1150" b="1" dirty="0">
                <a:solidFill>
                  <a:srgbClr val="133B6C"/>
                </a:solidFill>
                <a:latin typeface="Calibri" pitchFamily="34" charset="0"/>
                <a:ea typeface="Calibri" pitchFamily="34" charset="-122"/>
                <a:cs typeface="Calibri" pitchFamily="34" charset="-120"/>
              </a:rPr>
              <a:t>Auditoría</a:t>
            </a:r>
            <a:endParaRPr lang="en-US" sz="1150" dirty="0"/>
          </a:p>
        </p:txBody>
      </p:sp>
      <p:sp>
        <p:nvSpPr>
          <p:cNvPr id="23" name="Text 15"/>
          <p:cNvSpPr txBox="1"/>
          <p:nvPr/>
        </p:nvSpPr>
        <p:spPr>
          <a:xfrm>
            <a:off x="566928" y="6199632"/>
            <a:ext cx="11057839" cy="228600"/>
          </a:xfrm>
          <a:prstGeom prst="rect">
            <a:avLst/>
          </a:prstGeom>
          <a:noFill/>
          <a:ln/>
        </p:spPr>
        <p:txBody>
          <a:bodyPr wrap="square" lIns="0" tIns="0" rIns="0" bIns="0" rtlCol="0" anchor="ctr"/>
          <a:lstStyle/>
          <a:p>
            <a:pPr algn="ctr" indent="0" marL="0">
              <a:buNone/>
            </a:pPr>
            <a:r>
              <a:rPr lang="en-US" sz="1150" i="1" dirty="0">
                <a:solidFill>
                  <a:srgbClr val="5B6B82"/>
                </a:solidFill>
                <a:latin typeface="Calibri" pitchFamily="34" charset="0"/>
                <a:ea typeface="Calibri" pitchFamily="34" charset="-122"/>
                <a:cs typeface="Calibri" pitchFamily="34" charset="-120"/>
              </a:rPr>
              <a:t>Colaboradores, jefaturas, gerencias, Administración de Riesgos y Auditoría: cada uno desde su rol.</a:t>
            </a:r>
            <a:endParaRPr lang="en-US" sz="1150" dirty="0"/>
          </a:p>
        </p:txBody>
      </p:sp>
      <p:sp>
        <p:nvSpPr>
          <p:cNvPr id="24" name="Text 16"/>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5" name="Text 17"/>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14</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0EA5A0"/>
                </a:solidFill>
                <a:latin typeface="Calibri" pitchFamily="34" charset="0"/>
                <a:ea typeface="Calibri" pitchFamily="34" charset="-122"/>
                <a:cs typeface="Calibri" pitchFamily="34" charset="-120"/>
              </a:rPr>
              <a:t>TEMA 8 · CONTINUIDAD DEL NEGOCIO · NRP-24</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000" b="1" dirty="0">
                <a:solidFill>
                  <a:srgbClr val="133B6C"/>
                </a:solidFill>
                <a:latin typeface="Cambria" pitchFamily="34" charset="0"/>
                <a:ea typeface="Cambria" pitchFamily="34" charset="-122"/>
                <a:cs typeface="Cambria" pitchFamily="34" charset="-120"/>
              </a:rPr>
              <a:t>RIESGOS AMBIENTALES Y SOCIALES:</a:t>
            </a:r>
            <a:endParaRPr lang="en-US" sz="2000" dirty="0"/>
          </a:p>
          <a:p>
            <a:pPr algn="l" indent="0" marL="0">
              <a:lnSpc>
                <a:spcPct val="102000"/>
              </a:lnSpc>
              <a:buNone/>
            </a:pPr>
            <a:r>
              <a:rPr lang="en-US" sz="2000" b="1" dirty="0">
                <a:solidFill>
                  <a:srgbClr val="133B6C"/>
                </a:solidFill>
                <a:latin typeface="Cambria" pitchFamily="34" charset="0"/>
                <a:ea typeface="Cambria" pitchFamily="34" charset="-122"/>
                <a:cs typeface="Cambria" pitchFamily="34" charset="-120"/>
              </a:rPr>
              <a:t>TAMBIÉN SON RIESGOS FINANCIEROS</a:t>
            </a:r>
            <a:endParaRPr lang="en-US" sz="20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Así funciona la continuidad del trabajo cuando algo interrumpe la operación:</a:t>
            </a:r>
            <a:endParaRPr lang="en-US" sz="1500" dirty="0"/>
          </a:p>
        </p:txBody>
      </p:sp>
      <p:sp>
        <p:nvSpPr>
          <p:cNvPr id="6" name="Shape 3"/>
          <p:cNvSpPr/>
          <p:nvPr/>
        </p:nvSpPr>
        <p:spPr>
          <a:xfrm>
            <a:off x="1192652" y="2807208"/>
            <a:ext cx="960120" cy="960120"/>
          </a:xfrm>
          <a:prstGeom prst="ellipse">
            <a:avLst/>
          </a:prstGeom>
          <a:solidFill>
            <a:srgbClr val="0EA5A0"/>
          </a:solidFill>
          <a:ln/>
        </p:spPr>
      </p:sp>
      <p:pic>
        <p:nvPicPr>
          <p:cNvPr id="7" name="Image 0" descr="/tmp/claude-0/-home-user-riesgo/0ff9ff46-1396-5bd8-b3ac-2280dfbbbc55/scratchpad/work/gen/icons/warning_triangle_white.png">    </p:cNvPr>
          <p:cNvPicPr>
            <a:picLocks noChangeAspect="1"/>
          </p:cNvPicPr>
          <p:nvPr/>
        </p:nvPicPr>
        <p:blipFill>
          <a:blip r:embed="rId1"/>
          <a:stretch>
            <a:fillRect/>
          </a:stretch>
        </p:blipFill>
        <p:spPr>
          <a:xfrm>
            <a:off x="1432682" y="3047238"/>
            <a:ext cx="480060" cy="480060"/>
          </a:xfrm>
          <a:prstGeom prst="rect">
            <a:avLst/>
          </a:prstGeom>
        </p:spPr>
      </p:pic>
      <p:sp>
        <p:nvSpPr>
          <p:cNvPr id="8" name="Text 4"/>
          <p:cNvSpPr txBox="1"/>
          <p:nvPr/>
        </p:nvSpPr>
        <p:spPr>
          <a:xfrm>
            <a:off x="621792" y="3895344"/>
            <a:ext cx="2101840"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1. Ocurre una interrupción</a:t>
            </a:r>
            <a:endParaRPr lang="en-US" sz="1300" dirty="0"/>
          </a:p>
        </p:txBody>
      </p:sp>
      <p:sp>
        <p:nvSpPr>
          <p:cNvPr id="9" name="Text 5"/>
          <p:cNvSpPr txBox="1"/>
          <p:nvPr/>
        </p:nvSpPr>
        <p:spPr>
          <a:xfrm>
            <a:off x="694944" y="4261104"/>
            <a:ext cx="1955536" cy="566928"/>
          </a:xfrm>
          <a:prstGeom prst="rect">
            <a:avLst/>
          </a:prstGeom>
          <a:noFill/>
          <a:ln/>
        </p:spPr>
        <p:txBody>
          <a:bodyPr wrap="square" lIns="0" tIns="0" rIns="0" bIns="0" rtlCol="0" anchor="t"/>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Falla de sistemas, desastre natural u otro evento externo.</a:t>
            </a:r>
            <a:endParaRPr lang="en-US" sz="1050" dirty="0"/>
          </a:p>
        </p:txBody>
      </p:sp>
      <p:pic>
        <p:nvPicPr>
          <p:cNvPr id="10" name="Image 1" descr="/tmp/claude-0/-home-user-riesgo/0ff9ff46-1396-5bd8-b3ac-2280dfbbbc55/scratchpad/work/gen/icons/arrow_right_gray.png">    </p:cNvPr>
          <p:cNvPicPr>
            <a:picLocks noChangeAspect="1"/>
          </p:cNvPicPr>
          <p:nvPr/>
        </p:nvPicPr>
        <p:blipFill>
          <a:blip r:embed="rId2"/>
          <a:stretch>
            <a:fillRect/>
          </a:stretch>
        </p:blipFill>
        <p:spPr>
          <a:xfrm>
            <a:off x="2632192" y="3140964"/>
            <a:ext cx="292608" cy="292608"/>
          </a:xfrm>
          <a:prstGeom prst="rect">
            <a:avLst/>
          </a:prstGeom>
        </p:spPr>
      </p:pic>
      <p:sp>
        <p:nvSpPr>
          <p:cNvPr id="11" name="Shape 6"/>
          <p:cNvSpPr/>
          <p:nvPr/>
        </p:nvSpPr>
        <p:spPr>
          <a:xfrm>
            <a:off x="3404220" y="2807208"/>
            <a:ext cx="960120" cy="960120"/>
          </a:xfrm>
          <a:prstGeom prst="ellipse">
            <a:avLst/>
          </a:prstGeom>
          <a:solidFill>
            <a:srgbClr val="0EA5A0"/>
          </a:solidFill>
          <a:ln/>
        </p:spPr>
      </p:sp>
      <p:pic>
        <p:nvPicPr>
          <p:cNvPr id="12" name="Image 2" descr="/tmp/claude-0/-home-user-riesgo/0ff9ff46-1396-5bd8-b3ac-2280dfbbbc55/scratchpad/work/gen/icons/megaphone_white.png">    </p:cNvPr>
          <p:cNvPicPr>
            <a:picLocks noChangeAspect="1"/>
          </p:cNvPicPr>
          <p:nvPr/>
        </p:nvPicPr>
        <p:blipFill>
          <a:blip r:embed="rId3"/>
          <a:stretch>
            <a:fillRect/>
          </a:stretch>
        </p:blipFill>
        <p:spPr>
          <a:xfrm>
            <a:off x="3644250" y="3047238"/>
            <a:ext cx="480060" cy="480060"/>
          </a:xfrm>
          <a:prstGeom prst="rect">
            <a:avLst/>
          </a:prstGeom>
        </p:spPr>
      </p:pic>
      <p:sp>
        <p:nvSpPr>
          <p:cNvPr id="13" name="Text 7"/>
          <p:cNvSpPr txBox="1"/>
          <p:nvPr/>
        </p:nvSpPr>
        <p:spPr>
          <a:xfrm>
            <a:off x="2833360" y="3895344"/>
            <a:ext cx="2101840"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2. Se reporta de inmediato</a:t>
            </a:r>
            <a:endParaRPr lang="en-US" sz="1300" dirty="0"/>
          </a:p>
        </p:txBody>
      </p:sp>
      <p:sp>
        <p:nvSpPr>
          <p:cNvPr id="14" name="Text 8"/>
          <p:cNvSpPr txBox="1"/>
          <p:nvPr/>
        </p:nvSpPr>
        <p:spPr>
          <a:xfrm>
            <a:off x="2906512" y="4261104"/>
            <a:ext cx="1955536" cy="566928"/>
          </a:xfrm>
          <a:prstGeom prst="rect">
            <a:avLst/>
          </a:prstGeom>
          <a:noFill/>
          <a:ln/>
        </p:spPr>
        <p:txBody>
          <a:bodyPr wrap="square" lIns="0" tIns="0" rIns="0" bIns="0" rtlCol="0" anchor="t"/>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Al canal institucional correspondiente.</a:t>
            </a:r>
            <a:endParaRPr lang="en-US" sz="1050" dirty="0"/>
          </a:p>
        </p:txBody>
      </p:sp>
      <p:pic>
        <p:nvPicPr>
          <p:cNvPr id="15" name="Image 3" descr="/tmp/claude-0/-home-user-riesgo/0ff9ff46-1396-5bd8-b3ac-2280dfbbbc55/scratchpad/work/gen/icons/arrow_right_gray.png">    </p:cNvPr>
          <p:cNvPicPr>
            <a:picLocks noChangeAspect="1"/>
          </p:cNvPicPr>
          <p:nvPr/>
        </p:nvPicPr>
        <p:blipFill>
          <a:blip r:embed="rId4"/>
          <a:stretch>
            <a:fillRect/>
          </a:stretch>
        </p:blipFill>
        <p:spPr>
          <a:xfrm>
            <a:off x="4843760" y="3140964"/>
            <a:ext cx="292608" cy="292608"/>
          </a:xfrm>
          <a:prstGeom prst="rect">
            <a:avLst/>
          </a:prstGeom>
        </p:spPr>
      </p:pic>
      <p:sp>
        <p:nvSpPr>
          <p:cNvPr id="16" name="Shape 9"/>
          <p:cNvSpPr/>
          <p:nvPr/>
        </p:nvSpPr>
        <p:spPr>
          <a:xfrm>
            <a:off x="5615788" y="2807208"/>
            <a:ext cx="960120" cy="960120"/>
          </a:xfrm>
          <a:prstGeom prst="ellipse">
            <a:avLst/>
          </a:prstGeom>
          <a:solidFill>
            <a:srgbClr val="0EA5A0"/>
          </a:solidFill>
          <a:ln/>
        </p:spPr>
      </p:sp>
      <p:pic>
        <p:nvPicPr>
          <p:cNvPr id="17" name="Image 4" descr="/tmp/claude-0/-home-user-riesgo/0ff9ff46-1396-5bd8-b3ac-2280dfbbbc55/scratchpad/work/gen/icons/route_white.png">    </p:cNvPr>
          <p:cNvPicPr>
            <a:picLocks noChangeAspect="1"/>
          </p:cNvPicPr>
          <p:nvPr/>
        </p:nvPicPr>
        <p:blipFill>
          <a:blip r:embed="rId5"/>
          <a:stretch>
            <a:fillRect/>
          </a:stretch>
        </p:blipFill>
        <p:spPr>
          <a:xfrm>
            <a:off x="5855818" y="3047238"/>
            <a:ext cx="480060" cy="480060"/>
          </a:xfrm>
          <a:prstGeom prst="rect">
            <a:avLst/>
          </a:prstGeom>
        </p:spPr>
      </p:pic>
      <p:sp>
        <p:nvSpPr>
          <p:cNvPr id="18" name="Text 10"/>
          <p:cNvSpPr txBox="1"/>
          <p:nvPr/>
        </p:nvSpPr>
        <p:spPr>
          <a:xfrm>
            <a:off x="5044928" y="3895344"/>
            <a:ext cx="2101840"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3. Se activa el Plan de Continuidad</a:t>
            </a:r>
            <a:endParaRPr lang="en-US" sz="1300" dirty="0"/>
          </a:p>
        </p:txBody>
      </p:sp>
      <p:sp>
        <p:nvSpPr>
          <p:cNvPr id="19" name="Text 11"/>
          <p:cNvSpPr txBox="1"/>
          <p:nvPr/>
        </p:nvSpPr>
        <p:spPr>
          <a:xfrm>
            <a:off x="5118080" y="4261104"/>
            <a:ext cx="1955536" cy="566928"/>
          </a:xfrm>
          <a:prstGeom prst="rect">
            <a:avLst/>
          </a:prstGeom>
          <a:noFill/>
          <a:ln/>
        </p:spPr>
        <p:txBody>
          <a:bodyPr wrap="square" lIns="0" tIns="0" rIns="0" bIns="0" rtlCol="0" anchor="t"/>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Con los procedimientos ya definidos.</a:t>
            </a:r>
            <a:endParaRPr lang="en-US" sz="1050" dirty="0"/>
          </a:p>
        </p:txBody>
      </p:sp>
      <p:pic>
        <p:nvPicPr>
          <p:cNvPr id="20" name="Image 5" descr="/tmp/claude-0/-home-user-riesgo/0ff9ff46-1396-5bd8-b3ac-2280dfbbbc55/scratchpad/work/gen/icons/arrow_right_gray.png">    </p:cNvPr>
          <p:cNvPicPr>
            <a:picLocks noChangeAspect="1"/>
          </p:cNvPicPr>
          <p:nvPr/>
        </p:nvPicPr>
        <p:blipFill>
          <a:blip r:embed="rId6"/>
          <a:stretch>
            <a:fillRect/>
          </a:stretch>
        </p:blipFill>
        <p:spPr>
          <a:xfrm>
            <a:off x="7055328" y="3140964"/>
            <a:ext cx="292608" cy="292608"/>
          </a:xfrm>
          <a:prstGeom prst="rect">
            <a:avLst/>
          </a:prstGeom>
        </p:spPr>
      </p:pic>
      <p:sp>
        <p:nvSpPr>
          <p:cNvPr id="21" name="Shape 12"/>
          <p:cNvSpPr/>
          <p:nvPr/>
        </p:nvSpPr>
        <p:spPr>
          <a:xfrm>
            <a:off x="7827355" y="2807208"/>
            <a:ext cx="960120" cy="960120"/>
          </a:xfrm>
          <a:prstGeom prst="ellipse">
            <a:avLst/>
          </a:prstGeom>
          <a:solidFill>
            <a:srgbClr val="0EA5A0"/>
          </a:solidFill>
          <a:ln/>
        </p:spPr>
      </p:sp>
      <p:pic>
        <p:nvPicPr>
          <p:cNvPr id="22" name="Image 6" descr="/tmp/claude-0/-home-user-riesgo/0ff9ff46-1396-5bd8-b3ac-2280dfbbbc55/scratchpad/work/gen/icons/flag_check_white.png">    </p:cNvPr>
          <p:cNvPicPr>
            <a:picLocks noChangeAspect="1"/>
          </p:cNvPicPr>
          <p:nvPr/>
        </p:nvPicPr>
        <p:blipFill>
          <a:blip r:embed="rId7"/>
          <a:stretch>
            <a:fillRect/>
          </a:stretch>
        </p:blipFill>
        <p:spPr>
          <a:xfrm>
            <a:off x="8067385" y="3047238"/>
            <a:ext cx="480060" cy="480060"/>
          </a:xfrm>
          <a:prstGeom prst="rect">
            <a:avLst/>
          </a:prstGeom>
        </p:spPr>
      </p:pic>
      <p:sp>
        <p:nvSpPr>
          <p:cNvPr id="23" name="Text 13"/>
          <p:cNvSpPr txBox="1"/>
          <p:nvPr/>
        </p:nvSpPr>
        <p:spPr>
          <a:xfrm>
            <a:off x="7256496" y="3895344"/>
            <a:ext cx="2101840"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4. Se prioriza lo esencial</a:t>
            </a:r>
            <a:endParaRPr lang="en-US" sz="1300" dirty="0"/>
          </a:p>
        </p:txBody>
      </p:sp>
      <p:sp>
        <p:nvSpPr>
          <p:cNvPr id="24" name="Text 14"/>
          <p:cNvSpPr txBox="1"/>
          <p:nvPr/>
        </p:nvSpPr>
        <p:spPr>
          <a:xfrm>
            <a:off x="7329648" y="4261104"/>
            <a:ext cx="1955536" cy="566928"/>
          </a:xfrm>
          <a:prstGeom prst="rect">
            <a:avLst/>
          </a:prstGeom>
          <a:noFill/>
          <a:ln/>
        </p:spPr>
        <p:txBody>
          <a:bodyPr wrap="square" lIns="0" tIns="0" rIns="0" bIns="0" rtlCol="0" anchor="t"/>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Los servicios más críticos para los asociados.</a:t>
            </a:r>
            <a:endParaRPr lang="en-US" sz="1050" dirty="0"/>
          </a:p>
        </p:txBody>
      </p:sp>
      <p:pic>
        <p:nvPicPr>
          <p:cNvPr id="25" name="Image 7" descr="/tmp/claude-0/-home-user-riesgo/0ff9ff46-1396-5bd8-b3ac-2280dfbbbc55/scratchpad/work/gen/icons/arrow_right_gray.png">    </p:cNvPr>
          <p:cNvPicPr>
            <a:picLocks noChangeAspect="1"/>
          </p:cNvPicPr>
          <p:nvPr/>
        </p:nvPicPr>
        <p:blipFill>
          <a:blip r:embed="rId8"/>
          <a:stretch>
            <a:fillRect/>
          </a:stretch>
        </p:blipFill>
        <p:spPr>
          <a:xfrm>
            <a:off x="9266895" y="3140964"/>
            <a:ext cx="292608" cy="292608"/>
          </a:xfrm>
          <a:prstGeom prst="rect">
            <a:avLst/>
          </a:prstGeom>
        </p:spPr>
      </p:pic>
      <p:sp>
        <p:nvSpPr>
          <p:cNvPr id="26" name="Shape 15"/>
          <p:cNvSpPr/>
          <p:nvPr/>
        </p:nvSpPr>
        <p:spPr>
          <a:xfrm>
            <a:off x="10038923" y="2807208"/>
            <a:ext cx="960120" cy="960120"/>
          </a:xfrm>
          <a:prstGeom prst="ellipse">
            <a:avLst/>
          </a:prstGeom>
          <a:solidFill>
            <a:srgbClr val="E0392B"/>
          </a:solidFill>
          <a:ln/>
        </p:spPr>
      </p:sp>
      <p:pic>
        <p:nvPicPr>
          <p:cNvPr id="27" name="Image 8" descr="/tmp/claude-0/-home-user-riesgo/0ff9ff46-1396-5bd8-b3ac-2280dfbbbc55/scratchpad/work/gen/icons/shield_check_white.png">    </p:cNvPr>
          <p:cNvPicPr>
            <a:picLocks noChangeAspect="1"/>
          </p:cNvPicPr>
          <p:nvPr/>
        </p:nvPicPr>
        <p:blipFill>
          <a:blip r:embed="rId9"/>
          <a:stretch>
            <a:fillRect/>
          </a:stretch>
        </p:blipFill>
        <p:spPr>
          <a:xfrm>
            <a:off x="10278953" y="3047238"/>
            <a:ext cx="480060" cy="480060"/>
          </a:xfrm>
          <a:prstGeom prst="rect">
            <a:avLst/>
          </a:prstGeom>
        </p:spPr>
      </p:pic>
      <p:sp>
        <p:nvSpPr>
          <p:cNvPr id="28" name="Text 16"/>
          <p:cNvSpPr txBox="1"/>
          <p:nvPr/>
        </p:nvSpPr>
        <p:spPr>
          <a:xfrm>
            <a:off x="9468063" y="3895344"/>
            <a:ext cx="2101840" cy="365760"/>
          </a:xfrm>
          <a:prstGeom prst="rect">
            <a:avLst/>
          </a:prstGeom>
          <a:noFill/>
          <a:ln/>
        </p:spPr>
        <p:txBody>
          <a:bodyPr wrap="square" lIns="0" tIns="0" rIns="0" bIns="0" rtlCol="0" anchor="t"/>
          <a:lstStyle/>
          <a:p>
            <a:pPr algn="ctr" indent="0" marL="0">
              <a:lnSpc>
                <a:spcPct val="95000"/>
              </a:lnSpc>
              <a:buNone/>
            </a:pPr>
            <a:r>
              <a:rPr lang="en-US" sz="1300" b="1" dirty="0">
                <a:solidFill>
                  <a:srgbClr val="133B6C"/>
                </a:solidFill>
                <a:latin typeface="Calibri" pitchFamily="34" charset="0"/>
                <a:ea typeface="Calibri" pitchFamily="34" charset="-122"/>
                <a:cs typeface="Calibri" pitchFamily="34" charset="-120"/>
              </a:rPr>
              <a:t>5. Se restablece la operación</a:t>
            </a:r>
            <a:endParaRPr lang="en-US" sz="1300" dirty="0"/>
          </a:p>
        </p:txBody>
      </p:sp>
      <p:sp>
        <p:nvSpPr>
          <p:cNvPr id="29" name="Text 17"/>
          <p:cNvSpPr txBox="1"/>
          <p:nvPr/>
        </p:nvSpPr>
        <p:spPr>
          <a:xfrm>
            <a:off x="9541215" y="4261104"/>
            <a:ext cx="1955536" cy="566928"/>
          </a:xfrm>
          <a:prstGeom prst="rect">
            <a:avLst/>
          </a:prstGeom>
          <a:noFill/>
          <a:ln/>
        </p:spPr>
        <p:txBody>
          <a:bodyPr wrap="square" lIns="0" tIns="0" rIns="0" bIns="0" rtlCol="0" anchor="t"/>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Dentro de un tiempo tolerable.</a:t>
            </a:r>
            <a:endParaRPr lang="en-US" sz="1050" dirty="0"/>
          </a:p>
        </p:txBody>
      </p:sp>
      <p:sp>
        <p:nvSpPr>
          <p:cNvPr id="30" name="Shape 18"/>
          <p:cNvSpPr/>
          <p:nvPr/>
        </p:nvSpPr>
        <p:spPr>
          <a:xfrm>
            <a:off x="566928" y="5486400"/>
            <a:ext cx="11057839" cy="621792"/>
          </a:xfrm>
          <a:prstGeom prst="roundRect">
            <a:avLst>
              <a:gd name="adj" fmla="val 14706"/>
            </a:avLst>
          </a:prstGeom>
          <a:solidFill>
            <a:srgbClr val="0EA5A0"/>
          </a:solidFill>
          <a:ln/>
        </p:spPr>
      </p:sp>
      <p:sp>
        <p:nvSpPr>
          <p:cNvPr id="31" name="Text 19"/>
          <p:cNvSpPr txBox="1"/>
          <p:nvPr/>
        </p:nvSpPr>
        <p:spPr>
          <a:xfrm>
            <a:off x="841248" y="5486400"/>
            <a:ext cx="10509199" cy="621792"/>
          </a:xfrm>
          <a:prstGeom prst="rect">
            <a:avLst/>
          </a:prstGeom>
          <a:noFill/>
          <a:ln/>
        </p:spPr>
        <p:txBody>
          <a:bodyPr wrap="square" lIns="0" tIns="0" rIns="0" bIns="0" rtlCol="0" anchor="ctr"/>
          <a:lstStyle/>
          <a:p>
            <a:pPr algn="ctr" indent="0" marL="0">
              <a:lnSpc>
                <a:spcPct val="108000"/>
              </a:lnSpc>
              <a:buNone/>
            </a:pPr>
            <a:r>
              <a:rPr lang="en-US" sz="1500" b="1" dirty="0">
                <a:solidFill>
                  <a:srgbClr val="FFFFFF"/>
                </a:solidFill>
                <a:latin typeface="Cambria" pitchFamily="34" charset="0"/>
                <a:ea typeface="Cambria" pitchFamily="34" charset="-122"/>
                <a:cs typeface="Cambria" pitchFamily="34" charset="-120"/>
              </a:rPr>
              <a:t>La continuidad del negocio no es solo un plan de TI: es la capacidad de toda la Cooperativa de seguir sirviendo a sus asociados.</a:t>
            </a:r>
            <a:endParaRPr lang="en-US" sz="1500" dirty="0"/>
          </a:p>
        </p:txBody>
      </p:sp>
      <p:sp>
        <p:nvSpPr>
          <p:cNvPr id="32" name="Text 20"/>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33" name="Text 21"/>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15</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86C7"/>
                </a:solidFill>
                <a:latin typeface="Calibri" pitchFamily="34" charset="0"/>
                <a:ea typeface="Calibri" pitchFamily="34" charset="-122"/>
                <a:cs typeface="Calibri" pitchFamily="34" charset="-120"/>
              </a:rPr>
              <a:t>TEMA 8 · CONTINUIDAD DEL NEGOCIO · NRP-24</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400" b="1" dirty="0">
                <a:solidFill>
                  <a:srgbClr val="133B6C"/>
                </a:solidFill>
                <a:latin typeface="Cambria" pitchFamily="34" charset="0"/>
                <a:ea typeface="Cambria" pitchFamily="34" charset="-122"/>
                <a:cs typeface="Cambria" pitchFamily="34" charset="-120"/>
              </a:rPr>
              <a:t>ANÁLISIS DE CRITICIDAD DE UN SERVICIO TERCERIZADO</a:t>
            </a:r>
            <a:endParaRPr lang="en-US" sz="2400" dirty="0"/>
          </a:p>
        </p:txBody>
      </p:sp>
      <p:sp>
        <p:nvSpPr>
          <p:cNvPr id="5" name="Shape 2"/>
          <p:cNvSpPr/>
          <p:nvPr/>
        </p:nvSpPr>
        <p:spPr>
          <a:xfrm>
            <a:off x="566928" y="1965960"/>
            <a:ext cx="2490140" cy="2057400"/>
          </a:xfrm>
          <a:prstGeom prst="roundRect">
            <a:avLst>
              <a:gd name="adj" fmla="val 4444"/>
            </a:avLst>
          </a:prstGeom>
          <a:solidFill>
            <a:srgbClr val="EAF3FB"/>
          </a:solidFill>
          <a:ln w="12700">
            <a:solidFill>
              <a:srgbClr val="1B6FB0"/>
            </a:solidFill>
            <a:prstDash val="solid"/>
          </a:ln>
          <a:effectLst>
            <a:outerShdw sx="100000" sy="100000" kx="0" ky="0" algn="bl" rotWithShape="0" blurRad="76200" dist="25400" dir="5400000">
              <a:srgbClr val="1B6FB0">
                <a:alpha val="12000"/>
              </a:srgbClr>
            </a:outerShdw>
          </a:effectLst>
        </p:spPr>
      </p:sp>
      <p:sp>
        <p:nvSpPr>
          <p:cNvPr id="6" name="Shape 3"/>
          <p:cNvSpPr/>
          <p:nvPr/>
        </p:nvSpPr>
        <p:spPr>
          <a:xfrm>
            <a:off x="1601686" y="2093976"/>
            <a:ext cx="420624" cy="420624"/>
          </a:xfrm>
          <a:prstGeom prst="ellipse">
            <a:avLst/>
          </a:prstGeom>
          <a:solidFill>
            <a:srgbClr val="2E86C7"/>
          </a:solidFill>
          <a:ln/>
        </p:spPr>
      </p:sp>
      <p:pic>
        <p:nvPicPr>
          <p:cNvPr id="7" name="Image 0" descr="/tmp/claude-0/-home-user-riesgo/0ff9ff46-1396-5bd8-b3ac-2280dfbbbc55/scratchpad/work/gen/icons/magnifier_white.png">    </p:cNvPr>
          <p:cNvPicPr>
            <a:picLocks noChangeAspect="1"/>
          </p:cNvPicPr>
          <p:nvPr/>
        </p:nvPicPr>
        <p:blipFill>
          <a:blip r:embed="rId1"/>
          <a:stretch>
            <a:fillRect/>
          </a:stretch>
        </p:blipFill>
        <p:spPr>
          <a:xfrm>
            <a:off x="1702636" y="2194926"/>
            <a:ext cx="218724" cy="218724"/>
          </a:xfrm>
          <a:prstGeom prst="rect">
            <a:avLst/>
          </a:prstGeom>
        </p:spPr>
      </p:pic>
      <p:sp>
        <p:nvSpPr>
          <p:cNvPr id="8" name="Shape 4"/>
          <p:cNvSpPr/>
          <p:nvPr/>
        </p:nvSpPr>
        <p:spPr>
          <a:xfrm>
            <a:off x="1480985" y="2006194"/>
            <a:ext cx="219456" cy="219456"/>
          </a:xfrm>
          <a:prstGeom prst="ellipse">
            <a:avLst/>
          </a:prstGeom>
          <a:solidFill>
            <a:srgbClr val="FFFFFF"/>
          </a:solidFill>
          <a:ln w="15875">
            <a:solidFill>
              <a:srgbClr val="1B6FB0"/>
            </a:solidFill>
            <a:prstDash val="solid"/>
          </a:ln>
        </p:spPr>
      </p:sp>
      <p:sp>
        <p:nvSpPr>
          <p:cNvPr id="9" name="Text 5"/>
          <p:cNvSpPr txBox="1"/>
          <p:nvPr/>
        </p:nvSpPr>
        <p:spPr>
          <a:xfrm>
            <a:off x="1480985" y="2006194"/>
            <a:ext cx="219456" cy="219456"/>
          </a:xfrm>
          <a:prstGeom prst="rect">
            <a:avLst/>
          </a:prstGeom>
          <a:noFill/>
          <a:ln/>
        </p:spPr>
        <p:txBody>
          <a:bodyPr wrap="square" lIns="0" tIns="0" rIns="0" bIns="0" rtlCol="0" anchor="ctr"/>
          <a:lstStyle/>
          <a:p>
            <a:pPr algn="ctr" indent="0" marL="0">
              <a:buNone/>
            </a:pPr>
            <a:r>
              <a:rPr lang="en-US" sz="1050" b="1" dirty="0">
                <a:solidFill>
                  <a:srgbClr val="14508C"/>
                </a:solidFill>
                <a:latin typeface="Cambria" pitchFamily="34" charset="0"/>
                <a:ea typeface="Cambria" pitchFamily="34" charset="-122"/>
                <a:cs typeface="Cambria" pitchFamily="34" charset="-120"/>
              </a:rPr>
              <a:t>1</a:t>
            </a:r>
            <a:endParaRPr lang="en-US" sz="1050" dirty="0"/>
          </a:p>
        </p:txBody>
      </p:sp>
      <p:sp>
        <p:nvSpPr>
          <p:cNvPr id="10" name="Text 6"/>
          <p:cNvSpPr txBox="1"/>
          <p:nvPr/>
        </p:nvSpPr>
        <p:spPr>
          <a:xfrm>
            <a:off x="658368" y="2606040"/>
            <a:ext cx="2307260" cy="1344168"/>
          </a:xfrm>
          <a:prstGeom prst="rect">
            <a:avLst/>
          </a:prstGeom>
          <a:noFill/>
          <a:ln/>
        </p:spPr>
        <p:txBody>
          <a:bodyPr wrap="square" lIns="0" tIns="0" rIns="0" bIns="0" rtlCol="0" anchor="t"/>
          <a:lstStyle/>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IDENTIFICAR</a:t>
            </a:r>
            <a:endParaRPr lang="en-US" sz="1150" dirty="0"/>
          </a:p>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EL SERVICIO</a:t>
            </a:r>
            <a:endParaRPr lang="en-US" sz="1150" dirty="0"/>
          </a:p>
        </p:txBody>
      </p:sp>
      <p:pic>
        <p:nvPicPr>
          <p:cNvPr id="11" name="Image 1" descr="/tmp/claude-0/-home-user-riesgo/0ff9ff46-1396-5bd8-b3ac-2280dfbbbc55/scratchpad/work/gen/icons/arrow_right_blue.png">    </p:cNvPr>
          <p:cNvPicPr>
            <a:picLocks noChangeAspect="1"/>
          </p:cNvPicPr>
          <p:nvPr/>
        </p:nvPicPr>
        <p:blipFill>
          <a:blip r:embed="rId2"/>
          <a:stretch>
            <a:fillRect/>
          </a:stretch>
        </p:blipFill>
        <p:spPr>
          <a:xfrm>
            <a:off x="3121076" y="2875788"/>
            <a:ext cx="237744" cy="237744"/>
          </a:xfrm>
          <a:prstGeom prst="rect">
            <a:avLst/>
          </a:prstGeom>
        </p:spPr>
      </p:pic>
      <p:sp>
        <p:nvSpPr>
          <p:cNvPr id="12" name="Shape 7"/>
          <p:cNvSpPr/>
          <p:nvPr/>
        </p:nvSpPr>
        <p:spPr>
          <a:xfrm>
            <a:off x="3422828" y="1965960"/>
            <a:ext cx="2490140" cy="2057400"/>
          </a:xfrm>
          <a:prstGeom prst="roundRect">
            <a:avLst>
              <a:gd name="adj" fmla="val 4444"/>
            </a:avLst>
          </a:prstGeom>
          <a:solidFill>
            <a:srgbClr val="EAF3FB"/>
          </a:solidFill>
          <a:ln w="12700">
            <a:solidFill>
              <a:srgbClr val="1B6FB0"/>
            </a:solidFill>
            <a:prstDash val="solid"/>
          </a:ln>
          <a:effectLst>
            <a:outerShdw sx="100000" sy="100000" kx="0" ky="0" algn="bl" rotWithShape="0" blurRad="76200" dist="25400" dir="5400000">
              <a:srgbClr val="1B6FB0">
                <a:alpha val="12000"/>
              </a:srgbClr>
            </a:outerShdw>
          </a:effectLst>
        </p:spPr>
      </p:sp>
      <p:sp>
        <p:nvSpPr>
          <p:cNvPr id="13" name="Shape 8"/>
          <p:cNvSpPr/>
          <p:nvPr/>
        </p:nvSpPr>
        <p:spPr>
          <a:xfrm>
            <a:off x="4457586" y="2093976"/>
            <a:ext cx="420624" cy="420624"/>
          </a:xfrm>
          <a:prstGeom prst="ellipse">
            <a:avLst/>
          </a:prstGeom>
          <a:solidFill>
            <a:srgbClr val="2E86C7"/>
          </a:solidFill>
          <a:ln/>
        </p:spPr>
      </p:sp>
      <p:pic>
        <p:nvPicPr>
          <p:cNvPr id="14" name="Image 2" descr="/tmp/claude-0/-home-user-riesgo/0ff9ff46-1396-5bd8-b3ac-2280dfbbbc55/scratchpad/work/gen/icons/question_white.png">    </p:cNvPr>
          <p:cNvPicPr>
            <a:picLocks noChangeAspect="1"/>
          </p:cNvPicPr>
          <p:nvPr/>
        </p:nvPicPr>
        <p:blipFill>
          <a:blip r:embed="rId3"/>
          <a:stretch>
            <a:fillRect/>
          </a:stretch>
        </p:blipFill>
        <p:spPr>
          <a:xfrm>
            <a:off x="4558535" y="2194926"/>
            <a:ext cx="218724" cy="218724"/>
          </a:xfrm>
          <a:prstGeom prst="rect">
            <a:avLst/>
          </a:prstGeom>
        </p:spPr>
      </p:pic>
      <p:sp>
        <p:nvSpPr>
          <p:cNvPr id="15" name="Shape 9"/>
          <p:cNvSpPr/>
          <p:nvPr/>
        </p:nvSpPr>
        <p:spPr>
          <a:xfrm>
            <a:off x="4336885" y="2006194"/>
            <a:ext cx="219456" cy="219456"/>
          </a:xfrm>
          <a:prstGeom prst="ellipse">
            <a:avLst/>
          </a:prstGeom>
          <a:solidFill>
            <a:srgbClr val="FFFFFF"/>
          </a:solidFill>
          <a:ln w="15875">
            <a:solidFill>
              <a:srgbClr val="1B6FB0"/>
            </a:solidFill>
            <a:prstDash val="solid"/>
          </a:ln>
        </p:spPr>
      </p:sp>
      <p:sp>
        <p:nvSpPr>
          <p:cNvPr id="16" name="Text 10"/>
          <p:cNvSpPr txBox="1"/>
          <p:nvPr/>
        </p:nvSpPr>
        <p:spPr>
          <a:xfrm>
            <a:off x="4336885" y="2006194"/>
            <a:ext cx="219456" cy="219456"/>
          </a:xfrm>
          <a:prstGeom prst="rect">
            <a:avLst/>
          </a:prstGeom>
          <a:noFill/>
          <a:ln/>
        </p:spPr>
        <p:txBody>
          <a:bodyPr wrap="square" lIns="0" tIns="0" rIns="0" bIns="0" rtlCol="0" anchor="ctr"/>
          <a:lstStyle/>
          <a:p>
            <a:pPr algn="ctr" indent="0" marL="0">
              <a:buNone/>
            </a:pPr>
            <a:r>
              <a:rPr lang="en-US" sz="1050" b="1" dirty="0">
                <a:solidFill>
                  <a:srgbClr val="14508C"/>
                </a:solidFill>
                <a:latin typeface="Cambria" pitchFamily="34" charset="0"/>
                <a:ea typeface="Cambria" pitchFamily="34" charset="-122"/>
                <a:cs typeface="Cambria" pitchFamily="34" charset="-120"/>
              </a:rPr>
              <a:t>2</a:t>
            </a:r>
            <a:endParaRPr lang="en-US" sz="1050" dirty="0"/>
          </a:p>
        </p:txBody>
      </p:sp>
      <p:sp>
        <p:nvSpPr>
          <p:cNvPr id="17" name="Text 11"/>
          <p:cNvSpPr txBox="1"/>
          <p:nvPr/>
        </p:nvSpPr>
        <p:spPr>
          <a:xfrm>
            <a:off x="3514268" y="2606040"/>
            <a:ext cx="2307260" cy="1344168"/>
          </a:xfrm>
          <a:prstGeom prst="rect">
            <a:avLst/>
          </a:prstGeom>
          <a:noFill/>
          <a:ln/>
        </p:spPr>
        <p:txBody>
          <a:bodyPr wrap="square" lIns="0" tIns="0" rIns="0" bIns="0" rtlCol="0" anchor="t"/>
          <a:lstStyle/>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¿PODRÍA AFECTAR LA</a:t>
            </a:r>
            <a:endParaRPr lang="en-US" sz="1150" dirty="0"/>
          </a:p>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CONTINUIDAD DEL NEGOCIO?</a:t>
            </a:r>
            <a:endParaRPr lang="en-US" sz="1150" dirty="0"/>
          </a:p>
        </p:txBody>
      </p:sp>
      <p:pic>
        <p:nvPicPr>
          <p:cNvPr id="18" name="Image 3" descr="/tmp/claude-0/-home-user-riesgo/0ff9ff46-1396-5bd8-b3ac-2280dfbbbc55/scratchpad/work/gen/icons/arrow_right_blue.png">    </p:cNvPr>
          <p:cNvPicPr>
            <a:picLocks noChangeAspect="1"/>
          </p:cNvPicPr>
          <p:nvPr/>
        </p:nvPicPr>
        <p:blipFill>
          <a:blip r:embed="rId4"/>
          <a:stretch>
            <a:fillRect/>
          </a:stretch>
        </p:blipFill>
        <p:spPr>
          <a:xfrm>
            <a:off x="5976976" y="2875788"/>
            <a:ext cx="237744" cy="237744"/>
          </a:xfrm>
          <a:prstGeom prst="rect">
            <a:avLst/>
          </a:prstGeom>
        </p:spPr>
      </p:pic>
      <p:sp>
        <p:nvSpPr>
          <p:cNvPr id="19" name="Shape 12"/>
          <p:cNvSpPr/>
          <p:nvPr/>
        </p:nvSpPr>
        <p:spPr>
          <a:xfrm>
            <a:off x="6278728" y="1965960"/>
            <a:ext cx="2490140" cy="2057400"/>
          </a:xfrm>
          <a:prstGeom prst="roundRect">
            <a:avLst>
              <a:gd name="adj" fmla="val 4444"/>
            </a:avLst>
          </a:prstGeom>
          <a:solidFill>
            <a:srgbClr val="EAF3FB"/>
          </a:solidFill>
          <a:ln w="12700">
            <a:solidFill>
              <a:srgbClr val="1B6FB0"/>
            </a:solidFill>
            <a:prstDash val="solid"/>
          </a:ln>
          <a:effectLst>
            <a:outerShdw sx="100000" sy="100000" kx="0" ky="0" algn="bl" rotWithShape="0" blurRad="76200" dist="25400" dir="5400000">
              <a:srgbClr val="1B6FB0">
                <a:alpha val="12000"/>
              </a:srgbClr>
            </a:outerShdw>
          </a:effectLst>
        </p:spPr>
      </p:sp>
      <p:sp>
        <p:nvSpPr>
          <p:cNvPr id="20" name="Shape 13"/>
          <p:cNvSpPr/>
          <p:nvPr/>
        </p:nvSpPr>
        <p:spPr>
          <a:xfrm>
            <a:off x="7313486" y="2093976"/>
            <a:ext cx="420624" cy="420624"/>
          </a:xfrm>
          <a:prstGeom prst="ellipse">
            <a:avLst/>
          </a:prstGeom>
          <a:solidFill>
            <a:srgbClr val="2E86C7"/>
          </a:solidFill>
          <a:ln/>
        </p:spPr>
      </p:sp>
      <p:pic>
        <p:nvPicPr>
          <p:cNvPr id="21" name="Image 4" descr="/tmp/claude-0/-home-user-riesgo/0ff9ff46-1396-5bd8-b3ac-2280dfbbbc55/scratchpad/work/gen/icons/clipboard_check_white.png">    </p:cNvPr>
          <p:cNvPicPr>
            <a:picLocks noChangeAspect="1"/>
          </p:cNvPicPr>
          <p:nvPr/>
        </p:nvPicPr>
        <p:blipFill>
          <a:blip r:embed="rId5"/>
          <a:stretch>
            <a:fillRect/>
          </a:stretch>
        </p:blipFill>
        <p:spPr>
          <a:xfrm>
            <a:off x="7414435" y="2194926"/>
            <a:ext cx="218724" cy="218724"/>
          </a:xfrm>
          <a:prstGeom prst="rect">
            <a:avLst/>
          </a:prstGeom>
        </p:spPr>
      </p:pic>
      <p:sp>
        <p:nvSpPr>
          <p:cNvPr id="22" name="Shape 14"/>
          <p:cNvSpPr/>
          <p:nvPr/>
        </p:nvSpPr>
        <p:spPr>
          <a:xfrm>
            <a:off x="7192785" y="2006194"/>
            <a:ext cx="219456" cy="219456"/>
          </a:xfrm>
          <a:prstGeom prst="ellipse">
            <a:avLst/>
          </a:prstGeom>
          <a:solidFill>
            <a:srgbClr val="FFFFFF"/>
          </a:solidFill>
          <a:ln w="15875">
            <a:solidFill>
              <a:srgbClr val="1B6FB0"/>
            </a:solidFill>
            <a:prstDash val="solid"/>
          </a:ln>
        </p:spPr>
      </p:sp>
      <p:sp>
        <p:nvSpPr>
          <p:cNvPr id="23" name="Text 15"/>
          <p:cNvSpPr txBox="1"/>
          <p:nvPr/>
        </p:nvSpPr>
        <p:spPr>
          <a:xfrm>
            <a:off x="7192785" y="2006194"/>
            <a:ext cx="219456" cy="219456"/>
          </a:xfrm>
          <a:prstGeom prst="rect">
            <a:avLst/>
          </a:prstGeom>
          <a:noFill/>
          <a:ln/>
        </p:spPr>
        <p:txBody>
          <a:bodyPr wrap="square" lIns="0" tIns="0" rIns="0" bIns="0" rtlCol="0" anchor="ctr"/>
          <a:lstStyle/>
          <a:p>
            <a:pPr algn="ctr" indent="0" marL="0">
              <a:buNone/>
            </a:pPr>
            <a:r>
              <a:rPr lang="en-US" sz="1050" b="1" dirty="0">
                <a:solidFill>
                  <a:srgbClr val="14508C"/>
                </a:solidFill>
                <a:latin typeface="Cambria" pitchFamily="34" charset="0"/>
                <a:ea typeface="Cambria" pitchFamily="34" charset="-122"/>
                <a:cs typeface="Cambria" pitchFamily="34" charset="-120"/>
              </a:rPr>
              <a:t>3</a:t>
            </a:r>
            <a:endParaRPr lang="en-US" sz="1050" dirty="0"/>
          </a:p>
        </p:txBody>
      </p:sp>
      <p:sp>
        <p:nvSpPr>
          <p:cNvPr id="24" name="Text 16"/>
          <p:cNvSpPr txBox="1"/>
          <p:nvPr/>
        </p:nvSpPr>
        <p:spPr>
          <a:xfrm>
            <a:off x="6370168" y="2606040"/>
            <a:ext cx="2307260" cy="457200"/>
          </a:xfrm>
          <a:prstGeom prst="rect">
            <a:avLst/>
          </a:prstGeom>
          <a:noFill/>
          <a:ln/>
        </p:spPr>
        <p:txBody>
          <a:bodyPr wrap="square" lIns="0" tIns="0" rIns="0" bIns="0" rtlCol="0" anchor="t"/>
          <a:lstStyle/>
          <a:p>
            <a:pPr algn="ctr" indent="0" marL="0">
              <a:lnSpc>
                <a:spcPct val="105000"/>
              </a:lnSpc>
              <a:buNone/>
            </a:pPr>
            <a:r>
              <a:rPr lang="en-US" sz="1100" b="1" dirty="0">
                <a:solidFill>
                  <a:srgbClr val="14508C"/>
                </a:solidFill>
                <a:latin typeface="Calibri" pitchFamily="34" charset="0"/>
                <a:ea typeface="Calibri" pitchFamily="34" charset="-122"/>
                <a:cs typeface="Calibri" pitchFamily="34" charset="-120"/>
              </a:rPr>
              <a:t>VALIDAR CRITERIOS</a:t>
            </a:r>
            <a:endParaRPr lang="en-US" sz="1100" dirty="0"/>
          </a:p>
          <a:p>
            <a:pPr algn="ctr" indent="0" marL="0">
              <a:lnSpc>
                <a:spcPct val="105000"/>
              </a:lnSpc>
              <a:buNone/>
            </a:pPr>
            <a:r>
              <a:rPr lang="en-US" sz="1100" b="1" dirty="0">
                <a:solidFill>
                  <a:srgbClr val="14508C"/>
                </a:solidFill>
                <a:latin typeface="Calibri" pitchFamily="34" charset="0"/>
                <a:ea typeface="Calibri" pitchFamily="34" charset="-122"/>
                <a:cs typeface="Calibri" pitchFamily="34" charset="-120"/>
              </a:rPr>
              <a:t>DE CRITICIDAD</a:t>
            </a:r>
            <a:endParaRPr lang="en-US" sz="1100" dirty="0"/>
          </a:p>
        </p:txBody>
      </p:sp>
      <p:pic>
        <p:nvPicPr>
          <p:cNvPr id="25" name="Image 5" descr="/tmp/claude-0/-home-user-riesgo/0ff9ff46-1396-5bd8-b3ac-2280dfbbbc55/scratchpad/work/gen/icons/check_circle_blue.png">    </p:cNvPr>
          <p:cNvPicPr>
            <a:picLocks noChangeAspect="1"/>
          </p:cNvPicPr>
          <p:nvPr/>
        </p:nvPicPr>
        <p:blipFill>
          <a:blip r:embed="rId6"/>
          <a:stretch>
            <a:fillRect/>
          </a:stretch>
        </p:blipFill>
        <p:spPr>
          <a:xfrm>
            <a:off x="6397600" y="3136392"/>
            <a:ext cx="128016" cy="128016"/>
          </a:xfrm>
          <a:prstGeom prst="rect">
            <a:avLst/>
          </a:prstGeom>
        </p:spPr>
      </p:pic>
      <p:sp>
        <p:nvSpPr>
          <p:cNvPr id="26" name="Text 17"/>
          <p:cNvSpPr txBox="1"/>
          <p:nvPr/>
        </p:nvSpPr>
        <p:spPr>
          <a:xfrm>
            <a:off x="6571336" y="3108960"/>
            <a:ext cx="2087804" cy="182880"/>
          </a:xfrm>
          <a:prstGeom prst="rect">
            <a:avLst/>
          </a:prstGeom>
          <a:noFill/>
          <a:ln/>
        </p:spPr>
        <p:txBody>
          <a:bodyPr wrap="square" lIns="0" tIns="0" rIns="0" bIns="0" rtlCol="0" anchor="ctr"/>
          <a:lstStyle/>
          <a:p>
            <a:pPr indent="0" marL="0">
              <a:lnSpc>
                <a:spcPct val="90000"/>
              </a:lnSpc>
              <a:buNone/>
            </a:pPr>
            <a:r>
              <a:rPr lang="en-US" sz="760" dirty="0">
                <a:solidFill>
                  <a:srgbClr val="14508C"/>
                </a:solidFill>
                <a:latin typeface="Calibri" pitchFamily="34" charset="0"/>
                <a:ea typeface="Calibri" pitchFamily="34" charset="-122"/>
                <a:cs typeface="Calibri" pitchFamily="34" charset="-120"/>
              </a:rPr>
              <a:t>Interrumpe procesos críticos</a:t>
            </a:r>
            <a:endParaRPr lang="en-US" sz="760" dirty="0"/>
          </a:p>
        </p:txBody>
      </p:sp>
      <p:pic>
        <p:nvPicPr>
          <p:cNvPr id="27" name="Image 6" descr="/tmp/claude-0/-home-user-riesgo/0ff9ff46-1396-5bd8-b3ac-2280dfbbbc55/scratchpad/work/gen/icons/check_circle_blue.png">    </p:cNvPr>
          <p:cNvPicPr>
            <a:picLocks noChangeAspect="1"/>
          </p:cNvPicPr>
          <p:nvPr/>
        </p:nvPicPr>
        <p:blipFill>
          <a:blip r:embed="rId7"/>
          <a:stretch>
            <a:fillRect/>
          </a:stretch>
        </p:blipFill>
        <p:spPr>
          <a:xfrm>
            <a:off x="6397600" y="3296412"/>
            <a:ext cx="128016" cy="128016"/>
          </a:xfrm>
          <a:prstGeom prst="rect">
            <a:avLst/>
          </a:prstGeom>
        </p:spPr>
      </p:pic>
      <p:sp>
        <p:nvSpPr>
          <p:cNvPr id="28" name="Text 18"/>
          <p:cNvSpPr txBox="1"/>
          <p:nvPr/>
        </p:nvSpPr>
        <p:spPr>
          <a:xfrm>
            <a:off x="6571336" y="3268980"/>
            <a:ext cx="2087804" cy="182880"/>
          </a:xfrm>
          <a:prstGeom prst="rect">
            <a:avLst/>
          </a:prstGeom>
          <a:noFill/>
          <a:ln/>
        </p:spPr>
        <p:txBody>
          <a:bodyPr wrap="square" lIns="0" tIns="0" rIns="0" bIns="0" rtlCol="0" anchor="ctr"/>
          <a:lstStyle/>
          <a:p>
            <a:pPr indent="0" marL="0">
              <a:lnSpc>
                <a:spcPct val="90000"/>
              </a:lnSpc>
              <a:buNone/>
            </a:pPr>
            <a:r>
              <a:rPr lang="en-US" sz="760" dirty="0">
                <a:solidFill>
                  <a:srgbClr val="14508C"/>
                </a:solidFill>
                <a:latin typeface="Calibri" pitchFamily="34" charset="0"/>
                <a:ea typeface="Calibri" pitchFamily="34" charset="-122"/>
                <a:cs typeface="Calibri" pitchFamily="34" charset="-120"/>
              </a:rPr>
              <a:t>Genera pérdidas significativas</a:t>
            </a:r>
            <a:endParaRPr lang="en-US" sz="760" dirty="0"/>
          </a:p>
        </p:txBody>
      </p:sp>
      <p:pic>
        <p:nvPicPr>
          <p:cNvPr id="29" name="Image 7" descr="/tmp/claude-0/-home-user-riesgo/0ff9ff46-1396-5bd8-b3ac-2280dfbbbc55/scratchpad/work/gen/icons/check_circle_blue.png">    </p:cNvPr>
          <p:cNvPicPr>
            <a:picLocks noChangeAspect="1"/>
          </p:cNvPicPr>
          <p:nvPr/>
        </p:nvPicPr>
        <p:blipFill>
          <a:blip r:embed="rId8"/>
          <a:stretch>
            <a:fillRect/>
          </a:stretch>
        </p:blipFill>
        <p:spPr>
          <a:xfrm>
            <a:off x="6397600" y="3456432"/>
            <a:ext cx="128016" cy="128016"/>
          </a:xfrm>
          <a:prstGeom prst="rect">
            <a:avLst/>
          </a:prstGeom>
        </p:spPr>
      </p:pic>
      <p:sp>
        <p:nvSpPr>
          <p:cNvPr id="30" name="Text 19"/>
          <p:cNvSpPr txBox="1"/>
          <p:nvPr/>
        </p:nvSpPr>
        <p:spPr>
          <a:xfrm>
            <a:off x="6571336" y="3429000"/>
            <a:ext cx="2087804" cy="182880"/>
          </a:xfrm>
          <a:prstGeom prst="rect">
            <a:avLst/>
          </a:prstGeom>
          <a:noFill/>
          <a:ln/>
        </p:spPr>
        <p:txBody>
          <a:bodyPr wrap="square" lIns="0" tIns="0" rIns="0" bIns="0" rtlCol="0" anchor="ctr"/>
          <a:lstStyle/>
          <a:p>
            <a:pPr indent="0" marL="0">
              <a:lnSpc>
                <a:spcPct val="90000"/>
              </a:lnSpc>
              <a:buNone/>
            </a:pPr>
            <a:r>
              <a:rPr lang="en-US" sz="760" dirty="0">
                <a:solidFill>
                  <a:srgbClr val="14508C"/>
                </a:solidFill>
                <a:latin typeface="Calibri" pitchFamily="34" charset="0"/>
                <a:ea typeface="Calibri" pitchFamily="34" charset="-122"/>
                <a:cs typeface="Calibri" pitchFamily="34" charset="-120"/>
              </a:rPr>
              <a:t>Afecta la imagen institucional</a:t>
            </a:r>
            <a:endParaRPr lang="en-US" sz="760" dirty="0"/>
          </a:p>
        </p:txBody>
      </p:sp>
      <p:pic>
        <p:nvPicPr>
          <p:cNvPr id="31" name="Image 8" descr="/tmp/claude-0/-home-user-riesgo/0ff9ff46-1396-5bd8-b3ac-2280dfbbbc55/scratchpad/work/gen/icons/check_circle_blue.png">    </p:cNvPr>
          <p:cNvPicPr>
            <a:picLocks noChangeAspect="1"/>
          </p:cNvPicPr>
          <p:nvPr/>
        </p:nvPicPr>
        <p:blipFill>
          <a:blip r:embed="rId9"/>
          <a:stretch>
            <a:fillRect/>
          </a:stretch>
        </p:blipFill>
        <p:spPr>
          <a:xfrm>
            <a:off x="6397600" y="3616452"/>
            <a:ext cx="128016" cy="128016"/>
          </a:xfrm>
          <a:prstGeom prst="rect">
            <a:avLst/>
          </a:prstGeom>
        </p:spPr>
      </p:pic>
      <p:sp>
        <p:nvSpPr>
          <p:cNvPr id="32" name="Text 20"/>
          <p:cNvSpPr txBox="1"/>
          <p:nvPr/>
        </p:nvSpPr>
        <p:spPr>
          <a:xfrm>
            <a:off x="6571336" y="3589020"/>
            <a:ext cx="2087804" cy="182880"/>
          </a:xfrm>
          <a:prstGeom prst="rect">
            <a:avLst/>
          </a:prstGeom>
          <a:noFill/>
          <a:ln/>
        </p:spPr>
        <p:txBody>
          <a:bodyPr wrap="square" lIns="0" tIns="0" rIns="0" bIns="0" rtlCol="0" anchor="ctr"/>
          <a:lstStyle/>
          <a:p>
            <a:pPr indent="0" marL="0">
              <a:lnSpc>
                <a:spcPct val="90000"/>
              </a:lnSpc>
              <a:buNone/>
            </a:pPr>
            <a:r>
              <a:rPr lang="en-US" sz="760" dirty="0">
                <a:solidFill>
                  <a:srgbClr val="14508C"/>
                </a:solidFill>
                <a:latin typeface="Calibri" pitchFamily="34" charset="0"/>
                <a:ea typeface="Calibri" pitchFamily="34" charset="-122"/>
                <a:cs typeface="Calibri" pitchFamily="34" charset="-120"/>
              </a:rPr>
              <a:t>Puede generar sanciones regulatorias</a:t>
            </a:r>
            <a:endParaRPr lang="en-US" sz="760" dirty="0"/>
          </a:p>
        </p:txBody>
      </p:sp>
      <p:pic>
        <p:nvPicPr>
          <p:cNvPr id="33" name="Image 9" descr="/tmp/claude-0/-home-user-riesgo/0ff9ff46-1396-5bd8-b3ac-2280dfbbbc55/scratchpad/work/gen/icons/check_circle_blue.png">    </p:cNvPr>
          <p:cNvPicPr>
            <a:picLocks noChangeAspect="1"/>
          </p:cNvPicPr>
          <p:nvPr/>
        </p:nvPicPr>
        <p:blipFill>
          <a:blip r:embed="rId10"/>
          <a:stretch>
            <a:fillRect/>
          </a:stretch>
        </p:blipFill>
        <p:spPr>
          <a:xfrm>
            <a:off x="6397600" y="3776472"/>
            <a:ext cx="128016" cy="128016"/>
          </a:xfrm>
          <a:prstGeom prst="rect">
            <a:avLst/>
          </a:prstGeom>
        </p:spPr>
      </p:pic>
      <p:sp>
        <p:nvSpPr>
          <p:cNvPr id="34" name="Text 21"/>
          <p:cNvSpPr txBox="1"/>
          <p:nvPr/>
        </p:nvSpPr>
        <p:spPr>
          <a:xfrm>
            <a:off x="6571336" y="3749040"/>
            <a:ext cx="2087804" cy="182880"/>
          </a:xfrm>
          <a:prstGeom prst="rect">
            <a:avLst/>
          </a:prstGeom>
          <a:noFill/>
          <a:ln/>
        </p:spPr>
        <p:txBody>
          <a:bodyPr wrap="square" lIns="0" tIns="0" rIns="0" bIns="0" rtlCol="0" anchor="ctr"/>
          <a:lstStyle/>
          <a:p>
            <a:pPr indent="0" marL="0">
              <a:lnSpc>
                <a:spcPct val="90000"/>
              </a:lnSpc>
              <a:buNone/>
            </a:pPr>
            <a:r>
              <a:rPr lang="en-US" sz="760" dirty="0">
                <a:solidFill>
                  <a:srgbClr val="14508C"/>
                </a:solidFill>
                <a:latin typeface="Calibri" pitchFamily="34" charset="0"/>
                <a:ea typeface="Calibri" pitchFamily="34" charset="-122"/>
                <a:cs typeface="Calibri" pitchFamily="34" charset="-120"/>
              </a:rPr>
              <a:t>Cambio de proveedor complejo o costoso</a:t>
            </a:r>
            <a:endParaRPr lang="en-US" sz="760" dirty="0"/>
          </a:p>
        </p:txBody>
      </p:sp>
      <p:pic>
        <p:nvPicPr>
          <p:cNvPr id="35" name="Image 10" descr="/tmp/claude-0/-home-user-riesgo/0ff9ff46-1396-5bd8-b3ac-2280dfbbbc55/scratchpad/work/gen/icons/arrow_right_blue.png">    </p:cNvPr>
          <p:cNvPicPr>
            <a:picLocks noChangeAspect="1"/>
          </p:cNvPicPr>
          <p:nvPr/>
        </p:nvPicPr>
        <p:blipFill>
          <a:blip r:embed="rId11"/>
          <a:stretch>
            <a:fillRect/>
          </a:stretch>
        </p:blipFill>
        <p:spPr>
          <a:xfrm>
            <a:off x="8832875" y="2875788"/>
            <a:ext cx="237744" cy="237744"/>
          </a:xfrm>
          <a:prstGeom prst="rect">
            <a:avLst/>
          </a:prstGeom>
        </p:spPr>
      </p:pic>
      <p:sp>
        <p:nvSpPr>
          <p:cNvPr id="36" name="Shape 22"/>
          <p:cNvSpPr/>
          <p:nvPr/>
        </p:nvSpPr>
        <p:spPr>
          <a:xfrm>
            <a:off x="9134627" y="1965960"/>
            <a:ext cx="2490140" cy="2057400"/>
          </a:xfrm>
          <a:prstGeom prst="roundRect">
            <a:avLst>
              <a:gd name="adj" fmla="val 4444"/>
            </a:avLst>
          </a:prstGeom>
          <a:solidFill>
            <a:srgbClr val="EAF3FB"/>
          </a:solidFill>
          <a:ln w="12700">
            <a:solidFill>
              <a:srgbClr val="1B6FB0"/>
            </a:solidFill>
            <a:prstDash val="solid"/>
          </a:ln>
          <a:effectLst>
            <a:outerShdw sx="100000" sy="100000" kx="0" ky="0" algn="bl" rotWithShape="0" blurRad="76200" dist="25400" dir="5400000">
              <a:srgbClr val="1B6FB0">
                <a:alpha val="12000"/>
              </a:srgbClr>
            </a:outerShdw>
          </a:effectLst>
        </p:spPr>
      </p:sp>
      <p:sp>
        <p:nvSpPr>
          <p:cNvPr id="37" name="Shape 23"/>
          <p:cNvSpPr/>
          <p:nvPr/>
        </p:nvSpPr>
        <p:spPr>
          <a:xfrm>
            <a:off x="10169385" y="2093976"/>
            <a:ext cx="420624" cy="420624"/>
          </a:xfrm>
          <a:prstGeom prst="ellipse">
            <a:avLst/>
          </a:prstGeom>
          <a:solidFill>
            <a:srgbClr val="2E86C7"/>
          </a:solidFill>
          <a:ln/>
        </p:spPr>
      </p:sp>
      <p:pic>
        <p:nvPicPr>
          <p:cNvPr id="38" name="Image 11" descr="/tmp/claude-0/-home-user-riesgo/0ff9ff46-1396-5bd8-b3ac-2280dfbbbc55/scratchpad/work/gen/icons/shield_check_white.png">    </p:cNvPr>
          <p:cNvPicPr>
            <a:picLocks noChangeAspect="1"/>
          </p:cNvPicPr>
          <p:nvPr/>
        </p:nvPicPr>
        <p:blipFill>
          <a:blip r:embed="rId12"/>
          <a:stretch>
            <a:fillRect/>
          </a:stretch>
        </p:blipFill>
        <p:spPr>
          <a:xfrm>
            <a:off x="10270335" y="2194926"/>
            <a:ext cx="218724" cy="218724"/>
          </a:xfrm>
          <a:prstGeom prst="rect">
            <a:avLst/>
          </a:prstGeom>
        </p:spPr>
      </p:pic>
      <p:sp>
        <p:nvSpPr>
          <p:cNvPr id="39" name="Shape 24"/>
          <p:cNvSpPr/>
          <p:nvPr/>
        </p:nvSpPr>
        <p:spPr>
          <a:xfrm>
            <a:off x="10048685" y="2006194"/>
            <a:ext cx="219456" cy="219456"/>
          </a:xfrm>
          <a:prstGeom prst="ellipse">
            <a:avLst/>
          </a:prstGeom>
          <a:solidFill>
            <a:srgbClr val="FFFFFF"/>
          </a:solidFill>
          <a:ln w="15875">
            <a:solidFill>
              <a:srgbClr val="1B6FB0"/>
            </a:solidFill>
            <a:prstDash val="solid"/>
          </a:ln>
        </p:spPr>
      </p:sp>
      <p:sp>
        <p:nvSpPr>
          <p:cNvPr id="40" name="Text 25"/>
          <p:cNvSpPr txBox="1"/>
          <p:nvPr/>
        </p:nvSpPr>
        <p:spPr>
          <a:xfrm>
            <a:off x="10048685" y="2006194"/>
            <a:ext cx="219456" cy="219456"/>
          </a:xfrm>
          <a:prstGeom prst="rect">
            <a:avLst/>
          </a:prstGeom>
          <a:noFill/>
          <a:ln/>
        </p:spPr>
        <p:txBody>
          <a:bodyPr wrap="square" lIns="0" tIns="0" rIns="0" bIns="0" rtlCol="0" anchor="ctr"/>
          <a:lstStyle/>
          <a:p>
            <a:pPr algn="ctr" indent="0" marL="0">
              <a:buNone/>
            </a:pPr>
            <a:r>
              <a:rPr lang="en-US" sz="1050" b="1" dirty="0">
                <a:solidFill>
                  <a:srgbClr val="14508C"/>
                </a:solidFill>
                <a:latin typeface="Cambria" pitchFamily="34" charset="0"/>
                <a:ea typeface="Cambria" pitchFamily="34" charset="-122"/>
                <a:cs typeface="Cambria" pitchFamily="34" charset="-120"/>
              </a:rPr>
              <a:t>4</a:t>
            </a:r>
            <a:endParaRPr lang="en-US" sz="1050" dirty="0"/>
          </a:p>
        </p:txBody>
      </p:sp>
      <p:sp>
        <p:nvSpPr>
          <p:cNvPr id="41" name="Text 26"/>
          <p:cNvSpPr txBox="1"/>
          <p:nvPr/>
        </p:nvSpPr>
        <p:spPr>
          <a:xfrm>
            <a:off x="9226067" y="2606040"/>
            <a:ext cx="2307260" cy="1344168"/>
          </a:xfrm>
          <a:prstGeom prst="rect">
            <a:avLst/>
          </a:prstGeom>
          <a:noFill/>
          <a:ln/>
        </p:spPr>
        <p:txBody>
          <a:bodyPr wrap="square" lIns="0" tIns="0" rIns="0" bIns="0" rtlCol="0" anchor="t"/>
          <a:lstStyle/>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SOLICITAR EVALUACIÓN AL</a:t>
            </a:r>
            <a:endParaRPr lang="en-US" sz="1150" dirty="0"/>
          </a:p>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DEPTO. DE ADMÓN. DE RIESGOS</a:t>
            </a:r>
            <a:endParaRPr lang="en-US" sz="1150" dirty="0"/>
          </a:p>
        </p:txBody>
      </p:sp>
      <p:pic>
        <p:nvPicPr>
          <p:cNvPr id="42" name="Image 12" descr="/tmp/claude-0/-home-user-riesgo/0ff9ff46-1396-5bd8-b3ac-2280dfbbbc55/scratchpad/work/gen/icons/arrow_down_blue.png">    </p:cNvPr>
          <p:cNvPicPr>
            <a:picLocks noChangeAspect="1"/>
          </p:cNvPicPr>
          <p:nvPr/>
        </p:nvPicPr>
        <p:blipFill>
          <a:blip r:embed="rId13"/>
          <a:stretch>
            <a:fillRect/>
          </a:stretch>
        </p:blipFill>
        <p:spPr>
          <a:xfrm>
            <a:off x="4567314" y="4078224"/>
            <a:ext cx="201168" cy="201168"/>
          </a:xfrm>
          <a:prstGeom prst="rect">
            <a:avLst/>
          </a:prstGeom>
        </p:spPr>
      </p:pic>
      <p:sp>
        <p:nvSpPr>
          <p:cNvPr id="43" name="Text 27"/>
          <p:cNvSpPr txBox="1"/>
          <p:nvPr/>
        </p:nvSpPr>
        <p:spPr>
          <a:xfrm>
            <a:off x="4795914" y="4050792"/>
            <a:ext cx="457200" cy="237744"/>
          </a:xfrm>
          <a:prstGeom prst="rect">
            <a:avLst/>
          </a:prstGeom>
          <a:noFill/>
          <a:ln/>
        </p:spPr>
        <p:txBody>
          <a:bodyPr wrap="square" lIns="0" tIns="0" rIns="0" bIns="0" rtlCol="0" anchor="ctr"/>
          <a:lstStyle/>
          <a:p>
            <a:pPr indent="0" marL="0">
              <a:buNone/>
            </a:pPr>
            <a:r>
              <a:rPr lang="en-US" sz="1050" b="1" dirty="0">
                <a:solidFill>
                  <a:srgbClr val="2E86C7"/>
                </a:solidFill>
                <a:latin typeface="Calibri" pitchFamily="34" charset="0"/>
                <a:ea typeface="Calibri" pitchFamily="34" charset="-122"/>
                <a:cs typeface="Calibri" pitchFamily="34" charset="-120"/>
              </a:rPr>
              <a:t>NO</a:t>
            </a:r>
            <a:endParaRPr lang="en-US" sz="1050" dirty="0"/>
          </a:p>
        </p:txBody>
      </p:sp>
      <p:sp>
        <p:nvSpPr>
          <p:cNvPr id="44" name="Shape 28"/>
          <p:cNvSpPr/>
          <p:nvPr/>
        </p:nvSpPr>
        <p:spPr>
          <a:xfrm>
            <a:off x="3422828" y="4334256"/>
            <a:ext cx="2490140" cy="384048"/>
          </a:xfrm>
          <a:prstGeom prst="roundRect">
            <a:avLst>
              <a:gd name="adj" fmla="val 50000"/>
            </a:avLst>
          </a:prstGeom>
          <a:solidFill>
            <a:srgbClr val="FFFFFF"/>
          </a:solidFill>
          <a:ln w="12700">
            <a:solidFill>
              <a:srgbClr val="2E86C7"/>
            </a:solidFill>
            <a:prstDash val="dash"/>
          </a:ln>
        </p:spPr>
      </p:sp>
      <p:sp>
        <p:nvSpPr>
          <p:cNvPr id="45" name="Text 29"/>
          <p:cNvSpPr txBox="1"/>
          <p:nvPr/>
        </p:nvSpPr>
        <p:spPr>
          <a:xfrm>
            <a:off x="3514268" y="4334256"/>
            <a:ext cx="2307260" cy="384048"/>
          </a:xfrm>
          <a:prstGeom prst="rect">
            <a:avLst/>
          </a:prstGeom>
          <a:noFill/>
          <a:ln/>
        </p:spPr>
        <p:txBody>
          <a:bodyPr wrap="square" lIns="0" tIns="0" rIns="0" bIns="0" rtlCol="0" anchor="ctr"/>
          <a:lstStyle/>
          <a:p>
            <a:pPr algn="ctr" indent="0" marL="0">
              <a:lnSpc>
                <a:spcPct val="100000"/>
              </a:lnSpc>
              <a:buNone/>
            </a:pPr>
            <a:r>
              <a:rPr lang="en-US" sz="860" b="1" dirty="0">
                <a:solidFill>
                  <a:srgbClr val="14508C"/>
                </a:solidFill>
                <a:latin typeface="Calibri" pitchFamily="34" charset="0"/>
                <a:ea typeface="Calibri" pitchFamily="34" charset="-122"/>
                <a:cs typeface="Calibri" pitchFamily="34" charset="-120"/>
              </a:rPr>
              <a:t>Servicio No Crítico — </a:t>
            </a:r>
            <a:pPr algn="ctr" indent="0" marL="0">
              <a:lnSpc>
                <a:spcPct val="100000"/>
              </a:lnSpc>
              <a:buNone/>
            </a:pPr>
            <a:r>
              <a:rPr lang="en-US" sz="860" dirty="0">
                <a:solidFill>
                  <a:srgbClr val="5B6B82"/>
                </a:solidFill>
                <a:latin typeface="Calibri" pitchFamily="34" charset="0"/>
                <a:ea typeface="Calibri" pitchFamily="34" charset="-122"/>
                <a:cs typeface="Calibri" pitchFamily="34" charset="-120"/>
              </a:rPr>
              <a:t>continúa proceso normal</a:t>
            </a:r>
            <a:endParaRPr lang="en-US" sz="860" dirty="0"/>
          </a:p>
        </p:txBody>
      </p:sp>
      <p:sp>
        <p:nvSpPr>
          <p:cNvPr id="46" name="Text 30"/>
          <p:cNvSpPr txBox="1"/>
          <p:nvPr/>
        </p:nvSpPr>
        <p:spPr>
          <a:xfrm>
            <a:off x="5949544" y="2610612"/>
            <a:ext cx="365760" cy="219456"/>
          </a:xfrm>
          <a:prstGeom prst="rect">
            <a:avLst/>
          </a:prstGeom>
          <a:noFill/>
          <a:ln/>
        </p:spPr>
        <p:txBody>
          <a:bodyPr wrap="square" lIns="0" tIns="0" rIns="0" bIns="0" rtlCol="0" anchor="ctr"/>
          <a:lstStyle/>
          <a:p>
            <a:pPr algn="ctr" indent="0" marL="0">
              <a:buNone/>
            </a:pPr>
            <a:r>
              <a:rPr lang="en-US" sz="1050" b="1" dirty="0">
                <a:solidFill>
                  <a:srgbClr val="2E86C7"/>
                </a:solidFill>
                <a:latin typeface="Calibri" pitchFamily="34" charset="0"/>
                <a:ea typeface="Calibri" pitchFamily="34" charset="-122"/>
                <a:cs typeface="Calibri" pitchFamily="34" charset="-120"/>
              </a:rPr>
              <a:t>SÍ</a:t>
            </a:r>
            <a:endParaRPr lang="en-US" sz="1050" dirty="0"/>
          </a:p>
        </p:txBody>
      </p:sp>
      <p:pic>
        <p:nvPicPr>
          <p:cNvPr id="47" name="Image 13" descr="/tmp/claude-0/-home-user-riesgo/0ff9ff46-1396-5bd8-b3ac-2280dfbbbc55/scratchpad/work/gen/icons/arrow_down_blue.png">    </p:cNvPr>
          <p:cNvPicPr>
            <a:picLocks noChangeAspect="1"/>
          </p:cNvPicPr>
          <p:nvPr/>
        </p:nvPicPr>
        <p:blipFill>
          <a:blip r:embed="rId14"/>
          <a:stretch>
            <a:fillRect/>
          </a:stretch>
        </p:blipFill>
        <p:spPr>
          <a:xfrm>
            <a:off x="10260825" y="4233672"/>
            <a:ext cx="237744" cy="237744"/>
          </a:xfrm>
          <a:prstGeom prst="rect">
            <a:avLst/>
          </a:prstGeom>
        </p:spPr>
      </p:pic>
      <p:sp>
        <p:nvSpPr>
          <p:cNvPr id="48" name="Shape 31"/>
          <p:cNvSpPr/>
          <p:nvPr/>
        </p:nvSpPr>
        <p:spPr>
          <a:xfrm>
            <a:off x="9134627" y="4681728"/>
            <a:ext cx="2490140" cy="1463040"/>
          </a:xfrm>
          <a:prstGeom prst="roundRect">
            <a:avLst>
              <a:gd name="adj" fmla="val 6250"/>
            </a:avLst>
          </a:prstGeom>
          <a:solidFill>
            <a:srgbClr val="EAF3FB"/>
          </a:solidFill>
          <a:ln w="12700">
            <a:solidFill>
              <a:srgbClr val="1B6FB0"/>
            </a:solidFill>
            <a:prstDash val="solid"/>
          </a:ln>
          <a:effectLst>
            <a:outerShdw sx="100000" sy="100000" kx="0" ky="0" algn="bl" rotWithShape="0" blurRad="76200" dist="25400" dir="5400000">
              <a:srgbClr val="1B6FB0">
                <a:alpha val="12000"/>
              </a:srgbClr>
            </a:outerShdw>
          </a:effectLst>
        </p:spPr>
      </p:sp>
      <p:sp>
        <p:nvSpPr>
          <p:cNvPr id="49" name="Shape 32"/>
          <p:cNvSpPr/>
          <p:nvPr/>
        </p:nvSpPr>
        <p:spPr>
          <a:xfrm>
            <a:off x="10169385" y="4809744"/>
            <a:ext cx="420624" cy="420624"/>
          </a:xfrm>
          <a:prstGeom prst="ellipse">
            <a:avLst/>
          </a:prstGeom>
          <a:solidFill>
            <a:srgbClr val="2E86C7"/>
          </a:solidFill>
          <a:ln/>
        </p:spPr>
      </p:sp>
      <p:pic>
        <p:nvPicPr>
          <p:cNvPr id="50" name="Image 14" descr="/tmp/claude-0/-home-user-riesgo/0ff9ff46-1396-5bd8-b3ac-2280dfbbbc55/scratchpad/work/gen/icons/handshake_white.png">    </p:cNvPr>
          <p:cNvPicPr>
            <a:picLocks noChangeAspect="1"/>
          </p:cNvPicPr>
          <p:nvPr/>
        </p:nvPicPr>
        <p:blipFill>
          <a:blip r:embed="rId15"/>
          <a:stretch>
            <a:fillRect/>
          </a:stretch>
        </p:blipFill>
        <p:spPr>
          <a:xfrm>
            <a:off x="10270335" y="4910694"/>
            <a:ext cx="218724" cy="218724"/>
          </a:xfrm>
          <a:prstGeom prst="rect">
            <a:avLst/>
          </a:prstGeom>
        </p:spPr>
      </p:pic>
      <p:sp>
        <p:nvSpPr>
          <p:cNvPr id="51" name="Shape 33"/>
          <p:cNvSpPr/>
          <p:nvPr/>
        </p:nvSpPr>
        <p:spPr>
          <a:xfrm>
            <a:off x="10048685" y="4721962"/>
            <a:ext cx="219456" cy="219456"/>
          </a:xfrm>
          <a:prstGeom prst="ellipse">
            <a:avLst/>
          </a:prstGeom>
          <a:solidFill>
            <a:srgbClr val="FFFFFF"/>
          </a:solidFill>
          <a:ln w="15875">
            <a:solidFill>
              <a:srgbClr val="1B6FB0"/>
            </a:solidFill>
            <a:prstDash val="solid"/>
          </a:ln>
        </p:spPr>
      </p:sp>
      <p:sp>
        <p:nvSpPr>
          <p:cNvPr id="52" name="Text 34"/>
          <p:cNvSpPr txBox="1"/>
          <p:nvPr/>
        </p:nvSpPr>
        <p:spPr>
          <a:xfrm>
            <a:off x="10048685" y="4721962"/>
            <a:ext cx="219456" cy="219456"/>
          </a:xfrm>
          <a:prstGeom prst="rect">
            <a:avLst/>
          </a:prstGeom>
          <a:noFill/>
          <a:ln/>
        </p:spPr>
        <p:txBody>
          <a:bodyPr wrap="square" lIns="0" tIns="0" rIns="0" bIns="0" rtlCol="0" anchor="ctr"/>
          <a:lstStyle/>
          <a:p>
            <a:pPr algn="ctr" indent="0" marL="0">
              <a:buNone/>
            </a:pPr>
            <a:r>
              <a:rPr lang="en-US" sz="1050" b="1" dirty="0">
                <a:solidFill>
                  <a:srgbClr val="14508C"/>
                </a:solidFill>
                <a:latin typeface="Cambria" pitchFamily="34" charset="0"/>
                <a:ea typeface="Cambria" pitchFamily="34" charset="-122"/>
                <a:cs typeface="Cambria" pitchFamily="34" charset="-120"/>
              </a:rPr>
              <a:t>5</a:t>
            </a:r>
            <a:endParaRPr lang="en-US" sz="1050" dirty="0"/>
          </a:p>
        </p:txBody>
      </p:sp>
      <p:sp>
        <p:nvSpPr>
          <p:cNvPr id="53" name="Text 35"/>
          <p:cNvSpPr txBox="1"/>
          <p:nvPr/>
        </p:nvSpPr>
        <p:spPr>
          <a:xfrm>
            <a:off x="9226067" y="5321808"/>
            <a:ext cx="2307260" cy="749808"/>
          </a:xfrm>
          <a:prstGeom prst="rect">
            <a:avLst/>
          </a:prstGeom>
          <a:noFill/>
          <a:ln/>
        </p:spPr>
        <p:txBody>
          <a:bodyPr wrap="square" lIns="0" tIns="0" rIns="0" bIns="0" rtlCol="0" anchor="t"/>
          <a:lstStyle/>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REUNIÓN DE</a:t>
            </a:r>
            <a:endParaRPr lang="en-US" sz="1150" dirty="0"/>
          </a:p>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EVALUACIÓN CONJUNTA</a:t>
            </a:r>
            <a:endParaRPr lang="en-US" sz="1150" dirty="0"/>
          </a:p>
        </p:txBody>
      </p:sp>
      <p:pic>
        <p:nvPicPr>
          <p:cNvPr id="54" name="Image 15" descr="/tmp/claude-0/-home-user-riesgo/0ff9ff46-1396-5bd8-b3ac-2280dfbbbc55/scratchpad/work/gen/icons/arrow_right_blue.png">    </p:cNvPr>
          <p:cNvPicPr>
            <a:picLocks noChangeAspect="1"/>
          </p:cNvPicPr>
          <p:nvPr/>
        </p:nvPicPr>
        <p:blipFill>
          <a:blip r:embed="rId16"/>
          <a:stretch>
            <a:fillRect/>
          </a:stretch>
        </p:blipFill>
        <p:spPr>
          <a:xfrm rot="10800000">
            <a:off x="8832875" y="5294376"/>
            <a:ext cx="237744" cy="237744"/>
          </a:xfrm>
          <a:prstGeom prst="rect">
            <a:avLst/>
          </a:prstGeom>
        </p:spPr>
      </p:pic>
      <p:sp>
        <p:nvSpPr>
          <p:cNvPr id="55" name="Shape 36"/>
          <p:cNvSpPr/>
          <p:nvPr/>
        </p:nvSpPr>
        <p:spPr>
          <a:xfrm>
            <a:off x="6278728" y="4681728"/>
            <a:ext cx="2490140" cy="1463040"/>
          </a:xfrm>
          <a:prstGeom prst="roundRect">
            <a:avLst>
              <a:gd name="adj" fmla="val 6250"/>
            </a:avLst>
          </a:prstGeom>
          <a:solidFill>
            <a:srgbClr val="EAF3FB"/>
          </a:solidFill>
          <a:ln w="12700">
            <a:solidFill>
              <a:srgbClr val="1B6FB0"/>
            </a:solidFill>
            <a:prstDash val="solid"/>
          </a:ln>
          <a:effectLst>
            <a:outerShdw sx="100000" sy="100000" kx="0" ky="0" algn="bl" rotWithShape="0" blurRad="76200" dist="25400" dir="5400000">
              <a:srgbClr val="1B6FB0">
                <a:alpha val="12000"/>
              </a:srgbClr>
            </a:outerShdw>
          </a:effectLst>
        </p:spPr>
      </p:sp>
      <p:sp>
        <p:nvSpPr>
          <p:cNvPr id="56" name="Shape 37"/>
          <p:cNvSpPr/>
          <p:nvPr/>
        </p:nvSpPr>
        <p:spPr>
          <a:xfrm>
            <a:off x="7313486" y="4809744"/>
            <a:ext cx="420624" cy="420624"/>
          </a:xfrm>
          <a:prstGeom prst="ellipse">
            <a:avLst/>
          </a:prstGeom>
          <a:solidFill>
            <a:srgbClr val="2E86C7"/>
          </a:solidFill>
          <a:ln/>
        </p:spPr>
      </p:sp>
      <p:pic>
        <p:nvPicPr>
          <p:cNvPr id="57" name="Image 16" descr="/tmp/claude-0/-home-user-riesgo/0ff9ff46-1396-5bd8-b3ac-2280dfbbbc55/scratchpad/work/gen/icons/form_white.png">    </p:cNvPr>
          <p:cNvPicPr>
            <a:picLocks noChangeAspect="1"/>
          </p:cNvPicPr>
          <p:nvPr/>
        </p:nvPicPr>
        <p:blipFill>
          <a:blip r:embed="rId17"/>
          <a:stretch>
            <a:fillRect/>
          </a:stretch>
        </p:blipFill>
        <p:spPr>
          <a:xfrm>
            <a:off x="7414435" y="4910694"/>
            <a:ext cx="218724" cy="218724"/>
          </a:xfrm>
          <a:prstGeom prst="rect">
            <a:avLst/>
          </a:prstGeom>
        </p:spPr>
      </p:pic>
      <p:sp>
        <p:nvSpPr>
          <p:cNvPr id="58" name="Shape 38"/>
          <p:cNvSpPr/>
          <p:nvPr/>
        </p:nvSpPr>
        <p:spPr>
          <a:xfrm>
            <a:off x="7192785" y="4721962"/>
            <a:ext cx="219456" cy="219456"/>
          </a:xfrm>
          <a:prstGeom prst="ellipse">
            <a:avLst/>
          </a:prstGeom>
          <a:solidFill>
            <a:srgbClr val="FFFFFF"/>
          </a:solidFill>
          <a:ln w="15875">
            <a:solidFill>
              <a:srgbClr val="1B6FB0"/>
            </a:solidFill>
            <a:prstDash val="solid"/>
          </a:ln>
        </p:spPr>
      </p:sp>
      <p:sp>
        <p:nvSpPr>
          <p:cNvPr id="59" name="Text 39"/>
          <p:cNvSpPr txBox="1"/>
          <p:nvPr/>
        </p:nvSpPr>
        <p:spPr>
          <a:xfrm>
            <a:off x="7192785" y="4721962"/>
            <a:ext cx="219456" cy="219456"/>
          </a:xfrm>
          <a:prstGeom prst="rect">
            <a:avLst/>
          </a:prstGeom>
          <a:noFill/>
          <a:ln/>
        </p:spPr>
        <p:txBody>
          <a:bodyPr wrap="square" lIns="0" tIns="0" rIns="0" bIns="0" rtlCol="0" anchor="ctr"/>
          <a:lstStyle/>
          <a:p>
            <a:pPr algn="ctr" indent="0" marL="0">
              <a:buNone/>
            </a:pPr>
            <a:r>
              <a:rPr lang="en-US" sz="1050" b="1" dirty="0">
                <a:solidFill>
                  <a:srgbClr val="14508C"/>
                </a:solidFill>
                <a:latin typeface="Cambria" pitchFamily="34" charset="0"/>
                <a:ea typeface="Cambria" pitchFamily="34" charset="-122"/>
                <a:cs typeface="Cambria" pitchFamily="34" charset="-120"/>
              </a:rPr>
              <a:t>6</a:t>
            </a:r>
            <a:endParaRPr lang="en-US" sz="1050" dirty="0"/>
          </a:p>
        </p:txBody>
      </p:sp>
      <p:sp>
        <p:nvSpPr>
          <p:cNvPr id="60" name="Text 40"/>
          <p:cNvSpPr txBox="1"/>
          <p:nvPr/>
        </p:nvSpPr>
        <p:spPr>
          <a:xfrm>
            <a:off x="6370168" y="5321808"/>
            <a:ext cx="2307260" cy="749808"/>
          </a:xfrm>
          <a:prstGeom prst="rect">
            <a:avLst/>
          </a:prstGeom>
          <a:noFill/>
          <a:ln/>
        </p:spPr>
        <p:txBody>
          <a:bodyPr wrap="square" lIns="0" tIns="0" rIns="0" bIns="0" rtlCol="0" anchor="t"/>
          <a:lstStyle/>
          <a:p>
            <a:pPr algn="ctr" indent="0" marL="0">
              <a:lnSpc>
                <a:spcPct val="105000"/>
              </a:lnSpc>
              <a:buNone/>
            </a:pPr>
            <a:r>
              <a:rPr lang="en-US" sz="1050" b="1" dirty="0">
                <a:solidFill>
                  <a:srgbClr val="14508C"/>
                </a:solidFill>
                <a:latin typeface="Calibri" pitchFamily="34" charset="0"/>
                <a:ea typeface="Calibri" pitchFamily="34" charset="-122"/>
                <a:cs typeface="Calibri" pitchFamily="34" charset="-120"/>
              </a:rPr>
              <a:t>COMPLETAR FORMULARIO</a:t>
            </a:r>
            <a:endParaRPr lang="en-US" sz="1050" dirty="0"/>
          </a:p>
          <a:p>
            <a:pPr algn="ctr" indent="0" marL="0">
              <a:lnSpc>
                <a:spcPct val="105000"/>
              </a:lnSpc>
              <a:buNone/>
            </a:pPr>
            <a:r>
              <a:rPr lang="en-US" sz="1050" b="1" dirty="0">
                <a:solidFill>
                  <a:srgbClr val="14508C"/>
                </a:solidFill>
                <a:latin typeface="Calibri" pitchFamily="34" charset="0"/>
                <a:ea typeface="Calibri" pitchFamily="34" charset="-122"/>
                <a:cs typeface="Calibri" pitchFamily="34" charset="-120"/>
              </a:rPr>
              <a:t>RP-GG-F-213</a:t>
            </a:r>
            <a:endParaRPr lang="en-US" sz="1050" dirty="0"/>
          </a:p>
        </p:txBody>
      </p:sp>
      <p:sp>
        <p:nvSpPr>
          <p:cNvPr id="61" name="Text 41"/>
          <p:cNvSpPr txBox="1"/>
          <p:nvPr/>
        </p:nvSpPr>
        <p:spPr>
          <a:xfrm>
            <a:off x="6370168" y="5724144"/>
            <a:ext cx="2307260" cy="347472"/>
          </a:xfrm>
          <a:prstGeom prst="rect">
            <a:avLst/>
          </a:prstGeom>
          <a:noFill/>
          <a:ln/>
        </p:spPr>
        <p:txBody>
          <a:bodyPr wrap="square" lIns="0" tIns="0" rIns="0" bIns="0" rtlCol="0" anchor="t"/>
          <a:lstStyle/>
          <a:p>
            <a:pPr algn="ctr" indent="0" marL="0">
              <a:lnSpc>
                <a:spcPct val="95000"/>
              </a:lnSpc>
              <a:buNone/>
            </a:pPr>
            <a:r>
              <a:rPr lang="en-US" sz="780" i="1" dirty="0">
                <a:solidFill>
                  <a:srgbClr val="5B6B82"/>
                </a:solidFill>
                <a:latin typeface="Calibri" pitchFamily="34" charset="0"/>
                <a:ea typeface="Calibri" pitchFamily="34" charset="-122"/>
                <a:cs typeface="Calibri" pitchFamily="34" charset="-120"/>
              </a:rPr>
              <a:t>"Entrevista para elaborar el Análisis de</a:t>
            </a:r>
            <a:endParaRPr lang="en-US" sz="780" dirty="0"/>
          </a:p>
          <a:p>
            <a:pPr algn="ctr" indent="0" marL="0">
              <a:lnSpc>
                <a:spcPct val="95000"/>
              </a:lnSpc>
              <a:buNone/>
            </a:pPr>
            <a:r>
              <a:rPr lang="en-US" sz="780" i="1" dirty="0">
                <a:solidFill>
                  <a:srgbClr val="5B6B82"/>
                </a:solidFill>
                <a:latin typeface="Calibri" pitchFamily="34" charset="0"/>
                <a:ea typeface="Calibri" pitchFamily="34" charset="-122"/>
                <a:cs typeface="Calibri" pitchFamily="34" charset="-120"/>
              </a:rPr>
              <a:t>Servicios Críticos Tercerizados"</a:t>
            </a:r>
            <a:endParaRPr lang="en-US" sz="780" dirty="0"/>
          </a:p>
        </p:txBody>
      </p:sp>
      <p:pic>
        <p:nvPicPr>
          <p:cNvPr id="62" name="Image 17" descr="/tmp/claude-0/-home-user-riesgo/0ff9ff46-1396-5bd8-b3ac-2280dfbbbc55/scratchpad/work/gen/icons/arrow_right_blue.png">    </p:cNvPr>
          <p:cNvPicPr>
            <a:picLocks noChangeAspect="1"/>
          </p:cNvPicPr>
          <p:nvPr/>
        </p:nvPicPr>
        <p:blipFill>
          <a:blip r:embed="rId18"/>
          <a:stretch>
            <a:fillRect/>
          </a:stretch>
        </p:blipFill>
        <p:spPr>
          <a:xfrm rot="10800000">
            <a:off x="5976976" y="5294376"/>
            <a:ext cx="237744" cy="237744"/>
          </a:xfrm>
          <a:prstGeom prst="rect">
            <a:avLst/>
          </a:prstGeom>
        </p:spPr>
      </p:pic>
      <p:sp>
        <p:nvSpPr>
          <p:cNvPr id="63" name="Shape 42"/>
          <p:cNvSpPr/>
          <p:nvPr/>
        </p:nvSpPr>
        <p:spPr>
          <a:xfrm>
            <a:off x="3422828" y="4681728"/>
            <a:ext cx="2490140" cy="1463040"/>
          </a:xfrm>
          <a:prstGeom prst="roundRect">
            <a:avLst>
              <a:gd name="adj" fmla="val 6250"/>
            </a:avLst>
          </a:prstGeom>
          <a:solidFill>
            <a:srgbClr val="EAF3FB"/>
          </a:solidFill>
          <a:ln w="12700">
            <a:solidFill>
              <a:srgbClr val="1B6FB0"/>
            </a:solidFill>
            <a:prstDash val="solid"/>
          </a:ln>
          <a:effectLst>
            <a:outerShdw sx="100000" sy="100000" kx="0" ky="0" algn="bl" rotWithShape="0" blurRad="76200" dist="25400" dir="5400000">
              <a:srgbClr val="1B6FB0">
                <a:alpha val="12000"/>
              </a:srgbClr>
            </a:outerShdw>
          </a:effectLst>
        </p:spPr>
      </p:sp>
      <p:sp>
        <p:nvSpPr>
          <p:cNvPr id="64" name="Shape 43"/>
          <p:cNvSpPr/>
          <p:nvPr/>
        </p:nvSpPr>
        <p:spPr>
          <a:xfrm>
            <a:off x="4457586" y="4809744"/>
            <a:ext cx="420624" cy="420624"/>
          </a:xfrm>
          <a:prstGeom prst="ellipse">
            <a:avLst/>
          </a:prstGeom>
          <a:solidFill>
            <a:srgbClr val="2E86C7"/>
          </a:solidFill>
          <a:ln/>
        </p:spPr>
      </p:sp>
      <p:pic>
        <p:nvPicPr>
          <p:cNvPr id="65" name="Image 18" descr="/tmp/claude-0/-home-user-riesgo/0ff9ff46-1396-5bd8-b3ac-2280dfbbbc55/scratchpad/work/gen/icons/flag_check_white.png">    </p:cNvPr>
          <p:cNvPicPr>
            <a:picLocks noChangeAspect="1"/>
          </p:cNvPicPr>
          <p:nvPr/>
        </p:nvPicPr>
        <p:blipFill>
          <a:blip r:embed="rId19"/>
          <a:stretch>
            <a:fillRect/>
          </a:stretch>
        </p:blipFill>
        <p:spPr>
          <a:xfrm>
            <a:off x="4558535" y="4910694"/>
            <a:ext cx="218724" cy="218724"/>
          </a:xfrm>
          <a:prstGeom prst="rect">
            <a:avLst/>
          </a:prstGeom>
        </p:spPr>
      </p:pic>
      <p:sp>
        <p:nvSpPr>
          <p:cNvPr id="66" name="Shape 44"/>
          <p:cNvSpPr/>
          <p:nvPr/>
        </p:nvSpPr>
        <p:spPr>
          <a:xfrm>
            <a:off x="4336885" y="4721962"/>
            <a:ext cx="219456" cy="219456"/>
          </a:xfrm>
          <a:prstGeom prst="ellipse">
            <a:avLst/>
          </a:prstGeom>
          <a:solidFill>
            <a:srgbClr val="FFFFFF"/>
          </a:solidFill>
          <a:ln w="15875">
            <a:solidFill>
              <a:srgbClr val="1B6FB0"/>
            </a:solidFill>
            <a:prstDash val="solid"/>
          </a:ln>
        </p:spPr>
      </p:sp>
      <p:sp>
        <p:nvSpPr>
          <p:cNvPr id="67" name="Text 45"/>
          <p:cNvSpPr txBox="1"/>
          <p:nvPr/>
        </p:nvSpPr>
        <p:spPr>
          <a:xfrm>
            <a:off x="4336885" y="4721962"/>
            <a:ext cx="219456" cy="219456"/>
          </a:xfrm>
          <a:prstGeom prst="rect">
            <a:avLst/>
          </a:prstGeom>
          <a:noFill/>
          <a:ln/>
        </p:spPr>
        <p:txBody>
          <a:bodyPr wrap="square" lIns="0" tIns="0" rIns="0" bIns="0" rtlCol="0" anchor="ctr"/>
          <a:lstStyle/>
          <a:p>
            <a:pPr algn="ctr" indent="0" marL="0">
              <a:buNone/>
            </a:pPr>
            <a:r>
              <a:rPr lang="en-US" sz="1050" b="1" dirty="0">
                <a:solidFill>
                  <a:srgbClr val="14508C"/>
                </a:solidFill>
                <a:latin typeface="Cambria" pitchFamily="34" charset="0"/>
                <a:ea typeface="Cambria" pitchFamily="34" charset="-122"/>
                <a:cs typeface="Cambria" pitchFamily="34" charset="-120"/>
              </a:rPr>
              <a:t>7</a:t>
            </a:r>
            <a:endParaRPr lang="en-US" sz="1050" dirty="0"/>
          </a:p>
        </p:txBody>
      </p:sp>
      <p:sp>
        <p:nvSpPr>
          <p:cNvPr id="68" name="Text 46"/>
          <p:cNvSpPr txBox="1"/>
          <p:nvPr/>
        </p:nvSpPr>
        <p:spPr>
          <a:xfrm>
            <a:off x="3514268" y="5321808"/>
            <a:ext cx="2307260" cy="749808"/>
          </a:xfrm>
          <a:prstGeom prst="rect">
            <a:avLst/>
          </a:prstGeom>
          <a:noFill/>
          <a:ln/>
        </p:spPr>
        <p:txBody>
          <a:bodyPr wrap="square" lIns="0" tIns="0" rIns="0" bIns="0" rtlCol="0" anchor="t"/>
          <a:lstStyle/>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EMITIR RESULTADO</a:t>
            </a:r>
            <a:endParaRPr lang="en-US" sz="1150" dirty="0"/>
          </a:p>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DE CRITICIDAD</a:t>
            </a:r>
            <a:endParaRPr lang="en-US" sz="1150" dirty="0"/>
          </a:p>
        </p:txBody>
      </p:sp>
      <p:pic>
        <p:nvPicPr>
          <p:cNvPr id="69" name="Image 19" descr="/tmp/claude-0/-home-user-riesgo/0ff9ff46-1396-5bd8-b3ac-2280dfbbbc55/scratchpad/work/gen/icons/arrow_right_blue.png">    </p:cNvPr>
          <p:cNvPicPr>
            <a:picLocks noChangeAspect="1"/>
          </p:cNvPicPr>
          <p:nvPr/>
        </p:nvPicPr>
        <p:blipFill>
          <a:blip r:embed="rId20"/>
          <a:stretch>
            <a:fillRect/>
          </a:stretch>
        </p:blipFill>
        <p:spPr>
          <a:xfrm rot="10800000">
            <a:off x="3121076" y="5294376"/>
            <a:ext cx="237744" cy="237744"/>
          </a:xfrm>
          <a:prstGeom prst="rect">
            <a:avLst/>
          </a:prstGeom>
        </p:spPr>
      </p:pic>
      <p:sp>
        <p:nvSpPr>
          <p:cNvPr id="70" name="Shape 47"/>
          <p:cNvSpPr/>
          <p:nvPr/>
        </p:nvSpPr>
        <p:spPr>
          <a:xfrm>
            <a:off x="566928" y="4681728"/>
            <a:ext cx="2490140" cy="1463040"/>
          </a:xfrm>
          <a:prstGeom prst="roundRect">
            <a:avLst>
              <a:gd name="adj" fmla="val 6250"/>
            </a:avLst>
          </a:prstGeom>
          <a:solidFill>
            <a:srgbClr val="EAF3FB"/>
          </a:solidFill>
          <a:ln w="12700">
            <a:solidFill>
              <a:srgbClr val="1B6FB0"/>
            </a:solidFill>
            <a:prstDash val="solid"/>
          </a:ln>
          <a:effectLst>
            <a:outerShdw sx="100000" sy="100000" kx="0" ky="0" algn="bl" rotWithShape="0" blurRad="76200" dist="25400" dir="5400000">
              <a:srgbClr val="1B6FB0">
                <a:alpha val="12000"/>
              </a:srgbClr>
            </a:outerShdw>
          </a:effectLst>
        </p:spPr>
      </p:sp>
      <p:sp>
        <p:nvSpPr>
          <p:cNvPr id="71" name="Shape 48"/>
          <p:cNvSpPr/>
          <p:nvPr/>
        </p:nvSpPr>
        <p:spPr>
          <a:xfrm>
            <a:off x="1601686" y="4809744"/>
            <a:ext cx="420624" cy="420624"/>
          </a:xfrm>
          <a:prstGeom prst="ellipse">
            <a:avLst/>
          </a:prstGeom>
          <a:solidFill>
            <a:srgbClr val="2E86C7"/>
          </a:solidFill>
          <a:ln/>
        </p:spPr>
      </p:sp>
      <p:pic>
        <p:nvPicPr>
          <p:cNvPr id="72" name="Image 20" descr="/tmp/claude-0/-home-user-riesgo/0ff9ff46-1396-5bd8-b3ac-2280dfbbbc55/scratchpad/work/gen/icons/check_circle_white.png">    </p:cNvPr>
          <p:cNvPicPr>
            <a:picLocks noChangeAspect="1"/>
          </p:cNvPicPr>
          <p:nvPr/>
        </p:nvPicPr>
        <p:blipFill>
          <a:blip r:embed="rId21"/>
          <a:stretch>
            <a:fillRect/>
          </a:stretch>
        </p:blipFill>
        <p:spPr>
          <a:xfrm>
            <a:off x="1702636" y="4910694"/>
            <a:ext cx="218724" cy="218724"/>
          </a:xfrm>
          <a:prstGeom prst="rect">
            <a:avLst/>
          </a:prstGeom>
        </p:spPr>
      </p:pic>
      <p:sp>
        <p:nvSpPr>
          <p:cNvPr id="73" name="Shape 49"/>
          <p:cNvSpPr/>
          <p:nvPr/>
        </p:nvSpPr>
        <p:spPr>
          <a:xfrm>
            <a:off x="1480985" y="4721962"/>
            <a:ext cx="219456" cy="219456"/>
          </a:xfrm>
          <a:prstGeom prst="ellipse">
            <a:avLst/>
          </a:prstGeom>
          <a:solidFill>
            <a:srgbClr val="FFFFFF"/>
          </a:solidFill>
          <a:ln w="15875">
            <a:solidFill>
              <a:srgbClr val="1B6FB0"/>
            </a:solidFill>
            <a:prstDash val="solid"/>
          </a:ln>
        </p:spPr>
      </p:sp>
      <p:sp>
        <p:nvSpPr>
          <p:cNvPr id="74" name="Text 50"/>
          <p:cNvSpPr txBox="1"/>
          <p:nvPr/>
        </p:nvSpPr>
        <p:spPr>
          <a:xfrm>
            <a:off x="1480985" y="4721962"/>
            <a:ext cx="219456" cy="219456"/>
          </a:xfrm>
          <a:prstGeom prst="rect">
            <a:avLst/>
          </a:prstGeom>
          <a:noFill/>
          <a:ln/>
        </p:spPr>
        <p:txBody>
          <a:bodyPr wrap="square" lIns="0" tIns="0" rIns="0" bIns="0" rtlCol="0" anchor="ctr"/>
          <a:lstStyle/>
          <a:p>
            <a:pPr algn="ctr" indent="0" marL="0">
              <a:buNone/>
            </a:pPr>
            <a:r>
              <a:rPr lang="en-US" sz="1050" b="1" dirty="0">
                <a:solidFill>
                  <a:srgbClr val="14508C"/>
                </a:solidFill>
                <a:latin typeface="Cambria" pitchFamily="34" charset="0"/>
                <a:ea typeface="Cambria" pitchFamily="34" charset="-122"/>
                <a:cs typeface="Cambria" pitchFamily="34" charset="-120"/>
              </a:rPr>
              <a:t>8</a:t>
            </a:r>
            <a:endParaRPr lang="en-US" sz="1050" dirty="0"/>
          </a:p>
        </p:txBody>
      </p:sp>
      <p:sp>
        <p:nvSpPr>
          <p:cNvPr id="75" name="Text 51"/>
          <p:cNvSpPr txBox="1"/>
          <p:nvPr/>
        </p:nvSpPr>
        <p:spPr>
          <a:xfrm>
            <a:off x="658368" y="5321808"/>
            <a:ext cx="2307260" cy="749808"/>
          </a:xfrm>
          <a:prstGeom prst="rect">
            <a:avLst/>
          </a:prstGeom>
          <a:noFill/>
          <a:ln/>
        </p:spPr>
        <p:txBody>
          <a:bodyPr wrap="square" lIns="0" tIns="0" rIns="0" bIns="0" rtlCol="0" anchor="t"/>
          <a:lstStyle/>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CONTINUAR PROCESO</a:t>
            </a:r>
            <a:endParaRPr lang="en-US" sz="1150" dirty="0"/>
          </a:p>
          <a:p>
            <a:pPr algn="ctr" indent="0" marL="0">
              <a:lnSpc>
                <a:spcPct val="105000"/>
              </a:lnSpc>
              <a:buNone/>
            </a:pPr>
            <a:r>
              <a:rPr lang="en-US" sz="1150" b="1" dirty="0">
                <a:solidFill>
                  <a:srgbClr val="14508C"/>
                </a:solidFill>
                <a:latin typeface="Calibri" pitchFamily="34" charset="0"/>
                <a:ea typeface="Calibri" pitchFamily="34" charset="-122"/>
                <a:cs typeface="Calibri" pitchFamily="34" charset="-120"/>
              </a:rPr>
              <a:t>DE CONTRATACIÓN</a:t>
            </a:r>
            <a:endParaRPr lang="en-US" sz="1150" dirty="0"/>
          </a:p>
        </p:txBody>
      </p:sp>
      <p:sp>
        <p:nvSpPr>
          <p:cNvPr id="76" name="Text 52"/>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77" name="Text 53"/>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16</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0EA5A0"/>
                </a:solidFill>
                <a:latin typeface="Calibri" pitchFamily="34" charset="0"/>
                <a:ea typeface="Calibri" pitchFamily="34" charset="-122"/>
                <a:cs typeface="Calibri" pitchFamily="34" charset="-120"/>
              </a:rPr>
              <a:t>TEMA 8 · RIESGO AMBIENTAL Y SOCIAL · NRP-53</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200" b="1" dirty="0">
                <a:solidFill>
                  <a:srgbClr val="133B6C"/>
                </a:solidFill>
                <a:latin typeface="Cambria" pitchFamily="34" charset="0"/>
                <a:ea typeface="Cambria" pitchFamily="34" charset="-122"/>
                <a:cs typeface="Cambria" pitchFamily="34" charset="-120"/>
              </a:rPr>
              <a:t>¿QUÉ DEBEMOS PREGUNTARNOS SOBRE RIESGO AMBIENTAL Y SOCIAL?</a:t>
            </a:r>
            <a:endParaRPr lang="en-US" sz="22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Antes de aprobar o dar seguimiento a una operación crediticia:</a:t>
            </a:r>
            <a:endParaRPr lang="en-US" sz="1500" dirty="0"/>
          </a:p>
        </p:txBody>
      </p:sp>
      <p:sp>
        <p:nvSpPr>
          <p:cNvPr id="6" name="Shape 3"/>
          <p:cNvSpPr/>
          <p:nvPr/>
        </p:nvSpPr>
        <p:spPr>
          <a:xfrm>
            <a:off x="566928" y="2286000"/>
            <a:ext cx="5400904" cy="801624"/>
          </a:xfrm>
          <a:prstGeom prst="roundRect">
            <a:avLst>
              <a:gd name="adj" fmla="val 11407"/>
            </a:avLst>
          </a:prstGeom>
          <a:solidFill>
            <a:srgbClr val="F2F5F9"/>
          </a:solidFill>
          <a:ln/>
        </p:spPr>
      </p:sp>
      <p:sp>
        <p:nvSpPr>
          <p:cNvPr id="7" name="Shape 4"/>
          <p:cNvSpPr/>
          <p:nvPr/>
        </p:nvSpPr>
        <p:spPr>
          <a:xfrm>
            <a:off x="749808" y="2458212"/>
            <a:ext cx="457200" cy="457200"/>
          </a:xfrm>
          <a:prstGeom prst="ellipse">
            <a:avLst/>
          </a:prstGeom>
          <a:solidFill>
            <a:srgbClr val="0EA5A0"/>
          </a:solidFill>
          <a:ln/>
        </p:spPr>
      </p:sp>
      <p:sp>
        <p:nvSpPr>
          <p:cNvPr id="8" name="Text 5"/>
          <p:cNvSpPr txBox="1"/>
          <p:nvPr/>
        </p:nvSpPr>
        <p:spPr>
          <a:xfrm>
            <a:off x="749808" y="244906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9" name="Shape 6"/>
          <p:cNvSpPr/>
          <p:nvPr/>
        </p:nvSpPr>
        <p:spPr>
          <a:xfrm>
            <a:off x="5309464" y="2485644"/>
            <a:ext cx="402336" cy="402336"/>
          </a:xfrm>
          <a:prstGeom prst="ellipse">
            <a:avLst/>
          </a:prstGeom>
          <a:solidFill>
            <a:srgbClr val="133B6C"/>
          </a:solidFill>
          <a:ln/>
        </p:spPr>
      </p:sp>
      <p:pic>
        <p:nvPicPr>
          <p:cNvPr id="10" name="Image 0" descr="/tmp/claude-0/-home-user-riesgo/0ff9ff46-1396-5bd8-b3ac-2280dfbbbc55/scratchpad/work/gen/icons/magnifier_white.png">    </p:cNvPr>
          <p:cNvPicPr>
            <a:picLocks noChangeAspect="1"/>
          </p:cNvPicPr>
          <p:nvPr/>
        </p:nvPicPr>
        <p:blipFill>
          <a:blip r:embed="rId1"/>
          <a:stretch>
            <a:fillRect/>
          </a:stretch>
        </p:blipFill>
        <p:spPr>
          <a:xfrm>
            <a:off x="5399989" y="2576170"/>
            <a:ext cx="221285" cy="221285"/>
          </a:xfrm>
          <a:prstGeom prst="rect">
            <a:avLst/>
          </a:prstGeom>
        </p:spPr>
      </p:pic>
      <p:sp>
        <p:nvSpPr>
          <p:cNvPr id="11" name="Text 7"/>
          <p:cNvSpPr txBox="1"/>
          <p:nvPr/>
        </p:nvSpPr>
        <p:spPr>
          <a:xfrm>
            <a:off x="1371600" y="2286000"/>
            <a:ext cx="3846424" cy="801624"/>
          </a:xfrm>
          <a:prstGeom prst="rect">
            <a:avLst/>
          </a:prstGeom>
          <a:noFill/>
          <a:ln/>
        </p:spPr>
        <p:txBody>
          <a:bodyPr wrap="square" lIns="0" tIns="0" rIns="0" bIns="0" rtlCol="0" anchor="ctr"/>
          <a:lstStyle/>
          <a:p>
            <a:pPr indent="0" marL="0">
              <a:lnSpc>
                <a:spcPct val="108000"/>
              </a:lnSpc>
              <a:buNone/>
            </a:pPr>
            <a:r>
              <a:rPr lang="en-US" sz="1300" b="1" dirty="0">
                <a:solidFill>
                  <a:srgbClr val="133B6C"/>
                </a:solidFill>
                <a:latin typeface="Calibri" pitchFamily="34" charset="0"/>
                <a:ea typeface="Calibri" pitchFamily="34" charset="-122"/>
                <a:cs typeface="Calibri" pitchFamily="34" charset="-120"/>
              </a:rPr>
              <a:t>¿A qué se dedica el asociado?</a:t>
            </a:r>
            <a:endParaRPr lang="en-US" sz="1300" dirty="0"/>
          </a:p>
        </p:txBody>
      </p:sp>
      <p:sp>
        <p:nvSpPr>
          <p:cNvPr id="12" name="Shape 8"/>
          <p:cNvSpPr/>
          <p:nvPr/>
        </p:nvSpPr>
        <p:spPr>
          <a:xfrm>
            <a:off x="6223864" y="2286000"/>
            <a:ext cx="5400904" cy="801624"/>
          </a:xfrm>
          <a:prstGeom prst="roundRect">
            <a:avLst>
              <a:gd name="adj" fmla="val 11407"/>
            </a:avLst>
          </a:prstGeom>
          <a:solidFill>
            <a:srgbClr val="F2F5F9"/>
          </a:solidFill>
          <a:ln/>
        </p:spPr>
      </p:sp>
      <p:sp>
        <p:nvSpPr>
          <p:cNvPr id="13" name="Shape 9"/>
          <p:cNvSpPr/>
          <p:nvPr/>
        </p:nvSpPr>
        <p:spPr>
          <a:xfrm>
            <a:off x="6406744" y="2458212"/>
            <a:ext cx="457200" cy="457200"/>
          </a:xfrm>
          <a:prstGeom prst="ellipse">
            <a:avLst/>
          </a:prstGeom>
          <a:solidFill>
            <a:srgbClr val="0EA5A0"/>
          </a:solidFill>
          <a:ln/>
        </p:spPr>
      </p:sp>
      <p:sp>
        <p:nvSpPr>
          <p:cNvPr id="14" name="Text 10"/>
          <p:cNvSpPr txBox="1"/>
          <p:nvPr/>
        </p:nvSpPr>
        <p:spPr>
          <a:xfrm>
            <a:off x="6406744" y="244906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5" name="Shape 11"/>
          <p:cNvSpPr/>
          <p:nvPr/>
        </p:nvSpPr>
        <p:spPr>
          <a:xfrm>
            <a:off x="10966399" y="2485644"/>
            <a:ext cx="402336" cy="402336"/>
          </a:xfrm>
          <a:prstGeom prst="ellipse">
            <a:avLst/>
          </a:prstGeom>
          <a:solidFill>
            <a:srgbClr val="133B6C"/>
          </a:solidFill>
          <a:ln/>
        </p:spPr>
      </p:sp>
      <p:pic>
        <p:nvPicPr>
          <p:cNvPr id="16" name="Image 1" descr="/tmp/claude-0/-home-user-riesgo/0ff9ff46-1396-5bd8-b3ac-2280dfbbbc55/scratchpad/work/gen/icons/factory_white.png">    </p:cNvPr>
          <p:cNvPicPr>
            <a:picLocks noChangeAspect="1"/>
          </p:cNvPicPr>
          <p:nvPr/>
        </p:nvPicPr>
        <p:blipFill>
          <a:blip r:embed="rId2"/>
          <a:stretch>
            <a:fillRect/>
          </a:stretch>
        </p:blipFill>
        <p:spPr>
          <a:xfrm>
            <a:off x="11056925" y="2576170"/>
            <a:ext cx="221285" cy="221285"/>
          </a:xfrm>
          <a:prstGeom prst="rect">
            <a:avLst/>
          </a:prstGeom>
        </p:spPr>
      </p:pic>
      <p:sp>
        <p:nvSpPr>
          <p:cNvPr id="17" name="Text 12"/>
          <p:cNvSpPr txBox="1"/>
          <p:nvPr/>
        </p:nvSpPr>
        <p:spPr>
          <a:xfrm>
            <a:off x="7028536" y="2286000"/>
            <a:ext cx="3846424" cy="801624"/>
          </a:xfrm>
          <a:prstGeom prst="rect">
            <a:avLst/>
          </a:prstGeom>
          <a:noFill/>
          <a:ln/>
        </p:spPr>
        <p:txBody>
          <a:bodyPr wrap="square" lIns="0" tIns="0" rIns="0" bIns="0" rtlCol="0" anchor="ctr"/>
          <a:lstStyle/>
          <a:p>
            <a:pPr indent="0" marL="0">
              <a:lnSpc>
                <a:spcPct val="108000"/>
              </a:lnSpc>
              <a:buNone/>
            </a:pPr>
            <a:r>
              <a:rPr lang="en-US" sz="1300" b="1" dirty="0">
                <a:solidFill>
                  <a:srgbClr val="133B6C"/>
                </a:solidFill>
                <a:latin typeface="Calibri" pitchFamily="34" charset="0"/>
                <a:ea typeface="Calibri" pitchFamily="34" charset="-122"/>
                <a:cs typeface="Calibri" pitchFamily="34" charset="-120"/>
              </a:rPr>
              <a:t>¿Su actividad puede generar impactos ambientales o sociales?</a:t>
            </a:r>
            <a:endParaRPr lang="en-US" sz="1300" dirty="0"/>
          </a:p>
        </p:txBody>
      </p:sp>
      <p:sp>
        <p:nvSpPr>
          <p:cNvPr id="18" name="Shape 13"/>
          <p:cNvSpPr/>
          <p:nvPr/>
        </p:nvSpPr>
        <p:spPr>
          <a:xfrm>
            <a:off x="566928" y="3270504"/>
            <a:ext cx="5400904" cy="801624"/>
          </a:xfrm>
          <a:prstGeom prst="roundRect">
            <a:avLst>
              <a:gd name="adj" fmla="val 11407"/>
            </a:avLst>
          </a:prstGeom>
          <a:solidFill>
            <a:srgbClr val="F2F5F9"/>
          </a:solidFill>
          <a:ln/>
        </p:spPr>
      </p:sp>
      <p:sp>
        <p:nvSpPr>
          <p:cNvPr id="19" name="Shape 14"/>
          <p:cNvSpPr/>
          <p:nvPr/>
        </p:nvSpPr>
        <p:spPr>
          <a:xfrm>
            <a:off x="749808" y="3442716"/>
            <a:ext cx="457200" cy="457200"/>
          </a:xfrm>
          <a:prstGeom prst="ellipse">
            <a:avLst/>
          </a:prstGeom>
          <a:solidFill>
            <a:srgbClr val="0EA5A0"/>
          </a:solidFill>
          <a:ln/>
        </p:spPr>
      </p:sp>
      <p:sp>
        <p:nvSpPr>
          <p:cNvPr id="20" name="Text 15"/>
          <p:cNvSpPr txBox="1"/>
          <p:nvPr/>
        </p:nvSpPr>
        <p:spPr>
          <a:xfrm>
            <a:off x="749808" y="34335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1" name="Shape 16"/>
          <p:cNvSpPr/>
          <p:nvPr/>
        </p:nvSpPr>
        <p:spPr>
          <a:xfrm>
            <a:off x="5309464" y="3470148"/>
            <a:ext cx="402336" cy="402336"/>
          </a:xfrm>
          <a:prstGeom prst="ellipse">
            <a:avLst/>
          </a:prstGeom>
          <a:solidFill>
            <a:srgbClr val="133B6C"/>
          </a:solidFill>
          <a:ln/>
        </p:spPr>
      </p:sp>
      <p:pic>
        <p:nvPicPr>
          <p:cNvPr id="22" name="Image 2" descr="/tmp/claude-0/-home-user-riesgo/0ff9ff46-1396-5bd8-b3ac-2280dfbbbc55/scratchpad/work/gen/icons/warning_triangle_white.png">    </p:cNvPr>
          <p:cNvPicPr>
            <a:picLocks noChangeAspect="1"/>
          </p:cNvPicPr>
          <p:nvPr/>
        </p:nvPicPr>
        <p:blipFill>
          <a:blip r:embed="rId3"/>
          <a:stretch>
            <a:fillRect/>
          </a:stretch>
        </p:blipFill>
        <p:spPr>
          <a:xfrm>
            <a:off x="5399989" y="3560674"/>
            <a:ext cx="221285" cy="221285"/>
          </a:xfrm>
          <a:prstGeom prst="rect">
            <a:avLst/>
          </a:prstGeom>
        </p:spPr>
      </p:pic>
      <p:sp>
        <p:nvSpPr>
          <p:cNvPr id="23" name="Text 17"/>
          <p:cNvSpPr txBox="1"/>
          <p:nvPr/>
        </p:nvSpPr>
        <p:spPr>
          <a:xfrm>
            <a:off x="1371600" y="3270504"/>
            <a:ext cx="3846424" cy="801624"/>
          </a:xfrm>
          <a:prstGeom prst="rect">
            <a:avLst/>
          </a:prstGeom>
          <a:noFill/>
          <a:ln/>
        </p:spPr>
        <p:txBody>
          <a:bodyPr wrap="square" lIns="0" tIns="0" rIns="0" bIns="0" rtlCol="0" anchor="ctr"/>
          <a:lstStyle/>
          <a:p>
            <a:pPr indent="0" marL="0">
              <a:lnSpc>
                <a:spcPct val="108000"/>
              </a:lnSpc>
              <a:buNone/>
            </a:pPr>
            <a:r>
              <a:rPr lang="en-US" sz="1300" b="1" dirty="0">
                <a:solidFill>
                  <a:srgbClr val="133B6C"/>
                </a:solidFill>
                <a:latin typeface="Calibri" pitchFamily="34" charset="0"/>
                <a:ea typeface="Calibri" pitchFamily="34" charset="-122"/>
                <a:cs typeface="Calibri" pitchFamily="34" charset="-120"/>
              </a:rPr>
              <a:t>¿Existe alguna situación que pueda afectar su operación o capacidad de pago?</a:t>
            </a:r>
            <a:endParaRPr lang="en-US" sz="1300" dirty="0"/>
          </a:p>
        </p:txBody>
      </p:sp>
      <p:sp>
        <p:nvSpPr>
          <p:cNvPr id="24" name="Shape 18"/>
          <p:cNvSpPr/>
          <p:nvPr/>
        </p:nvSpPr>
        <p:spPr>
          <a:xfrm>
            <a:off x="6223864" y="3270504"/>
            <a:ext cx="5400904" cy="801624"/>
          </a:xfrm>
          <a:prstGeom prst="roundRect">
            <a:avLst>
              <a:gd name="adj" fmla="val 11407"/>
            </a:avLst>
          </a:prstGeom>
          <a:solidFill>
            <a:srgbClr val="F2F5F9"/>
          </a:solidFill>
          <a:ln/>
        </p:spPr>
      </p:sp>
      <p:sp>
        <p:nvSpPr>
          <p:cNvPr id="25" name="Shape 19"/>
          <p:cNvSpPr/>
          <p:nvPr/>
        </p:nvSpPr>
        <p:spPr>
          <a:xfrm>
            <a:off x="6406744" y="3442716"/>
            <a:ext cx="457200" cy="457200"/>
          </a:xfrm>
          <a:prstGeom prst="ellipse">
            <a:avLst/>
          </a:prstGeom>
          <a:solidFill>
            <a:srgbClr val="0EA5A0"/>
          </a:solidFill>
          <a:ln/>
        </p:spPr>
      </p:sp>
      <p:sp>
        <p:nvSpPr>
          <p:cNvPr id="26" name="Text 20"/>
          <p:cNvSpPr txBox="1"/>
          <p:nvPr/>
        </p:nvSpPr>
        <p:spPr>
          <a:xfrm>
            <a:off x="6406744" y="34335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7" name="Shape 21"/>
          <p:cNvSpPr/>
          <p:nvPr/>
        </p:nvSpPr>
        <p:spPr>
          <a:xfrm>
            <a:off x="10966399" y="3470148"/>
            <a:ext cx="402336" cy="402336"/>
          </a:xfrm>
          <a:prstGeom prst="ellipse">
            <a:avLst/>
          </a:prstGeom>
          <a:solidFill>
            <a:srgbClr val="133B6C"/>
          </a:solidFill>
          <a:ln/>
        </p:spPr>
      </p:sp>
      <p:pic>
        <p:nvPicPr>
          <p:cNvPr id="28" name="Image 3" descr="/tmp/claude-0/-home-user-riesgo/0ff9ff46-1396-5bd8-b3ac-2280dfbbbc55/scratchpad/work/gen/icons/document_white.png">    </p:cNvPr>
          <p:cNvPicPr>
            <a:picLocks noChangeAspect="1"/>
          </p:cNvPicPr>
          <p:nvPr/>
        </p:nvPicPr>
        <p:blipFill>
          <a:blip r:embed="rId4"/>
          <a:stretch>
            <a:fillRect/>
          </a:stretch>
        </p:blipFill>
        <p:spPr>
          <a:xfrm>
            <a:off x="11056925" y="3560674"/>
            <a:ext cx="221285" cy="221285"/>
          </a:xfrm>
          <a:prstGeom prst="rect">
            <a:avLst/>
          </a:prstGeom>
        </p:spPr>
      </p:pic>
      <p:sp>
        <p:nvSpPr>
          <p:cNvPr id="29" name="Text 22"/>
          <p:cNvSpPr txBox="1"/>
          <p:nvPr/>
        </p:nvSpPr>
        <p:spPr>
          <a:xfrm>
            <a:off x="7028536" y="3270504"/>
            <a:ext cx="3846424" cy="801624"/>
          </a:xfrm>
          <a:prstGeom prst="rect">
            <a:avLst/>
          </a:prstGeom>
          <a:noFill/>
          <a:ln/>
        </p:spPr>
        <p:txBody>
          <a:bodyPr wrap="square" lIns="0" tIns="0" rIns="0" bIns="0" rtlCol="0" anchor="ctr"/>
          <a:lstStyle/>
          <a:p>
            <a:pPr indent="0" marL="0">
              <a:lnSpc>
                <a:spcPct val="108000"/>
              </a:lnSpc>
              <a:buNone/>
            </a:pPr>
            <a:r>
              <a:rPr lang="en-US" sz="1300" b="1" dirty="0">
                <a:solidFill>
                  <a:srgbClr val="133B6C"/>
                </a:solidFill>
                <a:latin typeface="Calibri" pitchFamily="34" charset="0"/>
                <a:ea typeface="Calibri" pitchFamily="34" charset="-122"/>
                <a:cs typeface="Calibri" pitchFamily="34" charset="-120"/>
              </a:rPr>
              <a:t>¿Cuenta con los permisos o autorizaciones que correspondan?</a:t>
            </a:r>
            <a:endParaRPr lang="en-US" sz="1300" dirty="0"/>
          </a:p>
        </p:txBody>
      </p:sp>
      <p:sp>
        <p:nvSpPr>
          <p:cNvPr id="30" name="Shape 23"/>
          <p:cNvSpPr/>
          <p:nvPr/>
        </p:nvSpPr>
        <p:spPr>
          <a:xfrm>
            <a:off x="566928" y="4255008"/>
            <a:ext cx="5400904" cy="801624"/>
          </a:xfrm>
          <a:prstGeom prst="roundRect">
            <a:avLst>
              <a:gd name="adj" fmla="val 11407"/>
            </a:avLst>
          </a:prstGeom>
          <a:solidFill>
            <a:srgbClr val="F2F5F9"/>
          </a:solidFill>
          <a:ln/>
        </p:spPr>
      </p:sp>
      <p:sp>
        <p:nvSpPr>
          <p:cNvPr id="31" name="Shape 24"/>
          <p:cNvSpPr/>
          <p:nvPr/>
        </p:nvSpPr>
        <p:spPr>
          <a:xfrm>
            <a:off x="749808" y="4427220"/>
            <a:ext cx="457200" cy="457200"/>
          </a:xfrm>
          <a:prstGeom prst="ellipse">
            <a:avLst/>
          </a:prstGeom>
          <a:solidFill>
            <a:srgbClr val="0EA5A0"/>
          </a:solidFill>
          <a:ln/>
        </p:spPr>
      </p:sp>
      <p:sp>
        <p:nvSpPr>
          <p:cNvPr id="32" name="Text 25"/>
          <p:cNvSpPr txBox="1"/>
          <p:nvPr/>
        </p:nvSpPr>
        <p:spPr>
          <a:xfrm>
            <a:off x="749808" y="441807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33" name="Shape 26"/>
          <p:cNvSpPr/>
          <p:nvPr/>
        </p:nvSpPr>
        <p:spPr>
          <a:xfrm>
            <a:off x="5309464" y="4454652"/>
            <a:ext cx="402336" cy="402336"/>
          </a:xfrm>
          <a:prstGeom prst="ellipse">
            <a:avLst/>
          </a:prstGeom>
          <a:solidFill>
            <a:srgbClr val="133B6C"/>
          </a:solidFill>
          <a:ln/>
        </p:spPr>
      </p:sp>
      <p:pic>
        <p:nvPicPr>
          <p:cNvPr id="34" name="Image 4" descr="/tmp/claude-0/-home-user-riesgo/0ff9ff46-1396-5bd8-b3ac-2280dfbbbc55/scratchpad/work/gen/icons/megaphone_white.png">    </p:cNvPr>
          <p:cNvPicPr>
            <a:picLocks noChangeAspect="1"/>
          </p:cNvPicPr>
          <p:nvPr/>
        </p:nvPicPr>
        <p:blipFill>
          <a:blip r:embed="rId5"/>
          <a:stretch>
            <a:fillRect/>
          </a:stretch>
        </p:blipFill>
        <p:spPr>
          <a:xfrm>
            <a:off x="5399989" y="4545178"/>
            <a:ext cx="221285" cy="221285"/>
          </a:xfrm>
          <a:prstGeom prst="rect">
            <a:avLst/>
          </a:prstGeom>
        </p:spPr>
      </p:pic>
      <p:sp>
        <p:nvSpPr>
          <p:cNvPr id="35" name="Text 27"/>
          <p:cNvSpPr txBox="1"/>
          <p:nvPr/>
        </p:nvSpPr>
        <p:spPr>
          <a:xfrm>
            <a:off x="1371600" y="4255008"/>
            <a:ext cx="3846424" cy="801624"/>
          </a:xfrm>
          <a:prstGeom prst="rect">
            <a:avLst/>
          </a:prstGeom>
          <a:noFill/>
          <a:ln/>
        </p:spPr>
        <p:txBody>
          <a:bodyPr wrap="square" lIns="0" tIns="0" rIns="0" bIns="0" rtlCol="0" anchor="ctr"/>
          <a:lstStyle/>
          <a:p>
            <a:pPr indent="0" marL="0">
              <a:lnSpc>
                <a:spcPct val="108000"/>
              </a:lnSpc>
              <a:buNone/>
            </a:pPr>
            <a:r>
              <a:rPr lang="en-US" sz="1300" b="1" dirty="0">
                <a:solidFill>
                  <a:srgbClr val="133B6C"/>
                </a:solidFill>
                <a:latin typeface="Calibri" pitchFamily="34" charset="0"/>
                <a:ea typeface="Calibri" pitchFamily="34" charset="-122"/>
                <a:cs typeface="Calibri" pitchFamily="34" charset="-120"/>
              </a:rPr>
              <a:t>¿Existe alguna queja, denuncia o situación relevante?</a:t>
            </a:r>
            <a:endParaRPr lang="en-US" sz="1300" dirty="0"/>
          </a:p>
        </p:txBody>
      </p:sp>
      <p:sp>
        <p:nvSpPr>
          <p:cNvPr id="36" name="Shape 28"/>
          <p:cNvSpPr/>
          <p:nvPr/>
        </p:nvSpPr>
        <p:spPr>
          <a:xfrm>
            <a:off x="6223864" y="4255008"/>
            <a:ext cx="5400904" cy="801624"/>
          </a:xfrm>
          <a:prstGeom prst="roundRect">
            <a:avLst>
              <a:gd name="adj" fmla="val 11407"/>
            </a:avLst>
          </a:prstGeom>
          <a:solidFill>
            <a:srgbClr val="F2F5F9"/>
          </a:solidFill>
          <a:ln/>
        </p:spPr>
      </p:sp>
      <p:sp>
        <p:nvSpPr>
          <p:cNvPr id="37" name="Shape 29"/>
          <p:cNvSpPr/>
          <p:nvPr/>
        </p:nvSpPr>
        <p:spPr>
          <a:xfrm>
            <a:off x="6406744" y="4427220"/>
            <a:ext cx="457200" cy="457200"/>
          </a:xfrm>
          <a:prstGeom prst="ellipse">
            <a:avLst/>
          </a:prstGeom>
          <a:solidFill>
            <a:srgbClr val="0EA5A0"/>
          </a:solidFill>
          <a:ln/>
        </p:spPr>
      </p:sp>
      <p:sp>
        <p:nvSpPr>
          <p:cNvPr id="38" name="Text 30"/>
          <p:cNvSpPr txBox="1"/>
          <p:nvPr/>
        </p:nvSpPr>
        <p:spPr>
          <a:xfrm>
            <a:off x="6406744" y="441807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39" name="Shape 31"/>
          <p:cNvSpPr/>
          <p:nvPr/>
        </p:nvSpPr>
        <p:spPr>
          <a:xfrm>
            <a:off x="10966399" y="4454652"/>
            <a:ext cx="402336" cy="402336"/>
          </a:xfrm>
          <a:prstGeom prst="ellipse">
            <a:avLst/>
          </a:prstGeom>
          <a:solidFill>
            <a:srgbClr val="133B6C"/>
          </a:solidFill>
          <a:ln/>
        </p:spPr>
      </p:sp>
      <p:pic>
        <p:nvPicPr>
          <p:cNvPr id="40" name="Image 5" descr="/tmp/claude-0/-home-user-riesgo/0ff9ff46-1396-5bd8-b3ac-2280dfbbbc55/scratchpad/work/gen/icons/flag_check_white.png">    </p:cNvPr>
          <p:cNvPicPr>
            <a:picLocks noChangeAspect="1"/>
          </p:cNvPicPr>
          <p:nvPr/>
        </p:nvPicPr>
        <p:blipFill>
          <a:blip r:embed="rId6"/>
          <a:stretch>
            <a:fillRect/>
          </a:stretch>
        </p:blipFill>
        <p:spPr>
          <a:xfrm>
            <a:off x="11056925" y="4545178"/>
            <a:ext cx="221285" cy="221285"/>
          </a:xfrm>
          <a:prstGeom prst="rect">
            <a:avLst/>
          </a:prstGeom>
        </p:spPr>
      </p:pic>
      <p:sp>
        <p:nvSpPr>
          <p:cNvPr id="41" name="Text 32"/>
          <p:cNvSpPr txBox="1"/>
          <p:nvPr/>
        </p:nvSpPr>
        <p:spPr>
          <a:xfrm>
            <a:off x="7028536" y="4255008"/>
            <a:ext cx="3846424" cy="801624"/>
          </a:xfrm>
          <a:prstGeom prst="rect">
            <a:avLst/>
          </a:prstGeom>
          <a:noFill/>
          <a:ln/>
        </p:spPr>
        <p:txBody>
          <a:bodyPr wrap="square" lIns="0" tIns="0" rIns="0" bIns="0" rtlCol="0" anchor="ctr"/>
          <a:lstStyle/>
          <a:p>
            <a:pPr indent="0" marL="0">
              <a:lnSpc>
                <a:spcPct val="108000"/>
              </a:lnSpc>
              <a:buNone/>
            </a:pPr>
            <a:r>
              <a:rPr lang="en-US" sz="1300" b="1" dirty="0">
                <a:solidFill>
                  <a:srgbClr val="133B6C"/>
                </a:solidFill>
                <a:latin typeface="Calibri" pitchFamily="34" charset="0"/>
                <a:ea typeface="Calibri" pitchFamily="34" charset="-122"/>
                <a:cs typeface="Calibri" pitchFamily="34" charset="-120"/>
              </a:rPr>
              <a:t>¿Debe escalarse para evaluación de Riesgo Ambiental y Social?</a:t>
            </a:r>
            <a:endParaRPr lang="en-US" sz="1300" dirty="0"/>
          </a:p>
        </p:txBody>
      </p:sp>
      <p:sp>
        <p:nvSpPr>
          <p:cNvPr id="42" name="Shape 33"/>
          <p:cNvSpPr/>
          <p:nvPr/>
        </p:nvSpPr>
        <p:spPr>
          <a:xfrm>
            <a:off x="566928" y="5239512"/>
            <a:ext cx="11057839" cy="868680"/>
          </a:xfrm>
          <a:prstGeom prst="roundRect">
            <a:avLst>
              <a:gd name="adj" fmla="val 10526"/>
            </a:avLst>
          </a:prstGeom>
          <a:solidFill>
            <a:srgbClr val="133B6C"/>
          </a:solidFill>
          <a:ln/>
        </p:spPr>
      </p:sp>
      <p:sp>
        <p:nvSpPr>
          <p:cNvPr id="43" name="Shape 34"/>
          <p:cNvSpPr/>
          <p:nvPr/>
        </p:nvSpPr>
        <p:spPr>
          <a:xfrm>
            <a:off x="749808" y="5394960"/>
            <a:ext cx="457200" cy="457200"/>
          </a:xfrm>
          <a:prstGeom prst="ellipse">
            <a:avLst/>
          </a:prstGeom>
          <a:solidFill>
            <a:srgbClr val="0EA5A0"/>
          </a:solidFill>
          <a:ln/>
        </p:spPr>
      </p:sp>
      <p:pic>
        <p:nvPicPr>
          <p:cNvPr id="44" name="Image 6" descr="/tmp/claude-0/-home-user-riesgo/0ff9ff46-1396-5bd8-b3ac-2280dfbbbc55/scratchpad/work/gen/icons/shield_check_white.png">    </p:cNvPr>
          <p:cNvPicPr>
            <a:picLocks noChangeAspect="1"/>
          </p:cNvPicPr>
          <p:nvPr/>
        </p:nvPicPr>
        <p:blipFill>
          <a:blip r:embed="rId7"/>
          <a:stretch>
            <a:fillRect/>
          </a:stretch>
        </p:blipFill>
        <p:spPr>
          <a:xfrm>
            <a:off x="852678" y="5497830"/>
            <a:ext cx="251460" cy="251460"/>
          </a:xfrm>
          <a:prstGeom prst="rect">
            <a:avLst/>
          </a:prstGeom>
        </p:spPr>
      </p:pic>
      <p:sp>
        <p:nvSpPr>
          <p:cNvPr id="45" name="Text 35"/>
          <p:cNvSpPr txBox="1"/>
          <p:nvPr/>
        </p:nvSpPr>
        <p:spPr>
          <a:xfrm>
            <a:off x="1389888" y="5330952"/>
            <a:ext cx="10006279" cy="6858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La idea no es que todo el personal decida si un crédito es ambientalmente viable. Debemos saber identificar, reportar y canalizar las señales de alerta según los procedimientos establecidos. Comedica cuenta con una Política de Riesgos Ambientales y Sociales (MA-GG-PL-004), disponible en la intranet.</a:t>
            </a:r>
            <a:endParaRPr lang="en-US" sz="1150" dirty="0"/>
          </a:p>
        </p:txBody>
      </p:sp>
      <p:sp>
        <p:nvSpPr>
          <p:cNvPr id="46" name="Text 36"/>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47" name="Text 37"/>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17</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0EA5A0"/>
                </a:solidFill>
                <a:latin typeface="Calibri" pitchFamily="34" charset="0"/>
                <a:ea typeface="Calibri" pitchFamily="34" charset="-122"/>
                <a:cs typeface="Calibri" pitchFamily="34" charset="-120"/>
              </a:rPr>
              <a:t>TEMA 8 · RIESGO AMBIENTAL Y SOCIAL · NRP-53</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200" b="1" dirty="0">
                <a:solidFill>
                  <a:srgbClr val="133B6C"/>
                </a:solidFill>
                <a:latin typeface="Cambria" pitchFamily="34" charset="0"/>
                <a:ea typeface="Cambria" pitchFamily="34" charset="-122"/>
                <a:cs typeface="Cambria" pitchFamily="34" charset="-120"/>
              </a:rPr>
              <a:t>EJEMPLOS DE SEÑALES DE RIESGO AMBIENTAL O SOCIAL</a:t>
            </a:r>
            <a:endParaRPr lang="en-US" sz="22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Tipos de actividad que suelen requerir una mirada más cuidadosa antes de aprobar o dar seguimiento a un crédito:</a:t>
            </a:r>
            <a:endParaRPr lang="en-US" sz="1500" dirty="0"/>
          </a:p>
        </p:txBody>
      </p:sp>
      <p:sp>
        <p:nvSpPr>
          <p:cNvPr id="6" name="Shape 3"/>
          <p:cNvSpPr/>
          <p:nvPr/>
        </p:nvSpPr>
        <p:spPr>
          <a:xfrm>
            <a:off x="566928" y="2148840"/>
            <a:ext cx="3490874" cy="1851660"/>
          </a:xfrm>
          <a:prstGeom prst="roundRect">
            <a:avLst>
              <a:gd name="adj" fmla="val 4938"/>
            </a:avLst>
          </a:prstGeom>
          <a:solidFill>
            <a:srgbClr val="F2F5F9"/>
          </a:solidFill>
          <a:ln/>
        </p:spPr>
      </p:sp>
      <p:sp>
        <p:nvSpPr>
          <p:cNvPr id="7" name="Shape 4"/>
          <p:cNvSpPr/>
          <p:nvPr/>
        </p:nvSpPr>
        <p:spPr>
          <a:xfrm>
            <a:off x="2028901" y="2313432"/>
            <a:ext cx="566928" cy="566928"/>
          </a:xfrm>
          <a:prstGeom prst="ellipse">
            <a:avLst/>
          </a:prstGeom>
          <a:solidFill>
            <a:srgbClr val="0EA5A0"/>
          </a:solidFill>
          <a:ln/>
        </p:spPr>
      </p:sp>
      <p:pic>
        <p:nvPicPr>
          <p:cNvPr id="8" name="Image 0" descr="/tmp/claude-0/-home-user-riesgo/0ff9ff46-1396-5bd8-b3ac-2280dfbbbc55/scratchpad/work/gen/icons/seedling_white.png">    </p:cNvPr>
          <p:cNvPicPr>
            <a:picLocks noChangeAspect="1"/>
          </p:cNvPicPr>
          <p:nvPr/>
        </p:nvPicPr>
        <p:blipFill>
          <a:blip r:embed="rId1"/>
          <a:stretch>
            <a:fillRect/>
          </a:stretch>
        </p:blipFill>
        <p:spPr>
          <a:xfrm>
            <a:off x="2164964" y="2449495"/>
            <a:ext cx="294803" cy="294803"/>
          </a:xfrm>
          <a:prstGeom prst="rect">
            <a:avLst/>
          </a:prstGeom>
        </p:spPr>
      </p:pic>
      <p:sp>
        <p:nvSpPr>
          <p:cNvPr id="9" name="Text 5"/>
          <p:cNvSpPr txBox="1"/>
          <p:nvPr/>
        </p:nvSpPr>
        <p:spPr>
          <a:xfrm>
            <a:off x="676656" y="3026664"/>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Agricultura o ganadería</a:t>
            </a:r>
            <a:endParaRPr lang="en-US" sz="1250" dirty="0"/>
          </a:p>
        </p:txBody>
      </p:sp>
      <p:sp>
        <p:nvSpPr>
          <p:cNvPr id="10" name="Text 6"/>
          <p:cNvSpPr txBox="1"/>
          <p:nvPr/>
        </p:nvSpPr>
        <p:spPr>
          <a:xfrm>
            <a:off x="731520" y="3538728"/>
            <a:ext cx="316169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Uso intensivo de agroquímicos.</a:t>
            </a:r>
            <a:endParaRPr lang="en-US" sz="1100" dirty="0"/>
          </a:p>
        </p:txBody>
      </p:sp>
      <p:sp>
        <p:nvSpPr>
          <p:cNvPr id="11" name="Shape 7"/>
          <p:cNvSpPr/>
          <p:nvPr/>
        </p:nvSpPr>
        <p:spPr>
          <a:xfrm>
            <a:off x="4350410" y="2148840"/>
            <a:ext cx="3490874" cy="1851660"/>
          </a:xfrm>
          <a:prstGeom prst="roundRect">
            <a:avLst>
              <a:gd name="adj" fmla="val 4938"/>
            </a:avLst>
          </a:prstGeom>
          <a:solidFill>
            <a:srgbClr val="F2F5F9"/>
          </a:solidFill>
          <a:ln/>
        </p:spPr>
      </p:sp>
      <p:sp>
        <p:nvSpPr>
          <p:cNvPr id="12" name="Shape 8"/>
          <p:cNvSpPr/>
          <p:nvPr/>
        </p:nvSpPr>
        <p:spPr>
          <a:xfrm>
            <a:off x="5812384" y="2313432"/>
            <a:ext cx="566928" cy="566928"/>
          </a:xfrm>
          <a:prstGeom prst="ellipse">
            <a:avLst/>
          </a:prstGeom>
          <a:solidFill>
            <a:srgbClr val="0EA5A0"/>
          </a:solidFill>
          <a:ln/>
        </p:spPr>
      </p:sp>
      <p:pic>
        <p:nvPicPr>
          <p:cNvPr id="13" name="Image 1" descr="/tmp/claude-0/-home-user-riesgo/0ff9ff46-1396-5bd8-b3ac-2280dfbbbc55/scratchpad/work/gen/icons/factory_white.png">    </p:cNvPr>
          <p:cNvPicPr>
            <a:picLocks noChangeAspect="1"/>
          </p:cNvPicPr>
          <p:nvPr/>
        </p:nvPicPr>
        <p:blipFill>
          <a:blip r:embed="rId2"/>
          <a:stretch>
            <a:fillRect/>
          </a:stretch>
        </p:blipFill>
        <p:spPr>
          <a:xfrm>
            <a:off x="5948446" y="2449495"/>
            <a:ext cx="294803" cy="294803"/>
          </a:xfrm>
          <a:prstGeom prst="rect">
            <a:avLst/>
          </a:prstGeom>
        </p:spPr>
      </p:pic>
      <p:sp>
        <p:nvSpPr>
          <p:cNvPr id="14" name="Text 9"/>
          <p:cNvSpPr txBox="1"/>
          <p:nvPr/>
        </p:nvSpPr>
        <p:spPr>
          <a:xfrm>
            <a:off x="4460138" y="3026664"/>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Talleres o fábricas</a:t>
            </a:r>
            <a:endParaRPr lang="en-US" sz="1250" dirty="0"/>
          </a:p>
        </p:txBody>
      </p:sp>
      <p:sp>
        <p:nvSpPr>
          <p:cNvPr id="15" name="Text 10"/>
          <p:cNvSpPr txBox="1"/>
          <p:nvPr/>
        </p:nvSpPr>
        <p:spPr>
          <a:xfrm>
            <a:off x="4515002" y="3538728"/>
            <a:ext cx="316169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Sin manejo adecuado de desechos.</a:t>
            </a:r>
            <a:endParaRPr lang="en-US" sz="1100" dirty="0"/>
          </a:p>
        </p:txBody>
      </p:sp>
      <p:sp>
        <p:nvSpPr>
          <p:cNvPr id="16" name="Shape 11"/>
          <p:cNvSpPr/>
          <p:nvPr/>
        </p:nvSpPr>
        <p:spPr>
          <a:xfrm>
            <a:off x="8133893" y="2148840"/>
            <a:ext cx="3490874" cy="1851660"/>
          </a:xfrm>
          <a:prstGeom prst="roundRect">
            <a:avLst>
              <a:gd name="adj" fmla="val 4938"/>
            </a:avLst>
          </a:prstGeom>
          <a:solidFill>
            <a:srgbClr val="F2F5F9"/>
          </a:solidFill>
          <a:ln/>
        </p:spPr>
      </p:sp>
      <p:sp>
        <p:nvSpPr>
          <p:cNvPr id="17" name="Shape 12"/>
          <p:cNvSpPr/>
          <p:nvPr/>
        </p:nvSpPr>
        <p:spPr>
          <a:xfrm>
            <a:off x="9595866" y="2313432"/>
            <a:ext cx="566928" cy="566928"/>
          </a:xfrm>
          <a:prstGeom prst="ellipse">
            <a:avLst/>
          </a:prstGeom>
          <a:solidFill>
            <a:srgbClr val="0EA5A0"/>
          </a:solidFill>
          <a:ln/>
        </p:spPr>
      </p:sp>
      <p:pic>
        <p:nvPicPr>
          <p:cNvPr id="18" name="Image 2" descr="/tmp/claude-0/-home-user-riesgo/0ff9ff46-1396-5bd8-b3ac-2280dfbbbc55/scratchpad/work/gen/icons/recycle_white.png">    </p:cNvPr>
          <p:cNvPicPr>
            <a:picLocks noChangeAspect="1"/>
          </p:cNvPicPr>
          <p:nvPr/>
        </p:nvPicPr>
        <p:blipFill>
          <a:blip r:embed="rId3"/>
          <a:stretch>
            <a:fillRect/>
          </a:stretch>
        </p:blipFill>
        <p:spPr>
          <a:xfrm>
            <a:off x="9731929" y="2449495"/>
            <a:ext cx="294803" cy="294803"/>
          </a:xfrm>
          <a:prstGeom prst="rect">
            <a:avLst/>
          </a:prstGeom>
        </p:spPr>
      </p:pic>
      <p:sp>
        <p:nvSpPr>
          <p:cNvPr id="19" name="Text 13"/>
          <p:cNvSpPr txBox="1"/>
          <p:nvPr/>
        </p:nvSpPr>
        <p:spPr>
          <a:xfrm>
            <a:off x="8243621" y="3026664"/>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Extracción de recursos</a:t>
            </a:r>
            <a:endParaRPr lang="en-US" sz="1250" dirty="0"/>
          </a:p>
        </p:txBody>
      </p:sp>
      <p:sp>
        <p:nvSpPr>
          <p:cNvPr id="20" name="Text 14"/>
          <p:cNvSpPr txBox="1"/>
          <p:nvPr/>
        </p:nvSpPr>
        <p:spPr>
          <a:xfrm>
            <a:off x="8298485" y="3538728"/>
            <a:ext cx="316169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Canteras, minería o tala.</a:t>
            </a:r>
            <a:endParaRPr lang="en-US" sz="1100" dirty="0"/>
          </a:p>
        </p:txBody>
      </p:sp>
      <p:sp>
        <p:nvSpPr>
          <p:cNvPr id="21" name="Shape 15"/>
          <p:cNvSpPr/>
          <p:nvPr/>
        </p:nvSpPr>
        <p:spPr>
          <a:xfrm>
            <a:off x="566928" y="4256532"/>
            <a:ext cx="3490874" cy="1851660"/>
          </a:xfrm>
          <a:prstGeom prst="roundRect">
            <a:avLst>
              <a:gd name="adj" fmla="val 4938"/>
            </a:avLst>
          </a:prstGeom>
          <a:solidFill>
            <a:srgbClr val="F2F5F9"/>
          </a:solidFill>
          <a:ln/>
        </p:spPr>
      </p:sp>
      <p:sp>
        <p:nvSpPr>
          <p:cNvPr id="22" name="Shape 16"/>
          <p:cNvSpPr/>
          <p:nvPr/>
        </p:nvSpPr>
        <p:spPr>
          <a:xfrm>
            <a:off x="2028901" y="4421124"/>
            <a:ext cx="566928" cy="566928"/>
          </a:xfrm>
          <a:prstGeom prst="ellipse">
            <a:avLst/>
          </a:prstGeom>
          <a:solidFill>
            <a:srgbClr val="0EA5A0"/>
          </a:solidFill>
          <a:ln/>
        </p:spPr>
      </p:sp>
      <p:pic>
        <p:nvPicPr>
          <p:cNvPr id="23" name="Image 3" descr="/tmp/claude-0/-home-user-riesgo/0ff9ff46-1396-5bd8-b3ac-2280dfbbbc55/scratchpad/work/gen/icons/house_flood_white.png">    </p:cNvPr>
          <p:cNvPicPr>
            <a:picLocks noChangeAspect="1"/>
          </p:cNvPicPr>
          <p:nvPr/>
        </p:nvPicPr>
        <p:blipFill>
          <a:blip r:embed="rId4"/>
          <a:stretch>
            <a:fillRect/>
          </a:stretch>
        </p:blipFill>
        <p:spPr>
          <a:xfrm>
            <a:off x="2164964" y="4557187"/>
            <a:ext cx="294803" cy="294803"/>
          </a:xfrm>
          <a:prstGeom prst="rect">
            <a:avLst/>
          </a:prstGeom>
        </p:spPr>
      </p:pic>
      <p:sp>
        <p:nvSpPr>
          <p:cNvPr id="24" name="Text 17"/>
          <p:cNvSpPr txBox="1"/>
          <p:nvPr/>
        </p:nvSpPr>
        <p:spPr>
          <a:xfrm>
            <a:off x="676656" y="5134356"/>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Cercanía a fuentes de agua</a:t>
            </a:r>
            <a:endParaRPr lang="en-US" sz="1250" dirty="0"/>
          </a:p>
        </p:txBody>
      </p:sp>
      <p:sp>
        <p:nvSpPr>
          <p:cNvPr id="25" name="Text 18"/>
          <p:cNvSpPr txBox="1"/>
          <p:nvPr/>
        </p:nvSpPr>
        <p:spPr>
          <a:xfrm>
            <a:off x="731520" y="5646420"/>
            <a:ext cx="316169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Ríos o zonas protegidas.</a:t>
            </a:r>
            <a:endParaRPr lang="en-US" sz="1100" dirty="0"/>
          </a:p>
        </p:txBody>
      </p:sp>
      <p:sp>
        <p:nvSpPr>
          <p:cNvPr id="26" name="Shape 19"/>
          <p:cNvSpPr/>
          <p:nvPr/>
        </p:nvSpPr>
        <p:spPr>
          <a:xfrm>
            <a:off x="4350410" y="4256532"/>
            <a:ext cx="3490874" cy="1851660"/>
          </a:xfrm>
          <a:prstGeom prst="roundRect">
            <a:avLst>
              <a:gd name="adj" fmla="val 4938"/>
            </a:avLst>
          </a:prstGeom>
          <a:solidFill>
            <a:srgbClr val="F2F5F9"/>
          </a:solidFill>
          <a:ln/>
        </p:spPr>
      </p:sp>
      <p:sp>
        <p:nvSpPr>
          <p:cNvPr id="27" name="Shape 20"/>
          <p:cNvSpPr/>
          <p:nvPr/>
        </p:nvSpPr>
        <p:spPr>
          <a:xfrm>
            <a:off x="5812384" y="4421124"/>
            <a:ext cx="566928" cy="566928"/>
          </a:xfrm>
          <a:prstGeom prst="ellipse">
            <a:avLst/>
          </a:prstGeom>
          <a:solidFill>
            <a:srgbClr val="0EA5A0"/>
          </a:solidFill>
          <a:ln/>
        </p:spPr>
      </p:sp>
      <p:pic>
        <p:nvPicPr>
          <p:cNvPr id="28" name="Image 4" descr="/tmp/claude-0/-home-user-riesgo/0ff9ff46-1396-5bd8-b3ac-2280dfbbbc55/scratchpad/work/gen/icons/handshake_broken_white.png">    </p:cNvPr>
          <p:cNvPicPr>
            <a:picLocks noChangeAspect="1"/>
          </p:cNvPicPr>
          <p:nvPr/>
        </p:nvPicPr>
        <p:blipFill>
          <a:blip r:embed="rId5"/>
          <a:stretch>
            <a:fillRect/>
          </a:stretch>
        </p:blipFill>
        <p:spPr>
          <a:xfrm>
            <a:off x="5948446" y="4557187"/>
            <a:ext cx="294803" cy="294803"/>
          </a:xfrm>
          <a:prstGeom prst="rect">
            <a:avLst/>
          </a:prstGeom>
        </p:spPr>
      </p:pic>
      <p:sp>
        <p:nvSpPr>
          <p:cNvPr id="29" name="Text 21"/>
          <p:cNvSpPr txBox="1"/>
          <p:nvPr/>
        </p:nvSpPr>
        <p:spPr>
          <a:xfrm>
            <a:off x="4460138" y="5134356"/>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Condiciones laborales</a:t>
            </a:r>
            <a:endParaRPr lang="en-US" sz="1250" dirty="0"/>
          </a:p>
        </p:txBody>
      </p:sp>
      <p:sp>
        <p:nvSpPr>
          <p:cNvPr id="30" name="Text 22"/>
          <p:cNvSpPr txBox="1"/>
          <p:nvPr/>
        </p:nvSpPr>
        <p:spPr>
          <a:xfrm>
            <a:off x="4515002" y="5646420"/>
            <a:ext cx="316169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Trabajo infantil o condiciones inadecuadas.</a:t>
            </a:r>
            <a:endParaRPr lang="en-US" sz="1100" dirty="0"/>
          </a:p>
        </p:txBody>
      </p:sp>
      <p:sp>
        <p:nvSpPr>
          <p:cNvPr id="31" name="Shape 23"/>
          <p:cNvSpPr/>
          <p:nvPr/>
        </p:nvSpPr>
        <p:spPr>
          <a:xfrm>
            <a:off x="8133893" y="4256532"/>
            <a:ext cx="3490874" cy="1851660"/>
          </a:xfrm>
          <a:prstGeom prst="roundRect">
            <a:avLst>
              <a:gd name="adj" fmla="val 4938"/>
            </a:avLst>
          </a:prstGeom>
          <a:solidFill>
            <a:srgbClr val="F2F5F9"/>
          </a:solidFill>
          <a:ln/>
        </p:spPr>
      </p:sp>
      <p:sp>
        <p:nvSpPr>
          <p:cNvPr id="32" name="Shape 24"/>
          <p:cNvSpPr/>
          <p:nvPr/>
        </p:nvSpPr>
        <p:spPr>
          <a:xfrm>
            <a:off x="9595866" y="4421124"/>
            <a:ext cx="566928" cy="566928"/>
          </a:xfrm>
          <a:prstGeom prst="ellipse">
            <a:avLst/>
          </a:prstGeom>
          <a:solidFill>
            <a:srgbClr val="0EA5A0"/>
          </a:solidFill>
          <a:ln/>
        </p:spPr>
      </p:sp>
      <p:pic>
        <p:nvPicPr>
          <p:cNvPr id="33" name="Image 5" descr="/tmp/claude-0/-home-user-riesgo/0ff9ff46-1396-5bd8-b3ac-2280dfbbbc55/scratchpad/work/gen/icons/document_white.png">    </p:cNvPr>
          <p:cNvPicPr>
            <a:picLocks noChangeAspect="1"/>
          </p:cNvPicPr>
          <p:nvPr/>
        </p:nvPicPr>
        <p:blipFill>
          <a:blip r:embed="rId6"/>
          <a:stretch>
            <a:fillRect/>
          </a:stretch>
        </p:blipFill>
        <p:spPr>
          <a:xfrm>
            <a:off x="9731929" y="4557187"/>
            <a:ext cx="294803" cy="294803"/>
          </a:xfrm>
          <a:prstGeom prst="rect">
            <a:avLst/>
          </a:prstGeom>
        </p:spPr>
      </p:pic>
      <p:sp>
        <p:nvSpPr>
          <p:cNvPr id="34" name="Text 25"/>
          <p:cNvSpPr txBox="1"/>
          <p:nvPr/>
        </p:nvSpPr>
        <p:spPr>
          <a:xfrm>
            <a:off x="8243621" y="5134356"/>
            <a:ext cx="327141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Sin permisos vigentes</a:t>
            </a:r>
            <a:endParaRPr lang="en-US" sz="1250" dirty="0"/>
          </a:p>
        </p:txBody>
      </p:sp>
      <p:sp>
        <p:nvSpPr>
          <p:cNvPr id="35" name="Text 26"/>
          <p:cNvSpPr txBox="1"/>
          <p:nvPr/>
        </p:nvSpPr>
        <p:spPr>
          <a:xfrm>
            <a:off x="8298485" y="5646420"/>
            <a:ext cx="316169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Sin autorizaciones ambientales.</a:t>
            </a:r>
            <a:endParaRPr lang="en-US" sz="1100" dirty="0"/>
          </a:p>
        </p:txBody>
      </p:sp>
      <p:sp>
        <p:nvSpPr>
          <p:cNvPr id="36" name="Text 27"/>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37" name="Text 28"/>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18</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86C7"/>
                </a:solidFill>
                <a:latin typeface="Calibri" pitchFamily="34" charset="0"/>
                <a:ea typeface="Calibri" pitchFamily="34" charset="-122"/>
                <a:cs typeface="Calibri" pitchFamily="34" charset="-120"/>
              </a:rPr>
              <a:t>CIERRE DEL RECORRIDO · RESUMEN</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400" b="1" dirty="0">
                <a:solidFill>
                  <a:srgbClr val="133B6C"/>
                </a:solidFill>
                <a:latin typeface="Cambria" pitchFamily="34" charset="0"/>
                <a:ea typeface="Cambria" pitchFamily="34" charset="-122"/>
                <a:cs typeface="Cambria" pitchFamily="34" charset="-120"/>
              </a:rPr>
              <a:t>TODOS LOS RIESGOS QUE IDENTIFICAMOS HOY</a:t>
            </a:r>
            <a:endParaRPr lang="en-US" sz="24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Ocho tipos de riesgo que conviven en el trabajo diario de la Cooperativa:</a:t>
            </a:r>
            <a:endParaRPr lang="en-US" sz="1500" dirty="0"/>
          </a:p>
        </p:txBody>
      </p:sp>
      <p:sp>
        <p:nvSpPr>
          <p:cNvPr id="6" name="Shape 3"/>
          <p:cNvSpPr/>
          <p:nvPr/>
        </p:nvSpPr>
        <p:spPr>
          <a:xfrm>
            <a:off x="566928" y="2148840"/>
            <a:ext cx="2545004" cy="1851660"/>
          </a:xfrm>
          <a:prstGeom prst="roundRect">
            <a:avLst>
              <a:gd name="adj" fmla="val 4938"/>
            </a:avLst>
          </a:prstGeom>
          <a:solidFill>
            <a:srgbClr val="F2F5F9"/>
          </a:solidFill>
          <a:ln/>
        </p:spPr>
      </p:sp>
      <p:sp>
        <p:nvSpPr>
          <p:cNvPr id="7" name="Shape 4"/>
          <p:cNvSpPr/>
          <p:nvPr/>
        </p:nvSpPr>
        <p:spPr>
          <a:xfrm>
            <a:off x="1555966" y="2313432"/>
            <a:ext cx="566928" cy="566928"/>
          </a:xfrm>
          <a:prstGeom prst="ellipse">
            <a:avLst/>
          </a:prstGeom>
          <a:solidFill>
            <a:srgbClr val="2E86C7"/>
          </a:solidFill>
          <a:ln/>
        </p:spPr>
      </p:sp>
      <p:pic>
        <p:nvPicPr>
          <p:cNvPr id="8" name="Image 0" descr="/tmp/claude-0/-home-user-riesgo/0ff9ff46-1396-5bd8-b3ac-2280dfbbbc55/scratchpad/work/gen/icons/gears_white.png">    </p:cNvPr>
          <p:cNvPicPr>
            <a:picLocks noChangeAspect="1"/>
          </p:cNvPicPr>
          <p:nvPr/>
        </p:nvPicPr>
        <p:blipFill>
          <a:blip r:embed="rId1"/>
          <a:stretch>
            <a:fillRect/>
          </a:stretch>
        </p:blipFill>
        <p:spPr>
          <a:xfrm>
            <a:off x="1692029" y="2449495"/>
            <a:ext cx="294803" cy="294803"/>
          </a:xfrm>
          <a:prstGeom prst="rect">
            <a:avLst/>
          </a:prstGeom>
        </p:spPr>
      </p:pic>
      <p:sp>
        <p:nvSpPr>
          <p:cNvPr id="9" name="Text 5"/>
          <p:cNvSpPr txBox="1"/>
          <p:nvPr/>
        </p:nvSpPr>
        <p:spPr>
          <a:xfrm>
            <a:off x="676656" y="3026664"/>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Riesgo Operativo</a:t>
            </a:r>
            <a:endParaRPr lang="en-US" sz="1250" dirty="0"/>
          </a:p>
        </p:txBody>
      </p:sp>
      <p:sp>
        <p:nvSpPr>
          <p:cNvPr id="10" name="Text 6"/>
          <p:cNvSpPr txBox="1"/>
          <p:nvPr/>
        </p:nvSpPr>
        <p:spPr>
          <a:xfrm>
            <a:off x="731520" y="3538728"/>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Fallas en personas, procesos, sistemas o eventos externos.</a:t>
            </a:r>
            <a:endParaRPr lang="en-US" sz="1100" dirty="0"/>
          </a:p>
        </p:txBody>
      </p:sp>
      <p:sp>
        <p:nvSpPr>
          <p:cNvPr id="11" name="Shape 7"/>
          <p:cNvSpPr/>
          <p:nvPr/>
        </p:nvSpPr>
        <p:spPr>
          <a:xfrm>
            <a:off x="3404540" y="2148840"/>
            <a:ext cx="2545004" cy="1851660"/>
          </a:xfrm>
          <a:prstGeom prst="roundRect">
            <a:avLst>
              <a:gd name="adj" fmla="val 4938"/>
            </a:avLst>
          </a:prstGeom>
          <a:solidFill>
            <a:srgbClr val="F2F5F9"/>
          </a:solidFill>
          <a:ln/>
        </p:spPr>
      </p:sp>
      <p:sp>
        <p:nvSpPr>
          <p:cNvPr id="12" name="Shape 8"/>
          <p:cNvSpPr/>
          <p:nvPr/>
        </p:nvSpPr>
        <p:spPr>
          <a:xfrm>
            <a:off x="4393578" y="2313432"/>
            <a:ext cx="566928" cy="566928"/>
          </a:xfrm>
          <a:prstGeom prst="ellipse">
            <a:avLst/>
          </a:prstGeom>
          <a:solidFill>
            <a:srgbClr val="2E86C7"/>
          </a:solidFill>
          <a:ln/>
        </p:spPr>
      </p:sp>
      <p:pic>
        <p:nvPicPr>
          <p:cNvPr id="13" name="Image 1" descr="/tmp/claude-0/-home-user-riesgo/0ff9ff46-1396-5bd8-b3ac-2280dfbbbc55/scratchpad/work/gen/icons/star_white.png">    </p:cNvPr>
          <p:cNvPicPr>
            <a:picLocks noChangeAspect="1"/>
          </p:cNvPicPr>
          <p:nvPr/>
        </p:nvPicPr>
        <p:blipFill>
          <a:blip r:embed="rId2"/>
          <a:stretch>
            <a:fillRect/>
          </a:stretch>
        </p:blipFill>
        <p:spPr>
          <a:xfrm>
            <a:off x="4529640" y="2449495"/>
            <a:ext cx="294803" cy="294803"/>
          </a:xfrm>
          <a:prstGeom prst="rect">
            <a:avLst/>
          </a:prstGeom>
        </p:spPr>
      </p:pic>
      <p:sp>
        <p:nvSpPr>
          <p:cNvPr id="14" name="Text 9"/>
          <p:cNvSpPr txBox="1"/>
          <p:nvPr/>
        </p:nvSpPr>
        <p:spPr>
          <a:xfrm>
            <a:off x="3514268" y="3026664"/>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Riesgo Reputacional</a:t>
            </a:r>
            <a:endParaRPr lang="en-US" sz="1250" dirty="0"/>
          </a:p>
        </p:txBody>
      </p:sp>
      <p:sp>
        <p:nvSpPr>
          <p:cNvPr id="15" name="Text 10"/>
          <p:cNvSpPr txBox="1"/>
          <p:nvPr/>
        </p:nvSpPr>
        <p:spPr>
          <a:xfrm>
            <a:off x="3569132" y="3538728"/>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Daño a la imagen o la confianza en la Cooperativa.</a:t>
            </a:r>
            <a:endParaRPr lang="en-US" sz="1100" dirty="0"/>
          </a:p>
        </p:txBody>
      </p:sp>
      <p:sp>
        <p:nvSpPr>
          <p:cNvPr id="16" name="Shape 11"/>
          <p:cNvSpPr/>
          <p:nvPr/>
        </p:nvSpPr>
        <p:spPr>
          <a:xfrm>
            <a:off x="6242152" y="2148840"/>
            <a:ext cx="2545004" cy="1851660"/>
          </a:xfrm>
          <a:prstGeom prst="roundRect">
            <a:avLst>
              <a:gd name="adj" fmla="val 4938"/>
            </a:avLst>
          </a:prstGeom>
          <a:solidFill>
            <a:srgbClr val="F2F5F9"/>
          </a:solidFill>
          <a:ln/>
        </p:spPr>
      </p:sp>
      <p:sp>
        <p:nvSpPr>
          <p:cNvPr id="17" name="Shape 12"/>
          <p:cNvSpPr/>
          <p:nvPr/>
        </p:nvSpPr>
        <p:spPr>
          <a:xfrm>
            <a:off x="7231189" y="2313432"/>
            <a:ext cx="566928" cy="566928"/>
          </a:xfrm>
          <a:prstGeom prst="ellipse">
            <a:avLst/>
          </a:prstGeom>
          <a:solidFill>
            <a:srgbClr val="2E86C7"/>
          </a:solidFill>
          <a:ln/>
        </p:spPr>
      </p:sp>
      <p:pic>
        <p:nvPicPr>
          <p:cNvPr id="18" name="Image 2" descr="/tmp/claude-0/-home-user-riesgo/0ff9ff46-1396-5bd8-b3ac-2280dfbbbc55/scratchpad/work/gen/icons/shield_warning_white.png">    </p:cNvPr>
          <p:cNvPicPr>
            <a:picLocks noChangeAspect="1"/>
          </p:cNvPicPr>
          <p:nvPr/>
        </p:nvPicPr>
        <p:blipFill>
          <a:blip r:embed="rId3"/>
          <a:stretch>
            <a:fillRect/>
          </a:stretch>
        </p:blipFill>
        <p:spPr>
          <a:xfrm>
            <a:off x="7367252" y="2449495"/>
            <a:ext cx="294803" cy="294803"/>
          </a:xfrm>
          <a:prstGeom prst="rect">
            <a:avLst/>
          </a:prstGeom>
        </p:spPr>
      </p:pic>
      <p:sp>
        <p:nvSpPr>
          <p:cNvPr id="19" name="Text 13"/>
          <p:cNvSpPr txBox="1"/>
          <p:nvPr/>
        </p:nvSpPr>
        <p:spPr>
          <a:xfrm>
            <a:off x="6351880" y="3026664"/>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Fraude</a:t>
            </a:r>
            <a:endParaRPr lang="en-US" sz="1250" dirty="0"/>
          </a:p>
        </p:txBody>
      </p:sp>
      <p:sp>
        <p:nvSpPr>
          <p:cNvPr id="20" name="Text 14"/>
          <p:cNvSpPr txBox="1"/>
          <p:nvPr/>
        </p:nvSpPr>
        <p:spPr>
          <a:xfrm>
            <a:off x="6406744" y="3538728"/>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Acción intencional para obtener un beneficio indebido.</a:t>
            </a:r>
            <a:endParaRPr lang="en-US" sz="1100" dirty="0"/>
          </a:p>
        </p:txBody>
      </p:sp>
      <p:sp>
        <p:nvSpPr>
          <p:cNvPr id="21" name="Shape 15"/>
          <p:cNvSpPr/>
          <p:nvPr/>
        </p:nvSpPr>
        <p:spPr>
          <a:xfrm>
            <a:off x="9079763" y="2148840"/>
            <a:ext cx="2545004" cy="1851660"/>
          </a:xfrm>
          <a:prstGeom prst="roundRect">
            <a:avLst>
              <a:gd name="adj" fmla="val 4938"/>
            </a:avLst>
          </a:prstGeom>
          <a:solidFill>
            <a:srgbClr val="F2F5F9"/>
          </a:solidFill>
          <a:ln/>
        </p:spPr>
      </p:sp>
      <p:sp>
        <p:nvSpPr>
          <p:cNvPr id="22" name="Shape 16"/>
          <p:cNvSpPr/>
          <p:nvPr/>
        </p:nvSpPr>
        <p:spPr>
          <a:xfrm>
            <a:off x="10068801" y="2313432"/>
            <a:ext cx="566928" cy="566928"/>
          </a:xfrm>
          <a:prstGeom prst="ellipse">
            <a:avLst/>
          </a:prstGeom>
          <a:solidFill>
            <a:srgbClr val="2E86C7"/>
          </a:solidFill>
          <a:ln/>
        </p:spPr>
      </p:sp>
      <p:pic>
        <p:nvPicPr>
          <p:cNvPr id="23" name="Image 3" descr="/tmp/claude-0/-home-user-riesgo/0ff9ff46-1396-5bd8-b3ac-2280dfbbbc55/scratchpad/work/gen/icons/bank_white.png">    </p:cNvPr>
          <p:cNvPicPr>
            <a:picLocks noChangeAspect="1"/>
          </p:cNvPicPr>
          <p:nvPr/>
        </p:nvPicPr>
        <p:blipFill>
          <a:blip r:embed="rId4"/>
          <a:stretch>
            <a:fillRect/>
          </a:stretch>
        </p:blipFill>
        <p:spPr>
          <a:xfrm>
            <a:off x="10204864" y="2449495"/>
            <a:ext cx="294803" cy="294803"/>
          </a:xfrm>
          <a:prstGeom prst="rect">
            <a:avLst/>
          </a:prstGeom>
        </p:spPr>
      </p:pic>
      <p:sp>
        <p:nvSpPr>
          <p:cNvPr id="24" name="Text 17"/>
          <p:cNvSpPr txBox="1"/>
          <p:nvPr/>
        </p:nvSpPr>
        <p:spPr>
          <a:xfrm>
            <a:off x="9189491" y="3026664"/>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Riesgo Crediticio</a:t>
            </a:r>
            <a:endParaRPr lang="en-US" sz="1250" dirty="0"/>
          </a:p>
        </p:txBody>
      </p:sp>
      <p:sp>
        <p:nvSpPr>
          <p:cNvPr id="25" name="Text 18"/>
          <p:cNvSpPr txBox="1"/>
          <p:nvPr/>
        </p:nvSpPr>
        <p:spPr>
          <a:xfrm>
            <a:off x="9244355" y="3538728"/>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Que un asociado no cumpla sus obligaciones de pago.</a:t>
            </a:r>
            <a:endParaRPr lang="en-US" sz="1100" dirty="0"/>
          </a:p>
        </p:txBody>
      </p:sp>
      <p:sp>
        <p:nvSpPr>
          <p:cNvPr id="26" name="Shape 19"/>
          <p:cNvSpPr/>
          <p:nvPr/>
        </p:nvSpPr>
        <p:spPr>
          <a:xfrm>
            <a:off x="566928" y="4256532"/>
            <a:ext cx="2545004" cy="1851660"/>
          </a:xfrm>
          <a:prstGeom prst="roundRect">
            <a:avLst>
              <a:gd name="adj" fmla="val 4938"/>
            </a:avLst>
          </a:prstGeom>
          <a:solidFill>
            <a:srgbClr val="F2F5F9"/>
          </a:solidFill>
          <a:ln/>
        </p:spPr>
      </p:sp>
      <p:sp>
        <p:nvSpPr>
          <p:cNvPr id="27" name="Shape 20"/>
          <p:cNvSpPr/>
          <p:nvPr/>
        </p:nvSpPr>
        <p:spPr>
          <a:xfrm>
            <a:off x="1555966" y="4421124"/>
            <a:ext cx="566928" cy="566928"/>
          </a:xfrm>
          <a:prstGeom prst="ellipse">
            <a:avLst/>
          </a:prstGeom>
          <a:solidFill>
            <a:srgbClr val="2E86C7"/>
          </a:solidFill>
          <a:ln/>
        </p:spPr>
      </p:sp>
      <p:pic>
        <p:nvPicPr>
          <p:cNvPr id="28" name="Image 4" descr="/tmp/claude-0/-home-user-riesgo/0ff9ff46-1396-5bd8-b3ac-2280dfbbbc55/scratchpad/work/gen/icons/server_white.png">    </p:cNvPr>
          <p:cNvPicPr>
            <a:picLocks noChangeAspect="1"/>
          </p:cNvPicPr>
          <p:nvPr/>
        </p:nvPicPr>
        <p:blipFill>
          <a:blip r:embed="rId5"/>
          <a:stretch>
            <a:fillRect/>
          </a:stretch>
        </p:blipFill>
        <p:spPr>
          <a:xfrm>
            <a:off x="1692029" y="4557187"/>
            <a:ext cx="294803" cy="294803"/>
          </a:xfrm>
          <a:prstGeom prst="rect">
            <a:avLst/>
          </a:prstGeom>
        </p:spPr>
      </p:pic>
      <p:sp>
        <p:nvSpPr>
          <p:cNvPr id="29" name="Text 21"/>
          <p:cNvSpPr txBox="1"/>
          <p:nvPr/>
        </p:nvSpPr>
        <p:spPr>
          <a:xfrm>
            <a:off x="676656" y="5134356"/>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Riesgo Tecnológico</a:t>
            </a:r>
            <a:endParaRPr lang="en-US" sz="1250" dirty="0"/>
          </a:p>
        </p:txBody>
      </p:sp>
      <p:sp>
        <p:nvSpPr>
          <p:cNvPr id="30" name="Text 22"/>
          <p:cNvSpPr txBox="1"/>
          <p:nvPr/>
        </p:nvSpPr>
        <p:spPr>
          <a:xfrm>
            <a:off x="731520" y="5646420"/>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Fallas o interrupciones en sistemas y datos.</a:t>
            </a:r>
            <a:endParaRPr lang="en-US" sz="1100" dirty="0"/>
          </a:p>
        </p:txBody>
      </p:sp>
      <p:sp>
        <p:nvSpPr>
          <p:cNvPr id="31" name="Shape 23"/>
          <p:cNvSpPr/>
          <p:nvPr/>
        </p:nvSpPr>
        <p:spPr>
          <a:xfrm>
            <a:off x="3404540" y="4256532"/>
            <a:ext cx="2545004" cy="1851660"/>
          </a:xfrm>
          <a:prstGeom prst="roundRect">
            <a:avLst>
              <a:gd name="adj" fmla="val 4938"/>
            </a:avLst>
          </a:prstGeom>
          <a:solidFill>
            <a:srgbClr val="F2F5F9"/>
          </a:solidFill>
          <a:ln/>
        </p:spPr>
      </p:sp>
      <p:sp>
        <p:nvSpPr>
          <p:cNvPr id="32" name="Shape 24"/>
          <p:cNvSpPr/>
          <p:nvPr/>
        </p:nvSpPr>
        <p:spPr>
          <a:xfrm>
            <a:off x="4393578" y="4421124"/>
            <a:ext cx="566928" cy="566928"/>
          </a:xfrm>
          <a:prstGeom prst="ellipse">
            <a:avLst/>
          </a:prstGeom>
          <a:solidFill>
            <a:srgbClr val="2E86C7"/>
          </a:solidFill>
          <a:ln/>
        </p:spPr>
      </p:sp>
      <p:pic>
        <p:nvPicPr>
          <p:cNvPr id="33" name="Image 5" descr="/tmp/claude-0/-home-user-riesgo/0ff9ff46-1396-5bd8-b3ac-2280dfbbbc55/scratchpad/work/gen/icons/globe_white.png">    </p:cNvPr>
          <p:cNvPicPr>
            <a:picLocks noChangeAspect="1"/>
          </p:cNvPicPr>
          <p:nvPr/>
        </p:nvPicPr>
        <p:blipFill>
          <a:blip r:embed="rId6"/>
          <a:stretch>
            <a:fillRect/>
          </a:stretch>
        </p:blipFill>
        <p:spPr>
          <a:xfrm>
            <a:off x="4529640" y="4557187"/>
            <a:ext cx="294803" cy="294803"/>
          </a:xfrm>
          <a:prstGeom prst="rect">
            <a:avLst/>
          </a:prstGeom>
        </p:spPr>
      </p:pic>
      <p:sp>
        <p:nvSpPr>
          <p:cNvPr id="34" name="Text 25"/>
          <p:cNvSpPr txBox="1"/>
          <p:nvPr/>
        </p:nvSpPr>
        <p:spPr>
          <a:xfrm>
            <a:off x="3514268" y="5134356"/>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Riesgo Ambiental y Social</a:t>
            </a:r>
            <a:endParaRPr lang="en-US" sz="1250" dirty="0"/>
          </a:p>
        </p:txBody>
      </p:sp>
      <p:sp>
        <p:nvSpPr>
          <p:cNvPr id="35" name="Text 26"/>
          <p:cNvSpPr txBox="1"/>
          <p:nvPr/>
        </p:nvSpPr>
        <p:spPr>
          <a:xfrm>
            <a:off x="3569132" y="5646420"/>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Eventos externos que afectan personas y operaciones.</a:t>
            </a:r>
            <a:endParaRPr lang="en-US" sz="1100" dirty="0"/>
          </a:p>
        </p:txBody>
      </p:sp>
      <p:sp>
        <p:nvSpPr>
          <p:cNvPr id="36" name="Shape 27"/>
          <p:cNvSpPr/>
          <p:nvPr/>
        </p:nvSpPr>
        <p:spPr>
          <a:xfrm>
            <a:off x="6242152" y="4256532"/>
            <a:ext cx="2545004" cy="1851660"/>
          </a:xfrm>
          <a:prstGeom prst="roundRect">
            <a:avLst>
              <a:gd name="adj" fmla="val 4938"/>
            </a:avLst>
          </a:prstGeom>
          <a:solidFill>
            <a:srgbClr val="F2F5F9"/>
          </a:solidFill>
          <a:ln/>
        </p:spPr>
      </p:sp>
      <p:sp>
        <p:nvSpPr>
          <p:cNvPr id="37" name="Shape 28"/>
          <p:cNvSpPr/>
          <p:nvPr/>
        </p:nvSpPr>
        <p:spPr>
          <a:xfrm>
            <a:off x="7231189" y="4421124"/>
            <a:ext cx="566928" cy="566928"/>
          </a:xfrm>
          <a:prstGeom prst="ellipse">
            <a:avLst/>
          </a:prstGeom>
          <a:solidFill>
            <a:srgbClr val="2E86C7"/>
          </a:solidFill>
          <a:ln/>
        </p:spPr>
      </p:sp>
      <p:pic>
        <p:nvPicPr>
          <p:cNvPr id="38" name="Image 6" descr="/tmp/claude-0/-home-user-riesgo/0ff9ff46-1396-5bd8-b3ac-2280dfbbbc55/scratchpad/work/gen/icons/route_white.png">    </p:cNvPr>
          <p:cNvPicPr>
            <a:picLocks noChangeAspect="1"/>
          </p:cNvPicPr>
          <p:nvPr/>
        </p:nvPicPr>
        <p:blipFill>
          <a:blip r:embed="rId7"/>
          <a:stretch>
            <a:fillRect/>
          </a:stretch>
        </p:blipFill>
        <p:spPr>
          <a:xfrm>
            <a:off x="7367252" y="4557187"/>
            <a:ext cx="294803" cy="294803"/>
          </a:xfrm>
          <a:prstGeom prst="rect">
            <a:avLst/>
          </a:prstGeom>
        </p:spPr>
      </p:pic>
      <p:sp>
        <p:nvSpPr>
          <p:cNvPr id="39" name="Text 29"/>
          <p:cNvSpPr txBox="1"/>
          <p:nvPr/>
        </p:nvSpPr>
        <p:spPr>
          <a:xfrm>
            <a:off x="6351880" y="5134356"/>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Riesgo de Continuidad</a:t>
            </a:r>
            <a:endParaRPr lang="en-US" sz="1250" dirty="0"/>
          </a:p>
        </p:txBody>
      </p:sp>
      <p:sp>
        <p:nvSpPr>
          <p:cNvPr id="40" name="Text 30"/>
          <p:cNvSpPr txBox="1"/>
          <p:nvPr/>
        </p:nvSpPr>
        <p:spPr>
          <a:xfrm>
            <a:off x="6406744" y="5646420"/>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Interrupciones que afectan la operación normal del negocio.</a:t>
            </a:r>
            <a:endParaRPr lang="en-US" sz="1100" dirty="0"/>
          </a:p>
        </p:txBody>
      </p:sp>
      <p:sp>
        <p:nvSpPr>
          <p:cNvPr id="41" name="Shape 31"/>
          <p:cNvSpPr/>
          <p:nvPr/>
        </p:nvSpPr>
        <p:spPr>
          <a:xfrm>
            <a:off x="9079763" y="4256532"/>
            <a:ext cx="2545004" cy="1851660"/>
          </a:xfrm>
          <a:prstGeom prst="roundRect">
            <a:avLst>
              <a:gd name="adj" fmla="val 4938"/>
            </a:avLst>
          </a:prstGeom>
          <a:solidFill>
            <a:srgbClr val="F2F5F9"/>
          </a:solidFill>
          <a:ln/>
        </p:spPr>
      </p:sp>
      <p:sp>
        <p:nvSpPr>
          <p:cNvPr id="42" name="Shape 32"/>
          <p:cNvSpPr/>
          <p:nvPr/>
        </p:nvSpPr>
        <p:spPr>
          <a:xfrm>
            <a:off x="10068801" y="4421124"/>
            <a:ext cx="566928" cy="566928"/>
          </a:xfrm>
          <a:prstGeom prst="ellipse">
            <a:avLst/>
          </a:prstGeom>
          <a:solidFill>
            <a:srgbClr val="2E86C7"/>
          </a:solidFill>
          <a:ln/>
        </p:spPr>
      </p:sp>
      <p:pic>
        <p:nvPicPr>
          <p:cNvPr id="43" name="Image 7" descr="/tmp/claude-0/-home-user-riesgo/0ff9ff46-1396-5bd8-b3ac-2280dfbbbc55/scratchpad/work/gen/icons/scale_white.png">    </p:cNvPr>
          <p:cNvPicPr>
            <a:picLocks noChangeAspect="1"/>
          </p:cNvPicPr>
          <p:nvPr/>
        </p:nvPicPr>
        <p:blipFill>
          <a:blip r:embed="rId8"/>
          <a:stretch>
            <a:fillRect/>
          </a:stretch>
        </p:blipFill>
        <p:spPr>
          <a:xfrm>
            <a:off x="10204864" y="4557187"/>
            <a:ext cx="294803" cy="294803"/>
          </a:xfrm>
          <a:prstGeom prst="rect">
            <a:avLst/>
          </a:prstGeom>
        </p:spPr>
      </p:pic>
      <p:sp>
        <p:nvSpPr>
          <p:cNvPr id="44" name="Text 33"/>
          <p:cNvSpPr txBox="1"/>
          <p:nvPr/>
        </p:nvSpPr>
        <p:spPr>
          <a:xfrm>
            <a:off x="9189491" y="5134356"/>
            <a:ext cx="2325548" cy="457200"/>
          </a:xfrm>
          <a:prstGeom prst="rect">
            <a:avLst/>
          </a:prstGeom>
          <a:noFill/>
          <a:ln/>
        </p:spPr>
        <p:txBody>
          <a:bodyPr wrap="square" lIns="0" tIns="0" rIns="0" bIns="0" rtlCol="0" anchor="t"/>
          <a:lstStyle/>
          <a:p>
            <a:pPr algn="ctr" indent="0" marL="0">
              <a:lnSpc>
                <a:spcPct val="98000"/>
              </a:lnSpc>
              <a:buNone/>
            </a:pPr>
            <a:r>
              <a:rPr lang="en-US" sz="1250" b="1" dirty="0">
                <a:solidFill>
                  <a:srgbClr val="133B6C"/>
                </a:solidFill>
                <a:latin typeface="Calibri" pitchFamily="34" charset="0"/>
                <a:ea typeface="Calibri" pitchFamily="34" charset="-122"/>
                <a:cs typeface="Calibri" pitchFamily="34" charset="-120"/>
              </a:rPr>
              <a:t>Riesgo de Cumplimiento</a:t>
            </a:r>
            <a:endParaRPr lang="en-US" sz="1250" dirty="0"/>
          </a:p>
        </p:txBody>
      </p:sp>
      <p:sp>
        <p:nvSpPr>
          <p:cNvPr id="45" name="Text 34"/>
          <p:cNvSpPr txBox="1"/>
          <p:nvPr/>
        </p:nvSpPr>
        <p:spPr>
          <a:xfrm>
            <a:off x="9244355" y="5646420"/>
            <a:ext cx="2215820" cy="914400"/>
          </a:xfrm>
          <a:prstGeom prst="rect">
            <a:avLst/>
          </a:prstGeom>
          <a:noFill/>
          <a:ln/>
        </p:spPr>
        <p:txBody>
          <a:bodyPr wrap="square" lIns="0" tIns="0" rIns="0" bIns="0" rtlCol="0" anchor="t"/>
          <a:lstStyle/>
          <a:p>
            <a:pPr algn="ctr" indent="0" marL="0">
              <a:lnSpc>
                <a:spcPct val="105000"/>
              </a:lnSpc>
              <a:buNone/>
            </a:pPr>
            <a:r>
              <a:rPr lang="en-US" sz="1100" dirty="0">
                <a:solidFill>
                  <a:srgbClr val="5B6B82"/>
                </a:solidFill>
                <a:latin typeface="Calibri" pitchFamily="34" charset="0"/>
                <a:ea typeface="Calibri" pitchFamily="34" charset="-122"/>
                <a:cs typeface="Calibri" pitchFamily="34" charset="-120"/>
              </a:rPr>
              <a:t>Incumplir leyes, normas regulatorias o políticas internas.</a:t>
            </a:r>
            <a:endParaRPr lang="en-US" sz="1100" dirty="0"/>
          </a:p>
        </p:txBody>
      </p:sp>
      <p:sp>
        <p:nvSpPr>
          <p:cNvPr id="46" name="Text 35"/>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47" name="Text 36"/>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19</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17A9B0"/>
                </a:solidFill>
                <a:latin typeface="Calibri" pitchFamily="34" charset="0"/>
                <a:ea typeface="Calibri" pitchFamily="34" charset="-122"/>
                <a:cs typeface="Calibri" pitchFamily="34" charset="-120"/>
              </a:rPr>
              <a:t>CASOS INTEGRADORES · CASO 1</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500" b="1" dirty="0">
                <a:solidFill>
                  <a:srgbClr val="133B6C"/>
                </a:solidFill>
                <a:latin typeface="Cambria" pitchFamily="34" charset="0"/>
                <a:ea typeface="Cambria" pitchFamily="34" charset="-122"/>
                <a:cs typeface="Cambria" pitchFamily="34" charset="-120"/>
              </a:rPr>
              <a:t>EL SISTEMA SE CAE EN CIERRE DE MES</a:t>
            </a:r>
            <a:endParaRPr lang="en-US" sz="2500" dirty="0"/>
          </a:p>
        </p:txBody>
      </p:sp>
      <p:sp>
        <p:nvSpPr>
          <p:cNvPr id="5" name="Text 2"/>
          <p:cNvSpPr txBox="1"/>
          <p:nvPr/>
        </p:nvSpPr>
        <p:spPr>
          <a:xfrm>
            <a:off x="566928" y="1417320"/>
            <a:ext cx="11057839" cy="329184"/>
          </a:xfrm>
          <a:prstGeom prst="rect">
            <a:avLst/>
          </a:prstGeom>
          <a:noFill/>
          <a:ln/>
        </p:spPr>
        <p:txBody>
          <a:bodyPr wrap="square" lIns="0" tIns="0" rIns="0" bIns="0" rtlCol="0" anchor="ctr"/>
          <a:lstStyle/>
          <a:p>
            <a:pPr indent="0" marL="0">
              <a:lnSpc>
                <a:spcPct val="110000"/>
              </a:lnSpc>
              <a:buNone/>
            </a:pPr>
            <a:r>
              <a:rPr lang="en-US" sz="1250" i="1" dirty="0">
                <a:solidFill>
                  <a:srgbClr val="5B6B82"/>
                </a:solidFill>
                <a:latin typeface="Calibri" pitchFamily="34" charset="0"/>
                <a:ea typeface="Calibri" pitchFamily="34" charset="-122"/>
                <a:cs typeface="Calibri" pitchFamily="34" charset="-120"/>
              </a:rPr>
              <a:t>CASOS INTEGRADORES — Cuatro situaciones reales de una cooperativa financiera para aplicar todo lo aprendido.</a:t>
            </a:r>
            <a:endParaRPr lang="en-US" sz="1250" dirty="0"/>
          </a:p>
        </p:txBody>
      </p:sp>
      <p:sp>
        <p:nvSpPr>
          <p:cNvPr id="6" name="Shape 3"/>
          <p:cNvSpPr/>
          <p:nvPr/>
        </p:nvSpPr>
        <p:spPr>
          <a:xfrm>
            <a:off x="566928" y="2075688"/>
            <a:ext cx="11057839" cy="1463040"/>
          </a:xfrm>
          <a:prstGeom prst="roundRect">
            <a:avLst>
              <a:gd name="adj" fmla="val 7500"/>
            </a:avLst>
          </a:prstGeom>
          <a:solidFill>
            <a:srgbClr val="133B6C"/>
          </a:solidFill>
          <a:ln/>
        </p:spPr>
      </p:sp>
      <p:sp>
        <p:nvSpPr>
          <p:cNvPr id="7" name="Shape 4"/>
          <p:cNvSpPr/>
          <p:nvPr/>
        </p:nvSpPr>
        <p:spPr>
          <a:xfrm>
            <a:off x="822960" y="2459736"/>
            <a:ext cx="694944" cy="694944"/>
          </a:xfrm>
          <a:prstGeom prst="ellipse">
            <a:avLst/>
          </a:prstGeom>
          <a:solidFill>
            <a:srgbClr val="17A9B0"/>
          </a:solidFill>
          <a:ln/>
        </p:spPr>
      </p:sp>
      <p:pic>
        <p:nvPicPr>
          <p:cNvPr id="8" name="Image 0" descr="/tmp/claude-0/-home-user-riesgo/0ff9ff46-1396-5bd8-b3ac-2280dfbbbc55/scratchpad/work/gen/icons/server_white.png">    </p:cNvPr>
          <p:cNvPicPr>
            <a:picLocks noChangeAspect="1"/>
          </p:cNvPicPr>
          <p:nvPr/>
        </p:nvPicPr>
        <p:blipFill>
          <a:blip r:embed="rId1"/>
          <a:stretch>
            <a:fillRect/>
          </a:stretch>
        </p:blipFill>
        <p:spPr>
          <a:xfrm>
            <a:off x="979322" y="2616098"/>
            <a:ext cx="382219" cy="382219"/>
          </a:xfrm>
          <a:prstGeom prst="rect">
            <a:avLst/>
          </a:prstGeom>
        </p:spPr>
      </p:pic>
      <p:sp>
        <p:nvSpPr>
          <p:cNvPr id="9" name="Text 5"/>
          <p:cNvSpPr txBox="1"/>
          <p:nvPr/>
        </p:nvSpPr>
        <p:spPr>
          <a:xfrm>
            <a:off x="1709928" y="2258568"/>
            <a:ext cx="9144000" cy="292608"/>
          </a:xfrm>
          <a:prstGeom prst="rect">
            <a:avLst/>
          </a:prstGeom>
          <a:noFill/>
          <a:ln/>
        </p:spPr>
        <p:txBody>
          <a:bodyPr wrap="square" lIns="0" tIns="0" rIns="0" bIns="0" rtlCol="0" anchor="ctr"/>
          <a:lstStyle/>
          <a:p>
            <a:pPr indent="0" marL="0">
              <a:buNone/>
            </a:pPr>
            <a:r>
              <a:rPr lang="en-US" sz="1200" b="1" spc="200" kern="0" dirty="0">
                <a:solidFill>
                  <a:srgbClr val="97D8DB"/>
                </a:solidFill>
                <a:latin typeface="Calibri" pitchFamily="34" charset="0"/>
                <a:ea typeface="Calibri" pitchFamily="34" charset="-122"/>
                <a:cs typeface="Calibri" pitchFamily="34" charset="-120"/>
              </a:rPr>
              <a:t>SITUACIÓN</a:t>
            </a:r>
            <a:endParaRPr lang="en-US" sz="1200" dirty="0"/>
          </a:p>
        </p:txBody>
      </p:sp>
      <p:sp>
        <p:nvSpPr>
          <p:cNvPr id="10" name="Text 6"/>
          <p:cNvSpPr txBox="1"/>
          <p:nvPr/>
        </p:nvSpPr>
        <p:spPr>
          <a:xfrm>
            <a:off x="1709928" y="2532888"/>
            <a:ext cx="9640519" cy="91440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Durante el cierre de mes, el sistema se cae varias veces mientras se procesan transacciones. El colaborador sigue intentando registrar manualmente sin informar a nadie, para “no atrasarse”.</a:t>
            </a:r>
            <a:endParaRPr lang="en-US" sz="1350" dirty="0"/>
          </a:p>
        </p:txBody>
      </p:sp>
      <p:sp>
        <p:nvSpPr>
          <p:cNvPr id="11" name="Shape 7"/>
          <p:cNvSpPr/>
          <p:nvPr/>
        </p:nvSpPr>
        <p:spPr>
          <a:xfrm>
            <a:off x="566928" y="3813048"/>
            <a:ext cx="5400904" cy="1037844"/>
          </a:xfrm>
          <a:prstGeom prst="roundRect">
            <a:avLst>
              <a:gd name="adj" fmla="val 8811"/>
            </a:avLst>
          </a:prstGeom>
          <a:solidFill>
            <a:srgbClr val="F2F5F9"/>
          </a:solidFill>
          <a:ln/>
        </p:spPr>
      </p:sp>
      <p:sp>
        <p:nvSpPr>
          <p:cNvPr id="12" name="Shape 8"/>
          <p:cNvSpPr/>
          <p:nvPr/>
        </p:nvSpPr>
        <p:spPr>
          <a:xfrm>
            <a:off x="749808" y="4103370"/>
            <a:ext cx="457200" cy="457200"/>
          </a:xfrm>
          <a:prstGeom prst="ellipse">
            <a:avLst/>
          </a:prstGeom>
          <a:solidFill>
            <a:srgbClr val="133B6C"/>
          </a:solidFill>
          <a:ln/>
        </p:spPr>
      </p:sp>
      <p:pic>
        <p:nvPicPr>
          <p:cNvPr id="13" name="Image 1" descr="/tmp/claude-0/-home-user-riesgo/0ff9ff46-1396-5bd8-b3ac-2280dfbbbc55/scratchpad/work/gen/icons/question_white.png">    </p:cNvPr>
          <p:cNvPicPr>
            <a:picLocks noChangeAspect="1"/>
          </p:cNvPicPr>
          <p:nvPr/>
        </p:nvPicPr>
        <p:blipFill>
          <a:blip r:embed="rId2"/>
          <a:stretch>
            <a:fillRect/>
          </a:stretch>
        </p:blipFill>
        <p:spPr>
          <a:xfrm>
            <a:off x="852678" y="4206240"/>
            <a:ext cx="251460" cy="251460"/>
          </a:xfrm>
          <a:prstGeom prst="rect">
            <a:avLst/>
          </a:prstGeom>
        </p:spPr>
      </p:pic>
      <p:sp>
        <p:nvSpPr>
          <p:cNvPr id="14" name="Text 9"/>
          <p:cNvSpPr txBox="1"/>
          <p:nvPr/>
        </p:nvSpPr>
        <p:spPr>
          <a:xfrm>
            <a:off x="1344168" y="3813048"/>
            <a:ext cx="4440784" cy="1037844"/>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RIESGOS IDENTIFICAS?</a:t>
            </a:r>
            <a:endParaRPr lang="en-US" sz="1250" dirty="0"/>
          </a:p>
        </p:txBody>
      </p:sp>
      <p:sp>
        <p:nvSpPr>
          <p:cNvPr id="15" name="Shape 10"/>
          <p:cNvSpPr/>
          <p:nvPr/>
        </p:nvSpPr>
        <p:spPr>
          <a:xfrm>
            <a:off x="6223864" y="3813048"/>
            <a:ext cx="5400904" cy="1037844"/>
          </a:xfrm>
          <a:prstGeom prst="roundRect">
            <a:avLst>
              <a:gd name="adj" fmla="val 8811"/>
            </a:avLst>
          </a:prstGeom>
          <a:solidFill>
            <a:srgbClr val="F2F5F9"/>
          </a:solidFill>
          <a:ln/>
        </p:spPr>
      </p:sp>
      <p:sp>
        <p:nvSpPr>
          <p:cNvPr id="16" name="Shape 11"/>
          <p:cNvSpPr/>
          <p:nvPr/>
        </p:nvSpPr>
        <p:spPr>
          <a:xfrm>
            <a:off x="6406744" y="4103370"/>
            <a:ext cx="457200" cy="457200"/>
          </a:xfrm>
          <a:prstGeom prst="ellipse">
            <a:avLst/>
          </a:prstGeom>
          <a:solidFill>
            <a:srgbClr val="133B6C"/>
          </a:solidFill>
          <a:ln/>
        </p:spPr>
      </p:sp>
      <p:pic>
        <p:nvPicPr>
          <p:cNvPr id="17" name="Image 2" descr="/tmp/claude-0/-home-user-riesgo/0ff9ff46-1396-5bd8-b3ac-2280dfbbbc55/scratchpad/work/gen/icons/question_white.png">    </p:cNvPr>
          <p:cNvPicPr>
            <a:picLocks noChangeAspect="1"/>
          </p:cNvPicPr>
          <p:nvPr/>
        </p:nvPicPr>
        <p:blipFill>
          <a:blip r:embed="rId3"/>
          <a:stretch>
            <a:fillRect/>
          </a:stretch>
        </p:blipFill>
        <p:spPr>
          <a:xfrm>
            <a:off x="6509614" y="4206240"/>
            <a:ext cx="251460" cy="251460"/>
          </a:xfrm>
          <a:prstGeom prst="rect">
            <a:avLst/>
          </a:prstGeom>
        </p:spPr>
      </p:pic>
      <p:sp>
        <p:nvSpPr>
          <p:cNvPr id="18" name="Text 12"/>
          <p:cNvSpPr txBox="1"/>
          <p:nvPr/>
        </p:nvSpPr>
        <p:spPr>
          <a:xfrm>
            <a:off x="7001104" y="3813048"/>
            <a:ext cx="4440784" cy="1037844"/>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HARÍAS?</a:t>
            </a:r>
            <a:endParaRPr lang="en-US" sz="1250" dirty="0"/>
          </a:p>
        </p:txBody>
      </p:sp>
      <p:sp>
        <p:nvSpPr>
          <p:cNvPr id="19" name="Shape 13"/>
          <p:cNvSpPr/>
          <p:nvPr/>
        </p:nvSpPr>
        <p:spPr>
          <a:xfrm>
            <a:off x="566928" y="5070348"/>
            <a:ext cx="5400904" cy="1037844"/>
          </a:xfrm>
          <a:prstGeom prst="roundRect">
            <a:avLst>
              <a:gd name="adj" fmla="val 8811"/>
            </a:avLst>
          </a:prstGeom>
          <a:solidFill>
            <a:srgbClr val="F2F5F9"/>
          </a:solidFill>
          <a:ln/>
        </p:spPr>
      </p:sp>
      <p:sp>
        <p:nvSpPr>
          <p:cNvPr id="20" name="Shape 14"/>
          <p:cNvSpPr/>
          <p:nvPr/>
        </p:nvSpPr>
        <p:spPr>
          <a:xfrm>
            <a:off x="749808" y="5360670"/>
            <a:ext cx="457200" cy="457200"/>
          </a:xfrm>
          <a:prstGeom prst="ellipse">
            <a:avLst/>
          </a:prstGeom>
          <a:solidFill>
            <a:srgbClr val="133B6C"/>
          </a:solidFill>
          <a:ln/>
        </p:spPr>
      </p:sp>
      <p:pic>
        <p:nvPicPr>
          <p:cNvPr id="21" name="Image 3" descr="/tmp/claude-0/-home-user-riesgo/0ff9ff46-1396-5bd8-b3ac-2280dfbbbc55/scratchpad/work/gen/icons/question_white.png">    </p:cNvPr>
          <p:cNvPicPr>
            <a:picLocks noChangeAspect="1"/>
          </p:cNvPicPr>
          <p:nvPr/>
        </p:nvPicPr>
        <p:blipFill>
          <a:blip r:embed="rId4"/>
          <a:stretch>
            <a:fillRect/>
          </a:stretch>
        </p:blipFill>
        <p:spPr>
          <a:xfrm>
            <a:off x="852678" y="5463540"/>
            <a:ext cx="251460" cy="251460"/>
          </a:xfrm>
          <a:prstGeom prst="rect">
            <a:avLst/>
          </a:prstGeom>
        </p:spPr>
      </p:pic>
      <p:sp>
        <p:nvSpPr>
          <p:cNvPr id="22" name="Text 15"/>
          <p:cNvSpPr txBox="1"/>
          <p:nvPr/>
        </p:nvSpPr>
        <p:spPr>
          <a:xfrm>
            <a:off x="1344168" y="5070348"/>
            <a:ext cx="4440784" cy="1037844"/>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¿A QUIÉN CORRESPONDE ACTUAR?</a:t>
            </a:r>
            <a:endParaRPr lang="en-US" sz="1250" dirty="0"/>
          </a:p>
        </p:txBody>
      </p:sp>
      <p:sp>
        <p:nvSpPr>
          <p:cNvPr id="23" name="Shape 16"/>
          <p:cNvSpPr/>
          <p:nvPr/>
        </p:nvSpPr>
        <p:spPr>
          <a:xfrm>
            <a:off x="6223864" y="5070348"/>
            <a:ext cx="5400904" cy="1037844"/>
          </a:xfrm>
          <a:prstGeom prst="roundRect">
            <a:avLst>
              <a:gd name="adj" fmla="val 8811"/>
            </a:avLst>
          </a:prstGeom>
          <a:solidFill>
            <a:srgbClr val="F2F5F9"/>
          </a:solidFill>
          <a:ln/>
        </p:spPr>
      </p:sp>
      <p:sp>
        <p:nvSpPr>
          <p:cNvPr id="24" name="Shape 17"/>
          <p:cNvSpPr/>
          <p:nvPr/>
        </p:nvSpPr>
        <p:spPr>
          <a:xfrm>
            <a:off x="6406744" y="5360670"/>
            <a:ext cx="457200" cy="457200"/>
          </a:xfrm>
          <a:prstGeom prst="ellipse">
            <a:avLst/>
          </a:prstGeom>
          <a:solidFill>
            <a:srgbClr val="133B6C"/>
          </a:solidFill>
          <a:ln/>
        </p:spPr>
      </p:sp>
      <p:pic>
        <p:nvPicPr>
          <p:cNvPr id="25" name="Image 4" descr="/tmp/claude-0/-home-user-riesgo/0ff9ff46-1396-5bd8-b3ac-2280dfbbbc55/scratchpad/work/gen/icons/question_white.png">    </p:cNvPr>
          <p:cNvPicPr>
            <a:picLocks noChangeAspect="1"/>
          </p:cNvPicPr>
          <p:nvPr/>
        </p:nvPicPr>
        <p:blipFill>
          <a:blip r:embed="rId5"/>
          <a:stretch>
            <a:fillRect/>
          </a:stretch>
        </p:blipFill>
        <p:spPr>
          <a:xfrm>
            <a:off x="6509614" y="5463540"/>
            <a:ext cx="251460" cy="251460"/>
          </a:xfrm>
          <a:prstGeom prst="rect">
            <a:avLst/>
          </a:prstGeom>
        </p:spPr>
      </p:pic>
      <p:sp>
        <p:nvSpPr>
          <p:cNvPr id="26" name="Text 18"/>
          <p:cNvSpPr txBox="1"/>
          <p:nvPr/>
        </p:nvSpPr>
        <p:spPr>
          <a:xfrm>
            <a:off x="7001104" y="5070348"/>
            <a:ext cx="4440784" cy="1037844"/>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PASA SI NO ACTUAMOS?</a:t>
            </a:r>
            <a:endParaRPr lang="en-US" sz="1250" dirty="0"/>
          </a:p>
        </p:txBody>
      </p:sp>
      <p:sp>
        <p:nvSpPr>
          <p:cNvPr id="27" name="Text 19"/>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8" name="Text 20"/>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20</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17A9B0"/>
                </a:solidFill>
                <a:latin typeface="Calibri" pitchFamily="34" charset="0"/>
                <a:ea typeface="Calibri" pitchFamily="34" charset="-122"/>
                <a:cs typeface="Calibri" pitchFamily="34" charset="-120"/>
              </a:rPr>
              <a:t>CASO INTEGRADOR 1 · RESPUESTA</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200" b="1" dirty="0">
                <a:solidFill>
                  <a:srgbClr val="133B6C"/>
                </a:solidFill>
                <a:latin typeface="Cambria" pitchFamily="34" charset="0"/>
                <a:ea typeface="Cambria" pitchFamily="34" charset="-122"/>
                <a:cs typeface="Cambria" pitchFamily="34" charset="-120"/>
              </a:rPr>
              <a:t>EL SISTEMA SE CAE EN CIERRE DE MES</a:t>
            </a:r>
            <a:endParaRPr lang="en-US" sz="2200" dirty="0"/>
          </a:p>
        </p:txBody>
      </p:sp>
      <p:sp>
        <p:nvSpPr>
          <p:cNvPr id="5" name="Text 2"/>
          <p:cNvSpPr txBox="1"/>
          <p:nvPr/>
        </p:nvSpPr>
        <p:spPr>
          <a:xfrm>
            <a:off x="566928" y="1691640"/>
            <a:ext cx="5486400" cy="274320"/>
          </a:xfrm>
          <a:prstGeom prst="rect">
            <a:avLst/>
          </a:prstGeom>
          <a:noFill/>
          <a:ln/>
        </p:spPr>
        <p:txBody>
          <a:bodyPr wrap="square" lIns="0" tIns="0" rIns="0" bIns="0" rtlCol="0" anchor="ctr"/>
          <a:lstStyle/>
          <a:p>
            <a:pPr indent="0" marL="0">
              <a:buNone/>
            </a:pPr>
            <a:r>
              <a:rPr lang="en-US" sz="1200" b="1" spc="150" kern="0" dirty="0">
                <a:solidFill>
                  <a:srgbClr val="5B6B82"/>
                </a:solidFill>
                <a:latin typeface="Calibri" pitchFamily="34" charset="0"/>
                <a:ea typeface="Calibri" pitchFamily="34" charset="-122"/>
                <a:cs typeface="Calibri" pitchFamily="34" charset="-120"/>
              </a:rPr>
              <a:t>RIESGOS IDENTIFICADOS</a:t>
            </a:r>
            <a:endParaRPr lang="en-US" sz="1200" dirty="0"/>
          </a:p>
        </p:txBody>
      </p:sp>
      <p:sp>
        <p:nvSpPr>
          <p:cNvPr id="6" name="Shape 3"/>
          <p:cNvSpPr/>
          <p:nvPr/>
        </p:nvSpPr>
        <p:spPr>
          <a:xfrm>
            <a:off x="566928" y="1993392"/>
            <a:ext cx="1717243" cy="365760"/>
          </a:xfrm>
          <a:prstGeom prst="roundRect">
            <a:avLst>
              <a:gd name="adj" fmla="val 50000"/>
            </a:avLst>
          </a:prstGeom>
          <a:solidFill>
            <a:srgbClr val="17A9B0"/>
          </a:solidFill>
          <a:ln/>
        </p:spPr>
      </p:sp>
      <p:sp>
        <p:nvSpPr>
          <p:cNvPr id="7" name="Text 4"/>
          <p:cNvSpPr txBox="1"/>
          <p:nvPr/>
        </p:nvSpPr>
        <p:spPr>
          <a:xfrm>
            <a:off x="566928" y="1993392"/>
            <a:ext cx="1717243"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Riesgo operativo</a:t>
            </a:r>
            <a:endParaRPr lang="en-US" sz="1100" dirty="0"/>
          </a:p>
        </p:txBody>
      </p:sp>
      <p:sp>
        <p:nvSpPr>
          <p:cNvPr id="8" name="Shape 5"/>
          <p:cNvSpPr/>
          <p:nvPr/>
        </p:nvSpPr>
        <p:spPr>
          <a:xfrm>
            <a:off x="2430475" y="1993392"/>
            <a:ext cx="1869034" cy="365760"/>
          </a:xfrm>
          <a:prstGeom prst="roundRect">
            <a:avLst>
              <a:gd name="adj" fmla="val 50000"/>
            </a:avLst>
          </a:prstGeom>
          <a:solidFill>
            <a:srgbClr val="17A9B0"/>
          </a:solidFill>
          <a:ln/>
        </p:spPr>
      </p:sp>
      <p:sp>
        <p:nvSpPr>
          <p:cNvPr id="9" name="Text 6"/>
          <p:cNvSpPr txBox="1"/>
          <p:nvPr/>
        </p:nvSpPr>
        <p:spPr>
          <a:xfrm>
            <a:off x="2430475" y="1993392"/>
            <a:ext cx="186903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Riesgo tecnológico</a:t>
            </a:r>
            <a:endParaRPr lang="en-US" sz="1100" dirty="0"/>
          </a:p>
        </p:txBody>
      </p:sp>
      <p:sp>
        <p:nvSpPr>
          <p:cNvPr id="10" name="Shape 7"/>
          <p:cNvSpPr/>
          <p:nvPr/>
        </p:nvSpPr>
        <p:spPr>
          <a:xfrm>
            <a:off x="566928" y="2651760"/>
            <a:ext cx="3515258" cy="3337560"/>
          </a:xfrm>
          <a:prstGeom prst="roundRect">
            <a:avLst>
              <a:gd name="adj" fmla="val 2740"/>
            </a:avLst>
          </a:prstGeom>
          <a:solidFill>
            <a:srgbClr val="F2F5F9"/>
          </a:solidFill>
          <a:ln/>
        </p:spPr>
      </p:sp>
      <p:sp>
        <p:nvSpPr>
          <p:cNvPr id="11" name="Shape 8"/>
          <p:cNvSpPr/>
          <p:nvPr/>
        </p:nvSpPr>
        <p:spPr>
          <a:xfrm>
            <a:off x="2041093" y="2871216"/>
            <a:ext cx="566928" cy="566928"/>
          </a:xfrm>
          <a:prstGeom prst="ellipse">
            <a:avLst/>
          </a:prstGeom>
          <a:solidFill>
            <a:srgbClr val="2FAE60"/>
          </a:solidFill>
          <a:ln/>
        </p:spPr>
      </p:sp>
      <p:pic>
        <p:nvPicPr>
          <p:cNvPr id="12" name="Image 0" descr="/tmp/claude-0/-home-user-riesgo/0ff9ff46-1396-5bd8-b3ac-2280dfbbbc55/scratchpad/work/gen/icons/check_circle_white.png">    </p:cNvPr>
          <p:cNvPicPr>
            <a:picLocks noChangeAspect="1"/>
          </p:cNvPicPr>
          <p:nvPr/>
        </p:nvPicPr>
        <p:blipFill>
          <a:blip r:embed="rId1"/>
          <a:stretch>
            <a:fillRect/>
          </a:stretch>
        </p:blipFill>
        <p:spPr>
          <a:xfrm>
            <a:off x="2177156" y="3007279"/>
            <a:ext cx="294803" cy="294803"/>
          </a:xfrm>
          <a:prstGeom prst="rect">
            <a:avLst/>
          </a:prstGeom>
        </p:spPr>
      </p:pic>
      <p:sp>
        <p:nvSpPr>
          <p:cNvPr id="13" name="Text 9"/>
          <p:cNvSpPr txBox="1"/>
          <p:nvPr/>
        </p:nvSpPr>
        <p:spPr>
          <a:xfrm>
            <a:off x="731520"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2FAE60"/>
                </a:solidFill>
                <a:latin typeface="Calibri" pitchFamily="34" charset="0"/>
                <a:ea typeface="Calibri" pitchFamily="34" charset="-122"/>
                <a:cs typeface="Calibri" pitchFamily="34" charset="-120"/>
              </a:rPr>
              <a:t>ACCIÓN RECOMENDADA</a:t>
            </a:r>
            <a:endParaRPr lang="en-US" sz="1150" dirty="0"/>
          </a:p>
        </p:txBody>
      </p:sp>
      <p:sp>
        <p:nvSpPr>
          <p:cNvPr id="14" name="Text 10"/>
          <p:cNvSpPr txBox="1"/>
          <p:nvPr/>
        </p:nvSpPr>
        <p:spPr>
          <a:xfrm>
            <a:off x="768096"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Detener el registro manual improvisado y reportar la falla de inmediato para que sea atendida y documentada.</a:t>
            </a:r>
            <a:endParaRPr lang="en-US" sz="1200" dirty="0"/>
          </a:p>
        </p:txBody>
      </p:sp>
      <p:sp>
        <p:nvSpPr>
          <p:cNvPr id="15" name="Shape 11"/>
          <p:cNvSpPr/>
          <p:nvPr/>
        </p:nvSpPr>
        <p:spPr>
          <a:xfrm>
            <a:off x="4338218" y="2651760"/>
            <a:ext cx="3515258" cy="3337560"/>
          </a:xfrm>
          <a:prstGeom prst="roundRect">
            <a:avLst>
              <a:gd name="adj" fmla="val 2740"/>
            </a:avLst>
          </a:prstGeom>
          <a:solidFill>
            <a:srgbClr val="F2F5F9"/>
          </a:solidFill>
          <a:ln/>
        </p:spPr>
      </p:sp>
      <p:sp>
        <p:nvSpPr>
          <p:cNvPr id="16" name="Shape 12"/>
          <p:cNvSpPr/>
          <p:nvPr/>
        </p:nvSpPr>
        <p:spPr>
          <a:xfrm>
            <a:off x="5812384" y="2871216"/>
            <a:ext cx="566928" cy="566928"/>
          </a:xfrm>
          <a:prstGeom prst="ellipse">
            <a:avLst/>
          </a:prstGeom>
          <a:solidFill>
            <a:srgbClr val="133B6C"/>
          </a:solidFill>
          <a:ln/>
        </p:spPr>
      </p:sp>
      <p:pic>
        <p:nvPicPr>
          <p:cNvPr id="17" name="Image 1" descr="/tmp/claude-0/-home-user-riesgo/0ff9ff46-1396-5bd8-b3ac-2280dfbbbc55/scratchpad/work/gen/icons/people_group_white.png">    </p:cNvPr>
          <p:cNvPicPr>
            <a:picLocks noChangeAspect="1"/>
          </p:cNvPicPr>
          <p:nvPr/>
        </p:nvPicPr>
        <p:blipFill>
          <a:blip r:embed="rId2"/>
          <a:stretch>
            <a:fillRect/>
          </a:stretch>
        </p:blipFill>
        <p:spPr>
          <a:xfrm>
            <a:off x="5948446" y="3007279"/>
            <a:ext cx="294803" cy="294803"/>
          </a:xfrm>
          <a:prstGeom prst="rect">
            <a:avLst/>
          </a:prstGeom>
        </p:spPr>
      </p:pic>
      <p:sp>
        <p:nvSpPr>
          <p:cNvPr id="18" name="Text 13"/>
          <p:cNvSpPr txBox="1"/>
          <p:nvPr/>
        </p:nvSpPr>
        <p:spPr>
          <a:xfrm>
            <a:off x="4502810"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133B6C"/>
                </a:solidFill>
                <a:latin typeface="Calibri" pitchFamily="34" charset="0"/>
                <a:ea typeface="Calibri" pitchFamily="34" charset="-122"/>
                <a:cs typeface="Calibri" pitchFamily="34" charset="-120"/>
              </a:rPr>
              <a:t>RESPONSABLE DE ACTUAR</a:t>
            </a:r>
            <a:endParaRPr lang="en-US" sz="1150" dirty="0"/>
          </a:p>
        </p:txBody>
      </p:sp>
      <p:sp>
        <p:nvSpPr>
          <p:cNvPr id="19" name="Text 14"/>
          <p:cNvSpPr txBox="1"/>
          <p:nvPr/>
        </p:nvSpPr>
        <p:spPr>
          <a:xfrm>
            <a:off x="4539386"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El colaborador que detecta la falla, apoyado por su jefatura y las áreas técnicas correspondientes.</a:t>
            </a:r>
            <a:endParaRPr lang="en-US" sz="1200" dirty="0"/>
          </a:p>
        </p:txBody>
      </p:sp>
      <p:sp>
        <p:nvSpPr>
          <p:cNvPr id="20" name="Shape 15"/>
          <p:cNvSpPr/>
          <p:nvPr/>
        </p:nvSpPr>
        <p:spPr>
          <a:xfrm>
            <a:off x="8109509" y="2651760"/>
            <a:ext cx="3515258" cy="3337560"/>
          </a:xfrm>
          <a:prstGeom prst="roundRect">
            <a:avLst>
              <a:gd name="adj" fmla="val 2740"/>
            </a:avLst>
          </a:prstGeom>
          <a:solidFill>
            <a:srgbClr val="F2F5F9"/>
          </a:solidFill>
          <a:ln/>
        </p:spPr>
      </p:sp>
      <p:sp>
        <p:nvSpPr>
          <p:cNvPr id="21" name="Shape 16"/>
          <p:cNvSpPr/>
          <p:nvPr/>
        </p:nvSpPr>
        <p:spPr>
          <a:xfrm>
            <a:off x="9583674" y="2871216"/>
            <a:ext cx="566928" cy="566928"/>
          </a:xfrm>
          <a:prstGeom prst="ellipse">
            <a:avLst/>
          </a:prstGeom>
          <a:solidFill>
            <a:srgbClr val="E0392B"/>
          </a:solidFill>
          <a:ln/>
        </p:spPr>
      </p:sp>
      <p:pic>
        <p:nvPicPr>
          <p:cNvPr id="22" name="Image 2" descr="/tmp/claude-0/-home-user-riesgo/0ff9ff46-1396-5bd8-b3ac-2280dfbbbc55/scratchpad/work/gen/icons/warning_triangle_white.png">    </p:cNvPr>
          <p:cNvPicPr>
            <a:picLocks noChangeAspect="1"/>
          </p:cNvPicPr>
          <p:nvPr/>
        </p:nvPicPr>
        <p:blipFill>
          <a:blip r:embed="rId3"/>
          <a:stretch>
            <a:fillRect/>
          </a:stretch>
        </p:blipFill>
        <p:spPr>
          <a:xfrm>
            <a:off x="9719737" y="3007279"/>
            <a:ext cx="294803" cy="294803"/>
          </a:xfrm>
          <a:prstGeom prst="rect">
            <a:avLst/>
          </a:prstGeom>
        </p:spPr>
      </p:pic>
      <p:sp>
        <p:nvSpPr>
          <p:cNvPr id="23" name="Text 17"/>
          <p:cNvSpPr txBox="1"/>
          <p:nvPr/>
        </p:nvSpPr>
        <p:spPr>
          <a:xfrm>
            <a:off x="8274101"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E0392B"/>
                </a:solidFill>
                <a:latin typeface="Calibri" pitchFamily="34" charset="0"/>
                <a:ea typeface="Calibri" pitchFamily="34" charset="-122"/>
                <a:cs typeface="Calibri" pitchFamily="34" charset="-120"/>
              </a:rPr>
              <a:t>SI NO ACTUAMOS</a:t>
            </a:r>
            <a:endParaRPr lang="en-US" sz="1150" dirty="0"/>
          </a:p>
        </p:txBody>
      </p:sp>
      <p:sp>
        <p:nvSpPr>
          <p:cNvPr id="24" name="Text 18"/>
          <p:cNvSpPr txBox="1"/>
          <p:nvPr/>
        </p:nvSpPr>
        <p:spPr>
          <a:xfrm>
            <a:off x="8310677"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Registros duplicados o incompletos, pérdida de información y decisiones basadas en datos incorrectos.</a:t>
            </a:r>
            <a:endParaRPr lang="en-US" sz="1200" dirty="0"/>
          </a:p>
        </p:txBody>
      </p:sp>
      <p:sp>
        <p:nvSpPr>
          <p:cNvPr id="25" name="Text 19"/>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6" name="Text 20"/>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21</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3A6EA5"/>
                </a:solidFill>
                <a:latin typeface="Calibri" pitchFamily="34" charset="0"/>
                <a:ea typeface="Calibri" pitchFamily="34" charset="-122"/>
                <a:cs typeface="Calibri" pitchFamily="34" charset="-120"/>
              </a:rPr>
              <a:t>CASO INTEGRADOR 2</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500" b="1" dirty="0">
                <a:solidFill>
                  <a:srgbClr val="133B6C"/>
                </a:solidFill>
                <a:latin typeface="Cambria" pitchFamily="34" charset="0"/>
                <a:ea typeface="Cambria" pitchFamily="34" charset="-122"/>
                <a:cs typeface="Cambria" pitchFamily="34" charset="-120"/>
              </a:rPr>
              <a:t>UNA QUEJA QUE SE VUELVE PÚBLICA</a:t>
            </a:r>
            <a:endParaRPr lang="en-US" sz="2500" dirty="0"/>
          </a:p>
        </p:txBody>
      </p:sp>
      <p:sp>
        <p:nvSpPr>
          <p:cNvPr id="5" name="Shape 2"/>
          <p:cNvSpPr/>
          <p:nvPr/>
        </p:nvSpPr>
        <p:spPr>
          <a:xfrm>
            <a:off x="566928" y="1691640"/>
            <a:ext cx="11057839" cy="1463040"/>
          </a:xfrm>
          <a:prstGeom prst="roundRect">
            <a:avLst>
              <a:gd name="adj" fmla="val 7500"/>
            </a:avLst>
          </a:prstGeom>
          <a:solidFill>
            <a:srgbClr val="133B6C"/>
          </a:solidFill>
          <a:ln/>
        </p:spPr>
      </p:sp>
      <p:sp>
        <p:nvSpPr>
          <p:cNvPr id="6" name="Shape 3"/>
          <p:cNvSpPr/>
          <p:nvPr/>
        </p:nvSpPr>
        <p:spPr>
          <a:xfrm>
            <a:off x="822960" y="2075688"/>
            <a:ext cx="694944" cy="694944"/>
          </a:xfrm>
          <a:prstGeom prst="ellipse">
            <a:avLst/>
          </a:prstGeom>
          <a:solidFill>
            <a:srgbClr val="3A6EA5"/>
          </a:solidFill>
          <a:ln/>
        </p:spPr>
      </p:sp>
      <p:pic>
        <p:nvPicPr>
          <p:cNvPr id="7" name="Image 0" descr="/tmp/claude-0/-home-user-riesgo/0ff9ff46-1396-5bd8-b3ac-2280dfbbbc55/scratchpad/work/gen/icons/social_white.png">    </p:cNvPr>
          <p:cNvPicPr>
            <a:picLocks noChangeAspect="1"/>
          </p:cNvPicPr>
          <p:nvPr/>
        </p:nvPicPr>
        <p:blipFill>
          <a:blip r:embed="rId1"/>
          <a:stretch>
            <a:fillRect/>
          </a:stretch>
        </p:blipFill>
        <p:spPr>
          <a:xfrm>
            <a:off x="979322" y="2232050"/>
            <a:ext cx="382219" cy="382219"/>
          </a:xfrm>
          <a:prstGeom prst="rect">
            <a:avLst/>
          </a:prstGeom>
        </p:spPr>
      </p:pic>
      <p:sp>
        <p:nvSpPr>
          <p:cNvPr id="8" name="Text 4"/>
          <p:cNvSpPr txBox="1"/>
          <p:nvPr/>
        </p:nvSpPr>
        <p:spPr>
          <a:xfrm>
            <a:off x="1709928" y="1874520"/>
            <a:ext cx="9144000" cy="292608"/>
          </a:xfrm>
          <a:prstGeom prst="rect">
            <a:avLst/>
          </a:prstGeom>
          <a:noFill/>
          <a:ln/>
        </p:spPr>
        <p:txBody>
          <a:bodyPr wrap="square" lIns="0" tIns="0" rIns="0" bIns="0" rtlCol="0" anchor="ctr"/>
          <a:lstStyle/>
          <a:p>
            <a:pPr indent="0" marL="0">
              <a:buNone/>
            </a:pPr>
            <a:r>
              <a:rPr lang="en-US" sz="1200" b="1" spc="200" kern="0" dirty="0">
                <a:solidFill>
                  <a:srgbClr val="A6BED7"/>
                </a:solidFill>
                <a:latin typeface="Calibri" pitchFamily="34" charset="0"/>
                <a:ea typeface="Calibri" pitchFamily="34" charset="-122"/>
                <a:cs typeface="Calibri" pitchFamily="34" charset="-120"/>
              </a:rPr>
              <a:t>SITUACIÓN</a:t>
            </a:r>
            <a:endParaRPr lang="en-US" sz="1200" dirty="0"/>
          </a:p>
        </p:txBody>
      </p:sp>
      <p:sp>
        <p:nvSpPr>
          <p:cNvPr id="9" name="Text 5"/>
          <p:cNvSpPr txBox="1"/>
          <p:nvPr/>
        </p:nvSpPr>
        <p:spPr>
          <a:xfrm>
            <a:off x="1709928" y="2148840"/>
            <a:ext cx="9640519" cy="91440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Un asociado espera más tiempo del habitual para ser atendido. Molesto, publica en redes sociales una queja sobre el servicio recibido en la Cooperativa.</a:t>
            </a:r>
            <a:endParaRPr lang="en-US" sz="1350" dirty="0"/>
          </a:p>
        </p:txBody>
      </p:sp>
      <p:sp>
        <p:nvSpPr>
          <p:cNvPr id="10" name="Shape 6"/>
          <p:cNvSpPr/>
          <p:nvPr/>
        </p:nvSpPr>
        <p:spPr>
          <a:xfrm>
            <a:off x="566928" y="3429000"/>
            <a:ext cx="5400904" cy="1229868"/>
          </a:xfrm>
          <a:prstGeom prst="roundRect">
            <a:avLst>
              <a:gd name="adj" fmla="val 7435"/>
            </a:avLst>
          </a:prstGeom>
          <a:solidFill>
            <a:srgbClr val="F2F5F9"/>
          </a:solidFill>
          <a:ln/>
        </p:spPr>
      </p:sp>
      <p:sp>
        <p:nvSpPr>
          <p:cNvPr id="11" name="Shape 7"/>
          <p:cNvSpPr/>
          <p:nvPr/>
        </p:nvSpPr>
        <p:spPr>
          <a:xfrm>
            <a:off x="749808" y="3815334"/>
            <a:ext cx="457200" cy="457200"/>
          </a:xfrm>
          <a:prstGeom prst="ellipse">
            <a:avLst/>
          </a:prstGeom>
          <a:solidFill>
            <a:srgbClr val="133B6C"/>
          </a:solidFill>
          <a:ln/>
        </p:spPr>
      </p:sp>
      <p:pic>
        <p:nvPicPr>
          <p:cNvPr id="12" name="Image 1" descr="/tmp/claude-0/-home-user-riesgo/0ff9ff46-1396-5bd8-b3ac-2280dfbbbc55/scratchpad/work/gen/icons/question_white.png">    </p:cNvPr>
          <p:cNvPicPr>
            <a:picLocks noChangeAspect="1"/>
          </p:cNvPicPr>
          <p:nvPr/>
        </p:nvPicPr>
        <p:blipFill>
          <a:blip r:embed="rId2"/>
          <a:stretch>
            <a:fillRect/>
          </a:stretch>
        </p:blipFill>
        <p:spPr>
          <a:xfrm>
            <a:off x="852678" y="3918204"/>
            <a:ext cx="251460" cy="251460"/>
          </a:xfrm>
          <a:prstGeom prst="rect">
            <a:avLst/>
          </a:prstGeom>
        </p:spPr>
      </p:pic>
      <p:sp>
        <p:nvSpPr>
          <p:cNvPr id="13" name="Text 8"/>
          <p:cNvSpPr txBox="1"/>
          <p:nvPr/>
        </p:nvSpPr>
        <p:spPr>
          <a:xfrm>
            <a:off x="1344168" y="3429000"/>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RIESGOS IDENTIFICAS?</a:t>
            </a:r>
            <a:endParaRPr lang="en-US" sz="1250" dirty="0"/>
          </a:p>
        </p:txBody>
      </p:sp>
      <p:sp>
        <p:nvSpPr>
          <p:cNvPr id="14" name="Shape 9"/>
          <p:cNvSpPr/>
          <p:nvPr/>
        </p:nvSpPr>
        <p:spPr>
          <a:xfrm>
            <a:off x="6223864" y="3429000"/>
            <a:ext cx="5400904" cy="1229868"/>
          </a:xfrm>
          <a:prstGeom prst="roundRect">
            <a:avLst>
              <a:gd name="adj" fmla="val 7435"/>
            </a:avLst>
          </a:prstGeom>
          <a:solidFill>
            <a:srgbClr val="F2F5F9"/>
          </a:solidFill>
          <a:ln/>
        </p:spPr>
      </p:sp>
      <p:sp>
        <p:nvSpPr>
          <p:cNvPr id="15" name="Shape 10"/>
          <p:cNvSpPr/>
          <p:nvPr/>
        </p:nvSpPr>
        <p:spPr>
          <a:xfrm>
            <a:off x="6406744" y="3815334"/>
            <a:ext cx="457200" cy="457200"/>
          </a:xfrm>
          <a:prstGeom prst="ellipse">
            <a:avLst/>
          </a:prstGeom>
          <a:solidFill>
            <a:srgbClr val="133B6C"/>
          </a:solidFill>
          <a:ln/>
        </p:spPr>
      </p:sp>
      <p:pic>
        <p:nvPicPr>
          <p:cNvPr id="16" name="Image 2" descr="/tmp/claude-0/-home-user-riesgo/0ff9ff46-1396-5bd8-b3ac-2280dfbbbc55/scratchpad/work/gen/icons/question_white.png">    </p:cNvPr>
          <p:cNvPicPr>
            <a:picLocks noChangeAspect="1"/>
          </p:cNvPicPr>
          <p:nvPr/>
        </p:nvPicPr>
        <p:blipFill>
          <a:blip r:embed="rId3"/>
          <a:stretch>
            <a:fillRect/>
          </a:stretch>
        </p:blipFill>
        <p:spPr>
          <a:xfrm>
            <a:off x="6509614" y="3918204"/>
            <a:ext cx="251460" cy="251460"/>
          </a:xfrm>
          <a:prstGeom prst="rect">
            <a:avLst/>
          </a:prstGeom>
        </p:spPr>
      </p:pic>
      <p:sp>
        <p:nvSpPr>
          <p:cNvPr id="17" name="Text 11"/>
          <p:cNvSpPr txBox="1"/>
          <p:nvPr/>
        </p:nvSpPr>
        <p:spPr>
          <a:xfrm>
            <a:off x="7001104" y="3429000"/>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HARÍAS?</a:t>
            </a:r>
            <a:endParaRPr lang="en-US" sz="1250" dirty="0"/>
          </a:p>
        </p:txBody>
      </p:sp>
      <p:sp>
        <p:nvSpPr>
          <p:cNvPr id="18" name="Shape 12"/>
          <p:cNvSpPr/>
          <p:nvPr/>
        </p:nvSpPr>
        <p:spPr>
          <a:xfrm>
            <a:off x="566928" y="4878324"/>
            <a:ext cx="5400904" cy="1229868"/>
          </a:xfrm>
          <a:prstGeom prst="roundRect">
            <a:avLst>
              <a:gd name="adj" fmla="val 7435"/>
            </a:avLst>
          </a:prstGeom>
          <a:solidFill>
            <a:srgbClr val="F2F5F9"/>
          </a:solidFill>
          <a:ln/>
        </p:spPr>
      </p:sp>
      <p:sp>
        <p:nvSpPr>
          <p:cNvPr id="19" name="Shape 13"/>
          <p:cNvSpPr/>
          <p:nvPr/>
        </p:nvSpPr>
        <p:spPr>
          <a:xfrm>
            <a:off x="749808" y="5264658"/>
            <a:ext cx="457200" cy="457200"/>
          </a:xfrm>
          <a:prstGeom prst="ellipse">
            <a:avLst/>
          </a:prstGeom>
          <a:solidFill>
            <a:srgbClr val="133B6C"/>
          </a:solidFill>
          <a:ln/>
        </p:spPr>
      </p:sp>
      <p:pic>
        <p:nvPicPr>
          <p:cNvPr id="20" name="Image 3" descr="/tmp/claude-0/-home-user-riesgo/0ff9ff46-1396-5bd8-b3ac-2280dfbbbc55/scratchpad/work/gen/icons/question_white.png">    </p:cNvPr>
          <p:cNvPicPr>
            <a:picLocks noChangeAspect="1"/>
          </p:cNvPicPr>
          <p:nvPr/>
        </p:nvPicPr>
        <p:blipFill>
          <a:blip r:embed="rId4"/>
          <a:stretch>
            <a:fillRect/>
          </a:stretch>
        </p:blipFill>
        <p:spPr>
          <a:xfrm>
            <a:off x="852678" y="5367528"/>
            <a:ext cx="251460" cy="251460"/>
          </a:xfrm>
          <a:prstGeom prst="rect">
            <a:avLst/>
          </a:prstGeom>
        </p:spPr>
      </p:pic>
      <p:sp>
        <p:nvSpPr>
          <p:cNvPr id="21" name="Text 14"/>
          <p:cNvSpPr txBox="1"/>
          <p:nvPr/>
        </p:nvSpPr>
        <p:spPr>
          <a:xfrm>
            <a:off x="1344168" y="4878324"/>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¿A QUIÉN CORRESPONDE ACTUAR?</a:t>
            </a:r>
            <a:endParaRPr lang="en-US" sz="1250" dirty="0"/>
          </a:p>
        </p:txBody>
      </p:sp>
      <p:sp>
        <p:nvSpPr>
          <p:cNvPr id="22" name="Shape 15"/>
          <p:cNvSpPr/>
          <p:nvPr/>
        </p:nvSpPr>
        <p:spPr>
          <a:xfrm>
            <a:off x="6223864" y="4878324"/>
            <a:ext cx="5400904" cy="1229868"/>
          </a:xfrm>
          <a:prstGeom prst="roundRect">
            <a:avLst>
              <a:gd name="adj" fmla="val 7435"/>
            </a:avLst>
          </a:prstGeom>
          <a:solidFill>
            <a:srgbClr val="F2F5F9"/>
          </a:solidFill>
          <a:ln/>
        </p:spPr>
      </p:sp>
      <p:sp>
        <p:nvSpPr>
          <p:cNvPr id="23" name="Shape 16"/>
          <p:cNvSpPr/>
          <p:nvPr/>
        </p:nvSpPr>
        <p:spPr>
          <a:xfrm>
            <a:off x="6406744" y="5264658"/>
            <a:ext cx="457200" cy="457200"/>
          </a:xfrm>
          <a:prstGeom prst="ellipse">
            <a:avLst/>
          </a:prstGeom>
          <a:solidFill>
            <a:srgbClr val="133B6C"/>
          </a:solidFill>
          <a:ln/>
        </p:spPr>
      </p:sp>
      <p:pic>
        <p:nvPicPr>
          <p:cNvPr id="24" name="Image 4" descr="/tmp/claude-0/-home-user-riesgo/0ff9ff46-1396-5bd8-b3ac-2280dfbbbc55/scratchpad/work/gen/icons/question_white.png">    </p:cNvPr>
          <p:cNvPicPr>
            <a:picLocks noChangeAspect="1"/>
          </p:cNvPicPr>
          <p:nvPr/>
        </p:nvPicPr>
        <p:blipFill>
          <a:blip r:embed="rId5"/>
          <a:stretch>
            <a:fillRect/>
          </a:stretch>
        </p:blipFill>
        <p:spPr>
          <a:xfrm>
            <a:off x="6509614" y="5367528"/>
            <a:ext cx="251460" cy="251460"/>
          </a:xfrm>
          <a:prstGeom prst="rect">
            <a:avLst/>
          </a:prstGeom>
        </p:spPr>
      </p:pic>
      <p:sp>
        <p:nvSpPr>
          <p:cNvPr id="25" name="Text 17"/>
          <p:cNvSpPr txBox="1"/>
          <p:nvPr/>
        </p:nvSpPr>
        <p:spPr>
          <a:xfrm>
            <a:off x="7001104" y="4878324"/>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PASA SI NO ACTUAMOS?</a:t>
            </a:r>
            <a:endParaRPr lang="en-US" sz="1250" dirty="0"/>
          </a:p>
        </p:txBody>
      </p:sp>
      <p:sp>
        <p:nvSpPr>
          <p:cNvPr id="26" name="Text 18"/>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7" name="Text 19"/>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22</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3A6EA5"/>
                </a:solidFill>
                <a:latin typeface="Calibri" pitchFamily="34" charset="0"/>
                <a:ea typeface="Calibri" pitchFamily="34" charset="-122"/>
                <a:cs typeface="Calibri" pitchFamily="34" charset="-120"/>
              </a:rPr>
              <a:t>CASO INTEGRADOR 2 · RESPUESTA</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200" b="1" dirty="0">
                <a:solidFill>
                  <a:srgbClr val="133B6C"/>
                </a:solidFill>
                <a:latin typeface="Cambria" pitchFamily="34" charset="0"/>
                <a:ea typeface="Cambria" pitchFamily="34" charset="-122"/>
                <a:cs typeface="Cambria" pitchFamily="34" charset="-120"/>
              </a:rPr>
              <a:t>UNA QUEJA QUE SE VUELVE PÚBLICA</a:t>
            </a:r>
            <a:endParaRPr lang="en-US" sz="2200" dirty="0"/>
          </a:p>
        </p:txBody>
      </p:sp>
      <p:sp>
        <p:nvSpPr>
          <p:cNvPr id="5" name="Text 2"/>
          <p:cNvSpPr txBox="1"/>
          <p:nvPr/>
        </p:nvSpPr>
        <p:spPr>
          <a:xfrm>
            <a:off x="566928" y="1691640"/>
            <a:ext cx="5486400" cy="274320"/>
          </a:xfrm>
          <a:prstGeom prst="rect">
            <a:avLst/>
          </a:prstGeom>
          <a:noFill/>
          <a:ln/>
        </p:spPr>
        <p:txBody>
          <a:bodyPr wrap="square" lIns="0" tIns="0" rIns="0" bIns="0" rtlCol="0" anchor="ctr"/>
          <a:lstStyle/>
          <a:p>
            <a:pPr indent="0" marL="0">
              <a:buNone/>
            </a:pPr>
            <a:r>
              <a:rPr lang="en-US" sz="1200" b="1" spc="150" kern="0" dirty="0">
                <a:solidFill>
                  <a:srgbClr val="5B6B82"/>
                </a:solidFill>
                <a:latin typeface="Calibri" pitchFamily="34" charset="0"/>
                <a:ea typeface="Calibri" pitchFamily="34" charset="-122"/>
                <a:cs typeface="Calibri" pitchFamily="34" charset="-120"/>
              </a:rPr>
              <a:t>RIESGOS IDENTIFICADOS</a:t>
            </a:r>
            <a:endParaRPr lang="en-US" sz="1200" dirty="0"/>
          </a:p>
        </p:txBody>
      </p:sp>
      <p:sp>
        <p:nvSpPr>
          <p:cNvPr id="6" name="Shape 3"/>
          <p:cNvSpPr/>
          <p:nvPr/>
        </p:nvSpPr>
        <p:spPr>
          <a:xfrm>
            <a:off x="566928" y="1993392"/>
            <a:ext cx="1944929" cy="365760"/>
          </a:xfrm>
          <a:prstGeom prst="roundRect">
            <a:avLst>
              <a:gd name="adj" fmla="val 50000"/>
            </a:avLst>
          </a:prstGeom>
          <a:solidFill>
            <a:srgbClr val="3A6EA5"/>
          </a:solidFill>
          <a:ln/>
        </p:spPr>
      </p:sp>
      <p:sp>
        <p:nvSpPr>
          <p:cNvPr id="7" name="Text 4"/>
          <p:cNvSpPr txBox="1"/>
          <p:nvPr/>
        </p:nvSpPr>
        <p:spPr>
          <a:xfrm>
            <a:off x="566928" y="1993392"/>
            <a:ext cx="1944929"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Riesgo reputacional</a:t>
            </a:r>
            <a:endParaRPr lang="en-US" sz="1100" dirty="0"/>
          </a:p>
        </p:txBody>
      </p:sp>
      <p:sp>
        <p:nvSpPr>
          <p:cNvPr id="8" name="Shape 5"/>
          <p:cNvSpPr/>
          <p:nvPr/>
        </p:nvSpPr>
        <p:spPr>
          <a:xfrm>
            <a:off x="566928" y="2651760"/>
            <a:ext cx="3515258" cy="3337560"/>
          </a:xfrm>
          <a:prstGeom prst="roundRect">
            <a:avLst>
              <a:gd name="adj" fmla="val 2740"/>
            </a:avLst>
          </a:prstGeom>
          <a:solidFill>
            <a:srgbClr val="F2F5F9"/>
          </a:solidFill>
          <a:ln/>
        </p:spPr>
      </p:sp>
      <p:sp>
        <p:nvSpPr>
          <p:cNvPr id="9" name="Shape 6"/>
          <p:cNvSpPr/>
          <p:nvPr/>
        </p:nvSpPr>
        <p:spPr>
          <a:xfrm>
            <a:off x="2041093" y="2871216"/>
            <a:ext cx="566928" cy="566928"/>
          </a:xfrm>
          <a:prstGeom prst="ellipse">
            <a:avLst/>
          </a:prstGeom>
          <a:solidFill>
            <a:srgbClr val="2FAE60"/>
          </a:solidFill>
          <a:ln/>
        </p:spPr>
      </p:sp>
      <p:pic>
        <p:nvPicPr>
          <p:cNvPr id="10" name="Image 0" descr="/tmp/claude-0/-home-user-riesgo/0ff9ff46-1396-5bd8-b3ac-2280dfbbbc55/scratchpad/work/gen/icons/check_circle_white.png">    </p:cNvPr>
          <p:cNvPicPr>
            <a:picLocks noChangeAspect="1"/>
          </p:cNvPicPr>
          <p:nvPr/>
        </p:nvPicPr>
        <p:blipFill>
          <a:blip r:embed="rId1"/>
          <a:stretch>
            <a:fillRect/>
          </a:stretch>
        </p:blipFill>
        <p:spPr>
          <a:xfrm>
            <a:off x="2177156" y="3007279"/>
            <a:ext cx="294803" cy="294803"/>
          </a:xfrm>
          <a:prstGeom prst="rect">
            <a:avLst/>
          </a:prstGeom>
        </p:spPr>
      </p:pic>
      <p:sp>
        <p:nvSpPr>
          <p:cNvPr id="11" name="Text 7"/>
          <p:cNvSpPr txBox="1"/>
          <p:nvPr/>
        </p:nvSpPr>
        <p:spPr>
          <a:xfrm>
            <a:off x="731520"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2FAE60"/>
                </a:solidFill>
                <a:latin typeface="Calibri" pitchFamily="34" charset="0"/>
                <a:ea typeface="Calibri" pitchFamily="34" charset="-122"/>
                <a:cs typeface="Calibri" pitchFamily="34" charset="-120"/>
              </a:rPr>
              <a:t>ACCIÓN RECOMENDADA</a:t>
            </a:r>
            <a:endParaRPr lang="en-US" sz="1150" dirty="0"/>
          </a:p>
        </p:txBody>
      </p:sp>
      <p:sp>
        <p:nvSpPr>
          <p:cNvPr id="12" name="Text 8"/>
          <p:cNvSpPr txBox="1"/>
          <p:nvPr/>
        </p:nvSpPr>
        <p:spPr>
          <a:xfrm>
            <a:off x="768096"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Escuchar al asociado, brindar una atención oportuna y canalizar el caso a quien corresponde dentro de la Cooperativa.</a:t>
            </a:r>
            <a:endParaRPr lang="en-US" sz="1200" dirty="0"/>
          </a:p>
        </p:txBody>
      </p:sp>
      <p:sp>
        <p:nvSpPr>
          <p:cNvPr id="13" name="Shape 9"/>
          <p:cNvSpPr/>
          <p:nvPr/>
        </p:nvSpPr>
        <p:spPr>
          <a:xfrm>
            <a:off x="4338218" y="2651760"/>
            <a:ext cx="3515258" cy="3337560"/>
          </a:xfrm>
          <a:prstGeom prst="roundRect">
            <a:avLst>
              <a:gd name="adj" fmla="val 2740"/>
            </a:avLst>
          </a:prstGeom>
          <a:solidFill>
            <a:srgbClr val="F2F5F9"/>
          </a:solidFill>
          <a:ln/>
        </p:spPr>
      </p:sp>
      <p:sp>
        <p:nvSpPr>
          <p:cNvPr id="14" name="Shape 10"/>
          <p:cNvSpPr/>
          <p:nvPr/>
        </p:nvSpPr>
        <p:spPr>
          <a:xfrm>
            <a:off x="5812384" y="2871216"/>
            <a:ext cx="566928" cy="566928"/>
          </a:xfrm>
          <a:prstGeom prst="ellipse">
            <a:avLst/>
          </a:prstGeom>
          <a:solidFill>
            <a:srgbClr val="133B6C"/>
          </a:solidFill>
          <a:ln/>
        </p:spPr>
      </p:sp>
      <p:pic>
        <p:nvPicPr>
          <p:cNvPr id="15" name="Image 1" descr="/tmp/claude-0/-home-user-riesgo/0ff9ff46-1396-5bd8-b3ac-2280dfbbbc55/scratchpad/work/gen/icons/people_group_white.png">    </p:cNvPr>
          <p:cNvPicPr>
            <a:picLocks noChangeAspect="1"/>
          </p:cNvPicPr>
          <p:nvPr/>
        </p:nvPicPr>
        <p:blipFill>
          <a:blip r:embed="rId2"/>
          <a:stretch>
            <a:fillRect/>
          </a:stretch>
        </p:blipFill>
        <p:spPr>
          <a:xfrm>
            <a:off x="5948446" y="3007279"/>
            <a:ext cx="294803" cy="294803"/>
          </a:xfrm>
          <a:prstGeom prst="rect">
            <a:avLst/>
          </a:prstGeom>
        </p:spPr>
      </p:pic>
      <p:sp>
        <p:nvSpPr>
          <p:cNvPr id="16" name="Text 11"/>
          <p:cNvSpPr txBox="1"/>
          <p:nvPr/>
        </p:nvSpPr>
        <p:spPr>
          <a:xfrm>
            <a:off x="4502810"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133B6C"/>
                </a:solidFill>
                <a:latin typeface="Calibri" pitchFamily="34" charset="0"/>
                <a:ea typeface="Calibri" pitchFamily="34" charset="-122"/>
                <a:cs typeface="Calibri" pitchFamily="34" charset="-120"/>
              </a:rPr>
              <a:t>RESPONSABLE DE ACTUAR</a:t>
            </a:r>
            <a:endParaRPr lang="en-US" sz="1150" dirty="0"/>
          </a:p>
        </p:txBody>
      </p:sp>
      <p:sp>
        <p:nvSpPr>
          <p:cNvPr id="17" name="Text 12"/>
          <p:cNvSpPr txBox="1"/>
          <p:nvPr/>
        </p:nvSpPr>
        <p:spPr>
          <a:xfrm>
            <a:off x="4539386"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El colaborador que atiende al asociado, con apoyo de su jefatura ante situaciones que lo requieran.</a:t>
            </a:r>
            <a:endParaRPr lang="en-US" sz="1200" dirty="0"/>
          </a:p>
        </p:txBody>
      </p:sp>
      <p:sp>
        <p:nvSpPr>
          <p:cNvPr id="18" name="Shape 13"/>
          <p:cNvSpPr/>
          <p:nvPr/>
        </p:nvSpPr>
        <p:spPr>
          <a:xfrm>
            <a:off x="8109509" y="2651760"/>
            <a:ext cx="3515258" cy="3337560"/>
          </a:xfrm>
          <a:prstGeom prst="roundRect">
            <a:avLst>
              <a:gd name="adj" fmla="val 2740"/>
            </a:avLst>
          </a:prstGeom>
          <a:solidFill>
            <a:srgbClr val="F2F5F9"/>
          </a:solidFill>
          <a:ln/>
        </p:spPr>
      </p:sp>
      <p:sp>
        <p:nvSpPr>
          <p:cNvPr id="19" name="Shape 14"/>
          <p:cNvSpPr/>
          <p:nvPr/>
        </p:nvSpPr>
        <p:spPr>
          <a:xfrm>
            <a:off x="9583674" y="2871216"/>
            <a:ext cx="566928" cy="566928"/>
          </a:xfrm>
          <a:prstGeom prst="ellipse">
            <a:avLst/>
          </a:prstGeom>
          <a:solidFill>
            <a:srgbClr val="E0392B"/>
          </a:solidFill>
          <a:ln/>
        </p:spPr>
      </p:sp>
      <p:pic>
        <p:nvPicPr>
          <p:cNvPr id="20" name="Image 2" descr="/tmp/claude-0/-home-user-riesgo/0ff9ff46-1396-5bd8-b3ac-2280dfbbbc55/scratchpad/work/gen/icons/warning_triangle_white.png">    </p:cNvPr>
          <p:cNvPicPr>
            <a:picLocks noChangeAspect="1"/>
          </p:cNvPicPr>
          <p:nvPr/>
        </p:nvPicPr>
        <p:blipFill>
          <a:blip r:embed="rId3"/>
          <a:stretch>
            <a:fillRect/>
          </a:stretch>
        </p:blipFill>
        <p:spPr>
          <a:xfrm>
            <a:off x="9719737" y="3007279"/>
            <a:ext cx="294803" cy="294803"/>
          </a:xfrm>
          <a:prstGeom prst="rect">
            <a:avLst/>
          </a:prstGeom>
        </p:spPr>
      </p:pic>
      <p:sp>
        <p:nvSpPr>
          <p:cNvPr id="21" name="Text 15"/>
          <p:cNvSpPr txBox="1"/>
          <p:nvPr/>
        </p:nvSpPr>
        <p:spPr>
          <a:xfrm>
            <a:off x="8274101"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E0392B"/>
                </a:solidFill>
                <a:latin typeface="Calibri" pitchFamily="34" charset="0"/>
                <a:ea typeface="Calibri" pitchFamily="34" charset="-122"/>
                <a:cs typeface="Calibri" pitchFamily="34" charset="-120"/>
              </a:rPr>
              <a:t>SI NO ACTUAMOS</a:t>
            </a:r>
            <a:endParaRPr lang="en-US" sz="1150" dirty="0"/>
          </a:p>
        </p:txBody>
      </p:sp>
      <p:sp>
        <p:nvSpPr>
          <p:cNvPr id="22" name="Text 16"/>
          <p:cNvSpPr txBox="1"/>
          <p:nvPr/>
        </p:nvSpPr>
        <p:spPr>
          <a:xfrm>
            <a:off x="8310677"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La queja gana más visibilidad y erosiona la confianza de otros asociados y de la comunidad.</a:t>
            </a:r>
            <a:endParaRPr lang="en-US" sz="1200" dirty="0"/>
          </a:p>
        </p:txBody>
      </p:sp>
      <p:sp>
        <p:nvSpPr>
          <p:cNvPr id="23" name="Text 17"/>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4" name="Text 18"/>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23</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1B4F91"/>
                </a:solidFill>
                <a:latin typeface="Calibri" pitchFamily="34" charset="0"/>
                <a:ea typeface="Calibri" pitchFamily="34" charset="-122"/>
                <a:cs typeface="Calibri" pitchFamily="34" charset="-120"/>
              </a:rPr>
              <a:t>CASO INTEGRADOR 3</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500" b="1" dirty="0">
                <a:solidFill>
                  <a:srgbClr val="133B6C"/>
                </a:solidFill>
                <a:latin typeface="Cambria" pitchFamily="34" charset="0"/>
                <a:ea typeface="Cambria" pitchFamily="34" charset="-122"/>
                <a:cs typeface="Cambria" pitchFamily="34" charset="-120"/>
              </a:rPr>
              <a:t>UNA DIFERENCIA QUE NADIE EXPLICA</a:t>
            </a:r>
            <a:endParaRPr lang="en-US" sz="2500" dirty="0"/>
          </a:p>
        </p:txBody>
      </p:sp>
      <p:sp>
        <p:nvSpPr>
          <p:cNvPr id="5" name="Shape 2"/>
          <p:cNvSpPr/>
          <p:nvPr/>
        </p:nvSpPr>
        <p:spPr>
          <a:xfrm>
            <a:off x="566928" y="1691640"/>
            <a:ext cx="11057839" cy="1463040"/>
          </a:xfrm>
          <a:prstGeom prst="roundRect">
            <a:avLst>
              <a:gd name="adj" fmla="val 7500"/>
            </a:avLst>
          </a:prstGeom>
          <a:solidFill>
            <a:srgbClr val="133B6C"/>
          </a:solidFill>
          <a:ln/>
        </p:spPr>
      </p:sp>
      <p:sp>
        <p:nvSpPr>
          <p:cNvPr id="6" name="Shape 3"/>
          <p:cNvSpPr/>
          <p:nvPr/>
        </p:nvSpPr>
        <p:spPr>
          <a:xfrm>
            <a:off x="822960" y="2075688"/>
            <a:ext cx="694944" cy="694944"/>
          </a:xfrm>
          <a:prstGeom prst="ellipse">
            <a:avLst/>
          </a:prstGeom>
          <a:solidFill>
            <a:srgbClr val="1B4F91"/>
          </a:solidFill>
          <a:ln/>
        </p:spPr>
      </p:sp>
      <p:pic>
        <p:nvPicPr>
          <p:cNvPr id="7" name="Image 0" descr="/tmp/claude-0/-home-user-riesgo/0ff9ff46-1396-5bd8-b3ac-2280dfbbbc55/scratchpad/work/gen/icons/search_doc_white.png">    </p:cNvPr>
          <p:cNvPicPr>
            <a:picLocks noChangeAspect="1"/>
          </p:cNvPicPr>
          <p:nvPr/>
        </p:nvPicPr>
        <p:blipFill>
          <a:blip r:embed="rId1"/>
          <a:stretch>
            <a:fillRect/>
          </a:stretch>
        </p:blipFill>
        <p:spPr>
          <a:xfrm>
            <a:off x="979322" y="2232050"/>
            <a:ext cx="382219" cy="382219"/>
          </a:xfrm>
          <a:prstGeom prst="rect">
            <a:avLst/>
          </a:prstGeom>
        </p:spPr>
      </p:pic>
      <p:sp>
        <p:nvSpPr>
          <p:cNvPr id="8" name="Text 4"/>
          <p:cNvSpPr txBox="1"/>
          <p:nvPr/>
        </p:nvSpPr>
        <p:spPr>
          <a:xfrm>
            <a:off x="1709928" y="1874520"/>
            <a:ext cx="9144000" cy="292608"/>
          </a:xfrm>
          <a:prstGeom prst="rect">
            <a:avLst/>
          </a:prstGeom>
          <a:noFill/>
          <a:ln/>
        </p:spPr>
        <p:txBody>
          <a:bodyPr wrap="square" lIns="0" tIns="0" rIns="0" bIns="0" rtlCol="0" anchor="ctr"/>
          <a:lstStyle/>
          <a:p>
            <a:pPr indent="0" marL="0">
              <a:buNone/>
            </a:pPr>
            <a:r>
              <a:rPr lang="en-US" sz="1200" b="1" spc="200" kern="0" dirty="0">
                <a:solidFill>
                  <a:srgbClr val="98B0CE"/>
                </a:solidFill>
                <a:latin typeface="Calibri" pitchFamily="34" charset="0"/>
                <a:ea typeface="Calibri" pitchFamily="34" charset="-122"/>
                <a:cs typeface="Calibri" pitchFamily="34" charset="-120"/>
              </a:rPr>
              <a:t>SITUACIÓN</a:t>
            </a:r>
            <a:endParaRPr lang="en-US" sz="1200" dirty="0"/>
          </a:p>
        </p:txBody>
      </p:sp>
      <p:sp>
        <p:nvSpPr>
          <p:cNvPr id="9" name="Text 5"/>
          <p:cNvSpPr txBox="1"/>
          <p:nvPr/>
        </p:nvSpPr>
        <p:spPr>
          <a:xfrm>
            <a:off x="1709928" y="2148840"/>
            <a:ext cx="9640519" cy="91440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Un colaborador nota que un depósito quedó registrado dos veces. No está seguro si fue un error de digitación o algo más, y duda si reportarlo.</a:t>
            </a:r>
            <a:endParaRPr lang="en-US" sz="1350" dirty="0"/>
          </a:p>
        </p:txBody>
      </p:sp>
      <p:sp>
        <p:nvSpPr>
          <p:cNvPr id="10" name="Shape 6"/>
          <p:cNvSpPr/>
          <p:nvPr/>
        </p:nvSpPr>
        <p:spPr>
          <a:xfrm>
            <a:off x="566928" y="3429000"/>
            <a:ext cx="5400904" cy="1229868"/>
          </a:xfrm>
          <a:prstGeom prst="roundRect">
            <a:avLst>
              <a:gd name="adj" fmla="val 7435"/>
            </a:avLst>
          </a:prstGeom>
          <a:solidFill>
            <a:srgbClr val="F2F5F9"/>
          </a:solidFill>
          <a:ln/>
        </p:spPr>
      </p:sp>
      <p:sp>
        <p:nvSpPr>
          <p:cNvPr id="11" name="Shape 7"/>
          <p:cNvSpPr/>
          <p:nvPr/>
        </p:nvSpPr>
        <p:spPr>
          <a:xfrm>
            <a:off x="749808" y="3815334"/>
            <a:ext cx="457200" cy="457200"/>
          </a:xfrm>
          <a:prstGeom prst="ellipse">
            <a:avLst/>
          </a:prstGeom>
          <a:solidFill>
            <a:srgbClr val="133B6C"/>
          </a:solidFill>
          <a:ln/>
        </p:spPr>
      </p:sp>
      <p:pic>
        <p:nvPicPr>
          <p:cNvPr id="12" name="Image 1" descr="/tmp/claude-0/-home-user-riesgo/0ff9ff46-1396-5bd8-b3ac-2280dfbbbc55/scratchpad/work/gen/icons/question_white.png">    </p:cNvPr>
          <p:cNvPicPr>
            <a:picLocks noChangeAspect="1"/>
          </p:cNvPicPr>
          <p:nvPr/>
        </p:nvPicPr>
        <p:blipFill>
          <a:blip r:embed="rId2"/>
          <a:stretch>
            <a:fillRect/>
          </a:stretch>
        </p:blipFill>
        <p:spPr>
          <a:xfrm>
            <a:off x="852678" y="3918204"/>
            <a:ext cx="251460" cy="251460"/>
          </a:xfrm>
          <a:prstGeom prst="rect">
            <a:avLst/>
          </a:prstGeom>
        </p:spPr>
      </p:pic>
      <p:sp>
        <p:nvSpPr>
          <p:cNvPr id="13" name="Text 8"/>
          <p:cNvSpPr txBox="1"/>
          <p:nvPr/>
        </p:nvSpPr>
        <p:spPr>
          <a:xfrm>
            <a:off x="1344168" y="3429000"/>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RIESGOS IDENTIFICAS?</a:t>
            </a:r>
            <a:endParaRPr lang="en-US" sz="1250" dirty="0"/>
          </a:p>
        </p:txBody>
      </p:sp>
      <p:sp>
        <p:nvSpPr>
          <p:cNvPr id="14" name="Shape 9"/>
          <p:cNvSpPr/>
          <p:nvPr/>
        </p:nvSpPr>
        <p:spPr>
          <a:xfrm>
            <a:off x="6223864" y="3429000"/>
            <a:ext cx="5400904" cy="1229868"/>
          </a:xfrm>
          <a:prstGeom prst="roundRect">
            <a:avLst>
              <a:gd name="adj" fmla="val 7435"/>
            </a:avLst>
          </a:prstGeom>
          <a:solidFill>
            <a:srgbClr val="F2F5F9"/>
          </a:solidFill>
          <a:ln/>
        </p:spPr>
      </p:sp>
      <p:sp>
        <p:nvSpPr>
          <p:cNvPr id="15" name="Shape 10"/>
          <p:cNvSpPr/>
          <p:nvPr/>
        </p:nvSpPr>
        <p:spPr>
          <a:xfrm>
            <a:off x="6406744" y="3815334"/>
            <a:ext cx="457200" cy="457200"/>
          </a:xfrm>
          <a:prstGeom prst="ellipse">
            <a:avLst/>
          </a:prstGeom>
          <a:solidFill>
            <a:srgbClr val="133B6C"/>
          </a:solidFill>
          <a:ln/>
        </p:spPr>
      </p:sp>
      <p:pic>
        <p:nvPicPr>
          <p:cNvPr id="16" name="Image 2" descr="/tmp/claude-0/-home-user-riesgo/0ff9ff46-1396-5bd8-b3ac-2280dfbbbc55/scratchpad/work/gen/icons/question_white.png">    </p:cNvPr>
          <p:cNvPicPr>
            <a:picLocks noChangeAspect="1"/>
          </p:cNvPicPr>
          <p:nvPr/>
        </p:nvPicPr>
        <p:blipFill>
          <a:blip r:embed="rId3"/>
          <a:stretch>
            <a:fillRect/>
          </a:stretch>
        </p:blipFill>
        <p:spPr>
          <a:xfrm>
            <a:off x="6509614" y="3918204"/>
            <a:ext cx="251460" cy="251460"/>
          </a:xfrm>
          <a:prstGeom prst="rect">
            <a:avLst/>
          </a:prstGeom>
        </p:spPr>
      </p:pic>
      <p:sp>
        <p:nvSpPr>
          <p:cNvPr id="17" name="Text 11"/>
          <p:cNvSpPr txBox="1"/>
          <p:nvPr/>
        </p:nvSpPr>
        <p:spPr>
          <a:xfrm>
            <a:off x="7001104" y="3429000"/>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HARÍAS?</a:t>
            </a:r>
            <a:endParaRPr lang="en-US" sz="1250" dirty="0"/>
          </a:p>
        </p:txBody>
      </p:sp>
      <p:sp>
        <p:nvSpPr>
          <p:cNvPr id="18" name="Shape 12"/>
          <p:cNvSpPr/>
          <p:nvPr/>
        </p:nvSpPr>
        <p:spPr>
          <a:xfrm>
            <a:off x="566928" y="4878324"/>
            <a:ext cx="5400904" cy="1229868"/>
          </a:xfrm>
          <a:prstGeom prst="roundRect">
            <a:avLst>
              <a:gd name="adj" fmla="val 7435"/>
            </a:avLst>
          </a:prstGeom>
          <a:solidFill>
            <a:srgbClr val="F2F5F9"/>
          </a:solidFill>
          <a:ln/>
        </p:spPr>
      </p:sp>
      <p:sp>
        <p:nvSpPr>
          <p:cNvPr id="19" name="Shape 13"/>
          <p:cNvSpPr/>
          <p:nvPr/>
        </p:nvSpPr>
        <p:spPr>
          <a:xfrm>
            <a:off x="749808" y="5264658"/>
            <a:ext cx="457200" cy="457200"/>
          </a:xfrm>
          <a:prstGeom prst="ellipse">
            <a:avLst/>
          </a:prstGeom>
          <a:solidFill>
            <a:srgbClr val="133B6C"/>
          </a:solidFill>
          <a:ln/>
        </p:spPr>
      </p:sp>
      <p:pic>
        <p:nvPicPr>
          <p:cNvPr id="20" name="Image 3" descr="/tmp/claude-0/-home-user-riesgo/0ff9ff46-1396-5bd8-b3ac-2280dfbbbc55/scratchpad/work/gen/icons/question_white.png">    </p:cNvPr>
          <p:cNvPicPr>
            <a:picLocks noChangeAspect="1"/>
          </p:cNvPicPr>
          <p:nvPr/>
        </p:nvPicPr>
        <p:blipFill>
          <a:blip r:embed="rId4"/>
          <a:stretch>
            <a:fillRect/>
          </a:stretch>
        </p:blipFill>
        <p:spPr>
          <a:xfrm>
            <a:off x="852678" y="5367528"/>
            <a:ext cx="251460" cy="251460"/>
          </a:xfrm>
          <a:prstGeom prst="rect">
            <a:avLst/>
          </a:prstGeom>
        </p:spPr>
      </p:pic>
      <p:sp>
        <p:nvSpPr>
          <p:cNvPr id="21" name="Text 14"/>
          <p:cNvSpPr txBox="1"/>
          <p:nvPr/>
        </p:nvSpPr>
        <p:spPr>
          <a:xfrm>
            <a:off x="1344168" y="4878324"/>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¿A QUIÉN CORRESPONDE ACTUAR?</a:t>
            </a:r>
            <a:endParaRPr lang="en-US" sz="1250" dirty="0"/>
          </a:p>
        </p:txBody>
      </p:sp>
      <p:sp>
        <p:nvSpPr>
          <p:cNvPr id="22" name="Shape 15"/>
          <p:cNvSpPr/>
          <p:nvPr/>
        </p:nvSpPr>
        <p:spPr>
          <a:xfrm>
            <a:off x="6223864" y="4878324"/>
            <a:ext cx="5400904" cy="1229868"/>
          </a:xfrm>
          <a:prstGeom prst="roundRect">
            <a:avLst>
              <a:gd name="adj" fmla="val 7435"/>
            </a:avLst>
          </a:prstGeom>
          <a:solidFill>
            <a:srgbClr val="F2F5F9"/>
          </a:solidFill>
          <a:ln/>
        </p:spPr>
      </p:sp>
      <p:sp>
        <p:nvSpPr>
          <p:cNvPr id="23" name="Shape 16"/>
          <p:cNvSpPr/>
          <p:nvPr/>
        </p:nvSpPr>
        <p:spPr>
          <a:xfrm>
            <a:off x="6406744" y="5264658"/>
            <a:ext cx="457200" cy="457200"/>
          </a:xfrm>
          <a:prstGeom prst="ellipse">
            <a:avLst/>
          </a:prstGeom>
          <a:solidFill>
            <a:srgbClr val="133B6C"/>
          </a:solidFill>
          <a:ln/>
        </p:spPr>
      </p:sp>
      <p:pic>
        <p:nvPicPr>
          <p:cNvPr id="24" name="Image 4" descr="/tmp/claude-0/-home-user-riesgo/0ff9ff46-1396-5bd8-b3ac-2280dfbbbc55/scratchpad/work/gen/icons/question_white.png">    </p:cNvPr>
          <p:cNvPicPr>
            <a:picLocks noChangeAspect="1"/>
          </p:cNvPicPr>
          <p:nvPr/>
        </p:nvPicPr>
        <p:blipFill>
          <a:blip r:embed="rId5"/>
          <a:stretch>
            <a:fillRect/>
          </a:stretch>
        </p:blipFill>
        <p:spPr>
          <a:xfrm>
            <a:off x="6509614" y="5367528"/>
            <a:ext cx="251460" cy="251460"/>
          </a:xfrm>
          <a:prstGeom prst="rect">
            <a:avLst/>
          </a:prstGeom>
        </p:spPr>
      </p:pic>
      <p:sp>
        <p:nvSpPr>
          <p:cNvPr id="25" name="Text 17"/>
          <p:cNvSpPr txBox="1"/>
          <p:nvPr/>
        </p:nvSpPr>
        <p:spPr>
          <a:xfrm>
            <a:off x="7001104" y="4878324"/>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PASA SI NO ACTUAMOS?</a:t>
            </a:r>
            <a:endParaRPr lang="en-US" sz="1250" dirty="0"/>
          </a:p>
        </p:txBody>
      </p:sp>
      <p:sp>
        <p:nvSpPr>
          <p:cNvPr id="26" name="Text 18"/>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7" name="Text 19"/>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24</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1B4F91"/>
                </a:solidFill>
                <a:latin typeface="Calibri" pitchFamily="34" charset="0"/>
                <a:ea typeface="Calibri" pitchFamily="34" charset="-122"/>
                <a:cs typeface="Calibri" pitchFamily="34" charset="-120"/>
              </a:rPr>
              <a:t>CASO INTEGRADOR 3 · RESPUESTA</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200" b="1" dirty="0">
                <a:solidFill>
                  <a:srgbClr val="133B6C"/>
                </a:solidFill>
                <a:latin typeface="Cambria" pitchFamily="34" charset="0"/>
                <a:ea typeface="Cambria" pitchFamily="34" charset="-122"/>
                <a:cs typeface="Cambria" pitchFamily="34" charset="-120"/>
              </a:rPr>
              <a:t>UNA DIFERENCIA QUE NADIE EXPLICA</a:t>
            </a:r>
            <a:endParaRPr lang="en-US" sz="2200" dirty="0"/>
          </a:p>
        </p:txBody>
      </p:sp>
      <p:sp>
        <p:nvSpPr>
          <p:cNvPr id="5" name="Text 2"/>
          <p:cNvSpPr txBox="1"/>
          <p:nvPr/>
        </p:nvSpPr>
        <p:spPr>
          <a:xfrm>
            <a:off x="566928" y="1691640"/>
            <a:ext cx="5486400" cy="274320"/>
          </a:xfrm>
          <a:prstGeom prst="rect">
            <a:avLst/>
          </a:prstGeom>
          <a:noFill/>
          <a:ln/>
        </p:spPr>
        <p:txBody>
          <a:bodyPr wrap="square" lIns="0" tIns="0" rIns="0" bIns="0" rtlCol="0" anchor="ctr"/>
          <a:lstStyle/>
          <a:p>
            <a:pPr indent="0" marL="0">
              <a:buNone/>
            </a:pPr>
            <a:r>
              <a:rPr lang="en-US" sz="1200" b="1" spc="150" kern="0" dirty="0">
                <a:solidFill>
                  <a:srgbClr val="5B6B82"/>
                </a:solidFill>
                <a:latin typeface="Calibri" pitchFamily="34" charset="0"/>
                <a:ea typeface="Calibri" pitchFamily="34" charset="-122"/>
                <a:cs typeface="Calibri" pitchFamily="34" charset="-120"/>
              </a:rPr>
              <a:t>RIESGOS IDENTIFICADOS</a:t>
            </a:r>
            <a:endParaRPr lang="en-US" sz="1200" dirty="0"/>
          </a:p>
        </p:txBody>
      </p:sp>
      <p:sp>
        <p:nvSpPr>
          <p:cNvPr id="6" name="Shape 3"/>
          <p:cNvSpPr/>
          <p:nvPr/>
        </p:nvSpPr>
        <p:spPr>
          <a:xfrm>
            <a:off x="566928" y="1993392"/>
            <a:ext cx="1717243" cy="365760"/>
          </a:xfrm>
          <a:prstGeom prst="roundRect">
            <a:avLst>
              <a:gd name="adj" fmla="val 50000"/>
            </a:avLst>
          </a:prstGeom>
          <a:solidFill>
            <a:srgbClr val="1B4F91"/>
          </a:solidFill>
          <a:ln/>
        </p:spPr>
      </p:sp>
      <p:sp>
        <p:nvSpPr>
          <p:cNvPr id="7" name="Text 4"/>
          <p:cNvSpPr txBox="1"/>
          <p:nvPr/>
        </p:nvSpPr>
        <p:spPr>
          <a:xfrm>
            <a:off x="566928" y="1993392"/>
            <a:ext cx="1717243"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Riesgo operativo</a:t>
            </a:r>
            <a:endParaRPr lang="en-US" sz="1100" dirty="0"/>
          </a:p>
        </p:txBody>
      </p:sp>
      <p:sp>
        <p:nvSpPr>
          <p:cNvPr id="8" name="Shape 5"/>
          <p:cNvSpPr/>
          <p:nvPr/>
        </p:nvSpPr>
        <p:spPr>
          <a:xfrm>
            <a:off x="2430475" y="1993392"/>
            <a:ext cx="2172614" cy="365760"/>
          </a:xfrm>
          <a:prstGeom prst="roundRect">
            <a:avLst>
              <a:gd name="adj" fmla="val 50000"/>
            </a:avLst>
          </a:prstGeom>
          <a:solidFill>
            <a:srgbClr val="1B4F91"/>
          </a:solidFill>
          <a:ln/>
        </p:spPr>
      </p:sp>
      <p:sp>
        <p:nvSpPr>
          <p:cNvPr id="9" name="Text 6"/>
          <p:cNvSpPr txBox="1"/>
          <p:nvPr/>
        </p:nvSpPr>
        <p:spPr>
          <a:xfrm>
            <a:off x="2430475" y="1993392"/>
            <a:ext cx="217261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Posible error o fraude</a:t>
            </a:r>
            <a:endParaRPr lang="en-US" sz="1100" dirty="0"/>
          </a:p>
        </p:txBody>
      </p:sp>
      <p:sp>
        <p:nvSpPr>
          <p:cNvPr id="10" name="Shape 7"/>
          <p:cNvSpPr/>
          <p:nvPr/>
        </p:nvSpPr>
        <p:spPr>
          <a:xfrm>
            <a:off x="566928" y="2651760"/>
            <a:ext cx="3515258" cy="3337560"/>
          </a:xfrm>
          <a:prstGeom prst="roundRect">
            <a:avLst>
              <a:gd name="adj" fmla="val 2740"/>
            </a:avLst>
          </a:prstGeom>
          <a:solidFill>
            <a:srgbClr val="F2F5F9"/>
          </a:solidFill>
          <a:ln/>
        </p:spPr>
      </p:sp>
      <p:sp>
        <p:nvSpPr>
          <p:cNvPr id="11" name="Shape 8"/>
          <p:cNvSpPr/>
          <p:nvPr/>
        </p:nvSpPr>
        <p:spPr>
          <a:xfrm>
            <a:off x="2041093" y="2871216"/>
            <a:ext cx="566928" cy="566928"/>
          </a:xfrm>
          <a:prstGeom prst="ellipse">
            <a:avLst/>
          </a:prstGeom>
          <a:solidFill>
            <a:srgbClr val="2FAE60"/>
          </a:solidFill>
          <a:ln/>
        </p:spPr>
      </p:sp>
      <p:pic>
        <p:nvPicPr>
          <p:cNvPr id="12" name="Image 0" descr="/tmp/claude-0/-home-user-riesgo/0ff9ff46-1396-5bd8-b3ac-2280dfbbbc55/scratchpad/work/gen/icons/check_circle_white.png">    </p:cNvPr>
          <p:cNvPicPr>
            <a:picLocks noChangeAspect="1"/>
          </p:cNvPicPr>
          <p:nvPr/>
        </p:nvPicPr>
        <p:blipFill>
          <a:blip r:embed="rId1"/>
          <a:stretch>
            <a:fillRect/>
          </a:stretch>
        </p:blipFill>
        <p:spPr>
          <a:xfrm>
            <a:off x="2177156" y="3007279"/>
            <a:ext cx="294803" cy="294803"/>
          </a:xfrm>
          <a:prstGeom prst="rect">
            <a:avLst/>
          </a:prstGeom>
        </p:spPr>
      </p:pic>
      <p:sp>
        <p:nvSpPr>
          <p:cNvPr id="13" name="Text 9"/>
          <p:cNvSpPr txBox="1"/>
          <p:nvPr/>
        </p:nvSpPr>
        <p:spPr>
          <a:xfrm>
            <a:off x="731520"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2FAE60"/>
                </a:solidFill>
                <a:latin typeface="Calibri" pitchFamily="34" charset="0"/>
                <a:ea typeface="Calibri" pitchFamily="34" charset="-122"/>
                <a:cs typeface="Calibri" pitchFamily="34" charset="-120"/>
              </a:rPr>
              <a:t>ACCIÓN RECOMENDADA</a:t>
            </a:r>
            <a:endParaRPr lang="en-US" sz="1150" dirty="0"/>
          </a:p>
        </p:txBody>
      </p:sp>
      <p:sp>
        <p:nvSpPr>
          <p:cNvPr id="14" name="Text 10"/>
          <p:cNvSpPr txBox="1"/>
          <p:nvPr/>
        </p:nvSpPr>
        <p:spPr>
          <a:xfrm>
            <a:off x="768096"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Documentar la diferencia encontrada y reportarla, sin asumir por su cuenta si fue error o algo intencional.</a:t>
            </a:r>
            <a:endParaRPr lang="en-US" sz="1200" dirty="0"/>
          </a:p>
        </p:txBody>
      </p:sp>
      <p:sp>
        <p:nvSpPr>
          <p:cNvPr id="15" name="Shape 11"/>
          <p:cNvSpPr/>
          <p:nvPr/>
        </p:nvSpPr>
        <p:spPr>
          <a:xfrm>
            <a:off x="4338218" y="2651760"/>
            <a:ext cx="3515258" cy="3337560"/>
          </a:xfrm>
          <a:prstGeom prst="roundRect">
            <a:avLst>
              <a:gd name="adj" fmla="val 2740"/>
            </a:avLst>
          </a:prstGeom>
          <a:solidFill>
            <a:srgbClr val="F2F5F9"/>
          </a:solidFill>
          <a:ln/>
        </p:spPr>
      </p:sp>
      <p:sp>
        <p:nvSpPr>
          <p:cNvPr id="16" name="Shape 12"/>
          <p:cNvSpPr/>
          <p:nvPr/>
        </p:nvSpPr>
        <p:spPr>
          <a:xfrm>
            <a:off x="5812384" y="2871216"/>
            <a:ext cx="566928" cy="566928"/>
          </a:xfrm>
          <a:prstGeom prst="ellipse">
            <a:avLst/>
          </a:prstGeom>
          <a:solidFill>
            <a:srgbClr val="133B6C"/>
          </a:solidFill>
          <a:ln/>
        </p:spPr>
      </p:sp>
      <p:pic>
        <p:nvPicPr>
          <p:cNvPr id="17" name="Image 1" descr="/tmp/claude-0/-home-user-riesgo/0ff9ff46-1396-5bd8-b3ac-2280dfbbbc55/scratchpad/work/gen/icons/people_group_white.png">    </p:cNvPr>
          <p:cNvPicPr>
            <a:picLocks noChangeAspect="1"/>
          </p:cNvPicPr>
          <p:nvPr/>
        </p:nvPicPr>
        <p:blipFill>
          <a:blip r:embed="rId2"/>
          <a:stretch>
            <a:fillRect/>
          </a:stretch>
        </p:blipFill>
        <p:spPr>
          <a:xfrm>
            <a:off x="5948446" y="3007279"/>
            <a:ext cx="294803" cy="294803"/>
          </a:xfrm>
          <a:prstGeom prst="rect">
            <a:avLst/>
          </a:prstGeom>
        </p:spPr>
      </p:pic>
      <p:sp>
        <p:nvSpPr>
          <p:cNvPr id="18" name="Text 13"/>
          <p:cNvSpPr txBox="1"/>
          <p:nvPr/>
        </p:nvSpPr>
        <p:spPr>
          <a:xfrm>
            <a:off x="4502810"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133B6C"/>
                </a:solidFill>
                <a:latin typeface="Calibri" pitchFamily="34" charset="0"/>
                <a:ea typeface="Calibri" pitchFamily="34" charset="-122"/>
                <a:cs typeface="Calibri" pitchFamily="34" charset="-120"/>
              </a:rPr>
              <a:t>RESPONSABLE DE ACTUAR</a:t>
            </a:r>
            <a:endParaRPr lang="en-US" sz="1150" dirty="0"/>
          </a:p>
        </p:txBody>
      </p:sp>
      <p:sp>
        <p:nvSpPr>
          <p:cNvPr id="19" name="Text 14"/>
          <p:cNvSpPr txBox="1"/>
          <p:nvPr/>
        </p:nvSpPr>
        <p:spPr>
          <a:xfrm>
            <a:off x="4539386"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El colaborador que la detecta, y el Departamento de Administración de Riesgos para su análisis.</a:t>
            </a:r>
            <a:endParaRPr lang="en-US" sz="1200" dirty="0"/>
          </a:p>
        </p:txBody>
      </p:sp>
      <p:sp>
        <p:nvSpPr>
          <p:cNvPr id="20" name="Shape 15"/>
          <p:cNvSpPr/>
          <p:nvPr/>
        </p:nvSpPr>
        <p:spPr>
          <a:xfrm>
            <a:off x="8109509" y="2651760"/>
            <a:ext cx="3515258" cy="3337560"/>
          </a:xfrm>
          <a:prstGeom prst="roundRect">
            <a:avLst>
              <a:gd name="adj" fmla="val 2740"/>
            </a:avLst>
          </a:prstGeom>
          <a:solidFill>
            <a:srgbClr val="F2F5F9"/>
          </a:solidFill>
          <a:ln/>
        </p:spPr>
      </p:sp>
      <p:sp>
        <p:nvSpPr>
          <p:cNvPr id="21" name="Shape 16"/>
          <p:cNvSpPr/>
          <p:nvPr/>
        </p:nvSpPr>
        <p:spPr>
          <a:xfrm>
            <a:off x="9583674" y="2871216"/>
            <a:ext cx="566928" cy="566928"/>
          </a:xfrm>
          <a:prstGeom prst="ellipse">
            <a:avLst/>
          </a:prstGeom>
          <a:solidFill>
            <a:srgbClr val="E0392B"/>
          </a:solidFill>
          <a:ln/>
        </p:spPr>
      </p:sp>
      <p:pic>
        <p:nvPicPr>
          <p:cNvPr id="22" name="Image 2" descr="/tmp/claude-0/-home-user-riesgo/0ff9ff46-1396-5bd8-b3ac-2280dfbbbc55/scratchpad/work/gen/icons/warning_triangle_white.png">    </p:cNvPr>
          <p:cNvPicPr>
            <a:picLocks noChangeAspect="1"/>
          </p:cNvPicPr>
          <p:nvPr/>
        </p:nvPicPr>
        <p:blipFill>
          <a:blip r:embed="rId3"/>
          <a:stretch>
            <a:fillRect/>
          </a:stretch>
        </p:blipFill>
        <p:spPr>
          <a:xfrm>
            <a:off x="9719737" y="3007279"/>
            <a:ext cx="294803" cy="294803"/>
          </a:xfrm>
          <a:prstGeom prst="rect">
            <a:avLst/>
          </a:prstGeom>
        </p:spPr>
      </p:pic>
      <p:sp>
        <p:nvSpPr>
          <p:cNvPr id="23" name="Text 17"/>
          <p:cNvSpPr txBox="1"/>
          <p:nvPr/>
        </p:nvSpPr>
        <p:spPr>
          <a:xfrm>
            <a:off x="8274101"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E0392B"/>
                </a:solidFill>
                <a:latin typeface="Calibri" pitchFamily="34" charset="0"/>
                <a:ea typeface="Calibri" pitchFamily="34" charset="-122"/>
                <a:cs typeface="Calibri" pitchFamily="34" charset="-120"/>
              </a:rPr>
              <a:t>SI NO ACTUAMOS</a:t>
            </a:r>
            <a:endParaRPr lang="en-US" sz="1150" dirty="0"/>
          </a:p>
        </p:txBody>
      </p:sp>
      <p:sp>
        <p:nvSpPr>
          <p:cNvPr id="24" name="Text 18"/>
          <p:cNvSpPr txBox="1"/>
          <p:nvPr/>
        </p:nvSpPr>
        <p:spPr>
          <a:xfrm>
            <a:off x="8310677"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La diferencia queda sin explicación, y un posible error —o algo más grave— pasa desapercibido.</a:t>
            </a:r>
            <a:endParaRPr lang="en-US" sz="1200" dirty="0"/>
          </a:p>
        </p:txBody>
      </p:sp>
      <p:sp>
        <p:nvSpPr>
          <p:cNvPr id="25" name="Text 19"/>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6" name="Text 20"/>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25</a:t>
            </a:r>
            <a:endParaRPr lang="en-US" sz="9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5EAA"/>
                </a:solidFill>
                <a:latin typeface="Calibri" pitchFamily="34" charset="0"/>
                <a:ea typeface="Calibri" pitchFamily="34" charset="-122"/>
                <a:cs typeface="Calibri" pitchFamily="34" charset="-120"/>
              </a:rPr>
              <a:t>CASO INTEGRADOR 4</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500" b="1" dirty="0">
                <a:solidFill>
                  <a:srgbClr val="133B6C"/>
                </a:solidFill>
                <a:latin typeface="Cambria" pitchFamily="34" charset="0"/>
                <a:ea typeface="Cambria" pitchFamily="34" charset="-122"/>
                <a:cs typeface="Cambria" pitchFamily="34" charset="-120"/>
              </a:rPr>
              <a:t>DATOS QUE NO COINCIDEN</a:t>
            </a:r>
            <a:endParaRPr lang="en-US" sz="2500" dirty="0"/>
          </a:p>
        </p:txBody>
      </p:sp>
      <p:sp>
        <p:nvSpPr>
          <p:cNvPr id="5" name="Shape 2"/>
          <p:cNvSpPr/>
          <p:nvPr/>
        </p:nvSpPr>
        <p:spPr>
          <a:xfrm>
            <a:off x="566928" y="1691640"/>
            <a:ext cx="11057839" cy="1463040"/>
          </a:xfrm>
          <a:prstGeom prst="roundRect">
            <a:avLst>
              <a:gd name="adj" fmla="val 7500"/>
            </a:avLst>
          </a:prstGeom>
          <a:solidFill>
            <a:srgbClr val="133B6C"/>
          </a:solidFill>
          <a:ln/>
        </p:spPr>
      </p:sp>
      <p:sp>
        <p:nvSpPr>
          <p:cNvPr id="6" name="Shape 3"/>
          <p:cNvSpPr/>
          <p:nvPr/>
        </p:nvSpPr>
        <p:spPr>
          <a:xfrm>
            <a:off x="822960" y="2075688"/>
            <a:ext cx="694944" cy="694944"/>
          </a:xfrm>
          <a:prstGeom prst="ellipse">
            <a:avLst/>
          </a:prstGeom>
          <a:solidFill>
            <a:srgbClr val="2E5EAA"/>
          </a:solidFill>
          <a:ln/>
        </p:spPr>
      </p:sp>
      <p:pic>
        <p:nvPicPr>
          <p:cNvPr id="7" name="Image 0" descr="/tmp/claude-0/-home-user-riesgo/0ff9ff46-1396-5bd8-b3ac-2280dfbbbc55/scratchpad/work/gen/icons/form_white.png">    </p:cNvPr>
          <p:cNvPicPr>
            <a:picLocks noChangeAspect="1"/>
          </p:cNvPicPr>
          <p:nvPr/>
        </p:nvPicPr>
        <p:blipFill>
          <a:blip r:embed="rId1"/>
          <a:stretch>
            <a:fillRect/>
          </a:stretch>
        </p:blipFill>
        <p:spPr>
          <a:xfrm>
            <a:off x="979322" y="2232050"/>
            <a:ext cx="382219" cy="382219"/>
          </a:xfrm>
          <a:prstGeom prst="rect">
            <a:avLst/>
          </a:prstGeom>
        </p:spPr>
      </p:pic>
      <p:sp>
        <p:nvSpPr>
          <p:cNvPr id="8" name="Text 4"/>
          <p:cNvSpPr txBox="1"/>
          <p:nvPr/>
        </p:nvSpPr>
        <p:spPr>
          <a:xfrm>
            <a:off x="1709928" y="1874520"/>
            <a:ext cx="9144000" cy="292608"/>
          </a:xfrm>
          <a:prstGeom prst="rect">
            <a:avLst/>
          </a:prstGeom>
          <a:noFill/>
          <a:ln/>
        </p:spPr>
        <p:txBody>
          <a:bodyPr wrap="square" lIns="0" tIns="0" rIns="0" bIns="0" rtlCol="0" anchor="ctr"/>
          <a:lstStyle/>
          <a:p>
            <a:pPr indent="0" marL="0">
              <a:buNone/>
            </a:pPr>
            <a:r>
              <a:rPr lang="en-US" sz="1200" b="1" spc="200" kern="0" dirty="0">
                <a:solidFill>
                  <a:srgbClr val="A1B7D9"/>
                </a:solidFill>
                <a:latin typeface="Calibri" pitchFamily="34" charset="0"/>
                <a:ea typeface="Calibri" pitchFamily="34" charset="-122"/>
                <a:cs typeface="Calibri" pitchFamily="34" charset="-120"/>
              </a:rPr>
              <a:t>SITUACIÓN</a:t>
            </a:r>
            <a:endParaRPr lang="en-US" sz="1200" dirty="0"/>
          </a:p>
        </p:txBody>
      </p:sp>
      <p:sp>
        <p:nvSpPr>
          <p:cNvPr id="9" name="Text 5"/>
          <p:cNvSpPr txBox="1"/>
          <p:nvPr/>
        </p:nvSpPr>
        <p:spPr>
          <a:xfrm>
            <a:off x="1709928" y="2148840"/>
            <a:ext cx="9640519" cy="91440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Al evaluar una solicitud de crédito, los ingresos declarados por el solicitante no coinciden con los documentos de soporte presentados.</a:t>
            </a:r>
            <a:endParaRPr lang="en-US" sz="1350" dirty="0"/>
          </a:p>
        </p:txBody>
      </p:sp>
      <p:sp>
        <p:nvSpPr>
          <p:cNvPr id="10" name="Shape 6"/>
          <p:cNvSpPr/>
          <p:nvPr/>
        </p:nvSpPr>
        <p:spPr>
          <a:xfrm>
            <a:off x="566928" y="3429000"/>
            <a:ext cx="5400904" cy="1229868"/>
          </a:xfrm>
          <a:prstGeom prst="roundRect">
            <a:avLst>
              <a:gd name="adj" fmla="val 7435"/>
            </a:avLst>
          </a:prstGeom>
          <a:solidFill>
            <a:srgbClr val="F2F5F9"/>
          </a:solidFill>
          <a:ln/>
        </p:spPr>
      </p:sp>
      <p:sp>
        <p:nvSpPr>
          <p:cNvPr id="11" name="Shape 7"/>
          <p:cNvSpPr/>
          <p:nvPr/>
        </p:nvSpPr>
        <p:spPr>
          <a:xfrm>
            <a:off x="749808" y="3815334"/>
            <a:ext cx="457200" cy="457200"/>
          </a:xfrm>
          <a:prstGeom prst="ellipse">
            <a:avLst/>
          </a:prstGeom>
          <a:solidFill>
            <a:srgbClr val="133B6C"/>
          </a:solidFill>
          <a:ln/>
        </p:spPr>
      </p:sp>
      <p:pic>
        <p:nvPicPr>
          <p:cNvPr id="12" name="Image 1" descr="/tmp/claude-0/-home-user-riesgo/0ff9ff46-1396-5bd8-b3ac-2280dfbbbc55/scratchpad/work/gen/icons/question_white.png">    </p:cNvPr>
          <p:cNvPicPr>
            <a:picLocks noChangeAspect="1"/>
          </p:cNvPicPr>
          <p:nvPr/>
        </p:nvPicPr>
        <p:blipFill>
          <a:blip r:embed="rId2"/>
          <a:stretch>
            <a:fillRect/>
          </a:stretch>
        </p:blipFill>
        <p:spPr>
          <a:xfrm>
            <a:off x="852678" y="3918204"/>
            <a:ext cx="251460" cy="251460"/>
          </a:xfrm>
          <a:prstGeom prst="rect">
            <a:avLst/>
          </a:prstGeom>
        </p:spPr>
      </p:pic>
      <p:sp>
        <p:nvSpPr>
          <p:cNvPr id="13" name="Text 8"/>
          <p:cNvSpPr txBox="1"/>
          <p:nvPr/>
        </p:nvSpPr>
        <p:spPr>
          <a:xfrm>
            <a:off x="1344168" y="3429000"/>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RIESGOS IDENTIFICAS?</a:t>
            </a:r>
            <a:endParaRPr lang="en-US" sz="1250" dirty="0"/>
          </a:p>
        </p:txBody>
      </p:sp>
      <p:sp>
        <p:nvSpPr>
          <p:cNvPr id="14" name="Shape 9"/>
          <p:cNvSpPr/>
          <p:nvPr/>
        </p:nvSpPr>
        <p:spPr>
          <a:xfrm>
            <a:off x="6223864" y="3429000"/>
            <a:ext cx="5400904" cy="1229868"/>
          </a:xfrm>
          <a:prstGeom prst="roundRect">
            <a:avLst>
              <a:gd name="adj" fmla="val 7435"/>
            </a:avLst>
          </a:prstGeom>
          <a:solidFill>
            <a:srgbClr val="F2F5F9"/>
          </a:solidFill>
          <a:ln/>
        </p:spPr>
      </p:sp>
      <p:sp>
        <p:nvSpPr>
          <p:cNvPr id="15" name="Shape 10"/>
          <p:cNvSpPr/>
          <p:nvPr/>
        </p:nvSpPr>
        <p:spPr>
          <a:xfrm>
            <a:off x="6406744" y="3815334"/>
            <a:ext cx="457200" cy="457200"/>
          </a:xfrm>
          <a:prstGeom prst="ellipse">
            <a:avLst/>
          </a:prstGeom>
          <a:solidFill>
            <a:srgbClr val="133B6C"/>
          </a:solidFill>
          <a:ln/>
        </p:spPr>
      </p:sp>
      <p:pic>
        <p:nvPicPr>
          <p:cNvPr id="16" name="Image 2" descr="/tmp/claude-0/-home-user-riesgo/0ff9ff46-1396-5bd8-b3ac-2280dfbbbc55/scratchpad/work/gen/icons/question_white.png">    </p:cNvPr>
          <p:cNvPicPr>
            <a:picLocks noChangeAspect="1"/>
          </p:cNvPicPr>
          <p:nvPr/>
        </p:nvPicPr>
        <p:blipFill>
          <a:blip r:embed="rId3"/>
          <a:stretch>
            <a:fillRect/>
          </a:stretch>
        </p:blipFill>
        <p:spPr>
          <a:xfrm>
            <a:off x="6509614" y="3918204"/>
            <a:ext cx="251460" cy="251460"/>
          </a:xfrm>
          <a:prstGeom prst="rect">
            <a:avLst/>
          </a:prstGeom>
        </p:spPr>
      </p:pic>
      <p:sp>
        <p:nvSpPr>
          <p:cNvPr id="17" name="Text 11"/>
          <p:cNvSpPr txBox="1"/>
          <p:nvPr/>
        </p:nvSpPr>
        <p:spPr>
          <a:xfrm>
            <a:off x="7001104" y="3429000"/>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HARÍAS?</a:t>
            </a:r>
            <a:endParaRPr lang="en-US" sz="1250" dirty="0"/>
          </a:p>
        </p:txBody>
      </p:sp>
      <p:sp>
        <p:nvSpPr>
          <p:cNvPr id="18" name="Shape 12"/>
          <p:cNvSpPr/>
          <p:nvPr/>
        </p:nvSpPr>
        <p:spPr>
          <a:xfrm>
            <a:off x="566928" y="4878324"/>
            <a:ext cx="5400904" cy="1229868"/>
          </a:xfrm>
          <a:prstGeom prst="roundRect">
            <a:avLst>
              <a:gd name="adj" fmla="val 7435"/>
            </a:avLst>
          </a:prstGeom>
          <a:solidFill>
            <a:srgbClr val="F2F5F9"/>
          </a:solidFill>
          <a:ln/>
        </p:spPr>
      </p:sp>
      <p:sp>
        <p:nvSpPr>
          <p:cNvPr id="19" name="Shape 13"/>
          <p:cNvSpPr/>
          <p:nvPr/>
        </p:nvSpPr>
        <p:spPr>
          <a:xfrm>
            <a:off x="749808" y="5264658"/>
            <a:ext cx="457200" cy="457200"/>
          </a:xfrm>
          <a:prstGeom prst="ellipse">
            <a:avLst/>
          </a:prstGeom>
          <a:solidFill>
            <a:srgbClr val="133B6C"/>
          </a:solidFill>
          <a:ln/>
        </p:spPr>
      </p:sp>
      <p:pic>
        <p:nvPicPr>
          <p:cNvPr id="20" name="Image 3" descr="/tmp/claude-0/-home-user-riesgo/0ff9ff46-1396-5bd8-b3ac-2280dfbbbc55/scratchpad/work/gen/icons/question_white.png">    </p:cNvPr>
          <p:cNvPicPr>
            <a:picLocks noChangeAspect="1"/>
          </p:cNvPicPr>
          <p:nvPr/>
        </p:nvPicPr>
        <p:blipFill>
          <a:blip r:embed="rId4"/>
          <a:stretch>
            <a:fillRect/>
          </a:stretch>
        </p:blipFill>
        <p:spPr>
          <a:xfrm>
            <a:off x="852678" y="5367528"/>
            <a:ext cx="251460" cy="251460"/>
          </a:xfrm>
          <a:prstGeom prst="rect">
            <a:avLst/>
          </a:prstGeom>
        </p:spPr>
      </p:pic>
      <p:sp>
        <p:nvSpPr>
          <p:cNvPr id="21" name="Text 14"/>
          <p:cNvSpPr txBox="1"/>
          <p:nvPr/>
        </p:nvSpPr>
        <p:spPr>
          <a:xfrm>
            <a:off x="1344168" y="4878324"/>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¿A QUIÉN CORRESPONDE ACTUAR?</a:t>
            </a:r>
            <a:endParaRPr lang="en-US" sz="1250" dirty="0"/>
          </a:p>
        </p:txBody>
      </p:sp>
      <p:sp>
        <p:nvSpPr>
          <p:cNvPr id="22" name="Shape 15"/>
          <p:cNvSpPr/>
          <p:nvPr/>
        </p:nvSpPr>
        <p:spPr>
          <a:xfrm>
            <a:off x="6223864" y="4878324"/>
            <a:ext cx="5400904" cy="1229868"/>
          </a:xfrm>
          <a:prstGeom prst="roundRect">
            <a:avLst>
              <a:gd name="adj" fmla="val 7435"/>
            </a:avLst>
          </a:prstGeom>
          <a:solidFill>
            <a:srgbClr val="F2F5F9"/>
          </a:solidFill>
          <a:ln/>
        </p:spPr>
      </p:sp>
      <p:sp>
        <p:nvSpPr>
          <p:cNvPr id="23" name="Shape 16"/>
          <p:cNvSpPr/>
          <p:nvPr/>
        </p:nvSpPr>
        <p:spPr>
          <a:xfrm>
            <a:off x="6406744" y="5264658"/>
            <a:ext cx="457200" cy="457200"/>
          </a:xfrm>
          <a:prstGeom prst="ellipse">
            <a:avLst/>
          </a:prstGeom>
          <a:solidFill>
            <a:srgbClr val="133B6C"/>
          </a:solidFill>
          <a:ln/>
        </p:spPr>
      </p:sp>
      <p:pic>
        <p:nvPicPr>
          <p:cNvPr id="24" name="Image 4" descr="/tmp/claude-0/-home-user-riesgo/0ff9ff46-1396-5bd8-b3ac-2280dfbbbc55/scratchpad/work/gen/icons/question_white.png">    </p:cNvPr>
          <p:cNvPicPr>
            <a:picLocks noChangeAspect="1"/>
          </p:cNvPicPr>
          <p:nvPr/>
        </p:nvPicPr>
        <p:blipFill>
          <a:blip r:embed="rId5"/>
          <a:stretch>
            <a:fillRect/>
          </a:stretch>
        </p:blipFill>
        <p:spPr>
          <a:xfrm>
            <a:off x="6509614" y="5367528"/>
            <a:ext cx="251460" cy="251460"/>
          </a:xfrm>
          <a:prstGeom prst="rect">
            <a:avLst/>
          </a:prstGeom>
        </p:spPr>
      </p:pic>
      <p:sp>
        <p:nvSpPr>
          <p:cNvPr id="25" name="Text 17"/>
          <p:cNvSpPr txBox="1"/>
          <p:nvPr/>
        </p:nvSpPr>
        <p:spPr>
          <a:xfrm>
            <a:off x="7001104" y="4878324"/>
            <a:ext cx="4440784" cy="1229868"/>
          </a:xfrm>
          <a:prstGeom prst="rect">
            <a:avLst/>
          </a:prstGeom>
          <a:noFill/>
          <a:ln/>
        </p:spPr>
        <p:txBody>
          <a:bodyPr wrap="square" lIns="0" tIns="0" rIns="0" bIns="0" rtlCol="0" anchor="ctr"/>
          <a:lstStyle/>
          <a:p>
            <a:pPr indent="0" marL="0">
              <a:lnSpc>
                <a:spcPct val="105000"/>
              </a:lnSpc>
              <a:buNone/>
            </a:pPr>
            <a:r>
              <a:rPr lang="en-US" sz="1250" b="1" dirty="0">
                <a:solidFill>
                  <a:srgbClr val="133B6C"/>
                </a:solidFill>
                <a:latin typeface="Calibri" pitchFamily="34" charset="0"/>
                <a:ea typeface="Calibri" pitchFamily="34" charset="-122"/>
                <a:cs typeface="Calibri" pitchFamily="34" charset="-120"/>
              </a:rPr>
              <a:t>¿QUÉ PASA SI NO ACTUAMOS?</a:t>
            </a:r>
            <a:endParaRPr lang="en-US" sz="1250" dirty="0"/>
          </a:p>
        </p:txBody>
      </p:sp>
      <p:sp>
        <p:nvSpPr>
          <p:cNvPr id="26" name="Text 18"/>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7" name="Text 19"/>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26</a:t>
            </a:r>
            <a:endParaRPr lang="en-US" sz="9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5EAA"/>
                </a:solidFill>
                <a:latin typeface="Calibri" pitchFamily="34" charset="0"/>
                <a:ea typeface="Calibri" pitchFamily="34" charset="-122"/>
                <a:cs typeface="Calibri" pitchFamily="34" charset="-120"/>
              </a:rPr>
              <a:t>CASO INTEGRADOR 4 · RESPUESTA</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200" b="1" dirty="0">
                <a:solidFill>
                  <a:srgbClr val="133B6C"/>
                </a:solidFill>
                <a:latin typeface="Cambria" pitchFamily="34" charset="0"/>
                <a:ea typeface="Cambria" pitchFamily="34" charset="-122"/>
                <a:cs typeface="Cambria" pitchFamily="34" charset="-120"/>
              </a:rPr>
              <a:t>DATOS QUE NO COINCIDEN</a:t>
            </a:r>
            <a:endParaRPr lang="en-US" sz="2200" dirty="0"/>
          </a:p>
        </p:txBody>
      </p:sp>
      <p:sp>
        <p:nvSpPr>
          <p:cNvPr id="5" name="Text 2"/>
          <p:cNvSpPr txBox="1"/>
          <p:nvPr/>
        </p:nvSpPr>
        <p:spPr>
          <a:xfrm>
            <a:off x="566928" y="1691640"/>
            <a:ext cx="5486400" cy="274320"/>
          </a:xfrm>
          <a:prstGeom prst="rect">
            <a:avLst/>
          </a:prstGeom>
          <a:noFill/>
          <a:ln/>
        </p:spPr>
        <p:txBody>
          <a:bodyPr wrap="square" lIns="0" tIns="0" rIns="0" bIns="0" rtlCol="0" anchor="ctr"/>
          <a:lstStyle/>
          <a:p>
            <a:pPr indent="0" marL="0">
              <a:buNone/>
            </a:pPr>
            <a:r>
              <a:rPr lang="en-US" sz="1200" b="1" spc="150" kern="0" dirty="0">
                <a:solidFill>
                  <a:srgbClr val="5B6B82"/>
                </a:solidFill>
                <a:latin typeface="Calibri" pitchFamily="34" charset="0"/>
                <a:ea typeface="Calibri" pitchFamily="34" charset="-122"/>
                <a:cs typeface="Calibri" pitchFamily="34" charset="-120"/>
              </a:rPr>
              <a:t>RIESGOS IDENTIFICADOS</a:t>
            </a:r>
            <a:endParaRPr lang="en-US" sz="1200" dirty="0"/>
          </a:p>
        </p:txBody>
      </p:sp>
      <p:sp>
        <p:nvSpPr>
          <p:cNvPr id="6" name="Shape 3"/>
          <p:cNvSpPr/>
          <p:nvPr/>
        </p:nvSpPr>
        <p:spPr>
          <a:xfrm>
            <a:off x="566928" y="1993392"/>
            <a:ext cx="1793138" cy="365760"/>
          </a:xfrm>
          <a:prstGeom prst="roundRect">
            <a:avLst>
              <a:gd name="adj" fmla="val 50000"/>
            </a:avLst>
          </a:prstGeom>
          <a:solidFill>
            <a:srgbClr val="2E5EAA"/>
          </a:solidFill>
          <a:ln/>
        </p:spPr>
      </p:sp>
      <p:sp>
        <p:nvSpPr>
          <p:cNvPr id="7" name="Text 4"/>
          <p:cNvSpPr txBox="1"/>
          <p:nvPr/>
        </p:nvSpPr>
        <p:spPr>
          <a:xfrm>
            <a:off x="566928" y="1993392"/>
            <a:ext cx="179313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Riesgo crediticio</a:t>
            </a:r>
            <a:endParaRPr lang="en-US" sz="1100" dirty="0"/>
          </a:p>
        </p:txBody>
      </p:sp>
      <p:sp>
        <p:nvSpPr>
          <p:cNvPr id="8" name="Shape 5"/>
          <p:cNvSpPr/>
          <p:nvPr/>
        </p:nvSpPr>
        <p:spPr>
          <a:xfrm>
            <a:off x="2506370" y="1993392"/>
            <a:ext cx="1717243" cy="365760"/>
          </a:xfrm>
          <a:prstGeom prst="roundRect">
            <a:avLst>
              <a:gd name="adj" fmla="val 50000"/>
            </a:avLst>
          </a:prstGeom>
          <a:solidFill>
            <a:srgbClr val="2E5EAA"/>
          </a:solidFill>
          <a:ln/>
        </p:spPr>
      </p:sp>
      <p:sp>
        <p:nvSpPr>
          <p:cNvPr id="9" name="Text 6"/>
          <p:cNvSpPr txBox="1"/>
          <p:nvPr/>
        </p:nvSpPr>
        <p:spPr>
          <a:xfrm>
            <a:off x="2506370" y="1993392"/>
            <a:ext cx="1717243"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Riesgo operativo</a:t>
            </a:r>
            <a:endParaRPr lang="en-US" sz="1100" dirty="0"/>
          </a:p>
        </p:txBody>
      </p:sp>
      <p:sp>
        <p:nvSpPr>
          <p:cNvPr id="10" name="Shape 7"/>
          <p:cNvSpPr/>
          <p:nvPr/>
        </p:nvSpPr>
        <p:spPr>
          <a:xfrm>
            <a:off x="566928" y="2651760"/>
            <a:ext cx="3515258" cy="3337560"/>
          </a:xfrm>
          <a:prstGeom prst="roundRect">
            <a:avLst>
              <a:gd name="adj" fmla="val 2740"/>
            </a:avLst>
          </a:prstGeom>
          <a:solidFill>
            <a:srgbClr val="F2F5F9"/>
          </a:solidFill>
          <a:ln/>
        </p:spPr>
      </p:sp>
      <p:sp>
        <p:nvSpPr>
          <p:cNvPr id="11" name="Shape 8"/>
          <p:cNvSpPr/>
          <p:nvPr/>
        </p:nvSpPr>
        <p:spPr>
          <a:xfrm>
            <a:off x="2041093" y="2871216"/>
            <a:ext cx="566928" cy="566928"/>
          </a:xfrm>
          <a:prstGeom prst="ellipse">
            <a:avLst/>
          </a:prstGeom>
          <a:solidFill>
            <a:srgbClr val="2FAE60"/>
          </a:solidFill>
          <a:ln/>
        </p:spPr>
      </p:sp>
      <p:pic>
        <p:nvPicPr>
          <p:cNvPr id="12" name="Image 0" descr="/tmp/claude-0/-home-user-riesgo/0ff9ff46-1396-5bd8-b3ac-2280dfbbbc55/scratchpad/work/gen/icons/check_circle_white.png">    </p:cNvPr>
          <p:cNvPicPr>
            <a:picLocks noChangeAspect="1"/>
          </p:cNvPicPr>
          <p:nvPr/>
        </p:nvPicPr>
        <p:blipFill>
          <a:blip r:embed="rId1"/>
          <a:stretch>
            <a:fillRect/>
          </a:stretch>
        </p:blipFill>
        <p:spPr>
          <a:xfrm>
            <a:off x="2177156" y="3007279"/>
            <a:ext cx="294803" cy="294803"/>
          </a:xfrm>
          <a:prstGeom prst="rect">
            <a:avLst/>
          </a:prstGeom>
        </p:spPr>
      </p:pic>
      <p:sp>
        <p:nvSpPr>
          <p:cNvPr id="13" name="Text 9"/>
          <p:cNvSpPr txBox="1"/>
          <p:nvPr/>
        </p:nvSpPr>
        <p:spPr>
          <a:xfrm>
            <a:off x="731520"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2FAE60"/>
                </a:solidFill>
                <a:latin typeface="Calibri" pitchFamily="34" charset="0"/>
                <a:ea typeface="Calibri" pitchFamily="34" charset="-122"/>
                <a:cs typeface="Calibri" pitchFamily="34" charset="-120"/>
              </a:rPr>
              <a:t>ACCIÓN RECOMENDADA</a:t>
            </a:r>
            <a:endParaRPr lang="en-US" sz="1150" dirty="0"/>
          </a:p>
        </p:txBody>
      </p:sp>
      <p:sp>
        <p:nvSpPr>
          <p:cNvPr id="14" name="Text 10"/>
          <p:cNvSpPr txBox="1"/>
          <p:nvPr/>
        </p:nvSpPr>
        <p:spPr>
          <a:xfrm>
            <a:off x="768096"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Verificar la inconsistencia con el solicitante y la documentación antes de continuar con el proceso.</a:t>
            </a:r>
            <a:endParaRPr lang="en-US" sz="1200" dirty="0"/>
          </a:p>
        </p:txBody>
      </p:sp>
      <p:sp>
        <p:nvSpPr>
          <p:cNvPr id="15" name="Shape 11"/>
          <p:cNvSpPr/>
          <p:nvPr/>
        </p:nvSpPr>
        <p:spPr>
          <a:xfrm>
            <a:off x="4338218" y="2651760"/>
            <a:ext cx="3515258" cy="3337560"/>
          </a:xfrm>
          <a:prstGeom prst="roundRect">
            <a:avLst>
              <a:gd name="adj" fmla="val 2740"/>
            </a:avLst>
          </a:prstGeom>
          <a:solidFill>
            <a:srgbClr val="F2F5F9"/>
          </a:solidFill>
          <a:ln/>
        </p:spPr>
      </p:sp>
      <p:sp>
        <p:nvSpPr>
          <p:cNvPr id="16" name="Shape 12"/>
          <p:cNvSpPr/>
          <p:nvPr/>
        </p:nvSpPr>
        <p:spPr>
          <a:xfrm>
            <a:off x="5812384" y="2871216"/>
            <a:ext cx="566928" cy="566928"/>
          </a:xfrm>
          <a:prstGeom prst="ellipse">
            <a:avLst/>
          </a:prstGeom>
          <a:solidFill>
            <a:srgbClr val="133B6C"/>
          </a:solidFill>
          <a:ln/>
        </p:spPr>
      </p:sp>
      <p:pic>
        <p:nvPicPr>
          <p:cNvPr id="17" name="Image 1" descr="/tmp/claude-0/-home-user-riesgo/0ff9ff46-1396-5bd8-b3ac-2280dfbbbc55/scratchpad/work/gen/icons/people_group_white.png">    </p:cNvPr>
          <p:cNvPicPr>
            <a:picLocks noChangeAspect="1"/>
          </p:cNvPicPr>
          <p:nvPr/>
        </p:nvPicPr>
        <p:blipFill>
          <a:blip r:embed="rId2"/>
          <a:stretch>
            <a:fillRect/>
          </a:stretch>
        </p:blipFill>
        <p:spPr>
          <a:xfrm>
            <a:off x="5948446" y="3007279"/>
            <a:ext cx="294803" cy="294803"/>
          </a:xfrm>
          <a:prstGeom prst="rect">
            <a:avLst/>
          </a:prstGeom>
        </p:spPr>
      </p:pic>
      <p:sp>
        <p:nvSpPr>
          <p:cNvPr id="18" name="Text 13"/>
          <p:cNvSpPr txBox="1"/>
          <p:nvPr/>
        </p:nvSpPr>
        <p:spPr>
          <a:xfrm>
            <a:off x="4502810"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133B6C"/>
                </a:solidFill>
                <a:latin typeface="Calibri" pitchFamily="34" charset="0"/>
                <a:ea typeface="Calibri" pitchFamily="34" charset="-122"/>
                <a:cs typeface="Calibri" pitchFamily="34" charset="-120"/>
              </a:rPr>
              <a:t>RESPONSABLE DE ACTUAR</a:t>
            </a:r>
            <a:endParaRPr lang="en-US" sz="1150" dirty="0"/>
          </a:p>
        </p:txBody>
      </p:sp>
      <p:sp>
        <p:nvSpPr>
          <p:cNvPr id="19" name="Text 14"/>
          <p:cNvSpPr txBox="1"/>
          <p:nvPr/>
        </p:nvSpPr>
        <p:spPr>
          <a:xfrm>
            <a:off x="4539386"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Quien evalúa la solicitud, con el respaldo de su jefatura para validar la información.</a:t>
            </a:r>
            <a:endParaRPr lang="en-US" sz="1200" dirty="0"/>
          </a:p>
        </p:txBody>
      </p:sp>
      <p:sp>
        <p:nvSpPr>
          <p:cNvPr id="20" name="Shape 15"/>
          <p:cNvSpPr/>
          <p:nvPr/>
        </p:nvSpPr>
        <p:spPr>
          <a:xfrm>
            <a:off x="8109509" y="2651760"/>
            <a:ext cx="3515258" cy="3337560"/>
          </a:xfrm>
          <a:prstGeom prst="roundRect">
            <a:avLst>
              <a:gd name="adj" fmla="val 2740"/>
            </a:avLst>
          </a:prstGeom>
          <a:solidFill>
            <a:srgbClr val="F2F5F9"/>
          </a:solidFill>
          <a:ln/>
        </p:spPr>
      </p:sp>
      <p:sp>
        <p:nvSpPr>
          <p:cNvPr id="21" name="Shape 16"/>
          <p:cNvSpPr/>
          <p:nvPr/>
        </p:nvSpPr>
        <p:spPr>
          <a:xfrm>
            <a:off x="9583674" y="2871216"/>
            <a:ext cx="566928" cy="566928"/>
          </a:xfrm>
          <a:prstGeom prst="ellipse">
            <a:avLst/>
          </a:prstGeom>
          <a:solidFill>
            <a:srgbClr val="E0392B"/>
          </a:solidFill>
          <a:ln/>
        </p:spPr>
      </p:sp>
      <p:pic>
        <p:nvPicPr>
          <p:cNvPr id="22" name="Image 2" descr="/tmp/claude-0/-home-user-riesgo/0ff9ff46-1396-5bd8-b3ac-2280dfbbbc55/scratchpad/work/gen/icons/warning_triangle_white.png">    </p:cNvPr>
          <p:cNvPicPr>
            <a:picLocks noChangeAspect="1"/>
          </p:cNvPicPr>
          <p:nvPr/>
        </p:nvPicPr>
        <p:blipFill>
          <a:blip r:embed="rId3"/>
          <a:stretch>
            <a:fillRect/>
          </a:stretch>
        </p:blipFill>
        <p:spPr>
          <a:xfrm>
            <a:off x="9719737" y="3007279"/>
            <a:ext cx="294803" cy="294803"/>
          </a:xfrm>
          <a:prstGeom prst="rect">
            <a:avLst/>
          </a:prstGeom>
        </p:spPr>
      </p:pic>
      <p:sp>
        <p:nvSpPr>
          <p:cNvPr id="23" name="Text 17"/>
          <p:cNvSpPr txBox="1"/>
          <p:nvPr/>
        </p:nvSpPr>
        <p:spPr>
          <a:xfrm>
            <a:off x="8274101" y="3611880"/>
            <a:ext cx="3186074" cy="457200"/>
          </a:xfrm>
          <a:prstGeom prst="rect">
            <a:avLst/>
          </a:prstGeom>
          <a:noFill/>
          <a:ln/>
        </p:spPr>
        <p:txBody>
          <a:bodyPr wrap="square" lIns="0" tIns="0" rIns="0" bIns="0" rtlCol="0" anchor="ctr"/>
          <a:lstStyle/>
          <a:p>
            <a:pPr algn="ctr" indent="0" marL="0">
              <a:buNone/>
            </a:pPr>
            <a:r>
              <a:rPr lang="en-US" sz="1150" b="1" spc="50" kern="0" dirty="0">
                <a:solidFill>
                  <a:srgbClr val="E0392B"/>
                </a:solidFill>
                <a:latin typeface="Calibri" pitchFamily="34" charset="0"/>
                <a:ea typeface="Calibri" pitchFamily="34" charset="-122"/>
                <a:cs typeface="Calibri" pitchFamily="34" charset="-120"/>
              </a:rPr>
              <a:t>SI NO ACTUAMOS</a:t>
            </a:r>
            <a:endParaRPr lang="en-US" sz="1150" dirty="0"/>
          </a:p>
        </p:txBody>
      </p:sp>
      <p:sp>
        <p:nvSpPr>
          <p:cNvPr id="24" name="Text 18"/>
          <p:cNvSpPr txBox="1"/>
          <p:nvPr/>
        </p:nvSpPr>
        <p:spPr>
          <a:xfrm>
            <a:off x="8310677" y="4069080"/>
            <a:ext cx="3112922" cy="1783080"/>
          </a:xfrm>
          <a:prstGeom prst="rect">
            <a:avLst/>
          </a:prstGeom>
          <a:noFill/>
          <a:ln/>
        </p:spPr>
        <p:txBody>
          <a:bodyPr wrap="square" lIns="0" tIns="0" rIns="0" bIns="0" rtlCol="0" anchor="ctr"/>
          <a:lstStyle/>
          <a:p>
            <a:pPr algn="ctr" indent="0" marL="0">
              <a:lnSpc>
                <a:spcPct val="115000"/>
              </a:lnSpc>
              <a:buNone/>
            </a:pPr>
            <a:r>
              <a:rPr lang="en-US" sz="1200" dirty="0">
                <a:solidFill>
                  <a:srgbClr val="243044"/>
                </a:solidFill>
                <a:latin typeface="Calibri" pitchFamily="34" charset="0"/>
                <a:ea typeface="Calibri" pitchFamily="34" charset="-122"/>
                <a:cs typeface="Calibri" pitchFamily="34" charset="-120"/>
              </a:rPr>
              <a:t>La Cooperativa podría asumir un riesgo crediticio mayor al que realmente cree estar asumiendo.</a:t>
            </a:r>
            <a:endParaRPr lang="en-US" sz="1200" dirty="0"/>
          </a:p>
        </p:txBody>
      </p:sp>
      <p:sp>
        <p:nvSpPr>
          <p:cNvPr id="25" name="Text 19"/>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26" name="Text 20"/>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27</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86C7"/>
                </a:solidFill>
                <a:latin typeface="Calibri" pitchFamily="34" charset="0"/>
                <a:ea typeface="Calibri" pitchFamily="34" charset="-122"/>
                <a:cs typeface="Calibri" pitchFamily="34" charset="-120"/>
              </a:rPr>
              <a:t>GRAN ACTIVIDAD FINAL · 30 SEGUNDOS</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3200" b="1" dirty="0">
                <a:solidFill>
                  <a:srgbClr val="133B6C"/>
                </a:solidFill>
                <a:latin typeface="Cambria" pitchFamily="34" charset="0"/>
                <a:ea typeface="Cambria" pitchFamily="34" charset="-122"/>
                <a:cs typeface="Cambria" pitchFamily="34" charset="-120"/>
              </a:rPr>
              <a:t>DETECTA EL RIESGO</a:t>
            </a:r>
            <a:endParaRPr lang="en-US" sz="3200" dirty="0"/>
          </a:p>
        </p:txBody>
      </p:sp>
      <p:sp>
        <p:nvSpPr>
          <p:cNvPr id="5" name="Text 2"/>
          <p:cNvSpPr txBox="1"/>
          <p:nvPr/>
        </p:nvSpPr>
        <p:spPr>
          <a:xfrm>
            <a:off x="566928" y="1481328"/>
            <a:ext cx="11057839" cy="457200"/>
          </a:xfrm>
          <a:prstGeom prst="rect">
            <a:avLst/>
          </a:prstGeom>
          <a:noFill/>
          <a:ln/>
        </p:spPr>
        <p:txBody>
          <a:bodyPr wrap="square" lIns="0" tIns="0" rIns="0" bIns="0" rtlCol="0" anchor="ctr"/>
          <a:lstStyle/>
          <a:p>
            <a:pPr algn="l" indent="0" marL="0">
              <a:buNone/>
            </a:pPr>
            <a:r>
              <a:rPr lang="en-US" sz="1500" dirty="0">
                <a:solidFill>
                  <a:srgbClr val="5B6B82"/>
                </a:solidFill>
                <a:latin typeface="Calibri" pitchFamily="34" charset="0"/>
                <a:ea typeface="Calibri" pitchFamily="34" charset="-122"/>
                <a:cs typeface="Calibri" pitchFamily="34" charset="-120"/>
              </a:rPr>
              <a:t>Observa la escena. Tienes 30 segundos: ¿cuántos riesgos puedes encontrar esta vez?</a:t>
            </a:r>
            <a:endParaRPr lang="en-US" sz="1500" dirty="0"/>
          </a:p>
        </p:txBody>
      </p:sp>
      <p:sp>
        <p:nvSpPr>
          <p:cNvPr id="6" name="Shape 3"/>
          <p:cNvSpPr/>
          <p:nvPr/>
        </p:nvSpPr>
        <p:spPr>
          <a:xfrm>
            <a:off x="566928" y="1965960"/>
            <a:ext cx="11057839" cy="3977640"/>
          </a:xfrm>
          <a:prstGeom prst="roundRect">
            <a:avLst>
              <a:gd name="adj" fmla="val 3218"/>
            </a:avLst>
          </a:prstGeom>
          <a:solidFill>
            <a:srgbClr val="F2F5F9"/>
          </a:solidFill>
          <a:ln/>
        </p:spPr>
      </p:sp>
      <p:sp>
        <p:nvSpPr>
          <p:cNvPr id="7" name="Shape 4"/>
          <p:cNvSpPr/>
          <p:nvPr/>
        </p:nvSpPr>
        <p:spPr>
          <a:xfrm>
            <a:off x="1417320" y="2148840"/>
            <a:ext cx="960120" cy="960120"/>
          </a:xfrm>
          <a:prstGeom prst="ellipse">
            <a:avLst/>
          </a:prstGeom>
          <a:solidFill>
            <a:srgbClr val="133B6C"/>
          </a:solidFill>
          <a:ln/>
        </p:spPr>
      </p:sp>
      <p:pic>
        <p:nvPicPr>
          <p:cNvPr id="8" name="Image 0" descr="/tmp/claude-0/-home-user-riesgo/0ff9ff46-1396-5bd8-b3ac-2280dfbbbc55/scratchpad/work/gen/icons/lock_open_white.png">    </p:cNvPr>
          <p:cNvPicPr>
            <a:picLocks noChangeAspect="1"/>
          </p:cNvPicPr>
          <p:nvPr/>
        </p:nvPicPr>
        <p:blipFill>
          <a:blip r:embed="rId1"/>
          <a:stretch>
            <a:fillRect/>
          </a:stretch>
        </p:blipFill>
        <p:spPr>
          <a:xfrm>
            <a:off x="1657350" y="2388870"/>
            <a:ext cx="480060" cy="480060"/>
          </a:xfrm>
          <a:prstGeom prst="rect">
            <a:avLst/>
          </a:prstGeom>
        </p:spPr>
      </p:pic>
      <p:sp>
        <p:nvSpPr>
          <p:cNvPr id="9" name="Shape 5"/>
          <p:cNvSpPr/>
          <p:nvPr/>
        </p:nvSpPr>
        <p:spPr>
          <a:xfrm>
            <a:off x="2066544" y="2057400"/>
            <a:ext cx="402336" cy="402336"/>
          </a:xfrm>
          <a:prstGeom prst="ellipse">
            <a:avLst/>
          </a:prstGeom>
          <a:solidFill>
            <a:srgbClr val="2E86C7"/>
          </a:solidFill>
          <a:ln/>
        </p:spPr>
      </p:sp>
      <p:sp>
        <p:nvSpPr>
          <p:cNvPr id="10" name="Text 6"/>
          <p:cNvSpPr txBox="1"/>
          <p:nvPr/>
        </p:nvSpPr>
        <p:spPr>
          <a:xfrm>
            <a:off x="2066544" y="204825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1</a:t>
            </a:r>
            <a:endParaRPr lang="en-US" sz="1496" dirty="0"/>
          </a:p>
        </p:txBody>
      </p:sp>
      <p:sp>
        <p:nvSpPr>
          <p:cNvPr id="11" name="Shape 7"/>
          <p:cNvSpPr/>
          <p:nvPr/>
        </p:nvSpPr>
        <p:spPr>
          <a:xfrm>
            <a:off x="3657600" y="2377440"/>
            <a:ext cx="960120" cy="960120"/>
          </a:xfrm>
          <a:prstGeom prst="ellipse">
            <a:avLst/>
          </a:prstGeom>
          <a:solidFill>
            <a:srgbClr val="133B6C"/>
          </a:solidFill>
          <a:ln/>
        </p:spPr>
      </p:sp>
      <p:pic>
        <p:nvPicPr>
          <p:cNvPr id="12" name="Image 1" descr="/tmp/claude-0/-home-user-riesgo/0ff9ff46-1396-5bd8-b3ac-2280dfbbbc55/scratchpad/work/gen/icons/usb_white.png">    </p:cNvPr>
          <p:cNvPicPr>
            <a:picLocks noChangeAspect="1"/>
          </p:cNvPicPr>
          <p:nvPr/>
        </p:nvPicPr>
        <p:blipFill>
          <a:blip r:embed="rId2"/>
          <a:stretch>
            <a:fillRect/>
          </a:stretch>
        </p:blipFill>
        <p:spPr>
          <a:xfrm>
            <a:off x="3897630" y="2617470"/>
            <a:ext cx="480060" cy="480060"/>
          </a:xfrm>
          <a:prstGeom prst="rect">
            <a:avLst/>
          </a:prstGeom>
        </p:spPr>
      </p:pic>
      <p:sp>
        <p:nvSpPr>
          <p:cNvPr id="13" name="Shape 8"/>
          <p:cNvSpPr/>
          <p:nvPr/>
        </p:nvSpPr>
        <p:spPr>
          <a:xfrm>
            <a:off x="4306824" y="2286000"/>
            <a:ext cx="402336" cy="402336"/>
          </a:xfrm>
          <a:prstGeom prst="ellipse">
            <a:avLst/>
          </a:prstGeom>
          <a:solidFill>
            <a:srgbClr val="2E86C7"/>
          </a:solidFill>
          <a:ln/>
        </p:spPr>
      </p:sp>
      <p:sp>
        <p:nvSpPr>
          <p:cNvPr id="14" name="Text 9"/>
          <p:cNvSpPr txBox="1"/>
          <p:nvPr/>
        </p:nvSpPr>
        <p:spPr>
          <a:xfrm>
            <a:off x="4306824" y="227685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2</a:t>
            </a:r>
            <a:endParaRPr lang="en-US" sz="1496" dirty="0"/>
          </a:p>
        </p:txBody>
      </p:sp>
      <p:sp>
        <p:nvSpPr>
          <p:cNvPr id="15" name="Shape 10"/>
          <p:cNvSpPr/>
          <p:nvPr/>
        </p:nvSpPr>
        <p:spPr>
          <a:xfrm>
            <a:off x="5852160" y="2103120"/>
            <a:ext cx="960120" cy="960120"/>
          </a:xfrm>
          <a:prstGeom prst="ellipse">
            <a:avLst/>
          </a:prstGeom>
          <a:solidFill>
            <a:srgbClr val="133B6C"/>
          </a:solidFill>
          <a:ln/>
        </p:spPr>
      </p:sp>
      <p:pic>
        <p:nvPicPr>
          <p:cNvPr id="16" name="Image 2" descr="/tmp/claude-0/-home-user-riesgo/0ff9ff46-1396-5bd8-b3ac-2280dfbbbc55/scratchpad/work/gen/icons/wifi_off_white.png">    </p:cNvPr>
          <p:cNvPicPr>
            <a:picLocks noChangeAspect="1"/>
          </p:cNvPicPr>
          <p:nvPr/>
        </p:nvPicPr>
        <p:blipFill>
          <a:blip r:embed="rId3"/>
          <a:stretch>
            <a:fillRect/>
          </a:stretch>
        </p:blipFill>
        <p:spPr>
          <a:xfrm>
            <a:off x="6092190" y="2343150"/>
            <a:ext cx="480060" cy="480060"/>
          </a:xfrm>
          <a:prstGeom prst="rect">
            <a:avLst/>
          </a:prstGeom>
        </p:spPr>
      </p:pic>
      <p:sp>
        <p:nvSpPr>
          <p:cNvPr id="17" name="Shape 11"/>
          <p:cNvSpPr/>
          <p:nvPr/>
        </p:nvSpPr>
        <p:spPr>
          <a:xfrm>
            <a:off x="6501384" y="2011680"/>
            <a:ext cx="402336" cy="402336"/>
          </a:xfrm>
          <a:prstGeom prst="ellipse">
            <a:avLst/>
          </a:prstGeom>
          <a:solidFill>
            <a:srgbClr val="2E86C7"/>
          </a:solidFill>
          <a:ln/>
        </p:spPr>
      </p:sp>
      <p:sp>
        <p:nvSpPr>
          <p:cNvPr id="18" name="Text 12"/>
          <p:cNvSpPr txBox="1"/>
          <p:nvPr/>
        </p:nvSpPr>
        <p:spPr>
          <a:xfrm>
            <a:off x="6501384" y="200253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3</a:t>
            </a:r>
            <a:endParaRPr lang="en-US" sz="1496" dirty="0"/>
          </a:p>
        </p:txBody>
      </p:sp>
      <p:sp>
        <p:nvSpPr>
          <p:cNvPr id="19" name="Shape 13"/>
          <p:cNvSpPr/>
          <p:nvPr/>
        </p:nvSpPr>
        <p:spPr>
          <a:xfrm>
            <a:off x="8138160" y="2377440"/>
            <a:ext cx="960120" cy="960120"/>
          </a:xfrm>
          <a:prstGeom prst="ellipse">
            <a:avLst/>
          </a:prstGeom>
          <a:solidFill>
            <a:srgbClr val="133B6C"/>
          </a:solidFill>
          <a:ln/>
        </p:spPr>
      </p:sp>
      <p:pic>
        <p:nvPicPr>
          <p:cNvPr id="20" name="Image 3" descr="/tmp/claude-0/-home-user-riesgo/0ff9ff46-1396-5bd8-b3ac-2280dfbbbc55/scratchpad/work/gen/icons/trash_white.png">    </p:cNvPr>
          <p:cNvPicPr>
            <a:picLocks noChangeAspect="1"/>
          </p:cNvPicPr>
          <p:nvPr/>
        </p:nvPicPr>
        <p:blipFill>
          <a:blip r:embed="rId4"/>
          <a:stretch>
            <a:fillRect/>
          </a:stretch>
        </p:blipFill>
        <p:spPr>
          <a:xfrm>
            <a:off x="8378190" y="2617470"/>
            <a:ext cx="480060" cy="480060"/>
          </a:xfrm>
          <a:prstGeom prst="rect">
            <a:avLst/>
          </a:prstGeom>
        </p:spPr>
      </p:pic>
      <p:sp>
        <p:nvSpPr>
          <p:cNvPr id="21" name="Shape 14"/>
          <p:cNvSpPr/>
          <p:nvPr/>
        </p:nvSpPr>
        <p:spPr>
          <a:xfrm>
            <a:off x="8787384" y="2286000"/>
            <a:ext cx="402336" cy="402336"/>
          </a:xfrm>
          <a:prstGeom prst="ellipse">
            <a:avLst/>
          </a:prstGeom>
          <a:solidFill>
            <a:srgbClr val="2E86C7"/>
          </a:solidFill>
          <a:ln/>
        </p:spPr>
      </p:sp>
      <p:sp>
        <p:nvSpPr>
          <p:cNvPr id="22" name="Text 15"/>
          <p:cNvSpPr txBox="1"/>
          <p:nvPr/>
        </p:nvSpPr>
        <p:spPr>
          <a:xfrm>
            <a:off x="8787384" y="227685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4</a:t>
            </a:r>
            <a:endParaRPr lang="en-US" sz="1496" dirty="0"/>
          </a:p>
        </p:txBody>
      </p:sp>
      <p:sp>
        <p:nvSpPr>
          <p:cNvPr id="23" name="Shape 16"/>
          <p:cNvSpPr/>
          <p:nvPr/>
        </p:nvSpPr>
        <p:spPr>
          <a:xfrm>
            <a:off x="10149840" y="2148840"/>
            <a:ext cx="960120" cy="960120"/>
          </a:xfrm>
          <a:prstGeom prst="ellipse">
            <a:avLst/>
          </a:prstGeom>
          <a:solidFill>
            <a:srgbClr val="133B6C"/>
          </a:solidFill>
          <a:ln/>
        </p:spPr>
      </p:sp>
      <p:pic>
        <p:nvPicPr>
          <p:cNvPr id="24" name="Image 4" descr="/tmp/claude-0/-home-user-riesgo/0ff9ff46-1396-5bd8-b3ac-2280dfbbbc55/scratchpad/work/gen/icons/bell_alert_white.png">    </p:cNvPr>
          <p:cNvPicPr>
            <a:picLocks noChangeAspect="1"/>
          </p:cNvPicPr>
          <p:nvPr/>
        </p:nvPicPr>
        <p:blipFill>
          <a:blip r:embed="rId5"/>
          <a:stretch>
            <a:fillRect/>
          </a:stretch>
        </p:blipFill>
        <p:spPr>
          <a:xfrm>
            <a:off x="10389870" y="2388870"/>
            <a:ext cx="480060" cy="480060"/>
          </a:xfrm>
          <a:prstGeom prst="rect">
            <a:avLst/>
          </a:prstGeom>
        </p:spPr>
      </p:pic>
      <p:sp>
        <p:nvSpPr>
          <p:cNvPr id="25" name="Shape 17"/>
          <p:cNvSpPr/>
          <p:nvPr/>
        </p:nvSpPr>
        <p:spPr>
          <a:xfrm>
            <a:off x="10799064" y="2057400"/>
            <a:ext cx="402336" cy="402336"/>
          </a:xfrm>
          <a:prstGeom prst="ellipse">
            <a:avLst/>
          </a:prstGeom>
          <a:solidFill>
            <a:srgbClr val="2E86C7"/>
          </a:solidFill>
          <a:ln/>
        </p:spPr>
      </p:sp>
      <p:sp>
        <p:nvSpPr>
          <p:cNvPr id="26" name="Text 18"/>
          <p:cNvSpPr txBox="1"/>
          <p:nvPr/>
        </p:nvSpPr>
        <p:spPr>
          <a:xfrm>
            <a:off x="10799064" y="204825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5</a:t>
            </a:r>
            <a:endParaRPr lang="en-US" sz="1496" dirty="0"/>
          </a:p>
        </p:txBody>
      </p:sp>
      <p:sp>
        <p:nvSpPr>
          <p:cNvPr id="27" name="Shape 19"/>
          <p:cNvSpPr/>
          <p:nvPr/>
        </p:nvSpPr>
        <p:spPr>
          <a:xfrm>
            <a:off x="2468880" y="4251960"/>
            <a:ext cx="960120" cy="960120"/>
          </a:xfrm>
          <a:prstGeom prst="ellipse">
            <a:avLst/>
          </a:prstGeom>
          <a:solidFill>
            <a:srgbClr val="133B6C"/>
          </a:solidFill>
          <a:ln/>
        </p:spPr>
      </p:sp>
      <p:pic>
        <p:nvPicPr>
          <p:cNvPr id="28" name="Image 5" descr="/tmp/claude-0/-home-user-riesgo/0ff9ff46-1396-5bd8-b3ac-2280dfbbbc55/scratchpad/work/gen/icons/hand_stop_white.png">    </p:cNvPr>
          <p:cNvPicPr>
            <a:picLocks noChangeAspect="1"/>
          </p:cNvPicPr>
          <p:nvPr/>
        </p:nvPicPr>
        <p:blipFill>
          <a:blip r:embed="rId6"/>
          <a:stretch>
            <a:fillRect/>
          </a:stretch>
        </p:blipFill>
        <p:spPr>
          <a:xfrm>
            <a:off x="2708910" y="4491990"/>
            <a:ext cx="480060" cy="480060"/>
          </a:xfrm>
          <a:prstGeom prst="rect">
            <a:avLst/>
          </a:prstGeom>
        </p:spPr>
      </p:pic>
      <p:sp>
        <p:nvSpPr>
          <p:cNvPr id="29" name="Shape 20"/>
          <p:cNvSpPr/>
          <p:nvPr/>
        </p:nvSpPr>
        <p:spPr>
          <a:xfrm>
            <a:off x="3118104" y="4160520"/>
            <a:ext cx="402336" cy="402336"/>
          </a:xfrm>
          <a:prstGeom prst="ellipse">
            <a:avLst/>
          </a:prstGeom>
          <a:solidFill>
            <a:srgbClr val="2E86C7"/>
          </a:solidFill>
          <a:ln/>
        </p:spPr>
      </p:sp>
      <p:sp>
        <p:nvSpPr>
          <p:cNvPr id="30" name="Text 21"/>
          <p:cNvSpPr txBox="1"/>
          <p:nvPr/>
        </p:nvSpPr>
        <p:spPr>
          <a:xfrm>
            <a:off x="3118104" y="415137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6</a:t>
            </a:r>
            <a:endParaRPr lang="en-US" sz="1496" dirty="0"/>
          </a:p>
        </p:txBody>
      </p:sp>
      <p:sp>
        <p:nvSpPr>
          <p:cNvPr id="31" name="Shape 22"/>
          <p:cNvSpPr/>
          <p:nvPr/>
        </p:nvSpPr>
        <p:spPr>
          <a:xfrm>
            <a:off x="4663440" y="4480560"/>
            <a:ext cx="960120" cy="960120"/>
          </a:xfrm>
          <a:prstGeom prst="ellipse">
            <a:avLst/>
          </a:prstGeom>
          <a:solidFill>
            <a:srgbClr val="133B6C"/>
          </a:solidFill>
          <a:ln/>
        </p:spPr>
      </p:sp>
      <p:pic>
        <p:nvPicPr>
          <p:cNvPr id="32" name="Image 6" descr="/tmp/claude-0/-home-user-riesgo/0ff9ff46-1396-5bd8-b3ac-2280dfbbbc55/scratchpad/work/gen/icons/cctv_white.png">    </p:cNvPr>
          <p:cNvPicPr>
            <a:picLocks noChangeAspect="1"/>
          </p:cNvPicPr>
          <p:nvPr/>
        </p:nvPicPr>
        <p:blipFill>
          <a:blip r:embed="rId7"/>
          <a:stretch>
            <a:fillRect/>
          </a:stretch>
        </p:blipFill>
        <p:spPr>
          <a:xfrm>
            <a:off x="4903470" y="4720590"/>
            <a:ext cx="480060" cy="480060"/>
          </a:xfrm>
          <a:prstGeom prst="rect">
            <a:avLst/>
          </a:prstGeom>
        </p:spPr>
      </p:pic>
      <p:sp>
        <p:nvSpPr>
          <p:cNvPr id="33" name="Shape 23"/>
          <p:cNvSpPr/>
          <p:nvPr/>
        </p:nvSpPr>
        <p:spPr>
          <a:xfrm>
            <a:off x="5312664" y="4389120"/>
            <a:ext cx="402336" cy="402336"/>
          </a:xfrm>
          <a:prstGeom prst="ellipse">
            <a:avLst/>
          </a:prstGeom>
          <a:solidFill>
            <a:srgbClr val="2E86C7"/>
          </a:solidFill>
          <a:ln/>
        </p:spPr>
      </p:sp>
      <p:sp>
        <p:nvSpPr>
          <p:cNvPr id="34" name="Text 24"/>
          <p:cNvSpPr txBox="1"/>
          <p:nvPr/>
        </p:nvSpPr>
        <p:spPr>
          <a:xfrm>
            <a:off x="5312664" y="437997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7</a:t>
            </a:r>
            <a:endParaRPr lang="en-US" sz="1496" dirty="0"/>
          </a:p>
        </p:txBody>
      </p:sp>
      <p:sp>
        <p:nvSpPr>
          <p:cNvPr id="35" name="Shape 25"/>
          <p:cNvSpPr/>
          <p:nvPr/>
        </p:nvSpPr>
        <p:spPr>
          <a:xfrm>
            <a:off x="6949440" y="4206240"/>
            <a:ext cx="960120" cy="960120"/>
          </a:xfrm>
          <a:prstGeom prst="ellipse">
            <a:avLst/>
          </a:prstGeom>
          <a:solidFill>
            <a:srgbClr val="133B6C"/>
          </a:solidFill>
          <a:ln/>
        </p:spPr>
      </p:sp>
      <p:pic>
        <p:nvPicPr>
          <p:cNvPr id="36" name="Image 7" descr="/tmp/claude-0/-home-user-riesgo/0ff9ff46-1396-5bd8-b3ac-2280dfbbbc55/scratchpad/work/gen/icons/key_white.png">    </p:cNvPr>
          <p:cNvPicPr>
            <a:picLocks noChangeAspect="1"/>
          </p:cNvPicPr>
          <p:nvPr/>
        </p:nvPicPr>
        <p:blipFill>
          <a:blip r:embed="rId8"/>
          <a:stretch>
            <a:fillRect/>
          </a:stretch>
        </p:blipFill>
        <p:spPr>
          <a:xfrm>
            <a:off x="7189470" y="4446270"/>
            <a:ext cx="480060" cy="480060"/>
          </a:xfrm>
          <a:prstGeom prst="rect">
            <a:avLst/>
          </a:prstGeom>
        </p:spPr>
      </p:pic>
      <p:sp>
        <p:nvSpPr>
          <p:cNvPr id="37" name="Shape 26"/>
          <p:cNvSpPr/>
          <p:nvPr/>
        </p:nvSpPr>
        <p:spPr>
          <a:xfrm>
            <a:off x="7598664" y="4114800"/>
            <a:ext cx="402336" cy="402336"/>
          </a:xfrm>
          <a:prstGeom prst="ellipse">
            <a:avLst/>
          </a:prstGeom>
          <a:solidFill>
            <a:srgbClr val="2E86C7"/>
          </a:solidFill>
          <a:ln/>
        </p:spPr>
      </p:sp>
      <p:sp>
        <p:nvSpPr>
          <p:cNvPr id="38" name="Text 27"/>
          <p:cNvSpPr txBox="1"/>
          <p:nvPr/>
        </p:nvSpPr>
        <p:spPr>
          <a:xfrm>
            <a:off x="7598664" y="410565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8</a:t>
            </a:r>
            <a:endParaRPr lang="en-US" sz="1496" dirty="0"/>
          </a:p>
        </p:txBody>
      </p:sp>
      <p:sp>
        <p:nvSpPr>
          <p:cNvPr id="39" name="Shape 28"/>
          <p:cNvSpPr/>
          <p:nvPr/>
        </p:nvSpPr>
        <p:spPr>
          <a:xfrm>
            <a:off x="9144000" y="4480560"/>
            <a:ext cx="960120" cy="960120"/>
          </a:xfrm>
          <a:prstGeom prst="ellipse">
            <a:avLst/>
          </a:prstGeom>
          <a:solidFill>
            <a:srgbClr val="133B6C"/>
          </a:solidFill>
          <a:ln/>
        </p:spPr>
      </p:sp>
      <p:pic>
        <p:nvPicPr>
          <p:cNvPr id="40" name="Image 8" descr="/tmp/claude-0/-home-user-riesgo/0ff9ff46-1396-5bd8-b3ac-2280dfbbbc55/scratchpad/work/gen/icons/social_white.png">    </p:cNvPr>
          <p:cNvPicPr>
            <a:picLocks noChangeAspect="1"/>
          </p:cNvPicPr>
          <p:nvPr/>
        </p:nvPicPr>
        <p:blipFill>
          <a:blip r:embed="rId9"/>
          <a:stretch>
            <a:fillRect/>
          </a:stretch>
        </p:blipFill>
        <p:spPr>
          <a:xfrm>
            <a:off x="9384030" y="4720590"/>
            <a:ext cx="480060" cy="480060"/>
          </a:xfrm>
          <a:prstGeom prst="rect">
            <a:avLst/>
          </a:prstGeom>
        </p:spPr>
      </p:pic>
      <p:sp>
        <p:nvSpPr>
          <p:cNvPr id="41" name="Shape 29"/>
          <p:cNvSpPr/>
          <p:nvPr/>
        </p:nvSpPr>
        <p:spPr>
          <a:xfrm>
            <a:off x="9793224" y="4389120"/>
            <a:ext cx="402336" cy="402336"/>
          </a:xfrm>
          <a:prstGeom prst="ellipse">
            <a:avLst/>
          </a:prstGeom>
          <a:solidFill>
            <a:srgbClr val="2E86C7"/>
          </a:solidFill>
          <a:ln/>
        </p:spPr>
      </p:sp>
      <p:sp>
        <p:nvSpPr>
          <p:cNvPr id="42" name="Text 30"/>
          <p:cNvSpPr txBox="1"/>
          <p:nvPr/>
        </p:nvSpPr>
        <p:spPr>
          <a:xfrm>
            <a:off x="9793224" y="4379976"/>
            <a:ext cx="402336" cy="402336"/>
          </a:xfrm>
          <a:prstGeom prst="rect">
            <a:avLst/>
          </a:prstGeom>
          <a:noFill/>
          <a:ln/>
        </p:spPr>
        <p:txBody>
          <a:bodyPr wrap="square" lIns="0" tIns="0" rIns="0" bIns="0" rtlCol="0" anchor="ctr"/>
          <a:lstStyle/>
          <a:p>
            <a:pPr algn="ctr" indent="0" marL="0">
              <a:buNone/>
            </a:pPr>
            <a:r>
              <a:rPr lang="en-US" sz="1496" b="1" dirty="0">
                <a:solidFill>
                  <a:srgbClr val="0A1F3B"/>
                </a:solidFill>
                <a:latin typeface="Cambria" pitchFamily="34" charset="0"/>
                <a:ea typeface="Cambria" pitchFamily="34" charset="-122"/>
                <a:cs typeface="Cambria" pitchFamily="34" charset="-120"/>
              </a:rPr>
              <a:t>9</a:t>
            </a:r>
            <a:endParaRPr lang="en-US" sz="1496" dirty="0"/>
          </a:p>
        </p:txBody>
      </p:sp>
      <p:sp>
        <p:nvSpPr>
          <p:cNvPr id="43" name="Text 31"/>
          <p:cNvSpPr txBox="1"/>
          <p:nvPr/>
        </p:nvSpPr>
        <p:spPr>
          <a:xfrm>
            <a:off x="566928" y="6053328"/>
            <a:ext cx="11057839" cy="274320"/>
          </a:xfrm>
          <a:prstGeom prst="rect">
            <a:avLst/>
          </a:prstGeom>
          <a:noFill/>
          <a:ln/>
        </p:spPr>
        <p:txBody>
          <a:bodyPr wrap="square" lIns="0" tIns="0" rIns="0" bIns="0" rtlCol="0" anchor="ctr"/>
          <a:lstStyle/>
          <a:p>
            <a:pPr algn="ctr" indent="0" marL="0">
              <a:buNone/>
            </a:pPr>
            <a:r>
              <a:rPr lang="en-US" sz="1200" i="1" dirty="0">
                <a:solidFill>
                  <a:srgbClr val="5B6B82"/>
                </a:solidFill>
                <a:latin typeface="Calibri" pitchFamily="34" charset="0"/>
                <a:ea typeface="Calibri" pitchFamily="34" charset="-122"/>
                <a:cs typeface="Calibri" pitchFamily="34" charset="-120"/>
              </a:rPr>
              <a:t>Cuando termines el tiempo, pasa a la siguiente diapositiva para revisar los resultados.</a:t>
            </a:r>
            <a:endParaRPr lang="en-US" sz="1200" dirty="0"/>
          </a:p>
        </p:txBody>
      </p:sp>
      <p:sp>
        <p:nvSpPr>
          <p:cNvPr id="44" name="Text 32"/>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45" name="Text 33"/>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28</a:t>
            </a:r>
            <a:endParaRPr lang="en-US"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502920"/>
            <a:ext cx="7315200" cy="292608"/>
          </a:xfrm>
          <a:prstGeom prst="rect">
            <a:avLst/>
          </a:prstGeom>
          <a:noFill/>
          <a:ln/>
        </p:spPr>
        <p:txBody>
          <a:bodyPr wrap="square" lIns="0" tIns="0" rIns="0" bIns="0" rtlCol="0" anchor="ctr"/>
          <a:lstStyle/>
          <a:p>
            <a:pPr algn="l" indent="0" marL="0">
              <a:buNone/>
            </a:pPr>
            <a:r>
              <a:rPr lang="en-US" sz="1300" b="1" spc="200" kern="0" dirty="0">
                <a:solidFill>
                  <a:srgbClr val="2E86C7"/>
                </a:solidFill>
                <a:latin typeface="Calibri" pitchFamily="34" charset="0"/>
                <a:ea typeface="Calibri" pitchFamily="34" charset="-122"/>
                <a:cs typeface="Calibri" pitchFamily="34" charset="-120"/>
              </a:rPr>
              <a:t>RESULTADO · ESTOS SON EJEMPLOS DE RIESGOS</a:t>
            </a:r>
            <a:endParaRPr lang="en-US" sz="1300" dirty="0"/>
          </a:p>
        </p:txBody>
      </p:sp>
      <p:sp>
        <p:nvSpPr>
          <p:cNvPr id="4" name="Text 1"/>
          <p:cNvSpPr txBox="1"/>
          <p:nvPr/>
        </p:nvSpPr>
        <p:spPr>
          <a:xfrm>
            <a:off x="566928" y="822960"/>
            <a:ext cx="11057839" cy="822960"/>
          </a:xfrm>
          <a:prstGeom prst="rect">
            <a:avLst/>
          </a:prstGeom>
          <a:noFill/>
          <a:ln/>
        </p:spPr>
        <p:txBody>
          <a:bodyPr wrap="square" lIns="0" tIns="0" rIns="0" bIns="0" rtlCol="0" anchor="ctr"/>
          <a:lstStyle/>
          <a:p>
            <a:pPr algn="l" indent="0" marL="0">
              <a:lnSpc>
                <a:spcPct val="102000"/>
              </a:lnSpc>
              <a:buNone/>
            </a:pPr>
            <a:r>
              <a:rPr lang="en-US" sz="2800" b="1" dirty="0">
                <a:solidFill>
                  <a:srgbClr val="133B6C"/>
                </a:solidFill>
                <a:latin typeface="Cambria" pitchFamily="34" charset="0"/>
                <a:ea typeface="Cambria" pitchFamily="34" charset="-122"/>
                <a:cs typeface="Cambria" pitchFamily="34" charset="-120"/>
              </a:rPr>
              <a:t>LOS RIESGOS DE ESTA ESCENA</a:t>
            </a:r>
            <a:endParaRPr lang="en-US" sz="2800" dirty="0"/>
          </a:p>
        </p:txBody>
      </p:sp>
      <p:sp>
        <p:nvSpPr>
          <p:cNvPr id="5" name="Shape 2"/>
          <p:cNvSpPr/>
          <p:nvPr/>
        </p:nvSpPr>
        <p:spPr>
          <a:xfrm>
            <a:off x="566928" y="1874520"/>
            <a:ext cx="3503066" cy="1313688"/>
          </a:xfrm>
          <a:prstGeom prst="roundRect">
            <a:avLst>
              <a:gd name="adj" fmla="val 6265"/>
            </a:avLst>
          </a:prstGeom>
          <a:solidFill>
            <a:srgbClr val="F2F5F9"/>
          </a:solidFill>
          <a:ln/>
        </p:spPr>
      </p:sp>
      <p:sp>
        <p:nvSpPr>
          <p:cNvPr id="6" name="Shape 3"/>
          <p:cNvSpPr/>
          <p:nvPr/>
        </p:nvSpPr>
        <p:spPr>
          <a:xfrm>
            <a:off x="704088" y="2247900"/>
            <a:ext cx="566928" cy="566928"/>
          </a:xfrm>
          <a:prstGeom prst="ellipse">
            <a:avLst/>
          </a:prstGeom>
          <a:solidFill>
            <a:srgbClr val="2E86C7"/>
          </a:solidFill>
          <a:ln/>
        </p:spPr>
      </p:sp>
      <p:pic>
        <p:nvPicPr>
          <p:cNvPr id="7" name="Image 0" descr="/tmp/claude-0/-home-user-riesgo/0ff9ff46-1396-5bd8-b3ac-2280dfbbbc55/scratchpad/work/gen/icons/lock_open_white.png">    </p:cNvPr>
          <p:cNvPicPr>
            <a:picLocks noChangeAspect="1"/>
          </p:cNvPicPr>
          <p:nvPr/>
        </p:nvPicPr>
        <p:blipFill>
          <a:blip r:embed="rId1"/>
          <a:stretch>
            <a:fillRect/>
          </a:stretch>
        </p:blipFill>
        <p:spPr>
          <a:xfrm>
            <a:off x="840151" y="2383963"/>
            <a:ext cx="294803" cy="294803"/>
          </a:xfrm>
          <a:prstGeom prst="rect">
            <a:avLst/>
          </a:prstGeom>
        </p:spPr>
      </p:pic>
      <p:sp>
        <p:nvSpPr>
          <p:cNvPr id="8" name="Shape 4"/>
          <p:cNvSpPr/>
          <p:nvPr/>
        </p:nvSpPr>
        <p:spPr>
          <a:xfrm>
            <a:off x="1133856" y="2193036"/>
            <a:ext cx="292608" cy="292608"/>
          </a:xfrm>
          <a:prstGeom prst="ellipse">
            <a:avLst/>
          </a:prstGeom>
          <a:solidFill>
            <a:srgbClr val="133B6C"/>
          </a:solidFill>
          <a:ln/>
        </p:spPr>
      </p:sp>
      <p:sp>
        <p:nvSpPr>
          <p:cNvPr id="9" name="Text 5"/>
          <p:cNvSpPr txBox="1"/>
          <p:nvPr/>
        </p:nvSpPr>
        <p:spPr>
          <a:xfrm>
            <a:off x="1133856" y="2183892"/>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1</a:t>
            </a:r>
            <a:endParaRPr lang="en-US" sz="1088" dirty="0"/>
          </a:p>
        </p:txBody>
      </p:sp>
      <p:sp>
        <p:nvSpPr>
          <p:cNvPr id="10" name="Text 6"/>
          <p:cNvSpPr txBox="1"/>
          <p:nvPr/>
        </p:nvSpPr>
        <p:spPr>
          <a:xfrm>
            <a:off x="1408176" y="1947672"/>
            <a:ext cx="2515514" cy="1167384"/>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Equipo desbloqueado y sin supervisión.</a:t>
            </a:r>
            <a:endParaRPr lang="en-US" sz="1200" dirty="0"/>
          </a:p>
        </p:txBody>
      </p:sp>
      <p:sp>
        <p:nvSpPr>
          <p:cNvPr id="11" name="Shape 7"/>
          <p:cNvSpPr/>
          <p:nvPr/>
        </p:nvSpPr>
        <p:spPr>
          <a:xfrm>
            <a:off x="4344314" y="1874520"/>
            <a:ext cx="3503066" cy="1313688"/>
          </a:xfrm>
          <a:prstGeom prst="roundRect">
            <a:avLst>
              <a:gd name="adj" fmla="val 6265"/>
            </a:avLst>
          </a:prstGeom>
          <a:solidFill>
            <a:srgbClr val="F2F5F9"/>
          </a:solidFill>
          <a:ln/>
        </p:spPr>
      </p:sp>
      <p:sp>
        <p:nvSpPr>
          <p:cNvPr id="12" name="Shape 8"/>
          <p:cNvSpPr/>
          <p:nvPr/>
        </p:nvSpPr>
        <p:spPr>
          <a:xfrm>
            <a:off x="4481474" y="2247900"/>
            <a:ext cx="566928" cy="566928"/>
          </a:xfrm>
          <a:prstGeom prst="ellipse">
            <a:avLst/>
          </a:prstGeom>
          <a:solidFill>
            <a:srgbClr val="2E86C7"/>
          </a:solidFill>
          <a:ln/>
        </p:spPr>
      </p:sp>
      <p:pic>
        <p:nvPicPr>
          <p:cNvPr id="13" name="Image 1" descr="/tmp/claude-0/-home-user-riesgo/0ff9ff46-1396-5bd8-b3ac-2280dfbbbc55/scratchpad/work/gen/icons/usb_white.png">    </p:cNvPr>
          <p:cNvPicPr>
            <a:picLocks noChangeAspect="1"/>
          </p:cNvPicPr>
          <p:nvPr/>
        </p:nvPicPr>
        <p:blipFill>
          <a:blip r:embed="rId2"/>
          <a:stretch>
            <a:fillRect/>
          </a:stretch>
        </p:blipFill>
        <p:spPr>
          <a:xfrm>
            <a:off x="4617537" y="2383963"/>
            <a:ext cx="294803" cy="294803"/>
          </a:xfrm>
          <a:prstGeom prst="rect">
            <a:avLst/>
          </a:prstGeom>
        </p:spPr>
      </p:pic>
      <p:sp>
        <p:nvSpPr>
          <p:cNvPr id="14" name="Shape 9"/>
          <p:cNvSpPr/>
          <p:nvPr/>
        </p:nvSpPr>
        <p:spPr>
          <a:xfrm>
            <a:off x="4911242" y="2193036"/>
            <a:ext cx="292608" cy="292608"/>
          </a:xfrm>
          <a:prstGeom prst="ellipse">
            <a:avLst/>
          </a:prstGeom>
          <a:solidFill>
            <a:srgbClr val="133B6C"/>
          </a:solidFill>
          <a:ln/>
        </p:spPr>
      </p:sp>
      <p:sp>
        <p:nvSpPr>
          <p:cNvPr id="15" name="Text 10"/>
          <p:cNvSpPr txBox="1"/>
          <p:nvPr/>
        </p:nvSpPr>
        <p:spPr>
          <a:xfrm>
            <a:off x="4911242" y="2183892"/>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2</a:t>
            </a:r>
            <a:endParaRPr lang="en-US" sz="1088" dirty="0"/>
          </a:p>
        </p:txBody>
      </p:sp>
      <p:sp>
        <p:nvSpPr>
          <p:cNvPr id="16" name="Text 11"/>
          <p:cNvSpPr txBox="1"/>
          <p:nvPr/>
        </p:nvSpPr>
        <p:spPr>
          <a:xfrm>
            <a:off x="5185562" y="1947672"/>
            <a:ext cx="2515514" cy="1167384"/>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Dispositivo USB desconocido conectado.</a:t>
            </a:r>
            <a:endParaRPr lang="en-US" sz="1200" dirty="0"/>
          </a:p>
        </p:txBody>
      </p:sp>
      <p:sp>
        <p:nvSpPr>
          <p:cNvPr id="17" name="Shape 12"/>
          <p:cNvSpPr/>
          <p:nvPr/>
        </p:nvSpPr>
        <p:spPr>
          <a:xfrm>
            <a:off x="8121701" y="1874520"/>
            <a:ext cx="3503066" cy="1313688"/>
          </a:xfrm>
          <a:prstGeom prst="roundRect">
            <a:avLst>
              <a:gd name="adj" fmla="val 6265"/>
            </a:avLst>
          </a:prstGeom>
          <a:solidFill>
            <a:srgbClr val="F2F5F9"/>
          </a:solidFill>
          <a:ln/>
        </p:spPr>
      </p:sp>
      <p:sp>
        <p:nvSpPr>
          <p:cNvPr id="18" name="Shape 13"/>
          <p:cNvSpPr/>
          <p:nvPr/>
        </p:nvSpPr>
        <p:spPr>
          <a:xfrm>
            <a:off x="8258861" y="2247900"/>
            <a:ext cx="566928" cy="566928"/>
          </a:xfrm>
          <a:prstGeom prst="ellipse">
            <a:avLst/>
          </a:prstGeom>
          <a:solidFill>
            <a:srgbClr val="2E86C7"/>
          </a:solidFill>
          <a:ln/>
        </p:spPr>
      </p:sp>
      <p:pic>
        <p:nvPicPr>
          <p:cNvPr id="19" name="Image 2" descr="/tmp/claude-0/-home-user-riesgo/0ff9ff46-1396-5bd8-b3ac-2280dfbbbc55/scratchpad/work/gen/icons/wifi_off_white.png">    </p:cNvPr>
          <p:cNvPicPr>
            <a:picLocks noChangeAspect="1"/>
          </p:cNvPicPr>
          <p:nvPr/>
        </p:nvPicPr>
        <p:blipFill>
          <a:blip r:embed="rId3"/>
          <a:stretch>
            <a:fillRect/>
          </a:stretch>
        </p:blipFill>
        <p:spPr>
          <a:xfrm>
            <a:off x="8394924" y="2383963"/>
            <a:ext cx="294803" cy="294803"/>
          </a:xfrm>
          <a:prstGeom prst="rect">
            <a:avLst/>
          </a:prstGeom>
        </p:spPr>
      </p:pic>
      <p:sp>
        <p:nvSpPr>
          <p:cNvPr id="20" name="Shape 14"/>
          <p:cNvSpPr/>
          <p:nvPr/>
        </p:nvSpPr>
        <p:spPr>
          <a:xfrm>
            <a:off x="8688629" y="2193036"/>
            <a:ext cx="292608" cy="292608"/>
          </a:xfrm>
          <a:prstGeom prst="ellipse">
            <a:avLst/>
          </a:prstGeom>
          <a:solidFill>
            <a:srgbClr val="133B6C"/>
          </a:solidFill>
          <a:ln/>
        </p:spPr>
      </p:sp>
      <p:sp>
        <p:nvSpPr>
          <p:cNvPr id="21" name="Text 15"/>
          <p:cNvSpPr txBox="1"/>
          <p:nvPr/>
        </p:nvSpPr>
        <p:spPr>
          <a:xfrm>
            <a:off x="8688629" y="2183892"/>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3</a:t>
            </a:r>
            <a:endParaRPr lang="en-US" sz="1088" dirty="0"/>
          </a:p>
        </p:txBody>
      </p:sp>
      <p:sp>
        <p:nvSpPr>
          <p:cNvPr id="22" name="Text 16"/>
          <p:cNvSpPr txBox="1"/>
          <p:nvPr/>
        </p:nvSpPr>
        <p:spPr>
          <a:xfrm>
            <a:off x="8962949" y="1947672"/>
            <a:ext cx="2515514" cy="1167384"/>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Conexión fuera de la red segura de la Cooperativa.</a:t>
            </a:r>
            <a:endParaRPr lang="en-US" sz="1200" dirty="0"/>
          </a:p>
        </p:txBody>
      </p:sp>
      <p:sp>
        <p:nvSpPr>
          <p:cNvPr id="23" name="Shape 17"/>
          <p:cNvSpPr/>
          <p:nvPr/>
        </p:nvSpPr>
        <p:spPr>
          <a:xfrm>
            <a:off x="566928" y="3334512"/>
            <a:ext cx="3503066" cy="1313688"/>
          </a:xfrm>
          <a:prstGeom prst="roundRect">
            <a:avLst>
              <a:gd name="adj" fmla="val 6265"/>
            </a:avLst>
          </a:prstGeom>
          <a:solidFill>
            <a:srgbClr val="F2F5F9"/>
          </a:solidFill>
          <a:ln/>
        </p:spPr>
      </p:sp>
      <p:sp>
        <p:nvSpPr>
          <p:cNvPr id="24" name="Shape 18"/>
          <p:cNvSpPr/>
          <p:nvPr/>
        </p:nvSpPr>
        <p:spPr>
          <a:xfrm>
            <a:off x="704088" y="3707892"/>
            <a:ext cx="566928" cy="566928"/>
          </a:xfrm>
          <a:prstGeom prst="ellipse">
            <a:avLst/>
          </a:prstGeom>
          <a:solidFill>
            <a:srgbClr val="2E86C7"/>
          </a:solidFill>
          <a:ln/>
        </p:spPr>
      </p:sp>
      <p:pic>
        <p:nvPicPr>
          <p:cNvPr id="25" name="Image 3" descr="/tmp/claude-0/-home-user-riesgo/0ff9ff46-1396-5bd8-b3ac-2280dfbbbc55/scratchpad/work/gen/icons/trash_white.png">    </p:cNvPr>
          <p:cNvPicPr>
            <a:picLocks noChangeAspect="1"/>
          </p:cNvPicPr>
          <p:nvPr/>
        </p:nvPicPr>
        <p:blipFill>
          <a:blip r:embed="rId4"/>
          <a:stretch>
            <a:fillRect/>
          </a:stretch>
        </p:blipFill>
        <p:spPr>
          <a:xfrm>
            <a:off x="840151" y="3843955"/>
            <a:ext cx="294803" cy="294803"/>
          </a:xfrm>
          <a:prstGeom prst="rect">
            <a:avLst/>
          </a:prstGeom>
        </p:spPr>
      </p:pic>
      <p:sp>
        <p:nvSpPr>
          <p:cNvPr id="26" name="Shape 19"/>
          <p:cNvSpPr/>
          <p:nvPr/>
        </p:nvSpPr>
        <p:spPr>
          <a:xfrm>
            <a:off x="1133856" y="3653028"/>
            <a:ext cx="292608" cy="292608"/>
          </a:xfrm>
          <a:prstGeom prst="ellipse">
            <a:avLst/>
          </a:prstGeom>
          <a:solidFill>
            <a:srgbClr val="133B6C"/>
          </a:solidFill>
          <a:ln/>
        </p:spPr>
      </p:sp>
      <p:sp>
        <p:nvSpPr>
          <p:cNvPr id="27" name="Text 20"/>
          <p:cNvSpPr txBox="1"/>
          <p:nvPr/>
        </p:nvSpPr>
        <p:spPr>
          <a:xfrm>
            <a:off x="1133856" y="3643884"/>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4</a:t>
            </a:r>
            <a:endParaRPr lang="en-US" sz="1088" dirty="0"/>
          </a:p>
        </p:txBody>
      </p:sp>
      <p:sp>
        <p:nvSpPr>
          <p:cNvPr id="28" name="Text 21"/>
          <p:cNvSpPr txBox="1"/>
          <p:nvPr/>
        </p:nvSpPr>
        <p:spPr>
          <a:xfrm>
            <a:off x="1408176" y="3407664"/>
            <a:ext cx="2515514" cy="1167384"/>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Documentos con datos de asociados en la basura.</a:t>
            </a:r>
            <a:endParaRPr lang="en-US" sz="1200" dirty="0"/>
          </a:p>
        </p:txBody>
      </p:sp>
      <p:sp>
        <p:nvSpPr>
          <p:cNvPr id="29" name="Shape 22"/>
          <p:cNvSpPr/>
          <p:nvPr/>
        </p:nvSpPr>
        <p:spPr>
          <a:xfrm>
            <a:off x="4344314" y="3334512"/>
            <a:ext cx="3503066" cy="1313688"/>
          </a:xfrm>
          <a:prstGeom prst="roundRect">
            <a:avLst>
              <a:gd name="adj" fmla="val 6265"/>
            </a:avLst>
          </a:prstGeom>
          <a:solidFill>
            <a:srgbClr val="F2F5F9"/>
          </a:solidFill>
          <a:ln/>
        </p:spPr>
      </p:sp>
      <p:sp>
        <p:nvSpPr>
          <p:cNvPr id="30" name="Shape 23"/>
          <p:cNvSpPr/>
          <p:nvPr/>
        </p:nvSpPr>
        <p:spPr>
          <a:xfrm>
            <a:off x="4481474" y="3707892"/>
            <a:ext cx="566928" cy="566928"/>
          </a:xfrm>
          <a:prstGeom prst="ellipse">
            <a:avLst/>
          </a:prstGeom>
          <a:solidFill>
            <a:srgbClr val="2E86C7"/>
          </a:solidFill>
          <a:ln/>
        </p:spPr>
      </p:sp>
      <p:pic>
        <p:nvPicPr>
          <p:cNvPr id="31" name="Image 4" descr="/tmp/claude-0/-home-user-riesgo/0ff9ff46-1396-5bd8-b3ac-2280dfbbbc55/scratchpad/work/gen/icons/bell_alert_white.png">    </p:cNvPr>
          <p:cNvPicPr>
            <a:picLocks noChangeAspect="1"/>
          </p:cNvPicPr>
          <p:nvPr/>
        </p:nvPicPr>
        <p:blipFill>
          <a:blip r:embed="rId5"/>
          <a:stretch>
            <a:fillRect/>
          </a:stretch>
        </p:blipFill>
        <p:spPr>
          <a:xfrm>
            <a:off x="4617537" y="3843955"/>
            <a:ext cx="294803" cy="294803"/>
          </a:xfrm>
          <a:prstGeom prst="rect">
            <a:avLst/>
          </a:prstGeom>
        </p:spPr>
      </p:pic>
      <p:sp>
        <p:nvSpPr>
          <p:cNvPr id="32" name="Shape 24"/>
          <p:cNvSpPr/>
          <p:nvPr/>
        </p:nvSpPr>
        <p:spPr>
          <a:xfrm>
            <a:off x="4911242" y="3653028"/>
            <a:ext cx="292608" cy="292608"/>
          </a:xfrm>
          <a:prstGeom prst="ellipse">
            <a:avLst/>
          </a:prstGeom>
          <a:solidFill>
            <a:srgbClr val="133B6C"/>
          </a:solidFill>
          <a:ln/>
        </p:spPr>
      </p:sp>
      <p:sp>
        <p:nvSpPr>
          <p:cNvPr id="33" name="Text 25"/>
          <p:cNvSpPr txBox="1"/>
          <p:nvPr/>
        </p:nvSpPr>
        <p:spPr>
          <a:xfrm>
            <a:off x="4911242" y="3643884"/>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5</a:t>
            </a:r>
            <a:endParaRPr lang="en-US" sz="1088" dirty="0"/>
          </a:p>
        </p:txBody>
      </p:sp>
      <p:sp>
        <p:nvSpPr>
          <p:cNvPr id="34" name="Text 26"/>
          <p:cNvSpPr txBox="1"/>
          <p:nvPr/>
        </p:nvSpPr>
        <p:spPr>
          <a:xfrm>
            <a:off x="5185562" y="3407664"/>
            <a:ext cx="2515514" cy="1167384"/>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Una alerta del sistema que nadie atendió.</a:t>
            </a:r>
            <a:endParaRPr lang="en-US" sz="1200" dirty="0"/>
          </a:p>
        </p:txBody>
      </p:sp>
      <p:sp>
        <p:nvSpPr>
          <p:cNvPr id="35" name="Shape 27"/>
          <p:cNvSpPr/>
          <p:nvPr/>
        </p:nvSpPr>
        <p:spPr>
          <a:xfrm>
            <a:off x="8121701" y="3334512"/>
            <a:ext cx="3503066" cy="1313688"/>
          </a:xfrm>
          <a:prstGeom prst="roundRect">
            <a:avLst>
              <a:gd name="adj" fmla="val 6265"/>
            </a:avLst>
          </a:prstGeom>
          <a:solidFill>
            <a:srgbClr val="F2F5F9"/>
          </a:solidFill>
          <a:ln/>
        </p:spPr>
      </p:sp>
      <p:sp>
        <p:nvSpPr>
          <p:cNvPr id="36" name="Shape 28"/>
          <p:cNvSpPr/>
          <p:nvPr/>
        </p:nvSpPr>
        <p:spPr>
          <a:xfrm>
            <a:off x="8258861" y="3707892"/>
            <a:ext cx="566928" cy="566928"/>
          </a:xfrm>
          <a:prstGeom prst="ellipse">
            <a:avLst/>
          </a:prstGeom>
          <a:solidFill>
            <a:srgbClr val="2E86C7"/>
          </a:solidFill>
          <a:ln/>
        </p:spPr>
      </p:sp>
      <p:pic>
        <p:nvPicPr>
          <p:cNvPr id="37" name="Image 5" descr="/tmp/claude-0/-home-user-riesgo/0ff9ff46-1396-5bd8-b3ac-2280dfbbbc55/scratchpad/work/gen/icons/hand_stop_white.png">    </p:cNvPr>
          <p:cNvPicPr>
            <a:picLocks noChangeAspect="1"/>
          </p:cNvPicPr>
          <p:nvPr/>
        </p:nvPicPr>
        <p:blipFill>
          <a:blip r:embed="rId6"/>
          <a:stretch>
            <a:fillRect/>
          </a:stretch>
        </p:blipFill>
        <p:spPr>
          <a:xfrm>
            <a:off x="8394924" y="3843955"/>
            <a:ext cx="294803" cy="294803"/>
          </a:xfrm>
          <a:prstGeom prst="rect">
            <a:avLst/>
          </a:prstGeom>
        </p:spPr>
      </p:pic>
      <p:sp>
        <p:nvSpPr>
          <p:cNvPr id="38" name="Shape 29"/>
          <p:cNvSpPr/>
          <p:nvPr/>
        </p:nvSpPr>
        <p:spPr>
          <a:xfrm>
            <a:off x="8688629" y="3653028"/>
            <a:ext cx="292608" cy="292608"/>
          </a:xfrm>
          <a:prstGeom prst="ellipse">
            <a:avLst/>
          </a:prstGeom>
          <a:solidFill>
            <a:srgbClr val="133B6C"/>
          </a:solidFill>
          <a:ln/>
        </p:spPr>
      </p:sp>
      <p:sp>
        <p:nvSpPr>
          <p:cNvPr id="39" name="Text 30"/>
          <p:cNvSpPr txBox="1"/>
          <p:nvPr/>
        </p:nvSpPr>
        <p:spPr>
          <a:xfrm>
            <a:off x="8688629" y="3643884"/>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6</a:t>
            </a:r>
            <a:endParaRPr lang="en-US" sz="1088" dirty="0"/>
          </a:p>
        </p:txBody>
      </p:sp>
      <p:sp>
        <p:nvSpPr>
          <p:cNvPr id="40" name="Text 31"/>
          <p:cNvSpPr txBox="1"/>
          <p:nvPr/>
        </p:nvSpPr>
        <p:spPr>
          <a:xfrm>
            <a:off x="8962949" y="3407664"/>
            <a:ext cx="2515514" cy="1167384"/>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Acceso a un área restringida sin autorización.</a:t>
            </a:r>
            <a:endParaRPr lang="en-US" sz="1200" dirty="0"/>
          </a:p>
        </p:txBody>
      </p:sp>
      <p:sp>
        <p:nvSpPr>
          <p:cNvPr id="41" name="Shape 32"/>
          <p:cNvSpPr/>
          <p:nvPr/>
        </p:nvSpPr>
        <p:spPr>
          <a:xfrm>
            <a:off x="566928" y="4794504"/>
            <a:ext cx="3503066" cy="1313688"/>
          </a:xfrm>
          <a:prstGeom prst="roundRect">
            <a:avLst>
              <a:gd name="adj" fmla="val 6265"/>
            </a:avLst>
          </a:prstGeom>
          <a:solidFill>
            <a:srgbClr val="F2F5F9"/>
          </a:solidFill>
          <a:ln/>
        </p:spPr>
      </p:sp>
      <p:sp>
        <p:nvSpPr>
          <p:cNvPr id="42" name="Shape 33"/>
          <p:cNvSpPr/>
          <p:nvPr/>
        </p:nvSpPr>
        <p:spPr>
          <a:xfrm>
            <a:off x="704088" y="5167884"/>
            <a:ext cx="566928" cy="566928"/>
          </a:xfrm>
          <a:prstGeom prst="ellipse">
            <a:avLst/>
          </a:prstGeom>
          <a:solidFill>
            <a:srgbClr val="2E86C7"/>
          </a:solidFill>
          <a:ln/>
        </p:spPr>
      </p:sp>
      <p:pic>
        <p:nvPicPr>
          <p:cNvPr id="43" name="Image 6" descr="/tmp/claude-0/-home-user-riesgo/0ff9ff46-1396-5bd8-b3ac-2280dfbbbc55/scratchpad/work/gen/icons/cctv_white.png">    </p:cNvPr>
          <p:cNvPicPr>
            <a:picLocks noChangeAspect="1"/>
          </p:cNvPicPr>
          <p:nvPr/>
        </p:nvPicPr>
        <p:blipFill>
          <a:blip r:embed="rId7"/>
          <a:stretch>
            <a:fillRect/>
          </a:stretch>
        </p:blipFill>
        <p:spPr>
          <a:xfrm>
            <a:off x="840151" y="5303947"/>
            <a:ext cx="294803" cy="294803"/>
          </a:xfrm>
          <a:prstGeom prst="rect">
            <a:avLst/>
          </a:prstGeom>
        </p:spPr>
      </p:pic>
      <p:sp>
        <p:nvSpPr>
          <p:cNvPr id="44" name="Shape 34"/>
          <p:cNvSpPr/>
          <p:nvPr/>
        </p:nvSpPr>
        <p:spPr>
          <a:xfrm>
            <a:off x="1133856" y="5113020"/>
            <a:ext cx="292608" cy="292608"/>
          </a:xfrm>
          <a:prstGeom prst="ellipse">
            <a:avLst/>
          </a:prstGeom>
          <a:solidFill>
            <a:srgbClr val="133B6C"/>
          </a:solidFill>
          <a:ln/>
        </p:spPr>
      </p:sp>
      <p:sp>
        <p:nvSpPr>
          <p:cNvPr id="45" name="Text 35"/>
          <p:cNvSpPr txBox="1"/>
          <p:nvPr/>
        </p:nvSpPr>
        <p:spPr>
          <a:xfrm>
            <a:off x="1133856" y="5103876"/>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7</a:t>
            </a:r>
            <a:endParaRPr lang="en-US" sz="1088" dirty="0"/>
          </a:p>
        </p:txBody>
      </p:sp>
      <p:sp>
        <p:nvSpPr>
          <p:cNvPr id="46" name="Text 36"/>
          <p:cNvSpPr txBox="1"/>
          <p:nvPr/>
        </p:nvSpPr>
        <p:spPr>
          <a:xfrm>
            <a:off x="1408176" y="4867656"/>
            <a:ext cx="2515514" cy="1167384"/>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Cámara de seguridad bloqueada u obstruida.</a:t>
            </a:r>
            <a:endParaRPr lang="en-US" sz="1200" dirty="0"/>
          </a:p>
        </p:txBody>
      </p:sp>
      <p:sp>
        <p:nvSpPr>
          <p:cNvPr id="47" name="Shape 37"/>
          <p:cNvSpPr/>
          <p:nvPr/>
        </p:nvSpPr>
        <p:spPr>
          <a:xfrm>
            <a:off x="4344314" y="4794504"/>
            <a:ext cx="3503066" cy="1313688"/>
          </a:xfrm>
          <a:prstGeom prst="roundRect">
            <a:avLst>
              <a:gd name="adj" fmla="val 6265"/>
            </a:avLst>
          </a:prstGeom>
          <a:solidFill>
            <a:srgbClr val="F2F5F9"/>
          </a:solidFill>
          <a:ln/>
        </p:spPr>
      </p:sp>
      <p:sp>
        <p:nvSpPr>
          <p:cNvPr id="48" name="Shape 38"/>
          <p:cNvSpPr/>
          <p:nvPr/>
        </p:nvSpPr>
        <p:spPr>
          <a:xfrm>
            <a:off x="4481474" y="5167884"/>
            <a:ext cx="566928" cy="566928"/>
          </a:xfrm>
          <a:prstGeom prst="ellipse">
            <a:avLst/>
          </a:prstGeom>
          <a:solidFill>
            <a:srgbClr val="2E86C7"/>
          </a:solidFill>
          <a:ln/>
        </p:spPr>
      </p:sp>
      <p:pic>
        <p:nvPicPr>
          <p:cNvPr id="49" name="Image 7" descr="/tmp/claude-0/-home-user-riesgo/0ff9ff46-1396-5bd8-b3ac-2280dfbbbc55/scratchpad/work/gen/icons/key_white.png">    </p:cNvPr>
          <p:cNvPicPr>
            <a:picLocks noChangeAspect="1"/>
          </p:cNvPicPr>
          <p:nvPr/>
        </p:nvPicPr>
        <p:blipFill>
          <a:blip r:embed="rId8"/>
          <a:stretch>
            <a:fillRect/>
          </a:stretch>
        </p:blipFill>
        <p:spPr>
          <a:xfrm>
            <a:off x="4617537" y="5303947"/>
            <a:ext cx="294803" cy="294803"/>
          </a:xfrm>
          <a:prstGeom prst="rect">
            <a:avLst/>
          </a:prstGeom>
        </p:spPr>
      </p:pic>
      <p:sp>
        <p:nvSpPr>
          <p:cNvPr id="50" name="Shape 39"/>
          <p:cNvSpPr/>
          <p:nvPr/>
        </p:nvSpPr>
        <p:spPr>
          <a:xfrm>
            <a:off x="4911242" y="5113020"/>
            <a:ext cx="292608" cy="292608"/>
          </a:xfrm>
          <a:prstGeom prst="ellipse">
            <a:avLst/>
          </a:prstGeom>
          <a:solidFill>
            <a:srgbClr val="133B6C"/>
          </a:solidFill>
          <a:ln/>
        </p:spPr>
      </p:sp>
      <p:sp>
        <p:nvSpPr>
          <p:cNvPr id="51" name="Text 40"/>
          <p:cNvSpPr txBox="1"/>
          <p:nvPr/>
        </p:nvSpPr>
        <p:spPr>
          <a:xfrm>
            <a:off x="4911242" y="5103876"/>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8</a:t>
            </a:r>
            <a:endParaRPr lang="en-US" sz="1088" dirty="0"/>
          </a:p>
        </p:txBody>
      </p:sp>
      <p:sp>
        <p:nvSpPr>
          <p:cNvPr id="52" name="Text 41"/>
          <p:cNvSpPr txBox="1"/>
          <p:nvPr/>
        </p:nvSpPr>
        <p:spPr>
          <a:xfrm>
            <a:off x="5185562" y="4867656"/>
            <a:ext cx="2515514" cy="1167384"/>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Llaves de una oficina dejadas a la vista.</a:t>
            </a:r>
            <a:endParaRPr lang="en-US" sz="1200" dirty="0"/>
          </a:p>
        </p:txBody>
      </p:sp>
      <p:sp>
        <p:nvSpPr>
          <p:cNvPr id="53" name="Shape 42"/>
          <p:cNvSpPr/>
          <p:nvPr/>
        </p:nvSpPr>
        <p:spPr>
          <a:xfrm>
            <a:off x="8121701" y="4794504"/>
            <a:ext cx="3503066" cy="1313688"/>
          </a:xfrm>
          <a:prstGeom prst="roundRect">
            <a:avLst>
              <a:gd name="adj" fmla="val 6265"/>
            </a:avLst>
          </a:prstGeom>
          <a:solidFill>
            <a:srgbClr val="F2F5F9"/>
          </a:solidFill>
          <a:ln/>
        </p:spPr>
      </p:sp>
      <p:sp>
        <p:nvSpPr>
          <p:cNvPr id="54" name="Shape 43"/>
          <p:cNvSpPr/>
          <p:nvPr/>
        </p:nvSpPr>
        <p:spPr>
          <a:xfrm>
            <a:off x="8258861" y="5167884"/>
            <a:ext cx="566928" cy="566928"/>
          </a:xfrm>
          <a:prstGeom prst="ellipse">
            <a:avLst/>
          </a:prstGeom>
          <a:solidFill>
            <a:srgbClr val="2E86C7"/>
          </a:solidFill>
          <a:ln/>
        </p:spPr>
      </p:sp>
      <p:pic>
        <p:nvPicPr>
          <p:cNvPr id="55" name="Image 8" descr="/tmp/claude-0/-home-user-riesgo/0ff9ff46-1396-5bd8-b3ac-2280dfbbbc55/scratchpad/work/gen/icons/social_white.png">    </p:cNvPr>
          <p:cNvPicPr>
            <a:picLocks noChangeAspect="1"/>
          </p:cNvPicPr>
          <p:nvPr/>
        </p:nvPicPr>
        <p:blipFill>
          <a:blip r:embed="rId9"/>
          <a:stretch>
            <a:fillRect/>
          </a:stretch>
        </p:blipFill>
        <p:spPr>
          <a:xfrm>
            <a:off x="8394924" y="5303947"/>
            <a:ext cx="294803" cy="294803"/>
          </a:xfrm>
          <a:prstGeom prst="rect">
            <a:avLst/>
          </a:prstGeom>
        </p:spPr>
      </p:pic>
      <p:sp>
        <p:nvSpPr>
          <p:cNvPr id="56" name="Shape 44"/>
          <p:cNvSpPr/>
          <p:nvPr/>
        </p:nvSpPr>
        <p:spPr>
          <a:xfrm>
            <a:off x="8688629" y="5113020"/>
            <a:ext cx="292608" cy="292608"/>
          </a:xfrm>
          <a:prstGeom prst="ellipse">
            <a:avLst/>
          </a:prstGeom>
          <a:solidFill>
            <a:srgbClr val="133B6C"/>
          </a:solidFill>
          <a:ln/>
        </p:spPr>
      </p:sp>
      <p:sp>
        <p:nvSpPr>
          <p:cNvPr id="57" name="Text 45"/>
          <p:cNvSpPr txBox="1"/>
          <p:nvPr/>
        </p:nvSpPr>
        <p:spPr>
          <a:xfrm>
            <a:off x="8688629" y="5103876"/>
            <a:ext cx="292608" cy="292608"/>
          </a:xfrm>
          <a:prstGeom prst="rect">
            <a:avLst/>
          </a:prstGeom>
          <a:noFill/>
          <a:ln/>
        </p:spPr>
        <p:txBody>
          <a:bodyPr wrap="square" lIns="0" tIns="0" rIns="0" bIns="0" rtlCol="0" anchor="ctr"/>
          <a:lstStyle/>
          <a:p>
            <a:pPr algn="ctr" indent="0" marL="0">
              <a:buNone/>
            </a:pPr>
            <a:r>
              <a:rPr lang="en-US" sz="1088" b="1" dirty="0">
                <a:solidFill>
                  <a:srgbClr val="FFFFFF"/>
                </a:solidFill>
                <a:latin typeface="Cambria" pitchFamily="34" charset="0"/>
                <a:ea typeface="Cambria" pitchFamily="34" charset="-122"/>
                <a:cs typeface="Cambria" pitchFamily="34" charset="-120"/>
              </a:rPr>
              <a:t>9</a:t>
            </a:r>
            <a:endParaRPr lang="en-US" sz="1088" dirty="0"/>
          </a:p>
        </p:txBody>
      </p:sp>
      <p:sp>
        <p:nvSpPr>
          <p:cNvPr id="58" name="Text 46"/>
          <p:cNvSpPr txBox="1"/>
          <p:nvPr/>
        </p:nvSpPr>
        <p:spPr>
          <a:xfrm>
            <a:off x="8962949" y="4867656"/>
            <a:ext cx="2515514" cy="1167384"/>
          </a:xfrm>
          <a:prstGeom prst="rect">
            <a:avLst/>
          </a:prstGeom>
          <a:noFill/>
          <a:ln/>
        </p:spPr>
        <p:txBody>
          <a:bodyPr wrap="square" lIns="0" tIns="0" rIns="0" bIns="0" rtlCol="0" anchor="ctr"/>
          <a:lstStyle/>
          <a:p>
            <a:pPr indent="0" marL="0">
              <a:lnSpc>
                <a:spcPct val="100000"/>
              </a:lnSpc>
              <a:buNone/>
            </a:pPr>
            <a:r>
              <a:rPr lang="en-US" sz="1200" b="1" dirty="0">
                <a:solidFill>
                  <a:srgbClr val="133B6C"/>
                </a:solidFill>
                <a:latin typeface="Calibri" pitchFamily="34" charset="0"/>
                <a:ea typeface="Calibri" pitchFamily="34" charset="-122"/>
                <a:cs typeface="Calibri" pitchFamily="34" charset="-120"/>
              </a:rPr>
              <a:t>Un comentario institucional inapropiado en redes sociales.</a:t>
            </a:r>
            <a:endParaRPr lang="en-US" sz="1200" dirty="0"/>
          </a:p>
        </p:txBody>
      </p:sp>
      <p:sp>
        <p:nvSpPr>
          <p:cNvPr id="59" name="Text 47"/>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60" name="Text 48"/>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29</a:t>
            </a:r>
            <a:endParaRPr lang="en-US" sz="9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3291840" y="-3108960"/>
            <a:ext cx="7498080" cy="7498080"/>
          </a:xfrm>
          <a:prstGeom prst="ellipse">
            <a:avLst/>
          </a:prstGeom>
          <a:solidFill>
            <a:srgbClr val="F2F5F9"/>
          </a:solidFill>
          <a:ln/>
        </p:spPr>
      </p:sp>
      <p:sp>
        <p:nvSpPr>
          <p:cNvPr id="4" name="Shape 1"/>
          <p:cNvSpPr/>
          <p:nvPr/>
        </p:nvSpPr>
        <p:spPr>
          <a:xfrm>
            <a:off x="9509760" y="3840480"/>
            <a:ext cx="5852160" cy="5852160"/>
          </a:xfrm>
          <a:prstGeom prst="ellipse">
            <a:avLst/>
          </a:prstGeom>
          <a:solidFill>
            <a:srgbClr val="F2F5F9"/>
          </a:solidFill>
          <a:ln/>
        </p:spPr>
      </p:sp>
      <p:sp>
        <p:nvSpPr>
          <p:cNvPr id="5" name="Text 2"/>
          <p:cNvSpPr txBox="1"/>
          <p:nvPr/>
        </p:nvSpPr>
        <p:spPr>
          <a:xfrm>
            <a:off x="640080" y="502920"/>
            <a:ext cx="10972800" cy="365760"/>
          </a:xfrm>
          <a:prstGeom prst="rect">
            <a:avLst/>
          </a:prstGeom>
          <a:noFill/>
          <a:ln/>
        </p:spPr>
        <p:txBody>
          <a:bodyPr wrap="square" lIns="0" tIns="0" rIns="0" bIns="0" rtlCol="0" anchor="ctr"/>
          <a:lstStyle/>
          <a:p>
            <a:pPr algn="ctr" indent="0" marL="0">
              <a:buNone/>
            </a:pPr>
            <a:r>
              <a:rPr lang="en-US" sz="1700" b="1" dirty="0">
                <a:solidFill>
                  <a:srgbClr val="5B6B82"/>
                </a:solidFill>
                <a:latin typeface="Cambria" pitchFamily="34" charset="0"/>
                <a:ea typeface="Cambria" pitchFamily="34" charset="-122"/>
                <a:cs typeface="Cambria" pitchFamily="34" charset="-120"/>
              </a:rPr>
              <a:t>TODOS SOMOS</a:t>
            </a:r>
            <a:endParaRPr lang="en-US" sz="1700" dirty="0"/>
          </a:p>
        </p:txBody>
      </p:sp>
      <p:sp>
        <p:nvSpPr>
          <p:cNvPr id="6" name="Text 3"/>
          <p:cNvSpPr txBox="1"/>
          <p:nvPr/>
        </p:nvSpPr>
        <p:spPr>
          <a:xfrm>
            <a:off x="640080" y="841248"/>
            <a:ext cx="10972800" cy="594360"/>
          </a:xfrm>
          <a:prstGeom prst="rect">
            <a:avLst/>
          </a:prstGeom>
          <a:noFill/>
          <a:ln/>
        </p:spPr>
        <p:txBody>
          <a:bodyPr wrap="square" lIns="0" tIns="0" rIns="0" bIns="0" rtlCol="0" anchor="ctr"/>
          <a:lstStyle/>
          <a:p>
            <a:pPr algn="ctr" indent="0" marL="0">
              <a:buNone/>
            </a:pPr>
            <a:r>
              <a:rPr lang="en-US" sz="3000" b="1" dirty="0">
                <a:solidFill>
                  <a:srgbClr val="133B6C"/>
                </a:solidFill>
                <a:latin typeface="Cambria" pitchFamily="34" charset="0"/>
                <a:ea typeface="Cambria" pitchFamily="34" charset="-122"/>
                <a:cs typeface="Cambria" pitchFamily="34" charset="-120"/>
              </a:rPr>
              <a:t>GESTORES DE RIESGOS</a:t>
            </a:r>
            <a:endParaRPr lang="en-US" sz="3000" dirty="0"/>
          </a:p>
        </p:txBody>
      </p:sp>
      <p:sp>
        <p:nvSpPr>
          <p:cNvPr id="7" name="Shape 4"/>
          <p:cNvSpPr/>
          <p:nvPr/>
        </p:nvSpPr>
        <p:spPr>
          <a:xfrm>
            <a:off x="3444088" y="1600200"/>
            <a:ext cx="841248" cy="841248"/>
          </a:xfrm>
          <a:prstGeom prst="ellipse">
            <a:avLst/>
          </a:prstGeom>
          <a:solidFill>
            <a:srgbClr val="2E86C7"/>
          </a:solidFill>
          <a:ln/>
          <a:effectLst>
            <a:outerShdw sx="100000" sy="100000" kx="0" ky="0" algn="bl" rotWithShape="0" blurRad="76200" dist="25400" dir="5400000">
              <a:srgbClr val="17223A">
                <a:alpha val="12000"/>
              </a:srgbClr>
            </a:outerShdw>
          </a:effectLst>
        </p:spPr>
      </p:sp>
      <p:pic>
        <p:nvPicPr>
          <p:cNvPr id="8" name="Image 0" descr="/tmp/claude-0/-home-user-riesgo/0ff9ff46-1396-5bd8-b3ac-2280dfbbbc55/scratchpad/work/gen/icons/eye_white.png">    </p:cNvPr>
          <p:cNvPicPr>
            <a:picLocks noChangeAspect="1"/>
          </p:cNvPicPr>
          <p:nvPr/>
        </p:nvPicPr>
        <p:blipFill>
          <a:blip r:embed="rId1"/>
          <a:stretch>
            <a:fillRect/>
          </a:stretch>
        </p:blipFill>
        <p:spPr>
          <a:xfrm>
            <a:off x="3654400" y="1810512"/>
            <a:ext cx="420624" cy="420624"/>
          </a:xfrm>
          <a:prstGeom prst="rect">
            <a:avLst/>
          </a:prstGeom>
        </p:spPr>
      </p:pic>
      <p:sp>
        <p:nvSpPr>
          <p:cNvPr id="9" name="Text 5"/>
          <p:cNvSpPr txBox="1"/>
          <p:nvPr/>
        </p:nvSpPr>
        <p:spPr>
          <a:xfrm>
            <a:off x="3169768" y="2560320"/>
            <a:ext cx="1389888" cy="310896"/>
          </a:xfrm>
          <a:prstGeom prst="rect">
            <a:avLst/>
          </a:prstGeom>
          <a:noFill/>
          <a:ln/>
        </p:spPr>
        <p:txBody>
          <a:bodyPr wrap="square" lIns="0" tIns="0" rIns="0" bIns="0" rtlCol="0" anchor="ctr"/>
          <a:lstStyle/>
          <a:p>
            <a:pPr algn="ctr" indent="0" marL="0">
              <a:buNone/>
            </a:pPr>
            <a:r>
              <a:rPr lang="en-US" sz="1150" b="1" spc="50" kern="0" dirty="0">
                <a:solidFill>
                  <a:srgbClr val="133B6C"/>
                </a:solidFill>
                <a:latin typeface="Calibri" pitchFamily="34" charset="0"/>
                <a:ea typeface="Calibri" pitchFamily="34" charset="-122"/>
                <a:cs typeface="Calibri" pitchFamily="34" charset="-120"/>
              </a:rPr>
              <a:t>VEO</a:t>
            </a:r>
            <a:endParaRPr lang="en-US" sz="1150" dirty="0"/>
          </a:p>
        </p:txBody>
      </p:sp>
      <p:pic>
        <p:nvPicPr>
          <p:cNvPr id="10" name="Image 1" descr="/tmp/claude-0/-home-user-riesgo/0ff9ff46-1396-5bd8-b3ac-2280dfbbbc55/scratchpad/work/gen/icons/arrow_right_gray.png">    </p:cNvPr>
          <p:cNvPicPr>
            <a:picLocks noChangeAspect="1"/>
          </p:cNvPicPr>
          <p:nvPr/>
        </p:nvPicPr>
        <p:blipFill>
          <a:blip r:embed="rId2"/>
          <a:stretch>
            <a:fillRect/>
          </a:stretch>
        </p:blipFill>
        <p:spPr>
          <a:xfrm>
            <a:off x="4312768" y="1911096"/>
            <a:ext cx="219456" cy="219456"/>
          </a:xfrm>
          <a:prstGeom prst="rect">
            <a:avLst/>
          </a:prstGeom>
        </p:spPr>
      </p:pic>
      <p:sp>
        <p:nvSpPr>
          <p:cNvPr id="11" name="Shape 6"/>
          <p:cNvSpPr/>
          <p:nvPr/>
        </p:nvSpPr>
        <p:spPr>
          <a:xfrm>
            <a:off x="4559656" y="1600200"/>
            <a:ext cx="841248" cy="841248"/>
          </a:xfrm>
          <a:prstGeom prst="ellipse">
            <a:avLst/>
          </a:prstGeom>
          <a:solidFill>
            <a:srgbClr val="2E86C7"/>
          </a:solidFill>
          <a:ln/>
          <a:effectLst>
            <a:outerShdw sx="100000" sy="100000" kx="0" ky="0" algn="bl" rotWithShape="0" blurRad="76200" dist="25400" dir="5400000">
              <a:srgbClr val="17223A">
                <a:alpha val="12000"/>
              </a:srgbClr>
            </a:outerShdw>
          </a:effectLst>
        </p:spPr>
      </p:sp>
      <p:pic>
        <p:nvPicPr>
          <p:cNvPr id="12" name="Image 2" descr="/tmp/claude-0/-home-user-riesgo/0ff9ff46-1396-5bd8-b3ac-2280dfbbbc55/scratchpad/work/gen/icons/magnifier_white.png">    </p:cNvPr>
          <p:cNvPicPr>
            <a:picLocks noChangeAspect="1"/>
          </p:cNvPicPr>
          <p:nvPr/>
        </p:nvPicPr>
        <p:blipFill>
          <a:blip r:embed="rId3"/>
          <a:stretch>
            <a:fillRect/>
          </a:stretch>
        </p:blipFill>
        <p:spPr>
          <a:xfrm>
            <a:off x="4769968" y="1810512"/>
            <a:ext cx="420624" cy="420624"/>
          </a:xfrm>
          <a:prstGeom prst="rect">
            <a:avLst/>
          </a:prstGeom>
        </p:spPr>
      </p:pic>
      <p:sp>
        <p:nvSpPr>
          <p:cNvPr id="13" name="Text 7"/>
          <p:cNvSpPr txBox="1"/>
          <p:nvPr/>
        </p:nvSpPr>
        <p:spPr>
          <a:xfrm>
            <a:off x="4285336" y="2560320"/>
            <a:ext cx="1389888" cy="310896"/>
          </a:xfrm>
          <a:prstGeom prst="rect">
            <a:avLst/>
          </a:prstGeom>
          <a:noFill/>
          <a:ln/>
        </p:spPr>
        <p:txBody>
          <a:bodyPr wrap="square" lIns="0" tIns="0" rIns="0" bIns="0" rtlCol="0" anchor="ctr"/>
          <a:lstStyle/>
          <a:p>
            <a:pPr algn="ctr" indent="0" marL="0">
              <a:buNone/>
            </a:pPr>
            <a:r>
              <a:rPr lang="en-US" sz="1150" b="1" spc="50" kern="0" dirty="0">
                <a:solidFill>
                  <a:srgbClr val="133B6C"/>
                </a:solidFill>
                <a:latin typeface="Calibri" pitchFamily="34" charset="0"/>
                <a:ea typeface="Calibri" pitchFamily="34" charset="-122"/>
                <a:cs typeface="Calibri" pitchFamily="34" charset="-120"/>
              </a:rPr>
              <a:t>IDENTIFICO</a:t>
            </a:r>
            <a:endParaRPr lang="en-US" sz="1150" dirty="0"/>
          </a:p>
        </p:txBody>
      </p:sp>
      <p:pic>
        <p:nvPicPr>
          <p:cNvPr id="14" name="Image 3" descr="/tmp/claude-0/-home-user-riesgo/0ff9ff46-1396-5bd8-b3ac-2280dfbbbc55/scratchpad/work/gen/icons/arrow_right_gray.png">    </p:cNvPr>
          <p:cNvPicPr>
            <a:picLocks noChangeAspect="1"/>
          </p:cNvPicPr>
          <p:nvPr/>
        </p:nvPicPr>
        <p:blipFill>
          <a:blip r:embed="rId4"/>
          <a:stretch>
            <a:fillRect/>
          </a:stretch>
        </p:blipFill>
        <p:spPr>
          <a:xfrm>
            <a:off x="5428336" y="1911096"/>
            <a:ext cx="219456" cy="219456"/>
          </a:xfrm>
          <a:prstGeom prst="rect">
            <a:avLst/>
          </a:prstGeom>
        </p:spPr>
      </p:pic>
      <p:sp>
        <p:nvSpPr>
          <p:cNvPr id="15" name="Shape 8"/>
          <p:cNvSpPr/>
          <p:nvPr/>
        </p:nvSpPr>
        <p:spPr>
          <a:xfrm>
            <a:off x="5675224" y="1600200"/>
            <a:ext cx="841248" cy="841248"/>
          </a:xfrm>
          <a:prstGeom prst="ellipse">
            <a:avLst/>
          </a:prstGeom>
          <a:solidFill>
            <a:srgbClr val="2E86C7"/>
          </a:solidFill>
          <a:ln/>
          <a:effectLst>
            <a:outerShdw sx="100000" sy="100000" kx="0" ky="0" algn="bl" rotWithShape="0" blurRad="76200" dist="25400" dir="5400000">
              <a:srgbClr val="17223A">
                <a:alpha val="12000"/>
              </a:srgbClr>
            </a:outerShdw>
          </a:effectLst>
        </p:spPr>
      </p:sp>
      <p:pic>
        <p:nvPicPr>
          <p:cNvPr id="16" name="Image 4" descr="/tmp/claude-0/-home-user-riesgo/0ff9ff46-1396-5bd8-b3ac-2280dfbbbc55/scratchpad/work/gen/icons/shield_check_white.png">    </p:cNvPr>
          <p:cNvPicPr>
            <a:picLocks noChangeAspect="1"/>
          </p:cNvPicPr>
          <p:nvPr/>
        </p:nvPicPr>
        <p:blipFill>
          <a:blip r:embed="rId5"/>
          <a:stretch>
            <a:fillRect/>
          </a:stretch>
        </p:blipFill>
        <p:spPr>
          <a:xfrm>
            <a:off x="5885536" y="1810512"/>
            <a:ext cx="420624" cy="420624"/>
          </a:xfrm>
          <a:prstGeom prst="rect">
            <a:avLst/>
          </a:prstGeom>
        </p:spPr>
      </p:pic>
      <p:sp>
        <p:nvSpPr>
          <p:cNvPr id="17" name="Text 9"/>
          <p:cNvSpPr txBox="1"/>
          <p:nvPr/>
        </p:nvSpPr>
        <p:spPr>
          <a:xfrm>
            <a:off x="5400904" y="2560320"/>
            <a:ext cx="1389888" cy="310896"/>
          </a:xfrm>
          <a:prstGeom prst="rect">
            <a:avLst/>
          </a:prstGeom>
          <a:noFill/>
          <a:ln/>
        </p:spPr>
        <p:txBody>
          <a:bodyPr wrap="square" lIns="0" tIns="0" rIns="0" bIns="0" rtlCol="0" anchor="ctr"/>
          <a:lstStyle/>
          <a:p>
            <a:pPr algn="ctr" indent="0" marL="0">
              <a:buNone/>
            </a:pPr>
            <a:r>
              <a:rPr lang="en-US" sz="1150" b="1" spc="50" kern="0" dirty="0">
                <a:solidFill>
                  <a:srgbClr val="133B6C"/>
                </a:solidFill>
                <a:latin typeface="Calibri" pitchFamily="34" charset="0"/>
                <a:ea typeface="Calibri" pitchFamily="34" charset="-122"/>
                <a:cs typeface="Calibri" pitchFamily="34" charset="-120"/>
              </a:rPr>
              <a:t>PREVENGO</a:t>
            </a:r>
            <a:endParaRPr lang="en-US" sz="1150" dirty="0"/>
          </a:p>
        </p:txBody>
      </p:sp>
      <p:pic>
        <p:nvPicPr>
          <p:cNvPr id="18" name="Image 5" descr="/tmp/claude-0/-home-user-riesgo/0ff9ff46-1396-5bd8-b3ac-2280dfbbbc55/scratchpad/work/gen/icons/arrow_right_gray.png">    </p:cNvPr>
          <p:cNvPicPr>
            <a:picLocks noChangeAspect="1"/>
          </p:cNvPicPr>
          <p:nvPr/>
        </p:nvPicPr>
        <p:blipFill>
          <a:blip r:embed="rId6"/>
          <a:stretch>
            <a:fillRect/>
          </a:stretch>
        </p:blipFill>
        <p:spPr>
          <a:xfrm>
            <a:off x="6543904" y="1911096"/>
            <a:ext cx="219456" cy="219456"/>
          </a:xfrm>
          <a:prstGeom prst="rect">
            <a:avLst/>
          </a:prstGeom>
        </p:spPr>
      </p:pic>
      <p:sp>
        <p:nvSpPr>
          <p:cNvPr id="19" name="Shape 10"/>
          <p:cNvSpPr/>
          <p:nvPr/>
        </p:nvSpPr>
        <p:spPr>
          <a:xfrm>
            <a:off x="6790792" y="1600200"/>
            <a:ext cx="841248" cy="841248"/>
          </a:xfrm>
          <a:prstGeom prst="ellipse">
            <a:avLst/>
          </a:prstGeom>
          <a:solidFill>
            <a:srgbClr val="2E86C7"/>
          </a:solidFill>
          <a:ln/>
          <a:effectLst>
            <a:outerShdw sx="100000" sy="100000" kx="0" ky="0" algn="bl" rotWithShape="0" blurRad="76200" dist="25400" dir="5400000">
              <a:srgbClr val="17223A">
                <a:alpha val="12000"/>
              </a:srgbClr>
            </a:outerShdw>
          </a:effectLst>
        </p:spPr>
      </p:sp>
      <p:pic>
        <p:nvPicPr>
          <p:cNvPr id="20" name="Image 6" descr="/tmp/claude-0/-home-user-riesgo/0ff9ff46-1396-5bd8-b3ac-2280dfbbbc55/scratchpad/work/gen/icons/lightbulb_white.png">    </p:cNvPr>
          <p:cNvPicPr>
            <a:picLocks noChangeAspect="1"/>
          </p:cNvPicPr>
          <p:nvPr/>
        </p:nvPicPr>
        <p:blipFill>
          <a:blip r:embed="rId7"/>
          <a:stretch>
            <a:fillRect/>
          </a:stretch>
        </p:blipFill>
        <p:spPr>
          <a:xfrm>
            <a:off x="7001104" y="1810512"/>
            <a:ext cx="420624" cy="420624"/>
          </a:xfrm>
          <a:prstGeom prst="rect">
            <a:avLst/>
          </a:prstGeom>
        </p:spPr>
      </p:pic>
      <p:sp>
        <p:nvSpPr>
          <p:cNvPr id="21" name="Text 11"/>
          <p:cNvSpPr txBox="1"/>
          <p:nvPr/>
        </p:nvSpPr>
        <p:spPr>
          <a:xfrm>
            <a:off x="6516472" y="2560320"/>
            <a:ext cx="1389888" cy="310896"/>
          </a:xfrm>
          <a:prstGeom prst="rect">
            <a:avLst/>
          </a:prstGeom>
          <a:noFill/>
          <a:ln/>
        </p:spPr>
        <p:txBody>
          <a:bodyPr wrap="square" lIns="0" tIns="0" rIns="0" bIns="0" rtlCol="0" anchor="ctr"/>
          <a:lstStyle/>
          <a:p>
            <a:pPr algn="ctr" indent="0" marL="0">
              <a:buNone/>
            </a:pPr>
            <a:r>
              <a:rPr lang="en-US" sz="1150" b="1" spc="50" kern="0" dirty="0">
                <a:solidFill>
                  <a:srgbClr val="133B6C"/>
                </a:solidFill>
                <a:latin typeface="Calibri" pitchFamily="34" charset="0"/>
                <a:ea typeface="Calibri" pitchFamily="34" charset="-122"/>
                <a:cs typeface="Calibri" pitchFamily="34" charset="-120"/>
              </a:rPr>
              <a:t>ACTÚO</a:t>
            </a:r>
            <a:endParaRPr lang="en-US" sz="1150" dirty="0"/>
          </a:p>
        </p:txBody>
      </p:sp>
      <p:pic>
        <p:nvPicPr>
          <p:cNvPr id="22" name="Image 7" descr="/tmp/claude-0/-home-user-riesgo/0ff9ff46-1396-5bd8-b3ac-2280dfbbbc55/scratchpad/work/gen/icons/arrow_right_gray.png">    </p:cNvPr>
          <p:cNvPicPr>
            <a:picLocks noChangeAspect="1"/>
          </p:cNvPicPr>
          <p:nvPr/>
        </p:nvPicPr>
        <p:blipFill>
          <a:blip r:embed="rId8"/>
          <a:stretch>
            <a:fillRect/>
          </a:stretch>
        </p:blipFill>
        <p:spPr>
          <a:xfrm>
            <a:off x="7659472" y="1911096"/>
            <a:ext cx="219456" cy="219456"/>
          </a:xfrm>
          <a:prstGeom prst="rect">
            <a:avLst/>
          </a:prstGeom>
        </p:spPr>
      </p:pic>
      <p:sp>
        <p:nvSpPr>
          <p:cNvPr id="23" name="Shape 12"/>
          <p:cNvSpPr/>
          <p:nvPr/>
        </p:nvSpPr>
        <p:spPr>
          <a:xfrm>
            <a:off x="7906360" y="1600200"/>
            <a:ext cx="841248" cy="841248"/>
          </a:xfrm>
          <a:prstGeom prst="ellipse">
            <a:avLst/>
          </a:prstGeom>
          <a:solidFill>
            <a:srgbClr val="2E86C7"/>
          </a:solidFill>
          <a:ln/>
          <a:effectLst>
            <a:outerShdw sx="100000" sy="100000" kx="0" ky="0" algn="bl" rotWithShape="0" blurRad="76200" dist="25400" dir="5400000">
              <a:srgbClr val="17223A">
                <a:alpha val="12000"/>
              </a:srgbClr>
            </a:outerShdw>
          </a:effectLst>
        </p:spPr>
      </p:sp>
      <p:pic>
        <p:nvPicPr>
          <p:cNvPr id="24" name="Image 8" descr="/tmp/claude-0/-home-user-riesgo/0ff9ff46-1396-5bd8-b3ac-2280dfbbbc55/scratchpad/work/gen/icons/megaphone_white.png">    </p:cNvPr>
          <p:cNvPicPr>
            <a:picLocks noChangeAspect="1"/>
          </p:cNvPicPr>
          <p:nvPr/>
        </p:nvPicPr>
        <p:blipFill>
          <a:blip r:embed="rId9"/>
          <a:stretch>
            <a:fillRect/>
          </a:stretch>
        </p:blipFill>
        <p:spPr>
          <a:xfrm>
            <a:off x="8116672" y="1810512"/>
            <a:ext cx="420624" cy="420624"/>
          </a:xfrm>
          <a:prstGeom prst="rect">
            <a:avLst/>
          </a:prstGeom>
        </p:spPr>
      </p:pic>
      <p:sp>
        <p:nvSpPr>
          <p:cNvPr id="25" name="Text 13"/>
          <p:cNvSpPr txBox="1"/>
          <p:nvPr/>
        </p:nvSpPr>
        <p:spPr>
          <a:xfrm>
            <a:off x="7632040" y="2560320"/>
            <a:ext cx="1389888" cy="310896"/>
          </a:xfrm>
          <a:prstGeom prst="rect">
            <a:avLst/>
          </a:prstGeom>
          <a:noFill/>
          <a:ln/>
        </p:spPr>
        <p:txBody>
          <a:bodyPr wrap="square" lIns="0" tIns="0" rIns="0" bIns="0" rtlCol="0" anchor="ctr"/>
          <a:lstStyle/>
          <a:p>
            <a:pPr algn="ctr" indent="0" marL="0">
              <a:buNone/>
            </a:pPr>
            <a:r>
              <a:rPr lang="en-US" sz="1150" b="1" spc="50" kern="0" dirty="0">
                <a:solidFill>
                  <a:srgbClr val="133B6C"/>
                </a:solidFill>
                <a:latin typeface="Calibri" pitchFamily="34" charset="0"/>
                <a:ea typeface="Calibri" pitchFamily="34" charset="-122"/>
                <a:cs typeface="Calibri" pitchFamily="34" charset="-120"/>
              </a:rPr>
              <a:t>REPORTO</a:t>
            </a:r>
            <a:endParaRPr lang="en-US" sz="1150" dirty="0"/>
          </a:p>
        </p:txBody>
      </p:sp>
      <p:sp>
        <p:nvSpPr>
          <p:cNvPr id="26" name="Text 14"/>
          <p:cNvSpPr txBox="1"/>
          <p:nvPr/>
        </p:nvSpPr>
        <p:spPr>
          <a:xfrm>
            <a:off x="640080" y="3054096"/>
            <a:ext cx="10972800" cy="329184"/>
          </a:xfrm>
          <a:prstGeom prst="rect">
            <a:avLst/>
          </a:prstGeom>
          <a:noFill/>
          <a:ln/>
        </p:spPr>
        <p:txBody>
          <a:bodyPr wrap="square" lIns="0" tIns="0" rIns="0" bIns="0" rtlCol="0" anchor="ctr"/>
          <a:lstStyle/>
          <a:p>
            <a:pPr algn="ctr" indent="0" marL="0">
              <a:buNone/>
            </a:pPr>
            <a:r>
              <a:rPr lang="en-US" sz="1600" b="1" spc="100" kern="0" dirty="0">
                <a:solidFill>
                  <a:srgbClr val="2E86C7"/>
                </a:solidFill>
                <a:latin typeface="Calibri" pitchFamily="34" charset="0"/>
                <a:ea typeface="Calibri" pitchFamily="34" charset="-122"/>
                <a:cs typeface="Calibri" pitchFamily="34" charset="-120"/>
              </a:rPr>
              <a:t>¿VES UN RIESGO?  ¡REPÓRTALO!</a:t>
            </a:r>
            <a:endParaRPr lang="en-US" sz="1600" dirty="0"/>
          </a:p>
        </p:txBody>
      </p:sp>
      <p:sp>
        <p:nvSpPr>
          <p:cNvPr id="27" name="Text 15"/>
          <p:cNvSpPr txBox="1"/>
          <p:nvPr/>
        </p:nvSpPr>
        <p:spPr>
          <a:xfrm>
            <a:off x="5638648" y="3456432"/>
            <a:ext cx="914400" cy="502920"/>
          </a:xfrm>
          <a:prstGeom prst="rect">
            <a:avLst/>
          </a:prstGeom>
          <a:noFill/>
          <a:ln/>
        </p:spPr>
        <p:txBody>
          <a:bodyPr wrap="square" lIns="0" tIns="0" rIns="0" bIns="0" rtlCol="0" anchor="ctr"/>
          <a:lstStyle/>
          <a:p>
            <a:pPr algn="ctr" indent="0" marL="0">
              <a:buNone/>
            </a:pPr>
            <a:r>
              <a:rPr lang="en-US" sz="4600" b="1" dirty="0">
                <a:solidFill>
                  <a:srgbClr val="E3E8EF"/>
                </a:solidFill>
                <a:latin typeface="Cambria" pitchFamily="34" charset="0"/>
                <a:ea typeface="Cambria" pitchFamily="34" charset="-122"/>
                <a:cs typeface="Cambria" pitchFamily="34" charset="-120"/>
              </a:rPr>
              <a:t>“</a:t>
            </a:r>
            <a:endParaRPr lang="en-US" sz="4600" dirty="0"/>
          </a:p>
        </p:txBody>
      </p:sp>
      <p:sp>
        <p:nvSpPr>
          <p:cNvPr id="28" name="Text 16"/>
          <p:cNvSpPr txBox="1"/>
          <p:nvPr/>
        </p:nvSpPr>
        <p:spPr>
          <a:xfrm>
            <a:off x="914400" y="3950208"/>
            <a:ext cx="10360152" cy="914400"/>
          </a:xfrm>
          <a:prstGeom prst="rect">
            <a:avLst/>
          </a:prstGeom>
          <a:noFill/>
          <a:ln/>
        </p:spPr>
        <p:txBody>
          <a:bodyPr wrap="square" lIns="0" tIns="0" rIns="0" bIns="0" rtlCol="0" anchor="ctr"/>
          <a:lstStyle/>
          <a:p>
            <a:pPr algn="ctr" indent="0" marL="0">
              <a:lnSpc>
                <a:spcPct val="118000"/>
              </a:lnSpc>
              <a:buNone/>
            </a:pPr>
            <a:r>
              <a:rPr lang="en-US" sz="2200" b="1" dirty="0">
                <a:solidFill>
                  <a:srgbClr val="133B6C"/>
                </a:solidFill>
                <a:latin typeface="Cambria" pitchFamily="34" charset="0"/>
                <a:ea typeface="Cambria" pitchFamily="34" charset="-122"/>
                <a:cs typeface="Cambria" pitchFamily="34" charset="-120"/>
              </a:rPr>
              <a:t>Un riesgo que reportamos a tiempo</a:t>
            </a:r>
            <a:endParaRPr lang="en-US" sz="2200" dirty="0"/>
          </a:p>
          <a:p>
            <a:pPr algn="ctr" indent="0" marL="0">
              <a:lnSpc>
                <a:spcPct val="118000"/>
              </a:lnSpc>
              <a:buNone/>
            </a:pPr>
            <a:r>
              <a:rPr lang="en-US" sz="2200" b="1" dirty="0">
                <a:solidFill>
                  <a:srgbClr val="133B6C"/>
                </a:solidFill>
                <a:latin typeface="Cambria" pitchFamily="34" charset="0"/>
                <a:ea typeface="Cambria" pitchFamily="34" charset="-122"/>
                <a:cs typeface="Cambria" pitchFamily="34" charset="-120"/>
              </a:rPr>
              <a:t>puede evitar un problema mañana.</a:t>
            </a:r>
            <a:endParaRPr lang="en-US" sz="2200" dirty="0"/>
          </a:p>
        </p:txBody>
      </p:sp>
      <p:sp>
        <p:nvSpPr>
          <p:cNvPr id="29" name="Text 17"/>
          <p:cNvSpPr txBox="1"/>
          <p:nvPr/>
        </p:nvSpPr>
        <p:spPr>
          <a:xfrm>
            <a:off x="1463040" y="4956048"/>
            <a:ext cx="9262872" cy="347472"/>
          </a:xfrm>
          <a:prstGeom prst="rect">
            <a:avLst/>
          </a:prstGeom>
          <a:noFill/>
          <a:ln/>
        </p:spPr>
        <p:txBody>
          <a:bodyPr wrap="square" lIns="0" tIns="0" rIns="0" bIns="0" rtlCol="0" anchor="ctr"/>
          <a:lstStyle/>
          <a:p>
            <a:pPr algn="ctr" indent="0" marL="0">
              <a:buNone/>
            </a:pPr>
            <a:r>
              <a:rPr lang="en-US" sz="1300" i="1" dirty="0">
                <a:solidFill>
                  <a:srgbClr val="5B6B82"/>
                </a:solidFill>
                <a:latin typeface="Calibri" pitchFamily="34" charset="0"/>
                <a:ea typeface="Calibri" pitchFamily="34" charset="-122"/>
                <a:cs typeface="Calibri" pitchFamily="34" charset="-120"/>
              </a:rPr>
              <a:t>Gracias por hacer de la gestión de riesgos parte de tu trabajo diario.</a:t>
            </a:r>
            <a:endParaRPr lang="en-US" sz="1300" dirty="0"/>
          </a:p>
        </p:txBody>
      </p:sp>
      <p:pic>
        <p:nvPicPr>
          <p:cNvPr id="30" name="Image 9" descr="/tmp/claude-0/-home-user-riesgo/0ff9ff46-1396-5bd8-b3ac-2280dfbbbc55/scratchpad/work/gen/logo_navy.png">    </p:cNvPr>
          <p:cNvPicPr>
            <a:picLocks noChangeAspect="1"/>
          </p:cNvPicPr>
          <p:nvPr/>
        </p:nvPicPr>
        <p:blipFill>
          <a:blip r:embed="rId10"/>
          <a:stretch>
            <a:fillRect/>
          </a:stretch>
        </p:blipFill>
        <p:spPr>
          <a:xfrm>
            <a:off x="5318608" y="5440680"/>
            <a:ext cx="1554480" cy="436809"/>
          </a:xfrm>
          <a:prstGeom prst="rect">
            <a:avLst/>
          </a:prstGeom>
        </p:spPr>
      </p:pic>
      <p:sp>
        <p:nvSpPr>
          <p:cNvPr id="31" name="Text 18"/>
          <p:cNvSpPr txBox="1"/>
          <p:nvPr/>
        </p:nvSpPr>
        <p:spPr>
          <a:xfrm>
            <a:off x="914400" y="6035040"/>
            <a:ext cx="10360152" cy="27432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Departamento de Administración de Riesgos  ·  Capacitación anual 2025</a:t>
            </a:r>
            <a:endParaRPr lang="en-US" sz="1050" dirty="0"/>
          </a:p>
        </p:txBody>
      </p:sp>
      <p:sp>
        <p:nvSpPr>
          <p:cNvPr id="32" name="Text 19"/>
          <p:cNvSpPr txBox="1"/>
          <p:nvPr/>
        </p:nvSpPr>
        <p:spPr>
          <a:xfrm>
            <a:off x="566928" y="6473952"/>
            <a:ext cx="7315200" cy="274320"/>
          </a:xfrm>
          <a:prstGeom prst="rect">
            <a:avLst/>
          </a:prstGeom>
          <a:noFill/>
          <a:ln/>
        </p:spPr>
        <p:txBody>
          <a:bodyPr wrap="square" lIns="0" tIns="0" rIns="0" bIns="0" rtlCol="0" anchor="ctr"/>
          <a:lstStyle/>
          <a:p>
            <a:pPr algn="l" indent="0" marL="0">
              <a:buNone/>
            </a:pPr>
            <a:r>
              <a:rPr lang="en-US" sz="900" dirty="0">
                <a:solidFill>
                  <a:srgbClr val="5B6B82"/>
                </a:solidFill>
                <a:latin typeface="Calibri" pitchFamily="34" charset="0"/>
                <a:ea typeface="Calibri" pitchFamily="34" charset="-122"/>
                <a:cs typeface="Calibri" pitchFamily="34" charset="-120"/>
              </a:rPr>
              <a:t>GESTIÓN INTEGRAL DE RIESGOS  ·  COMEDICA DE R.L.</a:t>
            </a:r>
            <a:endParaRPr lang="en-US" sz="900" dirty="0"/>
          </a:p>
        </p:txBody>
      </p:sp>
      <p:sp>
        <p:nvSpPr>
          <p:cNvPr id="33" name="Text 20"/>
          <p:cNvSpPr txBox="1"/>
          <p:nvPr/>
        </p:nvSpPr>
        <p:spPr>
          <a:xfrm>
            <a:off x="11076127" y="6473952"/>
            <a:ext cx="54864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30</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COMEDICA DE R.L.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Integral de Riesgos — Capacitación 2025</dc:title>
  <dc:subject>Todos somos gestores de riesgos</dc:subject>
  <dc:creator>Departamento de Administración de Riesgos</dc:creator>
  <cp:lastModifiedBy>Departamento de Administración de Riesgos</cp:lastModifiedBy>
  <cp:revision>1</cp:revision>
  <dcterms:created xsi:type="dcterms:W3CDTF">2026-09-29T16:42:30Z</dcterms:created>
  <dcterms:modified xsi:type="dcterms:W3CDTF">2026-09-29T16:42:30Z</dcterms:modified>
</cp:coreProperties>
</file>