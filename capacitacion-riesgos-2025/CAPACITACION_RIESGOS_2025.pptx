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y una gran actividad final,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sin importar su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 verbo por verbo y pide un ejemplo concreto de cada uno aplicado al puesto de alguien en la sala (no tiene que ser de Administración de Riesgos). El objetivo es que el grupo vea que estas seis acciones ya las puede aplicar hoy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que el mensaje respire unos segundos en silencio antes de continuar. Es el cierre emocional del Tema 1 — no lo expliques de más, solo pausa y avanza.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Aclara que reportar no es "delatar", es proteger a la Cooperativa y a los asociados.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cada paso con un ejemplo breve y cotidiano. Enfatiza que los cuatro pasos ocurren en segundos: ver algo, reconocerlo como riesgo, actuar de inmediato y avisar. Ninguno se puede saltar.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situación en voz alta y da un minuto para que el grupo vote por A, B o C (a mano alzada) antes de avanzar a la respuesta. No reveles todavía cuál es la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Revela la respuesta y compárala con la votación del grupo.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Todos en la sala conviven con él a diario, aunque no lo llamen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un ejemplo real de cada categoría, vivido por alguien del grupo o de la Cooperativa. No hace falta profundizar mucho en cada una: el objetivo es que reconozcan las cuatro fuentes, no memorizarlas.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que los pequeños descuidos diarios son el origen más común del riesgo operativo.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no como un tema exclusivo de comunicaciones o gerencia.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los 8 elementos y pregunta al grupo cuál consideran más vulnerable en su área de trabajo. No es necesario detenerte por igual en los 8; prioriza los que generen más discusión.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la frase en pantalla unos segundos antes de pasar al caso; es el punto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caso y pide una votación rápida (A, B o C) antes de revelar la respuesta. Pregunta si alguien ha vivido una situación similar con un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por qué ignorar o responder a título personal agrava el problema. Cierra conectando con la idea de canalizar los casos por los canales adecuados de la Cooperativa, sin dar detalles de un procedimiento específico si no está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Aclara desde ya que ambos deben reportarse, aunque el trasfondo sea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la diferencia clave es la intención. Aclara que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pasar a la diapositiva de respuestas. No confirmes ni corrijas todavía.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cada respuesta comparándola con la votación del grupo y explica brevemente el razonamiento (¿hubo intención de obtener un beneficio u ocultar algo, o fue una equivocación?).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ejemplos adicionales de señales de alerta que el grupo haya visto u oído (sin señalar a nadie en específico). Cierra el tema reforzando: documentar y reportar siempre, encubrir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El mensaje es que todos los que tocan el proceso —aunque sea en un solo paso— influyen en el riesgo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brevemente las 8 etapas. Pregunta al grupo en qué etapa creen que ellos mismos participan o influyen, aunque no trabajen directamente en Créditos (por ejemplo, verificando datos o atendiendo al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 que la respuesta impacte antes de explicarla. Es el mensaje central del tema: no hay una sola etapa "responsable" del riesgo crediticio.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el tema reforzando los tres pilares: corresponsabilidad, prevención y calidad del proceso.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El mensaje debe quedar corto y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cada rol alrededor de "TODOS" con una frase corta sobre su función. No te extiendas demasiado en ninguno: el punto es que el grupo se vea reflejado en el centro del diagrama.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último tema con la sostenibilidad de la Cooperativa a largo plazo: lo ambiental y lo social no son temas aparte de las finanzas, son parte de la misma cadena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si alguien en el grupo ha vivido una interrupción operativa por alguno de estos eventos. Cierra el bloque de los 8 temas: lo que sigue son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Si el tiempo lo permite, divide al grupo en equipos pequeños para discutir cada caso antes de revisar la respuesta en plenaria.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2-3 minutos para que el grupo (o equipos pequeños) discuta las 4 preguntas antes de pasar a la respuesta. No reveles todavía la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 la respuesta con lo que discutió el grupo.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Repite la dinámica: da tiempo de discusión en equipos antes de revelar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esta respuesta con el Tema 4 (reputación) visto anteriormente.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sección de casos integradores. Pregunta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Genera energía y expectativa antes de iniciar el cronómetro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Es el resumen de toda la capacitación en cinco palabras.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2.png"/><Relationship Id="rId5" Type="http://schemas.openxmlformats.org/officeDocument/2006/relationships/image" Target="../media/image-9-5.png"/><Relationship Id="rId6" Type="http://schemas.openxmlformats.org/officeDocument/2006/relationships/image" Target="../media/image-9-2.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2.png"/><Relationship Id="rId5" Type="http://schemas.openxmlformats.org/officeDocument/2006/relationships/image" Target="../media/image-26-5.png"/><Relationship Id="rId6" Type="http://schemas.openxmlformats.org/officeDocument/2006/relationships/image" Target="../media/image-26-2.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2.png"/><Relationship Id="rId11" Type="http://schemas.openxmlformats.org/officeDocument/2006/relationships/image" Target="../media/image-26-11.png"/><Relationship Id="rId12" Type="http://schemas.openxmlformats.org/officeDocument/2006/relationships/image" Target="../media/image-26-2.png"/><Relationship Id="rId13" Type="http://schemas.openxmlformats.org/officeDocument/2006/relationships/image" Target="../media/image-26-13.png"/><Relationship Id="rId14" Type="http://schemas.openxmlformats.org/officeDocument/2006/relationships/image" Target="../media/image-26-2.png"/><Relationship Id="rId15" Type="http://schemas.openxmlformats.org/officeDocument/2006/relationships/image" Target="../media/image-26-15.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2.png"/><Relationship Id="rId5" Type="http://schemas.openxmlformats.org/officeDocument/2006/relationships/image" Target="../media/image-32-5.png"/><Relationship Id="rId6" Type="http://schemas.openxmlformats.org/officeDocument/2006/relationships/image" Target="../media/image-32-2.png"/><Relationship Id="rId7" Type="http://schemas.openxmlformats.org/officeDocument/2006/relationships/image" Target="../media/image-32-7.png"/><Relationship Id="rId8" Type="http://schemas.openxmlformats.org/officeDocument/2006/relationships/image" Target="../media/image-32-2.png"/><Relationship Id="rId9" Type="http://schemas.openxmlformats.org/officeDocument/2006/relationships/image" Target="../media/image-32-9.png"/><Relationship Id="rId10" Type="http://schemas.openxmlformats.org/officeDocument/2006/relationships/slideLayout" Target="../slideLayouts/slideLayout1.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2.png"/><Relationship Id="rId4" Type="http://schemas.openxmlformats.org/officeDocument/2006/relationships/image" Target="../media/image-35-2.png"/><Relationship Id="rId5" Type="http://schemas.openxmlformats.org/officeDocument/2006/relationships/image" Target="../media/image-35-2.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2.png"/><Relationship Id="rId4" Type="http://schemas.openxmlformats.org/officeDocument/2006/relationships/image" Target="../media/image-37-2.png"/><Relationship Id="rId5" Type="http://schemas.openxmlformats.org/officeDocument/2006/relationships/image" Target="../media/image-37-2.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2.png"/><Relationship Id="rId4" Type="http://schemas.openxmlformats.org/officeDocument/2006/relationships/image" Target="../media/image-39-2.png"/><Relationship Id="rId5" Type="http://schemas.openxmlformats.org/officeDocument/2006/relationships/image" Target="../media/image-39-2.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2.png"/><Relationship Id="rId4" Type="http://schemas.openxmlformats.org/officeDocument/2006/relationships/image" Target="../media/image-41-2.png"/><Relationship Id="rId5" Type="http://schemas.openxmlformats.org/officeDocument/2006/relationships/image" Target="../media/image-41-2.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slideLayout" Target="../slideLayouts/slideLayout1.xml"/><Relationship Id="rId11"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image" Target="../media/image-45-8.png"/><Relationship Id="rId9" Type="http://schemas.openxmlformats.org/officeDocument/2006/relationships/image" Target="../media/image-45-9.png"/><Relationship Id="rId10" Type="http://schemas.openxmlformats.org/officeDocument/2006/relationships/slideLayout" Target="../slideLayouts/slideLayout1.xml"/><Relationship Id="rId11"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2.png"/><Relationship Id="rId5" Type="http://schemas.openxmlformats.org/officeDocument/2006/relationships/image" Target="../media/image-46-5.png"/><Relationship Id="rId6" Type="http://schemas.openxmlformats.org/officeDocument/2006/relationships/image" Target="../media/image-46-2.png"/><Relationship Id="rId7" Type="http://schemas.openxmlformats.org/officeDocument/2006/relationships/image" Target="../media/image-46-7.png"/><Relationship Id="rId8" Type="http://schemas.openxmlformats.org/officeDocument/2006/relationships/image" Target="../media/image-46-2.png"/><Relationship Id="rId9" Type="http://schemas.openxmlformats.org/officeDocument/2006/relationships/image" Target="../media/image-46-9.png"/><Relationship Id="rId10" Type="http://schemas.openxmlformats.org/officeDocument/2006/relationships/image" Target="../media/image-46-10.png"/><Relationship Id="rId11" Type="http://schemas.openxmlformats.org/officeDocument/2006/relationships/slideLayout" Target="../slideLayouts/slideLayout1.xml"/><Relationship Id="rId1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8778240" y="-2377440"/>
            <a:ext cx="6858000" cy="6858000"/>
          </a:xfrm>
          <a:prstGeom prst="ellipse">
            <a:avLst/>
          </a:prstGeom>
          <a:solidFill>
            <a:srgbClr val="0D2847"/>
          </a:solidFill>
          <a:ln/>
        </p:spPr>
      </p:sp>
      <p:sp>
        <p:nvSpPr>
          <p:cNvPr id="4" name="Shape 1"/>
          <p:cNvSpPr/>
          <p:nvPr/>
        </p:nvSpPr>
        <p:spPr>
          <a:xfrm>
            <a:off x="10607040" y="-822960"/>
            <a:ext cx="3291840" cy="3291840"/>
          </a:xfrm>
          <a:prstGeom prst="ellipse">
            <a:avLst/>
          </a:prstGeom>
          <a:solidFill>
            <a:srgbClr val="F0AD35"/>
          </a:solidFill>
          <a:ln/>
        </p:spPr>
      </p:sp>
      <p:sp>
        <p:nvSpPr>
          <p:cNvPr id="5" name="Text 2"/>
          <p:cNvSpPr txBox="1"/>
          <p:nvPr/>
        </p:nvSpPr>
        <p:spPr>
          <a:xfrm>
            <a:off x="868680" y="1417320"/>
            <a:ext cx="7315200" cy="365760"/>
          </a:xfrm>
          <a:prstGeom prst="rect">
            <a:avLst/>
          </a:prstGeom>
          <a:noFill/>
          <a:ln/>
        </p:spPr>
        <p:txBody>
          <a:bodyPr wrap="square" lIns="0" tIns="0" rIns="0" bIns="0" rtlCol="0" anchor="ctr"/>
          <a:lstStyle/>
          <a:p>
            <a:pPr indent="0" marL="0">
              <a:buNone/>
            </a:pPr>
            <a:r>
              <a:rPr lang="en-US" sz="1500" b="1" spc="300" kern="0" dirty="0">
                <a:solidFill>
                  <a:srgbClr val="F0AD35"/>
                </a:solidFill>
                <a:latin typeface="Calibri" pitchFamily="34" charset="0"/>
                <a:ea typeface="Calibri" pitchFamily="34" charset="-122"/>
                <a:cs typeface="Calibri" pitchFamily="34" charset="-120"/>
              </a:rPr>
              <a:t>CAPACITACIÓN ANUAL 2025</a:t>
            </a:r>
            <a:endParaRPr lang="en-US" sz="1500" dirty="0"/>
          </a:p>
        </p:txBody>
      </p:sp>
      <p:sp>
        <p:nvSpPr>
          <p:cNvPr id="6" name="Text 3"/>
          <p:cNvSpPr txBox="1"/>
          <p:nvPr/>
        </p:nvSpPr>
        <p:spPr>
          <a:xfrm>
            <a:off x="822960" y="187452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FFFFFF"/>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FFFFFF"/>
                </a:solidFill>
                <a:latin typeface="Cambria" pitchFamily="34" charset="0"/>
                <a:ea typeface="Cambria" pitchFamily="34" charset="-122"/>
                <a:cs typeface="Cambria" pitchFamily="34" charset="-120"/>
              </a:rPr>
              <a:t>DE RIESGOS</a:t>
            </a:r>
            <a:endParaRPr lang="en-US" sz="4600" dirty="0"/>
          </a:p>
        </p:txBody>
      </p:sp>
      <p:sp>
        <p:nvSpPr>
          <p:cNvPr id="7" name="Text 4"/>
          <p:cNvSpPr txBox="1"/>
          <p:nvPr/>
        </p:nvSpPr>
        <p:spPr>
          <a:xfrm>
            <a:off x="868680" y="3794760"/>
            <a:ext cx="7680960" cy="502920"/>
          </a:xfrm>
          <a:prstGeom prst="rect">
            <a:avLst/>
          </a:prstGeom>
          <a:noFill/>
          <a:ln/>
        </p:spPr>
        <p:txBody>
          <a:bodyPr wrap="square" lIns="0" tIns="0" rIns="0" bIns="0" rtlCol="0" anchor="ctr"/>
          <a:lstStyle/>
          <a:p>
            <a:pPr indent="0" marL="0">
              <a:buNone/>
            </a:pPr>
            <a:r>
              <a:rPr lang="en-US" sz="1900" b="1" spc="150" kern="0" dirty="0">
                <a:solidFill>
                  <a:srgbClr val="FFFFFF"/>
                </a:solidFill>
                <a:latin typeface="Calibri" pitchFamily="34" charset="0"/>
                <a:ea typeface="Calibri" pitchFamily="34" charset="-122"/>
                <a:cs typeface="Calibri" pitchFamily="34" charset="-120"/>
              </a:rPr>
              <a:t>TODOS SOMOS GESTORES DE RIESGOS</a:t>
            </a:r>
            <a:endParaRPr lang="en-US" sz="1900" dirty="0"/>
          </a:p>
        </p:txBody>
      </p:sp>
      <p:sp>
        <p:nvSpPr>
          <p:cNvPr id="8" name="Text 5"/>
          <p:cNvSpPr txBox="1"/>
          <p:nvPr/>
        </p:nvSpPr>
        <p:spPr>
          <a:xfrm>
            <a:off x="868680" y="4617720"/>
            <a:ext cx="6400800" cy="320040"/>
          </a:xfrm>
          <a:prstGeom prst="rect">
            <a:avLst/>
          </a:prstGeom>
          <a:noFill/>
          <a:ln/>
        </p:spPr>
        <p:txBody>
          <a:bodyPr wrap="square" lIns="0" tIns="0" rIns="0" bIns="0" rtlCol="0" anchor="ctr"/>
          <a:lstStyle/>
          <a:p>
            <a:pPr indent="0" marL="0">
              <a:buNone/>
            </a:pPr>
            <a:r>
              <a:rPr lang="en-US" sz="1300" dirty="0">
                <a:solidFill>
                  <a:srgbClr val="C7D3E5"/>
                </a:solidFill>
                <a:latin typeface="Calibri" pitchFamily="34" charset="0"/>
                <a:ea typeface="Calibri" pitchFamily="34" charset="-122"/>
                <a:cs typeface="Calibri" pitchFamily="34" charset="-120"/>
              </a:rPr>
              <a:t>Departamento de Administración de Riesgos</a:t>
            </a:r>
            <a:endParaRPr lang="en-US" sz="1300" dirty="0"/>
          </a:p>
        </p:txBody>
      </p:sp>
      <p:sp>
        <p:nvSpPr>
          <p:cNvPr id="9" name="Text 6"/>
          <p:cNvSpPr txBox="1"/>
          <p:nvPr/>
        </p:nvSpPr>
        <p:spPr>
          <a:xfrm>
            <a:off x="868680" y="4937760"/>
            <a:ext cx="6400800" cy="320040"/>
          </a:xfrm>
          <a:prstGeom prst="rect">
            <a:avLst/>
          </a:prstGeom>
          <a:noFill/>
          <a:ln/>
        </p:spPr>
        <p:txBody>
          <a:bodyPr wrap="square" lIns="0" tIns="0" rIns="0" bIns="0" rtlCol="0" anchor="ctr"/>
          <a:lstStyle/>
          <a:p>
            <a:pPr indent="0" marL="0">
              <a:buNone/>
            </a:pPr>
            <a:r>
              <a:rPr lang="en-US" sz="1300" i="1" dirty="0">
                <a:solidFill>
                  <a:srgbClr val="F0AD35"/>
                </a:solidFill>
                <a:latin typeface="Calibri" pitchFamily="34" charset="0"/>
                <a:ea typeface="Calibri" pitchFamily="34" charset="-122"/>
                <a:cs typeface="Calibri" pitchFamily="34" charset="-120"/>
              </a:rPr>
              <a:t>Identificar · Prevenir · Reducir</a:t>
            </a:r>
            <a:endParaRPr lang="en-US" sz="1300" dirty="0"/>
          </a:p>
        </p:txBody>
      </p:sp>
      <p:sp>
        <p:nvSpPr>
          <p:cNvPr id="10" name="Shape 7"/>
          <p:cNvSpPr/>
          <p:nvPr/>
        </p:nvSpPr>
        <p:spPr>
          <a:xfrm flipV="1">
            <a:off x="9921240" y="2468880"/>
            <a:ext cx="9144" cy="1691640"/>
          </a:xfrm>
          <a:prstGeom prst="line">
            <a:avLst/>
          </a:prstGeom>
          <a:noFill/>
          <a:ln w="12700">
            <a:solidFill>
              <a:srgbClr val="25406A"/>
            </a:solidFill>
            <a:prstDash val="solid"/>
          </a:ln>
        </p:spPr>
      </p:sp>
      <p:sp>
        <p:nvSpPr>
          <p:cNvPr id="11" name="Shape 8"/>
          <p:cNvSpPr/>
          <p:nvPr/>
        </p:nvSpPr>
        <p:spPr>
          <a:xfrm flipV="1">
            <a:off x="9921240" y="3637774"/>
            <a:ext cx="1608845" cy="522746"/>
          </a:xfrm>
          <a:prstGeom prst="line">
            <a:avLst/>
          </a:prstGeom>
          <a:noFill/>
          <a:ln w="12700">
            <a:solidFill>
              <a:srgbClr val="25406A"/>
            </a:solidFill>
            <a:prstDash val="solid"/>
          </a:ln>
        </p:spPr>
      </p:sp>
      <p:sp>
        <p:nvSpPr>
          <p:cNvPr id="12" name="Shape 9"/>
          <p:cNvSpPr/>
          <p:nvPr/>
        </p:nvSpPr>
        <p:spPr>
          <a:xfrm>
            <a:off x="9921240" y="4160520"/>
            <a:ext cx="994321" cy="1368566"/>
          </a:xfrm>
          <a:prstGeom prst="line">
            <a:avLst/>
          </a:prstGeom>
          <a:noFill/>
          <a:ln w="12700">
            <a:solidFill>
              <a:srgbClr val="25406A"/>
            </a:solidFill>
            <a:prstDash val="solid"/>
          </a:ln>
        </p:spPr>
      </p:sp>
      <p:sp>
        <p:nvSpPr>
          <p:cNvPr id="13" name="Shape 10"/>
          <p:cNvSpPr/>
          <p:nvPr/>
        </p:nvSpPr>
        <p:spPr>
          <a:xfrm flipH="1">
            <a:off x="8926919" y="4160520"/>
            <a:ext cx="994321" cy="1368566"/>
          </a:xfrm>
          <a:prstGeom prst="line">
            <a:avLst/>
          </a:prstGeom>
          <a:noFill/>
          <a:ln w="12700">
            <a:solidFill>
              <a:srgbClr val="25406A"/>
            </a:solidFill>
            <a:prstDash val="solid"/>
          </a:ln>
        </p:spPr>
      </p:sp>
      <p:sp>
        <p:nvSpPr>
          <p:cNvPr id="14" name="Shape 11"/>
          <p:cNvSpPr/>
          <p:nvPr/>
        </p:nvSpPr>
        <p:spPr>
          <a:xfrm flipH="1" flipV="1">
            <a:off x="8312395" y="3637774"/>
            <a:ext cx="1608845" cy="522746"/>
          </a:xfrm>
          <a:prstGeom prst="line">
            <a:avLst/>
          </a:prstGeom>
          <a:noFill/>
          <a:ln w="12700">
            <a:solidFill>
              <a:srgbClr val="25406A"/>
            </a:solidFill>
            <a:prstDash val="solid"/>
          </a:ln>
        </p:spPr>
      </p:sp>
      <p:sp>
        <p:nvSpPr>
          <p:cNvPr id="15" name="Shape 12"/>
          <p:cNvSpPr/>
          <p:nvPr/>
        </p:nvSpPr>
        <p:spPr>
          <a:xfrm>
            <a:off x="9537192" y="2084832"/>
            <a:ext cx="768096" cy="768096"/>
          </a:xfrm>
          <a:prstGeom prst="ellipse">
            <a:avLst/>
          </a:prstGeom>
          <a:solidFill>
            <a:srgbClr val="133B6C"/>
          </a:solidFill>
          <a:ln/>
        </p:spPr>
      </p:sp>
      <p:pic>
        <p:nvPicPr>
          <p:cNvPr id="16" name="Image 0" descr="/tmp/claude-0/-home-user-riesgo/0ff9ff46-1396-5bd8-b3ac-2280dfbbbc55/scratchpad/work/gen/icons/person_white.png">    </p:cNvPr>
          <p:cNvPicPr>
            <a:picLocks noChangeAspect="1"/>
          </p:cNvPicPr>
          <p:nvPr/>
        </p:nvPicPr>
        <p:blipFill>
          <a:blip r:embed="rId1"/>
          <a:stretch>
            <a:fillRect/>
          </a:stretch>
        </p:blipFill>
        <p:spPr>
          <a:xfrm>
            <a:off x="9721535" y="2269175"/>
            <a:ext cx="399410" cy="399410"/>
          </a:xfrm>
          <a:prstGeom prst="rect">
            <a:avLst/>
          </a:prstGeom>
        </p:spPr>
      </p:pic>
      <p:sp>
        <p:nvSpPr>
          <p:cNvPr id="17" name="Shape 13"/>
          <p:cNvSpPr/>
          <p:nvPr/>
        </p:nvSpPr>
        <p:spPr>
          <a:xfrm>
            <a:off x="11146037" y="3253726"/>
            <a:ext cx="768096" cy="768096"/>
          </a:xfrm>
          <a:prstGeom prst="ellipse">
            <a:avLst/>
          </a:prstGeom>
          <a:solidFill>
            <a:srgbClr val="133B6C"/>
          </a:solidFill>
          <a:ln/>
        </p:spPr>
      </p:sp>
      <p:pic>
        <p:nvPicPr>
          <p:cNvPr id="18" name="Image 1" descr="/tmp/claude-0/-home-user-riesgo/0ff9ff46-1396-5bd8-b3ac-2280dfbbbc55/scratchpad/work/gen/icons/briefcase_white.png">    </p:cNvPr>
          <p:cNvPicPr>
            <a:picLocks noChangeAspect="1"/>
          </p:cNvPicPr>
          <p:nvPr/>
        </p:nvPicPr>
        <p:blipFill>
          <a:blip r:embed="rId2"/>
          <a:stretch>
            <a:fillRect/>
          </a:stretch>
        </p:blipFill>
        <p:spPr>
          <a:xfrm>
            <a:off x="11330380" y="3438070"/>
            <a:ext cx="399410" cy="399410"/>
          </a:xfrm>
          <a:prstGeom prst="rect">
            <a:avLst/>
          </a:prstGeom>
        </p:spPr>
      </p:pic>
      <p:sp>
        <p:nvSpPr>
          <p:cNvPr id="19" name="Shape 14"/>
          <p:cNvSpPr/>
          <p:nvPr/>
        </p:nvSpPr>
        <p:spPr>
          <a:xfrm>
            <a:off x="10531513" y="5145038"/>
            <a:ext cx="768096" cy="768096"/>
          </a:xfrm>
          <a:prstGeom prst="ellipse">
            <a:avLst/>
          </a:prstGeom>
          <a:solidFill>
            <a:srgbClr val="133B6C"/>
          </a:solidFill>
          <a:ln/>
        </p:spPr>
      </p:sp>
      <p:pic>
        <p:nvPicPr>
          <p:cNvPr id="20" name="Image 2" descr="/tmp/claude-0/-home-user-riesgo/0ff9ff46-1396-5bd8-b3ac-2280dfbbbc55/scratchpad/work/gen/icons/handshake_white.png">    </p:cNvPr>
          <p:cNvPicPr>
            <a:picLocks noChangeAspect="1"/>
          </p:cNvPicPr>
          <p:nvPr/>
        </p:nvPicPr>
        <p:blipFill>
          <a:blip r:embed="rId3"/>
          <a:stretch>
            <a:fillRect/>
          </a:stretch>
        </p:blipFill>
        <p:spPr>
          <a:xfrm>
            <a:off x="10715856" y="5329381"/>
            <a:ext cx="399410" cy="399410"/>
          </a:xfrm>
          <a:prstGeom prst="rect">
            <a:avLst/>
          </a:prstGeom>
        </p:spPr>
      </p:pic>
      <p:sp>
        <p:nvSpPr>
          <p:cNvPr id="21" name="Shape 15"/>
          <p:cNvSpPr/>
          <p:nvPr/>
        </p:nvSpPr>
        <p:spPr>
          <a:xfrm>
            <a:off x="8542871" y="5145038"/>
            <a:ext cx="768096" cy="768096"/>
          </a:xfrm>
          <a:prstGeom prst="ellipse">
            <a:avLst/>
          </a:prstGeom>
          <a:solidFill>
            <a:srgbClr val="133B6C"/>
          </a:solidFill>
          <a:ln/>
        </p:spPr>
      </p:sp>
      <p:pic>
        <p:nvPicPr>
          <p:cNvPr id="22" name="Image 3" descr="/tmp/claude-0/-home-user-riesgo/0ff9ff46-1396-5bd8-b3ac-2280dfbbbc55/scratchpad/work/gen/icons/clipboard_check_white.png">    </p:cNvPr>
          <p:cNvPicPr>
            <a:picLocks noChangeAspect="1"/>
          </p:cNvPicPr>
          <p:nvPr/>
        </p:nvPicPr>
        <p:blipFill>
          <a:blip r:embed="rId4"/>
          <a:stretch>
            <a:fillRect/>
          </a:stretch>
        </p:blipFill>
        <p:spPr>
          <a:xfrm>
            <a:off x="8727214" y="5329381"/>
            <a:ext cx="399410" cy="399410"/>
          </a:xfrm>
          <a:prstGeom prst="rect">
            <a:avLst/>
          </a:prstGeom>
        </p:spPr>
      </p:pic>
      <p:sp>
        <p:nvSpPr>
          <p:cNvPr id="23" name="Shape 16"/>
          <p:cNvSpPr/>
          <p:nvPr/>
        </p:nvSpPr>
        <p:spPr>
          <a:xfrm>
            <a:off x="7928347" y="3253726"/>
            <a:ext cx="768096" cy="768096"/>
          </a:xfrm>
          <a:prstGeom prst="ellipse">
            <a:avLst/>
          </a:prstGeom>
          <a:solidFill>
            <a:srgbClr val="133B6C"/>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8112690" y="3438070"/>
            <a:ext cx="399410" cy="399410"/>
          </a:xfrm>
          <a:prstGeom prst="rect">
            <a:avLst/>
          </a:prstGeom>
        </p:spPr>
      </p:pic>
      <p:sp>
        <p:nvSpPr>
          <p:cNvPr id="25" name="Shape 17"/>
          <p:cNvSpPr/>
          <p:nvPr/>
        </p:nvSpPr>
        <p:spPr>
          <a:xfrm>
            <a:off x="9262872" y="3502152"/>
            <a:ext cx="1316736" cy="1316736"/>
          </a:xfrm>
          <a:prstGeom prst="ellipse">
            <a:avLst/>
          </a:prstGeom>
          <a:solidFill>
            <a:srgbClr val="F0AD35"/>
          </a:solidFill>
          <a:ln/>
        </p:spPr>
      </p:sp>
      <p:pic>
        <p:nvPicPr>
          <p:cNvPr id="26" name="Image 5" descr="/tmp/claude-0/-home-user-riesgo/0ff9ff46-1396-5bd8-b3ac-2280dfbbbc55/scratchpad/work/gen/icons/shield_check_navy.png">    </p:cNvPr>
          <p:cNvPicPr>
            <a:picLocks noChangeAspect="1"/>
          </p:cNvPicPr>
          <p:nvPr/>
        </p:nvPicPr>
        <p:blipFill>
          <a:blip r:embed="rId6"/>
          <a:stretch>
            <a:fillRect/>
          </a:stretch>
        </p:blipFill>
        <p:spPr>
          <a:xfrm>
            <a:off x="9592056" y="3831336"/>
            <a:ext cx="658368" cy="658368"/>
          </a:xfrm>
          <a:prstGeom prst="rect">
            <a:avLst/>
          </a:prstGeom>
        </p:spPr>
      </p:pic>
      <p:pic>
        <p:nvPicPr>
          <p:cNvPr id="27" name="Image 6" descr="/tmp/claude-0/-home-user-riesgo/0ff9ff46-1396-5bd8-b3ac-2280dfbbbc55/scratchpad/work/gen/logo_white.png">    </p:cNvPr>
          <p:cNvPicPr>
            <a:picLocks noChangeAspect="1"/>
          </p:cNvPicPr>
          <p:nvPr/>
        </p:nvPicPr>
        <p:blipFill>
          <a:blip r:embed="rId7"/>
          <a:stretch>
            <a:fillRect/>
          </a:stretch>
        </p:blipFill>
        <p:spPr>
          <a:xfrm>
            <a:off x="868680" y="5779008"/>
            <a:ext cx="1691640" cy="475351"/>
          </a:xfrm>
          <a:prstGeom prst="rect">
            <a:avLst/>
          </a:prstGeom>
        </p:spPr>
      </p:pic>
      <p:sp>
        <p:nvSpPr>
          <p:cNvPr id="28"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F0AD35"/>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F0AD35"/>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F0AD35"/>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E8543E"/>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E8543E"/>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0EA5A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C2185B"/>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C2185B"/>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E0392B"/>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E0392B"/>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2FAE60"/>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2FAE60"/>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129E82"/>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129E82"/>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F0AD35"/>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F0AD35"/>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F0AD35"/>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F0AD35"/>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F0AD35"/>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F0AD35"/>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F0AD35"/>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F0AD35"/>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F0AD35"/>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F0AD35"/>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ESTOS ERAN LOS RIESGOS</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7" name="Shape 4"/>
          <p:cNvSpPr/>
          <p:nvPr/>
        </p:nvSpPr>
        <p:spPr>
          <a:xfrm>
            <a:off x="704088" y="2225421"/>
            <a:ext cx="566928" cy="566928"/>
          </a:xfrm>
          <a:prstGeom prst="ellipse">
            <a:avLst/>
          </a:prstGeom>
          <a:solidFill>
            <a:srgbClr val="F0AD35"/>
          </a:solidFill>
          <a:ln/>
        </p:spPr>
      </p:sp>
      <p:pic>
        <p:nvPicPr>
          <p:cNvPr id="8" name="Image 0" descr="/tmp/claude-0/-home-user-riesgo/0ff9ff46-1396-5bd8-b3ac-2280dfbbbc55/scratchpad/work/gen/icons/document_navy.png">    </p:cNvPr>
          <p:cNvPicPr>
            <a:picLocks noChangeAspect="1"/>
          </p:cNvPicPr>
          <p:nvPr/>
        </p:nvPicPr>
        <p:blipFill>
          <a:blip r:embed="rId1"/>
          <a:stretch>
            <a:fillRect/>
          </a:stretch>
        </p:blipFill>
        <p:spPr>
          <a:xfrm>
            <a:off x="840151" y="2361484"/>
            <a:ext cx="294803" cy="294803"/>
          </a:xfrm>
          <a:prstGeom prst="rect">
            <a:avLst/>
          </a:prstGeom>
        </p:spPr>
      </p:pic>
      <p:sp>
        <p:nvSpPr>
          <p:cNvPr id="9" name="Text 5"/>
          <p:cNvSpPr txBox="1"/>
          <p:nvPr/>
        </p:nvSpPr>
        <p:spPr>
          <a:xfrm>
            <a:off x="70408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10" name="Text 6"/>
          <p:cNvSpPr txBox="1"/>
          <p:nvPr/>
        </p:nvSpPr>
        <p:spPr>
          <a:xfrm>
            <a:off x="138988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 confidencial expuesto sobre el escritorio.</a:t>
            </a:r>
            <a:endParaRPr lang="en-US" sz="1150" dirty="0"/>
          </a:p>
        </p:txBody>
      </p:sp>
      <p:sp>
        <p:nvSpPr>
          <p:cNvPr id="11" name="Shape 7"/>
          <p:cNvSpPr/>
          <p:nvPr/>
        </p:nvSpPr>
        <p:spPr>
          <a:xfrm>
            <a:off x="623300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2" name="Shape 8"/>
          <p:cNvSpPr/>
          <p:nvPr/>
        </p:nvSpPr>
        <p:spPr>
          <a:xfrm>
            <a:off x="6370168" y="2225421"/>
            <a:ext cx="566928" cy="566928"/>
          </a:xfrm>
          <a:prstGeom prst="ellipse">
            <a:avLst/>
          </a:prstGeom>
          <a:solidFill>
            <a:srgbClr val="F0AD35"/>
          </a:solidFill>
          <a:ln/>
        </p:spPr>
      </p:sp>
      <p:pic>
        <p:nvPicPr>
          <p:cNvPr id="13" name="Image 1" descr="/tmp/claude-0/-home-user-riesgo/0ff9ff46-1396-5bd8-b3ac-2280dfbbbc55/scratchpad/work/gen/icons/cable_navy.png">    </p:cNvPr>
          <p:cNvPicPr>
            <a:picLocks noChangeAspect="1"/>
          </p:cNvPicPr>
          <p:nvPr/>
        </p:nvPicPr>
        <p:blipFill>
          <a:blip r:embed="rId2"/>
          <a:stretch>
            <a:fillRect/>
          </a:stretch>
        </p:blipFill>
        <p:spPr>
          <a:xfrm>
            <a:off x="6506230" y="2361484"/>
            <a:ext cx="294803" cy="294803"/>
          </a:xfrm>
          <a:prstGeom prst="rect">
            <a:avLst/>
          </a:prstGeom>
        </p:spPr>
      </p:pic>
      <p:sp>
        <p:nvSpPr>
          <p:cNvPr id="14" name="Text 9"/>
          <p:cNvSpPr txBox="1"/>
          <p:nvPr/>
        </p:nvSpPr>
        <p:spPr>
          <a:xfrm>
            <a:off x="637016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5" name="Text 10"/>
          <p:cNvSpPr txBox="1"/>
          <p:nvPr/>
        </p:nvSpPr>
        <p:spPr>
          <a:xfrm>
            <a:off x="705596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Cable suelto que puede provocar una caída.</a:t>
            </a:r>
            <a:endParaRPr lang="en-US" sz="1150" dirty="0"/>
          </a:p>
        </p:txBody>
      </p:sp>
      <p:sp>
        <p:nvSpPr>
          <p:cNvPr id="16" name="Shape 11"/>
          <p:cNvSpPr/>
          <p:nvPr/>
        </p:nvSpPr>
        <p:spPr>
          <a:xfrm>
            <a:off x="56692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7" name="Shape 12"/>
          <p:cNvSpPr/>
          <p:nvPr/>
        </p:nvSpPr>
        <p:spPr>
          <a:xfrm>
            <a:off x="704088" y="3274695"/>
            <a:ext cx="566928" cy="566928"/>
          </a:xfrm>
          <a:prstGeom prst="ellipse">
            <a:avLst/>
          </a:prstGeom>
          <a:solidFill>
            <a:srgbClr val="F0AD35"/>
          </a:solidFill>
          <a:ln/>
        </p:spPr>
      </p:sp>
      <p:pic>
        <p:nvPicPr>
          <p:cNvPr id="18" name="Image 2" descr="/tmp/claude-0/-home-user-riesgo/0ff9ff46-1396-5bd8-b3ac-2280dfbbbc55/scratchpad/work/gen/icons/password_navy.png">    </p:cNvPr>
          <p:cNvPicPr>
            <a:picLocks noChangeAspect="1"/>
          </p:cNvPicPr>
          <p:nvPr/>
        </p:nvPicPr>
        <p:blipFill>
          <a:blip r:embed="rId3"/>
          <a:stretch>
            <a:fillRect/>
          </a:stretch>
        </p:blipFill>
        <p:spPr>
          <a:xfrm>
            <a:off x="840151" y="3410758"/>
            <a:ext cx="294803" cy="294803"/>
          </a:xfrm>
          <a:prstGeom prst="rect">
            <a:avLst/>
          </a:prstGeom>
        </p:spPr>
      </p:pic>
      <p:sp>
        <p:nvSpPr>
          <p:cNvPr id="19" name="Text 13"/>
          <p:cNvSpPr txBox="1"/>
          <p:nvPr/>
        </p:nvSpPr>
        <p:spPr>
          <a:xfrm>
            <a:off x="70408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20" name="Text 14"/>
          <p:cNvSpPr txBox="1"/>
          <p:nvPr/>
        </p:nvSpPr>
        <p:spPr>
          <a:xfrm>
            <a:off x="138988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Contraseña anotada y visible para cualquiera.</a:t>
            </a:r>
            <a:endParaRPr lang="en-US" sz="1150" dirty="0"/>
          </a:p>
        </p:txBody>
      </p:sp>
      <p:sp>
        <p:nvSpPr>
          <p:cNvPr id="21" name="Shape 15"/>
          <p:cNvSpPr/>
          <p:nvPr/>
        </p:nvSpPr>
        <p:spPr>
          <a:xfrm>
            <a:off x="623300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2" name="Shape 16"/>
          <p:cNvSpPr/>
          <p:nvPr/>
        </p:nvSpPr>
        <p:spPr>
          <a:xfrm>
            <a:off x="6370168" y="3274695"/>
            <a:ext cx="566928" cy="566928"/>
          </a:xfrm>
          <a:prstGeom prst="ellipse">
            <a:avLst/>
          </a:prstGeom>
          <a:solidFill>
            <a:srgbClr val="F0AD35"/>
          </a:solidFill>
          <a:ln/>
        </p:spPr>
      </p:sp>
      <p:pic>
        <p:nvPicPr>
          <p:cNvPr id="23" name="Image 3" descr="/tmp/claude-0/-home-user-riesgo/0ff9ff46-1396-5bd8-b3ac-2280dfbbbc55/scratchpad/work/gen/icons/door_open_navy.png">    </p:cNvPr>
          <p:cNvPicPr>
            <a:picLocks noChangeAspect="1"/>
          </p:cNvPicPr>
          <p:nvPr/>
        </p:nvPicPr>
        <p:blipFill>
          <a:blip r:embed="rId4"/>
          <a:stretch>
            <a:fillRect/>
          </a:stretch>
        </p:blipFill>
        <p:spPr>
          <a:xfrm>
            <a:off x="6506230" y="3410758"/>
            <a:ext cx="294803" cy="294803"/>
          </a:xfrm>
          <a:prstGeom prst="rect">
            <a:avLst/>
          </a:prstGeom>
        </p:spPr>
      </p:pic>
      <p:sp>
        <p:nvSpPr>
          <p:cNvPr id="24" name="Text 17"/>
          <p:cNvSpPr txBox="1"/>
          <p:nvPr/>
        </p:nvSpPr>
        <p:spPr>
          <a:xfrm>
            <a:off x="637016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5" name="Text 18"/>
          <p:cNvSpPr txBox="1"/>
          <p:nvPr/>
        </p:nvSpPr>
        <p:spPr>
          <a:xfrm>
            <a:off x="705596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Puerta de un área restringida abierta.</a:t>
            </a:r>
            <a:endParaRPr lang="en-US" sz="1150" dirty="0"/>
          </a:p>
        </p:txBody>
      </p:sp>
      <p:sp>
        <p:nvSpPr>
          <p:cNvPr id="26" name="Shape 19"/>
          <p:cNvSpPr/>
          <p:nvPr/>
        </p:nvSpPr>
        <p:spPr>
          <a:xfrm>
            <a:off x="56692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7" name="Shape 20"/>
          <p:cNvSpPr/>
          <p:nvPr/>
        </p:nvSpPr>
        <p:spPr>
          <a:xfrm>
            <a:off x="704088" y="4323969"/>
            <a:ext cx="566928" cy="566928"/>
          </a:xfrm>
          <a:prstGeom prst="ellipse">
            <a:avLst/>
          </a:prstGeom>
          <a:solidFill>
            <a:srgbClr val="F0AD35"/>
          </a:solidFill>
          <a:ln/>
        </p:spPr>
      </p:sp>
      <p:pic>
        <p:nvPicPr>
          <p:cNvPr id="28" name="Image 4" descr="/tmp/claude-0/-home-user-riesgo/0ff9ff46-1396-5bd8-b3ac-2280dfbbbc55/scratchpad/work/gen/icons/x_circle_navy.png">    </p:cNvPr>
          <p:cNvPicPr>
            <a:picLocks noChangeAspect="1"/>
          </p:cNvPicPr>
          <p:nvPr/>
        </p:nvPicPr>
        <p:blipFill>
          <a:blip r:embed="rId5"/>
          <a:stretch>
            <a:fillRect/>
          </a:stretch>
        </p:blipFill>
        <p:spPr>
          <a:xfrm>
            <a:off x="840151" y="4460032"/>
            <a:ext cx="294803" cy="294803"/>
          </a:xfrm>
          <a:prstGeom prst="rect">
            <a:avLst/>
          </a:prstGeom>
        </p:spPr>
      </p:pic>
      <p:sp>
        <p:nvSpPr>
          <p:cNvPr id="29" name="Text 21"/>
          <p:cNvSpPr txBox="1"/>
          <p:nvPr/>
        </p:nvSpPr>
        <p:spPr>
          <a:xfrm>
            <a:off x="70408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30" name="Text 22"/>
          <p:cNvSpPr txBox="1"/>
          <p:nvPr/>
        </p:nvSpPr>
        <p:spPr>
          <a:xfrm>
            <a:off x="138988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dato o cifra registrado de forma incorrecta.</a:t>
            </a:r>
            <a:endParaRPr lang="en-US" sz="1150" dirty="0"/>
          </a:p>
        </p:txBody>
      </p:sp>
      <p:sp>
        <p:nvSpPr>
          <p:cNvPr id="31" name="Shape 23"/>
          <p:cNvSpPr/>
          <p:nvPr/>
        </p:nvSpPr>
        <p:spPr>
          <a:xfrm>
            <a:off x="623300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2" name="Shape 24"/>
          <p:cNvSpPr/>
          <p:nvPr/>
        </p:nvSpPr>
        <p:spPr>
          <a:xfrm>
            <a:off x="6370168" y="4323969"/>
            <a:ext cx="566928" cy="566928"/>
          </a:xfrm>
          <a:prstGeom prst="ellipse">
            <a:avLst/>
          </a:prstGeom>
          <a:solidFill>
            <a:srgbClr val="F0AD35"/>
          </a:solidFill>
          <a:ln/>
        </p:spPr>
      </p:sp>
      <p:pic>
        <p:nvPicPr>
          <p:cNvPr id="33" name="Image 5" descr="/tmp/claude-0/-home-user-riesgo/0ff9ff46-1396-5bd8-b3ac-2280dfbbbc55/scratchpad/work/gen/icons/computer_navy.png">    </p:cNvPr>
          <p:cNvPicPr>
            <a:picLocks noChangeAspect="1"/>
          </p:cNvPicPr>
          <p:nvPr/>
        </p:nvPicPr>
        <p:blipFill>
          <a:blip r:embed="rId6"/>
          <a:stretch>
            <a:fillRect/>
          </a:stretch>
        </p:blipFill>
        <p:spPr>
          <a:xfrm>
            <a:off x="6506230" y="4460032"/>
            <a:ext cx="294803" cy="294803"/>
          </a:xfrm>
          <a:prstGeom prst="rect">
            <a:avLst/>
          </a:prstGeom>
        </p:spPr>
      </p:pic>
      <p:sp>
        <p:nvSpPr>
          <p:cNvPr id="34" name="Text 25"/>
          <p:cNvSpPr txBox="1"/>
          <p:nvPr/>
        </p:nvSpPr>
        <p:spPr>
          <a:xfrm>
            <a:off x="637016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5" name="Text 26"/>
          <p:cNvSpPr txBox="1"/>
          <p:nvPr/>
        </p:nvSpPr>
        <p:spPr>
          <a:xfrm>
            <a:off x="705596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desatendido y sin bloqueo de pantalla.</a:t>
            </a:r>
            <a:endParaRPr lang="en-US" sz="1150" dirty="0"/>
          </a:p>
        </p:txBody>
      </p:sp>
      <p:sp>
        <p:nvSpPr>
          <p:cNvPr id="36" name="Shape 27"/>
          <p:cNvSpPr/>
          <p:nvPr/>
        </p:nvSpPr>
        <p:spPr>
          <a:xfrm>
            <a:off x="56692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7" name="Shape 28"/>
          <p:cNvSpPr/>
          <p:nvPr/>
        </p:nvSpPr>
        <p:spPr>
          <a:xfrm>
            <a:off x="704088" y="5373243"/>
            <a:ext cx="566928" cy="566928"/>
          </a:xfrm>
          <a:prstGeom prst="ellipse">
            <a:avLst/>
          </a:prstGeom>
          <a:solidFill>
            <a:srgbClr val="F0AD35"/>
          </a:solidFill>
          <a:ln/>
        </p:spPr>
      </p:sp>
      <p:pic>
        <p:nvPicPr>
          <p:cNvPr id="38" name="Image 6" descr="/tmp/claude-0/-home-user-riesgo/0ff9ff46-1396-5bd8-b3ac-2280dfbbbc55/scratchpad/work/gen/icons/chat_navy.png">    </p:cNvPr>
          <p:cNvPicPr>
            <a:picLocks noChangeAspect="1"/>
          </p:cNvPicPr>
          <p:nvPr/>
        </p:nvPicPr>
        <p:blipFill>
          <a:blip r:embed="rId7"/>
          <a:stretch>
            <a:fillRect/>
          </a:stretch>
        </p:blipFill>
        <p:spPr>
          <a:xfrm>
            <a:off x="840151" y="5509306"/>
            <a:ext cx="294803" cy="294803"/>
          </a:xfrm>
          <a:prstGeom prst="rect">
            <a:avLst/>
          </a:prstGeom>
        </p:spPr>
      </p:pic>
      <p:sp>
        <p:nvSpPr>
          <p:cNvPr id="39" name="Text 29"/>
          <p:cNvSpPr txBox="1"/>
          <p:nvPr/>
        </p:nvSpPr>
        <p:spPr>
          <a:xfrm>
            <a:off x="70408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40" name="Text 30"/>
          <p:cNvSpPr txBox="1"/>
          <p:nvPr/>
        </p:nvSpPr>
        <p:spPr>
          <a:xfrm>
            <a:off x="138988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Información institucional comentada fuera de lugar.</a:t>
            </a:r>
            <a:endParaRPr lang="en-US" sz="1150" dirty="0"/>
          </a:p>
        </p:txBody>
      </p:sp>
      <p:sp>
        <p:nvSpPr>
          <p:cNvPr id="41" name="Shape 31"/>
          <p:cNvSpPr/>
          <p:nvPr/>
        </p:nvSpPr>
        <p:spPr>
          <a:xfrm>
            <a:off x="623300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42" name="Shape 32"/>
          <p:cNvSpPr/>
          <p:nvPr/>
        </p:nvSpPr>
        <p:spPr>
          <a:xfrm>
            <a:off x="6370168" y="5373243"/>
            <a:ext cx="566928" cy="566928"/>
          </a:xfrm>
          <a:prstGeom prst="ellipse">
            <a:avLst/>
          </a:prstGeom>
          <a:solidFill>
            <a:srgbClr val="F0AD35"/>
          </a:solidFill>
          <a:ln/>
        </p:spPr>
      </p:sp>
      <p:pic>
        <p:nvPicPr>
          <p:cNvPr id="43" name="Image 7" descr="/tmp/claude-0/-home-user-riesgo/0ff9ff46-1396-5bd8-b3ac-2280dfbbbc55/scratchpad/work/gen/icons/id_card_navy.png">    </p:cNvPr>
          <p:cNvPicPr>
            <a:picLocks noChangeAspect="1"/>
          </p:cNvPicPr>
          <p:nvPr/>
        </p:nvPicPr>
        <p:blipFill>
          <a:blip r:embed="rId8"/>
          <a:stretch>
            <a:fillRect/>
          </a:stretch>
        </p:blipFill>
        <p:spPr>
          <a:xfrm>
            <a:off x="6506230" y="5509306"/>
            <a:ext cx="294803" cy="294803"/>
          </a:xfrm>
          <a:prstGeom prst="rect">
            <a:avLst/>
          </a:prstGeom>
        </p:spPr>
      </p:pic>
      <p:sp>
        <p:nvSpPr>
          <p:cNvPr id="44" name="Text 33"/>
          <p:cNvSpPr txBox="1"/>
          <p:nvPr/>
        </p:nvSpPr>
        <p:spPr>
          <a:xfrm>
            <a:off x="637016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5" name="Text 34"/>
          <p:cNvSpPr txBox="1"/>
          <p:nvPr/>
        </p:nvSpPr>
        <p:spPr>
          <a:xfrm>
            <a:off x="705596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Gafete o credencial olvidado a la vista de todos.</a:t>
            </a:r>
            <a:endParaRPr lang="en-US" sz="115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F0AD35"/>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Text 3"/>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133B6C"/>
                </a:solidFill>
                <a:latin typeface="Cambria" pitchFamily="34" charset="0"/>
                <a:ea typeface="Cambria" pitchFamily="34" charset="-122"/>
                <a:cs typeface="Cambria" pitchFamily="34" charset="-120"/>
              </a:rPr>
              <a:t>01</a:t>
            </a:r>
            <a:endParaRPr lang="en-US" sz="26000" dirty="0"/>
          </a:p>
        </p:txBody>
      </p:sp>
      <p:sp>
        <p:nvSpPr>
          <p:cNvPr id="7" name="Shape 4"/>
          <p:cNvSpPr/>
          <p:nvPr/>
        </p:nvSpPr>
        <p:spPr>
          <a:xfrm>
            <a:off x="8686800" y="2011680"/>
            <a:ext cx="2834640" cy="2834640"/>
          </a:xfrm>
          <a:prstGeom prst="ellipse">
            <a:avLst/>
          </a:prstGeom>
          <a:solidFill>
            <a:srgbClr val="0A1F3B"/>
          </a:solidFill>
          <a:ln/>
        </p:spPr>
      </p:sp>
      <p:sp>
        <p:nvSpPr>
          <p:cNvPr id="8" name="Shape 5"/>
          <p:cNvSpPr/>
          <p:nvPr/>
        </p:nvSpPr>
        <p:spPr>
          <a:xfrm>
            <a:off x="9784080" y="3931920"/>
            <a:ext cx="1371600" cy="1371600"/>
          </a:xfrm>
          <a:prstGeom prst="ellipse">
            <a:avLst/>
          </a:prstGeom>
          <a:solidFill>
            <a:srgbClr val="FFFFFF"/>
          </a:solidFill>
          <a:ln/>
        </p:spPr>
      </p:sp>
      <p:sp>
        <p:nvSpPr>
          <p:cNvPr id="9" name="Shape 6"/>
          <p:cNvSpPr/>
          <p:nvPr/>
        </p:nvSpPr>
        <p:spPr>
          <a:xfrm>
            <a:off x="10698480" y="2011680"/>
            <a:ext cx="960120" cy="960120"/>
          </a:xfrm>
          <a:prstGeom prst="ellipse">
            <a:avLst/>
          </a:prstGeom>
          <a:solidFill>
            <a:srgbClr val="0D2847"/>
          </a:solidFill>
          <a:ln/>
        </p:spPr>
      </p:sp>
      <p:sp>
        <p:nvSpPr>
          <p:cNvPr id="10" name="Shape 7"/>
          <p:cNvSpPr/>
          <p:nvPr/>
        </p:nvSpPr>
        <p:spPr>
          <a:xfrm>
            <a:off x="9075420" y="2217420"/>
            <a:ext cx="1051560" cy="1051560"/>
          </a:xfrm>
          <a:prstGeom prst="ellipse">
            <a:avLst/>
          </a:prstGeom>
          <a:solidFill>
            <a:srgbClr val="FFFFFF"/>
          </a:solidFill>
          <a:ln/>
        </p:spPr>
      </p:sp>
      <p:pic>
        <p:nvPicPr>
          <p:cNvPr id="11" name="Image 0" descr="/tmp/claude-0/-home-user-riesgo/0ff9ff46-1396-5bd8-b3ac-2280dfbbbc55/scratchpad/work/gen/icons/people_group_gold.png">    </p:cNvPr>
          <p:cNvPicPr>
            <a:picLocks noChangeAspect="1"/>
          </p:cNvPicPr>
          <p:nvPr/>
        </p:nvPicPr>
        <p:blipFill>
          <a:blip r:embed="rId1"/>
          <a:stretch>
            <a:fillRect/>
          </a:stretch>
        </p:blipFill>
        <p:spPr>
          <a:xfrm>
            <a:off x="9338310" y="2480310"/>
            <a:ext cx="525780" cy="525780"/>
          </a:xfrm>
          <a:prstGeom prst="rect">
            <a:avLst/>
          </a:prstGeom>
        </p:spPr>
      </p:pic>
      <p:sp>
        <p:nvSpPr>
          <p:cNvPr id="12" name="Shape 8"/>
          <p:cNvSpPr/>
          <p:nvPr/>
        </p:nvSpPr>
        <p:spPr>
          <a:xfrm>
            <a:off x="10447020" y="2948940"/>
            <a:ext cx="868680" cy="868680"/>
          </a:xfrm>
          <a:prstGeom prst="ellipse">
            <a:avLst/>
          </a:prstGeom>
          <a:solidFill>
            <a:srgbClr val="0A1F3B"/>
          </a:solidFill>
          <a:ln/>
        </p:spPr>
      </p:sp>
      <p:pic>
        <p:nvPicPr>
          <p:cNvPr id="13" name="Image 1" descr="/tmp/claude-0/-home-user-riesgo/0ff9ff46-1396-5bd8-b3ac-2280dfbbbc55/scratchpad/work/gen/icons/handshake_white.png">    </p:cNvPr>
          <p:cNvPicPr>
            <a:picLocks noChangeAspect="1"/>
          </p:cNvPicPr>
          <p:nvPr/>
        </p:nvPicPr>
        <p:blipFill>
          <a:blip r:embed="rId2"/>
          <a:stretch>
            <a:fillRect/>
          </a:stretch>
        </p:blipFill>
        <p:spPr>
          <a:xfrm>
            <a:off x="10664190" y="3166110"/>
            <a:ext cx="434340" cy="434340"/>
          </a:xfrm>
          <a:prstGeom prst="rect">
            <a:avLst/>
          </a:prstGeom>
        </p:spPr>
      </p:pic>
      <p:sp>
        <p:nvSpPr>
          <p:cNvPr id="14" name="Shape 9"/>
          <p:cNvSpPr/>
          <p:nvPr/>
        </p:nvSpPr>
        <p:spPr>
          <a:xfrm>
            <a:off x="9578340" y="3909060"/>
            <a:ext cx="777240" cy="777240"/>
          </a:xfrm>
          <a:prstGeom prst="ellipse">
            <a:avLst/>
          </a:prstGeom>
          <a:solidFill>
            <a:srgbClr val="FFFFFF"/>
          </a:solidFill>
          <a:ln/>
        </p:spPr>
      </p:sp>
      <p:pic>
        <p:nvPicPr>
          <p:cNvPr id="15" name="Image 2" descr="/tmp/claude-0/-home-user-riesgo/0ff9ff46-1396-5bd8-b3ac-2280dfbbbc55/scratchpad/work/gen/icons/shield_check_navy.png">    </p:cNvPr>
          <p:cNvPicPr>
            <a:picLocks noChangeAspect="1"/>
          </p:cNvPicPr>
          <p:nvPr/>
        </p:nvPicPr>
        <p:blipFill>
          <a:blip r:embed="rId3"/>
          <a:stretch>
            <a:fillRect/>
          </a:stretch>
        </p:blipFill>
        <p:spPr>
          <a:xfrm>
            <a:off x="9772650" y="4103370"/>
            <a:ext cx="388620" cy="388620"/>
          </a:xfrm>
          <a:prstGeom prst="rect">
            <a:avLst/>
          </a:prstGeom>
        </p:spPr>
      </p:pic>
      <p:sp>
        <p:nvSpPr>
          <p:cNvPr id="16" name="Shape 10"/>
          <p:cNvSpPr/>
          <p:nvPr/>
        </p:nvSpPr>
        <p:spPr>
          <a:xfrm>
            <a:off x="10689336" y="4105656"/>
            <a:ext cx="658368" cy="658368"/>
          </a:xfrm>
          <a:prstGeom prst="ellipse">
            <a:avLst/>
          </a:prstGeom>
          <a:solidFill>
            <a:srgbClr val="0A1F3B"/>
          </a:solidFill>
          <a:ln/>
        </p:spPr>
      </p:sp>
      <p:pic>
        <p:nvPicPr>
          <p:cNvPr id="17" name="Image 3" descr="/tmp/claude-0/-home-user-riesgo/0ff9ff46-1396-5bd8-b3ac-2280dfbbbc55/scratchpad/work/gen/icons/briefcase_gold.png">    </p:cNvPr>
          <p:cNvPicPr>
            <a:picLocks noChangeAspect="1"/>
          </p:cNvPicPr>
          <p:nvPr/>
        </p:nvPicPr>
        <p:blipFill>
          <a:blip r:embed="rId4"/>
          <a:stretch>
            <a:fillRect/>
          </a:stretch>
        </p:blipFill>
        <p:spPr>
          <a:xfrm>
            <a:off x="10853928" y="4270248"/>
            <a:ext cx="329184" cy="329184"/>
          </a:xfrm>
          <a:prstGeom prst="rect">
            <a:avLst/>
          </a:prstGeom>
        </p:spPr>
      </p:pic>
      <p:sp>
        <p:nvSpPr>
          <p:cNvPr id="18" name="Text 11"/>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F0AD35"/>
                </a:solidFill>
                <a:latin typeface="Calibri" pitchFamily="34" charset="0"/>
                <a:ea typeface="Calibri" pitchFamily="34" charset="-122"/>
                <a:cs typeface="Calibri" pitchFamily="34" charset="-120"/>
              </a:rPr>
              <a:t>TEMA 1</a:t>
            </a:r>
            <a:endParaRPr lang="en-US" sz="1500" dirty="0"/>
          </a:p>
        </p:txBody>
      </p:sp>
      <p:sp>
        <p:nvSpPr>
          <p:cNvPr id="19" name="Text 12"/>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TODOS SOMOS GESTORES</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DE RIESGOS</a:t>
            </a:r>
            <a:endParaRPr lang="en-US" sz="3200" dirty="0"/>
          </a:p>
        </p:txBody>
      </p:sp>
      <p:sp>
        <p:nvSpPr>
          <p:cNvPr id="20" name="Text 13"/>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La gestión de riesgos no es responsabilidad de un solo departamento.</a:t>
            </a:r>
            <a:endParaRPr lang="en-US" sz="1550" dirty="0"/>
          </a:p>
        </p:txBody>
      </p:sp>
      <p:pic>
        <p:nvPicPr>
          <p:cNvPr id="21"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2"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3"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F0AD35"/>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SEIS ACCIONES QUE ESTÁN EN TUS MANOS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Sin importar tu cargo o área, cada colaborador de COMEDICA DE R.L. puede:</a:t>
            </a:r>
            <a:endParaRPr lang="en-US" sz="1500" dirty="0"/>
          </a:p>
        </p:txBody>
      </p:sp>
      <p:sp>
        <p:nvSpPr>
          <p:cNvPr id="6" name="Shape 3"/>
          <p:cNvSpPr/>
          <p:nvPr/>
        </p:nvSpPr>
        <p:spPr>
          <a:xfrm>
            <a:off x="566928" y="2308860"/>
            <a:ext cx="3490874" cy="1691640"/>
          </a:xfrm>
          <a:prstGeom prst="roundRect">
            <a:avLst>
              <a:gd name="adj" fmla="val 5405"/>
            </a:avLst>
          </a:prstGeom>
          <a:solidFill>
            <a:srgbClr val="F2F5F9"/>
          </a:solidFill>
          <a:ln/>
        </p:spPr>
      </p:sp>
      <p:sp>
        <p:nvSpPr>
          <p:cNvPr id="7" name="Shape 4"/>
          <p:cNvSpPr/>
          <p:nvPr/>
        </p:nvSpPr>
        <p:spPr>
          <a:xfrm>
            <a:off x="2028901" y="2569464"/>
            <a:ext cx="566928" cy="566928"/>
          </a:xfrm>
          <a:prstGeom prst="ellipse">
            <a:avLst/>
          </a:prstGeom>
          <a:solidFill>
            <a:srgbClr val="F0AD35"/>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705527"/>
            <a:ext cx="294803" cy="294803"/>
          </a:xfrm>
          <a:prstGeom prst="rect">
            <a:avLst/>
          </a:prstGeom>
        </p:spPr>
      </p:pic>
      <p:sp>
        <p:nvSpPr>
          <p:cNvPr id="9" name="Text 5"/>
          <p:cNvSpPr txBox="1"/>
          <p:nvPr/>
        </p:nvSpPr>
        <p:spPr>
          <a:xfrm>
            <a:off x="676656"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308860"/>
            <a:ext cx="3490874" cy="1691640"/>
          </a:xfrm>
          <a:prstGeom prst="roundRect">
            <a:avLst>
              <a:gd name="adj" fmla="val 5405"/>
            </a:avLst>
          </a:prstGeom>
          <a:solidFill>
            <a:srgbClr val="F2F5F9"/>
          </a:solidFill>
          <a:ln/>
        </p:spPr>
      </p:sp>
      <p:sp>
        <p:nvSpPr>
          <p:cNvPr id="11" name="Shape 7"/>
          <p:cNvSpPr/>
          <p:nvPr/>
        </p:nvSpPr>
        <p:spPr>
          <a:xfrm>
            <a:off x="5812384" y="2569464"/>
            <a:ext cx="566928" cy="566928"/>
          </a:xfrm>
          <a:prstGeom prst="ellipse">
            <a:avLst/>
          </a:prstGeom>
          <a:solidFill>
            <a:srgbClr val="F0AD35"/>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705527"/>
            <a:ext cx="294803" cy="294803"/>
          </a:xfrm>
          <a:prstGeom prst="rect">
            <a:avLst/>
          </a:prstGeom>
        </p:spPr>
      </p:pic>
      <p:sp>
        <p:nvSpPr>
          <p:cNvPr id="13" name="Text 8"/>
          <p:cNvSpPr txBox="1"/>
          <p:nvPr/>
        </p:nvSpPr>
        <p:spPr>
          <a:xfrm>
            <a:off x="4460138"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308860"/>
            <a:ext cx="3490874" cy="1691640"/>
          </a:xfrm>
          <a:prstGeom prst="roundRect">
            <a:avLst>
              <a:gd name="adj" fmla="val 5405"/>
            </a:avLst>
          </a:prstGeom>
          <a:solidFill>
            <a:srgbClr val="F2F5F9"/>
          </a:solidFill>
          <a:ln/>
        </p:spPr>
      </p:sp>
      <p:sp>
        <p:nvSpPr>
          <p:cNvPr id="15" name="Shape 10"/>
          <p:cNvSpPr/>
          <p:nvPr/>
        </p:nvSpPr>
        <p:spPr>
          <a:xfrm>
            <a:off x="9595866" y="2569464"/>
            <a:ext cx="566928" cy="566928"/>
          </a:xfrm>
          <a:prstGeom prst="ellipse">
            <a:avLst/>
          </a:prstGeom>
          <a:solidFill>
            <a:srgbClr val="F0AD35"/>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705527"/>
            <a:ext cx="294803" cy="294803"/>
          </a:xfrm>
          <a:prstGeom prst="rect">
            <a:avLst/>
          </a:prstGeom>
        </p:spPr>
      </p:pic>
      <p:sp>
        <p:nvSpPr>
          <p:cNvPr id="17" name="Text 11"/>
          <p:cNvSpPr txBox="1"/>
          <p:nvPr/>
        </p:nvSpPr>
        <p:spPr>
          <a:xfrm>
            <a:off x="8243621" y="3282696"/>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4256532"/>
            <a:ext cx="3490874" cy="1691640"/>
          </a:xfrm>
          <a:prstGeom prst="roundRect">
            <a:avLst>
              <a:gd name="adj" fmla="val 5405"/>
            </a:avLst>
          </a:prstGeom>
          <a:solidFill>
            <a:srgbClr val="F2F5F9"/>
          </a:solidFill>
          <a:ln/>
        </p:spPr>
      </p:sp>
      <p:sp>
        <p:nvSpPr>
          <p:cNvPr id="19" name="Shape 13"/>
          <p:cNvSpPr/>
          <p:nvPr/>
        </p:nvSpPr>
        <p:spPr>
          <a:xfrm>
            <a:off x="2028901" y="4517136"/>
            <a:ext cx="566928" cy="566928"/>
          </a:xfrm>
          <a:prstGeom prst="ellipse">
            <a:avLst/>
          </a:prstGeom>
          <a:solidFill>
            <a:srgbClr val="F0AD35"/>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653199"/>
            <a:ext cx="294803" cy="294803"/>
          </a:xfrm>
          <a:prstGeom prst="rect">
            <a:avLst/>
          </a:prstGeom>
        </p:spPr>
      </p:pic>
      <p:sp>
        <p:nvSpPr>
          <p:cNvPr id="21" name="Text 14"/>
          <p:cNvSpPr txBox="1"/>
          <p:nvPr/>
        </p:nvSpPr>
        <p:spPr>
          <a:xfrm>
            <a:off x="676656"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4256532"/>
            <a:ext cx="3490874" cy="1691640"/>
          </a:xfrm>
          <a:prstGeom prst="roundRect">
            <a:avLst>
              <a:gd name="adj" fmla="val 5405"/>
            </a:avLst>
          </a:prstGeom>
          <a:solidFill>
            <a:srgbClr val="F2F5F9"/>
          </a:solidFill>
          <a:ln/>
        </p:spPr>
      </p:sp>
      <p:sp>
        <p:nvSpPr>
          <p:cNvPr id="23" name="Shape 16"/>
          <p:cNvSpPr/>
          <p:nvPr/>
        </p:nvSpPr>
        <p:spPr>
          <a:xfrm>
            <a:off x="5812384" y="4517136"/>
            <a:ext cx="566928" cy="566928"/>
          </a:xfrm>
          <a:prstGeom prst="ellipse">
            <a:avLst/>
          </a:prstGeom>
          <a:solidFill>
            <a:srgbClr val="F0AD35"/>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653199"/>
            <a:ext cx="294803" cy="294803"/>
          </a:xfrm>
          <a:prstGeom prst="rect">
            <a:avLst/>
          </a:prstGeom>
        </p:spPr>
      </p:pic>
      <p:sp>
        <p:nvSpPr>
          <p:cNvPr id="25" name="Text 17"/>
          <p:cNvSpPr txBox="1"/>
          <p:nvPr/>
        </p:nvSpPr>
        <p:spPr>
          <a:xfrm>
            <a:off x="4460138"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4256532"/>
            <a:ext cx="3490874" cy="1691640"/>
          </a:xfrm>
          <a:prstGeom prst="roundRect">
            <a:avLst>
              <a:gd name="adj" fmla="val 5405"/>
            </a:avLst>
          </a:prstGeom>
          <a:solidFill>
            <a:srgbClr val="F2F5F9"/>
          </a:solidFill>
          <a:ln/>
        </p:spPr>
      </p:sp>
      <p:sp>
        <p:nvSpPr>
          <p:cNvPr id="27" name="Shape 19"/>
          <p:cNvSpPr/>
          <p:nvPr/>
        </p:nvSpPr>
        <p:spPr>
          <a:xfrm>
            <a:off x="9595866" y="4517136"/>
            <a:ext cx="566928" cy="566928"/>
          </a:xfrm>
          <a:prstGeom prst="ellipse">
            <a:avLst/>
          </a:prstGeom>
          <a:solidFill>
            <a:srgbClr val="F0AD35"/>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653199"/>
            <a:ext cx="294803" cy="294803"/>
          </a:xfrm>
          <a:prstGeom prst="rect">
            <a:avLst/>
          </a:prstGeom>
        </p:spPr>
      </p:pic>
      <p:sp>
        <p:nvSpPr>
          <p:cNvPr id="29" name="Text 20"/>
          <p:cNvSpPr txBox="1"/>
          <p:nvPr/>
        </p:nvSpPr>
        <p:spPr>
          <a:xfrm>
            <a:off x="8243621" y="5230368"/>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9692640" y="-2194560"/>
            <a:ext cx="5486400" cy="5486400"/>
          </a:xfrm>
          <a:prstGeom prst="ellipse">
            <a:avLst/>
          </a:prstGeom>
          <a:solidFill>
            <a:srgbClr val="0D2847"/>
          </a:solidFill>
          <a:ln/>
        </p:spPr>
      </p:sp>
      <p:sp>
        <p:nvSpPr>
          <p:cNvPr id="4" name="Text 1"/>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3000" dirty="0">
                <a:solidFill>
                  <a:srgbClr val="FFFFFF"/>
                </a:solidFill>
                <a:latin typeface="Cambria" pitchFamily="34" charset="0"/>
                <a:ea typeface="Cambria" pitchFamily="34" charset="-122"/>
                <a:cs typeface="Cambria" pitchFamily="34" charset="-120"/>
              </a:rPr>
              <a:t>EL RIESGO PUEDE APARECER</a:t>
            </a:r>
            <a:endParaRPr lang="en-US" sz="3000" dirty="0"/>
          </a:p>
          <a:p>
            <a:pPr algn="ctr" indent="0" marL="0">
              <a:lnSpc>
                <a:spcPct val="118000"/>
              </a:lnSpc>
              <a:buNone/>
            </a:pPr>
            <a:r>
              <a:rPr lang="en-US" sz="3000" dirty="0">
                <a:solidFill>
                  <a:srgbClr val="FFFFFF"/>
                </a:solidFill>
                <a:latin typeface="Cambria" pitchFamily="34" charset="0"/>
                <a:ea typeface="Cambria" pitchFamily="34" charset="-122"/>
                <a:cs typeface="Cambria" pitchFamily="34" charset="-120"/>
              </a:rPr>
              <a:t>EN CUALQUIER LUGAR.</a:t>
            </a:r>
            <a:endParaRPr lang="en-US" sz="3000" dirty="0"/>
          </a:p>
          <a:p>
            <a:pPr algn="ctr" indent="0" marL="0">
              <a:lnSpc>
                <a:spcPct val="118000"/>
              </a:lnSpc>
              <a:buNone/>
            </a:pPr>
            <a:r>
              <a:rPr lang="en-US" sz="3400" b="1" dirty="0">
                <a:solidFill>
                  <a:srgbClr val="F0AD35"/>
                </a:solidFill>
                <a:latin typeface="Cambria" pitchFamily="34" charset="0"/>
                <a:ea typeface="Cambria" pitchFamily="34" charset="-122"/>
                <a:cs typeface="Cambria" pitchFamily="34" charset="-120"/>
              </a:rPr>
              <a:t>LA GESTIÓN TAMBIÉN.</a:t>
            </a:r>
            <a:endParaRPr lang="en-US" sz="3000" dirty="0"/>
          </a:p>
        </p:txBody>
      </p:sp>
      <p:sp>
        <p:nvSpPr>
          <p:cNvPr id="5" name="Text 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6" name="Text 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E8543E"/>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Text 3"/>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133B6C"/>
                </a:solidFill>
                <a:latin typeface="Cambria" pitchFamily="34" charset="0"/>
                <a:ea typeface="Cambria" pitchFamily="34" charset="-122"/>
                <a:cs typeface="Cambria" pitchFamily="34" charset="-120"/>
              </a:rPr>
              <a:t>02</a:t>
            </a:r>
            <a:endParaRPr lang="en-US" sz="26000" dirty="0"/>
          </a:p>
        </p:txBody>
      </p:sp>
      <p:sp>
        <p:nvSpPr>
          <p:cNvPr id="7" name="Shape 4"/>
          <p:cNvSpPr/>
          <p:nvPr/>
        </p:nvSpPr>
        <p:spPr>
          <a:xfrm>
            <a:off x="8686800" y="2011680"/>
            <a:ext cx="2834640" cy="2834640"/>
          </a:xfrm>
          <a:prstGeom prst="ellipse">
            <a:avLst/>
          </a:prstGeom>
          <a:solidFill>
            <a:srgbClr val="0A1F3B"/>
          </a:solidFill>
          <a:ln/>
        </p:spPr>
      </p:sp>
      <p:sp>
        <p:nvSpPr>
          <p:cNvPr id="8" name="Shape 5"/>
          <p:cNvSpPr/>
          <p:nvPr/>
        </p:nvSpPr>
        <p:spPr>
          <a:xfrm>
            <a:off x="9784080" y="3931920"/>
            <a:ext cx="1371600" cy="1371600"/>
          </a:xfrm>
          <a:prstGeom prst="ellipse">
            <a:avLst/>
          </a:prstGeom>
          <a:solidFill>
            <a:srgbClr val="FFFFFF"/>
          </a:solidFill>
          <a:ln/>
        </p:spPr>
      </p:sp>
      <p:sp>
        <p:nvSpPr>
          <p:cNvPr id="9" name="Shape 6"/>
          <p:cNvSpPr/>
          <p:nvPr/>
        </p:nvSpPr>
        <p:spPr>
          <a:xfrm>
            <a:off x="10698480" y="2011680"/>
            <a:ext cx="960120" cy="960120"/>
          </a:xfrm>
          <a:prstGeom prst="ellipse">
            <a:avLst/>
          </a:prstGeom>
          <a:solidFill>
            <a:srgbClr val="0D2847"/>
          </a:solidFill>
          <a:ln/>
        </p:spPr>
      </p:sp>
      <p:sp>
        <p:nvSpPr>
          <p:cNvPr id="10" name="Shape 7"/>
          <p:cNvSpPr/>
          <p:nvPr/>
        </p:nvSpPr>
        <p:spPr>
          <a:xfrm>
            <a:off x="9075420" y="2217420"/>
            <a:ext cx="1051560" cy="1051560"/>
          </a:xfrm>
          <a:prstGeom prst="ellipse">
            <a:avLst/>
          </a:prstGeom>
          <a:solidFill>
            <a:srgbClr val="FFFFFF"/>
          </a:solidFill>
          <a:ln/>
        </p:spPr>
      </p:sp>
      <p:pic>
        <p:nvPicPr>
          <p:cNvPr id="11" name="Image 0" descr="/tmp/claude-0/-home-user-riesgo/0ff9ff46-1396-5bd8-b3ac-2280dfbbbc55/scratchpad/work/gen/icons/megaphone_coral.png">    </p:cNvPr>
          <p:cNvPicPr>
            <a:picLocks noChangeAspect="1"/>
          </p:cNvPicPr>
          <p:nvPr/>
        </p:nvPicPr>
        <p:blipFill>
          <a:blip r:embed="rId1"/>
          <a:stretch>
            <a:fillRect/>
          </a:stretch>
        </p:blipFill>
        <p:spPr>
          <a:xfrm>
            <a:off x="9338310" y="2480310"/>
            <a:ext cx="525780" cy="525780"/>
          </a:xfrm>
          <a:prstGeom prst="rect">
            <a:avLst/>
          </a:prstGeom>
        </p:spPr>
      </p:pic>
      <p:sp>
        <p:nvSpPr>
          <p:cNvPr id="12" name="Shape 8"/>
          <p:cNvSpPr/>
          <p:nvPr/>
        </p:nvSpPr>
        <p:spPr>
          <a:xfrm>
            <a:off x="10447020" y="2948940"/>
            <a:ext cx="868680" cy="868680"/>
          </a:xfrm>
          <a:prstGeom prst="ellipse">
            <a:avLst/>
          </a:prstGeom>
          <a:solidFill>
            <a:srgbClr val="0A1F3B"/>
          </a:solidFill>
          <a:ln/>
        </p:spPr>
      </p:sp>
      <p:pic>
        <p:nvPicPr>
          <p:cNvPr id="13" name="Image 1" descr="/tmp/claude-0/-home-user-riesgo/0ff9ff46-1396-5bd8-b3ac-2280dfbbbc55/scratchpad/work/gen/icons/eye_white.png">    </p:cNvPr>
          <p:cNvPicPr>
            <a:picLocks noChangeAspect="1"/>
          </p:cNvPicPr>
          <p:nvPr/>
        </p:nvPicPr>
        <p:blipFill>
          <a:blip r:embed="rId2"/>
          <a:stretch>
            <a:fillRect/>
          </a:stretch>
        </p:blipFill>
        <p:spPr>
          <a:xfrm>
            <a:off x="10664190" y="3166110"/>
            <a:ext cx="434340" cy="434340"/>
          </a:xfrm>
          <a:prstGeom prst="rect">
            <a:avLst/>
          </a:prstGeom>
        </p:spPr>
      </p:pic>
      <p:sp>
        <p:nvSpPr>
          <p:cNvPr id="14" name="Shape 9"/>
          <p:cNvSpPr/>
          <p:nvPr/>
        </p:nvSpPr>
        <p:spPr>
          <a:xfrm>
            <a:off x="9578340" y="3909060"/>
            <a:ext cx="777240" cy="777240"/>
          </a:xfrm>
          <a:prstGeom prst="ellipse">
            <a:avLst/>
          </a:prstGeom>
          <a:solidFill>
            <a:srgbClr val="FFFFFF"/>
          </a:solidFill>
          <a:ln/>
        </p:spPr>
      </p:sp>
      <p:pic>
        <p:nvPicPr>
          <p:cNvPr id="15" name="Image 2" descr="/tmp/claude-0/-home-user-riesgo/0ff9ff46-1396-5bd8-b3ac-2280dfbbbc55/scratchpad/work/gen/icons/mail_navy.png">    </p:cNvPr>
          <p:cNvPicPr>
            <a:picLocks noChangeAspect="1"/>
          </p:cNvPicPr>
          <p:nvPr/>
        </p:nvPicPr>
        <p:blipFill>
          <a:blip r:embed="rId3"/>
          <a:stretch>
            <a:fillRect/>
          </a:stretch>
        </p:blipFill>
        <p:spPr>
          <a:xfrm>
            <a:off x="9772650" y="4103370"/>
            <a:ext cx="388620" cy="388620"/>
          </a:xfrm>
          <a:prstGeom prst="rect">
            <a:avLst/>
          </a:prstGeom>
        </p:spPr>
      </p:pic>
      <p:sp>
        <p:nvSpPr>
          <p:cNvPr id="16" name="Shape 10"/>
          <p:cNvSpPr/>
          <p:nvPr/>
        </p:nvSpPr>
        <p:spPr>
          <a:xfrm>
            <a:off x="10689336" y="4105656"/>
            <a:ext cx="658368" cy="658368"/>
          </a:xfrm>
          <a:prstGeom prst="ellipse">
            <a:avLst/>
          </a:prstGeom>
          <a:solidFill>
            <a:srgbClr val="0A1F3B"/>
          </a:solidFill>
          <a:ln/>
        </p:spPr>
      </p:sp>
      <p:pic>
        <p:nvPicPr>
          <p:cNvPr id="17" name="Image 3" descr="/tmp/claude-0/-home-user-riesgo/0ff9ff46-1396-5bd8-b3ac-2280dfbbbc55/scratchpad/work/gen/icons/bell_alert_coral.png">    </p:cNvPr>
          <p:cNvPicPr>
            <a:picLocks noChangeAspect="1"/>
          </p:cNvPicPr>
          <p:nvPr/>
        </p:nvPicPr>
        <p:blipFill>
          <a:blip r:embed="rId4"/>
          <a:stretch>
            <a:fillRect/>
          </a:stretch>
        </p:blipFill>
        <p:spPr>
          <a:xfrm>
            <a:off x="10853928" y="4270248"/>
            <a:ext cx="329184" cy="329184"/>
          </a:xfrm>
          <a:prstGeom prst="rect">
            <a:avLst/>
          </a:prstGeom>
        </p:spPr>
      </p:pic>
      <p:sp>
        <p:nvSpPr>
          <p:cNvPr id="18" name="Text 11"/>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E8543E"/>
                </a:solidFill>
                <a:latin typeface="Calibri" pitchFamily="34" charset="0"/>
                <a:ea typeface="Calibri" pitchFamily="34" charset="-122"/>
                <a:cs typeface="Calibri" pitchFamily="34" charset="-120"/>
              </a:rPr>
              <a:t>TEMA 2</a:t>
            </a:r>
            <a:endParaRPr lang="en-US" sz="1500" dirty="0"/>
          </a:p>
        </p:txBody>
      </p:sp>
      <p:sp>
        <p:nvSpPr>
          <p:cNvPr id="19" name="Text 12"/>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¿VES UN RIESGO?</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¡REPÓRTALO!</a:t>
            </a:r>
            <a:endParaRPr lang="en-US" sz="3200" dirty="0"/>
          </a:p>
        </p:txBody>
      </p:sp>
      <p:sp>
        <p:nvSpPr>
          <p:cNvPr id="20" name="Text 13"/>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Uno de los hábitos más importantes que puedes construir en tu día a día.</a:t>
            </a:r>
            <a:endParaRPr lang="en-US" sz="1550" dirty="0"/>
          </a:p>
        </p:txBody>
      </p:sp>
      <p:pic>
        <p:nvPicPr>
          <p:cNvPr id="21"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2"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3"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8543E"/>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CUATRO PASOS QUE MARCAN LA DIFERENCIA</a:t>
            </a:r>
            <a:endParaRPr lang="en-US" sz="2700" dirty="0"/>
          </a:p>
        </p:txBody>
      </p:sp>
      <p:sp>
        <p:nvSpPr>
          <p:cNvPr id="5" name="Shape 2"/>
          <p:cNvSpPr/>
          <p:nvPr/>
        </p:nvSpPr>
        <p:spPr>
          <a:xfrm>
            <a:off x="1469098" y="3049524"/>
            <a:ext cx="960120" cy="960120"/>
          </a:xfrm>
          <a:prstGeom prst="ellipse">
            <a:avLst/>
          </a:prstGeom>
          <a:solidFill>
            <a:srgbClr val="E8543E"/>
          </a:solidFill>
          <a:ln/>
        </p:spPr>
      </p:sp>
      <p:pic>
        <p:nvPicPr>
          <p:cNvPr id="6" name="Image 0" descr="/tmp/claude-0/-home-user-riesgo/0ff9ff46-1396-5bd8-b3ac-2280dfbbbc55/scratchpad/work/gen/icons/eye_white.png">    </p:cNvPr>
          <p:cNvPicPr>
            <a:picLocks noChangeAspect="1"/>
          </p:cNvPicPr>
          <p:nvPr/>
        </p:nvPicPr>
        <p:blipFill>
          <a:blip r:embed="rId1"/>
          <a:stretch>
            <a:fillRect/>
          </a:stretch>
        </p:blipFill>
        <p:spPr>
          <a:xfrm>
            <a:off x="1709128" y="3289554"/>
            <a:ext cx="480060" cy="480060"/>
          </a:xfrm>
          <a:prstGeom prst="rect">
            <a:avLst/>
          </a:prstGeom>
        </p:spPr>
      </p:pic>
      <p:sp>
        <p:nvSpPr>
          <p:cNvPr id="7" name="Text 3"/>
          <p:cNvSpPr txBox="1"/>
          <p:nvPr/>
        </p:nvSpPr>
        <p:spPr>
          <a:xfrm>
            <a:off x="62179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VEO</a:t>
            </a:r>
            <a:endParaRPr lang="en-US" sz="1300" dirty="0"/>
          </a:p>
        </p:txBody>
      </p:sp>
      <p:sp>
        <p:nvSpPr>
          <p:cNvPr id="8" name="Text 4"/>
          <p:cNvSpPr txBox="1"/>
          <p:nvPr/>
        </p:nvSpPr>
        <p:spPr>
          <a:xfrm>
            <a:off x="69494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Algo llama mi atención en mi entorno de trabajo.</a:t>
            </a:r>
            <a:endParaRPr lang="en-US" sz="10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3185084" y="3383280"/>
            <a:ext cx="292608" cy="292608"/>
          </a:xfrm>
          <a:prstGeom prst="rect">
            <a:avLst/>
          </a:prstGeom>
        </p:spPr>
      </p:pic>
      <p:sp>
        <p:nvSpPr>
          <p:cNvPr id="10" name="Shape 5"/>
          <p:cNvSpPr/>
          <p:nvPr/>
        </p:nvSpPr>
        <p:spPr>
          <a:xfrm>
            <a:off x="4233558" y="3049524"/>
            <a:ext cx="960120" cy="960120"/>
          </a:xfrm>
          <a:prstGeom prst="ellipse">
            <a:avLst/>
          </a:prstGeom>
          <a:solidFill>
            <a:srgbClr val="E8543E"/>
          </a:solidFill>
          <a:ln/>
        </p:spPr>
      </p:sp>
      <p:pic>
        <p:nvPicPr>
          <p:cNvPr id="11" name="Image 2" descr="/tmp/claude-0/-home-user-riesgo/0ff9ff46-1396-5bd8-b3ac-2280dfbbbc55/scratchpad/work/gen/icons/magnifier_white.png">    </p:cNvPr>
          <p:cNvPicPr>
            <a:picLocks noChangeAspect="1"/>
          </p:cNvPicPr>
          <p:nvPr/>
        </p:nvPicPr>
        <p:blipFill>
          <a:blip r:embed="rId3"/>
          <a:stretch>
            <a:fillRect/>
          </a:stretch>
        </p:blipFill>
        <p:spPr>
          <a:xfrm>
            <a:off x="4473588" y="3289554"/>
            <a:ext cx="480060" cy="480060"/>
          </a:xfrm>
          <a:prstGeom prst="rect">
            <a:avLst/>
          </a:prstGeom>
        </p:spPr>
      </p:pic>
      <p:sp>
        <p:nvSpPr>
          <p:cNvPr id="12" name="Text 6"/>
          <p:cNvSpPr txBox="1"/>
          <p:nvPr/>
        </p:nvSpPr>
        <p:spPr>
          <a:xfrm>
            <a:off x="338625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IDENTIFICO</a:t>
            </a:r>
            <a:endParaRPr lang="en-US" sz="1300" dirty="0"/>
          </a:p>
        </p:txBody>
      </p:sp>
      <p:sp>
        <p:nvSpPr>
          <p:cNvPr id="13" name="Text 7"/>
          <p:cNvSpPr txBox="1"/>
          <p:nvPr/>
        </p:nvSpPr>
        <p:spPr>
          <a:xfrm>
            <a:off x="345940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Reconozco que se trata de un riesgo real.</a:t>
            </a:r>
            <a:endParaRPr lang="en-US" sz="10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949544" y="3383280"/>
            <a:ext cx="292608" cy="292608"/>
          </a:xfrm>
          <a:prstGeom prst="rect">
            <a:avLst/>
          </a:prstGeom>
        </p:spPr>
      </p:pic>
      <p:sp>
        <p:nvSpPr>
          <p:cNvPr id="15" name="Shape 8"/>
          <p:cNvSpPr/>
          <p:nvPr/>
        </p:nvSpPr>
        <p:spPr>
          <a:xfrm>
            <a:off x="6998017" y="3049524"/>
            <a:ext cx="960120" cy="960120"/>
          </a:xfrm>
          <a:prstGeom prst="ellipse">
            <a:avLst/>
          </a:prstGeom>
          <a:solidFill>
            <a:srgbClr val="E8543E"/>
          </a:solidFill>
          <a:ln/>
        </p:spPr>
      </p:sp>
      <p:pic>
        <p:nvPicPr>
          <p:cNvPr id="16" name="Image 4" descr="/tmp/claude-0/-home-user-riesgo/0ff9ff46-1396-5bd8-b3ac-2280dfbbbc55/scratchpad/work/gen/icons/check_circle_white.png">    </p:cNvPr>
          <p:cNvPicPr>
            <a:picLocks noChangeAspect="1"/>
          </p:cNvPicPr>
          <p:nvPr/>
        </p:nvPicPr>
        <p:blipFill>
          <a:blip r:embed="rId5"/>
          <a:stretch>
            <a:fillRect/>
          </a:stretch>
        </p:blipFill>
        <p:spPr>
          <a:xfrm>
            <a:off x="7238047" y="3289554"/>
            <a:ext cx="480060" cy="480060"/>
          </a:xfrm>
          <a:prstGeom prst="rect">
            <a:avLst/>
          </a:prstGeom>
        </p:spPr>
      </p:pic>
      <p:sp>
        <p:nvSpPr>
          <p:cNvPr id="17" name="Text 9"/>
          <p:cNvSpPr txBox="1"/>
          <p:nvPr/>
        </p:nvSpPr>
        <p:spPr>
          <a:xfrm>
            <a:off x="615071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ACTÚO</a:t>
            </a:r>
            <a:endParaRPr lang="en-US" sz="1300" dirty="0"/>
          </a:p>
        </p:txBody>
      </p:sp>
      <p:sp>
        <p:nvSpPr>
          <p:cNvPr id="18" name="Text 10"/>
          <p:cNvSpPr txBox="1"/>
          <p:nvPr/>
        </p:nvSpPr>
        <p:spPr>
          <a:xfrm>
            <a:off x="622386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Tomo una acción inmediata para contenerlo.</a:t>
            </a:r>
            <a:endParaRPr lang="en-US" sz="1050" dirty="0"/>
          </a:p>
        </p:txBody>
      </p:sp>
      <p:pic>
        <p:nvPicPr>
          <p:cNvPr id="19" name="Image 5" descr="/tmp/claude-0/-home-user-riesgo/0ff9ff46-1396-5bd8-b3ac-2280dfbbbc55/scratchpad/work/gen/icons/arrow_right_gray.png">    </p:cNvPr>
          <p:cNvPicPr>
            <a:picLocks noChangeAspect="1"/>
          </p:cNvPicPr>
          <p:nvPr/>
        </p:nvPicPr>
        <p:blipFill>
          <a:blip r:embed="rId6"/>
          <a:stretch>
            <a:fillRect/>
          </a:stretch>
        </p:blipFill>
        <p:spPr>
          <a:xfrm>
            <a:off x="8714003" y="3383280"/>
            <a:ext cx="292608" cy="292608"/>
          </a:xfrm>
          <a:prstGeom prst="rect">
            <a:avLst/>
          </a:prstGeom>
        </p:spPr>
      </p:pic>
      <p:sp>
        <p:nvSpPr>
          <p:cNvPr id="20" name="Shape 11"/>
          <p:cNvSpPr/>
          <p:nvPr/>
        </p:nvSpPr>
        <p:spPr>
          <a:xfrm>
            <a:off x="9762477" y="3049524"/>
            <a:ext cx="960120" cy="960120"/>
          </a:xfrm>
          <a:prstGeom prst="ellipse">
            <a:avLst/>
          </a:prstGeom>
          <a:solidFill>
            <a:srgbClr val="133B6C"/>
          </a:solidFill>
          <a:ln/>
        </p:spPr>
      </p:sp>
      <p:pic>
        <p:nvPicPr>
          <p:cNvPr id="21" name="Image 6" descr="/tmp/claude-0/-home-user-riesgo/0ff9ff46-1396-5bd8-b3ac-2280dfbbbc55/scratchpad/work/gen/icons/megaphone_white.png">    </p:cNvPr>
          <p:cNvPicPr>
            <a:picLocks noChangeAspect="1"/>
          </p:cNvPicPr>
          <p:nvPr/>
        </p:nvPicPr>
        <p:blipFill>
          <a:blip r:embed="rId7"/>
          <a:stretch>
            <a:fillRect/>
          </a:stretch>
        </p:blipFill>
        <p:spPr>
          <a:xfrm>
            <a:off x="10002507" y="3289554"/>
            <a:ext cx="480060" cy="480060"/>
          </a:xfrm>
          <a:prstGeom prst="rect">
            <a:avLst/>
          </a:prstGeom>
        </p:spPr>
      </p:pic>
      <p:sp>
        <p:nvSpPr>
          <p:cNvPr id="22" name="Text 12"/>
          <p:cNvSpPr txBox="1"/>
          <p:nvPr/>
        </p:nvSpPr>
        <p:spPr>
          <a:xfrm>
            <a:off x="8915171"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REPORTO</a:t>
            </a:r>
            <a:endParaRPr lang="en-US" sz="1300" dirty="0"/>
          </a:p>
        </p:txBody>
      </p:sp>
      <p:sp>
        <p:nvSpPr>
          <p:cNvPr id="23" name="Text 13"/>
          <p:cNvSpPr txBox="1"/>
          <p:nvPr/>
        </p:nvSpPr>
        <p:spPr>
          <a:xfrm>
            <a:off x="8988323"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Lo comunico por el canal institucional.</a:t>
            </a:r>
            <a:endParaRPr lang="en-US" sz="1050" dirty="0"/>
          </a:p>
        </p:txBody>
      </p:sp>
      <p:sp>
        <p:nvSpPr>
          <p:cNvPr id="24"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8543E"/>
                </a:solidFill>
                <a:latin typeface="Calibri" pitchFamily="34" charset="0"/>
                <a:ea typeface="Calibri" pitchFamily="34" charset="-122"/>
                <a:cs typeface="Calibri" pitchFamily="34" charset="-120"/>
              </a:rPr>
              <a:t>TEMA 2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E8543E"/>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E8543E"/>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ignoro; seguro alguien más la recogerá.</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Espero a ver si alguien más se da cuenta y actúa.</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La protejo de la vista de otros y reporto la situación de inmediato.</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8543E"/>
                </a:solidFill>
                <a:latin typeface="Calibri" pitchFamily="34" charset="0"/>
                <a:ea typeface="Calibri" pitchFamily="34" charset="-122"/>
                <a:cs typeface="Calibri" pitchFamily="34" charset="-120"/>
              </a:rPr>
              <a:t>TEMA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ESCENARIO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FAE60"/>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La protejo de la vista de otros y reporto la situación de inmediato.</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¿POR QUÉ?</a:t>
            </a:r>
            <a:endParaRPr lang="en-US" sz="1300" dirty="0"/>
          </a:p>
        </p:txBody>
      </p:sp>
      <p:sp>
        <p:nvSpPr>
          <p:cNvPr id="11" name="Shape 7"/>
          <p:cNvSpPr/>
          <p:nvPr/>
        </p:nvSpPr>
        <p:spPr>
          <a:xfrm>
            <a:off x="566928" y="3703320"/>
            <a:ext cx="11057839" cy="1417320"/>
          </a:xfrm>
          <a:prstGeom prst="roundRect">
            <a:avLst>
              <a:gd name="adj" fmla="val 6452"/>
            </a:avLst>
          </a:prstGeom>
          <a:solidFill>
            <a:srgbClr val="F2F5F9"/>
          </a:solidFill>
          <a:ln/>
        </p:spPr>
      </p:sp>
      <p:sp>
        <p:nvSpPr>
          <p:cNvPr id="12" name="Text 8"/>
          <p:cNvSpPr txBox="1"/>
          <p:nvPr/>
        </p:nvSpPr>
        <p:spPr>
          <a:xfrm>
            <a:off x="886968" y="3886200"/>
            <a:ext cx="10417759" cy="109728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o esperar deja expuesta información de nuestros asociados y aumenta el riesgo de que se convierta en un incidente mayor. Actuar y reportar es lo que evita que un pequeño descuido se transforme en un problema real para la Cooperativa.</a:t>
            </a:r>
            <a:endParaRPr lang="en-US" sz="1350" dirty="0"/>
          </a:p>
        </p:txBody>
      </p:sp>
      <p:sp>
        <p:nvSpPr>
          <p:cNvPr id="13" name="Shape 9"/>
          <p:cNvSpPr/>
          <p:nvPr/>
        </p:nvSpPr>
        <p:spPr>
          <a:xfrm>
            <a:off x="566928" y="5285232"/>
            <a:ext cx="11057839" cy="777240"/>
          </a:xfrm>
          <a:prstGeom prst="roundRect">
            <a:avLst>
              <a:gd name="adj" fmla="val 11765"/>
            </a:avLst>
          </a:prstGeom>
          <a:solidFill>
            <a:srgbClr val="133B6C"/>
          </a:solidFill>
          <a:ln/>
        </p:spPr>
      </p:sp>
      <p:sp>
        <p:nvSpPr>
          <p:cNvPr id="14" name="Shape 10"/>
          <p:cNvSpPr/>
          <p:nvPr/>
        </p:nvSpPr>
        <p:spPr>
          <a:xfrm>
            <a:off x="768096" y="5404104"/>
            <a:ext cx="530352" cy="530352"/>
          </a:xfrm>
          <a:prstGeom prst="ellipse">
            <a:avLst/>
          </a:prstGeom>
          <a:solidFill>
            <a:srgbClr val="F0AD35"/>
          </a:solidFill>
          <a:ln/>
        </p:spPr>
      </p:sp>
      <p:pic>
        <p:nvPicPr>
          <p:cNvPr id="15" name="Image 1" descr="/tmp/claude-0/-home-user-riesgo/0ff9ff46-1396-5bd8-b3ac-2280dfbbbc55/scratchpad/work/gen/icons/mail_navy.png">    </p:cNvPr>
          <p:cNvPicPr>
            <a:picLocks noChangeAspect="1"/>
          </p:cNvPicPr>
          <p:nvPr/>
        </p:nvPicPr>
        <p:blipFill>
          <a:blip r:embed="rId2"/>
          <a:stretch>
            <a:fillRect/>
          </a:stretch>
        </p:blipFill>
        <p:spPr>
          <a:xfrm>
            <a:off x="887425" y="5523433"/>
            <a:ext cx="291694" cy="291694"/>
          </a:xfrm>
          <a:prstGeom prst="rect">
            <a:avLst/>
          </a:prstGeom>
        </p:spPr>
      </p:pic>
      <p:sp>
        <p:nvSpPr>
          <p:cNvPr id="16" name="Text 11"/>
          <p:cNvSpPr txBox="1"/>
          <p:nvPr/>
        </p:nvSpPr>
        <p:spPr>
          <a:xfrm>
            <a:off x="1463040" y="5285232"/>
            <a:ext cx="9869119" cy="777240"/>
          </a:xfrm>
          <a:prstGeom prst="rect">
            <a:avLst/>
          </a:prstGeom>
          <a:noFill/>
          <a:ln/>
        </p:spPr>
        <p:txBody>
          <a:bodyPr wrap="square" lIns="0" tIns="0" rIns="0" bIns="0" rtlCol="0" anchor="ctr"/>
          <a:lstStyle/>
          <a:p>
            <a:pPr indent="0" marL="0">
              <a:lnSpc>
                <a:spcPct val="105000"/>
              </a:lnSpc>
              <a:buNone/>
            </a:pPr>
            <a:r>
              <a:rPr lang="en-US" sz="12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200" dirty="0"/>
          </a:p>
        </p:txBody>
      </p:sp>
      <p:sp>
        <p:nvSpPr>
          <p:cNvPr id="17" name="Text 1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8" name="Text 1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0EA5A0"/>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Text 3"/>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133B6C"/>
                </a:solidFill>
                <a:latin typeface="Cambria" pitchFamily="34" charset="0"/>
                <a:ea typeface="Cambria" pitchFamily="34" charset="-122"/>
                <a:cs typeface="Cambria" pitchFamily="34" charset="-120"/>
              </a:rPr>
              <a:t>03</a:t>
            </a:r>
            <a:endParaRPr lang="en-US" sz="26000" dirty="0"/>
          </a:p>
        </p:txBody>
      </p:sp>
      <p:sp>
        <p:nvSpPr>
          <p:cNvPr id="7" name="Shape 4"/>
          <p:cNvSpPr/>
          <p:nvPr/>
        </p:nvSpPr>
        <p:spPr>
          <a:xfrm>
            <a:off x="8686800" y="2011680"/>
            <a:ext cx="2834640" cy="2834640"/>
          </a:xfrm>
          <a:prstGeom prst="ellipse">
            <a:avLst/>
          </a:prstGeom>
          <a:solidFill>
            <a:srgbClr val="0A1F3B"/>
          </a:solidFill>
          <a:ln/>
        </p:spPr>
      </p:sp>
      <p:sp>
        <p:nvSpPr>
          <p:cNvPr id="8" name="Shape 5"/>
          <p:cNvSpPr/>
          <p:nvPr/>
        </p:nvSpPr>
        <p:spPr>
          <a:xfrm>
            <a:off x="9784080" y="3931920"/>
            <a:ext cx="1371600" cy="1371600"/>
          </a:xfrm>
          <a:prstGeom prst="ellipse">
            <a:avLst/>
          </a:prstGeom>
          <a:solidFill>
            <a:srgbClr val="FFFFFF"/>
          </a:solidFill>
          <a:ln/>
        </p:spPr>
      </p:sp>
      <p:sp>
        <p:nvSpPr>
          <p:cNvPr id="9" name="Shape 6"/>
          <p:cNvSpPr/>
          <p:nvPr/>
        </p:nvSpPr>
        <p:spPr>
          <a:xfrm>
            <a:off x="10698480" y="2011680"/>
            <a:ext cx="960120" cy="960120"/>
          </a:xfrm>
          <a:prstGeom prst="ellipse">
            <a:avLst/>
          </a:prstGeom>
          <a:solidFill>
            <a:srgbClr val="0D2847"/>
          </a:solidFill>
          <a:ln/>
        </p:spPr>
      </p:sp>
      <p:sp>
        <p:nvSpPr>
          <p:cNvPr id="10" name="Shape 7"/>
          <p:cNvSpPr/>
          <p:nvPr/>
        </p:nvSpPr>
        <p:spPr>
          <a:xfrm>
            <a:off x="9075420" y="2217420"/>
            <a:ext cx="1051560" cy="1051560"/>
          </a:xfrm>
          <a:prstGeom prst="ellipse">
            <a:avLst/>
          </a:prstGeom>
          <a:solidFill>
            <a:srgbClr val="FFFFFF"/>
          </a:solidFill>
          <a:ln/>
        </p:spPr>
      </p:sp>
      <p:pic>
        <p:nvPicPr>
          <p:cNvPr id="11" name="Image 0" descr="/tmp/claude-0/-home-user-riesgo/0ff9ff46-1396-5bd8-b3ac-2280dfbbbc55/scratchpad/work/gen/icons/gear_teal.png">    </p:cNvPr>
          <p:cNvPicPr>
            <a:picLocks noChangeAspect="1"/>
          </p:cNvPicPr>
          <p:nvPr/>
        </p:nvPicPr>
        <p:blipFill>
          <a:blip r:embed="rId1"/>
          <a:stretch>
            <a:fillRect/>
          </a:stretch>
        </p:blipFill>
        <p:spPr>
          <a:xfrm>
            <a:off x="9338310" y="2480310"/>
            <a:ext cx="525780" cy="525780"/>
          </a:xfrm>
          <a:prstGeom prst="rect">
            <a:avLst/>
          </a:prstGeom>
        </p:spPr>
      </p:pic>
      <p:sp>
        <p:nvSpPr>
          <p:cNvPr id="12" name="Shape 8"/>
          <p:cNvSpPr/>
          <p:nvPr/>
        </p:nvSpPr>
        <p:spPr>
          <a:xfrm>
            <a:off x="10447020" y="2948940"/>
            <a:ext cx="868680" cy="868680"/>
          </a:xfrm>
          <a:prstGeom prst="ellipse">
            <a:avLst/>
          </a:prstGeom>
          <a:solidFill>
            <a:srgbClr val="0A1F3B"/>
          </a:solidFill>
          <a:ln/>
        </p:spPr>
      </p:sp>
      <p:pic>
        <p:nvPicPr>
          <p:cNvPr id="13" name="Image 1" descr="/tmp/claude-0/-home-user-riesgo/0ff9ff46-1396-5bd8-b3ac-2280dfbbbc55/scratchpad/work/gen/icons/server_white.png">    </p:cNvPr>
          <p:cNvPicPr>
            <a:picLocks noChangeAspect="1"/>
          </p:cNvPicPr>
          <p:nvPr/>
        </p:nvPicPr>
        <p:blipFill>
          <a:blip r:embed="rId2"/>
          <a:stretch>
            <a:fillRect/>
          </a:stretch>
        </p:blipFill>
        <p:spPr>
          <a:xfrm>
            <a:off x="10664190" y="3166110"/>
            <a:ext cx="434340" cy="434340"/>
          </a:xfrm>
          <a:prstGeom prst="rect">
            <a:avLst/>
          </a:prstGeom>
        </p:spPr>
      </p:pic>
      <p:sp>
        <p:nvSpPr>
          <p:cNvPr id="14" name="Shape 9"/>
          <p:cNvSpPr/>
          <p:nvPr/>
        </p:nvSpPr>
        <p:spPr>
          <a:xfrm>
            <a:off x="9578340" y="3909060"/>
            <a:ext cx="777240" cy="777240"/>
          </a:xfrm>
          <a:prstGeom prst="ellipse">
            <a:avLst/>
          </a:prstGeom>
          <a:solidFill>
            <a:srgbClr val="FFFFFF"/>
          </a:solidFill>
          <a:ln/>
        </p:spPr>
      </p:sp>
      <p:pic>
        <p:nvPicPr>
          <p:cNvPr id="15" name="Image 2" descr="/tmp/claude-0/-home-user-riesgo/0ff9ff46-1396-5bd8-b3ac-2280dfbbbc55/scratchpad/work/gen/icons/person_navy.png">    </p:cNvPr>
          <p:cNvPicPr>
            <a:picLocks noChangeAspect="1"/>
          </p:cNvPicPr>
          <p:nvPr/>
        </p:nvPicPr>
        <p:blipFill>
          <a:blip r:embed="rId3"/>
          <a:stretch>
            <a:fillRect/>
          </a:stretch>
        </p:blipFill>
        <p:spPr>
          <a:xfrm>
            <a:off x="9772650" y="4103370"/>
            <a:ext cx="388620" cy="388620"/>
          </a:xfrm>
          <a:prstGeom prst="rect">
            <a:avLst/>
          </a:prstGeom>
        </p:spPr>
      </p:pic>
      <p:sp>
        <p:nvSpPr>
          <p:cNvPr id="16" name="Shape 10"/>
          <p:cNvSpPr/>
          <p:nvPr/>
        </p:nvSpPr>
        <p:spPr>
          <a:xfrm>
            <a:off x="10689336" y="4105656"/>
            <a:ext cx="658368" cy="658368"/>
          </a:xfrm>
          <a:prstGeom prst="ellipse">
            <a:avLst/>
          </a:prstGeom>
          <a:solidFill>
            <a:srgbClr val="0A1F3B"/>
          </a:solidFill>
          <a:ln/>
        </p:spPr>
      </p:sp>
      <p:pic>
        <p:nvPicPr>
          <p:cNvPr id="17" name="Image 3" descr="/tmp/claude-0/-home-user-riesgo/0ff9ff46-1396-5bd8-b3ac-2280dfbbbc55/scratchpad/work/gen/icons/computer_teal.png">    </p:cNvPr>
          <p:cNvPicPr>
            <a:picLocks noChangeAspect="1"/>
          </p:cNvPicPr>
          <p:nvPr/>
        </p:nvPicPr>
        <p:blipFill>
          <a:blip r:embed="rId4"/>
          <a:stretch>
            <a:fillRect/>
          </a:stretch>
        </p:blipFill>
        <p:spPr>
          <a:xfrm>
            <a:off x="10853928" y="4270248"/>
            <a:ext cx="329184" cy="329184"/>
          </a:xfrm>
          <a:prstGeom prst="rect">
            <a:avLst/>
          </a:prstGeom>
        </p:spPr>
      </p:pic>
      <p:sp>
        <p:nvSpPr>
          <p:cNvPr id="18" name="Text 11"/>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0EA5A0"/>
                </a:solidFill>
                <a:latin typeface="Calibri" pitchFamily="34" charset="0"/>
                <a:ea typeface="Calibri" pitchFamily="34" charset="-122"/>
                <a:cs typeface="Calibri" pitchFamily="34" charset="-120"/>
              </a:rPr>
              <a:t>TEMA 3</a:t>
            </a:r>
            <a:endParaRPr lang="en-US" sz="1500" dirty="0"/>
          </a:p>
        </p:txBody>
      </p:sp>
      <p:sp>
        <p:nvSpPr>
          <p:cNvPr id="19" name="Text 12"/>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LOS RIESGOS OPERATIVOS ESTÁN</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EN NUESTRO DÍA A DÍA</a:t>
            </a:r>
            <a:endParaRPr lang="en-US" sz="3200" dirty="0"/>
          </a:p>
        </p:txBody>
      </p:sp>
      <p:sp>
        <p:nvSpPr>
          <p:cNvPr id="20" name="Text 13"/>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Personas, procesos, sistemas y eventos externos: así se presenta el riesgo operativo.</a:t>
            </a:r>
            <a:endParaRPr lang="en-US" sz="1550" dirty="0"/>
          </a:p>
        </p:txBody>
      </p:sp>
      <p:pic>
        <p:nvPicPr>
          <p:cNvPr id="21"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2"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3"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CUATRO ORÍGENES, UN MISMO EFECTO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985516"/>
            <a:ext cx="2545004" cy="2286000"/>
          </a:xfrm>
          <a:prstGeom prst="roundRect">
            <a:avLst>
              <a:gd name="adj" fmla="val 4000"/>
            </a:avLst>
          </a:prstGeom>
          <a:solidFill>
            <a:srgbClr val="F2F5F9"/>
          </a:solidFill>
          <a:ln/>
        </p:spPr>
      </p:sp>
      <p:sp>
        <p:nvSpPr>
          <p:cNvPr id="7" name="Shape 4"/>
          <p:cNvSpPr/>
          <p:nvPr/>
        </p:nvSpPr>
        <p:spPr>
          <a:xfrm>
            <a:off x="1555966" y="3150108"/>
            <a:ext cx="566928" cy="566928"/>
          </a:xfrm>
          <a:prstGeom prst="ellipse">
            <a:avLst/>
          </a:prstGeom>
          <a:solidFill>
            <a:srgbClr val="0EA5A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3286171"/>
            <a:ext cx="294803" cy="294803"/>
          </a:xfrm>
          <a:prstGeom prst="rect">
            <a:avLst/>
          </a:prstGeom>
        </p:spPr>
      </p:pic>
      <p:sp>
        <p:nvSpPr>
          <p:cNvPr id="9" name="Text 5"/>
          <p:cNvSpPr txBox="1"/>
          <p:nvPr/>
        </p:nvSpPr>
        <p:spPr>
          <a:xfrm>
            <a:off x="676656"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985516"/>
            <a:ext cx="2545004" cy="2286000"/>
          </a:xfrm>
          <a:prstGeom prst="roundRect">
            <a:avLst>
              <a:gd name="adj" fmla="val 4000"/>
            </a:avLst>
          </a:prstGeom>
          <a:solidFill>
            <a:srgbClr val="F2F5F9"/>
          </a:solidFill>
          <a:ln/>
        </p:spPr>
      </p:sp>
      <p:sp>
        <p:nvSpPr>
          <p:cNvPr id="12" name="Shape 8"/>
          <p:cNvSpPr/>
          <p:nvPr/>
        </p:nvSpPr>
        <p:spPr>
          <a:xfrm>
            <a:off x="4393578" y="3150108"/>
            <a:ext cx="566928" cy="566928"/>
          </a:xfrm>
          <a:prstGeom prst="ellipse">
            <a:avLst/>
          </a:prstGeom>
          <a:solidFill>
            <a:srgbClr val="0EA5A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3286171"/>
            <a:ext cx="294803" cy="294803"/>
          </a:xfrm>
          <a:prstGeom prst="rect">
            <a:avLst/>
          </a:prstGeom>
        </p:spPr>
      </p:pic>
      <p:sp>
        <p:nvSpPr>
          <p:cNvPr id="14" name="Text 9"/>
          <p:cNvSpPr txBox="1"/>
          <p:nvPr/>
        </p:nvSpPr>
        <p:spPr>
          <a:xfrm>
            <a:off x="3514268"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985516"/>
            <a:ext cx="2545004" cy="2286000"/>
          </a:xfrm>
          <a:prstGeom prst="roundRect">
            <a:avLst>
              <a:gd name="adj" fmla="val 4000"/>
            </a:avLst>
          </a:prstGeom>
          <a:solidFill>
            <a:srgbClr val="F2F5F9"/>
          </a:solidFill>
          <a:ln/>
        </p:spPr>
      </p:sp>
      <p:sp>
        <p:nvSpPr>
          <p:cNvPr id="17" name="Shape 12"/>
          <p:cNvSpPr/>
          <p:nvPr/>
        </p:nvSpPr>
        <p:spPr>
          <a:xfrm>
            <a:off x="7231189" y="3150108"/>
            <a:ext cx="566928" cy="566928"/>
          </a:xfrm>
          <a:prstGeom prst="ellipse">
            <a:avLst/>
          </a:prstGeom>
          <a:solidFill>
            <a:srgbClr val="0EA5A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3286171"/>
            <a:ext cx="294803" cy="294803"/>
          </a:xfrm>
          <a:prstGeom prst="rect">
            <a:avLst/>
          </a:prstGeom>
        </p:spPr>
      </p:pic>
      <p:sp>
        <p:nvSpPr>
          <p:cNvPr id="19" name="Text 13"/>
          <p:cNvSpPr txBox="1"/>
          <p:nvPr/>
        </p:nvSpPr>
        <p:spPr>
          <a:xfrm>
            <a:off x="6351880"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985516"/>
            <a:ext cx="2545004" cy="2286000"/>
          </a:xfrm>
          <a:prstGeom prst="roundRect">
            <a:avLst>
              <a:gd name="adj" fmla="val 4000"/>
            </a:avLst>
          </a:prstGeom>
          <a:solidFill>
            <a:srgbClr val="F2F5F9"/>
          </a:solidFill>
          <a:ln/>
        </p:spPr>
      </p:sp>
      <p:sp>
        <p:nvSpPr>
          <p:cNvPr id="22" name="Shape 16"/>
          <p:cNvSpPr/>
          <p:nvPr/>
        </p:nvSpPr>
        <p:spPr>
          <a:xfrm>
            <a:off x="10068801" y="3150108"/>
            <a:ext cx="566928" cy="566928"/>
          </a:xfrm>
          <a:prstGeom prst="ellipse">
            <a:avLst/>
          </a:prstGeom>
          <a:solidFill>
            <a:srgbClr val="0EA5A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3286171"/>
            <a:ext cx="294803" cy="294803"/>
          </a:xfrm>
          <a:prstGeom prst="rect">
            <a:avLst/>
          </a:prstGeom>
        </p:spPr>
      </p:pic>
      <p:sp>
        <p:nvSpPr>
          <p:cNvPr id="24" name="Text 17"/>
          <p:cNvSpPr txBox="1"/>
          <p:nvPr/>
        </p:nvSpPr>
        <p:spPr>
          <a:xfrm>
            <a:off x="9189491" y="386334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437540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9692640" y="-2194560"/>
            <a:ext cx="5486400" cy="5486400"/>
          </a:xfrm>
          <a:prstGeom prst="ellipse">
            <a:avLst/>
          </a:prstGeom>
          <a:solidFill>
            <a:srgbClr val="0D2847"/>
          </a:solidFill>
          <a:ln/>
        </p:spPr>
      </p:sp>
      <p:sp>
        <p:nvSpPr>
          <p:cNvPr id="4" name="Text 1"/>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EL RIESGO OPERATIVO NO SIEMPRE</a:t>
            </a:r>
            <a:endParaRPr lang="en-US" sz="2700" dirty="0"/>
          </a:p>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SE VE COMO UN GRAN PROBLEMA.</a:t>
            </a:r>
            <a:endParaRPr lang="en-US" sz="2700" dirty="0"/>
          </a:p>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A VECES COMIENZA CON</a:t>
            </a:r>
            <a:endParaRPr lang="en-US" sz="2700" dirty="0"/>
          </a:p>
          <a:p>
            <a:pPr algn="ctr" indent="0" marL="0">
              <a:lnSpc>
                <a:spcPct val="118000"/>
              </a:lnSpc>
              <a:buNone/>
            </a:pPr>
            <a:r>
              <a:rPr lang="en-US" sz="3000" b="1" dirty="0">
                <a:solidFill>
                  <a:srgbClr val="0EA5A0"/>
                </a:solidFill>
                <a:latin typeface="Cambria" pitchFamily="34" charset="0"/>
                <a:ea typeface="Cambria" pitchFamily="34" charset="-122"/>
                <a:cs typeface="Cambria" pitchFamily="34" charset="-120"/>
              </a:rPr>
              <a:t>UN PEQUEÑO DESCUIDO.</a:t>
            </a:r>
            <a:endParaRPr lang="en-US" sz="2700" dirty="0"/>
          </a:p>
        </p:txBody>
      </p:sp>
      <p:sp>
        <p:nvSpPr>
          <p:cNvPr id="5" name="Text 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6" name="Text 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C2185B"/>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Text 3"/>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133B6C"/>
                </a:solidFill>
                <a:latin typeface="Cambria" pitchFamily="34" charset="0"/>
                <a:ea typeface="Cambria" pitchFamily="34" charset="-122"/>
                <a:cs typeface="Cambria" pitchFamily="34" charset="-120"/>
              </a:rPr>
              <a:t>04</a:t>
            </a:r>
            <a:endParaRPr lang="en-US" sz="26000" dirty="0"/>
          </a:p>
        </p:txBody>
      </p:sp>
      <p:sp>
        <p:nvSpPr>
          <p:cNvPr id="7" name="Shape 4"/>
          <p:cNvSpPr/>
          <p:nvPr/>
        </p:nvSpPr>
        <p:spPr>
          <a:xfrm>
            <a:off x="8686800" y="2011680"/>
            <a:ext cx="2834640" cy="2834640"/>
          </a:xfrm>
          <a:prstGeom prst="ellipse">
            <a:avLst/>
          </a:prstGeom>
          <a:solidFill>
            <a:srgbClr val="0A1F3B"/>
          </a:solidFill>
          <a:ln/>
        </p:spPr>
      </p:sp>
      <p:sp>
        <p:nvSpPr>
          <p:cNvPr id="8" name="Shape 5"/>
          <p:cNvSpPr/>
          <p:nvPr/>
        </p:nvSpPr>
        <p:spPr>
          <a:xfrm>
            <a:off x="9784080" y="3931920"/>
            <a:ext cx="1371600" cy="1371600"/>
          </a:xfrm>
          <a:prstGeom prst="ellipse">
            <a:avLst/>
          </a:prstGeom>
          <a:solidFill>
            <a:srgbClr val="FFFFFF"/>
          </a:solidFill>
          <a:ln/>
        </p:spPr>
      </p:sp>
      <p:sp>
        <p:nvSpPr>
          <p:cNvPr id="9" name="Shape 6"/>
          <p:cNvSpPr/>
          <p:nvPr/>
        </p:nvSpPr>
        <p:spPr>
          <a:xfrm>
            <a:off x="10698480" y="2011680"/>
            <a:ext cx="960120" cy="960120"/>
          </a:xfrm>
          <a:prstGeom prst="ellipse">
            <a:avLst/>
          </a:prstGeom>
          <a:solidFill>
            <a:srgbClr val="0D2847"/>
          </a:solidFill>
          <a:ln/>
        </p:spPr>
      </p:sp>
      <p:sp>
        <p:nvSpPr>
          <p:cNvPr id="10" name="Shape 7"/>
          <p:cNvSpPr/>
          <p:nvPr/>
        </p:nvSpPr>
        <p:spPr>
          <a:xfrm>
            <a:off x="9075420" y="2217420"/>
            <a:ext cx="1051560" cy="1051560"/>
          </a:xfrm>
          <a:prstGeom prst="ellipse">
            <a:avLst/>
          </a:prstGeom>
          <a:solidFill>
            <a:srgbClr val="FFFFFF"/>
          </a:solidFill>
          <a:ln/>
        </p:spPr>
      </p:sp>
      <p:pic>
        <p:nvPicPr>
          <p:cNvPr id="11" name="Image 0" descr="/tmp/claude-0/-home-user-riesgo/0ff9ff46-1396-5bd8-b3ac-2280dfbbbc55/scratchpad/work/gen/icons/star_rose.png">    </p:cNvPr>
          <p:cNvPicPr>
            <a:picLocks noChangeAspect="1"/>
          </p:cNvPicPr>
          <p:nvPr/>
        </p:nvPicPr>
        <p:blipFill>
          <a:blip r:embed="rId1"/>
          <a:stretch>
            <a:fillRect/>
          </a:stretch>
        </p:blipFill>
        <p:spPr>
          <a:xfrm>
            <a:off x="9338310" y="2480310"/>
            <a:ext cx="525780" cy="525780"/>
          </a:xfrm>
          <a:prstGeom prst="rect">
            <a:avLst/>
          </a:prstGeom>
        </p:spPr>
      </p:pic>
      <p:sp>
        <p:nvSpPr>
          <p:cNvPr id="12" name="Shape 8"/>
          <p:cNvSpPr/>
          <p:nvPr/>
        </p:nvSpPr>
        <p:spPr>
          <a:xfrm>
            <a:off x="10447020" y="2948940"/>
            <a:ext cx="868680" cy="868680"/>
          </a:xfrm>
          <a:prstGeom prst="ellipse">
            <a:avLst/>
          </a:prstGeom>
          <a:solidFill>
            <a:srgbClr val="0A1F3B"/>
          </a:solidFill>
          <a:ln/>
        </p:spPr>
      </p:sp>
      <p:pic>
        <p:nvPicPr>
          <p:cNvPr id="13" name="Image 1" descr="/tmp/claude-0/-home-user-riesgo/0ff9ff46-1396-5bd8-b3ac-2280dfbbbc55/scratchpad/work/gen/icons/heart_white.png">    </p:cNvPr>
          <p:cNvPicPr>
            <a:picLocks noChangeAspect="1"/>
          </p:cNvPicPr>
          <p:nvPr/>
        </p:nvPicPr>
        <p:blipFill>
          <a:blip r:embed="rId2"/>
          <a:stretch>
            <a:fillRect/>
          </a:stretch>
        </p:blipFill>
        <p:spPr>
          <a:xfrm>
            <a:off x="10664190" y="3166110"/>
            <a:ext cx="434340" cy="434340"/>
          </a:xfrm>
          <a:prstGeom prst="rect">
            <a:avLst/>
          </a:prstGeom>
        </p:spPr>
      </p:pic>
      <p:sp>
        <p:nvSpPr>
          <p:cNvPr id="14" name="Shape 9"/>
          <p:cNvSpPr/>
          <p:nvPr/>
        </p:nvSpPr>
        <p:spPr>
          <a:xfrm>
            <a:off x="9578340" y="3909060"/>
            <a:ext cx="777240" cy="777240"/>
          </a:xfrm>
          <a:prstGeom prst="ellipse">
            <a:avLst/>
          </a:prstGeom>
          <a:solidFill>
            <a:srgbClr val="FFFFFF"/>
          </a:solidFill>
          <a:ln/>
        </p:spPr>
      </p:sp>
      <p:pic>
        <p:nvPicPr>
          <p:cNvPr id="15" name="Image 2" descr="/tmp/claude-0/-home-user-riesgo/0ff9ff46-1396-5bd8-b3ac-2280dfbbbc55/scratchpad/work/gen/icons/social_navy.png">    </p:cNvPr>
          <p:cNvPicPr>
            <a:picLocks noChangeAspect="1"/>
          </p:cNvPicPr>
          <p:nvPr/>
        </p:nvPicPr>
        <p:blipFill>
          <a:blip r:embed="rId3"/>
          <a:stretch>
            <a:fillRect/>
          </a:stretch>
        </p:blipFill>
        <p:spPr>
          <a:xfrm>
            <a:off x="9772650" y="4103370"/>
            <a:ext cx="388620" cy="388620"/>
          </a:xfrm>
          <a:prstGeom prst="rect">
            <a:avLst/>
          </a:prstGeom>
        </p:spPr>
      </p:pic>
      <p:sp>
        <p:nvSpPr>
          <p:cNvPr id="16" name="Shape 10"/>
          <p:cNvSpPr/>
          <p:nvPr/>
        </p:nvSpPr>
        <p:spPr>
          <a:xfrm>
            <a:off x="10689336" y="4105656"/>
            <a:ext cx="658368" cy="658368"/>
          </a:xfrm>
          <a:prstGeom prst="ellipse">
            <a:avLst/>
          </a:prstGeom>
          <a:solidFill>
            <a:srgbClr val="0A1F3B"/>
          </a:solidFill>
          <a:ln/>
        </p:spPr>
      </p:sp>
      <p:pic>
        <p:nvPicPr>
          <p:cNvPr id="17" name="Image 3" descr="/tmp/claude-0/-home-user-riesgo/0ff9ff46-1396-5bd8-b3ac-2280dfbbbc55/scratchpad/work/gen/icons/handshake_rose.png">    </p:cNvPr>
          <p:cNvPicPr>
            <a:picLocks noChangeAspect="1"/>
          </p:cNvPicPr>
          <p:nvPr/>
        </p:nvPicPr>
        <p:blipFill>
          <a:blip r:embed="rId4"/>
          <a:stretch>
            <a:fillRect/>
          </a:stretch>
        </p:blipFill>
        <p:spPr>
          <a:xfrm>
            <a:off x="10853928" y="4270248"/>
            <a:ext cx="329184" cy="329184"/>
          </a:xfrm>
          <a:prstGeom prst="rect">
            <a:avLst/>
          </a:prstGeom>
        </p:spPr>
      </p:pic>
      <p:sp>
        <p:nvSpPr>
          <p:cNvPr id="18" name="Text 11"/>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C2185B"/>
                </a:solidFill>
                <a:latin typeface="Calibri" pitchFamily="34" charset="0"/>
                <a:ea typeface="Calibri" pitchFamily="34" charset="-122"/>
                <a:cs typeface="Calibri" pitchFamily="34" charset="-120"/>
              </a:rPr>
              <a:t>TEMA 4</a:t>
            </a:r>
            <a:endParaRPr lang="en-US" sz="1500" dirty="0"/>
          </a:p>
        </p:txBody>
      </p:sp>
      <p:sp>
        <p:nvSpPr>
          <p:cNvPr id="19" name="Text 12"/>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CUIDEMOS LA REPUTACIÓN</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DE NUESTRA COOPERATIVA</a:t>
            </a:r>
            <a:endParaRPr lang="en-US" sz="3200" dirty="0"/>
          </a:p>
        </p:txBody>
      </p:sp>
      <p:sp>
        <p:nvSpPr>
          <p:cNvPr id="20" name="Text 13"/>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REPUTACIÓN = CONFIANZA. Y la confianza se construye todos los días.</a:t>
            </a:r>
            <a:endParaRPr lang="en-US" sz="1550" dirty="0"/>
          </a:p>
        </p:txBody>
      </p:sp>
      <p:pic>
        <p:nvPicPr>
          <p:cNvPr id="21"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2"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3"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C2185B"/>
                </a:solidFill>
                <a:latin typeface="Calibri" pitchFamily="34" charset="0"/>
                <a:ea typeface="Calibri" pitchFamily="34" charset="-122"/>
                <a:cs typeface="Calibri" pitchFamily="34" charset="-120"/>
              </a:rPr>
              <a:t>TEMA 4 ·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¿QUÉ CONSTRUYE NUESTRA REPUTACIÓN?</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reputación de COMEDICA DE R.L. se forma con cada interacción:</a:t>
            </a:r>
            <a:endParaRPr lang="en-US" sz="1500" dirty="0"/>
          </a:p>
        </p:txBody>
      </p:sp>
      <p:sp>
        <p:nvSpPr>
          <p:cNvPr id="6" name="Shape 3"/>
          <p:cNvSpPr/>
          <p:nvPr/>
        </p:nvSpPr>
        <p:spPr>
          <a:xfrm>
            <a:off x="566928" y="2308860"/>
            <a:ext cx="2545004" cy="1691640"/>
          </a:xfrm>
          <a:prstGeom prst="roundRect">
            <a:avLst>
              <a:gd name="adj" fmla="val 5405"/>
            </a:avLst>
          </a:prstGeom>
          <a:solidFill>
            <a:srgbClr val="F2F5F9"/>
          </a:solidFill>
          <a:ln/>
        </p:spPr>
      </p:sp>
      <p:sp>
        <p:nvSpPr>
          <p:cNvPr id="7" name="Shape 4"/>
          <p:cNvSpPr/>
          <p:nvPr/>
        </p:nvSpPr>
        <p:spPr>
          <a:xfrm>
            <a:off x="1555966" y="2569464"/>
            <a:ext cx="566928" cy="566928"/>
          </a:xfrm>
          <a:prstGeom prst="ellipse">
            <a:avLst/>
          </a:prstGeom>
          <a:solidFill>
            <a:srgbClr val="C2185B"/>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705527"/>
            <a:ext cx="294803" cy="294803"/>
          </a:xfrm>
          <a:prstGeom prst="rect">
            <a:avLst/>
          </a:prstGeom>
        </p:spPr>
      </p:pic>
      <p:sp>
        <p:nvSpPr>
          <p:cNvPr id="9" name="Text 5"/>
          <p:cNvSpPr txBox="1"/>
          <p:nvPr/>
        </p:nvSpPr>
        <p:spPr>
          <a:xfrm>
            <a:off x="676656"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308860"/>
            <a:ext cx="2545004" cy="1691640"/>
          </a:xfrm>
          <a:prstGeom prst="roundRect">
            <a:avLst>
              <a:gd name="adj" fmla="val 5405"/>
            </a:avLst>
          </a:prstGeom>
          <a:solidFill>
            <a:srgbClr val="F2F5F9"/>
          </a:solidFill>
          <a:ln/>
        </p:spPr>
      </p:sp>
      <p:sp>
        <p:nvSpPr>
          <p:cNvPr id="11" name="Shape 7"/>
          <p:cNvSpPr/>
          <p:nvPr/>
        </p:nvSpPr>
        <p:spPr>
          <a:xfrm>
            <a:off x="4393578" y="2569464"/>
            <a:ext cx="566928" cy="566928"/>
          </a:xfrm>
          <a:prstGeom prst="ellipse">
            <a:avLst/>
          </a:prstGeom>
          <a:solidFill>
            <a:srgbClr val="C2185B"/>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705527"/>
            <a:ext cx="294803" cy="294803"/>
          </a:xfrm>
          <a:prstGeom prst="rect">
            <a:avLst/>
          </a:prstGeom>
        </p:spPr>
      </p:pic>
      <p:sp>
        <p:nvSpPr>
          <p:cNvPr id="13" name="Text 8"/>
          <p:cNvSpPr txBox="1"/>
          <p:nvPr/>
        </p:nvSpPr>
        <p:spPr>
          <a:xfrm>
            <a:off x="3514268"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308860"/>
            <a:ext cx="2545004" cy="1691640"/>
          </a:xfrm>
          <a:prstGeom prst="roundRect">
            <a:avLst>
              <a:gd name="adj" fmla="val 5405"/>
            </a:avLst>
          </a:prstGeom>
          <a:solidFill>
            <a:srgbClr val="F2F5F9"/>
          </a:solidFill>
          <a:ln/>
        </p:spPr>
      </p:sp>
      <p:sp>
        <p:nvSpPr>
          <p:cNvPr id="15" name="Shape 10"/>
          <p:cNvSpPr/>
          <p:nvPr/>
        </p:nvSpPr>
        <p:spPr>
          <a:xfrm>
            <a:off x="7231189" y="2569464"/>
            <a:ext cx="566928" cy="566928"/>
          </a:xfrm>
          <a:prstGeom prst="ellipse">
            <a:avLst/>
          </a:prstGeom>
          <a:solidFill>
            <a:srgbClr val="C2185B"/>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705527"/>
            <a:ext cx="294803" cy="294803"/>
          </a:xfrm>
          <a:prstGeom prst="rect">
            <a:avLst/>
          </a:prstGeom>
        </p:spPr>
      </p:pic>
      <p:sp>
        <p:nvSpPr>
          <p:cNvPr id="17" name="Text 11"/>
          <p:cNvSpPr txBox="1"/>
          <p:nvPr/>
        </p:nvSpPr>
        <p:spPr>
          <a:xfrm>
            <a:off x="6351880"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308860"/>
            <a:ext cx="2545004" cy="1691640"/>
          </a:xfrm>
          <a:prstGeom prst="roundRect">
            <a:avLst>
              <a:gd name="adj" fmla="val 5405"/>
            </a:avLst>
          </a:prstGeom>
          <a:solidFill>
            <a:srgbClr val="F2F5F9"/>
          </a:solidFill>
          <a:ln/>
        </p:spPr>
      </p:sp>
      <p:sp>
        <p:nvSpPr>
          <p:cNvPr id="19" name="Shape 13"/>
          <p:cNvSpPr/>
          <p:nvPr/>
        </p:nvSpPr>
        <p:spPr>
          <a:xfrm>
            <a:off x="10068801" y="2569464"/>
            <a:ext cx="566928" cy="566928"/>
          </a:xfrm>
          <a:prstGeom prst="ellipse">
            <a:avLst/>
          </a:prstGeom>
          <a:solidFill>
            <a:srgbClr val="C2185B"/>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705527"/>
            <a:ext cx="294803" cy="294803"/>
          </a:xfrm>
          <a:prstGeom prst="rect">
            <a:avLst/>
          </a:prstGeom>
        </p:spPr>
      </p:pic>
      <p:sp>
        <p:nvSpPr>
          <p:cNvPr id="21" name="Text 14"/>
          <p:cNvSpPr txBox="1"/>
          <p:nvPr/>
        </p:nvSpPr>
        <p:spPr>
          <a:xfrm>
            <a:off x="9189491" y="328269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4256532"/>
            <a:ext cx="2545004" cy="1691640"/>
          </a:xfrm>
          <a:prstGeom prst="roundRect">
            <a:avLst>
              <a:gd name="adj" fmla="val 5405"/>
            </a:avLst>
          </a:prstGeom>
          <a:solidFill>
            <a:srgbClr val="F2F5F9"/>
          </a:solidFill>
          <a:ln/>
        </p:spPr>
      </p:sp>
      <p:sp>
        <p:nvSpPr>
          <p:cNvPr id="23" name="Shape 16"/>
          <p:cNvSpPr/>
          <p:nvPr/>
        </p:nvSpPr>
        <p:spPr>
          <a:xfrm>
            <a:off x="1555966" y="4517136"/>
            <a:ext cx="566928" cy="566928"/>
          </a:xfrm>
          <a:prstGeom prst="ellipse">
            <a:avLst/>
          </a:prstGeom>
          <a:solidFill>
            <a:srgbClr val="C2185B"/>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653199"/>
            <a:ext cx="294803" cy="294803"/>
          </a:xfrm>
          <a:prstGeom prst="rect">
            <a:avLst/>
          </a:prstGeom>
        </p:spPr>
      </p:pic>
      <p:sp>
        <p:nvSpPr>
          <p:cNvPr id="25" name="Text 17"/>
          <p:cNvSpPr txBox="1"/>
          <p:nvPr/>
        </p:nvSpPr>
        <p:spPr>
          <a:xfrm>
            <a:off x="676656"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4256532"/>
            <a:ext cx="2545004" cy="1691640"/>
          </a:xfrm>
          <a:prstGeom prst="roundRect">
            <a:avLst>
              <a:gd name="adj" fmla="val 5405"/>
            </a:avLst>
          </a:prstGeom>
          <a:solidFill>
            <a:srgbClr val="F2F5F9"/>
          </a:solidFill>
          <a:ln/>
        </p:spPr>
      </p:sp>
      <p:sp>
        <p:nvSpPr>
          <p:cNvPr id="27" name="Shape 19"/>
          <p:cNvSpPr/>
          <p:nvPr/>
        </p:nvSpPr>
        <p:spPr>
          <a:xfrm>
            <a:off x="4393578" y="4517136"/>
            <a:ext cx="566928" cy="566928"/>
          </a:xfrm>
          <a:prstGeom prst="ellipse">
            <a:avLst/>
          </a:prstGeom>
          <a:solidFill>
            <a:srgbClr val="C2185B"/>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653199"/>
            <a:ext cx="294803" cy="294803"/>
          </a:xfrm>
          <a:prstGeom prst="rect">
            <a:avLst/>
          </a:prstGeom>
        </p:spPr>
      </p:pic>
      <p:sp>
        <p:nvSpPr>
          <p:cNvPr id="29" name="Text 20"/>
          <p:cNvSpPr txBox="1"/>
          <p:nvPr/>
        </p:nvSpPr>
        <p:spPr>
          <a:xfrm>
            <a:off x="3514268"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4256532"/>
            <a:ext cx="2545004" cy="1691640"/>
          </a:xfrm>
          <a:prstGeom prst="roundRect">
            <a:avLst>
              <a:gd name="adj" fmla="val 5405"/>
            </a:avLst>
          </a:prstGeom>
          <a:solidFill>
            <a:srgbClr val="F2F5F9"/>
          </a:solidFill>
          <a:ln/>
        </p:spPr>
      </p:sp>
      <p:sp>
        <p:nvSpPr>
          <p:cNvPr id="31" name="Shape 22"/>
          <p:cNvSpPr/>
          <p:nvPr/>
        </p:nvSpPr>
        <p:spPr>
          <a:xfrm>
            <a:off x="7231189" y="4517136"/>
            <a:ext cx="566928" cy="566928"/>
          </a:xfrm>
          <a:prstGeom prst="ellipse">
            <a:avLst/>
          </a:prstGeom>
          <a:solidFill>
            <a:srgbClr val="C2185B"/>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653199"/>
            <a:ext cx="294803" cy="294803"/>
          </a:xfrm>
          <a:prstGeom prst="rect">
            <a:avLst/>
          </a:prstGeom>
        </p:spPr>
      </p:pic>
      <p:sp>
        <p:nvSpPr>
          <p:cNvPr id="33" name="Text 23"/>
          <p:cNvSpPr txBox="1"/>
          <p:nvPr/>
        </p:nvSpPr>
        <p:spPr>
          <a:xfrm>
            <a:off x="6351880"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4256532"/>
            <a:ext cx="2545004" cy="1691640"/>
          </a:xfrm>
          <a:prstGeom prst="roundRect">
            <a:avLst>
              <a:gd name="adj" fmla="val 5405"/>
            </a:avLst>
          </a:prstGeom>
          <a:solidFill>
            <a:srgbClr val="F2F5F9"/>
          </a:solidFill>
          <a:ln/>
        </p:spPr>
      </p:sp>
      <p:sp>
        <p:nvSpPr>
          <p:cNvPr id="35" name="Shape 25"/>
          <p:cNvSpPr/>
          <p:nvPr/>
        </p:nvSpPr>
        <p:spPr>
          <a:xfrm>
            <a:off x="10068801" y="4517136"/>
            <a:ext cx="566928" cy="566928"/>
          </a:xfrm>
          <a:prstGeom prst="ellipse">
            <a:avLst/>
          </a:prstGeom>
          <a:solidFill>
            <a:srgbClr val="C2185B"/>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653199"/>
            <a:ext cx="294803" cy="294803"/>
          </a:xfrm>
          <a:prstGeom prst="rect">
            <a:avLst/>
          </a:prstGeom>
        </p:spPr>
      </p:pic>
      <p:sp>
        <p:nvSpPr>
          <p:cNvPr id="37" name="Text 26"/>
          <p:cNvSpPr txBox="1"/>
          <p:nvPr/>
        </p:nvSpPr>
        <p:spPr>
          <a:xfrm>
            <a:off x="9189491" y="5230368"/>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Text 2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9692640" y="-2194560"/>
            <a:ext cx="5486400" cy="5486400"/>
          </a:xfrm>
          <a:prstGeom prst="ellipse">
            <a:avLst/>
          </a:prstGeom>
          <a:solidFill>
            <a:srgbClr val="0D2847"/>
          </a:solidFill>
          <a:ln/>
        </p:spPr>
      </p:sp>
      <p:sp>
        <p:nvSpPr>
          <p:cNvPr id="4" name="Text 1"/>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UNA EXPERIENCIA PUEDE DURAR MINUTOS.</a:t>
            </a:r>
            <a:endParaRPr lang="en-US" sz="2700" dirty="0"/>
          </a:p>
          <a:p>
            <a:pPr algn="ctr" indent="0" marL="0">
              <a:lnSpc>
                <a:spcPct val="118000"/>
              </a:lnSpc>
              <a:buNone/>
            </a:pPr>
            <a:r>
              <a:rPr lang="en-US" sz="2700" dirty="0">
                <a:solidFill>
                  <a:srgbClr val="FFFFFF"/>
                </a:solidFill>
                <a:latin typeface="Cambria" pitchFamily="34" charset="0"/>
                <a:ea typeface="Cambria" pitchFamily="34" charset="-122"/>
                <a:cs typeface="Cambria" pitchFamily="34" charset="-120"/>
              </a:rPr>
              <a:t>UNA MALA REPUTACIÓN</a:t>
            </a:r>
            <a:endParaRPr lang="en-US" sz="2700" dirty="0"/>
          </a:p>
          <a:p>
            <a:pPr algn="ctr" indent="0" marL="0">
              <a:lnSpc>
                <a:spcPct val="118000"/>
              </a:lnSpc>
              <a:buNone/>
            </a:pPr>
            <a:r>
              <a:rPr lang="en-US" sz="3000" b="1" dirty="0">
                <a:solidFill>
                  <a:srgbClr val="C2185B"/>
                </a:solidFill>
                <a:latin typeface="Cambria" pitchFamily="34" charset="0"/>
                <a:ea typeface="Cambria" pitchFamily="34" charset="-122"/>
                <a:cs typeface="Cambria" pitchFamily="34" charset="-120"/>
              </a:rPr>
              <a:t>PUEDE DURAR MUCHO MÁS.</a:t>
            </a:r>
            <a:endParaRPr lang="en-US" sz="2700" dirty="0"/>
          </a:p>
        </p:txBody>
      </p:sp>
      <p:sp>
        <p:nvSpPr>
          <p:cNvPr id="5" name="Text 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6" name="Text 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C2185B"/>
                </a:solidFill>
                <a:latin typeface="Calibri" pitchFamily="34" charset="0"/>
                <a:ea typeface="Calibri" pitchFamily="34" charset="-122"/>
                <a:cs typeface="Calibri" pitchFamily="34" charset="-120"/>
              </a:rPr>
              <a:t>TEMA 4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CASO: UN ASOCIADO INSATISFECHO</a:t>
            </a:r>
            <a:endParaRPr lang="en-US" sz="2700" dirty="0"/>
          </a:p>
        </p:txBody>
      </p:sp>
      <p:sp>
        <p:nvSpPr>
          <p:cNvPr id="5" name="Shape 2"/>
          <p:cNvSpPr/>
          <p:nvPr/>
        </p:nvSpPr>
        <p:spPr>
          <a:xfrm>
            <a:off x="566928" y="1783080"/>
            <a:ext cx="11057839" cy="1417320"/>
          </a:xfrm>
          <a:prstGeom prst="roundRect">
            <a:avLst>
              <a:gd name="adj" fmla="val 7742"/>
            </a:avLst>
          </a:prstGeom>
          <a:solidFill>
            <a:srgbClr val="133B6C"/>
          </a:solidFill>
          <a:ln/>
        </p:spPr>
      </p:sp>
      <p:sp>
        <p:nvSpPr>
          <p:cNvPr id="6" name="Shape 3"/>
          <p:cNvSpPr/>
          <p:nvPr/>
        </p:nvSpPr>
        <p:spPr>
          <a:xfrm>
            <a:off x="841248" y="2148840"/>
            <a:ext cx="685800" cy="685800"/>
          </a:xfrm>
          <a:prstGeom prst="ellipse">
            <a:avLst/>
          </a:prstGeom>
          <a:solidFill>
            <a:srgbClr val="C2185B"/>
          </a:solidFill>
          <a:ln/>
        </p:spPr>
      </p:sp>
      <p:pic>
        <p:nvPicPr>
          <p:cNvPr id="7" name="Image 0" descr="/tmp/claude-0/-home-user-riesgo/0ff9ff46-1396-5bd8-b3ac-2280dfbbbc55/scratchpad/work/gen/icons/heart_crack_white.png">    </p:cNvPr>
          <p:cNvPicPr>
            <a:picLocks noChangeAspect="1"/>
          </p:cNvPicPr>
          <p:nvPr/>
        </p:nvPicPr>
        <p:blipFill>
          <a:blip r:embed="rId1"/>
          <a:stretch>
            <a:fillRect/>
          </a:stretch>
        </p:blipFill>
        <p:spPr>
          <a:xfrm>
            <a:off x="995553" y="2303145"/>
            <a:ext cx="377190" cy="377190"/>
          </a:xfrm>
          <a:prstGeom prst="rect">
            <a:avLst/>
          </a:prstGeom>
        </p:spPr>
      </p:pic>
      <p:sp>
        <p:nvSpPr>
          <p:cNvPr id="8" name="Text 4"/>
          <p:cNvSpPr txBox="1"/>
          <p:nvPr/>
        </p:nvSpPr>
        <p:spPr>
          <a:xfrm>
            <a:off x="1755648" y="1956816"/>
            <a:ext cx="9144000" cy="292608"/>
          </a:xfrm>
          <a:prstGeom prst="rect">
            <a:avLst/>
          </a:prstGeom>
          <a:noFill/>
          <a:ln/>
        </p:spPr>
        <p:txBody>
          <a:bodyPr wrap="square" lIns="0" tIns="0" rIns="0" bIns="0" rtlCol="0" anchor="ctr"/>
          <a:lstStyle/>
          <a:p>
            <a:pPr indent="0" marL="0">
              <a:buNone/>
            </a:pPr>
            <a:r>
              <a:rPr lang="en-US" sz="1200" b="1" spc="200" kern="0" dirty="0">
                <a:solidFill>
                  <a:srgbClr val="C2185B"/>
                </a:solidFill>
                <a:latin typeface="Calibri" pitchFamily="34" charset="0"/>
                <a:ea typeface="Calibri" pitchFamily="34" charset="-122"/>
                <a:cs typeface="Calibri" pitchFamily="34" charset="-120"/>
              </a:rPr>
              <a:t>LA SITUACIÓN</a:t>
            </a:r>
            <a:endParaRPr lang="en-US" sz="1200" dirty="0"/>
          </a:p>
        </p:txBody>
      </p:sp>
      <p:sp>
        <p:nvSpPr>
          <p:cNvPr id="9" name="Text 5"/>
          <p:cNvSpPr txBox="1"/>
          <p:nvPr/>
        </p:nvSpPr>
        <p:spPr>
          <a:xfrm>
            <a:off x="1755648" y="2231136"/>
            <a:ext cx="9594799" cy="868680"/>
          </a:xfrm>
          <a:prstGeom prst="rect">
            <a:avLst/>
          </a:prstGeom>
          <a:noFill/>
          <a:ln/>
        </p:spPr>
        <p:txBody>
          <a:bodyPr wrap="square" lIns="0" tIns="0" rIns="0" bIns="0" rtlCol="0" anchor="ctr"/>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Un asociado se queja fuertemente en agencia por una demora y luego publica un comentario negativo sobre COMEDICA DE R.L. en redes sociales.</a:t>
            </a:r>
            <a:endParaRPr lang="en-US" sz="1500" dirty="0"/>
          </a:p>
        </p:txBody>
      </p:sp>
      <p:sp>
        <p:nvSpPr>
          <p:cNvPr id="10" name="Text 6"/>
          <p:cNvSpPr txBox="1"/>
          <p:nvPr/>
        </p:nvSpPr>
        <p:spPr>
          <a:xfrm>
            <a:off x="566928" y="342900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¿QUÉ HARÍAS?</a:t>
            </a:r>
            <a:endParaRPr lang="en-US" sz="1300" dirty="0"/>
          </a:p>
        </p:txBody>
      </p:sp>
      <p:sp>
        <p:nvSpPr>
          <p:cNvPr id="11" name="Shape 7"/>
          <p:cNvSpPr/>
          <p:nvPr/>
        </p:nvSpPr>
        <p:spPr>
          <a:xfrm>
            <a:off x="566928" y="3794760"/>
            <a:ext cx="11057839" cy="649224"/>
          </a:xfrm>
          <a:prstGeom prst="roundRect">
            <a:avLst>
              <a:gd name="adj" fmla="val 12676"/>
            </a:avLst>
          </a:prstGeom>
          <a:solidFill>
            <a:srgbClr val="F2F5F9"/>
          </a:solidFill>
          <a:ln/>
        </p:spPr>
      </p:sp>
      <p:sp>
        <p:nvSpPr>
          <p:cNvPr id="12" name="Shape 8"/>
          <p:cNvSpPr/>
          <p:nvPr/>
        </p:nvSpPr>
        <p:spPr>
          <a:xfrm>
            <a:off x="768096" y="3890772"/>
            <a:ext cx="457200" cy="457200"/>
          </a:xfrm>
          <a:prstGeom prst="ellipse">
            <a:avLst/>
          </a:prstGeom>
          <a:solidFill>
            <a:srgbClr val="133B6C"/>
          </a:solidFill>
          <a:ln/>
        </p:spPr>
      </p:sp>
      <p:sp>
        <p:nvSpPr>
          <p:cNvPr id="13" name="Text 9"/>
          <p:cNvSpPr txBox="1"/>
          <p:nvPr/>
        </p:nvSpPr>
        <p:spPr>
          <a:xfrm>
            <a:off x="768096" y="38816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4" name="Text 10"/>
          <p:cNvSpPr txBox="1"/>
          <p:nvPr/>
        </p:nvSpPr>
        <p:spPr>
          <a:xfrm>
            <a:off x="1435608" y="3794760"/>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Ignorar la publicación; no es asunto mío.</a:t>
            </a:r>
            <a:endParaRPr lang="en-US" sz="1300" dirty="0"/>
          </a:p>
        </p:txBody>
      </p:sp>
      <p:sp>
        <p:nvSpPr>
          <p:cNvPr id="15" name="Shape 11"/>
          <p:cNvSpPr/>
          <p:nvPr/>
        </p:nvSpPr>
        <p:spPr>
          <a:xfrm>
            <a:off x="566928" y="4626864"/>
            <a:ext cx="11057839" cy="649224"/>
          </a:xfrm>
          <a:prstGeom prst="roundRect">
            <a:avLst>
              <a:gd name="adj" fmla="val 12676"/>
            </a:avLst>
          </a:prstGeom>
          <a:solidFill>
            <a:srgbClr val="F2F5F9"/>
          </a:solidFill>
          <a:ln/>
        </p:spPr>
      </p:sp>
      <p:sp>
        <p:nvSpPr>
          <p:cNvPr id="16" name="Shape 12"/>
          <p:cNvSpPr/>
          <p:nvPr/>
        </p:nvSpPr>
        <p:spPr>
          <a:xfrm>
            <a:off x="768096" y="4722876"/>
            <a:ext cx="457200" cy="457200"/>
          </a:xfrm>
          <a:prstGeom prst="ellipse">
            <a:avLst/>
          </a:prstGeom>
          <a:solidFill>
            <a:srgbClr val="133B6C"/>
          </a:solidFill>
          <a:ln/>
        </p:spPr>
      </p:sp>
      <p:sp>
        <p:nvSpPr>
          <p:cNvPr id="17" name="Text 13"/>
          <p:cNvSpPr txBox="1"/>
          <p:nvPr/>
        </p:nvSpPr>
        <p:spPr>
          <a:xfrm>
            <a:off x="768096" y="47137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18" name="Text 14"/>
          <p:cNvSpPr txBox="1"/>
          <p:nvPr/>
        </p:nvSpPr>
        <p:spPr>
          <a:xfrm>
            <a:off x="1435608" y="4626864"/>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Responder de forma informal y a título personal en redes sociales.</a:t>
            </a:r>
            <a:endParaRPr lang="en-US" sz="1300" dirty="0"/>
          </a:p>
        </p:txBody>
      </p:sp>
      <p:sp>
        <p:nvSpPr>
          <p:cNvPr id="19" name="Shape 15"/>
          <p:cNvSpPr/>
          <p:nvPr/>
        </p:nvSpPr>
        <p:spPr>
          <a:xfrm>
            <a:off x="566928" y="5458968"/>
            <a:ext cx="11057839" cy="649224"/>
          </a:xfrm>
          <a:prstGeom prst="roundRect">
            <a:avLst>
              <a:gd name="adj" fmla="val 12676"/>
            </a:avLst>
          </a:prstGeom>
          <a:solidFill>
            <a:srgbClr val="F2F5F9"/>
          </a:solidFill>
          <a:ln/>
        </p:spPr>
      </p:sp>
      <p:sp>
        <p:nvSpPr>
          <p:cNvPr id="20" name="Shape 16"/>
          <p:cNvSpPr/>
          <p:nvPr/>
        </p:nvSpPr>
        <p:spPr>
          <a:xfrm>
            <a:off x="768096" y="5554980"/>
            <a:ext cx="457200" cy="457200"/>
          </a:xfrm>
          <a:prstGeom prst="ellipse">
            <a:avLst/>
          </a:prstGeom>
          <a:solidFill>
            <a:srgbClr val="133B6C"/>
          </a:solidFill>
          <a:ln/>
        </p:spPr>
      </p:sp>
      <p:sp>
        <p:nvSpPr>
          <p:cNvPr id="21" name="Text 17"/>
          <p:cNvSpPr txBox="1"/>
          <p:nvPr/>
        </p:nvSpPr>
        <p:spPr>
          <a:xfrm>
            <a:off x="768096" y="55458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2" name="Text 18"/>
          <p:cNvSpPr txBox="1"/>
          <p:nvPr/>
        </p:nvSpPr>
        <p:spPr>
          <a:xfrm>
            <a:off x="1435608" y="5458968"/>
            <a:ext cx="9960559" cy="64922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300" dirty="0"/>
          </a:p>
        </p:txBody>
      </p:sp>
      <p:sp>
        <p:nvSpPr>
          <p:cNvPr id="23"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C2185B"/>
                </a:solidFill>
                <a:latin typeface="Calibri" pitchFamily="34" charset="0"/>
                <a:ea typeface="Calibri" pitchFamily="34" charset="-122"/>
                <a:cs typeface="Calibri" pitchFamily="34" charset="-120"/>
              </a:rPr>
              <a:t>TEMA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CASO · RESPUESTA</a:t>
            </a:r>
            <a:endParaRPr lang="en-US" sz="2700" dirty="0"/>
          </a:p>
        </p:txBody>
      </p:sp>
      <p:sp>
        <p:nvSpPr>
          <p:cNvPr id="5" name="Shape 2"/>
          <p:cNvSpPr/>
          <p:nvPr/>
        </p:nvSpPr>
        <p:spPr>
          <a:xfrm>
            <a:off x="566928" y="1874520"/>
            <a:ext cx="11057839" cy="1234440"/>
          </a:xfrm>
          <a:prstGeom prst="roundRect">
            <a:avLst>
              <a:gd name="adj" fmla="val 8889"/>
            </a:avLst>
          </a:prstGeom>
          <a:solidFill>
            <a:srgbClr val="2FAE60"/>
          </a:solidFill>
          <a:ln/>
        </p:spPr>
      </p:sp>
      <p:sp>
        <p:nvSpPr>
          <p:cNvPr id="6" name="Shape 3"/>
          <p:cNvSpPr/>
          <p:nvPr/>
        </p:nvSpPr>
        <p:spPr>
          <a:xfrm>
            <a:off x="822960" y="2167128"/>
            <a:ext cx="640080" cy="640080"/>
          </a:xfrm>
          <a:prstGeom prst="ellipse">
            <a:avLst/>
          </a:prstGeom>
          <a:solidFill>
            <a:srgbClr val="FFFFFF"/>
          </a:solidFill>
          <a:ln/>
        </p:spPr>
      </p:sp>
      <p:pic>
        <p:nvPicPr>
          <p:cNvPr id="7" name="Image 0" descr="/tmp/claude-0/-home-user-riesgo/0ff9ff46-1396-5bd8-b3ac-2280dfbbbc55/scratchpad/work/gen/icons/check_circle_green.png">    </p:cNvPr>
          <p:cNvPicPr>
            <a:picLocks noChangeAspect="1"/>
          </p:cNvPicPr>
          <p:nvPr/>
        </p:nvPicPr>
        <p:blipFill>
          <a:blip r:embed="rId1"/>
          <a:stretch>
            <a:fillRect/>
          </a:stretch>
        </p:blipFill>
        <p:spPr>
          <a:xfrm>
            <a:off x="944575" y="2288743"/>
            <a:ext cx="396850" cy="396850"/>
          </a:xfrm>
          <a:prstGeom prst="rect">
            <a:avLst/>
          </a:prstGeom>
        </p:spPr>
      </p:pic>
      <p:sp>
        <p:nvSpPr>
          <p:cNvPr id="8" name="Text 4"/>
          <p:cNvSpPr txBox="1"/>
          <p:nvPr/>
        </p:nvSpPr>
        <p:spPr>
          <a:xfrm>
            <a:off x="1664208" y="2048256"/>
            <a:ext cx="9601200" cy="292608"/>
          </a:xfrm>
          <a:prstGeom prst="rect">
            <a:avLst/>
          </a:prstGeom>
          <a:noFill/>
          <a:ln/>
        </p:spPr>
        <p:txBody>
          <a:bodyPr wrap="square" lIns="0" tIns="0" rIns="0" bIns="0" rtlCol="0" anchor="ctr"/>
          <a:lstStyle/>
          <a:p>
            <a:pPr indent="0" marL="0">
              <a:buNone/>
            </a:pPr>
            <a:r>
              <a:rPr lang="en-US" sz="1200" b="1" spc="150" kern="0" dirty="0">
                <a:solidFill>
                  <a:srgbClr val="DFF3E7"/>
                </a:solidFill>
                <a:latin typeface="Calibri" pitchFamily="34" charset="0"/>
                <a:ea typeface="Calibri" pitchFamily="34" charset="-122"/>
                <a:cs typeface="Calibri" pitchFamily="34" charset="-120"/>
              </a:rPr>
              <a:t>RESPUESTA CORRECTA · OPCIÓN C</a:t>
            </a:r>
            <a:endParaRPr lang="en-US" sz="1200" dirty="0"/>
          </a:p>
        </p:txBody>
      </p:sp>
      <p:sp>
        <p:nvSpPr>
          <p:cNvPr id="9" name="Text 5"/>
          <p:cNvSpPr txBox="1"/>
          <p:nvPr/>
        </p:nvSpPr>
        <p:spPr>
          <a:xfrm>
            <a:off x="1664208" y="2322576"/>
            <a:ext cx="9686239" cy="73152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libri" pitchFamily="34" charset="0"/>
                <a:ea typeface="Calibri" pitchFamily="34" charset="-122"/>
                <a:cs typeface="Calibri" pitchFamily="34" charset="-120"/>
              </a:rPr>
              <a:t>Escuchar, brindar un buen servicio y canalizar el caso internamente.</a:t>
            </a:r>
            <a:endParaRPr lang="en-US" sz="1500" dirty="0"/>
          </a:p>
        </p:txBody>
      </p:sp>
      <p:sp>
        <p:nvSpPr>
          <p:cNvPr id="10" name="Text 6"/>
          <p:cNvSpPr txBox="1"/>
          <p:nvPr/>
        </p:nvSpPr>
        <p:spPr>
          <a:xfrm>
            <a:off x="566928" y="3337560"/>
            <a:ext cx="5486400" cy="320040"/>
          </a:xfrm>
          <a:prstGeom prst="rect">
            <a:avLst/>
          </a:prstGeom>
          <a:noFill/>
          <a:ln/>
        </p:spPr>
        <p:txBody>
          <a:bodyPr wrap="square" lIns="0" tIns="0" rIns="0" bIns="0" rtlCol="0" anchor="ctr"/>
          <a:lstStyle/>
          <a:p>
            <a:pPr indent="0" marL="0">
              <a:buNone/>
            </a:pPr>
            <a:r>
              <a:rPr lang="en-US" sz="1300" b="1" spc="150" kern="0" dirty="0">
                <a:solidFill>
                  <a:srgbClr val="133B6C"/>
                </a:solidFill>
                <a:latin typeface="Calibri" pitchFamily="34" charset="0"/>
                <a:ea typeface="Calibri" pitchFamily="34" charset="-122"/>
                <a:cs typeface="Calibri" pitchFamily="34" charset="-120"/>
              </a:rPr>
              <a:t>¿POR QUÉ?</a:t>
            </a:r>
            <a:endParaRPr lang="en-US" sz="1300" dirty="0"/>
          </a:p>
        </p:txBody>
      </p:sp>
      <p:sp>
        <p:nvSpPr>
          <p:cNvPr id="11" name="Shape 7"/>
          <p:cNvSpPr/>
          <p:nvPr/>
        </p:nvSpPr>
        <p:spPr>
          <a:xfrm>
            <a:off x="566928" y="3703320"/>
            <a:ext cx="11057839" cy="1874520"/>
          </a:xfrm>
          <a:prstGeom prst="roundRect">
            <a:avLst>
              <a:gd name="adj" fmla="val 4878"/>
            </a:avLst>
          </a:prstGeom>
          <a:solidFill>
            <a:srgbClr val="F2F5F9"/>
          </a:solidFill>
          <a:ln/>
        </p:spPr>
      </p:sp>
      <p:sp>
        <p:nvSpPr>
          <p:cNvPr id="12" name="Text 8"/>
          <p:cNvSpPr txBox="1"/>
          <p:nvPr/>
        </p:nvSpPr>
        <p:spPr>
          <a:xfrm>
            <a:off x="886968" y="3886200"/>
            <a:ext cx="10417759" cy="1508760"/>
          </a:xfrm>
          <a:prstGeom prst="rect">
            <a:avLst/>
          </a:prstGeom>
          <a:noFill/>
          <a:ln/>
        </p:spPr>
        <p:txBody>
          <a:bodyPr wrap="square" lIns="0" tIns="0" rIns="0" bIns="0" rtlCol="0" anchor="t"/>
          <a:lstStyle/>
          <a:p>
            <a:pPr indent="0" marL="0">
              <a:lnSpc>
                <a:spcPct val="120000"/>
              </a:lnSpc>
              <a:buNone/>
            </a:pPr>
            <a:r>
              <a:rPr lang="en-US" sz="1350" dirty="0">
                <a:solidFill>
                  <a:srgbClr val="243044"/>
                </a:solidFill>
                <a:latin typeface="Calibri" pitchFamily="34" charset="0"/>
                <a:ea typeface="Calibri" pitchFamily="34" charset="-122"/>
                <a:cs typeface="Calibri" pitchFamily="34" charset="-120"/>
              </a:rPr>
              <a:t>Ignorar la situación o responder de forma personal e informal puede agravar el impacto reputacional. Escuchar al asociado y canalizar el caso de manera adecuada protege tanto su confianza como la imagen institucional de la Cooperativa.</a:t>
            </a:r>
            <a:endParaRPr lang="en-US" sz="1350" dirty="0"/>
          </a:p>
        </p:txBody>
      </p:sp>
      <p:sp>
        <p:nvSpPr>
          <p:cNvPr id="13" name="Text 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4" name="Text 1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E0392B"/>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Text 3"/>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133B6C"/>
                </a:solidFill>
                <a:latin typeface="Cambria" pitchFamily="34" charset="0"/>
                <a:ea typeface="Cambria" pitchFamily="34" charset="-122"/>
                <a:cs typeface="Cambria" pitchFamily="34" charset="-120"/>
              </a:rPr>
              <a:t>05</a:t>
            </a:r>
            <a:endParaRPr lang="en-US" sz="26000" dirty="0"/>
          </a:p>
        </p:txBody>
      </p:sp>
      <p:sp>
        <p:nvSpPr>
          <p:cNvPr id="7" name="Shape 4"/>
          <p:cNvSpPr/>
          <p:nvPr/>
        </p:nvSpPr>
        <p:spPr>
          <a:xfrm>
            <a:off x="8686800" y="2011680"/>
            <a:ext cx="2834640" cy="2834640"/>
          </a:xfrm>
          <a:prstGeom prst="ellipse">
            <a:avLst/>
          </a:prstGeom>
          <a:solidFill>
            <a:srgbClr val="0A1F3B"/>
          </a:solidFill>
          <a:ln/>
        </p:spPr>
      </p:sp>
      <p:sp>
        <p:nvSpPr>
          <p:cNvPr id="8" name="Shape 5"/>
          <p:cNvSpPr/>
          <p:nvPr/>
        </p:nvSpPr>
        <p:spPr>
          <a:xfrm>
            <a:off x="9784080" y="3931920"/>
            <a:ext cx="1371600" cy="1371600"/>
          </a:xfrm>
          <a:prstGeom prst="ellipse">
            <a:avLst/>
          </a:prstGeom>
          <a:solidFill>
            <a:srgbClr val="FFFFFF"/>
          </a:solidFill>
          <a:ln/>
        </p:spPr>
      </p:sp>
      <p:sp>
        <p:nvSpPr>
          <p:cNvPr id="9" name="Shape 6"/>
          <p:cNvSpPr/>
          <p:nvPr/>
        </p:nvSpPr>
        <p:spPr>
          <a:xfrm>
            <a:off x="10698480" y="2011680"/>
            <a:ext cx="960120" cy="960120"/>
          </a:xfrm>
          <a:prstGeom prst="ellipse">
            <a:avLst/>
          </a:prstGeom>
          <a:solidFill>
            <a:srgbClr val="0D2847"/>
          </a:solidFill>
          <a:ln/>
        </p:spPr>
      </p:sp>
      <p:sp>
        <p:nvSpPr>
          <p:cNvPr id="10" name="Shape 7"/>
          <p:cNvSpPr/>
          <p:nvPr/>
        </p:nvSpPr>
        <p:spPr>
          <a:xfrm>
            <a:off x="9075420" y="2217420"/>
            <a:ext cx="1051560" cy="1051560"/>
          </a:xfrm>
          <a:prstGeom prst="ellipse">
            <a:avLst/>
          </a:prstGeom>
          <a:solidFill>
            <a:srgbClr val="FFFFFF"/>
          </a:solidFill>
          <a:ln/>
        </p:spPr>
      </p:sp>
      <p:pic>
        <p:nvPicPr>
          <p:cNvPr id="11" name="Image 0" descr="/tmp/claude-0/-home-user-riesgo/0ff9ff46-1396-5bd8-b3ac-2280dfbbbc55/scratchpad/work/gen/icons/shield_warning_red.png">    </p:cNvPr>
          <p:cNvPicPr>
            <a:picLocks noChangeAspect="1"/>
          </p:cNvPicPr>
          <p:nvPr/>
        </p:nvPicPr>
        <p:blipFill>
          <a:blip r:embed="rId1"/>
          <a:stretch>
            <a:fillRect/>
          </a:stretch>
        </p:blipFill>
        <p:spPr>
          <a:xfrm>
            <a:off x="9338310" y="2480310"/>
            <a:ext cx="525780" cy="525780"/>
          </a:xfrm>
          <a:prstGeom prst="rect">
            <a:avLst/>
          </a:prstGeom>
        </p:spPr>
      </p:pic>
      <p:sp>
        <p:nvSpPr>
          <p:cNvPr id="12" name="Shape 8"/>
          <p:cNvSpPr/>
          <p:nvPr/>
        </p:nvSpPr>
        <p:spPr>
          <a:xfrm>
            <a:off x="10447020" y="2948940"/>
            <a:ext cx="868680" cy="868680"/>
          </a:xfrm>
          <a:prstGeom prst="ellipse">
            <a:avLst/>
          </a:prstGeom>
          <a:solidFill>
            <a:srgbClr val="0A1F3B"/>
          </a:solidFill>
          <a:ln/>
        </p:spPr>
      </p:sp>
      <p:pic>
        <p:nvPicPr>
          <p:cNvPr id="13" name="Image 1" descr="/tmp/claude-0/-home-user-riesgo/0ff9ff46-1396-5bd8-b3ac-2280dfbbbc55/scratchpad/work/gen/icons/warning_triangle_white.png">    </p:cNvPr>
          <p:cNvPicPr>
            <a:picLocks noChangeAspect="1"/>
          </p:cNvPicPr>
          <p:nvPr/>
        </p:nvPicPr>
        <p:blipFill>
          <a:blip r:embed="rId2"/>
          <a:stretch>
            <a:fillRect/>
          </a:stretch>
        </p:blipFill>
        <p:spPr>
          <a:xfrm>
            <a:off x="10664190" y="3166110"/>
            <a:ext cx="434340" cy="434340"/>
          </a:xfrm>
          <a:prstGeom prst="rect">
            <a:avLst/>
          </a:prstGeom>
        </p:spPr>
      </p:pic>
      <p:sp>
        <p:nvSpPr>
          <p:cNvPr id="14" name="Shape 9"/>
          <p:cNvSpPr/>
          <p:nvPr/>
        </p:nvSpPr>
        <p:spPr>
          <a:xfrm>
            <a:off x="9578340" y="3909060"/>
            <a:ext cx="777240" cy="777240"/>
          </a:xfrm>
          <a:prstGeom prst="ellipse">
            <a:avLst/>
          </a:prstGeom>
          <a:solidFill>
            <a:srgbClr val="FFFFFF"/>
          </a:solidFill>
          <a:ln/>
        </p:spPr>
      </p:sp>
      <p:pic>
        <p:nvPicPr>
          <p:cNvPr id="15" name="Image 2" descr="/tmp/claude-0/-home-user-riesgo/0ff9ff46-1396-5bd8-b3ac-2280dfbbbc55/scratchpad/work/gen/icons/magnifier_navy.png">    </p:cNvPr>
          <p:cNvPicPr>
            <a:picLocks noChangeAspect="1"/>
          </p:cNvPicPr>
          <p:nvPr/>
        </p:nvPicPr>
        <p:blipFill>
          <a:blip r:embed="rId3"/>
          <a:stretch>
            <a:fillRect/>
          </a:stretch>
        </p:blipFill>
        <p:spPr>
          <a:xfrm>
            <a:off x="9772650" y="4103370"/>
            <a:ext cx="388620" cy="388620"/>
          </a:xfrm>
          <a:prstGeom prst="rect">
            <a:avLst/>
          </a:prstGeom>
        </p:spPr>
      </p:pic>
      <p:sp>
        <p:nvSpPr>
          <p:cNvPr id="16" name="Shape 10"/>
          <p:cNvSpPr/>
          <p:nvPr/>
        </p:nvSpPr>
        <p:spPr>
          <a:xfrm>
            <a:off x="10689336" y="4105656"/>
            <a:ext cx="658368" cy="658368"/>
          </a:xfrm>
          <a:prstGeom prst="ellipse">
            <a:avLst/>
          </a:prstGeom>
          <a:solidFill>
            <a:srgbClr val="0A1F3B"/>
          </a:solidFill>
          <a:ln/>
        </p:spPr>
      </p:sp>
      <p:pic>
        <p:nvPicPr>
          <p:cNvPr id="17" name="Image 3" descr="/tmp/claude-0/-home-user-riesgo/0ff9ff46-1396-5bd8-b3ac-2280dfbbbc55/scratchpad/work/gen/icons/lock_red.png">    </p:cNvPr>
          <p:cNvPicPr>
            <a:picLocks noChangeAspect="1"/>
          </p:cNvPicPr>
          <p:nvPr/>
        </p:nvPicPr>
        <p:blipFill>
          <a:blip r:embed="rId4"/>
          <a:stretch>
            <a:fillRect/>
          </a:stretch>
        </p:blipFill>
        <p:spPr>
          <a:xfrm>
            <a:off x="10853928" y="4270248"/>
            <a:ext cx="329184" cy="329184"/>
          </a:xfrm>
          <a:prstGeom prst="rect">
            <a:avLst/>
          </a:prstGeom>
        </p:spPr>
      </p:pic>
      <p:sp>
        <p:nvSpPr>
          <p:cNvPr id="18" name="Text 11"/>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E0392B"/>
                </a:solidFill>
                <a:latin typeface="Calibri" pitchFamily="34" charset="0"/>
                <a:ea typeface="Calibri" pitchFamily="34" charset="-122"/>
                <a:cs typeface="Calibri" pitchFamily="34" charset="-120"/>
              </a:rPr>
              <a:t>TEMA 5</a:t>
            </a:r>
            <a:endParaRPr lang="en-US" sz="1500" dirty="0"/>
          </a:p>
        </p:txBody>
      </p:sp>
      <p:sp>
        <p:nvSpPr>
          <p:cNvPr id="19" name="Text 12"/>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FRAUDE Y ERRORES:</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APRENDAMOS A PREVENIRLOS</a:t>
            </a:r>
            <a:endParaRPr lang="en-US" sz="3200" dirty="0"/>
          </a:p>
        </p:txBody>
      </p:sp>
      <p:sp>
        <p:nvSpPr>
          <p:cNvPr id="20" name="Text 13"/>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Distinguirlos es el primer paso para prevenirlos.</a:t>
            </a:r>
            <a:endParaRPr lang="en-US" sz="1550" dirty="0"/>
          </a:p>
        </p:txBody>
      </p:sp>
      <p:pic>
        <p:nvPicPr>
          <p:cNvPr id="21"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2"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3"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0392B"/>
                </a:solidFill>
                <a:latin typeface="Calibri" pitchFamily="34" charset="0"/>
                <a:ea typeface="Calibri" pitchFamily="34" charset="-122"/>
                <a:cs typeface="Calibri" pitchFamily="34" charset="-120"/>
              </a:rPr>
              <a:t>TEMA 5 · FRAUDE Y ERRORES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ERROR VS. FRAUDE</a:t>
            </a:r>
            <a:endParaRPr lang="en-US" sz="28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F0AD35"/>
          </a:solidFill>
          <a:ln/>
        </p:spPr>
      </p:sp>
      <p:pic>
        <p:nvPicPr>
          <p:cNvPr id="23" name="Image 2" descr="/tmp/claude-0/-home-user-riesgo/0ff9ff46-1396-5bd8-b3ac-2280dfbbbc55/scratchpad/work/gen/icons/lightbulb_navy.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0392B"/>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331720"/>
            <a:ext cx="11057839" cy="820674"/>
          </a:xfrm>
          <a:prstGeom prst="roundRect">
            <a:avLst>
              <a:gd name="adj" fmla="val 10028"/>
            </a:avLst>
          </a:prstGeom>
          <a:solidFill>
            <a:srgbClr val="F2F5F9"/>
          </a:solidFill>
          <a:ln/>
        </p:spPr>
      </p:sp>
      <p:sp>
        <p:nvSpPr>
          <p:cNvPr id="7" name="Shape 4"/>
          <p:cNvSpPr/>
          <p:nvPr/>
        </p:nvSpPr>
        <p:spPr>
          <a:xfrm>
            <a:off x="768096" y="2513457"/>
            <a:ext cx="457200" cy="457200"/>
          </a:xfrm>
          <a:prstGeom prst="ellipse">
            <a:avLst/>
          </a:prstGeom>
          <a:solidFill>
            <a:srgbClr val="E0392B"/>
          </a:solidFill>
          <a:ln/>
        </p:spPr>
      </p:sp>
      <p:sp>
        <p:nvSpPr>
          <p:cNvPr id="8" name="Text 5"/>
          <p:cNvSpPr txBox="1"/>
          <p:nvPr/>
        </p:nvSpPr>
        <p:spPr>
          <a:xfrm>
            <a:off x="768096" y="2504313"/>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1435608" y="2331720"/>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digita mal el monto de un depósito por una distracción.</a:t>
            </a:r>
            <a:endParaRPr lang="en-US" sz="1300" dirty="0"/>
          </a:p>
        </p:txBody>
      </p:sp>
      <p:sp>
        <p:nvSpPr>
          <p:cNvPr id="10" name="Shape 7"/>
          <p:cNvSpPr/>
          <p:nvPr/>
        </p:nvSpPr>
        <p:spPr>
          <a:xfrm>
            <a:off x="9293047" y="2550033"/>
            <a:ext cx="1078992" cy="384048"/>
          </a:xfrm>
          <a:prstGeom prst="roundRect">
            <a:avLst>
              <a:gd name="adj" fmla="val 50000"/>
            </a:avLst>
          </a:prstGeom>
          <a:solidFill>
            <a:srgbClr val="FFFFFF"/>
          </a:solidFill>
          <a:ln/>
        </p:spPr>
      </p:sp>
      <p:sp>
        <p:nvSpPr>
          <p:cNvPr id="11" name="Text 8"/>
          <p:cNvSpPr txBox="1"/>
          <p:nvPr/>
        </p:nvSpPr>
        <p:spPr>
          <a:xfrm>
            <a:off x="9293047" y="2550033"/>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500055" y="2550033"/>
            <a:ext cx="1078992" cy="384048"/>
          </a:xfrm>
          <a:prstGeom prst="roundRect">
            <a:avLst>
              <a:gd name="adj" fmla="val 50000"/>
            </a:avLst>
          </a:prstGeom>
          <a:solidFill>
            <a:srgbClr val="FFFFFF"/>
          </a:solidFill>
          <a:ln/>
        </p:spPr>
      </p:sp>
      <p:sp>
        <p:nvSpPr>
          <p:cNvPr id="13" name="Text 10"/>
          <p:cNvSpPr txBox="1"/>
          <p:nvPr/>
        </p:nvSpPr>
        <p:spPr>
          <a:xfrm>
            <a:off x="10500055" y="2550033"/>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14" name="Shape 11"/>
          <p:cNvSpPr/>
          <p:nvPr/>
        </p:nvSpPr>
        <p:spPr>
          <a:xfrm>
            <a:off x="566928" y="3316986"/>
            <a:ext cx="11057839" cy="820674"/>
          </a:xfrm>
          <a:prstGeom prst="roundRect">
            <a:avLst>
              <a:gd name="adj" fmla="val 10028"/>
            </a:avLst>
          </a:prstGeom>
          <a:solidFill>
            <a:srgbClr val="F2F5F9"/>
          </a:solidFill>
          <a:ln/>
        </p:spPr>
      </p:sp>
      <p:sp>
        <p:nvSpPr>
          <p:cNvPr id="15" name="Shape 12"/>
          <p:cNvSpPr/>
          <p:nvPr/>
        </p:nvSpPr>
        <p:spPr>
          <a:xfrm>
            <a:off x="768096" y="3498723"/>
            <a:ext cx="457200" cy="457200"/>
          </a:xfrm>
          <a:prstGeom prst="ellipse">
            <a:avLst/>
          </a:prstGeom>
          <a:solidFill>
            <a:srgbClr val="E0392B"/>
          </a:solidFill>
          <a:ln/>
        </p:spPr>
      </p:sp>
      <p:sp>
        <p:nvSpPr>
          <p:cNvPr id="16" name="Text 13"/>
          <p:cNvSpPr txBox="1"/>
          <p:nvPr/>
        </p:nvSpPr>
        <p:spPr>
          <a:xfrm>
            <a:off x="768096" y="3489579"/>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7" name="Text 14"/>
          <p:cNvSpPr txBox="1"/>
          <p:nvPr/>
        </p:nvSpPr>
        <p:spPr>
          <a:xfrm>
            <a:off x="1435608" y="3316986"/>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aprueba trámites usando documentación que sabe que fue alterada.</a:t>
            </a:r>
            <a:endParaRPr lang="en-US" sz="1300" dirty="0"/>
          </a:p>
        </p:txBody>
      </p:sp>
      <p:sp>
        <p:nvSpPr>
          <p:cNvPr id="18" name="Shape 15"/>
          <p:cNvSpPr/>
          <p:nvPr/>
        </p:nvSpPr>
        <p:spPr>
          <a:xfrm>
            <a:off x="9293047" y="3535299"/>
            <a:ext cx="1078992" cy="384048"/>
          </a:xfrm>
          <a:prstGeom prst="roundRect">
            <a:avLst>
              <a:gd name="adj" fmla="val 50000"/>
            </a:avLst>
          </a:prstGeom>
          <a:solidFill>
            <a:srgbClr val="FFFFFF"/>
          </a:solidFill>
          <a:ln/>
        </p:spPr>
      </p:sp>
      <p:sp>
        <p:nvSpPr>
          <p:cNvPr id="19" name="Text 16"/>
          <p:cNvSpPr txBox="1"/>
          <p:nvPr/>
        </p:nvSpPr>
        <p:spPr>
          <a:xfrm>
            <a:off x="9293047" y="3535299"/>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0" name="Shape 17"/>
          <p:cNvSpPr/>
          <p:nvPr/>
        </p:nvSpPr>
        <p:spPr>
          <a:xfrm>
            <a:off x="10500055" y="3535299"/>
            <a:ext cx="1078992" cy="384048"/>
          </a:xfrm>
          <a:prstGeom prst="roundRect">
            <a:avLst>
              <a:gd name="adj" fmla="val 50000"/>
            </a:avLst>
          </a:prstGeom>
          <a:solidFill>
            <a:srgbClr val="FFFFFF"/>
          </a:solidFill>
          <a:ln/>
        </p:spPr>
      </p:sp>
      <p:sp>
        <p:nvSpPr>
          <p:cNvPr id="21" name="Text 18"/>
          <p:cNvSpPr txBox="1"/>
          <p:nvPr/>
        </p:nvSpPr>
        <p:spPr>
          <a:xfrm>
            <a:off x="10500055" y="3535299"/>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22" name="Shape 19"/>
          <p:cNvSpPr/>
          <p:nvPr/>
        </p:nvSpPr>
        <p:spPr>
          <a:xfrm>
            <a:off x="566928" y="4302252"/>
            <a:ext cx="11057839" cy="820674"/>
          </a:xfrm>
          <a:prstGeom prst="roundRect">
            <a:avLst>
              <a:gd name="adj" fmla="val 10028"/>
            </a:avLst>
          </a:prstGeom>
          <a:solidFill>
            <a:srgbClr val="F2F5F9"/>
          </a:solidFill>
          <a:ln/>
        </p:spPr>
      </p:sp>
      <p:sp>
        <p:nvSpPr>
          <p:cNvPr id="23" name="Shape 20"/>
          <p:cNvSpPr/>
          <p:nvPr/>
        </p:nvSpPr>
        <p:spPr>
          <a:xfrm>
            <a:off x="768096" y="4483989"/>
            <a:ext cx="457200" cy="457200"/>
          </a:xfrm>
          <a:prstGeom prst="ellipse">
            <a:avLst/>
          </a:prstGeom>
          <a:solidFill>
            <a:srgbClr val="E0392B"/>
          </a:solidFill>
          <a:ln/>
        </p:spPr>
      </p:sp>
      <p:sp>
        <p:nvSpPr>
          <p:cNvPr id="24" name="Text 21"/>
          <p:cNvSpPr txBox="1"/>
          <p:nvPr/>
        </p:nvSpPr>
        <p:spPr>
          <a:xfrm>
            <a:off x="768096" y="4474845"/>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5" name="Text 22"/>
          <p:cNvSpPr txBox="1"/>
          <p:nvPr/>
        </p:nvSpPr>
        <p:spPr>
          <a:xfrm>
            <a:off x="1435608" y="4302252"/>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olvida adjuntar un documento por exceso de carga de trabajo.</a:t>
            </a:r>
            <a:endParaRPr lang="en-US" sz="1300" dirty="0"/>
          </a:p>
        </p:txBody>
      </p:sp>
      <p:sp>
        <p:nvSpPr>
          <p:cNvPr id="26" name="Shape 23"/>
          <p:cNvSpPr/>
          <p:nvPr/>
        </p:nvSpPr>
        <p:spPr>
          <a:xfrm>
            <a:off x="9293047" y="4520565"/>
            <a:ext cx="1078992" cy="384048"/>
          </a:xfrm>
          <a:prstGeom prst="roundRect">
            <a:avLst>
              <a:gd name="adj" fmla="val 50000"/>
            </a:avLst>
          </a:prstGeom>
          <a:solidFill>
            <a:srgbClr val="FFFFFF"/>
          </a:solidFill>
          <a:ln/>
        </p:spPr>
      </p:sp>
      <p:sp>
        <p:nvSpPr>
          <p:cNvPr id="27" name="Text 24"/>
          <p:cNvSpPr txBox="1"/>
          <p:nvPr/>
        </p:nvSpPr>
        <p:spPr>
          <a:xfrm>
            <a:off x="9293047" y="4520565"/>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28" name="Shape 25"/>
          <p:cNvSpPr/>
          <p:nvPr/>
        </p:nvSpPr>
        <p:spPr>
          <a:xfrm>
            <a:off x="10500055" y="4520565"/>
            <a:ext cx="1078992" cy="384048"/>
          </a:xfrm>
          <a:prstGeom prst="roundRect">
            <a:avLst>
              <a:gd name="adj" fmla="val 50000"/>
            </a:avLst>
          </a:prstGeom>
          <a:solidFill>
            <a:srgbClr val="FFFFFF"/>
          </a:solidFill>
          <a:ln/>
        </p:spPr>
      </p:sp>
      <p:sp>
        <p:nvSpPr>
          <p:cNvPr id="29" name="Text 26"/>
          <p:cNvSpPr txBox="1"/>
          <p:nvPr/>
        </p:nvSpPr>
        <p:spPr>
          <a:xfrm>
            <a:off x="10500055" y="4520565"/>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287518"/>
            <a:ext cx="11057839" cy="820674"/>
          </a:xfrm>
          <a:prstGeom prst="roundRect">
            <a:avLst>
              <a:gd name="adj" fmla="val 10028"/>
            </a:avLst>
          </a:prstGeom>
          <a:solidFill>
            <a:srgbClr val="F2F5F9"/>
          </a:solidFill>
          <a:ln/>
        </p:spPr>
      </p:sp>
      <p:sp>
        <p:nvSpPr>
          <p:cNvPr id="31" name="Shape 28"/>
          <p:cNvSpPr/>
          <p:nvPr/>
        </p:nvSpPr>
        <p:spPr>
          <a:xfrm>
            <a:off x="768096" y="5469255"/>
            <a:ext cx="457200" cy="457200"/>
          </a:xfrm>
          <a:prstGeom prst="ellipse">
            <a:avLst/>
          </a:prstGeom>
          <a:solidFill>
            <a:srgbClr val="E0392B"/>
          </a:solidFill>
          <a:ln/>
        </p:spPr>
      </p:sp>
      <p:sp>
        <p:nvSpPr>
          <p:cNvPr id="32" name="Text 29"/>
          <p:cNvSpPr txBox="1"/>
          <p:nvPr/>
        </p:nvSpPr>
        <p:spPr>
          <a:xfrm>
            <a:off x="768096" y="5460111"/>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3" name="Text 30"/>
          <p:cNvSpPr txBox="1"/>
          <p:nvPr/>
        </p:nvSpPr>
        <p:spPr>
          <a:xfrm>
            <a:off x="1435608" y="5287518"/>
            <a:ext cx="8314639" cy="820674"/>
          </a:xfrm>
          <a:prstGeom prst="rect">
            <a:avLst/>
          </a:prstGeom>
          <a:noFill/>
          <a:ln/>
        </p:spPr>
        <p:txBody>
          <a:bodyPr wrap="square" lIns="0" tIns="0" rIns="0" bIns="0" rtlCol="0" anchor="ctr"/>
          <a:lstStyle/>
          <a:p>
            <a:pPr indent="0" marL="0">
              <a:lnSpc>
                <a:spcPct val="105000"/>
              </a:lnSpc>
              <a:buNone/>
            </a:pPr>
            <a:r>
              <a:rPr lang="en-US" sz="1300" dirty="0">
                <a:solidFill>
                  <a:srgbClr val="243044"/>
                </a:solidFill>
                <a:latin typeface="Calibri" pitchFamily="34" charset="0"/>
                <a:ea typeface="Calibri" pitchFamily="34" charset="-122"/>
                <a:cs typeface="Calibri" pitchFamily="34" charset="-120"/>
              </a:rPr>
              <a:t>Un colaborador oculta una diferencia de efectivo alterando un registro a propósito.</a:t>
            </a:r>
            <a:endParaRPr lang="en-US" sz="1300" dirty="0"/>
          </a:p>
        </p:txBody>
      </p:sp>
      <p:sp>
        <p:nvSpPr>
          <p:cNvPr id="34" name="Shape 31"/>
          <p:cNvSpPr/>
          <p:nvPr/>
        </p:nvSpPr>
        <p:spPr>
          <a:xfrm>
            <a:off x="9293047" y="5505831"/>
            <a:ext cx="1078992" cy="384048"/>
          </a:xfrm>
          <a:prstGeom prst="roundRect">
            <a:avLst>
              <a:gd name="adj" fmla="val 50000"/>
            </a:avLst>
          </a:prstGeom>
          <a:solidFill>
            <a:srgbClr val="FFFFFF"/>
          </a:solidFill>
          <a:ln/>
        </p:spPr>
      </p:sp>
      <p:sp>
        <p:nvSpPr>
          <p:cNvPr id="35" name="Text 32"/>
          <p:cNvSpPr txBox="1"/>
          <p:nvPr/>
        </p:nvSpPr>
        <p:spPr>
          <a:xfrm>
            <a:off x="9293047" y="5505831"/>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10500055" y="5505831"/>
            <a:ext cx="1078992" cy="384048"/>
          </a:xfrm>
          <a:prstGeom prst="roundRect">
            <a:avLst>
              <a:gd name="adj" fmla="val 50000"/>
            </a:avLst>
          </a:prstGeom>
          <a:solidFill>
            <a:srgbClr val="FFFFFF"/>
          </a:solidFill>
          <a:ln/>
        </p:spPr>
      </p:sp>
      <p:sp>
        <p:nvSpPr>
          <p:cNvPr id="37" name="Text 34"/>
          <p:cNvSpPr txBox="1"/>
          <p:nvPr/>
        </p:nvSpPr>
        <p:spPr>
          <a:xfrm>
            <a:off x="10500055" y="5505831"/>
            <a:ext cx="1078992" cy="384048"/>
          </a:xfrm>
          <a:prstGeom prst="rect">
            <a:avLst/>
          </a:prstGeom>
          <a:noFill/>
          <a:ln/>
        </p:spPr>
        <p:txBody>
          <a:bodyPr wrap="square" lIns="0" tIns="0" rIns="0" bIns="0" rtlCol="0" anchor="ctr"/>
          <a:lstStyle/>
          <a:p>
            <a:pPr algn="ctr" indent="0" marL="0">
              <a:buNone/>
            </a:pPr>
            <a:r>
              <a:rPr lang="en-US" sz="1050" b="1" dirty="0">
                <a:solidFill>
                  <a:srgbClr val="5B6B82"/>
                </a:solidFill>
                <a:latin typeface="Calibri" pitchFamily="34" charset="0"/>
                <a:ea typeface="Calibri" pitchFamily="34" charset="-122"/>
                <a:cs typeface="Calibri" pitchFamily="34" charset="-120"/>
              </a:rPr>
              <a:t>FRAUDE</a:t>
            </a:r>
            <a:endParaRPr lang="en-US" sz="1050" dirty="0"/>
          </a:p>
        </p:txBody>
      </p:sp>
      <p:sp>
        <p:nvSpPr>
          <p:cNvPr id="38"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0392B"/>
                </a:solidFill>
                <a:latin typeface="Calibri" pitchFamily="34" charset="0"/>
                <a:ea typeface="Calibri" pitchFamily="34" charset="-122"/>
                <a:cs typeface="Calibri" pitchFamily="34" charset="-120"/>
              </a:rPr>
              <a:t>TEMA 5 · RESPUESTAS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  ·  RESPUESTAS</a:t>
            </a:r>
            <a:endParaRPr lang="en-US" sz="2600" dirty="0"/>
          </a:p>
        </p:txBody>
      </p:sp>
      <p:sp>
        <p:nvSpPr>
          <p:cNvPr id="5" name="Shape 2"/>
          <p:cNvSpPr/>
          <p:nvPr/>
        </p:nvSpPr>
        <p:spPr>
          <a:xfrm>
            <a:off x="566928" y="2148840"/>
            <a:ext cx="11057839" cy="880110"/>
          </a:xfrm>
          <a:prstGeom prst="roundRect">
            <a:avLst>
              <a:gd name="adj" fmla="val 9351"/>
            </a:avLst>
          </a:prstGeom>
          <a:solidFill>
            <a:srgbClr val="F2F5F9"/>
          </a:solidFill>
          <a:ln/>
        </p:spPr>
      </p:sp>
      <p:sp>
        <p:nvSpPr>
          <p:cNvPr id="6" name="Text 3"/>
          <p:cNvSpPr txBox="1"/>
          <p:nvPr/>
        </p:nvSpPr>
        <p:spPr>
          <a:xfrm>
            <a:off x="822960" y="2148840"/>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1.  Digitar mal un monto por distracción: una equivocación sin intención de dañar.</a:t>
            </a:r>
            <a:endParaRPr lang="en-US" sz="1250" dirty="0"/>
          </a:p>
        </p:txBody>
      </p:sp>
      <p:sp>
        <p:nvSpPr>
          <p:cNvPr id="7" name="Shape 4"/>
          <p:cNvSpPr/>
          <p:nvPr/>
        </p:nvSpPr>
        <p:spPr>
          <a:xfrm>
            <a:off x="9887407" y="2378583"/>
            <a:ext cx="1463040" cy="420624"/>
          </a:xfrm>
          <a:prstGeom prst="roundRect">
            <a:avLst>
              <a:gd name="adj" fmla="val 50000"/>
            </a:avLst>
          </a:prstGeom>
          <a:solidFill>
            <a:srgbClr val="F0AD35"/>
          </a:solidFill>
          <a:ln/>
        </p:spPr>
      </p:sp>
      <p:sp>
        <p:nvSpPr>
          <p:cNvPr id="8" name="Text 5"/>
          <p:cNvSpPr txBox="1"/>
          <p:nvPr/>
        </p:nvSpPr>
        <p:spPr>
          <a:xfrm>
            <a:off x="9887407" y="2378583"/>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9" name="Shape 6"/>
          <p:cNvSpPr/>
          <p:nvPr/>
        </p:nvSpPr>
        <p:spPr>
          <a:xfrm>
            <a:off x="566928" y="3175254"/>
            <a:ext cx="11057839" cy="880110"/>
          </a:xfrm>
          <a:prstGeom prst="roundRect">
            <a:avLst>
              <a:gd name="adj" fmla="val 9351"/>
            </a:avLst>
          </a:prstGeom>
          <a:solidFill>
            <a:srgbClr val="F2F5F9"/>
          </a:solidFill>
          <a:ln/>
        </p:spPr>
      </p:sp>
      <p:sp>
        <p:nvSpPr>
          <p:cNvPr id="10" name="Text 7"/>
          <p:cNvSpPr txBox="1"/>
          <p:nvPr/>
        </p:nvSpPr>
        <p:spPr>
          <a:xfrm>
            <a:off x="822960" y="3175254"/>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2.  Aprobar a sabiendas con documentación alterada: acción deliberada para obtener un beneficio.</a:t>
            </a:r>
            <a:endParaRPr lang="en-US" sz="1250" dirty="0"/>
          </a:p>
        </p:txBody>
      </p:sp>
      <p:sp>
        <p:nvSpPr>
          <p:cNvPr id="11" name="Shape 8"/>
          <p:cNvSpPr/>
          <p:nvPr/>
        </p:nvSpPr>
        <p:spPr>
          <a:xfrm>
            <a:off x="9887407" y="3404997"/>
            <a:ext cx="1463040" cy="420624"/>
          </a:xfrm>
          <a:prstGeom prst="roundRect">
            <a:avLst>
              <a:gd name="adj" fmla="val 50000"/>
            </a:avLst>
          </a:prstGeom>
          <a:solidFill>
            <a:srgbClr val="E0392B"/>
          </a:solidFill>
          <a:ln/>
        </p:spPr>
      </p:sp>
      <p:sp>
        <p:nvSpPr>
          <p:cNvPr id="12" name="Text 9"/>
          <p:cNvSpPr txBox="1"/>
          <p:nvPr/>
        </p:nvSpPr>
        <p:spPr>
          <a:xfrm>
            <a:off x="9887407" y="3404997"/>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13" name="Shape 10"/>
          <p:cNvSpPr/>
          <p:nvPr/>
        </p:nvSpPr>
        <p:spPr>
          <a:xfrm>
            <a:off x="566928" y="4201668"/>
            <a:ext cx="11057839" cy="880110"/>
          </a:xfrm>
          <a:prstGeom prst="roundRect">
            <a:avLst>
              <a:gd name="adj" fmla="val 9351"/>
            </a:avLst>
          </a:prstGeom>
          <a:solidFill>
            <a:srgbClr val="F2F5F9"/>
          </a:solidFill>
          <a:ln/>
        </p:spPr>
      </p:sp>
      <p:sp>
        <p:nvSpPr>
          <p:cNvPr id="14" name="Text 11"/>
          <p:cNvSpPr txBox="1"/>
          <p:nvPr/>
        </p:nvSpPr>
        <p:spPr>
          <a:xfrm>
            <a:off x="822960" y="4201668"/>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3.  Olvidar un documento por carga de trabajo: una falla involuntaria del proceso.</a:t>
            </a:r>
            <a:endParaRPr lang="en-US" sz="1250" dirty="0"/>
          </a:p>
        </p:txBody>
      </p:sp>
      <p:sp>
        <p:nvSpPr>
          <p:cNvPr id="15" name="Shape 12"/>
          <p:cNvSpPr/>
          <p:nvPr/>
        </p:nvSpPr>
        <p:spPr>
          <a:xfrm>
            <a:off x="9887407" y="4431411"/>
            <a:ext cx="1463040" cy="420624"/>
          </a:xfrm>
          <a:prstGeom prst="roundRect">
            <a:avLst>
              <a:gd name="adj" fmla="val 50000"/>
            </a:avLst>
          </a:prstGeom>
          <a:solidFill>
            <a:srgbClr val="F0AD35"/>
          </a:solidFill>
          <a:ln/>
        </p:spPr>
      </p:sp>
      <p:sp>
        <p:nvSpPr>
          <p:cNvPr id="16" name="Text 13"/>
          <p:cNvSpPr txBox="1"/>
          <p:nvPr/>
        </p:nvSpPr>
        <p:spPr>
          <a:xfrm>
            <a:off x="9887407" y="4431411"/>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ERROR</a:t>
            </a:r>
            <a:endParaRPr lang="en-US" sz="1200" dirty="0"/>
          </a:p>
        </p:txBody>
      </p:sp>
      <p:sp>
        <p:nvSpPr>
          <p:cNvPr id="17" name="Shape 14"/>
          <p:cNvSpPr/>
          <p:nvPr/>
        </p:nvSpPr>
        <p:spPr>
          <a:xfrm>
            <a:off x="566928" y="5228082"/>
            <a:ext cx="11057839" cy="880110"/>
          </a:xfrm>
          <a:prstGeom prst="roundRect">
            <a:avLst>
              <a:gd name="adj" fmla="val 9351"/>
            </a:avLst>
          </a:prstGeom>
          <a:solidFill>
            <a:srgbClr val="F2F5F9"/>
          </a:solidFill>
          <a:ln/>
        </p:spPr>
      </p:sp>
      <p:sp>
        <p:nvSpPr>
          <p:cNvPr id="18" name="Text 15"/>
          <p:cNvSpPr txBox="1"/>
          <p:nvPr/>
        </p:nvSpPr>
        <p:spPr>
          <a:xfrm>
            <a:off x="822960" y="5228082"/>
            <a:ext cx="8314639" cy="880110"/>
          </a:xfrm>
          <a:prstGeom prst="rect">
            <a:avLst/>
          </a:prstGeom>
          <a:noFill/>
          <a:ln/>
        </p:spPr>
        <p:txBody>
          <a:bodyPr wrap="square" lIns="0" tIns="0" rIns="0" bIns="0" rtlCol="0" anchor="ctr"/>
          <a:lstStyle/>
          <a:p>
            <a:pPr indent="0" marL="0">
              <a:lnSpc>
                <a:spcPct val="105000"/>
              </a:lnSpc>
              <a:buNone/>
            </a:pPr>
            <a:r>
              <a:rPr lang="en-US" sz="1250" dirty="0">
                <a:solidFill>
                  <a:srgbClr val="243044"/>
                </a:solidFill>
                <a:latin typeface="Calibri" pitchFamily="34" charset="0"/>
                <a:ea typeface="Calibri" pitchFamily="34" charset="-122"/>
                <a:cs typeface="Calibri" pitchFamily="34" charset="-120"/>
              </a:rPr>
              <a:t>4.  Ocultar una diferencia alterando un registro a propósito: intención de encubrir.</a:t>
            </a:r>
            <a:endParaRPr lang="en-US" sz="1250" dirty="0"/>
          </a:p>
        </p:txBody>
      </p:sp>
      <p:sp>
        <p:nvSpPr>
          <p:cNvPr id="19" name="Shape 16"/>
          <p:cNvSpPr/>
          <p:nvPr/>
        </p:nvSpPr>
        <p:spPr>
          <a:xfrm>
            <a:off x="9887407" y="5457825"/>
            <a:ext cx="1463040" cy="420624"/>
          </a:xfrm>
          <a:prstGeom prst="roundRect">
            <a:avLst>
              <a:gd name="adj" fmla="val 50000"/>
            </a:avLst>
          </a:prstGeom>
          <a:solidFill>
            <a:srgbClr val="E0392B"/>
          </a:solidFill>
          <a:ln/>
        </p:spPr>
      </p:sp>
      <p:sp>
        <p:nvSpPr>
          <p:cNvPr id="20" name="Text 17"/>
          <p:cNvSpPr txBox="1"/>
          <p:nvPr/>
        </p:nvSpPr>
        <p:spPr>
          <a:xfrm>
            <a:off x="9887407" y="5457825"/>
            <a:ext cx="14630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FRAUDE</a:t>
            </a:r>
            <a:endParaRPr lang="en-US" sz="1200" dirty="0"/>
          </a:p>
        </p:txBody>
      </p:sp>
      <p:sp>
        <p:nvSpPr>
          <p:cNvPr id="21"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0392B"/>
                </a:solidFill>
                <a:latin typeface="Calibri" pitchFamily="34" charset="0"/>
                <a:ea typeface="Calibri" pitchFamily="34" charset="-122"/>
                <a:cs typeface="Calibri" pitchFamily="34" charset="-120"/>
              </a:rPr>
              <a:t>TEMA 5 · PREVENCIÓN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SEÑALES DE ALERTA Y QUÉ PUEDO HACER</a:t>
            </a:r>
            <a:endParaRPr lang="en-US" sz="2800" dirty="0"/>
          </a:p>
        </p:txBody>
      </p:sp>
      <p:sp>
        <p:nvSpPr>
          <p:cNvPr id="5" name="Shape 2"/>
          <p:cNvSpPr/>
          <p:nvPr/>
        </p:nvSpPr>
        <p:spPr>
          <a:xfrm>
            <a:off x="566928" y="2825496"/>
            <a:ext cx="2545004" cy="2286000"/>
          </a:xfrm>
          <a:prstGeom prst="roundRect">
            <a:avLst>
              <a:gd name="adj" fmla="val 4000"/>
            </a:avLst>
          </a:prstGeom>
          <a:solidFill>
            <a:srgbClr val="F2F5F9"/>
          </a:solidFill>
          <a:ln/>
        </p:spPr>
      </p:sp>
      <p:sp>
        <p:nvSpPr>
          <p:cNvPr id="6" name="Shape 3"/>
          <p:cNvSpPr/>
          <p:nvPr/>
        </p:nvSpPr>
        <p:spPr>
          <a:xfrm>
            <a:off x="1555966" y="2990088"/>
            <a:ext cx="566928" cy="566928"/>
          </a:xfrm>
          <a:prstGeom prst="ellipse">
            <a:avLst/>
          </a:prstGeom>
          <a:solidFill>
            <a:srgbClr val="E0392B"/>
          </a:solidFill>
          <a:ln/>
        </p:spPr>
      </p:sp>
      <p:pic>
        <p:nvPicPr>
          <p:cNvPr id="7" name="Image 0" descr="/tmp/claude-0/-home-user-riesgo/0ff9ff46-1396-5bd8-b3ac-2280dfbbbc55/scratchpad/work/gen/icons/eye_slash_white.png">    </p:cNvPr>
          <p:cNvPicPr>
            <a:picLocks noChangeAspect="1"/>
          </p:cNvPicPr>
          <p:nvPr/>
        </p:nvPicPr>
        <p:blipFill>
          <a:blip r:embed="rId1"/>
          <a:stretch>
            <a:fillRect/>
          </a:stretch>
        </p:blipFill>
        <p:spPr>
          <a:xfrm>
            <a:off x="1692029" y="3126151"/>
            <a:ext cx="294803" cy="294803"/>
          </a:xfrm>
          <a:prstGeom prst="rect">
            <a:avLst/>
          </a:prstGeom>
        </p:spPr>
      </p:pic>
      <p:sp>
        <p:nvSpPr>
          <p:cNvPr id="8" name="Text 4"/>
          <p:cNvSpPr txBox="1"/>
          <p:nvPr/>
        </p:nvSpPr>
        <p:spPr>
          <a:xfrm>
            <a:off x="676656"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9" name="Text 5"/>
          <p:cNvSpPr txBox="1"/>
          <p:nvPr/>
        </p:nvSpPr>
        <p:spPr>
          <a:xfrm>
            <a:off x="731520"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Negativa a documentar o mostrar un proceso</a:t>
            </a:r>
            <a:endParaRPr lang="en-US" sz="1100" dirty="0"/>
          </a:p>
        </p:txBody>
      </p:sp>
      <p:sp>
        <p:nvSpPr>
          <p:cNvPr id="10" name="Shape 6"/>
          <p:cNvSpPr/>
          <p:nvPr/>
        </p:nvSpPr>
        <p:spPr>
          <a:xfrm>
            <a:off x="3404540" y="2825496"/>
            <a:ext cx="2545004" cy="2286000"/>
          </a:xfrm>
          <a:prstGeom prst="roundRect">
            <a:avLst>
              <a:gd name="adj" fmla="val 4000"/>
            </a:avLst>
          </a:prstGeom>
          <a:solidFill>
            <a:srgbClr val="F2F5F9"/>
          </a:solidFill>
          <a:ln/>
        </p:spPr>
      </p:sp>
      <p:sp>
        <p:nvSpPr>
          <p:cNvPr id="11" name="Shape 7"/>
          <p:cNvSpPr/>
          <p:nvPr/>
        </p:nvSpPr>
        <p:spPr>
          <a:xfrm>
            <a:off x="4393578" y="2990088"/>
            <a:ext cx="566928" cy="566928"/>
          </a:xfrm>
          <a:prstGeom prst="ellipse">
            <a:avLst/>
          </a:prstGeom>
          <a:solidFill>
            <a:srgbClr val="E0392B"/>
          </a:solidFill>
          <a:ln/>
        </p:spPr>
      </p:sp>
      <p:pic>
        <p:nvPicPr>
          <p:cNvPr id="12" name="Image 1" descr="/tmp/claude-0/-home-user-riesgo/0ff9ff46-1396-5bd8-b3ac-2280dfbbbc55/scratchpad/work/gen/icons/warning_triangle_white.png">    </p:cNvPr>
          <p:cNvPicPr>
            <a:picLocks noChangeAspect="1"/>
          </p:cNvPicPr>
          <p:nvPr/>
        </p:nvPicPr>
        <p:blipFill>
          <a:blip r:embed="rId2"/>
          <a:stretch>
            <a:fillRect/>
          </a:stretch>
        </p:blipFill>
        <p:spPr>
          <a:xfrm>
            <a:off x="4529640" y="3126151"/>
            <a:ext cx="294803" cy="294803"/>
          </a:xfrm>
          <a:prstGeom prst="rect">
            <a:avLst/>
          </a:prstGeom>
        </p:spPr>
      </p:pic>
      <p:sp>
        <p:nvSpPr>
          <p:cNvPr id="13" name="Text 8"/>
          <p:cNvSpPr txBox="1"/>
          <p:nvPr/>
        </p:nvSpPr>
        <p:spPr>
          <a:xfrm>
            <a:off x="3514268"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14" name="Text 9"/>
          <p:cNvSpPr txBox="1"/>
          <p:nvPr/>
        </p:nvSpPr>
        <p:spPr>
          <a:xfrm>
            <a:off x="3569132"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Presión inusual por aprobar algo muy rápido</a:t>
            </a:r>
            <a:endParaRPr lang="en-US" sz="1100" dirty="0"/>
          </a:p>
        </p:txBody>
      </p:sp>
      <p:sp>
        <p:nvSpPr>
          <p:cNvPr id="15" name="Shape 10"/>
          <p:cNvSpPr/>
          <p:nvPr/>
        </p:nvSpPr>
        <p:spPr>
          <a:xfrm>
            <a:off x="6242152" y="2825496"/>
            <a:ext cx="2545004" cy="2286000"/>
          </a:xfrm>
          <a:prstGeom prst="roundRect">
            <a:avLst>
              <a:gd name="adj" fmla="val 4000"/>
            </a:avLst>
          </a:prstGeom>
          <a:solidFill>
            <a:srgbClr val="F2F5F9"/>
          </a:solidFill>
          <a:ln/>
        </p:spPr>
      </p:sp>
      <p:sp>
        <p:nvSpPr>
          <p:cNvPr id="16" name="Shape 11"/>
          <p:cNvSpPr/>
          <p:nvPr/>
        </p:nvSpPr>
        <p:spPr>
          <a:xfrm>
            <a:off x="7231189" y="2990088"/>
            <a:ext cx="566928" cy="566928"/>
          </a:xfrm>
          <a:prstGeom prst="ellipse">
            <a:avLst/>
          </a:prstGeom>
          <a:solidFill>
            <a:srgbClr val="2FAE60"/>
          </a:solidFill>
          <a:ln/>
        </p:spPr>
      </p:sp>
      <p:pic>
        <p:nvPicPr>
          <p:cNvPr id="17" name="Image 2" descr="/tmp/claude-0/-home-user-riesgo/0ff9ff46-1396-5bd8-b3ac-2280dfbbbc55/scratchpad/work/gen/icons/form_white.png">    </p:cNvPr>
          <p:cNvPicPr>
            <a:picLocks noChangeAspect="1"/>
          </p:cNvPicPr>
          <p:nvPr/>
        </p:nvPicPr>
        <p:blipFill>
          <a:blip r:embed="rId3"/>
          <a:stretch>
            <a:fillRect/>
          </a:stretch>
        </p:blipFill>
        <p:spPr>
          <a:xfrm>
            <a:off x="7367252" y="3126151"/>
            <a:ext cx="294803" cy="294803"/>
          </a:xfrm>
          <a:prstGeom prst="rect">
            <a:avLst/>
          </a:prstGeom>
        </p:spPr>
      </p:pic>
      <p:sp>
        <p:nvSpPr>
          <p:cNvPr id="18" name="Text 12"/>
          <p:cNvSpPr txBox="1"/>
          <p:nvPr/>
        </p:nvSpPr>
        <p:spPr>
          <a:xfrm>
            <a:off x="6351880"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19" name="Text 13"/>
          <p:cNvSpPr txBox="1"/>
          <p:nvPr/>
        </p:nvSpPr>
        <p:spPr>
          <a:xfrm>
            <a:off x="6406744"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Documenta lo que observas con hechos, no suposiciones</a:t>
            </a:r>
            <a:endParaRPr lang="en-US" sz="1100" dirty="0"/>
          </a:p>
        </p:txBody>
      </p:sp>
      <p:sp>
        <p:nvSpPr>
          <p:cNvPr id="20" name="Shape 14"/>
          <p:cNvSpPr/>
          <p:nvPr/>
        </p:nvSpPr>
        <p:spPr>
          <a:xfrm>
            <a:off x="9079763" y="2825496"/>
            <a:ext cx="2545004" cy="2286000"/>
          </a:xfrm>
          <a:prstGeom prst="roundRect">
            <a:avLst>
              <a:gd name="adj" fmla="val 4000"/>
            </a:avLst>
          </a:prstGeom>
          <a:solidFill>
            <a:srgbClr val="F2F5F9"/>
          </a:solidFill>
          <a:ln/>
        </p:spPr>
      </p:sp>
      <p:sp>
        <p:nvSpPr>
          <p:cNvPr id="21" name="Shape 15"/>
          <p:cNvSpPr/>
          <p:nvPr/>
        </p:nvSpPr>
        <p:spPr>
          <a:xfrm>
            <a:off x="10068801" y="2990088"/>
            <a:ext cx="566928" cy="566928"/>
          </a:xfrm>
          <a:prstGeom prst="ellipse">
            <a:avLst/>
          </a:prstGeom>
          <a:solidFill>
            <a:srgbClr val="2FAE60"/>
          </a:solidFill>
          <a:ln/>
        </p:spPr>
      </p:sp>
      <p:pic>
        <p:nvPicPr>
          <p:cNvPr id="22" name="Image 3" descr="/tmp/claude-0/-home-user-riesgo/0ff9ff46-1396-5bd8-b3ac-2280dfbbbc55/scratchpad/work/gen/icons/megaphone_white.png">    </p:cNvPr>
          <p:cNvPicPr>
            <a:picLocks noChangeAspect="1"/>
          </p:cNvPicPr>
          <p:nvPr/>
        </p:nvPicPr>
        <p:blipFill>
          <a:blip r:embed="rId4"/>
          <a:stretch>
            <a:fillRect/>
          </a:stretch>
        </p:blipFill>
        <p:spPr>
          <a:xfrm>
            <a:off x="10204864" y="3126151"/>
            <a:ext cx="294803" cy="294803"/>
          </a:xfrm>
          <a:prstGeom prst="rect">
            <a:avLst/>
          </a:prstGeom>
        </p:spPr>
      </p:pic>
      <p:sp>
        <p:nvSpPr>
          <p:cNvPr id="23" name="Text 16"/>
          <p:cNvSpPr txBox="1"/>
          <p:nvPr/>
        </p:nvSpPr>
        <p:spPr>
          <a:xfrm>
            <a:off x="9189491"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24" name="Text 17"/>
          <p:cNvSpPr txBox="1"/>
          <p:nvPr/>
        </p:nvSpPr>
        <p:spPr>
          <a:xfrm>
            <a:off x="9244355"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Repórtalo por el canal institucional; nunca lo encubras</a:t>
            </a:r>
            <a:endParaRPr lang="en-US" sz="1100" dirty="0"/>
          </a:p>
        </p:txBody>
      </p:sp>
      <p:sp>
        <p:nvSpPr>
          <p:cNvPr id="25"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2E5EAA"/>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Text 3"/>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133B6C"/>
                </a:solidFill>
                <a:latin typeface="Cambria" pitchFamily="34" charset="0"/>
                <a:ea typeface="Cambria" pitchFamily="34" charset="-122"/>
                <a:cs typeface="Cambria" pitchFamily="34" charset="-120"/>
              </a:rPr>
              <a:t>06</a:t>
            </a:r>
            <a:endParaRPr lang="en-US" sz="26000" dirty="0"/>
          </a:p>
        </p:txBody>
      </p:sp>
      <p:sp>
        <p:nvSpPr>
          <p:cNvPr id="7" name="Shape 4"/>
          <p:cNvSpPr/>
          <p:nvPr/>
        </p:nvSpPr>
        <p:spPr>
          <a:xfrm>
            <a:off x="8686800" y="2011680"/>
            <a:ext cx="2834640" cy="2834640"/>
          </a:xfrm>
          <a:prstGeom prst="ellipse">
            <a:avLst/>
          </a:prstGeom>
          <a:solidFill>
            <a:srgbClr val="0A1F3B"/>
          </a:solidFill>
          <a:ln/>
        </p:spPr>
      </p:sp>
      <p:sp>
        <p:nvSpPr>
          <p:cNvPr id="8" name="Shape 5"/>
          <p:cNvSpPr/>
          <p:nvPr/>
        </p:nvSpPr>
        <p:spPr>
          <a:xfrm>
            <a:off x="9784080" y="3931920"/>
            <a:ext cx="1371600" cy="1371600"/>
          </a:xfrm>
          <a:prstGeom prst="ellipse">
            <a:avLst/>
          </a:prstGeom>
          <a:solidFill>
            <a:srgbClr val="FFFFFF"/>
          </a:solidFill>
          <a:ln/>
        </p:spPr>
      </p:sp>
      <p:sp>
        <p:nvSpPr>
          <p:cNvPr id="9" name="Shape 6"/>
          <p:cNvSpPr/>
          <p:nvPr/>
        </p:nvSpPr>
        <p:spPr>
          <a:xfrm>
            <a:off x="10698480" y="2011680"/>
            <a:ext cx="960120" cy="960120"/>
          </a:xfrm>
          <a:prstGeom prst="ellipse">
            <a:avLst/>
          </a:prstGeom>
          <a:solidFill>
            <a:srgbClr val="0D2847"/>
          </a:solidFill>
          <a:ln/>
        </p:spPr>
      </p:sp>
      <p:sp>
        <p:nvSpPr>
          <p:cNvPr id="10" name="Shape 7"/>
          <p:cNvSpPr/>
          <p:nvPr/>
        </p:nvSpPr>
        <p:spPr>
          <a:xfrm>
            <a:off x="9075420" y="2217420"/>
            <a:ext cx="1051560" cy="1051560"/>
          </a:xfrm>
          <a:prstGeom prst="ellipse">
            <a:avLst/>
          </a:prstGeom>
          <a:solidFill>
            <a:srgbClr val="FFFFFF"/>
          </a:solidFill>
          <a:ln/>
        </p:spPr>
      </p:sp>
      <p:pic>
        <p:nvPicPr>
          <p:cNvPr id="11" name="Image 0" descr="/tmp/claude-0/-home-user-riesgo/0ff9ff46-1396-5bd8-b3ac-2280dfbbbc55/scratchpad/work/gen/icons/bank_indigo.png">    </p:cNvPr>
          <p:cNvPicPr>
            <a:picLocks noChangeAspect="1"/>
          </p:cNvPicPr>
          <p:nvPr/>
        </p:nvPicPr>
        <p:blipFill>
          <a:blip r:embed="rId1"/>
          <a:stretch>
            <a:fillRect/>
          </a:stretch>
        </p:blipFill>
        <p:spPr>
          <a:xfrm>
            <a:off x="9338310" y="2480310"/>
            <a:ext cx="525780" cy="525780"/>
          </a:xfrm>
          <a:prstGeom prst="rect">
            <a:avLst/>
          </a:prstGeom>
        </p:spPr>
      </p:pic>
      <p:sp>
        <p:nvSpPr>
          <p:cNvPr id="12" name="Shape 8"/>
          <p:cNvSpPr/>
          <p:nvPr/>
        </p:nvSpPr>
        <p:spPr>
          <a:xfrm>
            <a:off x="10447020" y="2948940"/>
            <a:ext cx="868680" cy="868680"/>
          </a:xfrm>
          <a:prstGeom prst="ellipse">
            <a:avLst/>
          </a:prstGeom>
          <a:solidFill>
            <a:srgbClr val="0A1F3B"/>
          </a:solidFill>
          <a:ln/>
        </p:spPr>
      </p:sp>
      <p:pic>
        <p:nvPicPr>
          <p:cNvPr id="13" name="Image 1" descr="/tmp/claude-0/-home-user-riesgo/0ff9ff46-1396-5bd8-b3ac-2280dfbbbc55/scratchpad/work/gen/icons/coins_white.png">    </p:cNvPr>
          <p:cNvPicPr>
            <a:picLocks noChangeAspect="1"/>
          </p:cNvPicPr>
          <p:nvPr/>
        </p:nvPicPr>
        <p:blipFill>
          <a:blip r:embed="rId2"/>
          <a:stretch>
            <a:fillRect/>
          </a:stretch>
        </p:blipFill>
        <p:spPr>
          <a:xfrm>
            <a:off x="10664190" y="3166110"/>
            <a:ext cx="434340" cy="434340"/>
          </a:xfrm>
          <a:prstGeom prst="rect">
            <a:avLst/>
          </a:prstGeom>
        </p:spPr>
      </p:pic>
      <p:sp>
        <p:nvSpPr>
          <p:cNvPr id="14" name="Shape 9"/>
          <p:cNvSpPr/>
          <p:nvPr/>
        </p:nvSpPr>
        <p:spPr>
          <a:xfrm>
            <a:off x="9578340" y="3909060"/>
            <a:ext cx="777240" cy="777240"/>
          </a:xfrm>
          <a:prstGeom prst="ellipse">
            <a:avLst/>
          </a:prstGeom>
          <a:solidFill>
            <a:srgbClr val="FFFFFF"/>
          </a:solidFill>
          <a:ln/>
        </p:spPr>
      </p:sp>
      <p:pic>
        <p:nvPicPr>
          <p:cNvPr id="15" name="Image 2" descr="/tmp/claude-0/-home-user-riesgo/0ff9ff46-1396-5bd8-b3ac-2280dfbbbc55/scratchpad/work/gen/icons/form_navy.png">    </p:cNvPr>
          <p:cNvPicPr>
            <a:picLocks noChangeAspect="1"/>
          </p:cNvPicPr>
          <p:nvPr/>
        </p:nvPicPr>
        <p:blipFill>
          <a:blip r:embed="rId3"/>
          <a:stretch>
            <a:fillRect/>
          </a:stretch>
        </p:blipFill>
        <p:spPr>
          <a:xfrm>
            <a:off x="9772650" y="4103370"/>
            <a:ext cx="388620" cy="388620"/>
          </a:xfrm>
          <a:prstGeom prst="rect">
            <a:avLst/>
          </a:prstGeom>
        </p:spPr>
      </p:pic>
      <p:sp>
        <p:nvSpPr>
          <p:cNvPr id="16" name="Shape 10"/>
          <p:cNvSpPr/>
          <p:nvPr/>
        </p:nvSpPr>
        <p:spPr>
          <a:xfrm>
            <a:off x="10689336" y="4105656"/>
            <a:ext cx="658368" cy="658368"/>
          </a:xfrm>
          <a:prstGeom prst="ellipse">
            <a:avLst/>
          </a:prstGeom>
          <a:solidFill>
            <a:srgbClr val="0A1F3B"/>
          </a:solidFill>
          <a:ln/>
        </p:spPr>
      </p:sp>
      <p:pic>
        <p:nvPicPr>
          <p:cNvPr id="17" name="Image 3" descr="/tmp/claude-0/-home-user-riesgo/0ff9ff46-1396-5bd8-b3ac-2280dfbbbc55/scratchpad/work/gen/icons/chart_up_indigo.png">    </p:cNvPr>
          <p:cNvPicPr>
            <a:picLocks noChangeAspect="1"/>
          </p:cNvPicPr>
          <p:nvPr/>
        </p:nvPicPr>
        <p:blipFill>
          <a:blip r:embed="rId4"/>
          <a:stretch>
            <a:fillRect/>
          </a:stretch>
        </p:blipFill>
        <p:spPr>
          <a:xfrm>
            <a:off x="10853928" y="4270248"/>
            <a:ext cx="329184" cy="329184"/>
          </a:xfrm>
          <a:prstGeom prst="rect">
            <a:avLst/>
          </a:prstGeom>
        </p:spPr>
      </p:pic>
      <p:sp>
        <p:nvSpPr>
          <p:cNvPr id="18" name="Text 11"/>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2E5EAA"/>
                </a:solidFill>
                <a:latin typeface="Calibri" pitchFamily="34" charset="0"/>
                <a:ea typeface="Calibri" pitchFamily="34" charset="-122"/>
                <a:cs typeface="Calibri" pitchFamily="34" charset="-120"/>
              </a:rPr>
              <a:t>TEMA 6</a:t>
            </a:r>
            <a:endParaRPr lang="en-US" sz="1500" dirty="0"/>
          </a:p>
        </p:txBody>
      </p:sp>
      <p:sp>
        <p:nvSpPr>
          <p:cNvPr id="19" name="Text 12"/>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EL RIESGO CREDITICIO NO ES SOLO</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RESPONSABILIDAD DE CRÉDITOS</a:t>
            </a:r>
            <a:endParaRPr lang="en-US" sz="3200" dirty="0"/>
          </a:p>
        </p:txBody>
      </p:sp>
      <p:sp>
        <p:nvSpPr>
          <p:cNvPr id="20" name="Text 13"/>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El crédito es un proceso. El riesgo puede aparecer en cualquier etapa.</a:t>
            </a:r>
            <a:endParaRPr lang="en-US" sz="1550" dirty="0"/>
          </a:p>
        </p:txBody>
      </p:sp>
      <p:pic>
        <p:nvPicPr>
          <p:cNvPr id="21"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2"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3"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 PROCESO, VARIAS ETAPAS</a:t>
            </a:r>
            <a:endParaRPr lang="en-US" sz="2700" dirty="0"/>
          </a:p>
        </p:txBody>
      </p:sp>
      <p:sp>
        <p:nvSpPr>
          <p:cNvPr id="5" name="Shape 2"/>
          <p:cNvSpPr/>
          <p:nvPr/>
        </p:nvSpPr>
        <p:spPr>
          <a:xfrm>
            <a:off x="1514818" y="2514600"/>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731770"/>
            <a:ext cx="434340" cy="434340"/>
          </a:xfrm>
          <a:prstGeom prst="rect">
            <a:avLst/>
          </a:prstGeom>
        </p:spPr>
      </p:pic>
      <p:sp>
        <p:nvSpPr>
          <p:cNvPr id="7" name="Text 3"/>
          <p:cNvSpPr txBox="1"/>
          <p:nvPr/>
        </p:nvSpPr>
        <p:spPr>
          <a:xfrm>
            <a:off x="62179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802636"/>
            <a:ext cx="292608" cy="292608"/>
          </a:xfrm>
          <a:prstGeom prst="rect">
            <a:avLst/>
          </a:prstGeom>
        </p:spPr>
      </p:pic>
      <p:sp>
        <p:nvSpPr>
          <p:cNvPr id="9" name="Shape 4"/>
          <p:cNvSpPr/>
          <p:nvPr/>
        </p:nvSpPr>
        <p:spPr>
          <a:xfrm>
            <a:off x="4279278" y="2514600"/>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731770"/>
            <a:ext cx="434340" cy="434340"/>
          </a:xfrm>
          <a:prstGeom prst="rect">
            <a:avLst/>
          </a:prstGeom>
        </p:spPr>
      </p:pic>
      <p:sp>
        <p:nvSpPr>
          <p:cNvPr id="11" name="Text 5"/>
          <p:cNvSpPr txBox="1"/>
          <p:nvPr/>
        </p:nvSpPr>
        <p:spPr>
          <a:xfrm>
            <a:off x="338625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802636"/>
            <a:ext cx="292608" cy="292608"/>
          </a:xfrm>
          <a:prstGeom prst="rect">
            <a:avLst/>
          </a:prstGeom>
        </p:spPr>
      </p:pic>
      <p:sp>
        <p:nvSpPr>
          <p:cNvPr id="13" name="Shape 6"/>
          <p:cNvSpPr/>
          <p:nvPr/>
        </p:nvSpPr>
        <p:spPr>
          <a:xfrm>
            <a:off x="7043738" y="2514600"/>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731770"/>
            <a:ext cx="434340" cy="434340"/>
          </a:xfrm>
          <a:prstGeom prst="rect">
            <a:avLst/>
          </a:prstGeom>
        </p:spPr>
      </p:pic>
      <p:sp>
        <p:nvSpPr>
          <p:cNvPr id="15" name="Text 7"/>
          <p:cNvSpPr txBox="1"/>
          <p:nvPr/>
        </p:nvSpPr>
        <p:spPr>
          <a:xfrm>
            <a:off x="6150712"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802636"/>
            <a:ext cx="292608" cy="292608"/>
          </a:xfrm>
          <a:prstGeom prst="rect">
            <a:avLst/>
          </a:prstGeom>
        </p:spPr>
      </p:pic>
      <p:sp>
        <p:nvSpPr>
          <p:cNvPr id="17" name="Shape 8"/>
          <p:cNvSpPr/>
          <p:nvPr/>
        </p:nvSpPr>
        <p:spPr>
          <a:xfrm>
            <a:off x="9808197" y="2514600"/>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731770"/>
            <a:ext cx="434340" cy="434340"/>
          </a:xfrm>
          <a:prstGeom prst="rect">
            <a:avLst/>
          </a:prstGeom>
        </p:spPr>
      </p:pic>
      <p:sp>
        <p:nvSpPr>
          <p:cNvPr id="19" name="Text 9"/>
          <p:cNvSpPr txBox="1"/>
          <p:nvPr/>
        </p:nvSpPr>
        <p:spPr>
          <a:xfrm>
            <a:off x="8915171" y="351129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913632"/>
            <a:ext cx="292608" cy="292608"/>
          </a:xfrm>
          <a:prstGeom prst="rect">
            <a:avLst/>
          </a:prstGeom>
        </p:spPr>
      </p:pic>
      <p:sp>
        <p:nvSpPr>
          <p:cNvPr id="21" name="Shape 10"/>
          <p:cNvSpPr/>
          <p:nvPr/>
        </p:nvSpPr>
        <p:spPr>
          <a:xfrm>
            <a:off x="1514818" y="4242816"/>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459986"/>
            <a:ext cx="434340" cy="434340"/>
          </a:xfrm>
          <a:prstGeom prst="rect">
            <a:avLst/>
          </a:prstGeom>
        </p:spPr>
      </p:pic>
      <p:sp>
        <p:nvSpPr>
          <p:cNvPr id="23" name="Text 11"/>
          <p:cNvSpPr txBox="1"/>
          <p:nvPr/>
        </p:nvSpPr>
        <p:spPr>
          <a:xfrm>
            <a:off x="62179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530852"/>
            <a:ext cx="292608" cy="292608"/>
          </a:xfrm>
          <a:prstGeom prst="rect">
            <a:avLst/>
          </a:prstGeom>
        </p:spPr>
      </p:pic>
      <p:sp>
        <p:nvSpPr>
          <p:cNvPr id="25" name="Shape 12"/>
          <p:cNvSpPr/>
          <p:nvPr/>
        </p:nvSpPr>
        <p:spPr>
          <a:xfrm>
            <a:off x="4279278" y="4242816"/>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459986"/>
            <a:ext cx="434340" cy="434340"/>
          </a:xfrm>
          <a:prstGeom prst="rect">
            <a:avLst/>
          </a:prstGeom>
        </p:spPr>
      </p:pic>
      <p:sp>
        <p:nvSpPr>
          <p:cNvPr id="27" name="Text 13"/>
          <p:cNvSpPr txBox="1"/>
          <p:nvPr/>
        </p:nvSpPr>
        <p:spPr>
          <a:xfrm>
            <a:off x="338625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530852"/>
            <a:ext cx="292608" cy="292608"/>
          </a:xfrm>
          <a:prstGeom prst="rect">
            <a:avLst/>
          </a:prstGeom>
        </p:spPr>
      </p:pic>
      <p:sp>
        <p:nvSpPr>
          <p:cNvPr id="29" name="Shape 14"/>
          <p:cNvSpPr/>
          <p:nvPr/>
        </p:nvSpPr>
        <p:spPr>
          <a:xfrm>
            <a:off x="7043738" y="4242816"/>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459986"/>
            <a:ext cx="434340" cy="434340"/>
          </a:xfrm>
          <a:prstGeom prst="rect">
            <a:avLst/>
          </a:prstGeom>
        </p:spPr>
      </p:pic>
      <p:sp>
        <p:nvSpPr>
          <p:cNvPr id="31" name="Text 15"/>
          <p:cNvSpPr txBox="1"/>
          <p:nvPr/>
        </p:nvSpPr>
        <p:spPr>
          <a:xfrm>
            <a:off x="6150712"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530852"/>
            <a:ext cx="292608" cy="292608"/>
          </a:xfrm>
          <a:prstGeom prst="rect">
            <a:avLst/>
          </a:prstGeom>
        </p:spPr>
      </p:pic>
      <p:sp>
        <p:nvSpPr>
          <p:cNvPr id="33" name="Shape 16"/>
          <p:cNvSpPr/>
          <p:nvPr/>
        </p:nvSpPr>
        <p:spPr>
          <a:xfrm>
            <a:off x="9808197" y="4242816"/>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459986"/>
            <a:ext cx="434340" cy="434340"/>
          </a:xfrm>
          <a:prstGeom prst="rect">
            <a:avLst/>
          </a:prstGeom>
        </p:spPr>
      </p:pic>
      <p:sp>
        <p:nvSpPr>
          <p:cNvPr id="35" name="Text 17"/>
          <p:cNvSpPr txBox="1"/>
          <p:nvPr/>
        </p:nvSpPr>
        <p:spPr>
          <a:xfrm>
            <a:off x="8915171" y="5239512"/>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9692640" y="-2194560"/>
            <a:ext cx="5486400" cy="5486400"/>
          </a:xfrm>
          <a:prstGeom prst="ellipse">
            <a:avLst/>
          </a:prstGeom>
          <a:solidFill>
            <a:srgbClr val="0D2847"/>
          </a:solidFill>
          <a:ln/>
        </p:spPr>
      </p:sp>
      <p:sp>
        <p:nvSpPr>
          <p:cNvPr id="4" name="Text 1"/>
          <p:cNvSpPr txBox="1"/>
          <p:nvPr/>
        </p:nvSpPr>
        <p:spPr>
          <a:xfrm>
            <a:off x="914400" y="1965960"/>
            <a:ext cx="10332720" cy="365760"/>
          </a:xfrm>
          <a:prstGeom prst="rect">
            <a:avLst/>
          </a:prstGeom>
          <a:noFill/>
          <a:ln/>
        </p:spPr>
        <p:txBody>
          <a:bodyPr wrap="square" lIns="0" tIns="0" rIns="0" bIns="0" rtlCol="0" anchor="ctr"/>
          <a:lstStyle/>
          <a:p>
            <a:pPr algn="ctr" indent="0" marL="0">
              <a:buNone/>
            </a:pPr>
            <a:r>
              <a:rPr lang="en-US" sz="1400" b="1" spc="300" kern="0" dirty="0">
                <a:solidFill>
                  <a:srgbClr val="2E5EAA"/>
                </a:solidFill>
                <a:latin typeface="Calibri" pitchFamily="34" charset="0"/>
                <a:ea typeface="Calibri" pitchFamily="34" charset="-122"/>
                <a:cs typeface="Calibri" pitchFamily="34" charset="-120"/>
              </a:rPr>
              <a:t>¿EN QUÉ PARTE DEL PROCESO PUEDE APARECER UN RIESGO?</a:t>
            </a:r>
            <a:endParaRPr lang="en-US" sz="1400" dirty="0"/>
          </a:p>
        </p:txBody>
      </p:sp>
      <p:sp>
        <p:nvSpPr>
          <p:cNvPr id="5" name="Text 2"/>
          <p:cNvSpPr txBox="1"/>
          <p:nvPr/>
        </p:nvSpPr>
        <p:spPr>
          <a:xfrm>
            <a:off x="914400" y="2468880"/>
            <a:ext cx="10360152" cy="2377440"/>
          </a:xfrm>
          <a:prstGeom prst="rect">
            <a:avLst/>
          </a:prstGeom>
          <a:noFill/>
          <a:ln/>
        </p:spPr>
        <p:txBody>
          <a:bodyPr wrap="square" lIns="0" tIns="0" rIns="0" bIns="0" rtlCol="0" anchor="t"/>
          <a:lstStyle/>
          <a:p>
            <a:pPr algn="ctr" indent="0" marL="0">
              <a:lnSpc>
                <a:spcPct val="118000"/>
              </a:lnSpc>
              <a:buNone/>
            </a:pPr>
            <a:r>
              <a:rPr lang="en-US" sz="4400" b="1" dirty="0">
                <a:solidFill>
                  <a:srgbClr val="F0AD35"/>
                </a:solidFill>
                <a:latin typeface="Cambria" pitchFamily="34" charset="0"/>
                <a:ea typeface="Cambria" pitchFamily="34" charset="-122"/>
                <a:cs typeface="Cambria" pitchFamily="34" charset="-120"/>
              </a:rPr>
              <a:t>EN TODAS.</a:t>
            </a:r>
            <a:endParaRPr lang="en-US" sz="4400" dirty="0"/>
          </a:p>
        </p:txBody>
      </p:sp>
      <p:sp>
        <p:nvSpPr>
          <p:cNvPr id="6" name="Text 3"/>
          <p:cNvSpPr txBox="1"/>
          <p:nvPr/>
        </p:nvSpPr>
        <p:spPr>
          <a:xfrm>
            <a:off x="1463040" y="5257800"/>
            <a:ext cx="9262872" cy="548640"/>
          </a:xfrm>
          <a:prstGeom prst="rect">
            <a:avLst/>
          </a:prstGeom>
          <a:noFill/>
          <a:ln/>
        </p:spPr>
        <p:txBody>
          <a:bodyPr wrap="square" lIns="0" tIns="0" rIns="0" bIns="0" rtlCol="0" anchor="ctr"/>
          <a:lstStyle/>
          <a:p>
            <a:pPr algn="ctr" indent="0" marL="0">
              <a:buNone/>
            </a:pPr>
            <a:r>
              <a:rPr lang="en-US" sz="1400" i="1" dirty="0">
                <a:solidFill>
                  <a:srgbClr val="BFD0E8"/>
                </a:solidFill>
                <a:latin typeface="Calibri" pitchFamily="34" charset="0"/>
                <a:ea typeface="Calibri" pitchFamily="34" charset="-122"/>
                <a:cs typeface="Calibri" pitchFamily="34" charset="-120"/>
              </a:rPr>
              <a:t>Un dato mal verificado, un documento incompleto o una alerta ignorada puede aparecer en cualquier etapa del proceso.</a:t>
            </a:r>
            <a:endParaRPr lang="en-US" sz="1400" dirty="0"/>
          </a:p>
        </p:txBody>
      </p:sp>
      <p:sp>
        <p:nvSpPr>
          <p:cNvPr id="7" name="Text 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8" name="Text 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CORRESPONSABILIDAD</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CORRESPONSABILIDAD, NO SEÑALAMIENTO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bien el riesgo crediticio depende de todos los que participan en el proceso, no solo del área de Créditos:</a:t>
            </a:r>
            <a:endParaRPr lang="en-US" sz="1500" dirty="0"/>
          </a:p>
        </p:txBody>
      </p:sp>
      <p:sp>
        <p:nvSpPr>
          <p:cNvPr id="6" name="Shape 3"/>
          <p:cNvSpPr/>
          <p:nvPr/>
        </p:nvSpPr>
        <p:spPr>
          <a:xfrm>
            <a:off x="566928" y="2985516"/>
            <a:ext cx="3490874" cy="2286000"/>
          </a:xfrm>
          <a:prstGeom prst="roundRect">
            <a:avLst>
              <a:gd name="adj" fmla="val 4000"/>
            </a:avLst>
          </a:prstGeom>
          <a:solidFill>
            <a:srgbClr val="F2F5F9"/>
          </a:solidFill>
          <a:ln/>
        </p:spPr>
      </p:sp>
      <p:sp>
        <p:nvSpPr>
          <p:cNvPr id="7" name="Shape 4"/>
          <p:cNvSpPr/>
          <p:nvPr/>
        </p:nvSpPr>
        <p:spPr>
          <a:xfrm>
            <a:off x="1983181" y="3150108"/>
            <a:ext cx="658368" cy="658368"/>
          </a:xfrm>
          <a:prstGeom prst="ellipse">
            <a:avLst/>
          </a:prstGeom>
          <a:solidFill>
            <a:srgbClr val="2E5EAA"/>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2141190" y="3308116"/>
            <a:ext cx="342351" cy="342351"/>
          </a:xfrm>
          <a:prstGeom prst="rect">
            <a:avLst/>
          </a:prstGeom>
        </p:spPr>
      </p:pic>
      <p:sp>
        <p:nvSpPr>
          <p:cNvPr id="9" name="Text 5"/>
          <p:cNvSpPr txBox="1"/>
          <p:nvPr/>
        </p:nvSpPr>
        <p:spPr>
          <a:xfrm>
            <a:off x="676656"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Corresponsabilidad</a:t>
            </a:r>
            <a:endParaRPr lang="en-US" sz="1400" dirty="0"/>
          </a:p>
        </p:txBody>
      </p:sp>
      <p:sp>
        <p:nvSpPr>
          <p:cNvPr id="10" name="Text 6"/>
          <p:cNvSpPr txBox="1"/>
          <p:nvPr/>
        </p:nvSpPr>
        <p:spPr>
          <a:xfrm>
            <a:off x="731520"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Cada etapa del proceso depende de la calidad del trabajo de la etapa anterior.</a:t>
            </a:r>
            <a:endParaRPr lang="en-US" sz="1100" dirty="0"/>
          </a:p>
        </p:txBody>
      </p:sp>
      <p:sp>
        <p:nvSpPr>
          <p:cNvPr id="11" name="Shape 7"/>
          <p:cNvSpPr/>
          <p:nvPr/>
        </p:nvSpPr>
        <p:spPr>
          <a:xfrm>
            <a:off x="4350410" y="2985516"/>
            <a:ext cx="3490874" cy="2286000"/>
          </a:xfrm>
          <a:prstGeom prst="roundRect">
            <a:avLst>
              <a:gd name="adj" fmla="val 4000"/>
            </a:avLst>
          </a:prstGeom>
          <a:solidFill>
            <a:srgbClr val="F2F5F9"/>
          </a:solidFill>
          <a:ln/>
        </p:spPr>
      </p:sp>
      <p:sp>
        <p:nvSpPr>
          <p:cNvPr id="12" name="Shape 8"/>
          <p:cNvSpPr/>
          <p:nvPr/>
        </p:nvSpPr>
        <p:spPr>
          <a:xfrm>
            <a:off x="5766664" y="3150108"/>
            <a:ext cx="658368" cy="658368"/>
          </a:xfrm>
          <a:prstGeom prst="ellipse">
            <a:avLst/>
          </a:prstGeom>
          <a:solidFill>
            <a:srgbClr val="2E5EAA"/>
          </a:solidFill>
          <a:ln/>
        </p:spPr>
      </p:sp>
      <p:pic>
        <p:nvPicPr>
          <p:cNvPr id="13" name="Image 1" descr="/tmp/claude-0/-home-user-riesgo/0ff9ff46-1396-5bd8-b3ac-2280dfbbbc55/scratchpad/work/gen/icons/shield_check_white.png">    </p:cNvPr>
          <p:cNvPicPr>
            <a:picLocks noChangeAspect="1"/>
          </p:cNvPicPr>
          <p:nvPr/>
        </p:nvPicPr>
        <p:blipFill>
          <a:blip r:embed="rId2"/>
          <a:stretch>
            <a:fillRect/>
          </a:stretch>
        </p:blipFill>
        <p:spPr>
          <a:xfrm>
            <a:off x="5924672" y="3308116"/>
            <a:ext cx="342351" cy="342351"/>
          </a:xfrm>
          <a:prstGeom prst="rect">
            <a:avLst/>
          </a:prstGeom>
        </p:spPr>
      </p:pic>
      <p:sp>
        <p:nvSpPr>
          <p:cNvPr id="14" name="Text 9"/>
          <p:cNvSpPr txBox="1"/>
          <p:nvPr/>
        </p:nvSpPr>
        <p:spPr>
          <a:xfrm>
            <a:off x="4460138"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Prevención</a:t>
            </a:r>
            <a:endParaRPr lang="en-US" sz="1400" dirty="0"/>
          </a:p>
        </p:txBody>
      </p:sp>
      <p:sp>
        <p:nvSpPr>
          <p:cNvPr id="15" name="Text 10"/>
          <p:cNvSpPr txBox="1"/>
          <p:nvPr/>
        </p:nvSpPr>
        <p:spPr>
          <a:xfrm>
            <a:off x="4515002"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Verificar la información a tiempo evita problemas costosos más adelante.</a:t>
            </a:r>
            <a:endParaRPr lang="en-US" sz="1100" dirty="0"/>
          </a:p>
        </p:txBody>
      </p:sp>
      <p:sp>
        <p:nvSpPr>
          <p:cNvPr id="16" name="Shape 11"/>
          <p:cNvSpPr/>
          <p:nvPr/>
        </p:nvSpPr>
        <p:spPr>
          <a:xfrm>
            <a:off x="8133893" y="2985516"/>
            <a:ext cx="3490874" cy="2286000"/>
          </a:xfrm>
          <a:prstGeom prst="roundRect">
            <a:avLst>
              <a:gd name="adj" fmla="val 4000"/>
            </a:avLst>
          </a:prstGeom>
          <a:solidFill>
            <a:srgbClr val="F2F5F9"/>
          </a:solidFill>
          <a:ln/>
        </p:spPr>
      </p:sp>
      <p:sp>
        <p:nvSpPr>
          <p:cNvPr id="17" name="Shape 12"/>
          <p:cNvSpPr/>
          <p:nvPr/>
        </p:nvSpPr>
        <p:spPr>
          <a:xfrm>
            <a:off x="9550146" y="3150108"/>
            <a:ext cx="658368" cy="658368"/>
          </a:xfrm>
          <a:prstGeom prst="ellipse">
            <a:avLst/>
          </a:prstGeom>
          <a:solidFill>
            <a:srgbClr val="2E5EAA"/>
          </a:solidFill>
          <a:ln/>
        </p:spPr>
      </p:sp>
      <p:pic>
        <p:nvPicPr>
          <p:cNvPr id="18" name="Image 2" descr="/tmp/claude-0/-home-user-riesgo/0ff9ff46-1396-5bd8-b3ac-2280dfbbbc55/scratchpad/work/gen/icons/medal_white.png">    </p:cNvPr>
          <p:cNvPicPr>
            <a:picLocks noChangeAspect="1"/>
          </p:cNvPicPr>
          <p:nvPr/>
        </p:nvPicPr>
        <p:blipFill>
          <a:blip r:embed="rId3"/>
          <a:stretch>
            <a:fillRect/>
          </a:stretch>
        </p:blipFill>
        <p:spPr>
          <a:xfrm>
            <a:off x="9708154" y="3308116"/>
            <a:ext cx="342351" cy="342351"/>
          </a:xfrm>
          <a:prstGeom prst="rect">
            <a:avLst/>
          </a:prstGeom>
        </p:spPr>
      </p:pic>
      <p:sp>
        <p:nvSpPr>
          <p:cNvPr id="19" name="Text 13"/>
          <p:cNvSpPr txBox="1"/>
          <p:nvPr/>
        </p:nvSpPr>
        <p:spPr>
          <a:xfrm>
            <a:off x="8243621"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Calidad del proceso</a:t>
            </a:r>
            <a:endParaRPr lang="en-US" sz="1400" dirty="0"/>
          </a:p>
        </p:txBody>
      </p:sp>
      <p:sp>
        <p:nvSpPr>
          <p:cNvPr id="20" name="Text 14"/>
          <p:cNvSpPr txBox="1"/>
          <p:nvPr/>
        </p:nvSpPr>
        <p:spPr>
          <a:xfrm>
            <a:off x="8298485"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Un expediente completo y verificado protege al asociado y a la Cooperativa.</a:t>
            </a:r>
            <a:endParaRPr lang="en-US" sz="1100" dirty="0"/>
          </a:p>
        </p:txBody>
      </p:sp>
      <p:sp>
        <p:nvSpPr>
          <p:cNvPr id="21"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2FAE60"/>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Text 3"/>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133B6C"/>
                </a:solidFill>
                <a:latin typeface="Cambria" pitchFamily="34" charset="0"/>
                <a:ea typeface="Cambria" pitchFamily="34" charset="-122"/>
                <a:cs typeface="Cambria" pitchFamily="34" charset="-120"/>
              </a:rPr>
              <a:t>07</a:t>
            </a:r>
            <a:endParaRPr lang="en-US" sz="26000" dirty="0"/>
          </a:p>
        </p:txBody>
      </p:sp>
      <p:sp>
        <p:nvSpPr>
          <p:cNvPr id="7" name="Shape 4"/>
          <p:cNvSpPr/>
          <p:nvPr/>
        </p:nvSpPr>
        <p:spPr>
          <a:xfrm>
            <a:off x="8686800" y="2011680"/>
            <a:ext cx="2834640" cy="2834640"/>
          </a:xfrm>
          <a:prstGeom prst="ellipse">
            <a:avLst/>
          </a:prstGeom>
          <a:solidFill>
            <a:srgbClr val="0A1F3B"/>
          </a:solidFill>
          <a:ln/>
        </p:spPr>
      </p:sp>
      <p:sp>
        <p:nvSpPr>
          <p:cNvPr id="8" name="Shape 5"/>
          <p:cNvSpPr/>
          <p:nvPr/>
        </p:nvSpPr>
        <p:spPr>
          <a:xfrm>
            <a:off x="9784080" y="3931920"/>
            <a:ext cx="1371600" cy="1371600"/>
          </a:xfrm>
          <a:prstGeom prst="ellipse">
            <a:avLst/>
          </a:prstGeom>
          <a:solidFill>
            <a:srgbClr val="FFFFFF"/>
          </a:solidFill>
          <a:ln/>
        </p:spPr>
      </p:sp>
      <p:sp>
        <p:nvSpPr>
          <p:cNvPr id="9" name="Shape 6"/>
          <p:cNvSpPr/>
          <p:nvPr/>
        </p:nvSpPr>
        <p:spPr>
          <a:xfrm>
            <a:off x="10698480" y="2011680"/>
            <a:ext cx="960120" cy="960120"/>
          </a:xfrm>
          <a:prstGeom prst="ellipse">
            <a:avLst/>
          </a:prstGeom>
          <a:solidFill>
            <a:srgbClr val="0D2847"/>
          </a:solidFill>
          <a:ln/>
        </p:spPr>
      </p:sp>
      <p:sp>
        <p:nvSpPr>
          <p:cNvPr id="10" name="Shape 7"/>
          <p:cNvSpPr/>
          <p:nvPr/>
        </p:nvSpPr>
        <p:spPr>
          <a:xfrm>
            <a:off x="9075420" y="2217420"/>
            <a:ext cx="1051560" cy="1051560"/>
          </a:xfrm>
          <a:prstGeom prst="ellipse">
            <a:avLst/>
          </a:prstGeom>
          <a:solidFill>
            <a:srgbClr val="FFFFFF"/>
          </a:solidFill>
          <a:ln/>
        </p:spPr>
      </p:sp>
      <p:pic>
        <p:nvPicPr>
          <p:cNvPr id="11" name="Image 0" descr="/tmp/claude-0/-home-user-riesgo/0ff9ff46-1396-5bd8-b3ac-2280dfbbbc55/scratchpad/work/gen/icons/handshake_green.png">    </p:cNvPr>
          <p:cNvPicPr>
            <a:picLocks noChangeAspect="1"/>
          </p:cNvPicPr>
          <p:nvPr/>
        </p:nvPicPr>
        <p:blipFill>
          <a:blip r:embed="rId1"/>
          <a:stretch>
            <a:fillRect/>
          </a:stretch>
        </p:blipFill>
        <p:spPr>
          <a:xfrm>
            <a:off x="9338310" y="2480310"/>
            <a:ext cx="525780" cy="525780"/>
          </a:xfrm>
          <a:prstGeom prst="rect">
            <a:avLst/>
          </a:prstGeom>
        </p:spPr>
      </p:pic>
      <p:sp>
        <p:nvSpPr>
          <p:cNvPr id="12" name="Shape 8"/>
          <p:cNvSpPr/>
          <p:nvPr/>
        </p:nvSpPr>
        <p:spPr>
          <a:xfrm>
            <a:off x="10447020" y="2948940"/>
            <a:ext cx="868680" cy="868680"/>
          </a:xfrm>
          <a:prstGeom prst="ellipse">
            <a:avLst/>
          </a:prstGeom>
          <a:solidFill>
            <a:srgbClr val="0A1F3B"/>
          </a:solidFill>
          <a:ln/>
        </p:spPr>
      </p:sp>
      <p:pic>
        <p:nvPicPr>
          <p:cNvPr id="13" name="Image 1" descr="/tmp/claude-0/-home-user-riesgo/0ff9ff46-1396-5bd8-b3ac-2280dfbbbc55/scratchpad/work/gen/icons/people_group_white.png">    </p:cNvPr>
          <p:cNvPicPr>
            <a:picLocks noChangeAspect="1"/>
          </p:cNvPicPr>
          <p:nvPr/>
        </p:nvPicPr>
        <p:blipFill>
          <a:blip r:embed="rId2"/>
          <a:stretch>
            <a:fillRect/>
          </a:stretch>
        </p:blipFill>
        <p:spPr>
          <a:xfrm>
            <a:off x="10664190" y="3166110"/>
            <a:ext cx="434340" cy="434340"/>
          </a:xfrm>
          <a:prstGeom prst="rect">
            <a:avLst/>
          </a:prstGeom>
        </p:spPr>
      </p:pic>
      <p:sp>
        <p:nvSpPr>
          <p:cNvPr id="14" name="Shape 9"/>
          <p:cNvSpPr/>
          <p:nvPr/>
        </p:nvSpPr>
        <p:spPr>
          <a:xfrm>
            <a:off x="9578340" y="3909060"/>
            <a:ext cx="777240" cy="777240"/>
          </a:xfrm>
          <a:prstGeom prst="ellipse">
            <a:avLst/>
          </a:prstGeom>
          <a:solidFill>
            <a:srgbClr val="FFFFFF"/>
          </a:solidFill>
          <a:ln/>
        </p:spPr>
      </p:sp>
      <p:pic>
        <p:nvPicPr>
          <p:cNvPr id="15" name="Image 2" descr="/tmp/claude-0/-home-user-riesgo/0ff9ff46-1396-5bd8-b3ac-2280dfbbbc55/scratchpad/work/gen/icons/briefcase_navy.png">    </p:cNvPr>
          <p:cNvPicPr>
            <a:picLocks noChangeAspect="1"/>
          </p:cNvPicPr>
          <p:nvPr/>
        </p:nvPicPr>
        <p:blipFill>
          <a:blip r:embed="rId3"/>
          <a:stretch>
            <a:fillRect/>
          </a:stretch>
        </p:blipFill>
        <p:spPr>
          <a:xfrm>
            <a:off x="9772650" y="4103370"/>
            <a:ext cx="388620" cy="388620"/>
          </a:xfrm>
          <a:prstGeom prst="rect">
            <a:avLst/>
          </a:prstGeom>
        </p:spPr>
      </p:pic>
      <p:sp>
        <p:nvSpPr>
          <p:cNvPr id="16" name="Shape 10"/>
          <p:cNvSpPr/>
          <p:nvPr/>
        </p:nvSpPr>
        <p:spPr>
          <a:xfrm>
            <a:off x="10689336" y="4105656"/>
            <a:ext cx="658368" cy="658368"/>
          </a:xfrm>
          <a:prstGeom prst="ellipse">
            <a:avLst/>
          </a:prstGeom>
          <a:solidFill>
            <a:srgbClr val="0A1F3B"/>
          </a:solidFill>
          <a:ln/>
        </p:spPr>
      </p:sp>
      <p:pic>
        <p:nvPicPr>
          <p:cNvPr id="17" name="Image 3" descr="/tmp/claude-0/-home-user-riesgo/0ff9ff46-1396-5bd8-b3ac-2280dfbbbc55/scratchpad/work/gen/icons/shield_check_green.png">    </p:cNvPr>
          <p:cNvPicPr>
            <a:picLocks noChangeAspect="1"/>
          </p:cNvPicPr>
          <p:nvPr/>
        </p:nvPicPr>
        <p:blipFill>
          <a:blip r:embed="rId4"/>
          <a:stretch>
            <a:fillRect/>
          </a:stretch>
        </p:blipFill>
        <p:spPr>
          <a:xfrm>
            <a:off x="10853928" y="4270248"/>
            <a:ext cx="329184" cy="329184"/>
          </a:xfrm>
          <a:prstGeom prst="rect">
            <a:avLst/>
          </a:prstGeom>
        </p:spPr>
      </p:pic>
      <p:sp>
        <p:nvSpPr>
          <p:cNvPr id="18" name="Text 11"/>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2FAE60"/>
                </a:solidFill>
                <a:latin typeface="Calibri" pitchFamily="34" charset="0"/>
                <a:ea typeface="Calibri" pitchFamily="34" charset="-122"/>
                <a:cs typeface="Calibri" pitchFamily="34" charset="-120"/>
              </a:rPr>
              <a:t>TEMA 7</a:t>
            </a:r>
            <a:endParaRPr lang="en-US" sz="1500" dirty="0"/>
          </a:p>
        </p:txBody>
      </p:sp>
      <p:sp>
        <p:nvSpPr>
          <p:cNvPr id="19" name="Text 12"/>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¿QUIÉN ES RESPONSABLE DE</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GESTIONAR LOS RIESGOS?</a:t>
            </a:r>
            <a:endParaRPr lang="en-US" sz="3200" dirty="0"/>
          </a:p>
        </p:txBody>
      </p:sp>
      <p:sp>
        <p:nvSpPr>
          <p:cNvPr id="20" name="Text 13"/>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Gestionar riesgos es parte de nuestro trabajo.</a:t>
            </a:r>
            <a:endParaRPr lang="en-US" sz="1550" dirty="0"/>
          </a:p>
        </p:txBody>
      </p:sp>
      <p:pic>
        <p:nvPicPr>
          <p:cNvPr id="21"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2"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3"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FAE60"/>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GESTIONAR RIESGOS ES PARTE DE NUESTRO TRABAJO</a:t>
            </a:r>
            <a:endParaRPr lang="en-US" sz="2400" dirty="0"/>
          </a:p>
        </p:txBody>
      </p:sp>
      <p:sp>
        <p:nvSpPr>
          <p:cNvPr id="5" name="Shape 2"/>
          <p:cNvSpPr/>
          <p:nvPr/>
        </p:nvSpPr>
        <p:spPr>
          <a:xfrm flipV="1">
            <a:off x="6095848" y="2304288"/>
            <a:ext cx="9144" cy="1600200"/>
          </a:xfrm>
          <a:prstGeom prst="line">
            <a:avLst/>
          </a:prstGeom>
          <a:noFill/>
          <a:ln w="19050">
            <a:solidFill>
              <a:srgbClr val="E3E8EF"/>
            </a:solidFill>
            <a:prstDash val="solid"/>
          </a:ln>
        </p:spPr>
      </p:sp>
      <p:sp>
        <p:nvSpPr>
          <p:cNvPr id="6" name="Shape 3"/>
          <p:cNvSpPr/>
          <p:nvPr/>
        </p:nvSpPr>
        <p:spPr>
          <a:xfrm flipV="1">
            <a:off x="6095848" y="3409999"/>
            <a:ext cx="1521881" cy="494489"/>
          </a:xfrm>
          <a:prstGeom prst="line">
            <a:avLst/>
          </a:prstGeom>
          <a:noFill/>
          <a:ln w="19050">
            <a:solidFill>
              <a:srgbClr val="E3E8EF"/>
            </a:solidFill>
            <a:prstDash val="solid"/>
          </a:ln>
        </p:spPr>
      </p:sp>
      <p:sp>
        <p:nvSpPr>
          <p:cNvPr id="7" name="Shape 4"/>
          <p:cNvSpPr/>
          <p:nvPr/>
        </p:nvSpPr>
        <p:spPr>
          <a:xfrm>
            <a:off x="6095848" y="3904488"/>
            <a:ext cx="940574" cy="1294589"/>
          </a:xfrm>
          <a:prstGeom prst="line">
            <a:avLst/>
          </a:prstGeom>
          <a:noFill/>
          <a:ln w="19050">
            <a:solidFill>
              <a:srgbClr val="E3E8EF"/>
            </a:solidFill>
            <a:prstDash val="solid"/>
          </a:ln>
        </p:spPr>
      </p:sp>
      <p:sp>
        <p:nvSpPr>
          <p:cNvPr id="8" name="Shape 5"/>
          <p:cNvSpPr/>
          <p:nvPr/>
        </p:nvSpPr>
        <p:spPr>
          <a:xfrm flipH="1">
            <a:off x="5155274" y="3904488"/>
            <a:ext cx="940574" cy="1294589"/>
          </a:xfrm>
          <a:prstGeom prst="line">
            <a:avLst/>
          </a:prstGeom>
          <a:noFill/>
          <a:ln w="19050">
            <a:solidFill>
              <a:srgbClr val="E3E8EF"/>
            </a:solidFill>
            <a:prstDash val="solid"/>
          </a:ln>
        </p:spPr>
      </p:sp>
      <p:sp>
        <p:nvSpPr>
          <p:cNvPr id="9" name="Shape 6"/>
          <p:cNvSpPr/>
          <p:nvPr/>
        </p:nvSpPr>
        <p:spPr>
          <a:xfrm flipH="1" flipV="1">
            <a:off x="4573967" y="3409999"/>
            <a:ext cx="1521881" cy="494489"/>
          </a:xfrm>
          <a:prstGeom prst="line">
            <a:avLst/>
          </a:prstGeom>
          <a:noFill/>
          <a:ln w="19050">
            <a:solidFill>
              <a:srgbClr val="E3E8EF"/>
            </a:solidFill>
            <a:prstDash val="solid"/>
          </a:ln>
        </p:spPr>
      </p:sp>
      <p:sp>
        <p:nvSpPr>
          <p:cNvPr id="10" name="Shape 7"/>
          <p:cNvSpPr/>
          <p:nvPr/>
        </p:nvSpPr>
        <p:spPr>
          <a:xfrm>
            <a:off x="5707228" y="1915668"/>
            <a:ext cx="777240" cy="777240"/>
          </a:xfrm>
          <a:prstGeom prst="ellipse">
            <a:avLst/>
          </a:prstGeom>
          <a:solidFill>
            <a:srgbClr val="133B6C"/>
          </a:solidFill>
          <a:ln/>
        </p:spPr>
      </p:sp>
      <p:pic>
        <p:nvPicPr>
          <p:cNvPr id="11" name="Image 0" descr="/tmp/claude-0/-home-user-riesgo/0ff9ff46-1396-5bd8-b3ac-2280dfbbbc55/scratchpad/work/gen/icons/person_white.png">    </p:cNvPr>
          <p:cNvPicPr>
            <a:picLocks noChangeAspect="1"/>
          </p:cNvPicPr>
          <p:nvPr/>
        </p:nvPicPr>
        <p:blipFill>
          <a:blip r:embed="rId1"/>
          <a:stretch>
            <a:fillRect/>
          </a:stretch>
        </p:blipFill>
        <p:spPr>
          <a:xfrm>
            <a:off x="5901538" y="2109978"/>
            <a:ext cx="388620" cy="388620"/>
          </a:xfrm>
          <a:prstGeom prst="rect">
            <a:avLst/>
          </a:prstGeom>
        </p:spPr>
      </p:pic>
      <p:sp>
        <p:nvSpPr>
          <p:cNvPr id="12" name="Text 8"/>
          <p:cNvSpPr txBox="1"/>
          <p:nvPr/>
        </p:nvSpPr>
        <p:spPr>
          <a:xfrm>
            <a:off x="5227168" y="2775204"/>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3" name="Shape 9"/>
          <p:cNvSpPr/>
          <p:nvPr/>
        </p:nvSpPr>
        <p:spPr>
          <a:xfrm>
            <a:off x="7229108" y="3021379"/>
            <a:ext cx="777240" cy="777240"/>
          </a:xfrm>
          <a:prstGeom prst="ellipse">
            <a:avLst/>
          </a:prstGeom>
          <a:solidFill>
            <a:srgbClr val="133B6C"/>
          </a:solidFill>
          <a:ln/>
        </p:spPr>
      </p:sp>
      <p:pic>
        <p:nvPicPr>
          <p:cNvPr id="14" name="Image 1" descr="/tmp/claude-0/-home-user-riesgo/0ff9ff46-1396-5bd8-b3ac-2280dfbbbc55/scratchpad/work/gen/icons/briefcase_white.png">    </p:cNvPr>
          <p:cNvPicPr>
            <a:picLocks noChangeAspect="1"/>
          </p:cNvPicPr>
          <p:nvPr/>
        </p:nvPicPr>
        <p:blipFill>
          <a:blip r:embed="rId2"/>
          <a:stretch>
            <a:fillRect/>
          </a:stretch>
        </p:blipFill>
        <p:spPr>
          <a:xfrm>
            <a:off x="7423418" y="3215689"/>
            <a:ext cx="388620" cy="388620"/>
          </a:xfrm>
          <a:prstGeom prst="rect">
            <a:avLst/>
          </a:prstGeom>
        </p:spPr>
      </p:pic>
      <p:sp>
        <p:nvSpPr>
          <p:cNvPr id="15" name="Text 10"/>
          <p:cNvSpPr txBox="1"/>
          <p:nvPr/>
        </p:nvSpPr>
        <p:spPr>
          <a:xfrm>
            <a:off x="6749048" y="3880915"/>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6" name="Shape 11"/>
          <p:cNvSpPr/>
          <p:nvPr/>
        </p:nvSpPr>
        <p:spPr>
          <a:xfrm>
            <a:off x="6647802" y="4810457"/>
            <a:ext cx="777240" cy="777240"/>
          </a:xfrm>
          <a:prstGeom prst="ellipse">
            <a:avLst/>
          </a:prstGeom>
          <a:solidFill>
            <a:srgbClr val="133B6C"/>
          </a:solidFill>
          <a:ln/>
        </p:spPr>
      </p:sp>
      <p:pic>
        <p:nvPicPr>
          <p:cNvPr id="17" name="Image 2" descr="/tmp/claude-0/-home-user-riesgo/0ff9ff46-1396-5bd8-b3ac-2280dfbbbc55/scratchpad/work/gen/icons/crown_white.png">    </p:cNvPr>
          <p:cNvPicPr>
            <a:picLocks noChangeAspect="1"/>
          </p:cNvPicPr>
          <p:nvPr/>
        </p:nvPicPr>
        <p:blipFill>
          <a:blip r:embed="rId3"/>
          <a:stretch>
            <a:fillRect/>
          </a:stretch>
        </p:blipFill>
        <p:spPr>
          <a:xfrm>
            <a:off x="6842112" y="5004767"/>
            <a:ext cx="388620" cy="388620"/>
          </a:xfrm>
          <a:prstGeom prst="rect">
            <a:avLst/>
          </a:prstGeom>
        </p:spPr>
      </p:pic>
      <p:sp>
        <p:nvSpPr>
          <p:cNvPr id="18" name="Text 12"/>
          <p:cNvSpPr txBox="1"/>
          <p:nvPr/>
        </p:nvSpPr>
        <p:spPr>
          <a:xfrm>
            <a:off x="6167742" y="5669993"/>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9" name="Shape 13"/>
          <p:cNvSpPr/>
          <p:nvPr/>
        </p:nvSpPr>
        <p:spPr>
          <a:xfrm>
            <a:off x="4766654" y="4810457"/>
            <a:ext cx="777240" cy="777240"/>
          </a:xfrm>
          <a:prstGeom prst="ellipse">
            <a:avLst/>
          </a:prstGeom>
          <a:solidFill>
            <a:srgbClr val="133B6C"/>
          </a:solidFill>
          <a:ln/>
        </p:spPr>
      </p:sp>
      <p:pic>
        <p:nvPicPr>
          <p:cNvPr id="20" name="Image 3" descr="/tmp/claude-0/-home-user-riesgo/0ff9ff46-1396-5bd8-b3ac-2280dfbbbc55/scratchpad/work/gen/icons/shield_check_white.png">    </p:cNvPr>
          <p:cNvPicPr>
            <a:picLocks noChangeAspect="1"/>
          </p:cNvPicPr>
          <p:nvPr/>
        </p:nvPicPr>
        <p:blipFill>
          <a:blip r:embed="rId4"/>
          <a:stretch>
            <a:fillRect/>
          </a:stretch>
        </p:blipFill>
        <p:spPr>
          <a:xfrm>
            <a:off x="4960964" y="5004767"/>
            <a:ext cx="388620" cy="388620"/>
          </a:xfrm>
          <a:prstGeom prst="rect">
            <a:avLst/>
          </a:prstGeom>
        </p:spPr>
      </p:pic>
      <p:sp>
        <p:nvSpPr>
          <p:cNvPr id="21" name="Text 14"/>
          <p:cNvSpPr txBox="1"/>
          <p:nvPr/>
        </p:nvSpPr>
        <p:spPr>
          <a:xfrm>
            <a:off x="4286594" y="5669993"/>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22" name="Shape 15"/>
          <p:cNvSpPr/>
          <p:nvPr/>
        </p:nvSpPr>
        <p:spPr>
          <a:xfrm>
            <a:off x="4185347" y="3021379"/>
            <a:ext cx="777240" cy="777240"/>
          </a:xfrm>
          <a:prstGeom prst="ellipse">
            <a:avLst/>
          </a:prstGeom>
          <a:solidFill>
            <a:srgbClr val="133B6C"/>
          </a:solidFill>
          <a:ln/>
        </p:spPr>
      </p:sp>
      <p:pic>
        <p:nvPicPr>
          <p:cNvPr id="23" name="Image 4" descr="/tmp/claude-0/-home-user-riesgo/0ff9ff46-1396-5bd8-b3ac-2280dfbbbc55/scratchpad/work/gen/icons/clipboard_check_white.png">    </p:cNvPr>
          <p:cNvPicPr>
            <a:picLocks noChangeAspect="1"/>
          </p:cNvPicPr>
          <p:nvPr/>
        </p:nvPicPr>
        <p:blipFill>
          <a:blip r:embed="rId5"/>
          <a:stretch>
            <a:fillRect/>
          </a:stretch>
        </p:blipFill>
        <p:spPr>
          <a:xfrm>
            <a:off x="4379657" y="3215689"/>
            <a:ext cx="388620" cy="388620"/>
          </a:xfrm>
          <a:prstGeom prst="rect">
            <a:avLst/>
          </a:prstGeom>
        </p:spPr>
      </p:pic>
      <p:sp>
        <p:nvSpPr>
          <p:cNvPr id="24" name="Text 16"/>
          <p:cNvSpPr txBox="1"/>
          <p:nvPr/>
        </p:nvSpPr>
        <p:spPr>
          <a:xfrm>
            <a:off x="3705287" y="3880915"/>
            <a:ext cx="1737360" cy="457200"/>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5" name="Shape 17"/>
          <p:cNvSpPr/>
          <p:nvPr/>
        </p:nvSpPr>
        <p:spPr>
          <a:xfrm>
            <a:off x="5432908" y="3241548"/>
            <a:ext cx="1325880" cy="1325880"/>
          </a:xfrm>
          <a:prstGeom prst="ellipse">
            <a:avLst/>
          </a:prstGeom>
          <a:solidFill>
            <a:srgbClr val="2FAE60"/>
          </a:solidFill>
          <a:ln/>
          <a:effectLst>
            <a:outerShdw sx="100000" sy="100000" kx="0" ky="0" algn="bl" rotWithShape="0" blurRad="127000" dist="38100" dir="5400000">
              <a:srgbClr val="17223A">
                <a:alpha val="18000"/>
              </a:srgbClr>
            </a:outerShdw>
          </a:effectLst>
        </p:spPr>
      </p:sp>
      <p:sp>
        <p:nvSpPr>
          <p:cNvPr id="26" name="Text 18"/>
          <p:cNvSpPr txBox="1"/>
          <p:nvPr/>
        </p:nvSpPr>
        <p:spPr>
          <a:xfrm>
            <a:off x="5432908" y="3648456"/>
            <a:ext cx="1325880" cy="512064"/>
          </a:xfrm>
          <a:prstGeom prst="rect">
            <a:avLst/>
          </a:prstGeom>
          <a:noFill/>
          <a:ln/>
        </p:spPr>
        <p:txBody>
          <a:bodyPr wrap="square" lIns="0" tIns="0" rIns="0" bIns="0" rtlCol="0" anchor="ctr"/>
          <a:lstStyle/>
          <a:p>
            <a:pPr algn="ctr" indent="0" marL="0">
              <a:buNone/>
            </a:pPr>
            <a:r>
              <a:rPr lang="en-US" sz="1900" b="1" dirty="0">
                <a:solidFill>
                  <a:srgbClr val="0A1F3B"/>
                </a:solidFill>
                <a:latin typeface="Cambria" pitchFamily="34" charset="0"/>
                <a:ea typeface="Cambria" pitchFamily="34" charset="-122"/>
                <a:cs typeface="Cambria" pitchFamily="34" charset="-120"/>
              </a:rPr>
              <a:t>TODOS</a:t>
            </a:r>
            <a:endParaRPr lang="en-US" sz="1900" dirty="0"/>
          </a:p>
        </p:txBody>
      </p:sp>
      <p:sp>
        <p:nvSpPr>
          <p:cNvPr id="27" name="Text 19"/>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129E82"/>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Text 3"/>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133B6C"/>
                </a:solidFill>
                <a:latin typeface="Cambria" pitchFamily="34" charset="0"/>
                <a:ea typeface="Cambria" pitchFamily="34" charset="-122"/>
                <a:cs typeface="Cambria" pitchFamily="34" charset="-120"/>
              </a:rPr>
              <a:t>08</a:t>
            </a:r>
            <a:endParaRPr lang="en-US" sz="26000" dirty="0"/>
          </a:p>
        </p:txBody>
      </p:sp>
      <p:sp>
        <p:nvSpPr>
          <p:cNvPr id="7" name="Shape 4"/>
          <p:cNvSpPr/>
          <p:nvPr/>
        </p:nvSpPr>
        <p:spPr>
          <a:xfrm>
            <a:off x="8686800" y="2011680"/>
            <a:ext cx="2834640" cy="2834640"/>
          </a:xfrm>
          <a:prstGeom prst="ellipse">
            <a:avLst/>
          </a:prstGeom>
          <a:solidFill>
            <a:srgbClr val="0A1F3B"/>
          </a:solidFill>
          <a:ln/>
        </p:spPr>
      </p:sp>
      <p:sp>
        <p:nvSpPr>
          <p:cNvPr id="8" name="Shape 5"/>
          <p:cNvSpPr/>
          <p:nvPr/>
        </p:nvSpPr>
        <p:spPr>
          <a:xfrm>
            <a:off x="9784080" y="3931920"/>
            <a:ext cx="1371600" cy="1371600"/>
          </a:xfrm>
          <a:prstGeom prst="ellipse">
            <a:avLst/>
          </a:prstGeom>
          <a:solidFill>
            <a:srgbClr val="FFFFFF"/>
          </a:solidFill>
          <a:ln/>
        </p:spPr>
      </p:sp>
      <p:sp>
        <p:nvSpPr>
          <p:cNvPr id="9" name="Shape 6"/>
          <p:cNvSpPr/>
          <p:nvPr/>
        </p:nvSpPr>
        <p:spPr>
          <a:xfrm>
            <a:off x="10698480" y="2011680"/>
            <a:ext cx="960120" cy="960120"/>
          </a:xfrm>
          <a:prstGeom prst="ellipse">
            <a:avLst/>
          </a:prstGeom>
          <a:solidFill>
            <a:srgbClr val="0D2847"/>
          </a:solidFill>
          <a:ln/>
        </p:spPr>
      </p:sp>
      <p:sp>
        <p:nvSpPr>
          <p:cNvPr id="10" name="Shape 7"/>
          <p:cNvSpPr/>
          <p:nvPr/>
        </p:nvSpPr>
        <p:spPr>
          <a:xfrm>
            <a:off x="9075420" y="2217420"/>
            <a:ext cx="1051560" cy="1051560"/>
          </a:xfrm>
          <a:prstGeom prst="ellipse">
            <a:avLst/>
          </a:prstGeom>
          <a:solidFill>
            <a:srgbClr val="FFFFFF"/>
          </a:solidFill>
          <a:ln/>
        </p:spPr>
      </p:sp>
      <p:pic>
        <p:nvPicPr>
          <p:cNvPr id="11" name="Image 0" descr="/tmp/claude-0/-home-user-riesgo/0ff9ff46-1396-5bd8-b3ac-2280dfbbbc55/scratchpad/work/gen/icons/globe_tealgreen.png">    </p:cNvPr>
          <p:cNvPicPr>
            <a:picLocks noChangeAspect="1"/>
          </p:cNvPicPr>
          <p:nvPr/>
        </p:nvPicPr>
        <p:blipFill>
          <a:blip r:embed="rId1"/>
          <a:stretch>
            <a:fillRect/>
          </a:stretch>
        </p:blipFill>
        <p:spPr>
          <a:xfrm>
            <a:off x="9338310" y="2480310"/>
            <a:ext cx="525780" cy="525780"/>
          </a:xfrm>
          <a:prstGeom prst="rect">
            <a:avLst/>
          </a:prstGeom>
        </p:spPr>
      </p:pic>
      <p:sp>
        <p:nvSpPr>
          <p:cNvPr id="12" name="Shape 8"/>
          <p:cNvSpPr/>
          <p:nvPr/>
        </p:nvSpPr>
        <p:spPr>
          <a:xfrm>
            <a:off x="10447020" y="2948940"/>
            <a:ext cx="868680" cy="868680"/>
          </a:xfrm>
          <a:prstGeom prst="ellipse">
            <a:avLst/>
          </a:prstGeom>
          <a:solidFill>
            <a:srgbClr val="0A1F3B"/>
          </a:solidFill>
          <a:ln/>
        </p:spPr>
      </p:sp>
      <p:pic>
        <p:nvPicPr>
          <p:cNvPr id="13" name="Image 1" descr="/tmp/claude-0/-home-user-riesgo/0ff9ff46-1396-5bd8-b3ac-2280dfbbbc55/scratchpad/work/gen/icons/leaf_white.png">    </p:cNvPr>
          <p:cNvPicPr>
            <a:picLocks noChangeAspect="1"/>
          </p:cNvPicPr>
          <p:nvPr/>
        </p:nvPicPr>
        <p:blipFill>
          <a:blip r:embed="rId2"/>
          <a:stretch>
            <a:fillRect/>
          </a:stretch>
        </p:blipFill>
        <p:spPr>
          <a:xfrm>
            <a:off x="10664190" y="3166110"/>
            <a:ext cx="434340" cy="434340"/>
          </a:xfrm>
          <a:prstGeom prst="rect">
            <a:avLst/>
          </a:prstGeom>
        </p:spPr>
      </p:pic>
      <p:sp>
        <p:nvSpPr>
          <p:cNvPr id="14" name="Shape 9"/>
          <p:cNvSpPr/>
          <p:nvPr/>
        </p:nvSpPr>
        <p:spPr>
          <a:xfrm>
            <a:off x="9578340" y="3909060"/>
            <a:ext cx="777240" cy="777240"/>
          </a:xfrm>
          <a:prstGeom prst="ellipse">
            <a:avLst/>
          </a:prstGeom>
          <a:solidFill>
            <a:srgbClr val="FFFFFF"/>
          </a:solidFill>
          <a:ln/>
        </p:spPr>
      </p:sp>
      <p:pic>
        <p:nvPicPr>
          <p:cNvPr id="15" name="Image 2" descr="/tmp/claude-0/-home-user-riesgo/0ff9ff46-1396-5bd8-b3ac-2280dfbbbc55/scratchpad/work/gen/icons/cloud_rain_navy.png">    </p:cNvPr>
          <p:cNvPicPr>
            <a:picLocks noChangeAspect="1"/>
          </p:cNvPicPr>
          <p:nvPr/>
        </p:nvPicPr>
        <p:blipFill>
          <a:blip r:embed="rId3"/>
          <a:stretch>
            <a:fillRect/>
          </a:stretch>
        </p:blipFill>
        <p:spPr>
          <a:xfrm>
            <a:off x="9772650" y="4103370"/>
            <a:ext cx="388620" cy="388620"/>
          </a:xfrm>
          <a:prstGeom prst="rect">
            <a:avLst/>
          </a:prstGeom>
        </p:spPr>
      </p:pic>
      <p:sp>
        <p:nvSpPr>
          <p:cNvPr id="16" name="Shape 10"/>
          <p:cNvSpPr/>
          <p:nvPr/>
        </p:nvSpPr>
        <p:spPr>
          <a:xfrm>
            <a:off x="10689336" y="4105656"/>
            <a:ext cx="658368" cy="658368"/>
          </a:xfrm>
          <a:prstGeom prst="ellipse">
            <a:avLst/>
          </a:prstGeom>
          <a:solidFill>
            <a:srgbClr val="0A1F3B"/>
          </a:solidFill>
          <a:ln/>
        </p:spPr>
      </p:sp>
      <p:pic>
        <p:nvPicPr>
          <p:cNvPr id="17" name="Image 3" descr="/tmp/claude-0/-home-user-riesgo/0ff9ff46-1396-5bd8-b3ac-2280dfbbbc55/scratchpad/work/gen/icons/umbrella_tealgreen.png">    </p:cNvPr>
          <p:cNvPicPr>
            <a:picLocks noChangeAspect="1"/>
          </p:cNvPicPr>
          <p:nvPr/>
        </p:nvPicPr>
        <p:blipFill>
          <a:blip r:embed="rId4"/>
          <a:stretch>
            <a:fillRect/>
          </a:stretch>
        </p:blipFill>
        <p:spPr>
          <a:xfrm>
            <a:off x="10853928" y="4270248"/>
            <a:ext cx="329184" cy="329184"/>
          </a:xfrm>
          <a:prstGeom prst="rect">
            <a:avLst/>
          </a:prstGeom>
        </p:spPr>
      </p:pic>
      <p:sp>
        <p:nvSpPr>
          <p:cNvPr id="18" name="Text 11"/>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129E82"/>
                </a:solidFill>
                <a:latin typeface="Calibri" pitchFamily="34" charset="0"/>
                <a:ea typeface="Calibri" pitchFamily="34" charset="-122"/>
                <a:cs typeface="Calibri" pitchFamily="34" charset="-120"/>
              </a:rPr>
              <a:t>TEMA 8</a:t>
            </a:r>
            <a:endParaRPr lang="en-US" sz="1500" dirty="0"/>
          </a:p>
        </p:txBody>
      </p:sp>
      <p:sp>
        <p:nvSpPr>
          <p:cNvPr id="19" name="Text 12"/>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RIESGOS AMBIENTALES Y SOCIALES:</a:t>
            </a:r>
            <a:endParaRPr lang="en-US" sz="3200" dirty="0"/>
          </a:p>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TAMBIÉN SON RIESGOS FINANCIEROS</a:t>
            </a:r>
            <a:endParaRPr lang="en-US" sz="3200" dirty="0"/>
          </a:p>
        </p:txBody>
      </p:sp>
      <p:sp>
        <p:nvSpPr>
          <p:cNvPr id="20" name="Text 13"/>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Ambiente + sociedad + negocio + finanzas: una misma cadena.</a:t>
            </a:r>
            <a:endParaRPr lang="en-US" sz="1550" dirty="0"/>
          </a:p>
        </p:txBody>
      </p:sp>
      <p:pic>
        <p:nvPicPr>
          <p:cNvPr id="21"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2"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3"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29E82"/>
                </a:solidFill>
                <a:latin typeface="Calibri" pitchFamily="34" charset="0"/>
                <a:ea typeface="Calibri" pitchFamily="34" charset="-122"/>
                <a:cs typeface="Calibri" pitchFamily="34" charset="-120"/>
              </a:rPr>
              <a:t>TEMA 8 · DE LO AMBIENTAL A LO FINANCIERO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UNA CADENA DE IMPACTO</a:t>
            </a:r>
            <a:endParaRPr lang="en-US" sz="27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146932" y="3447288"/>
            <a:ext cx="1051560" cy="105156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09822" y="3710178"/>
            <a:ext cx="525780" cy="525780"/>
          </a:xfrm>
          <a:prstGeom prst="rect">
            <a:avLst/>
          </a:prstGeom>
        </p:spPr>
      </p:pic>
      <p:sp>
        <p:nvSpPr>
          <p:cNvPr id="8" name="Text 4"/>
          <p:cNvSpPr txBox="1"/>
          <p:nvPr/>
        </p:nvSpPr>
        <p:spPr>
          <a:xfrm>
            <a:off x="621792"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Evento ambiental o social</a:t>
            </a:r>
            <a:endParaRPr lang="en-US" sz="130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32192" y="3826764"/>
            <a:ext cx="292608" cy="292608"/>
          </a:xfrm>
          <a:prstGeom prst="rect">
            <a:avLst/>
          </a:prstGeom>
        </p:spPr>
      </p:pic>
      <p:sp>
        <p:nvSpPr>
          <p:cNvPr id="10" name="Shape 5"/>
          <p:cNvSpPr/>
          <p:nvPr/>
        </p:nvSpPr>
        <p:spPr>
          <a:xfrm>
            <a:off x="3358500" y="3447288"/>
            <a:ext cx="1051560" cy="1051560"/>
          </a:xfrm>
          <a:prstGeom prst="ellipse">
            <a:avLst/>
          </a:prstGeom>
          <a:solidFill>
            <a:srgbClr val="129E82"/>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21390" y="3710178"/>
            <a:ext cx="525780" cy="525780"/>
          </a:xfrm>
          <a:prstGeom prst="rect">
            <a:avLst/>
          </a:prstGeom>
        </p:spPr>
      </p:pic>
      <p:sp>
        <p:nvSpPr>
          <p:cNvPr id="12" name="Text 6"/>
          <p:cNvSpPr txBox="1"/>
          <p:nvPr/>
        </p:nvSpPr>
        <p:spPr>
          <a:xfrm>
            <a:off x="2833360"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Afecta a personas y operaciones</a:t>
            </a:r>
            <a:endParaRPr lang="en-US" sz="130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43760" y="3826764"/>
            <a:ext cx="292608" cy="292608"/>
          </a:xfrm>
          <a:prstGeom prst="rect">
            <a:avLst/>
          </a:prstGeom>
        </p:spPr>
      </p:pic>
      <p:sp>
        <p:nvSpPr>
          <p:cNvPr id="14" name="Shape 7"/>
          <p:cNvSpPr/>
          <p:nvPr/>
        </p:nvSpPr>
        <p:spPr>
          <a:xfrm>
            <a:off x="5570068" y="3447288"/>
            <a:ext cx="1051560" cy="1051560"/>
          </a:xfrm>
          <a:prstGeom prst="ellipse">
            <a:avLst/>
          </a:prstGeom>
          <a:solidFill>
            <a:srgbClr val="129E82"/>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32958" y="3710178"/>
            <a:ext cx="525780" cy="525780"/>
          </a:xfrm>
          <a:prstGeom prst="rect">
            <a:avLst/>
          </a:prstGeom>
        </p:spPr>
      </p:pic>
      <p:sp>
        <p:nvSpPr>
          <p:cNvPr id="16" name="Text 8"/>
          <p:cNvSpPr txBox="1"/>
          <p:nvPr/>
        </p:nvSpPr>
        <p:spPr>
          <a:xfrm>
            <a:off x="5044928"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Interrupción o deterioro</a:t>
            </a:r>
            <a:endParaRPr lang="en-US" sz="130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55328" y="3826764"/>
            <a:ext cx="292608" cy="292608"/>
          </a:xfrm>
          <a:prstGeom prst="rect">
            <a:avLst/>
          </a:prstGeom>
        </p:spPr>
      </p:pic>
      <p:sp>
        <p:nvSpPr>
          <p:cNvPr id="18" name="Shape 9"/>
          <p:cNvSpPr/>
          <p:nvPr/>
        </p:nvSpPr>
        <p:spPr>
          <a:xfrm>
            <a:off x="7781635" y="3447288"/>
            <a:ext cx="1051560" cy="1051560"/>
          </a:xfrm>
          <a:prstGeom prst="ellipse">
            <a:avLst/>
          </a:prstGeom>
          <a:solidFill>
            <a:srgbClr val="129E82"/>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44525" y="3710178"/>
            <a:ext cx="525780" cy="525780"/>
          </a:xfrm>
          <a:prstGeom prst="rect">
            <a:avLst/>
          </a:prstGeom>
        </p:spPr>
      </p:pic>
      <p:sp>
        <p:nvSpPr>
          <p:cNvPr id="20" name="Text 10"/>
          <p:cNvSpPr txBox="1"/>
          <p:nvPr/>
        </p:nvSpPr>
        <p:spPr>
          <a:xfrm>
            <a:off x="7256496"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Impacto económico</a:t>
            </a:r>
            <a:endParaRPr lang="en-US" sz="130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66895" y="3826764"/>
            <a:ext cx="292608" cy="292608"/>
          </a:xfrm>
          <a:prstGeom prst="rect">
            <a:avLst/>
          </a:prstGeom>
        </p:spPr>
      </p:pic>
      <p:sp>
        <p:nvSpPr>
          <p:cNvPr id="22" name="Shape 11"/>
          <p:cNvSpPr/>
          <p:nvPr/>
        </p:nvSpPr>
        <p:spPr>
          <a:xfrm>
            <a:off x="9993203" y="3447288"/>
            <a:ext cx="1051560" cy="105156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256093" y="3710178"/>
            <a:ext cx="525780" cy="525780"/>
          </a:xfrm>
          <a:prstGeom prst="rect">
            <a:avLst/>
          </a:prstGeom>
        </p:spPr>
      </p:pic>
      <p:sp>
        <p:nvSpPr>
          <p:cNvPr id="24" name="Text 12"/>
          <p:cNvSpPr txBox="1"/>
          <p:nvPr/>
        </p:nvSpPr>
        <p:spPr>
          <a:xfrm>
            <a:off x="9468063" y="4626864"/>
            <a:ext cx="2101840"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Impacto financiero</a:t>
            </a:r>
            <a:endParaRPr lang="en-US" sz="1300" dirty="0"/>
          </a:p>
        </p:txBody>
      </p:sp>
      <p:sp>
        <p:nvSpPr>
          <p:cNvPr id="25" name="Text 1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29E82"/>
                </a:solidFill>
                <a:latin typeface="Calibri" pitchFamily="34" charset="0"/>
                <a:ea typeface="Calibri" pitchFamily="34" charset="-122"/>
                <a:cs typeface="Calibri" pitchFamily="34" charset="-120"/>
              </a:rPr>
              <a:t>TEMA 8 · EJEMPLOS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EVENTOS QUE PUEDEN AFECTARNOS</a:t>
            </a:r>
            <a:endParaRPr lang="en-US" sz="2800" dirty="0"/>
          </a:p>
        </p:txBody>
      </p:sp>
      <p:sp>
        <p:nvSpPr>
          <p:cNvPr id="5" name="Shape 2"/>
          <p:cNvSpPr/>
          <p:nvPr/>
        </p:nvSpPr>
        <p:spPr>
          <a:xfrm>
            <a:off x="566928" y="3122676"/>
            <a:ext cx="1977481" cy="1691640"/>
          </a:xfrm>
          <a:prstGeom prst="roundRect">
            <a:avLst>
              <a:gd name="adj" fmla="val 5405"/>
            </a:avLst>
          </a:prstGeom>
          <a:solidFill>
            <a:srgbClr val="F2F5F9"/>
          </a:solidFill>
          <a:ln/>
        </p:spPr>
      </p:sp>
      <p:sp>
        <p:nvSpPr>
          <p:cNvPr id="6" name="Shape 3"/>
          <p:cNvSpPr/>
          <p:nvPr/>
        </p:nvSpPr>
        <p:spPr>
          <a:xfrm>
            <a:off x="1272205" y="3383280"/>
            <a:ext cx="566928" cy="566928"/>
          </a:xfrm>
          <a:prstGeom prst="ellipse">
            <a:avLst/>
          </a:prstGeom>
          <a:solidFill>
            <a:srgbClr val="129E82"/>
          </a:solidFill>
          <a:ln/>
        </p:spPr>
      </p:sp>
      <p:pic>
        <p:nvPicPr>
          <p:cNvPr id="7" name="Image 0" descr="/tmp/claude-0/-home-user-riesgo/0ff9ff46-1396-5bd8-b3ac-2280dfbbbc55/scratchpad/work/gen/icons/earthquake_white.png">    </p:cNvPr>
          <p:cNvPicPr>
            <a:picLocks noChangeAspect="1"/>
          </p:cNvPicPr>
          <p:nvPr/>
        </p:nvPicPr>
        <p:blipFill>
          <a:blip r:embed="rId1"/>
          <a:stretch>
            <a:fillRect/>
          </a:stretch>
        </p:blipFill>
        <p:spPr>
          <a:xfrm>
            <a:off x="1408267" y="3519343"/>
            <a:ext cx="294803" cy="294803"/>
          </a:xfrm>
          <a:prstGeom prst="rect">
            <a:avLst/>
          </a:prstGeom>
        </p:spPr>
      </p:pic>
      <p:sp>
        <p:nvSpPr>
          <p:cNvPr id="8" name="Text 4"/>
          <p:cNvSpPr txBox="1"/>
          <p:nvPr/>
        </p:nvSpPr>
        <p:spPr>
          <a:xfrm>
            <a:off x="676656"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Terremotos</a:t>
            </a:r>
            <a:endParaRPr lang="en-US" sz="1250" dirty="0"/>
          </a:p>
        </p:txBody>
      </p:sp>
      <p:sp>
        <p:nvSpPr>
          <p:cNvPr id="9" name="Shape 5"/>
          <p:cNvSpPr/>
          <p:nvPr/>
        </p:nvSpPr>
        <p:spPr>
          <a:xfrm>
            <a:off x="2837017" y="3122676"/>
            <a:ext cx="1977481" cy="1691640"/>
          </a:xfrm>
          <a:prstGeom prst="roundRect">
            <a:avLst>
              <a:gd name="adj" fmla="val 5405"/>
            </a:avLst>
          </a:prstGeom>
          <a:solidFill>
            <a:srgbClr val="F2F5F9"/>
          </a:solidFill>
          <a:ln/>
        </p:spPr>
      </p:sp>
      <p:sp>
        <p:nvSpPr>
          <p:cNvPr id="10" name="Shape 6"/>
          <p:cNvSpPr/>
          <p:nvPr/>
        </p:nvSpPr>
        <p:spPr>
          <a:xfrm>
            <a:off x="3542294" y="3383280"/>
            <a:ext cx="566928" cy="566928"/>
          </a:xfrm>
          <a:prstGeom prst="ellipse">
            <a:avLst/>
          </a:prstGeom>
          <a:solidFill>
            <a:srgbClr val="129E82"/>
          </a:solidFill>
          <a:ln/>
        </p:spPr>
      </p:sp>
      <p:pic>
        <p:nvPicPr>
          <p:cNvPr id="11" name="Image 1" descr="/tmp/claude-0/-home-user-riesgo/0ff9ff46-1396-5bd8-b3ac-2280dfbbbc55/scratchpad/work/gen/icons/flood_white.png">    </p:cNvPr>
          <p:cNvPicPr>
            <a:picLocks noChangeAspect="1"/>
          </p:cNvPicPr>
          <p:nvPr/>
        </p:nvPicPr>
        <p:blipFill>
          <a:blip r:embed="rId2"/>
          <a:stretch>
            <a:fillRect/>
          </a:stretch>
        </p:blipFill>
        <p:spPr>
          <a:xfrm>
            <a:off x="3678357" y="3519343"/>
            <a:ext cx="294803" cy="294803"/>
          </a:xfrm>
          <a:prstGeom prst="rect">
            <a:avLst/>
          </a:prstGeom>
        </p:spPr>
      </p:pic>
      <p:sp>
        <p:nvSpPr>
          <p:cNvPr id="12" name="Text 7"/>
          <p:cNvSpPr txBox="1"/>
          <p:nvPr/>
        </p:nvSpPr>
        <p:spPr>
          <a:xfrm>
            <a:off x="2946745"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Inundaciones</a:t>
            </a:r>
            <a:endParaRPr lang="en-US" sz="1250" dirty="0"/>
          </a:p>
        </p:txBody>
      </p:sp>
      <p:sp>
        <p:nvSpPr>
          <p:cNvPr id="13" name="Shape 8"/>
          <p:cNvSpPr/>
          <p:nvPr/>
        </p:nvSpPr>
        <p:spPr>
          <a:xfrm>
            <a:off x="5107107" y="3122676"/>
            <a:ext cx="1977481" cy="1691640"/>
          </a:xfrm>
          <a:prstGeom prst="roundRect">
            <a:avLst>
              <a:gd name="adj" fmla="val 5405"/>
            </a:avLst>
          </a:prstGeom>
          <a:solidFill>
            <a:srgbClr val="F2F5F9"/>
          </a:solidFill>
          <a:ln/>
        </p:spPr>
      </p:sp>
      <p:sp>
        <p:nvSpPr>
          <p:cNvPr id="14" name="Shape 9"/>
          <p:cNvSpPr/>
          <p:nvPr/>
        </p:nvSpPr>
        <p:spPr>
          <a:xfrm>
            <a:off x="5812384" y="3383280"/>
            <a:ext cx="566928" cy="566928"/>
          </a:xfrm>
          <a:prstGeom prst="ellipse">
            <a:avLst/>
          </a:prstGeom>
          <a:solidFill>
            <a:srgbClr val="129E82"/>
          </a:solidFill>
          <a:ln/>
        </p:spPr>
      </p:sp>
      <p:pic>
        <p:nvPicPr>
          <p:cNvPr id="15" name="Image 2" descr="/tmp/claude-0/-home-user-riesgo/0ff9ff46-1396-5bd8-b3ac-2280dfbbbc55/scratchpad/work/gen/icons/wind_white.png">    </p:cNvPr>
          <p:cNvPicPr>
            <a:picLocks noChangeAspect="1"/>
          </p:cNvPicPr>
          <p:nvPr/>
        </p:nvPicPr>
        <p:blipFill>
          <a:blip r:embed="rId3"/>
          <a:stretch>
            <a:fillRect/>
          </a:stretch>
        </p:blipFill>
        <p:spPr>
          <a:xfrm>
            <a:off x="5948446" y="3519343"/>
            <a:ext cx="294803" cy="294803"/>
          </a:xfrm>
          <a:prstGeom prst="rect">
            <a:avLst/>
          </a:prstGeom>
        </p:spPr>
      </p:pic>
      <p:sp>
        <p:nvSpPr>
          <p:cNvPr id="16" name="Text 10"/>
          <p:cNvSpPr txBox="1"/>
          <p:nvPr/>
        </p:nvSpPr>
        <p:spPr>
          <a:xfrm>
            <a:off x="5216835"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Cambio climático</a:t>
            </a:r>
            <a:endParaRPr lang="en-US" sz="1250" dirty="0"/>
          </a:p>
        </p:txBody>
      </p:sp>
      <p:sp>
        <p:nvSpPr>
          <p:cNvPr id="17" name="Shape 11"/>
          <p:cNvSpPr/>
          <p:nvPr/>
        </p:nvSpPr>
        <p:spPr>
          <a:xfrm>
            <a:off x="7377196" y="3122676"/>
            <a:ext cx="1977481" cy="1691640"/>
          </a:xfrm>
          <a:prstGeom prst="roundRect">
            <a:avLst>
              <a:gd name="adj" fmla="val 5405"/>
            </a:avLst>
          </a:prstGeom>
          <a:solidFill>
            <a:srgbClr val="F2F5F9"/>
          </a:solidFill>
          <a:ln/>
        </p:spPr>
      </p:sp>
      <p:sp>
        <p:nvSpPr>
          <p:cNvPr id="18" name="Shape 12"/>
          <p:cNvSpPr/>
          <p:nvPr/>
        </p:nvSpPr>
        <p:spPr>
          <a:xfrm>
            <a:off x="8082473" y="3383280"/>
            <a:ext cx="566928" cy="566928"/>
          </a:xfrm>
          <a:prstGeom prst="ellipse">
            <a:avLst/>
          </a:prstGeom>
          <a:solidFill>
            <a:srgbClr val="129E82"/>
          </a:solidFill>
          <a:ln/>
        </p:spPr>
      </p:sp>
      <p:pic>
        <p:nvPicPr>
          <p:cNvPr id="19" name="Image 3" descr="/tmp/claude-0/-home-user-riesgo/0ff9ff46-1396-5bd8-b3ac-2280dfbbbc55/scratchpad/work/gen/icons/virus_white.png">    </p:cNvPr>
          <p:cNvPicPr>
            <a:picLocks noChangeAspect="1"/>
          </p:cNvPicPr>
          <p:nvPr/>
        </p:nvPicPr>
        <p:blipFill>
          <a:blip r:embed="rId4"/>
          <a:stretch>
            <a:fillRect/>
          </a:stretch>
        </p:blipFill>
        <p:spPr>
          <a:xfrm>
            <a:off x="8218536" y="3519343"/>
            <a:ext cx="294803" cy="294803"/>
          </a:xfrm>
          <a:prstGeom prst="rect">
            <a:avLst/>
          </a:prstGeom>
        </p:spPr>
      </p:pic>
      <p:sp>
        <p:nvSpPr>
          <p:cNvPr id="20" name="Text 13"/>
          <p:cNvSpPr txBox="1"/>
          <p:nvPr/>
        </p:nvSpPr>
        <p:spPr>
          <a:xfrm>
            <a:off x="7486924"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Epidemias y pandemias</a:t>
            </a:r>
            <a:endParaRPr lang="en-US" sz="1250" dirty="0"/>
          </a:p>
        </p:txBody>
      </p:sp>
      <p:sp>
        <p:nvSpPr>
          <p:cNvPr id="21" name="Shape 14"/>
          <p:cNvSpPr/>
          <p:nvPr/>
        </p:nvSpPr>
        <p:spPr>
          <a:xfrm>
            <a:off x="9647286" y="3122676"/>
            <a:ext cx="1977481" cy="1691640"/>
          </a:xfrm>
          <a:prstGeom prst="roundRect">
            <a:avLst>
              <a:gd name="adj" fmla="val 5405"/>
            </a:avLst>
          </a:prstGeom>
          <a:solidFill>
            <a:srgbClr val="F2F5F9"/>
          </a:solidFill>
          <a:ln/>
        </p:spPr>
      </p:sp>
      <p:sp>
        <p:nvSpPr>
          <p:cNvPr id="22" name="Shape 15"/>
          <p:cNvSpPr/>
          <p:nvPr/>
        </p:nvSpPr>
        <p:spPr>
          <a:xfrm>
            <a:off x="10352562" y="3383280"/>
            <a:ext cx="566928" cy="566928"/>
          </a:xfrm>
          <a:prstGeom prst="ellipse">
            <a:avLst/>
          </a:prstGeom>
          <a:solidFill>
            <a:srgbClr val="129E82"/>
          </a:solidFill>
          <a:ln/>
        </p:spPr>
      </p:sp>
      <p:pic>
        <p:nvPicPr>
          <p:cNvPr id="23" name="Image 4" descr="/tmp/claude-0/-home-user-riesgo/0ff9ff46-1396-5bd8-b3ac-2280dfbbbc55/scratchpad/work/gen/icons/fire_white.png">    </p:cNvPr>
          <p:cNvPicPr>
            <a:picLocks noChangeAspect="1"/>
          </p:cNvPicPr>
          <p:nvPr/>
        </p:nvPicPr>
        <p:blipFill>
          <a:blip r:embed="rId5"/>
          <a:stretch>
            <a:fillRect/>
          </a:stretch>
        </p:blipFill>
        <p:spPr>
          <a:xfrm>
            <a:off x="10488625" y="3519343"/>
            <a:ext cx="294803" cy="294803"/>
          </a:xfrm>
          <a:prstGeom prst="rect">
            <a:avLst/>
          </a:prstGeom>
        </p:spPr>
      </p:pic>
      <p:sp>
        <p:nvSpPr>
          <p:cNvPr id="24" name="Text 16"/>
          <p:cNvSpPr txBox="1"/>
          <p:nvPr/>
        </p:nvSpPr>
        <p:spPr>
          <a:xfrm>
            <a:off x="9757014" y="4096512"/>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Incendios e interrupciones</a:t>
            </a:r>
            <a:endParaRPr lang="en-US" sz="1250" dirty="0"/>
          </a:p>
        </p:txBody>
      </p:sp>
      <p:sp>
        <p:nvSpPr>
          <p:cNvPr id="25"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7B4FCF"/>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Shape 3"/>
          <p:cNvSpPr/>
          <p:nvPr/>
        </p:nvSpPr>
        <p:spPr>
          <a:xfrm>
            <a:off x="8686800" y="2011680"/>
            <a:ext cx="2834640" cy="2834640"/>
          </a:xfrm>
          <a:prstGeom prst="ellipse">
            <a:avLst/>
          </a:prstGeom>
          <a:solidFill>
            <a:srgbClr val="0A1F3B"/>
          </a:solidFill>
          <a:ln/>
        </p:spPr>
      </p:sp>
      <p:sp>
        <p:nvSpPr>
          <p:cNvPr id="7" name="Shape 4"/>
          <p:cNvSpPr/>
          <p:nvPr/>
        </p:nvSpPr>
        <p:spPr>
          <a:xfrm>
            <a:off x="9784080" y="3931920"/>
            <a:ext cx="1371600" cy="1371600"/>
          </a:xfrm>
          <a:prstGeom prst="ellipse">
            <a:avLst/>
          </a:prstGeom>
          <a:solidFill>
            <a:srgbClr val="FFFFFF"/>
          </a:solidFill>
          <a:ln/>
        </p:spPr>
      </p:sp>
      <p:sp>
        <p:nvSpPr>
          <p:cNvPr id="8" name="Shape 5"/>
          <p:cNvSpPr/>
          <p:nvPr/>
        </p:nvSpPr>
        <p:spPr>
          <a:xfrm>
            <a:off x="10698480" y="2011680"/>
            <a:ext cx="960120" cy="960120"/>
          </a:xfrm>
          <a:prstGeom prst="ellipse">
            <a:avLst/>
          </a:prstGeom>
          <a:solidFill>
            <a:srgbClr val="0D2847"/>
          </a:solidFill>
          <a:ln/>
        </p:spPr>
      </p:sp>
      <p:sp>
        <p:nvSpPr>
          <p:cNvPr id="9" name="Shape 6"/>
          <p:cNvSpPr/>
          <p:nvPr/>
        </p:nvSpPr>
        <p:spPr>
          <a:xfrm>
            <a:off x="9075420" y="2217420"/>
            <a:ext cx="1051560" cy="1051560"/>
          </a:xfrm>
          <a:prstGeom prst="ellipse">
            <a:avLst/>
          </a:prstGeom>
          <a:solidFill>
            <a:srgbClr val="FFFFFF"/>
          </a:solidFill>
          <a:ln/>
        </p:spPr>
      </p:sp>
      <p:pic>
        <p:nvPicPr>
          <p:cNvPr id="10" name="Image 0" descr="/tmp/claude-0/-home-user-riesgo/0ff9ff46-1396-5bd8-b3ac-2280dfbbbc55/scratchpad/work/gen/icons/clipboard_check_violet.png">    </p:cNvPr>
          <p:cNvPicPr>
            <a:picLocks noChangeAspect="1"/>
          </p:cNvPicPr>
          <p:nvPr/>
        </p:nvPicPr>
        <p:blipFill>
          <a:blip r:embed="rId1"/>
          <a:stretch>
            <a:fillRect/>
          </a:stretch>
        </p:blipFill>
        <p:spPr>
          <a:xfrm>
            <a:off x="9338310" y="2480310"/>
            <a:ext cx="525780" cy="525780"/>
          </a:xfrm>
          <a:prstGeom prst="rect">
            <a:avLst/>
          </a:prstGeom>
        </p:spPr>
      </p:pic>
      <p:sp>
        <p:nvSpPr>
          <p:cNvPr id="11" name="Shape 7"/>
          <p:cNvSpPr/>
          <p:nvPr/>
        </p:nvSpPr>
        <p:spPr>
          <a:xfrm>
            <a:off x="10447020" y="2948940"/>
            <a:ext cx="868680" cy="868680"/>
          </a:xfrm>
          <a:prstGeom prst="ellipse">
            <a:avLst/>
          </a:prstGeom>
          <a:solidFill>
            <a:srgbClr val="0A1F3B"/>
          </a:solidFill>
          <a:ln/>
        </p:spPr>
      </p:sp>
      <p:pic>
        <p:nvPicPr>
          <p:cNvPr id="12" name="Image 1" descr="/tmp/claude-0/-home-user-riesgo/0ff9ff46-1396-5bd8-b3ac-2280dfbbbc55/scratchpad/work/gen/icons/search_doc_white.png">    </p:cNvPr>
          <p:cNvPicPr>
            <a:picLocks noChangeAspect="1"/>
          </p:cNvPicPr>
          <p:nvPr/>
        </p:nvPicPr>
        <p:blipFill>
          <a:blip r:embed="rId2"/>
          <a:stretch>
            <a:fillRect/>
          </a:stretch>
        </p:blipFill>
        <p:spPr>
          <a:xfrm>
            <a:off x="10664190" y="3166110"/>
            <a:ext cx="434340" cy="434340"/>
          </a:xfrm>
          <a:prstGeom prst="rect">
            <a:avLst/>
          </a:prstGeom>
        </p:spPr>
      </p:pic>
      <p:sp>
        <p:nvSpPr>
          <p:cNvPr id="13" name="Shape 8"/>
          <p:cNvSpPr/>
          <p:nvPr/>
        </p:nvSpPr>
        <p:spPr>
          <a:xfrm>
            <a:off x="9578340" y="3909060"/>
            <a:ext cx="777240" cy="777240"/>
          </a:xfrm>
          <a:prstGeom prst="ellipse">
            <a:avLst/>
          </a:prstGeom>
          <a:solidFill>
            <a:srgbClr val="FFFFFF"/>
          </a:solidFill>
          <a:ln/>
        </p:spPr>
      </p:sp>
      <p:pic>
        <p:nvPicPr>
          <p:cNvPr id="14" name="Image 2" descr="/tmp/claude-0/-home-user-riesgo/0ff9ff46-1396-5bd8-b3ac-2280dfbbbc55/scratchpad/work/gen/icons/question_navy.png">    </p:cNvPr>
          <p:cNvPicPr>
            <a:picLocks noChangeAspect="1"/>
          </p:cNvPicPr>
          <p:nvPr/>
        </p:nvPicPr>
        <p:blipFill>
          <a:blip r:embed="rId3"/>
          <a:stretch>
            <a:fillRect/>
          </a:stretch>
        </p:blipFill>
        <p:spPr>
          <a:xfrm>
            <a:off x="9772650" y="4103370"/>
            <a:ext cx="388620" cy="388620"/>
          </a:xfrm>
          <a:prstGeom prst="rect">
            <a:avLst/>
          </a:prstGeom>
        </p:spPr>
      </p:pic>
      <p:sp>
        <p:nvSpPr>
          <p:cNvPr id="15" name="Shape 9"/>
          <p:cNvSpPr/>
          <p:nvPr/>
        </p:nvSpPr>
        <p:spPr>
          <a:xfrm>
            <a:off x="10689336" y="4105656"/>
            <a:ext cx="658368" cy="658368"/>
          </a:xfrm>
          <a:prstGeom prst="ellipse">
            <a:avLst/>
          </a:prstGeom>
          <a:solidFill>
            <a:srgbClr val="0A1F3B"/>
          </a:solidFill>
          <a:ln/>
        </p:spPr>
      </p:sp>
      <p:pic>
        <p:nvPicPr>
          <p:cNvPr id="16" name="Image 3" descr="/tmp/claude-0/-home-user-riesgo/0ff9ff46-1396-5bd8-b3ac-2280dfbbbc55/scratchpad/work/gen/icons/flag_check_violet.png">    </p:cNvPr>
          <p:cNvPicPr>
            <a:picLocks noChangeAspect="1"/>
          </p:cNvPicPr>
          <p:nvPr/>
        </p:nvPicPr>
        <p:blipFill>
          <a:blip r:embed="rId4"/>
          <a:stretch>
            <a:fillRect/>
          </a:stretch>
        </p:blipFill>
        <p:spPr>
          <a:xfrm>
            <a:off x="10853928" y="4270248"/>
            <a:ext cx="329184" cy="329184"/>
          </a:xfrm>
          <a:prstGeom prst="rect">
            <a:avLst/>
          </a:prstGeom>
        </p:spPr>
      </p:pic>
      <p:sp>
        <p:nvSpPr>
          <p:cNvPr id="17" name="Text 10"/>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7B4FCF"/>
                </a:solidFill>
                <a:latin typeface="Calibri" pitchFamily="34" charset="0"/>
                <a:ea typeface="Calibri" pitchFamily="34" charset="-122"/>
                <a:cs typeface="Calibri" pitchFamily="34" charset="-120"/>
              </a:rPr>
              <a:t>INTEGRACIÓN</a:t>
            </a:r>
            <a:endParaRPr lang="en-US" sz="1500" dirty="0"/>
          </a:p>
        </p:txBody>
      </p:sp>
      <p:sp>
        <p:nvSpPr>
          <p:cNvPr id="18" name="Text 11"/>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CASOS INTEGRADORES</a:t>
            </a:r>
            <a:endParaRPr lang="en-US" sz="3200" dirty="0"/>
          </a:p>
        </p:txBody>
      </p:sp>
      <p:sp>
        <p:nvSpPr>
          <p:cNvPr id="19" name="Text 12"/>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Cuatro situaciones reales de una cooperativa financiera para aplicar todo lo aprendido.</a:t>
            </a:r>
            <a:endParaRPr lang="en-US" sz="1550" dirty="0"/>
          </a:p>
        </p:txBody>
      </p:sp>
      <p:pic>
        <p:nvPicPr>
          <p:cNvPr id="20"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1" name="Text 1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CASO INTEGRADOR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EL SISTEMA SE CAE EN CIERRE DE MES</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0EA5A0"/>
          </a:solidFill>
          <a:ln/>
        </p:spPr>
      </p:sp>
      <p:pic>
        <p:nvPicPr>
          <p:cNvPr id="7" name="Image 0" descr="/tmp/claude-0/-home-user-riesgo/0ff9ff46-1396-5bd8-b3ac-2280dfbbbc55/scratchpad/work/gen/icons/server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0EA5A0"/>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CASO INTEGRADOR 1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0EA5A0"/>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1869034" cy="365760"/>
          </a:xfrm>
          <a:prstGeom prst="roundRect">
            <a:avLst>
              <a:gd name="adj" fmla="val 50000"/>
            </a:avLst>
          </a:prstGeom>
          <a:solidFill>
            <a:srgbClr val="0EA5A0"/>
          </a:solidFill>
          <a:ln/>
        </p:spPr>
      </p:sp>
      <p:sp>
        <p:nvSpPr>
          <p:cNvPr id="9" name="Text 6"/>
          <p:cNvSpPr txBox="1"/>
          <p:nvPr/>
        </p:nvSpPr>
        <p:spPr>
          <a:xfrm>
            <a:off x="2430475" y="1993392"/>
            <a:ext cx="186903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tecnológico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C2185B"/>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QUEJA QUE SE VUELVE PÚBLICA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C2185B"/>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C2185B"/>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C2185B"/>
                </a:solidFill>
                <a:latin typeface="Calibri" pitchFamily="34" charset="0"/>
                <a:ea typeface="Calibri" pitchFamily="34" charset="-122"/>
                <a:cs typeface="Calibri" pitchFamily="34" charset="-120"/>
              </a:rPr>
              <a:t>CASO INTEGRADOR 2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944929" cy="365760"/>
          </a:xfrm>
          <a:prstGeom prst="roundRect">
            <a:avLst>
              <a:gd name="adj" fmla="val 50000"/>
            </a:avLst>
          </a:prstGeom>
          <a:solidFill>
            <a:srgbClr val="C2185B"/>
          </a:solidFill>
          <a:ln/>
        </p:spPr>
      </p:sp>
      <p:sp>
        <p:nvSpPr>
          <p:cNvPr id="7" name="Text 4"/>
          <p:cNvSpPr txBox="1"/>
          <p:nvPr/>
        </p:nvSpPr>
        <p:spPr>
          <a:xfrm>
            <a:off x="566928" y="1993392"/>
            <a:ext cx="1944929"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reputacional</a:t>
            </a:r>
            <a:endParaRPr lang="en-US" sz="1100" dirty="0"/>
          </a:p>
        </p:txBody>
      </p:sp>
      <p:sp>
        <p:nvSpPr>
          <p:cNvPr id="8" name="Shape 5"/>
          <p:cNvSpPr/>
          <p:nvPr/>
        </p:nvSpPr>
        <p:spPr>
          <a:xfrm>
            <a:off x="566928" y="2651760"/>
            <a:ext cx="3515258" cy="3337560"/>
          </a:xfrm>
          <a:prstGeom prst="roundRect">
            <a:avLst>
              <a:gd name="adj" fmla="val 2740"/>
            </a:avLst>
          </a:prstGeom>
          <a:solidFill>
            <a:srgbClr val="F2F5F9"/>
          </a:solidFill>
          <a:ln/>
        </p:spPr>
      </p:sp>
      <p:sp>
        <p:nvSpPr>
          <p:cNvPr id="9" name="Shape 6"/>
          <p:cNvSpPr/>
          <p:nvPr/>
        </p:nvSpPr>
        <p:spPr>
          <a:xfrm>
            <a:off x="2041093" y="2871216"/>
            <a:ext cx="566928" cy="566928"/>
          </a:xfrm>
          <a:prstGeom prst="ellipse">
            <a:avLst/>
          </a:prstGeom>
          <a:solidFill>
            <a:srgbClr val="2FAE60"/>
          </a:solidFill>
          <a:ln/>
        </p:spPr>
      </p:sp>
      <p:pic>
        <p:nvPicPr>
          <p:cNvPr id="10"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1" name="Text 7"/>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2" name="Text 8"/>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200" dirty="0"/>
          </a:p>
        </p:txBody>
      </p:sp>
      <p:sp>
        <p:nvSpPr>
          <p:cNvPr id="13" name="Shape 9"/>
          <p:cNvSpPr/>
          <p:nvPr/>
        </p:nvSpPr>
        <p:spPr>
          <a:xfrm>
            <a:off x="4338218" y="2651760"/>
            <a:ext cx="3515258" cy="3337560"/>
          </a:xfrm>
          <a:prstGeom prst="roundRect">
            <a:avLst>
              <a:gd name="adj" fmla="val 2740"/>
            </a:avLst>
          </a:prstGeom>
          <a:solidFill>
            <a:srgbClr val="F2F5F9"/>
          </a:solidFill>
          <a:ln/>
        </p:spPr>
      </p:sp>
      <p:sp>
        <p:nvSpPr>
          <p:cNvPr id="14" name="Shape 10"/>
          <p:cNvSpPr/>
          <p:nvPr/>
        </p:nvSpPr>
        <p:spPr>
          <a:xfrm>
            <a:off x="5812384" y="2871216"/>
            <a:ext cx="566928" cy="566928"/>
          </a:xfrm>
          <a:prstGeom prst="ellipse">
            <a:avLst/>
          </a:prstGeom>
          <a:solidFill>
            <a:srgbClr val="133B6C"/>
          </a:solidFill>
          <a:ln/>
        </p:spPr>
      </p:sp>
      <p:pic>
        <p:nvPicPr>
          <p:cNvPr id="15"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6" name="Text 11"/>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7" name="Text 12"/>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200" dirty="0"/>
          </a:p>
        </p:txBody>
      </p:sp>
      <p:sp>
        <p:nvSpPr>
          <p:cNvPr id="18" name="Shape 13"/>
          <p:cNvSpPr/>
          <p:nvPr/>
        </p:nvSpPr>
        <p:spPr>
          <a:xfrm>
            <a:off x="8109509" y="2651760"/>
            <a:ext cx="3515258" cy="3337560"/>
          </a:xfrm>
          <a:prstGeom prst="roundRect">
            <a:avLst>
              <a:gd name="adj" fmla="val 2740"/>
            </a:avLst>
          </a:prstGeom>
          <a:solidFill>
            <a:srgbClr val="F2F5F9"/>
          </a:solidFill>
          <a:ln/>
        </p:spPr>
      </p:sp>
      <p:sp>
        <p:nvSpPr>
          <p:cNvPr id="19" name="Shape 14"/>
          <p:cNvSpPr/>
          <p:nvPr/>
        </p:nvSpPr>
        <p:spPr>
          <a:xfrm>
            <a:off x="9583674" y="2871216"/>
            <a:ext cx="566928" cy="566928"/>
          </a:xfrm>
          <a:prstGeom prst="ellipse">
            <a:avLst/>
          </a:prstGeom>
          <a:solidFill>
            <a:srgbClr val="E0392B"/>
          </a:solidFill>
          <a:ln/>
        </p:spPr>
      </p:sp>
      <p:pic>
        <p:nvPicPr>
          <p:cNvPr id="20"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1" name="Text 15"/>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2" name="Text 16"/>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200" dirty="0"/>
          </a:p>
        </p:txBody>
      </p:sp>
      <p:sp>
        <p:nvSpPr>
          <p:cNvPr id="23" name="Text 17"/>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8"/>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0392B"/>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UNA DIFERENCIA QUE NADIE EXPLICA</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E0392B"/>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E0392B"/>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E0392B"/>
                </a:solidFill>
                <a:latin typeface="Calibri" pitchFamily="34" charset="0"/>
                <a:ea typeface="Calibri" pitchFamily="34" charset="-122"/>
                <a:cs typeface="Calibri" pitchFamily="34" charset="-120"/>
              </a:rPr>
              <a:t>CASO INTEGRADOR 3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17243" cy="365760"/>
          </a:xfrm>
          <a:prstGeom prst="roundRect">
            <a:avLst>
              <a:gd name="adj" fmla="val 50000"/>
            </a:avLst>
          </a:prstGeom>
          <a:solidFill>
            <a:srgbClr val="E0392B"/>
          </a:solidFill>
          <a:ln/>
        </p:spPr>
      </p:sp>
      <p:sp>
        <p:nvSpPr>
          <p:cNvPr id="7" name="Text 4"/>
          <p:cNvSpPr txBox="1"/>
          <p:nvPr/>
        </p:nvSpPr>
        <p:spPr>
          <a:xfrm>
            <a:off x="566928"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8" name="Shape 5"/>
          <p:cNvSpPr/>
          <p:nvPr/>
        </p:nvSpPr>
        <p:spPr>
          <a:xfrm>
            <a:off x="2430475" y="1993392"/>
            <a:ext cx="2172614" cy="365760"/>
          </a:xfrm>
          <a:prstGeom prst="roundRect">
            <a:avLst>
              <a:gd name="adj" fmla="val 50000"/>
            </a:avLst>
          </a:prstGeom>
          <a:solidFill>
            <a:srgbClr val="E0392B"/>
          </a:solidFill>
          <a:ln/>
        </p:spPr>
      </p:sp>
      <p:sp>
        <p:nvSpPr>
          <p:cNvPr id="9" name="Text 6"/>
          <p:cNvSpPr txBox="1"/>
          <p:nvPr/>
        </p:nvSpPr>
        <p:spPr>
          <a:xfrm>
            <a:off x="2430475" y="1993392"/>
            <a:ext cx="217261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Posible error o fraude</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DATOS QUE NO COINCIDEN</a:t>
            </a:r>
            <a:endParaRPr lang="en-US" sz="2500" dirty="0"/>
          </a:p>
        </p:txBody>
      </p:sp>
      <p:sp>
        <p:nvSpPr>
          <p:cNvPr id="5" name="Shape 2"/>
          <p:cNvSpPr/>
          <p:nvPr/>
        </p:nvSpPr>
        <p:spPr>
          <a:xfrm>
            <a:off x="566928" y="1691640"/>
            <a:ext cx="11057839" cy="1463040"/>
          </a:xfrm>
          <a:prstGeom prst="roundRect">
            <a:avLst>
              <a:gd name="adj" fmla="val 7500"/>
            </a:avLst>
          </a:prstGeom>
          <a:solidFill>
            <a:srgbClr val="133B6C"/>
          </a:solidFill>
          <a:ln/>
        </p:spPr>
      </p:sp>
      <p:sp>
        <p:nvSpPr>
          <p:cNvPr id="6" name="Shape 3"/>
          <p:cNvSpPr/>
          <p:nvPr/>
        </p:nvSpPr>
        <p:spPr>
          <a:xfrm>
            <a:off x="822960" y="2075688"/>
            <a:ext cx="694944" cy="694944"/>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979322" y="2232050"/>
            <a:ext cx="382219" cy="382219"/>
          </a:xfrm>
          <a:prstGeom prst="rect">
            <a:avLst/>
          </a:prstGeom>
        </p:spPr>
      </p:pic>
      <p:sp>
        <p:nvSpPr>
          <p:cNvPr id="8" name="Text 4"/>
          <p:cNvSpPr txBox="1"/>
          <p:nvPr/>
        </p:nvSpPr>
        <p:spPr>
          <a:xfrm>
            <a:off x="1709928" y="1874520"/>
            <a:ext cx="9144000" cy="292608"/>
          </a:xfrm>
          <a:prstGeom prst="rect">
            <a:avLst/>
          </a:prstGeom>
          <a:noFill/>
          <a:ln/>
        </p:spPr>
        <p:txBody>
          <a:bodyPr wrap="square" lIns="0" tIns="0" rIns="0" bIns="0" rtlCol="0" anchor="ctr"/>
          <a:lstStyle/>
          <a:p>
            <a:pPr indent="0" marL="0">
              <a:buNone/>
            </a:pPr>
            <a:r>
              <a:rPr lang="en-US" sz="1200" b="1" spc="200" kern="0" dirty="0">
                <a:solidFill>
                  <a:srgbClr val="2E5EAA"/>
                </a:solidFill>
                <a:latin typeface="Calibri" pitchFamily="34" charset="0"/>
                <a:ea typeface="Calibri" pitchFamily="34" charset="-122"/>
                <a:cs typeface="Calibri" pitchFamily="34" charset="-120"/>
              </a:rPr>
              <a:t>SITUACIÓN</a:t>
            </a:r>
            <a:endParaRPr lang="en-US" sz="1200" dirty="0"/>
          </a:p>
        </p:txBody>
      </p:sp>
      <p:sp>
        <p:nvSpPr>
          <p:cNvPr id="9" name="Text 5"/>
          <p:cNvSpPr txBox="1"/>
          <p:nvPr/>
        </p:nvSpPr>
        <p:spPr>
          <a:xfrm>
            <a:off x="1709928" y="2148840"/>
            <a:ext cx="9640519" cy="914400"/>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350" dirty="0"/>
          </a:p>
        </p:txBody>
      </p:sp>
      <p:sp>
        <p:nvSpPr>
          <p:cNvPr id="10" name="Shape 6"/>
          <p:cNvSpPr/>
          <p:nvPr/>
        </p:nvSpPr>
        <p:spPr>
          <a:xfrm>
            <a:off x="566928" y="3429000"/>
            <a:ext cx="5400904" cy="1229868"/>
          </a:xfrm>
          <a:prstGeom prst="roundRect">
            <a:avLst>
              <a:gd name="adj" fmla="val 7435"/>
            </a:avLst>
          </a:prstGeom>
          <a:solidFill>
            <a:srgbClr val="F2F5F9"/>
          </a:solidFill>
          <a:ln/>
        </p:spPr>
      </p:sp>
      <p:sp>
        <p:nvSpPr>
          <p:cNvPr id="11" name="Shape 7"/>
          <p:cNvSpPr/>
          <p:nvPr/>
        </p:nvSpPr>
        <p:spPr>
          <a:xfrm>
            <a:off x="749808" y="3815334"/>
            <a:ext cx="457200" cy="457200"/>
          </a:xfrm>
          <a:prstGeom prst="ellipse">
            <a:avLst/>
          </a:prstGeom>
          <a:solidFill>
            <a:srgbClr val="133B6C"/>
          </a:solidFill>
          <a:ln/>
        </p:spPr>
      </p:sp>
      <p:pic>
        <p:nvPicPr>
          <p:cNvPr id="12" name="Image 1" descr="/tmp/claude-0/-home-user-riesgo/0ff9ff46-1396-5bd8-b3ac-2280dfbbbc55/scratchpad/work/gen/icons/question_white.png">    </p:cNvPr>
          <p:cNvPicPr>
            <a:picLocks noChangeAspect="1"/>
          </p:cNvPicPr>
          <p:nvPr/>
        </p:nvPicPr>
        <p:blipFill>
          <a:blip r:embed="rId2"/>
          <a:stretch>
            <a:fillRect/>
          </a:stretch>
        </p:blipFill>
        <p:spPr>
          <a:xfrm>
            <a:off x="852678" y="3918204"/>
            <a:ext cx="251460" cy="251460"/>
          </a:xfrm>
          <a:prstGeom prst="rect">
            <a:avLst/>
          </a:prstGeom>
        </p:spPr>
      </p:pic>
      <p:sp>
        <p:nvSpPr>
          <p:cNvPr id="13" name="Text 8"/>
          <p:cNvSpPr txBox="1"/>
          <p:nvPr/>
        </p:nvSpPr>
        <p:spPr>
          <a:xfrm>
            <a:off x="1344168"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RIESGOS IDENTIFICAS?</a:t>
            </a:r>
            <a:endParaRPr lang="en-US" sz="1250" dirty="0"/>
          </a:p>
        </p:txBody>
      </p:sp>
      <p:sp>
        <p:nvSpPr>
          <p:cNvPr id="14" name="Shape 9"/>
          <p:cNvSpPr/>
          <p:nvPr/>
        </p:nvSpPr>
        <p:spPr>
          <a:xfrm>
            <a:off x="6223864" y="3429000"/>
            <a:ext cx="5400904" cy="1229868"/>
          </a:xfrm>
          <a:prstGeom prst="roundRect">
            <a:avLst>
              <a:gd name="adj" fmla="val 7435"/>
            </a:avLst>
          </a:prstGeom>
          <a:solidFill>
            <a:srgbClr val="F2F5F9"/>
          </a:solidFill>
          <a:ln/>
        </p:spPr>
      </p:sp>
      <p:sp>
        <p:nvSpPr>
          <p:cNvPr id="15" name="Shape 10"/>
          <p:cNvSpPr/>
          <p:nvPr/>
        </p:nvSpPr>
        <p:spPr>
          <a:xfrm>
            <a:off x="6406744" y="3815334"/>
            <a:ext cx="457200" cy="457200"/>
          </a:xfrm>
          <a:prstGeom prst="ellipse">
            <a:avLst/>
          </a:prstGeom>
          <a:solidFill>
            <a:srgbClr val="133B6C"/>
          </a:solidFill>
          <a:ln/>
        </p:spPr>
      </p:sp>
      <p:pic>
        <p:nvPicPr>
          <p:cNvPr id="16" name="Image 2" descr="/tmp/claude-0/-home-user-riesgo/0ff9ff46-1396-5bd8-b3ac-2280dfbbbc55/scratchpad/work/gen/icons/question_white.png">    </p:cNvPr>
          <p:cNvPicPr>
            <a:picLocks noChangeAspect="1"/>
          </p:cNvPicPr>
          <p:nvPr/>
        </p:nvPicPr>
        <p:blipFill>
          <a:blip r:embed="rId3"/>
          <a:stretch>
            <a:fillRect/>
          </a:stretch>
        </p:blipFill>
        <p:spPr>
          <a:xfrm>
            <a:off x="6509614" y="3918204"/>
            <a:ext cx="251460" cy="251460"/>
          </a:xfrm>
          <a:prstGeom prst="rect">
            <a:avLst/>
          </a:prstGeom>
        </p:spPr>
      </p:pic>
      <p:sp>
        <p:nvSpPr>
          <p:cNvPr id="17" name="Text 11"/>
          <p:cNvSpPr txBox="1"/>
          <p:nvPr/>
        </p:nvSpPr>
        <p:spPr>
          <a:xfrm>
            <a:off x="7001104" y="3429000"/>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HARÍAS?</a:t>
            </a:r>
            <a:endParaRPr lang="en-US" sz="1250" dirty="0"/>
          </a:p>
        </p:txBody>
      </p:sp>
      <p:sp>
        <p:nvSpPr>
          <p:cNvPr id="18" name="Shape 12"/>
          <p:cNvSpPr/>
          <p:nvPr/>
        </p:nvSpPr>
        <p:spPr>
          <a:xfrm>
            <a:off x="566928" y="4878324"/>
            <a:ext cx="5400904" cy="1229868"/>
          </a:xfrm>
          <a:prstGeom prst="roundRect">
            <a:avLst>
              <a:gd name="adj" fmla="val 7435"/>
            </a:avLst>
          </a:prstGeom>
          <a:solidFill>
            <a:srgbClr val="F2F5F9"/>
          </a:solidFill>
          <a:ln/>
        </p:spPr>
      </p:sp>
      <p:sp>
        <p:nvSpPr>
          <p:cNvPr id="19" name="Shape 13"/>
          <p:cNvSpPr/>
          <p:nvPr/>
        </p:nvSpPr>
        <p:spPr>
          <a:xfrm>
            <a:off x="749808" y="5264658"/>
            <a:ext cx="457200" cy="457200"/>
          </a:xfrm>
          <a:prstGeom prst="ellipse">
            <a:avLst/>
          </a:prstGeom>
          <a:solidFill>
            <a:srgbClr val="133B6C"/>
          </a:solidFill>
          <a:ln/>
        </p:spPr>
      </p:sp>
      <p:pic>
        <p:nvPicPr>
          <p:cNvPr id="20" name="Image 3" descr="/tmp/claude-0/-home-user-riesgo/0ff9ff46-1396-5bd8-b3ac-2280dfbbbc55/scratchpad/work/gen/icons/question_white.png">    </p:cNvPr>
          <p:cNvPicPr>
            <a:picLocks noChangeAspect="1"/>
          </p:cNvPicPr>
          <p:nvPr/>
        </p:nvPicPr>
        <p:blipFill>
          <a:blip r:embed="rId4"/>
          <a:stretch>
            <a:fillRect/>
          </a:stretch>
        </p:blipFill>
        <p:spPr>
          <a:xfrm>
            <a:off x="852678" y="5367528"/>
            <a:ext cx="251460" cy="251460"/>
          </a:xfrm>
          <a:prstGeom prst="rect">
            <a:avLst/>
          </a:prstGeom>
        </p:spPr>
      </p:pic>
      <p:sp>
        <p:nvSpPr>
          <p:cNvPr id="21" name="Text 14"/>
          <p:cNvSpPr txBox="1"/>
          <p:nvPr/>
        </p:nvSpPr>
        <p:spPr>
          <a:xfrm>
            <a:off x="1344168"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¿A QUIÉN CORRESPONDE ACTUAR?</a:t>
            </a:r>
            <a:endParaRPr lang="en-US" sz="1250" dirty="0"/>
          </a:p>
        </p:txBody>
      </p:sp>
      <p:sp>
        <p:nvSpPr>
          <p:cNvPr id="22" name="Shape 15"/>
          <p:cNvSpPr/>
          <p:nvPr/>
        </p:nvSpPr>
        <p:spPr>
          <a:xfrm>
            <a:off x="6223864" y="4878324"/>
            <a:ext cx="5400904" cy="1229868"/>
          </a:xfrm>
          <a:prstGeom prst="roundRect">
            <a:avLst>
              <a:gd name="adj" fmla="val 7435"/>
            </a:avLst>
          </a:prstGeom>
          <a:solidFill>
            <a:srgbClr val="F2F5F9"/>
          </a:solidFill>
          <a:ln/>
        </p:spPr>
      </p:sp>
      <p:sp>
        <p:nvSpPr>
          <p:cNvPr id="23" name="Shape 16"/>
          <p:cNvSpPr/>
          <p:nvPr/>
        </p:nvSpPr>
        <p:spPr>
          <a:xfrm>
            <a:off x="6406744" y="5264658"/>
            <a:ext cx="457200" cy="457200"/>
          </a:xfrm>
          <a:prstGeom prst="ellipse">
            <a:avLst/>
          </a:prstGeom>
          <a:solidFill>
            <a:srgbClr val="133B6C"/>
          </a:solidFill>
          <a:ln/>
        </p:spPr>
      </p:sp>
      <p:pic>
        <p:nvPicPr>
          <p:cNvPr id="24" name="Image 4" descr="/tmp/claude-0/-home-user-riesgo/0ff9ff46-1396-5bd8-b3ac-2280dfbbbc55/scratchpad/work/gen/icons/question_white.png">    </p:cNvPr>
          <p:cNvPicPr>
            <a:picLocks noChangeAspect="1"/>
          </p:cNvPicPr>
          <p:nvPr/>
        </p:nvPicPr>
        <p:blipFill>
          <a:blip r:embed="rId5"/>
          <a:stretch>
            <a:fillRect/>
          </a:stretch>
        </p:blipFill>
        <p:spPr>
          <a:xfrm>
            <a:off x="6509614" y="5367528"/>
            <a:ext cx="251460" cy="251460"/>
          </a:xfrm>
          <a:prstGeom prst="rect">
            <a:avLst/>
          </a:prstGeom>
        </p:spPr>
      </p:pic>
      <p:sp>
        <p:nvSpPr>
          <p:cNvPr id="25" name="Text 17"/>
          <p:cNvSpPr txBox="1"/>
          <p:nvPr/>
        </p:nvSpPr>
        <p:spPr>
          <a:xfrm>
            <a:off x="7001104" y="4878324"/>
            <a:ext cx="4440784" cy="1229868"/>
          </a:xfrm>
          <a:prstGeom prst="rect">
            <a:avLst/>
          </a:prstGeom>
          <a:noFill/>
          <a:ln/>
        </p:spPr>
        <p:txBody>
          <a:bodyPr wrap="square" lIns="0" tIns="0" rIns="0" bIns="0" rtlCol="0" anchor="ctr"/>
          <a:lstStyle/>
          <a:p>
            <a:pPr indent="0" marL="0">
              <a:lnSpc>
                <a:spcPct val="105000"/>
              </a:lnSpc>
              <a:buNone/>
            </a:pPr>
            <a:r>
              <a:rPr lang="en-US" sz="1250" b="1" dirty="0">
                <a:solidFill>
                  <a:srgbClr val="133B6C"/>
                </a:solidFill>
                <a:latin typeface="Calibri" pitchFamily="34" charset="0"/>
                <a:ea typeface="Calibri" pitchFamily="34" charset="-122"/>
                <a:cs typeface="Calibri" pitchFamily="34" charset="-120"/>
              </a:rPr>
              <a:t>¿QUÉ PASA SI NO ACTUAMOS?</a:t>
            </a:r>
            <a:endParaRPr lang="en-US" sz="1250" dirty="0"/>
          </a:p>
        </p:txBody>
      </p:sp>
      <p:sp>
        <p:nvSpPr>
          <p:cNvPr id="26"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 · RESPUESTA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Text 2"/>
          <p:cNvSpPr txBox="1"/>
          <p:nvPr/>
        </p:nvSpPr>
        <p:spPr>
          <a:xfrm>
            <a:off x="566928" y="1691640"/>
            <a:ext cx="5486400" cy="274320"/>
          </a:xfrm>
          <a:prstGeom prst="rect">
            <a:avLst/>
          </a:prstGeom>
          <a:noFill/>
          <a:ln/>
        </p:spPr>
        <p:txBody>
          <a:bodyPr wrap="square" lIns="0" tIns="0" rIns="0" bIns="0" rtlCol="0" anchor="ctr"/>
          <a:lstStyle/>
          <a:p>
            <a:pPr indent="0" marL="0">
              <a:buNone/>
            </a:pPr>
            <a:r>
              <a:rPr lang="en-US" sz="1200" b="1" spc="150" kern="0" dirty="0">
                <a:solidFill>
                  <a:srgbClr val="5B6B82"/>
                </a:solidFill>
                <a:latin typeface="Calibri" pitchFamily="34" charset="0"/>
                <a:ea typeface="Calibri" pitchFamily="34" charset="-122"/>
                <a:cs typeface="Calibri" pitchFamily="34" charset="-120"/>
              </a:rPr>
              <a:t>RIESGOS IDENTIFICADOS</a:t>
            </a:r>
            <a:endParaRPr lang="en-US" sz="1200" dirty="0"/>
          </a:p>
        </p:txBody>
      </p:sp>
      <p:sp>
        <p:nvSpPr>
          <p:cNvPr id="6" name="Shape 3"/>
          <p:cNvSpPr/>
          <p:nvPr/>
        </p:nvSpPr>
        <p:spPr>
          <a:xfrm>
            <a:off x="566928" y="1993392"/>
            <a:ext cx="1793138" cy="365760"/>
          </a:xfrm>
          <a:prstGeom prst="roundRect">
            <a:avLst>
              <a:gd name="adj" fmla="val 50000"/>
            </a:avLst>
          </a:prstGeom>
          <a:solidFill>
            <a:srgbClr val="2E5EAA"/>
          </a:solidFill>
          <a:ln/>
        </p:spPr>
      </p:sp>
      <p:sp>
        <p:nvSpPr>
          <p:cNvPr id="7" name="Text 4"/>
          <p:cNvSpPr txBox="1"/>
          <p:nvPr/>
        </p:nvSpPr>
        <p:spPr>
          <a:xfrm>
            <a:off x="566928" y="1993392"/>
            <a:ext cx="179313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crediticio</a:t>
            </a:r>
            <a:endParaRPr lang="en-US" sz="1100" dirty="0"/>
          </a:p>
        </p:txBody>
      </p:sp>
      <p:sp>
        <p:nvSpPr>
          <p:cNvPr id="8" name="Shape 5"/>
          <p:cNvSpPr/>
          <p:nvPr/>
        </p:nvSpPr>
        <p:spPr>
          <a:xfrm>
            <a:off x="2506370" y="1993392"/>
            <a:ext cx="1717243" cy="365760"/>
          </a:xfrm>
          <a:prstGeom prst="roundRect">
            <a:avLst>
              <a:gd name="adj" fmla="val 50000"/>
            </a:avLst>
          </a:prstGeom>
          <a:solidFill>
            <a:srgbClr val="2E5EAA"/>
          </a:solidFill>
          <a:ln/>
        </p:spPr>
      </p:sp>
      <p:sp>
        <p:nvSpPr>
          <p:cNvPr id="9" name="Text 6"/>
          <p:cNvSpPr txBox="1"/>
          <p:nvPr/>
        </p:nvSpPr>
        <p:spPr>
          <a:xfrm>
            <a:off x="2506370" y="1993392"/>
            <a:ext cx="1717243"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Riesgo operativo</a:t>
            </a:r>
            <a:endParaRPr lang="en-US" sz="1100" dirty="0"/>
          </a:p>
        </p:txBody>
      </p:sp>
      <p:sp>
        <p:nvSpPr>
          <p:cNvPr id="10" name="Shape 7"/>
          <p:cNvSpPr/>
          <p:nvPr/>
        </p:nvSpPr>
        <p:spPr>
          <a:xfrm>
            <a:off x="566928" y="2651760"/>
            <a:ext cx="3515258" cy="3337560"/>
          </a:xfrm>
          <a:prstGeom prst="roundRect">
            <a:avLst>
              <a:gd name="adj" fmla="val 2740"/>
            </a:avLst>
          </a:prstGeom>
          <a:solidFill>
            <a:srgbClr val="F2F5F9"/>
          </a:solidFill>
          <a:ln/>
        </p:spPr>
      </p:sp>
      <p:sp>
        <p:nvSpPr>
          <p:cNvPr id="11" name="Shape 8"/>
          <p:cNvSpPr/>
          <p:nvPr/>
        </p:nvSpPr>
        <p:spPr>
          <a:xfrm>
            <a:off x="2041093" y="2871216"/>
            <a:ext cx="566928" cy="566928"/>
          </a:xfrm>
          <a:prstGeom prst="ellipse">
            <a:avLst/>
          </a:prstGeom>
          <a:solidFill>
            <a:srgbClr val="2FAE60"/>
          </a:solidFill>
          <a:ln/>
        </p:spPr>
      </p:sp>
      <p:pic>
        <p:nvPicPr>
          <p:cNvPr id="12" name="Image 0" descr="/tmp/claude-0/-home-user-riesgo/0ff9ff46-1396-5bd8-b3ac-2280dfbbbc55/scratchpad/work/gen/icons/check_circle_white.png">    </p:cNvPr>
          <p:cNvPicPr>
            <a:picLocks noChangeAspect="1"/>
          </p:cNvPicPr>
          <p:nvPr/>
        </p:nvPicPr>
        <p:blipFill>
          <a:blip r:embed="rId1"/>
          <a:stretch>
            <a:fillRect/>
          </a:stretch>
        </p:blipFill>
        <p:spPr>
          <a:xfrm>
            <a:off x="2177156" y="3007279"/>
            <a:ext cx="294803" cy="294803"/>
          </a:xfrm>
          <a:prstGeom prst="rect">
            <a:avLst/>
          </a:prstGeom>
        </p:spPr>
      </p:pic>
      <p:sp>
        <p:nvSpPr>
          <p:cNvPr id="13" name="Text 9"/>
          <p:cNvSpPr txBox="1"/>
          <p:nvPr/>
        </p:nvSpPr>
        <p:spPr>
          <a:xfrm>
            <a:off x="73152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2FAE60"/>
                </a:solidFill>
                <a:latin typeface="Calibri" pitchFamily="34" charset="0"/>
                <a:ea typeface="Calibri" pitchFamily="34" charset="-122"/>
                <a:cs typeface="Calibri" pitchFamily="34" charset="-120"/>
              </a:rPr>
              <a:t>ACCIÓN RECOMENDADA</a:t>
            </a:r>
            <a:endParaRPr lang="en-US" sz="1150" dirty="0"/>
          </a:p>
        </p:txBody>
      </p:sp>
      <p:sp>
        <p:nvSpPr>
          <p:cNvPr id="14" name="Text 10"/>
          <p:cNvSpPr txBox="1"/>
          <p:nvPr/>
        </p:nvSpPr>
        <p:spPr>
          <a:xfrm>
            <a:off x="76809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200" dirty="0"/>
          </a:p>
        </p:txBody>
      </p:sp>
      <p:sp>
        <p:nvSpPr>
          <p:cNvPr id="15" name="Shape 11"/>
          <p:cNvSpPr/>
          <p:nvPr/>
        </p:nvSpPr>
        <p:spPr>
          <a:xfrm>
            <a:off x="4338218" y="2651760"/>
            <a:ext cx="3515258" cy="3337560"/>
          </a:xfrm>
          <a:prstGeom prst="roundRect">
            <a:avLst>
              <a:gd name="adj" fmla="val 2740"/>
            </a:avLst>
          </a:prstGeom>
          <a:solidFill>
            <a:srgbClr val="F2F5F9"/>
          </a:solidFill>
          <a:ln/>
        </p:spPr>
      </p:sp>
      <p:sp>
        <p:nvSpPr>
          <p:cNvPr id="16" name="Shape 12"/>
          <p:cNvSpPr/>
          <p:nvPr/>
        </p:nvSpPr>
        <p:spPr>
          <a:xfrm>
            <a:off x="5812384" y="2871216"/>
            <a:ext cx="566928" cy="566928"/>
          </a:xfrm>
          <a:prstGeom prst="ellipse">
            <a:avLst/>
          </a:prstGeom>
          <a:solidFill>
            <a:srgbClr val="133B6C"/>
          </a:solidFill>
          <a:ln/>
        </p:spPr>
      </p:sp>
      <p:pic>
        <p:nvPicPr>
          <p:cNvPr id="17" name="Image 1" descr="/tmp/claude-0/-home-user-riesgo/0ff9ff46-1396-5bd8-b3ac-2280dfbbbc55/scratchpad/work/gen/icons/people_group_white.png">    </p:cNvPr>
          <p:cNvPicPr>
            <a:picLocks noChangeAspect="1"/>
          </p:cNvPicPr>
          <p:nvPr/>
        </p:nvPicPr>
        <p:blipFill>
          <a:blip r:embed="rId2"/>
          <a:stretch>
            <a:fillRect/>
          </a:stretch>
        </p:blipFill>
        <p:spPr>
          <a:xfrm>
            <a:off x="5948446" y="3007279"/>
            <a:ext cx="294803" cy="294803"/>
          </a:xfrm>
          <a:prstGeom prst="rect">
            <a:avLst/>
          </a:prstGeom>
        </p:spPr>
      </p:pic>
      <p:sp>
        <p:nvSpPr>
          <p:cNvPr id="18" name="Text 13"/>
          <p:cNvSpPr txBox="1"/>
          <p:nvPr/>
        </p:nvSpPr>
        <p:spPr>
          <a:xfrm>
            <a:off x="4502810"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RESPONSABLE DE ACTUAR</a:t>
            </a:r>
            <a:endParaRPr lang="en-US" sz="1150" dirty="0"/>
          </a:p>
        </p:txBody>
      </p:sp>
      <p:sp>
        <p:nvSpPr>
          <p:cNvPr id="19" name="Text 14"/>
          <p:cNvSpPr txBox="1"/>
          <p:nvPr/>
        </p:nvSpPr>
        <p:spPr>
          <a:xfrm>
            <a:off x="4539386"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200" dirty="0"/>
          </a:p>
        </p:txBody>
      </p:sp>
      <p:sp>
        <p:nvSpPr>
          <p:cNvPr id="20" name="Shape 15"/>
          <p:cNvSpPr/>
          <p:nvPr/>
        </p:nvSpPr>
        <p:spPr>
          <a:xfrm>
            <a:off x="8109509" y="2651760"/>
            <a:ext cx="3515258" cy="3337560"/>
          </a:xfrm>
          <a:prstGeom prst="roundRect">
            <a:avLst>
              <a:gd name="adj" fmla="val 2740"/>
            </a:avLst>
          </a:prstGeom>
          <a:solidFill>
            <a:srgbClr val="F2F5F9"/>
          </a:solidFill>
          <a:ln/>
        </p:spPr>
      </p:sp>
      <p:sp>
        <p:nvSpPr>
          <p:cNvPr id="21" name="Shape 16"/>
          <p:cNvSpPr/>
          <p:nvPr/>
        </p:nvSpPr>
        <p:spPr>
          <a:xfrm>
            <a:off x="9583674" y="2871216"/>
            <a:ext cx="566928" cy="566928"/>
          </a:xfrm>
          <a:prstGeom prst="ellipse">
            <a:avLst/>
          </a:prstGeom>
          <a:solidFill>
            <a:srgbClr val="E0392B"/>
          </a:solidFill>
          <a:ln/>
        </p:spPr>
      </p:sp>
      <p:pic>
        <p:nvPicPr>
          <p:cNvPr id="22" name="Image 2" descr="/tmp/claude-0/-home-user-riesgo/0ff9ff46-1396-5bd8-b3ac-2280dfbbbc55/scratchpad/work/gen/icons/warning_triangle_white.png">    </p:cNvPr>
          <p:cNvPicPr>
            <a:picLocks noChangeAspect="1"/>
          </p:cNvPicPr>
          <p:nvPr/>
        </p:nvPicPr>
        <p:blipFill>
          <a:blip r:embed="rId3"/>
          <a:stretch>
            <a:fillRect/>
          </a:stretch>
        </p:blipFill>
        <p:spPr>
          <a:xfrm>
            <a:off x="9719737" y="3007279"/>
            <a:ext cx="294803" cy="294803"/>
          </a:xfrm>
          <a:prstGeom prst="rect">
            <a:avLst/>
          </a:prstGeom>
        </p:spPr>
      </p:pic>
      <p:sp>
        <p:nvSpPr>
          <p:cNvPr id="23" name="Text 17"/>
          <p:cNvSpPr txBox="1"/>
          <p:nvPr/>
        </p:nvSpPr>
        <p:spPr>
          <a:xfrm>
            <a:off x="8274101" y="3611880"/>
            <a:ext cx="3186074" cy="457200"/>
          </a:xfrm>
          <a:prstGeom prst="rect">
            <a:avLst/>
          </a:prstGeom>
          <a:noFill/>
          <a:ln/>
        </p:spPr>
        <p:txBody>
          <a:bodyPr wrap="square" lIns="0" tIns="0" rIns="0" bIns="0" rtlCol="0" anchor="ctr"/>
          <a:lstStyle/>
          <a:p>
            <a:pPr algn="ctr" indent="0" marL="0">
              <a:buNone/>
            </a:pPr>
            <a:r>
              <a:rPr lang="en-US" sz="1150" b="1" spc="50" kern="0" dirty="0">
                <a:solidFill>
                  <a:srgbClr val="E0392B"/>
                </a:solidFill>
                <a:latin typeface="Calibri" pitchFamily="34" charset="0"/>
                <a:ea typeface="Calibri" pitchFamily="34" charset="-122"/>
                <a:cs typeface="Calibri" pitchFamily="34" charset="-120"/>
              </a:rPr>
              <a:t>SI NO ACTUAMOS</a:t>
            </a:r>
            <a:endParaRPr lang="en-US" sz="1150" dirty="0"/>
          </a:p>
        </p:txBody>
      </p:sp>
      <p:sp>
        <p:nvSpPr>
          <p:cNvPr id="24" name="Text 18"/>
          <p:cNvSpPr txBox="1"/>
          <p:nvPr/>
        </p:nvSpPr>
        <p:spPr>
          <a:xfrm>
            <a:off x="8310677" y="4069080"/>
            <a:ext cx="3112922" cy="1783080"/>
          </a:xfrm>
          <a:prstGeom prst="rect">
            <a:avLst/>
          </a:prstGeom>
          <a:noFill/>
          <a:ln/>
        </p:spPr>
        <p:txBody>
          <a:bodyPr wrap="square" lIns="0" tIns="0" rIns="0" bIns="0" rtlCol="0" anchor="ctr"/>
          <a:lstStyle/>
          <a:p>
            <a:pPr algn="ctr" indent="0" marL="0">
              <a:lnSpc>
                <a:spcPct val="115000"/>
              </a:lnSpc>
              <a:buNone/>
            </a:pPr>
            <a:r>
              <a:rPr lang="en-US" sz="120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A1F3B"/>
        </a:solidFill>
      </p:bgPr>
    </p:bg>
    <p:spTree>
      <p:nvGrpSpPr>
        <p:cNvPr id="1" name=""/>
        <p:cNvGrpSpPr/>
        <p:nvPr/>
      </p:nvGrpSpPr>
      <p:grpSpPr>
        <a:xfrm>
          <a:off x="0" y="0"/>
          <a:ext cx="0" cy="0"/>
          <a:chOff x="0" y="0"/>
          <a:chExt cx="0" cy="0"/>
        </a:xfrm>
      </p:grpSpPr>
      <p:sp>
        <p:nvSpPr>
          <p:cNvPr id="3" name="Shape 0"/>
          <p:cNvSpPr/>
          <p:nvPr/>
        </p:nvSpPr>
        <p:spPr>
          <a:xfrm rot="720000">
            <a:off x="7955280" y="-457200"/>
            <a:ext cx="5669280" cy="7772400"/>
          </a:xfrm>
          <a:prstGeom prst="rect">
            <a:avLst/>
          </a:prstGeom>
          <a:solidFill>
            <a:srgbClr val="F2994A"/>
          </a:solidFill>
          <a:ln/>
        </p:spPr>
      </p:sp>
      <p:sp>
        <p:nvSpPr>
          <p:cNvPr id="4" name="Shape 1"/>
          <p:cNvSpPr/>
          <p:nvPr/>
        </p:nvSpPr>
        <p:spPr>
          <a:xfrm>
            <a:off x="0" y="0"/>
            <a:ext cx="8275320" cy="6858000"/>
          </a:xfrm>
          <a:prstGeom prst="rect">
            <a:avLst/>
          </a:prstGeom>
          <a:solidFill>
            <a:srgbClr val="0A1F3B"/>
          </a:solidFill>
          <a:ln/>
        </p:spPr>
      </p:sp>
      <p:sp>
        <p:nvSpPr>
          <p:cNvPr id="5" name="Shape 2"/>
          <p:cNvSpPr/>
          <p:nvPr/>
        </p:nvSpPr>
        <p:spPr>
          <a:xfrm>
            <a:off x="-3108960" y="3291840"/>
            <a:ext cx="7498080" cy="7498080"/>
          </a:xfrm>
          <a:prstGeom prst="ellipse">
            <a:avLst/>
          </a:prstGeom>
          <a:solidFill>
            <a:srgbClr val="0D2847"/>
          </a:solidFill>
          <a:ln/>
        </p:spPr>
      </p:sp>
      <p:sp>
        <p:nvSpPr>
          <p:cNvPr id="6" name="Shape 3"/>
          <p:cNvSpPr/>
          <p:nvPr/>
        </p:nvSpPr>
        <p:spPr>
          <a:xfrm>
            <a:off x="8686800" y="2011680"/>
            <a:ext cx="2834640" cy="2834640"/>
          </a:xfrm>
          <a:prstGeom prst="ellipse">
            <a:avLst/>
          </a:prstGeom>
          <a:solidFill>
            <a:srgbClr val="0A1F3B"/>
          </a:solidFill>
          <a:ln/>
        </p:spPr>
      </p:sp>
      <p:sp>
        <p:nvSpPr>
          <p:cNvPr id="7" name="Shape 4"/>
          <p:cNvSpPr/>
          <p:nvPr/>
        </p:nvSpPr>
        <p:spPr>
          <a:xfrm>
            <a:off x="9784080" y="3931920"/>
            <a:ext cx="1371600" cy="1371600"/>
          </a:xfrm>
          <a:prstGeom prst="ellipse">
            <a:avLst/>
          </a:prstGeom>
          <a:solidFill>
            <a:srgbClr val="FFFFFF"/>
          </a:solidFill>
          <a:ln/>
        </p:spPr>
      </p:sp>
      <p:sp>
        <p:nvSpPr>
          <p:cNvPr id="8" name="Shape 5"/>
          <p:cNvSpPr/>
          <p:nvPr/>
        </p:nvSpPr>
        <p:spPr>
          <a:xfrm>
            <a:off x="10698480" y="2011680"/>
            <a:ext cx="960120" cy="960120"/>
          </a:xfrm>
          <a:prstGeom prst="ellipse">
            <a:avLst/>
          </a:prstGeom>
          <a:solidFill>
            <a:srgbClr val="0D2847"/>
          </a:solidFill>
          <a:ln/>
        </p:spPr>
      </p:sp>
      <p:sp>
        <p:nvSpPr>
          <p:cNvPr id="9" name="Shape 6"/>
          <p:cNvSpPr/>
          <p:nvPr/>
        </p:nvSpPr>
        <p:spPr>
          <a:xfrm>
            <a:off x="9075420" y="2217420"/>
            <a:ext cx="1051560" cy="1051560"/>
          </a:xfrm>
          <a:prstGeom prst="ellipse">
            <a:avLst/>
          </a:prstGeom>
          <a:solidFill>
            <a:srgbClr val="FFFFFF"/>
          </a:solidFill>
          <a:ln/>
        </p:spPr>
      </p:sp>
      <p:pic>
        <p:nvPicPr>
          <p:cNvPr id="10" name="Image 0" descr="/tmp/claude-0/-home-user-riesgo/0ff9ff46-1396-5bd8-b3ac-2280dfbbbc55/scratchpad/work/gen/icons/timer30_orange.png">    </p:cNvPr>
          <p:cNvPicPr>
            <a:picLocks noChangeAspect="1"/>
          </p:cNvPicPr>
          <p:nvPr/>
        </p:nvPicPr>
        <p:blipFill>
          <a:blip r:embed="rId1"/>
          <a:stretch>
            <a:fillRect/>
          </a:stretch>
        </p:blipFill>
        <p:spPr>
          <a:xfrm>
            <a:off x="9338310" y="2480310"/>
            <a:ext cx="525780" cy="525780"/>
          </a:xfrm>
          <a:prstGeom prst="rect">
            <a:avLst/>
          </a:prstGeom>
        </p:spPr>
      </p:pic>
      <p:sp>
        <p:nvSpPr>
          <p:cNvPr id="11" name="Shape 7"/>
          <p:cNvSpPr/>
          <p:nvPr/>
        </p:nvSpPr>
        <p:spPr>
          <a:xfrm>
            <a:off x="10447020" y="2948940"/>
            <a:ext cx="868680" cy="868680"/>
          </a:xfrm>
          <a:prstGeom prst="ellipse">
            <a:avLst/>
          </a:prstGeom>
          <a:solidFill>
            <a:srgbClr val="0A1F3B"/>
          </a:solidFill>
          <a:ln/>
        </p:spPr>
      </p:sp>
      <p:pic>
        <p:nvPicPr>
          <p:cNvPr id="12" name="Image 1" descr="/tmp/claude-0/-home-user-riesgo/0ff9ff46-1396-5bd8-b3ac-2280dfbbbc55/scratchpad/work/gen/icons/binoculars_white.png">    </p:cNvPr>
          <p:cNvPicPr>
            <a:picLocks noChangeAspect="1"/>
          </p:cNvPicPr>
          <p:nvPr/>
        </p:nvPicPr>
        <p:blipFill>
          <a:blip r:embed="rId2"/>
          <a:stretch>
            <a:fillRect/>
          </a:stretch>
        </p:blipFill>
        <p:spPr>
          <a:xfrm>
            <a:off x="10664190" y="3166110"/>
            <a:ext cx="434340" cy="434340"/>
          </a:xfrm>
          <a:prstGeom prst="rect">
            <a:avLst/>
          </a:prstGeom>
        </p:spPr>
      </p:pic>
      <p:sp>
        <p:nvSpPr>
          <p:cNvPr id="13" name="Shape 8"/>
          <p:cNvSpPr/>
          <p:nvPr/>
        </p:nvSpPr>
        <p:spPr>
          <a:xfrm>
            <a:off x="9578340" y="3909060"/>
            <a:ext cx="777240" cy="777240"/>
          </a:xfrm>
          <a:prstGeom prst="ellipse">
            <a:avLst/>
          </a:prstGeom>
          <a:solidFill>
            <a:srgbClr val="FFFFFF"/>
          </a:solidFill>
          <a:ln/>
        </p:spPr>
      </p:sp>
      <p:pic>
        <p:nvPicPr>
          <p:cNvPr id="14" name="Image 2" descr="/tmp/claude-0/-home-user-riesgo/0ff9ff46-1396-5bd8-b3ac-2280dfbbbc55/scratchpad/work/gen/icons/magnifier_navy.png">    </p:cNvPr>
          <p:cNvPicPr>
            <a:picLocks noChangeAspect="1"/>
          </p:cNvPicPr>
          <p:nvPr/>
        </p:nvPicPr>
        <p:blipFill>
          <a:blip r:embed="rId3"/>
          <a:stretch>
            <a:fillRect/>
          </a:stretch>
        </p:blipFill>
        <p:spPr>
          <a:xfrm>
            <a:off x="9772650" y="4103370"/>
            <a:ext cx="388620" cy="388620"/>
          </a:xfrm>
          <a:prstGeom prst="rect">
            <a:avLst/>
          </a:prstGeom>
        </p:spPr>
      </p:pic>
      <p:sp>
        <p:nvSpPr>
          <p:cNvPr id="15" name="Shape 9"/>
          <p:cNvSpPr/>
          <p:nvPr/>
        </p:nvSpPr>
        <p:spPr>
          <a:xfrm>
            <a:off x="10689336" y="4105656"/>
            <a:ext cx="658368" cy="658368"/>
          </a:xfrm>
          <a:prstGeom prst="ellipse">
            <a:avLst/>
          </a:prstGeom>
          <a:solidFill>
            <a:srgbClr val="0A1F3B"/>
          </a:solidFill>
          <a:ln/>
        </p:spPr>
      </p:sp>
      <p:pic>
        <p:nvPicPr>
          <p:cNvPr id="16" name="Image 3" descr="/tmp/claude-0/-home-user-riesgo/0ff9ff46-1396-5bd8-b3ac-2280dfbbbc55/scratchpad/work/gen/icons/target_orange.png">    </p:cNvPr>
          <p:cNvPicPr>
            <a:picLocks noChangeAspect="1"/>
          </p:cNvPicPr>
          <p:nvPr/>
        </p:nvPicPr>
        <p:blipFill>
          <a:blip r:embed="rId4"/>
          <a:stretch>
            <a:fillRect/>
          </a:stretch>
        </p:blipFill>
        <p:spPr>
          <a:xfrm>
            <a:off x="10853928" y="4270248"/>
            <a:ext cx="329184" cy="329184"/>
          </a:xfrm>
          <a:prstGeom prst="rect">
            <a:avLst/>
          </a:prstGeom>
        </p:spPr>
      </p:pic>
      <p:sp>
        <p:nvSpPr>
          <p:cNvPr id="17" name="Text 10"/>
          <p:cNvSpPr txBox="1"/>
          <p:nvPr/>
        </p:nvSpPr>
        <p:spPr>
          <a:xfrm>
            <a:off x="566928" y="2423160"/>
            <a:ext cx="7315200" cy="365760"/>
          </a:xfrm>
          <a:prstGeom prst="rect">
            <a:avLst/>
          </a:prstGeom>
          <a:noFill/>
          <a:ln/>
        </p:spPr>
        <p:txBody>
          <a:bodyPr wrap="square" lIns="0" tIns="0" rIns="0" bIns="0" rtlCol="0" anchor="ctr"/>
          <a:lstStyle/>
          <a:p>
            <a:pPr indent="0" marL="0">
              <a:buNone/>
            </a:pPr>
            <a:r>
              <a:rPr lang="en-US" sz="1500" b="1" spc="300" kern="0" dirty="0">
                <a:solidFill>
                  <a:srgbClr val="F2994A"/>
                </a:solidFill>
                <a:latin typeface="Calibri" pitchFamily="34" charset="0"/>
                <a:ea typeface="Calibri" pitchFamily="34" charset="-122"/>
                <a:cs typeface="Calibri" pitchFamily="34" charset="-120"/>
              </a:rPr>
              <a:t>GRAN ACTIVIDAD FINAL</a:t>
            </a:r>
            <a:endParaRPr lang="en-US" sz="1500" dirty="0"/>
          </a:p>
        </p:txBody>
      </p:sp>
      <p:sp>
        <p:nvSpPr>
          <p:cNvPr id="18" name="Text 11"/>
          <p:cNvSpPr txBox="1"/>
          <p:nvPr/>
        </p:nvSpPr>
        <p:spPr>
          <a:xfrm>
            <a:off x="566928" y="2788920"/>
            <a:ext cx="7406640" cy="155448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DETECTA EL RIESGO</a:t>
            </a:r>
            <a:endParaRPr lang="en-US" sz="3200" dirty="0"/>
          </a:p>
        </p:txBody>
      </p:sp>
      <p:sp>
        <p:nvSpPr>
          <p:cNvPr id="19" name="Text 12"/>
          <p:cNvSpPr txBox="1"/>
          <p:nvPr/>
        </p:nvSpPr>
        <p:spPr>
          <a:xfrm>
            <a:off x="566928" y="4206240"/>
            <a:ext cx="7223760" cy="822960"/>
          </a:xfrm>
          <a:prstGeom prst="rect">
            <a:avLst/>
          </a:prstGeom>
          <a:noFill/>
          <a:ln/>
        </p:spPr>
        <p:txBody>
          <a:bodyPr wrap="square" lIns="0" tIns="0" rIns="0" bIns="0" rtlCol="0" anchor="ctr"/>
          <a:lstStyle/>
          <a:p>
            <a:pPr indent="0" marL="0">
              <a:lnSpc>
                <a:spcPct val="118000"/>
              </a:lnSpc>
              <a:buNone/>
            </a:pPr>
            <a:r>
              <a:rPr lang="en-US" sz="1550" i="1" dirty="0">
                <a:solidFill>
                  <a:srgbClr val="D7E1F0"/>
                </a:solidFill>
                <a:latin typeface="Calibri" pitchFamily="34" charset="0"/>
                <a:ea typeface="Calibri" pitchFamily="34" charset="-122"/>
                <a:cs typeface="Calibri" pitchFamily="34" charset="-120"/>
              </a:rPr>
              <a:t>Pon a prueba todo lo aprendido en esta capacitación.</a:t>
            </a:r>
            <a:endParaRPr lang="en-US" sz="1550" dirty="0"/>
          </a:p>
        </p:txBody>
      </p:sp>
      <p:pic>
        <p:nvPicPr>
          <p:cNvPr id="20" name="Image 4" descr="/tmp/claude-0/-home-user-riesgo/0ff9ff46-1396-5bd8-b3ac-2280dfbbbc55/scratchpad/work/gen/logo_white.png">    </p:cNvPr>
          <p:cNvPicPr>
            <a:picLocks noChangeAspect="1"/>
          </p:cNvPicPr>
          <p:nvPr/>
        </p:nvPicPr>
        <p:blipFill>
          <a:blip r:embed="rId5"/>
          <a:stretch>
            <a:fillRect/>
          </a:stretch>
        </p:blipFill>
        <p:spPr>
          <a:xfrm>
            <a:off x="566928" y="5989320"/>
            <a:ext cx="1417320" cy="398267"/>
          </a:xfrm>
          <a:prstGeom prst="rect">
            <a:avLst/>
          </a:prstGeom>
        </p:spPr>
      </p:pic>
      <p:sp>
        <p:nvSpPr>
          <p:cNvPr id="21" name="Text 1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F2994A"/>
                </a:solidFill>
                <a:latin typeface="Calibri" pitchFamily="34" charset="0"/>
                <a:ea typeface="Calibri" pitchFamily="34" charset="-122"/>
                <a:cs typeface="Calibri" pitchFamily="34" charset="-120"/>
              </a:rPr>
              <a:t>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F2994A"/>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F2994A"/>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F2994A"/>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F2994A"/>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F2994A"/>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F2994A"/>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F2994A"/>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F2994A"/>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F2994A"/>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F2994A"/>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LOS RIESGOS DE ESTA ESCENA</a:t>
            </a:r>
            <a:endParaRPr lang="en-US" sz="3000" dirty="0"/>
          </a:p>
        </p:txBody>
      </p:sp>
      <p:sp>
        <p:nvSpPr>
          <p:cNvPr id="5" name="Shape 2"/>
          <p:cNvSpPr/>
          <p:nvPr/>
        </p:nvSpPr>
        <p:spPr>
          <a:xfrm>
            <a:off x="566928"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6" name="Shape 3"/>
          <p:cNvSpPr/>
          <p:nvPr/>
        </p:nvSpPr>
        <p:spPr>
          <a:xfrm>
            <a:off x="704088" y="2400300"/>
            <a:ext cx="566928" cy="566928"/>
          </a:xfrm>
          <a:prstGeom prst="ellipse">
            <a:avLst/>
          </a:prstGeom>
          <a:solidFill>
            <a:srgbClr val="F2994A"/>
          </a:solidFill>
          <a:ln/>
        </p:spPr>
      </p:sp>
      <p:pic>
        <p:nvPicPr>
          <p:cNvPr id="7" name="Image 0" descr="/tmp/claude-0/-home-user-riesgo/0ff9ff46-1396-5bd8-b3ac-2280dfbbbc55/scratchpad/work/gen/icons/lock_open_navy.png">    </p:cNvPr>
          <p:cNvPicPr>
            <a:picLocks noChangeAspect="1"/>
          </p:cNvPicPr>
          <p:nvPr/>
        </p:nvPicPr>
        <p:blipFill>
          <a:blip r:embed="rId1"/>
          <a:stretch>
            <a:fillRect/>
          </a:stretch>
        </p:blipFill>
        <p:spPr>
          <a:xfrm>
            <a:off x="840151" y="2536363"/>
            <a:ext cx="294803" cy="294803"/>
          </a:xfrm>
          <a:prstGeom prst="rect">
            <a:avLst/>
          </a:prstGeom>
        </p:spPr>
      </p:pic>
      <p:sp>
        <p:nvSpPr>
          <p:cNvPr id="8" name="Text 4"/>
          <p:cNvSpPr txBox="1"/>
          <p:nvPr/>
        </p:nvSpPr>
        <p:spPr>
          <a:xfrm>
            <a:off x="704088"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9" name="Text 5"/>
          <p:cNvSpPr txBox="1"/>
          <p:nvPr/>
        </p:nvSpPr>
        <p:spPr>
          <a:xfrm>
            <a:off x="1389888"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desbloqueado y sin supervisión.</a:t>
            </a:r>
            <a:endParaRPr lang="en-US" sz="1150" dirty="0"/>
          </a:p>
        </p:txBody>
      </p:sp>
      <p:sp>
        <p:nvSpPr>
          <p:cNvPr id="10" name="Shape 6"/>
          <p:cNvSpPr/>
          <p:nvPr/>
        </p:nvSpPr>
        <p:spPr>
          <a:xfrm>
            <a:off x="4344314"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1" name="Shape 7"/>
          <p:cNvSpPr/>
          <p:nvPr/>
        </p:nvSpPr>
        <p:spPr>
          <a:xfrm>
            <a:off x="4481474" y="2400300"/>
            <a:ext cx="566928" cy="566928"/>
          </a:xfrm>
          <a:prstGeom prst="ellipse">
            <a:avLst/>
          </a:prstGeom>
          <a:solidFill>
            <a:srgbClr val="F2994A"/>
          </a:solidFill>
          <a:ln/>
        </p:spPr>
      </p:sp>
      <p:pic>
        <p:nvPicPr>
          <p:cNvPr id="12" name="Image 1" descr="/tmp/claude-0/-home-user-riesgo/0ff9ff46-1396-5bd8-b3ac-2280dfbbbc55/scratchpad/work/gen/icons/usb_navy.png">    </p:cNvPr>
          <p:cNvPicPr>
            <a:picLocks noChangeAspect="1"/>
          </p:cNvPicPr>
          <p:nvPr/>
        </p:nvPicPr>
        <p:blipFill>
          <a:blip r:embed="rId2"/>
          <a:stretch>
            <a:fillRect/>
          </a:stretch>
        </p:blipFill>
        <p:spPr>
          <a:xfrm>
            <a:off x="4617537" y="2536363"/>
            <a:ext cx="294803" cy="294803"/>
          </a:xfrm>
          <a:prstGeom prst="rect">
            <a:avLst/>
          </a:prstGeom>
        </p:spPr>
      </p:pic>
      <p:sp>
        <p:nvSpPr>
          <p:cNvPr id="13" name="Text 8"/>
          <p:cNvSpPr txBox="1"/>
          <p:nvPr/>
        </p:nvSpPr>
        <p:spPr>
          <a:xfrm>
            <a:off x="4481474"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4" name="Text 9"/>
          <p:cNvSpPr txBox="1"/>
          <p:nvPr/>
        </p:nvSpPr>
        <p:spPr>
          <a:xfrm>
            <a:off x="5167274"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Dispositivo USB desconocido conectado.</a:t>
            </a:r>
            <a:endParaRPr lang="en-US" sz="1150" dirty="0"/>
          </a:p>
        </p:txBody>
      </p:sp>
      <p:sp>
        <p:nvSpPr>
          <p:cNvPr id="15" name="Shape 10"/>
          <p:cNvSpPr/>
          <p:nvPr/>
        </p:nvSpPr>
        <p:spPr>
          <a:xfrm>
            <a:off x="8121701"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6" name="Shape 11"/>
          <p:cNvSpPr/>
          <p:nvPr/>
        </p:nvSpPr>
        <p:spPr>
          <a:xfrm>
            <a:off x="8258861" y="2400300"/>
            <a:ext cx="566928" cy="566928"/>
          </a:xfrm>
          <a:prstGeom prst="ellipse">
            <a:avLst/>
          </a:prstGeom>
          <a:solidFill>
            <a:srgbClr val="F2994A"/>
          </a:solidFill>
          <a:ln/>
        </p:spPr>
      </p:sp>
      <p:pic>
        <p:nvPicPr>
          <p:cNvPr id="17" name="Image 2" descr="/tmp/claude-0/-home-user-riesgo/0ff9ff46-1396-5bd8-b3ac-2280dfbbbc55/scratchpad/work/gen/icons/wifi_off_navy.png">    </p:cNvPr>
          <p:cNvPicPr>
            <a:picLocks noChangeAspect="1"/>
          </p:cNvPicPr>
          <p:nvPr/>
        </p:nvPicPr>
        <p:blipFill>
          <a:blip r:embed="rId3"/>
          <a:stretch>
            <a:fillRect/>
          </a:stretch>
        </p:blipFill>
        <p:spPr>
          <a:xfrm>
            <a:off x="8394924" y="2536363"/>
            <a:ext cx="294803" cy="294803"/>
          </a:xfrm>
          <a:prstGeom prst="rect">
            <a:avLst/>
          </a:prstGeom>
        </p:spPr>
      </p:pic>
      <p:sp>
        <p:nvSpPr>
          <p:cNvPr id="18" name="Text 12"/>
          <p:cNvSpPr txBox="1"/>
          <p:nvPr/>
        </p:nvSpPr>
        <p:spPr>
          <a:xfrm>
            <a:off x="8258861"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19" name="Text 13"/>
          <p:cNvSpPr txBox="1"/>
          <p:nvPr/>
        </p:nvSpPr>
        <p:spPr>
          <a:xfrm>
            <a:off x="8944661"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Conexión fuera de la red segura de la Cooperativa.</a:t>
            </a:r>
            <a:endParaRPr lang="en-US" sz="1150" dirty="0"/>
          </a:p>
        </p:txBody>
      </p:sp>
      <p:sp>
        <p:nvSpPr>
          <p:cNvPr id="20" name="Shape 14"/>
          <p:cNvSpPr/>
          <p:nvPr/>
        </p:nvSpPr>
        <p:spPr>
          <a:xfrm>
            <a:off x="566928"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1" name="Shape 15"/>
          <p:cNvSpPr/>
          <p:nvPr/>
        </p:nvSpPr>
        <p:spPr>
          <a:xfrm>
            <a:off x="704088" y="3799332"/>
            <a:ext cx="566928" cy="566928"/>
          </a:xfrm>
          <a:prstGeom prst="ellipse">
            <a:avLst/>
          </a:prstGeom>
          <a:solidFill>
            <a:srgbClr val="F2994A"/>
          </a:solidFill>
          <a:ln/>
        </p:spPr>
      </p:sp>
      <p:pic>
        <p:nvPicPr>
          <p:cNvPr id="22" name="Image 3" descr="/tmp/claude-0/-home-user-riesgo/0ff9ff46-1396-5bd8-b3ac-2280dfbbbc55/scratchpad/work/gen/icons/trash_navy.png">    </p:cNvPr>
          <p:cNvPicPr>
            <a:picLocks noChangeAspect="1"/>
          </p:cNvPicPr>
          <p:nvPr/>
        </p:nvPicPr>
        <p:blipFill>
          <a:blip r:embed="rId4"/>
          <a:stretch>
            <a:fillRect/>
          </a:stretch>
        </p:blipFill>
        <p:spPr>
          <a:xfrm>
            <a:off x="840151" y="3935395"/>
            <a:ext cx="294803" cy="294803"/>
          </a:xfrm>
          <a:prstGeom prst="rect">
            <a:avLst/>
          </a:prstGeom>
        </p:spPr>
      </p:pic>
      <p:sp>
        <p:nvSpPr>
          <p:cNvPr id="23" name="Text 16"/>
          <p:cNvSpPr txBox="1"/>
          <p:nvPr/>
        </p:nvSpPr>
        <p:spPr>
          <a:xfrm>
            <a:off x="704088"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4" name="Text 17"/>
          <p:cNvSpPr txBox="1"/>
          <p:nvPr/>
        </p:nvSpPr>
        <p:spPr>
          <a:xfrm>
            <a:off x="1389888"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Documentos con datos de asociados en la basura.</a:t>
            </a:r>
            <a:endParaRPr lang="en-US" sz="1150" dirty="0"/>
          </a:p>
        </p:txBody>
      </p:sp>
      <p:sp>
        <p:nvSpPr>
          <p:cNvPr id="25" name="Shape 18"/>
          <p:cNvSpPr/>
          <p:nvPr/>
        </p:nvSpPr>
        <p:spPr>
          <a:xfrm>
            <a:off x="4344314"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6" name="Shape 19"/>
          <p:cNvSpPr/>
          <p:nvPr/>
        </p:nvSpPr>
        <p:spPr>
          <a:xfrm>
            <a:off x="4481474" y="3799332"/>
            <a:ext cx="566928" cy="566928"/>
          </a:xfrm>
          <a:prstGeom prst="ellipse">
            <a:avLst/>
          </a:prstGeom>
          <a:solidFill>
            <a:srgbClr val="F2994A"/>
          </a:solidFill>
          <a:ln/>
        </p:spPr>
      </p:sp>
      <p:pic>
        <p:nvPicPr>
          <p:cNvPr id="27" name="Image 4" descr="/tmp/claude-0/-home-user-riesgo/0ff9ff46-1396-5bd8-b3ac-2280dfbbbc55/scratchpad/work/gen/icons/bell_alert_navy.png">    </p:cNvPr>
          <p:cNvPicPr>
            <a:picLocks noChangeAspect="1"/>
          </p:cNvPicPr>
          <p:nvPr/>
        </p:nvPicPr>
        <p:blipFill>
          <a:blip r:embed="rId5"/>
          <a:stretch>
            <a:fillRect/>
          </a:stretch>
        </p:blipFill>
        <p:spPr>
          <a:xfrm>
            <a:off x="4617537" y="3935395"/>
            <a:ext cx="294803" cy="294803"/>
          </a:xfrm>
          <a:prstGeom prst="rect">
            <a:avLst/>
          </a:prstGeom>
        </p:spPr>
      </p:pic>
      <p:sp>
        <p:nvSpPr>
          <p:cNvPr id="28" name="Text 20"/>
          <p:cNvSpPr txBox="1"/>
          <p:nvPr/>
        </p:nvSpPr>
        <p:spPr>
          <a:xfrm>
            <a:off x="4481474"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29" name="Text 21"/>
          <p:cNvSpPr txBox="1"/>
          <p:nvPr/>
        </p:nvSpPr>
        <p:spPr>
          <a:xfrm>
            <a:off x="5167274"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Una alerta del sistema que nadie atendió.</a:t>
            </a:r>
            <a:endParaRPr lang="en-US" sz="1150" dirty="0"/>
          </a:p>
        </p:txBody>
      </p:sp>
      <p:sp>
        <p:nvSpPr>
          <p:cNvPr id="30" name="Shape 22"/>
          <p:cNvSpPr/>
          <p:nvPr/>
        </p:nvSpPr>
        <p:spPr>
          <a:xfrm>
            <a:off x="8121701"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1" name="Shape 23"/>
          <p:cNvSpPr/>
          <p:nvPr/>
        </p:nvSpPr>
        <p:spPr>
          <a:xfrm>
            <a:off x="8258861" y="3799332"/>
            <a:ext cx="566928" cy="566928"/>
          </a:xfrm>
          <a:prstGeom prst="ellipse">
            <a:avLst/>
          </a:prstGeom>
          <a:solidFill>
            <a:srgbClr val="F2994A"/>
          </a:solidFill>
          <a:ln/>
        </p:spPr>
      </p:sp>
      <p:pic>
        <p:nvPicPr>
          <p:cNvPr id="32" name="Image 5" descr="/tmp/claude-0/-home-user-riesgo/0ff9ff46-1396-5bd8-b3ac-2280dfbbbc55/scratchpad/work/gen/icons/hand_stop_navy.png">    </p:cNvPr>
          <p:cNvPicPr>
            <a:picLocks noChangeAspect="1"/>
          </p:cNvPicPr>
          <p:nvPr/>
        </p:nvPicPr>
        <p:blipFill>
          <a:blip r:embed="rId6"/>
          <a:stretch>
            <a:fillRect/>
          </a:stretch>
        </p:blipFill>
        <p:spPr>
          <a:xfrm>
            <a:off x="8394924" y="3935395"/>
            <a:ext cx="294803" cy="294803"/>
          </a:xfrm>
          <a:prstGeom prst="rect">
            <a:avLst/>
          </a:prstGeom>
        </p:spPr>
      </p:pic>
      <p:sp>
        <p:nvSpPr>
          <p:cNvPr id="33" name="Text 24"/>
          <p:cNvSpPr txBox="1"/>
          <p:nvPr/>
        </p:nvSpPr>
        <p:spPr>
          <a:xfrm>
            <a:off x="8258861"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4" name="Text 25"/>
          <p:cNvSpPr txBox="1"/>
          <p:nvPr/>
        </p:nvSpPr>
        <p:spPr>
          <a:xfrm>
            <a:off x="8944661"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Acceso a un área restringida sin autorización.</a:t>
            </a:r>
            <a:endParaRPr lang="en-US" sz="1150" dirty="0"/>
          </a:p>
        </p:txBody>
      </p:sp>
      <p:sp>
        <p:nvSpPr>
          <p:cNvPr id="35" name="Shape 26"/>
          <p:cNvSpPr/>
          <p:nvPr/>
        </p:nvSpPr>
        <p:spPr>
          <a:xfrm>
            <a:off x="566928"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6" name="Shape 27"/>
          <p:cNvSpPr/>
          <p:nvPr/>
        </p:nvSpPr>
        <p:spPr>
          <a:xfrm>
            <a:off x="704088" y="5198364"/>
            <a:ext cx="566928" cy="566928"/>
          </a:xfrm>
          <a:prstGeom prst="ellipse">
            <a:avLst/>
          </a:prstGeom>
          <a:solidFill>
            <a:srgbClr val="F2994A"/>
          </a:solidFill>
          <a:ln/>
        </p:spPr>
      </p:sp>
      <p:pic>
        <p:nvPicPr>
          <p:cNvPr id="37" name="Image 6" descr="/tmp/claude-0/-home-user-riesgo/0ff9ff46-1396-5bd8-b3ac-2280dfbbbc55/scratchpad/work/gen/icons/cctv_navy.png">    </p:cNvPr>
          <p:cNvPicPr>
            <a:picLocks noChangeAspect="1"/>
          </p:cNvPicPr>
          <p:nvPr/>
        </p:nvPicPr>
        <p:blipFill>
          <a:blip r:embed="rId7"/>
          <a:stretch>
            <a:fillRect/>
          </a:stretch>
        </p:blipFill>
        <p:spPr>
          <a:xfrm>
            <a:off x="840151" y="5334427"/>
            <a:ext cx="294803" cy="294803"/>
          </a:xfrm>
          <a:prstGeom prst="rect">
            <a:avLst/>
          </a:prstGeom>
        </p:spPr>
      </p:pic>
      <p:sp>
        <p:nvSpPr>
          <p:cNvPr id="38" name="Text 28"/>
          <p:cNvSpPr txBox="1"/>
          <p:nvPr/>
        </p:nvSpPr>
        <p:spPr>
          <a:xfrm>
            <a:off x="704088"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39" name="Text 29"/>
          <p:cNvSpPr txBox="1"/>
          <p:nvPr/>
        </p:nvSpPr>
        <p:spPr>
          <a:xfrm>
            <a:off x="1389888"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Cámara de seguridad bloqueada u obstruida.</a:t>
            </a:r>
            <a:endParaRPr lang="en-US" sz="1150" dirty="0"/>
          </a:p>
        </p:txBody>
      </p:sp>
      <p:sp>
        <p:nvSpPr>
          <p:cNvPr id="40" name="Shape 30"/>
          <p:cNvSpPr/>
          <p:nvPr/>
        </p:nvSpPr>
        <p:spPr>
          <a:xfrm>
            <a:off x="4344314"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1" name="Shape 31"/>
          <p:cNvSpPr/>
          <p:nvPr/>
        </p:nvSpPr>
        <p:spPr>
          <a:xfrm>
            <a:off x="4481474" y="5198364"/>
            <a:ext cx="566928" cy="566928"/>
          </a:xfrm>
          <a:prstGeom prst="ellipse">
            <a:avLst/>
          </a:prstGeom>
          <a:solidFill>
            <a:srgbClr val="F2994A"/>
          </a:solidFill>
          <a:ln/>
        </p:spPr>
      </p:sp>
      <p:pic>
        <p:nvPicPr>
          <p:cNvPr id="42" name="Image 7" descr="/tmp/claude-0/-home-user-riesgo/0ff9ff46-1396-5bd8-b3ac-2280dfbbbc55/scratchpad/work/gen/icons/key_navy.png">    </p:cNvPr>
          <p:cNvPicPr>
            <a:picLocks noChangeAspect="1"/>
          </p:cNvPicPr>
          <p:nvPr/>
        </p:nvPicPr>
        <p:blipFill>
          <a:blip r:embed="rId8"/>
          <a:stretch>
            <a:fillRect/>
          </a:stretch>
        </p:blipFill>
        <p:spPr>
          <a:xfrm>
            <a:off x="4617537" y="5334427"/>
            <a:ext cx="294803" cy="294803"/>
          </a:xfrm>
          <a:prstGeom prst="rect">
            <a:avLst/>
          </a:prstGeom>
        </p:spPr>
      </p:pic>
      <p:sp>
        <p:nvSpPr>
          <p:cNvPr id="43" name="Text 32"/>
          <p:cNvSpPr txBox="1"/>
          <p:nvPr/>
        </p:nvSpPr>
        <p:spPr>
          <a:xfrm>
            <a:off x="4481474"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4" name="Text 33"/>
          <p:cNvSpPr txBox="1"/>
          <p:nvPr/>
        </p:nvSpPr>
        <p:spPr>
          <a:xfrm>
            <a:off x="5167274"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Llaves de una oficina dejadas a la vista.</a:t>
            </a:r>
            <a:endParaRPr lang="en-US" sz="1150" dirty="0"/>
          </a:p>
        </p:txBody>
      </p:sp>
      <p:sp>
        <p:nvSpPr>
          <p:cNvPr id="45" name="Shape 34"/>
          <p:cNvSpPr/>
          <p:nvPr/>
        </p:nvSpPr>
        <p:spPr>
          <a:xfrm>
            <a:off x="8121701"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6" name="Shape 35"/>
          <p:cNvSpPr/>
          <p:nvPr/>
        </p:nvSpPr>
        <p:spPr>
          <a:xfrm>
            <a:off x="8258861" y="5198364"/>
            <a:ext cx="566928" cy="566928"/>
          </a:xfrm>
          <a:prstGeom prst="ellipse">
            <a:avLst/>
          </a:prstGeom>
          <a:solidFill>
            <a:srgbClr val="F2994A"/>
          </a:solidFill>
          <a:ln/>
        </p:spPr>
      </p:sp>
      <p:pic>
        <p:nvPicPr>
          <p:cNvPr id="47" name="Image 8" descr="/tmp/claude-0/-home-user-riesgo/0ff9ff46-1396-5bd8-b3ac-2280dfbbbc55/scratchpad/work/gen/icons/social_navy.png">    </p:cNvPr>
          <p:cNvPicPr>
            <a:picLocks noChangeAspect="1"/>
          </p:cNvPicPr>
          <p:nvPr/>
        </p:nvPicPr>
        <p:blipFill>
          <a:blip r:embed="rId9"/>
          <a:stretch>
            <a:fillRect/>
          </a:stretch>
        </p:blipFill>
        <p:spPr>
          <a:xfrm>
            <a:off x="8394924" y="5334427"/>
            <a:ext cx="294803" cy="294803"/>
          </a:xfrm>
          <a:prstGeom prst="rect">
            <a:avLst/>
          </a:prstGeom>
        </p:spPr>
      </p:pic>
      <p:sp>
        <p:nvSpPr>
          <p:cNvPr id="48" name="Text 36"/>
          <p:cNvSpPr txBox="1"/>
          <p:nvPr/>
        </p:nvSpPr>
        <p:spPr>
          <a:xfrm>
            <a:off x="8258861"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9</a:t>
            </a:r>
            <a:endParaRPr lang="en-US" sz="900" dirty="0"/>
          </a:p>
        </p:txBody>
      </p:sp>
      <p:sp>
        <p:nvSpPr>
          <p:cNvPr id="49" name="Text 37"/>
          <p:cNvSpPr txBox="1"/>
          <p:nvPr/>
        </p:nvSpPr>
        <p:spPr>
          <a:xfrm>
            <a:off x="8944661"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150" dirty="0"/>
          </a:p>
        </p:txBody>
      </p:sp>
      <p:sp>
        <p:nvSpPr>
          <p:cNvPr id="50" name="Text 3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1" name="Text 3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A1F3B"/>
        </a:solidFill>
      </p:bgPr>
    </p:bg>
    <p:spTree>
      <p:nvGrpSpPr>
        <p:cNvPr id="1" name=""/>
        <p:cNvGrpSpPr/>
        <p:nvPr/>
      </p:nvGrpSpPr>
      <p:grpSpPr>
        <a:xfrm>
          <a:off x="0" y="0"/>
          <a:ext cx="0" cy="0"/>
          <a:chOff x="0" y="0"/>
          <a:chExt cx="0" cy="0"/>
        </a:xfrm>
      </p:grpSpPr>
      <p:sp>
        <p:nvSpPr>
          <p:cNvPr id="3" name="Shape 0"/>
          <p:cNvSpPr/>
          <p:nvPr/>
        </p:nvSpPr>
        <p:spPr>
          <a:xfrm>
            <a:off x="-3200400" y="-2926080"/>
            <a:ext cx="7315200" cy="7315200"/>
          </a:xfrm>
          <a:prstGeom prst="ellipse">
            <a:avLst/>
          </a:prstGeom>
          <a:solidFill>
            <a:srgbClr val="0D2847"/>
          </a:solidFill>
          <a:ln/>
        </p:spPr>
      </p:sp>
      <p:sp>
        <p:nvSpPr>
          <p:cNvPr id="4" name="Text 1"/>
          <p:cNvSpPr txBox="1"/>
          <p:nvPr/>
        </p:nvSpPr>
        <p:spPr>
          <a:xfrm>
            <a:off x="640080" y="777240"/>
            <a:ext cx="10972800" cy="548640"/>
          </a:xfrm>
          <a:prstGeom prst="rect">
            <a:avLst/>
          </a:prstGeom>
          <a:noFill/>
          <a:ln/>
        </p:spPr>
        <p:txBody>
          <a:bodyPr wrap="square" lIns="0" tIns="0" rIns="0" bIns="0" rtlCol="0" anchor="ctr"/>
          <a:lstStyle/>
          <a:p>
            <a:pPr algn="ctr" indent="0" marL="0">
              <a:buNone/>
            </a:pPr>
            <a:r>
              <a:rPr lang="en-US" sz="3000" b="1" dirty="0">
                <a:solidFill>
                  <a:srgbClr val="C7D3E5"/>
                </a:solidFill>
                <a:latin typeface="Cambria" pitchFamily="34" charset="0"/>
                <a:ea typeface="Cambria" pitchFamily="34" charset="-122"/>
                <a:cs typeface="Cambria" pitchFamily="34" charset="-120"/>
              </a:rPr>
              <a:t>TODOS SOMOS</a:t>
            </a:r>
            <a:endParaRPr lang="en-US" sz="3000" dirty="0"/>
          </a:p>
        </p:txBody>
      </p:sp>
      <p:sp>
        <p:nvSpPr>
          <p:cNvPr id="5" name="Text 2"/>
          <p:cNvSpPr txBox="1"/>
          <p:nvPr/>
        </p:nvSpPr>
        <p:spPr>
          <a:xfrm>
            <a:off x="640080" y="1280160"/>
            <a:ext cx="1097280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GESTORES DE RIESGOS</a:t>
            </a:r>
            <a:endParaRPr lang="en-US" sz="4000" dirty="0"/>
          </a:p>
        </p:txBody>
      </p:sp>
      <p:sp>
        <p:nvSpPr>
          <p:cNvPr id="6" name="Shape 3"/>
          <p:cNvSpPr/>
          <p:nvPr/>
        </p:nvSpPr>
        <p:spPr>
          <a:xfrm>
            <a:off x="2826868" y="3063240"/>
            <a:ext cx="1051560" cy="1051560"/>
          </a:xfrm>
          <a:prstGeom prst="ellipse">
            <a:avLst/>
          </a:prstGeom>
          <a:solidFill>
            <a:srgbClr val="F0AD35"/>
          </a:solidFill>
          <a:ln/>
        </p:spPr>
      </p:sp>
      <p:pic>
        <p:nvPicPr>
          <p:cNvPr id="7" name="Image 0" descr="/tmp/claude-0/-home-user-riesgo/0ff9ff46-1396-5bd8-b3ac-2280dfbbbc55/scratchpad/work/gen/icons/eye_navy.png">    </p:cNvPr>
          <p:cNvPicPr>
            <a:picLocks noChangeAspect="1"/>
          </p:cNvPicPr>
          <p:nvPr/>
        </p:nvPicPr>
        <p:blipFill>
          <a:blip r:embed="rId1"/>
          <a:stretch>
            <a:fillRect/>
          </a:stretch>
        </p:blipFill>
        <p:spPr>
          <a:xfrm>
            <a:off x="3089758" y="3326130"/>
            <a:ext cx="525780" cy="525780"/>
          </a:xfrm>
          <a:prstGeom prst="rect">
            <a:avLst/>
          </a:prstGeom>
        </p:spPr>
      </p:pic>
      <p:sp>
        <p:nvSpPr>
          <p:cNvPr id="8" name="Text 4"/>
          <p:cNvSpPr txBox="1"/>
          <p:nvPr/>
        </p:nvSpPr>
        <p:spPr>
          <a:xfrm>
            <a:off x="25525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VEO</a:t>
            </a:r>
            <a:endParaRPr lang="en-US" sz="1300" dirty="0"/>
          </a:p>
        </p:txBody>
      </p:sp>
      <p:pic>
        <p:nvPicPr>
          <p:cNvPr id="9" name="Image 1" descr="/tmp/claude-0/-home-user-riesgo/0ff9ff46-1396-5bd8-b3ac-2280dfbbbc55/scratchpad/work/gen/icons/arrow_right_gold.png">    </p:cNvPr>
          <p:cNvPicPr>
            <a:picLocks noChangeAspect="1"/>
          </p:cNvPicPr>
          <p:nvPr/>
        </p:nvPicPr>
        <p:blipFill>
          <a:blip r:embed="rId2"/>
          <a:stretch>
            <a:fillRect/>
          </a:stretch>
        </p:blipFill>
        <p:spPr>
          <a:xfrm>
            <a:off x="3910432" y="3461004"/>
            <a:ext cx="256032" cy="256032"/>
          </a:xfrm>
          <a:prstGeom prst="rect">
            <a:avLst/>
          </a:prstGeom>
        </p:spPr>
      </p:pic>
      <p:sp>
        <p:nvSpPr>
          <p:cNvPr id="10" name="Shape 5"/>
          <p:cNvSpPr/>
          <p:nvPr/>
        </p:nvSpPr>
        <p:spPr>
          <a:xfrm>
            <a:off x="4198468" y="3063240"/>
            <a:ext cx="1051560" cy="1051560"/>
          </a:xfrm>
          <a:prstGeom prst="ellipse">
            <a:avLst/>
          </a:prstGeom>
          <a:solidFill>
            <a:srgbClr val="F0AD35"/>
          </a:solidFill>
          <a:ln/>
        </p:spPr>
      </p:sp>
      <p:pic>
        <p:nvPicPr>
          <p:cNvPr id="11" name="Image 2" descr="/tmp/claude-0/-home-user-riesgo/0ff9ff46-1396-5bd8-b3ac-2280dfbbbc55/scratchpad/work/gen/icons/magnifier_navy.png">    </p:cNvPr>
          <p:cNvPicPr>
            <a:picLocks noChangeAspect="1"/>
          </p:cNvPicPr>
          <p:nvPr/>
        </p:nvPicPr>
        <p:blipFill>
          <a:blip r:embed="rId3"/>
          <a:stretch>
            <a:fillRect/>
          </a:stretch>
        </p:blipFill>
        <p:spPr>
          <a:xfrm>
            <a:off x="4461358" y="3326130"/>
            <a:ext cx="525780" cy="525780"/>
          </a:xfrm>
          <a:prstGeom prst="rect">
            <a:avLst/>
          </a:prstGeom>
        </p:spPr>
      </p:pic>
      <p:sp>
        <p:nvSpPr>
          <p:cNvPr id="12" name="Text 6"/>
          <p:cNvSpPr txBox="1"/>
          <p:nvPr/>
        </p:nvSpPr>
        <p:spPr>
          <a:xfrm>
            <a:off x="39241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IDENTIFICO</a:t>
            </a:r>
            <a:endParaRPr lang="en-US" sz="1300" dirty="0"/>
          </a:p>
        </p:txBody>
      </p:sp>
      <p:pic>
        <p:nvPicPr>
          <p:cNvPr id="13" name="Image 3" descr="/tmp/claude-0/-home-user-riesgo/0ff9ff46-1396-5bd8-b3ac-2280dfbbbc55/scratchpad/work/gen/icons/arrow_right_gold.png">    </p:cNvPr>
          <p:cNvPicPr>
            <a:picLocks noChangeAspect="1"/>
          </p:cNvPicPr>
          <p:nvPr/>
        </p:nvPicPr>
        <p:blipFill>
          <a:blip r:embed="rId4"/>
          <a:stretch>
            <a:fillRect/>
          </a:stretch>
        </p:blipFill>
        <p:spPr>
          <a:xfrm>
            <a:off x="5282032" y="3461004"/>
            <a:ext cx="256032" cy="256032"/>
          </a:xfrm>
          <a:prstGeom prst="rect">
            <a:avLst/>
          </a:prstGeom>
        </p:spPr>
      </p:pic>
      <p:sp>
        <p:nvSpPr>
          <p:cNvPr id="14" name="Shape 7"/>
          <p:cNvSpPr/>
          <p:nvPr/>
        </p:nvSpPr>
        <p:spPr>
          <a:xfrm>
            <a:off x="5570068" y="3063240"/>
            <a:ext cx="1051560" cy="1051560"/>
          </a:xfrm>
          <a:prstGeom prst="ellipse">
            <a:avLst/>
          </a:prstGeom>
          <a:solidFill>
            <a:srgbClr val="F0AD35"/>
          </a:solidFill>
          <a:ln/>
        </p:spPr>
      </p:sp>
      <p:pic>
        <p:nvPicPr>
          <p:cNvPr id="15" name="Image 4" descr="/tmp/claude-0/-home-user-riesgo/0ff9ff46-1396-5bd8-b3ac-2280dfbbbc55/scratchpad/work/gen/icons/shield_check_navy.png">    </p:cNvPr>
          <p:cNvPicPr>
            <a:picLocks noChangeAspect="1"/>
          </p:cNvPicPr>
          <p:nvPr/>
        </p:nvPicPr>
        <p:blipFill>
          <a:blip r:embed="rId5"/>
          <a:stretch>
            <a:fillRect/>
          </a:stretch>
        </p:blipFill>
        <p:spPr>
          <a:xfrm>
            <a:off x="5832958" y="3326130"/>
            <a:ext cx="525780" cy="525780"/>
          </a:xfrm>
          <a:prstGeom prst="rect">
            <a:avLst/>
          </a:prstGeom>
        </p:spPr>
      </p:pic>
      <p:sp>
        <p:nvSpPr>
          <p:cNvPr id="16" name="Text 8"/>
          <p:cNvSpPr txBox="1"/>
          <p:nvPr/>
        </p:nvSpPr>
        <p:spPr>
          <a:xfrm>
            <a:off x="52957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PREVENGO</a:t>
            </a:r>
            <a:endParaRPr lang="en-US" sz="1300" dirty="0"/>
          </a:p>
        </p:txBody>
      </p:sp>
      <p:pic>
        <p:nvPicPr>
          <p:cNvPr id="17" name="Image 5" descr="/tmp/claude-0/-home-user-riesgo/0ff9ff46-1396-5bd8-b3ac-2280dfbbbc55/scratchpad/work/gen/icons/arrow_right_gold.png">    </p:cNvPr>
          <p:cNvPicPr>
            <a:picLocks noChangeAspect="1"/>
          </p:cNvPicPr>
          <p:nvPr/>
        </p:nvPicPr>
        <p:blipFill>
          <a:blip r:embed="rId6"/>
          <a:stretch>
            <a:fillRect/>
          </a:stretch>
        </p:blipFill>
        <p:spPr>
          <a:xfrm>
            <a:off x="6653632" y="3461004"/>
            <a:ext cx="256032" cy="256032"/>
          </a:xfrm>
          <a:prstGeom prst="rect">
            <a:avLst/>
          </a:prstGeom>
        </p:spPr>
      </p:pic>
      <p:sp>
        <p:nvSpPr>
          <p:cNvPr id="18" name="Shape 9"/>
          <p:cNvSpPr/>
          <p:nvPr/>
        </p:nvSpPr>
        <p:spPr>
          <a:xfrm>
            <a:off x="6941668" y="3063240"/>
            <a:ext cx="1051560" cy="1051560"/>
          </a:xfrm>
          <a:prstGeom prst="ellipse">
            <a:avLst/>
          </a:prstGeom>
          <a:solidFill>
            <a:srgbClr val="F0AD35"/>
          </a:solidFill>
          <a:ln/>
        </p:spPr>
      </p:sp>
      <p:pic>
        <p:nvPicPr>
          <p:cNvPr id="19" name="Image 6" descr="/tmp/claude-0/-home-user-riesgo/0ff9ff46-1396-5bd8-b3ac-2280dfbbbc55/scratchpad/work/gen/icons/lightbulb_navy.png">    </p:cNvPr>
          <p:cNvPicPr>
            <a:picLocks noChangeAspect="1"/>
          </p:cNvPicPr>
          <p:nvPr/>
        </p:nvPicPr>
        <p:blipFill>
          <a:blip r:embed="rId7"/>
          <a:stretch>
            <a:fillRect/>
          </a:stretch>
        </p:blipFill>
        <p:spPr>
          <a:xfrm>
            <a:off x="7204558" y="3326130"/>
            <a:ext cx="525780" cy="525780"/>
          </a:xfrm>
          <a:prstGeom prst="rect">
            <a:avLst/>
          </a:prstGeom>
        </p:spPr>
      </p:pic>
      <p:sp>
        <p:nvSpPr>
          <p:cNvPr id="20" name="Text 10"/>
          <p:cNvSpPr txBox="1"/>
          <p:nvPr/>
        </p:nvSpPr>
        <p:spPr>
          <a:xfrm>
            <a:off x="66673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ACTÚO</a:t>
            </a:r>
            <a:endParaRPr lang="en-US" sz="1300" dirty="0"/>
          </a:p>
        </p:txBody>
      </p:sp>
      <p:pic>
        <p:nvPicPr>
          <p:cNvPr id="21" name="Image 7" descr="/tmp/claude-0/-home-user-riesgo/0ff9ff46-1396-5bd8-b3ac-2280dfbbbc55/scratchpad/work/gen/icons/arrow_right_gold.png">    </p:cNvPr>
          <p:cNvPicPr>
            <a:picLocks noChangeAspect="1"/>
          </p:cNvPicPr>
          <p:nvPr/>
        </p:nvPicPr>
        <p:blipFill>
          <a:blip r:embed="rId8"/>
          <a:stretch>
            <a:fillRect/>
          </a:stretch>
        </p:blipFill>
        <p:spPr>
          <a:xfrm>
            <a:off x="8025232" y="3461004"/>
            <a:ext cx="256032" cy="256032"/>
          </a:xfrm>
          <a:prstGeom prst="rect">
            <a:avLst/>
          </a:prstGeom>
        </p:spPr>
      </p:pic>
      <p:sp>
        <p:nvSpPr>
          <p:cNvPr id="22" name="Shape 11"/>
          <p:cNvSpPr/>
          <p:nvPr/>
        </p:nvSpPr>
        <p:spPr>
          <a:xfrm>
            <a:off x="8313268" y="3063240"/>
            <a:ext cx="1051560" cy="1051560"/>
          </a:xfrm>
          <a:prstGeom prst="ellipse">
            <a:avLst/>
          </a:prstGeom>
          <a:solidFill>
            <a:srgbClr val="F0AD35"/>
          </a:solidFill>
          <a:ln/>
        </p:spPr>
      </p:sp>
      <p:pic>
        <p:nvPicPr>
          <p:cNvPr id="23" name="Image 8" descr="/tmp/claude-0/-home-user-riesgo/0ff9ff46-1396-5bd8-b3ac-2280dfbbbc55/scratchpad/work/gen/icons/megaphone_navy.png">    </p:cNvPr>
          <p:cNvPicPr>
            <a:picLocks noChangeAspect="1"/>
          </p:cNvPicPr>
          <p:nvPr/>
        </p:nvPicPr>
        <p:blipFill>
          <a:blip r:embed="rId9"/>
          <a:stretch>
            <a:fillRect/>
          </a:stretch>
        </p:blipFill>
        <p:spPr>
          <a:xfrm>
            <a:off x="8576158" y="3326130"/>
            <a:ext cx="525780" cy="525780"/>
          </a:xfrm>
          <a:prstGeom prst="rect">
            <a:avLst/>
          </a:prstGeom>
        </p:spPr>
      </p:pic>
      <p:sp>
        <p:nvSpPr>
          <p:cNvPr id="24" name="Text 12"/>
          <p:cNvSpPr txBox="1"/>
          <p:nvPr/>
        </p:nvSpPr>
        <p:spPr>
          <a:xfrm>
            <a:off x="8038948" y="4251960"/>
            <a:ext cx="1600200" cy="365760"/>
          </a:xfrm>
          <a:prstGeom prst="rect">
            <a:avLst/>
          </a:prstGeom>
          <a:noFill/>
          <a:ln/>
        </p:spPr>
        <p:txBody>
          <a:bodyPr wrap="square" lIns="0" tIns="0" rIns="0" bIns="0" rtlCol="0" anchor="ctr"/>
          <a:lstStyle/>
          <a:p>
            <a:pPr algn="ctr" indent="0" marL="0">
              <a:buNone/>
            </a:pPr>
            <a:r>
              <a:rPr lang="en-US" sz="1300" b="1" spc="50" kern="0" dirty="0">
                <a:solidFill>
                  <a:srgbClr val="FFFFFF"/>
                </a:solidFill>
                <a:latin typeface="Calibri" pitchFamily="34" charset="0"/>
                <a:ea typeface="Calibri" pitchFamily="34" charset="-122"/>
                <a:cs typeface="Calibri" pitchFamily="34" charset="-120"/>
              </a:rPr>
              <a:t>REPORTO</a:t>
            </a:r>
            <a:endParaRPr lang="en-US" sz="1300" dirty="0"/>
          </a:p>
        </p:txBody>
      </p:sp>
      <p:sp>
        <p:nvSpPr>
          <p:cNvPr id="25" name="Text 13"/>
          <p:cNvSpPr txBox="1"/>
          <p:nvPr/>
        </p:nvSpPr>
        <p:spPr>
          <a:xfrm>
            <a:off x="640080" y="5074920"/>
            <a:ext cx="10972800" cy="502920"/>
          </a:xfrm>
          <a:prstGeom prst="rect">
            <a:avLst/>
          </a:prstGeom>
          <a:noFill/>
          <a:ln/>
        </p:spPr>
        <p:txBody>
          <a:bodyPr wrap="square" lIns="0" tIns="0" rIns="0" bIns="0" rtlCol="0" anchor="ctr"/>
          <a:lstStyle/>
          <a:p>
            <a:pPr algn="ctr" indent="0" marL="0">
              <a:buNone/>
            </a:pPr>
            <a:r>
              <a:rPr lang="en-US" sz="2000" b="1" spc="100" kern="0" dirty="0">
                <a:solidFill>
                  <a:srgbClr val="F0AD35"/>
                </a:solidFill>
                <a:latin typeface="Calibri" pitchFamily="34" charset="0"/>
                <a:ea typeface="Calibri" pitchFamily="34" charset="-122"/>
                <a:cs typeface="Calibri" pitchFamily="34" charset="-120"/>
              </a:rPr>
              <a:t>¿VES UN RIESGO?  ¡REPÓRTALO!</a:t>
            </a:r>
            <a:endParaRPr lang="en-US" sz="2000" dirty="0"/>
          </a:p>
        </p:txBody>
      </p:sp>
      <p:pic>
        <p:nvPicPr>
          <p:cNvPr id="26" name="Image 9" descr="/tmp/claude-0/-home-user-riesgo/0ff9ff46-1396-5bd8-b3ac-2280dfbbbc55/scratchpad/work/gen/logo_white.png">    </p:cNvPr>
          <p:cNvPicPr>
            <a:picLocks noChangeAspect="1"/>
          </p:cNvPicPr>
          <p:nvPr/>
        </p:nvPicPr>
        <p:blipFill>
          <a:blip r:embed="rId10"/>
          <a:stretch>
            <a:fillRect/>
          </a:stretch>
        </p:blipFill>
        <p:spPr>
          <a:xfrm>
            <a:off x="5318608" y="5779008"/>
            <a:ext cx="1554480" cy="436809"/>
          </a:xfrm>
          <a:prstGeom prst="rect">
            <a:avLst/>
          </a:prstGeom>
        </p:spPr>
      </p:pic>
      <p:sp>
        <p:nvSpPr>
          <p:cNvPr id="27"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AEC0DA"/>
                </a:solidFill>
                <a:latin typeface="Calibri" pitchFamily="34" charset="0"/>
                <a:ea typeface="Calibri" pitchFamily="34" charset="-122"/>
                <a:cs typeface="Calibri" pitchFamily="34" charset="-120"/>
              </a:rPr>
              <a:t>GESTIÓN INTEGRAL DE RIESGOS  ·  COMEDICA DE R.L.</a:t>
            </a:r>
            <a:endParaRPr lang="en-US" sz="900" dirty="0"/>
          </a:p>
        </p:txBody>
      </p:sp>
      <p:sp>
        <p:nvSpPr>
          <p:cNvPr id="28"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AEC0D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33B6C"/>
        </a:solidFill>
      </p:bgPr>
    </p:bg>
    <p:spTree>
      <p:nvGrpSpPr>
        <p:cNvPr id="1" name=""/>
        <p:cNvGrpSpPr/>
        <p:nvPr/>
      </p:nvGrpSpPr>
      <p:grpSpPr>
        <a:xfrm>
          <a:off x="0" y="0"/>
          <a:ext cx="0" cy="0"/>
          <a:chOff x="0" y="0"/>
          <a:chExt cx="0" cy="0"/>
        </a:xfrm>
      </p:grpSpPr>
      <p:sp>
        <p:nvSpPr>
          <p:cNvPr id="3" name="Shape 0"/>
          <p:cNvSpPr/>
          <p:nvPr/>
        </p:nvSpPr>
        <p:spPr>
          <a:xfrm>
            <a:off x="8961120" y="3291840"/>
            <a:ext cx="5669280" cy="5669280"/>
          </a:xfrm>
          <a:prstGeom prst="ellipse">
            <a:avLst/>
          </a:prstGeom>
          <a:solidFill>
            <a:srgbClr val="0D2847"/>
          </a:solidFill>
          <a:ln/>
        </p:spPr>
      </p:sp>
      <p:sp>
        <p:nvSpPr>
          <p:cNvPr id="4" name="Text 1"/>
          <p:cNvSpPr txBox="1"/>
          <p:nvPr/>
        </p:nvSpPr>
        <p:spPr>
          <a:xfrm>
            <a:off x="914400" y="685800"/>
            <a:ext cx="1828800" cy="1463040"/>
          </a:xfrm>
          <a:prstGeom prst="rect">
            <a:avLst/>
          </a:prstGeom>
          <a:noFill/>
          <a:ln/>
        </p:spPr>
        <p:txBody>
          <a:bodyPr wrap="square" lIns="0" tIns="0" rIns="0" bIns="0" rtlCol="0" anchor="ctr"/>
          <a:lstStyle/>
          <a:p>
            <a:pPr indent="0" marL="0">
              <a:buNone/>
            </a:pPr>
            <a:r>
              <a:rPr lang="en-US" sz="11000" b="1" dirty="0">
                <a:solidFill>
                  <a:srgbClr val="2E5286"/>
                </a:solidFill>
                <a:latin typeface="Cambria" pitchFamily="34" charset="0"/>
                <a:ea typeface="Cambria" pitchFamily="34" charset="-122"/>
                <a:cs typeface="Cambria" pitchFamily="34" charset="-120"/>
              </a:rPr>
              <a:t>“</a:t>
            </a:r>
            <a:endParaRPr lang="en-US" sz="11000" dirty="0"/>
          </a:p>
        </p:txBody>
      </p:sp>
      <p:sp>
        <p:nvSpPr>
          <p:cNvPr id="5" name="Text 2"/>
          <p:cNvSpPr txBox="1"/>
          <p:nvPr/>
        </p:nvSpPr>
        <p:spPr>
          <a:xfrm>
            <a:off x="914400" y="1965960"/>
            <a:ext cx="10360152" cy="1737360"/>
          </a:xfrm>
          <a:prstGeom prst="rect">
            <a:avLst/>
          </a:prstGeom>
          <a:noFill/>
          <a:ln/>
        </p:spPr>
        <p:txBody>
          <a:bodyPr wrap="square" lIns="0" tIns="0" rIns="0" bIns="0" rtlCol="0" anchor="ctr"/>
          <a:lstStyle/>
          <a:p>
            <a:pPr algn="ctr" indent="0" marL="0">
              <a:lnSpc>
                <a:spcPct val="120000"/>
              </a:lnSpc>
              <a:buNone/>
            </a:pPr>
            <a:r>
              <a:rPr lang="en-US" sz="3000" b="1" dirty="0">
                <a:solidFill>
                  <a:srgbClr val="FFFFFF"/>
                </a:solidFill>
                <a:latin typeface="Cambria" pitchFamily="34" charset="0"/>
                <a:ea typeface="Cambria" pitchFamily="34" charset="-122"/>
                <a:cs typeface="Cambria" pitchFamily="34" charset="-120"/>
              </a:rPr>
              <a:t>Un riesgo que reportamos a tiempo</a:t>
            </a:r>
            <a:endParaRPr lang="en-US" sz="3000" dirty="0"/>
          </a:p>
          <a:p>
            <a:pPr algn="ctr" indent="0" marL="0">
              <a:lnSpc>
                <a:spcPct val="120000"/>
              </a:lnSpc>
              <a:buNone/>
            </a:pPr>
            <a:r>
              <a:rPr lang="en-US" sz="3000" b="1" dirty="0">
                <a:solidFill>
                  <a:srgbClr val="FFFFFF"/>
                </a:solidFill>
                <a:latin typeface="Cambria" pitchFamily="34" charset="0"/>
                <a:ea typeface="Cambria" pitchFamily="34" charset="-122"/>
                <a:cs typeface="Cambria" pitchFamily="34" charset="-120"/>
              </a:rPr>
              <a:t>puede evitar un problema mañana.</a:t>
            </a:r>
            <a:endParaRPr lang="en-US" sz="3000" dirty="0"/>
          </a:p>
        </p:txBody>
      </p:sp>
      <p:sp>
        <p:nvSpPr>
          <p:cNvPr id="6" name="Text 3"/>
          <p:cNvSpPr txBox="1"/>
          <p:nvPr/>
        </p:nvSpPr>
        <p:spPr>
          <a:xfrm>
            <a:off x="1463040" y="3931920"/>
            <a:ext cx="9262872" cy="457200"/>
          </a:xfrm>
          <a:prstGeom prst="rect">
            <a:avLst/>
          </a:prstGeom>
          <a:noFill/>
          <a:ln/>
        </p:spPr>
        <p:txBody>
          <a:bodyPr wrap="square" lIns="0" tIns="0" rIns="0" bIns="0" rtlCol="0" anchor="ctr"/>
          <a:lstStyle/>
          <a:p>
            <a:pPr algn="ctr" indent="0" marL="0">
              <a:buNone/>
            </a:pPr>
            <a:r>
              <a:rPr lang="en-US" sz="1500" i="1" dirty="0">
                <a:solidFill>
                  <a:srgbClr val="D7E1F0"/>
                </a:solidFill>
                <a:latin typeface="Calibri" pitchFamily="34" charset="0"/>
                <a:ea typeface="Calibri" pitchFamily="34" charset="-122"/>
                <a:cs typeface="Calibri" pitchFamily="34" charset="-120"/>
              </a:rPr>
              <a:t>Gracias por hacer de la gestión de riesgos parte de tu trabajo diario.</a:t>
            </a:r>
            <a:endParaRPr lang="en-US" sz="1500" dirty="0"/>
          </a:p>
        </p:txBody>
      </p:sp>
      <p:pic>
        <p:nvPicPr>
          <p:cNvPr id="7" name="Image 0" descr="/tmp/claude-0/-home-user-riesgo/0ff9ff46-1396-5bd8-b3ac-2280dfbbbc55/scratchpad/work/gen/logo_white.png">    </p:cNvPr>
          <p:cNvPicPr>
            <a:picLocks noChangeAspect="1"/>
          </p:cNvPicPr>
          <p:nvPr/>
        </p:nvPicPr>
        <p:blipFill>
          <a:blip r:embed="rId1"/>
          <a:stretch>
            <a:fillRect/>
          </a:stretch>
        </p:blipFill>
        <p:spPr>
          <a:xfrm>
            <a:off x="5090008" y="5074920"/>
            <a:ext cx="2011680" cy="565282"/>
          </a:xfrm>
          <a:prstGeom prst="rect">
            <a:avLst/>
          </a:prstGeom>
        </p:spPr>
      </p:pic>
      <p:sp>
        <p:nvSpPr>
          <p:cNvPr id="8" name="Text 4"/>
          <p:cNvSpPr txBox="1"/>
          <p:nvPr/>
        </p:nvSpPr>
        <p:spPr>
          <a:xfrm>
            <a:off x="914400" y="6172200"/>
            <a:ext cx="10360152" cy="320040"/>
          </a:xfrm>
          <a:prstGeom prst="rect">
            <a:avLst/>
          </a:prstGeom>
          <a:noFill/>
          <a:ln/>
        </p:spPr>
        <p:txBody>
          <a:bodyPr wrap="square" lIns="0" tIns="0" rIns="0" bIns="0" rtlCol="0" anchor="ctr"/>
          <a:lstStyle/>
          <a:p>
            <a:pPr algn="ctr" indent="0" marL="0">
              <a:buNone/>
            </a:pPr>
            <a:r>
              <a:rPr lang="en-US" sz="1100" dirty="0">
                <a:solidFill>
                  <a:srgbClr val="AEC0DA"/>
                </a:solidFill>
                <a:latin typeface="Calibri" pitchFamily="34" charset="0"/>
                <a:ea typeface="Calibri" pitchFamily="34" charset="-122"/>
                <a:cs typeface="Calibri" pitchFamily="34" charset="-120"/>
              </a:rPr>
              <a:t>Departamento de Administración de Riesgos  ·  Capacitación anual 2025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2026-09-10T04:31:45Z</dcterms:created>
  <dcterms:modified xsi:type="dcterms:W3CDTF">2026-09-10T04:31:45Z</dcterms:modified>
</cp:coreProperties>
</file>