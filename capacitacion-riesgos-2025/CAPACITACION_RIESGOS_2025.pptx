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el mensaje respire unos segundos en silencio antes de continuar. Es el cierre emocional del Tema 1 — no lo expliques de más, solo pausa y avanza.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avanzar a la respuesta. No reveles todavía cuál es la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que los pequeños descuidos diarios son el origen más común del riesgo operativo.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la frase en pantalla unos segundos antes de pasar al caso; es el punto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revelar la respuesta.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por qué ignorar o responder a título personal agrava el problema.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la respuesta impacte antes de explicarla. Es el mensaje central del tema: no hay una sola etapa "responsable" del riesgo crediticio.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alrededor de "TODOS" con una frase corta sobre su función. No te extiendas demasiado en ninguno: el punto es que el grupo se vea reflejado en el centro del diagrama.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si alguien en el grupo ha vivido una interrupción operativa por alguno de estos eventos.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Si el tiempo lo permite, divide al grupo en equipos pequeños para discutir cada caso antes de revisar la respuesta en plenaria.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Es el resumen de toda la capacitación en cinco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2.png"/><Relationship Id="rId5" Type="http://schemas.openxmlformats.org/officeDocument/2006/relationships/image" Target="../media/image-26-5.png"/><Relationship Id="rId6" Type="http://schemas.openxmlformats.org/officeDocument/2006/relationships/image" Target="../media/image-26-2.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2.png"/><Relationship Id="rId11" Type="http://schemas.openxmlformats.org/officeDocument/2006/relationships/image" Target="../media/image-26-11.png"/><Relationship Id="rId12" Type="http://schemas.openxmlformats.org/officeDocument/2006/relationships/image" Target="../media/image-26-2.png"/><Relationship Id="rId13" Type="http://schemas.openxmlformats.org/officeDocument/2006/relationships/image" Target="../media/image-26-13.png"/><Relationship Id="rId14" Type="http://schemas.openxmlformats.org/officeDocument/2006/relationships/image" Target="../media/image-26-2.png"/><Relationship Id="rId15" Type="http://schemas.openxmlformats.org/officeDocument/2006/relationships/image" Target="../media/image-26-15.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2.png"/><Relationship Id="rId4" Type="http://schemas.openxmlformats.org/officeDocument/2006/relationships/image" Target="../media/image-35-2.png"/><Relationship Id="rId5" Type="http://schemas.openxmlformats.org/officeDocument/2006/relationships/image" Target="../media/image-35-2.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2.png"/><Relationship Id="rId4" Type="http://schemas.openxmlformats.org/officeDocument/2006/relationships/image" Target="../media/image-37-2.png"/><Relationship Id="rId5" Type="http://schemas.openxmlformats.org/officeDocument/2006/relationships/image" Target="../media/image-37-2.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2.png"/><Relationship Id="rId4" Type="http://schemas.openxmlformats.org/officeDocument/2006/relationships/image" Target="../media/image-39-2.png"/><Relationship Id="rId5" Type="http://schemas.openxmlformats.org/officeDocument/2006/relationships/image" Target="../media/image-39-2.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2.png"/><Relationship Id="rId4" Type="http://schemas.openxmlformats.org/officeDocument/2006/relationships/image" Target="../media/image-41-2.png"/><Relationship Id="rId5" Type="http://schemas.openxmlformats.org/officeDocument/2006/relationships/image" Target="../media/image-41-2.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slideLayout" Target="../slideLayouts/slideLayout1.xml"/><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image" Target="../media/image-45-9.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2.png"/><Relationship Id="rId5" Type="http://schemas.openxmlformats.org/officeDocument/2006/relationships/image" Target="../media/image-46-5.png"/><Relationship Id="rId6" Type="http://schemas.openxmlformats.org/officeDocument/2006/relationships/image" Target="../media/image-46-2.png"/><Relationship Id="rId7" Type="http://schemas.openxmlformats.org/officeDocument/2006/relationships/image" Target="../media/image-46-7.png"/><Relationship Id="rId8" Type="http://schemas.openxmlformats.org/officeDocument/2006/relationships/image" Target="../media/image-46-2.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slideLayout" Target="../slideLayouts/slideLayout1.xml"/><Relationship Id="rId1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8778240" y="-2377440"/>
            <a:ext cx="6858000" cy="6858000"/>
          </a:xfrm>
          <a:prstGeom prst="ellipse">
            <a:avLst/>
          </a:prstGeom>
          <a:solidFill>
            <a:srgbClr val="0D2847"/>
          </a:solidFill>
          <a:ln/>
        </p:spPr>
      </p:sp>
      <p:sp>
        <p:nvSpPr>
          <p:cNvPr id="4" name="Shape 1"/>
          <p:cNvSpPr/>
          <p:nvPr/>
        </p:nvSpPr>
        <p:spPr>
          <a:xfrm>
            <a:off x="10607040" y="-822960"/>
            <a:ext cx="3291840" cy="3291840"/>
          </a:xfrm>
          <a:prstGeom prst="ellipse">
            <a:avLst/>
          </a:prstGeom>
          <a:solidFill>
            <a:srgbClr val="E3A73B"/>
          </a:solidFill>
          <a:ln/>
        </p:spPr>
      </p:sp>
      <p:sp>
        <p:nvSpPr>
          <p:cNvPr id="5" name="Text 2"/>
          <p:cNvSpPr txBox="1"/>
          <p:nvPr/>
        </p:nvSpPr>
        <p:spPr>
          <a:xfrm>
            <a:off x="868680" y="1417320"/>
            <a:ext cx="7315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CAPACITACIÓN ANUAL 2025</a:t>
            </a:r>
            <a:endParaRPr lang="en-US" sz="1500" dirty="0"/>
          </a:p>
        </p:txBody>
      </p:sp>
      <p:sp>
        <p:nvSpPr>
          <p:cNvPr id="6" name="Text 3"/>
          <p:cNvSpPr txBox="1"/>
          <p:nvPr/>
        </p:nvSpPr>
        <p:spPr>
          <a:xfrm>
            <a:off x="822960" y="187452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FFFFFF"/>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FFFFFF"/>
                </a:solidFill>
                <a:latin typeface="Cambria" pitchFamily="34" charset="0"/>
                <a:ea typeface="Cambria" pitchFamily="34" charset="-122"/>
                <a:cs typeface="Cambria" pitchFamily="34" charset="-120"/>
              </a:rPr>
              <a:t>DE RIESGOS</a:t>
            </a:r>
            <a:endParaRPr lang="en-US" sz="4600" dirty="0"/>
          </a:p>
        </p:txBody>
      </p:sp>
      <p:sp>
        <p:nvSpPr>
          <p:cNvPr id="7" name="Text 4"/>
          <p:cNvSpPr txBox="1"/>
          <p:nvPr/>
        </p:nvSpPr>
        <p:spPr>
          <a:xfrm>
            <a:off x="868680" y="3794760"/>
            <a:ext cx="7680960" cy="502920"/>
          </a:xfrm>
          <a:prstGeom prst="rect">
            <a:avLst/>
          </a:prstGeom>
          <a:noFill/>
          <a:ln/>
        </p:spPr>
        <p:txBody>
          <a:bodyPr wrap="square" lIns="0" tIns="0" rIns="0" bIns="0" rtlCol="0" anchor="ctr"/>
          <a:lstStyle/>
          <a:p>
            <a:pPr indent="0" marL="0">
              <a:buNone/>
            </a:pPr>
            <a:r>
              <a:rPr lang="en-US" sz="1900" b="1" spc="150" kern="0" dirty="0">
                <a:solidFill>
                  <a:srgbClr val="FFFFFF"/>
                </a:solidFill>
                <a:latin typeface="Calibri" pitchFamily="34" charset="0"/>
                <a:ea typeface="Calibri" pitchFamily="34" charset="-122"/>
                <a:cs typeface="Calibri" pitchFamily="34" charset="-120"/>
              </a:rPr>
              <a:t>TODOS SOMOS GESTORES DE RIESGOS</a:t>
            </a:r>
            <a:endParaRPr lang="en-US" sz="1900" dirty="0"/>
          </a:p>
        </p:txBody>
      </p:sp>
      <p:sp>
        <p:nvSpPr>
          <p:cNvPr id="8" name="Text 5"/>
          <p:cNvSpPr txBox="1"/>
          <p:nvPr/>
        </p:nvSpPr>
        <p:spPr>
          <a:xfrm>
            <a:off x="868680" y="4617720"/>
            <a:ext cx="6400800" cy="320040"/>
          </a:xfrm>
          <a:prstGeom prst="rect">
            <a:avLst/>
          </a:prstGeom>
          <a:noFill/>
          <a:ln/>
        </p:spPr>
        <p:txBody>
          <a:bodyPr wrap="square" lIns="0" tIns="0" rIns="0" bIns="0" rtlCol="0" anchor="ctr"/>
          <a:lstStyle/>
          <a:p>
            <a:pPr indent="0" marL="0">
              <a:buNone/>
            </a:pPr>
            <a:r>
              <a:rPr lang="en-US" sz="1300" dirty="0">
                <a:solidFill>
                  <a:srgbClr val="C7D3E5"/>
                </a:solidFill>
                <a:latin typeface="Calibri" pitchFamily="34" charset="0"/>
                <a:ea typeface="Calibri" pitchFamily="34" charset="-122"/>
                <a:cs typeface="Calibri" pitchFamily="34" charset="-120"/>
              </a:rPr>
              <a:t>Departamento de Administración de Riesgos</a:t>
            </a:r>
            <a:endParaRPr lang="en-US" sz="1300" dirty="0"/>
          </a:p>
        </p:txBody>
      </p:sp>
      <p:sp>
        <p:nvSpPr>
          <p:cNvPr id="9" name="Text 6"/>
          <p:cNvSpPr txBox="1"/>
          <p:nvPr/>
        </p:nvSpPr>
        <p:spPr>
          <a:xfrm>
            <a:off x="868680" y="4937760"/>
            <a:ext cx="6400800" cy="320040"/>
          </a:xfrm>
          <a:prstGeom prst="rect">
            <a:avLst/>
          </a:prstGeom>
          <a:noFill/>
          <a:ln/>
        </p:spPr>
        <p:txBody>
          <a:bodyPr wrap="square" lIns="0" tIns="0" rIns="0" bIns="0" rtlCol="0" anchor="ctr"/>
          <a:lstStyle/>
          <a:p>
            <a:pPr indent="0" marL="0">
              <a:buNone/>
            </a:pPr>
            <a:r>
              <a:rPr lang="en-US" sz="1300" i="1" dirty="0">
                <a:solidFill>
                  <a:srgbClr val="E3A73B"/>
                </a:solidFill>
                <a:latin typeface="Calibri" pitchFamily="34" charset="0"/>
                <a:ea typeface="Calibri" pitchFamily="34" charset="-122"/>
                <a:cs typeface="Calibri" pitchFamily="34" charset="-120"/>
              </a:rPr>
              <a:t>Identificar · Prevenir · Reducir</a:t>
            </a:r>
            <a:endParaRPr lang="en-US" sz="1300" dirty="0"/>
          </a:p>
        </p:txBody>
      </p:sp>
      <p:sp>
        <p:nvSpPr>
          <p:cNvPr id="10" name="Shape 7"/>
          <p:cNvSpPr/>
          <p:nvPr/>
        </p:nvSpPr>
        <p:spPr>
          <a:xfrm flipV="1">
            <a:off x="9921240" y="2468880"/>
            <a:ext cx="9144" cy="1691640"/>
          </a:xfrm>
          <a:prstGeom prst="line">
            <a:avLst/>
          </a:prstGeom>
          <a:noFill/>
          <a:ln w="12700">
            <a:solidFill>
              <a:srgbClr val="25406A"/>
            </a:solidFill>
            <a:prstDash val="solid"/>
          </a:ln>
        </p:spPr>
      </p:sp>
      <p:sp>
        <p:nvSpPr>
          <p:cNvPr id="11" name="Shape 8"/>
          <p:cNvSpPr/>
          <p:nvPr/>
        </p:nvSpPr>
        <p:spPr>
          <a:xfrm flipV="1">
            <a:off x="9921240" y="3637774"/>
            <a:ext cx="1608845" cy="522746"/>
          </a:xfrm>
          <a:prstGeom prst="line">
            <a:avLst/>
          </a:prstGeom>
          <a:noFill/>
          <a:ln w="12700">
            <a:solidFill>
              <a:srgbClr val="25406A"/>
            </a:solidFill>
            <a:prstDash val="solid"/>
          </a:ln>
        </p:spPr>
      </p:sp>
      <p:sp>
        <p:nvSpPr>
          <p:cNvPr id="12" name="Shape 9"/>
          <p:cNvSpPr/>
          <p:nvPr/>
        </p:nvSpPr>
        <p:spPr>
          <a:xfrm>
            <a:off x="9921240" y="4160520"/>
            <a:ext cx="994321" cy="1368566"/>
          </a:xfrm>
          <a:prstGeom prst="line">
            <a:avLst/>
          </a:prstGeom>
          <a:noFill/>
          <a:ln w="12700">
            <a:solidFill>
              <a:srgbClr val="25406A"/>
            </a:solidFill>
            <a:prstDash val="solid"/>
          </a:ln>
        </p:spPr>
      </p:sp>
      <p:sp>
        <p:nvSpPr>
          <p:cNvPr id="13" name="Shape 10"/>
          <p:cNvSpPr/>
          <p:nvPr/>
        </p:nvSpPr>
        <p:spPr>
          <a:xfrm flipH="1">
            <a:off x="8926919" y="4160520"/>
            <a:ext cx="994321" cy="1368566"/>
          </a:xfrm>
          <a:prstGeom prst="line">
            <a:avLst/>
          </a:prstGeom>
          <a:noFill/>
          <a:ln w="12700">
            <a:solidFill>
              <a:srgbClr val="25406A"/>
            </a:solidFill>
            <a:prstDash val="solid"/>
          </a:ln>
        </p:spPr>
      </p:sp>
      <p:sp>
        <p:nvSpPr>
          <p:cNvPr id="14" name="Shape 11"/>
          <p:cNvSpPr/>
          <p:nvPr/>
        </p:nvSpPr>
        <p:spPr>
          <a:xfrm flipH="1" flipV="1">
            <a:off x="8312395" y="3637774"/>
            <a:ext cx="1608845" cy="522746"/>
          </a:xfrm>
          <a:prstGeom prst="line">
            <a:avLst/>
          </a:prstGeom>
          <a:noFill/>
          <a:ln w="12700">
            <a:solidFill>
              <a:srgbClr val="25406A"/>
            </a:solidFill>
            <a:prstDash val="solid"/>
          </a:ln>
        </p:spPr>
      </p:sp>
      <p:sp>
        <p:nvSpPr>
          <p:cNvPr id="15" name="Shape 12"/>
          <p:cNvSpPr/>
          <p:nvPr/>
        </p:nvSpPr>
        <p:spPr>
          <a:xfrm>
            <a:off x="9537192" y="2084832"/>
            <a:ext cx="768096" cy="768096"/>
          </a:xfrm>
          <a:prstGeom prst="ellipse">
            <a:avLst/>
          </a:prstGeom>
          <a:solidFill>
            <a:srgbClr val="133B6C"/>
          </a:solidFill>
          <a:ln/>
        </p:spPr>
      </p:sp>
      <p:pic>
        <p:nvPicPr>
          <p:cNvPr id="16" name="Image 0" descr="/tmp/claude-0/-home-user-riesgo/0ff9ff46-1396-5bd8-b3ac-2280dfbbbc55/scratchpad/work/gen/icons/person_white.png">    </p:cNvPr>
          <p:cNvPicPr>
            <a:picLocks noChangeAspect="1"/>
          </p:cNvPicPr>
          <p:nvPr/>
        </p:nvPicPr>
        <p:blipFill>
          <a:blip r:embed="rId1"/>
          <a:stretch>
            <a:fillRect/>
          </a:stretch>
        </p:blipFill>
        <p:spPr>
          <a:xfrm>
            <a:off x="9721535" y="2269175"/>
            <a:ext cx="399410" cy="399410"/>
          </a:xfrm>
          <a:prstGeom prst="rect">
            <a:avLst/>
          </a:prstGeom>
        </p:spPr>
      </p:pic>
      <p:sp>
        <p:nvSpPr>
          <p:cNvPr id="17" name="Shape 13"/>
          <p:cNvSpPr/>
          <p:nvPr/>
        </p:nvSpPr>
        <p:spPr>
          <a:xfrm>
            <a:off x="11146037" y="3253726"/>
            <a:ext cx="768096" cy="768096"/>
          </a:xfrm>
          <a:prstGeom prst="ellipse">
            <a:avLst/>
          </a:prstGeom>
          <a:solidFill>
            <a:srgbClr val="133B6C"/>
          </a:solidFill>
          <a:ln/>
        </p:spPr>
      </p:sp>
      <p:pic>
        <p:nvPicPr>
          <p:cNvPr id="18" name="Image 1" descr="/tmp/claude-0/-home-user-riesgo/0ff9ff46-1396-5bd8-b3ac-2280dfbbbc55/scratchpad/work/gen/icons/briefcase_white.png">    </p:cNvPr>
          <p:cNvPicPr>
            <a:picLocks noChangeAspect="1"/>
          </p:cNvPicPr>
          <p:nvPr/>
        </p:nvPicPr>
        <p:blipFill>
          <a:blip r:embed="rId2"/>
          <a:stretch>
            <a:fillRect/>
          </a:stretch>
        </p:blipFill>
        <p:spPr>
          <a:xfrm>
            <a:off x="11330380" y="3438070"/>
            <a:ext cx="399410" cy="399410"/>
          </a:xfrm>
          <a:prstGeom prst="rect">
            <a:avLst/>
          </a:prstGeom>
        </p:spPr>
      </p:pic>
      <p:sp>
        <p:nvSpPr>
          <p:cNvPr id="19" name="Shape 14"/>
          <p:cNvSpPr/>
          <p:nvPr/>
        </p:nvSpPr>
        <p:spPr>
          <a:xfrm>
            <a:off x="10531513" y="5145038"/>
            <a:ext cx="768096" cy="768096"/>
          </a:xfrm>
          <a:prstGeom prst="ellipse">
            <a:avLst/>
          </a:prstGeom>
          <a:solidFill>
            <a:srgbClr val="133B6C"/>
          </a:solidFill>
          <a:ln/>
        </p:spPr>
      </p:sp>
      <p:pic>
        <p:nvPicPr>
          <p:cNvPr id="20" name="Image 2" descr="/tmp/claude-0/-home-user-riesgo/0ff9ff46-1396-5bd8-b3ac-2280dfbbbc55/scratchpad/work/gen/icons/handshake_white.png">    </p:cNvPr>
          <p:cNvPicPr>
            <a:picLocks noChangeAspect="1"/>
          </p:cNvPicPr>
          <p:nvPr/>
        </p:nvPicPr>
        <p:blipFill>
          <a:blip r:embed="rId3"/>
          <a:stretch>
            <a:fillRect/>
          </a:stretch>
        </p:blipFill>
        <p:spPr>
          <a:xfrm>
            <a:off x="10715856" y="5329381"/>
            <a:ext cx="399410" cy="399410"/>
          </a:xfrm>
          <a:prstGeom prst="rect">
            <a:avLst/>
          </a:prstGeom>
        </p:spPr>
      </p:pic>
      <p:sp>
        <p:nvSpPr>
          <p:cNvPr id="21" name="Shape 15"/>
          <p:cNvSpPr/>
          <p:nvPr/>
        </p:nvSpPr>
        <p:spPr>
          <a:xfrm>
            <a:off x="8542871" y="5145038"/>
            <a:ext cx="768096" cy="768096"/>
          </a:xfrm>
          <a:prstGeom prst="ellipse">
            <a:avLst/>
          </a:prstGeom>
          <a:solidFill>
            <a:srgbClr val="133B6C"/>
          </a:solidFill>
          <a:ln/>
        </p:spPr>
      </p:sp>
      <p:pic>
        <p:nvPicPr>
          <p:cNvPr id="22" name="Image 3" descr="/tmp/claude-0/-home-user-riesgo/0ff9ff46-1396-5bd8-b3ac-2280dfbbbc55/scratchpad/work/gen/icons/clipboard_check_white.png">    </p:cNvPr>
          <p:cNvPicPr>
            <a:picLocks noChangeAspect="1"/>
          </p:cNvPicPr>
          <p:nvPr/>
        </p:nvPicPr>
        <p:blipFill>
          <a:blip r:embed="rId4"/>
          <a:stretch>
            <a:fillRect/>
          </a:stretch>
        </p:blipFill>
        <p:spPr>
          <a:xfrm>
            <a:off x="8727214" y="5329381"/>
            <a:ext cx="399410" cy="399410"/>
          </a:xfrm>
          <a:prstGeom prst="rect">
            <a:avLst/>
          </a:prstGeom>
        </p:spPr>
      </p:pic>
      <p:sp>
        <p:nvSpPr>
          <p:cNvPr id="23" name="Shape 16"/>
          <p:cNvSpPr/>
          <p:nvPr/>
        </p:nvSpPr>
        <p:spPr>
          <a:xfrm>
            <a:off x="7928347" y="3253726"/>
            <a:ext cx="768096" cy="768096"/>
          </a:xfrm>
          <a:prstGeom prst="ellipse">
            <a:avLst/>
          </a:prstGeom>
          <a:solidFill>
            <a:srgbClr val="133B6C"/>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8112690" y="3438070"/>
            <a:ext cx="399410" cy="399410"/>
          </a:xfrm>
          <a:prstGeom prst="rect">
            <a:avLst/>
          </a:prstGeom>
        </p:spPr>
      </p:pic>
      <p:sp>
        <p:nvSpPr>
          <p:cNvPr id="25" name="Shape 17"/>
          <p:cNvSpPr/>
          <p:nvPr/>
        </p:nvSpPr>
        <p:spPr>
          <a:xfrm>
            <a:off x="9262872" y="3502152"/>
            <a:ext cx="1316736" cy="1316736"/>
          </a:xfrm>
          <a:prstGeom prst="ellipse">
            <a:avLst/>
          </a:prstGeom>
          <a:solidFill>
            <a:srgbClr val="E3A73B"/>
          </a:solidFill>
          <a:ln/>
        </p:spPr>
      </p:sp>
      <p:pic>
        <p:nvPicPr>
          <p:cNvPr id="26" name="Image 5" descr="/tmp/claude-0/-home-user-riesgo/0ff9ff46-1396-5bd8-b3ac-2280dfbbbc55/scratchpad/work/gen/icons/shield_check_navy.png">    </p:cNvPr>
          <p:cNvPicPr>
            <a:picLocks noChangeAspect="1"/>
          </p:cNvPicPr>
          <p:nvPr/>
        </p:nvPicPr>
        <p:blipFill>
          <a:blip r:embed="rId6"/>
          <a:stretch>
            <a:fillRect/>
          </a:stretch>
        </p:blipFill>
        <p:spPr>
          <a:xfrm>
            <a:off x="9592056" y="3831336"/>
            <a:ext cx="658368" cy="658368"/>
          </a:xfrm>
          <a:prstGeom prst="rect">
            <a:avLst/>
          </a:prstGeom>
        </p:spPr>
      </p:pic>
      <p:pic>
        <p:nvPicPr>
          <p:cNvPr id="27" name="Image 6" descr="/tmp/claude-0/-home-user-riesgo/0ff9ff46-1396-5bd8-b3ac-2280dfbbbc55/scratchpad/work/gen/logo_white.png">    </p:cNvPr>
          <p:cNvPicPr>
            <a:picLocks noChangeAspect="1"/>
          </p:cNvPicPr>
          <p:nvPr/>
        </p:nvPicPr>
        <p:blipFill>
          <a:blip r:embed="rId7"/>
          <a:stretch>
            <a:fillRect/>
          </a:stretch>
        </p:blipFill>
        <p:spPr>
          <a:xfrm>
            <a:off x="868680" y="5779008"/>
            <a:ext cx="1691640" cy="475351"/>
          </a:xfrm>
          <a:prstGeom prst="rect">
            <a:avLst/>
          </a:prstGeom>
        </p:spPr>
      </p:pic>
      <p:sp>
        <p:nvSpPr>
          <p:cNvPr id="28"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133B6C"/>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133B6C"/>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33B6C"/>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133B6C"/>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33B6C"/>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133B6C"/>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33B6C"/>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133B6C"/>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E3A73B"/>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FFFFFF"/>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E3A73B"/>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FFFFFF"/>
          </a:solidFill>
          <a:ln/>
        </p:spPr>
      </p:sp>
      <p:pic>
        <p:nvPicPr>
          <p:cNvPr id="12" name="Image 1" descr="/tmp/claude-0/-home-user-riesgo/0ff9ff46-1396-5bd8-b3ac-2280dfbbbc55/scratchpad/work/gen/icons/cable_navy.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E3A73B"/>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FFFFFF"/>
          </a:solidFill>
          <a:ln/>
        </p:spPr>
      </p:sp>
      <p:pic>
        <p:nvPicPr>
          <p:cNvPr id="16" name="Image 2" descr="/tmp/claude-0/-home-user-riesgo/0ff9ff46-1396-5bd8-b3ac-2280dfbbbc55/scratchpad/work/gen/icons/password_navy.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E3A73B"/>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FFFFFF"/>
          </a:solidFill>
          <a:ln/>
        </p:spPr>
      </p:sp>
      <p:pic>
        <p:nvPicPr>
          <p:cNvPr id="20" name="Image 3" descr="/tmp/claude-0/-home-user-riesgo/0ff9ff46-1396-5bd8-b3ac-2280dfbbbc55/scratchpad/work/gen/icons/door_open_navy.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E3A73B"/>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FFFFFF"/>
          </a:solidFill>
          <a:ln/>
        </p:spPr>
      </p:sp>
      <p:pic>
        <p:nvPicPr>
          <p:cNvPr id="24" name="Image 4" descr="/tmp/claude-0/-home-user-riesgo/0ff9ff46-1396-5bd8-b3ac-2280dfbbbc55/scratchpad/work/gen/icons/x_circle_navy.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E3A73B"/>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FFFFFF"/>
          </a:solidFill>
          <a:ln/>
        </p:spPr>
      </p:sp>
      <p:pic>
        <p:nvPicPr>
          <p:cNvPr id="28" name="Image 5" descr="/tmp/claude-0/-home-user-riesgo/0ff9ff46-1396-5bd8-b3ac-2280dfbbbc55/scratchpad/work/gen/icons/computer_navy.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E3A73B"/>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FFFFFF"/>
          </a:solidFill>
          <a:ln/>
        </p:spPr>
      </p:sp>
      <p:pic>
        <p:nvPicPr>
          <p:cNvPr id="32" name="Image 6" descr="/tmp/claude-0/-home-user-riesgo/0ff9ff46-1396-5bd8-b3ac-2280dfbbbc55/scratchpad/work/gen/icons/chat_navy.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E3A73B"/>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FFFFFF"/>
          </a:solidFill>
          <a:ln/>
        </p:spPr>
      </p:sp>
      <p:pic>
        <p:nvPicPr>
          <p:cNvPr id="36" name="Image 7" descr="/tmp/claude-0/-home-user-riesgo/0ff9ff46-1396-5bd8-b3ac-2280dfbbbc55/scratchpad/work/gen/icons/id_card_navy.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E3A73B"/>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E3A73B"/>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E3A73B"/>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E3A73B"/>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E3A73B"/>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E3A73B"/>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E3A73B"/>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E3A73B"/>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E3A73B"/>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01</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people_group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1</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DE RIESGOS</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La gestión de riesgos no es responsabilidad de un solo departamento.</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308860"/>
            <a:ext cx="3490874" cy="1691640"/>
          </a:xfrm>
          <a:prstGeom prst="roundRect">
            <a:avLst>
              <a:gd name="adj" fmla="val 5405"/>
            </a:avLst>
          </a:prstGeom>
          <a:solidFill>
            <a:srgbClr val="F2F5F9"/>
          </a:solidFill>
          <a:ln/>
        </p:spPr>
      </p:sp>
      <p:sp>
        <p:nvSpPr>
          <p:cNvPr id="7" name="Shape 4"/>
          <p:cNvSpPr/>
          <p:nvPr/>
        </p:nvSpPr>
        <p:spPr>
          <a:xfrm>
            <a:off x="2028901" y="2569464"/>
            <a:ext cx="566928" cy="566928"/>
          </a:xfrm>
          <a:prstGeom prst="ellipse">
            <a:avLst/>
          </a:prstGeom>
          <a:solidFill>
            <a:srgbClr val="133B6C"/>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705527"/>
            <a:ext cx="294803" cy="294803"/>
          </a:xfrm>
          <a:prstGeom prst="rect">
            <a:avLst/>
          </a:prstGeom>
        </p:spPr>
      </p:pic>
      <p:sp>
        <p:nvSpPr>
          <p:cNvPr id="9" name="Text 5"/>
          <p:cNvSpPr txBox="1"/>
          <p:nvPr/>
        </p:nvSpPr>
        <p:spPr>
          <a:xfrm>
            <a:off x="676656"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308860"/>
            <a:ext cx="3490874" cy="1691640"/>
          </a:xfrm>
          <a:prstGeom prst="roundRect">
            <a:avLst>
              <a:gd name="adj" fmla="val 5405"/>
            </a:avLst>
          </a:prstGeom>
          <a:solidFill>
            <a:srgbClr val="F2F5F9"/>
          </a:solidFill>
          <a:ln/>
        </p:spPr>
      </p:sp>
      <p:sp>
        <p:nvSpPr>
          <p:cNvPr id="11" name="Shape 7"/>
          <p:cNvSpPr/>
          <p:nvPr/>
        </p:nvSpPr>
        <p:spPr>
          <a:xfrm>
            <a:off x="5812384" y="2569464"/>
            <a:ext cx="566928" cy="566928"/>
          </a:xfrm>
          <a:prstGeom prst="ellipse">
            <a:avLst/>
          </a:prstGeom>
          <a:solidFill>
            <a:srgbClr val="133B6C"/>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705527"/>
            <a:ext cx="294803" cy="294803"/>
          </a:xfrm>
          <a:prstGeom prst="rect">
            <a:avLst/>
          </a:prstGeom>
        </p:spPr>
      </p:pic>
      <p:sp>
        <p:nvSpPr>
          <p:cNvPr id="13" name="Text 8"/>
          <p:cNvSpPr txBox="1"/>
          <p:nvPr/>
        </p:nvSpPr>
        <p:spPr>
          <a:xfrm>
            <a:off x="4460138"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308860"/>
            <a:ext cx="3490874" cy="1691640"/>
          </a:xfrm>
          <a:prstGeom prst="roundRect">
            <a:avLst>
              <a:gd name="adj" fmla="val 5405"/>
            </a:avLst>
          </a:prstGeom>
          <a:solidFill>
            <a:srgbClr val="F2F5F9"/>
          </a:solidFill>
          <a:ln/>
        </p:spPr>
      </p:sp>
      <p:sp>
        <p:nvSpPr>
          <p:cNvPr id="15" name="Shape 10"/>
          <p:cNvSpPr/>
          <p:nvPr/>
        </p:nvSpPr>
        <p:spPr>
          <a:xfrm>
            <a:off x="9595866" y="2569464"/>
            <a:ext cx="566928" cy="566928"/>
          </a:xfrm>
          <a:prstGeom prst="ellipse">
            <a:avLst/>
          </a:prstGeom>
          <a:solidFill>
            <a:srgbClr val="133B6C"/>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705527"/>
            <a:ext cx="294803" cy="294803"/>
          </a:xfrm>
          <a:prstGeom prst="rect">
            <a:avLst/>
          </a:prstGeom>
        </p:spPr>
      </p:pic>
      <p:sp>
        <p:nvSpPr>
          <p:cNvPr id="17" name="Text 11"/>
          <p:cNvSpPr txBox="1"/>
          <p:nvPr/>
        </p:nvSpPr>
        <p:spPr>
          <a:xfrm>
            <a:off x="8243621"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4256532"/>
            <a:ext cx="3490874" cy="1691640"/>
          </a:xfrm>
          <a:prstGeom prst="roundRect">
            <a:avLst>
              <a:gd name="adj" fmla="val 5405"/>
            </a:avLst>
          </a:prstGeom>
          <a:solidFill>
            <a:srgbClr val="F2F5F9"/>
          </a:solidFill>
          <a:ln/>
        </p:spPr>
      </p:sp>
      <p:sp>
        <p:nvSpPr>
          <p:cNvPr id="19" name="Shape 13"/>
          <p:cNvSpPr/>
          <p:nvPr/>
        </p:nvSpPr>
        <p:spPr>
          <a:xfrm>
            <a:off x="2028901" y="4517136"/>
            <a:ext cx="566928" cy="566928"/>
          </a:xfrm>
          <a:prstGeom prst="ellipse">
            <a:avLst/>
          </a:prstGeom>
          <a:solidFill>
            <a:srgbClr val="133B6C"/>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653199"/>
            <a:ext cx="294803" cy="294803"/>
          </a:xfrm>
          <a:prstGeom prst="rect">
            <a:avLst/>
          </a:prstGeom>
        </p:spPr>
      </p:pic>
      <p:sp>
        <p:nvSpPr>
          <p:cNvPr id="21" name="Text 14"/>
          <p:cNvSpPr txBox="1"/>
          <p:nvPr/>
        </p:nvSpPr>
        <p:spPr>
          <a:xfrm>
            <a:off x="676656"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4256532"/>
            <a:ext cx="3490874" cy="1691640"/>
          </a:xfrm>
          <a:prstGeom prst="roundRect">
            <a:avLst>
              <a:gd name="adj" fmla="val 5405"/>
            </a:avLst>
          </a:prstGeom>
          <a:solidFill>
            <a:srgbClr val="F2F5F9"/>
          </a:solidFill>
          <a:ln/>
        </p:spPr>
      </p:sp>
      <p:sp>
        <p:nvSpPr>
          <p:cNvPr id="23" name="Shape 16"/>
          <p:cNvSpPr/>
          <p:nvPr/>
        </p:nvSpPr>
        <p:spPr>
          <a:xfrm>
            <a:off x="5812384" y="4517136"/>
            <a:ext cx="566928" cy="566928"/>
          </a:xfrm>
          <a:prstGeom prst="ellipse">
            <a:avLst/>
          </a:prstGeom>
          <a:solidFill>
            <a:srgbClr val="133B6C"/>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653199"/>
            <a:ext cx="294803" cy="294803"/>
          </a:xfrm>
          <a:prstGeom prst="rect">
            <a:avLst/>
          </a:prstGeom>
        </p:spPr>
      </p:pic>
      <p:sp>
        <p:nvSpPr>
          <p:cNvPr id="25" name="Text 17"/>
          <p:cNvSpPr txBox="1"/>
          <p:nvPr/>
        </p:nvSpPr>
        <p:spPr>
          <a:xfrm>
            <a:off x="4460138"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4256532"/>
            <a:ext cx="3490874" cy="1691640"/>
          </a:xfrm>
          <a:prstGeom prst="roundRect">
            <a:avLst>
              <a:gd name="adj" fmla="val 5405"/>
            </a:avLst>
          </a:prstGeom>
          <a:solidFill>
            <a:srgbClr val="F2F5F9"/>
          </a:solidFill>
          <a:ln/>
        </p:spPr>
      </p:sp>
      <p:sp>
        <p:nvSpPr>
          <p:cNvPr id="27" name="Shape 19"/>
          <p:cNvSpPr/>
          <p:nvPr/>
        </p:nvSpPr>
        <p:spPr>
          <a:xfrm>
            <a:off x="9595866" y="4517136"/>
            <a:ext cx="566928" cy="566928"/>
          </a:xfrm>
          <a:prstGeom prst="ellipse">
            <a:avLst/>
          </a:prstGeom>
          <a:solidFill>
            <a:srgbClr val="133B6C"/>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653199"/>
            <a:ext cx="294803" cy="294803"/>
          </a:xfrm>
          <a:prstGeom prst="rect">
            <a:avLst/>
          </a:prstGeom>
        </p:spPr>
      </p:pic>
      <p:sp>
        <p:nvSpPr>
          <p:cNvPr id="29" name="Text 20"/>
          <p:cNvSpPr txBox="1"/>
          <p:nvPr/>
        </p:nvSpPr>
        <p:spPr>
          <a:xfrm>
            <a:off x="8243621"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3000" dirty="0">
                <a:solidFill>
                  <a:srgbClr val="FFFFFF"/>
                </a:solidFill>
                <a:latin typeface="Cambria" pitchFamily="34" charset="0"/>
                <a:ea typeface="Cambria" pitchFamily="34" charset="-122"/>
                <a:cs typeface="Cambria" pitchFamily="34" charset="-120"/>
              </a:rPr>
              <a:t>EL RIESGO PUEDE APARECER</a:t>
            </a:r>
            <a:endParaRPr lang="en-US" sz="3000" dirty="0"/>
          </a:p>
          <a:p>
            <a:pPr algn="ctr" indent="0" marL="0">
              <a:lnSpc>
                <a:spcPct val="118000"/>
              </a:lnSpc>
              <a:buNone/>
            </a:pPr>
            <a:r>
              <a:rPr lang="en-US" sz="3000" dirty="0">
                <a:solidFill>
                  <a:srgbClr val="FFFFFF"/>
                </a:solidFill>
                <a:latin typeface="Cambria" pitchFamily="34" charset="0"/>
                <a:ea typeface="Cambria" pitchFamily="34" charset="-122"/>
                <a:cs typeface="Cambria" pitchFamily="34" charset="-120"/>
              </a:rPr>
              <a:t>EN CUALQUIER LUGAR.</a:t>
            </a:r>
            <a:endParaRPr lang="en-US" sz="3000" dirty="0"/>
          </a:p>
          <a:p>
            <a:pPr algn="ctr" indent="0" marL="0">
              <a:lnSpc>
                <a:spcPct val="118000"/>
              </a:lnSpc>
              <a:buNone/>
            </a:pPr>
            <a:r>
              <a:rPr lang="en-US" sz="3400" b="1" dirty="0">
                <a:solidFill>
                  <a:srgbClr val="E3A73B"/>
                </a:solidFill>
                <a:latin typeface="Cambria" pitchFamily="34" charset="0"/>
                <a:ea typeface="Cambria" pitchFamily="34" charset="-122"/>
                <a:cs typeface="Cambria" pitchFamily="34" charset="-120"/>
              </a:rPr>
              <a:t>LA GESTIÓN TAMBIÉN.</a:t>
            </a:r>
            <a:endParaRPr lang="en-US" sz="30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02</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megaphone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2</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¡REPÓRTALO!</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Uno de los hábitos más importantes que puedes construir en tu día a día.</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133B6C"/>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133B6C"/>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133B6C"/>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E3A73B"/>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E3A73B"/>
          </a:solidFill>
          <a:ln/>
        </p:spPr>
      </p:sp>
      <p:pic>
        <p:nvPicPr>
          <p:cNvPr id="7" name="Image 0" descr="/tmp/claude-0/-home-user-riesgo/0ff9ff46-1396-5bd8-b3ac-2280dfbbbc55/scratchpad/work/gen/icons/document_lock_navy.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E9E5B"/>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 para la Cooperativa.</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E3A73B"/>
          </a:solidFill>
          <a:ln/>
        </p:spPr>
      </p:sp>
      <p:pic>
        <p:nvPicPr>
          <p:cNvPr id="15" name="Image 1" descr="/tmp/claude-0/-home-user-riesgo/0ff9ff46-1396-5bd8-b3ac-2280dfbbbc55/scratchpad/work/gen/icons/mail_navy.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03</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gears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3</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LOS RIESGOS OPERATIVOS ESTÁN</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EN NUESTRO DÍA A DÍA</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Personas, procesos, sistemas y eventos externos: así se presenta el riesgo operativo.</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985516"/>
            <a:ext cx="2545004" cy="2286000"/>
          </a:xfrm>
          <a:prstGeom prst="roundRect">
            <a:avLst>
              <a:gd name="adj" fmla="val 4000"/>
            </a:avLst>
          </a:prstGeom>
          <a:solidFill>
            <a:srgbClr val="F2F5F9"/>
          </a:solidFill>
          <a:ln/>
        </p:spPr>
      </p:sp>
      <p:sp>
        <p:nvSpPr>
          <p:cNvPr id="7" name="Shape 4"/>
          <p:cNvSpPr/>
          <p:nvPr/>
        </p:nvSpPr>
        <p:spPr>
          <a:xfrm>
            <a:off x="1555966" y="3150108"/>
            <a:ext cx="566928" cy="566928"/>
          </a:xfrm>
          <a:prstGeom prst="ellipse">
            <a:avLst/>
          </a:prstGeom>
          <a:solidFill>
            <a:srgbClr val="133B6C"/>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3286171"/>
            <a:ext cx="294803" cy="294803"/>
          </a:xfrm>
          <a:prstGeom prst="rect">
            <a:avLst/>
          </a:prstGeom>
        </p:spPr>
      </p:pic>
      <p:sp>
        <p:nvSpPr>
          <p:cNvPr id="9" name="Text 5"/>
          <p:cNvSpPr txBox="1"/>
          <p:nvPr/>
        </p:nvSpPr>
        <p:spPr>
          <a:xfrm>
            <a:off x="676656"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985516"/>
            <a:ext cx="2545004" cy="2286000"/>
          </a:xfrm>
          <a:prstGeom prst="roundRect">
            <a:avLst>
              <a:gd name="adj" fmla="val 4000"/>
            </a:avLst>
          </a:prstGeom>
          <a:solidFill>
            <a:srgbClr val="F2F5F9"/>
          </a:solidFill>
          <a:ln/>
        </p:spPr>
      </p:sp>
      <p:sp>
        <p:nvSpPr>
          <p:cNvPr id="12" name="Shape 8"/>
          <p:cNvSpPr/>
          <p:nvPr/>
        </p:nvSpPr>
        <p:spPr>
          <a:xfrm>
            <a:off x="4393578" y="3150108"/>
            <a:ext cx="566928" cy="566928"/>
          </a:xfrm>
          <a:prstGeom prst="ellipse">
            <a:avLst/>
          </a:prstGeom>
          <a:solidFill>
            <a:srgbClr val="133B6C"/>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3286171"/>
            <a:ext cx="294803" cy="294803"/>
          </a:xfrm>
          <a:prstGeom prst="rect">
            <a:avLst/>
          </a:prstGeom>
        </p:spPr>
      </p:pic>
      <p:sp>
        <p:nvSpPr>
          <p:cNvPr id="14" name="Text 9"/>
          <p:cNvSpPr txBox="1"/>
          <p:nvPr/>
        </p:nvSpPr>
        <p:spPr>
          <a:xfrm>
            <a:off x="3514268"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985516"/>
            <a:ext cx="2545004" cy="2286000"/>
          </a:xfrm>
          <a:prstGeom prst="roundRect">
            <a:avLst>
              <a:gd name="adj" fmla="val 4000"/>
            </a:avLst>
          </a:prstGeom>
          <a:solidFill>
            <a:srgbClr val="F2F5F9"/>
          </a:solidFill>
          <a:ln/>
        </p:spPr>
      </p:sp>
      <p:sp>
        <p:nvSpPr>
          <p:cNvPr id="17" name="Shape 12"/>
          <p:cNvSpPr/>
          <p:nvPr/>
        </p:nvSpPr>
        <p:spPr>
          <a:xfrm>
            <a:off x="7231189" y="3150108"/>
            <a:ext cx="566928" cy="566928"/>
          </a:xfrm>
          <a:prstGeom prst="ellipse">
            <a:avLst/>
          </a:prstGeom>
          <a:solidFill>
            <a:srgbClr val="133B6C"/>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3286171"/>
            <a:ext cx="294803" cy="294803"/>
          </a:xfrm>
          <a:prstGeom prst="rect">
            <a:avLst/>
          </a:prstGeom>
        </p:spPr>
      </p:pic>
      <p:sp>
        <p:nvSpPr>
          <p:cNvPr id="19" name="Text 13"/>
          <p:cNvSpPr txBox="1"/>
          <p:nvPr/>
        </p:nvSpPr>
        <p:spPr>
          <a:xfrm>
            <a:off x="6351880"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985516"/>
            <a:ext cx="2545004" cy="2286000"/>
          </a:xfrm>
          <a:prstGeom prst="roundRect">
            <a:avLst>
              <a:gd name="adj" fmla="val 4000"/>
            </a:avLst>
          </a:prstGeom>
          <a:solidFill>
            <a:srgbClr val="F2F5F9"/>
          </a:solidFill>
          <a:ln/>
        </p:spPr>
      </p:sp>
      <p:sp>
        <p:nvSpPr>
          <p:cNvPr id="22" name="Shape 16"/>
          <p:cNvSpPr/>
          <p:nvPr/>
        </p:nvSpPr>
        <p:spPr>
          <a:xfrm>
            <a:off x="10068801" y="3150108"/>
            <a:ext cx="566928" cy="566928"/>
          </a:xfrm>
          <a:prstGeom prst="ellipse">
            <a:avLst/>
          </a:prstGeom>
          <a:solidFill>
            <a:srgbClr val="133B6C"/>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3286171"/>
            <a:ext cx="294803" cy="294803"/>
          </a:xfrm>
          <a:prstGeom prst="rect">
            <a:avLst/>
          </a:prstGeom>
        </p:spPr>
      </p:pic>
      <p:sp>
        <p:nvSpPr>
          <p:cNvPr id="24" name="Text 17"/>
          <p:cNvSpPr txBox="1"/>
          <p:nvPr/>
        </p:nvSpPr>
        <p:spPr>
          <a:xfrm>
            <a:off x="9189491"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EL RIESGO OPERATIVO NO SIEMPRE</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SE VE COMO UN GRAN PROBLEMA.</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A VECES COMIENZA CON</a:t>
            </a:r>
            <a:endParaRPr lang="en-US" sz="2700" dirty="0"/>
          </a:p>
          <a:p>
            <a:pPr algn="ctr" indent="0" marL="0">
              <a:lnSpc>
                <a:spcPct val="118000"/>
              </a:lnSpc>
              <a:buNone/>
            </a:pPr>
            <a:r>
              <a:rPr lang="en-US" sz="3000" b="1" dirty="0">
                <a:solidFill>
                  <a:srgbClr val="E3A73B"/>
                </a:solidFill>
                <a:latin typeface="Cambria" pitchFamily="34" charset="0"/>
                <a:ea typeface="Cambria" pitchFamily="34" charset="-122"/>
                <a:cs typeface="Cambria" pitchFamily="34" charset="-120"/>
              </a:rPr>
              <a:t>UN PEQUEÑO DESCUIDO.</a:t>
            </a:r>
            <a:endParaRPr lang="en-US" sz="27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04</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star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4</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CUIDEMOS LA REPUTACIÓN</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DE NUESTRA COOPERATIVA</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REPUTACIÓN = CONFIANZA. Y la confianza se construye todos los días.</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308860"/>
            <a:ext cx="2545004" cy="1691640"/>
          </a:xfrm>
          <a:prstGeom prst="roundRect">
            <a:avLst>
              <a:gd name="adj" fmla="val 5405"/>
            </a:avLst>
          </a:prstGeom>
          <a:solidFill>
            <a:srgbClr val="F2F5F9"/>
          </a:solidFill>
          <a:ln/>
        </p:spPr>
      </p:sp>
      <p:sp>
        <p:nvSpPr>
          <p:cNvPr id="7" name="Shape 4"/>
          <p:cNvSpPr/>
          <p:nvPr/>
        </p:nvSpPr>
        <p:spPr>
          <a:xfrm>
            <a:off x="1555966" y="2569464"/>
            <a:ext cx="566928" cy="566928"/>
          </a:xfrm>
          <a:prstGeom prst="ellipse">
            <a:avLst/>
          </a:prstGeom>
          <a:solidFill>
            <a:srgbClr val="133B6C"/>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705527"/>
            <a:ext cx="294803" cy="294803"/>
          </a:xfrm>
          <a:prstGeom prst="rect">
            <a:avLst/>
          </a:prstGeom>
        </p:spPr>
      </p:pic>
      <p:sp>
        <p:nvSpPr>
          <p:cNvPr id="9" name="Text 5"/>
          <p:cNvSpPr txBox="1"/>
          <p:nvPr/>
        </p:nvSpPr>
        <p:spPr>
          <a:xfrm>
            <a:off x="676656"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308860"/>
            <a:ext cx="2545004" cy="1691640"/>
          </a:xfrm>
          <a:prstGeom prst="roundRect">
            <a:avLst>
              <a:gd name="adj" fmla="val 5405"/>
            </a:avLst>
          </a:prstGeom>
          <a:solidFill>
            <a:srgbClr val="F2F5F9"/>
          </a:solidFill>
          <a:ln/>
        </p:spPr>
      </p:sp>
      <p:sp>
        <p:nvSpPr>
          <p:cNvPr id="11" name="Shape 7"/>
          <p:cNvSpPr/>
          <p:nvPr/>
        </p:nvSpPr>
        <p:spPr>
          <a:xfrm>
            <a:off x="4393578" y="2569464"/>
            <a:ext cx="566928" cy="566928"/>
          </a:xfrm>
          <a:prstGeom prst="ellipse">
            <a:avLst/>
          </a:prstGeom>
          <a:solidFill>
            <a:srgbClr val="133B6C"/>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705527"/>
            <a:ext cx="294803" cy="294803"/>
          </a:xfrm>
          <a:prstGeom prst="rect">
            <a:avLst/>
          </a:prstGeom>
        </p:spPr>
      </p:pic>
      <p:sp>
        <p:nvSpPr>
          <p:cNvPr id="13" name="Text 8"/>
          <p:cNvSpPr txBox="1"/>
          <p:nvPr/>
        </p:nvSpPr>
        <p:spPr>
          <a:xfrm>
            <a:off x="3514268"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308860"/>
            <a:ext cx="2545004" cy="1691640"/>
          </a:xfrm>
          <a:prstGeom prst="roundRect">
            <a:avLst>
              <a:gd name="adj" fmla="val 5405"/>
            </a:avLst>
          </a:prstGeom>
          <a:solidFill>
            <a:srgbClr val="F2F5F9"/>
          </a:solidFill>
          <a:ln/>
        </p:spPr>
      </p:sp>
      <p:sp>
        <p:nvSpPr>
          <p:cNvPr id="15" name="Shape 10"/>
          <p:cNvSpPr/>
          <p:nvPr/>
        </p:nvSpPr>
        <p:spPr>
          <a:xfrm>
            <a:off x="7231189" y="2569464"/>
            <a:ext cx="566928" cy="566928"/>
          </a:xfrm>
          <a:prstGeom prst="ellipse">
            <a:avLst/>
          </a:prstGeom>
          <a:solidFill>
            <a:srgbClr val="133B6C"/>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705527"/>
            <a:ext cx="294803" cy="294803"/>
          </a:xfrm>
          <a:prstGeom prst="rect">
            <a:avLst/>
          </a:prstGeom>
        </p:spPr>
      </p:pic>
      <p:sp>
        <p:nvSpPr>
          <p:cNvPr id="17" name="Text 11"/>
          <p:cNvSpPr txBox="1"/>
          <p:nvPr/>
        </p:nvSpPr>
        <p:spPr>
          <a:xfrm>
            <a:off x="6351880"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308860"/>
            <a:ext cx="2545004" cy="1691640"/>
          </a:xfrm>
          <a:prstGeom prst="roundRect">
            <a:avLst>
              <a:gd name="adj" fmla="val 5405"/>
            </a:avLst>
          </a:prstGeom>
          <a:solidFill>
            <a:srgbClr val="F2F5F9"/>
          </a:solidFill>
          <a:ln/>
        </p:spPr>
      </p:sp>
      <p:sp>
        <p:nvSpPr>
          <p:cNvPr id="19" name="Shape 13"/>
          <p:cNvSpPr/>
          <p:nvPr/>
        </p:nvSpPr>
        <p:spPr>
          <a:xfrm>
            <a:off x="10068801" y="2569464"/>
            <a:ext cx="566928" cy="566928"/>
          </a:xfrm>
          <a:prstGeom prst="ellipse">
            <a:avLst/>
          </a:prstGeom>
          <a:solidFill>
            <a:srgbClr val="133B6C"/>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705527"/>
            <a:ext cx="294803" cy="294803"/>
          </a:xfrm>
          <a:prstGeom prst="rect">
            <a:avLst/>
          </a:prstGeom>
        </p:spPr>
      </p:pic>
      <p:sp>
        <p:nvSpPr>
          <p:cNvPr id="21" name="Text 14"/>
          <p:cNvSpPr txBox="1"/>
          <p:nvPr/>
        </p:nvSpPr>
        <p:spPr>
          <a:xfrm>
            <a:off x="9189491"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4256532"/>
            <a:ext cx="2545004" cy="1691640"/>
          </a:xfrm>
          <a:prstGeom prst="roundRect">
            <a:avLst>
              <a:gd name="adj" fmla="val 5405"/>
            </a:avLst>
          </a:prstGeom>
          <a:solidFill>
            <a:srgbClr val="F2F5F9"/>
          </a:solidFill>
          <a:ln/>
        </p:spPr>
      </p:sp>
      <p:sp>
        <p:nvSpPr>
          <p:cNvPr id="23" name="Shape 16"/>
          <p:cNvSpPr/>
          <p:nvPr/>
        </p:nvSpPr>
        <p:spPr>
          <a:xfrm>
            <a:off x="1555966" y="4517136"/>
            <a:ext cx="566928" cy="566928"/>
          </a:xfrm>
          <a:prstGeom prst="ellipse">
            <a:avLst/>
          </a:prstGeom>
          <a:solidFill>
            <a:srgbClr val="133B6C"/>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653199"/>
            <a:ext cx="294803" cy="294803"/>
          </a:xfrm>
          <a:prstGeom prst="rect">
            <a:avLst/>
          </a:prstGeom>
        </p:spPr>
      </p:pic>
      <p:sp>
        <p:nvSpPr>
          <p:cNvPr id="25" name="Text 17"/>
          <p:cNvSpPr txBox="1"/>
          <p:nvPr/>
        </p:nvSpPr>
        <p:spPr>
          <a:xfrm>
            <a:off x="676656"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4256532"/>
            <a:ext cx="2545004" cy="1691640"/>
          </a:xfrm>
          <a:prstGeom prst="roundRect">
            <a:avLst>
              <a:gd name="adj" fmla="val 5405"/>
            </a:avLst>
          </a:prstGeom>
          <a:solidFill>
            <a:srgbClr val="F2F5F9"/>
          </a:solidFill>
          <a:ln/>
        </p:spPr>
      </p:sp>
      <p:sp>
        <p:nvSpPr>
          <p:cNvPr id="27" name="Shape 19"/>
          <p:cNvSpPr/>
          <p:nvPr/>
        </p:nvSpPr>
        <p:spPr>
          <a:xfrm>
            <a:off x="4393578" y="4517136"/>
            <a:ext cx="566928" cy="566928"/>
          </a:xfrm>
          <a:prstGeom prst="ellipse">
            <a:avLst/>
          </a:prstGeom>
          <a:solidFill>
            <a:srgbClr val="133B6C"/>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653199"/>
            <a:ext cx="294803" cy="294803"/>
          </a:xfrm>
          <a:prstGeom prst="rect">
            <a:avLst/>
          </a:prstGeom>
        </p:spPr>
      </p:pic>
      <p:sp>
        <p:nvSpPr>
          <p:cNvPr id="29" name="Text 20"/>
          <p:cNvSpPr txBox="1"/>
          <p:nvPr/>
        </p:nvSpPr>
        <p:spPr>
          <a:xfrm>
            <a:off x="3514268"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4256532"/>
            <a:ext cx="2545004" cy="1691640"/>
          </a:xfrm>
          <a:prstGeom prst="roundRect">
            <a:avLst>
              <a:gd name="adj" fmla="val 5405"/>
            </a:avLst>
          </a:prstGeom>
          <a:solidFill>
            <a:srgbClr val="F2F5F9"/>
          </a:solidFill>
          <a:ln/>
        </p:spPr>
      </p:sp>
      <p:sp>
        <p:nvSpPr>
          <p:cNvPr id="31" name="Shape 22"/>
          <p:cNvSpPr/>
          <p:nvPr/>
        </p:nvSpPr>
        <p:spPr>
          <a:xfrm>
            <a:off x="7231189" y="4517136"/>
            <a:ext cx="566928" cy="566928"/>
          </a:xfrm>
          <a:prstGeom prst="ellipse">
            <a:avLst/>
          </a:prstGeom>
          <a:solidFill>
            <a:srgbClr val="133B6C"/>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653199"/>
            <a:ext cx="294803" cy="294803"/>
          </a:xfrm>
          <a:prstGeom prst="rect">
            <a:avLst/>
          </a:prstGeom>
        </p:spPr>
      </p:pic>
      <p:sp>
        <p:nvSpPr>
          <p:cNvPr id="33" name="Text 23"/>
          <p:cNvSpPr txBox="1"/>
          <p:nvPr/>
        </p:nvSpPr>
        <p:spPr>
          <a:xfrm>
            <a:off x="6351880"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4256532"/>
            <a:ext cx="2545004" cy="1691640"/>
          </a:xfrm>
          <a:prstGeom prst="roundRect">
            <a:avLst>
              <a:gd name="adj" fmla="val 5405"/>
            </a:avLst>
          </a:prstGeom>
          <a:solidFill>
            <a:srgbClr val="F2F5F9"/>
          </a:solidFill>
          <a:ln/>
        </p:spPr>
      </p:sp>
      <p:sp>
        <p:nvSpPr>
          <p:cNvPr id="35" name="Shape 25"/>
          <p:cNvSpPr/>
          <p:nvPr/>
        </p:nvSpPr>
        <p:spPr>
          <a:xfrm>
            <a:off x="10068801" y="4517136"/>
            <a:ext cx="566928" cy="566928"/>
          </a:xfrm>
          <a:prstGeom prst="ellipse">
            <a:avLst/>
          </a:prstGeom>
          <a:solidFill>
            <a:srgbClr val="133B6C"/>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653199"/>
            <a:ext cx="294803" cy="294803"/>
          </a:xfrm>
          <a:prstGeom prst="rect">
            <a:avLst/>
          </a:prstGeom>
        </p:spPr>
      </p:pic>
      <p:sp>
        <p:nvSpPr>
          <p:cNvPr id="37" name="Text 26"/>
          <p:cNvSpPr txBox="1"/>
          <p:nvPr/>
        </p:nvSpPr>
        <p:spPr>
          <a:xfrm>
            <a:off x="9189491"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Text 2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UNA EXPERIENCIA PUEDE DURAR MINUTOS.</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UNA MALA REPUTACIÓN</a:t>
            </a:r>
            <a:endParaRPr lang="en-US" sz="2700" dirty="0"/>
          </a:p>
          <a:p>
            <a:pPr algn="ctr" indent="0" marL="0">
              <a:lnSpc>
                <a:spcPct val="118000"/>
              </a:lnSpc>
              <a:buNone/>
            </a:pPr>
            <a:r>
              <a:rPr lang="en-US" sz="3000" b="1" dirty="0">
                <a:solidFill>
                  <a:srgbClr val="E3A73B"/>
                </a:solidFill>
                <a:latin typeface="Cambria" pitchFamily="34" charset="0"/>
                <a:ea typeface="Cambria" pitchFamily="34" charset="-122"/>
                <a:cs typeface="Cambria" pitchFamily="34" charset="-120"/>
              </a:rPr>
              <a:t>PUEDE DURAR MUCHO MÁS.</a:t>
            </a:r>
            <a:endParaRPr lang="en-US" sz="27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UN ASOCIADO INSATISFECHO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E3A73B"/>
          </a:solidFill>
          <a:ln/>
        </p:spPr>
      </p:sp>
      <p:pic>
        <p:nvPicPr>
          <p:cNvPr id="7" name="Image 0" descr="/tmp/claude-0/-home-user-riesgo/0ff9ff46-1396-5bd8-b3ac-2280dfbbbc55/scratchpad/work/gen/icons/heart_crack_navy.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Ignorar la publicación; no es asunto mío.</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E9E5B"/>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Escuchar, brindar un buen servicio y canalizar el caso internamente.</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874520"/>
          </a:xfrm>
          <a:prstGeom prst="roundRect">
            <a:avLst>
              <a:gd name="adj" fmla="val 4878"/>
            </a:avLst>
          </a:prstGeom>
          <a:solidFill>
            <a:srgbClr val="F2F5F9"/>
          </a:solidFill>
          <a:ln/>
        </p:spPr>
      </p:sp>
      <p:sp>
        <p:nvSpPr>
          <p:cNvPr id="12" name="Text 8"/>
          <p:cNvSpPr txBox="1"/>
          <p:nvPr/>
        </p:nvSpPr>
        <p:spPr>
          <a:xfrm>
            <a:off x="886968" y="3886200"/>
            <a:ext cx="10417759" cy="150876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de manera adecuada protege tanto su confianza como la imagen institucional de la Cooperativa.</a:t>
            </a:r>
            <a:endParaRPr lang="en-US" sz="1350" dirty="0"/>
          </a:p>
        </p:txBody>
      </p:sp>
      <p:sp>
        <p:nvSpPr>
          <p:cNvPr id="13" name="Text 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1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05</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shield_warning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5</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FRAUDE Y ERRORES:</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APRENDAMOS A PREVENIRLOS</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Distinguirlos es el primer paso para prevenirlos.</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E3A73B"/>
          </a:solidFill>
          <a:ln/>
        </p:spPr>
      </p:sp>
      <p:sp>
        <p:nvSpPr>
          <p:cNvPr id="7" name="Shape 4"/>
          <p:cNvSpPr/>
          <p:nvPr/>
        </p:nvSpPr>
        <p:spPr>
          <a:xfrm>
            <a:off x="566928" y="2157984"/>
            <a:ext cx="5346040" cy="283464"/>
          </a:xfrm>
          <a:prstGeom prst="rect">
            <a:avLst/>
          </a:prstGeom>
          <a:solidFill>
            <a:srgbClr val="E3A73B"/>
          </a:solidFill>
          <a:ln/>
        </p:spPr>
      </p:sp>
      <p:sp>
        <p:nvSpPr>
          <p:cNvPr id="8" name="Shape 5"/>
          <p:cNvSpPr/>
          <p:nvPr/>
        </p:nvSpPr>
        <p:spPr>
          <a:xfrm>
            <a:off x="822960" y="2039112"/>
            <a:ext cx="457200" cy="457200"/>
          </a:xfrm>
          <a:prstGeom prst="ellipse">
            <a:avLst/>
          </a:prstGeom>
          <a:solidFill>
            <a:srgbClr val="E3A73B"/>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3A73B"/>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C0392B"/>
          </a:solidFill>
          <a:ln/>
        </p:spPr>
      </p:sp>
      <p:sp>
        <p:nvSpPr>
          <p:cNvPr id="15" name="Shape 11"/>
          <p:cNvSpPr/>
          <p:nvPr/>
        </p:nvSpPr>
        <p:spPr>
          <a:xfrm>
            <a:off x="6278728" y="2157984"/>
            <a:ext cx="5346040" cy="283464"/>
          </a:xfrm>
          <a:prstGeom prst="rect">
            <a:avLst/>
          </a:prstGeom>
          <a:solidFill>
            <a:srgbClr val="C0392B"/>
          </a:solidFill>
          <a:ln/>
        </p:spPr>
      </p:sp>
      <p:sp>
        <p:nvSpPr>
          <p:cNvPr id="16" name="Shape 12"/>
          <p:cNvSpPr/>
          <p:nvPr/>
        </p:nvSpPr>
        <p:spPr>
          <a:xfrm>
            <a:off x="6534760" y="2039112"/>
            <a:ext cx="457200" cy="457200"/>
          </a:xfrm>
          <a:prstGeom prst="ellipse">
            <a:avLst/>
          </a:prstGeom>
          <a:solidFill>
            <a:srgbClr val="C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C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E3A73B"/>
          </a:solidFill>
          <a:ln/>
        </p:spPr>
      </p:sp>
      <p:pic>
        <p:nvPicPr>
          <p:cNvPr id="23" name="Image 2" descr="/tmp/claude-0/-home-user-riesgo/0ff9ff46-1396-5bd8-b3ac-2280dfbbbc55/scratchpad/work/gen/icons/lightbulb_navy.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331720"/>
            <a:ext cx="11057839" cy="820674"/>
          </a:xfrm>
          <a:prstGeom prst="roundRect">
            <a:avLst>
              <a:gd name="adj" fmla="val 10028"/>
            </a:avLst>
          </a:prstGeom>
          <a:solidFill>
            <a:srgbClr val="F2F5F9"/>
          </a:solidFill>
          <a:ln/>
        </p:spPr>
      </p:sp>
      <p:sp>
        <p:nvSpPr>
          <p:cNvPr id="7" name="Shape 4"/>
          <p:cNvSpPr/>
          <p:nvPr/>
        </p:nvSpPr>
        <p:spPr>
          <a:xfrm>
            <a:off x="768096" y="2513457"/>
            <a:ext cx="457200" cy="457200"/>
          </a:xfrm>
          <a:prstGeom prst="ellipse">
            <a:avLst/>
          </a:prstGeom>
          <a:solidFill>
            <a:srgbClr val="133B6C"/>
          </a:solidFill>
          <a:ln/>
        </p:spPr>
      </p:sp>
      <p:sp>
        <p:nvSpPr>
          <p:cNvPr id="8" name="Text 5"/>
          <p:cNvSpPr txBox="1"/>
          <p:nvPr/>
        </p:nvSpPr>
        <p:spPr>
          <a:xfrm>
            <a:off x="768096" y="2504313"/>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331720"/>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50033"/>
            <a:ext cx="1078992" cy="384048"/>
          </a:xfrm>
          <a:prstGeom prst="roundRect">
            <a:avLst>
              <a:gd name="adj" fmla="val 50000"/>
            </a:avLst>
          </a:prstGeom>
          <a:solidFill>
            <a:srgbClr val="FFFFFF"/>
          </a:solidFill>
          <a:ln/>
        </p:spPr>
      </p:sp>
      <p:sp>
        <p:nvSpPr>
          <p:cNvPr id="11" name="Text 8"/>
          <p:cNvSpPr txBox="1"/>
          <p:nvPr/>
        </p:nvSpPr>
        <p:spPr>
          <a:xfrm>
            <a:off x="9293047" y="2550033"/>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50033"/>
            <a:ext cx="1078992" cy="384048"/>
          </a:xfrm>
          <a:prstGeom prst="roundRect">
            <a:avLst>
              <a:gd name="adj" fmla="val 50000"/>
            </a:avLst>
          </a:prstGeom>
          <a:solidFill>
            <a:srgbClr val="FFFFFF"/>
          </a:solidFill>
          <a:ln/>
        </p:spPr>
      </p:sp>
      <p:sp>
        <p:nvSpPr>
          <p:cNvPr id="13" name="Text 10"/>
          <p:cNvSpPr txBox="1"/>
          <p:nvPr/>
        </p:nvSpPr>
        <p:spPr>
          <a:xfrm>
            <a:off x="10500055" y="2550033"/>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316986"/>
            <a:ext cx="11057839" cy="820674"/>
          </a:xfrm>
          <a:prstGeom prst="roundRect">
            <a:avLst>
              <a:gd name="adj" fmla="val 10028"/>
            </a:avLst>
          </a:prstGeom>
          <a:solidFill>
            <a:srgbClr val="F2F5F9"/>
          </a:solidFill>
          <a:ln/>
        </p:spPr>
      </p:sp>
      <p:sp>
        <p:nvSpPr>
          <p:cNvPr id="15" name="Shape 12"/>
          <p:cNvSpPr/>
          <p:nvPr/>
        </p:nvSpPr>
        <p:spPr>
          <a:xfrm>
            <a:off x="768096" y="3498723"/>
            <a:ext cx="457200" cy="457200"/>
          </a:xfrm>
          <a:prstGeom prst="ellipse">
            <a:avLst/>
          </a:prstGeom>
          <a:solidFill>
            <a:srgbClr val="133B6C"/>
          </a:solidFill>
          <a:ln/>
        </p:spPr>
      </p:sp>
      <p:sp>
        <p:nvSpPr>
          <p:cNvPr id="16" name="Text 13"/>
          <p:cNvSpPr txBox="1"/>
          <p:nvPr/>
        </p:nvSpPr>
        <p:spPr>
          <a:xfrm>
            <a:off x="768096" y="3489579"/>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316986"/>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35299"/>
            <a:ext cx="1078992" cy="384048"/>
          </a:xfrm>
          <a:prstGeom prst="roundRect">
            <a:avLst>
              <a:gd name="adj" fmla="val 50000"/>
            </a:avLst>
          </a:prstGeom>
          <a:solidFill>
            <a:srgbClr val="FFFFFF"/>
          </a:solidFill>
          <a:ln/>
        </p:spPr>
      </p:sp>
      <p:sp>
        <p:nvSpPr>
          <p:cNvPr id="19" name="Text 16"/>
          <p:cNvSpPr txBox="1"/>
          <p:nvPr/>
        </p:nvSpPr>
        <p:spPr>
          <a:xfrm>
            <a:off x="9293047" y="3535299"/>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35299"/>
            <a:ext cx="1078992" cy="384048"/>
          </a:xfrm>
          <a:prstGeom prst="roundRect">
            <a:avLst>
              <a:gd name="adj" fmla="val 50000"/>
            </a:avLst>
          </a:prstGeom>
          <a:solidFill>
            <a:srgbClr val="FFFFFF"/>
          </a:solidFill>
          <a:ln/>
        </p:spPr>
      </p:sp>
      <p:sp>
        <p:nvSpPr>
          <p:cNvPr id="21" name="Text 18"/>
          <p:cNvSpPr txBox="1"/>
          <p:nvPr/>
        </p:nvSpPr>
        <p:spPr>
          <a:xfrm>
            <a:off x="10500055" y="3535299"/>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302252"/>
            <a:ext cx="11057839" cy="820674"/>
          </a:xfrm>
          <a:prstGeom prst="roundRect">
            <a:avLst>
              <a:gd name="adj" fmla="val 10028"/>
            </a:avLst>
          </a:prstGeom>
          <a:solidFill>
            <a:srgbClr val="F2F5F9"/>
          </a:solidFill>
          <a:ln/>
        </p:spPr>
      </p:sp>
      <p:sp>
        <p:nvSpPr>
          <p:cNvPr id="23" name="Shape 20"/>
          <p:cNvSpPr/>
          <p:nvPr/>
        </p:nvSpPr>
        <p:spPr>
          <a:xfrm>
            <a:off x="768096" y="4483989"/>
            <a:ext cx="457200" cy="457200"/>
          </a:xfrm>
          <a:prstGeom prst="ellipse">
            <a:avLst/>
          </a:prstGeom>
          <a:solidFill>
            <a:srgbClr val="133B6C"/>
          </a:solidFill>
          <a:ln/>
        </p:spPr>
      </p:sp>
      <p:sp>
        <p:nvSpPr>
          <p:cNvPr id="24" name="Text 21"/>
          <p:cNvSpPr txBox="1"/>
          <p:nvPr/>
        </p:nvSpPr>
        <p:spPr>
          <a:xfrm>
            <a:off x="768096" y="4474845"/>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302252"/>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20565"/>
            <a:ext cx="1078992" cy="384048"/>
          </a:xfrm>
          <a:prstGeom prst="roundRect">
            <a:avLst>
              <a:gd name="adj" fmla="val 50000"/>
            </a:avLst>
          </a:prstGeom>
          <a:solidFill>
            <a:srgbClr val="FFFFFF"/>
          </a:solidFill>
          <a:ln/>
        </p:spPr>
      </p:sp>
      <p:sp>
        <p:nvSpPr>
          <p:cNvPr id="27" name="Text 24"/>
          <p:cNvSpPr txBox="1"/>
          <p:nvPr/>
        </p:nvSpPr>
        <p:spPr>
          <a:xfrm>
            <a:off x="9293047" y="4520565"/>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20565"/>
            <a:ext cx="1078992" cy="384048"/>
          </a:xfrm>
          <a:prstGeom prst="roundRect">
            <a:avLst>
              <a:gd name="adj" fmla="val 50000"/>
            </a:avLst>
          </a:prstGeom>
          <a:solidFill>
            <a:srgbClr val="FFFFFF"/>
          </a:solidFill>
          <a:ln/>
        </p:spPr>
      </p:sp>
      <p:sp>
        <p:nvSpPr>
          <p:cNvPr id="29" name="Text 26"/>
          <p:cNvSpPr txBox="1"/>
          <p:nvPr/>
        </p:nvSpPr>
        <p:spPr>
          <a:xfrm>
            <a:off x="10500055" y="4520565"/>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87518"/>
            <a:ext cx="11057839" cy="820674"/>
          </a:xfrm>
          <a:prstGeom prst="roundRect">
            <a:avLst>
              <a:gd name="adj" fmla="val 10028"/>
            </a:avLst>
          </a:prstGeom>
          <a:solidFill>
            <a:srgbClr val="F2F5F9"/>
          </a:solidFill>
          <a:ln/>
        </p:spPr>
      </p:sp>
      <p:sp>
        <p:nvSpPr>
          <p:cNvPr id="31" name="Shape 28"/>
          <p:cNvSpPr/>
          <p:nvPr/>
        </p:nvSpPr>
        <p:spPr>
          <a:xfrm>
            <a:off x="768096" y="5469255"/>
            <a:ext cx="457200" cy="457200"/>
          </a:xfrm>
          <a:prstGeom prst="ellipse">
            <a:avLst/>
          </a:prstGeom>
          <a:solidFill>
            <a:srgbClr val="133B6C"/>
          </a:solidFill>
          <a:ln/>
        </p:spPr>
      </p:sp>
      <p:sp>
        <p:nvSpPr>
          <p:cNvPr id="32" name="Text 29"/>
          <p:cNvSpPr txBox="1"/>
          <p:nvPr/>
        </p:nvSpPr>
        <p:spPr>
          <a:xfrm>
            <a:off x="768096" y="5460111"/>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87518"/>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505831"/>
            <a:ext cx="1078992" cy="384048"/>
          </a:xfrm>
          <a:prstGeom prst="roundRect">
            <a:avLst>
              <a:gd name="adj" fmla="val 50000"/>
            </a:avLst>
          </a:prstGeom>
          <a:solidFill>
            <a:srgbClr val="FFFFFF"/>
          </a:solidFill>
          <a:ln/>
        </p:spPr>
      </p:sp>
      <p:sp>
        <p:nvSpPr>
          <p:cNvPr id="35" name="Text 32"/>
          <p:cNvSpPr txBox="1"/>
          <p:nvPr/>
        </p:nvSpPr>
        <p:spPr>
          <a:xfrm>
            <a:off x="9293047" y="5505831"/>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505831"/>
            <a:ext cx="1078992" cy="384048"/>
          </a:xfrm>
          <a:prstGeom prst="roundRect">
            <a:avLst>
              <a:gd name="adj" fmla="val 50000"/>
            </a:avLst>
          </a:prstGeom>
          <a:solidFill>
            <a:srgbClr val="FFFFFF"/>
          </a:solidFill>
          <a:ln/>
        </p:spPr>
      </p:sp>
      <p:sp>
        <p:nvSpPr>
          <p:cNvPr id="37" name="Text 34"/>
          <p:cNvSpPr txBox="1"/>
          <p:nvPr/>
        </p:nvSpPr>
        <p:spPr>
          <a:xfrm>
            <a:off x="10500055" y="5505831"/>
            <a:ext cx="1078992" cy="384048"/>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880110"/>
          </a:xfrm>
          <a:prstGeom prst="roundRect">
            <a:avLst>
              <a:gd name="adj" fmla="val 9351"/>
            </a:avLst>
          </a:prstGeom>
          <a:solidFill>
            <a:srgbClr val="F2F5F9"/>
          </a:solidFill>
          <a:ln/>
        </p:spPr>
      </p:sp>
      <p:sp>
        <p:nvSpPr>
          <p:cNvPr id="6" name="Text 3"/>
          <p:cNvSpPr txBox="1"/>
          <p:nvPr/>
        </p:nvSpPr>
        <p:spPr>
          <a:xfrm>
            <a:off x="822960" y="2148840"/>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378583"/>
            <a:ext cx="1463040" cy="420624"/>
          </a:xfrm>
          <a:prstGeom prst="roundRect">
            <a:avLst>
              <a:gd name="adj" fmla="val 50000"/>
            </a:avLst>
          </a:prstGeom>
          <a:solidFill>
            <a:srgbClr val="E3A73B"/>
          </a:solidFill>
          <a:ln/>
        </p:spPr>
      </p:sp>
      <p:sp>
        <p:nvSpPr>
          <p:cNvPr id="8" name="Text 5"/>
          <p:cNvSpPr txBox="1"/>
          <p:nvPr/>
        </p:nvSpPr>
        <p:spPr>
          <a:xfrm>
            <a:off x="9887407" y="2378583"/>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3175254"/>
            <a:ext cx="11057839" cy="880110"/>
          </a:xfrm>
          <a:prstGeom prst="roundRect">
            <a:avLst>
              <a:gd name="adj" fmla="val 9351"/>
            </a:avLst>
          </a:prstGeom>
          <a:solidFill>
            <a:srgbClr val="F2F5F9"/>
          </a:solidFill>
          <a:ln/>
        </p:spPr>
      </p:sp>
      <p:sp>
        <p:nvSpPr>
          <p:cNvPr id="10" name="Text 7"/>
          <p:cNvSpPr txBox="1"/>
          <p:nvPr/>
        </p:nvSpPr>
        <p:spPr>
          <a:xfrm>
            <a:off x="822960" y="3175254"/>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404997"/>
            <a:ext cx="1463040" cy="420624"/>
          </a:xfrm>
          <a:prstGeom prst="roundRect">
            <a:avLst>
              <a:gd name="adj" fmla="val 50000"/>
            </a:avLst>
          </a:prstGeom>
          <a:solidFill>
            <a:srgbClr val="C0392B"/>
          </a:solidFill>
          <a:ln/>
        </p:spPr>
      </p:sp>
      <p:sp>
        <p:nvSpPr>
          <p:cNvPr id="12" name="Text 9"/>
          <p:cNvSpPr txBox="1"/>
          <p:nvPr/>
        </p:nvSpPr>
        <p:spPr>
          <a:xfrm>
            <a:off x="9887407" y="340499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4201668"/>
            <a:ext cx="11057839" cy="880110"/>
          </a:xfrm>
          <a:prstGeom prst="roundRect">
            <a:avLst>
              <a:gd name="adj" fmla="val 9351"/>
            </a:avLst>
          </a:prstGeom>
          <a:solidFill>
            <a:srgbClr val="F2F5F9"/>
          </a:solidFill>
          <a:ln/>
        </p:spPr>
      </p:sp>
      <p:sp>
        <p:nvSpPr>
          <p:cNvPr id="14" name="Text 11"/>
          <p:cNvSpPr txBox="1"/>
          <p:nvPr/>
        </p:nvSpPr>
        <p:spPr>
          <a:xfrm>
            <a:off x="822960" y="4201668"/>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4431411"/>
            <a:ext cx="1463040" cy="420624"/>
          </a:xfrm>
          <a:prstGeom prst="roundRect">
            <a:avLst>
              <a:gd name="adj" fmla="val 50000"/>
            </a:avLst>
          </a:prstGeom>
          <a:solidFill>
            <a:srgbClr val="E3A73B"/>
          </a:solidFill>
          <a:ln/>
        </p:spPr>
      </p:sp>
      <p:sp>
        <p:nvSpPr>
          <p:cNvPr id="16" name="Text 13"/>
          <p:cNvSpPr txBox="1"/>
          <p:nvPr/>
        </p:nvSpPr>
        <p:spPr>
          <a:xfrm>
            <a:off x="9887407" y="443141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5228082"/>
            <a:ext cx="11057839" cy="880110"/>
          </a:xfrm>
          <a:prstGeom prst="roundRect">
            <a:avLst>
              <a:gd name="adj" fmla="val 9351"/>
            </a:avLst>
          </a:prstGeom>
          <a:solidFill>
            <a:srgbClr val="F2F5F9"/>
          </a:solidFill>
          <a:ln/>
        </p:spPr>
      </p:sp>
      <p:sp>
        <p:nvSpPr>
          <p:cNvPr id="18" name="Text 15"/>
          <p:cNvSpPr txBox="1"/>
          <p:nvPr/>
        </p:nvSpPr>
        <p:spPr>
          <a:xfrm>
            <a:off x="822960" y="5228082"/>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5457825"/>
            <a:ext cx="1463040" cy="420624"/>
          </a:xfrm>
          <a:prstGeom prst="roundRect">
            <a:avLst>
              <a:gd name="adj" fmla="val 50000"/>
            </a:avLst>
          </a:prstGeom>
          <a:solidFill>
            <a:srgbClr val="C0392B"/>
          </a:solidFill>
          <a:ln/>
        </p:spPr>
      </p:sp>
      <p:sp>
        <p:nvSpPr>
          <p:cNvPr id="20" name="Text 17"/>
          <p:cNvSpPr txBox="1"/>
          <p:nvPr/>
        </p:nvSpPr>
        <p:spPr>
          <a:xfrm>
            <a:off x="9887407" y="545782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C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C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E9E5B"/>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E9E5B"/>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06</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bank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6</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EL RIESGO CREDITICIO NO ES SOLO</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RESPONSABILIDAD DE CRÉDITOS</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El crédito es un proceso. El riesgo puede aparecer en cualquier etapa.</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514600"/>
            <a:ext cx="868680" cy="868680"/>
          </a:xfrm>
          <a:prstGeom prst="ellipse">
            <a:avLst/>
          </a:prstGeom>
          <a:solidFill>
            <a:srgbClr val="133B6C"/>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731770"/>
            <a:ext cx="434340" cy="434340"/>
          </a:xfrm>
          <a:prstGeom prst="rect">
            <a:avLst/>
          </a:prstGeom>
        </p:spPr>
      </p:pic>
      <p:sp>
        <p:nvSpPr>
          <p:cNvPr id="7" name="Text 3"/>
          <p:cNvSpPr txBox="1"/>
          <p:nvPr/>
        </p:nvSpPr>
        <p:spPr>
          <a:xfrm>
            <a:off x="62179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802636"/>
            <a:ext cx="292608" cy="292608"/>
          </a:xfrm>
          <a:prstGeom prst="rect">
            <a:avLst/>
          </a:prstGeom>
        </p:spPr>
      </p:pic>
      <p:sp>
        <p:nvSpPr>
          <p:cNvPr id="9" name="Shape 4"/>
          <p:cNvSpPr/>
          <p:nvPr/>
        </p:nvSpPr>
        <p:spPr>
          <a:xfrm>
            <a:off x="4279278" y="2514600"/>
            <a:ext cx="868680" cy="868680"/>
          </a:xfrm>
          <a:prstGeom prst="ellipse">
            <a:avLst/>
          </a:prstGeom>
          <a:solidFill>
            <a:srgbClr val="133B6C"/>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731770"/>
            <a:ext cx="434340" cy="434340"/>
          </a:xfrm>
          <a:prstGeom prst="rect">
            <a:avLst/>
          </a:prstGeom>
        </p:spPr>
      </p:pic>
      <p:sp>
        <p:nvSpPr>
          <p:cNvPr id="11" name="Text 5"/>
          <p:cNvSpPr txBox="1"/>
          <p:nvPr/>
        </p:nvSpPr>
        <p:spPr>
          <a:xfrm>
            <a:off x="338625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802636"/>
            <a:ext cx="292608" cy="292608"/>
          </a:xfrm>
          <a:prstGeom prst="rect">
            <a:avLst/>
          </a:prstGeom>
        </p:spPr>
      </p:pic>
      <p:sp>
        <p:nvSpPr>
          <p:cNvPr id="13" name="Shape 6"/>
          <p:cNvSpPr/>
          <p:nvPr/>
        </p:nvSpPr>
        <p:spPr>
          <a:xfrm>
            <a:off x="7043738" y="2514600"/>
            <a:ext cx="868680" cy="868680"/>
          </a:xfrm>
          <a:prstGeom prst="ellipse">
            <a:avLst/>
          </a:prstGeom>
          <a:solidFill>
            <a:srgbClr val="133B6C"/>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731770"/>
            <a:ext cx="434340" cy="434340"/>
          </a:xfrm>
          <a:prstGeom prst="rect">
            <a:avLst/>
          </a:prstGeom>
        </p:spPr>
      </p:pic>
      <p:sp>
        <p:nvSpPr>
          <p:cNvPr id="15" name="Text 7"/>
          <p:cNvSpPr txBox="1"/>
          <p:nvPr/>
        </p:nvSpPr>
        <p:spPr>
          <a:xfrm>
            <a:off x="615071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802636"/>
            <a:ext cx="292608" cy="292608"/>
          </a:xfrm>
          <a:prstGeom prst="rect">
            <a:avLst/>
          </a:prstGeom>
        </p:spPr>
      </p:pic>
      <p:sp>
        <p:nvSpPr>
          <p:cNvPr id="17" name="Shape 8"/>
          <p:cNvSpPr/>
          <p:nvPr/>
        </p:nvSpPr>
        <p:spPr>
          <a:xfrm>
            <a:off x="9808197" y="2514600"/>
            <a:ext cx="868680" cy="868680"/>
          </a:xfrm>
          <a:prstGeom prst="ellipse">
            <a:avLst/>
          </a:prstGeom>
          <a:solidFill>
            <a:srgbClr val="133B6C"/>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731770"/>
            <a:ext cx="434340" cy="434340"/>
          </a:xfrm>
          <a:prstGeom prst="rect">
            <a:avLst/>
          </a:prstGeom>
        </p:spPr>
      </p:pic>
      <p:sp>
        <p:nvSpPr>
          <p:cNvPr id="19" name="Text 9"/>
          <p:cNvSpPr txBox="1"/>
          <p:nvPr/>
        </p:nvSpPr>
        <p:spPr>
          <a:xfrm>
            <a:off x="8915171"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913632"/>
            <a:ext cx="292608" cy="292608"/>
          </a:xfrm>
          <a:prstGeom prst="rect">
            <a:avLst/>
          </a:prstGeom>
        </p:spPr>
      </p:pic>
      <p:sp>
        <p:nvSpPr>
          <p:cNvPr id="21" name="Shape 10"/>
          <p:cNvSpPr/>
          <p:nvPr/>
        </p:nvSpPr>
        <p:spPr>
          <a:xfrm>
            <a:off x="1514818" y="4242816"/>
            <a:ext cx="868680" cy="868680"/>
          </a:xfrm>
          <a:prstGeom prst="ellipse">
            <a:avLst/>
          </a:prstGeom>
          <a:solidFill>
            <a:srgbClr val="133B6C"/>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459986"/>
            <a:ext cx="434340" cy="434340"/>
          </a:xfrm>
          <a:prstGeom prst="rect">
            <a:avLst/>
          </a:prstGeom>
        </p:spPr>
      </p:pic>
      <p:sp>
        <p:nvSpPr>
          <p:cNvPr id="23" name="Text 11"/>
          <p:cNvSpPr txBox="1"/>
          <p:nvPr/>
        </p:nvSpPr>
        <p:spPr>
          <a:xfrm>
            <a:off x="62179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530852"/>
            <a:ext cx="292608" cy="292608"/>
          </a:xfrm>
          <a:prstGeom prst="rect">
            <a:avLst/>
          </a:prstGeom>
        </p:spPr>
      </p:pic>
      <p:sp>
        <p:nvSpPr>
          <p:cNvPr id="25" name="Shape 12"/>
          <p:cNvSpPr/>
          <p:nvPr/>
        </p:nvSpPr>
        <p:spPr>
          <a:xfrm>
            <a:off x="4279278" y="4242816"/>
            <a:ext cx="868680" cy="868680"/>
          </a:xfrm>
          <a:prstGeom prst="ellipse">
            <a:avLst/>
          </a:prstGeom>
          <a:solidFill>
            <a:srgbClr val="133B6C"/>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459986"/>
            <a:ext cx="434340" cy="434340"/>
          </a:xfrm>
          <a:prstGeom prst="rect">
            <a:avLst/>
          </a:prstGeom>
        </p:spPr>
      </p:pic>
      <p:sp>
        <p:nvSpPr>
          <p:cNvPr id="27" name="Text 13"/>
          <p:cNvSpPr txBox="1"/>
          <p:nvPr/>
        </p:nvSpPr>
        <p:spPr>
          <a:xfrm>
            <a:off x="338625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530852"/>
            <a:ext cx="292608" cy="292608"/>
          </a:xfrm>
          <a:prstGeom prst="rect">
            <a:avLst/>
          </a:prstGeom>
        </p:spPr>
      </p:pic>
      <p:sp>
        <p:nvSpPr>
          <p:cNvPr id="29" name="Shape 14"/>
          <p:cNvSpPr/>
          <p:nvPr/>
        </p:nvSpPr>
        <p:spPr>
          <a:xfrm>
            <a:off x="7043738" y="4242816"/>
            <a:ext cx="868680" cy="868680"/>
          </a:xfrm>
          <a:prstGeom prst="ellipse">
            <a:avLst/>
          </a:prstGeom>
          <a:solidFill>
            <a:srgbClr val="133B6C"/>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459986"/>
            <a:ext cx="434340" cy="434340"/>
          </a:xfrm>
          <a:prstGeom prst="rect">
            <a:avLst/>
          </a:prstGeom>
        </p:spPr>
      </p:pic>
      <p:sp>
        <p:nvSpPr>
          <p:cNvPr id="31" name="Text 15"/>
          <p:cNvSpPr txBox="1"/>
          <p:nvPr/>
        </p:nvSpPr>
        <p:spPr>
          <a:xfrm>
            <a:off x="615071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530852"/>
            <a:ext cx="292608" cy="292608"/>
          </a:xfrm>
          <a:prstGeom prst="rect">
            <a:avLst/>
          </a:prstGeom>
        </p:spPr>
      </p:pic>
      <p:sp>
        <p:nvSpPr>
          <p:cNvPr id="33" name="Shape 16"/>
          <p:cNvSpPr/>
          <p:nvPr/>
        </p:nvSpPr>
        <p:spPr>
          <a:xfrm>
            <a:off x="9808197" y="4242816"/>
            <a:ext cx="868680" cy="868680"/>
          </a:xfrm>
          <a:prstGeom prst="ellipse">
            <a:avLst/>
          </a:prstGeom>
          <a:solidFill>
            <a:srgbClr val="133B6C"/>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459986"/>
            <a:ext cx="434340" cy="434340"/>
          </a:xfrm>
          <a:prstGeom prst="rect">
            <a:avLst/>
          </a:prstGeom>
        </p:spPr>
      </p:pic>
      <p:sp>
        <p:nvSpPr>
          <p:cNvPr id="35" name="Text 17"/>
          <p:cNvSpPr txBox="1"/>
          <p:nvPr/>
        </p:nvSpPr>
        <p:spPr>
          <a:xfrm>
            <a:off x="8915171"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1965960"/>
            <a:ext cx="10332720" cy="365760"/>
          </a:xfrm>
          <a:prstGeom prst="rect">
            <a:avLst/>
          </a:prstGeom>
          <a:noFill/>
          <a:ln/>
        </p:spPr>
        <p:txBody>
          <a:bodyPr wrap="square" lIns="0" tIns="0" rIns="0" bIns="0" rtlCol="0" anchor="ctr"/>
          <a:lstStyle/>
          <a:p>
            <a:pPr algn="ctr" indent="0" marL="0">
              <a:buNone/>
            </a:pPr>
            <a:r>
              <a:rPr lang="en-US" sz="1400" b="1" spc="300" kern="0" dirty="0">
                <a:solidFill>
                  <a:srgbClr val="E3A73B"/>
                </a:solidFill>
                <a:latin typeface="Calibri" pitchFamily="34" charset="0"/>
                <a:ea typeface="Calibri" pitchFamily="34" charset="-122"/>
                <a:cs typeface="Calibri" pitchFamily="34" charset="-120"/>
              </a:rPr>
              <a:t>¿EN QUÉ PARTE DEL PROCESO PUEDE APARECER UN RIESGO?</a:t>
            </a:r>
            <a:endParaRPr lang="en-US" sz="1400" dirty="0"/>
          </a:p>
        </p:txBody>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4400" b="1" dirty="0">
                <a:solidFill>
                  <a:srgbClr val="E3A73B"/>
                </a:solidFill>
                <a:latin typeface="Cambria" pitchFamily="34" charset="0"/>
                <a:ea typeface="Cambria" pitchFamily="34" charset="-122"/>
                <a:cs typeface="Cambria" pitchFamily="34" charset="-120"/>
              </a:rPr>
              <a:t>EN TODAS.</a:t>
            </a:r>
            <a:endParaRPr lang="en-US" sz="4400" dirty="0"/>
          </a:p>
        </p:txBody>
      </p:sp>
      <p:sp>
        <p:nvSpPr>
          <p:cNvPr id="6" name="Text 3"/>
          <p:cNvSpPr txBox="1"/>
          <p:nvPr/>
        </p:nvSpPr>
        <p:spPr>
          <a:xfrm>
            <a:off x="1463040" y="5257800"/>
            <a:ext cx="9262872" cy="548640"/>
          </a:xfrm>
          <a:prstGeom prst="rect">
            <a:avLst/>
          </a:prstGeom>
          <a:noFill/>
          <a:ln/>
        </p:spPr>
        <p:txBody>
          <a:bodyPr wrap="square" lIns="0" tIns="0" rIns="0" bIns="0" rtlCol="0" anchor="ctr"/>
          <a:lstStyle/>
          <a:p>
            <a:pPr algn="ctr" indent="0" marL="0">
              <a:buNone/>
            </a:pPr>
            <a:r>
              <a:rPr lang="en-US" sz="1400" i="1" dirty="0">
                <a:solidFill>
                  <a:srgbClr val="BFD0E8"/>
                </a:solidFill>
                <a:latin typeface="Calibri" pitchFamily="34" charset="0"/>
                <a:ea typeface="Calibri" pitchFamily="34" charset="-122"/>
                <a:cs typeface="Calibri" pitchFamily="34" charset="-120"/>
              </a:rPr>
              <a:t>Un dato mal verificado, un documento incompleto o una alerta ignorada puede aparecer en cualquier etapa del proceso.</a:t>
            </a:r>
            <a:endParaRPr lang="en-US" sz="1400" dirty="0"/>
          </a:p>
        </p:txBody>
      </p:sp>
      <p:sp>
        <p:nvSpPr>
          <p:cNvPr id="7" name="Text 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8" name="Text 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133B6C"/>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133B6C"/>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133B6C"/>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07</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handshake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7</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¿QUIÉN ES RESPONSABLE DE</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GESTIONAR LOS RIESGOS?</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Gestionar riesgos es parte de nuestro trabajo.</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flipV="1">
            <a:off x="6095848" y="2304288"/>
            <a:ext cx="9144" cy="1600200"/>
          </a:xfrm>
          <a:prstGeom prst="line">
            <a:avLst/>
          </a:prstGeom>
          <a:noFill/>
          <a:ln w="19050">
            <a:solidFill>
              <a:srgbClr val="E3E8EF"/>
            </a:solidFill>
            <a:prstDash val="solid"/>
          </a:ln>
        </p:spPr>
      </p:sp>
      <p:sp>
        <p:nvSpPr>
          <p:cNvPr id="6" name="Shape 3"/>
          <p:cNvSpPr/>
          <p:nvPr/>
        </p:nvSpPr>
        <p:spPr>
          <a:xfrm flipV="1">
            <a:off x="6095848" y="3409999"/>
            <a:ext cx="1521881" cy="494489"/>
          </a:xfrm>
          <a:prstGeom prst="line">
            <a:avLst/>
          </a:prstGeom>
          <a:noFill/>
          <a:ln w="19050">
            <a:solidFill>
              <a:srgbClr val="E3E8EF"/>
            </a:solidFill>
            <a:prstDash val="solid"/>
          </a:ln>
        </p:spPr>
      </p:sp>
      <p:sp>
        <p:nvSpPr>
          <p:cNvPr id="7" name="Shape 4"/>
          <p:cNvSpPr/>
          <p:nvPr/>
        </p:nvSpPr>
        <p:spPr>
          <a:xfrm>
            <a:off x="6095848" y="3904488"/>
            <a:ext cx="940574" cy="1294589"/>
          </a:xfrm>
          <a:prstGeom prst="line">
            <a:avLst/>
          </a:prstGeom>
          <a:noFill/>
          <a:ln w="19050">
            <a:solidFill>
              <a:srgbClr val="E3E8EF"/>
            </a:solidFill>
            <a:prstDash val="solid"/>
          </a:ln>
        </p:spPr>
      </p:sp>
      <p:sp>
        <p:nvSpPr>
          <p:cNvPr id="8" name="Shape 5"/>
          <p:cNvSpPr/>
          <p:nvPr/>
        </p:nvSpPr>
        <p:spPr>
          <a:xfrm flipH="1">
            <a:off x="5155274" y="3904488"/>
            <a:ext cx="940574" cy="1294589"/>
          </a:xfrm>
          <a:prstGeom prst="line">
            <a:avLst/>
          </a:prstGeom>
          <a:noFill/>
          <a:ln w="19050">
            <a:solidFill>
              <a:srgbClr val="E3E8EF"/>
            </a:solidFill>
            <a:prstDash val="solid"/>
          </a:ln>
        </p:spPr>
      </p:sp>
      <p:sp>
        <p:nvSpPr>
          <p:cNvPr id="9" name="Shape 6"/>
          <p:cNvSpPr/>
          <p:nvPr/>
        </p:nvSpPr>
        <p:spPr>
          <a:xfrm flipH="1" flipV="1">
            <a:off x="4573967" y="3409999"/>
            <a:ext cx="1521881" cy="494489"/>
          </a:xfrm>
          <a:prstGeom prst="line">
            <a:avLst/>
          </a:prstGeom>
          <a:noFill/>
          <a:ln w="19050">
            <a:solidFill>
              <a:srgbClr val="E3E8EF"/>
            </a:solidFill>
            <a:prstDash val="solid"/>
          </a:ln>
        </p:spPr>
      </p:sp>
      <p:sp>
        <p:nvSpPr>
          <p:cNvPr id="10" name="Shape 7"/>
          <p:cNvSpPr/>
          <p:nvPr/>
        </p:nvSpPr>
        <p:spPr>
          <a:xfrm>
            <a:off x="5707228" y="1915668"/>
            <a:ext cx="777240" cy="777240"/>
          </a:xfrm>
          <a:prstGeom prst="ellipse">
            <a:avLst/>
          </a:prstGeom>
          <a:solidFill>
            <a:srgbClr val="133B6C"/>
          </a:solidFill>
          <a:ln/>
        </p:spPr>
      </p:sp>
      <p:pic>
        <p:nvPicPr>
          <p:cNvPr id="11" name="Image 0" descr="/tmp/claude-0/-home-user-riesgo/0ff9ff46-1396-5bd8-b3ac-2280dfbbbc55/scratchpad/work/gen/icons/person_white.png">    </p:cNvPr>
          <p:cNvPicPr>
            <a:picLocks noChangeAspect="1"/>
          </p:cNvPicPr>
          <p:nvPr/>
        </p:nvPicPr>
        <p:blipFill>
          <a:blip r:embed="rId1"/>
          <a:stretch>
            <a:fillRect/>
          </a:stretch>
        </p:blipFill>
        <p:spPr>
          <a:xfrm>
            <a:off x="5901538" y="2109978"/>
            <a:ext cx="388620" cy="388620"/>
          </a:xfrm>
          <a:prstGeom prst="rect">
            <a:avLst/>
          </a:prstGeom>
        </p:spPr>
      </p:pic>
      <p:sp>
        <p:nvSpPr>
          <p:cNvPr id="12" name="Text 8"/>
          <p:cNvSpPr txBox="1"/>
          <p:nvPr/>
        </p:nvSpPr>
        <p:spPr>
          <a:xfrm>
            <a:off x="5227168" y="2775204"/>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3" name="Shape 9"/>
          <p:cNvSpPr/>
          <p:nvPr/>
        </p:nvSpPr>
        <p:spPr>
          <a:xfrm>
            <a:off x="7229108" y="3021379"/>
            <a:ext cx="777240" cy="777240"/>
          </a:xfrm>
          <a:prstGeom prst="ellipse">
            <a:avLst/>
          </a:prstGeom>
          <a:solidFill>
            <a:srgbClr val="133B6C"/>
          </a:solidFill>
          <a:ln/>
        </p:spPr>
      </p:sp>
      <p:pic>
        <p:nvPicPr>
          <p:cNvPr id="14" name="Image 1" descr="/tmp/claude-0/-home-user-riesgo/0ff9ff46-1396-5bd8-b3ac-2280dfbbbc55/scratchpad/work/gen/icons/briefcase_white.png">    </p:cNvPr>
          <p:cNvPicPr>
            <a:picLocks noChangeAspect="1"/>
          </p:cNvPicPr>
          <p:nvPr/>
        </p:nvPicPr>
        <p:blipFill>
          <a:blip r:embed="rId2"/>
          <a:stretch>
            <a:fillRect/>
          </a:stretch>
        </p:blipFill>
        <p:spPr>
          <a:xfrm>
            <a:off x="7423418" y="3215689"/>
            <a:ext cx="388620" cy="388620"/>
          </a:xfrm>
          <a:prstGeom prst="rect">
            <a:avLst/>
          </a:prstGeom>
        </p:spPr>
      </p:pic>
      <p:sp>
        <p:nvSpPr>
          <p:cNvPr id="15" name="Text 10"/>
          <p:cNvSpPr txBox="1"/>
          <p:nvPr/>
        </p:nvSpPr>
        <p:spPr>
          <a:xfrm>
            <a:off x="6749048"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6" name="Shape 11"/>
          <p:cNvSpPr/>
          <p:nvPr/>
        </p:nvSpPr>
        <p:spPr>
          <a:xfrm>
            <a:off x="6647802" y="4810457"/>
            <a:ext cx="777240" cy="777240"/>
          </a:xfrm>
          <a:prstGeom prst="ellipse">
            <a:avLst/>
          </a:prstGeom>
          <a:solidFill>
            <a:srgbClr val="133B6C"/>
          </a:solidFill>
          <a:ln/>
        </p:spPr>
      </p:sp>
      <p:pic>
        <p:nvPicPr>
          <p:cNvPr id="17" name="Image 2" descr="/tmp/claude-0/-home-user-riesgo/0ff9ff46-1396-5bd8-b3ac-2280dfbbbc55/scratchpad/work/gen/icons/crown_white.png">    </p:cNvPr>
          <p:cNvPicPr>
            <a:picLocks noChangeAspect="1"/>
          </p:cNvPicPr>
          <p:nvPr/>
        </p:nvPicPr>
        <p:blipFill>
          <a:blip r:embed="rId3"/>
          <a:stretch>
            <a:fillRect/>
          </a:stretch>
        </p:blipFill>
        <p:spPr>
          <a:xfrm>
            <a:off x="6842112" y="5004767"/>
            <a:ext cx="388620" cy="388620"/>
          </a:xfrm>
          <a:prstGeom prst="rect">
            <a:avLst/>
          </a:prstGeom>
        </p:spPr>
      </p:pic>
      <p:sp>
        <p:nvSpPr>
          <p:cNvPr id="18" name="Text 12"/>
          <p:cNvSpPr txBox="1"/>
          <p:nvPr/>
        </p:nvSpPr>
        <p:spPr>
          <a:xfrm>
            <a:off x="6167742"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9" name="Shape 13"/>
          <p:cNvSpPr/>
          <p:nvPr/>
        </p:nvSpPr>
        <p:spPr>
          <a:xfrm>
            <a:off x="4766654" y="4810457"/>
            <a:ext cx="777240" cy="777240"/>
          </a:xfrm>
          <a:prstGeom prst="ellipse">
            <a:avLst/>
          </a:prstGeom>
          <a:solidFill>
            <a:srgbClr val="133B6C"/>
          </a:solidFill>
          <a:ln/>
        </p:spPr>
      </p:sp>
      <p:pic>
        <p:nvPicPr>
          <p:cNvPr id="20" name="Image 3" descr="/tmp/claude-0/-home-user-riesgo/0ff9ff46-1396-5bd8-b3ac-2280dfbbbc55/scratchpad/work/gen/icons/shield_check_white.png">    </p:cNvPr>
          <p:cNvPicPr>
            <a:picLocks noChangeAspect="1"/>
          </p:cNvPicPr>
          <p:nvPr/>
        </p:nvPicPr>
        <p:blipFill>
          <a:blip r:embed="rId4"/>
          <a:stretch>
            <a:fillRect/>
          </a:stretch>
        </p:blipFill>
        <p:spPr>
          <a:xfrm>
            <a:off x="4960964" y="5004767"/>
            <a:ext cx="388620" cy="388620"/>
          </a:xfrm>
          <a:prstGeom prst="rect">
            <a:avLst/>
          </a:prstGeom>
        </p:spPr>
      </p:pic>
      <p:sp>
        <p:nvSpPr>
          <p:cNvPr id="21" name="Text 14"/>
          <p:cNvSpPr txBox="1"/>
          <p:nvPr/>
        </p:nvSpPr>
        <p:spPr>
          <a:xfrm>
            <a:off x="4286594"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2" name="Shape 15"/>
          <p:cNvSpPr/>
          <p:nvPr/>
        </p:nvSpPr>
        <p:spPr>
          <a:xfrm>
            <a:off x="4185347" y="3021379"/>
            <a:ext cx="777240" cy="777240"/>
          </a:xfrm>
          <a:prstGeom prst="ellipse">
            <a:avLst/>
          </a:prstGeom>
          <a:solidFill>
            <a:srgbClr val="133B6C"/>
          </a:solidFill>
          <a:ln/>
        </p:spPr>
      </p:sp>
      <p:pic>
        <p:nvPicPr>
          <p:cNvPr id="23" name="Image 4" descr="/tmp/claude-0/-home-user-riesgo/0ff9ff46-1396-5bd8-b3ac-2280dfbbbc55/scratchpad/work/gen/icons/clipboard_check_white.png">    </p:cNvPr>
          <p:cNvPicPr>
            <a:picLocks noChangeAspect="1"/>
          </p:cNvPicPr>
          <p:nvPr/>
        </p:nvPicPr>
        <p:blipFill>
          <a:blip r:embed="rId5"/>
          <a:stretch>
            <a:fillRect/>
          </a:stretch>
        </p:blipFill>
        <p:spPr>
          <a:xfrm>
            <a:off x="4379657" y="3215689"/>
            <a:ext cx="388620" cy="388620"/>
          </a:xfrm>
          <a:prstGeom prst="rect">
            <a:avLst/>
          </a:prstGeom>
        </p:spPr>
      </p:pic>
      <p:sp>
        <p:nvSpPr>
          <p:cNvPr id="24" name="Text 16"/>
          <p:cNvSpPr txBox="1"/>
          <p:nvPr/>
        </p:nvSpPr>
        <p:spPr>
          <a:xfrm>
            <a:off x="3705287"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5" name="Shape 17"/>
          <p:cNvSpPr/>
          <p:nvPr/>
        </p:nvSpPr>
        <p:spPr>
          <a:xfrm>
            <a:off x="5432908" y="3241548"/>
            <a:ext cx="1325880" cy="1325880"/>
          </a:xfrm>
          <a:prstGeom prst="ellipse">
            <a:avLst/>
          </a:prstGeom>
          <a:solidFill>
            <a:srgbClr val="E3A73B"/>
          </a:solidFill>
          <a:ln/>
          <a:effectLst>
            <a:outerShdw sx="100000" sy="100000" kx="0" ky="0" algn="bl" rotWithShape="0" blurRad="127000" dist="38100" dir="5400000">
              <a:srgbClr val="17223A">
                <a:alpha val="18000"/>
              </a:srgbClr>
            </a:outerShdw>
          </a:effectLst>
        </p:spPr>
      </p:sp>
      <p:sp>
        <p:nvSpPr>
          <p:cNvPr id="26" name="Text 18"/>
          <p:cNvSpPr txBox="1"/>
          <p:nvPr/>
        </p:nvSpPr>
        <p:spPr>
          <a:xfrm>
            <a:off x="5432908" y="3648456"/>
            <a:ext cx="1325880" cy="512064"/>
          </a:xfrm>
          <a:prstGeom prst="rect">
            <a:avLst/>
          </a:prstGeom>
          <a:noFill/>
          <a:ln/>
        </p:spPr>
        <p:txBody>
          <a:bodyPr wrap="square" lIns="0" tIns="0" rIns="0" bIns="0" rtlCol="0" anchor="ctr"/>
          <a:lstStyle/>
          <a:p>
            <a:pPr algn="ctr" indent="0" marL="0">
              <a:buNone/>
            </a:pPr>
            <a:r>
              <a:rPr lang="en-US" sz="1900" b="1" dirty="0">
                <a:solidFill>
                  <a:srgbClr val="0A1F3B"/>
                </a:solidFill>
                <a:latin typeface="Cambria" pitchFamily="34" charset="0"/>
                <a:ea typeface="Cambria" pitchFamily="34" charset="-122"/>
                <a:cs typeface="Cambria" pitchFamily="34" charset="-120"/>
              </a:rPr>
              <a:t>TODOS</a:t>
            </a:r>
            <a:endParaRPr lang="en-US" sz="1900" dirty="0"/>
          </a:p>
        </p:txBody>
      </p:sp>
      <p:sp>
        <p:nvSpPr>
          <p:cNvPr id="27" name="Text 19"/>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Text 1"/>
          <p:cNvSpPr txBox="1"/>
          <p:nvPr/>
        </p:nvSpPr>
        <p:spPr>
          <a:xfrm>
            <a:off x="7498080" y="-777240"/>
            <a:ext cx="5120640" cy="3840480"/>
          </a:xfrm>
          <a:prstGeom prst="rect">
            <a:avLst/>
          </a:prstGeom>
          <a:noFill/>
          <a:ln/>
        </p:spPr>
        <p:txBody>
          <a:bodyPr wrap="square" lIns="0" tIns="0" rIns="0" bIns="0" rtlCol="0" anchor="ctr"/>
          <a:lstStyle/>
          <a:p>
            <a:pPr algn="r" indent="0" marL="0">
              <a:buNone/>
            </a:pPr>
            <a:r>
              <a:rPr lang="en-US" sz="26000" b="1" dirty="0">
                <a:solidFill>
                  <a:srgbClr val="15294A"/>
                </a:solidFill>
                <a:latin typeface="Cambria" pitchFamily="34" charset="0"/>
                <a:ea typeface="Cambria" pitchFamily="34" charset="-122"/>
                <a:cs typeface="Cambria" pitchFamily="34" charset="-120"/>
              </a:rPr>
              <a:t>08</a:t>
            </a:r>
            <a:endParaRPr lang="en-US" sz="26000" dirty="0"/>
          </a:p>
        </p:txBody>
      </p:sp>
      <p:sp>
        <p:nvSpPr>
          <p:cNvPr id="5" name="Shape 2"/>
          <p:cNvSpPr/>
          <p:nvPr/>
        </p:nvSpPr>
        <p:spPr>
          <a:xfrm>
            <a:off x="566928" y="1828800"/>
            <a:ext cx="1188720" cy="1188720"/>
          </a:xfrm>
          <a:prstGeom prst="ellipse">
            <a:avLst/>
          </a:prstGeom>
          <a:solidFill>
            <a:srgbClr val="E3A73B"/>
          </a:solidFill>
          <a:ln/>
        </p:spPr>
      </p:sp>
      <p:pic>
        <p:nvPicPr>
          <p:cNvPr id="6" name="Image 0" descr="/tmp/claude-0/-home-user-riesgo/0ff9ff46-1396-5bd8-b3ac-2280dfbbbc55/scratchpad/work/gen/icons/globe_navy.png">    </p:cNvPr>
          <p:cNvPicPr>
            <a:picLocks noChangeAspect="1"/>
          </p:cNvPicPr>
          <p:nvPr/>
        </p:nvPicPr>
        <p:blipFill>
          <a:blip r:embed="rId1"/>
          <a:stretch>
            <a:fillRect/>
          </a:stretch>
        </p:blipFill>
        <p:spPr>
          <a:xfrm>
            <a:off x="852221" y="2114093"/>
            <a:ext cx="618134" cy="618134"/>
          </a:xfrm>
          <a:prstGeom prst="rect">
            <a:avLst/>
          </a:prstGeom>
        </p:spPr>
      </p:pic>
      <p:sp>
        <p:nvSpPr>
          <p:cNvPr id="7" name="Text 3"/>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TEMA 8</a:t>
            </a:r>
            <a:endParaRPr lang="en-US" sz="1500" dirty="0"/>
          </a:p>
        </p:txBody>
      </p:sp>
      <p:sp>
        <p:nvSpPr>
          <p:cNvPr id="8" name="Text 4"/>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RIESGOS AMBIENTALES Y SOCIALES:</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TAMBIÉN SON RIESGOS FINANCIEROS</a:t>
            </a:r>
            <a:endParaRPr lang="en-US" sz="3400" dirty="0"/>
          </a:p>
        </p:txBody>
      </p:sp>
      <p:sp>
        <p:nvSpPr>
          <p:cNvPr id="9" name="Text 5"/>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Ambiente + sociedad + negocio + finanzas: una misma cadena.</a:t>
            </a:r>
            <a:endParaRPr lang="en-US" sz="1600" dirty="0"/>
          </a:p>
        </p:txBody>
      </p:sp>
      <p:pic>
        <p:nvPicPr>
          <p:cNvPr id="10"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1" name="Text 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2" name="Text 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UNA CADENA DE IMPACTO</a:t>
            </a:r>
            <a:endParaRPr lang="en-US" sz="27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146932" y="3447288"/>
            <a:ext cx="1051560" cy="1051560"/>
          </a:xfrm>
          <a:prstGeom prst="ellipse">
            <a:avLst/>
          </a:prstGeom>
          <a:solidFill>
            <a:srgbClr val="E3A73B"/>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09822" y="3710178"/>
            <a:ext cx="525780" cy="525780"/>
          </a:xfrm>
          <a:prstGeom prst="rect">
            <a:avLst/>
          </a:prstGeom>
        </p:spPr>
      </p:pic>
      <p:sp>
        <p:nvSpPr>
          <p:cNvPr id="8" name="Text 4"/>
          <p:cNvSpPr txBox="1"/>
          <p:nvPr/>
        </p:nvSpPr>
        <p:spPr>
          <a:xfrm>
            <a:off x="621792"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Evento ambiental o social</a:t>
            </a:r>
            <a:endParaRPr lang="en-US" sz="130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32192" y="3826764"/>
            <a:ext cx="292608" cy="292608"/>
          </a:xfrm>
          <a:prstGeom prst="rect">
            <a:avLst/>
          </a:prstGeom>
        </p:spPr>
      </p:pic>
      <p:sp>
        <p:nvSpPr>
          <p:cNvPr id="10" name="Shape 5"/>
          <p:cNvSpPr/>
          <p:nvPr/>
        </p:nvSpPr>
        <p:spPr>
          <a:xfrm>
            <a:off x="3358500" y="3447288"/>
            <a:ext cx="1051560" cy="1051560"/>
          </a:xfrm>
          <a:prstGeom prst="ellipse">
            <a:avLst/>
          </a:prstGeom>
          <a:solidFill>
            <a:srgbClr val="133B6C"/>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21390" y="3710178"/>
            <a:ext cx="525780" cy="525780"/>
          </a:xfrm>
          <a:prstGeom prst="rect">
            <a:avLst/>
          </a:prstGeom>
        </p:spPr>
      </p:pic>
      <p:sp>
        <p:nvSpPr>
          <p:cNvPr id="12" name="Text 6"/>
          <p:cNvSpPr txBox="1"/>
          <p:nvPr/>
        </p:nvSpPr>
        <p:spPr>
          <a:xfrm>
            <a:off x="2833360"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Afecta a personas y operaciones</a:t>
            </a:r>
            <a:endParaRPr lang="en-US" sz="130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43760" y="3826764"/>
            <a:ext cx="292608" cy="292608"/>
          </a:xfrm>
          <a:prstGeom prst="rect">
            <a:avLst/>
          </a:prstGeom>
        </p:spPr>
      </p:pic>
      <p:sp>
        <p:nvSpPr>
          <p:cNvPr id="14" name="Shape 7"/>
          <p:cNvSpPr/>
          <p:nvPr/>
        </p:nvSpPr>
        <p:spPr>
          <a:xfrm>
            <a:off x="5570068" y="3447288"/>
            <a:ext cx="1051560" cy="1051560"/>
          </a:xfrm>
          <a:prstGeom prst="ellipse">
            <a:avLst/>
          </a:prstGeom>
          <a:solidFill>
            <a:srgbClr val="133B6C"/>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32958" y="3710178"/>
            <a:ext cx="525780" cy="525780"/>
          </a:xfrm>
          <a:prstGeom prst="rect">
            <a:avLst/>
          </a:prstGeom>
        </p:spPr>
      </p:pic>
      <p:sp>
        <p:nvSpPr>
          <p:cNvPr id="16" name="Text 8"/>
          <p:cNvSpPr txBox="1"/>
          <p:nvPr/>
        </p:nvSpPr>
        <p:spPr>
          <a:xfrm>
            <a:off x="5044928"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Interrupción o deterioro</a:t>
            </a:r>
            <a:endParaRPr lang="en-US" sz="130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55328" y="3826764"/>
            <a:ext cx="292608" cy="292608"/>
          </a:xfrm>
          <a:prstGeom prst="rect">
            <a:avLst/>
          </a:prstGeom>
        </p:spPr>
      </p:pic>
      <p:sp>
        <p:nvSpPr>
          <p:cNvPr id="18" name="Shape 9"/>
          <p:cNvSpPr/>
          <p:nvPr/>
        </p:nvSpPr>
        <p:spPr>
          <a:xfrm>
            <a:off x="7781635" y="3447288"/>
            <a:ext cx="1051560" cy="1051560"/>
          </a:xfrm>
          <a:prstGeom prst="ellipse">
            <a:avLst/>
          </a:prstGeom>
          <a:solidFill>
            <a:srgbClr val="133B6C"/>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44525" y="3710178"/>
            <a:ext cx="525780" cy="525780"/>
          </a:xfrm>
          <a:prstGeom prst="rect">
            <a:avLst/>
          </a:prstGeom>
        </p:spPr>
      </p:pic>
      <p:sp>
        <p:nvSpPr>
          <p:cNvPr id="20" name="Text 10"/>
          <p:cNvSpPr txBox="1"/>
          <p:nvPr/>
        </p:nvSpPr>
        <p:spPr>
          <a:xfrm>
            <a:off x="7256496"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Impacto económico</a:t>
            </a:r>
            <a:endParaRPr lang="en-US" sz="130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66895" y="3826764"/>
            <a:ext cx="292608" cy="292608"/>
          </a:xfrm>
          <a:prstGeom prst="rect">
            <a:avLst/>
          </a:prstGeom>
        </p:spPr>
      </p:pic>
      <p:sp>
        <p:nvSpPr>
          <p:cNvPr id="22" name="Shape 11"/>
          <p:cNvSpPr/>
          <p:nvPr/>
        </p:nvSpPr>
        <p:spPr>
          <a:xfrm>
            <a:off x="9993203" y="3447288"/>
            <a:ext cx="1051560" cy="1051560"/>
          </a:xfrm>
          <a:prstGeom prst="ellipse">
            <a:avLst/>
          </a:prstGeom>
          <a:solidFill>
            <a:srgbClr val="C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256093" y="3710178"/>
            <a:ext cx="525780" cy="525780"/>
          </a:xfrm>
          <a:prstGeom prst="rect">
            <a:avLst/>
          </a:prstGeom>
        </p:spPr>
      </p:pic>
      <p:sp>
        <p:nvSpPr>
          <p:cNvPr id="24" name="Text 12"/>
          <p:cNvSpPr txBox="1"/>
          <p:nvPr/>
        </p:nvSpPr>
        <p:spPr>
          <a:xfrm>
            <a:off x="9468063"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Impacto financiero</a:t>
            </a:r>
            <a:endParaRPr lang="en-US" sz="1300" dirty="0"/>
          </a:p>
        </p:txBody>
      </p:sp>
      <p:sp>
        <p:nvSpPr>
          <p:cNvPr id="25"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TEMA 8 · EJEMPLOS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EVENTOS QUE PUEDEN AFECTARNOS</a:t>
            </a:r>
            <a:endParaRPr lang="en-US" sz="2800" dirty="0"/>
          </a:p>
        </p:txBody>
      </p:sp>
      <p:sp>
        <p:nvSpPr>
          <p:cNvPr id="5" name="Shape 2"/>
          <p:cNvSpPr/>
          <p:nvPr/>
        </p:nvSpPr>
        <p:spPr>
          <a:xfrm>
            <a:off x="566928" y="3122676"/>
            <a:ext cx="1977481" cy="1691640"/>
          </a:xfrm>
          <a:prstGeom prst="roundRect">
            <a:avLst>
              <a:gd name="adj" fmla="val 5405"/>
            </a:avLst>
          </a:prstGeom>
          <a:solidFill>
            <a:srgbClr val="F2F5F9"/>
          </a:solidFill>
          <a:ln/>
        </p:spPr>
      </p:sp>
      <p:sp>
        <p:nvSpPr>
          <p:cNvPr id="6" name="Shape 3"/>
          <p:cNvSpPr/>
          <p:nvPr/>
        </p:nvSpPr>
        <p:spPr>
          <a:xfrm>
            <a:off x="1272205" y="3383280"/>
            <a:ext cx="566928" cy="566928"/>
          </a:xfrm>
          <a:prstGeom prst="ellipse">
            <a:avLst/>
          </a:prstGeom>
          <a:solidFill>
            <a:srgbClr val="133B6C"/>
          </a:solidFill>
          <a:ln/>
        </p:spPr>
      </p:sp>
      <p:pic>
        <p:nvPicPr>
          <p:cNvPr id="7" name="Image 0" descr="/tmp/claude-0/-home-user-riesgo/0ff9ff46-1396-5bd8-b3ac-2280dfbbbc55/scratchpad/work/gen/icons/earthquake_white.png">    </p:cNvPr>
          <p:cNvPicPr>
            <a:picLocks noChangeAspect="1"/>
          </p:cNvPicPr>
          <p:nvPr/>
        </p:nvPicPr>
        <p:blipFill>
          <a:blip r:embed="rId1"/>
          <a:stretch>
            <a:fillRect/>
          </a:stretch>
        </p:blipFill>
        <p:spPr>
          <a:xfrm>
            <a:off x="1408267" y="3519343"/>
            <a:ext cx="294803" cy="294803"/>
          </a:xfrm>
          <a:prstGeom prst="rect">
            <a:avLst/>
          </a:prstGeom>
        </p:spPr>
      </p:pic>
      <p:sp>
        <p:nvSpPr>
          <p:cNvPr id="8" name="Text 4"/>
          <p:cNvSpPr txBox="1"/>
          <p:nvPr/>
        </p:nvSpPr>
        <p:spPr>
          <a:xfrm>
            <a:off x="676656"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Terremotos</a:t>
            </a:r>
            <a:endParaRPr lang="en-US" sz="1250" dirty="0"/>
          </a:p>
        </p:txBody>
      </p:sp>
      <p:sp>
        <p:nvSpPr>
          <p:cNvPr id="9" name="Shape 5"/>
          <p:cNvSpPr/>
          <p:nvPr/>
        </p:nvSpPr>
        <p:spPr>
          <a:xfrm>
            <a:off x="2837017" y="3122676"/>
            <a:ext cx="1977481" cy="1691640"/>
          </a:xfrm>
          <a:prstGeom prst="roundRect">
            <a:avLst>
              <a:gd name="adj" fmla="val 5405"/>
            </a:avLst>
          </a:prstGeom>
          <a:solidFill>
            <a:srgbClr val="F2F5F9"/>
          </a:solidFill>
          <a:ln/>
        </p:spPr>
      </p:sp>
      <p:sp>
        <p:nvSpPr>
          <p:cNvPr id="10" name="Shape 6"/>
          <p:cNvSpPr/>
          <p:nvPr/>
        </p:nvSpPr>
        <p:spPr>
          <a:xfrm>
            <a:off x="3542294" y="3383280"/>
            <a:ext cx="566928" cy="566928"/>
          </a:xfrm>
          <a:prstGeom prst="ellipse">
            <a:avLst/>
          </a:prstGeom>
          <a:solidFill>
            <a:srgbClr val="133B6C"/>
          </a:solidFill>
          <a:ln/>
        </p:spPr>
      </p:sp>
      <p:pic>
        <p:nvPicPr>
          <p:cNvPr id="11" name="Image 1" descr="/tmp/claude-0/-home-user-riesgo/0ff9ff46-1396-5bd8-b3ac-2280dfbbbc55/scratchpad/work/gen/icons/flood_white.png">    </p:cNvPr>
          <p:cNvPicPr>
            <a:picLocks noChangeAspect="1"/>
          </p:cNvPicPr>
          <p:nvPr/>
        </p:nvPicPr>
        <p:blipFill>
          <a:blip r:embed="rId2"/>
          <a:stretch>
            <a:fillRect/>
          </a:stretch>
        </p:blipFill>
        <p:spPr>
          <a:xfrm>
            <a:off x="3678357" y="3519343"/>
            <a:ext cx="294803" cy="294803"/>
          </a:xfrm>
          <a:prstGeom prst="rect">
            <a:avLst/>
          </a:prstGeom>
        </p:spPr>
      </p:pic>
      <p:sp>
        <p:nvSpPr>
          <p:cNvPr id="12" name="Text 7"/>
          <p:cNvSpPr txBox="1"/>
          <p:nvPr/>
        </p:nvSpPr>
        <p:spPr>
          <a:xfrm>
            <a:off x="294674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Inundaciones</a:t>
            </a:r>
            <a:endParaRPr lang="en-US" sz="1250" dirty="0"/>
          </a:p>
        </p:txBody>
      </p:sp>
      <p:sp>
        <p:nvSpPr>
          <p:cNvPr id="13" name="Shape 8"/>
          <p:cNvSpPr/>
          <p:nvPr/>
        </p:nvSpPr>
        <p:spPr>
          <a:xfrm>
            <a:off x="5107107" y="3122676"/>
            <a:ext cx="1977481" cy="1691640"/>
          </a:xfrm>
          <a:prstGeom prst="roundRect">
            <a:avLst>
              <a:gd name="adj" fmla="val 5405"/>
            </a:avLst>
          </a:prstGeom>
          <a:solidFill>
            <a:srgbClr val="F2F5F9"/>
          </a:solidFill>
          <a:ln/>
        </p:spPr>
      </p:sp>
      <p:sp>
        <p:nvSpPr>
          <p:cNvPr id="14" name="Shape 9"/>
          <p:cNvSpPr/>
          <p:nvPr/>
        </p:nvSpPr>
        <p:spPr>
          <a:xfrm>
            <a:off x="5812384" y="3383280"/>
            <a:ext cx="566928" cy="566928"/>
          </a:xfrm>
          <a:prstGeom prst="ellipse">
            <a:avLst/>
          </a:prstGeom>
          <a:solidFill>
            <a:srgbClr val="133B6C"/>
          </a:solidFill>
          <a:ln/>
        </p:spPr>
      </p:sp>
      <p:pic>
        <p:nvPicPr>
          <p:cNvPr id="15" name="Image 2" descr="/tmp/claude-0/-home-user-riesgo/0ff9ff46-1396-5bd8-b3ac-2280dfbbbc55/scratchpad/work/gen/icons/wind_white.png">    </p:cNvPr>
          <p:cNvPicPr>
            <a:picLocks noChangeAspect="1"/>
          </p:cNvPicPr>
          <p:nvPr/>
        </p:nvPicPr>
        <p:blipFill>
          <a:blip r:embed="rId3"/>
          <a:stretch>
            <a:fillRect/>
          </a:stretch>
        </p:blipFill>
        <p:spPr>
          <a:xfrm>
            <a:off x="5948446" y="3519343"/>
            <a:ext cx="294803" cy="294803"/>
          </a:xfrm>
          <a:prstGeom prst="rect">
            <a:avLst/>
          </a:prstGeom>
        </p:spPr>
      </p:pic>
      <p:sp>
        <p:nvSpPr>
          <p:cNvPr id="16" name="Text 10"/>
          <p:cNvSpPr txBox="1"/>
          <p:nvPr/>
        </p:nvSpPr>
        <p:spPr>
          <a:xfrm>
            <a:off x="521683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Cambio climático</a:t>
            </a:r>
            <a:endParaRPr lang="en-US" sz="1250" dirty="0"/>
          </a:p>
        </p:txBody>
      </p:sp>
      <p:sp>
        <p:nvSpPr>
          <p:cNvPr id="17" name="Shape 11"/>
          <p:cNvSpPr/>
          <p:nvPr/>
        </p:nvSpPr>
        <p:spPr>
          <a:xfrm>
            <a:off x="7377196" y="3122676"/>
            <a:ext cx="1977481" cy="1691640"/>
          </a:xfrm>
          <a:prstGeom prst="roundRect">
            <a:avLst>
              <a:gd name="adj" fmla="val 5405"/>
            </a:avLst>
          </a:prstGeom>
          <a:solidFill>
            <a:srgbClr val="F2F5F9"/>
          </a:solidFill>
          <a:ln/>
        </p:spPr>
      </p:sp>
      <p:sp>
        <p:nvSpPr>
          <p:cNvPr id="18" name="Shape 12"/>
          <p:cNvSpPr/>
          <p:nvPr/>
        </p:nvSpPr>
        <p:spPr>
          <a:xfrm>
            <a:off x="8082473" y="3383280"/>
            <a:ext cx="566928" cy="566928"/>
          </a:xfrm>
          <a:prstGeom prst="ellipse">
            <a:avLst/>
          </a:prstGeom>
          <a:solidFill>
            <a:srgbClr val="133B6C"/>
          </a:solidFill>
          <a:ln/>
        </p:spPr>
      </p:sp>
      <p:pic>
        <p:nvPicPr>
          <p:cNvPr id="19" name="Image 3" descr="/tmp/claude-0/-home-user-riesgo/0ff9ff46-1396-5bd8-b3ac-2280dfbbbc55/scratchpad/work/gen/icons/virus_white.png">    </p:cNvPr>
          <p:cNvPicPr>
            <a:picLocks noChangeAspect="1"/>
          </p:cNvPicPr>
          <p:nvPr/>
        </p:nvPicPr>
        <p:blipFill>
          <a:blip r:embed="rId4"/>
          <a:stretch>
            <a:fillRect/>
          </a:stretch>
        </p:blipFill>
        <p:spPr>
          <a:xfrm>
            <a:off x="8218536" y="3519343"/>
            <a:ext cx="294803" cy="294803"/>
          </a:xfrm>
          <a:prstGeom prst="rect">
            <a:avLst/>
          </a:prstGeom>
        </p:spPr>
      </p:pic>
      <p:sp>
        <p:nvSpPr>
          <p:cNvPr id="20" name="Text 13"/>
          <p:cNvSpPr txBox="1"/>
          <p:nvPr/>
        </p:nvSpPr>
        <p:spPr>
          <a:xfrm>
            <a:off x="748692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Epidemias y pandemias</a:t>
            </a:r>
            <a:endParaRPr lang="en-US" sz="1250" dirty="0"/>
          </a:p>
        </p:txBody>
      </p:sp>
      <p:sp>
        <p:nvSpPr>
          <p:cNvPr id="21" name="Shape 14"/>
          <p:cNvSpPr/>
          <p:nvPr/>
        </p:nvSpPr>
        <p:spPr>
          <a:xfrm>
            <a:off x="9647286" y="3122676"/>
            <a:ext cx="1977481" cy="1691640"/>
          </a:xfrm>
          <a:prstGeom prst="roundRect">
            <a:avLst>
              <a:gd name="adj" fmla="val 5405"/>
            </a:avLst>
          </a:prstGeom>
          <a:solidFill>
            <a:srgbClr val="F2F5F9"/>
          </a:solidFill>
          <a:ln/>
        </p:spPr>
      </p:sp>
      <p:sp>
        <p:nvSpPr>
          <p:cNvPr id="22" name="Shape 15"/>
          <p:cNvSpPr/>
          <p:nvPr/>
        </p:nvSpPr>
        <p:spPr>
          <a:xfrm>
            <a:off x="10352562" y="3383280"/>
            <a:ext cx="566928" cy="566928"/>
          </a:xfrm>
          <a:prstGeom prst="ellipse">
            <a:avLst/>
          </a:prstGeom>
          <a:solidFill>
            <a:srgbClr val="133B6C"/>
          </a:solidFill>
          <a:ln/>
        </p:spPr>
      </p:sp>
      <p:pic>
        <p:nvPicPr>
          <p:cNvPr id="23" name="Image 4" descr="/tmp/claude-0/-home-user-riesgo/0ff9ff46-1396-5bd8-b3ac-2280dfbbbc55/scratchpad/work/gen/icons/fire_white.png">    </p:cNvPr>
          <p:cNvPicPr>
            <a:picLocks noChangeAspect="1"/>
          </p:cNvPicPr>
          <p:nvPr/>
        </p:nvPicPr>
        <p:blipFill>
          <a:blip r:embed="rId5"/>
          <a:stretch>
            <a:fillRect/>
          </a:stretch>
        </p:blipFill>
        <p:spPr>
          <a:xfrm>
            <a:off x="10488625" y="3519343"/>
            <a:ext cx="294803" cy="294803"/>
          </a:xfrm>
          <a:prstGeom prst="rect">
            <a:avLst/>
          </a:prstGeom>
        </p:spPr>
      </p:pic>
      <p:sp>
        <p:nvSpPr>
          <p:cNvPr id="24" name="Text 16"/>
          <p:cNvSpPr txBox="1"/>
          <p:nvPr/>
        </p:nvSpPr>
        <p:spPr>
          <a:xfrm>
            <a:off x="975701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Incendios e interrupciones</a:t>
            </a:r>
            <a:endParaRPr lang="en-US" sz="1250" dirty="0"/>
          </a:p>
        </p:txBody>
      </p:sp>
      <p:sp>
        <p:nvSpPr>
          <p:cNvPr id="25"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Shape 1"/>
          <p:cNvSpPr/>
          <p:nvPr/>
        </p:nvSpPr>
        <p:spPr>
          <a:xfrm>
            <a:off x="566928" y="1828800"/>
            <a:ext cx="1188720" cy="1188720"/>
          </a:xfrm>
          <a:prstGeom prst="ellipse">
            <a:avLst/>
          </a:prstGeom>
          <a:solidFill>
            <a:srgbClr val="E3A73B"/>
          </a:solidFill>
          <a:ln/>
        </p:spPr>
      </p:sp>
      <p:pic>
        <p:nvPicPr>
          <p:cNvPr id="5" name="Image 0" descr="/tmp/claude-0/-home-user-riesgo/0ff9ff46-1396-5bd8-b3ac-2280dfbbbc55/scratchpad/work/gen/icons/clipboard_check_navy.png">    </p:cNvPr>
          <p:cNvPicPr>
            <a:picLocks noChangeAspect="1"/>
          </p:cNvPicPr>
          <p:nvPr/>
        </p:nvPicPr>
        <p:blipFill>
          <a:blip r:embed="rId1"/>
          <a:stretch>
            <a:fillRect/>
          </a:stretch>
        </p:blipFill>
        <p:spPr>
          <a:xfrm>
            <a:off x="852221" y="2114093"/>
            <a:ext cx="618134" cy="618134"/>
          </a:xfrm>
          <a:prstGeom prst="rect">
            <a:avLst/>
          </a:prstGeom>
        </p:spPr>
      </p:pic>
      <p:sp>
        <p:nvSpPr>
          <p:cNvPr id="6" name="Text 2"/>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INTEGRACIÓN</a:t>
            </a:r>
            <a:endParaRPr lang="en-US" sz="1500" dirty="0"/>
          </a:p>
        </p:txBody>
      </p:sp>
      <p:sp>
        <p:nvSpPr>
          <p:cNvPr id="7" name="Text 3"/>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CASOS INTEGRADORES</a:t>
            </a:r>
            <a:endParaRPr lang="en-US" sz="3400" dirty="0"/>
          </a:p>
        </p:txBody>
      </p:sp>
      <p:sp>
        <p:nvSpPr>
          <p:cNvPr id="8" name="Text 4"/>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Cuatro situaciones reales de una cooperativa financiera para aplicar todo lo aprendido.</a:t>
            </a:r>
            <a:endParaRPr lang="en-US" sz="1600" dirty="0"/>
          </a:p>
        </p:txBody>
      </p:sp>
      <p:pic>
        <p:nvPicPr>
          <p:cNvPr id="9"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0" name="Text 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1" name="Text 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E3A73B"/>
          </a:solidFill>
          <a:ln/>
        </p:spPr>
      </p:sp>
      <p:pic>
        <p:nvPicPr>
          <p:cNvPr id="7" name="Image 0" descr="/tmp/claude-0/-home-user-riesgo/0ff9ff46-1396-5bd8-b3ac-2280dfbbbc55/scratchpad/work/gen/icons/server_navy.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33B6C"/>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133B6C"/>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E9E5B"/>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E9E5B"/>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C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C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E3A73B"/>
          </a:solidFill>
          <a:ln/>
        </p:spPr>
      </p:sp>
      <p:pic>
        <p:nvPicPr>
          <p:cNvPr id="7" name="Image 0" descr="/tmp/claude-0/-home-user-riesgo/0ff9ff46-1396-5bd8-b3ac-2280dfbbbc55/scratchpad/work/gen/icons/social_navy.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133B6C"/>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E9E5B"/>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E9E5B"/>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C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C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E3A73B"/>
          </a:solidFill>
          <a:ln/>
        </p:spPr>
      </p:sp>
      <p:pic>
        <p:nvPicPr>
          <p:cNvPr id="7" name="Image 0" descr="/tmp/claude-0/-home-user-riesgo/0ff9ff46-1396-5bd8-b3ac-2280dfbbbc55/scratchpad/work/gen/icons/search_doc_navy.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33B6C"/>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133B6C"/>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E9E5B"/>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E9E5B"/>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C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C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E3A73B"/>
          </a:solidFill>
          <a:ln/>
        </p:spPr>
      </p:sp>
      <p:pic>
        <p:nvPicPr>
          <p:cNvPr id="7" name="Image 0" descr="/tmp/claude-0/-home-user-riesgo/0ff9ff46-1396-5bd8-b3ac-2280dfbbbc55/scratchpad/work/gen/icons/form_navy.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E3A73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133B6C"/>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133B6C"/>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E9E5B"/>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E9E5B"/>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C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C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2926080" y="2926080"/>
            <a:ext cx="7772400" cy="7772400"/>
          </a:xfrm>
          <a:prstGeom prst="ellipse">
            <a:avLst/>
          </a:prstGeom>
          <a:solidFill>
            <a:srgbClr val="0D2847"/>
          </a:solidFill>
          <a:ln/>
        </p:spPr>
      </p:sp>
      <p:sp>
        <p:nvSpPr>
          <p:cNvPr id="4" name="Shape 1"/>
          <p:cNvSpPr/>
          <p:nvPr/>
        </p:nvSpPr>
        <p:spPr>
          <a:xfrm>
            <a:off x="566928" y="1828800"/>
            <a:ext cx="1188720" cy="1188720"/>
          </a:xfrm>
          <a:prstGeom prst="ellipse">
            <a:avLst/>
          </a:prstGeom>
          <a:solidFill>
            <a:srgbClr val="E3A73B"/>
          </a:solidFill>
          <a:ln/>
        </p:spPr>
      </p:sp>
      <p:pic>
        <p:nvPicPr>
          <p:cNvPr id="5" name="Image 0" descr="/tmp/claude-0/-home-user-riesgo/0ff9ff46-1396-5bd8-b3ac-2280dfbbbc55/scratchpad/work/gen/icons/timer30_navy.png">    </p:cNvPr>
          <p:cNvPicPr>
            <a:picLocks noChangeAspect="1"/>
          </p:cNvPicPr>
          <p:nvPr/>
        </p:nvPicPr>
        <p:blipFill>
          <a:blip r:embed="rId1"/>
          <a:stretch>
            <a:fillRect/>
          </a:stretch>
        </p:blipFill>
        <p:spPr>
          <a:xfrm>
            <a:off x="852221" y="2114093"/>
            <a:ext cx="618134" cy="618134"/>
          </a:xfrm>
          <a:prstGeom prst="rect">
            <a:avLst/>
          </a:prstGeom>
        </p:spPr>
      </p:pic>
      <p:sp>
        <p:nvSpPr>
          <p:cNvPr id="6" name="Text 2"/>
          <p:cNvSpPr txBox="1"/>
          <p:nvPr/>
        </p:nvSpPr>
        <p:spPr>
          <a:xfrm>
            <a:off x="566928" y="2880360"/>
            <a:ext cx="9601200" cy="365760"/>
          </a:xfrm>
          <a:prstGeom prst="rect">
            <a:avLst/>
          </a:prstGeom>
          <a:noFill/>
          <a:ln/>
        </p:spPr>
        <p:txBody>
          <a:bodyPr wrap="square" lIns="0" tIns="0" rIns="0" bIns="0" rtlCol="0" anchor="ctr"/>
          <a:lstStyle/>
          <a:p>
            <a:pPr indent="0" marL="0">
              <a:buNone/>
            </a:pPr>
            <a:r>
              <a:rPr lang="en-US" sz="1500" b="1" spc="300" kern="0" dirty="0">
                <a:solidFill>
                  <a:srgbClr val="E3A73B"/>
                </a:solidFill>
                <a:latin typeface="Calibri" pitchFamily="34" charset="0"/>
                <a:ea typeface="Calibri" pitchFamily="34" charset="-122"/>
                <a:cs typeface="Calibri" pitchFamily="34" charset="-120"/>
              </a:rPr>
              <a:t>GRAN ACTIVIDAD FINAL</a:t>
            </a:r>
            <a:endParaRPr lang="en-US" sz="1500" dirty="0"/>
          </a:p>
        </p:txBody>
      </p:sp>
      <p:sp>
        <p:nvSpPr>
          <p:cNvPr id="7" name="Text 3"/>
          <p:cNvSpPr txBox="1"/>
          <p:nvPr/>
        </p:nvSpPr>
        <p:spPr>
          <a:xfrm>
            <a:off x="566928" y="3246120"/>
            <a:ext cx="1042416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DETECTA EL RIESGO</a:t>
            </a:r>
            <a:endParaRPr lang="en-US" sz="3400" dirty="0"/>
          </a:p>
        </p:txBody>
      </p:sp>
      <p:sp>
        <p:nvSpPr>
          <p:cNvPr id="8" name="Text 4"/>
          <p:cNvSpPr txBox="1"/>
          <p:nvPr/>
        </p:nvSpPr>
        <p:spPr>
          <a:xfrm>
            <a:off x="566928" y="4663440"/>
            <a:ext cx="9692640" cy="822960"/>
          </a:xfrm>
          <a:prstGeom prst="rect">
            <a:avLst/>
          </a:prstGeom>
          <a:noFill/>
          <a:ln/>
        </p:spPr>
        <p:txBody>
          <a:bodyPr wrap="square" lIns="0" tIns="0" rIns="0" bIns="0" rtlCol="0" anchor="ctr"/>
          <a:lstStyle/>
          <a:p>
            <a:pPr indent="0" marL="0">
              <a:lnSpc>
                <a:spcPct val="115000"/>
              </a:lnSpc>
              <a:buNone/>
            </a:pPr>
            <a:r>
              <a:rPr lang="en-US" sz="1600" i="1" dirty="0">
                <a:solidFill>
                  <a:srgbClr val="C7D3E5"/>
                </a:solidFill>
                <a:latin typeface="Calibri" pitchFamily="34" charset="0"/>
                <a:ea typeface="Calibri" pitchFamily="34" charset="-122"/>
                <a:cs typeface="Calibri" pitchFamily="34" charset="-120"/>
              </a:rPr>
              <a:t>Pon a prueba todo lo aprendido en esta capacitación.</a:t>
            </a:r>
            <a:endParaRPr lang="en-US" sz="1600" dirty="0"/>
          </a:p>
        </p:txBody>
      </p:sp>
      <p:pic>
        <p:nvPicPr>
          <p:cNvPr id="9" name="Image 1" descr="/tmp/claude-0/-home-user-riesgo/0ff9ff46-1396-5bd8-b3ac-2280dfbbbc55/scratchpad/work/gen/logo_white.png">    </p:cNvPr>
          <p:cNvPicPr>
            <a:picLocks noChangeAspect="1"/>
          </p:cNvPicPr>
          <p:nvPr/>
        </p:nvPicPr>
        <p:blipFill>
          <a:blip r:embed="rId2"/>
          <a:stretch>
            <a:fillRect/>
          </a:stretch>
        </p:blipFill>
        <p:spPr>
          <a:xfrm>
            <a:off x="10161727" y="5961888"/>
            <a:ext cx="1463040" cy="411114"/>
          </a:xfrm>
          <a:prstGeom prst="rect">
            <a:avLst/>
          </a:prstGeom>
        </p:spPr>
      </p:pic>
      <p:sp>
        <p:nvSpPr>
          <p:cNvPr id="10" name="Text 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11" name="Text 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FFFFFF"/>
          </a:solidFill>
          <a:ln/>
        </p:spPr>
      </p:sp>
      <p:pic>
        <p:nvPicPr>
          <p:cNvPr id="8" name="Image 0" descr="/tmp/claude-0/-home-user-riesgo/0ff9ff46-1396-5bd8-b3ac-2280dfbbbc55/scratchpad/work/gen/icons/lock_open_navy.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E3A73B"/>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FFFFFF"/>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E3A73B"/>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FFFFFF"/>
          </a:solidFill>
          <a:ln/>
        </p:spPr>
      </p:sp>
      <p:pic>
        <p:nvPicPr>
          <p:cNvPr id="16" name="Image 2" descr="/tmp/claude-0/-home-user-riesgo/0ff9ff46-1396-5bd8-b3ac-2280dfbbbc55/scratchpad/work/gen/icons/wifi_off_navy.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E3A73B"/>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FFFFFF"/>
          </a:solidFill>
          <a:ln/>
        </p:spPr>
      </p:sp>
      <p:pic>
        <p:nvPicPr>
          <p:cNvPr id="20" name="Image 3" descr="/tmp/claude-0/-home-user-riesgo/0ff9ff46-1396-5bd8-b3ac-2280dfbbbc55/scratchpad/work/gen/icons/trash_navy.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E3A73B"/>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FFFFFF"/>
          </a:solidFill>
          <a:ln/>
        </p:spPr>
      </p:sp>
      <p:pic>
        <p:nvPicPr>
          <p:cNvPr id="24" name="Image 4" descr="/tmp/claude-0/-home-user-riesgo/0ff9ff46-1396-5bd8-b3ac-2280dfbbbc55/scratchpad/work/gen/icons/bell_alert_navy.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E3A73B"/>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FFFFFF"/>
          </a:solidFill>
          <a:ln/>
        </p:spPr>
      </p:sp>
      <p:pic>
        <p:nvPicPr>
          <p:cNvPr id="28" name="Image 5" descr="/tmp/claude-0/-home-user-riesgo/0ff9ff46-1396-5bd8-b3ac-2280dfbbbc55/scratchpad/work/gen/icons/hand_stop_navy.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E3A73B"/>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FFFFFF"/>
          </a:solidFill>
          <a:ln/>
        </p:spPr>
      </p:sp>
      <p:pic>
        <p:nvPicPr>
          <p:cNvPr id="32" name="Image 6" descr="/tmp/claude-0/-home-user-riesgo/0ff9ff46-1396-5bd8-b3ac-2280dfbbbc55/scratchpad/work/gen/icons/cctv_navy.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E3A73B"/>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FFFFFF"/>
          </a:solidFill>
          <a:ln/>
        </p:spPr>
      </p:sp>
      <p:pic>
        <p:nvPicPr>
          <p:cNvPr id="36" name="Image 7" descr="/tmp/claude-0/-home-user-riesgo/0ff9ff46-1396-5bd8-b3ac-2280dfbbbc55/scratchpad/work/gen/icons/key_navy.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E3A73B"/>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FFFFFF"/>
          </a:solidFill>
          <a:ln/>
        </p:spPr>
      </p:sp>
      <p:pic>
        <p:nvPicPr>
          <p:cNvPr id="40" name="Image 8" descr="/tmp/claude-0/-home-user-riesgo/0ff9ff46-1396-5bd8-b3ac-2280dfbbbc55/scratchpad/work/gen/icons/social_navy.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E3A73B"/>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3A73B"/>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E3A73B"/>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E3A73B"/>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E3A73B"/>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E3A73B"/>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E3A73B"/>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E3A73B"/>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E3A73B"/>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E3A73B"/>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E3A73B"/>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8FA0B5"/>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8FA0B5"/>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3200400" y="-2926080"/>
            <a:ext cx="7315200" cy="7315200"/>
          </a:xfrm>
          <a:prstGeom prst="ellipse">
            <a:avLst/>
          </a:prstGeom>
          <a:solidFill>
            <a:srgbClr val="0D2847"/>
          </a:solidFill>
          <a:ln/>
        </p:spPr>
      </p:sp>
      <p:sp>
        <p:nvSpPr>
          <p:cNvPr id="4" name="Text 1"/>
          <p:cNvSpPr txBox="1"/>
          <p:nvPr/>
        </p:nvSpPr>
        <p:spPr>
          <a:xfrm>
            <a:off x="640080" y="777240"/>
            <a:ext cx="10972800" cy="548640"/>
          </a:xfrm>
          <a:prstGeom prst="rect">
            <a:avLst/>
          </a:prstGeom>
          <a:noFill/>
          <a:ln/>
        </p:spPr>
        <p:txBody>
          <a:bodyPr wrap="square" lIns="0" tIns="0" rIns="0" bIns="0" rtlCol="0" anchor="ctr"/>
          <a:lstStyle/>
          <a:p>
            <a:pPr algn="ctr" indent="0" marL="0">
              <a:buNone/>
            </a:pPr>
            <a:r>
              <a:rPr lang="en-US" sz="3000" b="1" dirty="0">
                <a:solidFill>
                  <a:srgbClr val="C7D3E5"/>
                </a:solidFill>
                <a:latin typeface="Cambria" pitchFamily="34" charset="0"/>
                <a:ea typeface="Cambria" pitchFamily="34" charset="-122"/>
                <a:cs typeface="Cambria" pitchFamily="34" charset="-120"/>
              </a:rPr>
              <a:t>TODOS SOMOS</a:t>
            </a:r>
            <a:endParaRPr lang="en-US" sz="3000" dirty="0"/>
          </a:p>
        </p:txBody>
      </p:sp>
      <p:sp>
        <p:nvSpPr>
          <p:cNvPr id="5" name="Text 2"/>
          <p:cNvSpPr txBox="1"/>
          <p:nvPr/>
        </p:nvSpPr>
        <p:spPr>
          <a:xfrm>
            <a:off x="640080" y="1280160"/>
            <a:ext cx="1097280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GESTORES DE RIESGOS</a:t>
            </a:r>
            <a:endParaRPr lang="en-US" sz="4000" dirty="0"/>
          </a:p>
        </p:txBody>
      </p:sp>
      <p:sp>
        <p:nvSpPr>
          <p:cNvPr id="6" name="Shape 3"/>
          <p:cNvSpPr/>
          <p:nvPr/>
        </p:nvSpPr>
        <p:spPr>
          <a:xfrm>
            <a:off x="2826868" y="3063240"/>
            <a:ext cx="1051560" cy="1051560"/>
          </a:xfrm>
          <a:prstGeom prst="ellipse">
            <a:avLst/>
          </a:prstGeom>
          <a:solidFill>
            <a:srgbClr val="E3A73B"/>
          </a:solidFill>
          <a:ln/>
        </p:spPr>
      </p:sp>
      <p:pic>
        <p:nvPicPr>
          <p:cNvPr id="7" name="Image 0" descr="/tmp/claude-0/-home-user-riesgo/0ff9ff46-1396-5bd8-b3ac-2280dfbbbc55/scratchpad/work/gen/icons/eye_navy.png">    </p:cNvPr>
          <p:cNvPicPr>
            <a:picLocks noChangeAspect="1"/>
          </p:cNvPicPr>
          <p:nvPr/>
        </p:nvPicPr>
        <p:blipFill>
          <a:blip r:embed="rId1"/>
          <a:stretch>
            <a:fillRect/>
          </a:stretch>
        </p:blipFill>
        <p:spPr>
          <a:xfrm>
            <a:off x="3089758" y="3326130"/>
            <a:ext cx="525780" cy="525780"/>
          </a:xfrm>
          <a:prstGeom prst="rect">
            <a:avLst/>
          </a:prstGeom>
        </p:spPr>
      </p:pic>
      <p:sp>
        <p:nvSpPr>
          <p:cNvPr id="8" name="Text 4"/>
          <p:cNvSpPr txBox="1"/>
          <p:nvPr/>
        </p:nvSpPr>
        <p:spPr>
          <a:xfrm>
            <a:off x="25525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VEO</a:t>
            </a:r>
            <a:endParaRPr lang="en-US" sz="1300" dirty="0"/>
          </a:p>
        </p:txBody>
      </p:sp>
      <p:pic>
        <p:nvPicPr>
          <p:cNvPr id="9" name="Image 1" descr="/tmp/claude-0/-home-user-riesgo/0ff9ff46-1396-5bd8-b3ac-2280dfbbbc55/scratchpad/work/gen/icons/arrow_right_gold.png">    </p:cNvPr>
          <p:cNvPicPr>
            <a:picLocks noChangeAspect="1"/>
          </p:cNvPicPr>
          <p:nvPr/>
        </p:nvPicPr>
        <p:blipFill>
          <a:blip r:embed="rId2"/>
          <a:stretch>
            <a:fillRect/>
          </a:stretch>
        </p:blipFill>
        <p:spPr>
          <a:xfrm>
            <a:off x="3910432" y="3461004"/>
            <a:ext cx="256032" cy="256032"/>
          </a:xfrm>
          <a:prstGeom prst="rect">
            <a:avLst/>
          </a:prstGeom>
        </p:spPr>
      </p:pic>
      <p:sp>
        <p:nvSpPr>
          <p:cNvPr id="10" name="Shape 5"/>
          <p:cNvSpPr/>
          <p:nvPr/>
        </p:nvSpPr>
        <p:spPr>
          <a:xfrm>
            <a:off x="4198468" y="3063240"/>
            <a:ext cx="1051560" cy="1051560"/>
          </a:xfrm>
          <a:prstGeom prst="ellipse">
            <a:avLst/>
          </a:prstGeom>
          <a:solidFill>
            <a:srgbClr val="E3A73B"/>
          </a:solidFill>
          <a:ln/>
        </p:spPr>
      </p:sp>
      <p:pic>
        <p:nvPicPr>
          <p:cNvPr id="11" name="Image 2" descr="/tmp/claude-0/-home-user-riesgo/0ff9ff46-1396-5bd8-b3ac-2280dfbbbc55/scratchpad/work/gen/icons/magnifier_navy.png">    </p:cNvPr>
          <p:cNvPicPr>
            <a:picLocks noChangeAspect="1"/>
          </p:cNvPicPr>
          <p:nvPr/>
        </p:nvPicPr>
        <p:blipFill>
          <a:blip r:embed="rId3"/>
          <a:stretch>
            <a:fillRect/>
          </a:stretch>
        </p:blipFill>
        <p:spPr>
          <a:xfrm>
            <a:off x="4461358" y="3326130"/>
            <a:ext cx="525780" cy="525780"/>
          </a:xfrm>
          <a:prstGeom prst="rect">
            <a:avLst/>
          </a:prstGeom>
        </p:spPr>
      </p:pic>
      <p:sp>
        <p:nvSpPr>
          <p:cNvPr id="12" name="Text 6"/>
          <p:cNvSpPr txBox="1"/>
          <p:nvPr/>
        </p:nvSpPr>
        <p:spPr>
          <a:xfrm>
            <a:off x="39241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IDENTIFICO</a:t>
            </a:r>
            <a:endParaRPr lang="en-US" sz="1300" dirty="0"/>
          </a:p>
        </p:txBody>
      </p:sp>
      <p:pic>
        <p:nvPicPr>
          <p:cNvPr id="13" name="Image 3" descr="/tmp/claude-0/-home-user-riesgo/0ff9ff46-1396-5bd8-b3ac-2280dfbbbc55/scratchpad/work/gen/icons/arrow_right_gold.png">    </p:cNvPr>
          <p:cNvPicPr>
            <a:picLocks noChangeAspect="1"/>
          </p:cNvPicPr>
          <p:nvPr/>
        </p:nvPicPr>
        <p:blipFill>
          <a:blip r:embed="rId4"/>
          <a:stretch>
            <a:fillRect/>
          </a:stretch>
        </p:blipFill>
        <p:spPr>
          <a:xfrm>
            <a:off x="5282032" y="3461004"/>
            <a:ext cx="256032" cy="256032"/>
          </a:xfrm>
          <a:prstGeom prst="rect">
            <a:avLst/>
          </a:prstGeom>
        </p:spPr>
      </p:pic>
      <p:sp>
        <p:nvSpPr>
          <p:cNvPr id="14" name="Shape 7"/>
          <p:cNvSpPr/>
          <p:nvPr/>
        </p:nvSpPr>
        <p:spPr>
          <a:xfrm>
            <a:off x="5570068" y="3063240"/>
            <a:ext cx="1051560" cy="1051560"/>
          </a:xfrm>
          <a:prstGeom prst="ellipse">
            <a:avLst/>
          </a:prstGeom>
          <a:solidFill>
            <a:srgbClr val="E3A73B"/>
          </a:solidFill>
          <a:ln/>
        </p:spPr>
      </p:sp>
      <p:pic>
        <p:nvPicPr>
          <p:cNvPr id="15" name="Image 4" descr="/tmp/claude-0/-home-user-riesgo/0ff9ff46-1396-5bd8-b3ac-2280dfbbbc55/scratchpad/work/gen/icons/shield_check_navy.png">    </p:cNvPr>
          <p:cNvPicPr>
            <a:picLocks noChangeAspect="1"/>
          </p:cNvPicPr>
          <p:nvPr/>
        </p:nvPicPr>
        <p:blipFill>
          <a:blip r:embed="rId5"/>
          <a:stretch>
            <a:fillRect/>
          </a:stretch>
        </p:blipFill>
        <p:spPr>
          <a:xfrm>
            <a:off x="5832958" y="3326130"/>
            <a:ext cx="525780" cy="525780"/>
          </a:xfrm>
          <a:prstGeom prst="rect">
            <a:avLst/>
          </a:prstGeom>
        </p:spPr>
      </p:pic>
      <p:sp>
        <p:nvSpPr>
          <p:cNvPr id="16" name="Text 8"/>
          <p:cNvSpPr txBox="1"/>
          <p:nvPr/>
        </p:nvSpPr>
        <p:spPr>
          <a:xfrm>
            <a:off x="52957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PREVENGO</a:t>
            </a:r>
            <a:endParaRPr lang="en-US" sz="1300" dirty="0"/>
          </a:p>
        </p:txBody>
      </p:sp>
      <p:pic>
        <p:nvPicPr>
          <p:cNvPr id="17" name="Image 5" descr="/tmp/claude-0/-home-user-riesgo/0ff9ff46-1396-5bd8-b3ac-2280dfbbbc55/scratchpad/work/gen/icons/arrow_right_gold.png">    </p:cNvPr>
          <p:cNvPicPr>
            <a:picLocks noChangeAspect="1"/>
          </p:cNvPicPr>
          <p:nvPr/>
        </p:nvPicPr>
        <p:blipFill>
          <a:blip r:embed="rId6"/>
          <a:stretch>
            <a:fillRect/>
          </a:stretch>
        </p:blipFill>
        <p:spPr>
          <a:xfrm>
            <a:off x="6653632" y="3461004"/>
            <a:ext cx="256032" cy="256032"/>
          </a:xfrm>
          <a:prstGeom prst="rect">
            <a:avLst/>
          </a:prstGeom>
        </p:spPr>
      </p:pic>
      <p:sp>
        <p:nvSpPr>
          <p:cNvPr id="18" name="Shape 9"/>
          <p:cNvSpPr/>
          <p:nvPr/>
        </p:nvSpPr>
        <p:spPr>
          <a:xfrm>
            <a:off x="6941668" y="3063240"/>
            <a:ext cx="1051560" cy="1051560"/>
          </a:xfrm>
          <a:prstGeom prst="ellipse">
            <a:avLst/>
          </a:prstGeom>
          <a:solidFill>
            <a:srgbClr val="E3A73B"/>
          </a:solidFill>
          <a:ln/>
        </p:spPr>
      </p:sp>
      <p:pic>
        <p:nvPicPr>
          <p:cNvPr id="19" name="Image 6" descr="/tmp/claude-0/-home-user-riesgo/0ff9ff46-1396-5bd8-b3ac-2280dfbbbc55/scratchpad/work/gen/icons/lightbulb_navy.png">    </p:cNvPr>
          <p:cNvPicPr>
            <a:picLocks noChangeAspect="1"/>
          </p:cNvPicPr>
          <p:nvPr/>
        </p:nvPicPr>
        <p:blipFill>
          <a:blip r:embed="rId7"/>
          <a:stretch>
            <a:fillRect/>
          </a:stretch>
        </p:blipFill>
        <p:spPr>
          <a:xfrm>
            <a:off x="7204558" y="3326130"/>
            <a:ext cx="525780" cy="525780"/>
          </a:xfrm>
          <a:prstGeom prst="rect">
            <a:avLst/>
          </a:prstGeom>
        </p:spPr>
      </p:pic>
      <p:sp>
        <p:nvSpPr>
          <p:cNvPr id="20" name="Text 10"/>
          <p:cNvSpPr txBox="1"/>
          <p:nvPr/>
        </p:nvSpPr>
        <p:spPr>
          <a:xfrm>
            <a:off x="66673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ACTÚO</a:t>
            </a:r>
            <a:endParaRPr lang="en-US" sz="1300" dirty="0"/>
          </a:p>
        </p:txBody>
      </p:sp>
      <p:pic>
        <p:nvPicPr>
          <p:cNvPr id="21" name="Image 7" descr="/tmp/claude-0/-home-user-riesgo/0ff9ff46-1396-5bd8-b3ac-2280dfbbbc55/scratchpad/work/gen/icons/arrow_right_gold.png">    </p:cNvPr>
          <p:cNvPicPr>
            <a:picLocks noChangeAspect="1"/>
          </p:cNvPicPr>
          <p:nvPr/>
        </p:nvPicPr>
        <p:blipFill>
          <a:blip r:embed="rId8"/>
          <a:stretch>
            <a:fillRect/>
          </a:stretch>
        </p:blipFill>
        <p:spPr>
          <a:xfrm>
            <a:off x="8025232" y="3461004"/>
            <a:ext cx="256032" cy="256032"/>
          </a:xfrm>
          <a:prstGeom prst="rect">
            <a:avLst/>
          </a:prstGeom>
        </p:spPr>
      </p:pic>
      <p:sp>
        <p:nvSpPr>
          <p:cNvPr id="22" name="Shape 11"/>
          <p:cNvSpPr/>
          <p:nvPr/>
        </p:nvSpPr>
        <p:spPr>
          <a:xfrm>
            <a:off x="8313268" y="3063240"/>
            <a:ext cx="1051560" cy="1051560"/>
          </a:xfrm>
          <a:prstGeom prst="ellipse">
            <a:avLst/>
          </a:prstGeom>
          <a:solidFill>
            <a:srgbClr val="E3A73B"/>
          </a:solidFill>
          <a:ln/>
        </p:spPr>
      </p:sp>
      <p:pic>
        <p:nvPicPr>
          <p:cNvPr id="23" name="Image 8" descr="/tmp/claude-0/-home-user-riesgo/0ff9ff46-1396-5bd8-b3ac-2280dfbbbc55/scratchpad/work/gen/icons/megaphone_navy.png">    </p:cNvPr>
          <p:cNvPicPr>
            <a:picLocks noChangeAspect="1"/>
          </p:cNvPicPr>
          <p:nvPr/>
        </p:nvPicPr>
        <p:blipFill>
          <a:blip r:embed="rId9"/>
          <a:stretch>
            <a:fillRect/>
          </a:stretch>
        </p:blipFill>
        <p:spPr>
          <a:xfrm>
            <a:off x="8576158" y="3326130"/>
            <a:ext cx="525780" cy="525780"/>
          </a:xfrm>
          <a:prstGeom prst="rect">
            <a:avLst/>
          </a:prstGeom>
        </p:spPr>
      </p:pic>
      <p:sp>
        <p:nvSpPr>
          <p:cNvPr id="24" name="Text 12"/>
          <p:cNvSpPr txBox="1"/>
          <p:nvPr/>
        </p:nvSpPr>
        <p:spPr>
          <a:xfrm>
            <a:off x="80389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REPORTO</a:t>
            </a:r>
            <a:endParaRPr lang="en-US" sz="1300" dirty="0"/>
          </a:p>
        </p:txBody>
      </p:sp>
      <p:sp>
        <p:nvSpPr>
          <p:cNvPr id="25" name="Text 13"/>
          <p:cNvSpPr txBox="1"/>
          <p:nvPr/>
        </p:nvSpPr>
        <p:spPr>
          <a:xfrm>
            <a:off x="640080" y="5074920"/>
            <a:ext cx="10972800" cy="502920"/>
          </a:xfrm>
          <a:prstGeom prst="rect">
            <a:avLst/>
          </a:prstGeom>
          <a:noFill/>
          <a:ln/>
        </p:spPr>
        <p:txBody>
          <a:bodyPr wrap="square" lIns="0" tIns="0" rIns="0" bIns="0" rtlCol="0" anchor="ctr"/>
          <a:lstStyle/>
          <a:p>
            <a:pPr algn="ctr" indent="0" marL="0">
              <a:buNone/>
            </a:pPr>
            <a:r>
              <a:rPr lang="en-US" sz="2000" b="1" spc="100" kern="0" dirty="0">
                <a:solidFill>
                  <a:srgbClr val="E3A73B"/>
                </a:solidFill>
                <a:latin typeface="Calibri" pitchFamily="34" charset="0"/>
                <a:ea typeface="Calibri" pitchFamily="34" charset="-122"/>
                <a:cs typeface="Calibri" pitchFamily="34" charset="-120"/>
              </a:rPr>
              <a:t>¿VES UN RIESGO?  ¡REPÓRTALO!</a:t>
            </a:r>
            <a:endParaRPr lang="en-US" sz="2000" dirty="0"/>
          </a:p>
        </p:txBody>
      </p:sp>
      <p:pic>
        <p:nvPicPr>
          <p:cNvPr id="26" name="Image 9" descr="/tmp/claude-0/-home-user-riesgo/0ff9ff46-1396-5bd8-b3ac-2280dfbbbc55/scratchpad/work/gen/logo_white.png">    </p:cNvPr>
          <p:cNvPicPr>
            <a:picLocks noChangeAspect="1"/>
          </p:cNvPicPr>
          <p:nvPr/>
        </p:nvPicPr>
        <p:blipFill>
          <a:blip r:embed="rId10"/>
          <a:stretch>
            <a:fillRect/>
          </a:stretch>
        </p:blipFill>
        <p:spPr>
          <a:xfrm>
            <a:off x="5318608" y="5779008"/>
            <a:ext cx="1554480" cy="436809"/>
          </a:xfrm>
          <a:prstGeom prst="rect">
            <a:avLst/>
          </a:prstGeom>
        </p:spPr>
      </p:pic>
      <p:sp>
        <p:nvSpPr>
          <p:cNvPr id="27"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8"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8961120" y="3291840"/>
            <a:ext cx="5669280" cy="5669280"/>
          </a:xfrm>
          <a:prstGeom prst="ellipse">
            <a:avLst/>
          </a:prstGeom>
          <a:solidFill>
            <a:srgbClr val="0D2847"/>
          </a:solidFill>
          <a:ln/>
        </p:spPr>
      </p:sp>
      <p:sp>
        <p:nvSpPr>
          <p:cNvPr id="4" name="Text 1"/>
          <p:cNvSpPr txBox="1"/>
          <p:nvPr/>
        </p:nvSpPr>
        <p:spPr>
          <a:xfrm>
            <a:off x="914400" y="685800"/>
            <a:ext cx="1828800" cy="1463040"/>
          </a:xfrm>
          <a:prstGeom prst="rect">
            <a:avLst/>
          </a:prstGeom>
          <a:noFill/>
          <a:ln/>
        </p:spPr>
        <p:txBody>
          <a:bodyPr wrap="square" lIns="0" tIns="0" rIns="0" bIns="0" rtlCol="0" anchor="ctr"/>
          <a:lstStyle/>
          <a:p>
            <a:pPr indent="0" marL="0">
              <a:buNone/>
            </a:pPr>
            <a:r>
              <a:rPr lang="en-US" sz="11000" b="1" dirty="0">
                <a:solidFill>
                  <a:srgbClr val="2E5286"/>
                </a:solidFill>
                <a:latin typeface="Cambria" pitchFamily="34" charset="0"/>
                <a:ea typeface="Cambria" pitchFamily="34" charset="-122"/>
                <a:cs typeface="Cambria" pitchFamily="34" charset="-120"/>
              </a:rPr>
              <a:t>“</a:t>
            </a:r>
            <a:endParaRPr lang="en-US" sz="11000" dirty="0"/>
          </a:p>
        </p:txBody>
      </p:sp>
      <p:sp>
        <p:nvSpPr>
          <p:cNvPr id="5" name="Text 2"/>
          <p:cNvSpPr txBox="1"/>
          <p:nvPr/>
        </p:nvSpPr>
        <p:spPr>
          <a:xfrm>
            <a:off x="914400" y="1965960"/>
            <a:ext cx="10360152" cy="1737360"/>
          </a:xfrm>
          <a:prstGeom prst="rect">
            <a:avLst/>
          </a:prstGeom>
          <a:noFill/>
          <a:ln/>
        </p:spPr>
        <p:txBody>
          <a:bodyPr wrap="square" lIns="0" tIns="0" rIns="0" bIns="0" rtlCol="0" anchor="ctr"/>
          <a:lstStyle/>
          <a:p>
            <a:pPr algn="ctr" indent="0" marL="0">
              <a:lnSpc>
                <a:spcPct val="120000"/>
              </a:lnSpc>
              <a:buNone/>
            </a:pPr>
            <a:r>
              <a:rPr lang="en-US" sz="3000" b="1" dirty="0">
                <a:solidFill>
                  <a:srgbClr val="FFFFFF"/>
                </a:solidFill>
                <a:latin typeface="Cambria" pitchFamily="34" charset="0"/>
                <a:ea typeface="Cambria" pitchFamily="34" charset="-122"/>
                <a:cs typeface="Cambria" pitchFamily="34" charset="-120"/>
              </a:rPr>
              <a:t>Un riesgo que reportamos a tiempo</a:t>
            </a:r>
            <a:endParaRPr lang="en-US" sz="3000" dirty="0"/>
          </a:p>
          <a:p>
            <a:pPr algn="ctr" indent="0" marL="0">
              <a:lnSpc>
                <a:spcPct val="120000"/>
              </a:lnSpc>
              <a:buNone/>
            </a:pPr>
            <a:r>
              <a:rPr lang="en-US" sz="3000" b="1" dirty="0">
                <a:solidFill>
                  <a:srgbClr val="FFFFFF"/>
                </a:solidFill>
                <a:latin typeface="Cambria" pitchFamily="34" charset="0"/>
                <a:ea typeface="Cambria" pitchFamily="34" charset="-122"/>
                <a:cs typeface="Cambria" pitchFamily="34" charset="-120"/>
              </a:rPr>
              <a:t>puede evitar un problema mañana.</a:t>
            </a:r>
            <a:endParaRPr lang="en-US" sz="3000" dirty="0"/>
          </a:p>
        </p:txBody>
      </p:sp>
      <p:sp>
        <p:nvSpPr>
          <p:cNvPr id="6" name="Text 3"/>
          <p:cNvSpPr txBox="1"/>
          <p:nvPr/>
        </p:nvSpPr>
        <p:spPr>
          <a:xfrm>
            <a:off x="1463040" y="3931920"/>
            <a:ext cx="9262872" cy="457200"/>
          </a:xfrm>
          <a:prstGeom prst="rect">
            <a:avLst/>
          </a:prstGeom>
          <a:noFill/>
          <a:ln/>
        </p:spPr>
        <p:txBody>
          <a:bodyPr wrap="square" lIns="0" tIns="0" rIns="0" bIns="0" rtlCol="0" anchor="ctr"/>
          <a:lstStyle/>
          <a:p>
            <a:pPr algn="ctr" indent="0" marL="0">
              <a:buNone/>
            </a:pPr>
            <a:r>
              <a:rPr lang="en-US" sz="1500" i="1" dirty="0">
                <a:solidFill>
                  <a:srgbClr val="D7E1F0"/>
                </a:solidFill>
                <a:latin typeface="Calibri" pitchFamily="34" charset="0"/>
                <a:ea typeface="Calibri" pitchFamily="34" charset="-122"/>
                <a:cs typeface="Calibri" pitchFamily="34" charset="-120"/>
              </a:rPr>
              <a:t>Gracias por hacer de la gestión de riesgos parte de tu trabajo diario.</a:t>
            </a:r>
            <a:endParaRPr lang="en-US" sz="1500" dirty="0"/>
          </a:p>
        </p:txBody>
      </p:sp>
      <p:pic>
        <p:nvPicPr>
          <p:cNvPr id="7" name="Image 0" descr="/tmp/claude-0/-home-user-riesgo/0ff9ff46-1396-5bd8-b3ac-2280dfbbbc55/scratchpad/work/gen/logo_white.png">    </p:cNvPr>
          <p:cNvPicPr>
            <a:picLocks noChangeAspect="1"/>
          </p:cNvPicPr>
          <p:nvPr/>
        </p:nvPicPr>
        <p:blipFill>
          <a:blip r:embed="rId1"/>
          <a:stretch>
            <a:fillRect/>
          </a:stretch>
        </p:blipFill>
        <p:spPr>
          <a:xfrm>
            <a:off x="5090008" y="5074920"/>
            <a:ext cx="2011680" cy="565282"/>
          </a:xfrm>
          <a:prstGeom prst="rect">
            <a:avLst/>
          </a:prstGeom>
        </p:spPr>
      </p:pic>
      <p:sp>
        <p:nvSpPr>
          <p:cNvPr id="8" name="Text 4"/>
          <p:cNvSpPr txBox="1"/>
          <p:nvPr/>
        </p:nvSpPr>
        <p:spPr>
          <a:xfrm>
            <a:off x="914400" y="6172200"/>
            <a:ext cx="10360152" cy="320040"/>
          </a:xfrm>
          <a:prstGeom prst="rect">
            <a:avLst/>
          </a:prstGeom>
          <a:noFill/>
          <a:ln/>
        </p:spPr>
        <p:txBody>
          <a:bodyPr wrap="square" lIns="0" tIns="0" rIns="0" bIns="0" rtlCol="0" anchor="ctr"/>
          <a:lstStyle/>
          <a:p>
            <a:pPr algn="ctr" indent="0" marL="0">
              <a:buNone/>
            </a:pPr>
            <a:r>
              <a:rPr lang="en-US" sz="1100" dirty="0">
                <a:solidFill>
                  <a:srgbClr val="AEC0DA"/>
                </a:solidFill>
                <a:latin typeface="Calibri" pitchFamily="34" charset="0"/>
                <a:ea typeface="Calibri" pitchFamily="34" charset="-122"/>
                <a:cs typeface="Calibri" pitchFamily="34" charset="-120"/>
              </a:rPr>
              <a:t>Departamento de Administración de Riesgos  ·  Capacitación anual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2026-09-10T04:09:16Z</dcterms:created>
  <dcterms:modified xsi:type="dcterms:W3CDTF">2026-09-10T04:09:16Z</dcterms:modified>
</cp:coreProperties>
</file>