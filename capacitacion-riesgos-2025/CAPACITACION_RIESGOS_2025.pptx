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la bienvenida al grupo. Explica que el objetivo de hoy no es memorizar definiciones, sino construir una cultura real de gestión de riesgos: que cada persona salga pensando "yo también soy responsable". Menciona que habrá dinámicas, preguntas y casos prácticos durante toda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recorrido de los 8 temas sin entrar en detalle todavía. Aclara que al final habrá casos integradores y una gran actividad final, y que la sesión es participativa: se espera que el grupo opine, vote y responda preguntas durante toda la capacitación.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30 segundos reales, con un cronómetro visible si es posible. Pide que levanten la mano o griten en voz alta conforme identifiquen riesgos, sin revelar todavía cuáles son. Genera expectativa antes de pasar a la siguiente diapositiva con las respuestas.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 los 8 riesgos uno por uno. Pregunta cuántos identificó el grupo y felicita a quien más encontró. Cierra la apertura conectando: este mismo ejercicio de observación es el que deben aplicar todos los días en su puesto de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primer tema con la idea central de toda la capacitación: la gestión de riesgos no es tarea exclusiva de Administración de Riesgos, sino de cada colaborador, sin importar su 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 verbo por verbo y pide un ejemplo concreto de cada uno aplicado al puesto de alguien en la sala (no tiene que ser de Administración de Riesgos). El objetivo es que el grupo vea que estas seis acciones ya las puede aplicar hoy mismo. Deja que la frase final del recuadro azul respire unos segundos: es el cierre emocional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uno de los más importantes de toda la capacitación: no basta con identificar un riesgo, hay que reportarlo. Aclara que reportar no es "delatar", es proteger a la Cooperativa y a los asociados.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cada paso con un ejemplo breve y cotidiano. Enfatiza que los cuatro pasos ocurren en segundos: ver algo, reconocerlo como riesgo, actuar de inmediato y avisar. Ninguno se puede saltar.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la situación en voz alta y da un minuto para que el grupo vote por A, B o C (a mano alzada) antes de señalar la opción C ya marcada en pantalla. Asegúrate de que todos vean y recuerden el canal institucional de reporte del recuadro inferior: es el dato más importante de esta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el riesgo operativo como algo cotidiano y concreto, no como un concepto técnico abstracto. Todos en la sala conviven con él a diario, aunque no lo llamen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un ejemplo real de cada categoría, vivido por alguien del grupo o de la Cooperativa. No hace falta profundizar mucho en cada una: el objetivo es que reconozcan las cuatro fuentes, no memorizarlas. Refuerza la frase del recuadro final y pausa unos segundos antes de avanzar al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la reputación como un activo que se construye o se pierde con cada interacción, no como un tema exclusivo de comunicaciones o gerencia.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los 8 elementos y pregunta al grupo cuál consideran más vulnerable en su área de trabajo. No es necesario detenerte por igual en los 8; prioriza los que generen más discusión. Deja que la frase del recuadro final respire unos segundos antes de pasar al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el caso y pide una votación rápida (A, B o C) antes de señalar la opción C ya marcada en pantalla. Pregunta si alguien ha vivido una situación similar con un asociado. Cierra conectando con la idea de canalizar los casos por los canales adecuados de la Cooperativa, sin dar detalles de un procedimiento específico si no está definido.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la diferencia entre error y fraude como el eje central de este tema. Aclara desde ya que ambos deben reportarse, aunque el trasfondo sea distinto.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la diferencia clave es la intención. Aclara que la responsabilidad del colaborador no es "juzgar" cuál es cuál, sino documentar y reportar en ambos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cada situación y pide que el grupo vote ERROR o FRAUDE (a mano alzada) antes de señalar el recuadro coloreado ya marcado en pantalla. Explica brevemente el razonamiento en cada una (¿hubo intención de obtener un beneficio u ocultar algo, o fue una equivocación?).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 ejemplos adicionales de señales de alerta que el grupo haya visto u oído (sin señalar a nadie en específico). Cierra el tema reforzando: documentar y reportar siempre, encubrir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 desde el inicio que este tema busca corresponsabilidad, no señalar al área de Créditos. El mensaje es que todos los que tocan el proceso —aunque sea en un solo paso— influyen en el riesgo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brevemente las 8 etapas. Pregunta al grupo en qué etapa creen que ellos mismos participan o influyen, aunque no trabajen directamente en Créditos (por ejemplo, verificando datos o atendiendo al asociado). Deja que la respuesta del recuadro final impacte antes de explicarla: no hay una sola etapa "responsable" del riesgo crediticio; un dato mal verificado, un documento incompleto o una alerta ignorada puede aparecer en cualquier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el tema reforzando los tres pilares: corresponsabilidad, prevención y calidad del proceso. Evita que el cierre suene como una crítica al área de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este tema como una aclaración simple de roles, no como una explicación burocrática. El mensaje debe quedar corto y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cada rol de izquierda a derecha con una frase corta sobre su función. No te extiendas demasiado en ninguno: el punto es que todos los roles se vean bajo el mismo mensaje de "todos somos responsables".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último tema con la sostenibilidad de la Cooperativa a largo plazo: lo ambiental y lo social no son temas aparte de las finanzas, son parte de la misma cadena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 un ejemplo concreto (un terremoto, una tormenta, una epidemia) y recorre la cadena completa paso a paso hasta llegar al impacto financiero. Pregunta si alguien en el grupo ha vivido una interrupción operativa por alguno de los eventos listados abajo. Cierra el bloque de los 8 temas: lo que sigue son los casos integradores.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 que estos 4 casos integran todos los temas vistos. Da 2-3 minutos para que el grupo (o equipos pequeños) discuta la situación —¿qué riesgos identifican, qué harían, a quién corresponde actuar y qué pasa si no se actúa?— antes de recorrer las tres columnas de respuesta. Resalta que este caso conecta el Tema 3 (riesgo operativo) con la importancia de reportar del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Repite la dinámica: da tiempo de discusión en equipos antes de recorrer la respuesta. Conecta esta respuesta con el Tema 4 (reputación) visto anteriormente.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caso es ambiguo a propósito: motiva al grupo a discutir qué harían ante la incertidumbre de no saber si es error o algo más. Refuerza la idea clave del Tema 5: no le corresponde al colaborador decidir si es error o fraude, solo documentar y reportar.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 este caso con el Tema 6 (riesgo crediticio) y su idea de corresponsabilidad a lo largo del proceso. Cierra la sección de casos integradores preguntando si el grupo tiene algún caso real propio (sin mencionar nombres) que quiera compartir antes de pasar a la actividad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esta como la gran actividad de cierre y genera energía y expectativa antes de iniciar el cronómetro. Da 30 segundos reales con un cronómetro visible. Motiva a que compitan entre sí por encontrar más riesgos que en la actividad de apertura del inicio de la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Revisa los 9 riesgos uno por uno. Pregunta cuántos identificó cada persona y felicita a quien más encontró. Compara con el resultado de la actividad de apertura si el grupo lo recuerda.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secuencia VEO-IDENTIFICO-PREVENGO-ACTÚO-REPORTO en voz alta junto con el grupo, casi como un compromiso colectivo — es el resumen de toda la capacitación en cinco palabras. Luego cierra con la frase final y agradece la participación del grupo. Recuerda una vez más el canal institucional de reporte antes de terminar la sesión, y resuelve cualquier duda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2.png"/><Relationship Id="rId5" Type="http://schemas.openxmlformats.org/officeDocument/2006/relationships/image" Target="../media/image-8-5.png"/><Relationship Id="rId6" Type="http://schemas.openxmlformats.org/officeDocument/2006/relationships/image" Target="../media/image-8-2.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2.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2.png"/><Relationship Id="rId11" Type="http://schemas.openxmlformats.org/officeDocument/2006/relationships/image" Target="../media/image-20-11.png"/><Relationship Id="rId12" Type="http://schemas.openxmlformats.org/officeDocument/2006/relationships/image" Target="../media/image-20-2.png"/><Relationship Id="rId13" Type="http://schemas.openxmlformats.org/officeDocument/2006/relationships/image" Target="../media/image-20-13.png"/><Relationship Id="rId14" Type="http://schemas.openxmlformats.org/officeDocument/2006/relationships/image" Target="../media/image-20-2.png"/><Relationship Id="rId15" Type="http://schemas.openxmlformats.org/officeDocument/2006/relationships/image" Target="../media/image-20-15.pn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2.png"/><Relationship Id="rId5" Type="http://schemas.openxmlformats.org/officeDocument/2006/relationships/image" Target="../media/image-25-5.png"/><Relationship Id="rId6" Type="http://schemas.openxmlformats.org/officeDocument/2006/relationships/image" Target="../media/image-25-2.png"/><Relationship Id="rId7" Type="http://schemas.openxmlformats.org/officeDocument/2006/relationships/image" Target="../media/image-25-7.png"/><Relationship Id="rId8" Type="http://schemas.openxmlformats.org/officeDocument/2006/relationships/image" Target="../media/image-25-2.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image" Target="../media/image-25-14.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slideLayout" Target="../slideLayouts/slideLayout1.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2.png"/><Relationship Id="rId5" Type="http://schemas.openxmlformats.org/officeDocument/2006/relationships/image" Target="../media/image-32-5.png"/><Relationship Id="rId6" Type="http://schemas.openxmlformats.org/officeDocument/2006/relationships/image" Target="../media/image-32-2.png"/><Relationship Id="rId7" Type="http://schemas.openxmlformats.org/officeDocument/2006/relationships/image" Target="../media/image-32-7.png"/><Relationship Id="rId8" Type="http://schemas.openxmlformats.org/officeDocument/2006/relationships/image" Target="../media/image-32-2.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slideLayout" Target="../slideLayouts/slideLayout1.xml"/><Relationship Id="rId1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2743200" y="4572000"/>
            <a:ext cx="5852160" cy="5852160"/>
          </a:xfrm>
          <a:prstGeom prst="ellipse">
            <a:avLst/>
          </a:prstGeom>
          <a:solidFill>
            <a:srgbClr val="F2F5F9"/>
          </a:solidFill>
          <a:ln/>
        </p:spPr>
      </p:sp>
      <p:sp>
        <p:nvSpPr>
          <p:cNvPr id="4" name="Text 1"/>
          <p:cNvSpPr txBox="1"/>
          <p:nvPr/>
        </p:nvSpPr>
        <p:spPr>
          <a:xfrm>
            <a:off x="868680" y="1280160"/>
            <a:ext cx="731520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CAPACITACIÓN ANUAL 2025</a:t>
            </a:r>
            <a:endParaRPr lang="en-US" sz="1500" dirty="0"/>
          </a:p>
        </p:txBody>
      </p:sp>
      <p:sp>
        <p:nvSpPr>
          <p:cNvPr id="5" name="Text 2"/>
          <p:cNvSpPr txBox="1"/>
          <p:nvPr/>
        </p:nvSpPr>
        <p:spPr>
          <a:xfrm>
            <a:off x="822960" y="1737360"/>
            <a:ext cx="7863840" cy="1874520"/>
          </a:xfrm>
          <a:prstGeom prst="rect">
            <a:avLst/>
          </a:prstGeom>
          <a:noFill/>
          <a:ln/>
        </p:spPr>
        <p:txBody>
          <a:bodyPr wrap="square" lIns="0" tIns="0" rIns="0" bIns="0" rtlCol="0" anchor="ctr"/>
          <a:lstStyle/>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GESTIÓN INTEGRAL</a:t>
            </a:r>
            <a:endParaRPr lang="en-US" sz="4600" dirty="0"/>
          </a:p>
          <a:p>
            <a:pPr indent="0" marL="0">
              <a:lnSpc>
                <a:spcPct val="103000"/>
              </a:lnSpc>
              <a:buNone/>
            </a:pPr>
            <a:r>
              <a:rPr lang="en-US" sz="4600" b="1" dirty="0">
                <a:solidFill>
                  <a:srgbClr val="133B6C"/>
                </a:solidFill>
                <a:latin typeface="Cambria" pitchFamily="34" charset="0"/>
                <a:ea typeface="Cambria" pitchFamily="34" charset="-122"/>
                <a:cs typeface="Cambria" pitchFamily="34" charset="-120"/>
              </a:rPr>
              <a:t>DE RIESGOS</a:t>
            </a:r>
            <a:endParaRPr lang="en-US" sz="4600" dirty="0"/>
          </a:p>
        </p:txBody>
      </p:sp>
      <p:sp>
        <p:nvSpPr>
          <p:cNvPr id="6" name="Text 3"/>
          <p:cNvSpPr txBox="1"/>
          <p:nvPr/>
        </p:nvSpPr>
        <p:spPr>
          <a:xfrm>
            <a:off x="868680" y="3657600"/>
            <a:ext cx="7680960" cy="502920"/>
          </a:xfrm>
          <a:prstGeom prst="rect">
            <a:avLst/>
          </a:prstGeom>
          <a:noFill/>
          <a:ln/>
        </p:spPr>
        <p:txBody>
          <a:bodyPr wrap="square" lIns="0" tIns="0" rIns="0" bIns="0" rtlCol="0" anchor="ctr"/>
          <a:lstStyle/>
          <a:p>
            <a:pPr indent="0" marL="0">
              <a:buNone/>
            </a:pPr>
            <a:r>
              <a:rPr lang="en-US" sz="1900" b="1" spc="150" kern="0" dirty="0">
                <a:solidFill>
                  <a:srgbClr val="243044"/>
                </a:solidFill>
                <a:latin typeface="Calibri" pitchFamily="34" charset="0"/>
                <a:ea typeface="Calibri" pitchFamily="34" charset="-122"/>
                <a:cs typeface="Calibri" pitchFamily="34" charset="-120"/>
              </a:rPr>
              <a:t>TODOS SOMOS GESTORES DE RIESGOS</a:t>
            </a:r>
            <a:endParaRPr lang="en-US" sz="1900" dirty="0"/>
          </a:p>
        </p:txBody>
      </p:sp>
      <p:sp>
        <p:nvSpPr>
          <p:cNvPr id="7" name="Text 4"/>
          <p:cNvSpPr txBox="1"/>
          <p:nvPr/>
        </p:nvSpPr>
        <p:spPr>
          <a:xfrm>
            <a:off x="868680" y="4480560"/>
            <a:ext cx="6400800" cy="320040"/>
          </a:xfrm>
          <a:prstGeom prst="rect">
            <a:avLst/>
          </a:prstGeom>
          <a:noFill/>
          <a:ln/>
        </p:spPr>
        <p:txBody>
          <a:bodyPr wrap="square" lIns="0" tIns="0" rIns="0" bIns="0" rtlCol="0" anchor="ctr"/>
          <a:lstStyle/>
          <a:p>
            <a:pPr indent="0" marL="0">
              <a:buNone/>
            </a:pPr>
            <a:r>
              <a:rPr lang="en-US" sz="1300" dirty="0">
                <a:solidFill>
                  <a:srgbClr val="5B6B82"/>
                </a:solidFill>
                <a:latin typeface="Calibri" pitchFamily="34" charset="0"/>
                <a:ea typeface="Calibri" pitchFamily="34" charset="-122"/>
                <a:cs typeface="Calibri" pitchFamily="34" charset="-120"/>
              </a:rPr>
              <a:t>Departamento de Administración de Riesgos</a:t>
            </a:r>
            <a:endParaRPr lang="en-US" sz="1300" dirty="0"/>
          </a:p>
        </p:txBody>
      </p:sp>
      <p:sp>
        <p:nvSpPr>
          <p:cNvPr id="8" name="Text 5"/>
          <p:cNvSpPr txBox="1"/>
          <p:nvPr/>
        </p:nvSpPr>
        <p:spPr>
          <a:xfrm>
            <a:off x="868680" y="4800600"/>
            <a:ext cx="6400800" cy="320040"/>
          </a:xfrm>
          <a:prstGeom prst="rect">
            <a:avLst/>
          </a:prstGeom>
          <a:noFill/>
          <a:ln/>
        </p:spPr>
        <p:txBody>
          <a:bodyPr wrap="square" lIns="0" tIns="0" rIns="0" bIns="0" rtlCol="0" anchor="ctr"/>
          <a:lstStyle/>
          <a:p>
            <a:pPr indent="0" marL="0">
              <a:buNone/>
            </a:pPr>
            <a:r>
              <a:rPr lang="en-US" sz="1300" i="1" dirty="0">
                <a:solidFill>
                  <a:srgbClr val="2E86C7"/>
                </a:solidFill>
                <a:latin typeface="Calibri" pitchFamily="34" charset="0"/>
                <a:ea typeface="Calibri" pitchFamily="34" charset="-122"/>
                <a:cs typeface="Calibri" pitchFamily="34" charset="-120"/>
              </a:rPr>
              <a:t>Identificar · Prevenir · Reducir</a:t>
            </a:r>
            <a:endParaRPr lang="en-US" sz="1300" dirty="0"/>
          </a:p>
        </p:txBody>
      </p:sp>
      <p:sp>
        <p:nvSpPr>
          <p:cNvPr id="9" name="Shape 6"/>
          <p:cNvSpPr/>
          <p:nvPr/>
        </p:nvSpPr>
        <p:spPr>
          <a:xfrm>
            <a:off x="10195560" y="-548640"/>
            <a:ext cx="2743200" cy="2743200"/>
          </a:xfrm>
          <a:prstGeom prst="ellipse">
            <a:avLst/>
          </a:prstGeom>
          <a:solidFill>
            <a:srgbClr val="8CBCE0"/>
          </a:solidFill>
          <a:ln/>
        </p:spPr>
      </p:sp>
      <p:sp>
        <p:nvSpPr>
          <p:cNvPr id="10" name="Shape 7"/>
          <p:cNvSpPr/>
          <p:nvPr/>
        </p:nvSpPr>
        <p:spPr>
          <a:xfrm>
            <a:off x="8366760" y="640080"/>
            <a:ext cx="3383280" cy="5257800"/>
          </a:xfrm>
          <a:prstGeom prst="roundRect">
            <a:avLst>
              <a:gd name="adj" fmla="val 12162"/>
            </a:avLst>
          </a:prstGeom>
          <a:solidFill>
            <a:srgbClr val="2E86C7"/>
          </a:solidFill>
          <a:ln/>
        </p:spPr>
      </p:sp>
      <p:sp>
        <p:nvSpPr>
          <p:cNvPr id="11" name="Shape 8"/>
          <p:cNvSpPr/>
          <p:nvPr/>
        </p:nvSpPr>
        <p:spPr>
          <a:xfrm>
            <a:off x="9280246" y="2262226"/>
            <a:ext cx="1556309" cy="1556309"/>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12" name="Image 0" descr="/tmp/claude-0/-home-user-riesgo/0ff9ff46-1396-5bd8-b3ac-2280dfbbbc55/scratchpad/work/gen/icons/shield_check_navy.png">    </p:cNvPr>
          <p:cNvPicPr>
            <a:picLocks noChangeAspect="1"/>
          </p:cNvPicPr>
          <p:nvPr/>
        </p:nvPicPr>
        <p:blipFill>
          <a:blip r:embed="rId1"/>
          <a:stretch>
            <a:fillRect/>
          </a:stretch>
        </p:blipFill>
        <p:spPr>
          <a:xfrm>
            <a:off x="9716012" y="2697992"/>
            <a:ext cx="684776" cy="684776"/>
          </a:xfrm>
          <a:prstGeom prst="rect">
            <a:avLst/>
          </a:prstGeom>
        </p:spPr>
      </p:pic>
      <p:sp>
        <p:nvSpPr>
          <p:cNvPr id="13" name="Shape 9"/>
          <p:cNvSpPr/>
          <p:nvPr/>
        </p:nvSpPr>
        <p:spPr>
          <a:xfrm>
            <a:off x="8117751" y="5236449"/>
            <a:ext cx="778154" cy="778154"/>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14" name="Image 1" descr="/tmp/claude-0/-home-user-riesgo/0ff9ff46-1396-5bd8-b3ac-2280dfbbbc55/scratchpad/work/gen/icons/handshake_white.png">    </p:cNvPr>
          <p:cNvPicPr>
            <a:picLocks noChangeAspect="1"/>
          </p:cNvPicPr>
          <p:nvPr/>
        </p:nvPicPr>
        <p:blipFill>
          <a:blip r:embed="rId2"/>
          <a:stretch>
            <a:fillRect/>
          </a:stretch>
        </p:blipFill>
        <p:spPr>
          <a:xfrm>
            <a:off x="8320071" y="5438769"/>
            <a:ext cx="373514" cy="373514"/>
          </a:xfrm>
          <a:prstGeom prst="rect">
            <a:avLst/>
          </a:prstGeom>
        </p:spPr>
      </p:pic>
      <p:pic>
        <p:nvPicPr>
          <p:cNvPr id="15" name="Image 2" descr="/tmp/claude-0/-home-user-riesgo/0ff9ff46-1396-5bd8-b3ac-2280dfbbbc55/scratchpad/work/gen/logo_navy.png">    </p:cNvPr>
          <p:cNvPicPr>
            <a:picLocks noChangeAspect="1"/>
          </p:cNvPicPr>
          <p:nvPr/>
        </p:nvPicPr>
        <p:blipFill>
          <a:blip r:embed="rId3"/>
          <a:stretch>
            <a:fillRect/>
          </a:stretch>
        </p:blipFill>
        <p:spPr>
          <a:xfrm>
            <a:off x="868680" y="5779008"/>
            <a:ext cx="1691640" cy="475351"/>
          </a:xfrm>
          <a:prstGeom prst="rect">
            <a:avLst/>
          </a:prstGeom>
        </p:spPr>
      </p:pic>
      <p:sp>
        <p:nvSpPr>
          <p:cNvPr id="16" name="Text 1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7" name="Text 1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CAPACITACIÓN 2025</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NUESTRO RECORRIDO</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Ocho temas para construir, entre todos, una cultura real de gestión de riesgos.</a:t>
            </a:r>
            <a:endParaRPr lang="en-US" sz="1500" dirty="0"/>
          </a:p>
        </p:txBody>
      </p:sp>
      <p:sp>
        <p:nvSpPr>
          <p:cNvPr id="6" name="Shape 3"/>
          <p:cNvSpPr/>
          <p:nvPr/>
        </p:nvSpPr>
        <p:spPr>
          <a:xfrm>
            <a:off x="566928" y="1993392"/>
            <a:ext cx="5349240" cy="868680"/>
          </a:xfrm>
          <a:prstGeom prst="roundRect">
            <a:avLst>
              <a:gd name="adj" fmla="val 9474"/>
            </a:avLst>
          </a:prstGeom>
          <a:solidFill>
            <a:srgbClr val="F2F5F9"/>
          </a:solidFill>
          <a:ln/>
        </p:spPr>
      </p:sp>
      <p:sp>
        <p:nvSpPr>
          <p:cNvPr id="7" name="Shape 4"/>
          <p:cNvSpPr/>
          <p:nvPr/>
        </p:nvSpPr>
        <p:spPr>
          <a:xfrm>
            <a:off x="731520" y="2116836"/>
            <a:ext cx="621792" cy="621792"/>
          </a:xfrm>
          <a:prstGeom prst="ellipse">
            <a:avLst/>
          </a:prstGeom>
          <a:solidFill>
            <a:srgbClr val="4FA8E0"/>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886968" y="2272284"/>
            <a:ext cx="310896" cy="310896"/>
          </a:xfrm>
          <a:prstGeom prst="rect">
            <a:avLst/>
          </a:prstGeom>
        </p:spPr>
      </p:pic>
      <p:sp>
        <p:nvSpPr>
          <p:cNvPr id="9" name="Text 5"/>
          <p:cNvSpPr txBox="1"/>
          <p:nvPr/>
        </p:nvSpPr>
        <p:spPr>
          <a:xfrm>
            <a:off x="1463040" y="2066544"/>
            <a:ext cx="548640" cy="274320"/>
          </a:xfrm>
          <a:prstGeom prst="rect">
            <a:avLst/>
          </a:prstGeom>
          <a:noFill/>
          <a:ln/>
        </p:spPr>
        <p:txBody>
          <a:bodyPr wrap="square" lIns="0" tIns="0" rIns="0" bIns="0" rtlCol="0" anchor="ctr"/>
          <a:lstStyle/>
          <a:p>
            <a:pPr indent="0" marL="0">
              <a:buNone/>
            </a:pPr>
            <a:r>
              <a:rPr lang="en-US" sz="1300" b="1" dirty="0">
                <a:solidFill>
                  <a:srgbClr val="4FA8E0"/>
                </a:solidFill>
                <a:latin typeface="Cambria" pitchFamily="34" charset="0"/>
                <a:ea typeface="Cambria" pitchFamily="34" charset="-122"/>
                <a:cs typeface="Cambria" pitchFamily="34" charset="-120"/>
              </a:rPr>
              <a:t>01</a:t>
            </a:r>
            <a:endParaRPr lang="en-US" sz="1300" dirty="0"/>
          </a:p>
        </p:txBody>
      </p:sp>
      <p:sp>
        <p:nvSpPr>
          <p:cNvPr id="10" name="Text 6"/>
          <p:cNvSpPr txBox="1"/>
          <p:nvPr/>
        </p:nvSpPr>
        <p:spPr>
          <a:xfrm>
            <a:off x="146304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TODOS SOMOS GESTORES DE RIESGOS</a:t>
            </a:r>
            <a:endParaRPr lang="en-US" sz="1150" dirty="0"/>
          </a:p>
        </p:txBody>
      </p:sp>
      <p:sp>
        <p:nvSpPr>
          <p:cNvPr id="11" name="Shape 7"/>
          <p:cNvSpPr/>
          <p:nvPr/>
        </p:nvSpPr>
        <p:spPr>
          <a:xfrm>
            <a:off x="6236208" y="1993392"/>
            <a:ext cx="5349240" cy="868680"/>
          </a:xfrm>
          <a:prstGeom prst="roundRect">
            <a:avLst>
              <a:gd name="adj" fmla="val 9474"/>
            </a:avLst>
          </a:prstGeom>
          <a:solidFill>
            <a:srgbClr val="F2F5F9"/>
          </a:solidFill>
          <a:ln/>
        </p:spPr>
      </p:sp>
      <p:sp>
        <p:nvSpPr>
          <p:cNvPr id="12" name="Shape 8"/>
          <p:cNvSpPr/>
          <p:nvPr/>
        </p:nvSpPr>
        <p:spPr>
          <a:xfrm>
            <a:off x="6400800" y="2116836"/>
            <a:ext cx="621792" cy="621792"/>
          </a:xfrm>
          <a:prstGeom prst="ellipse">
            <a:avLst/>
          </a:prstGeom>
          <a:solidFill>
            <a:srgbClr val="2E86C7"/>
          </a:solidFill>
          <a:ln/>
        </p:spPr>
      </p:sp>
      <p:pic>
        <p:nvPicPr>
          <p:cNvPr id="13" name="Image 1" descr="/tmp/claude-0/-home-user-riesgo/0ff9ff46-1396-5bd8-b3ac-2280dfbbbc55/scratchpad/work/gen/icons/megaphone_white.png">    </p:cNvPr>
          <p:cNvPicPr>
            <a:picLocks noChangeAspect="1"/>
          </p:cNvPicPr>
          <p:nvPr/>
        </p:nvPicPr>
        <p:blipFill>
          <a:blip r:embed="rId2"/>
          <a:stretch>
            <a:fillRect/>
          </a:stretch>
        </p:blipFill>
        <p:spPr>
          <a:xfrm>
            <a:off x="6556248" y="2272284"/>
            <a:ext cx="310896" cy="310896"/>
          </a:xfrm>
          <a:prstGeom prst="rect">
            <a:avLst/>
          </a:prstGeom>
        </p:spPr>
      </p:pic>
      <p:sp>
        <p:nvSpPr>
          <p:cNvPr id="14" name="Text 9"/>
          <p:cNvSpPr txBox="1"/>
          <p:nvPr/>
        </p:nvSpPr>
        <p:spPr>
          <a:xfrm>
            <a:off x="7132320" y="2066544"/>
            <a:ext cx="548640" cy="274320"/>
          </a:xfrm>
          <a:prstGeom prst="rect">
            <a:avLst/>
          </a:prstGeom>
          <a:noFill/>
          <a:ln/>
        </p:spPr>
        <p:txBody>
          <a:bodyPr wrap="square" lIns="0" tIns="0" rIns="0" bIns="0" rtlCol="0" anchor="ctr"/>
          <a:lstStyle/>
          <a:p>
            <a:pPr indent="0" marL="0">
              <a:buNone/>
            </a:pPr>
            <a:r>
              <a:rPr lang="en-US" sz="1300" b="1" dirty="0">
                <a:solidFill>
                  <a:srgbClr val="2E86C7"/>
                </a:solidFill>
                <a:latin typeface="Cambria" pitchFamily="34" charset="0"/>
                <a:ea typeface="Cambria" pitchFamily="34" charset="-122"/>
                <a:cs typeface="Cambria" pitchFamily="34" charset="-120"/>
              </a:rPr>
              <a:t>02</a:t>
            </a:r>
            <a:endParaRPr lang="en-US" sz="1300" dirty="0"/>
          </a:p>
        </p:txBody>
      </p:sp>
      <p:sp>
        <p:nvSpPr>
          <p:cNvPr id="15" name="Text 10"/>
          <p:cNvSpPr txBox="1"/>
          <p:nvPr/>
        </p:nvSpPr>
        <p:spPr>
          <a:xfrm>
            <a:off x="7132320" y="2304288"/>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¿VES UN RIESGO? ¡REPÓRTALO!</a:t>
            </a:r>
            <a:endParaRPr lang="en-US" sz="1150" dirty="0"/>
          </a:p>
        </p:txBody>
      </p:sp>
      <p:sp>
        <p:nvSpPr>
          <p:cNvPr id="16" name="Shape 11"/>
          <p:cNvSpPr/>
          <p:nvPr/>
        </p:nvSpPr>
        <p:spPr>
          <a:xfrm>
            <a:off x="566928" y="2980944"/>
            <a:ext cx="5349240" cy="868680"/>
          </a:xfrm>
          <a:prstGeom prst="roundRect">
            <a:avLst>
              <a:gd name="adj" fmla="val 9474"/>
            </a:avLst>
          </a:prstGeom>
          <a:solidFill>
            <a:srgbClr val="F2F5F9"/>
          </a:solidFill>
          <a:ln/>
        </p:spPr>
      </p:sp>
      <p:sp>
        <p:nvSpPr>
          <p:cNvPr id="17" name="Shape 12"/>
          <p:cNvSpPr/>
          <p:nvPr/>
        </p:nvSpPr>
        <p:spPr>
          <a:xfrm>
            <a:off x="731520" y="3104388"/>
            <a:ext cx="621792" cy="621792"/>
          </a:xfrm>
          <a:prstGeom prst="ellipse">
            <a:avLst/>
          </a:prstGeom>
          <a:solidFill>
            <a:srgbClr val="17A9B0"/>
          </a:solidFill>
          <a:ln/>
        </p:spPr>
      </p:sp>
      <p:pic>
        <p:nvPicPr>
          <p:cNvPr id="18" name="Image 2" descr="/tmp/claude-0/-home-user-riesgo/0ff9ff46-1396-5bd8-b3ac-2280dfbbbc55/scratchpad/work/gen/icons/gears_white.png">    </p:cNvPr>
          <p:cNvPicPr>
            <a:picLocks noChangeAspect="1"/>
          </p:cNvPicPr>
          <p:nvPr/>
        </p:nvPicPr>
        <p:blipFill>
          <a:blip r:embed="rId3"/>
          <a:stretch>
            <a:fillRect/>
          </a:stretch>
        </p:blipFill>
        <p:spPr>
          <a:xfrm>
            <a:off x="886968" y="3259836"/>
            <a:ext cx="310896" cy="310896"/>
          </a:xfrm>
          <a:prstGeom prst="rect">
            <a:avLst/>
          </a:prstGeom>
        </p:spPr>
      </p:pic>
      <p:sp>
        <p:nvSpPr>
          <p:cNvPr id="19" name="Text 13"/>
          <p:cNvSpPr txBox="1"/>
          <p:nvPr/>
        </p:nvSpPr>
        <p:spPr>
          <a:xfrm>
            <a:off x="1463040" y="3054096"/>
            <a:ext cx="548640" cy="274320"/>
          </a:xfrm>
          <a:prstGeom prst="rect">
            <a:avLst/>
          </a:prstGeom>
          <a:noFill/>
          <a:ln/>
        </p:spPr>
        <p:txBody>
          <a:bodyPr wrap="square" lIns="0" tIns="0" rIns="0" bIns="0" rtlCol="0" anchor="ctr"/>
          <a:lstStyle/>
          <a:p>
            <a:pPr indent="0" marL="0">
              <a:buNone/>
            </a:pPr>
            <a:r>
              <a:rPr lang="en-US" sz="1300" b="1" dirty="0">
                <a:solidFill>
                  <a:srgbClr val="17A9B0"/>
                </a:solidFill>
                <a:latin typeface="Cambria" pitchFamily="34" charset="0"/>
                <a:ea typeface="Cambria" pitchFamily="34" charset="-122"/>
                <a:cs typeface="Cambria" pitchFamily="34" charset="-120"/>
              </a:rPr>
              <a:t>03</a:t>
            </a:r>
            <a:endParaRPr lang="en-US" sz="1300" dirty="0"/>
          </a:p>
        </p:txBody>
      </p:sp>
      <p:sp>
        <p:nvSpPr>
          <p:cNvPr id="20" name="Text 14"/>
          <p:cNvSpPr txBox="1"/>
          <p:nvPr/>
        </p:nvSpPr>
        <p:spPr>
          <a:xfrm>
            <a:off x="146304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LOS RIESGOS OPERATIVOS ESTÁN EN NUESTRO DÍA A DÍA</a:t>
            </a:r>
            <a:endParaRPr lang="en-US" sz="1150" dirty="0"/>
          </a:p>
        </p:txBody>
      </p:sp>
      <p:sp>
        <p:nvSpPr>
          <p:cNvPr id="21" name="Shape 15"/>
          <p:cNvSpPr/>
          <p:nvPr/>
        </p:nvSpPr>
        <p:spPr>
          <a:xfrm>
            <a:off x="6236208" y="2980944"/>
            <a:ext cx="5349240" cy="868680"/>
          </a:xfrm>
          <a:prstGeom prst="roundRect">
            <a:avLst>
              <a:gd name="adj" fmla="val 9474"/>
            </a:avLst>
          </a:prstGeom>
          <a:solidFill>
            <a:srgbClr val="F2F5F9"/>
          </a:solidFill>
          <a:ln/>
        </p:spPr>
      </p:sp>
      <p:sp>
        <p:nvSpPr>
          <p:cNvPr id="22" name="Shape 16"/>
          <p:cNvSpPr/>
          <p:nvPr/>
        </p:nvSpPr>
        <p:spPr>
          <a:xfrm>
            <a:off x="6400800" y="3104388"/>
            <a:ext cx="621792" cy="621792"/>
          </a:xfrm>
          <a:prstGeom prst="ellipse">
            <a:avLst/>
          </a:prstGeom>
          <a:solidFill>
            <a:srgbClr val="3A6EA5"/>
          </a:solidFill>
          <a:ln/>
        </p:spPr>
      </p:sp>
      <p:pic>
        <p:nvPicPr>
          <p:cNvPr id="23" name="Image 3" descr="/tmp/claude-0/-home-user-riesgo/0ff9ff46-1396-5bd8-b3ac-2280dfbbbc55/scratchpad/work/gen/icons/star_white.png">    </p:cNvPr>
          <p:cNvPicPr>
            <a:picLocks noChangeAspect="1"/>
          </p:cNvPicPr>
          <p:nvPr/>
        </p:nvPicPr>
        <p:blipFill>
          <a:blip r:embed="rId4"/>
          <a:stretch>
            <a:fillRect/>
          </a:stretch>
        </p:blipFill>
        <p:spPr>
          <a:xfrm>
            <a:off x="6556248" y="3259836"/>
            <a:ext cx="310896" cy="310896"/>
          </a:xfrm>
          <a:prstGeom prst="rect">
            <a:avLst/>
          </a:prstGeom>
        </p:spPr>
      </p:pic>
      <p:sp>
        <p:nvSpPr>
          <p:cNvPr id="24" name="Text 17"/>
          <p:cNvSpPr txBox="1"/>
          <p:nvPr/>
        </p:nvSpPr>
        <p:spPr>
          <a:xfrm>
            <a:off x="7132320" y="3054096"/>
            <a:ext cx="548640" cy="274320"/>
          </a:xfrm>
          <a:prstGeom prst="rect">
            <a:avLst/>
          </a:prstGeom>
          <a:noFill/>
          <a:ln/>
        </p:spPr>
        <p:txBody>
          <a:bodyPr wrap="square" lIns="0" tIns="0" rIns="0" bIns="0" rtlCol="0" anchor="ctr"/>
          <a:lstStyle/>
          <a:p>
            <a:pPr indent="0" marL="0">
              <a:buNone/>
            </a:pPr>
            <a:r>
              <a:rPr lang="en-US" sz="1300" b="1" dirty="0">
                <a:solidFill>
                  <a:srgbClr val="3A6EA5"/>
                </a:solidFill>
                <a:latin typeface="Cambria" pitchFamily="34" charset="0"/>
                <a:ea typeface="Cambria" pitchFamily="34" charset="-122"/>
                <a:cs typeface="Cambria" pitchFamily="34" charset="-120"/>
              </a:rPr>
              <a:t>04</a:t>
            </a:r>
            <a:endParaRPr lang="en-US" sz="1300" dirty="0"/>
          </a:p>
        </p:txBody>
      </p:sp>
      <p:sp>
        <p:nvSpPr>
          <p:cNvPr id="25" name="Text 18"/>
          <p:cNvSpPr txBox="1"/>
          <p:nvPr/>
        </p:nvSpPr>
        <p:spPr>
          <a:xfrm>
            <a:off x="7132320" y="3291840"/>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CUIDEMOS LA REPUTACIÓN DE NUESTRA COOPERATIVA</a:t>
            </a:r>
            <a:endParaRPr lang="en-US" sz="1150" dirty="0"/>
          </a:p>
        </p:txBody>
      </p:sp>
      <p:sp>
        <p:nvSpPr>
          <p:cNvPr id="26" name="Shape 19"/>
          <p:cNvSpPr/>
          <p:nvPr/>
        </p:nvSpPr>
        <p:spPr>
          <a:xfrm>
            <a:off x="566928" y="3968496"/>
            <a:ext cx="5349240" cy="868680"/>
          </a:xfrm>
          <a:prstGeom prst="roundRect">
            <a:avLst>
              <a:gd name="adj" fmla="val 9474"/>
            </a:avLst>
          </a:prstGeom>
          <a:solidFill>
            <a:srgbClr val="F2F5F9"/>
          </a:solidFill>
          <a:ln/>
        </p:spPr>
      </p:sp>
      <p:sp>
        <p:nvSpPr>
          <p:cNvPr id="27" name="Shape 20"/>
          <p:cNvSpPr/>
          <p:nvPr/>
        </p:nvSpPr>
        <p:spPr>
          <a:xfrm>
            <a:off x="731520" y="4091940"/>
            <a:ext cx="621792" cy="621792"/>
          </a:xfrm>
          <a:prstGeom prst="ellipse">
            <a:avLst/>
          </a:prstGeom>
          <a:solidFill>
            <a:srgbClr val="1B4F91"/>
          </a:solidFill>
          <a:ln/>
        </p:spPr>
      </p:sp>
      <p:pic>
        <p:nvPicPr>
          <p:cNvPr id="28" name="Image 4" descr="/tmp/claude-0/-home-user-riesgo/0ff9ff46-1396-5bd8-b3ac-2280dfbbbc55/scratchpad/work/gen/icons/shield_warning_white.png">    </p:cNvPr>
          <p:cNvPicPr>
            <a:picLocks noChangeAspect="1"/>
          </p:cNvPicPr>
          <p:nvPr/>
        </p:nvPicPr>
        <p:blipFill>
          <a:blip r:embed="rId5"/>
          <a:stretch>
            <a:fillRect/>
          </a:stretch>
        </p:blipFill>
        <p:spPr>
          <a:xfrm>
            <a:off x="886968" y="4247388"/>
            <a:ext cx="310896" cy="310896"/>
          </a:xfrm>
          <a:prstGeom prst="rect">
            <a:avLst/>
          </a:prstGeom>
        </p:spPr>
      </p:pic>
      <p:sp>
        <p:nvSpPr>
          <p:cNvPr id="29" name="Text 21"/>
          <p:cNvSpPr txBox="1"/>
          <p:nvPr/>
        </p:nvSpPr>
        <p:spPr>
          <a:xfrm>
            <a:off x="1463040" y="4041648"/>
            <a:ext cx="548640" cy="274320"/>
          </a:xfrm>
          <a:prstGeom prst="rect">
            <a:avLst/>
          </a:prstGeom>
          <a:noFill/>
          <a:ln/>
        </p:spPr>
        <p:txBody>
          <a:bodyPr wrap="square" lIns="0" tIns="0" rIns="0" bIns="0" rtlCol="0" anchor="ctr"/>
          <a:lstStyle/>
          <a:p>
            <a:pPr indent="0" marL="0">
              <a:buNone/>
            </a:pPr>
            <a:r>
              <a:rPr lang="en-US" sz="1300" b="1" dirty="0">
                <a:solidFill>
                  <a:srgbClr val="1B4F91"/>
                </a:solidFill>
                <a:latin typeface="Cambria" pitchFamily="34" charset="0"/>
                <a:ea typeface="Cambria" pitchFamily="34" charset="-122"/>
                <a:cs typeface="Cambria" pitchFamily="34" charset="-120"/>
              </a:rPr>
              <a:t>05</a:t>
            </a:r>
            <a:endParaRPr lang="en-US" sz="1300" dirty="0"/>
          </a:p>
        </p:txBody>
      </p:sp>
      <p:sp>
        <p:nvSpPr>
          <p:cNvPr id="30" name="Text 22"/>
          <p:cNvSpPr txBox="1"/>
          <p:nvPr/>
        </p:nvSpPr>
        <p:spPr>
          <a:xfrm>
            <a:off x="146304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FRAUDE Y ERRORES: APRENDAMOS A PREVENIRLOS</a:t>
            </a:r>
            <a:endParaRPr lang="en-US" sz="1150" dirty="0"/>
          </a:p>
        </p:txBody>
      </p:sp>
      <p:sp>
        <p:nvSpPr>
          <p:cNvPr id="31" name="Shape 23"/>
          <p:cNvSpPr/>
          <p:nvPr/>
        </p:nvSpPr>
        <p:spPr>
          <a:xfrm>
            <a:off x="6236208" y="3968496"/>
            <a:ext cx="5349240" cy="868680"/>
          </a:xfrm>
          <a:prstGeom prst="roundRect">
            <a:avLst>
              <a:gd name="adj" fmla="val 9474"/>
            </a:avLst>
          </a:prstGeom>
          <a:solidFill>
            <a:srgbClr val="F2F5F9"/>
          </a:solidFill>
          <a:ln/>
        </p:spPr>
      </p:sp>
      <p:sp>
        <p:nvSpPr>
          <p:cNvPr id="32" name="Shape 24"/>
          <p:cNvSpPr/>
          <p:nvPr/>
        </p:nvSpPr>
        <p:spPr>
          <a:xfrm>
            <a:off x="6400800" y="4091940"/>
            <a:ext cx="621792" cy="621792"/>
          </a:xfrm>
          <a:prstGeom prst="ellipse">
            <a:avLst/>
          </a:prstGeom>
          <a:solidFill>
            <a:srgbClr val="2E5EAA"/>
          </a:solidFill>
          <a:ln/>
        </p:spPr>
      </p:sp>
      <p:pic>
        <p:nvPicPr>
          <p:cNvPr id="33" name="Image 5" descr="/tmp/claude-0/-home-user-riesgo/0ff9ff46-1396-5bd8-b3ac-2280dfbbbc55/scratchpad/work/gen/icons/bank_white.png">    </p:cNvPr>
          <p:cNvPicPr>
            <a:picLocks noChangeAspect="1"/>
          </p:cNvPicPr>
          <p:nvPr/>
        </p:nvPicPr>
        <p:blipFill>
          <a:blip r:embed="rId6"/>
          <a:stretch>
            <a:fillRect/>
          </a:stretch>
        </p:blipFill>
        <p:spPr>
          <a:xfrm>
            <a:off x="6556248" y="4247388"/>
            <a:ext cx="310896" cy="310896"/>
          </a:xfrm>
          <a:prstGeom prst="rect">
            <a:avLst/>
          </a:prstGeom>
        </p:spPr>
      </p:pic>
      <p:sp>
        <p:nvSpPr>
          <p:cNvPr id="34" name="Text 25"/>
          <p:cNvSpPr txBox="1"/>
          <p:nvPr/>
        </p:nvSpPr>
        <p:spPr>
          <a:xfrm>
            <a:off x="7132320" y="4041648"/>
            <a:ext cx="548640" cy="274320"/>
          </a:xfrm>
          <a:prstGeom prst="rect">
            <a:avLst/>
          </a:prstGeom>
          <a:noFill/>
          <a:ln/>
        </p:spPr>
        <p:txBody>
          <a:bodyPr wrap="square" lIns="0" tIns="0" rIns="0" bIns="0" rtlCol="0" anchor="ctr"/>
          <a:lstStyle/>
          <a:p>
            <a:pPr indent="0" marL="0">
              <a:buNone/>
            </a:pPr>
            <a:r>
              <a:rPr lang="en-US" sz="1300" b="1" dirty="0">
                <a:solidFill>
                  <a:srgbClr val="2E5EAA"/>
                </a:solidFill>
                <a:latin typeface="Cambria" pitchFamily="34" charset="0"/>
                <a:ea typeface="Cambria" pitchFamily="34" charset="-122"/>
                <a:cs typeface="Cambria" pitchFamily="34" charset="-120"/>
              </a:rPr>
              <a:t>06</a:t>
            </a:r>
            <a:endParaRPr lang="en-US" sz="1300" dirty="0"/>
          </a:p>
        </p:txBody>
      </p:sp>
      <p:sp>
        <p:nvSpPr>
          <p:cNvPr id="35" name="Text 26"/>
          <p:cNvSpPr txBox="1"/>
          <p:nvPr/>
        </p:nvSpPr>
        <p:spPr>
          <a:xfrm>
            <a:off x="7132320" y="4279392"/>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EL RIESGO CREDITICIO NO ES SOLO RESPONSABILIDAD DE CRÉDITOS</a:t>
            </a:r>
            <a:endParaRPr lang="en-US" sz="1150" dirty="0"/>
          </a:p>
        </p:txBody>
      </p:sp>
      <p:sp>
        <p:nvSpPr>
          <p:cNvPr id="36" name="Shape 27"/>
          <p:cNvSpPr/>
          <p:nvPr/>
        </p:nvSpPr>
        <p:spPr>
          <a:xfrm>
            <a:off x="566928" y="4956048"/>
            <a:ext cx="5349240" cy="868680"/>
          </a:xfrm>
          <a:prstGeom prst="roundRect">
            <a:avLst>
              <a:gd name="adj" fmla="val 9474"/>
            </a:avLst>
          </a:prstGeom>
          <a:solidFill>
            <a:srgbClr val="F2F5F9"/>
          </a:solidFill>
          <a:ln/>
        </p:spPr>
      </p:sp>
      <p:sp>
        <p:nvSpPr>
          <p:cNvPr id="37" name="Shape 28"/>
          <p:cNvSpPr/>
          <p:nvPr/>
        </p:nvSpPr>
        <p:spPr>
          <a:xfrm>
            <a:off x="731520" y="5079492"/>
            <a:ext cx="621792" cy="621792"/>
          </a:xfrm>
          <a:prstGeom prst="ellipse">
            <a:avLst/>
          </a:prstGeom>
          <a:solidFill>
            <a:srgbClr val="1FB6C9"/>
          </a:solidFill>
          <a:ln/>
        </p:spPr>
      </p:sp>
      <p:pic>
        <p:nvPicPr>
          <p:cNvPr id="38" name="Image 6" descr="/tmp/claude-0/-home-user-riesgo/0ff9ff46-1396-5bd8-b3ac-2280dfbbbc55/scratchpad/work/gen/icons/handshake_white.png">    </p:cNvPr>
          <p:cNvPicPr>
            <a:picLocks noChangeAspect="1"/>
          </p:cNvPicPr>
          <p:nvPr/>
        </p:nvPicPr>
        <p:blipFill>
          <a:blip r:embed="rId7"/>
          <a:stretch>
            <a:fillRect/>
          </a:stretch>
        </p:blipFill>
        <p:spPr>
          <a:xfrm>
            <a:off x="886968" y="5234940"/>
            <a:ext cx="310896" cy="310896"/>
          </a:xfrm>
          <a:prstGeom prst="rect">
            <a:avLst/>
          </a:prstGeom>
        </p:spPr>
      </p:pic>
      <p:sp>
        <p:nvSpPr>
          <p:cNvPr id="39" name="Text 29"/>
          <p:cNvSpPr txBox="1"/>
          <p:nvPr/>
        </p:nvSpPr>
        <p:spPr>
          <a:xfrm>
            <a:off x="1463040" y="5029200"/>
            <a:ext cx="548640" cy="274320"/>
          </a:xfrm>
          <a:prstGeom prst="rect">
            <a:avLst/>
          </a:prstGeom>
          <a:noFill/>
          <a:ln/>
        </p:spPr>
        <p:txBody>
          <a:bodyPr wrap="square" lIns="0" tIns="0" rIns="0" bIns="0" rtlCol="0" anchor="ctr"/>
          <a:lstStyle/>
          <a:p>
            <a:pPr indent="0" marL="0">
              <a:buNone/>
            </a:pPr>
            <a:r>
              <a:rPr lang="en-US" sz="1300" b="1" dirty="0">
                <a:solidFill>
                  <a:srgbClr val="1FB6C9"/>
                </a:solidFill>
                <a:latin typeface="Cambria" pitchFamily="34" charset="0"/>
                <a:ea typeface="Cambria" pitchFamily="34" charset="-122"/>
                <a:cs typeface="Cambria" pitchFamily="34" charset="-120"/>
              </a:rPr>
              <a:t>07</a:t>
            </a:r>
            <a:endParaRPr lang="en-US" sz="1300" dirty="0"/>
          </a:p>
        </p:txBody>
      </p:sp>
      <p:sp>
        <p:nvSpPr>
          <p:cNvPr id="40" name="Text 30"/>
          <p:cNvSpPr txBox="1"/>
          <p:nvPr/>
        </p:nvSpPr>
        <p:spPr>
          <a:xfrm>
            <a:off x="146304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¿QUIÉN ES RESPONSABLE DE GESTIONAR LOS RIESGOS?</a:t>
            </a:r>
            <a:endParaRPr lang="en-US" sz="1150" dirty="0"/>
          </a:p>
        </p:txBody>
      </p:sp>
      <p:sp>
        <p:nvSpPr>
          <p:cNvPr id="41" name="Shape 31"/>
          <p:cNvSpPr/>
          <p:nvPr/>
        </p:nvSpPr>
        <p:spPr>
          <a:xfrm>
            <a:off x="6236208" y="4956048"/>
            <a:ext cx="5349240" cy="868680"/>
          </a:xfrm>
          <a:prstGeom prst="roundRect">
            <a:avLst>
              <a:gd name="adj" fmla="val 9474"/>
            </a:avLst>
          </a:prstGeom>
          <a:solidFill>
            <a:srgbClr val="F2F5F9"/>
          </a:solidFill>
          <a:ln/>
        </p:spPr>
      </p:sp>
      <p:sp>
        <p:nvSpPr>
          <p:cNvPr id="42" name="Shape 32"/>
          <p:cNvSpPr/>
          <p:nvPr/>
        </p:nvSpPr>
        <p:spPr>
          <a:xfrm>
            <a:off x="6400800" y="5079492"/>
            <a:ext cx="621792" cy="621792"/>
          </a:xfrm>
          <a:prstGeom prst="ellipse">
            <a:avLst/>
          </a:prstGeom>
          <a:solidFill>
            <a:srgbClr val="0EA5A0"/>
          </a:solidFill>
          <a:ln/>
        </p:spPr>
      </p:sp>
      <p:pic>
        <p:nvPicPr>
          <p:cNvPr id="43" name="Image 7" descr="/tmp/claude-0/-home-user-riesgo/0ff9ff46-1396-5bd8-b3ac-2280dfbbbc55/scratchpad/work/gen/icons/globe_white.png">    </p:cNvPr>
          <p:cNvPicPr>
            <a:picLocks noChangeAspect="1"/>
          </p:cNvPicPr>
          <p:nvPr/>
        </p:nvPicPr>
        <p:blipFill>
          <a:blip r:embed="rId8"/>
          <a:stretch>
            <a:fillRect/>
          </a:stretch>
        </p:blipFill>
        <p:spPr>
          <a:xfrm>
            <a:off x="6556248" y="5234940"/>
            <a:ext cx="310896" cy="310896"/>
          </a:xfrm>
          <a:prstGeom prst="rect">
            <a:avLst/>
          </a:prstGeom>
        </p:spPr>
      </p:pic>
      <p:sp>
        <p:nvSpPr>
          <p:cNvPr id="44" name="Text 33"/>
          <p:cNvSpPr txBox="1"/>
          <p:nvPr/>
        </p:nvSpPr>
        <p:spPr>
          <a:xfrm>
            <a:off x="7132320" y="5029200"/>
            <a:ext cx="548640" cy="274320"/>
          </a:xfrm>
          <a:prstGeom prst="rect">
            <a:avLst/>
          </a:prstGeom>
          <a:noFill/>
          <a:ln/>
        </p:spPr>
        <p:txBody>
          <a:bodyPr wrap="square" lIns="0" tIns="0" rIns="0" bIns="0" rtlCol="0" anchor="ctr"/>
          <a:lstStyle/>
          <a:p>
            <a:pPr indent="0" marL="0">
              <a:buNone/>
            </a:pPr>
            <a:r>
              <a:rPr lang="en-US" sz="1300" b="1" dirty="0">
                <a:solidFill>
                  <a:srgbClr val="0EA5A0"/>
                </a:solidFill>
                <a:latin typeface="Cambria" pitchFamily="34" charset="0"/>
                <a:ea typeface="Cambria" pitchFamily="34" charset="-122"/>
                <a:cs typeface="Cambria" pitchFamily="34" charset="-120"/>
              </a:rPr>
              <a:t>08</a:t>
            </a:r>
            <a:endParaRPr lang="en-US" sz="1300" dirty="0"/>
          </a:p>
        </p:txBody>
      </p:sp>
      <p:sp>
        <p:nvSpPr>
          <p:cNvPr id="45" name="Text 34"/>
          <p:cNvSpPr txBox="1"/>
          <p:nvPr/>
        </p:nvSpPr>
        <p:spPr>
          <a:xfrm>
            <a:off x="7132320" y="5266944"/>
            <a:ext cx="4270248" cy="502920"/>
          </a:xfrm>
          <a:prstGeom prst="rect">
            <a:avLst/>
          </a:prstGeom>
          <a:noFill/>
          <a:ln/>
        </p:spPr>
        <p:txBody>
          <a:bodyPr wrap="square" lIns="0" tIns="0" rIns="0" bIns="0" rtlCol="0" anchor="ctr"/>
          <a:lstStyle/>
          <a:p>
            <a:pPr indent="0" marL="0">
              <a:lnSpc>
                <a:spcPct val="98000"/>
              </a:lnSpc>
              <a:buNone/>
            </a:pPr>
            <a:r>
              <a:rPr lang="en-US" sz="1150" b="1" dirty="0">
                <a:solidFill>
                  <a:srgbClr val="133B6C"/>
                </a:solidFill>
                <a:latin typeface="Calibri" pitchFamily="34" charset="0"/>
                <a:ea typeface="Calibri" pitchFamily="34" charset="-122"/>
                <a:cs typeface="Calibri" pitchFamily="34" charset="-120"/>
              </a:rPr>
              <a:t>RIESGOS AMBIENTALES Y SOCIALES: TAMBIÉN SON RIESGOS FINANCIEROS</a:t>
            </a:r>
            <a:endParaRPr lang="en-US" sz="1150" dirty="0"/>
          </a:p>
        </p:txBody>
      </p:sp>
      <p:sp>
        <p:nvSpPr>
          <p:cNvPr id="46" name="Text 35"/>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150" b="1" spc="100" kern="0" dirty="0">
                <a:solidFill>
                  <a:srgbClr val="5B6B82"/>
                </a:solidFill>
                <a:latin typeface="Calibri" pitchFamily="34" charset="0"/>
                <a:ea typeface="Calibri" pitchFamily="34" charset="-122"/>
                <a:cs typeface="Calibri" pitchFamily="34" charset="-120"/>
              </a:rPr>
              <a:t>+  CASOS INTEGRADORES   ·   GRAN ACTIVIDAD FINAL   ·   CIERRE</a:t>
            </a:r>
            <a:endParaRPr lang="en-US" sz="1150" dirty="0"/>
          </a:p>
        </p:txBody>
      </p:sp>
      <p:sp>
        <p:nvSpPr>
          <p:cNvPr id="47" name="Text 3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8" name="Text 3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ANTES DE EMPEZAR · ROMPE EL HIELO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¿DÓNDE ESTÁ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Esta es una oficina como la tuya. Tienes 30 segundos: ¿cuántos riesgos puedes identificar?</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554480" y="2331720"/>
            <a:ext cx="960120" cy="960120"/>
          </a:xfrm>
          <a:prstGeom prst="ellipse">
            <a:avLst/>
          </a:prstGeom>
          <a:solidFill>
            <a:srgbClr val="133B6C"/>
          </a:solidFill>
          <a:ln/>
        </p:spPr>
      </p:sp>
      <p:pic>
        <p:nvPicPr>
          <p:cNvPr id="8" name="Image 0" descr="/tmp/claude-0/-home-user-riesgo/0ff9ff46-1396-5bd8-b3ac-2280dfbbbc55/scratchpad/work/gen/icons/document_white.png">    </p:cNvPr>
          <p:cNvPicPr>
            <a:picLocks noChangeAspect="1"/>
          </p:cNvPicPr>
          <p:nvPr/>
        </p:nvPicPr>
        <p:blipFill>
          <a:blip r:embed="rId1"/>
          <a:stretch>
            <a:fillRect/>
          </a:stretch>
        </p:blipFill>
        <p:spPr>
          <a:xfrm>
            <a:off x="1794510" y="2571750"/>
            <a:ext cx="480060" cy="480060"/>
          </a:xfrm>
          <a:prstGeom prst="rect">
            <a:avLst/>
          </a:prstGeom>
        </p:spPr>
      </p:pic>
      <p:sp>
        <p:nvSpPr>
          <p:cNvPr id="9" name="Shape 5"/>
          <p:cNvSpPr/>
          <p:nvPr/>
        </p:nvSpPr>
        <p:spPr>
          <a:xfrm>
            <a:off x="2203704" y="2240280"/>
            <a:ext cx="402336" cy="402336"/>
          </a:xfrm>
          <a:prstGeom prst="ellipse">
            <a:avLst/>
          </a:prstGeom>
          <a:solidFill>
            <a:srgbClr val="2E86C7"/>
          </a:solidFill>
          <a:ln/>
        </p:spPr>
      </p:sp>
      <p:sp>
        <p:nvSpPr>
          <p:cNvPr id="10" name="Text 6"/>
          <p:cNvSpPr txBox="1"/>
          <p:nvPr/>
        </p:nvSpPr>
        <p:spPr>
          <a:xfrm>
            <a:off x="2203704" y="2231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4297680" y="2148840"/>
            <a:ext cx="960120" cy="960120"/>
          </a:xfrm>
          <a:prstGeom prst="ellipse">
            <a:avLst/>
          </a:prstGeom>
          <a:solidFill>
            <a:srgbClr val="133B6C"/>
          </a:solidFill>
          <a:ln/>
        </p:spPr>
      </p:sp>
      <p:pic>
        <p:nvPicPr>
          <p:cNvPr id="12" name="Image 1" descr="/tmp/claude-0/-home-user-riesgo/0ff9ff46-1396-5bd8-b3ac-2280dfbbbc55/scratchpad/work/gen/icons/cable_white.png">    </p:cNvPr>
          <p:cNvPicPr>
            <a:picLocks noChangeAspect="1"/>
          </p:cNvPicPr>
          <p:nvPr/>
        </p:nvPicPr>
        <p:blipFill>
          <a:blip r:embed="rId2"/>
          <a:stretch>
            <a:fillRect/>
          </a:stretch>
        </p:blipFill>
        <p:spPr>
          <a:xfrm>
            <a:off x="4537710" y="2388870"/>
            <a:ext cx="480060" cy="480060"/>
          </a:xfrm>
          <a:prstGeom prst="rect">
            <a:avLst/>
          </a:prstGeom>
        </p:spPr>
      </p:pic>
      <p:sp>
        <p:nvSpPr>
          <p:cNvPr id="13" name="Shape 8"/>
          <p:cNvSpPr/>
          <p:nvPr/>
        </p:nvSpPr>
        <p:spPr>
          <a:xfrm>
            <a:off x="4946904" y="2057400"/>
            <a:ext cx="402336" cy="402336"/>
          </a:xfrm>
          <a:prstGeom prst="ellipse">
            <a:avLst/>
          </a:prstGeom>
          <a:solidFill>
            <a:srgbClr val="2E86C7"/>
          </a:solidFill>
          <a:ln/>
        </p:spPr>
      </p:sp>
      <p:sp>
        <p:nvSpPr>
          <p:cNvPr id="14" name="Text 9"/>
          <p:cNvSpPr txBox="1"/>
          <p:nvPr/>
        </p:nvSpPr>
        <p:spPr>
          <a:xfrm>
            <a:off x="494690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6949440" y="2468880"/>
            <a:ext cx="960120" cy="960120"/>
          </a:xfrm>
          <a:prstGeom prst="ellipse">
            <a:avLst/>
          </a:prstGeom>
          <a:solidFill>
            <a:srgbClr val="133B6C"/>
          </a:solidFill>
          <a:ln/>
        </p:spPr>
      </p:sp>
      <p:pic>
        <p:nvPicPr>
          <p:cNvPr id="16" name="Image 2" descr="/tmp/claude-0/-home-user-riesgo/0ff9ff46-1396-5bd8-b3ac-2280dfbbbc55/scratchpad/work/gen/icons/password_white.png">    </p:cNvPr>
          <p:cNvPicPr>
            <a:picLocks noChangeAspect="1"/>
          </p:cNvPicPr>
          <p:nvPr/>
        </p:nvPicPr>
        <p:blipFill>
          <a:blip r:embed="rId3"/>
          <a:stretch>
            <a:fillRect/>
          </a:stretch>
        </p:blipFill>
        <p:spPr>
          <a:xfrm>
            <a:off x="7189470" y="2708910"/>
            <a:ext cx="480060" cy="480060"/>
          </a:xfrm>
          <a:prstGeom prst="rect">
            <a:avLst/>
          </a:prstGeom>
        </p:spPr>
      </p:pic>
      <p:sp>
        <p:nvSpPr>
          <p:cNvPr id="17" name="Shape 11"/>
          <p:cNvSpPr/>
          <p:nvPr/>
        </p:nvSpPr>
        <p:spPr>
          <a:xfrm>
            <a:off x="7598664" y="2377440"/>
            <a:ext cx="402336" cy="402336"/>
          </a:xfrm>
          <a:prstGeom prst="ellipse">
            <a:avLst/>
          </a:prstGeom>
          <a:solidFill>
            <a:srgbClr val="2E86C7"/>
          </a:solidFill>
          <a:ln/>
        </p:spPr>
      </p:sp>
      <p:sp>
        <p:nvSpPr>
          <p:cNvPr id="18" name="Text 12"/>
          <p:cNvSpPr txBox="1"/>
          <p:nvPr/>
        </p:nvSpPr>
        <p:spPr>
          <a:xfrm>
            <a:off x="7598664" y="236829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9464040" y="2194560"/>
            <a:ext cx="960120" cy="960120"/>
          </a:xfrm>
          <a:prstGeom prst="ellipse">
            <a:avLst/>
          </a:prstGeom>
          <a:solidFill>
            <a:srgbClr val="133B6C"/>
          </a:solidFill>
          <a:ln/>
        </p:spPr>
      </p:sp>
      <p:pic>
        <p:nvPicPr>
          <p:cNvPr id="20" name="Image 3" descr="/tmp/claude-0/-home-user-riesgo/0ff9ff46-1396-5bd8-b3ac-2280dfbbbc55/scratchpad/work/gen/icons/door_open_white.png">    </p:cNvPr>
          <p:cNvPicPr>
            <a:picLocks noChangeAspect="1"/>
          </p:cNvPicPr>
          <p:nvPr/>
        </p:nvPicPr>
        <p:blipFill>
          <a:blip r:embed="rId4"/>
          <a:stretch>
            <a:fillRect/>
          </a:stretch>
        </p:blipFill>
        <p:spPr>
          <a:xfrm>
            <a:off x="9704070" y="2434590"/>
            <a:ext cx="480060" cy="480060"/>
          </a:xfrm>
          <a:prstGeom prst="rect">
            <a:avLst/>
          </a:prstGeom>
        </p:spPr>
      </p:pic>
      <p:sp>
        <p:nvSpPr>
          <p:cNvPr id="21" name="Shape 14"/>
          <p:cNvSpPr/>
          <p:nvPr/>
        </p:nvSpPr>
        <p:spPr>
          <a:xfrm>
            <a:off x="10113264" y="2103120"/>
            <a:ext cx="402336" cy="402336"/>
          </a:xfrm>
          <a:prstGeom prst="ellipse">
            <a:avLst/>
          </a:prstGeom>
          <a:solidFill>
            <a:srgbClr val="2E86C7"/>
          </a:solidFill>
          <a:ln/>
        </p:spPr>
      </p:sp>
      <p:sp>
        <p:nvSpPr>
          <p:cNvPr id="22" name="Text 15"/>
          <p:cNvSpPr txBox="1"/>
          <p:nvPr/>
        </p:nvSpPr>
        <p:spPr>
          <a:xfrm>
            <a:off x="10113264" y="2093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2103120" y="4343400"/>
            <a:ext cx="960120" cy="960120"/>
          </a:xfrm>
          <a:prstGeom prst="ellipse">
            <a:avLst/>
          </a:prstGeom>
          <a:solidFill>
            <a:srgbClr val="133B6C"/>
          </a:solidFill>
          <a:ln/>
        </p:spPr>
      </p:sp>
      <p:pic>
        <p:nvPicPr>
          <p:cNvPr id="24" name="Image 4" descr="/tmp/claude-0/-home-user-riesgo/0ff9ff46-1396-5bd8-b3ac-2280dfbbbc55/scratchpad/work/gen/icons/x_circle_white.png">    </p:cNvPr>
          <p:cNvPicPr>
            <a:picLocks noChangeAspect="1"/>
          </p:cNvPicPr>
          <p:nvPr/>
        </p:nvPicPr>
        <p:blipFill>
          <a:blip r:embed="rId5"/>
          <a:stretch>
            <a:fillRect/>
          </a:stretch>
        </p:blipFill>
        <p:spPr>
          <a:xfrm>
            <a:off x="2343150" y="4583430"/>
            <a:ext cx="480060" cy="480060"/>
          </a:xfrm>
          <a:prstGeom prst="rect">
            <a:avLst/>
          </a:prstGeom>
        </p:spPr>
      </p:pic>
      <p:sp>
        <p:nvSpPr>
          <p:cNvPr id="25" name="Shape 17"/>
          <p:cNvSpPr/>
          <p:nvPr/>
        </p:nvSpPr>
        <p:spPr>
          <a:xfrm>
            <a:off x="2752344" y="4251960"/>
            <a:ext cx="402336" cy="402336"/>
          </a:xfrm>
          <a:prstGeom prst="ellipse">
            <a:avLst/>
          </a:prstGeom>
          <a:solidFill>
            <a:srgbClr val="2E86C7"/>
          </a:solidFill>
          <a:ln/>
        </p:spPr>
      </p:sp>
      <p:sp>
        <p:nvSpPr>
          <p:cNvPr id="26" name="Text 18"/>
          <p:cNvSpPr txBox="1"/>
          <p:nvPr/>
        </p:nvSpPr>
        <p:spPr>
          <a:xfrm>
            <a:off x="275234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4846320" y="4617720"/>
            <a:ext cx="960120" cy="960120"/>
          </a:xfrm>
          <a:prstGeom prst="ellipse">
            <a:avLst/>
          </a:prstGeom>
          <a:solidFill>
            <a:srgbClr val="133B6C"/>
          </a:solidFill>
          <a:ln/>
        </p:spPr>
      </p:sp>
      <p:pic>
        <p:nvPicPr>
          <p:cNvPr id="28" name="Image 5" descr="/tmp/claude-0/-home-user-riesgo/0ff9ff46-1396-5bd8-b3ac-2280dfbbbc55/scratchpad/work/gen/icons/computer_white.png">    </p:cNvPr>
          <p:cNvPicPr>
            <a:picLocks noChangeAspect="1"/>
          </p:cNvPicPr>
          <p:nvPr/>
        </p:nvPicPr>
        <p:blipFill>
          <a:blip r:embed="rId6"/>
          <a:stretch>
            <a:fillRect/>
          </a:stretch>
        </p:blipFill>
        <p:spPr>
          <a:xfrm>
            <a:off x="5086350" y="4857750"/>
            <a:ext cx="480060" cy="480060"/>
          </a:xfrm>
          <a:prstGeom prst="rect">
            <a:avLst/>
          </a:prstGeom>
        </p:spPr>
      </p:pic>
      <p:sp>
        <p:nvSpPr>
          <p:cNvPr id="29" name="Shape 20"/>
          <p:cNvSpPr/>
          <p:nvPr/>
        </p:nvSpPr>
        <p:spPr>
          <a:xfrm>
            <a:off x="5495544" y="4526280"/>
            <a:ext cx="402336" cy="402336"/>
          </a:xfrm>
          <a:prstGeom prst="ellipse">
            <a:avLst/>
          </a:prstGeom>
          <a:solidFill>
            <a:srgbClr val="2E86C7"/>
          </a:solidFill>
          <a:ln/>
        </p:spPr>
      </p:sp>
      <p:sp>
        <p:nvSpPr>
          <p:cNvPr id="30" name="Text 21"/>
          <p:cNvSpPr txBox="1"/>
          <p:nvPr/>
        </p:nvSpPr>
        <p:spPr>
          <a:xfrm>
            <a:off x="5495544" y="45171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7498080" y="4343400"/>
            <a:ext cx="960120" cy="960120"/>
          </a:xfrm>
          <a:prstGeom prst="ellipse">
            <a:avLst/>
          </a:prstGeom>
          <a:solidFill>
            <a:srgbClr val="133B6C"/>
          </a:solidFill>
          <a:ln/>
        </p:spPr>
      </p:sp>
      <p:pic>
        <p:nvPicPr>
          <p:cNvPr id="32" name="Image 6" descr="/tmp/claude-0/-home-user-riesgo/0ff9ff46-1396-5bd8-b3ac-2280dfbbbc55/scratchpad/work/gen/icons/chat_white.png">    </p:cNvPr>
          <p:cNvPicPr>
            <a:picLocks noChangeAspect="1"/>
          </p:cNvPicPr>
          <p:nvPr/>
        </p:nvPicPr>
        <p:blipFill>
          <a:blip r:embed="rId7"/>
          <a:stretch>
            <a:fillRect/>
          </a:stretch>
        </p:blipFill>
        <p:spPr>
          <a:xfrm>
            <a:off x="7738110" y="4583430"/>
            <a:ext cx="480060" cy="480060"/>
          </a:xfrm>
          <a:prstGeom prst="rect">
            <a:avLst/>
          </a:prstGeom>
        </p:spPr>
      </p:pic>
      <p:sp>
        <p:nvSpPr>
          <p:cNvPr id="33" name="Shape 23"/>
          <p:cNvSpPr/>
          <p:nvPr/>
        </p:nvSpPr>
        <p:spPr>
          <a:xfrm>
            <a:off x="8147304" y="4251960"/>
            <a:ext cx="402336" cy="402336"/>
          </a:xfrm>
          <a:prstGeom prst="ellipse">
            <a:avLst/>
          </a:prstGeom>
          <a:solidFill>
            <a:srgbClr val="2E86C7"/>
          </a:solidFill>
          <a:ln/>
        </p:spPr>
      </p:sp>
      <p:sp>
        <p:nvSpPr>
          <p:cNvPr id="34" name="Text 24"/>
          <p:cNvSpPr txBox="1"/>
          <p:nvPr/>
        </p:nvSpPr>
        <p:spPr>
          <a:xfrm>
            <a:off x="8147304" y="424281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9966960" y="4663440"/>
            <a:ext cx="960120" cy="960120"/>
          </a:xfrm>
          <a:prstGeom prst="ellipse">
            <a:avLst/>
          </a:prstGeom>
          <a:solidFill>
            <a:srgbClr val="133B6C"/>
          </a:solidFill>
          <a:ln/>
        </p:spPr>
      </p:sp>
      <p:pic>
        <p:nvPicPr>
          <p:cNvPr id="36" name="Image 7" descr="/tmp/claude-0/-home-user-riesgo/0ff9ff46-1396-5bd8-b3ac-2280dfbbbc55/scratchpad/work/gen/icons/id_card_white.png">    </p:cNvPr>
          <p:cNvPicPr>
            <a:picLocks noChangeAspect="1"/>
          </p:cNvPicPr>
          <p:nvPr/>
        </p:nvPicPr>
        <p:blipFill>
          <a:blip r:embed="rId8"/>
          <a:stretch>
            <a:fillRect/>
          </a:stretch>
        </p:blipFill>
        <p:spPr>
          <a:xfrm>
            <a:off x="10206990" y="4903470"/>
            <a:ext cx="480060" cy="480060"/>
          </a:xfrm>
          <a:prstGeom prst="rect">
            <a:avLst/>
          </a:prstGeom>
        </p:spPr>
      </p:pic>
      <p:sp>
        <p:nvSpPr>
          <p:cNvPr id="37" name="Shape 26"/>
          <p:cNvSpPr/>
          <p:nvPr/>
        </p:nvSpPr>
        <p:spPr>
          <a:xfrm>
            <a:off x="10616184" y="4572000"/>
            <a:ext cx="402336" cy="402336"/>
          </a:xfrm>
          <a:prstGeom prst="ellipse">
            <a:avLst/>
          </a:prstGeom>
          <a:solidFill>
            <a:srgbClr val="2E86C7"/>
          </a:solidFill>
          <a:ln/>
        </p:spPr>
      </p:sp>
      <p:sp>
        <p:nvSpPr>
          <p:cNvPr id="38" name="Text 27"/>
          <p:cNvSpPr txBox="1"/>
          <p:nvPr/>
        </p:nvSpPr>
        <p:spPr>
          <a:xfrm>
            <a:off x="10616184" y="4562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Text 28"/>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Obsérvala con atención antes de continuar a la siguiente diapositiva.</a:t>
            </a:r>
            <a:endParaRPr lang="en-US" sz="12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ESTOS ERAN LOS RIESGOS</a:t>
            </a:r>
            <a:endParaRPr lang="en-US" sz="30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Situaciones simples que, sin darnos cuenta, pueden convertirse en un incidente real.</a:t>
            </a:r>
            <a:endParaRPr lang="en-US" sz="1500" dirty="0"/>
          </a:p>
        </p:txBody>
      </p:sp>
      <p:sp>
        <p:nvSpPr>
          <p:cNvPr id="6" name="Shape 3"/>
          <p:cNvSpPr/>
          <p:nvPr/>
        </p:nvSpPr>
        <p:spPr>
          <a:xfrm>
            <a:off x="56692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7" name="Shape 4"/>
          <p:cNvSpPr/>
          <p:nvPr/>
        </p:nvSpPr>
        <p:spPr>
          <a:xfrm>
            <a:off x="704088" y="2225421"/>
            <a:ext cx="566928" cy="566928"/>
          </a:xfrm>
          <a:prstGeom prst="ellipse">
            <a:avLst/>
          </a:prstGeom>
          <a:solidFill>
            <a:srgbClr val="2E86C7"/>
          </a:solidFill>
          <a:ln/>
        </p:spPr>
      </p:sp>
      <p:pic>
        <p:nvPicPr>
          <p:cNvPr id="8" name="Image 0" descr="/tmp/claude-0/-home-user-riesgo/0ff9ff46-1396-5bd8-b3ac-2280dfbbbc55/scratchpad/work/gen/icons/document_navy.png">    </p:cNvPr>
          <p:cNvPicPr>
            <a:picLocks noChangeAspect="1"/>
          </p:cNvPicPr>
          <p:nvPr/>
        </p:nvPicPr>
        <p:blipFill>
          <a:blip r:embed="rId1"/>
          <a:stretch>
            <a:fillRect/>
          </a:stretch>
        </p:blipFill>
        <p:spPr>
          <a:xfrm>
            <a:off x="840151" y="2361484"/>
            <a:ext cx="294803" cy="294803"/>
          </a:xfrm>
          <a:prstGeom prst="rect">
            <a:avLst/>
          </a:prstGeom>
        </p:spPr>
      </p:pic>
      <p:sp>
        <p:nvSpPr>
          <p:cNvPr id="9" name="Text 5"/>
          <p:cNvSpPr txBox="1"/>
          <p:nvPr/>
        </p:nvSpPr>
        <p:spPr>
          <a:xfrm>
            <a:off x="70408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10" name="Text 6"/>
          <p:cNvSpPr txBox="1"/>
          <p:nvPr/>
        </p:nvSpPr>
        <p:spPr>
          <a:xfrm>
            <a:off x="138988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 confidencial expuesto sobre el escritorio.</a:t>
            </a:r>
            <a:endParaRPr lang="en-US" sz="1150" dirty="0"/>
          </a:p>
        </p:txBody>
      </p:sp>
      <p:sp>
        <p:nvSpPr>
          <p:cNvPr id="11" name="Shape 7"/>
          <p:cNvSpPr/>
          <p:nvPr/>
        </p:nvSpPr>
        <p:spPr>
          <a:xfrm>
            <a:off x="6233008" y="2057400"/>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2" name="Shape 8"/>
          <p:cNvSpPr/>
          <p:nvPr/>
        </p:nvSpPr>
        <p:spPr>
          <a:xfrm>
            <a:off x="6370168" y="2225421"/>
            <a:ext cx="566928" cy="566928"/>
          </a:xfrm>
          <a:prstGeom prst="ellipse">
            <a:avLst/>
          </a:prstGeom>
          <a:solidFill>
            <a:srgbClr val="2E86C7"/>
          </a:solidFill>
          <a:ln/>
        </p:spPr>
      </p:sp>
      <p:pic>
        <p:nvPicPr>
          <p:cNvPr id="13" name="Image 1" descr="/tmp/claude-0/-home-user-riesgo/0ff9ff46-1396-5bd8-b3ac-2280dfbbbc55/scratchpad/work/gen/icons/cable_navy.png">    </p:cNvPr>
          <p:cNvPicPr>
            <a:picLocks noChangeAspect="1"/>
          </p:cNvPicPr>
          <p:nvPr/>
        </p:nvPicPr>
        <p:blipFill>
          <a:blip r:embed="rId2"/>
          <a:stretch>
            <a:fillRect/>
          </a:stretch>
        </p:blipFill>
        <p:spPr>
          <a:xfrm>
            <a:off x="6506230" y="2361484"/>
            <a:ext cx="294803" cy="294803"/>
          </a:xfrm>
          <a:prstGeom prst="rect">
            <a:avLst/>
          </a:prstGeom>
        </p:spPr>
      </p:pic>
      <p:sp>
        <p:nvSpPr>
          <p:cNvPr id="14" name="Text 9"/>
          <p:cNvSpPr txBox="1"/>
          <p:nvPr/>
        </p:nvSpPr>
        <p:spPr>
          <a:xfrm>
            <a:off x="6370168" y="2115693"/>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5" name="Text 10"/>
          <p:cNvSpPr txBox="1"/>
          <p:nvPr/>
        </p:nvSpPr>
        <p:spPr>
          <a:xfrm>
            <a:off x="7055968" y="2130552"/>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Cable suelto que puede provocar una caída.</a:t>
            </a:r>
            <a:endParaRPr lang="en-US" sz="1150" dirty="0"/>
          </a:p>
        </p:txBody>
      </p:sp>
      <p:sp>
        <p:nvSpPr>
          <p:cNvPr id="16" name="Shape 11"/>
          <p:cNvSpPr/>
          <p:nvPr/>
        </p:nvSpPr>
        <p:spPr>
          <a:xfrm>
            <a:off x="56692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17" name="Shape 12"/>
          <p:cNvSpPr/>
          <p:nvPr/>
        </p:nvSpPr>
        <p:spPr>
          <a:xfrm>
            <a:off x="704088" y="3274695"/>
            <a:ext cx="566928" cy="566928"/>
          </a:xfrm>
          <a:prstGeom prst="ellipse">
            <a:avLst/>
          </a:prstGeom>
          <a:solidFill>
            <a:srgbClr val="2E86C7"/>
          </a:solidFill>
          <a:ln/>
        </p:spPr>
      </p:sp>
      <p:pic>
        <p:nvPicPr>
          <p:cNvPr id="18" name="Image 2" descr="/tmp/claude-0/-home-user-riesgo/0ff9ff46-1396-5bd8-b3ac-2280dfbbbc55/scratchpad/work/gen/icons/password_navy.png">    </p:cNvPr>
          <p:cNvPicPr>
            <a:picLocks noChangeAspect="1"/>
          </p:cNvPicPr>
          <p:nvPr/>
        </p:nvPicPr>
        <p:blipFill>
          <a:blip r:embed="rId3"/>
          <a:stretch>
            <a:fillRect/>
          </a:stretch>
        </p:blipFill>
        <p:spPr>
          <a:xfrm>
            <a:off x="840151" y="3410758"/>
            <a:ext cx="294803" cy="294803"/>
          </a:xfrm>
          <a:prstGeom prst="rect">
            <a:avLst/>
          </a:prstGeom>
        </p:spPr>
      </p:pic>
      <p:sp>
        <p:nvSpPr>
          <p:cNvPr id="19" name="Text 13"/>
          <p:cNvSpPr txBox="1"/>
          <p:nvPr/>
        </p:nvSpPr>
        <p:spPr>
          <a:xfrm>
            <a:off x="70408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20" name="Text 14"/>
          <p:cNvSpPr txBox="1"/>
          <p:nvPr/>
        </p:nvSpPr>
        <p:spPr>
          <a:xfrm>
            <a:off x="138988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Contraseña anotada y visible para cualquiera.</a:t>
            </a:r>
            <a:endParaRPr lang="en-US" sz="1150" dirty="0"/>
          </a:p>
        </p:txBody>
      </p:sp>
      <p:sp>
        <p:nvSpPr>
          <p:cNvPr id="21" name="Shape 15"/>
          <p:cNvSpPr/>
          <p:nvPr/>
        </p:nvSpPr>
        <p:spPr>
          <a:xfrm>
            <a:off x="6233008" y="3106674"/>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2" name="Shape 16"/>
          <p:cNvSpPr/>
          <p:nvPr/>
        </p:nvSpPr>
        <p:spPr>
          <a:xfrm>
            <a:off x="6370168" y="3274695"/>
            <a:ext cx="566928" cy="566928"/>
          </a:xfrm>
          <a:prstGeom prst="ellipse">
            <a:avLst/>
          </a:prstGeom>
          <a:solidFill>
            <a:srgbClr val="2E86C7"/>
          </a:solidFill>
          <a:ln/>
        </p:spPr>
      </p:sp>
      <p:pic>
        <p:nvPicPr>
          <p:cNvPr id="23" name="Image 3" descr="/tmp/claude-0/-home-user-riesgo/0ff9ff46-1396-5bd8-b3ac-2280dfbbbc55/scratchpad/work/gen/icons/door_open_navy.png">    </p:cNvPr>
          <p:cNvPicPr>
            <a:picLocks noChangeAspect="1"/>
          </p:cNvPicPr>
          <p:nvPr/>
        </p:nvPicPr>
        <p:blipFill>
          <a:blip r:embed="rId4"/>
          <a:stretch>
            <a:fillRect/>
          </a:stretch>
        </p:blipFill>
        <p:spPr>
          <a:xfrm>
            <a:off x="6506230" y="3410758"/>
            <a:ext cx="294803" cy="294803"/>
          </a:xfrm>
          <a:prstGeom prst="rect">
            <a:avLst/>
          </a:prstGeom>
        </p:spPr>
      </p:pic>
      <p:sp>
        <p:nvSpPr>
          <p:cNvPr id="24" name="Text 17"/>
          <p:cNvSpPr txBox="1"/>
          <p:nvPr/>
        </p:nvSpPr>
        <p:spPr>
          <a:xfrm>
            <a:off x="6370168" y="3164967"/>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5" name="Text 18"/>
          <p:cNvSpPr txBox="1"/>
          <p:nvPr/>
        </p:nvSpPr>
        <p:spPr>
          <a:xfrm>
            <a:off x="7055968" y="3179826"/>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Puerta de un área restringida abierta.</a:t>
            </a:r>
            <a:endParaRPr lang="en-US" sz="1150" dirty="0"/>
          </a:p>
        </p:txBody>
      </p:sp>
      <p:sp>
        <p:nvSpPr>
          <p:cNvPr id="26" name="Shape 19"/>
          <p:cNvSpPr/>
          <p:nvPr/>
        </p:nvSpPr>
        <p:spPr>
          <a:xfrm>
            <a:off x="56692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27" name="Shape 20"/>
          <p:cNvSpPr/>
          <p:nvPr/>
        </p:nvSpPr>
        <p:spPr>
          <a:xfrm>
            <a:off x="704088" y="4323969"/>
            <a:ext cx="566928" cy="566928"/>
          </a:xfrm>
          <a:prstGeom prst="ellipse">
            <a:avLst/>
          </a:prstGeom>
          <a:solidFill>
            <a:srgbClr val="2E86C7"/>
          </a:solidFill>
          <a:ln/>
        </p:spPr>
      </p:sp>
      <p:pic>
        <p:nvPicPr>
          <p:cNvPr id="28" name="Image 4" descr="/tmp/claude-0/-home-user-riesgo/0ff9ff46-1396-5bd8-b3ac-2280dfbbbc55/scratchpad/work/gen/icons/x_circle_navy.png">    </p:cNvPr>
          <p:cNvPicPr>
            <a:picLocks noChangeAspect="1"/>
          </p:cNvPicPr>
          <p:nvPr/>
        </p:nvPicPr>
        <p:blipFill>
          <a:blip r:embed="rId5"/>
          <a:stretch>
            <a:fillRect/>
          </a:stretch>
        </p:blipFill>
        <p:spPr>
          <a:xfrm>
            <a:off x="840151" y="4460032"/>
            <a:ext cx="294803" cy="294803"/>
          </a:xfrm>
          <a:prstGeom prst="rect">
            <a:avLst/>
          </a:prstGeom>
        </p:spPr>
      </p:pic>
      <p:sp>
        <p:nvSpPr>
          <p:cNvPr id="29" name="Text 21"/>
          <p:cNvSpPr txBox="1"/>
          <p:nvPr/>
        </p:nvSpPr>
        <p:spPr>
          <a:xfrm>
            <a:off x="70408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30" name="Text 22"/>
          <p:cNvSpPr txBox="1"/>
          <p:nvPr/>
        </p:nvSpPr>
        <p:spPr>
          <a:xfrm>
            <a:off x="138988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dato o cifra registrado de forma incorrecta.</a:t>
            </a:r>
            <a:endParaRPr lang="en-US" sz="1150" dirty="0"/>
          </a:p>
        </p:txBody>
      </p:sp>
      <p:sp>
        <p:nvSpPr>
          <p:cNvPr id="31" name="Shape 23"/>
          <p:cNvSpPr/>
          <p:nvPr/>
        </p:nvSpPr>
        <p:spPr>
          <a:xfrm>
            <a:off x="6233008" y="4155948"/>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2" name="Shape 24"/>
          <p:cNvSpPr/>
          <p:nvPr/>
        </p:nvSpPr>
        <p:spPr>
          <a:xfrm>
            <a:off x="6370168" y="4323969"/>
            <a:ext cx="566928" cy="566928"/>
          </a:xfrm>
          <a:prstGeom prst="ellipse">
            <a:avLst/>
          </a:prstGeom>
          <a:solidFill>
            <a:srgbClr val="2E86C7"/>
          </a:solidFill>
          <a:ln/>
        </p:spPr>
      </p:sp>
      <p:pic>
        <p:nvPicPr>
          <p:cNvPr id="33" name="Image 5" descr="/tmp/claude-0/-home-user-riesgo/0ff9ff46-1396-5bd8-b3ac-2280dfbbbc55/scratchpad/work/gen/icons/computer_navy.png">    </p:cNvPr>
          <p:cNvPicPr>
            <a:picLocks noChangeAspect="1"/>
          </p:cNvPicPr>
          <p:nvPr/>
        </p:nvPicPr>
        <p:blipFill>
          <a:blip r:embed="rId6"/>
          <a:stretch>
            <a:fillRect/>
          </a:stretch>
        </p:blipFill>
        <p:spPr>
          <a:xfrm>
            <a:off x="6506230" y="4460032"/>
            <a:ext cx="294803" cy="294803"/>
          </a:xfrm>
          <a:prstGeom prst="rect">
            <a:avLst/>
          </a:prstGeom>
        </p:spPr>
      </p:pic>
      <p:sp>
        <p:nvSpPr>
          <p:cNvPr id="34" name="Text 25"/>
          <p:cNvSpPr txBox="1"/>
          <p:nvPr/>
        </p:nvSpPr>
        <p:spPr>
          <a:xfrm>
            <a:off x="6370168" y="4214241"/>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5" name="Text 26"/>
          <p:cNvSpPr txBox="1"/>
          <p:nvPr/>
        </p:nvSpPr>
        <p:spPr>
          <a:xfrm>
            <a:off x="7055968" y="4229100"/>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desatendido y sin bloqueo de pantalla.</a:t>
            </a:r>
            <a:endParaRPr lang="en-US" sz="1150" dirty="0"/>
          </a:p>
        </p:txBody>
      </p:sp>
      <p:sp>
        <p:nvSpPr>
          <p:cNvPr id="36" name="Shape 27"/>
          <p:cNvSpPr/>
          <p:nvPr/>
        </p:nvSpPr>
        <p:spPr>
          <a:xfrm>
            <a:off x="56692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37" name="Shape 28"/>
          <p:cNvSpPr/>
          <p:nvPr/>
        </p:nvSpPr>
        <p:spPr>
          <a:xfrm>
            <a:off x="704088" y="5373243"/>
            <a:ext cx="566928" cy="566928"/>
          </a:xfrm>
          <a:prstGeom prst="ellipse">
            <a:avLst/>
          </a:prstGeom>
          <a:solidFill>
            <a:srgbClr val="2E86C7"/>
          </a:solidFill>
          <a:ln/>
        </p:spPr>
      </p:sp>
      <p:pic>
        <p:nvPicPr>
          <p:cNvPr id="38" name="Image 6" descr="/tmp/claude-0/-home-user-riesgo/0ff9ff46-1396-5bd8-b3ac-2280dfbbbc55/scratchpad/work/gen/icons/chat_navy.png">    </p:cNvPr>
          <p:cNvPicPr>
            <a:picLocks noChangeAspect="1"/>
          </p:cNvPicPr>
          <p:nvPr/>
        </p:nvPicPr>
        <p:blipFill>
          <a:blip r:embed="rId7"/>
          <a:stretch>
            <a:fillRect/>
          </a:stretch>
        </p:blipFill>
        <p:spPr>
          <a:xfrm>
            <a:off x="840151" y="5509306"/>
            <a:ext cx="294803" cy="294803"/>
          </a:xfrm>
          <a:prstGeom prst="rect">
            <a:avLst/>
          </a:prstGeom>
        </p:spPr>
      </p:pic>
      <p:sp>
        <p:nvSpPr>
          <p:cNvPr id="39" name="Text 29"/>
          <p:cNvSpPr txBox="1"/>
          <p:nvPr/>
        </p:nvSpPr>
        <p:spPr>
          <a:xfrm>
            <a:off x="70408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40" name="Text 30"/>
          <p:cNvSpPr txBox="1"/>
          <p:nvPr/>
        </p:nvSpPr>
        <p:spPr>
          <a:xfrm>
            <a:off x="138988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Información institucional comentada fuera de lugar.</a:t>
            </a:r>
            <a:endParaRPr lang="en-US" sz="1150" dirty="0"/>
          </a:p>
        </p:txBody>
      </p:sp>
      <p:sp>
        <p:nvSpPr>
          <p:cNvPr id="41" name="Shape 31"/>
          <p:cNvSpPr/>
          <p:nvPr/>
        </p:nvSpPr>
        <p:spPr>
          <a:xfrm>
            <a:off x="6233008" y="5205222"/>
            <a:ext cx="5391760" cy="902970"/>
          </a:xfrm>
          <a:prstGeom prst="roundRect">
            <a:avLst>
              <a:gd name="adj" fmla="val 9114"/>
            </a:avLst>
          </a:prstGeom>
          <a:solidFill>
            <a:srgbClr val="FFFFFF"/>
          </a:solidFill>
          <a:ln/>
          <a:effectLst>
            <a:outerShdw sx="100000" sy="100000" kx="0" ky="0" algn="bl" rotWithShape="0" blurRad="76200" dist="25400" dir="5400000">
              <a:srgbClr val="17223A">
                <a:alpha val="12000"/>
              </a:srgbClr>
            </a:outerShdw>
          </a:effectLst>
        </p:spPr>
      </p:sp>
      <p:sp>
        <p:nvSpPr>
          <p:cNvPr id="42" name="Shape 32"/>
          <p:cNvSpPr/>
          <p:nvPr/>
        </p:nvSpPr>
        <p:spPr>
          <a:xfrm>
            <a:off x="6370168" y="5373243"/>
            <a:ext cx="566928" cy="566928"/>
          </a:xfrm>
          <a:prstGeom prst="ellipse">
            <a:avLst/>
          </a:prstGeom>
          <a:solidFill>
            <a:srgbClr val="2E86C7"/>
          </a:solidFill>
          <a:ln/>
        </p:spPr>
      </p:sp>
      <p:pic>
        <p:nvPicPr>
          <p:cNvPr id="43" name="Image 7" descr="/tmp/claude-0/-home-user-riesgo/0ff9ff46-1396-5bd8-b3ac-2280dfbbbc55/scratchpad/work/gen/icons/id_card_navy.png">    </p:cNvPr>
          <p:cNvPicPr>
            <a:picLocks noChangeAspect="1"/>
          </p:cNvPicPr>
          <p:nvPr/>
        </p:nvPicPr>
        <p:blipFill>
          <a:blip r:embed="rId8"/>
          <a:stretch>
            <a:fillRect/>
          </a:stretch>
        </p:blipFill>
        <p:spPr>
          <a:xfrm>
            <a:off x="6506230" y="5509306"/>
            <a:ext cx="294803" cy="294803"/>
          </a:xfrm>
          <a:prstGeom prst="rect">
            <a:avLst/>
          </a:prstGeom>
        </p:spPr>
      </p:pic>
      <p:sp>
        <p:nvSpPr>
          <p:cNvPr id="44" name="Text 33"/>
          <p:cNvSpPr txBox="1"/>
          <p:nvPr/>
        </p:nvSpPr>
        <p:spPr>
          <a:xfrm>
            <a:off x="6370168" y="5263515"/>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5" name="Text 34"/>
          <p:cNvSpPr txBox="1"/>
          <p:nvPr/>
        </p:nvSpPr>
        <p:spPr>
          <a:xfrm>
            <a:off x="7055968" y="5278374"/>
            <a:ext cx="4431640" cy="756666"/>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Gafete o credencial olvidado a la vista de todos.</a:t>
            </a:r>
            <a:endParaRPr lang="en-US" sz="1150" dirty="0"/>
          </a:p>
        </p:txBody>
      </p:sp>
      <p:sp>
        <p:nvSpPr>
          <p:cNvPr id="46" name="Text 3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3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6F3FB"/>
                </a:solidFill>
                <a:latin typeface="Cambria" pitchFamily="34" charset="0"/>
                <a:ea typeface="Cambria" pitchFamily="34" charset="-122"/>
                <a:cs typeface="Cambria" pitchFamily="34" charset="-120"/>
              </a:rPr>
              <a:t>01</a:t>
            </a:r>
            <a:endParaRPr lang="en-US" sz="26000" dirty="0"/>
          </a:p>
        </p:txBody>
      </p:sp>
      <p:sp>
        <p:nvSpPr>
          <p:cNvPr id="4" name="Shape 1"/>
          <p:cNvSpPr/>
          <p:nvPr/>
        </p:nvSpPr>
        <p:spPr>
          <a:xfrm>
            <a:off x="10104120" y="-685800"/>
            <a:ext cx="2743200" cy="2743200"/>
          </a:xfrm>
          <a:prstGeom prst="ellipse">
            <a:avLst/>
          </a:prstGeom>
          <a:solidFill>
            <a:srgbClr val="9ECFEE"/>
          </a:solidFill>
          <a:ln/>
        </p:spPr>
      </p:sp>
      <p:sp>
        <p:nvSpPr>
          <p:cNvPr id="5" name="Shape 2"/>
          <p:cNvSpPr/>
          <p:nvPr/>
        </p:nvSpPr>
        <p:spPr>
          <a:xfrm>
            <a:off x="8001000" y="502920"/>
            <a:ext cx="3657600" cy="5806440"/>
          </a:xfrm>
          <a:prstGeom prst="roundRect">
            <a:avLst>
              <a:gd name="adj" fmla="val 11250"/>
            </a:avLst>
          </a:prstGeom>
          <a:solidFill>
            <a:srgbClr val="4FA8E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people_group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andshak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4FA8E0"/>
                </a:solidFill>
                <a:latin typeface="Calibri" pitchFamily="34" charset="0"/>
                <a:ea typeface="Calibri" pitchFamily="34" charset="-122"/>
                <a:cs typeface="Calibri" pitchFamily="34" charset="-120"/>
              </a:rPr>
              <a:t>TEMA 1</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TODOS SOMOS GESTORES</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DE RIESGOS</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La gestión de riesgos no es responsabilidad de un solo departamento.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4FA8E0"/>
                </a:solidFill>
                <a:latin typeface="Calibri" pitchFamily="34" charset="0"/>
                <a:ea typeface="Calibri" pitchFamily="34" charset="-122"/>
                <a:cs typeface="Calibri" pitchFamily="34" charset="-120"/>
              </a:rPr>
              <a:t>TEMA 1 · TODOS SOMOS GESTORES DE RIESGOS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SEIS ACCIONES QUE ESTÁN EN TUS MANOS</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Sin importar tu cargo o área, cada colaborador de COMEDICA DE R.L. puede:</a:t>
            </a:r>
            <a:endParaRPr lang="en-US" sz="1500" dirty="0"/>
          </a:p>
        </p:txBody>
      </p:sp>
      <p:sp>
        <p:nvSpPr>
          <p:cNvPr id="6" name="Shape 3"/>
          <p:cNvSpPr/>
          <p:nvPr/>
        </p:nvSpPr>
        <p:spPr>
          <a:xfrm>
            <a:off x="566928" y="2148840"/>
            <a:ext cx="3490874" cy="1431036"/>
          </a:xfrm>
          <a:prstGeom prst="roundRect">
            <a:avLst>
              <a:gd name="adj" fmla="val 6390"/>
            </a:avLst>
          </a:prstGeom>
          <a:solidFill>
            <a:srgbClr val="F2F5F9"/>
          </a:solidFill>
          <a:ln/>
        </p:spPr>
      </p:sp>
      <p:sp>
        <p:nvSpPr>
          <p:cNvPr id="7" name="Shape 4"/>
          <p:cNvSpPr/>
          <p:nvPr/>
        </p:nvSpPr>
        <p:spPr>
          <a:xfrm>
            <a:off x="2028901" y="2313432"/>
            <a:ext cx="566928" cy="566928"/>
          </a:xfrm>
          <a:prstGeom prst="ellipse">
            <a:avLst/>
          </a:prstGeom>
          <a:solidFill>
            <a:srgbClr val="4FA8E0"/>
          </a:solidFill>
          <a:ln/>
        </p:spPr>
      </p:sp>
      <p:pic>
        <p:nvPicPr>
          <p:cNvPr id="8" name="Image 0" descr="/tmp/claude-0/-home-user-riesgo/0ff9ff46-1396-5bd8-b3ac-2280dfbbbc55/scratchpad/work/gen/icons/magnifier_white.png">    </p:cNvPr>
          <p:cNvPicPr>
            <a:picLocks noChangeAspect="1"/>
          </p:cNvPicPr>
          <p:nvPr/>
        </p:nvPicPr>
        <p:blipFill>
          <a:blip r:embed="rId1"/>
          <a:stretch>
            <a:fillRect/>
          </a:stretch>
        </p:blipFill>
        <p:spPr>
          <a:xfrm>
            <a:off x="2164964" y="2449495"/>
            <a:ext cx="294803" cy="294803"/>
          </a:xfrm>
          <a:prstGeom prst="rect">
            <a:avLst/>
          </a:prstGeom>
        </p:spPr>
      </p:pic>
      <p:sp>
        <p:nvSpPr>
          <p:cNvPr id="9" name="Text 5"/>
          <p:cNvSpPr txBox="1"/>
          <p:nvPr/>
        </p:nvSpPr>
        <p:spPr>
          <a:xfrm>
            <a:off x="676656"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Identificar</a:t>
            </a:r>
            <a:endParaRPr lang="en-US" sz="1250" dirty="0"/>
          </a:p>
        </p:txBody>
      </p:sp>
      <p:sp>
        <p:nvSpPr>
          <p:cNvPr id="10" name="Shape 6"/>
          <p:cNvSpPr/>
          <p:nvPr/>
        </p:nvSpPr>
        <p:spPr>
          <a:xfrm>
            <a:off x="4350410" y="2148840"/>
            <a:ext cx="3490874" cy="1431036"/>
          </a:xfrm>
          <a:prstGeom prst="roundRect">
            <a:avLst>
              <a:gd name="adj" fmla="val 6390"/>
            </a:avLst>
          </a:prstGeom>
          <a:solidFill>
            <a:srgbClr val="F2F5F9"/>
          </a:solidFill>
          <a:ln/>
        </p:spPr>
      </p:sp>
      <p:sp>
        <p:nvSpPr>
          <p:cNvPr id="11" name="Shape 7"/>
          <p:cNvSpPr/>
          <p:nvPr/>
        </p:nvSpPr>
        <p:spPr>
          <a:xfrm>
            <a:off x="5812384" y="2313432"/>
            <a:ext cx="566928" cy="566928"/>
          </a:xfrm>
          <a:prstGeom prst="ellipse">
            <a:avLst/>
          </a:prstGeom>
          <a:solidFill>
            <a:srgbClr val="4FA8E0"/>
          </a:solidFill>
          <a:ln/>
        </p:spPr>
      </p:sp>
      <p:pic>
        <p:nvPicPr>
          <p:cNvPr id="12" name="Image 1" descr="/tmp/claude-0/-home-user-riesgo/0ff9ff46-1396-5bd8-b3ac-2280dfbbbc55/scratchpad/work/gen/icons/shield_check_white.png">    </p:cNvPr>
          <p:cNvPicPr>
            <a:picLocks noChangeAspect="1"/>
          </p:cNvPicPr>
          <p:nvPr/>
        </p:nvPicPr>
        <p:blipFill>
          <a:blip r:embed="rId2"/>
          <a:stretch>
            <a:fillRect/>
          </a:stretch>
        </p:blipFill>
        <p:spPr>
          <a:xfrm>
            <a:off x="5948446" y="2449495"/>
            <a:ext cx="294803" cy="294803"/>
          </a:xfrm>
          <a:prstGeom prst="rect">
            <a:avLst/>
          </a:prstGeom>
        </p:spPr>
      </p:pic>
      <p:sp>
        <p:nvSpPr>
          <p:cNvPr id="13" name="Text 8"/>
          <p:cNvSpPr txBox="1"/>
          <p:nvPr/>
        </p:nvSpPr>
        <p:spPr>
          <a:xfrm>
            <a:off x="4460138"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Prevenir</a:t>
            </a:r>
            <a:endParaRPr lang="en-US" sz="1250" dirty="0"/>
          </a:p>
        </p:txBody>
      </p:sp>
      <p:sp>
        <p:nvSpPr>
          <p:cNvPr id="14" name="Shape 9"/>
          <p:cNvSpPr/>
          <p:nvPr/>
        </p:nvSpPr>
        <p:spPr>
          <a:xfrm>
            <a:off x="8133893" y="2148840"/>
            <a:ext cx="3490874" cy="1431036"/>
          </a:xfrm>
          <a:prstGeom prst="roundRect">
            <a:avLst>
              <a:gd name="adj" fmla="val 6390"/>
            </a:avLst>
          </a:prstGeom>
          <a:solidFill>
            <a:srgbClr val="F2F5F9"/>
          </a:solidFill>
          <a:ln/>
        </p:spPr>
      </p:sp>
      <p:sp>
        <p:nvSpPr>
          <p:cNvPr id="15" name="Shape 10"/>
          <p:cNvSpPr/>
          <p:nvPr/>
        </p:nvSpPr>
        <p:spPr>
          <a:xfrm>
            <a:off x="9595866" y="2313432"/>
            <a:ext cx="566928" cy="566928"/>
          </a:xfrm>
          <a:prstGeom prst="ellipse">
            <a:avLst/>
          </a:prstGeom>
          <a:solidFill>
            <a:srgbClr val="4FA8E0"/>
          </a:solidFill>
          <a:ln/>
        </p:spPr>
      </p:sp>
      <p:pic>
        <p:nvPicPr>
          <p:cNvPr id="16" name="Image 2" descr="/tmp/claude-0/-home-user-riesgo/0ff9ff46-1396-5bd8-b3ac-2280dfbbbc55/scratchpad/work/gen/icons/gear_white.png">    </p:cNvPr>
          <p:cNvPicPr>
            <a:picLocks noChangeAspect="1"/>
          </p:cNvPicPr>
          <p:nvPr/>
        </p:nvPicPr>
        <p:blipFill>
          <a:blip r:embed="rId3"/>
          <a:stretch>
            <a:fillRect/>
          </a:stretch>
        </p:blipFill>
        <p:spPr>
          <a:xfrm>
            <a:off x="9731929" y="2449495"/>
            <a:ext cx="294803" cy="294803"/>
          </a:xfrm>
          <a:prstGeom prst="rect">
            <a:avLst/>
          </a:prstGeom>
        </p:spPr>
      </p:pic>
      <p:sp>
        <p:nvSpPr>
          <p:cNvPr id="17" name="Text 11"/>
          <p:cNvSpPr txBox="1"/>
          <p:nvPr/>
        </p:nvSpPr>
        <p:spPr>
          <a:xfrm>
            <a:off x="8243621" y="3026664"/>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Controlar</a:t>
            </a:r>
            <a:endParaRPr lang="en-US" sz="1250" dirty="0"/>
          </a:p>
        </p:txBody>
      </p:sp>
      <p:sp>
        <p:nvSpPr>
          <p:cNvPr id="18" name="Shape 12"/>
          <p:cNvSpPr/>
          <p:nvPr/>
        </p:nvSpPr>
        <p:spPr>
          <a:xfrm>
            <a:off x="566928" y="3835908"/>
            <a:ext cx="3490874" cy="1431036"/>
          </a:xfrm>
          <a:prstGeom prst="roundRect">
            <a:avLst>
              <a:gd name="adj" fmla="val 6390"/>
            </a:avLst>
          </a:prstGeom>
          <a:solidFill>
            <a:srgbClr val="F2F5F9"/>
          </a:solidFill>
          <a:ln/>
        </p:spPr>
      </p:sp>
      <p:sp>
        <p:nvSpPr>
          <p:cNvPr id="19" name="Shape 13"/>
          <p:cNvSpPr/>
          <p:nvPr/>
        </p:nvSpPr>
        <p:spPr>
          <a:xfrm>
            <a:off x="2028901" y="4000500"/>
            <a:ext cx="566928" cy="566928"/>
          </a:xfrm>
          <a:prstGeom prst="ellipse">
            <a:avLst/>
          </a:prstGeom>
          <a:solidFill>
            <a:srgbClr val="4FA8E0"/>
          </a:solidFill>
          <a:ln/>
        </p:spPr>
      </p:sp>
      <p:pic>
        <p:nvPicPr>
          <p:cNvPr id="20" name="Image 3" descr="/tmp/claude-0/-home-user-riesgo/0ff9ff46-1396-5bd8-b3ac-2280dfbbbc55/scratchpad/work/gen/icons/chat_white.png">    </p:cNvPr>
          <p:cNvPicPr>
            <a:picLocks noChangeAspect="1"/>
          </p:cNvPicPr>
          <p:nvPr/>
        </p:nvPicPr>
        <p:blipFill>
          <a:blip r:embed="rId4"/>
          <a:stretch>
            <a:fillRect/>
          </a:stretch>
        </p:blipFill>
        <p:spPr>
          <a:xfrm>
            <a:off x="2164964" y="4136563"/>
            <a:ext cx="294803" cy="294803"/>
          </a:xfrm>
          <a:prstGeom prst="rect">
            <a:avLst/>
          </a:prstGeom>
        </p:spPr>
      </p:pic>
      <p:sp>
        <p:nvSpPr>
          <p:cNvPr id="21" name="Text 14"/>
          <p:cNvSpPr txBox="1"/>
          <p:nvPr/>
        </p:nvSpPr>
        <p:spPr>
          <a:xfrm>
            <a:off x="676656"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Comunicar</a:t>
            </a:r>
            <a:endParaRPr lang="en-US" sz="1250" dirty="0"/>
          </a:p>
        </p:txBody>
      </p:sp>
      <p:sp>
        <p:nvSpPr>
          <p:cNvPr id="22" name="Shape 15"/>
          <p:cNvSpPr/>
          <p:nvPr/>
        </p:nvSpPr>
        <p:spPr>
          <a:xfrm>
            <a:off x="4350410" y="3835908"/>
            <a:ext cx="3490874" cy="1431036"/>
          </a:xfrm>
          <a:prstGeom prst="roundRect">
            <a:avLst>
              <a:gd name="adj" fmla="val 6390"/>
            </a:avLst>
          </a:prstGeom>
          <a:solidFill>
            <a:srgbClr val="F2F5F9"/>
          </a:solidFill>
          <a:ln/>
        </p:spPr>
      </p:sp>
      <p:sp>
        <p:nvSpPr>
          <p:cNvPr id="23" name="Shape 16"/>
          <p:cNvSpPr/>
          <p:nvPr/>
        </p:nvSpPr>
        <p:spPr>
          <a:xfrm>
            <a:off x="5812384" y="4000500"/>
            <a:ext cx="566928" cy="566928"/>
          </a:xfrm>
          <a:prstGeom prst="ellipse">
            <a:avLst/>
          </a:prstGeom>
          <a:solidFill>
            <a:srgbClr val="4FA8E0"/>
          </a:solidFill>
          <a:ln/>
        </p:spPr>
      </p:sp>
      <p:pic>
        <p:nvPicPr>
          <p:cNvPr id="24" name="Image 4" descr="/tmp/claude-0/-home-user-riesgo/0ff9ff46-1396-5bd8-b3ac-2280dfbbbc55/scratchpad/work/gen/icons/megaphone_white.png">    </p:cNvPr>
          <p:cNvPicPr>
            <a:picLocks noChangeAspect="1"/>
          </p:cNvPicPr>
          <p:nvPr/>
        </p:nvPicPr>
        <p:blipFill>
          <a:blip r:embed="rId5"/>
          <a:stretch>
            <a:fillRect/>
          </a:stretch>
        </p:blipFill>
        <p:spPr>
          <a:xfrm>
            <a:off x="5948446" y="4136563"/>
            <a:ext cx="294803" cy="294803"/>
          </a:xfrm>
          <a:prstGeom prst="rect">
            <a:avLst/>
          </a:prstGeom>
        </p:spPr>
      </p:pic>
      <p:sp>
        <p:nvSpPr>
          <p:cNvPr id="25" name="Text 17"/>
          <p:cNvSpPr txBox="1"/>
          <p:nvPr/>
        </p:nvSpPr>
        <p:spPr>
          <a:xfrm>
            <a:off x="4460138"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Reportar</a:t>
            </a:r>
            <a:endParaRPr lang="en-US" sz="1250" dirty="0"/>
          </a:p>
        </p:txBody>
      </p:sp>
      <p:sp>
        <p:nvSpPr>
          <p:cNvPr id="26" name="Shape 18"/>
          <p:cNvSpPr/>
          <p:nvPr/>
        </p:nvSpPr>
        <p:spPr>
          <a:xfrm>
            <a:off x="8133893" y="3835908"/>
            <a:ext cx="3490874" cy="1431036"/>
          </a:xfrm>
          <a:prstGeom prst="roundRect">
            <a:avLst>
              <a:gd name="adj" fmla="val 6390"/>
            </a:avLst>
          </a:prstGeom>
          <a:solidFill>
            <a:srgbClr val="F2F5F9"/>
          </a:solidFill>
          <a:ln/>
        </p:spPr>
      </p:sp>
      <p:sp>
        <p:nvSpPr>
          <p:cNvPr id="27" name="Shape 19"/>
          <p:cNvSpPr/>
          <p:nvPr/>
        </p:nvSpPr>
        <p:spPr>
          <a:xfrm>
            <a:off x="9595866" y="4000500"/>
            <a:ext cx="566928" cy="566928"/>
          </a:xfrm>
          <a:prstGeom prst="ellipse">
            <a:avLst/>
          </a:prstGeom>
          <a:solidFill>
            <a:srgbClr val="4FA8E0"/>
          </a:solidFill>
          <a:ln/>
        </p:spPr>
      </p:sp>
      <p:pic>
        <p:nvPicPr>
          <p:cNvPr id="28" name="Image 5" descr="/tmp/claude-0/-home-user-riesgo/0ff9ff46-1396-5bd8-b3ac-2280dfbbbc55/scratchpad/work/gen/icons/check_circle_white.png">    </p:cNvPr>
          <p:cNvPicPr>
            <a:picLocks noChangeAspect="1"/>
          </p:cNvPicPr>
          <p:nvPr/>
        </p:nvPicPr>
        <p:blipFill>
          <a:blip r:embed="rId6"/>
          <a:stretch>
            <a:fillRect/>
          </a:stretch>
        </p:blipFill>
        <p:spPr>
          <a:xfrm>
            <a:off x="9731929" y="4136563"/>
            <a:ext cx="294803" cy="294803"/>
          </a:xfrm>
          <a:prstGeom prst="rect">
            <a:avLst/>
          </a:prstGeom>
        </p:spPr>
      </p:pic>
      <p:sp>
        <p:nvSpPr>
          <p:cNvPr id="29" name="Text 20"/>
          <p:cNvSpPr txBox="1"/>
          <p:nvPr/>
        </p:nvSpPr>
        <p:spPr>
          <a:xfrm>
            <a:off x="8243621" y="4713732"/>
            <a:ext cx="327141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Actuar</a:t>
            </a:r>
            <a:endParaRPr lang="en-US" sz="1250" dirty="0"/>
          </a:p>
        </p:txBody>
      </p:sp>
      <p:sp>
        <p:nvSpPr>
          <p:cNvPr id="30" name="Shape 21"/>
          <p:cNvSpPr/>
          <p:nvPr/>
        </p:nvSpPr>
        <p:spPr>
          <a:xfrm>
            <a:off x="566928" y="5449824"/>
            <a:ext cx="11057839" cy="658368"/>
          </a:xfrm>
          <a:prstGeom prst="roundRect">
            <a:avLst>
              <a:gd name="adj" fmla="val 13889"/>
            </a:avLst>
          </a:prstGeom>
          <a:solidFill>
            <a:srgbClr val="4FA8E0"/>
          </a:solidFill>
          <a:ln/>
        </p:spPr>
      </p:sp>
      <p:sp>
        <p:nvSpPr>
          <p:cNvPr id="31" name="Text 22"/>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puede aparecer en cualquier lugar. La gestión también.</a:t>
            </a:r>
            <a:endParaRPr lang="en-US" sz="1500" dirty="0"/>
          </a:p>
        </p:txBody>
      </p:sp>
      <p:sp>
        <p:nvSpPr>
          <p:cNvPr id="32" name="Text 2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EF7"/>
                </a:solidFill>
                <a:latin typeface="Cambria" pitchFamily="34" charset="0"/>
                <a:ea typeface="Cambria" pitchFamily="34" charset="-122"/>
                <a:cs typeface="Cambria" pitchFamily="34" charset="-120"/>
              </a:rPr>
              <a:t>02</a:t>
            </a:r>
            <a:endParaRPr lang="en-US" sz="26000" dirty="0"/>
          </a:p>
        </p:txBody>
      </p:sp>
      <p:sp>
        <p:nvSpPr>
          <p:cNvPr id="4" name="Shape 1"/>
          <p:cNvSpPr/>
          <p:nvPr/>
        </p:nvSpPr>
        <p:spPr>
          <a:xfrm>
            <a:off x="10104120" y="-685800"/>
            <a:ext cx="2743200" cy="2743200"/>
          </a:xfrm>
          <a:prstGeom prst="ellipse">
            <a:avLst/>
          </a:prstGeom>
          <a:solidFill>
            <a:srgbClr val="8CBCE0"/>
          </a:solidFill>
          <a:ln/>
        </p:spPr>
      </p:sp>
      <p:sp>
        <p:nvSpPr>
          <p:cNvPr id="5" name="Shape 2"/>
          <p:cNvSpPr/>
          <p:nvPr/>
        </p:nvSpPr>
        <p:spPr>
          <a:xfrm>
            <a:off x="8001000" y="502920"/>
            <a:ext cx="3657600" cy="5806440"/>
          </a:xfrm>
          <a:prstGeom prst="roundRect">
            <a:avLst>
              <a:gd name="adj" fmla="val 11250"/>
            </a:avLst>
          </a:prstGeom>
          <a:solidFill>
            <a:srgbClr val="2E86C7"/>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megaphon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ey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86C7"/>
                </a:solidFill>
                <a:latin typeface="Calibri" pitchFamily="34" charset="0"/>
                <a:ea typeface="Calibri" pitchFamily="34" charset="-122"/>
                <a:cs typeface="Calibri" pitchFamily="34" charset="-120"/>
              </a:rPr>
              <a:t>TEMA 2</a:t>
            </a:r>
            <a:endParaRPr lang="en-US" sz="1500" dirty="0"/>
          </a:p>
        </p:txBody>
      </p:sp>
      <p:sp>
        <p:nvSpPr>
          <p:cNvPr id="11" name="Text 6"/>
          <p:cNvSpPr txBox="1"/>
          <p:nvPr/>
        </p:nvSpPr>
        <p:spPr>
          <a:xfrm>
            <a:off x="566928" y="2697480"/>
            <a:ext cx="7223760" cy="1280160"/>
          </a:xfrm>
          <a:prstGeom prst="rect">
            <a:avLst/>
          </a:prstGeom>
          <a:noFill/>
          <a:ln/>
        </p:spPr>
        <p:txBody>
          <a:bodyPr wrap="square" lIns="0" tIns="0" rIns="0" bIns="0" rtlCol="0" anchor="t"/>
          <a:lstStyle/>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¿VES UN RIESGO?</a:t>
            </a:r>
            <a:endParaRPr lang="en-US" sz="3400" dirty="0"/>
          </a:p>
          <a:p>
            <a:pPr indent="0" marL="0">
              <a:lnSpc>
                <a:spcPct val="105000"/>
              </a:lnSpc>
              <a:buNone/>
            </a:pPr>
            <a:r>
              <a:rPr lang="en-US" sz="3400" b="1" dirty="0">
                <a:solidFill>
                  <a:srgbClr val="133B6C"/>
                </a:solidFill>
                <a:latin typeface="Cambria" pitchFamily="34" charset="0"/>
                <a:ea typeface="Cambria" pitchFamily="34" charset="-122"/>
                <a:cs typeface="Cambria" pitchFamily="34" charset="-120"/>
              </a:rPr>
              <a:t>¡REPÓRTALO!</a:t>
            </a:r>
            <a:endParaRPr lang="en-US" sz="3400" dirty="0"/>
          </a:p>
        </p:txBody>
      </p:sp>
      <p:sp>
        <p:nvSpPr>
          <p:cNvPr id="12" name="Text 7"/>
          <p:cNvSpPr txBox="1"/>
          <p:nvPr/>
        </p:nvSpPr>
        <p:spPr>
          <a:xfrm>
            <a:off x="566928" y="39776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Uno de los hábitos más importantes que puedes construir en tu día a día.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¿VES UN RIESGO? ¡REPÓRTALO!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CUATRO PASOS QUE MARCAN LA DIFERENCIA</a:t>
            </a:r>
            <a:endParaRPr lang="en-US" sz="2700" dirty="0"/>
          </a:p>
        </p:txBody>
      </p:sp>
      <p:sp>
        <p:nvSpPr>
          <p:cNvPr id="5" name="Shape 2"/>
          <p:cNvSpPr/>
          <p:nvPr/>
        </p:nvSpPr>
        <p:spPr>
          <a:xfrm>
            <a:off x="1469098" y="3049524"/>
            <a:ext cx="960120" cy="960120"/>
          </a:xfrm>
          <a:prstGeom prst="ellipse">
            <a:avLst/>
          </a:prstGeom>
          <a:solidFill>
            <a:srgbClr val="2E86C7"/>
          </a:solidFill>
          <a:ln/>
        </p:spPr>
      </p:sp>
      <p:pic>
        <p:nvPicPr>
          <p:cNvPr id="6" name="Image 0" descr="/tmp/claude-0/-home-user-riesgo/0ff9ff46-1396-5bd8-b3ac-2280dfbbbc55/scratchpad/work/gen/icons/eye_white.png">    </p:cNvPr>
          <p:cNvPicPr>
            <a:picLocks noChangeAspect="1"/>
          </p:cNvPicPr>
          <p:nvPr/>
        </p:nvPicPr>
        <p:blipFill>
          <a:blip r:embed="rId1"/>
          <a:stretch>
            <a:fillRect/>
          </a:stretch>
        </p:blipFill>
        <p:spPr>
          <a:xfrm>
            <a:off x="1709128" y="3289554"/>
            <a:ext cx="480060" cy="480060"/>
          </a:xfrm>
          <a:prstGeom prst="rect">
            <a:avLst/>
          </a:prstGeom>
        </p:spPr>
      </p:pic>
      <p:sp>
        <p:nvSpPr>
          <p:cNvPr id="7" name="Text 3"/>
          <p:cNvSpPr txBox="1"/>
          <p:nvPr/>
        </p:nvSpPr>
        <p:spPr>
          <a:xfrm>
            <a:off x="62179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VEO</a:t>
            </a:r>
            <a:endParaRPr lang="en-US" sz="1300" dirty="0"/>
          </a:p>
        </p:txBody>
      </p:sp>
      <p:sp>
        <p:nvSpPr>
          <p:cNvPr id="8" name="Text 4"/>
          <p:cNvSpPr txBox="1"/>
          <p:nvPr/>
        </p:nvSpPr>
        <p:spPr>
          <a:xfrm>
            <a:off x="69494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Algo llama mi atención en mi entorno de trabajo.</a:t>
            </a:r>
            <a:endParaRPr lang="en-US" sz="10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3185084" y="3383280"/>
            <a:ext cx="292608" cy="292608"/>
          </a:xfrm>
          <a:prstGeom prst="rect">
            <a:avLst/>
          </a:prstGeom>
        </p:spPr>
      </p:pic>
      <p:sp>
        <p:nvSpPr>
          <p:cNvPr id="10" name="Shape 5"/>
          <p:cNvSpPr/>
          <p:nvPr/>
        </p:nvSpPr>
        <p:spPr>
          <a:xfrm>
            <a:off x="4233558" y="3049524"/>
            <a:ext cx="960120" cy="960120"/>
          </a:xfrm>
          <a:prstGeom prst="ellipse">
            <a:avLst/>
          </a:prstGeom>
          <a:solidFill>
            <a:srgbClr val="2E86C7"/>
          </a:solidFill>
          <a:ln/>
        </p:spPr>
      </p:sp>
      <p:pic>
        <p:nvPicPr>
          <p:cNvPr id="11" name="Image 2" descr="/tmp/claude-0/-home-user-riesgo/0ff9ff46-1396-5bd8-b3ac-2280dfbbbc55/scratchpad/work/gen/icons/magnifier_white.png">    </p:cNvPr>
          <p:cNvPicPr>
            <a:picLocks noChangeAspect="1"/>
          </p:cNvPicPr>
          <p:nvPr/>
        </p:nvPicPr>
        <p:blipFill>
          <a:blip r:embed="rId3"/>
          <a:stretch>
            <a:fillRect/>
          </a:stretch>
        </p:blipFill>
        <p:spPr>
          <a:xfrm>
            <a:off x="4473588" y="3289554"/>
            <a:ext cx="480060" cy="480060"/>
          </a:xfrm>
          <a:prstGeom prst="rect">
            <a:avLst/>
          </a:prstGeom>
        </p:spPr>
      </p:pic>
      <p:sp>
        <p:nvSpPr>
          <p:cNvPr id="12" name="Text 6"/>
          <p:cNvSpPr txBox="1"/>
          <p:nvPr/>
        </p:nvSpPr>
        <p:spPr>
          <a:xfrm>
            <a:off x="338625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IDENTIFICO</a:t>
            </a:r>
            <a:endParaRPr lang="en-US" sz="1300" dirty="0"/>
          </a:p>
        </p:txBody>
      </p:sp>
      <p:sp>
        <p:nvSpPr>
          <p:cNvPr id="13" name="Text 7"/>
          <p:cNvSpPr txBox="1"/>
          <p:nvPr/>
        </p:nvSpPr>
        <p:spPr>
          <a:xfrm>
            <a:off x="345940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Reconozco que se trata de un riesgo real.</a:t>
            </a:r>
            <a:endParaRPr lang="en-US" sz="10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949544" y="3383280"/>
            <a:ext cx="292608" cy="292608"/>
          </a:xfrm>
          <a:prstGeom prst="rect">
            <a:avLst/>
          </a:prstGeom>
        </p:spPr>
      </p:pic>
      <p:sp>
        <p:nvSpPr>
          <p:cNvPr id="15" name="Shape 8"/>
          <p:cNvSpPr/>
          <p:nvPr/>
        </p:nvSpPr>
        <p:spPr>
          <a:xfrm>
            <a:off x="6998017" y="3049524"/>
            <a:ext cx="960120" cy="960120"/>
          </a:xfrm>
          <a:prstGeom prst="ellipse">
            <a:avLst/>
          </a:prstGeom>
          <a:solidFill>
            <a:srgbClr val="2E86C7"/>
          </a:solidFill>
          <a:ln/>
        </p:spPr>
      </p:sp>
      <p:pic>
        <p:nvPicPr>
          <p:cNvPr id="16" name="Image 4" descr="/tmp/claude-0/-home-user-riesgo/0ff9ff46-1396-5bd8-b3ac-2280dfbbbc55/scratchpad/work/gen/icons/check_circle_white.png">    </p:cNvPr>
          <p:cNvPicPr>
            <a:picLocks noChangeAspect="1"/>
          </p:cNvPicPr>
          <p:nvPr/>
        </p:nvPicPr>
        <p:blipFill>
          <a:blip r:embed="rId5"/>
          <a:stretch>
            <a:fillRect/>
          </a:stretch>
        </p:blipFill>
        <p:spPr>
          <a:xfrm>
            <a:off x="7238047" y="3289554"/>
            <a:ext cx="480060" cy="480060"/>
          </a:xfrm>
          <a:prstGeom prst="rect">
            <a:avLst/>
          </a:prstGeom>
        </p:spPr>
      </p:pic>
      <p:sp>
        <p:nvSpPr>
          <p:cNvPr id="17" name="Text 9"/>
          <p:cNvSpPr txBox="1"/>
          <p:nvPr/>
        </p:nvSpPr>
        <p:spPr>
          <a:xfrm>
            <a:off x="6150712"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ACTÚO</a:t>
            </a:r>
            <a:endParaRPr lang="en-US" sz="1300" dirty="0"/>
          </a:p>
        </p:txBody>
      </p:sp>
      <p:sp>
        <p:nvSpPr>
          <p:cNvPr id="18" name="Text 10"/>
          <p:cNvSpPr txBox="1"/>
          <p:nvPr/>
        </p:nvSpPr>
        <p:spPr>
          <a:xfrm>
            <a:off x="6223864"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Tomo una acción inmediata para contenerlo.</a:t>
            </a:r>
            <a:endParaRPr lang="en-US" sz="1050" dirty="0"/>
          </a:p>
        </p:txBody>
      </p:sp>
      <p:pic>
        <p:nvPicPr>
          <p:cNvPr id="19" name="Image 5" descr="/tmp/claude-0/-home-user-riesgo/0ff9ff46-1396-5bd8-b3ac-2280dfbbbc55/scratchpad/work/gen/icons/arrow_right_gray.png">    </p:cNvPr>
          <p:cNvPicPr>
            <a:picLocks noChangeAspect="1"/>
          </p:cNvPicPr>
          <p:nvPr/>
        </p:nvPicPr>
        <p:blipFill>
          <a:blip r:embed="rId6"/>
          <a:stretch>
            <a:fillRect/>
          </a:stretch>
        </p:blipFill>
        <p:spPr>
          <a:xfrm>
            <a:off x="8714003" y="3383280"/>
            <a:ext cx="292608" cy="292608"/>
          </a:xfrm>
          <a:prstGeom prst="rect">
            <a:avLst/>
          </a:prstGeom>
        </p:spPr>
      </p:pic>
      <p:sp>
        <p:nvSpPr>
          <p:cNvPr id="20" name="Shape 11"/>
          <p:cNvSpPr/>
          <p:nvPr/>
        </p:nvSpPr>
        <p:spPr>
          <a:xfrm>
            <a:off x="9762477" y="3049524"/>
            <a:ext cx="960120" cy="960120"/>
          </a:xfrm>
          <a:prstGeom prst="ellipse">
            <a:avLst/>
          </a:prstGeom>
          <a:solidFill>
            <a:srgbClr val="133B6C"/>
          </a:solidFill>
          <a:ln/>
        </p:spPr>
      </p:sp>
      <p:pic>
        <p:nvPicPr>
          <p:cNvPr id="21" name="Image 6" descr="/tmp/claude-0/-home-user-riesgo/0ff9ff46-1396-5bd8-b3ac-2280dfbbbc55/scratchpad/work/gen/icons/megaphone_white.png">    </p:cNvPr>
          <p:cNvPicPr>
            <a:picLocks noChangeAspect="1"/>
          </p:cNvPicPr>
          <p:nvPr/>
        </p:nvPicPr>
        <p:blipFill>
          <a:blip r:embed="rId7"/>
          <a:stretch>
            <a:fillRect/>
          </a:stretch>
        </p:blipFill>
        <p:spPr>
          <a:xfrm>
            <a:off x="10002507" y="3289554"/>
            <a:ext cx="480060" cy="480060"/>
          </a:xfrm>
          <a:prstGeom prst="rect">
            <a:avLst/>
          </a:prstGeom>
        </p:spPr>
      </p:pic>
      <p:sp>
        <p:nvSpPr>
          <p:cNvPr id="22" name="Text 12"/>
          <p:cNvSpPr txBox="1"/>
          <p:nvPr/>
        </p:nvSpPr>
        <p:spPr>
          <a:xfrm>
            <a:off x="8915171" y="41376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REPORTO</a:t>
            </a:r>
            <a:endParaRPr lang="en-US" sz="1300" dirty="0"/>
          </a:p>
        </p:txBody>
      </p:sp>
      <p:sp>
        <p:nvSpPr>
          <p:cNvPr id="23" name="Text 13"/>
          <p:cNvSpPr txBox="1"/>
          <p:nvPr/>
        </p:nvSpPr>
        <p:spPr>
          <a:xfrm>
            <a:off x="8988323" y="4503420"/>
            <a:ext cx="2508428" cy="566928"/>
          </a:xfrm>
          <a:prstGeom prst="rect">
            <a:avLst/>
          </a:prstGeom>
          <a:noFill/>
          <a:ln/>
        </p:spPr>
        <p:txBody>
          <a:bodyPr wrap="square" lIns="0" tIns="0" rIns="0" bIns="0" rtlCol="0" anchor="t"/>
          <a:lstStyle/>
          <a:p>
            <a:pPr algn="ctr" indent="0" marL="0">
              <a:lnSpc>
                <a:spcPct val="105000"/>
              </a:lnSpc>
              <a:buNone/>
            </a:pPr>
            <a:r>
              <a:rPr lang="en-US" sz="1050" dirty="0">
                <a:solidFill>
                  <a:srgbClr val="5B6B82"/>
                </a:solidFill>
                <a:latin typeface="Calibri" pitchFamily="34" charset="0"/>
                <a:ea typeface="Calibri" pitchFamily="34" charset="-122"/>
                <a:cs typeface="Calibri" pitchFamily="34" charset="-120"/>
              </a:rPr>
              <a:t>Lo comunico por el canal institucional.</a:t>
            </a:r>
            <a:endParaRPr lang="en-US" sz="1050" dirty="0"/>
          </a:p>
        </p:txBody>
      </p:sp>
      <p:sp>
        <p:nvSpPr>
          <p:cNvPr id="24" name="Text 1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5" name="Text 1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TEMA 2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ESCENARIO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2E86C7"/>
          </a:solidFill>
          <a:ln/>
        </p:spPr>
      </p:sp>
      <p:pic>
        <p:nvPicPr>
          <p:cNvPr id="7" name="Image 0" descr="/tmp/claude-0/-home-user-riesgo/0ff9ff46-1396-5bd8-b3ac-2280dfbbbc55/scratchpad/work/gen/icons/document_lo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1C9E6"/>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Encuentras información confidencial de asociados en un lugar donde no debería estar (una impresora, un escritorio o un basurero).</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ignoro; seguro alguien más la recogerá.</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Espero a ver si alguien más se da cuenta y actúa.</a:t>
            </a:r>
            <a:endParaRPr lang="en-US" sz="1200" dirty="0"/>
          </a:p>
        </p:txBody>
      </p:sp>
      <p:sp>
        <p:nvSpPr>
          <p:cNvPr id="19" name="Shape 15"/>
          <p:cNvSpPr/>
          <p:nvPr/>
        </p:nvSpPr>
        <p:spPr>
          <a:xfrm>
            <a:off x="566928" y="4200144"/>
            <a:ext cx="11057839" cy="509016"/>
          </a:xfrm>
          <a:prstGeom prst="roundRect">
            <a:avLst>
              <a:gd name="adj" fmla="val 16168"/>
            </a:avLst>
          </a:prstGeom>
          <a:solidFill>
            <a:srgbClr val="F2F5F9"/>
          </a:solidFill>
          <a:ln/>
        </p:spPr>
      </p:sp>
      <p:sp>
        <p:nvSpPr>
          <p:cNvPr id="20" name="Shape 16"/>
          <p:cNvSpPr/>
          <p:nvPr/>
        </p:nvSpPr>
        <p:spPr>
          <a:xfrm>
            <a:off x="768096" y="4253484"/>
            <a:ext cx="402336" cy="402336"/>
          </a:xfrm>
          <a:prstGeom prst="ellipse">
            <a:avLst/>
          </a:prstGeom>
          <a:solidFill>
            <a:srgbClr val="133B6C"/>
          </a:solidFill>
          <a:ln/>
        </p:spPr>
      </p:sp>
      <p:sp>
        <p:nvSpPr>
          <p:cNvPr id="21" name="Text 17"/>
          <p:cNvSpPr txBox="1"/>
          <p:nvPr/>
        </p:nvSpPr>
        <p:spPr>
          <a:xfrm>
            <a:off x="768096" y="42443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C</a:t>
            </a:r>
            <a:endParaRPr lang="en-US" sz="1496" dirty="0"/>
          </a:p>
        </p:txBody>
      </p:sp>
      <p:sp>
        <p:nvSpPr>
          <p:cNvPr id="22" name="Text 18"/>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3" name="REVEAL_sq_opt"/>
          <p:cNvSpPr/>
          <p:nvPr/>
        </p:nvSpPr>
        <p:spPr>
          <a:xfrm>
            <a:off x="566928" y="4200144"/>
            <a:ext cx="11057839" cy="509016"/>
          </a:xfrm>
          <a:prstGeom prst="roundRect">
            <a:avLst>
              <a:gd name="adj" fmla="val 16168"/>
            </a:avLst>
          </a:prstGeom>
          <a:solidFill>
            <a:srgbClr val="E2F4E9"/>
          </a:solidFill>
          <a:ln/>
        </p:spPr>
      </p:sp>
      <p:sp>
        <p:nvSpPr>
          <p:cNvPr id="24" name="REVEAL_sq_optbadge"/>
          <p:cNvSpPr/>
          <p:nvPr/>
        </p:nvSpPr>
        <p:spPr>
          <a:xfrm>
            <a:off x="768096" y="4253484"/>
            <a:ext cx="402336" cy="402336"/>
          </a:xfrm>
          <a:prstGeom prst="ellipse">
            <a:avLst/>
          </a:prstGeom>
          <a:solidFill>
            <a:srgbClr val="2FAE60"/>
          </a:solidFill>
          <a:ln/>
        </p:spPr>
      </p:sp>
      <p:pic>
        <p:nvPicPr>
          <p:cNvPr id="25" name="REVEAL_sq_optbadge_ic"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6" name="REVEAL_sq_opttext"/>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La protejo de la vista de otros y reporto la situación de inmediato.</a:t>
            </a:r>
            <a:endParaRPr lang="en-US" sz="1200" dirty="0"/>
          </a:p>
        </p:txBody>
      </p:sp>
      <p:sp>
        <p:nvSpPr>
          <p:cNvPr id="27" name="REVEAL_sq_whylabel"/>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8" name="REVEAL_sq_whycard"/>
          <p:cNvSpPr/>
          <p:nvPr/>
        </p:nvSpPr>
        <p:spPr>
          <a:xfrm>
            <a:off x="566928" y="5102352"/>
            <a:ext cx="11057839" cy="566928"/>
          </a:xfrm>
          <a:prstGeom prst="roundRect">
            <a:avLst>
              <a:gd name="adj" fmla="val 16129"/>
            </a:avLst>
          </a:prstGeom>
          <a:solidFill>
            <a:srgbClr val="F2F5F9"/>
          </a:solidFill>
          <a:ln/>
        </p:spPr>
      </p:sp>
      <p:sp>
        <p:nvSpPr>
          <p:cNvPr id="29" name="REVEAL_sq_whytext"/>
          <p:cNvSpPr txBox="1"/>
          <p:nvPr/>
        </p:nvSpPr>
        <p:spPr>
          <a:xfrm>
            <a:off x="841248" y="5102352"/>
            <a:ext cx="10509199" cy="566928"/>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o esperar deja expuesta información de nuestros asociados y aumenta el riesgo de que se convierta en un incidente mayor. Actuar y reportar es lo que evita que un pequeño descuido se transforme en un problema real.</a:t>
            </a:r>
            <a:endParaRPr lang="en-US" sz="1150" dirty="0"/>
          </a:p>
        </p:txBody>
      </p:sp>
      <p:sp>
        <p:nvSpPr>
          <p:cNvPr id="30" name="REVEAL_sq_note"/>
          <p:cNvSpPr/>
          <p:nvPr/>
        </p:nvSpPr>
        <p:spPr>
          <a:xfrm>
            <a:off x="566928" y="5779008"/>
            <a:ext cx="11057839" cy="384048"/>
          </a:xfrm>
          <a:prstGeom prst="roundRect">
            <a:avLst>
              <a:gd name="adj" fmla="val 21429"/>
            </a:avLst>
          </a:prstGeom>
          <a:solidFill>
            <a:srgbClr val="133B6C"/>
          </a:solidFill>
          <a:ln/>
        </p:spPr>
      </p:sp>
      <p:sp>
        <p:nvSpPr>
          <p:cNvPr id="31" name="REVEAL_sq_notebadge"/>
          <p:cNvSpPr/>
          <p:nvPr/>
        </p:nvSpPr>
        <p:spPr>
          <a:xfrm>
            <a:off x="694944" y="5833872"/>
            <a:ext cx="274320" cy="274320"/>
          </a:xfrm>
          <a:prstGeom prst="ellipse">
            <a:avLst/>
          </a:prstGeom>
          <a:solidFill>
            <a:srgbClr val="2E86C7"/>
          </a:solidFill>
          <a:ln/>
        </p:spPr>
      </p:sp>
      <p:pic>
        <p:nvPicPr>
          <p:cNvPr id="32" name="REVEAL_sq_notebadge_ic" descr="/tmp/claude-0/-home-user-riesgo/0ff9ff46-1396-5bd8-b3ac-2280dfbbbc55/scratchpad/work/gen/icons/mail_white.png">    </p:cNvPr>
          <p:cNvPicPr>
            <a:picLocks noChangeAspect="1"/>
          </p:cNvPicPr>
          <p:nvPr/>
        </p:nvPicPr>
        <p:blipFill>
          <a:blip r:embed="rId3"/>
          <a:stretch>
            <a:fillRect/>
          </a:stretch>
        </p:blipFill>
        <p:spPr>
          <a:xfrm>
            <a:off x="756666" y="5895594"/>
            <a:ext cx="150876" cy="150876"/>
          </a:xfrm>
          <a:prstGeom prst="rect">
            <a:avLst/>
          </a:prstGeom>
        </p:spPr>
      </p:pic>
      <p:sp>
        <p:nvSpPr>
          <p:cNvPr id="33" name="REVEAL_sq_notetext"/>
          <p:cNvSpPr txBox="1"/>
          <p:nvPr/>
        </p:nvSpPr>
        <p:spPr>
          <a:xfrm>
            <a:off x="1097280" y="5779008"/>
            <a:ext cx="10372039" cy="384048"/>
          </a:xfrm>
          <a:prstGeom prst="rect">
            <a:avLst/>
          </a:prstGeom>
          <a:noFill/>
          <a:ln/>
        </p:spPr>
        <p:txBody>
          <a:bodyPr wrap="square" lIns="0" tIns="0" rIns="0" bIns="0" rtlCol="0" anchor="ctr"/>
          <a:lstStyle/>
          <a:p>
            <a:pPr indent="0" marL="0">
              <a:lnSpc>
                <a:spcPct val="100000"/>
              </a:lnSpc>
              <a:buNone/>
            </a:pPr>
            <a:r>
              <a:rPr lang="en-US" sz="1000" dirty="0">
                <a:solidFill>
                  <a:srgbClr val="FFFFFF"/>
                </a:solidFill>
                <a:latin typeface="Calibri" pitchFamily="34" charset="0"/>
                <a:ea typeface="Calibri" pitchFamily="34" charset="-122"/>
                <a:cs typeface="Calibri" pitchFamily="34" charset="-120"/>
              </a:rPr>
              <a:t>Reporta por el canal institucional: incidentes.interrupción@comedica.com.sv, o directamente al Departamento de Administración de Riesgos.</a:t>
            </a:r>
            <a:endParaRPr lang="en-US" sz="1000" dirty="0"/>
          </a:p>
        </p:txBody>
      </p:sp>
      <p:sp>
        <p:nvSpPr>
          <p:cNvPr id="34" name="Text 2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5" name="Text 2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set>
                                      <p:cBhvr>
                                        <p:cTn id="7" dur="1" fill="hold">
                                          <p:stCondLst>
                                            <p:cond delay="0"/>
                                          </p:stCondLst>
                                        </p:cTn>
                                        <p:tgtEl>
                                          <p:spTgt spid="24"/>
                                        </p:tgtEl>
                                        <p:attrNameLst>
                                          <p:attrName>style.visibility</p:attrName>
                                        </p:attrNameLst>
                                      </p:cBhvr>
                                      <p:to>
                                        <p:strVal val="visible"/>
                                      </p:to>
                                    </p:set>
                                    <p:set>
                                      <p:cBhvr>
                                        <p:cTn id="8" dur="1" fill="hold">
                                          <p:stCondLst>
                                            <p:cond delay="0"/>
                                          </p:stCondLst>
                                        </p:cTn>
                                        <p:tgtEl>
                                          <p:spTgt spid="25"/>
                                        </p:tgtEl>
                                        <p:attrNameLst>
                                          <p:attrName>style.visibility</p:attrName>
                                        </p:attrNameLst>
                                      </p:cBhvr>
                                      <p:to>
                                        <p:strVal val="visible"/>
                                      </p:to>
                                    </p:set>
                                    <p:set>
                                      <p:cBhvr>
                                        <p:cTn id="9" dur="1" fill="hold">
                                          <p:stCondLst>
                                            <p:cond delay="0"/>
                                          </p:stCondLst>
                                        </p:cTn>
                                        <p:tgtEl>
                                          <p:spTgt spid="26"/>
                                        </p:tgtEl>
                                        <p:attrNameLst>
                                          <p:attrName>style.visibility</p:attrName>
                                        </p:attrNameLst>
                                      </p:cBhvr>
                                      <p:to>
                                        <p:strVal val="visible"/>
                                      </p:to>
                                    </p:set>
                                    <p:set>
                                      <p:cBhvr>
                                        <p:cTn id="10" dur="1" fill="hold">
                                          <p:stCondLst>
                                            <p:cond delay="0"/>
                                          </p:stCondLst>
                                        </p:cTn>
                                        <p:tgtEl>
                                          <p:spTgt spid="27"/>
                                        </p:tgtEl>
                                        <p:attrNameLst>
                                          <p:attrName>style.visibility</p:attrName>
                                        </p:attrNameLst>
                                      </p:cBhvr>
                                      <p:to>
                                        <p:strVal val="visible"/>
                                      </p:to>
                                    </p:set>
                                    <p:set>
                                      <p:cBhvr>
                                        <p:cTn id="11" dur="1" fill="hold">
                                          <p:stCondLst>
                                            <p:cond delay="0"/>
                                          </p:stCondLst>
                                        </p:cTn>
                                        <p:tgtEl>
                                          <p:spTgt spid="28"/>
                                        </p:tgtEl>
                                        <p:attrNameLst>
                                          <p:attrName>style.visibility</p:attrName>
                                        </p:attrNameLst>
                                      </p:cBhvr>
                                      <p:to>
                                        <p:strVal val="visible"/>
                                      </p:to>
                                    </p:set>
                                    <p:set>
                                      <p:cBhvr>
                                        <p:cTn id="12" dur="1" fill="hold">
                                          <p:stCondLst>
                                            <p:cond delay="0"/>
                                          </p:stCondLst>
                                        </p:cTn>
                                        <p:tgtEl>
                                          <p:spTgt spid="29"/>
                                        </p:tgtEl>
                                        <p:attrNameLst>
                                          <p:attrName>style.visibility</p:attrName>
                                        </p:attrNameLst>
                                      </p:cBhvr>
                                      <p:to>
                                        <p:strVal val="visible"/>
                                      </p:to>
                                    </p:set>
                                    <p:set>
                                      <p:cBhvr>
                                        <p:cTn id="13" dur="1" fill="hold">
                                          <p:stCondLst>
                                            <p:cond delay="0"/>
                                          </p:stCondLst>
                                        </p:cTn>
                                        <p:tgtEl>
                                          <p:spTgt spid="30"/>
                                        </p:tgtEl>
                                        <p:attrNameLst>
                                          <p:attrName>style.visibility</p:attrName>
                                        </p:attrNameLst>
                                      </p:cBhvr>
                                      <p:to>
                                        <p:strVal val="visible"/>
                                      </p:to>
                                    </p:set>
                                    <p:set>
                                      <p:cBhvr>
                                        <p:cTn id="14" dur="1" fill="hold">
                                          <p:stCondLst>
                                            <p:cond delay="0"/>
                                          </p:stCondLst>
                                        </p:cTn>
                                        <p:tgtEl>
                                          <p:spTgt spid="31"/>
                                        </p:tgtEl>
                                        <p:attrNameLst>
                                          <p:attrName>style.visibility</p:attrName>
                                        </p:attrNameLst>
                                      </p:cBhvr>
                                      <p:to>
                                        <p:strVal val="visible"/>
                                      </p:to>
                                    </p:set>
                                    <p:set>
                                      <p:cBhvr>
                                        <p:cTn id="15" dur="1" fill="hold">
                                          <p:stCondLst>
                                            <p:cond delay="0"/>
                                          </p:stCondLst>
                                        </p:cTn>
                                        <p:tgtEl>
                                          <p:spTgt spid="32"/>
                                        </p:tgtEl>
                                        <p:attrNameLst>
                                          <p:attrName>style.visibility</p:attrName>
                                        </p:attrNameLst>
                                      </p:cBhvr>
                                      <p:to>
                                        <p:strVal val="visible"/>
                                      </p:to>
                                    </p:set>
                                    <p:set>
                                      <p:cBhvr>
                                        <p:cTn id="1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7" grpId="0"/>
      <p:bldP spid="28" grpId="0"/>
      <p:bldP spid="29" grpId="0"/>
      <p:bldP spid="30" grpId="0"/>
      <p:bldP spid="31" grpId="0"/>
      <p:bldP spid="32" grpId="0"/>
      <p:bldP spid="33"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F3F4"/>
                </a:solidFill>
                <a:latin typeface="Cambria" pitchFamily="34" charset="0"/>
                <a:ea typeface="Cambria" pitchFamily="34" charset="-122"/>
                <a:cs typeface="Cambria" pitchFamily="34" charset="-120"/>
              </a:rPr>
              <a:t>03</a:t>
            </a:r>
            <a:endParaRPr lang="en-US" sz="26000" dirty="0"/>
          </a:p>
        </p:txBody>
      </p:sp>
      <p:sp>
        <p:nvSpPr>
          <p:cNvPr id="4" name="Shape 1"/>
          <p:cNvSpPr/>
          <p:nvPr/>
        </p:nvSpPr>
        <p:spPr>
          <a:xfrm>
            <a:off x="10104120" y="-685800"/>
            <a:ext cx="2743200" cy="2743200"/>
          </a:xfrm>
          <a:prstGeom prst="ellipse">
            <a:avLst/>
          </a:prstGeom>
          <a:solidFill>
            <a:srgbClr val="7FD0D4"/>
          </a:solidFill>
          <a:ln/>
        </p:spPr>
      </p:sp>
      <p:sp>
        <p:nvSpPr>
          <p:cNvPr id="5" name="Shape 2"/>
          <p:cNvSpPr/>
          <p:nvPr/>
        </p:nvSpPr>
        <p:spPr>
          <a:xfrm>
            <a:off x="8001000" y="502920"/>
            <a:ext cx="3657600" cy="5806440"/>
          </a:xfrm>
          <a:prstGeom prst="roundRect">
            <a:avLst>
              <a:gd name="adj" fmla="val 11250"/>
            </a:avLst>
          </a:prstGeom>
          <a:solidFill>
            <a:srgbClr val="17A9B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e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server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7A9B0"/>
                </a:solidFill>
                <a:latin typeface="Calibri" pitchFamily="34" charset="0"/>
                <a:ea typeface="Calibri" pitchFamily="34" charset="-122"/>
                <a:cs typeface="Calibri" pitchFamily="34" charset="-120"/>
              </a:rPr>
              <a:t>TEMA 3</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LOS RIESGOS OPERATIVOS ESTÁN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EN NUESTRO DÍA A DÍA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Personas, procesos, sistemas y eventos externos: así se presenta el riesgo operativo.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TEMA 3 · RIESGOS OPERATIVOS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CUATRO ORÍGENES, UN MISMO EFECTO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El riesgo operacional surge de fallas en:</a:t>
            </a:r>
            <a:endParaRPr lang="en-US" sz="1500" dirty="0"/>
          </a:p>
        </p:txBody>
      </p:sp>
      <p:sp>
        <p:nvSpPr>
          <p:cNvPr id="6" name="Shape 3"/>
          <p:cNvSpPr/>
          <p:nvPr/>
        </p:nvSpPr>
        <p:spPr>
          <a:xfrm>
            <a:off x="566928" y="2564892"/>
            <a:ext cx="2545004" cy="2286000"/>
          </a:xfrm>
          <a:prstGeom prst="roundRect">
            <a:avLst>
              <a:gd name="adj" fmla="val 4000"/>
            </a:avLst>
          </a:prstGeom>
          <a:solidFill>
            <a:srgbClr val="F2F5F9"/>
          </a:solidFill>
          <a:ln/>
        </p:spPr>
      </p:sp>
      <p:sp>
        <p:nvSpPr>
          <p:cNvPr id="7" name="Shape 4"/>
          <p:cNvSpPr/>
          <p:nvPr/>
        </p:nvSpPr>
        <p:spPr>
          <a:xfrm>
            <a:off x="1555966" y="2729484"/>
            <a:ext cx="566928" cy="566928"/>
          </a:xfrm>
          <a:prstGeom prst="ellipse">
            <a:avLst/>
          </a:prstGeom>
          <a:solidFill>
            <a:srgbClr val="17A9B0"/>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692029" y="2865547"/>
            <a:ext cx="294803" cy="294803"/>
          </a:xfrm>
          <a:prstGeom prst="rect">
            <a:avLst/>
          </a:prstGeom>
        </p:spPr>
      </p:pic>
      <p:sp>
        <p:nvSpPr>
          <p:cNvPr id="9" name="Text 5"/>
          <p:cNvSpPr txBox="1"/>
          <p:nvPr/>
        </p:nvSpPr>
        <p:spPr>
          <a:xfrm>
            <a:off x="676656"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PERSONAS</a:t>
            </a:r>
            <a:endParaRPr lang="en-US" sz="1250" dirty="0"/>
          </a:p>
        </p:txBody>
      </p:sp>
      <p:sp>
        <p:nvSpPr>
          <p:cNvPr id="10" name="Text 6"/>
          <p:cNvSpPr txBox="1"/>
          <p:nvPr/>
        </p:nvSpPr>
        <p:spPr>
          <a:xfrm>
            <a:off x="731520"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Error → retraso → pérdida</a:t>
            </a:r>
            <a:endParaRPr lang="en-US" sz="1100" dirty="0"/>
          </a:p>
        </p:txBody>
      </p:sp>
      <p:sp>
        <p:nvSpPr>
          <p:cNvPr id="11" name="Shape 7"/>
          <p:cNvSpPr/>
          <p:nvPr/>
        </p:nvSpPr>
        <p:spPr>
          <a:xfrm>
            <a:off x="3404540" y="2564892"/>
            <a:ext cx="2545004" cy="2286000"/>
          </a:xfrm>
          <a:prstGeom prst="roundRect">
            <a:avLst>
              <a:gd name="adj" fmla="val 4000"/>
            </a:avLst>
          </a:prstGeom>
          <a:solidFill>
            <a:srgbClr val="F2F5F9"/>
          </a:solidFill>
          <a:ln/>
        </p:spPr>
      </p:sp>
      <p:sp>
        <p:nvSpPr>
          <p:cNvPr id="12" name="Shape 8"/>
          <p:cNvSpPr/>
          <p:nvPr/>
        </p:nvSpPr>
        <p:spPr>
          <a:xfrm>
            <a:off x="4393578" y="2729484"/>
            <a:ext cx="566928" cy="566928"/>
          </a:xfrm>
          <a:prstGeom prst="ellipse">
            <a:avLst/>
          </a:prstGeom>
          <a:solidFill>
            <a:srgbClr val="17A9B0"/>
          </a:solidFill>
          <a:ln/>
        </p:spPr>
      </p:sp>
      <p:pic>
        <p:nvPicPr>
          <p:cNvPr id="13" name="Image 1" descr="/tmp/claude-0/-home-user-riesgo/0ff9ff46-1396-5bd8-b3ac-2280dfbbbc55/scratchpad/work/gen/icons/gear_white.png">    </p:cNvPr>
          <p:cNvPicPr>
            <a:picLocks noChangeAspect="1"/>
          </p:cNvPicPr>
          <p:nvPr/>
        </p:nvPicPr>
        <p:blipFill>
          <a:blip r:embed="rId2"/>
          <a:stretch>
            <a:fillRect/>
          </a:stretch>
        </p:blipFill>
        <p:spPr>
          <a:xfrm>
            <a:off x="4529640" y="2865547"/>
            <a:ext cx="294803" cy="294803"/>
          </a:xfrm>
          <a:prstGeom prst="rect">
            <a:avLst/>
          </a:prstGeom>
        </p:spPr>
      </p:pic>
      <p:sp>
        <p:nvSpPr>
          <p:cNvPr id="14" name="Text 9"/>
          <p:cNvSpPr txBox="1"/>
          <p:nvPr/>
        </p:nvSpPr>
        <p:spPr>
          <a:xfrm>
            <a:off x="3514268"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PROCESOS</a:t>
            </a:r>
            <a:endParaRPr lang="en-US" sz="1250" dirty="0"/>
          </a:p>
        </p:txBody>
      </p:sp>
      <p:sp>
        <p:nvSpPr>
          <p:cNvPr id="15" name="Text 10"/>
          <p:cNvSpPr txBox="1"/>
          <p:nvPr/>
        </p:nvSpPr>
        <p:spPr>
          <a:xfrm>
            <a:off x="3569132"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Paso omitido → incidente</a:t>
            </a:r>
            <a:endParaRPr lang="en-US" sz="1100" dirty="0"/>
          </a:p>
        </p:txBody>
      </p:sp>
      <p:sp>
        <p:nvSpPr>
          <p:cNvPr id="16" name="Shape 11"/>
          <p:cNvSpPr/>
          <p:nvPr/>
        </p:nvSpPr>
        <p:spPr>
          <a:xfrm>
            <a:off x="6242152" y="2564892"/>
            <a:ext cx="2545004" cy="2286000"/>
          </a:xfrm>
          <a:prstGeom prst="roundRect">
            <a:avLst>
              <a:gd name="adj" fmla="val 4000"/>
            </a:avLst>
          </a:prstGeom>
          <a:solidFill>
            <a:srgbClr val="F2F5F9"/>
          </a:solidFill>
          <a:ln/>
        </p:spPr>
      </p:sp>
      <p:sp>
        <p:nvSpPr>
          <p:cNvPr id="17" name="Shape 12"/>
          <p:cNvSpPr/>
          <p:nvPr/>
        </p:nvSpPr>
        <p:spPr>
          <a:xfrm>
            <a:off x="7231189" y="2729484"/>
            <a:ext cx="566928" cy="566928"/>
          </a:xfrm>
          <a:prstGeom prst="ellipse">
            <a:avLst/>
          </a:prstGeom>
          <a:solidFill>
            <a:srgbClr val="17A9B0"/>
          </a:solidFill>
          <a:ln/>
        </p:spPr>
      </p:sp>
      <p:pic>
        <p:nvPicPr>
          <p:cNvPr id="18" name="Image 2" descr="/tmp/claude-0/-home-user-riesgo/0ff9ff46-1396-5bd8-b3ac-2280dfbbbc55/scratchpad/work/gen/icons/server_white.png">    </p:cNvPr>
          <p:cNvPicPr>
            <a:picLocks noChangeAspect="1"/>
          </p:cNvPicPr>
          <p:nvPr/>
        </p:nvPicPr>
        <p:blipFill>
          <a:blip r:embed="rId3"/>
          <a:stretch>
            <a:fillRect/>
          </a:stretch>
        </p:blipFill>
        <p:spPr>
          <a:xfrm>
            <a:off x="7367252" y="2865547"/>
            <a:ext cx="294803" cy="294803"/>
          </a:xfrm>
          <a:prstGeom prst="rect">
            <a:avLst/>
          </a:prstGeom>
        </p:spPr>
      </p:pic>
      <p:sp>
        <p:nvSpPr>
          <p:cNvPr id="19" name="Text 13"/>
          <p:cNvSpPr txBox="1"/>
          <p:nvPr/>
        </p:nvSpPr>
        <p:spPr>
          <a:xfrm>
            <a:off x="6351880"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SISTEMAS</a:t>
            </a:r>
            <a:endParaRPr lang="en-US" sz="1250" dirty="0"/>
          </a:p>
        </p:txBody>
      </p:sp>
      <p:sp>
        <p:nvSpPr>
          <p:cNvPr id="20" name="Text 14"/>
          <p:cNvSpPr txBox="1"/>
          <p:nvPr/>
        </p:nvSpPr>
        <p:spPr>
          <a:xfrm>
            <a:off x="6406744"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Falla → interrupción</a:t>
            </a:r>
            <a:endParaRPr lang="en-US" sz="1100" dirty="0"/>
          </a:p>
        </p:txBody>
      </p:sp>
      <p:sp>
        <p:nvSpPr>
          <p:cNvPr id="21" name="Shape 15"/>
          <p:cNvSpPr/>
          <p:nvPr/>
        </p:nvSpPr>
        <p:spPr>
          <a:xfrm>
            <a:off x="9079763" y="2564892"/>
            <a:ext cx="2545004" cy="2286000"/>
          </a:xfrm>
          <a:prstGeom prst="roundRect">
            <a:avLst>
              <a:gd name="adj" fmla="val 4000"/>
            </a:avLst>
          </a:prstGeom>
          <a:solidFill>
            <a:srgbClr val="F2F5F9"/>
          </a:solidFill>
          <a:ln/>
        </p:spPr>
      </p:sp>
      <p:sp>
        <p:nvSpPr>
          <p:cNvPr id="22" name="Shape 16"/>
          <p:cNvSpPr/>
          <p:nvPr/>
        </p:nvSpPr>
        <p:spPr>
          <a:xfrm>
            <a:off x="10068801" y="2729484"/>
            <a:ext cx="566928" cy="566928"/>
          </a:xfrm>
          <a:prstGeom prst="ellipse">
            <a:avLst/>
          </a:prstGeom>
          <a:solidFill>
            <a:srgbClr val="17A9B0"/>
          </a:solidFill>
          <a:ln/>
        </p:spPr>
      </p:sp>
      <p:pic>
        <p:nvPicPr>
          <p:cNvPr id="23" name="Image 3" descr="/tmp/claude-0/-home-user-riesgo/0ff9ff46-1396-5bd8-b3ac-2280dfbbbc55/scratchpad/work/gen/icons/globe_white.png">    </p:cNvPr>
          <p:cNvPicPr>
            <a:picLocks noChangeAspect="1"/>
          </p:cNvPicPr>
          <p:nvPr/>
        </p:nvPicPr>
        <p:blipFill>
          <a:blip r:embed="rId4"/>
          <a:stretch>
            <a:fillRect/>
          </a:stretch>
        </p:blipFill>
        <p:spPr>
          <a:xfrm>
            <a:off x="10204864" y="2865547"/>
            <a:ext cx="294803" cy="294803"/>
          </a:xfrm>
          <a:prstGeom prst="rect">
            <a:avLst/>
          </a:prstGeom>
        </p:spPr>
      </p:pic>
      <p:sp>
        <p:nvSpPr>
          <p:cNvPr id="24" name="Text 17"/>
          <p:cNvSpPr txBox="1"/>
          <p:nvPr/>
        </p:nvSpPr>
        <p:spPr>
          <a:xfrm>
            <a:off x="9189491" y="3442716"/>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EVENTOS EXTERNOS</a:t>
            </a:r>
            <a:endParaRPr lang="en-US" sz="1250" dirty="0"/>
          </a:p>
        </p:txBody>
      </p:sp>
      <p:sp>
        <p:nvSpPr>
          <p:cNvPr id="25" name="Text 18"/>
          <p:cNvSpPr txBox="1"/>
          <p:nvPr/>
        </p:nvSpPr>
        <p:spPr>
          <a:xfrm>
            <a:off x="9244355" y="3954780"/>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Interrupción → impacto</a:t>
            </a:r>
            <a:endParaRPr lang="en-US" sz="1100" dirty="0"/>
          </a:p>
        </p:txBody>
      </p:sp>
      <p:sp>
        <p:nvSpPr>
          <p:cNvPr id="26" name="Shape 19"/>
          <p:cNvSpPr/>
          <p:nvPr/>
        </p:nvSpPr>
        <p:spPr>
          <a:xfrm>
            <a:off x="566928" y="5449824"/>
            <a:ext cx="11057839" cy="658368"/>
          </a:xfrm>
          <a:prstGeom prst="roundRect">
            <a:avLst>
              <a:gd name="adj" fmla="val 13889"/>
            </a:avLst>
          </a:prstGeom>
          <a:solidFill>
            <a:srgbClr val="17A9B0"/>
          </a:solidFill>
          <a:ln/>
        </p:spPr>
      </p:sp>
      <p:sp>
        <p:nvSpPr>
          <p:cNvPr id="27" name="Text 20"/>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El riesgo operativo no siempre es un gran problema. A veces comienza con un pequeño descuido.</a:t>
            </a:r>
            <a:endParaRPr lang="en-US" sz="1500" dirty="0"/>
          </a:p>
        </p:txBody>
      </p:sp>
      <p:sp>
        <p:nvSpPr>
          <p:cNvPr id="28" name="Text 21"/>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9" name="Text 22"/>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3EBF2"/>
                </a:solidFill>
                <a:latin typeface="Cambria" pitchFamily="34" charset="0"/>
                <a:ea typeface="Cambria" pitchFamily="34" charset="-122"/>
                <a:cs typeface="Cambria" pitchFamily="34" charset="-120"/>
              </a:rPr>
              <a:t>04</a:t>
            </a:r>
            <a:endParaRPr lang="en-US" sz="26000" dirty="0"/>
          </a:p>
        </p:txBody>
      </p:sp>
      <p:sp>
        <p:nvSpPr>
          <p:cNvPr id="4" name="Shape 1"/>
          <p:cNvSpPr/>
          <p:nvPr/>
        </p:nvSpPr>
        <p:spPr>
          <a:xfrm>
            <a:off x="10104120" y="-685800"/>
            <a:ext cx="2743200" cy="2743200"/>
          </a:xfrm>
          <a:prstGeom prst="ellipse">
            <a:avLst/>
          </a:prstGeom>
          <a:solidFill>
            <a:srgbClr val="93AFCE"/>
          </a:solidFill>
          <a:ln/>
        </p:spPr>
      </p:sp>
      <p:sp>
        <p:nvSpPr>
          <p:cNvPr id="5" name="Shape 2"/>
          <p:cNvSpPr/>
          <p:nvPr/>
        </p:nvSpPr>
        <p:spPr>
          <a:xfrm>
            <a:off x="8001000" y="502920"/>
            <a:ext cx="3657600" cy="5806440"/>
          </a:xfrm>
          <a:prstGeom prst="roundRect">
            <a:avLst>
              <a:gd name="adj" fmla="val 11250"/>
            </a:avLst>
          </a:prstGeom>
          <a:solidFill>
            <a:srgbClr val="3A6EA5"/>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tar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heart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3A6EA5"/>
                </a:solidFill>
                <a:latin typeface="Calibri" pitchFamily="34" charset="0"/>
                <a:ea typeface="Calibri" pitchFamily="34" charset="-122"/>
                <a:cs typeface="Calibri" pitchFamily="34" charset="-120"/>
              </a:rPr>
              <a:t>TEMA 4</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CUIDEMOS LA REPUTACIÓN</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DE NUESTRA COOPERATIVA</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REPUTACIÓN = CONFIANZA. Y la confianza se construye todos los días.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REPUTACIÓN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¿QUÉ CONSTRUYE NUESTRA REPUTACIÓN?</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La reputación de COMEDICA DE R.L. se forma con cada interacción:</a:t>
            </a:r>
            <a:endParaRPr lang="en-US" sz="1500" dirty="0"/>
          </a:p>
        </p:txBody>
      </p:sp>
      <p:sp>
        <p:nvSpPr>
          <p:cNvPr id="6" name="Shape 3"/>
          <p:cNvSpPr/>
          <p:nvPr/>
        </p:nvSpPr>
        <p:spPr>
          <a:xfrm>
            <a:off x="566928" y="2148840"/>
            <a:ext cx="2545004" cy="1431036"/>
          </a:xfrm>
          <a:prstGeom prst="roundRect">
            <a:avLst>
              <a:gd name="adj" fmla="val 6390"/>
            </a:avLst>
          </a:prstGeom>
          <a:solidFill>
            <a:srgbClr val="F2F5F9"/>
          </a:solidFill>
          <a:ln/>
        </p:spPr>
      </p:sp>
      <p:sp>
        <p:nvSpPr>
          <p:cNvPr id="7" name="Shape 4"/>
          <p:cNvSpPr/>
          <p:nvPr/>
        </p:nvSpPr>
        <p:spPr>
          <a:xfrm>
            <a:off x="1555966" y="2313432"/>
            <a:ext cx="566928" cy="566928"/>
          </a:xfrm>
          <a:prstGeom prst="ellipse">
            <a:avLst/>
          </a:prstGeom>
          <a:solidFill>
            <a:srgbClr val="3A6EA5"/>
          </a:solidFill>
          <a:ln/>
        </p:spPr>
      </p:sp>
      <p:pic>
        <p:nvPicPr>
          <p:cNvPr id="8" name="Image 0" descr="/tmp/claude-0/-home-user-riesgo/0ff9ff46-1396-5bd8-b3ac-2280dfbbbc55/scratchpad/work/gen/icons/handshake_white.png">    </p:cNvPr>
          <p:cNvPicPr>
            <a:picLocks noChangeAspect="1"/>
          </p:cNvPicPr>
          <p:nvPr/>
        </p:nvPicPr>
        <p:blipFill>
          <a:blip r:embed="rId1"/>
          <a:stretch>
            <a:fillRect/>
          </a:stretch>
        </p:blipFill>
        <p:spPr>
          <a:xfrm>
            <a:off x="1692029" y="2449495"/>
            <a:ext cx="294803" cy="294803"/>
          </a:xfrm>
          <a:prstGeom prst="rect">
            <a:avLst/>
          </a:prstGeom>
        </p:spPr>
      </p:pic>
      <p:sp>
        <p:nvSpPr>
          <p:cNvPr id="9" name="Text 5"/>
          <p:cNvSpPr txBox="1"/>
          <p:nvPr/>
        </p:nvSpPr>
        <p:spPr>
          <a:xfrm>
            <a:off x="676656"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Servicio y experiencia del asociado</a:t>
            </a:r>
            <a:endParaRPr lang="en-US" sz="1250" dirty="0"/>
          </a:p>
        </p:txBody>
      </p:sp>
      <p:sp>
        <p:nvSpPr>
          <p:cNvPr id="10" name="Shape 6"/>
          <p:cNvSpPr/>
          <p:nvPr/>
        </p:nvSpPr>
        <p:spPr>
          <a:xfrm>
            <a:off x="3404540" y="2148840"/>
            <a:ext cx="2545004" cy="1431036"/>
          </a:xfrm>
          <a:prstGeom prst="roundRect">
            <a:avLst>
              <a:gd name="adj" fmla="val 6390"/>
            </a:avLst>
          </a:prstGeom>
          <a:solidFill>
            <a:srgbClr val="F2F5F9"/>
          </a:solidFill>
          <a:ln/>
        </p:spPr>
      </p:sp>
      <p:sp>
        <p:nvSpPr>
          <p:cNvPr id="11" name="Shape 7"/>
          <p:cNvSpPr/>
          <p:nvPr/>
        </p:nvSpPr>
        <p:spPr>
          <a:xfrm>
            <a:off x="4393578" y="2313432"/>
            <a:ext cx="566928" cy="566928"/>
          </a:xfrm>
          <a:prstGeom prst="ellipse">
            <a:avLst/>
          </a:prstGeom>
          <a:solidFill>
            <a:srgbClr val="3A6EA5"/>
          </a:solidFill>
          <a:ln/>
        </p:spPr>
      </p:sp>
      <p:pic>
        <p:nvPicPr>
          <p:cNvPr id="12" name="Image 1" descr="/tmp/claude-0/-home-user-riesgo/0ff9ff46-1396-5bd8-b3ac-2280dfbbbc55/scratchpad/work/gen/icons/scale_white.png">    </p:cNvPr>
          <p:cNvPicPr>
            <a:picLocks noChangeAspect="1"/>
          </p:cNvPicPr>
          <p:nvPr/>
        </p:nvPicPr>
        <p:blipFill>
          <a:blip r:embed="rId2"/>
          <a:stretch>
            <a:fillRect/>
          </a:stretch>
        </p:blipFill>
        <p:spPr>
          <a:xfrm>
            <a:off x="4529640" y="2449495"/>
            <a:ext cx="294803" cy="294803"/>
          </a:xfrm>
          <a:prstGeom prst="rect">
            <a:avLst/>
          </a:prstGeom>
        </p:spPr>
      </p:pic>
      <p:sp>
        <p:nvSpPr>
          <p:cNvPr id="13" name="Text 8"/>
          <p:cNvSpPr txBox="1"/>
          <p:nvPr/>
        </p:nvSpPr>
        <p:spPr>
          <a:xfrm>
            <a:off x="3514268"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Ética y cumplimiento normativo</a:t>
            </a:r>
            <a:endParaRPr lang="en-US" sz="1250" dirty="0"/>
          </a:p>
        </p:txBody>
      </p:sp>
      <p:sp>
        <p:nvSpPr>
          <p:cNvPr id="14" name="Shape 9"/>
          <p:cNvSpPr/>
          <p:nvPr/>
        </p:nvSpPr>
        <p:spPr>
          <a:xfrm>
            <a:off x="6242152" y="2148840"/>
            <a:ext cx="2545004" cy="1431036"/>
          </a:xfrm>
          <a:prstGeom prst="roundRect">
            <a:avLst>
              <a:gd name="adj" fmla="val 6390"/>
            </a:avLst>
          </a:prstGeom>
          <a:solidFill>
            <a:srgbClr val="F2F5F9"/>
          </a:solidFill>
          <a:ln/>
        </p:spPr>
      </p:sp>
      <p:sp>
        <p:nvSpPr>
          <p:cNvPr id="15" name="Shape 10"/>
          <p:cNvSpPr/>
          <p:nvPr/>
        </p:nvSpPr>
        <p:spPr>
          <a:xfrm>
            <a:off x="7231189" y="2313432"/>
            <a:ext cx="566928" cy="566928"/>
          </a:xfrm>
          <a:prstGeom prst="ellipse">
            <a:avLst/>
          </a:prstGeom>
          <a:solidFill>
            <a:srgbClr val="3A6EA5"/>
          </a:solidFill>
          <a:ln/>
        </p:spPr>
      </p:sp>
      <p:pic>
        <p:nvPicPr>
          <p:cNvPr id="16" name="Image 2" descr="/tmp/claude-0/-home-user-riesgo/0ff9ff46-1396-5bd8-b3ac-2280dfbbbc55/scratchpad/work/gen/icons/lock_white.png">    </p:cNvPr>
          <p:cNvPicPr>
            <a:picLocks noChangeAspect="1"/>
          </p:cNvPicPr>
          <p:nvPr/>
        </p:nvPicPr>
        <p:blipFill>
          <a:blip r:embed="rId3"/>
          <a:stretch>
            <a:fillRect/>
          </a:stretch>
        </p:blipFill>
        <p:spPr>
          <a:xfrm>
            <a:off x="7367252" y="2449495"/>
            <a:ext cx="294803" cy="294803"/>
          </a:xfrm>
          <a:prstGeom prst="rect">
            <a:avLst/>
          </a:prstGeom>
        </p:spPr>
      </p:pic>
      <p:sp>
        <p:nvSpPr>
          <p:cNvPr id="17" name="Text 11"/>
          <p:cNvSpPr txBox="1"/>
          <p:nvPr/>
        </p:nvSpPr>
        <p:spPr>
          <a:xfrm>
            <a:off x="6351880"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Manejo adecuado de la información</a:t>
            </a:r>
            <a:endParaRPr lang="en-US" sz="1250" dirty="0"/>
          </a:p>
        </p:txBody>
      </p:sp>
      <p:sp>
        <p:nvSpPr>
          <p:cNvPr id="18" name="Shape 12"/>
          <p:cNvSpPr/>
          <p:nvPr/>
        </p:nvSpPr>
        <p:spPr>
          <a:xfrm>
            <a:off x="9079763" y="2148840"/>
            <a:ext cx="2545004" cy="1431036"/>
          </a:xfrm>
          <a:prstGeom prst="roundRect">
            <a:avLst>
              <a:gd name="adj" fmla="val 6390"/>
            </a:avLst>
          </a:prstGeom>
          <a:solidFill>
            <a:srgbClr val="F2F5F9"/>
          </a:solidFill>
          <a:ln/>
        </p:spPr>
      </p:sp>
      <p:sp>
        <p:nvSpPr>
          <p:cNvPr id="19" name="Shape 13"/>
          <p:cNvSpPr/>
          <p:nvPr/>
        </p:nvSpPr>
        <p:spPr>
          <a:xfrm>
            <a:off x="10068801" y="2313432"/>
            <a:ext cx="566928" cy="566928"/>
          </a:xfrm>
          <a:prstGeom prst="ellipse">
            <a:avLst/>
          </a:prstGeom>
          <a:solidFill>
            <a:srgbClr val="3A6EA5"/>
          </a:solidFill>
          <a:ln/>
        </p:spPr>
      </p:sp>
      <p:pic>
        <p:nvPicPr>
          <p:cNvPr id="20" name="Image 3" descr="/tmp/claude-0/-home-user-riesgo/0ff9ff46-1396-5bd8-b3ac-2280dfbbbc55/scratchpad/work/gen/icons/person_white.png">    </p:cNvPr>
          <p:cNvPicPr>
            <a:picLocks noChangeAspect="1"/>
          </p:cNvPicPr>
          <p:nvPr/>
        </p:nvPicPr>
        <p:blipFill>
          <a:blip r:embed="rId4"/>
          <a:stretch>
            <a:fillRect/>
          </a:stretch>
        </p:blipFill>
        <p:spPr>
          <a:xfrm>
            <a:off x="10204864" y="2449495"/>
            <a:ext cx="294803" cy="294803"/>
          </a:xfrm>
          <a:prstGeom prst="rect">
            <a:avLst/>
          </a:prstGeom>
        </p:spPr>
      </p:pic>
      <p:sp>
        <p:nvSpPr>
          <p:cNvPr id="21" name="Text 14"/>
          <p:cNvSpPr txBox="1"/>
          <p:nvPr/>
        </p:nvSpPr>
        <p:spPr>
          <a:xfrm>
            <a:off x="9189491" y="3026664"/>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Comportamiento de cada colaborador</a:t>
            </a:r>
            <a:endParaRPr lang="en-US" sz="1250" dirty="0"/>
          </a:p>
        </p:txBody>
      </p:sp>
      <p:sp>
        <p:nvSpPr>
          <p:cNvPr id="22" name="Shape 15"/>
          <p:cNvSpPr/>
          <p:nvPr/>
        </p:nvSpPr>
        <p:spPr>
          <a:xfrm>
            <a:off x="566928" y="3835908"/>
            <a:ext cx="2545004" cy="1431036"/>
          </a:xfrm>
          <a:prstGeom prst="roundRect">
            <a:avLst>
              <a:gd name="adj" fmla="val 6390"/>
            </a:avLst>
          </a:prstGeom>
          <a:solidFill>
            <a:srgbClr val="F2F5F9"/>
          </a:solidFill>
          <a:ln/>
        </p:spPr>
      </p:sp>
      <p:sp>
        <p:nvSpPr>
          <p:cNvPr id="23" name="Shape 16"/>
          <p:cNvSpPr/>
          <p:nvPr/>
        </p:nvSpPr>
        <p:spPr>
          <a:xfrm>
            <a:off x="1555966" y="4000500"/>
            <a:ext cx="566928" cy="566928"/>
          </a:xfrm>
          <a:prstGeom prst="ellipse">
            <a:avLst/>
          </a:prstGeom>
          <a:solidFill>
            <a:srgbClr val="3A6EA5"/>
          </a:solidFill>
          <a:ln/>
        </p:spPr>
      </p:sp>
      <p:pic>
        <p:nvPicPr>
          <p:cNvPr id="24" name="Image 4" descr="/tmp/claude-0/-home-user-riesgo/0ff9ff46-1396-5bd8-b3ac-2280dfbbbc55/scratchpad/work/gen/icons/social_white.png">    </p:cNvPr>
          <p:cNvPicPr>
            <a:picLocks noChangeAspect="1"/>
          </p:cNvPicPr>
          <p:nvPr/>
        </p:nvPicPr>
        <p:blipFill>
          <a:blip r:embed="rId5"/>
          <a:stretch>
            <a:fillRect/>
          </a:stretch>
        </p:blipFill>
        <p:spPr>
          <a:xfrm>
            <a:off x="1692029" y="4136563"/>
            <a:ext cx="294803" cy="294803"/>
          </a:xfrm>
          <a:prstGeom prst="rect">
            <a:avLst/>
          </a:prstGeom>
        </p:spPr>
      </p:pic>
      <p:sp>
        <p:nvSpPr>
          <p:cNvPr id="25" name="Text 17"/>
          <p:cNvSpPr txBox="1"/>
          <p:nvPr/>
        </p:nvSpPr>
        <p:spPr>
          <a:xfrm>
            <a:off x="676656"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Lo que se dice en redes sociales</a:t>
            </a:r>
            <a:endParaRPr lang="en-US" sz="1250" dirty="0"/>
          </a:p>
        </p:txBody>
      </p:sp>
      <p:sp>
        <p:nvSpPr>
          <p:cNvPr id="26" name="Shape 18"/>
          <p:cNvSpPr/>
          <p:nvPr/>
        </p:nvSpPr>
        <p:spPr>
          <a:xfrm>
            <a:off x="3404540" y="3835908"/>
            <a:ext cx="2545004" cy="1431036"/>
          </a:xfrm>
          <a:prstGeom prst="roundRect">
            <a:avLst>
              <a:gd name="adj" fmla="val 6390"/>
            </a:avLst>
          </a:prstGeom>
          <a:solidFill>
            <a:srgbClr val="F2F5F9"/>
          </a:solidFill>
          <a:ln/>
        </p:spPr>
      </p:sp>
      <p:sp>
        <p:nvSpPr>
          <p:cNvPr id="27" name="Shape 19"/>
          <p:cNvSpPr/>
          <p:nvPr/>
        </p:nvSpPr>
        <p:spPr>
          <a:xfrm>
            <a:off x="4393578" y="4000500"/>
            <a:ext cx="566928" cy="566928"/>
          </a:xfrm>
          <a:prstGeom prst="ellipse">
            <a:avLst/>
          </a:prstGeom>
          <a:solidFill>
            <a:srgbClr val="3A6EA5"/>
          </a:solidFill>
          <a:ln/>
        </p:spPr>
      </p:sp>
      <p:pic>
        <p:nvPicPr>
          <p:cNvPr id="28" name="Image 5" descr="/tmp/claude-0/-home-user-riesgo/0ff9ff46-1396-5bd8-b3ac-2280dfbbbc55/scratchpad/work/gen/icons/people_group_white.png">    </p:cNvPr>
          <p:cNvPicPr>
            <a:picLocks noChangeAspect="1"/>
          </p:cNvPicPr>
          <p:nvPr/>
        </p:nvPicPr>
        <p:blipFill>
          <a:blip r:embed="rId6"/>
          <a:stretch>
            <a:fillRect/>
          </a:stretch>
        </p:blipFill>
        <p:spPr>
          <a:xfrm>
            <a:off x="4529640" y="4136563"/>
            <a:ext cx="294803" cy="294803"/>
          </a:xfrm>
          <a:prstGeom prst="rect">
            <a:avLst/>
          </a:prstGeom>
        </p:spPr>
      </p:pic>
      <p:sp>
        <p:nvSpPr>
          <p:cNvPr id="29" name="Text 20"/>
          <p:cNvSpPr txBox="1"/>
          <p:nvPr/>
        </p:nvSpPr>
        <p:spPr>
          <a:xfrm>
            <a:off x="3514268"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Relación con proveedores y terceros</a:t>
            </a:r>
            <a:endParaRPr lang="en-US" sz="1250" dirty="0"/>
          </a:p>
        </p:txBody>
      </p:sp>
      <p:sp>
        <p:nvSpPr>
          <p:cNvPr id="30" name="Shape 21"/>
          <p:cNvSpPr/>
          <p:nvPr/>
        </p:nvSpPr>
        <p:spPr>
          <a:xfrm>
            <a:off x="6242152" y="3835908"/>
            <a:ext cx="2545004" cy="1431036"/>
          </a:xfrm>
          <a:prstGeom prst="roundRect">
            <a:avLst>
              <a:gd name="adj" fmla="val 6390"/>
            </a:avLst>
          </a:prstGeom>
          <a:solidFill>
            <a:srgbClr val="F2F5F9"/>
          </a:solidFill>
          <a:ln/>
        </p:spPr>
      </p:sp>
      <p:sp>
        <p:nvSpPr>
          <p:cNvPr id="31" name="Shape 22"/>
          <p:cNvSpPr/>
          <p:nvPr/>
        </p:nvSpPr>
        <p:spPr>
          <a:xfrm>
            <a:off x="7231189" y="4000500"/>
            <a:ext cx="566928" cy="566928"/>
          </a:xfrm>
          <a:prstGeom prst="ellipse">
            <a:avLst/>
          </a:prstGeom>
          <a:solidFill>
            <a:srgbClr val="3A6EA5"/>
          </a:solidFill>
          <a:ln/>
        </p:spPr>
      </p:sp>
      <p:pic>
        <p:nvPicPr>
          <p:cNvPr id="32" name="Image 6" descr="/tmp/claude-0/-home-user-riesgo/0ff9ff46-1396-5bd8-b3ac-2280dfbbbc55/scratchpad/work/gen/icons/target_white.png">    </p:cNvPr>
          <p:cNvPicPr>
            <a:picLocks noChangeAspect="1"/>
          </p:cNvPicPr>
          <p:nvPr/>
        </p:nvPicPr>
        <p:blipFill>
          <a:blip r:embed="rId7"/>
          <a:stretch>
            <a:fillRect/>
          </a:stretch>
        </p:blipFill>
        <p:spPr>
          <a:xfrm>
            <a:off x="7367252" y="4136563"/>
            <a:ext cx="294803" cy="294803"/>
          </a:xfrm>
          <a:prstGeom prst="rect">
            <a:avLst/>
          </a:prstGeom>
        </p:spPr>
      </p:pic>
      <p:sp>
        <p:nvSpPr>
          <p:cNvPr id="33" name="Text 23"/>
          <p:cNvSpPr txBox="1"/>
          <p:nvPr/>
        </p:nvSpPr>
        <p:spPr>
          <a:xfrm>
            <a:off x="6351880"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Calidad de productos y servicios</a:t>
            </a:r>
            <a:endParaRPr lang="en-US" sz="1250" dirty="0"/>
          </a:p>
        </p:txBody>
      </p:sp>
      <p:sp>
        <p:nvSpPr>
          <p:cNvPr id="34" name="Shape 24"/>
          <p:cNvSpPr/>
          <p:nvPr/>
        </p:nvSpPr>
        <p:spPr>
          <a:xfrm>
            <a:off x="9079763" y="3835908"/>
            <a:ext cx="2545004" cy="1431036"/>
          </a:xfrm>
          <a:prstGeom prst="roundRect">
            <a:avLst>
              <a:gd name="adj" fmla="val 6390"/>
            </a:avLst>
          </a:prstGeom>
          <a:solidFill>
            <a:srgbClr val="F2F5F9"/>
          </a:solidFill>
          <a:ln/>
        </p:spPr>
      </p:sp>
      <p:sp>
        <p:nvSpPr>
          <p:cNvPr id="35" name="Shape 25"/>
          <p:cNvSpPr/>
          <p:nvPr/>
        </p:nvSpPr>
        <p:spPr>
          <a:xfrm>
            <a:off x="10068801" y="4000500"/>
            <a:ext cx="566928" cy="566928"/>
          </a:xfrm>
          <a:prstGeom prst="ellipse">
            <a:avLst/>
          </a:prstGeom>
          <a:solidFill>
            <a:srgbClr val="3A6EA5"/>
          </a:solidFill>
          <a:ln/>
        </p:spPr>
      </p:sp>
      <p:pic>
        <p:nvPicPr>
          <p:cNvPr id="36" name="Image 7" descr="/tmp/claude-0/-home-user-riesgo/0ff9ff46-1396-5bd8-b3ac-2280dfbbbc55/scratchpad/work/gen/icons/globe_white.png">    </p:cNvPr>
          <p:cNvPicPr>
            <a:picLocks noChangeAspect="1"/>
          </p:cNvPicPr>
          <p:nvPr/>
        </p:nvPicPr>
        <p:blipFill>
          <a:blip r:embed="rId8"/>
          <a:stretch>
            <a:fillRect/>
          </a:stretch>
        </p:blipFill>
        <p:spPr>
          <a:xfrm>
            <a:off x="10204864" y="4136563"/>
            <a:ext cx="294803" cy="294803"/>
          </a:xfrm>
          <a:prstGeom prst="rect">
            <a:avLst/>
          </a:prstGeom>
        </p:spPr>
      </p:pic>
      <p:sp>
        <p:nvSpPr>
          <p:cNvPr id="37" name="Text 26"/>
          <p:cNvSpPr txBox="1"/>
          <p:nvPr/>
        </p:nvSpPr>
        <p:spPr>
          <a:xfrm>
            <a:off x="9189491" y="4713732"/>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Percepción pública y cobertura mediática</a:t>
            </a:r>
            <a:endParaRPr lang="en-US" sz="1250" dirty="0"/>
          </a:p>
        </p:txBody>
      </p:sp>
      <p:sp>
        <p:nvSpPr>
          <p:cNvPr id="38" name="Shape 27"/>
          <p:cNvSpPr/>
          <p:nvPr/>
        </p:nvSpPr>
        <p:spPr>
          <a:xfrm>
            <a:off x="566928" y="5449824"/>
            <a:ext cx="11057839" cy="658368"/>
          </a:xfrm>
          <a:prstGeom prst="roundRect">
            <a:avLst>
              <a:gd name="adj" fmla="val 13889"/>
            </a:avLst>
          </a:prstGeom>
          <a:solidFill>
            <a:srgbClr val="3A6EA5"/>
          </a:solidFill>
          <a:ln/>
        </p:spPr>
      </p:sp>
      <p:sp>
        <p:nvSpPr>
          <p:cNvPr id="39" name="Text 28"/>
          <p:cNvSpPr txBox="1"/>
          <p:nvPr/>
        </p:nvSpPr>
        <p:spPr>
          <a:xfrm>
            <a:off x="841248" y="5449824"/>
            <a:ext cx="10509199" cy="658368"/>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Una experiencia puede durar minutos. Una mala reputación puede durar mucho más.</a:t>
            </a:r>
            <a:endParaRPr lang="en-US" sz="1500" dirty="0"/>
          </a:p>
        </p:txBody>
      </p:sp>
      <p:sp>
        <p:nvSpPr>
          <p:cNvPr id="40"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1"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TEMA 4 · ¿QUÉ HARÍAS?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500" b="1" dirty="0">
                <a:solidFill>
                  <a:srgbClr val="133B6C"/>
                </a:solidFill>
                <a:latin typeface="Cambria" pitchFamily="34" charset="0"/>
                <a:ea typeface="Cambria" pitchFamily="34" charset="-122"/>
                <a:cs typeface="Cambria" pitchFamily="34" charset="-120"/>
              </a:rPr>
              <a:t>CASO: UN ASOCIADO INSATISFECHO</a:t>
            </a:r>
            <a:endParaRPr lang="en-US" sz="2500" dirty="0"/>
          </a:p>
        </p:txBody>
      </p:sp>
      <p:sp>
        <p:nvSpPr>
          <p:cNvPr id="5" name="Shape 2"/>
          <p:cNvSpPr/>
          <p:nvPr/>
        </p:nvSpPr>
        <p:spPr>
          <a:xfrm>
            <a:off x="566928" y="1536192"/>
            <a:ext cx="11057839" cy="914400"/>
          </a:xfrm>
          <a:prstGeom prst="roundRect">
            <a:avLst>
              <a:gd name="adj" fmla="val 12000"/>
            </a:avLst>
          </a:prstGeom>
          <a:solidFill>
            <a:srgbClr val="133B6C"/>
          </a:solidFill>
          <a:ln/>
        </p:spPr>
      </p:sp>
      <p:sp>
        <p:nvSpPr>
          <p:cNvPr id="6" name="Shape 3"/>
          <p:cNvSpPr/>
          <p:nvPr/>
        </p:nvSpPr>
        <p:spPr>
          <a:xfrm>
            <a:off x="786384" y="1709928"/>
            <a:ext cx="566928" cy="566928"/>
          </a:xfrm>
          <a:prstGeom prst="ellipse">
            <a:avLst/>
          </a:prstGeom>
          <a:solidFill>
            <a:srgbClr val="3A6EA5"/>
          </a:solidFill>
          <a:ln/>
        </p:spPr>
      </p:sp>
      <p:pic>
        <p:nvPicPr>
          <p:cNvPr id="7" name="Image 0" descr="/tmp/claude-0/-home-user-riesgo/0ff9ff46-1396-5bd8-b3ac-2280dfbbbc55/scratchpad/work/gen/icons/heart_crack_white.png">    </p:cNvPr>
          <p:cNvPicPr>
            <a:picLocks noChangeAspect="1"/>
          </p:cNvPicPr>
          <p:nvPr/>
        </p:nvPicPr>
        <p:blipFill>
          <a:blip r:embed="rId1"/>
          <a:stretch>
            <a:fillRect/>
          </a:stretch>
        </p:blipFill>
        <p:spPr>
          <a:xfrm>
            <a:off x="913943" y="1837487"/>
            <a:ext cx="311810" cy="311810"/>
          </a:xfrm>
          <a:prstGeom prst="rect">
            <a:avLst/>
          </a:prstGeom>
        </p:spPr>
      </p:pic>
      <p:sp>
        <p:nvSpPr>
          <p:cNvPr id="8" name="Text 4"/>
          <p:cNvSpPr txBox="1"/>
          <p:nvPr/>
        </p:nvSpPr>
        <p:spPr>
          <a:xfrm>
            <a:off x="1527048" y="1673352"/>
            <a:ext cx="9418320" cy="256032"/>
          </a:xfrm>
          <a:prstGeom prst="rect">
            <a:avLst/>
          </a:prstGeom>
          <a:noFill/>
          <a:ln/>
        </p:spPr>
        <p:txBody>
          <a:bodyPr wrap="square" lIns="0" tIns="0" rIns="0" bIns="0" rtlCol="0" anchor="ctr"/>
          <a:lstStyle/>
          <a:p>
            <a:pPr indent="0" marL="0">
              <a:buNone/>
            </a:pPr>
            <a:r>
              <a:rPr lang="en-US" sz="1100" b="1" spc="200" kern="0" dirty="0">
                <a:solidFill>
                  <a:srgbClr val="A6BED7"/>
                </a:solidFill>
                <a:latin typeface="Calibri" pitchFamily="34" charset="0"/>
                <a:ea typeface="Calibri" pitchFamily="34" charset="-122"/>
                <a:cs typeface="Calibri" pitchFamily="34" charset="-120"/>
              </a:rPr>
              <a:t>LA SITUACIÓN</a:t>
            </a:r>
            <a:endParaRPr lang="en-US" sz="1100" dirty="0"/>
          </a:p>
        </p:txBody>
      </p:sp>
      <p:sp>
        <p:nvSpPr>
          <p:cNvPr id="9" name="Text 5"/>
          <p:cNvSpPr txBox="1"/>
          <p:nvPr/>
        </p:nvSpPr>
        <p:spPr>
          <a:xfrm>
            <a:off x="1527048" y="1920240"/>
            <a:ext cx="9823399" cy="502920"/>
          </a:xfrm>
          <a:prstGeom prst="rect">
            <a:avLst/>
          </a:prstGeom>
          <a:noFill/>
          <a:ln/>
        </p:spPr>
        <p:txBody>
          <a:bodyPr wrap="square" lIns="0" tIns="0" rIns="0" bIns="0" rtlCol="0" anchor="ctr"/>
          <a:lstStyle/>
          <a:p>
            <a:pPr indent="0" marL="0">
              <a:lnSpc>
                <a:spcPct val="108000"/>
              </a:lnSpc>
              <a:buNone/>
            </a:pPr>
            <a:r>
              <a:rPr lang="en-US" sz="1250" dirty="0">
                <a:solidFill>
                  <a:srgbClr val="FFFFFF"/>
                </a:solidFill>
                <a:latin typeface="Calibri" pitchFamily="34" charset="0"/>
                <a:ea typeface="Calibri" pitchFamily="34" charset="-122"/>
                <a:cs typeface="Calibri" pitchFamily="34" charset="-120"/>
              </a:rPr>
              <a:t>Un asociado se queja fuertemente en agencia por una demora y luego publica un comentario negativo sobre COMEDICA DE R.L. en redes sociales.</a:t>
            </a:r>
            <a:endParaRPr lang="en-US" sz="1250" dirty="0"/>
          </a:p>
        </p:txBody>
      </p:sp>
      <p:sp>
        <p:nvSpPr>
          <p:cNvPr id="10" name="Text 6"/>
          <p:cNvSpPr txBox="1"/>
          <p:nvPr/>
        </p:nvSpPr>
        <p:spPr>
          <a:xfrm>
            <a:off x="566928" y="2615184"/>
            <a:ext cx="5486400" cy="256032"/>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¿QUÉ HARÍAS?</a:t>
            </a:r>
            <a:endParaRPr lang="en-US" sz="1200" dirty="0"/>
          </a:p>
        </p:txBody>
      </p:sp>
      <p:sp>
        <p:nvSpPr>
          <p:cNvPr id="11" name="Shape 7"/>
          <p:cNvSpPr/>
          <p:nvPr/>
        </p:nvSpPr>
        <p:spPr>
          <a:xfrm>
            <a:off x="566928" y="2926080"/>
            <a:ext cx="11057839" cy="509016"/>
          </a:xfrm>
          <a:prstGeom prst="roundRect">
            <a:avLst>
              <a:gd name="adj" fmla="val 16168"/>
            </a:avLst>
          </a:prstGeom>
          <a:solidFill>
            <a:srgbClr val="F2F5F9"/>
          </a:solidFill>
          <a:ln/>
        </p:spPr>
      </p:sp>
      <p:sp>
        <p:nvSpPr>
          <p:cNvPr id="12" name="Shape 8"/>
          <p:cNvSpPr/>
          <p:nvPr/>
        </p:nvSpPr>
        <p:spPr>
          <a:xfrm>
            <a:off x="768096" y="2979420"/>
            <a:ext cx="402336" cy="402336"/>
          </a:xfrm>
          <a:prstGeom prst="ellipse">
            <a:avLst/>
          </a:prstGeom>
          <a:solidFill>
            <a:srgbClr val="133B6C"/>
          </a:solidFill>
          <a:ln/>
        </p:spPr>
      </p:sp>
      <p:sp>
        <p:nvSpPr>
          <p:cNvPr id="13" name="Text 9"/>
          <p:cNvSpPr txBox="1"/>
          <p:nvPr/>
        </p:nvSpPr>
        <p:spPr>
          <a:xfrm>
            <a:off x="768096" y="297027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A</a:t>
            </a:r>
            <a:endParaRPr lang="en-US" sz="1496" dirty="0"/>
          </a:p>
        </p:txBody>
      </p:sp>
      <p:sp>
        <p:nvSpPr>
          <p:cNvPr id="14" name="Text 10"/>
          <p:cNvSpPr txBox="1"/>
          <p:nvPr/>
        </p:nvSpPr>
        <p:spPr>
          <a:xfrm>
            <a:off x="1344168" y="2926080"/>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Ignorar la publicación; no es asunto mío.</a:t>
            </a:r>
            <a:endParaRPr lang="en-US" sz="1200" dirty="0"/>
          </a:p>
        </p:txBody>
      </p:sp>
      <p:sp>
        <p:nvSpPr>
          <p:cNvPr id="15" name="Shape 11"/>
          <p:cNvSpPr/>
          <p:nvPr/>
        </p:nvSpPr>
        <p:spPr>
          <a:xfrm>
            <a:off x="566928" y="3563112"/>
            <a:ext cx="11057839" cy="509016"/>
          </a:xfrm>
          <a:prstGeom prst="roundRect">
            <a:avLst>
              <a:gd name="adj" fmla="val 16168"/>
            </a:avLst>
          </a:prstGeom>
          <a:solidFill>
            <a:srgbClr val="F2F5F9"/>
          </a:solidFill>
          <a:ln/>
        </p:spPr>
      </p:sp>
      <p:sp>
        <p:nvSpPr>
          <p:cNvPr id="16" name="Shape 12"/>
          <p:cNvSpPr/>
          <p:nvPr/>
        </p:nvSpPr>
        <p:spPr>
          <a:xfrm>
            <a:off x="768096" y="3616452"/>
            <a:ext cx="402336" cy="402336"/>
          </a:xfrm>
          <a:prstGeom prst="ellipse">
            <a:avLst/>
          </a:prstGeom>
          <a:solidFill>
            <a:srgbClr val="133B6C"/>
          </a:solidFill>
          <a:ln/>
        </p:spPr>
      </p:sp>
      <p:sp>
        <p:nvSpPr>
          <p:cNvPr id="17" name="Text 13"/>
          <p:cNvSpPr txBox="1"/>
          <p:nvPr/>
        </p:nvSpPr>
        <p:spPr>
          <a:xfrm>
            <a:off x="768096" y="360730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B</a:t>
            </a:r>
            <a:endParaRPr lang="en-US" sz="1496" dirty="0"/>
          </a:p>
        </p:txBody>
      </p:sp>
      <p:sp>
        <p:nvSpPr>
          <p:cNvPr id="18" name="Text 14"/>
          <p:cNvSpPr txBox="1"/>
          <p:nvPr/>
        </p:nvSpPr>
        <p:spPr>
          <a:xfrm>
            <a:off x="1344168" y="3563112"/>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Responder de forma informal y a título personal en redes sociales.</a:t>
            </a:r>
            <a:endParaRPr lang="en-US" sz="1200" dirty="0"/>
          </a:p>
        </p:txBody>
      </p:sp>
      <p:sp>
        <p:nvSpPr>
          <p:cNvPr id="19" name="Shape 15"/>
          <p:cNvSpPr/>
          <p:nvPr/>
        </p:nvSpPr>
        <p:spPr>
          <a:xfrm>
            <a:off x="566928" y="4200144"/>
            <a:ext cx="11057839" cy="509016"/>
          </a:xfrm>
          <a:prstGeom prst="roundRect">
            <a:avLst>
              <a:gd name="adj" fmla="val 16168"/>
            </a:avLst>
          </a:prstGeom>
          <a:solidFill>
            <a:srgbClr val="F2F5F9"/>
          </a:solidFill>
          <a:ln/>
        </p:spPr>
      </p:sp>
      <p:sp>
        <p:nvSpPr>
          <p:cNvPr id="20" name="Shape 16"/>
          <p:cNvSpPr/>
          <p:nvPr/>
        </p:nvSpPr>
        <p:spPr>
          <a:xfrm>
            <a:off x="768096" y="4253484"/>
            <a:ext cx="402336" cy="402336"/>
          </a:xfrm>
          <a:prstGeom prst="ellipse">
            <a:avLst/>
          </a:prstGeom>
          <a:solidFill>
            <a:srgbClr val="133B6C"/>
          </a:solidFill>
          <a:ln/>
        </p:spPr>
      </p:sp>
      <p:sp>
        <p:nvSpPr>
          <p:cNvPr id="21" name="Text 17"/>
          <p:cNvSpPr txBox="1"/>
          <p:nvPr/>
        </p:nvSpPr>
        <p:spPr>
          <a:xfrm>
            <a:off x="768096" y="42443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C</a:t>
            </a:r>
            <a:endParaRPr lang="en-US" sz="1496" dirty="0"/>
          </a:p>
        </p:txBody>
      </p:sp>
      <p:sp>
        <p:nvSpPr>
          <p:cNvPr id="22" name="Text 18"/>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200" dirty="0"/>
          </a:p>
        </p:txBody>
      </p:sp>
      <p:sp>
        <p:nvSpPr>
          <p:cNvPr id="23" name="REVEAL_sq_opt"/>
          <p:cNvSpPr/>
          <p:nvPr/>
        </p:nvSpPr>
        <p:spPr>
          <a:xfrm>
            <a:off x="566928" y="4200144"/>
            <a:ext cx="11057839" cy="509016"/>
          </a:xfrm>
          <a:prstGeom prst="roundRect">
            <a:avLst>
              <a:gd name="adj" fmla="val 16168"/>
            </a:avLst>
          </a:prstGeom>
          <a:solidFill>
            <a:srgbClr val="E2F4E9"/>
          </a:solidFill>
          <a:ln/>
        </p:spPr>
      </p:sp>
      <p:sp>
        <p:nvSpPr>
          <p:cNvPr id="24" name="REVEAL_sq_optbadge"/>
          <p:cNvSpPr/>
          <p:nvPr/>
        </p:nvSpPr>
        <p:spPr>
          <a:xfrm>
            <a:off x="768096" y="4253484"/>
            <a:ext cx="402336" cy="402336"/>
          </a:xfrm>
          <a:prstGeom prst="ellipse">
            <a:avLst/>
          </a:prstGeom>
          <a:solidFill>
            <a:srgbClr val="2FAE60"/>
          </a:solidFill>
          <a:ln/>
        </p:spPr>
      </p:sp>
      <p:pic>
        <p:nvPicPr>
          <p:cNvPr id="25" name="REVEAL_sq_optbadge_ic" descr="/tmp/claude-0/-home-user-riesgo/0ff9ff46-1396-5bd8-b3ac-2280dfbbbc55/scratchpad/work/gen/icons/check_circle_white.png">    </p:cNvPr>
          <p:cNvPicPr>
            <a:picLocks noChangeAspect="1"/>
          </p:cNvPicPr>
          <p:nvPr/>
        </p:nvPicPr>
        <p:blipFill>
          <a:blip r:embed="rId2"/>
          <a:stretch>
            <a:fillRect/>
          </a:stretch>
        </p:blipFill>
        <p:spPr>
          <a:xfrm>
            <a:off x="848563" y="4333951"/>
            <a:ext cx="241402" cy="241402"/>
          </a:xfrm>
          <a:prstGeom prst="rect">
            <a:avLst/>
          </a:prstGeom>
        </p:spPr>
      </p:pic>
      <p:sp>
        <p:nvSpPr>
          <p:cNvPr id="26" name="REVEAL_sq_opttext"/>
          <p:cNvSpPr txBox="1"/>
          <p:nvPr/>
        </p:nvSpPr>
        <p:spPr>
          <a:xfrm>
            <a:off x="1344168" y="4200144"/>
            <a:ext cx="10051999" cy="509016"/>
          </a:xfrm>
          <a:prstGeom prst="rect">
            <a:avLst/>
          </a:prstGeom>
          <a:noFill/>
          <a:ln/>
        </p:spPr>
        <p:txBody>
          <a:bodyPr wrap="square" lIns="0" tIns="0" rIns="0" bIns="0" rtlCol="0" anchor="ctr"/>
          <a:lstStyle/>
          <a:p>
            <a:pPr indent="0" marL="0">
              <a:lnSpc>
                <a:spcPct val="102000"/>
              </a:lnSpc>
              <a:buNone/>
            </a:pPr>
            <a:r>
              <a:rPr lang="en-US" sz="1200" b="1" dirty="0">
                <a:solidFill>
                  <a:srgbClr val="133B6C"/>
                </a:solidFill>
                <a:latin typeface="Calibri" pitchFamily="34" charset="0"/>
                <a:ea typeface="Calibri" pitchFamily="34" charset="-122"/>
                <a:cs typeface="Calibri" pitchFamily="34" charset="-120"/>
              </a:rPr>
              <a:t>Escuchar al asociado, dar un buen servicio y canalizar el caso a quien corresponde dentro de la Cooperativa.</a:t>
            </a:r>
            <a:endParaRPr lang="en-US" sz="1200" dirty="0"/>
          </a:p>
        </p:txBody>
      </p:sp>
      <p:sp>
        <p:nvSpPr>
          <p:cNvPr id="27" name="REVEAL_sq_whylabel"/>
          <p:cNvSpPr txBox="1"/>
          <p:nvPr/>
        </p:nvSpPr>
        <p:spPr>
          <a:xfrm>
            <a:off x="566928" y="4828032"/>
            <a:ext cx="5486400" cy="237744"/>
          </a:xfrm>
          <a:prstGeom prst="rect">
            <a:avLst/>
          </a:prstGeom>
          <a:noFill/>
          <a:ln/>
        </p:spPr>
        <p:txBody>
          <a:bodyPr wrap="square" lIns="0" tIns="0" rIns="0" bIns="0" rtlCol="0" anchor="ctr"/>
          <a:lstStyle/>
          <a:p>
            <a:pPr indent="0" marL="0">
              <a:buNone/>
            </a:pPr>
            <a:r>
              <a:rPr lang="en-US" sz="1200" b="1" spc="150" kern="0" dirty="0">
                <a:solidFill>
                  <a:srgbClr val="133B6C"/>
                </a:solidFill>
                <a:latin typeface="Calibri" pitchFamily="34" charset="0"/>
                <a:ea typeface="Calibri" pitchFamily="34" charset="-122"/>
                <a:cs typeface="Calibri" pitchFamily="34" charset="-120"/>
              </a:rPr>
              <a:t>¿POR QUÉ?</a:t>
            </a:r>
            <a:endParaRPr lang="en-US" sz="1200" dirty="0"/>
          </a:p>
        </p:txBody>
      </p:sp>
      <p:sp>
        <p:nvSpPr>
          <p:cNvPr id="28" name="REVEAL_sq_whycard"/>
          <p:cNvSpPr/>
          <p:nvPr/>
        </p:nvSpPr>
        <p:spPr>
          <a:xfrm>
            <a:off x="566928" y="5102352"/>
            <a:ext cx="11057839" cy="868680"/>
          </a:xfrm>
          <a:prstGeom prst="roundRect">
            <a:avLst>
              <a:gd name="adj" fmla="val 10526"/>
            </a:avLst>
          </a:prstGeom>
          <a:solidFill>
            <a:srgbClr val="F2F5F9"/>
          </a:solidFill>
          <a:ln/>
        </p:spPr>
      </p:sp>
      <p:sp>
        <p:nvSpPr>
          <p:cNvPr id="29" name="REVEAL_sq_whytext"/>
          <p:cNvSpPr txBox="1"/>
          <p:nvPr/>
        </p:nvSpPr>
        <p:spPr>
          <a:xfrm>
            <a:off x="841248" y="5102352"/>
            <a:ext cx="10509199" cy="868680"/>
          </a:xfrm>
          <a:prstGeom prst="rect">
            <a:avLst/>
          </a:prstGeom>
          <a:noFill/>
          <a:ln/>
        </p:spPr>
        <p:txBody>
          <a:bodyPr wrap="square" lIns="0" tIns="0" rIns="0" bIns="0" rtlCol="0" anchor="ctr"/>
          <a:lstStyle/>
          <a:p>
            <a:pPr indent="0" marL="0">
              <a:lnSpc>
                <a:spcPct val="112000"/>
              </a:lnSpc>
              <a:buNone/>
            </a:pPr>
            <a:r>
              <a:rPr lang="en-US" sz="1150" dirty="0">
                <a:solidFill>
                  <a:srgbClr val="243044"/>
                </a:solidFill>
                <a:latin typeface="Calibri" pitchFamily="34" charset="0"/>
                <a:ea typeface="Calibri" pitchFamily="34" charset="-122"/>
                <a:cs typeface="Calibri" pitchFamily="34" charset="-120"/>
              </a:rPr>
              <a:t>Ignorar la situación o responder de forma personal e informal puede agravar el impacto reputacional. Escuchar al asociado y canalizar el caso protege su confianza y la imagen institucional de la Cooperativa.</a:t>
            </a:r>
            <a:endParaRPr lang="en-US" sz="1150" dirty="0"/>
          </a:p>
        </p:txBody>
      </p:sp>
      <p:sp>
        <p:nvSpPr>
          <p:cNvPr id="30" name="Text 2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1" name="Text 2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set>
                                      <p:cBhvr>
                                        <p:cTn id="7" dur="1" fill="hold">
                                          <p:stCondLst>
                                            <p:cond delay="0"/>
                                          </p:stCondLst>
                                        </p:cTn>
                                        <p:tgtEl>
                                          <p:spTgt spid="24"/>
                                        </p:tgtEl>
                                        <p:attrNameLst>
                                          <p:attrName>style.visibility</p:attrName>
                                        </p:attrNameLst>
                                      </p:cBhvr>
                                      <p:to>
                                        <p:strVal val="visible"/>
                                      </p:to>
                                    </p:set>
                                    <p:set>
                                      <p:cBhvr>
                                        <p:cTn id="8" dur="1" fill="hold">
                                          <p:stCondLst>
                                            <p:cond delay="0"/>
                                          </p:stCondLst>
                                        </p:cTn>
                                        <p:tgtEl>
                                          <p:spTgt spid="25"/>
                                        </p:tgtEl>
                                        <p:attrNameLst>
                                          <p:attrName>style.visibility</p:attrName>
                                        </p:attrNameLst>
                                      </p:cBhvr>
                                      <p:to>
                                        <p:strVal val="visible"/>
                                      </p:to>
                                    </p:set>
                                    <p:set>
                                      <p:cBhvr>
                                        <p:cTn id="9" dur="1" fill="hold">
                                          <p:stCondLst>
                                            <p:cond delay="0"/>
                                          </p:stCondLst>
                                        </p:cTn>
                                        <p:tgtEl>
                                          <p:spTgt spid="26"/>
                                        </p:tgtEl>
                                        <p:attrNameLst>
                                          <p:attrName>style.visibility</p:attrName>
                                        </p:attrNameLst>
                                      </p:cBhvr>
                                      <p:to>
                                        <p:strVal val="visible"/>
                                      </p:to>
                                    </p:set>
                                    <p:set>
                                      <p:cBhvr>
                                        <p:cTn id="10" dur="1" fill="hold">
                                          <p:stCondLst>
                                            <p:cond delay="0"/>
                                          </p:stCondLst>
                                        </p:cTn>
                                        <p:tgtEl>
                                          <p:spTgt spid="27"/>
                                        </p:tgtEl>
                                        <p:attrNameLst>
                                          <p:attrName>style.visibility</p:attrName>
                                        </p:attrNameLst>
                                      </p:cBhvr>
                                      <p:to>
                                        <p:strVal val="visible"/>
                                      </p:to>
                                    </p:set>
                                    <p:set>
                                      <p:cBhvr>
                                        <p:cTn id="11" dur="1" fill="hold">
                                          <p:stCondLst>
                                            <p:cond delay="0"/>
                                          </p:stCondLst>
                                        </p:cTn>
                                        <p:tgtEl>
                                          <p:spTgt spid="28"/>
                                        </p:tgtEl>
                                        <p:attrNameLst>
                                          <p:attrName>style.visibility</p:attrName>
                                        </p:attrNameLst>
                                      </p:cBhvr>
                                      <p:to>
                                        <p:strVal val="visible"/>
                                      </p:to>
                                    </p:se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7" grpId="0"/>
      <p:bldP spid="28" grpId="0"/>
      <p:bldP spid="29"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FE6F0"/>
                </a:solidFill>
                <a:latin typeface="Cambria" pitchFamily="34" charset="0"/>
                <a:ea typeface="Cambria" pitchFamily="34" charset="-122"/>
                <a:cs typeface="Cambria" pitchFamily="34" charset="-120"/>
              </a:rPr>
              <a:t>05</a:t>
            </a:r>
            <a:endParaRPr lang="en-US" sz="26000" dirty="0"/>
          </a:p>
        </p:txBody>
      </p:sp>
      <p:sp>
        <p:nvSpPr>
          <p:cNvPr id="4" name="Shape 1"/>
          <p:cNvSpPr/>
          <p:nvPr/>
        </p:nvSpPr>
        <p:spPr>
          <a:xfrm>
            <a:off x="10104120" y="-685800"/>
            <a:ext cx="2743200" cy="2743200"/>
          </a:xfrm>
          <a:prstGeom prst="ellipse">
            <a:avLst/>
          </a:prstGeom>
          <a:solidFill>
            <a:srgbClr val="829EC3"/>
          </a:solidFill>
          <a:ln/>
        </p:spPr>
      </p:sp>
      <p:sp>
        <p:nvSpPr>
          <p:cNvPr id="5" name="Shape 2"/>
          <p:cNvSpPr/>
          <p:nvPr/>
        </p:nvSpPr>
        <p:spPr>
          <a:xfrm>
            <a:off x="8001000" y="502920"/>
            <a:ext cx="3657600" cy="5806440"/>
          </a:xfrm>
          <a:prstGeom prst="roundRect">
            <a:avLst>
              <a:gd name="adj" fmla="val 11250"/>
            </a:avLst>
          </a:prstGeom>
          <a:solidFill>
            <a:srgbClr val="1B4F91"/>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shield_warning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warning_triangle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B4F91"/>
                </a:solidFill>
                <a:latin typeface="Calibri" pitchFamily="34" charset="0"/>
                <a:ea typeface="Calibri" pitchFamily="34" charset="-122"/>
                <a:cs typeface="Calibri" pitchFamily="34" charset="-120"/>
              </a:rPr>
              <a:t>TEMA 5</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FRAUDE Y ERRORES:</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APRENDAMOS A PREVENIRLOS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Distinguirlos es el primer paso para prevenirlos.</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FRAUDE Y ERRORES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ERROR VS. FRAUDE</a:t>
            </a:r>
            <a:endParaRPr lang="en-US" sz="2800" dirty="0"/>
          </a:p>
        </p:txBody>
      </p:sp>
      <p:sp>
        <p:nvSpPr>
          <p:cNvPr id="5" name="Shape 2"/>
          <p:cNvSpPr/>
          <p:nvPr/>
        </p:nvSpPr>
        <p:spPr>
          <a:xfrm>
            <a:off x="566928" y="1874520"/>
            <a:ext cx="5346040" cy="3657600"/>
          </a:xfrm>
          <a:prstGeom prst="roundRect">
            <a:avLst>
              <a:gd name="adj" fmla="val 3000"/>
            </a:avLst>
          </a:prstGeom>
          <a:solidFill>
            <a:srgbClr val="F2F5F9"/>
          </a:solidFill>
          <a:ln/>
        </p:spPr>
      </p:sp>
      <p:sp>
        <p:nvSpPr>
          <p:cNvPr id="6" name="Shape 3"/>
          <p:cNvSpPr/>
          <p:nvPr/>
        </p:nvSpPr>
        <p:spPr>
          <a:xfrm>
            <a:off x="566928" y="1874520"/>
            <a:ext cx="5346040" cy="566928"/>
          </a:xfrm>
          <a:prstGeom prst="roundRect">
            <a:avLst>
              <a:gd name="adj" fmla="val 19355"/>
            </a:avLst>
          </a:prstGeom>
          <a:solidFill>
            <a:srgbClr val="F0AD35"/>
          </a:solidFill>
          <a:ln/>
        </p:spPr>
      </p:sp>
      <p:sp>
        <p:nvSpPr>
          <p:cNvPr id="7" name="Shape 4"/>
          <p:cNvSpPr/>
          <p:nvPr/>
        </p:nvSpPr>
        <p:spPr>
          <a:xfrm>
            <a:off x="566928" y="2157984"/>
            <a:ext cx="5346040" cy="283464"/>
          </a:xfrm>
          <a:prstGeom prst="rect">
            <a:avLst/>
          </a:prstGeom>
          <a:solidFill>
            <a:srgbClr val="F0AD35"/>
          </a:solidFill>
          <a:ln/>
        </p:spPr>
      </p:sp>
      <p:sp>
        <p:nvSpPr>
          <p:cNvPr id="8" name="Shape 5"/>
          <p:cNvSpPr/>
          <p:nvPr/>
        </p:nvSpPr>
        <p:spPr>
          <a:xfrm>
            <a:off x="822960" y="2039112"/>
            <a:ext cx="457200" cy="457200"/>
          </a:xfrm>
          <a:prstGeom prst="ellipse">
            <a:avLst/>
          </a:prstGeom>
          <a:solidFill>
            <a:srgbClr val="F0AD35"/>
          </a:solidFill>
          <a:ln/>
        </p:spPr>
      </p:sp>
      <p:pic>
        <p:nvPicPr>
          <p:cNvPr id="9" name="Image 0" descr="/tmp/claude-0/-home-user-riesgo/0ff9ff46-1396-5bd8-b3ac-2280dfbbbc55/scratchpad/work/gen/icons/x_circle_white.png">    </p:cNvPr>
          <p:cNvPicPr>
            <a:picLocks noChangeAspect="1"/>
          </p:cNvPicPr>
          <p:nvPr/>
        </p:nvPicPr>
        <p:blipFill>
          <a:blip r:embed="rId1"/>
          <a:stretch>
            <a:fillRect/>
          </a:stretch>
        </p:blipFill>
        <p:spPr>
          <a:xfrm>
            <a:off x="914400" y="2130552"/>
            <a:ext cx="274320" cy="274320"/>
          </a:xfrm>
          <a:prstGeom prst="rect">
            <a:avLst/>
          </a:prstGeom>
        </p:spPr>
      </p:pic>
      <p:sp>
        <p:nvSpPr>
          <p:cNvPr id="10" name="Text 6"/>
          <p:cNvSpPr txBox="1"/>
          <p:nvPr/>
        </p:nvSpPr>
        <p:spPr>
          <a:xfrm>
            <a:off x="14081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ERROR</a:t>
            </a:r>
            <a:endParaRPr lang="en-US" sz="1800" dirty="0"/>
          </a:p>
        </p:txBody>
      </p:sp>
      <p:sp>
        <p:nvSpPr>
          <p:cNvPr id="11" name="Text 7"/>
          <p:cNvSpPr txBox="1"/>
          <p:nvPr/>
        </p:nvSpPr>
        <p:spPr>
          <a:xfrm>
            <a:off x="8869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F0AD35"/>
                </a:solidFill>
                <a:latin typeface="Calibri" pitchFamily="34" charset="0"/>
                <a:ea typeface="Calibri" pitchFamily="34" charset="-122"/>
                <a:cs typeface="Calibri" pitchFamily="34" charset="-120"/>
              </a:rPr>
              <a:t>NO INTENCIONAL</a:t>
            </a:r>
            <a:endParaRPr lang="en-US" sz="1250" dirty="0"/>
          </a:p>
        </p:txBody>
      </p:sp>
      <p:sp>
        <p:nvSpPr>
          <p:cNvPr id="12" name="Text 8"/>
          <p:cNvSpPr txBox="1"/>
          <p:nvPr/>
        </p:nvSpPr>
        <p:spPr>
          <a:xfrm>
            <a:off x="8869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Ocurre sin intención de causar daño: una equivocación, un olvido o una falla al seguir un procedimiento. Se corrige fortaleciendo la capacitación, la atención y los controles.</a:t>
            </a:r>
            <a:endParaRPr lang="en-US" sz="1250" dirty="0"/>
          </a:p>
        </p:txBody>
      </p:sp>
      <p:sp>
        <p:nvSpPr>
          <p:cNvPr id="13" name="Shape 9"/>
          <p:cNvSpPr/>
          <p:nvPr/>
        </p:nvSpPr>
        <p:spPr>
          <a:xfrm>
            <a:off x="6278728" y="1874520"/>
            <a:ext cx="5346040" cy="3657600"/>
          </a:xfrm>
          <a:prstGeom prst="roundRect">
            <a:avLst>
              <a:gd name="adj" fmla="val 3000"/>
            </a:avLst>
          </a:prstGeom>
          <a:solidFill>
            <a:srgbClr val="F2F5F9"/>
          </a:solidFill>
          <a:ln/>
        </p:spPr>
      </p:sp>
      <p:sp>
        <p:nvSpPr>
          <p:cNvPr id="14" name="Shape 10"/>
          <p:cNvSpPr/>
          <p:nvPr/>
        </p:nvSpPr>
        <p:spPr>
          <a:xfrm>
            <a:off x="6278728" y="1874520"/>
            <a:ext cx="5346040" cy="566928"/>
          </a:xfrm>
          <a:prstGeom prst="roundRect">
            <a:avLst>
              <a:gd name="adj" fmla="val 19355"/>
            </a:avLst>
          </a:prstGeom>
          <a:solidFill>
            <a:srgbClr val="E0392B"/>
          </a:solidFill>
          <a:ln/>
        </p:spPr>
      </p:sp>
      <p:sp>
        <p:nvSpPr>
          <p:cNvPr id="15" name="Shape 11"/>
          <p:cNvSpPr/>
          <p:nvPr/>
        </p:nvSpPr>
        <p:spPr>
          <a:xfrm>
            <a:off x="6278728" y="2157984"/>
            <a:ext cx="5346040" cy="283464"/>
          </a:xfrm>
          <a:prstGeom prst="rect">
            <a:avLst/>
          </a:prstGeom>
          <a:solidFill>
            <a:srgbClr val="E0392B"/>
          </a:solidFill>
          <a:ln/>
        </p:spPr>
      </p:sp>
      <p:sp>
        <p:nvSpPr>
          <p:cNvPr id="16" name="Shape 12"/>
          <p:cNvSpPr/>
          <p:nvPr/>
        </p:nvSpPr>
        <p:spPr>
          <a:xfrm>
            <a:off x="6534760" y="2039112"/>
            <a:ext cx="457200" cy="457200"/>
          </a:xfrm>
          <a:prstGeom prst="ellipse">
            <a:avLst/>
          </a:prstGeom>
          <a:solidFill>
            <a:srgbClr val="E0392B"/>
          </a:solidFill>
          <a:ln/>
        </p:spPr>
      </p:sp>
      <p:pic>
        <p:nvPicPr>
          <p:cNvPr id="17" name="Image 1" descr="/tmp/claude-0/-home-user-riesgo/0ff9ff46-1396-5bd8-b3ac-2280dfbbbc55/scratchpad/work/gen/icons/shield_warning_white.png">    </p:cNvPr>
          <p:cNvPicPr>
            <a:picLocks noChangeAspect="1"/>
          </p:cNvPicPr>
          <p:nvPr/>
        </p:nvPicPr>
        <p:blipFill>
          <a:blip r:embed="rId2"/>
          <a:stretch>
            <a:fillRect/>
          </a:stretch>
        </p:blipFill>
        <p:spPr>
          <a:xfrm>
            <a:off x="6626200" y="2130552"/>
            <a:ext cx="274320" cy="274320"/>
          </a:xfrm>
          <a:prstGeom prst="rect">
            <a:avLst/>
          </a:prstGeom>
        </p:spPr>
      </p:pic>
      <p:sp>
        <p:nvSpPr>
          <p:cNvPr id="18" name="Text 13"/>
          <p:cNvSpPr txBox="1"/>
          <p:nvPr/>
        </p:nvSpPr>
        <p:spPr>
          <a:xfrm>
            <a:off x="7119976" y="2002536"/>
            <a:ext cx="4340200" cy="4572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FRAUDE</a:t>
            </a:r>
            <a:endParaRPr lang="en-US" sz="1800" dirty="0"/>
          </a:p>
        </p:txBody>
      </p:sp>
      <p:sp>
        <p:nvSpPr>
          <p:cNvPr id="19" name="Text 14"/>
          <p:cNvSpPr txBox="1"/>
          <p:nvPr/>
        </p:nvSpPr>
        <p:spPr>
          <a:xfrm>
            <a:off x="6598768" y="2624328"/>
            <a:ext cx="4705960" cy="329184"/>
          </a:xfrm>
          <a:prstGeom prst="rect">
            <a:avLst/>
          </a:prstGeom>
          <a:noFill/>
          <a:ln/>
        </p:spPr>
        <p:txBody>
          <a:bodyPr wrap="square" lIns="0" tIns="0" rIns="0" bIns="0" rtlCol="0" anchor="ctr"/>
          <a:lstStyle/>
          <a:p>
            <a:pPr indent="0" marL="0">
              <a:buNone/>
            </a:pPr>
            <a:r>
              <a:rPr lang="en-US" sz="1250" b="1" spc="120" kern="0" dirty="0">
                <a:solidFill>
                  <a:srgbClr val="E0392B"/>
                </a:solidFill>
                <a:latin typeface="Calibri" pitchFamily="34" charset="0"/>
                <a:ea typeface="Calibri" pitchFamily="34" charset="-122"/>
                <a:cs typeface="Calibri" pitchFamily="34" charset="-120"/>
              </a:rPr>
              <a:t>INTENCIONAL</a:t>
            </a:r>
            <a:endParaRPr lang="en-US" sz="1250" dirty="0"/>
          </a:p>
        </p:txBody>
      </p:sp>
      <p:sp>
        <p:nvSpPr>
          <p:cNvPr id="20" name="Text 15"/>
          <p:cNvSpPr txBox="1"/>
          <p:nvPr/>
        </p:nvSpPr>
        <p:spPr>
          <a:xfrm>
            <a:off x="6598768" y="2971800"/>
            <a:ext cx="4705960" cy="2423160"/>
          </a:xfrm>
          <a:prstGeom prst="rect">
            <a:avLst/>
          </a:prstGeom>
          <a:noFill/>
          <a:ln/>
        </p:spPr>
        <p:txBody>
          <a:bodyPr wrap="square" lIns="0" tIns="0" rIns="0" bIns="0" rtlCol="0" anchor="ctr"/>
          <a:lstStyle/>
          <a:p>
            <a:pPr indent="0" marL="0">
              <a:lnSpc>
                <a:spcPct val="118000"/>
              </a:lnSpc>
              <a:buNone/>
            </a:pPr>
            <a:r>
              <a:rPr lang="en-US" sz="1250" dirty="0">
                <a:solidFill>
                  <a:srgbClr val="243044"/>
                </a:solidFill>
                <a:latin typeface="Calibri" pitchFamily="34" charset="0"/>
                <a:ea typeface="Calibri" pitchFamily="34" charset="-122"/>
                <a:cs typeface="Calibri" pitchFamily="34" charset="-120"/>
              </a:rPr>
              <a:t>Es una acción deliberada para obtener un beneficio indebido, ocultando u omitiendo información a propósito. Se previene con controles, supervisión y una cultura de reporte.</a:t>
            </a:r>
            <a:endParaRPr lang="en-US" sz="1250" dirty="0"/>
          </a:p>
        </p:txBody>
      </p:sp>
      <p:sp>
        <p:nvSpPr>
          <p:cNvPr id="21" name="Shape 16"/>
          <p:cNvSpPr/>
          <p:nvPr/>
        </p:nvSpPr>
        <p:spPr>
          <a:xfrm>
            <a:off x="566928" y="5696712"/>
            <a:ext cx="11057839" cy="411480"/>
          </a:xfrm>
          <a:prstGeom prst="roundRect">
            <a:avLst>
              <a:gd name="adj" fmla="val 22222"/>
            </a:avLst>
          </a:prstGeom>
          <a:solidFill>
            <a:srgbClr val="133B6C"/>
          </a:solidFill>
          <a:ln/>
        </p:spPr>
      </p:sp>
      <p:sp>
        <p:nvSpPr>
          <p:cNvPr id="22" name="Shape 17"/>
          <p:cNvSpPr/>
          <p:nvPr/>
        </p:nvSpPr>
        <p:spPr>
          <a:xfrm>
            <a:off x="768096" y="5797296"/>
            <a:ext cx="384048" cy="384048"/>
          </a:xfrm>
          <a:prstGeom prst="ellipse">
            <a:avLst/>
          </a:prstGeom>
          <a:solidFill>
            <a:srgbClr val="2E86C7"/>
          </a:solidFill>
          <a:ln/>
        </p:spPr>
      </p:sp>
      <p:pic>
        <p:nvPicPr>
          <p:cNvPr id="23" name="Image 2" descr="/tmp/claude-0/-home-user-riesgo/0ff9ff46-1396-5bd8-b3ac-2280dfbbbc55/scratchpad/work/gen/icons/lightbulb_white.png">    </p:cNvPr>
          <p:cNvPicPr>
            <a:picLocks noChangeAspect="1"/>
          </p:cNvPicPr>
          <p:nvPr/>
        </p:nvPicPr>
        <p:blipFill>
          <a:blip r:embed="rId3"/>
          <a:stretch>
            <a:fillRect/>
          </a:stretch>
        </p:blipFill>
        <p:spPr>
          <a:xfrm>
            <a:off x="854507" y="5883707"/>
            <a:ext cx="211226" cy="211226"/>
          </a:xfrm>
          <a:prstGeom prst="rect">
            <a:avLst/>
          </a:prstGeom>
        </p:spPr>
      </p:pic>
      <p:sp>
        <p:nvSpPr>
          <p:cNvPr id="24" name="Text 18"/>
          <p:cNvSpPr txBox="1"/>
          <p:nvPr/>
        </p:nvSpPr>
        <p:spPr>
          <a:xfrm>
            <a:off x="1298448" y="5696712"/>
            <a:ext cx="10051999" cy="411480"/>
          </a:xfrm>
          <a:prstGeom prst="rect">
            <a:avLst/>
          </a:prstGeom>
          <a:noFill/>
          <a:ln/>
        </p:spPr>
        <p:txBody>
          <a:bodyPr wrap="square" lIns="0" tIns="0" rIns="0" bIns="0" rtlCol="0" anchor="ctr"/>
          <a:lstStyle/>
          <a:p>
            <a:pPr indent="0" marL="0">
              <a:lnSpc>
                <a:spcPct val="110000"/>
              </a:lnSpc>
              <a:buNone/>
            </a:pPr>
            <a:r>
              <a:rPr lang="en-US" sz="1200" dirty="0">
                <a:solidFill>
                  <a:srgbClr val="FFFFFF"/>
                </a:solidFill>
                <a:latin typeface="Calibri" pitchFamily="34" charset="0"/>
                <a:ea typeface="Calibri" pitchFamily="34" charset="-122"/>
                <a:cs typeface="Calibri" pitchFamily="34" charset="-120"/>
              </a:rPr>
              <a:t>Definiciones de carácter general para efectos de esta capacitación; ante cualquier duda, consulta con el Departamento de Administración de Riesgos.</a:t>
            </a:r>
            <a:endParaRPr lang="en-US" sz="1200" dirty="0"/>
          </a:p>
        </p:txBody>
      </p:sp>
      <p:sp>
        <p:nvSpPr>
          <p:cNvPr id="25"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JUEGO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600" b="1" dirty="0">
                <a:solidFill>
                  <a:srgbClr val="133B6C"/>
                </a:solidFill>
                <a:latin typeface="Cambria" pitchFamily="34" charset="0"/>
                <a:ea typeface="Cambria" pitchFamily="34" charset="-122"/>
                <a:cs typeface="Cambria" pitchFamily="34" charset="-120"/>
              </a:rPr>
              <a:t>¿ERROR O FRAUDE?</a:t>
            </a:r>
            <a:endParaRPr lang="en-US" sz="26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Analiza cada situación y decide.</a:t>
            </a:r>
            <a:endParaRPr lang="en-US" sz="1500" dirty="0"/>
          </a:p>
        </p:txBody>
      </p:sp>
      <p:sp>
        <p:nvSpPr>
          <p:cNvPr id="6" name="Shape 3"/>
          <p:cNvSpPr/>
          <p:nvPr/>
        </p:nvSpPr>
        <p:spPr>
          <a:xfrm>
            <a:off x="566928" y="2286000"/>
            <a:ext cx="11057839" cy="845820"/>
          </a:xfrm>
          <a:prstGeom prst="roundRect">
            <a:avLst>
              <a:gd name="adj" fmla="val 9730"/>
            </a:avLst>
          </a:prstGeom>
          <a:solidFill>
            <a:srgbClr val="F2F5F9"/>
          </a:solidFill>
          <a:ln/>
        </p:spPr>
      </p:sp>
      <p:sp>
        <p:nvSpPr>
          <p:cNvPr id="7" name="Shape 4"/>
          <p:cNvSpPr/>
          <p:nvPr/>
        </p:nvSpPr>
        <p:spPr>
          <a:xfrm>
            <a:off x="768096" y="2507742"/>
            <a:ext cx="402336" cy="402336"/>
          </a:xfrm>
          <a:prstGeom prst="ellipse">
            <a:avLst/>
          </a:prstGeom>
          <a:solidFill>
            <a:srgbClr val="1B4F91"/>
          </a:solidFill>
          <a:ln/>
        </p:spPr>
      </p:sp>
      <p:sp>
        <p:nvSpPr>
          <p:cNvPr id="8" name="Text 5"/>
          <p:cNvSpPr txBox="1"/>
          <p:nvPr/>
        </p:nvSpPr>
        <p:spPr>
          <a:xfrm>
            <a:off x="768096" y="2498598"/>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1</a:t>
            </a:r>
            <a:endParaRPr lang="en-US" sz="1496" dirty="0"/>
          </a:p>
        </p:txBody>
      </p:sp>
      <p:sp>
        <p:nvSpPr>
          <p:cNvPr id="9" name="Text 6"/>
          <p:cNvSpPr txBox="1"/>
          <p:nvPr/>
        </p:nvSpPr>
        <p:spPr>
          <a:xfrm>
            <a:off x="1344168" y="2286000"/>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1.  Un colaborador digita mal el monto de un depósito por una distracción.</a:t>
            </a:r>
            <a:endParaRPr lang="en-US" sz="1200" dirty="0"/>
          </a:p>
        </p:txBody>
      </p:sp>
      <p:sp>
        <p:nvSpPr>
          <p:cNvPr id="10" name="Shape 7"/>
          <p:cNvSpPr/>
          <p:nvPr/>
        </p:nvSpPr>
        <p:spPr>
          <a:xfrm>
            <a:off x="8744407" y="2526030"/>
            <a:ext cx="1325880" cy="365760"/>
          </a:xfrm>
          <a:prstGeom prst="roundRect">
            <a:avLst>
              <a:gd name="adj" fmla="val 50000"/>
            </a:avLst>
          </a:prstGeom>
          <a:solidFill>
            <a:srgbClr val="FFFFFF"/>
          </a:solidFill>
          <a:ln/>
        </p:spPr>
      </p:sp>
      <p:sp>
        <p:nvSpPr>
          <p:cNvPr id="11" name="Text 8"/>
          <p:cNvSpPr txBox="1"/>
          <p:nvPr/>
        </p:nvSpPr>
        <p:spPr>
          <a:xfrm>
            <a:off x="8744407" y="2526030"/>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12" name="Shape 9"/>
          <p:cNvSpPr/>
          <p:nvPr/>
        </p:nvSpPr>
        <p:spPr>
          <a:xfrm>
            <a:off x="10161727" y="2526030"/>
            <a:ext cx="1371600" cy="365760"/>
          </a:xfrm>
          <a:prstGeom prst="roundRect">
            <a:avLst>
              <a:gd name="adj" fmla="val 50000"/>
            </a:avLst>
          </a:prstGeom>
          <a:solidFill>
            <a:srgbClr val="FFFFFF"/>
          </a:solidFill>
          <a:ln/>
        </p:spPr>
      </p:sp>
      <p:sp>
        <p:nvSpPr>
          <p:cNvPr id="13" name="Text 10"/>
          <p:cNvSpPr txBox="1"/>
          <p:nvPr/>
        </p:nvSpPr>
        <p:spPr>
          <a:xfrm>
            <a:off x="10161727" y="2526030"/>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14" name="REVEAL_gq_0"/>
          <p:cNvSpPr/>
          <p:nvPr/>
        </p:nvSpPr>
        <p:spPr>
          <a:xfrm>
            <a:off x="8744407" y="2526030"/>
            <a:ext cx="1325880" cy="365760"/>
          </a:xfrm>
          <a:prstGeom prst="roundRect">
            <a:avLst>
              <a:gd name="adj" fmla="val 50000"/>
            </a:avLst>
          </a:prstGeom>
          <a:solidFill>
            <a:srgbClr val="F0AD35"/>
          </a:solidFill>
          <a:ln/>
        </p:spPr>
      </p:sp>
      <p:sp>
        <p:nvSpPr>
          <p:cNvPr id="15" name="REVEAL_gq_0_tx"/>
          <p:cNvSpPr txBox="1"/>
          <p:nvPr/>
        </p:nvSpPr>
        <p:spPr>
          <a:xfrm>
            <a:off x="8744407" y="2526030"/>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16" name="Shape 13"/>
          <p:cNvSpPr/>
          <p:nvPr/>
        </p:nvSpPr>
        <p:spPr>
          <a:xfrm>
            <a:off x="566928" y="3278124"/>
            <a:ext cx="11057839" cy="845820"/>
          </a:xfrm>
          <a:prstGeom prst="roundRect">
            <a:avLst>
              <a:gd name="adj" fmla="val 9730"/>
            </a:avLst>
          </a:prstGeom>
          <a:solidFill>
            <a:srgbClr val="F2F5F9"/>
          </a:solidFill>
          <a:ln/>
        </p:spPr>
      </p:sp>
      <p:sp>
        <p:nvSpPr>
          <p:cNvPr id="17" name="Shape 14"/>
          <p:cNvSpPr/>
          <p:nvPr/>
        </p:nvSpPr>
        <p:spPr>
          <a:xfrm>
            <a:off x="768096" y="3499866"/>
            <a:ext cx="402336" cy="402336"/>
          </a:xfrm>
          <a:prstGeom prst="ellipse">
            <a:avLst/>
          </a:prstGeom>
          <a:solidFill>
            <a:srgbClr val="1B4F91"/>
          </a:solidFill>
          <a:ln/>
        </p:spPr>
      </p:sp>
      <p:sp>
        <p:nvSpPr>
          <p:cNvPr id="18" name="Text 15"/>
          <p:cNvSpPr txBox="1"/>
          <p:nvPr/>
        </p:nvSpPr>
        <p:spPr>
          <a:xfrm>
            <a:off x="768096" y="3490722"/>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2</a:t>
            </a:r>
            <a:endParaRPr lang="en-US" sz="1496" dirty="0"/>
          </a:p>
        </p:txBody>
      </p:sp>
      <p:sp>
        <p:nvSpPr>
          <p:cNvPr id="19" name="Text 16"/>
          <p:cNvSpPr txBox="1"/>
          <p:nvPr/>
        </p:nvSpPr>
        <p:spPr>
          <a:xfrm>
            <a:off x="1344168" y="3278124"/>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2.  Un colaborador aprueba trámites usando documentación que sabe que fue alterada.</a:t>
            </a:r>
            <a:endParaRPr lang="en-US" sz="1200" dirty="0"/>
          </a:p>
        </p:txBody>
      </p:sp>
      <p:sp>
        <p:nvSpPr>
          <p:cNvPr id="20" name="Shape 17"/>
          <p:cNvSpPr/>
          <p:nvPr/>
        </p:nvSpPr>
        <p:spPr>
          <a:xfrm>
            <a:off x="8744407" y="3518154"/>
            <a:ext cx="1325880" cy="365760"/>
          </a:xfrm>
          <a:prstGeom prst="roundRect">
            <a:avLst>
              <a:gd name="adj" fmla="val 50000"/>
            </a:avLst>
          </a:prstGeom>
          <a:solidFill>
            <a:srgbClr val="FFFFFF"/>
          </a:solidFill>
          <a:ln/>
        </p:spPr>
      </p:sp>
      <p:sp>
        <p:nvSpPr>
          <p:cNvPr id="21" name="Text 18"/>
          <p:cNvSpPr txBox="1"/>
          <p:nvPr/>
        </p:nvSpPr>
        <p:spPr>
          <a:xfrm>
            <a:off x="8744407" y="3518154"/>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22" name="Shape 19"/>
          <p:cNvSpPr/>
          <p:nvPr/>
        </p:nvSpPr>
        <p:spPr>
          <a:xfrm>
            <a:off x="10161727" y="3518154"/>
            <a:ext cx="1371600" cy="365760"/>
          </a:xfrm>
          <a:prstGeom prst="roundRect">
            <a:avLst>
              <a:gd name="adj" fmla="val 50000"/>
            </a:avLst>
          </a:prstGeom>
          <a:solidFill>
            <a:srgbClr val="FFFFFF"/>
          </a:solidFill>
          <a:ln/>
        </p:spPr>
      </p:sp>
      <p:sp>
        <p:nvSpPr>
          <p:cNvPr id="23" name="Text 20"/>
          <p:cNvSpPr txBox="1"/>
          <p:nvPr/>
        </p:nvSpPr>
        <p:spPr>
          <a:xfrm>
            <a:off x="10161727" y="3518154"/>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24" name="REVEAL_gq_1"/>
          <p:cNvSpPr/>
          <p:nvPr/>
        </p:nvSpPr>
        <p:spPr>
          <a:xfrm>
            <a:off x="10161727" y="3518154"/>
            <a:ext cx="1371600" cy="365760"/>
          </a:xfrm>
          <a:prstGeom prst="roundRect">
            <a:avLst>
              <a:gd name="adj" fmla="val 50000"/>
            </a:avLst>
          </a:prstGeom>
          <a:solidFill>
            <a:srgbClr val="E0392B"/>
          </a:solidFill>
          <a:ln/>
        </p:spPr>
      </p:sp>
      <p:sp>
        <p:nvSpPr>
          <p:cNvPr id="25" name="REVEAL_gq_1_tx"/>
          <p:cNvSpPr txBox="1"/>
          <p:nvPr/>
        </p:nvSpPr>
        <p:spPr>
          <a:xfrm>
            <a:off x="10161727" y="3518154"/>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26" name="Shape 23"/>
          <p:cNvSpPr/>
          <p:nvPr/>
        </p:nvSpPr>
        <p:spPr>
          <a:xfrm>
            <a:off x="566928" y="4270248"/>
            <a:ext cx="11057839" cy="845820"/>
          </a:xfrm>
          <a:prstGeom prst="roundRect">
            <a:avLst>
              <a:gd name="adj" fmla="val 9730"/>
            </a:avLst>
          </a:prstGeom>
          <a:solidFill>
            <a:srgbClr val="F2F5F9"/>
          </a:solidFill>
          <a:ln/>
        </p:spPr>
      </p:sp>
      <p:sp>
        <p:nvSpPr>
          <p:cNvPr id="27" name="Shape 24"/>
          <p:cNvSpPr/>
          <p:nvPr/>
        </p:nvSpPr>
        <p:spPr>
          <a:xfrm>
            <a:off x="768096" y="4491990"/>
            <a:ext cx="402336" cy="402336"/>
          </a:xfrm>
          <a:prstGeom prst="ellipse">
            <a:avLst/>
          </a:prstGeom>
          <a:solidFill>
            <a:srgbClr val="1B4F91"/>
          </a:solidFill>
          <a:ln/>
        </p:spPr>
      </p:sp>
      <p:sp>
        <p:nvSpPr>
          <p:cNvPr id="28" name="Text 25"/>
          <p:cNvSpPr txBox="1"/>
          <p:nvPr/>
        </p:nvSpPr>
        <p:spPr>
          <a:xfrm>
            <a:off x="768096" y="4482846"/>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3</a:t>
            </a:r>
            <a:endParaRPr lang="en-US" sz="1496" dirty="0"/>
          </a:p>
        </p:txBody>
      </p:sp>
      <p:sp>
        <p:nvSpPr>
          <p:cNvPr id="29" name="Text 26"/>
          <p:cNvSpPr txBox="1"/>
          <p:nvPr/>
        </p:nvSpPr>
        <p:spPr>
          <a:xfrm>
            <a:off x="1344168" y="4270248"/>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3.  Un colaborador olvida adjuntar un documento por exceso de carga de trabajo.</a:t>
            </a:r>
            <a:endParaRPr lang="en-US" sz="1200" dirty="0"/>
          </a:p>
        </p:txBody>
      </p:sp>
      <p:sp>
        <p:nvSpPr>
          <p:cNvPr id="30" name="Shape 27"/>
          <p:cNvSpPr/>
          <p:nvPr/>
        </p:nvSpPr>
        <p:spPr>
          <a:xfrm>
            <a:off x="8744407" y="4510278"/>
            <a:ext cx="1325880" cy="365760"/>
          </a:xfrm>
          <a:prstGeom prst="roundRect">
            <a:avLst>
              <a:gd name="adj" fmla="val 50000"/>
            </a:avLst>
          </a:prstGeom>
          <a:solidFill>
            <a:srgbClr val="FFFFFF"/>
          </a:solidFill>
          <a:ln/>
        </p:spPr>
      </p:sp>
      <p:sp>
        <p:nvSpPr>
          <p:cNvPr id="31" name="Text 28"/>
          <p:cNvSpPr txBox="1"/>
          <p:nvPr/>
        </p:nvSpPr>
        <p:spPr>
          <a:xfrm>
            <a:off x="8744407" y="4510278"/>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32" name="Shape 29"/>
          <p:cNvSpPr/>
          <p:nvPr/>
        </p:nvSpPr>
        <p:spPr>
          <a:xfrm>
            <a:off x="10161727" y="4510278"/>
            <a:ext cx="1371600" cy="365760"/>
          </a:xfrm>
          <a:prstGeom prst="roundRect">
            <a:avLst>
              <a:gd name="adj" fmla="val 50000"/>
            </a:avLst>
          </a:prstGeom>
          <a:solidFill>
            <a:srgbClr val="FFFFFF"/>
          </a:solidFill>
          <a:ln/>
        </p:spPr>
      </p:sp>
      <p:sp>
        <p:nvSpPr>
          <p:cNvPr id="33" name="Text 30"/>
          <p:cNvSpPr txBox="1"/>
          <p:nvPr/>
        </p:nvSpPr>
        <p:spPr>
          <a:xfrm>
            <a:off x="10161727" y="4510278"/>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34" name="REVEAL_gq_2"/>
          <p:cNvSpPr/>
          <p:nvPr/>
        </p:nvSpPr>
        <p:spPr>
          <a:xfrm>
            <a:off x="8744407" y="4510278"/>
            <a:ext cx="1325880" cy="365760"/>
          </a:xfrm>
          <a:prstGeom prst="roundRect">
            <a:avLst>
              <a:gd name="adj" fmla="val 50000"/>
            </a:avLst>
          </a:prstGeom>
          <a:solidFill>
            <a:srgbClr val="F0AD35"/>
          </a:solidFill>
          <a:ln/>
        </p:spPr>
      </p:sp>
      <p:sp>
        <p:nvSpPr>
          <p:cNvPr id="35" name="REVEAL_gq_2_tx"/>
          <p:cNvSpPr txBox="1"/>
          <p:nvPr/>
        </p:nvSpPr>
        <p:spPr>
          <a:xfrm>
            <a:off x="8744407" y="4510278"/>
            <a:ext cx="13258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ERROR</a:t>
            </a:r>
            <a:endParaRPr lang="en-US" sz="1050" dirty="0"/>
          </a:p>
        </p:txBody>
      </p:sp>
      <p:sp>
        <p:nvSpPr>
          <p:cNvPr id="36" name="Shape 33"/>
          <p:cNvSpPr/>
          <p:nvPr/>
        </p:nvSpPr>
        <p:spPr>
          <a:xfrm>
            <a:off x="566928" y="5262372"/>
            <a:ext cx="11057839" cy="845820"/>
          </a:xfrm>
          <a:prstGeom prst="roundRect">
            <a:avLst>
              <a:gd name="adj" fmla="val 9730"/>
            </a:avLst>
          </a:prstGeom>
          <a:solidFill>
            <a:srgbClr val="F2F5F9"/>
          </a:solidFill>
          <a:ln/>
        </p:spPr>
      </p:sp>
      <p:sp>
        <p:nvSpPr>
          <p:cNvPr id="37" name="Shape 34"/>
          <p:cNvSpPr/>
          <p:nvPr/>
        </p:nvSpPr>
        <p:spPr>
          <a:xfrm>
            <a:off x="768096" y="5484114"/>
            <a:ext cx="402336" cy="402336"/>
          </a:xfrm>
          <a:prstGeom prst="ellipse">
            <a:avLst/>
          </a:prstGeom>
          <a:solidFill>
            <a:srgbClr val="1B4F91"/>
          </a:solidFill>
          <a:ln/>
        </p:spPr>
      </p:sp>
      <p:sp>
        <p:nvSpPr>
          <p:cNvPr id="38" name="Text 35"/>
          <p:cNvSpPr txBox="1"/>
          <p:nvPr/>
        </p:nvSpPr>
        <p:spPr>
          <a:xfrm>
            <a:off x="768096" y="547497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mbria" pitchFamily="34" charset="0"/>
                <a:ea typeface="Cambria" pitchFamily="34" charset="-122"/>
                <a:cs typeface="Cambria" pitchFamily="34" charset="-120"/>
              </a:rPr>
              <a:t>4</a:t>
            </a:r>
            <a:endParaRPr lang="en-US" sz="1496" dirty="0"/>
          </a:p>
        </p:txBody>
      </p:sp>
      <p:sp>
        <p:nvSpPr>
          <p:cNvPr id="39" name="Text 36"/>
          <p:cNvSpPr txBox="1"/>
          <p:nvPr/>
        </p:nvSpPr>
        <p:spPr>
          <a:xfrm>
            <a:off x="1344168" y="5262372"/>
            <a:ext cx="7765999" cy="845820"/>
          </a:xfrm>
          <a:prstGeom prst="rect">
            <a:avLst/>
          </a:prstGeom>
          <a:noFill/>
          <a:ln/>
        </p:spPr>
        <p:txBody>
          <a:bodyPr wrap="square" lIns="0" tIns="0" rIns="0" bIns="0" rtlCol="0" anchor="ctr"/>
          <a:lstStyle/>
          <a:p>
            <a:pPr indent="0" marL="0">
              <a:lnSpc>
                <a:spcPct val="102000"/>
              </a:lnSpc>
              <a:buNone/>
            </a:pPr>
            <a:r>
              <a:rPr lang="en-US" sz="1200" dirty="0">
                <a:solidFill>
                  <a:srgbClr val="243044"/>
                </a:solidFill>
                <a:latin typeface="Calibri" pitchFamily="34" charset="0"/>
                <a:ea typeface="Calibri" pitchFamily="34" charset="-122"/>
                <a:cs typeface="Calibri" pitchFamily="34" charset="-120"/>
              </a:rPr>
              <a:t>4.  Un colaborador oculta una diferencia de efectivo alterando un registro a propósito.</a:t>
            </a:r>
            <a:endParaRPr lang="en-US" sz="1200" dirty="0"/>
          </a:p>
        </p:txBody>
      </p:sp>
      <p:sp>
        <p:nvSpPr>
          <p:cNvPr id="40" name="Shape 37"/>
          <p:cNvSpPr/>
          <p:nvPr/>
        </p:nvSpPr>
        <p:spPr>
          <a:xfrm>
            <a:off x="8744407" y="5502402"/>
            <a:ext cx="1325880" cy="365760"/>
          </a:xfrm>
          <a:prstGeom prst="roundRect">
            <a:avLst>
              <a:gd name="adj" fmla="val 50000"/>
            </a:avLst>
          </a:prstGeom>
          <a:solidFill>
            <a:srgbClr val="FFFFFF"/>
          </a:solidFill>
          <a:ln/>
        </p:spPr>
      </p:sp>
      <p:sp>
        <p:nvSpPr>
          <p:cNvPr id="41" name="Text 38"/>
          <p:cNvSpPr txBox="1"/>
          <p:nvPr/>
        </p:nvSpPr>
        <p:spPr>
          <a:xfrm>
            <a:off x="8744407" y="5502402"/>
            <a:ext cx="132588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ERROR</a:t>
            </a:r>
            <a:endParaRPr lang="en-US" sz="1050" dirty="0"/>
          </a:p>
        </p:txBody>
      </p:sp>
      <p:sp>
        <p:nvSpPr>
          <p:cNvPr id="42" name="Shape 39"/>
          <p:cNvSpPr/>
          <p:nvPr/>
        </p:nvSpPr>
        <p:spPr>
          <a:xfrm>
            <a:off x="10161727" y="5502402"/>
            <a:ext cx="1371600" cy="365760"/>
          </a:xfrm>
          <a:prstGeom prst="roundRect">
            <a:avLst>
              <a:gd name="adj" fmla="val 50000"/>
            </a:avLst>
          </a:prstGeom>
          <a:solidFill>
            <a:srgbClr val="FFFFFF"/>
          </a:solidFill>
          <a:ln/>
        </p:spPr>
      </p:sp>
      <p:sp>
        <p:nvSpPr>
          <p:cNvPr id="43" name="Text 40"/>
          <p:cNvSpPr txBox="1"/>
          <p:nvPr/>
        </p:nvSpPr>
        <p:spPr>
          <a:xfrm>
            <a:off x="10161727" y="5502402"/>
            <a:ext cx="1371600" cy="365760"/>
          </a:xfrm>
          <a:prstGeom prst="rect">
            <a:avLst/>
          </a:prstGeom>
          <a:noFill/>
          <a:ln/>
        </p:spPr>
        <p:txBody>
          <a:bodyPr wrap="square" lIns="0" tIns="0" rIns="0" bIns="0" rtlCol="0" anchor="ctr"/>
          <a:lstStyle/>
          <a:p>
            <a:pPr algn="ctr" indent="0" marL="0">
              <a:buNone/>
            </a:pPr>
            <a:r>
              <a:rPr lang="en-US" sz="1050" b="1" dirty="0">
                <a:solidFill>
                  <a:srgbClr val="8FA0B5"/>
                </a:solidFill>
                <a:latin typeface="Calibri" pitchFamily="34" charset="0"/>
                <a:ea typeface="Calibri" pitchFamily="34" charset="-122"/>
                <a:cs typeface="Calibri" pitchFamily="34" charset="-120"/>
              </a:rPr>
              <a:t>FRAUDE</a:t>
            </a:r>
            <a:endParaRPr lang="en-US" sz="1050" dirty="0"/>
          </a:p>
        </p:txBody>
      </p:sp>
      <p:sp>
        <p:nvSpPr>
          <p:cNvPr id="44" name="REVEAL_gq_3"/>
          <p:cNvSpPr/>
          <p:nvPr/>
        </p:nvSpPr>
        <p:spPr>
          <a:xfrm>
            <a:off x="10161727" y="5502402"/>
            <a:ext cx="1371600" cy="365760"/>
          </a:xfrm>
          <a:prstGeom prst="roundRect">
            <a:avLst>
              <a:gd name="adj" fmla="val 50000"/>
            </a:avLst>
          </a:prstGeom>
          <a:solidFill>
            <a:srgbClr val="E0392B"/>
          </a:solidFill>
          <a:ln/>
        </p:spPr>
      </p:sp>
      <p:sp>
        <p:nvSpPr>
          <p:cNvPr id="45" name="REVEAL_gq_3_tx"/>
          <p:cNvSpPr txBox="1"/>
          <p:nvPr/>
        </p:nvSpPr>
        <p:spPr>
          <a:xfrm>
            <a:off x="10161727" y="5502402"/>
            <a:ext cx="13716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FRAUDE</a:t>
            </a:r>
            <a:endParaRPr lang="en-US" sz="1050" dirty="0"/>
          </a:p>
        </p:txBody>
      </p:sp>
      <p:sp>
        <p:nvSpPr>
          <p:cNvPr id="46" name="Text 43"/>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7" name="Text 44"/>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set>
                                      <p:cBhvr>
                                        <p:cTn id="7" dur="1" fill="hold">
                                          <p:stCondLst>
                                            <p:cond delay="0"/>
                                          </p:stCondLst>
                                        </p:cTn>
                                        <p:tgtEl>
                                          <p:spTgt spid="15"/>
                                        </p:tgtEl>
                                        <p:attrNameLst>
                                          <p:attrName>style.visibility</p:attrName>
                                        </p:attrNameLst>
                                      </p:cBhvr>
                                      <p:to>
                                        <p:strVal val="visible"/>
                                      </p:to>
                                    </p:set>
                                    <p:set>
                                      <p:cBhvr>
                                        <p:cTn id="8" dur="1" fill="hold">
                                          <p:stCondLst>
                                            <p:cond delay="0"/>
                                          </p:stCondLst>
                                        </p:cTn>
                                        <p:tgtEl>
                                          <p:spTgt spid="24"/>
                                        </p:tgtEl>
                                        <p:attrNameLst>
                                          <p:attrName>style.visibility</p:attrName>
                                        </p:attrNameLst>
                                      </p:cBhvr>
                                      <p:to>
                                        <p:strVal val="visible"/>
                                      </p:to>
                                    </p:set>
                                    <p:set>
                                      <p:cBhvr>
                                        <p:cTn id="9" dur="1" fill="hold">
                                          <p:stCondLst>
                                            <p:cond delay="0"/>
                                          </p:stCondLst>
                                        </p:cTn>
                                        <p:tgtEl>
                                          <p:spTgt spid="25"/>
                                        </p:tgtEl>
                                        <p:attrNameLst>
                                          <p:attrName>style.visibility</p:attrName>
                                        </p:attrNameLst>
                                      </p:cBhvr>
                                      <p:to>
                                        <p:strVal val="visible"/>
                                      </p:to>
                                    </p:set>
                                    <p:set>
                                      <p:cBhvr>
                                        <p:cTn id="10" dur="1" fill="hold">
                                          <p:stCondLst>
                                            <p:cond delay="0"/>
                                          </p:stCondLst>
                                        </p:cTn>
                                        <p:tgtEl>
                                          <p:spTgt spid="34"/>
                                        </p:tgtEl>
                                        <p:attrNameLst>
                                          <p:attrName>style.visibility</p:attrName>
                                        </p:attrNameLst>
                                      </p:cBhvr>
                                      <p:to>
                                        <p:strVal val="visible"/>
                                      </p:to>
                                    </p:set>
                                    <p:set>
                                      <p:cBhvr>
                                        <p:cTn id="11" dur="1" fill="hold">
                                          <p:stCondLst>
                                            <p:cond delay="0"/>
                                          </p:stCondLst>
                                        </p:cTn>
                                        <p:tgtEl>
                                          <p:spTgt spid="35"/>
                                        </p:tgtEl>
                                        <p:attrNameLst>
                                          <p:attrName>style.visibility</p:attrName>
                                        </p:attrNameLst>
                                      </p:cBhvr>
                                      <p:to>
                                        <p:strVal val="visible"/>
                                      </p:to>
                                    </p:set>
                                    <p:set>
                                      <p:cBhvr>
                                        <p:cTn id="12" dur="1" fill="hold">
                                          <p:stCondLst>
                                            <p:cond delay="0"/>
                                          </p:stCondLst>
                                        </p:cTn>
                                        <p:tgtEl>
                                          <p:spTgt spid="44"/>
                                        </p:tgtEl>
                                        <p:attrNameLst>
                                          <p:attrName>style.visibility</p:attrName>
                                        </p:attrNameLst>
                                      </p:cBhvr>
                                      <p:to>
                                        <p:strVal val="visible"/>
                                      </p:to>
                                    </p:set>
                                    <p:set>
                                      <p:cBhvr>
                                        <p:cTn id="13"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24" grpId="0"/>
      <p:bldP spid="25" grpId="0"/>
      <p:bldP spid="34" grpId="0"/>
      <p:bldP spid="35" grpId="0"/>
      <p:bldP spid="44" grpId="0"/>
      <p:bldP spid="45"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TEMA 5 · PREVENCIÓN</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SEÑALES DE ALERTA Y QUÉ PUEDO HACER</a:t>
            </a:r>
            <a:endParaRPr lang="en-US" sz="2800" dirty="0"/>
          </a:p>
        </p:txBody>
      </p:sp>
      <p:sp>
        <p:nvSpPr>
          <p:cNvPr id="5" name="Shape 2"/>
          <p:cNvSpPr/>
          <p:nvPr/>
        </p:nvSpPr>
        <p:spPr>
          <a:xfrm>
            <a:off x="566928" y="2825496"/>
            <a:ext cx="2545004" cy="2286000"/>
          </a:xfrm>
          <a:prstGeom prst="roundRect">
            <a:avLst>
              <a:gd name="adj" fmla="val 4000"/>
            </a:avLst>
          </a:prstGeom>
          <a:solidFill>
            <a:srgbClr val="F2F5F9"/>
          </a:solidFill>
          <a:ln/>
        </p:spPr>
      </p:sp>
      <p:sp>
        <p:nvSpPr>
          <p:cNvPr id="6" name="Shape 3"/>
          <p:cNvSpPr/>
          <p:nvPr/>
        </p:nvSpPr>
        <p:spPr>
          <a:xfrm>
            <a:off x="1555966" y="2990088"/>
            <a:ext cx="566928" cy="566928"/>
          </a:xfrm>
          <a:prstGeom prst="ellipse">
            <a:avLst/>
          </a:prstGeom>
          <a:solidFill>
            <a:srgbClr val="E0392B"/>
          </a:solidFill>
          <a:ln/>
        </p:spPr>
      </p:sp>
      <p:pic>
        <p:nvPicPr>
          <p:cNvPr id="7" name="Image 0" descr="/tmp/claude-0/-home-user-riesgo/0ff9ff46-1396-5bd8-b3ac-2280dfbbbc55/scratchpad/work/gen/icons/eye_slash_white.png">    </p:cNvPr>
          <p:cNvPicPr>
            <a:picLocks noChangeAspect="1"/>
          </p:cNvPicPr>
          <p:nvPr/>
        </p:nvPicPr>
        <p:blipFill>
          <a:blip r:embed="rId1"/>
          <a:stretch>
            <a:fillRect/>
          </a:stretch>
        </p:blipFill>
        <p:spPr>
          <a:xfrm>
            <a:off x="1692029" y="3126151"/>
            <a:ext cx="294803" cy="294803"/>
          </a:xfrm>
          <a:prstGeom prst="rect">
            <a:avLst/>
          </a:prstGeom>
        </p:spPr>
      </p:pic>
      <p:sp>
        <p:nvSpPr>
          <p:cNvPr id="8" name="Text 4"/>
          <p:cNvSpPr txBox="1"/>
          <p:nvPr/>
        </p:nvSpPr>
        <p:spPr>
          <a:xfrm>
            <a:off x="676656"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9" name="Text 5"/>
          <p:cNvSpPr txBox="1"/>
          <p:nvPr/>
        </p:nvSpPr>
        <p:spPr>
          <a:xfrm>
            <a:off x="731520"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Negativa a documentar o mostrar un proceso</a:t>
            </a:r>
            <a:endParaRPr lang="en-US" sz="1100" dirty="0"/>
          </a:p>
        </p:txBody>
      </p:sp>
      <p:sp>
        <p:nvSpPr>
          <p:cNvPr id="10" name="Shape 6"/>
          <p:cNvSpPr/>
          <p:nvPr/>
        </p:nvSpPr>
        <p:spPr>
          <a:xfrm>
            <a:off x="3404540" y="2825496"/>
            <a:ext cx="2545004" cy="2286000"/>
          </a:xfrm>
          <a:prstGeom prst="roundRect">
            <a:avLst>
              <a:gd name="adj" fmla="val 4000"/>
            </a:avLst>
          </a:prstGeom>
          <a:solidFill>
            <a:srgbClr val="F2F5F9"/>
          </a:solidFill>
          <a:ln/>
        </p:spPr>
      </p:sp>
      <p:sp>
        <p:nvSpPr>
          <p:cNvPr id="11" name="Shape 7"/>
          <p:cNvSpPr/>
          <p:nvPr/>
        </p:nvSpPr>
        <p:spPr>
          <a:xfrm>
            <a:off x="4393578" y="2990088"/>
            <a:ext cx="566928" cy="566928"/>
          </a:xfrm>
          <a:prstGeom prst="ellipse">
            <a:avLst/>
          </a:prstGeom>
          <a:solidFill>
            <a:srgbClr val="E0392B"/>
          </a:solidFill>
          <a:ln/>
        </p:spPr>
      </p:sp>
      <p:pic>
        <p:nvPicPr>
          <p:cNvPr id="12" name="Image 1" descr="/tmp/claude-0/-home-user-riesgo/0ff9ff46-1396-5bd8-b3ac-2280dfbbbc55/scratchpad/work/gen/icons/warning_triangle_white.png">    </p:cNvPr>
          <p:cNvPicPr>
            <a:picLocks noChangeAspect="1"/>
          </p:cNvPicPr>
          <p:nvPr/>
        </p:nvPicPr>
        <p:blipFill>
          <a:blip r:embed="rId2"/>
          <a:stretch>
            <a:fillRect/>
          </a:stretch>
        </p:blipFill>
        <p:spPr>
          <a:xfrm>
            <a:off x="4529640" y="3126151"/>
            <a:ext cx="294803" cy="294803"/>
          </a:xfrm>
          <a:prstGeom prst="rect">
            <a:avLst/>
          </a:prstGeom>
        </p:spPr>
      </p:pic>
      <p:sp>
        <p:nvSpPr>
          <p:cNvPr id="13" name="Text 8"/>
          <p:cNvSpPr txBox="1"/>
          <p:nvPr/>
        </p:nvSpPr>
        <p:spPr>
          <a:xfrm>
            <a:off x="3514268"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Alerta</a:t>
            </a:r>
            <a:endParaRPr lang="en-US" sz="1250" dirty="0"/>
          </a:p>
        </p:txBody>
      </p:sp>
      <p:sp>
        <p:nvSpPr>
          <p:cNvPr id="14" name="Text 9"/>
          <p:cNvSpPr txBox="1"/>
          <p:nvPr/>
        </p:nvSpPr>
        <p:spPr>
          <a:xfrm>
            <a:off x="3569132"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Presión inusual por aprobar algo muy rápido</a:t>
            </a:r>
            <a:endParaRPr lang="en-US" sz="1100" dirty="0"/>
          </a:p>
        </p:txBody>
      </p:sp>
      <p:sp>
        <p:nvSpPr>
          <p:cNvPr id="15" name="Shape 10"/>
          <p:cNvSpPr/>
          <p:nvPr/>
        </p:nvSpPr>
        <p:spPr>
          <a:xfrm>
            <a:off x="6242152" y="2825496"/>
            <a:ext cx="2545004" cy="2286000"/>
          </a:xfrm>
          <a:prstGeom prst="roundRect">
            <a:avLst>
              <a:gd name="adj" fmla="val 4000"/>
            </a:avLst>
          </a:prstGeom>
          <a:solidFill>
            <a:srgbClr val="F2F5F9"/>
          </a:solidFill>
          <a:ln/>
        </p:spPr>
      </p:sp>
      <p:sp>
        <p:nvSpPr>
          <p:cNvPr id="16" name="Shape 11"/>
          <p:cNvSpPr/>
          <p:nvPr/>
        </p:nvSpPr>
        <p:spPr>
          <a:xfrm>
            <a:off x="7231189" y="2990088"/>
            <a:ext cx="566928" cy="566928"/>
          </a:xfrm>
          <a:prstGeom prst="ellipse">
            <a:avLst/>
          </a:prstGeom>
          <a:solidFill>
            <a:srgbClr val="2FAE60"/>
          </a:solidFill>
          <a:ln/>
        </p:spPr>
      </p:sp>
      <p:pic>
        <p:nvPicPr>
          <p:cNvPr id="17" name="Image 2" descr="/tmp/claude-0/-home-user-riesgo/0ff9ff46-1396-5bd8-b3ac-2280dfbbbc55/scratchpad/work/gen/icons/form_white.png">    </p:cNvPr>
          <p:cNvPicPr>
            <a:picLocks noChangeAspect="1"/>
          </p:cNvPicPr>
          <p:nvPr/>
        </p:nvPicPr>
        <p:blipFill>
          <a:blip r:embed="rId3"/>
          <a:stretch>
            <a:fillRect/>
          </a:stretch>
        </p:blipFill>
        <p:spPr>
          <a:xfrm>
            <a:off x="7367252" y="3126151"/>
            <a:ext cx="294803" cy="294803"/>
          </a:xfrm>
          <a:prstGeom prst="rect">
            <a:avLst/>
          </a:prstGeom>
        </p:spPr>
      </p:pic>
      <p:sp>
        <p:nvSpPr>
          <p:cNvPr id="18" name="Text 12"/>
          <p:cNvSpPr txBox="1"/>
          <p:nvPr/>
        </p:nvSpPr>
        <p:spPr>
          <a:xfrm>
            <a:off x="6351880"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19" name="Text 13"/>
          <p:cNvSpPr txBox="1"/>
          <p:nvPr/>
        </p:nvSpPr>
        <p:spPr>
          <a:xfrm>
            <a:off x="6406744"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Documenta lo que observas con hechos, no suposiciones</a:t>
            </a:r>
            <a:endParaRPr lang="en-US" sz="1100" dirty="0"/>
          </a:p>
        </p:txBody>
      </p:sp>
      <p:sp>
        <p:nvSpPr>
          <p:cNvPr id="20" name="Shape 14"/>
          <p:cNvSpPr/>
          <p:nvPr/>
        </p:nvSpPr>
        <p:spPr>
          <a:xfrm>
            <a:off x="9079763" y="2825496"/>
            <a:ext cx="2545004" cy="2286000"/>
          </a:xfrm>
          <a:prstGeom prst="roundRect">
            <a:avLst>
              <a:gd name="adj" fmla="val 4000"/>
            </a:avLst>
          </a:prstGeom>
          <a:solidFill>
            <a:srgbClr val="F2F5F9"/>
          </a:solidFill>
          <a:ln/>
        </p:spPr>
      </p:sp>
      <p:sp>
        <p:nvSpPr>
          <p:cNvPr id="21" name="Shape 15"/>
          <p:cNvSpPr/>
          <p:nvPr/>
        </p:nvSpPr>
        <p:spPr>
          <a:xfrm>
            <a:off x="10068801" y="2990088"/>
            <a:ext cx="566928" cy="566928"/>
          </a:xfrm>
          <a:prstGeom prst="ellipse">
            <a:avLst/>
          </a:prstGeom>
          <a:solidFill>
            <a:srgbClr val="2FAE60"/>
          </a:solidFill>
          <a:ln/>
        </p:spPr>
      </p:sp>
      <p:pic>
        <p:nvPicPr>
          <p:cNvPr id="22" name="Image 3" descr="/tmp/claude-0/-home-user-riesgo/0ff9ff46-1396-5bd8-b3ac-2280dfbbbc55/scratchpad/work/gen/icons/megaphone_white.png">    </p:cNvPr>
          <p:cNvPicPr>
            <a:picLocks noChangeAspect="1"/>
          </p:cNvPicPr>
          <p:nvPr/>
        </p:nvPicPr>
        <p:blipFill>
          <a:blip r:embed="rId4"/>
          <a:stretch>
            <a:fillRect/>
          </a:stretch>
        </p:blipFill>
        <p:spPr>
          <a:xfrm>
            <a:off x="10204864" y="3126151"/>
            <a:ext cx="294803" cy="294803"/>
          </a:xfrm>
          <a:prstGeom prst="rect">
            <a:avLst/>
          </a:prstGeom>
        </p:spPr>
      </p:pic>
      <p:sp>
        <p:nvSpPr>
          <p:cNvPr id="23" name="Text 16"/>
          <p:cNvSpPr txBox="1"/>
          <p:nvPr/>
        </p:nvSpPr>
        <p:spPr>
          <a:xfrm>
            <a:off x="9189491" y="3703320"/>
            <a:ext cx="2325548" cy="457200"/>
          </a:xfrm>
          <a:prstGeom prst="rect">
            <a:avLst/>
          </a:prstGeom>
          <a:noFill/>
          <a:ln/>
        </p:spPr>
        <p:txBody>
          <a:bodyPr wrap="square" lIns="0" tIns="0" rIns="0" bIns="0" rtlCol="0" anchor="t"/>
          <a:lstStyle/>
          <a:p>
            <a:pPr algn="ctr" indent="0" marL="0">
              <a:lnSpc>
                <a:spcPct val="98000"/>
              </a:lnSpc>
              <a:buNone/>
            </a:pPr>
            <a:r>
              <a:rPr lang="en-US" sz="1250" b="1" dirty="0">
                <a:solidFill>
                  <a:srgbClr val="133B6C"/>
                </a:solidFill>
                <a:latin typeface="Calibri" pitchFamily="34" charset="0"/>
                <a:ea typeface="Calibri" pitchFamily="34" charset="-122"/>
                <a:cs typeface="Calibri" pitchFamily="34" charset="-120"/>
              </a:rPr>
              <a:t>Actúa</a:t>
            </a:r>
            <a:endParaRPr lang="en-US" sz="1250" dirty="0"/>
          </a:p>
        </p:txBody>
      </p:sp>
      <p:sp>
        <p:nvSpPr>
          <p:cNvPr id="24" name="Text 17"/>
          <p:cNvSpPr txBox="1"/>
          <p:nvPr/>
        </p:nvSpPr>
        <p:spPr>
          <a:xfrm>
            <a:off x="9244355" y="4215384"/>
            <a:ext cx="221582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Repórtalo por el canal institucional; nunca lo encubras</a:t>
            </a:r>
            <a:endParaRPr lang="en-US" sz="1100" dirty="0"/>
          </a:p>
        </p:txBody>
      </p:sp>
      <p:sp>
        <p:nvSpPr>
          <p:cNvPr id="25" name="Text 1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6" name="Text 1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2E8F3"/>
                </a:solidFill>
                <a:latin typeface="Cambria" pitchFamily="34" charset="0"/>
                <a:ea typeface="Cambria" pitchFamily="34" charset="-122"/>
                <a:cs typeface="Cambria" pitchFamily="34" charset="-120"/>
              </a:rPr>
              <a:t>06</a:t>
            </a:r>
            <a:endParaRPr lang="en-US" sz="26000" dirty="0"/>
          </a:p>
        </p:txBody>
      </p:sp>
      <p:sp>
        <p:nvSpPr>
          <p:cNvPr id="4" name="Shape 1"/>
          <p:cNvSpPr/>
          <p:nvPr/>
        </p:nvSpPr>
        <p:spPr>
          <a:xfrm>
            <a:off x="10104120" y="-685800"/>
            <a:ext cx="2743200" cy="2743200"/>
          </a:xfrm>
          <a:prstGeom prst="ellipse">
            <a:avLst/>
          </a:prstGeom>
          <a:solidFill>
            <a:srgbClr val="8CA6D0"/>
          </a:solidFill>
          <a:ln/>
        </p:spPr>
      </p:sp>
      <p:sp>
        <p:nvSpPr>
          <p:cNvPr id="5" name="Shape 2"/>
          <p:cNvSpPr/>
          <p:nvPr/>
        </p:nvSpPr>
        <p:spPr>
          <a:xfrm>
            <a:off x="8001000" y="502920"/>
            <a:ext cx="3657600" cy="5806440"/>
          </a:xfrm>
          <a:prstGeom prst="roundRect">
            <a:avLst>
              <a:gd name="adj" fmla="val 11250"/>
            </a:avLst>
          </a:prstGeom>
          <a:solidFill>
            <a:srgbClr val="2E5EAA"/>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bank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coins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2E5EAA"/>
                </a:solidFill>
                <a:latin typeface="Calibri" pitchFamily="34" charset="0"/>
                <a:ea typeface="Calibri" pitchFamily="34" charset="-122"/>
                <a:cs typeface="Calibri" pitchFamily="34" charset="-120"/>
              </a:rPr>
              <a:t>TEMA 6</a:t>
            </a:r>
            <a:endParaRPr lang="en-US" sz="1500" dirty="0"/>
          </a:p>
        </p:txBody>
      </p:sp>
      <p:sp>
        <p:nvSpPr>
          <p:cNvPr id="11" name="Text 6"/>
          <p:cNvSpPr txBox="1"/>
          <p:nvPr/>
        </p:nvSpPr>
        <p:spPr>
          <a:xfrm>
            <a:off x="566928" y="2697480"/>
            <a:ext cx="7223760" cy="1737360"/>
          </a:xfrm>
          <a:prstGeom prst="rect">
            <a:avLst/>
          </a:prstGeom>
          <a:noFill/>
          <a:ln/>
        </p:spPr>
        <p:txBody>
          <a:bodyPr wrap="square" lIns="0" tIns="0" rIns="0" bIns="0" rtlCol="0" anchor="t"/>
          <a:lstStyle/>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EL RIESGO CREDITICIO NO ES SOLO</a:t>
            </a:r>
            <a:endParaRPr lang="en-US" sz="2500" dirty="0"/>
          </a:p>
          <a:p>
            <a:pPr indent="0" marL="0">
              <a:lnSpc>
                <a:spcPct val="105000"/>
              </a:lnSpc>
              <a:buNone/>
            </a:pPr>
            <a:r>
              <a:rPr lang="en-US" sz="2500" b="1" dirty="0">
                <a:solidFill>
                  <a:srgbClr val="133B6C"/>
                </a:solidFill>
                <a:latin typeface="Cambria" pitchFamily="34" charset="0"/>
                <a:ea typeface="Cambria" pitchFamily="34" charset="-122"/>
                <a:cs typeface="Cambria" pitchFamily="34" charset="-120"/>
              </a:rPr>
              <a:t>RESPONSABILIDAD DE CRÉDITOS</a:t>
            </a:r>
            <a:endParaRPr lang="en-US" sz="2500" dirty="0"/>
          </a:p>
        </p:txBody>
      </p:sp>
      <p:sp>
        <p:nvSpPr>
          <p:cNvPr id="12" name="Text 7"/>
          <p:cNvSpPr txBox="1"/>
          <p:nvPr/>
        </p:nvSpPr>
        <p:spPr>
          <a:xfrm>
            <a:off x="566928" y="44348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El crédito es un proceso. El riesgo puede aparecer en cualquier etapa.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PROCESO DE CRÉDITO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700" b="1" dirty="0">
                <a:solidFill>
                  <a:srgbClr val="133B6C"/>
                </a:solidFill>
                <a:latin typeface="Cambria" pitchFamily="34" charset="0"/>
                <a:ea typeface="Cambria" pitchFamily="34" charset="-122"/>
                <a:cs typeface="Cambria" pitchFamily="34" charset="-120"/>
              </a:rPr>
              <a:t>UN PROCESO, VARIAS ETAPAS</a:t>
            </a:r>
            <a:endParaRPr lang="en-US" sz="2700" dirty="0"/>
          </a:p>
        </p:txBody>
      </p:sp>
      <p:sp>
        <p:nvSpPr>
          <p:cNvPr id="5" name="Shape 2"/>
          <p:cNvSpPr/>
          <p:nvPr/>
        </p:nvSpPr>
        <p:spPr>
          <a:xfrm>
            <a:off x="1514818" y="2112264"/>
            <a:ext cx="868680" cy="868680"/>
          </a:xfrm>
          <a:prstGeom prst="ellipse">
            <a:avLst/>
          </a:prstGeom>
          <a:solidFill>
            <a:srgbClr val="2E5EAA"/>
          </a:solidFill>
          <a:ln/>
        </p:spPr>
      </p:sp>
      <p:pic>
        <p:nvPicPr>
          <p:cNvPr id="6" name="Image 0" descr="/tmp/claude-0/-home-user-riesgo/0ff9ff46-1396-5bd8-b3ac-2280dfbbbc55/scratchpad/work/gen/icons/form_white.png">    </p:cNvPr>
          <p:cNvPicPr>
            <a:picLocks noChangeAspect="1"/>
          </p:cNvPicPr>
          <p:nvPr/>
        </p:nvPicPr>
        <p:blipFill>
          <a:blip r:embed="rId1"/>
          <a:stretch>
            <a:fillRect/>
          </a:stretch>
        </p:blipFill>
        <p:spPr>
          <a:xfrm>
            <a:off x="1731988" y="2329434"/>
            <a:ext cx="434340" cy="434340"/>
          </a:xfrm>
          <a:prstGeom prst="rect">
            <a:avLst/>
          </a:prstGeom>
        </p:spPr>
      </p:pic>
      <p:sp>
        <p:nvSpPr>
          <p:cNvPr id="7" name="Text 3"/>
          <p:cNvSpPr txBox="1"/>
          <p:nvPr/>
        </p:nvSpPr>
        <p:spPr>
          <a:xfrm>
            <a:off x="62179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1. Solicitud</a:t>
            </a:r>
            <a:endParaRPr lang="en-US" sz="1300" dirty="0"/>
          </a:p>
        </p:txBody>
      </p:sp>
      <p:pic>
        <p:nvPicPr>
          <p:cNvPr id="8" name="Image 1" descr="/tmp/claude-0/-home-user-riesgo/0ff9ff46-1396-5bd8-b3ac-2280dfbbbc55/scratchpad/work/gen/icons/arrow_right_gray.png">    </p:cNvPr>
          <p:cNvPicPr>
            <a:picLocks noChangeAspect="1"/>
          </p:cNvPicPr>
          <p:nvPr/>
        </p:nvPicPr>
        <p:blipFill>
          <a:blip r:embed="rId2"/>
          <a:stretch>
            <a:fillRect/>
          </a:stretch>
        </p:blipFill>
        <p:spPr>
          <a:xfrm>
            <a:off x="3185084" y="2400300"/>
            <a:ext cx="292608" cy="292608"/>
          </a:xfrm>
          <a:prstGeom prst="rect">
            <a:avLst/>
          </a:prstGeom>
        </p:spPr>
      </p:pic>
      <p:sp>
        <p:nvSpPr>
          <p:cNvPr id="9" name="Shape 4"/>
          <p:cNvSpPr/>
          <p:nvPr/>
        </p:nvSpPr>
        <p:spPr>
          <a:xfrm>
            <a:off x="4279278" y="2112264"/>
            <a:ext cx="868680" cy="868680"/>
          </a:xfrm>
          <a:prstGeom prst="ellipse">
            <a:avLst/>
          </a:prstGeom>
          <a:solidFill>
            <a:srgbClr val="2E5EAA"/>
          </a:solidFill>
          <a:ln/>
        </p:spPr>
      </p:sp>
      <p:pic>
        <p:nvPicPr>
          <p:cNvPr id="10" name="Image 2" descr="/tmp/claude-0/-home-user-riesgo/0ff9ff46-1396-5bd8-b3ac-2280dfbbbc55/scratchpad/work/gen/icons/document_white.png">    </p:cNvPr>
          <p:cNvPicPr>
            <a:picLocks noChangeAspect="1"/>
          </p:cNvPicPr>
          <p:nvPr/>
        </p:nvPicPr>
        <p:blipFill>
          <a:blip r:embed="rId3"/>
          <a:stretch>
            <a:fillRect/>
          </a:stretch>
        </p:blipFill>
        <p:spPr>
          <a:xfrm>
            <a:off x="4496448" y="2329434"/>
            <a:ext cx="434340" cy="434340"/>
          </a:xfrm>
          <a:prstGeom prst="rect">
            <a:avLst/>
          </a:prstGeom>
        </p:spPr>
      </p:pic>
      <p:sp>
        <p:nvSpPr>
          <p:cNvPr id="11" name="Text 5"/>
          <p:cNvSpPr txBox="1"/>
          <p:nvPr/>
        </p:nvSpPr>
        <p:spPr>
          <a:xfrm>
            <a:off x="338625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2. Información</a:t>
            </a:r>
            <a:endParaRPr lang="en-US" sz="1300" dirty="0"/>
          </a:p>
        </p:txBody>
      </p:sp>
      <p:pic>
        <p:nvPicPr>
          <p:cNvPr id="12" name="Image 3" descr="/tmp/claude-0/-home-user-riesgo/0ff9ff46-1396-5bd8-b3ac-2280dfbbbc55/scratchpad/work/gen/icons/arrow_right_gray.png">    </p:cNvPr>
          <p:cNvPicPr>
            <a:picLocks noChangeAspect="1"/>
          </p:cNvPicPr>
          <p:nvPr/>
        </p:nvPicPr>
        <p:blipFill>
          <a:blip r:embed="rId4"/>
          <a:stretch>
            <a:fillRect/>
          </a:stretch>
        </p:blipFill>
        <p:spPr>
          <a:xfrm>
            <a:off x="5949544" y="2400300"/>
            <a:ext cx="292608" cy="292608"/>
          </a:xfrm>
          <a:prstGeom prst="rect">
            <a:avLst/>
          </a:prstGeom>
        </p:spPr>
      </p:pic>
      <p:sp>
        <p:nvSpPr>
          <p:cNvPr id="13" name="Shape 6"/>
          <p:cNvSpPr/>
          <p:nvPr/>
        </p:nvSpPr>
        <p:spPr>
          <a:xfrm>
            <a:off x="7043738" y="2112264"/>
            <a:ext cx="868680" cy="868680"/>
          </a:xfrm>
          <a:prstGeom prst="ellipse">
            <a:avLst/>
          </a:prstGeom>
          <a:solidFill>
            <a:srgbClr val="2E5EAA"/>
          </a:solidFill>
          <a:ln/>
        </p:spPr>
      </p:sp>
      <p:pic>
        <p:nvPicPr>
          <p:cNvPr id="14" name="Image 4" descr="/tmp/claude-0/-home-user-riesgo/0ff9ff46-1396-5bd8-b3ac-2280dfbbbc55/scratchpad/work/gen/icons/search_doc_white.png">    </p:cNvPr>
          <p:cNvPicPr>
            <a:picLocks noChangeAspect="1"/>
          </p:cNvPicPr>
          <p:nvPr/>
        </p:nvPicPr>
        <p:blipFill>
          <a:blip r:embed="rId5"/>
          <a:stretch>
            <a:fillRect/>
          </a:stretch>
        </p:blipFill>
        <p:spPr>
          <a:xfrm>
            <a:off x="7260908" y="2329434"/>
            <a:ext cx="434340" cy="434340"/>
          </a:xfrm>
          <a:prstGeom prst="rect">
            <a:avLst/>
          </a:prstGeom>
        </p:spPr>
      </p:pic>
      <p:sp>
        <p:nvSpPr>
          <p:cNvPr id="15" name="Text 7"/>
          <p:cNvSpPr txBox="1"/>
          <p:nvPr/>
        </p:nvSpPr>
        <p:spPr>
          <a:xfrm>
            <a:off x="6150712"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3. Evaluación</a:t>
            </a:r>
            <a:endParaRPr lang="en-US" sz="1300" dirty="0"/>
          </a:p>
        </p:txBody>
      </p:sp>
      <p:pic>
        <p:nvPicPr>
          <p:cNvPr id="16" name="Image 5" descr="/tmp/claude-0/-home-user-riesgo/0ff9ff46-1396-5bd8-b3ac-2280dfbbbc55/scratchpad/work/gen/icons/arrow_right_gray.png">    </p:cNvPr>
          <p:cNvPicPr>
            <a:picLocks noChangeAspect="1"/>
          </p:cNvPicPr>
          <p:nvPr/>
        </p:nvPicPr>
        <p:blipFill>
          <a:blip r:embed="rId6"/>
          <a:stretch>
            <a:fillRect/>
          </a:stretch>
        </p:blipFill>
        <p:spPr>
          <a:xfrm>
            <a:off x="8714003" y="2400300"/>
            <a:ext cx="292608" cy="292608"/>
          </a:xfrm>
          <a:prstGeom prst="rect">
            <a:avLst/>
          </a:prstGeom>
        </p:spPr>
      </p:pic>
      <p:sp>
        <p:nvSpPr>
          <p:cNvPr id="17" name="Shape 8"/>
          <p:cNvSpPr/>
          <p:nvPr/>
        </p:nvSpPr>
        <p:spPr>
          <a:xfrm>
            <a:off x="9808197" y="2112264"/>
            <a:ext cx="868680" cy="868680"/>
          </a:xfrm>
          <a:prstGeom prst="ellipse">
            <a:avLst/>
          </a:prstGeom>
          <a:solidFill>
            <a:srgbClr val="2E5EAA"/>
          </a:solidFill>
          <a:ln/>
        </p:spPr>
      </p:sp>
      <p:pic>
        <p:nvPicPr>
          <p:cNvPr id="18" name="Image 6" descr="/tmp/claude-0/-home-user-riesgo/0ff9ff46-1396-5bd8-b3ac-2280dfbbbc55/scratchpad/work/gen/icons/check_circle_white.png">    </p:cNvPr>
          <p:cNvPicPr>
            <a:picLocks noChangeAspect="1"/>
          </p:cNvPicPr>
          <p:nvPr/>
        </p:nvPicPr>
        <p:blipFill>
          <a:blip r:embed="rId7"/>
          <a:stretch>
            <a:fillRect/>
          </a:stretch>
        </p:blipFill>
        <p:spPr>
          <a:xfrm>
            <a:off x="10025367" y="2329434"/>
            <a:ext cx="434340" cy="434340"/>
          </a:xfrm>
          <a:prstGeom prst="rect">
            <a:avLst/>
          </a:prstGeom>
        </p:spPr>
      </p:pic>
      <p:sp>
        <p:nvSpPr>
          <p:cNvPr id="19" name="Text 9"/>
          <p:cNvSpPr txBox="1"/>
          <p:nvPr/>
        </p:nvSpPr>
        <p:spPr>
          <a:xfrm>
            <a:off x="8915171" y="3108960"/>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4. Aprobación</a:t>
            </a:r>
            <a:endParaRPr lang="en-US" sz="1300" dirty="0"/>
          </a:p>
        </p:txBody>
      </p:sp>
      <p:pic>
        <p:nvPicPr>
          <p:cNvPr id="20" name="Image 7" descr="/tmp/claude-0/-home-user-riesgo/0ff9ff46-1396-5bd8-b3ac-2280dfbbbc55/scratchpad/work/gen/icons/arrow_down_gray.png">    </p:cNvPr>
          <p:cNvPicPr>
            <a:picLocks noChangeAspect="1"/>
          </p:cNvPicPr>
          <p:nvPr/>
        </p:nvPicPr>
        <p:blipFill>
          <a:blip r:embed="rId8"/>
          <a:stretch>
            <a:fillRect/>
          </a:stretch>
        </p:blipFill>
        <p:spPr>
          <a:xfrm>
            <a:off x="10096233" y="3511296"/>
            <a:ext cx="292608" cy="292608"/>
          </a:xfrm>
          <a:prstGeom prst="rect">
            <a:avLst/>
          </a:prstGeom>
        </p:spPr>
      </p:pic>
      <p:sp>
        <p:nvSpPr>
          <p:cNvPr id="21" name="Shape 10"/>
          <p:cNvSpPr/>
          <p:nvPr/>
        </p:nvSpPr>
        <p:spPr>
          <a:xfrm>
            <a:off x="1514818" y="3840480"/>
            <a:ext cx="868680" cy="868680"/>
          </a:xfrm>
          <a:prstGeom prst="ellipse">
            <a:avLst/>
          </a:prstGeom>
          <a:solidFill>
            <a:srgbClr val="2E5EAA"/>
          </a:solidFill>
          <a:ln/>
        </p:spPr>
      </p:sp>
      <p:pic>
        <p:nvPicPr>
          <p:cNvPr id="22" name="Image 8" descr="/tmp/claude-0/-home-user-riesgo/0ff9ff46-1396-5bd8-b3ac-2280dfbbbc55/scratchpad/work/gen/icons/signature_white.png">    </p:cNvPr>
          <p:cNvPicPr>
            <a:picLocks noChangeAspect="1"/>
          </p:cNvPicPr>
          <p:nvPr/>
        </p:nvPicPr>
        <p:blipFill>
          <a:blip r:embed="rId9"/>
          <a:stretch>
            <a:fillRect/>
          </a:stretch>
        </p:blipFill>
        <p:spPr>
          <a:xfrm>
            <a:off x="1731988" y="4057650"/>
            <a:ext cx="434340" cy="434340"/>
          </a:xfrm>
          <a:prstGeom prst="rect">
            <a:avLst/>
          </a:prstGeom>
        </p:spPr>
      </p:pic>
      <p:sp>
        <p:nvSpPr>
          <p:cNvPr id="23" name="Text 11"/>
          <p:cNvSpPr txBox="1"/>
          <p:nvPr/>
        </p:nvSpPr>
        <p:spPr>
          <a:xfrm>
            <a:off x="62179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5. Formalización</a:t>
            </a:r>
            <a:endParaRPr lang="en-US" sz="1300" dirty="0"/>
          </a:p>
        </p:txBody>
      </p:sp>
      <p:pic>
        <p:nvPicPr>
          <p:cNvPr id="24" name="Image 9" descr="/tmp/claude-0/-home-user-riesgo/0ff9ff46-1396-5bd8-b3ac-2280dfbbbc55/scratchpad/work/gen/icons/arrow_right_gray.png">    </p:cNvPr>
          <p:cNvPicPr>
            <a:picLocks noChangeAspect="1"/>
          </p:cNvPicPr>
          <p:nvPr/>
        </p:nvPicPr>
        <p:blipFill>
          <a:blip r:embed="rId10"/>
          <a:stretch>
            <a:fillRect/>
          </a:stretch>
        </p:blipFill>
        <p:spPr>
          <a:xfrm>
            <a:off x="3185084" y="4128516"/>
            <a:ext cx="292608" cy="292608"/>
          </a:xfrm>
          <a:prstGeom prst="rect">
            <a:avLst/>
          </a:prstGeom>
        </p:spPr>
      </p:pic>
      <p:sp>
        <p:nvSpPr>
          <p:cNvPr id="25" name="Shape 12"/>
          <p:cNvSpPr/>
          <p:nvPr/>
        </p:nvSpPr>
        <p:spPr>
          <a:xfrm>
            <a:off x="4279278" y="3840480"/>
            <a:ext cx="868680" cy="868680"/>
          </a:xfrm>
          <a:prstGeom prst="ellipse">
            <a:avLst/>
          </a:prstGeom>
          <a:solidFill>
            <a:srgbClr val="2E5EAA"/>
          </a:solidFill>
          <a:ln/>
        </p:spPr>
      </p:sp>
      <p:pic>
        <p:nvPicPr>
          <p:cNvPr id="26" name="Image 10" descr="/tmp/claude-0/-home-user-riesgo/0ff9ff46-1396-5bd8-b3ac-2280dfbbbc55/scratchpad/work/gen/icons/money_white.png">    </p:cNvPr>
          <p:cNvPicPr>
            <a:picLocks noChangeAspect="1"/>
          </p:cNvPicPr>
          <p:nvPr/>
        </p:nvPicPr>
        <p:blipFill>
          <a:blip r:embed="rId11"/>
          <a:stretch>
            <a:fillRect/>
          </a:stretch>
        </p:blipFill>
        <p:spPr>
          <a:xfrm>
            <a:off x="4496448" y="4057650"/>
            <a:ext cx="434340" cy="434340"/>
          </a:xfrm>
          <a:prstGeom prst="rect">
            <a:avLst/>
          </a:prstGeom>
        </p:spPr>
      </p:pic>
      <p:sp>
        <p:nvSpPr>
          <p:cNvPr id="27" name="Text 13"/>
          <p:cNvSpPr txBox="1"/>
          <p:nvPr/>
        </p:nvSpPr>
        <p:spPr>
          <a:xfrm>
            <a:off x="338625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6. Desembolso</a:t>
            </a:r>
            <a:endParaRPr lang="en-US" sz="1300" dirty="0"/>
          </a:p>
        </p:txBody>
      </p:sp>
      <p:pic>
        <p:nvPicPr>
          <p:cNvPr id="28" name="Image 11" descr="/tmp/claude-0/-home-user-riesgo/0ff9ff46-1396-5bd8-b3ac-2280dfbbbc55/scratchpad/work/gen/icons/arrow_right_gray.png">    </p:cNvPr>
          <p:cNvPicPr>
            <a:picLocks noChangeAspect="1"/>
          </p:cNvPicPr>
          <p:nvPr/>
        </p:nvPicPr>
        <p:blipFill>
          <a:blip r:embed="rId12"/>
          <a:stretch>
            <a:fillRect/>
          </a:stretch>
        </p:blipFill>
        <p:spPr>
          <a:xfrm>
            <a:off x="5949544" y="4128516"/>
            <a:ext cx="292608" cy="292608"/>
          </a:xfrm>
          <a:prstGeom prst="rect">
            <a:avLst/>
          </a:prstGeom>
        </p:spPr>
      </p:pic>
      <p:sp>
        <p:nvSpPr>
          <p:cNvPr id="29" name="Shape 14"/>
          <p:cNvSpPr/>
          <p:nvPr/>
        </p:nvSpPr>
        <p:spPr>
          <a:xfrm>
            <a:off x="7043738" y="3840480"/>
            <a:ext cx="868680" cy="868680"/>
          </a:xfrm>
          <a:prstGeom prst="ellipse">
            <a:avLst/>
          </a:prstGeom>
          <a:solidFill>
            <a:srgbClr val="2E5EAA"/>
          </a:solidFill>
          <a:ln/>
        </p:spPr>
      </p:sp>
      <p:pic>
        <p:nvPicPr>
          <p:cNvPr id="30" name="Image 12" descr="/tmp/claude-0/-home-user-riesgo/0ff9ff46-1396-5bd8-b3ac-2280dfbbbc55/scratchpad/work/gen/icons/binoculars_white.png">    </p:cNvPr>
          <p:cNvPicPr>
            <a:picLocks noChangeAspect="1"/>
          </p:cNvPicPr>
          <p:nvPr/>
        </p:nvPicPr>
        <p:blipFill>
          <a:blip r:embed="rId13"/>
          <a:stretch>
            <a:fillRect/>
          </a:stretch>
        </p:blipFill>
        <p:spPr>
          <a:xfrm>
            <a:off x="7260908" y="4057650"/>
            <a:ext cx="434340" cy="434340"/>
          </a:xfrm>
          <a:prstGeom prst="rect">
            <a:avLst/>
          </a:prstGeom>
        </p:spPr>
      </p:pic>
      <p:sp>
        <p:nvSpPr>
          <p:cNvPr id="31" name="Text 15"/>
          <p:cNvSpPr txBox="1"/>
          <p:nvPr/>
        </p:nvSpPr>
        <p:spPr>
          <a:xfrm>
            <a:off x="6150712"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7. Seguimiento</a:t>
            </a:r>
            <a:endParaRPr lang="en-US" sz="1300" dirty="0"/>
          </a:p>
        </p:txBody>
      </p:sp>
      <p:pic>
        <p:nvPicPr>
          <p:cNvPr id="32" name="Image 13" descr="/tmp/claude-0/-home-user-riesgo/0ff9ff46-1396-5bd8-b3ac-2280dfbbbc55/scratchpad/work/gen/icons/arrow_right_gray.png">    </p:cNvPr>
          <p:cNvPicPr>
            <a:picLocks noChangeAspect="1"/>
          </p:cNvPicPr>
          <p:nvPr/>
        </p:nvPicPr>
        <p:blipFill>
          <a:blip r:embed="rId14"/>
          <a:stretch>
            <a:fillRect/>
          </a:stretch>
        </p:blipFill>
        <p:spPr>
          <a:xfrm>
            <a:off x="8714003" y="4128516"/>
            <a:ext cx="292608" cy="292608"/>
          </a:xfrm>
          <a:prstGeom prst="rect">
            <a:avLst/>
          </a:prstGeom>
        </p:spPr>
      </p:pic>
      <p:sp>
        <p:nvSpPr>
          <p:cNvPr id="33" name="Shape 16"/>
          <p:cNvSpPr/>
          <p:nvPr/>
        </p:nvSpPr>
        <p:spPr>
          <a:xfrm>
            <a:off x="9808197" y="3840480"/>
            <a:ext cx="868680" cy="868680"/>
          </a:xfrm>
          <a:prstGeom prst="ellipse">
            <a:avLst/>
          </a:prstGeom>
          <a:solidFill>
            <a:srgbClr val="2E5EAA"/>
          </a:solidFill>
          <a:ln/>
        </p:spPr>
      </p:sp>
      <p:pic>
        <p:nvPicPr>
          <p:cNvPr id="34" name="Image 14" descr="/tmp/claude-0/-home-user-riesgo/0ff9ff46-1396-5bd8-b3ac-2280dfbbbc55/scratchpad/work/gen/icons/coins_white.png">    </p:cNvPr>
          <p:cNvPicPr>
            <a:picLocks noChangeAspect="1"/>
          </p:cNvPicPr>
          <p:nvPr/>
        </p:nvPicPr>
        <p:blipFill>
          <a:blip r:embed="rId15"/>
          <a:stretch>
            <a:fillRect/>
          </a:stretch>
        </p:blipFill>
        <p:spPr>
          <a:xfrm>
            <a:off x="10025367" y="4057650"/>
            <a:ext cx="434340" cy="434340"/>
          </a:xfrm>
          <a:prstGeom prst="rect">
            <a:avLst/>
          </a:prstGeom>
        </p:spPr>
      </p:pic>
      <p:sp>
        <p:nvSpPr>
          <p:cNvPr id="35" name="Text 17"/>
          <p:cNvSpPr txBox="1"/>
          <p:nvPr/>
        </p:nvSpPr>
        <p:spPr>
          <a:xfrm>
            <a:off x="8915171" y="4837176"/>
            <a:ext cx="2654732" cy="365760"/>
          </a:xfrm>
          <a:prstGeom prst="rect">
            <a:avLst/>
          </a:prstGeom>
          <a:noFill/>
          <a:ln/>
        </p:spPr>
        <p:txBody>
          <a:bodyPr wrap="square" lIns="0" tIns="0" rIns="0" bIns="0" rtlCol="0" anchor="t"/>
          <a:lstStyle/>
          <a:p>
            <a:pPr algn="ctr" indent="0" marL="0">
              <a:lnSpc>
                <a:spcPct val="95000"/>
              </a:lnSpc>
              <a:buNone/>
            </a:pPr>
            <a:r>
              <a:rPr lang="en-US" sz="1300" b="1" dirty="0">
                <a:solidFill>
                  <a:srgbClr val="133B6C"/>
                </a:solidFill>
                <a:latin typeface="Calibri" pitchFamily="34" charset="0"/>
                <a:ea typeface="Calibri" pitchFamily="34" charset="-122"/>
                <a:cs typeface="Calibri" pitchFamily="34" charset="-120"/>
              </a:rPr>
              <a:t>8. Recuperación</a:t>
            </a:r>
            <a:endParaRPr lang="en-US" sz="1300" dirty="0"/>
          </a:p>
        </p:txBody>
      </p:sp>
      <p:sp>
        <p:nvSpPr>
          <p:cNvPr id="36" name="Shape 18"/>
          <p:cNvSpPr/>
          <p:nvPr/>
        </p:nvSpPr>
        <p:spPr>
          <a:xfrm>
            <a:off x="566928" y="5486400"/>
            <a:ext cx="11057839" cy="621792"/>
          </a:xfrm>
          <a:prstGeom prst="roundRect">
            <a:avLst>
              <a:gd name="adj" fmla="val 14706"/>
            </a:avLst>
          </a:prstGeom>
          <a:solidFill>
            <a:srgbClr val="2E5EAA"/>
          </a:solidFill>
          <a:ln/>
        </p:spPr>
      </p:sp>
      <p:sp>
        <p:nvSpPr>
          <p:cNvPr id="37" name="Text 19"/>
          <p:cNvSpPr txBox="1"/>
          <p:nvPr/>
        </p:nvSpPr>
        <p:spPr>
          <a:xfrm>
            <a:off x="841248" y="5486400"/>
            <a:ext cx="10509199" cy="621792"/>
          </a:xfrm>
          <a:prstGeom prst="rect">
            <a:avLst/>
          </a:prstGeom>
          <a:noFill/>
          <a:ln/>
        </p:spPr>
        <p:txBody>
          <a:bodyPr wrap="square" lIns="0" tIns="0" rIns="0" bIns="0" rtlCol="0" anchor="ctr"/>
          <a:lstStyle/>
          <a:p>
            <a:pPr algn="ctr" indent="0" marL="0">
              <a:lnSpc>
                <a:spcPct val="108000"/>
              </a:lnSpc>
              <a:buNone/>
            </a:pPr>
            <a:r>
              <a:rPr lang="en-US" sz="1500" b="1" dirty="0">
                <a:solidFill>
                  <a:srgbClr val="FFFFFF"/>
                </a:solidFill>
                <a:latin typeface="Cambria" pitchFamily="34" charset="0"/>
                <a:ea typeface="Cambria" pitchFamily="34" charset="-122"/>
                <a:cs typeface="Cambria" pitchFamily="34" charset="-120"/>
              </a:rPr>
              <a:t>¿En qué etapa puede aparecer un riesgo?  EN TODAS.</a:t>
            </a:r>
            <a:endParaRPr lang="en-US" sz="1500" dirty="0"/>
          </a:p>
        </p:txBody>
      </p:sp>
      <p:sp>
        <p:nvSpPr>
          <p:cNvPr id="38" name="Text 20"/>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9" name="Text 21"/>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TEMA 6 · CORRESPONSABILIDAD</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800" b="1" dirty="0">
                <a:solidFill>
                  <a:srgbClr val="133B6C"/>
                </a:solidFill>
                <a:latin typeface="Cambria" pitchFamily="34" charset="0"/>
                <a:ea typeface="Cambria" pitchFamily="34" charset="-122"/>
                <a:cs typeface="Cambria" pitchFamily="34" charset="-120"/>
              </a:rPr>
              <a:t>CORRESPONSABILIDAD, NO SEÑALAMIENTO</a:t>
            </a:r>
            <a:endParaRPr lang="en-US" sz="28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Gestionar bien el riesgo crediticio depende de todos los que participan en el proceso, no solo del área de Créditos:</a:t>
            </a:r>
            <a:endParaRPr lang="en-US" sz="1500" dirty="0"/>
          </a:p>
        </p:txBody>
      </p:sp>
      <p:sp>
        <p:nvSpPr>
          <p:cNvPr id="6" name="Shape 3"/>
          <p:cNvSpPr/>
          <p:nvPr/>
        </p:nvSpPr>
        <p:spPr>
          <a:xfrm>
            <a:off x="566928" y="2985516"/>
            <a:ext cx="3490874" cy="2286000"/>
          </a:xfrm>
          <a:prstGeom prst="roundRect">
            <a:avLst>
              <a:gd name="adj" fmla="val 4000"/>
            </a:avLst>
          </a:prstGeom>
          <a:solidFill>
            <a:srgbClr val="F2F5F9"/>
          </a:solidFill>
          <a:ln/>
        </p:spPr>
      </p:sp>
      <p:sp>
        <p:nvSpPr>
          <p:cNvPr id="7" name="Shape 4"/>
          <p:cNvSpPr/>
          <p:nvPr/>
        </p:nvSpPr>
        <p:spPr>
          <a:xfrm>
            <a:off x="1983181" y="3150108"/>
            <a:ext cx="658368" cy="658368"/>
          </a:xfrm>
          <a:prstGeom prst="ellipse">
            <a:avLst/>
          </a:prstGeom>
          <a:solidFill>
            <a:srgbClr val="2E5EAA"/>
          </a:solidFill>
          <a:ln/>
        </p:spPr>
      </p:sp>
      <p:pic>
        <p:nvPicPr>
          <p:cNvPr id="8" name="Image 0" descr="/tmp/claude-0/-home-user-riesgo/0ff9ff46-1396-5bd8-b3ac-2280dfbbbc55/scratchpad/work/gen/icons/people_group_white.png">    </p:cNvPr>
          <p:cNvPicPr>
            <a:picLocks noChangeAspect="1"/>
          </p:cNvPicPr>
          <p:nvPr/>
        </p:nvPicPr>
        <p:blipFill>
          <a:blip r:embed="rId1"/>
          <a:stretch>
            <a:fillRect/>
          </a:stretch>
        </p:blipFill>
        <p:spPr>
          <a:xfrm>
            <a:off x="2141190" y="3308116"/>
            <a:ext cx="342351" cy="342351"/>
          </a:xfrm>
          <a:prstGeom prst="rect">
            <a:avLst/>
          </a:prstGeom>
        </p:spPr>
      </p:pic>
      <p:sp>
        <p:nvSpPr>
          <p:cNvPr id="9" name="Text 5"/>
          <p:cNvSpPr txBox="1"/>
          <p:nvPr/>
        </p:nvSpPr>
        <p:spPr>
          <a:xfrm>
            <a:off x="676656"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Corresponsabilidad</a:t>
            </a:r>
            <a:endParaRPr lang="en-US" sz="1400" dirty="0"/>
          </a:p>
        </p:txBody>
      </p:sp>
      <p:sp>
        <p:nvSpPr>
          <p:cNvPr id="10" name="Text 6"/>
          <p:cNvSpPr txBox="1"/>
          <p:nvPr/>
        </p:nvSpPr>
        <p:spPr>
          <a:xfrm>
            <a:off x="731520"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Cada etapa del proceso depende de la calidad del trabajo de la etapa anterior.</a:t>
            </a:r>
            <a:endParaRPr lang="en-US" sz="1100" dirty="0"/>
          </a:p>
        </p:txBody>
      </p:sp>
      <p:sp>
        <p:nvSpPr>
          <p:cNvPr id="11" name="Shape 7"/>
          <p:cNvSpPr/>
          <p:nvPr/>
        </p:nvSpPr>
        <p:spPr>
          <a:xfrm>
            <a:off x="4350410" y="2985516"/>
            <a:ext cx="3490874" cy="2286000"/>
          </a:xfrm>
          <a:prstGeom prst="roundRect">
            <a:avLst>
              <a:gd name="adj" fmla="val 4000"/>
            </a:avLst>
          </a:prstGeom>
          <a:solidFill>
            <a:srgbClr val="F2F5F9"/>
          </a:solidFill>
          <a:ln/>
        </p:spPr>
      </p:sp>
      <p:sp>
        <p:nvSpPr>
          <p:cNvPr id="12" name="Shape 8"/>
          <p:cNvSpPr/>
          <p:nvPr/>
        </p:nvSpPr>
        <p:spPr>
          <a:xfrm>
            <a:off x="5766664" y="3150108"/>
            <a:ext cx="658368" cy="658368"/>
          </a:xfrm>
          <a:prstGeom prst="ellipse">
            <a:avLst/>
          </a:prstGeom>
          <a:solidFill>
            <a:srgbClr val="2E5EAA"/>
          </a:solidFill>
          <a:ln/>
        </p:spPr>
      </p:sp>
      <p:pic>
        <p:nvPicPr>
          <p:cNvPr id="13" name="Image 1" descr="/tmp/claude-0/-home-user-riesgo/0ff9ff46-1396-5bd8-b3ac-2280dfbbbc55/scratchpad/work/gen/icons/shield_check_white.png">    </p:cNvPr>
          <p:cNvPicPr>
            <a:picLocks noChangeAspect="1"/>
          </p:cNvPicPr>
          <p:nvPr/>
        </p:nvPicPr>
        <p:blipFill>
          <a:blip r:embed="rId2"/>
          <a:stretch>
            <a:fillRect/>
          </a:stretch>
        </p:blipFill>
        <p:spPr>
          <a:xfrm>
            <a:off x="5924672" y="3308116"/>
            <a:ext cx="342351" cy="342351"/>
          </a:xfrm>
          <a:prstGeom prst="rect">
            <a:avLst/>
          </a:prstGeom>
        </p:spPr>
      </p:pic>
      <p:sp>
        <p:nvSpPr>
          <p:cNvPr id="14" name="Text 9"/>
          <p:cNvSpPr txBox="1"/>
          <p:nvPr/>
        </p:nvSpPr>
        <p:spPr>
          <a:xfrm>
            <a:off x="4460138"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Prevención</a:t>
            </a:r>
            <a:endParaRPr lang="en-US" sz="1400" dirty="0"/>
          </a:p>
        </p:txBody>
      </p:sp>
      <p:sp>
        <p:nvSpPr>
          <p:cNvPr id="15" name="Text 10"/>
          <p:cNvSpPr txBox="1"/>
          <p:nvPr/>
        </p:nvSpPr>
        <p:spPr>
          <a:xfrm>
            <a:off x="4515002"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Verificar la información a tiempo evita problemas costosos más adelante.</a:t>
            </a:r>
            <a:endParaRPr lang="en-US" sz="1100" dirty="0"/>
          </a:p>
        </p:txBody>
      </p:sp>
      <p:sp>
        <p:nvSpPr>
          <p:cNvPr id="16" name="Shape 11"/>
          <p:cNvSpPr/>
          <p:nvPr/>
        </p:nvSpPr>
        <p:spPr>
          <a:xfrm>
            <a:off x="8133893" y="2985516"/>
            <a:ext cx="3490874" cy="2286000"/>
          </a:xfrm>
          <a:prstGeom prst="roundRect">
            <a:avLst>
              <a:gd name="adj" fmla="val 4000"/>
            </a:avLst>
          </a:prstGeom>
          <a:solidFill>
            <a:srgbClr val="F2F5F9"/>
          </a:solidFill>
          <a:ln/>
        </p:spPr>
      </p:sp>
      <p:sp>
        <p:nvSpPr>
          <p:cNvPr id="17" name="Shape 12"/>
          <p:cNvSpPr/>
          <p:nvPr/>
        </p:nvSpPr>
        <p:spPr>
          <a:xfrm>
            <a:off x="9550146" y="3150108"/>
            <a:ext cx="658368" cy="658368"/>
          </a:xfrm>
          <a:prstGeom prst="ellipse">
            <a:avLst/>
          </a:prstGeom>
          <a:solidFill>
            <a:srgbClr val="2E5EAA"/>
          </a:solidFill>
          <a:ln/>
        </p:spPr>
      </p:sp>
      <p:pic>
        <p:nvPicPr>
          <p:cNvPr id="18" name="Image 2" descr="/tmp/claude-0/-home-user-riesgo/0ff9ff46-1396-5bd8-b3ac-2280dfbbbc55/scratchpad/work/gen/icons/medal_white.png">    </p:cNvPr>
          <p:cNvPicPr>
            <a:picLocks noChangeAspect="1"/>
          </p:cNvPicPr>
          <p:nvPr/>
        </p:nvPicPr>
        <p:blipFill>
          <a:blip r:embed="rId3"/>
          <a:stretch>
            <a:fillRect/>
          </a:stretch>
        </p:blipFill>
        <p:spPr>
          <a:xfrm>
            <a:off x="9708154" y="3308116"/>
            <a:ext cx="342351" cy="342351"/>
          </a:xfrm>
          <a:prstGeom prst="rect">
            <a:avLst/>
          </a:prstGeom>
        </p:spPr>
      </p:pic>
      <p:sp>
        <p:nvSpPr>
          <p:cNvPr id="19" name="Text 13"/>
          <p:cNvSpPr txBox="1"/>
          <p:nvPr/>
        </p:nvSpPr>
        <p:spPr>
          <a:xfrm>
            <a:off x="8243621" y="3954780"/>
            <a:ext cx="3271418" cy="457200"/>
          </a:xfrm>
          <a:prstGeom prst="rect">
            <a:avLst/>
          </a:prstGeom>
          <a:noFill/>
          <a:ln/>
        </p:spPr>
        <p:txBody>
          <a:bodyPr wrap="square" lIns="0" tIns="0" rIns="0" bIns="0" rtlCol="0" anchor="t"/>
          <a:lstStyle/>
          <a:p>
            <a:pPr algn="ctr" indent="0" marL="0">
              <a:lnSpc>
                <a:spcPct val="98000"/>
              </a:lnSpc>
              <a:buNone/>
            </a:pPr>
            <a:r>
              <a:rPr lang="en-US" sz="1400" b="1" dirty="0">
                <a:solidFill>
                  <a:srgbClr val="133B6C"/>
                </a:solidFill>
                <a:latin typeface="Calibri" pitchFamily="34" charset="0"/>
                <a:ea typeface="Calibri" pitchFamily="34" charset="-122"/>
                <a:cs typeface="Calibri" pitchFamily="34" charset="-120"/>
              </a:rPr>
              <a:t>Calidad del proceso</a:t>
            </a:r>
            <a:endParaRPr lang="en-US" sz="1400" dirty="0"/>
          </a:p>
        </p:txBody>
      </p:sp>
      <p:sp>
        <p:nvSpPr>
          <p:cNvPr id="20" name="Text 14"/>
          <p:cNvSpPr txBox="1"/>
          <p:nvPr/>
        </p:nvSpPr>
        <p:spPr>
          <a:xfrm>
            <a:off x="8298485" y="4466844"/>
            <a:ext cx="3161690" cy="914400"/>
          </a:xfrm>
          <a:prstGeom prst="rect">
            <a:avLst/>
          </a:prstGeom>
          <a:noFill/>
          <a:ln/>
        </p:spPr>
        <p:txBody>
          <a:bodyPr wrap="square" lIns="0" tIns="0" rIns="0" bIns="0" rtlCol="0" anchor="t"/>
          <a:lstStyle/>
          <a:p>
            <a:pPr algn="ctr" indent="0" marL="0">
              <a:lnSpc>
                <a:spcPct val="105000"/>
              </a:lnSpc>
              <a:buNone/>
            </a:pPr>
            <a:r>
              <a:rPr lang="en-US" sz="1100" dirty="0">
                <a:solidFill>
                  <a:srgbClr val="5B6B82"/>
                </a:solidFill>
                <a:latin typeface="Calibri" pitchFamily="34" charset="0"/>
                <a:ea typeface="Calibri" pitchFamily="34" charset="-122"/>
                <a:cs typeface="Calibri" pitchFamily="34" charset="-120"/>
              </a:rPr>
              <a:t>Un expediente completo y verificado protege al asociado y a la Cooperativa.</a:t>
            </a:r>
            <a:endParaRPr lang="en-US" sz="1100" dirty="0"/>
          </a:p>
        </p:txBody>
      </p:sp>
      <p:sp>
        <p:nvSpPr>
          <p:cNvPr id="21"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2"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E0F5F7"/>
                </a:solidFill>
                <a:latin typeface="Cambria" pitchFamily="34" charset="0"/>
                <a:ea typeface="Cambria" pitchFamily="34" charset="-122"/>
                <a:cs typeface="Cambria" pitchFamily="34" charset="-120"/>
              </a:rPr>
              <a:t>07</a:t>
            </a:r>
            <a:endParaRPr lang="en-US" sz="26000" dirty="0"/>
          </a:p>
        </p:txBody>
      </p:sp>
      <p:sp>
        <p:nvSpPr>
          <p:cNvPr id="4" name="Shape 1"/>
          <p:cNvSpPr/>
          <p:nvPr/>
        </p:nvSpPr>
        <p:spPr>
          <a:xfrm>
            <a:off x="10104120" y="-685800"/>
            <a:ext cx="2743200" cy="2743200"/>
          </a:xfrm>
          <a:prstGeom prst="ellipse">
            <a:avLst/>
          </a:prstGeom>
          <a:solidFill>
            <a:srgbClr val="84D7E1"/>
          </a:solidFill>
          <a:ln/>
        </p:spPr>
      </p:sp>
      <p:sp>
        <p:nvSpPr>
          <p:cNvPr id="5" name="Shape 2"/>
          <p:cNvSpPr/>
          <p:nvPr/>
        </p:nvSpPr>
        <p:spPr>
          <a:xfrm>
            <a:off x="8001000" y="502920"/>
            <a:ext cx="3657600" cy="5806440"/>
          </a:xfrm>
          <a:prstGeom prst="roundRect">
            <a:avLst>
              <a:gd name="adj" fmla="val 11250"/>
            </a:avLst>
          </a:prstGeom>
          <a:solidFill>
            <a:srgbClr val="1FB6C9"/>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handshak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people_group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1FB6C9"/>
                </a:solidFill>
                <a:latin typeface="Calibri" pitchFamily="34" charset="0"/>
                <a:ea typeface="Calibri" pitchFamily="34" charset="-122"/>
                <a:cs typeface="Calibri" pitchFamily="34" charset="-120"/>
              </a:rPr>
              <a:t>TEMA 7</a:t>
            </a:r>
            <a:endParaRPr lang="en-US" sz="1500" dirty="0"/>
          </a:p>
        </p:txBody>
      </p:sp>
      <p:sp>
        <p:nvSpPr>
          <p:cNvPr id="11" name="Text 6"/>
          <p:cNvSpPr txBox="1"/>
          <p:nvPr/>
        </p:nvSpPr>
        <p:spPr>
          <a:xfrm>
            <a:off x="566928" y="2697480"/>
            <a:ext cx="7223760" cy="1463040"/>
          </a:xfrm>
          <a:prstGeom prst="rect">
            <a:avLst/>
          </a:prstGeom>
          <a:noFill/>
          <a:ln/>
        </p:spPr>
        <p:txBody>
          <a:bodyPr wrap="square" lIns="0" tIns="0" rIns="0" bIns="0" rtlCol="0" anchor="t"/>
          <a:lstStyle/>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¿QUIÉN ES RESPONSABLE DE</a:t>
            </a:r>
            <a:endParaRPr lang="en-US" sz="2900" dirty="0"/>
          </a:p>
          <a:p>
            <a:pPr indent="0" marL="0">
              <a:lnSpc>
                <a:spcPct val="105000"/>
              </a:lnSpc>
              <a:buNone/>
            </a:pPr>
            <a:r>
              <a:rPr lang="en-US" sz="2900" b="1" dirty="0">
                <a:solidFill>
                  <a:srgbClr val="133B6C"/>
                </a:solidFill>
                <a:latin typeface="Cambria" pitchFamily="34" charset="0"/>
                <a:ea typeface="Cambria" pitchFamily="34" charset="-122"/>
                <a:cs typeface="Cambria" pitchFamily="34" charset="-120"/>
              </a:rPr>
              <a:t>GESTIONAR LOS RIESGOS?</a:t>
            </a:r>
            <a:endParaRPr lang="en-US" sz="2900" dirty="0"/>
          </a:p>
        </p:txBody>
      </p:sp>
      <p:sp>
        <p:nvSpPr>
          <p:cNvPr id="12" name="Text 7"/>
          <p:cNvSpPr txBox="1"/>
          <p:nvPr/>
        </p:nvSpPr>
        <p:spPr>
          <a:xfrm>
            <a:off x="566928" y="416052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Gestionar riesgos es parte de nuestro trabajo.</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FB6C9"/>
                </a:solidFill>
                <a:latin typeface="Calibri" pitchFamily="34" charset="0"/>
                <a:ea typeface="Calibri" pitchFamily="34" charset="-122"/>
                <a:cs typeface="Calibri" pitchFamily="34" charset="-120"/>
              </a:rPr>
              <a:t>TEMA 7 · RESPONSABILIDAD COMPARTIDA</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GESTIONAR RIESGOS ES PARTE DE NUESTRO TRABAJO</a:t>
            </a:r>
            <a:endParaRPr lang="en-US" sz="2400" dirty="0"/>
          </a:p>
        </p:txBody>
      </p:sp>
      <p:sp>
        <p:nvSpPr>
          <p:cNvPr id="5" name="Shape 2"/>
          <p:cNvSpPr/>
          <p:nvPr/>
        </p:nvSpPr>
        <p:spPr>
          <a:xfrm>
            <a:off x="566928" y="1965960"/>
            <a:ext cx="11057839" cy="566928"/>
          </a:xfrm>
          <a:prstGeom prst="roundRect">
            <a:avLst>
              <a:gd name="adj" fmla="val 16129"/>
            </a:avLst>
          </a:prstGeom>
          <a:solidFill>
            <a:srgbClr val="1FB6C9"/>
          </a:solidFill>
          <a:ln/>
        </p:spPr>
      </p:sp>
      <p:sp>
        <p:nvSpPr>
          <p:cNvPr id="6" name="Text 3"/>
          <p:cNvSpPr txBox="1"/>
          <p:nvPr/>
        </p:nvSpPr>
        <p:spPr>
          <a:xfrm>
            <a:off x="566928" y="1965960"/>
            <a:ext cx="11057839" cy="566928"/>
          </a:xfrm>
          <a:prstGeom prst="rect">
            <a:avLst/>
          </a:prstGeom>
          <a:noFill/>
          <a:ln/>
        </p:spPr>
        <p:txBody>
          <a:bodyPr wrap="square" lIns="0" tIns="0" rIns="0" bIns="0" rtlCol="0" anchor="ctr"/>
          <a:lstStyle/>
          <a:p>
            <a:pPr algn="ctr" indent="0" marL="0">
              <a:buNone/>
            </a:pPr>
            <a:r>
              <a:rPr lang="en-US" sz="1900" b="1" spc="300" kern="0" dirty="0">
                <a:solidFill>
                  <a:srgbClr val="FFFFFF"/>
                </a:solidFill>
                <a:latin typeface="Cambria" pitchFamily="34" charset="0"/>
                <a:ea typeface="Cambria" pitchFamily="34" charset="-122"/>
                <a:cs typeface="Cambria" pitchFamily="34" charset="-120"/>
              </a:rPr>
              <a:t>TODOS SOMOS RESPONSABLES</a:t>
            </a:r>
            <a:endParaRPr lang="en-US" sz="1900" dirty="0"/>
          </a:p>
        </p:txBody>
      </p:sp>
      <p:sp>
        <p:nvSpPr>
          <p:cNvPr id="7" name="Shape 4"/>
          <p:cNvSpPr/>
          <p:nvPr/>
        </p:nvSpPr>
        <p:spPr>
          <a:xfrm>
            <a:off x="1213683" y="3680460"/>
            <a:ext cx="713232" cy="713232"/>
          </a:xfrm>
          <a:prstGeom prst="ellipse">
            <a:avLst/>
          </a:prstGeom>
          <a:solidFill>
            <a:srgbClr val="133B6C"/>
          </a:solidFill>
          <a:ln/>
        </p:spPr>
      </p:sp>
      <p:pic>
        <p:nvPicPr>
          <p:cNvPr id="8" name="Image 0" descr="/tmp/claude-0/-home-user-riesgo/0ff9ff46-1396-5bd8-b3ac-2280dfbbbc55/scratchpad/work/gen/icons/person_white.png">    </p:cNvPr>
          <p:cNvPicPr>
            <a:picLocks noChangeAspect="1"/>
          </p:cNvPicPr>
          <p:nvPr/>
        </p:nvPicPr>
        <p:blipFill>
          <a:blip r:embed="rId1"/>
          <a:stretch>
            <a:fillRect/>
          </a:stretch>
        </p:blipFill>
        <p:spPr>
          <a:xfrm>
            <a:off x="1391991" y="3858768"/>
            <a:ext cx="356616" cy="356616"/>
          </a:xfrm>
          <a:prstGeom prst="rect">
            <a:avLst/>
          </a:prstGeom>
        </p:spPr>
      </p:pic>
      <p:sp>
        <p:nvSpPr>
          <p:cNvPr id="9" name="Text 5"/>
          <p:cNvSpPr txBox="1"/>
          <p:nvPr/>
        </p:nvSpPr>
        <p:spPr>
          <a:xfrm>
            <a:off x="612648"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Colaboradores</a:t>
            </a:r>
            <a:endParaRPr lang="en-US" sz="1150" dirty="0"/>
          </a:p>
        </p:txBody>
      </p:sp>
      <p:sp>
        <p:nvSpPr>
          <p:cNvPr id="10" name="Shape 6"/>
          <p:cNvSpPr/>
          <p:nvPr/>
        </p:nvSpPr>
        <p:spPr>
          <a:xfrm>
            <a:off x="3476457" y="3680460"/>
            <a:ext cx="713232" cy="713232"/>
          </a:xfrm>
          <a:prstGeom prst="ellipse">
            <a:avLst/>
          </a:prstGeom>
          <a:solidFill>
            <a:srgbClr val="133B6C"/>
          </a:solidFill>
          <a:ln/>
        </p:spPr>
      </p:sp>
      <p:pic>
        <p:nvPicPr>
          <p:cNvPr id="11" name="Image 1" descr="/tmp/claude-0/-home-user-riesgo/0ff9ff46-1396-5bd8-b3ac-2280dfbbbc55/scratchpad/work/gen/icons/briefcase_white.png">    </p:cNvPr>
          <p:cNvPicPr>
            <a:picLocks noChangeAspect="1"/>
          </p:cNvPicPr>
          <p:nvPr/>
        </p:nvPicPr>
        <p:blipFill>
          <a:blip r:embed="rId2"/>
          <a:stretch>
            <a:fillRect/>
          </a:stretch>
        </p:blipFill>
        <p:spPr>
          <a:xfrm>
            <a:off x="3654765" y="3858768"/>
            <a:ext cx="356616" cy="356616"/>
          </a:xfrm>
          <a:prstGeom prst="rect">
            <a:avLst/>
          </a:prstGeom>
        </p:spPr>
      </p:pic>
      <p:sp>
        <p:nvSpPr>
          <p:cNvPr id="12" name="Text 7"/>
          <p:cNvSpPr txBox="1"/>
          <p:nvPr/>
        </p:nvSpPr>
        <p:spPr>
          <a:xfrm>
            <a:off x="2875422"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Jefaturas</a:t>
            </a:r>
            <a:endParaRPr lang="en-US" sz="1150" dirty="0"/>
          </a:p>
        </p:txBody>
      </p:sp>
      <p:sp>
        <p:nvSpPr>
          <p:cNvPr id="13" name="Shape 8"/>
          <p:cNvSpPr/>
          <p:nvPr/>
        </p:nvSpPr>
        <p:spPr>
          <a:xfrm>
            <a:off x="5739232" y="3680460"/>
            <a:ext cx="713232" cy="713232"/>
          </a:xfrm>
          <a:prstGeom prst="ellipse">
            <a:avLst/>
          </a:prstGeom>
          <a:solidFill>
            <a:srgbClr val="133B6C"/>
          </a:solidFill>
          <a:ln/>
        </p:spPr>
      </p:sp>
      <p:pic>
        <p:nvPicPr>
          <p:cNvPr id="14" name="Image 2" descr="/tmp/claude-0/-home-user-riesgo/0ff9ff46-1396-5bd8-b3ac-2280dfbbbc55/scratchpad/work/gen/icons/crown_white.png">    </p:cNvPr>
          <p:cNvPicPr>
            <a:picLocks noChangeAspect="1"/>
          </p:cNvPicPr>
          <p:nvPr/>
        </p:nvPicPr>
        <p:blipFill>
          <a:blip r:embed="rId3"/>
          <a:stretch>
            <a:fillRect/>
          </a:stretch>
        </p:blipFill>
        <p:spPr>
          <a:xfrm>
            <a:off x="5917540" y="3858768"/>
            <a:ext cx="356616" cy="356616"/>
          </a:xfrm>
          <a:prstGeom prst="rect">
            <a:avLst/>
          </a:prstGeom>
        </p:spPr>
      </p:pic>
      <p:sp>
        <p:nvSpPr>
          <p:cNvPr id="15" name="Text 9"/>
          <p:cNvSpPr txBox="1"/>
          <p:nvPr/>
        </p:nvSpPr>
        <p:spPr>
          <a:xfrm>
            <a:off x="5138196"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Gerencias</a:t>
            </a:r>
            <a:endParaRPr lang="en-US" sz="1150" dirty="0"/>
          </a:p>
        </p:txBody>
      </p:sp>
      <p:sp>
        <p:nvSpPr>
          <p:cNvPr id="16" name="Shape 10"/>
          <p:cNvSpPr/>
          <p:nvPr/>
        </p:nvSpPr>
        <p:spPr>
          <a:xfrm>
            <a:off x="8002006" y="3680460"/>
            <a:ext cx="713232" cy="713232"/>
          </a:xfrm>
          <a:prstGeom prst="ellipse">
            <a:avLst/>
          </a:prstGeom>
          <a:solidFill>
            <a:srgbClr val="133B6C"/>
          </a:solidFill>
          <a:ln/>
        </p:spPr>
      </p:sp>
      <p:pic>
        <p:nvPicPr>
          <p:cNvPr id="17" name="Image 3" descr="/tmp/claude-0/-home-user-riesgo/0ff9ff46-1396-5bd8-b3ac-2280dfbbbc55/scratchpad/work/gen/icons/shield_check_white.png">    </p:cNvPr>
          <p:cNvPicPr>
            <a:picLocks noChangeAspect="1"/>
          </p:cNvPicPr>
          <p:nvPr/>
        </p:nvPicPr>
        <p:blipFill>
          <a:blip r:embed="rId4"/>
          <a:stretch>
            <a:fillRect/>
          </a:stretch>
        </p:blipFill>
        <p:spPr>
          <a:xfrm>
            <a:off x="8180314" y="3858768"/>
            <a:ext cx="356616" cy="356616"/>
          </a:xfrm>
          <a:prstGeom prst="rect">
            <a:avLst/>
          </a:prstGeom>
        </p:spPr>
      </p:pic>
      <p:sp>
        <p:nvSpPr>
          <p:cNvPr id="18" name="Text 11"/>
          <p:cNvSpPr txBox="1"/>
          <p:nvPr/>
        </p:nvSpPr>
        <p:spPr>
          <a:xfrm>
            <a:off x="7400971"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Administración de Riesgos</a:t>
            </a:r>
            <a:endParaRPr lang="en-US" sz="1150" dirty="0"/>
          </a:p>
        </p:txBody>
      </p:sp>
      <p:sp>
        <p:nvSpPr>
          <p:cNvPr id="19" name="Shape 12"/>
          <p:cNvSpPr/>
          <p:nvPr/>
        </p:nvSpPr>
        <p:spPr>
          <a:xfrm>
            <a:off x="10264780" y="3680460"/>
            <a:ext cx="713232" cy="713232"/>
          </a:xfrm>
          <a:prstGeom prst="ellipse">
            <a:avLst/>
          </a:prstGeom>
          <a:solidFill>
            <a:srgbClr val="133B6C"/>
          </a:solidFill>
          <a:ln/>
        </p:spPr>
      </p:sp>
      <p:pic>
        <p:nvPicPr>
          <p:cNvPr id="20" name="Image 4" descr="/tmp/claude-0/-home-user-riesgo/0ff9ff46-1396-5bd8-b3ac-2280dfbbbc55/scratchpad/work/gen/icons/clipboard_check_white.png">    </p:cNvPr>
          <p:cNvPicPr>
            <a:picLocks noChangeAspect="1"/>
          </p:cNvPicPr>
          <p:nvPr/>
        </p:nvPicPr>
        <p:blipFill>
          <a:blip r:embed="rId5"/>
          <a:stretch>
            <a:fillRect/>
          </a:stretch>
        </p:blipFill>
        <p:spPr>
          <a:xfrm>
            <a:off x="10443088" y="3858768"/>
            <a:ext cx="356616" cy="356616"/>
          </a:xfrm>
          <a:prstGeom prst="rect">
            <a:avLst/>
          </a:prstGeom>
        </p:spPr>
      </p:pic>
      <p:sp>
        <p:nvSpPr>
          <p:cNvPr id="21" name="Text 13"/>
          <p:cNvSpPr txBox="1"/>
          <p:nvPr/>
        </p:nvSpPr>
        <p:spPr>
          <a:xfrm>
            <a:off x="9663745" y="4539996"/>
            <a:ext cx="1915302" cy="548640"/>
          </a:xfrm>
          <a:prstGeom prst="rect">
            <a:avLst/>
          </a:prstGeom>
          <a:noFill/>
          <a:ln/>
        </p:spPr>
        <p:txBody>
          <a:bodyPr wrap="square" lIns="0" tIns="0" rIns="0" bIns="0" rtlCol="0" anchor="t"/>
          <a:lstStyle/>
          <a:p>
            <a:pPr algn="ctr" indent="0" marL="0">
              <a:lnSpc>
                <a:spcPct val="98000"/>
              </a:lnSpc>
              <a:buNone/>
            </a:pPr>
            <a:r>
              <a:rPr lang="en-US" sz="1150" b="1" dirty="0">
                <a:solidFill>
                  <a:srgbClr val="133B6C"/>
                </a:solidFill>
                <a:latin typeface="Calibri" pitchFamily="34" charset="0"/>
                <a:ea typeface="Calibri" pitchFamily="34" charset="-122"/>
                <a:cs typeface="Calibri" pitchFamily="34" charset="-120"/>
              </a:rPr>
              <a:t>Auditoría</a:t>
            </a:r>
            <a:endParaRPr lang="en-US" sz="1150" dirty="0"/>
          </a:p>
        </p:txBody>
      </p:sp>
      <p:sp>
        <p:nvSpPr>
          <p:cNvPr id="22" name="Text 14"/>
          <p:cNvSpPr txBox="1"/>
          <p:nvPr/>
        </p:nvSpPr>
        <p:spPr>
          <a:xfrm>
            <a:off x="566928" y="6199632"/>
            <a:ext cx="11057839" cy="228600"/>
          </a:xfrm>
          <a:prstGeom prst="rect">
            <a:avLst/>
          </a:prstGeom>
          <a:noFill/>
          <a:ln/>
        </p:spPr>
        <p:txBody>
          <a:bodyPr wrap="square" lIns="0" tIns="0" rIns="0" bIns="0" rtlCol="0" anchor="ctr"/>
          <a:lstStyle/>
          <a:p>
            <a:pPr algn="ctr" indent="0" marL="0">
              <a:buNone/>
            </a:pPr>
            <a:r>
              <a:rPr lang="en-US" sz="1150" i="1" dirty="0">
                <a:solidFill>
                  <a:srgbClr val="5B6B82"/>
                </a:solidFill>
                <a:latin typeface="Calibri" pitchFamily="34" charset="0"/>
                <a:ea typeface="Calibri" pitchFamily="34" charset="-122"/>
                <a:cs typeface="Calibri" pitchFamily="34" charset="-120"/>
              </a:rPr>
              <a:t>Colaboradores, jefaturas, gerencias, Administración de Riesgos y Auditoría: cada uno desde su rol.</a:t>
            </a:r>
            <a:endParaRPr lang="en-US" sz="1150" dirty="0"/>
          </a:p>
        </p:txBody>
      </p:sp>
      <p:sp>
        <p:nvSpPr>
          <p:cNvPr id="23" name="Text 15"/>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24" name="Text 16"/>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274320" y="-914400"/>
            <a:ext cx="5852160" cy="4023360"/>
          </a:xfrm>
          <a:prstGeom prst="rect">
            <a:avLst/>
          </a:prstGeom>
          <a:noFill/>
          <a:ln/>
        </p:spPr>
        <p:txBody>
          <a:bodyPr wrap="square" lIns="0" tIns="0" rIns="0" bIns="0" rtlCol="0" anchor="ctr"/>
          <a:lstStyle/>
          <a:p>
            <a:pPr algn="l" indent="0" marL="0">
              <a:buNone/>
            </a:pPr>
            <a:r>
              <a:rPr lang="en-US" sz="26000" b="1" dirty="0">
                <a:solidFill>
                  <a:srgbClr val="DDF2F2"/>
                </a:solidFill>
                <a:latin typeface="Cambria" pitchFamily="34" charset="0"/>
                <a:ea typeface="Cambria" pitchFamily="34" charset="-122"/>
                <a:cs typeface="Cambria" pitchFamily="34" charset="-120"/>
              </a:rPr>
              <a:t>08</a:t>
            </a:r>
            <a:endParaRPr lang="en-US" sz="26000" dirty="0"/>
          </a:p>
        </p:txBody>
      </p:sp>
      <p:sp>
        <p:nvSpPr>
          <p:cNvPr id="4" name="Shape 1"/>
          <p:cNvSpPr/>
          <p:nvPr/>
        </p:nvSpPr>
        <p:spPr>
          <a:xfrm>
            <a:off x="10104120" y="-685800"/>
            <a:ext cx="2743200" cy="2743200"/>
          </a:xfrm>
          <a:prstGeom prst="ellipse">
            <a:avLst/>
          </a:prstGeom>
          <a:solidFill>
            <a:srgbClr val="7ACECB"/>
          </a:solidFill>
          <a:ln/>
        </p:spPr>
      </p:sp>
      <p:sp>
        <p:nvSpPr>
          <p:cNvPr id="5" name="Shape 2"/>
          <p:cNvSpPr/>
          <p:nvPr/>
        </p:nvSpPr>
        <p:spPr>
          <a:xfrm>
            <a:off x="8001000" y="502920"/>
            <a:ext cx="3657600" cy="5806440"/>
          </a:xfrm>
          <a:prstGeom prst="roundRect">
            <a:avLst>
              <a:gd name="adj" fmla="val 11250"/>
            </a:avLst>
          </a:prstGeom>
          <a:solidFill>
            <a:srgbClr val="0EA5A0"/>
          </a:solidFill>
          <a:ln/>
        </p:spPr>
      </p:sp>
      <p:sp>
        <p:nvSpPr>
          <p:cNvPr id="6" name="Shape 3"/>
          <p:cNvSpPr/>
          <p:nvPr/>
        </p:nvSpPr>
        <p:spPr>
          <a:xfrm>
            <a:off x="8988552" y="2336292"/>
            <a:ext cx="1682496" cy="1682496"/>
          </a:xfrm>
          <a:prstGeom prst="ellipse">
            <a:avLst/>
          </a:prstGeom>
          <a:solidFill>
            <a:srgbClr val="FFFFFF"/>
          </a:solidFill>
          <a:ln/>
          <a:effectLst>
            <a:outerShdw sx="100000" sy="100000" kx="0" ky="0" algn="bl" rotWithShape="0" blurRad="127000" dist="38100" dir="5400000">
              <a:srgbClr val="17223A">
                <a:alpha val="18000"/>
              </a:srgbClr>
            </a:outerShdw>
          </a:effectLst>
        </p:spPr>
      </p:sp>
      <p:pic>
        <p:nvPicPr>
          <p:cNvPr id="7" name="Image 0" descr="/tmp/claude-0/-home-user-riesgo/0ff9ff46-1396-5bd8-b3ac-2280dfbbbc55/scratchpad/work/gen/icons/globe_navy.png">    </p:cNvPr>
          <p:cNvPicPr>
            <a:picLocks noChangeAspect="1"/>
          </p:cNvPicPr>
          <p:nvPr/>
        </p:nvPicPr>
        <p:blipFill>
          <a:blip r:embed="rId1"/>
          <a:stretch>
            <a:fillRect/>
          </a:stretch>
        </p:blipFill>
        <p:spPr>
          <a:xfrm>
            <a:off x="9459651" y="2807391"/>
            <a:ext cx="740298" cy="740298"/>
          </a:xfrm>
          <a:prstGeom prst="rect">
            <a:avLst/>
          </a:prstGeom>
        </p:spPr>
      </p:pic>
      <p:sp>
        <p:nvSpPr>
          <p:cNvPr id="8" name="Shape 4"/>
          <p:cNvSpPr/>
          <p:nvPr/>
        </p:nvSpPr>
        <p:spPr>
          <a:xfrm>
            <a:off x="7731801" y="5594299"/>
            <a:ext cx="841248" cy="841248"/>
          </a:xfrm>
          <a:prstGeom prst="ellipse">
            <a:avLst/>
          </a:prstGeom>
          <a:solidFill>
            <a:srgbClr val="133B6C"/>
          </a:solidFill>
          <a:ln/>
          <a:effectLst>
            <a:outerShdw sx="100000" sy="100000" kx="0" ky="0" algn="bl" rotWithShape="0" blurRad="127000" dist="38100" dir="5400000">
              <a:srgbClr val="17223A">
                <a:alpha val="18000"/>
              </a:srgbClr>
            </a:outerShdw>
          </a:effectLst>
        </p:spPr>
      </p:sp>
      <p:pic>
        <p:nvPicPr>
          <p:cNvPr id="9" name="Image 1" descr="/tmp/claude-0/-home-user-riesgo/0ff9ff46-1396-5bd8-b3ac-2280dfbbbc55/scratchpad/work/gen/icons/leaf_white.png">    </p:cNvPr>
          <p:cNvPicPr>
            <a:picLocks noChangeAspect="1"/>
          </p:cNvPicPr>
          <p:nvPr/>
        </p:nvPicPr>
        <p:blipFill>
          <a:blip r:embed="rId2"/>
          <a:stretch>
            <a:fillRect/>
          </a:stretch>
        </p:blipFill>
        <p:spPr>
          <a:xfrm>
            <a:off x="7950525" y="5813024"/>
            <a:ext cx="403799" cy="403799"/>
          </a:xfrm>
          <a:prstGeom prst="rect">
            <a:avLst/>
          </a:prstGeom>
        </p:spPr>
      </p:pic>
      <p:sp>
        <p:nvSpPr>
          <p:cNvPr id="10" name="Text 5"/>
          <p:cNvSpPr txBox="1"/>
          <p:nvPr/>
        </p:nvSpPr>
        <p:spPr>
          <a:xfrm>
            <a:off x="566928" y="2286000"/>
            <a:ext cx="7223760" cy="365760"/>
          </a:xfrm>
          <a:prstGeom prst="rect">
            <a:avLst/>
          </a:prstGeom>
          <a:noFill/>
          <a:ln/>
        </p:spPr>
        <p:txBody>
          <a:bodyPr wrap="square" lIns="0" tIns="0" rIns="0" bIns="0" rtlCol="0" anchor="ctr"/>
          <a:lstStyle/>
          <a:p>
            <a:pPr indent="0" marL="0">
              <a:buNone/>
            </a:pPr>
            <a:r>
              <a:rPr lang="en-US" sz="1500" b="1" spc="300" kern="0" dirty="0">
                <a:solidFill>
                  <a:srgbClr val="0EA5A0"/>
                </a:solidFill>
                <a:latin typeface="Calibri" pitchFamily="34" charset="0"/>
                <a:ea typeface="Calibri" pitchFamily="34" charset="-122"/>
                <a:cs typeface="Calibri" pitchFamily="34" charset="-120"/>
              </a:rPr>
              <a:t>TEMA 8</a:t>
            </a:r>
            <a:endParaRPr lang="en-US" sz="1500" dirty="0"/>
          </a:p>
        </p:txBody>
      </p:sp>
      <p:sp>
        <p:nvSpPr>
          <p:cNvPr id="11" name="Text 6"/>
          <p:cNvSpPr txBox="1"/>
          <p:nvPr/>
        </p:nvSpPr>
        <p:spPr>
          <a:xfrm>
            <a:off x="566928" y="2697480"/>
            <a:ext cx="7223760" cy="1965960"/>
          </a:xfrm>
          <a:prstGeom prst="rect">
            <a:avLst/>
          </a:prstGeom>
          <a:noFill/>
          <a:ln/>
        </p:spPr>
        <p:txBody>
          <a:bodyPr wrap="square" lIns="0" tIns="0" rIns="0" bIns="0" rtlCol="0" anchor="t"/>
          <a:lstStyle/>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RIESGOS AMBIENTALES Y SOCIALES:</a:t>
            </a:r>
            <a:endParaRPr lang="en-US" sz="2200" dirty="0"/>
          </a:p>
          <a:p>
            <a:pPr indent="0" marL="0">
              <a:lnSpc>
                <a:spcPct val="105000"/>
              </a:lnSpc>
              <a:buNone/>
            </a:pPr>
            <a:r>
              <a:rPr lang="en-US" sz="2200" b="1" dirty="0">
                <a:solidFill>
                  <a:srgbClr val="133B6C"/>
                </a:solidFill>
                <a:latin typeface="Cambria" pitchFamily="34" charset="0"/>
                <a:ea typeface="Cambria" pitchFamily="34" charset="-122"/>
                <a:cs typeface="Cambria" pitchFamily="34" charset="-120"/>
              </a:rPr>
              <a:t>TAMBIÉN SON RIESGOS FINANCIEROS</a:t>
            </a:r>
            <a:endParaRPr lang="en-US" sz="2200" dirty="0"/>
          </a:p>
        </p:txBody>
      </p:sp>
      <p:sp>
        <p:nvSpPr>
          <p:cNvPr id="12" name="Text 7"/>
          <p:cNvSpPr txBox="1"/>
          <p:nvPr/>
        </p:nvSpPr>
        <p:spPr>
          <a:xfrm>
            <a:off x="566928" y="4663440"/>
            <a:ext cx="7040880" cy="822960"/>
          </a:xfrm>
          <a:prstGeom prst="rect">
            <a:avLst/>
          </a:prstGeom>
          <a:noFill/>
          <a:ln/>
        </p:spPr>
        <p:txBody>
          <a:bodyPr wrap="square" lIns="0" tIns="0" rIns="0" bIns="0" rtlCol="0" anchor="ctr"/>
          <a:lstStyle/>
          <a:p>
            <a:pPr indent="0" marL="0">
              <a:lnSpc>
                <a:spcPct val="118000"/>
              </a:lnSpc>
              <a:buNone/>
            </a:pPr>
            <a:r>
              <a:rPr lang="en-US" sz="1550" i="1" dirty="0">
                <a:solidFill>
                  <a:srgbClr val="5B6B82"/>
                </a:solidFill>
                <a:latin typeface="Calibri" pitchFamily="34" charset="0"/>
                <a:ea typeface="Calibri" pitchFamily="34" charset="-122"/>
                <a:cs typeface="Calibri" pitchFamily="34" charset="-120"/>
              </a:rPr>
              <a:t>Ambiente + sociedad + negocio + finanzas: una misma cadena.</a:t>
            </a:r>
            <a:endParaRPr lang="en-US" sz="1550" dirty="0"/>
          </a:p>
        </p:txBody>
      </p:sp>
      <p:pic>
        <p:nvPicPr>
          <p:cNvPr id="13" name="Image 2" descr="/tmp/claude-0/-home-user-riesgo/0ff9ff46-1396-5bd8-b3ac-2280dfbbbc55/scratchpad/work/gen/logo_navy.png">    </p:cNvPr>
          <p:cNvPicPr>
            <a:picLocks noChangeAspect="1"/>
          </p:cNvPicPr>
          <p:nvPr/>
        </p:nvPicPr>
        <p:blipFill>
          <a:blip r:embed="rId3"/>
          <a:stretch>
            <a:fillRect/>
          </a:stretch>
        </p:blipFill>
        <p:spPr>
          <a:xfrm>
            <a:off x="566928" y="5989320"/>
            <a:ext cx="1417320" cy="398267"/>
          </a:xfrm>
          <a:prstGeom prst="rect">
            <a:avLst/>
          </a:prstGeom>
        </p:spPr>
      </p:pic>
      <p:sp>
        <p:nvSpPr>
          <p:cNvPr id="14" name="Text 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15" name="Text 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0EA5A0"/>
                </a:solidFill>
                <a:latin typeface="Calibri" pitchFamily="34" charset="0"/>
                <a:ea typeface="Calibri" pitchFamily="34" charset="-122"/>
                <a:cs typeface="Calibri" pitchFamily="34" charset="-120"/>
              </a:rPr>
              <a:t>TEMA 8 · DE LO AMBIENTAL A LO FINANCIERO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400" b="1" dirty="0">
                <a:solidFill>
                  <a:srgbClr val="133B6C"/>
                </a:solidFill>
                <a:latin typeface="Cambria" pitchFamily="34" charset="0"/>
                <a:ea typeface="Cambria" pitchFamily="34" charset="-122"/>
                <a:cs typeface="Cambria" pitchFamily="34" charset="-120"/>
              </a:rPr>
              <a:t>UNA CADENA DE IMPACTO</a:t>
            </a:r>
            <a:endParaRPr lang="en-US" sz="24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Así es como un evento externo puede terminar afectando las finanzas de la Cooperativa:</a:t>
            </a:r>
            <a:endParaRPr lang="en-US" sz="1500" dirty="0"/>
          </a:p>
        </p:txBody>
      </p:sp>
      <p:sp>
        <p:nvSpPr>
          <p:cNvPr id="6" name="Shape 3"/>
          <p:cNvSpPr/>
          <p:nvPr/>
        </p:nvSpPr>
        <p:spPr>
          <a:xfrm>
            <a:off x="1238372" y="2148840"/>
            <a:ext cx="868680" cy="868680"/>
          </a:xfrm>
          <a:prstGeom prst="ellipse">
            <a:avLst/>
          </a:prstGeom>
          <a:solidFill>
            <a:srgbClr val="F0AD35"/>
          </a:solidFill>
          <a:ln/>
        </p:spPr>
      </p:sp>
      <p:pic>
        <p:nvPicPr>
          <p:cNvPr id="7" name="Image 0" descr="/tmp/claude-0/-home-user-riesgo/0ff9ff46-1396-5bd8-b3ac-2280dfbbbc55/scratchpad/work/gen/icons/cloud_rain_white.png">    </p:cNvPr>
          <p:cNvPicPr>
            <a:picLocks noChangeAspect="1"/>
          </p:cNvPicPr>
          <p:nvPr/>
        </p:nvPicPr>
        <p:blipFill>
          <a:blip r:embed="rId1"/>
          <a:stretch>
            <a:fillRect/>
          </a:stretch>
        </p:blipFill>
        <p:spPr>
          <a:xfrm>
            <a:off x="1455542" y="2366010"/>
            <a:ext cx="434340" cy="434340"/>
          </a:xfrm>
          <a:prstGeom prst="rect">
            <a:avLst/>
          </a:prstGeom>
        </p:spPr>
      </p:pic>
      <p:sp>
        <p:nvSpPr>
          <p:cNvPr id="8" name="Text 4"/>
          <p:cNvSpPr txBox="1"/>
          <p:nvPr/>
        </p:nvSpPr>
        <p:spPr>
          <a:xfrm>
            <a:off x="621792"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Evento ambiental o social</a:t>
            </a:r>
            <a:endParaRPr lang="en-US" sz="1150" dirty="0"/>
          </a:p>
        </p:txBody>
      </p:sp>
      <p:pic>
        <p:nvPicPr>
          <p:cNvPr id="9" name="Image 1" descr="/tmp/claude-0/-home-user-riesgo/0ff9ff46-1396-5bd8-b3ac-2280dfbbbc55/scratchpad/work/gen/icons/arrow_right_gray.png">    </p:cNvPr>
          <p:cNvPicPr>
            <a:picLocks noChangeAspect="1"/>
          </p:cNvPicPr>
          <p:nvPr/>
        </p:nvPicPr>
        <p:blipFill>
          <a:blip r:embed="rId2"/>
          <a:stretch>
            <a:fillRect/>
          </a:stretch>
        </p:blipFill>
        <p:spPr>
          <a:xfrm>
            <a:off x="2641336" y="2446020"/>
            <a:ext cx="274320" cy="274320"/>
          </a:xfrm>
          <a:prstGeom prst="rect">
            <a:avLst/>
          </a:prstGeom>
        </p:spPr>
      </p:pic>
      <p:sp>
        <p:nvSpPr>
          <p:cNvPr id="10" name="Shape 5"/>
          <p:cNvSpPr/>
          <p:nvPr/>
        </p:nvSpPr>
        <p:spPr>
          <a:xfrm>
            <a:off x="3449940" y="2148840"/>
            <a:ext cx="868680" cy="868680"/>
          </a:xfrm>
          <a:prstGeom prst="ellipse">
            <a:avLst/>
          </a:prstGeom>
          <a:solidFill>
            <a:srgbClr val="0EA5A0"/>
          </a:solidFill>
          <a:ln/>
        </p:spPr>
      </p:sp>
      <p:pic>
        <p:nvPicPr>
          <p:cNvPr id="11" name="Image 2" descr="/tmp/claude-0/-home-user-riesgo/0ff9ff46-1396-5bd8-b3ac-2280dfbbbc55/scratchpad/work/gen/icons/people_group_white.png">    </p:cNvPr>
          <p:cNvPicPr>
            <a:picLocks noChangeAspect="1"/>
          </p:cNvPicPr>
          <p:nvPr/>
        </p:nvPicPr>
        <p:blipFill>
          <a:blip r:embed="rId3"/>
          <a:stretch>
            <a:fillRect/>
          </a:stretch>
        </p:blipFill>
        <p:spPr>
          <a:xfrm>
            <a:off x="3667110" y="2366010"/>
            <a:ext cx="434340" cy="434340"/>
          </a:xfrm>
          <a:prstGeom prst="rect">
            <a:avLst/>
          </a:prstGeom>
        </p:spPr>
      </p:pic>
      <p:sp>
        <p:nvSpPr>
          <p:cNvPr id="12" name="Text 6"/>
          <p:cNvSpPr txBox="1"/>
          <p:nvPr/>
        </p:nvSpPr>
        <p:spPr>
          <a:xfrm>
            <a:off x="2833360"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Afecta a personas y operaciones</a:t>
            </a:r>
            <a:endParaRPr lang="en-US" sz="1150" dirty="0"/>
          </a:p>
        </p:txBody>
      </p:sp>
      <p:pic>
        <p:nvPicPr>
          <p:cNvPr id="13" name="Image 3" descr="/tmp/claude-0/-home-user-riesgo/0ff9ff46-1396-5bd8-b3ac-2280dfbbbc55/scratchpad/work/gen/icons/arrow_right_gray.png">    </p:cNvPr>
          <p:cNvPicPr>
            <a:picLocks noChangeAspect="1"/>
          </p:cNvPicPr>
          <p:nvPr/>
        </p:nvPicPr>
        <p:blipFill>
          <a:blip r:embed="rId4"/>
          <a:stretch>
            <a:fillRect/>
          </a:stretch>
        </p:blipFill>
        <p:spPr>
          <a:xfrm>
            <a:off x="4852904" y="2446020"/>
            <a:ext cx="274320" cy="274320"/>
          </a:xfrm>
          <a:prstGeom prst="rect">
            <a:avLst/>
          </a:prstGeom>
        </p:spPr>
      </p:pic>
      <p:sp>
        <p:nvSpPr>
          <p:cNvPr id="14" name="Shape 7"/>
          <p:cNvSpPr/>
          <p:nvPr/>
        </p:nvSpPr>
        <p:spPr>
          <a:xfrm>
            <a:off x="5661508" y="2148840"/>
            <a:ext cx="868680" cy="868680"/>
          </a:xfrm>
          <a:prstGeom prst="ellipse">
            <a:avLst/>
          </a:prstGeom>
          <a:solidFill>
            <a:srgbClr val="0EA5A0"/>
          </a:solidFill>
          <a:ln/>
        </p:spPr>
      </p:sp>
      <p:pic>
        <p:nvPicPr>
          <p:cNvPr id="15" name="Image 4" descr="/tmp/claude-0/-home-user-riesgo/0ff9ff46-1396-5bd8-b3ac-2280dfbbbc55/scratchpad/work/gen/icons/x_circle_white.png">    </p:cNvPr>
          <p:cNvPicPr>
            <a:picLocks noChangeAspect="1"/>
          </p:cNvPicPr>
          <p:nvPr/>
        </p:nvPicPr>
        <p:blipFill>
          <a:blip r:embed="rId5"/>
          <a:stretch>
            <a:fillRect/>
          </a:stretch>
        </p:blipFill>
        <p:spPr>
          <a:xfrm>
            <a:off x="5878678" y="2366010"/>
            <a:ext cx="434340" cy="434340"/>
          </a:xfrm>
          <a:prstGeom prst="rect">
            <a:avLst/>
          </a:prstGeom>
        </p:spPr>
      </p:pic>
      <p:sp>
        <p:nvSpPr>
          <p:cNvPr id="16" name="Text 8"/>
          <p:cNvSpPr txBox="1"/>
          <p:nvPr/>
        </p:nvSpPr>
        <p:spPr>
          <a:xfrm>
            <a:off x="5044928"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Interrupción o deterioro</a:t>
            </a:r>
            <a:endParaRPr lang="en-US" sz="1150" dirty="0"/>
          </a:p>
        </p:txBody>
      </p:sp>
      <p:pic>
        <p:nvPicPr>
          <p:cNvPr id="17" name="Image 5" descr="/tmp/claude-0/-home-user-riesgo/0ff9ff46-1396-5bd8-b3ac-2280dfbbbc55/scratchpad/work/gen/icons/arrow_right_gray.png">    </p:cNvPr>
          <p:cNvPicPr>
            <a:picLocks noChangeAspect="1"/>
          </p:cNvPicPr>
          <p:nvPr/>
        </p:nvPicPr>
        <p:blipFill>
          <a:blip r:embed="rId6"/>
          <a:stretch>
            <a:fillRect/>
          </a:stretch>
        </p:blipFill>
        <p:spPr>
          <a:xfrm>
            <a:off x="7064472" y="2446020"/>
            <a:ext cx="274320" cy="274320"/>
          </a:xfrm>
          <a:prstGeom prst="rect">
            <a:avLst/>
          </a:prstGeom>
        </p:spPr>
      </p:pic>
      <p:sp>
        <p:nvSpPr>
          <p:cNvPr id="18" name="Shape 9"/>
          <p:cNvSpPr/>
          <p:nvPr/>
        </p:nvSpPr>
        <p:spPr>
          <a:xfrm>
            <a:off x="7873075" y="2148840"/>
            <a:ext cx="868680" cy="868680"/>
          </a:xfrm>
          <a:prstGeom prst="ellipse">
            <a:avLst/>
          </a:prstGeom>
          <a:solidFill>
            <a:srgbClr val="0EA5A0"/>
          </a:solidFill>
          <a:ln/>
        </p:spPr>
      </p:sp>
      <p:pic>
        <p:nvPicPr>
          <p:cNvPr id="19" name="Image 6" descr="/tmp/claude-0/-home-user-riesgo/0ff9ff46-1396-5bd8-b3ac-2280dfbbbc55/scratchpad/work/gen/icons/chart_down_white.png">    </p:cNvPr>
          <p:cNvPicPr>
            <a:picLocks noChangeAspect="1"/>
          </p:cNvPicPr>
          <p:nvPr/>
        </p:nvPicPr>
        <p:blipFill>
          <a:blip r:embed="rId7"/>
          <a:stretch>
            <a:fillRect/>
          </a:stretch>
        </p:blipFill>
        <p:spPr>
          <a:xfrm>
            <a:off x="8090245" y="2366010"/>
            <a:ext cx="434340" cy="434340"/>
          </a:xfrm>
          <a:prstGeom prst="rect">
            <a:avLst/>
          </a:prstGeom>
        </p:spPr>
      </p:pic>
      <p:sp>
        <p:nvSpPr>
          <p:cNvPr id="20" name="Text 10"/>
          <p:cNvSpPr txBox="1"/>
          <p:nvPr/>
        </p:nvSpPr>
        <p:spPr>
          <a:xfrm>
            <a:off x="7256496"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económico</a:t>
            </a:r>
            <a:endParaRPr lang="en-US" sz="1150" dirty="0"/>
          </a:p>
        </p:txBody>
      </p:sp>
      <p:pic>
        <p:nvPicPr>
          <p:cNvPr id="21" name="Image 7" descr="/tmp/claude-0/-home-user-riesgo/0ff9ff46-1396-5bd8-b3ac-2280dfbbbc55/scratchpad/work/gen/icons/arrow_right_gray.png">    </p:cNvPr>
          <p:cNvPicPr>
            <a:picLocks noChangeAspect="1"/>
          </p:cNvPicPr>
          <p:nvPr/>
        </p:nvPicPr>
        <p:blipFill>
          <a:blip r:embed="rId8"/>
          <a:stretch>
            <a:fillRect/>
          </a:stretch>
        </p:blipFill>
        <p:spPr>
          <a:xfrm>
            <a:off x="9276039" y="2446020"/>
            <a:ext cx="274320" cy="274320"/>
          </a:xfrm>
          <a:prstGeom prst="rect">
            <a:avLst/>
          </a:prstGeom>
        </p:spPr>
      </p:pic>
      <p:sp>
        <p:nvSpPr>
          <p:cNvPr id="22" name="Shape 11"/>
          <p:cNvSpPr/>
          <p:nvPr/>
        </p:nvSpPr>
        <p:spPr>
          <a:xfrm>
            <a:off x="10084643" y="2148840"/>
            <a:ext cx="868680" cy="868680"/>
          </a:xfrm>
          <a:prstGeom prst="ellipse">
            <a:avLst/>
          </a:prstGeom>
          <a:solidFill>
            <a:srgbClr val="E0392B"/>
          </a:solidFill>
          <a:ln/>
        </p:spPr>
      </p:sp>
      <p:pic>
        <p:nvPicPr>
          <p:cNvPr id="23" name="Image 8" descr="/tmp/claude-0/-home-user-riesgo/0ff9ff46-1396-5bd8-b3ac-2280dfbbbc55/scratchpad/work/gen/icons/bank_white.png">    </p:cNvPr>
          <p:cNvPicPr>
            <a:picLocks noChangeAspect="1"/>
          </p:cNvPicPr>
          <p:nvPr/>
        </p:nvPicPr>
        <p:blipFill>
          <a:blip r:embed="rId9"/>
          <a:stretch>
            <a:fillRect/>
          </a:stretch>
        </p:blipFill>
        <p:spPr>
          <a:xfrm>
            <a:off x="10301813" y="2366010"/>
            <a:ext cx="434340" cy="434340"/>
          </a:xfrm>
          <a:prstGeom prst="rect">
            <a:avLst/>
          </a:prstGeom>
        </p:spPr>
      </p:pic>
      <p:sp>
        <p:nvSpPr>
          <p:cNvPr id="24" name="Text 12"/>
          <p:cNvSpPr txBox="1"/>
          <p:nvPr/>
        </p:nvSpPr>
        <p:spPr>
          <a:xfrm>
            <a:off x="9468063" y="3136392"/>
            <a:ext cx="2101840" cy="438912"/>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Impacto financiero</a:t>
            </a:r>
            <a:endParaRPr lang="en-US" sz="1150" dirty="0"/>
          </a:p>
        </p:txBody>
      </p:sp>
      <p:sp>
        <p:nvSpPr>
          <p:cNvPr id="25" name="Text 13"/>
          <p:cNvSpPr txBox="1"/>
          <p:nvPr/>
        </p:nvSpPr>
        <p:spPr>
          <a:xfrm>
            <a:off x="566928" y="3703320"/>
            <a:ext cx="11057839" cy="256032"/>
          </a:xfrm>
          <a:prstGeom prst="rect">
            <a:avLst/>
          </a:prstGeom>
          <a:noFill/>
          <a:ln/>
        </p:spPr>
        <p:txBody>
          <a:bodyPr wrap="square" lIns="0" tIns="0" rIns="0" bIns="0" rtlCol="0" anchor="ctr"/>
          <a:lstStyle/>
          <a:p>
            <a:pPr algn="ctr" indent="0" marL="0">
              <a:buNone/>
            </a:pPr>
            <a:r>
              <a:rPr lang="en-US" sz="1200" b="1" spc="150" kern="0" dirty="0">
                <a:solidFill>
                  <a:srgbClr val="5B6B82"/>
                </a:solidFill>
                <a:latin typeface="Calibri" pitchFamily="34" charset="0"/>
                <a:ea typeface="Calibri" pitchFamily="34" charset="-122"/>
                <a:cs typeface="Calibri" pitchFamily="34" charset="-120"/>
              </a:rPr>
              <a:t>EVENTOS QUE PUEDEN AFECTARNOS</a:t>
            </a:r>
            <a:endParaRPr lang="en-US" sz="1200" dirty="0"/>
          </a:p>
        </p:txBody>
      </p:sp>
      <p:sp>
        <p:nvSpPr>
          <p:cNvPr id="26" name="Shape 14"/>
          <p:cNvSpPr/>
          <p:nvPr/>
        </p:nvSpPr>
        <p:spPr>
          <a:xfrm>
            <a:off x="1361816" y="4087368"/>
            <a:ext cx="621792" cy="621792"/>
          </a:xfrm>
          <a:prstGeom prst="ellipse">
            <a:avLst/>
          </a:prstGeom>
          <a:solidFill>
            <a:srgbClr val="133B6C"/>
          </a:solidFill>
          <a:ln/>
        </p:spPr>
      </p:sp>
      <p:pic>
        <p:nvPicPr>
          <p:cNvPr id="27" name="Image 9" descr="/tmp/claude-0/-home-user-riesgo/0ff9ff46-1396-5bd8-b3ac-2280dfbbbc55/scratchpad/work/gen/icons/earthquake_white.png">    </p:cNvPr>
          <p:cNvPicPr>
            <a:picLocks noChangeAspect="1"/>
          </p:cNvPicPr>
          <p:nvPr/>
        </p:nvPicPr>
        <p:blipFill>
          <a:blip r:embed="rId10"/>
          <a:stretch>
            <a:fillRect/>
          </a:stretch>
        </p:blipFill>
        <p:spPr>
          <a:xfrm>
            <a:off x="1517264" y="4242816"/>
            <a:ext cx="310896" cy="310896"/>
          </a:xfrm>
          <a:prstGeom prst="rect">
            <a:avLst/>
          </a:prstGeom>
        </p:spPr>
      </p:pic>
      <p:sp>
        <p:nvSpPr>
          <p:cNvPr id="28" name="Text 15"/>
          <p:cNvSpPr txBox="1"/>
          <p:nvPr/>
        </p:nvSpPr>
        <p:spPr>
          <a:xfrm>
            <a:off x="640080"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Terremotos</a:t>
            </a:r>
            <a:endParaRPr lang="en-US" sz="1150" dirty="0"/>
          </a:p>
        </p:txBody>
      </p:sp>
      <p:sp>
        <p:nvSpPr>
          <p:cNvPr id="29" name="Shape 16"/>
          <p:cNvSpPr/>
          <p:nvPr/>
        </p:nvSpPr>
        <p:spPr>
          <a:xfrm>
            <a:off x="3573384" y="4087368"/>
            <a:ext cx="621792" cy="621792"/>
          </a:xfrm>
          <a:prstGeom prst="ellipse">
            <a:avLst/>
          </a:prstGeom>
          <a:solidFill>
            <a:srgbClr val="133B6C"/>
          </a:solidFill>
          <a:ln/>
        </p:spPr>
      </p:sp>
      <p:pic>
        <p:nvPicPr>
          <p:cNvPr id="30" name="Image 10" descr="/tmp/claude-0/-home-user-riesgo/0ff9ff46-1396-5bd8-b3ac-2280dfbbbc55/scratchpad/work/gen/icons/flood_white.png">    </p:cNvPr>
          <p:cNvPicPr>
            <a:picLocks noChangeAspect="1"/>
          </p:cNvPicPr>
          <p:nvPr/>
        </p:nvPicPr>
        <p:blipFill>
          <a:blip r:embed="rId11"/>
          <a:stretch>
            <a:fillRect/>
          </a:stretch>
        </p:blipFill>
        <p:spPr>
          <a:xfrm>
            <a:off x="3728832" y="4242816"/>
            <a:ext cx="310896" cy="310896"/>
          </a:xfrm>
          <a:prstGeom prst="rect">
            <a:avLst/>
          </a:prstGeom>
        </p:spPr>
      </p:pic>
      <p:sp>
        <p:nvSpPr>
          <p:cNvPr id="31" name="Text 17"/>
          <p:cNvSpPr txBox="1"/>
          <p:nvPr/>
        </p:nvSpPr>
        <p:spPr>
          <a:xfrm>
            <a:off x="2851648"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Inundaciones</a:t>
            </a:r>
            <a:endParaRPr lang="en-US" sz="1150" dirty="0"/>
          </a:p>
        </p:txBody>
      </p:sp>
      <p:sp>
        <p:nvSpPr>
          <p:cNvPr id="32" name="Shape 18"/>
          <p:cNvSpPr/>
          <p:nvPr/>
        </p:nvSpPr>
        <p:spPr>
          <a:xfrm>
            <a:off x="5784952" y="4087368"/>
            <a:ext cx="621792" cy="621792"/>
          </a:xfrm>
          <a:prstGeom prst="ellipse">
            <a:avLst/>
          </a:prstGeom>
          <a:solidFill>
            <a:srgbClr val="133B6C"/>
          </a:solidFill>
          <a:ln/>
        </p:spPr>
      </p:sp>
      <p:pic>
        <p:nvPicPr>
          <p:cNvPr id="33" name="Image 11" descr="/tmp/claude-0/-home-user-riesgo/0ff9ff46-1396-5bd8-b3ac-2280dfbbbc55/scratchpad/work/gen/icons/wind_white.png">    </p:cNvPr>
          <p:cNvPicPr>
            <a:picLocks noChangeAspect="1"/>
          </p:cNvPicPr>
          <p:nvPr/>
        </p:nvPicPr>
        <p:blipFill>
          <a:blip r:embed="rId12"/>
          <a:stretch>
            <a:fillRect/>
          </a:stretch>
        </p:blipFill>
        <p:spPr>
          <a:xfrm>
            <a:off x="5940400" y="4242816"/>
            <a:ext cx="310896" cy="310896"/>
          </a:xfrm>
          <a:prstGeom prst="rect">
            <a:avLst/>
          </a:prstGeom>
        </p:spPr>
      </p:pic>
      <p:sp>
        <p:nvSpPr>
          <p:cNvPr id="34" name="Text 19"/>
          <p:cNvSpPr txBox="1"/>
          <p:nvPr/>
        </p:nvSpPr>
        <p:spPr>
          <a:xfrm>
            <a:off x="5063216"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Cambio climático</a:t>
            </a:r>
            <a:endParaRPr lang="en-US" sz="1150" dirty="0"/>
          </a:p>
        </p:txBody>
      </p:sp>
      <p:sp>
        <p:nvSpPr>
          <p:cNvPr id="35" name="Shape 20"/>
          <p:cNvSpPr/>
          <p:nvPr/>
        </p:nvSpPr>
        <p:spPr>
          <a:xfrm>
            <a:off x="7996519" y="4087368"/>
            <a:ext cx="621792" cy="621792"/>
          </a:xfrm>
          <a:prstGeom prst="ellipse">
            <a:avLst/>
          </a:prstGeom>
          <a:solidFill>
            <a:srgbClr val="133B6C"/>
          </a:solidFill>
          <a:ln/>
        </p:spPr>
      </p:sp>
      <p:pic>
        <p:nvPicPr>
          <p:cNvPr id="36" name="Image 12" descr="/tmp/claude-0/-home-user-riesgo/0ff9ff46-1396-5bd8-b3ac-2280dfbbbc55/scratchpad/work/gen/icons/virus_white.png">    </p:cNvPr>
          <p:cNvPicPr>
            <a:picLocks noChangeAspect="1"/>
          </p:cNvPicPr>
          <p:nvPr/>
        </p:nvPicPr>
        <p:blipFill>
          <a:blip r:embed="rId13"/>
          <a:stretch>
            <a:fillRect/>
          </a:stretch>
        </p:blipFill>
        <p:spPr>
          <a:xfrm>
            <a:off x="8151967" y="4242816"/>
            <a:ext cx="310896" cy="310896"/>
          </a:xfrm>
          <a:prstGeom prst="rect">
            <a:avLst/>
          </a:prstGeom>
        </p:spPr>
      </p:pic>
      <p:sp>
        <p:nvSpPr>
          <p:cNvPr id="37" name="Text 21"/>
          <p:cNvSpPr txBox="1"/>
          <p:nvPr/>
        </p:nvSpPr>
        <p:spPr>
          <a:xfrm>
            <a:off x="7274784"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Epidemias y pandemias</a:t>
            </a:r>
            <a:endParaRPr lang="en-US" sz="1150" dirty="0"/>
          </a:p>
        </p:txBody>
      </p:sp>
      <p:sp>
        <p:nvSpPr>
          <p:cNvPr id="38" name="Shape 22"/>
          <p:cNvSpPr/>
          <p:nvPr/>
        </p:nvSpPr>
        <p:spPr>
          <a:xfrm>
            <a:off x="10208087" y="4087368"/>
            <a:ext cx="621792" cy="621792"/>
          </a:xfrm>
          <a:prstGeom prst="ellipse">
            <a:avLst/>
          </a:prstGeom>
          <a:solidFill>
            <a:srgbClr val="133B6C"/>
          </a:solidFill>
          <a:ln/>
        </p:spPr>
      </p:sp>
      <p:pic>
        <p:nvPicPr>
          <p:cNvPr id="39" name="Image 13" descr="/tmp/claude-0/-home-user-riesgo/0ff9ff46-1396-5bd8-b3ac-2280dfbbbc55/scratchpad/work/gen/icons/fire_white.png">    </p:cNvPr>
          <p:cNvPicPr>
            <a:picLocks noChangeAspect="1"/>
          </p:cNvPicPr>
          <p:nvPr/>
        </p:nvPicPr>
        <p:blipFill>
          <a:blip r:embed="rId14"/>
          <a:stretch>
            <a:fillRect/>
          </a:stretch>
        </p:blipFill>
        <p:spPr>
          <a:xfrm>
            <a:off x="10363535" y="4242816"/>
            <a:ext cx="310896" cy="310896"/>
          </a:xfrm>
          <a:prstGeom prst="rect">
            <a:avLst/>
          </a:prstGeom>
        </p:spPr>
      </p:pic>
      <p:sp>
        <p:nvSpPr>
          <p:cNvPr id="40" name="Text 23"/>
          <p:cNvSpPr txBox="1"/>
          <p:nvPr/>
        </p:nvSpPr>
        <p:spPr>
          <a:xfrm>
            <a:off x="9486351" y="4818888"/>
            <a:ext cx="2065264" cy="384048"/>
          </a:xfrm>
          <a:prstGeom prst="rect">
            <a:avLst/>
          </a:prstGeom>
          <a:noFill/>
          <a:ln/>
        </p:spPr>
        <p:txBody>
          <a:bodyPr wrap="square" lIns="0" tIns="0" rIns="0" bIns="0" rtlCol="0" anchor="t"/>
          <a:lstStyle/>
          <a:p>
            <a:pPr algn="ctr" indent="0" marL="0">
              <a:lnSpc>
                <a:spcPct val="95000"/>
              </a:lnSpc>
              <a:buNone/>
            </a:pPr>
            <a:r>
              <a:rPr lang="en-US" sz="1150" b="1" dirty="0">
                <a:solidFill>
                  <a:srgbClr val="133B6C"/>
                </a:solidFill>
                <a:latin typeface="Calibri" pitchFamily="34" charset="0"/>
                <a:ea typeface="Calibri" pitchFamily="34" charset="-122"/>
                <a:cs typeface="Calibri" pitchFamily="34" charset="-120"/>
              </a:rPr>
              <a:t>Incendios e interrupciones</a:t>
            </a:r>
            <a:endParaRPr lang="en-US" sz="1150" dirty="0"/>
          </a:p>
        </p:txBody>
      </p:sp>
      <p:sp>
        <p:nvSpPr>
          <p:cNvPr id="41" name="Text 24"/>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2" name="Text 25"/>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7A9B0"/>
                </a:solidFill>
                <a:latin typeface="Calibri" pitchFamily="34" charset="0"/>
                <a:ea typeface="Calibri" pitchFamily="34" charset="-122"/>
                <a:cs typeface="Calibri" pitchFamily="34" charset="-120"/>
              </a:rPr>
              <a:t>CASOS INTEGRADORES · CASO 1</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EL SISTEMA SE CAE EN CIERRE DE MES</a:t>
            </a:r>
            <a:endParaRPr lang="en-US" sz="2200" dirty="0"/>
          </a:p>
        </p:txBody>
      </p:sp>
      <p:sp>
        <p:nvSpPr>
          <p:cNvPr id="5" name="Text 2"/>
          <p:cNvSpPr txBox="1"/>
          <p:nvPr/>
        </p:nvSpPr>
        <p:spPr>
          <a:xfrm>
            <a:off x="566928" y="1417320"/>
            <a:ext cx="11057839" cy="329184"/>
          </a:xfrm>
          <a:prstGeom prst="rect">
            <a:avLst/>
          </a:prstGeom>
          <a:noFill/>
          <a:ln/>
        </p:spPr>
        <p:txBody>
          <a:bodyPr wrap="square" lIns="0" tIns="0" rIns="0" bIns="0" rtlCol="0" anchor="ctr"/>
          <a:lstStyle/>
          <a:p>
            <a:pPr indent="0" marL="0">
              <a:lnSpc>
                <a:spcPct val="110000"/>
              </a:lnSpc>
              <a:buNone/>
            </a:pPr>
            <a:r>
              <a:rPr lang="en-US" sz="1250" i="1" dirty="0">
                <a:solidFill>
                  <a:srgbClr val="5B6B82"/>
                </a:solidFill>
                <a:latin typeface="Calibri" pitchFamily="34" charset="0"/>
                <a:ea typeface="Calibri" pitchFamily="34" charset="-122"/>
                <a:cs typeface="Calibri" pitchFamily="34" charset="-120"/>
              </a:rPr>
              <a:t>CASOS INTEGRADORES — Cuatro situaciones reales de una cooperativa financiera para aplicar todo lo aprendido.</a:t>
            </a:r>
            <a:endParaRPr lang="en-US" sz="1250" dirty="0"/>
          </a:p>
        </p:txBody>
      </p:sp>
      <p:sp>
        <p:nvSpPr>
          <p:cNvPr id="6" name="Shape 3"/>
          <p:cNvSpPr/>
          <p:nvPr/>
        </p:nvSpPr>
        <p:spPr>
          <a:xfrm>
            <a:off x="566928" y="1920240"/>
            <a:ext cx="11057839" cy="841248"/>
          </a:xfrm>
          <a:prstGeom prst="roundRect">
            <a:avLst>
              <a:gd name="adj" fmla="val 13043"/>
            </a:avLst>
          </a:prstGeom>
          <a:solidFill>
            <a:srgbClr val="133B6C"/>
          </a:solidFill>
          <a:ln/>
        </p:spPr>
      </p:sp>
      <p:sp>
        <p:nvSpPr>
          <p:cNvPr id="7" name="Shape 4"/>
          <p:cNvSpPr/>
          <p:nvPr/>
        </p:nvSpPr>
        <p:spPr>
          <a:xfrm>
            <a:off x="768096" y="2075688"/>
            <a:ext cx="530352" cy="530352"/>
          </a:xfrm>
          <a:prstGeom prst="ellipse">
            <a:avLst/>
          </a:prstGeom>
          <a:solidFill>
            <a:srgbClr val="17A9B0"/>
          </a:solidFill>
          <a:ln/>
        </p:spPr>
      </p:sp>
      <p:pic>
        <p:nvPicPr>
          <p:cNvPr id="8" name="Image 0" descr="/tmp/claude-0/-home-user-riesgo/0ff9ff46-1396-5bd8-b3ac-2280dfbbbc55/scratchpad/work/gen/icons/server_white.png">    </p:cNvPr>
          <p:cNvPicPr>
            <a:picLocks noChangeAspect="1"/>
          </p:cNvPicPr>
          <p:nvPr/>
        </p:nvPicPr>
        <p:blipFill>
          <a:blip r:embed="rId1"/>
          <a:stretch>
            <a:fillRect/>
          </a:stretch>
        </p:blipFill>
        <p:spPr>
          <a:xfrm>
            <a:off x="887425" y="2195017"/>
            <a:ext cx="291694" cy="291694"/>
          </a:xfrm>
          <a:prstGeom prst="rect">
            <a:avLst/>
          </a:prstGeom>
        </p:spPr>
      </p:pic>
      <p:sp>
        <p:nvSpPr>
          <p:cNvPr id="9" name="Text 5"/>
          <p:cNvSpPr txBox="1"/>
          <p:nvPr/>
        </p:nvSpPr>
        <p:spPr>
          <a:xfrm>
            <a:off x="1435608" y="2039112"/>
            <a:ext cx="9418320" cy="237744"/>
          </a:xfrm>
          <a:prstGeom prst="rect">
            <a:avLst/>
          </a:prstGeom>
          <a:noFill/>
          <a:ln/>
        </p:spPr>
        <p:txBody>
          <a:bodyPr wrap="square" lIns="0" tIns="0" rIns="0" bIns="0" rtlCol="0" anchor="ctr"/>
          <a:lstStyle/>
          <a:p>
            <a:pPr indent="0" marL="0">
              <a:buNone/>
            </a:pPr>
            <a:r>
              <a:rPr lang="en-US" sz="1050" b="1" spc="200" kern="0" dirty="0">
                <a:solidFill>
                  <a:srgbClr val="97D8DB"/>
                </a:solidFill>
                <a:latin typeface="Calibri" pitchFamily="34" charset="0"/>
                <a:ea typeface="Calibri" pitchFamily="34" charset="-122"/>
                <a:cs typeface="Calibri" pitchFamily="34" charset="-120"/>
              </a:rPr>
              <a:t>SITUACIÓN</a:t>
            </a:r>
            <a:endParaRPr lang="en-US" sz="1050" dirty="0"/>
          </a:p>
        </p:txBody>
      </p:sp>
      <p:sp>
        <p:nvSpPr>
          <p:cNvPr id="10" name="Text 6"/>
          <p:cNvSpPr txBox="1"/>
          <p:nvPr/>
        </p:nvSpPr>
        <p:spPr>
          <a:xfrm>
            <a:off x="1435608" y="2267712"/>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Durante el cierre de mes, el sistema se cae varias veces mientras se procesan transacciones. El colaborador sigue intentando registrar manualmente sin informar a nadie, para “no atrasarse”.</a:t>
            </a:r>
            <a:endParaRPr lang="en-US" sz="1100" dirty="0"/>
          </a:p>
        </p:txBody>
      </p:sp>
      <p:sp>
        <p:nvSpPr>
          <p:cNvPr id="11" name="Text 7"/>
          <p:cNvSpPr txBox="1"/>
          <p:nvPr/>
        </p:nvSpPr>
        <p:spPr>
          <a:xfrm>
            <a:off x="566928" y="2926080"/>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2" name="Shape 8"/>
          <p:cNvSpPr/>
          <p:nvPr/>
        </p:nvSpPr>
        <p:spPr>
          <a:xfrm>
            <a:off x="566928" y="3182112"/>
            <a:ext cx="1598371" cy="329184"/>
          </a:xfrm>
          <a:prstGeom prst="roundRect">
            <a:avLst>
              <a:gd name="adj" fmla="val 50000"/>
            </a:avLst>
          </a:prstGeom>
          <a:solidFill>
            <a:srgbClr val="17A9B0"/>
          </a:solidFill>
          <a:ln/>
        </p:spPr>
      </p:sp>
      <p:sp>
        <p:nvSpPr>
          <p:cNvPr id="13" name="Text 9"/>
          <p:cNvSpPr txBox="1"/>
          <p:nvPr/>
        </p:nvSpPr>
        <p:spPr>
          <a:xfrm>
            <a:off x="566928" y="3182112"/>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4" name="Shape 10"/>
          <p:cNvSpPr/>
          <p:nvPr/>
        </p:nvSpPr>
        <p:spPr>
          <a:xfrm>
            <a:off x="2293315" y="3182112"/>
            <a:ext cx="1741018" cy="329184"/>
          </a:xfrm>
          <a:prstGeom prst="roundRect">
            <a:avLst>
              <a:gd name="adj" fmla="val 50000"/>
            </a:avLst>
          </a:prstGeom>
          <a:solidFill>
            <a:srgbClr val="17A9B0"/>
          </a:solidFill>
          <a:ln/>
        </p:spPr>
      </p:sp>
      <p:sp>
        <p:nvSpPr>
          <p:cNvPr id="15" name="Text 11"/>
          <p:cNvSpPr txBox="1"/>
          <p:nvPr/>
        </p:nvSpPr>
        <p:spPr>
          <a:xfrm>
            <a:off x="2293315" y="3182112"/>
            <a:ext cx="1741018"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tecnológico</a:t>
            </a:r>
            <a:endParaRPr lang="en-US" sz="1000" dirty="0"/>
          </a:p>
        </p:txBody>
      </p:sp>
      <p:sp>
        <p:nvSpPr>
          <p:cNvPr id="16" name="Shape 12"/>
          <p:cNvSpPr/>
          <p:nvPr/>
        </p:nvSpPr>
        <p:spPr>
          <a:xfrm>
            <a:off x="566928" y="3675888"/>
            <a:ext cx="3527450" cy="2377440"/>
          </a:xfrm>
          <a:prstGeom prst="roundRect">
            <a:avLst>
              <a:gd name="adj" fmla="val 3846"/>
            </a:avLst>
          </a:prstGeom>
          <a:solidFill>
            <a:srgbClr val="F2F5F9"/>
          </a:solidFill>
          <a:ln/>
        </p:spPr>
      </p:sp>
      <p:sp>
        <p:nvSpPr>
          <p:cNvPr id="17" name="Shape 13"/>
          <p:cNvSpPr/>
          <p:nvPr/>
        </p:nvSpPr>
        <p:spPr>
          <a:xfrm>
            <a:off x="4332122" y="3675888"/>
            <a:ext cx="3527450" cy="2377440"/>
          </a:xfrm>
          <a:prstGeom prst="roundRect">
            <a:avLst>
              <a:gd name="adj" fmla="val 3846"/>
            </a:avLst>
          </a:prstGeom>
          <a:solidFill>
            <a:srgbClr val="F2F5F9"/>
          </a:solidFill>
          <a:ln/>
        </p:spPr>
      </p:sp>
      <p:sp>
        <p:nvSpPr>
          <p:cNvPr id="18" name="Shape 14"/>
          <p:cNvSpPr/>
          <p:nvPr/>
        </p:nvSpPr>
        <p:spPr>
          <a:xfrm>
            <a:off x="8097317" y="3675888"/>
            <a:ext cx="3527450" cy="2377440"/>
          </a:xfrm>
          <a:prstGeom prst="roundRect">
            <a:avLst>
              <a:gd name="adj" fmla="val 3846"/>
            </a:avLst>
          </a:prstGeom>
          <a:solidFill>
            <a:srgbClr val="F2F5F9"/>
          </a:solidFill>
          <a:ln/>
        </p:spPr>
      </p:sp>
      <p:sp>
        <p:nvSpPr>
          <p:cNvPr id="19" name="Shape 15"/>
          <p:cNvSpPr/>
          <p:nvPr/>
        </p:nvSpPr>
        <p:spPr>
          <a:xfrm>
            <a:off x="5848960" y="4178808"/>
            <a:ext cx="493776" cy="493776"/>
          </a:xfrm>
          <a:prstGeom prst="ellipse">
            <a:avLst/>
          </a:prstGeom>
          <a:solidFill>
            <a:srgbClr val="8FA0B5"/>
          </a:solidFill>
          <a:ln/>
        </p:spPr>
      </p:sp>
      <p:pic>
        <p:nvPicPr>
          <p:cNvPr id="20" name="Image 1" descr="/tmp/claude-0/-home-user-riesgo/0ff9ff46-1396-5bd8-b3ac-2280dfbbbc55/scratchpad/work/gen/icons/question_white.png">    </p:cNvPr>
          <p:cNvPicPr>
            <a:picLocks noChangeAspect="1"/>
          </p:cNvPicPr>
          <p:nvPr/>
        </p:nvPicPr>
        <p:blipFill>
          <a:blip r:embed="rId2"/>
          <a:stretch>
            <a:fillRect/>
          </a:stretch>
        </p:blipFill>
        <p:spPr>
          <a:xfrm>
            <a:off x="5960059" y="4289908"/>
            <a:ext cx="271577" cy="271577"/>
          </a:xfrm>
          <a:prstGeom prst="rect">
            <a:avLst/>
          </a:prstGeom>
        </p:spPr>
      </p:pic>
      <p:sp>
        <p:nvSpPr>
          <p:cNvPr id="21" name="Text 16"/>
          <p:cNvSpPr txBox="1"/>
          <p:nvPr/>
        </p:nvSpPr>
        <p:spPr>
          <a:xfrm>
            <a:off x="4469282" y="4791456"/>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22" name="REVEAL_case1_0_bg"/>
          <p:cNvSpPr/>
          <p:nvPr/>
        </p:nvSpPr>
        <p:spPr>
          <a:xfrm>
            <a:off x="566928" y="3675888"/>
            <a:ext cx="3527450" cy="2377440"/>
          </a:xfrm>
          <a:prstGeom prst="roundRect">
            <a:avLst>
              <a:gd name="adj" fmla="val 3846"/>
            </a:avLst>
          </a:prstGeom>
          <a:solidFill>
            <a:srgbClr val="F2F5F9"/>
          </a:solidFill>
          <a:ln/>
        </p:spPr>
      </p:sp>
      <p:sp>
        <p:nvSpPr>
          <p:cNvPr id="23" name="REVEAL_case1_0_ic"/>
          <p:cNvSpPr/>
          <p:nvPr/>
        </p:nvSpPr>
        <p:spPr>
          <a:xfrm>
            <a:off x="2102053" y="3840480"/>
            <a:ext cx="457200" cy="457200"/>
          </a:xfrm>
          <a:prstGeom prst="ellipse">
            <a:avLst/>
          </a:prstGeom>
          <a:solidFill>
            <a:srgbClr val="2FAE60"/>
          </a:solidFill>
          <a:ln/>
        </p:spPr>
      </p:sp>
      <p:pic>
        <p:nvPicPr>
          <p:cNvPr id="24" name="REVEAL_case1_0_ic_ic" descr="/tmp/claude-0/-home-user-riesgo/0ff9ff46-1396-5bd8-b3ac-2280dfbbbc55/scratchpad/work/gen/icons/check_circle_white.png">    </p:cNvPr>
          <p:cNvPicPr>
            <a:picLocks noChangeAspect="1"/>
          </p:cNvPicPr>
          <p:nvPr/>
        </p:nvPicPr>
        <p:blipFill>
          <a:blip r:embed="rId3"/>
          <a:stretch>
            <a:fillRect/>
          </a:stretch>
        </p:blipFill>
        <p:spPr>
          <a:xfrm>
            <a:off x="2211781" y="3950208"/>
            <a:ext cx="237744" cy="237744"/>
          </a:xfrm>
          <a:prstGeom prst="rect">
            <a:avLst/>
          </a:prstGeom>
        </p:spPr>
      </p:pic>
      <p:sp>
        <p:nvSpPr>
          <p:cNvPr id="25" name="REVEAL_case1_0_lbl"/>
          <p:cNvSpPr txBox="1"/>
          <p:nvPr/>
        </p:nvSpPr>
        <p:spPr>
          <a:xfrm>
            <a:off x="713232"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6" name="REVEAL_case1_0_txt"/>
          <p:cNvSpPr txBox="1"/>
          <p:nvPr/>
        </p:nvSpPr>
        <p:spPr>
          <a:xfrm>
            <a:off x="749808"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Detener el registro manual improvisado y reportar la falla de inmediato para que sea atendida y documentada.</a:t>
            </a:r>
            <a:endParaRPr lang="en-US" sz="1080" dirty="0"/>
          </a:p>
        </p:txBody>
      </p:sp>
      <p:sp>
        <p:nvSpPr>
          <p:cNvPr id="27" name="REVEAL_case1_1_bg"/>
          <p:cNvSpPr/>
          <p:nvPr/>
        </p:nvSpPr>
        <p:spPr>
          <a:xfrm>
            <a:off x="4332122" y="3675888"/>
            <a:ext cx="3527450" cy="2377440"/>
          </a:xfrm>
          <a:prstGeom prst="roundRect">
            <a:avLst>
              <a:gd name="adj" fmla="val 3846"/>
            </a:avLst>
          </a:prstGeom>
          <a:solidFill>
            <a:srgbClr val="F2F5F9"/>
          </a:solidFill>
          <a:ln/>
        </p:spPr>
      </p:sp>
      <p:sp>
        <p:nvSpPr>
          <p:cNvPr id="28" name="REVEAL_case1_1_ic"/>
          <p:cNvSpPr/>
          <p:nvPr/>
        </p:nvSpPr>
        <p:spPr>
          <a:xfrm>
            <a:off x="5867248" y="3840480"/>
            <a:ext cx="457200" cy="457200"/>
          </a:xfrm>
          <a:prstGeom prst="ellipse">
            <a:avLst/>
          </a:prstGeom>
          <a:solidFill>
            <a:srgbClr val="133B6C"/>
          </a:solidFill>
          <a:ln/>
        </p:spPr>
      </p:sp>
      <p:pic>
        <p:nvPicPr>
          <p:cNvPr id="29" name="REVEAL_case1_1_ic_ic" descr="/tmp/claude-0/-home-user-riesgo/0ff9ff46-1396-5bd8-b3ac-2280dfbbbc55/scratchpad/work/gen/icons/people_group_white.png">    </p:cNvPr>
          <p:cNvPicPr>
            <a:picLocks noChangeAspect="1"/>
          </p:cNvPicPr>
          <p:nvPr/>
        </p:nvPicPr>
        <p:blipFill>
          <a:blip r:embed="rId4"/>
          <a:stretch>
            <a:fillRect/>
          </a:stretch>
        </p:blipFill>
        <p:spPr>
          <a:xfrm>
            <a:off x="5976976" y="3950208"/>
            <a:ext cx="237744" cy="237744"/>
          </a:xfrm>
          <a:prstGeom prst="rect">
            <a:avLst/>
          </a:prstGeom>
        </p:spPr>
      </p:pic>
      <p:sp>
        <p:nvSpPr>
          <p:cNvPr id="30" name="REVEAL_case1_1_lbl"/>
          <p:cNvSpPr txBox="1"/>
          <p:nvPr/>
        </p:nvSpPr>
        <p:spPr>
          <a:xfrm>
            <a:off x="4478426"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31" name="REVEAL_case1_1_txt"/>
          <p:cNvSpPr txBox="1"/>
          <p:nvPr/>
        </p:nvSpPr>
        <p:spPr>
          <a:xfrm>
            <a:off x="4515002"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detecta la falla, apoyado por su jefatura y las áreas técnicas correspondientes.</a:t>
            </a:r>
            <a:endParaRPr lang="en-US" sz="1080" dirty="0"/>
          </a:p>
        </p:txBody>
      </p:sp>
      <p:sp>
        <p:nvSpPr>
          <p:cNvPr id="32" name="REVEAL_case1_2_bg"/>
          <p:cNvSpPr/>
          <p:nvPr/>
        </p:nvSpPr>
        <p:spPr>
          <a:xfrm>
            <a:off x="8097317" y="3675888"/>
            <a:ext cx="3527450" cy="2377440"/>
          </a:xfrm>
          <a:prstGeom prst="roundRect">
            <a:avLst>
              <a:gd name="adj" fmla="val 3846"/>
            </a:avLst>
          </a:prstGeom>
          <a:solidFill>
            <a:srgbClr val="F2F5F9"/>
          </a:solidFill>
          <a:ln/>
        </p:spPr>
      </p:sp>
      <p:sp>
        <p:nvSpPr>
          <p:cNvPr id="33" name="REVEAL_case1_2_ic"/>
          <p:cNvSpPr/>
          <p:nvPr/>
        </p:nvSpPr>
        <p:spPr>
          <a:xfrm>
            <a:off x="9632442" y="3840480"/>
            <a:ext cx="457200" cy="457200"/>
          </a:xfrm>
          <a:prstGeom prst="ellipse">
            <a:avLst/>
          </a:prstGeom>
          <a:solidFill>
            <a:srgbClr val="E0392B"/>
          </a:solidFill>
          <a:ln/>
        </p:spPr>
      </p:sp>
      <p:pic>
        <p:nvPicPr>
          <p:cNvPr id="34" name="REVEAL_case1_2_ic_ic" descr="/tmp/claude-0/-home-user-riesgo/0ff9ff46-1396-5bd8-b3ac-2280dfbbbc55/scratchpad/work/gen/icons/warning_triangle_white.png">    </p:cNvPr>
          <p:cNvPicPr>
            <a:picLocks noChangeAspect="1"/>
          </p:cNvPicPr>
          <p:nvPr/>
        </p:nvPicPr>
        <p:blipFill>
          <a:blip r:embed="rId5"/>
          <a:stretch>
            <a:fillRect/>
          </a:stretch>
        </p:blipFill>
        <p:spPr>
          <a:xfrm>
            <a:off x="9742170" y="3950208"/>
            <a:ext cx="237744" cy="237744"/>
          </a:xfrm>
          <a:prstGeom prst="rect">
            <a:avLst/>
          </a:prstGeom>
        </p:spPr>
      </p:pic>
      <p:sp>
        <p:nvSpPr>
          <p:cNvPr id="35" name="REVEAL_case1_2_lbl"/>
          <p:cNvSpPr txBox="1"/>
          <p:nvPr/>
        </p:nvSpPr>
        <p:spPr>
          <a:xfrm>
            <a:off x="8243621" y="4389120"/>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6" name="REVEAL_case1_2_txt"/>
          <p:cNvSpPr txBox="1"/>
          <p:nvPr/>
        </p:nvSpPr>
        <p:spPr>
          <a:xfrm>
            <a:off x="8280197" y="4791456"/>
            <a:ext cx="3161690" cy="1152144"/>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Registros duplicados o incompletos, pérdida de información y decisiones basadas en datos incorrectos.</a:t>
            </a:r>
            <a:endParaRPr lang="en-US" sz="1080" dirty="0"/>
          </a:p>
        </p:txBody>
      </p:sp>
      <p:sp>
        <p:nvSpPr>
          <p:cNvPr id="37" name="Text 2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8" name="Text 3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set>
                                      <p:cBhvr>
                                        <p:cTn id="7" dur="1" fill="hold">
                                          <p:stCondLst>
                                            <p:cond delay="0"/>
                                          </p:stCondLst>
                                        </p:cTn>
                                        <p:tgtEl>
                                          <p:spTgt spid="23"/>
                                        </p:tgtEl>
                                        <p:attrNameLst>
                                          <p:attrName>style.visibility</p:attrName>
                                        </p:attrNameLst>
                                      </p:cBhvr>
                                      <p:to>
                                        <p:strVal val="visible"/>
                                      </p:to>
                                    </p:set>
                                    <p:set>
                                      <p:cBhvr>
                                        <p:cTn id="8" dur="1" fill="hold">
                                          <p:stCondLst>
                                            <p:cond delay="0"/>
                                          </p:stCondLst>
                                        </p:cTn>
                                        <p:tgtEl>
                                          <p:spTgt spid="24"/>
                                        </p:tgtEl>
                                        <p:attrNameLst>
                                          <p:attrName>style.visibility</p:attrName>
                                        </p:attrNameLst>
                                      </p:cBhvr>
                                      <p:to>
                                        <p:strVal val="visible"/>
                                      </p:to>
                                    </p:set>
                                    <p:set>
                                      <p:cBhvr>
                                        <p:cTn id="9" dur="1" fill="hold">
                                          <p:stCondLst>
                                            <p:cond delay="0"/>
                                          </p:stCondLst>
                                        </p:cTn>
                                        <p:tgtEl>
                                          <p:spTgt spid="25"/>
                                        </p:tgtEl>
                                        <p:attrNameLst>
                                          <p:attrName>style.visibility</p:attrName>
                                        </p:attrNameLst>
                                      </p:cBhvr>
                                      <p:to>
                                        <p:strVal val="visible"/>
                                      </p:to>
                                    </p:set>
                                    <p:set>
                                      <p:cBhvr>
                                        <p:cTn id="10" dur="1" fill="hold">
                                          <p:stCondLst>
                                            <p:cond delay="0"/>
                                          </p:stCondLst>
                                        </p:cTn>
                                        <p:tgtEl>
                                          <p:spTgt spid="26"/>
                                        </p:tgtEl>
                                        <p:attrNameLst>
                                          <p:attrName>style.visibility</p:attrName>
                                        </p:attrNameLst>
                                      </p:cBhvr>
                                      <p:to>
                                        <p:strVal val="visible"/>
                                      </p:to>
                                    </p:set>
                                    <p:set>
                                      <p:cBhvr>
                                        <p:cTn id="11" dur="1" fill="hold">
                                          <p:stCondLst>
                                            <p:cond delay="0"/>
                                          </p:stCondLst>
                                        </p:cTn>
                                        <p:tgtEl>
                                          <p:spTgt spid="27"/>
                                        </p:tgtEl>
                                        <p:attrNameLst>
                                          <p:attrName>style.visibility</p:attrName>
                                        </p:attrNameLst>
                                      </p:cBhvr>
                                      <p:to>
                                        <p:strVal val="visible"/>
                                      </p:to>
                                    </p:set>
                                    <p:set>
                                      <p:cBhvr>
                                        <p:cTn id="12" dur="1" fill="hold">
                                          <p:stCondLst>
                                            <p:cond delay="0"/>
                                          </p:stCondLst>
                                        </p:cTn>
                                        <p:tgtEl>
                                          <p:spTgt spid="28"/>
                                        </p:tgtEl>
                                        <p:attrNameLst>
                                          <p:attrName>style.visibility</p:attrName>
                                        </p:attrNameLst>
                                      </p:cBhvr>
                                      <p:to>
                                        <p:strVal val="visible"/>
                                      </p:to>
                                    </p:set>
                                    <p:set>
                                      <p:cBhvr>
                                        <p:cTn id="13" dur="1" fill="hold">
                                          <p:stCondLst>
                                            <p:cond delay="0"/>
                                          </p:stCondLst>
                                        </p:cTn>
                                        <p:tgtEl>
                                          <p:spTgt spid="29"/>
                                        </p:tgtEl>
                                        <p:attrNameLst>
                                          <p:attrName>style.visibility</p:attrName>
                                        </p:attrNameLst>
                                      </p:cBhvr>
                                      <p:to>
                                        <p:strVal val="visible"/>
                                      </p:to>
                                    </p:set>
                                    <p:set>
                                      <p:cBhvr>
                                        <p:cTn id="14" dur="1" fill="hold">
                                          <p:stCondLst>
                                            <p:cond delay="0"/>
                                          </p:stCondLst>
                                        </p:cTn>
                                        <p:tgtEl>
                                          <p:spTgt spid="30"/>
                                        </p:tgtEl>
                                        <p:attrNameLst>
                                          <p:attrName>style.visibility</p:attrName>
                                        </p:attrNameLst>
                                      </p:cBhvr>
                                      <p:to>
                                        <p:strVal val="visible"/>
                                      </p:to>
                                    </p:set>
                                    <p:set>
                                      <p:cBhvr>
                                        <p:cTn id="15" dur="1" fill="hold">
                                          <p:stCondLst>
                                            <p:cond delay="0"/>
                                          </p:stCondLst>
                                        </p:cTn>
                                        <p:tgtEl>
                                          <p:spTgt spid="31"/>
                                        </p:tgtEl>
                                        <p:attrNameLst>
                                          <p:attrName>style.visibility</p:attrName>
                                        </p:attrNameLst>
                                      </p:cBhvr>
                                      <p:to>
                                        <p:strVal val="visible"/>
                                      </p:to>
                                    </p:set>
                                    <p:set>
                                      <p:cBhvr>
                                        <p:cTn id="16" dur="1" fill="hold">
                                          <p:stCondLst>
                                            <p:cond delay="0"/>
                                          </p:stCondLst>
                                        </p:cTn>
                                        <p:tgtEl>
                                          <p:spTgt spid="32"/>
                                        </p:tgtEl>
                                        <p:attrNameLst>
                                          <p:attrName>style.visibility</p:attrName>
                                        </p:attrNameLst>
                                      </p:cBhvr>
                                      <p:to>
                                        <p:strVal val="visible"/>
                                      </p:to>
                                    </p:set>
                                    <p:set>
                                      <p:cBhvr>
                                        <p:cTn id="17" dur="1" fill="hold">
                                          <p:stCondLst>
                                            <p:cond delay="0"/>
                                          </p:stCondLst>
                                        </p:cTn>
                                        <p:tgtEl>
                                          <p:spTgt spid="33"/>
                                        </p:tgtEl>
                                        <p:attrNameLst>
                                          <p:attrName>style.visibility</p:attrName>
                                        </p:attrNameLst>
                                      </p:cBhvr>
                                      <p:to>
                                        <p:strVal val="visible"/>
                                      </p:to>
                                    </p:set>
                                    <p:set>
                                      <p:cBhvr>
                                        <p:cTn id="18" dur="1" fill="hold">
                                          <p:stCondLst>
                                            <p:cond delay="0"/>
                                          </p:stCondLst>
                                        </p:cTn>
                                        <p:tgtEl>
                                          <p:spTgt spid="34"/>
                                        </p:tgtEl>
                                        <p:attrNameLst>
                                          <p:attrName>style.visibility</p:attrName>
                                        </p:attrNameLst>
                                      </p:cBhvr>
                                      <p:to>
                                        <p:strVal val="visible"/>
                                      </p:to>
                                    </p:set>
                                    <p:set>
                                      <p:cBhvr>
                                        <p:cTn id="19" dur="1" fill="hold">
                                          <p:stCondLst>
                                            <p:cond delay="0"/>
                                          </p:stCondLst>
                                        </p:cTn>
                                        <p:tgtEl>
                                          <p:spTgt spid="35"/>
                                        </p:tgtEl>
                                        <p:attrNameLst>
                                          <p:attrName>style.visibility</p:attrName>
                                        </p:attrNameLst>
                                      </p:cBhvr>
                                      <p:to>
                                        <p:strVal val="visible"/>
                                      </p:to>
                                    </p:set>
                                    <p:set>
                                      <p:cBhvr>
                                        <p:cTn id="2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3A6EA5"/>
                </a:solidFill>
                <a:latin typeface="Calibri" pitchFamily="34" charset="0"/>
                <a:ea typeface="Calibri" pitchFamily="34" charset="-122"/>
                <a:cs typeface="Calibri" pitchFamily="34" charset="-120"/>
              </a:rPr>
              <a:t>CASO INTEGRADOR 2</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QUEJA QUE SE VUELVE PÚBLICA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3A6EA5"/>
          </a:solidFill>
          <a:ln/>
        </p:spPr>
      </p:sp>
      <p:pic>
        <p:nvPicPr>
          <p:cNvPr id="7" name="Image 0" descr="/tmp/claude-0/-home-user-riesgo/0ff9ff46-1396-5bd8-b3ac-2280dfbbbc55/scratchpad/work/gen/icons/social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6BED7"/>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asociado espera más tiempo del habitual para ser atendido. Molesto, publica en redes sociales una queja sobre el servicio recibido en la Cooperativa.</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812341" cy="329184"/>
          </a:xfrm>
          <a:prstGeom prst="roundRect">
            <a:avLst>
              <a:gd name="adj" fmla="val 50000"/>
            </a:avLst>
          </a:prstGeom>
          <a:solidFill>
            <a:srgbClr val="3A6EA5"/>
          </a:solidFill>
          <a:ln/>
        </p:spPr>
      </p:sp>
      <p:sp>
        <p:nvSpPr>
          <p:cNvPr id="12" name="Text 8"/>
          <p:cNvSpPr txBox="1"/>
          <p:nvPr/>
        </p:nvSpPr>
        <p:spPr>
          <a:xfrm>
            <a:off x="566928" y="2798064"/>
            <a:ext cx="181234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reputacional</a:t>
            </a:r>
            <a:endParaRPr lang="en-US" sz="1000" dirty="0"/>
          </a:p>
        </p:txBody>
      </p:sp>
      <p:sp>
        <p:nvSpPr>
          <p:cNvPr id="13" name="Shape 9"/>
          <p:cNvSpPr/>
          <p:nvPr/>
        </p:nvSpPr>
        <p:spPr>
          <a:xfrm>
            <a:off x="566928" y="3291840"/>
            <a:ext cx="3527450" cy="2761488"/>
          </a:xfrm>
          <a:prstGeom prst="roundRect">
            <a:avLst>
              <a:gd name="adj" fmla="val 3311"/>
            </a:avLst>
          </a:prstGeom>
          <a:solidFill>
            <a:srgbClr val="F2F5F9"/>
          </a:solidFill>
          <a:ln/>
        </p:spPr>
      </p:sp>
      <p:sp>
        <p:nvSpPr>
          <p:cNvPr id="14" name="Shape 10"/>
          <p:cNvSpPr/>
          <p:nvPr/>
        </p:nvSpPr>
        <p:spPr>
          <a:xfrm>
            <a:off x="4332122" y="3291840"/>
            <a:ext cx="3527450" cy="2761488"/>
          </a:xfrm>
          <a:prstGeom prst="roundRect">
            <a:avLst>
              <a:gd name="adj" fmla="val 3311"/>
            </a:avLst>
          </a:prstGeom>
          <a:solidFill>
            <a:srgbClr val="F2F5F9"/>
          </a:solidFill>
          <a:ln/>
        </p:spPr>
      </p:sp>
      <p:sp>
        <p:nvSpPr>
          <p:cNvPr id="15" name="Shape 11"/>
          <p:cNvSpPr/>
          <p:nvPr/>
        </p:nvSpPr>
        <p:spPr>
          <a:xfrm>
            <a:off x="8097317" y="3291840"/>
            <a:ext cx="3527450" cy="2761488"/>
          </a:xfrm>
          <a:prstGeom prst="roundRect">
            <a:avLst>
              <a:gd name="adj" fmla="val 3311"/>
            </a:avLst>
          </a:prstGeom>
          <a:solidFill>
            <a:srgbClr val="F2F5F9"/>
          </a:solidFill>
          <a:ln/>
        </p:spPr>
      </p:sp>
      <p:sp>
        <p:nvSpPr>
          <p:cNvPr id="16" name="Shape 12"/>
          <p:cNvSpPr/>
          <p:nvPr/>
        </p:nvSpPr>
        <p:spPr>
          <a:xfrm>
            <a:off x="5848960" y="3986784"/>
            <a:ext cx="493776" cy="493776"/>
          </a:xfrm>
          <a:prstGeom prst="ellipse">
            <a:avLst/>
          </a:prstGeom>
          <a:solidFill>
            <a:srgbClr val="8FA0B5"/>
          </a:solidFill>
          <a:ln/>
        </p:spPr>
      </p:sp>
      <p:pic>
        <p:nvPicPr>
          <p:cNvPr id="17" name="Image 1" descr="/tmp/claude-0/-home-user-riesgo/0ff9ff46-1396-5bd8-b3ac-2280dfbbbc55/scratchpad/work/gen/icons/question_white.png">    </p:cNvPr>
          <p:cNvPicPr>
            <a:picLocks noChangeAspect="1"/>
          </p:cNvPicPr>
          <p:nvPr/>
        </p:nvPicPr>
        <p:blipFill>
          <a:blip r:embed="rId2"/>
          <a:stretch>
            <a:fillRect/>
          </a:stretch>
        </p:blipFill>
        <p:spPr>
          <a:xfrm>
            <a:off x="5960059" y="4097884"/>
            <a:ext cx="271577" cy="271577"/>
          </a:xfrm>
          <a:prstGeom prst="rect">
            <a:avLst/>
          </a:prstGeom>
        </p:spPr>
      </p:pic>
      <p:sp>
        <p:nvSpPr>
          <p:cNvPr id="18" name="Text 13"/>
          <p:cNvSpPr txBox="1"/>
          <p:nvPr/>
        </p:nvSpPr>
        <p:spPr>
          <a:xfrm>
            <a:off x="4469282" y="4599432"/>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19" name="REVEAL_case2_0_bg"/>
          <p:cNvSpPr/>
          <p:nvPr/>
        </p:nvSpPr>
        <p:spPr>
          <a:xfrm>
            <a:off x="566928" y="3291840"/>
            <a:ext cx="3527450" cy="2761488"/>
          </a:xfrm>
          <a:prstGeom prst="roundRect">
            <a:avLst>
              <a:gd name="adj" fmla="val 3311"/>
            </a:avLst>
          </a:prstGeom>
          <a:solidFill>
            <a:srgbClr val="F2F5F9"/>
          </a:solidFill>
          <a:ln/>
        </p:spPr>
      </p:sp>
      <p:sp>
        <p:nvSpPr>
          <p:cNvPr id="20" name="REVEAL_case2_0_ic"/>
          <p:cNvSpPr/>
          <p:nvPr/>
        </p:nvSpPr>
        <p:spPr>
          <a:xfrm>
            <a:off x="2102053" y="3456432"/>
            <a:ext cx="457200" cy="457200"/>
          </a:xfrm>
          <a:prstGeom prst="ellipse">
            <a:avLst/>
          </a:prstGeom>
          <a:solidFill>
            <a:srgbClr val="2FAE60"/>
          </a:solidFill>
          <a:ln/>
        </p:spPr>
      </p:sp>
      <p:pic>
        <p:nvPicPr>
          <p:cNvPr id="21" name="REVEAL_case2_0_ic_ic" descr="/tmp/claude-0/-home-user-riesgo/0ff9ff46-1396-5bd8-b3ac-2280dfbbbc55/scratchpad/work/gen/icons/check_circle_white.png">    </p:cNvPr>
          <p:cNvPicPr>
            <a:picLocks noChangeAspect="1"/>
          </p:cNvPicPr>
          <p:nvPr/>
        </p:nvPicPr>
        <p:blipFill>
          <a:blip r:embed="rId3"/>
          <a:stretch>
            <a:fillRect/>
          </a:stretch>
        </p:blipFill>
        <p:spPr>
          <a:xfrm>
            <a:off x="2211781" y="3566160"/>
            <a:ext cx="237744" cy="237744"/>
          </a:xfrm>
          <a:prstGeom prst="rect">
            <a:avLst/>
          </a:prstGeom>
        </p:spPr>
      </p:pic>
      <p:sp>
        <p:nvSpPr>
          <p:cNvPr id="22" name="REVEAL_case2_0_lbl"/>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3" name="REVEAL_case2_0_txt"/>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Escuchar al asociado, brindar una atención oportuna y canalizar el caso a quien corresponde dentro de la Cooperativa.</a:t>
            </a:r>
            <a:endParaRPr lang="en-US" sz="1080" dirty="0"/>
          </a:p>
        </p:txBody>
      </p:sp>
      <p:sp>
        <p:nvSpPr>
          <p:cNvPr id="24" name="REVEAL_case2_1_bg"/>
          <p:cNvSpPr/>
          <p:nvPr/>
        </p:nvSpPr>
        <p:spPr>
          <a:xfrm>
            <a:off x="4332122" y="3291840"/>
            <a:ext cx="3527450" cy="2761488"/>
          </a:xfrm>
          <a:prstGeom prst="roundRect">
            <a:avLst>
              <a:gd name="adj" fmla="val 3311"/>
            </a:avLst>
          </a:prstGeom>
          <a:solidFill>
            <a:srgbClr val="F2F5F9"/>
          </a:solidFill>
          <a:ln/>
        </p:spPr>
      </p:sp>
      <p:sp>
        <p:nvSpPr>
          <p:cNvPr id="25" name="REVEAL_case2_1_ic"/>
          <p:cNvSpPr/>
          <p:nvPr/>
        </p:nvSpPr>
        <p:spPr>
          <a:xfrm>
            <a:off x="5867248" y="3456432"/>
            <a:ext cx="457200" cy="457200"/>
          </a:xfrm>
          <a:prstGeom prst="ellipse">
            <a:avLst/>
          </a:prstGeom>
          <a:solidFill>
            <a:srgbClr val="133B6C"/>
          </a:solidFill>
          <a:ln/>
        </p:spPr>
      </p:sp>
      <p:pic>
        <p:nvPicPr>
          <p:cNvPr id="26" name="REVEAL_case2_1_ic_ic" descr="/tmp/claude-0/-home-user-riesgo/0ff9ff46-1396-5bd8-b3ac-2280dfbbbc55/scratchpad/work/gen/icons/people_group_white.png">    </p:cNvPr>
          <p:cNvPicPr>
            <a:picLocks noChangeAspect="1"/>
          </p:cNvPicPr>
          <p:nvPr/>
        </p:nvPicPr>
        <p:blipFill>
          <a:blip r:embed="rId4"/>
          <a:stretch>
            <a:fillRect/>
          </a:stretch>
        </p:blipFill>
        <p:spPr>
          <a:xfrm>
            <a:off x="5976976" y="3566160"/>
            <a:ext cx="237744" cy="237744"/>
          </a:xfrm>
          <a:prstGeom prst="rect">
            <a:avLst/>
          </a:prstGeom>
        </p:spPr>
      </p:pic>
      <p:sp>
        <p:nvSpPr>
          <p:cNvPr id="27" name="REVEAL_case2_1_lbl"/>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28" name="REVEAL_case2_1_txt"/>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atiende al asociado, con apoyo de su jefatura ante situaciones que lo requieran.</a:t>
            </a:r>
            <a:endParaRPr lang="en-US" sz="1080" dirty="0"/>
          </a:p>
        </p:txBody>
      </p:sp>
      <p:sp>
        <p:nvSpPr>
          <p:cNvPr id="29" name="REVEAL_case2_2_bg"/>
          <p:cNvSpPr/>
          <p:nvPr/>
        </p:nvSpPr>
        <p:spPr>
          <a:xfrm>
            <a:off x="8097317" y="3291840"/>
            <a:ext cx="3527450" cy="2761488"/>
          </a:xfrm>
          <a:prstGeom prst="roundRect">
            <a:avLst>
              <a:gd name="adj" fmla="val 3311"/>
            </a:avLst>
          </a:prstGeom>
          <a:solidFill>
            <a:srgbClr val="F2F5F9"/>
          </a:solidFill>
          <a:ln/>
        </p:spPr>
      </p:sp>
      <p:sp>
        <p:nvSpPr>
          <p:cNvPr id="30" name="REVEAL_case2_2_ic"/>
          <p:cNvSpPr/>
          <p:nvPr/>
        </p:nvSpPr>
        <p:spPr>
          <a:xfrm>
            <a:off x="9632442" y="3456432"/>
            <a:ext cx="457200" cy="457200"/>
          </a:xfrm>
          <a:prstGeom prst="ellipse">
            <a:avLst/>
          </a:prstGeom>
          <a:solidFill>
            <a:srgbClr val="E0392B"/>
          </a:solidFill>
          <a:ln/>
        </p:spPr>
      </p:sp>
      <p:pic>
        <p:nvPicPr>
          <p:cNvPr id="31" name="REVEAL_case2_2_ic_ic" descr="/tmp/claude-0/-home-user-riesgo/0ff9ff46-1396-5bd8-b3ac-2280dfbbbc55/scratchpad/work/gen/icons/warning_triangle_white.png">    </p:cNvPr>
          <p:cNvPicPr>
            <a:picLocks noChangeAspect="1"/>
          </p:cNvPicPr>
          <p:nvPr/>
        </p:nvPicPr>
        <p:blipFill>
          <a:blip r:embed="rId5"/>
          <a:stretch>
            <a:fillRect/>
          </a:stretch>
        </p:blipFill>
        <p:spPr>
          <a:xfrm>
            <a:off x="9742170" y="3566160"/>
            <a:ext cx="237744" cy="237744"/>
          </a:xfrm>
          <a:prstGeom prst="rect">
            <a:avLst/>
          </a:prstGeom>
        </p:spPr>
      </p:pic>
      <p:sp>
        <p:nvSpPr>
          <p:cNvPr id="32" name="REVEAL_case2_2_lbl"/>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3" name="REVEAL_case2_2_txt"/>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queja gana más visibilidad y erosiona la confianza de otros asociados y de la comunidad.</a:t>
            </a:r>
            <a:endParaRPr lang="en-US" sz="1080" dirty="0"/>
          </a:p>
        </p:txBody>
      </p:sp>
      <p:sp>
        <p:nvSpPr>
          <p:cNvPr id="34" name="Text 26"/>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5" name="Text 27"/>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set>
                                      <p:cBhvr>
                                        <p:cTn id="7" dur="1" fill="hold">
                                          <p:stCondLst>
                                            <p:cond delay="0"/>
                                          </p:stCondLst>
                                        </p:cTn>
                                        <p:tgtEl>
                                          <p:spTgt spid="20"/>
                                        </p:tgtEl>
                                        <p:attrNameLst>
                                          <p:attrName>style.visibility</p:attrName>
                                        </p:attrNameLst>
                                      </p:cBhvr>
                                      <p:to>
                                        <p:strVal val="visible"/>
                                      </p:to>
                                    </p:set>
                                    <p:set>
                                      <p:cBhvr>
                                        <p:cTn id="8" dur="1" fill="hold">
                                          <p:stCondLst>
                                            <p:cond delay="0"/>
                                          </p:stCondLst>
                                        </p:cTn>
                                        <p:tgtEl>
                                          <p:spTgt spid="21"/>
                                        </p:tgtEl>
                                        <p:attrNameLst>
                                          <p:attrName>style.visibility</p:attrName>
                                        </p:attrNameLst>
                                      </p:cBhvr>
                                      <p:to>
                                        <p:strVal val="visible"/>
                                      </p:to>
                                    </p:set>
                                    <p:set>
                                      <p:cBhvr>
                                        <p:cTn id="9" dur="1" fill="hold">
                                          <p:stCondLst>
                                            <p:cond delay="0"/>
                                          </p:stCondLst>
                                        </p:cTn>
                                        <p:tgtEl>
                                          <p:spTgt spid="22"/>
                                        </p:tgtEl>
                                        <p:attrNameLst>
                                          <p:attrName>style.visibility</p:attrName>
                                        </p:attrNameLst>
                                      </p:cBhvr>
                                      <p:to>
                                        <p:strVal val="visible"/>
                                      </p:to>
                                    </p:set>
                                    <p:set>
                                      <p:cBhvr>
                                        <p:cTn id="10" dur="1" fill="hold">
                                          <p:stCondLst>
                                            <p:cond delay="0"/>
                                          </p:stCondLst>
                                        </p:cTn>
                                        <p:tgtEl>
                                          <p:spTgt spid="23"/>
                                        </p:tgtEl>
                                        <p:attrNameLst>
                                          <p:attrName>style.visibility</p:attrName>
                                        </p:attrNameLst>
                                      </p:cBhvr>
                                      <p:to>
                                        <p:strVal val="visible"/>
                                      </p:to>
                                    </p:set>
                                    <p:set>
                                      <p:cBhvr>
                                        <p:cTn id="11" dur="1" fill="hold">
                                          <p:stCondLst>
                                            <p:cond delay="0"/>
                                          </p:stCondLst>
                                        </p:cTn>
                                        <p:tgtEl>
                                          <p:spTgt spid="24"/>
                                        </p:tgtEl>
                                        <p:attrNameLst>
                                          <p:attrName>style.visibility</p:attrName>
                                        </p:attrNameLst>
                                      </p:cBhvr>
                                      <p:to>
                                        <p:strVal val="visible"/>
                                      </p:to>
                                    </p:set>
                                    <p:set>
                                      <p:cBhvr>
                                        <p:cTn id="12" dur="1" fill="hold">
                                          <p:stCondLst>
                                            <p:cond delay="0"/>
                                          </p:stCondLst>
                                        </p:cTn>
                                        <p:tgtEl>
                                          <p:spTgt spid="25"/>
                                        </p:tgtEl>
                                        <p:attrNameLst>
                                          <p:attrName>style.visibility</p:attrName>
                                        </p:attrNameLst>
                                      </p:cBhvr>
                                      <p:to>
                                        <p:strVal val="visible"/>
                                      </p:to>
                                    </p:set>
                                    <p:set>
                                      <p:cBhvr>
                                        <p:cTn id="13" dur="1" fill="hold">
                                          <p:stCondLst>
                                            <p:cond delay="0"/>
                                          </p:stCondLst>
                                        </p:cTn>
                                        <p:tgtEl>
                                          <p:spTgt spid="26"/>
                                        </p:tgtEl>
                                        <p:attrNameLst>
                                          <p:attrName>style.visibility</p:attrName>
                                        </p:attrNameLst>
                                      </p:cBhvr>
                                      <p:to>
                                        <p:strVal val="visible"/>
                                      </p:to>
                                    </p:set>
                                    <p:set>
                                      <p:cBhvr>
                                        <p:cTn id="14" dur="1" fill="hold">
                                          <p:stCondLst>
                                            <p:cond delay="0"/>
                                          </p:stCondLst>
                                        </p:cTn>
                                        <p:tgtEl>
                                          <p:spTgt spid="27"/>
                                        </p:tgtEl>
                                        <p:attrNameLst>
                                          <p:attrName>style.visibility</p:attrName>
                                        </p:attrNameLst>
                                      </p:cBhvr>
                                      <p:to>
                                        <p:strVal val="visible"/>
                                      </p:to>
                                    </p:set>
                                    <p:set>
                                      <p:cBhvr>
                                        <p:cTn id="15" dur="1" fill="hold">
                                          <p:stCondLst>
                                            <p:cond delay="0"/>
                                          </p:stCondLst>
                                        </p:cTn>
                                        <p:tgtEl>
                                          <p:spTgt spid="28"/>
                                        </p:tgtEl>
                                        <p:attrNameLst>
                                          <p:attrName>style.visibility</p:attrName>
                                        </p:attrNameLst>
                                      </p:cBhvr>
                                      <p:to>
                                        <p:strVal val="visible"/>
                                      </p:to>
                                    </p:set>
                                    <p:set>
                                      <p:cBhvr>
                                        <p:cTn id="16" dur="1" fill="hold">
                                          <p:stCondLst>
                                            <p:cond delay="0"/>
                                          </p:stCondLst>
                                        </p:cTn>
                                        <p:tgtEl>
                                          <p:spTgt spid="29"/>
                                        </p:tgtEl>
                                        <p:attrNameLst>
                                          <p:attrName>style.visibility</p:attrName>
                                        </p:attrNameLst>
                                      </p:cBhvr>
                                      <p:to>
                                        <p:strVal val="visible"/>
                                      </p:to>
                                    </p:set>
                                    <p:set>
                                      <p:cBhvr>
                                        <p:cTn id="17" dur="1" fill="hold">
                                          <p:stCondLst>
                                            <p:cond delay="0"/>
                                          </p:stCondLst>
                                        </p:cTn>
                                        <p:tgtEl>
                                          <p:spTgt spid="30"/>
                                        </p:tgtEl>
                                        <p:attrNameLst>
                                          <p:attrName>style.visibility</p:attrName>
                                        </p:attrNameLst>
                                      </p:cBhvr>
                                      <p:to>
                                        <p:strVal val="visible"/>
                                      </p:to>
                                    </p:set>
                                    <p:set>
                                      <p:cBhvr>
                                        <p:cTn id="18" dur="1" fill="hold">
                                          <p:stCondLst>
                                            <p:cond delay="0"/>
                                          </p:stCondLst>
                                        </p:cTn>
                                        <p:tgtEl>
                                          <p:spTgt spid="31"/>
                                        </p:tgtEl>
                                        <p:attrNameLst>
                                          <p:attrName>style.visibility</p:attrName>
                                        </p:attrNameLst>
                                      </p:cBhvr>
                                      <p:to>
                                        <p:strVal val="visible"/>
                                      </p:to>
                                    </p:set>
                                    <p:set>
                                      <p:cBhvr>
                                        <p:cTn id="19" dur="1" fill="hold">
                                          <p:stCondLst>
                                            <p:cond delay="0"/>
                                          </p:stCondLst>
                                        </p:cTn>
                                        <p:tgtEl>
                                          <p:spTgt spid="32"/>
                                        </p:tgtEl>
                                        <p:attrNameLst>
                                          <p:attrName>style.visibility</p:attrName>
                                        </p:attrNameLst>
                                      </p:cBhvr>
                                      <p:to>
                                        <p:strVal val="visible"/>
                                      </p:to>
                                    </p:set>
                                    <p:set>
                                      <p:cBhvr>
                                        <p:cTn id="2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1B4F91"/>
                </a:solidFill>
                <a:latin typeface="Calibri" pitchFamily="34" charset="0"/>
                <a:ea typeface="Calibri" pitchFamily="34" charset="-122"/>
                <a:cs typeface="Calibri" pitchFamily="34" charset="-120"/>
              </a:rPr>
              <a:t>CASO INTEGRADOR 3</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UNA DIFERENCIA QUE NADIE EXPLICA</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1B4F91"/>
          </a:solidFill>
          <a:ln/>
        </p:spPr>
      </p:sp>
      <p:pic>
        <p:nvPicPr>
          <p:cNvPr id="7" name="Image 0" descr="/tmp/claude-0/-home-user-riesgo/0ff9ff46-1396-5bd8-b3ac-2280dfbbbc55/scratchpad/work/gen/icons/search_doc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98B0CE"/>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Un colaborador nota que un depósito quedó registrado dos veces. No está seguro si fue un error de digitación o algo más, y duda si reportarlo.</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598371" cy="329184"/>
          </a:xfrm>
          <a:prstGeom prst="roundRect">
            <a:avLst>
              <a:gd name="adj" fmla="val 50000"/>
            </a:avLst>
          </a:prstGeom>
          <a:solidFill>
            <a:srgbClr val="1B4F91"/>
          </a:solidFill>
          <a:ln/>
        </p:spPr>
      </p:sp>
      <p:sp>
        <p:nvSpPr>
          <p:cNvPr id="12" name="Text 8"/>
          <p:cNvSpPr txBox="1"/>
          <p:nvPr/>
        </p:nvSpPr>
        <p:spPr>
          <a:xfrm>
            <a:off x="56692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3" name="Shape 9"/>
          <p:cNvSpPr/>
          <p:nvPr/>
        </p:nvSpPr>
        <p:spPr>
          <a:xfrm>
            <a:off x="2293315" y="2798064"/>
            <a:ext cx="2026310" cy="329184"/>
          </a:xfrm>
          <a:prstGeom prst="roundRect">
            <a:avLst>
              <a:gd name="adj" fmla="val 50000"/>
            </a:avLst>
          </a:prstGeom>
          <a:solidFill>
            <a:srgbClr val="1B4F91"/>
          </a:solidFill>
          <a:ln/>
        </p:spPr>
      </p:sp>
      <p:sp>
        <p:nvSpPr>
          <p:cNvPr id="14" name="Text 10"/>
          <p:cNvSpPr txBox="1"/>
          <p:nvPr/>
        </p:nvSpPr>
        <p:spPr>
          <a:xfrm>
            <a:off x="2293315" y="2798064"/>
            <a:ext cx="202631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Posible error o fraude</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4332122" y="3291840"/>
            <a:ext cx="3527450" cy="2761488"/>
          </a:xfrm>
          <a:prstGeom prst="roundRect">
            <a:avLst>
              <a:gd name="adj" fmla="val 3311"/>
            </a:avLst>
          </a:prstGeom>
          <a:solidFill>
            <a:srgbClr val="F2F5F9"/>
          </a:solidFill>
          <a:ln/>
        </p:spPr>
      </p:sp>
      <p:sp>
        <p:nvSpPr>
          <p:cNvPr id="17" name="Shape 13"/>
          <p:cNvSpPr/>
          <p:nvPr/>
        </p:nvSpPr>
        <p:spPr>
          <a:xfrm>
            <a:off x="8097317" y="3291840"/>
            <a:ext cx="3527450" cy="2761488"/>
          </a:xfrm>
          <a:prstGeom prst="roundRect">
            <a:avLst>
              <a:gd name="adj" fmla="val 3311"/>
            </a:avLst>
          </a:prstGeom>
          <a:solidFill>
            <a:srgbClr val="F2F5F9"/>
          </a:solidFill>
          <a:ln/>
        </p:spPr>
      </p:sp>
      <p:sp>
        <p:nvSpPr>
          <p:cNvPr id="18" name="Shape 14"/>
          <p:cNvSpPr/>
          <p:nvPr/>
        </p:nvSpPr>
        <p:spPr>
          <a:xfrm>
            <a:off x="5848960" y="3986784"/>
            <a:ext cx="493776" cy="493776"/>
          </a:xfrm>
          <a:prstGeom prst="ellipse">
            <a:avLst/>
          </a:prstGeom>
          <a:solidFill>
            <a:srgbClr val="8FA0B5"/>
          </a:solidFill>
          <a:ln/>
        </p:spPr>
      </p:sp>
      <p:pic>
        <p:nvPicPr>
          <p:cNvPr id="19" name="Image 1" descr="/tmp/claude-0/-home-user-riesgo/0ff9ff46-1396-5bd8-b3ac-2280dfbbbc55/scratchpad/work/gen/icons/question_white.png">    </p:cNvPr>
          <p:cNvPicPr>
            <a:picLocks noChangeAspect="1"/>
          </p:cNvPicPr>
          <p:nvPr/>
        </p:nvPicPr>
        <p:blipFill>
          <a:blip r:embed="rId2"/>
          <a:stretch>
            <a:fillRect/>
          </a:stretch>
        </p:blipFill>
        <p:spPr>
          <a:xfrm>
            <a:off x="5960059" y="4097884"/>
            <a:ext cx="271577" cy="271577"/>
          </a:xfrm>
          <a:prstGeom prst="rect">
            <a:avLst/>
          </a:prstGeom>
        </p:spPr>
      </p:pic>
      <p:sp>
        <p:nvSpPr>
          <p:cNvPr id="20" name="Text 15"/>
          <p:cNvSpPr txBox="1"/>
          <p:nvPr/>
        </p:nvSpPr>
        <p:spPr>
          <a:xfrm>
            <a:off x="4469282" y="4599432"/>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21" name="REVEAL_case3_0_bg"/>
          <p:cNvSpPr/>
          <p:nvPr/>
        </p:nvSpPr>
        <p:spPr>
          <a:xfrm>
            <a:off x="566928" y="3291840"/>
            <a:ext cx="3527450" cy="2761488"/>
          </a:xfrm>
          <a:prstGeom prst="roundRect">
            <a:avLst>
              <a:gd name="adj" fmla="val 3311"/>
            </a:avLst>
          </a:prstGeom>
          <a:solidFill>
            <a:srgbClr val="F2F5F9"/>
          </a:solidFill>
          <a:ln/>
        </p:spPr>
      </p:sp>
      <p:sp>
        <p:nvSpPr>
          <p:cNvPr id="22" name="REVEAL_case3_0_ic"/>
          <p:cNvSpPr/>
          <p:nvPr/>
        </p:nvSpPr>
        <p:spPr>
          <a:xfrm>
            <a:off x="2102053" y="3456432"/>
            <a:ext cx="457200" cy="457200"/>
          </a:xfrm>
          <a:prstGeom prst="ellipse">
            <a:avLst/>
          </a:prstGeom>
          <a:solidFill>
            <a:srgbClr val="2FAE60"/>
          </a:solidFill>
          <a:ln/>
        </p:spPr>
      </p:sp>
      <p:pic>
        <p:nvPicPr>
          <p:cNvPr id="23" name="REVEAL_case3_0_ic_ic" descr="/tmp/claude-0/-home-user-riesgo/0ff9ff46-1396-5bd8-b3ac-2280dfbbbc55/scratchpad/work/gen/icons/check_circle_white.png">    </p:cNvPr>
          <p:cNvPicPr>
            <a:picLocks noChangeAspect="1"/>
          </p:cNvPicPr>
          <p:nvPr/>
        </p:nvPicPr>
        <p:blipFill>
          <a:blip r:embed="rId3"/>
          <a:stretch>
            <a:fillRect/>
          </a:stretch>
        </p:blipFill>
        <p:spPr>
          <a:xfrm>
            <a:off x="2211781" y="3566160"/>
            <a:ext cx="237744" cy="237744"/>
          </a:xfrm>
          <a:prstGeom prst="rect">
            <a:avLst/>
          </a:prstGeom>
        </p:spPr>
      </p:pic>
      <p:sp>
        <p:nvSpPr>
          <p:cNvPr id="24" name="REVEAL_case3_0_lbl"/>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5" name="REVEAL_case3_0_txt"/>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Documentar la diferencia encontrada y reportarla, sin asumir por su cuenta si fue error o algo intencional.</a:t>
            </a:r>
            <a:endParaRPr lang="en-US" sz="1080" dirty="0"/>
          </a:p>
        </p:txBody>
      </p:sp>
      <p:sp>
        <p:nvSpPr>
          <p:cNvPr id="26" name="REVEAL_case3_1_bg"/>
          <p:cNvSpPr/>
          <p:nvPr/>
        </p:nvSpPr>
        <p:spPr>
          <a:xfrm>
            <a:off x="4332122" y="3291840"/>
            <a:ext cx="3527450" cy="2761488"/>
          </a:xfrm>
          <a:prstGeom prst="roundRect">
            <a:avLst>
              <a:gd name="adj" fmla="val 3311"/>
            </a:avLst>
          </a:prstGeom>
          <a:solidFill>
            <a:srgbClr val="F2F5F9"/>
          </a:solidFill>
          <a:ln/>
        </p:spPr>
      </p:sp>
      <p:sp>
        <p:nvSpPr>
          <p:cNvPr id="27" name="REVEAL_case3_1_ic"/>
          <p:cNvSpPr/>
          <p:nvPr/>
        </p:nvSpPr>
        <p:spPr>
          <a:xfrm>
            <a:off x="5867248" y="3456432"/>
            <a:ext cx="457200" cy="457200"/>
          </a:xfrm>
          <a:prstGeom prst="ellipse">
            <a:avLst/>
          </a:prstGeom>
          <a:solidFill>
            <a:srgbClr val="133B6C"/>
          </a:solidFill>
          <a:ln/>
        </p:spPr>
      </p:sp>
      <p:pic>
        <p:nvPicPr>
          <p:cNvPr id="28" name="REVEAL_case3_1_ic_ic" descr="/tmp/claude-0/-home-user-riesgo/0ff9ff46-1396-5bd8-b3ac-2280dfbbbc55/scratchpad/work/gen/icons/people_group_white.png">    </p:cNvPr>
          <p:cNvPicPr>
            <a:picLocks noChangeAspect="1"/>
          </p:cNvPicPr>
          <p:nvPr/>
        </p:nvPicPr>
        <p:blipFill>
          <a:blip r:embed="rId4"/>
          <a:stretch>
            <a:fillRect/>
          </a:stretch>
        </p:blipFill>
        <p:spPr>
          <a:xfrm>
            <a:off x="5976976" y="3566160"/>
            <a:ext cx="237744" cy="237744"/>
          </a:xfrm>
          <a:prstGeom prst="rect">
            <a:avLst/>
          </a:prstGeom>
        </p:spPr>
      </p:pic>
      <p:sp>
        <p:nvSpPr>
          <p:cNvPr id="29" name="REVEAL_case3_1_lbl"/>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30" name="REVEAL_case3_1_txt"/>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El colaborador que la detecta, y el Departamento de Administración de Riesgos para su análisis.</a:t>
            </a:r>
            <a:endParaRPr lang="en-US" sz="1080" dirty="0"/>
          </a:p>
        </p:txBody>
      </p:sp>
      <p:sp>
        <p:nvSpPr>
          <p:cNvPr id="31" name="REVEAL_case3_2_bg"/>
          <p:cNvSpPr/>
          <p:nvPr/>
        </p:nvSpPr>
        <p:spPr>
          <a:xfrm>
            <a:off x="8097317" y="3291840"/>
            <a:ext cx="3527450" cy="2761488"/>
          </a:xfrm>
          <a:prstGeom prst="roundRect">
            <a:avLst>
              <a:gd name="adj" fmla="val 3311"/>
            </a:avLst>
          </a:prstGeom>
          <a:solidFill>
            <a:srgbClr val="F2F5F9"/>
          </a:solidFill>
          <a:ln/>
        </p:spPr>
      </p:sp>
      <p:sp>
        <p:nvSpPr>
          <p:cNvPr id="32" name="REVEAL_case3_2_ic"/>
          <p:cNvSpPr/>
          <p:nvPr/>
        </p:nvSpPr>
        <p:spPr>
          <a:xfrm>
            <a:off x="9632442" y="3456432"/>
            <a:ext cx="457200" cy="457200"/>
          </a:xfrm>
          <a:prstGeom prst="ellipse">
            <a:avLst/>
          </a:prstGeom>
          <a:solidFill>
            <a:srgbClr val="E0392B"/>
          </a:solidFill>
          <a:ln/>
        </p:spPr>
      </p:sp>
      <p:pic>
        <p:nvPicPr>
          <p:cNvPr id="33" name="REVEAL_case3_2_ic_ic" descr="/tmp/claude-0/-home-user-riesgo/0ff9ff46-1396-5bd8-b3ac-2280dfbbbc55/scratchpad/work/gen/icons/warning_triangle_white.png">    </p:cNvPr>
          <p:cNvPicPr>
            <a:picLocks noChangeAspect="1"/>
          </p:cNvPicPr>
          <p:nvPr/>
        </p:nvPicPr>
        <p:blipFill>
          <a:blip r:embed="rId5"/>
          <a:stretch>
            <a:fillRect/>
          </a:stretch>
        </p:blipFill>
        <p:spPr>
          <a:xfrm>
            <a:off x="9742170" y="3566160"/>
            <a:ext cx="237744" cy="237744"/>
          </a:xfrm>
          <a:prstGeom prst="rect">
            <a:avLst/>
          </a:prstGeom>
        </p:spPr>
      </p:pic>
      <p:sp>
        <p:nvSpPr>
          <p:cNvPr id="34" name="REVEAL_case3_2_lbl"/>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5" name="REVEAL_case3_2_txt"/>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diferencia queda sin explicación, y un posible error —o algo más grave— pasa desapercibido.</a:t>
            </a:r>
            <a:endParaRPr lang="en-US" sz="1080" dirty="0"/>
          </a:p>
        </p:txBody>
      </p:sp>
      <p:sp>
        <p:nvSpPr>
          <p:cNvPr id="36" name="Text 2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2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28</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set>
                                      <p:cBhvr>
                                        <p:cTn id="7" dur="1" fill="hold">
                                          <p:stCondLst>
                                            <p:cond delay="0"/>
                                          </p:stCondLst>
                                        </p:cTn>
                                        <p:tgtEl>
                                          <p:spTgt spid="22"/>
                                        </p:tgtEl>
                                        <p:attrNameLst>
                                          <p:attrName>style.visibility</p:attrName>
                                        </p:attrNameLst>
                                      </p:cBhvr>
                                      <p:to>
                                        <p:strVal val="visible"/>
                                      </p:to>
                                    </p:set>
                                    <p:set>
                                      <p:cBhvr>
                                        <p:cTn id="8" dur="1" fill="hold">
                                          <p:stCondLst>
                                            <p:cond delay="0"/>
                                          </p:stCondLst>
                                        </p:cTn>
                                        <p:tgtEl>
                                          <p:spTgt spid="23"/>
                                        </p:tgtEl>
                                        <p:attrNameLst>
                                          <p:attrName>style.visibility</p:attrName>
                                        </p:attrNameLst>
                                      </p:cBhvr>
                                      <p:to>
                                        <p:strVal val="visible"/>
                                      </p:to>
                                    </p:set>
                                    <p:set>
                                      <p:cBhvr>
                                        <p:cTn id="9" dur="1" fill="hold">
                                          <p:stCondLst>
                                            <p:cond delay="0"/>
                                          </p:stCondLst>
                                        </p:cTn>
                                        <p:tgtEl>
                                          <p:spTgt spid="24"/>
                                        </p:tgtEl>
                                        <p:attrNameLst>
                                          <p:attrName>style.visibility</p:attrName>
                                        </p:attrNameLst>
                                      </p:cBhvr>
                                      <p:to>
                                        <p:strVal val="visible"/>
                                      </p:to>
                                    </p:set>
                                    <p:set>
                                      <p:cBhvr>
                                        <p:cTn id="10" dur="1" fill="hold">
                                          <p:stCondLst>
                                            <p:cond delay="0"/>
                                          </p:stCondLst>
                                        </p:cTn>
                                        <p:tgtEl>
                                          <p:spTgt spid="25"/>
                                        </p:tgtEl>
                                        <p:attrNameLst>
                                          <p:attrName>style.visibility</p:attrName>
                                        </p:attrNameLst>
                                      </p:cBhvr>
                                      <p:to>
                                        <p:strVal val="visible"/>
                                      </p:to>
                                    </p:set>
                                    <p:set>
                                      <p:cBhvr>
                                        <p:cTn id="11" dur="1" fill="hold">
                                          <p:stCondLst>
                                            <p:cond delay="0"/>
                                          </p:stCondLst>
                                        </p:cTn>
                                        <p:tgtEl>
                                          <p:spTgt spid="26"/>
                                        </p:tgtEl>
                                        <p:attrNameLst>
                                          <p:attrName>style.visibility</p:attrName>
                                        </p:attrNameLst>
                                      </p:cBhvr>
                                      <p:to>
                                        <p:strVal val="visible"/>
                                      </p:to>
                                    </p:set>
                                    <p:set>
                                      <p:cBhvr>
                                        <p:cTn id="12" dur="1" fill="hold">
                                          <p:stCondLst>
                                            <p:cond delay="0"/>
                                          </p:stCondLst>
                                        </p:cTn>
                                        <p:tgtEl>
                                          <p:spTgt spid="27"/>
                                        </p:tgtEl>
                                        <p:attrNameLst>
                                          <p:attrName>style.visibility</p:attrName>
                                        </p:attrNameLst>
                                      </p:cBhvr>
                                      <p:to>
                                        <p:strVal val="visible"/>
                                      </p:to>
                                    </p:set>
                                    <p:set>
                                      <p:cBhvr>
                                        <p:cTn id="13" dur="1" fill="hold">
                                          <p:stCondLst>
                                            <p:cond delay="0"/>
                                          </p:stCondLst>
                                        </p:cTn>
                                        <p:tgtEl>
                                          <p:spTgt spid="28"/>
                                        </p:tgtEl>
                                        <p:attrNameLst>
                                          <p:attrName>style.visibility</p:attrName>
                                        </p:attrNameLst>
                                      </p:cBhvr>
                                      <p:to>
                                        <p:strVal val="visible"/>
                                      </p:to>
                                    </p:set>
                                    <p:set>
                                      <p:cBhvr>
                                        <p:cTn id="14" dur="1" fill="hold">
                                          <p:stCondLst>
                                            <p:cond delay="0"/>
                                          </p:stCondLst>
                                        </p:cTn>
                                        <p:tgtEl>
                                          <p:spTgt spid="29"/>
                                        </p:tgtEl>
                                        <p:attrNameLst>
                                          <p:attrName>style.visibility</p:attrName>
                                        </p:attrNameLst>
                                      </p:cBhvr>
                                      <p:to>
                                        <p:strVal val="visible"/>
                                      </p:to>
                                    </p:set>
                                    <p:set>
                                      <p:cBhvr>
                                        <p:cTn id="15" dur="1" fill="hold">
                                          <p:stCondLst>
                                            <p:cond delay="0"/>
                                          </p:stCondLst>
                                        </p:cTn>
                                        <p:tgtEl>
                                          <p:spTgt spid="30"/>
                                        </p:tgtEl>
                                        <p:attrNameLst>
                                          <p:attrName>style.visibility</p:attrName>
                                        </p:attrNameLst>
                                      </p:cBhvr>
                                      <p:to>
                                        <p:strVal val="visible"/>
                                      </p:to>
                                    </p:set>
                                    <p:set>
                                      <p:cBhvr>
                                        <p:cTn id="16" dur="1" fill="hold">
                                          <p:stCondLst>
                                            <p:cond delay="0"/>
                                          </p:stCondLst>
                                        </p:cTn>
                                        <p:tgtEl>
                                          <p:spTgt spid="31"/>
                                        </p:tgtEl>
                                        <p:attrNameLst>
                                          <p:attrName>style.visibility</p:attrName>
                                        </p:attrNameLst>
                                      </p:cBhvr>
                                      <p:to>
                                        <p:strVal val="visible"/>
                                      </p:to>
                                    </p:set>
                                    <p:set>
                                      <p:cBhvr>
                                        <p:cTn id="17" dur="1" fill="hold">
                                          <p:stCondLst>
                                            <p:cond delay="0"/>
                                          </p:stCondLst>
                                        </p:cTn>
                                        <p:tgtEl>
                                          <p:spTgt spid="32"/>
                                        </p:tgtEl>
                                        <p:attrNameLst>
                                          <p:attrName>style.visibility</p:attrName>
                                        </p:attrNameLst>
                                      </p:cBhvr>
                                      <p:to>
                                        <p:strVal val="visible"/>
                                      </p:to>
                                    </p:set>
                                    <p:set>
                                      <p:cBhvr>
                                        <p:cTn id="18" dur="1" fill="hold">
                                          <p:stCondLst>
                                            <p:cond delay="0"/>
                                          </p:stCondLst>
                                        </p:cTn>
                                        <p:tgtEl>
                                          <p:spTgt spid="33"/>
                                        </p:tgtEl>
                                        <p:attrNameLst>
                                          <p:attrName>style.visibility</p:attrName>
                                        </p:attrNameLst>
                                      </p:cBhvr>
                                      <p:to>
                                        <p:strVal val="visible"/>
                                      </p:to>
                                    </p:set>
                                    <p:set>
                                      <p:cBhvr>
                                        <p:cTn id="19" dur="1" fill="hold">
                                          <p:stCondLst>
                                            <p:cond delay="0"/>
                                          </p:stCondLst>
                                        </p:cTn>
                                        <p:tgtEl>
                                          <p:spTgt spid="34"/>
                                        </p:tgtEl>
                                        <p:attrNameLst>
                                          <p:attrName>style.visibility</p:attrName>
                                        </p:attrNameLst>
                                      </p:cBhvr>
                                      <p:to>
                                        <p:strVal val="visible"/>
                                      </p:to>
                                    </p:set>
                                    <p:set>
                                      <p:cBhvr>
                                        <p:cTn id="2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5EAA"/>
                </a:solidFill>
                <a:latin typeface="Calibri" pitchFamily="34" charset="0"/>
                <a:ea typeface="Calibri" pitchFamily="34" charset="-122"/>
                <a:cs typeface="Calibri" pitchFamily="34" charset="-120"/>
              </a:rPr>
              <a:t>CASO INTEGRADOR 4</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2200" b="1" dirty="0">
                <a:solidFill>
                  <a:srgbClr val="133B6C"/>
                </a:solidFill>
                <a:latin typeface="Cambria" pitchFamily="34" charset="0"/>
                <a:ea typeface="Cambria" pitchFamily="34" charset="-122"/>
                <a:cs typeface="Cambria" pitchFamily="34" charset="-120"/>
              </a:rPr>
              <a:t>DATOS QUE NO COINCIDEN</a:t>
            </a:r>
            <a:endParaRPr lang="en-US" sz="2200" dirty="0"/>
          </a:p>
        </p:txBody>
      </p:sp>
      <p:sp>
        <p:nvSpPr>
          <p:cNvPr id="5" name="Shape 2"/>
          <p:cNvSpPr/>
          <p:nvPr/>
        </p:nvSpPr>
        <p:spPr>
          <a:xfrm>
            <a:off x="566928" y="1536192"/>
            <a:ext cx="11057839" cy="841248"/>
          </a:xfrm>
          <a:prstGeom prst="roundRect">
            <a:avLst>
              <a:gd name="adj" fmla="val 13043"/>
            </a:avLst>
          </a:prstGeom>
          <a:solidFill>
            <a:srgbClr val="133B6C"/>
          </a:solidFill>
          <a:ln/>
        </p:spPr>
      </p:sp>
      <p:sp>
        <p:nvSpPr>
          <p:cNvPr id="6" name="Shape 3"/>
          <p:cNvSpPr/>
          <p:nvPr/>
        </p:nvSpPr>
        <p:spPr>
          <a:xfrm>
            <a:off x="768096" y="1691640"/>
            <a:ext cx="530352" cy="530352"/>
          </a:xfrm>
          <a:prstGeom prst="ellipse">
            <a:avLst/>
          </a:prstGeom>
          <a:solidFill>
            <a:srgbClr val="2E5EAA"/>
          </a:solidFill>
          <a:ln/>
        </p:spPr>
      </p:sp>
      <p:pic>
        <p:nvPicPr>
          <p:cNvPr id="7" name="Image 0" descr="/tmp/claude-0/-home-user-riesgo/0ff9ff46-1396-5bd8-b3ac-2280dfbbbc55/scratchpad/work/gen/icons/form_white.png">    </p:cNvPr>
          <p:cNvPicPr>
            <a:picLocks noChangeAspect="1"/>
          </p:cNvPicPr>
          <p:nvPr/>
        </p:nvPicPr>
        <p:blipFill>
          <a:blip r:embed="rId1"/>
          <a:stretch>
            <a:fillRect/>
          </a:stretch>
        </p:blipFill>
        <p:spPr>
          <a:xfrm>
            <a:off x="887425" y="1810969"/>
            <a:ext cx="291694" cy="291694"/>
          </a:xfrm>
          <a:prstGeom prst="rect">
            <a:avLst/>
          </a:prstGeom>
        </p:spPr>
      </p:pic>
      <p:sp>
        <p:nvSpPr>
          <p:cNvPr id="8" name="Text 4"/>
          <p:cNvSpPr txBox="1"/>
          <p:nvPr/>
        </p:nvSpPr>
        <p:spPr>
          <a:xfrm>
            <a:off x="1435608" y="1655064"/>
            <a:ext cx="9418320" cy="237744"/>
          </a:xfrm>
          <a:prstGeom prst="rect">
            <a:avLst/>
          </a:prstGeom>
          <a:noFill/>
          <a:ln/>
        </p:spPr>
        <p:txBody>
          <a:bodyPr wrap="square" lIns="0" tIns="0" rIns="0" bIns="0" rtlCol="0" anchor="ctr"/>
          <a:lstStyle/>
          <a:p>
            <a:pPr indent="0" marL="0">
              <a:buNone/>
            </a:pPr>
            <a:r>
              <a:rPr lang="en-US" sz="1050" b="1" spc="200" kern="0" dirty="0">
                <a:solidFill>
                  <a:srgbClr val="A1B7D9"/>
                </a:solidFill>
                <a:latin typeface="Calibri" pitchFamily="34" charset="0"/>
                <a:ea typeface="Calibri" pitchFamily="34" charset="-122"/>
                <a:cs typeface="Calibri" pitchFamily="34" charset="-120"/>
              </a:rPr>
              <a:t>SITUACIÓN</a:t>
            </a:r>
            <a:endParaRPr lang="en-US" sz="1050" dirty="0"/>
          </a:p>
        </p:txBody>
      </p:sp>
      <p:sp>
        <p:nvSpPr>
          <p:cNvPr id="9" name="Text 5"/>
          <p:cNvSpPr txBox="1"/>
          <p:nvPr/>
        </p:nvSpPr>
        <p:spPr>
          <a:xfrm>
            <a:off x="1435608" y="1883664"/>
            <a:ext cx="9960559" cy="457200"/>
          </a:xfrm>
          <a:prstGeom prst="rect">
            <a:avLst/>
          </a:prstGeom>
          <a:noFill/>
          <a:ln/>
        </p:spPr>
        <p:txBody>
          <a:bodyPr wrap="square" lIns="0" tIns="0" rIns="0" bIns="0" rtlCol="0" anchor="ctr"/>
          <a:lstStyle/>
          <a:p>
            <a:pPr indent="0" marL="0">
              <a:lnSpc>
                <a:spcPct val="108000"/>
              </a:lnSpc>
              <a:buNone/>
            </a:pPr>
            <a:r>
              <a:rPr lang="en-US" sz="1100" dirty="0">
                <a:solidFill>
                  <a:srgbClr val="FFFFFF"/>
                </a:solidFill>
                <a:latin typeface="Calibri" pitchFamily="34" charset="0"/>
                <a:ea typeface="Calibri" pitchFamily="34" charset="-122"/>
                <a:cs typeface="Calibri" pitchFamily="34" charset="-120"/>
              </a:rPr>
              <a:t>Al evaluar una solicitud de crédito, los ingresos declarados por el solicitante no coinciden con los documentos de soporte presentados.</a:t>
            </a:r>
            <a:endParaRPr lang="en-US" sz="1100" dirty="0"/>
          </a:p>
        </p:txBody>
      </p:sp>
      <p:sp>
        <p:nvSpPr>
          <p:cNvPr id="10" name="Text 6"/>
          <p:cNvSpPr txBox="1"/>
          <p:nvPr/>
        </p:nvSpPr>
        <p:spPr>
          <a:xfrm>
            <a:off x="566928" y="2542032"/>
            <a:ext cx="5486400" cy="237744"/>
          </a:xfrm>
          <a:prstGeom prst="rect">
            <a:avLst/>
          </a:prstGeom>
          <a:noFill/>
          <a:ln/>
        </p:spPr>
        <p:txBody>
          <a:bodyPr wrap="square" lIns="0" tIns="0" rIns="0" bIns="0" rtlCol="0" anchor="ctr"/>
          <a:lstStyle/>
          <a:p>
            <a:pPr indent="0" marL="0">
              <a:buNone/>
            </a:pPr>
            <a:r>
              <a:rPr lang="en-US" sz="1050" b="1" spc="120" kern="0" dirty="0">
                <a:solidFill>
                  <a:srgbClr val="5B6B82"/>
                </a:solidFill>
                <a:latin typeface="Calibri" pitchFamily="34" charset="0"/>
                <a:ea typeface="Calibri" pitchFamily="34" charset="-122"/>
                <a:cs typeface="Calibri" pitchFamily="34" charset="-120"/>
              </a:rPr>
              <a:t>RIESGOS IDENTIFICADOS</a:t>
            </a:r>
            <a:endParaRPr lang="en-US" sz="1050" dirty="0"/>
          </a:p>
        </p:txBody>
      </p:sp>
      <p:sp>
        <p:nvSpPr>
          <p:cNvPr id="11" name="Shape 7"/>
          <p:cNvSpPr/>
          <p:nvPr/>
        </p:nvSpPr>
        <p:spPr>
          <a:xfrm>
            <a:off x="566928" y="2798064"/>
            <a:ext cx="1669694" cy="329184"/>
          </a:xfrm>
          <a:prstGeom prst="roundRect">
            <a:avLst>
              <a:gd name="adj" fmla="val 50000"/>
            </a:avLst>
          </a:prstGeom>
          <a:solidFill>
            <a:srgbClr val="2E5EAA"/>
          </a:solidFill>
          <a:ln/>
        </p:spPr>
      </p:sp>
      <p:sp>
        <p:nvSpPr>
          <p:cNvPr id="12" name="Text 8"/>
          <p:cNvSpPr txBox="1"/>
          <p:nvPr/>
        </p:nvSpPr>
        <p:spPr>
          <a:xfrm>
            <a:off x="566928" y="2798064"/>
            <a:ext cx="166969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crediticio</a:t>
            </a:r>
            <a:endParaRPr lang="en-US" sz="1000" dirty="0"/>
          </a:p>
        </p:txBody>
      </p:sp>
      <p:sp>
        <p:nvSpPr>
          <p:cNvPr id="13" name="Shape 9"/>
          <p:cNvSpPr/>
          <p:nvPr/>
        </p:nvSpPr>
        <p:spPr>
          <a:xfrm>
            <a:off x="2364638" y="2798064"/>
            <a:ext cx="1598371" cy="329184"/>
          </a:xfrm>
          <a:prstGeom prst="roundRect">
            <a:avLst>
              <a:gd name="adj" fmla="val 50000"/>
            </a:avLst>
          </a:prstGeom>
          <a:solidFill>
            <a:srgbClr val="2E5EAA"/>
          </a:solidFill>
          <a:ln/>
        </p:spPr>
      </p:sp>
      <p:sp>
        <p:nvSpPr>
          <p:cNvPr id="14" name="Text 10"/>
          <p:cNvSpPr txBox="1"/>
          <p:nvPr/>
        </p:nvSpPr>
        <p:spPr>
          <a:xfrm>
            <a:off x="2364638" y="2798064"/>
            <a:ext cx="1598371"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Riesgo operativo</a:t>
            </a:r>
            <a:endParaRPr lang="en-US" sz="1000" dirty="0"/>
          </a:p>
        </p:txBody>
      </p:sp>
      <p:sp>
        <p:nvSpPr>
          <p:cNvPr id="15" name="Shape 11"/>
          <p:cNvSpPr/>
          <p:nvPr/>
        </p:nvSpPr>
        <p:spPr>
          <a:xfrm>
            <a:off x="566928" y="3291840"/>
            <a:ext cx="3527450" cy="2761488"/>
          </a:xfrm>
          <a:prstGeom prst="roundRect">
            <a:avLst>
              <a:gd name="adj" fmla="val 3311"/>
            </a:avLst>
          </a:prstGeom>
          <a:solidFill>
            <a:srgbClr val="F2F5F9"/>
          </a:solidFill>
          <a:ln/>
        </p:spPr>
      </p:sp>
      <p:sp>
        <p:nvSpPr>
          <p:cNvPr id="16" name="Shape 12"/>
          <p:cNvSpPr/>
          <p:nvPr/>
        </p:nvSpPr>
        <p:spPr>
          <a:xfrm>
            <a:off x="4332122" y="3291840"/>
            <a:ext cx="3527450" cy="2761488"/>
          </a:xfrm>
          <a:prstGeom prst="roundRect">
            <a:avLst>
              <a:gd name="adj" fmla="val 3311"/>
            </a:avLst>
          </a:prstGeom>
          <a:solidFill>
            <a:srgbClr val="F2F5F9"/>
          </a:solidFill>
          <a:ln/>
        </p:spPr>
      </p:sp>
      <p:sp>
        <p:nvSpPr>
          <p:cNvPr id="17" name="Shape 13"/>
          <p:cNvSpPr/>
          <p:nvPr/>
        </p:nvSpPr>
        <p:spPr>
          <a:xfrm>
            <a:off x="8097317" y="3291840"/>
            <a:ext cx="3527450" cy="2761488"/>
          </a:xfrm>
          <a:prstGeom prst="roundRect">
            <a:avLst>
              <a:gd name="adj" fmla="val 3311"/>
            </a:avLst>
          </a:prstGeom>
          <a:solidFill>
            <a:srgbClr val="F2F5F9"/>
          </a:solidFill>
          <a:ln/>
        </p:spPr>
      </p:sp>
      <p:sp>
        <p:nvSpPr>
          <p:cNvPr id="18" name="Shape 14"/>
          <p:cNvSpPr/>
          <p:nvPr/>
        </p:nvSpPr>
        <p:spPr>
          <a:xfrm>
            <a:off x="5848960" y="3986784"/>
            <a:ext cx="493776" cy="493776"/>
          </a:xfrm>
          <a:prstGeom prst="ellipse">
            <a:avLst/>
          </a:prstGeom>
          <a:solidFill>
            <a:srgbClr val="8FA0B5"/>
          </a:solidFill>
          <a:ln/>
        </p:spPr>
      </p:sp>
      <p:pic>
        <p:nvPicPr>
          <p:cNvPr id="19" name="Image 1" descr="/tmp/claude-0/-home-user-riesgo/0ff9ff46-1396-5bd8-b3ac-2280dfbbbc55/scratchpad/work/gen/icons/question_white.png">    </p:cNvPr>
          <p:cNvPicPr>
            <a:picLocks noChangeAspect="1"/>
          </p:cNvPicPr>
          <p:nvPr/>
        </p:nvPicPr>
        <p:blipFill>
          <a:blip r:embed="rId2"/>
          <a:stretch>
            <a:fillRect/>
          </a:stretch>
        </p:blipFill>
        <p:spPr>
          <a:xfrm>
            <a:off x="5960059" y="4097884"/>
            <a:ext cx="271577" cy="271577"/>
          </a:xfrm>
          <a:prstGeom prst="rect">
            <a:avLst/>
          </a:prstGeom>
        </p:spPr>
      </p:pic>
      <p:sp>
        <p:nvSpPr>
          <p:cNvPr id="20" name="Text 15"/>
          <p:cNvSpPr txBox="1"/>
          <p:nvPr/>
        </p:nvSpPr>
        <p:spPr>
          <a:xfrm>
            <a:off x="4469282" y="4599432"/>
            <a:ext cx="3253130" cy="640080"/>
          </a:xfrm>
          <a:prstGeom prst="rect">
            <a:avLst/>
          </a:prstGeom>
          <a:noFill/>
          <a:ln/>
        </p:spPr>
        <p:txBody>
          <a:bodyPr wrap="square" lIns="0" tIns="0" rIns="0" bIns="0" rtlCol="0" anchor="ctr"/>
          <a:lstStyle/>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Da tiempo al grupo para discutir.</a:t>
            </a:r>
            <a:endParaRPr lang="en-US" sz="1150" dirty="0"/>
          </a:p>
          <a:p>
            <a:pPr algn="ctr" indent="0" marL="0">
              <a:lnSpc>
                <a:spcPct val="120000"/>
              </a:lnSpc>
              <a:buNone/>
            </a:pPr>
            <a:r>
              <a:rPr lang="en-US" sz="1150" i="1" dirty="0">
                <a:solidFill>
                  <a:srgbClr val="5B6B82"/>
                </a:solidFill>
                <a:latin typeface="Calibri" pitchFamily="34" charset="0"/>
                <a:ea typeface="Calibri" pitchFamily="34" charset="-122"/>
                <a:cs typeface="Calibri" pitchFamily="34" charset="-120"/>
              </a:rPr>
              <a:t>Haz clic para revelar la respuesta.</a:t>
            </a:r>
            <a:endParaRPr lang="en-US" sz="1150" dirty="0"/>
          </a:p>
        </p:txBody>
      </p:sp>
      <p:sp>
        <p:nvSpPr>
          <p:cNvPr id="21" name="REVEAL_case4_0_bg"/>
          <p:cNvSpPr/>
          <p:nvPr/>
        </p:nvSpPr>
        <p:spPr>
          <a:xfrm>
            <a:off x="566928" y="3291840"/>
            <a:ext cx="3527450" cy="2761488"/>
          </a:xfrm>
          <a:prstGeom prst="roundRect">
            <a:avLst>
              <a:gd name="adj" fmla="val 3311"/>
            </a:avLst>
          </a:prstGeom>
          <a:solidFill>
            <a:srgbClr val="F2F5F9"/>
          </a:solidFill>
          <a:ln/>
        </p:spPr>
      </p:sp>
      <p:sp>
        <p:nvSpPr>
          <p:cNvPr id="22" name="REVEAL_case4_0_ic"/>
          <p:cNvSpPr/>
          <p:nvPr/>
        </p:nvSpPr>
        <p:spPr>
          <a:xfrm>
            <a:off x="2102053" y="3456432"/>
            <a:ext cx="457200" cy="457200"/>
          </a:xfrm>
          <a:prstGeom prst="ellipse">
            <a:avLst/>
          </a:prstGeom>
          <a:solidFill>
            <a:srgbClr val="2FAE60"/>
          </a:solidFill>
          <a:ln/>
        </p:spPr>
      </p:sp>
      <p:pic>
        <p:nvPicPr>
          <p:cNvPr id="23" name="REVEAL_case4_0_ic_ic" descr="/tmp/claude-0/-home-user-riesgo/0ff9ff46-1396-5bd8-b3ac-2280dfbbbc55/scratchpad/work/gen/icons/check_circle_white.png">    </p:cNvPr>
          <p:cNvPicPr>
            <a:picLocks noChangeAspect="1"/>
          </p:cNvPicPr>
          <p:nvPr/>
        </p:nvPicPr>
        <p:blipFill>
          <a:blip r:embed="rId3"/>
          <a:stretch>
            <a:fillRect/>
          </a:stretch>
        </p:blipFill>
        <p:spPr>
          <a:xfrm>
            <a:off x="2211781" y="3566160"/>
            <a:ext cx="237744" cy="237744"/>
          </a:xfrm>
          <a:prstGeom prst="rect">
            <a:avLst/>
          </a:prstGeom>
        </p:spPr>
      </p:pic>
      <p:sp>
        <p:nvSpPr>
          <p:cNvPr id="24" name="REVEAL_case4_0_lbl"/>
          <p:cNvSpPr txBox="1"/>
          <p:nvPr/>
        </p:nvSpPr>
        <p:spPr>
          <a:xfrm>
            <a:off x="713232"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2FAE60"/>
                </a:solidFill>
                <a:latin typeface="Calibri" pitchFamily="34" charset="0"/>
                <a:ea typeface="Calibri" pitchFamily="34" charset="-122"/>
                <a:cs typeface="Calibri" pitchFamily="34" charset="-120"/>
              </a:rPr>
              <a:t>ACCIÓN RECOMENDADA</a:t>
            </a:r>
            <a:endParaRPr lang="en-US" sz="1050" dirty="0"/>
          </a:p>
        </p:txBody>
      </p:sp>
      <p:sp>
        <p:nvSpPr>
          <p:cNvPr id="25" name="REVEAL_case4_0_txt"/>
          <p:cNvSpPr txBox="1"/>
          <p:nvPr/>
        </p:nvSpPr>
        <p:spPr>
          <a:xfrm>
            <a:off x="749808"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Verificar la inconsistencia con el solicitante y la documentación antes de continuar con el proceso.</a:t>
            </a:r>
            <a:endParaRPr lang="en-US" sz="1080" dirty="0"/>
          </a:p>
        </p:txBody>
      </p:sp>
      <p:sp>
        <p:nvSpPr>
          <p:cNvPr id="26" name="REVEAL_case4_1_bg"/>
          <p:cNvSpPr/>
          <p:nvPr/>
        </p:nvSpPr>
        <p:spPr>
          <a:xfrm>
            <a:off x="4332122" y="3291840"/>
            <a:ext cx="3527450" cy="2761488"/>
          </a:xfrm>
          <a:prstGeom prst="roundRect">
            <a:avLst>
              <a:gd name="adj" fmla="val 3311"/>
            </a:avLst>
          </a:prstGeom>
          <a:solidFill>
            <a:srgbClr val="F2F5F9"/>
          </a:solidFill>
          <a:ln/>
        </p:spPr>
      </p:sp>
      <p:sp>
        <p:nvSpPr>
          <p:cNvPr id="27" name="REVEAL_case4_1_ic"/>
          <p:cNvSpPr/>
          <p:nvPr/>
        </p:nvSpPr>
        <p:spPr>
          <a:xfrm>
            <a:off x="5867248" y="3456432"/>
            <a:ext cx="457200" cy="457200"/>
          </a:xfrm>
          <a:prstGeom prst="ellipse">
            <a:avLst/>
          </a:prstGeom>
          <a:solidFill>
            <a:srgbClr val="133B6C"/>
          </a:solidFill>
          <a:ln/>
        </p:spPr>
      </p:sp>
      <p:pic>
        <p:nvPicPr>
          <p:cNvPr id="28" name="REVEAL_case4_1_ic_ic" descr="/tmp/claude-0/-home-user-riesgo/0ff9ff46-1396-5bd8-b3ac-2280dfbbbc55/scratchpad/work/gen/icons/people_group_white.png">    </p:cNvPr>
          <p:cNvPicPr>
            <a:picLocks noChangeAspect="1"/>
          </p:cNvPicPr>
          <p:nvPr/>
        </p:nvPicPr>
        <p:blipFill>
          <a:blip r:embed="rId4"/>
          <a:stretch>
            <a:fillRect/>
          </a:stretch>
        </p:blipFill>
        <p:spPr>
          <a:xfrm>
            <a:off x="5976976" y="3566160"/>
            <a:ext cx="237744" cy="237744"/>
          </a:xfrm>
          <a:prstGeom prst="rect">
            <a:avLst/>
          </a:prstGeom>
        </p:spPr>
      </p:pic>
      <p:sp>
        <p:nvSpPr>
          <p:cNvPr id="29" name="REVEAL_case4_1_lbl"/>
          <p:cNvSpPr txBox="1"/>
          <p:nvPr/>
        </p:nvSpPr>
        <p:spPr>
          <a:xfrm>
            <a:off x="4478426"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133B6C"/>
                </a:solidFill>
                <a:latin typeface="Calibri" pitchFamily="34" charset="0"/>
                <a:ea typeface="Calibri" pitchFamily="34" charset="-122"/>
                <a:cs typeface="Calibri" pitchFamily="34" charset="-120"/>
              </a:rPr>
              <a:t>RESPONSABLE DE ACTUAR</a:t>
            </a:r>
            <a:endParaRPr lang="en-US" sz="1050" dirty="0"/>
          </a:p>
        </p:txBody>
      </p:sp>
      <p:sp>
        <p:nvSpPr>
          <p:cNvPr id="30" name="REVEAL_case4_1_txt"/>
          <p:cNvSpPr txBox="1"/>
          <p:nvPr/>
        </p:nvSpPr>
        <p:spPr>
          <a:xfrm>
            <a:off x="4515002"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Quien evalúa la solicitud, con el respaldo de su jefatura para validar la información.</a:t>
            </a:r>
            <a:endParaRPr lang="en-US" sz="1080" dirty="0"/>
          </a:p>
        </p:txBody>
      </p:sp>
      <p:sp>
        <p:nvSpPr>
          <p:cNvPr id="31" name="REVEAL_case4_2_bg"/>
          <p:cNvSpPr/>
          <p:nvPr/>
        </p:nvSpPr>
        <p:spPr>
          <a:xfrm>
            <a:off x="8097317" y="3291840"/>
            <a:ext cx="3527450" cy="2761488"/>
          </a:xfrm>
          <a:prstGeom prst="roundRect">
            <a:avLst>
              <a:gd name="adj" fmla="val 3311"/>
            </a:avLst>
          </a:prstGeom>
          <a:solidFill>
            <a:srgbClr val="F2F5F9"/>
          </a:solidFill>
          <a:ln/>
        </p:spPr>
      </p:sp>
      <p:sp>
        <p:nvSpPr>
          <p:cNvPr id="32" name="REVEAL_case4_2_ic"/>
          <p:cNvSpPr/>
          <p:nvPr/>
        </p:nvSpPr>
        <p:spPr>
          <a:xfrm>
            <a:off x="9632442" y="3456432"/>
            <a:ext cx="457200" cy="457200"/>
          </a:xfrm>
          <a:prstGeom prst="ellipse">
            <a:avLst/>
          </a:prstGeom>
          <a:solidFill>
            <a:srgbClr val="E0392B"/>
          </a:solidFill>
          <a:ln/>
        </p:spPr>
      </p:sp>
      <p:pic>
        <p:nvPicPr>
          <p:cNvPr id="33" name="REVEAL_case4_2_ic_ic" descr="/tmp/claude-0/-home-user-riesgo/0ff9ff46-1396-5bd8-b3ac-2280dfbbbc55/scratchpad/work/gen/icons/warning_triangle_white.png">    </p:cNvPr>
          <p:cNvPicPr>
            <a:picLocks noChangeAspect="1"/>
          </p:cNvPicPr>
          <p:nvPr/>
        </p:nvPicPr>
        <p:blipFill>
          <a:blip r:embed="rId5"/>
          <a:stretch>
            <a:fillRect/>
          </a:stretch>
        </p:blipFill>
        <p:spPr>
          <a:xfrm>
            <a:off x="9742170" y="3566160"/>
            <a:ext cx="237744" cy="237744"/>
          </a:xfrm>
          <a:prstGeom prst="rect">
            <a:avLst/>
          </a:prstGeom>
        </p:spPr>
      </p:pic>
      <p:sp>
        <p:nvSpPr>
          <p:cNvPr id="34" name="REVEAL_case4_2_lbl"/>
          <p:cNvSpPr txBox="1"/>
          <p:nvPr/>
        </p:nvSpPr>
        <p:spPr>
          <a:xfrm>
            <a:off x="8243621" y="4005072"/>
            <a:ext cx="3234842" cy="384048"/>
          </a:xfrm>
          <a:prstGeom prst="rect">
            <a:avLst/>
          </a:prstGeom>
          <a:noFill/>
          <a:ln/>
        </p:spPr>
        <p:txBody>
          <a:bodyPr wrap="square" lIns="0" tIns="0" rIns="0" bIns="0" rtlCol="0" anchor="ctr"/>
          <a:lstStyle/>
          <a:p>
            <a:pPr algn="ctr" indent="0" marL="0">
              <a:buNone/>
            </a:pPr>
            <a:r>
              <a:rPr lang="en-US" sz="1050" b="1" spc="30" kern="0" dirty="0">
                <a:solidFill>
                  <a:srgbClr val="E0392B"/>
                </a:solidFill>
                <a:latin typeface="Calibri" pitchFamily="34" charset="0"/>
                <a:ea typeface="Calibri" pitchFamily="34" charset="-122"/>
                <a:cs typeface="Calibri" pitchFamily="34" charset="-120"/>
              </a:rPr>
              <a:t>SI NO ACTUAMOS</a:t>
            </a:r>
            <a:endParaRPr lang="en-US" sz="1050" dirty="0"/>
          </a:p>
        </p:txBody>
      </p:sp>
      <p:sp>
        <p:nvSpPr>
          <p:cNvPr id="35" name="REVEAL_case4_2_txt"/>
          <p:cNvSpPr txBox="1"/>
          <p:nvPr/>
        </p:nvSpPr>
        <p:spPr>
          <a:xfrm>
            <a:off x="8280197" y="4407408"/>
            <a:ext cx="3161690" cy="1536192"/>
          </a:xfrm>
          <a:prstGeom prst="rect">
            <a:avLst/>
          </a:prstGeom>
          <a:noFill/>
          <a:ln/>
        </p:spPr>
        <p:txBody>
          <a:bodyPr wrap="square" lIns="0" tIns="0" rIns="0" bIns="0" rtlCol="0" anchor="ctr"/>
          <a:lstStyle/>
          <a:p>
            <a:pPr algn="ctr" indent="0" marL="0">
              <a:lnSpc>
                <a:spcPct val="112000"/>
              </a:lnSpc>
              <a:buNone/>
            </a:pPr>
            <a:r>
              <a:rPr lang="en-US" sz="1080" dirty="0">
                <a:solidFill>
                  <a:srgbClr val="243044"/>
                </a:solidFill>
                <a:latin typeface="Calibri" pitchFamily="34" charset="0"/>
                <a:ea typeface="Calibri" pitchFamily="34" charset="-122"/>
                <a:cs typeface="Calibri" pitchFamily="34" charset="-120"/>
              </a:rPr>
              <a:t>La Cooperativa podría asumir un riesgo crediticio mayor al que realmente cree estar asumiendo.</a:t>
            </a:r>
            <a:endParaRPr lang="en-US" sz="1080" dirty="0"/>
          </a:p>
        </p:txBody>
      </p:sp>
      <p:sp>
        <p:nvSpPr>
          <p:cNvPr id="36" name="Text 2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7" name="Text 2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set>
                                      <p:cBhvr>
                                        <p:cTn id="7" dur="1" fill="hold">
                                          <p:stCondLst>
                                            <p:cond delay="0"/>
                                          </p:stCondLst>
                                        </p:cTn>
                                        <p:tgtEl>
                                          <p:spTgt spid="22"/>
                                        </p:tgtEl>
                                        <p:attrNameLst>
                                          <p:attrName>style.visibility</p:attrName>
                                        </p:attrNameLst>
                                      </p:cBhvr>
                                      <p:to>
                                        <p:strVal val="visible"/>
                                      </p:to>
                                    </p:set>
                                    <p:set>
                                      <p:cBhvr>
                                        <p:cTn id="8" dur="1" fill="hold">
                                          <p:stCondLst>
                                            <p:cond delay="0"/>
                                          </p:stCondLst>
                                        </p:cTn>
                                        <p:tgtEl>
                                          <p:spTgt spid="23"/>
                                        </p:tgtEl>
                                        <p:attrNameLst>
                                          <p:attrName>style.visibility</p:attrName>
                                        </p:attrNameLst>
                                      </p:cBhvr>
                                      <p:to>
                                        <p:strVal val="visible"/>
                                      </p:to>
                                    </p:set>
                                    <p:set>
                                      <p:cBhvr>
                                        <p:cTn id="9" dur="1" fill="hold">
                                          <p:stCondLst>
                                            <p:cond delay="0"/>
                                          </p:stCondLst>
                                        </p:cTn>
                                        <p:tgtEl>
                                          <p:spTgt spid="24"/>
                                        </p:tgtEl>
                                        <p:attrNameLst>
                                          <p:attrName>style.visibility</p:attrName>
                                        </p:attrNameLst>
                                      </p:cBhvr>
                                      <p:to>
                                        <p:strVal val="visible"/>
                                      </p:to>
                                    </p:set>
                                    <p:set>
                                      <p:cBhvr>
                                        <p:cTn id="10" dur="1" fill="hold">
                                          <p:stCondLst>
                                            <p:cond delay="0"/>
                                          </p:stCondLst>
                                        </p:cTn>
                                        <p:tgtEl>
                                          <p:spTgt spid="25"/>
                                        </p:tgtEl>
                                        <p:attrNameLst>
                                          <p:attrName>style.visibility</p:attrName>
                                        </p:attrNameLst>
                                      </p:cBhvr>
                                      <p:to>
                                        <p:strVal val="visible"/>
                                      </p:to>
                                    </p:set>
                                    <p:set>
                                      <p:cBhvr>
                                        <p:cTn id="11" dur="1" fill="hold">
                                          <p:stCondLst>
                                            <p:cond delay="0"/>
                                          </p:stCondLst>
                                        </p:cTn>
                                        <p:tgtEl>
                                          <p:spTgt spid="26"/>
                                        </p:tgtEl>
                                        <p:attrNameLst>
                                          <p:attrName>style.visibility</p:attrName>
                                        </p:attrNameLst>
                                      </p:cBhvr>
                                      <p:to>
                                        <p:strVal val="visible"/>
                                      </p:to>
                                    </p:set>
                                    <p:set>
                                      <p:cBhvr>
                                        <p:cTn id="12" dur="1" fill="hold">
                                          <p:stCondLst>
                                            <p:cond delay="0"/>
                                          </p:stCondLst>
                                        </p:cTn>
                                        <p:tgtEl>
                                          <p:spTgt spid="27"/>
                                        </p:tgtEl>
                                        <p:attrNameLst>
                                          <p:attrName>style.visibility</p:attrName>
                                        </p:attrNameLst>
                                      </p:cBhvr>
                                      <p:to>
                                        <p:strVal val="visible"/>
                                      </p:to>
                                    </p:set>
                                    <p:set>
                                      <p:cBhvr>
                                        <p:cTn id="13" dur="1" fill="hold">
                                          <p:stCondLst>
                                            <p:cond delay="0"/>
                                          </p:stCondLst>
                                        </p:cTn>
                                        <p:tgtEl>
                                          <p:spTgt spid="28"/>
                                        </p:tgtEl>
                                        <p:attrNameLst>
                                          <p:attrName>style.visibility</p:attrName>
                                        </p:attrNameLst>
                                      </p:cBhvr>
                                      <p:to>
                                        <p:strVal val="visible"/>
                                      </p:to>
                                    </p:set>
                                    <p:set>
                                      <p:cBhvr>
                                        <p:cTn id="14" dur="1" fill="hold">
                                          <p:stCondLst>
                                            <p:cond delay="0"/>
                                          </p:stCondLst>
                                        </p:cTn>
                                        <p:tgtEl>
                                          <p:spTgt spid="29"/>
                                        </p:tgtEl>
                                        <p:attrNameLst>
                                          <p:attrName>style.visibility</p:attrName>
                                        </p:attrNameLst>
                                      </p:cBhvr>
                                      <p:to>
                                        <p:strVal val="visible"/>
                                      </p:to>
                                    </p:set>
                                    <p:set>
                                      <p:cBhvr>
                                        <p:cTn id="15" dur="1" fill="hold">
                                          <p:stCondLst>
                                            <p:cond delay="0"/>
                                          </p:stCondLst>
                                        </p:cTn>
                                        <p:tgtEl>
                                          <p:spTgt spid="30"/>
                                        </p:tgtEl>
                                        <p:attrNameLst>
                                          <p:attrName>style.visibility</p:attrName>
                                        </p:attrNameLst>
                                      </p:cBhvr>
                                      <p:to>
                                        <p:strVal val="visible"/>
                                      </p:to>
                                    </p:set>
                                    <p:set>
                                      <p:cBhvr>
                                        <p:cTn id="16" dur="1" fill="hold">
                                          <p:stCondLst>
                                            <p:cond delay="0"/>
                                          </p:stCondLst>
                                        </p:cTn>
                                        <p:tgtEl>
                                          <p:spTgt spid="31"/>
                                        </p:tgtEl>
                                        <p:attrNameLst>
                                          <p:attrName>style.visibility</p:attrName>
                                        </p:attrNameLst>
                                      </p:cBhvr>
                                      <p:to>
                                        <p:strVal val="visible"/>
                                      </p:to>
                                    </p:set>
                                    <p:set>
                                      <p:cBhvr>
                                        <p:cTn id="17" dur="1" fill="hold">
                                          <p:stCondLst>
                                            <p:cond delay="0"/>
                                          </p:stCondLst>
                                        </p:cTn>
                                        <p:tgtEl>
                                          <p:spTgt spid="32"/>
                                        </p:tgtEl>
                                        <p:attrNameLst>
                                          <p:attrName>style.visibility</p:attrName>
                                        </p:attrNameLst>
                                      </p:cBhvr>
                                      <p:to>
                                        <p:strVal val="visible"/>
                                      </p:to>
                                    </p:set>
                                    <p:set>
                                      <p:cBhvr>
                                        <p:cTn id="18" dur="1" fill="hold">
                                          <p:stCondLst>
                                            <p:cond delay="0"/>
                                          </p:stCondLst>
                                        </p:cTn>
                                        <p:tgtEl>
                                          <p:spTgt spid="33"/>
                                        </p:tgtEl>
                                        <p:attrNameLst>
                                          <p:attrName>style.visibility</p:attrName>
                                        </p:attrNameLst>
                                      </p:cBhvr>
                                      <p:to>
                                        <p:strVal val="visible"/>
                                      </p:to>
                                    </p:set>
                                    <p:set>
                                      <p:cBhvr>
                                        <p:cTn id="19" dur="1" fill="hold">
                                          <p:stCondLst>
                                            <p:cond delay="0"/>
                                          </p:stCondLst>
                                        </p:cTn>
                                        <p:tgtEl>
                                          <p:spTgt spid="34"/>
                                        </p:tgtEl>
                                        <p:attrNameLst>
                                          <p:attrName>style.visibility</p:attrName>
                                        </p:attrNameLst>
                                      </p:cBhvr>
                                      <p:to>
                                        <p:strVal val="visible"/>
                                      </p:to>
                                    </p:set>
                                    <p:set>
                                      <p:cBhvr>
                                        <p:cTn id="2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GRAN ACTIVIDAD FINAL · 30 SEGUNDOS</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200" b="1" dirty="0">
                <a:solidFill>
                  <a:srgbClr val="133B6C"/>
                </a:solidFill>
                <a:latin typeface="Cambria" pitchFamily="34" charset="0"/>
                <a:ea typeface="Cambria" pitchFamily="34" charset="-122"/>
                <a:cs typeface="Cambria" pitchFamily="34" charset="-120"/>
              </a:rPr>
              <a:t>DETECTA EL RIESGO</a:t>
            </a:r>
            <a:endParaRPr lang="en-US" sz="3200" dirty="0"/>
          </a:p>
        </p:txBody>
      </p:sp>
      <p:sp>
        <p:nvSpPr>
          <p:cNvPr id="5" name="Text 2"/>
          <p:cNvSpPr txBox="1"/>
          <p:nvPr/>
        </p:nvSpPr>
        <p:spPr>
          <a:xfrm>
            <a:off x="566928" y="1481328"/>
            <a:ext cx="11057839" cy="457200"/>
          </a:xfrm>
          <a:prstGeom prst="rect">
            <a:avLst/>
          </a:prstGeom>
          <a:noFill/>
          <a:ln/>
        </p:spPr>
        <p:txBody>
          <a:bodyPr wrap="square" lIns="0" tIns="0" rIns="0" bIns="0" rtlCol="0" anchor="ctr"/>
          <a:lstStyle/>
          <a:p>
            <a:pPr algn="l" indent="0" marL="0">
              <a:buNone/>
            </a:pPr>
            <a:r>
              <a:rPr lang="en-US" sz="1500" dirty="0">
                <a:solidFill>
                  <a:srgbClr val="5B6B82"/>
                </a:solidFill>
                <a:latin typeface="Calibri" pitchFamily="34" charset="0"/>
                <a:ea typeface="Calibri" pitchFamily="34" charset="-122"/>
                <a:cs typeface="Calibri" pitchFamily="34" charset="-120"/>
              </a:rPr>
              <a:t>Pon a prueba todo lo aprendido. Observa la escena: tienes 30 segundos, ¿cuántos riesgos puedes encontrar esta vez?</a:t>
            </a:r>
            <a:endParaRPr lang="en-US" sz="1500" dirty="0"/>
          </a:p>
        </p:txBody>
      </p:sp>
      <p:sp>
        <p:nvSpPr>
          <p:cNvPr id="6" name="Shape 3"/>
          <p:cNvSpPr/>
          <p:nvPr/>
        </p:nvSpPr>
        <p:spPr>
          <a:xfrm>
            <a:off x="566928" y="1965960"/>
            <a:ext cx="11057839" cy="3977640"/>
          </a:xfrm>
          <a:prstGeom prst="roundRect">
            <a:avLst>
              <a:gd name="adj" fmla="val 3218"/>
            </a:avLst>
          </a:prstGeom>
          <a:solidFill>
            <a:srgbClr val="F2F5F9"/>
          </a:solidFill>
          <a:ln/>
        </p:spPr>
      </p:sp>
      <p:sp>
        <p:nvSpPr>
          <p:cNvPr id="7" name="Shape 4"/>
          <p:cNvSpPr/>
          <p:nvPr/>
        </p:nvSpPr>
        <p:spPr>
          <a:xfrm>
            <a:off x="1417320" y="2148840"/>
            <a:ext cx="960120" cy="960120"/>
          </a:xfrm>
          <a:prstGeom prst="ellipse">
            <a:avLst/>
          </a:prstGeom>
          <a:solidFill>
            <a:srgbClr val="133B6C"/>
          </a:solidFill>
          <a:ln/>
        </p:spPr>
      </p:sp>
      <p:pic>
        <p:nvPicPr>
          <p:cNvPr id="8" name="Image 0" descr="/tmp/claude-0/-home-user-riesgo/0ff9ff46-1396-5bd8-b3ac-2280dfbbbc55/scratchpad/work/gen/icons/lock_open_white.png">    </p:cNvPr>
          <p:cNvPicPr>
            <a:picLocks noChangeAspect="1"/>
          </p:cNvPicPr>
          <p:nvPr/>
        </p:nvPicPr>
        <p:blipFill>
          <a:blip r:embed="rId1"/>
          <a:stretch>
            <a:fillRect/>
          </a:stretch>
        </p:blipFill>
        <p:spPr>
          <a:xfrm>
            <a:off x="1657350" y="2388870"/>
            <a:ext cx="480060" cy="480060"/>
          </a:xfrm>
          <a:prstGeom prst="rect">
            <a:avLst/>
          </a:prstGeom>
        </p:spPr>
      </p:pic>
      <p:sp>
        <p:nvSpPr>
          <p:cNvPr id="9" name="Shape 5"/>
          <p:cNvSpPr/>
          <p:nvPr/>
        </p:nvSpPr>
        <p:spPr>
          <a:xfrm>
            <a:off x="2066544" y="2057400"/>
            <a:ext cx="402336" cy="402336"/>
          </a:xfrm>
          <a:prstGeom prst="ellipse">
            <a:avLst/>
          </a:prstGeom>
          <a:solidFill>
            <a:srgbClr val="2E86C7"/>
          </a:solidFill>
          <a:ln/>
        </p:spPr>
      </p:sp>
      <p:sp>
        <p:nvSpPr>
          <p:cNvPr id="10" name="Text 6"/>
          <p:cNvSpPr txBox="1"/>
          <p:nvPr/>
        </p:nvSpPr>
        <p:spPr>
          <a:xfrm>
            <a:off x="206654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1</a:t>
            </a:r>
            <a:endParaRPr lang="en-US" sz="1496" dirty="0"/>
          </a:p>
        </p:txBody>
      </p:sp>
      <p:sp>
        <p:nvSpPr>
          <p:cNvPr id="11" name="Shape 7"/>
          <p:cNvSpPr/>
          <p:nvPr/>
        </p:nvSpPr>
        <p:spPr>
          <a:xfrm>
            <a:off x="3657600" y="2377440"/>
            <a:ext cx="960120" cy="960120"/>
          </a:xfrm>
          <a:prstGeom prst="ellipse">
            <a:avLst/>
          </a:prstGeom>
          <a:solidFill>
            <a:srgbClr val="133B6C"/>
          </a:solidFill>
          <a:ln/>
        </p:spPr>
      </p:sp>
      <p:pic>
        <p:nvPicPr>
          <p:cNvPr id="12" name="Image 1" descr="/tmp/claude-0/-home-user-riesgo/0ff9ff46-1396-5bd8-b3ac-2280dfbbbc55/scratchpad/work/gen/icons/usb_white.png">    </p:cNvPr>
          <p:cNvPicPr>
            <a:picLocks noChangeAspect="1"/>
          </p:cNvPicPr>
          <p:nvPr/>
        </p:nvPicPr>
        <p:blipFill>
          <a:blip r:embed="rId2"/>
          <a:stretch>
            <a:fillRect/>
          </a:stretch>
        </p:blipFill>
        <p:spPr>
          <a:xfrm>
            <a:off x="3897630" y="2617470"/>
            <a:ext cx="480060" cy="480060"/>
          </a:xfrm>
          <a:prstGeom prst="rect">
            <a:avLst/>
          </a:prstGeom>
        </p:spPr>
      </p:pic>
      <p:sp>
        <p:nvSpPr>
          <p:cNvPr id="13" name="Shape 8"/>
          <p:cNvSpPr/>
          <p:nvPr/>
        </p:nvSpPr>
        <p:spPr>
          <a:xfrm>
            <a:off x="4306824" y="2286000"/>
            <a:ext cx="402336" cy="402336"/>
          </a:xfrm>
          <a:prstGeom prst="ellipse">
            <a:avLst/>
          </a:prstGeom>
          <a:solidFill>
            <a:srgbClr val="2E86C7"/>
          </a:solidFill>
          <a:ln/>
        </p:spPr>
      </p:sp>
      <p:sp>
        <p:nvSpPr>
          <p:cNvPr id="14" name="Text 9"/>
          <p:cNvSpPr txBox="1"/>
          <p:nvPr/>
        </p:nvSpPr>
        <p:spPr>
          <a:xfrm>
            <a:off x="430682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2</a:t>
            </a:r>
            <a:endParaRPr lang="en-US" sz="1496" dirty="0"/>
          </a:p>
        </p:txBody>
      </p:sp>
      <p:sp>
        <p:nvSpPr>
          <p:cNvPr id="15" name="Shape 10"/>
          <p:cNvSpPr/>
          <p:nvPr/>
        </p:nvSpPr>
        <p:spPr>
          <a:xfrm>
            <a:off x="5852160" y="2103120"/>
            <a:ext cx="960120" cy="960120"/>
          </a:xfrm>
          <a:prstGeom prst="ellipse">
            <a:avLst/>
          </a:prstGeom>
          <a:solidFill>
            <a:srgbClr val="133B6C"/>
          </a:solidFill>
          <a:ln/>
        </p:spPr>
      </p:sp>
      <p:pic>
        <p:nvPicPr>
          <p:cNvPr id="16" name="Image 2" descr="/tmp/claude-0/-home-user-riesgo/0ff9ff46-1396-5bd8-b3ac-2280dfbbbc55/scratchpad/work/gen/icons/wifi_off_white.png">    </p:cNvPr>
          <p:cNvPicPr>
            <a:picLocks noChangeAspect="1"/>
          </p:cNvPicPr>
          <p:nvPr/>
        </p:nvPicPr>
        <p:blipFill>
          <a:blip r:embed="rId3"/>
          <a:stretch>
            <a:fillRect/>
          </a:stretch>
        </p:blipFill>
        <p:spPr>
          <a:xfrm>
            <a:off x="6092190" y="2343150"/>
            <a:ext cx="480060" cy="480060"/>
          </a:xfrm>
          <a:prstGeom prst="rect">
            <a:avLst/>
          </a:prstGeom>
        </p:spPr>
      </p:pic>
      <p:sp>
        <p:nvSpPr>
          <p:cNvPr id="17" name="Shape 11"/>
          <p:cNvSpPr/>
          <p:nvPr/>
        </p:nvSpPr>
        <p:spPr>
          <a:xfrm>
            <a:off x="6501384" y="2011680"/>
            <a:ext cx="402336" cy="402336"/>
          </a:xfrm>
          <a:prstGeom prst="ellipse">
            <a:avLst/>
          </a:prstGeom>
          <a:solidFill>
            <a:srgbClr val="2E86C7"/>
          </a:solidFill>
          <a:ln/>
        </p:spPr>
      </p:sp>
      <p:sp>
        <p:nvSpPr>
          <p:cNvPr id="18" name="Text 12"/>
          <p:cNvSpPr txBox="1"/>
          <p:nvPr/>
        </p:nvSpPr>
        <p:spPr>
          <a:xfrm>
            <a:off x="6501384" y="200253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3</a:t>
            </a:r>
            <a:endParaRPr lang="en-US" sz="1496" dirty="0"/>
          </a:p>
        </p:txBody>
      </p:sp>
      <p:sp>
        <p:nvSpPr>
          <p:cNvPr id="19" name="Shape 13"/>
          <p:cNvSpPr/>
          <p:nvPr/>
        </p:nvSpPr>
        <p:spPr>
          <a:xfrm>
            <a:off x="8138160" y="2377440"/>
            <a:ext cx="960120" cy="960120"/>
          </a:xfrm>
          <a:prstGeom prst="ellipse">
            <a:avLst/>
          </a:prstGeom>
          <a:solidFill>
            <a:srgbClr val="133B6C"/>
          </a:solidFill>
          <a:ln/>
        </p:spPr>
      </p:sp>
      <p:pic>
        <p:nvPicPr>
          <p:cNvPr id="20" name="Image 3" descr="/tmp/claude-0/-home-user-riesgo/0ff9ff46-1396-5bd8-b3ac-2280dfbbbc55/scratchpad/work/gen/icons/trash_white.png">    </p:cNvPr>
          <p:cNvPicPr>
            <a:picLocks noChangeAspect="1"/>
          </p:cNvPicPr>
          <p:nvPr/>
        </p:nvPicPr>
        <p:blipFill>
          <a:blip r:embed="rId4"/>
          <a:stretch>
            <a:fillRect/>
          </a:stretch>
        </p:blipFill>
        <p:spPr>
          <a:xfrm>
            <a:off x="8378190" y="2617470"/>
            <a:ext cx="480060" cy="480060"/>
          </a:xfrm>
          <a:prstGeom prst="rect">
            <a:avLst/>
          </a:prstGeom>
        </p:spPr>
      </p:pic>
      <p:sp>
        <p:nvSpPr>
          <p:cNvPr id="21" name="Shape 14"/>
          <p:cNvSpPr/>
          <p:nvPr/>
        </p:nvSpPr>
        <p:spPr>
          <a:xfrm>
            <a:off x="8787384" y="2286000"/>
            <a:ext cx="402336" cy="402336"/>
          </a:xfrm>
          <a:prstGeom prst="ellipse">
            <a:avLst/>
          </a:prstGeom>
          <a:solidFill>
            <a:srgbClr val="2E86C7"/>
          </a:solidFill>
          <a:ln/>
        </p:spPr>
      </p:sp>
      <p:sp>
        <p:nvSpPr>
          <p:cNvPr id="22" name="Text 15"/>
          <p:cNvSpPr txBox="1"/>
          <p:nvPr/>
        </p:nvSpPr>
        <p:spPr>
          <a:xfrm>
            <a:off x="8787384" y="22768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4</a:t>
            </a:r>
            <a:endParaRPr lang="en-US" sz="1496" dirty="0"/>
          </a:p>
        </p:txBody>
      </p:sp>
      <p:sp>
        <p:nvSpPr>
          <p:cNvPr id="23" name="Shape 16"/>
          <p:cNvSpPr/>
          <p:nvPr/>
        </p:nvSpPr>
        <p:spPr>
          <a:xfrm>
            <a:off x="10149840" y="2148840"/>
            <a:ext cx="960120" cy="960120"/>
          </a:xfrm>
          <a:prstGeom prst="ellipse">
            <a:avLst/>
          </a:prstGeom>
          <a:solidFill>
            <a:srgbClr val="133B6C"/>
          </a:solidFill>
          <a:ln/>
        </p:spPr>
      </p:sp>
      <p:pic>
        <p:nvPicPr>
          <p:cNvPr id="24" name="Image 4" descr="/tmp/claude-0/-home-user-riesgo/0ff9ff46-1396-5bd8-b3ac-2280dfbbbc55/scratchpad/work/gen/icons/bell_alert_white.png">    </p:cNvPr>
          <p:cNvPicPr>
            <a:picLocks noChangeAspect="1"/>
          </p:cNvPicPr>
          <p:nvPr/>
        </p:nvPicPr>
        <p:blipFill>
          <a:blip r:embed="rId5"/>
          <a:stretch>
            <a:fillRect/>
          </a:stretch>
        </p:blipFill>
        <p:spPr>
          <a:xfrm>
            <a:off x="10389870" y="2388870"/>
            <a:ext cx="480060" cy="480060"/>
          </a:xfrm>
          <a:prstGeom prst="rect">
            <a:avLst/>
          </a:prstGeom>
        </p:spPr>
      </p:pic>
      <p:sp>
        <p:nvSpPr>
          <p:cNvPr id="25" name="Shape 17"/>
          <p:cNvSpPr/>
          <p:nvPr/>
        </p:nvSpPr>
        <p:spPr>
          <a:xfrm>
            <a:off x="10799064" y="2057400"/>
            <a:ext cx="402336" cy="402336"/>
          </a:xfrm>
          <a:prstGeom prst="ellipse">
            <a:avLst/>
          </a:prstGeom>
          <a:solidFill>
            <a:srgbClr val="2E86C7"/>
          </a:solidFill>
          <a:ln/>
        </p:spPr>
      </p:sp>
      <p:sp>
        <p:nvSpPr>
          <p:cNvPr id="26" name="Text 18"/>
          <p:cNvSpPr txBox="1"/>
          <p:nvPr/>
        </p:nvSpPr>
        <p:spPr>
          <a:xfrm>
            <a:off x="10799064" y="20482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5</a:t>
            </a:r>
            <a:endParaRPr lang="en-US" sz="1496" dirty="0"/>
          </a:p>
        </p:txBody>
      </p:sp>
      <p:sp>
        <p:nvSpPr>
          <p:cNvPr id="27" name="Shape 19"/>
          <p:cNvSpPr/>
          <p:nvPr/>
        </p:nvSpPr>
        <p:spPr>
          <a:xfrm>
            <a:off x="2468880" y="4251960"/>
            <a:ext cx="960120" cy="960120"/>
          </a:xfrm>
          <a:prstGeom prst="ellipse">
            <a:avLst/>
          </a:prstGeom>
          <a:solidFill>
            <a:srgbClr val="133B6C"/>
          </a:solidFill>
          <a:ln/>
        </p:spPr>
      </p:sp>
      <p:pic>
        <p:nvPicPr>
          <p:cNvPr id="28" name="Image 5" descr="/tmp/claude-0/-home-user-riesgo/0ff9ff46-1396-5bd8-b3ac-2280dfbbbc55/scratchpad/work/gen/icons/hand_stop_white.png">    </p:cNvPr>
          <p:cNvPicPr>
            <a:picLocks noChangeAspect="1"/>
          </p:cNvPicPr>
          <p:nvPr/>
        </p:nvPicPr>
        <p:blipFill>
          <a:blip r:embed="rId6"/>
          <a:stretch>
            <a:fillRect/>
          </a:stretch>
        </p:blipFill>
        <p:spPr>
          <a:xfrm>
            <a:off x="2708910" y="4491990"/>
            <a:ext cx="480060" cy="480060"/>
          </a:xfrm>
          <a:prstGeom prst="rect">
            <a:avLst/>
          </a:prstGeom>
        </p:spPr>
      </p:pic>
      <p:sp>
        <p:nvSpPr>
          <p:cNvPr id="29" name="Shape 20"/>
          <p:cNvSpPr/>
          <p:nvPr/>
        </p:nvSpPr>
        <p:spPr>
          <a:xfrm>
            <a:off x="3118104" y="4160520"/>
            <a:ext cx="402336" cy="402336"/>
          </a:xfrm>
          <a:prstGeom prst="ellipse">
            <a:avLst/>
          </a:prstGeom>
          <a:solidFill>
            <a:srgbClr val="2E86C7"/>
          </a:solidFill>
          <a:ln/>
        </p:spPr>
      </p:sp>
      <p:sp>
        <p:nvSpPr>
          <p:cNvPr id="30" name="Text 21"/>
          <p:cNvSpPr txBox="1"/>
          <p:nvPr/>
        </p:nvSpPr>
        <p:spPr>
          <a:xfrm>
            <a:off x="3118104" y="41513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6</a:t>
            </a:r>
            <a:endParaRPr lang="en-US" sz="1496" dirty="0"/>
          </a:p>
        </p:txBody>
      </p:sp>
      <p:sp>
        <p:nvSpPr>
          <p:cNvPr id="31" name="Shape 22"/>
          <p:cNvSpPr/>
          <p:nvPr/>
        </p:nvSpPr>
        <p:spPr>
          <a:xfrm>
            <a:off x="4663440" y="4480560"/>
            <a:ext cx="960120" cy="960120"/>
          </a:xfrm>
          <a:prstGeom prst="ellipse">
            <a:avLst/>
          </a:prstGeom>
          <a:solidFill>
            <a:srgbClr val="133B6C"/>
          </a:solidFill>
          <a:ln/>
        </p:spPr>
      </p:sp>
      <p:pic>
        <p:nvPicPr>
          <p:cNvPr id="32" name="Image 6" descr="/tmp/claude-0/-home-user-riesgo/0ff9ff46-1396-5bd8-b3ac-2280dfbbbc55/scratchpad/work/gen/icons/cctv_white.png">    </p:cNvPr>
          <p:cNvPicPr>
            <a:picLocks noChangeAspect="1"/>
          </p:cNvPicPr>
          <p:nvPr/>
        </p:nvPicPr>
        <p:blipFill>
          <a:blip r:embed="rId7"/>
          <a:stretch>
            <a:fillRect/>
          </a:stretch>
        </p:blipFill>
        <p:spPr>
          <a:xfrm>
            <a:off x="4903470" y="4720590"/>
            <a:ext cx="480060" cy="480060"/>
          </a:xfrm>
          <a:prstGeom prst="rect">
            <a:avLst/>
          </a:prstGeom>
        </p:spPr>
      </p:pic>
      <p:sp>
        <p:nvSpPr>
          <p:cNvPr id="33" name="Shape 23"/>
          <p:cNvSpPr/>
          <p:nvPr/>
        </p:nvSpPr>
        <p:spPr>
          <a:xfrm>
            <a:off x="5312664" y="4389120"/>
            <a:ext cx="402336" cy="402336"/>
          </a:xfrm>
          <a:prstGeom prst="ellipse">
            <a:avLst/>
          </a:prstGeom>
          <a:solidFill>
            <a:srgbClr val="2E86C7"/>
          </a:solidFill>
          <a:ln/>
        </p:spPr>
      </p:sp>
      <p:sp>
        <p:nvSpPr>
          <p:cNvPr id="34" name="Text 24"/>
          <p:cNvSpPr txBox="1"/>
          <p:nvPr/>
        </p:nvSpPr>
        <p:spPr>
          <a:xfrm>
            <a:off x="531266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7</a:t>
            </a:r>
            <a:endParaRPr lang="en-US" sz="1496" dirty="0"/>
          </a:p>
        </p:txBody>
      </p:sp>
      <p:sp>
        <p:nvSpPr>
          <p:cNvPr id="35" name="Shape 25"/>
          <p:cNvSpPr/>
          <p:nvPr/>
        </p:nvSpPr>
        <p:spPr>
          <a:xfrm>
            <a:off x="6949440" y="4206240"/>
            <a:ext cx="960120" cy="960120"/>
          </a:xfrm>
          <a:prstGeom prst="ellipse">
            <a:avLst/>
          </a:prstGeom>
          <a:solidFill>
            <a:srgbClr val="133B6C"/>
          </a:solidFill>
          <a:ln/>
        </p:spPr>
      </p:sp>
      <p:pic>
        <p:nvPicPr>
          <p:cNvPr id="36" name="Image 7" descr="/tmp/claude-0/-home-user-riesgo/0ff9ff46-1396-5bd8-b3ac-2280dfbbbc55/scratchpad/work/gen/icons/key_white.png">    </p:cNvPr>
          <p:cNvPicPr>
            <a:picLocks noChangeAspect="1"/>
          </p:cNvPicPr>
          <p:nvPr/>
        </p:nvPicPr>
        <p:blipFill>
          <a:blip r:embed="rId8"/>
          <a:stretch>
            <a:fillRect/>
          </a:stretch>
        </p:blipFill>
        <p:spPr>
          <a:xfrm>
            <a:off x="7189470" y="4446270"/>
            <a:ext cx="480060" cy="480060"/>
          </a:xfrm>
          <a:prstGeom prst="rect">
            <a:avLst/>
          </a:prstGeom>
        </p:spPr>
      </p:pic>
      <p:sp>
        <p:nvSpPr>
          <p:cNvPr id="37" name="Shape 26"/>
          <p:cNvSpPr/>
          <p:nvPr/>
        </p:nvSpPr>
        <p:spPr>
          <a:xfrm>
            <a:off x="7598664" y="4114800"/>
            <a:ext cx="402336" cy="402336"/>
          </a:xfrm>
          <a:prstGeom prst="ellipse">
            <a:avLst/>
          </a:prstGeom>
          <a:solidFill>
            <a:srgbClr val="2E86C7"/>
          </a:solidFill>
          <a:ln/>
        </p:spPr>
      </p:sp>
      <p:sp>
        <p:nvSpPr>
          <p:cNvPr id="38" name="Text 27"/>
          <p:cNvSpPr txBox="1"/>
          <p:nvPr/>
        </p:nvSpPr>
        <p:spPr>
          <a:xfrm>
            <a:off x="7598664" y="410565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8</a:t>
            </a:r>
            <a:endParaRPr lang="en-US" sz="1496" dirty="0"/>
          </a:p>
        </p:txBody>
      </p:sp>
      <p:sp>
        <p:nvSpPr>
          <p:cNvPr id="39" name="Shape 28"/>
          <p:cNvSpPr/>
          <p:nvPr/>
        </p:nvSpPr>
        <p:spPr>
          <a:xfrm>
            <a:off x="9144000" y="4480560"/>
            <a:ext cx="960120" cy="960120"/>
          </a:xfrm>
          <a:prstGeom prst="ellipse">
            <a:avLst/>
          </a:prstGeom>
          <a:solidFill>
            <a:srgbClr val="133B6C"/>
          </a:solidFill>
          <a:ln/>
        </p:spPr>
      </p:sp>
      <p:pic>
        <p:nvPicPr>
          <p:cNvPr id="40" name="Image 8" descr="/tmp/claude-0/-home-user-riesgo/0ff9ff46-1396-5bd8-b3ac-2280dfbbbc55/scratchpad/work/gen/icons/social_white.png">    </p:cNvPr>
          <p:cNvPicPr>
            <a:picLocks noChangeAspect="1"/>
          </p:cNvPicPr>
          <p:nvPr/>
        </p:nvPicPr>
        <p:blipFill>
          <a:blip r:embed="rId9"/>
          <a:stretch>
            <a:fillRect/>
          </a:stretch>
        </p:blipFill>
        <p:spPr>
          <a:xfrm>
            <a:off x="9384030" y="4720590"/>
            <a:ext cx="480060" cy="480060"/>
          </a:xfrm>
          <a:prstGeom prst="rect">
            <a:avLst/>
          </a:prstGeom>
        </p:spPr>
      </p:pic>
      <p:sp>
        <p:nvSpPr>
          <p:cNvPr id="41" name="Shape 29"/>
          <p:cNvSpPr/>
          <p:nvPr/>
        </p:nvSpPr>
        <p:spPr>
          <a:xfrm>
            <a:off x="9793224" y="4389120"/>
            <a:ext cx="402336" cy="402336"/>
          </a:xfrm>
          <a:prstGeom prst="ellipse">
            <a:avLst/>
          </a:prstGeom>
          <a:solidFill>
            <a:srgbClr val="2E86C7"/>
          </a:solidFill>
          <a:ln/>
        </p:spPr>
      </p:sp>
      <p:sp>
        <p:nvSpPr>
          <p:cNvPr id="42" name="Text 30"/>
          <p:cNvSpPr txBox="1"/>
          <p:nvPr/>
        </p:nvSpPr>
        <p:spPr>
          <a:xfrm>
            <a:off x="9793224" y="4379976"/>
            <a:ext cx="402336" cy="402336"/>
          </a:xfrm>
          <a:prstGeom prst="rect">
            <a:avLst/>
          </a:prstGeom>
          <a:noFill/>
          <a:ln/>
        </p:spPr>
        <p:txBody>
          <a:bodyPr wrap="square" lIns="0" tIns="0" rIns="0" bIns="0" rtlCol="0" anchor="ctr"/>
          <a:lstStyle/>
          <a:p>
            <a:pPr algn="ctr" indent="0" marL="0">
              <a:buNone/>
            </a:pPr>
            <a:r>
              <a:rPr lang="en-US" sz="1496" b="1" dirty="0">
                <a:solidFill>
                  <a:srgbClr val="0A1F3B"/>
                </a:solidFill>
                <a:latin typeface="Cambria" pitchFamily="34" charset="0"/>
                <a:ea typeface="Cambria" pitchFamily="34" charset="-122"/>
                <a:cs typeface="Cambria" pitchFamily="34" charset="-120"/>
              </a:rPr>
              <a:t>9</a:t>
            </a:r>
            <a:endParaRPr lang="en-US" sz="1496" dirty="0"/>
          </a:p>
        </p:txBody>
      </p:sp>
      <p:sp>
        <p:nvSpPr>
          <p:cNvPr id="43" name="Text 31"/>
          <p:cNvSpPr txBox="1"/>
          <p:nvPr/>
        </p:nvSpPr>
        <p:spPr>
          <a:xfrm>
            <a:off x="566928" y="6053328"/>
            <a:ext cx="11057839" cy="274320"/>
          </a:xfrm>
          <a:prstGeom prst="rect">
            <a:avLst/>
          </a:prstGeom>
          <a:noFill/>
          <a:ln/>
        </p:spPr>
        <p:txBody>
          <a:bodyPr wrap="square" lIns="0" tIns="0" rIns="0" bIns="0" rtlCol="0" anchor="ctr"/>
          <a:lstStyle/>
          <a:p>
            <a:pPr algn="ctr" indent="0" marL="0">
              <a:buNone/>
            </a:pPr>
            <a:r>
              <a:rPr lang="en-US" sz="1200" i="1" dirty="0">
                <a:solidFill>
                  <a:srgbClr val="5B6B82"/>
                </a:solidFill>
                <a:latin typeface="Calibri" pitchFamily="34" charset="0"/>
                <a:ea typeface="Calibri" pitchFamily="34" charset="-122"/>
                <a:cs typeface="Calibri" pitchFamily="34" charset="-120"/>
              </a:rPr>
              <a:t>Cuando termines el tiempo, pasa a la siguiente diapositiva para revisar los resultados.</a:t>
            </a:r>
            <a:endParaRPr lang="en-US" sz="1200" dirty="0"/>
          </a:p>
        </p:txBody>
      </p:sp>
      <p:sp>
        <p:nvSpPr>
          <p:cNvPr id="44" name="Text 32"/>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45" name="Text 33"/>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66928" y="502920"/>
            <a:ext cx="7315200" cy="292608"/>
          </a:xfrm>
          <a:prstGeom prst="rect">
            <a:avLst/>
          </a:prstGeom>
          <a:noFill/>
          <a:ln/>
        </p:spPr>
        <p:txBody>
          <a:bodyPr wrap="square" lIns="0" tIns="0" rIns="0" bIns="0" rtlCol="0" anchor="ctr"/>
          <a:lstStyle/>
          <a:p>
            <a:pPr algn="l" indent="0" marL="0">
              <a:buNone/>
            </a:pPr>
            <a:r>
              <a:rPr lang="en-US" sz="1300" b="1" spc="200" kern="0" dirty="0">
                <a:solidFill>
                  <a:srgbClr val="2E86C7"/>
                </a:solidFill>
                <a:latin typeface="Calibri" pitchFamily="34" charset="0"/>
                <a:ea typeface="Calibri" pitchFamily="34" charset="-122"/>
                <a:cs typeface="Calibri" pitchFamily="34" charset="-120"/>
              </a:rPr>
              <a:t>RESULTADO</a:t>
            </a:r>
            <a:endParaRPr lang="en-US" sz="1300" dirty="0"/>
          </a:p>
        </p:txBody>
      </p:sp>
      <p:sp>
        <p:nvSpPr>
          <p:cNvPr id="4" name="Text 1"/>
          <p:cNvSpPr txBox="1"/>
          <p:nvPr/>
        </p:nvSpPr>
        <p:spPr>
          <a:xfrm>
            <a:off x="566928" y="822960"/>
            <a:ext cx="11057839" cy="822960"/>
          </a:xfrm>
          <a:prstGeom prst="rect">
            <a:avLst/>
          </a:prstGeom>
          <a:noFill/>
          <a:ln/>
        </p:spPr>
        <p:txBody>
          <a:bodyPr wrap="square" lIns="0" tIns="0" rIns="0" bIns="0" rtlCol="0" anchor="ctr"/>
          <a:lstStyle/>
          <a:p>
            <a:pPr algn="l" indent="0" marL="0">
              <a:lnSpc>
                <a:spcPct val="102000"/>
              </a:lnSpc>
              <a:buNone/>
            </a:pPr>
            <a:r>
              <a:rPr lang="en-US" sz="3000" b="1" dirty="0">
                <a:solidFill>
                  <a:srgbClr val="133B6C"/>
                </a:solidFill>
                <a:latin typeface="Cambria" pitchFamily="34" charset="0"/>
                <a:ea typeface="Cambria" pitchFamily="34" charset="-122"/>
                <a:cs typeface="Cambria" pitchFamily="34" charset="-120"/>
              </a:rPr>
              <a:t>LOS RIESGOS DE ESTA ESCENA</a:t>
            </a:r>
            <a:endParaRPr lang="en-US" sz="3000" dirty="0"/>
          </a:p>
        </p:txBody>
      </p:sp>
      <p:sp>
        <p:nvSpPr>
          <p:cNvPr id="5" name="Shape 2"/>
          <p:cNvSpPr/>
          <p:nvPr/>
        </p:nvSpPr>
        <p:spPr>
          <a:xfrm>
            <a:off x="566928"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6" name="Shape 3"/>
          <p:cNvSpPr/>
          <p:nvPr/>
        </p:nvSpPr>
        <p:spPr>
          <a:xfrm>
            <a:off x="704088" y="2400300"/>
            <a:ext cx="566928" cy="566928"/>
          </a:xfrm>
          <a:prstGeom prst="ellipse">
            <a:avLst/>
          </a:prstGeom>
          <a:solidFill>
            <a:srgbClr val="2E86C7"/>
          </a:solidFill>
          <a:ln/>
        </p:spPr>
      </p:sp>
      <p:pic>
        <p:nvPicPr>
          <p:cNvPr id="7" name="Image 0" descr="/tmp/claude-0/-home-user-riesgo/0ff9ff46-1396-5bd8-b3ac-2280dfbbbc55/scratchpad/work/gen/icons/lock_open_navy.png">    </p:cNvPr>
          <p:cNvPicPr>
            <a:picLocks noChangeAspect="1"/>
          </p:cNvPicPr>
          <p:nvPr/>
        </p:nvPicPr>
        <p:blipFill>
          <a:blip r:embed="rId1"/>
          <a:stretch>
            <a:fillRect/>
          </a:stretch>
        </p:blipFill>
        <p:spPr>
          <a:xfrm>
            <a:off x="840151" y="2536363"/>
            <a:ext cx="294803" cy="294803"/>
          </a:xfrm>
          <a:prstGeom prst="rect">
            <a:avLst/>
          </a:prstGeom>
        </p:spPr>
      </p:pic>
      <p:sp>
        <p:nvSpPr>
          <p:cNvPr id="8" name="Text 4"/>
          <p:cNvSpPr txBox="1"/>
          <p:nvPr/>
        </p:nvSpPr>
        <p:spPr>
          <a:xfrm>
            <a:off x="704088"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1</a:t>
            </a:r>
            <a:endParaRPr lang="en-US" sz="900" dirty="0"/>
          </a:p>
        </p:txBody>
      </p:sp>
      <p:sp>
        <p:nvSpPr>
          <p:cNvPr id="9" name="Text 5"/>
          <p:cNvSpPr txBox="1"/>
          <p:nvPr/>
        </p:nvSpPr>
        <p:spPr>
          <a:xfrm>
            <a:off x="1389888"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Equipo desbloqueado y sin supervisión.</a:t>
            </a:r>
            <a:endParaRPr lang="en-US" sz="1150" dirty="0"/>
          </a:p>
        </p:txBody>
      </p:sp>
      <p:sp>
        <p:nvSpPr>
          <p:cNvPr id="10" name="Shape 6"/>
          <p:cNvSpPr/>
          <p:nvPr/>
        </p:nvSpPr>
        <p:spPr>
          <a:xfrm>
            <a:off x="4344314"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1" name="Shape 7"/>
          <p:cNvSpPr/>
          <p:nvPr/>
        </p:nvSpPr>
        <p:spPr>
          <a:xfrm>
            <a:off x="4481474" y="2400300"/>
            <a:ext cx="566928" cy="566928"/>
          </a:xfrm>
          <a:prstGeom prst="ellipse">
            <a:avLst/>
          </a:prstGeom>
          <a:solidFill>
            <a:srgbClr val="2E86C7"/>
          </a:solidFill>
          <a:ln/>
        </p:spPr>
      </p:sp>
      <p:pic>
        <p:nvPicPr>
          <p:cNvPr id="12" name="Image 1" descr="/tmp/claude-0/-home-user-riesgo/0ff9ff46-1396-5bd8-b3ac-2280dfbbbc55/scratchpad/work/gen/icons/usb_navy.png">    </p:cNvPr>
          <p:cNvPicPr>
            <a:picLocks noChangeAspect="1"/>
          </p:cNvPicPr>
          <p:nvPr/>
        </p:nvPicPr>
        <p:blipFill>
          <a:blip r:embed="rId2"/>
          <a:stretch>
            <a:fillRect/>
          </a:stretch>
        </p:blipFill>
        <p:spPr>
          <a:xfrm>
            <a:off x="4617537" y="2536363"/>
            <a:ext cx="294803" cy="294803"/>
          </a:xfrm>
          <a:prstGeom prst="rect">
            <a:avLst/>
          </a:prstGeom>
        </p:spPr>
      </p:pic>
      <p:sp>
        <p:nvSpPr>
          <p:cNvPr id="13" name="Text 8"/>
          <p:cNvSpPr txBox="1"/>
          <p:nvPr/>
        </p:nvSpPr>
        <p:spPr>
          <a:xfrm>
            <a:off x="4481474"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2</a:t>
            </a:r>
            <a:endParaRPr lang="en-US" sz="900" dirty="0"/>
          </a:p>
        </p:txBody>
      </p:sp>
      <p:sp>
        <p:nvSpPr>
          <p:cNvPr id="14" name="Text 9"/>
          <p:cNvSpPr txBox="1"/>
          <p:nvPr/>
        </p:nvSpPr>
        <p:spPr>
          <a:xfrm>
            <a:off x="5167274"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Dispositivo USB desconocido conectado.</a:t>
            </a:r>
            <a:endParaRPr lang="en-US" sz="1150" dirty="0"/>
          </a:p>
        </p:txBody>
      </p:sp>
      <p:sp>
        <p:nvSpPr>
          <p:cNvPr id="15" name="Shape 10"/>
          <p:cNvSpPr/>
          <p:nvPr/>
        </p:nvSpPr>
        <p:spPr>
          <a:xfrm>
            <a:off x="8121701" y="2057400"/>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16" name="Shape 11"/>
          <p:cNvSpPr/>
          <p:nvPr/>
        </p:nvSpPr>
        <p:spPr>
          <a:xfrm>
            <a:off x="8258861" y="2400300"/>
            <a:ext cx="566928" cy="566928"/>
          </a:xfrm>
          <a:prstGeom prst="ellipse">
            <a:avLst/>
          </a:prstGeom>
          <a:solidFill>
            <a:srgbClr val="2E86C7"/>
          </a:solidFill>
          <a:ln/>
        </p:spPr>
      </p:sp>
      <p:pic>
        <p:nvPicPr>
          <p:cNvPr id="17" name="Image 2" descr="/tmp/claude-0/-home-user-riesgo/0ff9ff46-1396-5bd8-b3ac-2280dfbbbc55/scratchpad/work/gen/icons/wifi_off_navy.png">    </p:cNvPr>
          <p:cNvPicPr>
            <a:picLocks noChangeAspect="1"/>
          </p:cNvPicPr>
          <p:nvPr/>
        </p:nvPicPr>
        <p:blipFill>
          <a:blip r:embed="rId3"/>
          <a:stretch>
            <a:fillRect/>
          </a:stretch>
        </p:blipFill>
        <p:spPr>
          <a:xfrm>
            <a:off x="8394924" y="2536363"/>
            <a:ext cx="294803" cy="294803"/>
          </a:xfrm>
          <a:prstGeom prst="rect">
            <a:avLst/>
          </a:prstGeom>
        </p:spPr>
      </p:pic>
      <p:sp>
        <p:nvSpPr>
          <p:cNvPr id="18" name="Text 12"/>
          <p:cNvSpPr txBox="1"/>
          <p:nvPr/>
        </p:nvSpPr>
        <p:spPr>
          <a:xfrm>
            <a:off x="8258861" y="2290572"/>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3</a:t>
            </a:r>
            <a:endParaRPr lang="en-US" sz="900" dirty="0"/>
          </a:p>
        </p:txBody>
      </p:sp>
      <p:sp>
        <p:nvSpPr>
          <p:cNvPr id="19" name="Text 13"/>
          <p:cNvSpPr txBox="1"/>
          <p:nvPr/>
        </p:nvSpPr>
        <p:spPr>
          <a:xfrm>
            <a:off x="8944661" y="2130552"/>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Conexión fuera de la red segura de la Cooperativa.</a:t>
            </a:r>
            <a:endParaRPr lang="en-US" sz="1150" dirty="0"/>
          </a:p>
        </p:txBody>
      </p:sp>
      <p:sp>
        <p:nvSpPr>
          <p:cNvPr id="20" name="Shape 14"/>
          <p:cNvSpPr/>
          <p:nvPr/>
        </p:nvSpPr>
        <p:spPr>
          <a:xfrm>
            <a:off x="566928"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1" name="Shape 15"/>
          <p:cNvSpPr/>
          <p:nvPr/>
        </p:nvSpPr>
        <p:spPr>
          <a:xfrm>
            <a:off x="704088" y="3799332"/>
            <a:ext cx="566928" cy="566928"/>
          </a:xfrm>
          <a:prstGeom prst="ellipse">
            <a:avLst/>
          </a:prstGeom>
          <a:solidFill>
            <a:srgbClr val="2E86C7"/>
          </a:solidFill>
          <a:ln/>
        </p:spPr>
      </p:sp>
      <p:pic>
        <p:nvPicPr>
          <p:cNvPr id="22" name="Image 3" descr="/tmp/claude-0/-home-user-riesgo/0ff9ff46-1396-5bd8-b3ac-2280dfbbbc55/scratchpad/work/gen/icons/trash_navy.png">    </p:cNvPr>
          <p:cNvPicPr>
            <a:picLocks noChangeAspect="1"/>
          </p:cNvPicPr>
          <p:nvPr/>
        </p:nvPicPr>
        <p:blipFill>
          <a:blip r:embed="rId4"/>
          <a:stretch>
            <a:fillRect/>
          </a:stretch>
        </p:blipFill>
        <p:spPr>
          <a:xfrm>
            <a:off x="840151" y="3935395"/>
            <a:ext cx="294803" cy="294803"/>
          </a:xfrm>
          <a:prstGeom prst="rect">
            <a:avLst/>
          </a:prstGeom>
        </p:spPr>
      </p:pic>
      <p:sp>
        <p:nvSpPr>
          <p:cNvPr id="23" name="Text 16"/>
          <p:cNvSpPr txBox="1"/>
          <p:nvPr/>
        </p:nvSpPr>
        <p:spPr>
          <a:xfrm>
            <a:off x="704088"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4</a:t>
            </a:r>
            <a:endParaRPr lang="en-US" sz="900" dirty="0"/>
          </a:p>
        </p:txBody>
      </p:sp>
      <p:sp>
        <p:nvSpPr>
          <p:cNvPr id="24" name="Text 17"/>
          <p:cNvSpPr txBox="1"/>
          <p:nvPr/>
        </p:nvSpPr>
        <p:spPr>
          <a:xfrm>
            <a:off x="1389888"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Documentos con datos de asociados en la basura.</a:t>
            </a:r>
            <a:endParaRPr lang="en-US" sz="1150" dirty="0"/>
          </a:p>
        </p:txBody>
      </p:sp>
      <p:sp>
        <p:nvSpPr>
          <p:cNvPr id="25" name="Shape 18"/>
          <p:cNvSpPr/>
          <p:nvPr/>
        </p:nvSpPr>
        <p:spPr>
          <a:xfrm>
            <a:off x="4344314"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26" name="Shape 19"/>
          <p:cNvSpPr/>
          <p:nvPr/>
        </p:nvSpPr>
        <p:spPr>
          <a:xfrm>
            <a:off x="4481474" y="3799332"/>
            <a:ext cx="566928" cy="566928"/>
          </a:xfrm>
          <a:prstGeom prst="ellipse">
            <a:avLst/>
          </a:prstGeom>
          <a:solidFill>
            <a:srgbClr val="2E86C7"/>
          </a:solidFill>
          <a:ln/>
        </p:spPr>
      </p:sp>
      <p:pic>
        <p:nvPicPr>
          <p:cNvPr id="27" name="Image 4" descr="/tmp/claude-0/-home-user-riesgo/0ff9ff46-1396-5bd8-b3ac-2280dfbbbc55/scratchpad/work/gen/icons/bell_alert_navy.png">    </p:cNvPr>
          <p:cNvPicPr>
            <a:picLocks noChangeAspect="1"/>
          </p:cNvPicPr>
          <p:nvPr/>
        </p:nvPicPr>
        <p:blipFill>
          <a:blip r:embed="rId5"/>
          <a:stretch>
            <a:fillRect/>
          </a:stretch>
        </p:blipFill>
        <p:spPr>
          <a:xfrm>
            <a:off x="4617537" y="3935395"/>
            <a:ext cx="294803" cy="294803"/>
          </a:xfrm>
          <a:prstGeom prst="rect">
            <a:avLst/>
          </a:prstGeom>
        </p:spPr>
      </p:pic>
      <p:sp>
        <p:nvSpPr>
          <p:cNvPr id="28" name="Text 20"/>
          <p:cNvSpPr txBox="1"/>
          <p:nvPr/>
        </p:nvSpPr>
        <p:spPr>
          <a:xfrm>
            <a:off x="4481474"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5</a:t>
            </a:r>
            <a:endParaRPr lang="en-US" sz="900" dirty="0"/>
          </a:p>
        </p:txBody>
      </p:sp>
      <p:sp>
        <p:nvSpPr>
          <p:cNvPr id="29" name="Text 21"/>
          <p:cNvSpPr txBox="1"/>
          <p:nvPr/>
        </p:nvSpPr>
        <p:spPr>
          <a:xfrm>
            <a:off x="5167274"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Una alerta del sistema que nadie atendió.</a:t>
            </a:r>
            <a:endParaRPr lang="en-US" sz="1150" dirty="0"/>
          </a:p>
        </p:txBody>
      </p:sp>
      <p:sp>
        <p:nvSpPr>
          <p:cNvPr id="30" name="Shape 22"/>
          <p:cNvSpPr/>
          <p:nvPr/>
        </p:nvSpPr>
        <p:spPr>
          <a:xfrm>
            <a:off x="8121701" y="3456432"/>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1" name="Shape 23"/>
          <p:cNvSpPr/>
          <p:nvPr/>
        </p:nvSpPr>
        <p:spPr>
          <a:xfrm>
            <a:off x="8258861" y="3799332"/>
            <a:ext cx="566928" cy="566928"/>
          </a:xfrm>
          <a:prstGeom prst="ellipse">
            <a:avLst/>
          </a:prstGeom>
          <a:solidFill>
            <a:srgbClr val="2E86C7"/>
          </a:solidFill>
          <a:ln/>
        </p:spPr>
      </p:sp>
      <p:pic>
        <p:nvPicPr>
          <p:cNvPr id="32" name="Image 5" descr="/tmp/claude-0/-home-user-riesgo/0ff9ff46-1396-5bd8-b3ac-2280dfbbbc55/scratchpad/work/gen/icons/hand_stop_navy.png">    </p:cNvPr>
          <p:cNvPicPr>
            <a:picLocks noChangeAspect="1"/>
          </p:cNvPicPr>
          <p:nvPr/>
        </p:nvPicPr>
        <p:blipFill>
          <a:blip r:embed="rId6"/>
          <a:stretch>
            <a:fillRect/>
          </a:stretch>
        </p:blipFill>
        <p:spPr>
          <a:xfrm>
            <a:off x="8394924" y="3935395"/>
            <a:ext cx="294803" cy="294803"/>
          </a:xfrm>
          <a:prstGeom prst="rect">
            <a:avLst/>
          </a:prstGeom>
        </p:spPr>
      </p:pic>
      <p:sp>
        <p:nvSpPr>
          <p:cNvPr id="33" name="Text 24"/>
          <p:cNvSpPr txBox="1"/>
          <p:nvPr/>
        </p:nvSpPr>
        <p:spPr>
          <a:xfrm>
            <a:off x="8258861" y="3689604"/>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6</a:t>
            </a:r>
            <a:endParaRPr lang="en-US" sz="900" dirty="0"/>
          </a:p>
        </p:txBody>
      </p:sp>
      <p:sp>
        <p:nvSpPr>
          <p:cNvPr id="34" name="Text 25"/>
          <p:cNvSpPr txBox="1"/>
          <p:nvPr/>
        </p:nvSpPr>
        <p:spPr>
          <a:xfrm>
            <a:off x="8944661" y="3529584"/>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Acceso a un área restringida sin autorización.</a:t>
            </a:r>
            <a:endParaRPr lang="en-US" sz="1150" dirty="0"/>
          </a:p>
        </p:txBody>
      </p:sp>
      <p:sp>
        <p:nvSpPr>
          <p:cNvPr id="35" name="Shape 26"/>
          <p:cNvSpPr/>
          <p:nvPr/>
        </p:nvSpPr>
        <p:spPr>
          <a:xfrm>
            <a:off x="566928"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36" name="Shape 27"/>
          <p:cNvSpPr/>
          <p:nvPr/>
        </p:nvSpPr>
        <p:spPr>
          <a:xfrm>
            <a:off x="704088" y="5198364"/>
            <a:ext cx="566928" cy="566928"/>
          </a:xfrm>
          <a:prstGeom prst="ellipse">
            <a:avLst/>
          </a:prstGeom>
          <a:solidFill>
            <a:srgbClr val="2E86C7"/>
          </a:solidFill>
          <a:ln/>
        </p:spPr>
      </p:sp>
      <p:pic>
        <p:nvPicPr>
          <p:cNvPr id="37" name="Image 6" descr="/tmp/claude-0/-home-user-riesgo/0ff9ff46-1396-5bd8-b3ac-2280dfbbbc55/scratchpad/work/gen/icons/cctv_navy.png">    </p:cNvPr>
          <p:cNvPicPr>
            <a:picLocks noChangeAspect="1"/>
          </p:cNvPicPr>
          <p:nvPr/>
        </p:nvPicPr>
        <p:blipFill>
          <a:blip r:embed="rId7"/>
          <a:stretch>
            <a:fillRect/>
          </a:stretch>
        </p:blipFill>
        <p:spPr>
          <a:xfrm>
            <a:off x="840151" y="5334427"/>
            <a:ext cx="294803" cy="294803"/>
          </a:xfrm>
          <a:prstGeom prst="rect">
            <a:avLst/>
          </a:prstGeom>
        </p:spPr>
      </p:pic>
      <p:sp>
        <p:nvSpPr>
          <p:cNvPr id="38" name="Text 28"/>
          <p:cNvSpPr txBox="1"/>
          <p:nvPr/>
        </p:nvSpPr>
        <p:spPr>
          <a:xfrm>
            <a:off x="704088"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7</a:t>
            </a:r>
            <a:endParaRPr lang="en-US" sz="900" dirty="0"/>
          </a:p>
        </p:txBody>
      </p:sp>
      <p:sp>
        <p:nvSpPr>
          <p:cNvPr id="39" name="Text 29"/>
          <p:cNvSpPr txBox="1"/>
          <p:nvPr/>
        </p:nvSpPr>
        <p:spPr>
          <a:xfrm>
            <a:off x="1389888"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Cámara de seguridad bloqueada u obstruida.</a:t>
            </a:r>
            <a:endParaRPr lang="en-US" sz="1150" dirty="0"/>
          </a:p>
        </p:txBody>
      </p:sp>
      <p:sp>
        <p:nvSpPr>
          <p:cNvPr id="40" name="Shape 30"/>
          <p:cNvSpPr/>
          <p:nvPr/>
        </p:nvSpPr>
        <p:spPr>
          <a:xfrm>
            <a:off x="4344314"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1" name="Shape 31"/>
          <p:cNvSpPr/>
          <p:nvPr/>
        </p:nvSpPr>
        <p:spPr>
          <a:xfrm>
            <a:off x="4481474" y="5198364"/>
            <a:ext cx="566928" cy="566928"/>
          </a:xfrm>
          <a:prstGeom prst="ellipse">
            <a:avLst/>
          </a:prstGeom>
          <a:solidFill>
            <a:srgbClr val="2E86C7"/>
          </a:solidFill>
          <a:ln/>
        </p:spPr>
      </p:sp>
      <p:pic>
        <p:nvPicPr>
          <p:cNvPr id="42" name="Image 7" descr="/tmp/claude-0/-home-user-riesgo/0ff9ff46-1396-5bd8-b3ac-2280dfbbbc55/scratchpad/work/gen/icons/key_navy.png">    </p:cNvPr>
          <p:cNvPicPr>
            <a:picLocks noChangeAspect="1"/>
          </p:cNvPicPr>
          <p:nvPr/>
        </p:nvPicPr>
        <p:blipFill>
          <a:blip r:embed="rId8"/>
          <a:stretch>
            <a:fillRect/>
          </a:stretch>
        </p:blipFill>
        <p:spPr>
          <a:xfrm>
            <a:off x="4617537" y="5334427"/>
            <a:ext cx="294803" cy="294803"/>
          </a:xfrm>
          <a:prstGeom prst="rect">
            <a:avLst/>
          </a:prstGeom>
        </p:spPr>
      </p:pic>
      <p:sp>
        <p:nvSpPr>
          <p:cNvPr id="43" name="Text 32"/>
          <p:cNvSpPr txBox="1"/>
          <p:nvPr/>
        </p:nvSpPr>
        <p:spPr>
          <a:xfrm>
            <a:off x="4481474"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8</a:t>
            </a:r>
            <a:endParaRPr lang="en-US" sz="900" dirty="0"/>
          </a:p>
        </p:txBody>
      </p:sp>
      <p:sp>
        <p:nvSpPr>
          <p:cNvPr id="44" name="Text 33"/>
          <p:cNvSpPr txBox="1"/>
          <p:nvPr/>
        </p:nvSpPr>
        <p:spPr>
          <a:xfrm>
            <a:off x="5167274"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Llaves de una oficina dejadas a la vista.</a:t>
            </a:r>
            <a:endParaRPr lang="en-US" sz="1150" dirty="0"/>
          </a:p>
        </p:txBody>
      </p:sp>
      <p:sp>
        <p:nvSpPr>
          <p:cNvPr id="45" name="Shape 34"/>
          <p:cNvSpPr/>
          <p:nvPr/>
        </p:nvSpPr>
        <p:spPr>
          <a:xfrm>
            <a:off x="8121701" y="4855464"/>
            <a:ext cx="3503066" cy="1252728"/>
          </a:xfrm>
          <a:prstGeom prst="roundRect">
            <a:avLst>
              <a:gd name="adj" fmla="val 6569"/>
            </a:avLst>
          </a:prstGeom>
          <a:solidFill>
            <a:srgbClr val="FFFFFF"/>
          </a:solidFill>
          <a:ln/>
          <a:effectLst>
            <a:outerShdw sx="100000" sy="100000" kx="0" ky="0" algn="bl" rotWithShape="0" blurRad="76200" dist="25400" dir="5400000">
              <a:srgbClr val="17223A">
                <a:alpha val="12000"/>
              </a:srgbClr>
            </a:outerShdw>
          </a:effectLst>
        </p:spPr>
      </p:sp>
      <p:sp>
        <p:nvSpPr>
          <p:cNvPr id="46" name="Shape 35"/>
          <p:cNvSpPr/>
          <p:nvPr/>
        </p:nvSpPr>
        <p:spPr>
          <a:xfrm>
            <a:off x="8258861" y="5198364"/>
            <a:ext cx="566928" cy="566928"/>
          </a:xfrm>
          <a:prstGeom prst="ellipse">
            <a:avLst/>
          </a:prstGeom>
          <a:solidFill>
            <a:srgbClr val="2E86C7"/>
          </a:solidFill>
          <a:ln/>
        </p:spPr>
      </p:sp>
      <p:pic>
        <p:nvPicPr>
          <p:cNvPr id="47" name="Image 8" descr="/tmp/claude-0/-home-user-riesgo/0ff9ff46-1396-5bd8-b3ac-2280dfbbbc55/scratchpad/work/gen/icons/social_navy.png">    </p:cNvPr>
          <p:cNvPicPr>
            <a:picLocks noChangeAspect="1"/>
          </p:cNvPicPr>
          <p:nvPr/>
        </p:nvPicPr>
        <p:blipFill>
          <a:blip r:embed="rId9"/>
          <a:stretch>
            <a:fillRect/>
          </a:stretch>
        </p:blipFill>
        <p:spPr>
          <a:xfrm>
            <a:off x="8394924" y="5334427"/>
            <a:ext cx="294803" cy="294803"/>
          </a:xfrm>
          <a:prstGeom prst="rect">
            <a:avLst/>
          </a:prstGeom>
        </p:spPr>
      </p:pic>
      <p:sp>
        <p:nvSpPr>
          <p:cNvPr id="48" name="Text 36"/>
          <p:cNvSpPr txBox="1"/>
          <p:nvPr/>
        </p:nvSpPr>
        <p:spPr>
          <a:xfrm>
            <a:off x="8258861" y="5088636"/>
            <a:ext cx="274320" cy="274320"/>
          </a:xfrm>
          <a:prstGeom prst="rect">
            <a:avLst/>
          </a:prstGeom>
          <a:noFill/>
          <a:ln/>
        </p:spPr>
        <p:txBody>
          <a:bodyPr wrap="square" lIns="0" tIns="0" rIns="0" bIns="0" rtlCol="0" anchor="ctr"/>
          <a:lstStyle/>
          <a:p>
            <a:pPr indent="0" marL="0">
              <a:buNone/>
            </a:pPr>
            <a:r>
              <a:rPr lang="en-US" sz="900" b="1" dirty="0">
                <a:solidFill>
                  <a:srgbClr val="0A1F3B"/>
                </a:solidFill>
                <a:latin typeface="Calibri" pitchFamily="34" charset="0"/>
                <a:ea typeface="Calibri" pitchFamily="34" charset="-122"/>
                <a:cs typeface="Calibri" pitchFamily="34" charset="-120"/>
              </a:rPr>
              <a:t>9</a:t>
            </a:r>
            <a:endParaRPr lang="en-US" sz="900" dirty="0"/>
          </a:p>
        </p:txBody>
      </p:sp>
      <p:sp>
        <p:nvSpPr>
          <p:cNvPr id="49" name="Text 37"/>
          <p:cNvSpPr txBox="1"/>
          <p:nvPr/>
        </p:nvSpPr>
        <p:spPr>
          <a:xfrm>
            <a:off x="8944661" y="4928616"/>
            <a:ext cx="2542946" cy="1106424"/>
          </a:xfrm>
          <a:prstGeom prst="rect">
            <a:avLst/>
          </a:prstGeom>
          <a:noFill/>
          <a:ln/>
        </p:spPr>
        <p:txBody>
          <a:bodyPr wrap="square" lIns="0" tIns="0" rIns="0" bIns="0" rtlCol="0" anchor="ctr"/>
          <a:lstStyle/>
          <a:p>
            <a:pPr indent="0" marL="0">
              <a:lnSpc>
                <a:spcPct val="95000"/>
              </a:lnSpc>
              <a:buNone/>
            </a:pPr>
            <a:r>
              <a:rPr lang="en-US" sz="1150" b="1" dirty="0">
                <a:solidFill>
                  <a:srgbClr val="133B6C"/>
                </a:solidFill>
                <a:latin typeface="Calibri" pitchFamily="34" charset="0"/>
                <a:ea typeface="Calibri" pitchFamily="34" charset="-122"/>
                <a:cs typeface="Calibri" pitchFamily="34" charset="-120"/>
              </a:rPr>
              <a:t>Un comentario institucional inapropiado en redes sociales.</a:t>
            </a:r>
            <a:endParaRPr lang="en-US" sz="1150" dirty="0"/>
          </a:p>
        </p:txBody>
      </p:sp>
      <p:sp>
        <p:nvSpPr>
          <p:cNvPr id="50" name="Text 38"/>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51" name="Text 39"/>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3291840" y="-3108960"/>
            <a:ext cx="7498080" cy="7498080"/>
          </a:xfrm>
          <a:prstGeom prst="ellipse">
            <a:avLst/>
          </a:prstGeom>
          <a:solidFill>
            <a:srgbClr val="F2F5F9"/>
          </a:solidFill>
          <a:ln/>
        </p:spPr>
      </p:sp>
      <p:sp>
        <p:nvSpPr>
          <p:cNvPr id="4" name="Shape 1"/>
          <p:cNvSpPr/>
          <p:nvPr/>
        </p:nvSpPr>
        <p:spPr>
          <a:xfrm>
            <a:off x="9509760" y="3840480"/>
            <a:ext cx="5852160" cy="5852160"/>
          </a:xfrm>
          <a:prstGeom prst="ellipse">
            <a:avLst/>
          </a:prstGeom>
          <a:solidFill>
            <a:srgbClr val="F2F5F9"/>
          </a:solidFill>
          <a:ln/>
        </p:spPr>
      </p:sp>
      <p:sp>
        <p:nvSpPr>
          <p:cNvPr id="5" name="Text 2"/>
          <p:cNvSpPr txBox="1"/>
          <p:nvPr/>
        </p:nvSpPr>
        <p:spPr>
          <a:xfrm>
            <a:off x="640080" y="502920"/>
            <a:ext cx="10972800" cy="365760"/>
          </a:xfrm>
          <a:prstGeom prst="rect">
            <a:avLst/>
          </a:prstGeom>
          <a:noFill/>
          <a:ln/>
        </p:spPr>
        <p:txBody>
          <a:bodyPr wrap="square" lIns="0" tIns="0" rIns="0" bIns="0" rtlCol="0" anchor="ctr"/>
          <a:lstStyle/>
          <a:p>
            <a:pPr algn="ctr" indent="0" marL="0">
              <a:buNone/>
            </a:pPr>
            <a:r>
              <a:rPr lang="en-US" sz="1700" b="1" dirty="0">
                <a:solidFill>
                  <a:srgbClr val="5B6B82"/>
                </a:solidFill>
                <a:latin typeface="Cambria" pitchFamily="34" charset="0"/>
                <a:ea typeface="Cambria" pitchFamily="34" charset="-122"/>
                <a:cs typeface="Cambria" pitchFamily="34" charset="-120"/>
              </a:rPr>
              <a:t>TODOS SOMOS</a:t>
            </a:r>
            <a:endParaRPr lang="en-US" sz="1700" dirty="0"/>
          </a:p>
        </p:txBody>
      </p:sp>
      <p:sp>
        <p:nvSpPr>
          <p:cNvPr id="6" name="Text 3"/>
          <p:cNvSpPr txBox="1"/>
          <p:nvPr/>
        </p:nvSpPr>
        <p:spPr>
          <a:xfrm>
            <a:off x="640080" y="841248"/>
            <a:ext cx="10972800" cy="594360"/>
          </a:xfrm>
          <a:prstGeom prst="rect">
            <a:avLst/>
          </a:prstGeom>
          <a:noFill/>
          <a:ln/>
        </p:spPr>
        <p:txBody>
          <a:bodyPr wrap="square" lIns="0" tIns="0" rIns="0" bIns="0" rtlCol="0" anchor="ctr"/>
          <a:lstStyle/>
          <a:p>
            <a:pPr algn="ctr" indent="0" marL="0">
              <a:buNone/>
            </a:pPr>
            <a:r>
              <a:rPr lang="en-US" sz="3000" b="1" dirty="0">
                <a:solidFill>
                  <a:srgbClr val="133B6C"/>
                </a:solidFill>
                <a:latin typeface="Cambria" pitchFamily="34" charset="0"/>
                <a:ea typeface="Cambria" pitchFamily="34" charset="-122"/>
                <a:cs typeface="Cambria" pitchFamily="34" charset="-120"/>
              </a:rPr>
              <a:t>GESTORES DE RIESGOS</a:t>
            </a:r>
            <a:endParaRPr lang="en-US" sz="3000" dirty="0"/>
          </a:p>
        </p:txBody>
      </p:sp>
      <p:sp>
        <p:nvSpPr>
          <p:cNvPr id="7" name="Shape 4"/>
          <p:cNvSpPr/>
          <p:nvPr/>
        </p:nvSpPr>
        <p:spPr>
          <a:xfrm>
            <a:off x="3444088"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8" name="Image 0" descr="/tmp/claude-0/-home-user-riesgo/0ff9ff46-1396-5bd8-b3ac-2280dfbbbc55/scratchpad/work/gen/icons/eye_white.png">    </p:cNvPr>
          <p:cNvPicPr>
            <a:picLocks noChangeAspect="1"/>
          </p:cNvPicPr>
          <p:nvPr/>
        </p:nvPicPr>
        <p:blipFill>
          <a:blip r:embed="rId1"/>
          <a:stretch>
            <a:fillRect/>
          </a:stretch>
        </p:blipFill>
        <p:spPr>
          <a:xfrm>
            <a:off x="3654400" y="1810512"/>
            <a:ext cx="420624" cy="420624"/>
          </a:xfrm>
          <a:prstGeom prst="rect">
            <a:avLst/>
          </a:prstGeom>
        </p:spPr>
      </p:pic>
      <p:sp>
        <p:nvSpPr>
          <p:cNvPr id="9" name="Text 5"/>
          <p:cNvSpPr txBox="1"/>
          <p:nvPr/>
        </p:nvSpPr>
        <p:spPr>
          <a:xfrm>
            <a:off x="3169768"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VEO</a:t>
            </a:r>
            <a:endParaRPr lang="en-US" sz="1150" dirty="0"/>
          </a:p>
        </p:txBody>
      </p:sp>
      <p:pic>
        <p:nvPicPr>
          <p:cNvPr id="10" name="Image 1" descr="/tmp/claude-0/-home-user-riesgo/0ff9ff46-1396-5bd8-b3ac-2280dfbbbc55/scratchpad/work/gen/icons/arrow_right_gray.png">    </p:cNvPr>
          <p:cNvPicPr>
            <a:picLocks noChangeAspect="1"/>
          </p:cNvPicPr>
          <p:nvPr/>
        </p:nvPicPr>
        <p:blipFill>
          <a:blip r:embed="rId2"/>
          <a:stretch>
            <a:fillRect/>
          </a:stretch>
        </p:blipFill>
        <p:spPr>
          <a:xfrm>
            <a:off x="4312768" y="1911096"/>
            <a:ext cx="219456" cy="219456"/>
          </a:xfrm>
          <a:prstGeom prst="rect">
            <a:avLst/>
          </a:prstGeom>
        </p:spPr>
      </p:pic>
      <p:sp>
        <p:nvSpPr>
          <p:cNvPr id="11" name="Shape 6"/>
          <p:cNvSpPr/>
          <p:nvPr/>
        </p:nvSpPr>
        <p:spPr>
          <a:xfrm>
            <a:off x="4559656"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2" name="Image 2" descr="/tmp/claude-0/-home-user-riesgo/0ff9ff46-1396-5bd8-b3ac-2280dfbbbc55/scratchpad/work/gen/icons/magnifier_white.png">    </p:cNvPr>
          <p:cNvPicPr>
            <a:picLocks noChangeAspect="1"/>
          </p:cNvPicPr>
          <p:nvPr/>
        </p:nvPicPr>
        <p:blipFill>
          <a:blip r:embed="rId3"/>
          <a:stretch>
            <a:fillRect/>
          </a:stretch>
        </p:blipFill>
        <p:spPr>
          <a:xfrm>
            <a:off x="4769968" y="1810512"/>
            <a:ext cx="420624" cy="420624"/>
          </a:xfrm>
          <a:prstGeom prst="rect">
            <a:avLst/>
          </a:prstGeom>
        </p:spPr>
      </p:pic>
      <p:sp>
        <p:nvSpPr>
          <p:cNvPr id="13" name="Text 7"/>
          <p:cNvSpPr txBox="1"/>
          <p:nvPr/>
        </p:nvSpPr>
        <p:spPr>
          <a:xfrm>
            <a:off x="4285336"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IDENTIFICO</a:t>
            </a:r>
            <a:endParaRPr lang="en-US" sz="1150" dirty="0"/>
          </a:p>
        </p:txBody>
      </p:sp>
      <p:pic>
        <p:nvPicPr>
          <p:cNvPr id="14" name="Image 3" descr="/tmp/claude-0/-home-user-riesgo/0ff9ff46-1396-5bd8-b3ac-2280dfbbbc55/scratchpad/work/gen/icons/arrow_right_gray.png">    </p:cNvPr>
          <p:cNvPicPr>
            <a:picLocks noChangeAspect="1"/>
          </p:cNvPicPr>
          <p:nvPr/>
        </p:nvPicPr>
        <p:blipFill>
          <a:blip r:embed="rId4"/>
          <a:stretch>
            <a:fillRect/>
          </a:stretch>
        </p:blipFill>
        <p:spPr>
          <a:xfrm>
            <a:off x="5428336" y="1911096"/>
            <a:ext cx="219456" cy="219456"/>
          </a:xfrm>
          <a:prstGeom prst="rect">
            <a:avLst/>
          </a:prstGeom>
        </p:spPr>
      </p:pic>
      <p:sp>
        <p:nvSpPr>
          <p:cNvPr id="15" name="Shape 8"/>
          <p:cNvSpPr/>
          <p:nvPr/>
        </p:nvSpPr>
        <p:spPr>
          <a:xfrm>
            <a:off x="5675224"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16" name="Image 4" descr="/tmp/claude-0/-home-user-riesgo/0ff9ff46-1396-5bd8-b3ac-2280dfbbbc55/scratchpad/work/gen/icons/shield_check_white.png">    </p:cNvPr>
          <p:cNvPicPr>
            <a:picLocks noChangeAspect="1"/>
          </p:cNvPicPr>
          <p:nvPr/>
        </p:nvPicPr>
        <p:blipFill>
          <a:blip r:embed="rId5"/>
          <a:stretch>
            <a:fillRect/>
          </a:stretch>
        </p:blipFill>
        <p:spPr>
          <a:xfrm>
            <a:off x="5885536" y="1810512"/>
            <a:ext cx="420624" cy="420624"/>
          </a:xfrm>
          <a:prstGeom prst="rect">
            <a:avLst/>
          </a:prstGeom>
        </p:spPr>
      </p:pic>
      <p:sp>
        <p:nvSpPr>
          <p:cNvPr id="17" name="Text 9"/>
          <p:cNvSpPr txBox="1"/>
          <p:nvPr/>
        </p:nvSpPr>
        <p:spPr>
          <a:xfrm>
            <a:off x="5400904"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PREVENGO</a:t>
            </a:r>
            <a:endParaRPr lang="en-US" sz="1150" dirty="0"/>
          </a:p>
        </p:txBody>
      </p:sp>
      <p:pic>
        <p:nvPicPr>
          <p:cNvPr id="18" name="Image 5" descr="/tmp/claude-0/-home-user-riesgo/0ff9ff46-1396-5bd8-b3ac-2280dfbbbc55/scratchpad/work/gen/icons/arrow_right_gray.png">    </p:cNvPr>
          <p:cNvPicPr>
            <a:picLocks noChangeAspect="1"/>
          </p:cNvPicPr>
          <p:nvPr/>
        </p:nvPicPr>
        <p:blipFill>
          <a:blip r:embed="rId6"/>
          <a:stretch>
            <a:fillRect/>
          </a:stretch>
        </p:blipFill>
        <p:spPr>
          <a:xfrm>
            <a:off x="6543904" y="1911096"/>
            <a:ext cx="219456" cy="219456"/>
          </a:xfrm>
          <a:prstGeom prst="rect">
            <a:avLst/>
          </a:prstGeom>
        </p:spPr>
      </p:pic>
      <p:sp>
        <p:nvSpPr>
          <p:cNvPr id="19" name="Shape 10"/>
          <p:cNvSpPr/>
          <p:nvPr/>
        </p:nvSpPr>
        <p:spPr>
          <a:xfrm>
            <a:off x="6790792"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0" name="Image 6" descr="/tmp/claude-0/-home-user-riesgo/0ff9ff46-1396-5bd8-b3ac-2280dfbbbc55/scratchpad/work/gen/icons/lightbulb_white.png">    </p:cNvPr>
          <p:cNvPicPr>
            <a:picLocks noChangeAspect="1"/>
          </p:cNvPicPr>
          <p:nvPr/>
        </p:nvPicPr>
        <p:blipFill>
          <a:blip r:embed="rId7"/>
          <a:stretch>
            <a:fillRect/>
          </a:stretch>
        </p:blipFill>
        <p:spPr>
          <a:xfrm>
            <a:off x="7001104" y="1810512"/>
            <a:ext cx="420624" cy="420624"/>
          </a:xfrm>
          <a:prstGeom prst="rect">
            <a:avLst/>
          </a:prstGeom>
        </p:spPr>
      </p:pic>
      <p:sp>
        <p:nvSpPr>
          <p:cNvPr id="21" name="Text 11"/>
          <p:cNvSpPr txBox="1"/>
          <p:nvPr/>
        </p:nvSpPr>
        <p:spPr>
          <a:xfrm>
            <a:off x="6516472"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ACTÚO</a:t>
            </a:r>
            <a:endParaRPr lang="en-US" sz="1150" dirty="0"/>
          </a:p>
        </p:txBody>
      </p:sp>
      <p:pic>
        <p:nvPicPr>
          <p:cNvPr id="22" name="Image 7" descr="/tmp/claude-0/-home-user-riesgo/0ff9ff46-1396-5bd8-b3ac-2280dfbbbc55/scratchpad/work/gen/icons/arrow_right_gray.png">    </p:cNvPr>
          <p:cNvPicPr>
            <a:picLocks noChangeAspect="1"/>
          </p:cNvPicPr>
          <p:nvPr/>
        </p:nvPicPr>
        <p:blipFill>
          <a:blip r:embed="rId8"/>
          <a:stretch>
            <a:fillRect/>
          </a:stretch>
        </p:blipFill>
        <p:spPr>
          <a:xfrm>
            <a:off x="7659472" y="1911096"/>
            <a:ext cx="219456" cy="219456"/>
          </a:xfrm>
          <a:prstGeom prst="rect">
            <a:avLst/>
          </a:prstGeom>
        </p:spPr>
      </p:pic>
      <p:sp>
        <p:nvSpPr>
          <p:cNvPr id="23" name="Shape 12"/>
          <p:cNvSpPr/>
          <p:nvPr/>
        </p:nvSpPr>
        <p:spPr>
          <a:xfrm>
            <a:off x="7906360" y="1600200"/>
            <a:ext cx="841248" cy="841248"/>
          </a:xfrm>
          <a:prstGeom prst="ellipse">
            <a:avLst/>
          </a:prstGeom>
          <a:solidFill>
            <a:srgbClr val="2E86C7"/>
          </a:solidFill>
          <a:ln/>
          <a:effectLst>
            <a:outerShdw sx="100000" sy="100000" kx="0" ky="0" algn="bl" rotWithShape="0" blurRad="76200" dist="25400" dir="5400000">
              <a:srgbClr val="17223A">
                <a:alpha val="12000"/>
              </a:srgbClr>
            </a:outerShdw>
          </a:effectLst>
        </p:spPr>
      </p:sp>
      <p:pic>
        <p:nvPicPr>
          <p:cNvPr id="24" name="Image 8" descr="/tmp/claude-0/-home-user-riesgo/0ff9ff46-1396-5bd8-b3ac-2280dfbbbc55/scratchpad/work/gen/icons/megaphone_white.png">    </p:cNvPr>
          <p:cNvPicPr>
            <a:picLocks noChangeAspect="1"/>
          </p:cNvPicPr>
          <p:nvPr/>
        </p:nvPicPr>
        <p:blipFill>
          <a:blip r:embed="rId9"/>
          <a:stretch>
            <a:fillRect/>
          </a:stretch>
        </p:blipFill>
        <p:spPr>
          <a:xfrm>
            <a:off x="8116672" y="1810512"/>
            <a:ext cx="420624" cy="420624"/>
          </a:xfrm>
          <a:prstGeom prst="rect">
            <a:avLst/>
          </a:prstGeom>
        </p:spPr>
      </p:pic>
      <p:sp>
        <p:nvSpPr>
          <p:cNvPr id="25" name="Text 13"/>
          <p:cNvSpPr txBox="1"/>
          <p:nvPr/>
        </p:nvSpPr>
        <p:spPr>
          <a:xfrm>
            <a:off x="7632040" y="2560320"/>
            <a:ext cx="1389888" cy="310896"/>
          </a:xfrm>
          <a:prstGeom prst="rect">
            <a:avLst/>
          </a:prstGeom>
          <a:noFill/>
          <a:ln/>
        </p:spPr>
        <p:txBody>
          <a:bodyPr wrap="square" lIns="0" tIns="0" rIns="0" bIns="0" rtlCol="0" anchor="ctr"/>
          <a:lstStyle/>
          <a:p>
            <a:pPr algn="ctr" indent="0" marL="0">
              <a:buNone/>
            </a:pPr>
            <a:r>
              <a:rPr lang="en-US" sz="1150" b="1" spc="50" kern="0" dirty="0">
                <a:solidFill>
                  <a:srgbClr val="133B6C"/>
                </a:solidFill>
                <a:latin typeface="Calibri" pitchFamily="34" charset="0"/>
                <a:ea typeface="Calibri" pitchFamily="34" charset="-122"/>
                <a:cs typeface="Calibri" pitchFamily="34" charset="-120"/>
              </a:rPr>
              <a:t>REPORTO</a:t>
            </a:r>
            <a:endParaRPr lang="en-US" sz="1150" dirty="0"/>
          </a:p>
        </p:txBody>
      </p:sp>
      <p:sp>
        <p:nvSpPr>
          <p:cNvPr id="26" name="Text 14"/>
          <p:cNvSpPr txBox="1"/>
          <p:nvPr/>
        </p:nvSpPr>
        <p:spPr>
          <a:xfrm>
            <a:off x="640080" y="3054096"/>
            <a:ext cx="10972800" cy="329184"/>
          </a:xfrm>
          <a:prstGeom prst="rect">
            <a:avLst/>
          </a:prstGeom>
          <a:noFill/>
          <a:ln/>
        </p:spPr>
        <p:txBody>
          <a:bodyPr wrap="square" lIns="0" tIns="0" rIns="0" bIns="0" rtlCol="0" anchor="ctr"/>
          <a:lstStyle/>
          <a:p>
            <a:pPr algn="ctr" indent="0" marL="0">
              <a:buNone/>
            </a:pPr>
            <a:r>
              <a:rPr lang="en-US" sz="1600" b="1" spc="100" kern="0" dirty="0">
                <a:solidFill>
                  <a:srgbClr val="2E86C7"/>
                </a:solidFill>
                <a:latin typeface="Calibri" pitchFamily="34" charset="0"/>
                <a:ea typeface="Calibri" pitchFamily="34" charset="-122"/>
                <a:cs typeface="Calibri" pitchFamily="34" charset="-120"/>
              </a:rPr>
              <a:t>¿VES UN RIESGO?  ¡REPÓRTALO!</a:t>
            </a:r>
            <a:endParaRPr lang="en-US" sz="1600" dirty="0"/>
          </a:p>
        </p:txBody>
      </p:sp>
      <p:sp>
        <p:nvSpPr>
          <p:cNvPr id="27" name="Text 15"/>
          <p:cNvSpPr txBox="1"/>
          <p:nvPr/>
        </p:nvSpPr>
        <p:spPr>
          <a:xfrm>
            <a:off x="5638648" y="3456432"/>
            <a:ext cx="914400" cy="502920"/>
          </a:xfrm>
          <a:prstGeom prst="rect">
            <a:avLst/>
          </a:prstGeom>
          <a:noFill/>
          <a:ln/>
        </p:spPr>
        <p:txBody>
          <a:bodyPr wrap="square" lIns="0" tIns="0" rIns="0" bIns="0" rtlCol="0" anchor="ctr"/>
          <a:lstStyle/>
          <a:p>
            <a:pPr algn="ctr" indent="0" marL="0">
              <a:buNone/>
            </a:pPr>
            <a:r>
              <a:rPr lang="en-US" sz="4600" b="1" dirty="0">
                <a:solidFill>
                  <a:srgbClr val="E3E8EF"/>
                </a:solidFill>
                <a:latin typeface="Cambria" pitchFamily="34" charset="0"/>
                <a:ea typeface="Cambria" pitchFamily="34" charset="-122"/>
                <a:cs typeface="Cambria" pitchFamily="34" charset="-120"/>
              </a:rPr>
              <a:t>“</a:t>
            </a:r>
            <a:endParaRPr lang="en-US" sz="4600" dirty="0"/>
          </a:p>
        </p:txBody>
      </p:sp>
      <p:sp>
        <p:nvSpPr>
          <p:cNvPr id="28" name="Text 16"/>
          <p:cNvSpPr txBox="1"/>
          <p:nvPr/>
        </p:nvSpPr>
        <p:spPr>
          <a:xfrm>
            <a:off x="914400" y="3950208"/>
            <a:ext cx="10360152" cy="914400"/>
          </a:xfrm>
          <a:prstGeom prst="rect">
            <a:avLst/>
          </a:prstGeom>
          <a:noFill/>
          <a:ln/>
        </p:spPr>
        <p:txBody>
          <a:bodyPr wrap="square" lIns="0" tIns="0" rIns="0" bIns="0" rtlCol="0" anchor="ctr"/>
          <a:lstStyle/>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Un riesgo que reportamos a tiempo</a:t>
            </a:r>
            <a:endParaRPr lang="en-US" sz="2200" dirty="0"/>
          </a:p>
          <a:p>
            <a:pPr algn="ctr" indent="0" marL="0">
              <a:lnSpc>
                <a:spcPct val="118000"/>
              </a:lnSpc>
              <a:buNone/>
            </a:pPr>
            <a:r>
              <a:rPr lang="en-US" sz="2200" b="1" dirty="0">
                <a:solidFill>
                  <a:srgbClr val="133B6C"/>
                </a:solidFill>
                <a:latin typeface="Cambria" pitchFamily="34" charset="0"/>
                <a:ea typeface="Cambria" pitchFamily="34" charset="-122"/>
                <a:cs typeface="Cambria" pitchFamily="34" charset="-120"/>
              </a:rPr>
              <a:t>puede evitar un problema mañana.</a:t>
            </a:r>
            <a:endParaRPr lang="en-US" sz="2200" dirty="0"/>
          </a:p>
        </p:txBody>
      </p:sp>
      <p:sp>
        <p:nvSpPr>
          <p:cNvPr id="29" name="Text 17"/>
          <p:cNvSpPr txBox="1"/>
          <p:nvPr/>
        </p:nvSpPr>
        <p:spPr>
          <a:xfrm>
            <a:off x="1463040" y="4956048"/>
            <a:ext cx="9262872" cy="347472"/>
          </a:xfrm>
          <a:prstGeom prst="rect">
            <a:avLst/>
          </a:prstGeom>
          <a:noFill/>
          <a:ln/>
        </p:spPr>
        <p:txBody>
          <a:bodyPr wrap="square" lIns="0" tIns="0" rIns="0" bIns="0" rtlCol="0" anchor="ctr"/>
          <a:lstStyle/>
          <a:p>
            <a:pPr algn="ctr" indent="0" marL="0">
              <a:buNone/>
            </a:pPr>
            <a:r>
              <a:rPr lang="en-US" sz="1300" i="1" dirty="0">
                <a:solidFill>
                  <a:srgbClr val="5B6B82"/>
                </a:solidFill>
                <a:latin typeface="Calibri" pitchFamily="34" charset="0"/>
                <a:ea typeface="Calibri" pitchFamily="34" charset="-122"/>
                <a:cs typeface="Calibri" pitchFamily="34" charset="-120"/>
              </a:rPr>
              <a:t>Gracias por hacer de la gestión de riesgos parte de tu trabajo diario.</a:t>
            </a:r>
            <a:endParaRPr lang="en-US" sz="1300" dirty="0"/>
          </a:p>
        </p:txBody>
      </p:sp>
      <p:pic>
        <p:nvPicPr>
          <p:cNvPr id="30" name="Image 9" descr="/tmp/claude-0/-home-user-riesgo/0ff9ff46-1396-5bd8-b3ac-2280dfbbbc55/scratchpad/work/gen/logo_navy.png">    </p:cNvPr>
          <p:cNvPicPr>
            <a:picLocks noChangeAspect="1"/>
          </p:cNvPicPr>
          <p:nvPr/>
        </p:nvPicPr>
        <p:blipFill>
          <a:blip r:embed="rId10"/>
          <a:stretch>
            <a:fillRect/>
          </a:stretch>
        </p:blipFill>
        <p:spPr>
          <a:xfrm>
            <a:off x="5318608" y="5440680"/>
            <a:ext cx="1554480" cy="436809"/>
          </a:xfrm>
          <a:prstGeom prst="rect">
            <a:avLst/>
          </a:prstGeom>
        </p:spPr>
      </p:pic>
      <p:sp>
        <p:nvSpPr>
          <p:cNvPr id="31" name="Text 18"/>
          <p:cNvSpPr txBox="1"/>
          <p:nvPr/>
        </p:nvSpPr>
        <p:spPr>
          <a:xfrm>
            <a:off x="914400" y="6035040"/>
            <a:ext cx="10360152" cy="274320"/>
          </a:xfrm>
          <a:prstGeom prst="rect">
            <a:avLst/>
          </a:prstGeom>
          <a:noFill/>
          <a:ln/>
        </p:spPr>
        <p:txBody>
          <a:bodyPr wrap="square" lIns="0" tIns="0" rIns="0" bIns="0" rtlCol="0" anchor="ctr"/>
          <a:lstStyle/>
          <a:p>
            <a:pPr algn="ctr" indent="0" marL="0">
              <a:buNone/>
            </a:pPr>
            <a:r>
              <a:rPr lang="en-US" sz="1050" dirty="0">
                <a:solidFill>
                  <a:srgbClr val="5B6B82"/>
                </a:solidFill>
                <a:latin typeface="Calibri" pitchFamily="34" charset="0"/>
                <a:ea typeface="Calibri" pitchFamily="34" charset="-122"/>
                <a:cs typeface="Calibri" pitchFamily="34" charset="-120"/>
              </a:rPr>
              <a:t>Departamento de Administración de Riesgos  ·  Capacitación anual 2025</a:t>
            </a:r>
            <a:endParaRPr lang="en-US" sz="1050" dirty="0"/>
          </a:p>
        </p:txBody>
      </p:sp>
      <p:sp>
        <p:nvSpPr>
          <p:cNvPr id="32" name="Text 19"/>
          <p:cNvSpPr txBox="1"/>
          <p:nvPr/>
        </p:nvSpPr>
        <p:spPr>
          <a:xfrm>
            <a:off x="566928" y="6473952"/>
            <a:ext cx="7315200" cy="274320"/>
          </a:xfrm>
          <a:prstGeom prst="rect">
            <a:avLst/>
          </a:prstGeom>
          <a:noFill/>
          <a:ln/>
        </p:spPr>
        <p:txBody>
          <a:bodyPr wrap="square" lIns="0" tIns="0" rIns="0" bIns="0" rtlCol="0" anchor="ctr"/>
          <a:lstStyle/>
          <a:p>
            <a:pPr algn="l" indent="0" marL="0">
              <a:buNone/>
            </a:pPr>
            <a:r>
              <a:rPr lang="en-US" sz="900" dirty="0">
                <a:solidFill>
                  <a:srgbClr val="5B6B82"/>
                </a:solidFill>
                <a:latin typeface="Calibri" pitchFamily="34" charset="0"/>
                <a:ea typeface="Calibri" pitchFamily="34" charset="-122"/>
                <a:cs typeface="Calibri" pitchFamily="34" charset="-120"/>
              </a:rPr>
              <a:t>GESTIÓN INTEGRAL DE RIESGOS  ·  COMEDICA DE R.L.</a:t>
            </a:r>
            <a:endParaRPr lang="en-US" sz="900" dirty="0"/>
          </a:p>
        </p:txBody>
      </p:sp>
      <p:sp>
        <p:nvSpPr>
          <p:cNvPr id="33" name="Text 20"/>
          <p:cNvSpPr txBox="1"/>
          <p:nvPr/>
        </p:nvSpPr>
        <p:spPr>
          <a:xfrm>
            <a:off x="11076127" y="6473952"/>
            <a:ext cx="548640" cy="274320"/>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COMEDICA DE 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Gestión Integral de Riesgos — Capacitación 2025</dc:title>
  <dc:subject>Todos somos gestores de riesgos</dc:subject>
  <dc:creator>Departamento de Administración de Riesgos</dc:creator>
  <cp:lastModifiedBy>Departamento de Administración de Riesgos</cp:lastModifiedBy>
  <cp:revision>1</cp:revision>
  <dcterms:created xsi:type="dcterms:W3CDTF">2026-09-10T16:30:21Z</dcterms:created>
  <dcterms:modified xsi:type="dcterms:W3CDTF">2026-09-10T16:30:21Z</dcterms:modified>
</cp:coreProperties>
</file>