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y una gran actividad final,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sin importar su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 verbo por verbo y pide un ejemplo concreto de cada uno aplicado al puesto de alguien en la sala (no tiene que ser de Administración de Riesgos). El objetivo es que el grupo vea que estas seis acciones ya las puede aplicar hoy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el mensaje respire unos segundos en silencio antes de continuar. Es el cierre emocional del Tema 1 — no lo expliques de más, solo pausa y avanza.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Aclara que reportar no es "delatar", es proteger a la Cooperativa y a los asociados.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cada paso con un ejemplo breve y cotidiano. Enfatiza que los cuatro pasos ocurren en segundos: ver algo, reconocerlo como riesgo, actuar de inmediato y avisar. Ninguno se puede saltar.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situación en voz alta y da un minuto para que el grupo vote por A, B o C (a mano alzada) antes de avanzar a la respuesta. No reveles todavía cuál es la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Revela la respuesta y compárala con la votación del grupo.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Todos en la sala conviven con él a diario, aunque no lo llamen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un ejemplo real de cada categoría, vivido por alguien del grupo o de la Cooperativa. No hace falta profundizar mucho en cada una: el objetivo es que reconozcan las cuatro fuentes, no memorizarlas.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que los pequeños descuidos diarios son el origen más común del riesgo operativo.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no como un tema exclusivo de comunicaciones o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los 8 elementos y pregunta al grupo cuál consideran más vulnerable en su área de trabajo. No es necesario detenerte por igual en los 8; prioriza los que generen más discusión.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la frase en pantalla unos segundos antes de pasar al caso; es el punto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revelar la respuesta. Pregunta si alguien ha vivido una situación similar con un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por qué ignorar o responder a título personal agrava el problema.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Aclara desde ya que ambos deben reportarse, aunque el trasfondo sea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la diferencia clave es la intención. Aclara que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pasar a la diapositiva de respuestas. No confirmes ni corrijas todavía.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cada respuesta comparándola con la votación del grupo y explica brevemente el razonamiento (¿hubo intención de obtener un beneficio u ocultar algo, o fue una equivocación?).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ejemplos adicionales de señales de alerta que el grupo haya visto u oído (sin señalar a nadie en específico). Cierra el tema reforzando: documentar y reportar siempre, encubrir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El mensaje es que todos los que tocan el proceso —aunque sea en un solo paso— influyen en el riesgo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brevemente las 8 etapas. Pregunta al grupo en qué etapa creen que ellos mismos participan o influyen, aunque no trabajen directamente en Créditos (por ejemplo, verificando datos o atendiendo al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la respuesta impacte antes de explicarla. Es el mensaje central del tema: no hay una sola etapa "responsable" del riesgo crediticio.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el tema reforzando los tres pilares: corresponsabilidad, prevención y calidad del proceso.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El mensaje debe quedar corto y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cada rol de izquierda a derecha con una frase corta sobre su función. No te extiendas demasiado en ninguno: el punto es que todos los roles se vean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último tema con la sostenibilidad de la Cooperativa a largo plazo: lo ambiental y lo social no son temas aparte de las finanzas, son parte de la misma cadena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si alguien en el grupo ha vivido una interrupción operativa por alguno de estos eventos. Cierra el bloque de los 8 temas: lo que sigue son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Si el tiempo lo permite, divide al grupo en equipos pequeños para discutir cada caso antes de revisar la respuesta en plenaria.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2-3 minutos para que el grupo (o equipos pequeños) discuta las 4 preguntas antes de pasar a la respuesta. No reveles todavía la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la respuesta con lo que discutió el grupo.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revelar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sección de casos integradores. Pregunta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Genera energía y expectativa antes de iniciar el cronómetro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Es el resumen de toda la capacitación en cinco palabras.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2.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2.png"/><Relationship Id="rId5" Type="http://schemas.openxmlformats.org/officeDocument/2006/relationships/image" Target="../media/image-26-5.png"/><Relationship Id="rId6" Type="http://schemas.openxmlformats.org/officeDocument/2006/relationships/image" Target="../media/image-26-2.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2.png"/><Relationship Id="rId11" Type="http://schemas.openxmlformats.org/officeDocument/2006/relationships/image" Target="../media/image-26-11.png"/><Relationship Id="rId12" Type="http://schemas.openxmlformats.org/officeDocument/2006/relationships/image" Target="../media/image-26-2.png"/><Relationship Id="rId13" Type="http://schemas.openxmlformats.org/officeDocument/2006/relationships/image" Target="../media/image-26-13.png"/><Relationship Id="rId14" Type="http://schemas.openxmlformats.org/officeDocument/2006/relationships/image" Target="../media/image-26-2.png"/><Relationship Id="rId15" Type="http://schemas.openxmlformats.org/officeDocument/2006/relationships/image" Target="../media/image-26-15.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2.png"/><Relationship Id="rId5" Type="http://schemas.openxmlformats.org/officeDocument/2006/relationships/image" Target="../media/image-32-5.png"/><Relationship Id="rId6" Type="http://schemas.openxmlformats.org/officeDocument/2006/relationships/image" Target="../media/image-32-2.png"/><Relationship Id="rId7" Type="http://schemas.openxmlformats.org/officeDocument/2006/relationships/image" Target="../media/image-32-7.png"/><Relationship Id="rId8" Type="http://schemas.openxmlformats.org/officeDocument/2006/relationships/image" Target="../media/image-32-2.png"/><Relationship Id="rId9" Type="http://schemas.openxmlformats.org/officeDocument/2006/relationships/image" Target="../media/image-32-9.png"/><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2.png"/><Relationship Id="rId4" Type="http://schemas.openxmlformats.org/officeDocument/2006/relationships/image" Target="../media/image-35-2.png"/><Relationship Id="rId5" Type="http://schemas.openxmlformats.org/officeDocument/2006/relationships/image" Target="../media/image-35-2.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2.png"/><Relationship Id="rId4" Type="http://schemas.openxmlformats.org/officeDocument/2006/relationships/image" Target="../media/image-37-2.png"/><Relationship Id="rId5" Type="http://schemas.openxmlformats.org/officeDocument/2006/relationships/image" Target="../media/image-37-2.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2.png"/><Relationship Id="rId4" Type="http://schemas.openxmlformats.org/officeDocument/2006/relationships/image" Target="../media/image-39-2.png"/><Relationship Id="rId5" Type="http://schemas.openxmlformats.org/officeDocument/2006/relationships/image" Target="../media/image-39-2.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2.png"/><Relationship Id="rId4" Type="http://schemas.openxmlformats.org/officeDocument/2006/relationships/image" Target="../media/image-41-2.png"/><Relationship Id="rId5" Type="http://schemas.openxmlformats.org/officeDocument/2006/relationships/image" Target="../media/image-41-2.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slideLayout" Target="../slideLayouts/slideLayout1.xml"/><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image" Target="../media/image-45-9.png"/><Relationship Id="rId10" Type="http://schemas.openxmlformats.org/officeDocument/2006/relationships/slideLayout" Target="../slideLayouts/slideLayout1.xml"/><Relationship Id="rId11"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2.png"/><Relationship Id="rId5" Type="http://schemas.openxmlformats.org/officeDocument/2006/relationships/image" Target="../media/image-46-5.png"/><Relationship Id="rId6" Type="http://schemas.openxmlformats.org/officeDocument/2006/relationships/image" Target="../media/image-46-2.png"/><Relationship Id="rId7" Type="http://schemas.openxmlformats.org/officeDocument/2006/relationships/image" Target="../media/image-46-7.png"/><Relationship Id="rId8" Type="http://schemas.openxmlformats.org/officeDocument/2006/relationships/image" Target="../media/image-46-2.png"/><Relationship Id="rId9" Type="http://schemas.openxmlformats.org/officeDocument/2006/relationships/image" Target="../media/image-46-9.png"/><Relationship Id="rId10" Type="http://schemas.openxmlformats.org/officeDocument/2006/relationships/image" Target="../media/image-46-10.png"/><Relationship Id="rId11" Type="http://schemas.openxmlformats.org/officeDocument/2006/relationships/slideLayout" Target="../slideLayouts/slideLayout1.xml"/><Relationship Id="rId1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ESTOS ERAN LOS RIESGOS</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7" name="Shape 4"/>
          <p:cNvSpPr/>
          <p:nvPr/>
        </p:nvSpPr>
        <p:spPr>
          <a:xfrm>
            <a:off x="704088" y="2225421"/>
            <a:ext cx="566928" cy="566928"/>
          </a:xfrm>
          <a:prstGeom prst="ellipse">
            <a:avLst/>
          </a:prstGeom>
          <a:solidFill>
            <a:srgbClr val="2E86C7"/>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840151" y="2361484"/>
            <a:ext cx="294803" cy="294803"/>
          </a:xfrm>
          <a:prstGeom prst="rect">
            <a:avLst/>
          </a:prstGeom>
        </p:spPr>
      </p:pic>
      <p:sp>
        <p:nvSpPr>
          <p:cNvPr id="9" name="Text 5"/>
          <p:cNvSpPr txBox="1"/>
          <p:nvPr/>
        </p:nvSpPr>
        <p:spPr>
          <a:xfrm>
            <a:off x="70408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10" name="Text 6"/>
          <p:cNvSpPr txBox="1"/>
          <p:nvPr/>
        </p:nvSpPr>
        <p:spPr>
          <a:xfrm>
            <a:off x="138988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 confidencial expuesto sobre el escritorio.</a:t>
            </a:r>
            <a:endParaRPr lang="en-US" sz="1150" dirty="0"/>
          </a:p>
        </p:txBody>
      </p:sp>
      <p:sp>
        <p:nvSpPr>
          <p:cNvPr id="11" name="Shape 7"/>
          <p:cNvSpPr/>
          <p:nvPr/>
        </p:nvSpPr>
        <p:spPr>
          <a:xfrm>
            <a:off x="623300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2" name="Shape 8"/>
          <p:cNvSpPr/>
          <p:nvPr/>
        </p:nvSpPr>
        <p:spPr>
          <a:xfrm>
            <a:off x="6370168" y="2225421"/>
            <a:ext cx="566928" cy="566928"/>
          </a:xfrm>
          <a:prstGeom prst="ellipse">
            <a:avLst/>
          </a:prstGeom>
          <a:solidFill>
            <a:srgbClr val="2E86C7"/>
          </a:solidFill>
          <a:ln/>
        </p:spPr>
      </p:sp>
      <p:pic>
        <p:nvPicPr>
          <p:cNvPr id="13" name="Image 1" descr="/tmp/claude-0/-home-user-riesgo/0ff9ff46-1396-5bd8-b3ac-2280dfbbbc55/scratchpad/work/gen/icons/cable_navy.png">    </p:cNvPr>
          <p:cNvPicPr>
            <a:picLocks noChangeAspect="1"/>
          </p:cNvPicPr>
          <p:nvPr/>
        </p:nvPicPr>
        <p:blipFill>
          <a:blip r:embed="rId2"/>
          <a:stretch>
            <a:fillRect/>
          </a:stretch>
        </p:blipFill>
        <p:spPr>
          <a:xfrm>
            <a:off x="6506230" y="2361484"/>
            <a:ext cx="294803" cy="294803"/>
          </a:xfrm>
          <a:prstGeom prst="rect">
            <a:avLst/>
          </a:prstGeom>
        </p:spPr>
      </p:pic>
      <p:sp>
        <p:nvSpPr>
          <p:cNvPr id="14" name="Text 9"/>
          <p:cNvSpPr txBox="1"/>
          <p:nvPr/>
        </p:nvSpPr>
        <p:spPr>
          <a:xfrm>
            <a:off x="637016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5" name="Text 10"/>
          <p:cNvSpPr txBox="1"/>
          <p:nvPr/>
        </p:nvSpPr>
        <p:spPr>
          <a:xfrm>
            <a:off x="705596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Cable suelto que puede provocar una caída.</a:t>
            </a:r>
            <a:endParaRPr lang="en-US" sz="1150" dirty="0"/>
          </a:p>
        </p:txBody>
      </p:sp>
      <p:sp>
        <p:nvSpPr>
          <p:cNvPr id="16" name="Shape 11"/>
          <p:cNvSpPr/>
          <p:nvPr/>
        </p:nvSpPr>
        <p:spPr>
          <a:xfrm>
            <a:off x="56692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7" name="Shape 12"/>
          <p:cNvSpPr/>
          <p:nvPr/>
        </p:nvSpPr>
        <p:spPr>
          <a:xfrm>
            <a:off x="704088" y="3274695"/>
            <a:ext cx="566928" cy="566928"/>
          </a:xfrm>
          <a:prstGeom prst="ellipse">
            <a:avLst/>
          </a:prstGeom>
          <a:solidFill>
            <a:srgbClr val="2E86C7"/>
          </a:solidFill>
          <a:ln/>
        </p:spPr>
      </p:sp>
      <p:pic>
        <p:nvPicPr>
          <p:cNvPr id="18" name="Image 2" descr="/tmp/claude-0/-home-user-riesgo/0ff9ff46-1396-5bd8-b3ac-2280dfbbbc55/scratchpad/work/gen/icons/password_navy.png">    </p:cNvPr>
          <p:cNvPicPr>
            <a:picLocks noChangeAspect="1"/>
          </p:cNvPicPr>
          <p:nvPr/>
        </p:nvPicPr>
        <p:blipFill>
          <a:blip r:embed="rId3"/>
          <a:stretch>
            <a:fillRect/>
          </a:stretch>
        </p:blipFill>
        <p:spPr>
          <a:xfrm>
            <a:off x="840151" y="3410758"/>
            <a:ext cx="294803" cy="294803"/>
          </a:xfrm>
          <a:prstGeom prst="rect">
            <a:avLst/>
          </a:prstGeom>
        </p:spPr>
      </p:pic>
      <p:sp>
        <p:nvSpPr>
          <p:cNvPr id="19" name="Text 13"/>
          <p:cNvSpPr txBox="1"/>
          <p:nvPr/>
        </p:nvSpPr>
        <p:spPr>
          <a:xfrm>
            <a:off x="70408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20" name="Text 14"/>
          <p:cNvSpPr txBox="1"/>
          <p:nvPr/>
        </p:nvSpPr>
        <p:spPr>
          <a:xfrm>
            <a:off x="138988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Contraseña anotada y visible para cualquiera.</a:t>
            </a:r>
            <a:endParaRPr lang="en-US" sz="1150" dirty="0"/>
          </a:p>
        </p:txBody>
      </p:sp>
      <p:sp>
        <p:nvSpPr>
          <p:cNvPr id="21" name="Shape 15"/>
          <p:cNvSpPr/>
          <p:nvPr/>
        </p:nvSpPr>
        <p:spPr>
          <a:xfrm>
            <a:off x="623300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2" name="Shape 16"/>
          <p:cNvSpPr/>
          <p:nvPr/>
        </p:nvSpPr>
        <p:spPr>
          <a:xfrm>
            <a:off x="6370168" y="3274695"/>
            <a:ext cx="566928" cy="566928"/>
          </a:xfrm>
          <a:prstGeom prst="ellipse">
            <a:avLst/>
          </a:prstGeom>
          <a:solidFill>
            <a:srgbClr val="2E86C7"/>
          </a:solidFill>
          <a:ln/>
        </p:spPr>
      </p:sp>
      <p:pic>
        <p:nvPicPr>
          <p:cNvPr id="23" name="Image 3" descr="/tmp/claude-0/-home-user-riesgo/0ff9ff46-1396-5bd8-b3ac-2280dfbbbc55/scratchpad/work/gen/icons/door_open_navy.png">    </p:cNvPr>
          <p:cNvPicPr>
            <a:picLocks noChangeAspect="1"/>
          </p:cNvPicPr>
          <p:nvPr/>
        </p:nvPicPr>
        <p:blipFill>
          <a:blip r:embed="rId4"/>
          <a:stretch>
            <a:fillRect/>
          </a:stretch>
        </p:blipFill>
        <p:spPr>
          <a:xfrm>
            <a:off x="6506230" y="3410758"/>
            <a:ext cx="294803" cy="294803"/>
          </a:xfrm>
          <a:prstGeom prst="rect">
            <a:avLst/>
          </a:prstGeom>
        </p:spPr>
      </p:pic>
      <p:sp>
        <p:nvSpPr>
          <p:cNvPr id="24" name="Text 17"/>
          <p:cNvSpPr txBox="1"/>
          <p:nvPr/>
        </p:nvSpPr>
        <p:spPr>
          <a:xfrm>
            <a:off x="637016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5" name="Text 18"/>
          <p:cNvSpPr txBox="1"/>
          <p:nvPr/>
        </p:nvSpPr>
        <p:spPr>
          <a:xfrm>
            <a:off x="705596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Puerta de un área restringida abierta.</a:t>
            </a:r>
            <a:endParaRPr lang="en-US" sz="1150" dirty="0"/>
          </a:p>
        </p:txBody>
      </p:sp>
      <p:sp>
        <p:nvSpPr>
          <p:cNvPr id="26" name="Shape 19"/>
          <p:cNvSpPr/>
          <p:nvPr/>
        </p:nvSpPr>
        <p:spPr>
          <a:xfrm>
            <a:off x="56692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7" name="Shape 20"/>
          <p:cNvSpPr/>
          <p:nvPr/>
        </p:nvSpPr>
        <p:spPr>
          <a:xfrm>
            <a:off x="704088" y="4323969"/>
            <a:ext cx="566928" cy="566928"/>
          </a:xfrm>
          <a:prstGeom prst="ellipse">
            <a:avLst/>
          </a:prstGeom>
          <a:solidFill>
            <a:srgbClr val="2E86C7"/>
          </a:solidFill>
          <a:ln/>
        </p:spPr>
      </p:sp>
      <p:pic>
        <p:nvPicPr>
          <p:cNvPr id="28" name="Image 4" descr="/tmp/claude-0/-home-user-riesgo/0ff9ff46-1396-5bd8-b3ac-2280dfbbbc55/scratchpad/work/gen/icons/x_circle_navy.png">    </p:cNvPr>
          <p:cNvPicPr>
            <a:picLocks noChangeAspect="1"/>
          </p:cNvPicPr>
          <p:nvPr/>
        </p:nvPicPr>
        <p:blipFill>
          <a:blip r:embed="rId5"/>
          <a:stretch>
            <a:fillRect/>
          </a:stretch>
        </p:blipFill>
        <p:spPr>
          <a:xfrm>
            <a:off x="840151" y="4460032"/>
            <a:ext cx="294803" cy="294803"/>
          </a:xfrm>
          <a:prstGeom prst="rect">
            <a:avLst/>
          </a:prstGeom>
        </p:spPr>
      </p:pic>
      <p:sp>
        <p:nvSpPr>
          <p:cNvPr id="29" name="Text 21"/>
          <p:cNvSpPr txBox="1"/>
          <p:nvPr/>
        </p:nvSpPr>
        <p:spPr>
          <a:xfrm>
            <a:off x="70408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30" name="Text 22"/>
          <p:cNvSpPr txBox="1"/>
          <p:nvPr/>
        </p:nvSpPr>
        <p:spPr>
          <a:xfrm>
            <a:off x="138988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dato o cifra registrado de forma incorrecta.</a:t>
            </a:r>
            <a:endParaRPr lang="en-US" sz="1150" dirty="0"/>
          </a:p>
        </p:txBody>
      </p:sp>
      <p:sp>
        <p:nvSpPr>
          <p:cNvPr id="31" name="Shape 23"/>
          <p:cNvSpPr/>
          <p:nvPr/>
        </p:nvSpPr>
        <p:spPr>
          <a:xfrm>
            <a:off x="623300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2" name="Shape 24"/>
          <p:cNvSpPr/>
          <p:nvPr/>
        </p:nvSpPr>
        <p:spPr>
          <a:xfrm>
            <a:off x="6370168" y="4323969"/>
            <a:ext cx="566928" cy="566928"/>
          </a:xfrm>
          <a:prstGeom prst="ellipse">
            <a:avLst/>
          </a:prstGeom>
          <a:solidFill>
            <a:srgbClr val="2E86C7"/>
          </a:solidFill>
          <a:ln/>
        </p:spPr>
      </p:sp>
      <p:pic>
        <p:nvPicPr>
          <p:cNvPr id="33" name="Image 5" descr="/tmp/claude-0/-home-user-riesgo/0ff9ff46-1396-5bd8-b3ac-2280dfbbbc55/scratchpad/work/gen/icons/computer_navy.png">    </p:cNvPr>
          <p:cNvPicPr>
            <a:picLocks noChangeAspect="1"/>
          </p:cNvPicPr>
          <p:nvPr/>
        </p:nvPicPr>
        <p:blipFill>
          <a:blip r:embed="rId6"/>
          <a:stretch>
            <a:fillRect/>
          </a:stretch>
        </p:blipFill>
        <p:spPr>
          <a:xfrm>
            <a:off x="6506230" y="4460032"/>
            <a:ext cx="294803" cy="294803"/>
          </a:xfrm>
          <a:prstGeom prst="rect">
            <a:avLst/>
          </a:prstGeom>
        </p:spPr>
      </p:pic>
      <p:sp>
        <p:nvSpPr>
          <p:cNvPr id="34" name="Text 25"/>
          <p:cNvSpPr txBox="1"/>
          <p:nvPr/>
        </p:nvSpPr>
        <p:spPr>
          <a:xfrm>
            <a:off x="637016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5" name="Text 26"/>
          <p:cNvSpPr txBox="1"/>
          <p:nvPr/>
        </p:nvSpPr>
        <p:spPr>
          <a:xfrm>
            <a:off x="705596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desatendido y sin bloqueo de pantalla.</a:t>
            </a:r>
            <a:endParaRPr lang="en-US" sz="1150" dirty="0"/>
          </a:p>
        </p:txBody>
      </p:sp>
      <p:sp>
        <p:nvSpPr>
          <p:cNvPr id="36" name="Shape 27"/>
          <p:cNvSpPr/>
          <p:nvPr/>
        </p:nvSpPr>
        <p:spPr>
          <a:xfrm>
            <a:off x="56692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7" name="Shape 28"/>
          <p:cNvSpPr/>
          <p:nvPr/>
        </p:nvSpPr>
        <p:spPr>
          <a:xfrm>
            <a:off x="704088" y="5373243"/>
            <a:ext cx="566928" cy="566928"/>
          </a:xfrm>
          <a:prstGeom prst="ellipse">
            <a:avLst/>
          </a:prstGeom>
          <a:solidFill>
            <a:srgbClr val="2E86C7"/>
          </a:solidFill>
          <a:ln/>
        </p:spPr>
      </p:sp>
      <p:pic>
        <p:nvPicPr>
          <p:cNvPr id="38" name="Image 6" descr="/tmp/claude-0/-home-user-riesgo/0ff9ff46-1396-5bd8-b3ac-2280dfbbbc55/scratchpad/work/gen/icons/chat_navy.png">    </p:cNvPr>
          <p:cNvPicPr>
            <a:picLocks noChangeAspect="1"/>
          </p:cNvPicPr>
          <p:nvPr/>
        </p:nvPicPr>
        <p:blipFill>
          <a:blip r:embed="rId7"/>
          <a:stretch>
            <a:fillRect/>
          </a:stretch>
        </p:blipFill>
        <p:spPr>
          <a:xfrm>
            <a:off x="840151" y="5509306"/>
            <a:ext cx="294803" cy="294803"/>
          </a:xfrm>
          <a:prstGeom prst="rect">
            <a:avLst/>
          </a:prstGeom>
        </p:spPr>
      </p:pic>
      <p:sp>
        <p:nvSpPr>
          <p:cNvPr id="39" name="Text 29"/>
          <p:cNvSpPr txBox="1"/>
          <p:nvPr/>
        </p:nvSpPr>
        <p:spPr>
          <a:xfrm>
            <a:off x="70408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40" name="Text 30"/>
          <p:cNvSpPr txBox="1"/>
          <p:nvPr/>
        </p:nvSpPr>
        <p:spPr>
          <a:xfrm>
            <a:off x="138988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Información institucional comentada fuera de lugar.</a:t>
            </a:r>
            <a:endParaRPr lang="en-US" sz="1150" dirty="0"/>
          </a:p>
        </p:txBody>
      </p:sp>
      <p:sp>
        <p:nvSpPr>
          <p:cNvPr id="41" name="Shape 31"/>
          <p:cNvSpPr/>
          <p:nvPr/>
        </p:nvSpPr>
        <p:spPr>
          <a:xfrm>
            <a:off x="623300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42" name="Shape 32"/>
          <p:cNvSpPr/>
          <p:nvPr/>
        </p:nvSpPr>
        <p:spPr>
          <a:xfrm>
            <a:off x="6370168" y="5373243"/>
            <a:ext cx="566928" cy="566928"/>
          </a:xfrm>
          <a:prstGeom prst="ellipse">
            <a:avLst/>
          </a:prstGeom>
          <a:solidFill>
            <a:srgbClr val="2E86C7"/>
          </a:solidFill>
          <a:ln/>
        </p:spPr>
      </p:sp>
      <p:pic>
        <p:nvPicPr>
          <p:cNvPr id="43" name="Image 7" descr="/tmp/claude-0/-home-user-riesgo/0ff9ff46-1396-5bd8-b3ac-2280dfbbbc55/scratchpad/work/gen/icons/id_card_navy.png">    </p:cNvPr>
          <p:cNvPicPr>
            <a:picLocks noChangeAspect="1"/>
          </p:cNvPicPr>
          <p:nvPr/>
        </p:nvPicPr>
        <p:blipFill>
          <a:blip r:embed="rId8"/>
          <a:stretch>
            <a:fillRect/>
          </a:stretch>
        </p:blipFill>
        <p:spPr>
          <a:xfrm>
            <a:off x="6506230" y="5509306"/>
            <a:ext cx="294803" cy="294803"/>
          </a:xfrm>
          <a:prstGeom prst="rect">
            <a:avLst/>
          </a:prstGeom>
        </p:spPr>
      </p:pic>
      <p:sp>
        <p:nvSpPr>
          <p:cNvPr id="44" name="Text 33"/>
          <p:cNvSpPr txBox="1"/>
          <p:nvPr/>
        </p:nvSpPr>
        <p:spPr>
          <a:xfrm>
            <a:off x="637016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5" name="Text 34"/>
          <p:cNvSpPr txBox="1"/>
          <p:nvPr/>
        </p:nvSpPr>
        <p:spPr>
          <a:xfrm>
            <a:off x="705596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Gafete o credencial olvidado a la vista de todos.</a:t>
            </a:r>
            <a:endParaRPr lang="en-US" sz="115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6F3FB"/>
                </a:solidFill>
                <a:latin typeface="Cambria" pitchFamily="34" charset="0"/>
                <a:ea typeface="Cambria" pitchFamily="34" charset="-122"/>
                <a:cs typeface="Cambria" pitchFamily="34" charset="-120"/>
              </a:rPr>
              <a:t>01</a:t>
            </a:r>
            <a:endParaRPr lang="en-US" sz="26000" dirty="0"/>
          </a:p>
        </p:txBody>
      </p:sp>
      <p:sp>
        <p:nvSpPr>
          <p:cNvPr id="4" name="Shape 1"/>
          <p:cNvSpPr/>
          <p:nvPr/>
        </p:nvSpPr>
        <p:spPr>
          <a:xfrm>
            <a:off x="10104120" y="-685800"/>
            <a:ext cx="2743200" cy="2743200"/>
          </a:xfrm>
          <a:prstGeom prst="ellipse">
            <a:avLst/>
          </a:prstGeom>
          <a:solidFill>
            <a:srgbClr val="9ECFEE"/>
          </a:solidFill>
          <a:ln/>
        </p:spPr>
      </p:sp>
      <p:sp>
        <p:nvSpPr>
          <p:cNvPr id="5" name="Shape 2"/>
          <p:cNvSpPr/>
          <p:nvPr/>
        </p:nvSpPr>
        <p:spPr>
          <a:xfrm>
            <a:off x="8001000" y="502920"/>
            <a:ext cx="3657600" cy="5806440"/>
          </a:xfrm>
          <a:prstGeom prst="roundRect">
            <a:avLst>
              <a:gd name="adj" fmla="val 11250"/>
            </a:avLst>
          </a:prstGeom>
          <a:solidFill>
            <a:srgbClr val="4FA8E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people_group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andshak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4FA8E0"/>
                </a:solidFill>
                <a:latin typeface="Calibri" pitchFamily="34" charset="0"/>
                <a:ea typeface="Calibri" pitchFamily="34" charset="-122"/>
                <a:cs typeface="Calibri" pitchFamily="34" charset="-120"/>
              </a:rPr>
              <a:t>TEMA 1</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TODOS SOMOS GESTORES</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DE RIESGOS</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La gestión de riesgos no es responsabilidad de un solo departamento.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SEIS ACCIONES QUE ESTÁN EN TUS MANOS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Sin importar tu cargo o área, cada colaborador de COMEDICA DE R.L. puede:</a:t>
            </a:r>
            <a:endParaRPr lang="en-US" sz="1500" dirty="0"/>
          </a:p>
        </p:txBody>
      </p:sp>
      <p:sp>
        <p:nvSpPr>
          <p:cNvPr id="6" name="Shape 3"/>
          <p:cNvSpPr/>
          <p:nvPr/>
        </p:nvSpPr>
        <p:spPr>
          <a:xfrm>
            <a:off x="566928" y="2308860"/>
            <a:ext cx="3490874" cy="1691640"/>
          </a:xfrm>
          <a:prstGeom prst="roundRect">
            <a:avLst>
              <a:gd name="adj" fmla="val 5405"/>
            </a:avLst>
          </a:prstGeom>
          <a:solidFill>
            <a:srgbClr val="F2F5F9"/>
          </a:solidFill>
          <a:ln/>
        </p:spPr>
      </p:sp>
      <p:sp>
        <p:nvSpPr>
          <p:cNvPr id="7" name="Shape 4"/>
          <p:cNvSpPr/>
          <p:nvPr/>
        </p:nvSpPr>
        <p:spPr>
          <a:xfrm>
            <a:off x="2028901" y="2569464"/>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705527"/>
            <a:ext cx="294803" cy="294803"/>
          </a:xfrm>
          <a:prstGeom prst="rect">
            <a:avLst/>
          </a:prstGeom>
        </p:spPr>
      </p:pic>
      <p:sp>
        <p:nvSpPr>
          <p:cNvPr id="9" name="Text 5"/>
          <p:cNvSpPr txBox="1"/>
          <p:nvPr/>
        </p:nvSpPr>
        <p:spPr>
          <a:xfrm>
            <a:off x="676656"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308860"/>
            <a:ext cx="3490874" cy="1691640"/>
          </a:xfrm>
          <a:prstGeom prst="roundRect">
            <a:avLst>
              <a:gd name="adj" fmla="val 5405"/>
            </a:avLst>
          </a:prstGeom>
          <a:solidFill>
            <a:srgbClr val="F2F5F9"/>
          </a:solidFill>
          <a:ln/>
        </p:spPr>
      </p:sp>
      <p:sp>
        <p:nvSpPr>
          <p:cNvPr id="11" name="Shape 7"/>
          <p:cNvSpPr/>
          <p:nvPr/>
        </p:nvSpPr>
        <p:spPr>
          <a:xfrm>
            <a:off x="5812384" y="2569464"/>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705527"/>
            <a:ext cx="294803" cy="294803"/>
          </a:xfrm>
          <a:prstGeom prst="rect">
            <a:avLst/>
          </a:prstGeom>
        </p:spPr>
      </p:pic>
      <p:sp>
        <p:nvSpPr>
          <p:cNvPr id="13" name="Text 8"/>
          <p:cNvSpPr txBox="1"/>
          <p:nvPr/>
        </p:nvSpPr>
        <p:spPr>
          <a:xfrm>
            <a:off x="4460138"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308860"/>
            <a:ext cx="3490874" cy="1691640"/>
          </a:xfrm>
          <a:prstGeom prst="roundRect">
            <a:avLst>
              <a:gd name="adj" fmla="val 5405"/>
            </a:avLst>
          </a:prstGeom>
          <a:solidFill>
            <a:srgbClr val="F2F5F9"/>
          </a:solidFill>
          <a:ln/>
        </p:spPr>
      </p:sp>
      <p:sp>
        <p:nvSpPr>
          <p:cNvPr id="15" name="Shape 10"/>
          <p:cNvSpPr/>
          <p:nvPr/>
        </p:nvSpPr>
        <p:spPr>
          <a:xfrm>
            <a:off x="9595866" y="2569464"/>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705527"/>
            <a:ext cx="294803" cy="294803"/>
          </a:xfrm>
          <a:prstGeom prst="rect">
            <a:avLst/>
          </a:prstGeom>
        </p:spPr>
      </p:pic>
      <p:sp>
        <p:nvSpPr>
          <p:cNvPr id="17" name="Text 11"/>
          <p:cNvSpPr txBox="1"/>
          <p:nvPr/>
        </p:nvSpPr>
        <p:spPr>
          <a:xfrm>
            <a:off x="8243621"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4256532"/>
            <a:ext cx="3490874" cy="1691640"/>
          </a:xfrm>
          <a:prstGeom prst="roundRect">
            <a:avLst>
              <a:gd name="adj" fmla="val 5405"/>
            </a:avLst>
          </a:prstGeom>
          <a:solidFill>
            <a:srgbClr val="F2F5F9"/>
          </a:solidFill>
          <a:ln/>
        </p:spPr>
      </p:sp>
      <p:sp>
        <p:nvSpPr>
          <p:cNvPr id="19" name="Shape 13"/>
          <p:cNvSpPr/>
          <p:nvPr/>
        </p:nvSpPr>
        <p:spPr>
          <a:xfrm>
            <a:off x="2028901" y="4517136"/>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653199"/>
            <a:ext cx="294803" cy="294803"/>
          </a:xfrm>
          <a:prstGeom prst="rect">
            <a:avLst/>
          </a:prstGeom>
        </p:spPr>
      </p:pic>
      <p:sp>
        <p:nvSpPr>
          <p:cNvPr id="21" name="Text 14"/>
          <p:cNvSpPr txBox="1"/>
          <p:nvPr/>
        </p:nvSpPr>
        <p:spPr>
          <a:xfrm>
            <a:off x="676656"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4256532"/>
            <a:ext cx="3490874" cy="1691640"/>
          </a:xfrm>
          <a:prstGeom prst="roundRect">
            <a:avLst>
              <a:gd name="adj" fmla="val 5405"/>
            </a:avLst>
          </a:prstGeom>
          <a:solidFill>
            <a:srgbClr val="F2F5F9"/>
          </a:solidFill>
          <a:ln/>
        </p:spPr>
      </p:sp>
      <p:sp>
        <p:nvSpPr>
          <p:cNvPr id="23" name="Shape 16"/>
          <p:cNvSpPr/>
          <p:nvPr/>
        </p:nvSpPr>
        <p:spPr>
          <a:xfrm>
            <a:off x="5812384" y="4517136"/>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653199"/>
            <a:ext cx="294803" cy="294803"/>
          </a:xfrm>
          <a:prstGeom prst="rect">
            <a:avLst/>
          </a:prstGeom>
        </p:spPr>
      </p:pic>
      <p:sp>
        <p:nvSpPr>
          <p:cNvPr id="25" name="Text 17"/>
          <p:cNvSpPr txBox="1"/>
          <p:nvPr/>
        </p:nvSpPr>
        <p:spPr>
          <a:xfrm>
            <a:off x="4460138"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4256532"/>
            <a:ext cx="3490874" cy="1691640"/>
          </a:xfrm>
          <a:prstGeom prst="roundRect">
            <a:avLst>
              <a:gd name="adj" fmla="val 5405"/>
            </a:avLst>
          </a:prstGeom>
          <a:solidFill>
            <a:srgbClr val="F2F5F9"/>
          </a:solidFill>
          <a:ln/>
        </p:spPr>
      </p:sp>
      <p:sp>
        <p:nvSpPr>
          <p:cNvPr id="27" name="Shape 19"/>
          <p:cNvSpPr/>
          <p:nvPr/>
        </p:nvSpPr>
        <p:spPr>
          <a:xfrm>
            <a:off x="9595866" y="4517136"/>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653199"/>
            <a:ext cx="294803" cy="294803"/>
          </a:xfrm>
          <a:prstGeom prst="rect">
            <a:avLst/>
          </a:prstGeom>
        </p:spPr>
      </p:pic>
      <p:sp>
        <p:nvSpPr>
          <p:cNvPr id="29" name="Text 20"/>
          <p:cNvSpPr txBox="1"/>
          <p:nvPr/>
        </p:nvSpPr>
        <p:spPr>
          <a:xfrm>
            <a:off x="8243621"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DF6FC"/>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3000" dirty="0">
                <a:solidFill>
                  <a:srgbClr val="133B6C"/>
                </a:solidFill>
                <a:latin typeface="Cambria" pitchFamily="34" charset="0"/>
                <a:ea typeface="Cambria" pitchFamily="34" charset="-122"/>
                <a:cs typeface="Cambria" pitchFamily="34" charset="-120"/>
              </a:rPr>
              <a:t>EL RIESGO PUEDE APARECER</a:t>
            </a:r>
            <a:endParaRPr lang="en-US" sz="3000" dirty="0"/>
          </a:p>
          <a:p>
            <a:pPr algn="ctr" indent="0" marL="0">
              <a:lnSpc>
                <a:spcPct val="118000"/>
              </a:lnSpc>
              <a:buNone/>
            </a:pPr>
            <a:r>
              <a:rPr lang="en-US" sz="3000" dirty="0">
                <a:solidFill>
                  <a:srgbClr val="133B6C"/>
                </a:solidFill>
                <a:latin typeface="Cambria" pitchFamily="34" charset="0"/>
                <a:ea typeface="Cambria" pitchFamily="34" charset="-122"/>
                <a:cs typeface="Cambria" pitchFamily="34" charset="-120"/>
              </a:rPr>
              <a:t>EN CUALQUIER LUGAR.</a:t>
            </a:r>
            <a:endParaRPr lang="en-US" sz="3000" dirty="0"/>
          </a:p>
          <a:p>
            <a:pPr algn="ctr" indent="0" marL="0">
              <a:lnSpc>
                <a:spcPct val="118000"/>
              </a:lnSpc>
              <a:buNone/>
            </a:pPr>
            <a:r>
              <a:rPr lang="en-US" sz="3400" b="1" dirty="0">
                <a:solidFill>
                  <a:srgbClr val="4FA8E0"/>
                </a:solidFill>
                <a:latin typeface="Cambria" pitchFamily="34" charset="0"/>
                <a:ea typeface="Cambria" pitchFamily="34" charset="-122"/>
                <a:cs typeface="Cambria" pitchFamily="34" charset="-120"/>
              </a:rPr>
              <a:t>LA GESTIÓN TAMBIÉN.</a:t>
            </a:r>
            <a:endParaRPr lang="en-US" sz="3000" dirty="0"/>
          </a:p>
        </p:txBody>
      </p:sp>
      <p:sp>
        <p:nvSpPr>
          <p:cNvPr id="6" name="Text 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7" name="Text 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EF7"/>
                </a:solidFill>
                <a:latin typeface="Cambria" pitchFamily="34" charset="0"/>
                <a:ea typeface="Cambria" pitchFamily="34" charset="-122"/>
                <a:cs typeface="Cambria" pitchFamily="34" charset="-120"/>
              </a:rPr>
              <a:t>02</a:t>
            </a:r>
            <a:endParaRPr lang="en-US" sz="26000" dirty="0"/>
          </a:p>
        </p:txBody>
      </p:sp>
      <p:sp>
        <p:nvSpPr>
          <p:cNvPr id="4" name="Shape 1"/>
          <p:cNvSpPr/>
          <p:nvPr/>
        </p:nvSpPr>
        <p:spPr>
          <a:xfrm>
            <a:off x="10104120" y="-685800"/>
            <a:ext cx="2743200" cy="2743200"/>
          </a:xfrm>
          <a:prstGeom prst="ellipse">
            <a:avLst/>
          </a:prstGeom>
          <a:solidFill>
            <a:srgbClr val="8CBCE0"/>
          </a:solidFill>
          <a:ln/>
        </p:spPr>
      </p:sp>
      <p:sp>
        <p:nvSpPr>
          <p:cNvPr id="5" name="Shape 2"/>
          <p:cNvSpPr/>
          <p:nvPr/>
        </p:nvSpPr>
        <p:spPr>
          <a:xfrm>
            <a:off x="8001000" y="502920"/>
            <a:ext cx="3657600" cy="5806440"/>
          </a:xfrm>
          <a:prstGeom prst="roundRect">
            <a:avLst>
              <a:gd name="adj" fmla="val 11250"/>
            </a:avLst>
          </a:prstGeom>
          <a:solidFill>
            <a:srgbClr val="2E86C7"/>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megaphon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ey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TEMA 2</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¿VES UN RIESGO?</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¡REPÓRTALO!</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Uno de los hábitos más importantes que puedes construir en tu día a día.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CUATRO PASOS QUE MARCAN LA DIFERENCIA</a:t>
            </a:r>
            <a:endParaRPr lang="en-US" sz="2700" dirty="0"/>
          </a:p>
        </p:txBody>
      </p:sp>
      <p:sp>
        <p:nvSpPr>
          <p:cNvPr id="5" name="Shape 2"/>
          <p:cNvSpPr/>
          <p:nvPr/>
        </p:nvSpPr>
        <p:spPr>
          <a:xfrm>
            <a:off x="1469098" y="3049524"/>
            <a:ext cx="960120" cy="960120"/>
          </a:xfrm>
          <a:prstGeom prst="ellipse">
            <a:avLst/>
          </a:prstGeom>
          <a:solidFill>
            <a:srgbClr val="2E86C7"/>
          </a:solidFill>
          <a:ln/>
        </p:spPr>
      </p:sp>
      <p:pic>
        <p:nvPicPr>
          <p:cNvPr id="6" name="Image 0" descr="/tmp/claude-0/-home-user-riesgo/0ff9ff46-1396-5bd8-b3ac-2280dfbbbc55/scratchpad/work/gen/icons/eye_white.png">    </p:cNvPr>
          <p:cNvPicPr>
            <a:picLocks noChangeAspect="1"/>
          </p:cNvPicPr>
          <p:nvPr/>
        </p:nvPicPr>
        <p:blipFill>
          <a:blip r:embed="rId1"/>
          <a:stretch>
            <a:fillRect/>
          </a:stretch>
        </p:blipFill>
        <p:spPr>
          <a:xfrm>
            <a:off x="1709128" y="3289554"/>
            <a:ext cx="480060" cy="480060"/>
          </a:xfrm>
          <a:prstGeom prst="rect">
            <a:avLst/>
          </a:prstGeom>
        </p:spPr>
      </p:pic>
      <p:sp>
        <p:nvSpPr>
          <p:cNvPr id="7" name="Text 3"/>
          <p:cNvSpPr txBox="1"/>
          <p:nvPr/>
        </p:nvSpPr>
        <p:spPr>
          <a:xfrm>
            <a:off x="62179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VEO</a:t>
            </a:r>
            <a:endParaRPr lang="en-US" sz="1300" dirty="0"/>
          </a:p>
        </p:txBody>
      </p:sp>
      <p:sp>
        <p:nvSpPr>
          <p:cNvPr id="8" name="Text 4"/>
          <p:cNvSpPr txBox="1"/>
          <p:nvPr/>
        </p:nvSpPr>
        <p:spPr>
          <a:xfrm>
            <a:off x="69494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Algo llama mi atención en mi entorno de trabajo.</a:t>
            </a:r>
            <a:endParaRPr lang="en-US" sz="10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3185084" y="3383280"/>
            <a:ext cx="292608" cy="292608"/>
          </a:xfrm>
          <a:prstGeom prst="rect">
            <a:avLst/>
          </a:prstGeom>
        </p:spPr>
      </p:pic>
      <p:sp>
        <p:nvSpPr>
          <p:cNvPr id="10" name="Shape 5"/>
          <p:cNvSpPr/>
          <p:nvPr/>
        </p:nvSpPr>
        <p:spPr>
          <a:xfrm>
            <a:off x="4233558" y="3049524"/>
            <a:ext cx="960120" cy="960120"/>
          </a:xfrm>
          <a:prstGeom prst="ellipse">
            <a:avLst/>
          </a:prstGeom>
          <a:solidFill>
            <a:srgbClr val="2E86C7"/>
          </a:solidFill>
          <a:ln/>
        </p:spPr>
      </p:sp>
      <p:pic>
        <p:nvPicPr>
          <p:cNvPr id="11" name="Image 2" descr="/tmp/claude-0/-home-user-riesgo/0ff9ff46-1396-5bd8-b3ac-2280dfbbbc55/scratchpad/work/gen/icons/magnifier_white.png">    </p:cNvPr>
          <p:cNvPicPr>
            <a:picLocks noChangeAspect="1"/>
          </p:cNvPicPr>
          <p:nvPr/>
        </p:nvPicPr>
        <p:blipFill>
          <a:blip r:embed="rId3"/>
          <a:stretch>
            <a:fillRect/>
          </a:stretch>
        </p:blipFill>
        <p:spPr>
          <a:xfrm>
            <a:off x="4473588" y="3289554"/>
            <a:ext cx="480060" cy="480060"/>
          </a:xfrm>
          <a:prstGeom prst="rect">
            <a:avLst/>
          </a:prstGeom>
        </p:spPr>
      </p:pic>
      <p:sp>
        <p:nvSpPr>
          <p:cNvPr id="12" name="Text 6"/>
          <p:cNvSpPr txBox="1"/>
          <p:nvPr/>
        </p:nvSpPr>
        <p:spPr>
          <a:xfrm>
            <a:off x="338625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IDENTIFICO</a:t>
            </a:r>
            <a:endParaRPr lang="en-US" sz="1300" dirty="0"/>
          </a:p>
        </p:txBody>
      </p:sp>
      <p:sp>
        <p:nvSpPr>
          <p:cNvPr id="13" name="Text 7"/>
          <p:cNvSpPr txBox="1"/>
          <p:nvPr/>
        </p:nvSpPr>
        <p:spPr>
          <a:xfrm>
            <a:off x="345940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Reconozco que se trata de un riesgo real.</a:t>
            </a:r>
            <a:endParaRPr lang="en-US" sz="10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949544" y="3383280"/>
            <a:ext cx="292608" cy="292608"/>
          </a:xfrm>
          <a:prstGeom prst="rect">
            <a:avLst/>
          </a:prstGeom>
        </p:spPr>
      </p:pic>
      <p:sp>
        <p:nvSpPr>
          <p:cNvPr id="15" name="Shape 8"/>
          <p:cNvSpPr/>
          <p:nvPr/>
        </p:nvSpPr>
        <p:spPr>
          <a:xfrm>
            <a:off x="6998017" y="3049524"/>
            <a:ext cx="960120" cy="960120"/>
          </a:xfrm>
          <a:prstGeom prst="ellipse">
            <a:avLst/>
          </a:prstGeom>
          <a:solidFill>
            <a:srgbClr val="2E86C7"/>
          </a:solidFill>
          <a:ln/>
        </p:spPr>
      </p:sp>
      <p:pic>
        <p:nvPicPr>
          <p:cNvPr id="16" name="Image 4" descr="/tmp/claude-0/-home-user-riesgo/0ff9ff46-1396-5bd8-b3ac-2280dfbbbc55/scratchpad/work/gen/icons/check_circle_white.png">    </p:cNvPr>
          <p:cNvPicPr>
            <a:picLocks noChangeAspect="1"/>
          </p:cNvPicPr>
          <p:nvPr/>
        </p:nvPicPr>
        <p:blipFill>
          <a:blip r:embed="rId5"/>
          <a:stretch>
            <a:fillRect/>
          </a:stretch>
        </p:blipFill>
        <p:spPr>
          <a:xfrm>
            <a:off x="7238047" y="3289554"/>
            <a:ext cx="480060" cy="480060"/>
          </a:xfrm>
          <a:prstGeom prst="rect">
            <a:avLst/>
          </a:prstGeom>
        </p:spPr>
      </p:pic>
      <p:sp>
        <p:nvSpPr>
          <p:cNvPr id="17" name="Text 9"/>
          <p:cNvSpPr txBox="1"/>
          <p:nvPr/>
        </p:nvSpPr>
        <p:spPr>
          <a:xfrm>
            <a:off x="615071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ACTÚO</a:t>
            </a:r>
            <a:endParaRPr lang="en-US" sz="1300" dirty="0"/>
          </a:p>
        </p:txBody>
      </p:sp>
      <p:sp>
        <p:nvSpPr>
          <p:cNvPr id="18" name="Text 10"/>
          <p:cNvSpPr txBox="1"/>
          <p:nvPr/>
        </p:nvSpPr>
        <p:spPr>
          <a:xfrm>
            <a:off x="622386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Tomo una acción inmediata para contenerlo.</a:t>
            </a:r>
            <a:endParaRPr lang="en-US" sz="1050" dirty="0"/>
          </a:p>
        </p:txBody>
      </p:sp>
      <p:pic>
        <p:nvPicPr>
          <p:cNvPr id="19" name="Image 5" descr="/tmp/claude-0/-home-user-riesgo/0ff9ff46-1396-5bd8-b3ac-2280dfbbbc55/scratchpad/work/gen/icons/arrow_right_gray.png">    </p:cNvPr>
          <p:cNvPicPr>
            <a:picLocks noChangeAspect="1"/>
          </p:cNvPicPr>
          <p:nvPr/>
        </p:nvPicPr>
        <p:blipFill>
          <a:blip r:embed="rId6"/>
          <a:stretch>
            <a:fillRect/>
          </a:stretch>
        </p:blipFill>
        <p:spPr>
          <a:xfrm>
            <a:off x="8714003" y="3383280"/>
            <a:ext cx="292608" cy="292608"/>
          </a:xfrm>
          <a:prstGeom prst="rect">
            <a:avLst/>
          </a:prstGeom>
        </p:spPr>
      </p:pic>
      <p:sp>
        <p:nvSpPr>
          <p:cNvPr id="20" name="Shape 11"/>
          <p:cNvSpPr/>
          <p:nvPr/>
        </p:nvSpPr>
        <p:spPr>
          <a:xfrm>
            <a:off x="9762477" y="3049524"/>
            <a:ext cx="960120" cy="960120"/>
          </a:xfrm>
          <a:prstGeom prst="ellipse">
            <a:avLst/>
          </a:prstGeom>
          <a:solidFill>
            <a:srgbClr val="133B6C"/>
          </a:solidFill>
          <a:ln/>
        </p:spPr>
      </p:sp>
      <p:pic>
        <p:nvPicPr>
          <p:cNvPr id="21" name="Image 6" descr="/tmp/claude-0/-home-user-riesgo/0ff9ff46-1396-5bd8-b3ac-2280dfbbbc55/scratchpad/work/gen/icons/megaphone_white.png">    </p:cNvPr>
          <p:cNvPicPr>
            <a:picLocks noChangeAspect="1"/>
          </p:cNvPicPr>
          <p:nvPr/>
        </p:nvPicPr>
        <p:blipFill>
          <a:blip r:embed="rId7"/>
          <a:stretch>
            <a:fillRect/>
          </a:stretch>
        </p:blipFill>
        <p:spPr>
          <a:xfrm>
            <a:off x="10002507" y="3289554"/>
            <a:ext cx="480060" cy="480060"/>
          </a:xfrm>
          <a:prstGeom prst="rect">
            <a:avLst/>
          </a:prstGeom>
        </p:spPr>
      </p:pic>
      <p:sp>
        <p:nvSpPr>
          <p:cNvPr id="22" name="Text 12"/>
          <p:cNvSpPr txBox="1"/>
          <p:nvPr/>
        </p:nvSpPr>
        <p:spPr>
          <a:xfrm>
            <a:off x="8915171"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REPORTO</a:t>
            </a:r>
            <a:endParaRPr lang="en-US" sz="1300" dirty="0"/>
          </a:p>
        </p:txBody>
      </p:sp>
      <p:sp>
        <p:nvSpPr>
          <p:cNvPr id="23" name="Text 13"/>
          <p:cNvSpPr txBox="1"/>
          <p:nvPr/>
        </p:nvSpPr>
        <p:spPr>
          <a:xfrm>
            <a:off x="8988323"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 comunico por el canal institucional.</a:t>
            </a:r>
            <a:endParaRPr lang="en-US" sz="1050" dirty="0"/>
          </a:p>
        </p:txBody>
      </p:sp>
      <p:sp>
        <p:nvSpPr>
          <p:cNvPr id="24"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A1C9E6"/>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ignoro; seguro alguien más la recogerá.</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Espero a ver si alguien más se da cuenta y actúa.</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La protejo de la vista de otros y reporto la situación de inmediato.</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417320"/>
          </a:xfrm>
          <a:prstGeom prst="roundRect">
            <a:avLst>
              <a:gd name="adj" fmla="val 6452"/>
            </a:avLst>
          </a:prstGeom>
          <a:solidFill>
            <a:srgbClr val="F2F5F9"/>
          </a:solidFill>
          <a:ln/>
        </p:spPr>
      </p:sp>
      <p:sp>
        <p:nvSpPr>
          <p:cNvPr id="12" name="Text 8"/>
          <p:cNvSpPr txBox="1"/>
          <p:nvPr/>
        </p:nvSpPr>
        <p:spPr>
          <a:xfrm>
            <a:off x="886968" y="3886200"/>
            <a:ext cx="10417759" cy="109728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o esperar deja expuesta información de nuestros asociados y aumenta el riesgo de que se convierta en un incidente mayor. Actuar y reportar es lo que evita que un pequeño descuido se transforme en un problema real para la Cooperativa.</a:t>
            </a:r>
            <a:endParaRPr lang="en-US" sz="1350" dirty="0"/>
          </a:p>
        </p:txBody>
      </p:sp>
      <p:sp>
        <p:nvSpPr>
          <p:cNvPr id="13" name="Shape 9"/>
          <p:cNvSpPr/>
          <p:nvPr/>
        </p:nvSpPr>
        <p:spPr>
          <a:xfrm>
            <a:off x="566928" y="5285232"/>
            <a:ext cx="11057839" cy="777240"/>
          </a:xfrm>
          <a:prstGeom prst="roundRect">
            <a:avLst>
              <a:gd name="adj" fmla="val 11765"/>
            </a:avLst>
          </a:prstGeom>
          <a:solidFill>
            <a:srgbClr val="133B6C"/>
          </a:solidFill>
          <a:ln/>
        </p:spPr>
      </p:sp>
      <p:sp>
        <p:nvSpPr>
          <p:cNvPr id="14" name="Shape 10"/>
          <p:cNvSpPr/>
          <p:nvPr/>
        </p:nvSpPr>
        <p:spPr>
          <a:xfrm>
            <a:off x="768096" y="5404104"/>
            <a:ext cx="530352" cy="530352"/>
          </a:xfrm>
          <a:prstGeom prst="ellipse">
            <a:avLst/>
          </a:prstGeom>
          <a:solidFill>
            <a:srgbClr val="2E86C7"/>
          </a:solidFill>
          <a:ln/>
        </p:spPr>
      </p:sp>
      <p:pic>
        <p:nvPicPr>
          <p:cNvPr id="15" name="Image 1" descr="/tmp/claude-0/-home-user-riesgo/0ff9ff46-1396-5bd8-b3ac-2280dfbbbc55/scratchpad/work/gen/icons/mail_white.png">    </p:cNvPr>
          <p:cNvPicPr>
            <a:picLocks noChangeAspect="1"/>
          </p:cNvPicPr>
          <p:nvPr/>
        </p:nvPicPr>
        <p:blipFill>
          <a:blip r:embed="rId2"/>
          <a:stretch>
            <a:fillRect/>
          </a:stretch>
        </p:blipFill>
        <p:spPr>
          <a:xfrm>
            <a:off x="887425" y="5523433"/>
            <a:ext cx="291694" cy="291694"/>
          </a:xfrm>
          <a:prstGeom prst="rect">
            <a:avLst/>
          </a:prstGeom>
        </p:spPr>
      </p:pic>
      <p:sp>
        <p:nvSpPr>
          <p:cNvPr id="16" name="Text 11"/>
          <p:cNvSpPr txBox="1"/>
          <p:nvPr/>
        </p:nvSpPr>
        <p:spPr>
          <a:xfrm>
            <a:off x="1463040" y="5285232"/>
            <a:ext cx="9869119" cy="777240"/>
          </a:xfrm>
          <a:prstGeom prst="rect">
            <a:avLst/>
          </a:prstGeom>
          <a:noFill/>
          <a:ln/>
        </p:spPr>
        <p:txBody>
          <a:bodyPr wrap="square" lIns="0" tIns="0" rIns="0" bIns="0" rtlCol="0" anchor="ctr"/>
          <a:lstStyle/>
          <a:p>
            <a:pPr indent="0" marL="0">
              <a:lnSpc>
                <a:spcPct val="105000"/>
              </a:lnSpc>
              <a:buNone/>
            </a:pPr>
            <a:r>
              <a:rPr lang="en-US" sz="12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200" dirty="0"/>
          </a:p>
        </p:txBody>
      </p:sp>
      <p:sp>
        <p:nvSpPr>
          <p:cNvPr id="17" name="Text 1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8" name="Text 1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F3F4"/>
                </a:solidFill>
                <a:latin typeface="Cambria" pitchFamily="34" charset="0"/>
                <a:ea typeface="Cambria" pitchFamily="34" charset="-122"/>
                <a:cs typeface="Cambria" pitchFamily="34" charset="-120"/>
              </a:rPr>
              <a:t>03</a:t>
            </a:r>
            <a:endParaRPr lang="en-US" sz="26000" dirty="0"/>
          </a:p>
        </p:txBody>
      </p:sp>
      <p:sp>
        <p:nvSpPr>
          <p:cNvPr id="4" name="Shape 1"/>
          <p:cNvSpPr/>
          <p:nvPr/>
        </p:nvSpPr>
        <p:spPr>
          <a:xfrm>
            <a:off x="10104120" y="-685800"/>
            <a:ext cx="2743200" cy="2743200"/>
          </a:xfrm>
          <a:prstGeom prst="ellipse">
            <a:avLst/>
          </a:prstGeom>
          <a:solidFill>
            <a:srgbClr val="7FD0D4"/>
          </a:solidFill>
          <a:ln/>
        </p:spPr>
      </p:sp>
      <p:sp>
        <p:nvSpPr>
          <p:cNvPr id="5" name="Shape 2"/>
          <p:cNvSpPr/>
          <p:nvPr/>
        </p:nvSpPr>
        <p:spPr>
          <a:xfrm>
            <a:off x="8001000" y="502920"/>
            <a:ext cx="3657600" cy="5806440"/>
          </a:xfrm>
          <a:prstGeom prst="roundRect">
            <a:avLst>
              <a:gd name="adj" fmla="val 11250"/>
            </a:avLst>
          </a:prstGeom>
          <a:solidFill>
            <a:srgbClr val="17A9B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e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server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7A9B0"/>
                </a:solidFill>
                <a:latin typeface="Calibri" pitchFamily="34" charset="0"/>
                <a:ea typeface="Calibri" pitchFamily="34" charset="-122"/>
                <a:cs typeface="Calibri" pitchFamily="34" charset="-120"/>
              </a:rPr>
              <a:t>TEMA 3</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LOS RIESGOS OPERATIVOS ESTÁN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EN NUESTRO DÍA A DÍA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Personas, procesos, sistemas y eventos externos: así se presenta el riesgo operativo.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CUATRO ORÍGENES, UN MISMO EFECTO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985516"/>
            <a:ext cx="2545004" cy="2286000"/>
          </a:xfrm>
          <a:prstGeom prst="roundRect">
            <a:avLst>
              <a:gd name="adj" fmla="val 4000"/>
            </a:avLst>
          </a:prstGeom>
          <a:solidFill>
            <a:srgbClr val="F2F5F9"/>
          </a:solidFill>
          <a:ln/>
        </p:spPr>
      </p:sp>
      <p:sp>
        <p:nvSpPr>
          <p:cNvPr id="7" name="Shape 4"/>
          <p:cNvSpPr/>
          <p:nvPr/>
        </p:nvSpPr>
        <p:spPr>
          <a:xfrm>
            <a:off x="1555966" y="3150108"/>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3286171"/>
            <a:ext cx="294803" cy="294803"/>
          </a:xfrm>
          <a:prstGeom prst="rect">
            <a:avLst/>
          </a:prstGeom>
        </p:spPr>
      </p:pic>
      <p:sp>
        <p:nvSpPr>
          <p:cNvPr id="9" name="Text 5"/>
          <p:cNvSpPr txBox="1"/>
          <p:nvPr/>
        </p:nvSpPr>
        <p:spPr>
          <a:xfrm>
            <a:off x="676656"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985516"/>
            <a:ext cx="2545004" cy="2286000"/>
          </a:xfrm>
          <a:prstGeom prst="roundRect">
            <a:avLst>
              <a:gd name="adj" fmla="val 4000"/>
            </a:avLst>
          </a:prstGeom>
          <a:solidFill>
            <a:srgbClr val="F2F5F9"/>
          </a:solidFill>
          <a:ln/>
        </p:spPr>
      </p:sp>
      <p:sp>
        <p:nvSpPr>
          <p:cNvPr id="12" name="Shape 8"/>
          <p:cNvSpPr/>
          <p:nvPr/>
        </p:nvSpPr>
        <p:spPr>
          <a:xfrm>
            <a:off x="4393578" y="3150108"/>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3286171"/>
            <a:ext cx="294803" cy="294803"/>
          </a:xfrm>
          <a:prstGeom prst="rect">
            <a:avLst/>
          </a:prstGeom>
        </p:spPr>
      </p:pic>
      <p:sp>
        <p:nvSpPr>
          <p:cNvPr id="14" name="Text 9"/>
          <p:cNvSpPr txBox="1"/>
          <p:nvPr/>
        </p:nvSpPr>
        <p:spPr>
          <a:xfrm>
            <a:off x="3514268"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985516"/>
            <a:ext cx="2545004" cy="2286000"/>
          </a:xfrm>
          <a:prstGeom prst="roundRect">
            <a:avLst>
              <a:gd name="adj" fmla="val 4000"/>
            </a:avLst>
          </a:prstGeom>
          <a:solidFill>
            <a:srgbClr val="F2F5F9"/>
          </a:solidFill>
          <a:ln/>
        </p:spPr>
      </p:sp>
      <p:sp>
        <p:nvSpPr>
          <p:cNvPr id="17" name="Shape 12"/>
          <p:cNvSpPr/>
          <p:nvPr/>
        </p:nvSpPr>
        <p:spPr>
          <a:xfrm>
            <a:off x="7231189" y="3150108"/>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3286171"/>
            <a:ext cx="294803" cy="294803"/>
          </a:xfrm>
          <a:prstGeom prst="rect">
            <a:avLst/>
          </a:prstGeom>
        </p:spPr>
      </p:pic>
      <p:sp>
        <p:nvSpPr>
          <p:cNvPr id="19" name="Text 13"/>
          <p:cNvSpPr txBox="1"/>
          <p:nvPr/>
        </p:nvSpPr>
        <p:spPr>
          <a:xfrm>
            <a:off x="6351880"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985516"/>
            <a:ext cx="2545004" cy="2286000"/>
          </a:xfrm>
          <a:prstGeom prst="roundRect">
            <a:avLst>
              <a:gd name="adj" fmla="val 4000"/>
            </a:avLst>
          </a:prstGeom>
          <a:solidFill>
            <a:srgbClr val="F2F5F9"/>
          </a:solidFill>
          <a:ln/>
        </p:spPr>
      </p:sp>
      <p:sp>
        <p:nvSpPr>
          <p:cNvPr id="22" name="Shape 16"/>
          <p:cNvSpPr/>
          <p:nvPr/>
        </p:nvSpPr>
        <p:spPr>
          <a:xfrm>
            <a:off x="10068801" y="3150108"/>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3286171"/>
            <a:ext cx="294803" cy="294803"/>
          </a:xfrm>
          <a:prstGeom prst="rect">
            <a:avLst/>
          </a:prstGeom>
        </p:spPr>
      </p:pic>
      <p:sp>
        <p:nvSpPr>
          <p:cNvPr id="24" name="Text 17"/>
          <p:cNvSpPr txBox="1"/>
          <p:nvPr/>
        </p:nvSpPr>
        <p:spPr>
          <a:xfrm>
            <a:off x="9189491"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8F6F7"/>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EL RIESGO OPERATIVO NO SIEMPRE</a:t>
            </a:r>
            <a:endParaRPr lang="en-US" sz="2700" dirty="0"/>
          </a:p>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SE VE COMO UN GRAN PROBLEMA.</a:t>
            </a:r>
            <a:endParaRPr lang="en-US" sz="2700" dirty="0"/>
          </a:p>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A VECES COMIENZA CON</a:t>
            </a:r>
            <a:endParaRPr lang="en-US" sz="2700" dirty="0"/>
          </a:p>
          <a:p>
            <a:pPr algn="ctr" indent="0" marL="0">
              <a:lnSpc>
                <a:spcPct val="118000"/>
              </a:lnSpc>
              <a:buNone/>
            </a:pPr>
            <a:r>
              <a:rPr lang="en-US" sz="3000" b="1" dirty="0">
                <a:solidFill>
                  <a:srgbClr val="17A9B0"/>
                </a:solidFill>
                <a:latin typeface="Cambria" pitchFamily="34" charset="0"/>
                <a:ea typeface="Cambria" pitchFamily="34" charset="-122"/>
                <a:cs typeface="Cambria" pitchFamily="34" charset="-120"/>
              </a:rPr>
              <a:t>UN PEQUEÑO DESCUIDO.</a:t>
            </a:r>
            <a:endParaRPr lang="en-US" sz="2700" dirty="0"/>
          </a:p>
        </p:txBody>
      </p:sp>
      <p:sp>
        <p:nvSpPr>
          <p:cNvPr id="6" name="Text 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7" name="Text 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3EBF2"/>
                </a:solidFill>
                <a:latin typeface="Cambria" pitchFamily="34" charset="0"/>
                <a:ea typeface="Cambria" pitchFamily="34" charset="-122"/>
                <a:cs typeface="Cambria" pitchFamily="34" charset="-120"/>
              </a:rPr>
              <a:t>04</a:t>
            </a:r>
            <a:endParaRPr lang="en-US" sz="26000" dirty="0"/>
          </a:p>
        </p:txBody>
      </p:sp>
      <p:sp>
        <p:nvSpPr>
          <p:cNvPr id="4" name="Shape 1"/>
          <p:cNvSpPr/>
          <p:nvPr/>
        </p:nvSpPr>
        <p:spPr>
          <a:xfrm>
            <a:off x="10104120" y="-685800"/>
            <a:ext cx="2743200" cy="2743200"/>
          </a:xfrm>
          <a:prstGeom prst="ellipse">
            <a:avLst/>
          </a:prstGeom>
          <a:solidFill>
            <a:srgbClr val="93AFCE"/>
          </a:solidFill>
          <a:ln/>
        </p:spPr>
      </p:sp>
      <p:sp>
        <p:nvSpPr>
          <p:cNvPr id="5" name="Shape 2"/>
          <p:cNvSpPr/>
          <p:nvPr/>
        </p:nvSpPr>
        <p:spPr>
          <a:xfrm>
            <a:off x="8001000" y="502920"/>
            <a:ext cx="3657600" cy="5806440"/>
          </a:xfrm>
          <a:prstGeom prst="roundRect">
            <a:avLst>
              <a:gd name="adj" fmla="val 11250"/>
            </a:avLst>
          </a:prstGeom>
          <a:solidFill>
            <a:srgbClr val="3A6EA5"/>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t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eart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3A6EA5"/>
                </a:solidFill>
                <a:latin typeface="Calibri" pitchFamily="34" charset="0"/>
                <a:ea typeface="Calibri" pitchFamily="34" charset="-122"/>
                <a:cs typeface="Calibri" pitchFamily="34" charset="-120"/>
              </a:rPr>
              <a:t>TEMA 4</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CUIDEMOS LA REPUTACIÓN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DE NUESTRA COOPERATIVA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REPUTACIÓN = CONFIANZA. Y la confianza se construye todos los días.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¿QUÉ CONSTRUYE NUESTRA REPUTACIÓN?</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reputación de COMEDICA DE R.L. se forma con cada interacción:</a:t>
            </a:r>
            <a:endParaRPr lang="en-US" sz="1500" dirty="0"/>
          </a:p>
        </p:txBody>
      </p:sp>
      <p:sp>
        <p:nvSpPr>
          <p:cNvPr id="6" name="Shape 3"/>
          <p:cNvSpPr/>
          <p:nvPr/>
        </p:nvSpPr>
        <p:spPr>
          <a:xfrm>
            <a:off x="566928" y="2308860"/>
            <a:ext cx="2545004" cy="1691640"/>
          </a:xfrm>
          <a:prstGeom prst="roundRect">
            <a:avLst>
              <a:gd name="adj" fmla="val 5405"/>
            </a:avLst>
          </a:prstGeom>
          <a:solidFill>
            <a:srgbClr val="F2F5F9"/>
          </a:solidFill>
          <a:ln/>
        </p:spPr>
      </p:sp>
      <p:sp>
        <p:nvSpPr>
          <p:cNvPr id="7" name="Shape 4"/>
          <p:cNvSpPr/>
          <p:nvPr/>
        </p:nvSpPr>
        <p:spPr>
          <a:xfrm>
            <a:off x="1555966" y="2569464"/>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705527"/>
            <a:ext cx="294803" cy="294803"/>
          </a:xfrm>
          <a:prstGeom prst="rect">
            <a:avLst/>
          </a:prstGeom>
        </p:spPr>
      </p:pic>
      <p:sp>
        <p:nvSpPr>
          <p:cNvPr id="9" name="Text 5"/>
          <p:cNvSpPr txBox="1"/>
          <p:nvPr/>
        </p:nvSpPr>
        <p:spPr>
          <a:xfrm>
            <a:off x="676656"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308860"/>
            <a:ext cx="2545004" cy="1691640"/>
          </a:xfrm>
          <a:prstGeom prst="roundRect">
            <a:avLst>
              <a:gd name="adj" fmla="val 5405"/>
            </a:avLst>
          </a:prstGeom>
          <a:solidFill>
            <a:srgbClr val="F2F5F9"/>
          </a:solidFill>
          <a:ln/>
        </p:spPr>
      </p:sp>
      <p:sp>
        <p:nvSpPr>
          <p:cNvPr id="11" name="Shape 7"/>
          <p:cNvSpPr/>
          <p:nvPr/>
        </p:nvSpPr>
        <p:spPr>
          <a:xfrm>
            <a:off x="4393578" y="2569464"/>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705527"/>
            <a:ext cx="294803" cy="294803"/>
          </a:xfrm>
          <a:prstGeom prst="rect">
            <a:avLst/>
          </a:prstGeom>
        </p:spPr>
      </p:pic>
      <p:sp>
        <p:nvSpPr>
          <p:cNvPr id="13" name="Text 8"/>
          <p:cNvSpPr txBox="1"/>
          <p:nvPr/>
        </p:nvSpPr>
        <p:spPr>
          <a:xfrm>
            <a:off x="3514268"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308860"/>
            <a:ext cx="2545004" cy="1691640"/>
          </a:xfrm>
          <a:prstGeom prst="roundRect">
            <a:avLst>
              <a:gd name="adj" fmla="val 5405"/>
            </a:avLst>
          </a:prstGeom>
          <a:solidFill>
            <a:srgbClr val="F2F5F9"/>
          </a:solidFill>
          <a:ln/>
        </p:spPr>
      </p:sp>
      <p:sp>
        <p:nvSpPr>
          <p:cNvPr id="15" name="Shape 10"/>
          <p:cNvSpPr/>
          <p:nvPr/>
        </p:nvSpPr>
        <p:spPr>
          <a:xfrm>
            <a:off x="7231189" y="2569464"/>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705527"/>
            <a:ext cx="294803" cy="294803"/>
          </a:xfrm>
          <a:prstGeom prst="rect">
            <a:avLst/>
          </a:prstGeom>
        </p:spPr>
      </p:pic>
      <p:sp>
        <p:nvSpPr>
          <p:cNvPr id="17" name="Text 11"/>
          <p:cNvSpPr txBox="1"/>
          <p:nvPr/>
        </p:nvSpPr>
        <p:spPr>
          <a:xfrm>
            <a:off x="6351880"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308860"/>
            <a:ext cx="2545004" cy="1691640"/>
          </a:xfrm>
          <a:prstGeom prst="roundRect">
            <a:avLst>
              <a:gd name="adj" fmla="val 5405"/>
            </a:avLst>
          </a:prstGeom>
          <a:solidFill>
            <a:srgbClr val="F2F5F9"/>
          </a:solidFill>
          <a:ln/>
        </p:spPr>
      </p:sp>
      <p:sp>
        <p:nvSpPr>
          <p:cNvPr id="19" name="Shape 13"/>
          <p:cNvSpPr/>
          <p:nvPr/>
        </p:nvSpPr>
        <p:spPr>
          <a:xfrm>
            <a:off x="10068801" y="2569464"/>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705527"/>
            <a:ext cx="294803" cy="294803"/>
          </a:xfrm>
          <a:prstGeom prst="rect">
            <a:avLst/>
          </a:prstGeom>
        </p:spPr>
      </p:pic>
      <p:sp>
        <p:nvSpPr>
          <p:cNvPr id="21" name="Text 14"/>
          <p:cNvSpPr txBox="1"/>
          <p:nvPr/>
        </p:nvSpPr>
        <p:spPr>
          <a:xfrm>
            <a:off x="9189491"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4256532"/>
            <a:ext cx="2545004" cy="1691640"/>
          </a:xfrm>
          <a:prstGeom prst="roundRect">
            <a:avLst>
              <a:gd name="adj" fmla="val 5405"/>
            </a:avLst>
          </a:prstGeom>
          <a:solidFill>
            <a:srgbClr val="F2F5F9"/>
          </a:solidFill>
          <a:ln/>
        </p:spPr>
      </p:sp>
      <p:sp>
        <p:nvSpPr>
          <p:cNvPr id="23" name="Shape 16"/>
          <p:cNvSpPr/>
          <p:nvPr/>
        </p:nvSpPr>
        <p:spPr>
          <a:xfrm>
            <a:off x="1555966" y="4517136"/>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653199"/>
            <a:ext cx="294803" cy="294803"/>
          </a:xfrm>
          <a:prstGeom prst="rect">
            <a:avLst/>
          </a:prstGeom>
        </p:spPr>
      </p:pic>
      <p:sp>
        <p:nvSpPr>
          <p:cNvPr id="25" name="Text 17"/>
          <p:cNvSpPr txBox="1"/>
          <p:nvPr/>
        </p:nvSpPr>
        <p:spPr>
          <a:xfrm>
            <a:off x="676656"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4256532"/>
            <a:ext cx="2545004" cy="1691640"/>
          </a:xfrm>
          <a:prstGeom prst="roundRect">
            <a:avLst>
              <a:gd name="adj" fmla="val 5405"/>
            </a:avLst>
          </a:prstGeom>
          <a:solidFill>
            <a:srgbClr val="F2F5F9"/>
          </a:solidFill>
          <a:ln/>
        </p:spPr>
      </p:sp>
      <p:sp>
        <p:nvSpPr>
          <p:cNvPr id="27" name="Shape 19"/>
          <p:cNvSpPr/>
          <p:nvPr/>
        </p:nvSpPr>
        <p:spPr>
          <a:xfrm>
            <a:off x="4393578" y="4517136"/>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653199"/>
            <a:ext cx="294803" cy="294803"/>
          </a:xfrm>
          <a:prstGeom prst="rect">
            <a:avLst/>
          </a:prstGeom>
        </p:spPr>
      </p:pic>
      <p:sp>
        <p:nvSpPr>
          <p:cNvPr id="29" name="Text 20"/>
          <p:cNvSpPr txBox="1"/>
          <p:nvPr/>
        </p:nvSpPr>
        <p:spPr>
          <a:xfrm>
            <a:off x="3514268"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4256532"/>
            <a:ext cx="2545004" cy="1691640"/>
          </a:xfrm>
          <a:prstGeom prst="roundRect">
            <a:avLst>
              <a:gd name="adj" fmla="val 5405"/>
            </a:avLst>
          </a:prstGeom>
          <a:solidFill>
            <a:srgbClr val="F2F5F9"/>
          </a:solidFill>
          <a:ln/>
        </p:spPr>
      </p:sp>
      <p:sp>
        <p:nvSpPr>
          <p:cNvPr id="31" name="Shape 22"/>
          <p:cNvSpPr/>
          <p:nvPr/>
        </p:nvSpPr>
        <p:spPr>
          <a:xfrm>
            <a:off x="7231189" y="4517136"/>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653199"/>
            <a:ext cx="294803" cy="294803"/>
          </a:xfrm>
          <a:prstGeom prst="rect">
            <a:avLst/>
          </a:prstGeom>
        </p:spPr>
      </p:pic>
      <p:sp>
        <p:nvSpPr>
          <p:cNvPr id="33" name="Text 23"/>
          <p:cNvSpPr txBox="1"/>
          <p:nvPr/>
        </p:nvSpPr>
        <p:spPr>
          <a:xfrm>
            <a:off x="6351880"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4256532"/>
            <a:ext cx="2545004" cy="1691640"/>
          </a:xfrm>
          <a:prstGeom prst="roundRect">
            <a:avLst>
              <a:gd name="adj" fmla="val 5405"/>
            </a:avLst>
          </a:prstGeom>
          <a:solidFill>
            <a:srgbClr val="F2F5F9"/>
          </a:solidFill>
          <a:ln/>
        </p:spPr>
      </p:sp>
      <p:sp>
        <p:nvSpPr>
          <p:cNvPr id="35" name="Shape 25"/>
          <p:cNvSpPr/>
          <p:nvPr/>
        </p:nvSpPr>
        <p:spPr>
          <a:xfrm>
            <a:off x="10068801" y="4517136"/>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653199"/>
            <a:ext cx="294803" cy="294803"/>
          </a:xfrm>
          <a:prstGeom prst="rect">
            <a:avLst/>
          </a:prstGeom>
        </p:spPr>
      </p:pic>
      <p:sp>
        <p:nvSpPr>
          <p:cNvPr id="37" name="Text 26"/>
          <p:cNvSpPr txBox="1"/>
          <p:nvPr/>
        </p:nvSpPr>
        <p:spPr>
          <a:xfrm>
            <a:off x="9189491"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Text 2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BF1F6"/>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UNA EXPERIENCIA PUEDE DURAR MINUTOS.</a:t>
            </a:r>
            <a:endParaRPr lang="en-US" sz="2700" dirty="0"/>
          </a:p>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UNA MALA REPUTACIÓN</a:t>
            </a:r>
            <a:endParaRPr lang="en-US" sz="2700" dirty="0"/>
          </a:p>
          <a:p>
            <a:pPr algn="ctr" indent="0" marL="0">
              <a:lnSpc>
                <a:spcPct val="118000"/>
              </a:lnSpc>
              <a:buNone/>
            </a:pPr>
            <a:r>
              <a:rPr lang="en-US" sz="3000" b="1" dirty="0">
                <a:solidFill>
                  <a:srgbClr val="3A6EA5"/>
                </a:solidFill>
                <a:latin typeface="Cambria" pitchFamily="34" charset="0"/>
                <a:ea typeface="Cambria" pitchFamily="34" charset="-122"/>
                <a:cs typeface="Cambria" pitchFamily="34" charset="-120"/>
              </a:rPr>
              <a:t>PUEDE DURAR MUCHO MÁS.</a:t>
            </a:r>
            <a:endParaRPr lang="en-US" sz="2700" dirty="0"/>
          </a:p>
        </p:txBody>
      </p:sp>
      <p:sp>
        <p:nvSpPr>
          <p:cNvPr id="6" name="Text 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7" name="Text 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UN ASOCIADO INSATISFECHO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3A6EA5"/>
          </a:solidFill>
          <a:ln/>
        </p:spPr>
      </p:sp>
      <p:pic>
        <p:nvPicPr>
          <p:cNvPr id="7" name="Image 0" descr="/tmp/claude-0/-home-user-riesgo/0ff9ff46-1396-5bd8-b3ac-2280dfbbbc55/scratchpad/work/gen/icons/heart_cra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A6BED7"/>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Ignorar la publicación; no es asunto mío.</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Escuchar, brindar un buen servicio y canalizar el caso internamente.</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874520"/>
          </a:xfrm>
          <a:prstGeom prst="roundRect">
            <a:avLst>
              <a:gd name="adj" fmla="val 4878"/>
            </a:avLst>
          </a:prstGeom>
          <a:solidFill>
            <a:srgbClr val="F2F5F9"/>
          </a:solidFill>
          <a:ln/>
        </p:spPr>
      </p:sp>
      <p:sp>
        <p:nvSpPr>
          <p:cNvPr id="12" name="Text 8"/>
          <p:cNvSpPr txBox="1"/>
          <p:nvPr/>
        </p:nvSpPr>
        <p:spPr>
          <a:xfrm>
            <a:off x="886968" y="3886200"/>
            <a:ext cx="10417759" cy="150876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de manera adecuada protege tanto su confianza como la imagen institucional de la Cooperativa.</a:t>
            </a:r>
            <a:endParaRPr lang="en-US" sz="1350" dirty="0"/>
          </a:p>
        </p:txBody>
      </p:sp>
      <p:sp>
        <p:nvSpPr>
          <p:cNvPr id="13" name="Text 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1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E6F0"/>
                </a:solidFill>
                <a:latin typeface="Cambria" pitchFamily="34" charset="0"/>
                <a:ea typeface="Cambria" pitchFamily="34" charset="-122"/>
                <a:cs typeface="Cambria" pitchFamily="34" charset="-120"/>
              </a:rPr>
              <a:t>05</a:t>
            </a:r>
            <a:endParaRPr lang="en-US" sz="26000" dirty="0"/>
          </a:p>
        </p:txBody>
      </p:sp>
      <p:sp>
        <p:nvSpPr>
          <p:cNvPr id="4" name="Shape 1"/>
          <p:cNvSpPr/>
          <p:nvPr/>
        </p:nvSpPr>
        <p:spPr>
          <a:xfrm>
            <a:off x="10104120" y="-685800"/>
            <a:ext cx="2743200" cy="2743200"/>
          </a:xfrm>
          <a:prstGeom prst="ellipse">
            <a:avLst/>
          </a:prstGeom>
          <a:solidFill>
            <a:srgbClr val="829EC3"/>
          </a:solidFill>
          <a:ln/>
        </p:spPr>
      </p:sp>
      <p:sp>
        <p:nvSpPr>
          <p:cNvPr id="5" name="Shape 2"/>
          <p:cNvSpPr/>
          <p:nvPr/>
        </p:nvSpPr>
        <p:spPr>
          <a:xfrm>
            <a:off x="8001000" y="502920"/>
            <a:ext cx="3657600" cy="5806440"/>
          </a:xfrm>
          <a:prstGeom prst="roundRect">
            <a:avLst>
              <a:gd name="adj" fmla="val 11250"/>
            </a:avLst>
          </a:prstGeom>
          <a:solidFill>
            <a:srgbClr val="1B4F91"/>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hield_warning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warning_triangl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B4F91"/>
                </a:solidFill>
                <a:latin typeface="Calibri" pitchFamily="34" charset="0"/>
                <a:ea typeface="Calibri" pitchFamily="34" charset="-122"/>
                <a:cs typeface="Calibri" pitchFamily="34" charset="-120"/>
              </a:rPr>
              <a:t>TEMA 5</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FRAUDE Y ERRORES:</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APRENDAMOS A PREVENIRLOS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Distinguirlos es el primer paso para prevenirlos.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FRAUDE Y ERRORES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ERROR VS. FRAUDE</a:t>
            </a:r>
            <a:endParaRPr lang="en-US" sz="28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331720"/>
            <a:ext cx="11057839" cy="820674"/>
          </a:xfrm>
          <a:prstGeom prst="roundRect">
            <a:avLst>
              <a:gd name="adj" fmla="val 10028"/>
            </a:avLst>
          </a:prstGeom>
          <a:solidFill>
            <a:srgbClr val="F2F5F9"/>
          </a:solidFill>
          <a:ln/>
        </p:spPr>
      </p:sp>
      <p:sp>
        <p:nvSpPr>
          <p:cNvPr id="7" name="Shape 4"/>
          <p:cNvSpPr/>
          <p:nvPr/>
        </p:nvSpPr>
        <p:spPr>
          <a:xfrm>
            <a:off x="768096" y="2513457"/>
            <a:ext cx="457200" cy="457200"/>
          </a:xfrm>
          <a:prstGeom prst="ellipse">
            <a:avLst/>
          </a:prstGeom>
          <a:solidFill>
            <a:srgbClr val="1B4F91"/>
          </a:solidFill>
          <a:ln/>
        </p:spPr>
      </p:sp>
      <p:sp>
        <p:nvSpPr>
          <p:cNvPr id="8" name="Text 5"/>
          <p:cNvSpPr txBox="1"/>
          <p:nvPr/>
        </p:nvSpPr>
        <p:spPr>
          <a:xfrm>
            <a:off x="768096" y="2504313"/>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1435608" y="2331720"/>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digita mal el monto de un depósito por una distracción.</a:t>
            </a:r>
            <a:endParaRPr lang="en-US" sz="1300" dirty="0"/>
          </a:p>
        </p:txBody>
      </p:sp>
      <p:sp>
        <p:nvSpPr>
          <p:cNvPr id="10" name="Shape 7"/>
          <p:cNvSpPr/>
          <p:nvPr/>
        </p:nvSpPr>
        <p:spPr>
          <a:xfrm>
            <a:off x="9293047" y="2550033"/>
            <a:ext cx="1078992" cy="384048"/>
          </a:xfrm>
          <a:prstGeom prst="roundRect">
            <a:avLst>
              <a:gd name="adj" fmla="val 50000"/>
            </a:avLst>
          </a:prstGeom>
          <a:solidFill>
            <a:srgbClr val="FFFFFF"/>
          </a:solidFill>
          <a:ln/>
        </p:spPr>
      </p:sp>
      <p:sp>
        <p:nvSpPr>
          <p:cNvPr id="11" name="Text 8"/>
          <p:cNvSpPr txBox="1"/>
          <p:nvPr/>
        </p:nvSpPr>
        <p:spPr>
          <a:xfrm>
            <a:off x="9293047" y="2550033"/>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500055" y="2550033"/>
            <a:ext cx="1078992" cy="384048"/>
          </a:xfrm>
          <a:prstGeom prst="roundRect">
            <a:avLst>
              <a:gd name="adj" fmla="val 50000"/>
            </a:avLst>
          </a:prstGeom>
          <a:solidFill>
            <a:srgbClr val="FFFFFF"/>
          </a:solidFill>
          <a:ln/>
        </p:spPr>
      </p:sp>
      <p:sp>
        <p:nvSpPr>
          <p:cNvPr id="13" name="Text 10"/>
          <p:cNvSpPr txBox="1"/>
          <p:nvPr/>
        </p:nvSpPr>
        <p:spPr>
          <a:xfrm>
            <a:off x="10500055" y="2550033"/>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14" name="Shape 11"/>
          <p:cNvSpPr/>
          <p:nvPr/>
        </p:nvSpPr>
        <p:spPr>
          <a:xfrm>
            <a:off x="566928" y="3316986"/>
            <a:ext cx="11057839" cy="820674"/>
          </a:xfrm>
          <a:prstGeom prst="roundRect">
            <a:avLst>
              <a:gd name="adj" fmla="val 10028"/>
            </a:avLst>
          </a:prstGeom>
          <a:solidFill>
            <a:srgbClr val="F2F5F9"/>
          </a:solidFill>
          <a:ln/>
        </p:spPr>
      </p:sp>
      <p:sp>
        <p:nvSpPr>
          <p:cNvPr id="15" name="Shape 12"/>
          <p:cNvSpPr/>
          <p:nvPr/>
        </p:nvSpPr>
        <p:spPr>
          <a:xfrm>
            <a:off x="768096" y="3498723"/>
            <a:ext cx="457200" cy="457200"/>
          </a:xfrm>
          <a:prstGeom prst="ellipse">
            <a:avLst/>
          </a:prstGeom>
          <a:solidFill>
            <a:srgbClr val="1B4F91"/>
          </a:solidFill>
          <a:ln/>
        </p:spPr>
      </p:sp>
      <p:sp>
        <p:nvSpPr>
          <p:cNvPr id="16" name="Text 13"/>
          <p:cNvSpPr txBox="1"/>
          <p:nvPr/>
        </p:nvSpPr>
        <p:spPr>
          <a:xfrm>
            <a:off x="768096" y="3489579"/>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7" name="Text 14"/>
          <p:cNvSpPr txBox="1"/>
          <p:nvPr/>
        </p:nvSpPr>
        <p:spPr>
          <a:xfrm>
            <a:off x="1435608" y="3316986"/>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aprueba trámites usando documentación que sabe que fue alterada.</a:t>
            </a:r>
            <a:endParaRPr lang="en-US" sz="1300" dirty="0"/>
          </a:p>
        </p:txBody>
      </p:sp>
      <p:sp>
        <p:nvSpPr>
          <p:cNvPr id="18" name="Shape 15"/>
          <p:cNvSpPr/>
          <p:nvPr/>
        </p:nvSpPr>
        <p:spPr>
          <a:xfrm>
            <a:off x="9293047" y="3535299"/>
            <a:ext cx="1078992" cy="384048"/>
          </a:xfrm>
          <a:prstGeom prst="roundRect">
            <a:avLst>
              <a:gd name="adj" fmla="val 50000"/>
            </a:avLst>
          </a:prstGeom>
          <a:solidFill>
            <a:srgbClr val="FFFFFF"/>
          </a:solidFill>
          <a:ln/>
        </p:spPr>
      </p:sp>
      <p:sp>
        <p:nvSpPr>
          <p:cNvPr id="19" name="Text 16"/>
          <p:cNvSpPr txBox="1"/>
          <p:nvPr/>
        </p:nvSpPr>
        <p:spPr>
          <a:xfrm>
            <a:off x="9293047" y="3535299"/>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0" name="Shape 17"/>
          <p:cNvSpPr/>
          <p:nvPr/>
        </p:nvSpPr>
        <p:spPr>
          <a:xfrm>
            <a:off x="10500055" y="3535299"/>
            <a:ext cx="1078992" cy="384048"/>
          </a:xfrm>
          <a:prstGeom prst="roundRect">
            <a:avLst>
              <a:gd name="adj" fmla="val 50000"/>
            </a:avLst>
          </a:prstGeom>
          <a:solidFill>
            <a:srgbClr val="FFFFFF"/>
          </a:solidFill>
          <a:ln/>
        </p:spPr>
      </p:sp>
      <p:sp>
        <p:nvSpPr>
          <p:cNvPr id="21" name="Text 18"/>
          <p:cNvSpPr txBox="1"/>
          <p:nvPr/>
        </p:nvSpPr>
        <p:spPr>
          <a:xfrm>
            <a:off x="10500055" y="3535299"/>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22" name="Shape 19"/>
          <p:cNvSpPr/>
          <p:nvPr/>
        </p:nvSpPr>
        <p:spPr>
          <a:xfrm>
            <a:off x="566928" y="4302252"/>
            <a:ext cx="11057839" cy="820674"/>
          </a:xfrm>
          <a:prstGeom prst="roundRect">
            <a:avLst>
              <a:gd name="adj" fmla="val 10028"/>
            </a:avLst>
          </a:prstGeom>
          <a:solidFill>
            <a:srgbClr val="F2F5F9"/>
          </a:solidFill>
          <a:ln/>
        </p:spPr>
      </p:sp>
      <p:sp>
        <p:nvSpPr>
          <p:cNvPr id="23" name="Shape 20"/>
          <p:cNvSpPr/>
          <p:nvPr/>
        </p:nvSpPr>
        <p:spPr>
          <a:xfrm>
            <a:off x="768096" y="4483989"/>
            <a:ext cx="457200" cy="457200"/>
          </a:xfrm>
          <a:prstGeom prst="ellipse">
            <a:avLst/>
          </a:prstGeom>
          <a:solidFill>
            <a:srgbClr val="1B4F91"/>
          </a:solidFill>
          <a:ln/>
        </p:spPr>
      </p:sp>
      <p:sp>
        <p:nvSpPr>
          <p:cNvPr id="24" name="Text 21"/>
          <p:cNvSpPr txBox="1"/>
          <p:nvPr/>
        </p:nvSpPr>
        <p:spPr>
          <a:xfrm>
            <a:off x="768096" y="4474845"/>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5" name="Text 22"/>
          <p:cNvSpPr txBox="1"/>
          <p:nvPr/>
        </p:nvSpPr>
        <p:spPr>
          <a:xfrm>
            <a:off x="1435608" y="4302252"/>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olvida adjuntar un documento por exceso de carga de trabajo.</a:t>
            </a:r>
            <a:endParaRPr lang="en-US" sz="1300" dirty="0"/>
          </a:p>
        </p:txBody>
      </p:sp>
      <p:sp>
        <p:nvSpPr>
          <p:cNvPr id="26" name="Shape 23"/>
          <p:cNvSpPr/>
          <p:nvPr/>
        </p:nvSpPr>
        <p:spPr>
          <a:xfrm>
            <a:off x="9293047" y="4520565"/>
            <a:ext cx="1078992" cy="384048"/>
          </a:xfrm>
          <a:prstGeom prst="roundRect">
            <a:avLst>
              <a:gd name="adj" fmla="val 50000"/>
            </a:avLst>
          </a:prstGeom>
          <a:solidFill>
            <a:srgbClr val="FFFFFF"/>
          </a:solidFill>
          <a:ln/>
        </p:spPr>
      </p:sp>
      <p:sp>
        <p:nvSpPr>
          <p:cNvPr id="27" name="Text 24"/>
          <p:cNvSpPr txBox="1"/>
          <p:nvPr/>
        </p:nvSpPr>
        <p:spPr>
          <a:xfrm>
            <a:off x="9293047" y="4520565"/>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8" name="Shape 25"/>
          <p:cNvSpPr/>
          <p:nvPr/>
        </p:nvSpPr>
        <p:spPr>
          <a:xfrm>
            <a:off x="10500055" y="4520565"/>
            <a:ext cx="1078992" cy="384048"/>
          </a:xfrm>
          <a:prstGeom prst="roundRect">
            <a:avLst>
              <a:gd name="adj" fmla="val 50000"/>
            </a:avLst>
          </a:prstGeom>
          <a:solidFill>
            <a:srgbClr val="FFFFFF"/>
          </a:solidFill>
          <a:ln/>
        </p:spPr>
      </p:sp>
      <p:sp>
        <p:nvSpPr>
          <p:cNvPr id="29" name="Text 26"/>
          <p:cNvSpPr txBox="1"/>
          <p:nvPr/>
        </p:nvSpPr>
        <p:spPr>
          <a:xfrm>
            <a:off x="10500055" y="4520565"/>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287518"/>
            <a:ext cx="11057839" cy="820674"/>
          </a:xfrm>
          <a:prstGeom prst="roundRect">
            <a:avLst>
              <a:gd name="adj" fmla="val 10028"/>
            </a:avLst>
          </a:prstGeom>
          <a:solidFill>
            <a:srgbClr val="F2F5F9"/>
          </a:solidFill>
          <a:ln/>
        </p:spPr>
      </p:sp>
      <p:sp>
        <p:nvSpPr>
          <p:cNvPr id="31" name="Shape 28"/>
          <p:cNvSpPr/>
          <p:nvPr/>
        </p:nvSpPr>
        <p:spPr>
          <a:xfrm>
            <a:off x="768096" y="5469255"/>
            <a:ext cx="457200" cy="457200"/>
          </a:xfrm>
          <a:prstGeom prst="ellipse">
            <a:avLst/>
          </a:prstGeom>
          <a:solidFill>
            <a:srgbClr val="1B4F91"/>
          </a:solidFill>
          <a:ln/>
        </p:spPr>
      </p:sp>
      <p:sp>
        <p:nvSpPr>
          <p:cNvPr id="32" name="Text 29"/>
          <p:cNvSpPr txBox="1"/>
          <p:nvPr/>
        </p:nvSpPr>
        <p:spPr>
          <a:xfrm>
            <a:off x="768096" y="5460111"/>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3" name="Text 30"/>
          <p:cNvSpPr txBox="1"/>
          <p:nvPr/>
        </p:nvSpPr>
        <p:spPr>
          <a:xfrm>
            <a:off x="1435608" y="5287518"/>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oculta una diferencia de efectivo alterando un registro a propósito.</a:t>
            </a:r>
            <a:endParaRPr lang="en-US" sz="1300" dirty="0"/>
          </a:p>
        </p:txBody>
      </p:sp>
      <p:sp>
        <p:nvSpPr>
          <p:cNvPr id="34" name="Shape 31"/>
          <p:cNvSpPr/>
          <p:nvPr/>
        </p:nvSpPr>
        <p:spPr>
          <a:xfrm>
            <a:off x="9293047" y="5505831"/>
            <a:ext cx="1078992" cy="384048"/>
          </a:xfrm>
          <a:prstGeom prst="roundRect">
            <a:avLst>
              <a:gd name="adj" fmla="val 50000"/>
            </a:avLst>
          </a:prstGeom>
          <a:solidFill>
            <a:srgbClr val="FFFFFF"/>
          </a:solidFill>
          <a:ln/>
        </p:spPr>
      </p:sp>
      <p:sp>
        <p:nvSpPr>
          <p:cNvPr id="35" name="Text 32"/>
          <p:cNvSpPr txBox="1"/>
          <p:nvPr/>
        </p:nvSpPr>
        <p:spPr>
          <a:xfrm>
            <a:off x="9293047" y="5505831"/>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10500055" y="5505831"/>
            <a:ext cx="1078992" cy="384048"/>
          </a:xfrm>
          <a:prstGeom prst="roundRect">
            <a:avLst>
              <a:gd name="adj" fmla="val 50000"/>
            </a:avLst>
          </a:prstGeom>
          <a:solidFill>
            <a:srgbClr val="FFFFFF"/>
          </a:solidFill>
          <a:ln/>
        </p:spPr>
      </p:sp>
      <p:sp>
        <p:nvSpPr>
          <p:cNvPr id="37" name="Text 34"/>
          <p:cNvSpPr txBox="1"/>
          <p:nvPr/>
        </p:nvSpPr>
        <p:spPr>
          <a:xfrm>
            <a:off x="10500055" y="5505831"/>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8"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RESPUESTAS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  ·  RESPUESTAS</a:t>
            </a:r>
            <a:endParaRPr lang="en-US" sz="2600" dirty="0"/>
          </a:p>
        </p:txBody>
      </p:sp>
      <p:sp>
        <p:nvSpPr>
          <p:cNvPr id="5" name="Shape 2"/>
          <p:cNvSpPr/>
          <p:nvPr/>
        </p:nvSpPr>
        <p:spPr>
          <a:xfrm>
            <a:off x="566928" y="2148840"/>
            <a:ext cx="11057839" cy="880110"/>
          </a:xfrm>
          <a:prstGeom prst="roundRect">
            <a:avLst>
              <a:gd name="adj" fmla="val 9351"/>
            </a:avLst>
          </a:prstGeom>
          <a:solidFill>
            <a:srgbClr val="F2F5F9"/>
          </a:solidFill>
          <a:ln/>
        </p:spPr>
      </p:sp>
      <p:sp>
        <p:nvSpPr>
          <p:cNvPr id="6" name="Text 3"/>
          <p:cNvSpPr txBox="1"/>
          <p:nvPr/>
        </p:nvSpPr>
        <p:spPr>
          <a:xfrm>
            <a:off x="822960" y="2148840"/>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1.  Digitar mal un monto por distracción: una equivocación sin intención de dañar.</a:t>
            </a:r>
            <a:endParaRPr lang="en-US" sz="1250" dirty="0"/>
          </a:p>
        </p:txBody>
      </p:sp>
      <p:sp>
        <p:nvSpPr>
          <p:cNvPr id="7" name="Shape 4"/>
          <p:cNvSpPr/>
          <p:nvPr/>
        </p:nvSpPr>
        <p:spPr>
          <a:xfrm>
            <a:off x="9887407" y="2378583"/>
            <a:ext cx="1463040" cy="420624"/>
          </a:xfrm>
          <a:prstGeom prst="roundRect">
            <a:avLst>
              <a:gd name="adj" fmla="val 50000"/>
            </a:avLst>
          </a:prstGeom>
          <a:solidFill>
            <a:srgbClr val="F0AD35"/>
          </a:solidFill>
          <a:ln/>
        </p:spPr>
      </p:sp>
      <p:sp>
        <p:nvSpPr>
          <p:cNvPr id="8" name="Text 5"/>
          <p:cNvSpPr txBox="1"/>
          <p:nvPr/>
        </p:nvSpPr>
        <p:spPr>
          <a:xfrm>
            <a:off x="9887407" y="2378583"/>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9" name="Shape 6"/>
          <p:cNvSpPr/>
          <p:nvPr/>
        </p:nvSpPr>
        <p:spPr>
          <a:xfrm>
            <a:off x="566928" y="3175254"/>
            <a:ext cx="11057839" cy="880110"/>
          </a:xfrm>
          <a:prstGeom prst="roundRect">
            <a:avLst>
              <a:gd name="adj" fmla="val 9351"/>
            </a:avLst>
          </a:prstGeom>
          <a:solidFill>
            <a:srgbClr val="F2F5F9"/>
          </a:solidFill>
          <a:ln/>
        </p:spPr>
      </p:sp>
      <p:sp>
        <p:nvSpPr>
          <p:cNvPr id="10" name="Text 7"/>
          <p:cNvSpPr txBox="1"/>
          <p:nvPr/>
        </p:nvSpPr>
        <p:spPr>
          <a:xfrm>
            <a:off x="822960" y="3175254"/>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2.  Aprobar a sabiendas con documentación alterada: acción deliberada para obtener un beneficio.</a:t>
            </a:r>
            <a:endParaRPr lang="en-US" sz="1250" dirty="0"/>
          </a:p>
        </p:txBody>
      </p:sp>
      <p:sp>
        <p:nvSpPr>
          <p:cNvPr id="11" name="Shape 8"/>
          <p:cNvSpPr/>
          <p:nvPr/>
        </p:nvSpPr>
        <p:spPr>
          <a:xfrm>
            <a:off x="9887407" y="3404997"/>
            <a:ext cx="1463040" cy="420624"/>
          </a:xfrm>
          <a:prstGeom prst="roundRect">
            <a:avLst>
              <a:gd name="adj" fmla="val 50000"/>
            </a:avLst>
          </a:prstGeom>
          <a:solidFill>
            <a:srgbClr val="E0392B"/>
          </a:solidFill>
          <a:ln/>
        </p:spPr>
      </p:sp>
      <p:sp>
        <p:nvSpPr>
          <p:cNvPr id="12" name="Text 9"/>
          <p:cNvSpPr txBox="1"/>
          <p:nvPr/>
        </p:nvSpPr>
        <p:spPr>
          <a:xfrm>
            <a:off x="9887407" y="3404997"/>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13" name="Shape 10"/>
          <p:cNvSpPr/>
          <p:nvPr/>
        </p:nvSpPr>
        <p:spPr>
          <a:xfrm>
            <a:off x="566928" y="4201668"/>
            <a:ext cx="11057839" cy="880110"/>
          </a:xfrm>
          <a:prstGeom prst="roundRect">
            <a:avLst>
              <a:gd name="adj" fmla="val 9351"/>
            </a:avLst>
          </a:prstGeom>
          <a:solidFill>
            <a:srgbClr val="F2F5F9"/>
          </a:solidFill>
          <a:ln/>
        </p:spPr>
      </p:sp>
      <p:sp>
        <p:nvSpPr>
          <p:cNvPr id="14" name="Text 11"/>
          <p:cNvSpPr txBox="1"/>
          <p:nvPr/>
        </p:nvSpPr>
        <p:spPr>
          <a:xfrm>
            <a:off x="822960" y="4201668"/>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3.  Olvidar un documento por carga de trabajo: una falla involuntaria del proceso.</a:t>
            </a:r>
            <a:endParaRPr lang="en-US" sz="1250" dirty="0"/>
          </a:p>
        </p:txBody>
      </p:sp>
      <p:sp>
        <p:nvSpPr>
          <p:cNvPr id="15" name="Shape 12"/>
          <p:cNvSpPr/>
          <p:nvPr/>
        </p:nvSpPr>
        <p:spPr>
          <a:xfrm>
            <a:off x="9887407" y="4431411"/>
            <a:ext cx="1463040" cy="420624"/>
          </a:xfrm>
          <a:prstGeom prst="roundRect">
            <a:avLst>
              <a:gd name="adj" fmla="val 50000"/>
            </a:avLst>
          </a:prstGeom>
          <a:solidFill>
            <a:srgbClr val="F0AD35"/>
          </a:solidFill>
          <a:ln/>
        </p:spPr>
      </p:sp>
      <p:sp>
        <p:nvSpPr>
          <p:cNvPr id="16" name="Text 13"/>
          <p:cNvSpPr txBox="1"/>
          <p:nvPr/>
        </p:nvSpPr>
        <p:spPr>
          <a:xfrm>
            <a:off x="9887407" y="4431411"/>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17" name="Shape 14"/>
          <p:cNvSpPr/>
          <p:nvPr/>
        </p:nvSpPr>
        <p:spPr>
          <a:xfrm>
            <a:off x="566928" y="5228082"/>
            <a:ext cx="11057839" cy="880110"/>
          </a:xfrm>
          <a:prstGeom prst="roundRect">
            <a:avLst>
              <a:gd name="adj" fmla="val 9351"/>
            </a:avLst>
          </a:prstGeom>
          <a:solidFill>
            <a:srgbClr val="F2F5F9"/>
          </a:solidFill>
          <a:ln/>
        </p:spPr>
      </p:sp>
      <p:sp>
        <p:nvSpPr>
          <p:cNvPr id="18" name="Text 15"/>
          <p:cNvSpPr txBox="1"/>
          <p:nvPr/>
        </p:nvSpPr>
        <p:spPr>
          <a:xfrm>
            <a:off x="822960" y="5228082"/>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4.  Ocultar una diferencia alterando un registro a propósito: intención de encubrir.</a:t>
            </a:r>
            <a:endParaRPr lang="en-US" sz="1250" dirty="0"/>
          </a:p>
        </p:txBody>
      </p:sp>
      <p:sp>
        <p:nvSpPr>
          <p:cNvPr id="19" name="Shape 16"/>
          <p:cNvSpPr/>
          <p:nvPr/>
        </p:nvSpPr>
        <p:spPr>
          <a:xfrm>
            <a:off x="9887407" y="5457825"/>
            <a:ext cx="1463040" cy="420624"/>
          </a:xfrm>
          <a:prstGeom prst="roundRect">
            <a:avLst>
              <a:gd name="adj" fmla="val 50000"/>
            </a:avLst>
          </a:prstGeom>
          <a:solidFill>
            <a:srgbClr val="E0392B"/>
          </a:solidFill>
          <a:ln/>
        </p:spPr>
      </p:sp>
      <p:sp>
        <p:nvSpPr>
          <p:cNvPr id="20" name="Text 17"/>
          <p:cNvSpPr txBox="1"/>
          <p:nvPr/>
        </p:nvSpPr>
        <p:spPr>
          <a:xfrm>
            <a:off x="9887407" y="5457825"/>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21"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PREVENCIÓN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SEÑALES DE ALERTA Y QUÉ PUEDO HACER</a:t>
            </a:r>
            <a:endParaRPr lang="en-US" sz="2800" dirty="0"/>
          </a:p>
        </p:txBody>
      </p:sp>
      <p:sp>
        <p:nvSpPr>
          <p:cNvPr id="5" name="Shape 2"/>
          <p:cNvSpPr/>
          <p:nvPr/>
        </p:nvSpPr>
        <p:spPr>
          <a:xfrm>
            <a:off x="566928" y="2825496"/>
            <a:ext cx="2545004" cy="2286000"/>
          </a:xfrm>
          <a:prstGeom prst="roundRect">
            <a:avLst>
              <a:gd name="adj" fmla="val 4000"/>
            </a:avLst>
          </a:prstGeom>
          <a:solidFill>
            <a:srgbClr val="F2F5F9"/>
          </a:solidFill>
          <a:ln/>
        </p:spPr>
      </p:sp>
      <p:sp>
        <p:nvSpPr>
          <p:cNvPr id="6" name="Shape 3"/>
          <p:cNvSpPr/>
          <p:nvPr/>
        </p:nvSpPr>
        <p:spPr>
          <a:xfrm>
            <a:off x="1555966" y="2990088"/>
            <a:ext cx="566928" cy="566928"/>
          </a:xfrm>
          <a:prstGeom prst="ellipse">
            <a:avLst/>
          </a:prstGeom>
          <a:solidFill>
            <a:srgbClr val="E0392B"/>
          </a:solidFill>
          <a:ln/>
        </p:spPr>
      </p:sp>
      <p:pic>
        <p:nvPicPr>
          <p:cNvPr id="7" name="Image 0" descr="/tmp/claude-0/-home-user-riesgo/0ff9ff46-1396-5bd8-b3ac-2280dfbbbc55/scratchpad/work/gen/icons/eye_slash_white.png">    </p:cNvPr>
          <p:cNvPicPr>
            <a:picLocks noChangeAspect="1"/>
          </p:cNvPicPr>
          <p:nvPr/>
        </p:nvPicPr>
        <p:blipFill>
          <a:blip r:embed="rId1"/>
          <a:stretch>
            <a:fillRect/>
          </a:stretch>
        </p:blipFill>
        <p:spPr>
          <a:xfrm>
            <a:off x="1692029" y="3126151"/>
            <a:ext cx="294803" cy="294803"/>
          </a:xfrm>
          <a:prstGeom prst="rect">
            <a:avLst/>
          </a:prstGeom>
        </p:spPr>
      </p:pic>
      <p:sp>
        <p:nvSpPr>
          <p:cNvPr id="8" name="Text 4"/>
          <p:cNvSpPr txBox="1"/>
          <p:nvPr/>
        </p:nvSpPr>
        <p:spPr>
          <a:xfrm>
            <a:off x="676656"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9" name="Text 5"/>
          <p:cNvSpPr txBox="1"/>
          <p:nvPr/>
        </p:nvSpPr>
        <p:spPr>
          <a:xfrm>
            <a:off x="731520"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Negativa a documentar o mostrar un proceso</a:t>
            </a:r>
            <a:endParaRPr lang="en-US" sz="1100" dirty="0"/>
          </a:p>
        </p:txBody>
      </p:sp>
      <p:sp>
        <p:nvSpPr>
          <p:cNvPr id="10" name="Shape 6"/>
          <p:cNvSpPr/>
          <p:nvPr/>
        </p:nvSpPr>
        <p:spPr>
          <a:xfrm>
            <a:off x="3404540" y="2825496"/>
            <a:ext cx="2545004" cy="2286000"/>
          </a:xfrm>
          <a:prstGeom prst="roundRect">
            <a:avLst>
              <a:gd name="adj" fmla="val 4000"/>
            </a:avLst>
          </a:prstGeom>
          <a:solidFill>
            <a:srgbClr val="F2F5F9"/>
          </a:solidFill>
          <a:ln/>
        </p:spPr>
      </p:sp>
      <p:sp>
        <p:nvSpPr>
          <p:cNvPr id="11" name="Shape 7"/>
          <p:cNvSpPr/>
          <p:nvPr/>
        </p:nvSpPr>
        <p:spPr>
          <a:xfrm>
            <a:off x="4393578" y="2990088"/>
            <a:ext cx="566928" cy="566928"/>
          </a:xfrm>
          <a:prstGeom prst="ellipse">
            <a:avLst/>
          </a:prstGeom>
          <a:solidFill>
            <a:srgbClr val="E0392B"/>
          </a:solidFill>
          <a:ln/>
        </p:spPr>
      </p:sp>
      <p:pic>
        <p:nvPicPr>
          <p:cNvPr id="12" name="Image 1" descr="/tmp/claude-0/-home-user-riesgo/0ff9ff46-1396-5bd8-b3ac-2280dfbbbc55/scratchpad/work/gen/icons/warning_triangle_white.png">    </p:cNvPr>
          <p:cNvPicPr>
            <a:picLocks noChangeAspect="1"/>
          </p:cNvPicPr>
          <p:nvPr/>
        </p:nvPicPr>
        <p:blipFill>
          <a:blip r:embed="rId2"/>
          <a:stretch>
            <a:fillRect/>
          </a:stretch>
        </p:blipFill>
        <p:spPr>
          <a:xfrm>
            <a:off x="4529640" y="3126151"/>
            <a:ext cx="294803" cy="294803"/>
          </a:xfrm>
          <a:prstGeom prst="rect">
            <a:avLst/>
          </a:prstGeom>
        </p:spPr>
      </p:pic>
      <p:sp>
        <p:nvSpPr>
          <p:cNvPr id="13" name="Text 8"/>
          <p:cNvSpPr txBox="1"/>
          <p:nvPr/>
        </p:nvSpPr>
        <p:spPr>
          <a:xfrm>
            <a:off x="3514268"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14" name="Text 9"/>
          <p:cNvSpPr txBox="1"/>
          <p:nvPr/>
        </p:nvSpPr>
        <p:spPr>
          <a:xfrm>
            <a:off x="3569132"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Presión inusual por aprobar algo muy rápido</a:t>
            </a:r>
            <a:endParaRPr lang="en-US" sz="1100" dirty="0"/>
          </a:p>
        </p:txBody>
      </p:sp>
      <p:sp>
        <p:nvSpPr>
          <p:cNvPr id="15" name="Shape 10"/>
          <p:cNvSpPr/>
          <p:nvPr/>
        </p:nvSpPr>
        <p:spPr>
          <a:xfrm>
            <a:off x="6242152" y="2825496"/>
            <a:ext cx="2545004" cy="2286000"/>
          </a:xfrm>
          <a:prstGeom prst="roundRect">
            <a:avLst>
              <a:gd name="adj" fmla="val 4000"/>
            </a:avLst>
          </a:prstGeom>
          <a:solidFill>
            <a:srgbClr val="F2F5F9"/>
          </a:solidFill>
          <a:ln/>
        </p:spPr>
      </p:sp>
      <p:sp>
        <p:nvSpPr>
          <p:cNvPr id="16" name="Shape 11"/>
          <p:cNvSpPr/>
          <p:nvPr/>
        </p:nvSpPr>
        <p:spPr>
          <a:xfrm>
            <a:off x="7231189" y="2990088"/>
            <a:ext cx="566928" cy="566928"/>
          </a:xfrm>
          <a:prstGeom prst="ellipse">
            <a:avLst/>
          </a:prstGeom>
          <a:solidFill>
            <a:srgbClr val="2FAE60"/>
          </a:solidFill>
          <a:ln/>
        </p:spPr>
      </p:sp>
      <p:pic>
        <p:nvPicPr>
          <p:cNvPr id="17" name="Image 2" descr="/tmp/claude-0/-home-user-riesgo/0ff9ff46-1396-5bd8-b3ac-2280dfbbbc55/scratchpad/work/gen/icons/form_white.png">    </p:cNvPr>
          <p:cNvPicPr>
            <a:picLocks noChangeAspect="1"/>
          </p:cNvPicPr>
          <p:nvPr/>
        </p:nvPicPr>
        <p:blipFill>
          <a:blip r:embed="rId3"/>
          <a:stretch>
            <a:fillRect/>
          </a:stretch>
        </p:blipFill>
        <p:spPr>
          <a:xfrm>
            <a:off x="7367252" y="3126151"/>
            <a:ext cx="294803" cy="294803"/>
          </a:xfrm>
          <a:prstGeom prst="rect">
            <a:avLst/>
          </a:prstGeom>
        </p:spPr>
      </p:pic>
      <p:sp>
        <p:nvSpPr>
          <p:cNvPr id="18" name="Text 12"/>
          <p:cNvSpPr txBox="1"/>
          <p:nvPr/>
        </p:nvSpPr>
        <p:spPr>
          <a:xfrm>
            <a:off x="6351880"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19" name="Text 13"/>
          <p:cNvSpPr txBox="1"/>
          <p:nvPr/>
        </p:nvSpPr>
        <p:spPr>
          <a:xfrm>
            <a:off x="6406744"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Documenta lo que observas con hechos, no suposiciones</a:t>
            </a:r>
            <a:endParaRPr lang="en-US" sz="1100" dirty="0"/>
          </a:p>
        </p:txBody>
      </p:sp>
      <p:sp>
        <p:nvSpPr>
          <p:cNvPr id="20" name="Shape 14"/>
          <p:cNvSpPr/>
          <p:nvPr/>
        </p:nvSpPr>
        <p:spPr>
          <a:xfrm>
            <a:off x="9079763" y="2825496"/>
            <a:ext cx="2545004" cy="2286000"/>
          </a:xfrm>
          <a:prstGeom prst="roundRect">
            <a:avLst>
              <a:gd name="adj" fmla="val 4000"/>
            </a:avLst>
          </a:prstGeom>
          <a:solidFill>
            <a:srgbClr val="F2F5F9"/>
          </a:solidFill>
          <a:ln/>
        </p:spPr>
      </p:sp>
      <p:sp>
        <p:nvSpPr>
          <p:cNvPr id="21" name="Shape 15"/>
          <p:cNvSpPr/>
          <p:nvPr/>
        </p:nvSpPr>
        <p:spPr>
          <a:xfrm>
            <a:off x="10068801" y="2990088"/>
            <a:ext cx="566928" cy="566928"/>
          </a:xfrm>
          <a:prstGeom prst="ellipse">
            <a:avLst/>
          </a:prstGeom>
          <a:solidFill>
            <a:srgbClr val="2FAE60"/>
          </a:solidFill>
          <a:ln/>
        </p:spPr>
      </p:sp>
      <p:pic>
        <p:nvPicPr>
          <p:cNvPr id="22" name="Image 3" descr="/tmp/claude-0/-home-user-riesgo/0ff9ff46-1396-5bd8-b3ac-2280dfbbbc55/scratchpad/work/gen/icons/megaphone_white.png">    </p:cNvPr>
          <p:cNvPicPr>
            <a:picLocks noChangeAspect="1"/>
          </p:cNvPicPr>
          <p:nvPr/>
        </p:nvPicPr>
        <p:blipFill>
          <a:blip r:embed="rId4"/>
          <a:stretch>
            <a:fillRect/>
          </a:stretch>
        </p:blipFill>
        <p:spPr>
          <a:xfrm>
            <a:off x="10204864" y="3126151"/>
            <a:ext cx="294803" cy="294803"/>
          </a:xfrm>
          <a:prstGeom prst="rect">
            <a:avLst/>
          </a:prstGeom>
        </p:spPr>
      </p:pic>
      <p:sp>
        <p:nvSpPr>
          <p:cNvPr id="23" name="Text 16"/>
          <p:cNvSpPr txBox="1"/>
          <p:nvPr/>
        </p:nvSpPr>
        <p:spPr>
          <a:xfrm>
            <a:off x="9189491"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24" name="Text 17"/>
          <p:cNvSpPr txBox="1"/>
          <p:nvPr/>
        </p:nvSpPr>
        <p:spPr>
          <a:xfrm>
            <a:off x="9244355"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Repórtalo por el canal institucional; nunca lo encubras</a:t>
            </a:r>
            <a:endParaRPr lang="en-US" sz="1100" dirty="0"/>
          </a:p>
        </p:txBody>
      </p:sp>
      <p:sp>
        <p:nvSpPr>
          <p:cNvPr id="25"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8F3"/>
                </a:solidFill>
                <a:latin typeface="Cambria" pitchFamily="34" charset="0"/>
                <a:ea typeface="Cambria" pitchFamily="34" charset="-122"/>
                <a:cs typeface="Cambria" pitchFamily="34" charset="-120"/>
              </a:rPr>
              <a:t>06</a:t>
            </a:r>
            <a:endParaRPr lang="en-US" sz="26000" dirty="0"/>
          </a:p>
        </p:txBody>
      </p:sp>
      <p:sp>
        <p:nvSpPr>
          <p:cNvPr id="4" name="Shape 1"/>
          <p:cNvSpPr/>
          <p:nvPr/>
        </p:nvSpPr>
        <p:spPr>
          <a:xfrm>
            <a:off x="10104120" y="-685800"/>
            <a:ext cx="2743200" cy="2743200"/>
          </a:xfrm>
          <a:prstGeom prst="ellipse">
            <a:avLst/>
          </a:prstGeom>
          <a:solidFill>
            <a:srgbClr val="8CA6D0"/>
          </a:solidFill>
          <a:ln/>
        </p:spPr>
      </p:sp>
      <p:sp>
        <p:nvSpPr>
          <p:cNvPr id="5" name="Shape 2"/>
          <p:cNvSpPr/>
          <p:nvPr/>
        </p:nvSpPr>
        <p:spPr>
          <a:xfrm>
            <a:off x="8001000" y="502920"/>
            <a:ext cx="3657600" cy="5806440"/>
          </a:xfrm>
          <a:prstGeom prst="roundRect">
            <a:avLst>
              <a:gd name="adj" fmla="val 11250"/>
            </a:avLst>
          </a:prstGeom>
          <a:solidFill>
            <a:srgbClr val="2E5EAA"/>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bank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coins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5EAA"/>
                </a:solidFill>
                <a:latin typeface="Calibri" pitchFamily="34" charset="0"/>
                <a:ea typeface="Calibri" pitchFamily="34" charset="-122"/>
                <a:cs typeface="Calibri" pitchFamily="34" charset="-120"/>
              </a:rPr>
              <a:t>TEMA 6</a:t>
            </a:r>
            <a:endParaRPr lang="en-US" sz="1500" dirty="0"/>
          </a:p>
        </p:txBody>
      </p:sp>
      <p:sp>
        <p:nvSpPr>
          <p:cNvPr id="11" name="Text 6"/>
          <p:cNvSpPr txBox="1"/>
          <p:nvPr/>
        </p:nvSpPr>
        <p:spPr>
          <a:xfrm>
            <a:off x="566928" y="2697480"/>
            <a:ext cx="7223760" cy="1737360"/>
          </a:xfrm>
          <a:prstGeom prst="rect">
            <a:avLst/>
          </a:prstGeom>
          <a:noFill/>
          <a:ln/>
        </p:spPr>
        <p:txBody>
          <a:bodyPr wrap="square" lIns="0" tIns="0" rIns="0" bIns="0" rtlCol="0" anchor="t"/>
          <a:lstStyle/>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EL RIESGO CREDITICIO NO ES SOLO</a:t>
            </a:r>
            <a:endParaRPr lang="en-US" sz="2500" dirty="0"/>
          </a:p>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RESPONSABILIDAD DE CRÉDITOS</a:t>
            </a:r>
            <a:endParaRPr lang="en-US" sz="2500" dirty="0"/>
          </a:p>
        </p:txBody>
      </p:sp>
      <p:sp>
        <p:nvSpPr>
          <p:cNvPr id="12" name="Text 7"/>
          <p:cNvSpPr txBox="1"/>
          <p:nvPr/>
        </p:nvSpPr>
        <p:spPr>
          <a:xfrm>
            <a:off x="566928" y="44348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El crédito es un proceso. El riesgo puede aparecer en cualquier etapa.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 PROCESO, VARIAS ETAPAS</a:t>
            </a:r>
            <a:endParaRPr lang="en-US" sz="2700" dirty="0"/>
          </a:p>
        </p:txBody>
      </p:sp>
      <p:sp>
        <p:nvSpPr>
          <p:cNvPr id="5" name="Shape 2"/>
          <p:cNvSpPr/>
          <p:nvPr/>
        </p:nvSpPr>
        <p:spPr>
          <a:xfrm>
            <a:off x="1514818" y="2514600"/>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731770"/>
            <a:ext cx="434340" cy="434340"/>
          </a:xfrm>
          <a:prstGeom prst="rect">
            <a:avLst/>
          </a:prstGeom>
        </p:spPr>
      </p:pic>
      <p:sp>
        <p:nvSpPr>
          <p:cNvPr id="7" name="Text 3"/>
          <p:cNvSpPr txBox="1"/>
          <p:nvPr/>
        </p:nvSpPr>
        <p:spPr>
          <a:xfrm>
            <a:off x="62179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802636"/>
            <a:ext cx="292608" cy="292608"/>
          </a:xfrm>
          <a:prstGeom prst="rect">
            <a:avLst/>
          </a:prstGeom>
        </p:spPr>
      </p:pic>
      <p:sp>
        <p:nvSpPr>
          <p:cNvPr id="9" name="Shape 4"/>
          <p:cNvSpPr/>
          <p:nvPr/>
        </p:nvSpPr>
        <p:spPr>
          <a:xfrm>
            <a:off x="4279278" y="2514600"/>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731770"/>
            <a:ext cx="434340" cy="434340"/>
          </a:xfrm>
          <a:prstGeom prst="rect">
            <a:avLst/>
          </a:prstGeom>
        </p:spPr>
      </p:pic>
      <p:sp>
        <p:nvSpPr>
          <p:cNvPr id="11" name="Text 5"/>
          <p:cNvSpPr txBox="1"/>
          <p:nvPr/>
        </p:nvSpPr>
        <p:spPr>
          <a:xfrm>
            <a:off x="338625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802636"/>
            <a:ext cx="292608" cy="292608"/>
          </a:xfrm>
          <a:prstGeom prst="rect">
            <a:avLst/>
          </a:prstGeom>
        </p:spPr>
      </p:pic>
      <p:sp>
        <p:nvSpPr>
          <p:cNvPr id="13" name="Shape 6"/>
          <p:cNvSpPr/>
          <p:nvPr/>
        </p:nvSpPr>
        <p:spPr>
          <a:xfrm>
            <a:off x="7043738" y="2514600"/>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731770"/>
            <a:ext cx="434340" cy="434340"/>
          </a:xfrm>
          <a:prstGeom prst="rect">
            <a:avLst/>
          </a:prstGeom>
        </p:spPr>
      </p:pic>
      <p:sp>
        <p:nvSpPr>
          <p:cNvPr id="15" name="Text 7"/>
          <p:cNvSpPr txBox="1"/>
          <p:nvPr/>
        </p:nvSpPr>
        <p:spPr>
          <a:xfrm>
            <a:off x="615071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802636"/>
            <a:ext cx="292608" cy="292608"/>
          </a:xfrm>
          <a:prstGeom prst="rect">
            <a:avLst/>
          </a:prstGeom>
        </p:spPr>
      </p:pic>
      <p:sp>
        <p:nvSpPr>
          <p:cNvPr id="17" name="Shape 8"/>
          <p:cNvSpPr/>
          <p:nvPr/>
        </p:nvSpPr>
        <p:spPr>
          <a:xfrm>
            <a:off x="9808197" y="2514600"/>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731770"/>
            <a:ext cx="434340" cy="434340"/>
          </a:xfrm>
          <a:prstGeom prst="rect">
            <a:avLst/>
          </a:prstGeom>
        </p:spPr>
      </p:pic>
      <p:sp>
        <p:nvSpPr>
          <p:cNvPr id="19" name="Text 9"/>
          <p:cNvSpPr txBox="1"/>
          <p:nvPr/>
        </p:nvSpPr>
        <p:spPr>
          <a:xfrm>
            <a:off x="8915171"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913632"/>
            <a:ext cx="292608" cy="292608"/>
          </a:xfrm>
          <a:prstGeom prst="rect">
            <a:avLst/>
          </a:prstGeom>
        </p:spPr>
      </p:pic>
      <p:sp>
        <p:nvSpPr>
          <p:cNvPr id="21" name="Shape 10"/>
          <p:cNvSpPr/>
          <p:nvPr/>
        </p:nvSpPr>
        <p:spPr>
          <a:xfrm>
            <a:off x="1514818" y="4242816"/>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459986"/>
            <a:ext cx="434340" cy="434340"/>
          </a:xfrm>
          <a:prstGeom prst="rect">
            <a:avLst/>
          </a:prstGeom>
        </p:spPr>
      </p:pic>
      <p:sp>
        <p:nvSpPr>
          <p:cNvPr id="23" name="Text 11"/>
          <p:cNvSpPr txBox="1"/>
          <p:nvPr/>
        </p:nvSpPr>
        <p:spPr>
          <a:xfrm>
            <a:off x="62179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530852"/>
            <a:ext cx="292608" cy="292608"/>
          </a:xfrm>
          <a:prstGeom prst="rect">
            <a:avLst/>
          </a:prstGeom>
        </p:spPr>
      </p:pic>
      <p:sp>
        <p:nvSpPr>
          <p:cNvPr id="25" name="Shape 12"/>
          <p:cNvSpPr/>
          <p:nvPr/>
        </p:nvSpPr>
        <p:spPr>
          <a:xfrm>
            <a:off x="4279278" y="4242816"/>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459986"/>
            <a:ext cx="434340" cy="434340"/>
          </a:xfrm>
          <a:prstGeom prst="rect">
            <a:avLst/>
          </a:prstGeom>
        </p:spPr>
      </p:pic>
      <p:sp>
        <p:nvSpPr>
          <p:cNvPr id="27" name="Text 13"/>
          <p:cNvSpPr txBox="1"/>
          <p:nvPr/>
        </p:nvSpPr>
        <p:spPr>
          <a:xfrm>
            <a:off x="338625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530852"/>
            <a:ext cx="292608" cy="292608"/>
          </a:xfrm>
          <a:prstGeom prst="rect">
            <a:avLst/>
          </a:prstGeom>
        </p:spPr>
      </p:pic>
      <p:sp>
        <p:nvSpPr>
          <p:cNvPr id="29" name="Shape 14"/>
          <p:cNvSpPr/>
          <p:nvPr/>
        </p:nvSpPr>
        <p:spPr>
          <a:xfrm>
            <a:off x="7043738" y="4242816"/>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459986"/>
            <a:ext cx="434340" cy="434340"/>
          </a:xfrm>
          <a:prstGeom prst="rect">
            <a:avLst/>
          </a:prstGeom>
        </p:spPr>
      </p:pic>
      <p:sp>
        <p:nvSpPr>
          <p:cNvPr id="31" name="Text 15"/>
          <p:cNvSpPr txBox="1"/>
          <p:nvPr/>
        </p:nvSpPr>
        <p:spPr>
          <a:xfrm>
            <a:off x="615071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530852"/>
            <a:ext cx="292608" cy="292608"/>
          </a:xfrm>
          <a:prstGeom prst="rect">
            <a:avLst/>
          </a:prstGeom>
        </p:spPr>
      </p:pic>
      <p:sp>
        <p:nvSpPr>
          <p:cNvPr id="33" name="Shape 16"/>
          <p:cNvSpPr/>
          <p:nvPr/>
        </p:nvSpPr>
        <p:spPr>
          <a:xfrm>
            <a:off x="9808197" y="4242816"/>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459986"/>
            <a:ext cx="434340" cy="434340"/>
          </a:xfrm>
          <a:prstGeom prst="rect">
            <a:avLst/>
          </a:prstGeom>
        </p:spPr>
      </p:pic>
      <p:sp>
        <p:nvSpPr>
          <p:cNvPr id="35" name="Text 17"/>
          <p:cNvSpPr txBox="1"/>
          <p:nvPr/>
        </p:nvSpPr>
        <p:spPr>
          <a:xfrm>
            <a:off x="8915171"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AEFF7"/>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1965960"/>
            <a:ext cx="10332720" cy="365760"/>
          </a:xfrm>
          <a:prstGeom prst="rect">
            <a:avLst/>
          </a:prstGeom>
          <a:noFill/>
          <a:ln/>
        </p:spPr>
        <p:txBody>
          <a:bodyPr wrap="square" lIns="0" tIns="0" rIns="0" bIns="0" rtlCol="0" anchor="ctr"/>
          <a:lstStyle/>
          <a:p>
            <a:pPr algn="ctr" indent="0" marL="0">
              <a:buNone/>
            </a:pPr>
            <a:r>
              <a:rPr lang="en-US" sz="1400" b="1" spc="300" kern="0" dirty="0">
                <a:solidFill>
                  <a:srgbClr val="2E5EAA"/>
                </a:solidFill>
                <a:latin typeface="Calibri" pitchFamily="34" charset="0"/>
                <a:ea typeface="Calibri" pitchFamily="34" charset="-122"/>
                <a:cs typeface="Calibri" pitchFamily="34" charset="-120"/>
              </a:rPr>
              <a:t>¿EN QUÉ PARTE DEL PROCESO PUEDE APARECER UN RIESGO?</a:t>
            </a:r>
            <a:endParaRPr lang="en-US" sz="1400" dirty="0"/>
          </a:p>
        </p:txBody>
      </p:sp>
      <p:sp>
        <p:nvSpPr>
          <p:cNvPr id="6" name="Text 3"/>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4400" b="1" dirty="0">
                <a:solidFill>
                  <a:srgbClr val="2E5EAA"/>
                </a:solidFill>
                <a:latin typeface="Cambria" pitchFamily="34" charset="0"/>
                <a:ea typeface="Cambria" pitchFamily="34" charset="-122"/>
                <a:cs typeface="Cambria" pitchFamily="34" charset="-120"/>
              </a:rPr>
              <a:t>EN TODAS.</a:t>
            </a:r>
            <a:endParaRPr lang="en-US" sz="4400" dirty="0"/>
          </a:p>
        </p:txBody>
      </p:sp>
      <p:sp>
        <p:nvSpPr>
          <p:cNvPr id="7" name="Text 4"/>
          <p:cNvSpPr txBox="1"/>
          <p:nvPr/>
        </p:nvSpPr>
        <p:spPr>
          <a:xfrm>
            <a:off x="1463040" y="5257800"/>
            <a:ext cx="9262872" cy="548640"/>
          </a:xfrm>
          <a:prstGeom prst="rect">
            <a:avLst/>
          </a:prstGeom>
          <a:noFill/>
          <a:ln/>
        </p:spPr>
        <p:txBody>
          <a:bodyPr wrap="square" lIns="0" tIns="0" rIns="0" bIns="0" rtlCol="0" anchor="ctr"/>
          <a:lstStyle/>
          <a:p>
            <a:pPr algn="ctr" indent="0" marL="0">
              <a:buNone/>
            </a:pPr>
            <a:r>
              <a:rPr lang="en-US" sz="1400" i="1" dirty="0">
                <a:solidFill>
                  <a:srgbClr val="5B6B82"/>
                </a:solidFill>
                <a:latin typeface="Calibri" pitchFamily="34" charset="0"/>
                <a:ea typeface="Calibri" pitchFamily="34" charset="-122"/>
                <a:cs typeface="Calibri" pitchFamily="34" charset="-120"/>
              </a:rPr>
              <a:t>Un dato mal verificado, un documento incompleto o una alerta ignorada puede aparecer en cualquier etapa del proceso.</a:t>
            </a:r>
            <a:endParaRPr lang="en-US" sz="1400" dirty="0"/>
          </a:p>
        </p:txBody>
      </p:sp>
      <p:sp>
        <p:nvSpPr>
          <p:cNvPr id="8" name="Text 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9" name="Text 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CORRESPONSABILIDAD</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CORRESPONSABILIDAD, NO SEÑALAMIENTO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bien el riesgo crediticio depende de todos los que participan en el proceso, no solo del área de Créditos:</a:t>
            </a:r>
            <a:endParaRPr lang="en-US" sz="1500" dirty="0"/>
          </a:p>
        </p:txBody>
      </p:sp>
      <p:sp>
        <p:nvSpPr>
          <p:cNvPr id="6" name="Shape 3"/>
          <p:cNvSpPr/>
          <p:nvPr/>
        </p:nvSpPr>
        <p:spPr>
          <a:xfrm>
            <a:off x="566928" y="2985516"/>
            <a:ext cx="3490874" cy="2286000"/>
          </a:xfrm>
          <a:prstGeom prst="roundRect">
            <a:avLst>
              <a:gd name="adj" fmla="val 4000"/>
            </a:avLst>
          </a:prstGeom>
          <a:solidFill>
            <a:srgbClr val="F2F5F9"/>
          </a:solidFill>
          <a:ln/>
        </p:spPr>
      </p:sp>
      <p:sp>
        <p:nvSpPr>
          <p:cNvPr id="7" name="Shape 4"/>
          <p:cNvSpPr/>
          <p:nvPr/>
        </p:nvSpPr>
        <p:spPr>
          <a:xfrm>
            <a:off x="1983181" y="3150108"/>
            <a:ext cx="658368" cy="658368"/>
          </a:xfrm>
          <a:prstGeom prst="ellipse">
            <a:avLst/>
          </a:prstGeom>
          <a:solidFill>
            <a:srgbClr val="2E5EAA"/>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2141190" y="3308116"/>
            <a:ext cx="342351" cy="342351"/>
          </a:xfrm>
          <a:prstGeom prst="rect">
            <a:avLst/>
          </a:prstGeom>
        </p:spPr>
      </p:pic>
      <p:sp>
        <p:nvSpPr>
          <p:cNvPr id="9" name="Text 5"/>
          <p:cNvSpPr txBox="1"/>
          <p:nvPr/>
        </p:nvSpPr>
        <p:spPr>
          <a:xfrm>
            <a:off x="676656"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Corresponsabilidad</a:t>
            </a:r>
            <a:endParaRPr lang="en-US" sz="1400" dirty="0"/>
          </a:p>
        </p:txBody>
      </p:sp>
      <p:sp>
        <p:nvSpPr>
          <p:cNvPr id="10" name="Text 6"/>
          <p:cNvSpPr txBox="1"/>
          <p:nvPr/>
        </p:nvSpPr>
        <p:spPr>
          <a:xfrm>
            <a:off x="731520"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Cada etapa del proceso depende de la calidad del trabajo de la etapa anterior.</a:t>
            </a:r>
            <a:endParaRPr lang="en-US" sz="1100" dirty="0"/>
          </a:p>
        </p:txBody>
      </p:sp>
      <p:sp>
        <p:nvSpPr>
          <p:cNvPr id="11" name="Shape 7"/>
          <p:cNvSpPr/>
          <p:nvPr/>
        </p:nvSpPr>
        <p:spPr>
          <a:xfrm>
            <a:off x="4350410" y="2985516"/>
            <a:ext cx="3490874" cy="2286000"/>
          </a:xfrm>
          <a:prstGeom prst="roundRect">
            <a:avLst>
              <a:gd name="adj" fmla="val 4000"/>
            </a:avLst>
          </a:prstGeom>
          <a:solidFill>
            <a:srgbClr val="F2F5F9"/>
          </a:solidFill>
          <a:ln/>
        </p:spPr>
      </p:sp>
      <p:sp>
        <p:nvSpPr>
          <p:cNvPr id="12" name="Shape 8"/>
          <p:cNvSpPr/>
          <p:nvPr/>
        </p:nvSpPr>
        <p:spPr>
          <a:xfrm>
            <a:off x="5766664" y="3150108"/>
            <a:ext cx="658368" cy="658368"/>
          </a:xfrm>
          <a:prstGeom prst="ellipse">
            <a:avLst/>
          </a:prstGeom>
          <a:solidFill>
            <a:srgbClr val="2E5EAA"/>
          </a:solidFill>
          <a:ln/>
        </p:spPr>
      </p:sp>
      <p:pic>
        <p:nvPicPr>
          <p:cNvPr id="13" name="Image 1" descr="/tmp/claude-0/-home-user-riesgo/0ff9ff46-1396-5bd8-b3ac-2280dfbbbc55/scratchpad/work/gen/icons/shield_check_white.png">    </p:cNvPr>
          <p:cNvPicPr>
            <a:picLocks noChangeAspect="1"/>
          </p:cNvPicPr>
          <p:nvPr/>
        </p:nvPicPr>
        <p:blipFill>
          <a:blip r:embed="rId2"/>
          <a:stretch>
            <a:fillRect/>
          </a:stretch>
        </p:blipFill>
        <p:spPr>
          <a:xfrm>
            <a:off x="5924672" y="3308116"/>
            <a:ext cx="342351" cy="342351"/>
          </a:xfrm>
          <a:prstGeom prst="rect">
            <a:avLst/>
          </a:prstGeom>
        </p:spPr>
      </p:pic>
      <p:sp>
        <p:nvSpPr>
          <p:cNvPr id="14" name="Text 9"/>
          <p:cNvSpPr txBox="1"/>
          <p:nvPr/>
        </p:nvSpPr>
        <p:spPr>
          <a:xfrm>
            <a:off x="4460138"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Prevención</a:t>
            </a:r>
            <a:endParaRPr lang="en-US" sz="1400" dirty="0"/>
          </a:p>
        </p:txBody>
      </p:sp>
      <p:sp>
        <p:nvSpPr>
          <p:cNvPr id="15" name="Text 10"/>
          <p:cNvSpPr txBox="1"/>
          <p:nvPr/>
        </p:nvSpPr>
        <p:spPr>
          <a:xfrm>
            <a:off x="4515002"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Verificar la información a tiempo evita problemas costosos más adelante.</a:t>
            </a:r>
            <a:endParaRPr lang="en-US" sz="1100" dirty="0"/>
          </a:p>
        </p:txBody>
      </p:sp>
      <p:sp>
        <p:nvSpPr>
          <p:cNvPr id="16" name="Shape 11"/>
          <p:cNvSpPr/>
          <p:nvPr/>
        </p:nvSpPr>
        <p:spPr>
          <a:xfrm>
            <a:off x="8133893" y="2985516"/>
            <a:ext cx="3490874" cy="2286000"/>
          </a:xfrm>
          <a:prstGeom prst="roundRect">
            <a:avLst>
              <a:gd name="adj" fmla="val 4000"/>
            </a:avLst>
          </a:prstGeom>
          <a:solidFill>
            <a:srgbClr val="F2F5F9"/>
          </a:solidFill>
          <a:ln/>
        </p:spPr>
      </p:sp>
      <p:sp>
        <p:nvSpPr>
          <p:cNvPr id="17" name="Shape 12"/>
          <p:cNvSpPr/>
          <p:nvPr/>
        </p:nvSpPr>
        <p:spPr>
          <a:xfrm>
            <a:off x="9550146" y="3150108"/>
            <a:ext cx="658368" cy="658368"/>
          </a:xfrm>
          <a:prstGeom prst="ellipse">
            <a:avLst/>
          </a:prstGeom>
          <a:solidFill>
            <a:srgbClr val="2E5EAA"/>
          </a:solidFill>
          <a:ln/>
        </p:spPr>
      </p:sp>
      <p:pic>
        <p:nvPicPr>
          <p:cNvPr id="18" name="Image 2" descr="/tmp/claude-0/-home-user-riesgo/0ff9ff46-1396-5bd8-b3ac-2280dfbbbc55/scratchpad/work/gen/icons/medal_white.png">    </p:cNvPr>
          <p:cNvPicPr>
            <a:picLocks noChangeAspect="1"/>
          </p:cNvPicPr>
          <p:nvPr/>
        </p:nvPicPr>
        <p:blipFill>
          <a:blip r:embed="rId3"/>
          <a:stretch>
            <a:fillRect/>
          </a:stretch>
        </p:blipFill>
        <p:spPr>
          <a:xfrm>
            <a:off x="9708154" y="3308116"/>
            <a:ext cx="342351" cy="342351"/>
          </a:xfrm>
          <a:prstGeom prst="rect">
            <a:avLst/>
          </a:prstGeom>
        </p:spPr>
      </p:pic>
      <p:sp>
        <p:nvSpPr>
          <p:cNvPr id="19" name="Text 13"/>
          <p:cNvSpPr txBox="1"/>
          <p:nvPr/>
        </p:nvSpPr>
        <p:spPr>
          <a:xfrm>
            <a:off x="8243621"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Calidad del proceso</a:t>
            </a:r>
            <a:endParaRPr lang="en-US" sz="1400" dirty="0"/>
          </a:p>
        </p:txBody>
      </p:sp>
      <p:sp>
        <p:nvSpPr>
          <p:cNvPr id="20" name="Text 14"/>
          <p:cNvSpPr txBox="1"/>
          <p:nvPr/>
        </p:nvSpPr>
        <p:spPr>
          <a:xfrm>
            <a:off x="8298485"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 expediente completo y verificado protege al asociado y a la Cooperativa.</a:t>
            </a:r>
            <a:endParaRPr lang="en-US" sz="1100" dirty="0"/>
          </a:p>
        </p:txBody>
      </p:sp>
      <p:sp>
        <p:nvSpPr>
          <p:cNvPr id="21"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0F5F7"/>
                </a:solidFill>
                <a:latin typeface="Cambria" pitchFamily="34" charset="0"/>
                <a:ea typeface="Cambria" pitchFamily="34" charset="-122"/>
                <a:cs typeface="Cambria" pitchFamily="34" charset="-120"/>
              </a:rPr>
              <a:t>07</a:t>
            </a:r>
            <a:endParaRPr lang="en-US" sz="26000" dirty="0"/>
          </a:p>
        </p:txBody>
      </p:sp>
      <p:sp>
        <p:nvSpPr>
          <p:cNvPr id="4" name="Shape 1"/>
          <p:cNvSpPr/>
          <p:nvPr/>
        </p:nvSpPr>
        <p:spPr>
          <a:xfrm>
            <a:off x="10104120" y="-685800"/>
            <a:ext cx="2743200" cy="2743200"/>
          </a:xfrm>
          <a:prstGeom prst="ellipse">
            <a:avLst/>
          </a:prstGeom>
          <a:solidFill>
            <a:srgbClr val="84D7E1"/>
          </a:solidFill>
          <a:ln/>
        </p:spPr>
      </p:sp>
      <p:sp>
        <p:nvSpPr>
          <p:cNvPr id="5" name="Shape 2"/>
          <p:cNvSpPr/>
          <p:nvPr/>
        </p:nvSpPr>
        <p:spPr>
          <a:xfrm>
            <a:off x="8001000" y="502920"/>
            <a:ext cx="3657600" cy="5806440"/>
          </a:xfrm>
          <a:prstGeom prst="roundRect">
            <a:avLst>
              <a:gd name="adj" fmla="val 11250"/>
            </a:avLst>
          </a:prstGeom>
          <a:solidFill>
            <a:srgbClr val="1FB6C9"/>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handshak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people_group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FB6C9"/>
                </a:solidFill>
                <a:latin typeface="Calibri" pitchFamily="34" charset="0"/>
                <a:ea typeface="Calibri" pitchFamily="34" charset="-122"/>
                <a:cs typeface="Calibri" pitchFamily="34" charset="-120"/>
              </a:rPr>
              <a:t>TEMA 7</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¿QUIÉN ES RESPONSABLE DE</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GESTIONAR LOS RIESGOS?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Gestionar riesgos es parte de nuestro trabajo.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GESTIONAR RIESGOS ES PARTE DE NUESTRO TRABAJO</a:t>
            </a:r>
            <a:endParaRPr lang="en-US" sz="2400" dirty="0"/>
          </a:p>
        </p:txBody>
      </p:sp>
      <p:sp>
        <p:nvSpPr>
          <p:cNvPr id="5" name="Shape 2"/>
          <p:cNvSpPr/>
          <p:nvPr/>
        </p:nvSpPr>
        <p:spPr>
          <a:xfrm>
            <a:off x="566928" y="1965960"/>
            <a:ext cx="11057839" cy="566928"/>
          </a:xfrm>
          <a:prstGeom prst="roundRect">
            <a:avLst>
              <a:gd name="adj" fmla="val 16129"/>
            </a:avLst>
          </a:prstGeom>
          <a:solidFill>
            <a:srgbClr val="1FB6C9"/>
          </a:solidFill>
          <a:ln/>
        </p:spPr>
      </p:sp>
      <p:sp>
        <p:nvSpPr>
          <p:cNvPr id="6" name="Text 3"/>
          <p:cNvSpPr txBox="1"/>
          <p:nvPr/>
        </p:nvSpPr>
        <p:spPr>
          <a:xfrm>
            <a:off x="566928" y="196596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7" name="Shape 4"/>
          <p:cNvSpPr/>
          <p:nvPr/>
        </p:nvSpPr>
        <p:spPr>
          <a:xfrm>
            <a:off x="1213683" y="3680460"/>
            <a:ext cx="713232" cy="713232"/>
          </a:xfrm>
          <a:prstGeom prst="ellipse">
            <a:avLst/>
          </a:prstGeom>
          <a:solidFill>
            <a:srgbClr val="133B6C"/>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391991" y="3858768"/>
            <a:ext cx="356616" cy="356616"/>
          </a:xfrm>
          <a:prstGeom prst="rect">
            <a:avLst/>
          </a:prstGeom>
        </p:spPr>
      </p:pic>
      <p:sp>
        <p:nvSpPr>
          <p:cNvPr id="9" name="Text 5"/>
          <p:cNvSpPr txBox="1"/>
          <p:nvPr/>
        </p:nvSpPr>
        <p:spPr>
          <a:xfrm>
            <a:off x="612648"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0" name="Shape 6"/>
          <p:cNvSpPr/>
          <p:nvPr/>
        </p:nvSpPr>
        <p:spPr>
          <a:xfrm>
            <a:off x="3476457" y="3680460"/>
            <a:ext cx="713232" cy="713232"/>
          </a:xfrm>
          <a:prstGeom prst="ellipse">
            <a:avLst/>
          </a:prstGeom>
          <a:solidFill>
            <a:srgbClr val="133B6C"/>
          </a:solidFill>
          <a:ln/>
        </p:spPr>
      </p:sp>
      <p:pic>
        <p:nvPicPr>
          <p:cNvPr id="11" name="Image 1" descr="/tmp/claude-0/-home-user-riesgo/0ff9ff46-1396-5bd8-b3ac-2280dfbbbc55/scratchpad/work/gen/icons/briefcase_white.png">    </p:cNvPr>
          <p:cNvPicPr>
            <a:picLocks noChangeAspect="1"/>
          </p:cNvPicPr>
          <p:nvPr/>
        </p:nvPicPr>
        <p:blipFill>
          <a:blip r:embed="rId2"/>
          <a:stretch>
            <a:fillRect/>
          </a:stretch>
        </p:blipFill>
        <p:spPr>
          <a:xfrm>
            <a:off x="3654765" y="3858768"/>
            <a:ext cx="356616" cy="356616"/>
          </a:xfrm>
          <a:prstGeom prst="rect">
            <a:avLst/>
          </a:prstGeom>
        </p:spPr>
      </p:pic>
      <p:sp>
        <p:nvSpPr>
          <p:cNvPr id="12" name="Text 7"/>
          <p:cNvSpPr txBox="1"/>
          <p:nvPr/>
        </p:nvSpPr>
        <p:spPr>
          <a:xfrm>
            <a:off x="2875422"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3" name="Shape 8"/>
          <p:cNvSpPr/>
          <p:nvPr/>
        </p:nvSpPr>
        <p:spPr>
          <a:xfrm>
            <a:off x="5739232" y="3680460"/>
            <a:ext cx="713232" cy="713232"/>
          </a:xfrm>
          <a:prstGeom prst="ellipse">
            <a:avLst/>
          </a:prstGeom>
          <a:solidFill>
            <a:srgbClr val="133B6C"/>
          </a:solidFill>
          <a:ln/>
        </p:spPr>
      </p:sp>
      <p:pic>
        <p:nvPicPr>
          <p:cNvPr id="14" name="Image 2" descr="/tmp/claude-0/-home-user-riesgo/0ff9ff46-1396-5bd8-b3ac-2280dfbbbc55/scratchpad/work/gen/icons/crown_white.png">    </p:cNvPr>
          <p:cNvPicPr>
            <a:picLocks noChangeAspect="1"/>
          </p:cNvPicPr>
          <p:nvPr/>
        </p:nvPicPr>
        <p:blipFill>
          <a:blip r:embed="rId3"/>
          <a:stretch>
            <a:fillRect/>
          </a:stretch>
        </p:blipFill>
        <p:spPr>
          <a:xfrm>
            <a:off x="5917540" y="3858768"/>
            <a:ext cx="356616" cy="356616"/>
          </a:xfrm>
          <a:prstGeom prst="rect">
            <a:avLst/>
          </a:prstGeom>
        </p:spPr>
      </p:pic>
      <p:sp>
        <p:nvSpPr>
          <p:cNvPr id="15" name="Text 9"/>
          <p:cNvSpPr txBox="1"/>
          <p:nvPr/>
        </p:nvSpPr>
        <p:spPr>
          <a:xfrm>
            <a:off x="5138196"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6" name="Shape 10"/>
          <p:cNvSpPr/>
          <p:nvPr/>
        </p:nvSpPr>
        <p:spPr>
          <a:xfrm>
            <a:off x="8002006" y="3680460"/>
            <a:ext cx="713232" cy="713232"/>
          </a:xfrm>
          <a:prstGeom prst="ellipse">
            <a:avLst/>
          </a:prstGeom>
          <a:solidFill>
            <a:srgbClr val="133B6C"/>
          </a:solidFill>
          <a:ln/>
        </p:spPr>
      </p:sp>
      <p:pic>
        <p:nvPicPr>
          <p:cNvPr id="17" name="Image 3" descr="/tmp/claude-0/-home-user-riesgo/0ff9ff46-1396-5bd8-b3ac-2280dfbbbc55/scratchpad/work/gen/icons/shield_check_white.png">    </p:cNvPr>
          <p:cNvPicPr>
            <a:picLocks noChangeAspect="1"/>
          </p:cNvPicPr>
          <p:nvPr/>
        </p:nvPicPr>
        <p:blipFill>
          <a:blip r:embed="rId4"/>
          <a:stretch>
            <a:fillRect/>
          </a:stretch>
        </p:blipFill>
        <p:spPr>
          <a:xfrm>
            <a:off x="8180314" y="3858768"/>
            <a:ext cx="356616" cy="356616"/>
          </a:xfrm>
          <a:prstGeom prst="rect">
            <a:avLst/>
          </a:prstGeom>
        </p:spPr>
      </p:pic>
      <p:sp>
        <p:nvSpPr>
          <p:cNvPr id="18" name="Text 11"/>
          <p:cNvSpPr txBox="1"/>
          <p:nvPr/>
        </p:nvSpPr>
        <p:spPr>
          <a:xfrm>
            <a:off x="7400971"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19" name="Shape 12"/>
          <p:cNvSpPr/>
          <p:nvPr/>
        </p:nvSpPr>
        <p:spPr>
          <a:xfrm>
            <a:off x="10264780" y="3680460"/>
            <a:ext cx="713232" cy="713232"/>
          </a:xfrm>
          <a:prstGeom prst="ellipse">
            <a:avLst/>
          </a:prstGeom>
          <a:solidFill>
            <a:srgbClr val="133B6C"/>
          </a:solidFill>
          <a:ln/>
        </p:spPr>
      </p:sp>
      <p:pic>
        <p:nvPicPr>
          <p:cNvPr id="20"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3858768"/>
            <a:ext cx="356616" cy="356616"/>
          </a:xfrm>
          <a:prstGeom prst="rect">
            <a:avLst/>
          </a:prstGeom>
        </p:spPr>
      </p:pic>
      <p:sp>
        <p:nvSpPr>
          <p:cNvPr id="21" name="Text 13"/>
          <p:cNvSpPr txBox="1"/>
          <p:nvPr/>
        </p:nvSpPr>
        <p:spPr>
          <a:xfrm>
            <a:off x="9663745"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2" name="Text 14"/>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3"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DF2F2"/>
                </a:solidFill>
                <a:latin typeface="Cambria" pitchFamily="34" charset="0"/>
                <a:ea typeface="Cambria" pitchFamily="34" charset="-122"/>
                <a:cs typeface="Cambria" pitchFamily="34" charset="-120"/>
              </a:rPr>
              <a:t>08</a:t>
            </a:r>
            <a:endParaRPr lang="en-US" sz="26000" dirty="0"/>
          </a:p>
        </p:txBody>
      </p:sp>
      <p:sp>
        <p:nvSpPr>
          <p:cNvPr id="4" name="Shape 1"/>
          <p:cNvSpPr/>
          <p:nvPr/>
        </p:nvSpPr>
        <p:spPr>
          <a:xfrm>
            <a:off x="10104120" y="-685800"/>
            <a:ext cx="2743200" cy="2743200"/>
          </a:xfrm>
          <a:prstGeom prst="ellipse">
            <a:avLst/>
          </a:prstGeom>
          <a:solidFill>
            <a:srgbClr val="7ACECB"/>
          </a:solidFill>
          <a:ln/>
        </p:spPr>
      </p:sp>
      <p:sp>
        <p:nvSpPr>
          <p:cNvPr id="5" name="Shape 2"/>
          <p:cNvSpPr/>
          <p:nvPr/>
        </p:nvSpPr>
        <p:spPr>
          <a:xfrm>
            <a:off x="8001000" y="502920"/>
            <a:ext cx="3657600" cy="5806440"/>
          </a:xfrm>
          <a:prstGeom prst="roundRect">
            <a:avLst>
              <a:gd name="adj" fmla="val 11250"/>
            </a:avLst>
          </a:prstGeom>
          <a:solidFill>
            <a:srgbClr val="0EA5A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lob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leaf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0EA5A0"/>
                </a:solidFill>
                <a:latin typeface="Calibri" pitchFamily="34" charset="0"/>
                <a:ea typeface="Calibri" pitchFamily="34" charset="-122"/>
                <a:cs typeface="Calibri" pitchFamily="34" charset="-120"/>
              </a:rPr>
              <a:t>TEMA 8</a:t>
            </a:r>
            <a:endParaRPr lang="en-US" sz="1500" dirty="0"/>
          </a:p>
        </p:txBody>
      </p:sp>
      <p:sp>
        <p:nvSpPr>
          <p:cNvPr id="11" name="Text 6"/>
          <p:cNvSpPr txBox="1"/>
          <p:nvPr/>
        </p:nvSpPr>
        <p:spPr>
          <a:xfrm>
            <a:off x="566928" y="2697480"/>
            <a:ext cx="7223760" cy="1965960"/>
          </a:xfrm>
          <a:prstGeom prst="rect">
            <a:avLst/>
          </a:prstGeom>
          <a:noFill/>
          <a:ln/>
        </p:spPr>
        <p:txBody>
          <a:bodyPr wrap="square" lIns="0" tIns="0" rIns="0" bIns="0" rtlCol="0" anchor="t"/>
          <a:lstStyle/>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RIESGOS AMBIENTALES Y SOCIALES:</a:t>
            </a:r>
            <a:endParaRPr lang="en-US" sz="2200" dirty="0"/>
          </a:p>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TAMBIÉN SON RIESGOS FINANCIEROS</a:t>
            </a:r>
            <a:endParaRPr lang="en-US" sz="2200" dirty="0"/>
          </a:p>
        </p:txBody>
      </p:sp>
      <p:sp>
        <p:nvSpPr>
          <p:cNvPr id="12" name="Text 7"/>
          <p:cNvSpPr txBox="1"/>
          <p:nvPr/>
        </p:nvSpPr>
        <p:spPr>
          <a:xfrm>
            <a:off x="566928" y="46634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Ambiente + sociedad + negocio + finanzas: una misma cadena.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DE LO AMBIENTAL A LO FINANCIERO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UNA CADENA DE IMPACTO</a:t>
            </a:r>
            <a:endParaRPr lang="en-US" sz="27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146932" y="3447288"/>
            <a:ext cx="1051560" cy="105156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09822" y="3710178"/>
            <a:ext cx="525780" cy="525780"/>
          </a:xfrm>
          <a:prstGeom prst="rect">
            <a:avLst/>
          </a:prstGeom>
        </p:spPr>
      </p:pic>
      <p:sp>
        <p:nvSpPr>
          <p:cNvPr id="8" name="Text 4"/>
          <p:cNvSpPr txBox="1"/>
          <p:nvPr/>
        </p:nvSpPr>
        <p:spPr>
          <a:xfrm>
            <a:off x="621792"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Evento ambiental o social</a:t>
            </a:r>
            <a:endParaRPr lang="en-US" sz="130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32192" y="3826764"/>
            <a:ext cx="292608" cy="292608"/>
          </a:xfrm>
          <a:prstGeom prst="rect">
            <a:avLst/>
          </a:prstGeom>
        </p:spPr>
      </p:pic>
      <p:sp>
        <p:nvSpPr>
          <p:cNvPr id="10" name="Shape 5"/>
          <p:cNvSpPr/>
          <p:nvPr/>
        </p:nvSpPr>
        <p:spPr>
          <a:xfrm>
            <a:off x="3358500" y="3447288"/>
            <a:ext cx="1051560" cy="105156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21390" y="3710178"/>
            <a:ext cx="525780" cy="525780"/>
          </a:xfrm>
          <a:prstGeom prst="rect">
            <a:avLst/>
          </a:prstGeom>
        </p:spPr>
      </p:pic>
      <p:sp>
        <p:nvSpPr>
          <p:cNvPr id="12" name="Text 6"/>
          <p:cNvSpPr txBox="1"/>
          <p:nvPr/>
        </p:nvSpPr>
        <p:spPr>
          <a:xfrm>
            <a:off x="2833360"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Afecta a personas y operaciones</a:t>
            </a:r>
            <a:endParaRPr lang="en-US" sz="130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43760" y="3826764"/>
            <a:ext cx="292608" cy="292608"/>
          </a:xfrm>
          <a:prstGeom prst="rect">
            <a:avLst/>
          </a:prstGeom>
        </p:spPr>
      </p:pic>
      <p:sp>
        <p:nvSpPr>
          <p:cNvPr id="14" name="Shape 7"/>
          <p:cNvSpPr/>
          <p:nvPr/>
        </p:nvSpPr>
        <p:spPr>
          <a:xfrm>
            <a:off x="5570068" y="3447288"/>
            <a:ext cx="1051560" cy="105156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32958" y="3710178"/>
            <a:ext cx="525780" cy="525780"/>
          </a:xfrm>
          <a:prstGeom prst="rect">
            <a:avLst/>
          </a:prstGeom>
        </p:spPr>
      </p:pic>
      <p:sp>
        <p:nvSpPr>
          <p:cNvPr id="16" name="Text 8"/>
          <p:cNvSpPr txBox="1"/>
          <p:nvPr/>
        </p:nvSpPr>
        <p:spPr>
          <a:xfrm>
            <a:off x="5044928"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Interrupción o deterioro</a:t>
            </a:r>
            <a:endParaRPr lang="en-US" sz="130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55328" y="3826764"/>
            <a:ext cx="292608" cy="292608"/>
          </a:xfrm>
          <a:prstGeom prst="rect">
            <a:avLst/>
          </a:prstGeom>
        </p:spPr>
      </p:pic>
      <p:sp>
        <p:nvSpPr>
          <p:cNvPr id="18" name="Shape 9"/>
          <p:cNvSpPr/>
          <p:nvPr/>
        </p:nvSpPr>
        <p:spPr>
          <a:xfrm>
            <a:off x="7781635" y="3447288"/>
            <a:ext cx="1051560" cy="105156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44525" y="3710178"/>
            <a:ext cx="525780" cy="525780"/>
          </a:xfrm>
          <a:prstGeom prst="rect">
            <a:avLst/>
          </a:prstGeom>
        </p:spPr>
      </p:pic>
      <p:sp>
        <p:nvSpPr>
          <p:cNvPr id="20" name="Text 10"/>
          <p:cNvSpPr txBox="1"/>
          <p:nvPr/>
        </p:nvSpPr>
        <p:spPr>
          <a:xfrm>
            <a:off x="7256496"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Impacto económico</a:t>
            </a:r>
            <a:endParaRPr lang="en-US" sz="130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66895" y="3826764"/>
            <a:ext cx="292608" cy="292608"/>
          </a:xfrm>
          <a:prstGeom prst="rect">
            <a:avLst/>
          </a:prstGeom>
        </p:spPr>
      </p:pic>
      <p:sp>
        <p:nvSpPr>
          <p:cNvPr id="22" name="Shape 11"/>
          <p:cNvSpPr/>
          <p:nvPr/>
        </p:nvSpPr>
        <p:spPr>
          <a:xfrm>
            <a:off x="9993203" y="3447288"/>
            <a:ext cx="1051560" cy="105156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256093" y="3710178"/>
            <a:ext cx="525780" cy="525780"/>
          </a:xfrm>
          <a:prstGeom prst="rect">
            <a:avLst/>
          </a:prstGeom>
        </p:spPr>
      </p:pic>
      <p:sp>
        <p:nvSpPr>
          <p:cNvPr id="24" name="Text 12"/>
          <p:cNvSpPr txBox="1"/>
          <p:nvPr/>
        </p:nvSpPr>
        <p:spPr>
          <a:xfrm>
            <a:off x="9468063"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Impacto financiero</a:t>
            </a:r>
            <a:endParaRPr lang="en-US" sz="1300" dirty="0"/>
          </a:p>
        </p:txBody>
      </p:sp>
      <p:sp>
        <p:nvSpPr>
          <p:cNvPr id="25" name="Text 1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EJEMPLOS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EVENTOS QUE PUEDEN AFECTARNOS</a:t>
            </a:r>
            <a:endParaRPr lang="en-US" sz="2800" dirty="0"/>
          </a:p>
        </p:txBody>
      </p:sp>
      <p:sp>
        <p:nvSpPr>
          <p:cNvPr id="5" name="Shape 2"/>
          <p:cNvSpPr/>
          <p:nvPr/>
        </p:nvSpPr>
        <p:spPr>
          <a:xfrm>
            <a:off x="566928" y="3122676"/>
            <a:ext cx="1977481" cy="1691640"/>
          </a:xfrm>
          <a:prstGeom prst="roundRect">
            <a:avLst>
              <a:gd name="adj" fmla="val 5405"/>
            </a:avLst>
          </a:prstGeom>
          <a:solidFill>
            <a:srgbClr val="F2F5F9"/>
          </a:solidFill>
          <a:ln/>
        </p:spPr>
      </p:sp>
      <p:sp>
        <p:nvSpPr>
          <p:cNvPr id="6" name="Shape 3"/>
          <p:cNvSpPr/>
          <p:nvPr/>
        </p:nvSpPr>
        <p:spPr>
          <a:xfrm>
            <a:off x="1272205" y="3383280"/>
            <a:ext cx="566928" cy="566928"/>
          </a:xfrm>
          <a:prstGeom prst="ellipse">
            <a:avLst/>
          </a:prstGeom>
          <a:solidFill>
            <a:srgbClr val="0EA5A0"/>
          </a:solidFill>
          <a:ln/>
        </p:spPr>
      </p:sp>
      <p:pic>
        <p:nvPicPr>
          <p:cNvPr id="7" name="Image 0" descr="/tmp/claude-0/-home-user-riesgo/0ff9ff46-1396-5bd8-b3ac-2280dfbbbc55/scratchpad/work/gen/icons/earthquake_white.png">    </p:cNvPr>
          <p:cNvPicPr>
            <a:picLocks noChangeAspect="1"/>
          </p:cNvPicPr>
          <p:nvPr/>
        </p:nvPicPr>
        <p:blipFill>
          <a:blip r:embed="rId1"/>
          <a:stretch>
            <a:fillRect/>
          </a:stretch>
        </p:blipFill>
        <p:spPr>
          <a:xfrm>
            <a:off x="1408267" y="3519343"/>
            <a:ext cx="294803" cy="294803"/>
          </a:xfrm>
          <a:prstGeom prst="rect">
            <a:avLst/>
          </a:prstGeom>
        </p:spPr>
      </p:pic>
      <p:sp>
        <p:nvSpPr>
          <p:cNvPr id="8" name="Text 4"/>
          <p:cNvSpPr txBox="1"/>
          <p:nvPr/>
        </p:nvSpPr>
        <p:spPr>
          <a:xfrm>
            <a:off x="676656"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Terremotos</a:t>
            </a:r>
            <a:endParaRPr lang="en-US" sz="1250" dirty="0"/>
          </a:p>
        </p:txBody>
      </p:sp>
      <p:sp>
        <p:nvSpPr>
          <p:cNvPr id="9" name="Shape 5"/>
          <p:cNvSpPr/>
          <p:nvPr/>
        </p:nvSpPr>
        <p:spPr>
          <a:xfrm>
            <a:off x="2837017" y="3122676"/>
            <a:ext cx="1977481" cy="1691640"/>
          </a:xfrm>
          <a:prstGeom prst="roundRect">
            <a:avLst>
              <a:gd name="adj" fmla="val 5405"/>
            </a:avLst>
          </a:prstGeom>
          <a:solidFill>
            <a:srgbClr val="F2F5F9"/>
          </a:solidFill>
          <a:ln/>
        </p:spPr>
      </p:sp>
      <p:sp>
        <p:nvSpPr>
          <p:cNvPr id="10" name="Shape 6"/>
          <p:cNvSpPr/>
          <p:nvPr/>
        </p:nvSpPr>
        <p:spPr>
          <a:xfrm>
            <a:off x="3542294" y="3383280"/>
            <a:ext cx="566928" cy="566928"/>
          </a:xfrm>
          <a:prstGeom prst="ellipse">
            <a:avLst/>
          </a:prstGeom>
          <a:solidFill>
            <a:srgbClr val="0EA5A0"/>
          </a:solidFill>
          <a:ln/>
        </p:spPr>
      </p:sp>
      <p:pic>
        <p:nvPicPr>
          <p:cNvPr id="11" name="Image 1" descr="/tmp/claude-0/-home-user-riesgo/0ff9ff46-1396-5bd8-b3ac-2280dfbbbc55/scratchpad/work/gen/icons/flood_white.png">    </p:cNvPr>
          <p:cNvPicPr>
            <a:picLocks noChangeAspect="1"/>
          </p:cNvPicPr>
          <p:nvPr/>
        </p:nvPicPr>
        <p:blipFill>
          <a:blip r:embed="rId2"/>
          <a:stretch>
            <a:fillRect/>
          </a:stretch>
        </p:blipFill>
        <p:spPr>
          <a:xfrm>
            <a:off x="3678357" y="3519343"/>
            <a:ext cx="294803" cy="294803"/>
          </a:xfrm>
          <a:prstGeom prst="rect">
            <a:avLst/>
          </a:prstGeom>
        </p:spPr>
      </p:pic>
      <p:sp>
        <p:nvSpPr>
          <p:cNvPr id="12" name="Text 7"/>
          <p:cNvSpPr txBox="1"/>
          <p:nvPr/>
        </p:nvSpPr>
        <p:spPr>
          <a:xfrm>
            <a:off x="294674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Inundaciones</a:t>
            </a:r>
            <a:endParaRPr lang="en-US" sz="1250" dirty="0"/>
          </a:p>
        </p:txBody>
      </p:sp>
      <p:sp>
        <p:nvSpPr>
          <p:cNvPr id="13" name="Shape 8"/>
          <p:cNvSpPr/>
          <p:nvPr/>
        </p:nvSpPr>
        <p:spPr>
          <a:xfrm>
            <a:off x="5107107" y="3122676"/>
            <a:ext cx="1977481" cy="1691640"/>
          </a:xfrm>
          <a:prstGeom prst="roundRect">
            <a:avLst>
              <a:gd name="adj" fmla="val 5405"/>
            </a:avLst>
          </a:prstGeom>
          <a:solidFill>
            <a:srgbClr val="F2F5F9"/>
          </a:solidFill>
          <a:ln/>
        </p:spPr>
      </p:sp>
      <p:sp>
        <p:nvSpPr>
          <p:cNvPr id="14" name="Shape 9"/>
          <p:cNvSpPr/>
          <p:nvPr/>
        </p:nvSpPr>
        <p:spPr>
          <a:xfrm>
            <a:off x="5812384" y="3383280"/>
            <a:ext cx="566928" cy="566928"/>
          </a:xfrm>
          <a:prstGeom prst="ellipse">
            <a:avLst/>
          </a:prstGeom>
          <a:solidFill>
            <a:srgbClr val="0EA5A0"/>
          </a:solidFill>
          <a:ln/>
        </p:spPr>
      </p:sp>
      <p:pic>
        <p:nvPicPr>
          <p:cNvPr id="15" name="Image 2" descr="/tmp/claude-0/-home-user-riesgo/0ff9ff46-1396-5bd8-b3ac-2280dfbbbc55/scratchpad/work/gen/icons/wind_white.png">    </p:cNvPr>
          <p:cNvPicPr>
            <a:picLocks noChangeAspect="1"/>
          </p:cNvPicPr>
          <p:nvPr/>
        </p:nvPicPr>
        <p:blipFill>
          <a:blip r:embed="rId3"/>
          <a:stretch>
            <a:fillRect/>
          </a:stretch>
        </p:blipFill>
        <p:spPr>
          <a:xfrm>
            <a:off x="5948446" y="3519343"/>
            <a:ext cx="294803" cy="294803"/>
          </a:xfrm>
          <a:prstGeom prst="rect">
            <a:avLst/>
          </a:prstGeom>
        </p:spPr>
      </p:pic>
      <p:sp>
        <p:nvSpPr>
          <p:cNvPr id="16" name="Text 10"/>
          <p:cNvSpPr txBox="1"/>
          <p:nvPr/>
        </p:nvSpPr>
        <p:spPr>
          <a:xfrm>
            <a:off x="521683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Cambio climático</a:t>
            </a:r>
            <a:endParaRPr lang="en-US" sz="1250" dirty="0"/>
          </a:p>
        </p:txBody>
      </p:sp>
      <p:sp>
        <p:nvSpPr>
          <p:cNvPr id="17" name="Shape 11"/>
          <p:cNvSpPr/>
          <p:nvPr/>
        </p:nvSpPr>
        <p:spPr>
          <a:xfrm>
            <a:off x="7377196" y="3122676"/>
            <a:ext cx="1977481" cy="1691640"/>
          </a:xfrm>
          <a:prstGeom prst="roundRect">
            <a:avLst>
              <a:gd name="adj" fmla="val 5405"/>
            </a:avLst>
          </a:prstGeom>
          <a:solidFill>
            <a:srgbClr val="F2F5F9"/>
          </a:solidFill>
          <a:ln/>
        </p:spPr>
      </p:sp>
      <p:sp>
        <p:nvSpPr>
          <p:cNvPr id="18" name="Shape 12"/>
          <p:cNvSpPr/>
          <p:nvPr/>
        </p:nvSpPr>
        <p:spPr>
          <a:xfrm>
            <a:off x="8082473" y="3383280"/>
            <a:ext cx="566928" cy="566928"/>
          </a:xfrm>
          <a:prstGeom prst="ellipse">
            <a:avLst/>
          </a:prstGeom>
          <a:solidFill>
            <a:srgbClr val="0EA5A0"/>
          </a:solidFill>
          <a:ln/>
        </p:spPr>
      </p:sp>
      <p:pic>
        <p:nvPicPr>
          <p:cNvPr id="19" name="Image 3" descr="/tmp/claude-0/-home-user-riesgo/0ff9ff46-1396-5bd8-b3ac-2280dfbbbc55/scratchpad/work/gen/icons/virus_white.png">    </p:cNvPr>
          <p:cNvPicPr>
            <a:picLocks noChangeAspect="1"/>
          </p:cNvPicPr>
          <p:nvPr/>
        </p:nvPicPr>
        <p:blipFill>
          <a:blip r:embed="rId4"/>
          <a:stretch>
            <a:fillRect/>
          </a:stretch>
        </p:blipFill>
        <p:spPr>
          <a:xfrm>
            <a:off x="8218536" y="3519343"/>
            <a:ext cx="294803" cy="294803"/>
          </a:xfrm>
          <a:prstGeom prst="rect">
            <a:avLst/>
          </a:prstGeom>
        </p:spPr>
      </p:pic>
      <p:sp>
        <p:nvSpPr>
          <p:cNvPr id="20" name="Text 13"/>
          <p:cNvSpPr txBox="1"/>
          <p:nvPr/>
        </p:nvSpPr>
        <p:spPr>
          <a:xfrm>
            <a:off x="748692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Epidemias y pandemias</a:t>
            </a:r>
            <a:endParaRPr lang="en-US" sz="1250" dirty="0"/>
          </a:p>
        </p:txBody>
      </p:sp>
      <p:sp>
        <p:nvSpPr>
          <p:cNvPr id="21" name="Shape 14"/>
          <p:cNvSpPr/>
          <p:nvPr/>
        </p:nvSpPr>
        <p:spPr>
          <a:xfrm>
            <a:off x="9647286" y="3122676"/>
            <a:ext cx="1977481" cy="1691640"/>
          </a:xfrm>
          <a:prstGeom prst="roundRect">
            <a:avLst>
              <a:gd name="adj" fmla="val 5405"/>
            </a:avLst>
          </a:prstGeom>
          <a:solidFill>
            <a:srgbClr val="F2F5F9"/>
          </a:solidFill>
          <a:ln/>
        </p:spPr>
      </p:sp>
      <p:sp>
        <p:nvSpPr>
          <p:cNvPr id="22" name="Shape 15"/>
          <p:cNvSpPr/>
          <p:nvPr/>
        </p:nvSpPr>
        <p:spPr>
          <a:xfrm>
            <a:off x="10352562" y="3383280"/>
            <a:ext cx="566928" cy="566928"/>
          </a:xfrm>
          <a:prstGeom prst="ellipse">
            <a:avLst/>
          </a:prstGeom>
          <a:solidFill>
            <a:srgbClr val="0EA5A0"/>
          </a:solidFill>
          <a:ln/>
        </p:spPr>
      </p:sp>
      <p:pic>
        <p:nvPicPr>
          <p:cNvPr id="23" name="Image 4" descr="/tmp/claude-0/-home-user-riesgo/0ff9ff46-1396-5bd8-b3ac-2280dfbbbc55/scratchpad/work/gen/icons/fire_white.png">    </p:cNvPr>
          <p:cNvPicPr>
            <a:picLocks noChangeAspect="1"/>
          </p:cNvPicPr>
          <p:nvPr/>
        </p:nvPicPr>
        <p:blipFill>
          <a:blip r:embed="rId5"/>
          <a:stretch>
            <a:fillRect/>
          </a:stretch>
        </p:blipFill>
        <p:spPr>
          <a:xfrm>
            <a:off x="10488625" y="3519343"/>
            <a:ext cx="294803" cy="294803"/>
          </a:xfrm>
          <a:prstGeom prst="rect">
            <a:avLst/>
          </a:prstGeom>
        </p:spPr>
      </p:pic>
      <p:sp>
        <p:nvSpPr>
          <p:cNvPr id="24" name="Text 16"/>
          <p:cNvSpPr txBox="1"/>
          <p:nvPr/>
        </p:nvSpPr>
        <p:spPr>
          <a:xfrm>
            <a:off x="975701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Incendios e interrupciones</a:t>
            </a:r>
            <a:endParaRPr lang="en-US" sz="1250" dirty="0"/>
          </a:p>
        </p:txBody>
      </p:sp>
      <p:sp>
        <p:nvSpPr>
          <p:cNvPr id="25"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10104120" y="-685800"/>
            <a:ext cx="2743200" cy="2743200"/>
          </a:xfrm>
          <a:prstGeom prst="ellipse">
            <a:avLst/>
          </a:prstGeom>
          <a:solidFill>
            <a:srgbClr val="A5C0F6"/>
          </a:solidFill>
          <a:ln/>
        </p:spPr>
      </p:sp>
      <p:sp>
        <p:nvSpPr>
          <p:cNvPr id="4" name="Shape 1"/>
          <p:cNvSpPr/>
          <p:nvPr/>
        </p:nvSpPr>
        <p:spPr>
          <a:xfrm>
            <a:off x="8001000" y="502920"/>
            <a:ext cx="3657600" cy="5806440"/>
          </a:xfrm>
          <a:prstGeom prst="roundRect">
            <a:avLst>
              <a:gd name="adj" fmla="val 11250"/>
            </a:avLst>
          </a:prstGeom>
          <a:solidFill>
            <a:srgbClr val="5B8DEF"/>
          </a:solidFill>
          <a:ln/>
        </p:spPr>
      </p:sp>
      <p:sp>
        <p:nvSpPr>
          <p:cNvPr id="5" name="Shape 2"/>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6" name="Image 0" descr="/tmp/claude-0/-home-user-riesgo/0ff9ff46-1396-5bd8-b3ac-2280dfbbbc55/scratchpad/work/gen/icons/clipboard_check_navy.png">    </p:cNvPr>
          <p:cNvPicPr>
            <a:picLocks noChangeAspect="1"/>
          </p:cNvPicPr>
          <p:nvPr/>
        </p:nvPicPr>
        <p:blipFill>
          <a:blip r:embed="rId1"/>
          <a:stretch>
            <a:fillRect/>
          </a:stretch>
        </p:blipFill>
        <p:spPr>
          <a:xfrm>
            <a:off x="9459651" y="2807391"/>
            <a:ext cx="740298" cy="740298"/>
          </a:xfrm>
          <a:prstGeom prst="rect">
            <a:avLst/>
          </a:prstGeom>
        </p:spPr>
      </p:pic>
      <p:sp>
        <p:nvSpPr>
          <p:cNvPr id="7" name="Shape 3"/>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8" name="Image 1" descr="/tmp/claude-0/-home-user-riesgo/0ff9ff46-1396-5bd8-b3ac-2280dfbbbc55/scratchpad/work/gen/icons/search_doc_white.png">    </p:cNvPr>
          <p:cNvPicPr>
            <a:picLocks noChangeAspect="1"/>
          </p:cNvPicPr>
          <p:nvPr/>
        </p:nvPicPr>
        <p:blipFill>
          <a:blip r:embed="rId2"/>
          <a:stretch>
            <a:fillRect/>
          </a:stretch>
        </p:blipFill>
        <p:spPr>
          <a:xfrm>
            <a:off x="7950525" y="5813024"/>
            <a:ext cx="403799" cy="403799"/>
          </a:xfrm>
          <a:prstGeom prst="rect">
            <a:avLst/>
          </a:prstGeom>
        </p:spPr>
      </p:pic>
      <p:sp>
        <p:nvSpPr>
          <p:cNvPr id="9" name="Text 4"/>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5B8DEF"/>
                </a:solidFill>
                <a:latin typeface="Calibri" pitchFamily="34" charset="0"/>
                <a:ea typeface="Calibri" pitchFamily="34" charset="-122"/>
                <a:cs typeface="Calibri" pitchFamily="34" charset="-120"/>
              </a:rPr>
              <a:t>INTEGRACIÓN</a:t>
            </a:r>
            <a:endParaRPr lang="en-US" sz="1500" dirty="0"/>
          </a:p>
        </p:txBody>
      </p:sp>
      <p:sp>
        <p:nvSpPr>
          <p:cNvPr id="10" name="Text 5"/>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CASOS INTEGRADORES</a:t>
            </a:r>
            <a:endParaRPr lang="en-US" sz="3400" dirty="0"/>
          </a:p>
        </p:txBody>
      </p:sp>
      <p:sp>
        <p:nvSpPr>
          <p:cNvPr id="11" name="Text 6"/>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Cuatro situaciones reales de una cooperativa financiera para aplicar todo lo aprendido.</a:t>
            </a:r>
            <a:endParaRPr lang="en-US" sz="1550" dirty="0"/>
          </a:p>
        </p:txBody>
      </p:sp>
      <p:pic>
        <p:nvPicPr>
          <p:cNvPr id="12"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3" name="Text 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 INTEGRADOR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EL SISTEMA SE CAE EN CIERRE DE MES</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17A9B0"/>
          </a:solidFill>
          <a:ln/>
        </p:spPr>
      </p:sp>
      <p:pic>
        <p:nvPicPr>
          <p:cNvPr id="7" name="Image 0" descr="/tmp/claude-0/-home-user-riesgo/0ff9ff46-1396-5bd8-b3ac-2280dfbbbc55/scratchpad/work/gen/icons/server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97D8DB"/>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 INTEGRADOR 1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7A9B0"/>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1869034" cy="365760"/>
          </a:xfrm>
          <a:prstGeom prst="roundRect">
            <a:avLst>
              <a:gd name="adj" fmla="val 50000"/>
            </a:avLst>
          </a:prstGeom>
          <a:solidFill>
            <a:srgbClr val="17A9B0"/>
          </a:solidFill>
          <a:ln/>
        </p:spPr>
      </p:sp>
      <p:sp>
        <p:nvSpPr>
          <p:cNvPr id="9" name="Text 6"/>
          <p:cNvSpPr txBox="1"/>
          <p:nvPr/>
        </p:nvSpPr>
        <p:spPr>
          <a:xfrm>
            <a:off x="2430475" y="1993392"/>
            <a:ext cx="186903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tecnológico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QUEJA QUE SE VUELVE PÚBLICA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A6BED7"/>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944929" cy="365760"/>
          </a:xfrm>
          <a:prstGeom prst="roundRect">
            <a:avLst>
              <a:gd name="adj" fmla="val 50000"/>
            </a:avLst>
          </a:prstGeom>
          <a:solidFill>
            <a:srgbClr val="3A6EA5"/>
          </a:solidFill>
          <a:ln/>
        </p:spPr>
      </p:sp>
      <p:sp>
        <p:nvSpPr>
          <p:cNvPr id="7" name="Text 4"/>
          <p:cNvSpPr txBox="1"/>
          <p:nvPr/>
        </p:nvSpPr>
        <p:spPr>
          <a:xfrm>
            <a:off x="566928" y="1993392"/>
            <a:ext cx="1944929"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reputacional</a:t>
            </a:r>
            <a:endParaRPr lang="en-US" sz="1100" dirty="0"/>
          </a:p>
        </p:txBody>
      </p:sp>
      <p:sp>
        <p:nvSpPr>
          <p:cNvPr id="8" name="Shape 5"/>
          <p:cNvSpPr/>
          <p:nvPr/>
        </p:nvSpPr>
        <p:spPr>
          <a:xfrm>
            <a:off x="566928" y="2651760"/>
            <a:ext cx="3515258" cy="3337560"/>
          </a:xfrm>
          <a:prstGeom prst="roundRect">
            <a:avLst>
              <a:gd name="adj" fmla="val 2740"/>
            </a:avLst>
          </a:prstGeom>
          <a:solidFill>
            <a:srgbClr val="F2F5F9"/>
          </a:solidFill>
          <a:ln/>
        </p:spPr>
      </p:sp>
      <p:sp>
        <p:nvSpPr>
          <p:cNvPr id="9" name="Shape 6"/>
          <p:cNvSpPr/>
          <p:nvPr/>
        </p:nvSpPr>
        <p:spPr>
          <a:xfrm>
            <a:off x="2041093" y="2871216"/>
            <a:ext cx="566928" cy="566928"/>
          </a:xfrm>
          <a:prstGeom prst="ellipse">
            <a:avLst/>
          </a:prstGeom>
          <a:solidFill>
            <a:srgbClr val="2FAE60"/>
          </a:solidFill>
          <a:ln/>
        </p:spPr>
      </p:sp>
      <p:pic>
        <p:nvPicPr>
          <p:cNvPr id="10"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1" name="Text 7"/>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2" name="Text 8"/>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200" dirty="0"/>
          </a:p>
        </p:txBody>
      </p:sp>
      <p:sp>
        <p:nvSpPr>
          <p:cNvPr id="13" name="Shape 9"/>
          <p:cNvSpPr/>
          <p:nvPr/>
        </p:nvSpPr>
        <p:spPr>
          <a:xfrm>
            <a:off x="4338218" y="2651760"/>
            <a:ext cx="3515258" cy="3337560"/>
          </a:xfrm>
          <a:prstGeom prst="roundRect">
            <a:avLst>
              <a:gd name="adj" fmla="val 2740"/>
            </a:avLst>
          </a:prstGeom>
          <a:solidFill>
            <a:srgbClr val="F2F5F9"/>
          </a:solidFill>
          <a:ln/>
        </p:spPr>
      </p:sp>
      <p:sp>
        <p:nvSpPr>
          <p:cNvPr id="14" name="Shape 10"/>
          <p:cNvSpPr/>
          <p:nvPr/>
        </p:nvSpPr>
        <p:spPr>
          <a:xfrm>
            <a:off x="5812384" y="2871216"/>
            <a:ext cx="566928" cy="566928"/>
          </a:xfrm>
          <a:prstGeom prst="ellipse">
            <a:avLst/>
          </a:prstGeom>
          <a:solidFill>
            <a:srgbClr val="133B6C"/>
          </a:solidFill>
          <a:ln/>
        </p:spPr>
      </p:sp>
      <p:pic>
        <p:nvPicPr>
          <p:cNvPr id="15"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6" name="Text 11"/>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7" name="Text 12"/>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200" dirty="0"/>
          </a:p>
        </p:txBody>
      </p:sp>
      <p:sp>
        <p:nvSpPr>
          <p:cNvPr id="18" name="Shape 13"/>
          <p:cNvSpPr/>
          <p:nvPr/>
        </p:nvSpPr>
        <p:spPr>
          <a:xfrm>
            <a:off x="8109509" y="2651760"/>
            <a:ext cx="3515258" cy="3337560"/>
          </a:xfrm>
          <a:prstGeom prst="roundRect">
            <a:avLst>
              <a:gd name="adj" fmla="val 2740"/>
            </a:avLst>
          </a:prstGeom>
          <a:solidFill>
            <a:srgbClr val="F2F5F9"/>
          </a:solidFill>
          <a:ln/>
        </p:spPr>
      </p:sp>
      <p:sp>
        <p:nvSpPr>
          <p:cNvPr id="19" name="Shape 14"/>
          <p:cNvSpPr/>
          <p:nvPr/>
        </p:nvSpPr>
        <p:spPr>
          <a:xfrm>
            <a:off x="9583674" y="2871216"/>
            <a:ext cx="566928" cy="566928"/>
          </a:xfrm>
          <a:prstGeom prst="ellipse">
            <a:avLst/>
          </a:prstGeom>
          <a:solidFill>
            <a:srgbClr val="E0392B"/>
          </a:solidFill>
          <a:ln/>
        </p:spPr>
      </p:sp>
      <p:pic>
        <p:nvPicPr>
          <p:cNvPr id="20"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1" name="Text 15"/>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2" name="Text 16"/>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200" dirty="0"/>
          </a:p>
        </p:txBody>
      </p:sp>
      <p:sp>
        <p:nvSpPr>
          <p:cNvPr id="23"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DIFERENCIA QUE NADIE EXPLICA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98B0CE"/>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B4F91"/>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2172614" cy="365760"/>
          </a:xfrm>
          <a:prstGeom prst="roundRect">
            <a:avLst>
              <a:gd name="adj" fmla="val 50000"/>
            </a:avLst>
          </a:prstGeom>
          <a:solidFill>
            <a:srgbClr val="1B4F91"/>
          </a:solidFill>
          <a:ln/>
        </p:spPr>
      </p:sp>
      <p:sp>
        <p:nvSpPr>
          <p:cNvPr id="9" name="Text 6"/>
          <p:cNvSpPr txBox="1"/>
          <p:nvPr/>
        </p:nvSpPr>
        <p:spPr>
          <a:xfrm>
            <a:off x="2430475" y="1993392"/>
            <a:ext cx="217261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Posible error o fraude</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DATOS QUE NO COINCIDEN</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A1B7D9"/>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93138" cy="365760"/>
          </a:xfrm>
          <a:prstGeom prst="roundRect">
            <a:avLst>
              <a:gd name="adj" fmla="val 50000"/>
            </a:avLst>
          </a:prstGeom>
          <a:solidFill>
            <a:srgbClr val="2E5EAA"/>
          </a:solidFill>
          <a:ln/>
        </p:spPr>
      </p:sp>
      <p:sp>
        <p:nvSpPr>
          <p:cNvPr id="7" name="Text 4"/>
          <p:cNvSpPr txBox="1"/>
          <p:nvPr/>
        </p:nvSpPr>
        <p:spPr>
          <a:xfrm>
            <a:off x="566928" y="1993392"/>
            <a:ext cx="179313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crediticio</a:t>
            </a:r>
            <a:endParaRPr lang="en-US" sz="1100" dirty="0"/>
          </a:p>
        </p:txBody>
      </p:sp>
      <p:sp>
        <p:nvSpPr>
          <p:cNvPr id="8" name="Shape 5"/>
          <p:cNvSpPr/>
          <p:nvPr/>
        </p:nvSpPr>
        <p:spPr>
          <a:xfrm>
            <a:off x="2506370" y="1993392"/>
            <a:ext cx="1717243" cy="365760"/>
          </a:xfrm>
          <a:prstGeom prst="roundRect">
            <a:avLst>
              <a:gd name="adj" fmla="val 50000"/>
            </a:avLst>
          </a:prstGeom>
          <a:solidFill>
            <a:srgbClr val="2E5EAA"/>
          </a:solidFill>
          <a:ln/>
        </p:spPr>
      </p:sp>
      <p:sp>
        <p:nvSpPr>
          <p:cNvPr id="9" name="Text 6"/>
          <p:cNvSpPr txBox="1"/>
          <p:nvPr/>
        </p:nvSpPr>
        <p:spPr>
          <a:xfrm>
            <a:off x="2506370"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10104120" y="-685800"/>
            <a:ext cx="2743200" cy="2743200"/>
          </a:xfrm>
          <a:prstGeom prst="ellipse">
            <a:avLst/>
          </a:prstGeom>
          <a:solidFill>
            <a:srgbClr val="8CBCE0"/>
          </a:solidFill>
          <a:ln/>
        </p:spPr>
      </p:sp>
      <p:sp>
        <p:nvSpPr>
          <p:cNvPr id="4" name="Shape 1"/>
          <p:cNvSpPr/>
          <p:nvPr/>
        </p:nvSpPr>
        <p:spPr>
          <a:xfrm>
            <a:off x="8001000" y="502920"/>
            <a:ext cx="3657600" cy="5806440"/>
          </a:xfrm>
          <a:prstGeom prst="roundRect">
            <a:avLst>
              <a:gd name="adj" fmla="val 11250"/>
            </a:avLst>
          </a:prstGeom>
          <a:solidFill>
            <a:srgbClr val="2E86C7"/>
          </a:solidFill>
          <a:ln/>
        </p:spPr>
      </p:sp>
      <p:sp>
        <p:nvSpPr>
          <p:cNvPr id="5" name="Shape 2"/>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6" name="Image 0" descr="/tmp/claude-0/-home-user-riesgo/0ff9ff46-1396-5bd8-b3ac-2280dfbbbc55/scratchpad/work/gen/icons/timer30_navy.png">    </p:cNvPr>
          <p:cNvPicPr>
            <a:picLocks noChangeAspect="1"/>
          </p:cNvPicPr>
          <p:nvPr/>
        </p:nvPicPr>
        <p:blipFill>
          <a:blip r:embed="rId1"/>
          <a:stretch>
            <a:fillRect/>
          </a:stretch>
        </p:blipFill>
        <p:spPr>
          <a:xfrm>
            <a:off x="9459651" y="2807391"/>
            <a:ext cx="740298" cy="740298"/>
          </a:xfrm>
          <a:prstGeom prst="rect">
            <a:avLst/>
          </a:prstGeom>
        </p:spPr>
      </p:pic>
      <p:sp>
        <p:nvSpPr>
          <p:cNvPr id="7" name="Shape 3"/>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8" name="Image 1" descr="/tmp/claude-0/-home-user-riesgo/0ff9ff46-1396-5bd8-b3ac-2280dfbbbc55/scratchpad/work/gen/icons/binoculars_white.png">    </p:cNvPr>
          <p:cNvPicPr>
            <a:picLocks noChangeAspect="1"/>
          </p:cNvPicPr>
          <p:nvPr/>
        </p:nvPicPr>
        <p:blipFill>
          <a:blip r:embed="rId2"/>
          <a:stretch>
            <a:fillRect/>
          </a:stretch>
        </p:blipFill>
        <p:spPr>
          <a:xfrm>
            <a:off x="7950525" y="5813024"/>
            <a:ext cx="403799" cy="403799"/>
          </a:xfrm>
          <a:prstGeom prst="rect">
            <a:avLst/>
          </a:prstGeom>
        </p:spPr>
      </p:pic>
      <p:sp>
        <p:nvSpPr>
          <p:cNvPr id="9" name="Text 4"/>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GRAN ACTIVIDAD FINAL</a:t>
            </a:r>
            <a:endParaRPr lang="en-US" sz="1500" dirty="0"/>
          </a:p>
        </p:txBody>
      </p:sp>
      <p:sp>
        <p:nvSpPr>
          <p:cNvPr id="10" name="Text 5"/>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DETECTA EL RIESGO</a:t>
            </a:r>
            <a:endParaRPr lang="en-US" sz="3400" dirty="0"/>
          </a:p>
        </p:txBody>
      </p:sp>
      <p:sp>
        <p:nvSpPr>
          <p:cNvPr id="11" name="Text 6"/>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Pon a prueba todo lo aprendido en esta capacitación.</a:t>
            </a:r>
            <a:endParaRPr lang="en-US" sz="1550" dirty="0"/>
          </a:p>
        </p:txBody>
      </p:sp>
      <p:pic>
        <p:nvPicPr>
          <p:cNvPr id="12"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3" name="Text 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LOS RIESGOS DE ESTA ESCENA</a:t>
            </a:r>
            <a:endParaRPr lang="en-US" sz="3000" dirty="0"/>
          </a:p>
        </p:txBody>
      </p:sp>
      <p:sp>
        <p:nvSpPr>
          <p:cNvPr id="5" name="Shape 2"/>
          <p:cNvSpPr/>
          <p:nvPr/>
        </p:nvSpPr>
        <p:spPr>
          <a:xfrm>
            <a:off x="566928"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6" name="Shape 3"/>
          <p:cNvSpPr/>
          <p:nvPr/>
        </p:nvSpPr>
        <p:spPr>
          <a:xfrm>
            <a:off x="704088" y="2400300"/>
            <a:ext cx="566928" cy="566928"/>
          </a:xfrm>
          <a:prstGeom prst="ellipse">
            <a:avLst/>
          </a:prstGeom>
          <a:solidFill>
            <a:srgbClr val="2E86C7"/>
          </a:solidFill>
          <a:ln/>
        </p:spPr>
      </p:sp>
      <p:pic>
        <p:nvPicPr>
          <p:cNvPr id="7" name="Image 0" descr="/tmp/claude-0/-home-user-riesgo/0ff9ff46-1396-5bd8-b3ac-2280dfbbbc55/scratchpad/work/gen/icons/lock_open_navy.png">    </p:cNvPr>
          <p:cNvPicPr>
            <a:picLocks noChangeAspect="1"/>
          </p:cNvPicPr>
          <p:nvPr/>
        </p:nvPicPr>
        <p:blipFill>
          <a:blip r:embed="rId1"/>
          <a:stretch>
            <a:fillRect/>
          </a:stretch>
        </p:blipFill>
        <p:spPr>
          <a:xfrm>
            <a:off x="840151" y="2536363"/>
            <a:ext cx="294803" cy="294803"/>
          </a:xfrm>
          <a:prstGeom prst="rect">
            <a:avLst/>
          </a:prstGeom>
        </p:spPr>
      </p:pic>
      <p:sp>
        <p:nvSpPr>
          <p:cNvPr id="8" name="Text 4"/>
          <p:cNvSpPr txBox="1"/>
          <p:nvPr/>
        </p:nvSpPr>
        <p:spPr>
          <a:xfrm>
            <a:off x="704088"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9" name="Text 5"/>
          <p:cNvSpPr txBox="1"/>
          <p:nvPr/>
        </p:nvSpPr>
        <p:spPr>
          <a:xfrm>
            <a:off x="1389888"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desbloqueado y sin supervisión.</a:t>
            </a:r>
            <a:endParaRPr lang="en-US" sz="1150" dirty="0"/>
          </a:p>
        </p:txBody>
      </p:sp>
      <p:sp>
        <p:nvSpPr>
          <p:cNvPr id="10" name="Shape 6"/>
          <p:cNvSpPr/>
          <p:nvPr/>
        </p:nvSpPr>
        <p:spPr>
          <a:xfrm>
            <a:off x="4344314"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1" name="Shape 7"/>
          <p:cNvSpPr/>
          <p:nvPr/>
        </p:nvSpPr>
        <p:spPr>
          <a:xfrm>
            <a:off x="4481474" y="2400300"/>
            <a:ext cx="566928" cy="566928"/>
          </a:xfrm>
          <a:prstGeom prst="ellipse">
            <a:avLst/>
          </a:prstGeom>
          <a:solidFill>
            <a:srgbClr val="2E86C7"/>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4617537" y="2536363"/>
            <a:ext cx="294803" cy="294803"/>
          </a:xfrm>
          <a:prstGeom prst="rect">
            <a:avLst/>
          </a:prstGeom>
        </p:spPr>
      </p:pic>
      <p:sp>
        <p:nvSpPr>
          <p:cNvPr id="13" name="Text 8"/>
          <p:cNvSpPr txBox="1"/>
          <p:nvPr/>
        </p:nvSpPr>
        <p:spPr>
          <a:xfrm>
            <a:off x="4481474"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4" name="Text 9"/>
          <p:cNvSpPr txBox="1"/>
          <p:nvPr/>
        </p:nvSpPr>
        <p:spPr>
          <a:xfrm>
            <a:off x="5167274"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Dispositivo USB desconocido conectado.</a:t>
            </a:r>
            <a:endParaRPr lang="en-US" sz="1150" dirty="0"/>
          </a:p>
        </p:txBody>
      </p:sp>
      <p:sp>
        <p:nvSpPr>
          <p:cNvPr id="15" name="Shape 10"/>
          <p:cNvSpPr/>
          <p:nvPr/>
        </p:nvSpPr>
        <p:spPr>
          <a:xfrm>
            <a:off x="8121701"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6" name="Shape 11"/>
          <p:cNvSpPr/>
          <p:nvPr/>
        </p:nvSpPr>
        <p:spPr>
          <a:xfrm>
            <a:off x="8258861" y="2400300"/>
            <a:ext cx="566928" cy="566928"/>
          </a:xfrm>
          <a:prstGeom prst="ellipse">
            <a:avLst/>
          </a:prstGeom>
          <a:solidFill>
            <a:srgbClr val="2E86C7"/>
          </a:solidFill>
          <a:ln/>
        </p:spPr>
      </p:sp>
      <p:pic>
        <p:nvPicPr>
          <p:cNvPr id="17" name="Image 2" descr="/tmp/claude-0/-home-user-riesgo/0ff9ff46-1396-5bd8-b3ac-2280dfbbbc55/scratchpad/work/gen/icons/wifi_off_navy.png">    </p:cNvPr>
          <p:cNvPicPr>
            <a:picLocks noChangeAspect="1"/>
          </p:cNvPicPr>
          <p:nvPr/>
        </p:nvPicPr>
        <p:blipFill>
          <a:blip r:embed="rId3"/>
          <a:stretch>
            <a:fillRect/>
          </a:stretch>
        </p:blipFill>
        <p:spPr>
          <a:xfrm>
            <a:off x="8394924" y="2536363"/>
            <a:ext cx="294803" cy="294803"/>
          </a:xfrm>
          <a:prstGeom prst="rect">
            <a:avLst/>
          </a:prstGeom>
        </p:spPr>
      </p:pic>
      <p:sp>
        <p:nvSpPr>
          <p:cNvPr id="18" name="Text 12"/>
          <p:cNvSpPr txBox="1"/>
          <p:nvPr/>
        </p:nvSpPr>
        <p:spPr>
          <a:xfrm>
            <a:off x="8258861"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19" name="Text 13"/>
          <p:cNvSpPr txBox="1"/>
          <p:nvPr/>
        </p:nvSpPr>
        <p:spPr>
          <a:xfrm>
            <a:off x="8944661"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Conexión fuera de la red segura de la Cooperativa.</a:t>
            </a:r>
            <a:endParaRPr lang="en-US" sz="1150" dirty="0"/>
          </a:p>
        </p:txBody>
      </p:sp>
      <p:sp>
        <p:nvSpPr>
          <p:cNvPr id="20" name="Shape 14"/>
          <p:cNvSpPr/>
          <p:nvPr/>
        </p:nvSpPr>
        <p:spPr>
          <a:xfrm>
            <a:off x="566928"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1" name="Shape 15"/>
          <p:cNvSpPr/>
          <p:nvPr/>
        </p:nvSpPr>
        <p:spPr>
          <a:xfrm>
            <a:off x="704088" y="3799332"/>
            <a:ext cx="566928" cy="566928"/>
          </a:xfrm>
          <a:prstGeom prst="ellipse">
            <a:avLst/>
          </a:prstGeom>
          <a:solidFill>
            <a:srgbClr val="2E86C7"/>
          </a:solidFill>
          <a:ln/>
        </p:spPr>
      </p:sp>
      <p:pic>
        <p:nvPicPr>
          <p:cNvPr id="22" name="Image 3" descr="/tmp/claude-0/-home-user-riesgo/0ff9ff46-1396-5bd8-b3ac-2280dfbbbc55/scratchpad/work/gen/icons/trash_navy.png">    </p:cNvPr>
          <p:cNvPicPr>
            <a:picLocks noChangeAspect="1"/>
          </p:cNvPicPr>
          <p:nvPr/>
        </p:nvPicPr>
        <p:blipFill>
          <a:blip r:embed="rId4"/>
          <a:stretch>
            <a:fillRect/>
          </a:stretch>
        </p:blipFill>
        <p:spPr>
          <a:xfrm>
            <a:off x="840151" y="3935395"/>
            <a:ext cx="294803" cy="294803"/>
          </a:xfrm>
          <a:prstGeom prst="rect">
            <a:avLst/>
          </a:prstGeom>
        </p:spPr>
      </p:pic>
      <p:sp>
        <p:nvSpPr>
          <p:cNvPr id="23" name="Text 16"/>
          <p:cNvSpPr txBox="1"/>
          <p:nvPr/>
        </p:nvSpPr>
        <p:spPr>
          <a:xfrm>
            <a:off x="704088"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4" name="Text 17"/>
          <p:cNvSpPr txBox="1"/>
          <p:nvPr/>
        </p:nvSpPr>
        <p:spPr>
          <a:xfrm>
            <a:off x="1389888"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Documentos con datos de asociados en la basura.</a:t>
            </a:r>
            <a:endParaRPr lang="en-US" sz="1150" dirty="0"/>
          </a:p>
        </p:txBody>
      </p:sp>
      <p:sp>
        <p:nvSpPr>
          <p:cNvPr id="25" name="Shape 18"/>
          <p:cNvSpPr/>
          <p:nvPr/>
        </p:nvSpPr>
        <p:spPr>
          <a:xfrm>
            <a:off x="4344314"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6" name="Shape 19"/>
          <p:cNvSpPr/>
          <p:nvPr/>
        </p:nvSpPr>
        <p:spPr>
          <a:xfrm>
            <a:off x="4481474" y="3799332"/>
            <a:ext cx="566928" cy="566928"/>
          </a:xfrm>
          <a:prstGeom prst="ellipse">
            <a:avLst/>
          </a:prstGeom>
          <a:solidFill>
            <a:srgbClr val="2E86C7"/>
          </a:solidFill>
          <a:ln/>
        </p:spPr>
      </p:sp>
      <p:pic>
        <p:nvPicPr>
          <p:cNvPr id="27" name="Image 4" descr="/tmp/claude-0/-home-user-riesgo/0ff9ff46-1396-5bd8-b3ac-2280dfbbbc55/scratchpad/work/gen/icons/bell_alert_navy.png">    </p:cNvPr>
          <p:cNvPicPr>
            <a:picLocks noChangeAspect="1"/>
          </p:cNvPicPr>
          <p:nvPr/>
        </p:nvPicPr>
        <p:blipFill>
          <a:blip r:embed="rId5"/>
          <a:stretch>
            <a:fillRect/>
          </a:stretch>
        </p:blipFill>
        <p:spPr>
          <a:xfrm>
            <a:off x="4617537" y="3935395"/>
            <a:ext cx="294803" cy="294803"/>
          </a:xfrm>
          <a:prstGeom prst="rect">
            <a:avLst/>
          </a:prstGeom>
        </p:spPr>
      </p:pic>
      <p:sp>
        <p:nvSpPr>
          <p:cNvPr id="28" name="Text 20"/>
          <p:cNvSpPr txBox="1"/>
          <p:nvPr/>
        </p:nvSpPr>
        <p:spPr>
          <a:xfrm>
            <a:off x="4481474"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29" name="Text 21"/>
          <p:cNvSpPr txBox="1"/>
          <p:nvPr/>
        </p:nvSpPr>
        <p:spPr>
          <a:xfrm>
            <a:off x="5167274"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Una alerta del sistema que nadie atendió.</a:t>
            </a:r>
            <a:endParaRPr lang="en-US" sz="1150" dirty="0"/>
          </a:p>
        </p:txBody>
      </p:sp>
      <p:sp>
        <p:nvSpPr>
          <p:cNvPr id="30" name="Shape 22"/>
          <p:cNvSpPr/>
          <p:nvPr/>
        </p:nvSpPr>
        <p:spPr>
          <a:xfrm>
            <a:off x="8121701"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1" name="Shape 23"/>
          <p:cNvSpPr/>
          <p:nvPr/>
        </p:nvSpPr>
        <p:spPr>
          <a:xfrm>
            <a:off x="8258861" y="3799332"/>
            <a:ext cx="566928" cy="566928"/>
          </a:xfrm>
          <a:prstGeom prst="ellipse">
            <a:avLst/>
          </a:prstGeom>
          <a:solidFill>
            <a:srgbClr val="2E86C7"/>
          </a:solidFill>
          <a:ln/>
        </p:spPr>
      </p:sp>
      <p:pic>
        <p:nvPicPr>
          <p:cNvPr id="32" name="Image 5" descr="/tmp/claude-0/-home-user-riesgo/0ff9ff46-1396-5bd8-b3ac-2280dfbbbc55/scratchpad/work/gen/icons/hand_stop_navy.png">    </p:cNvPr>
          <p:cNvPicPr>
            <a:picLocks noChangeAspect="1"/>
          </p:cNvPicPr>
          <p:nvPr/>
        </p:nvPicPr>
        <p:blipFill>
          <a:blip r:embed="rId6"/>
          <a:stretch>
            <a:fillRect/>
          </a:stretch>
        </p:blipFill>
        <p:spPr>
          <a:xfrm>
            <a:off x="8394924" y="3935395"/>
            <a:ext cx="294803" cy="294803"/>
          </a:xfrm>
          <a:prstGeom prst="rect">
            <a:avLst/>
          </a:prstGeom>
        </p:spPr>
      </p:pic>
      <p:sp>
        <p:nvSpPr>
          <p:cNvPr id="33" name="Text 24"/>
          <p:cNvSpPr txBox="1"/>
          <p:nvPr/>
        </p:nvSpPr>
        <p:spPr>
          <a:xfrm>
            <a:off x="8258861"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4" name="Text 25"/>
          <p:cNvSpPr txBox="1"/>
          <p:nvPr/>
        </p:nvSpPr>
        <p:spPr>
          <a:xfrm>
            <a:off x="8944661"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Acceso a un área restringida sin autorización.</a:t>
            </a:r>
            <a:endParaRPr lang="en-US" sz="1150" dirty="0"/>
          </a:p>
        </p:txBody>
      </p:sp>
      <p:sp>
        <p:nvSpPr>
          <p:cNvPr id="35" name="Shape 26"/>
          <p:cNvSpPr/>
          <p:nvPr/>
        </p:nvSpPr>
        <p:spPr>
          <a:xfrm>
            <a:off x="566928"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6" name="Shape 27"/>
          <p:cNvSpPr/>
          <p:nvPr/>
        </p:nvSpPr>
        <p:spPr>
          <a:xfrm>
            <a:off x="704088" y="5198364"/>
            <a:ext cx="566928" cy="566928"/>
          </a:xfrm>
          <a:prstGeom prst="ellipse">
            <a:avLst/>
          </a:prstGeom>
          <a:solidFill>
            <a:srgbClr val="2E86C7"/>
          </a:solidFill>
          <a:ln/>
        </p:spPr>
      </p:sp>
      <p:pic>
        <p:nvPicPr>
          <p:cNvPr id="37" name="Image 6" descr="/tmp/claude-0/-home-user-riesgo/0ff9ff46-1396-5bd8-b3ac-2280dfbbbc55/scratchpad/work/gen/icons/cctv_navy.png">    </p:cNvPr>
          <p:cNvPicPr>
            <a:picLocks noChangeAspect="1"/>
          </p:cNvPicPr>
          <p:nvPr/>
        </p:nvPicPr>
        <p:blipFill>
          <a:blip r:embed="rId7"/>
          <a:stretch>
            <a:fillRect/>
          </a:stretch>
        </p:blipFill>
        <p:spPr>
          <a:xfrm>
            <a:off x="840151" y="5334427"/>
            <a:ext cx="294803" cy="294803"/>
          </a:xfrm>
          <a:prstGeom prst="rect">
            <a:avLst/>
          </a:prstGeom>
        </p:spPr>
      </p:pic>
      <p:sp>
        <p:nvSpPr>
          <p:cNvPr id="38" name="Text 28"/>
          <p:cNvSpPr txBox="1"/>
          <p:nvPr/>
        </p:nvSpPr>
        <p:spPr>
          <a:xfrm>
            <a:off x="704088"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39" name="Text 29"/>
          <p:cNvSpPr txBox="1"/>
          <p:nvPr/>
        </p:nvSpPr>
        <p:spPr>
          <a:xfrm>
            <a:off x="1389888"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Cámara de seguridad bloqueada u obstruida.</a:t>
            </a:r>
            <a:endParaRPr lang="en-US" sz="1150" dirty="0"/>
          </a:p>
        </p:txBody>
      </p:sp>
      <p:sp>
        <p:nvSpPr>
          <p:cNvPr id="40" name="Shape 30"/>
          <p:cNvSpPr/>
          <p:nvPr/>
        </p:nvSpPr>
        <p:spPr>
          <a:xfrm>
            <a:off x="4344314"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1" name="Shape 31"/>
          <p:cNvSpPr/>
          <p:nvPr/>
        </p:nvSpPr>
        <p:spPr>
          <a:xfrm>
            <a:off x="4481474" y="5198364"/>
            <a:ext cx="566928" cy="566928"/>
          </a:xfrm>
          <a:prstGeom prst="ellipse">
            <a:avLst/>
          </a:prstGeom>
          <a:solidFill>
            <a:srgbClr val="2E86C7"/>
          </a:solidFill>
          <a:ln/>
        </p:spPr>
      </p:sp>
      <p:pic>
        <p:nvPicPr>
          <p:cNvPr id="42" name="Image 7" descr="/tmp/claude-0/-home-user-riesgo/0ff9ff46-1396-5bd8-b3ac-2280dfbbbc55/scratchpad/work/gen/icons/key_navy.png">    </p:cNvPr>
          <p:cNvPicPr>
            <a:picLocks noChangeAspect="1"/>
          </p:cNvPicPr>
          <p:nvPr/>
        </p:nvPicPr>
        <p:blipFill>
          <a:blip r:embed="rId8"/>
          <a:stretch>
            <a:fillRect/>
          </a:stretch>
        </p:blipFill>
        <p:spPr>
          <a:xfrm>
            <a:off x="4617537" y="5334427"/>
            <a:ext cx="294803" cy="294803"/>
          </a:xfrm>
          <a:prstGeom prst="rect">
            <a:avLst/>
          </a:prstGeom>
        </p:spPr>
      </p:pic>
      <p:sp>
        <p:nvSpPr>
          <p:cNvPr id="43" name="Text 32"/>
          <p:cNvSpPr txBox="1"/>
          <p:nvPr/>
        </p:nvSpPr>
        <p:spPr>
          <a:xfrm>
            <a:off x="4481474"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4" name="Text 33"/>
          <p:cNvSpPr txBox="1"/>
          <p:nvPr/>
        </p:nvSpPr>
        <p:spPr>
          <a:xfrm>
            <a:off x="5167274"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Llaves de una oficina dejadas a la vista.</a:t>
            </a:r>
            <a:endParaRPr lang="en-US" sz="1150" dirty="0"/>
          </a:p>
        </p:txBody>
      </p:sp>
      <p:sp>
        <p:nvSpPr>
          <p:cNvPr id="45" name="Shape 34"/>
          <p:cNvSpPr/>
          <p:nvPr/>
        </p:nvSpPr>
        <p:spPr>
          <a:xfrm>
            <a:off x="8121701"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6" name="Shape 35"/>
          <p:cNvSpPr/>
          <p:nvPr/>
        </p:nvSpPr>
        <p:spPr>
          <a:xfrm>
            <a:off x="8258861" y="5198364"/>
            <a:ext cx="566928" cy="566928"/>
          </a:xfrm>
          <a:prstGeom prst="ellipse">
            <a:avLst/>
          </a:prstGeom>
          <a:solidFill>
            <a:srgbClr val="2E86C7"/>
          </a:solidFill>
          <a:ln/>
        </p:spPr>
      </p:sp>
      <p:pic>
        <p:nvPicPr>
          <p:cNvPr id="47" name="Image 8" descr="/tmp/claude-0/-home-user-riesgo/0ff9ff46-1396-5bd8-b3ac-2280dfbbbc55/scratchpad/work/gen/icons/social_navy.png">    </p:cNvPr>
          <p:cNvPicPr>
            <a:picLocks noChangeAspect="1"/>
          </p:cNvPicPr>
          <p:nvPr/>
        </p:nvPicPr>
        <p:blipFill>
          <a:blip r:embed="rId9"/>
          <a:stretch>
            <a:fillRect/>
          </a:stretch>
        </p:blipFill>
        <p:spPr>
          <a:xfrm>
            <a:off x="8394924" y="5334427"/>
            <a:ext cx="294803" cy="294803"/>
          </a:xfrm>
          <a:prstGeom prst="rect">
            <a:avLst/>
          </a:prstGeom>
        </p:spPr>
      </p:pic>
      <p:sp>
        <p:nvSpPr>
          <p:cNvPr id="48" name="Text 36"/>
          <p:cNvSpPr txBox="1"/>
          <p:nvPr/>
        </p:nvSpPr>
        <p:spPr>
          <a:xfrm>
            <a:off x="8258861"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9</a:t>
            </a:r>
            <a:endParaRPr lang="en-US" sz="900" dirty="0"/>
          </a:p>
        </p:txBody>
      </p:sp>
      <p:sp>
        <p:nvSpPr>
          <p:cNvPr id="49" name="Text 37"/>
          <p:cNvSpPr txBox="1"/>
          <p:nvPr/>
        </p:nvSpPr>
        <p:spPr>
          <a:xfrm>
            <a:off x="8944661"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150" dirty="0"/>
          </a:p>
        </p:txBody>
      </p:sp>
      <p:sp>
        <p:nvSpPr>
          <p:cNvPr id="50" name="Text 3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1" name="Text 3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777240"/>
            <a:ext cx="10972800" cy="548640"/>
          </a:xfrm>
          <a:prstGeom prst="rect">
            <a:avLst/>
          </a:prstGeom>
          <a:noFill/>
          <a:ln/>
        </p:spPr>
        <p:txBody>
          <a:bodyPr wrap="square" lIns="0" tIns="0" rIns="0" bIns="0" rtlCol="0" anchor="ctr"/>
          <a:lstStyle/>
          <a:p>
            <a:pPr algn="ctr" indent="0" marL="0">
              <a:buNone/>
            </a:pPr>
            <a:r>
              <a:rPr lang="en-US" sz="3000" b="1" dirty="0">
                <a:solidFill>
                  <a:srgbClr val="5B6B82"/>
                </a:solidFill>
                <a:latin typeface="Cambria" pitchFamily="34" charset="0"/>
                <a:ea typeface="Cambria" pitchFamily="34" charset="-122"/>
                <a:cs typeface="Cambria" pitchFamily="34" charset="-120"/>
              </a:rPr>
              <a:t>TODOS SOMOS</a:t>
            </a:r>
            <a:endParaRPr lang="en-US" sz="3000" dirty="0"/>
          </a:p>
        </p:txBody>
      </p:sp>
      <p:sp>
        <p:nvSpPr>
          <p:cNvPr id="6" name="Text 3"/>
          <p:cNvSpPr txBox="1"/>
          <p:nvPr/>
        </p:nvSpPr>
        <p:spPr>
          <a:xfrm>
            <a:off x="640080" y="1280160"/>
            <a:ext cx="10972800" cy="731520"/>
          </a:xfrm>
          <a:prstGeom prst="rect">
            <a:avLst/>
          </a:prstGeom>
          <a:noFill/>
          <a:ln/>
        </p:spPr>
        <p:txBody>
          <a:bodyPr wrap="square" lIns="0" tIns="0" rIns="0" bIns="0" rtlCol="0" anchor="ctr"/>
          <a:lstStyle/>
          <a:p>
            <a:pPr algn="ctr" indent="0" marL="0">
              <a:buNone/>
            </a:pPr>
            <a:r>
              <a:rPr lang="en-US" sz="4000" b="1" dirty="0">
                <a:solidFill>
                  <a:srgbClr val="133B6C"/>
                </a:solidFill>
                <a:latin typeface="Cambria" pitchFamily="34" charset="0"/>
                <a:ea typeface="Cambria" pitchFamily="34" charset="-122"/>
                <a:cs typeface="Cambria" pitchFamily="34" charset="-120"/>
              </a:rPr>
              <a:t>GESTORES DE RIESGOS</a:t>
            </a:r>
            <a:endParaRPr lang="en-US" sz="4000" dirty="0"/>
          </a:p>
        </p:txBody>
      </p:sp>
      <p:sp>
        <p:nvSpPr>
          <p:cNvPr id="7" name="Shape 4"/>
          <p:cNvSpPr/>
          <p:nvPr/>
        </p:nvSpPr>
        <p:spPr>
          <a:xfrm>
            <a:off x="28268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089758" y="3326130"/>
            <a:ext cx="525780" cy="525780"/>
          </a:xfrm>
          <a:prstGeom prst="rect">
            <a:avLst/>
          </a:prstGeom>
        </p:spPr>
      </p:pic>
      <p:sp>
        <p:nvSpPr>
          <p:cNvPr id="9" name="Text 5"/>
          <p:cNvSpPr txBox="1"/>
          <p:nvPr/>
        </p:nvSpPr>
        <p:spPr>
          <a:xfrm>
            <a:off x="25525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VEO</a:t>
            </a:r>
            <a:endParaRPr lang="en-US" sz="130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3910432" y="3461004"/>
            <a:ext cx="256032" cy="256032"/>
          </a:xfrm>
          <a:prstGeom prst="rect">
            <a:avLst/>
          </a:prstGeom>
        </p:spPr>
      </p:pic>
      <p:sp>
        <p:nvSpPr>
          <p:cNvPr id="11" name="Shape 6"/>
          <p:cNvSpPr/>
          <p:nvPr/>
        </p:nvSpPr>
        <p:spPr>
          <a:xfrm>
            <a:off x="41984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461358" y="3326130"/>
            <a:ext cx="525780" cy="525780"/>
          </a:xfrm>
          <a:prstGeom prst="rect">
            <a:avLst/>
          </a:prstGeom>
        </p:spPr>
      </p:pic>
      <p:sp>
        <p:nvSpPr>
          <p:cNvPr id="13" name="Text 7"/>
          <p:cNvSpPr txBox="1"/>
          <p:nvPr/>
        </p:nvSpPr>
        <p:spPr>
          <a:xfrm>
            <a:off x="39241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IDENTIFICO</a:t>
            </a:r>
            <a:endParaRPr lang="en-US" sz="130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282032" y="3461004"/>
            <a:ext cx="256032" cy="256032"/>
          </a:xfrm>
          <a:prstGeom prst="rect">
            <a:avLst/>
          </a:prstGeom>
        </p:spPr>
      </p:pic>
      <p:sp>
        <p:nvSpPr>
          <p:cNvPr id="15" name="Shape 8"/>
          <p:cNvSpPr/>
          <p:nvPr/>
        </p:nvSpPr>
        <p:spPr>
          <a:xfrm>
            <a:off x="55700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32958" y="3326130"/>
            <a:ext cx="525780" cy="525780"/>
          </a:xfrm>
          <a:prstGeom prst="rect">
            <a:avLst/>
          </a:prstGeom>
        </p:spPr>
      </p:pic>
      <p:sp>
        <p:nvSpPr>
          <p:cNvPr id="17" name="Text 9"/>
          <p:cNvSpPr txBox="1"/>
          <p:nvPr/>
        </p:nvSpPr>
        <p:spPr>
          <a:xfrm>
            <a:off x="52957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PREVENGO</a:t>
            </a:r>
            <a:endParaRPr lang="en-US" sz="130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653632" y="3461004"/>
            <a:ext cx="256032" cy="256032"/>
          </a:xfrm>
          <a:prstGeom prst="rect">
            <a:avLst/>
          </a:prstGeom>
        </p:spPr>
      </p:pic>
      <p:sp>
        <p:nvSpPr>
          <p:cNvPr id="19" name="Shape 10"/>
          <p:cNvSpPr/>
          <p:nvPr/>
        </p:nvSpPr>
        <p:spPr>
          <a:xfrm>
            <a:off x="69416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204558" y="3326130"/>
            <a:ext cx="525780" cy="525780"/>
          </a:xfrm>
          <a:prstGeom prst="rect">
            <a:avLst/>
          </a:prstGeom>
        </p:spPr>
      </p:pic>
      <p:sp>
        <p:nvSpPr>
          <p:cNvPr id="21" name="Text 11"/>
          <p:cNvSpPr txBox="1"/>
          <p:nvPr/>
        </p:nvSpPr>
        <p:spPr>
          <a:xfrm>
            <a:off x="66673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ACTÚO</a:t>
            </a:r>
            <a:endParaRPr lang="en-US" sz="130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8025232" y="3461004"/>
            <a:ext cx="256032" cy="256032"/>
          </a:xfrm>
          <a:prstGeom prst="rect">
            <a:avLst/>
          </a:prstGeom>
        </p:spPr>
      </p:pic>
      <p:sp>
        <p:nvSpPr>
          <p:cNvPr id="23" name="Shape 12"/>
          <p:cNvSpPr/>
          <p:nvPr/>
        </p:nvSpPr>
        <p:spPr>
          <a:xfrm>
            <a:off x="83132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576158" y="3326130"/>
            <a:ext cx="525780" cy="525780"/>
          </a:xfrm>
          <a:prstGeom prst="rect">
            <a:avLst/>
          </a:prstGeom>
        </p:spPr>
      </p:pic>
      <p:sp>
        <p:nvSpPr>
          <p:cNvPr id="25" name="Text 13"/>
          <p:cNvSpPr txBox="1"/>
          <p:nvPr/>
        </p:nvSpPr>
        <p:spPr>
          <a:xfrm>
            <a:off x="80389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REPORTO</a:t>
            </a:r>
            <a:endParaRPr lang="en-US" sz="1300" dirty="0"/>
          </a:p>
        </p:txBody>
      </p:sp>
      <p:sp>
        <p:nvSpPr>
          <p:cNvPr id="26" name="Text 14"/>
          <p:cNvSpPr txBox="1"/>
          <p:nvPr/>
        </p:nvSpPr>
        <p:spPr>
          <a:xfrm>
            <a:off x="640080" y="5074920"/>
            <a:ext cx="10972800" cy="502920"/>
          </a:xfrm>
          <a:prstGeom prst="rect">
            <a:avLst/>
          </a:prstGeom>
          <a:noFill/>
          <a:ln/>
        </p:spPr>
        <p:txBody>
          <a:bodyPr wrap="square" lIns="0" tIns="0" rIns="0" bIns="0" rtlCol="0" anchor="ctr"/>
          <a:lstStyle/>
          <a:p>
            <a:pPr algn="ctr" indent="0" marL="0">
              <a:buNone/>
            </a:pPr>
            <a:r>
              <a:rPr lang="en-US" sz="2000" b="1" spc="100" kern="0" dirty="0">
                <a:solidFill>
                  <a:srgbClr val="2E86C7"/>
                </a:solidFill>
                <a:latin typeface="Calibri" pitchFamily="34" charset="0"/>
                <a:ea typeface="Calibri" pitchFamily="34" charset="-122"/>
                <a:cs typeface="Calibri" pitchFamily="34" charset="-120"/>
              </a:rPr>
              <a:t>¿VES UN RIESGO?  ¡REPÓRTALO!</a:t>
            </a:r>
            <a:endParaRPr lang="en-US" sz="2000" dirty="0"/>
          </a:p>
        </p:txBody>
      </p:sp>
      <p:pic>
        <p:nvPicPr>
          <p:cNvPr id="27" name="Image 9" descr="/tmp/claude-0/-home-user-riesgo/0ff9ff46-1396-5bd8-b3ac-2280dfbbbc55/scratchpad/work/gen/logo_navy.png">    </p:cNvPr>
          <p:cNvPicPr>
            <a:picLocks noChangeAspect="1"/>
          </p:cNvPicPr>
          <p:nvPr/>
        </p:nvPicPr>
        <p:blipFill>
          <a:blip r:embed="rId10"/>
          <a:stretch>
            <a:fillRect/>
          </a:stretch>
        </p:blipFill>
        <p:spPr>
          <a:xfrm>
            <a:off x="5318608" y="5779008"/>
            <a:ext cx="1554480" cy="436809"/>
          </a:xfrm>
          <a:prstGeom prst="rect">
            <a:avLst/>
          </a:prstGeom>
        </p:spPr>
      </p:pic>
      <p:sp>
        <p:nvSpPr>
          <p:cNvPr id="28"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8595360" y="3566160"/>
            <a:ext cx="6217920" cy="6217920"/>
          </a:xfrm>
          <a:prstGeom prst="ellipse">
            <a:avLst/>
          </a:prstGeom>
          <a:solidFill>
            <a:srgbClr val="F2F5F9"/>
          </a:solidFill>
          <a:ln/>
        </p:spPr>
      </p:sp>
      <p:sp>
        <p:nvSpPr>
          <p:cNvPr id="4" name="Shape 1"/>
          <p:cNvSpPr/>
          <p:nvPr/>
        </p:nvSpPr>
        <p:spPr>
          <a:xfrm>
            <a:off x="-2926080" y="-3291840"/>
            <a:ext cx="5486400" cy="5486400"/>
          </a:xfrm>
          <a:prstGeom prst="ellipse">
            <a:avLst/>
          </a:prstGeom>
          <a:solidFill>
            <a:srgbClr val="F2F5F9"/>
          </a:solidFill>
          <a:ln/>
        </p:spPr>
      </p:sp>
      <p:sp>
        <p:nvSpPr>
          <p:cNvPr id="5" name="Text 2"/>
          <p:cNvSpPr txBox="1"/>
          <p:nvPr/>
        </p:nvSpPr>
        <p:spPr>
          <a:xfrm>
            <a:off x="914400" y="685800"/>
            <a:ext cx="1828800" cy="1463040"/>
          </a:xfrm>
          <a:prstGeom prst="rect">
            <a:avLst/>
          </a:prstGeom>
          <a:noFill/>
          <a:ln/>
        </p:spPr>
        <p:txBody>
          <a:bodyPr wrap="square" lIns="0" tIns="0" rIns="0" bIns="0" rtlCol="0" anchor="ctr"/>
          <a:lstStyle/>
          <a:p>
            <a:pPr indent="0" marL="0">
              <a:buNone/>
            </a:pPr>
            <a:r>
              <a:rPr lang="en-US" sz="11000" b="1" dirty="0">
                <a:solidFill>
                  <a:srgbClr val="E3E8EF"/>
                </a:solidFill>
                <a:latin typeface="Cambria" pitchFamily="34" charset="0"/>
                <a:ea typeface="Cambria" pitchFamily="34" charset="-122"/>
                <a:cs typeface="Cambria" pitchFamily="34" charset="-120"/>
              </a:rPr>
              <a:t>“</a:t>
            </a:r>
            <a:endParaRPr lang="en-US" sz="11000" dirty="0"/>
          </a:p>
        </p:txBody>
      </p:sp>
      <p:sp>
        <p:nvSpPr>
          <p:cNvPr id="6" name="Text 3"/>
          <p:cNvSpPr txBox="1"/>
          <p:nvPr/>
        </p:nvSpPr>
        <p:spPr>
          <a:xfrm>
            <a:off x="914400" y="1965960"/>
            <a:ext cx="10360152" cy="1737360"/>
          </a:xfrm>
          <a:prstGeom prst="rect">
            <a:avLst/>
          </a:prstGeom>
          <a:noFill/>
          <a:ln/>
        </p:spPr>
        <p:txBody>
          <a:bodyPr wrap="square" lIns="0" tIns="0" rIns="0" bIns="0" rtlCol="0" anchor="ctr"/>
          <a:lstStyle/>
          <a:p>
            <a:pPr algn="ctr" indent="0" marL="0">
              <a:lnSpc>
                <a:spcPct val="120000"/>
              </a:lnSpc>
              <a:buNone/>
            </a:pPr>
            <a:r>
              <a:rPr lang="en-US" sz="3000" b="1" dirty="0">
                <a:solidFill>
                  <a:srgbClr val="133B6C"/>
                </a:solidFill>
                <a:latin typeface="Cambria" pitchFamily="34" charset="0"/>
                <a:ea typeface="Cambria" pitchFamily="34" charset="-122"/>
                <a:cs typeface="Cambria" pitchFamily="34" charset="-120"/>
              </a:rPr>
              <a:t>Un riesgo que reportamos a tiempo</a:t>
            </a:r>
            <a:endParaRPr lang="en-US" sz="3000" dirty="0"/>
          </a:p>
          <a:p>
            <a:pPr algn="ctr" indent="0" marL="0">
              <a:lnSpc>
                <a:spcPct val="120000"/>
              </a:lnSpc>
              <a:buNone/>
            </a:pPr>
            <a:r>
              <a:rPr lang="en-US" sz="3000" b="1" dirty="0">
                <a:solidFill>
                  <a:srgbClr val="133B6C"/>
                </a:solidFill>
                <a:latin typeface="Cambria" pitchFamily="34" charset="0"/>
                <a:ea typeface="Cambria" pitchFamily="34" charset="-122"/>
                <a:cs typeface="Cambria" pitchFamily="34" charset="-120"/>
              </a:rPr>
              <a:t>puede evitar un problema mañana.</a:t>
            </a:r>
            <a:endParaRPr lang="en-US" sz="3000" dirty="0"/>
          </a:p>
        </p:txBody>
      </p:sp>
      <p:sp>
        <p:nvSpPr>
          <p:cNvPr id="7" name="Text 4"/>
          <p:cNvSpPr txBox="1"/>
          <p:nvPr/>
        </p:nvSpPr>
        <p:spPr>
          <a:xfrm>
            <a:off x="1463040" y="3931920"/>
            <a:ext cx="9262872" cy="457200"/>
          </a:xfrm>
          <a:prstGeom prst="rect">
            <a:avLst/>
          </a:prstGeom>
          <a:noFill/>
          <a:ln/>
        </p:spPr>
        <p:txBody>
          <a:bodyPr wrap="square" lIns="0" tIns="0" rIns="0" bIns="0" rtlCol="0" anchor="ctr"/>
          <a:lstStyle/>
          <a:p>
            <a:pPr algn="ctr" indent="0" marL="0">
              <a:buNone/>
            </a:pPr>
            <a:r>
              <a:rPr lang="en-US" sz="15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500" dirty="0"/>
          </a:p>
        </p:txBody>
      </p:sp>
      <p:pic>
        <p:nvPicPr>
          <p:cNvPr id="8" name="Image 0" descr="/tmp/claude-0/-home-user-riesgo/0ff9ff46-1396-5bd8-b3ac-2280dfbbbc55/scratchpad/work/gen/logo_navy.png">    </p:cNvPr>
          <p:cNvPicPr>
            <a:picLocks noChangeAspect="1"/>
          </p:cNvPicPr>
          <p:nvPr/>
        </p:nvPicPr>
        <p:blipFill>
          <a:blip r:embed="rId1"/>
          <a:stretch>
            <a:fillRect/>
          </a:stretch>
        </p:blipFill>
        <p:spPr>
          <a:xfrm>
            <a:off x="5090008" y="5074920"/>
            <a:ext cx="2011680" cy="565282"/>
          </a:xfrm>
          <a:prstGeom prst="rect">
            <a:avLst/>
          </a:prstGeom>
        </p:spPr>
      </p:pic>
      <p:sp>
        <p:nvSpPr>
          <p:cNvPr id="9" name="Text 5"/>
          <p:cNvSpPr txBox="1"/>
          <p:nvPr/>
        </p:nvSpPr>
        <p:spPr>
          <a:xfrm>
            <a:off x="914400" y="6172200"/>
            <a:ext cx="10360152" cy="320040"/>
          </a:xfrm>
          <a:prstGeom prst="rect">
            <a:avLst/>
          </a:prstGeom>
          <a:noFill/>
          <a:ln/>
        </p:spPr>
        <p:txBody>
          <a:bodyPr wrap="square" lIns="0" tIns="0" rIns="0" bIns="0" rtlCol="0" anchor="ctr"/>
          <a:lstStyle/>
          <a:p>
            <a:pPr algn="ctr" indent="0" marL="0">
              <a:buNone/>
            </a:pPr>
            <a:r>
              <a:rPr lang="en-US" sz="110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2026-09-10T05:18:25Z</dcterms:created>
  <dcterms:modified xsi:type="dcterms:W3CDTF">2026-09-10T05:18:25Z</dcterms:modified>
</cp:coreProperties>
</file>