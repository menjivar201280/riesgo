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por frente. Columna izquierda: asuntos del informe anterior que siguen vigentes (plazos SSF). Columna derecha: actividades de la semana según el documento de actividades. Examen GIR 2026: avance 90%.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Línea de tiempo de requerimientos SSF. Plazos: 16/10 PLD/FT (Circ. 23486), 23/10 nuevas observaciones y 30/10 seguimiento de Gobierno Corporativo (Circ. 22741), 03/11 Plan de Recuperación (Circ. 22737). Visita de Riesgos Específicos (Circ. 22742): inicio 09/10, sin plazo de respuesta documentado. No se afirma si los envíos están cumplidos o pendientes.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Administración de Riesgos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 · Resumen ejecutivo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91840" y="1207008"/>
            <a:ext cx="4151376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91840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seguimiento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80376" y="1207008"/>
            <a:ext cx="4151376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0376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de la semana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27632"/>
            <a:ext cx="2697480" cy="1051560"/>
          </a:xfrm>
          <a:prstGeom prst="roundRect">
            <a:avLst>
              <a:gd name="adj" fmla="val 8696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197053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2071116"/>
            <a:ext cx="182880" cy="1828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43000" y="187909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Regulatorio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SSF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291840" y="1627632"/>
            <a:ext cx="4151376" cy="1051560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1700784"/>
            <a:ext cx="385876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PLD/FT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Plazo 16/10/2026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Corporativo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Plazos 23/10 y 30/10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Recuperación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Plazo 03/11/2026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Específicos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Inicio visita 09/10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580376" y="1627632"/>
            <a:ext cx="4151376" cy="1051560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44968" y="1700784"/>
            <a:ext cx="385876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y requerimiento a áreas – nota 22741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descargo – notas 22741 y 23486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visita de supervisión Gob. Corporativo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de Riesgo Específico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761488"/>
            <a:ext cx="2697480" cy="1170432"/>
          </a:xfrm>
          <a:prstGeom prst="roundRect">
            <a:avLst>
              <a:gd name="adj" fmla="val 781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1792" y="2962656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063240"/>
            <a:ext cx="182880" cy="1828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143000" y="287121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y control</a:t>
            </a:r>
            <a:endParaRPr lang="en-US" sz="1350" dirty="0"/>
          </a:p>
        </p:txBody>
      </p:sp>
      <p:sp>
        <p:nvSpPr>
          <p:cNvPr id="20" name="Text 16"/>
          <p:cNvSpPr txBox="1"/>
          <p:nvPr/>
        </p:nvSpPr>
        <p:spPr>
          <a:xfrm>
            <a:off x="621792" y="34015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 GIR 2026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21792" y="3621024"/>
            <a:ext cx="1828800" cy="100584"/>
          </a:xfrm>
          <a:prstGeom prst="roundRect">
            <a:avLst>
              <a:gd name="adj" fmla="val 45455"/>
            </a:avLst>
          </a:prstGeom>
          <a:solidFill>
            <a:srgbClr val="3C5A80"/>
          </a:solidFill>
          <a:ln w="12700">
            <a:solidFill>
              <a:srgbClr val="3C5A8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1792" y="3621024"/>
            <a:ext cx="1645920" cy="100584"/>
          </a:xfrm>
          <a:prstGeom prst="roundRect">
            <a:avLst>
              <a:gd name="adj" fmla="val 45455"/>
            </a:avLst>
          </a:prstGeom>
          <a:solidFill>
            <a:srgbClr val="F2B544"/>
          </a:solidFill>
          <a:ln w="12700">
            <a:solidFill>
              <a:srgbClr val="F2B544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496312" y="351129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3291840" y="2761488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456432" y="2834640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Matriz BIA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Gob. Corporativo y Reputacional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prueba de continuidad de negocio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7580376" y="2761488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744968" y="2834640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GIR 2026 e informe de seguimiento del examen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2.ª prueba de continuidad (01/10/2026)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 de acción Matriz 2026 y eventos TC / Orion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Opiniones: Fábrica de Créditos y caso de asociado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a Auditoría Interna (NRP-24) y Externa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457200" y="4014216"/>
            <a:ext cx="2697480" cy="1170432"/>
          </a:xfrm>
          <a:prstGeom prst="roundRect">
            <a:avLst>
              <a:gd name="adj" fmla="val 781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21792" y="441655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4517136"/>
            <a:ext cx="182880" cy="18288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143000" y="43251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Normativo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Avalúos y políticas</a:t>
            </a:r>
            <a:endParaRPr lang="en-US" sz="1350" dirty="0"/>
          </a:p>
        </p:txBody>
      </p:sp>
      <p:sp>
        <p:nvSpPr>
          <p:cNvPr id="32" name="Shape 27"/>
          <p:cNvSpPr/>
          <p:nvPr/>
        </p:nvSpPr>
        <p:spPr>
          <a:xfrm>
            <a:off x="3291840" y="4014216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456432" y="4087368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Política y Procedimientos de Avalúos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Perfil de Revisor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regulatorios (DAR)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7580376" y="4014216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7744968" y="4087368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Avalúos: perito, gestión electrónica y aviso a asociados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Descargo de avalúo anterior y mutuo hipotecario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Comparativos de políticas y acta de sesión 29/08/2026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Acuerdos Semestrales del Comité de Riesgos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Proyectos: formularios, BIA, Procesos y página web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457200" y="5266944"/>
            <a:ext cx="2697480" cy="1170432"/>
          </a:xfrm>
          <a:prstGeom prst="roundRect">
            <a:avLst>
              <a:gd name="adj" fmla="val 781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21792" y="5669280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5769864"/>
            <a:ext cx="182880" cy="18288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143000" y="557784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Financiero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Crédito, liquidez y TC</a:t>
            </a:r>
            <a:endParaRPr lang="en-US" sz="1350" dirty="0"/>
          </a:p>
        </p:txBody>
      </p:sp>
      <p:sp>
        <p:nvSpPr>
          <p:cNvPr id="40" name="Shape 34"/>
          <p:cNvSpPr/>
          <p:nvPr/>
        </p:nvSpPr>
        <p:spPr>
          <a:xfrm>
            <a:off x="3291840" y="5266944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3456432" y="5340096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Análisis de Cartera de TC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de cartera vencida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de Política de TC</a:t>
            </a:r>
            <a:endParaRPr lang="en-US" sz="1100" dirty="0"/>
          </a:p>
        </p:txBody>
      </p:sp>
      <p:sp>
        <p:nvSpPr>
          <p:cNvPr id="42" name="Shape 36"/>
          <p:cNvSpPr/>
          <p:nvPr/>
        </p:nvSpPr>
        <p:spPr>
          <a:xfrm>
            <a:off x="7580376" y="5266944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7744968" y="5340096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Informes al Comité: crédito, liquidez y mercado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SSF: NRP-05, NCB-022, NRP-41 y CTRI-RECR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Cartera TC y reserva de saneamiento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Traslados de deuda y segmentación de productos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créditos NRP-41 y TC de alto riesgo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457200" y="6519672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«En seguimiento»: asuntos del informe anterior que siguen vigentes. «Actividades de la semana»: documento de actividades semanales.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Compromisos Regulatorios y Próximos Hitos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de la Superintendencia del Sistema Financiero (SSF) · Seguimiento semanal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098280" y="484632"/>
            <a:ext cx="164592" cy="1645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17736" y="4572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012680" y="484632"/>
            <a:ext cx="164592" cy="164592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32136" y="4572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de visita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1247120" y="484632"/>
            <a:ext cx="164592" cy="164592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66576" y="4572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70310" y="1261872"/>
            <a:ext cx="5661442" cy="2432304"/>
          </a:xfrm>
          <a:prstGeom prst="roundRect">
            <a:avLst>
              <a:gd name="adj" fmla="val 451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7470" y="13167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FECHAS DE RESPUESTA SSF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2505456"/>
            <a:ext cx="11091672" cy="0"/>
          </a:xfrm>
          <a:prstGeom prst="line">
            <a:avLst/>
          </a:prstGeom>
          <a:noFill/>
          <a:ln w="25400">
            <a:solidFill>
              <a:srgbClr val="AFC0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43000" y="2249424"/>
            <a:ext cx="0" cy="256032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42416" y="2404872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" y="1481328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22/09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 resultado preliminar Plan de Recuperación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557707" y="2505456"/>
            <a:ext cx="0" cy="256032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57123" y="2404872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17043" y="2816352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24/09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 visita inicial Riesgos Específicos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972415" y="2249424"/>
            <a:ext cx="0" cy="256032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71831" y="2404872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31751" y="1481328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02/10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 resultados preliminares PLD/FT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387122" y="2505456"/>
            <a:ext cx="0" cy="256032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86538" y="2404872"/>
            <a:ext cx="201168" cy="201168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46458" y="2816352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visita Riesgos Específicos y recepción resultados Gob. Corp.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 · 22741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801830" y="2249424"/>
            <a:ext cx="0" cy="256032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82958" y="2386584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61166" y="1481328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16/10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a resultados preliminares PLD/FT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216537" y="2505456"/>
            <a:ext cx="0" cy="256032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97665" y="2386584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75873" y="2816352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23/10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nuevas observaciones Gob. Corporativo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631245" y="2249424"/>
            <a:ext cx="0" cy="256032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512373" y="2386584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90581" y="1481328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30/10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Gob. Corporativo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11045952" y="2505456"/>
            <a:ext cx="0" cy="256032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927080" y="2386584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305288" y="2816352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03/11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57200" y="3877056"/>
            <a:ext cx="1773936" cy="1810512"/>
          </a:xfrm>
          <a:prstGeom prst="roundRect">
            <a:avLst>
              <a:gd name="adj" fmla="val 5155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03504" y="398678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6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LÍMITE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603504" y="416966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16/10/2026</a:t>
            </a:r>
            <a:endParaRPr lang="en-US" sz="1900" dirty="0"/>
          </a:p>
        </p:txBody>
      </p:sp>
      <p:sp>
        <p:nvSpPr>
          <p:cNvPr id="40" name="Text 38"/>
          <p:cNvSpPr txBox="1"/>
          <p:nvPr/>
        </p:nvSpPr>
        <p:spPr>
          <a:xfrm>
            <a:off x="603504" y="4572000"/>
            <a:ext cx="1517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resultados preliminares PLD/FT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A9D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i="1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descargo en seguimiento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377440" y="3877056"/>
            <a:ext cx="1773936" cy="1810512"/>
          </a:xfrm>
          <a:prstGeom prst="roundRect">
            <a:avLst>
              <a:gd name="adj" fmla="val 515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523744" y="398678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LÍMITE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2523744" y="416966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23/10/2026</a:t>
            </a:r>
            <a:endParaRPr lang="en-US" sz="1900" dirty="0"/>
          </a:p>
        </p:txBody>
      </p:sp>
      <p:sp>
        <p:nvSpPr>
          <p:cNvPr id="44" name="Text 42"/>
          <p:cNvSpPr txBox="1"/>
          <p:nvPr/>
        </p:nvSpPr>
        <p:spPr>
          <a:xfrm>
            <a:off x="2523744" y="4572000"/>
            <a:ext cx="1517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observaciones – Gob. Corporativo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i="1" dirty="0">
                <a:solidFill>
                  <a:srgbClr val="3E4F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 remitido a las áreas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297680" y="3877056"/>
            <a:ext cx="1773936" cy="1810512"/>
          </a:xfrm>
          <a:prstGeom prst="roundRect">
            <a:avLst>
              <a:gd name="adj" fmla="val 515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443984" y="398678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4443984" y="416966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30/10/2026</a:t>
            </a:r>
            <a:endParaRPr lang="en-US" sz="1900" dirty="0"/>
          </a:p>
        </p:txBody>
      </p:sp>
      <p:sp>
        <p:nvSpPr>
          <p:cNvPr id="48" name="Text 46"/>
          <p:cNvSpPr txBox="1"/>
          <p:nvPr/>
        </p:nvSpPr>
        <p:spPr>
          <a:xfrm>
            <a:off x="4443984" y="4572000"/>
            <a:ext cx="1517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observaciones – Gob. Corporativo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i="1" dirty="0">
                <a:solidFill>
                  <a:srgbClr val="3E4F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solución, visitas anteriores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17920" y="3877056"/>
            <a:ext cx="1773936" cy="1810512"/>
          </a:xfrm>
          <a:prstGeom prst="roundRect">
            <a:avLst>
              <a:gd name="adj" fmla="val 515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364224" y="398678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LÍMITE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6364224" y="416966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03/11/2026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6364224" y="4572000"/>
            <a:ext cx="1517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i="1" dirty="0">
                <a:solidFill>
                  <a:srgbClr val="3E4F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Gob. Corp. y Reputacional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57200" y="5815584"/>
            <a:ext cx="7534656" cy="621792"/>
          </a:xfrm>
          <a:prstGeom prst="roundRect">
            <a:avLst>
              <a:gd name="adj" fmla="val 14706"/>
            </a:avLst>
          </a:prstGeom>
          <a:solidFill>
            <a:srgbClr val="D7F0F2"/>
          </a:solidFill>
          <a:ln w="12700">
            <a:solidFill>
              <a:srgbClr val="D7F0F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85216" y="5925312"/>
            <a:ext cx="402336" cy="402336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pic>
        <p:nvPicPr>
          <p:cNvPr id="5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025896"/>
            <a:ext cx="201168" cy="201168"/>
          </a:xfrm>
          <a:prstGeom prst="rect">
            <a:avLst/>
          </a:prstGeom>
        </p:spPr>
      </p:pic>
      <p:sp>
        <p:nvSpPr>
          <p:cNvPr id="56" name="Text 53"/>
          <p:cNvSpPr txBox="1"/>
          <p:nvPr/>
        </p:nvSpPr>
        <p:spPr>
          <a:xfrm>
            <a:off x="1115568" y="5870448"/>
            <a:ext cx="67574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inicial Riesgos Específicos · Circ. 22742  </a:t>
            </a:r>
            <a:pPr indent="0" marL="0"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Crédito, Liquidez y Mercado · recepción 24/09/2026, inicio 09/10/2026. Presentación de resultados preliminares registrada; plazo de respuesta no documentado.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8193024" y="3877056"/>
            <a:ext cx="3538728" cy="2560320"/>
          </a:xfrm>
          <a:prstGeom prst="roundRect">
            <a:avLst>
              <a:gd name="adj" fmla="val 4286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421624" y="4005072"/>
            <a:ext cx="3172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control gerencial</a:t>
            </a:r>
            <a:endParaRPr lang="en-US" sz="1500" dirty="0"/>
          </a:p>
        </p:txBody>
      </p:sp>
      <p:sp>
        <p:nvSpPr>
          <p:cNvPr id="59" name="Shape 56"/>
          <p:cNvSpPr/>
          <p:nvPr/>
        </p:nvSpPr>
        <p:spPr>
          <a:xfrm>
            <a:off x="8421624" y="4425696"/>
            <a:ext cx="329184" cy="329184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pic>
        <p:nvPicPr>
          <p:cNvPr id="6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7992"/>
            <a:ext cx="164592" cy="164592"/>
          </a:xfrm>
          <a:prstGeom prst="rect">
            <a:avLst/>
          </a:prstGeom>
        </p:spPr>
      </p:pic>
      <p:sp>
        <p:nvSpPr>
          <p:cNvPr id="61" name="Text 57"/>
          <p:cNvSpPr txBox="1"/>
          <p:nvPr/>
        </p:nvSpPr>
        <p:spPr>
          <a:xfrm>
            <a:off x="8869680" y="4389120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Coordinación entre áreas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D3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22741: Gerencia Financiera, Cumplimiento, Talento Humano, Procesos y otras áreas</a:t>
            </a:r>
            <a:endParaRPr lang="en-US" sz="1100" dirty="0"/>
          </a:p>
        </p:txBody>
      </p:sp>
      <p:sp>
        <p:nvSpPr>
          <p:cNvPr id="62" name="Shape 58"/>
          <p:cNvSpPr/>
          <p:nvPr/>
        </p:nvSpPr>
        <p:spPr>
          <a:xfrm>
            <a:off x="8421624" y="4928616"/>
            <a:ext cx="329184" cy="329184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pic>
        <p:nvPicPr>
          <p:cNvPr id="6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5010912"/>
            <a:ext cx="164592" cy="164592"/>
          </a:xfrm>
          <a:prstGeom prst="rect">
            <a:avLst/>
          </a:prstGeom>
        </p:spPr>
      </p:pic>
      <p:sp>
        <p:nvSpPr>
          <p:cNvPr id="64" name="Text 59"/>
          <p:cNvSpPr txBox="1"/>
          <p:nvPr/>
        </p:nvSpPr>
        <p:spPr>
          <a:xfrm>
            <a:off x="8869680" y="4892040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Evidencias y pruebas de descargo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D3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y remisión para notas 22741 y 23486</a:t>
            </a:r>
            <a:endParaRPr lang="en-US" sz="1100" dirty="0"/>
          </a:p>
        </p:txBody>
      </p:sp>
      <p:sp>
        <p:nvSpPr>
          <p:cNvPr id="65" name="Shape 60"/>
          <p:cNvSpPr/>
          <p:nvPr/>
        </p:nvSpPr>
        <p:spPr>
          <a:xfrm>
            <a:off x="8421624" y="5431536"/>
            <a:ext cx="329184" cy="329184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pic>
        <p:nvPicPr>
          <p:cNvPr id="6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5513832"/>
            <a:ext cx="164592" cy="164592"/>
          </a:xfrm>
          <a:prstGeom prst="rect">
            <a:avLst/>
          </a:prstGeom>
        </p:spPr>
      </p:pic>
      <p:sp>
        <p:nvSpPr>
          <p:cNvPr id="67" name="Text 61"/>
          <p:cNvSpPr txBox="1"/>
          <p:nvPr/>
        </p:nvSpPr>
        <p:spPr>
          <a:xfrm>
            <a:off x="8869680" y="5394960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Entregables y planes de acción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D3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Riesgos 2026, informes al Comité de Riesgos, Plan de Recuperación</a:t>
            </a:r>
            <a:endParaRPr lang="en-US" sz="1100" dirty="0"/>
          </a:p>
        </p:txBody>
      </p:sp>
      <p:sp>
        <p:nvSpPr>
          <p:cNvPr id="68" name="Shape 62"/>
          <p:cNvSpPr/>
          <p:nvPr/>
        </p:nvSpPr>
        <p:spPr>
          <a:xfrm>
            <a:off x="8421624" y="5934456"/>
            <a:ext cx="329184" cy="329184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pic>
        <p:nvPicPr>
          <p:cNvPr id="6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6016752"/>
            <a:ext cx="164592" cy="164592"/>
          </a:xfrm>
          <a:prstGeom prst="rect">
            <a:avLst/>
          </a:prstGeom>
        </p:spPr>
      </p:pic>
      <p:sp>
        <p:nvSpPr>
          <p:cNvPr id="70" name="Text 63"/>
          <p:cNvSpPr txBox="1"/>
          <p:nvPr/>
        </p:nvSpPr>
        <p:spPr>
          <a:xfrm>
            <a:off x="8869680" y="5897880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confirmar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D3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envío de cada requerimiento y responsable asignado</a:t>
            </a:r>
            <a:endParaRPr lang="en-US" sz="1100" dirty="0"/>
          </a:p>
        </p:txBody>
      </p:sp>
      <p:sp>
        <p:nvSpPr>
          <p:cNvPr id="71" name="Text 64"/>
          <p:cNvSpPr txBox="1"/>
          <p:nvPr/>
        </p:nvSpPr>
        <p:spPr>
          <a:xfrm>
            <a:off x="457200" y="6519672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Fechas según la presentación base (referencia 10/10/2026). Fecha límite, inicio de visita y recepción se distinguen en la leyenda; el estado de cada envío está por confirmar.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Resumen Ejecutivo de Riesgos – COMÉDICA</dc:title>
  <dc:subject>PptxGenJS Presentation</dc:subject>
  <dc:creator>Departamento de Administración de Riesgos</dc:creator>
  <cp:lastModifiedBy>Departamento de Administración de Riesgos</cp:lastModifiedBy>
  <cp:revision>1</cp:revision>
  <dcterms:created xsi:type="dcterms:W3CDTF">2026-10-16T17:07:41Z</dcterms:created>
  <dcterms:modified xsi:type="dcterms:W3CDTF">2026-10-16T17:07:41Z</dcterms:modified>
</cp:coreProperties>
</file>