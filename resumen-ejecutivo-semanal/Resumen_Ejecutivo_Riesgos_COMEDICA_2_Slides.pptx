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los cuatro frentes de gestión, integrando las actividades de S1 y S2. Examen GIR 2026: avance 90% (reportado). Avalúos: 60% según la presentación anterior, por confirmar. Los demás frentes se presentan sin estado porque los documentos no lo indican.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Línea de tiempo de requerimientos SSF. Plazos: 16/10 PLD/FT (Circ. 23486), 23/10 nuevas observaciones y 30/10 seguimiento de Gobierno Corporativo (Circ. 22741), 03/11 Plan de Recuperación (Circ. 22737). Visita de Riesgos Específicos (Circ. 22742): inicio 09/10, sin plazo de respuesta documentado. No se afirma si los envíos están cumplidos o 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Integral de Riesgos | Resumen Ejecutivo Semanal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Administración de Riesgos · COMÉDICA de R.L.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37192" y="384048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37192" y="3840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semanal · S1 – S2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2708910" cy="566928"/>
          </a:xfrm>
          <a:prstGeom prst="roundRect">
            <a:avLst>
              <a:gd name="adj" fmla="val 16129"/>
            </a:avLst>
          </a:prstGeom>
          <a:solidFill>
            <a:srgbClr val="D7F0F2"/>
          </a:solidFill>
          <a:ln w="12700">
            <a:solidFill>
              <a:srgbClr val="D7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120700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261872"/>
            <a:ext cx="1611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SSF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22737 · 22741 · 22742 · 23486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2414" y="1207008"/>
            <a:ext cx="2708910" cy="566928"/>
          </a:xfrm>
          <a:prstGeom prst="roundRect">
            <a:avLst>
              <a:gd name="adj" fmla="val 16129"/>
            </a:avLst>
          </a:prstGeom>
          <a:solidFill>
            <a:srgbClr val="D7F0F2"/>
          </a:solidFill>
          <a:ln w="12700">
            <a:solidFill>
              <a:srgbClr val="D7F0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8718" y="120700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318254" y="1261872"/>
            <a:ext cx="1611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GIR 2026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reportado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7628" y="1207008"/>
            <a:ext cx="2708910" cy="566928"/>
          </a:xfrm>
          <a:prstGeom prst="roundRect">
            <a:avLst>
              <a:gd name="adj" fmla="val 16129"/>
            </a:avLst>
          </a:prstGeom>
          <a:solidFill>
            <a:srgbClr val="D7F0F2"/>
          </a:solidFill>
          <a:ln w="12700">
            <a:solidFill>
              <a:srgbClr val="D7F0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13932" y="120700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173468" y="1261872"/>
            <a:ext cx="1611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avalúos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reporte · por confirmar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22842" y="1207008"/>
            <a:ext cx="2708910" cy="566928"/>
          </a:xfrm>
          <a:prstGeom prst="roundRect">
            <a:avLst>
              <a:gd name="adj" fmla="val 16129"/>
            </a:avLst>
          </a:prstGeom>
          <a:solidFill>
            <a:srgbClr val="D7F0F2"/>
          </a:solidFill>
          <a:ln w="12700">
            <a:solidFill>
              <a:srgbClr val="D7F0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69146" y="120700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01/10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0028682" y="1261872"/>
            <a:ext cx="1611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2.ª prueba de continuidad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resultados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920240"/>
            <a:ext cx="5564124" cy="2203704"/>
          </a:xfrm>
          <a:prstGeom prst="roundRect">
            <a:avLst>
              <a:gd name="adj" fmla="val 497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920240"/>
            <a:ext cx="5564124" cy="749808"/>
          </a:xfrm>
          <a:prstGeom prst="roundRect">
            <a:avLst>
              <a:gd name="adj" fmla="val 14634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560320"/>
            <a:ext cx="5564124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020824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125980"/>
            <a:ext cx="228600" cy="22860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25296" y="1993392"/>
            <a:ext cx="46497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Operacional y Continuidad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225296" y="2267712"/>
            <a:ext cx="46497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C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de riesgos, continuidad del negocio y control de eventos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76656" y="2775204"/>
            <a:ext cx="64008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32104" y="2706624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GIR 2026: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capacitación, examen e informe de seguimiento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76656" y="2999232"/>
            <a:ext cx="64008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2104" y="2930652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la 2.ª prueba (01/10/2026) y actualización Matriz BIA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76656" y="3223260"/>
            <a:ext cx="64008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2104" y="3154680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Riesgos Institucional 2026: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planes de acción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76656" y="3447288"/>
            <a:ext cx="64008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2104" y="3378708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caídas de TC (25/09) y Orion (26/09); ventana de mantenimiento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76656" y="3671316"/>
            <a:ext cx="64008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2104" y="3602736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Opiniones: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Fábrica de Créditos y caso asociado J. Jacobo Marroquín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76656" y="3895344"/>
            <a:ext cx="64008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32104" y="3826764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a Auditoría Interna (NRP-24) y Auditoría Externa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167628" y="1920240"/>
            <a:ext cx="5564124" cy="2203704"/>
          </a:xfrm>
          <a:prstGeom prst="roundRect">
            <a:avLst>
              <a:gd name="adj" fmla="val 497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167628" y="1920240"/>
            <a:ext cx="5564124" cy="749808"/>
          </a:xfrm>
          <a:prstGeom prst="roundRect">
            <a:avLst>
              <a:gd name="adj" fmla="val 14634"/>
            </a:avLst>
          </a:prstGeom>
          <a:solidFill>
            <a:srgbClr val="13507F"/>
          </a:solidFill>
          <a:ln w="12700">
            <a:solidFill>
              <a:srgbClr val="13507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67628" y="2560320"/>
            <a:ext cx="5564124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50508" y="2020824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125980"/>
            <a:ext cx="228600" cy="228600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6935724" y="1993392"/>
            <a:ext cx="46497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Normativo y Requerimientos SSF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6935724" y="2267712"/>
            <a:ext cx="46497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C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coordinados con las áreas y pruebas de descargo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6387084" y="2775204"/>
            <a:ext cx="64008" cy="64008"/>
          </a:xfrm>
          <a:prstGeom prst="rect">
            <a:avLst/>
          </a:prstGeom>
          <a:solidFill>
            <a:srgbClr val="13507F"/>
          </a:solidFill>
          <a:ln w="12700">
            <a:solidFill>
              <a:srgbClr val="13507F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542532" y="2706624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Gob. Corporativo · 22741: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a áreas y descargos (visita 18432)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6387084" y="2999232"/>
            <a:ext cx="64008" cy="64008"/>
          </a:xfrm>
          <a:prstGeom prst="rect">
            <a:avLst/>
          </a:prstGeom>
          <a:solidFill>
            <a:srgbClr val="13507F"/>
          </a:solidFill>
          <a:ln w="12700">
            <a:solidFill>
              <a:srgbClr val="13507F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542532" y="2930652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PLD/FT · 23486: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al envío de pruebas de descargo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6387084" y="3223260"/>
            <a:ext cx="64008" cy="64008"/>
          </a:xfrm>
          <a:prstGeom prst="rect">
            <a:avLst/>
          </a:prstGeom>
          <a:solidFill>
            <a:srgbClr val="13507F"/>
          </a:solidFill>
          <a:ln w="12700">
            <a:solidFill>
              <a:srgbClr val="13507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6542532" y="3154680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Específico · 22742: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resultados preliminares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6387084" y="3447288"/>
            <a:ext cx="64008" cy="64008"/>
          </a:xfrm>
          <a:prstGeom prst="rect">
            <a:avLst/>
          </a:prstGeom>
          <a:solidFill>
            <a:srgbClr val="13507F"/>
          </a:solidFill>
          <a:ln w="12700">
            <a:solidFill>
              <a:srgbClr val="13507F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6542532" y="3378708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Recuperación · 22737: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Gob. Corporativo y Reputacional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6387084" y="3671316"/>
            <a:ext cx="64008" cy="64008"/>
          </a:xfrm>
          <a:prstGeom prst="rect">
            <a:avLst/>
          </a:prstGeom>
          <a:solidFill>
            <a:srgbClr val="13507F"/>
          </a:solidFill>
          <a:ln w="12700">
            <a:solidFill>
              <a:srgbClr val="13507F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6542532" y="3602736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Avalúos: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política, procedimientos, perfil de revisor, peritos y avisos</a:t>
            </a:r>
            <a:endParaRPr lang="en-US" sz="1100" dirty="0"/>
          </a:p>
        </p:txBody>
      </p:sp>
      <p:sp>
        <p:nvSpPr>
          <p:cNvPr id="54" name="Shape 50"/>
          <p:cNvSpPr/>
          <p:nvPr/>
        </p:nvSpPr>
        <p:spPr>
          <a:xfrm>
            <a:off x="6387084" y="3895344"/>
            <a:ext cx="64008" cy="64008"/>
          </a:xfrm>
          <a:prstGeom prst="rect">
            <a:avLst/>
          </a:prstGeom>
          <a:solidFill>
            <a:srgbClr val="13507F"/>
          </a:solidFill>
          <a:ln w="12700">
            <a:solidFill>
              <a:srgbClr val="13507F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542532" y="3826764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y envíos: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 Semestrales (J. Vigilancia), acta 29/08/2026, DAR</a:t>
            </a:r>
            <a:endParaRPr lang="en-US" sz="1100" dirty="0"/>
          </a:p>
        </p:txBody>
      </p:sp>
      <p:sp>
        <p:nvSpPr>
          <p:cNvPr id="56" name="Shape 52"/>
          <p:cNvSpPr/>
          <p:nvPr/>
        </p:nvSpPr>
        <p:spPr>
          <a:xfrm>
            <a:off x="457200" y="4270248"/>
            <a:ext cx="5564124" cy="2203704"/>
          </a:xfrm>
          <a:prstGeom prst="roundRect">
            <a:avLst>
              <a:gd name="adj" fmla="val 497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57200" y="4270248"/>
            <a:ext cx="5564124" cy="749808"/>
          </a:xfrm>
          <a:prstGeom prst="roundRect">
            <a:avLst>
              <a:gd name="adj" fmla="val 14634"/>
            </a:avLst>
          </a:prstGeom>
          <a:solidFill>
            <a:srgbClr val="0A7480"/>
          </a:solidFill>
          <a:ln w="12700">
            <a:solidFill>
              <a:srgbClr val="0A7480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457200" y="4910328"/>
            <a:ext cx="5564124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640080" y="437083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4475988"/>
            <a:ext cx="228600" cy="228600"/>
          </a:xfrm>
          <a:prstGeom prst="rect">
            <a:avLst/>
          </a:prstGeom>
        </p:spPr>
      </p:pic>
      <p:sp>
        <p:nvSpPr>
          <p:cNvPr id="61" name="Text 56"/>
          <p:cNvSpPr txBox="1"/>
          <p:nvPr/>
        </p:nvSpPr>
        <p:spPr>
          <a:xfrm>
            <a:off x="1225296" y="4343400"/>
            <a:ext cx="46497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Financiero y Crediticio</a:t>
            </a:r>
            <a:endParaRPr lang="en-US" sz="1500" dirty="0"/>
          </a:p>
        </p:txBody>
      </p:sp>
      <p:sp>
        <p:nvSpPr>
          <p:cNvPr id="62" name="Text 57"/>
          <p:cNvSpPr txBox="1"/>
          <p:nvPr/>
        </p:nvSpPr>
        <p:spPr>
          <a:xfrm>
            <a:off x="1225296" y="4617720"/>
            <a:ext cx="46497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C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Medición, reportes regulatorios y control de cartera y reservas</a:t>
            </a:r>
            <a:endParaRPr lang="en-US" sz="1050" dirty="0"/>
          </a:p>
        </p:txBody>
      </p:sp>
      <p:sp>
        <p:nvSpPr>
          <p:cNvPr id="63" name="Shape 58"/>
          <p:cNvSpPr/>
          <p:nvPr/>
        </p:nvSpPr>
        <p:spPr>
          <a:xfrm>
            <a:off x="676656" y="5125212"/>
            <a:ext cx="64008" cy="64008"/>
          </a:xfrm>
          <a:prstGeom prst="rect">
            <a:avLst/>
          </a:prstGeom>
          <a:solidFill>
            <a:srgbClr val="0A7480"/>
          </a:solidFill>
          <a:ln w="12700">
            <a:solidFill>
              <a:srgbClr val="0A7480"/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832104" y="5056632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esperadas, matrices de transición y cosechas (Comité)</a:t>
            </a:r>
            <a:endParaRPr lang="en-US" sz="1100" dirty="0"/>
          </a:p>
        </p:txBody>
      </p:sp>
      <p:sp>
        <p:nvSpPr>
          <p:cNvPr id="65" name="Shape 60"/>
          <p:cNvSpPr/>
          <p:nvPr/>
        </p:nvSpPr>
        <p:spPr>
          <a:xfrm>
            <a:off x="676656" y="5349240"/>
            <a:ext cx="64008" cy="64008"/>
          </a:xfrm>
          <a:prstGeom prst="rect">
            <a:avLst/>
          </a:prstGeom>
          <a:solidFill>
            <a:srgbClr val="0A7480"/>
          </a:solidFill>
          <a:ln w="12700">
            <a:solidFill>
              <a:srgbClr val="0A7480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832104" y="5280660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y mercado: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al Comité, escenarios y anexo 03 NRP-05</a:t>
            </a:r>
            <a:endParaRPr lang="en-US" sz="1100" dirty="0"/>
          </a:p>
        </p:txBody>
      </p:sp>
      <p:sp>
        <p:nvSpPr>
          <p:cNvPr id="67" name="Shape 62"/>
          <p:cNvSpPr/>
          <p:nvPr/>
        </p:nvSpPr>
        <p:spPr>
          <a:xfrm>
            <a:off x="676656" y="5573268"/>
            <a:ext cx="64008" cy="64008"/>
          </a:xfrm>
          <a:prstGeom prst="rect">
            <a:avLst/>
          </a:prstGeom>
          <a:solidFill>
            <a:srgbClr val="0A7480"/>
          </a:solidFill>
          <a:ln w="12700">
            <a:solidFill>
              <a:srgbClr val="0A7480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832104" y="5504688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de riesgo: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NCB-022, Central de Riesgo, CTRI-RECR, relacionados</a:t>
            </a:r>
            <a:endParaRPr lang="en-US" sz="1100" dirty="0"/>
          </a:p>
        </p:txBody>
      </p:sp>
      <p:sp>
        <p:nvSpPr>
          <p:cNvPr id="69" name="Shape 64"/>
          <p:cNvSpPr/>
          <p:nvPr/>
        </p:nvSpPr>
        <p:spPr>
          <a:xfrm>
            <a:off x="676656" y="5797296"/>
            <a:ext cx="64008" cy="64008"/>
          </a:xfrm>
          <a:prstGeom prst="rect">
            <a:avLst/>
          </a:prstGeom>
          <a:solidFill>
            <a:srgbClr val="0A7480"/>
          </a:solidFill>
          <a:ln w="12700">
            <a:solidFill>
              <a:srgbClr val="0A7480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832104" y="5728716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crédito: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cartera, simulación de vencida, cuadratura</a:t>
            </a:r>
            <a:endParaRPr lang="en-US" sz="1100" dirty="0"/>
          </a:p>
        </p:txBody>
      </p:sp>
      <p:sp>
        <p:nvSpPr>
          <p:cNvPr id="71" name="Shape 66"/>
          <p:cNvSpPr/>
          <p:nvPr/>
        </p:nvSpPr>
        <p:spPr>
          <a:xfrm>
            <a:off x="676656" y="6021324"/>
            <a:ext cx="64008" cy="64008"/>
          </a:xfrm>
          <a:prstGeom prst="rect">
            <a:avLst/>
          </a:prstGeom>
          <a:solidFill>
            <a:srgbClr val="0A7480"/>
          </a:solidFill>
          <a:ln w="12700">
            <a:solidFill>
              <a:srgbClr val="0A7480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832104" y="5952744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y deuda: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saneamiento y registro de traslados de deuda</a:t>
            </a:r>
            <a:endParaRPr lang="en-US" sz="1100" dirty="0"/>
          </a:p>
        </p:txBody>
      </p:sp>
      <p:sp>
        <p:nvSpPr>
          <p:cNvPr id="73" name="Shape 68"/>
          <p:cNvSpPr/>
          <p:nvPr/>
        </p:nvSpPr>
        <p:spPr>
          <a:xfrm>
            <a:off x="676656" y="6245352"/>
            <a:ext cx="64008" cy="64008"/>
          </a:xfrm>
          <a:prstGeom prst="rect">
            <a:avLst/>
          </a:prstGeom>
          <a:solidFill>
            <a:srgbClr val="0A7480"/>
          </a:solidFill>
          <a:ln w="12700">
            <a:solidFill>
              <a:srgbClr val="0A7480"/>
            </a:solidFill>
            <a:prstDash val="solid"/>
          </a:ln>
        </p:spPr>
      </p:sp>
      <p:sp>
        <p:nvSpPr>
          <p:cNvPr id="74" name="Text 69"/>
          <p:cNvSpPr txBox="1"/>
          <p:nvPr/>
        </p:nvSpPr>
        <p:spPr>
          <a:xfrm>
            <a:off x="832104" y="6176772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TC, sistema de créditos NRP-41, TC de alto riesgo</a:t>
            </a:r>
            <a:endParaRPr lang="en-US" sz="1100" dirty="0"/>
          </a:p>
        </p:txBody>
      </p:sp>
      <p:sp>
        <p:nvSpPr>
          <p:cNvPr id="75" name="Shape 70"/>
          <p:cNvSpPr/>
          <p:nvPr/>
        </p:nvSpPr>
        <p:spPr>
          <a:xfrm>
            <a:off x="6167628" y="4270248"/>
            <a:ext cx="5564124" cy="2203704"/>
          </a:xfrm>
          <a:prstGeom prst="roundRect">
            <a:avLst>
              <a:gd name="adj" fmla="val 497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6167628" y="4270248"/>
            <a:ext cx="5564124" cy="749808"/>
          </a:xfrm>
          <a:prstGeom prst="roundRect">
            <a:avLst>
              <a:gd name="adj" fmla="val 14634"/>
            </a:avLst>
          </a:prstGeom>
          <a:solidFill>
            <a:srgbClr val="2E4A73"/>
          </a:solidFill>
          <a:ln w="12700">
            <a:solidFill>
              <a:srgbClr val="2E4A73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67628" y="4910328"/>
            <a:ext cx="5564124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6350508" y="437083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4475988"/>
            <a:ext cx="228600" cy="228600"/>
          </a:xfrm>
          <a:prstGeom prst="rect">
            <a:avLst/>
          </a:prstGeom>
        </p:spPr>
      </p:pic>
      <p:sp>
        <p:nvSpPr>
          <p:cNvPr id="80" name="Text 74"/>
          <p:cNvSpPr txBox="1"/>
          <p:nvPr/>
        </p:nvSpPr>
        <p:spPr>
          <a:xfrm>
            <a:off x="6935724" y="4343400"/>
            <a:ext cx="46497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Transversales</a:t>
            </a:r>
            <a:endParaRPr lang="en-US" sz="1500" dirty="0"/>
          </a:p>
        </p:txBody>
      </p:sp>
      <p:sp>
        <p:nvSpPr>
          <p:cNvPr id="81" name="Text 75"/>
          <p:cNvSpPr txBox="1"/>
          <p:nvPr/>
        </p:nvSpPr>
        <p:spPr>
          <a:xfrm>
            <a:off x="6935724" y="4617720"/>
            <a:ext cx="46497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C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institucional en coordinación con otras áreas</a:t>
            </a:r>
            <a:endParaRPr lang="en-US" sz="1050" dirty="0"/>
          </a:p>
        </p:txBody>
      </p:sp>
      <p:sp>
        <p:nvSpPr>
          <p:cNvPr id="82" name="Shape 76"/>
          <p:cNvSpPr/>
          <p:nvPr/>
        </p:nvSpPr>
        <p:spPr>
          <a:xfrm>
            <a:off x="6387084" y="5125212"/>
            <a:ext cx="64008" cy="64008"/>
          </a:xfrm>
          <a:prstGeom prst="rect">
            <a:avLst/>
          </a:prstGeom>
          <a:solidFill>
            <a:srgbClr val="2E4A73"/>
          </a:solidFill>
          <a:ln w="12700">
            <a:solidFill>
              <a:srgbClr val="2E4A73"/>
            </a:solidFill>
            <a:prstDash val="solid"/>
          </a:ln>
        </p:spPr>
      </p:sp>
      <p:sp>
        <p:nvSpPr>
          <p:cNvPr id="83" name="Text 77"/>
          <p:cNvSpPr txBox="1"/>
          <p:nvPr/>
        </p:nvSpPr>
        <p:spPr>
          <a:xfrm>
            <a:off x="6542532" y="5056632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para las entrevistas</a:t>
            </a:r>
            <a:endParaRPr lang="en-US" sz="1100" dirty="0"/>
          </a:p>
        </p:txBody>
      </p:sp>
      <p:sp>
        <p:nvSpPr>
          <p:cNvPr id="84" name="Shape 78"/>
          <p:cNvSpPr/>
          <p:nvPr/>
        </p:nvSpPr>
        <p:spPr>
          <a:xfrm>
            <a:off x="6387084" y="5349240"/>
            <a:ext cx="64008" cy="64008"/>
          </a:xfrm>
          <a:prstGeom prst="rect">
            <a:avLst/>
          </a:prstGeom>
          <a:solidFill>
            <a:srgbClr val="2E4A73"/>
          </a:solidFill>
          <a:ln w="12700">
            <a:solidFill>
              <a:srgbClr val="2E4A73"/>
            </a:solidFill>
            <a:prstDash val="solid"/>
          </a:ln>
        </p:spPr>
      </p:sp>
      <p:sp>
        <p:nvSpPr>
          <p:cNvPr id="85" name="Text 79"/>
          <p:cNvSpPr txBox="1"/>
          <p:nvPr/>
        </p:nvSpPr>
        <p:spPr>
          <a:xfrm>
            <a:off x="6542532" y="5280660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unificación de Actualización de Datos y Conozca a tu Cliente</a:t>
            </a:r>
            <a:endParaRPr lang="en-US" sz="1100" dirty="0"/>
          </a:p>
        </p:txBody>
      </p:sp>
      <p:sp>
        <p:nvSpPr>
          <p:cNvPr id="86" name="Shape 80"/>
          <p:cNvSpPr/>
          <p:nvPr/>
        </p:nvSpPr>
        <p:spPr>
          <a:xfrm>
            <a:off x="6387084" y="5573268"/>
            <a:ext cx="64008" cy="64008"/>
          </a:xfrm>
          <a:prstGeom prst="rect">
            <a:avLst/>
          </a:prstGeom>
          <a:solidFill>
            <a:srgbClr val="2E4A73"/>
          </a:solidFill>
          <a:ln w="12700">
            <a:solidFill>
              <a:srgbClr val="2E4A73"/>
            </a:solidFill>
            <a:prstDash val="solid"/>
          </a:ln>
        </p:spPr>
      </p:sp>
      <p:sp>
        <p:nvSpPr>
          <p:cNvPr id="87" name="Text 81"/>
          <p:cNvSpPr txBox="1"/>
          <p:nvPr/>
        </p:nvSpPr>
        <p:spPr>
          <a:xfrm>
            <a:off x="6542532" y="5504688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Comparativos de políticas: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tercerizados y gobierno corporativo</a:t>
            </a:r>
            <a:endParaRPr lang="en-US" sz="1100" dirty="0"/>
          </a:p>
        </p:txBody>
      </p:sp>
      <p:sp>
        <p:nvSpPr>
          <p:cNvPr id="88" name="Shape 82"/>
          <p:cNvSpPr/>
          <p:nvPr/>
        </p:nvSpPr>
        <p:spPr>
          <a:xfrm>
            <a:off x="6387084" y="5797296"/>
            <a:ext cx="64008" cy="64008"/>
          </a:xfrm>
          <a:prstGeom prst="rect">
            <a:avLst/>
          </a:prstGeom>
          <a:solidFill>
            <a:srgbClr val="2E4A73"/>
          </a:solidFill>
          <a:ln w="12700">
            <a:solidFill>
              <a:srgbClr val="2E4A73"/>
            </a:solidFill>
            <a:prstDash val="solid"/>
          </a:ln>
        </p:spPr>
      </p:sp>
      <p:sp>
        <p:nvSpPr>
          <p:cNvPr id="89" name="Text 83"/>
          <p:cNvSpPr txBox="1"/>
          <p:nvPr/>
        </p:nvSpPr>
        <p:spPr>
          <a:xfrm>
            <a:off x="6542532" y="5728716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Sistemas Informáticos y cambio de estructura del Depto.</a:t>
            </a:r>
            <a:endParaRPr lang="en-US" sz="1100" dirty="0"/>
          </a:p>
        </p:txBody>
      </p:sp>
      <p:sp>
        <p:nvSpPr>
          <p:cNvPr id="90" name="Shape 84"/>
          <p:cNvSpPr/>
          <p:nvPr/>
        </p:nvSpPr>
        <p:spPr>
          <a:xfrm>
            <a:off x="6387084" y="6021324"/>
            <a:ext cx="64008" cy="64008"/>
          </a:xfrm>
          <a:prstGeom prst="rect">
            <a:avLst/>
          </a:prstGeom>
          <a:solidFill>
            <a:srgbClr val="2E4A73"/>
          </a:solidFill>
          <a:ln w="12700">
            <a:solidFill>
              <a:srgbClr val="2E4A73"/>
            </a:solidFill>
            <a:prstDash val="solid"/>
          </a:ln>
        </p:spPr>
      </p:sp>
      <p:sp>
        <p:nvSpPr>
          <p:cNvPr id="91" name="Text 85"/>
          <p:cNvSpPr txBox="1"/>
          <p:nvPr/>
        </p:nvSpPr>
        <p:spPr>
          <a:xfrm>
            <a:off x="6542532" y="5952744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al Asociado: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 página web</a:t>
            </a:r>
            <a:endParaRPr lang="en-US" sz="1100" dirty="0"/>
          </a:p>
        </p:txBody>
      </p:sp>
      <p:sp>
        <p:nvSpPr>
          <p:cNvPr id="92" name="Shape 86"/>
          <p:cNvSpPr/>
          <p:nvPr/>
        </p:nvSpPr>
        <p:spPr>
          <a:xfrm>
            <a:off x="6387084" y="6245352"/>
            <a:ext cx="64008" cy="64008"/>
          </a:xfrm>
          <a:prstGeom prst="rect">
            <a:avLst/>
          </a:prstGeom>
          <a:solidFill>
            <a:srgbClr val="2E4A73"/>
          </a:solidFill>
          <a:ln w="12700">
            <a:solidFill>
              <a:srgbClr val="2E4A73"/>
            </a:solidFill>
            <a:prstDash val="solid"/>
          </a:ln>
        </p:spPr>
      </p:sp>
      <p:sp>
        <p:nvSpPr>
          <p:cNvPr id="93" name="Text 87"/>
          <p:cNvSpPr txBox="1"/>
          <p:nvPr/>
        </p:nvSpPr>
        <p:spPr>
          <a:xfrm>
            <a:off x="6542532" y="6176772"/>
            <a:ext cx="5006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segmentación de productos de COMEDICA</a:t>
            </a:r>
            <a:endParaRPr lang="en-US" sz="1100" dirty="0"/>
          </a:p>
        </p:txBody>
      </p:sp>
      <p:sp>
        <p:nvSpPr>
          <p:cNvPr id="94" name="Text 88"/>
          <p:cNvSpPr txBox="1"/>
          <p:nvPr/>
        </p:nvSpPr>
        <p:spPr>
          <a:xfrm>
            <a:off x="457200" y="6519672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presentación base «Resumen Ejecutivo Riesgos» y documento de actividades semanales. Sin estado documentado: se presenta solo la actividad.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Compromisos Regulatorios y Próximos Hitos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de la Superintendencia del Sistema Financiero (SSF) · Seguimiento semanal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098280" y="48463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17736" y="4572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12680" y="484632"/>
            <a:ext cx="164592" cy="16459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32136" y="4572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visita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247120" y="484632"/>
            <a:ext cx="164592" cy="164592"/>
          </a:xfrm>
          <a:prstGeom prst="diamond">
            <a:avLst/>
          </a:prstGeom>
          <a:solidFill>
            <a:srgbClr val="B86E00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66576" y="4572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70310" y="1261872"/>
            <a:ext cx="5661442" cy="2432304"/>
          </a:xfrm>
          <a:prstGeom prst="roundRect">
            <a:avLst>
              <a:gd name="adj" fmla="val 4511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07470" y="13167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DE RESPUESTA SSF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505456"/>
            <a:ext cx="11091672" cy="0"/>
          </a:xfrm>
          <a:prstGeom prst="line">
            <a:avLst/>
          </a:prstGeom>
          <a:noFill/>
          <a:ln w="25400">
            <a:solidFill>
              <a:srgbClr val="AFC0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2249424"/>
            <a:ext cx="0" cy="256032"/>
          </a:xfrm>
          <a:prstGeom prst="line">
            <a:avLst/>
          </a:prstGeom>
          <a:noFill/>
          <a:ln w="12700">
            <a:solidFill>
              <a:srgbClr val="8F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" y="2404872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" y="1481328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resultado preliminar Plan de Recuperación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Circ. 22737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57707" y="2505456"/>
            <a:ext cx="0" cy="256032"/>
          </a:xfrm>
          <a:prstGeom prst="line">
            <a:avLst/>
          </a:prstGeom>
          <a:noFill/>
          <a:ln w="12700">
            <a:solidFill>
              <a:srgbClr val="8F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57123" y="2404872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17043" y="2816352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24/09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visita inicial Riesgos Específicos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Circ. 22742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72415" y="2249424"/>
            <a:ext cx="0" cy="256032"/>
          </a:xfrm>
          <a:prstGeom prst="line">
            <a:avLst/>
          </a:prstGeom>
          <a:noFill/>
          <a:ln w="12700">
            <a:solidFill>
              <a:srgbClr val="8F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71831" y="2404872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31751" y="1481328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02/10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resultados preliminares PLD/FT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Circ. 23486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87122" y="2505456"/>
            <a:ext cx="0" cy="256032"/>
          </a:xfrm>
          <a:prstGeom prst="line">
            <a:avLst/>
          </a:prstGeom>
          <a:noFill/>
          <a:ln w="12700">
            <a:solidFill>
              <a:srgbClr val="8F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86538" y="2404872"/>
            <a:ext cx="201168" cy="2011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46458" y="2816352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visita Riesgos Específicos y recepción resultados Gob. Corp.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Circ. 22742 · 22741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01830" y="2249424"/>
            <a:ext cx="0" cy="256032"/>
          </a:xfrm>
          <a:prstGeom prst="line">
            <a:avLst/>
          </a:prstGeom>
          <a:noFill/>
          <a:ln w="12700">
            <a:solidFill>
              <a:srgbClr val="B86E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82958" y="2386584"/>
            <a:ext cx="237744" cy="237744"/>
          </a:xfrm>
          <a:prstGeom prst="diamond">
            <a:avLst/>
          </a:prstGeom>
          <a:solidFill>
            <a:srgbClr val="B86E00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61166" y="1481328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16/10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resultados preliminares PLD/FT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Circ. 23486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16537" y="2505456"/>
            <a:ext cx="0" cy="256032"/>
          </a:xfrm>
          <a:prstGeom prst="line">
            <a:avLst/>
          </a:prstGeom>
          <a:noFill/>
          <a:ln w="12700">
            <a:solidFill>
              <a:srgbClr val="B86E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7665" y="2386584"/>
            <a:ext cx="237744" cy="237744"/>
          </a:xfrm>
          <a:prstGeom prst="diamond">
            <a:avLst/>
          </a:prstGeom>
          <a:solidFill>
            <a:srgbClr val="B86E00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75873" y="2816352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23/10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nuevas observaciones Gob. Corporativo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Circ. 22741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31245" y="2249424"/>
            <a:ext cx="0" cy="256032"/>
          </a:xfrm>
          <a:prstGeom prst="line">
            <a:avLst/>
          </a:prstGeom>
          <a:noFill/>
          <a:ln w="12700">
            <a:solidFill>
              <a:srgbClr val="B86E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12373" y="2386584"/>
            <a:ext cx="237744" cy="237744"/>
          </a:xfrm>
          <a:prstGeom prst="diamond">
            <a:avLst/>
          </a:prstGeom>
          <a:solidFill>
            <a:srgbClr val="B86E00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890581" y="1481328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30/10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observaciones Gob. Corporativo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Circ. 22741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1045952" y="2505456"/>
            <a:ext cx="0" cy="256032"/>
          </a:xfrm>
          <a:prstGeom prst="line">
            <a:avLst/>
          </a:prstGeom>
          <a:noFill/>
          <a:ln w="12700">
            <a:solidFill>
              <a:srgbClr val="B86E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27080" y="2386584"/>
            <a:ext cx="237744" cy="237744"/>
          </a:xfrm>
          <a:prstGeom prst="diamond">
            <a:avLst/>
          </a:prstGeom>
          <a:solidFill>
            <a:srgbClr val="B86E00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05288" y="2816352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03/11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del Plan de Recuperación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Circ. 22737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3877056"/>
            <a:ext cx="1773936" cy="1810512"/>
          </a:xfrm>
          <a:prstGeom prst="roundRect">
            <a:avLst>
              <a:gd name="adj" fmla="val 515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3504" y="398678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6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LÍMITE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603504" y="416966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16/10/2026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603504" y="4572000"/>
            <a:ext cx="15179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resultados preliminares PLD/FT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9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23486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descargo en seguimiento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377440" y="3877056"/>
            <a:ext cx="1773936" cy="1810512"/>
          </a:xfrm>
          <a:prstGeom prst="roundRect">
            <a:avLst>
              <a:gd name="adj" fmla="val 51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523744" y="398678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LÍMITE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2523744" y="416966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23/10/2026</a:t>
            </a:r>
            <a:endParaRPr lang="en-US" sz="1900" dirty="0"/>
          </a:p>
        </p:txBody>
      </p:sp>
      <p:sp>
        <p:nvSpPr>
          <p:cNvPr id="44" name="Text 42"/>
          <p:cNvSpPr txBox="1"/>
          <p:nvPr/>
        </p:nvSpPr>
        <p:spPr>
          <a:xfrm>
            <a:off x="2523744" y="4572000"/>
            <a:ext cx="15179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observaciones – Gob. Corporativo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22741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3E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remitido a las áreas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297680" y="3877056"/>
            <a:ext cx="1773936" cy="1810512"/>
          </a:xfrm>
          <a:prstGeom prst="roundRect">
            <a:avLst>
              <a:gd name="adj" fmla="val 51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443984" y="398678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4443984" y="416966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30/10/2026</a:t>
            </a:r>
            <a:endParaRPr lang="en-US" sz="1900" dirty="0"/>
          </a:p>
        </p:txBody>
      </p:sp>
      <p:sp>
        <p:nvSpPr>
          <p:cNvPr id="48" name="Text 46"/>
          <p:cNvSpPr txBox="1"/>
          <p:nvPr/>
        </p:nvSpPr>
        <p:spPr>
          <a:xfrm>
            <a:off x="4443984" y="4572000"/>
            <a:ext cx="15179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observaciones – Gob. Corporativo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22741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3E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solución, visitas anteriores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17920" y="3877056"/>
            <a:ext cx="1773936" cy="1810512"/>
          </a:xfrm>
          <a:prstGeom prst="roundRect">
            <a:avLst>
              <a:gd name="adj" fmla="val 51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64224" y="398678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LÍMITE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6364224" y="416966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03/11/2026</a:t>
            </a:r>
            <a:endParaRPr lang="en-US" sz="1900" dirty="0"/>
          </a:p>
        </p:txBody>
      </p:sp>
      <p:sp>
        <p:nvSpPr>
          <p:cNvPr id="52" name="Text 50"/>
          <p:cNvSpPr txBox="1"/>
          <p:nvPr/>
        </p:nvSpPr>
        <p:spPr>
          <a:xfrm>
            <a:off x="6364224" y="4572000"/>
            <a:ext cx="15179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del Plan de Recuperación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22737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3E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Gob. Corp. y Reputacional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" y="5815584"/>
            <a:ext cx="7534656" cy="621792"/>
          </a:xfrm>
          <a:prstGeom prst="roundRect">
            <a:avLst>
              <a:gd name="adj" fmla="val 14706"/>
            </a:avLst>
          </a:prstGeom>
          <a:solidFill>
            <a:srgbClr val="D7F0F2"/>
          </a:solidFill>
          <a:ln w="12700">
            <a:solidFill>
              <a:srgbClr val="D7F0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5216" y="5925312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5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025896"/>
            <a:ext cx="201168" cy="201168"/>
          </a:xfrm>
          <a:prstGeom prst="rect">
            <a:avLst/>
          </a:prstGeom>
        </p:spPr>
      </p:pic>
      <p:sp>
        <p:nvSpPr>
          <p:cNvPr id="56" name="Text 53"/>
          <p:cNvSpPr txBox="1"/>
          <p:nvPr/>
        </p:nvSpPr>
        <p:spPr>
          <a:xfrm>
            <a:off x="1115568" y="5870448"/>
            <a:ext cx="6757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inicial Riesgos Específicos · Circ. 22742  </a:t>
            </a:r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Crédito, Liquidez y Mercado · recepción 24/09/2026, inicio 09/10/2026. Presentación de resultados preliminares registrada; plazo de respuesta no documentado.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8193024" y="3877056"/>
            <a:ext cx="3538728" cy="2560320"/>
          </a:xfrm>
          <a:prstGeom prst="roundRect">
            <a:avLst>
              <a:gd name="adj" fmla="val 428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421624" y="4005072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control gerencial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8421624" y="4425696"/>
            <a:ext cx="329184" cy="32918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4507992"/>
            <a:ext cx="164592" cy="164592"/>
          </a:xfrm>
          <a:prstGeom prst="rect">
            <a:avLst/>
          </a:prstGeom>
        </p:spPr>
      </p:pic>
      <p:sp>
        <p:nvSpPr>
          <p:cNvPr id="61" name="Text 57"/>
          <p:cNvSpPr txBox="1"/>
          <p:nvPr/>
        </p:nvSpPr>
        <p:spPr>
          <a:xfrm>
            <a:off x="8869680" y="438912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entre áreas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D3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22741: Gerencia Financiera, Cumplimiento, Talento Humano, Procesos y otras áreas</a:t>
            </a:r>
            <a:endParaRPr lang="en-US" sz="1100" dirty="0"/>
          </a:p>
        </p:txBody>
      </p:sp>
      <p:sp>
        <p:nvSpPr>
          <p:cNvPr id="62" name="Shape 58"/>
          <p:cNvSpPr/>
          <p:nvPr/>
        </p:nvSpPr>
        <p:spPr>
          <a:xfrm>
            <a:off x="8421624" y="4928616"/>
            <a:ext cx="329184" cy="32918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5010912"/>
            <a:ext cx="164592" cy="164592"/>
          </a:xfrm>
          <a:prstGeom prst="rect">
            <a:avLst/>
          </a:prstGeom>
        </p:spPr>
      </p:pic>
      <p:sp>
        <p:nvSpPr>
          <p:cNvPr id="64" name="Text 59"/>
          <p:cNvSpPr txBox="1"/>
          <p:nvPr/>
        </p:nvSpPr>
        <p:spPr>
          <a:xfrm>
            <a:off x="8869680" y="489204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pruebas de descargo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D3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y remisión para notas 22741 y 23486</a:t>
            </a:r>
            <a:endParaRPr lang="en-US" sz="1100" dirty="0"/>
          </a:p>
        </p:txBody>
      </p:sp>
      <p:sp>
        <p:nvSpPr>
          <p:cNvPr id="65" name="Shape 60"/>
          <p:cNvSpPr/>
          <p:nvPr/>
        </p:nvSpPr>
        <p:spPr>
          <a:xfrm>
            <a:off x="8421624" y="5431536"/>
            <a:ext cx="329184" cy="32918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5513832"/>
            <a:ext cx="164592" cy="164592"/>
          </a:xfrm>
          <a:prstGeom prst="rect">
            <a:avLst/>
          </a:prstGeom>
        </p:spPr>
      </p:pic>
      <p:sp>
        <p:nvSpPr>
          <p:cNvPr id="67" name="Text 61"/>
          <p:cNvSpPr txBox="1"/>
          <p:nvPr/>
        </p:nvSpPr>
        <p:spPr>
          <a:xfrm>
            <a:off x="8869680" y="539496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y planes de acción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D3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Riesgos 2026, informes al Comité de Riesgos, Plan de Recuperación</a:t>
            </a:r>
            <a:endParaRPr lang="en-US" sz="1100" dirty="0"/>
          </a:p>
        </p:txBody>
      </p:sp>
      <p:sp>
        <p:nvSpPr>
          <p:cNvPr id="68" name="Shape 62"/>
          <p:cNvSpPr/>
          <p:nvPr/>
        </p:nvSpPr>
        <p:spPr>
          <a:xfrm>
            <a:off x="8421624" y="5934456"/>
            <a:ext cx="329184" cy="32918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6016752"/>
            <a:ext cx="164592" cy="164592"/>
          </a:xfrm>
          <a:prstGeom prst="rect">
            <a:avLst/>
          </a:prstGeom>
        </p:spPr>
      </p:pic>
      <p:sp>
        <p:nvSpPr>
          <p:cNvPr id="70" name="Text 63"/>
          <p:cNvSpPr txBox="1"/>
          <p:nvPr/>
        </p:nvSpPr>
        <p:spPr>
          <a:xfrm>
            <a:off x="8869680" y="589788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confirmar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D3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envío de cada requerimiento y responsable asignado</a:t>
            </a:r>
            <a:endParaRPr lang="en-US" sz="1100" dirty="0"/>
          </a:p>
        </p:txBody>
      </p:sp>
      <p:sp>
        <p:nvSpPr>
          <p:cNvPr id="71" name="Text 64"/>
          <p:cNvSpPr txBox="1"/>
          <p:nvPr/>
        </p:nvSpPr>
        <p:spPr>
          <a:xfrm>
            <a:off x="457200" y="6519672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según la presentación base (referencia 10/10/2026). Fecha límite, inicio de visita y recepción se distinguen en la leyenda; el estado de cada envío está por confirmar.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Resumen Ejecutivo de Riesgos – COMÉDICA</dc:title>
  <dc:subject>PptxGenJS Presentation</dc:subject>
  <dc:creator>Departamento de Administración de Riesgos</dc:creator>
  <cp:lastModifiedBy>Departamento de Administración de Riesgos</cp:lastModifiedBy>
  <cp:revision>1</cp:revision>
  <dcterms:created xsi:type="dcterms:W3CDTF">2026-10-16T16:52:58Z</dcterms:created>
  <dcterms:modified xsi:type="dcterms:W3CDTF">2026-10-16T16:52:58Z</dcterms:modified>
</cp:coreProperties>
</file>