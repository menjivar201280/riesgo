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por frente. Columna izquierda: asuntos del informe anterior que siguen vigentes (plazos SSF). Columna derecha: actividades de la semana según el documento de actividades. Examen GIR 2026: avance 90%.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Corte 16/10. Plazo de respuesta PLD/FT: 16/10 (Circular 23486). Siguen Gobierno Corporativo el 23/10 y 30/10 (Circular 22741) y el Plan de Recuperación el 03/11 (Circular 22737).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91840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91840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seguimiento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0376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0376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de la semana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15341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2253996"/>
            <a:ext cx="182880" cy="1828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43000" y="206197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Regulatorio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SSF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291840" y="1627632"/>
            <a:ext cx="4151376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1700784"/>
            <a:ext cx="385876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– PLD/FT  ·  </a:t>
            </a:r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16/10/2026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– Gobierno Corporativo  ·  </a:t>
            </a:r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23/10/2026 · Nuevas observaciones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30/10/2026 · Seguimiento de 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  ·  </a:t>
            </a:r>
            <a:pPr indent="0" marL="0">
              <a:buNone/>
            </a:pPr>
            <a:r>
              <a:rPr lang="en-US" sz="10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03/11/2026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580376" y="1627632"/>
            <a:ext cx="4151376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44968" y="1700784"/>
            <a:ext cx="385876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según nota DS-SABAO-BCS-BC-22741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según nota DS-SABAO-BCS-BC-23486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resultados preliminares de Gestión de Riesgo Específico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visita de supervisión gobierno corporativo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3127248"/>
            <a:ext cx="2697480" cy="1188720"/>
          </a:xfrm>
          <a:prstGeom prst="roundRect">
            <a:avLst>
              <a:gd name="adj" fmla="val 769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" y="333756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438144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43000" y="32461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621792" y="377647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Examen GIR 2026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21792" y="3995928"/>
            <a:ext cx="1828800" cy="100584"/>
          </a:xfrm>
          <a:prstGeom prst="roundRect">
            <a:avLst>
              <a:gd name="adj" fmla="val 45455"/>
            </a:avLst>
          </a:prstGeom>
          <a:solidFill>
            <a:srgbClr val="3C5A80"/>
          </a:solidFill>
          <a:ln w="12700">
            <a:solidFill>
              <a:srgbClr val="3C5A8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" y="3995928"/>
            <a:ext cx="1645920" cy="100584"/>
          </a:xfrm>
          <a:prstGeom prst="roundRect">
            <a:avLst>
              <a:gd name="adj" fmla="val 45455"/>
            </a:avLst>
          </a:prstGeom>
          <a:solidFill>
            <a:srgbClr val="F2B544"/>
          </a:solidFill>
          <a:ln w="12700">
            <a:solidFill>
              <a:srgbClr val="F2B544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496312" y="38862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3291840" y="3127248"/>
            <a:ext cx="4151376" cy="1188720"/>
          </a:xfrm>
          <a:prstGeom prst="roundRect">
            <a:avLst>
              <a:gd name="adj" fmla="val 76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456432" y="3200400"/>
            <a:ext cx="38587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Examen GIR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Matriz BIA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prueba de continuidad de negocio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7580376" y="3127248"/>
            <a:ext cx="4151376" cy="1188720"/>
          </a:xfrm>
          <a:prstGeom prst="roundRect">
            <a:avLst>
              <a:gd name="adj" fmla="val 76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44968" y="3200400"/>
            <a:ext cx="38587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de GIR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segunda prueba de Continuidad del Negocio realizada el 01.10.2026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planes de acción Matriz de Riesgos Institucional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eventos de riesgos por caídas de TC 25.09.2026 y Orion 26.09.2026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57200" y="4398264"/>
            <a:ext cx="2697480" cy="987552"/>
          </a:xfrm>
          <a:prstGeom prst="roundRect">
            <a:avLst>
              <a:gd name="adj" fmla="val 9259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21792" y="470916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4809744"/>
            <a:ext cx="182880" cy="18288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43000" y="46177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Normativo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3291840" y="4398264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456432" y="4471416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Política de Avalúos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Procedimientos de Administración de Avalúos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Perfil de Revisor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7580376" y="4398264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744968" y="4471416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a perito valuador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Descargo de avalúo anterior y documento mutuo hipotecario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acta de sesión de fecha 29/08/2026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457200" y="5468112"/>
            <a:ext cx="2697480" cy="987552"/>
          </a:xfrm>
          <a:prstGeom prst="roundRect">
            <a:avLst>
              <a:gd name="adj" fmla="val 9259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21792" y="5779008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879592"/>
            <a:ext cx="182880" cy="18288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143000" y="5687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</a:t>
            </a:r>
            <a:endParaRPr lang="en-US" sz="1350" dirty="0"/>
          </a:p>
        </p:txBody>
      </p:sp>
      <p:sp>
        <p:nvSpPr>
          <p:cNvPr id="40" name="Shape 34"/>
          <p:cNvSpPr/>
          <p:nvPr/>
        </p:nvSpPr>
        <p:spPr>
          <a:xfrm>
            <a:off x="3291840" y="5468112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456432" y="5541264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Análisis de Cartera de TC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cartera vencida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TC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7580376" y="5468112"/>
            <a:ext cx="4151376" cy="987552"/>
          </a:xfrm>
          <a:prstGeom prst="roundRect">
            <a:avLst>
              <a:gd name="adj" fmla="val 925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744968" y="5541264"/>
            <a:ext cx="38587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información a la Central de Riesgo (NRP-41)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semanal de la reserva de saneamiento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permanente de los traslados de deuda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requerimientos SSF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Compromisos regulatorios y próximos hitos · Corte 16/10/2026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0" y="484632"/>
            <a:ext cx="164592" cy="164592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76" y="521208"/>
            <a:ext cx="91440" cy="91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6345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0469880" y="484632"/>
            <a:ext cx="164592" cy="164592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8933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SSF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261872"/>
            <a:ext cx="5575227" cy="2267712"/>
          </a:xfrm>
          <a:prstGeom prst="roundRect">
            <a:avLst>
              <a:gd name="adj" fmla="val 4839"/>
            </a:avLst>
          </a:prstGeom>
          <a:solidFill>
            <a:srgbClr val="E5F2EA"/>
          </a:solidFill>
          <a:ln w="12700">
            <a:solidFill>
              <a:srgbClr val="E5F2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13075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143000" y="2322576"/>
            <a:ext cx="9966960" cy="109728"/>
          </a:xfrm>
          <a:prstGeom prst="roundRect">
            <a:avLst>
              <a:gd name="adj" fmla="val 50000"/>
            </a:avLst>
          </a:prstGeom>
          <a:solidFill>
            <a:srgbClr val="D5DEE8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43000" y="2322576"/>
            <a:ext cx="5675811" cy="109728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152" y="2313432"/>
            <a:ext cx="128016" cy="12801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71500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741714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613698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706" y="2313432"/>
            <a:ext cx="128016" cy="12801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33054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inicial Riesgos Específicos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22742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587931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45991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923" y="2313432"/>
            <a:ext cx="128016" cy="12801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7927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203371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07535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9363" y="2313432"/>
            <a:ext cx="128016" cy="12801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49471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visita Riesgos Específicos · Resultados Gobierno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22742 · 22741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818811" y="2139696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69993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11015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300" dirty="0"/>
          </a:p>
        </p:txBody>
      </p:sp>
      <p:sp>
        <p:nvSpPr>
          <p:cNvPr id="32" name="Shape 25"/>
          <p:cNvSpPr/>
          <p:nvPr/>
        </p:nvSpPr>
        <p:spPr>
          <a:xfrm>
            <a:off x="8434251" y="2377440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831537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72559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observaciones Gobierno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10049691" y="2139696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3081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34103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Gobierno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10972800" y="2377440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10853928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10264140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41" name="Shape 34"/>
          <p:cNvSpPr/>
          <p:nvPr/>
        </p:nvSpPr>
        <p:spPr>
          <a:xfrm>
            <a:off x="6818811" y="2542032"/>
            <a:ext cx="0" cy="566928"/>
          </a:xfrm>
          <a:prstGeom prst="line">
            <a:avLst/>
          </a:prstGeom>
          <a:noFill/>
          <a:ln w="19050">
            <a:solidFill>
              <a:srgbClr val="B86E00"/>
            </a:solidFill>
            <a:prstDash val="dash"/>
          </a:ln>
        </p:spPr>
      </p:sp>
      <p:sp>
        <p:nvSpPr>
          <p:cNvPr id="42" name="Shape 35"/>
          <p:cNvSpPr/>
          <p:nvPr/>
        </p:nvSpPr>
        <p:spPr>
          <a:xfrm>
            <a:off x="6315891" y="31089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315891" y="3108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16/10</a:t>
            </a:r>
            <a:endParaRPr lang="en-US" sz="1050" dirty="0"/>
          </a:p>
        </p:txBody>
      </p:sp>
      <p:sp>
        <p:nvSpPr>
          <p:cNvPr id="44" name="Text 37"/>
          <p:cNvSpPr txBox="1"/>
          <p:nvPr/>
        </p:nvSpPr>
        <p:spPr>
          <a:xfrm>
            <a:off x="457200" y="36576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vencimientos</a:t>
            </a:r>
            <a:endParaRPr lang="en-US" sz="1600" dirty="0"/>
          </a:p>
        </p:txBody>
      </p:sp>
      <p:sp>
        <p:nvSpPr>
          <p:cNvPr id="45" name="Shape 38"/>
          <p:cNvSpPr/>
          <p:nvPr/>
        </p:nvSpPr>
        <p:spPr>
          <a:xfrm>
            <a:off x="457200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58368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</a:t>
            </a:r>
            <a:endParaRPr lang="en-US" sz="4000" dirty="0"/>
          </a:p>
        </p:txBody>
      </p:sp>
      <p:sp>
        <p:nvSpPr>
          <p:cNvPr id="47" name="Text 40"/>
          <p:cNvSpPr txBox="1"/>
          <p:nvPr/>
        </p:nvSpPr>
        <p:spPr>
          <a:xfrm>
            <a:off x="658368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respuesta resultados preliminares PLD/FT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A9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150" dirty="0"/>
          </a:p>
        </p:txBody>
      </p:sp>
      <p:sp>
        <p:nvSpPr>
          <p:cNvPr id="48" name="Shape 41"/>
          <p:cNvSpPr/>
          <p:nvPr/>
        </p:nvSpPr>
        <p:spPr>
          <a:xfrm>
            <a:off x="3321558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3522726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0" name="Text 43"/>
          <p:cNvSpPr txBox="1"/>
          <p:nvPr/>
        </p:nvSpPr>
        <p:spPr>
          <a:xfrm>
            <a:off x="3522726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nuevas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51" name="Shape 44"/>
          <p:cNvSpPr/>
          <p:nvPr/>
        </p:nvSpPr>
        <p:spPr>
          <a:xfrm>
            <a:off x="6185916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6387084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3" name="Text 46"/>
          <p:cNvSpPr txBox="1"/>
          <p:nvPr/>
        </p:nvSpPr>
        <p:spPr>
          <a:xfrm>
            <a:off x="6387084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54" name="Shape 47"/>
          <p:cNvSpPr/>
          <p:nvPr/>
        </p:nvSpPr>
        <p:spPr>
          <a:xfrm>
            <a:off x="9050274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9251442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6" name="Text 49"/>
          <p:cNvSpPr txBox="1"/>
          <p:nvPr/>
        </p:nvSpPr>
        <p:spPr>
          <a:xfrm>
            <a:off x="9251442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57" name="Text 50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Específicos (Circular 22742): inicio de visita 09/10/2026.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 – COMÉDICA</dc:title>
  <dc:subject>PptxGenJS Presentation</dc:subject>
  <dc:creator>Departamento de Administración de Riesgos</dc:creator>
  <cp:lastModifiedBy>Departamento de Administración de Riesgos</cp:lastModifiedBy>
  <cp:revision>1</cp:revision>
  <dcterms:created xsi:type="dcterms:W3CDTF">2026-10-16T19:52:18Z</dcterms:created>
  <dcterms:modified xsi:type="dcterms:W3CDTF">2026-10-16T19:52:18Z</dcterms:modified>
</cp:coreProperties>
</file>