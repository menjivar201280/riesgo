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Plazo de respuesta PLD/FT: 16/10 (Circular 23486). Siguen Gobierno Corporativo el 23/10 y 30/10 (Circular 22741) y el Plan de Recuperación el 03/11 (Circular 22737).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130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23113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2039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37160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00784"/>
            <a:ext cx="3858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PLD/FT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16/10/2026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Gobierno Corporativo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23/10/2026 · Nuevas observaciones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30/10/2026 · Seguimiento de 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03/11/2026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37160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DS-SABAO-BCS-BC-22741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DS-SABAO-BCS-BC-23486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resultados preliminares de Gestión de Riesgo Específico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gobierno corporativo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081528"/>
            <a:ext cx="2697480" cy="1152144"/>
          </a:xfrm>
          <a:prstGeom prst="roundRect">
            <a:avLst>
              <a:gd name="adj" fmla="val 7937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3273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374136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3182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71246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931920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931920"/>
            <a:ext cx="1700784" cy="100584"/>
          </a:xfrm>
          <a:prstGeom prst="roundRect">
            <a:avLst>
              <a:gd name="adj" fmla="val 45455"/>
            </a:avLst>
          </a:prstGeom>
          <a:solidFill>
            <a:srgbClr val="5FB3E8"/>
          </a:solidFill>
          <a:ln w="12700">
            <a:solidFill>
              <a:srgbClr val="5FB3E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3081528"/>
            <a:ext cx="4151376" cy="1152144"/>
          </a:xfrm>
          <a:prstGeom prst="roundRect">
            <a:avLst>
              <a:gd name="adj" fmla="val 793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3154680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580376" y="3081528"/>
            <a:ext cx="4151376" cy="1152144"/>
          </a:xfrm>
          <a:prstGeom prst="roundRect">
            <a:avLst>
              <a:gd name="adj" fmla="val 793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3154680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de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segunda prueba de Continuidad del Negocio realizada el 01.10.2026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planes de acción Matriz de Riesgos Institucional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eventos de riesgos por caídas de TC 25.09.2026 y Orion 26.09.2026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57200" y="4315968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727448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828032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6360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431596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438912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Procedimientos de Administración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7580376" y="431596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438912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a perito valuador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documento mutuo hipotecario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acta de sesión de fecha 29/08/2026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servicios tercerizados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gobierno corporativo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57200" y="5586984"/>
            <a:ext cx="2697480" cy="896112"/>
          </a:xfrm>
          <a:prstGeom prst="roundRect">
            <a:avLst>
              <a:gd name="adj" fmla="val 10204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58521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952744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7607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5586984"/>
            <a:ext cx="4151376" cy="896112"/>
          </a:xfrm>
          <a:prstGeom prst="roundRect">
            <a:avLst>
              <a:gd name="adj" fmla="val 102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5660136"/>
            <a:ext cx="3858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7580376" y="5586984"/>
            <a:ext cx="4151376" cy="896112"/>
          </a:xfrm>
          <a:prstGeom prst="roundRect">
            <a:avLst>
              <a:gd name="adj" fmla="val 102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5660136"/>
            <a:ext cx="3858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0" y="484632"/>
            <a:ext cx="164592" cy="164592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76" y="521208"/>
            <a:ext cx="91440" cy="91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634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0469880" y="484632"/>
            <a:ext cx="164592" cy="164592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893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261872"/>
            <a:ext cx="5575227" cy="2267712"/>
          </a:xfrm>
          <a:prstGeom prst="roundRect">
            <a:avLst>
              <a:gd name="adj" fmla="val 4839"/>
            </a:avLst>
          </a:prstGeom>
          <a:solidFill>
            <a:srgbClr val="E5F2EA"/>
          </a:solidFill>
          <a:ln w="12700">
            <a:solidFill>
              <a:srgbClr val="E5F2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1307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143000" y="2322576"/>
            <a:ext cx="9966960" cy="109728"/>
          </a:xfrm>
          <a:prstGeom prst="roundRect">
            <a:avLst>
              <a:gd name="adj" fmla="val 50000"/>
            </a:avLst>
          </a:prstGeom>
          <a:solidFill>
            <a:srgbClr val="D5DEE8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2322576"/>
            <a:ext cx="5675811" cy="109728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2313432"/>
            <a:ext cx="128016" cy="12801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71500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741714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13698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706" y="2313432"/>
            <a:ext cx="128016" cy="1280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33054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587931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5991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923" y="2313432"/>
            <a:ext cx="128016" cy="1280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7927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203371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07535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9363" y="2313432"/>
            <a:ext cx="128016" cy="12801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49471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 · 22741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818811" y="2139696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99939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11015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8434251" y="2377440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315379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72559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10049691" y="2139696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30819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34103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972800" y="2377440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10853928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10264140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6818811" y="2542032"/>
            <a:ext cx="0" cy="566928"/>
          </a:xfrm>
          <a:prstGeom prst="line">
            <a:avLst/>
          </a:prstGeom>
          <a:noFill/>
          <a:ln w="19050">
            <a:solidFill>
              <a:srgbClr val="1F6FB2"/>
            </a:solidFill>
            <a:prstDash val="dash"/>
          </a:ln>
        </p:spPr>
      </p:sp>
      <p:sp>
        <p:nvSpPr>
          <p:cNvPr id="42" name="Shape 35"/>
          <p:cNvSpPr/>
          <p:nvPr/>
        </p:nvSpPr>
        <p:spPr>
          <a:xfrm>
            <a:off x="631589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31589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5" name="Shape 38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CC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40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resultados preliminares PLD/FT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150" dirty="0"/>
          </a:p>
        </p:txBody>
      </p:sp>
      <p:sp>
        <p:nvSpPr>
          <p:cNvPr id="48" name="Shape 41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0" name="Text 43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1" name="Shape 44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3" name="Text 46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4" name="Shape 47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6" name="Text 49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57" name="Text 50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(Circular 22742): inicio de visita 09/10/2026.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2026-10-16T20:16:21Z</dcterms:created>
  <dcterms:modified xsi:type="dcterms:W3CDTF">2026-10-16T20:16:21Z</dcterms:modified>
</cp:coreProperties>
</file>