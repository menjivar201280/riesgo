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 los cuatro frentes de gestión, integrando las actividades de S1 y S2. Examen GIR 2026: avance 90% (reportado). Avalúos: 60% según la presentación anterior, por confirmar. Los demás frentes se presentan sin estado porque los documentos no lo indican.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Línea de tiempo de requerimientos SSF. Plazos: 16/10 PLD/FT (Circ. 23486), 23/10 nuevas observaciones y 30/10 seguimiento de Gobierno Corporativo (Circ. 22741), 03/11 Plan de Recuperación (Circ. 22737). Visita de Riesgos Específicos (Circ. 22742): inicio 09/10, sin plazo de respuesta documentado. No se afirma si los envíos están cumplidos o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Integral de Riesgos | Resumen Ejecutivo Semanal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 · COMÉDICA de R.L.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537192" y="411480"/>
            <a:ext cx="2194560" cy="329184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37192" y="4114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semanal · S1 – S2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5522976" cy="2487168"/>
          </a:xfrm>
          <a:prstGeom prst="roundRect">
            <a:avLst>
              <a:gd name="adj" fmla="val 441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536192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659636"/>
            <a:ext cx="265176" cy="26517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16736" y="150876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 y Continuidad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316736" y="181051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de riesgos, continuidad del negocio y control de eventos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352544" y="1463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352544" y="1728216"/>
            <a:ext cx="960120" cy="100584"/>
          </a:xfrm>
          <a:prstGeom prst="roundRect">
            <a:avLst>
              <a:gd name="adj" fmla="val 45455"/>
            </a:avLst>
          </a:prstGeom>
          <a:solidFill>
            <a:srgbClr val="D5DDE6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52544" y="1728216"/>
            <a:ext cx="864108" cy="100584"/>
          </a:xfrm>
          <a:prstGeom prst="roundRect">
            <a:avLst>
              <a:gd name="adj" fmla="val 45455"/>
            </a:avLst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58384" y="16459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" y="2194560"/>
            <a:ext cx="51023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capacitación, examen e informe de seguimiento del examen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la 2.ª prueba (01/10/2026) y actualización de Matriz BIA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Institucional 2026: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planes de acción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de TC (25/09) y Orion (26/09); ventana de mantenimiento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 e informes: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Fábrica de Créditos; caso asociado J. Jacobo Marroquín; Acuerdos Semestrales del Comité de Riesgos (Junta de Vigilancia)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a Auditoría Interna (NRP-24) y Auditoría Externa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08776" y="1353312"/>
            <a:ext cx="5522976" cy="2487168"/>
          </a:xfrm>
          <a:prstGeom prst="roundRect">
            <a:avLst>
              <a:gd name="adj" fmla="val 441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09944" y="1536192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388" y="165963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68312" y="1508760"/>
            <a:ext cx="2935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 y SSF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7068312" y="181051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 coordinados con las áreas y pruebas de descargo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10104120" y="1463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(último reporte)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10104120" y="1728216"/>
            <a:ext cx="960120" cy="100584"/>
          </a:xfrm>
          <a:prstGeom prst="roundRect">
            <a:avLst>
              <a:gd name="adj" fmla="val 45455"/>
            </a:avLst>
          </a:prstGeom>
          <a:solidFill>
            <a:srgbClr val="D5DDE6"/>
          </a:solidFill>
          <a:ln w="12700">
            <a:solidFill>
              <a:srgbClr val="D5DD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0104120" y="1728216"/>
            <a:ext cx="576072" cy="100584"/>
          </a:xfrm>
          <a:prstGeom prst="roundRect">
            <a:avLst>
              <a:gd name="adj" fmla="val 45455"/>
            </a:avLst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1109960" y="164592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428232" y="2194560"/>
            <a:ext cx="51023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· 22741: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requerimiento, solicitudes a áreas y seguimiento de descargos (visita 18432)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· 23486: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al envío de pruebas de descargo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Específico · 22742: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 preliminares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· 22737: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Gobierno Corporativo y Reputacional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política, procedimientos y perfil de revisor; asignación a perito, gestión electrónica y aviso a asociados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(DAR); acta de sesión del 29/08/2026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3986784"/>
            <a:ext cx="5522976" cy="2487168"/>
          </a:xfrm>
          <a:prstGeom prst="roundRect">
            <a:avLst>
              <a:gd name="adj" fmla="val 441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58368" y="4169664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4293108"/>
            <a:ext cx="265176" cy="265176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16736" y="414223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 y Crediticio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316736" y="4443984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Medición, reportes regulatorios y control de cartera y reservas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676656" y="4828032"/>
            <a:ext cx="51023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al Comité – pérdidas esperadas, matrices de transición, cosechas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y mercado: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al Comité, escenarios regulatorios y anexo 03 NRP-05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NCB-022, Central de Riesgo (NRP-41), CTRI-RECR y créditos relacionados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y reservas: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cartera TC, simulación de vencida; reserva de saneamiento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deuda, segmentación de productos, consultas de aspirantes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TC, sistema de créditos (NRP-41), expedientes TC de alto riesgo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208776" y="3986784"/>
            <a:ext cx="5522976" cy="2487168"/>
          </a:xfrm>
          <a:prstGeom prst="roundRect">
            <a:avLst>
              <a:gd name="adj" fmla="val 4412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409944" y="4169664"/>
            <a:ext cx="512064" cy="512064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3388" y="4293108"/>
            <a:ext cx="265176" cy="265176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7068312" y="4142232"/>
            <a:ext cx="4425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Transversales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7068312" y="4443984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institucional en coordinación con otras áreas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6428232" y="4828032"/>
            <a:ext cx="510235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del cuestionario para entrevistas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unificación de Actualización de Datos (Atención al Asociado) y Conozca a tu Cliente (Oficialía de Cumplimiento)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tercerizados y gobierno corporativo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Administración de Sistemas Informáticos y solicitud de cambio de estructura del Departamento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■"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al Asociado:  </a:t>
            </a:r>
            <a:pPr indent="0" marL="0">
              <a:buNone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página web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presentación base «Resumen Ejecutivo Riesgos» y documento de actividades semanales. Sin estado documentado: se presenta solo la actividad.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de la Superintendencia del Sistema Financiero (SSF) · Seguimiento semanal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098280" y="484632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177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0012680" y="484632"/>
            <a:ext cx="164592" cy="164592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23213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visita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24712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66576" y="4572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70310" y="1261872"/>
            <a:ext cx="5661442" cy="2432304"/>
          </a:xfrm>
          <a:prstGeom prst="roundRect">
            <a:avLst>
              <a:gd name="adj" fmla="val 451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7470" y="13167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DE RESPUESTA SSF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505456"/>
            <a:ext cx="11091672" cy="0"/>
          </a:xfrm>
          <a:prstGeom prst="line">
            <a:avLst/>
          </a:prstGeom>
          <a:noFill/>
          <a:ln w="25400">
            <a:solidFill>
              <a:srgbClr val="AFC0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43000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2416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 preliminar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57707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457123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1704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visita inicial Riesgos Específicos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972415" y="2249424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71831" y="240487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54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3175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87122" y="2505456"/>
            <a:ext cx="0" cy="256032"/>
          </a:xfrm>
          <a:prstGeom prst="line">
            <a:avLst/>
          </a:prstGeom>
          <a:noFill/>
          <a:ln w="12700">
            <a:solidFill>
              <a:srgbClr val="8FA3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6538" y="2404872"/>
            <a:ext cx="201168" cy="201168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645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y recepción resultados Gob. Corp.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01830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82958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61166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resultados preliminares PLD/FT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216537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97665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475873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31245" y="2249424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12373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90581" y="1481328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1045952" y="2505456"/>
            <a:ext cx="0" cy="256032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927080" y="2386584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05288" y="2816352"/>
            <a:ext cx="14813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5720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350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60350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16/10/2026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60350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en seguimiento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237744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52374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252374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900" dirty="0"/>
          </a:p>
        </p:txBody>
      </p:sp>
      <p:sp>
        <p:nvSpPr>
          <p:cNvPr id="44" name="Text 42"/>
          <p:cNvSpPr txBox="1"/>
          <p:nvPr/>
        </p:nvSpPr>
        <p:spPr>
          <a:xfrm>
            <a:off x="252374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remitido a las áreas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29768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44398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44398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900" dirty="0"/>
          </a:p>
        </p:txBody>
      </p:sp>
      <p:sp>
        <p:nvSpPr>
          <p:cNvPr id="48" name="Text 46"/>
          <p:cNvSpPr txBox="1"/>
          <p:nvPr/>
        </p:nvSpPr>
        <p:spPr>
          <a:xfrm>
            <a:off x="444398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observaciones – Gob. Corporativo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solución, visitas anteriores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3877056"/>
            <a:ext cx="1773936" cy="1810512"/>
          </a:xfrm>
          <a:prstGeom prst="roundRect">
            <a:avLst>
              <a:gd name="adj" fmla="val 5155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364224" y="3986784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LÍMITE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6364224" y="4169664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6364224" y="4572000"/>
            <a:ext cx="15179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Gob. Corp. y Reputacional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7534656" cy="621792"/>
          </a:xfrm>
          <a:prstGeom prst="roundRect">
            <a:avLst>
              <a:gd name="adj" fmla="val 14706"/>
            </a:avLst>
          </a:prstGeom>
          <a:solidFill>
            <a:srgbClr val="D7F0F2"/>
          </a:solidFill>
          <a:ln w="12700">
            <a:solidFill>
              <a:srgbClr val="D7F0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5216" y="5925312"/>
            <a:ext cx="402336" cy="402336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5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025896"/>
            <a:ext cx="201168" cy="201168"/>
          </a:xfrm>
          <a:prstGeom prst="rect">
            <a:avLst/>
          </a:prstGeom>
        </p:spPr>
      </p:pic>
      <p:sp>
        <p:nvSpPr>
          <p:cNvPr id="56" name="Text 53"/>
          <p:cNvSpPr txBox="1"/>
          <p:nvPr/>
        </p:nvSpPr>
        <p:spPr>
          <a:xfrm>
            <a:off x="1115568" y="5870448"/>
            <a:ext cx="67574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 · Circ. 22742  </a:t>
            </a:r>
            <a:pPr indent="0" marL="0">
              <a:buNone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Mercado · recepción 24/09/2026, inicio 09/10/2026. Presentación de resultados preliminares registrada; plazo de respuesta no documentado.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193024" y="3877056"/>
            <a:ext cx="3538728" cy="2560320"/>
          </a:xfrm>
          <a:prstGeom prst="roundRect">
            <a:avLst>
              <a:gd name="adj" fmla="val 428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421624" y="4005072"/>
            <a:ext cx="3172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control gerencial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421624" y="442569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7992"/>
            <a:ext cx="164592" cy="164592"/>
          </a:xfrm>
          <a:prstGeom prst="rect">
            <a:avLst/>
          </a:prstGeom>
        </p:spPr>
      </p:pic>
      <p:sp>
        <p:nvSpPr>
          <p:cNvPr id="61" name="Text 57"/>
          <p:cNvSpPr txBox="1"/>
          <p:nvPr/>
        </p:nvSpPr>
        <p:spPr>
          <a:xfrm>
            <a:off x="8869680" y="438912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entre áreas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22741: Gerencia Financiera, Cumplimiento, Talento Humano, Procesos y otras áreas</a:t>
            </a:r>
            <a:endParaRPr lang="en-US" sz="1100" dirty="0"/>
          </a:p>
        </p:txBody>
      </p:sp>
      <p:sp>
        <p:nvSpPr>
          <p:cNvPr id="62" name="Shape 58"/>
          <p:cNvSpPr/>
          <p:nvPr/>
        </p:nvSpPr>
        <p:spPr>
          <a:xfrm>
            <a:off x="8421624" y="492861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5010912"/>
            <a:ext cx="164592" cy="164592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8869680" y="489204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Evidencias y pruebas de descargo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y remisión para notas 22741 y 23486</a:t>
            </a:r>
            <a:endParaRPr lang="en-US" sz="1100" dirty="0"/>
          </a:p>
        </p:txBody>
      </p:sp>
      <p:sp>
        <p:nvSpPr>
          <p:cNvPr id="65" name="Shape 60"/>
          <p:cNvSpPr/>
          <p:nvPr/>
        </p:nvSpPr>
        <p:spPr>
          <a:xfrm>
            <a:off x="8421624" y="543153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5513832"/>
            <a:ext cx="164592" cy="164592"/>
          </a:xfrm>
          <a:prstGeom prst="rect">
            <a:avLst/>
          </a:prstGeom>
        </p:spPr>
      </p:pic>
      <p:sp>
        <p:nvSpPr>
          <p:cNvPr id="67" name="Text 61"/>
          <p:cNvSpPr txBox="1"/>
          <p:nvPr/>
        </p:nvSpPr>
        <p:spPr>
          <a:xfrm>
            <a:off x="8869680" y="539496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Entregables y planes de acción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Riesgos 2026, informes al Comité de Riesgos, Plan de Recuperación</a:t>
            </a:r>
            <a:endParaRPr lang="en-US" sz="1100" dirty="0"/>
          </a:p>
        </p:txBody>
      </p:sp>
      <p:sp>
        <p:nvSpPr>
          <p:cNvPr id="68" name="Shape 62"/>
          <p:cNvSpPr/>
          <p:nvPr/>
        </p:nvSpPr>
        <p:spPr>
          <a:xfrm>
            <a:off x="8421624" y="5934456"/>
            <a:ext cx="329184" cy="329184"/>
          </a:xfrm>
          <a:prstGeom prst="ellipse">
            <a:avLst/>
          </a:prstGeom>
          <a:solidFill>
            <a:srgbClr val="0E9AA7"/>
          </a:solidFill>
          <a:ln w="12700">
            <a:solidFill>
              <a:srgbClr val="0E9AA7"/>
            </a:solidFill>
            <a:prstDash val="solid"/>
          </a:ln>
        </p:spPr>
      </p:sp>
      <p:pic>
        <p:nvPicPr>
          <p:cNvPr id="6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6016752"/>
            <a:ext cx="164592" cy="164592"/>
          </a:xfrm>
          <a:prstGeom prst="rect">
            <a:avLst/>
          </a:prstGeom>
        </p:spPr>
      </p:pic>
      <p:sp>
        <p:nvSpPr>
          <p:cNvPr id="70" name="Text 63"/>
          <p:cNvSpPr txBox="1"/>
          <p:nvPr/>
        </p:nvSpPr>
        <p:spPr>
          <a:xfrm>
            <a:off x="8869680" y="58978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confirmar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D3D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envío de cada requerimiento y responsable asignado</a:t>
            </a:r>
            <a:endParaRPr lang="en-US" sz="1100" dirty="0"/>
          </a:p>
        </p:txBody>
      </p:sp>
      <p:sp>
        <p:nvSpPr>
          <p:cNvPr id="71" name="Text 64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según la presentación base (referencia 10/10/2026). Fecha límite, inicio de visita y recepción se distinguen en la leyenda; el estado de cada envío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2026-10-16T16:49:31Z</dcterms:created>
  <dcterms:modified xsi:type="dcterms:W3CDTF">2026-10-16T16:49:31Z</dcterms:modified>
</cp:coreProperties>
</file>