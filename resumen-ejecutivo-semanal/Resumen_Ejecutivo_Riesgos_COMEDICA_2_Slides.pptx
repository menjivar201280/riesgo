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por frente. Columna izquierda: asuntos del informe anterior que siguen vigentes (plazos SSF). Columna derecha: actividades de la semana según el documento de actividades. Examen GIR 2026: avance 90%.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Corte 16/10. Plazo de respuesta PLD/FT: 16/10 (Circ. 23486). Siguen Gobierno Corporativo el 23/10 y 30/10 (Circ. 22741) y el Plan de Recuperación el 03/11 (Circ. 22737).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de Administración de Riesgos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semanal · Resumen ejecutivo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91840" y="1207008"/>
            <a:ext cx="4151376" cy="31089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91840" y="1207008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seguimiento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580376" y="1207008"/>
            <a:ext cx="4151376" cy="31089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80376" y="1207008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Actividades de la semana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27632"/>
            <a:ext cx="2697480" cy="1051560"/>
          </a:xfrm>
          <a:prstGeom prst="roundRect">
            <a:avLst>
              <a:gd name="adj" fmla="val 8696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1970532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2071116"/>
            <a:ext cx="182880" cy="1828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43000" y="187909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 Regulatorio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 SSF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3291840" y="1627632"/>
            <a:ext cx="4151376" cy="1051560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56432" y="1700784"/>
            <a:ext cx="385876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PLD/FT  ·  </a:t>
            </a:r>
            <a:pPr indent="0" marL="0">
              <a:buNone/>
            </a:pPr>
            <a:r>
              <a:rPr lang="en-US" sz="11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23486</a:t>
            </a:r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Plazo 16/10/2026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 Corporativo  ·  </a:t>
            </a:r>
            <a:pPr indent="0" marL="0">
              <a:buNone/>
            </a:pPr>
            <a:r>
              <a:rPr lang="en-US" sz="11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22741</a:t>
            </a:r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Plazos 23/10 y 30/10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Recuperación  ·  </a:t>
            </a:r>
            <a:pPr indent="0" marL="0">
              <a:buNone/>
            </a:pPr>
            <a:r>
              <a:rPr lang="en-US" sz="11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22737</a:t>
            </a:r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Plazo 03/11/2026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Específicos  ·  </a:t>
            </a:r>
            <a:pPr indent="0" marL="0">
              <a:buNone/>
            </a:pPr>
            <a:r>
              <a:rPr lang="en-US" sz="11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22742</a:t>
            </a:r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Inicio visita 09/10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580376" y="1627632"/>
            <a:ext cx="4151376" cy="1051560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44968" y="1700784"/>
            <a:ext cx="385876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y requerimiento a áreas – nota 22741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descargo – notas 22741 y 23486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visita de supervisión Gob. Corporativo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preliminares de Riesgo Específico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761488"/>
            <a:ext cx="2697480" cy="1170432"/>
          </a:xfrm>
          <a:prstGeom prst="roundRect">
            <a:avLst>
              <a:gd name="adj" fmla="val 7813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21792" y="2962656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3063240"/>
            <a:ext cx="182880" cy="18288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143000" y="287121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Operacional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y control</a:t>
            </a:r>
            <a:endParaRPr lang="en-US" sz="1350" dirty="0"/>
          </a:p>
        </p:txBody>
      </p:sp>
      <p:sp>
        <p:nvSpPr>
          <p:cNvPr id="20" name="Text 16"/>
          <p:cNvSpPr txBox="1"/>
          <p:nvPr/>
        </p:nvSpPr>
        <p:spPr>
          <a:xfrm>
            <a:off x="621792" y="340156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 GIR 2026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621792" y="3621024"/>
            <a:ext cx="1828800" cy="100584"/>
          </a:xfrm>
          <a:prstGeom prst="roundRect">
            <a:avLst>
              <a:gd name="adj" fmla="val 45455"/>
            </a:avLst>
          </a:prstGeom>
          <a:solidFill>
            <a:srgbClr val="3C5A80"/>
          </a:solidFill>
          <a:ln w="12700">
            <a:solidFill>
              <a:srgbClr val="3C5A8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21792" y="3621024"/>
            <a:ext cx="1645920" cy="100584"/>
          </a:xfrm>
          <a:prstGeom prst="roundRect">
            <a:avLst>
              <a:gd name="adj" fmla="val 45455"/>
            </a:avLst>
          </a:prstGeom>
          <a:solidFill>
            <a:srgbClr val="F2B544"/>
          </a:solidFill>
          <a:ln w="12700">
            <a:solidFill>
              <a:srgbClr val="F2B544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496312" y="351129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3291840" y="2761488"/>
            <a:ext cx="4151376" cy="1170432"/>
          </a:xfrm>
          <a:prstGeom prst="roundRect">
            <a:avLst>
              <a:gd name="adj" fmla="val 781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456432" y="2834640"/>
            <a:ext cx="385876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Matriz BIA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Gob. Corporativo y Reputacional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prueba de continuidad de negocio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7580376" y="2761488"/>
            <a:ext cx="4151376" cy="1170432"/>
          </a:xfrm>
          <a:prstGeom prst="roundRect">
            <a:avLst>
              <a:gd name="adj" fmla="val 781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744968" y="2834640"/>
            <a:ext cx="385876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GIR 2026 e informe de seguimiento del examen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2.ª prueba de continuidad (01/10/2026)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Planes de acción Matriz 2026 y eventos TC / Orion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Opiniones: Fábrica de Créditos y caso de asociado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a Auditoría Interna (NRP-24) y Externa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457200" y="4014216"/>
            <a:ext cx="2697480" cy="1170432"/>
          </a:xfrm>
          <a:prstGeom prst="roundRect">
            <a:avLst>
              <a:gd name="adj" fmla="val 7813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21792" y="4416552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4517136"/>
            <a:ext cx="182880" cy="18288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143000" y="43251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Normativo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Avalúos y políticas</a:t>
            </a:r>
            <a:endParaRPr lang="en-US" sz="1350" dirty="0"/>
          </a:p>
        </p:txBody>
      </p:sp>
      <p:sp>
        <p:nvSpPr>
          <p:cNvPr id="32" name="Shape 27"/>
          <p:cNvSpPr/>
          <p:nvPr/>
        </p:nvSpPr>
        <p:spPr>
          <a:xfrm>
            <a:off x="3291840" y="4014216"/>
            <a:ext cx="4151376" cy="1170432"/>
          </a:xfrm>
          <a:prstGeom prst="roundRect">
            <a:avLst>
              <a:gd name="adj" fmla="val 781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456432" y="4087368"/>
            <a:ext cx="385876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Política y Procedimientos de Avalúos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Perfil de Revisor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Envíos regulatorios (DAR)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7580376" y="4014216"/>
            <a:ext cx="4151376" cy="1170432"/>
          </a:xfrm>
          <a:prstGeom prst="roundRect">
            <a:avLst>
              <a:gd name="adj" fmla="val 781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7744968" y="4087368"/>
            <a:ext cx="385876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Avalúos: perito, gestión electrónica y aviso a asociados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Descargo de avalúo anterior y mutuo hipotecario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Comparativos de políticas y acta de sesión 29/08/2026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Acuerdos Semestrales del Comité de Riesgos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Proyectos: formularios, BIA, Procesos y página web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457200" y="5266944"/>
            <a:ext cx="2697480" cy="1170432"/>
          </a:xfrm>
          <a:prstGeom prst="roundRect">
            <a:avLst>
              <a:gd name="adj" fmla="val 7813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21792" y="5669280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5769864"/>
            <a:ext cx="182880" cy="18288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1143000" y="557784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Financiero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Crédito, liquidez y TC</a:t>
            </a:r>
            <a:endParaRPr lang="en-US" sz="1350" dirty="0"/>
          </a:p>
        </p:txBody>
      </p:sp>
      <p:sp>
        <p:nvSpPr>
          <p:cNvPr id="40" name="Shape 34"/>
          <p:cNvSpPr/>
          <p:nvPr/>
        </p:nvSpPr>
        <p:spPr>
          <a:xfrm>
            <a:off x="3291840" y="5266944"/>
            <a:ext cx="4151376" cy="1170432"/>
          </a:xfrm>
          <a:prstGeom prst="roundRect">
            <a:avLst>
              <a:gd name="adj" fmla="val 781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3456432" y="5340096"/>
            <a:ext cx="385876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Análisis de Cartera de TC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Simulación de cartera vencida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de Política de TC</a:t>
            </a:r>
            <a:endParaRPr lang="en-US" sz="1100" dirty="0"/>
          </a:p>
        </p:txBody>
      </p:sp>
      <p:sp>
        <p:nvSpPr>
          <p:cNvPr id="42" name="Shape 36"/>
          <p:cNvSpPr/>
          <p:nvPr/>
        </p:nvSpPr>
        <p:spPr>
          <a:xfrm>
            <a:off x="7580376" y="5266944"/>
            <a:ext cx="4151376" cy="1170432"/>
          </a:xfrm>
          <a:prstGeom prst="roundRect">
            <a:avLst>
              <a:gd name="adj" fmla="val 781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7744968" y="5340096"/>
            <a:ext cx="385876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Informes al Comité: crédito, liquidez y mercado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Envíos SSF: NRP-05, NCB-022, NRP-41 y CTRI-RECR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Cartera TC y reserva de saneamiento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Traslados de deuda y segmentación de productos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créditos NRP-41 y TC de alto riesgo</a:t>
            </a:r>
            <a:endParaRPr lang="en-US" sz="1100" dirty="0"/>
          </a:p>
        </p:txBody>
      </p:sp>
      <p:sp>
        <p:nvSpPr>
          <p:cNvPr id="44" name="Text 38"/>
          <p:cNvSpPr txBox="1"/>
          <p:nvPr/>
        </p:nvSpPr>
        <p:spPr>
          <a:xfrm>
            <a:off x="457200" y="6519672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«En seguimiento»: asuntos del informe anterior que siguen vigentes. «Actividades de la semana»: documento de actividades semanales.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de requerimientos SSF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Compromisos regulatorios y próximos hitos · Corte 16/10/2026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41080" y="484632"/>
            <a:ext cx="164592" cy="164592"/>
          </a:xfrm>
          <a:prstGeom prst="ellipse">
            <a:avLst/>
          </a:prstGeom>
          <a:solidFill>
            <a:srgbClr val="0B2545"/>
          </a:solidFill>
          <a:ln w="25400">
            <a:solidFill>
              <a:srgbClr val="0B25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860536" y="4572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Recepción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601200" y="484632"/>
            <a:ext cx="164592" cy="164592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20656" y="4572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de visita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881360" y="484632"/>
            <a:ext cx="164592" cy="164592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100816" y="4572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SSF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143000" y="2322576"/>
            <a:ext cx="9966960" cy="109728"/>
          </a:xfrm>
          <a:prstGeom prst="roundRect">
            <a:avLst>
              <a:gd name="adj" fmla="val 50000"/>
            </a:avLst>
          </a:prstGeom>
          <a:solidFill>
            <a:srgbClr val="D5DEE8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3000" y="2322576"/>
            <a:ext cx="5675811" cy="109728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0160" y="2139696"/>
            <a:ext cx="0" cy="237744"/>
          </a:xfrm>
          <a:prstGeom prst="line">
            <a:avLst/>
          </a:prstGeom>
          <a:noFill/>
          <a:ln w="12700">
            <a:solidFill>
              <a:srgbClr val="8FA3B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79576" y="2276856"/>
            <a:ext cx="201168" cy="201168"/>
          </a:xfrm>
          <a:prstGeom prst="ellipse">
            <a:avLst/>
          </a:prstGeom>
          <a:solidFill>
            <a:srgbClr val="0B2545"/>
          </a:solidFill>
          <a:ln w="25400">
            <a:solidFill>
              <a:srgbClr val="0B254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71500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22/09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preliminar Plan de Recuperación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22737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741714" y="2377440"/>
            <a:ext cx="0" cy="237744"/>
          </a:xfrm>
          <a:prstGeom prst="line">
            <a:avLst/>
          </a:prstGeom>
          <a:noFill/>
          <a:ln w="12700">
            <a:solidFill>
              <a:srgbClr val="8F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41130" y="2276856"/>
            <a:ext cx="201168" cy="201168"/>
          </a:xfrm>
          <a:prstGeom prst="ellipse">
            <a:avLst/>
          </a:prstGeom>
          <a:solidFill>
            <a:srgbClr val="0B2545"/>
          </a:solidFill>
          <a:ln w="25400">
            <a:solidFill>
              <a:srgbClr val="0B254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33054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24/09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inicial Riesgos Específicos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22742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587931" y="2139696"/>
            <a:ext cx="0" cy="237744"/>
          </a:xfrm>
          <a:prstGeom prst="line">
            <a:avLst/>
          </a:prstGeom>
          <a:noFill/>
          <a:ln w="12700">
            <a:solidFill>
              <a:srgbClr val="8FA3B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7347" y="2276856"/>
            <a:ext cx="201168" cy="201168"/>
          </a:xfrm>
          <a:prstGeom prst="ellipse">
            <a:avLst/>
          </a:prstGeom>
          <a:solidFill>
            <a:srgbClr val="0B2545"/>
          </a:solidFill>
          <a:ln w="25400">
            <a:solidFill>
              <a:srgbClr val="0B254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879271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preliminares PLD/FT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23486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203371" y="2377440"/>
            <a:ext cx="0" cy="237744"/>
          </a:xfrm>
          <a:prstGeom prst="line">
            <a:avLst/>
          </a:prstGeom>
          <a:noFill/>
          <a:ln w="12700">
            <a:solidFill>
              <a:srgbClr val="8F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02787" y="2276856"/>
            <a:ext cx="201168" cy="201168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494711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visita Riesgos Específicos · Resultados Gob. Corporativo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22742 · 22741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818811" y="2139696"/>
            <a:ext cx="0" cy="237744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99939" y="2258568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110151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16/10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resultados preliminares PLD/FT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23486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434251" y="2377440"/>
            <a:ext cx="0" cy="237744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15379" y="2258568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725591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23/10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Nuevas observaciones Gob. Corporativo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22741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0049691" y="2139696"/>
            <a:ext cx="0" cy="237744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930819" y="2258568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41031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30/10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observaciones Gob. Corporativo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22741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10972800" y="2377440"/>
            <a:ext cx="0" cy="237744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853928" y="2258568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264140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03/11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del Plan de Recuperación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22737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818811" y="2542032"/>
            <a:ext cx="0" cy="566928"/>
          </a:xfrm>
          <a:prstGeom prst="line">
            <a:avLst/>
          </a:prstGeom>
          <a:noFill/>
          <a:ln w="19050">
            <a:solidFill>
              <a:srgbClr val="B86E00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315891" y="310896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315891" y="31089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16/10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5995851" y="341071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 24 de 42 del calendario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36576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vencimientos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457200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58368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6C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16/10</a:t>
            </a:r>
            <a:endParaRPr lang="en-US" sz="40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respuesta resultados preliminares PLD/FT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A9D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23486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Semana: seguimiento al envío de pruebas de descargo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3321558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522726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46" name="Text 44"/>
          <p:cNvSpPr txBox="1"/>
          <p:nvPr/>
        </p:nvSpPr>
        <p:spPr>
          <a:xfrm>
            <a:off x="3522726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23/10/2026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nuevas observaciones – Gobierno Corporativo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3E4F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Semana: matriz y requerimiento enviado a las áreas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6185916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387084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49" name="Text 47"/>
          <p:cNvSpPr txBox="1"/>
          <p:nvPr/>
        </p:nvSpPr>
        <p:spPr>
          <a:xfrm>
            <a:off x="6387084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30/10/2026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observaciones – Gobierno Corporativo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3E4F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Semana: plan de solución de visitas anteriores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9050274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251442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52" name="Text 50"/>
          <p:cNvSpPr txBox="1"/>
          <p:nvPr/>
        </p:nvSpPr>
        <p:spPr>
          <a:xfrm>
            <a:off x="9251442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03/11/2026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del Plan de Recuperación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22737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57200" y="6519672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Específicos (Circ. 22742): visita iniciada el 09/10/2026, sin plazo de respuesta documentado. El estado de envío de cada requerimiento está por confirmar.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Resumen Ejecutivo de Riesgos – COMÉDICA</dc:title>
  <dc:subject>PptxGenJS Presentation</dc:subject>
  <dc:creator>Departamento de Administración de Riesgos</dc:creator>
  <cp:lastModifiedBy>Departamento de Administración de Riesgos</cp:lastModifiedBy>
  <cp:revision>1</cp:revision>
  <dcterms:created xsi:type="dcterms:W3CDTF">2026-10-16T19:31:17Z</dcterms:created>
  <dcterms:modified xsi:type="dcterms:W3CDTF">2026-10-16T19:31:17Z</dcterms:modified>
</cp:coreProperties>
</file>