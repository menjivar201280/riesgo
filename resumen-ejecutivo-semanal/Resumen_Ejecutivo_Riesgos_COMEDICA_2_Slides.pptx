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cuatro frentes de gestión, integrando las actividades de S1 y S2. Examen GIR 2026: avance 90% (reportado). Los demás frentes se presentan sin estado porque los documentos no lo indican.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Línea de tiempo de requerimientos SSF. Plazos: 16/10 PLD/FT (Circ. 23486), 23/10 nuevas observaciones y 30/10 seguimiento de Gobierno Corporativo (Circ. 22741), 03/11 Plan de Recuperación (Circ. 22737). Visita de Riesgos Específicos (Circ. 22742): inicio 09/10, sin plazo de respuesta documentado. No se afirma si los envíos están cumplidos o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| Resumen Ejecutivo Semanal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 · COMÉDICA de R.L. · Seguimiento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22792" y="310896"/>
            <a:ext cx="3108960" cy="713232"/>
          </a:xfrm>
          <a:prstGeom prst="roundRect">
            <a:avLst>
              <a:gd name="adj" fmla="val 15385"/>
            </a:avLst>
          </a:prstGeom>
          <a:solidFill>
            <a:srgbClr val="D7F0F2"/>
          </a:solidFill>
          <a:ln w="12700">
            <a:solidFill>
              <a:srgbClr val="D7F0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23960" y="3840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GIR 2026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reportado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823960" y="859536"/>
            <a:ext cx="1737360" cy="82296"/>
          </a:xfrm>
          <a:prstGeom prst="roundRect">
            <a:avLst>
              <a:gd name="adj" fmla="val 50000"/>
            </a:avLst>
          </a:prstGeom>
          <a:solidFill>
            <a:srgbClr val="B9DDE1"/>
          </a:solidFill>
          <a:ln w="12700">
            <a:solidFill>
              <a:srgbClr val="B9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23960" y="859536"/>
            <a:ext cx="1563624" cy="82296"/>
          </a:xfrm>
          <a:prstGeom prst="roundRect">
            <a:avLst>
              <a:gd name="adj" fmla="val 50000"/>
            </a:avLst>
          </a:prstGeom>
          <a:solidFill>
            <a:srgbClr val="0A7480"/>
          </a:solidFill>
          <a:ln w="12700">
            <a:solidFill>
              <a:srgbClr val="0A74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34472" y="310896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A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5564124" cy="2432304"/>
          </a:xfrm>
          <a:prstGeom prst="roundRect">
            <a:avLst>
              <a:gd name="adj" fmla="val 45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71600"/>
            <a:ext cx="5564124" cy="676656"/>
          </a:xfrm>
          <a:prstGeom prst="roundRect">
            <a:avLst>
              <a:gd name="adj" fmla="val 1621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38528"/>
            <a:ext cx="5564124" cy="182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170432" y="1463040"/>
            <a:ext cx="46954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 y Continuidad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13232" y="2235708"/>
            <a:ext cx="73152" cy="731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6112" y="2139696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GIR 2026 e informe de seguimiento del examen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13232" y="2546604"/>
            <a:ext cx="73152" cy="731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6112" y="2450592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la 2.ª prueba de Continuidad del Negocio (01/10/2026)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13232" y="2857500"/>
            <a:ext cx="73152" cy="731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6112" y="2761488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planes de acción – Matriz de Riesgos 2026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13232" y="3168396"/>
            <a:ext cx="73152" cy="731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6112" y="3072384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riesgo: caídas de TC (25/09) y Orion (26/09)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13232" y="3479292"/>
            <a:ext cx="73152" cy="731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6112" y="3383280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Opiniones: Fábrica de Créditos y caso de asociado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167628" y="1371600"/>
            <a:ext cx="5564124" cy="2432304"/>
          </a:xfrm>
          <a:prstGeom prst="roundRect">
            <a:avLst>
              <a:gd name="adj" fmla="val 45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67628" y="1371600"/>
            <a:ext cx="5564124" cy="676656"/>
          </a:xfrm>
          <a:prstGeom prst="roundRect">
            <a:avLst>
              <a:gd name="adj" fmla="val 16216"/>
            </a:avLst>
          </a:prstGeom>
          <a:solidFill>
            <a:srgbClr val="13507F"/>
          </a:solidFill>
          <a:ln w="12700">
            <a:solidFill>
              <a:srgbClr val="1350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67628" y="1938528"/>
            <a:ext cx="5564124" cy="182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50508" y="146304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948" y="1554480"/>
            <a:ext cx="201168" cy="20116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880860" y="1463040"/>
            <a:ext cx="46954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6423660" y="2235708"/>
            <a:ext cx="73152" cy="73152"/>
          </a:xfrm>
          <a:prstGeom prst="rect">
            <a:avLst/>
          </a:prstGeom>
          <a:solidFill>
            <a:srgbClr val="13507F"/>
          </a:solidFill>
          <a:ln w="12700">
            <a:solidFill>
              <a:srgbClr val="13507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606540" y="2139696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 (nota 22741): matriz y requerimiento a áreas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6423660" y="2546604"/>
            <a:ext cx="73152" cy="73152"/>
          </a:xfrm>
          <a:prstGeom prst="rect">
            <a:avLst/>
          </a:prstGeom>
          <a:solidFill>
            <a:srgbClr val="13507F"/>
          </a:solidFill>
          <a:ln w="12700">
            <a:solidFill>
              <a:srgbClr val="13507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06540" y="2450592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pruebas de descargo – notas 22741 y 23486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6423660" y="2857500"/>
            <a:ext cx="73152" cy="73152"/>
          </a:xfrm>
          <a:prstGeom prst="rect">
            <a:avLst/>
          </a:prstGeom>
          <a:solidFill>
            <a:srgbClr val="13507F"/>
          </a:solidFill>
          <a:ln w="12700">
            <a:solidFill>
              <a:srgbClr val="13507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06540" y="2761488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 preliminares de Riesgo Específico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6423660" y="3168396"/>
            <a:ext cx="73152" cy="73152"/>
          </a:xfrm>
          <a:prstGeom prst="rect">
            <a:avLst/>
          </a:prstGeom>
          <a:solidFill>
            <a:srgbClr val="13507F"/>
          </a:solidFill>
          <a:ln w="12700">
            <a:solidFill>
              <a:srgbClr val="13507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606540" y="3072384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avalúos: asignación a perito y aviso a asociados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6423660" y="3479292"/>
            <a:ext cx="73152" cy="73152"/>
          </a:xfrm>
          <a:prstGeom prst="rect">
            <a:avLst/>
          </a:prstGeom>
          <a:solidFill>
            <a:srgbClr val="13507F"/>
          </a:solidFill>
          <a:ln w="12700">
            <a:solidFill>
              <a:srgbClr val="13507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606540" y="3383280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Acuerdos Semestrales del Comité de Riesgos y acta del 29/08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457200" y="3968496"/>
            <a:ext cx="5564124" cy="2432304"/>
          </a:xfrm>
          <a:prstGeom prst="roundRect">
            <a:avLst>
              <a:gd name="adj" fmla="val 45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57200" y="3968496"/>
            <a:ext cx="5564124" cy="676656"/>
          </a:xfrm>
          <a:prstGeom prst="roundRect">
            <a:avLst>
              <a:gd name="adj" fmla="val 16216"/>
            </a:avLst>
          </a:prstGeom>
          <a:solidFill>
            <a:srgbClr val="0A7480"/>
          </a:solidFill>
          <a:ln w="12700">
            <a:solidFill>
              <a:srgbClr val="0A748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457200" y="4535424"/>
            <a:ext cx="5564124" cy="182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51376"/>
            <a:ext cx="201168" cy="201168"/>
          </a:xfrm>
          <a:prstGeom prst="rect">
            <a:avLst/>
          </a:prstGeom>
        </p:spPr>
      </p:pic>
      <p:sp>
        <p:nvSpPr>
          <p:cNvPr id="46" name="Text 41"/>
          <p:cNvSpPr txBox="1"/>
          <p:nvPr/>
        </p:nvSpPr>
        <p:spPr>
          <a:xfrm>
            <a:off x="1170432" y="4059936"/>
            <a:ext cx="46954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 y Crediticio</a:t>
            </a:r>
            <a:endParaRPr lang="en-US" sz="1600" dirty="0"/>
          </a:p>
        </p:txBody>
      </p:sp>
      <p:sp>
        <p:nvSpPr>
          <p:cNvPr id="47" name="Shape 42"/>
          <p:cNvSpPr/>
          <p:nvPr/>
        </p:nvSpPr>
        <p:spPr>
          <a:xfrm>
            <a:off x="713232" y="4832604"/>
            <a:ext cx="73152" cy="73152"/>
          </a:xfrm>
          <a:prstGeom prst="rect">
            <a:avLst/>
          </a:prstGeom>
          <a:solidFill>
            <a:srgbClr val="0A7480"/>
          </a:solidFill>
          <a:ln w="12700">
            <a:solidFill>
              <a:srgbClr val="0A7480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896112" y="4736592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al Comité: riesgo de crédito, liquidez y mercado</a:t>
            </a:r>
            <a:endParaRPr lang="en-US" sz="1300" dirty="0"/>
          </a:p>
        </p:txBody>
      </p:sp>
      <p:sp>
        <p:nvSpPr>
          <p:cNvPr id="49" name="Shape 44"/>
          <p:cNvSpPr/>
          <p:nvPr/>
        </p:nvSpPr>
        <p:spPr>
          <a:xfrm>
            <a:off x="713232" y="5143500"/>
            <a:ext cx="73152" cy="73152"/>
          </a:xfrm>
          <a:prstGeom prst="rect">
            <a:avLst/>
          </a:prstGeom>
          <a:solidFill>
            <a:srgbClr val="0A7480"/>
          </a:solidFill>
          <a:ln w="12700">
            <a:solidFill>
              <a:srgbClr val="0A7480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896112" y="5047488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SSF: NRP-05, NCB-022, Central de Riesgo, CTRI-RECR</a:t>
            </a:r>
            <a:endParaRPr lang="en-US" sz="1300" dirty="0"/>
          </a:p>
        </p:txBody>
      </p:sp>
      <p:sp>
        <p:nvSpPr>
          <p:cNvPr id="51" name="Shape 46"/>
          <p:cNvSpPr/>
          <p:nvPr/>
        </p:nvSpPr>
        <p:spPr>
          <a:xfrm>
            <a:off x="713232" y="5454396"/>
            <a:ext cx="73152" cy="73152"/>
          </a:xfrm>
          <a:prstGeom prst="rect">
            <a:avLst/>
          </a:prstGeom>
          <a:solidFill>
            <a:srgbClr val="0A7480"/>
          </a:solidFill>
          <a:ln w="12700">
            <a:solidFill>
              <a:srgbClr val="0A7480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896112" y="5358384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de tarjeta de crédito y reserva de saneamiento</a:t>
            </a:r>
            <a:endParaRPr lang="en-US" sz="1300" dirty="0"/>
          </a:p>
        </p:txBody>
      </p:sp>
      <p:sp>
        <p:nvSpPr>
          <p:cNvPr id="53" name="Shape 48"/>
          <p:cNvSpPr/>
          <p:nvPr/>
        </p:nvSpPr>
        <p:spPr>
          <a:xfrm>
            <a:off x="713232" y="5765292"/>
            <a:ext cx="73152" cy="73152"/>
          </a:xfrm>
          <a:prstGeom prst="rect">
            <a:avLst/>
          </a:prstGeom>
          <a:solidFill>
            <a:srgbClr val="0A7480"/>
          </a:solidFill>
          <a:ln w="12700">
            <a:solidFill>
              <a:srgbClr val="0A7480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96112" y="5669280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Traslados de deuda y segmentación de productos</a:t>
            </a:r>
            <a:endParaRPr lang="en-US" sz="1300" dirty="0"/>
          </a:p>
        </p:txBody>
      </p:sp>
      <p:sp>
        <p:nvSpPr>
          <p:cNvPr id="55" name="Shape 50"/>
          <p:cNvSpPr/>
          <p:nvPr/>
        </p:nvSpPr>
        <p:spPr>
          <a:xfrm>
            <a:off x="713232" y="6076188"/>
            <a:ext cx="73152" cy="73152"/>
          </a:xfrm>
          <a:prstGeom prst="rect">
            <a:avLst/>
          </a:prstGeom>
          <a:solidFill>
            <a:srgbClr val="0A7480"/>
          </a:solidFill>
          <a:ln w="12700">
            <a:solidFill>
              <a:srgbClr val="0A748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896112" y="5980176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plazo: Política de TC y sistema de créditos NRP-41</a:t>
            </a:r>
            <a:endParaRPr lang="en-US" sz="1300" dirty="0"/>
          </a:p>
        </p:txBody>
      </p:sp>
      <p:sp>
        <p:nvSpPr>
          <p:cNvPr id="57" name="Shape 52"/>
          <p:cNvSpPr/>
          <p:nvPr/>
        </p:nvSpPr>
        <p:spPr>
          <a:xfrm>
            <a:off x="6167628" y="3968496"/>
            <a:ext cx="5564124" cy="2432304"/>
          </a:xfrm>
          <a:prstGeom prst="roundRect">
            <a:avLst>
              <a:gd name="adj" fmla="val 45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6167628" y="3968496"/>
            <a:ext cx="5564124" cy="676656"/>
          </a:xfrm>
          <a:prstGeom prst="roundRect">
            <a:avLst>
              <a:gd name="adj" fmla="val 16216"/>
            </a:avLst>
          </a:prstGeom>
          <a:solidFill>
            <a:srgbClr val="2E4A73"/>
          </a:solidFill>
          <a:ln w="12700">
            <a:solidFill>
              <a:srgbClr val="2E4A73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6167628" y="4535424"/>
            <a:ext cx="5564124" cy="182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6350508" y="405993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948" y="4151376"/>
            <a:ext cx="201168" cy="201168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6880860" y="4059936"/>
            <a:ext cx="46954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y Coordinación</a:t>
            </a:r>
            <a:endParaRPr lang="en-US" sz="1600" dirty="0"/>
          </a:p>
        </p:txBody>
      </p:sp>
      <p:sp>
        <p:nvSpPr>
          <p:cNvPr id="63" name="Shape 57"/>
          <p:cNvSpPr/>
          <p:nvPr/>
        </p:nvSpPr>
        <p:spPr>
          <a:xfrm>
            <a:off x="6423660" y="4832604"/>
            <a:ext cx="73152" cy="73152"/>
          </a:xfrm>
          <a:prstGeom prst="rect">
            <a:avLst/>
          </a:prstGeom>
          <a:solidFill>
            <a:srgbClr val="2E4A73"/>
          </a:solidFill>
          <a:ln w="12700">
            <a:solidFill>
              <a:srgbClr val="2E4A73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606540" y="4736592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Unificación de formularios Actualización de Datos y Conozca tu Cliente</a:t>
            </a:r>
            <a:endParaRPr lang="en-US" sz="1300" dirty="0"/>
          </a:p>
        </p:txBody>
      </p:sp>
      <p:sp>
        <p:nvSpPr>
          <p:cNvPr id="65" name="Shape 59"/>
          <p:cNvSpPr/>
          <p:nvPr/>
        </p:nvSpPr>
        <p:spPr>
          <a:xfrm>
            <a:off x="6423660" y="5143500"/>
            <a:ext cx="73152" cy="73152"/>
          </a:xfrm>
          <a:prstGeom prst="rect">
            <a:avLst/>
          </a:prstGeom>
          <a:solidFill>
            <a:srgbClr val="2E4A73"/>
          </a:solidFill>
          <a:ln w="12700">
            <a:solidFill>
              <a:srgbClr val="2E4A73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606540" y="5047488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para entrevistas BIA</a:t>
            </a:r>
            <a:endParaRPr lang="en-US" sz="1300" dirty="0"/>
          </a:p>
        </p:txBody>
      </p:sp>
      <p:sp>
        <p:nvSpPr>
          <p:cNvPr id="67" name="Shape 61"/>
          <p:cNvSpPr/>
          <p:nvPr/>
        </p:nvSpPr>
        <p:spPr>
          <a:xfrm>
            <a:off x="6423660" y="5454396"/>
            <a:ext cx="73152" cy="73152"/>
          </a:xfrm>
          <a:prstGeom prst="rect">
            <a:avLst/>
          </a:prstGeom>
          <a:solidFill>
            <a:srgbClr val="2E4A73"/>
          </a:solidFill>
          <a:ln w="12700">
            <a:solidFill>
              <a:srgbClr val="2E4A73"/>
            </a:solidFill>
            <a:prstDash val="solid"/>
          </a:ln>
        </p:spPr>
      </p:sp>
      <p:sp>
        <p:nvSpPr>
          <p:cNvPr id="68" name="Text 62"/>
          <p:cNvSpPr txBox="1"/>
          <p:nvPr/>
        </p:nvSpPr>
        <p:spPr>
          <a:xfrm>
            <a:off x="6606540" y="5358384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Comparativos de políticas: tercerizados y gobierno corporativo</a:t>
            </a:r>
            <a:endParaRPr lang="en-US" sz="1300" dirty="0"/>
          </a:p>
        </p:txBody>
      </p:sp>
      <p:sp>
        <p:nvSpPr>
          <p:cNvPr id="69" name="Shape 63"/>
          <p:cNvSpPr/>
          <p:nvPr/>
        </p:nvSpPr>
        <p:spPr>
          <a:xfrm>
            <a:off x="6423660" y="5765292"/>
            <a:ext cx="73152" cy="73152"/>
          </a:xfrm>
          <a:prstGeom prst="rect">
            <a:avLst/>
          </a:prstGeom>
          <a:solidFill>
            <a:srgbClr val="2E4A73"/>
          </a:solidFill>
          <a:ln w="12700">
            <a:solidFill>
              <a:srgbClr val="2E4A73"/>
            </a:solidFill>
            <a:prstDash val="solid"/>
          </a:ln>
        </p:spPr>
      </p:sp>
      <p:sp>
        <p:nvSpPr>
          <p:cNvPr id="70" name="Text 64"/>
          <p:cNvSpPr txBox="1"/>
          <p:nvPr/>
        </p:nvSpPr>
        <p:spPr>
          <a:xfrm>
            <a:off x="6606540" y="5669280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Procesos: Matriz de Sistemas Informáticos y estructura del Depto.</a:t>
            </a:r>
            <a:endParaRPr lang="en-US" sz="1300" dirty="0"/>
          </a:p>
        </p:txBody>
      </p:sp>
      <p:sp>
        <p:nvSpPr>
          <p:cNvPr id="71" name="Shape 65"/>
          <p:cNvSpPr/>
          <p:nvPr/>
        </p:nvSpPr>
        <p:spPr>
          <a:xfrm>
            <a:off x="6423660" y="6076188"/>
            <a:ext cx="73152" cy="73152"/>
          </a:xfrm>
          <a:prstGeom prst="rect">
            <a:avLst/>
          </a:prstGeom>
          <a:solidFill>
            <a:srgbClr val="2E4A73"/>
          </a:solidFill>
          <a:ln w="12700">
            <a:solidFill>
              <a:srgbClr val="2E4A73"/>
            </a:solidFill>
            <a:prstDash val="solid"/>
          </a:ln>
        </p:spPr>
      </p:sp>
      <p:sp>
        <p:nvSpPr>
          <p:cNvPr id="72" name="Text 66"/>
          <p:cNvSpPr txBox="1"/>
          <p:nvPr/>
        </p:nvSpPr>
        <p:spPr>
          <a:xfrm>
            <a:off x="6606540" y="5980176"/>
            <a:ext cx="49240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para Auditoría Interna (NRP-24) y Auditoría Externa</a:t>
            </a:r>
            <a:endParaRPr lang="en-US" sz="1300" dirty="0"/>
          </a:p>
        </p:txBody>
      </p:sp>
      <p:sp>
        <p:nvSpPr>
          <p:cNvPr id="73" name="Text 67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documento de actividades semanales.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de la Superintendencia del Sistema Financiero (SSF) · Seguimiento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098280" y="484632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1773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12680" y="484632"/>
            <a:ext cx="164592" cy="164592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visita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24712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6657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70310" y="1261872"/>
            <a:ext cx="5661442" cy="2432304"/>
          </a:xfrm>
          <a:prstGeom prst="roundRect">
            <a:avLst>
              <a:gd name="adj" fmla="val 451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7470" y="13167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DE RESPUESTA SSF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505456"/>
            <a:ext cx="11091672" cy="0"/>
          </a:xfrm>
          <a:prstGeom prst="line">
            <a:avLst/>
          </a:prstGeom>
          <a:noFill/>
          <a:ln w="25400">
            <a:solidFill>
              <a:srgbClr val="AFC0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3000" y="2249424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2416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resultado preliminar Plan de Recuperación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57707" y="2505456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7123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17043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visita inicial Riesgos Específicos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72415" y="2249424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71831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31751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resultados preliminares PLD/FT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87122" y="2505456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86538" y="2404872"/>
            <a:ext cx="201168" cy="201168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6458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y recepción resultados Gob. Corp.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01830" y="2249424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82958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61166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resultados preliminares PLD/FT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16537" y="2505456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97665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75873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Gob. Corporativo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631245" y="2249424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12373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90581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1045952" y="2505456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927080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05288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350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0350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16/10/2026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60350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en seguimiento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37744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52374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252374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252374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– Gob. Corporativo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remitido a las áreas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9768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44398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44398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444398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observaciones – Gob. Corporativo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solución, visitas anteriores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36422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636422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636422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Gob. Corp. y Reputacional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" y="5815584"/>
            <a:ext cx="7534656" cy="621792"/>
          </a:xfrm>
          <a:prstGeom prst="roundRect">
            <a:avLst>
              <a:gd name="adj" fmla="val 14706"/>
            </a:avLst>
          </a:prstGeom>
          <a:solidFill>
            <a:srgbClr val="D7F0F2"/>
          </a:solidFill>
          <a:ln w="12700">
            <a:solidFill>
              <a:srgbClr val="D7F0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5216" y="5925312"/>
            <a:ext cx="402336" cy="402336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5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25896"/>
            <a:ext cx="201168" cy="201168"/>
          </a:xfrm>
          <a:prstGeom prst="rect">
            <a:avLst/>
          </a:prstGeom>
        </p:spPr>
      </p:pic>
      <p:sp>
        <p:nvSpPr>
          <p:cNvPr id="56" name="Text 53"/>
          <p:cNvSpPr txBox="1"/>
          <p:nvPr/>
        </p:nvSpPr>
        <p:spPr>
          <a:xfrm>
            <a:off x="1115568" y="5870448"/>
            <a:ext cx="67574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 · Circ. 22742  </a:t>
            </a:r>
            <a:pPr indent="0" marL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Mercado · recepción 24/09/2026, inicio 09/10/2026. Presentación de resultados preliminares registrada; plazo de respuesta no documentado.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8193024" y="3877056"/>
            <a:ext cx="3538728" cy="2560320"/>
          </a:xfrm>
          <a:prstGeom prst="roundRect">
            <a:avLst>
              <a:gd name="adj" fmla="val 428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421624" y="400507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control gerencial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421624" y="442569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7992"/>
            <a:ext cx="164592" cy="164592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8869680" y="438912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entre áreas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22741: Gerencia Financiera, Cumplimiento, Talento Humano, Procesos y otras áreas</a:t>
            </a:r>
            <a:endParaRPr lang="en-US" sz="1100" dirty="0"/>
          </a:p>
        </p:txBody>
      </p:sp>
      <p:sp>
        <p:nvSpPr>
          <p:cNvPr id="62" name="Shape 58"/>
          <p:cNvSpPr/>
          <p:nvPr/>
        </p:nvSpPr>
        <p:spPr>
          <a:xfrm>
            <a:off x="8421624" y="492861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5010912"/>
            <a:ext cx="164592" cy="164592"/>
          </a:xfrm>
          <a:prstGeom prst="rect">
            <a:avLst/>
          </a:prstGeom>
        </p:spPr>
      </p:pic>
      <p:sp>
        <p:nvSpPr>
          <p:cNvPr id="64" name="Text 59"/>
          <p:cNvSpPr txBox="1"/>
          <p:nvPr/>
        </p:nvSpPr>
        <p:spPr>
          <a:xfrm>
            <a:off x="8869680" y="489204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y pruebas de descargo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y remisión para notas 22741 y 23486</a:t>
            </a:r>
            <a:endParaRPr lang="en-US" sz="1100" dirty="0"/>
          </a:p>
        </p:txBody>
      </p:sp>
      <p:sp>
        <p:nvSpPr>
          <p:cNvPr id="65" name="Shape 60"/>
          <p:cNvSpPr/>
          <p:nvPr/>
        </p:nvSpPr>
        <p:spPr>
          <a:xfrm>
            <a:off x="8421624" y="543153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5513832"/>
            <a:ext cx="164592" cy="164592"/>
          </a:xfrm>
          <a:prstGeom prst="rect">
            <a:avLst/>
          </a:prstGeom>
        </p:spPr>
      </p:pic>
      <p:sp>
        <p:nvSpPr>
          <p:cNvPr id="67" name="Text 61"/>
          <p:cNvSpPr txBox="1"/>
          <p:nvPr/>
        </p:nvSpPr>
        <p:spPr>
          <a:xfrm>
            <a:off x="8869680" y="539496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Entregables y planes de acción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Riesgos 2026, informes al Comité de Riesgos, Plan de Recuperación</a:t>
            </a:r>
            <a:endParaRPr lang="en-US" sz="1100" dirty="0"/>
          </a:p>
        </p:txBody>
      </p:sp>
      <p:sp>
        <p:nvSpPr>
          <p:cNvPr id="68" name="Shape 62"/>
          <p:cNvSpPr/>
          <p:nvPr/>
        </p:nvSpPr>
        <p:spPr>
          <a:xfrm>
            <a:off x="8421624" y="593445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6016752"/>
            <a:ext cx="164592" cy="164592"/>
          </a:xfrm>
          <a:prstGeom prst="rect">
            <a:avLst/>
          </a:prstGeom>
        </p:spPr>
      </p:pic>
      <p:sp>
        <p:nvSpPr>
          <p:cNvPr id="70" name="Text 63"/>
          <p:cNvSpPr txBox="1"/>
          <p:nvPr/>
        </p:nvSpPr>
        <p:spPr>
          <a:xfrm>
            <a:off x="8869680" y="58978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confirmar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envío de cada requerimiento y responsable asignado</a:t>
            </a:r>
            <a:endParaRPr lang="en-US" sz="1100" dirty="0"/>
          </a:p>
        </p:txBody>
      </p:sp>
      <p:sp>
        <p:nvSpPr>
          <p:cNvPr id="71" name="Text 64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según la presentación base (referencia 10/10/2026). Fecha límite, inicio de visita y recepción se distinguen en la leyenda; el estado de cada envío está por confirmar.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2026-10-16T16:58:07Z</dcterms:created>
  <dcterms:modified xsi:type="dcterms:W3CDTF">2026-10-16T16:58:07Z</dcterms:modified>
</cp:coreProperties>
</file>