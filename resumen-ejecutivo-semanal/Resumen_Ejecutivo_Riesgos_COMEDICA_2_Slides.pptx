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por frente. Columna izquierda: asuntos del informe anterior que siguen vigentes (plazos SSF). Columna derecha: actividades de la semana según el documento de actividades. Examen GIR 2026: avance 90%.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Corte 16/10. Hoy vence la respuesta PLD/FT (Circ. 23486). Siguen Gobierno Corporativo el 23/10 y 30/10 (Circ. 22741) y el Plan de Recuperación el 03/11 (Circ. 22737).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· Resumen ejecutivo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91840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0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seguimiento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0376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0376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de la semana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2697480" cy="1051560"/>
          </a:xfrm>
          <a:prstGeom prst="roundRect">
            <a:avLst>
              <a:gd name="adj" fmla="val 869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97053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071116"/>
            <a:ext cx="182880" cy="1828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43000" y="187909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Regulatorio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SSF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291840" y="1627632"/>
            <a:ext cx="4151376" cy="1051560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1700784"/>
            <a:ext cx="38587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PLD/FT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 16/10/2026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Plazos 23/10 y 30/10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Recuperación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 03/11/2026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Inicio visita 09/10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80376" y="1627632"/>
            <a:ext cx="4151376" cy="1051560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44968" y="1700784"/>
            <a:ext cx="38587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y requerimiento a áreas – nota 22741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descargo – notas 22741 y 23486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visita de supervisión Gob. Corporativo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de Riesgo Específico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761488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" y="2962656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063240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43000" y="287121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y control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621792" y="34015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GIR 2026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21792" y="3621024"/>
            <a:ext cx="1828800" cy="100584"/>
          </a:xfrm>
          <a:prstGeom prst="roundRect">
            <a:avLst>
              <a:gd name="adj" fmla="val 45455"/>
            </a:avLst>
          </a:prstGeom>
          <a:solidFill>
            <a:srgbClr val="3C5A80"/>
          </a:solidFill>
          <a:ln w="12700">
            <a:solidFill>
              <a:srgbClr val="3C5A8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" y="3621024"/>
            <a:ext cx="1645920" cy="100584"/>
          </a:xfrm>
          <a:prstGeom prst="roundRect">
            <a:avLst>
              <a:gd name="adj" fmla="val 45455"/>
            </a:avLst>
          </a:prstGeom>
          <a:solidFill>
            <a:srgbClr val="F2B544"/>
          </a:solidFill>
          <a:ln w="12700">
            <a:solidFill>
              <a:srgbClr val="F2B544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496312" y="351129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291840" y="2761488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456432" y="2834640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Matriz BIA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Gob. Corporativo y Reputacional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prueba de continuidad de negocio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7580376" y="2761488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44968" y="2834640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GIR 2026 e informe de seguimiento del examen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2.ª prueba de continuidad (01/10/2026)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de acción Matriz 2026 y eventos TC / Orion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Opiniones: Fábrica de Créditos y caso de asociado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a Auditoría Interna (NRP-24) y Externa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57200" y="4014216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21792" y="441655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517136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43000" y="43251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Normativo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 y políticas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3291840" y="4014216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456432" y="4087368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Política y Procedimientos de Avalúos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Perfil de Revisor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regulatorios (DAR)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7580376" y="4014216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744968" y="4087368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Avalúos: perito, gestión electrónica y aviso a asociados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Descargo de avalúo anterior y mutuo hipotecario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Comparativos de políticas y acta de sesión 29/08/2026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Acuerdos Semestrales del Comité de Riesgos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Proyectos: formularios, BIA, Procesos y página web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457200" y="5266944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21792" y="566928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769864"/>
            <a:ext cx="182880" cy="1828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143000" y="5577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liquidez y TC</a:t>
            </a:r>
            <a:endParaRPr lang="en-US" sz="1350" dirty="0"/>
          </a:p>
        </p:txBody>
      </p:sp>
      <p:sp>
        <p:nvSpPr>
          <p:cNvPr id="40" name="Shape 34"/>
          <p:cNvSpPr/>
          <p:nvPr/>
        </p:nvSpPr>
        <p:spPr>
          <a:xfrm>
            <a:off x="3291840" y="5266944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56432" y="5340096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Análisis de Cartera de TC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cartera vencida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TC</a:t>
            </a:r>
            <a:endParaRPr lang="en-US" sz="1100" dirty="0"/>
          </a:p>
        </p:txBody>
      </p:sp>
      <p:sp>
        <p:nvSpPr>
          <p:cNvPr id="42" name="Shape 36"/>
          <p:cNvSpPr/>
          <p:nvPr/>
        </p:nvSpPr>
        <p:spPr>
          <a:xfrm>
            <a:off x="7580376" y="5266944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744968" y="5340096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al Comité: crédito, liquidez y mercado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SSF: NRP-05, NCB-022, NRP-41 y CTRI-RECR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Cartera TC y reserva de saneamiento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Traslados de deuda y segmentación de productos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créditos NRP-41 y TC de alto riesgo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«En seguimiento»: asuntos del informe anterior que siguen vigentes. «Actividades de la semana»: documento de actividades semanales.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requerimientos SSF · Corte 16/10/2026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41080" y="484632"/>
            <a:ext cx="164592" cy="164592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053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601200" y="484632"/>
            <a:ext cx="164592" cy="164592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2065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visita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881360" y="484632"/>
            <a:ext cx="164592" cy="164592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10081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SSF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6259721" cy="0"/>
          </a:xfrm>
          <a:prstGeom prst="line">
            <a:avLst/>
          </a:prstGeom>
          <a:noFill/>
          <a:ln w="38100">
            <a:solidFill>
              <a:srgbClr val="0B254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08361" y="2377440"/>
            <a:ext cx="4831951" cy="0"/>
          </a:xfrm>
          <a:prstGeom prst="line">
            <a:avLst/>
          </a:prstGeom>
          <a:noFill/>
          <a:ln w="38100">
            <a:solidFill>
              <a:srgbClr val="C3CF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280" y="2139696"/>
            <a:ext cx="0" cy="237744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96696" y="2276856"/>
            <a:ext cx="201168" cy="201168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" y="1371600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25050" y="2377440"/>
            <a:ext cx="0" cy="237744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24466" y="2276856"/>
            <a:ext cx="201168" cy="201168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84386" y="2688336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952821" y="2139696"/>
            <a:ext cx="0" cy="237744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52237" y="2276856"/>
            <a:ext cx="201168" cy="201168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12157" y="1371600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80591" y="2377440"/>
            <a:ext cx="0" cy="237744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80007" y="2276856"/>
            <a:ext cx="201168" cy="201168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9927" y="2688336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· Resultados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 · 22741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08361" y="2139696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8948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67697" y="1371600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236131" y="2377440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725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95467" y="2688336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663902" y="2139696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45030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923238" y="1371600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1091672" y="2377440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972800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351008" y="2688336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808361" y="2542032"/>
            <a:ext cx="0" cy="566928"/>
          </a:xfrm>
          <a:prstGeom prst="line">
            <a:avLst/>
          </a:prstGeom>
          <a:noFill/>
          <a:ln w="19050">
            <a:solidFill>
              <a:srgbClr val="B86E0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305441" y="3108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05441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16/10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576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vencimientos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57200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Vence hoy</a:t>
            </a:r>
            <a:endParaRPr lang="en-US" sz="30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respuesta resultados preliminares PLD/FT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A9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Semana: seguimiento al envío de pruebas de descargo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321558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522726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45" name="Text 43"/>
          <p:cNvSpPr txBox="1"/>
          <p:nvPr/>
        </p:nvSpPr>
        <p:spPr>
          <a:xfrm>
            <a:off x="3522726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Semana: matriz y requerimiento enviado a las áreas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185916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87084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48" name="Text 46"/>
          <p:cNvSpPr txBox="1"/>
          <p:nvPr/>
        </p:nvSpPr>
        <p:spPr>
          <a:xfrm>
            <a:off x="6387084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Semana: plan de solución de visitas anteriores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9050274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251442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1" name="Text 49"/>
          <p:cNvSpPr txBox="1"/>
          <p:nvPr/>
        </p:nvSpPr>
        <p:spPr>
          <a:xfrm>
            <a:off x="9251442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(Circ. 22742): visita iniciada el 09/10/2026, sin plazo de respuesta documentado. El estado de envío de cada requerimiento está por confirmar.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Departamento de Administración de Riesgos</cp:lastModifiedBy>
  <cp:revision>1</cp:revision>
  <dcterms:created xsi:type="dcterms:W3CDTF">2026-10-16T19:28:03Z</dcterms:created>
  <dcterms:modified xsi:type="dcterms:W3CDTF">2026-10-16T19:28:03Z</dcterms:modified>
</cp:coreProperties>
</file>