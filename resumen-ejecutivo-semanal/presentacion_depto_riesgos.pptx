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E36F609-4C4B-4F02-B89F-B8978A365510}" v="3" dt="2026-10-16T20:31:44.2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lvia Martinez" userId="403720fc-b6f5-4c18-8c05-7c1e74c9681a" providerId="ADAL" clId="{3A698067-6C0D-41D4-81A2-0814E9926BA3}"/>
    <pc:docChg chg="undo custSel modSld">
      <pc:chgData name="Silvia Martinez" userId="403720fc-b6f5-4c18-8c05-7c1e74c9681a" providerId="ADAL" clId="{3A698067-6C0D-41D4-81A2-0814E9926BA3}" dt="2026-10-16T20:31:40.788" v="170" actId="20577"/>
      <pc:docMkLst>
        <pc:docMk/>
      </pc:docMkLst>
      <pc:sldChg chg="modSp mod">
        <pc:chgData name="Silvia Martinez" userId="403720fc-b6f5-4c18-8c05-7c1e74c9681a" providerId="ADAL" clId="{3A698067-6C0D-41D4-81A2-0814E9926BA3}" dt="2026-10-16T20:31:40.788" v="170" actId="20577"/>
        <pc:sldMkLst>
          <pc:docMk/>
          <pc:sldMk cId="0" sldId="256"/>
        </pc:sldMkLst>
        <pc:spChg chg="mod">
          <ac:chgData name="Silvia Martinez" userId="403720fc-b6f5-4c18-8c05-7c1e74c9681a" providerId="ADAL" clId="{3A698067-6C0D-41D4-81A2-0814E9926BA3}" dt="2026-10-16T20:31:40.788" v="170" actId="20577"/>
          <ac:spMkLst>
            <pc:docMk/>
            <pc:sldMk cId="0" sldId="256"/>
            <ac:spMk id="13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8:38.792" v="99" actId="20577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6:46.509" v="57" actId="20577"/>
          <ac:spMkLst>
            <pc:docMk/>
            <pc:sldMk cId="0" sldId="256"/>
            <ac:spMk id="35" creationId="{00000000-0000-0000-0000-000000000000}"/>
          </ac:spMkLst>
        </pc:spChg>
      </pc:sldChg>
      <pc:sldChg chg="modSp mod">
        <pc:chgData name="Silvia Martinez" userId="403720fc-b6f5-4c18-8c05-7c1e74c9681a" providerId="ADAL" clId="{3A698067-6C0D-41D4-81A2-0814E9926BA3}" dt="2026-10-16T20:29:09.696" v="133" actId="20577"/>
        <pc:sldMkLst>
          <pc:docMk/>
          <pc:sldMk cId="0" sldId="257"/>
        </pc:sldMkLst>
        <pc:spChg chg="mod">
          <ac:chgData name="Silvia Martinez" userId="403720fc-b6f5-4c18-8c05-7c1e74c9681a" providerId="ADAL" clId="{3A698067-6C0D-41D4-81A2-0814E9926BA3}" dt="2026-10-16T20:27:18.558" v="77" actId="20577"/>
          <ac:spMkLst>
            <pc:docMk/>
            <pc:sldMk cId="0" sldId="257"/>
            <ac:spMk id="24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7:31.714" v="97" actId="20577"/>
          <ac:spMkLst>
            <pc:docMk/>
            <pc:sldMk cId="0" sldId="257"/>
            <ac:spMk id="31" creationId="{00000000-0000-0000-0000-000000000000}"/>
          </ac:spMkLst>
        </pc:spChg>
        <pc:spChg chg="mod">
          <ac:chgData name="Silvia Martinez" userId="403720fc-b6f5-4c18-8c05-7c1e74c9681a" providerId="ADAL" clId="{3A698067-6C0D-41D4-81A2-0814E9926BA3}" dt="2026-10-16T20:29:09.696" v="133" actId="20577"/>
          <ac:spMkLst>
            <pc:docMk/>
            <pc:sldMk cId="0" sldId="257"/>
            <ac:spMk id="4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842963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93%.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419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(Circular 23486). Siguen Gobierno Corporativo el 23/10 y 30/10 (Circular 22741) y el Plan de Recuperación el 03/11 (Circular 22737).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129941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</a:t>
            </a:r>
            <a:endParaRPr lang="en-US" sz="1300" b="1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5" name="Text 3"/>
          <p:cNvSpPr txBox="1"/>
          <p:nvPr/>
        </p:nvSpPr>
        <p:spPr>
          <a:xfrm>
            <a:off x="4611625" y="1193292"/>
            <a:ext cx="134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7" name="Text 5"/>
          <p:cNvSpPr txBox="1"/>
          <p:nvPr/>
        </p:nvSpPr>
        <p:spPr>
          <a:xfrm>
            <a:off x="8741423" y="1203238"/>
            <a:ext cx="186585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371600"/>
          </a:xfrm>
          <a:prstGeom prst="roundRect">
            <a:avLst>
              <a:gd name="adj" fmla="val 666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9" name="Shape 7"/>
          <p:cNvSpPr/>
          <p:nvPr/>
        </p:nvSpPr>
        <p:spPr>
          <a:xfrm>
            <a:off x="621792" y="2130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223113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2039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US" sz="105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3" name="Text 10"/>
          <p:cNvSpPr txBox="1"/>
          <p:nvPr/>
        </p:nvSpPr>
        <p:spPr>
          <a:xfrm>
            <a:off x="3319272" y="1773936"/>
            <a:ext cx="413308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</a:t>
            </a:r>
            <a:r>
              <a:rPr lang="en-US" sz="900" b="1" dirty="0" err="1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  ·  </a:t>
            </a:r>
            <a:r>
              <a:rPr lang="en-US" sz="9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16/10/2026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– Gobierno Corporativo  ·  </a:t>
            </a:r>
            <a:r>
              <a:rPr lang="en-US" sz="9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23/10/2026 · Nuevas observaciones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30/10/2026 · Seguimiento de observaciones</a:t>
            </a:r>
            <a:endParaRPr lang="en-US" sz="900" dirty="0"/>
          </a:p>
          <a:p>
            <a:pPr marL="0" indent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  ·  </a:t>
            </a:r>
            <a:r>
              <a:rPr lang="en-US" sz="9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00" b="1" dirty="0" err="1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03/11/2026</a:t>
            </a:r>
          </a:p>
          <a:p>
            <a:pPr>
              <a:spcAft>
                <a:spcPts val="300"/>
              </a:spcAft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Credito, Mercado y Liquidez  ·  </a:t>
            </a:r>
            <a:r>
              <a:rPr lang="en-US" sz="8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900" b="1" dirty="0" err="1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</a:t>
            </a:r>
            <a:r>
              <a:rPr lang="en-US" sz="9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visita 09/10</a:t>
            </a:r>
            <a:endParaRPr lang="en-US" sz="900" dirty="0"/>
          </a:p>
          <a:p>
            <a:pPr marL="0" indent="0">
              <a:spcAft>
                <a:spcPts val="300"/>
              </a:spcAft>
              <a:buNone/>
            </a:pP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37160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DS-SABAO-BCS-BC-22741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 según nota DS-SABAO-BCS-BC-23486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resultados preliminares de Gestión de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Específicos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gobierno corporativo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al regulador – fecha de visita 15/10/2026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081528"/>
            <a:ext cx="2697480" cy="1152144"/>
          </a:xfrm>
          <a:prstGeom prst="roundRect">
            <a:avLst>
              <a:gd name="adj" fmla="val 793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17" name="Shape 14"/>
          <p:cNvSpPr/>
          <p:nvPr/>
        </p:nvSpPr>
        <p:spPr>
          <a:xfrm>
            <a:off x="621792" y="3273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3182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20" name="Text 16"/>
          <p:cNvSpPr txBox="1"/>
          <p:nvPr/>
        </p:nvSpPr>
        <p:spPr>
          <a:xfrm>
            <a:off x="621792" y="371246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21792" y="3931920"/>
            <a:ext cx="1828800" cy="100584"/>
          </a:xfrm>
          <a:prstGeom prst="roundRect">
            <a:avLst>
              <a:gd name="adj" fmla="val 45455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s-SV"/>
          </a:p>
        </p:txBody>
      </p:sp>
      <p:sp>
        <p:nvSpPr>
          <p:cNvPr id="22" name="Shape 18"/>
          <p:cNvSpPr/>
          <p:nvPr/>
        </p:nvSpPr>
        <p:spPr>
          <a:xfrm>
            <a:off x="621792" y="3931920"/>
            <a:ext cx="1700784" cy="100584"/>
          </a:xfrm>
          <a:prstGeom prst="roundRect">
            <a:avLst>
              <a:gd name="adj" fmla="val 45455"/>
            </a:avLst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23" name="Text 19"/>
          <p:cNvSpPr txBox="1"/>
          <p:nvPr/>
        </p:nvSpPr>
        <p:spPr>
          <a:xfrm>
            <a:off x="2496312" y="382219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3081528"/>
            <a:ext cx="4151376" cy="1152144"/>
          </a:xfrm>
          <a:prstGeom prst="roundRect">
            <a:avLst>
              <a:gd name="adj" fmla="val 793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5" name="Text 21"/>
          <p:cNvSpPr txBox="1"/>
          <p:nvPr/>
        </p:nvSpPr>
        <p:spPr>
          <a:xfrm>
            <a:off x="3456432" y="3154680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y Examen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7580376" y="3081528"/>
            <a:ext cx="4151376" cy="1152144"/>
          </a:xfrm>
          <a:prstGeom prst="roundRect">
            <a:avLst>
              <a:gd name="adj" fmla="val 793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7" name="Text 23"/>
          <p:cNvSpPr txBox="1"/>
          <p:nvPr/>
        </p:nvSpPr>
        <p:spPr>
          <a:xfrm>
            <a:off x="7744968" y="3154680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de GIR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segunda prueba de Continuidad del Negocio realizada el 01.10.2026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planes de acción Matriz de Riesgos Institucional 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eventos de riesgos por caídas de TC 25.09.2026 y Orion 26.09.2026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57200" y="4315968"/>
            <a:ext cx="2697480" cy="1188720"/>
          </a:xfrm>
          <a:prstGeom prst="roundRect">
            <a:avLst>
              <a:gd name="adj" fmla="val 7692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29" name="Shape 25"/>
          <p:cNvSpPr/>
          <p:nvPr/>
        </p:nvSpPr>
        <p:spPr>
          <a:xfrm>
            <a:off x="621792" y="450799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3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76" y="460857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41655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44" name="Avaluos 44"/>
          <p:cNvSpPr txBox="1"/>
          <p:nvPr/>
        </p:nvSpPr>
        <p:spPr>
          <a:xfrm>
            <a:off x="621792" y="494690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 Avalúos</a:t>
            </a:r>
            <a:endParaRPr lang="en-US" sz="950" dirty="0">
              <a:solidFill>
                <a:schemeClr val="bg1"/>
              </a:solidFill>
            </a:endParaRPr>
          </a:p>
        </p:txBody>
      </p:sp>
      <p:sp>
        <p:nvSpPr>
          <p:cNvPr id="45" name="Avaluos 45"/>
          <p:cNvSpPr/>
          <p:nvPr/>
        </p:nvSpPr>
        <p:spPr>
          <a:xfrm>
            <a:off x="621792" y="5166360"/>
            <a:ext cx="1828800" cy="100584"/>
          </a:xfrm>
          <a:prstGeom prst="roundRect">
            <a:avLst>
              <a:gd name="adj" fmla="val 45455"/>
            </a:avLst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/>
          <a:lstStyle/>
          <a:p>
            <a:endParaRPr lang="es-SV"/>
          </a:p>
        </p:txBody>
      </p:sp>
      <p:sp>
        <p:nvSpPr>
          <p:cNvPr id="46" name="Avaluos 46"/>
          <p:cNvSpPr/>
          <p:nvPr/>
        </p:nvSpPr>
        <p:spPr>
          <a:xfrm>
            <a:off x="621792" y="5166360"/>
            <a:ext cx="1463040" cy="100584"/>
          </a:xfrm>
          <a:prstGeom prst="roundRect">
            <a:avLst>
              <a:gd name="adj" fmla="val 45455"/>
            </a:avLst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47" name="Avaluos 47"/>
          <p:cNvSpPr txBox="1"/>
          <p:nvPr/>
        </p:nvSpPr>
        <p:spPr>
          <a:xfrm>
            <a:off x="2496312" y="505663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400" dirty="0"/>
          </a:p>
        </p:txBody>
      </p:sp>
      <p:sp>
        <p:nvSpPr>
          <p:cNvPr id="32" name="Shape 27"/>
          <p:cNvSpPr/>
          <p:nvPr/>
        </p:nvSpPr>
        <p:spPr>
          <a:xfrm>
            <a:off x="3291840" y="431596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Text 28"/>
          <p:cNvSpPr txBox="1"/>
          <p:nvPr/>
        </p:nvSpPr>
        <p:spPr>
          <a:xfrm>
            <a:off x="3456432" y="438912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Procedimientos de Administración de Avalúos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050" dirty="0"/>
          </a:p>
        </p:txBody>
      </p:sp>
      <p:sp>
        <p:nvSpPr>
          <p:cNvPr id="34" name="Shape 29"/>
          <p:cNvSpPr/>
          <p:nvPr/>
        </p:nvSpPr>
        <p:spPr>
          <a:xfrm>
            <a:off x="7580376" y="4315968"/>
            <a:ext cx="4151376" cy="1188720"/>
          </a:xfrm>
          <a:prstGeom prst="roundRect">
            <a:avLst>
              <a:gd name="adj" fmla="val 76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5" name="Text 30"/>
          <p:cNvSpPr txBox="1"/>
          <p:nvPr/>
        </p:nvSpPr>
        <p:spPr>
          <a:xfrm>
            <a:off x="7744968" y="4389120"/>
            <a:ext cx="38587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Asignación a perito valuador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documento mutuo hipotecario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Elaboración de acta de sesión de fecha 29/08/2026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servicios tercerizados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Informe </a:t>
            </a:r>
            <a:r>
              <a:rPr lang="en-US" sz="105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Relativo</a:t>
            </a: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Comites</a:t>
            </a:r>
            <a:endParaRPr lang="en-US" sz="1050" dirty="0"/>
          </a:p>
        </p:txBody>
      </p:sp>
      <p:sp>
        <p:nvSpPr>
          <p:cNvPr id="36" name="Shape 31"/>
          <p:cNvSpPr/>
          <p:nvPr/>
        </p:nvSpPr>
        <p:spPr>
          <a:xfrm>
            <a:off x="457200" y="5586984"/>
            <a:ext cx="2697480" cy="896112"/>
          </a:xfrm>
          <a:prstGeom prst="roundRect">
            <a:avLst>
              <a:gd name="adj" fmla="val 10204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7" name="Shape 32"/>
          <p:cNvSpPr/>
          <p:nvPr/>
        </p:nvSpPr>
        <p:spPr>
          <a:xfrm>
            <a:off x="621792" y="585216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595274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76072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>
              <a:solidFill>
                <a:schemeClr val="bg1"/>
              </a:solidFill>
            </a:endParaRPr>
          </a:p>
        </p:txBody>
      </p:sp>
      <p:sp>
        <p:nvSpPr>
          <p:cNvPr id="40" name="Shape 34"/>
          <p:cNvSpPr/>
          <p:nvPr/>
        </p:nvSpPr>
        <p:spPr>
          <a:xfrm>
            <a:off x="3291840" y="5586984"/>
            <a:ext cx="4151376" cy="896112"/>
          </a:xfrm>
          <a:prstGeom prst="roundRect">
            <a:avLst>
              <a:gd name="adj" fmla="val 102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1" name="Text 35"/>
          <p:cNvSpPr txBox="1"/>
          <p:nvPr/>
        </p:nvSpPr>
        <p:spPr>
          <a:xfrm>
            <a:off x="3456432" y="5660136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7580376" y="5586984"/>
            <a:ext cx="4151376" cy="896112"/>
          </a:xfrm>
          <a:prstGeom prst="roundRect">
            <a:avLst>
              <a:gd name="adj" fmla="val 10204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3" name="Text 37"/>
          <p:cNvSpPr txBox="1"/>
          <p:nvPr/>
        </p:nvSpPr>
        <p:spPr>
          <a:xfrm>
            <a:off x="7744968" y="5660136"/>
            <a:ext cx="3858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información a la Central de Riesgo (NRP-41)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semanal de la reserva de saneamiento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permanente de los traslados de deuda</a:t>
            </a:r>
            <a:endParaRPr lang="en-US" sz="105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acuerdos del Consejo de Administración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/>
          <a:lstStyle/>
          <a:p>
            <a:endParaRPr lang="es-SV"/>
          </a:p>
        </p:txBody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Gobierno Corporativo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Gobierno Corporativo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Gobierno Corporativo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ln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marL="0" indent="0" algn="ctr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1F6FB2"/>
            </a:solidFill>
            <a:prstDash val="dash"/>
          </a:ln>
        </p:spPr>
        <p:txBody>
          <a:bodyPr/>
          <a:lstStyle/>
          <a:p>
            <a:endParaRPr lang="es-SV"/>
          </a:p>
        </p:txBody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 w="12700">
            <a:solidFill>
              <a:srgbClr val="1F6FB2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5" name="Shape 38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ln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s-SV"/>
          </a:p>
        </p:txBody>
      </p:sp>
      <p:sp>
        <p:nvSpPr>
          <p:cNvPr id="46" name="Text 39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>
              <a:solidFill>
                <a:schemeClr val="bg1"/>
              </a:solidFill>
            </a:endParaRPr>
          </a:p>
        </p:txBody>
      </p:sp>
      <p:sp>
        <p:nvSpPr>
          <p:cNvPr id="47" name="Text 40"/>
          <p:cNvSpPr txBox="1"/>
          <p:nvPr/>
        </p:nvSpPr>
        <p:spPr>
          <a:xfrm>
            <a:off x="658368" y="4919472"/>
            <a:ext cx="23157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</a:t>
            </a:r>
            <a:r>
              <a:rPr lang="en-US" sz="115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preliminares</a:t>
            </a: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r>
              <a:rPr lang="en-US" sz="115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Especificos PLD/FT</a:t>
            </a:r>
            <a:endParaRPr lang="en-US" sz="1150" b="1" dirty="0">
              <a:solidFill>
                <a:schemeClr val="bg1"/>
              </a:solidFill>
            </a:endParaRPr>
          </a:p>
          <a:p>
            <a:pPr marL="0" indent="0">
              <a:spcAft>
                <a:spcPts val="300"/>
              </a:spcAft>
              <a:buNone/>
            </a:pP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b="1" dirty="0">
              <a:solidFill>
                <a:schemeClr val="bg1"/>
              </a:solidFill>
            </a:endParaRPr>
          </a:p>
        </p:txBody>
      </p:sp>
      <p:sp>
        <p:nvSpPr>
          <p:cNvPr id="48" name="Shape 41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49" name="Text 42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0" name="Text 43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1" name="Shape 44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2" name="Text 45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3" name="Text 46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</p:txBody>
      </p:sp>
      <p:sp>
        <p:nvSpPr>
          <p:cNvPr id="54" name="Shape 47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  <p:txBody>
          <a:bodyPr/>
          <a:lstStyle/>
          <a:p>
            <a:endParaRPr lang="es-SV"/>
          </a:p>
        </p:txBody>
      </p:sp>
      <p:sp>
        <p:nvSpPr>
          <p:cNvPr id="55" name="Text 48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F6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6" name="Text 49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467</Words>
  <Application>Microsoft Office PowerPoint</Application>
  <PresentationFormat>Panorámica</PresentationFormat>
  <Paragraphs>94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Silvia Martinez</cp:lastModifiedBy>
  <cp:revision>3</cp:revision>
  <dcterms:created xsi:type="dcterms:W3CDTF">2026-10-16T20:16:21Z</dcterms:created>
  <dcterms:modified xsi:type="dcterms:W3CDTF">2026-10-16T20:35:23Z</dcterms:modified>
</cp:coreProperties>
</file>