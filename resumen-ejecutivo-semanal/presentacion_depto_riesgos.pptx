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36F609-4C4B-4F02-B89F-B8978A365510}" v="3" dt="2026-10-16T20:31:44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ia Martinez" userId="403720fc-b6f5-4c18-8c05-7c1e74c9681a" providerId="ADAL" clId="{3A698067-6C0D-41D4-81A2-0814E9926BA3}"/>
    <pc:docChg chg="undo custSel modSld">
      <pc:chgData name="Silvia Martinez" userId="403720fc-b6f5-4c18-8c05-7c1e74c9681a" providerId="ADAL" clId="{3A698067-6C0D-41D4-81A2-0814E9926BA3}" dt="2026-10-16T20:31:40.788" v="170" actId="20577"/>
      <pc:docMkLst>
        <pc:docMk/>
      </pc:docMkLst>
      <pc:sldChg chg="modSp mod">
        <pc:chgData name="Silvia Martinez" userId="403720fc-b6f5-4c18-8c05-7c1e74c9681a" providerId="ADAL" clId="{3A698067-6C0D-41D4-81A2-0814E9926BA3}" dt="2026-10-16T20:31:40.788" v="170" actId="20577"/>
        <pc:sldMkLst>
          <pc:docMk/>
          <pc:sldMk cId="0" sldId="256"/>
        </pc:sldMkLst>
        <pc:spChg chg="mod">
          <ac:chgData name="Silvia Martinez" userId="403720fc-b6f5-4c18-8c05-7c1e74c9681a" providerId="ADAL" clId="{3A698067-6C0D-41D4-81A2-0814E9926BA3}" dt="2026-10-16T20:31:40.788" v="170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ilvia Martinez" userId="403720fc-b6f5-4c18-8c05-7c1e74c9681a" providerId="ADAL" clId="{3A698067-6C0D-41D4-81A2-0814E9926BA3}" dt="2026-10-16T20:28:38.792" v="99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ilvia Martinez" userId="403720fc-b6f5-4c18-8c05-7c1e74c9681a" providerId="ADAL" clId="{3A698067-6C0D-41D4-81A2-0814E9926BA3}" dt="2026-10-16T20:26:46.509" v="57" actId="20577"/>
          <ac:spMkLst>
            <pc:docMk/>
            <pc:sldMk cId="0" sldId="256"/>
            <ac:spMk id="35" creationId="{00000000-0000-0000-0000-000000000000}"/>
          </ac:spMkLst>
        </pc:spChg>
      </pc:sldChg>
      <pc:sldChg chg="modSp mod">
        <pc:chgData name="Silvia Martinez" userId="403720fc-b6f5-4c18-8c05-7c1e74c9681a" providerId="ADAL" clId="{3A698067-6C0D-41D4-81A2-0814E9926BA3}" dt="2026-10-16T20:29:09.696" v="133" actId="20577"/>
        <pc:sldMkLst>
          <pc:docMk/>
          <pc:sldMk cId="0" sldId="257"/>
        </pc:sldMkLst>
        <pc:spChg chg="mod">
          <ac:chgData name="Silvia Martinez" userId="403720fc-b6f5-4c18-8c05-7c1e74c9681a" providerId="ADAL" clId="{3A698067-6C0D-41D4-81A2-0814E9926BA3}" dt="2026-10-16T20:27:18.558" v="77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Silvia Martinez" userId="403720fc-b6f5-4c18-8c05-7c1e74c9681a" providerId="ADAL" clId="{3A698067-6C0D-41D4-81A2-0814E9926BA3}" dt="2026-10-16T20:27:31.714" v="97" actId="2057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Silvia Martinez" userId="403720fc-b6f5-4c18-8c05-7c1e74c9681a" providerId="ADAL" clId="{3A698067-6C0D-41D4-81A2-0814E9926BA3}" dt="2026-10-16T20:29:09.696" v="133" actId="20577"/>
          <ac:spMkLst>
            <pc:docMk/>
            <pc:sldMk cId="0" sldId="257"/>
            <ac:spMk id="47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29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Actividades de la semana por frente (vertical). Capacitación y Examen GIR 2026: 98%. Proyecto de Avalúos: 80%.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Corte 16/10. Plazo de respuesta PLD/FT: 16/10 (Circular 23486). Siguen Gobierno Corporativo el 23/10 y 30/10 (Circular 22741) y el Plan de Recuperación el 03/11 (Circular 22737).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Administración de Riesgos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299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semanal</a:t>
            </a:r>
            <a:endParaRPr lang="en-US" sz="1300" b="1" dirty="0"/>
          </a:p>
        </p:txBody>
      </p:sp>
      <p:sp>
        <p:nvSpPr>
          <p:cNvPr id="6" name="Shape 4"/>
          <p:cNvSpPr/>
          <p:nvPr/>
        </p:nvSpPr>
        <p:spPr>
          <a:xfrm>
            <a:off x="8503920" y="786384"/>
            <a:ext cx="3227832" cy="310896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7" name="Text 5"/>
          <p:cNvSpPr txBox="1"/>
          <p:nvPr/>
        </p:nvSpPr>
        <p:spPr>
          <a:xfrm>
            <a:off x="8732520" y="78638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 la semana</a:t>
            </a:r>
            <a:endParaRPr lang="en-US" sz="1200" dirty="0"/>
          </a:p>
        </p:txBody>
      </p:sp>
      <p:pic>
        <p:nvPicPr>
          <p:cNvPr id="61" name="Icono Text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850392"/>
            <a:ext cx="182880" cy="182880"/>
          </a:xfrm>
          <a:prstGeom prst="rect">
            <a:avLst/>
          </a:prstGeom>
        </p:spPr>
      </p:pic>
      <p:sp>
        <p:nvSpPr>
          <p:cNvPr id="8" name="Shape 6"/>
          <p:cNvSpPr/>
          <p:nvPr/>
        </p:nvSpPr>
        <p:spPr>
          <a:xfrm>
            <a:off x="457200" y="1234440"/>
            <a:ext cx="2715768" cy="1097280"/>
          </a:xfrm>
          <a:prstGeom prst="roundRect">
            <a:avLst>
              <a:gd name="adj" fmla="val 6667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9" name="Shape 7"/>
          <p:cNvSpPr/>
          <p:nvPr/>
        </p:nvSpPr>
        <p:spPr>
          <a:xfrm>
            <a:off x="621792" y="1600200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1700784"/>
            <a:ext cx="182880" cy="182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15087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Regulatorio</a:t>
            </a:r>
            <a:endParaRPr lang="en-US" sz="13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SSF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310128" y="1234440"/>
            <a:ext cx="2715768" cy="1097280"/>
          </a:xfrm>
          <a:prstGeom prst="roundRect">
            <a:avLst>
              <a:gd name="adj" fmla="val 7937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17" name="Shape 14"/>
          <p:cNvSpPr/>
          <p:nvPr/>
        </p:nvSpPr>
        <p:spPr>
          <a:xfrm>
            <a:off x="3474720" y="1399032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304" y="1499616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995928" y="13075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Operacional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3474720" y="18379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Examen GIR 2026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1" name="Shape 17"/>
          <p:cNvSpPr/>
          <p:nvPr/>
        </p:nvSpPr>
        <p:spPr>
          <a:xfrm>
            <a:off x="3474720" y="2057400"/>
            <a:ext cx="1828800" cy="100584"/>
          </a:xfrm>
          <a:prstGeom prst="roundRect">
            <a:avLst>
              <a:gd name="adj" fmla="val 45455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s-SV"/>
          </a:p>
        </p:txBody>
      </p:sp>
      <p:sp>
        <p:nvSpPr>
          <p:cNvPr id="22" name="Shape 18"/>
          <p:cNvSpPr/>
          <p:nvPr/>
        </p:nvSpPr>
        <p:spPr>
          <a:xfrm>
            <a:off x="3474720" y="2057400"/>
            <a:ext cx="1792224" cy="100584"/>
          </a:xfrm>
          <a:prstGeom prst="roundRect">
            <a:avLst>
              <a:gd name="adj" fmla="val 45455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23" name="Text 19"/>
          <p:cNvSpPr txBox="1"/>
          <p:nvPr/>
        </p:nvSpPr>
        <p:spPr>
          <a:xfrm>
            <a:off x="5349240" y="19476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163056" y="1234440"/>
            <a:ext cx="2715768" cy="1097280"/>
          </a:xfrm>
          <a:prstGeom prst="roundRect">
            <a:avLst>
              <a:gd name="adj" fmla="val 7692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29" name="Shape 25"/>
          <p:cNvSpPr/>
          <p:nvPr/>
        </p:nvSpPr>
        <p:spPr>
          <a:xfrm>
            <a:off x="6327648" y="1380744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1481328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848856" y="12893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Normativo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44" name="Avaluos 44"/>
          <p:cNvSpPr txBox="1"/>
          <p:nvPr/>
        </p:nvSpPr>
        <p:spPr>
          <a:xfrm>
            <a:off x="6327648" y="1819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Avalúos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5" name="Avaluos 45"/>
          <p:cNvSpPr/>
          <p:nvPr/>
        </p:nvSpPr>
        <p:spPr>
          <a:xfrm>
            <a:off x="6327648" y="2039112"/>
            <a:ext cx="1828800" cy="100584"/>
          </a:xfrm>
          <a:prstGeom prst="roundRect">
            <a:avLst>
              <a:gd name="adj" fmla="val 45455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s-SV"/>
          </a:p>
        </p:txBody>
      </p:sp>
      <p:sp>
        <p:nvSpPr>
          <p:cNvPr id="46" name="Avaluos 46"/>
          <p:cNvSpPr/>
          <p:nvPr/>
        </p:nvSpPr>
        <p:spPr>
          <a:xfrm>
            <a:off x="6327648" y="2039112"/>
            <a:ext cx="1463040" cy="100584"/>
          </a:xfrm>
          <a:prstGeom prst="roundRect">
            <a:avLst>
              <a:gd name="adj" fmla="val 45455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47" name="Avaluos 47"/>
          <p:cNvSpPr txBox="1"/>
          <p:nvPr/>
        </p:nvSpPr>
        <p:spPr>
          <a:xfrm>
            <a:off x="8202168" y="19293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9015984" y="1234440"/>
            <a:ext cx="2715768" cy="1097280"/>
          </a:xfrm>
          <a:prstGeom prst="roundRect">
            <a:avLst>
              <a:gd name="adj" fmla="val 10204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37" name="Shape 32"/>
          <p:cNvSpPr/>
          <p:nvPr/>
        </p:nvSpPr>
        <p:spPr>
          <a:xfrm>
            <a:off x="9180576" y="1600200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1700784"/>
            <a:ext cx="182880" cy="18288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9701784" y="15087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Financiero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57200" y="2441448"/>
            <a:ext cx="2715768" cy="4096512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66928" y="2551176"/>
            <a:ext cx="2496312" cy="470915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2578608"/>
            <a:ext cx="2313432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1. Resultados preliminares – Riesgos especificos PLD/FT  ·  Circ. 23486</a:t>
            </a:r>
          </a:p>
          <a:p>
            <a:r>
              <a:rPr sz="900" b="1">
                <a:solidFill>
                  <a:srgbClr val="B86E00"/>
                </a:solidFill>
                <a:latin typeface="Calibri"/>
              </a:rPr>
              <a:t>Plazo 16/10/2026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944" y="3022091"/>
            <a:ext cx="10972" cy="160019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94944" y="3113531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04672" y="3090671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6112" y="3049523"/>
            <a:ext cx="21305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Gestoines pruebas de descargos según nota DS-SABAO-BCS-BC-23486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3369563"/>
            <a:ext cx="2496312" cy="736092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3396995"/>
            <a:ext cx="2313432" cy="681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2. Resultados preliminares – Gobierno Corporativo  ·  Circ. 22741</a:t>
            </a:r>
          </a:p>
          <a:p>
            <a:r>
              <a:rPr sz="900" b="1">
                <a:solidFill>
                  <a:srgbClr val="B86E00"/>
                </a:solidFill>
                <a:latin typeface="Calibri"/>
              </a:rPr>
              <a:t>Plazo 23/10/2026 · Nuevas observaciones</a:t>
            </a:r>
          </a:p>
          <a:p>
            <a:r>
              <a:rPr sz="900" b="1">
                <a:solidFill>
                  <a:srgbClr val="B86E00"/>
                </a:solidFill>
                <a:latin typeface="Calibri"/>
              </a:rPr>
              <a:t>Plazo 30/10/2026 · Seguimiento de observaciones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944" y="4105655"/>
            <a:ext cx="10972" cy="425195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4944" y="4197096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04672" y="4174235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6112" y="4133087"/>
            <a:ext cx="21305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Gestiones prueba de descargos  según nota DS-SABAO-BCS-BC-22741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944" y="4462272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4672" y="4439412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6112" y="4398264"/>
            <a:ext cx="21305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Presentación visita de supervisión gobierno corporativo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66928" y="4718303"/>
            <a:ext cx="2496312" cy="470915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" y="4745736"/>
            <a:ext cx="2313432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3. Resultado preliminar Plan de Recuperación  ·  Circ. 22737</a:t>
            </a:r>
          </a:p>
          <a:p>
            <a:r>
              <a:rPr sz="900" b="1">
                <a:solidFill>
                  <a:srgbClr val="B86E00"/>
                </a:solidFill>
                <a:latin typeface="Calibri"/>
              </a:rPr>
              <a:t>Plazo 03/11/2026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6928" y="5244083"/>
            <a:ext cx="2496312" cy="470915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8368" y="5271515"/>
            <a:ext cx="2313432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4. Riesgo Credito, Mercado y Liquidez  ·  Circ. 22742</a:t>
            </a:r>
          </a:p>
          <a:p>
            <a:r>
              <a:rPr sz="900" b="1">
                <a:solidFill>
                  <a:srgbClr val="B86E00"/>
                </a:solidFill>
                <a:latin typeface="Calibri"/>
              </a:rPr>
              <a:t>Inicio visita 09/10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4944" y="5714999"/>
            <a:ext cx="10972" cy="160019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4944" y="5806439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04672" y="5783579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6112" y="5742431"/>
            <a:ext cx="21305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Presentación resultados preliminares de Gestión de Riesgos Específicos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66928" y="6062471"/>
            <a:ext cx="2496312" cy="338328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8368" y="6089903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5. Reunion con ente regulador SSF– fecha de visita 15/10/2026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310128" y="2441448"/>
            <a:ext cx="2715768" cy="4096512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419856" y="2551176"/>
            <a:ext cx="2496312" cy="196596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11296" y="2578608"/>
            <a:ext cx="2313432" cy="141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1. Capacitación y Examen GIR 2026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47872" y="2747772"/>
            <a:ext cx="10972" cy="160019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547872" y="2839211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657600" y="2816351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49040" y="2775203"/>
            <a:ext cx="21305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Informe final de resultados de Capacitación de GIR 2026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419856" y="3095244"/>
            <a:ext cx="2496312" cy="196596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511296" y="3122675"/>
            <a:ext cx="2313432" cy="141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2. Segunda prueba de continuidad de negocio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47872" y="3291839"/>
            <a:ext cx="10972" cy="160019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547872" y="3383279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657600" y="3360419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49040" y="3319271"/>
            <a:ext cx="21305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Informe de segunda prueba de Continuidad del Negocio realizada el 01.10.2026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419856" y="3639311"/>
            <a:ext cx="2496312" cy="196596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511296" y="3666744"/>
            <a:ext cx="2313432" cy="141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3. Actualización Matriz BIA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419856" y="3890771"/>
            <a:ext cx="2496312" cy="338328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511296" y="3918203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4. Seguimiento planes de acción Matriz de Riesgos Institucional 2026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419856" y="4283963"/>
            <a:ext cx="2496312" cy="338328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11296" y="4311395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5. Seguimiento eventos de riesgos por caídas de TC 25.09.2026 y Orion 26.09.2026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163056" y="2441448"/>
            <a:ext cx="2715768" cy="4096512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272784" y="2551176"/>
            <a:ext cx="2496312" cy="196596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64224" y="2578608"/>
            <a:ext cx="2313432" cy="141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1. Revisión de Política de Avalúos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2747772"/>
            <a:ext cx="10972" cy="690371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00800" y="2839211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510528" y="2816351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01968" y="2775203"/>
            <a:ext cx="21305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Revisión de Procedimientos de Administración de Avalúos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3104387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10528" y="3081527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601968" y="3040379"/>
            <a:ext cx="2130552" cy="132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Revisión de Perfil de Revisor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00800" y="3236975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510528" y="3214115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601968" y="3172968"/>
            <a:ext cx="2130552" cy="132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Asignación a perito valuador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0800" y="3369563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510528" y="3346703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601968" y="3305556"/>
            <a:ext cx="21305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Descargo de avalúo anterior y documento mutuo hipotecario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272784" y="3625596"/>
            <a:ext cx="2496312" cy="196596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64224" y="3653027"/>
            <a:ext cx="2313432" cy="141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2. Comite de Riesgo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400800" y="3822191"/>
            <a:ext cx="10972" cy="35890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400800" y="3913632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510528" y="3890772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01968" y="3849624"/>
            <a:ext cx="21305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Elaboración de acta de sesión de fecha 29/08/2026 comite de reiesgo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400800" y="4178808"/>
            <a:ext cx="109728" cy="10972"/>
          </a:xfrm>
          <a:prstGeom prst="rect">
            <a:avLst/>
          </a:prstGeom>
          <a:solidFill>
            <a:srgbClr val="8FA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510528" y="4155948"/>
            <a:ext cx="50292" cy="50292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601968" y="4114800"/>
            <a:ext cx="2130552" cy="1325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2733"/>
                </a:solidFill>
                <a:latin typeface="Calibri"/>
              </a:rPr>
              <a:t>Actualización Informe Relativo a Comites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272784" y="4302251"/>
            <a:ext cx="2496312" cy="338328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364224" y="4329683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3. Actuazliacion de marco normative departamento de administración de riesgos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72784" y="4695443"/>
            <a:ext cx="2496312" cy="338328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364224" y="4722875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4. Actualización de política de servicios tercerizados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015984" y="2441448"/>
            <a:ext cx="2715768" cy="4096512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9125711" y="2551176"/>
            <a:ext cx="2496312" cy="196596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17151" y="2578608"/>
            <a:ext cx="2313432" cy="141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1. Informe de Análisis de Cartera de TC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125711" y="2802636"/>
            <a:ext cx="2496312" cy="196596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217151" y="2830068"/>
            <a:ext cx="2313432" cy="141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2. Simulación de cartera vencida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125711" y="3054096"/>
            <a:ext cx="2496312" cy="196596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217151" y="3081527"/>
            <a:ext cx="2313432" cy="141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3. Actualización de Política de TC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125711" y="3305556"/>
            <a:ext cx="2496312" cy="338328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217151" y="3332987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4. Envío de información a la Central de Riesgo (NRP-41)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125711" y="3698748"/>
            <a:ext cx="2496312" cy="338328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217151" y="3726180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5. Monitoreo semanal de la reserva de saneamiento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9125711" y="4091939"/>
            <a:ext cx="2496312" cy="338328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217151" y="4119372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6. Registro permanente de los traslados de deuda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125711" y="4485131"/>
            <a:ext cx="2496312" cy="338328"/>
          </a:xfrm>
          <a:prstGeom prst="roundRect">
            <a:avLst>
              <a:gd name="adj" fmla="val 20000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217151" y="4512564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B2545"/>
                </a:solidFill>
                <a:latin typeface="Calibri"/>
              </a:rPr>
              <a:t>7. Seguimiento acuerdos del Consejo de Administración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requerimientos SSF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Compromisos regulatorios y próximos hitos · Corte 16/10/2026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0" y="484632"/>
            <a:ext cx="164592" cy="16459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6" y="521208"/>
            <a:ext cx="91440" cy="91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63456" y="457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Transcurrido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469880" y="484632"/>
            <a:ext cx="164592" cy="164592"/>
          </a:xfrm>
          <a:prstGeom prst="diamond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8" name="Text 5"/>
          <p:cNvSpPr txBox="1"/>
          <p:nvPr/>
        </p:nvSpPr>
        <p:spPr>
          <a:xfrm>
            <a:off x="10689336" y="457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SSF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261872"/>
            <a:ext cx="5575227" cy="2267712"/>
          </a:xfrm>
          <a:prstGeom prst="roundRect">
            <a:avLst>
              <a:gd name="adj" fmla="val 4839"/>
            </a:avLst>
          </a:prstGeom>
          <a:solidFill>
            <a:srgbClr val="E5F2EA"/>
          </a:solidFill>
          <a:ln w="12700">
            <a:solidFill>
              <a:srgbClr val="E5F2EA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0" name="Text 7"/>
          <p:cNvSpPr txBox="1"/>
          <p:nvPr/>
        </p:nvSpPr>
        <p:spPr>
          <a:xfrm>
            <a:off x="594360" y="1307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TRANSCURRIDO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143000" y="2322576"/>
            <a:ext cx="9966960" cy="109728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s-SV"/>
          </a:p>
        </p:txBody>
      </p:sp>
      <p:sp>
        <p:nvSpPr>
          <p:cNvPr id="12" name="Shape 9"/>
          <p:cNvSpPr/>
          <p:nvPr/>
        </p:nvSpPr>
        <p:spPr>
          <a:xfrm>
            <a:off x="1143000" y="2322576"/>
            <a:ext cx="5675811" cy="109728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13" name="Shape 10"/>
          <p:cNvSpPr/>
          <p:nvPr/>
        </p:nvSpPr>
        <p:spPr>
          <a:xfrm>
            <a:off x="1280160" y="2139696"/>
            <a:ext cx="0" cy="237744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4" name="Shape 11"/>
          <p:cNvSpPr/>
          <p:nvPr/>
        </p:nvSpPr>
        <p:spPr>
          <a:xfrm>
            <a:off x="1152144" y="2249424"/>
            <a:ext cx="256032" cy="256032"/>
          </a:xfrm>
          <a:prstGeom prst="ellipse">
            <a:avLst/>
          </a:prstGeom>
          <a:solidFill>
            <a:srgbClr val="2E7D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313432"/>
            <a:ext cx="128016" cy="12801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71500" y="1371600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22/09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preliminar Plan de Recuperación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22737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741714" y="2377440"/>
            <a:ext cx="0" cy="237744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8" name="Shape 14"/>
          <p:cNvSpPr/>
          <p:nvPr/>
        </p:nvSpPr>
        <p:spPr>
          <a:xfrm>
            <a:off x="1613698" y="2249424"/>
            <a:ext cx="256032" cy="256032"/>
          </a:xfrm>
          <a:prstGeom prst="ellipse">
            <a:avLst/>
          </a:prstGeom>
          <a:solidFill>
            <a:srgbClr val="2E7D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06" y="2313432"/>
            <a:ext cx="128016" cy="12801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33054" y="2688336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24/09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inicial Riesgos Específicos</a:t>
            </a:r>
            <a:endParaRPr lang="en-US" sz="13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22742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587931" y="2139696"/>
            <a:ext cx="0" cy="237744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2" name="Shape 17"/>
          <p:cNvSpPr/>
          <p:nvPr/>
        </p:nvSpPr>
        <p:spPr>
          <a:xfrm>
            <a:off x="3459915" y="2249424"/>
            <a:ext cx="256032" cy="256032"/>
          </a:xfrm>
          <a:prstGeom prst="ellipse">
            <a:avLst/>
          </a:prstGeom>
          <a:solidFill>
            <a:srgbClr val="2E7D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923" y="2313432"/>
            <a:ext cx="128016" cy="1280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879271" y="1371600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</a:t>
            </a:r>
            <a:r>
              <a:rPr lang="en-US" sz="10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preliminares</a:t>
            </a: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especificos PLD/FT</a:t>
            </a:r>
            <a:endParaRPr lang="en-US" sz="13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23486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203371" y="2377440"/>
            <a:ext cx="0" cy="237744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26" name="Shape 20"/>
          <p:cNvSpPr/>
          <p:nvPr/>
        </p:nvSpPr>
        <p:spPr>
          <a:xfrm>
            <a:off x="5075355" y="2249424"/>
            <a:ext cx="256032" cy="256032"/>
          </a:xfrm>
          <a:prstGeom prst="ellipse">
            <a:avLst/>
          </a:prstGeom>
          <a:solidFill>
            <a:srgbClr val="2E7D4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363" y="2313432"/>
            <a:ext cx="128016" cy="12801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494711" y="2688336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visita Riesgos Específicos · Resultados Gobierno Corporativo</a:t>
            </a:r>
            <a:endParaRPr lang="en-US" sz="13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22742 · 22741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818811" y="2139696"/>
            <a:ext cx="0" cy="237744"/>
          </a:xfrm>
          <a:prstGeom prst="line">
            <a:avLst/>
          </a:prstGeom>
          <a:noFill/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0" name="Shape 23"/>
          <p:cNvSpPr/>
          <p:nvPr/>
        </p:nvSpPr>
        <p:spPr>
          <a:xfrm>
            <a:off x="6699939" y="2258568"/>
            <a:ext cx="237744" cy="237744"/>
          </a:xfrm>
          <a:prstGeom prst="diamond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31" name="Text 24"/>
          <p:cNvSpPr txBox="1"/>
          <p:nvPr/>
        </p:nvSpPr>
        <p:spPr>
          <a:xfrm>
            <a:off x="6110151" y="1371600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16/10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resultados </a:t>
            </a:r>
            <a:r>
              <a:rPr lang="en-US" sz="10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preliminares</a:t>
            </a: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Especificos PLD/FT</a:t>
            </a:r>
            <a:endParaRPr lang="en-US" sz="13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23486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8434251" y="2377440"/>
            <a:ext cx="0" cy="237744"/>
          </a:xfrm>
          <a:prstGeom prst="line">
            <a:avLst/>
          </a:prstGeom>
          <a:noFill/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3" name="Shape 26"/>
          <p:cNvSpPr/>
          <p:nvPr/>
        </p:nvSpPr>
        <p:spPr>
          <a:xfrm>
            <a:off x="8315379" y="2258568"/>
            <a:ext cx="237744" cy="237744"/>
          </a:xfrm>
          <a:prstGeom prst="diamond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34" name="Text 27"/>
          <p:cNvSpPr txBox="1"/>
          <p:nvPr/>
        </p:nvSpPr>
        <p:spPr>
          <a:xfrm>
            <a:off x="7725591" y="2688336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23/10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observaciones Gobierno Corporativo</a:t>
            </a:r>
            <a:endParaRPr lang="en-US" sz="13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22741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10049691" y="2139696"/>
            <a:ext cx="0" cy="237744"/>
          </a:xfrm>
          <a:prstGeom prst="line">
            <a:avLst/>
          </a:prstGeom>
          <a:noFill/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6" name="Shape 29"/>
          <p:cNvSpPr/>
          <p:nvPr/>
        </p:nvSpPr>
        <p:spPr>
          <a:xfrm>
            <a:off x="9930819" y="2258568"/>
            <a:ext cx="237744" cy="237744"/>
          </a:xfrm>
          <a:prstGeom prst="diamond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37" name="Text 30"/>
          <p:cNvSpPr txBox="1"/>
          <p:nvPr/>
        </p:nvSpPr>
        <p:spPr>
          <a:xfrm>
            <a:off x="9341031" y="1371600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30/10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observaciones Gobierno Corporativo</a:t>
            </a:r>
            <a:endParaRPr lang="en-US" sz="13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22741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10972800" y="2377440"/>
            <a:ext cx="0" cy="237744"/>
          </a:xfrm>
          <a:prstGeom prst="line">
            <a:avLst/>
          </a:prstGeom>
          <a:noFill/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39" name="Shape 32"/>
          <p:cNvSpPr/>
          <p:nvPr/>
        </p:nvSpPr>
        <p:spPr>
          <a:xfrm>
            <a:off x="10853928" y="2258568"/>
            <a:ext cx="237744" cy="237744"/>
          </a:xfrm>
          <a:prstGeom prst="diamond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40" name="Text 33"/>
          <p:cNvSpPr txBox="1"/>
          <p:nvPr/>
        </p:nvSpPr>
        <p:spPr>
          <a:xfrm>
            <a:off x="10264140" y="2688336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03/11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del Plan de Recuperación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22737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6818811" y="2542032"/>
            <a:ext cx="0" cy="566928"/>
          </a:xfrm>
          <a:prstGeom prst="line">
            <a:avLst/>
          </a:prstGeom>
          <a:noFill/>
          <a:ln w="19050">
            <a:solidFill>
              <a:srgbClr val="1F6FB2"/>
            </a:solidFill>
            <a:prstDash val="dash"/>
          </a:ln>
        </p:spPr>
        <p:txBody>
          <a:bodyPr/>
          <a:lstStyle/>
          <a:p>
            <a:endParaRPr lang="es-SV"/>
          </a:p>
        </p:txBody>
      </p:sp>
      <p:sp>
        <p:nvSpPr>
          <p:cNvPr id="42" name="Shape 35"/>
          <p:cNvSpPr/>
          <p:nvPr/>
        </p:nvSpPr>
        <p:spPr>
          <a:xfrm>
            <a:off x="6315891" y="31089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3" name="Text 36"/>
          <p:cNvSpPr txBox="1"/>
          <p:nvPr/>
        </p:nvSpPr>
        <p:spPr>
          <a:xfrm>
            <a:off x="6315891" y="3108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16/10</a:t>
            </a:r>
            <a:endParaRPr lang="en-US" sz="1050" dirty="0"/>
          </a:p>
        </p:txBody>
      </p:sp>
      <p:sp>
        <p:nvSpPr>
          <p:cNvPr id="44" name="Text 37"/>
          <p:cNvSpPr txBox="1"/>
          <p:nvPr/>
        </p:nvSpPr>
        <p:spPr>
          <a:xfrm>
            <a:off x="457200" y="36576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vencimientos</a:t>
            </a:r>
            <a:endParaRPr lang="en-US" sz="1600" dirty="0"/>
          </a:p>
        </p:txBody>
      </p:sp>
      <p:sp>
        <p:nvSpPr>
          <p:cNvPr id="45" name="Shape 38"/>
          <p:cNvSpPr/>
          <p:nvPr/>
        </p:nvSpPr>
        <p:spPr>
          <a:xfrm>
            <a:off x="457200" y="4078224"/>
            <a:ext cx="2681478" cy="2286000"/>
          </a:xfrm>
          <a:prstGeom prst="roundRect">
            <a:avLst>
              <a:gd name="adj" fmla="val 4800"/>
            </a:avLst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SV"/>
          </a:p>
        </p:txBody>
      </p:sp>
      <p:sp>
        <p:nvSpPr>
          <p:cNvPr id="46" name="Text 39"/>
          <p:cNvSpPr txBox="1"/>
          <p:nvPr/>
        </p:nvSpPr>
        <p:spPr>
          <a:xfrm>
            <a:off x="658368" y="4206240"/>
            <a:ext cx="23157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16/10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7" name="Text 40"/>
          <p:cNvSpPr txBox="1"/>
          <p:nvPr/>
        </p:nvSpPr>
        <p:spPr>
          <a:xfrm>
            <a:off x="658368" y="4919472"/>
            <a:ext cx="23157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respuesta </a:t>
            </a:r>
            <a:r>
              <a:rPr lang="en-US" sz="115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preliminares</a:t>
            </a: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r>
              <a:rPr lang="en-US" sz="11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Especificos PLD/FT</a:t>
            </a:r>
            <a:endParaRPr lang="en-US" sz="1150" b="1" dirty="0">
              <a:solidFill>
                <a:schemeClr val="bg1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23486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48" name="Shape 41"/>
          <p:cNvSpPr/>
          <p:nvPr/>
        </p:nvSpPr>
        <p:spPr>
          <a:xfrm>
            <a:off x="3321558" y="4078224"/>
            <a:ext cx="2681478" cy="2286000"/>
          </a:xfrm>
          <a:prstGeom prst="roundRect">
            <a:avLst>
              <a:gd name="adj" fmla="val 48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49" name="Text 42"/>
          <p:cNvSpPr txBox="1"/>
          <p:nvPr/>
        </p:nvSpPr>
        <p:spPr>
          <a:xfrm>
            <a:off x="3522726" y="4206240"/>
            <a:ext cx="23157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días</a:t>
            </a:r>
            <a:endParaRPr lang="en-US" sz="4000" dirty="0"/>
          </a:p>
        </p:txBody>
      </p:sp>
      <p:sp>
        <p:nvSpPr>
          <p:cNvPr id="50" name="Text 43"/>
          <p:cNvSpPr txBox="1"/>
          <p:nvPr/>
        </p:nvSpPr>
        <p:spPr>
          <a:xfrm>
            <a:off x="3522726" y="4919472"/>
            <a:ext cx="23157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23/10/2026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nuevas observaciones – Gobierno Corporativo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22741</a:t>
            </a:r>
            <a:endParaRPr lang="en-US" sz="1300" dirty="0"/>
          </a:p>
        </p:txBody>
      </p:sp>
      <p:sp>
        <p:nvSpPr>
          <p:cNvPr id="51" name="Shape 44"/>
          <p:cNvSpPr/>
          <p:nvPr/>
        </p:nvSpPr>
        <p:spPr>
          <a:xfrm>
            <a:off x="6185916" y="4078224"/>
            <a:ext cx="2681478" cy="2286000"/>
          </a:xfrm>
          <a:prstGeom prst="roundRect">
            <a:avLst>
              <a:gd name="adj" fmla="val 48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2" name="Text 45"/>
          <p:cNvSpPr txBox="1"/>
          <p:nvPr/>
        </p:nvSpPr>
        <p:spPr>
          <a:xfrm>
            <a:off x="6387084" y="4206240"/>
            <a:ext cx="23157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días</a:t>
            </a:r>
            <a:endParaRPr lang="en-US" sz="4000" dirty="0"/>
          </a:p>
        </p:txBody>
      </p:sp>
      <p:sp>
        <p:nvSpPr>
          <p:cNvPr id="53" name="Text 46"/>
          <p:cNvSpPr txBox="1"/>
          <p:nvPr/>
        </p:nvSpPr>
        <p:spPr>
          <a:xfrm>
            <a:off x="6387084" y="4919472"/>
            <a:ext cx="23157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30/10/2026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observaciones – Gobierno Corporativo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22741</a:t>
            </a:r>
            <a:endParaRPr lang="en-US" sz="1300" dirty="0"/>
          </a:p>
        </p:txBody>
      </p:sp>
      <p:sp>
        <p:nvSpPr>
          <p:cNvPr id="54" name="Shape 47"/>
          <p:cNvSpPr/>
          <p:nvPr/>
        </p:nvSpPr>
        <p:spPr>
          <a:xfrm>
            <a:off x="9050274" y="4078224"/>
            <a:ext cx="2681478" cy="2286000"/>
          </a:xfrm>
          <a:prstGeom prst="roundRect">
            <a:avLst>
              <a:gd name="adj" fmla="val 48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5" name="Text 48"/>
          <p:cNvSpPr txBox="1"/>
          <p:nvPr/>
        </p:nvSpPr>
        <p:spPr>
          <a:xfrm>
            <a:off x="9251442" y="4206240"/>
            <a:ext cx="23157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días</a:t>
            </a:r>
            <a:endParaRPr lang="en-US" sz="4000" dirty="0"/>
          </a:p>
        </p:txBody>
      </p:sp>
      <p:sp>
        <p:nvSpPr>
          <p:cNvPr id="56" name="Text 49"/>
          <p:cNvSpPr txBox="1"/>
          <p:nvPr/>
        </p:nvSpPr>
        <p:spPr>
          <a:xfrm>
            <a:off x="9251442" y="4919472"/>
            <a:ext cx="23157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03/11/2026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del Plan de Recuperación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35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22737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8dab1c-c8f3-4f9c-8270-c22a94ade099}" enabled="0" method="" siteId="{d98dab1c-c8f3-4f9c-8270-c22a94ade09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514</Words>
  <Application>Microsoft Office PowerPoint</Application>
  <PresentationFormat>Panorámica</PresentationFormat>
  <Paragraphs>100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de Riesgos – COMÉDICA</dc:title>
  <dc:subject>PptxGenJS Presentation</dc:subject>
  <dc:creator>Departamento de Administración de Riesgos</dc:creator>
  <cp:lastModifiedBy>Hector Jose Menjivar Somoza</cp:lastModifiedBy>
  <cp:revision>4</cp:revision>
  <dcterms:created xsi:type="dcterms:W3CDTF">2026-10-16T20:16:21Z</dcterms:created>
  <dcterms:modified xsi:type="dcterms:W3CDTF">2026-10-16T22:15:23Z</dcterms:modified>
</cp:coreProperties>
</file>