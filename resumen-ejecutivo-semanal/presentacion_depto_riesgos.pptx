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E36F609-4C4B-4F02-B89F-B8978A365510}" v="3" dt="2026-10-16T20:31:44.2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lvia Martinez" userId="403720fc-b6f5-4c18-8c05-7c1e74c9681a" providerId="ADAL" clId="{3A698067-6C0D-41D4-81A2-0814E9926BA3}"/>
    <pc:docChg chg="undo custSel modSld">
      <pc:chgData name="Silvia Martinez" userId="403720fc-b6f5-4c18-8c05-7c1e74c9681a" providerId="ADAL" clId="{3A698067-6C0D-41D4-81A2-0814E9926BA3}" dt="2026-10-16T20:31:40.788" v="170" actId="20577"/>
      <pc:docMkLst>
        <pc:docMk/>
      </pc:docMkLst>
      <pc:sldChg chg="modSp mod">
        <pc:chgData name="Silvia Martinez" userId="403720fc-b6f5-4c18-8c05-7c1e74c9681a" providerId="ADAL" clId="{3A698067-6C0D-41D4-81A2-0814E9926BA3}" dt="2026-10-16T20:31:40.788" v="170" actId="20577"/>
        <pc:sldMkLst>
          <pc:docMk/>
          <pc:sldMk cId="0" sldId="256"/>
        </pc:sldMkLst>
        <pc:spChg chg="mod">
          <ac:chgData name="Silvia Martinez" userId="403720fc-b6f5-4c18-8c05-7c1e74c9681a" providerId="ADAL" clId="{3A698067-6C0D-41D4-81A2-0814E9926BA3}" dt="2026-10-16T20:31:40.788" v="170" actId="20577"/>
          <ac:spMkLst>
            <pc:docMk/>
            <pc:sldMk cId="0" sldId="256"/>
            <ac:spMk id="13" creationId="{00000000-0000-0000-0000-000000000000}"/>
          </ac:spMkLst>
        </pc:spChg>
        <pc:spChg chg="mod">
          <ac:chgData name="Silvia Martinez" userId="403720fc-b6f5-4c18-8c05-7c1e74c9681a" providerId="ADAL" clId="{3A698067-6C0D-41D4-81A2-0814E9926BA3}" dt="2026-10-16T20:28:38.792" v="99" actId="20577"/>
          <ac:spMkLst>
            <pc:docMk/>
            <pc:sldMk cId="0" sldId="256"/>
            <ac:spMk id="15" creationId="{00000000-0000-0000-0000-000000000000}"/>
          </ac:spMkLst>
        </pc:spChg>
        <pc:spChg chg="mod">
          <ac:chgData name="Silvia Martinez" userId="403720fc-b6f5-4c18-8c05-7c1e74c9681a" providerId="ADAL" clId="{3A698067-6C0D-41D4-81A2-0814E9926BA3}" dt="2026-10-16T20:26:46.509" v="57" actId="20577"/>
          <ac:spMkLst>
            <pc:docMk/>
            <pc:sldMk cId="0" sldId="256"/>
            <ac:spMk id="35" creationId="{00000000-0000-0000-0000-000000000000}"/>
          </ac:spMkLst>
        </pc:spChg>
      </pc:sldChg>
      <pc:sldChg chg="modSp mod">
        <pc:chgData name="Silvia Martinez" userId="403720fc-b6f5-4c18-8c05-7c1e74c9681a" providerId="ADAL" clId="{3A698067-6C0D-41D4-81A2-0814E9926BA3}" dt="2026-10-16T20:29:09.696" v="133" actId="20577"/>
        <pc:sldMkLst>
          <pc:docMk/>
          <pc:sldMk cId="0" sldId="257"/>
        </pc:sldMkLst>
        <pc:spChg chg="mod">
          <ac:chgData name="Silvia Martinez" userId="403720fc-b6f5-4c18-8c05-7c1e74c9681a" providerId="ADAL" clId="{3A698067-6C0D-41D4-81A2-0814E9926BA3}" dt="2026-10-16T20:27:18.558" v="77" actId="20577"/>
          <ac:spMkLst>
            <pc:docMk/>
            <pc:sldMk cId="0" sldId="257"/>
            <ac:spMk id="24" creationId="{00000000-0000-0000-0000-000000000000}"/>
          </ac:spMkLst>
        </pc:spChg>
        <pc:spChg chg="mod">
          <ac:chgData name="Silvia Martinez" userId="403720fc-b6f5-4c18-8c05-7c1e74c9681a" providerId="ADAL" clId="{3A698067-6C0D-41D4-81A2-0814E9926BA3}" dt="2026-10-16T20:27:31.714" v="97" actId="20577"/>
          <ac:spMkLst>
            <pc:docMk/>
            <pc:sldMk cId="0" sldId="257"/>
            <ac:spMk id="31" creationId="{00000000-0000-0000-0000-000000000000}"/>
          </ac:spMkLst>
        </pc:spChg>
        <pc:spChg chg="mod">
          <ac:chgData name="Silvia Martinez" userId="403720fc-b6f5-4c18-8c05-7c1e74c9681a" providerId="ADAL" clId="{3A698067-6C0D-41D4-81A2-0814E9926BA3}" dt="2026-10-16T20:29:09.696" v="133" actId="20577"/>
          <ac:spMkLst>
            <pc:docMk/>
            <pc:sldMk cId="0" sldId="257"/>
            <ac:spMk id="4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42963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por frente. Columna izquierda: asuntos del informe anterior que siguen vigentes (plazos SSF). Columna derecha: actividades de la semana según el documento de actividades. Examen GIR 2026: avance 93%.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Corte 16/10. Plazo de respuesta PLD/FT: 16/10 (Circular 23486). Siguen Gobierno Corporativo el 23/10 y 30/10 (Circular 22741) y el Plan de Recuperación el 03/11 (Circular 22737).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Administración de Riesgos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1299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</a:t>
            </a:r>
            <a:endParaRPr lang="en-US" sz="1300" b="1" dirty="0"/>
          </a:p>
        </p:txBody>
      </p:sp>
      <p:sp>
        <p:nvSpPr>
          <p:cNvPr id="4" name="Shape 2"/>
          <p:cNvSpPr/>
          <p:nvPr/>
        </p:nvSpPr>
        <p:spPr>
          <a:xfrm>
            <a:off x="3291840" y="1207008"/>
            <a:ext cx="4151376" cy="310896"/>
          </a:xfrm>
          <a:prstGeom prst="roundRect">
            <a:avLst>
              <a:gd name="adj" fmla="val 50000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5" name="Text 3"/>
          <p:cNvSpPr txBox="1"/>
          <p:nvPr/>
        </p:nvSpPr>
        <p:spPr>
          <a:xfrm>
            <a:off x="3419856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seguimiento</a:t>
            </a:r>
            <a:endParaRPr lang="en-US" sz="1200" dirty="0"/>
          </a:p>
        </p:txBody>
      </p:sp>
      <p:pic>
        <p:nvPicPr>
          <p:cNvPr id="60" name="Icono Text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6007" y="1271016"/>
            <a:ext cx="182880" cy="182880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7580376" y="1207008"/>
            <a:ext cx="4151376" cy="310896"/>
          </a:xfrm>
          <a:prstGeom prst="roundRect">
            <a:avLst>
              <a:gd name="adj" fmla="val 50000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7" name="Text 5"/>
          <p:cNvSpPr txBox="1"/>
          <p:nvPr/>
        </p:nvSpPr>
        <p:spPr>
          <a:xfrm>
            <a:off x="7708392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de la semana</a:t>
            </a:r>
            <a:endParaRPr lang="en-US" sz="1200" dirty="0"/>
          </a:p>
        </p:txBody>
      </p:sp>
      <p:pic>
        <p:nvPicPr>
          <p:cNvPr id="61" name="Icono Text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58784" y="1271016"/>
            <a:ext cx="182880" cy="182880"/>
          </a:xfrm>
          <a:prstGeom prst="rect">
            <a:avLst/>
          </a:prstGeom>
        </p:spPr>
      </p:pic>
      <p:sp>
        <p:nvSpPr>
          <p:cNvPr id="8" name="Shape 6"/>
          <p:cNvSpPr/>
          <p:nvPr/>
        </p:nvSpPr>
        <p:spPr>
          <a:xfrm>
            <a:off x="457200" y="1627632"/>
            <a:ext cx="2697480" cy="1371600"/>
          </a:xfrm>
          <a:prstGeom prst="roundRect">
            <a:avLst>
              <a:gd name="adj" fmla="val 6667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9" name="Shape 7"/>
          <p:cNvSpPr/>
          <p:nvPr/>
        </p:nvSpPr>
        <p:spPr>
          <a:xfrm>
            <a:off x="621792" y="213055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2231136"/>
            <a:ext cx="182880" cy="1828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43000" y="20391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Regulatorio</a:t>
            </a:r>
            <a:endParaRPr lang="en-US" sz="13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SSF</a:t>
            </a:r>
            <a:endParaRPr lang="en-US" sz="1350" dirty="0">
              <a:solidFill>
                <a:schemeClr val="bg1"/>
              </a:solidFill>
            </a:endParaRPr>
          </a:p>
        </p:txBody>
      </p:sp>
      <p:sp>
        <p:nvSpPr>
          <p:cNvPr id="12" name="Shape 9"/>
          <p:cNvSpPr/>
          <p:nvPr/>
        </p:nvSpPr>
        <p:spPr>
          <a:xfrm>
            <a:off x="3291840" y="1627632"/>
            <a:ext cx="4151376" cy="137160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3" name="Text 10"/>
          <p:cNvSpPr txBox="1"/>
          <p:nvPr/>
        </p:nvSpPr>
        <p:spPr>
          <a:xfrm>
            <a:off x="3456432" y="1773936"/>
            <a:ext cx="391363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– </a:t>
            </a:r>
            <a:r>
              <a:rPr lang="en-US" sz="900" b="1" dirty="0" err="1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especificos PLD/FT  ·  </a:t>
            </a:r>
            <a:r>
              <a:rPr lang="en-US" sz="9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9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16/10/2026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– Gobierno Corporativo  ·  </a:t>
            </a:r>
            <a:r>
              <a:rPr lang="en-US" sz="9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23/10/2026 · Nuevas observaciones</a:t>
            </a:r>
            <a:endParaRPr lang="en-US" sz="9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30/10/2026 · Seguimiento de observaciones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preliminar Plan de Recuperación  ·  </a:t>
            </a:r>
            <a:r>
              <a:rPr lang="en-US" sz="9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9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00" b="1" dirty="0" err="1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r>
              <a:rPr lang="en-US" sz="9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03/11/2026</a:t>
            </a:r>
          </a:p>
          <a:p>
            <a:pPr>
              <a:spcAft>
                <a:spcPts val="300"/>
              </a:spcAft>
            </a:pP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Credito, Mercado y Liquidez  ·  </a:t>
            </a:r>
            <a:r>
              <a:rPr lang="en-US" sz="8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</a:t>
            </a:r>
            <a:r>
              <a:rPr lang="en-US" sz="9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en-US" sz="900" b="1" dirty="0" err="1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r>
              <a:rPr lang="en-US" sz="9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visita 09/10</a:t>
            </a:r>
            <a:endParaRPr lang="en-US" sz="900" dirty="0"/>
          </a:p>
          <a:p>
            <a:pPr marL="0" indent="0">
              <a:spcAft>
                <a:spcPts val="300"/>
              </a:spcAft>
              <a:buNone/>
            </a:pP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580376" y="1627632"/>
            <a:ext cx="4151376" cy="137160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Text 12"/>
          <p:cNvSpPr txBox="1"/>
          <p:nvPr/>
        </p:nvSpPr>
        <p:spPr>
          <a:xfrm>
            <a:off x="7744968" y="1700784"/>
            <a:ext cx="38587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 según nota DS-SABAO-BCS-BC-22741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 según nota DS-SABAO-BCS-BC-23486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resultados preliminares de Gestión de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Específicos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visita de supervisión gobierno corporativo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al regulador – fecha de visita 15/10/2026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3081528"/>
            <a:ext cx="2697480" cy="1152144"/>
          </a:xfrm>
          <a:prstGeom prst="roundRect">
            <a:avLst>
              <a:gd name="adj" fmla="val 7937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17" name="Shape 14"/>
          <p:cNvSpPr/>
          <p:nvPr/>
        </p:nvSpPr>
        <p:spPr>
          <a:xfrm>
            <a:off x="621792" y="327355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374136"/>
            <a:ext cx="182880" cy="1828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143000" y="31821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</a:t>
            </a:r>
            <a:endParaRPr lang="en-US" sz="1350" dirty="0">
              <a:solidFill>
                <a:schemeClr val="bg1"/>
              </a:solidFill>
            </a:endParaRPr>
          </a:p>
        </p:txBody>
      </p:sp>
      <p:sp>
        <p:nvSpPr>
          <p:cNvPr id="20" name="Text 16"/>
          <p:cNvSpPr txBox="1"/>
          <p:nvPr/>
        </p:nvSpPr>
        <p:spPr>
          <a:xfrm>
            <a:off x="621792" y="371246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Examen GIR 2026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21" name="Shape 17"/>
          <p:cNvSpPr/>
          <p:nvPr/>
        </p:nvSpPr>
        <p:spPr>
          <a:xfrm>
            <a:off x="621792" y="3931920"/>
            <a:ext cx="1828800" cy="100584"/>
          </a:xfrm>
          <a:prstGeom prst="roundRect">
            <a:avLst>
              <a:gd name="adj" fmla="val 45455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es-SV"/>
          </a:p>
        </p:txBody>
      </p:sp>
      <p:sp>
        <p:nvSpPr>
          <p:cNvPr id="22" name="Shape 18"/>
          <p:cNvSpPr/>
          <p:nvPr/>
        </p:nvSpPr>
        <p:spPr>
          <a:xfrm>
            <a:off x="621792" y="3931920"/>
            <a:ext cx="1700784" cy="100584"/>
          </a:xfrm>
          <a:prstGeom prst="roundRect">
            <a:avLst>
              <a:gd name="adj" fmla="val 45455"/>
            </a:avLst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23" name="Text 19"/>
          <p:cNvSpPr txBox="1"/>
          <p:nvPr/>
        </p:nvSpPr>
        <p:spPr>
          <a:xfrm>
            <a:off x="2496312" y="382219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3291840" y="3081528"/>
            <a:ext cx="4151376" cy="1152144"/>
          </a:xfrm>
          <a:prstGeom prst="roundRect">
            <a:avLst>
              <a:gd name="adj" fmla="val 793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5" name="Text 21"/>
          <p:cNvSpPr txBox="1"/>
          <p:nvPr/>
        </p:nvSpPr>
        <p:spPr>
          <a:xfrm>
            <a:off x="3456432" y="3154680"/>
            <a:ext cx="3858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Examen GIR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Matriz BIA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prueba de continuidad de negocio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7580376" y="3081528"/>
            <a:ext cx="4151376" cy="1152144"/>
          </a:xfrm>
          <a:prstGeom prst="roundRect">
            <a:avLst>
              <a:gd name="adj" fmla="val 793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7" name="Text 23"/>
          <p:cNvSpPr txBox="1"/>
          <p:nvPr/>
        </p:nvSpPr>
        <p:spPr>
          <a:xfrm>
            <a:off x="7744968" y="3154680"/>
            <a:ext cx="3858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de GIR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segunda prueba de Continuidad del Negocio realizada el 01.10.2026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planes de acción Matriz de Riesgos Institucional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eventos de riesgos por caídas de TC 25.09.2026 y Orion 26.09.2026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57200" y="4315968"/>
            <a:ext cx="2697480" cy="1188720"/>
          </a:xfrm>
          <a:prstGeom prst="roundRect">
            <a:avLst>
              <a:gd name="adj" fmla="val 7692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29" name="Shape 25"/>
          <p:cNvSpPr/>
          <p:nvPr/>
        </p:nvSpPr>
        <p:spPr>
          <a:xfrm>
            <a:off x="621792" y="450799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" y="4608576"/>
            <a:ext cx="182880" cy="18288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143000" y="441655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Normativo</a:t>
            </a:r>
            <a:endParaRPr lang="en-US" sz="1350" dirty="0">
              <a:solidFill>
                <a:schemeClr val="bg1"/>
              </a:solidFill>
            </a:endParaRPr>
          </a:p>
        </p:txBody>
      </p:sp>
      <p:sp>
        <p:nvSpPr>
          <p:cNvPr id="44" name="Avaluos 44"/>
          <p:cNvSpPr txBox="1"/>
          <p:nvPr/>
        </p:nvSpPr>
        <p:spPr>
          <a:xfrm>
            <a:off x="621792" y="494690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Avalúos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45" name="Avaluos 45"/>
          <p:cNvSpPr/>
          <p:nvPr/>
        </p:nvSpPr>
        <p:spPr>
          <a:xfrm>
            <a:off x="621792" y="5166360"/>
            <a:ext cx="1828800" cy="100584"/>
          </a:xfrm>
          <a:prstGeom prst="roundRect">
            <a:avLst>
              <a:gd name="adj" fmla="val 45455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es-SV"/>
          </a:p>
        </p:txBody>
      </p:sp>
      <p:sp>
        <p:nvSpPr>
          <p:cNvPr id="46" name="Avaluos 46"/>
          <p:cNvSpPr/>
          <p:nvPr/>
        </p:nvSpPr>
        <p:spPr>
          <a:xfrm>
            <a:off x="621792" y="5166360"/>
            <a:ext cx="1463040" cy="100584"/>
          </a:xfrm>
          <a:prstGeom prst="roundRect">
            <a:avLst>
              <a:gd name="adj" fmla="val 45455"/>
            </a:avLst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47" name="Avaluos 47"/>
          <p:cNvSpPr txBox="1"/>
          <p:nvPr/>
        </p:nvSpPr>
        <p:spPr>
          <a:xfrm>
            <a:off x="2496312" y="505663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400" dirty="0"/>
          </a:p>
        </p:txBody>
      </p:sp>
      <p:sp>
        <p:nvSpPr>
          <p:cNvPr id="32" name="Shape 27"/>
          <p:cNvSpPr/>
          <p:nvPr/>
        </p:nvSpPr>
        <p:spPr>
          <a:xfrm>
            <a:off x="3291840" y="4315968"/>
            <a:ext cx="4151376" cy="1188720"/>
          </a:xfrm>
          <a:prstGeom prst="roundRect">
            <a:avLst>
              <a:gd name="adj" fmla="val 76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3" name="Text 28"/>
          <p:cNvSpPr txBox="1"/>
          <p:nvPr/>
        </p:nvSpPr>
        <p:spPr>
          <a:xfrm>
            <a:off x="3456432" y="4389120"/>
            <a:ext cx="38587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Política de Avalúos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Procedimientos de Administración de Avalúos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Perfil de Revisor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7580376" y="4315968"/>
            <a:ext cx="4151376" cy="1188720"/>
          </a:xfrm>
          <a:prstGeom prst="roundRect">
            <a:avLst>
              <a:gd name="adj" fmla="val 76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Text 30"/>
          <p:cNvSpPr txBox="1"/>
          <p:nvPr/>
        </p:nvSpPr>
        <p:spPr>
          <a:xfrm>
            <a:off x="7744968" y="4389120"/>
            <a:ext cx="38587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a perito valuador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Descargo de avalúo anterior y documento mutuo hipotecario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de acta de sesión de fecha 29/08/2026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de política de servicios tercerizados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Informe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Relativo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Comites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457200" y="5586984"/>
            <a:ext cx="2697480" cy="896112"/>
          </a:xfrm>
          <a:prstGeom prst="roundRect">
            <a:avLst>
              <a:gd name="adj" fmla="val 10204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37" name="Shape 32"/>
          <p:cNvSpPr/>
          <p:nvPr/>
        </p:nvSpPr>
        <p:spPr>
          <a:xfrm>
            <a:off x="621792" y="5852160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5952744"/>
            <a:ext cx="182880" cy="18288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143000" y="57607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Financiero</a:t>
            </a:r>
            <a:endParaRPr lang="en-US" sz="1350" dirty="0">
              <a:solidFill>
                <a:schemeClr val="bg1"/>
              </a:solidFill>
            </a:endParaRPr>
          </a:p>
        </p:txBody>
      </p:sp>
      <p:sp>
        <p:nvSpPr>
          <p:cNvPr id="40" name="Shape 34"/>
          <p:cNvSpPr/>
          <p:nvPr/>
        </p:nvSpPr>
        <p:spPr>
          <a:xfrm>
            <a:off x="3291840" y="5586984"/>
            <a:ext cx="4151376" cy="896112"/>
          </a:xfrm>
          <a:prstGeom prst="roundRect">
            <a:avLst>
              <a:gd name="adj" fmla="val 102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Text 35"/>
          <p:cNvSpPr txBox="1"/>
          <p:nvPr/>
        </p:nvSpPr>
        <p:spPr>
          <a:xfrm>
            <a:off x="3456432" y="5660136"/>
            <a:ext cx="38587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Análisis de Cartera de TC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cartera vencida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de Política de TC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7580376" y="5586984"/>
            <a:ext cx="4151376" cy="896112"/>
          </a:xfrm>
          <a:prstGeom prst="roundRect">
            <a:avLst>
              <a:gd name="adj" fmla="val 102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3" name="Text 37"/>
          <p:cNvSpPr txBox="1"/>
          <p:nvPr/>
        </p:nvSpPr>
        <p:spPr>
          <a:xfrm>
            <a:off x="7744968" y="5660136"/>
            <a:ext cx="38587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información a la Central de Riesgo (NRP-41)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semanal de la reserva de saneamiento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permanente de los traslados de deuda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acuerdos del Consejo de Administración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requerimientos SSF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Compromisos regulatorios y próximos hitos · Corte 16/10/2026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0" y="484632"/>
            <a:ext cx="164592" cy="164592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576" y="521208"/>
            <a:ext cx="91440" cy="91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6345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Transcurrido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0469880" y="484632"/>
            <a:ext cx="164592" cy="164592"/>
          </a:xfrm>
          <a:prstGeom prst="diamond">
            <a:avLst/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8" name="Text 5"/>
          <p:cNvSpPr txBox="1"/>
          <p:nvPr/>
        </p:nvSpPr>
        <p:spPr>
          <a:xfrm>
            <a:off x="1068933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SSF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261872"/>
            <a:ext cx="5575227" cy="2267712"/>
          </a:xfrm>
          <a:prstGeom prst="roundRect">
            <a:avLst>
              <a:gd name="adj" fmla="val 4839"/>
            </a:avLst>
          </a:prstGeom>
          <a:solidFill>
            <a:srgbClr val="E5F2EA"/>
          </a:solidFill>
          <a:ln w="12700">
            <a:solidFill>
              <a:srgbClr val="E5F2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Text 7"/>
          <p:cNvSpPr txBox="1"/>
          <p:nvPr/>
        </p:nvSpPr>
        <p:spPr>
          <a:xfrm>
            <a:off x="594360" y="13075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TRANSCURRIDO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143000" y="2322576"/>
            <a:ext cx="9966960" cy="109728"/>
          </a:xfrm>
          <a:prstGeom prst="roundRect">
            <a:avLst>
              <a:gd name="adj" fmla="val 50000"/>
            </a:avLst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/>
          <a:lstStyle/>
          <a:p>
            <a:endParaRPr lang="es-SV"/>
          </a:p>
        </p:txBody>
      </p:sp>
      <p:sp>
        <p:nvSpPr>
          <p:cNvPr id="12" name="Shape 9"/>
          <p:cNvSpPr/>
          <p:nvPr/>
        </p:nvSpPr>
        <p:spPr>
          <a:xfrm>
            <a:off x="1143000" y="2322576"/>
            <a:ext cx="5675811" cy="109728"/>
          </a:xfrm>
          <a:prstGeom prst="roundRect">
            <a:avLst>
              <a:gd name="adj" fmla="val 50000"/>
            </a:avLst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13" name="Shape 10"/>
          <p:cNvSpPr/>
          <p:nvPr/>
        </p:nvSpPr>
        <p:spPr>
          <a:xfrm>
            <a:off x="1280160" y="2139696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4" name="Shape 11"/>
          <p:cNvSpPr/>
          <p:nvPr/>
        </p:nvSpPr>
        <p:spPr>
          <a:xfrm>
            <a:off x="1152144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152" y="2313432"/>
            <a:ext cx="128016" cy="12801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71500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22/09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preliminar Plan de Recuperación</a:t>
            </a:r>
            <a:endParaRPr lang="en-US" sz="130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741714" y="2377440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8" name="Shape 14"/>
          <p:cNvSpPr/>
          <p:nvPr/>
        </p:nvSpPr>
        <p:spPr>
          <a:xfrm>
            <a:off x="1613698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706" y="2313432"/>
            <a:ext cx="128016" cy="12801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33054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24/09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inicial Riesgos Específicos</a:t>
            </a:r>
            <a:endParaRPr lang="en-US" sz="130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22742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587931" y="2139696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Shape 17"/>
          <p:cNvSpPr/>
          <p:nvPr/>
        </p:nvSpPr>
        <p:spPr>
          <a:xfrm>
            <a:off x="3459915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3923" y="2313432"/>
            <a:ext cx="128016" cy="12801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87927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02/10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</a:t>
            </a:r>
            <a:r>
              <a:rPr lang="en-US" sz="100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preliminares</a:t>
            </a: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especificos PLD/FT</a:t>
            </a:r>
            <a:endParaRPr lang="en-US" sz="130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203371" y="2377440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6" name="Shape 20"/>
          <p:cNvSpPr/>
          <p:nvPr/>
        </p:nvSpPr>
        <p:spPr>
          <a:xfrm>
            <a:off x="5075355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9363" y="2313432"/>
            <a:ext cx="128016" cy="12801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494711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visita Riesgos Específicos · Resultados Gobierno Corporativo</a:t>
            </a:r>
            <a:endParaRPr lang="en-US" sz="130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22742 · 22741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6818811" y="2139696"/>
            <a:ext cx="0" cy="237744"/>
          </a:xfrm>
          <a:prstGeom prst="line">
            <a:avLst/>
          </a:prstGeom>
          <a:noFill/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Shape 23"/>
          <p:cNvSpPr/>
          <p:nvPr/>
        </p:nvSpPr>
        <p:spPr>
          <a:xfrm>
            <a:off x="6699939" y="2258568"/>
            <a:ext cx="237744" cy="237744"/>
          </a:xfrm>
          <a:prstGeom prst="diamond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31" name="Text 24"/>
          <p:cNvSpPr txBox="1"/>
          <p:nvPr/>
        </p:nvSpPr>
        <p:spPr>
          <a:xfrm>
            <a:off x="611015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16/10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resultados </a:t>
            </a:r>
            <a:r>
              <a:rPr lang="en-US" sz="100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preliminares</a:t>
            </a: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Especificos PLD/FT</a:t>
            </a:r>
            <a:endParaRPr lang="en-US" sz="130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300" dirty="0"/>
          </a:p>
        </p:txBody>
      </p:sp>
      <p:sp>
        <p:nvSpPr>
          <p:cNvPr id="32" name="Shape 25"/>
          <p:cNvSpPr/>
          <p:nvPr/>
        </p:nvSpPr>
        <p:spPr>
          <a:xfrm>
            <a:off x="8434251" y="2377440"/>
            <a:ext cx="0" cy="237744"/>
          </a:xfrm>
          <a:prstGeom prst="line">
            <a:avLst/>
          </a:prstGeom>
          <a:noFill/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3" name="Shape 26"/>
          <p:cNvSpPr/>
          <p:nvPr/>
        </p:nvSpPr>
        <p:spPr>
          <a:xfrm>
            <a:off x="8315379" y="2258568"/>
            <a:ext cx="237744" cy="237744"/>
          </a:xfrm>
          <a:prstGeom prst="diamond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34" name="Text 27"/>
          <p:cNvSpPr txBox="1"/>
          <p:nvPr/>
        </p:nvSpPr>
        <p:spPr>
          <a:xfrm>
            <a:off x="7725591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23/10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observaciones Gobierno Corporativo</a:t>
            </a:r>
            <a:endParaRPr lang="en-US" sz="130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10049691" y="2139696"/>
            <a:ext cx="0" cy="237744"/>
          </a:xfrm>
          <a:prstGeom prst="line">
            <a:avLst/>
          </a:prstGeom>
          <a:noFill/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6" name="Shape 29"/>
          <p:cNvSpPr/>
          <p:nvPr/>
        </p:nvSpPr>
        <p:spPr>
          <a:xfrm>
            <a:off x="9930819" y="2258568"/>
            <a:ext cx="237744" cy="237744"/>
          </a:xfrm>
          <a:prstGeom prst="diamond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37" name="Text 30"/>
          <p:cNvSpPr txBox="1"/>
          <p:nvPr/>
        </p:nvSpPr>
        <p:spPr>
          <a:xfrm>
            <a:off x="934103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30/10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Gobierno Corporativo</a:t>
            </a:r>
            <a:endParaRPr lang="en-US" sz="130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38" name="Shape 31"/>
          <p:cNvSpPr/>
          <p:nvPr/>
        </p:nvSpPr>
        <p:spPr>
          <a:xfrm>
            <a:off x="10972800" y="2377440"/>
            <a:ext cx="0" cy="237744"/>
          </a:xfrm>
          <a:prstGeom prst="line">
            <a:avLst/>
          </a:prstGeom>
          <a:noFill/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9" name="Shape 32"/>
          <p:cNvSpPr/>
          <p:nvPr/>
        </p:nvSpPr>
        <p:spPr>
          <a:xfrm>
            <a:off x="10853928" y="2258568"/>
            <a:ext cx="237744" cy="237744"/>
          </a:xfrm>
          <a:prstGeom prst="diamond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40" name="Text 33"/>
          <p:cNvSpPr txBox="1"/>
          <p:nvPr/>
        </p:nvSpPr>
        <p:spPr>
          <a:xfrm>
            <a:off x="10264140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03/11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41" name="Shape 34"/>
          <p:cNvSpPr/>
          <p:nvPr/>
        </p:nvSpPr>
        <p:spPr>
          <a:xfrm>
            <a:off x="6818811" y="2542032"/>
            <a:ext cx="0" cy="566928"/>
          </a:xfrm>
          <a:prstGeom prst="line">
            <a:avLst/>
          </a:prstGeom>
          <a:noFill/>
          <a:ln w="19050">
            <a:solidFill>
              <a:srgbClr val="1F6FB2"/>
            </a:solidFill>
            <a:prstDash val="dash"/>
          </a:ln>
        </p:spPr>
        <p:txBody>
          <a:bodyPr/>
          <a:lstStyle/>
          <a:p>
            <a:endParaRPr lang="es-SV"/>
          </a:p>
        </p:txBody>
      </p:sp>
      <p:sp>
        <p:nvSpPr>
          <p:cNvPr id="42" name="Shape 35"/>
          <p:cNvSpPr/>
          <p:nvPr/>
        </p:nvSpPr>
        <p:spPr>
          <a:xfrm>
            <a:off x="6315891" y="310896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3" name="Text 36"/>
          <p:cNvSpPr txBox="1"/>
          <p:nvPr/>
        </p:nvSpPr>
        <p:spPr>
          <a:xfrm>
            <a:off x="6315891" y="31089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16/10</a:t>
            </a:r>
            <a:endParaRPr lang="en-US" sz="1050" dirty="0"/>
          </a:p>
        </p:txBody>
      </p:sp>
      <p:sp>
        <p:nvSpPr>
          <p:cNvPr id="44" name="Text 37"/>
          <p:cNvSpPr txBox="1"/>
          <p:nvPr/>
        </p:nvSpPr>
        <p:spPr>
          <a:xfrm>
            <a:off x="457200" y="36576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vencimientos</a:t>
            </a:r>
            <a:endParaRPr lang="en-US" sz="1600" dirty="0"/>
          </a:p>
        </p:txBody>
      </p:sp>
      <p:sp>
        <p:nvSpPr>
          <p:cNvPr id="45" name="Shape 38"/>
          <p:cNvSpPr/>
          <p:nvPr/>
        </p:nvSpPr>
        <p:spPr>
          <a:xfrm>
            <a:off x="457200" y="4078224"/>
            <a:ext cx="2681478" cy="2286000"/>
          </a:xfrm>
          <a:prstGeom prst="roundRect">
            <a:avLst>
              <a:gd name="adj" fmla="val 4800"/>
            </a:avLst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46" name="Text 39"/>
          <p:cNvSpPr txBox="1"/>
          <p:nvPr/>
        </p:nvSpPr>
        <p:spPr>
          <a:xfrm>
            <a:off x="658368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16/10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47" name="Text 40"/>
          <p:cNvSpPr txBox="1"/>
          <p:nvPr/>
        </p:nvSpPr>
        <p:spPr>
          <a:xfrm>
            <a:off x="658368" y="4919472"/>
            <a:ext cx="23157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respuesta </a:t>
            </a:r>
            <a:r>
              <a:rPr lang="en-US" sz="115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r>
              <a:rPr lang="en-US" sz="11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preliminares</a:t>
            </a:r>
            <a:r>
              <a:rPr lang="en-US" sz="11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r>
              <a:rPr lang="en-US" sz="11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Especificos PLD/FT</a:t>
            </a:r>
            <a:endParaRPr lang="en-US" sz="1150" b="1" dirty="0">
              <a:solidFill>
                <a:schemeClr val="bg1"/>
              </a:solidFill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150" b="1" dirty="0">
              <a:solidFill>
                <a:schemeClr val="bg1"/>
              </a:solidFill>
            </a:endParaRPr>
          </a:p>
        </p:txBody>
      </p:sp>
      <p:sp>
        <p:nvSpPr>
          <p:cNvPr id="48" name="Shape 41"/>
          <p:cNvSpPr/>
          <p:nvPr/>
        </p:nvSpPr>
        <p:spPr>
          <a:xfrm>
            <a:off x="3321558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Text 42"/>
          <p:cNvSpPr txBox="1"/>
          <p:nvPr/>
        </p:nvSpPr>
        <p:spPr>
          <a:xfrm>
            <a:off x="3522726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0" name="Text 43"/>
          <p:cNvSpPr txBox="1"/>
          <p:nvPr/>
        </p:nvSpPr>
        <p:spPr>
          <a:xfrm>
            <a:off x="3522726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23/10/2026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nuevas observaciones – Gobierno Corporativo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51" name="Shape 44"/>
          <p:cNvSpPr/>
          <p:nvPr/>
        </p:nvSpPr>
        <p:spPr>
          <a:xfrm>
            <a:off x="6185916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Text 45"/>
          <p:cNvSpPr txBox="1"/>
          <p:nvPr/>
        </p:nvSpPr>
        <p:spPr>
          <a:xfrm>
            <a:off x="6387084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3" name="Text 46"/>
          <p:cNvSpPr txBox="1"/>
          <p:nvPr/>
        </p:nvSpPr>
        <p:spPr>
          <a:xfrm>
            <a:off x="6387084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30/10/2026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– Gobierno Corporativo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54" name="Shape 47"/>
          <p:cNvSpPr/>
          <p:nvPr/>
        </p:nvSpPr>
        <p:spPr>
          <a:xfrm>
            <a:off x="9050274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5" name="Text 48"/>
          <p:cNvSpPr txBox="1"/>
          <p:nvPr/>
        </p:nvSpPr>
        <p:spPr>
          <a:xfrm>
            <a:off x="9251442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6" name="Text 49"/>
          <p:cNvSpPr txBox="1"/>
          <p:nvPr/>
        </p:nvSpPr>
        <p:spPr>
          <a:xfrm>
            <a:off x="9251442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03/11/2026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98dab1c-c8f3-4f9c-8270-c22a94ade099}" enabled="0" method="" siteId="{d98dab1c-c8f3-4f9c-8270-c22a94ade09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467</Words>
  <Application>Microsoft Office PowerPoint</Application>
  <PresentationFormat>Panorámica</PresentationFormat>
  <Paragraphs>94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Resumen Ejecutivo de Riesgos – COMÉDICA</dc:title>
  <dc:subject>PptxGenJS Presentation</dc:subject>
  <dc:creator>Departamento de Administración de Riesgos</dc:creator>
  <cp:lastModifiedBy>Silvia Martinez</cp:lastModifiedBy>
  <cp:revision>3</cp:revision>
  <dcterms:created xsi:type="dcterms:W3CDTF">2026-10-16T20:16:21Z</dcterms:created>
  <dcterms:modified xsi:type="dcterms:W3CDTF">2026-10-16T20:35:23Z</dcterms:modified>
</cp:coreProperties>
</file>