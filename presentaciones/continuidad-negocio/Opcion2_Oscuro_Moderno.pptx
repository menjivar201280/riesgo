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13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6607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A5246-1289-2501-E76B-99FD1AAC6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SV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44576-B082-FD49-EBFF-D88CB1856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SV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F51356-BC70-4A72-C845-C6BAA0817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18277-A37D-4F4A-BC70-5B646CB73774}" type="datetimeFigureOut">
              <a:rPr lang="es-SV" smtClean="0"/>
              <a:t>22/10/2026</a:t>
            </a:fld>
            <a:endParaRPr lang="es-SV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911C6-CCCD-EFCE-3DC3-663F37E5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085E2B-4DFB-D2D2-C203-7C543DA2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9AB63-2DD0-DF4B-A7F0-7BF2582936DD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8393216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umna azul"/>
          <p:cNvSpPr/>
          <p:nvPr/>
        </p:nvSpPr>
        <p:spPr>
          <a:xfrm>
            <a:off x="0" y="0"/>
            <a:ext cx="3538728" cy="6858000"/>
          </a:xfrm>
          <a:prstGeom prst="rect">
            <a:avLst/>
          </a:prstGeom>
          <a:solidFill>
            <a:srgbClr val="00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Acento"/>
          <p:cNvSpPr/>
          <p:nvPr/>
        </p:nvSpPr>
        <p:spPr>
          <a:xfrm>
            <a:off x="0" y="1216152"/>
            <a:ext cx="201168" cy="1216152"/>
          </a:xfrm>
          <a:prstGeom prst="rect">
            <a:avLst/>
          </a:prstGeom>
          <a:solidFill>
            <a:srgbClr val="005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Departamento"/>
          <p:cNvSpPr/>
          <p:nvPr/>
        </p:nvSpPr>
        <p:spPr>
          <a:xfrm>
            <a:off x="45720" y="5422392"/>
            <a:ext cx="3447288" cy="960120"/>
          </a:xfrm>
          <a:prstGeom prst="rect">
            <a:avLst/>
          </a:prstGeom>
          <a:solidFill>
            <a:srgbClr val="005C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" y="5656231"/>
            <a:ext cx="344728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SV" sz="1600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Departamento de</a:t>
            </a:r>
          </a:p>
          <a:p>
            <a:pPr algn="ctr"/>
            <a:r>
              <a:rPr lang="es-SV" sz="1600" b="1" noProof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Administración de Riesgos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" y="6503167"/>
            <a:ext cx="3447288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SV" sz="1700" b="1" noProof="0" dirty="0">
                <a:solidFill>
                  <a:srgbClr val="9DC3E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OCTUBRE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21313" y="872424"/>
            <a:ext cx="800100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s-SV" sz="3200" b="1" noProof="0" dirty="0">
                <a:solidFill>
                  <a:srgbClr val="00376E"/>
                </a:solidFill>
                <a:latin typeface="+mj-lt"/>
                <a:cs typeface="Arial" panose="020B0604020202020204" pitchFamily="34" charset="0"/>
              </a:rPr>
              <a:t>PRUEBAS DE CONTINUIDAD DEL NEGOCIO</a:t>
            </a:r>
          </a:p>
        </p:txBody>
      </p:sp>
      <p:pic>
        <p:nvPicPr>
          <p:cNvPr id="12" name="logo" descr="/tmp/claude-0/-home-user-riesgo/74e9c8ad-7a43-5903-a089-2edd8047c387/scratchpad/assets/logo_white.png">
            <a:extLst>
              <a:ext uri="{FF2B5EF4-FFF2-40B4-BE49-F238E27FC236}">
                <a16:creationId xmlns:a16="http://schemas.microsoft.com/office/drawing/2014/main" id="{6158355E-8FBE-C9ED-F166-BCDD022F7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40" y="1857309"/>
            <a:ext cx="2334648" cy="157169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6D03B21-56FD-FAE9-A731-93F56E7B5C50}"/>
              </a:ext>
            </a:extLst>
          </p:cNvPr>
          <p:cNvSpPr txBox="1"/>
          <p:nvPr/>
        </p:nvSpPr>
        <p:spPr>
          <a:xfrm>
            <a:off x="4709221" y="21597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SV" sz="1400" noProof="0" dirty="0">
                <a:solidFill>
                  <a:srgbClr val="002060"/>
                </a:solidFill>
                <a:latin typeface="+mj-lt"/>
              </a:rPr>
              <a:t>Evaluación de Continuidad y Desempeño del Proveedor Crítico de Comunicaciones ante Interrupción Simulada de Conectividad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72E7078-9CEF-42DA-BD8A-74E587305C89}"/>
              </a:ext>
            </a:extLst>
          </p:cNvPr>
          <p:cNvSpPr txBox="1"/>
          <p:nvPr/>
        </p:nvSpPr>
        <p:spPr>
          <a:xfrm>
            <a:off x="6721354" y="3285341"/>
            <a:ext cx="23464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200" b="1" noProof="0" dirty="0">
                <a:solidFill>
                  <a:srgbClr val="14284B"/>
                </a:solidFill>
                <a:latin typeface="+mj-lt"/>
                <a:ea typeface="Cambria" pitchFamily="34" charset="-122"/>
                <a:cs typeface="Cambria" pitchFamily="34" charset="-120"/>
              </a:rPr>
              <a:t>CONTROL DE LAS PRUEBAS</a:t>
            </a:r>
            <a:endParaRPr lang="es-SV" sz="1200" noProof="0" dirty="0">
              <a:latin typeface="+mj-lt"/>
            </a:endParaRPr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D4EB83BF-17BE-487C-22F9-35F6C42C48B9}"/>
              </a:ext>
            </a:extLst>
          </p:cNvPr>
          <p:cNvGrpSpPr/>
          <p:nvPr/>
        </p:nvGrpSpPr>
        <p:grpSpPr>
          <a:xfrm>
            <a:off x="5920773" y="3945887"/>
            <a:ext cx="1779971" cy="640080"/>
            <a:chOff x="5937442" y="4289111"/>
            <a:chExt cx="1779971" cy="640080"/>
          </a:xfrm>
        </p:grpSpPr>
        <p:sp>
          <p:nvSpPr>
            <p:cNvPr id="15" name="Shape 5">
              <a:extLst>
                <a:ext uri="{FF2B5EF4-FFF2-40B4-BE49-F238E27FC236}">
                  <a16:creationId xmlns:a16="http://schemas.microsoft.com/office/drawing/2014/main" id="{BECE3F04-54B0-3F93-C75F-D554CEA14DEB}"/>
                </a:ext>
              </a:extLst>
            </p:cNvPr>
            <p:cNvSpPr/>
            <p:nvPr/>
          </p:nvSpPr>
          <p:spPr>
            <a:xfrm>
              <a:off x="5937442" y="4289111"/>
              <a:ext cx="1779971" cy="640080"/>
            </a:xfrm>
            <a:prstGeom prst="roundRect">
              <a:avLst>
                <a:gd name="adj" fmla="val 11429"/>
              </a:avLst>
            </a:prstGeom>
            <a:solidFill>
              <a:srgbClr val="EEF4F8"/>
            </a:solidFill>
            <a:ln w="9525">
              <a:solidFill>
                <a:srgbClr val="EEF4F8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sp>
          <p:nvSpPr>
            <p:cNvPr id="17" name="Shape 6">
              <a:extLst>
                <a:ext uri="{FF2B5EF4-FFF2-40B4-BE49-F238E27FC236}">
                  <a16:creationId xmlns:a16="http://schemas.microsoft.com/office/drawing/2014/main" id="{E68A931B-4FDE-4438-E106-155A128E6625}"/>
                </a:ext>
              </a:extLst>
            </p:cNvPr>
            <p:cNvSpPr/>
            <p:nvPr/>
          </p:nvSpPr>
          <p:spPr>
            <a:xfrm>
              <a:off x="6028790" y="4460669"/>
              <a:ext cx="329184" cy="329184"/>
            </a:xfrm>
            <a:prstGeom prst="ellipse">
              <a:avLst/>
            </a:prstGeom>
            <a:solidFill>
              <a:srgbClr val="14284B"/>
            </a:solidFill>
            <a:ln w="12700">
              <a:solidFill>
                <a:srgbClr val="14284B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pic>
          <p:nvPicPr>
            <p:cNvPr id="19" name="Image 1" descr="preencoded.png">
              <a:extLst>
                <a:ext uri="{FF2B5EF4-FFF2-40B4-BE49-F238E27FC236}">
                  <a16:creationId xmlns:a16="http://schemas.microsoft.com/office/drawing/2014/main" id="{683F1FAC-28AB-A175-D3E5-BDBA0B6F25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4378" y="4546257"/>
              <a:ext cx="158008" cy="158008"/>
            </a:xfrm>
            <a:prstGeom prst="rect">
              <a:avLst/>
            </a:prstGeom>
          </p:spPr>
        </p:pic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3B799D0C-6E9F-821A-D5F4-EA66B0456C08}"/>
                </a:ext>
              </a:extLst>
            </p:cNvPr>
            <p:cNvSpPr txBox="1"/>
            <p:nvPr/>
          </p:nvSpPr>
          <p:spPr>
            <a:xfrm>
              <a:off x="6440270" y="4378373"/>
              <a:ext cx="121304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SV" sz="900" b="1" noProof="0" dirty="0">
                  <a:solidFill>
                    <a:srgbClr val="14284B"/>
                  </a:solidFill>
                  <a:latin typeface="+mj-lt"/>
                </a:rPr>
                <a:t>Fecha de ejecución de prueba:</a:t>
              </a:r>
              <a:endParaRPr lang="es-SV" sz="900" noProof="0" dirty="0">
                <a:latin typeface="+mj-lt"/>
              </a:endParaRPr>
            </a:p>
            <a:p>
              <a:pPr marL="0" indent="0" algn="ctr">
                <a:buNone/>
              </a:pPr>
              <a:r>
                <a:rPr lang="es-SV" sz="1000" noProof="0" dirty="0">
                  <a:solidFill>
                    <a:srgbClr val="002060"/>
                  </a:solidFill>
                  <a:latin typeface="+mj-lt"/>
                </a:rPr>
                <a:t>04-Nov-2026</a:t>
              </a:r>
              <a:endParaRPr lang="es-SV" sz="900" noProof="0" dirty="0">
                <a:solidFill>
                  <a:srgbClr val="002060"/>
                </a:solidFill>
                <a:latin typeface="+mj-lt"/>
              </a:endParaRPr>
            </a:p>
          </p:txBody>
        </p:sp>
      </p:grpSp>
      <p:grpSp>
        <p:nvGrpSpPr>
          <p:cNvPr id="58" name="Grupo 57">
            <a:extLst>
              <a:ext uri="{FF2B5EF4-FFF2-40B4-BE49-F238E27FC236}">
                <a16:creationId xmlns:a16="http://schemas.microsoft.com/office/drawing/2014/main" id="{A74015C2-3A8A-9EEA-F4F9-A71A4A24396E}"/>
              </a:ext>
            </a:extLst>
          </p:cNvPr>
          <p:cNvGrpSpPr/>
          <p:nvPr/>
        </p:nvGrpSpPr>
        <p:grpSpPr>
          <a:xfrm>
            <a:off x="5923913" y="4741415"/>
            <a:ext cx="1779971" cy="640080"/>
            <a:chOff x="5940582" y="5084639"/>
            <a:chExt cx="1779971" cy="640080"/>
          </a:xfrm>
        </p:grpSpPr>
        <p:sp>
          <p:nvSpPr>
            <p:cNvPr id="23" name="Shape 8">
              <a:extLst>
                <a:ext uri="{FF2B5EF4-FFF2-40B4-BE49-F238E27FC236}">
                  <a16:creationId xmlns:a16="http://schemas.microsoft.com/office/drawing/2014/main" id="{B84A7D2D-9983-B3A4-E90A-99592A5E1D17}"/>
                </a:ext>
              </a:extLst>
            </p:cNvPr>
            <p:cNvSpPr/>
            <p:nvPr/>
          </p:nvSpPr>
          <p:spPr>
            <a:xfrm>
              <a:off x="5940582" y="5084639"/>
              <a:ext cx="1779971" cy="640080"/>
            </a:xfrm>
            <a:prstGeom prst="roundRect">
              <a:avLst>
                <a:gd name="adj" fmla="val 11429"/>
              </a:avLst>
            </a:prstGeom>
            <a:solidFill>
              <a:srgbClr val="EEF4F8"/>
            </a:solidFill>
            <a:ln w="9525">
              <a:solidFill>
                <a:srgbClr val="EEF4F8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sp>
          <p:nvSpPr>
            <p:cNvPr id="25" name="Shape 9">
              <a:extLst>
                <a:ext uri="{FF2B5EF4-FFF2-40B4-BE49-F238E27FC236}">
                  <a16:creationId xmlns:a16="http://schemas.microsoft.com/office/drawing/2014/main" id="{300E058F-D5A4-1C35-58A9-B101A1A81B81}"/>
                </a:ext>
              </a:extLst>
            </p:cNvPr>
            <p:cNvSpPr/>
            <p:nvPr/>
          </p:nvSpPr>
          <p:spPr>
            <a:xfrm>
              <a:off x="6031930" y="5256197"/>
              <a:ext cx="329184" cy="329184"/>
            </a:xfrm>
            <a:prstGeom prst="ellipse">
              <a:avLst/>
            </a:prstGeom>
            <a:solidFill>
              <a:srgbClr val="14284B"/>
            </a:solidFill>
            <a:ln w="12700">
              <a:solidFill>
                <a:srgbClr val="14284B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pic>
          <p:nvPicPr>
            <p:cNvPr id="27" name="Image 2" descr="preencoded.png">
              <a:extLst>
                <a:ext uri="{FF2B5EF4-FFF2-40B4-BE49-F238E27FC236}">
                  <a16:creationId xmlns:a16="http://schemas.microsoft.com/office/drawing/2014/main" id="{F1F136FA-48AF-0B85-ECCB-26B841739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17518" y="5341785"/>
              <a:ext cx="158008" cy="158008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0BFB0185-F804-8792-C344-8A2F86491406}"/>
                </a:ext>
              </a:extLst>
            </p:cNvPr>
            <p:cNvSpPr txBox="1"/>
            <p:nvPr/>
          </p:nvSpPr>
          <p:spPr>
            <a:xfrm>
              <a:off x="6443410" y="5173901"/>
              <a:ext cx="121304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SV" sz="900" b="1" noProof="0" dirty="0">
                  <a:solidFill>
                    <a:srgbClr val="14284B"/>
                  </a:solidFill>
                  <a:latin typeface="+mj-lt"/>
                </a:rPr>
                <a:t>Tipo de prueba</a:t>
              </a:r>
              <a:endParaRPr lang="es-SV" sz="900" noProof="0" dirty="0">
                <a:latin typeface="+mj-lt"/>
              </a:endParaRPr>
            </a:p>
            <a:p>
              <a:pPr marL="0" indent="0" algn="ctr">
                <a:buNone/>
              </a:pPr>
              <a:r>
                <a:rPr lang="es-SV" sz="1000" b="1" noProof="0" dirty="0">
                  <a:solidFill>
                    <a:srgbClr val="0E9AA7"/>
                  </a:solidFill>
                  <a:latin typeface="+mj-lt"/>
                </a:rPr>
                <a:t>Simulación</a:t>
              </a:r>
              <a:endParaRPr lang="es-SV" sz="900" noProof="0" dirty="0">
                <a:latin typeface="+mj-lt"/>
              </a:endParaRPr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D929BAC2-075D-0ED1-BC86-DFBC5D3F2588}"/>
              </a:ext>
            </a:extLst>
          </p:cNvPr>
          <p:cNvGrpSpPr/>
          <p:nvPr/>
        </p:nvGrpSpPr>
        <p:grpSpPr>
          <a:xfrm>
            <a:off x="7861116" y="3973585"/>
            <a:ext cx="1779971" cy="640080"/>
            <a:chOff x="7857621" y="4305221"/>
            <a:chExt cx="1779971" cy="640080"/>
          </a:xfrm>
        </p:grpSpPr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2C8BAAAA-CBA7-F6D3-A1E9-1B4D81B74E35}"/>
                </a:ext>
              </a:extLst>
            </p:cNvPr>
            <p:cNvSpPr/>
            <p:nvPr/>
          </p:nvSpPr>
          <p:spPr>
            <a:xfrm>
              <a:off x="7857621" y="4305221"/>
              <a:ext cx="1779971" cy="640080"/>
            </a:xfrm>
            <a:prstGeom prst="roundRect">
              <a:avLst>
                <a:gd name="adj" fmla="val 11429"/>
              </a:avLst>
            </a:prstGeom>
            <a:solidFill>
              <a:srgbClr val="EEF4F8"/>
            </a:solidFill>
            <a:ln w="9525">
              <a:solidFill>
                <a:srgbClr val="EEF4F8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sp>
          <p:nvSpPr>
            <p:cNvPr id="33" name="Shape 12">
              <a:extLst>
                <a:ext uri="{FF2B5EF4-FFF2-40B4-BE49-F238E27FC236}">
                  <a16:creationId xmlns:a16="http://schemas.microsoft.com/office/drawing/2014/main" id="{3C3498C7-F08A-5354-B3DD-69AA3D0BF04C}"/>
                </a:ext>
              </a:extLst>
            </p:cNvPr>
            <p:cNvSpPr/>
            <p:nvPr/>
          </p:nvSpPr>
          <p:spPr>
            <a:xfrm>
              <a:off x="7949061" y="4460669"/>
              <a:ext cx="329184" cy="329184"/>
            </a:xfrm>
            <a:prstGeom prst="ellipse">
              <a:avLst/>
            </a:prstGeom>
            <a:solidFill>
              <a:srgbClr val="14284B"/>
            </a:solidFill>
            <a:ln w="12700">
              <a:solidFill>
                <a:srgbClr val="14284B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pic>
          <p:nvPicPr>
            <p:cNvPr id="35" name="Image 3" descr="preencoded.png">
              <a:extLst>
                <a:ext uri="{FF2B5EF4-FFF2-40B4-BE49-F238E27FC236}">
                  <a16:creationId xmlns:a16="http://schemas.microsoft.com/office/drawing/2014/main" id="{44657688-72EF-C163-380A-DC8B25E47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34649" y="4546257"/>
              <a:ext cx="158008" cy="158008"/>
            </a:xfrm>
            <a:prstGeom prst="rect">
              <a:avLst/>
            </a:prstGeom>
          </p:spPr>
        </p:pic>
        <p:sp>
          <p:nvSpPr>
            <p:cNvPr id="37" name="Text 13">
              <a:extLst>
                <a:ext uri="{FF2B5EF4-FFF2-40B4-BE49-F238E27FC236}">
                  <a16:creationId xmlns:a16="http://schemas.microsoft.com/office/drawing/2014/main" id="{D4D39153-8904-B4C4-C6DE-7E08CB633762}"/>
                </a:ext>
              </a:extLst>
            </p:cNvPr>
            <p:cNvSpPr txBox="1"/>
            <p:nvPr/>
          </p:nvSpPr>
          <p:spPr>
            <a:xfrm>
              <a:off x="8360541" y="4378373"/>
              <a:ext cx="121304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SV" sz="900" b="1" noProof="0" dirty="0">
                  <a:solidFill>
                    <a:srgbClr val="14284B"/>
                  </a:solidFill>
                  <a:latin typeface="+mj-lt"/>
                </a:rPr>
                <a:t>Hora de inicio:</a:t>
              </a:r>
            </a:p>
            <a:p>
              <a:pPr marL="0" indent="0" algn="ctr">
                <a:buNone/>
              </a:pPr>
              <a:r>
                <a:rPr lang="es-SV" sz="1000" noProof="0" dirty="0">
                  <a:solidFill>
                    <a:srgbClr val="002060"/>
                  </a:solidFill>
                  <a:latin typeface="+mj-lt"/>
                </a:rPr>
                <a:t>9:00 am</a:t>
              </a:r>
              <a:endParaRPr lang="es-SV" sz="900" noProof="0" dirty="0">
                <a:solidFill>
                  <a:srgbClr val="002060"/>
                </a:solidFill>
                <a:latin typeface="+mj-lt"/>
              </a:endParaRPr>
            </a:p>
          </p:txBody>
        </p: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30FB907-73A4-8216-2C05-4799BC0B7C45}"/>
              </a:ext>
            </a:extLst>
          </p:cNvPr>
          <p:cNvGrpSpPr/>
          <p:nvPr/>
        </p:nvGrpSpPr>
        <p:grpSpPr>
          <a:xfrm>
            <a:off x="7840952" y="4756411"/>
            <a:ext cx="1779971" cy="640080"/>
            <a:chOff x="7857621" y="5099635"/>
            <a:chExt cx="1779971" cy="640080"/>
          </a:xfrm>
        </p:grpSpPr>
        <p:sp>
          <p:nvSpPr>
            <p:cNvPr id="39" name="Shape 14">
              <a:extLst>
                <a:ext uri="{FF2B5EF4-FFF2-40B4-BE49-F238E27FC236}">
                  <a16:creationId xmlns:a16="http://schemas.microsoft.com/office/drawing/2014/main" id="{4D33B98B-B2D9-88D3-5CEE-268956617781}"/>
                </a:ext>
              </a:extLst>
            </p:cNvPr>
            <p:cNvSpPr/>
            <p:nvPr/>
          </p:nvSpPr>
          <p:spPr>
            <a:xfrm>
              <a:off x="7857621" y="5099635"/>
              <a:ext cx="1779971" cy="640080"/>
            </a:xfrm>
            <a:prstGeom prst="roundRect">
              <a:avLst>
                <a:gd name="adj" fmla="val 11429"/>
              </a:avLst>
            </a:prstGeom>
            <a:solidFill>
              <a:srgbClr val="EEF4F8"/>
            </a:solidFill>
            <a:ln w="9525">
              <a:solidFill>
                <a:srgbClr val="EEF4F8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sp>
          <p:nvSpPr>
            <p:cNvPr id="41" name="Shape 15">
              <a:extLst>
                <a:ext uri="{FF2B5EF4-FFF2-40B4-BE49-F238E27FC236}">
                  <a16:creationId xmlns:a16="http://schemas.microsoft.com/office/drawing/2014/main" id="{0FD3067D-A36C-2660-8673-9A877155BFF6}"/>
                </a:ext>
              </a:extLst>
            </p:cNvPr>
            <p:cNvSpPr/>
            <p:nvPr/>
          </p:nvSpPr>
          <p:spPr>
            <a:xfrm>
              <a:off x="7949061" y="5255083"/>
              <a:ext cx="329184" cy="329184"/>
            </a:xfrm>
            <a:prstGeom prst="ellipse">
              <a:avLst/>
            </a:prstGeom>
            <a:solidFill>
              <a:srgbClr val="14284B"/>
            </a:solidFill>
            <a:ln w="12700">
              <a:solidFill>
                <a:srgbClr val="14284B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pic>
          <p:nvPicPr>
            <p:cNvPr id="43" name="Image 4" descr="preencoded.png">
              <a:extLst>
                <a:ext uri="{FF2B5EF4-FFF2-40B4-BE49-F238E27FC236}">
                  <a16:creationId xmlns:a16="http://schemas.microsoft.com/office/drawing/2014/main" id="{C4ACB6E5-E42A-F9AD-FA7C-4DB1B5988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034649" y="5340671"/>
              <a:ext cx="158008" cy="158008"/>
            </a:xfrm>
            <a:prstGeom prst="rect">
              <a:avLst/>
            </a:prstGeom>
          </p:spPr>
        </p:pic>
        <p:sp>
          <p:nvSpPr>
            <p:cNvPr id="45" name="Text 16">
              <a:extLst>
                <a:ext uri="{FF2B5EF4-FFF2-40B4-BE49-F238E27FC236}">
                  <a16:creationId xmlns:a16="http://schemas.microsoft.com/office/drawing/2014/main" id="{DA9D524A-893D-5DE4-40A5-EC781929C7C3}"/>
                </a:ext>
              </a:extLst>
            </p:cNvPr>
            <p:cNvSpPr txBox="1"/>
            <p:nvPr/>
          </p:nvSpPr>
          <p:spPr>
            <a:xfrm>
              <a:off x="8360541" y="5172787"/>
              <a:ext cx="121304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SV" sz="900" b="1" noProof="0" dirty="0">
                  <a:solidFill>
                    <a:srgbClr val="14284B"/>
                  </a:solidFill>
                  <a:latin typeface="+mj-lt"/>
                </a:rPr>
                <a:t>Lugar de Ejecución: </a:t>
              </a:r>
              <a:r>
                <a:rPr lang="es-SV" sz="900" noProof="0" dirty="0">
                  <a:solidFill>
                    <a:srgbClr val="14284B"/>
                  </a:solidFill>
                  <a:latin typeface="+mj-lt"/>
                </a:rPr>
                <a:t>Agencia Plaza Mundo</a:t>
              </a:r>
              <a:endParaRPr lang="es-SV" sz="900" noProof="0" dirty="0">
                <a:latin typeface="+mj-lt"/>
              </a:endParaRPr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20164FFF-FB54-56D8-05FE-E4A152EEAB52}"/>
              </a:ext>
            </a:extLst>
          </p:cNvPr>
          <p:cNvGrpSpPr/>
          <p:nvPr/>
        </p:nvGrpSpPr>
        <p:grpSpPr>
          <a:xfrm>
            <a:off x="6856634" y="5584267"/>
            <a:ext cx="1779971" cy="640080"/>
            <a:chOff x="9902951" y="4631113"/>
            <a:chExt cx="1779971" cy="640080"/>
          </a:xfrm>
        </p:grpSpPr>
        <p:sp>
          <p:nvSpPr>
            <p:cNvPr id="47" name="Shape 17">
              <a:extLst>
                <a:ext uri="{FF2B5EF4-FFF2-40B4-BE49-F238E27FC236}">
                  <a16:creationId xmlns:a16="http://schemas.microsoft.com/office/drawing/2014/main" id="{29194627-45CB-0718-6136-7656B544E957}"/>
                </a:ext>
              </a:extLst>
            </p:cNvPr>
            <p:cNvSpPr/>
            <p:nvPr/>
          </p:nvSpPr>
          <p:spPr>
            <a:xfrm>
              <a:off x="9902951" y="4631113"/>
              <a:ext cx="1779971" cy="640080"/>
            </a:xfrm>
            <a:prstGeom prst="roundRect">
              <a:avLst>
                <a:gd name="adj" fmla="val 11429"/>
              </a:avLst>
            </a:prstGeom>
            <a:solidFill>
              <a:srgbClr val="EEF4F8"/>
            </a:solidFill>
            <a:ln w="9525">
              <a:solidFill>
                <a:srgbClr val="EEF4F8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sp>
          <p:nvSpPr>
            <p:cNvPr id="49" name="Shape 18">
              <a:extLst>
                <a:ext uri="{FF2B5EF4-FFF2-40B4-BE49-F238E27FC236}">
                  <a16:creationId xmlns:a16="http://schemas.microsoft.com/office/drawing/2014/main" id="{0D0A0E0D-A942-D34C-0F38-37391A3069D1}"/>
                </a:ext>
              </a:extLst>
            </p:cNvPr>
            <p:cNvSpPr/>
            <p:nvPr/>
          </p:nvSpPr>
          <p:spPr>
            <a:xfrm>
              <a:off x="9994391" y="4786561"/>
              <a:ext cx="329184" cy="329184"/>
            </a:xfrm>
            <a:prstGeom prst="ellipse">
              <a:avLst/>
            </a:prstGeom>
            <a:solidFill>
              <a:srgbClr val="14284B"/>
            </a:solidFill>
            <a:ln w="12700">
              <a:solidFill>
                <a:srgbClr val="14284B"/>
              </a:solidFill>
              <a:prstDash val="solid"/>
            </a:ln>
          </p:spPr>
          <p:txBody>
            <a:bodyPr/>
            <a:lstStyle/>
            <a:p>
              <a:endParaRPr lang="es-SV" noProof="0" dirty="0">
                <a:latin typeface="+mj-lt"/>
              </a:endParaRPr>
            </a:p>
          </p:txBody>
        </p:sp>
        <p:pic>
          <p:nvPicPr>
            <p:cNvPr id="51" name="Image 5" descr="preencoded.png">
              <a:extLst>
                <a:ext uri="{FF2B5EF4-FFF2-40B4-BE49-F238E27FC236}">
                  <a16:creationId xmlns:a16="http://schemas.microsoft.com/office/drawing/2014/main" id="{60AC4715-702D-CE32-97BE-B0961B539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79979" y="4872149"/>
              <a:ext cx="158008" cy="158008"/>
            </a:xfrm>
            <a:prstGeom prst="rect">
              <a:avLst/>
            </a:prstGeom>
          </p:spPr>
        </p:pic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7203846-94EA-2FCC-81A1-BCC0D010E421}"/>
                </a:ext>
              </a:extLst>
            </p:cNvPr>
            <p:cNvSpPr txBox="1"/>
            <p:nvPr/>
          </p:nvSpPr>
          <p:spPr>
            <a:xfrm>
              <a:off x="10405871" y="4704265"/>
              <a:ext cx="1213043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s-SV" sz="900" b="1" noProof="0" dirty="0">
                  <a:solidFill>
                    <a:srgbClr val="14284B"/>
                  </a:solidFill>
                  <a:latin typeface="+mj-lt"/>
                </a:rPr>
                <a:t>Hora de fin:</a:t>
              </a:r>
              <a:endParaRPr lang="es-SV" sz="900" noProof="0" dirty="0">
                <a:latin typeface="+mj-lt"/>
              </a:endParaRPr>
            </a:p>
            <a:p>
              <a:pPr marL="0" indent="0" algn="ctr">
                <a:buNone/>
              </a:pPr>
              <a:r>
                <a:rPr lang="es-SV" sz="1000" noProof="0" dirty="0">
                  <a:solidFill>
                    <a:srgbClr val="002060"/>
                  </a:solidFill>
                  <a:latin typeface="+mj-lt"/>
                </a:rPr>
                <a:t>11:00 am</a:t>
              </a:r>
              <a:endParaRPr lang="es-SV" sz="900" noProof="0" dirty="0">
                <a:solidFill>
                  <a:srgbClr val="002060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546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5"/>
          <p:cNvSpPr/>
          <p:nvPr/>
        </p:nvSpPr>
        <p:spPr>
          <a:xfrm>
            <a:off x="457200" y="1097280"/>
            <a:ext cx="5623560" cy="1280160"/>
          </a:xfrm>
          <a:prstGeom prst="roundRect">
            <a:avLst>
              <a:gd name="adj" fmla="val 5333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24" name="Shape 16"/>
          <p:cNvSpPr/>
          <p:nvPr/>
        </p:nvSpPr>
        <p:spPr>
          <a:xfrm>
            <a:off x="621792" y="1261872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362456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115568" y="1225295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01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OBJETIVOS DE LA PRUEBA</a:t>
            </a:r>
            <a:endParaRPr lang="es-SV" sz="1000" noProof="0" dirty="0">
              <a:latin typeface="+mj-lt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640080" y="175564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Validar la capacidad de respuesta y recuperación del proveedor crítico de comunicaciones, así como la efectividad de los mecanismos alternos implementados por COMEDICA.</a:t>
            </a:r>
            <a:endParaRPr lang="es-SV" sz="1000" noProof="0" dirty="0">
              <a:latin typeface="+mj-lt"/>
            </a:endParaRPr>
          </a:p>
        </p:txBody>
      </p:sp>
      <p:sp>
        <p:nvSpPr>
          <p:cNvPr id="28" name="Shape 19"/>
          <p:cNvSpPr/>
          <p:nvPr/>
        </p:nvSpPr>
        <p:spPr>
          <a:xfrm>
            <a:off x="6272784" y="1097280"/>
            <a:ext cx="5623560" cy="1280160"/>
          </a:xfrm>
          <a:prstGeom prst="roundRect">
            <a:avLst>
              <a:gd name="adj" fmla="val 5333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29" name="Shape 20"/>
          <p:cNvSpPr/>
          <p:nvPr/>
        </p:nvSpPr>
        <p:spPr>
          <a:xfrm>
            <a:off x="6437376" y="1261872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362456"/>
            <a:ext cx="182880" cy="18288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931152" y="1225295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04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ESCENARIO DE INTERRUPCIÓN</a:t>
            </a:r>
            <a:endParaRPr lang="es-SV" sz="1000" noProof="0" dirty="0">
              <a:latin typeface="+mj-lt"/>
            </a:endParaRPr>
          </a:p>
        </p:txBody>
      </p:sp>
      <p:sp>
        <p:nvSpPr>
          <p:cNvPr id="32" name="Text 22"/>
          <p:cNvSpPr txBox="1"/>
          <p:nvPr/>
        </p:nvSpPr>
        <p:spPr>
          <a:xfrm>
            <a:off x="6455664" y="1755648"/>
            <a:ext cx="5257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Se simulará una interrupción de los servicios de comunicación proporcionados por el proveedor crítico, afectando la conectividad y disponibilidad de los servicios dependientes de dicha infraestructura.</a:t>
            </a:r>
            <a:endParaRPr lang="es-SV" sz="1000" noProof="0" dirty="0">
              <a:latin typeface="+mj-lt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457200" y="2514600"/>
            <a:ext cx="5623560" cy="246888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621792" y="2679192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2779776"/>
            <a:ext cx="182880" cy="18288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115568" y="264261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02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ALCANCE</a:t>
            </a:r>
            <a:endParaRPr lang="es-SV" sz="1000" noProof="0" dirty="0">
              <a:latin typeface="+mj-lt"/>
            </a:endParaRPr>
          </a:p>
        </p:txBody>
      </p:sp>
      <p:sp>
        <p:nvSpPr>
          <p:cNvPr id="37" name="Text 26"/>
          <p:cNvSpPr txBox="1"/>
          <p:nvPr/>
        </p:nvSpPr>
        <p:spPr>
          <a:xfrm>
            <a:off x="640080" y="3172968"/>
            <a:ext cx="52578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 algn="just">
              <a:spcAft>
                <a:spcPts val="300"/>
              </a:spcAft>
              <a:buSzPct val="100000"/>
              <a:buChar char="•"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Verificar que Agencia Plaza Mundo puedan continuar realizando transacciones durante la interrupción simulada.</a:t>
            </a:r>
            <a:endParaRPr lang="es-SV" sz="1000" noProof="0" dirty="0">
              <a:latin typeface="+mj-lt"/>
            </a:endParaRPr>
          </a:p>
          <a:p>
            <a:pPr marL="127000" indent="-127000" algn="just">
              <a:spcAft>
                <a:spcPts val="300"/>
              </a:spcAft>
              <a:buSzPct val="100000"/>
              <a:buChar char="•"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Validar la disponibilidad de los servicios tecnológicos mediante los mecanismos alternos de comunicación.</a:t>
            </a:r>
            <a:endParaRPr lang="es-SV" sz="1000" noProof="0" dirty="0">
              <a:latin typeface="+mj-lt"/>
            </a:endParaRPr>
          </a:p>
          <a:p>
            <a:pPr marL="127000" indent="-127000" algn="just">
              <a:spcAft>
                <a:spcPts val="300"/>
              </a:spcAft>
              <a:buSzPct val="100000"/>
              <a:buChar char="•"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Confirmar que no existan interrupciones que afecten la continuidad de la transaccionalidad.</a:t>
            </a:r>
            <a:endParaRPr lang="es-SV" sz="1000" noProof="0" dirty="0">
              <a:latin typeface="+mj-lt"/>
            </a:endParaRPr>
          </a:p>
          <a:p>
            <a:pPr marL="127000" indent="-127000" algn="just">
              <a:spcAft>
                <a:spcPts val="300"/>
              </a:spcAft>
              <a:buSzPct val="100000"/>
              <a:buChar char="•"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Verificar que todas las transacciones sean enviadas correctamente hacia la infraestructura tecnológica institucional.</a:t>
            </a:r>
            <a:endParaRPr lang="es-SV" sz="1000" noProof="0" dirty="0">
              <a:latin typeface="+mj-lt"/>
            </a:endParaRPr>
          </a:p>
          <a:p>
            <a:pPr marL="127000" indent="-127000" algn="just">
              <a:spcAft>
                <a:spcPts val="300"/>
              </a:spcAft>
              <a:buSzPct val="100000"/>
              <a:buChar char="•"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Validar la impresión de comprobantes y reportes durante la contingencia.</a:t>
            </a:r>
            <a:endParaRPr lang="es-SV" sz="1000" noProof="0" dirty="0">
              <a:latin typeface="+mj-lt"/>
            </a:endParaRPr>
          </a:p>
          <a:p>
            <a:pPr marL="127000" indent="-127000" algn="just">
              <a:spcAft>
                <a:spcPts val="300"/>
              </a:spcAft>
              <a:buSzPct val="100000"/>
              <a:buChar char="•"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Evaluar el tiempo de respuesta y recuperación del proveedor crítico de comunicaciones.</a:t>
            </a:r>
            <a:endParaRPr lang="es-SV" sz="1000" noProof="0" dirty="0">
              <a:latin typeface="+mj-lt"/>
            </a:endParaRPr>
          </a:p>
        </p:txBody>
      </p:sp>
      <p:sp>
        <p:nvSpPr>
          <p:cNvPr id="38" name="Shape 27"/>
          <p:cNvSpPr/>
          <p:nvPr/>
        </p:nvSpPr>
        <p:spPr>
          <a:xfrm>
            <a:off x="6272784" y="2514600"/>
            <a:ext cx="5623560" cy="2468880"/>
          </a:xfrm>
          <a:prstGeom prst="roundRect">
            <a:avLst>
              <a:gd name="adj" fmla="val 2857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39" name="Shape 28"/>
          <p:cNvSpPr/>
          <p:nvPr/>
        </p:nvSpPr>
        <p:spPr>
          <a:xfrm>
            <a:off x="6437376" y="2679192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779776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6931152" y="2642616"/>
            <a:ext cx="4782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05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METODOLOGÍA A USAR EN LA EJECUCIÓN DE LA PRUEBA</a:t>
            </a:r>
            <a:endParaRPr lang="es-SV" sz="1000" noProof="0" dirty="0">
              <a:latin typeface="+mj-lt"/>
            </a:endParaRPr>
          </a:p>
        </p:txBody>
      </p:sp>
      <p:sp>
        <p:nvSpPr>
          <p:cNvPr id="42" name="Shape 30"/>
          <p:cNvSpPr/>
          <p:nvPr/>
        </p:nvSpPr>
        <p:spPr>
          <a:xfrm>
            <a:off x="6455664" y="3191256"/>
            <a:ext cx="5257800" cy="246888"/>
          </a:xfrm>
          <a:prstGeom prst="roundRect">
            <a:avLst>
              <a:gd name="adj" fmla="val 17857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6528816" y="3191256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50" b="1" noProof="0" dirty="0">
                <a:solidFill>
                  <a:srgbClr val="F5B841"/>
                </a:solidFill>
                <a:latin typeface="+mj-lt"/>
              </a:rPr>
              <a:t>1</a:t>
            </a:r>
            <a:endParaRPr lang="es-SV" sz="1050" noProof="0" dirty="0">
              <a:latin typeface="+mj-lt"/>
            </a:endParaRPr>
          </a:p>
        </p:txBody>
      </p:sp>
      <p:sp>
        <p:nvSpPr>
          <p:cNvPr id="44" name="Text 32"/>
          <p:cNvSpPr txBox="1"/>
          <p:nvPr/>
        </p:nvSpPr>
        <p:spPr>
          <a:xfrm>
            <a:off x="6803136" y="319125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Notificación del incidente.</a:t>
            </a:r>
            <a:endParaRPr lang="es-SV" sz="1000" noProof="0" dirty="0">
              <a:latin typeface="+mj-lt"/>
            </a:endParaRPr>
          </a:p>
        </p:txBody>
      </p:sp>
      <p:sp>
        <p:nvSpPr>
          <p:cNvPr id="45" name="Shape 33"/>
          <p:cNvSpPr/>
          <p:nvPr/>
        </p:nvSpPr>
        <p:spPr>
          <a:xfrm>
            <a:off x="6455664" y="3483864"/>
            <a:ext cx="5257800" cy="246888"/>
          </a:xfrm>
          <a:prstGeom prst="roundRect">
            <a:avLst>
              <a:gd name="adj" fmla="val 17857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46" name="Text 34"/>
          <p:cNvSpPr txBox="1"/>
          <p:nvPr/>
        </p:nvSpPr>
        <p:spPr>
          <a:xfrm>
            <a:off x="6528816" y="3483864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50" b="1" noProof="0" dirty="0">
                <a:solidFill>
                  <a:srgbClr val="F5B841"/>
                </a:solidFill>
                <a:latin typeface="+mj-lt"/>
              </a:rPr>
              <a:t>2</a:t>
            </a:r>
            <a:endParaRPr lang="es-SV" sz="1050" noProof="0" dirty="0">
              <a:latin typeface="+mj-lt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6803136" y="3483864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Escalamiento al proveedor.</a:t>
            </a:r>
            <a:endParaRPr lang="es-SV" sz="1000" noProof="0" dirty="0">
              <a:latin typeface="+mj-lt"/>
            </a:endParaRPr>
          </a:p>
        </p:txBody>
      </p:sp>
      <p:sp>
        <p:nvSpPr>
          <p:cNvPr id="48" name="Shape 36"/>
          <p:cNvSpPr/>
          <p:nvPr/>
        </p:nvSpPr>
        <p:spPr>
          <a:xfrm>
            <a:off x="6455664" y="3776472"/>
            <a:ext cx="5257800" cy="246888"/>
          </a:xfrm>
          <a:prstGeom prst="roundRect">
            <a:avLst>
              <a:gd name="adj" fmla="val 17857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49" name="Text 37"/>
          <p:cNvSpPr txBox="1"/>
          <p:nvPr/>
        </p:nvSpPr>
        <p:spPr>
          <a:xfrm>
            <a:off x="6528816" y="3776472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50" b="1" noProof="0" dirty="0">
                <a:solidFill>
                  <a:srgbClr val="F5B841"/>
                </a:solidFill>
                <a:latin typeface="+mj-lt"/>
              </a:rPr>
              <a:t>3</a:t>
            </a:r>
            <a:endParaRPr lang="es-SV" sz="1050" noProof="0" dirty="0">
              <a:latin typeface="+mj-lt"/>
            </a:endParaRPr>
          </a:p>
        </p:txBody>
      </p:sp>
      <p:sp>
        <p:nvSpPr>
          <p:cNvPr id="50" name="Text 38"/>
          <p:cNvSpPr txBox="1"/>
          <p:nvPr/>
        </p:nvSpPr>
        <p:spPr>
          <a:xfrm>
            <a:off x="6803136" y="3776472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Activación de mecanismos alternos de comunicación.</a:t>
            </a:r>
            <a:endParaRPr lang="es-SV" sz="1000" noProof="0" dirty="0">
              <a:latin typeface="+mj-lt"/>
            </a:endParaRPr>
          </a:p>
        </p:txBody>
      </p:sp>
      <p:sp>
        <p:nvSpPr>
          <p:cNvPr id="51" name="Shape 39"/>
          <p:cNvSpPr/>
          <p:nvPr/>
        </p:nvSpPr>
        <p:spPr>
          <a:xfrm>
            <a:off x="6455664" y="4069080"/>
            <a:ext cx="5257800" cy="246888"/>
          </a:xfrm>
          <a:prstGeom prst="roundRect">
            <a:avLst>
              <a:gd name="adj" fmla="val 17857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52" name="Text 40"/>
          <p:cNvSpPr txBox="1"/>
          <p:nvPr/>
        </p:nvSpPr>
        <p:spPr>
          <a:xfrm>
            <a:off x="6528816" y="4069080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50" b="1" noProof="0" dirty="0">
                <a:solidFill>
                  <a:srgbClr val="F5B841"/>
                </a:solidFill>
                <a:latin typeface="+mj-lt"/>
              </a:rPr>
              <a:t>4</a:t>
            </a:r>
            <a:endParaRPr lang="es-SV" sz="1050" noProof="0" dirty="0">
              <a:latin typeface="+mj-lt"/>
            </a:endParaRPr>
          </a:p>
        </p:txBody>
      </p:sp>
      <p:sp>
        <p:nvSpPr>
          <p:cNvPr id="53" name="Text 41"/>
          <p:cNvSpPr txBox="1"/>
          <p:nvPr/>
        </p:nvSpPr>
        <p:spPr>
          <a:xfrm>
            <a:off x="6803136" y="4069080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Monitoreo de la recuperación.</a:t>
            </a:r>
            <a:endParaRPr lang="es-SV" sz="1000" noProof="0" dirty="0">
              <a:latin typeface="+mj-lt"/>
            </a:endParaRPr>
          </a:p>
        </p:txBody>
      </p:sp>
      <p:sp>
        <p:nvSpPr>
          <p:cNvPr id="54" name="Shape 42"/>
          <p:cNvSpPr/>
          <p:nvPr/>
        </p:nvSpPr>
        <p:spPr>
          <a:xfrm>
            <a:off x="6455664" y="4361688"/>
            <a:ext cx="5257800" cy="246888"/>
          </a:xfrm>
          <a:prstGeom prst="roundRect">
            <a:avLst>
              <a:gd name="adj" fmla="val 17857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55" name="Text 43"/>
          <p:cNvSpPr txBox="1"/>
          <p:nvPr/>
        </p:nvSpPr>
        <p:spPr>
          <a:xfrm>
            <a:off x="6528816" y="436168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50" b="1" noProof="0" dirty="0">
                <a:solidFill>
                  <a:srgbClr val="F5B841"/>
                </a:solidFill>
                <a:latin typeface="+mj-lt"/>
              </a:rPr>
              <a:t>5</a:t>
            </a:r>
            <a:endParaRPr lang="es-SV" sz="1050" noProof="0" dirty="0">
              <a:latin typeface="+mj-lt"/>
            </a:endParaRPr>
          </a:p>
        </p:txBody>
      </p:sp>
      <p:sp>
        <p:nvSpPr>
          <p:cNvPr id="56" name="Text 44"/>
          <p:cNvSpPr txBox="1"/>
          <p:nvPr/>
        </p:nvSpPr>
        <p:spPr>
          <a:xfrm>
            <a:off x="6803136" y="4361688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Validación de disponibilidad de servicios.</a:t>
            </a:r>
            <a:endParaRPr lang="es-SV" sz="1000" noProof="0" dirty="0">
              <a:latin typeface="+mj-lt"/>
            </a:endParaRPr>
          </a:p>
        </p:txBody>
      </p:sp>
      <p:sp>
        <p:nvSpPr>
          <p:cNvPr id="57" name="Shape 45"/>
          <p:cNvSpPr/>
          <p:nvPr/>
        </p:nvSpPr>
        <p:spPr>
          <a:xfrm>
            <a:off x="6455664" y="4654296"/>
            <a:ext cx="5257800" cy="246888"/>
          </a:xfrm>
          <a:prstGeom prst="roundRect">
            <a:avLst>
              <a:gd name="adj" fmla="val 17857"/>
            </a:avLst>
          </a:prstGeom>
          <a:solidFill>
            <a:srgbClr val="1E2F4D"/>
          </a:solidFill>
          <a:ln w="12700">
            <a:solidFill>
              <a:srgbClr val="1E2F4D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58" name="Text 46"/>
          <p:cNvSpPr txBox="1"/>
          <p:nvPr/>
        </p:nvSpPr>
        <p:spPr>
          <a:xfrm>
            <a:off x="6528816" y="4654296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50" b="1" noProof="0" dirty="0">
                <a:solidFill>
                  <a:srgbClr val="F5B841"/>
                </a:solidFill>
                <a:latin typeface="+mj-lt"/>
              </a:rPr>
              <a:t>6</a:t>
            </a:r>
            <a:endParaRPr lang="es-SV" sz="1050" noProof="0" dirty="0">
              <a:latin typeface="+mj-lt"/>
            </a:endParaRPr>
          </a:p>
        </p:txBody>
      </p:sp>
      <p:sp>
        <p:nvSpPr>
          <p:cNvPr id="59" name="Text 47"/>
          <p:cNvSpPr txBox="1"/>
          <p:nvPr/>
        </p:nvSpPr>
        <p:spPr>
          <a:xfrm>
            <a:off x="6803136" y="4654296"/>
            <a:ext cx="4846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Documentación de resultados.</a:t>
            </a:r>
            <a:endParaRPr lang="es-SV" sz="1000" noProof="0" dirty="0">
              <a:latin typeface="+mj-lt"/>
            </a:endParaRPr>
          </a:p>
        </p:txBody>
      </p:sp>
      <p:sp>
        <p:nvSpPr>
          <p:cNvPr id="60" name="Shape 48"/>
          <p:cNvSpPr/>
          <p:nvPr/>
        </p:nvSpPr>
        <p:spPr>
          <a:xfrm>
            <a:off x="457200" y="5120640"/>
            <a:ext cx="3685032" cy="1554480"/>
          </a:xfrm>
          <a:prstGeom prst="roundRect">
            <a:avLst>
              <a:gd name="adj" fmla="val 4255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61" name="Shape 49"/>
          <p:cNvSpPr/>
          <p:nvPr/>
        </p:nvSpPr>
        <p:spPr>
          <a:xfrm>
            <a:off x="621792" y="5285231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6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5385816"/>
            <a:ext cx="182880" cy="182880"/>
          </a:xfrm>
          <a:prstGeom prst="rect">
            <a:avLst/>
          </a:prstGeom>
        </p:spPr>
      </p:pic>
      <p:sp>
        <p:nvSpPr>
          <p:cNvPr id="63" name="Text 50"/>
          <p:cNvSpPr txBox="1"/>
          <p:nvPr/>
        </p:nvSpPr>
        <p:spPr>
          <a:xfrm>
            <a:off x="1115568" y="5248655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03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PROCESO, PRODUCTOS Y SERVICIOS A INCLUIR EN LA PRUEBA</a:t>
            </a:r>
            <a:endParaRPr lang="es-SV" sz="1000" noProof="0" dirty="0">
              <a:latin typeface="+mj-lt"/>
            </a:endParaRPr>
          </a:p>
        </p:txBody>
      </p:sp>
      <p:sp>
        <p:nvSpPr>
          <p:cNvPr id="64" name="Text 51"/>
          <p:cNvSpPr txBox="1"/>
          <p:nvPr/>
        </p:nvSpPr>
        <p:spPr>
          <a:xfrm>
            <a:off x="640080" y="5779007"/>
            <a:ext cx="3319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Conectividad de la Agencia, acceso a sistemas y servicios de comunicación internos y externos.</a:t>
            </a:r>
            <a:endParaRPr lang="es-SV" sz="1000" noProof="0" dirty="0">
              <a:latin typeface="+mj-lt"/>
            </a:endParaRPr>
          </a:p>
        </p:txBody>
      </p:sp>
      <p:sp>
        <p:nvSpPr>
          <p:cNvPr id="65" name="Shape 52"/>
          <p:cNvSpPr/>
          <p:nvPr/>
        </p:nvSpPr>
        <p:spPr>
          <a:xfrm>
            <a:off x="4334256" y="5120640"/>
            <a:ext cx="3685032" cy="1554480"/>
          </a:xfrm>
          <a:prstGeom prst="roundRect">
            <a:avLst>
              <a:gd name="adj" fmla="val 4255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66" name="Shape 53"/>
          <p:cNvSpPr/>
          <p:nvPr/>
        </p:nvSpPr>
        <p:spPr>
          <a:xfrm>
            <a:off x="4498848" y="5285231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5385816"/>
            <a:ext cx="182880" cy="182880"/>
          </a:xfrm>
          <a:prstGeom prst="rect">
            <a:avLst/>
          </a:prstGeom>
        </p:spPr>
      </p:pic>
      <p:sp>
        <p:nvSpPr>
          <p:cNvPr id="68" name="Text 54"/>
          <p:cNvSpPr txBox="1"/>
          <p:nvPr/>
        </p:nvSpPr>
        <p:spPr>
          <a:xfrm>
            <a:off x="4992624" y="5248655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06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CONDICIONES PARA CANCELAR LA PRUEBA</a:t>
            </a:r>
            <a:endParaRPr lang="es-SV" sz="1000" noProof="0" dirty="0">
              <a:latin typeface="+mj-lt"/>
            </a:endParaRPr>
          </a:p>
        </p:txBody>
      </p:sp>
      <p:sp>
        <p:nvSpPr>
          <p:cNvPr id="69" name="Text 55"/>
          <p:cNvSpPr txBox="1"/>
          <p:nvPr/>
        </p:nvSpPr>
        <p:spPr>
          <a:xfrm>
            <a:off x="4517136" y="5779007"/>
            <a:ext cx="3319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Que las afectaciones a la operación normal sean significativas.</a:t>
            </a:r>
            <a:endParaRPr lang="es-SV" sz="1000" noProof="0" dirty="0">
              <a:latin typeface="+mj-lt"/>
            </a:endParaRPr>
          </a:p>
        </p:txBody>
      </p:sp>
      <p:sp>
        <p:nvSpPr>
          <p:cNvPr id="70" name="Shape 56"/>
          <p:cNvSpPr/>
          <p:nvPr/>
        </p:nvSpPr>
        <p:spPr>
          <a:xfrm>
            <a:off x="8211312" y="5120640"/>
            <a:ext cx="3685032" cy="1554480"/>
          </a:xfrm>
          <a:prstGeom prst="roundRect">
            <a:avLst>
              <a:gd name="adj" fmla="val 4255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sp>
        <p:nvSpPr>
          <p:cNvPr id="71" name="Shape 57"/>
          <p:cNvSpPr/>
          <p:nvPr/>
        </p:nvSpPr>
        <p:spPr>
          <a:xfrm>
            <a:off x="8375904" y="5285231"/>
            <a:ext cx="384048" cy="384048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sz="2000" noProof="0" dirty="0">
              <a:latin typeface="+mj-lt"/>
            </a:endParaRPr>
          </a:p>
        </p:txBody>
      </p:sp>
      <p:pic>
        <p:nvPicPr>
          <p:cNvPr id="72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5385816"/>
            <a:ext cx="182880" cy="182880"/>
          </a:xfrm>
          <a:prstGeom prst="rect">
            <a:avLst/>
          </a:prstGeom>
        </p:spPr>
      </p:pic>
      <p:sp>
        <p:nvSpPr>
          <p:cNvPr id="73" name="Text 58"/>
          <p:cNvSpPr txBox="1"/>
          <p:nvPr/>
        </p:nvSpPr>
        <p:spPr>
          <a:xfrm>
            <a:off x="8869680" y="5248655"/>
            <a:ext cx="2843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000" b="1" noProof="0" dirty="0">
                <a:solidFill>
                  <a:srgbClr val="F5B841"/>
                </a:solidFill>
                <a:latin typeface="+mj-lt"/>
                <a:ea typeface="Arial" pitchFamily="34" charset="-122"/>
                <a:cs typeface="Arial" pitchFamily="34" charset="-120"/>
              </a:rPr>
              <a:t>07  </a:t>
            </a:r>
            <a:r>
              <a:rPr lang="es-SV" sz="1000" b="1" noProof="0" dirty="0">
                <a:solidFill>
                  <a:srgbClr val="FFFFFF"/>
                </a:solidFill>
                <a:latin typeface="+mj-lt"/>
                <a:ea typeface="Arial" pitchFamily="34" charset="-122"/>
                <a:cs typeface="Arial" pitchFamily="34" charset="-120"/>
              </a:rPr>
              <a:t>RESULTADOS ESPERADOS</a:t>
            </a:r>
            <a:endParaRPr lang="es-SV" sz="1000" noProof="0" dirty="0">
              <a:latin typeface="+mj-lt"/>
            </a:endParaRPr>
          </a:p>
        </p:txBody>
      </p:sp>
      <p:sp>
        <p:nvSpPr>
          <p:cNvPr id="74" name="Text 59"/>
          <p:cNvSpPr txBox="1"/>
          <p:nvPr/>
        </p:nvSpPr>
        <p:spPr>
          <a:xfrm>
            <a:off x="8394192" y="5779007"/>
            <a:ext cx="3319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E8EEF6"/>
                </a:solidFill>
                <a:latin typeface="+mj-lt"/>
              </a:rPr>
              <a:t>Validar la capacidad del proveedor para responder y recuperar los servicios de comunicación dentro de los tiempos establecidos, garantizando la continuidad de los procesos críticos y la efectividad de los mecanismos alternos definidos por COMEDICA.</a:t>
            </a:r>
            <a:endParaRPr lang="es-SV" sz="1000" noProof="0" dirty="0">
              <a:latin typeface="+mj-lt"/>
            </a:endParaRPr>
          </a:p>
        </p:txBody>
      </p:sp>
      <p:sp>
        <p:nvSpPr>
          <p:cNvPr id="2" name="Text 0"/>
          <p:cNvSpPr txBox="1"/>
          <p:nvPr/>
        </p:nvSpPr>
        <p:spPr>
          <a:xfrm>
            <a:off x="514952" y="273211"/>
            <a:ext cx="7074568" cy="167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50" noProof="0" dirty="0">
                <a:solidFill>
                  <a:srgbClr val="002060"/>
                </a:solidFill>
              </a:rPr>
              <a:t>Evaluación de Continuidad y Desempeño del Proveedor Crítico de Comunicaciones ante Interrupción Simulada de Conectividad</a:t>
            </a:r>
            <a:endParaRPr lang="es-SV" sz="1500" noProof="0" dirty="0">
              <a:solidFill>
                <a:srgbClr val="002060"/>
              </a:solidFill>
            </a:endParaRPr>
          </a:p>
        </p:txBody>
      </p:sp>
      <p:sp>
        <p:nvSpPr>
          <p:cNvPr id="53" name="Freeform 11">
            <a:extLst>
              <a:ext uri="{FF2B5EF4-FFF2-40B4-BE49-F238E27FC236}">
                <a16:creationId xmlns:a16="http://schemas.microsoft.com/office/drawing/2014/main" id="{75E927EE-8E7A-544A-FC27-B58EC66527C6}"/>
              </a:ext>
            </a:extLst>
          </p:cNvPr>
          <p:cNvSpPr/>
          <p:nvPr/>
        </p:nvSpPr>
        <p:spPr>
          <a:xfrm>
            <a:off x="10138847" y="-99476"/>
            <a:ext cx="1759347" cy="1219616"/>
          </a:xfrm>
          <a:custGeom>
            <a:avLst/>
            <a:gdLst/>
            <a:ahLst/>
            <a:cxnLst/>
            <a:rect l="l" t="t" r="r" b="b"/>
            <a:pathLst>
              <a:path w="5067635" h="3714752">
                <a:moveTo>
                  <a:pt x="0" y="0"/>
                </a:moveTo>
                <a:lnTo>
                  <a:pt x="5067636" y="0"/>
                </a:lnTo>
                <a:lnTo>
                  <a:pt x="5067636" y="3714751"/>
                </a:lnTo>
                <a:lnTo>
                  <a:pt x="0" y="37147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s-SV" sz="1200" noProof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14952" y="273211"/>
            <a:ext cx="7074568" cy="167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SV" sz="1050" noProof="0" dirty="0">
                <a:solidFill>
                  <a:srgbClr val="002060"/>
                </a:solidFill>
              </a:rPr>
              <a:t>Evaluación de Continuidad y Desempeño del Proveedor Crítico de Comunicaciones ante Interrupción Simulada de Conectividad</a:t>
            </a:r>
            <a:endParaRPr lang="es-SV" sz="1500" noProof="0" dirty="0">
              <a:solidFill>
                <a:srgbClr val="002060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11440994" cy="3089576"/>
          </a:xfrm>
          <a:prstGeom prst="roundRect">
            <a:avLst>
              <a:gd name="adj" fmla="val 2462"/>
            </a:avLst>
          </a:prstGeom>
          <a:solidFill>
            <a:srgbClr val="16233A"/>
          </a:solidFill>
          <a:ln w="9525">
            <a:solidFill>
              <a:srgbClr val="16233A"/>
            </a:solidFill>
            <a:prstDash val="solid"/>
          </a:ln>
          <a:effectLst>
            <a:outerShdw blurRad="76200" dist="1905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SV" noProof="0" dirty="0"/>
          </a:p>
        </p:txBody>
      </p:sp>
      <p:sp>
        <p:nvSpPr>
          <p:cNvPr id="6" name="Shape 3"/>
          <p:cNvSpPr/>
          <p:nvPr/>
        </p:nvSpPr>
        <p:spPr>
          <a:xfrm>
            <a:off x="3332908" y="562356"/>
            <a:ext cx="347472" cy="347472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250" y="649225"/>
            <a:ext cx="166787" cy="16678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7543" y="627032"/>
            <a:ext cx="2649748" cy="232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10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PARTICIPANTES DE LAS PRUEBAS</a:t>
            </a:r>
            <a:endParaRPr lang="es-SV" sz="1100" noProof="0" dirty="0">
              <a:solidFill>
                <a:srgbClr val="002060"/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731497"/>
              </p:ext>
            </p:extLst>
          </p:nvPr>
        </p:nvGraphicFramePr>
        <p:xfrm>
          <a:off x="621791" y="1090332"/>
          <a:ext cx="11112703" cy="2869018"/>
        </p:xfrm>
        <a:graphic>
          <a:graphicData uri="http://schemas.openxmlformats.org/drawingml/2006/table">
            <a:tbl>
              <a:tblPr/>
              <a:tblGrid>
                <a:gridCol w="2778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9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8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850" b="1" noProof="0" dirty="0">
                          <a:solidFill>
                            <a:srgbClr val="F5B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</a:t>
                      </a:r>
                      <a:endParaRPr lang="es-SV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850" b="1" noProof="0" dirty="0">
                          <a:solidFill>
                            <a:srgbClr val="F5B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UBICACIÓN</a:t>
                      </a:r>
                      <a:endParaRPr lang="es-SV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850" b="1" noProof="0" dirty="0">
                          <a:solidFill>
                            <a:srgbClr val="F5B8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s-SV" sz="8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F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Jefe de Agencia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Agencia Plaza Mundo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Coordinar la ejecución de la prueba en la agencia, comunicar el inicio y finalización del ejercicio y verificar la continuidad de las operaciones.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1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Cajero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Agencia Plaza Mundo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Ejecutar transacciones de prueba utilizando los procedimientos establecidos y reportar incidencias.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1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Sub Gerente de Canales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Coordinar la ejecución técnica de la prueba y verificar la continuidad de los servicios de comunicación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Jefe de Operaciones y Soporte Técnico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Coordinar la activación de los mecanismos alternos de conectividad y supervisar la recuperación del servicio.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Jefe de Seguridad de la </a:t>
                      </a:r>
                      <a:r>
                        <a:rPr lang="es-SV" sz="900" b="1" noProof="0" dirty="0" err="1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Informacion</a:t>
                      </a: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 y Ciberseguridad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Supervisar la correcta aplicación de los procedimientos establecidos durante la prueba y documentar los hallazgos relacionados con la seguridad de la información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Atender el incidente simulado, ejecutar los procedimientos de recuperación y proporcionar información sobre los tiempos de respuesta y restablecimiento del servicio.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Jefe </a:t>
                      </a:r>
                      <a:r>
                        <a:rPr lang="es-SV" sz="900" b="1" noProof="0" dirty="0" err="1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Administracion</a:t>
                      </a: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 de Riesgos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Supervisar la ejecución de la prueba, verificar el cumplimiento del guion y consolidar el informe de resultados.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1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b="1" noProof="0" dirty="0">
                          <a:solidFill>
                            <a:srgbClr val="FFFFFF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Auditor Interno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5CC8F0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Centro Financiero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s-SV" sz="900" noProof="0" dirty="0">
                          <a:solidFill>
                            <a:srgbClr val="E8EEF6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Actuar como observador independiente durante la ejecución de la prueba</a:t>
                      </a:r>
                      <a:endParaRPr lang="es-SV" sz="900" noProof="0" dirty="0">
                        <a:latin typeface="+mj-lt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Shape 17"/>
          <p:cNvSpPr/>
          <p:nvPr/>
        </p:nvSpPr>
        <p:spPr>
          <a:xfrm>
            <a:off x="457200" y="4142232"/>
            <a:ext cx="347472" cy="347472"/>
          </a:xfrm>
          <a:prstGeom prst="ellipse">
            <a:avLst/>
          </a:prstGeom>
          <a:solidFill>
            <a:srgbClr val="F5B841"/>
          </a:solidFill>
          <a:ln w="12700">
            <a:solidFill>
              <a:srgbClr val="F5B841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43" y="4232575"/>
            <a:ext cx="166787" cy="166787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96112" y="4142232"/>
            <a:ext cx="6537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SV" sz="110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DESCRIPCION DE ACTIVIDADES A REALIZAR</a:t>
            </a:r>
            <a:endParaRPr lang="es-SV" sz="1100" noProof="0" dirty="0">
              <a:solidFill>
                <a:srgbClr val="002060"/>
              </a:solidFill>
            </a:endParaRPr>
          </a:p>
        </p:txBody>
      </p:sp>
      <p:sp>
        <p:nvSpPr>
          <p:cNvPr id="30" name="Text 19"/>
          <p:cNvSpPr txBox="1"/>
          <p:nvPr/>
        </p:nvSpPr>
        <p:spPr>
          <a:xfrm>
            <a:off x="7589520" y="414223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SV" sz="800" b="1" noProof="0" dirty="0">
                <a:solidFill>
                  <a:srgbClr val="002060"/>
                </a:solidFill>
              </a:rPr>
              <a:t>No.  ·  </a:t>
            </a:r>
            <a:r>
              <a:rPr lang="es-SV" sz="800" b="1" noProof="0" dirty="0" err="1">
                <a:solidFill>
                  <a:srgbClr val="002060"/>
                </a:solidFill>
              </a:rPr>
              <a:t>Descripción</a:t>
            </a:r>
            <a:r>
              <a:rPr lang="es-SV" sz="800" b="1" noProof="0" dirty="0">
                <a:solidFill>
                  <a:srgbClr val="002060"/>
                </a:solidFill>
              </a:rPr>
              <a:t> de la Actividad  ·  Responsables  ·  Fecha de Cumplimiento</a:t>
            </a:r>
            <a:endParaRPr lang="es-SV" sz="800" noProof="0" dirty="0">
              <a:solidFill>
                <a:srgbClr val="002060"/>
              </a:solidFill>
            </a:endParaRPr>
          </a:p>
        </p:txBody>
      </p:sp>
      <p:sp>
        <p:nvSpPr>
          <p:cNvPr id="31" name="Shape 20"/>
          <p:cNvSpPr/>
          <p:nvPr/>
        </p:nvSpPr>
        <p:spPr>
          <a:xfrm>
            <a:off x="714330" y="4764024"/>
            <a:ext cx="10700125" cy="0"/>
          </a:xfrm>
          <a:prstGeom prst="line">
            <a:avLst/>
          </a:prstGeom>
          <a:noFill/>
          <a:ln w="19050">
            <a:solidFill>
              <a:srgbClr val="F5B841"/>
            </a:solidFill>
            <a:prstDash val="dash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6" name="Shape 25"/>
          <p:cNvSpPr/>
          <p:nvPr/>
        </p:nvSpPr>
        <p:spPr>
          <a:xfrm>
            <a:off x="1622527" y="4581144"/>
            <a:ext cx="365760" cy="365760"/>
          </a:xfrm>
          <a:prstGeom prst="ellipse">
            <a:avLst/>
          </a:prstGeom>
          <a:solidFill>
            <a:srgbClr val="F5B841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37" name="Text 26"/>
          <p:cNvSpPr txBox="1"/>
          <p:nvPr/>
        </p:nvSpPr>
        <p:spPr>
          <a:xfrm>
            <a:off x="1622527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200" b="1" noProof="0" dirty="0">
                <a:solidFill>
                  <a:srgbClr val="0B1220"/>
                </a:solidFill>
              </a:rPr>
              <a:t>1</a:t>
            </a:r>
            <a:endParaRPr lang="es-SV" sz="1200" noProof="0" dirty="0"/>
          </a:p>
        </p:txBody>
      </p:sp>
      <p:grpSp>
        <p:nvGrpSpPr>
          <p:cNvPr id="57" name="Grupo 56">
            <a:extLst>
              <a:ext uri="{FF2B5EF4-FFF2-40B4-BE49-F238E27FC236}">
                <a16:creationId xmlns:a16="http://schemas.microsoft.com/office/drawing/2014/main" id="{FAB80F44-58EA-197F-291A-DC62B52114CD}"/>
              </a:ext>
            </a:extLst>
          </p:cNvPr>
          <p:cNvGrpSpPr/>
          <p:nvPr/>
        </p:nvGrpSpPr>
        <p:grpSpPr>
          <a:xfrm>
            <a:off x="465542" y="5056632"/>
            <a:ext cx="2679730" cy="1600200"/>
            <a:chOff x="878007" y="5029200"/>
            <a:chExt cx="2145731" cy="1600200"/>
          </a:xfrm>
        </p:grpSpPr>
        <p:sp>
          <p:nvSpPr>
            <p:cNvPr id="38" name="Shape 27"/>
            <p:cNvSpPr/>
            <p:nvPr/>
          </p:nvSpPr>
          <p:spPr>
            <a:xfrm>
              <a:off x="878007" y="5029200"/>
              <a:ext cx="2145731" cy="1600200"/>
            </a:xfrm>
            <a:prstGeom prst="roundRect">
              <a:avLst>
                <a:gd name="adj" fmla="val 4571"/>
              </a:avLst>
            </a:prstGeom>
            <a:solidFill>
              <a:srgbClr val="16233A"/>
            </a:solidFill>
            <a:ln w="9525">
              <a:solidFill>
                <a:srgbClr val="16233A"/>
              </a:solidFill>
              <a:prstDash val="solid"/>
            </a:ln>
            <a:effectLst>
              <a:outerShdw blurRad="76200" dist="1905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s-SV" noProof="0" dirty="0"/>
            </a:p>
          </p:txBody>
        </p:sp>
        <p:sp>
          <p:nvSpPr>
            <p:cNvPr id="39" name="Text 28"/>
            <p:cNvSpPr txBox="1"/>
            <p:nvPr/>
          </p:nvSpPr>
          <p:spPr>
            <a:xfrm>
              <a:off x="987735" y="5102352"/>
              <a:ext cx="1986682" cy="1481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300"/>
                </a:spcAft>
                <a:buNone/>
              </a:pPr>
              <a:r>
                <a:rPr lang="es-SV" sz="1000" b="1" noProof="0" dirty="0">
                  <a:solidFill>
                    <a:srgbClr val="F5B841"/>
                  </a:solidFill>
                  <a:latin typeface="+mj-lt"/>
                </a:rPr>
                <a:t>Noviembre 2026</a:t>
              </a:r>
              <a:endParaRPr lang="es-SV" sz="1000" noProof="0" dirty="0">
                <a:latin typeface="+mj-lt"/>
              </a:endParaRPr>
            </a:p>
            <a:p>
              <a:pPr marL="0" indent="0" algn="just">
                <a:spcAft>
                  <a:spcPts val="400"/>
                </a:spcAft>
                <a:buNone/>
              </a:pPr>
              <a:r>
                <a:rPr lang="es-SV" sz="900" b="1" noProof="0" dirty="0">
                  <a:solidFill>
                    <a:srgbClr val="FFFFFF"/>
                  </a:solidFill>
                  <a:latin typeface="+mj-lt"/>
                </a:rPr>
                <a:t>Ejecución de la Prueba No. 3: Evaluación de Continuidad y Desempeño del Proveedor Crítico de Comunicaciones ante Interrupción Simulada de Conectividad.</a:t>
              </a:r>
              <a:endParaRPr lang="es-SV" sz="1000" noProof="0" dirty="0">
                <a:latin typeface="+mj-lt"/>
              </a:endParaRPr>
            </a:p>
            <a:p>
              <a:pPr marL="0" indent="0">
                <a:buNone/>
              </a:pP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1. Gerente de Sistemas  2. Sub Gerente de Canales  3. Jefe de Análisis y Programación  4. Jefe de Operaciones y Soporte Técnico  5. Oficial de Seguridad de la Información  6. Jefe de </a:t>
              </a:r>
              <a:r>
                <a:rPr lang="es-SV" sz="800" noProof="0" dirty="0" err="1">
                  <a:solidFill>
                    <a:srgbClr val="9FB0C6"/>
                  </a:solidFill>
                  <a:latin typeface="+mj-lt"/>
                </a:rPr>
                <a:t>Administracion</a:t>
              </a: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 de Riesgos</a:t>
              </a:r>
              <a:endParaRPr lang="es-SV" sz="1000" noProof="0" dirty="0">
                <a:latin typeface="+mj-lt"/>
              </a:endParaRPr>
            </a:p>
          </p:txBody>
        </p:sp>
      </p:grpSp>
      <p:sp>
        <p:nvSpPr>
          <p:cNvPr id="40" name="Shape 29"/>
          <p:cNvSpPr/>
          <p:nvPr/>
        </p:nvSpPr>
        <p:spPr>
          <a:xfrm>
            <a:off x="4541647" y="4581144"/>
            <a:ext cx="365760" cy="365760"/>
          </a:xfrm>
          <a:prstGeom prst="ellipse">
            <a:avLst/>
          </a:prstGeom>
          <a:solidFill>
            <a:srgbClr val="F5B841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1" name="Text 30"/>
          <p:cNvSpPr txBox="1"/>
          <p:nvPr/>
        </p:nvSpPr>
        <p:spPr>
          <a:xfrm>
            <a:off x="4541647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200" b="1" noProof="0" dirty="0">
                <a:solidFill>
                  <a:srgbClr val="0B1220"/>
                </a:solidFill>
              </a:rPr>
              <a:t>2</a:t>
            </a:r>
            <a:endParaRPr lang="es-SV" sz="1200" noProof="0" dirty="0"/>
          </a:p>
        </p:txBody>
      </p:sp>
      <p:grpSp>
        <p:nvGrpSpPr>
          <p:cNvPr id="56" name="Grupo 55">
            <a:extLst>
              <a:ext uri="{FF2B5EF4-FFF2-40B4-BE49-F238E27FC236}">
                <a16:creationId xmlns:a16="http://schemas.microsoft.com/office/drawing/2014/main" id="{C2295BB1-06B2-02A3-2EEA-8686A8D72351}"/>
              </a:ext>
            </a:extLst>
          </p:cNvPr>
          <p:cNvGrpSpPr/>
          <p:nvPr/>
        </p:nvGrpSpPr>
        <p:grpSpPr>
          <a:xfrm>
            <a:off x="3384663" y="5052060"/>
            <a:ext cx="2679729" cy="1600200"/>
            <a:chOff x="3160898" y="5029200"/>
            <a:chExt cx="2145731" cy="1600200"/>
          </a:xfrm>
        </p:grpSpPr>
        <p:sp>
          <p:nvSpPr>
            <p:cNvPr id="42" name="Shape 31"/>
            <p:cNvSpPr/>
            <p:nvPr/>
          </p:nvSpPr>
          <p:spPr>
            <a:xfrm>
              <a:off x="3160898" y="5029200"/>
              <a:ext cx="2145731" cy="1600200"/>
            </a:xfrm>
            <a:prstGeom prst="roundRect">
              <a:avLst>
                <a:gd name="adj" fmla="val 4571"/>
              </a:avLst>
            </a:prstGeom>
            <a:solidFill>
              <a:srgbClr val="16233A"/>
            </a:solidFill>
            <a:ln w="9525">
              <a:solidFill>
                <a:srgbClr val="16233A"/>
              </a:solidFill>
              <a:prstDash val="solid"/>
            </a:ln>
            <a:effectLst>
              <a:outerShdw blurRad="76200" dist="1905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s-SV" noProof="0" dirty="0"/>
            </a:p>
          </p:txBody>
        </p:sp>
        <p:sp>
          <p:nvSpPr>
            <p:cNvPr id="43" name="Text 32"/>
            <p:cNvSpPr txBox="1"/>
            <p:nvPr/>
          </p:nvSpPr>
          <p:spPr>
            <a:xfrm>
              <a:off x="3270626" y="5102351"/>
              <a:ext cx="1926275" cy="8849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spcAft>
                  <a:spcPts val="300"/>
                </a:spcAft>
                <a:buNone/>
              </a:pPr>
              <a:r>
                <a:rPr lang="es-SV" sz="900" b="1" noProof="0" dirty="0">
                  <a:solidFill>
                    <a:srgbClr val="F5B841"/>
                  </a:solidFill>
                  <a:latin typeface="+mj-lt"/>
                </a:rPr>
                <a:t>Noviembre 2026</a:t>
              </a:r>
              <a:endParaRPr lang="es-SV" sz="900" noProof="0" dirty="0">
                <a:latin typeface="+mj-lt"/>
              </a:endParaRPr>
            </a:p>
            <a:p>
              <a:pPr marL="0" indent="0" algn="just">
                <a:spcAft>
                  <a:spcPts val="400"/>
                </a:spcAft>
                <a:buNone/>
              </a:pPr>
              <a:r>
                <a:rPr lang="es-SV" sz="900" b="1" noProof="0" dirty="0">
                  <a:solidFill>
                    <a:srgbClr val="FFFFFF"/>
                  </a:solidFill>
                  <a:latin typeface="+mj-lt"/>
                </a:rPr>
                <a:t>Elaboración y presentación de informes de resultados por los responsables de cada prueba</a:t>
              </a:r>
              <a:endParaRPr lang="es-SV" sz="900" noProof="0" dirty="0">
                <a:latin typeface="+mj-lt"/>
              </a:endParaRPr>
            </a:p>
            <a:p>
              <a:pPr marL="0" indent="0" algn="just">
                <a:buNone/>
              </a:pP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1. Gerente de Sistemas</a:t>
              </a:r>
              <a:endParaRPr lang="es-SV" sz="1000" noProof="0" dirty="0">
                <a:latin typeface="+mj-lt"/>
              </a:endParaRPr>
            </a:p>
          </p:txBody>
        </p:sp>
      </p:grpSp>
      <p:sp>
        <p:nvSpPr>
          <p:cNvPr id="44" name="Shape 33"/>
          <p:cNvSpPr/>
          <p:nvPr/>
        </p:nvSpPr>
        <p:spPr>
          <a:xfrm>
            <a:off x="7460767" y="4581144"/>
            <a:ext cx="365760" cy="365760"/>
          </a:xfrm>
          <a:prstGeom prst="ellipse">
            <a:avLst/>
          </a:prstGeom>
          <a:solidFill>
            <a:srgbClr val="F5B841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5" name="Text 34"/>
          <p:cNvSpPr txBox="1"/>
          <p:nvPr/>
        </p:nvSpPr>
        <p:spPr>
          <a:xfrm>
            <a:off x="7460767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200" b="1" noProof="0" dirty="0">
                <a:solidFill>
                  <a:srgbClr val="0B1220"/>
                </a:solidFill>
              </a:rPr>
              <a:t>3</a:t>
            </a:r>
            <a:endParaRPr lang="es-SV" sz="1200" noProof="0" dirty="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47DE344E-2F1C-E246-453D-334E098089AD}"/>
              </a:ext>
            </a:extLst>
          </p:cNvPr>
          <p:cNvGrpSpPr/>
          <p:nvPr/>
        </p:nvGrpSpPr>
        <p:grpSpPr>
          <a:xfrm>
            <a:off x="6303783" y="5056632"/>
            <a:ext cx="2679729" cy="1600200"/>
            <a:chOff x="5443789" y="5029200"/>
            <a:chExt cx="2145731" cy="1600200"/>
          </a:xfrm>
        </p:grpSpPr>
        <p:sp>
          <p:nvSpPr>
            <p:cNvPr id="46" name="Shape 35"/>
            <p:cNvSpPr/>
            <p:nvPr/>
          </p:nvSpPr>
          <p:spPr>
            <a:xfrm>
              <a:off x="5443789" y="5029200"/>
              <a:ext cx="2145731" cy="1600200"/>
            </a:xfrm>
            <a:prstGeom prst="roundRect">
              <a:avLst>
                <a:gd name="adj" fmla="val 4571"/>
              </a:avLst>
            </a:prstGeom>
            <a:solidFill>
              <a:srgbClr val="16233A"/>
            </a:solidFill>
            <a:ln w="9525">
              <a:solidFill>
                <a:srgbClr val="16233A"/>
              </a:solidFill>
              <a:prstDash val="solid"/>
            </a:ln>
            <a:effectLst>
              <a:outerShdw blurRad="76200" dist="1905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s-SV" noProof="0" dirty="0"/>
            </a:p>
          </p:txBody>
        </p:sp>
        <p:sp>
          <p:nvSpPr>
            <p:cNvPr id="47" name="Text 36"/>
            <p:cNvSpPr txBox="1"/>
            <p:nvPr/>
          </p:nvSpPr>
          <p:spPr>
            <a:xfrm>
              <a:off x="5553516" y="5102352"/>
              <a:ext cx="1984676" cy="1481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spcAft>
                  <a:spcPts val="300"/>
                </a:spcAft>
                <a:buNone/>
              </a:pPr>
              <a:r>
                <a:rPr lang="es-SV" sz="1000" b="1" noProof="0" dirty="0">
                  <a:solidFill>
                    <a:srgbClr val="F5B841"/>
                  </a:solidFill>
                  <a:latin typeface="+mj-lt"/>
                </a:rPr>
                <a:t>Noviembre 2026</a:t>
              </a:r>
              <a:endParaRPr lang="es-SV" sz="1000" noProof="0" dirty="0">
                <a:latin typeface="+mj-lt"/>
              </a:endParaRPr>
            </a:p>
            <a:p>
              <a:pPr marL="0" indent="0" algn="just">
                <a:spcAft>
                  <a:spcPts val="400"/>
                </a:spcAft>
                <a:buNone/>
              </a:pPr>
              <a:r>
                <a:rPr lang="es-SV" sz="900" b="1" noProof="0" dirty="0">
                  <a:solidFill>
                    <a:srgbClr val="FFFFFF"/>
                  </a:solidFill>
                  <a:latin typeface="+mj-lt"/>
                </a:rPr>
                <a:t>Reunión Equipo de Respuesta a Incidentes sobre los resultados de las pruebas</a:t>
              </a:r>
              <a:endParaRPr lang="es-SV" sz="1000" noProof="0" dirty="0">
                <a:latin typeface="+mj-lt"/>
              </a:endParaRPr>
            </a:p>
            <a:p>
              <a:pPr marL="0" indent="0" algn="just">
                <a:buNone/>
              </a:pP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1. Gerente General  2. Gerente de Sistemas  3. Sub Gerente de Canales  4. Coordinador de Programa de transformación Digital  5. Jefe de Soporte </a:t>
              </a:r>
              <a:r>
                <a:rPr lang="es-SV" sz="800" noProof="0" dirty="0" err="1">
                  <a:solidFill>
                    <a:srgbClr val="9FB0C6"/>
                  </a:solidFill>
                  <a:latin typeface="+mj-lt"/>
                </a:rPr>
                <a:t>Tecnico</a:t>
              </a: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.  6. Jefes de </a:t>
              </a:r>
              <a:r>
                <a:rPr lang="es-SV" sz="800" noProof="0" dirty="0" err="1">
                  <a:solidFill>
                    <a:srgbClr val="9FB0C6"/>
                  </a:solidFill>
                  <a:latin typeface="+mj-lt"/>
                </a:rPr>
                <a:t>Analisis</a:t>
              </a: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 y </a:t>
              </a:r>
              <a:r>
                <a:rPr lang="es-SV" sz="800" noProof="0" dirty="0" err="1">
                  <a:solidFill>
                    <a:srgbClr val="9FB0C6"/>
                  </a:solidFill>
                  <a:latin typeface="+mj-lt"/>
                </a:rPr>
                <a:t>Programacion</a:t>
              </a:r>
              <a:r>
                <a:rPr lang="es-SV" sz="800" noProof="0" dirty="0">
                  <a:solidFill>
                    <a:srgbClr val="9FB0C6"/>
                  </a:solidFill>
                  <a:latin typeface="+mj-lt"/>
                </a:rPr>
                <a:t>  7. Administrador de Base de Datos  8. Jefe de Servicios Generales  9. Coordinador de Monitoreo  10. Jefe de Seguridad de la Información y Ciberseguridad  11. Auditor Interno  12. Jefe de Administración de Riesgos</a:t>
              </a:r>
              <a:endParaRPr lang="es-SV" sz="1000" noProof="0" dirty="0">
                <a:latin typeface="+mj-lt"/>
              </a:endParaRPr>
            </a:p>
          </p:txBody>
        </p:sp>
      </p:grpSp>
      <p:sp>
        <p:nvSpPr>
          <p:cNvPr id="48" name="Shape 37"/>
          <p:cNvSpPr/>
          <p:nvPr/>
        </p:nvSpPr>
        <p:spPr>
          <a:xfrm>
            <a:off x="10379887" y="4581144"/>
            <a:ext cx="365760" cy="365760"/>
          </a:xfrm>
          <a:prstGeom prst="ellipse">
            <a:avLst/>
          </a:prstGeom>
          <a:solidFill>
            <a:srgbClr val="F5B841"/>
          </a:solidFill>
          <a:ln w="254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s-SV" noProof="0" dirty="0"/>
          </a:p>
        </p:txBody>
      </p:sp>
      <p:sp>
        <p:nvSpPr>
          <p:cNvPr id="49" name="Text 38"/>
          <p:cNvSpPr txBox="1"/>
          <p:nvPr/>
        </p:nvSpPr>
        <p:spPr>
          <a:xfrm>
            <a:off x="10379887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SV" sz="1200" b="1" noProof="0" dirty="0">
                <a:solidFill>
                  <a:srgbClr val="0B1220"/>
                </a:solidFill>
              </a:rPr>
              <a:t>4</a:t>
            </a:r>
            <a:endParaRPr lang="es-SV" sz="1200" noProof="0" dirty="0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163A99E2-5369-B338-AD3C-04C1EDE2FD54}"/>
              </a:ext>
            </a:extLst>
          </p:cNvPr>
          <p:cNvGrpSpPr/>
          <p:nvPr/>
        </p:nvGrpSpPr>
        <p:grpSpPr>
          <a:xfrm>
            <a:off x="9222903" y="5052060"/>
            <a:ext cx="2679729" cy="1600200"/>
            <a:chOff x="7726680" y="5029200"/>
            <a:chExt cx="2145731" cy="1600200"/>
          </a:xfrm>
        </p:grpSpPr>
        <p:sp>
          <p:nvSpPr>
            <p:cNvPr id="50" name="Shape 39"/>
            <p:cNvSpPr/>
            <p:nvPr/>
          </p:nvSpPr>
          <p:spPr>
            <a:xfrm>
              <a:off x="7726680" y="5029200"/>
              <a:ext cx="2145731" cy="1600200"/>
            </a:xfrm>
            <a:prstGeom prst="roundRect">
              <a:avLst>
                <a:gd name="adj" fmla="val 4571"/>
              </a:avLst>
            </a:prstGeom>
            <a:solidFill>
              <a:srgbClr val="16233A"/>
            </a:solidFill>
            <a:ln w="9525">
              <a:solidFill>
                <a:srgbClr val="16233A"/>
              </a:solidFill>
              <a:prstDash val="solid"/>
            </a:ln>
            <a:effectLst>
              <a:outerShdw blurRad="76200" dist="19050" dir="5400000" algn="bl" rotWithShape="0">
                <a:srgbClr val="000000">
                  <a:alpha val="35000"/>
                </a:srgbClr>
              </a:outerShdw>
            </a:effectLst>
          </p:spPr>
          <p:txBody>
            <a:bodyPr/>
            <a:lstStyle/>
            <a:p>
              <a:endParaRPr lang="es-SV" noProof="0" dirty="0"/>
            </a:p>
          </p:txBody>
        </p:sp>
        <p:sp>
          <p:nvSpPr>
            <p:cNvPr id="51" name="Text 40"/>
            <p:cNvSpPr txBox="1"/>
            <p:nvPr/>
          </p:nvSpPr>
          <p:spPr>
            <a:xfrm>
              <a:off x="7836408" y="5102352"/>
              <a:ext cx="1926275" cy="14813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just">
                <a:spcAft>
                  <a:spcPts val="300"/>
                </a:spcAft>
                <a:buNone/>
              </a:pPr>
              <a:r>
                <a:rPr lang="es-SV" sz="1050" b="1" noProof="0" dirty="0">
                  <a:solidFill>
                    <a:srgbClr val="F5B841"/>
                  </a:solidFill>
                  <a:latin typeface="+mj-lt"/>
                </a:rPr>
                <a:t>Diciembre 2026</a:t>
              </a:r>
              <a:endParaRPr lang="es-SV" sz="1050" noProof="0" dirty="0">
                <a:latin typeface="+mj-lt"/>
              </a:endParaRPr>
            </a:p>
            <a:p>
              <a:pPr marL="0" indent="0" algn="just">
                <a:spcAft>
                  <a:spcPts val="400"/>
                </a:spcAft>
                <a:buNone/>
              </a:pPr>
              <a:r>
                <a:rPr lang="es-SV" sz="1000" b="1" noProof="0" dirty="0">
                  <a:solidFill>
                    <a:srgbClr val="FFFFFF"/>
                  </a:solidFill>
                  <a:latin typeface="+mj-lt"/>
                </a:rPr>
                <a:t>Informes de resultados de la prueba</a:t>
              </a:r>
              <a:endParaRPr lang="es-SV" sz="1050" noProof="0" dirty="0">
                <a:latin typeface="+mj-lt"/>
              </a:endParaRPr>
            </a:p>
            <a:p>
              <a:pPr marL="0" indent="0" algn="just">
                <a:buNone/>
              </a:pPr>
              <a:r>
                <a:rPr lang="es-SV" sz="900" noProof="0" dirty="0">
                  <a:solidFill>
                    <a:srgbClr val="9FB0C6"/>
                  </a:solidFill>
                  <a:latin typeface="+mj-lt"/>
                </a:rPr>
                <a:t>Jefe de Administración de Riesgos</a:t>
              </a:r>
              <a:endParaRPr lang="es-SV" sz="1050" noProof="0" dirty="0">
                <a:latin typeface="+mj-lt"/>
              </a:endParaRPr>
            </a:p>
          </p:txBody>
        </p:sp>
      </p:grpSp>
      <p:sp>
        <p:nvSpPr>
          <p:cNvPr id="53" name="Freeform 11">
            <a:extLst>
              <a:ext uri="{FF2B5EF4-FFF2-40B4-BE49-F238E27FC236}">
                <a16:creationId xmlns:a16="http://schemas.microsoft.com/office/drawing/2014/main" id="{75E927EE-8E7A-544A-FC27-B58EC66527C6}"/>
              </a:ext>
            </a:extLst>
          </p:cNvPr>
          <p:cNvSpPr/>
          <p:nvPr/>
        </p:nvSpPr>
        <p:spPr>
          <a:xfrm>
            <a:off x="10138847" y="-99476"/>
            <a:ext cx="1759347" cy="1219616"/>
          </a:xfrm>
          <a:custGeom>
            <a:avLst/>
            <a:gdLst/>
            <a:ahLst/>
            <a:cxnLst/>
            <a:rect l="l" t="t" r="r" b="b"/>
            <a:pathLst>
              <a:path w="5067635" h="3714752">
                <a:moveTo>
                  <a:pt x="0" y="0"/>
                </a:moveTo>
                <a:lnTo>
                  <a:pt x="5067636" y="0"/>
                </a:lnTo>
                <a:lnTo>
                  <a:pt x="5067636" y="3714751"/>
                </a:lnTo>
                <a:lnTo>
                  <a:pt x="0" y="3714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SV" sz="1200" noProof="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760</Words>
  <Application>Microsoft Office PowerPoint</Application>
  <PresentationFormat>Panorámica</PresentationFormat>
  <Paragraphs>94</Paragraphs>
  <Slides>3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FORMULARIO GUIÓN DE PRUEBAS DE CONTINUIDAD DEL NEGOCIO</dc:title>
  <dc:subject>PptxGenJS Presentation</dc:subject>
  <dc:creator>PptxGenJS</dc:creator>
  <cp:lastModifiedBy>Hector Jose Menjivar Somoza</cp:lastModifiedBy>
  <cp:revision>2</cp:revision>
  <dcterms:created xsi:type="dcterms:W3CDTF">2026-10-22T15:58:00Z</dcterms:created>
  <dcterms:modified xsi:type="dcterms:W3CDTF">2026-10-22T16:42:58Z</dcterms:modified>
</cp:coreProperties>
</file>