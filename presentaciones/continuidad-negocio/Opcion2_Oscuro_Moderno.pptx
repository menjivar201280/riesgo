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3566160" cy="5943600"/>
          </a:xfrm>
          <a:prstGeom prst="roundRect">
            <a:avLst>
              <a:gd name="adj" fmla="val 2051"/>
            </a:avLst>
          </a:prstGeom>
          <a:solidFill>
            <a:srgbClr val="1E2F4D"/>
          </a:solidFill>
          <a:ln w="9525">
            <a:solidFill>
              <a:srgbClr val="1E2F4D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31520" y="731520"/>
            <a:ext cx="640080" cy="64008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897941"/>
            <a:ext cx="307238" cy="30723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554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FORMULARIO GUIÓN DE PRUEBAS DE CONTINUIDAD DEL NEGOCIO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0632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C8F0"/>
                </a:solidFill>
              </a:rPr>
              <a:t>Evaluación de Continuidad y Desempeño del Proveedor Crítico de Comunicaciones ante Interrupción Simulada de Conectividad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114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8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DE LAS PRUEBAS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31520" y="4462272"/>
            <a:ext cx="292608" cy="292608"/>
          </a:xfrm>
          <a:prstGeom prst="ellipse">
            <a:avLst/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98" y="4538350"/>
            <a:ext cx="140452" cy="1404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15568" y="4462272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6"/>
                </a:solidFill>
              </a:rPr>
              <a:t>Fecha de ejecución de prueba:  </a:t>
            </a:r>
            <a:pPr indent="0" marL="0">
              <a:buNone/>
            </a:pPr>
            <a:r>
              <a:rPr lang="en-US" sz="950" dirty="0">
                <a:solidFill>
                  <a:srgbClr val="5B6B84"/>
                </a:solidFill>
              </a:rPr>
              <a:t>________________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731520" y="4837176"/>
            <a:ext cx="292608" cy="292608"/>
          </a:xfrm>
          <a:prstGeom prst="ellipse">
            <a:avLst/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598" y="4913254"/>
            <a:ext cx="140452" cy="14045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15568" y="4837176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6"/>
                </a:solidFill>
              </a:rPr>
              <a:t>Tipo de prueba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Simulación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731520" y="5212080"/>
            <a:ext cx="292608" cy="292608"/>
          </a:xfrm>
          <a:prstGeom prst="ellipse">
            <a:avLst/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598" y="5288158"/>
            <a:ext cx="140452" cy="14045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15568" y="52120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6"/>
                </a:solidFill>
              </a:rPr>
              <a:t>Hora de inicio:  </a:t>
            </a:r>
            <a:pPr indent="0" marL="0">
              <a:buNone/>
            </a:pPr>
            <a:r>
              <a:rPr lang="en-US" sz="950" dirty="0">
                <a:solidFill>
                  <a:srgbClr val="5B6B84"/>
                </a:solidFill>
              </a:rPr>
              <a:t>________________</a:t>
            </a:r>
            <a:endParaRPr lang="en-US" sz="900" dirty="0"/>
          </a:p>
        </p:txBody>
      </p:sp>
      <p:sp>
        <p:nvSpPr>
          <p:cNvPr id="17" name="Shape 11"/>
          <p:cNvSpPr/>
          <p:nvPr/>
        </p:nvSpPr>
        <p:spPr>
          <a:xfrm>
            <a:off x="731520" y="5586984"/>
            <a:ext cx="292608" cy="292608"/>
          </a:xfrm>
          <a:prstGeom prst="ellipse">
            <a:avLst/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598" y="5663062"/>
            <a:ext cx="140452" cy="14045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115568" y="5586984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6"/>
                </a:solidFill>
              </a:rPr>
              <a:t>Lugar de Ejecución:  </a:t>
            </a:r>
            <a:pPr indent="0" marL="0">
              <a:buNone/>
            </a:pPr>
            <a:r>
              <a:rPr lang="en-US" sz="950" dirty="0">
                <a:solidFill>
                  <a:srgbClr val="5B6B84"/>
                </a:solidFill>
              </a:rPr>
              <a:t>________________</a:t>
            </a:r>
            <a:endParaRPr lang="en-US" sz="900" dirty="0"/>
          </a:p>
        </p:txBody>
      </p:sp>
      <p:sp>
        <p:nvSpPr>
          <p:cNvPr id="20" name="Shape 13"/>
          <p:cNvSpPr/>
          <p:nvPr/>
        </p:nvSpPr>
        <p:spPr>
          <a:xfrm>
            <a:off x="731520" y="5961888"/>
            <a:ext cx="292608" cy="292608"/>
          </a:xfrm>
          <a:prstGeom prst="ellipse">
            <a:avLst/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598" y="6037966"/>
            <a:ext cx="140452" cy="140452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115568" y="596188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6"/>
                </a:solidFill>
              </a:rPr>
              <a:t>Hora de fin:  </a:t>
            </a:r>
            <a:pPr indent="0" marL="0">
              <a:buNone/>
            </a:pPr>
            <a:r>
              <a:rPr lang="en-US" sz="950" dirty="0">
                <a:solidFill>
                  <a:srgbClr val="5B6B84"/>
                </a:solidFill>
              </a:rPr>
              <a:t>________________</a:t>
            </a:r>
            <a:endParaRPr lang="en-US" sz="900" dirty="0"/>
          </a:p>
        </p:txBody>
      </p:sp>
      <p:sp>
        <p:nvSpPr>
          <p:cNvPr id="23" name="Shape 15"/>
          <p:cNvSpPr/>
          <p:nvPr/>
        </p:nvSpPr>
        <p:spPr>
          <a:xfrm>
            <a:off x="4206240" y="457200"/>
            <a:ext cx="3672688" cy="1371600"/>
          </a:xfrm>
          <a:prstGeom prst="roundRect">
            <a:avLst>
              <a:gd name="adj" fmla="val 5333"/>
            </a:avLst>
          </a:prstGeom>
          <a:solidFill>
            <a:srgbClr val="16233A"/>
          </a:solidFill>
          <a:ln w="9525">
            <a:solidFill>
              <a:srgbClr val="16233A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3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4370832" y="621792"/>
            <a:ext cx="365760" cy="36576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prstDash val="solid"/>
          </a:ln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930" y="716890"/>
            <a:ext cx="175565" cy="175565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4828032" y="585216"/>
            <a:ext cx="28954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B8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PRUEBA</a:t>
            </a:r>
            <a:endParaRPr lang="en-US" sz="950" dirty="0"/>
          </a:p>
        </p:txBody>
      </p:sp>
      <p:sp>
        <p:nvSpPr>
          <p:cNvPr id="27" name="Text 18"/>
          <p:cNvSpPr txBox="1"/>
          <p:nvPr/>
        </p:nvSpPr>
        <p:spPr>
          <a:xfrm>
            <a:off x="4389120" y="1115568"/>
            <a:ext cx="3306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EF6"/>
                </a:solidFill>
              </a:rPr>
              <a:t>Validar la capacidad de respuesta y recuperación del proveedor crítico de comunicaciones, así como la efectividad de los mecanismos alternos implementados por COMEDICA.</a:t>
            </a:r>
            <a:endParaRPr lang="en-US" sz="950" dirty="0"/>
          </a:p>
        </p:txBody>
      </p:sp>
      <p:sp>
        <p:nvSpPr>
          <p:cNvPr id="28" name="Shape 19"/>
          <p:cNvSpPr/>
          <p:nvPr/>
        </p:nvSpPr>
        <p:spPr>
          <a:xfrm>
            <a:off x="8061808" y="457200"/>
            <a:ext cx="3672688" cy="1371600"/>
          </a:xfrm>
          <a:prstGeom prst="roundRect">
            <a:avLst>
              <a:gd name="adj" fmla="val 5333"/>
            </a:avLst>
          </a:prstGeom>
          <a:solidFill>
            <a:srgbClr val="16233A"/>
          </a:solidFill>
          <a:ln w="9525">
            <a:solidFill>
              <a:srgbClr val="16233A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35000"/>
              </a:srgbClr>
            </a:outerShdw>
          </a:effectLst>
        </p:spPr>
      </p:sp>
      <p:sp>
        <p:nvSpPr>
          <p:cNvPr id="29" name="Shape 20"/>
          <p:cNvSpPr/>
          <p:nvPr/>
        </p:nvSpPr>
        <p:spPr>
          <a:xfrm>
            <a:off x="8226400" y="621792"/>
            <a:ext cx="365760" cy="36576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prstDash val="solid"/>
          </a:ln>
        </p:spPr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21497" y="716890"/>
            <a:ext cx="175565" cy="175565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8683600" y="585216"/>
            <a:ext cx="28954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B8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ESCENARIO DE INTERRUPCIÓN</a:t>
            </a:r>
            <a:endParaRPr lang="en-US" sz="950" dirty="0"/>
          </a:p>
        </p:txBody>
      </p:sp>
      <p:sp>
        <p:nvSpPr>
          <p:cNvPr id="32" name="Text 22"/>
          <p:cNvSpPr txBox="1"/>
          <p:nvPr/>
        </p:nvSpPr>
        <p:spPr>
          <a:xfrm>
            <a:off x="8244688" y="1115568"/>
            <a:ext cx="3306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EF6"/>
                </a:solidFill>
              </a:rPr>
              <a:t>Se simulará una interrupción de los servicios de comunicación proporcionados por el proveedor crítico, afectando la conectividad y disponibilidad de los servicios dependientes de dicha infraestructura.</a:t>
            </a:r>
            <a:endParaRPr lang="en-US" sz="950" dirty="0"/>
          </a:p>
        </p:txBody>
      </p:sp>
      <p:sp>
        <p:nvSpPr>
          <p:cNvPr id="33" name="Shape 23"/>
          <p:cNvSpPr/>
          <p:nvPr/>
        </p:nvSpPr>
        <p:spPr>
          <a:xfrm>
            <a:off x="4206240" y="1965960"/>
            <a:ext cx="3672688" cy="2560320"/>
          </a:xfrm>
          <a:prstGeom prst="roundRect">
            <a:avLst>
              <a:gd name="adj" fmla="val 2857"/>
            </a:avLst>
          </a:prstGeom>
          <a:solidFill>
            <a:srgbClr val="16233A"/>
          </a:solidFill>
          <a:ln w="9525">
            <a:solidFill>
              <a:srgbClr val="16233A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35000"/>
              </a:srgbClr>
            </a:outerShdw>
          </a:effectLst>
        </p:spPr>
      </p:sp>
      <p:sp>
        <p:nvSpPr>
          <p:cNvPr id="34" name="Shape 24"/>
          <p:cNvSpPr/>
          <p:nvPr/>
        </p:nvSpPr>
        <p:spPr>
          <a:xfrm>
            <a:off x="4370832" y="2130552"/>
            <a:ext cx="365760" cy="36576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prstDash val="solid"/>
          </a:ln>
        </p:spPr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65930" y="2225650"/>
            <a:ext cx="175565" cy="175565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4828032" y="2093976"/>
            <a:ext cx="28954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B8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</a:t>
            </a:r>
            <a:endParaRPr lang="en-US" sz="950" dirty="0"/>
          </a:p>
        </p:txBody>
      </p:sp>
      <p:sp>
        <p:nvSpPr>
          <p:cNvPr id="37" name="Text 26"/>
          <p:cNvSpPr txBox="1"/>
          <p:nvPr/>
        </p:nvSpPr>
        <p:spPr>
          <a:xfrm>
            <a:off x="4389120" y="2624328"/>
            <a:ext cx="33069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8EEF6"/>
                </a:solidFill>
              </a:rPr>
              <a:t>Verificar que Agencia Plaza Mundo puedan continuar realizando transacciones durante la interrupción simulada.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8EEF6"/>
                </a:solidFill>
              </a:rPr>
              <a:t>Validar la disponibilidad de los servicios tecnológicos mediante los mecanismos alternos de comunicación.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8EEF6"/>
                </a:solidFill>
              </a:rPr>
              <a:t>Confirmar que no existan interrupciones que afecten la continuidad de la transaccionalidad.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8EEF6"/>
                </a:solidFill>
              </a:rPr>
              <a:t>Verificar que todas las transacciones sean enviadas correctamente hacia la infraestructura tecnológica institucional.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8EEF6"/>
                </a:solidFill>
              </a:rPr>
              <a:t>Validar la impresión de comprobantes y reportes durante la contingencia.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8EEF6"/>
                </a:solidFill>
              </a:rPr>
              <a:t>Evaluar el tiempo de respuesta y recuperación del proveedor crítico de comunicaciones.</a:t>
            </a:r>
            <a:endParaRPr lang="en-US" sz="900" dirty="0"/>
          </a:p>
        </p:txBody>
      </p:sp>
      <p:sp>
        <p:nvSpPr>
          <p:cNvPr id="38" name="Shape 27"/>
          <p:cNvSpPr/>
          <p:nvPr/>
        </p:nvSpPr>
        <p:spPr>
          <a:xfrm>
            <a:off x="8061808" y="1965960"/>
            <a:ext cx="3672688" cy="2560320"/>
          </a:xfrm>
          <a:prstGeom prst="roundRect">
            <a:avLst>
              <a:gd name="adj" fmla="val 2857"/>
            </a:avLst>
          </a:prstGeom>
          <a:solidFill>
            <a:srgbClr val="16233A"/>
          </a:solidFill>
          <a:ln w="9525">
            <a:solidFill>
              <a:srgbClr val="16233A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35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8226400" y="2130552"/>
            <a:ext cx="365760" cy="36576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prstDash val="solid"/>
          </a:ln>
        </p:spPr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21497" y="2225650"/>
            <a:ext cx="175565" cy="175565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8683600" y="2093976"/>
            <a:ext cx="28954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B8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METODOLOGÍA A USAR EN LA EJECUCIÓN DE LA PRUEBA</a:t>
            </a:r>
            <a:endParaRPr lang="en-US" sz="950" dirty="0"/>
          </a:p>
        </p:txBody>
      </p:sp>
      <p:sp>
        <p:nvSpPr>
          <p:cNvPr id="42" name="Shape 30"/>
          <p:cNvSpPr/>
          <p:nvPr/>
        </p:nvSpPr>
        <p:spPr>
          <a:xfrm>
            <a:off x="8244688" y="2624328"/>
            <a:ext cx="3306928" cy="256032"/>
          </a:xfrm>
          <a:prstGeom prst="roundRect">
            <a:avLst>
              <a:gd name="adj" fmla="val 17857"/>
            </a:avLst>
          </a:prstGeom>
          <a:solidFill>
            <a:srgbClr val="1E2F4D"/>
          </a:solidFill>
          <a:ln w="12700">
            <a:solidFill>
              <a:srgbClr val="1E2F4D"/>
            </a:solidFill>
            <a:prstDash val="solid"/>
          </a:ln>
        </p:spPr>
      </p:sp>
      <p:sp>
        <p:nvSpPr>
          <p:cNvPr id="43" name="Text 31"/>
          <p:cNvSpPr txBox="1"/>
          <p:nvPr/>
        </p:nvSpPr>
        <p:spPr>
          <a:xfrm>
            <a:off x="8317840" y="262432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B841"/>
                </a:solidFill>
              </a:rPr>
              <a:t>1</a:t>
            </a:r>
            <a:endParaRPr lang="en-US" sz="1000" dirty="0"/>
          </a:p>
        </p:txBody>
      </p:sp>
      <p:sp>
        <p:nvSpPr>
          <p:cNvPr id="44" name="Text 32"/>
          <p:cNvSpPr txBox="1"/>
          <p:nvPr/>
        </p:nvSpPr>
        <p:spPr>
          <a:xfrm>
            <a:off x="8564728" y="2624328"/>
            <a:ext cx="294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EF6"/>
                </a:solidFill>
              </a:rPr>
              <a:t>Notificación del incidente.</a:t>
            </a:r>
            <a:endParaRPr lang="en-US" sz="950" dirty="0"/>
          </a:p>
        </p:txBody>
      </p:sp>
      <p:sp>
        <p:nvSpPr>
          <p:cNvPr id="45" name="Shape 33"/>
          <p:cNvSpPr/>
          <p:nvPr/>
        </p:nvSpPr>
        <p:spPr>
          <a:xfrm>
            <a:off x="8244688" y="2935224"/>
            <a:ext cx="3306928" cy="256032"/>
          </a:xfrm>
          <a:prstGeom prst="roundRect">
            <a:avLst>
              <a:gd name="adj" fmla="val 17857"/>
            </a:avLst>
          </a:prstGeom>
          <a:solidFill>
            <a:srgbClr val="1E2F4D"/>
          </a:solidFill>
          <a:ln w="12700">
            <a:solidFill>
              <a:srgbClr val="1E2F4D"/>
            </a:solidFill>
            <a:prstDash val="solid"/>
          </a:ln>
        </p:spPr>
      </p:sp>
      <p:sp>
        <p:nvSpPr>
          <p:cNvPr id="46" name="Text 34"/>
          <p:cNvSpPr txBox="1"/>
          <p:nvPr/>
        </p:nvSpPr>
        <p:spPr>
          <a:xfrm>
            <a:off x="8317840" y="2935224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B841"/>
                </a:solidFill>
              </a:rPr>
              <a:t>2</a:t>
            </a:r>
            <a:endParaRPr lang="en-US" sz="1000" dirty="0"/>
          </a:p>
        </p:txBody>
      </p:sp>
      <p:sp>
        <p:nvSpPr>
          <p:cNvPr id="47" name="Text 35"/>
          <p:cNvSpPr txBox="1"/>
          <p:nvPr/>
        </p:nvSpPr>
        <p:spPr>
          <a:xfrm>
            <a:off x="8564728" y="2935224"/>
            <a:ext cx="294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EF6"/>
                </a:solidFill>
              </a:rPr>
              <a:t>Escalamiento al proveedor.</a:t>
            </a:r>
            <a:endParaRPr lang="en-US" sz="950" dirty="0"/>
          </a:p>
        </p:txBody>
      </p:sp>
      <p:sp>
        <p:nvSpPr>
          <p:cNvPr id="48" name="Shape 36"/>
          <p:cNvSpPr/>
          <p:nvPr/>
        </p:nvSpPr>
        <p:spPr>
          <a:xfrm>
            <a:off x="8244688" y="3246120"/>
            <a:ext cx="3306928" cy="256032"/>
          </a:xfrm>
          <a:prstGeom prst="roundRect">
            <a:avLst>
              <a:gd name="adj" fmla="val 17857"/>
            </a:avLst>
          </a:prstGeom>
          <a:solidFill>
            <a:srgbClr val="1E2F4D"/>
          </a:solidFill>
          <a:ln w="12700">
            <a:solidFill>
              <a:srgbClr val="1E2F4D"/>
            </a:solidFill>
            <a:prstDash val="solid"/>
          </a:ln>
        </p:spPr>
      </p:sp>
      <p:sp>
        <p:nvSpPr>
          <p:cNvPr id="49" name="Text 37"/>
          <p:cNvSpPr txBox="1"/>
          <p:nvPr/>
        </p:nvSpPr>
        <p:spPr>
          <a:xfrm>
            <a:off x="8317840" y="32461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B841"/>
                </a:solidFill>
              </a:rPr>
              <a:t>3</a:t>
            </a:r>
            <a:endParaRPr lang="en-US" sz="1000" dirty="0"/>
          </a:p>
        </p:txBody>
      </p:sp>
      <p:sp>
        <p:nvSpPr>
          <p:cNvPr id="50" name="Text 38"/>
          <p:cNvSpPr txBox="1"/>
          <p:nvPr/>
        </p:nvSpPr>
        <p:spPr>
          <a:xfrm>
            <a:off x="8564728" y="3246120"/>
            <a:ext cx="294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EF6"/>
                </a:solidFill>
              </a:rPr>
              <a:t>Activación de mecanismos alternos de comunicación.</a:t>
            </a:r>
            <a:endParaRPr lang="en-US" sz="950" dirty="0"/>
          </a:p>
        </p:txBody>
      </p:sp>
      <p:sp>
        <p:nvSpPr>
          <p:cNvPr id="51" name="Shape 39"/>
          <p:cNvSpPr/>
          <p:nvPr/>
        </p:nvSpPr>
        <p:spPr>
          <a:xfrm>
            <a:off x="8244688" y="3557016"/>
            <a:ext cx="3306928" cy="256032"/>
          </a:xfrm>
          <a:prstGeom prst="roundRect">
            <a:avLst>
              <a:gd name="adj" fmla="val 17857"/>
            </a:avLst>
          </a:prstGeom>
          <a:solidFill>
            <a:srgbClr val="1E2F4D"/>
          </a:solidFill>
          <a:ln w="12700">
            <a:solidFill>
              <a:srgbClr val="1E2F4D"/>
            </a:solidFill>
            <a:prstDash val="solid"/>
          </a:ln>
        </p:spPr>
      </p:sp>
      <p:sp>
        <p:nvSpPr>
          <p:cNvPr id="52" name="Text 40"/>
          <p:cNvSpPr txBox="1"/>
          <p:nvPr/>
        </p:nvSpPr>
        <p:spPr>
          <a:xfrm>
            <a:off x="8317840" y="3557016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B841"/>
                </a:solidFill>
              </a:rPr>
              <a:t>4</a:t>
            </a:r>
            <a:endParaRPr lang="en-US" sz="1000" dirty="0"/>
          </a:p>
        </p:txBody>
      </p:sp>
      <p:sp>
        <p:nvSpPr>
          <p:cNvPr id="53" name="Text 41"/>
          <p:cNvSpPr txBox="1"/>
          <p:nvPr/>
        </p:nvSpPr>
        <p:spPr>
          <a:xfrm>
            <a:off x="8564728" y="3557016"/>
            <a:ext cx="294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EF6"/>
                </a:solidFill>
              </a:rPr>
              <a:t>Monitoreo de la recuperación.</a:t>
            </a:r>
            <a:endParaRPr lang="en-US" sz="950" dirty="0"/>
          </a:p>
        </p:txBody>
      </p:sp>
      <p:sp>
        <p:nvSpPr>
          <p:cNvPr id="54" name="Shape 42"/>
          <p:cNvSpPr/>
          <p:nvPr/>
        </p:nvSpPr>
        <p:spPr>
          <a:xfrm>
            <a:off x="8244688" y="3867912"/>
            <a:ext cx="3306928" cy="256032"/>
          </a:xfrm>
          <a:prstGeom prst="roundRect">
            <a:avLst>
              <a:gd name="adj" fmla="val 17857"/>
            </a:avLst>
          </a:prstGeom>
          <a:solidFill>
            <a:srgbClr val="1E2F4D"/>
          </a:solidFill>
          <a:ln w="12700">
            <a:solidFill>
              <a:srgbClr val="1E2F4D"/>
            </a:solidFill>
            <a:prstDash val="solid"/>
          </a:ln>
        </p:spPr>
      </p:sp>
      <p:sp>
        <p:nvSpPr>
          <p:cNvPr id="55" name="Text 43"/>
          <p:cNvSpPr txBox="1"/>
          <p:nvPr/>
        </p:nvSpPr>
        <p:spPr>
          <a:xfrm>
            <a:off x="8317840" y="386791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B841"/>
                </a:solidFill>
              </a:rPr>
              <a:t>5</a:t>
            </a:r>
            <a:endParaRPr lang="en-US" sz="1000" dirty="0"/>
          </a:p>
        </p:txBody>
      </p:sp>
      <p:sp>
        <p:nvSpPr>
          <p:cNvPr id="56" name="Text 44"/>
          <p:cNvSpPr txBox="1"/>
          <p:nvPr/>
        </p:nvSpPr>
        <p:spPr>
          <a:xfrm>
            <a:off x="8564728" y="3867912"/>
            <a:ext cx="294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EF6"/>
                </a:solidFill>
              </a:rPr>
              <a:t>Validación de disponibilidad de servicios.</a:t>
            </a:r>
            <a:endParaRPr lang="en-US" sz="950" dirty="0"/>
          </a:p>
        </p:txBody>
      </p:sp>
      <p:sp>
        <p:nvSpPr>
          <p:cNvPr id="57" name="Shape 45"/>
          <p:cNvSpPr/>
          <p:nvPr/>
        </p:nvSpPr>
        <p:spPr>
          <a:xfrm>
            <a:off x="8244688" y="4178808"/>
            <a:ext cx="3306928" cy="256032"/>
          </a:xfrm>
          <a:prstGeom prst="roundRect">
            <a:avLst>
              <a:gd name="adj" fmla="val 17857"/>
            </a:avLst>
          </a:prstGeom>
          <a:solidFill>
            <a:srgbClr val="1E2F4D"/>
          </a:solidFill>
          <a:ln w="12700">
            <a:solidFill>
              <a:srgbClr val="1E2F4D"/>
            </a:solidFill>
            <a:prstDash val="solid"/>
          </a:ln>
        </p:spPr>
      </p:sp>
      <p:sp>
        <p:nvSpPr>
          <p:cNvPr id="58" name="Text 46"/>
          <p:cNvSpPr txBox="1"/>
          <p:nvPr/>
        </p:nvSpPr>
        <p:spPr>
          <a:xfrm>
            <a:off x="8317840" y="417880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B841"/>
                </a:solidFill>
              </a:rPr>
              <a:t>6</a:t>
            </a:r>
            <a:endParaRPr lang="en-US" sz="1000" dirty="0"/>
          </a:p>
        </p:txBody>
      </p:sp>
      <p:sp>
        <p:nvSpPr>
          <p:cNvPr id="59" name="Text 47"/>
          <p:cNvSpPr txBox="1"/>
          <p:nvPr/>
        </p:nvSpPr>
        <p:spPr>
          <a:xfrm>
            <a:off x="8564728" y="4178808"/>
            <a:ext cx="294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EF6"/>
                </a:solidFill>
              </a:rPr>
              <a:t>Documentación de resultados.</a:t>
            </a:r>
            <a:endParaRPr lang="en-US" sz="950" dirty="0"/>
          </a:p>
        </p:txBody>
      </p:sp>
      <p:sp>
        <p:nvSpPr>
          <p:cNvPr id="60" name="Shape 48"/>
          <p:cNvSpPr/>
          <p:nvPr/>
        </p:nvSpPr>
        <p:spPr>
          <a:xfrm>
            <a:off x="4206240" y="4681728"/>
            <a:ext cx="2387498" cy="1719072"/>
          </a:xfrm>
          <a:prstGeom prst="roundRect">
            <a:avLst>
              <a:gd name="adj" fmla="val 4255"/>
            </a:avLst>
          </a:prstGeom>
          <a:solidFill>
            <a:srgbClr val="16233A"/>
          </a:solidFill>
          <a:ln w="9525">
            <a:solidFill>
              <a:srgbClr val="16233A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35000"/>
              </a:srgbClr>
            </a:outerShdw>
          </a:effectLst>
        </p:spPr>
      </p:sp>
      <p:sp>
        <p:nvSpPr>
          <p:cNvPr id="61" name="Shape 49"/>
          <p:cNvSpPr/>
          <p:nvPr/>
        </p:nvSpPr>
        <p:spPr>
          <a:xfrm>
            <a:off x="4370832" y="4846320"/>
            <a:ext cx="365760" cy="36576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prstDash val="solid"/>
          </a:ln>
        </p:spPr>
      </p:sp>
      <p:pic>
        <p:nvPicPr>
          <p:cNvPr id="6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65930" y="4941418"/>
            <a:ext cx="175565" cy="175565"/>
          </a:xfrm>
          <a:prstGeom prst="rect">
            <a:avLst/>
          </a:prstGeom>
        </p:spPr>
      </p:pic>
      <p:sp>
        <p:nvSpPr>
          <p:cNvPr id="63" name="Text 50"/>
          <p:cNvSpPr txBox="1"/>
          <p:nvPr/>
        </p:nvSpPr>
        <p:spPr>
          <a:xfrm>
            <a:off x="4828032" y="4809744"/>
            <a:ext cx="161025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B8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PROCESO, PRODUCTOS Y SERVICIOS A INCLUIR EN LA PRUEBA</a:t>
            </a:r>
            <a:endParaRPr lang="en-US" sz="950" dirty="0"/>
          </a:p>
        </p:txBody>
      </p:sp>
      <p:sp>
        <p:nvSpPr>
          <p:cNvPr id="64" name="Text 51"/>
          <p:cNvSpPr txBox="1"/>
          <p:nvPr/>
        </p:nvSpPr>
        <p:spPr>
          <a:xfrm>
            <a:off x="4389120" y="5340096"/>
            <a:ext cx="202173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EF6"/>
                </a:solidFill>
              </a:rPr>
              <a:t>Conectividad de la Agencia, acceso a sistemas y servicios de comunicación internos y externos.</a:t>
            </a:r>
            <a:endParaRPr lang="en-US" sz="950" dirty="0"/>
          </a:p>
        </p:txBody>
      </p:sp>
      <p:sp>
        <p:nvSpPr>
          <p:cNvPr id="65" name="Shape 52"/>
          <p:cNvSpPr/>
          <p:nvPr/>
        </p:nvSpPr>
        <p:spPr>
          <a:xfrm>
            <a:off x="6776618" y="4681728"/>
            <a:ext cx="2387498" cy="1719072"/>
          </a:xfrm>
          <a:prstGeom prst="roundRect">
            <a:avLst>
              <a:gd name="adj" fmla="val 4255"/>
            </a:avLst>
          </a:prstGeom>
          <a:solidFill>
            <a:srgbClr val="16233A"/>
          </a:solidFill>
          <a:ln w="9525">
            <a:solidFill>
              <a:srgbClr val="16233A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35000"/>
              </a:srgbClr>
            </a:outerShdw>
          </a:effectLst>
        </p:spPr>
      </p:sp>
      <p:sp>
        <p:nvSpPr>
          <p:cNvPr id="66" name="Shape 53"/>
          <p:cNvSpPr/>
          <p:nvPr/>
        </p:nvSpPr>
        <p:spPr>
          <a:xfrm>
            <a:off x="6941210" y="4846320"/>
            <a:ext cx="365760" cy="36576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prstDash val="solid"/>
          </a:ln>
        </p:spPr>
      </p:sp>
      <p:pic>
        <p:nvPicPr>
          <p:cNvPr id="67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36308" y="4941418"/>
            <a:ext cx="175565" cy="175565"/>
          </a:xfrm>
          <a:prstGeom prst="rect">
            <a:avLst/>
          </a:prstGeom>
        </p:spPr>
      </p:pic>
      <p:sp>
        <p:nvSpPr>
          <p:cNvPr id="68" name="Text 54"/>
          <p:cNvSpPr txBox="1"/>
          <p:nvPr/>
        </p:nvSpPr>
        <p:spPr>
          <a:xfrm>
            <a:off x="7398410" y="4809744"/>
            <a:ext cx="161025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B8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CONDICIONES PARA CANCELAR LA PRUEBA</a:t>
            </a:r>
            <a:endParaRPr lang="en-US" sz="950" dirty="0"/>
          </a:p>
        </p:txBody>
      </p:sp>
      <p:sp>
        <p:nvSpPr>
          <p:cNvPr id="69" name="Text 55"/>
          <p:cNvSpPr txBox="1"/>
          <p:nvPr/>
        </p:nvSpPr>
        <p:spPr>
          <a:xfrm>
            <a:off x="6959498" y="5340096"/>
            <a:ext cx="202173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EF6"/>
                </a:solidFill>
              </a:rPr>
              <a:t>Que las afectaciones a la operación normal sean significativas.</a:t>
            </a:r>
            <a:endParaRPr lang="en-US" sz="950" dirty="0"/>
          </a:p>
        </p:txBody>
      </p:sp>
      <p:sp>
        <p:nvSpPr>
          <p:cNvPr id="70" name="Shape 56"/>
          <p:cNvSpPr/>
          <p:nvPr/>
        </p:nvSpPr>
        <p:spPr>
          <a:xfrm>
            <a:off x="9346997" y="4681728"/>
            <a:ext cx="2387498" cy="1719072"/>
          </a:xfrm>
          <a:prstGeom prst="roundRect">
            <a:avLst>
              <a:gd name="adj" fmla="val 4255"/>
            </a:avLst>
          </a:prstGeom>
          <a:solidFill>
            <a:srgbClr val="16233A"/>
          </a:solidFill>
          <a:ln w="9525">
            <a:solidFill>
              <a:srgbClr val="16233A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35000"/>
              </a:srgbClr>
            </a:outerShdw>
          </a:effectLst>
        </p:spPr>
      </p:sp>
      <p:sp>
        <p:nvSpPr>
          <p:cNvPr id="71" name="Shape 57"/>
          <p:cNvSpPr/>
          <p:nvPr/>
        </p:nvSpPr>
        <p:spPr>
          <a:xfrm>
            <a:off x="9511589" y="4846320"/>
            <a:ext cx="365760" cy="36576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prstDash val="solid"/>
          </a:ln>
        </p:spPr>
      </p:sp>
      <p:pic>
        <p:nvPicPr>
          <p:cNvPr id="7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06686" y="4941418"/>
            <a:ext cx="175565" cy="175565"/>
          </a:xfrm>
          <a:prstGeom prst="rect">
            <a:avLst/>
          </a:prstGeom>
        </p:spPr>
      </p:pic>
      <p:sp>
        <p:nvSpPr>
          <p:cNvPr id="73" name="Text 58"/>
          <p:cNvSpPr txBox="1"/>
          <p:nvPr/>
        </p:nvSpPr>
        <p:spPr>
          <a:xfrm>
            <a:off x="9968789" y="4809744"/>
            <a:ext cx="161025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B8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ESPERADOS</a:t>
            </a:r>
            <a:endParaRPr lang="en-US" sz="950" dirty="0"/>
          </a:p>
        </p:txBody>
      </p:sp>
      <p:sp>
        <p:nvSpPr>
          <p:cNvPr id="74" name="Text 59"/>
          <p:cNvSpPr txBox="1"/>
          <p:nvPr/>
        </p:nvSpPr>
        <p:spPr>
          <a:xfrm>
            <a:off x="9529877" y="5340096"/>
            <a:ext cx="202173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EF6"/>
                </a:solidFill>
              </a:rPr>
              <a:t>Validar la capacidad del proveedor para responder y recuperar los servicios de comunicación dentro de los tiempos establecidos, garantizando la continuidad de los procesos críticos y la efectividad de los mecanismos alternos definidos por COMEDICA.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FORMULARIO GUIÓN DE PRUEBAS DE CONTINUIDAD DEL NEGOCIO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5CC8F0"/>
                </a:solidFill>
              </a:rPr>
              <a:t>Evaluación de Continuidad y Desempeño del Proveedor Crítico de Comunicaciones ante Interrupción Simulada de Conectividad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11201400" y="274320"/>
            <a:ext cx="530352" cy="530352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9292" y="412212"/>
            <a:ext cx="254569" cy="25456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7269480" cy="2971800"/>
          </a:xfrm>
          <a:prstGeom prst="roundRect">
            <a:avLst>
              <a:gd name="adj" fmla="val 2462"/>
            </a:avLst>
          </a:prstGeom>
          <a:solidFill>
            <a:srgbClr val="16233A"/>
          </a:solidFill>
          <a:ln w="9525">
            <a:solidFill>
              <a:srgbClr val="16233A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3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21792" y="1097280"/>
            <a:ext cx="347472" cy="347472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135" y="1187623"/>
            <a:ext cx="166787" cy="16678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60704" y="1097280"/>
            <a:ext cx="6492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B8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PARTICIPANTES DE LAS PRUEBAS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444752"/>
          <a:ext cx="69494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9728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5B8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F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5B8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UBICACIÓN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F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5B8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F4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Jefe de Agencia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5CC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Agencia Plaza Mundo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E8EE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Coordinar la ejecución de la prueba en la agencia, comunicar el inicio y finalización del ejercicio y verificar la continuidad de las operaciones.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Cajero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5CC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Agencia Plaza Mundo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E8EE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Ejecutar transacciones de prueba utilizando los procedimientos establecidos y reportar incidencias.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Gerente de Canales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5CC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 Financiero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E8EE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Coordinar la ejecución técnica de la prueba y verificar la continuidad de los servicios de comunicación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Jefe de Operaciones y Soporte Técnico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5CC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 Financiero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E8EE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Coordinar la activación de los mecanismos alternos de conectividad y supervisar la recuperación del servicio.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Jefe de Seguridad de la Informacion y Ciberseguridad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5CC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 Financiero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E8EE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Supervisar la correcta aplicación de los procedimientos establecidos durante la prueba y documentar los hallazgos relacionados con la seguridad de la información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Proveedor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5CC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E8EE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Atender el incidente simulado, ejecutar los procedimientos de recuperación y proporcionar información sobre los tiempos de respuesta y restablecimiento del servicio.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Jefe Administracion de Riesgos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5CC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 Financiero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E8EE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Supervisar la ejecución de la prueba, verificar el cumplimiento del guion y consolidar el informe de resultados.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 Interno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5CC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 Financiero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E8EE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Actuar como observador independiente durante la ejecución de la prueba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D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7863840" y="960120"/>
            <a:ext cx="3870655" cy="2971800"/>
          </a:xfrm>
          <a:prstGeom prst="roundRect">
            <a:avLst>
              <a:gd name="adj" fmla="val 2462"/>
            </a:avLst>
          </a:prstGeom>
          <a:solidFill>
            <a:srgbClr val="16233A"/>
          </a:solidFill>
          <a:ln w="9525">
            <a:solidFill>
              <a:srgbClr val="16233A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35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8028432" y="1097280"/>
            <a:ext cx="347472" cy="347472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8775" y="1187623"/>
            <a:ext cx="166787" cy="166787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467344" y="1097280"/>
            <a:ext cx="3093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B8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OBSERVADORES Y EVALUADORES</a:t>
            </a:r>
            <a:endParaRPr lang="en-US" sz="1100" dirty="0"/>
          </a:p>
        </p:txBody>
      </p:sp>
      <p:sp>
        <p:nvSpPr>
          <p:cNvPr id="14" name="Text 8"/>
          <p:cNvSpPr txBox="1"/>
          <p:nvPr/>
        </p:nvSpPr>
        <p:spPr>
          <a:xfrm>
            <a:off x="8467344" y="137160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9FB0C6"/>
                </a:solidFill>
              </a:rPr>
              <a:t>NOMBRE  ·  CARGO  ·  UBICACIÓN  ·  ROL</a:t>
            </a:r>
            <a:endParaRPr lang="en-US" sz="750" dirty="0"/>
          </a:p>
        </p:txBody>
      </p:sp>
      <p:sp>
        <p:nvSpPr>
          <p:cNvPr id="15" name="Shape 9"/>
          <p:cNvSpPr/>
          <p:nvPr/>
        </p:nvSpPr>
        <p:spPr>
          <a:xfrm>
            <a:off x="8028432" y="1746504"/>
            <a:ext cx="329184" cy="329184"/>
          </a:xfrm>
          <a:prstGeom prst="ellipse">
            <a:avLst/>
          </a:prstGeom>
          <a:solidFill>
            <a:srgbClr val="1E2F4D"/>
          </a:solidFill>
          <a:ln w="12700">
            <a:solidFill>
              <a:srgbClr val="1E2F4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4020" y="1832092"/>
            <a:ext cx="158008" cy="158008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467344" y="16916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Lic. Roque Rafael Reyes</a:t>
            </a:r>
            <a:endParaRPr lang="en-US" sz="900" dirty="0"/>
          </a:p>
          <a:p>
            <a:pPr indent="0" marL="0">
              <a:buNone/>
            </a:pPr>
            <a:r>
              <a:rPr lang="en-US" sz="750" dirty="0">
                <a:solidFill>
                  <a:srgbClr val="5CC8F0"/>
                </a:solidFill>
              </a:rPr>
              <a:t>Gerente General en Funciones  ·  Centro Financiero</a:t>
            </a:r>
            <a:endParaRPr lang="en-US" sz="900" dirty="0"/>
          </a:p>
          <a:p>
            <a:pPr indent="0" marL="0">
              <a:buNone/>
            </a:pPr>
            <a:r>
              <a:rPr lang="en-US" sz="750" dirty="0">
                <a:solidFill>
                  <a:srgbClr val="9FB0C6"/>
                </a:solidFill>
              </a:rPr>
              <a:t>Observar y evaluar la ejecución de la prueba.</a:t>
            </a:r>
            <a:endParaRPr lang="en-US" sz="900" dirty="0"/>
          </a:p>
        </p:txBody>
      </p:sp>
      <p:sp>
        <p:nvSpPr>
          <p:cNvPr id="18" name="Shape 11"/>
          <p:cNvSpPr/>
          <p:nvPr/>
        </p:nvSpPr>
        <p:spPr>
          <a:xfrm>
            <a:off x="8028432" y="2276856"/>
            <a:ext cx="329184" cy="329184"/>
          </a:xfrm>
          <a:prstGeom prst="ellipse">
            <a:avLst/>
          </a:prstGeom>
          <a:solidFill>
            <a:srgbClr val="1E2F4D"/>
          </a:solidFill>
          <a:ln w="12700">
            <a:solidFill>
              <a:srgbClr val="1E2F4D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4020" y="2362444"/>
            <a:ext cx="158008" cy="158008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8467344" y="222199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Lic. Henrry Daniel Escamilla Zaldaña</a:t>
            </a:r>
            <a:endParaRPr lang="en-US" sz="900" dirty="0"/>
          </a:p>
          <a:p>
            <a:pPr indent="0" marL="0">
              <a:buNone/>
            </a:pPr>
            <a:r>
              <a:rPr lang="en-US" sz="750" dirty="0">
                <a:solidFill>
                  <a:srgbClr val="5CC8F0"/>
                </a:solidFill>
              </a:rPr>
              <a:t>Jefe Administracion de Riesgos  ·  Centro Financiero</a:t>
            </a:r>
            <a:endParaRPr lang="en-US" sz="900" dirty="0"/>
          </a:p>
          <a:p>
            <a:pPr indent="0" marL="0">
              <a:buNone/>
            </a:pPr>
            <a:r>
              <a:rPr lang="en-US" sz="750" dirty="0">
                <a:solidFill>
                  <a:srgbClr val="9FB0C6"/>
                </a:solidFill>
              </a:rPr>
              <a:t>Observar y evaluar la ejecución de la prueba.</a:t>
            </a:r>
            <a:endParaRPr lang="en-US" sz="900" dirty="0"/>
          </a:p>
        </p:txBody>
      </p:sp>
      <p:sp>
        <p:nvSpPr>
          <p:cNvPr id="21" name="Shape 13"/>
          <p:cNvSpPr/>
          <p:nvPr/>
        </p:nvSpPr>
        <p:spPr>
          <a:xfrm>
            <a:off x="8028432" y="2807208"/>
            <a:ext cx="329184" cy="329184"/>
          </a:xfrm>
          <a:prstGeom prst="ellipse">
            <a:avLst/>
          </a:prstGeom>
          <a:solidFill>
            <a:srgbClr val="1E2F4D"/>
          </a:solidFill>
          <a:ln w="12700">
            <a:solidFill>
              <a:srgbClr val="1E2F4D"/>
            </a:solidFill>
            <a:prstDash val="solid"/>
          </a:ln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020" y="2892796"/>
            <a:ext cx="158008" cy="158008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8467344" y="2752344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Licda. Silvia de Ramirez</a:t>
            </a:r>
            <a:endParaRPr lang="en-US" sz="900" dirty="0"/>
          </a:p>
          <a:p>
            <a:pPr indent="0" marL="0">
              <a:buNone/>
            </a:pPr>
            <a:r>
              <a:rPr lang="en-US" sz="750" dirty="0">
                <a:solidFill>
                  <a:srgbClr val="5CC8F0"/>
                </a:solidFill>
              </a:rPr>
              <a:t>Analista de Riesgo Operacional  ·  Centro Financiero</a:t>
            </a:r>
            <a:endParaRPr lang="en-US" sz="900" dirty="0"/>
          </a:p>
          <a:p>
            <a:pPr indent="0" marL="0">
              <a:buNone/>
            </a:pPr>
            <a:r>
              <a:rPr lang="en-US" sz="750" dirty="0">
                <a:solidFill>
                  <a:srgbClr val="9FB0C6"/>
                </a:solidFill>
              </a:rPr>
              <a:t>Observar y evaluar la ejecución de la prueba.</a:t>
            </a:r>
            <a:endParaRPr lang="en-US" sz="900" dirty="0"/>
          </a:p>
        </p:txBody>
      </p:sp>
      <p:sp>
        <p:nvSpPr>
          <p:cNvPr id="24" name="Shape 15"/>
          <p:cNvSpPr/>
          <p:nvPr/>
        </p:nvSpPr>
        <p:spPr>
          <a:xfrm>
            <a:off x="8028432" y="3337560"/>
            <a:ext cx="329184" cy="329184"/>
          </a:xfrm>
          <a:prstGeom prst="ellipse">
            <a:avLst/>
          </a:prstGeom>
          <a:solidFill>
            <a:srgbClr val="1E2F4D"/>
          </a:solidFill>
          <a:ln w="12700">
            <a:solidFill>
              <a:srgbClr val="1E2F4D"/>
            </a:solidFill>
            <a:prstDash val="solid"/>
          </a:ln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4020" y="3423148"/>
            <a:ext cx="158008" cy="158008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8467344" y="328269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Licda. Mayeralys Chavez</a:t>
            </a:r>
            <a:endParaRPr lang="en-US" sz="900" dirty="0"/>
          </a:p>
          <a:p>
            <a:pPr indent="0" marL="0">
              <a:buNone/>
            </a:pPr>
            <a:r>
              <a:rPr lang="en-US" sz="750" dirty="0">
                <a:solidFill>
                  <a:srgbClr val="5CC8F0"/>
                </a:solidFill>
              </a:rPr>
              <a:t>Auditor Interno en Funciones  ·  Centro Financiero</a:t>
            </a:r>
            <a:endParaRPr lang="en-US" sz="900" dirty="0"/>
          </a:p>
          <a:p>
            <a:pPr indent="0" marL="0">
              <a:buNone/>
            </a:pPr>
            <a:r>
              <a:rPr lang="en-US" sz="750" dirty="0">
                <a:solidFill>
                  <a:srgbClr val="9FB0C6"/>
                </a:solidFill>
              </a:rPr>
              <a:t>Observar y evaluar la ejecución de la prueba.</a:t>
            </a:r>
            <a:endParaRPr lang="en-US" sz="900" dirty="0"/>
          </a:p>
        </p:txBody>
      </p:sp>
      <p:sp>
        <p:nvSpPr>
          <p:cNvPr id="27" name="Shape 17"/>
          <p:cNvSpPr/>
          <p:nvPr/>
        </p:nvSpPr>
        <p:spPr>
          <a:xfrm>
            <a:off x="457200" y="4142232"/>
            <a:ext cx="347472" cy="347472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prstDash val="solid"/>
          </a:ln>
        </p:spPr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7543" y="4232575"/>
            <a:ext cx="166787" cy="166787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896112" y="4142232"/>
            <a:ext cx="6537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B8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DESCRIPCION DE ACTIVIDADES A REALIZAR</a:t>
            </a:r>
            <a:endParaRPr lang="en-US" sz="1100" dirty="0"/>
          </a:p>
        </p:txBody>
      </p:sp>
      <p:sp>
        <p:nvSpPr>
          <p:cNvPr id="30" name="Text 19"/>
          <p:cNvSpPr txBox="1"/>
          <p:nvPr/>
        </p:nvSpPr>
        <p:spPr>
          <a:xfrm>
            <a:off x="7589520" y="4142232"/>
            <a:ext cx="4142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FB0C6"/>
                </a:solidFill>
              </a:rPr>
              <a:t>No.  ·  Descripción de la Actividad  ·  Responsables  ·  Fecha de Cumplimiento</a:t>
            </a:r>
            <a:endParaRPr lang="en-US" sz="800" dirty="0"/>
          </a:p>
        </p:txBody>
      </p:sp>
      <p:sp>
        <p:nvSpPr>
          <p:cNvPr id="31" name="Shape 20"/>
          <p:cNvSpPr/>
          <p:nvPr/>
        </p:nvSpPr>
        <p:spPr>
          <a:xfrm>
            <a:off x="777240" y="4764024"/>
            <a:ext cx="10637215" cy="0"/>
          </a:xfrm>
          <a:prstGeom prst="line">
            <a:avLst/>
          </a:prstGeom>
          <a:noFill/>
          <a:ln w="19050">
            <a:solidFill>
              <a:srgbClr val="F5B841"/>
            </a:solidFill>
            <a:prstDash val="dash"/>
          </a:ln>
        </p:spPr>
      </p:sp>
      <p:sp>
        <p:nvSpPr>
          <p:cNvPr id="32" name="Shape 21"/>
          <p:cNvSpPr/>
          <p:nvPr/>
        </p:nvSpPr>
        <p:spPr>
          <a:xfrm>
            <a:off x="548640" y="4581144"/>
            <a:ext cx="365760" cy="365760"/>
          </a:xfrm>
          <a:prstGeom prst="ellipse">
            <a:avLst/>
          </a:prstGeom>
          <a:solidFill>
            <a:srgbClr val="F5B841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33" name="Text 22"/>
          <p:cNvSpPr txBox="1"/>
          <p:nvPr/>
        </p:nvSpPr>
        <p:spPr>
          <a:xfrm>
            <a:off x="548640" y="4581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</a:rPr>
              <a:t>1</a:t>
            </a:r>
            <a:endParaRPr lang="en-US" sz="1200" dirty="0"/>
          </a:p>
        </p:txBody>
      </p:sp>
      <p:sp>
        <p:nvSpPr>
          <p:cNvPr id="34" name="Shape 23"/>
          <p:cNvSpPr/>
          <p:nvPr/>
        </p:nvSpPr>
        <p:spPr>
          <a:xfrm>
            <a:off x="457200" y="5074920"/>
            <a:ext cx="2145731" cy="1600200"/>
          </a:xfrm>
          <a:prstGeom prst="roundRect">
            <a:avLst>
              <a:gd name="adj" fmla="val 4571"/>
            </a:avLst>
          </a:prstGeom>
          <a:solidFill>
            <a:srgbClr val="16233A"/>
          </a:solidFill>
          <a:ln w="9525">
            <a:solidFill>
              <a:srgbClr val="16233A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35000"/>
              </a:srgbClr>
            </a:outerShdw>
          </a:effectLst>
        </p:spPr>
      </p:sp>
      <p:sp>
        <p:nvSpPr>
          <p:cNvPr id="35" name="Text 24"/>
          <p:cNvSpPr txBox="1"/>
          <p:nvPr/>
        </p:nvSpPr>
        <p:spPr>
          <a:xfrm>
            <a:off x="566928" y="5148072"/>
            <a:ext cx="1926275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5B841"/>
                </a:solidFill>
              </a:rPr>
              <a:t>Septiembre 2026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FFFFFF"/>
                </a:solidFill>
              </a:rPr>
              <a:t>Reuniones con los líderes de ejecutar el Guión de Pruebas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9FB0C6"/>
                </a:solidFill>
              </a:rPr>
              <a:t>1. Gerente General  2. Gerente de Sistemas  3. Sub Gerente de Canales  4. Coordinador de Programa de transformación Digital  5. Jefe de Soporte Tecnico.  6. Jefes de Analisis y Programacion  7. Administrador de Base de Datos  8. Jefe de Servicios Generales  9. Coordinador de Monitoreo  10. Jefe de Seguridad de la Información y Ciberseguridad  11. Auditor Interno  12. Jefe de Administración de Riesgos</a:t>
            </a:r>
            <a:endParaRPr lang="en-US" sz="900" dirty="0"/>
          </a:p>
        </p:txBody>
      </p:sp>
      <p:sp>
        <p:nvSpPr>
          <p:cNvPr id="36" name="Shape 25"/>
          <p:cNvSpPr/>
          <p:nvPr/>
        </p:nvSpPr>
        <p:spPr>
          <a:xfrm>
            <a:off x="2831531" y="4581144"/>
            <a:ext cx="365760" cy="365760"/>
          </a:xfrm>
          <a:prstGeom prst="ellipse">
            <a:avLst/>
          </a:prstGeom>
          <a:solidFill>
            <a:srgbClr val="F5B841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37" name="Text 26"/>
          <p:cNvSpPr txBox="1"/>
          <p:nvPr/>
        </p:nvSpPr>
        <p:spPr>
          <a:xfrm>
            <a:off x="2831531" y="4581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</a:rPr>
              <a:t>2</a:t>
            </a:r>
            <a:endParaRPr lang="en-US" sz="1200" dirty="0"/>
          </a:p>
        </p:txBody>
      </p:sp>
      <p:sp>
        <p:nvSpPr>
          <p:cNvPr id="38" name="Shape 27"/>
          <p:cNvSpPr/>
          <p:nvPr/>
        </p:nvSpPr>
        <p:spPr>
          <a:xfrm>
            <a:off x="2740091" y="5074920"/>
            <a:ext cx="2145731" cy="1600200"/>
          </a:xfrm>
          <a:prstGeom prst="roundRect">
            <a:avLst>
              <a:gd name="adj" fmla="val 4571"/>
            </a:avLst>
          </a:prstGeom>
          <a:solidFill>
            <a:srgbClr val="16233A"/>
          </a:solidFill>
          <a:ln w="9525">
            <a:solidFill>
              <a:srgbClr val="16233A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35000"/>
              </a:srgbClr>
            </a:outerShdw>
          </a:effectLst>
        </p:spPr>
      </p:sp>
      <p:sp>
        <p:nvSpPr>
          <p:cNvPr id="39" name="Text 28"/>
          <p:cNvSpPr txBox="1"/>
          <p:nvPr/>
        </p:nvSpPr>
        <p:spPr>
          <a:xfrm>
            <a:off x="2849819" y="5148072"/>
            <a:ext cx="1926275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5B841"/>
                </a:solidFill>
              </a:rPr>
              <a:t>Noviembre 2026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FFFFFF"/>
                </a:solidFill>
              </a:rPr>
              <a:t>Ejecución de la Prueba No. 3: Evaluación de Continuidad y Desempeño del Proveedor Crítico de Comunicaciones ante Interrupción Simulada de Conectividad.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9FB0C6"/>
                </a:solidFill>
              </a:rPr>
              <a:t>1. Gerente de Sistemas  2. Sub Gerente de Canales  3. Jefe de Análisis y Programación  4. Jefe de Operaciones y Soporte Técnico  5. Oficial de Seguridad de la Información  6. Jefe de Administracion de Riesgos</a:t>
            </a:r>
            <a:endParaRPr lang="en-US" sz="900" dirty="0"/>
          </a:p>
        </p:txBody>
      </p:sp>
      <p:sp>
        <p:nvSpPr>
          <p:cNvPr id="40" name="Shape 29"/>
          <p:cNvSpPr/>
          <p:nvPr/>
        </p:nvSpPr>
        <p:spPr>
          <a:xfrm>
            <a:off x="5114422" y="4581144"/>
            <a:ext cx="365760" cy="365760"/>
          </a:xfrm>
          <a:prstGeom prst="ellipse">
            <a:avLst/>
          </a:prstGeom>
          <a:solidFill>
            <a:srgbClr val="F5B841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41" name="Text 30"/>
          <p:cNvSpPr txBox="1"/>
          <p:nvPr/>
        </p:nvSpPr>
        <p:spPr>
          <a:xfrm>
            <a:off x="5114422" y="4581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</a:rPr>
              <a:t>3</a:t>
            </a:r>
            <a:endParaRPr lang="en-US" sz="1200" dirty="0"/>
          </a:p>
        </p:txBody>
      </p:sp>
      <p:sp>
        <p:nvSpPr>
          <p:cNvPr id="42" name="Shape 31"/>
          <p:cNvSpPr/>
          <p:nvPr/>
        </p:nvSpPr>
        <p:spPr>
          <a:xfrm>
            <a:off x="5022982" y="5074920"/>
            <a:ext cx="2145731" cy="1600200"/>
          </a:xfrm>
          <a:prstGeom prst="roundRect">
            <a:avLst>
              <a:gd name="adj" fmla="val 4571"/>
            </a:avLst>
          </a:prstGeom>
          <a:solidFill>
            <a:srgbClr val="16233A"/>
          </a:solidFill>
          <a:ln w="9525">
            <a:solidFill>
              <a:srgbClr val="16233A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35000"/>
              </a:srgbClr>
            </a:outerShdw>
          </a:effectLst>
        </p:spPr>
      </p:sp>
      <p:sp>
        <p:nvSpPr>
          <p:cNvPr id="43" name="Text 32"/>
          <p:cNvSpPr txBox="1"/>
          <p:nvPr/>
        </p:nvSpPr>
        <p:spPr>
          <a:xfrm>
            <a:off x="5132710" y="5148072"/>
            <a:ext cx="1926275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5B841"/>
                </a:solidFill>
              </a:rPr>
              <a:t>Noviembre 2026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FFFFFF"/>
                </a:solidFill>
              </a:rPr>
              <a:t>Elaboración y presentación de informes de resultados por los responsables de cada prueba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9FB0C6"/>
                </a:solidFill>
              </a:rPr>
              <a:t>1. Gerente de Sistemas</a:t>
            </a:r>
            <a:endParaRPr lang="en-US" sz="900" dirty="0"/>
          </a:p>
        </p:txBody>
      </p:sp>
      <p:sp>
        <p:nvSpPr>
          <p:cNvPr id="44" name="Shape 33"/>
          <p:cNvSpPr/>
          <p:nvPr/>
        </p:nvSpPr>
        <p:spPr>
          <a:xfrm>
            <a:off x="7397313" y="4581144"/>
            <a:ext cx="365760" cy="365760"/>
          </a:xfrm>
          <a:prstGeom prst="ellipse">
            <a:avLst/>
          </a:prstGeom>
          <a:solidFill>
            <a:srgbClr val="F5B841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45" name="Text 34"/>
          <p:cNvSpPr txBox="1"/>
          <p:nvPr/>
        </p:nvSpPr>
        <p:spPr>
          <a:xfrm>
            <a:off x="7397313" y="4581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</a:rPr>
              <a:t>4</a:t>
            </a:r>
            <a:endParaRPr lang="en-US" sz="1200" dirty="0"/>
          </a:p>
        </p:txBody>
      </p:sp>
      <p:sp>
        <p:nvSpPr>
          <p:cNvPr id="46" name="Shape 35"/>
          <p:cNvSpPr/>
          <p:nvPr/>
        </p:nvSpPr>
        <p:spPr>
          <a:xfrm>
            <a:off x="7305873" y="5074920"/>
            <a:ext cx="2145731" cy="1600200"/>
          </a:xfrm>
          <a:prstGeom prst="roundRect">
            <a:avLst>
              <a:gd name="adj" fmla="val 4571"/>
            </a:avLst>
          </a:prstGeom>
          <a:solidFill>
            <a:srgbClr val="16233A"/>
          </a:solidFill>
          <a:ln w="9525">
            <a:solidFill>
              <a:srgbClr val="16233A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35000"/>
              </a:srgbClr>
            </a:outerShdw>
          </a:effectLst>
        </p:spPr>
      </p:sp>
      <p:sp>
        <p:nvSpPr>
          <p:cNvPr id="47" name="Text 36"/>
          <p:cNvSpPr txBox="1"/>
          <p:nvPr/>
        </p:nvSpPr>
        <p:spPr>
          <a:xfrm>
            <a:off x="7415601" y="5148072"/>
            <a:ext cx="1926275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5B841"/>
                </a:solidFill>
              </a:rPr>
              <a:t>Noviembre 2026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FFFFFF"/>
                </a:solidFill>
              </a:rPr>
              <a:t>Reunión Equipo de Respuesta a Incidentes sobre los resultados de las pruebas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9FB0C6"/>
                </a:solidFill>
              </a:rPr>
              <a:t>1. Gerente General  2. Gerente de Sistemas  3. Sub Gerente de Canales  4. Coordinador de Programa de transformación Digital  5. Jefe de Soporte Tecnico.  6. Jefes de Analisis y Programacion  7. Administrador de Base de Datos  8. Jefe de Servicios Generales  9. Coordinador de Monitoreo  10. Jefe de Seguridad de la Información y Ciberseguridad  11. Auditor Interno  12. Jefe de Administración de Riesgos</a:t>
            </a:r>
            <a:endParaRPr lang="en-US" sz="900" dirty="0"/>
          </a:p>
        </p:txBody>
      </p:sp>
      <p:sp>
        <p:nvSpPr>
          <p:cNvPr id="48" name="Shape 37"/>
          <p:cNvSpPr/>
          <p:nvPr/>
        </p:nvSpPr>
        <p:spPr>
          <a:xfrm>
            <a:off x="9680204" y="4581144"/>
            <a:ext cx="365760" cy="365760"/>
          </a:xfrm>
          <a:prstGeom prst="ellipse">
            <a:avLst/>
          </a:prstGeom>
          <a:solidFill>
            <a:srgbClr val="F5B841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49" name="Text 38"/>
          <p:cNvSpPr txBox="1"/>
          <p:nvPr/>
        </p:nvSpPr>
        <p:spPr>
          <a:xfrm>
            <a:off x="9680204" y="4581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</a:rPr>
              <a:t>5</a:t>
            </a:r>
            <a:endParaRPr lang="en-US" sz="1200" dirty="0"/>
          </a:p>
        </p:txBody>
      </p:sp>
      <p:sp>
        <p:nvSpPr>
          <p:cNvPr id="50" name="Shape 39"/>
          <p:cNvSpPr/>
          <p:nvPr/>
        </p:nvSpPr>
        <p:spPr>
          <a:xfrm>
            <a:off x="9588764" y="5074920"/>
            <a:ext cx="2145731" cy="1600200"/>
          </a:xfrm>
          <a:prstGeom prst="roundRect">
            <a:avLst>
              <a:gd name="adj" fmla="val 4571"/>
            </a:avLst>
          </a:prstGeom>
          <a:solidFill>
            <a:srgbClr val="16233A"/>
          </a:solidFill>
          <a:ln w="9525">
            <a:solidFill>
              <a:srgbClr val="16233A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35000"/>
              </a:srgbClr>
            </a:outerShdw>
          </a:effectLst>
        </p:spPr>
      </p:sp>
      <p:sp>
        <p:nvSpPr>
          <p:cNvPr id="51" name="Text 40"/>
          <p:cNvSpPr txBox="1"/>
          <p:nvPr/>
        </p:nvSpPr>
        <p:spPr>
          <a:xfrm>
            <a:off x="9698492" y="5148072"/>
            <a:ext cx="1926275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5B841"/>
                </a:solidFill>
              </a:rPr>
              <a:t>Diciembre 2026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FFFFFF"/>
                </a:solidFill>
              </a:rPr>
              <a:t>Informes de resultados de la prueba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9FB0C6"/>
                </a:solidFill>
              </a:rPr>
              <a:t>Jefe de Administración de Riesgos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FORMULARIO GUIÓN DE PRUEBAS DE CONTINUIDAD DEL NEGOCIO</dc:title>
  <dc:subject>PptxGenJS Presentation</dc:subject>
  <dc:creator>PptxGenJS</dc:creator>
  <cp:lastModifiedBy>PptxGenJS</cp:lastModifiedBy>
  <cp:revision>1</cp:revision>
  <dcterms:created xsi:type="dcterms:W3CDTF">2026-10-22T15:58:00Z</dcterms:created>
  <dcterms:modified xsi:type="dcterms:W3CDTF">2026-10-22T15:58:00Z</dcterms:modified>
</cp:coreProperties>
</file>