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FORMULARIO GUIÓN DE PRUEBAS DE CONTINUIDAD DEL NEGOCIO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E3E8"/>
                </a:solidFill>
              </a:rPr>
              <a:t>Evaluación de Continuidad y Desempeño del Proveedor Crítico de Comunicaciones ante Interrupción Simulada de Conectividad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4645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4173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LAS PRUEBAS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86000" y="1417320"/>
            <a:ext cx="1779971" cy="640080"/>
          </a:xfrm>
          <a:prstGeom prst="roundRect">
            <a:avLst>
              <a:gd name="adj" fmla="val 11429"/>
            </a:avLst>
          </a:prstGeom>
          <a:solidFill>
            <a:srgbClr val="EEF4F8"/>
          </a:solidFill>
          <a:ln w="9525">
            <a:solidFill>
              <a:srgbClr val="EEF4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77440" y="1572768"/>
            <a:ext cx="329184" cy="329184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028" y="1658356"/>
            <a:ext cx="158008" cy="1580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88920" y="1490472"/>
            <a:ext cx="12130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284B"/>
                </a:solidFill>
              </a:rPr>
              <a:t>Fecha de ejecución de prueba: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</a:rPr>
              <a:t>______________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203131" y="1417320"/>
            <a:ext cx="1779971" cy="640080"/>
          </a:xfrm>
          <a:prstGeom prst="roundRect">
            <a:avLst>
              <a:gd name="adj" fmla="val 11429"/>
            </a:avLst>
          </a:prstGeom>
          <a:solidFill>
            <a:srgbClr val="EEF4F8"/>
          </a:solidFill>
          <a:ln w="9525">
            <a:solidFill>
              <a:srgbClr val="EEF4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94571" y="1572768"/>
            <a:ext cx="329184" cy="329184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159" y="1658356"/>
            <a:ext cx="158008" cy="1580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706051" y="1490472"/>
            <a:ext cx="12130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284B"/>
                </a:solidFill>
              </a:rPr>
              <a:t>Tipo de prueba</a:t>
            </a: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</a:rPr>
              <a:t>Simulación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120262" y="1417320"/>
            <a:ext cx="1779971" cy="640080"/>
          </a:xfrm>
          <a:prstGeom prst="roundRect">
            <a:avLst>
              <a:gd name="adj" fmla="val 11429"/>
            </a:avLst>
          </a:prstGeom>
          <a:solidFill>
            <a:srgbClr val="EEF4F8"/>
          </a:solidFill>
          <a:ln w="9525">
            <a:solidFill>
              <a:srgbClr val="EEF4F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211702" y="1572768"/>
            <a:ext cx="329184" cy="329184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290" y="1658356"/>
            <a:ext cx="158008" cy="1580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23182" y="1490472"/>
            <a:ext cx="12130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284B"/>
                </a:solidFill>
              </a:rPr>
              <a:t>Hora de inicio: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</a:rPr>
              <a:t>______________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8037393" y="1417320"/>
            <a:ext cx="1779971" cy="640080"/>
          </a:xfrm>
          <a:prstGeom prst="roundRect">
            <a:avLst>
              <a:gd name="adj" fmla="val 11429"/>
            </a:avLst>
          </a:prstGeom>
          <a:solidFill>
            <a:srgbClr val="EEF4F8"/>
          </a:solidFill>
          <a:ln w="9525">
            <a:solidFill>
              <a:srgbClr val="EEF4F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128833" y="1572768"/>
            <a:ext cx="329184" cy="329184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421" y="1658356"/>
            <a:ext cx="158008" cy="15800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540313" y="1490472"/>
            <a:ext cx="12130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284B"/>
                </a:solidFill>
              </a:rPr>
              <a:t>Lugar de Ejecución: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</a:rPr>
              <a:t>______________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9954524" y="1417320"/>
            <a:ext cx="1779971" cy="640080"/>
          </a:xfrm>
          <a:prstGeom prst="roundRect">
            <a:avLst>
              <a:gd name="adj" fmla="val 11429"/>
            </a:avLst>
          </a:prstGeom>
          <a:solidFill>
            <a:srgbClr val="EEF4F8"/>
          </a:solidFill>
          <a:ln w="9525">
            <a:solidFill>
              <a:srgbClr val="EEF4F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0045964" y="1572768"/>
            <a:ext cx="329184" cy="329184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1552" y="1658356"/>
            <a:ext cx="158008" cy="15800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0457444" y="1490472"/>
            <a:ext cx="12130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284B"/>
                </a:solidFill>
              </a:rPr>
              <a:t>Hora de fin: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</a:rPr>
              <a:t>______________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57200" y="2240280"/>
            <a:ext cx="366765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94360" y="237744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212" y="2477292"/>
            <a:ext cx="184343" cy="184343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069848" y="2350008"/>
            <a:ext cx="29361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</a:t>
            </a:r>
            <a:pPr indent="0" marL="0">
              <a:buNone/>
            </a:pPr>
            <a:r>
              <a:rPr lang="en-US" sz="10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LA PRUEBA</a:t>
            </a:r>
            <a:endParaRPr lang="en-US" sz="1050" dirty="0"/>
          </a:p>
        </p:txBody>
      </p:sp>
      <p:sp>
        <p:nvSpPr>
          <p:cNvPr id="32" name="Text 23"/>
          <p:cNvSpPr txBox="1"/>
          <p:nvPr/>
        </p:nvSpPr>
        <p:spPr>
          <a:xfrm>
            <a:off x="640080" y="2880360"/>
            <a:ext cx="3301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Validar la capacidad de respuesta y recuperación del proveedor crítico de comunicaciones, así como la efectividad de los mecanismos alternos implementados por COMEDICA.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457200" y="356616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594360" y="370332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212" y="3803172"/>
            <a:ext cx="184343" cy="184343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069848" y="3675888"/>
            <a:ext cx="29361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</a:t>
            </a:r>
            <a:pPr indent="0" marL="0">
              <a:buNone/>
            </a:pPr>
            <a:r>
              <a:rPr lang="en-US" sz="10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 DE INTERRUPCIÓN</a:t>
            </a:r>
            <a:endParaRPr lang="en-US" sz="1050" dirty="0"/>
          </a:p>
        </p:txBody>
      </p:sp>
      <p:sp>
        <p:nvSpPr>
          <p:cNvPr id="37" name="Text 27"/>
          <p:cNvSpPr txBox="1"/>
          <p:nvPr/>
        </p:nvSpPr>
        <p:spPr>
          <a:xfrm>
            <a:off x="640080" y="4206240"/>
            <a:ext cx="3301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Se simulará una interrupción de los servicios de comunicación proporcionados por el proveedor crítico, afectando la conectividad y disponibilidad de los servicios dependientes de dicha infraestructura.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457200" y="4983480"/>
            <a:ext cx="366765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594360" y="512064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212" y="5220492"/>
            <a:ext cx="184343" cy="184343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1069848" y="5093208"/>
            <a:ext cx="29361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 </a:t>
            </a:r>
            <a:pPr indent="0" marL="0">
              <a:buNone/>
            </a:pPr>
            <a:r>
              <a:rPr lang="en-US" sz="10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ESPERADOS</a:t>
            </a:r>
            <a:endParaRPr lang="en-US" sz="1050" dirty="0"/>
          </a:p>
        </p:txBody>
      </p:sp>
      <p:sp>
        <p:nvSpPr>
          <p:cNvPr id="42" name="Text 31"/>
          <p:cNvSpPr txBox="1"/>
          <p:nvPr/>
        </p:nvSpPr>
        <p:spPr>
          <a:xfrm>
            <a:off x="640080" y="5623560"/>
            <a:ext cx="3301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Validar la capacidad del proveedor para responder y recuperar los servicios de comunicación dentro de los tiempos establecidos, garantizando la continuidad de los procesos críticos y la efectividad de los mecanismos alternos definidos por COMEDICA.</a:t>
            </a:r>
            <a:endParaRPr lang="en-US" sz="950" dirty="0"/>
          </a:p>
        </p:txBody>
      </p:sp>
      <p:sp>
        <p:nvSpPr>
          <p:cNvPr id="43" name="Shape 32"/>
          <p:cNvSpPr/>
          <p:nvPr/>
        </p:nvSpPr>
        <p:spPr>
          <a:xfrm>
            <a:off x="4262018" y="2240280"/>
            <a:ext cx="366765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44" name="Shape 33"/>
          <p:cNvSpPr/>
          <p:nvPr/>
        </p:nvSpPr>
        <p:spPr>
          <a:xfrm>
            <a:off x="4399178" y="237744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9031" y="2477292"/>
            <a:ext cx="184343" cy="184343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4874666" y="2350008"/>
            <a:ext cx="29361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</a:t>
            </a:r>
            <a:pPr indent="0" marL="0">
              <a:buNone/>
            </a:pPr>
            <a:r>
              <a:rPr lang="en-US" sz="10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1050" dirty="0"/>
          </a:p>
        </p:txBody>
      </p:sp>
      <p:sp>
        <p:nvSpPr>
          <p:cNvPr id="47" name="Text 35"/>
          <p:cNvSpPr txBox="1"/>
          <p:nvPr/>
        </p:nvSpPr>
        <p:spPr>
          <a:xfrm>
            <a:off x="4444898" y="2880360"/>
            <a:ext cx="330189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Verificar que Agencia Plaza Mundo puedan continuar realizando transacciones durante la interrupción simulada.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Validar la disponibilidad de los servicios tecnológicos mediante los mecanismos alternos de comunicación.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Confirmar que no existan interrupciones que afecten la continuidad de la transaccionalidad.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Verificar que todas las transacciones sean enviadas correctamente hacia la infraestructura tecnológica institucional.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Validar la impresión de comprobantes y reportes durante la contingencia.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Evaluar el tiempo de respuesta y recuperación del proveedor crítico de comunicaciones.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4262018" y="5394960"/>
            <a:ext cx="36676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49" name="Shape 37"/>
          <p:cNvSpPr/>
          <p:nvPr/>
        </p:nvSpPr>
        <p:spPr>
          <a:xfrm>
            <a:off x="4399178" y="553212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9031" y="5631972"/>
            <a:ext cx="184343" cy="184343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4874666" y="5504688"/>
            <a:ext cx="29361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</a:t>
            </a:r>
            <a:pPr indent="0" marL="0">
              <a:buNone/>
            </a:pPr>
            <a:r>
              <a:rPr lang="en-US" sz="10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PROCESO, PRODUCTOS Y SERVICIOS A INCLUIR EN LA PRUEBA</a:t>
            </a:r>
            <a:endParaRPr lang="en-US" sz="1050" dirty="0"/>
          </a:p>
        </p:txBody>
      </p:sp>
      <p:sp>
        <p:nvSpPr>
          <p:cNvPr id="52" name="Text 39"/>
          <p:cNvSpPr txBox="1"/>
          <p:nvPr/>
        </p:nvSpPr>
        <p:spPr>
          <a:xfrm>
            <a:off x="4444898" y="6035040"/>
            <a:ext cx="3301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Conectividad de la Agencia, acceso a sistemas y servicios de comunicación internos y externos.</a:t>
            </a:r>
            <a:endParaRPr lang="en-US" sz="950" dirty="0"/>
          </a:p>
        </p:txBody>
      </p:sp>
      <p:sp>
        <p:nvSpPr>
          <p:cNvPr id="53" name="Shape 40"/>
          <p:cNvSpPr/>
          <p:nvPr/>
        </p:nvSpPr>
        <p:spPr>
          <a:xfrm>
            <a:off x="8066837" y="2240280"/>
            <a:ext cx="366765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54" name="Shape 41"/>
          <p:cNvSpPr/>
          <p:nvPr/>
        </p:nvSpPr>
        <p:spPr>
          <a:xfrm>
            <a:off x="8203997" y="237744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3849" y="2477292"/>
            <a:ext cx="184343" cy="184343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8679485" y="2350008"/>
            <a:ext cx="29361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</a:t>
            </a:r>
            <a:pPr indent="0" marL="0">
              <a:buNone/>
            </a:pPr>
            <a:r>
              <a:rPr lang="en-US" sz="10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A USAR EN LA EJECUCIÓN DE LA PRUEBA</a:t>
            </a:r>
            <a:endParaRPr lang="en-US" sz="1050" dirty="0"/>
          </a:p>
        </p:txBody>
      </p:sp>
      <p:sp>
        <p:nvSpPr>
          <p:cNvPr id="57" name="Shape 43"/>
          <p:cNvSpPr/>
          <p:nvPr/>
        </p:nvSpPr>
        <p:spPr>
          <a:xfrm>
            <a:off x="8249717" y="2880360"/>
            <a:ext cx="274320" cy="27432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58" name="Text 44"/>
          <p:cNvSpPr txBox="1"/>
          <p:nvPr/>
        </p:nvSpPr>
        <p:spPr>
          <a:xfrm>
            <a:off x="8249717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9" name="Shape 45"/>
          <p:cNvSpPr/>
          <p:nvPr/>
        </p:nvSpPr>
        <p:spPr>
          <a:xfrm>
            <a:off x="8386877" y="3154680"/>
            <a:ext cx="0" cy="109728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</a:ln>
        </p:spPr>
      </p:sp>
      <p:sp>
        <p:nvSpPr>
          <p:cNvPr id="60" name="Text 46"/>
          <p:cNvSpPr txBox="1"/>
          <p:nvPr/>
        </p:nvSpPr>
        <p:spPr>
          <a:xfrm>
            <a:off x="8633765" y="288036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Notificación del incidente.</a:t>
            </a:r>
            <a:endParaRPr lang="en-US" sz="1000" dirty="0"/>
          </a:p>
        </p:txBody>
      </p:sp>
      <p:sp>
        <p:nvSpPr>
          <p:cNvPr id="61" name="Shape 47"/>
          <p:cNvSpPr/>
          <p:nvPr/>
        </p:nvSpPr>
        <p:spPr>
          <a:xfrm>
            <a:off x="8249717" y="3264408"/>
            <a:ext cx="274320" cy="27432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62" name="Text 48"/>
          <p:cNvSpPr txBox="1"/>
          <p:nvPr/>
        </p:nvSpPr>
        <p:spPr>
          <a:xfrm>
            <a:off x="8249717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63" name="Shape 49"/>
          <p:cNvSpPr/>
          <p:nvPr/>
        </p:nvSpPr>
        <p:spPr>
          <a:xfrm>
            <a:off x="8386877" y="3538728"/>
            <a:ext cx="0" cy="109728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</a:ln>
        </p:spPr>
      </p:sp>
      <p:sp>
        <p:nvSpPr>
          <p:cNvPr id="64" name="Text 50"/>
          <p:cNvSpPr txBox="1"/>
          <p:nvPr/>
        </p:nvSpPr>
        <p:spPr>
          <a:xfrm>
            <a:off x="8633765" y="3264408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Escalamiento al proveedor.</a:t>
            </a:r>
            <a:endParaRPr lang="en-US" sz="1000" dirty="0"/>
          </a:p>
        </p:txBody>
      </p:sp>
      <p:sp>
        <p:nvSpPr>
          <p:cNvPr id="65" name="Shape 51"/>
          <p:cNvSpPr/>
          <p:nvPr/>
        </p:nvSpPr>
        <p:spPr>
          <a:xfrm>
            <a:off x="8249717" y="3648456"/>
            <a:ext cx="274320" cy="27432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66" name="Text 52"/>
          <p:cNvSpPr txBox="1"/>
          <p:nvPr/>
        </p:nvSpPr>
        <p:spPr>
          <a:xfrm>
            <a:off x="8249717" y="3648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67" name="Shape 53"/>
          <p:cNvSpPr/>
          <p:nvPr/>
        </p:nvSpPr>
        <p:spPr>
          <a:xfrm>
            <a:off x="8386877" y="3922776"/>
            <a:ext cx="0" cy="109728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</a:ln>
        </p:spPr>
      </p:sp>
      <p:sp>
        <p:nvSpPr>
          <p:cNvPr id="68" name="Text 54"/>
          <p:cNvSpPr txBox="1"/>
          <p:nvPr/>
        </p:nvSpPr>
        <p:spPr>
          <a:xfrm>
            <a:off x="8633765" y="3648456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Activación de mecanismos alternos de comunicación.</a:t>
            </a:r>
            <a:endParaRPr lang="en-US" sz="1000" dirty="0"/>
          </a:p>
        </p:txBody>
      </p:sp>
      <p:sp>
        <p:nvSpPr>
          <p:cNvPr id="69" name="Shape 55"/>
          <p:cNvSpPr/>
          <p:nvPr/>
        </p:nvSpPr>
        <p:spPr>
          <a:xfrm>
            <a:off x="8249717" y="4032504"/>
            <a:ext cx="274320" cy="27432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70" name="Text 56"/>
          <p:cNvSpPr txBox="1"/>
          <p:nvPr/>
        </p:nvSpPr>
        <p:spPr>
          <a:xfrm>
            <a:off x="8249717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71" name="Shape 57"/>
          <p:cNvSpPr/>
          <p:nvPr/>
        </p:nvSpPr>
        <p:spPr>
          <a:xfrm>
            <a:off x="8386877" y="4306824"/>
            <a:ext cx="0" cy="109728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</a:ln>
        </p:spPr>
      </p:sp>
      <p:sp>
        <p:nvSpPr>
          <p:cNvPr id="72" name="Text 58"/>
          <p:cNvSpPr txBox="1"/>
          <p:nvPr/>
        </p:nvSpPr>
        <p:spPr>
          <a:xfrm>
            <a:off x="8633765" y="4032504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Monitoreo de la recuperación.</a:t>
            </a:r>
            <a:endParaRPr lang="en-US" sz="1000" dirty="0"/>
          </a:p>
        </p:txBody>
      </p:sp>
      <p:sp>
        <p:nvSpPr>
          <p:cNvPr id="73" name="Shape 59"/>
          <p:cNvSpPr/>
          <p:nvPr/>
        </p:nvSpPr>
        <p:spPr>
          <a:xfrm>
            <a:off x="8249717" y="4416552"/>
            <a:ext cx="274320" cy="27432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74" name="Text 60"/>
          <p:cNvSpPr txBox="1"/>
          <p:nvPr/>
        </p:nvSpPr>
        <p:spPr>
          <a:xfrm>
            <a:off x="8249717" y="4416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75" name="Shape 61"/>
          <p:cNvSpPr/>
          <p:nvPr/>
        </p:nvSpPr>
        <p:spPr>
          <a:xfrm>
            <a:off x="8386877" y="4690872"/>
            <a:ext cx="0" cy="109728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</a:ln>
        </p:spPr>
      </p:sp>
      <p:sp>
        <p:nvSpPr>
          <p:cNvPr id="76" name="Text 62"/>
          <p:cNvSpPr txBox="1"/>
          <p:nvPr/>
        </p:nvSpPr>
        <p:spPr>
          <a:xfrm>
            <a:off x="8633765" y="4416552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Validación de disponibilidad de servicios.</a:t>
            </a:r>
            <a:endParaRPr lang="en-US" sz="1000" dirty="0"/>
          </a:p>
        </p:txBody>
      </p:sp>
      <p:sp>
        <p:nvSpPr>
          <p:cNvPr id="77" name="Shape 63"/>
          <p:cNvSpPr/>
          <p:nvPr/>
        </p:nvSpPr>
        <p:spPr>
          <a:xfrm>
            <a:off x="8249717" y="4800600"/>
            <a:ext cx="274320" cy="27432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78" name="Text 64"/>
          <p:cNvSpPr txBox="1"/>
          <p:nvPr/>
        </p:nvSpPr>
        <p:spPr>
          <a:xfrm>
            <a:off x="8249717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79" name="Text 65"/>
          <p:cNvSpPr txBox="1"/>
          <p:nvPr/>
        </p:nvSpPr>
        <p:spPr>
          <a:xfrm>
            <a:off x="8633765" y="480060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Documentación de resultados.</a:t>
            </a:r>
            <a:endParaRPr lang="en-US" sz="1000" dirty="0"/>
          </a:p>
        </p:txBody>
      </p:sp>
      <p:sp>
        <p:nvSpPr>
          <p:cNvPr id="80" name="Shape 66"/>
          <p:cNvSpPr/>
          <p:nvPr/>
        </p:nvSpPr>
        <p:spPr>
          <a:xfrm>
            <a:off x="8066837" y="5394960"/>
            <a:ext cx="36676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81" name="Shape 67"/>
          <p:cNvSpPr/>
          <p:nvPr/>
        </p:nvSpPr>
        <p:spPr>
          <a:xfrm>
            <a:off x="8203997" y="553212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8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3849" y="5631972"/>
            <a:ext cx="184343" cy="184343"/>
          </a:xfrm>
          <a:prstGeom prst="rect">
            <a:avLst/>
          </a:prstGeom>
        </p:spPr>
      </p:pic>
      <p:sp>
        <p:nvSpPr>
          <p:cNvPr id="83" name="Text 68"/>
          <p:cNvSpPr txBox="1"/>
          <p:nvPr/>
        </p:nvSpPr>
        <p:spPr>
          <a:xfrm>
            <a:off x="8679485" y="5504688"/>
            <a:ext cx="29361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 </a:t>
            </a:r>
            <a:pPr indent="0" marL="0">
              <a:buNone/>
            </a:pPr>
            <a:r>
              <a:rPr lang="en-US" sz="105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CONDICIONES PARA CANCELAR LA PRUEBA</a:t>
            </a:r>
            <a:endParaRPr lang="en-US" sz="1050" dirty="0"/>
          </a:p>
        </p:txBody>
      </p:sp>
      <p:sp>
        <p:nvSpPr>
          <p:cNvPr id="84" name="Text 69"/>
          <p:cNvSpPr txBox="1"/>
          <p:nvPr/>
        </p:nvSpPr>
        <p:spPr>
          <a:xfrm>
            <a:off x="8249717" y="6035040"/>
            <a:ext cx="3301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Que las afectaciones a la operación normal sean significativas.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554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FORMULARIO GUIÓN DE PRUEBAS DE CONTINUIDAD DEL NEGOCIO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E3E8"/>
                </a:solidFill>
              </a:rPr>
              <a:t>Evaluación de Continuidad y Desempeño del Proveedor Crítico de Comunicaciones ante Interrupción Simulada de Conectividad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109960" y="137160"/>
            <a:ext cx="594360" cy="5943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4494" y="291694"/>
            <a:ext cx="285293" cy="2852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05840"/>
            <a:ext cx="72694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" y="1115568"/>
            <a:ext cx="347472" cy="34747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1205911"/>
            <a:ext cx="166787" cy="1667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24128" y="1115568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 </a:t>
            </a:r>
            <a:pPr indent="0" marL="0">
              <a:buNone/>
            </a:pPr>
            <a:r>
              <a:rPr lang="en-US" sz="1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PARTICIPANTES DE LAS PRUEBAS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81328"/>
          <a:ext cx="6995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UBICACIÓN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de Agencia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Agencia Plaza Mundo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Coordinar la ejecución de la prueba en la agencia, comunicar el inicio y finalización del ejercicio y verificar la continuidad de las operaciones.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Cajero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Agencia Plaza Mundo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Ejecutar transacciones de prueba utilizando los procedimientos establecidos y reportar incidencias.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 Gerente de Canales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Financiero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Coordinar la ejecución técnica de la prueba y verificar la continuidad de los servicios de comunicación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de Operaciones y Soporte Técnico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Financiero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Coordinar la activación de los mecanismos alternos de conectividad y supervisar la recuperación del servicio.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de Seguridad de la Informacion y Ciberseguridad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Financiero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Supervisar la correcta aplicación de los procedimientos establecidos durante la prueba y documentar los hallazgos relacionados con la seguridad de la información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Atender el incidente simulado, ejecutar los procedimientos de recuperación y proporcionar información sobre los tiempos de respuesta y restablecimiento del servicio.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Administracion de Riesgos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Financiero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Supervisar la ejecución de la prueba, verificar el cumplimiento del guion y consolidar el informe de resultados.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 Interno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Financiero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Actuar como observador independiente durante la ejecución de la prueba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7863840" y="1005840"/>
            <a:ext cx="3870655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8001000" y="1115568"/>
            <a:ext cx="347472" cy="34747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343" y="1205911"/>
            <a:ext cx="166787" cy="16678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430768" y="1115568"/>
            <a:ext cx="3139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 </a:t>
            </a:r>
            <a:pPr indent="0" marL="0">
              <a:buNone/>
            </a:pPr>
            <a:r>
              <a:rPr lang="en-US" sz="1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OBSERVADORES Y EVALUADORES</a:t>
            </a:r>
            <a:endParaRPr lang="en-US" sz="12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1481328"/>
          <a:ext cx="3596335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914400"/>
                <a:gridCol w="731520"/>
                <a:gridCol w="8988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UBICACIÓN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Lic. Roque Rafael Reyes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 General en Funciones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Financiero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Observar y evaluar la ejecución de la prueba.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Lic. Henrry Daniel Escamilla Zaldaña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Administracion de Riesgos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Financiero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Observar y evaluar la ejecución de la prueba.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Licda. Silvia de Ramirez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 de Riesgo Operacional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Financiero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Observar y evaluar la ejecución de la prueba.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Licda. Mayeralys Chavez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 Interno en Funciones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Financiero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Observar y evaluar la ejecución de la prueba.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17" name="Shape 10"/>
          <p:cNvSpPr/>
          <p:nvPr/>
        </p:nvSpPr>
        <p:spPr>
          <a:xfrm>
            <a:off x="457200" y="4224528"/>
            <a:ext cx="11277295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594360" y="4334256"/>
            <a:ext cx="347472" cy="34747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4424599"/>
            <a:ext cx="166787" cy="166787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24128" y="4334256"/>
            <a:ext cx="10545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 </a:t>
            </a:r>
            <a:pPr indent="0" marL="0">
              <a:buNone/>
            </a:pPr>
            <a:r>
              <a:rPr lang="en-US" sz="1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DESCRIPCION DE ACTIVIDADES A REALIZAR</a:t>
            </a:r>
            <a:endParaRPr lang="en-US" sz="120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681728"/>
          <a:ext cx="1100297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566160"/>
                <a:gridCol w="5806440"/>
                <a:gridCol w="12188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 de la Actividad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de Cumplimiento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Reuniones con los líderes de ejecutar el Guión de Pruebas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Gerente General   2. Gerente de Sistemas   3. Sub Gerente de Canales   4. Coordinador de Programa de transformación Digital   5. Jefe de Soporte Tecnico.   6. Jefes de Analisis y Programacion   7. Administrador de Base de Datos   8. Jefe de Servicios Generales   9. Coordinador de Monitoreo   10. Jefe de Seguridad de la Información y Ciberseguridad   11. Auditor Interno   12. Jefe de Administración de Riesgos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Septiembre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Ejecución de la Prueba No. 3: Evaluación de Continuidad y Desempeño del Proveedor Crítico de Comunicaciones ante Interrupción Simulada de Conectividad.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Gerente de Sistemas   2. Sub Gerente de Canales   3. Jefe de Análisis y Programación   4. Jefe de Operaciones y Soporte Técnico   5. Oficial de Seguridad de la Información   6. Jefe de Administracion de Riesgos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Noviembre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Elaboración y presentación de informes de resultados por los responsables de cada prueba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Gerente de Sistemas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Noviembre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Reunión Equipo de Respuesta a Incidentes sobre los resultados de las pruebas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Gerente General   2. Gerente de Sistemas   3. Sub Gerente de Canales   4. Coordinador de Programa de transformación Digital   5. Jefe de Soporte Tecnico.   6. Jefes de Analisis y Programacion   7. Administrador de Base de Datos   8. Jefe de Servicios Generales   9. Coordinador de Monitoreo   10. Jefe de Seguridad de la Información y Ciberseguridad   11. Auditor Interno   12. Jefe de Administración de Riesgos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Noviembre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Informes de resultados de la prueba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de Administración de Riesgos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Diciembre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FORMULARIO GUIÓN DE PRUEBAS DE CONTINUIDAD DEL NEGOCIO</dc:title>
  <dc:subject>PptxGenJS Presentation</dc:subject>
  <dc:creator>PptxGenJS</dc:creator>
  <cp:lastModifiedBy>PptxGenJS</cp:lastModifiedBy>
  <cp:revision>1</cp:revision>
  <dcterms:created xsi:type="dcterms:W3CDTF">2026-10-22T15:58:00Z</dcterms:created>
  <dcterms:modified xsi:type="dcterms:W3CDTF">2026-10-22T15:58:00Z</dcterms:modified>
</cp:coreProperties>
</file>