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</a:rPr>
              <a:t>FORMULARIO GUIÓN DE PRUEBAS DE CONTINUIDAD DEL NEGOCIO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6B5E"/>
                </a:solidFill>
              </a:rPr>
              <a:t>Evaluación de Continuidad y Desempeño del Proveedor Crítico de Comunicaciones ante Interrupción Simulada de Conectividad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0" y="365760"/>
            <a:ext cx="3504895" cy="1554480"/>
          </a:xfrm>
          <a:prstGeom prst="roundRect">
            <a:avLst>
              <a:gd name="adj" fmla="val 8824"/>
            </a:avLst>
          </a:prstGeom>
          <a:solidFill>
            <a:srgbClr val="14532D"/>
          </a:solidFill>
          <a:ln w="9525">
            <a:solidFill>
              <a:srgbClr val="1453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57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EF264"/>
                </a:solidFill>
              </a:rPr>
              <a:t>CONTROL DE LAS PRUEBAS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68096"/>
            <a:ext cx="137160" cy="137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41080" y="73152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Fecha de ejecución de prueba: </a:t>
            </a:r>
            <a:pPr indent="0" marL="0">
              <a:buNone/>
            </a:pPr>
            <a:r>
              <a:rPr lang="en-US" sz="900" dirty="0">
                <a:solidFill>
                  <a:srgbClr val="7FA88C"/>
                </a:solidFill>
              </a:rPr>
              <a:t>__________________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996696"/>
            <a:ext cx="137160" cy="137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41080" y="96012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Tipo de prueba </a:t>
            </a:r>
            <a:pPr indent="0" marL="0">
              <a:buNone/>
            </a:pPr>
            <a:r>
              <a:rPr lang="en-US" sz="900" b="1" dirty="0">
                <a:solidFill>
                  <a:srgbClr val="BEF264"/>
                </a:solidFill>
              </a:rPr>
              <a:t>Simulación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225296"/>
            <a:ext cx="137160" cy="1371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41080" y="118872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Hora de inicio: </a:t>
            </a:r>
            <a:pPr indent="0" marL="0">
              <a:buNone/>
            </a:pPr>
            <a:r>
              <a:rPr lang="en-US" sz="900" dirty="0">
                <a:solidFill>
                  <a:srgbClr val="7FA88C"/>
                </a:solidFill>
              </a:rPr>
              <a:t>__________________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453896"/>
            <a:ext cx="137160" cy="1371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641080" y="141732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Lugar de Ejecución: </a:t>
            </a:r>
            <a:pPr indent="0" marL="0">
              <a:buNone/>
            </a:pPr>
            <a:r>
              <a:rPr lang="en-US" sz="900" dirty="0">
                <a:solidFill>
                  <a:srgbClr val="7FA88C"/>
                </a:solidFill>
              </a:rPr>
              <a:t>__________________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682496"/>
            <a:ext cx="137160" cy="13716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641080" y="164592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Hora de fin: </a:t>
            </a:r>
            <a:pPr indent="0" marL="0">
              <a:buNone/>
            </a:pPr>
            <a:r>
              <a:rPr lang="en-US" sz="900" dirty="0">
                <a:solidFill>
                  <a:srgbClr val="7FA88C"/>
                </a:solidFill>
              </a:rPr>
              <a:t>__________________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457200" y="2057400"/>
            <a:ext cx="2651760" cy="2697480"/>
          </a:xfrm>
          <a:prstGeom prst="roundRect">
            <a:avLst>
              <a:gd name="adj" fmla="val 5172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621792" y="2221992"/>
            <a:ext cx="420624" cy="4206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54" y="2331354"/>
            <a:ext cx="201900" cy="2019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256032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5D6AC"/>
                </a:solidFill>
              </a:rPr>
              <a:t>1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1133856" y="21854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</a:rPr>
              <a:t>OBJETIVOS DE LA PRUEBA</a:t>
            </a:r>
            <a:endParaRPr lang="en-US" sz="950" dirty="0"/>
          </a:p>
        </p:txBody>
      </p:sp>
      <p:sp>
        <p:nvSpPr>
          <p:cNvPr id="21" name="Text 13"/>
          <p:cNvSpPr txBox="1"/>
          <p:nvPr/>
        </p:nvSpPr>
        <p:spPr>
          <a:xfrm>
            <a:off x="640080" y="27432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2"/>
                </a:solidFill>
              </a:rPr>
              <a:t>Validar la capacidad de respuesta y recuperación del proveedor crítico de comunicaciones, así como la efectividad de los mecanismos alternos implementados por COMEDICA.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3246120" y="2057400"/>
            <a:ext cx="4206240" cy="2697480"/>
          </a:xfrm>
          <a:prstGeom prst="roundRect">
            <a:avLst>
              <a:gd name="adj" fmla="val 5085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3410712" y="2221992"/>
            <a:ext cx="420624" cy="4206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074" y="2331354"/>
            <a:ext cx="201900" cy="2019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0372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5D6AC"/>
                </a:solidFill>
              </a:rPr>
              <a:t>2</a:t>
            </a:r>
            <a:endParaRPr lang="en-US" sz="2200" dirty="0"/>
          </a:p>
        </p:txBody>
      </p:sp>
      <p:sp>
        <p:nvSpPr>
          <p:cNvPr id="26" name="Text 17"/>
          <p:cNvSpPr txBox="1"/>
          <p:nvPr/>
        </p:nvSpPr>
        <p:spPr>
          <a:xfrm>
            <a:off x="3922776" y="21854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</a:rPr>
              <a:t>ALCANCE</a:t>
            </a:r>
            <a:endParaRPr lang="en-US" sz="950" dirty="0"/>
          </a:p>
        </p:txBody>
      </p:sp>
      <p:sp>
        <p:nvSpPr>
          <p:cNvPr id="27" name="Text 18"/>
          <p:cNvSpPr txBox="1"/>
          <p:nvPr/>
        </p:nvSpPr>
        <p:spPr>
          <a:xfrm>
            <a:off x="3429000" y="278892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22"/>
                </a:solidFill>
              </a:rPr>
              <a:t>Verificar que Agencia Plaza Mundo puedan continuar realizando transacciones durante la interrupción simulada.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22"/>
                </a:solidFill>
              </a:rPr>
              <a:t>Validar la disponibilidad de los servicios tecnológicos mediante los mecanismos alternos de comunicación.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22"/>
                </a:solidFill>
              </a:rPr>
              <a:t>Confirmar que no existan interrupciones que afecten la continuidad de la transaccionalidad.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22"/>
                </a:solidFill>
              </a:rPr>
              <a:t>Verificar que todas las transacciones sean enviadas correctamente hacia la infraestructura tecnológica institucional.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22"/>
                </a:solidFill>
              </a:rPr>
              <a:t>Validar la impresión de comprobantes y reportes durante la contingencia.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22"/>
                </a:solidFill>
              </a:rPr>
              <a:t>Evaluar el tiempo de respuesta y recuperación del proveedor crítico de comunicaciones.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7589520" y="2057400"/>
            <a:ext cx="4144975" cy="2697480"/>
          </a:xfrm>
          <a:prstGeom prst="roundRect">
            <a:avLst>
              <a:gd name="adj" fmla="val 5085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7754112" y="2221992"/>
            <a:ext cx="420624" cy="4206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474" y="2331354"/>
            <a:ext cx="201900" cy="2019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1185855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5D6AC"/>
                </a:solidFill>
              </a:rPr>
              <a:t>5</a:t>
            </a:r>
            <a:endParaRPr lang="en-US" sz="2200" dirty="0"/>
          </a:p>
        </p:txBody>
      </p:sp>
      <p:sp>
        <p:nvSpPr>
          <p:cNvPr id="32" name="Text 22"/>
          <p:cNvSpPr txBox="1"/>
          <p:nvPr/>
        </p:nvSpPr>
        <p:spPr>
          <a:xfrm>
            <a:off x="8266176" y="2185416"/>
            <a:ext cx="30476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</a:rPr>
              <a:t>METODOLOGÍA A USAR EN LA EJECUCIÓN DE LA PRUEBA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7772400" y="2788920"/>
            <a:ext cx="18210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F1DE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7845552" y="2788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1</a:t>
            </a:r>
            <a:endParaRPr lang="en-US" sz="1600" dirty="0"/>
          </a:p>
        </p:txBody>
      </p:sp>
      <p:sp>
        <p:nvSpPr>
          <p:cNvPr id="35" name="Text 25"/>
          <p:cNvSpPr txBox="1"/>
          <p:nvPr/>
        </p:nvSpPr>
        <p:spPr>
          <a:xfrm>
            <a:off x="8119872" y="2788920"/>
            <a:ext cx="1409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2"/>
                </a:solidFill>
              </a:rPr>
              <a:t>Notificación del incidente.</a:t>
            </a:r>
            <a:endParaRPr lang="en-US" sz="850" dirty="0"/>
          </a:p>
        </p:txBody>
      </p:sp>
      <p:sp>
        <p:nvSpPr>
          <p:cNvPr id="36" name="Shape 26"/>
          <p:cNvSpPr/>
          <p:nvPr/>
        </p:nvSpPr>
        <p:spPr>
          <a:xfrm>
            <a:off x="9730588" y="2788920"/>
            <a:ext cx="18210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F1DE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9803740" y="2788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2</a:t>
            </a:r>
            <a:endParaRPr lang="en-US" sz="1600" dirty="0"/>
          </a:p>
        </p:txBody>
      </p:sp>
      <p:sp>
        <p:nvSpPr>
          <p:cNvPr id="38" name="Text 28"/>
          <p:cNvSpPr txBox="1"/>
          <p:nvPr/>
        </p:nvSpPr>
        <p:spPr>
          <a:xfrm>
            <a:off x="10078060" y="2788920"/>
            <a:ext cx="1409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2"/>
                </a:solidFill>
              </a:rPr>
              <a:t>Escalamiento al proveedor.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7772400" y="3337560"/>
            <a:ext cx="18210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F1DE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7845552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3</a:t>
            </a:r>
            <a:endParaRPr lang="en-US" sz="1600" dirty="0"/>
          </a:p>
        </p:txBody>
      </p:sp>
      <p:sp>
        <p:nvSpPr>
          <p:cNvPr id="41" name="Text 31"/>
          <p:cNvSpPr txBox="1"/>
          <p:nvPr/>
        </p:nvSpPr>
        <p:spPr>
          <a:xfrm>
            <a:off x="8119872" y="3337560"/>
            <a:ext cx="1409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2"/>
                </a:solidFill>
              </a:rPr>
              <a:t>Activación de mecanismos alternos de comunicación.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9730588" y="3337560"/>
            <a:ext cx="18210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F1DE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9803740" y="3337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4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10078060" y="3337560"/>
            <a:ext cx="1409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2"/>
                </a:solidFill>
              </a:rPr>
              <a:t>Monitoreo de la recuperación.</a:t>
            </a:r>
            <a:endParaRPr lang="en-US" sz="850" dirty="0"/>
          </a:p>
        </p:txBody>
      </p:sp>
      <p:sp>
        <p:nvSpPr>
          <p:cNvPr id="45" name="Shape 35"/>
          <p:cNvSpPr/>
          <p:nvPr/>
        </p:nvSpPr>
        <p:spPr>
          <a:xfrm>
            <a:off x="7772400" y="3886200"/>
            <a:ext cx="18210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F1DE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7845552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5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8119872" y="3886200"/>
            <a:ext cx="1409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2"/>
                </a:solidFill>
              </a:rPr>
              <a:t>Validación de disponibilidad de servicios.</a:t>
            </a:r>
            <a:endParaRPr lang="en-US" sz="850" dirty="0"/>
          </a:p>
        </p:txBody>
      </p:sp>
      <p:sp>
        <p:nvSpPr>
          <p:cNvPr id="48" name="Shape 38"/>
          <p:cNvSpPr/>
          <p:nvPr/>
        </p:nvSpPr>
        <p:spPr>
          <a:xfrm>
            <a:off x="9730588" y="3886200"/>
            <a:ext cx="18210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F1DE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9803740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6</a:t>
            </a:r>
            <a:endParaRPr lang="en-US" sz="1600" dirty="0"/>
          </a:p>
        </p:txBody>
      </p:sp>
      <p:sp>
        <p:nvSpPr>
          <p:cNvPr id="50" name="Text 40"/>
          <p:cNvSpPr txBox="1"/>
          <p:nvPr/>
        </p:nvSpPr>
        <p:spPr>
          <a:xfrm>
            <a:off x="10078060" y="3886200"/>
            <a:ext cx="1409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22"/>
                </a:solidFill>
              </a:rPr>
              <a:t>Documentación de resultados.</a:t>
            </a:r>
            <a:endParaRPr lang="en-US" sz="850" dirty="0"/>
          </a:p>
        </p:txBody>
      </p:sp>
      <p:sp>
        <p:nvSpPr>
          <p:cNvPr id="51" name="Shape 41"/>
          <p:cNvSpPr/>
          <p:nvPr/>
        </p:nvSpPr>
        <p:spPr>
          <a:xfrm>
            <a:off x="457200" y="4892040"/>
            <a:ext cx="2743200" cy="1600200"/>
          </a:xfrm>
          <a:prstGeom prst="roundRect">
            <a:avLst>
              <a:gd name="adj" fmla="val 8571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621792" y="5056632"/>
            <a:ext cx="420624" cy="4206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154" y="5165994"/>
            <a:ext cx="201900" cy="20190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265176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5D6AC"/>
                </a:solidFill>
              </a:rPr>
              <a:t>3</a:t>
            </a:r>
            <a:endParaRPr lang="en-US" sz="2200" dirty="0"/>
          </a:p>
        </p:txBody>
      </p:sp>
      <p:sp>
        <p:nvSpPr>
          <p:cNvPr id="55" name="Text 44"/>
          <p:cNvSpPr txBox="1"/>
          <p:nvPr/>
        </p:nvSpPr>
        <p:spPr>
          <a:xfrm>
            <a:off x="1133856" y="50200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PROCESO, PRODUCTOS Y SERVICIOS A INCLUIR EN LA PRUEBA</a:t>
            </a:r>
            <a:endParaRPr lang="en-US" sz="900" dirty="0"/>
          </a:p>
        </p:txBody>
      </p:sp>
      <p:sp>
        <p:nvSpPr>
          <p:cNvPr id="56" name="Text 45"/>
          <p:cNvSpPr txBox="1"/>
          <p:nvPr/>
        </p:nvSpPr>
        <p:spPr>
          <a:xfrm>
            <a:off x="640080" y="5577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22"/>
                </a:solidFill>
              </a:rPr>
              <a:t>Conectividad de la Agencia, acceso a sistemas y servicios de comunicación internos y externos.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3337560" y="4892040"/>
            <a:ext cx="2834640" cy="1600200"/>
          </a:xfrm>
          <a:prstGeom prst="roundRect">
            <a:avLst>
              <a:gd name="adj" fmla="val 8571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3502152" y="5056632"/>
            <a:ext cx="420624" cy="4206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1514" y="5165994"/>
            <a:ext cx="201900" cy="201900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562356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5D6AC"/>
                </a:solidFill>
              </a:rPr>
              <a:t>4</a:t>
            </a:r>
            <a:endParaRPr lang="en-US" sz="2200" dirty="0"/>
          </a:p>
        </p:txBody>
      </p:sp>
      <p:sp>
        <p:nvSpPr>
          <p:cNvPr id="61" name="Text 49"/>
          <p:cNvSpPr txBox="1"/>
          <p:nvPr/>
        </p:nvSpPr>
        <p:spPr>
          <a:xfrm>
            <a:off x="4014216" y="50200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ESCENARIO DE INTERRUPCIÓN</a:t>
            </a:r>
            <a:endParaRPr lang="en-US" sz="900" dirty="0"/>
          </a:p>
        </p:txBody>
      </p:sp>
      <p:sp>
        <p:nvSpPr>
          <p:cNvPr id="62" name="Text 50"/>
          <p:cNvSpPr txBox="1"/>
          <p:nvPr/>
        </p:nvSpPr>
        <p:spPr>
          <a:xfrm>
            <a:off x="3520440" y="5577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22"/>
                </a:solidFill>
              </a:rPr>
              <a:t>Se simulará una interrupción de los servicios de comunicación proporcionados por el proveedor crítico, afectando la conectividad y disponibilidad de los servicios dependientes de dicha infraestructura.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6309360" y="4892040"/>
            <a:ext cx="2468880" cy="1600200"/>
          </a:xfrm>
          <a:prstGeom prst="roundRect">
            <a:avLst>
              <a:gd name="adj" fmla="val 8571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6473952" y="5056632"/>
            <a:ext cx="420624" cy="4206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314" y="5165994"/>
            <a:ext cx="201900" cy="201900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822960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5D6AC"/>
                </a:solidFill>
              </a:rPr>
              <a:t>6</a:t>
            </a:r>
            <a:endParaRPr lang="en-US" sz="2200" dirty="0"/>
          </a:p>
        </p:txBody>
      </p:sp>
      <p:sp>
        <p:nvSpPr>
          <p:cNvPr id="67" name="Text 54"/>
          <p:cNvSpPr txBox="1"/>
          <p:nvPr/>
        </p:nvSpPr>
        <p:spPr>
          <a:xfrm>
            <a:off x="6986016" y="502005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CONDICIONES PARA CANCELAR LA PRUEBA</a:t>
            </a:r>
            <a:endParaRPr lang="en-US" sz="900" dirty="0"/>
          </a:p>
        </p:txBody>
      </p:sp>
      <p:sp>
        <p:nvSpPr>
          <p:cNvPr id="68" name="Text 55"/>
          <p:cNvSpPr txBox="1"/>
          <p:nvPr/>
        </p:nvSpPr>
        <p:spPr>
          <a:xfrm>
            <a:off x="6492240" y="5577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22"/>
                </a:solidFill>
              </a:rPr>
              <a:t>Que las afectaciones a la operación normal sean significativas.</a:t>
            </a:r>
            <a:endParaRPr lang="en-US" sz="900" dirty="0"/>
          </a:p>
        </p:txBody>
      </p:sp>
      <p:sp>
        <p:nvSpPr>
          <p:cNvPr id="69" name="Shape 56"/>
          <p:cNvSpPr/>
          <p:nvPr/>
        </p:nvSpPr>
        <p:spPr>
          <a:xfrm>
            <a:off x="8915400" y="4892040"/>
            <a:ext cx="2819095" cy="1600200"/>
          </a:xfrm>
          <a:prstGeom prst="roundRect">
            <a:avLst>
              <a:gd name="adj" fmla="val 8571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9079992" y="5056632"/>
            <a:ext cx="420624" cy="4206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354" y="5165994"/>
            <a:ext cx="201900" cy="201900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11185855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5D6AC"/>
                </a:solidFill>
              </a:rPr>
              <a:t>7</a:t>
            </a:r>
            <a:endParaRPr lang="en-US" sz="2200" dirty="0"/>
          </a:p>
        </p:txBody>
      </p:sp>
      <p:sp>
        <p:nvSpPr>
          <p:cNvPr id="73" name="Text 59"/>
          <p:cNvSpPr txBox="1"/>
          <p:nvPr/>
        </p:nvSpPr>
        <p:spPr>
          <a:xfrm>
            <a:off x="9592056" y="5020056"/>
            <a:ext cx="1721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RESULTADOS ESPERADOS</a:t>
            </a:r>
            <a:endParaRPr lang="en-US" sz="900" dirty="0"/>
          </a:p>
        </p:txBody>
      </p:sp>
      <p:sp>
        <p:nvSpPr>
          <p:cNvPr id="74" name="Text 60"/>
          <p:cNvSpPr txBox="1"/>
          <p:nvPr/>
        </p:nvSpPr>
        <p:spPr>
          <a:xfrm>
            <a:off x="9098280" y="5577840"/>
            <a:ext cx="2453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22"/>
                </a:solidFill>
              </a:rPr>
              <a:t>Validar la capacidad del proveedor para responder y recuperar los servicios de comunicación dentro de los tiempos establecidos, garantizando la continuidad de los procesos críticos y la efectividad de los mecanismos alternos definidos por COMEDICA.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FORMULARIO GUIÓN DE PRUEBAS DE CONTINUIDAD DEL NEGOCIO</a:t>
            </a:r>
            <a:endParaRPr lang="en-US" sz="16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A6B5E"/>
                </a:solidFill>
              </a:rPr>
              <a:t>Evaluación de Continuidad y Desempeño del Proveedor Crítico de Comunicaciones ante Interrupción Simulada de Conectividad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29184" cy="32918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788" y="1045708"/>
            <a:ext cx="158008" cy="158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77824" y="9601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8  </a:t>
            </a:r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</a:rPr>
              <a:t>PARTICIPANTES DE LAS PRUEBAS</a:t>
            </a:r>
            <a:pPr indent="0" marL="0">
              <a:buNone/>
            </a:pPr>
            <a:r>
              <a:rPr lang="en-US" sz="800" b="1" dirty="0">
                <a:solidFill>
                  <a:srgbClr val="5A6B5E"/>
                </a:solidFill>
              </a:rPr>
              <a:t>     CARGO  ·  UBICACIÓN  ·  ROL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716454" cy="1097280"/>
          </a:xfrm>
          <a:prstGeom prst="roundRect">
            <a:avLst>
              <a:gd name="adj" fmla="val 1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444752"/>
            <a:ext cx="246042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Jefe de Agencia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A580C"/>
                </a:solidFill>
              </a:rPr>
              <a:t>Agencia Plaza Mundo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1F2A22"/>
                </a:solidFill>
              </a:rPr>
              <a:t>Coordinar la ejecución de la prueba en la agencia, comunicar el inicio y finalización del ejercicio y verificar la continuidad de las operaciones.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10814" y="1371600"/>
            <a:ext cx="2716454" cy="1097280"/>
          </a:xfrm>
          <a:prstGeom prst="roundRect">
            <a:avLst>
              <a:gd name="adj" fmla="val 1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38830" y="1444752"/>
            <a:ext cx="246042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Cajero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A580C"/>
                </a:solidFill>
              </a:rPr>
              <a:t>Agencia Plaza Mundo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1F2A22"/>
                </a:solidFill>
              </a:rPr>
              <a:t>Ejecutar transacciones de prueba utilizando los procedimientos establecidos y reportar incidencias.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64428" y="1371600"/>
            <a:ext cx="2716454" cy="1097280"/>
          </a:xfrm>
          <a:prstGeom prst="roundRect">
            <a:avLst>
              <a:gd name="adj" fmla="val 1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92444" y="1444752"/>
            <a:ext cx="246042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Sub Gerente de Canales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A580C"/>
                </a:solidFill>
              </a:rPr>
              <a:t>Centro Financiero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1F2A22"/>
                </a:solidFill>
              </a:rPr>
              <a:t>Coordinar la ejecución técnica de la prueba y verificar la continuidad de los servicios de comunicación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018041" y="1371600"/>
            <a:ext cx="2716454" cy="1097280"/>
          </a:xfrm>
          <a:prstGeom prst="roundRect">
            <a:avLst>
              <a:gd name="adj" fmla="val 1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6057" y="1444752"/>
            <a:ext cx="246042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Jefe de Operaciones y Soporte Técnico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A580C"/>
                </a:solidFill>
              </a:rPr>
              <a:t>Centro Financiero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1F2A22"/>
                </a:solidFill>
              </a:rPr>
              <a:t>Coordinar la activación de los mecanismos alternos de conectividad y supervisar la recuperación del servicio.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578608"/>
            <a:ext cx="2716454" cy="1097280"/>
          </a:xfrm>
          <a:prstGeom prst="roundRect">
            <a:avLst>
              <a:gd name="adj" fmla="val 1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2651760"/>
            <a:ext cx="246042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Jefe de Seguridad de la Informacion y Ciberseguridad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A580C"/>
                </a:solidFill>
              </a:rPr>
              <a:t>Centro Financiero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1F2A22"/>
                </a:solidFill>
              </a:rPr>
              <a:t>Supervisar la correcta aplicación de los procedimientos establecidos durante la prueba y documentar los hallazgos relacionados con la seguridad de la información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310814" y="2578608"/>
            <a:ext cx="2716454" cy="1097280"/>
          </a:xfrm>
          <a:prstGeom prst="roundRect">
            <a:avLst>
              <a:gd name="adj" fmla="val 1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38830" y="2651760"/>
            <a:ext cx="246042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Proveedor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A580C"/>
                </a:solidFill>
              </a:rPr>
              <a:t>Externo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1F2A22"/>
                </a:solidFill>
              </a:rPr>
              <a:t>Atender el incidente simulado, ejecutar los procedimientos de recuperación y proporcionar información sobre los tiempos de respuesta y restablecimiento del servicio.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64428" y="2578608"/>
            <a:ext cx="2716454" cy="1097280"/>
          </a:xfrm>
          <a:prstGeom prst="roundRect">
            <a:avLst>
              <a:gd name="adj" fmla="val 1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92444" y="2651760"/>
            <a:ext cx="246042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Jefe Administracion de Riesgos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A580C"/>
                </a:solidFill>
              </a:rPr>
              <a:t>Centro Financiero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1F2A22"/>
                </a:solidFill>
              </a:rPr>
              <a:t>Supervisar la ejecución de la prueba, verificar el cumplimiento del guion y consolidar el informe de resultados.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018041" y="2578608"/>
            <a:ext cx="2716454" cy="1097280"/>
          </a:xfrm>
          <a:prstGeom prst="roundRect">
            <a:avLst>
              <a:gd name="adj" fmla="val 1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6057" y="2651760"/>
            <a:ext cx="246042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</a:rPr>
              <a:t>Auditor Interno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A580C"/>
                </a:solidFill>
              </a:rPr>
              <a:t>Centro Financiero</a:t>
            </a:r>
            <a:endParaRPr lang="en-US" sz="900" dirty="0"/>
          </a:p>
          <a:p>
            <a:pPr indent="0" marL="0">
              <a:buNone/>
            </a:pPr>
            <a:r>
              <a:rPr lang="en-US" sz="750" dirty="0">
                <a:solidFill>
                  <a:srgbClr val="1F2A22"/>
                </a:solidFill>
              </a:rPr>
              <a:t>Actuar como observador independiente durante la ejecución de la prueba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3813048"/>
            <a:ext cx="329184" cy="32918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3898636"/>
            <a:ext cx="158008" cy="15800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77824" y="3813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9  </a:t>
            </a:r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</a:rPr>
              <a:t>DESCRIPCION DE ACTIVIDADES A REALIZAR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24528"/>
          <a:ext cx="78181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377440"/>
                <a:gridCol w="42062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de la Actividad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 de Cumplimiento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Reuniones con los líderes de ejecutar el Guión de Pruebas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A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Gerente General  2. Gerente de Sistemas  3. Sub Gerente de Canales  4. Coordinador de Programa de transformación Digital  5. Jefe de Soporte Tecnico.  6. Jefes de Analisis y Programacion  7. Administrador de Base de Datos  8. Jefe de Servicios Generales  9. Coordinador de Monitoreo  10. Jefe de Seguridad de la Información y Ciberseguridad  11. Auditor Interno  12. Jefe de Administración de Riesgos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Septiembre 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Ejecución de la Prueba No. 3: Evaluación de Continuidad y Desempeño del Proveedor Crítico de Comunicaciones ante Interrupción Simulada de Conectividad.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A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Gerente de Sistemas  2. Sub Gerente de Canales  3. Jefe de Análisis y Programación  4. Jefe de Operaciones y Soporte Técnico  5. Oficial de Seguridad de la Información  6. Jefe de Administracion de Riesgos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Noviembre 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Elaboración y presentación de informes de resultados por los responsables de cada prueba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A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Gerente de Sistemas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Noviembre 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Reunión Equipo de Respuesta a Incidentes sobre los resultados de las pruebas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A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Gerente General  2. Gerente de Sistemas  3. Sub Gerente de Canales  4. Coordinador de Programa de transformación Digital  5. Jefe de Soporte Tecnico.  6. Jefes de Analisis y Programacion  7. Administrador de Base de Datos  8. Jefe de Servicios Generales  9. Coordinador de Monitoreo  10. Jefe de Seguridad de la Información y Ciberseguridad  11. Auditor Interno  12. Jefe de Administración de Riesgos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Noviembre 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Informes de resultados de la prueba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A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Jefe de Administración de Riesgos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Diciembre 2026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F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8439912" y="3813048"/>
            <a:ext cx="329184" cy="32918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500" y="3898636"/>
            <a:ext cx="158008" cy="1580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860536" y="3813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10  </a:t>
            </a:r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</a:rPr>
              <a:t>OBSERVADORES Y EVALUADORES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860536" y="41605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B5E"/>
                </a:solidFill>
              </a:rPr>
              <a:t>NOMBRE  ·  CARGO  ·  UBICACIÓN  ·  ROL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8439912" y="4379976"/>
            <a:ext cx="3294583" cy="457200"/>
          </a:xfrm>
          <a:prstGeom prst="roundRect">
            <a:avLst>
              <a:gd name="adj" fmla="val 2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13064" y="44531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897" y="4533961"/>
            <a:ext cx="149230" cy="14923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897112" y="4416552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</a:rPr>
              <a:t>Lic. Roque Rafael Reyes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1F2A22"/>
                </a:solidFill>
              </a:rPr>
              <a:t>Gerente General en Funciones · Centro Financiero · Observar y evaluar la ejecución de la prueba.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8439912" y="4901184"/>
            <a:ext cx="3294583" cy="457200"/>
          </a:xfrm>
          <a:prstGeom prst="roundRect">
            <a:avLst>
              <a:gd name="adj" fmla="val 2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513064" y="497433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897" y="5055169"/>
            <a:ext cx="149230" cy="14923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897112" y="4937760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</a:rPr>
              <a:t>Lic. Henrry Daniel Escamilla Zaldaña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1F2A22"/>
                </a:solidFill>
              </a:rPr>
              <a:t>Jefe Administracion de Riesgos · Centro Financiero · Observar y evaluar la ejecución de la prueba.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8439912" y="5422392"/>
            <a:ext cx="3294583" cy="457200"/>
          </a:xfrm>
          <a:prstGeom prst="roundRect">
            <a:avLst>
              <a:gd name="adj" fmla="val 2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513064" y="549554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3897" y="5576377"/>
            <a:ext cx="149230" cy="14923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897112" y="5458968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</a:rPr>
              <a:t>Licda. Silvia de Ramirez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1F2A22"/>
                </a:solidFill>
              </a:rPr>
              <a:t>Analista de Riesgo Operacional · Centro Financiero · Observar y evaluar la ejecución de la prueba.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8439912" y="5943600"/>
            <a:ext cx="3294583" cy="457200"/>
          </a:xfrm>
          <a:prstGeom prst="roundRect">
            <a:avLst>
              <a:gd name="adj" fmla="val 20000"/>
            </a:avLst>
          </a:prstGeom>
          <a:solidFill>
            <a:srgbClr val="F0F7EE"/>
          </a:solidFill>
          <a:ln w="9525">
            <a:solidFill>
              <a:srgbClr val="F0F7E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8513064" y="60167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897" y="6097585"/>
            <a:ext cx="149230" cy="14923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8897112" y="5980176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</a:rPr>
              <a:t>Licda. Mayeralys Chavez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1F2A22"/>
                </a:solidFill>
              </a:rPr>
              <a:t>Auditor Interno en Funciones · Centro Financiero · Observar y evaluar la ejecución de la prueba.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FORMULARIO GUIÓN DE PRUEBAS DE CONTINUIDAD DEL NEGOCIO</dc:title>
  <dc:subject>PptxGenJS Presentation</dc:subject>
  <dc:creator>PptxGenJS</dc:creator>
  <cp:lastModifiedBy>PptxGenJS</cp:lastModifiedBy>
  <cp:revision>1</cp:revision>
  <dcterms:created xsi:type="dcterms:W3CDTF">2026-10-22T15:58:00Z</dcterms:created>
  <dcterms:modified xsi:type="dcterms:W3CDTF">2026-10-22T15:58:00Z</dcterms:modified>
</cp:coreProperties>
</file>