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1321" r:id="rId3"/>
  </p:sldIdLst>
  <p:sldSz cx="12192000" cy="6858000"/>
  <p:notesSz cx="6858000" cy="9144000"/>
  <p:defaultTextStyle>
    <a:defPPr>
      <a:defRPr lang="es-SV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76E"/>
    <a:srgbClr val="004184"/>
    <a:srgbClr val="0053A8"/>
    <a:srgbClr val="005C9F"/>
    <a:srgbClr val="0051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252236-3FAF-4113-A4F6-0C3A1563E69A}" v="1" dt="2026-10-24T19:13:56.1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2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6/11/relationships/changesInfo" Target="changesInfos/changesInfo1.xml"/><Relationship Id="rId18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ctor Jose Menjivar Somoza" userId="0c251d33-8269-45bf-9bec-169219cd79c7" providerId="ADAL" clId="{E24BF829-F682-4B96-8073-D53758CC38A2}"/>
    <pc:docChg chg="addSld delSld modSld sldOrd">
      <pc:chgData name="Hector Jose Menjivar Somoza" userId="0c251d33-8269-45bf-9bec-169219cd79c7" providerId="ADAL" clId="{E24BF829-F682-4B96-8073-D53758CC38A2}" dt="2026-10-24T19:13:57.984" v="4"/>
      <pc:docMkLst>
        <pc:docMk/>
      </pc:docMkLst>
      <pc:sldChg chg="del">
        <pc:chgData name="Hector Jose Menjivar Somoza" userId="0c251d33-8269-45bf-9bec-169219cd79c7" providerId="ADAL" clId="{E24BF829-F682-4B96-8073-D53758CC38A2}" dt="2026-10-24T19:13:48.328" v="1" actId="2696"/>
        <pc:sldMkLst>
          <pc:docMk/>
          <pc:sldMk cId="662215908" sldId="257"/>
        </pc:sldMkLst>
      </pc:sldChg>
      <pc:sldChg chg="modSp mod">
        <pc:chgData name="Hector Jose Menjivar Somoza" userId="0c251d33-8269-45bf-9bec-169219cd79c7" providerId="ADAL" clId="{E24BF829-F682-4B96-8073-D53758CC38A2}" dt="2026-10-22T21:22:43.936" v="0" actId="1076"/>
        <pc:sldMkLst>
          <pc:docMk/>
          <pc:sldMk cId="1188959789" sldId="261"/>
        </pc:sldMkLst>
        <pc:picChg chg="mod">
          <ac:chgData name="Hector Jose Menjivar Somoza" userId="0c251d33-8269-45bf-9bec-169219cd79c7" providerId="ADAL" clId="{E24BF829-F682-4B96-8073-D53758CC38A2}" dt="2026-10-22T21:22:43.936" v="0" actId="1076"/>
          <ac:picMkLst>
            <pc:docMk/>
            <pc:sldMk cId="1188959789" sldId="261"/>
            <ac:picMk id="2" creationId="{581614C1-8597-C084-8870-3EA3BD6672B3}"/>
          </ac:picMkLst>
        </pc:picChg>
      </pc:sldChg>
      <pc:sldChg chg="add ord">
        <pc:chgData name="Hector Jose Menjivar Somoza" userId="0c251d33-8269-45bf-9bec-169219cd79c7" providerId="ADAL" clId="{E24BF829-F682-4B96-8073-D53758CC38A2}" dt="2026-10-24T19:13:57.984" v="4"/>
        <pc:sldMkLst>
          <pc:docMk/>
          <pc:sldMk cId="3045456205" sldId="1326"/>
        </pc:sldMkLst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Interna</c:v>
                </c:pt>
              </c:strCache>
            </c:strRef>
          </c:tx>
          <c:spPr>
            <a:solidFill>
              <a:srgbClr val="1565C0"/>
            </a:solidFill>
          </c:spPr>
          <c:cat>
            <c:strRef>
              <c:f>Sheet1!$A$2:$A$13</c:f>
              <c:strCache>
                <c:ptCount val="12"/>
                <c:pt idx="0">
                  <c:v>Ene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Dic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0</c:v>
                </c:pt>
                <c:pt idx="4">
                  <c:v>2</c:v>
                </c:pt>
                <c:pt idx="5">
                  <c:v>2</c:v>
                </c:pt>
                <c:pt idx="6">
                  <c:v>0</c:v>
                </c:pt>
                <c:pt idx="7">
                  <c:v>1</c:v>
                </c:pt>
                <c:pt idx="8">
                  <c:v>0</c:v>
                </c:pt>
                <c:pt idx="9">
                  <c:v>1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Externa</c:v>
                </c:pt>
              </c:strCache>
            </c:strRef>
          </c:tx>
          <c:spPr>
            <a:solidFill>
              <a:srgbClr val="E8871E"/>
            </a:solidFill>
          </c:spPr>
          <c:cat>
            <c:strRef>
              <c:f>Sheet1!$A$2:$A$13</c:f>
              <c:strCache>
                <c:ptCount val="12"/>
                <c:pt idx="0">
                  <c:v>Ene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Dic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1</c:v>
                </c:pt>
                <c:pt idx="4">
                  <c:v>0</c:v>
                </c:pt>
                <c:pt idx="5">
                  <c:v>0</c:v>
                </c:pt>
                <c:pt idx="6">
                  <c:v>1</c:v>
                </c:pt>
                <c:pt idx="7">
                  <c:v>0</c:v>
                </c:pt>
                <c:pt idx="8">
                  <c:v>0</c:v>
                </c:pt>
                <c:pt idx="9">
                  <c:v>1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SSF</c:v>
                </c:pt>
              </c:strCache>
            </c:strRef>
          </c:tx>
          <c:spPr>
            <a:solidFill>
              <a:srgbClr val="2E9E5B"/>
            </a:solidFill>
          </c:spPr>
          <c:cat>
            <c:strRef>
              <c:f>Sheet1!$A$2:$A$13</c:f>
              <c:strCache>
                <c:ptCount val="12"/>
                <c:pt idx="0">
                  <c:v>Ene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Dic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1</c:v>
                </c:pt>
                <c:pt idx="7">
                  <c:v>2</c:v>
                </c:pt>
                <c:pt idx="8">
                  <c:v>1</c:v>
                </c:pt>
                <c:pt idx="9">
                  <c:v>1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2DC"/>
            </a:solidFill>
          </a:ln>
        </c:spPr>
        <c:txPr>
          <a:bodyPr/>
          <a:lstStyle/>
          <a:p>
            <a:pPr>
              <a:defRPr sz="1000">
                <a:solidFill>
                  <a:srgbClr val="5B6B7B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.0"/>
          <c:min val="0.0"/>
        </c:scaling>
        <c:delete val="0"/>
        <c:axPos val="l"/>
        <c:majorGridlines>
          <c:spPr>
            <a:ln w="9525">
              <a:solidFill>
                <a:srgbClr val="DDE3E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B6B7B"/>
                </a:solidFill>
                <a:latin typeface="Arial"/>
              </a:defRPr>
            </a:pPr>
          </a:p>
        </c:txPr>
        <c:crossAx val="-2068027336"/>
        <c:crosses val="autoZero"/>
        <c:majorUnit val="1.0"/>
      </c:valAx>
    </c:plotArea>
    <c:legend>
      <c:legendPos val="t"/>
      <c:overlay val="0"/>
      <c:txPr>
        <a:bodyPr/>
        <a:lstStyle/>
        <a:p>
          <a:pPr>
            <a:defRPr sz="1000">
              <a:solidFill>
                <a:srgbClr val="5B6B7B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SV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9B3AB5-647A-834A-ABF4-E74A52371851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SV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SV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1EAE39-7648-3748-A12E-11B4DE5E48BF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8813709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19FF0-439B-F3B6-7773-EDB1EFDED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C8A0F81-2EE0-3264-F475-80F982C50A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F9C13C6-BD03-0EDA-62BD-52038E8976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Resumen de lo que nos pidieron en 2026. Vinieron 19 veces: 7 auditorías internas, 4 externas y 8 visitas de la SSF. Cuatro temas los pidieron 2 o más entidades: hay que tenerlos siempre listos, sobre todo las Actas del Comité de Riesgos (NRP-20), pedidas 4 veces; NCB-022 (cartera, Pérdida Esperada y remisiones a SSF) y el Plan de Continuidad, 3 veces cada uno. NRP-20 es la norma más revisada (5 veces, 3 entidades). En octubre coincidieron Interna, Externa y SSF.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2CB2E1D-0082-E1F7-8E0B-F90A3302FB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E00A85F-F42F-AB4B-95BE-8A8B50D29861}" type="slidenum">
              <a:rPr kumimoji="0" lang="es-SV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s-SV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835160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6A5246-1289-2501-E76B-99FD1AAC6C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4844576-B082-FD49-EBFF-D88CB1856D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9F51356-BC70-4A72-C845-C6BAA0817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0C911C6-CCCD-EFCE-3DC3-663F37E53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085E2B-4DFB-D2D2-C203-7C543DA28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173455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9B9020-EA08-2516-1B5A-BCDD9C03C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A077ED8-CB52-4C8A-AD7C-FF69313F08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DA8A1C5-EFD4-6D53-6F60-91F7FEC37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9A934E5-6EC7-1E96-3E32-3BBF89B99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E42E576-5068-3919-22AE-2EFC0CFE6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630311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741BA9-205E-F894-3C02-1C6495E0CB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F45D5F7-6E2F-4508-4252-BD37990691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383CB00-BF9E-6F13-D537-AD0E366936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6C7AE8E-7CF9-D7B6-D1ED-21E5FF9086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7F0008D-520F-48DC-8002-8AD9CC9E7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1603021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4220B8-8DAC-8D1C-6637-1BB7C5447C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9A9161A-5259-CE4C-5F36-0C70C7DA06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26E0585-6862-9B66-7349-CA36E8D6FA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613B306-A83F-3642-4CB4-6311A5324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EA5248C-A27A-B405-76D1-3A899EAC8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180EF02-1565-5EF5-1FB7-41B9FDF16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2045744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19B36E-EDCE-87AD-F79D-E35AE04A1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1BCF1C7-0762-26FF-516A-1F5C54FD36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DF51246-48E6-D02D-90D5-3F540BED36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951D2A50-BDD8-0140-6856-B160A3EF9C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3E96DA55-D8D7-ECD8-C1C1-E7CF8F4CC7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6DBD5DE8-BAAD-A23F-E42A-FC78EE2211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0EE4B05-A3D0-6017-130F-86F230B22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D7F5D9EF-48D1-D8F2-FB9C-D4A247EBF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15023707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5D267A-E196-13EF-FD3A-074D479D4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CD7AF0F5-062D-3B95-9353-81F0DA2BC0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8B978C5-1E29-BE73-7E64-204B0F2BC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77B0AA7-3AEF-3A56-2110-DB17D35E4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8904133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9FCC7489-4F6B-4B71-04D6-99301E90D4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E98D37B-9ECE-609D-114F-5B39D35B3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E39F9FC-6691-46A3-5923-57E96A230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5397075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787392-18A3-AFAD-0386-5808804C5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26BC22E-F43A-1EC3-EED9-A963FEEEED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59D0088-C458-B008-17CB-AD362EFD35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8FC4388-D961-AFC4-338C-FE20825D2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C002D08-31EF-ADC4-EF6C-8C048140F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AB107B0-2B1B-DC26-D758-C2A80EA44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655922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C7F8E7-BC43-E55F-DCE0-B17E30AF5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95F264F4-1E54-E14D-A3E8-85E786E6AF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SV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73B5BAF-EA8D-93A7-A944-4B42E7098E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C583257-C538-CBCB-7DE9-A06EA1F23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FB6377A-C88F-0E4E-6512-998D41656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DA2F9A9-D335-A24D-6616-BE2139043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27803793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DB573A-A965-E5F0-C8B7-AD74E3712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1BA8A928-686F-08FA-FA60-82456AC751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E2EED11-37CE-DDE7-0996-F1656333B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1973FC4-35B2-7FA1-6FA6-C69B042A5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19FC8B8-A38F-9C7F-1BF7-3F68A49B1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1124467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77D44C4-F6B0-17CB-171D-21D7EF5588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AF3F919-79AC-F71B-339E-F46E0D56AE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5579CB5-D3C7-4564-4992-AA3FE62DF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0BA4BF1-DEDA-37E8-7D85-7DA091884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A1DFEFA-35D6-51BD-C69D-0EFD2E7FC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07754730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27B7F8D-DE7C-32C4-D228-68696D5B8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CAE6056-C60B-917E-5F56-F732610148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F3682A0-187E-0333-D85D-D60B144E12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1C7C310-C8CD-DCCD-F3E6-D8FE04D6FA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30D2611-9B5A-26DA-21AA-92971AC596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03913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SV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chart" Target="../charts/chart1.xml"/><Relationship Id="rId9" Type="http://schemas.openxmlformats.org/officeDocument/2006/relationships/image" Target="../media/image6.pn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D1139-EC4C-4817-A6D6-CE0CCBB4A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A2E490EE-A001-BCDF-8E53-B55769CA5F29}"/>
              </a:ext>
            </a:extLst>
          </p:cNvPr>
          <p:cNvSpPr txBox="1"/>
          <p:nvPr/>
        </p:nvSpPr>
        <p:spPr>
          <a:xfrm>
            <a:off x="0" y="0"/>
            <a:ext cx="12192000" cy="749422"/>
          </a:xfrm>
          <a:prstGeom prst="rect">
            <a:avLst/>
          </a:prstGeom>
          <a:solidFill>
            <a:srgbClr val="003D6F"/>
          </a:solidFill>
          <a:ln>
            <a:noFill/>
          </a:ln>
          <a:effectLst/>
        </p:spPr>
        <p:txBody>
          <a:bodyPr spcFirstLastPara="0" vert="horz" wrap="square" lIns="114300" tIns="114300" rIns="114300" bIns="114300" numCol="1" spcCol="1270" anchor="ctr" anchorCtr="0">
            <a:noAutofit/>
          </a:bodyPr>
          <a:lstStyle/>
          <a:p>
            <a:pPr lvl="0" algn="ctr" defTabSz="1333500">
              <a:defRPr/>
            </a:pPr>
            <a:r>
              <a:rPr lang="es-SV" sz="1600" b="1" dirty="0">
                <a:solidFill>
                  <a:prstClr val="white"/>
                </a:solidFill>
                <a:latin typeface="Century Gothic"/>
                <a:ea typeface="MS Mincho"/>
              </a:rPr>
              <a:t>REUNIÓN DE LOS LUNES  ·  DEPARTAMENTO DE ADMINISTRACIÓN DE RIESGOS</a:t>
            </a:r>
            <a:endParaRPr kumimoji="0" lang="es-MX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7" name="Título"/>
          <p:cNvSpPr txBox="1"/>
          <p:nvPr/>
        </p:nvSpPr>
        <p:spPr>
          <a:xfrm>
            <a:off x="548640" y="96012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03D6F"/>
                </a:solidFill>
                <a:latin typeface="Century Gothic"/>
              </a:rPr>
              <a:t>Resumen de Riesgos 2026</a:t>
            </a:r>
          </a:p>
        </p:txBody>
      </p:sp>
      <p:sp>
        <p:nvSpPr>
          <p:cNvPr id="8" name="Subtítulo"/>
          <p:cNvSpPr txBox="1"/>
          <p:nvPr/>
        </p:nvSpPr>
        <p:spPr>
          <a:xfrm>
            <a:off x="548640" y="150876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5B6B7B"/>
                </a:solidFill>
                <a:latin typeface="Arial"/>
              </a:rPr>
              <a:t>¿Qué nos piden, quién y cuántas veces?</a:t>
            </a:r>
          </a:p>
        </p:txBody>
      </p:sp>
      <p:sp>
        <p:nvSpPr>
          <p:cNvPr id="9" name="KPI visitas y auditorías"/>
          <p:cNvSpPr/>
          <p:nvPr/>
        </p:nvSpPr>
        <p:spPr>
          <a:xfrm>
            <a:off x="548640" y="2011680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2313432"/>
            <a:ext cx="502920" cy="502920"/>
          </a:xfrm>
          <a:prstGeom prst="ellipse">
            <a:avLst/>
          </a:prstGeom>
          <a:solidFill>
            <a:srgbClr val="00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aClipboardLis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" y="2439162"/>
            <a:ext cx="251460" cy="2514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71600" y="212140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3000" b="1">
                <a:solidFill>
                  <a:srgbClr val="003D6F"/>
                </a:solidFill>
                <a:latin typeface="Century Gothic"/>
              </a:rPr>
              <a:t>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633472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F2A37"/>
                </a:solidFill>
                <a:latin typeface="Arial"/>
              </a:rPr>
              <a:t>visitas y auditorías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843784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7 Interna · 4 Externa · 8 SSF</a:t>
            </a:r>
          </a:p>
        </p:txBody>
      </p:sp>
      <p:sp>
        <p:nvSpPr>
          <p:cNvPr id="15" name="KPI temas solicitados"/>
          <p:cNvSpPr/>
          <p:nvPr/>
        </p:nvSpPr>
        <p:spPr>
          <a:xfrm>
            <a:off x="3355848" y="2011680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38728" y="2313432"/>
            <a:ext cx="502920" cy="502920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aListUl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4458" y="2439162"/>
            <a:ext cx="251460" cy="2514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78808" y="212140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3000" b="1">
                <a:solidFill>
                  <a:srgbClr val="003D6F"/>
                </a:solidFill>
                <a:latin typeface="Century Gothic"/>
              </a:rPr>
              <a:t>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78808" y="2633472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F2A37"/>
                </a:solidFill>
                <a:latin typeface="Arial"/>
              </a:rPr>
              <a:t>temas solicitados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78808" y="2843784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de 31 temas del catálogo</a:t>
            </a:r>
          </a:p>
        </p:txBody>
      </p:sp>
      <p:sp>
        <p:nvSpPr>
          <p:cNvPr id="21" name="KPI temas que se repiten"/>
          <p:cNvSpPr/>
          <p:nvPr/>
        </p:nvSpPr>
        <p:spPr>
          <a:xfrm>
            <a:off x="6163056" y="2011680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45936" y="2313432"/>
            <a:ext cx="502920" cy="502920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FaSyncAlt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1666" y="2439162"/>
            <a:ext cx="251460" cy="2514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986016" y="212140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3000" b="1">
                <a:solidFill>
                  <a:srgbClr val="C62828"/>
                </a:solidFill>
                <a:latin typeface="Century Goth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86016" y="2633472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F2A37"/>
                </a:solidFill>
                <a:latin typeface="Arial"/>
              </a:rPr>
              <a:t>temas que se repiten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86016" y="2843784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pedidos por 2 o más entidades</a:t>
            </a:r>
          </a:p>
        </p:txBody>
      </p:sp>
      <p:sp>
        <p:nvSpPr>
          <p:cNvPr id="27" name="KPI norma más auditada"/>
          <p:cNvSpPr/>
          <p:nvPr/>
        </p:nvSpPr>
        <p:spPr>
          <a:xfrm>
            <a:off x="8970264" y="2011680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153144" y="2313432"/>
            <a:ext cx="502920" cy="502920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FaBalanceScal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78874" y="2439162"/>
            <a:ext cx="251460" cy="2514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793224" y="212140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400" b="1">
                <a:solidFill>
                  <a:srgbClr val="003D6F"/>
                </a:solidFill>
                <a:latin typeface="Century Gothic"/>
              </a:rPr>
              <a:t>NRP-20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93224" y="2633472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F2A37"/>
                </a:solidFill>
                <a:latin typeface="Arial"/>
              </a:rPr>
              <a:t>norma más auditada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93224" y="2843784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5 veces · 3 entidades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3291840"/>
            <a:ext cx="5074920" cy="3063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77240" y="3474720"/>
            <a:ext cx="365760" cy="365760"/>
          </a:xfrm>
          <a:prstGeom prst="ellipse">
            <a:avLst/>
          </a:prstGeom>
          <a:solidFill>
            <a:srgbClr val="00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FaCalendarAlt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3566160"/>
            <a:ext cx="182880" cy="18288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234440" y="3474720"/>
            <a:ext cx="4160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3D6F"/>
                </a:solidFill>
                <a:latin typeface="Century Gothic"/>
              </a:rPr>
              <a:t>¿Cuándo nos visitaron?</a:t>
            </a:r>
          </a:p>
        </p:txBody>
      </p:sp>
      <p:graphicFrame>
        <p:nvGraphicFramePr>
          <p:cNvPr id="37" name="Gráfico visitas por mes"/>
          <p:cNvGraphicFramePr>
            <a:graphicFrameLocks noGrp="1"/>
          </p:cNvGraphicFramePr>
          <p:nvPr/>
        </p:nvGraphicFramePr>
        <p:xfrm>
          <a:off x="685800" y="3886200"/>
          <a:ext cx="4800600" cy="1965960"/>
        </p:xfrm>
        <a:graphic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38" name="Rounded Rectangle 37"/>
          <p:cNvSpPr/>
          <p:nvPr/>
        </p:nvSpPr>
        <p:spPr>
          <a:xfrm>
            <a:off x="777240" y="5925312"/>
            <a:ext cx="4617720" cy="292608"/>
          </a:xfrm>
          <a:prstGeom prst="roundRect">
            <a:avLst>
              <a:gd name="adj" fmla="val 50000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C62828"/>
                </a:solidFill>
                <a:latin typeface="Arial"/>
              </a:rPr>
              <a:t>Octubre: coincidieron las 3 entidades (Interna, Externa y SSF)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806440" y="3291840"/>
            <a:ext cx="5852160" cy="3063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35040" y="3474720"/>
            <a:ext cx="365760" cy="365760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FaExclamationTriangle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26479" y="3566160"/>
            <a:ext cx="182880" cy="18288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92240" y="34747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3D6F"/>
                </a:solidFill>
                <a:latin typeface="Century Gothic"/>
              </a:rPr>
              <a:t>Temas que se repiten: tenerlos siempre listos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943600" y="4005072"/>
            <a:ext cx="5577840" cy="548640"/>
          </a:xfrm>
          <a:prstGeom prst="roundRect">
            <a:avLst>
              <a:gd name="adj" fmla="val 15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80759" y="4041648"/>
            <a:ext cx="28803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Actas Comité de Riesgos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06840" y="4005072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03D6F"/>
                </a:solidFill>
                <a:latin typeface="Arial"/>
              </a:rPr>
              <a:t>NRP-20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738359" y="4160520"/>
            <a:ext cx="731520" cy="23774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Interna ×3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543032" y="4160520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Externa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80759" y="4608576"/>
            <a:ext cx="28803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Riesgo de crédito</a:t>
            </a:r>
          </a:p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Cartera, mora y reservas · Pérdida Esperada · Remisiones a SSF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06840" y="457200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03D6F"/>
                </a:solidFill>
                <a:latin typeface="Arial"/>
              </a:rPr>
              <a:t>NCB-022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738359" y="4727448"/>
            <a:ext cx="731520" cy="23774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Interna ×2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543032" y="47274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Externa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943600" y="5138928"/>
            <a:ext cx="5577840" cy="548640"/>
          </a:xfrm>
          <a:prstGeom prst="roundRect">
            <a:avLst>
              <a:gd name="adj" fmla="val 15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080759" y="5175504"/>
            <a:ext cx="28803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Plan de Continuidad (BCP/DRP)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06840" y="513892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03D6F"/>
                </a:solidFill>
                <a:latin typeface="Arial"/>
              </a:rPr>
              <a:t>NRP-24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738359" y="5294376"/>
            <a:ext cx="731520" cy="23774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Interna ×2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543032" y="529437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Externa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080759" y="5742432"/>
            <a:ext cx="28803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Gobierno Corporativo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06840" y="5705856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03D6F"/>
                </a:solidFill>
                <a:latin typeface="Arial"/>
              </a:rPr>
              <a:t>NRP-17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738359" y="5861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Interna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0378439" y="5861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SSF</a:t>
            </a:r>
          </a:p>
        </p:txBody>
      </p:sp>
      <p:sp>
        <p:nvSpPr>
          <p:cNvPr id="61" name="Fuente"/>
          <p:cNvSpPr txBox="1"/>
          <p:nvPr/>
        </p:nvSpPr>
        <p:spPr>
          <a:xfrm>
            <a:off x="548640" y="6473952"/>
            <a:ext cx="11064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Fuente: Matriz de Requerimientos de Riesgos 2026, hoja «Resumen Riesgos» · corte octubre 2026</a:t>
            </a:r>
          </a:p>
        </p:txBody>
      </p:sp>
    </p:spTree>
    <p:extLst>
      <p:ext uri="{BB962C8B-B14F-4D97-AF65-F5344CB8AC3E}">
        <p14:creationId xmlns:p14="http://schemas.microsoft.com/office/powerpoint/2010/main" val="400191656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d98dab1c-c8f3-4f9c-8270-c22a94ade099}" enabled="0" method="" siteId="{d98dab1c-c8f3-4f9c-8270-c22a94ade099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458</Words>
  <Application>Microsoft Office PowerPoint</Application>
  <PresentationFormat>Panorámica</PresentationFormat>
  <Paragraphs>39</Paragraphs>
  <Slides>10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Century Gothic</vt:lpstr>
      <vt:lpstr>Myriad Pro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Maria Alejandra Batres Alvarado</dc:creator>
  <cp:lastModifiedBy>Hector Jose Menjivar Somoza</cp:lastModifiedBy>
  <cp:revision>17</cp:revision>
  <dcterms:created xsi:type="dcterms:W3CDTF">2025-07-17T21:19:45Z</dcterms:created>
  <dcterms:modified xsi:type="dcterms:W3CDTF">2026-10-24T19:14:06Z</dcterms:modified>
</cp:coreProperties>
</file>