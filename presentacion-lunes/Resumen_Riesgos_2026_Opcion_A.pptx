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Interna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2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</c:v>
                </c:pt>
              </c:strCache>
            </c:strRef>
          </c:tx>
          <c:spPr>
            <a:solidFill>
              <a:srgbClr val="E8871E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SSF</c:v>
                </c:pt>
              </c:strCache>
            </c:strRef>
          </c:tx>
          <c:spPr>
            <a:solidFill>
              <a:srgbClr val="2E9E5B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Gridlines>
          <c:spPr>
            <a:ln w="9525"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068027336"/>
        <c:crosses val="autoZero"/>
        <c:majorUnit val="1.0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5B6B7B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SSF. Seis temas los pidieron 2 o más entidades: hay que tenerlos siempre listos, sobre todo las Actas del Comité de Riesgos (NRP-20), pedidas 4 veces, y Clasificación de cartera y el Plan de Continuidad, pedidos 3 veces cada uno. NRP-20 es la norma más revisada (5 veces, 3 entidades).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chart" Target="../charts/chart1.xml"/><Relationship Id="rId9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¿Qué nos piden, quién y cuántas veces?</a:t>
            </a:r>
          </a:p>
        </p:txBody>
      </p:sp>
      <p:sp>
        <p:nvSpPr>
          <p:cNvPr id="9" name="KPI visitas y auditorías"/>
          <p:cNvSpPr/>
          <p:nvPr/>
        </p:nvSpPr>
        <p:spPr>
          <a:xfrm>
            <a:off x="548640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313432"/>
            <a:ext cx="502920" cy="50292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ClipboardLis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243916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visitas y auditorías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5" name="KPI temas solicitados"/>
          <p:cNvSpPr/>
          <p:nvPr/>
        </p:nvSpPr>
        <p:spPr>
          <a:xfrm>
            <a:off x="3355848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8728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istU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458" y="2439162"/>
            <a:ext cx="251460" cy="2514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78808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solicitados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8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de 31 temas del catálogo</a:t>
            </a:r>
          </a:p>
        </p:txBody>
      </p:sp>
      <p:sp>
        <p:nvSpPr>
          <p:cNvPr id="21" name="KPI temas que se repiten"/>
          <p:cNvSpPr/>
          <p:nvPr/>
        </p:nvSpPr>
        <p:spPr>
          <a:xfrm>
            <a:off x="6163056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45936" y="2313432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SyncA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666" y="2439162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6016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C62828"/>
                </a:solidFill>
                <a:latin typeface="Century Gothic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que se repiten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pedidos por 2 o más entidades</a:t>
            </a:r>
          </a:p>
        </p:txBody>
      </p:sp>
      <p:sp>
        <p:nvSpPr>
          <p:cNvPr id="27" name="KPI norma más auditada"/>
          <p:cNvSpPr/>
          <p:nvPr/>
        </p:nvSpPr>
        <p:spPr>
          <a:xfrm>
            <a:off x="8970264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53144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Balance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8874" y="2439162"/>
            <a:ext cx="251460" cy="2514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793224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4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3224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norma más auditada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224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5 veces · 3 entidades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291840"/>
            <a:ext cx="507492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240" y="3474720"/>
            <a:ext cx="365760" cy="36576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aCalendarA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566160"/>
            <a:ext cx="182880" cy="1828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34440" y="347472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¿Cuándo nos visitaron?</a:t>
            </a:r>
          </a:p>
        </p:txBody>
      </p:sp>
      <p:graphicFrame>
        <p:nvGraphicFramePr>
          <p:cNvPr id="37" name="Gráfico visitas por mes"/>
          <p:cNvGraphicFramePr>
            <a:graphicFrameLocks noGrp="1"/>
          </p:cNvGraphicFramePr>
          <p:nvPr/>
        </p:nvGraphicFramePr>
        <p:xfrm>
          <a:off x="685800" y="3886200"/>
          <a:ext cx="4800600" cy="19659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77240" y="5925312"/>
            <a:ext cx="4617720" cy="292608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Octubre: coincidieron las 3 entidades (Interna, Externa y SSF)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291840"/>
            <a:ext cx="58521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5040" y="3474720"/>
            <a:ext cx="365760" cy="36576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ExclamationTriangl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79" y="3566160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92240" y="3474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Temas que se repiten: tenerlos siempre listos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0" y="3968496"/>
            <a:ext cx="5577840" cy="384048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59" y="400507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4005072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NRP-20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38359" y="404164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43032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59" y="4389120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Clasificación de cartera, mora y reservas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4389120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38359" y="442569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43032" y="442569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4736592"/>
            <a:ext cx="5577840" cy="384048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80759" y="4773168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6840" y="4773168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NRP-24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59" y="480974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43032" y="4809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59" y="5157216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Pérdida Esperada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515721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38359" y="519379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378439" y="519379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43600" y="5504688"/>
            <a:ext cx="5577840" cy="384048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80759" y="5541264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Remisiones a SSF / central de riesgos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541264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738359" y="55778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378439" y="55778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59" y="592531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5925312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NRP-17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38359" y="59618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378439" y="59618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70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