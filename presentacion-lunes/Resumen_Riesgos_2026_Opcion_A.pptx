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Interna</c:v>
                </c:pt>
              </c:strCache>
            </c:strRef>
          </c:tx>
          <c:spPr>
            <a:solidFill>
              <a:srgbClr val="1565C0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1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</c:v>
                </c:pt>
              </c:strCache>
            </c:strRef>
          </c:tx>
          <c:spPr>
            <a:solidFill>
              <a:srgbClr val="E8871E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SSF</c:v>
                </c:pt>
              </c:strCache>
            </c:strRef>
          </c:tx>
          <c:spPr>
            <a:solidFill>
              <a:srgbClr val="2E9E5B"/>
            </a:solidFill>
          </c:spP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2</c:v>
                </c:pt>
                <c:pt idx="8">
                  <c:v>1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0"/>
          <c:min val="0.0"/>
        </c:scaling>
        <c:delete val="0"/>
        <c:axPos val="l"/>
        <c:majorGridlines>
          <c:spPr>
            <a:ln w="9525"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Arial"/>
              </a:defRPr>
            </a:pPr>
          </a:p>
        </c:txPr>
        <c:crossAx val="-2068027336"/>
        <c:crosses val="autoZero"/>
        <c:majorUnit val="1.0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5B6B7B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12 veces: 3 auditorías internas, 1 externa y 8 visitas de la SSF. Seis temas los pidieron 2 o más entidades: hay que tenerlos siempre listos, sobre todo las Actas del Comité de Riesgos (NRP-20), que se pidieron 4 veces. NRP-20 es la norma más revisada (5 veces, 3 entidades). Octubre fue el mes de mayor carga: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chart" Target="../charts/chart1.xml"/><Relationship Id="rId9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¿Qué nos piden, quién y cuántas veces?</a:t>
            </a:r>
          </a:p>
        </p:txBody>
      </p:sp>
      <p:sp>
        <p:nvSpPr>
          <p:cNvPr id="9" name="KPI visitas y auditorías"/>
          <p:cNvSpPr/>
          <p:nvPr/>
        </p:nvSpPr>
        <p:spPr>
          <a:xfrm>
            <a:off x="548640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313432"/>
            <a:ext cx="502920" cy="50292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ClipboardLis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243916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visitas y auditorías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3 Interna · 1 Externa · 8 SSF</a:t>
            </a:r>
          </a:p>
        </p:txBody>
      </p:sp>
      <p:sp>
        <p:nvSpPr>
          <p:cNvPr id="15" name="KPI temas solicitados"/>
          <p:cNvSpPr/>
          <p:nvPr/>
        </p:nvSpPr>
        <p:spPr>
          <a:xfrm>
            <a:off x="3355848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8728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ListUl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458" y="2439162"/>
            <a:ext cx="251460" cy="2514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78808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temas solicitados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808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de 29 temas del catálogo</a:t>
            </a:r>
          </a:p>
        </p:txBody>
      </p:sp>
      <p:sp>
        <p:nvSpPr>
          <p:cNvPr id="21" name="KPI temas que se repiten"/>
          <p:cNvSpPr/>
          <p:nvPr/>
        </p:nvSpPr>
        <p:spPr>
          <a:xfrm>
            <a:off x="6163056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45936" y="2313432"/>
            <a:ext cx="502920" cy="50292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SyncA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666" y="2439162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6016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>
                <a:solidFill>
                  <a:srgbClr val="C62828"/>
                </a:solidFill>
                <a:latin typeface="Century Gothic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temas que se repiten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016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pedidos por 2 o más entidades</a:t>
            </a:r>
          </a:p>
        </p:txBody>
      </p:sp>
      <p:sp>
        <p:nvSpPr>
          <p:cNvPr id="27" name="KPI norma más auditada"/>
          <p:cNvSpPr/>
          <p:nvPr/>
        </p:nvSpPr>
        <p:spPr>
          <a:xfrm>
            <a:off x="8970264" y="2011680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53144" y="2313432"/>
            <a:ext cx="502920" cy="5029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BalanceSca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8874" y="2439162"/>
            <a:ext cx="251460" cy="2514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793224" y="212140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400" b="1">
                <a:solidFill>
                  <a:srgbClr val="003D6F"/>
                </a:solidFill>
                <a:latin typeface="Century Gothic"/>
              </a:rPr>
              <a:t>NRP-20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3224" y="263347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norma más auditada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3224" y="284378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5 veces · 3 entidades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291840"/>
            <a:ext cx="507492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7240" y="3474720"/>
            <a:ext cx="365760" cy="365760"/>
          </a:xfrm>
          <a:prstGeom prst="ellipse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aCalendarA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566160"/>
            <a:ext cx="182880" cy="1828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34440" y="347472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¿Cuándo nos visitaron?</a:t>
            </a:r>
          </a:p>
        </p:txBody>
      </p:sp>
      <p:graphicFrame>
        <p:nvGraphicFramePr>
          <p:cNvPr id="37" name="Gráfico visitas por mes"/>
          <p:cNvGraphicFramePr>
            <a:graphicFrameLocks noGrp="1"/>
          </p:cNvGraphicFramePr>
          <p:nvPr/>
        </p:nvGraphicFramePr>
        <p:xfrm>
          <a:off x="685800" y="3886200"/>
          <a:ext cx="4800600" cy="19659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77240" y="5925312"/>
            <a:ext cx="4617720" cy="292608"/>
          </a:xfrm>
          <a:prstGeom prst="roundRect">
            <a:avLst>
              <a:gd name="adj" fmla="val 5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Octubre: coincidieron las 3 entidades (Interna, Externa y SSF)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291840"/>
            <a:ext cx="5852160" cy="3063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5040" y="3474720"/>
            <a:ext cx="365760" cy="36576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FaExclamationTriangl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79" y="3566160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92240" y="3474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Temas que se repiten: tenerlos siempre listos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0" y="3968496"/>
            <a:ext cx="5577840" cy="384048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59" y="400507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Actas Comité de Riesgos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4005072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NRP-20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38359" y="404164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43032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59" y="4389120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Pérdida Esperada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4389120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38359" y="442569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78439" y="442569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4736592"/>
            <a:ext cx="5577840" cy="384048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80759" y="4773168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Clasificación de cartera, mora y reservas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6840" y="4773168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8359" y="480974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378439" y="480974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59" y="5157216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Remisiones a SSF / central de riesgos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515721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38359" y="519379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378439" y="519379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43600" y="5504688"/>
            <a:ext cx="5577840" cy="384048"/>
          </a:xfrm>
          <a:prstGeom prst="roundRect">
            <a:avLst>
              <a:gd name="adj" fmla="val 2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80759" y="5541264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Gobierno Corporativo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5541264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NRP-17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738359" y="557784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378439" y="557784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59" y="592531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5925312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NRP-24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38359" y="59618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378439" y="59618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70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