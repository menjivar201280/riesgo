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Interna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2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</c:v>
                </c:pt>
              </c:strCache>
            </c:strRef>
          </c:tx>
          <c:spPr>
            <a:solidFill>
              <a:srgbClr val="E8871E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SSF</c:v>
                </c:pt>
              </c:strCache>
            </c:strRef>
          </c:tx>
          <c:spPr>
            <a:solidFill>
              <a:srgbClr val="2E9E5B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>
          <c:spPr>
            <a:ln w="9525"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SSF, y pidieron 26 temas distintos. Contamos por norma: cada visita cuenta una vez por norma. Cinco normas las revisaron 2 o más entidades y hay que tenerlas siempre listas: NRP-20, 5 veces (Interna 2, Externa 1, SSF 2); NCB-022, 3 veces; NRP-24, 3 veces; NPB4-49, 2 veces; NRP-17, 2 veces. NRP-20 es la norma más revisada.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chart" Target="../charts/chart1.xml"/><Relationship Id="rId9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¿Qué nos piden, quién y cuántas veces?</a:t>
            </a:r>
          </a:p>
        </p:txBody>
      </p:sp>
      <p:sp>
        <p:nvSpPr>
          <p:cNvPr id="9" name="KPI visitas y auditorías"/>
          <p:cNvSpPr/>
          <p:nvPr/>
        </p:nvSpPr>
        <p:spPr>
          <a:xfrm>
            <a:off x="548640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313432"/>
            <a:ext cx="502920" cy="50292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lipboardLis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43916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visitas y auditorías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5" name="KPI temas pedidos"/>
          <p:cNvSpPr/>
          <p:nvPr/>
        </p:nvSpPr>
        <p:spPr>
          <a:xfrm>
            <a:off x="3355848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8728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istU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458" y="243916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78808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pedidos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8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distintos, de 31 del catálogo</a:t>
            </a:r>
          </a:p>
        </p:txBody>
      </p:sp>
      <p:sp>
        <p:nvSpPr>
          <p:cNvPr id="21" name="KPI normas que se repiten"/>
          <p:cNvSpPr/>
          <p:nvPr/>
        </p:nvSpPr>
        <p:spPr>
          <a:xfrm>
            <a:off x="6163056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45936" y="2313432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Sync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666" y="2439162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6016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C62828"/>
                </a:solidFill>
                <a:latin typeface="Century Gothi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normas que se repiten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las revisan 2 o más entidades</a:t>
            </a:r>
          </a:p>
        </p:txBody>
      </p:sp>
      <p:sp>
        <p:nvSpPr>
          <p:cNvPr id="27" name="KPI norma más auditada"/>
          <p:cNvSpPr/>
          <p:nvPr/>
        </p:nvSpPr>
        <p:spPr>
          <a:xfrm>
            <a:off x="8970264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53144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Balance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8874" y="2439162"/>
            <a:ext cx="251460" cy="2514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793224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4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224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norma más auditada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5 veces · 3 entidades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291840"/>
            <a:ext cx="507492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240" y="3474720"/>
            <a:ext cx="365760" cy="36576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CalendarA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566160"/>
            <a:ext cx="182880" cy="1828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34440" y="347472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¿Cuándo nos visitaron?</a:t>
            </a:r>
          </a:p>
        </p:txBody>
      </p:sp>
      <p:graphicFrame>
        <p:nvGraphicFramePr>
          <p:cNvPr id="37" name="Gráfico visitas por mes"/>
          <p:cNvGraphicFramePr>
            <a:graphicFrameLocks noGrp="1"/>
          </p:cNvGraphicFramePr>
          <p:nvPr/>
        </p:nvGraphicFramePr>
        <p:xfrm>
          <a:off x="685800" y="3886200"/>
          <a:ext cx="4800600" cy="19659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77240" y="5925312"/>
            <a:ext cx="4617720" cy="292608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Octubre: coincidieron las 3 entidades (Interna, Externa y SSF)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91840"/>
            <a:ext cx="58521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5040" y="3474720"/>
            <a:ext cx="365760" cy="36576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ExclamationTriangl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79" y="3566160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Normas que se repiten: tenerlas siempre listas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3977639"/>
            <a:ext cx="5577840" cy="457200"/>
          </a:xfrm>
          <a:prstGeom prst="roundRect">
            <a:avLst>
              <a:gd name="adj" fmla="val 1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59" y="40050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3D6F"/>
                </a:solidFill>
                <a:latin typeface="Arial"/>
              </a:rPr>
              <a:t>NRP-20</a:t>
            </a:r>
            <a:r>
              <a:rPr sz="1000" b="1">
                <a:solidFill>
                  <a:srgbClr val="C62828"/>
                </a:solidFill>
                <a:latin typeface="Arial"/>
              </a:rPr>
              <a:t>   5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Actas · Informes GIR · Plan de trabajo · Visita integral SSF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18320" y="4087368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77272" y="40873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780776" y="4087368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 ×2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59" y="44622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3D6F"/>
                </a:solidFill>
                <a:latin typeface="Arial"/>
              </a:rPr>
              <a:t>NCB-022</a:t>
            </a:r>
            <a:r>
              <a:rPr sz="1000" b="1">
                <a:solidFill>
                  <a:srgbClr val="C62828"/>
                </a:solidFill>
                <a:latin typeface="Arial"/>
              </a:rPr>
              <a:t>   3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 · Pérdida Esperada · Remisiones SSF · Migración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18320" y="4544568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77272" y="45445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0" y="4892040"/>
            <a:ext cx="5577840" cy="457200"/>
          </a:xfrm>
          <a:prstGeom prst="roundRect">
            <a:avLst>
              <a:gd name="adj" fmla="val 1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59" y="49194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3D6F"/>
                </a:solidFill>
                <a:latin typeface="Arial"/>
              </a:rPr>
              <a:t>NRP-24</a:t>
            </a:r>
            <a:r>
              <a:rPr sz="1000" b="1">
                <a:solidFill>
                  <a:srgbClr val="C62828"/>
                </a:solidFill>
                <a:latin typeface="Arial"/>
              </a:rPr>
              <a:t>   3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Plan de Continuidad (BCP/DRP) · Actas del 16 de octubre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18320" y="5001768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77272" y="50017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80759" y="53766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3D6F"/>
                </a:solidFill>
                <a:latin typeface="Arial"/>
              </a:rPr>
              <a:t>NPB4-49</a:t>
            </a:r>
            <a:r>
              <a:rPr sz="1000" b="1">
                <a:solidFill>
                  <a:srgbClr val="5B6B7B"/>
                </a:solidFill>
                <a:latin typeface="Arial"/>
              </a:rPr>
              <a:t>   2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Escenarios de estrés · Concentración crediticia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418320" y="54589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021824" y="54589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0" y="5806440"/>
            <a:ext cx="5577840" cy="457200"/>
          </a:xfrm>
          <a:prstGeom prst="roundRect">
            <a:avLst>
              <a:gd name="adj" fmla="val 1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59" y="58338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3D6F"/>
                </a:solidFill>
                <a:latin typeface="Arial"/>
              </a:rPr>
              <a:t>NRP-17</a:t>
            </a:r>
            <a:r>
              <a:rPr sz="1000" b="1">
                <a:solidFill>
                  <a:srgbClr val="5B6B7B"/>
                </a:solidFill>
                <a:latin typeface="Arial"/>
              </a:rPr>
              <a:t>   2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Gobierno Corporativo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18320" y="59161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21824" y="591616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62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hojas «Resumen Riesgos» y «Consolidado»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