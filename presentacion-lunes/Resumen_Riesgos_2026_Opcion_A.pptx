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321" r:id="rId3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E"/>
    <a:srgbClr val="004184"/>
    <a:srgbClr val="0053A8"/>
    <a:srgbClr val="005C9F"/>
    <a:srgbClr val="005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52236-3FAF-4113-A4F6-0C3A1563E69A}" v="1" dt="2026-10-24T19:13:56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ose Menjivar Somoza" userId="0c251d33-8269-45bf-9bec-169219cd79c7" providerId="ADAL" clId="{E24BF829-F682-4B96-8073-D53758CC38A2}"/>
    <pc:docChg chg="addSld delSld modSld sldOrd">
      <pc:chgData name="Hector Jose Menjivar Somoza" userId="0c251d33-8269-45bf-9bec-169219cd79c7" providerId="ADAL" clId="{E24BF829-F682-4B96-8073-D53758CC38A2}" dt="2026-10-24T19:13:57.984" v="4"/>
      <pc:docMkLst>
        <pc:docMk/>
      </pc:docMkLst>
      <pc:sldChg chg="del">
        <pc:chgData name="Hector Jose Menjivar Somoza" userId="0c251d33-8269-45bf-9bec-169219cd79c7" providerId="ADAL" clId="{E24BF829-F682-4B96-8073-D53758CC38A2}" dt="2026-10-24T19:13:48.328" v="1" actId="2696"/>
        <pc:sldMkLst>
          <pc:docMk/>
          <pc:sldMk cId="662215908" sldId="257"/>
        </pc:sldMkLst>
      </pc:sldChg>
      <pc:sldChg chg="modSp mod">
        <pc:chgData name="Hector Jose Menjivar Somoza" userId="0c251d33-8269-45bf-9bec-169219cd79c7" providerId="ADAL" clId="{E24BF829-F682-4B96-8073-D53758CC38A2}" dt="2026-10-22T21:22:43.936" v="0" actId="1076"/>
        <pc:sldMkLst>
          <pc:docMk/>
          <pc:sldMk cId="1188959789" sldId="261"/>
        </pc:sldMkLst>
        <pc:picChg chg="mod">
          <ac:chgData name="Hector Jose Menjivar Somoza" userId="0c251d33-8269-45bf-9bec-169219cd79c7" providerId="ADAL" clId="{E24BF829-F682-4B96-8073-D53758CC38A2}" dt="2026-10-22T21:22:43.936" v="0" actId="1076"/>
          <ac:picMkLst>
            <pc:docMk/>
            <pc:sldMk cId="1188959789" sldId="261"/>
            <ac:picMk id="2" creationId="{581614C1-8597-C084-8870-3EA3BD6672B3}"/>
          </ac:picMkLst>
        </pc:picChg>
      </pc:sldChg>
      <pc:sldChg chg="add ord">
        <pc:chgData name="Hector Jose Menjivar Somoza" userId="0c251d33-8269-45bf-9bec-169219cd79c7" providerId="ADAL" clId="{E24BF829-F682-4B96-8073-D53758CC38A2}" dt="2026-10-24T19:13:57.984" v="4"/>
        <pc:sldMkLst>
          <pc:docMk/>
          <pc:sldMk cId="3045456205" sldId="1326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</c:v>
                </c:pt>
              </c:strCache>
            </c:strRef>
          </c:tx>
          <c:spPr>
            <a:solidFill>
              <a:srgbClr val="1565C0"/>
            </a:solidFill>
          </c:spP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</c:v>
                </c:pt>
              </c:strCache>
            </c:strRef>
          </c:tx>
          <c:spPr>
            <a:solidFill>
              <a:srgbClr val="E8871E"/>
            </a:solidFill>
          </c:spP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SSF</c:v>
                </c:pt>
              </c:strCache>
            </c:strRef>
          </c:tx>
          <c:spPr>
            <a:solidFill>
              <a:srgbClr val="2E9E5B"/>
            </a:solidFill>
          </c:spP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2DC"/>
            </a:solidFill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 w="9525">
              <a:solidFill>
                <a:srgbClr val="DDE3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Arial"/>
              </a:defRPr>
            </a:pPr>
          </a:p>
        </c:txPr>
        <c:crossAx val="-2068027336"/>
        <c:crosses val="autoZero"/>
        <c:majorUnit val="1.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5B6B7B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B3AB5-647A-834A-ABF4-E74A52371851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EAE39-7648-3748-A12E-11B4DE5E48BF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8137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9FF0-439B-F3B6-7773-EDB1EFDE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8A0F81-2EE0-3264-F475-80F982C50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9C13C6-BD03-0EDA-62BD-52038E897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de lo que nos pidieron en 2026. Vinieron 19 veces: 7 auditorías internas, 4 externas y 8 visitas de la SSF, y en total pidieron 26 temas distintos. Cuatro temas los pidieron 2 o más entidades: hay que tenerlos siempre listos. Las Actas del Comité de Riesgos (NRP-20) se pidieron 4 veces; los temas de NCB-022 (cartera y reservas, Pérdida Esperada, remisiones a SSF y matriz de migración) y el Plan de Continuidad, 3 veces cada uno; Gobierno Corporativo, 2 veces. NRP-20 es la norma más revisada: 5 veces, por 3 entidades. En octubre coincidieron Interna, Externa y SSF.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CB2E1D-0082-E1F7-8E0B-F90A3302F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00A85F-F42F-AB4B-95BE-8A8B50D29861}" type="slidenum">
              <a:rPr kumimoji="0" lang="es-SV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516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A5246-1289-2501-E76B-99FD1AAC6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44576-B082-FD49-EBFF-D88CB1856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51356-BC70-4A72-C845-C6BAA081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911C6-CCCD-EFCE-3DC3-663F37E5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85E2B-4DFB-D2D2-C203-7C543DA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7345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B9020-EA08-2516-1B5A-BCDD9C03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77ED8-CB52-4C8A-AD7C-FF69313F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A8A1C5-EFD4-6D53-6F60-91F7FEC3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934E5-6EC7-1E96-3E32-3BBF89B9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42E576-5068-3919-22AE-2EFC0CFE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303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41BA9-205E-F894-3C02-1C6495E0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45D5F7-6E2F-4508-4252-BD379906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83CB00-BF9E-6F13-D537-AD0E3669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7AE8E-7CF9-D7B6-D1ED-21E5FF90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F0008D-520F-48DC-8002-8AD9CC9E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6030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220B8-8DAC-8D1C-6637-1BB7C544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9161A-5259-CE4C-5F36-0C70C7DA0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6E0585-6862-9B66-7349-CA36E8D6F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13B306-A83F-3642-4CB4-6311A532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5248C-A27A-B405-76D1-3A899EAC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0EF02-1565-5EF5-1FB7-41B9FDF1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457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9B36E-EDCE-87AD-F79D-E35AE04A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BCF1C7-0762-26FF-516A-1F5C54FD3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F51246-48E6-D02D-90D5-3F540BED3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1D2A50-BDD8-0140-6856-B160A3EF9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96DA55-D8D7-ECD8-C1C1-E7CF8F4CC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BD5DE8-BAAD-A23F-E42A-FC78EE22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EE4B05-A3D0-6017-130F-86F230B2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F5D9EF-48D1-D8F2-FB9C-D4A247EB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0237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D267A-E196-13EF-FD3A-074D479D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7AF0F5-062D-3B95-9353-81F0DA2B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B978C5-1E29-BE73-7E64-204B0F2B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7B0AA7-3AEF-3A56-2110-DB17D35E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9041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CC7489-4F6B-4B71-04D6-99301E90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98D37B-9ECE-609D-114F-5B39D35B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39F9FC-6691-46A3-5923-57E96A23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3970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87392-18A3-AFAD-0386-5808804C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6BC22E-F43A-1EC3-EED9-A963FEEE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D0088-C458-B008-17CB-AD362EFD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FC4388-D961-AFC4-338C-FE20825D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002D08-31EF-ADC4-EF6C-8C048140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107B0-2B1B-DC26-D758-C2A80EA4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5592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7F8E7-BC43-E55F-DCE0-B17E30AF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F264F4-1E54-E14D-A3E8-85E786E6A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3B5BAF-EA8D-93A7-A944-4B42E709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583257-C538-CBCB-7DE9-A06EA1F2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6377A-C88F-0E4E-6512-998D4165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A2F9A9-D335-A24D-6616-BE213904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8037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B573A-A965-E5F0-C8B7-AD74E371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A8A928-686F-08FA-FA60-82456AC75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2EED11-37CE-DDE7-0996-F1656333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973FC4-35B2-7FA1-6FA6-C69B042A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FC8B8-A38F-9C7F-1BF7-3F68A49B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1244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7D44C4-F6B0-17CB-171D-21D7EF558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F3F919-79AC-F71B-339E-F46E0D56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579CB5-D3C7-4564-4992-AA3FE62D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BA4BF1-DEDA-37E8-7D85-7DA09188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1DFEFA-35D6-51BD-C69D-0EFD2E7F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77547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7B7F8D-DE7C-32C4-D228-68696D5B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E6056-C60B-917E-5F56-F7326101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3682A0-187E-0333-D85D-D60B144E1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C7C310-C8CD-DCCD-F3E6-D8FE04D6F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0D2611-9B5A-26DA-21AA-92971AC59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391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chart" Target="../charts/chart1.xml"/><Relationship Id="rId9" Type="http://schemas.openxmlformats.org/officeDocument/2006/relationships/image" Target="../media/image6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1139-EC4C-4817-A6D6-CE0CCBB4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E490EE-A001-BCDF-8E53-B55769CA5F29}"/>
              </a:ext>
            </a:extLst>
          </p:cNvPr>
          <p:cNvSpPr txBox="1"/>
          <p:nvPr/>
        </p:nvSpPr>
        <p:spPr>
          <a:xfrm>
            <a:off x="0" y="0"/>
            <a:ext cx="12192000" cy="749422"/>
          </a:xfrm>
          <a:prstGeom prst="rect">
            <a:avLst/>
          </a:prstGeom>
          <a:solidFill>
            <a:srgbClr val="003D6F"/>
          </a:solidFill>
          <a:ln>
            <a:noFill/>
          </a:ln>
          <a:effectLst/>
        </p:spPr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lvl="0" algn="ctr" defTabSz="1333500">
              <a:defRPr/>
            </a:pPr>
            <a:r>
              <a:rPr lang="es-SV" sz="1600" b="1" dirty="0">
                <a:solidFill>
                  <a:prstClr val="white"/>
                </a:solidFill>
                <a:latin typeface="Century Gothic"/>
                <a:ea typeface="MS Mincho"/>
              </a:rPr>
              <a:t>REUNIÓN DE LOS LUNES  ·  DEPARTAMENTO DE ADMINISTRACIÓN DE RIESGOS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ítulo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3D6F"/>
                </a:solidFill>
                <a:latin typeface="Century Gothic"/>
              </a:rPr>
              <a:t>Resumen de Riesgos 2026</a:t>
            </a:r>
          </a:p>
        </p:txBody>
      </p:sp>
      <p:sp>
        <p:nvSpPr>
          <p:cNvPr id="8" name="Subtítulo"/>
          <p:cNvSpPr txBox="1"/>
          <p:nvPr/>
        </p:nvSpPr>
        <p:spPr>
          <a:xfrm>
            <a:off x="548640" y="1508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rial"/>
              </a:rPr>
              <a:t>¿Qué nos piden, quién y cuántas veces?</a:t>
            </a:r>
          </a:p>
        </p:txBody>
      </p:sp>
      <p:sp>
        <p:nvSpPr>
          <p:cNvPr id="9" name="KPI visitas y auditorías"/>
          <p:cNvSpPr/>
          <p:nvPr/>
        </p:nvSpPr>
        <p:spPr>
          <a:xfrm>
            <a:off x="548640" y="20116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13432"/>
            <a:ext cx="502920" cy="502920"/>
          </a:xfrm>
          <a:prstGeom prst="ellipse">
            <a:avLst/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Clipboard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439162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1214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003D6F"/>
                </a:solidFill>
                <a:latin typeface="Century Gothic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334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visitas y auditorías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437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7 Interna · 4 Externa · 8 SSF</a:t>
            </a:r>
          </a:p>
        </p:txBody>
      </p:sp>
      <p:sp>
        <p:nvSpPr>
          <p:cNvPr id="15" name="KPI temas pedidos"/>
          <p:cNvSpPr/>
          <p:nvPr/>
        </p:nvSpPr>
        <p:spPr>
          <a:xfrm>
            <a:off x="3355848" y="20116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8" y="2313432"/>
            <a:ext cx="502920" cy="5029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ListU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458" y="2439162"/>
            <a:ext cx="251460" cy="251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78808" y="21214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003D6F"/>
                </a:solidFill>
                <a:latin typeface="Century Gothic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6334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temas pedidos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8437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distintos, de 31 del catálogo</a:t>
            </a:r>
          </a:p>
        </p:txBody>
      </p:sp>
      <p:sp>
        <p:nvSpPr>
          <p:cNvPr id="21" name="KPI temas que se repiten"/>
          <p:cNvSpPr/>
          <p:nvPr/>
        </p:nvSpPr>
        <p:spPr>
          <a:xfrm>
            <a:off x="6163056" y="20116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45936" y="2313432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SyncA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666" y="2439162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6016" y="21214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C62828"/>
                </a:solidFill>
                <a:latin typeface="Century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26334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temas que se repiten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28437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pedidos por 2 o más entidades</a:t>
            </a:r>
          </a:p>
        </p:txBody>
      </p:sp>
      <p:sp>
        <p:nvSpPr>
          <p:cNvPr id="27" name="KPI norma más auditada"/>
          <p:cNvSpPr/>
          <p:nvPr/>
        </p:nvSpPr>
        <p:spPr>
          <a:xfrm>
            <a:off x="8970264" y="201168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53144" y="2313432"/>
            <a:ext cx="502920" cy="5029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Balance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8874" y="2439162"/>
            <a:ext cx="251460" cy="2514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93224" y="21214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003D6F"/>
                </a:solidFill>
                <a:latin typeface="Century Gothic"/>
              </a:rPr>
              <a:t>NRP-20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26334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norma más auditada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28437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5 veces · 3 entidades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291840"/>
            <a:ext cx="507492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" y="3474720"/>
            <a:ext cx="365760" cy="365760"/>
          </a:xfrm>
          <a:prstGeom prst="ellipse">
            <a:avLst/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CalendarA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566160"/>
            <a:ext cx="182880" cy="1828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4440" y="34747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3D6F"/>
                </a:solidFill>
                <a:latin typeface="Century Gothic"/>
              </a:rPr>
              <a:t>¿Cuándo nos visitaron?</a:t>
            </a:r>
          </a:p>
        </p:txBody>
      </p:sp>
      <p:graphicFrame>
        <p:nvGraphicFramePr>
          <p:cNvPr id="37" name="Gráfico visitas por mes"/>
          <p:cNvGraphicFramePr>
            <a:graphicFrameLocks noGrp="1"/>
          </p:cNvGraphicFramePr>
          <p:nvPr/>
        </p:nvGraphicFramePr>
        <p:xfrm>
          <a:off x="685800" y="3886200"/>
          <a:ext cx="4800600" cy="196596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777240" y="5925312"/>
            <a:ext cx="4617720" cy="292608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62828"/>
                </a:solidFill>
                <a:latin typeface="Arial"/>
              </a:rPr>
              <a:t>Octubre: coincidieron las 3 entidades (Interna, Externa y SSF)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06440" y="3291840"/>
            <a:ext cx="58521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aExclamationTriang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79" y="3566160"/>
            <a:ext cx="182880" cy="1828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92240" y="3474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3D6F"/>
                </a:solidFill>
                <a:latin typeface="Century Gothic"/>
              </a:rPr>
              <a:t>Temas que se repiten: tenerlos siempre listos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005072"/>
            <a:ext cx="5577840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59" y="4041648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Actas Comité de Riesgos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00507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3D6F"/>
                </a:solidFill>
                <a:latin typeface="Arial"/>
              </a:rPr>
              <a:t>NRP-20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38359" y="416052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43032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59" y="4608576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Riesgo de crédito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Cartera y reservas · Pérdida Esperada · Remisiones a SSF · Matriz de migración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45720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3D6F"/>
                </a:solidFill>
                <a:latin typeface="Arial"/>
              </a:rPr>
              <a:t>NCB-022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59" y="4727448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43032" y="4727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138928"/>
            <a:ext cx="5577840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59" y="5175504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Plan de Continuidad (BCP/DRP)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13892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3D6F"/>
                </a:solidFill>
                <a:latin typeface="Arial"/>
              </a:rPr>
              <a:t>NRP-24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8359" y="5294376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 ×2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43032" y="52943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Externa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59" y="5742432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Gobierno Corporativo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70585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3D6F"/>
                </a:solidFill>
                <a:latin typeface="Arial"/>
              </a:rPr>
              <a:t>NRP-17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38359" y="5861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Interna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78439" y="5861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SSF</a:t>
            </a:r>
          </a:p>
        </p:txBody>
      </p:sp>
      <p:sp>
        <p:nvSpPr>
          <p:cNvPr id="61" name="Fuente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Fuente: Matriz de Requerimientos de Riesgos 2026, hojas «Resumen Riesgos» y «Consolidado» · corte octubre 2026</a:t>
            </a:r>
          </a:p>
        </p:txBody>
      </p:sp>
    </p:spTree>
    <p:extLst>
      <p:ext uri="{BB962C8B-B14F-4D97-AF65-F5344CB8AC3E}">
        <p14:creationId xmlns:p14="http://schemas.microsoft.com/office/powerpoint/2010/main" val="4001916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8dab1c-c8f3-4f9c-8270-c22a94ade099}" enabled="0" method="" siteId="{d98dab1c-c8f3-4f9c-8270-c22a94ade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458</Words>
  <Application>Microsoft Office PowerPoint</Application>
  <PresentationFormat>Panorámica</PresentationFormat>
  <Paragraphs>39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Myriad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Alejandra Batres Alvarado</dc:creator>
  <cp:lastModifiedBy>Hector Jose Menjivar Somoza</cp:lastModifiedBy>
  <cp:revision>17</cp:revision>
  <dcterms:created xsi:type="dcterms:W3CDTF">2025-07-17T21:19:45Z</dcterms:created>
  <dcterms:modified xsi:type="dcterms:W3CDTF">2026-10-24T19:14:06Z</dcterms:modified>
</cp:coreProperties>
</file>