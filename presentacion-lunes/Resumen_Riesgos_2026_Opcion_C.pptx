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1321" r:id="rId3"/>
  </p:sldIdLst>
  <p:sldSz cx="12192000" cy="6858000"/>
  <p:notesSz cx="6858000" cy="9144000"/>
  <p:defaultTextStyle>
    <a:defPPr>
      <a:defRPr lang="es-S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E"/>
    <a:srgbClr val="004184"/>
    <a:srgbClr val="0053A8"/>
    <a:srgbClr val="005C9F"/>
    <a:srgbClr val="0051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252236-3FAF-4113-A4F6-0C3A1563E69A}" v="1" dt="2026-10-24T19:13:56.1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ctor Jose Menjivar Somoza" userId="0c251d33-8269-45bf-9bec-169219cd79c7" providerId="ADAL" clId="{E24BF829-F682-4B96-8073-D53758CC38A2}"/>
    <pc:docChg chg="addSld delSld modSld sldOrd">
      <pc:chgData name="Hector Jose Menjivar Somoza" userId="0c251d33-8269-45bf-9bec-169219cd79c7" providerId="ADAL" clId="{E24BF829-F682-4B96-8073-D53758CC38A2}" dt="2026-10-24T19:13:57.984" v="4"/>
      <pc:docMkLst>
        <pc:docMk/>
      </pc:docMkLst>
      <pc:sldChg chg="del">
        <pc:chgData name="Hector Jose Menjivar Somoza" userId="0c251d33-8269-45bf-9bec-169219cd79c7" providerId="ADAL" clId="{E24BF829-F682-4B96-8073-D53758CC38A2}" dt="2026-10-24T19:13:48.328" v="1" actId="2696"/>
        <pc:sldMkLst>
          <pc:docMk/>
          <pc:sldMk cId="662215908" sldId="257"/>
        </pc:sldMkLst>
      </pc:sldChg>
      <pc:sldChg chg="modSp mod">
        <pc:chgData name="Hector Jose Menjivar Somoza" userId="0c251d33-8269-45bf-9bec-169219cd79c7" providerId="ADAL" clId="{E24BF829-F682-4B96-8073-D53758CC38A2}" dt="2026-10-22T21:22:43.936" v="0" actId="1076"/>
        <pc:sldMkLst>
          <pc:docMk/>
          <pc:sldMk cId="1188959789" sldId="261"/>
        </pc:sldMkLst>
        <pc:picChg chg="mod">
          <ac:chgData name="Hector Jose Menjivar Somoza" userId="0c251d33-8269-45bf-9bec-169219cd79c7" providerId="ADAL" clId="{E24BF829-F682-4B96-8073-D53758CC38A2}" dt="2026-10-22T21:22:43.936" v="0" actId="1076"/>
          <ac:picMkLst>
            <pc:docMk/>
            <pc:sldMk cId="1188959789" sldId="261"/>
            <ac:picMk id="2" creationId="{581614C1-8597-C084-8870-3EA3BD6672B3}"/>
          </ac:picMkLst>
        </pc:picChg>
      </pc:sldChg>
      <pc:sldChg chg="add ord">
        <pc:chgData name="Hector Jose Menjivar Somoza" userId="0c251d33-8269-45bf-9bec-169219cd79c7" providerId="ADAL" clId="{E24BF829-F682-4B96-8073-D53758CC38A2}" dt="2026-10-24T19:13:57.984" v="4"/>
        <pc:sldMkLst>
          <pc:docMk/>
          <pc:sldMk cId="3045456205" sldId="132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SV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B3AB5-647A-834A-ABF4-E74A52371851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SV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SV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1EAE39-7648-3748-A12E-11B4DE5E48BF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881370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19FF0-439B-F3B6-7773-EDB1EFDED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C8A0F81-2EE0-3264-F475-80F982C50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F9C13C6-BD03-0EDA-62BD-52038E897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Resumen de lo que nos pidieron en 2026. Vinieron 19 veces: 7 auditorías internas, 4 externas y 8 visitas de la SSF, y pidieron 26 temas distintos. Contamos por norma: cada visita cuenta una vez por norma. Cinco normas las revisaron 2 o más entidades y hay que tenerlas siempre listas: NRP-20, 5 veces (Interna 2, Externa 1, SSF 2); NCB-022, 3 veces; NRP-24, 3 veces; NPB4-49, 2 veces; NRP-17, 2 veces. NRP-20 es la norma más revisada. En octubre coincidieron Interna, Externa y SSF.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CB2E1D-0082-E1F7-8E0B-F90A3302FB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00A85F-F42F-AB4B-95BE-8A8B50D29861}" type="slidenum">
              <a:rPr kumimoji="0" lang="es-SV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SV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83516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6A5246-1289-2501-E76B-99FD1AAC6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844576-B082-FD49-EBFF-D88CB1856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F51356-BC70-4A72-C845-C6BAA0817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C911C6-CCCD-EFCE-3DC3-663F37E53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085E2B-4DFB-D2D2-C203-7C543DA28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173455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9B9020-EA08-2516-1B5A-BCDD9C03C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077ED8-CB52-4C8A-AD7C-FF69313F0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A8A1C5-EFD4-6D53-6F60-91F7FEC37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A934E5-6EC7-1E96-3E32-3BBF89B99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42E576-5068-3919-22AE-2EFC0CFE6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63031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41BA9-205E-F894-3C02-1C6495E0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45D5F7-6E2F-4508-4252-BD3799069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83CB00-BF9E-6F13-D537-AD0E36693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C7AE8E-7CF9-D7B6-D1ED-21E5FF908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F0008D-520F-48DC-8002-8AD9CC9E7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160302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4220B8-8DAC-8D1C-6637-1BB7C5447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A9161A-5259-CE4C-5F36-0C70C7DA06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26E0585-6862-9B66-7349-CA36E8D6F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13B306-A83F-3642-4CB4-6311A5324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A5248C-A27A-B405-76D1-3A899EAC8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80EF02-1565-5EF5-1FB7-41B9FDF16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04574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19B36E-EDCE-87AD-F79D-E35AE04A1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BCF1C7-0762-26FF-516A-1F5C54FD3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DF51246-48E6-D02D-90D5-3F540BED36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51D2A50-BDD8-0140-6856-B160A3EF9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E96DA55-D8D7-ECD8-C1C1-E7CF8F4CC7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DBD5DE8-BAAD-A23F-E42A-FC78EE221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0EE4B05-A3D0-6017-130F-86F230B22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7F5D9EF-48D1-D8F2-FB9C-D4A247EBF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502370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D267A-E196-13EF-FD3A-074D479D4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D7AF0F5-062D-3B95-9353-81F0DA2BC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B978C5-1E29-BE73-7E64-204B0F2BC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77B0AA7-3AEF-3A56-2110-DB17D35E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890413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FCC7489-4F6B-4B71-04D6-99301E90D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E98D37B-9ECE-609D-114F-5B39D35B3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39F9FC-6691-46A3-5923-57E96A230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539707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787392-18A3-AFAD-0386-5808804C5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6BC22E-F43A-1EC3-EED9-A963FEEEE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59D0088-C458-B008-17CB-AD362EFD3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FC4388-D961-AFC4-338C-FE20825D2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002D08-31EF-ADC4-EF6C-8C048140F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B107B0-2B1B-DC26-D758-C2A80EA44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655922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C7F8E7-BC43-E55F-DCE0-B17E30AF5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5F264F4-1E54-E14D-A3E8-85E786E6AF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SV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73B5BAF-EA8D-93A7-A944-4B42E7098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583257-C538-CBCB-7DE9-A06EA1F23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B6377A-C88F-0E4E-6512-998D4165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DA2F9A9-D335-A24D-6616-BE2139043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780379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DB573A-A965-E5F0-C8B7-AD74E3712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BA8A928-686F-08FA-FA60-82456AC75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2EED11-37CE-DDE7-0996-F1656333B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973FC4-35B2-7FA1-6FA6-C69B042A5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9FC8B8-A38F-9C7F-1BF7-3F68A49B1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112446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77D44C4-F6B0-17CB-171D-21D7EF5588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AF3F919-79AC-F71B-339E-F46E0D56A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579CB5-D3C7-4564-4992-AA3FE62DF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BA4BF1-DEDA-37E8-7D85-7DA091884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1DFEFA-35D6-51BD-C69D-0EFD2E7FC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0775473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27B7F8D-DE7C-32C4-D228-68696D5B8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AE6056-C60B-917E-5F56-F73261014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3682A0-187E-0333-D85D-D60B144E12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C7C310-C8CD-DCCD-F3E6-D8FE04D6F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0D2611-9B5A-26DA-21AA-92971AC59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03913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SV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D1139-EC4C-4817-A6D6-CE0CCBB4A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A2E490EE-A001-BCDF-8E53-B55769CA5F29}"/>
              </a:ext>
            </a:extLst>
          </p:cNvPr>
          <p:cNvSpPr txBox="1"/>
          <p:nvPr/>
        </p:nvSpPr>
        <p:spPr>
          <a:xfrm>
            <a:off x="0" y="0"/>
            <a:ext cx="12192000" cy="749422"/>
          </a:xfrm>
          <a:prstGeom prst="rect">
            <a:avLst/>
          </a:prstGeom>
          <a:solidFill>
            <a:srgbClr val="003D6F"/>
          </a:solidFill>
          <a:ln>
            <a:noFill/>
          </a:ln>
          <a:effectLst/>
        </p:spPr>
        <p:txBody>
          <a:bodyPr spcFirstLastPara="0" vert="horz" wrap="square" lIns="114300" tIns="114300" rIns="114300" bIns="114300" numCol="1" spcCol="1270" anchor="ctr" anchorCtr="0">
            <a:noAutofit/>
          </a:bodyPr>
          <a:lstStyle/>
          <a:p>
            <a:pPr lvl="0" algn="ctr" defTabSz="1333500">
              <a:defRPr/>
            </a:pPr>
            <a:r>
              <a:rPr lang="es-SV" sz="1600" b="1" dirty="0">
                <a:solidFill>
                  <a:prstClr val="white"/>
                </a:solidFill>
                <a:latin typeface="Century Gothic"/>
                <a:ea typeface="MS Mincho"/>
              </a:rPr>
              <a:t>REUNIÓN DE LOS LUNES  ·  DEPARTAMENTO DE ADMINISTRACIÓN DE RIESGOS</a:t>
            </a:r>
            <a:endParaRPr kumimoji="0" lang="es-MX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" name="Panel lateral"/>
          <p:cNvSpPr/>
          <p:nvPr/>
        </p:nvSpPr>
        <p:spPr>
          <a:xfrm>
            <a:off x="0" y="749808"/>
            <a:ext cx="3246120" cy="6108192"/>
          </a:xfrm>
          <a:prstGeom prst="rect">
            <a:avLst/>
          </a:prstGeom>
          <a:solidFill>
            <a:srgbClr val="003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51560"/>
            <a:ext cx="2606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entury Gothic"/>
              </a:rPr>
              <a:t>Resumen de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entury Gothic"/>
              </a:rPr>
              <a:t>Riesgos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11680"/>
            <a:ext cx="2606039" cy="5943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entury Gothic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33472"/>
            <a:ext cx="2606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visitas y auditorías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89504"/>
            <a:ext cx="2606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C3E8"/>
                </a:solidFill>
                <a:latin typeface="Arial"/>
              </a:rPr>
              <a:t>7 Interna · 4 Externa · 8 SSF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127248"/>
            <a:ext cx="2606039" cy="5943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entury Gothic"/>
              </a:rPr>
              <a:t>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49039"/>
            <a:ext cx="2606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temas distintos pedidos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005072"/>
            <a:ext cx="2606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C3E8"/>
                </a:solidFill>
                <a:latin typeface="Arial"/>
              </a:rPr>
              <a:t>de 31 temas del catálogo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242816"/>
            <a:ext cx="2606039" cy="5943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600" b="1">
                <a:solidFill>
                  <a:srgbClr val="FFD27A"/>
                </a:solidFill>
                <a:latin typeface="Century Gothic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864607"/>
            <a:ext cx="2606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normas que se repiten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120640"/>
            <a:ext cx="2606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C3E8"/>
                </a:solidFill>
                <a:latin typeface="Arial"/>
              </a:rPr>
              <a:t>revisadas por 2+ entidades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358383"/>
            <a:ext cx="2606039" cy="5943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entury Gothic"/>
              </a:rPr>
              <a:t>NRP-20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980175"/>
            <a:ext cx="2606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norma más auditada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236207"/>
            <a:ext cx="2606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C3E8"/>
                </a:solidFill>
                <a:latin typeface="Arial"/>
              </a:rPr>
              <a:t>5 veces · 3 entidades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10058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3D6F"/>
                </a:solidFill>
                <a:latin typeface="Century Gothic"/>
              </a:rPr>
              <a:t>¿Cuándo vino cada entidad?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48456" y="1481328"/>
            <a:ext cx="597408" cy="1554480"/>
          </a:xfrm>
          <a:prstGeom prst="roundRect">
            <a:avLst>
              <a:gd name="adj" fmla="val 10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1880" y="1572768"/>
            <a:ext cx="67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A37"/>
                </a:solidFill>
                <a:latin typeface="Arial"/>
              </a:rPr>
              <a:t>Ene</a:t>
            </a:r>
          </a:p>
        </p:txBody>
      </p:sp>
      <p:sp>
        <p:nvSpPr>
          <p:cNvPr id="24" name="Oval 23"/>
          <p:cNvSpPr/>
          <p:nvPr/>
        </p:nvSpPr>
        <p:spPr>
          <a:xfrm>
            <a:off x="3828288" y="1892808"/>
            <a:ext cx="237744" cy="237744"/>
          </a:xfrm>
          <a:prstGeom prst="ellipse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28288" y="2167128"/>
            <a:ext cx="237744" cy="237744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19016" y="1481328"/>
            <a:ext cx="597408" cy="1554480"/>
          </a:xfrm>
          <a:prstGeom prst="roundRect">
            <a:avLst>
              <a:gd name="adj" fmla="val 10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2440" y="1572768"/>
            <a:ext cx="67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A37"/>
                </a:solidFill>
                <a:latin typeface="Arial"/>
              </a:rPr>
              <a:t>Feb</a:t>
            </a:r>
          </a:p>
        </p:txBody>
      </p:sp>
      <p:sp>
        <p:nvSpPr>
          <p:cNvPr id="28" name="Oval 27"/>
          <p:cNvSpPr/>
          <p:nvPr/>
        </p:nvSpPr>
        <p:spPr>
          <a:xfrm>
            <a:off x="4498848" y="1892808"/>
            <a:ext cx="237744" cy="237744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98848" y="2167128"/>
            <a:ext cx="237744" cy="237744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989576" y="1481328"/>
            <a:ext cx="597408" cy="1554480"/>
          </a:xfrm>
          <a:prstGeom prst="roundRect">
            <a:avLst>
              <a:gd name="adj" fmla="val 10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53000" y="1572768"/>
            <a:ext cx="67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A37"/>
                </a:solidFill>
                <a:latin typeface="Arial"/>
              </a:rPr>
              <a:t>Mar</a:t>
            </a:r>
          </a:p>
        </p:txBody>
      </p:sp>
      <p:sp>
        <p:nvSpPr>
          <p:cNvPr id="32" name="Oval 31"/>
          <p:cNvSpPr/>
          <p:nvPr/>
        </p:nvSpPr>
        <p:spPr>
          <a:xfrm>
            <a:off x="5169408" y="1892808"/>
            <a:ext cx="237744" cy="237744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60136" y="1481328"/>
            <a:ext cx="597408" cy="1554480"/>
          </a:xfrm>
          <a:prstGeom prst="roundRect">
            <a:avLst>
              <a:gd name="adj" fmla="val 10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23560" y="1572768"/>
            <a:ext cx="67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A37"/>
                </a:solidFill>
                <a:latin typeface="Arial"/>
              </a:rPr>
              <a:t>Abr</a:t>
            </a:r>
          </a:p>
        </p:txBody>
      </p:sp>
      <p:sp>
        <p:nvSpPr>
          <p:cNvPr id="35" name="Oval 34"/>
          <p:cNvSpPr/>
          <p:nvPr/>
        </p:nvSpPr>
        <p:spPr>
          <a:xfrm>
            <a:off x="5839968" y="1892808"/>
            <a:ext cx="237744" cy="237744"/>
          </a:xfrm>
          <a:prstGeom prst="ellipse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30696" y="1481328"/>
            <a:ext cx="597408" cy="1554480"/>
          </a:xfrm>
          <a:prstGeom prst="roundRect">
            <a:avLst>
              <a:gd name="adj" fmla="val 10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4120" y="1572768"/>
            <a:ext cx="67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A37"/>
                </a:solidFill>
                <a:latin typeface="Arial"/>
              </a:rPr>
              <a:t>May</a:t>
            </a:r>
          </a:p>
        </p:txBody>
      </p:sp>
      <p:sp>
        <p:nvSpPr>
          <p:cNvPr id="38" name="Oval 37"/>
          <p:cNvSpPr/>
          <p:nvPr/>
        </p:nvSpPr>
        <p:spPr>
          <a:xfrm>
            <a:off x="6510528" y="1892808"/>
            <a:ext cx="237744" cy="237744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510528" y="2167128"/>
            <a:ext cx="237744" cy="237744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001256" y="1481328"/>
            <a:ext cx="597408" cy="1554480"/>
          </a:xfrm>
          <a:prstGeom prst="roundRect">
            <a:avLst>
              <a:gd name="adj" fmla="val 10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64680" y="1572768"/>
            <a:ext cx="67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A37"/>
                </a:solidFill>
                <a:latin typeface="Arial"/>
              </a:rPr>
              <a:t>Jun</a:t>
            </a:r>
          </a:p>
        </p:txBody>
      </p:sp>
      <p:sp>
        <p:nvSpPr>
          <p:cNvPr id="42" name="Oval 41"/>
          <p:cNvSpPr/>
          <p:nvPr/>
        </p:nvSpPr>
        <p:spPr>
          <a:xfrm>
            <a:off x="7181088" y="1892808"/>
            <a:ext cx="237744" cy="237744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181088" y="2167128"/>
            <a:ext cx="237744" cy="237744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671816" y="1481328"/>
            <a:ext cx="597408" cy="1554480"/>
          </a:xfrm>
          <a:prstGeom prst="roundRect">
            <a:avLst>
              <a:gd name="adj" fmla="val 10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35240" y="1572768"/>
            <a:ext cx="67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A37"/>
                </a:solidFill>
                <a:latin typeface="Arial"/>
              </a:rPr>
              <a:t>Jul</a:t>
            </a:r>
          </a:p>
        </p:txBody>
      </p:sp>
      <p:sp>
        <p:nvSpPr>
          <p:cNvPr id="46" name="Oval 45"/>
          <p:cNvSpPr/>
          <p:nvPr/>
        </p:nvSpPr>
        <p:spPr>
          <a:xfrm>
            <a:off x="7851648" y="1892808"/>
            <a:ext cx="237744" cy="237744"/>
          </a:xfrm>
          <a:prstGeom prst="ellipse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851648" y="2167128"/>
            <a:ext cx="237744" cy="237744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342376" y="1481328"/>
            <a:ext cx="597408" cy="1554480"/>
          </a:xfrm>
          <a:prstGeom prst="roundRect">
            <a:avLst>
              <a:gd name="adj" fmla="val 10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05800" y="1572768"/>
            <a:ext cx="67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A37"/>
                </a:solidFill>
                <a:latin typeface="Arial"/>
              </a:rPr>
              <a:t>Ago</a:t>
            </a:r>
          </a:p>
        </p:txBody>
      </p:sp>
      <p:sp>
        <p:nvSpPr>
          <p:cNvPr id="50" name="Oval 49"/>
          <p:cNvSpPr/>
          <p:nvPr/>
        </p:nvSpPr>
        <p:spPr>
          <a:xfrm>
            <a:off x="8522208" y="1892808"/>
            <a:ext cx="237744" cy="237744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522208" y="2167128"/>
            <a:ext cx="237744" cy="237744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522208" y="2441448"/>
            <a:ext cx="237744" cy="237744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012935" y="1481328"/>
            <a:ext cx="597408" cy="1554480"/>
          </a:xfrm>
          <a:prstGeom prst="roundRect">
            <a:avLst>
              <a:gd name="adj" fmla="val 10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76360" y="1572768"/>
            <a:ext cx="67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A37"/>
                </a:solidFill>
                <a:latin typeface="Arial"/>
              </a:rPr>
              <a:t>Sep</a:t>
            </a:r>
          </a:p>
        </p:txBody>
      </p:sp>
      <p:sp>
        <p:nvSpPr>
          <p:cNvPr id="55" name="Oval 54"/>
          <p:cNvSpPr/>
          <p:nvPr/>
        </p:nvSpPr>
        <p:spPr>
          <a:xfrm>
            <a:off x="9192768" y="1892808"/>
            <a:ext cx="237744" cy="237744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683496" y="1481328"/>
            <a:ext cx="597408" cy="1554480"/>
          </a:xfrm>
          <a:prstGeom prst="roundRect">
            <a:avLst>
              <a:gd name="adj" fmla="val 10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683496" y="1481328"/>
            <a:ext cx="597408" cy="155448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46920" y="1572768"/>
            <a:ext cx="67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C62828"/>
                </a:solidFill>
                <a:latin typeface="Arial"/>
              </a:rPr>
              <a:t>Oct</a:t>
            </a:r>
          </a:p>
        </p:txBody>
      </p:sp>
      <p:sp>
        <p:nvSpPr>
          <p:cNvPr id="59" name="Oval 58"/>
          <p:cNvSpPr/>
          <p:nvPr/>
        </p:nvSpPr>
        <p:spPr>
          <a:xfrm>
            <a:off x="9863328" y="1892808"/>
            <a:ext cx="237744" cy="237744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863328" y="2167128"/>
            <a:ext cx="237744" cy="237744"/>
          </a:xfrm>
          <a:prstGeom prst="ellipse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863328" y="2441448"/>
            <a:ext cx="237744" cy="237744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0354056" y="1481328"/>
            <a:ext cx="597408" cy="155448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17480" y="1572768"/>
            <a:ext cx="67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A7B2BF"/>
                </a:solidFill>
                <a:latin typeface="Arial"/>
              </a:rPr>
              <a:t>Nov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024615" y="1481328"/>
            <a:ext cx="597408" cy="155448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988040" y="1572768"/>
            <a:ext cx="67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A7B2BF"/>
                </a:solidFill>
                <a:latin typeface="Arial"/>
              </a:rPr>
              <a:t>Dic</a:t>
            </a:r>
          </a:p>
        </p:txBody>
      </p:sp>
      <p:sp>
        <p:nvSpPr>
          <p:cNvPr id="66" name="Oval 65"/>
          <p:cNvSpPr/>
          <p:nvPr/>
        </p:nvSpPr>
        <p:spPr>
          <a:xfrm>
            <a:off x="3611880" y="3172968"/>
            <a:ext cx="164592" cy="164592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40480" y="313639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Arial"/>
              </a:rPr>
              <a:t>Auditoría Interna</a:t>
            </a:r>
          </a:p>
        </p:txBody>
      </p:sp>
      <p:sp>
        <p:nvSpPr>
          <p:cNvPr id="68" name="Oval 67"/>
          <p:cNvSpPr/>
          <p:nvPr/>
        </p:nvSpPr>
        <p:spPr>
          <a:xfrm>
            <a:off x="5212080" y="3172968"/>
            <a:ext cx="164592" cy="164592"/>
          </a:xfrm>
          <a:prstGeom prst="ellipse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40680" y="313639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Arial"/>
              </a:rPr>
              <a:t>Auditoría Externa</a:t>
            </a:r>
          </a:p>
        </p:txBody>
      </p:sp>
      <p:sp>
        <p:nvSpPr>
          <p:cNvPr id="70" name="Oval 69"/>
          <p:cNvSpPr/>
          <p:nvPr/>
        </p:nvSpPr>
        <p:spPr>
          <a:xfrm>
            <a:off x="6812280" y="3172968"/>
            <a:ext cx="164592" cy="164592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040880" y="313639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Arial"/>
              </a:rPr>
              <a:t>SSF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95359" y="313639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C62828"/>
                </a:solidFill>
                <a:latin typeface="Arial"/>
              </a:rPr>
              <a:t>Octubre: las 3 entidades en el mismo mes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11880" y="361188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3D6F"/>
                </a:solidFill>
                <a:latin typeface="Century Gothic"/>
              </a:rPr>
              <a:t>Normas que se repiten</a:t>
            </a:r>
            <a:r>
              <a:rPr sz="1200" b="0">
                <a:solidFill>
                  <a:srgbClr val="5B6B7B"/>
                </a:solidFill>
                <a:latin typeface="Arial"/>
              </a:rPr>
              <a:t>   pedidas por 2 o más entidades: tenerlas siempre listas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611880" y="4096512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11880" y="409651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800" y="4069080"/>
            <a:ext cx="5120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Arial"/>
              </a:rPr>
              <a:t>NRP-20</a:t>
            </a:r>
            <a:r>
              <a:rPr sz="1000" b="1">
                <a:solidFill>
                  <a:srgbClr val="C62828"/>
                </a:solidFill>
                <a:latin typeface="Arial"/>
              </a:rPr>
              <a:t>   5 veces</a:t>
            </a:r>
          </a:p>
          <a:p>
            <a:pPr algn="l"/>
            <a:r>
              <a:rPr sz="900" b="0">
                <a:solidFill>
                  <a:srgbClr val="5B6B7B"/>
                </a:solidFill>
                <a:latin typeface="Arial"/>
              </a:rPr>
              <a:t>Actas · Informes GIR · Plan de trabajo · Visita integral SSF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372600" y="4169664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Interna ×2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131552" y="4169664"/>
            <a:ext cx="530352" cy="23774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Externa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735056" y="4169664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SSF ×2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611880" y="457200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11880" y="45720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0" y="4544568"/>
            <a:ext cx="5120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Arial"/>
              </a:rPr>
              <a:t>NCB-022</a:t>
            </a:r>
            <a:r>
              <a:rPr sz="1000" b="1">
                <a:solidFill>
                  <a:srgbClr val="C62828"/>
                </a:solidFill>
                <a:latin typeface="Arial"/>
              </a:rPr>
              <a:t>   3 veces</a:t>
            </a:r>
          </a:p>
          <a:p>
            <a:pPr algn="l"/>
            <a:r>
              <a:rPr sz="900" b="0">
                <a:solidFill>
                  <a:srgbClr val="5B6B7B"/>
                </a:solidFill>
                <a:latin typeface="Arial"/>
              </a:rPr>
              <a:t>Cartera · Pérdida Esperada · Remisiones SSF · Migración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372600" y="4645152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Interna ×2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131552" y="4645152"/>
            <a:ext cx="530352" cy="23774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Externa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611880" y="504748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611880" y="504748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14800" y="5020056"/>
            <a:ext cx="5120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Arial"/>
              </a:rPr>
              <a:t>NRP-24</a:t>
            </a:r>
            <a:r>
              <a:rPr sz="1000" b="1">
                <a:solidFill>
                  <a:srgbClr val="C62828"/>
                </a:solidFill>
                <a:latin typeface="Arial"/>
              </a:rPr>
              <a:t>   3 veces</a:t>
            </a:r>
          </a:p>
          <a:p>
            <a:pPr algn="l"/>
            <a:r>
              <a:rPr sz="900" b="0">
                <a:solidFill>
                  <a:srgbClr val="5B6B7B"/>
                </a:solidFill>
                <a:latin typeface="Arial"/>
              </a:rPr>
              <a:t>Plan de Continuidad (BCP/DRP) · Actas del 16 de octubre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372600" y="5120640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Interna ×2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131552" y="5120640"/>
            <a:ext cx="530352" cy="23774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Externa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611880" y="5522976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03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611880" y="552297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14800" y="5495544"/>
            <a:ext cx="5120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Arial"/>
              </a:rPr>
              <a:t>NPB4-49</a:t>
            </a:r>
            <a:r>
              <a:rPr sz="1000" b="1">
                <a:solidFill>
                  <a:srgbClr val="5B6B7B"/>
                </a:solidFill>
                <a:latin typeface="Arial"/>
              </a:rPr>
              <a:t>   2 veces</a:t>
            </a:r>
          </a:p>
          <a:p>
            <a:pPr algn="l"/>
            <a:r>
              <a:rPr sz="900" b="0">
                <a:solidFill>
                  <a:srgbClr val="5B6B7B"/>
                </a:solidFill>
                <a:latin typeface="Arial"/>
              </a:rPr>
              <a:t>Escenarios de estrés · Concentración crediticia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372600" y="5596128"/>
            <a:ext cx="530352" cy="237744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Interna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976104" y="5596128"/>
            <a:ext cx="530352" cy="23774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Externa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611880" y="5998464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03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11880" y="599846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114800" y="5971031"/>
            <a:ext cx="5120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Arial"/>
              </a:rPr>
              <a:t>NRP-17</a:t>
            </a:r>
            <a:r>
              <a:rPr sz="1000" b="1">
                <a:solidFill>
                  <a:srgbClr val="5B6B7B"/>
                </a:solidFill>
                <a:latin typeface="Arial"/>
              </a:rPr>
              <a:t>   2 veces</a:t>
            </a:r>
          </a:p>
          <a:p>
            <a:pPr algn="l"/>
            <a:r>
              <a:rPr sz="900" b="0">
                <a:solidFill>
                  <a:srgbClr val="5B6B7B"/>
                </a:solidFill>
                <a:latin typeface="Arial"/>
              </a:rPr>
              <a:t>Gobierno Corporativo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372600" y="6071616"/>
            <a:ext cx="530352" cy="237744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Interna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976104" y="6071616"/>
            <a:ext cx="530352" cy="23774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SSF</a:t>
            </a:r>
          </a:p>
        </p:txBody>
      </p:sp>
      <p:sp>
        <p:nvSpPr>
          <p:cNvPr id="100" name="Fuente"/>
          <p:cNvSpPr txBox="1"/>
          <p:nvPr/>
        </p:nvSpPr>
        <p:spPr>
          <a:xfrm>
            <a:off x="3611880" y="647395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Arial"/>
              </a:rPr>
              <a:t>Fuente: Matriz de Requerimientos de Riesgos 2026, hojas «Resumen Riesgos» y «Consolidado» · corte octubre 2026</a:t>
            </a:r>
          </a:p>
        </p:txBody>
      </p:sp>
    </p:spTree>
    <p:extLst>
      <p:ext uri="{BB962C8B-B14F-4D97-AF65-F5344CB8AC3E}">
        <p14:creationId xmlns:p14="http://schemas.microsoft.com/office/powerpoint/2010/main" val="40019165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98dab1c-c8f3-4f9c-8270-c22a94ade099}" enabled="0" method="" siteId="{d98dab1c-c8f3-4f9c-8270-c22a94ade09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458</Words>
  <Application>Microsoft Office PowerPoint</Application>
  <PresentationFormat>Panorámica</PresentationFormat>
  <Paragraphs>39</Paragraphs>
  <Slides>10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Century Gothic</vt:lpstr>
      <vt:lpstr>Myriad Pro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Alejandra Batres Alvarado</dc:creator>
  <cp:lastModifiedBy>Hector Jose Menjivar Somoza</cp:lastModifiedBy>
  <cp:revision>17</cp:revision>
  <dcterms:created xsi:type="dcterms:W3CDTF">2025-07-17T21:19:45Z</dcterms:created>
  <dcterms:modified xsi:type="dcterms:W3CDTF">2026-10-24T19:14:06Z</dcterms:modified>
</cp:coreProperties>
</file>