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SSF, y pidieron 26 temas distintos. Contamos por norma: cada visita cuenta una vez por norma. Cinco normas las revisaron 2 o más entidades y hay que tenerlas siempre listas: NRP-20, 5 veces (Interna 2, Externa 1, SSF 2); NCB-022, 3 veces; NRP-24, 3 veces; NPB4-49, 2 veces; NRP-17, 2 veces. NRP-20 es la norma más revisada.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Panel lateral"/>
          <p:cNvSpPr/>
          <p:nvPr/>
        </p:nvSpPr>
        <p:spPr>
          <a:xfrm>
            <a:off x="0" y="749808"/>
            <a:ext cx="3246120" cy="610819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606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Resumen de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Riesgos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1168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63347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950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27248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749039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distintos pedidos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005072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de 31 temas del catálogo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242816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D27A"/>
                </a:solidFill>
                <a:latin typeface="Century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64607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normas que se repiten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120640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revisadas por 2+ entidades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358383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NRP-20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80175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 más auditada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236207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5 veces · 3 entidades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058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¿Cuándo vino cada entidad?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484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Ene</a:t>
            </a:r>
          </a:p>
        </p:txBody>
      </p:sp>
      <p:sp>
        <p:nvSpPr>
          <p:cNvPr id="24" name="Oval 23"/>
          <p:cNvSpPr/>
          <p:nvPr/>
        </p:nvSpPr>
        <p:spPr>
          <a:xfrm>
            <a:off x="382828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2828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190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24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Feb</a:t>
            </a:r>
          </a:p>
        </p:txBody>
      </p:sp>
      <p:sp>
        <p:nvSpPr>
          <p:cNvPr id="28" name="Oval 27"/>
          <p:cNvSpPr/>
          <p:nvPr/>
        </p:nvSpPr>
        <p:spPr>
          <a:xfrm>
            <a:off x="44988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988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895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Mar</a:t>
            </a:r>
          </a:p>
        </p:txBody>
      </p:sp>
      <p:sp>
        <p:nvSpPr>
          <p:cNvPr id="32" name="Oval 31"/>
          <p:cNvSpPr/>
          <p:nvPr/>
        </p:nvSpPr>
        <p:spPr>
          <a:xfrm>
            <a:off x="51694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6013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235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Abr</a:t>
            </a:r>
          </a:p>
        </p:txBody>
      </p:sp>
      <p:sp>
        <p:nvSpPr>
          <p:cNvPr id="35" name="Oval 34"/>
          <p:cNvSpPr/>
          <p:nvPr/>
        </p:nvSpPr>
        <p:spPr>
          <a:xfrm>
            <a:off x="583996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306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41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May</a:t>
            </a:r>
          </a:p>
        </p:txBody>
      </p:sp>
      <p:sp>
        <p:nvSpPr>
          <p:cNvPr id="38" name="Oval 37"/>
          <p:cNvSpPr/>
          <p:nvPr/>
        </p:nvSpPr>
        <p:spPr>
          <a:xfrm>
            <a:off x="65105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1052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012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46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Jun</a:t>
            </a:r>
          </a:p>
        </p:txBody>
      </p:sp>
      <p:sp>
        <p:nvSpPr>
          <p:cNvPr id="42" name="Oval 41"/>
          <p:cNvSpPr/>
          <p:nvPr/>
        </p:nvSpPr>
        <p:spPr>
          <a:xfrm>
            <a:off x="718108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8108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6718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52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Jul</a:t>
            </a:r>
          </a:p>
        </p:txBody>
      </p:sp>
      <p:sp>
        <p:nvSpPr>
          <p:cNvPr id="46" name="Oval 45"/>
          <p:cNvSpPr/>
          <p:nvPr/>
        </p:nvSpPr>
        <p:spPr>
          <a:xfrm>
            <a:off x="785164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516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3423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58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Ago</a:t>
            </a:r>
          </a:p>
        </p:txBody>
      </p:sp>
      <p:sp>
        <p:nvSpPr>
          <p:cNvPr id="50" name="Oval 49"/>
          <p:cNvSpPr/>
          <p:nvPr/>
        </p:nvSpPr>
        <p:spPr>
          <a:xfrm>
            <a:off x="85222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52220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52220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01293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763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Sep</a:t>
            </a:r>
          </a:p>
        </p:txBody>
      </p:sp>
      <p:sp>
        <p:nvSpPr>
          <p:cNvPr id="55" name="Oval 54"/>
          <p:cNvSpPr/>
          <p:nvPr/>
        </p:nvSpPr>
        <p:spPr>
          <a:xfrm>
            <a:off x="919276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469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</a:t>
            </a:r>
          </a:p>
        </p:txBody>
      </p:sp>
      <p:sp>
        <p:nvSpPr>
          <p:cNvPr id="59" name="Oval 58"/>
          <p:cNvSpPr/>
          <p:nvPr/>
        </p:nvSpPr>
        <p:spPr>
          <a:xfrm>
            <a:off x="98633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63328" y="216712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86332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3540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74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Nov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02461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9880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Dic</a:t>
            </a:r>
          </a:p>
        </p:txBody>
      </p:sp>
      <p:sp>
        <p:nvSpPr>
          <p:cNvPr id="66" name="Oval 65"/>
          <p:cNvSpPr/>
          <p:nvPr/>
        </p:nvSpPr>
        <p:spPr>
          <a:xfrm>
            <a:off x="3611880" y="3172968"/>
            <a:ext cx="164592" cy="164592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04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Interna</a:t>
            </a:r>
          </a:p>
        </p:txBody>
      </p:sp>
      <p:sp>
        <p:nvSpPr>
          <p:cNvPr id="68" name="Oval 67"/>
          <p:cNvSpPr/>
          <p:nvPr/>
        </p:nvSpPr>
        <p:spPr>
          <a:xfrm>
            <a:off x="5212080" y="3172968"/>
            <a:ext cx="164592" cy="164592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Externa</a:t>
            </a:r>
          </a:p>
        </p:txBody>
      </p:sp>
      <p:sp>
        <p:nvSpPr>
          <p:cNvPr id="70" name="Oval 69"/>
          <p:cNvSpPr/>
          <p:nvPr/>
        </p:nvSpPr>
        <p:spPr>
          <a:xfrm>
            <a:off x="6812280" y="3172968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408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SSF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95359" y="3136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Octubre: las 3 entidades en el mismo mes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11880" y="361188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Normas que se repiten</a:t>
            </a:r>
            <a:r>
              <a:rPr sz="1200" b="0">
                <a:solidFill>
                  <a:srgbClr val="5B6B7B"/>
                </a:solidFill>
                <a:latin typeface="Arial"/>
              </a:rPr>
              <a:t>   pedidas por 2 o más entidades: tenerlas siempre listas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11880" y="4096512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11880" y="409651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0" y="406908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NRP-20</a:t>
            </a:r>
            <a:r>
              <a:rPr sz="1000" b="1">
                <a:solidFill>
                  <a:srgbClr val="C62828"/>
                </a:solidFill>
                <a:latin typeface="Arial"/>
              </a:rPr>
              <a:t>   5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Actas · Informes GIR · Plan de trabajo · Visita integral SSF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72600" y="4169664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131552" y="4169664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735056" y="4169664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 ×2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611880" y="457200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11880" y="45720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0" y="454456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NCB-022</a:t>
            </a:r>
            <a:r>
              <a:rPr sz="1000" b="1">
                <a:solidFill>
                  <a:srgbClr val="C62828"/>
                </a:solidFill>
                <a:latin typeface="Arial"/>
              </a:rPr>
              <a:t>   3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 · Pérdida Esperada · Remisiones SSF · Migración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372600" y="464515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131552" y="4645152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11880" y="5047488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11880" y="50474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0" y="502005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NRP-24</a:t>
            </a:r>
            <a:r>
              <a:rPr sz="1000" b="1">
                <a:solidFill>
                  <a:srgbClr val="C62828"/>
                </a:solidFill>
                <a:latin typeface="Arial"/>
              </a:rPr>
              <a:t>   3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Plan de Continuidad (BCP/DRP) · Actas del 16 de octubre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372600" y="512064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131552" y="5120640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11880" y="552297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11880" y="5522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0" y="54955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NPB4-49</a:t>
            </a:r>
            <a:r>
              <a:rPr sz="1000" b="1">
                <a:solidFill>
                  <a:srgbClr val="5B6B7B"/>
                </a:solidFill>
                <a:latin typeface="Arial"/>
              </a:rPr>
              <a:t>   2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Escenarios de estrés · Concentración crediticia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372600" y="559612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976104" y="5596128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11880" y="599846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11880" y="59984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4800" y="5971031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NRP-17</a:t>
            </a:r>
            <a:r>
              <a:rPr sz="1000" b="1">
                <a:solidFill>
                  <a:srgbClr val="5B6B7B"/>
                </a:solidFill>
                <a:latin typeface="Arial"/>
              </a:rPr>
              <a:t>   2 veces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Gobierno Corporativo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372600" y="6071616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76104" y="6071616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100" name="Fuente"/>
          <p:cNvSpPr txBox="1"/>
          <p:nvPr/>
        </p:nvSpPr>
        <p:spPr>
          <a:xfrm>
            <a:off x="3611880" y="647395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hojas «Resumen Riesgos» y «Consolidado»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