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Veces auditada</c:v>
                </c:pt>
              </c:strCache>
            </c:strRef>
          </c:tx>
          <c:spPr>
            <a:solidFill>
              <a:srgbClr val="9BB8D9"/>
            </a:solidFill>
          </c:spPr>
          <c:dPt>
            <c:idx val="6"/>
            <c:spPr>
              <a:solidFill>
                <a:srgbClr val="003D6F"/>
              </a:solidFill>
            </c:spPr>
          </c:dPt>
          <c:cat>
            <c:strRef>
              <c:f>Sheet1!$A$2:$A$8</c:f>
              <c:strCache>
                <c:ptCount val="7"/>
                <c:pt idx="0">
                  <c:v>NRSF-03</c:v>
                </c:pt>
                <c:pt idx="1">
                  <c:v>NRSF-01</c:v>
                </c:pt>
                <c:pt idx="2">
                  <c:v>NRP-24</c:v>
                </c:pt>
                <c:pt idx="3">
                  <c:v>NRP-17</c:v>
                </c:pt>
                <c:pt idx="4">
                  <c:v>NPB4-49</c:v>
                </c:pt>
                <c:pt idx="5">
                  <c:v>NCB-022</c:v>
                </c:pt>
                <c:pt idx="6">
                  <c:v>NRP-20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F2A37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12 veces: 3 auditorías internas, 1 externa y 8 visitas de la SSF. Seis temas los pidieron 2 o más entidades: hay que tenerlos siempre listos, sobre todo las Actas del Comité de Riesgos (NRP-20), que se pidieron 4 veces. NRP-20 es la norma más revisada (5 veces, 3 entidades). Octubre fue el mes de mayor carga: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Panel lateral"/>
          <p:cNvSpPr/>
          <p:nvPr/>
        </p:nvSpPr>
        <p:spPr>
          <a:xfrm>
            <a:off x="0" y="749808"/>
            <a:ext cx="3246120" cy="610819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2606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Resumen de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Riesgos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063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visitas y auditorías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266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3 Interna · 1 Externa · 8 SSF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5204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D27A"/>
                </a:solidFill>
                <a:latin typeface="Century Gothi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4223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temas que se repiten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982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pedidos por 2+ entidades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8920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NRP-20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513831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norma más auditada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7698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5 veces · 3 entidades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0058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¿Cuándo vino cada entidad?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484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Ene</a:t>
            </a:r>
          </a:p>
        </p:txBody>
      </p:sp>
      <p:sp>
        <p:nvSpPr>
          <p:cNvPr id="21" name="Oval 20"/>
          <p:cNvSpPr/>
          <p:nvPr/>
        </p:nvSpPr>
        <p:spPr>
          <a:xfrm>
            <a:off x="382828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190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24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Feb</a:t>
            </a:r>
          </a:p>
        </p:txBody>
      </p:sp>
      <p:sp>
        <p:nvSpPr>
          <p:cNvPr id="24" name="Oval 23"/>
          <p:cNvSpPr/>
          <p:nvPr/>
        </p:nvSpPr>
        <p:spPr>
          <a:xfrm>
            <a:off x="449884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988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895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Mar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013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Abr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06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1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May</a:t>
            </a:r>
          </a:p>
        </p:txBody>
      </p:sp>
      <p:sp>
        <p:nvSpPr>
          <p:cNvPr id="32" name="Oval 31"/>
          <p:cNvSpPr/>
          <p:nvPr/>
        </p:nvSpPr>
        <p:spPr>
          <a:xfrm>
            <a:off x="65105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012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646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Jun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18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52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Jul</a:t>
            </a:r>
          </a:p>
        </p:txBody>
      </p:sp>
      <p:sp>
        <p:nvSpPr>
          <p:cNvPr id="37" name="Oval 36"/>
          <p:cNvSpPr/>
          <p:nvPr/>
        </p:nvSpPr>
        <p:spPr>
          <a:xfrm>
            <a:off x="785164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423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58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Ago</a:t>
            </a:r>
          </a:p>
        </p:txBody>
      </p:sp>
      <p:sp>
        <p:nvSpPr>
          <p:cNvPr id="40" name="Oval 39"/>
          <p:cNvSpPr/>
          <p:nvPr/>
        </p:nvSpPr>
        <p:spPr>
          <a:xfrm>
            <a:off x="85222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2220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2220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1293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63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Sep</a:t>
            </a:r>
          </a:p>
        </p:txBody>
      </p:sp>
      <p:sp>
        <p:nvSpPr>
          <p:cNvPr id="45" name="Oval 44"/>
          <p:cNvSpPr/>
          <p:nvPr/>
        </p:nvSpPr>
        <p:spPr>
          <a:xfrm>
            <a:off x="919276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</a:t>
            </a:r>
          </a:p>
        </p:txBody>
      </p:sp>
      <p:sp>
        <p:nvSpPr>
          <p:cNvPr id="49" name="Oval 48"/>
          <p:cNvSpPr/>
          <p:nvPr/>
        </p:nvSpPr>
        <p:spPr>
          <a:xfrm>
            <a:off x="98633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863328" y="216712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332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3540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174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Nov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2461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880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Dic</a:t>
            </a:r>
          </a:p>
        </p:txBody>
      </p:sp>
      <p:sp>
        <p:nvSpPr>
          <p:cNvPr id="56" name="Oval 55"/>
          <p:cNvSpPr/>
          <p:nvPr/>
        </p:nvSpPr>
        <p:spPr>
          <a:xfrm>
            <a:off x="3611880" y="3172968"/>
            <a:ext cx="164592" cy="164592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Interna</a:t>
            </a:r>
          </a:p>
        </p:txBody>
      </p:sp>
      <p:sp>
        <p:nvSpPr>
          <p:cNvPr id="58" name="Oval 57"/>
          <p:cNvSpPr/>
          <p:nvPr/>
        </p:nvSpPr>
        <p:spPr>
          <a:xfrm>
            <a:off x="5212080" y="3172968"/>
            <a:ext cx="164592" cy="164592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406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Externa</a:t>
            </a:r>
          </a:p>
        </p:txBody>
      </p:sp>
      <p:sp>
        <p:nvSpPr>
          <p:cNvPr id="60" name="Oval 59"/>
          <p:cNvSpPr/>
          <p:nvPr/>
        </p:nvSpPr>
        <p:spPr>
          <a:xfrm>
            <a:off x="6812280" y="3172968"/>
            <a:ext cx="164592" cy="16459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408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SSF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95359" y="3136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Octubre: las 3 entidades en el mismo mes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11880" y="3611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Temas que se repiten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11880" y="4041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11880" y="40416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0" y="404164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223760" y="408736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8432" y="40873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11880" y="4443984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11880" y="444398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0" y="444398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Pérdida Esperada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23760" y="44897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63840" y="44897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611880" y="4846320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11880" y="484632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0" y="484632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Clasificación de cartera, mora y reservas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223760" y="48920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63840" y="48920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611880" y="5248656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11880" y="52486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0" y="5248656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Remisiones a SSF / central de riesgos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23760" y="52943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63840" y="52943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11880" y="5650992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11880" y="565099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0" y="56509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NRP-17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23760" y="56967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63840" y="56967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11880" y="605332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11880" y="605332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0" y="605332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NRP-24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23760" y="6099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63840" y="6099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06840" y="36118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Normas más auditadas</a:t>
            </a:r>
          </a:p>
        </p:txBody>
      </p:sp>
      <p:graphicFrame>
        <p:nvGraphicFramePr>
          <p:cNvPr id="95" name="Gráfico normas"/>
          <p:cNvGraphicFramePr>
            <a:graphicFrameLocks noGrp="1"/>
          </p:cNvGraphicFramePr>
          <p:nvPr/>
        </p:nvGraphicFramePr>
        <p:xfrm>
          <a:off x="8915400" y="3977639"/>
          <a:ext cx="274320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6" name="Fuente"/>
          <p:cNvSpPr txBox="1"/>
          <p:nvPr/>
        </p:nvSpPr>
        <p:spPr>
          <a:xfrm>
            <a:off x="3611880" y="647395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