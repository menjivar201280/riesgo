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Veces auditada</c:v>
                </c:pt>
              </c:strCache>
            </c:strRef>
          </c:tx>
          <c:spPr>
            <a:solidFill>
              <a:srgbClr val="9BB8D9"/>
            </a:solidFill>
          </c:spPr>
          <c:dPt>
            <c:idx val="7"/>
            <c:spPr>
              <a:solidFill>
                <a:srgbClr val="003D6F"/>
              </a:solidFill>
            </c:spPr>
          </c:dPt>
          <c:cat>
            <c:strRef>
              <c:f>Sheet1!$A$2:$A$9</c:f>
              <c:strCache>
                <c:ptCount val="8"/>
                <c:pt idx="0">
                  <c:v>NRSF-03</c:v>
                </c:pt>
                <c:pt idx="1">
                  <c:v>NRSF-01</c:v>
                </c:pt>
                <c:pt idx="2">
                  <c:v>NRP-17</c:v>
                </c:pt>
                <c:pt idx="3">
                  <c:v>NRP-25</c:v>
                </c:pt>
                <c:pt idx="4">
                  <c:v>NPB4-49</c:v>
                </c:pt>
                <c:pt idx="5">
                  <c:v>NRP-24</c:v>
                </c:pt>
                <c:pt idx="6">
                  <c:v>NCB-022</c:v>
                </c:pt>
                <c:pt idx="7">
                  <c:v>NRP-20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F2A37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SSF, y en total pidieron 26 temas distintos. Cuatro temas los pidieron 2 o más entidades: hay que tenerlos siempre listos. Las Actas del Comité de Riesgos (NRP-20) se pidieron 4 veces; los temas de NCB-022 (cartera y reservas, Pérdida Esperada, remisiones a SSF y matriz de migración) y el Plan de Continuidad, 3 veces cada uno; Gobierno Corporativo, 2 veces. NRP-20 es la norma más revisada: 5 veces, por 3 entidades.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Panel lateral"/>
          <p:cNvSpPr/>
          <p:nvPr/>
        </p:nvSpPr>
        <p:spPr>
          <a:xfrm>
            <a:off x="0" y="749808"/>
            <a:ext cx="3246120" cy="610819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606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Resumen de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Riesgos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1168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63347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950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27248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749039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distintos pedidos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005072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de 31 temas del catálogo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242816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D27A"/>
                </a:solidFill>
                <a:latin typeface="Century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64607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que se repiten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120640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pedidos por 2+ entidades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358383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NRP-20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980175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 más auditada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236207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5 veces · 3 entidades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10058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¿Cuándo vino cada entidad?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484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Ene</a:t>
            </a:r>
          </a:p>
        </p:txBody>
      </p:sp>
      <p:sp>
        <p:nvSpPr>
          <p:cNvPr id="24" name="Oval 23"/>
          <p:cNvSpPr/>
          <p:nvPr/>
        </p:nvSpPr>
        <p:spPr>
          <a:xfrm>
            <a:off x="382828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2828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190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24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Feb</a:t>
            </a:r>
          </a:p>
        </p:txBody>
      </p:sp>
      <p:sp>
        <p:nvSpPr>
          <p:cNvPr id="28" name="Oval 27"/>
          <p:cNvSpPr/>
          <p:nvPr/>
        </p:nvSpPr>
        <p:spPr>
          <a:xfrm>
            <a:off x="44988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988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895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Mar</a:t>
            </a:r>
          </a:p>
        </p:txBody>
      </p:sp>
      <p:sp>
        <p:nvSpPr>
          <p:cNvPr id="32" name="Oval 31"/>
          <p:cNvSpPr/>
          <p:nvPr/>
        </p:nvSpPr>
        <p:spPr>
          <a:xfrm>
            <a:off x="51694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6013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235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Abr</a:t>
            </a:r>
          </a:p>
        </p:txBody>
      </p:sp>
      <p:sp>
        <p:nvSpPr>
          <p:cNvPr id="35" name="Oval 34"/>
          <p:cNvSpPr/>
          <p:nvPr/>
        </p:nvSpPr>
        <p:spPr>
          <a:xfrm>
            <a:off x="583996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306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41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May</a:t>
            </a:r>
          </a:p>
        </p:txBody>
      </p:sp>
      <p:sp>
        <p:nvSpPr>
          <p:cNvPr id="38" name="Oval 37"/>
          <p:cNvSpPr/>
          <p:nvPr/>
        </p:nvSpPr>
        <p:spPr>
          <a:xfrm>
            <a:off x="65105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51052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012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46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Jun</a:t>
            </a:r>
          </a:p>
        </p:txBody>
      </p:sp>
      <p:sp>
        <p:nvSpPr>
          <p:cNvPr id="42" name="Oval 41"/>
          <p:cNvSpPr/>
          <p:nvPr/>
        </p:nvSpPr>
        <p:spPr>
          <a:xfrm>
            <a:off x="718108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8108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6718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52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Jul</a:t>
            </a:r>
          </a:p>
        </p:txBody>
      </p:sp>
      <p:sp>
        <p:nvSpPr>
          <p:cNvPr id="46" name="Oval 45"/>
          <p:cNvSpPr/>
          <p:nvPr/>
        </p:nvSpPr>
        <p:spPr>
          <a:xfrm>
            <a:off x="785164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516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3423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58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Ago</a:t>
            </a:r>
          </a:p>
        </p:txBody>
      </p:sp>
      <p:sp>
        <p:nvSpPr>
          <p:cNvPr id="50" name="Oval 49"/>
          <p:cNvSpPr/>
          <p:nvPr/>
        </p:nvSpPr>
        <p:spPr>
          <a:xfrm>
            <a:off x="85222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52220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52220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01293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763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Sep</a:t>
            </a:r>
          </a:p>
        </p:txBody>
      </p:sp>
      <p:sp>
        <p:nvSpPr>
          <p:cNvPr id="55" name="Oval 54"/>
          <p:cNvSpPr/>
          <p:nvPr/>
        </p:nvSpPr>
        <p:spPr>
          <a:xfrm>
            <a:off x="919276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469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</a:t>
            </a:r>
          </a:p>
        </p:txBody>
      </p:sp>
      <p:sp>
        <p:nvSpPr>
          <p:cNvPr id="59" name="Oval 58"/>
          <p:cNvSpPr/>
          <p:nvPr/>
        </p:nvSpPr>
        <p:spPr>
          <a:xfrm>
            <a:off x="98633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63328" y="216712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86332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3540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174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Nov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02461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9880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Dic</a:t>
            </a:r>
          </a:p>
        </p:txBody>
      </p:sp>
      <p:sp>
        <p:nvSpPr>
          <p:cNvPr id="66" name="Oval 65"/>
          <p:cNvSpPr/>
          <p:nvPr/>
        </p:nvSpPr>
        <p:spPr>
          <a:xfrm>
            <a:off x="3611880" y="3172968"/>
            <a:ext cx="164592" cy="164592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404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Interna</a:t>
            </a:r>
          </a:p>
        </p:txBody>
      </p:sp>
      <p:sp>
        <p:nvSpPr>
          <p:cNvPr id="68" name="Oval 67"/>
          <p:cNvSpPr/>
          <p:nvPr/>
        </p:nvSpPr>
        <p:spPr>
          <a:xfrm>
            <a:off x="5212080" y="3172968"/>
            <a:ext cx="164592" cy="164592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Externa</a:t>
            </a:r>
          </a:p>
        </p:txBody>
      </p:sp>
      <p:sp>
        <p:nvSpPr>
          <p:cNvPr id="70" name="Oval 69"/>
          <p:cNvSpPr/>
          <p:nvPr/>
        </p:nvSpPr>
        <p:spPr>
          <a:xfrm>
            <a:off x="6812280" y="3172968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408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SSF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95359" y="3136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Octubre: las 3 entidades en el mismo mes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11880" y="3611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Temas que se repiten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11880" y="412394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11880" y="41239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8808" y="406908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Actas Comité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223760" y="422452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028432" y="42245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611880" y="4700016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11880" y="470001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78808" y="4645152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Riesgo de crédito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 · Cartera y reservas · Pérdida Esperada · Remisiones a SSF · Matriz de migración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23760" y="48006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28432" y="480060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11880" y="5276088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11880" y="527608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78808" y="52212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23760" y="5376672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028432" y="537667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11880" y="5852159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11880" y="5852159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78808" y="5797296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Gobierno Corporativo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23760" y="5952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63840" y="595274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0684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Normas más auditadas</a:t>
            </a:r>
          </a:p>
        </p:txBody>
      </p:sp>
      <p:graphicFrame>
        <p:nvGraphicFramePr>
          <p:cNvPr id="95" name="Gráfico normas"/>
          <p:cNvGraphicFramePr>
            <a:graphicFrameLocks noGrp="1"/>
          </p:cNvGraphicFramePr>
          <p:nvPr/>
        </p:nvGraphicFramePr>
        <p:xfrm>
          <a:off x="8915400" y="3977639"/>
          <a:ext cx="274320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6" name="Fuente"/>
          <p:cNvSpPr txBox="1"/>
          <p:nvPr/>
        </p:nvSpPr>
        <p:spPr>
          <a:xfrm>
            <a:off x="3611880" y="647395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hojas «Resumen Riesgos» y «Consolidado»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