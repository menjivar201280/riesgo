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1321" r:id="rId3"/>
  </p:sldIdLst>
  <p:sldSz cx="12192000" cy="6858000"/>
  <p:notesSz cx="6858000" cy="9144000"/>
  <p:defaultTextStyle>
    <a:defPPr>
      <a:defRPr lang="es-SV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376E"/>
    <a:srgbClr val="004184"/>
    <a:srgbClr val="0053A8"/>
    <a:srgbClr val="005C9F"/>
    <a:srgbClr val="0051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252236-3FAF-4113-A4F6-0C3A1563E69A}" v="1" dt="2026-10-24T19:13:56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ctor Jose Menjivar Somoza" userId="0c251d33-8269-45bf-9bec-169219cd79c7" providerId="ADAL" clId="{E24BF829-F682-4B96-8073-D53758CC38A2}"/>
    <pc:docChg chg="addSld delSld modSld sldOrd">
      <pc:chgData name="Hector Jose Menjivar Somoza" userId="0c251d33-8269-45bf-9bec-169219cd79c7" providerId="ADAL" clId="{E24BF829-F682-4B96-8073-D53758CC38A2}" dt="2026-10-24T19:13:57.984" v="4"/>
      <pc:docMkLst>
        <pc:docMk/>
      </pc:docMkLst>
      <pc:sldChg chg="del">
        <pc:chgData name="Hector Jose Menjivar Somoza" userId="0c251d33-8269-45bf-9bec-169219cd79c7" providerId="ADAL" clId="{E24BF829-F682-4B96-8073-D53758CC38A2}" dt="2026-10-24T19:13:48.328" v="1" actId="2696"/>
        <pc:sldMkLst>
          <pc:docMk/>
          <pc:sldMk cId="662215908" sldId="257"/>
        </pc:sldMkLst>
      </pc:sldChg>
      <pc:sldChg chg="modSp mod">
        <pc:chgData name="Hector Jose Menjivar Somoza" userId="0c251d33-8269-45bf-9bec-169219cd79c7" providerId="ADAL" clId="{E24BF829-F682-4B96-8073-D53758CC38A2}" dt="2026-10-22T21:22:43.936" v="0" actId="1076"/>
        <pc:sldMkLst>
          <pc:docMk/>
          <pc:sldMk cId="1188959789" sldId="261"/>
        </pc:sldMkLst>
        <pc:picChg chg="mod">
          <ac:chgData name="Hector Jose Menjivar Somoza" userId="0c251d33-8269-45bf-9bec-169219cd79c7" providerId="ADAL" clId="{E24BF829-F682-4B96-8073-D53758CC38A2}" dt="2026-10-22T21:22:43.936" v="0" actId="1076"/>
          <ac:picMkLst>
            <pc:docMk/>
            <pc:sldMk cId="1188959789" sldId="261"/>
            <ac:picMk id="2" creationId="{581614C1-8597-C084-8870-3EA3BD6672B3}"/>
          </ac:picMkLst>
        </pc:picChg>
      </pc:sldChg>
      <pc:sldChg chg="add ord">
        <pc:chgData name="Hector Jose Menjivar Somoza" userId="0c251d33-8269-45bf-9bec-169219cd79c7" providerId="ADAL" clId="{E24BF829-F682-4B96-8073-D53758CC38A2}" dt="2026-10-24T19:13:57.984" v="4"/>
        <pc:sldMkLst>
          <pc:docMk/>
          <pc:sldMk cId="3045456205" sldId="1326"/>
        </pc:sldMkLst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Veces auditada</c:v>
                </c:pt>
              </c:strCache>
            </c:strRef>
          </c:tx>
          <c:spPr>
            <a:solidFill>
              <a:srgbClr val="9BB8D9"/>
            </a:solidFill>
          </c:spPr>
          <c:dPt>
            <c:idx val="7"/>
            <c:spPr>
              <a:solidFill>
                <a:srgbClr val="003D6F"/>
              </a:solidFill>
            </c:spPr>
          </c:dPt>
          <c:cat>
            <c:strRef>
              <c:f>Sheet1!$A$2:$A$9</c:f>
              <c:strCache>
                <c:ptCount val="8"/>
                <c:pt idx="0">
                  <c:v>NRSF-03</c:v>
                </c:pt>
                <c:pt idx="1">
                  <c:v>NRSF-01</c:v>
                </c:pt>
                <c:pt idx="2">
                  <c:v>NRP-17</c:v>
                </c:pt>
                <c:pt idx="3">
                  <c:v>NRP-25</c:v>
                </c:pt>
                <c:pt idx="4">
                  <c:v>NPB4-49</c:v>
                </c:pt>
                <c:pt idx="5">
                  <c:v>NRP-24</c:v>
                </c:pt>
                <c:pt idx="6">
                  <c:v>NCB-022</c:v>
                </c:pt>
                <c:pt idx="7">
                  <c:v>NRP-20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 b="1">
                  <a:solidFill>
                    <a:srgbClr val="1F2A37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2DC"/>
            </a:solidFill>
          </a:ln>
        </c:spPr>
        <c:txPr>
          <a:bodyPr/>
          <a:lstStyle/>
          <a:p>
            <a:pPr>
              <a:defRPr sz="10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9B3AB5-647A-834A-ABF4-E74A52371851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SV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SV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1EAE39-7648-3748-A12E-11B4DE5E48BF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881370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19FF0-439B-F3B6-7773-EDB1EFDED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C8A0F81-2EE0-3264-F475-80F982C50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F9C13C6-BD03-0EDA-62BD-52038E8976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Resumen de lo que nos pidieron en 2026. Vinieron 19 veces: 7 auditorías internas, 4 externas y 8 visitas de la SSF. Seis temas los pidieron 2 o más entidades: hay que tenerlos siempre listos, sobre todo las Actas del Comité de Riesgos (NRP-20), pedidas 4 veces, y Clasificación de cartera y el Plan de Continuidad, pedidos 3 veces cada uno. NRP-20 es la norma más revisada (5 veces, 3 entidades). En octubre coincidieron Interna, Externa y SSF.</a:t>
            </a:r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2CB2E1D-0082-E1F7-8E0B-F90A3302F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E00A85F-F42F-AB4B-95BE-8A8B50D29861}" type="slidenum">
              <a:rPr kumimoji="0" lang="es-SV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SV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183516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26A5246-1289-2501-E76B-99FD1AAC6C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844576-B082-FD49-EBFF-D88CB1856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MX"/>
              <a:t>Haz clic para editar el estilo de subtítulo del patrón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F51356-BC70-4A72-C845-C6BAA0817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C911C6-CCCD-EFCE-3DC3-663F37E53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85E2B-4DFB-D2D2-C203-7C543DA286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1734552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9B9020-EA08-2516-1B5A-BCDD9C03C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A077ED8-CB52-4C8A-AD7C-FF69313F08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DA8A1C5-EFD4-6D53-6F60-91F7FEC37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9A934E5-6EC7-1E96-3E32-3BBF89B99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E42E576-5068-3919-22AE-2EFC0CFE6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630311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741BA9-205E-F894-3C02-1C6495E0C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F45D5F7-6E2F-4508-4252-BD37990691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383CB00-BF9E-6F13-D537-AD0E36693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6C7AE8E-7CF9-D7B6-D1ED-21E5FF908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F0008D-520F-48DC-8002-8AD9CC9E7B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60302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4220B8-8DAC-8D1C-6637-1BB7C5447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9A9161A-5259-CE4C-5F36-0C70C7DA06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26E0585-6862-9B66-7349-CA36E8D6FA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613B306-A83F-3642-4CB4-6311A5324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EA5248C-A27A-B405-76D1-3A899EAC8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180EF02-1565-5EF5-1FB7-41B9FDF1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045744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19B36E-EDCE-87AD-F79D-E35AE04A1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BCF1C7-0762-26FF-516A-1F5C54FD3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DF51246-48E6-D02D-90D5-3F540BED3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951D2A50-BDD8-0140-6856-B160A3EF9C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E96DA55-D8D7-ECD8-C1C1-E7CF8F4CC7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6DBD5DE8-BAAD-A23F-E42A-FC78EE2211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0EE4B05-A3D0-6017-130F-86F230B22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7F5D9EF-48D1-D8F2-FB9C-D4A247EB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15023707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C5D267A-E196-13EF-FD3A-074D479D4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CD7AF0F5-062D-3B95-9353-81F0DA2BC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68B978C5-1E29-BE73-7E64-204B0F2BC6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77B0AA7-3AEF-3A56-2110-DB17D35E4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8904133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9FCC7489-4F6B-4B71-04D6-99301E90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E98D37B-9ECE-609D-114F-5B39D35B3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39F9FC-6691-46A3-5923-57E96A23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5397075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787392-18A3-AFAD-0386-5808804C5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26BC22E-F43A-1EC3-EED9-A963FEEEE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59D0088-C458-B008-17CB-AD362EFD35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8FC4388-D961-AFC4-338C-FE20825D2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C002D08-31EF-ADC4-EF6C-8C048140F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107B0-2B1B-DC26-D758-C2A80EA44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3655922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2C7F8E7-BC43-E55F-DCE0-B17E30AF55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5F264F4-1E54-E14D-A3E8-85E786E6AF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SV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73B5BAF-EA8D-93A7-A944-4B42E7098E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C583257-C538-CBCB-7DE9-A06EA1F23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FB6377A-C88F-0E4E-6512-998D41656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DA2F9A9-D335-A24D-6616-BE21390434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27803793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DB573A-A965-E5F0-C8B7-AD74E3712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BA8A928-686F-08FA-FA60-82456AC751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2EED11-37CE-DDE7-0996-F1656333B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1973FC4-35B2-7FA1-6FA6-C69B042A5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19FC8B8-A38F-9C7F-1BF7-3F68A49B11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1124467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77D44C4-F6B0-17CB-171D-21D7EF5588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AF3F919-79AC-F71B-339E-F46E0D56AE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5579CB5-D3C7-4564-4992-AA3FE62DF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0BA4BF1-DEDA-37E8-7D85-7DA091884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A1DFEFA-35D6-51BD-C69D-0EFD2E7FC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7754730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27B7F8D-DE7C-32C4-D228-68696D5B8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s-SV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CAE6056-C60B-917E-5F56-F732610148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s-SV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F3682A0-187E-0333-D85D-D60B144E12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B18277-A37D-4F4A-BC70-5B646CB73774}" type="datetimeFigureOut">
              <a:rPr lang="es-SV" smtClean="0"/>
              <a:t>24/10/2026</a:t>
            </a:fld>
            <a:endParaRPr lang="es-SV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1C7C310-C8CD-DCCD-F3E6-D8FE04D6F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SV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30D2611-9B5A-26DA-21AA-92971AC596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E9AB63-2DD0-DF4B-A7F0-7BF2582936DD}" type="slidenum">
              <a:rPr lang="es-SV" smtClean="0"/>
              <a:t>‹Nº›</a:t>
            </a:fld>
            <a:endParaRPr lang="es-SV"/>
          </a:p>
        </p:txBody>
      </p:sp>
    </p:spTree>
    <p:extLst>
      <p:ext uri="{BB962C8B-B14F-4D97-AF65-F5344CB8AC3E}">
        <p14:creationId xmlns:p14="http://schemas.microsoft.com/office/powerpoint/2010/main" val="403913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SV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chart" Target="../charts/chart1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D1139-EC4C-4817-A6D6-CE0CCBB4A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A2E490EE-A001-BCDF-8E53-B55769CA5F29}"/>
              </a:ext>
            </a:extLst>
          </p:cNvPr>
          <p:cNvSpPr txBox="1"/>
          <p:nvPr/>
        </p:nvSpPr>
        <p:spPr>
          <a:xfrm>
            <a:off x="0" y="0"/>
            <a:ext cx="12192000" cy="74942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txBody>
          <a:bodyPr spcFirstLastPara="0" vert="horz" wrap="square" lIns="114300" tIns="114300" rIns="114300" bIns="114300" numCol="1" spcCol="1270" anchor="ctr" anchorCtr="0">
            <a:noAutofit/>
          </a:bodyPr>
          <a:lstStyle/>
          <a:p>
            <a:pPr lvl="0" algn="ctr" defTabSz="1333500">
              <a:defRPr/>
            </a:pPr>
            <a:r>
              <a:rPr lang="es-SV" sz="1600" b="1" dirty="0">
                <a:solidFill>
                  <a:prstClr val="white"/>
                </a:solidFill>
                <a:latin typeface="Century Gothic"/>
                <a:ea typeface="MS Mincho"/>
              </a:rPr>
              <a:t>REUNIÓN DE LOS LUNES  ·  DEPARTAMENTO DE ADMINISTRACIÓN DE RIESGOS</a:t>
            </a:r>
            <a:endParaRPr kumimoji="0" lang="es-MX" sz="2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Calibri"/>
              <a:cs typeface="Calibri"/>
            </a:endParaRPr>
          </a:p>
        </p:txBody>
      </p:sp>
      <p:sp>
        <p:nvSpPr>
          <p:cNvPr id="7" name="Panel lateral"/>
          <p:cNvSpPr/>
          <p:nvPr/>
        </p:nvSpPr>
        <p:spPr>
          <a:xfrm>
            <a:off x="0" y="749808"/>
            <a:ext cx="3246120" cy="6108192"/>
          </a:xfrm>
          <a:prstGeom prst="rect">
            <a:avLst/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51560"/>
            <a:ext cx="2606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Resumen de</a:t>
            </a:r>
          </a:p>
          <a:p>
            <a:pPr algn="l"/>
            <a:r>
              <a:rPr sz="2400" b="1">
                <a:solidFill>
                  <a:srgbClr val="FFFFFF"/>
                </a:solidFill>
                <a:latin typeface="Century Gothic"/>
              </a:rPr>
              <a:t>Riesgos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488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entury Gothic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06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visitas y auditorías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266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7 Interna · 4 Externa · 8 SSF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5204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3600" b="1">
                <a:solidFill>
                  <a:srgbClr val="FFD27A"/>
                </a:solidFill>
                <a:latin typeface="Century Gothic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142232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temas que se repiten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982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pedidos por 2+ entidades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892040"/>
            <a:ext cx="2606039" cy="59436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entury Gothic"/>
              </a:rPr>
              <a:t>NRP-20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513831"/>
            <a:ext cx="2606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norma más auditada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769864"/>
            <a:ext cx="26060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CC3E8"/>
                </a:solidFill>
                <a:latin typeface="Arial"/>
              </a:rPr>
              <a:t>5 veces · 3 entidades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100584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¿Cuándo vino cada entidad?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484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Ene</a:t>
            </a:r>
          </a:p>
        </p:txBody>
      </p:sp>
      <p:sp>
        <p:nvSpPr>
          <p:cNvPr id="21" name="Oval 20"/>
          <p:cNvSpPr/>
          <p:nvPr/>
        </p:nvSpPr>
        <p:spPr>
          <a:xfrm>
            <a:off x="382828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2828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3190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824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Feb</a:t>
            </a:r>
          </a:p>
        </p:txBody>
      </p:sp>
      <p:sp>
        <p:nvSpPr>
          <p:cNvPr id="25" name="Oval 24"/>
          <p:cNvSpPr/>
          <p:nvPr/>
        </p:nvSpPr>
        <p:spPr>
          <a:xfrm>
            <a:off x="449884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988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9895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530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Mar</a:t>
            </a:r>
          </a:p>
        </p:txBody>
      </p:sp>
      <p:sp>
        <p:nvSpPr>
          <p:cNvPr id="29" name="Oval 28"/>
          <p:cNvSpPr/>
          <p:nvPr/>
        </p:nvSpPr>
        <p:spPr>
          <a:xfrm>
            <a:off x="51694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66013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Abr</a:t>
            </a:r>
          </a:p>
        </p:txBody>
      </p:sp>
      <p:sp>
        <p:nvSpPr>
          <p:cNvPr id="32" name="Oval 31"/>
          <p:cNvSpPr/>
          <p:nvPr/>
        </p:nvSpPr>
        <p:spPr>
          <a:xfrm>
            <a:off x="583996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306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941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May</a:t>
            </a:r>
          </a:p>
        </p:txBody>
      </p:sp>
      <p:sp>
        <p:nvSpPr>
          <p:cNvPr id="35" name="Oval 34"/>
          <p:cNvSpPr/>
          <p:nvPr/>
        </p:nvSpPr>
        <p:spPr>
          <a:xfrm>
            <a:off x="65105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51052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0012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46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Jun</a:t>
            </a:r>
          </a:p>
        </p:txBody>
      </p:sp>
      <p:sp>
        <p:nvSpPr>
          <p:cNvPr id="39" name="Oval 38"/>
          <p:cNvSpPr/>
          <p:nvPr/>
        </p:nvSpPr>
        <p:spPr>
          <a:xfrm>
            <a:off x="718108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181088" y="216712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67181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352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Jul</a:t>
            </a:r>
          </a:p>
        </p:txBody>
      </p:sp>
      <p:sp>
        <p:nvSpPr>
          <p:cNvPr id="43" name="Oval 42"/>
          <p:cNvSpPr/>
          <p:nvPr/>
        </p:nvSpPr>
        <p:spPr>
          <a:xfrm>
            <a:off x="7851648" y="189280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5164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834237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0580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Ago</a:t>
            </a:r>
          </a:p>
        </p:txBody>
      </p:sp>
      <p:sp>
        <p:nvSpPr>
          <p:cNvPr id="47" name="Oval 46"/>
          <p:cNvSpPr/>
          <p:nvPr/>
        </p:nvSpPr>
        <p:spPr>
          <a:xfrm>
            <a:off x="852220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8522208" y="216712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52220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01293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7636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1F2A37"/>
                </a:solidFill>
                <a:latin typeface="Arial"/>
              </a:rPr>
              <a:t>Sep</a:t>
            </a:r>
          </a:p>
        </p:txBody>
      </p:sp>
      <p:sp>
        <p:nvSpPr>
          <p:cNvPr id="52" name="Oval 51"/>
          <p:cNvSpPr/>
          <p:nvPr/>
        </p:nvSpPr>
        <p:spPr>
          <a:xfrm>
            <a:off x="9192768" y="189280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EEF3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9683496" y="1481328"/>
            <a:ext cx="597408" cy="1554480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4692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C62828"/>
                </a:solidFill>
                <a:latin typeface="Arial"/>
              </a:rPr>
              <a:t>Oct</a:t>
            </a:r>
          </a:p>
        </p:txBody>
      </p:sp>
      <p:sp>
        <p:nvSpPr>
          <p:cNvPr id="56" name="Oval 55"/>
          <p:cNvSpPr/>
          <p:nvPr/>
        </p:nvSpPr>
        <p:spPr>
          <a:xfrm>
            <a:off x="9863328" y="1892808"/>
            <a:ext cx="237744" cy="23774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9863328" y="2167128"/>
            <a:ext cx="237744" cy="237744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9863328" y="2441448"/>
            <a:ext cx="237744" cy="237744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10354056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31748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Nov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024615" y="1481328"/>
            <a:ext cx="597408" cy="1554480"/>
          </a:xfrm>
          <a:prstGeom prst="roundRect">
            <a:avLst>
              <a:gd name="adj" fmla="val 10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988040" y="1572768"/>
            <a:ext cx="670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A7B2BF"/>
                </a:solidFill>
                <a:latin typeface="Arial"/>
              </a:rPr>
              <a:t>Dic</a:t>
            </a:r>
          </a:p>
        </p:txBody>
      </p:sp>
      <p:sp>
        <p:nvSpPr>
          <p:cNvPr id="63" name="Oval 62"/>
          <p:cNvSpPr/>
          <p:nvPr/>
        </p:nvSpPr>
        <p:spPr>
          <a:xfrm>
            <a:off x="3611880" y="3172968"/>
            <a:ext cx="164592" cy="164592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8404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Interna</a:t>
            </a:r>
          </a:p>
        </p:txBody>
      </p:sp>
      <p:sp>
        <p:nvSpPr>
          <p:cNvPr id="65" name="Oval 64"/>
          <p:cNvSpPr/>
          <p:nvPr/>
        </p:nvSpPr>
        <p:spPr>
          <a:xfrm>
            <a:off x="5212080" y="3172968"/>
            <a:ext cx="164592" cy="164592"/>
          </a:xfrm>
          <a:prstGeom prst="ellipse">
            <a:avLst/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406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Auditoría Externa</a:t>
            </a:r>
          </a:p>
        </p:txBody>
      </p:sp>
      <p:sp>
        <p:nvSpPr>
          <p:cNvPr id="67" name="Oval 66"/>
          <p:cNvSpPr/>
          <p:nvPr/>
        </p:nvSpPr>
        <p:spPr>
          <a:xfrm>
            <a:off x="6812280" y="3172968"/>
            <a:ext cx="164592" cy="164592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40880" y="3136392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5B6B7B"/>
                </a:solidFill>
                <a:latin typeface="Arial"/>
              </a:rPr>
              <a:t>SSF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95359" y="3136392"/>
            <a:ext cx="3108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C62828"/>
                </a:solidFill>
                <a:latin typeface="Arial"/>
              </a:rPr>
              <a:t>Octubre: las 3 entidades en el mismo mes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11880" y="36118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Temas que se repiten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611880" y="404164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11880" y="404164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14800" y="40416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Actas Comité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NRP-20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223760" y="4087368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×3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028432" y="408736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611880" y="4443984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611880" y="4443984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0" y="444398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Clasificación de cartera, mora y reservas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23760" y="4489704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028432" y="448970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611880" y="4846320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11880" y="4846320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0" y="48463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Plan de Continuidad (BCP/DRP)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NRP-24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7223760" y="4892040"/>
            <a:ext cx="731520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 ×2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028432" y="4892040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3611880" y="5248656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611880" y="5248656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114800" y="524865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Pérdida Esperada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7223760" y="52943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863840" y="529437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3611880" y="5650992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611880" y="5650992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114800" y="5650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Remisiones a SSF / central de riesgos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NCB-022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7223760" y="56967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863840" y="5696712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E887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Externa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611880" y="6053328"/>
            <a:ext cx="384048" cy="329184"/>
          </a:xfrm>
          <a:prstGeom prst="roundRect">
            <a:avLst>
              <a:gd name="adj" fmla="val 20000"/>
            </a:avLst>
          </a:prstGeom>
          <a:solidFill>
            <a:srgbClr val="003D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11880" y="6053328"/>
            <a:ext cx="3840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114800" y="605332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1F2A37"/>
                </a:solidFill>
                <a:latin typeface="Arial"/>
              </a:rPr>
              <a:t>Gobierno Corporativo</a:t>
            </a:r>
          </a:p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NRP-17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7223760" y="6099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Interna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7863840" y="6099048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SSF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006840" y="36118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03D6F"/>
                </a:solidFill>
                <a:latin typeface="Century Gothic"/>
              </a:rPr>
              <a:t>Normas más auditadas</a:t>
            </a:r>
          </a:p>
        </p:txBody>
      </p:sp>
      <p:graphicFrame>
        <p:nvGraphicFramePr>
          <p:cNvPr id="102" name="Gráfico normas"/>
          <p:cNvGraphicFramePr>
            <a:graphicFrameLocks noGrp="1"/>
          </p:cNvGraphicFramePr>
          <p:nvPr/>
        </p:nvGraphicFramePr>
        <p:xfrm>
          <a:off x="8915400" y="3977639"/>
          <a:ext cx="2743200" cy="2423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3" name="Fuente"/>
          <p:cNvSpPr txBox="1"/>
          <p:nvPr/>
        </p:nvSpPr>
        <p:spPr>
          <a:xfrm>
            <a:off x="3611880" y="647395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B6B7B"/>
                </a:solidFill>
                <a:latin typeface="Arial"/>
              </a:rPr>
              <a:t>Fuente: Matriz de Requerimientos de Riesgos 2026, hoja «Resumen Riesgos» · corte octubre 2026</a:t>
            </a:r>
          </a:p>
        </p:txBody>
      </p:sp>
    </p:spTree>
    <p:extLst>
      <p:ext uri="{BB962C8B-B14F-4D97-AF65-F5344CB8AC3E}">
        <p14:creationId xmlns:p14="http://schemas.microsoft.com/office/powerpoint/2010/main" val="400191656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8dab1c-c8f3-4f9c-8270-c22a94ade099}" enabled="0" method="" siteId="{d98dab1c-c8f3-4f9c-8270-c22a94ade09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458</Words>
  <Application>Microsoft Office PowerPoint</Application>
  <PresentationFormat>Panorámica</PresentationFormat>
  <Paragraphs>39</Paragraphs>
  <Slides>10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Century Gothic</vt:lpstr>
      <vt:lpstr>Myriad Pro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Maria Alejandra Batres Alvarado</dc:creator>
  <cp:lastModifiedBy>Hector Jose Menjivar Somoza</cp:lastModifiedBy>
  <cp:revision>17</cp:revision>
  <dcterms:created xsi:type="dcterms:W3CDTF">2025-07-17T21:19:45Z</dcterms:created>
  <dcterms:modified xsi:type="dcterms:W3CDTF">2026-10-24T19:14:06Z</dcterms:modified>
</cp:coreProperties>
</file>