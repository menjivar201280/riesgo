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Veces auditada</c:v>
                </c:pt>
              </c:strCache>
            </c:strRef>
          </c:tx>
          <c:spPr>
            <a:solidFill>
              <a:srgbClr val="9BB8D9"/>
            </a:solidFill>
          </c:spPr>
          <c:dPt>
            <c:idx val="7"/>
            <c:spPr>
              <a:solidFill>
                <a:srgbClr val="003D6F"/>
              </a:solidFill>
            </c:spPr>
          </c:dPt>
          <c:cat>
            <c:strRef>
              <c:f>Sheet1!$A$2:$A$9</c:f>
              <c:strCache>
                <c:ptCount val="8"/>
                <c:pt idx="0">
                  <c:v>NRSF-03</c:v>
                </c:pt>
                <c:pt idx="1">
                  <c:v>NRSF-01</c:v>
                </c:pt>
                <c:pt idx="2">
                  <c:v>NRP-17</c:v>
                </c:pt>
                <c:pt idx="3">
                  <c:v>NRP-25</c:v>
                </c:pt>
                <c:pt idx="4">
                  <c:v>NPB4-49</c:v>
                </c:pt>
                <c:pt idx="5">
                  <c:v>NRP-24</c:v>
                </c:pt>
                <c:pt idx="6">
                  <c:v>NCB-022</c:v>
                </c:pt>
                <c:pt idx="7">
                  <c:v>NRP-20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F2A37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2DC"/>
            </a:solidFill>
          </a:ln>
        </c:spPr>
        <c:txPr>
          <a:bodyPr/>
          <a:lstStyle/>
          <a:p>
            <a:pPr>
              <a:defRPr sz="10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SSF. Cuatro temas los pidieron 2 o más entidades: hay que tenerlos siempre listos, sobre todo las Actas del Comité de Riesgos (NRP-20), pedidas 4 veces; NCB-022 (cartera, Pérdida Esperada y remisiones a SSF) y el Plan de Continuidad, 3 veces cada uno. NRP-20 es la norma más revisada (5 veces, 3 entidades).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Panel lateral"/>
          <p:cNvSpPr/>
          <p:nvPr/>
        </p:nvSpPr>
        <p:spPr>
          <a:xfrm>
            <a:off x="0" y="749808"/>
            <a:ext cx="3246120" cy="610819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51560"/>
            <a:ext cx="2606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Resumen de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Riesgos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entury Gothic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0632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visitas y auditorías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0266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7 Interna · 4 Externa · 8 SSF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5204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D27A"/>
                </a:solidFill>
                <a:latin typeface="Century Gothic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142232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temas que se repiten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982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pedidos por 2+ entidades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8920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NRP-20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513831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norma más auditada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7698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5 veces · 3 entidades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10058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¿Cuándo vino cada entidad?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484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Ene</a:t>
            </a:r>
          </a:p>
        </p:txBody>
      </p:sp>
      <p:sp>
        <p:nvSpPr>
          <p:cNvPr id="21" name="Oval 20"/>
          <p:cNvSpPr/>
          <p:nvPr/>
        </p:nvSpPr>
        <p:spPr>
          <a:xfrm>
            <a:off x="382828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2828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190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824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Feb</a:t>
            </a:r>
          </a:p>
        </p:txBody>
      </p:sp>
      <p:sp>
        <p:nvSpPr>
          <p:cNvPr id="25" name="Oval 24"/>
          <p:cNvSpPr/>
          <p:nvPr/>
        </p:nvSpPr>
        <p:spPr>
          <a:xfrm>
            <a:off x="449884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988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9895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30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Mar</a:t>
            </a:r>
          </a:p>
        </p:txBody>
      </p:sp>
      <p:sp>
        <p:nvSpPr>
          <p:cNvPr id="29" name="Oval 28"/>
          <p:cNvSpPr/>
          <p:nvPr/>
        </p:nvSpPr>
        <p:spPr>
          <a:xfrm>
            <a:off x="51694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013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35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Abr</a:t>
            </a:r>
          </a:p>
        </p:txBody>
      </p:sp>
      <p:sp>
        <p:nvSpPr>
          <p:cNvPr id="32" name="Oval 31"/>
          <p:cNvSpPr/>
          <p:nvPr/>
        </p:nvSpPr>
        <p:spPr>
          <a:xfrm>
            <a:off x="583996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306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May</a:t>
            </a:r>
          </a:p>
        </p:txBody>
      </p:sp>
      <p:sp>
        <p:nvSpPr>
          <p:cNvPr id="35" name="Oval 34"/>
          <p:cNvSpPr/>
          <p:nvPr/>
        </p:nvSpPr>
        <p:spPr>
          <a:xfrm>
            <a:off x="65105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10528" y="216712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0012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46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Jun</a:t>
            </a:r>
          </a:p>
        </p:txBody>
      </p:sp>
      <p:sp>
        <p:nvSpPr>
          <p:cNvPr id="39" name="Oval 38"/>
          <p:cNvSpPr/>
          <p:nvPr/>
        </p:nvSpPr>
        <p:spPr>
          <a:xfrm>
            <a:off x="718108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81088" y="216712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718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352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Jul</a:t>
            </a:r>
          </a:p>
        </p:txBody>
      </p:sp>
      <p:sp>
        <p:nvSpPr>
          <p:cNvPr id="43" name="Oval 42"/>
          <p:cNvSpPr/>
          <p:nvPr/>
        </p:nvSpPr>
        <p:spPr>
          <a:xfrm>
            <a:off x="785164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516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3423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058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Ago</a:t>
            </a:r>
          </a:p>
        </p:txBody>
      </p:sp>
      <p:sp>
        <p:nvSpPr>
          <p:cNvPr id="47" name="Oval 46"/>
          <p:cNvSpPr/>
          <p:nvPr/>
        </p:nvSpPr>
        <p:spPr>
          <a:xfrm>
            <a:off x="85222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52220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52220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01293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763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Sep</a:t>
            </a:r>
          </a:p>
        </p:txBody>
      </p:sp>
      <p:sp>
        <p:nvSpPr>
          <p:cNvPr id="52" name="Oval 51"/>
          <p:cNvSpPr/>
          <p:nvPr/>
        </p:nvSpPr>
        <p:spPr>
          <a:xfrm>
            <a:off x="919276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469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</a:t>
            </a:r>
          </a:p>
        </p:txBody>
      </p:sp>
      <p:sp>
        <p:nvSpPr>
          <p:cNvPr id="56" name="Oval 55"/>
          <p:cNvSpPr/>
          <p:nvPr/>
        </p:nvSpPr>
        <p:spPr>
          <a:xfrm>
            <a:off x="98633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863328" y="216712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86332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3540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3174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Nov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02461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9880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Dic</a:t>
            </a:r>
          </a:p>
        </p:txBody>
      </p:sp>
      <p:sp>
        <p:nvSpPr>
          <p:cNvPr id="63" name="Oval 62"/>
          <p:cNvSpPr/>
          <p:nvPr/>
        </p:nvSpPr>
        <p:spPr>
          <a:xfrm>
            <a:off x="3611880" y="3172968"/>
            <a:ext cx="164592" cy="164592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404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Interna</a:t>
            </a:r>
          </a:p>
        </p:txBody>
      </p:sp>
      <p:sp>
        <p:nvSpPr>
          <p:cNvPr id="65" name="Oval 64"/>
          <p:cNvSpPr/>
          <p:nvPr/>
        </p:nvSpPr>
        <p:spPr>
          <a:xfrm>
            <a:off x="5212080" y="3172968"/>
            <a:ext cx="164592" cy="164592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406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Externa</a:t>
            </a:r>
          </a:p>
        </p:txBody>
      </p:sp>
      <p:sp>
        <p:nvSpPr>
          <p:cNvPr id="67" name="Oval 66"/>
          <p:cNvSpPr/>
          <p:nvPr/>
        </p:nvSpPr>
        <p:spPr>
          <a:xfrm>
            <a:off x="6812280" y="3172968"/>
            <a:ext cx="164592" cy="164592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408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SSF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59" y="313639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Octubre: las 3 entidades en el mismo mes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11880" y="3611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Temas que se repiten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611880" y="4123944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11880" y="412394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8808" y="406908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Actas Comité de Riesgos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NRP-20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23760" y="422452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×3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28432" y="42245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11880" y="4700016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11880" y="470001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78808" y="4645152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Riesgo de crédito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NCB-022 · Cartera, mora y reservas · Pérdida Esperada · Remisiones a SSF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8006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028432" y="480060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11880" y="5276088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11880" y="527608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78808" y="5221224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NRP-24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23760" y="5376672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028432" y="537667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611880" y="5852159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11880" y="5852159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78808" y="5797296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Gobierno Corporativo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NRP-17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23760" y="595274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863840" y="595274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06840" y="36118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Normas más auditadas</a:t>
            </a:r>
          </a:p>
        </p:txBody>
      </p:sp>
      <p:graphicFrame>
        <p:nvGraphicFramePr>
          <p:cNvPr id="92" name="Gráfico normas"/>
          <p:cNvGraphicFramePr>
            <a:graphicFrameLocks noGrp="1"/>
          </p:cNvGraphicFramePr>
          <p:nvPr/>
        </p:nvGraphicFramePr>
        <p:xfrm>
          <a:off x="8915400" y="3977639"/>
          <a:ext cx="274320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3" name="Fuente"/>
          <p:cNvSpPr txBox="1"/>
          <p:nvPr/>
        </p:nvSpPr>
        <p:spPr>
          <a:xfrm>
            <a:off x="3611880" y="647395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