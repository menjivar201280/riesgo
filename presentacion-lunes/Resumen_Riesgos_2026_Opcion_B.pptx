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1321" r:id="rId3"/>
  </p:sldIdLst>
  <p:sldSz cx="12192000" cy="6858000"/>
  <p:notesSz cx="6858000" cy="9144000"/>
  <p:defaultTextStyle>
    <a:defPPr>
      <a:defRPr lang="es-SV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76E"/>
    <a:srgbClr val="004184"/>
    <a:srgbClr val="0053A8"/>
    <a:srgbClr val="005C9F"/>
    <a:srgbClr val="0051A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E252236-3FAF-4113-A4F6-0C3A1563E69A}" v="1" dt="2026-10-24T19:13:56.12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slide" Target="slides/slide2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microsoft.com/office/2016/11/relationships/changesInfo" Target="changesInfos/changesInfo1.xml"/><Relationship Id="rId18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ector Jose Menjivar Somoza" userId="0c251d33-8269-45bf-9bec-169219cd79c7" providerId="ADAL" clId="{E24BF829-F682-4B96-8073-D53758CC38A2}"/>
    <pc:docChg chg="addSld delSld modSld sldOrd">
      <pc:chgData name="Hector Jose Menjivar Somoza" userId="0c251d33-8269-45bf-9bec-169219cd79c7" providerId="ADAL" clId="{E24BF829-F682-4B96-8073-D53758CC38A2}" dt="2026-10-24T19:13:57.984" v="4"/>
      <pc:docMkLst>
        <pc:docMk/>
      </pc:docMkLst>
      <pc:sldChg chg="del">
        <pc:chgData name="Hector Jose Menjivar Somoza" userId="0c251d33-8269-45bf-9bec-169219cd79c7" providerId="ADAL" clId="{E24BF829-F682-4B96-8073-D53758CC38A2}" dt="2026-10-24T19:13:48.328" v="1" actId="2696"/>
        <pc:sldMkLst>
          <pc:docMk/>
          <pc:sldMk cId="662215908" sldId="257"/>
        </pc:sldMkLst>
      </pc:sldChg>
      <pc:sldChg chg="modSp mod">
        <pc:chgData name="Hector Jose Menjivar Somoza" userId="0c251d33-8269-45bf-9bec-169219cd79c7" providerId="ADAL" clId="{E24BF829-F682-4B96-8073-D53758CC38A2}" dt="2026-10-22T21:22:43.936" v="0" actId="1076"/>
        <pc:sldMkLst>
          <pc:docMk/>
          <pc:sldMk cId="1188959789" sldId="261"/>
        </pc:sldMkLst>
        <pc:picChg chg="mod">
          <ac:chgData name="Hector Jose Menjivar Somoza" userId="0c251d33-8269-45bf-9bec-169219cd79c7" providerId="ADAL" clId="{E24BF829-F682-4B96-8073-D53758CC38A2}" dt="2026-10-22T21:22:43.936" v="0" actId="1076"/>
          <ac:picMkLst>
            <pc:docMk/>
            <pc:sldMk cId="1188959789" sldId="261"/>
            <ac:picMk id="2" creationId="{581614C1-8597-C084-8870-3EA3BD6672B3}"/>
          </ac:picMkLst>
        </pc:picChg>
      </pc:sldChg>
      <pc:sldChg chg="add ord">
        <pc:chgData name="Hector Jose Menjivar Somoza" userId="0c251d33-8269-45bf-9bec-169219cd79c7" providerId="ADAL" clId="{E24BF829-F682-4B96-8073-D53758CC38A2}" dt="2026-10-24T19:13:57.984" v="4"/>
        <pc:sldMkLst>
          <pc:docMk/>
          <pc:sldMk cId="3045456205" sldId="1326"/>
        </pc:sldMkLst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SV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C9B3AB5-647A-834A-ABF4-E74A52371851}" type="datetimeFigureOut">
              <a:rPr lang="es-SV" smtClean="0"/>
              <a:t>24/10/2026</a:t>
            </a:fld>
            <a:endParaRPr lang="es-SV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SV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SV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SV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1EAE39-7648-3748-A12E-11B4DE5E48BF}" type="slidenum">
              <a:rPr lang="es-SV" smtClean="0"/>
              <a:t>‹Nº›</a:t>
            </a:fld>
            <a:endParaRPr lang="es-SV"/>
          </a:p>
        </p:txBody>
      </p:sp>
    </p:spTree>
    <p:extLst>
      <p:ext uri="{BB962C8B-B14F-4D97-AF65-F5344CB8AC3E}">
        <p14:creationId xmlns:p14="http://schemas.microsoft.com/office/powerpoint/2010/main" val="8813709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819FF0-439B-F3B6-7773-EDB1EFDED3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BC8A0F81-2EE0-3264-F475-80F982C50A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4F9C13C6-BD03-0EDA-62BD-52038E8976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Resumen de lo que nos pidieron en 2026. Vinieron 19 veces: 7 auditorías internas, 4 externas y 8 visitas de la SSF, y en total pidieron 26 temas distintos. Cuatro temas los pidieron 2 o más entidades: hay que tenerlos siempre listos. Las Actas del Comité de Riesgos (NRP-20) se pidieron 4 veces; los temas de NCB-022 (cartera y reservas, Pérdida Esperada, remisiones a SSF y matriz de migración) y el Plan de Continuidad, 3 veces cada uno; Gobierno Corporativo, 2 veces. NRP-20 es la norma más revisada: 5 veces, por 3 entidades. En octubre coincidieron Interna, Externa y SSF.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2CB2E1D-0082-E1F7-8E0B-F90A3302FB7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E00A85F-F42F-AB4B-95BE-8A8B50D29861}" type="slidenum">
              <a:rPr kumimoji="0" lang="es-SV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s-SV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18351606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6A5246-1289-2501-E76B-99FD1AAC6C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MX"/>
              <a:t>Haz clic para modificar el estilo de título del patrón</a:t>
            </a:r>
            <a:endParaRPr lang="es-SV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4844576-B082-FD49-EBFF-D88CB1856D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MX"/>
              <a:t>Haz clic para editar el estilo de subtítulo del patrón</a:t>
            </a:r>
            <a:endParaRPr lang="es-SV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9F51356-BC70-4A72-C845-C6BAA0817D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B18277-A37D-4F4A-BC70-5B646CB73774}" type="datetimeFigureOut">
              <a:rPr lang="es-SV" smtClean="0"/>
              <a:t>24/10/2026</a:t>
            </a:fld>
            <a:endParaRPr lang="es-SV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0C911C6-CCCD-EFCE-3DC3-663F37E538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0085E2B-4DFB-D2D2-C203-7C543DA28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9AB63-2DD0-DF4B-A7F0-7BF2582936DD}" type="slidenum">
              <a:rPr lang="es-SV" smtClean="0"/>
              <a:t>‹Nº›</a:t>
            </a:fld>
            <a:endParaRPr lang="es-SV"/>
          </a:p>
        </p:txBody>
      </p:sp>
    </p:spTree>
    <p:extLst>
      <p:ext uri="{BB962C8B-B14F-4D97-AF65-F5344CB8AC3E}">
        <p14:creationId xmlns:p14="http://schemas.microsoft.com/office/powerpoint/2010/main" val="31734552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99B9020-EA08-2516-1B5A-BCDD9C03C0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SV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A077ED8-CB52-4C8A-AD7C-FF69313F08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SV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DA8A1C5-EFD4-6D53-6F60-91F7FEC37F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B18277-A37D-4F4A-BC70-5B646CB73774}" type="datetimeFigureOut">
              <a:rPr lang="es-SV" smtClean="0"/>
              <a:t>24/10/2026</a:t>
            </a:fld>
            <a:endParaRPr lang="es-SV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9A934E5-6EC7-1E96-3E32-3BBF89B99B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E42E576-5068-3919-22AE-2EFC0CFE6B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9AB63-2DD0-DF4B-A7F0-7BF2582936DD}" type="slidenum">
              <a:rPr lang="es-SV" smtClean="0"/>
              <a:t>‹Nº›</a:t>
            </a:fld>
            <a:endParaRPr lang="es-SV"/>
          </a:p>
        </p:txBody>
      </p:sp>
    </p:spTree>
    <p:extLst>
      <p:ext uri="{BB962C8B-B14F-4D97-AF65-F5344CB8AC3E}">
        <p14:creationId xmlns:p14="http://schemas.microsoft.com/office/powerpoint/2010/main" val="630311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D741BA9-205E-F894-3C02-1C6495E0CB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MX"/>
              <a:t>Haz clic para modificar el estilo de título del patrón</a:t>
            </a:r>
            <a:endParaRPr lang="es-SV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F45D5F7-6E2F-4508-4252-BD37990691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383CB00-BF9E-6F13-D537-AD0E366936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B18277-A37D-4F4A-BC70-5B646CB73774}" type="datetimeFigureOut">
              <a:rPr lang="es-SV" smtClean="0"/>
              <a:t>24/10/2026</a:t>
            </a:fld>
            <a:endParaRPr lang="es-SV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6C7AE8E-7CF9-D7B6-D1ED-21E5FF9086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7F0008D-520F-48DC-8002-8AD9CC9E7B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9AB63-2DD0-DF4B-A7F0-7BF2582936DD}" type="slidenum">
              <a:rPr lang="es-SV" smtClean="0"/>
              <a:t>‹Nº›</a:t>
            </a:fld>
            <a:endParaRPr lang="es-SV"/>
          </a:p>
        </p:txBody>
      </p:sp>
    </p:spTree>
    <p:extLst>
      <p:ext uri="{BB962C8B-B14F-4D97-AF65-F5344CB8AC3E}">
        <p14:creationId xmlns:p14="http://schemas.microsoft.com/office/powerpoint/2010/main" val="41603021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84220B8-8DAC-8D1C-6637-1BB7C5447C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SV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9A9161A-5259-CE4C-5F36-0C70C7DA06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SV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E26E0585-6862-9B66-7349-CA36E8D6FA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SV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613B306-A83F-3642-4CB4-6311A53240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B18277-A37D-4F4A-BC70-5B646CB73774}" type="datetimeFigureOut">
              <a:rPr lang="es-SV" smtClean="0"/>
              <a:t>24/10/2026</a:t>
            </a:fld>
            <a:endParaRPr lang="es-SV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EA5248C-A27A-B405-76D1-3A899EAC82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180EF02-1565-5EF5-1FB7-41B9FDF166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9AB63-2DD0-DF4B-A7F0-7BF2582936DD}" type="slidenum">
              <a:rPr lang="es-SV" smtClean="0"/>
              <a:t>‹Nº›</a:t>
            </a:fld>
            <a:endParaRPr lang="es-SV"/>
          </a:p>
        </p:txBody>
      </p:sp>
    </p:spTree>
    <p:extLst>
      <p:ext uri="{BB962C8B-B14F-4D97-AF65-F5344CB8AC3E}">
        <p14:creationId xmlns:p14="http://schemas.microsoft.com/office/powerpoint/2010/main" val="20457442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A19B36E-EDCE-87AD-F79D-E35AE04A1B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s-SV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1BCF1C7-0762-26FF-516A-1F5C54FD36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DF51246-48E6-D02D-90D5-3F540BED36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SV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951D2A50-BDD8-0140-6856-B160A3EF9C7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3E96DA55-D8D7-ECD8-C1C1-E7CF8F4CC75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SV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6DBD5DE8-BAAD-A23F-E42A-FC78EE2211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B18277-A37D-4F4A-BC70-5B646CB73774}" type="datetimeFigureOut">
              <a:rPr lang="es-SV" smtClean="0"/>
              <a:t>24/10/2026</a:t>
            </a:fld>
            <a:endParaRPr lang="es-SV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90EE4B05-A3D0-6017-130F-86F230B226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D7F5D9EF-48D1-D8F2-FB9C-D4A247EBF4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9AB63-2DD0-DF4B-A7F0-7BF2582936DD}" type="slidenum">
              <a:rPr lang="es-SV" smtClean="0"/>
              <a:t>‹Nº›</a:t>
            </a:fld>
            <a:endParaRPr lang="es-SV"/>
          </a:p>
        </p:txBody>
      </p:sp>
    </p:spTree>
    <p:extLst>
      <p:ext uri="{BB962C8B-B14F-4D97-AF65-F5344CB8AC3E}">
        <p14:creationId xmlns:p14="http://schemas.microsoft.com/office/powerpoint/2010/main" val="15023707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5D267A-E196-13EF-FD3A-074D479D46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SV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CD7AF0F5-062D-3B95-9353-81F0DA2BC0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B18277-A37D-4F4A-BC70-5B646CB73774}" type="datetimeFigureOut">
              <a:rPr lang="es-SV" smtClean="0"/>
              <a:t>24/10/2026</a:t>
            </a:fld>
            <a:endParaRPr lang="es-SV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68B978C5-1E29-BE73-7E64-204B0F2BC6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477B0AA7-3AEF-3A56-2110-DB17D35E47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9AB63-2DD0-DF4B-A7F0-7BF2582936DD}" type="slidenum">
              <a:rPr lang="es-SV" smtClean="0"/>
              <a:t>‹Nº›</a:t>
            </a:fld>
            <a:endParaRPr lang="es-SV"/>
          </a:p>
        </p:txBody>
      </p:sp>
    </p:spTree>
    <p:extLst>
      <p:ext uri="{BB962C8B-B14F-4D97-AF65-F5344CB8AC3E}">
        <p14:creationId xmlns:p14="http://schemas.microsoft.com/office/powerpoint/2010/main" val="38904133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9FCC7489-4F6B-4B71-04D6-99301E90D4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B18277-A37D-4F4A-BC70-5B646CB73774}" type="datetimeFigureOut">
              <a:rPr lang="es-SV" smtClean="0"/>
              <a:t>24/10/2026</a:t>
            </a:fld>
            <a:endParaRPr lang="es-SV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7E98D37B-9ECE-609D-114F-5B39D35B36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E39F9FC-6691-46A3-5923-57E96A230C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9AB63-2DD0-DF4B-A7F0-7BF2582936DD}" type="slidenum">
              <a:rPr lang="es-SV" smtClean="0"/>
              <a:t>‹Nº›</a:t>
            </a:fld>
            <a:endParaRPr lang="es-SV"/>
          </a:p>
        </p:txBody>
      </p:sp>
    </p:spTree>
    <p:extLst>
      <p:ext uri="{BB962C8B-B14F-4D97-AF65-F5344CB8AC3E}">
        <p14:creationId xmlns:p14="http://schemas.microsoft.com/office/powerpoint/2010/main" val="35397075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6787392-18A3-AFAD-0386-5808804C5B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s-SV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26BC22E-F43A-1EC3-EED9-A963FEEEED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SV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159D0088-C458-B008-17CB-AD362EFD35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8FC4388-D961-AFC4-338C-FE20825D2D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B18277-A37D-4F4A-BC70-5B646CB73774}" type="datetimeFigureOut">
              <a:rPr lang="es-SV" smtClean="0"/>
              <a:t>24/10/2026</a:t>
            </a:fld>
            <a:endParaRPr lang="es-SV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C002D08-31EF-ADC4-EF6C-8C048140FC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AB107B0-2B1B-DC26-D758-C2A80EA440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9AB63-2DD0-DF4B-A7F0-7BF2582936DD}" type="slidenum">
              <a:rPr lang="es-SV" smtClean="0"/>
              <a:t>‹Nº›</a:t>
            </a:fld>
            <a:endParaRPr lang="es-SV"/>
          </a:p>
        </p:txBody>
      </p:sp>
    </p:spTree>
    <p:extLst>
      <p:ext uri="{BB962C8B-B14F-4D97-AF65-F5344CB8AC3E}">
        <p14:creationId xmlns:p14="http://schemas.microsoft.com/office/powerpoint/2010/main" val="3655922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2C7F8E7-BC43-E55F-DCE0-B17E30AF55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s-SV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95F264F4-1E54-E14D-A3E8-85E786E6AF7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SV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173B5BAF-EA8D-93A7-A944-4B42E7098E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C583257-C538-CBCB-7DE9-A06EA1F23F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B18277-A37D-4F4A-BC70-5B646CB73774}" type="datetimeFigureOut">
              <a:rPr lang="es-SV" smtClean="0"/>
              <a:t>24/10/2026</a:t>
            </a:fld>
            <a:endParaRPr lang="es-SV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FB6377A-C88F-0E4E-6512-998D416563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DA2F9A9-D335-A24D-6616-BE21390434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9AB63-2DD0-DF4B-A7F0-7BF2582936DD}" type="slidenum">
              <a:rPr lang="es-SV" smtClean="0"/>
              <a:t>‹Nº›</a:t>
            </a:fld>
            <a:endParaRPr lang="es-SV"/>
          </a:p>
        </p:txBody>
      </p:sp>
    </p:spTree>
    <p:extLst>
      <p:ext uri="{BB962C8B-B14F-4D97-AF65-F5344CB8AC3E}">
        <p14:creationId xmlns:p14="http://schemas.microsoft.com/office/powerpoint/2010/main" val="27803793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DB573A-A965-E5F0-C8B7-AD74E37124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SV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BA8A928-686F-08FA-FA60-82456AC751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SV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E2EED11-37CE-DDE7-0996-F1656333BB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B18277-A37D-4F4A-BC70-5B646CB73774}" type="datetimeFigureOut">
              <a:rPr lang="es-SV" smtClean="0"/>
              <a:t>24/10/2026</a:t>
            </a:fld>
            <a:endParaRPr lang="es-SV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1973FC4-35B2-7FA1-6FA6-C69B042A54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19FC8B8-A38F-9C7F-1BF7-3F68A49B11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9AB63-2DD0-DF4B-A7F0-7BF2582936DD}" type="slidenum">
              <a:rPr lang="es-SV" smtClean="0"/>
              <a:t>‹Nº›</a:t>
            </a:fld>
            <a:endParaRPr lang="es-SV"/>
          </a:p>
        </p:txBody>
      </p:sp>
    </p:spTree>
    <p:extLst>
      <p:ext uri="{BB962C8B-B14F-4D97-AF65-F5344CB8AC3E}">
        <p14:creationId xmlns:p14="http://schemas.microsoft.com/office/powerpoint/2010/main" val="41124467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177D44C4-F6B0-17CB-171D-21D7EF55883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MX"/>
              <a:t>Haz clic para modificar el estilo de título del patrón</a:t>
            </a:r>
            <a:endParaRPr lang="es-SV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AF3F919-79AC-F71B-339E-F46E0D56AE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SV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5579CB5-D3C7-4564-4992-AA3FE62DF0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B18277-A37D-4F4A-BC70-5B646CB73774}" type="datetimeFigureOut">
              <a:rPr lang="es-SV" smtClean="0"/>
              <a:t>24/10/2026</a:t>
            </a:fld>
            <a:endParaRPr lang="es-SV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0BA4BF1-DEDA-37E8-7D85-7DA0918848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A1DFEFA-35D6-51BD-C69D-0EFD2E7FC7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9AB63-2DD0-DF4B-A7F0-7BF2582936DD}" type="slidenum">
              <a:rPr lang="es-SV" smtClean="0"/>
              <a:t>‹Nº›</a:t>
            </a:fld>
            <a:endParaRPr lang="es-SV"/>
          </a:p>
        </p:txBody>
      </p:sp>
    </p:spTree>
    <p:extLst>
      <p:ext uri="{BB962C8B-B14F-4D97-AF65-F5344CB8AC3E}">
        <p14:creationId xmlns:p14="http://schemas.microsoft.com/office/powerpoint/2010/main" val="407754730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427B7F8D-DE7C-32C4-D228-68696D5B84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MX"/>
              <a:t>Haz clic para modificar el estilo de título del patrón</a:t>
            </a:r>
            <a:endParaRPr lang="es-SV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CAE6056-C60B-917E-5F56-F732610148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SV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F3682A0-187E-0333-D85D-D60B144E120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6B18277-A37D-4F4A-BC70-5B646CB73774}" type="datetimeFigureOut">
              <a:rPr lang="es-SV" smtClean="0"/>
              <a:t>24/10/2026</a:t>
            </a:fld>
            <a:endParaRPr lang="es-SV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1C7C310-C8CD-DCCD-F3E6-D8FE04D6FAF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SV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30D2611-9B5A-26DA-21AA-92971AC596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EE9AB63-2DD0-DF4B-A7F0-7BF2582936DD}" type="slidenum">
              <a:rPr lang="es-SV" smtClean="0"/>
              <a:t>‹Nº›</a:t>
            </a:fld>
            <a:endParaRPr lang="es-SV"/>
          </a:p>
        </p:txBody>
      </p:sp>
    </p:spTree>
    <p:extLst>
      <p:ext uri="{BB962C8B-B14F-4D97-AF65-F5344CB8AC3E}">
        <p14:creationId xmlns:p14="http://schemas.microsoft.com/office/powerpoint/2010/main" val="4039134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SV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/Relationships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0D1139-EC4C-4817-A6D6-CE0CCBB4A2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A2E490EE-A001-BCDF-8E53-B55769CA5F29}"/>
              </a:ext>
            </a:extLst>
          </p:cNvPr>
          <p:cNvSpPr txBox="1"/>
          <p:nvPr/>
        </p:nvSpPr>
        <p:spPr>
          <a:xfrm>
            <a:off x="0" y="0"/>
            <a:ext cx="12192000" cy="749422"/>
          </a:xfrm>
          <a:prstGeom prst="rect">
            <a:avLst/>
          </a:prstGeom>
          <a:solidFill>
            <a:srgbClr val="003D6F"/>
          </a:solidFill>
          <a:ln>
            <a:noFill/>
          </a:ln>
          <a:effectLst/>
        </p:spPr>
        <p:txBody>
          <a:bodyPr spcFirstLastPara="0" vert="horz" wrap="square" lIns="114300" tIns="114300" rIns="114300" bIns="114300" numCol="1" spcCol="1270" anchor="ctr" anchorCtr="0">
            <a:noAutofit/>
          </a:bodyPr>
          <a:lstStyle/>
          <a:p>
            <a:pPr lvl="0" algn="ctr" defTabSz="1333500">
              <a:defRPr/>
            </a:pPr>
            <a:r>
              <a:rPr lang="es-SV" sz="1600" b="1" dirty="0">
                <a:solidFill>
                  <a:prstClr val="white"/>
                </a:solidFill>
                <a:latin typeface="Century Gothic"/>
                <a:ea typeface="MS Mincho"/>
              </a:rPr>
              <a:t>REUNIÓN DE LOS LUNES  ·  DEPARTAMENTO DE ADMINISTRACIÓN DE RIESGOS</a:t>
            </a:r>
            <a:endParaRPr kumimoji="0" lang="es-MX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</p:txBody>
      </p:sp>
      <p:sp>
        <p:nvSpPr>
          <p:cNvPr id="7" name="Título"/>
          <p:cNvSpPr txBox="1"/>
          <p:nvPr/>
        </p:nvSpPr>
        <p:spPr>
          <a:xfrm>
            <a:off x="548640" y="960120"/>
            <a:ext cx="8229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003D6F"/>
                </a:solidFill>
                <a:latin typeface="Century Gothic"/>
              </a:rPr>
              <a:t>Resumen de Riesgos 2026</a:t>
            </a:r>
          </a:p>
        </p:txBody>
      </p:sp>
      <p:sp>
        <p:nvSpPr>
          <p:cNvPr id="8" name="Subtítulo"/>
          <p:cNvSpPr txBox="1"/>
          <p:nvPr/>
        </p:nvSpPr>
        <p:spPr>
          <a:xfrm>
            <a:off x="548640" y="150876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5B6B7B"/>
                </a:solidFill>
                <a:latin typeface="Arial"/>
              </a:rPr>
              <a:t>¿Quién vino, cuántas veces y qué nos pidió?</a:t>
            </a:r>
          </a:p>
        </p:txBody>
      </p:sp>
      <p:sp>
        <p:nvSpPr>
          <p:cNvPr id="9" name="Entidad Auditoría Interna"/>
          <p:cNvSpPr/>
          <p:nvPr/>
        </p:nvSpPr>
        <p:spPr>
          <a:xfrm>
            <a:off x="548640" y="2011680"/>
            <a:ext cx="2743200" cy="2240280"/>
          </a:xfrm>
          <a:prstGeom prst="roundRect">
            <a:avLst>
              <a:gd name="adj" fmla="val 8000"/>
            </a:avLst>
          </a:prstGeom>
          <a:solidFill>
            <a:srgbClr val="EE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77240" y="2240280"/>
            <a:ext cx="548640" cy="548640"/>
          </a:xfrm>
          <a:prstGeom prst="ellipse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FaBuilding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377440"/>
            <a:ext cx="274320" cy="2743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463040" y="2240280"/>
            <a:ext cx="17373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1F2A37"/>
                </a:solidFill>
                <a:latin typeface="Arial"/>
              </a:rPr>
              <a:t>Auditoría Interna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834640"/>
            <a:ext cx="6858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800" b="1">
                <a:solidFill>
                  <a:srgbClr val="1565C0"/>
                </a:solidFill>
                <a:latin typeface="Century Gothic"/>
              </a:rPr>
              <a:t>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19" y="2907792"/>
            <a:ext cx="17373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5B6B7B"/>
                </a:solidFill>
                <a:latin typeface="Arial"/>
              </a:rPr>
              <a:t>visitas en</a:t>
            </a:r>
          </a:p>
          <a:p>
            <a:pPr algn="l"/>
            <a:r>
              <a:rPr sz="1200" b="0">
                <a:solidFill>
                  <a:srgbClr val="5B6B7B"/>
                </a:solidFill>
                <a:latin typeface="Arial"/>
              </a:rPr>
              <a:t>el año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52044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F2A37"/>
                </a:solidFill>
                <a:latin typeface="Arial"/>
              </a:rPr>
              <a:t>15</a:t>
            </a:r>
            <a:r>
              <a:rPr sz="1100" b="0">
                <a:solidFill>
                  <a:srgbClr val="5B6B7B"/>
                </a:solidFill>
                <a:latin typeface="Arial"/>
              </a:rPr>
              <a:t> temas  ·  </a:t>
            </a:r>
            <a:r>
              <a:rPr sz="1100" b="1">
                <a:solidFill>
                  <a:srgbClr val="1F2A37"/>
                </a:solidFill>
                <a:latin typeface="Arial"/>
              </a:rPr>
              <a:t>8</a:t>
            </a:r>
            <a:r>
              <a:rPr sz="1100" b="0">
                <a:solidFill>
                  <a:srgbClr val="5B6B7B"/>
                </a:solidFill>
                <a:latin typeface="Arial"/>
              </a:rPr>
              <a:t> normas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379476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B6B7B"/>
                </a:solidFill>
                <a:latin typeface="Arial"/>
              </a:rPr>
              <a:t>Mar · May (2) · Jun (2) · Ago · Oct</a:t>
            </a:r>
          </a:p>
        </p:txBody>
      </p:sp>
      <p:sp>
        <p:nvSpPr>
          <p:cNvPr id="17" name="Entidad Auditoría Externa"/>
          <p:cNvSpPr/>
          <p:nvPr/>
        </p:nvSpPr>
        <p:spPr>
          <a:xfrm>
            <a:off x="3474720" y="2011680"/>
            <a:ext cx="2743200" cy="2240280"/>
          </a:xfrm>
          <a:prstGeom prst="roundRect">
            <a:avLst>
              <a:gd name="adj" fmla="val 8000"/>
            </a:avLst>
          </a:prstGeom>
          <a:solidFill>
            <a:srgbClr val="EE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703320" y="2240280"/>
            <a:ext cx="548640" cy="548640"/>
          </a:xfrm>
          <a:prstGeom prst="ellipse">
            <a:avLst/>
          </a:prstGeom>
          <a:solidFill>
            <a:srgbClr val="E88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FaUserTie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0480" y="2377440"/>
            <a:ext cx="274320" cy="27432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4389120" y="2240280"/>
            <a:ext cx="17373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1F2A37"/>
                </a:solidFill>
                <a:latin typeface="Arial"/>
              </a:rPr>
              <a:t>Auditoría Externa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03320" y="2834640"/>
            <a:ext cx="6858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800" b="1">
                <a:solidFill>
                  <a:srgbClr val="E8871E"/>
                </a:solidFill>
                <a:latin typeface="Century Gothic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43400" y="2907792"/>
            <a:ext cx="17373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5B6B7B"/>
                </a:solidFill>
                <a:latin typeface="Arial"/>
              </a:rPr>
              <a:t>visitas en</a:t>
            </a:r>
          </a:p>
          <a:p>
            <a:pPr algn="l"/>
            <a:r>
              <a:rPr sz="1200" b="0">
                <a:solidFill>
                  <a:srgbClr val="5B6B7B"/>
                </a:solidFill>
                <a:latin typeface="Arial"/>
              </a:rPr>
              <a:t>el año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03320" y="352044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F2A37"/>
                </a:solidFill>
                <a:latin typeface="Arial"/>
              </a:rPr>
              <a:t>11</a:t>
            </a:r>
            <a:r>
              <a:rPr sz="1100" b="0">
                <a:solidFill>
                  <a:srgbClr val="5B6B7B"/>
                </a:solidFill>
                <a:latin typeface="Arial"/>
              </a:rPr>
              <a:t> temas  ·  </a:t>
            </a:r>
            <a:r>
              <a:rPr sz="1100" b="1">
                <a:solidFill>
                  <a:srgbClr val="1F2A37"/>
                </a:solidFill>
                <a:latin typeface="Arial"/>
              </a:rPr>
              <a:t>6</a:t>
            </a:r>
            <a:r>
              <a:rPr sz="1100" b="0">
                <a:solidFill>
                  <a:srgbClr val="5B6B7B"/>
                </a:solidFill>
                <a:latin typeface="Arial"/>
              </a:rPr>
              <a:t> normas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03320" y="379476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B6B7B"/>
                </a:solidFill>
                <a:latin typeface="Arial"/>
              </a:rPr>
              <a:t>Ene · Abr · Jul · Oct</a:t>
            </a:r>
          </a:p>
        </p:txBody>
      </p:sp>
      <p:sp>
        <p:nvSpPr>
          <p:cNvPr id="25" name="Entidad SSF"/>
          <p:cNvSpPr/>
          <p:nvPr/>
        </p:nvSpPr>
        <p:spPr>
          <a:xfrm>
            <a:off x="6400800" y="2011680"/>
            <a:ext cx="2743200" cy="2240280"/>
          </a:xfrm>
          <a:prstGeom prst="roundRect">
            <a:avLst>
              <a:gd name="adj" fmla="val 8000"/>
            </a:avLst>
          </a:prstGeom>
          <a:solidFill>
            <a:srgbClr val="EE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629400" y="2240280"/>
            <a:ext cx="548640" cy="548640"/>
          </a:xfrm>
          <a:prstGeom prst="ellipse">
            <a:avLst/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FaLandmark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66560" y="2377440"/>
            <a:ext cx="274320" cy="27432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7315200" y="2240280"/>
            <a:ext cx="17373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1F2A37"/>
                </a:solidFill>
                <a:latin typeface="Arial"/>
              </a:rPr>
              <a:t>SSF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29400" y="2834640"/>
            <a:ext cx="6858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800" b="1">
                <a:solidFill>
                  <a:srgbClr val="2E9E5B"/>
                </a:solidFill>
                <a:latin typeface="Century Gothic"/>
              </a:rPr>
              <a:t>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69480" y="2907792"/>
            <a:ext cx="17373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5B6B7B"/>
                </a:solidFill>
                <a:latin typeface="Arial"/>
              </a:rPr>
              <a:t>visitas en</a:t>
            </a:r>
          </a:p>
          <a:p>
            <a:pPr algn="l"/>
            <a:r>
              <a:rPr sz="1200" b="0">
                <a:solidFill>
                  <a:srgbClr val="5B6B7B"/>
                </a:solidFill>
                <a:latin typeface="Arial"/>
              </a:rPr>
              <a:t>el año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29400" y="352044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F2A37"/>
                </a:solidFill>
                <a:latin typeface="Arial"/>
              </a:rPr>
              <a:t>6</a:t>
            </a:r>
            <a:r>
              <a:rPr sz="1100" b="0">
                <a:solidFill>
                  <a:srgbClr val="5B6B7B"/>
                </a:solidFill>
                <a:latin typeface="Arial"/>
              </a:rPr>
              <a:t> temas  ·  </a:t>
            </a:r>
            <a:r>
              <a:rPr sz="1100" b="1">
                <a:solidFill>
                  <a:srgbClr val="1F2A37"/>
                </a:solidFill>
                <a:latin typeface="Arial"/>
              </a:rPr>
              <a:t>7</a:t>
            </a:r>
            <a:r>
              <a:rPr sz="1100" b="0">
                <a:solidFill>
                  <a:srgbClr val="5B6B7B"/>
                </a:solidFill>
                <a:latin typeface="Arial"/>
              </a:rPr>
              <a:t> normas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29400" y="379476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B6B7B"/>
                </a:solidFill>
                <a:latin typeface="Arial"/>
              </a:rPr>
              <a:t>Ene · Feb (2) · Jul · Ago (2) · Sep · Oct</a:t>
            </a:r>
          </a:p>
        </p:txBody>
      </p:sp>
      <p:sp>
        <p:nvSpPr>
          <p:cNvPr id="33" name="Total"/>
          <p:cNvSpPr/>
          <p:nvPr/>
        </p:nvSpPr>
        <p:spPr>
          <a:xfrm>
            <a:off x="9326880" y="2011680"/>
            <a:ext cx="2331720" cy="1234440"/>
          </a:xfrm>
          <a:prstGeom prst="roundRect">
            <a:avLst>
              <a:gd name="adj" fmla="val 8000"/>
            </a:avLst>
          </a:prstGeom>
          <a:solidFill>
            <a:srgbClr val="003D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555480" y="2148840"/>
            <a:ext cx="187451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9CC3E8"/>
                </a:solidFill>
                <a:latin typeface="Arial"/>
              </a:rPr>
              <a:t>TOTAL 2026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555480" y="2313432"/>
            <a:ext cx="1874519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Century Gothic"/>
              </a:rPr>
              <a:t>19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555480" y="2862072"/>
            <a:ext cx="187451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visitas y auditorías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555480" y="3044952"/>
            <a:ext cx="187451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9CC3E8"/>
                </a:solidFill>
                <a:latin typeface="Arial"/>
              </a:rPr>
              <a:t>26 temas distintos pedidos</a:t>
            </a:r>
          </a:p>
        </p:txBody>
      </p:sp>
      <p:sp>
        <p:nvSpPr>
          <p:cNvPr id="38" name="Norma más auditada"/>
          <p:cNvSpPr/>
          <p:nvPr/>
        </p:nvSpPr>
        <p:spPr>
          <a:xfrm>
            <a:off x="9326880" y="3383280"/>
            <a:ext cx="2331720" cy="868680"/>
          </a:xfrm>
          <a:prstGeom prst="roundRect">
            <a:avLst>
              <a:gd name="adj" fmla="val 8000"/>
            </a:avLst>
          </a:prstGeom>
          <a:solidFill>
            <a:srgbClr val="EE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555480" y="3493008"/>
            <a:ext cx="187451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5B6B7B"/>
                </a:solidFill>
                <a:latin typeface="Arial"/>
              </a:rPr>
              <a:t>NORMA MÁS AUDITADA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555480" y="3675888"/>
            <a:ext cx="1874519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1">
                <a:solidFill>
                  <a:srgbClr val="003D6F"/>
                </a:solidFill>
                <a:latin typeface="Century Gothic"/>
              </a:rPr>
              <a:t>NRP-20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555480" y="4041648"/>
            <a:ext cx="187451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B6B7B"/>
                </a:solidFill>
                <a:latin typeface="Arial"/>
              </a:rPr>
              <a:t>5 veces · 3 entidades</a:t>
            </a:r>
          </a:p>
        </p:txBody>
      </p:sp>
      <p:sp>
        <p:nvSpPr>
          <p:cNvPr id="42" name="Oval 41"/>
          <p:cNvSpPr/>
          <p:nvPr/>
        </p:nvSpPr>
        <p:spPr>
          <a:xfrm>
            <a:off x="548640" y="4462272"/>
            <a:ext cx="347472" cy="347472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3" name="Picture 42" descr="FaSyncAlt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508" y="4549140"/>
            <a:ext cx="173736" cy="173736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1005840" y="4462272"/>
            <a:ext cx="1051560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003D6F"/>
                </a:solidFill>
                <a:latin typeface="Century Gothic"/>
              </a:rPr>
              <a:t>4 temas los piden 2 o más entidades</a:t>
            </a:r>
            <a:r>
              <a:rPr sz="1300" b="0">
                <a:solidFill>
                  <a:srgbClr val="5B6B7B"/>
                </a:solidFill>
                <a:latin typeface="Arial"/>
              </a:rPr>
              <a:t>   →  tenerlos siempre listos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543800" y="4462272"/>
            <a:ext cx="411480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1">
                <a:solidFill>
                  <a:srgbClr val="C62828"/>
                </a:solidFill>
                <a:latin typeface="Arial"/>
              </a:rPr>
              <a:t>Octubre: coincidieron las 3 entidades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48640" y="4937760"/>
            <a:ext cx="5477256" cy="6217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5DD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13232" y="4992624"/>
            <a:ext cx="4471416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1F2A37"/>
                </a:solidFill>
                <a:latin typeface="Arial"/>
              </a:rPr>
              <a:t>Actas Comité de Riesgos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202936" y="5047488"/>
            <a:ext cx="685800" cy="201168"/>
          </a:xfrm>
          <a:prstGeom prst="roundRect">
            <a:avLst>
              <a:gd name="adj" fmla="val 50000"/>
            </a:avLst>
          </a:prstGeom>
          <a:solidFill>
            <a:srgbClr val="003D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NRP-20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202936" y="5285232"/>
            <a:ext cx="685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C62828"/>
                </a:solidFill>
                <a:latin typeface="Arial"/>
              </a:rPr>
              <a:t>4 veces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181344" y="4937760"/>
            <a:ext cx="5477256" cy="6217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5DD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345936" y="4992624"/>
            <a:ext cx="4471416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1F2A37"/>
                </a:solidFill>
                <a:latin typeface="Arial"/>
              </a:rPr>
              <a:t>Riesgo de crédito</a:t>
            </a:r>
          </a:p>
          <a:p>
            <a:pPr algn="l"/>
            <a:r>
              <a:rPr sz="900" b="0">
                <a:solidFill>
                  <a:srgbClr val="5B6B7B"/>
                </a:solidFill>
                <a:latin typeface="Arial"/>
              </a:rPr>
              <a:t>Cartera y reservas · Pérdida Esperada · Remisiones a SSF · Matriz de migración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10835640" y="5047488"/>
            <a:ext cx="685800" cy="201168"/>
          </a:xfrm>
          <a:prstGeom prst="roundRect">
            <a:avLst>
              <a:gd name="adj" fmla="val 50000"/>
            </a:avLst>
          </a:prstGeom>
          <a:solidFill>
            <a:srgbClr val="003D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NCB-022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835640" y="5285232"/>
            <a:ext cx="685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C62828"/>
                </a:solidFill>
                <a:latin typeface="Arial"/>
              </a:rPr>
              <a:t>3 veces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548640" y="5669280"/>
            <a:ext cx="5477256" cy="6217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5DD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13232" y="5724144"/>
            <a:ext cx="4471416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1F2A37"/>
                </a:solidFill>
                <a:latin typeface="Arial"/>
              </a:rPr>
              <a:t>Plan de Continuidad (BCP/DRP)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5202936" y="5779008"/>
            <a:ext cx="685800" cy="201168"/>
          </a:xfrm>
          <a:prstGeom prst="roundRect">
            <a:avLst>
              <a:gd name="adj" fmla="val 50000"/>
            </a:avLst>
          </a:prstGeom>
          <a:solidFill>
            <a:srgbClr val="003D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NRP-24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202936" y="6016752"/>
            <a:ext cx="685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C62828"/>
                </a:solidFill>
                <a:latin typeface="Arial"/>
              </a:rPr>
              <a:t>3 veces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181344" y="5669280"/>
            <a:ext cx="5477256" cy="6217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5DD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345936" y="5724144"/>
            <a:ext cx="4471416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1F2A37"/>
                </a:solidFill>
                <a:latin typeface="Arial"/>
              </a:rPr>
              <a:t>Gobierno Corporativo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10835640" y="5779008"/>
            <a:ext cx="685800" cy="201168"/>
          </a:xfrm>
          <a:prstGeom prst="roundRect">
            <a:avLst>
              <a:gd name="adj" fmla="val 50000"/>
            </a:avLst>
          </a:prstGeom>
          <a:solidFill>
            <a:srgbClr val="003D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NRP-17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835640" y="6016752"/>
            <a:ext cx="685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5B6B7B"/>
                </a:solidFill>
                <a:latin typeface="Arial"/>
              </a:rPr>
              <a:t>2 veces</a:t>
            </a:r>
          </a:p>
        </p:txBody>
      </p:sp>
      <p:sp>
        <p:nvSpPr>
          <p:cNvPr id="62" name="Fuente"/>
          <p:cNvSpPr txBox="1"/>
          <p:nvPr/>
        </p:nvSpPr>
        <p:spPr>
          <a:xfrm>
            <a:off x="548640" y="6473952"/>
            <a:ext cx="110642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5B6B7B"/>
                </a:solidFill>
                <a:latin typeface="Arial"/>
              </a:rPr>
              <a:t>Fuente: Matriz de Requerimientos de Riesgos 2026, hojas «Resumen Riesgos» y «Consolidado» · corte octubre 2026</a:t>
            </a:r>
          </a:p>
        </p:txBody>
      </p:sp>
    </p:spTree>
    <p:extLst>
      <p:ext uri="{BB962C8B-B14F-4D97-AF65-F5344CB8AC3E}">
        <p14:creationId xmlns:p14="http://schemas.microsoft.com/office/powerpoint/2010/main" val="400191656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d98dab1c-c8f3-4f9c-8270-c22a94ade099}" enabled="0" method="" siteId="{d98dab1c-c8f3-4f9c-8270-c22a94ade099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458</Words>
  <Application>Microsoft Office PowerPoint</Application>
  <PresentationFormat>Panorámica</PresentationFormat>
  <Paragraphs>39</Paragraphs>
  <Slides>10</Slides>
  <Notes>3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7" baseType="lpstr">
      <vt:lpstr>Aptos</vt:lpstr>
      <vt:lpstr>Aptos Display</vt:lpstr>
      <vt:lpstr>Arial</vt:lpstr>
      <vt:lpstr>Calibri</vt:lpstr>
      <vt:lpstr>Century Gothic</vt:lpstr>
      <vt:lpstr>Myriad Pro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Maria Alejandra Batres Alvarado</dc:creator>
  <cp:lastModifiedBy>Hector Jose Menjivar Somoza</cp:lastModifiedBy>
  <cp:revision>17</cp:revision>
  <dcterms:created xsi:type="dcterms:W3CDTF">2025-07-17T21:19:45Z</dcterms:created>
  <dcterms:modified xsi:type="dcterms:W3CDTF">2026-10-24T19:14:06Z</dcterms:modified>
</cp:coreProperties>
</file>