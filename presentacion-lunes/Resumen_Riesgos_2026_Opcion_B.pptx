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Cuatro temas los pidieron 2 o más entidades: hay que tenerlos siempre listos, sobre todo las Actas del Comité de Riesgos (NRP-20), pedidas 4 veces; NCB-022 (cartera, Pérdida Esperada y remisiones a SSF) y el Plan de Continuidad,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Título"/>
          <p:cNvSpPr txBox="1"/>
          <p:nvPr/>
        </p:nvSpPr>
        <p:spPr>
          <a:xfrm>
            <a:off x="548640" y="960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03D6F"/>
                </a:solidFill>
                <a:latin typeface="Century Gothic"/>
              </a:rPr>
              <a:t>Resumen de Riesgos 2026</a:t>
            </a:r>
          </a:p>
        </p:txBody>
      </p:sp>
      <p:sp>
        <p:nvSpPr>
          <p:cNvPr id="8" name="Subtítulo"/>
          <p:cNvSpPr txBox="1"/>
          <p:nvPr/>
        </p:nvSpPr>
        <p:spPr>
          <a:xfrm>
            <a:off x="548640" y="150876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Arial"/>
              </a:rPr>
              <a:t>¿Quién vino, cuántas veces y qué nos pidió?</a:t>
            </a:r>
          </a:p>
        </p:txBody>
      </p:sp>
      <p:sp>
        <p:nvSpPr>
          <p:cNvPr id="9" name="Entidad Auditoría Interna"/>
          <p:cNvSpPr/>
          <p:nvPr/>
        </p:nvSpPr>
        <p:spPr>
          <a:xfrm>
            <a:off x="54864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aBuilding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7744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Interna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1565C0"/>
                </a:solidFill>
                <a:latin typeface="Century Gothic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22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12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Mar · May (2) · Jun (2) · Ago · Oct</a:t>
            </a:r>
          </a:p>
        </p:txBody>
      </p:sp>
      <p:sp>
        <p:nvSpPr>
          <p:cNvPr id="17" name="Entidad Auditoría Externa"/>
          <p:cNvSpPr/>
          <p:nvPr/>
        </p:nvSpPr>
        <p:spPr>
          <a:xfrm>
            <a:off x="347472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03320" y="2240280"/>
            <a:ext cx="548640" cy="548640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aUserTi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2377440"/>
            <a:ext cx="274320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8912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Auditoría Externa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8871E"/>
                </a:solidFill>
                <a:latin typeface="Century Gothi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13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6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Abr · Jul · Oct</a:t>
            </a:r>
          </a:p>
        </p:txBody>
      </p:sp>
      <p:sp>
        <p:nvSpPr>
          <p:cNvPr id="25" name="Entidad SSF"/>
          <p:cNvSpPr/>
          <p:nvPr/>
        </p:nvSpPr>
        <p:spPr>
          <a:xfrm>
            <a:off x="6400800" y="2011680"/>
            <a:ext cx="2743200" cy="2240280"/>
          </a:xfrm>
          <a:prstGeom prst="roundRect">
            <a:avLst>
              <a:gd name="adj" fmla="val 8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29400" y="2240280"/>
            <a:ext cx="548640" cy="54864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aLandmar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0" y="2377440"/>
            <a:ext cx="274320" cy="2743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2240280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F2A37"/>
                </a:solidFill>
                <a:latin typeface="Arial"/>
              </a:rPr>
              <a:t>SSF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283464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2E9E5B"/>
                </a:solidFill>
                <a:latin typeface="Century Gothic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07792"/>
            <a:ext cx="1737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visitas en</a:t>
            </a:r>
          </a:p>
          <a:p>
            <a:pPr algn="l"/>
            <a:r>
              <a:rPr sz="1200" b="0">
                <a:solidFill>
                  <a:srgbClr val="5B6B7B"/>
                </a:solidFill>
                <a:latin typeface="Arial"/>
              </a:rPr>
              <a:t>el 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5204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8</a:t>
            </a:r>
            <a:r>
              <a:rPr sz="1100" b="0">
                <a:solidFill>
                  <a:srgbClr val="5B6B7B"/>
                </a:solidFill>
                <a:latin typeface="Arial"/>
              </a:rPr>
              <a:t> temas  ·  </a:t>
            </a:r>
            <a:r>
              <a:rPr sz="1100" b="1">
                <a:solidFill>
                  <a:srgbClr val="1F2A37"/>
                </a:solidFill>
                <a:latin typeface="Arial"/>
              </a:rPr>
              <a:t>10</a:t>
            </a:r>
            <a:r>
              <a:rPr sz="1100" b="0">
                <a:solidFill>
                  <a:srgbClr val="5B6B7B"/>
                </a:solidFill>
                <a:latin typeface="Arial"/>
              </a:rPr>
              <a:t> normas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794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Ene · Feb (2) · Jul · Ago (2) · Sep · Oct</a:t>
            </a:r>
          </a:p>
        </p:txBody>
      </p:sp>
      <p:sp>
        <p:nvSpPr>
          <p:cNvPr id="33" name="Total"/>
          <p:cNvSpPr/>
          <p:nvPr/>
        </p:nvSpPr>
        <p:spPr>
          <a:xfrm>
            <a:off x="9326880" y="2011680"/>
            <a:ext cx="2331720" cy="2240280"/>
          </a:xfrm>
          <a:prstGeom prst="roundRect">
            <a:avLst>
              <a:gd name="adj" fmla="val 8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55480" y="224028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9CC3E8"/>
                </a:solidFill>
                <a:latin typeface="Arial"/>
              </a:rPr>
              <a:t>TOTAL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423160"/>
            <a:ext cx="187451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3182112"/>
            <a:ext cx="18745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rial"/>
              </a:rPr>
              <a:t>visitas y auditorías distintas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639312"/>
            <a:ext cx="187451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FD27A"/>
                </a:solidFill>
                <a:latin typeface="Arial"/>
              </a:rPr>
              <a:t>Octubre: </a:t>
            </a:r>
            <a:r>
              <a:rPr sz="1100" b="0">
                <a:solidFill>
                  <a:srgbClr val="FFFFFF"/>
                </a:solidFill>
                <a:latin typeface="Arial"/>
              </a:rPr>
              <a:t>coincidieron las 3 entidades en el mismo mes</a:t>
            </a:r>
          </a:p>
        </p:txBody>
      </p:sp>
      <p:sp>
        <p:nvSpPr>
          <p:cNvPr id="38" name="Oval 37"/>
          <p:cNvSpPr/>
          <p:nvPr/>
        </p:nvSpPr>
        <p:spPr>
          <a:xfrm>
            <a:off x="548640" y="4462272"/>
            <a:ext cx="347472" cy="347472"/>
          </a:xfrm>
          <a:prstGeom prst="ellipse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aSyncAlt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" y="4549140"/>
            <a:ext cx="173736" cy="17373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05840" y="4462272"/>
            <a:ext cx="105156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3D6F"/>
                </a:solidFill>
                <a:latin typeface="Century Gothic"/>
              </a:rPr>
              <a:t>4 temas los piden 2 o más entidades</a:t>
            </a:r>
            <a:r>
              <a:rPr sz="1300" b="0">
                <a:solidFill>
                  <a:srgbClr val="5B6B7B"/>
                </a:solidFill>
                <a:latin typeface="Arial"/>
              </a:rPr>
              <a:t>   →  tenerlos siempre listos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937760"/>
            <a:ext cx="547725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4992624"/>
            <a:ext cx="447141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Actas Comité de Riesgos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02936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02936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4 veces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81344" y="4937760"/>
            <a:ext cx="547725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45936" y="4992624"/>
            <a:ext cx="447141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Riesgo de crédito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Cartera, mora y reservas · Pérdida Esperada · Remisiones a SSF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835640" y="504748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NCB-022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35640" y="528523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3 veces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669280"/>
            <a:ext cx="547725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724144"/>
            <a:ext cx="447141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02936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02936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62828"/>
                </a:solidFill>
                <a:latin typeface="Arial"/>
              </a:rPr>
              <a:t>3 veces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81344" y="5669280"/>
            <a:ext cx="5477256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D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45936" y="5724144"/>
            <a:ext cx="447141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F2A37"/>
                </a:solidFill>
                <a:latin typeface="Arial"/>
              </a:rPr>
              <a:t>Gobierno Corporativo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835640" y="5779008"/>
            <a:ext cx="685800" cy="201168"/>
          </a:xfrm>
          <a:prstGeom prst="roundRect">
            <a:avLst>
              <a:gd name="adj" fmla="val 5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00" b="1">
                <a:solidFill>
                  <a:srgbClr val="FFFFFF"/>
                </a:solidFill>
                <a:latin typeface="Arial"/>
              </a:rPr>
              <a:t>NRP-17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35640" y="6016752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5B6B7B"/>
                </a:solidFill>
                <a:latin typeface="Arial"/>
              </a:rPr>
              <a:t>2 veces</a:t>
            </a:r>
          </a:p>
        </p:txBody>
      </p:sp>
      <p:sp>
        <p:nvSpPr>
          <p:cNvPr id="57" name="Fuente"/>
          <p:cNvSpPr txBox="1"/>
          <p:nvPr/>
        </p:nvSpPr>
        <p:spPr>
          <a:xfrm>
            <a:off x="548640" y="6473952"/>
            <a:ext cx="11064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