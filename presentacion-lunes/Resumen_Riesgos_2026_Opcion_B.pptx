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SSF, y pidieron 26 temas distintos. Contamos por norma: cada visita cuenta una vez por norma. Cinco normas las revisaron 2 o más entidades y hay que tenerlas siempre listas: NRP-20, 5 veces (Interna 2, Externa 1, SSF 2); NCB-022, 3 veces; NRP-24, 3 veces; NPB4-49, 2 veces; NRP-17, 2 veces. NRP-20 es la norma más revisada.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¿Quién vino, cuántas veces y qué nos pidió?</a:t>
            </a:r>
          </a:p>
        </p:txBody>
      </p:sp>
      <p:sp>
        <p:nvSpPr>
          <p:cNvPr id="9" name="Entidad Auditoría Interna"/>
          <p:cNvSpPr/>
          <p:nvPr/>
        </p:nvSpPr>
        <p:spPr>
          <a:xfrm>
            <a:off x="54864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Build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7744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Interna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1565C0"/>
                </a:solidFill>
                <a:latin typeface="Century Gothi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15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8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Mar · May (2) · Jun (2) · Ago · Oct</a:t>
            </a:r>
          </a:p>
        </p:txBody>
      </p:sp>
      <p:sp>
        <p:nvSpPr>
          <p:cNvPr id="17" name="Entidad Auditoría Externa"/>
          <p:cNvSpPr/>
          <p:nvPr/>
        </p:nvSpPr>
        <p:spPr>
          <a:xfrm>
            <a:off x="347472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03320" y="2240280"/>
            <a:ext cx="548640" cy="548640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UserTi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37744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8912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Externa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8871E"/>
                </a:solidFill>
                <a:latin typeface="Century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11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6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Abr · Jul · Oct</a:t>
            </a:r>
          </a:p>
        </p:txBody>
      </p:sp>
      <p:sp>
        <p:nvSpPr>
          <p:cNvPr id="25" name="Entidad SSF"/>
          <p:cNvSpPr/>
          <p:nvPr/>
        </p:nvSpPr>
        <p:spPr>
          <a:xfrm>
            <a:off x="640080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29400" y="224028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237744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SSF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2E9E5B"/>
                </a:solidFill>
                <a:latin typeface="Century Gothic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6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7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Feb (2) · Jul · Ago (2) · Sep · Oct</a:t>
            </a:r>
          </a:p>
        </p:txBody>
      </p:sp>
      <p:sp>
        <p:nvSpPr>
          <p:cNvPr id="33" name="Total"/>
          <p:cNvSpPr/>
          <p:nvPr/>
        </p:nvSpPr>
        <p:spPr>
          <a:xfrm>
            <a:off x="9326880" y="201168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214884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C3E8"/>
                </a:solidFill>
                <a:latin typeface="Arial"/>
              </a:rPr>
              <a:t>TOTAL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313432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2862072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visitas y auditorías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0449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26 temas distintos pedidos</a:t>
            </a:r>
          </a:p>
        </p:txBody>
      </p:sp>
      <p:sp>
        <p:nvSpPr>
          <p:cNvPr id="38" name="Norma más auditada"/>
          <p:cNvSpPr/>
          <p:nvPr/>
        </p:nvSpPr>
        <p:spPr>
          <a:xfrm>
            <a:off x="9326880" y="338328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349300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7B"/>
                </a:solidFill>
                <a:latin typeface="Arial"/>
              </a:rPr>
              <a:t>NORMA MÁS AUDITADA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3675888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03D6F"/>
                </a:solidFill>
                <a:latin typeface="Century Gothic"/>
              </a:rPr>
              <a:t>NRP-20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4041648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5 veces · 3 entidades</a:t>
            </a:r>
          </a:p>
        </p:txBody>
      </p:sp>
      <p:sp>
        <p:nvSpPr>
          <p:cNvPr id="42" name="Oval 41"/>
          <p:cNvSpPr/>
          <p:nvPr/>
        </p:nvSpPr>
        <p:spPr>
          <a:xfrm>
            <a:off x="548640" y="4462272"/>
            <a:ext cx="347472" cy="347472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aSyncA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" y="4549140"/>
            <a:ext cx="173736" cy="17373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05840" y="446227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5 normas las revisan 2 o más entidades</a:t>
            </a:r>
            <a:r>
              <a:rPr sz="1300" b="0">
                <a:solidFill>
                  <a:srgbClr val="5B6B7B"/>
                </a:solidFill>
                <a:latin typeface="Arial"/>
              </a:rPr>
              <a:t>   →  tenerlas siempre listas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4462272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C62828"/>
                </a:solidFill>
                <a:latin typeface="Arial"/>
              </a:rPr>
              <a:t>Octubre: coincidieron las 3 entidades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4937760"/>
            <a:ext cx="211226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NRP-20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5 veces · 3 entidades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" y="5614416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Actas · Informes GIR · Plan de trabajo · Visita integral SSF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8064" y="4937760"/>
            <a:ext cx="211226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62656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NCB-022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62656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3 veces · 2 entidades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62656" y="5614416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Cartera · Pérdida Esperada · Remisiones SSF · Migración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47488" y="4937760"/>
            <a:ext cx="211226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79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NRP-24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12079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3 veces · 2 entidades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12079" y="5614416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Plan de Continuidad (BCP/DRP) · Actas del 16 de octubre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96912" y="4937760"/>
            <a:ext cx="211226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61504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NPB4-49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61504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7B"/>
                </a:solidFill>
                <a:latin typeface="Arial"/>
              </a:rPr>
              <a:t>2 veces · 2 entidades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61504" y="5614416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Escenarios de estrés · Concentración crediticia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46336" y="4937760"/>
            <a:ext cx="211226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10928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NRP-17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10928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7B"/>
                </a:solidFill>
                <a:latin typeface="Arial"/>
              </a:rPr>
              <a:t>2 veces · 2 entidades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10928" y="5614416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Gobierno Corporativo</a:t>
            </a:r>
          </a:p>
        </p:txBody>
      </p:sp>
      <p:sp>
        <p:nvSpPr>
          <p:cNvPr id="66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hojas «Resumen Riesgos» y «Consolidado»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