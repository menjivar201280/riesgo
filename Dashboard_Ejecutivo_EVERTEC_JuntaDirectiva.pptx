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7.png"/><Relationship Id="rId9" Type="http://schemas.openxmlformats.org/officeDocument/2006/relationships/image" Target="../media/image-1-7.png"/><Relationship Id="rId10" Type="http://schemas.openxmlformats.org/officeDocument/2006/relationships/image" Target="../media/image-1-7.png"/><Relationship Id="rId11" Type="http://schemas.openxmlformats.org/officeDocument/2006/relationships/image" Target="../media/image-1-7.png"/><Relationship Id="rId12" Type="http://schemas.openxmlformats.org/officeDocument/2006/relationships/image" Target="../media/image-1-12.png"/><Relationship Id="rId13" Type="http://schemas.openxmlformats.org/officeDocument/2006/relationships/image" Target="../media/image-1-12.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56032"/>
            <a:ext cx="8778240" cy="182880"/>
          </a:xfrm>
          <a:prstGeom prst="rect">
            <a:avLst/>
          </a:prstGeom>
          <a:noFill/>
          <a:ln/>
        </p:spPr>
        <p:txBody>
          <a:bodyPr wrap="square" lIns="0" tIns="0" rIns="0" bIns="0" rtlCol="0" anchor="ctr"/>
          <a:lstStyle/>
          <a:p>
            <a:pPr algn="l" indent="0" marL="0">
              <a:buNone/>
            </a:pPr>
            <a:r>
              <a:rPr lang="en-US" sz="950" b="1" spc="160" kern="0" dirty="0">
                <a:solidFill>
                  <a:srgbClr val="17A9B0"/>
                </a:solidFill>
                <a:latin typeface="Calibri" pitchFamily="34" charset="0"/>
                <a:ea typeface="Calibri" pitchFamily="34" charset="-122"/>
                <a:cs typeface="Calibri" pitchFamily="34" charset="-120"/>
              </a:rPr>
              <a:t>EVALUACIÓN DE SERVICIO  ·  GERENCIA DE TECNOLOGÍA</a:t>
            </a:r>
            <a:endParaRPr lang="en-US" sz="950" dirty="0"/>
          </a:p>
        </p:txBody>
      </p:sp>
      <p:sp>
        <p:nvSpPr>
          <p:cNvPr id="3" name="Text 1"/>
          <p:cNvSpPr txBox="1"/>
          <p:nvPr/>
        </p:nvSpPr>
        <p:spPr>
          <a:xfrm>
            <a:off x="384048" y="457200"/>
            <a:ext cx="9052560" cy="585216"/>
          </a:xfrm>
          <a:prstGeom prst="rect">
            <a:avLst/>
          </a:prstGeom>
          <a:noFill/>
          <a:ln/>
        </p:spPr>
        <p:txBody>
          <a:bodyPr wrap="square" lIns="0" tIns="0" rIns="0" bIns="0" rtlCol="0" anchor="t"/>
          <a:lstStyle/>
          <a:p>
            <a:pPr algn="l" indent="0" marL="0">
              <a:lnSpc>
                <a:spcPct val="105000"/>
              </a:lnSpc>
              <a:buNone/>
            </a:pPr>
            <a:r>
              <a:rPr lang="en-US" sz="1850" b="1" dirty="0">
                <a:solidFill>
                  <a:srgbClr val="17223A"/>
                </a:solidFill>
                <a:latin typeface="Calibri" pitchFamily="34" charset="0"/>
                <a:ea typeface="Calibri" pitchFamily="34" charset="-122"/>
                <a:cs typeface="Calibri" pitchFamily="34" charset="-120"/>
              </a:rPr>
              <a:t>Resultados de Encuesta de Evaluación del Servicio de Procesamiento de Tarjetas de Crédito — EVERTEC</a:t>
            </a:r>
            <a:endParaRPr lang="en-US" sz="1850" dirty="0"/>
          </a:p>
        </p:txBody>
      </p:sp>
      <p:sp>
        <p:nvSpPr>
          <p:cNvPr id="4" name="Text 2"/>
          <p:cNvSpPr txBox="1"/>
          <p:nvPr/>
        </p:nvSpPr>
        <p:spPr>
          <a:xfrm>
            <a:off x="384048" y="1069848"/>
            <a:ext cx="9052560" cy="237744"/>
          </a:xfrm>
          <a:prstGeom prst="rect">
            <a:avLst/>
          </a:prstGeom>
          <a:noFill/>
          <a:ln/>
        </p:spPr>
        <p:txBody>
          <a:bodyPr wrap="square" lIns="0" tIns="0" rIns="0" bIns="0" rtlCol="0" anchor="ctr"/>
          <a:lstStyle/>
          <a:p>
            <a:pPr algn="l" indent="0" marL="0">
              <a:buNone/>
            </a:pPr>
            <a:r>
              <a:rPr lang="en-US" sz="1100" i="1" dirty="0">
                <a:solidFill>
                  <a:srgbClr val="5B6B82"/>
                </a:solidFill>
                <a:latin typeface="Calibri" pitchFamily="34" charset="0"/>
                <a:ea typeface="Calibri" pitchFamily="34" charset="-122"/>
                <a:cs typeface="Calibri" pitchFamily="34" charset="-120"/>
              </a:rPr>
              <a:t>Percepción de agencias y usuarios internos sobre la calidad, continuidad y soporte del servicio</a:t>
            </a:r>
            <a:endParaRPr lang="en-US" sz="1100" dirty="0"/>
          </a:p>
        </p:txBody>
      </p:sp>
      <p:sp>
        <p:nvSpPr>
          <p:cNvPr id="5" name="Shape 3"/>
          <p:cNvSpPr/>
          <p:nvPr/>
        </p:nvSpPr>
        <p:spPr>
          <a:xfrm>
            <a:off x="10116007" y="292608"/>
            <a:ext cx="1691640" cy="365760"/>
          </a:xfrm>
          <a:prstGeom prst="roundRect">
            <a:avLst>
              <a:gd name="adj" fmla="val 15000"/>
            </a:avLst>
          </a:prstGeom>
          <a:solidFill>
            <a:srgbClr val="133B6C"/>
          </a:solidFill>
          <a:ln/>
        </p:spPr>
      </p:sp>
      <p:sp>
        <p:nvSpPr>
          <p:cNvPr id="6" name="Text 4"/>
          <p:cNvSpPr txBox="1"/>
          <p:nvPr/>
        </p:nvSpPr>
        <p:spPr>
          <a:xfrm>
            <a:off x="10116007" y="292608"/>
            <a:ext cx="169164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COMÉDICA</a:t>
            </a:r>
            <a:endParaRPr lang="en-US" sz="1200" dirty="0"/>
          </a:p>
        </p:txBody>
      </p:sp>
      <p:sp>
        <p:nvSpPr>
          <p:cNvPr id="7" name="Shape 5"/>
          <p:cNvSpPr/>
          <p:nvPr/>
        </p:nvSpPr>
        <p:spPr>
          <a:xfrm>
            <a:off x="384048" y="1225296"/>
            <a:ext cx="11423599" cy="16459"/>
          </a:xfrm>
          <a:prstGeom prst="rect">
            <a:avLst/>
          </a:prstGeom>
          <a:solidFill>
            <a:srgbClr val="17A9B0"/>
          </a:solidFill>
          <a:ln/>
        </p:spPr>
      </p:sp>
      <p:sp>
        <p:nvSpPr>
          <p:cNvPr id="8" name="Shape 6"/>
          <p:cNvSpPr/>
          <p:nvPr/>
        </p:nvSpPr>
        <p:spPr>
          <a:xfrm>
            <a:off x="384048" y="1353312"/>
            <a:ext cx="2718740" cy="658368"/>
          </a:xfrm>
          <a:prstGeom prst="roundRect">
            <a:avLst>
              <a:gd name="adj" fmla="val 972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9" name="Shape 7"/>
          <p:cNvSpPr/>
          <p:nvPr/>
        </p:nvSpPr>
        <p:spPr>
          <a:xfrm>
            <a:off x="585216" y="1517904"/>
            <a:ext cx="420624" cy="420624"/>
          </a:xfrm>
          <a:prstGeom prst="ellipse">
            <a:avLst/>
          </a:prstGeom>
          <a:solidFill>
            <a:srgbClr val="EAF0F8"/>
          </a:solidFill>
          <a:ln/>
        </p:spPr>
      </p:sp>
      <p:pic>
        <p:nvPicPr>
          <p:cNvPr id="10" name="Image 0" descr="/tmp/claude-0/-home-user-riesgo/579fb8c8-70e5-51d5-80ec-6ed51cc2e8df/scratchpad/pptx-build/icons/users_133B6C.png">    </p:cNvPr>
          <p:cNvPicPr>
            <a:picLocks noChangeAspect="1"/>
          </p:cNvPicPr>
          <p:nvPr/>
        </p:nvPicPr>
        <p:blipFill>
          <a:blip r:embed="rId1"/>
          <a:stretch>
            <a:fillRect/>
          </a:stretch>
        </p:blipFill>
        <p:spPr>
          <a:xfrm>
            <a:off x="677753" y="1610441"/>
            <a:ext cx="235549" cy="235549"/>
          </a:xfrm>
          <a:prstGeom prst="rect">
            <a:avLst/>
          </a:prstGeom>
        </p:spPr>
      </p:pic>
      <p:sp>
        <p:nvSpPr>
          <p:cNvPr id="11" name="Text 8"/>
          <p:cNvSpPr txBox="1"/>
          <p:nvPr/>
        </p:nvSpPr>
        <p:spPr>
          <a:xfrm>
            <a:off x="1152144" y="1472184"/>
            <a:ext cx="1786052" cy="384048"/>
          </a:xfrm>
          <a:prstGeom prst="rect">
            <a:avLst/>
          </a:prstGeom>
          <a:noFill/>
          <a:ln/>
        </p:spPr>
        <p:txBody>
          <a:bodyPr wrap="square" lIns="0" tIns="0" rIns="0" bIns="0" rtlCol="0" anchor="ctr"/>
          <a:lstStyle/>
          <a:p>
            <a:pPr algn="l" indent="0" marL="0">
              <a:buNone/>
            </a:pPr>
            <a:r>
              <a:rPr lang="en-US" sz="2600" b="1" dirty="0">
                <a:solidFill>
                  <a:srgbClr val="1B4F91"/>
                </a:solidFill>
                <a:latin typeface="Calibri" pitchFamily="34" charset="0"/>
                <a:ea typeface="Calibri" pitchFamily="34" charset="-122"/>
                <a:cs typeface="Calibri" pitchFamily="34" charset="-120"/>
              </a:rPr>
              <a:t>17</a:t>
            </a:r>
            <a:endParaRPr lang="en-US" sz="2600" dirty="0"/>
          </a:p>
        </p:txBody>
      </p:sp>
      <p:sp>
        <p:nvSpPr>
          <p:cNvPr id="12" name="Text 9"/>
          <p:cNvSpPr txBox="1"/>
          <p:nvPr/>
        </p:nvSpPr>
        <p:spPr>
          <a:xfrm>
            <a:off x="585216" y="1993392"/>
            <a:ext cx="2316404" cy="182880"/>
          </a:xfrm>
          <a:prstGeom prst="rect">
            <a:avLst/>
          </a:prstGeom>
          <a:noFill/>
          <a:ln/>
        </p:spPr>
        <p:txBody>
          <a:bodyPr wrap="square" lIns="0" tIns="0" rIns="0" bIns="0" rtlCol="0" anchor="ctr"/>
          <a:lstStyle/>
          <a:p>
            <a:pPr algn="l" indent="0" marL="0">
              <a:buNone/>
            </a:pPr>
            <a:r>
              <a:rPr lang="en-US" sz="850" b="1" spc="50" kern="0" dirty="0">
                <a:solidFill>
                  <a:srgbClr val="5B6B82"/>
                </a:solidFill>
                <a:latin typeface="Calibri" pitchFamily="34" charset="0"/>
                <a:ea typeface="Calibri" pitchFamily="34" charset="-122"/>
                <a:cs typeface="Calibri" pitchFamily="34" charset="-120"/>
              </a:rPr>
              <a:t>PARTICIPANTES</a:t>
            </a:r>
            <a:endParaRPr lang="en-US" sz="850" dirty="0"/>
          </a:p>
        </p:txBody>
      </p:sp>
      <p:sp>
        <p:nvSpPr>
          <p:cNvPr id="13" name="Shape 10"/>
          <p:cNvSpPr/>
          <p:nvPr/>
        </p:nvSpPr>
        <p:spPr>
          <a:xfrm>
            <a:off x="3285668" y="1353312"/>
            <a:ext cx="2718740" cy="658368"/>
          </a:xfrm>
          <a:prstGeom prst="roundRect">
            <a:avLst>
              <a:gd name="adj" fmla="val 972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14" name="Shape 11"/>
          <p:cNvSpPr/>
          <p:nvPr/>
        </p:nvSpPr>
        <p:spPr>
          <a:xfrm>
            <a:off x="3486836" y="1517904"/>
            <a:ext cx="420624" cy="420624"/>
          </a:xfrm>
          <a:prstGeom prst="ellipse">
            <a:avLst/>
          </a:prstGeom>
          <a:solidFill>
            <a:srgbClr val="FCF1E0"/>
          </a:solidFill>
          <a:ln/>
        </p:spPr>
      </p:sp>
      <p:pic>
        <p:nvPicPr>
          <p:cNvPr id="15" name="Image 1" descr="/tmp/claude-0/-home-user-riesgo/579fb8c8-70e5-51d5-80ec-6ed51cc2e8df/scratchpad/pptx-build/icons/star_A6650F.png">    </p:cNvPr>
          <p:cNvPicPr>
            <a:picLocks noChangeAspect="1"/>
          </p:cNvPicPr>
          <p:nvPr/>
        </p:nvPicPr>
        <p:blipFill>
          <a:blip r:embed="rId2"/>
          <a:stretch>
            <a:fillRect/>
          </a:stretch>
        </p:blipFill>
        <p:spPr>
          <a:xfrm>
            <a:off x="3579373" y="1610441"/>
            <a:ext cx="235549" cy="235549"/>
          </a:xfrm>
          <a:prstGeom prst="rect">
            <a:avLst/>
          </a:prstGeom>
        </p:spPr>
      </p:pic>
      <p:sp>
        <p:nvSpPr>
          <p:cNvPr id="16" name="Text 12"/>
          <p:cNvSpPr txBox="1"/>
          <p:nvPr/>
        </p:nvSpPr>
        <p:spPr>
          <a:xfrm>
            <a:off x="4053764" y="1472184"/>
            <a:ext cx="1786052" cy="384048"/>
          </a:xfrm>
          <a:prstGeom prst="rect">
            <a:avLst/>
          </a:prstGeom>
          <a:noFill/>
          <a:ln/>
        </p:spPr>
        <p:txBody>
          <a:bodyPr wrap="square" lIns="0" tIns="0" rIns="0" bIns="0" rtlCol="0" anchor="ctr"/>
          <a:lstStyle/>
          <a:p>
            <a:pPr algn="l" indent="0" marL="0">
              <a:buNone/>
            </a:pPr>
            <a:r>
              <a:rPr lang="en-US" sz="2200" b="1" dirty="0">
                <a:solidFill>
                  <a:srgbClr val="A6650F"/>
                </a:solidFill>
                <a:latin typeface="Calibri" pitchFamily="34" charset="0"/>
                <a:ea typeface="Calibri" pitchFamily="34" charset="-122"/>
                <a:cs typeface="Calibri" pitchFamily="34" charset="-120"/>
              </a:rPr>
              <a:t>3.82 / 5</a:t>
            </a:r>
            <a:endParaRPr lang="en-US" sz="2200" dirty="0"/>
          </a:p>
        </p:txBody>
      </p:sp>
      <p:sp>
        <p:nvSpPr>
          <p:cNvPr id="17" name="Text 13"/>
          <p:cNvSpPr txBox="1"/>
          <p:nvPr/>
        </p:nvSpPr>
        <p:spPr>
          <a:xfrm>
            <a:off x="3486836" y="1993392"/>
            <a:ext cx="2316404" cy="182880"/>
          </a:xfrm>
          <a:prstGeom prst="rect">
            <a:avLst/>
          </a:prstGeom>
          <a:noFill/>
          <a:ln/>
        </p:spPr>
        <p:txBody>
          <a:bodyPr wrap="square" lIns="0" tIns="0" rIns="0" bIns="0" rtlCol="0" anchor="ctr"/>
          <a:lstStyle/>
          <a:p>
            <a:pPr algn="l" indent="0" marL="0">
              <a:buNone/>
            </a:pPr>
            <a:r>
              <a:rPr lang="en-US" sz="850" b="1" spc="50" kern="0" dirty="0">
                <a:solidFill>
                  <a:srgbClr val="5B6B82"/>
                </a:solidFill>
                <a:latin typeface="Calibri" pitchFamily="34" charset="0"/>
                <a:ea typeface="Calibri" pitchFamily="34" charset="-122"/>
                <a:cs typeface="Calibri" pitchFamily="34" charset="-120"/>
              </a:rPr>
              <a:t>CALIFICACIÓN PROMEDIO</a:t>
            </a:r>
            <a:endParaRPr lang="en-US" sz="850" dirty="0"/>
          </a:p>
        </p:txBody>
      </p:sp>
      <p:sp>
        <p:nvSpPr>
          <p:cNvPr id="18" name="Shape 14"/>
          <p:cNvSpPr/>
          <p:nvPr/>
        </p:nvSpPr>
        <p:spPr>
          <a:xfrm>
            <a:off x="6187288" y="1353312"/>
            <a:ext cx="2718740" cy="658368"/>
          </a:xfrm>
          <a:prstGeom prst="roundRect">
            <a:avLst>
              <a:gd name="adj" fmla="val 972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19" name="Shape 15"/>
          <p:cNvSpPr/>
          <p:nvPr/>
        </p:nvSpPr>
        <p:spPr>
          <a:xfrm>
            <a:off x="6388456" y="1517904"/>
            <a:ext cx="420624" cy="420624"/>
          </a:xfrm>
          <a:prstGeom prst="ellipse">
            <a:avLst/>
          </a:prstGeom>
          <a:solidFill>
            <a:srgbClr val="E7F5EC"/>
          </a:solidFill>
          <a:ln/>
        </p:spPr>
      </p:sp>
      <p:pic>
        <p:nvPicPr>
          <p:cNvPr id="20" name="Image 2" descr="/tmp/claude-0/-home-user-riesgo/579fb8c8-70e5-51d5-80ec-6ed51cc2e8df/scratchpad/pptx-build/icons/checkcircle_133B6C.png">    </p:cNvPr>
          <p:cNvPicPr>
            <a:picLocks noChangeAspect="1"/>
          </p:cNvPicPr>
          <p:nvPr/>
        </p:nvPicPr>
        <p:blipFill>
          <a:blip r:embed="rId3"/>
          <a:stretch>
            <a:fillRect/>
          </a:stretch>
        </p:blipFill>
        <p:spPr>
          <a:xfrm>
            <a:off x="6480993" y="1610441"/>
            <a:ext cx="235549" cy="235549"/>
          </a:xfrm>
          <a:prstGeom prst="rect">
            <a:avLst/>
          </a:prstGeom>
        </p:spPr>
      </p:pic>
      <p:sp>
        <p:nvSpPr>
          <p:cNvPr id="21" name="Text 16"/>
          <p:cNvSpPr txBox="1"/>
          <p:nvPr/>
        </p:nvSpPr>
        <p:spPr>
          <a:xfrm>
            <a:off x="6955384" y="1472184"/>
            <a:ext cx="1786052" cy="384048"/>
          </a:xfrm>
          <a:prstGeom prst="rect">
            <a:avLst/>
          </a:prstGeom>
          <a:noFill/>
          <a:ln/>
        </p:spPr>
        <p:txBody>
          <a:bodyPr wrap="square" lIns="0" tIns="0" rIns="0" bIns="0" rtlCol="0" anchor="ctr"/>
          <a:lstStyle/>
          <a:p>
            <a:pPr algn="l" indent="0" marL="0">
              <a:buNone/>
            </a:pPr>
            <a:r>
              <a:rPr lang="en-US" sz="2600" b="1" dirty="0">
                <a:solidFill>
                  <a:srgbClr val="1E8449"/>
                </a:solidFill>
                <a:latin typeface="Calibri" pitchFamily="34" charset="0"/>
                <a:ea typeface="Calibri" pitchFamily="34" charset="-122"/>
                <a:cs typeface="Calibri" pitchFamily="34" charset="-120"/>
              </a:rPr>
              <a:t>88%</a:t>
            </a:r>
            <a:endParaRPr lang="en-US" sz="2600" dirty="0"/>
          </a:p>
        </p:txBody>
      </p:sp>
      <p:sp>
        <p:nvSpPr>
          <p:cNvPr id="22" name="Text 17"/>
          <p:cNvSpPr txBox="1"/>
          <p:nvPr/>
        </p:nvSpPr>
        <p:spPr>
          <a:xfrm>
            <a:off x="6388456" y="1993392"/>
            <a:ext cx="2316404" cy="182880"/>
          </a:xfrm>
          <a:prstGeom prst="rect">
            <a:avLst/>
          </a:prstGeom>
          <a:noFill/>
          <a:ln/>
        </p:spPr>
        <p:txBody>
          <a:bodyPr wrap="square" lIns="0" tIns="0" rIns="0" bIns="0" rtlCol="0" anchor="ctr"/>
          <a:lstStyle/>
          <a:p>
            <a:pPr algn="l" indent="0" marL="0">
              <a:buNone/>
            </a:pPr>
            <a:r>
              <a:rPr lang="en-US" sz="850" b="1" spc="50" kern="0" dirty="0">
                <a:solidFill>
                  <a:srgbClr val="5B6B82"/>
                </a:solidFill>
                <a:latin typeface="Calibri" pitchFamily="34" charset="0"/>
                <a:ea typeface="Calibri" pitchFamily="34" charset="-122"/>
                <a:cs typeface="Calibri" pitchFamily="34" charset="-120"/>
              </a:rPr>
              <a:t>CALIFICACIONES FAVORABLES</a:t>
            </a:r>
            <a:endParaRPr lang="en-US" sz="850" dirty="0"/>
          </a:p>
        </p:txBody>
      </p:sp>
      <p:sp>
        <p:nvSpPr>
          <p:cNvPr id="23" name="Shape 18"/>
          <p:cNvSpPr/>
          <p:nvPr/>
        </p:nvSpPr>
        <p:spPr>
          <a:xfrm>
            <a:off x="9088907" y="1353312"/>
            <a:ext cx="2718740" cy="658368"/>
          </a:xfrm>
          <a:prstGeom prst="roundRect">
            <a:avLst>
              <a:gd name="adj" fmla="val 972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24" name="Shape 19"/>
          <p:cNvSpPr/>
          <p:nvPr/>
        </p:nvSpPr>
        <p:spPr>
          <a:xfrm>
            <a:off x="9290075" y="1517904"/>
            <a:ext cx="420624" cy="420624"/>
          </a:xfrm>
          <a:prstGeom prst="ellipse">
            <a:avLst/>
          </a:prstGeom>
          <a:solidFill>
            <a:srgbClr val="E8F1FA"/>
          </a:solidFill>
          <a:ln/>
        </p:spPr>
      </p:sp>
      <p:pic>
        <p:nvPicPr>
          <p:cNvPr id="25" name="Image 3" descr="/tmp/claude-0/-home-user-riesgo/579fb8c8-70e5-51d5-80ec-6ed51cc2e8df/scratchpad/pptx-build/icons/headphones_1D63A1.png">    </p:cNvPr>
          <p:cNvPicPr>
            <a:picLocks noChangeAspect="1"/>
          </p:cNvPicPr>
          <p:nvPr/>
        </p:nvPicPr>
        <p:blipFill>
          <a:blip r:embed="rId4"/>
          <a:stretch>
            <a:fillRect/>
          </a:stretch>
        </p:blipFill>
        <p:spPr>
          <a:xfrm>
            <a:off x="9382613" y="1610441"/>
            <a:ext cx="235549" cy="235549"/>
          </a:xfrm>
          <a:prstGeom prst="rect">
            <a:avLst/>
          </a:prstGeom>
        </p:spPr>
      </p:pic>
      <p:sp>
        <p:nvSpPr>
          <p:cNvPr id="26" name="Text 20"/>
          <p:cNvSpPr txBox="1"/>
          <p:nvPr/>
        </p:nvSpPr>
        <p:spPr>
          <a:xfrm>
            <a:off x="9857003" y="1472184"/>
            <a:ext cx="1786052" cy="384048"/>
          </a:xfrm>
          <a:prstGeom prst="rect">
            <a:avLst/>
          </a:prstGeom>
          <a:noFill/>
          <a:ln/>
        </p:spPr>
        <p:txBody>
          <a:bodyPr wrap="square" lIns="0" tIns="0" rIns="0" bIns="0" rtlCol="0" anchor="ctr"/>
          <a:lstStyle/>
          <a:p>
            <a:pPr algn="l" indent="0" marL="0">
              <a:buNone/>
            </a:pPr>
            <a:r>
              <a:rPr lang="en-US" sz="1700" b="1" dirty="0">
                <a:solidFill>
                  <a:srgbClr val="1D63A1"/>
                </a:solidFill>
                <a:latin typeface="Calibri" pitchFamily="34" charset="0"/>
                <a:ea typeface="Calibri" pitchFamily="34" charset="-122"/>
                <a:cs typeface="Calibri" pitchFamily="34" charset="-120"/>
              </a:rPr>
              <a:t>Mayoritaria</a:t>
            </a:r>
            <a:endParaRPr lang="en-US" sz="1700" dirty="0"/>
          </a:p>
        </p:txBody>
      </p:sp>
      <p:sp>
        <p:nvSpPr>
          <p:cNvPr id="27" name="Text 21"/>
          <p:cNvSpPr txBox="1"/>
          <p:nvPr/>
        </p:nvSpPr>
        <p:spPr>
          <a:xfrm>
            <a:off x="9290075" y="1993392"/>
            <a:ext cx="2316404" cy="182880"/>
          </a:xfrm>
          <a:prstGeom prst="rect">
            <a:avLst/>
          </a:prstGeom>
          <a:noFill/>
          <a:ln/>
        </p:spPr>
        <p:txBody>
          <a:bodyPr wrap="square" lIns="0" tIns="0" rIns="0" bIns="0" rtlCol="0" anchor="ctr"/>
          <a:lstStyle/>
          <a:p>
            <a:pPr algn="l" indent="0" marL="0">
              <a:buNone/>
            </a:pPr>
            <a:r>
              <a:rPr lang="en-US" sz="850" b="1" spc="50" kern="0" dirty="0">
                <a:solidFill>
                  <a:srgbClr val="5B6B82"/>
                </a:solidFill>
                <a:latin typeface="Calibri" pitchFamily="34" charset="0"/>
                <a:ea typeface="Calibri" pitchFamily="34" charset="-122"/>
                <a:cs typeface="Calibri" pitchFamily="34" charset="-120"/>
              </a:rPr>
              <a:t>SOPORTE OPORTUNO</a:t>
            </a:r>
            <a:endParaRPr lang="en-US" sz="850" dirty="0"/>
          </a:p>
        </p:txBody>
      </p:sp>
      <p:sp>
        <p:nvSpPr>
          <p:cNvPr id="28" name="Text 22"/>
          <p:cNvSpPr txBox="1"/>
          <p:nvPr/>
        </p:nvSpPr>
        <p:spPr>
          <a:xfrm>
            <a:off x="384048" y="2103120"/>
            <a:ext cx="1828800" cy="274320"/>
          </a:xfrm>
          <a:prstGeom prst="rect">
            <a:avLst/>
          </a:prstGeom>
          <a:noFill/>
          <a:ln/>
        </p:spPr>
        <p:txBody>
          <a:bodyPr wrap="square" lIns="0" tIns="0" rIns="0" bIns="0" rtlCol="0" anchor="ctr"/>
          <a:lstStyle/>
          <a:p>
            <a:pPr algn="l" indent="0" marL="0">
              <a:buNone/>
            </a:pPr>
            <a:r>
              <a:rPr lang="en-US" sz="800" b="1" spc="40" kern="0" dirty="0">
                <a:solidFill>
                  <a:srgbClr val="5B6B82"/>
                </a:solidFill>
                <a:latin typeface="Calibri" pitchFamily="34" charset="0"/>
                <a:ea typeface="Calibri" pitchFamily="34" charset="-122"/>
                <a:cs typeface="Calibri" pitchFamily="34" charset="-120"/>
              </a:rPr>
              <a:t>AGENCIAS PARTICIPANTES</a:t>
            </a:r>
            <a:endParaRPr lang="en-US" sz="800" dirty="0"/>
          </a:p>
        </p:txBody>
      </p:sp>
      <p:sp>
        <p:nvSpPr>
          <p:cNvPr id="29" name="Shape 23"/>
          <p:cNvSpPr/>
          <p:nvPr/>
        </p:nvSpPr>
        <p:spPr>
          <a:xfrm>
            <a:off x="2258568" y="2130552"/>
            <a:ext cx="816153" cy="219456"/>
          </a:xfrm>
          <a:prstGeom prst="roundRect">
            <a:avLst>
              <a:gd name="adj" fmla="val 16667"/>
            </a:avLst>
          </a:prstGeom>
          <a:solidFill>
            <a:srgbClr val="F2F5F9"/>
          </a:solidFill>
          <a:ln/>
        </p:spPr>
      </p:sp>
      <p:sp>
        <p:nvSpPr>
          <p:cNvPr id="30" name="Text 24"/>
          <p:cNvSpPr txBox="1"/>
          <p:nvPr/>
        </p:nvSpPr>
        <p:spPr>
          <a:xfrm>
            <a:off x="2295144"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San Miguel</a:t>
            </a:r>
            <a:endParaRPr lang="en-US" sz="730" dirty="0"/>
          </a:p>
        </p:txBody>
      </p:sp>
      <p:sp>
        <p:nvSpPr>
          <p:cNvPr id="31" name="Shape 25"/>
          <p:cNvSpPr/>
          <p:nvPr/>
        </p:nvSpPr>
        <p:spPr>
          <a:xfrm>
            <a:off x="3138729" y="2130552"/>
            <a:ext cx="816153" cy="219456"/>
          </a:xfrm>
          <a:prstGeom prst="roundRect">
            <a:avLst>
              <a:gd name="adj" fmla="val 16667"/>
            </a:avLst>
          </a:prstGeom>
          <a:solidFill>
            <a:srgbClr val="F2F5F9"/>
          </a:solidFill>
          <a:ln/>
        </p:spPr>
      </p:sp>
      <p:sp>
        <p:nvSpPr>
          <p:cNvPr id="32" name="Text 26"/>
          <p:cNvSpPr txBox="1"/>
          <p:nvPr/>
        </p:nvSpPr>
        <p:spPr>
          <a:xfrm>
            <a:off x="3175305"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Colonia Médica</a:t>
            </a:r>
            <a:endParaRPr lang="en-US" sz="730" dirty="0"/>
          </a:p>
        </p:txBody>
      </p:sp>
      <p:sp>
        <p:nvSpPr>
          <p:cNvPr id="33" name="Shape 27"/>
          <p:cNvSpPr/>
          <p:nvPr/>
        </p:nvSpPr>
        <p:spPr>
          <a:xfrm>
            <a:off x="4018890" y="2130552"/>
            <a:ext cx="816153" cy="219456"/>
          </a:xfrm>
          <a:prstGeom prst="roundRect">
            <a:avLst>
              <a:gd name="adj" fmla="val 16667"/>
            </a:avLst>
          </a:prstGeom>
          <a:solidFill>
            <a:srgbClr val="F2F5F9"/>
          </a:solidFill>
          <a:ln/>
        </p:spPr>
      </p:sp>
      <p:sp>
        <p:nvSpPr>
          <p:cNvPr id="34" name="Text 28"/>
          <p:cNvSpPr txBox="1"/>
          <p:nvPr/>
        </p:nvSpPr>
        <p:spPr>
          <a:xfrm>
            <a:off x="4055466"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Sonsonate</a:t>
            </a:r>
            <a:endParaRPr lang="en-US" sz="730" dirty="0"/>
          </a:p>
        </p:txBody>
      </p:sp>
      <p:sp>
        <p:nvSpPr>
          <p:cNvPr id="35" name="Shape 29"/>
          <p:cNvSpPr/>
          <p:nvPr/>
        </p:nvSpPr>
        <p:spPr>
          <a:xfrm>
            <a:off x="4899050" y="2130552"/>
            <a:ext cx="816153" cy="219456"/>
          </a:xfrm>
          <a:prstGeom prst="roundRect">
            <a:avLst>
              <a:gd name="adj" fmla="val 16667"/>
            </a:avLst>
          </a:prstGeom>
          <a:solidFill>
            <a:srgbClr val="F2F5F9"/>
          </a:solidFill>
          <a:ln/>
        </p:spPr>
      </p:sp>
      <p:sp>
        <p:nvSpPr>
          <p:cNvPr id="36" name="Text 30"/>
          <p:cNvSpPr txBox="1"/>
          <p:nvPr/>
        </p:nvSpPr>
        <p:spPr>
          <a:xfrm>
            <a:off x="4935626"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Santa Ana</a:t>
            </a:r>
            <a:endParaRPr lang="en-US" sz="730" dirty="0"/>
          </a:p>
        </p:txBody>
      </p:sp>
      <p:sp>
        <p:nvSpPr>
          <p:cNvPr id="37" name="Shape 31"/>
          <p:cNvSpPr/>
          <p:nvPr/>
        </p:nvSpPr>
        <p:spPr>
          <a:xfrm>
            <a:off x="5779211" y="2130552"/>
            <a:ext cx="816153" cy="219456"/>
          </a:xfrm>
          <a:prstGeom prst="roundRect">
            <a:avLst>
              <a:gd name="adj" fmla="val 16667"/>
            </a:avLst>
          </a:prstGeom>
          <a:solidFill>
            <a:srgbClr val="F2F5F9"/>
          </a:solidFill>
          <a:ln/>
        </p:spPr>
      </p:sp>
      <p:sp>
        <p:nvSpPr>
          <p:cNvPr id="38" name="Text 32"/>
          <p:cNvSpPr txBox="1"/>
          <p:nvPr/>
        </p:nvSpPr>
        <p:spPr>
          <a:xfrm>
            <a:off x="5815787"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Plaza Mundo</a:t>
            </a:r>
            <a:endParaRPr lang="en-US" sz="730" dirty="0"/>
          </a:p>
        </p:txBody>
      </p:sp>
      <p:sp>
        <p:nvSpPr>
          <p:cNvPr id="39" name="Shape 33"/>
          <p:cNvSpPr/>
          <p:nvPr/>
        </p:nvSpPr>
        <p:spPr>
          <a:xfrm>
            <a:off x="6659372" y="2130552"/>
            <a:ext cx="816153" cy="219456"/>
          </a:xfrm>
          <a:prstGeom prst="roundRect">
            <a:avLst>
              <a:gd name="adj" fmla="val 16667"/>
            </a:avLst>
          </a:prstGeom>
          <a:solidFill>
            <a:srgbClr val="F2F5F9"/>
          </a:solidFill>
          <a:ln/>
        </p:spPr>
      </p:sp>
      <p:sp>
        <p:nvSpPr>
          <p:cNvPr id="40" name="Text 34"/>
          <p:cNvSpPr txBox="1"/>
          <p:nvPr/>
        </p:nvSpPr>
        <p:spPr>
          <a:xfrm>
            <a:off x="6695948"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Plaza Merliot</a:t>
            </a:r>
            <a:endParaRPr lang="en-US" sz="730" dirty="0"/>
          </a:p>
        </p:txBody>
      </p:sp>
      <p:sp>
        <p:nvSpPr>
          <p:cNvPr id="41" name="Shape 35"/>
          <p:cNvSpPr/>
          <p:nvPr/>
        </p:nvSpPr>
        <p:spPr>
          <a:xfrm>
            <a:off x="7539533" y="2130552"/>
            <a:ext cx="816153" cy="219456"/>
          </a:xfrm>
          <a:prstGeom prst="roundRect">
            <a:avLst>
              <a:gd name="adj" fmla="val 16667"/>
            </a:avLst>
          </a:prstGeom>
          <a:solidFill>
            <a:srgbClr val="F2F5F9"/>
          </a:solidFill>
          <a:ln/>
        </p:spPr>
      </p:sp>
      <p:sp>
        <p:nvSpPr>
          <p:cNvPr id="42" name="Text 36"/>
          <p:cNvSpPr txBox="1"/>
          <p:nvPr/>
        </p:nvSpPr>
        <p:spPr>
          <a:xfrm>
            <a:off x="7576109"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Colegio Médico</a:t>
            </a:r>
            <a:endParaRPr lang="en-US" sz="730" dirty="0"/>
          </a:p>
        </p:txBody>
      </p:sp>
      <p:sp>
        <p:nvSpPr>
          <p:cNvPr id="43" name="Shape 37"/>
          <p:cNvSpPr/>
          <p:nvPr/>
        </p:nvSpPr>
        <p:spPr>
          <a:xfrm>
            <a:off x="8419694" y="2130552"/>
            <a:ext cx="816153" cy="219456"/>
          </a:xfrm>
          <a:prstGeom prst="roundRect">
            <a:avLst>
              <a:gd name="adj" fmla="val 16667"/>
            </a:avLst>
          </a:prstGeom>
          <a:solidFill>
            <a:srgbClr val="F2F5F9"/>
          </a:solidFill>
          <a:ln/>
        </p:spPr>
      </p:sp>
      <p:sp>
        <p:nvSpPr>
          <p:cNvPr id="44" name="Text 38"/>
          <p:cNvSpPr txBox="1"/>
          <p:nvPr/>
        </p:nvSpPr>
        <p:spPr>
          <a:xfrm>
            <a:off x="8456270"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Usulután</a:t>
            </a:r>
            <a:endParaRPr lang="en-US" sz="730" dirty="0"/>
          </a:p>
        </p:txBody>
      </p:sp>
      <p:sp>
        <p:nvSpPr>
          <p:cNvPr id="45" name="Shape 39"/>
          <p:cNvSpPr/>
          <p:nvPr/>
        </p:nvSpPr>
        <p:spPr>
          <a:xfrm>
            <a:off x="9299854" y="2130552"/>
            <a:ext cx="816153" cy="219456"/>
          </a:xfrm>
          <a:prstGeom prst="roundRect">
            <a:avLst>
              <a:gd name="adj" fmla="val 16667"/>
            </a:avLst>
          </a:prstGeom>
          <a:solidFill>
            <a:srgbClr val="F2F5F9"/>
          </a:solidFill>
          <a:ln/>
        </p:spPr>
      </p:sp>
      <p:sp>
        <p:nvSpPr>
          <p:cNvPr id="46" name="Text 40"/>
          <p:cNvSpPr txBox="1"/>
          <p:nvPr/>
        </p:nvSpPr>
        <p:spPr>
          <a:xfrm>
            <a:off x="9336430" y="2130552"/>
            <a:ext cx="743001" cy="219456"/>
          </a:xfrm>
          <a:prstGeom prst="rect">
            <a:avLst/>
          </a:prstGeom>
          <a:noFill/>
          <a:ln/>
        </p:spPr>
        <p:txBody>
          <a:bodyPr wrap="square" lIns="0" tIns="0" rIns="0" bIns="0" rtlCol="0" anchor="ctr"/>
          <a:lstStyle/>
          <a:p>
            <a:pPr algn="ctr" indent="0" marL="0">
              <a:buNone/>
            </a:pPr>
            <a:r>
              <a:rPr lang="en-US" sz="730" b="1" dirty="0">
                <a:solidFill>
                  <a:srgbClr val="243044"/>
                </a:solidFill>
                <a:latin typeface="Calibri" pitchFamily="34" charset="0"/>
                <a:ea typeface="Calibri" pitchFamily="34" charset="-122"/>
                <a:cs typeface="Calibri" pitchFamily="34" charset="-120"/>
              </a:rPr>
              <a:t>Central</a:t>
            </a:r>
            <a:endParaRPr lang="en-US" sz="730" dirty="0"/>
          </a:p>
        </p:txBody>
      </p:sp>
      <p:sp>
        <p:nvSpPr>
          <p:cNvPr id="47" name="Shape 41"/>
          <p:cNvSpPr/>
          <p:nvPr/>
        </p:nvSpPr>
        <p:spPr>
          <a:xfrm>
            <a:off x="10161727" y="2103120"/>
            <a:ext cx="1645920" cy="274320"/>
          </a:xfrm>
          <a:prstGeom prst="roundRect">
            <a:avLst>
              <a:gd name="adj" fmla="val 20000"/>
            </a:avLst>
          </a:prstGeom>
          <a:solidFill>
            <a:srgbClr val="E8F1FA"/>
          </a:solidFill>
          <a:ln w="9525">
            <a:solidFill>
              <a:srgbClr val="1D63A1"/>
            </a:solidFill>
            <a:prstDash val="solid"/>
          </a:ln>
        </p:spPr>
      </p:sp>
      <p:pic>
        <p:nvPicPr>
          <p:cNvPr id="48" name="Image 4" descr="/tmp/claude-0/-home-user-riesgo/579fb8c8-70e5-51d5-80ec-6ed51cc2e8df/scratchpad/pptx-build/icons/truck_1D63A1.png">    </p:cNvPr>
          <p:cNvPicPr>
            <a:picLocks noChangeAspect="1"/>
          </p:cNvPicPr>
          <p:nvPr/>
        </p:nvPicPr>
        <p:blipFill>
          <a:blip r:embed="rId5"/>
          <a:stretch>
            <a:fillRect/>
          </a:stretch>
        </p:blipFill>
        <p:spPr>
          <a:xfrm>
            <a:off x="10234879" y="2157984"/>
            <a:ext cx="164592" cy="164592"/>
          </a:xfrm>
          <a:prstGeom prst="rect">
            <a:avLst/>
          </a:prstGeom>
        </p:spPr>
      </p:pic>
      <p:sp>
        <p:nvSpPr>
          <p:cNvPr id="49" name="Text 42"/>
          <p:cNvSpPr txBox="1"/>
          <p:nvPr/>
        </p:nvSpPr>
        <p:spPr>
          <a:xfrm>
            <a:off x="10436047" y="2103120"/>
            <a:ext cx="1325880" cy="274320"/>
          </a:xfrm>
          <a:prstGeom prst="rect">
            <a:avLst/>
          </a:prstGeom>
          <a:noFill/>
          <a:ln/>
        </p:spPr>
        <p:txBody>
          <a:bodyPr wrap="square" lIns="0" tIns="0" rIns="0" bIns="0" rtlCol="0" anchor="ctr"/>
          <a:lstStyle/>
          <a:p>
            <a:pPr algn="l" indent="0" marL="0">
              <a:lnSpc>
                <a:spcPct val="100000"/>
              </a:lnSpc>
              <a:buNone/>
            </a:pPr>
            <a:r>
              <a:rPr lang="en-US" sz="760" b="1" dirty="0">
                <a:solidFill>
                  <a:srgbClr val="1D63A1"/>
                </a:solidFill>
                <a:latin typeface="Calibri" pitchFamily="34" charset="0"/>
                <a:ea typeface="Calibri" pitchFamily="34" charset="-122"/>
                <a:cs typeface="Calibri" pitchFamily="34" charset="-120"/>
              </a:rPr>
              <a:t>Jefe Móvil </a:t>
            </a:r>
            <a:pPr algn="l" indent="0" marL="0">
              <a:lnSpc>
                <a:spcPct val="100000"/>
              </a:lnSpc>
              <a:buNone/>
            </a:pPr>
            <a:r>
              <a:rPr lang="en-US" sz="660" i="1" dirty="0">
                <a:solidFill>
                  <a:srgbClr val="1D63A1"/>
                </a:solidFill>
                <a:latin typeface="Calibri" pitchFamily="34" charset="0"/>
                <a:ea typeface="Calibri" pitchFamily="34" charset="-122"/>
                <a:cs typeface="Calibri" pitchFamily="34" charset="-120"/>
              </a:rPr>
              <a:t>— cobertura nacional</a:t>
            </a:r>
            <a:endParaRPr lang="en-US" sz="760" dirty="0"/>
          </a:p>
        </p:txBody>
      </p:sp>
      <p:sp>
        <p:nvSpPr>
          <p:cNvPr id="50" name="Shape 43"/>
          <p:cNvSpPr/>
          <p:nvPr/>
        </p:nvSpPr>
        <p:spPr>
          <a:xfrm>
            <a:off x="384048" y="2487168"/>
            <a:ext cx="4892040" cy="3547872"/>
          </a:xfrm>
          <a:prstGeom prst="roundRect">
            <a:avLst>
              <a:gd name="adj" fmla="val 206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51" name="Shape 44"/>
          <p:cNvSpPr/>
          <p:nvPr/>
        </p:nvSpPr>
        <p:spPr>
          <a:xfrm>
            <a:off x="384048" y="2487168"/>
            <a:ext cx="4892040" cy="45720"/>
          </a:xfrm>
          <a:prstGeom prst="rect">
            <a:avLst/>
          </a:prstGeom>
          <a:solidFill>
            <a:srgbClr val="1E8449"/>
          </a:solidFill>
          <a:ln/>
        </p:spPr>
      </p:sp>
      <p:sp>
        <p:nvSpPr>
          <p:cNvPr id="52" name="Shape 45"/>
          <p:cNvSpPr/>
          <p:nvPr/>
        </p:nvSpPr>
        <p:spPr>
          <a:xfrm>
            <a:off x="384048" y="2487168"/>
            <a:ext cx="4892040" cy="3547872"/>
          </a:xfrm>
          <a:prstGeom prst="roundRect">
            <a:avLst>
              <a:gd name="adj" fmla="val 1804"/>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53" name="Shape 46"/>
          <p:cNvSpPr/>
          <p:nvPr/>
        </p:nvSpPr>
        <p:spPr>
          <a:xfrm>
            <a:off x="548640" y="2615184"/>
            <a:ext cx="201168" cy="201168"/>
          </a:xfrm>
          <a:prstGeom prst="ellipse">
            <a:avLst/>
          </a:prstGeom>
          <a:solidFill>
            <a:srgbClr val="E7F5EC"/>
          </a:solidFill>
          <a:ln/>
        </p:spPr>
      </p:sp>
      <p:pic>
        <p:nvPicPr>
          <p:cNvPr id="54" name="Image 5" descr="/tmp/claude-0/-home-user-riesgo/579fb8c8-70e5-51d5-80ec-6ed51cc2e8df/scratchpad/pptx-build/icons/thumbsup_1E8449.png">    </p:cNvPr>
          <p:cNvPicPr>
            <a:picLocks noChangeAspect="1"/>
          </p:cNvPicPr>
          <p:nvPr/>
        </p:nvPicPr>
        <p:blipFill>
          <a:blip r:embed="rId6"/>
          <a:stretch>
            <a:fillRect/>
          </a:stretch>
        </p:blipFill>
        <p:spPr>
          <a:xfrm>
            <a:off x="588874" y="2655418"/>
            <a:ext cx="120701" cy="120701"/>
          </a:xfrm>
          <a:prstGeom prst="rect">
            <a:avLst/>
          </a:prstGeom>
        </p:spPr>
      </p:pic>
      <p:sp>
        <p:nvSpPr>
          <p:cNvPr id="55" name="Text 47"/>
          <p:cNvSpPr txBox="1"/>
          <p:nvPr/>
        </p:nvSpPr>
        <p:spPr>
          <a:xfrm>
            <a:off x="859536" y="2587752"/>
            <a:ext cx="4251960" cy="256032"/>
          </a:xfrm>
          <a:prstGeom prst="rect">
            <a:avLst/>
          </a:prstGeom>
          <a:noFill/>
          <a:ln/>
        </p:spPr>
        <p:txBody>
          <a:bodyPr wrap="square" lIns="0" tIns="0" rIns="0" bIns="0" rtlCol="0" anchor="ctr"/>
          <a:lstStyle/>
          <a:p>
            <a:pPr algn="l" indent="0" marL="0">
              <a:buNone/>
            </a:pPr>
            <a:r>
              <a:rPr lang="en-US" sz="1150" b="1" dirty="0">
                <a:solidFill>
                  <a:srgbClr val="1E8449"/>
                </a:solidFill>
                <a:latin typeface="Calibri" pitchFamily="34" charset="0"/>
                <a:ea typeface="Calibri" pitchFamily="34" charset="-122"/>
                <a:cs typeface="Calibri" pitchFamily="34" charset="-120"/>
              </a:rPr>
              <a:t>Fortalezas del Servicio</a:t>
            </a:r>
            <a:endParaRPr lang="en-US" sz="1150" dirty="0"/>
          </a:p>
        </p:txBody>
      </p:sp>
      <p:pic>
        <p:nvPicPr>
          <p:cNvPr id="56" name="Image 6" descr="/tmp/claude-0/-home-user-riesgo/579fb8c8-70e5-51d5-80ec-6ed51cc2e8df/scratchpad/pptx-build/icons/checkcircle_1E8449.png">    </p:cNvPr>
          <p:cNvPicPr>
            <a:picLocks noChangeAspect="1"/>
          </p:cNvPicPr>
          <p:nvPr/>
        </p:nvPicPr>
        <p:blipFill>
          <a:blip r:embed="rId7"/>
          <a:stretch>
            <a:fillRect/>
          </a:stretch>
        </p:blipFill>
        <p:spPr>
          <a:xfrm>
            <a:off x="603504" y="2971800"/>
            <a:ext cx="182880" cy="182880"/>
          </a:xfrm>
          <a:prstGeom prst="rect">
            <a:avLst/>
          </a:prstGeom>
        </p:spPr>
      </p:pic>
      <p:sp>
        <p:nvSpPr>
          <p:cNvPr id="57" name="Text 48"/>
          <p:cNvSpPr txBox="1"/>
          <p:nvPr/>
        </p:nvSpPr>
        <p:spPr>
          <a:xfrm>
            <a:off x="914400" y="2935224"/>
            <a:ext cx="4142232" cy="274320"/>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Soporte generalmente oportuno.</a:t>
            </a:r>
            <a:endParaRPr lang="en-US" sz="1150" dirty="0"/>
          </a:p>
        </p:txBody>
      </p:sp>
      <p:pic>
        <p:nvPicPr>
          <p:cNvPr id="58" name="Image 7" descr="/tmp/claude-0/-home-user-riesgo/579fb8c8-70e5-51d5-80ec-6ed51cc2e8df/scratchpad/pptx-build/icons/checkcircle_1E8449.png">    </p:cNvPr>
          <p:cNvPicPr>
            <a:picLocks noChangeAspect="1"/>
          </p:cNvPicPr>
          <p:nvPr/>
        </p:nvPicPr>
        <p:blipFill>
          <a:blip r:embed="rId8"/>
          <a:stretch>
            <a:fillRect/>
          </a:stretch>
        </p:blipFill>
        <p:spPr>
          <a:xfrm>
            <a:off x="603504" y="3319272"/>
            <a:ext cx="182880" cy="182880"/>
          </a:xfrm>
          <a:prstGeom prst="rect">
            <a:avLst/>
          </a:prstGeom>
        </p:spPr>
      </p:pic>
      <p:sp>
        <p:nvSpPr>
          <p:cNvPr id="59" name="Text 49"/>
          <p:cNvSpPr txBox="1"/>
          <p:nvPr/>
        </p:nvSpPr>
        <p:spPr>
          <a:xfrm>
            <a:off x="914400" y="3282696"/>
            <a:ext cx="4142232" cy="274320"/>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Valoración positiva del servicio.</a:t>
            </a:r>
            <a:endParaRPr lang="en-US" sz="1150" dirty="0"/>
          </a:p>
        </p:txBody>
      </p:sp>
      <p:pic>
        <p:nvPicPr>
          <p:cNvPr id="60" name="Image 8" descr="/tmp/claude-0/-home-user-riesgo/579fb8c8-70e5-51d5-80ec-6ed51cc2e8df/scratchpad/pptx-build/icons/checkcircle_1E8449.png">    </p:cNvPr>
          <p:cNvPicPr>
            <a:picLocks noChangeAspect="1"/>
          </p:cNvPicPr>
          <p:nvPr/>
        </p:nvPicPr>
        <p:blipFill>
          <a:blip r:embed="rId9"/>
          <a:stretch>
            <a:fillRect/>
          </a:stretch>
        </p:blipFill>
        <p:spPr>
          <a:xfrm>
            <a:off x="603504" y="3666744"/>
            <a:ext cx="182880" cy="182880"/>
          </a:xfrm>
          <a:prstGeom prst="rect">
            <a:avLst/>
          </a:prstGeom>
        </p:spPr>
      </p:pic>
      <p:sp>
        <p:nvSpPr>
          <p:cNvPr id="61" name="Text 50"/>
          <p:cNvSpPr txBox="1"/>
          <p:nvPr/>
        </p:nvSpPr>
        <p:spPr>
          <a:xfrm>
            <a:off x="914400" y="3630168"/>
            <a:ext cx="4142232" cy="274320"/>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Gestión de incidencias percibida como fácil o regular.</a:t>
            </a:r>
            <a:endParaRPr lang="en-US" sz="1150" dirty="0"/>
          </a:p>
        </p:txBody>
      </p:sp>
      <p:pic>
        <p:nvPicPr>
          <p:cNvPr id="62" name="Image 9" descr="/tmp/claude-0/-home-user-riesgo/579fb8c8-70e5-51d5-80ec-6ed51cc2e8df/scratchpad/pptx-build/icons/checkcircle_1E8449.png">    </p:cNvPr>
          <p:cNvPicPr>
            <a:picLocks noChangeAspect="1"/>
          </p:cNvPicPr>
          <p:nvPr/>
        </p:nvPicPr>
        <p:blipFill>
          <a:blip r:embed="rId10"/>
          <a:stretch>
            <a:fillRect/>
          </a:stretch>
        </p:blipFill>
        <p:spPr>
          <a:xfrm>
            <a:off x="603504" y="4014216"/>
            <a:ext cx="182880" cy="182880"/>
          </a:xfrm>
          <a:prstGeom prst="rect">
            <a:avLst/>
          </a:prstGeom>
        </p:spPr>
      </p:pic>
      <p:sp>
        <p:nvSpPr>
          <p:cNvPr id="63" name="Text 51"/>
          <p:cNvSpPr txBox="1"/>
          <p:nvPr/>
        </p:nvSpPr>
        <p:spPr>
          <a:xfrm>
            <a:off x="914400" y="3977640"/>
            <a:ext cx="4142232" cy="274320"/>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Buena disposición de apoyo al usuario.</a:t>
            </a:r>
            <a:endParaRPr lang="en-US" sz="1150" dirty="0"/>
          </a:p>
        </p:txBody>
      </p:sp>
      <p:pic>
        <p:nvPicPr>
          <p:cNvPr id="64" name="Image 10" descr="/tmp/claude-0/-home-user-riesgo/579fb8c8-70e5-51d5-80ec-6ed51cc2e8df/scratchpad/pptx-build/icons/checkcircle_1E8449.png">    </p:cNvPr>
          <p:cNvPicPr>
            <a:picLocks noChangeAspect="1"/>
          </p:cNvPicPr>
          <p:nvPr/>
        </p:nvPicPr>
        <p:blipFill>
          <a:blip r:embed="rId11"/>
          <a:stretch>
            <a:fillRect/>
          </a:stretch>
        </p:blipFill>
        <p:spPr>
          <a:xfrm>
            <a:off x="603504" y="4361688"/>
            <a:ext cx="182880" cy="182880"/>
          </a:xfrm>
          <a:prstGeom prst="rect">
            <a:avLst/>
          </a:prstGeom>
        </p:spPr>
      </p:pic>
      <p:sp>
        <p:nvSpPr>
          <p:cNvPr id="65" name="Text 52"/>
          <p:cNvSpPr txBox="1"/>
          <p:nvPr/>
        </p:nvSpPr>
        <p:spPr>
          <a:xfrm>
            <a:off x="914400" y="4325112"/>
            <a:ext cx="4142232" cy="420624"/>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Nivel de satisfacción favorable en la mayoría de agencias.</a:t>
            </a:r>
            <a:endParaRPr lang="en-US" sz="1150" dirty="0"/>
          </a:p>
        </p:txBody>
      </p:sp>
      <p:sp>
        <p:nvSpPr>
          <p:cNvPr id="66" name="Shape 53"/>
          <p:cNvSpPr/>
          <p:nvPr/>
        </p:nvSpPr>
        <p:spPr>
          <a:xfrm>
            <a:off x="5458968" y="2487168"/>
            <a:ext cx="6348679" cy="1632021"/>
          </a:xfrm>
          <a:prstGeom prst="roundRect">
            <a:avLst>
              <a:gd name="adj" fmla="val 448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67" name="Shape 54"/>
          <p:cNvSpPr/>
          <p:nvPr/>
        </p:nvSpPr>
        <p:spPr>
          <a:xfrm>
            <a:off x="5458968" y="2487168"/>
            <a:ext cx="6348679" cy="45720"/>
          </a:xfrm>
          <a:prstGeom prst="rect">
            <a:avLst/>
          </a:prstGeom>
          <a:solidFill>
            <a:srgbClr val="E0392B"/>
          </a:solidFill>
          <a:ln/>
        </p:spPr>
      </p:sp>
      <p:sp>
        <p:nvSpPr>
          <p:cNvPr id="68" name="Shape 55"/>
          <p:cNvSpPr/>
          <p:nvPr/>
        </p:nvSpPr>
        <p:spPr>
          <a:xfrm>
            <a:off x="5458968" y="2487168"/>
            <a:ext cx="6348679" cy="1632021"/>
          </a:xfrm>
          <a:prstGeom prst="roundRect">
            <a:avLst>
              <a:gd name="adj" fmla="val 392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69" name="Shape 56"/>
          <p:cNvSpPr/>
          <p:nvPr/>
        </p:nvSpPr>
        <p:spPr>
          <a:xfrm>
            <a:off x="5623560" y="2615184"/>
            <a:ext cx="201168" cy="201168"/>
          </a:xfrm>
          <a:prstGeom prst="ellipse">
            <a:avLst/>
          </a:prstGeom>
          <a:solidFill>
            <a:srgbClr val="FBEAE8"/>
          </a:solidFill>
          <a:ln/>
        </p:spPr>
      </p:sp>
      <p:pic>
        <p:nvPicPr>
          <p:cNvPr id="70" name="Image 11" descr="/tmp/claude-0/-home-user-riesgo/579fb8c8-70e5-51d5-80ec-6ed51cc2e8df/scratchpad/pptx-build/icons/alerttriangle_E0392B.png">    </p:cNvPr>
          <p:cNvPicPr>
            <a:picLocks noChangeAspect="1"/>
          </p:cNvPicPr>
          <p:nvPr/>
        </p:nvPicPr>
        <p:blipFill>
          <a:blip r:embed="rId12"/>
          <a:stretch>
            <a:fillRect/>
          </a:stretch>
        </p:blipFill>
        <p:spPr>
          <a:xfrm>
            <a:off x="5663794" y="2655418"/>
            <a:ext cx="120701" cy="120701"/>
          </a:xfrm>
          <a:prstGeom prst="rect">
            <a:avLst/>
          </a:prstGeom>
        </p:spPr>
      </p:pic>
      <p:sp>
        <p:nvSpPr>
          <p:cNvPr id="71" name="Text 57"/>
          <p:cNvSpPr txBox="1"/>
          <p:nvPr/>
        </p:nvSpPr>
        <p:spPr>
          <a:xfrm>
            <a:off x="5934456" y="2587752"/>
            <a:ext cx="5708599" cy="256032"/>
          </a:xfrm>
          <a:prstGeom prst="rect">
            <a:avLst/>
          </a:prstGeom>
          <a:noFill/>
          <a:ln/>
        </p:spPr>
        <p:txBody>
          <a:bodyPr wrap="square" lIns="0" tIns="0" rIns="0" bIns="0" rtlCol="0" anchor="ctr"/>
          <a:lstStyle/>
          <a:p>
            <a:pPr algn="l" indent="0" marL="0">
              <a:buNone/>
            </a:pPr>
            <a:r>
              <a:rPr lang="en-US" sz="1150" b="1" dirty="0">
                <a:solidFill>
                  <a:srgbClr val="E0392B"/>
                </a:solidFill>
                <a:latin typeface="Calibri" pitchFamily="34" charset="0"/>
                <a:ea typeface="Calibri" pitchFamily="34" charset="-122"/>
                <a:cs typeface="Calibri" pitchFamily="34" charset="-120"/>
              </a:rPr>
              <a:t>Principales Oportunidades de Mejora</a:t>
            </a:r>
            <a:endParaRPr lang="en-US" sz="1150" dirty="0"/>
          </a:p>
        </p:txBody>
      </p:sp>
      <p:sp>
        <p:nvSpPr>
          <p:cNvPr id="72" name="Shape 58"/>
          <p:cNvSpPr/>
          <p:nvPr/>
        </p:nvSpPr>
        <p:spPr>
          <a:xfrm>
            <a:off x="5678424" y="2944368"/>
            <a:ext cx="2890876" cy="244556"/>
          </a:xfrm>
          <a:prstGeom prst="roundRect">
            <a:avLst>
              <a:gd name="adj" fmla="val 22434"/>
            </a:avLst>
          </a:prstGeom>
          <a:solidFill>
            <a:srgbClr val="FBEAE8"/>
          </a:solidFill>
          <a:ln/>
        </p:spPr>
      </p:sp>
      <p:pic>
        <p:nvPicPr>
          <p:cNvPr id="73" name="Image 12" descr="/tmp/claude-0/-home-user-riesgo/579fb8c8-70e5-51d5-80ec-6ed51cc2e8df/scratchpad/pptx-build/icons/alerttriangle_E0392B.png">    </p:cNvPr>
          <p:cNvPicPr>
            <a:picLocks noChangeAspect="1"/>
          </p:cNvPicPr>
          <p:nvPr/>
        </p:nvPicPr>
        <p:blipFill>
          <a:blip r:embed="rId13"/>
          <a:stretch>
            <a:fillRect/>
          </a:stretch>
        </p:blipFill>
        <p:spPr>
          <a:xfrm>
            <a:off x="5788152" y="2975206"/>
            <a:ext cx="182880" cy="182880"/>
          </a:xfrm>
          <a:prstGeom prst="rect">
            <a:avLst/>
          </a:prstGeom>
        </p:spPr>
      </p:pic>
      <p:sp>
        <p:nvSpPr>
          <p:cNvPr id="74" name="Text 59"/>
          <p:cNvSpPr txBox="1"/>
          <p:nvPr/>
        </p:nvSpPr>
        <p:spPr>
          <a:xfrm>
            <a:off x="6053328" y="2944368"/>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E0392B"/>
                </a:solidFill>
                <a:latin typeface="Calibri" pitchFamily="34" charset="0"/>
                <a:ea typeface="Calibri" pitchFamily="34" charset="-122"/>
                <a:cs typeface="Calibri" pitchFamily="34" charset="-120"/>
              </a:rPr>
              <a:t>Caídas e interrupciones de la plataforma</a:t>
            </a:r>
            <a:endParaRPr lang="en-US" sz="930" dirty="0"/>
          </a:p>
        </p:txBody>
      </p:sp>
      <p:sp>
        <p:nvSpPr>
          <p:cNvPr id="75" name="Shape 60"/>
          <p:cNvSpPr/>
          <p:nvPr/>
        </p:nvSpPr>
        <p:spPr>
          <a:xfrm>
            <a:off x="8697316" y="2944368"/>
            <a:ext cx="2890876" cy="244556"/>
          </a:xfrm>
          <a:prstGeom prst="roundRect">
            <a:avLst>
              <a:gd name="adj" fmla="val 22434"/>
            </a:avLst>
          </a:prstGeom>
          <a:solidFill>
            <a:srgbClr val="FBEAE8"/>
          </a:solidFill>
          <a:ln/>
        </p:spPr>
      </p:sp>
      <p:pic>
        <p:nvPicPr>
          <p:cNvPr id="76" name="Image 13" descr="/tmp/claude-0/-home-user-riesgo/579fb8c8-70e5-51d5-80ec-6ed51cc2e8df/scratchpad/pptx-build/icons/copy_E0392B.png">    </p:cNvPr>
          <p:cNvPicPr>
            <a:picLocks noChangeAspect="1"/>
          </p:cNvPicPr>
          <p:nvPr/>
        </p:nvPicPr>
        <p:blipFill>
          <a:blip r:embed="rId14"/>
          <a:stretch>
            <a:fillRect/>
          </a:stretch>
        </p:blipFill>
        <p:spPr>
          <a:xfrm>
            <a:off x="8807044" y="2975206"/>
            <a:ext cx="182880" cy="182880"/>
          </a:xfrm>
          <a:prstGeom prst="rect">
            <a:avLst/>
          </a:prstGeom>
        </p:spPr>
      </p:pic>
      <p:sp>
        <p:nvSpPr>
          <p:cNvPr id="77" name="Text 61"/>
          <p:cNvSpPr txBox="1"/>
          <p:nvPr/>
        </p:nvSpPr>
        <p:spPr>
          <a:xfrm>
            <a:off x="9072220" y="2944368"/>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E0392B"/>
                </a:solidFill>
                <a:latin typeface="Calibri" pitchFamily="34" charset="0"/>
                <a:ea typeface="Calibri" pitchFamily="34" charset="-122"/>
                <a:cs typeface="Calibri" pitchFamily="34" charset="-120"/>
              </a:rPr>
              <a:t>Duplicidad de pagos</a:t>
            </a:r>
            <a:endParaRPr lang="en-US" sz="930" dirty="0"/>
          </a:p>
        </p:txBody>
      </p:sp>
      <p:sp>
        <p:nvSpPr>
          <p:cNvPr id="78" name="Shape 62"/>
          <p:cNvSpPr/>
          <p:nvPr/>
        </p:nvSpPr>
        <p:spPr>
          <a:xfrm>
            <a:off x="5678424" y="3230072"/>
            <a:ext cx="2890876" cy="244556"/>
          </a:xfrm>
          <a:prstGeom prst="roundRect">
            <a:avLst>
              <a:gd name="adj" fmla="val 22434"/>
            </a:avLst>
          </a:prstGeom>
          <a:solidFill>
            <a:srgbClr val="FBEAE8"/>
          </a:solidFill>
          <a:ln/>
        </p:spPr>
      </p:sp>
      <p:pic>
        <p:nvPicPr>
          <p:cNvPr id="79" name="Image 14" descr="/tmp/claude-0/-home-user-riesgo/579fb8c8-70e5-51d5-80ec-6ed51cc2e8df/scratchpad/pptx-build/icons/refreshcw_E0392B.png">    </p:cNvPr>
          <p:cNvPicPr>
            <a:picLocks noChangeAspect="1"/>
          </p:cNvPicPr>
          <p:nvPr/>
        </p:nvPicPr>
        <p:blipFill>
          <a:blip r:embed="rId15"/>
          <a:stretch>
            <a:fillRect/>
          </a:stretch>
        </p:blipFill>
        <p:spPr>
          <a:xfrm>
            <a:off x="5788152" y="3260910"/>
            <a:ext cx="182880" cy="182880"/>
          </a:xfrm>
          <a:prstGeom prst="rect">
            <a:avLst/>
          </a:prstGeom>
        </p:spPr>
      </p:pic>
      <p:sp>
        <p:nvSpPr>
          <p:cNvPr id="80" name="Text 63"/>
          <p:cNvSpPr txBox="1"/>
          <p:nvPr/>
        </p:nvSpPr>
        <p:spPr>
          <a:xfrm>
            <a:off x="6053328" y="3230072"/>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E0392B"/>
                </a:solidFill>
                <a:latin typeface="Calibri" pitchFamily="34" charset="0"/>
                <a:ea typeface="Calibri" pitchFamily="34" charset="-122"/>
                <a:cs typeface="Calibri" pitchFamily="34" charset="-120"/>
              </a:rPr>
              <a:t>Reversas de transacciones</a:t>
            </a:r>
            <a:endParaRPr lang="en-US" sz="930" dirty="0"/>
          </a:p>
        </p:txBody>
      </p:sp>
      <p:sp>
        <p:nvSpPr>
          <p:cNvPr id="81" name="Shape 64"/>
          <p:cNvSpPr/>
          <p:nvPr/>
        </p:nvSpPr>
        <p:spPr>
          <a:xfrm>
            <a:off x="8697316" y="3230072"/>
            <a:ext cx="2890876" cy="244556"/>
          </a:xfrm>
          <a:prstGeom prst="roundRect">
            <a:avLst>
              <a:gd name="adj" fmla="val 22434"/>
            </a:avLst>
          </a:prstGeom>
          <a:solidFill>
            <a:srgbClr val="FBEAE8"/>
          </a:solidFill>
          <a:ln/>
        </p:spPr>
      </p:sp>
      <p:pic>
        <p:nvPicPr>
          <p:cNvPr id="82" name="Image 15" descr="/tmp/claude-0/-home-user-riesgo/579fb8c8-70e5-51d5-80ec-6ed51cc2e8df/scratchpad/pptx-build/icons/clock_A6650F.png">    </p:cNvPr>
          <p:cNvPicPr>
            <a:picLocks noChangeAspect="1"/>
          </p:cNvPicPr>
          <p:nvPr/>
        </p:nvPicPr>
        <p:blipFill>
          <a:blip r:embed="rId16"/>
          <a:stretch>
            <a:fillRect/>
          </a:stretch>
        </p:blipFill>
        <p:spPr>
          <a:xfrm>
            <a:off x="8807044" y="3260910"/>
            <a:ext cx="182880" cy="182880"/>
          </a:xfrm>
          <a:prstGeom prst="rect">
            <a:avLst/>
          </a:prstGeom>
        </p:spPr>
      </p:pic>
      <p:sp>
        <p:nvSpPr>
          <p:cNvPr id="83" name="Text 65"/>
          <p:cNvSpPr txBox="1"/>
          <p:nvPr/>
        </p:nvSpPr>
        <p:spPr>
          <a:xfrm>
            <a:off x="9072220" y="3230072"/>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E0392B"/>
                </a:solidFill>
                <a:latin typeface="Calibri" pitchFamily="34" charset="0"/>
                <a:ea typeface="Calibri" pitchFamily="34" charset="-122"/>
                <a:cs typeface="Calibri" pitchFamily="34" charset="-120"/>
              </a:rPr>
              <a:t>Lentitud en la resolución de incidentes</a:t>
            </a:r>
            <a:endParaRPr lang="en-US" sz="930" dirty="0"/>
          </a:p>
        </p:txBody>
      </p:sp>
      <p:sp>
        <p:nvSpPr>
          <p:cNvPr id="84" name="Shape 66"/>
          <p:cNvSpPr/>
          <p:nvPr/>
        </p:nvSpPr>
        <p:spPr>
          <a:xfrm>
            <a:off x="5678424" y="3515777"/>
            <a:ext cx="2890876" cy="244556"/>
          </a:xfrm>
          <a:prstGeom prst="roundRect">
            <a:avLst>
              <a:gd name="adj" fmla="val 22434"/>
            </a:avLst>
          </a:prstGeom>
          <a:solidFill>
            <a:srgbClr val="FCF1E0"/>
          </a:solidFill>
          <a:ln/>
        </p:spPr>
      </p:sp>
      <p:pic>
        <p:nvPicPr>
          <p:cNvPr id="85" name="Image 16" descr="/tmp/claude-0/-home-user-riesgo/579fb8c8-70e5-51d5-80ec-6ed51cc2e8df/scratchpad/pptx-build/icons/headphones_A6650F.png">    </p:cNvPr>
          <p:cNvPicPr>
            <a:picLocks noChangeAspect="1"/>
          </p:cNvPicPr>
          <p:nvPr/>
        </p:nvPicPr>
        <p:blipFill>
          <a:blip r:embed="rId17"/>
          <a:stretch>
            <a:fillRect/>
          </a:stretch>
        </p:blipFill>
        <p:spPr>
          <a:xfrm>
            <a:off x="5788152" y="3546615"/>
            <a:ext cx="182880" cy="182880"/>
          </a:xfrm>
          <a:prstGeom prst="rect">
            <a:avLst/>
          </a:prstGeom>
        </p:spPr>
      </p:pic>
      <p:sp>
        <p:nvSpPr>
          <p:cNvPr id="86" name="Text 67"/>
          <p:cNvSpPr txBox="1"/>
          <p:nvPr/>
        </p:nvSpPr>
        <p:spPr>
          <a:xfrm>
            <a:off x="6053328" y="3515777"/>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A6650F"/>
                </a:solidFill>
                <a:latin typeface="Calibri" pitchFamily="34" charset="0"/>
                <a:ea typeface="Calibri" pitchFamily="34" charset="-122"/>
                <a:cs typeface="Calibri" pitchFamily="34" charset="-120"/>
              </a:rPr>
              <a:t>Problemas para contactar soporte</a:t>
            </a:r>
            <a:endParaRPr lang="en-US" sz="930" dirty="0"/>
          </a:p>
        </p:txBody>
      </p:sp>
      <p:sp>
        <p:nvSpPr>
          <p:cNvPr id="87" name="Shape 68"/>
          <p:cNvSpPr/>
          <p:nvPr/>
        </p:nvSpPr>
        <p:spPr>
          <a:xfrm>
            <a:off x="8697316" y="3515777"/>
            <a:ext cx="2890876" cy="244556"/>
          </a:xfrm>
          <a:prstGeom prst="roundRect">
            <a:avLst>
              <a:gd name="adj" fmla="val 22434"/>
            </a:avLst>
          </a:prstGeom>
          <a:solidFill>
            <a:srgbClr val="FCF1E0"/>
          </a:solidFill>
          <a:ln/>
        </p:spPr>
      </p:sp>
      <p:pic>
        <p:nvPicPr>
          <p:cNvPr id="88" name="Image 17" descr="/tmp/claude-0/-home-user-riesgo/579fb8c8-70e5-51d5-80ec-6ed51cc2e8df/scratchpad/pptx-build/icons/creditcard_E0392B.png">    </p:cNvPr>
          <p:cNvPicPr>
            <a:picLocks noChangeAspect="1"/>
          </p:cNvPicPr>
          <p:nvPr/>
        </p:nvPicPr>
        <p:blipFill>
          <a:blip r:embed="rId18"/>
          <a:stretch>
            <a:fillRect/>
          </a:stretch>
        </p:blipFill>
        <p:spPr>
          <a:xfrm>
            <a:off x="8807044" y="3546615"/>
            <a:ext cx="182880" cy="182880"/>
          </a:xfrm>
          <a:prstGeom prst="rect">
            <a:avLst/>
          </a:prstGeom>
        </p:spPr>
      </p:pic>
      <p:sp>
        <p:nvSpPr>
          <p:cNvPr id="89" name="Text 69"/>
          <p:cNvSpPr txBox="1"/>
          <p:nvPr/>
        </p:nvSpPr>
        <p:spPr>
          <a:xfrm>
            <a:off x="9072220" y="3515777"/>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A6650F"/>
                </a:solidFill>
                <a:latin typeface="Calibri" pitchFamily="34" charset="0"/>
                <a:ea typeface="Calibri" pitchFamily="34" charset="-122"/>
                <a:cs typeface="Calibri" pitchFamily="34" charset="-120"/>
              </a:rPr>
              <a:t>Reposición tardía de tarjetas</a:t>
            </a:r>
            <a:endParaRPr lang="en-US" sz="930" dirty="0"/>
          </a:p>
        </p:txBody>
      </p:sp>
      <p:sp>
        <p:nvSpPr>
          <p:cNvPr id="90" name="Shape 70"/>
          <p:cNvSpPr/>
          <p:nvPr/>
        </p:nvSpPr>
        <p:spPr>
          <a:xfrm>
            <a:off x="5678424" y="3801481"/>
            <a:ext cx="2890876" cy="244556"/>
          </a:xfrm>
          <a:prstGeom prst="roundRect">
            <a:avLst>
              <a:gd name="adj" fmla="val 22434"/>
            </a:avLst>
          </a:prstGeom>
          <a:solidFill>
            <a:srgbClr val="FCF1E0"/>
          </a:solidFill>
          <a:ln/>
        </p:spPr>
      </p:sp>
      <p:pic>
        <p:nvPicPr>
          <p:cNvPr id="91" name="Image 18" descr="/tmp/claude-0/-home-user-riesgo/579fb8c8-70e5-51d5-80ec-6ed51cc2e8df/scratchpad/pptx-build/icons/shield_A6650F.png">    </p:cNvPr>
          <p:cNvPicPr>
            <a:picLocks noChangeAspect="1"/>
          </p:cNvPicPr>
          <p:nvPr/>
        </p:nvPicPr>
        <p:blipFill>
          <a:blip r:embed="rId19"/>
          <a:stretch>
            <a:fillRect/>
          </a:stretch>
        </p:blipFill>
        <p:spPr>
          <a:xfrm>
            <a:off x="5788152" y="3832319"/>
            <a:ext cx="182880" cy="182880"/>
          </a:xfrm>
          <a:prstGeom prst="rect">
            <a:avLst/>
          </a:prstGeom>
        </p:spPr>
      </p:pic>
      <p:sp>
        <p:nvSpPr>
          <p:cNvPr id="92" name="Text 71"/>
          <p:cNvSpPr txBox="1"/>
          <p:nvPr/>
        </p:nvSpPr>
        <p:spPr>
          <a:xfrm>
            <a:off x="6053328" y="3801481"/>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A6650F"/>
                </a:solidFill>
                <a:latin typeface="Calibri" pitchFamily="34" charset="0"/>
                <a:ea typeface="Calibri" pitchFamily="34" charset="-122"/>
                <a:cs typeface="Calibri" pitchFamily="34" charset="-120"/>
              </a:rPr>
              <a:t>Gestión de fraude y compras fraudulentas</a:t>
            </a:r>
            <a:endParaRPr lang="en-US" sz="930" dirty="0"/>
          </a:p>
        </p:txBody>
      </p:sp>
      <p:sp>
        <p:nvSpPr>
          <p:cNvPr id="93" name="Shape 72"/>
          <p:cNvSpPr/>
          <p:nvPr/>
        </p:nvSpPr>
        <p:spPr>
          <a:xfrm>
            <a:off x="8697316" y="3801481"/>
            <a:ext cx="2890876" cy="244556"/>
          </a:xfrm>
          <a:prstGeom prst="roundRect">
            <a:avLst>
              <a:gd name="adj" fmla="val 22434"/>
            </a:avLst>
          </a:prstGeom>
          <a:solidFill>
            <a:srgbClr val="FCF1E0"/>
          </a:solidFill>
          <a:ln/>
        </p:spPr>
      </p:sp>
      <p:pic>
        <p:nvPicPr>
          <p:cNvPr id="94" name="Image 19" descr="/tmp/claude-0/-home-user-riesgo/579fb8c8-70e5-51d5-80ec-6ed51cc2e8df/scratchpad/pptx-build/icons/tag_A6650F.png">    </p:cNvPr>
          <p:cNvPicPr>
            <a:picLocks noChangeAspect="1"/>
          </p:cNvPicPr>
          <p:nvPr/>
        </p:nvPicPr>
        <p:blipFill>
          <a:blip r:embed="rId20"/>
          <a:stretch>
            <a:fillRect/>
          </a:stretch>
        </p:blipFill>
        <p:spPr>
          <a:xfrm>
            <a:off x="8807044" y="3832319"/>
            <a:ext cx="182880" cy="182880"/>
          </a:xfrm>
          <a:prstGeom prst="rect">
            <a:avLst/>
          </a:prstGeom>
        </p:spPr>
      </p:pic>
      <p:sp>
        <p:nvSpPr>
          <p:cNvPr id="95" name="Text 73"/>
          <p:cNvSpPr txBox="1"/>
          <p:nvPr/>
        </p:nvSpPr>
        <p:spPr>
          <a:xfrm>
            <a:off x="9072220" y="3801481"/>
            <a:ext cx="2424532" cy="244556"/>
          </a:xfrm>
          <a:prstGeom prst="rect">
            <a:avLst/>
          </a:prstGeom>
          <a:noFill/>
          <a:ln/>
        </p:spPr>
        <p:txBody>
          <a:bodyPr wrap="square" lIns="0" tIns="0" rIns="0" bIns="0" rtlCol="0" anchor="ctr"/>
          <a:lstStyle/>
          <a:p>
            <a:pPr algn="l" indent="0" marL="0">
              <a:lnSpc>
                <a:spcPct val="100000"/>
              </a:lnSpc>
              <a:buNone/>
            </a:pPr>
            <a:r>
              <a:rPr lang="en-US" sz="930" b="1" dirty="0">
                <a:solidFill>
                  <a:srgbClr val="A6650F"/>
                </a:solidFill>
                <a:latin typeface="Calibri" pitchFamily="34" charset="0"/>
                <a:ea typeface="Calibri" pitchFamily="34" charset="-122"/>
                <a:cs typeface="Calibri" pitchFamily="34" charset="-120"/>
              </a:rPr>
              <a:t>Promociones y compras flotantes</a:t>
            </a:r>
            <a:endParaRPr lang="en-US" sz="930" dirty="0"/>
          </a:p>
        </p:txBody>
      </p:sp>
      <p:sp>
        <p:nvSpPr>
          <p:cNvPr id="96" name="Shape 74"/>
          <p:cNvSpPr/>
          <p:nvPr/>
        </p:nvSpPr>
        <p:spPr>
          <a:xfrm>
            <a:off x="5458968" y="4247205"/>
            <a:ext cx="6348679" cy="1787835"/>
          </a:xfrm>
          <a:prstGeom prst="roundRect">
            <a:avLst>
              <a:gd name="adj" fmla="val 4092"/>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97" name="Shape 75"/>
          <p:cNvSpPr/>
          <p:nvPr/>
        </p:nvSpPr>
        <p:spPr>
          <a:xfrm>
            <a:off x="5458968" y="4247205"/>
            <a:ext cx="6348679" cy="45720"/>
          </a:xfrm>
          <a:prstGeom prst="rect">
            <a:avLst/>
          </a:prstGeom>
          <a:solidFill>
            <a:srgbClr val="133B6C"/>
          </a:solidFill>
          <a:ln/>
        </p:spPr>
      </p:sp>
      <p:sp>
        <p:nvSpPr>
          <p:cNvPr id="98" name="Shape 76"/>
          <p:cNvSpPr/>
          <p:nvPr/>
        </p:nvSpPr>
        <p:spPr>
          <a:xfrm>
            <a:off x="5458968" y="4247205"/>
            <a:ext cx="6348679" cy="1787835"/>
          </a:xfrm>
          <a:prstGeom prst="roundRect">
            <a:avLst>
              <a:gd name="adj" fmla="val 3580"/>
            </a:avLst>
          </a:prstGeom>
          <a:solidFill>
            <a:srgbClr val="FFFFFF"/>
          </a:solidFill>
          <a:ln w="9525">
            <a:solidFill>
              <a:srgbClr val="E7EAF0"/>
            </a:solidFill>
            <a:prstDash val="solid"/>
          </a:ln>
          <a:effectLst>
            <a:outerShdw sx="100000" sy="100000" kx="0" ky="0" algn="bl" rotWithShape="0" blurRad="76200" dist="19050" dir="5400000">
              <a:srgbClr val="0F2F4E">
                <a:alpha val="10000"/>
              </a:srgbClr>
            </a:outerShdw>
          </a:effectLst>
        </p:spPr>
      </p:sp>
      <p:sp>
        <p:nvSpPr>
          <p:cNvPr id="99" name="Shape 77"/>
          <p:cNvSpPr/>
          <p:nvPr/>
        </p:nvSpPr>
        <p:spPr>
          <a:xfrm>
            <a:off x="5623560" y="4375221"/>
            <a:ext cx="201168" cy="201168"/>
          </a:xfrm>
          <a:prstGeom prst="ellipse">
            <a:avLst/>
          </a:prstGeom>
          <a:solidFill>
            <a:srgbClr val="E8F1FA"/>
          </a:solidFill>
          <a:ln/>
        </p:spPr>
      </p:sp>
      <p:pic>
        <p:nvPicPr>
          <p:cNvPr id="100" name="Image 20" descr="/tmp/claude-0/-home-user-riesgo/579fb8c8-70e5-51d5-80ec-6ed51cc2e8df/scratchpad/pptx-build/icons/flag_133B6C.png">    </p:cNvPr>
          <p:cNvPicPr>
            <a:picLocks noChangeAspect="1"/>
          </p:cNvPicPr>
          <p:nvPr/>
        </p:nvPicPr>
        <p:blipFill>
          <a:blip r:embed="rId21"/>
          <a:stretch>
            <a:fillRect/>
          </a:stretch>
        </p:blipFill>
        <p:spPr>
          <a:xfrm>
            <a:off x="5663794" y="4415455"/>
            <a:ext cx="120701" cy="120701"/>
          </a:xfrm>
          <a:prstGeom prst="rect">
            <a:avLst/>
          </a:prstGeom>
        </p:spPr>
      </p:pic>
      <p:sp>
        <p:nvSpPr>
          <p:cNvPr id="101" name="Text 78"/>
          <p:cNvSpPr txBox="1"/>
          <p:nvPr/>
        </p:nvSpPr>
        <p:spPr>
          <a:xfrm>
            <a:off x="5934456" y="4347789"/>
            <a:ext cx="5708599" cy="256032"/>
          </a:xfrm>
          <a:prstGeom prst="rect">
            <a:avLst/>
          </a:prstGeom>
          <a:noFill/>
          <a:ln/>
        </p:spPr>
        <p:txBody>
          <a:bodyPr wrap="square" lIns="0" tIns="0" rIns="0" bIns="0" rtlCol="0" anchor="ctr"/>
          <a:lstStyle/>
          <a:p>
            <a:pPr algn="l" indent="0" marL="0">
              <a:buNone/>
            </a:pPr>
            <a:r>
              <a:rPr lang="en-US" sz="1150" b="1" dirty="0">
                <a:solidFill>
                  <a:srgbClr val="133B6C"/>
                </a:solidFill>
                <a:latin typeface="Calibri" pitchFamily="34" charset="0"/>
                <a:ea typeface="Calibri" pitchFamily="34" charset="-122"/>
                <a:cs typeface="Calibri" pitchFamily="34" charset="-120"/>
              </a:rPr>
              <a:t>Matriz de Prioridades — Impacto vs. Urgencia</a:t>
            </a:r>
            <a:endParaRPr lang="en-US" sz="1150" dirty="0"/>
          </a:p>
        </p:txBody>
      </p:sp>
      <p:sp>
        <p:nvSpPr>
          <p:cNvPr id="102" name="Shape 79"/>
          <p:cNvSpPr/>
          <p:nvPr/>
        </p:nvSpPr>
        <p:spPr>
          <a:xfrm>
            <a:off x="5641848" y="4686117"/>
            <a:ext cx="5982919" cy="425257"/>
          </a:xfrm>
          <a:prstGeom prst="roundRect">
            <a:avLst>
              <a:gd name="adj" fmla="val 12901"/>
            </a:avLst>
          </a:prstGeom>
          <a:solidFill>
            <a:srgbClr val="FBEAE8"/>
          </a:solidFill>
          <a:ln/>
        </p:spPr>
      </p:sp>
      <p:sp>
        <p:nvSpPr>
          <p:cNvPr id="103" name="Shape 80"/>
          <p:cNvSpPr/>
          <p:nvPr/>
        </p:nvSpPr>
        <p:spPr>
          <a:xfrm>
            <a:off x="5733288" y="4789018"/>
            <a:ext cx="914400" cy="219456"/>
          </a:xfrm>
          <a:prstGeom prst="roundRect">
            <a:avLst>
              <a:gd name="adj" fmla="val 50000"/>
            </a:avLst>
          </a:prstGeom>
          <a:solidFill>
            <a:srgbClr val="E0392B"/>
          </a:solidFill>
          <a:ln/>
        </p:spPr>
      </p:sp>
      <p:sp>
        <p:nvSpPr>
          <p:cNvPr id="104" name="Text 81"/>
          <p:cNvSpPr txBox="1"/>
          <p:nvPr/>
        </p:nvSpPr>
        <p:spPr>
          <a:xfrm>
            <a:off x="5733288" y="4789018"/>
            <a:ext cx="914400" cy="219456"/>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Calibri" pitchFamily="34" charset="0"/>
                <a:ea typeface="Calibri" pitchFamily="34" charset="-122"/>
                <a:cs typeface="Calibri" pitchFamily="34" charset="-120"/>
              </a:rPr>
              <a:t>ALTA</a:t>
            </a:r>
            <a:endParaRPr lang="en-US" sz="800" dirty="0"/>
          </a:p>
        </p:txBody>
      </p:sp>
      <p:sp>
        <p:nvSpPr>
          <p:cNvPr id="105" name="Shape 82"/>
          <p:cNvSpPr/>
          <p:nvPr/>
        </p:nvSpPr>
        <p:spPr>
          <a:xfrm>
            <a:off x="6775704" y="4722693"/>
            <a:ext cx="1136828" cy="352105"/>
          </a:xfrm>
          <a:prstGeom prst="roundRect">
            <a:avLst>
              <a:gd name="adj" fmla="val 12985"/>
            </a:avLst>
          </a:prstGeom>
          <a:solidFill>
            <a:srgbClr val="FFFFFF"/>
          </a:solidFill>
          <a:ln w="9525">
            <a:solidFill>
              <a:srgbClr val="E0392B"/>
            </a:solidFill>
            <a:prstDash val="solid"/>
          </a:ln>
        </p:spPr>
      </p:sp>
      <p:sp>
        <p:nvSpPr>
          <p:cNvPr id="106" name="Text 83"/>
          <p:cNvSpPr txBox="1"/>
          <p:nvPr/>
        </p:nvSpPr>
        <p:spPr>
          <a:xfrm>
            <a:off x="6830568" y="4722693"/>
            <a:ext cx="1027100" cy="352105"/>
          </a:xfrm>
          <a:prstGeom prst="rect">
            <a:avLst/>
          </a:prstGeom>
          <a:noFill/>
          <a:ln/>
        </p:spPr>
        <p:txBody>
          <a:bodyPr wrap="square" lIns="0" tIns="0" rIns="0" bIns="0" rtlCol="0" anchor="ctr"/>
          <a:lstStyle/>
          <a:p>
            <a:pPr algn="ctr" indent="0" marL="0">
              <a:lnSpc>
                <a:spcPct val="98000"/>
              </a:lnSpc>
              <a:buNone/>
            </a:pPr>
            <a:r>
              <a:rPr lang="en-US" sz="780" b="1" dirty="0">
                <a:solidFill>
                  <a:srgbClr val="E0392B"/>
                </a:solidFill>
                <a:latin typeface="Calibri" pitchFamily="34" charset="0"/>
                <a:ea typeface="Calibri" pitchFamily="34" charset="-122"/>
                <a:cs typeface="Calibri" pitchFamily="34" charset="-120"/>
              </a:rPr>
              <a:t>Estabilidad de la plataforma</a:t>
            </a:r>
            <a:endParaRPr lang="en-US" sz="780" dirty="0"/>
          </a:p>
        </p:txBody>
      </p:sp>
      <p:sp>
        <p:nvSpPr>
          <p:cNvPr id="107" name="Shape 84"/>
          <p:cNvSpPr/>
          <p:nvPr/>
        </p:nvSpPr>
        <p:spPr>
          <a:xfrm>
            <a:off x="7976540" y="4722693"/>
            <a:ext cx="1136828" cy="352105"/>
          </a:xfrm>
          <a:prstGeom prst="roundRect">
            <a:avLst>
              <a:gd name="adj" fmla="val 12985"/>
            </a:avLst>
          </a:prstGeom>
          <a:solidFill>
            <a:srgbClr val="FFFFFF"/>
          </a:solidFill>
          <a:ln w="9525">
            <a:solidFill>
              <a:srgbClr val="E0392B"/>
            </a:solidFill>
            <a:prstDash val="solid"/>
          </a:ln>
        </p:spPr>
      </p:sp>
      <p:sp>
        <p:nvSpPr>
          <p:cNvPr id="108" name="Text 85"/>
          <p:cNvSpPr txBox="1"/>
          <p:nvPr/>
        </p:nvSpPr>
        <p:spPr>
          <a:xfrm>
            <a:off x="8031404" y="4722693"/>
            <a:ext cx="1027100" cy="352105"/>
          </a:xfrm>
          <a:prstGeom prst="rect">
            <a:avLst/>
          </a:prstGeom>
          <a:noFill/>
          <a:ln/>
        </p:spPr>
        <p:txBody>
          <a:bodyPr wrap="square" lIns="0" tIns="0" rIns="0" bIns="0" rtlCol="0" anchor="ctr"/>
          <a:lstStyle/>
          <a:p>
            <a:pPr algn="ctr" indent="0" marL="0">
              <a:lnSpc>
                <a:spcPct val="98000"/>
              </a:lnSpc>
              <a:buNone/>
            </a:pPr>
            <a:r>
              <a:rPr lang="en-US" sz="780" b="1" dirty="0">
                <a:solidFill>
                  <a:srgbClr val="E0392B"/>
                </a:solidFill>
                <a:latin typeface="Calibri" pitchFamily="34" charset="0"/>
                <a:ea typeface="Calibri" pitchFamily="34" charset="-122"/>
                <a:cs typeface="Calibri" pitchFamily="34" charset="-120"/>
              </a:rPr>
              <a:t>Reversas de transacciones</a:t>
            </a:r>
            <a:endParaRPr lang="en-US" sz="780" dirty="0"/>
          </a:p>
        </p:txBody>
      </p:sp>
      <p:sp>
        <p:nvSpPr>
          <p:cNvPr id="109" name="Shape 86"/>
          <p:cNvSpPr/>
          <p:nvPr/>
        </p:nvSpPr>
        <p:spPr>
          <a:xfrm>
            <a:off x="9177376" y="4722693"/>
            <a:ext cx="1136828" cy="352105"/>
          </a:xfrm>
          <a:prstGeom prst="roundRect">
            <a:avLst>
              <a:gd name="adj" fmla="val 12985"/>
            </a:avLst>
          </a:prstGeom>
          <a:solidFill>
            <a:srgbClr val="FFFFFF"/>
          </a:solidFill>
          <a:ln w="9525">
            <a:solidFill>
              <a:srgbClr val="E0392B"/>
            </a:solidFill>
            <a:prstDash val="solid"/>
          </a:ln>
        </p:spPr>
      </p:sp>
      <p:sp>
        <p:nvSpPr>
          <p:cNvPr id="110" name="Text 87"/>
          <p:cNvSpPr txBox="1"/>
          <p:nvPr/>
        </p:nvSpPr>
        <p:spPr>
          <a:xfrm>
            <a:off x="9232240" y="4722693"/>
            <a:ext cx="1027100" cy="352105"/>
          </a:xfrm>
          <a:prstGeom prst="rect">
            <a:avLst/>
          </a:prstGeom>
          <a:noFill/>
          <a:ln/>
        </p:spPr>
        <p:txBody>
          <a:bodyPr wrap="square" lIns="0" tIns="0" rIns="0" bIns="0" rtlCol="0" anchor="ctr"/>
          <a:lstStyle/>
          <a:p>
            <a:pPr algn="ctr" indent="0" marL="0">
              <a:lnSpc>
                <a:spcPct val="98000"/>
              </a:lnSpc>
              <a:buNone/>
            </a:pPr>
            <a:r>
              <a:rPr lang="en-US" sz="780" b="1" dirty="0">
                <a:solidFill>
                  <a:srgbClr val="E0392B"/>
                </a:solidFill>
                <a:latin typeface="Calibri" pitchFamily="34" charset="0"/>
                <a:ea typeface="Calibri" pitchFamily="34" charset="-122"/>
                <a:cs typeface="Calibri" pitchFamily="34" charset="-120"/>
              </a:rPr>
              <a:t>Duplicidad de pagos</a:t>
            </a:r>
            <a:endParaRPr lang="en-US" sz="780" dirty="0"/>
          </a:p>
        </p:txBody>
      </p:sp>
      <p:sp>
        <p:nvSpPr>
          <p:cNvPr id="111" name="Shape 88"/>
          <p:cNvSpPr/>
          <p:nvPr/>
        </p:nvSpPr>
        <p:spPr>
          <a:xfrm>
            <a:off x="10378211" y="4722693"/>
            <a:ext cx="1136828" cy="352105"/>
          </a:xfrm>
          <a:prstGeom prst="roundRect">
            <a:avLst>
              <a:gd name="adj" fmla="val 12985"/>
            </a:avLst>
          </a:prstGeom>
          <a:solidFill>
            <a:srgbClr val="FFFFFF"/>
          </a:solidFill>
          <a:ln w="9525">
            <a:solidFill>
              <a:srgbClr val="E0392B"/>
            </a:solidFill>
            <a:prstDash val="solid"/>
          </a:ln>
        </p:spPr>
      </p:sp>
      <p:sp>
        <p:nvSpPr>
          <p:cNvPr id="112" name="Text 89"/>
          <p:cNvSpPr txBox="1"/>
          <p:nvPr/>
        </p:nvSpPr>
        <p:spPr>
          <a:xfrm>
            <a:off x="10433075" y="4722693"/>
            <a:ext cx="1027100" cy="352105"/>
          </a:xfrm>
          <a:prstGeom prst="rect">
            <a:avLst/>
          </a:prstGeom>
          <a:noFill/>
          <a:ln/>
        </p:spPr>
        <p:txBody>
          <a:bodyPr wrap="square" lIns="0" tIns="0" rIns="0" bIns="0" rtlCol="0" anchor="ctr"/>
          <a:lstStyle/>
          <a:p>
            <a:pPr algn="ctr" indent="0" marL="0">
              <a:lnSpc>
                <a:spcPct val="98000"/>
              </a:lnSpc>
              <a:buNone/>
            </a:pPr>
            <a:r>
              <a:rPr lang="en-US" sz="780" b="1" dirty="0">
                <a:solidFill>
                  <a:srgbClr val="E0392B"/>
                </a:solidFill>
                <a:latin typeface="Calibri" pitchFamily="34" charset="0"/>
                <a:ea typeface="Calibri" pitchFamily="34" charset="-122"/>
                <a:cs typeface="Calibri" pitchFamily="34" charset="-120"/>
              </a:rPr>
              <a:t>Tiempo de resolución</a:t>
            </a:r>
            <a:endParaRPr lang="en-US" sz="780" dirty="0"/>
          </a:p>
        </p:txBody>
      </p:sp>
      <p:sp>
        <p:nvSpPr>
          <p:cNvPr id="113" name="Shape 90"/>
          <p:cNvSpPr/>
          <p:nvPr/>
        </p:nvSpPr>
        <p:spPr>
          <a:xfrm>
            <a:off x="5641848" y="5147950"/>
            <a:ext cx="5982919" cy="425257"/>
          </a:xfrm>
          <a:prstGeom prst="roundRect">
            <a:avLst>
              <a:gd name="adj" fmla="val 12901"/>
            </a:avLst>
          </a:prstGeom>
          <a:solidFill>
            <a:srgbClr val="FCF1E0"/>
          </a:solidFill>
          <a:ln/>
        </p:spPr>
      </p:sp>
      <p:sp>
        <p:nvSpPr>
          <p:cNvPr id="114" name="Shape 91"/>
          <p:cNvSpPr/>
          <p:nvPr/>
        </p:nvSpPr>
        <p:spPr>
          <a:xfrm>
            <a:off x="5733288" y="5250851"/>
            <a:ext cx="914400" cy="219456"/>
          </a:xfrm>
          <a:prstGeom prst="roundRect">
            <a:avLst>
              <a:gd name="adj" fmla="val 50000"/>
            </a:avLst>
          </a:prstGeom>
          <a:solidFill>
            <a:srgbClr val="A6650F"/>
          </a:solidFill>
          <a:ln/>
        </p:spPr>
      </p:sp>
      <p:sp>
        <p:nvSpPr>
          <p:cNvPr id="115" name="Text 92"/>
          <p:cNvSpPr txBox="1"/>
          <p:nvPr/>
        </p:nvSpPr>
        <p:spPr>
          <a:xfrm>
            <a:off x="5733288" y="5250851"/>
            <a:ext cx="914400" cy="219456"/>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Calibri" pitchFamily="34" charset="0"/>
                <a:ea typeface="Calibri" pitchFamily="34" charset="-122"/>
                <a:cs typeface="Calibri" pitchFamily="34" charset="-120"/>
              </a:rPr>
              <a:t>MEDIA</a:t>
            </a:r>
            <a:endParaRPr lang="en-US" sz="800" dirty="0"/>
          </a:p>
        </p:txBody>
      </p:sp>
      <p:sp>
        <p:nvSpPr>
          <p:cNvPr id="116" name="Shape 93"/>
          <p:cNvSpPr/>
          <p:nvPr/>
        </p:nvSpPr>
        <p:spPr>
          <a:xfrm>
            <a:off x="6775704" y="5184526"/>
            <a:ext cx="1537106" cy="352105"/>
          </a:xfrm>
          <a:prstGeom prst="roundRect">
            <a:avLst>
              <a:gd name="adj" fmla="val 12985"/>
            </a:avLst>
          </a:prstGeom>
          <a:solidFill>
            <a:srgbClr val="FFFFFF"/>
          </a:solidFill>
          <a:ln w="9525">
            <a:solidFill>
              <a:srgbClr val="A6650F"/>
            </a:solidFill>
            <a:prstDash val="solid"/>
          </a:ln>
        </p:spPr>
      </p:sp>
      <p:sp>
        <p:nvSpPr>
          <p:cNvPr id="117" name="Text 94"/>
          <p:cNvSpPr txBox="1"/>
          <p:nvPr/>
        </p:nvSpPr>
        <p:spPr>
          <a:xfrm>
            <a:off x="6830568" y="5184526"/>
            <a:ext cx="1427378" cy="352105"/>
          </a:xfrm>
          <a:prstGeom prst="rect">
            <a:avLst/>
          </a:prstGeom>
          <a:noFill/>
          <a:ln/>
        </p:spPr>
        <p:txBody>
          <a:bodyPr wrap="square" lIns="0" tIns="0" rIns="0" bIns="0" rtlCol="0" anchor="ctr"/>
          <a:lstStyle/>
          <a:p>
            <a:pPr algn="ctr" indent="0" marL="0">
              <a:lnSpc>
                <a:spcPct val="98000"/>
              </a:lnSpc>
              <a:buNone/>
            </a:pPr>
            <a:r>
              <a:rPr lang="en-US" sz="780" b="1" dirty="0">
                <a:solidFill>
                  <a:srgbClr val="A6650F"/>
                </a:solidFill>
                <a:latin typeface="Calibri" pitchFamily="34" charset="0"/>
                <a:ea typeface="Calibri" pitchFamily="34" charset="-122"/>
                <a:cs typeface="Calibri" pitchFamily="34" charset="-120"/>
              </a:rPr>
              <a:t>Comunicación y soporte</a:t>
            </a:r>
            <a:endParaRPr lang="en-US" sz="780" dirty="0"/>
          </a:p>
        </p:txBody>
      </p:sp>
      <p:sp>
        <p:nvSpPr>
          <p:cNvPr id="118" name="Shape 95"/>
          <p:cNvSpPr/>
          <p:nvPr/>
        </p:nvSpPr>
        <p:spPr>
          <a:xfrm>
            <a:off x="8376818" y="5184526"/>
            <a:ext cx="1537106" cy="352105"/>
          </a:xfrm>
          <a:prstGeom prst="roundRect">
            <a:avLst>
              <a:gd name="adj" fmla="val 12985"/>
            </a:avLst>
          </a:prstGeom>
          <a:solidFill>
            <a:srgbClr val="FFFFFF"/>
          </a:solidFill>
          <a:ln w="9525">
            <a:solidFill>
              <a:srgbClr val="A6650F"/>
            </a:solidFill>
            <a:prstDash val="solid"/>
          </a:ln>
        </p:spPr>
      </p:sp>
      <p:sp>
        <p:nvSpPr>
          <p:cNvPr id="119" name="Text 96"/>
          <p:cNvSpPr txBox="1"/>
          <p:nvPr/>
        </p:nvSpPr>
        <p:spPr>
          <a:xfrm>
            <a:off x="8431682" y="5184526"/>
            <a:ext cx="1427378" cy="352105"/>
          </a:xfrm>
          <a:prstGeom prst="rect">
            <a:avLst/>
          </a:prstGeom>
          <a:noFill/>
          <a:ln/>
        </p:spPr>
        <p:txBody>
          <a:bodyPr wrap="square" lIns="0" tIns="0" rIns="0" bIns="0" rtlCol="0" anchor="ctr"/>
          <a:lstStyle/>
          <a:p>
            <a:pPr algn="ctr" indent="0" marL="0">
              <a:lnSpc>
                <a:spcPct val="98000"/>
              </a:lnSpc>
              <a:buNone/>
            </a:pPr>
            <a:r>
              <a:rPr lang="en-US" sz="780" b="1" dirty="0">
                <a:solidFill>
                  <a:srgbClr val="A6650F"/>
                </a:solidFill>
                <a:latin typeface="Calibri" pitchFamily="34" charset="0"/>
                <a:ea typeface="Calibri" pitchFamily="34" charset="-122"/>
                <a:cs typeface="Calibri" pitchFamily="34" charset="-120"/>
              </a:rPr>
              <a:t>Procesos de reposición</a:t>
            </a:r>
            <a:endParaRPr lang="en-US" sz="780" dirty="0"/>
          </a:p>
        </p:txBody>
      </p:sp>
      <p:sp>
        <p:nvSpPr>
          <p:cNvPr id="120" name="Shape 97"/>
          <p:cNvSpPr/>
          <p:nvPr/>
        </p:nvSpPr>
        <p:spPr>
          <a:xfrm>
            <a:off x="9977933" y="5184526"/>
            <a:ext cx="1537106" cy="352105"/>
          </a:xfrm>
          <a:prstGeom prst="roundRect">
            <a:avLst>
              <a:gd name="adj" fmla="val 12985"/>
            </a:avLst>
          </a:prstGeom>
          <a:solidFill>
            <a:srgbClr val="FFFFFF"/>
          </a:solidFill>
          <a:ln w="9525">
            <a:solidFill>
              <a:srgbClr val="A6650F"/>
            </a:solidFill>
            <a:prstDash val="solid"/>
          </a:ln>
        </p:spPr>
      </p:sp>
      <p:sp>
        <p:nvSpPr>
          <p:cNvPr id="121" name="Text 98"/>
          <p:cNvSpPr txBox="1"/>
          <p:nvPr/>
        </p:nvSpPr>
        <p:spPr>
          <a:xfrm>
            <a:off x="10032797" y="5184526"/>
            <a:ext cx="1427378" cy="352105"/>
          </a:xfrm>
          <a:prstGeom prst="rect">
            <a:avLst/>
          </a:prstGeom>
          <a:noFill/>
          <a:ln/>
        </p:spPr>
        <p:txBody>
          <a:bodyPr wrap="square" lIns="0" tIns="0" rIns="0" bIns="0" rtlCol="0" anchor="ctr"/>
          <a:lstStyle/>
          <a:p>
            <a:pPr algn="ctr" indent="0" marL="0">
              <a:lnSpc>
                <a:spcPct val="98000"/>
              </a:lnSpc>
              <a:buNone/>
            </a:pPr>
            <a:r>
              <a:rPr lang="en-US" sz="780" b="1" dirty="0">
                <a:solidFill>
                  <a:srgbClr val="A6650F"/>
                </a:solidFill>
                <a:latin typeface="Calibri" pitchFamily="34" charset="0"/>
                <a:ea typeface="Calibri" pitchFamily="34" charset="-122"/>
                <a:cs typeface="Calibri" pitchFamily="34" charset="-120"/>
              </a:rPr>
              <a:t>Fraudes y contracargos</a:t>
            </a:r>
            <a:endParaRPr lang="en-US" sz="780" dirty="0"/>
          </a:p>
        </p:txBody>
      </p:sp>
      <p:sp>
        <p:nvSpPr>
          <p:cNvPr id="122" name="Shape 99"/>
          <p:cNvSpPr/>
          <p:nvPr/>
        </p:nvSpPr>
        <p:spPr>
          <a:xfrm>
            <a:off x="5641848" y="5609783"/>
            <a:ext cx="5982919" cy="425257"/>
          </a:xfrm>
          <a:prstGeom prst="roundRect">
            <a:avLst>
              <a:gd name="adj" fmla="val 12901"/>
            </a:avLst>
          </a:prstGeom>
          <a:solidFill>
            <a:srgbClr val="E7F5EC"/>
          </a:solidFill>
          <a:ln/>
        </p:spPr>
      </p:sp>
      <p:sp>
        <p:nvSpPr>
          <p:cNvPr id="123" name="Shape 100"/>
          <p:cNvSpPr/>
          <p:nvPr/>
        </p:nvSpPr>
        <p:spPr>
          <a:xfrm>
            <a:off x="5733288" y="5712684"/>
            <a:ext cx="914400" cy="219456"/>
          </a:xfrm>
          <a:prstGeom prst="roundRect">
            <a:avLst>
              <a:gd name="adj" fmla="val 50000"/>
            </a:avLst>
          </a:prstGeom>
          <a:solidFill>
            <a:srgbClr val="1E8449"/>
          </a:solidFill>
          <a:ln/>
        </p:spPr>
      </p:sp>
      <p:sp>
        <p:nvSpPr>
          <p:cNvPr id="124" name="Text 101"/>
          <p:cNvSpPr txBox="1"/>
          <p:nvPr/>
        </p:nvSpPr>
        <p:spPr>
          <a:xfrm>
            <a:off x="5733288" y="5712684"/>
            <a:ext cx="914400" cy="219456"/>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Calibri" pitchFamily="34" charset="0"/>
                <a:ea typeface="Calibri" pitchFamily="34" charset="-122"/>
                <a:cs typeface="Calibri" pitchFamily="34" charset="-120"/>
              </a:rPr>
              <a:t>BAJA</a:t>
            </a:r>
            <a:endParaRPr lang="en-US" sz="800" dirty="0"/>
          </a:p>
        </p:txBody>
      </p:sp>
      <p:sp>
        <p:nvSpPr>
          <p:cNvPr id="125" name="Shape 102"/>
          <p:cNvSpPr/>
          <p:nvPr/>
        </p:nvSpPr>
        <p:spPr>
          <a:xfrm>
            <a:off x="6775704" y="5646359"/>
            <a:ext cx="2337664" cy="352105"/>
          </a:xfrm>
          <a:prstGeom prst="roundRect">
            <a:avLst>
              <a:gd name="adj" fmla="val 12985"/>
            </a:avLst>
          </a:prstGeom>
          <a:solidFill>
            <a:srgbClr val="FFFFFF"/>
          </a:solidFill>
          <a:ln w="9525">
            <a:solidFill>
              <a:srgbClr val="1E8449"/>
            </a:solidFill>
            <a:prstDash val="solid"/>
          </a:ln>
        </p:spPr>
      </p:sp>
      <p:sp>
        <p:nvSpPr>
          <p:cNvPr id="126" name="Text 103"/>
          <p:cNvSpPr txBox="1"/>
          <p:nvPr/>
        </p:nvSpPr>
        <p:spPr>
          <a:xfrm>
            <a:off x="6830568" y="5646359"/>
            <a:ext cx="2227936" cy="352105"/>
          </a:xfrm>
          <a:prstGeom prst="rect">
            <a:avLst/>
          </a:prstGeom>
          <a:noFill/>
          <a:ln/>
        </p:spPr>
        <p:txBody>
          <a:bodyPr wrap="square" lIns="0" tIns="0" rIns="0" bIns="0" rtlCol="0" anchor="ctr"/>
          <a:lstStyle/>
          <a:p>
            <a:pPr algn="ctr" indent="0" marL="0">
              <a:lnSpc>
                <a:spcPct val="98000"/>
              </a:lnSpc>
              <a:buNone/>
            </a:pPr>
            <a:r>
              <a:rPr lang="en-US" sz="780" b="1" dirty="0">
                <a:solidFill>
                  <a:srgbClr val="1E8449"/>
                </a:solidFill>
                <a:latin typeface="Calibri" pitchFamily="34" charset="0"/>
                <a:ea typeface="Calibri" pitchFamily="34" charset="-122"/>
                <a:cs typeface="Calibri" pitchFamily="34" charset="-120"/>
              </a:rPr>
              <a:t>Visualización de promociones</a:t>
            </a:r>
            <a:endParaRPr lang="en-US" sz="780" dirty="0"/>
          </a:p>
        </p:txBody>
      </p:sp>
      <p:sp>
        <p:nvSpPr>
          <p:cNvPr id="127" name="Shape 104"/>
          <p:cNvSpPr/>
          <p:nvPr/>
        </p:nvSpPr>
        <p:spPr>
          <a:xfrm>
            <a:off x="9177376" y="5646359"/>
            <a:ext cx="2337664" cy="352105"/>
          </a:xfrm>
          <a:prstGeom prst="roundRect">
            <a:avLst>
              <a:gd name="adj" fmla="val 12985"/>
            </a:avLst>
          </a:prstGeom>
          <a:solidFill>
            <a:srgbClr val="FFFFFF"/>
          </a:solidFill>
          <a:ln w="9525">
            <a:solidFill>
              <a:srgbClr val="1E8449"/>
            </a:solidFill>
            <a:prstDash val="solid"/>
          </a:ln>
        </p:spPr>
      </p:sp>
      <p:sp>
        <p:nvSpPr>
          <p:cNvPr id="128" name="Text 105"/>
          <p:cNvSpPr txBox="1"/>
          <p:nvPr/>
        </p:nvSpPr>
        <p:spPr>
          <a:xfrm>
            <a:off x="9232240" y="5646359"/>
            <a:ext cx="2227936" cy="352105"/>
          </a:xfrm>
          <a:prstGeom prst="rect">
            <a:avLst/>
          </a:prstGeom>
          <a:noFill/>
          <a:ln/>
        </p:spPr>
        <p:txBody>
          <a:bodyPr wrap="square" lIns="0" tIns="0" rIns="0" bIns="0" rtlCol="0" anchor="ctr"/>
          <a:lstStyle/>
          <a:p>
            <a:pPr algn="ctr" indent="0" marL="0">
              <a:lnSpc>
                <a:spcPct val="98000"/>
              </a:lnSpc>
              <a:buNone/>
            </a:pPr>
            <a:r>
              <a:rPr lang="en-US" sz="780" b="1" dirty="0">
                <a:solidFill>
                  <a:srgbClr val="1E8449"/>
                </a:solidFill>
                <a:latin typeface="Calibri" pitchFamily="34" charset="0"/>
                <a:ea typeface="Calibri" pitchFamily="34" charset="-122"/>
                <a:cs typeface="Calibri" pitchFamily="34" charset="-120"/>
              </a:rPr>
              <a:t>Mejoras operativas menores</a:t>
            </a:r>
            <a:endParaRPr lang="en-US" sz="780" dirty="0"/>
          </a:p>
        </p:txBody>
      </p:sp>
      <p:sp>
        <p:nvSpPr>
          <p:cNvPr id="129" name="Shape 106"/>
          <p:cNvSpPr/>
          <p:nvPr/>
        </p:nvSpPr>
        <p:spPr>
          <a:xfrm>
            <a:off x="384048" y="6144768"/>
            <a:ext cx="11423599" cy="585216"/>
          </a:xfrm>
          <a:prstGeom prst="roundRect">
            <a:avLst>
              <a:gd name="adj" fmla="val 12500"/>
            </a:avLst>
          </a:prstGeom>
          <a:solidFill>
            <a:srgbClr val="0A1F3B"/>
          </a:solidFill>
          <a:ln/>
        </p:spPr>
      </p:sp>
      <p:sp>
        <p:nvSpPr>
          <p:cNvPr id="130" name="Shape 107"/>
          <p:cNvSpPr/>
          <p:nvPr/>
        </p:nvSpPr>
        <p:spPr>
          <a:xfrm>
            <a:off x="384048" y="6144768"/>
            <a:ext cx="54864" cy="585216"/>
          </a:xfrm>
          <a:prstGeom prst="rect">
            <a:avLst/>
          </a:prstGeom>
          <a:solidFill>
            <a:srgbClr val="17A9B0"/>
          </a:solidFill>
          <a:ln/>
        </p:spPr>
      </p:sp>
      <p:pic>
        <p:nvPicPr>
          <p:cNvPr id="131" name="Image 21" descr="/tmp/claude-0/-home-user-riesgo/579fb8c8-70e5-51d5-80ec-6ed51cc2e8df/scratchpad/pptx-build/icons/flag_FFFFFF.png">    </p:cNvPr>
          <p:cNvPicPr>
            <a:picLocks noChangeAspect="1"/>
          </p:cNvPicPr>
          <p:nvPr/>
        </p:nvPicPr>
        <p:blipFill>
          <a:blip r:embed="rId22"/>
          <a:stretch>
            <a:fillRect/>
          </a:stretch>
        </p:blipFill>
        <p:spPr>
          <a:xfrm>
            <a:off x="585216" y="6309360"/>
            <a:ext cx="256032" cy="256032"/>
          </a:xfrm>
          <a:prstGeom prst="rect">
            <a:avLst/>
          </a:prstGeom>
        </p:spPr>
      </p:pic>
      <p:sp>
        <p:nvSpPr>
          <p:cNvPr id="132" name="Text 108"/>
          <p:cNvSpPr txBox="1"/>
          <p:nvPr/>
        </p:nvSpPr>
        <p:spPr>
          <a:xfrm>
            <a:off x="950976" y="6199632"/>
            <a:ext cx="10646359" cy="475488"/>
          </a:xfrm>
          <a:prstGeom prst="rect">
            <a:avLst/>
          </a:prstGeom>
          <a:noFill/>
          <a:ln/>
        </p:spPr>
        <p:txBody>
          <a:bodyPr wrap="square" lIns="0" tIns="0" rIns="0" bIns="0" rtlCol="0" anchor="ctr"/>
          <a:lstStyle/>
          <a:p>
            <a:pPr algn="l" indent="0" marL="0">
              <a:lnSpc>
                <a:spcPct val="110000"/>
              </a:lnSpc>
              <a:buNone/>
            </a:pPr>
            <a:r>
              <a:rPr lang="en-US" sz="980" i="1" dirty="0">
                <a:solidFill>
                  <a:srgbClr val="FFFFFF"/>
                </a:solidFill>
                <a:latin typeface="Calibri" pitchFamily="34" charset="0"/>
                <a:ea typeface="Calibri" pitchFamily="34" charset="-122"/>
                <a:cs typeface="Calibri" pitchFamily="34" charset="-120"/>
              </a:rPr>
              <a:t>Los resultados reflejan una percepción favorable del servicio de procesamiento de tarjetas de crédito; sin embargo, existen oportunidades críticas de mejora relacionadas con la estabilidad operativa, reversas, duplicidad de pagos y tiempos de respuesta. La atención de estos aspectos permitirá fortalecer la continuidad operativa, la experiencia de las agencias y la satisfacción de los asociados.</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19456"/>
            <a:ext cx="8778240" cy="182880"/>
          </a:xfrm>
          <a:prstGeom prst="rect">
            <a:avLst/>
          </a:prstGeom>
          <a:noFill/>
          <a:ln/>
        </p:spPr>
        <p:txBody>
          <a:bodyPr wrap="square" lIns="0" tIns="0" rIns="0" bIns="0" rtlCol="0" anchor="ctr"/>
          <a:lstStyle/>
          <a:p>
            <a:pPr algn="l" indent="0" marL="0">
              <a:buNone/>
            </a:pPr>
            <a:r>
              <a:rPr lang="en-US" sz="950" b="1" spc="160" kern="0" dirty="0">
                <a:solidFill>
                  <a:srgbClr val="17A9B0"/>
                </a:solidFill>
                <a:latin typeface="Calibri" pitchFamily="34" charset="0"/>
                <a:ea typeface="Calibri" pitchFamily="34" charset="-122"/>
                <a:cs typeface="Calibri" pitchFamily="34" charset="-120"/>
              </a:rPr>
              <a:t>EVALUACIÓN DE SERVICIO  ·  GERENCIA DE TECNOLOGÍA</a:t>
            </a:r>
            <a:endParaRPr lang="en-US" sz="950" dirty="0"/>
          </a:p>
        </p:txBody>
      </p:sp>
      <p:sp>
        <p:nvSpPr>
          <p:cNvPr id="3" name="Text 1"/>
          <p:cNvSpPr txBox="1"/>
          <p:nvPr/>
        </p:nvSpPr>
        <p:spPr>
          <a:xfrm>
            <a:off x="384048" y="411480"/>
            <a:ext cx="9418320" cy="329184"/>
          </a:xfrm>
          <a:prstGeom prst="rect">
            <a:avLst/>
          </a:prstGeom>
          <a:noFill/>
          <a:ln/>
        </p:spPr>
        <p:txBody>
          <a:bodyPr wrap="square" lIns="0" tIns="0" rIns="0" bIns="0" rtlCol="0" anchor="t"/>
          <a:lstStyle/>
          <a:p>
            <a:pPr algn="l" indent="0" marL="0">
              <a:buNone/>
            </a:pPr>
            <a:r>
              <a:rPr lang="en-US" sz="1700" b="1" dirty="0">
                <a:solidFill>
                  <a:srgbClr val="17223A"/>
                </a:solidFill>
                <a:latin typeface="Calibri" pitchFamily="34" charset="0"/>
                <a:ea typeface="Calibri" pitchFamily="34" charset="-122"/>
                <a:cs typeface="Calibri" pitchFamily="34" charset="-120"/>
              </a:rPr>
              <a:t>Preguntas de la Encuesta y Distribución de Respuestas — EVERTEC</a:t>
            </a:r>
            <a:endParaRPr lang="en-US" sz="1700" dirty="0"/>
          </a:p>
        </p:txBody>
      </p:sp>
      <p:sp>
        <p:nvSpPr>
          <p:cNvPr id="4" name="Text 2"/>
          <p:cNvSpPr txBox="1"/>
          <p:nvPr/>
        </p:nvSpPr>
        <p:spPr>
          <a:xfrm>
            <a:off x="384048" y="749808"/>
            <a:ext cx="9418320" cy="219456"/>
          </a:xfrm>
          <a:prstGeom prst="rect">
            <a:avLst/>
          </a:prstGeom>
          <a:noFill/>
          <a:ln/>
        </p:spPr>
        <p:txBody>
          <a:bodyPr wrap="square" lIns="0" tIns="0" rIns="0" bIns="0" rtlCol="0" anchor="ctr"/>
          <a:lstStyle/>
          <a:p>
            <a:pPr algn="l" indent="0" marL="0">
              <a:buNone/>
            </a:pPr>
            <a:r>
              <a:rPr lang="en-US" sz="1000" i="1" dirty="0">
                <a:solidFill>
                  <a:srgbClr val="5B6B82"/>
                </a:solidFill>
                <a:latin typeface="Calibri" pitchFamily="34" charset="0"/>
                <a:ea typeface="Calibri" pitchFamily="34" charset="-122"/>
                <a:cs typeface="Calibri" pitchFamily="34" charset="-120"/>
              </a:rPr>
              <a:t>Resultados cerrados por pregunta y comentarios textuales de las 17 agencias participantes</a:t>
            </a:r>
            <a:endParaRPr lang="en-US" sz="1000" dirty="0"/>
          </a:p>
        </p:txBody>
      </p:sp>
      <p:sp>
        <p:nvSpPr>
          <p:cNvPr id="5" name="Shape 3"/>
          <p:cNvSpPr/>
          <p:nvPr/>
        </p:nvSpPr>
        <p:spPr>
          <a:xfrm>
            <a:off x="10436047" y="256032"/>
            <a:ext cx="1371600" cy="329184"/>
          </a:xfrm>
          <a:prstGeom prst="roundRect">
            <a:avLst>
              <a:gd name="adj" fmla="val 16667"/>
            </a:avLst>
          </a:prstGeom>
          <a:solidFill>
            <a:srgbClr val="133B6C"/>
          </a:solidFill>
          <a:ln/>
        </p:spPr>
      </p:sp>
      <p:sp>
        <p:nvSpPr>
          <p:cNvPr id="6" name="Text 4"/>
          <p:cNvSpPr txBox="1"/>
          <p:nvPr/>
        </p:nvSpPr>
        <p:spPr>
          <a:xfrm>
            <a:off x="10436047" y="256032"/>
            <a:ext cx="137160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17 RESPUESTAS</a:t>
            </a:r>
            <a:endParaRPr lang="en-US" sz="900" dirty="0"/>
          </a:p>
        </p:txBody>
      </p:sp>
      <p:sp>
        <p:nvSpPr>
          <p:cNvPr id="7" name="Shape 5"/>
          <p:cNvSpPr/>
          <p:nvPr/>
        </p:nvSpPr>
        <p:spPr>
          <a:xfrm>
            <a:off x="384048" y="1005840"/>
            <a:ext cx="11423599" cy="16459"/>
          </a:xfrm>
          <a:prstGeom prst="rect">
            <a:avLst/>
          </a:prstGeom>
          <a:solidFill>
            <a:srgbClr val="17A9B0"/>
          </a:solidFill>
          <a:ln/>
        </p:spPr>
      </p:sp>
      <p:sp>
        <p:nvSpPr>
          <p:cNvPr id="8" name="Shape 6"/>
          <p:cNvSpPr/>
          <p:nvPr/>
        </p:nvSpPr>
        <p:spPr>
          <a:xfrm>
            <a:off x="384048" y="1133856"/>
            <a:ext cx="2182307" cy="1207008"/>
          </a:xfrm>
          <a:prstGeom prst="roundRect">
            <a:avLst>
              <a:gd name="adj" fmla="val 4545"/>
            </a:avLst>
          </a:prstGeom>
          <a:solidFill>
            <a:srgbClr val="FFFFFF"/>
          </a:solidFill>
          <a:ln w="9525">
            <a:solidFill>
              <a:srgbClr val="E7EAF0"/>
            </a:solidFill>
            <a:prstDash val="solid"/>
          </a:ln>
          <a:effectLst>
            <a:outerShdw sx="100000" sy="100000" kx="0" ky="0" algn="bl" rotWithShape="0" blurRad="63500" dist="19050" dir="5400000">
              <a:srgbClr val="0F2F4E">
                <a:alpha val="9000"/>
              </a:srgbClr>
            </a:outerShdw>
          </a:effectLst>
        </p:spPr>
      </p:sp>
      <p:sp>
        <p:nvSpPr>
          <p:cNvPr id="9" name="Shape 7"/>
          <p:cNvSpPr/>
          <p:nvPr/>
        </p:nvSpPr>
        <p:spPr>
          <a:xfrm>
            <a:off x="493776" y="1225296"/>
            <a:ext cx="173736" cy="173736"/>
          </a:xfrm>
          <a:prstGeom prst="ellipse">
            <a:avLst/>
          </a:prstGeom>
          <a:solidFill>
            <a:srgbClr val="133B6C"/>
          </a:solidFill>
          <a:ln/>
        </p:spPr>
      </p:sp>
      <p:sp>
        <p:nvSpPr>
          <p:cNvPr id="10" name="Text 8"/>
          <p:cNvSpPr txBox="1"/>
          <p:nvPr/>
        </p:nvSpPr>
        <p:spPr>
          <a:xfrm>
            <a:off x="493776" y="1225296"/>
            <a:ext cx="173736" cy="1737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txBox="1"/>
          <p:nvPr/>
        </p:nvSpPr>
        <p:spPr>
          <a:xfrm>
            <a:off x="740664" y="1207008"/>
            <a:ext cx="1715963" cy="457200"/>
          </a:xfrm>
          <a:prstGeom prst="rect">
            <a:avLst/>
          </a:prstGeom>
          <a:noFill/>
          <a:ln/>
        </p:spPr>
        <p:txBody>
          <a:bodyPr wrap="square" lIns="0" tIns="0" rIns="0" bIns="0" rtlCol="0" anchor="t"/>
          <a:lstStyle/>
          <a:p>
            <a:pPr algn="l" indent="0" marL="0">
              <a:lnSpc>
                <a:spcPct val="112000"/>
              </a:lnSpc>
              <a:buNone/>
            </a:pPr>
            <a:r>
              <a:rPr lang="en-US" sz="950" b="1" dirty="0">
                <a:solidFill>
                  <a:srgbClr val="17223A"/>
                </a:solidFill>
                <a:latin typeface="Calibri" pitchFamily="34" charset="0"/>
                <a:ea typeface="Calibri" pitchFamily="34" charset="-122"/>
                <a:cs typeface="Calibri" pitchFamily="34" charset="-120"/>
              </a:rPr>
              <a:t>¿Con qué frecuencia se presentan fallas del sistema?</a:t>
            </a:r>
            <a:endParaRPr lang="en-US" sz="950" dirty="0"/>
          </a:p>
        </p:txBody>
      </p:sp>
      <p:sp>
        <p:nvSpPr>
          <p:cNvPr id="12" name="Shape 10"/>
          <p:cNvSpPr/>
          <p:nvPr/>
        </p:nvSpPr>
        <p:spPr>
          <a:xfrm>
            <a:off x="493776" y="1664208"/>
            <a:ext cx="1962851" cy="118872"/>
          </a:xfrm>
          <a:prstGeom prst="roundRect">
            <a:avLst>
              <a:gd name="adj" fmla="val 15385"/>
            </a:avLst>
          </a:prstGeom>
          <a:solidFill>
            <a:srgbClr val="EEF1F5"/>
          </a:solidFill>
          <a:ln/>
        </p:spPr>
      </p:sp>
      <p:sp>
        <p:nvSpPr>
          <p:cNvPr id="13" name="Shape 11"/>
          <p:cNvSpPr/>
          <p:nvPr/>
        </p:nvSpPr>
        <p:spPr>
          <a:xfrm>
            <a:off x="493776" y="1664208"/>
            <a:ext cx="692886" cy="118872"/>
          </a:xfrm>
          <a:prstGeom prst="rect">
            <a:avLst/>
          </a:prstGeom>
          <a:solidFill>
            <a:srgbClr val="E0392B"/>
          </a:solidFill>
          <a:ln/>
        </p:spPr>
      </p:sp>
      <p:sp>
        <p:nvSpPr>
          <p:cNvPr id="14" name="Shape 12"/>
          <p:cNvSpPr/>
          <p:nvPr/>
        </p:nvSpPr>
        <p:spPr>
          <a:xfrm>
            <a:off x="1186662" y="1664208"/>
            <a:ext cx="1038348" cy="118872"/>
          </a:xfrm>
          <a:prstGeom prst="rect">
            <a:avLst/>
          </a:prstGeom>
          <a:solidFill>
            <a:srgbClr val="A6650F"/>
          </a:solidFill>
          <a:ln/>
        </p:spPr>
      </p:sp>
      <p:sp>
        <p:nvSpPr>
          <p:cNvPr id="15" name="Shape 13"/>
          <p:cNvSpPr/>
          <p:nvPr/>
        </p:nvSpPr>
        <p:spPr>
          <a:xfrm>
            <a:off x="2225011" y="1664208"/>
            <a:ext cx="231616" cy="118872"/>
          </a:xfrm>
          <a:prstGeom prst="rect">
            <a:avLst/>
          </a:prstGeom>
          <a:solidFill>
            <a:srgbClr val="1E8449"/>
          </a:solidFill>
          <a:ln/>
        </p:spPr>
      </p:sp>
      <p:sp>
        <p:nvSpPr>
          <p:cNvPr id="16" name="Shape 14"/>
          <p:cNvSpPr/>
          <p:nvPr/>
        </p:nvSpPr>
        <p:spPr>
          <a:xfrm>
            <a:off x="493776" y="1856232"/>
            <a:ext cx="54864" cy="54864"/>
          </a:xfrm>
          <a:prstGeom prst="ellipse">
            <a:avLst/>
          </a:prstGeom>
          <a:solidFill>
            <a:srgbClr val="E0392B"/>
          </a:solidFill>
          <a:ln/>
        </p:spPr>
      </p:sp>
      <p:sp>
        <p:nvSpPr>
          <p:cNvPr id="17" name="Text 15"/>
          <p:cNvSpPr txBox="1"/>
          <p:nvPr/>
        </p:nvSpPr>
        <p:spPr>
          <a:xfrm>
            <a:off x="594360" y="1819656"/>
            <a:ext cx="1862267" cy="128016"/>
          </a:xfrm>
          <a:prstGeom prst="rect">
            <a:avLst/>
          </a:prstGeom>
          <a:noFill/>
          <a:ln/>
        </p:spPr>
        <p:txBody>
          <a:bodyPr wrap="square" lIns="0" tIns="0" rIns="0" bIns="0" rtlCol="0" anchor="ctr"/>
          <a:lstStyle/>
          <a:p>
            <a:pPr algn="l" indent="0" marL="0">
              <a:buNone/>
            </a:pPr>
            <a:r>
              <a:rPr lang="en-US" sz="760" b="1" dirty="0">
                <a:solidFill>
                  <a:srgbClr val="E0392B"/>
                </a:solidFill>
                <a:latin typeface="Calibri" pitchFamily="34" charset="0"/>
                <a:ea typeface="Calibri" pitchFamily="34" charset="-122"/>
                <a:cs typeface="Calibri" pitchFamily="34" charset="-120"/>
              </a:rPr>
              <a:t>35.3% Frecuente</a:t>
            </a:r>
            <a:endParaRPr lang="en-US" sz="760" dirty="0"/>
          </a:p>
        </p:txBody>
      </p:sp>
      <p:sp>
        <p:nvSpPr>
          <p:cNvPr id="18" name="Shape 16"/>
          <p:cNvSpPr/>
          <p:nvPr/>
        </p:nvSpPr>
        <p:spPr>
          <a:xfrm>
            <a:off x="493776" y="1997964"/>
            <a:ext cx="54864" cy="54864"/>
          </a:xfrm>
          <a:prstGeom prst="ellipse">
            <a:avLst/>
          </a:prstGeom>
          <a:solidFill>
            <a:srgbClr val="A6650F"/>
          </a:solidFill>
          <a:ln/>
        </p:spPr>
      </p:sp>
      <p:sp>
        <p:nvSpPr>
          <p:cNvPr id="19" name="Text 17"/>
          <p:cNvSpPr txBox="1"/>
          <p:nvPr/>
        </p:nvSpPr>
        <p:spPr>
          <a:xfrm>
            <a:off x="594360" y="1961388"/>
            <a:ext cx="1862267" cy="128016"/>
          </a:xfrm>
          <a:prstGeom prst="rect">
            <a:avLst/>
          </a:prstGeom>
          <a:noFill/>
          <a:ln/>
        </p:spPr>
        <p:txBody>
          <a:bodyPr wrap="square" lIns="0" tIns="0" rIns="0" bIns="0" rtlCol="0" anchor="ctr"/>
          <a:lstStyle/>
          <a:p>
            <a:pPr algn="l" indent="0" marL="0">
              <a:buNone/>
            </a:pPr>
            <a:r>
              <a:rPr lang="en-US" sz="760" b="1" dirty="0">
                <a:solidFill>
                  <a:srgbClr val="A6650F"/>
                </a:solidFill>
                <a:latin typeface="Calibri" pitchFamily="34" charset="0"/>
                <a:ea typeface="Calibri" pitchFamily="34" charset="-122"/>
                <a:cs typeface="Calibri" pitchFamily="34" charset="-120"/>
              </a:rPr>
              <a:t>52.9% Algunas veces</a:t>
            </a:r>
            <a:endParaRPr lang="en-US" sz="760" dirty="0"/>
          </a:p>
        </p:txBody>
      </p:sp>
      <p:sp>
        <p:nvSpPr>
          <p:cNvPr id="20" name="Shape 18"/>
          <p:cNvSpPr/>
          <p:nvPr/>
        </p:nvSpPr>
        <p:spPr>
          <a:xfrm>
            <a:off x="493776" y="2139696"/>
            <a:ext cx="54864" cy="54864"/>
          </a:xfrm>
          <a:prstGeom prst="ellipse">
            <a:avLst/>
          </a:prstGeom>
          <a:solidFill>
            <a:srgbClr val="1E8449"/>
          </a:solidFill>
          <a:ln/>
        </p:spPr>
      </p:sp>
      <p:sp>
        <p:nvSpPr>
          <p:cNvPr id="21" name="Text 19"/>
          <p:cNvSpPr txBox="1"/>
          <p:nvPr/>
        </p:nvSpPr>
        <p:spPr>
          <a:xfrm>
            <a:off x="594360" y="2103120"/>
            <a:ext cx="1862267" cy="128016"/>
          </a:xfrm>
          <a:prstGeom prst="rect">
            <a:avLst/>
          </a:prstGeom>
          <a:noFill/>
          <a:ln/>
        </p:spPr>
        <p:txBody>
          <a:bodyPr wrap="square" lIns="0" tIns="0" rIns="0" bIns="0" rtlCol="0" anchor="ctr"/>
          <a:lstStyle/>
          <a:p>
            <a:pPr algn="l" indent="0" marL="0">
              <a:buNone/>
            </a:pPr>
            <a:r>
              <a:rPr lang="en-US" sz="760" b="1" dirty="0">
                <a:solidFill>
                  <a:srgbClr val="1E8449"/>
                </a:solidFill>
                <a:latin typeface="Calibri" pitchFamily="34" charset="0"/>
                <a:ea typeface="Calibri" pitchFamily="34" charset="-122"/>
                <a:cs typeface="Calibri" pitchFamily="34" charset="-120"/>
              </a:rPr>
              <a:t>11.8% Rara vez</a:t>
            </a:r>
            <a:endParaRPr lang="en-US" sz="760" dirty="0"/>
          </a:p>
        </p:txBody>
      </p:sp>
      <p:sp>
        <p:nvSpPr>
          <p:cNvPr id="22" name="Shape 20"/>
          <p:cNvSpPr/>
          <p:nvPr/>
        </p:nvSpPr>
        <p:spPr>
          <a:xfrm>
            <a:off x="2694371" y="1133856"/>
            <a:ext cx="2182307" cy="1207008"/>
          </a:xfrm>
          <a:prstGeom prst="roundRect">
            <a:avLst>
              <a:gd name="adj" fmla="val 4545"/>
            </a:avLst>
          </a:prstGeom>
          <a:solidFill>
            <a:srgbClr val="FFFFFF"/>
          </a:solidFill>
          <a:ln w="9525">
            <a:solidFill>
              <a:srgbClr val="E7EAF0"/>
            </a:solidFill>
            <a:prstDash val="solid"/>
          </a:ln>
          <a:effectLst>
            <a:outerShdw sx="100000" sy="100000" kx="0" ky="0" algn="bl" rotWithShape="0" blurRad="63500" dist="19050" dir="5400000">
              <a:srgbClr val="0F2F4E">
                <a:alpha val="9000"/>
              </a:srgbClr>
            </a:outerShdw>
          </a:effectLst>
        </p:spPr>
      </p:sp>
      <p:sp>
        <p:nvSpPr>
          <p:cNvPr id="23" name="Shape 21"/>
          <p:cNvSpPr/>
          <p:nvPr/>
        </p:nvSpPr>
        <p:spPr>
          <a:xfrm>
            <a:off x="2804099" y="1225296"/>
            <a:ext cx="173736" cy="173736"/>
          </a:xfrm>
          <a:prstGeom prst="ellipse">
            <a:avLst/>
          </a:prstGeom>
          <a:solidFill>
            <a:srgbClr val="133B6C"/>
          </a:solidFill>
          <a:ln/>
        </p:spPr>
      </p:sp>
      <p:sp>
        <p:nvSpPr>
          <p:cNvPr id="24" name="Text 22"/>
          <p:cNvSpPr txBox="1"/>
          <p:nvPr/>
        </p:nvSpPr>
        <p:spPr>
          <a:xfrm>
            <a:off x="2804099" y="1225296"/>
            <a:ext cx="173736" cy="1737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23"/>
          <p:cNvSpPr txBox="1"/>
          <p:nvPr/>
        </p:nvSpPr>
        <p:spPr>
          <a:xfrm>
            <a:off x="3050987" y="1207008"/>
            <a:ext cx="1715963" cy="457200"/>
          </a:xfrm>
          <a:prstGeom prst="rect">
            <a:avLst/>
          </a:prstGeom>
          <a:noFill/>
          <a:ln/>
        </p:spPr>
        <p:txBody>
          <a:bodyPr wrap="square" lIns="0" tIns="0" rIns="0" bIns="0" rtlCol="0" anchor="t"/>
          <a:lstStyle/>
          <a:p>
            <a:pPr algn="l" indent="0" marL="0">
              <a:lnSpc>
                <a:spcPct val="112000"/>
              </a:lnSpc>
              <a:buNone/>
            </a:pPr>
            <a:r>
              <a:rPr lang="en-US" sz="950" b="1" dirty="0">
                <a:solidFill>
                  <a:srgbClr val="17223A"/>
                </a:solidFill>
                <a:latin typeface="Calibri" pitchFamily="34" charset="0"/>
                <a:ea typeface="Calibri" pitchFamily="34" charset="-122"/>
                <a:cs typeface="Calibri" pitchFamily="34" charset="-120"/>
              </a:rPr>
              <a:t>¿El soporte de EVERTEC atiende oportunamente?</a:t>
            </a:r>
            <a:endParaRPr lang="en-US" sz="950" dirty="0"/>
          </a:p>
        </p:txBody>
      </p:sp>
      <p:sp>
        <p:nvSpPr>
          <p:cNvPr id="26" name="Shape 24"/>
          <p:cNvSpPr/>
          <p:nvPr/>
        </p:nvSpPr>
        <p:spPr>
          <a:xfrm>
            <a:off x="2804099" y="1664208"/>
            <a:ext cx="1962851" cy="118872"/>
          </a:xfrm>
          <a:prstGeom prst="roundRect">
            <a:avLst>
              <a:gd name="adj" fmla="val 15385"/>
            </a:avLst>
          </a:prstGeom>
          <a:solidFill>
            <a:srgbClr val="EEF1F5"/>
          </a:solidFill>
          <a:ln/>
        </p:spPr>
      </p:sp>
      <p:sp>
        <p:nvSpPr>
          <p:cNvPr id="27" name="Shape 25"/>
          <p:cNvSpPr/>
          <p:nvPr/>
        </p:nvSpPr>
        <p:spPr>
          <a:xfrm>
            <a:off x="2804099" y="1664208"/>
            <a:ext cx="1385773" cy="118872"/>
          </a:xfrm>
          <a:prstGeom prst="rect">
            <a:avLst/>
          </a:prstGeom>
          <a:solidFill>
            <a:srgbClr val="1E8449"/>
          </a:solidFill>
          <a:ln/>
        </p:spPr>
      </p:sp>
      <p:sp>
        <p:nvSpPr>
          <p:cNvPr id="28" name="Shape 26"/>
          <p:cNvSpPr/>
          <p:nvPr/>
        </p:nvSpPr>
        <p:spPr>
          <a:xfrm>
            <a:off x="4189872" y="1664208"/>
            <a:ext cx="345462" cy="118872"/>
          </a:xfrm>
          <a:prstGeom prst="rect">
            <a:avLst/>
          </a:prstGeom>
          <a:solidFill>
            <a:srgbClr val="A6650F"/>
          </a:solidFill>
          <a:ln/>
        </p:spPr>
      </p:sp>
      <p:sp>
        <p:nvSpPr>
          <p:cNvPr id="29" name="Shape 27"/>
          <p:cNvSpPr/>
          <p:nvPr/>
        </p:nvSpPr>
        <p:spPr>
          <a:xfrm>
            <a:off x="4535334" y="1664208"/>
            <a:ext cx="231616" cy="118872"/>
          </a:xfrm>
          <a:prstGeom prst="rect">
            <a:avLst/>
          </a:prstGeom>
          <a:solidFill>
            <a:srgbClr val="1D63A1"/>
          </a:solidFill>
          <a:ln/>
        </p:spPr>
      </p:sp>
      <p:sp>
        <p:nvSpPr>
          <p:cNvPr id="30" name="Shape 28"/>
          <p:cNvSpPr/>
          <p:nvPr/>
        </p:nvSpPr>
        <p:spPr>
          <a:xfrm>
            <a:off x="2804099" y="1856232"/>
            <a:ext cx="54864" cy="54864"/>
          </a:xfrm>
          <a:prstGeom prst="ellipse">
            <a:avLst/>
          </a:prstGeom>
          <a:solidFill>
            <a:srgbClr val="1E8449"/>
          </a:solidFill>
          <a:ln/>
        </p:spPr>
      </p:sp>
      <p:sp>
        <p:nvSpPr>
          <p:cNvPr id="31" name="Text 29"/>
          <p:cNvSpPr txBox="1"/>
          <p:nvPr/>
        </p:nvSpPr>
        <p:spPr>
          <a:xfrm>
            <a:off x="2904683" y="1819656"/>
            <a:ext cx="1862267" cy="128016"/>
          </a:xfrm>
          <a:prstGeom prst="rect">
            <a:avLst/>
          </a:prstGeom>
          <a:noFill/>
          <a:ln/>
        </p:spPr>
        <p:txBody>
          <a:bodyPr wrap="square" lIns="0" tIns="0" rIns="0" bIns="0" rtlCol="0" anchor="ctr"/>
          <a:lstStyle/>
          <a:p>
            <a:pPr algn="l" indent="0" marL="0">
              <a:buNone/>
            </a:pPr>
            <a:r>
              <a:rPr lang="en-US" sz="760" b="1" dirty="0">
                <a:solidFill>
                  <a:srgbClr val="1E8449"/>
                </a:solidFill>
                <a:latin typeface="Calibri" pitchFamily="34" charset="0"/>
                <a:ea typeface="Calibri" pitchFamily="34" charset="-122"/>
                <a:cs typeface="Calibri" pitchFamily="34" charset="-120"/>
              </a:rPr>
              <a:t>70.6% Oportuno</a:t>
            </a:r>
            <a:endParaRPr lang="en-US" sz="760" dirty="0"/>
          </a:p>
        </p:txBody>
      </p:sp>
      <p:sp>
        <p:nvSpPr>
          <p:cNvPr id="32" name="Shape 30"/>
          <p:cNvSpPr/>
          <p:nvPr/>
        </p:nvSpPr>
        <p:spPr>
          <a:xfrm>
            <a:off x="2804099" y="1997964"/>
            <a:ext cx="54864" cy="54864"/>
          </a:xfrm>
          <a:prstGeom prst="ellipse">
            <a:avLst/>
          </a:prstGeom>
          <a:solidFill>
            <a:srgbClr val="A6650F"/>
          </a:solidFill>
          <a:ln/>
        </p:spPr>
      </p:sp>
      <p:sp>
        <p:nvSpPr>
          <p:cNvPr id="33" name="Text 31"/>
          <p:cNvSpPr txBox="1"/>
          <p:nvPr/>
        </p:nvSpPr>
        <p:spPr>
          <a:xfrm>
            <a:off x="2904683" y="1961388"/>
            <a:ext cx="1862267" cy="128016"/>
          </a:xfrm>
          <a:prstGeom prst="rect">
            <a:avLst/>
          </a:prstGeom>
          <a:noFill/>
          <a:ln/>
        </p:spPr>
        <p:txBody>
          <a:bodyPr wrap="square" lIns="0" tIns="0" rIns="0" bIns="0" rtlCol="0" anchor="ctr"/>
          <a:lstStyle/>
          <a:p>
            <a:pPr algn="l" indent="0" marL="0">
              <a:buNone/>
            </a:pPr>
            <a:r>
              <a:rPr lang="en-US" sz="760" b="1" dirty="0">
                <a:solidFill>
                  <a:srgbClr val="A6650F"/>
                </a:solidFill>
                <a:latin typeface="Calibri" pitchFamily="34" charset="0"/>
                <a:ea typeface="Calibri" pitchFamily="34" charset="-122"/>
                <a:cs typeface="Calibri" pitchFamily="34" charset="-120"/>
              </a:rPr>
              <a:t>17.6% Regular</a:t>
            </a:r>
            <a:endParaRPr lang="en-US" sz="760" dirty="0"/>
          </a:p>
        </p:txBody>
      </p:sp>
      <p:sp>
        <p:nvSpPr>
          <p:cNvPr id="34" name="Shape 32"/>
          <p:cNvSpPr/>
          <p:nvPr/>
        </p:nvSpPr>
        <p:spPr>
          <a:xfrm>
            <a:off x="2804099" y="2139696"/>
            <a:ext cx="54864" cy="54864"/>
          </a:xfrm>
          <a:prstGeom prst="ellipse">
            <a:avLst/>
          </a:prstGeom>
          <a:solidFill>
            <a:srgbClr val="1D63A1"/>
          </a:solidFill>
          <a:ln/>
        </p:spPr>
      </p:sp>
      <p:sp>
        <p:nvSpPr>
          <p:cNvPr id="35" name="Text 33"/>
          <p:cNvSpPr txBox="1"/>
          <p:nvPr/>
        </p:nvSpPr>
        <p:spPr>
          <a:xfrm>
            <a:off x="2904683" y="2103120"/>
            <a:ext cx="1862267" cy="128016"/>
          </a:xfrm>
          <a:prstGeom prst="rect">
            <a:avLst/>
          </a:prstGeom>
          <a:noFill/>
          <a:ln/>
        </p:spPr>
        <p:txBody>
          <a:bodyPr wrap="square" lIns="0" tIns="0" rIns="0" bIns="0" rtlCol="0" anchor="ctr"/>
          <a:lstStyle/>
          <a:p>
            <a:pPr algn="l" indent="0" marL="0">
              <a:buNone/>
            </a:pPr>
            <a:r>
              <a:rPr lang="en-US" sz="760" b="1" dirty="0">
                <a:solidFill>
                  <a:srgbClr val="1D63A1"/>
                </a:solidFill>
                <a:latin typeface="Calibri" pitchFamily="34" charset="0"/>
                <a:ea typeface="Calibri" pitchFamily="34" charset="-122"/>
                <a:cs typeface="Calibri" pitchFamily="34" charset="-120"/>
              </a:rPr>
              <a:t>11.8% Muy oportuno</a:t>
            </a:r>
            <a:endParaRPr lang="en-US" sz="760" dirty="0"/>
          </a:p>
        </p:txBody>
      </p:sp>
      <p:sp>
        <p:nvSpPr>
          <p:cNvPr id="36" name="Shape 34"/>
          <p:cNvSpPr/>
          <p:nvPr/>
        </p:nvSpPr>
        <p:spPr>
          <a:xfrm>
            <a:off x="5004694" y="1133856"/>
            <a:ext cx="2182307" cy="1207008"/>
          </a:xfrm>
          <a:prstGeom prst="roundRect">
            <a:avLst>
              <a:gd name="adj" fmla="val 4545"/>
            </a:avLst>
          </a:prstGeom>
          <a:solidFill>
            <a:srgbClr val="FFFFFF"/>
          </a:solidFill>
          <a:ln w="9525">
            <a:solidFill>
              <a:srgbClr val="E7EAF0"/>
            </a:solidFill>
            <a:prstDash val="solid"/>
          </a:ln>
          <a:effectLst>
            <a:outerShdw sx="100000" sy="100000" kx="0" ky="0" algn="bl" rotWithShape="0" blurRad="63500" dist="19050" dir="5400000">
              <a:srgbClr val="0F2F4E">
                <a:alpha val="9000"/>
              </a:srgbClr>
            </a:outerShdw>
          </a:effectLst>
        </p:spPr>
      </p:sp>
      <p:sp>
        <p:nvSpPr>
          <p:cNvPr id="37" name="Shape 35"/>
          <p:cNvSpPr/>
          <p:nvPr/>
        </p:nvSpPr>
        <p:spPr>
          <a:xfrm>
            <a:off x="5114422" y="1225296"/>
            <a:ext cx="173736" cy="173736"/>
          </a:xfrm>
          <a:prstGeom prst="ellipse">
            <a:avLst/>
          </a:prstGeom>
          <a:solidFill>
            <a:srgbClr val="133B6C"/>
          </a:solidFill>
          <a:ln/>
        </p:spPr>
      </p:sp>
      <p:sp>
        <p:nvSpPr>
          <p:cNvPr id="38" name="Text 36"/>
          <p:cNvSpPr txBox="1"/>
          <p:nvPr/>
        </p:nvSpPr>
        <p:spPr>
          <a:xfrm>
            <a:off x="5114422" y="1225296"/>
            <a:ext cx="173736" cy="1737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9" name="Text 37"/>
          <p:cNvSpPr txBox="1"/>
          <p:nvPr/>
        </p:nvSpPr>
        <p:spPr>
          <a:xfrm>
            <a:off x="5361310" y="1207008"/>
            <a:ext cx="1715963" cy="457200"/>
          </a:xfrm>
          <a:prstGeom prst="rect">
            <a:avLst/>
          </a:prstGeom>
          <a:noFill/>
          <a:ln/>
        </p:spPr>
        <p:txBody>
          <a:bodyPr wrap="square" lIns="0" tIns="0" rIns="0" bIns="0" rtlCol="0" anchor="t"/>
          <a:lstStyle/>
          <a:p>
            <a:pPr algn="l" indent="0" marL="0">
              <a:lnSpc>
                <a:spcPct val="112000"/>
              </a:lnSpc>
              <a:buNone/>
            </a:pPr>
            <a:r>
              <a:rPr lang="en-US" sz="950" b="1" dirty="0">
                <a:solidFill>
                  <a:srgbClr val="17223A"/>
                </a:solidFill>
                <a:latin typeface="Calibri" pitchFamily="34" charset="0"/>
                <a:ea typeface="Calibri" pitchFamily="34" charset="-122"/>
                <a:cs typeface="Calibri" pitchFamily="34" charset="-120"/>
              </a:rPr>
              <a:t>¿Con qué frecuencia hay reclamos de asociados?</a:t>
            </a:r>
            <a:endParaRPr lang="en-US" sz="950" dirty="0"/>
          </a:p>
        </p:txBody>
      </p:sp>
      <p:sp>
        <p:nvSpPr>
          <p:cNvPr id="40" name="Shape 38"/>
          <p:cNvSpPr/>
          <p:nvPr/>
        </p:nvSpPr>
        <p:spPr>
          <a:xfrm>
            <a:off x="5114422" y="1664208"/>
            <a:ext cx="1962851" cy="118872"/>
          </a:xfrm>
          <a:prstGeom prst="roundRect">
            <a:avLst>
              <a:gd name="adj" fmla="val 15385"/>
            </a:avLst>
          </a:prstGeom>
          <a:solidFill>
            <a:srgbClr val="EEF1F5"/>
          </a:solidFill>
          <a:ln/>
        </p:spPr>
      </p:sp>
      <p:sp>
        <p:nvSpPr>
          <p:cNvPr id="41" name="Shape 39"/>
          <p:cNvSpPr/>
          <p:nvPr/>
        </p:nvSpPr>
        <p:spPr>
          <a:xfrm>
            <a:off x="5114422" y="1664208"/>
            <a:ext cx="808695" cy="118872"/>
          </a:xfrm>
          <a:prstGeom prst="rect">
            <a:avLst/>
          </a:prstGeom>
          <a:solidFill>
            <a:srgbClr val="E0392B"/>
          </a:solidFill>
          <a:ln/>
        </p:spPr>
      </p:sp>
      <p:sp>
        <p:nvSpPr>
          <p:cNvPr id="42" name="Shape 40"/>
          <p:cNvSpPr/>
          <p:nvPr/>
        </p:nvSpPr>
        <p:spPr>
          <a:xfrm>
            <a:off x="5923117" y="1664208"/>
            <a:ext cx="692886" cy="118872"/>
          </a:xfrm>
          <a:prstGeom prst="rect">
            <a:avLst/>
          </a:prstGeom>
          <a:solidFill>
            <a:srgbClr val="A6650F"/>
          </a:solidFill>
          <a:ln/>
        </p:spPr>
      </p:sp>
      <p:sp>
        <p:nvSpPr>
          <p:cNvPr id="43" name="Shape 41"/>
          <p:cNvSpPr/>
          <p:nvPr/>
        </p:nvSpPr>
        <p:spPr>
          <a:xfrm>
            <a:off x="6616003" y="1664208"/>
            <a:ext cx="461270" cy="118872"/>
          </a:xfrm>
          <a:prstGeom prst="rect">
            <a:avLst/>
          </a:prstGeom>
          <a:solidFill>
            <a:srgbClr val="1E8449"/>
          </a:solidFill>
          <a:ln/>
        </p:spPr>
      </p:sp>
      <p:sp>
        <p:nvSpPr>
          <p:cNvPr id="44" name="Shape 42"/>
          <p:cNvSpPr/>
          <p:nvPr/>
        </p:nvSpPr>
        <p:spPr>
          <a:xfrm>
            <a:off x="5114422" y="1856232"/>
            <a:ext cx="54864" cy="54864"/>
          </a:xfrm>
          <a:prstGeom prst="ellipse">
            <a:avLst/>
          </a:prstGeom>
          <a:solidFill>
            <a:srgbClr val="E0392B"/>
          </a:solidFill>
          <a:ln/>
        </p:spPr>
      </p:sp>
      <p:sp>
        <p:nvSpPr>
          <p:cNvPr id="45" name="Text 43"/>
          <p:cNvSpPr txBox="1"/>
          <p:nvPr/>
        </p:nvSpPr>
        <p:spPr>
          <a:xfrm>
            <a:off x="5215006" y="1819656"/>
            <a:ext cx="1862267" cy="128016"/>
          </a:xfrm>
          <a:prstGeom prst="rect">
            <a:avLst/>
          </a:prstGeom>
          <a:noFill/>
          <a:ln/>
        </p:spPr>
        <p:txBody>
          <a:bodyPr wrap="square" lIns="0" tIns="0" rIns="0" bIns="0" rtlCol="0" anchor="ctr"/>
          <a:lstStyle/>
          <a:p>
            <a:pPr algn="l" indent="0" marL="0">
              <a:buNone/>
            </a:pPr>
            <a:r>
              <a:rPr lang="en-US" sz="760" b="1" dirty="0">
                <a:solidFill>
                  <a:srgbClr val="E0392B"/>
                </a:solidFill>
                <a:latin typeface="Calibri" pitchFamily="34" charset="0"/>
                <a:ea typeface="Calibri" pitchFamily="34" charset="-122"/>
                <a:cs typeface="Calibri" pitchFamily="34" charset="-120"/>
              </a:rPr>
              <a:t>41.2% Frecuente</a:t>
            </a:r>
            <a:endParaRPr lang="en-US" sz="760" dirty="0"/>
          </a:p>
        </p:txBody>
      </p:sp>
      <p:sp>
        <p:nvSpPr>
          <p:cNvPr id="46" name="Shape 44"/>
          <p:cNvSpPr/>
          <p:nvPr/>
        </p:nvSpPr>
        <p:spPr>
          <a:xfrm>
            <a:off x="5114422" y="1997964"/>
            <a:ext cx="54864" cy="54864"/>
          </a:xfrm>
          <a:prstGeom prst="ellipse">
            <a:avLst/>
          </a:prstGeom>
          <a:solidFill>
            <a:srgbClr val="A6650F"/>
          </a:solidFill>
          <a:ln/>
        </p:spPr>
      </p:sp>
      <p:sp>
        <p:nvSpPr>
          <p:cNvPr id="47" name="Text 45"/>
          <p:cNvSpPr txBox="1"/>
          <p:nvPr/>
        </p:nvSpPr>
        <p:spPr>
          <a:xfrm>
            <a:off x="5215006" y="1961388"/>
            <a:ext cx="1862267" cy="128016"/>
          </a:xfrm>
          <a:prstGeom prst="rect">
            <a:avLst/>
          </a:prstGeom>
          <a:noFill/>
          <a:ln/>
        </p:spPr>
        <p:txBody>
          <a:bodyPr wrap="square" lIns="0" tIns="0" rIns="0" bIns="0" rtlCol="0" anchor="ctr"/>
          <a:lstStyle/>
          <a:p>
            <a:pPr algn="l" indent="0" marL="0">
              <a:buNone/>
            </a:pPr>
            <a:r>
              <a:rPr lang="en-US" sz="760" b="1" dirty="0">
                <a:solidFill>
                  <a:srgbClr val="A6650F"/>
                </a:solidFill>
                <a:latin typeface="Calibri" pitchFamily="34" charset="0"/>
                <a:ea typeface="Calibri" pitchFamily="34" charset="-122"/>
                <a:cs typeface="Calibri" pitchFamily="34" charset="-120"/>
              </a:rPr>
              <a:t>35.3% Algunas veces</a:t>
            </a:r>
            <a:endParaRPr lang="en-US" sz="760" dirty="0"/>
          </a:p>
        </p:txBody>
      </p:sp>
      <p:sp>
        <p:nvSpPr>
          <p:cNvPr id="48" name="Shape 46"/>
          <p:cNvSpPr/>
          <p:nvPr/>
        </p:nvSpPr>
        <p:spPr>
          <a:xfrm>
            <a:off x="5114422" y="2139696"/>
            <a:ext cx="54864" cy="54864"/>
          </a:xfrm>
          <a:prstGeom prst="ellipse">
            <a:avLst/>
          </a:prstGeom>
          <a:solidFill>
            <a:srgbClr val="1E8449"/>
          </a:solidFill>
          <a:ln/>
        </p:spPr>
      </p:sp>
      <p:sp>
        <p:nvSpPr>
          <p:cNvPr id="49" name="Text 47"/>
          <p:cNvSpPr txBox="1"/>
          <p:nvPr/>
        </p:nvSpPr>
        <p:spPr>
          <a:xfrm>
            <a:off x="5215006" y="2103120"/>
            <a:ext cx="1862267" cy="128016"/>
          </a:xfrm>
          <a:prstGeom prst="rect">
            <a:avLst/>
          </a:prstGeom>
          <a:noFill/>
          <a:ln/>
        </p:spPr>
        <p:txBody>
          <a:bodyPr wrap="square" lIns="0" tIns="0" rIns="0" bIns="0" rtlCol="0" anchor="ctr"/>
          <a:lstStyle/>
          <a:p>
            <a:pPr algn="l" indent="0" marL="0">
              <a:buNone/>
            </a:pPr>
            <a:r>
              <a:rPr lang="en-US" sz="760" b="1" dirty="0">
                <a:solidFill>
                  <a:srgbClr val="1E8449"/>
                </a:solidFill>
                <a:latin typeface="Calibri" pitchFamily="34" charset="0"/>
                <a:ea typeface="Calibri" pitchFamily="34" charset="-122"/>
                <a:cs typeface="Calibri" pitchFamily="34" charset="-120"/>
              </a:rPr>
              <a:t>23.5% Rara vez</a:t>
            </a:r>
            <a:endParaRPr lang="en-US" sz="760" dirty="0"/>
          </a:p>
        </p:txBody>
      </p:sp>
      <p:sp>
        <p:nvSpPr>
          <p:cNvPr id="50" name="Shape 48"/>
          <p:cNvSpPr/>
          <p:nvPr/>
        </p:nvSpPr>
        <p:spPr>
          <a:xfrm>
            <a:off x="7315017" y="1133856"/>
            <a:ext cx="2182307" cy="1207008"/>
          </a:xfrm>
          <a:prstGeom prst="roundRect">
            <a:avLst>
              <a:gd name="adj" fmla="val 4545"/>
            </a:avLst>
          </a:prstGeom>
          <a:solidFill>
            <a:srgbClr val="FFFFFF"/>
          </a:solidFill>
          <a:ln w="9525">
            <a:solidFill>
              <a:srgbClr val="E7EAF0"/>
            </a:solidFill>
            <a:prstDash val="solid"/>
          </a:ln>
          <a:effectLst>
            <a:outerShdw sx="100000" sy="100000" kx="0" ky="0" algn="bl" rotWithShape="0" blurRad="63500" dist="19050" dir="5400000">
              <a:srgbClr val="0F2F4E">
                <a:alpha val="9000"/>
              </a:srgbClr>
            </a:outerShdw>
          </a:effectLst>
        </p:spPr>
      </p:sp>
      <p:sp>
        <p:nvSpPr>
          <p:cNvPr id="51" name="Shape 49"/>
          <p:cNvSpPr/>
          <p:nvPr/>
        </p:nvSpPr>
        <p:spPr>
          <a:xfrm>
            <a:off x="7424745" y="1225296"/>
            <a:ext cx="173736" cy="173736"/>
          </a:xfrm>
          <a:prstGeom prst="ellipse">
            <a:avLst/>
          </a:prstGeom>
          <a:solidFill>
            <a:srgbClr val="133B6C"/>
          </a:solidFill>
          <a:ln/>
        </p:spPr>
      </p:sp>
      <p:sp>
        <p:nvSpPr>
          <p:cNvPr id="52" name="Text 50"/>
          <p:cNvSpPr txBox="1"/>
          <p:nvPr/>
        </p:nvSpPr>
        <p:spPr>
          <a:xfrm>
            <a:off x="7424745" y="1225296"/>
            <a:ext cx="173736" cy="1737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3" name="Text 51"/>
          <p:cNvSpPr txBox="1"/>
          <p:nvPr/>
        </p:nvSpPr>
        <p:spPr>
          <a:xfrm>
            <a:off x="7671633" y="1207008"/>
            <a:ext cx="1715963" cy="457200"/>
          </a:xfrm>
          <a:prstGeom prst="rect">
            <a:avLst/>
          </a:prstGeom>
          <a:noFill/>
          <a:ln/>
        </p:spPr>
        <p:txBody>
          <a:bodyPr wrap="square" lIns="0" tIns="0" rIns="0" bIns="0" rtlCol="0" anchor="t"/>
          <a:lstStyle/>
          <a:p>
            <a:pPr algn="l" indent="0" marL="0">
              <a:lnSpc>
                <a:spcPct val="112000"/>
              </a:lnSpc>
              <a:buNone/>
            </a:pPr>
            <a:r>
              <a:rPr lang="en-US" sz="950" b="1" dirty="0">
                <a:solidFill>
                  <a:srgbClr val="17223A"/>
                </a:solidFill>
                <a:latin typeface="Calibri" pitchFamily="34" charset="0"/>
                <a:ea typeface="Calibri" pitchFamily="34" charset="-122"/>
                <a:cs typeface="Calibri" pitchFamily="34" charset="-120"/>
              </a:rPr>
              <a:t>¿Qué tan fácil es gestionar incidencias/reversas?</a:t>
            </a:r>
            <a:endParaRPr lang="en-US" sz="950" dirty="0"/>
          </a:p>
        </p:txBody>
      </p:sp>
      <p:sp>
        <p:nvSpPr>
          <p:cNvPr id="54" name="Shape 52"/>
          <p:cNvSpPr/>
          <p:nvPr/>
        </p:nvSpPr>
        <p:spPr>
          <a:xfrm>
            <a:off x="7424745" y="1664208"/>
            <a:ext cx="1962851" cy="118872"/>
          </a:xfrm>
          <a:prstGeom prst="roundRect">
            <a:avLst>
              <a:gd name="adj" fmla="val 15385"/>
            </a:avLst>
          </a:prstGeom>
          <a:solidFill>
            <a:srgbClr val="EEF1F5"/>
          </a:solidFill>
          <a:ln/>
        </p:spPr>
      </p:sp>
      <p:sp>
        <p:nvSpPr>
          <p:cNvPr id="55" name="Shape 53"/>
          <p:cNvSpPr/>
          <p:nvPr/>
        </p:nvSpPr>
        <p:spPr>
          <a:xfrm>
            <a:off x="7424745" y="1664208"/>
            <a:ext cx="1038348" cy="118872"/>
          </a:xfrm>
          <a:prstGeom prst="rect">
            <a:avLst/>
          </a:prstGeom>
          <a:solidFill>
            <a:srgbClr val="A6650F"/>
          </a:solidFill>
          <a:ln/>
        </p:spPr>
      </p:sp>
      <p:sp>
        <p:nvSpPr>
          <p:cNvPr id="56" name="Shape 54"/>
          <p:cNvSpPr/>
          <p:nvPr/>
        </p:nvSpPr>
        <p:spPr>
          <a:xfrm>
            <a:off x="8463093" y="1664208"/>
            <a:ext cx="692886" cy="118872"/>
          </a:xfrm>
          <a:prstGeom prst="rect">
            <a:avLst/>
          </a:prstGeom>
          <a:solidFill>
            <a:srgbClr val="1E8449"/>
          </a:solidFill>
          <a:ln/>
        </p:spPr>
      </p:sp>
      <p:sp>
        <p:nvSpPr>
          <p:cNvPr id="57" name="Shape 55"/>
          <p:cNvSpPr/>
          <p:nvPr/>
        </p:nvSpPr>
        <p:spPr>
          <a:xfrm>
            <a:off x="9155980" y="1664208"/>
            <a:ext cx="231616" cy="118872"/>
          </a:xfrm>
          <a:prstGeom prst="rect">
            <a:avLst/>
          </a:prstGeom>
          <a:solidFill>
            <a:srgbClr val="5B6B82"/>
          </a:solidFill>
          <a:ln/>
        </p:spPr>
      </p:sp>
      <p:sp>
        <p:nvSpPr>
          <p:cNvPr id="58" name="Shape 56"/>
          <p:cNvSpPr/>
          <p:nvPr/>
        </p:nvSpPr>
        <p:spPr>
          <a:xfrm>
            <a:off x="7424745" y="1856232"/>
            <a:ext cx="54864" cy="54864"/>
          </a:xfrm>
          <a:prstGeom prst="ellipse">
            <a:avLst/>
          </a:prstGeom>
          <a:solidFill>
            <a:srgbClr val="A6650F"/>
          </a:solidFill>
          <a:ln/>
        </p:spPr>
      </p:sp>
      <p:sp>
        <p:nvSpPr>
          <p:cNvPr id="59" name="Text 57"/>
          <p:cNvSpPr txBox="1"/>
          <p:nvPr/>
        </p:nvSpPr>
        <p:spPr>
          <a:xfrm>
            <a:off x="7525329" y="1819656"/>
            <a:ext cx="1862267" cy="128016"/>
          </a:xfrm>
          <a:prstGeom prst="rect">
            <a:avLst/>
          </a:prstGeom>
          <a:noFill/>
          <a:ln/>
        </p:spPr>
        <p:txBody>
          <a:bodyPr wrap="square" lIns="0" tIns="0" rIns="0" bIns="0" rtlCol="0" anchor="ctr"/>
          <a:lstStyle/>
          <a:p>
            <a:pPr algn="l" indent="0" marL="0">
              <a:buNone/>
            </a:pPr>
            <a:r>
              <a:rPr lang="en-US" sz="760" b="1" dirty="0">
                <a:solidFill>
                  <a:srgbClr val="A6650F"/>
                </a:solidFill>
                <a:latin typeface="Calibri" pitchFamily="34" charset="0"/>
                <a:ea typeface="Calibri" pitchFamily="34" charset="-122"/>
                <a:cs typeface="Calibri" pitchFamily="34" charset="-120"/>
              </a:rPr>
              <a:t>52.9% Regular</a:t>
            </a:r>
            <a:endParaRPr lang="en-US" sz="760" dirty="0"/>
          </a:p>
        </p:txBody>
      </p:sp>
      <p:sp>
        <p:nvSpPr>
          <p:cNvPr id="60" name="Shape 58"/>
          <p:cNvSpPr/>
          <p:nvPr/>
        </p:nvSpPr>
        <p:spPr>
          <a:xfrm>
            <a:off x="7424745" y="1997964"/>
            <a:ext cx="54864" cy="54864"/>
          </a:xfrm>
          <a:prstGeom prst="ellipse">
            <a:avLst/>
          </a:prstGeom>
          <a:solidFill>
            <a:srgbClr val="1E8449"/>
          </a:solidFill>
          <a:ln/>
        </p:spPr>
      </p:sp>
      <p:sp>
        <p:nvSpPr>
          <p:cNvPr id="61" name="Text 59"/>
          <p:cNvSpPr txBox="1"/>
          <p:nvPr/>
        </p:nvSpPr>
        <p:spPr>
          <a:xfrm>
            <a:off x="7525329" y="1961388"/>
            <a:ext cx="1862267" cy="128016"/>
          </a:xfrm>
          <a:prstGeom prst="rect">
            <a:avLst/>
          </a:prstGeom>
          <a:noFill/>
          <a:ln/>
        </p:spPr>
        <p:txBody>
          <a:bodyPr wrap="square" lIns="0" tIns="0" rIns="0" bIns="0" rtlCol="0" anchor="ctr"/>
          <a:lstStyle/>
          <a:p>
            <a:pPr algn="l" indent="0" marL="0">
              <a:buNone/>
            </a:pPr>
            <a:r>
              <a:rPr lang="en-US" sz="760" b="1" dirty="0">
                <a:solidFill>
                  <a:srgbClr val="1E8449"/>
                </a:solidFill>
                <a:latin typeface="Calibri" pitchFamily="34" charset="0"/>
                <a:ea typeface="Calibri" pitchFamily="34" charset="-122"/>
                <a:cs typeface="Calibri" pitchFamily="34" charset="-120"/>
              </a:rPr>
              <a:t>35.3% Fácil</a:t>
            </a:r>
            <a:endParaRPr lang="en-US" sz="760" dirty="0"/>
          </a:p>
        </p:txBody>
      </p:sp>
      <p:sp>
        <p:nvSpPr>
          <p:cNvPr id="62" name="Shape 60"/>
          <p:cNvSpPr/>
          <p:nvPr/>
        </p:nvSpPr>
        <p:spPr>
          <a:xfrm>
            <a:off x="7424745" y="2139696"/>
            <a:ext cx="54864" cy="54864"/>
          </a:xfrm>
          <a:prstGeom prst="ellipse">
            <a:avLst/>
          </a:prstGeom>
          <a:solidFill>
            <a:srgbClr val="5B6B82"/>
          </a:solidFill>
          <a:ln/>
        </p:spPr>
      </p:sp>
      <p:sp>
        <p:nvSpPr>
          <p:cNvPr id="63" name="Text 61"/>
          <p:cNvSpPr txBox="1"/>
          <p:nvPr/>
        </p:nvSpPr>
        <p:spPr>
          <a:xfrm>
            <a:off x="7525329" y="2103120"/>
            <a:ext cx="1862267" cy="128016"/>
          </a:xfrm>
          <a:prstGeom prst="rect">
            <a:avLst/>
          </a:prstGeom>
          <a:noFill/>
          <a:ln/>
        </p:spPr>
        <p:txBody>
          <a:bodyPr wrap="square" lIns="0" tIns="0" rIns="0" bIns="0" rtlCol="0" anchor="ctr"/>
          <a:lstStyle/>
          <a:p>
            <a:pPr algn="l" indent="0" marL="0">
              <a:buNone/>
            </a:pPr>
            <a:r>
              <a:rPr lang="en-US" sz="760" b="1" dirty="0">
                <a:solidFill>
                  <a:srgbClr val="5B6B82"/>
                </a:solidFill>
                <a:latin typeface="Calibri" pitchFamily="34" charset="0"/>
                <a:ea typeface="Calibri" pitchFamily="34" charset="-122"/>
                <a:cs typeface="Calibri" pitchFamily="34" charset="-120"/>
              </a:rPr>
              <a:t>11.8% Difícil</a:t>
            </a:r>
            <a:endParaRPr lang="en-US" sz="760" dirty="0"/>
          </a:p>
        </p:txBody>
      </p:sp>
      <p:sp>
        <p:nvSpPr>
          <p:cNvPr id="64" name="Shape 62"/>
          <p:cNvSpPr/>
          <p:nvPr/>
        </p:nvSpPr>
        <p:spPr>
          <a:xfrm>
            <a:off x="9625340" y="1133856"/>
            <a:ext cx="2182307" cy="1207008"/>
          </a:xfrm>
          <a:prstGeom prst="roundRect">
            <a:avLst>
              <a:gd name="adj" fmla="val 4545"/>
            </a:avLst>
          </a:prstGeom>
          <a:solidFill>
            <a:srgbClr val="FFFFFF"/>
          </a:solidFill>
          <a:ln w="9525">
            <a:solidFill>
              <a:srgbClr val="E7EAF0"/>
            </a:solidFill>
            <a:prstDash val="solid"/>
          </a:ln>
          <a:effectLst>
            <a:outerShdw sx="100000" sy="100000" kx="0" ky="0" algn="bl" rotWithShape="0" blurRad="63500" dist="19050" dir="5400000">
              <a:srgbClr val="0F2F4E">
                <a:alpha val="9000"/>
              </a:srgbClr>
            </a:outerShdw>
          </a:effectLst>
        </p:spPr>
      </p:sp>
      <p:sp>
        <p:nvSpPr>
          <p:cNvPr id="65" name="Shape 63"/>
          <p:cNvSpPr/>
          <p:nvPr/>
        </p:nvSpPr>
        <p:spPr>
          <a:xfrm>
            <a:off x="9735068" y="1225296"/>
            <a:ext cx="173736" cy="173736"/>
          </a:xfrm>
          <a:prstGeom prst="ellipse">
            <a:avLst/>
          </a:prstGeom>
          <a:solidFill>
            <a:srgbClr val="133B6C"/>
          </a:solidFill>
          <a:ln/>
        </p:spPr>
      </p:sp>
      <p:sp>
        <p:nvSpPr>
          <p:cNvPr id="66" name="Text 64"/>
          <p:cNvSpPr txBox="1"/>
          <p:nvPr/>
        </p:nvSpPr>
        <p:spPr>
          <a:xfrm>
            <a:off x="9735068" y="1225296"/>
            <a:ext cx="173736" cy="17373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67" name="Text 65"/>
          <p:cNvSpPr txBox="1"/>
          <p:nvPr/>
        </p:nvSpPr>
        <p:spPr>
          <a:xfrm>
            <a:off x="9981956" y="1207008"/>
            <a:ext cx="1715963" cy="457200"/>
          </a:xfrm>
          <a:prstGeom prst="rect">
            <a:avLst/>
          </a:prstGeom>
          <a:noFill/>
          <a:ln/>
        </p:spPr>
        <p:txBody>
          <a:bodyPr wrap="square" lIns="0" tIns="0" rIns="0" bIns="0" rtlCol="0" anchor="t"/>
          <a:lstStyle/>
          <a:p>
            <a:pPr algn="l" indent="0" marL="0">
              <a:lnSpc>
                <a:spcPct val="112000"/>
              </a:lnSpc>
              <a:buNone/>
            </a:pPr>
            <a:r>
              <a:rPr lang="en-US" sz="950" b="1" dirty="0">
                <a:solidFill>
                  <a:srgbClr val="17223A"/>
                </a:solidFill>
                <a:latin typeface="Calibri" pitchFamily="34" charset="0"/>
                <a:ea typeface="Calibri" pitchFamily="34" charset="-122"/>
                <a:cs typeface="Calibri" pitchFamily="34" charset="-120"/>
              </a:rPr>
              <a:t>Calificación general del servicio (escala 1–5)</a:t>
            </a:r>
            <a:endParaRPr lang="en-US" sz="950" dirty="0"/>
          </a:p>
        </p:txBody>
      </p:sp>
      <p:sp>
        <p:nvSpPr>
          <p:cNvPr id="68" name="Shape 66"/>
          <p:cNvSpPr/>
          <p:nvPr/>
        </p:nvSpPr>
        <p:spPr>
          <a:xfrm>
            <a:off x="9735068" y="1664208"/>
            <a:ext cx="1962851" cy="118872"/>
          </a:xfrm>
          <a:prstGeom prst="roundRect">
            <a:avLst>
              <a:gd name="adj" fmla="val 15385"/>
            </a:avLst>
          </a:prstGeom>
          <a:solidFill>
            <a:srgbClr val="EEF1F5"/>
          </a:solidFill>
          <a:ln/>
        </p:spPr>
      </p:sp>
      <p:sp>
        <p:nvSpPr>
          <p:cNvPr id="69" name="Shape 67"/>
          <p:cNvSpPr/>
          <p:nvPr/>
        </p:nvSpPr>
        <p:spPr>
          <a:xfrm>
            <a:off x="9735068" y="1664208"/>
            <a:ext cx="1617389" cy="118872"/>
          </a:xfrm>
          <a:prstGeom prst="rect">
            <a:avLst/>
          </a:prstGeom>
          <a:solidFill>
            <a:srgbClr val="1E8449"/>
          </a:solidFill>
          <a:ln/>
        </p:spPr>
      </p:sp>
      <p:sp>
        <p:nvSpPr>
          <p:cNvPr id="70" name="Shape 68"/>
          <p:cNvSpPr/>
          <p:nvPr/>
        </p:nvSpPr>
        <p:spPr>
          <a:xfrm>
            <a:off x="11352457" y="1664208"/>
            <a:ext cx="345462" cy="118872"/>
          </a:xfrm>
          <a:prstGeom prst="rect">
            <a:avLst/>
          </a:prstGeom>
          <a:solidFill>
            <a:srgbClr val="A6650F"/>
          </a:solidFill>
          <a:ln/>
        </p:spPr>
      </p:sp>
      <p:sp>
        <p:nvSpPr>
          <p:cNvPr id="71" name="Shape 69"/>
          <p:cNvSpPr/>
          <p:nvPr/>
        </p:nvSpPr>
        <p:spPr>
          <a:xfrm>
            <a:off x="9735068" y="1856232"/>
            <a:ext cx="54864" cy="54864"/>
          </a:xfrm>
          <a:prstGeom prst="ellipse">
            <a:avLst/>
          </a:prstGeom>
          <a:solidFill>
            <a:srgbClr val="1E8449"/>
          </a:solidFill>
          <a:ln/>
        </p:spPr>
      </p:sp>
      <p:sp>
        <p:nvSpPr>
          <p:cNvPr id="72" name="Text 70"/>
          <p:cNvSpPr txBox="1"/>
          <p:nvPr/>
        </p:nvSpPr>
        <p:spPr>
          <a:xfrm>
            <a:off x="9835652" y="1819656"/>
            <a:ext cx="1862267" cy="128016"/>
          </a:xfrm>
          <a:prstGeom prst="rect">
            <a:avLst/>
          </a:prstGeom>
          <a:noFill/>
          <a:ln/>
        </p:spPr>
        <p:txBody>
          <a:bodyPr wrap="square" lIns="0" tIns="0" rIns="0" bIns="0" rtlCol="0" anchor="ctr"/>
          <a:lstStyle/>
          <a:p>
            <a:pPr algn="l" indent="0" marL="0">
              <a:buNone/>
            </a:pPr>
            <a:r>
              <a:rPr lang="en-US" sz="760" b="1" dirty="0">
                <a:solidFill>
                  <a:srgbClr val="1E8449"/>
                </a:solidFill>
                <a:latin typeface="Calibri" pitchFamily="34" charset="0"/>
                <a:ea typeface="Calibri" pitchFamily="34" charset="-122"/>
                <a:cs typeface="Calibri" pitchFamily="34" charset="-120"/>
              </a:rPr>
              <a:t>82.4% Nota 4</a:t>
            </a:r>
            <a:endParaRPr lang="en-US" sz="760" dirty="0"/>
          </a:p>
        </p:txBody>
      </p:sp>
      <p:sp>
        <p:nvSpPr>
          <p:cNvPr id="73" name="Shape 71"/>
          <p:cNvSpPr/>
          <p:nvPr/>
        </p:nvSpPr>
        <p:spPr>
          <a:xfrm>
            <a:off x="9735068" y="1997964"/>
            <a:ext cx="54864" cy="54864"/>
          </a:xfrm>
          <a:prstGeom prst="ellipse">
            <a:avLst/>
          </a:prstGeom>
          <a:solidFill>
            <a:srgbClr val="A6650F"/>
          </a:solidFill>
          <a:ln/>
        </p:spPr>
      </p:sp>
      <p:sp>
        <p:nvSpPr>
          <p:cNvPr id="74" name="Text 72"/>
          <p:cNvSpPr txBox="1"/>
          <p:nvPr/>
        </p:nvSpPr>
        <p:spPr>
          <a:xfrm>
            <a:off x="9835652" y="1961388"/>
            <a:ext cx="1862267" cy="128016"/>
          </a:xfrm>
          <a:prstGeom prst="rect">
            <a:avLst/>
          </a:prstGeom>
          <a:noFill/>
          <a:ln/>
        </p:spPr>
        <p:txBody>
          <a:bodyPr wrap="square" lIns="0" tIns="0" rIns="0" bIns="0" rtlCol="0" anchor="ctr"/>
          <a:lstStyle/>
          <a:p>
            <a:pPr algn="l" indent="0" marL="0">
              <a:buNone/>
            </a:pPr>
            <a:r>
              <a:rPr lang="en-US" sz="760" b="1" dirty="0">
                <a:solidFill>
                  <a:srgbClr val="A6650F"/>
                </a:solidFill>
                <a:latin typeface="Calibri" pitchFamily="34" charset="0"/>
                <a:ea typeface="Calibri" pitchFamily="34" charset="-122"/>
                <a:cs typeface="Calibri" pitchFamily="34" charset="-120"/>
              </a:rPr>
              <a:t>17.6% Nota 3</a:t>
            </a:r>
            <a:endParaRPr lang="en-US" sz="760" dirty="0"/>
          </a:p>
        </p:txBody>
      </p:sp>
      <p:sp>
        <p:nvSpPr>
          <p:cNvPr id="75" name="Shape 73"/>
          <p:cNvSpPr/>
          <p:nvPr/>
        </p:nvSpPr>
        <p:spPr>
          <a:xfrm>
            <a:off x="9735068" y="2139696"/>
            <a:ext cx="54864" cy="54864"/>
          </a:xfrm>
          <a:prstGeom prst="ellipse">
            <a:avLst/>
          </a:prstGeom>
          <a:solidFill>
            <a:srgbClr val="133B6C"/>
          </a:solidFill>
          <a:ln/>
        </p:spPr>
      </p:sp>
      <p:sp>
        <p:nvSpPr>
          <p:cNvPr id="76" name="Text 74"/>
          <p:cNvSpPr txBox="1"/>
          <p:nvPr/>
        </p:nvSpPr>
        <p:spPr>
          <a:xfrm>
            <a:off x="9835652" y="2103120"/>
            <a:ext cx="1862267" cy="128016"/>
          </a:xfrm>
          <a:prstGeom prst="rect">
            <a:avLst/>
          </a:prstGeom>
          <a:noFill/>
          <a:ln/>
        </p:spPr>
        <p:txBody>
          <a:bodyPr wrap="square" lIns="0" tIns="0" rIns="0" bIns="0" rtlCol="0" anchor="ctr"/>
          <a:lstStyle/>
          <a:p>
            <a:pPr algn="l" indent="0" marL="0">
              <a:buNone/>
            </a:pPr>
            <a:r>
              <a:rPr lang="en-US" sz="760" b="1" dirty="0">
                <a:solidFill>
                  <a:srgbClr val="133B6C"/>
                </a:solidFill>
                <a:latin typeface="Calibri" pitchFamily="34" charset="0"/>
                <a:ea typeface="Calibri" pitchFamily="34" charset="-122"/>
                <a:cs typeface="Calibri" pitchFamily="34" charset="-120"/>
              </a:rPr>
              <a:t>Promedio: 3.82 / 5</a:t>
            </a:r>
            <a:endParaRPr lang="en-US" sz="760" dirty="0"/>
          </a:p>
        </p:txBody>
      </p:sp>
      <p:sp>
        <p:nvSpPr>
          <p:cNvPr id="77" name="Shape 75"/>
          <p:cNvSpPr/>
          <p:nvPr/>
        </p:nvSpPr>
        <p:spPr>
          <a:xfrm>
            <a:off x="384048" y="2487168"/>
            <a:ext cx="11423599" cy="384048"/>
          </a:xfrm>
          <a:prstGeom prst="roundRect">
            <a:avLst>
              <a:gd name="adj" fmla="val 14286"/>
            </a:avLst>
          </a:prstGeom>
          <a:solidFill>
            <a:srgbClr val="133B6C"/>
          </a:solidFill>
          <a:ln/>
        </p:spPr>
      </p:sp>
      <p:sp>
        <p:nvSpPr>
          <p:cNvPr id="78" name="Text 76"/>
          <p:cNvSpPr txBox="1"/>
          <p:nvPr/>
        </p:nvSpPr>
        <p:spPr>
          <a:xfrm>
            <a:off x="548640" y="2487168"/>
            <a:ext cx="11094415"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Pregunta Abierta   </a:t>
            </a:r>
            <a:pPr algn="l" indent="0" marL="0">
              <a:buNone/>
            </a:pPr>
            <a:r>
              <a:rPr lang="en-US" sz="1000" i="1" dirty="0">
                <a:solidFill>
                  <a:srgbClr val="97D8DB"/>
                </a:solidFill>
                <a:latin typeface="Calibri" pitchFamily="34" charset="0"/>
                <a:ea typeface="Calibri" pitchFamily="34" charset="-122"/>
                <a:cs typeface="Calibri" pitchFamily="34" charset="-120"/>
              </a:rPr>
              <a:t>"¿Qué problemas, inconvenientes o situaciones relacionadas con el procesamiento de tarjetas de crédito considera que deberían mejorarse?" — 17 respuestas</a:t>
            </a:r>
            <a:endParaRPr lang="en-US" sz="1200" dirty="0"/>
          </a:p>
        </p:txBody>
      </p:sp>
      <p:sp>
        <p:nvSpPr>
          <p:cNvPr id="79" name="Shape 77"/>
          <p:cNvSpPr/>
          <p:nvPr/>
        </p:nvSpPr>
        <p:spPr>
          <a:xfrm>
            <a:off x="384048" y="2871216"/>
            <a:ext cx="11423599" cy="3840480"/>
          </a:xfrm>
          <a:prstGeom prst="rect">
            <a:avLst/>
          </a:prstGeom>
          <a:solidFill>
            <a:srgbClr val="FFFFFF"/>
          </a:solidFill>
          <a:ln w="9525">
            <a:solidFill>
              <a:srgbClr val="E7EAF0"/>
            </a:solidFill>
            <a:prstDash val="solid"/>
          </a:ln>
        </p:spPr>
      </p:sp>
      <p:sp>
        <p:nvSpPr>
          <p:cNvPr id="80" name="Text 78"/>
          <p:cNvSpPr txBox="1"/>
          <p:nvPr/>
        </p:nvSpPr>
        <p:spPr>
          <a:xfrm>
            <a:off x="566928" y="2999232"/>
            <a:ext cx="5391760" cy="3621024"/>
          </a:xfrm>
          <a:prstGeom prst="rect">
            <a:avLst/>
          </a:prstGeom>
          <a:noFill/>
          <a:ln/>
        </p:spPr>
        <p:txBody>
          <a:bodyPr wrap="square" lIns="0" tIns="0" rIns="0" bIns="0" rtlCol="0" anchor="t"/>
          <a:lstStyle/>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San Miguel: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La comunicación con la plataforma de EVERTEC, principalmente en el monto de reversas —en ocasiones EVERTEC no las acepta, pero en nuestro sistema sí se realizó la reversa— así como la duplicidad de pagos debido a la fluctuación de la plataforma.</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Colonia Médica: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Comunicación con EVERTEC.</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Sonsonate: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N/A.</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Santa Ana: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Siempre recibo ayuda.</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Colonia Médica: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Que cuando se olvida a los cajeros la clave, EVERTEC la reinicie, porque a veces cuesta que nos solucionen en tarjeta.</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Sonsonate: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No contestan los números de soporte que están en la TC; se pierde frecuentemente la comunicación con EVERTEC. Los asociados indican que los plásticos dan bastante inconveniente al querer realizar compras; se realizan reposiciones muy frecuentemente porque el plástico no funciona, y el proceso de reposición es muy tardado.</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Plaza Mundo: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Se recomienda que las promociones por descuentos en supermercados y combustible se reflejen en el estado de cuenta con una descripción específica del beneficio otorgado. Actualmente se registran solo como "Nota de Crédito", lo que genera confusión sobre el origen del descuento.</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Santa Ana: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La conexión con EVERTEC algunas veces falla.</a:t>
            </a:r>
            <a:endParaRPr lang="en-US" sz="900" dirty="0"/>
          </a:p>
        </p:txBody>
      </p:sp>
      <p:sp>
        <p:nvSpPr>
          <p:cNvPr id="81" name="Text 79"/>
          <p:cNvSpPr txBox="1"/>
          <p:nvPr/>
        </p:nvSpPr>
        <p:spPr>
          <a:xfrm>
            <a:off x="6233008" y="2999232"/>
            <a:ext cx="5391760" cy="3621024"/>
          </a:xfrm>
          <a:prstGeom prst="rect">
            <a:avLst/>
          </a:prstGeom>
          <a:noFill/>
          <a:ln/>
        </p:spPr>
        <p:txBody>
          <a:bodyPr wrap="square" lIns="0" tIns="0" rIns="0" bIns="0" rtlCol="0" anchor="t"/>
          <a:lstStyle/>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Plaza Merliot: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Tiempos de respuesta en fechas de pago.</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Colegio Médico: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Caídas de sistema que a veces no se resuelven pronto.</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Plaza Mundo: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El tiempo de resolución; aprobaciones automáticas para asociados calificados sin tanta documentación; tiempo de entrega; acreditación de puntos por promociones dentro de las fechas correspondientes.</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Colegio Médico: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Las duplicidades en los pagos cuando hay caídas de sistema: en SISCARD lo toma y en el sistema de COMÉDICA no aparece procesado.</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Usulután: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Mejorar la rapidez de respuesta del sistema al cambiar de pantalla o seleccionar las diferentes opciones dentro del módulo.</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Usulután: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El tiempo de respuesta para aplicación de compras en flotantes, tanto de TC como TD.</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Central: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Todo bien.</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Jefe Móvil: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Las reversas de transacción.</a:t>
            </a:r>
            <a:endParaRPr lang="en-US" sz="900" dirty="0"/>
          </a:p>
          <a:p>
            <a:pPr algn="l" indent="0" marL="0">
              <a:lnSpc>
                <a:spcPct val="112000"/>
              </a:lnSpc>
              <a:buNone/>
            </a:pPr>
            <a:endParaRPr lang="en-US" sz="900" dirty="0"/>
          </a:p>
          <a:p>
            <a:pPr algn="l" indent="0" marL="0">
              <a:lnSpc>
                <a:spcPct val="112000"/>
              </a:lnSpc>
              <a:buNone/>
            </a:pPr>
            <a:r>
              <a:rPr lang="en-US" sz="900" b="1" dirty="0">
                <a:solidFill>
                  <a:srgbClr val="133B6C"/>
                </a:solidFill>
                <a:latin typeface="Calibri" pitchFamily="34" charset="0"/>
                <a:ea typeface="Calibri" pitchFamily="34" charset="-122"/>
                <a:cs typeface="Calibri" pitchFamily="34" charset="-120"/>
              </a:rPr>
              <a:t>Central: </a:t>
            </a:r>
            <a:pPr algn="l" indent="0" marL="0">
              <a:lnSpc>
                <a:spcPct val="112000"/>
              </a:lnSpc>
              <a:buNone/>
            </a:pPr>
            <a:r>
              <a:rPr lang="en-US" sz="900" dirty="0">
                <a:solidFill>
                  <a:srgbClr val="243044"/>
                </a:solidFill>
                <a:latin typeface="Calibri" pitchFamily="34" charset="0"/>
                <a:ea typeface="Calibri" pitchFamily="34" charset="-122"/>
                <a:cs typeface="Calibri" pitchFamily="34" charset="-120"/>
              </a:rPr>
              <a:t>Los cajeros no tienen acceso para ver el saldo de tarjetas de crédito adicionales; los reclamos por contracargos deberían ser atendidos solo por el depto. de TC; y mejorar la gestión de fraude y el reporte de compras fraudulentas.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Resultados de Encuesta EVERTEC — Junta Directiva</dc:title>
  <dc:subject>PptxGenJS Presentation</dc:subject>
  <dc:creator>COMÉDICA</dc:creator>
  <cp:lastModifiedBy>COMÉDICA</cp:lastModifiedBy>
  <cp:revision>1</cp:revision>
  <dcterms:created xsi:type="dcterms:W3CDTF">2026-09-19T15:37:44Z</dcterms:created>
  <dcterms:modified xsi:type="dcterms:W3CDTF">2026-09-19T15:37:44Z</dcterms:modified>
</cp:coreProperties>
</file>