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image" Target="../media/image-1-6.png"/><Relationship Id="rId9" Type="http://schemas.openxmlformats.org/officeDocument/2006/relationships/image" Target="../media/image-1-6.png"/><Relationship Id="rId10" Type="http://schemas.openxmlformats.org/officeDocument/2006/relationships/image" Target="../media/image-1-6.png"/><Relationship Id="rId11" Type="http://schemas.openxmlformats.org/officeDocument/2006/relationships/image" Target="../media/image-1-11.png"/><Relationship Id="rId12" Type="http://schemas.openxmlformats.org/officeDocument/2006/relationships/image" Target="../media/image-1-11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56032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60" kern="0" dirty="0">
                <a:solidFill>
                  <a:srgbClr val="17A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SERVICIO  ·  GERENCIA DE TECNOLOGÍA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57200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Encuesta de Evaluación del Servicio de Procesamiento de Tarjetas de Crédito — EVERTEC</a:t>
            </a:r>
            <a:endParaRPr lang="en-US" sz="185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069848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Percepción de agencias y usuarios internos sobre la calidad, continuidad y soporte del servicio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116007" y="29260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133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116007" y="2926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" y="1371600"/>
            <a:ext cx="11423599" cy="16459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8" name="Shape 6"/>
          <p:cNvSpPr/>
          <p:nvPr/>
        </p:nvSpPr>
        <p:spPr>
          <a:xfrm>
            <a:off x="384048" y="1517904"/>
            <a:ext cx="271874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5216" y="1682496"/>
            <a:ext cx="420624" cy="420624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0" name="Image 0" descr="/tmp/claude-0/-home-user-riesgo/579fb8c8-70e5-51d5-80ec-6ed51cc2e8df/scratchpad/pptx-build/icons/users_133B6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753" y="1775033"/>
            <a:ext cx="235549" cy="23554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1636776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85216" y="2157984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85668" y="1517904"/>
            <a:ext cx="271874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86836" y="1682496"/>
            <a:ext cx="420624" cy="420624"/>
          </a:xfrm>
          <a:prstGeom prst="ellipse">
            <a:avLst/>
          </a:prstGeom>
          <a:solidFill>
            <a:srgbClr val="FCF1E0"/>
          </a:solidFill>
          <a:ln/>
        </p:spPr>
      </p:sp>
      <p:pic>
        <p:nvPicPr>
          <p:cNvPr id="15" name="Image 1" descr="/tmp/claude-0/-home-user-riesgo/579fb8c8-70e5-51d5-80ec-6ed51cc2e8df/scratchpad/pptx-build/icons/star_A6650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373" y="1775033"/>
            <a:ext cx="235549" cy="23554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3764" y="1636776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3.82 / 5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3486836" y="2157984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PROMEDIO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187288" y="1517904"/>
            <a:ext cx="271874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88456" y="1682496"/>
            <a:ext cx="420624" cy="420624"/>
          </a:xfrm>
          <a:prstGeom prst="ellipse">
            <a:avLst/>
          </a:prstGeom>
          <a:solidFill>
            <a:srgbClr val="E7F5EC"/>
          </a:solidFill>
          <a:ln/>
        </p:spPr>
      </p:sp>
      <p:pic>
        <p:nvPicPr>
          <p:cNvPr id="20" name="Image 2" descr="/tmp/claude-0/-home-user-riesgo/579fb8c8-70e5-51d5-80ec-6ed51cc2e8df/scratchpad/pptx-build/icons/checkcircle_133B6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993" y="1775033"/>
            <a:ext cx="235549" cy="23554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55384" y="1636776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88456" y="2157984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CALIFICACIONES FAVORABLES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9088907" y="1517904"/>
            <a:ext cx="271874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290075" y="1682496"/>
            <a:ext cx="420624" cy="420624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25" name="Image 3" descr="/tmp/claude-0/-home-user-riesgo/579fb8c8-70e5-51d5-80ec-6ed51cc2e8df/scratchpad/pptx-build/icons/headphones_1D63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2613" y="1775033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57003" y="1636776"/>
            <a:ext cx="1786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Mayoritaria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9290075" y="2157984"/>
            <a:ext cx="23164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OPORTUNO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384048" y="2468880"/>
            <a:ext cx="48920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84048" y="2468880"/>
            <a:ext cx="4892040" cy="45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0" name="Shape 24"/>
          <p:cNvSpPr/>
          <p:nvPr/>
        </p:nvSpPr>
        <p:spPr>
          <a:xfrm>
            <a:off x="384048" y="2468880"/>
            <a:ext cx="489204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66928" y="2633472"/>
            <a:ext cx="274320" cy="274320"/>
          </a:xfrm>
          <a:prstGeom prst="ellipse">
            <a:avLst/>
          </a:prstGeom>
          <a:solidFill>
            <a:srgbClr val="E7F5EC"/>
          </a:solidFill>
          <a:ln/>
        </p:spPr>
      </p:sp>
      <p:pic>
        <p:nvPicPr>
          <p:cNvPr id="32" name="Image 4" descr="/tmp/claude-0/-home-user-riesgo/579fb8c8-70e5-51d5-80ec-6ed51cc2e8df/scratchpad/pptx-build/icons/thumbsup_1E844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2688336"/>
            <a:ext cx="164592" cy="16459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9264" y="2606040"/>
            <a:ext cx="4123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 del Servicio</a:t>
            </a:r>
            <a:endParaRPr lang="en-US" sz="1350" dirty="0"/>
          </a:p>
        </p:txBody>
      </p:sp>
      <p:pic>
        <p:nvPicPr>
          <p:cNvPr id="34" name="Image 5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3118104"/>
            <a:ext cx="182880" cy="18288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14400" y="308152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generalmente oportuno.</a:t>
            </a:r>
            <a:endParaRPr lang="en-US" sz="1150" dirty="0"/>
          </a:p>
        </p:txBody>
      </p:sp>
      <p:pic>
        <p:nvPicPr>
          <p:cNvPr id="36" name="Image 6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3465576"/>
            <a:ext cx="182880" cy="1828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14400" y="3429000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positiva del servicio.</a:t>
            </a:r>
            <a:endParaRPr lang="en-US" sz="1150" dirty="0"/>
          </a:p>
        </p:txBody>
      </p:sp>
      <p:pic>
        <p:nvPicPr>
          <p:cNvPr id="38" name="Image 7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813048"/>
            <a:ext cx="182880" cy="18288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14400" y="3776472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incidencias percibida como fácil o regular.</a:t>
            </a:r>
            <a:endParaRPr lang="en-US" sz="1150" dirty="0"/>
          </a:p>
        </p:txBody>
      </p:sp>
      <p:pic>
        <p:nvPicPr>
          <p:cNvPr id="40" name="Image 8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504" y="4160520"/>
            <a:ext cx="182880" cy="18288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914400" y="412394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disposición de apoyo al usuario.</a:t>
            </a:r>
            <a:endParaRPr lang="en-US" sz="1150" dirty="0"/>
          </a:p>
        </p:txBody>
      </p:sp>
      <p:pic>
        <p:nvPicPr>
          <p:cNvPr id="42" name="Image 9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4507992"/>
            <a:ext cx="182880" cy="18288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914400" y="4471416"/>
            <a:ext cx="4142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satisfacción favorable en la mayoría de agencias.</a:t>
            </a:r>
            <a:endParaRPr lang="en-US" sz="1150" dirty="0"/>
          </a:p>
        </p:txBody>
      </p:sp>
      <p:sp>
        <p:nvSpPr>
          <p:cNvPr id="44" name="Shape 32"/>
          <p:cNvSpPr/>
          <p:nvPr/>
        </p:nvSpPr>
        <p:spPr>
          <a:xfrm>
            <a:off x="5495544" y="2468880"/>
            <a:ext cx="6312103" cy="1826971"/>
          </a:xfrm>
          <a:prstGeom prst="roundRect">
            <a:avLst>
              <a:gd name="adj" fmla="val 4004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5495544" y="2468880"/>
            <a:ext cx="6312103" cy="45720"/>
          </a:xfrm>
          <a:prstGeom prst="rect">
            <a:avLst/>
          </a:prstGeom>
          <a:solidFill>
            <a:srgbClr val="E0392B"/>
          </a:solidFill>
          <a:ln/>
        </p:spPr>
      </p:sp>
      <p:sp>
        <p:nvSpPr>
          <p:cNvPr id="46" name="Shape 34"/>
          <p:cNvSpPr/>
          <p:nvPr/>
        </p:nvSpPr>
        <p:spPr>
          <a:xfrm>
            <a:off x="5495544" y="2468880"/>
            <a:ext cx="6312103" cy="1826971"/>
          </a:xfrm>
          <a:prstGeom prst="roundRect">
            <a:avLst>
              <a:gd name="adj" fmla="val 3504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47" name="Shape 35"/>
          <p:cNvSpPr/>
          <p:nvPr/>
        </p:nvSpPr>
        <p:spPr>
          <a:xfrm>
            <a:off x="5678424" y="2633472"/>
            <a:ext cx="274320" cy="274320"/>
          </a:xfrm>
          <a:prstGeom prst="ellipse">
            <a:avLst/>
          </a:prstGeom>
          <a:solidFill>
            <a:srgbClr val="FBEAE8"/>
          </a:solidFill>
          <a:ln/>
        </p:spPr>
      </p:sp>
      <p:pic>
        <p:nvPicPr>
          <p:cNvPr id="48" name="Image 10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33288" y="2688336"/>
            <a:ext cx="164592" cy="164592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080760" y="2606040"/>
            <a:ext cx="55440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Principales Oportunidades de Mejora</a:t>
            </a:r>
            <a:endParaRPr lang="en-US" sz="1350" dirty="0"/>
          </a:p>
        </p:txBody>
      </p:sp>
      <p:sp>
        <p:nvSpPr>
          <p:cNvPr id="50" name="Shape 37"/>
          <p:cNvSpPr/>
          <p:nvPr/>
        </p:nvSpPr>
        <p:spPr>
          <a:xfrm>
            <a:off x="5715000" y="3108960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BEAE8"/>
          </a:solidFill>
          <a:ln/>
        </p:spPr>
      </p:sp>
      <p:pic>
        <p:nvPicPr>
          <p:cNvPr id="51" name="Image 11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4728" y="3149879"/>
            <a:ext cx="182880" cy="18288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6089904" y="3108960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e interrupciones de la plataforma</a:t>
            </a:r>
            <a:endParaRPr lang="en-US" sz="930" dirty="0"/>
          </a:p>
        </p:txBody>
      </p:sp>
      <p:sp>
        <p:nvSpPr>
          <p:cNvPr id="53" name="Shape 39"/>
          <p:cNvSpPr/>
          <p:nvPr/>
        </p:nvSpPr>
        <p:spPr>
          <a:xfrm>
            <a:off x="8724748" y="3108960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BEAE8"/>
          </a:solidFill>
          <a:ln/>
        </p:spPr>
      </p:sp>
      <p:pic>
        <p:nvPicPr>
          <p:cNvPr id="54" name="Image 12" descr="/tmp/claude-0/-home-user-riesgo/579fb8c8-70e5-51d5-80ec-6ed51cc2e8df/scratchpad/pptx-build/icons/copy_E0392B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4476" y="3149879"/>
            <a:ext cx="182880" cy="182880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9099652" y="3108960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</a:t>
            </a:r>
            <a:endParaRPr lang="en-US" sz="930" dirty="0"/>
          </a:p>
        </p:txBody>
      </p:sp>
      <p:sp>
        <p:nvSpPr>
          <p:cNvPr id="56" name="Shape 41"/>
          <p:cNvSpPr/>
          <p:nvPr/>
        </p:nvSpPr>
        <p:spPr>
          <a:xfrm>
            <a:off x="5715000" y="3428543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BEAE8"/>
          </a:solidFill>
          <a:ln/>
        </p:spPr>
      </p:sp>
      <p:pic>
        <p:nvPicPr>
          <p:cNvPr id="57" name="Image 13" descr="/tmp/claude-0/-home-user-riesgo/579fb8c8-70e5-51d5-80ec-6ed51cc2e8df/scratchpad/pptx-build/icons/refreshcw_E0392B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24728" y="3469462"/>
            <a:ext cx="182880" cy="182880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6089904" y="3428543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de transacciones</a:t>
            </a:r>
            <a:endParaRPr lang="en-US" sz="930" dirty="0"/>
          </a:p>
        </p:txBody>
      </p:sp>
      <p:sp>
        <p:nvSpPr>
          <p:cNvPr id="59" name="Shape 43"/>
          <p:cNvSpPr/>
          <p:nvPr/>
        </p:nvSpPr>
        <p:spPr>
          <a:xfrm>
            <a:off x="8724748" y="3428543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BEAE8"/>
          </a:solidFill>
          <a:ln/>
        </p:spPr>
      </p:sp>
      <p:pic>
        <p:nvPicPr>
          <p:cNvPr id="60" name="Image 14" descr="/tmp/claude-0/-home-user-riesgo/579fb8c8-70e5-51d5-80ec-6ed51cc2e8df/scratchpad/pptx-build/icons/clock_A6650F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34476" y="3469462"/>
            <a:ext cx="182880" cy="182880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9099652" y="3428543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Lentitud en la resolución de incidentes</a:t>
            </a:r>
            <a:endParaRPr lang="en-US" sz="930" dirty="0"/>
          </a:p>
        </p:txBody>
      </p:sp>
      <p:sp>
        <p:nvSpPr>
          <p:cNvPr id="62" name="Shape 45"/>
          <p:cNvSpPr/>
          <p:nvPr/>
        </p:nvSpPr>
        <p:spPr>
          <a:xfrm>
            <a:off x="5715000" y="3748126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CF1E0"/>
          </a:solidFill>
          <a:ln/>
        </p:spPr>
      </p:sp>
      <p:pic>
        <p:nvPicPr>
          <p:cNvPr id="63" name="Image 15" descr="/tmp/claude-0/-home-user-riesgo/579fb8c8-70e5-51d5-80ec-6ed51cc2e8df/scratchpad/pptx-build/icons/headphones_A6650F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24728" y="3789045"/>
            <a:ext cx="182880" cy="182880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089904" y="3748126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para contactar soporte</a:t>
            </a:r>
            <a:endParaRPr lang="en-US" sz="930" dirty="0"/>
          </a:p>
        </p:txBody>
      </p:sp>
      <p:sp>
        <p:nvSpPr>
          <p:cNvPr id="65" name="Shape 47"/>
          <p:cNvSpPr/>
          <p:nvPr/>
        </p:nvSpPr>
        <p:spPr>
          <a:xfrm>
            <a:off x="8724748" y="3748126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CF1E0"/>
          </a:solidFill>
          <a:ln/>
        </p:spPr>
      </p:sp>
      <p:pic>
        <p:nvPicPr>
          <p:cNvPr id="66" name="Image 16" descr="/tmp/claude-0/-home-user-riesgo/579fb8c8-70e5-51d5-80ec-6ed51cc2e8df/scratchpad/pptx-build/icons/creditcard_E0392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34476" y="3789045"/>
            <a:ext cx="182880" cy="182880"/>
          </a:xfrm>
          <a:prstGeom prst="rect">
            <a:avLst/>
          </a:prstGeom>
        </p:spPr>
      </p:pic>
      <p:sp>
        <p:nvSpPr>
          <p:cNvPr id="67" name="Text 48"/>
          <p:cNvSpPr txBox="1"/>
          <p:nvPr/>
        </p:nvSpPr>
        <p:spPr>
          <a:xfrm>
            <a:off x="9099652" y="3748126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Reposición tardía de tarjetas</a:t>
            </a:r>
            <a:endParaRPr lang="en-US" sz="930" dirty="0"/>
          </a:p>
        </p:txBody>
      </p:sp>
      <p:sp>
        <p:nvSpPr>
          <p:cNvPr id="68" name="Shape 49"/>
          <p:cNvSpPr/>
          <p:nvPr/>
        </p:nvSpPr>
        <p:spPr>
          <a:xfrm>
            <a:off x="5715000" y="4067708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CF1E0"/>
          </a:solidFill>
          <a:ln/>
        </p:spPr>
      </p:sp>
      <p:pic>
        <p:nvPicPr>
          <p:cNvPr id="69" name="Image 17" descr="/tmp/claude-0/-home-user-riesgo/579fb8c8-70e5-51d5-80ec-6ed51cc2e8df/scratchpad/pptx-build/icons/shield_A6650F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24728" y="4108628"/>
            <a:ext cx="182880" cy="182880"/>
          </a:xfrm>
          <a:prstGeom prst="rect">
            <a:avLst/>
          </a:prstGeom>
        </p:spPr>
      </p:pic>
      <p:sp>
        <p:nvSpPr>
          <p:cNvPr id="70" name="Text 50"/>
          <p:cNvSpPr txBox="1"/>
          <p:nvPr/>
        </p:nvSpPr>
        <p:spPr>
          <a:xfrm>
            <a:off x="6089904" y="4067708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fraude y compras fraudulentas</a:t>
            </a:r>
            <a:endParaRPr lang="en-US" sz="930" dirty="0"/>
          </a:p>
        </p:txBody>
      </p:sp>
      <p:sp>
        <p:nvSpPr>
          <p:cNvPr id="71" name="Shape 51"/>
          <p:cNvSpPr/>
          <p:nvPr/>
        </p:nvSpPr>
        <p:spPr>
          <a:xfrm>
            <a:off x="8724748" y="4067708"/>
            <a:ext cx="2863444" cy="264719"/>
          </a:xfrm>
          <a:prstGeom prst="roundRect">
            <a:avLst>
              <a:gd name="adj" fmla="val 20725"/>
            </a:avLst>
          </a:prstGeom>
          <a:solidFill>
            <a:srgbClr val="FCF1E0"/>
          </a:solidFill>
          <a:ln/>
        </p:spPr>
      </p:sp>
      <p:pic>
        <p:nvPicPr>
          <p:cNvPr id="72" name="Image 18" descr="/tmp/claude-0/-home-user-riesgo/579fb8c8-70e5-51d5-80ec-6ed51cc2e8df/scratchpad/pptx-build/icons/tag_A6650F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34476" y="4108628"/>
            <a:ext cx="182880" cy="182880"/>
          </a:xfrm>
          <a:prstGeom prst="rect">
            <a:avLst/>
          </a:prstGeom>
        </p:spPr>
      </p:pic>
      <p:sp>
        <p:nvSpPr>
          <p:cNvPr id="73" name="Text 52"/>
          <p:cNvSpPr txBox="1"/>
          <p:nvPr/>
        </p:nvSpPr>
        <p:spPr>
          <a:xfrm>
            <a:off x="9099652" y="4067708"/>
            <a:ext cx="2397100" cy="264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Promociones y compras flotantes</a:t>
            </a:r>
            <a:endParaRPr lang="en-US" sz="930" dirty="0"/>
          </a:p>
        </p:txBody>
      </p:sp>
      <p:sp>
        <p:nvSpPr>
          <p:cNvPr id="74" name="Shape 53"/>
          <p:cNvSpPr/>
          <p:nvPr/>
        </p:nvSpPr>
        <p:spPr>
          <a:xfrm>
            <a:off x="5495544" y="4478731"/>
            <a:ext cx="6312103" cy="1373429"/>
          </a:xfrm>
          <a:prstGeom prst="roundRect">
            <a:avLst>
              <a:gd name="adj" fmla="val 5326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75" name="Shape 54"/>
          <p:cNvSpPr/>
          <p:nvPr/>
        </p:nvSpPr>
        <p:spPr>
          <a:xfrm>
            <a:off x="5495544" y="4478731"/>
            <a:ext cx="6312103" cy="4572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76" name="Shape 55"/>
          <p:cNvSpPr/>
          <p:nvPr/>
        </p:nvSpPr>
        <p:spPr>
          <a:xfrm>
            <a:off x="5495544" y="4478731"/>
            <a:ext cx="6312103" cy="1373429"/>
          </a:xfrm>
          <a:prstGeom prst="roundRect">
            <a:avLst>
              <a:gd name="adj" fmla="val 4660"/>
            </a:avLst>
          </a:prstGeom>
          <a:solidFill>
            <a:srgbClr val="FFFFFF"/>
          </a:solidFill>
          <a:ln w="9525">
            <a:solidFill>
              <a:srgbClr val="E7EAF0"/>
            </a:solidFill>
            <a:prstDash val="solid"/>
          </a:ln>
          <a:effectLst>
            <a:outerShdw sx="100000" sy="100000" kx="0" ky="0" algn="bl" rotWithShape="0" blurRad="76200" dist="19050" dir="5400000">
              <a:srgbClr val="0F2F4E">
                <a:alpha val="10000"/>
              </a:srgbClr>
            </a:outerShdw>
          </a:effectLst>
        </p:spPr>
      </p:sp>
      <p:sp>
        <p:nvSpPr>
          <p:cNvPr id="77" name="Shape 56"/>
          <p:cNvSpPr/>
          <p:nvPr/>
        </p:nvSpPr>
        <p:spPr>
          <a:xfrm>
            <a:off x="5678424" y="4643323"/>
            <a:ext cx="274320" cy="274320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78" name="Image 19" descr="/tmp/claude-0/-home-user-riesgo/579fb8c8-70e5-51d5-80ec-6ed51cc2e8df/scratchpad/pptx-build/icons/flag_133B6C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33288" y="4698187"/>
            <a:ext cx="164592" cy="164592"/>
          </a:xfrm>
          <a:prstGeom prst="rect">
            <a:avLst/>
          </a:prstGeom>
        </p:spPr>
      </p:pic>
      <p:sp>
        <p:nvSpPr>
          <p:cNvPr id="79" name="Text 57"/>
          <p:cNvSpPr txBox="1"/>
          <p:nvPr/>
        </p:nvSpPr>
        <p:spPr>
          <a:xfrm>
            <a:off x="6080760" y="4615891"/>
            <a:ext cx="55440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33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Prioridades — Impacto vs. Urgencia</a:t>
            </a:r>
            <a:endParaRPr lang="en-US" sz="1350" dirty="0"/>
          </a:p>
        </p:txBody>
      </p:sp>
      <p:sp>
        <p:nvSpPr>
          <p:cNvPr id="80" name="Shape 58"/>
          <p:cNvSpPr/>
          <p:nvPr/>
        </p:nvSpPr>
        <p:spPr>
          <a:xfrm>
            <a:off x="5678424" y="5091379"/>
            <a:ext cx="5946343" cy="217018"/>
          </a:xfrm>
          <a:prstGeom prst="roundRect">
            <a:avLst>
              <a:gd name="adj" fmla="val 25281"/>
            </a:avLst>
          </a:prstGeom>
          <a:solidFill>
            <a:srgbClr val="FBEAE8"/>
          </a:solidFill>
          <a:ln/>
        </p:spPr>
      </p:sp>
      <p:sp>
        <p:nvSpPr>
          <p:cNvPr id="81" name="Shape 59"/>
          <p:cNvSpPr/>
          <p:nvPr/>
        </p:nvSpPr>
        <p:spPr>
          <a:xfrm>
            <a:off x="5769864" y="506272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0392B"/>
          </a:solidFill>
          <a:ln/>
        </p:spPr>
      </p:sp>
      <p:sp>
        <p:nvSpPr>
          <p:cNvPr id="82" name="Text 60"/>
          <p:cNvSpPr txBox="1"/>
          <p:nvPr/>
        </p:nvSpPr>
        <p:spPr>
          <a:xfrm>
            <a:off x="5769864" y="5062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83" name="Shape 61"/>
          <p:cNvSpPr/>
          <p:nvPr/>
        </p:nvSpPr>
        <p:spPr>
          <a:xfrm>
            <a:off x="6967728" y="5164531"/>
            <a:ext cx="1077392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84" name="Text 62"/>
          <p:cNvSpPr txBox="1"/>
          <p:nvPr/>
        </p:nvSpPr>
        <p:spPr>
          <a:xfrm>
            <a:off x="7040880" y="5164531"/>
            <a:ext cx="931088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de la plataforma</a:t>
            </a:r>
            <a:endParaRPr lang="en-US" sz="860" dirty="0"/>
          </a:p>
        </p:txBody>
      </p:sp>
      <p:sp>
        <p:nvSpPr>
          <p:cNvPr id="85" name="Shape 63"/>
          <p:cNvSpPr/>
          <p:nvPr/>
        </p:nvSpPr>
        <p:spPr>
          <a:xfrm>
            <a:off x="8118272" y="5164531"/>
            <a:ext cx="1077392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86" name="Text 64"/>
          <p:cNvSpPr txBox="1"/>
          <p:nvPr/>
        </p:nvSpPr>
        <p:spPr>
          <a:xfrm>
            <a:off x="8191424" y="5164531"/>
            <a:ext cx="931088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de transacciones</a:t>
            </a:r>
            <a:endParaRPr lang="en-US" sz="860" dirty="0"/>
          </a:p>
        </p:txBody>
      </p:sp>
      <p:sp>
        <p:nvSpPr>
          <p:cNvPr id="87" name="Shape 65"/>
          <p:cNvSpPr/>
          <p:nvPr/>
        </p:nvSpPr>
        <p:spPr>
          <a:xfrm>
            <a:off x="9268816" y="5164531"/>
            <a:ext cx="1077392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88" name="Text 66"/>
          <p:cNvSpPr txBox="1"/>
          <p:nvPr/>
        </p:nvSpPr>
        <p:spPr>
          <a:xfrm>
            <a:off x="9341968" y="5164531"/>
            <a:ext cx="931088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</a:t>
            </a:r>
            <a:endParaRPr lang="en-US" sz="860" dirty="0"/>
          </a:p>
        </p:txBody>
      </p:sp>
      <p:sp>
        <p:nvSpPr>
          <p:cNvPr id="89" name="Shape 67"/>
          <p:cNvSpPr/>
          <p:nvPr/>
        </p:nvSpPr>
        <p:spPr>
          <a:xfrm>
            <a:off x="10419359" y="5164531"/>
            <a:ext cx="1077392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E0392B"/>
            </a:solidFill>
            <a:prstDash val="solid"/>
          </a:ln>
        </p:spPr>
      </p:sp>
      <p:sp>
        <p:nvSpPr>
          <p:cNvPr id="90" name="Text 68"/>
          <p:cNvSpPr txBox="1"/>
          <p:nvPr/>
        </p:nvSpPr>
        <p:spPr>
          <a:xfrm>
            <a:off x="10492511" y="5164531"/>
            <a:ext cx="931088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resolución</a:t>
            </a:r>
            <a:endParaRPr lang="en-US" sz="860" dirty="0"/>
          </a:p>
        </p:txBody>
      </p:sp>
      <p:sp>
        <p:nvSpPr>
          <p:cNvPr id="91" name="Shape 69"/>
          <p:cNvSpPr/>
          <p:nvPr/>
        </p:nvSpPr>
        <p:spPr>
          <a:xfrm>
            <a:off x="5678424" y="5363261"/>
            <a:ext cx="5946343" cy="217018"/>
          </a:xfrm>
          <a:prstGeom prst="roundRect">
            <a:avLst>
              <a:gd name="adj" fmla="val 25281"/>
            </a:avLst>
          </a:prstGeom>
          <a:solidFill>
            <a:srgbClr val="FCF1E0"/>
          </a:solidFill>
          <a:ln/>
        </p:spPr>
      </p:sp>
      <p:sp>
        <p:nvSpPr>
          <p:cNvPr id="92" name="Shape 70"/>
          <p:cNvSpPr/>
          <p:nvPr/>
        </p:nvSpPr>
        <p:spPr>
          <a:xfrm>
            <a:off x="5769864" y="533461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93" name="Text 71"/>
          <p:cNvSpPr txBox="1"/>
          <p:nvPr/>
        </p:nvSpPr>
        <p:spPr>
          <a:xfrm>
            <a:off x="5769864" y="533461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94" name="Shape 72"/>
          <p:cNvSpPr/>
          <p:nvPr/>
        </p:nvSpPr>
        <p:spPr>
          <a:xfrm>
            <a:off x="6967728" y="5436413"/>
            <a:ext cx="1460906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95" name="Text 73"/>
          <p:cNvSpPr txBox="1"/>
          <p:nvPr/>
        </p:nvSpPr>
        <p:spPr>
          <a:xfrm>
            <a:off x="7040880" y="5436413"/>
            <a:ext cx="1314602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y soporte</a:t>
            </a:r>
            <a:endParaRPr lang="en-US" sz="860" dirty="0"/>
          </a:p>
        </p:txBody>
      </p:sp>
      <p:sp>
        <p:nvSpPr>
          <p:cNvPr id="96" name="Shape 74"/>
          <p:cNvSpPr/>
          <p:nvPr/>
        </p:nvSpPr>
        <p:spPr>
          <a:xfrm>
            <a:off x="8501786" y="5436413"/>
            <a:ext cx="1460906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97" name="Text 75"/>
          <p:cNvSpPr txBox="1"/>
          <p:nvPr/>
        </p:nvSpPr>
        <p:spPr>
          <a:xfrm>
            <a:off x="8574938" y="5436413"/>
            <a:ext cx="1314602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de reposición</a:t>
            </a:r>
            <a:endParaRPr lang="en-US" sz="860" dirty="0"/>
          </a:p>
        </p:txBody>
      </p:sp>
      <p:sp>
        <p:nvSpPr>
          <p:cNvPr id="98" name="Shape 76"/>
          <p:cNvSpPr/>
          <p:nvPr/>
        </p:nvSpPr>
        <p:spPr>
          <a:xfrm>
            <a:off x="10035845" y="5436413"/>
            <a:ext cx="1460906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A6650F"/>
            </a:solidFill>
            <a:prstDash val="solid"/>
          </a:ln>
        </p:spPr>
      </p:sp>
      <p:sp>
        <p:nvSpPr>
          <p:cNvPr id="99" name="Text 77"/>
          <p:cNvSpPr txBox="1"/>
          <p:nvPr/>
        </p:nvSpPr>
        <p:spPr>
          <a:xfrm>
            <a:off x="10108997" y="5436413"/>
            <a:ext cx="1314602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Fraudes y contracargos</a:t>
            </a:r>
            <a:endParaRPr lang="en-US" sz="860" dirty="0"/>
          </a:p>
        </p:txBody>
      </p:sp>
      <p:sp>
        <p:nvSpPr>
          <p:cNvPr id="100" name="Shape 78"/>
          <p:cNvSpPr/>
          <p:nvPr/>
        </p:nvSpPr>
        <p:spPr>
          <a:xfrm>
            <a:off x="5678424" y="5635142"/>
            <a:ext cx="5946343" cy="217018"/>
          </a:xfrm>
          <a:prstGeom prst="roundRect">
            <a:avLst>
              <a:gd name="adj" fmla="val 25281"/>
            </a:avLst>
          </a:prstGeom>
          <a:solidFill>
            <a:srgbClr val="E7F5EC"/>
          </a:solidFill>
          <a:ln/>
        </p:spPr>
      </p:sp>
      <p:sp>
        <p:nvSpPr>
          <p:cNvPr id="101" name="Shape 79"/>
          <p:cNvSpPr/>
          <p:nvPr/>
        </p:nvSpPr>
        <p:spPr>
          <a:xfrm>
            <a:off x="5769864" y="5606491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02" name="Text 80"/>
          <p:cNvSpPr txBox="1"/>
          <p:nvPr/>
        </p:nvSpPr>
        <p:spPr>
          <a:xfrm>
            <a:off x="5769864" y="5606491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900" dirty="0"/>
          </a:p>
        </p:txBody>
      </p:sp>
      <p:sp>
        <p:nvSpPr>
          <p:cNvPr id="103" name="Shape 81"/>
          <p:cNvSpPr/>
          <p:nvPr/>
        </p:nvSpPr>
        <p:spPr>
          <a:xfrm>
            <a:off x="6967728" y="5708294"/>
            <a:ext cx="2227936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1E8449"/>
            </a:solidFill>
            <a:prstDash val="solid"/>
          </a:ln>
        </p:spPr>
      </p:sp>
      <p:sp>
        <p:nvSpPr>
          <p:cNvPr id="104" name="Text 82"/>
          <p:cNvSpPr txBox="1"/>
          <p:nvPr/>
        </p:nvSpPr>
        <p:spPr>
          <a:xfrm>
            <a:off x="7040880" y="5708294"/>
            <a:ext cx="2081632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de promociones</a:t>
            </a:r>
            <a:endParaRPr lang="en-US" sz="860" dirty="0"/>
          </a:p>
        </p:txBody>
      </p:sp>
      <p:sp>
        <p:nvSpPr>
          <p:cNvPr id="105" name="Shape 83"/>
          <p:cNvSpPr/>
          <p:nvPr/>
        </p:nvSpPr>
        <p:spPr>
          <a:xfrm>
            <a:off x="9268816" y="5708294"/>
            <a:ext cx="2227936" cy="70714"/>
          </a:xfrm>
          <a:prstGeom prst="roundRect">
            <a:avLst>
              <a:gd name="adj" fmla="val 64655"/>
            </a:avLst>
          </a:prstGeom>
          <a:solidFill>
            <a:srgbClr val="FFFFFF"/>
          </a:solidFill>
          <a:ln w="9525">
            <a:solidFill>
              <a:srgbClr val="1E8449"/>
            </a:solidFill>
            <a:prstDash val="solid"/>
          </a:ln>
        </p:spPr>
      </p:sp>
      <p:sp>
        <p:nvSpPr>
          <p:cNvPr id="106" name="Text 84"/>
          <p:cNvSpPr txBox="1"/>
          <p:nvPr/>
        </p:nvSpPr>
        <p:spPr>
          <a:xfrm>
            <a:off x="9341968" y="5708294"/>
            <a:ext cx="2081632" cy="70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operativas menores</a:t>
            </a:r>
            <a:endParaRPr lang="en-US" sz="860" dirty="0"/>
          </a:p>
        </p:txBody>
      </p:sp>
      <p:sp>
        <p:nvSpPr>
          <p:cNvPr id="107" name="Shape 85"/>
          <p:cNvSpPr/>
          <p:nvPr/>
        </p:nvSpPr>
        <p:spPr>
          <a:xfrm>
            <a:off x="384048" y="5998464"/>
            <a:ext cx="11423599" cy="713232"/>
          </a:xfrm>
          <a:prstGeom prst="roundRect">
            <a:avLst>
              <a:gd name="adj" fmla="val 10256"/>
            </a:avLst>
          </a:prstGeom>
          <a:solidFill>
            <a:srgbClr val="0A1F3B"/>
          </a:solidFill>
          <a:ln/>
        </p:spPr>
      </p:sp>
      <p:sp>
        <p:nvSpPr>
          <p:cNvPr id="108" name="Shape 86"/>
          <p:cNvSpPr/>
          <p:nvPr/>
        </p:nvSpPr>
        <p:spPr>
          <a:xfrm>
            <a:off x="384048" y="5998464"/>
            <a:ext cx="54864" cy="713232"/>
          </a:xfrm>
          <a:prstGeom prst="rect">
            <a:avLst/>
          </a:prstGeom>
          <a:solidFill>
            <a:srgbClr val="17A9B0"/>
          </a:solidFill>
          <a:ln/>
        </p:spPr>
      </p:sp>
      <p:pic>
        <p:nvPicPr>
          <p:cNvPr id="109" name="Image 20" descr="/tmp/claude-0/-home-user-riesgo/579fb8c8-70e5-51d5-80ec-6ed51cc2e8df/scratchpad/pptx-build/icons/flag_FFFFFF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3504" y="6199632"/>
            <a:ext cx="310896" cy="310896"/>
          </a:xfrm>
          <a:prstGeom prst="rect">
            <a:avLst/>
          </a:prstGeom>
        </p:spPr>
      </p:pic>
      <p:sp>
        <p:nvSpPr>
          <p:cNvPr id="110" name="Text 87"/>
          <p:cNvSpPr txBox="1"/>
          <p:nvPr/>
        </p:nvSpPr>
        <p:spPr>
          <a:xfrm>
            <a:off x="1042416" y="6071616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resultados reflejan una percepción favorable del servicio de procesamiento de tarjetas de crédito; sin embargo, existen oportunidades críticas de mejora relacionadas con la estabilidad operativa, reversas, duplicidad de pagos y tiempos de respuesta. La atención de estos aspectos permitirá fortalecer la continuidad operativa, la experiencia de las agencias y la satisfacción de los asociados.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de Encuesta EVERTEC — Junta Directiva</dc:title>
  <dc:subject>PptxGenJS Presentation</dc:subject>
  <dc:creator>COMÉDICA</dc:creator>
  <cp:lastModifiedBy>COMÉDICA</cp:lastModifiedBy>
  <cp:revision>1</cp:revision>
  <dcterms:created xsi:type="dcterms:W3CDTF">2026-09-18T22:42:49Z</dcterms:created>
  <dcterms:modified xsi:type="dcterms:W3CDTF">2026-09-18T22:42:49Z</dcterms:modified>
</cp:coreProperties>
</file>