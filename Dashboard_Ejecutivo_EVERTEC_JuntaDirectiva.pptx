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7.png"/><Relationship Id="rId9" Type="http://schemas.openxmlformats.org/officeDocument/2006/relationships/image" Target="../media/image-1-7.png"/><Relationship Id="rId10" Type="http://schemas.openxmlformats.org/officeDocument/2006/relationships/image" Target="../media/image-1-7.png"/><Relationship Id="rId11" Type="http://schemas.openxmlformats.org/officeDocument/2006/relationships/image" Target="../media/image-1-7.png"/><Relationship Id="rId12" Type="http://schemas.openxmlformats.org/officeDocument/2006/relationships/image" Target="../media/image-1-12.png"/><Relationship Id="rId13" Type="http://schemas.openxmlformats.org/officeDocument/2006/relationships/image" Target="../media/image-1-12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56032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60" kern="0" dirty="0">
                <a:solidFill>
                  <a:srgbClr val="17A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SERVICIO  ·  GERENCIA DE TECNOLOGÍA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457200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Encuesta de Evaluación del Servicio de Procesamiento de Tarjetas de Crédito — EVERTEC</a:t>
            </a:r>
            <a:endParaRPr lang="en-US" sz="185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069848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Percepción de agencias y usuarios internos sobre la calidad, continuidad y soporte del servicio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116007" y="292608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133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116007" y="29260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" y="1225296"/>
            <a:ext cx="11423599" cy="16459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8" name="Shape 6"/>
          <p:cNvSpPr/>
          <p:nvPr/>
        </p:nvSpPr>
        <p:spPr>
          <a:xfrm>
            <a:off x="384048" y="1353312"/>
            <a:ext cx="27187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85216" y="1517904"/>
            <a:ext cx="420624" cy="420624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0" name="Image 0" descr="/tmp/claude-0/-home-user-riesgo/579fb8c8-70e5-51d5-80ec-6ed51cc2e8df/scratchpad/pptx-build/icons/users_133B6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753" y="1610441"/>
            <a:ext cx="235549" cy="23554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1472184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85216" y="1993392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85668" y="1353312"/>
            <a:ext cx="27187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86836" y="1517904"/>
            <a:ext cx="420624" cy="420624"/>
          </a:xfrm>
          <a:prstGeom prst="ellipse">
            <a:avLst/>
          </a:prstGeom>
          <a:solidFill>
            <a:srgbClr val="FCF1E0"/>
          </a:solidFill>
          <a:ln/>
        </p:spPr>
      </p:sp>
      <p:pic>
        <p:nvPicPr>
          <p:cNvPr id="15" name="Image 1" descr="/tmp/claude-0/-home-user-riesgo/579fb8c8-70e5-51d5-80ec-6ed51cc2e8df/scratchpad/pptx-build/icons/star_A6650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373" y="1610441"/>
            <a:ext cx="235549" cy="23554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3764" y="1472184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3.82 / 5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3486836" y="1993392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PROMEDIO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187288" y="1353312"/>
            <a:ext cx="27187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88456" y="1517904"/>
            <a:ext cx="420624" cy="420624"/>
          </a:xfrm>
          <a:prstGeom prst="ellipse">
            <a:avLst/>
          </a:prstGeom>
          <a:solidFill>
            <a:srgbClr val="E7F5EC"/>
          </a:solidFill>
          <a:ln/>
        </p:spPr>
      </p:sp>
      <p:pic>
        <p:nvPicPr>
          <p:cNvPr id="20" name="Image 2" descr="/tmp/claude-0/-home-user-riesgo/579fb8c8-70e5-51d5-80ec-6ed51cc2e8df/scratchpad/pptx-build/icons/checkcircle_133B6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993" y="1610441"/>
            <a:ext cx="235549" cy="23554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55384" y="1472184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88456" y="1993392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CALIFICACIONES FAVORABLES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9088907" y="1353312"/>
            <a:ext cx="27187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290075" y="1517904"/>
            <a:ext cx="420624" cy="420624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25" name="Image 3" descr="/tmp/claude-0/-home-user-riesgo/579fb8c8-70e5-51d5-80ec-6ed51cc2e8df/scratchpad/pptx-build/icons/headphones_1D63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2613" y="1610441"/>
            <a:ext cx="235549" cy="23554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57003" y="1472184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Mayoritaria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9290075" y="1993392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OPORTUNO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384048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4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AGENCIAS PARTICIPANTES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2258568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2295144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Miguel</a:t>
            </a:r>
            <a:endParaRPr lang="en-US" sz="730" dirty="0"/>
          </a:p>
        </p:txBody>
      </p:sp>
      <p:sp>
        <p:nvSpPr>
          <p:cNvPr id="31" name="Shape 25"/>
          <p:cNvSpPr/>
          <p:nvPr/>
        </p:nvSpPr>
        <p:spPr>
          <a:xfrm>
            <a:off x="3138729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3175305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Colonia Médica</a:t>
            </a:r>
            <a:endParaRPr lang="en-US" sz="730" dirty="0"/>
          </a:p>
        </p:txBody>
      </p:sp>
      <p:sp>
        <p:nvSpPr>
          <p:cNvPr id="33" name="Shape 27"/>
          <p:cNvSpPr/>
          <p:nvPr/>
        </p:nvSpPr>
        <p:spPr>
          <a:xfrm>
            <a:off x="4018890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4055466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Sonsonate</a:t>
            </a:r>
            <a:endParaRPr lang="en-US" sz="730" dirty="0"/>
          </a:p>
        </p:txBody>
      </p:sp>
      <p:sp>
        <p:nvSpPr>
          <p:cNvPr id="35" name="Shape 29"/>
          <p:cNvSpPr/>
          <p:nvPr/>
        </p:nvSpPr>
        <p:spPr>
          <a:xfrm>
            <a:off x="4899050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4935626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Ana</a:t>
            </a:r>
            <a:endParaRPr lang="en-US" sz="730" dirty="0"/>
          </a:p>
        </p:txBody>
      </p:sp>
      <p:sp>
        <p:nvSpPr>
          <p:cNvPr id="37" name="Shape 31"/>
          <p:cNvSpPr/>
          <p:nvPr/>
        </p:nvSpPr>
        <p:spPr>
          <a:xfrm>
            <a:off x="5779211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5815787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Plaza Mundo</a:t>
            </a:r>
            <a:endParaRPr lang="en-US" sz="730" dirty="0"/>
          </a:p>
        </p:txBody>
      </p:sp>
      <p:sp>
        <p:nvSpPr>
          <p:cNvPr id="39" name="Shape 33"/>
          <p:cNvSpPr/>
          <p:nvPr/>
        </p:nvSpPr>
        <p:spPr>
          <a:xfrm>
            <a:off x="6659372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6695948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Plaza Merliot</a:t>
            </a:r>
            <a:endParaRPr lang="en-US" sz="730" dirty="0"/>
          </a:p>
        </p:txBody>
      </p:sp>
      <p:sp>
        <p:nvSpPr>
          <p:cNvPr id="41" name="Shape 35"/>
          <p:cNvSpPr/>
          <p:nvPr/>
        </p:nvSpPr>
        <p:spPr>
          <a:xfrm>
            <a:off x="7539533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7576109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Médico</a:t>
            </a:r>
            <a:endParaRPr lang="en-US" sz="730" dirty="0"/>
          </a:p>
        </p:txBody>
      </p:sp>
      <p:sp>
        <p:nvSpPr>
          <p:cNvPr id="43" name="Shape 37"/>
          <p:cNvSpPr/>
          <p:nvPr/>
        </p:nvSpPr>
        <p:spPr>
          <a:xfrm>
            <a:off x="8419694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8456270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Usulután</a:t>
            </a:r>
            <a:endParaRPr lang="en-US" sz="730" dirty="0"/>
          </a:p>
        </p:txBody>
      </p:sp>
      <p:sp>
        <p:nvSpPr>
          <p:cNvPr id="45" name="Shape 39"/>
          <p:cNvSpPr/>
          <p:nvPr/>
        </p:nvSpPr>
        <p:spPr>
          <a:xfrm>
            <a:off x="9299854" y="2130552"/>
            <a:ext cx="816153" cy="219456"/>
          </a:xfrm>
          <a:prstGeom prst="roundRect">
            <a:avLst>
              <a:gd name="adj" fmla="val 16667"/>
            </a:avLst>
          </a:prstGeom>
          <a:solidFill>
            <a:srgbClr val="F2F5F9"/>
          </a:solidFill>
          <a:ln/>
        </p:spPr>
      </p:sp>
      <p:sp>
        <p:nvSpPr>
          <p:cNvPr id="46" name="Text 40"/>
          <p:cNvSpPr txBox="1"/>
          <p:nvPr/>
        </p:nvSpPr>
        <p:spPr>
          <a:xfrm>
            <a:off x="9336430" y="2130552"/>
            <a:ext cx="7430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30" dirty="0"/>
          </a:p>
        </p:txBody>
      </p:sp>
      <p:sp>
        <p:nvSpPr>
          <p:cNvPr id="47" name="Shape 41"/>
          <p:cNvSpPr/>
          <p:nvPr/>
        </p:nvSpPr>
        <p:spPr>
          <a:xfrm>
            <a:off x="10161727" y="2103120"/>
            <a:ext cx="1645920" cy="274320"/>
          </a:xfrm>
          <a:prstGeom prst="roundRect">
            <a:avLst>
              <a:gd name="adj" fmla="val 20000"/>
            </a:avLst>
          </a:prstGeom>
          <a:solidFill>
            <a:srgbClr val="E8F1FA"/>
          </a:solidFill>
          <a:ln w="9525">
            <a:solidFill>
              <a:srgbClr val="1D63A1"/>
            </a:solidFill>
            <a:prstDash val="solid"/>
          </a:ln>
        </p:spPr>
      </p:sp>
      <p:pic>
        <p:nvPicPr>
          <p:cNvPr id="48" name="Image 4" descr="/tmp/claude-0/-home-user-riesgo/579fb8c8-70e5-51d5-80ec-6ed51cc2e8df/scratchpad/pptx-build/icons/truck_1D63A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79" y="2157984"/>
            <a:ext cx="164592" cy="164592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436047" y="21031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Móvil </a:t>
            </a:r>
            <a:pPr algn="l" indent="0" marL="0">
              <a:lnSpc>
                <a:spcPct val="100000"/>
              </a:lnSpc>
              <a:buNone/>
            </a:pPr>
            <a:r>
              <a:rPr lang="en-US" sz="660" i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cobertura nacional</a:t>
            </a:r>
            <a:endParaRPr lang="en-US" sz="760" dirty="0"/>
          </a:p>
        </p:txBody>
      </p:sp>
      <p:sp>
        <p:nvSpPr>
          <p:cNvPr id="50" name="Shape 43"/>
          <p:cNvSpPr/>
          <p:nvPr/>
        </p:nvSpPr>
        <p:spPr>
          <a:xfrm>
            <a:off x="384048" y="2487168"/>
            <a:ext cx="4892040" cy="3547872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51" name="Shape 44"/>
          <p:cNvSpPr/>
          <p:nvPr/>
        </p:nvSpPr>
        <p:spPr>
          <a:xfrm>
            <a:off x="384048" y="2487168"/>
            <a:ext cx="4892040" cy="45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2" name="Shape 45"/>
          <p:cNvSpPr/>
          <p:nvPr/>
        </p:nvSpPr>
        <p:spPr>
          <a:xfrm>
            <a:off x="384048" y="2487168"/>
            <a:ext cx="4892040" cy="3547872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53" name="Shape 46"/>
          <p:cNvSpPr/>
          <p:nvPr/>
        </p:nvSpPr>
        <p:spPr>
          <a:xfrm>
            <a:off x="548640" y="2615184"/>
            <a:ext cx="201168" cy="201168"/>
          </a:xfrm>
          <a:prstGeom prst="ellipse">
            <a:avLst/>
          </a:prstGeom>
          <a:solidFill>
            <a:srgbClr val="E7F5EC"/>
          </a:solidFill>
          <a:ln/>
        </p:spPr>
      </p:sp>
      <p:pic>
        <p:nvPicPr>
          <p:cNvPr id="54" name="Image 5" descr="/tmp/claude-0/-home-user-riesgo/579fb8c8-70e5-51d5-80ec-6ed51cc2e8df/scratchpad/pptx-build/icons/thumbsup_1E844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874" y="2655418"/>
            <a:ext cx="120701" cy="120701"/>
          </a:xfrm>
          <a:prstGeom prst="rect">
            <a:avLst/>
          </a:prstGeom>
        </p:spPr>
      </p:pic>
      <p:sp>
        <p:nvSpPr>
          <p:cNvPr id="55" name="Text 47"/>
          <p:cNvSpPr txBox="1"/>
          <p:nvPr/>
        </p:nvSpPr>
        <p:spPr>
          <a:xfrm>
            <a:off x="859536" y="258775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Fortalezas del Servicio</a:t>
            </a:r>
            <a:endParaRPr lang="en-US" sz="1150" dirty="0"/>
          </a:p>
        </p:txBody>
      </p:sp>
      <p:pic>
        <p:nvPicPr>
          <p:cNvPr id="56" name="Image 6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2971800"/>
            <a:ext cx="182880" cy="182880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914400" y="2935224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generalmente oportuno.</a:t>
            </a:r>
            <a:endParaRPr lang="en-US" sz="1150" dirty="0"/>
          </a:p>
        </p:txBody>
      </p:sp>
      <p:pic>
        <p:nvPicPr>
          <p:cNvPr id="58" name="Image 7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3319272"/>
            <a:ext cx="182880" cy="182880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914400" y="3282696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positiva del servicio.</a:t>
            </a:r>
            <a:endParaRPr lang="en-US" sz="1150" dirty="0"/>
          </a:p>
        </p:txBody>
      </p:sp>
      <p:pic>
        <p:nvPicPr>
          <p:cNvPr id="60" name="Image 8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3504" y="3666744"/>
            <a:ext cx="182880" cy="182880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914400" y="3630168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incidencias percibida como fácil o regular.</a:t>
            </a:r>
            <a:endParaRPr lang="en-US" sz="1150" dirty="0"/>
          </a:p>
        </p:txBody>
      </p:sp>
      <p:pic>
        <p:nvPicPr>
          <p:cNvPr id="62" name="Image 9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4014216"/>
            <a:ext cx="182880" cy="182880"/>
          </a:xfrm>
          <a:prstGeom prst="rect">
            <a:avLst/>
          </a:prstGeom>
        </p:spPr>
      </p:pic>
      <p:sp>
        <p:nvSpPr>
          <p:cNvPr id="63" name="Text 51"/>
          <p:cNvSpPr txBox="1"/>
          <p:nvPr/>
        </p:nvSpPr>
        <p:spPr>
          <a:xfrm>
            <a:off x="914400" y="3977640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 disposición de apoyo al usuario.</a:t>
            </a:r>
            <a:endParaRPr lang="en-US" sz="1150" dirty="0"/>
          </a:p>
        </p:txBody>
      </p:sp>
      <p:pic>
        <p:nvPicPr>
          <p:cNvPr id="64" name="Image 10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3504" y="4361688"/>
            <a:ext cx="182880" cy="182880"/>
          </a:xfrm>
          <a:prstGeom prst="rect">
            <a:avLst/>
          </a:prstGeom>
        </p:spPr>
      </p:pic>
      <p:sp>
        <p:nvSpPr>
          <p:cNvPr id="65" name="Text 52"/>
          <p:cNvSpPr txBox="1"/>
          <p:nvPr/>
        </p:nvSpPr>
        <p:spPr>
          <a:xfrm>
            <a:off x="914400" y="4325112"/>
            <a:ext cx="4142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satisfacción favorable en la mayoría de agencias.</a:t>
            </a:r>
            <a:endParaRPr lang="en-US" sz="1150" dirty="0"/>
          </a:p>
        </p:txBody>
      </p:sp>
      <p:sp>
        <p:nvSpPr>
          <p:cNvPr id="66" name="Shape 53"/>
          <p:cNvSpPr/>
          <p:nvPr/>
        </p:nvSpPr>
        <p:spPr>
          <a:xfrm>
            <a:off x="5458968" y="2487168"/>
            <a:ext cx="6348679" cy="1632021"/>
          </a:xfrm>
          <a:prstGeom prst="roundRect">
            <a:avLst>
              <a:gd name="adj" fmla="val 448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67" name="Shape 54"/>
          <p:cNvSpPr/>
          <p:nvPr/>
        </p:nvSpPr>
        <p:spPr>
          <a:xfrm>
            <a:off x="5458968" y="2487168"/>
            <a:ext cx="6348679" cy="45720"/>
          </a:xfrm>
          <a:prstGeom prst="rect">
            <a:avLst/>
          </a:prstGeom>
          <a:solidFill>
            <a:srgbClr val="E0392B"/>
          </a:solidFill>
          <a:ln/>
        </p:spPr>
      </p:sp>
      <p:sp>
        <p:nvSpPr>
          <p:cNvPr id="68" name="Shape 55"/>
          <p:cNvSpPr/>
          <p:nvPr/>
        </p:nvSpPr>
        <p:spPr>
          <a:xfrm>
            <a:off x="5458968" y="2487168"/>
            <a:ext cx="6348679" cy="1632021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69" name="Shape 56"/>
          <p:cNvSpPr/>
          <p:nvPr/>
        </p:nvSpPr>
        <p:spPr>
          <a:xfrm>
            <a:off x="5623560" y="2615184"/>
            <a:ext cx="201168" cy="201168"/>
          </a:xfrm>
          <a:prstGeom prst="ellipse">
            <a:avLst/>
          </a:prstGeom>
          <a:solidFill>
            <a:srgbClr val="FBEAE8"/>
          </a:solidFill>
          <a:ln/>
        </p:spPr>
      </p:sp>
      <p:pic>
        <p:nvPicPr>
          <p:cNvPr id="70" name="Image 11" descr="/tmp/claude-0/-home-user-riesgo/579fb8c8-70e5-51d5-80ec-6ed51cc2e8df/scratchpad/pptx-build/icons/alerttriangle_E0392B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3794" y="2655418"/>
            <a:ext cx="120701" cy="120701"/>
          </a:xfrm>
          <a:prstGeom prst="rect">
            <a:avLst/>
          </a:prstGeom>
        </p:spPr>
      </p:pic>
      <p:sp>
        <p:nvSpPr>
          <p:cNvPr id="71" name="Text 57"/>
          <p:cNvSpPr txBox="1"/>
          <p:nvPr/>
        </p:nvSpPr>
        <p:spPr>
          <a:xfrm>
            <a:off x="5934456" y="2587752"/>
            <a:ext cx="57085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Principales Oportunidades de Mejora</a:t>
            </a:r>
            <a:endParaRPr lang="en-US" sz="1150" dirty="0"/>
          </a:p>
        </p:txBody>
      </p:sp>
      <p:sp>
        <p:nvSpPr>
          <p:cNvPr id="72" name="Shape 58"/>
          <p:cNvSpPr/>
          <p:nvPr/>
        </p:nvSpPr>
        <p:spPr>
          <a:xfrm>
            <a:off x="5678424" y="2944368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BEAE8"/>
          </a:solidFill>
          <a:ln/>
        </p:spPr>
      </p:sp>
      <p:pic>
        <p:nvPicPr>
          <p:cNvPr id="73" name="Image 12" descr="/tmp/claude-0/-home-user-riesgo/579fb8c8-70e5-51d5-80ec-6ed51cc2e8df/scratchpad/pptx-build/icons/alerttriangle_E0392B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88152" y="2975206"/>
            <a:ext cx="182880" cy="182880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6053328" y="2944368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e interrupciones de la plataforma</a:t>
            </a:r>
            <a:endParaRPr lang="en-US" sz="930" dirty="0"/>
          </a:p>
        </p:txBody>
      </p:sp>
      <p:sp>
        <p:nvSpPr>
          <p:cNvPr id="75" name="Shape 60"/>
          <p:cNvSpPr/>
          <p:nvPr/>
        </p:nvSpPr>
        <p:spPr>
          <a:xfrm>
            <a:off x="8697316" y="2944368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BEAE8"/>
          </a:solidFill>
          <a:ln/>
        </p:spPr>
      </p:sp>
      <p:pic>
        <p:nvPicPr>
          <p:cNvPr id="76" name="Image 13" descr="/tmp/claude-0/-home-user-riesgo/579fb8c8-70e5-51d5-80ec-6ed51cc2e8df/scratchpad/pptx-build/icons/copy_E0392B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7044" y="2975206"/>
            <a:ext cx="182880" cy="182880"/>
          </a:xfrm>
          <a:prstGeom prst="rect">
            <a:avLst/>
          </a:prstGeom>
        </p:spPr>
      </p:pic>
      <p:sp>
        <p:nvSpPr>
          <p:cNvPr id="77" name="Text 61"/>
          <p:cNvSpPr txBox="1"/>
          <p:nvPr/>
        </p:nvSpPr>
        <p:spPr>
          <a:xfrm>
            <a:off x="9072220" y="2944368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</a:t>
            </a:r>
            <a:endParaRPr lang="en-US" sz="930" dirty="0"/>
          </a:p>
        </p:txBody>
      </p:sp>
      <p:sp>
        <p:nvSpPr>
          <p:cNvPr id="78" name="Shape 62"/>
          <p:cNvSpPr/>
          <p:nvPr/>
        </p:nvSpPr>
        <p:spPr>
          <a:xfrm>
            <a:off x="5678424" y="3230072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BEAE8"/>
          </a:solidFill>
          <a:ln/>
        </p:spPr>
      </p:sp>
      <p:pic>
        <p:nvPicPr>
          <p:cNvPr id="79" name="Image 14" descr="/tmp/claude-0/-home-user-riesgo/579fb8c8-70e5-51d5-80ec-6ed51cc2e8df/scratchpad/pptx-build/icons/refreshcw_E0392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88152" y="3260910"/>
            <a:ext cx="182880" cy="182880"/>
          </a:xfrm>
          <a:prstGeom prst="rect">
            <a:avLst/>
          </a:prstGeom>
        </p:spPr>
      </p:pic>
      <p:sp>
        <p:nvSpPr>
          <p:cNvPr id="80" name="Text 63"/>
          <p:cNvSpPr txBox="1"/>
          <p:nvPr/>
        </p:nvSpPr>
        <p:spPr>
          <a:xfrm>
            <a:off x="6053328" y="3230072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Reversas de transacciones</a:t>
            </a:r>
            <a:endParaRPr lang="en-US" sz="930" dirty="0"/>
          </a:p>
        </p:txBody>
      </p:sp>
      <p:sp>
        <p:nvSpPr>
          <p:cNvPr id="81" name="Shape 64"/>
          <p:cNvSpPr/>
          <p:nvPr/>
        </p:nvSpPr>
        <p:spPr>
          <a:xfrm>
            <a:off x="8697316" y="3230072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BEAE8"/>
          </a:solidFill>
          <a:ln/>
        </p:spPr>
      </p:sp>
      <p:pic>
        <p:nvPicPr>
          <p:cNvPr id="82" name="Image 15" descr="/tmp/claude-0/-home-user-riesgo/579fb8c8-70e5-51d5-80ec-6ed51cc2e8df/scratchpad/pptx-build/icons/clock_A6650F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07044" y="3260910"/>
            <a:ext cx="182880" cy="182880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9072220" y="3230072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Lentitud en la resolución de incidentes</a:t>
            </a:r>
            <a:endParaRPr lang="en-US" sz="930" dirty="0"/>
          </a:p>
        </p:txBody>
      </p:sp>
      <p:sp>
        <p:nvSpPr>
          <p:cNvPr id="84" name="Shape 66"/>
          <p:cNvSpPr/>
          <p:nvPr/>
        </p:nvSpPr>
        <p:spPr>
          <a:xfrm>
            <a:off x="5678424" y="3515777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CF1E0"/>
          </a:solidFill>
          <a:ln/>
        </p:spPr>
      </p:sp>
      <p:pic>
        <p:nvPicPr>
          <p:cNvPr id="85" name="Image 16" descr="/tmp/claude-0/-home-user-riesgo/579fb8c8-70e5-51d5-80ec-6ed51cc2e8df/scratchpad/pptx-build/icons/headphones_A6650F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88152" y="3546615"/>
            <a:ext cx="182880" cy="182880"/>
          </a:xfrm>
          <a:prstGeom prst="rect">
            <a:avLst/>
          </a:prstGeom>
        </p:spPr>
      </p:pic>
      <p:sp>
        <p:nvSpPr>
          <p:cNvPr id="86" name="Text 67"/>
          <p:cNvSpPr txBox="1"/>
          <p:nvPr/>
        </p:nvSpPr>
        <p:spPr>
          <a:xfrm>
            <a:off x="6053328" y="3515777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para contactar soporte</a:t>
            </a:r>
            <a:endParaRPr lang="en-US" sz="930" dirty="0"/>
          </a:p>
        </p:txBody>
      </p:sp>
      <p:sp>
        <p:nvSpPr>
          <p:cNvPr id="87" name="Shape 68"/>
          <p:cNvSpPr/>
          <p:nvPr/>
        </p:nvSpPr>
        <p:spPr>
          <a:xfrm>
            <a:off x="8697316" y="3515777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CF1E0"/>
          </a:solidFill>
          <a:ln/>
        </p:spPr>
      </p:sp>
      <p:pic>
        <p:nvPicPr>
          <p:cNvPr id="88" name="Image 17" descr="/tmp/claude-0/-home-user-riesgo/579fb8c8-70e5-51d5-80ec-6ed51cc2e8df/scratchpad/pptx-build/icons/creditcard_E0392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07044" y="3546615"/>
            <a:ext cx="182880" cy="182880"/>
          </a:xfrm>
          <a:prstGeom prst="rect">
            <a:avLst/>
          </a:prstGeom>
        </p:spPr>
      </p:pic>
      <p:sp>
        <p:nvSpPr>
          <p:cNvPr id="89" name="Text 69"/>
          <p:cNvSpPr txBox="1"/>
          <p:nvPr/>
        </p:nvSpPr>
        <p:spPr>
          <a:xfrm>
            <a:off x="9072220" y="3515777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Reposición tardía de tarjetas</a:t>
            </a:r>
            <a:endParaRPr lang="en-US" sz="930" dirty="0"/>
          </a:p>
        </p:txBody>
      </p:sp>
      <p:sp>
        <p:nvSpPr>
          <p:cNvPr id="90" name="Shape 70"/>
          <p:cNvSpPr/>
          <p:nvPr/>
        </p:nvSpPr>
        <p:spPr>
          <a:xfrm>
            <a:off x="5678424" y="3801481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CF1E0"/>
          </a:solidFill>
          <a:ln/>
        </p:spPr>
      </p:sp>
      <p:pic>
        <p:nvPicPr>
          <p:cNvPr id="91" name="Image 18" descr="/tmp/claude-0/-home-user-riesgo/579fb8c8-70e5-51d5-80ec-6ed51cc2e8df/scratchpad/pptx-build/icons/shield_A6650F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788152" y="3832319"/>
            <a:ext cx="182880" cy="182880"/>
          </a:xfrm>
          <a:prstGeom prst="rect">
            <a:avLst/>
          </a:prstGeom>
        </p:spPr>
      </p:pic>
      <p:sp>
        <p:nvSpPr>
          <p:cNvPr id="92" name="Text 71"/>
          <p:cNvSpPr txBox="1"/>
          <p:nvPr/>
        </p:nvSpPr>
        <p:spPr>
          <a:xfrm>
            <a:off x="6053328" y="3801481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fraude y compras fraudulentas</a:t>
            </a:r>
            <a:endParaRPr lang="en-US" sz="930" dirty="0"/>
          </a:p>
        </p:txBody>
      </p:sp>
      <p:sp>
        <p:nvSpPr>
          <p:cNvPr id="93" name="Shape 72"/>
          <p:cNvSpPr/>
          <p:nvPr/>
        </p:nvSpPr>
        <p:spPr>
          <a:xfrm>
            <a:off x="8697316" y="3801481"/>
            <a:ext cx="2890876" cy="244556"/>
          </a:xfrm>
          <a:prstGeom prst="roundRect">
            <a:avLst>
              <a:gd name="adj" fmla="val 22434"/>
            </a:avLst>
          </a:prstGeom>
          <a:solidFill>
            <a:srgbClr val="FCF1E0"/>
          </a:solidFill>
          <a:ln/>
        </p:spPr>
      </p:sp>
      <p:pic>
        <p:nvPicPr>
          <p:cNvPr id="94" name="Image 19" descr="/tmp/claude-0/-home-user-riesgo/579fb8c8-70e5-51d5-80ec-6ed51cc2e8df/scratchpad/pptx-build/icons/tag_A6650F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807044" y="3832319"/>
            <a:ext cx="182880" cy="182880"/>
          </a:xfrm>
          <a:prstGeom prst="rect">
            <a:avLst/>
          </a:prstGeom>
        </p:spPr>
      </p:pic>
      <p:sp>
        <p:nvSpPr>
          <p:cNvPr id="95" name="Text 73"/>
          <p:cNvSpPr txBox="1"/>
          <p:nvPr/>
        </p:nvSpPr>
        <p:spPr>
          <a:xfrm>
            <a:off x="9072220" y="3801481"/>
            <a:ext cx="2424532" cy="244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Promociones y compras flotantes</a:t>
            </a:r>
            <a:endParaRPr lang="en-US" sz="930" dirty="0"/>
          </a:p>
        </p:txBody>
      </p:sp>
      <p:sp>
        <p:nvSpPr>
          <p:cNvPr id="96" name="Shape 74"/>
          <p:cNvSpPr/>
          <p:nvPr/>
        </p:nvSpPr>
        <p:spPr>
          <a:xfrm>
            <a:off x="5458968" y="4247205"/>
            <a:ext cx="6348679" cy="1787835"/>
          </a:xfrm>
          <a:prstGeom prst="roundRect">
            <a:avLst>
              <a:gd name="adj" fmla="val 409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97" name="Shape 75"/>
          <p:cNvSpPr/>
          <p:nvPr/>
        </p:nvSpPr>
        <p:spPr>
          <a:xfrm>
            <a:off x="5458968" y="4247205"/>
            <a:ext cx="6348679" cy="4572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98" name="Shape 76"/>
          <p:cNvSpPr/>
          <p:nvPr/>
        </p:nvSpPr>
        <p:spPr>
          <a:xfrm>
            <a:off x="5458968" y="4247205"/>
            <a:ext cx="6348679" cy="1787835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99" name="Shape 77"/>
          <p:cNvSpPr/>
          <p:nvPr/>
        </p:nvSpPr>
        <p:spPr>
          <a:xfrm>
            <a:off x="5623560" y="4375221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00" name="Image 20" descr="/tmp/claude-0/-home-user-riesgo/579fb8c8-70e5-51d5-80ec-6ed51cc2e8df/scratchpad/pptx-build/icons/flag_133B6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663794" y="4415455"/>
            <a:ext cx="120701" cy="120701"/>
          </a:xfrm>
          <a:prstGeom prst="rect">
            <a:avLst/>
          </a:prstGeom>
        </p:spPr>
      </p:pic>
      <p:sp>
        <p:nvSpPr>
          <p:cNvPr id="101" name="Text 78"/>
          <p:cNvSpPr txBox="1"/>
          <p:nvPr/>
        </p:nvSpPr>
        <p:spPr>
          <a:xfrm>
            <a:off x="5934456" y="4347789"/>
            <a:ext cx="57085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Prioridades — Impacto vs. Urgencia</a:t>
            </a:r>
            <a:endParaRPr lang="en-US" sz="1150" dirty="0"/>
          </a:p>
        </p:txBody>
      </p:sp>
      <p:sp>
        <p:nvSpPr>
          <p:cNvPr id="102" name="Shape 79"/>
          <p:cNvSpPr/>
          <p:nvPr/>
        </p:nvSpPr>
        <p:spPr>
          <a:xfrm>
            <a:off x="5641848" y="4686117"/>
            <a:ext cx="5982919" cy="425257"/>
          </a:xfrm>
          <a:prstGeom prst="roundRect">
            <a:avLst>
              <a:gd name="adj" fmla="val 12901"/>
            </a:avLst>
          </a:prstGeom>
          <a:solidFill>
            <a:srgbClr val="FBEAE8"/>
          </a:solidFill>
          <a:ln/>
        </p:spPr>
      </p:sp>
      <p:sp>
        <p:nvSpPr>
          <p:cNvPr id="103" name="Shape 80"/>
          <p:cNvSpPr/>
          <p:nvPr/>
        </p:nvSpPr>
        <p:spPr>
          <a:xfrm>
            <a:off x="5733288" y="478901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E0392B"/>
          </a:solidFill>
          <a:ln/>
        </p:spPr>
      </p:sp>
      <p:sp>
        <p:nvSpPr>
          <p:cNvPr id="104" name="Text 81"/>
          <p:cNvSpPr txBox="1"/>
          <p:nvPr/>
        </p:nvSpPr>
        <p:spPr>
          <a:xfrm>
            <a:off x="5733288" y="478901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105" name="Shape 82"/>
          <p:cNvSpPr/>
          <p:nvPr/>
        </p:nvSpPr>
        <p:spPr>
          <a:xfrm>
            <a:off x="6775704" y="4722693"/>
            <a:ext cx="1136828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106" name="Text 83"/>
          <p:cNvSpPr txBox="1"/>
          <p:nvPr/>
        </p:nvSpPr>
        <p:spPr>
          <a:xfrm>
            <a:off x="6830568" y="4722693"/>
            <a:ext cx="1027100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 de la plataforma</a:t>
            </a:r>
            <a:endParaRPr lang="en-US" sz="780" dirty="0"/>
          </a:p>
        </p:txBody>
      </p:sp>
      <p:sp>
        <p:nvSpPr>
          <p:cNvPr id="107" name="Shape 84"/>
          <p:cNvSpPr/>
          <p:nvPr/>
        </p:nvSpPr>
        <p:spPr>
          <a:xfrm>
            <a:off x="7976540" y="4722693"/>
            <a:ext cx="1136828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108" name="Text 85"/>
          <p:cNvSpPr txBox="1"/>
          <p:nvPr/>
        </p:nvSpPr>
        <p:spPr>
          <a:xfrm>
            <a:off x="8031404" y="4722693"/>
            <a:ext cx="1027100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Reversas de transacciones</a:t>
            </a:r>
            <a:endParaRPr lang="en-US" sz="780" dirty="0"/>
          </a:p>
        </p:txBody>
      </p:sp>
      <p:sp>
        <p:nvSpPr>
          <p:cNvPr id="109" name="Shape 86"/>
          <p:cNvSpPr/>
          <p:nvPr/>
        </p:nvSpPr>
        <p:spPr>
          <a:xfrm>
            <a:off x="9177376" y="4722693"/>
            <a:ext cx="1136828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110" name="Text 87"/>
          <p:cNvSpPr txBox="1"/>
          <p:nvPr/>
        </p:nvSpPr>
        <p:spPr>
          <a:xfrm>
            <a:off x="9232240" y="4722693"/>
            <a:ext cx="1027100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</a:t>
            </a:r>
            <a:endParaRPr lang="en-US" sz="780" dirty="0"/>
          </a:p>
        </p:txBody>
      </p:sp>
      <p:sp>
        <p:nvSpPr>
          <p:cNvPr id="111" name="Shape 88"/>
          <p:cNvSpPr/>
          <p:nvPr/>
        </p:nvSpPr>
        <p:spPr>
          <a:xfrm>
            <a:off x="10378211" y="4722693"/>
            <a:ext cx="1136828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112" name="Text 89"/>
          <p:cNvSpPr txBox="1"/>
          <p:nvPr/>
        </p:nvSpPr>
        <p:spPr>
          <a:xfrm>
            <a:off x="10433075" y="4722693"/>
            <a:ext cx="1027100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resolución</a:t>
            </a:r>
            <a:endParaRPr lang="en-US" sz="780" dirty="0"/>
          </a:p>
        </p:txBody>
      </p:sp>
      <p:sp>
        <p:nvSpPr>
          <p:cNvPr id="113" name="Shape 90"/>
          <p:cNvSpPr/>
          <p:nvPr/>
        </p:nvSpPr>
        <p:spPr>
          <a:xfrm>
            <a:off x="5641848" y="5147950"/>
            <a:ext cx="5982919" cy="425257"/>
          </a:xfrm>
          <a:prstGeom prst="roundRect">
            <a:avLst>
              <a:gd name="adj" fmla="val 12901"/>
            </a:avLst>
          </a:prstGeom>
          <a:solidFill>
            <a:srgbClr val="FCF1E0"/>
          </a:solidFill>
          <a:ln/>
        </p:spPr>
      </p:sp>
      <p:sp>
        <p:nvSpPr>
          <p:cNvPr id="114" name="Shape 91"/>
          <p:cNvSpPr/>
          <p:nvPr/>
        </p:nvSpPr>
        <p:spPr>
          <a:xfrm>
            <a:off x="5733288" y="5250851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115" name="Text 92"/>
          <p:cNvSpPr txBox="1"/>
          <p:nvPr/>
        </p:nvSpPr>
        <p:spPr>
          <a:xfrm>
            <a:off x="5733288" y="5250851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16" name="Shape 93"/>
          <p:cNvSpPr/>
          <p:nvPr/>
        </p:nvSpPr>
        <p:spPr>
          <a:xfrm>
            <a:off x="6775704" y="5184526"/>
            <a:ext cx="1537106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A6650F"/>
            </a:solidFill>
            <a:prstDash val="solid"/>
          </a:ln>
        </p:spPr>
      </p:sp>
      <p:sp>
        <p:nvSpPr>
          <p:cNvPr id="117" name="Text 94"/>
          <p:cNvSpPr txBox="1"/>
          <p:nvPr/>
        </p:nvSpPr>
        <p:spPr>
          <a:xfrm>
            <a:off x="6830568" y="5184526"/>
            <a:ext cx="1427378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y soporte</a:t>
            </a:r>
            <a:endParaRPr lang="en-US" sz="780" dirty="0"/>
          </a:p>
        </p:txBody>
      </p:sp>
      <p:sp>
        <p:nvSpPr>
          <p:cNvPr id="118" name="Shape 95"/>
          <p:cNvSpPr/>
          <p:nvPr/>
        </p:nvSpPr>
        <p:spPr>
          <a:xfrm>
            <a:off x="8376818" y="5184526"/>
            <a:ext cx="1537106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A6650F"/>
            </a:solidFill>
            <a:prstDash val="solid"/>
          </a:ln>
        </p:spPr>
      </p:sp>
      <p:sp>
        <p:nvSpPr>
          <p:cNvPr id="119" name="Text 96"/>
          <p:cNvSpPr txBox="1"/>
          <p:nvPr/>
        </p:nvSpPr>
        <p:spPr>
          <a:xfrm>
            <a:off x="8431682" y="5184526"/>
            <a:ext cx="1427378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de reposición</a:t>
            </a:r>
            <a:endParaRPr lang="en-US" sz="780" dirty="0"/>
          </a:p>
        </p:txBody>
      </p:sp>
      <p:sp>
        <p:nvSpPr>
          <p:cNvPr id="120" name="Shape 97"/>
          <p:cNvSpPr/>
          <p:nvPr/>
        </p:nvSpPr>
        <p:spPr>
          <a:xfrm>
            <a:off x="9977933" y="5184526"/>
            <a:ext cx="1537106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A6650F"/>
            </a:solidFill>
            <a:prstDash val="solid"/>
          </a:ln>
        </p:spPr>
      </p:sp>
      <p:sp>
        <p:nvSpPr>
          <p:cNvPr id="121" name="Text 98"/>
          <p:cNvSpPr txBox="1"/>
          <p:nvPr/>
        </p:nvSpPr>
        <p:spPr>
          <a:xfrm>
            <a:off x="10032797" y="5184526"/>
            <a:ext cx="1427378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Fraudes y contracargos</a:t>
            </a:r>
            <a:endParaRPr lang="en-US" sz="780" dirty="0"/>
          </a:p>
        </p:txBody>
      </p:sp>
      <p:sp>
        <p:nvSpPr>
          <p:cNvPr id="122" name="Shape 99"/>
          <p:cNvSpPr/>
          <p:nvPr/>
        </p:nvSpPr>
        <p:spPr>
          <a:xfrm>
            <a:off x="5641848" y="5609783"/>
            <a:ext cx="5982919" cy="425257"/>
          </a:xfrm>
          <a:prstGeom prst="roundRect">
            <a:avLst>
              <a:gd name="adj" fmla="val 12901"/>
            </a:avLst>
          </a:prstGeom>
          <a:solidFill>
            <a:srgbClr val="E7F5EC"/>
          </a:solidFill>
          <a:ln/>
        </p:spPr>
      </p:sp>
      <p:sp>
        <p:nvSpPr>
          <p:cNvPr id="123" name="Shape 100"/>
          <p:cNvSpPr/>
          <p:nvPr/>
        </p:nvSpPr>
        <p:spPr>
          <a:xfrm>
            <a:off x="5733288" y="5712684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124" name="Text 101"/>
          <p:cNvSpPr txBox="1"/>
          <p:nvPr/>
        </p:nvSpPr>
        <p:spPr>
          <a:xfrm>
            <a:off x="5733288" y="57126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800" dirty="0"/>
          </a:p>
        </p:txBody>
      </p:sp>
      <p:sp>
        <p:nvSpPr>
          <p:cNvPr id="125" name="Shape 102"/>
          <p:cNvSpPr/>
          <p:nvPr/>
        </p:nvSpPr>
        <p:spPr>
          <a:xfrm>
            <a:off x="6775704" y="5646359"/>
            <a:ext cx="2337664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1E8449"/>
            </a:solidFill>
            <a:prstDash val="solid"/>
          </a:ln>
        </p:spPr>
      </p:sp>
      <p:sp>
        <p:nvSpPr>
          <p:cNvPr id="126" name="Text 103"/>
          <p:cNvSpPr txBox="1"/>
          <p:nvPr/>
        </p:nvSpPr>
        <p:spPr>
          <a:xfrm>
            <a:off x="6830568" y="5646359"/>
            <a:ext cx="2227936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de promociones</a:t>
            </a:r>
            <a:endParaRPr lang="en-US" sz="780" dirty="0"/>
          </a:p>
        </p:txBody>
      </p:sp>
      <p:sp>
        <p:nvSpPr>
          <p:cNvPr id="127" name="Shape 104"/>
          <p:cNvSpPr/>
          <p:nvPr/>
        </p:nvSpPr>
        <p:spPr>
          <a:xfrm>
            <a:off x="9177376" y="5646359"/>
            <a:ext cx="2337664" cy="352105"/>
          </a:xfrm>
          <a:prstGeom prst="roundRect">
            <a:avLst>
              <a:gd name="adj" fmla="val 12985"/>
            </a:avLst>
          </a:prstGeom>
          <a:solidFill>
            <a:srgbClr val="FFFFFF"/>
          </a:solidFill>
          <a:ln w="9525">
            <a:solidFill>
              <a:srgbClr val="1E8449"/>
            </a:solidFill>
            <a:prstDash val="solid"/>
          </a:ln>
        </p:spPr>
      </p:sp>
      <p:sp>
        <p:nvSpPr>
          <p:cNvPr id="128" name="Text 105"/>
          <p:cNvSpPr txBox="1"/>
          <p:nvPr/>
        </p:nvSpPr>
        <p:spPr>
          <a:xfrm>
            <a:off x="9232240" y="5646359"/>
            <a:ext cx="2227936" cy="352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78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operativas menores</a:t>
            </a:r>
            <a:endParaRPr lang="en-US" sz="780" dirty="0"/>
          </a:p>
        </p:txBody>
      </p:sp>
      <p:sp>
        <p:nvSpPr>
          <p:cNvPr id="129" name="Shape 106"/>
          <p:cNvSpPr/>
          <p:nvPr/>
        </p:nvSpPr>
        <p:spPr>
          <a:xfrm>
            <a:off x="384048" y="6144768"/>
            <a:ext cx="11423599" cy="585216"/>
          </a:xfrm>
          <a:prstGeom prst="roundRect">
            <a:avLst>
              <a:gd name="adj" fmla="val 12500"/>
            </a:avLst>
          </a:prstGeom>
          <a:solidFill>
            <a:srgbClr val="0A1F3B"/>
          </a:solidFill>
          <a:ln/>
        </p:spPr>
      </p:sp>
      <p:sp>
        <p:nvSpPr>
          <p:cNvPr id="130" name="Shape 107"/>
          <p:cNvSpPr/>
          <p:nvPr/>
        </p:nvSpPr>
        <p:spPr>
          <a:xfrm>
            <a:off x="384048" y="6144768"/>
            <a:ext cx="54864" cy="585216"/>
          </a:xfrm>
          <a:prstGeom prst="rect">
            <a:avLst/>
          </a:prstGeom>
          <a:solidFill>
            <a:srgbClr val="17A9B0"/>
          </a:solidFill>
          <a:ln/>
        </p:spPr>
      </p:sp>
      <p:pic>
        <p:nvPicPr>
          <p:cNvPr id="131" name="Image 21" descr="/tmp/claude-0/-home-user-riesgo/579fb8c8-70e5-51d5-80ec-6ed51cc2e8df/scratchpad/pptx-build/icons/flag_FFFFFF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5216" y="6309360"/>
            <a:ext cx="256032" cy="256032"/>
          </a:xfrm>
          <a:prstGeom prst="rect">
            <a:avLst/>
          </a:prstGeom>
        </p:spPr>
      </p:pic>
      <p:sp>
        <p:nvSpPr>
          <p:cNvPr id="132" name="Text 108"/>
          <p:cNvSpPr txBox="1"/>
          <p:nvPr/>
        </p:nvSpPr>
        <p:spPr>
          <a:xfrm>
            <a:off x="950976" y="6199632"/>
            <a:ext cx="106463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resultados reflejan una percepción favorable del servicio de procesamiento de tarjetas de crédito; sin embargo, existen oportunidades críticas de mejora relacionadas con la estabilidad operativa, reversas, duplicidad de pagos y tiempos de respuesta. La atención de estos aspectos permitirá fortalecer la continuidad operativa, la experiencia de las agencias y la satisfacción de los asociados.</a:t>
            </a:r>
            <a:endParaRPr lang="en-US" sz="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Resultados de Encuesta EVERTEC — Junta Directiva</dc:title>
  <dc:subject>PptxGenJS Presentation</dc:subject>
  <dc:creator>COMÉDICA</dc:creator>
  <cp:lastModifiedBy>COMÉDICA</cp:lastModifiedBy>
  <cp:revision>1</cp:revision>
  <dcterms:created xsi:type="dcterms:W3CDTF">2026-09-18T22:58:53Z</dcterms:created>
  <dcterms:modified xsi:type="dcterms:W3CDTF">2026-09-18T22:58:53Z</dcterms:modified>
</cp:coreProperties>
</file>