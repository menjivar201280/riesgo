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48640"/>
            <a:ext cx="1645920" cy="1271016"/>
          </a:xfrm>
          <a:prstGeom prst="rect">
            <a:avLst/>
          </a:prstGeom>
        </p:spPr>
      </p:pic>
      <p:sp>
        <p:nvSpPr>
          <p:cNvPr id="3" name="Text 0"/>
          <p:cNvSpPr txBox="1"/>
          <p:nvPr/>
        </p:nvSpPr>
        <p:spPr>
          <a:xfrm>
            <a:off x="548640" y="2240280"/>
            <a:ext cx="10972800" cy="365760"/>
          </a:xfrm>
          <a:prstGeom prst="rect">
            <a:avLst/>
          </a:prstGeom>
          <a:noFill/>
          <a:ln/>
        </p:spPr>
        <p:txBody>
          <a:bodyPr wrap="square" lIns="0" tIns="0" rIns="0" bIns="0" rtlCol="0" anchor="ctr"/>
          <a:lstStyle/>
          <a:p>
            <a:pPr indent="0" marL="0">
              <a:buNone/>
            </a:pPr>
            <a:r>
              <a:rPr lang="en-US" sz="1600" b="1" dirty="0">
                <a:solidFill>
                  <a:srgbClr val="5B6578"/>
                </a:solidFill>
                <a:latin typeface="Arial" pitchFamily="34" charset="0"/>
                <a:ea typeface="Arial" pitchFamily="34" charset="-122"/>
                <a:cs typeface="Arial" pitchFamily="34" charset="-120"/>
              </a:rPr>
              <a:t>Comité de Riesgos</a:t>
            </a:r>
            <a:endParaRPr lang="en-US" sz="1600" dirty="0"/>
          </a:p>
        </p:txBody>
      </p:sp>
      <p:sp>
        <p:nvSpPr>
          <p:cNvPr id="4" name="Text 1"/>
          <p:cNvSpPr txBox="1"/>
          <p:nvPr/>
        </p:nvSpPr>
        <p:spPr>
          <a:xfrm>
            <a:off x="548640" y="2651760"/>
            <a:ext cx="10972800" cy="1097280"/>
          </a:xfrm>
          <a:prstGeom prst="rect">
            <a:avLst/>
          </a:prstGeom>
          <a:noFill/>
          <a:ln/>
        </p:spPr>
        <p:txBody>
          <a:bodyPr wrap="square" lIns="0" tIns="0" rIns="0" bIns="0" rtlCol="0" anchor="t"/>
          <a:lstStyle/>
          <a:p>
            <a:pPr indent="0" marL="0">
              <a:buNone/>
            </a:pPr>
            <a:r>
              <a:rPr lang="en-US" sz="3600" b="1" dirty="0">
                <a:solidFill>
                  <a:srgbClr val="003082"/>
                </a:solidFill>
                <a:latin typeface="Arial" pitchFamily="34" charset="0"/>
                <a:ea typeface="Arial" pitchFamily="34" charset="-122"/>
                <a:cs typeface="Arial" pitchFamily="34" charset="-120"/>
              </a:rPr>
              <a:t>Política de Contratación de Servicios Críticos Tercerizados</a:t>
            </a:r>
            <a:endParaRPr lang="en-US" sz="3600" dirty="0"/>
          </a:p>
        </p:txBody>
      </p:sp>
      <p:sp>
        <p:nvSpPr>
          <p:cNvPr id="5" name="Text 2"/>
          <p:cNvSpPr txBox="1"/>
          <p:nvPr/>
        </p:nvSpPr>
        <p:spPr>
          <a:xfrm>
            <a:off x="548640" y="3794760"/>
            <a:ext cx="10972800" cy="457200"/>
          </a:xfrm>
          <a:prstGeom prst="rect">
            <a:avLst/>
          </a:prstGeom>
          <a:noFill/>
          <a:ln/>
        </p:spPr>
        <p:txBody>
          <a:bodyPr wrap="square" lIns="0" tIns="0" rIns="0" bIns="0" rtlCol="0" anchor="ctr"/>
          <a:lstStyle/>
          <a:p>
            <a:pPr indent="0" marL="0">
              <a:buNone/>
            </a:pPr>
            <a:r>
              <a:rPr lang="en-US" sz="2000" dirty="0">
                <a:solidFill>
                  <a:srgbClr val="1B2333"/>
                </a:solidFill>
                <a:latin typeface="Calibri" pitchFamily="34" charset="0"/>
                <a:ea typeface="Calibri" pitchFamily="34" charset="-122"/>
                <a:cs typeface="Calibri" pitchFamily="34" charset="-120"/>
              </a:rPr>
              <a:t>Cuadro comparativo de cambios: versión vigente (V03) y propuesta (V04)</a:t>
            </a:r>
            <a:endParaRPr lang="en-US" sz="2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4754880"/>
          <a:ext cx="11064240" cy="914400"/>
        </p:xfrm>
        <a:graphic>
          <a:graphicData uri="http://schemas.openxmlformats.org/drawingml/2006/table">
            <a:tbl>
              <a:tblPr/>
              <a:tblGrid>
                <a:gridCol w="2011680"/>
                <a:gridCol w="3017520"/>
                <a:gridCol w="2011680"/>
                <a:gridCol w="402336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Código</a:t>
                      </a:r>
                      <a:endParaRPr lang="en-US" sz="1400" dirty="0">
                        <a:latin typeface="Calibri" charset="0"/>
                        <a:ea typeface="Calibri" charset="0"/>
                        <a:cs typeface="Calibri" charset="0"/>
                      </a:endParaRPr>
                    </a:p>
                  </a:txBody>
                  <a:tcPr marL="91440" marR="91440" marT="45720" marB="45720"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Versión vigente</a:t>
                      </a:r>
                      <a:endParaRPr lang="en-US" sz="1400" dirty="0">
                        <a:latin typeface="Calibri" charset="0"/>
                        <a:ea typeface="Calibri" charset="0"/>
                        <a:cs typeface="Calibri" charset="0"/>
                      </a:endParaRPr>
                    </a:p>
                  </a:txBody>
                  <a:tcPr marL="91440" marR="91440" marT="45720" marB="45720"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Versión propuesta</a:t>
                      </a:r>
                      <a:endParaRPr lang="en-US" sz="1400" dirty="0">
                        <a:latin typeface="Calibri" charset="0"/>
                        <a:ea typeface="Calibri" charset="0"/>
                        <a:cs typeface="Calibri" charset="0"/>
                      </a:endParaRPr>
                    </a:p>
                  </a:txBody>
                  <a:tcPr marL="91440" marR="91440" marT="45720" marB="45720"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Elaborado por</a:t>
                      </a:r>
                      <a:endParaRPr lang="en-US" sz="1400" dirty="0">
                        <a:latin typeface="Calibri" charset="0"/>
                        <a:ea typeface="Calibri" charset="0"/>
                        <a:cs typeface="Calibri" charset="0"/>
                      </a:endParaRPr>
                    </a:p>
                  </a:txBody>
                  <a:tcPr marL="91440" marR="91440" marT="45720" marB="45720"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41148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RP-GG-PL-003</a:t>
                      </a:r>
                      <a:endParaRPr lang="en-US" sz="1400" dirty="0">
                        <a:latin typeface="Calibri" charset="0"/>
                        <a:ea typeface="Calibri" charset="0"/>
                        <a:cs typeface="Calibri" charset="0"/>
                      </a:endParaRPr>
                    </a:p>
                  </a:txBody>
                  <a:tcPr marL="91440" marR="91440" marT="45720" marB="45720"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03 · Acta 2470 · 21/08/2023</a:t>
                      </a:r>
                      <a:endParaRPr lang="en-US" sz="1400" dirty="0">
                        <a:latin typeface="Calibri" charset="0"/>
                        <a:ea typeface="Calibri" charset="0"/>
                        <a:cs typeface="Calibri" charset="0"/>
                      </a:endParaRPr>
                    </a:p>
                  </a:txBody>
                  <a:tcPr marL="91440" marR="91440" marT="45720" marB="45720"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91440" marR="91440" marT="45720" marB="45720"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Departamento de Administración de Riesgos</a:t>
                      </a:r>
                      <a:endParaRPr lang="en-US" sz="1400" dirty="0">
                        <a:latin typeface="Calibri" charset="0"/>
                        <a:ea typeface="Calibri" charset="0"/>
                        <a:cs typeface="Calibri" charset="0"/>
                      </a:endParaRPr>
                    </a:p>
                  </a:txBody>
                  <a:tcPr marL="91440" marR="91440" marT="45720" marB="45720"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Encabezado del documento</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Título y I. Propósito</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2</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CONTRATACIÓN DE SERVICIOS CRÍTICOS TERCERIZADOS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POLÍTICA DE </a:t>
                      </a:r>
                      <a:pPr indent="0" marL="0">
                        <a:buNone/>
                      </a:pPr>
                      <a:r>
                        <a:rPr lang="en-US" sz="1400" dirty="0">
                          <a:solidFill>
                            <a:srgbClr val="1B2333"/>
                          </a:solidFill>
                          <a:latin typeface="Calibri" pitchFamily="34" charset="0"/>
                          <a:ea typeface="Calibri" pitchFamily="34" charset="-122"/>
                          <a:cs typeface="Calibri" pitchFamily="34" charset="-120"/>
                        </a:rPr>
                        <a:t>CONTRATACIÓN DE SERVICIOS CRÍTICOS TERCERIZADOS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Identifica el tipo de documento, consistente con el código RP-GG-PL.</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Formato interno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Definir las políticas que permitan evaluar, administrar y monitorear objetivamente si los servicios que se tercerizan pueden ser prestados de manera eficiente y no interfieren en el correcto funcionamiento de la Cooperativa, cuidando los intereses de COMEDICA en los Procesos de Contratación de Servicios Críticos Tercerizados.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Definir las políticas</a:t>
                      </a:r>
                      <a:pPr indent="0" marL="0">
                        <a:buNone/>
                      </a:pPr>
                      <a:r>
                        <a:rPr lang="en-US" sz="1400" b="1" u="sng" dirty="0">
                          <a:solidFill>
                            <a:srgbClr val="003082"/>
                          </a:solidFill>
                          <a:latin typeface="Calibri" pitchFamily="34" charset="0"/>
                          <a:ea typeface="Calibri" pitchFamily="34" charset="-122"/>
                          <a:cs typeface="Calibri" pitchFamily="34" charset="-120"/>
                        </a:rPr>
                        <a:t>, lineamientos y controles mínimos</a:t>
                      </a:r>
                      <a:pPr indent="0" marL="0">
                        <a:buNone/>
                      </a:pPr>
                      <a:r>
                        <a:rPr lang="en-US" sz="1400" dirty="0">
                          <a:solidFill>
                            <a:srgbClr val="1B2333"/>
                          </a:solidFill>
                          <a:latin typeface="Calibri" pitchFamily="34" charset="0"/>
                          <a:ea typeface="Calibri" pitchFamily="34" charset="-122"/>
                          <a:cs typeface="Calibri" pitchFamily="34" charset="-120"/>
                        </a:rPr>
                        <a:t> que permitan </a:t>
                      </a:r>
                      <a:pPr indent="0" marL="0">
                        <a:buNone/>
                      </a:pPr>
                      <a:r>
                        <a:rPr lang="en-US" sz="1400" b="1" u="sng" dirty="0">
                          <a:solidFill>
                            <a:srgbClr val="003082"/>
                          </a:solidFill>
                          <a:latin typeface="Calibri" pitchFamily="34" charset="0"/>
                          <a:ea typeface="Calibri" pitchFamily="34" charset="-122"/>
                          <a:cs typeface="Calibri" pitchFamily="34" charset="-120"/>
                        </a:rPr>
                        <a:t>identificar,</a:t>
                      </a:r>
                      <a:pPr indent="0" marL="0">
                        <a:buNone/>
                      </a:pPr>
                      <a:r>
                        <a:rPr lang="en-US" sz="1400" dirty="0">
                          <a:solidFill>
                            <a:srgbClr val="1B2333"/>
                          </a:solidFill>
                          <a:latin typeface="Calibri" pitchFamily="34" charset="0"/>
                          <a:ea typeface="Calibri" pitchFamily="34" charset="-122"/>
                          <a:cs typeface="Calibri" pitchFamily="34" charset="-120"/>
                        </a:rPr>
                        <a:t> evaluar, administrar, </a:t>
                      </a:r>
                      <a:pPr indent="0" marL="0">
                        <a:buNone/>
                      </a:pPr>
                      <a:r>
                        <a:rPr lang="en-US" sz="1400" b="1" u="sng" dirty="0">
                          <a:solidFill>
                            <a:srgbClr val="003082"/>
                          </a:solidFill>
                          <a:latin typeface="Calibri" pitchFamily="34" charset="0"/>
                          <a:ea typeface="Calibri" pitchFamily="34" charset="-122"/>
                          <a:cs typeface="Calibri" pitchFamily="34" charset="-120"/>
                        </a:rPr>
                        <a:t>mitigar</a:t>
                      </a:r>
                      <a:pPr indent="0" marL="0">
                        <a:buNone/>
                      </a:pPr>
                      <a:r>
                        <a:rPr lang="en-US" sz="1400" dirty="0">
                          <a:solidFill>
                            <a:srgbClr val="1B2333"/>
                          </a:solidFill>
                          <a:latin typeface="Calibri" pitchFamily="34" charset="0"/>
                          <a:ea typeface="Calibri" pitchFamily="34" charset="-122"/>
                          <a:cs typeface="Calibri" pitchFamily="34" charset="-120"/>
                        </a:rPr>
                        <a:t> y monitorear objetivamente </a:t>
                      </a:r>
                      <a:pPr indent="0" marL="0">
                        <a:buNone/>
                      </a:pPr>
                      <a:r>
                        <a:rPr lang="en-US" sz="1400" b="1" u="sng" dirty="0">
                          <a:solidFill>
                            <a:srgbClr val="003082"/>
                          </a:solidFill>
                          <a:latin typeface="Calibri" pitchFamily="34" charset="0"/>
                          <a:ea typeface="Calibri" pitchFamily="34" charset="-122"/>
                          <a:cs typeface="Calibri" pitchFamily="34" charset="-120"/>
                        </a:rPr>
                        <a:t>los riesgos asociados a la tercerización de servicios críticos, asegurando que dichos servicios sean</a:t>
                      </a:r>
                      <a:pPr indent="0" marL="0">
                        <a:buNone/>
                      </a:pPr>
                      <a:r>
                        <a:rPr lang="en-US" sz="1400" dirty="0">
                          <a:solidFill>
                            <a:srgbClr val="1B2333"/>
                          </a:solidFill>
                          <a:latin typeface="Calibri" pitchFamily="34" charset="0"/>
                          <a:ea typeface="Calibri" pitchFamily="34" charset="-122"/>
                          <a:cs typeface="Calibri" pitchFamily="34" charset="-120"/>
                        </a:rPr>
                        <a:t> prestados de manera eficiente, </a:t>
                      </a:r>
                      <a:pPr indent="0" marL="0">
                        <a:buNone/>
                      </a:pPr>
                      <a:r>
                        <a:rPr lang="en-US" sz="1400" b="1" u="sng" dirty="0">
                          <a:solidFill>
                            <a:srgbClr val="003082"/>
                          </a:solidFill>
                          <a:latin typeface="Calibri" pitchFamily="34" charset="0"/>
                          <a:ea typeface="Calibri" pitchFamily="34" charset="-122"/>
                          <a:cs typeface="Calibri" pitchFamily="34" charset="-120"/>
                        </a:rPr>
                        <a:t>segura y continua, y que</a:t>
                      </a:r>
                      <a:pPr indent="0" marL="0">
                        <a:buNone/>
                      </a:pPr>
                      <a:r>
                        <a:rPr lang="en-US" sz="1400" dirty="0">
                          <a:solidFill>
                            <a:srgbClr val="1B2333"/>
                          </a:solidFill>
                          <a:latin typeface="Calibri" pitchFamily="34" charset="0"/>
                          <a:ea typeface="Calibri" pitchFamily="34" charset="-122"/>
                          <a:cs typeface="Calibri" pitchFamily="34" charset="-120"/>
                        </a:rPr>
                        <a:t> no interfieran en el correcto funcionamiento de la Cooperativa</a:t>
                      </a:r>
                      <a:pPr indent="0" marL="0">
                        <a:buNone/>
                      </a:pPr>
                      <a:r>
                        <a:rPr lang="en-US" sz="1400" b="1" u="sng" dirty="0">
                          <a:solidFill>
                            <a:srgbClr val="003082"/>
                          </a:solidFill>
                          <a:latin typeface="Calibri" pitchFamily="34" charset="0"/>
                          <a:ea typeface="Calibri" pitchFamily="34" charset="-122"/>
                          <a:cs typeface="Calibri" pitchFamily="34" charset="-120"/>
                        </a:rPr>
                        <a:t>, en su perfil de riesgo, en su posición de liquidez ni en el cumplimiento del marco regulatorio</a:t>
                      </a:r>
                      <a:pPr indent="0" marL="0">
                        <a:buNone/>
                      </a:pPr>
                      <a:r>
                        <a:rPr lang="en-US" sz="1400" dirty="0">
                          <a:solidFill>
                            <a:srgbClr val="1B2333"/>
                          </a:solidFill>
                          <a:latin typeface="Calibri" pitchFamily="34" charset="0"/>
                          <a:ea typeface="Calibri" pitchFamily="34" charset="-122"/>
                          <a:cs typeface="Calibri" pitchFamily="34" charset="-120"/>
                        </a:rPr>
                        <a:t>, cuidando los intereses de COMEDICA </a:t>
                      </a:r>
                      <a:pPr indent="0" marL="0">
                        <a:buNone/>
                      </a:pPr>
                      <a:r>
                        <a:rPr lang="en-US" sz="1400" b="1" u="sng" dirty="0">
                          <a:solidFill>
                            <a:srgbClr val="003082"/>
                          </a:solidFill>
                          <a:latin typeface="Calibri" pitchFamily="34" charset="0"/>
                          <a:ea typeface="Calibri" pitchFamily="34" charset="-122"/>
                          <a:cs typeface="Calibri" pitchFamily="34" charset="-120"/>
                        </a:rPr>
                        <a:t>de R.L. y de sus asociados</a:t>
                      </a:r>
                      <a:pPr indent="0" marL="0">
                        <a:buNone/>
                      </a:pPr>
                      <a:r>
                        <a:rPr lang="en-US" sz="1400" dirty="0">
                          <a:solidFill>
                            <a:srgbClr val="1B2333"/>
                          </a:solidFill>
                          <a:latin typeface="Calibri" pitchFamily="34" charset="0"/>
                          <a:ea typeface="Calibri" pitchFamily="34" charset="-122"/>
                          <a:cs typeface="Calibri" pitchFamily="34" charset="-120"/>
                        </a:rPr>
                        <a:t> en los procesos de </a:t>
                      </a:r>
                      <a:pPr indent="0" marL="0">
                        <a:buNone/>
                      </a:pPr>
                      <a:r>
                        <a:rPr lang="en-US" sz="1400" b="1" u="sng" dirty="0">
                          <a:solidFill>
                            <a:srgbClr val="003082"/>
                          </a:solidFill>
                          <a:latin typeface="Calibri" pitchFamily="34" charset="0"/>
                          <a:ea typeface="Calibri" pitchFamily="34" charset="-122"/>
                          <a:cs typeface="Calibri" pitchFamily="34" charset="-120"/>
                        </a:rPr>
                        <a:t>selección,</a:t>
                      </a:r>
                      <a:pPr indent="0" marL="0">
                        <a:buNone/>
                      </a:pPr>
                      <a:r>
                        <a:rPr lang="en-US" sz="1400" dirty="0">
                          <a:solidFill>
                            <a:srgbClr val="1B2333"/>
                          </a:solidFill>
                          <a:latin typeface="Calibri" pitchFamily="34" charset="0"/>
                          <a:ea typeface="Calibri" pitchFamily="34" charset="-122"/>
                          <a:cs typeface="Calibri" pitchFamily="34" charset="-120"/>
                        </a:rPr>
                        <a:t> contratación</a:t>
                      </a:r>
                      <a:pPr indent="0" marL="0">
                        <a:buNone/>
                      </a:pPr>
                      <a:r>
                        <a:rPr lang="en-US" sz="1400" b="1" u="sng" dirty="0">
                          <a:solidFill>
                            <a:srgbClr val="003082"/>
                          </a:solidFill>
                          <a:latin typeface="Calibri" pitchFamily="34" charset="0"/>
                          <a:ea typeface="Calibri" pitchFamily="34" charset="-122"/>
                          <a:cs typeface="Calibri" pitchFamily="34" charset="-120"/>
                        </a:rPr>
                        <a:t>, monitoreo, renovación y terminación</a:t>
                      </a:r>
                      <a:pPr indent="0" marL="0">
                        <a:buNone/>
                      </a:pPr>
                      <a:r>
                        <a:rPr lang="en-US" sz="1400" dirty="0">
                          <a:solidFill>
                            <a:srgbClr val="1B2333"/>
                          </a:solidFill>
                          <a:latin typeface="Calibri" pitchFamily="34" charset="0"/>
                          <a:ea typeface="Calibri" pitchFamily="34" charset="-122"/>
                          <a:cs typeface="Calibri" pitchFamily="34" charset="-120"/>
                        </a:rPr>
                        <a:t> de Servicios Críticos Tercerizados.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Incorpora las etapas de gestión de riesgos y el ciclo de vida completo del servicio.</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5 · NRP-42, art. 4</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La presente política se alinea con lo dispuesto en las NRP-20, NRP-42, NRP-24, NRP-23, NRP-17 y NRP-05. La tercerización de un servicio no exime a la Cooperativa de su responsabilidad sobre las actividades delegadas; COMEDICA de R.L. conserva en todo momento la capacidad de supervisar, controlar y, cuando sea necesario, reasumir o transferir el servicio tercerizado.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Deja explícito que la responsabilidad no se traslada al proveedor.</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 4 · NRP-23, art. 26</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Ámbito de aplicación y normativa</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II. Alcance</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3</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 presente política aplica para la Contratación de Servicios Críticos Tercerizados, en cumplimiento a lo establecido en las Normas para la Gestión del Riesgo Operacional de las Entidades Financieras (NPB4-50), Normas Técnicas para la Gestión de la Seguridad de la Información (NRP-23) y Normas Técnicas para el Sistema de Gestión de la Continuidad del Negocio (NRP-24).</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 presente política aplica para la contratación de Servicios Críticos Tercerizados </a:t>
                      </a:r>
                      <a:pPr indent="0" marL="0">
                        <a:buNone/>
                      </a:pPr>
                      <a:r>
                        <a:rPr lang="en-US" sz="1400" b="1" u="sng" dirty="0">
                          <a:solidFill>
                            <a:srgbClr val="003082"/>
                          </a:solidFill>
                          <a:latin typeface="Calibri" pitchFamily="34" charset="0"/>
                          <a:ea typeface="Calibri" pitchFamily="34" charset="-122"/>
                          <a:cs typeface="Calibri" pitchFamily="34" charset="-120"/>
                        </a:rPr>
                        <a:t>y su gestión durante todo el ciclo de vida (evaluación, selección, contratación, monitoreo, renovación y terminación), sean éstos de Tecnología de la Información o de otra naturaleza. Es de cumplimiento obligatorio para el Consejo de Administración, Comité de Riesgos, Gerencia General y todas las Gerencias, Jefaturas y Administradores de Contrato</a:t>
                      </a:r>
                      <a:pPr indent="0" marL="0">
                        <a:buNone/>
                      </a:pPr>
                      <a:r>
                        <a:rPr lang="en-US" sz="1400" dirty="0">
                          <a:solidFill>
                            <a:srgbClr val="1B2333"/>
                          </a:solidFill>
                          <a:latin typeface="Calibri" pitchFamily="34" charset="0"/>
                          <a:ea typeface="Calibri" pitchFamily="34" charset="-122"/>
                          <a:cs typeface="Calibri" pitchFamily="34" charset="-120"/>
                        </a:rPr>
                        <a:t>, en cumplimiento a lo establecido en: </a:t>
                      </a:r>
                      <a:pPr indent="0" marL="0">
                        <a:buNone/>
                      </a:pPr>
                      <a:r>
                        <a:rPr lang="en-US" sz="1400" b="1" u="sng" dirty="0">
                          <a:solidFill>
                            <a:srgbClr val="003082"/>
                          </a:solidFill>
                          <a:latin typeface="Calibri" pitchFamily="34" charset="0"/>
                          <a:ea typeface="Calibri" pitchFamily="34" charset="-122"/>
                          <a:cs typeface="Calibri" pitchFamily="34" charset="-120"/>
                        </a:rPr>
                        <a:t>NRP-20; NRP-42</a:t>
                      </a:r>
                      <a:pPr indent="0" marL="0">
                        <a:buNone/>
                      </a:pPr>
                      <a:r>
                        <a:rPr lang="en-US" sz="1400" dirty="0">
                          <a:solidFill>
                            <a:srgbClr val="1B2333"/>
                          </a:solidFill>
                          <a:latin typeface="Calibri" pitchFamily="34" charset="0"/>
                          <a:ea typeface="Calibri" pitchFamily="34" charset="-122"/>
                          <a:cs typeface="Calibri" pitchFamily="34" charset="-120"/>
                        </a:rPr>
                        <a:t>; NRP-24; </a:t>
                      </a:r>
                      <a:pPr indent="0" marL="0">
                        <a:buNone/>
                      </a:pPr>
                      <a:r>
                        <a:rPr lang="en-US" sz="1400" b="1" u="sng" dirty="0">
                          <a:solidFill>
                            <a:srgbClr val="003082"/>
                          </a:solidFill>
                          <a:latin typeface="Calibri" pitchFamily="34" charset="0"/>
                          <a:ea typeface="Calibri" pitchFamily="34" charset="-122"/>
                          <a:cs typeface="Calibri" pitchFamily="34" charset="-120"/>
                        </a:rPr>
                        <a:t>NRP-17; NRP-05</a:t>
                      </a:r>
                      <a:pPr indent="0" marL="0">
                        <a:buNone/>
                      </a:pPr>
                      <a:r>
                        <a:rPr lang="en-US" sz="1400" dirty="0">
                          <a:solidFill>
                            <a:srgbClr val="1B2333"/>
                          </a:solidFill>
                          <a:latin typeface="Calibri" pitchFamily="34" charset="0"/>
                          <a:ea typeface="Calibri" pitchFamily="34" charset="-122"/>
                          <a:cs typeface="Calibri" pitchFamily="34" charset="-120"/>
                        </a:rPr>
                        <a:t>; NRP-23; </a:t>
                      </a:r>
                      <a:pPr indent="0" marL="0">
                        <a:buNone/>
                      </a:pPr>
                      <a:r>
                        <a:rPr lang="en-US" sz="1400" b="1" u="sng" dirty="0">
                          <a:solidFill>
                            <a:srgbClr val="003082"/>
                          </a:solidFill>
                          <a:latin typeface="Calibri" pitchFamily="34" charset="0"/>
                          <a:ea typeface="Calibri" pitchFamily="34" charset="-122"/>
                          <a:cs typeface="Calibri" pitchFamily="34" charset="-120"/>
                        </a:rPr>
                        <a:t>Manual de Compras de Bienes y Servicios (RP-GA-M-001), Código de Gobierno Corporativo, Código de Conducta y demás normativa aplicable.</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 sustituye la NPB4-50, derogada por la NRP-42. Se amplía a servicios no tecnológicos y se definen los obligados.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 25 (derogatoria)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Términos que se modifican</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III. Definiciones (1 de 4)</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4</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Tercerización de actividades: Es cuando la realización de una o más partes de la actividad principal del negocio, se delega a un tercero, quien asume las actividades por su cuenta y riesgo, y que además cuenta con sus propios recursos financieros, técnicos y materiales. En consecuencia, es responsable de los resultados de sus actividades, y del personal a su cargo.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Tercerización de servicios: Se produce cuando la entidad encarga la realización de un proceso a un tercero, es decir, a una persona natural o jurídica distinta a la entidad.</a:t>
                      </a:r>
                      <a:pPr indent="0" marL="0">
                        <a:buNone/>
                      </a:pPr>
                      <a:endParaRPr lang="en-US" sz="1400" dirty="0">
                        <a:latin typeface="Calibri" charset="0"/>
                        <a:ea typeface="Calibri" charset="0"/>
                        <a:cs typeface="Calibri" charset="0"/>
                      </a:endParaRPr>
                    </a:p>
                    <a:p>
                      <a:pPr indent="0" marL="0">
                        <a:buNone/>
                      </a:pPr>
                      <a:r>
                        <a:rPr lang="en-US" sz="1400" b="1" u="sng" dirty="0">
                          <a:solidFill>
                            <a:srgbClr val="003082"/>
                          </a:solidFill>
                          <a:latin typeface="Calibri" pitchFamily="34" charset="0"/>
                          <a:ea typeface="Calibri" pitchFamily="34" charset="-122"/>
                          <a:cs typeface="Calibri" pitchFamily="34" charset="-120"/>
                        </a:rPr>
                        <a:t>Tercerización de actividades, operaciones o procesos de tecnologías de la información: Se produce cuando la entidad encarga la realización de actividades, operaciones o procesos de tecnologías de la información, relacionados a servicios o productos financieros de la entidad, a un tercero.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 adoptan las definiciones literales de la normativa.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NRP-24, art. 3, lit. y · NRP-23, art. 3</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Servicio Críticos: Son un conjunto de actividades o procedimientos definidos como prioritarios, cuya no disponibilidad compromete la existencia de la entidad.</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Servicios críticos</a:t>
                      </a:r>
                      <a:pPr indent="0" marL="0">
                        <a:buNone/>
                      </a:pPr>
                      <a:r>
                        <a:rPr lang="en-US" sz="1400" dirty="0">
                          <a:solidFill>
                            <a:srgbClr val="1B2333"/>
                          </a:solidFill>
                          <a:latin typeface="Calibri" pitchFamily="34" charset="0"/>
                          <a:ea typeface="Calibri" pitchFamily="34" charset="-122"/>
                          <a:cs typeface="Calibri" pitchFamily="34" charset="-120"/>
                        </a:rPr>
                        <a:t>: Son </a:t>
                      </a:r>
                      <a:pPr indent="0" marL="0">
                        <a:buNone/>
                      </a:pPr>
                      <a:r>
                        <a:rPr lang="en-US" sz="1400" b="1" u="sng" dirty="0">
                          <a:solidFill>
                            <a:srgbClr val="003082"/>
                          </a:solidFill>
                          <a:latin typeface="Calibri" pitchFamily="34" charset="0"/>
                          <a:ea typeface="Calibri" pitchFamily="34" charset="-122"/>
                          <a:cs typeface="Calibri" pitchFamily="34" charset="-120"/>
                        </a:rPr>
                        <a:t>los servicios y actividades prioritarios</a:t>
                      </a:r>
                      <a:pPr indent="0" marL="0">
                        <a:buNone/>
                      </a:pPr>
                      <a:r>
                        <a:rPr lang="en-US" sz="1400" dirty="0">
                          <a:solidFill>
                            <a:srgbClr val="1B2333"/>
                          </a:solidFill>
                          <a:latin typeface="Calibri" pitchFamily="34" charset="0"/>
                          <a:ea typeface="Calibri" pitchFamily="34" charset="-122"/>
                          <a:cs typeface="Calibri" pitchFamily="34" charset="-120"/>
                        </a:rPr>
                        <a:t> cuya no disponibilidad compromete la existencia de la entidad.</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Definición literal de la normativa.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art. 3 · NRP-24, art. 3, lit. v</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Procesos Críticos: Son los procesos dentro de la Cooperativa que se han definidos como prioritarios para la entrega de productos y servicios y la interrupción de los mismos detiene la continuidad del negocio.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Procesos críticos: Son los procesos </a:t>
                      </a:r>
                      <a:pPr indent="0" marL="0">
                        <a:buNone/>
                      </a:pPr>
                      <a:r>
                        <a:rPr lang="en-US" sz="1400" b="1" u="sng" dirty="0">
                          <a:solidFill>
                            <a:srgbClr val="003082"/>
                          </a:solidFill>
                          <a:latin typeface="Calibri" pitchFamily="34" charset="0"/>
                          <a:ea typeface="Calibri" pitchFamily="34" charset="-122"/>
                          <a:cs typeface="Calibri" pitchFamily="34" charset="-120"/>
                        </a:rPr>
                        <a:t>de la Cooperativa identificados y priorizados como críticos en el Análisis de Impacto del Negocio (BIA)</a:t>
                      </a:r>
                      <a:pPr indent="0" marL="0">
                        <a:buNone/>
                      </a:pPr>
                      <a:r>
                        <a:rPr lang="en-US" sz="1400" dirty="0">
                          <a:solidFill>
                            <a:srgbClr val="1B2333"/>
                          </a:solidFill>
                          <a:latin typeface="Calibri" pitchFamily="34" charset="0"/>
                          <a:ea typeface="Calibri" pitchFamily="34" charset="-122"/>
                          <a:cs typeface="Calibri" pitchFamily="34" charset="-120"/>
                        </a:rPr>
                        <a:t>, relacionados con la entrega de productos o servicios críticos.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 vincula al BIA del Sistema de Gestión de la Continuidad del Negocio.</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NRP-24, arts. 6, lit. c y 13</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Términos que se modifican</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III. Definiciones (2 de 4)</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Servicios Críticos Tercerizados: Es una persona natural o jurídica, a quien se delega operaciones de la actividad o giro principal de la Cooperativa, y la no disponibilidad interrumpe la prestación de productos y servicios.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Servicios Críticos Tercerizados: </a:t>
                      </a:r>
                      <a:pPr indent="0" marL="0">
                        <a:buNone/>
                      </a:pPr>
                      <a:r>
                        <a:rPr lang="en-US" sz="1400" b="1" u="sng" dirty="0">
                          <a:solidFill>
                            <a:srgbClr val="003082"/>
                          </a:solidFill>
                          <a:latin typeface="Calibri" pitchFamily="34" charset="0"/>
                          <a:ea typeface="Calibri" pitchFamily="34" charset="-122"/>
                          <a:cs typeface="Calibri" pitchFamily="34" charset="-120"/>
                        </a:rPr>
                        <a:t>Son los servicios críticos brindados por terceros, es decir aquellos que puedan interrumpir el normal desarrollo de las operaciones de la Cooperativa, identificados conforme a los criterios del apartado V.</a:t>
                      </a:r>
                      <a:pPr indent="0" marL="0">
                        <a:buNone/>
                      </a:pPr>
                      <a:endParaRPr lang="en-US" sz="1400" dirty="0">
                        <a:latin typeface="Calibri" charset="0"/>
                        <a:ea typeface="Calibri" charset="0"/>
                        <a:cs typeface="Calibri" charset="0"/>
                      </a:endParaRPr>
                    </a:p>
                    <a:p>
                      <a:pPr indent="0" marL="0">
                        <a:buNone/>
                      </a:pPr>
                      <a:r>
                        <a:rPr lang="en-US" sz="1400" b="1" u="sng" dirty="0">
                          <a:solidFill>
                            <a:srgbClr val="003082"/>
                          </a:solidFill>
                          <a:latin typeface="Calibri" pitchFamily="34" charset="0"/>
                          <a:ea typeface="Calibri" pitchFamily="34" charset="-122"/>
                          <a:cs typeface="Calibri" pitchFamily="34" charset="-120"/>
                        </a:rPr>
                        <a:t>Proveedor de Servicios Críticos Tercerizados: Persona natural o jurídica distinta a la Cooperativa a quien se encarga la prestación de un Servicio Crítico Tercerizado.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Corrige la V03, que definía el servicio como una persona. Se separa el servicio del proveedor.</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 4 · NRP-24, art. 3, lit. y</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Servicio No Crítico Tercerizado: Es una persona natural o jurídica que brinda productos o servicios, pero que la no disponibilidad de los mismos, no detiene la continuidad del negocio de la Cooperativa.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Servicio No Crítico Tercerizado: Es </a:t>
                      </a:r>
                      <a:pPr indent="0" marL="0">
                        <a:buNone/>
                      </a:pPr>
                      <a:r>
                        <a:rPr lang="en-US" sz="1400" b="1" u="sng" dirty="0">
                          <a:solidFill>
                            <a:srgbClr val="003082"/>
                          </a:solidFill>
                          <a:latin typeface="Calibri" pitchFamily="34" charset="0"/>
                          <a:ea typeface="Calibri" pitchFamily="34" charset="-122"/>
                          <a:cs typeface="Calibri" pitchFamily="34" charset="-120"/>
                        </a:rPr>
                        <a:t>el servicio prestado por un tercero</a:t>
                      </a:r>
                      <a:pPr indent="0" marL="0">
                        <a:buNone/>
                      </a:pPr>
                      <a:r>
                        <a:rPr lang="en-US" sz="1400" dirty="0">
                          <a:solidFill>
                            <a:srgbClr val="1B2333"/>
                          </a:solidFill>
                          <a:latin typeface="Calibri" pitchFamily="34" charset="0"/>
                          <a:ea typeface="Calibri" pitchFamily="34" charset="-122"/>
                          <a:cs typeface="Calibri" pitchFamily="34" charset="-120"/>
                        </a:rPr>
                        <a:t> cuya no disponibilidad no detiene la continuidad del negocio de la Cooperativa.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Misma corrección: se define el servicio, no la persona.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Coherencia con NRP-42, art. 4</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Riesgo operacional: Posibilidad de incurrir en pérdidas debido a fallas en los procesos, en las personas, en los sistemas de información y a causa de acontecimientos externos; incluye el riesgo legal.</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Definición literal de la normativa.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6, lit. d · NRP-42, art. 3, lit. p</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Factor de riesgo operacional: Es la causa primaria o el origen de un evento operacional: procesos, personas, tecnología de información y acontecimientos externos.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Definición literal de la normativa.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 3, lit. h</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Términos nuevos</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III. Definiciones (3 de 4)</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Tecnología de información (factor de riesgo operacional): Comprende los riesgos asociados a la tecnología de información, entre otros, los relacionados a fallas en la seguridad y continuidad operativa de los sistemas informáticos, los errores en su desarrollo e implementación, su compatibilidad e integración, la calidad de la información y una adecuada inversión en tecnología.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Nombre y definición de la normativa.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 8, lit. c</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Evento de riesgo operacional: Es un suceso o serie de sucesos, de origen interno o externo, que incluyen los incidentes ocurridos y eventos potenciales que pudieren generar pérdidas económicas.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Definición literal de la normativa.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 3, lit. g</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Riesgo de liquidez: Es la posibilidad de incurrir en pérdidas por no disponer de los recursos suficientes para cumplir con las obligaciones asumidas, incurrir en costos excesivos y no poder desarrollar el negocio en las condiciones previstas.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Definición literal de la normativa.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6, lit. c</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Riesgo reputacional: Es la posibilidad de incurrir en pérdidas, producto del deterioro de imagen de la entidad, debido al incumplimiento de leyes, normas internas, códigos de gobierno corporativo, códigos de conducta, entre otros.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Definición literal de la normativa.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6, lit. e</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Términos nuevos</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III. Definiciones (4 de 4)</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Acuerdo de Niveles de Servicio (SLA): Compromisos medibles de calidad, disponibilidad, capacidad, tiempos de respuesta y de recuperación pactados con el proveedor, en condiciones normales y de contingencia tras una interrupción.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Permite medir el cumplimiento del proveedor.</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Secc. B, num. 5</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BIA, RTO, RPO y MTPD: Análisis de Impacto del Negocio; Tiempo Objetivo de Recuperación; Punto Objetivo de Recuperación; y Máximo Período Tolerable de Disrupción.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Parámetros de continuidad con su definición literal.</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NRP-24, art. 3, lits. c, z, u y 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Apetito de riesgo y tolerancia al riesgo: nivel y tipos de riesgos que la entidad está dispuesta a asumir; y niveles de toma de riesgos aceptables para un objetivo específico o categoría de riesgo.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Definiciones literales de la normativa.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3, lits. b y m</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19</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Matriz Centralizada de Servicios Críticos Tercerizados: control centralizado con nombre del proveedor, tipo de servicio, monto del contrato, contraparte dentro de la Cooperativa y vigencia, a disposición de la Superintendencia.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Campos mínimos vigentes.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 4</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Órganos de gobierno</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IV. Responsabilidades — Consejo de Administración y Comité de Riesgos</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Consejo b) Aprobar el apetito y la tolerancia al riesgo aplicables a la tercerización de servicios críticos, así como los límites de exposición, incluyendo la exposición por proveedor o grupo económico.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El Consejo fija los límites de exposición.</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8, lit. 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Consejo c) Conocer, al menos anualmente, el informe consolidado sobre los proveedores de servicios críticos tercerizados, su nivel de riesgo, concentración, cumplimiento de niveles de servicio y resultados de pruebas de continuidad.</a:t>
                      </a:r>
                      <a:pPr indent="0" marL="0">
                        <a:buNone/>
                      </a:pPr>
                      <a:endParaRPr lang="en-US" sz="1400" dirty="0">
                        <a:latin typeface="Calibri" charset="0"/>
                        <a:ea typeface="Calibri" charset="0"/>
                        <a:cs typeface="Calibri" charset="0"/>
                      </a:endParaRPr>
                    </a:p>
                    <a:p>
                      <a:pPr indent="0" marL="0">
                        <a:buNone/>
                      </a:pPr>
                      <a:r>
                        <a:rPr lang="en-US" sz="1400" b="1" u="sng" dirty="0">
                          <a:solidFill>
                            <a:srgbClr val="003082"/>
                          </a:solidFill>
                          <a:latin typeface="Calibri" pitchFamily="34" charset="0"/>
                          <a:ea typeface="Calibri" pitchFamily="34" charset="-122"/>
                          <a:cs typeface="Calibri" pitchFamily="34" charset="-120"/>
                        </a:rPr>
                        <a:t>Consejo d) Aprobar las excepciones a la presente política, previa opinión del Comité de Riesgos.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Supervisión anual y control de excepciones.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8, lits. a y f</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Comité de Administración de Riesgos: Evaluar, revisar y proponer al Consejo de Administración, la presente política y su actualización.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Comité de Riesgos</a:t>
                      </a:r>
                      <a:pPr indent="0" marL="0">
                        <a:buNone/>
                      </a:pPr>
                      <a:r>
                        <a:rPr lang="en-US" sz="1400" dirty="0">
                          <a:solidFill>
                            <a:srgbClr val="1B2333"/>
                          </a:solidFill>
                          <a:latin typeface="Calibri" pitchFamily="34" charset="0"/>
                          <a:ea typeface="Calibri" pitchFamily="34" charset="-122"/>
                          <a:cs typeface="Calibri" pitchFamily="34" charset="-120"/>
                        </a:rPr>
                        <a:t>: a) Evaluar, revisar y proponer al Consejo de Administración la presente política y su actualización.</a:t>
                      </a:r>
                      <a:pPr indent="0" marL="0">
                        <a:buNone/>
                      </a:pPr>
                      <a:endParaRPr lang="en-US" sz="1400" dirty="0">
                        <a:latin typeface="Calibri" charset="0"/>
                        <a:ea typeface="Calibri" charset="0"/>
                        <a:cs typeface="Calibri" charset="0"/>
                      </a:endParaRPr>
                    </a:p>
                    <a:p>
                      <a:pPr indent="0" marL="0">
                        <a:buNone/>
                      </a:pPr>
                      <a:r>
                        <a:rPr lang="en-US" sz="1400" b="1" u="sng" dirty="0">
                          <a:solidFill>
                            <a:srgbClr val="003082"/>
                          </a:solidFill>
                          <a:latin typeface="Calibri" pitchFamily="34" charset="0"/>
                          <a:ea typeface="Calibri" pitchFamily="34" charset="-122"/>
                          <a:cs typeface="Calibri" pitchFamily="34" charset="-120"/>
                        </a:rPr>
                        <a:t>b) Evaluar, avalar y proponer los límites de tolerancia a la exposición, incluyendo la exposición por proveedor o grupo económico.</a:t>
                      </a:r>
                      <a:pPr indent="0" marL="0">
                        <a:buNone/>
                      </a:pPr>
                      <a:endParaRPr lang="en-US" sz="1400" dirty="0">
                        <a:latin typeface="Calibri" charset="0"/>
                        <a:ea typeface="Calibri" charset="0"/>
                        <a:cs typeface="Calibri" charset="0"/>
                      </a:endParaRPr>
                    </a:p>
                    <a:p>
                      <a:pPr indent="0" marL="0">
                        <a:buNone/>
                      </a:pPr>
                      <a:r>
                        <a:rPr lang="en-US" sz="1400" b="1" u="sng" dirty="0">
                          <a:solidFill>
                            <a:srgbClr val="003082"/>
                          </a:solidFill>
                          <a:latin typeface="Calibri" pitchFamily="34" charset="0"/>
                          <a:ea typeface="Calibri" pitchFamily="34" charset="-122"/>
                          <a:cs typeface="Calibri" pitchFamily="34" charset="-120"/>
                        </a:rPr>
                        <a:t>c) Informar al Consejo sobre las exposiciones relevantes y desviaciones a los límites aprobados.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Nombre vigente del comité y funciones sobre límites.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10, lits. c y e</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Departamento de Administración de Riesgos</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IV. Responsabilidades — Jefe de Administración de Riesgos</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 Diseñar y someter a la aprobación del Consejo de Administración a través del Comité de Administración de Riesgos, la presente Política y sus futuras actualizaciones.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 Diseñar y someter a la aprobación del Consejo de Administración, a través del </a:t>
                      </a:r>
                      <a:pPr indent="0" marL="0">
                        <a:buNone/>
                      </a:pPr>
                      <a:r>
                        <a:rPr lang="en-US" sz="1400" b="1" u="sng" dirty="0">
                          <a:solidFill>
                            <a:srgbClr val="003082"/>
                          </a:solidFill>
                          <a:latin typeface="Calibri" pitchFamily="34" charset="0"/>
                          <a:ea typeface="Calibri" pitchFamily="34" charset="-122"/>
                          <a:cs typeface="Calibri" pitchFamily="34" charset="-120"/>
                        </a:rPr>
                        <a:t>Comité de Riesgos</a:t>
                      </a:r>
                      <a:pPr indent="0" marL="0">
                        <a:buNone/>
                      </a:pPr>
                      <a:r>
                        <a:rPr lang="en-US" sz="1400" dirty="0">
                          <a:solidFill>
                            <a:srgbClr val="1B2333"/>
                          </a:solidFill>
                          <a:latin typeface="Calibri" pitchFamily="34" charset="0"/>
                          <a:ea typeface="Calibri" pitchFamily="34" charset="-122"/>
                          <a:cs typeface="Calibri" pitchFamily="34" charset="-120"/>
                        </a:rPr>
                        <a:t>, la presente Política y sus futuras actualizaciones.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Nombre vigente del comité.</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13, lit. c</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 Coordinar con las áreas involucradas, la evaluación de criticidad de los nuevos proveedores de servicios críticos a contratar.</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 Coordinar con las áreas involucradas la evaluación de criticidad de los nuevos proveedores de servicios críticos a contratar</a:t>
                      </a:r>
                      <a:pPr indent="0" marL="0">
                        <a:buNone/>
                      </a:pPr>
                      <a:r>
                        <a:rPr lang="en-US" sz="1400" b="1" u="sng" dirty="0">
                          <a:solidFill>
                            <a:srgbClr val="003082"/>
                          </a:solidFill>
                          <a:latin typeface="Calibri" pitchFamily="34" charset="0"/>
                          <a:ea typeface="Calibri" pitchFamily="34" charset="-122"/>
                          <a:cs typeface="Calibri" pitchFamily="34" charset="-120"/>
                        </a:rPr>
                        <a:t>, así como su reevaluación anual o ante cambios significativos en el servicio o en el proveedor.</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 evaluación no termina con la contratación.</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Secc. A, num. 3, lit. c</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d) Elaborar la evaluación de riesgos previa a la contratación: riesgos operacionales (incluyendo tecnológicos y legales), reputacionales y financieros; concentración de entidades financieras en el proveedor; riesgo de liquidez y continuidad del negocio, proponiendo los mecanismos de mitigación.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Contenido mínimo de la evaluación.</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Secc. A, num. 1 y 2</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e) Mantener actualizado el análisis de concentración de proveedores y reportar al Comité de Riesgos las exposiciones que superen los límites aprobados.</a:t>
                      </a:r>
                      <a:pPr indent="0" marL="0">
                        <a:buNone/>
                      </a:pPr>
                      <a:endParaRPr lang="en-US" sz="1400" dirty="0">
                        <a:latin typeface="Calibri" charset="0"/>
                        <a:ea typeface="Calibri" charset="0"/>
                        <a:cs typeface="Calibri" charset="0"/>
                      </a:endParaRPr>
                    </a:p>
                    <a:p>
                      <a:pPr indent="0" marL="0">
                        <a:buNone/>
                      </a:pPr>
                      <a:r>
                        <a:rPr lang="en-US" sz="1400" b="1" u="sng" dirty="0">
                          <a:solidFill>
                            <a:srgbClr val="003082"/>
                          </a:solidFill>
                          <a:latin typeface="Calibri" pitchFamily="34" charset="0"/>
                          <a:ea typeface="Calibri" pitchFamily="34" charset="-122"/>
                          <a:cs typeface="Calibri" pitchFamily="34" charset="-120"/>
                        </a:rPr>
                        <a:t>f) Registrar en la base de datos de eventos de riesgo operacional las pérdidas e incidentes originados en proveedores.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Seguimiento de límites y registro de eventos.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13, lit. h · NRP-42, art. 19</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Áreas que intervienen en la contratación</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IV. Responsabilidades — Administrador de Contrato, Legal y OSI</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 Solicitar al Departamento de Administración de Riesgos y a la Oficialía de Seguridad de la Información, previo a la contratación…, una evaluación de los potenciales riesgos…, de acuerdo a lo establecido en las Normas Técnicas correspondientes.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 Solicitar al Departamento de Administración de Riesgos y a la Oficialía de Seguridad de la Información… una evaluación de los potenciales riesgos…, de acuerdo a lo establecido en las Normas Técnicas correspondientes </a:t>
                      </a:r>
                      <a:pPr indent="0" marL="0">
                        <a:buNone/>
                      </a:pPr>
                      <a:r>
                        <a:rPr lang="en-US" sz="1400" b="1" u="sng" dirty="0">
                          <a:solidFill>
                            <a:srgbClr val="003082"/>
                          </a:solidFill>
                          <a:latin typeface="Calibri" pitchFamily="34" charset="0"/>
                          <a:ea typeface="Calibri" pitchFamily="34" charset="-122"/>
                          <a:cs typeface="Calibri" pitchFamily="34" charset="-120"/>
                        </a:rPr>
                        <a:t>(NRP-20, NRP-42, NRP-24, NRP-23 y NRP-05).</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 identifican las normas aplicables.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 42 · 24 · 23 · 05</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28</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Administrador de Contrato f) Reportar al Departamento de Administración de Riesgos todo evento de riesgo operacional, incidente, interrupción, incumplimiento o pérdida originada en el proveedor, dentro de los plazos de la normativa interna.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Alimenta la base de datos de eventos.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arts. 8, lit. d y 19</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Jefe del Departamento Jurídico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Jefe del Departamento </a:t>
                      </a:r>
                      <a:pPr indent="0" marL="0">
                        <a:buNone/>
                      </a:pPr>
                      <a:r>
                        <a:rPr lang="en-US" sz="1400" b="1" u="sng" dirty="0">
                          <a:solidFill>
                            <a:srgbClr val="003082"/>
                          </a:solidFill>
                          <a:latin typeface="Calibri" pitchFamily="34" charset="0"/>
                          <a:ea typeface="Calibri" pitchFamily="34" charset="-122"/>
                          <a:cs typeface="Calibri" pitchFamily="34" charset="-120"/>
                        </a:rPr>
                        <a:t>Legal</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Nombre vigente del departamento.</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Estructura organizativa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 Solicitar al Oficial de Seguridad de la Información las cláusulas del contrato que debe cumplir el servicio de acuerdo al anexo No. 1 Condiciones para tercerizar Actividades u Operaciones de Tecnología de Servicios Críticos.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 Solicitar al Oficial de Seguridad de la Información las cláusulas del contrato que debe cumplir el servicio de acuerdo al Anexo No. 1, </a:t>
                      </a:r>
                      <a:pPr indent="0" marL="0">
                        <a:buNone/>
                      </a:pPr>
                      <a:r>
                        <a:rPr lang="en-US" sz="1400" b="1" u="sng" dirty="0">
                          <a:solidFill>
                            <a:srgbClr val="003082"/>
                          </a:solidFill>
                          <a:latin typeface="Calibri" pitchFamily="34" charset="0"/>
                          <a:ea typeface="Calibri" pitchFamily="34" charset="-122"/>
                          <a:cs typeface="Calibri" pitchFamily="34" charset="-120"/>
                        </a:rPr>
                        <a:t>Sección B.</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Precisa la sección de cláusulas contractuales.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art. 26</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Resguardo y control documental</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IV. Responsabilidades — Custodia de Valores y Servicios Generales</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11</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Custodia: Responsable de resguardar los contratos, garantías y adendas de Servicios Críticos Tercerizados, así como, llevar el control de los resguardos respectivos.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Responsable de resguardar los contratos </a:t>
                      </a:r>
                      <a:pPr indent="0" marL="0">
                        <a:buNone/>
                      </a:pPr>
                      <a:r>
                        <a:rPr lang="en-US" sz="1400" b="1" u="sng" dirty="0">
                          <a:solidFill>
                            <a:srgbClr val="003082"/>
                          </a:solidFill>
                          <a:latin typeface="Calibri" pitchFamily="34" charset="0"/>
                          <a:ea typeface="Calibri" pitchFamily="34" charset="-122"/>
                          <a:cs typeface="Calibri" pitchFamily="34" charset="-120"/>
                        </a:rPr>
                        <a:t>originales</a:t>
                      </a:r>
                      <a:pPr indent="0" marL="0">
                        <a:buNone/>
                      </a:pPr>
                      <a:r>
                        <a:rPr lang="en-US" sz="1400" dirty="0">
                          <a:solidFill>
                            <a:srgbClr val="1B2333"/>
                          </a:solidFill>
                          <a:latin typeface="Calibri" pitchFamily="34" charset="0"/>
                          <a:ea typeface="Calibri" pitchFamily="34" charset="-122"/>
                          <a:cs typeface="Calibri" pitchFamily="34" charset="-120"/>
                        </a:rPr>
                        <a:t>, garantías y adendas…, </a:t>
                      </a:r>
                      <a:pPr indent="0" marL="0">
                        <a:buNone/>
                      </a:pPr>
                      <a:r>
                        <a:rPr lang="en-US" sz="1400" b="1" u="sng" dirty="0">
                          <a:solidFill>
                            <a:srgbClr val="003082"/>
                          </a:solidFill>
                          <a:latin typeface="Calibri" pitchFamily="34" charset="0"/>
                          <a:ea typeface="Calibri" pitchFamily="34" charset="-122"/>
                          <a:cs typeface="Calibri" pitchFamily="34" charset="-120"/>
                        </a:rPr>
                        <a:t>asegurando su conservación ordenada, completa, íntegra y oportuna. Para ello deberá: a) registrar cada documento recibido (fecha, proveedor, número y vigencia del contrato y garantía); b) informar por escrito, con 30 días de anticipación, el vencimiento de contratos y garantías; c) mantener los documentos a disposición de la Superintendencia, Auditoría Interna y auditores externos; d) entregar originales solo con autorización escrita y registro de salida y devolución.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Obligaciones concretas y verificables.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arts. 4 y 5 · NRP-23, Anexo 1, A-5</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Servicios Generales a) Responsable de completar y actualizar la “Matriz Centralizada de Servicios Críticos Tercerizados” con los campos definidos en las Normas para la Gestión del Riesgo Operacional (NPB4-50).</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 Responsable de completar y actualizar la “Matriz Centralizada de Servicios Críticos Tercerizados” con los campos definidos en las </a:t>
                      </a:r>
                      <a:pPr indent="0" marL="0">
                        <a:buNone/>
                      </a:pPr>
                      <a:r>
                        <a:rPr lang="en-US" sz="1400" b="1" u="sng" dirty="0">
                          <a:solidFill>
                            <a:srgbClr val="003082"/>
                          </a:solidFill>
                          <a:latin typeface="Calibri" pitchFamily="34" charset="0"/>
                          <a:ea typeface="Calibri" pitchFamily="34" charset="-122"/>
                          <a:cs typeface="Calibri" pitchFamily="34" charset="-120"/>
                        </a:rPr>
                        <a:t>Normas Técnicas para la Gestión del Riesgo Operacional de las Entidades Financieras (NRP-42): nombre del proveedor, tipo de servicio, monto del contrato, contraparte dentro de la Cooperativa y vigencia.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NPB4-50 derogada; se detallan los campos mínimos vigentes.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arts. 4 y 25</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Cuadro de clasificación</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V. Criterios para identificar Servicios Críticos Tercerizados (1 de 2)</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12</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Un Servicio Tercerizado… puede identificarse… como los servicios que detengan la continuidad del negocio y cumplan alguno de los siguientes criterios: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Un Servicio </a:t>
                      </a:r>
                      <a:pPr indent="0" marL="0">
                        <a:buNone/>
                      </a:pPr>
                      <a:r>
                        <a:rPr lang="en-US" sz="1400" b="1" u="sng" dirty="0">
                          <a:solidFill>
                            <a:srgbClr val="003082"/>
                          </a:solidFill>
                          <a:latin typeface="Calibri" pitchFamily="34" charset="0"/>
                          <a:ea typeface="Calibri" pitchFamily="34" charset="-122"/>
                          <a:cs typeface="Calibri" pitchFamily="34" charset="-120"/>
                        </a:rPr>
                        <a:t>Crítico</a:t>
                      </a:r>
                      <a:pPr indent="0" marL="0">
                        <a:buNone/>
                      </a:pPr>
                      <a:r>
                        <a:rPr lang="en-US" sz="1400" dirty="0">
                          <a:solidFill>
                            <a:srgbClr val="1B2333"/>
                          </a:solidFill>
                          <a:latin typeface="Calibri" pitchFamily="34" charset="0"/>
                          <a:ea typeface="Calibri" pitchFamily="34" charset="-122"/>
                          <a:cs typeface="Calibri" pitchFamily="34" charset="-120"/>
                        </a:rPr>
                        <a:t> Tercerizado… puede identificarse… como los servicios que detengan la continuidad del negocio</a:t>
                      </a:r>
                      <a:pPr indent="0" marL="0">
                        <a:buNone/>
                      </a:pPr>
                      <a:r>
                        <a:rPr lang="en-US" sz="1400" b="1" u="sng" dirty="0">
                          <a:solidFill>
                            <a:srgbClr val="003082"/>
                          </a:solidFill>
                          <a:latin typeface="Calibri" pitchFamily="34" charset="0"/>
                          <a:ea typeface="Calibri" pitchFamily="34" charset="-122"/>
                          <a:cs typeface="Calibri" pitchFamily="34" charset="-120"/>
                        </a:rPr>
                        <a:t>, afecten la posición de liquidez o comprometan el cumplimiento regulatorio,</a:t>
                      </a:r>
                      <a:pPr indent="0" marL="0">
                        <a:buNone/>
                      </a:pPr>
                      <a:r>
                        <a:rPr lang="en-US" sz="1400" dirty="0">
                          <a:solidFill>
                            <a:srgbClr val="1B2333"/>
                          </a:solidFill>
                          <a:latin typeface="Calibri" pitchFamily="34" charset="0"/>
                          <a:ea typeface="Calibri" pitchFamily="34" charset="-122"/>
                          <a:cs typeface="Calibri" pitchFamily="34" charset="-120"/>
                        </a:rPr>
                        <a:t> y cumplan alguno de los siguientes criterios: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Amplía el concepto de criticidad.</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 4 · NRP-05</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Las demoras o incidentes del proveedor del servicio interrumpen totalmente la operatividad de los procesos críticos.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Las demoras o incidentes del proveedor interrumpen </a:t>
                      </a:r>
                      <a:pPr indent="0" marL="0">
                        <a:buNone/>
                      </a:pPr>
                      <a:r>
                        <a:rPr lang="en-US" sz="1400" b="1" u="sng" dirty="0">
                          <a:solidFill>
                            <a:srgbClr val="003082"/>
                          </a:solidFill>
                          <a:latin typeface="Calibri" pitchFamily="34" charset="0"/>
                          <a:ea typeface="Calibri" pitchFamily="34" charset="-122"/>
                          <a:cs typeface="Calibri" pitchFamily="34" charset="-120"/>
                        </a:rPr>
                        <a:t>total o parcialmente</a:t>
                      </a:r>
                      <a:pPr indent="0" marL="0">
                        <a:buNone/>
                      </a:pPr>
                      <a:r>
                        <a:rPr lang="en-US" sz="1400" dirty="0">
                          <a:solidFill>
                            <a:srgbClr val="1B2333"/>
                          </a:solidFill>
                          <a:latin typeface="Calibri" pitchFamily="34" charset="0"/>
                          <a:ea typeface="Calibri" pitchFamily="34" charset="-122"/>
                          <a:cs typeface="Calibri" pitchFamily="34" charset="-120"/>
                        </a:rPr>
                        <a:t> la operatividad de los procesos críticos</a:t>
                      </a:r>
                      <a:pPr indent="0" marL="0">
                        <a:buNone/>
                      </a:pPr>
                      <a:r>
                        <a:rPr lang="en-US" sz="1400" b="1" u="sng" dirty="0">
                          <a:solidFill>
                            <a:srgbClr val="003082"/>
                          </a:solidFill>
                          <a:latin typeface="Calibri" pitchFamily="34" charset="0"/>
                          <a:ea typeface="Calibri" pitchFamily="34" charset="-122"/>
                          <a:cs typeface="Calibri" pitchFamily="34" charset="-120"/>
                        </a:rPr>
                        <a:t>, por encima del Máximo Período Tolerable de Disrupción (MTPD) definido en el BIA.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Criterio medible con el BIA.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NRP-24, arts. 3, lit. n y 13</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Puede generar pérdidas significativas.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Puede generar pérdidas significativas</a:t>
                      </a:r>
                      <a:pPr indent="0" marL="0">
                        <a:buNone/>
                      </a:pPr>
                      <a:r>
                        <a:rPr lang="en-US" sz="1400" b="1" u="sng" dirty="0">
                          <a:solidFill>
                            <a:srgbClr val="003082"/>
                          </a:solidFill>
                          <a:latin typeface="Calibri" pitchFamily="34" charset="0"/>
                          <a:ea typeface="Calibri" pitchFamily="34" charset="-122"/>
                          <a:cs typeface="Calibri" pitchFamily="34" charset="-120"/>
                        </a:rPr>
                        <a:t>, conforme a los umbrales de severidad de la metodología de riesgo operacional.</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 vincula a la metodología.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 16, lit. b</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El cambio de proveedor del servicio implica grandes costos para la Cooperativa o no existe otro proveedor.</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El cambio de proveedor implica grandes costos para la Cooperativa o no existe otro proveedor</a:t>
                      </a:r>
                      <a:pPr indent="0" marL="0">
                        <a:buNone/>
                      </a:pPr>
                      <a:r>
                        <a:rPr lang="en-US" sz="1400" b="1" u="sng" dirty="0">
                          <a:solidFill>
                            <a:srgbClr val="003082"/>
                          </a:solidFill>
                          <a:latin typeface="Calibri" pitchFamily="34" charset="0"/>
                          <a:ea typeface="Calibri" pitchFamily="34" charset="-122"/>
                          <a:cs typeface="Calibri" pitchFamily="34" charset="-120"/>
                        </a:rPr>
                        <a:t>, o el tiempo de sustitución es superior al RTO del proceso.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Criterio medible con el RTO.</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NRP-24, art. 3, lit. z</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Criterios nuevos y clasificación</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V. Criterios para identificar Servicios Críticos Tercerizados (2 de 2)</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13</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Tecnología de información: el proveedor procesa, almacena o transmite información confidencial de asociados, o tiene acceso a los sistemas principales, bases de datos o infraestructura tecnológica.</a:t>
                      </a:r>
                      <a:pPr indent="0" marL="0">
                        <a:buNone/>
                      </a:pPr>
                      <a:endParaRPr lang="en-US" sz="1400" dirty="0">
                        <a:latin typeface="Calibri" charset="0"/>
                        <a:ea typeface="Calibri" charset="0"/>
                        <a:cs typeface="Calibri" charset="0"/>
                      </a:endParaRPr>
                    </a:p>
                    <a:p>
                      <a:pPr indent="0" marL="0">
                        <a:buNone/>
                      </a:pPr>
                      <a:r>
                        <a:rPr lang="en-US" sz="1400" b="1" u="sng" dirty="0">
                          <a:solidFill>
                            <a:srgbClr val="003082"/>
                          </a:solidFill>
                          <a:latin typeface="Calibri" pitchFamily="34" charset="0"/>
                          <a:ea typeface="Calibri" pitchFamily="34" charset="-122"/>
                          <a:cs typeface="Calibri" pitchFamily="34" charset="-120"/>
                        </a:rPr>
                        <a:t>Concentración en el proveedor: presta más de un servicio crítico o concentra servicios a varias entidades financieras, o recibe anticipos expuestos a su solidez financiera.</a:t>
                      </a:r>
                      <a:pPr indent="0" marL="0">
                        <a:buNone/>
                      </a:pPr>
                      <a:endParaRPr lang="en-US" sz="1400" dirty="0">
                        <a:latin typeface="Calibri" charset="0"/>
                        <a:ea typeface="Calibri" charset="0"/>
                        <a:cs typeface="Calibri" charset="0"/>
                      </a:endParaRPr>
                    </a:p>
                    <a:p>
                      <a:pPr indent="0" marL="0">
                        <a:buNone/>
                      </a:pPr>
                      <a:r>
                        <a:rPr lang="en-US" sz="1400" b="1" u="sng" dirty="0">
                          <a:solidFill>
                            <a:srgbClr val="003082"/>
                          </a:solidFill>
                          <a:latin typeface="Calibri" pitchFamily="34" charset="0"/>
                          <a:ea typeface="Calibri" pitchFamily="34" charset="-122"/>
                          <a:cs typeface="Calibri" pitchFamily="34" charset="-120"/>
                        </a:rPr>
                        <a:t>Riesgo de liquidez: el servicio soporta canales de pago, transferencias, compensación, tarjetas, tesorería o captación de fondos.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Tres criterios nuevos de criticidad.</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 8, lit. c · NRP-23, Anexo 1, A-1 · NRP-05</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38</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 través del formulario “Entrevista para elaborar el Análisis de Servicios Críticos Tercerizados” RP-GG-F-213.</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 través del formulario … RP-GG-F-213</a:t>
                      </a:r>
                      <a:pPr indent="0" marL="0">
                        <a:buNone/>
                      </a:pPr>
                      <a:r>
                        <a:rPr lang="en-US" sz="1400" b="1" u="sng" dirty="0">
                          <a:solidFill>
                            <a:srgbClr val="003082"/>
                          </a:solidFill>
                          <a:latin typeface="Calibri" pitchFamily="34" charset="0"/>
                          <a:ea typeface="Calibri" pitchFamily="34" charset="-122"/>
                          <a:cs typeface="Calibri" pitchFamily="34" charset="-120"/>
                        </a:rPr>
                        <a:t>, considerando los criterios establecidos en el cuadro anterior.</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El formulario aplica los criterios nuevos.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Formulario interno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39</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El resultado de la evaluación clasificará el servicio en nivel de criticidad Alto, Medio o Bajo, para determinar la profundidad de la debida diligencia y la frecuencia de monitoreo. La criticidad deberá reevaluarse anualmente y ante cambios significativos en el servicio, el proveedor o los procesos críticos.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Monitoreo proporcional al riesgo.</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A-3, lit. c · NRP-24, art. 21</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Sustitución o adquisición de sistemas informáticos</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VI. Requerimientos normativos para tecnología de la información</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14</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Cuando cada Gerente y/o Jefatura… determinen la necesidad de efectuar sustituciones o reemplazos de sistemas informáticos principales… o la adquisición de sistemas informáticos para nuevas operaciones… deberán presentar al Consejo de Administración, la siguiente información: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Cuando cada Gerente y/o Jefatura… determine la necesidad de efectuar sustituciones, reemplazos </a:t>
                      </a:r>
                      <a:pPr indent="0" marL="0">
                        <a:buNone/>
                      </a:pPr>
                      <a:r>
                        <a:rPr lang="en-US" sz="1400" b="1" u="sng" dirty="0">
                          <a:solidFill>
                            <a:srgbClr val="003082"/>
                          </a:solidFill>
                          <a:latin typeface="Calibri" pitchFamily="34" charset="0"/>
                          <a:ea typeface="Calibri" pitchFamily="34" charset="-122"/>
                          <a:cs typeface="Calibri" pitchFamily="34" charset="-120"/>
                        </a:rPr>
                        <a:t>o cambios importantes</a:t>
                      </a:r>
                      <a:pPr indent="0" marL="0">
                        <a:buNone/>
                      </a:pPr>
                      <a:r>
                        <a:rPr lang="en-US" sz="1400" dirty="0">
                          <a:solidFill>
                            <a:srgbClr val="1B2333"/>
                          </a:solidFill>
                          <a:latin typeface="Calibri" pitchFamily="34" charset="0"/>
                          <a:ea typeface="Calibri" pitchFamily="34" charset="-122"/>
                          <a:cs typeface="Calibri" pitchFamily="34" charset="-120"/>
                        </a:rPr>
                        <a:t> de sistemas informáticos principales… o la adquisición de </a:t>
                      </a:r>
                      <a:pPr indent="0" marL="0">
                        <a:buNone/>
                      </a:pPr>
                      <a:r>
                        <a:rPr lang="en-US" sz="1400" b="1" u="sng" dirty="0">
                          <a:solidFill>
                            <a:srgbClr val="003082"/>
                          </a:solidFill>
                          <a:latin typeface="Calibri" pitchFamily="34" charset="0"/>
                          <a:ea typeface="Calibri" pitchFamily="34" charset="-122"/>
                          <a:cs typeface="Calibri" pitchFamily="34" charset="-120"/>
                        </a:rPr>
                        <a:t>infraestructura y/o</a:t>
                      </a:r>
                      <a:pPr indent="0" marL="0">
                        <a:buNone/>
                      </a:pPr>
                      <a:r>
                        <a:rPr lang="en-US" sz="1400" dirty="0">
                          <a:solidFill>
                            <a:srgbClr val="1B2333"/>
                          </a:solidFill>
                          <a:latin typeface="Calibri" pitchFamily="34" charset="0"/>
                          <a:ea typeface="Calibri" pitchFamily="34" charset="-122"/>
                          <a:cs typeface="Calibri" pitchFamily="34" charset="-120"/>
                        </a:rPr>
                        <a:t> sistemas informáticos… deberán presentar al Consejo de Administración la siguiente información, </a:t>
                      </a:r>
                      <a:pPr indent="0" marL="0">
                        <a:buNone/>
                      </a:pPr>
                      <a:r>
                        <a:rPr lang="en-US" sz="1400" b="1" u="sng" dirty="0">
                          <a:solidFill>
                            <a:srgbClr val="003082"/>
                          </a:solidFill>
                          <a:latin typeface="Calibri" pitchFamily="34" charset="0"/>
                          <a:ea typeface="Calibri" pitchFamily="34" charset="-122"/>
                          <a:cs typeface="Calibri" pitchFamily="34" charset="-120"/>
                        </a:rPr>
                        <a:t>quien resolverá dejando constancia de su decisión en el Acta de Sesión correspondiente.</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Alineado a la reforma 2025 de la NRP-23.</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art. 22</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La información deberá remitirse a la Superintendencia con quince días hábiles de anticipación a la puesta en producción; las condiciones del Anexo No. 1 se documentarán en un informe con cronograma de actividades (plazos, responsables e hitos), remitido también con quince días hábiles de anticipación.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Obligación de reporte a la Superintendencia.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arts. 22 y 26</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Contenido mínimo de la evaluación y monitoreo</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VII. Evaluación de los proveedores de Servicios Críticos Tercerizados</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15</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42</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Cuando se requiera adquisición de productos o servicios críticos tercerizados, el área solicitante deberá requerir al Departamento de Administración de Riesgos, una evaluación de los potenciales riesgos de los servicios a contratar.</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…deberá requerir al Departamento de Administración de Riesgos una evaluación de los potenciales riesgos de los servicios a contratar</a:t>
                      </a:r>
                      <a:pPr indent="0" marL="0">
                        <a:buNone/>
                      </a:pPr>
                      <a:r>
                        <a:rPr lang="en-US" sz="1400" b="1" u="sng" dirty="0">
                          <a:solidFill>
                            <a:srgbClr val="003082"/>
                          </a:solidFill>
                          <a:latin typeface="Calibri" pitchFamily="34" charset="0"/>
                          <a:ea typeface="Calibri" pitchFamily="34" charset="-122"/>
                          <a:cs typeface="Calibri" pitchFamily="34" charset="-120"/>
                        </a:rPr>
                        <a:t>, la cual comprenderá como mínimo: riesgo operacional; tecnología de información; concentración en el proveedor; solidez financiera del proveedor; riesgo de liquidez; continuidad del negocio; y riesgo legal y reputacional.</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Contenido mínimo de la evaluación de riesgos.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A-1 a A-3 · NRP-42 · NRP-05 · NRP-24</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Monitoreo: El Departamento de Administración de Riesgos reevaluará semestralmente a los proveedores de criticidad Alta y anualmente a los de criticidad Media y Baja, considerando la debida diligencia (documentada y revisada anualmente), el cumplimiento de los SLA, los eventos registrados y las pruebas de continuidad y de seguridad. Los resultados se informarán al Comité de Riesgos.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Seguimiento posterior a la contratación.</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Secc. A, num. 3, lit. c</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Continuidad y gestión de eventos</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VIII. Continuidad · XI. Eventos de riesgo operacional</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…en la formalización del contrato, deberán presentar una declaración jurada, que indique que cuentan con un programa o gestión de la seguridad de la información, planes de continuidad del negocio…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…en la formalización del contrato, </a:t>
                      </a:r>
                      <a:pPr indent="0" marL="0">
                        <a:buNone/>
                      </a:pPr>
                      <a:r>
                        <a:rPr lang="en-US" sz="1400" b="1" u="sng" dirty="0">
                          <a:solidFill>
                            <a:srgbClr val="003082"/>
                          </a:solidFill>
                          <a:latin typeface="Calibri" pitchFamily="34" charset="0"/>
                          <a:ea typeface="Calibri" pitchFamily="34" charset="-122"/>
                          <a:cs typeface="Calibri" pitchFamily="34" charset="-120"/>
                        </a:rPr>
                        <a:t>los proveedores</a:t>
                      </a:r>
                      <a:pPr indent="0" marL="0">
                        <a:buNone/>
                      </a:pPr>
                      <a:r>
                        <a:rPr lang="en-US" sz="1400" dirty="0">
                          <a:solidFill>
                            <a:srgbClr val="1B2333"/>
                          </a:solidFill>
                          <a:latin typeface="Calibri" pitchFamily="34" charset="0"/>
                          <a:ea typeface="Calibri" pitchFamily="34" charset="-122"/>
                          <a:cs typeface="Calibri" pitchFamily="34" charset="-120"/>
                        </a:rPr>
                        <a:t> deberán presentar una declaración jurada </a:t>
                      </a:r>
                      <a:pPr indent="0" marL="0">
                        <a:buNone/>
                      </a:pPr>
                      <a:r>
                        <a:rPr lang="en-US" sz="1400" b="1" u="sng" dirty="0">
                          <a:solidFill>
                            <a:srgbClr val="003082"/>
                          </a:solidFill>
                          <a:latin typeface="Calibri" pitchFamily="34" charset="0"/>
                          <a:ea typeface="Calibri" pitchFamily="34" charset="-122"/>
                          <a:cs typeface="Calibri" pitchFamily="34" charset="-120"/>
                        </a:rPr>
                        <a:t>o certificación vigente</a:t>
                      </a:r>
                      <a:pPr indent="0" marL="0">
                        <a:buNone/>
                      </a:pPr>
                      <a:r>
                        <a:rPr lang="en-US" sz="1400" dirty="0">
                          <a:solidFill>
                            <a:srgbClr val="1B2333"/>
                          </a:solidFill>
                          <a:latin typeface="Calibri" pitchFamily="34" charset="0"/>
                          <a:ea typeface="Calibri" pitchFamily="34" charset="-122"/>
                          <a:cs typeface="Calibri" pitchFamily="34" charset="-120"/>
                        </a:rPr>
                        <a:t> que indique que cuentan con un programa o gestión de la seguridad de la información, planes de continuidad del negocio…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Acepta certificación vigente como evidencia.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A-6 · NRP-24, art. 20</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XI. Gestión de eventos: Todo evento de riesgo operacional originado en un proveedor de servicios críticos tercerizados deberá ser reportado por el Administrador de Contrato al Departamento de Administración de Riesgos, para su registro, análisis de causa raíz y seguimiento de planes de acción.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Apartado nuevo.</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arts. 8, lit. d y 19</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46</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Cuando el evento afecte de forma masiva cualquier producto financiero, deberá reportarse a la Superintendencia en el momento de su ocurrencia, por medio del responsable designado por el Consejo de Administración.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Reporte inmediato al supervisor.</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arts. 11, lit. d y 21</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Disposiciones finales</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XII. Actualización · XIII. Aprobación · XV. Disposición final</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47</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Con el objetivo de mantener actualizada la presente política se revisará y actualizará cuando existan modificaciones en la normativa interna y externa aplicables a la Cooperativa.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 revisará </a:t>
                      </a:r>
                      <a:pPr indent="0" marL="0">
                        <a:buNone/>
                      </a:pPr>
                      <a:r>
                        <a:rPr lang="en-US" sz="1400" b="1" u="sng" dirty="0">
                          <a:solidFill>
                            <a:srgbClr val="003082"/>
                          </a:solidFill>
                          <a:latin typeface="Calibri" pitchFamily="34" charset="0"/>
                          <a:ea typeface="Calibri" pitchFamily="34" charset="-122"/>
                          <a:cs typeface="Calibri" pitchFamily="34" charset="-120"/>
                        </a:rPr>
                        <a:t>al menos una vez al año</a:t>
                      </a:r>
                      <a:pPr indent="0" marL="0">
                        <a:buNone/>
                      </a:pPr>
                      <a:r>
                        <a:rPr lang="en-US" sz="1400" dirty="0">
                          <a:solidFill>
                            <a:srgbClr val="1B2333"/>
                          </a:solidFill>
                          <a:latin typeface="Calibri" pitchFamily="34" charset="0"/>
                          <a:ea typeface="Calibri" pitchFamily="34" charset="-122"/>
                          <a:cs typeface="Calibri" pitchFamily="34" charset="-120"/>
                        </a:rPr>
                        <a:t> y se actualizará cuando existan modificaciones en la normativa interna y externa aplicable a la Cooperativa</a:t>
                      </a:r>
                      <a:pPr indent="0" marL="0">
                        <a:buNone/>
                      </a:pPr>
                      <a:r>
                        <a:rPr lang="en-US" sz="1400" b="1" u="sng" dirty="0">
                          <a:solidFill>
                            <a:srgbClr val="003082"/>
                          </a:solidFill>
                          <a:latin typeface="Calibri" pitchFamily="34" charset="0"/>
                          <a:ea typeface="Calibri" pitchFamily="34" charset="-122"/>
                          <a:cs typeface="Calibri" pitchFamily="34" charset="-120"/>
                        </a:rPr>
                        <a:t>, cambios significativos en el perfil de riesgo de tercerización, o a requerimiento de la Superintendencia, del Comité de Riesgos o de Auditoría Interna.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Revisión periódica obligatoria.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8 (máximo 2 años)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48</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…para someterlo a validación del Comité de Administración de Riesgos y posterior aprobación del Consejo de Administración.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…para someterla a validación del </a:t>
                      </a:r>
                      <a:pPr indent="0" marL="0">
                        <a:buNone/>
                      </a:pPr>
                      <a:r>
                        <a:rPr lang="en-US" sz="1400" b="1" u="sng" dirty="0">
                          <a:solidFill>
                            <a:srgbClr val="003082"/>
                          </a:solidFill>
                          <a:latin typeface="Calibri" pitchFamily="34" charset="0"/>
                          <a:ea typeface="Calibri" pitchFamily="34" charset="-122"/>
                          <a:cs typeface="Calibri" pitchFamily="34" charset="-120"/>
                        </a:rPr>
                        <a:t>Comité de Riesgos</a:t>
                      </a:r>
                      <a:pPr indent="0" marL="0">
                        <a:buNone/>
                      </a:pPr>
                      <a:r>
                        <a:rPr lang="en-US" sz="1400" dirty="0">
                          <a:solidFill>
                            <a:srgbClr val="1B2333"/>
                          </a:solidFill>
                          <a:latin typeface="Calibri" pitchFamily="34" charset="0"/>
                          <a:ea typeface="Calibri" pitchFamily="34" charset="-122"/>
                          <a:cs typeface="Calibri" pitchFamily="34" charset="-120"/>
                        </a:rPr>
                        <a:t> y posterior aprobación del Consejo de Administración. </a:t>
                      </a:r>
                      <a:pPr indent="0" marL="0">
                        <a:buNone/>
                      </a:pPr>
                      <a:r>
                        <a:rPr lang="en-US" sz="1400" b="1" u="sng" dirty="0">
                          <a:solidFill>
                            <a:srgbClr val="003082"/>
                          </a:solidFill>
                          <a:latin typeface="Calibri" pitchFamily="34" charset="0"/>
                          <a:ea typeface="Calibri" pitchFamily="34" charset="-122"/>
                          <a:cs typeface="Calibri" pitchFamily="34" charset="-120"/>
                        </a:rPr>
                        <a:t>Una vez aprobada, deberá remitirse a la Superintendencia dentro de los diez días hábiles siguientes a su aprobación.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Remisión obligatoria al supervisor.</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8</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49</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Lo no contemplado en la presente política, deberá ser resuelto por el Consejo de Administración.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Lo no contemplado en la presente política deberá ser resuelto por el Consejo de Administración</a:t>
                      </a:r>
                      <a:pPr indent="0" marL="0">
                        <a:buNone/>
                      </a:pPr>
                      <a:r>
                        <a:rPr lang="en-US" sz="1400" b="1" u="sng" dirty="0">
                          <a:solidFill>
                            <a:srgbClr val="003082"/>
                          </a:solidFill>
                          <a:latin typeface="Calibri" pitchFamily="34" charset="0"/>
                          <a:ea typeface="Calibri" pitchFamily="34" charset="-122"/>
                          <a:cs typeface="Calibri" pitchFamily="34" charset="-120"/>
                        </a:rPr>
                        <a:t>, previa opinión del Comité de Riesgos.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Opinión técnica previa del comité.</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10</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Requisitos previos a la contratación</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Anexo 1 — Sección A: Información y documentos para contratar</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50</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Título: Condiciones para tercerizar Actividades u Operaciones de Tecnología de Servicios Críticos.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Condiciones para tercerizar Actividades u Operaciones de Tecnología de </a:t>
                      </a:r>
                      <a:pPr indent="0" marL="0">
                        <a:buNone/>
                      </a:pPr>
                      <a:r>
                        <a:rPr lang="en-US" sz="1400" b="1" u="sng" dirty="0">
                          <a:solidFill>
                            <a:srgbClr val="003082"/>
                          </a:solidFill>
                          <a:latin typeface="Calibri" pitchFamily="34" charset="0"/>
                          <a:ea typeface="Calibri" pitchFamily="34" charset="-122"/>
                          <a:cs typeface="Calibri" pitchFamily="34" charset="-120"/>
                        </a:rPr>
                        <a:t>la Información relacionadas a productos y servicios financieros.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Nombre de la normativa.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No. 1</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51</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 Realizar una evaluación de riesgos… Evaluar riesgos derivados de la capacidad del proveedor respecto a la concentración de instituciones con el proveedor.</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 Realizar una evaluación </a:t>
                      </a:r>
                      <a:pPr indent="0" marL="0">
                        <a:buNone/>
                      </a:pPr>
                      <a:r>
                        <a:rPr lang="en-US" sz="1400" b="1" u="sng" dirty="0">
                          <a:solidFill>
                            <a:srgbClr val="003082"/>
                          </a:solidFill>
                          <a:latin typeface="Calibri" pitchFamily="34" charset="0"/>
                          <a:ea typeface="Calibri" pitchFamily="34" charset="-122"/>
                          <a:cs typeface="Calibri" pitchFamily="34" charset="-120"/>
                        </a:rPr>
                        <a:t>integral</a:t>
                      </a:r>
                      <a:pPr indent="0" marL="0">
                        <a:buNone/>
                      </a:pPr>
                      <a:r>
                        <a:rPr lang="en-US" sz="1400" dirty="0">
                          <a:solidFill>
                            <a:srgbClr val="1B2333"/>
                          </a:solidFill>
                          <a:latin typeface="Calibri" pitchFamily="34" charset="0"/>
                          <a:ea typeface="Calibri" pitchFamily="34" charset="-122"/>
                          <a:cs typeface="Calibri" pitchFamily="34" charset="-120"/>
                        </a:rPr>
                        <a:t> de riesgos… </a:t>
                      </a:r>
                      <a:pPr indent="0" marL="0">
                        <a:buNone/>
                      </a:pPr>
                      <a:r>
                        <a:rPr lang="en-US" sz="1400" b="1" u="sng" dirty="0">
                          <a:solidFill>
                            <a:srgbClr val="003082"/>
                          </a:solidFill>
                          <a:latin typeface="Calibri" pitchFamily="34" charset="0"/>
                          <a:ea typeface="Calibri" pitchFamily="34" charset="-122"/>
                          <a:cs typeface="Calibri" pitchFamily="34" charset="-120"/>
                        </a:rPr>
                        <a:t>considerando los riesgos operacionales (incluyendo tecnológicos y legales), reputacionales y financieros, la continuidad del negocio y el riesgo de liquidez; la concentración de entidades financieras en el proveedor y de la propia Cooperativa, con acciones a realizar si el proveedor falla.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Texto completo de la norma.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Secc. A, num. 1 y 2</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52</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3. Denominación o Razón social y giro del negocio, experiencia, servicios, clientes (personas jurídicas), periodos de servicio, entre otros.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3. Denominación o Razón social… entre otros. </a:t>
                      </a:r>
                      <a:pPr indent="0" marL="0">
                        <a:buNone/>
                      </a:pPr>
                      <a:r>
                        <a:rPr lang="en-US" sz="1400" b="1" u="sng" dirty="0">
                          <a:solidFill>
                            <a:srgbClr val="003082"/>
                          </a:solidFill>
                          <a:latin typeface="Calibri" pitchFamily="34" charset="0"/>
                          <a:ea typeface="Calibri" pitchFamily="34" charset="-122"/>
                          <a:cs typeface="Calibri" pitchFamily="34" charset="-120"/>
                        </a:rPr>
                        <a:t>Para el caso de un proveedor local, nómina de accionistas y principales funcionarios.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Requisito omitido en la V03.</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A-3, lit. b</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53</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5. La entidad deberá realizar la debida diligencia de dicho proveedor sobre: 1. Solidez financiera…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5. La entidad deberá realizar la debida diligencia de dicho proveedor</a:t>
                      </a:r>
                      <a:pPr indent="0" marL="0">
                        <a:buNone/>
                      </a:pPr>
                      <a:r>
                        <a:rPr lang="en-US" sz="1400" b="1" u="sng" dirty="0">
                          <a:solidFill>
                            <a:srgbClr val="003082"/>
                          </a:solidFill>
                          <a:latin typeface="Calibri" pitchFamily="34" charset="0"/>
                          <a:ea typeface="Calibri" pitchFamily="34" charset="-122"/>
                          <a:cs typeface="Calibri" pitchFamily="34" charset="-120"/>
                        </a:rPr>
                        <a:t>, la cual deberá documentarse y revisarse anualmente utilizando la información más reciente,</a:t>
                      </a:r>
                      <a:pPr indent="0" marL="0">
                        <a:buNone/>
                      </a:pPr>
                      <a:r>
                        <a:rPr lang="en-US" sz="1400" dirty="0">
                          <a:solidFill>
                            <a:srgbClr val="1B2333"/>
                          </a:solidFill>
                          <a:latin typeface="Calibri" pitchFamily="34" charset="0"/>
                          <a:ea typeface="Calibri" pitchFamily="34" charset="-122"/>
                          <a:cs typeface="Calibri" pitchFamily="34" charset="-120"/>
                        </a:rPr>
                        <a:t> sobre: 1. Solidez financiera…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Revisión anual obligatoria.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A-3, lit. c</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Requisitos y cláusulas del contrato</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Anexo 1 — Sección A (numerales nuevos) y Sección B (1 de 2)</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54</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6. Análisis de concentración de proveedores (proveedor, grupo económico, tecnología y ubicación geográfica) y verificación de los límites aprobados por el Consejo de Administración. Responsable: Depto. de Administración de Riesgos.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Control de límites de exposición.</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8, lit. a · NRP-23, A-1</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55</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7. Verificar que se puede requerir al proveedor informes de auditoría vigentes y asociados a los servicios prestados, provistos a requerimiento de la Superintendencia. Responsable: Administrador de Contrato.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Requisito omitido en la V03.</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Secc. A, num. 7</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56</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B-12. …por el personal subcontratado por el proveedor… B-17. …realice subcontrataciones… B-18. …proveedor subcontratado. B-19. …al subcontratista… el proveedor subcontratado…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B-12. …por el personal </a:t>
                      </a:r>
                      <a:pPr indent="0" marL="0">
                        <a:buNone/>
                      </a:pPr>
                      <a:r>
                        <a:rPr lang="en-US" sz="1400" b="1" u="sng" dirty="0">
                          <a:solidFill>
                            <a:srgbClr val="003082"/>
                          </a:solidFill>
                          <a:latin typeface="Calibri" pitchFamily="34" charset="0"/>
                          <a:ea typeface="Calibri" pitchFamily="34" charset="-122"/>
                          <a:cs typeface="Calibri" pitchFamily="34" charset="-120"/>
                        </a:rPr>
                        <a:t>contratado</a:t>
                      </a:r>
                      <a:pPr indent="0" marL="0">
                        <a:buNone/>
                      </a:pPr>
                      <a:r>
                        <a:rPr lang="en-US" sz="1400" dirty="0">
                          <a:solidFill>
                            <a:srgbClr val="1B2333"/>
                          </a:solidFill>
                          <a:latin typeface="Calibri" pitchFamily="34" charset="0"/>
                          <a:ea typeface="Calibri" pitchFamily="34" charset="-122"/>
                          <a:cs typeface="Calibri" pitchFamily="34" charset="-120"/>
                        </a:rPr>
                        <a:t> por el proveedor… B-17. …realice </a:t>
                      </a:r>
                      <a:pPr indent="0" marL="0">
                        <a:buNone/>
                      </a:pPr>
                      <a:r>
                        <a:rPr lang="en-US" sz="1400" b="1" u="sng" dirty="0">
                          <a:solidFill>
                            <a:srgbClr val="003082"/>
                          </a:solidFill>
                          <a:latin typeface="Calibri" pitchFamily="34" charset="0"/>
                          <a:ea typeface="Calibri" pitchFamily="34" charset="-122"/>
                          <a:cs typeface="Calibri" pitchFamily="34" charset="-120"/>
                        </a:rPr>
                        <a:t>contrataciones</a:t>
                      </a:r>
                      <a:pPr indent="0" marL="0">
                        <a:buNone/>
                      </a:pPr>
                      <a:r>
                        <a:rPr lang="en-US" sz="1400" dirty="0">
                          <a:solidFill>
                            <a:srgbClr val="1B2333"/>
                          </a:solidFill>
                          <a:latin typeface="Calibri" pitchFamily="34" charset="0"/>
                          <a:ea typeface="Calibri" pitchFamily="34" charset="-122"/>
                          <a:cs typeface="Calibri" pitchFamily="34" charset="-120"/>
                        </a:rPr>
                        <a:t>… B-18. …proveedor </a:t>
                      </a:r>
                      <a:pPr indent="0" marL="0">
                        <a:buNone/>
                      </a:pPr>
                      <a:r>
                        <a:rPr lang="en-US" sz="1400" b="1" u="sng" dirty="0">
                          <a:solidFill>
                            <a:srgbClr val="003082"/>
                          </a:solidFill>
                          <a:latin typeface="Calibri" pitchFamily="34" charset="0"/>
                          <a:ea typeface="Calibri" pitchFamily="34" charset="-122"/>
                          <a:cs typeface="Calibri" pitchFamily="34" charset="-120"/>
                        </a:rPr>
                        <a:t>contratado</a:t>
                      </a:r>
                      <a:pPr indent="0" marL="0">
                        <a:buNone/>
                      </a:pPr>
                      <a:r>
                        <a:rPr lang="en-US" sz="1400" dirty="0">
                          <a:solidFill>
                            <a:srgbClr val="1B2333"/>
                          </a:solidFill>
                          <a:latin typeface="Calibri" pitchFamily="34" charset="0"/>
                          <a:ea typeface="Calibri" pitchFamily="34" charset="-122"/>
                          <a:cs typeface="Calibri" pitchFamily="34" charset="-120"/>
                        </a:rPr>
                        <a:t>. B-19. …al </a:t>
                      </a:r>
                      <a:pPr indent="0" marL="0">
                        <a:buNone/>
                      </a:pPr>
                      <a:r>
                        <a:rPr lang="en-US" sz="1400" b="1" u="sng" dirty="0">
                          <a:solidFill>
                            <a:srgbClr val="003082"/>
                          </a:solidFill>
                          <a:latin typeface="Calibri" pitchFamily="34" charset="0"/>
                          <a:ea typeface="Calibri" pitchFamily="34" charset="-122"/>
                          <a:cs typeface="Calibri" pitchFamily="34" charset="-120"/>
                        </a:rPr>
                        <a:t>contratista</a:t>
                      </a:r>
                      <a:pPr indent="0" marL="0">
                        <a:buNone/>
                      </a:pPr>
                      <a:r>
                        <a:rPr lang="en-US" sz="1400" dirty="0">
                          <a:solidFill>
                            <a:srgbClr val="1B2333"/>
                          </a:solidFill>
                          <a:latin typeface="Calibri" pitchFamily="34" charset="0"/>
                          <a:ea typeface="Calibri" pitchFamily="34" charset="-122"/>
                          <a:cs typeface="Calibri" pitchFamily="34" charset="-120"/>
                        </a:rPr>
                        <a:t>… el proveedor </a:t>
                      </a:r>
                      <a:pPr indent="0" marL="0">
                        <a:buNone/>
                      </a:pPr>
                      <a:r>
                        <a:rPr lang="en-US" sz="1400" b="1" u="sng" dirty="0">
                          <a:solidFill>
                            <a:srgbClr val="003082"/>
                          </a:solidFill>
                          <a:latin typeface="Calibri" pitchFamily="34" charset="0"/>
                          <a:ea typeface="Calibri" pitchFamily="34" charset="-122"/>
                          <a:cs typeface="Calibri" pitchFamily="34" charset="-120"/>
                        </a:rPr>
                        <a:t>contratado</a:t>
                      </a:r>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Cambio de término solicitado por el Departamento.</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Redacción interna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Cláusulas contractuales</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Anexo 1 — Sección B: Cláusulas a considerar para el contrato (2 de 2)</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20</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11457432" cy="914400"/>
        </p:xfrm>
        <a:graphic>
          <a:graphicData uri="http://schemas.openxmlformats.org/drawingml/2006/table">
            <a:tbl>
              <a:tblPr/>
              <a:tblGrid>
                <a:gridCol w="502920"/>
                <a:gridCol w="3429000"/>
                <a:gridCol w="4690872"/>
                <a:gridCol w="283464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Dice (V03 vigente)</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Debe decir (V04 propuesta)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Mejora y base normativa</a:t>
                      </a:r>
                      <a:endParaRPr lang="en-US" sz="1200" dirty="0">
                        <a:latin typeface="Arial" charset="0"/>
                        <a:ea typeface="Arial" charset="0"/>
                        <a:cs typeface="Arial" charset="0"/>
                      </a:endParaRPr>
                    </a:p>
                  </a:txBody>
                  <a:tcPr marL="73152" marR="73152" marT="54864" marB="54864"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57</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20. …garantizar las condiciones del acceso para la auditoría interna y las firmas de auditoría externa…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20. …garantizar las condiciones del acceso para la auditoría interna, </a:t>
                      </a:r>
                      <a:pPr indent="0" marL="0">
                        <a:buNone/>
                      </a:pPr>
                      <a:r>
                        <a:rPr lang="en-US" sz="1400" b="1" u="sng" dirty="0">
                          <a:solidFill>
                            <a:srgbClr val="003082"/>
                          </a:solidFill>
                          <a:latin typeface="Calibri" pitchFamily="34" charset="0"/>
                          <a:ea typeface="Calibri" pitchFamily="34" charset="-122"/>
                          <a:cs typeface="Calibri" pitchFamily="34" charset="-120"/>
                        </a:rPr>
                        <a:t>el Departamento de Administración de Riesgos</a:t>
                      </a:r>
                      <a:pPr indent="0" marL="0">
                        <a:buNone/>
                      </a:pPr>
                      <a:r>
                        <a:rPr lang="en-US" sz="1400" dirty="0">
                          <a:solidFill>
                            <a:srgbClr val="1B2333"/>
                          </a:solidFill>
                          <a:latin typeface="Calibri" pitchFamily="34" charset="0"/>
                          <a:ea typeface="Calibri" pitchFamily="34" charset="-122"/>
                          <a:cs typeface="Calibri" pitchFamily="34" charset="-120"/>
                        </a:rPr>
                        <a:t> y las firmas de auditoría externa…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Acceso de Riesgos para su monitoreo.</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NRP-20, art. 12 · NRP-23, A-5</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58</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21. En caso de resolución, intervención o liquidación para garantizar que la Superintendencia tenga acceso a los datos o información en caso de materializarse dichos casos.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21. En caso de resolución, intervención o liquidación </a:t>
                      </a:r>
                      <a:pPr indent="0" marL="0">
                        <a:buNone/>
                      </a:pPr>
                      <a:r>
                        <a:rPr lang="en-US" sz="1400" b="1" u="sng" dirty="0">
                          <a:solidFill>
                            <a:srgbClr val="003082"/>
                          </a:solidFill>
                          <a:latin typeface="Calibri" pitchFamily="34" charset="0"/>
                          <a:ea typeface="Calibri" pitchFamily="34" charset="-122"/>
                          <a:cs typeface="Calibri" pitchFamily="34" charset="-120"/>
                        </a:rPr>
                        <a:t>de COMEDICA de R.L., establecer los procesos</a:t>
                      </a:r>
                      <a:pPr indent="0" marL="0">
                        <a:buNone/>
                      </a:pPr>
                      <a:r>
                        <a:rPr lang="en-US" sz="1400" dirty="0">
                          <a:solidFill>
                            <a:srgbClr val="1B2333"/>
                          </a:solidFill>
                          <a:latin typeface="Calibri" pitchFamily="34" charset="0"/>
                          <a:ea typeface="Calibri" pitchFamily="34" charset="-122"/>
                          <a:cs typeface="Calibri" pitchFamily="34" charset="-120"/>
                        </a:rPr>
                        <a:t> para garantizar que la Superintendencia tenga acceso a los datos o información.</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Redacción completa y clara.</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Secc. C, num. 4</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59</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22. Garantizar la devolución y destrucción o borrado seguro de la información involucrada en la prestación del servicio, cuando lo solicite COMEDICA de R.L. o ante la terminación del contrato.</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Cláusula omitida en la V03.</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NRP-23, Anexo 1, Secc. B, num. 19</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003082"/>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i="1" dirty="0">
                          <a:solidFill>
                            <a:srgbClr val="5B6578"/>
                          </a:solidFill>
                          <a:latin typeface="Calibri" pitchFamily="34" charset="0"/>
                          <a:ea typeface="Calibri" pitchFamily="34" charset="-122"/>
                          <a:cs typeface="Calibri" pitchFamily="34" charset="-120"/>
                        </a:rPr>
                        <a:t>No existía.</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b="1" u="sng" dirty="0">
                          <a:solidFill>
                            <a:srgbClr val="003082"/>
                          </a:solidFill>
                          <a:latin typeface="Calibri" pitchFamily="34" charset="0"/>
                          <a:ea typeface="Calibri" pitchFamily="34" charset="-122"/>
                          <a:cs typeface="Calibri" pitchFamily="34" charset="-120"/>
                        </a:rPr>
                        <a:t>23. Reporte de eventos de riesgo operacional: obligación del proveedor de reportar los incidentes, interrupciones y fallas que afecten el servicio, con su causa raíz, impacto y acciones correctivas.</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Insumo para la base de datos de eventos.</a:t>
                      </a:r>
                      <a:pPr indent="0" marL="0">
                        <a:buNone/>
                      </a:pPr>
                      <a:endParaRPr lang="en-US" sz="1400" dirty="0">
                        <a:latin typeface="Calibri" charset="0"/>
                        <a:ea typeface="Calibri" charset="0"/>
                        <a:cs typeface="Calibri" charset="0"/>
                      </a:endParaRPr>
                    </a:p>
                    <a:p>
                      <a:pPr indent="0" marL="0">
                        <a:buNone/>
                      </a:pPr>
                      <a:r>
                        <a:rPr lang="en-US" sz="1400" b="1" dirty="0">
                          <a:solidFill>
                            <a:srgbClr val="003082"/>
                          </a:solidFill>
                          <a:latin typeface="Calibri" pitchFamily="34" charset="0"/>
                          <a:ea typeface="Calibri" pitchFamily="34" charset="-122"/>
                          <a:cs typeface="Calibri" pitchFamily="34" charset="-120"/>
                        </a:rPr>
                        <a:t>NRP-42, arts. 19 y 21</a:t>
                      </a:r>
                      <a:endParaRPr lang="en-US" sz="1400" dirty="0">
                        <a:latin typeface="Calibri" charset="0"/>
                        <a:ea typeface="Calibri" charset="0"/>
                        <a:cs typeface="Calibri" charset="0"/>
                      </a:endParaRPr>
                    </a:p>
                  </a:txBody>
                  <a:tcPr marL="73152" marR="73152" marT="54864" marB="54864" anchor="t">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137160"/>
            <a:ext cx="777240" cy="603504"/>
          </a:xfrm>
          <a:prstGeom prst="rect">
            <a:avLst/>
          </a:prstGeom>
        </p:spPr>
      </p:pic>
      <p:sp>
        <p:nvSpPr>
          <p:cNvPr id="3" name="Text 0"/>
          <p:cNvSpPr txBox="1"/>
          <p:nvPr/>
        </p:nvSpPr>
        <p:spPr>
          <a:xfrm>
            <a:off x="365760" y="137160"/>
            <a:ext cx="10058400" cy="274320"/>
          </a:xfrm>
          <a:prstGeom prst="rect">
            <a:avLst/>
          </a:prstGeom>
          <a:noFill/>
          <a:ln/>
        </p:spPr>
        <p:txBody>
          <a:bodyPr wrap="square" lIns="0" tIns="0" rIns="0" bIns="0" rtlCol="0" anchor="ctr"/>
          <a:lstStyle/>
          <a:p>
            <a:pPr indent="0" marL="0">
              <a:buNone/>
            </a:pPr>
            <a:r>
              <a:rPr lang="en-US" sz="1100" b="1" dirty="0">
                <a:solidFill>
                  <a:srgbClr val="5B6578"/>
                </a:solidFill>
                <a:latin typeface="Arial" pitchFamily="34" charset="0"/>
                <a:ea typeface="Arial" pitchFamily="34" charset="-122"/>
                <a:cs typeface="Arial" pitchFamily="34" charset="-120"/>
              </a:rPr>
              <a:t>Cierre</a:t>
            </a:r>
            <a:endParaRPr lang="en-US" sz="1100" dirty="0"/>
          </a:p>
        </p:txBody>
      </p:sp>
      <p:sp>
        <p:nvSpPr>
          <p:cNvPr id="4" name="Text 1"/>
          <p:cNvSpPr txBox="1"/>
          <p:nvPr/>
        </p:nvSpPr>
        <p:spPr>
          <a:xfrm>
            <a:off x="365760" y="411480"/>
            <a:ext cx="10515600" cy="502920"/>
          </a:xfrm>
          <a:prstGeom prst="rect">
            <a:avLst/>
          </a:prstGeom>
          <a:noFill/>
          <a:ln/>
        </p:spPr>
        <p:txBody>
          <a:bodyPr wrap="square" lIns="0" tIns="0" rIns="0" bIns="0" rtlCol="0" anchor="ctr"/>
          <a:lstStyle/>
          <a:p>
            <a:pPr indent="0" marL="0">
              <a:buNone/>
            </a:pPr>
            <a:r>
              <a:rPr lang="en-US" sz="2200" b="1" dirty="0">
                <a:solidFill>
                  <a:srgbClr val="003082"/>
                </a:solidFill>
                <a:latin typeface="Arial" pitchFamily="34" charset="0"/>
                <a:ea typeface="Arial" pitchFamily="34" charset="-122"/>
                <a:cs typeface="Arial" pitchFamily="34" charset="-120"/>
              </a:rPr>
              <a:t>Solicitud al Comité de Riesgos</a:t>
            </a:r>
            <a:endParaRPr lang="en-US" sz="2200" dirty="0"/>
          </a:p>
        </p:txBody>
      </p:sp>
      <p:sp>
        <p:nvSpPr>
          <p:cNvPr id="5" name="Text 2"/>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1100" b="1" u="sng" dirty="0">
                <a:solidFill>
                  <a:srgbClr val="003082"/>
                </a:solidFill>
                <a:latin typeface="Calibri" pitchFamily="34" charset="0"/>
                <a:ea typeface="Calibri" pitchFamily="34" charset="-122"/>
                <a:cs typeface="Calibri" pitchFamily="34" charset="-120"/>
              </a:rPr>
              <a:t>Texto subrayado en azul</a:t>
            </a:r>
            <a:pPr indent="0" marL="0">
              <a:buNone/>
            </a:pPr>
            <a:r>
              <a:rPr lang="en-US" sz="1100" dirty="0">
                <a:solidFill>
                  <a:srgbClr val="5B6578"/>
                </a:solidFill>
                <a:latin typeface="Calibri" pitchFamily="34" charset="0"/>
                <a:ea typeface="Calibri" pitchFamily="34" charset="-122"/>
                <a:cs typeface="Calibri" pitchFamily="34" charset="-120"/>
              </a:rPr>
              <a:t> = nuevo o modificado respecto a la V03 vigente</a:t>
            </a:r>
            <a:endParaRPr lang="en-US" sz="1100" dirty="0"/>
          </a:p>
        </p:txBody>
      </p:sp>
      <p:sp>
        <p:nvSpPr>
          <p:cNvPr id="6" name="Text 3"/>
          <p:cNvSpPr txBox="1"/>
          <p:nvPr/>
        </p:nvSpPr>
        <p:spPr>
          <a:xfrm>
            <a:off x="7863840" y="6446520"/>
            <a:ext cx="3959352" cy="274320"/>
          </a:xfrm>
          <a:prstGeom prst="rect">
            <a:avLst/>
          </a:prstGeom>
          <a:noFill/>
          <a:ln/>
        </p:spPr>
        <p:txBody>
          <a:bodyPr wrap="square" lIns="0" tIns="0" rIns="0" bIns="0" rtlCol="0" anchor="ctr"/>
          <a:lstStyle/>
          <a:p>
            <a:pPr algn="r" indent="0" marL="0">
              <a:buNone/>
            </a:pPr>
            <a:r>
              <a:rPr lang="en-US" sz="1100" dirty="0">
                <a:solidFill>
                  <a:srgbClr val="5B6578"/>
                </a:solidFill>
                <a:latin typeface="Calibri" pitchFamily="34" charset="0"/>
                <a:ea typeface="Calibri" pitchFamily="34" charset="-122"/>
                <a:cs typeface="Calibri" pitchFamily="34" charset="-120"/>
              </a:rPr>
              <a:t>RP-GG-PL-003 · Cuadro comparativo V03 vs V04 · 21</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7799832"/>
                <a:gridCol w="3657600"/>
              </a:tblGrid>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Se solicita al Comité de Riesgos</a:t>
                      </a:r>
                      <a:endParaRPr lang="en-US" sz="1200" dirty="0">
                        <a:latin typeface="Arial" charset="0"/>
                        <a:ea typeface="Arial" charset="0"/>
                        <a:cs typeface="Arial" charset="0"/>
                      </a:endParaRPr>
                    </a:p>
                  </a:txBody>
                  <a:tcPr marL="109728" marR="109728" marT="73152" marB="73152"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Fundamento</a:t>
                      </a:r>
                      <a:endParaRPr lang="en-US" sz="1200" dirty="0">
                        <a:latin typeface="Arial" charset="0"/>
                        <a:ea typeface="Arial" charset="0"/>
                        <a:cs typeface="Arial" charset="0"/>
                      </a:endParaRPr>
                    </a:p>
                  </a:txBody>
                  <a:tcPr marL="109728" marR="109728" marT="73152" marB="73152"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solidFill>
                      <a:srgbClr val="003082"/>
                    </a:solidFill>
                  </a:tcPr>
                </a:tc>
              </a:tr>
              <a:tr h="10058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Validar la versión 04 de la Política de Contratación de Servicios Críticos Tercerizados (RP-GG-PL-003) y proponerla al Consejo de Administración para su aprobación.</a:t>
                      </a:r>
                      <a:endParaRPr lang="en-US" sz="1600" dirty="0">
                        <a:latin typeface="Calibri" charset="0"/>
                        <a:ea typeface="Calibri" charset="0"/>
                        <a:cs typeface="Calibri" charset="0"/>
                      </a:endParaRPr>
                    </a:p>
                  </a:txBody>
                  <a:tcPr marL="109728" marR="109728" marT="73152" marB="73152"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NRP-20, art. 10, lit. c · NRP-42, art. 12, lit. a</a:t>
                      </a:r>
                      <a:endParaRPr lang="en-US" sz="1600" dirty="0">
                        <a:latin typeface="Calibri" charset="0"/>
                        <a:ea typeface="Calibri" charset="0"/>
                        <a:cs typeface="Calibri" charset="0"/>
                      </a:endParaRPr>
                    </a:p>
                  </a:txBody>
                  <a:tcPr marL="109728" marR="109728" marT="73152" marB="73152"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tcPr>
                </a:tc>
              </a:tr>
              <a:tr h="82296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Una vez aprobada, remitirla a la Superintendencia del Sistema Financiero dentro de los diez días hábiles siguientes.</a:t>
                      </a:r>
                      <a:endParaRPr lang="en-US" sz="1600" dirty="0">
                        <a:latin typeface="Calibri" charset="0"/>
                        <a:ea typeface="Calibri" charset="0"/>
                        <a:cs typeface="Calibri" charset="0"/>
                      </a:endParaRPr>
                    </a:p>
                  </a:txBody>
                  <a:tcPr marL="109728" marR="109728" marT="73152" marB="73152"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NRP-20, art. 8</a:t>
                      </a:r>
                      <a:endParaRPr lang="en-US" sz="1600" dirty="0">
                        <a:latin typeface="Calibri" charset="0"/>
                        <a:ea typeface="Calibri" charset="0"/>
                        <a:cs typeface="Calibri" charset="0"/>
                      </a:endParaRPr>
                    </a:p>
                  </a:txBody>
                  <a:tcPr marL="109728" marR="109728" marT="73152" marB="73152" anchor="ctr">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round/>
                      <a:headEnd type="none" w="med" len="med"/>
                      <a:tailEnd type="none" w="med" len="med"/>
                    </a:lnB>
                  </a:tcPr>
                </a:tc>
              </a:tr>
            </a:tbl>
          </a:graphicData>
        </a:graphic>
      </p:graphicFrame>
      <p:sp>
        <p:nvSpPr>
          <p:cNvPr id="8" name="Text 4"/>
          <p:cNvSpPr txBox="1"/>
          <p:nvPr/>
        </p:nvSpPr>
        <p:spPr>
          <a:xfrm>
            <a:off x="365760" y="4206240"/>
            <a:ext cx="11457432" cy="457200"/>
          </a:xfrm>
          <a:prstGeom prst="rect">
            <a:avLst/>
          </a:prstGeom>
          <a:noFill/>
          <a:ln/>
        </p:spPr>
        <p:txBody>
          <a:bodyPr wrap="square" lIns="0" tIns="0" rIns="0" bIns="0" rtlCol="0" anchor="ctr"/>
          <a:lstStyle/>
          <a:p>
            <a:pPr indent="0" marL="0">
              <a:buNone/>
            </a:pPr>
            <a:r>
              <a:rPr lang="en-US" sz="1800" b="1" dirty="0">
                <a:solidFill>
                  <a:srgbClr val="003082"/>
                </a:solidFill>
                <a:latin typeface="Arial" pitchFamily="34" charset="0"/>
                <a:ea typeface="Arial" pitchFamily="34" charset="-122"/>
                <a:cs typeface="Arial" pitchFamily="34" charset="-120"/>
              </a:rPr>
              <a:t>Total de cambios presentados: 60</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COMEDICA de R.L.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Cuadro comparativo RP-GG-PL-003 V03 vs V04</dc:title>
  <dc:subject>PptxGenJS Presentation</dc:subject>
  <dc:creator>Departamento de Administración de Riesgos</dc:creator>
  <cp:lastModifiedBy>Departamento de Administración de Riesgos</cp:lastModifiedBy>
  <cp:revision>1</cp:revision>
  <dcterms:created xsi:type="dcterms:W3CDTF">2026-10-24T18:36:30Z</dcterms:created>
  <dcterms:modified xsi:type="dcterms:W3CDTF">2026-10-24T18:36:30Z</dcterms:modified>
</cp:coreProperties>
</file>